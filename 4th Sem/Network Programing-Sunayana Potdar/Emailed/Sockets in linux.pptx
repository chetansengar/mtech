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113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9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97.xml" ContentType="application/vnd.openxmlformats-officedocument.presentationml.slide+xml"/>
  <Override PartName="/ppt/slides/slide10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05.xml" ContentType="application/vnd.openxmlformats-officedocument.presentationml.slide+xml"/>
  <Override PartName="/ppt/slides/slide114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108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ppt/slides/slide115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s/slide79.xml" ContentType="application/vnd.openxmlformats-officedocument.presentationml.slide+xml"/>
  <Override PartName="/ppt/slides/slide10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7"/>
  </p:notesMasterIdLst>
  <p:handoutMasterIdLst>
    <p:handoutMasterId r:id="rId11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56" r:id="rId10"/>
    <p:sldId id="264" r:id="rId11"/>
    <p:sldId id="265" r:id="rId12"/>
    <p:sldId id="266" r:id="rId13"/>
    <p:sldId id="357" r:id="rId14"/>
    <p:sldId id="267" r:id="rId15"/>
    <p:sldId id="269" r:id="rId16"/>
    <p:sldId id="270" r:id="rId17"/>
    <p:sldId id="271" r:id="rId18"/>
    <p:sldId id="272" r:id="rId19"/>
    <p:sldId id="358" r:id="rId20"/>
    <p:sldId id="273" r:id="rId21"/>
    <p:sldId id="274" r:id="rId22"/>
    <p:sldId id="275" r:id="rId23"/>
    <p:sldId id="359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360" r:id="rId34"/>
    <p:sldId id="285" r:id="rId35"/>
    <p:sldId id="286" r:id="rId36"/>
    <p:sldId id="362" r:id="rId37"/>
    <p:sldId id="287" r:id="rId38"/>
    <p:sldId id="363" r:id="rId39"/>
    <p:sldId id="288" r:id="rId40"/>
    <p:sldId id="289" r:id="rId41"/>
    <p:sldId id="290" r:id="rId42"/>
    <p:sldId id="291" r:id="rId43"/>
    <p:sldId id="364" r:id="rId44"/>
    <p:sldId id="292" r:id="rId45"/>
    <p:sldId id="293" r:id="rId46"/>
    <p:sldId id="294" r:id="rId47"/>
    <p:sldId id="295" r:id="rId48"/>
    <p:sldId id="296" r:id="rId49"/>
    <p:sldId id="365" r:id="rId50"/>
    <p:sldId id="297" r:id="rId51"/>
    <p:sldId id="298" r:id="rId52"/>
    <p:sldId id="366" r:id="rId53"/>
    <p:sldId id="299" r:id="rId54"/>
    <p:sldId id="367" r:id="rId55"/>
    <p:sldId id="300" r:id="rId56"/>
    <p:sldId id="301" r:id="rId57"/>
    <p:sldId id="302" r:id="rId58"/>
    <p:sldId id="303" r:id="rId59"/>
    <p:sldId id="304" r:id="rId60"/>
    <p:sldId id="305" r:id="rId61"/>
    <p:sldId id="306" r:id="rId62"/>
    <p:sldId id="307" r:id="rId63"/>
    <p:sldId id="308" r:id="rId64"/>
    <p:sldId id="309" r:id="rId65"/>
    <p:sldId id="310" r:id="rId66"/>
    <p:sldId id="311" r:id="rId67"/>
    <p:sldId id="312" r:id="rId68"/>
    <p:sldId id="313" r:id="rId69"/>
    <p:sldId id="314" r:id="rId70"/>
    <p:sldId id="315" r:id="rId71"/>
    <p:sldId id="316" r:id="rId72"/>
    <p:sldId id="317" r:id="rId73"/>
    <p:sldId id="318" r:id="rId74"/>
    <p:sldId id="319" r:id="rId75"/>
    <p:sldId id="369" r:id="rId76"/>
    <p:sldId id="320" r:id="rId77"/>
    <p:sldId id="371" r:id="rId78"/>
    <p:sldId id="372" r:id="rId79"/>
    <p:sldId id="373" r:id="rId80"/>
    <p:sldId id="370" r:id="rId81"/>
    <p:sldId id="322" r:id="rId82"/>
    <p:sldId id="374" r:id="rId83"/>
    <p:sldId id="323" r:id="rId84"/>
    <p:sldId id="324" r:id="rId85"/>
    <p:sldId id="375" r:id="rId86"/>
    <p:sldId id="325" r:id="rId87"/>
    <p:sldId id="377" r:id="rId88"/>
    <p:sldId id="326" r:id="rId89"/>
    <p:sldId id="327" r:id="rId90"/>
    <p:sldId id="328" r:id="rId91"/>
    <p:sldId id="329" r:id="rId92"/>
    <p:sldId id="330" r:id="rId93"/>
    <p:sldId id="331" r:id="rId94"/>
    <p:sldId id="332" r:id="rId95"/>
    <p:sldId id="333" r:id="rId96"/>
    <p:sldId id="334" r:id="rId97"/>
    <p:sldId id="335" r:id="rId98"/>
    <p:sldId id="336" r:id="rId99"/>
    <p:sldId id="337" r:id="rId100"/>
    <p:sldId id="338" r:id="rId101"/>
    <p:sldId id="339" r:id="rId102"/>
    <p:sldId id="340" r:id="rId103"/>
    <p:sldId id="341" r:id="rId104"/>
    <p:sldId id="342" r:id="rId105"/>
    <p:sldId id="343" r:id="rId106"/>
    <p:sldId id="344" r:id="rId107"/>
    <p:sldId id="345" r:id="rId108"/>
    <p:sldId id="346" r:id="rId109"/>
    <p:sldId id="347" r:id="rId110"/>
    <p:sldId id="348" r:id="rId111"/>
    <p:sldId id="349" r:id="rId112"/>
    <p:sldId id="350" r:id="rId113"/>
    <p:sldId id="351" r:id="rId114"/>
    <p:sldId id="352" r:id="rId115"/>
    <p:sldId id="353" r:id="rId116"/>
  </p:sldIdLst>
  <p:sldSz cx="9118600" cy="6845300"/>
  <p:notesSz cx="9118600" cy="68453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35" y="-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51288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65725" y="0"/>
            <a:ext cx="3951288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32F39-532D-480D-BBE3-2B5B5B6BA1B2}" type="datetimeFigureOut">
              <a:rPr lang="en-GB" smtClean="0"/>
              <a:pPr/>
              <a:t>06/01/2019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02400"/>
            <a:ext cx="3951288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65725" y="6502400"/>
            <a:ext cx="3951288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4EF1F-0F20-4EA5-AC11-66802B445257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51288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65725" y="0"/>
            <a:ext cx="3951288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36258B-9981-4E57-ABEE-6E2EE9D8FA3A}" type="datetimeFigureOut">
              <a:rPr lang="en-GB" smtClean="0"/>
              <a:pPr/>
              <a:t>06/01/2019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49563" y="512763"/>
            <a:ext cx="3419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1225" y="3251200"/>
            <a:ext cx="7296150" cy="308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51288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65725" y="6502400"/>
            <a:ext cx="3951288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28EBCF-50E3-4833-9056-8D236067C42F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3895" y="2122043"/>
            <a:ext cx="7750810" cy="14375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67790" y="3833368"/>
            <a:ext cx="6383020" cy="1711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E5E5E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225"/>
              </a:lnSpc>
            </a:pPr>
            <a:r>
              <a:rPr spc="-105" dirty="0"/>
              <a:t>CS556 </a:t>
            </a:r>
            <a:r>
              <a:rPr spc="55" dirty="0"/>
              <a:t>- </a:t>
            </a:r>
            <a:r>
              <a:rPr spc="-10" dirty="0"/>
              <a:t>Distributed</a:t>
            </a:r>
            <a:r>
              <a:rPr spc="-95" dirty="0"/>
              <a:t> </a:t>
            </a:r>
            <a:r>
              <a:rPr spc="-90" dirty="0"/>
              <a:t>Systems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E5E5E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225"/>
              </a:lnSpc>
            </a:pPr>
            <a:r>
              <a:rPr lang="en-US" spc="5" smtClean="0"/>
              <a:t>Tutorial by Eleftherios Kosmas</a:t>
            </a:r>
            <a:endParaRPr spc="-9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E5E5E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225"/>
              </a:lnSpc>
            </a:pPr>
            <a:fld id="{81D60167-4931-47E6-BA6A-407CBD079E47}" type="slidenum">
              <a:rPr spc="-70" dirty="0"/>
              <a:pPr marL="25400">
                <a:lnSpc>
                  <a:spcPts val="1225"/>
                </a:lnSpc>
              </a:pPr>
              <a:t>‹#›</a:t>
            </a:fld>
            <a:endParaRPr spc="-7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06533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E5E5E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225"/>
              </a:lnSpc>
            </a:pPr>
            <a:r>
              <a:rPr spc="-105" dirty="0"/>
              <a:t>CS556 </a:t>
            </a:r>
            <a:r>
              <a:rPr spc="55" dirty="0"/>
              <a:t>- </a:t>
            </a:r>
            <a:r>
              <a:rPr spc="-10" dirty="0"/>
              <a:t>Distributed</a:t>
            </a:r>
            <a:r>
              <a:rPr spc="-95" dirty="0"/>
              <a:t> </a:t>
            </a:r>
            <a:r>
              <a:rPr spc="-90" dirty="0"/>
              <a:t>Systems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E5E5E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225"/>
              </a:lnSpc>
            </a:pPr>
            <a:r>
              <a:rPr lang="en-US" spc="5" smtClean="0"/>
              <a:t>Tutorial by Eleftherios Kosmas</a:t>
            </a:r>
            <a:endParaRPr spc="-9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E5E5E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225"/>
              </a:lnSpc>
            </a:pPr>
            <a:fld id="{81D60167-4931-47E6-BA6A-407CBD079E47}" type="slidenum">
              <a:rPr spc="-70" dirty="0"/>
              <a:pPr marL="25400">
                <a:lnSpc>
                  <a:spcPts val="1225"/>
                </a:lnSpc>
              </a:pPr>
              <a:t>‹#›</a:t>
            </a:fld>
            <a:endParaRPr spc="-7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68439" y="221995"/>
            <a:ext cx="8229600" cy="609600"/>
          </a:xfrm>
          <a:custGeom>
            <a:avLst/>
            <a:gdLst/>
            <a:ahLst/>
            <a:cxnLst/>
            <a:rect l="l" t="t" r="r" b="b"/>
            <a:pathLst>
              <a:path w="8229600" h="609600">
                <a:moveTo>
                  <a:pt x="0" y="609600"/>
                </a:moveTo>
                <a:lnTo>
                  <a:pt x="0" y="0"/>
                </a:ln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06533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5930" y="1574419"/>
            <a:ext cx="3966591" cy="45178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696079" y="1574419"/>
            <a:ext cx="3966591" cy="45178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E5E5E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225"/>
              </a:lnSpc>
            </a:pPr>
            <a:r>
              <a:rPr spc="-105" dirty="0"/>
              <a:t>CS556 </a:t>
            </a:r>
            <a:r>
              <a:rPr spc="55" dirty="0"/>
              <a:t>- </a:t>
            </a:r>
            <a:r>
              <a:rPr spc="-10" dirty="0"/>
              <a:t>Distributed</a:t>
            </a:r>
            <a:r>
              <a:rPr spc="-95" dirty="0"/>
              <a:t> </a:t>
            </a:r>
            <a:r>
              <a:rPr spc="-90" dirty="0"/>
              <a:t>Systems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E5E5E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225"/>
              </a:lnSpc>
            </a:pPr>
            <a:r>
              <a:rPr lang="en-US" spc="5" smtClean="0"/>
              <a:t>Tutorial by Eleftherios Kosmas</a:t>
            </a:r>
            <a:endParaRPr spc="-95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E5E5E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225"/>
              </a:lnSpc>
            </a:pPr>
            <a:fld id="{81D60167-4931-47E6-BA6A-407CBD079E47}" type="slidenum">
              <a:rPr spc="-70" dirty="0"/>
              <a:pPr marL="25400">
                <a:lnSpc>
                  <a:spcPts val="1225"/>
                </a:lnSpc>
              </a:pPr>
              <a:t>‹#›</a:t>
            </a:fld>
            <a:endParaRPr spc="-7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68439" y="221995"/>
            <a:ext cx="8229600" cy="609600"/>
          </a:xfrm>
          <a:custGeom>
            <a:avLst/>
            <a:gdLst/>
            <a:ahLst/>
            <a:cxnLst/>
            <a:rect l="l" t="t" r="r" b="b"/>
            <a:pathLst>
              <a:path w="8229600" h="609600">
                <a:moveTo>
                  <a:pt x="0" y="609600"/>
                </a:moveTo>
                <a:lnTo>
                  <a:pt x="0" y="0"/>
                </a:ln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06533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E5E5E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225"/>
              </a:lnSpc>
            </a:pPr>
            <a:r>
              <a:rPr spc="-105" dirty="0"/>
              <a:t>CS556 </a:t>
            </a:r>
            <a:r>
              <a:rPr spc="55" dirty="0"/>
              <a:t>- </a:t>
            </a:r>
            <a:r>
              <a:rPr spc="-10" dirty="0"/>
              <a:t>Distributed</a:t>
            </a:r>
            <a:r>
              <a:rPr spc="-95" dirty="0"/>
              <a:t> </a:t>
            </a:r>
            <a:r>
              <a:rPr spc="-90" dirty="0"/>
              <a:t>Systems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E5E5E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225"/>
              </a:lnSpc>
            </a:pPr>
            <a:r>
              <a:rPr lang="en-US" spc="5" smtClean="0"/>
              <a:t>Tutorial by Eleftherios Kosmas</a:t>
            </a:r>
            <a:endParaRPr spc="-95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E5E5E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225"/>
              </a:lnSpc>
            </a:pPr>
            <a:fld id="{81D60167-4931-47E6-BA6A-407CBD079E47}" type="slidenum">
              <a:rPr spc="-70" dirty="0"/>
              <a:pPr marL="25400">
                <a:lnSpc>
                  <a:spcPts val="1225"/>
                </a:lnSpc>
              </a:pPr>
              <a:t>‹#›</a:t>
            </a:fld>
            <a:endParaRPr spc="-7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E5E5E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225"/>
              </a:lnSpc>
            </a:pPr>
            <a:r>
              <a:rPr spc="-105" dirty="0"/>
              <a:t>CS556 </a:t>
            </a:r>
            <a:r>
              <a:rPr spc="55" dirty="0"/>
              <a:t>- </a:t>
            </a:r>
            <a:r>
              <a:rPr spc="-10" dirty="0"/>
              <a:t>Distributed</a:t>
            </a:r>
            <a:r>
              <a:rPr spc="-95" dirty="0"/>
              <a:t> </a:t>
            </a:r>
            <a:r>
              <a:rPr spc="-90" dirty="0"/>
              <a:t>Systems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E5E5E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225"/>
              </a:lnSpc>
            </a:pPr>
            <a:r>
              <a:rPr lang="en-US" spc="5" smtClean="0"/>
              <a:t>Tutorial by Eleftherios Kosmas</a:t>
            </a:r>
            <a:endParaRPr spc="-95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E5E5E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225"/>
              </a:lnSpc>
            </a:pPr>
            <a:fld id="{81D60167-4931-47E6-BA6A-407CBD079E47}" type="slidenum">
              <a:rPr spc="-70" dirty="0"/>
              <a:pPr marL="25400">
                <a:lnSpc>
                  <a:spcPts val="1225"/>
                </a:lnSpc>
              </a:pPr>
              <a:t>‹#›</a:t>
            </a:fld>
            <a:endParaRPr spc="-7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68439" y="221995"/>
            <a:ext cx="8229600" cy="609600"/>
          </a:xfrm>
          <a:custGeom>
            <a:avLst/>
            <a:gdLst/>
            <a:ahLst/>
            <a:cxnLst/>
            <a:rect l="l" t="t" r="r" b="b"/>
            <a:pathLst>
              <a:path w="8229600" h="609600">
                <a:moveTo>
                  <a:pt x="0" y="609600"/>
                </a:moveTo>
                <a:lnTo>
                  <a:pt x="0" y="0"/>
                </a:ln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5769" y="256540"/>
            <a:ext cx="7527061" cy="727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006533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1453" y="1184960"/>
            <a:ext cx="8406765" cy="2731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24141" y="6378858"/>
            <a:ext cx="1828164" cy="180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E5E5E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225"/>
              </a:lnSpc>
            </a:pPr>
            <a:r>
              <a:rPr spc="-105" dirty="0"/>
              <a:t>CS556 </a:t>
            </a:r>
            <a:r>
              <a:rPr spc="55" dirty="0"/>
              <a:t>- </a:t>
            </a:r>
            <a:r>
              <a:rPr spc="-10" dirty="0"/>
              <a:t>Distributed</a:t>
            </a:r>
            <a:r>
              <a:rPr spc="-95" dirty="0"/>
              <a:t> </a:t>
            </a:r>
            <a:r>
              <a:rPr spc="-90" dirty="0"/>
              <a:t>Systems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39401" y="6378858"/>
            <a:ext cx="1986279" cy="180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E5E5E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225"/>
              </a:lnSpc>
            </a:pPr>
            <a:r>
              <a:rPr lang="en-US" spc="5" smtClean="0"/>
              <a:t>Tutorial by Eleftherios Kosmas</a:t>
            </a:r>
            <a:endParaRPr spc="-9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041525" y="6378858"/>
            <a:ext cx="203834" cy="180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E5E5E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1225"/>
              </a:lnSpc>
            </a:pPr>
            <a:fld id="{81D60167-4931-47E6-BA6A-407CBD079E47}" type="slidenum">
              <a:rPr spc="-70" dirty="0"/>
              <a:pPr marL="25400">
                <a:lnSpc>
                  <a:spcPts val="1225"/>
                </a:lnSpc>
              </a:pPr>
              <a:t>‹#›</a:t>
            </a:fld>
            <a:endParaRPr spc="-7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TCP/IP_mode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d.uoc.gr/" TargetMode="Externa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039" y="1212596"/>
            <a:ext cx="7924800" cy="914400"/>
          </a:xfrm>
          <a:custGeom>
            <a:avLst/>
            <a:gdLst/>
            <a:ahLst/>
            <a:cxnLst/>
            <a:rect l="l" t="t" r="r" b="b"/>
            <a:pathLst>
              <a:path w="7924800" h="914400">
                <a:moveTo>
                  <a:pt x="0" y="914400"/>
                </a:moveTo>
                <a:lnTo>
                  <a:pt x="0" y="0"/>
                </a:lnTo>
                <a:lnTo>
                  <a:pt x="7924787" y="0"/>
                </a:lnTo>
              </a:path>
            </a:pathLst>
          </a:custGeom>
          <a:ln w="2540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68639" y="3955796"/>
            <a:ext cx="6512559" cy="0"/>
          </a:xfrm>
          <a:custGeom>
            <a:avLst/>
            <a:gdLst/>
            <a:ahLst/>
            <a:cxnLst/>
            <a:rect l="l" t="t" r="r" b="b"/>
            <a:pathLst>
              <a:path w="6512559">
                <a:moveTo>
                  <a:pt x="0" y="0"/>
                </a:moveTo>
                <a:lnTo>
                  <a:pt x="6512052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802752" y="1613661"/>
            <a:ext cx="581787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54760">
              <a:lnSpc>
                <a:spcPct val="100000"/>
              </a:lnSpc>
              <a:spcBef>
                <a:spcPts val="100"/>
              </a:spcBef>
            </a:pPr>
            <a:r>
              <a:rPr b="1" spc="-30" dirty="0">
                <a:latin typeface="Times New Roman"/>
                <a:cs typeface="Times New Roman"/>
              </a:rPr>
              <a:t>Introduction </a:t>
            </a:r>
            <a:r>
              <a:rPr b="1" spc="5" dirty="0">
                <a:latin typeface="Times New Roman"/>
                <a:cs typeface="Times New Roman"/>
              </a:rPr>
              <a:t>to  </a:t>
            </a:r>
            <a:r>
              <a:rPr b="1" dirty="0">
                <a:latin typeface="Times New Roman"/>
                <a:cs typeface="Times New Roman"/>
              </a:rPr>
              <a:t>Sockets </a:t>
            </a:r>
            <a:r>
              <a:rPr b="1" spc="-35" dirty="0">
                <a:latin typeface="Times New Roman"/>
                <a:cs typeface="Times New Roman"/>
              </a:rPr>
              <a:t>Programming </a:t>
            </a:r>
            <a:r>
              <a:rPr b="1" spc="-5" dirty="0">
                <a:latin typeface="Times New Roman"/>
                <a:cs typeface="Times New Roman"/>
              </a:rPr>
              <a:t>in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spc="-180" dirty="0">
                <a:latin typeface="Times New Roman"/>
                <a:cs typeface="Times New Roman"/>
              </a:rPr>
              <a:t>C</a:t>
            </a:r>
          </a:p>
          <a:p>
            <a:pPr marL="1348105">
              <a:lnSpc>
                <a:spcPct val="100000"/>
              </a:lnSpc>
            </a:pPr>
            <a:r>
              <a:rPr b="1" spc="45" dirty="0">
                <a:latin typeface="Times New Roman"/>
                <a:cs typeface="Times New Roman"/>
              </a:rPr>
              <a:t>using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spc="175" dirty="0">
                <a:latin typeface="Times New Roman"/>
                <a:cs typeface="Times New Roman"/>
              </a:rPr>
              <a:t>TCP/IP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27717" y="261873"/>
            <a:ext cx="266382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50" dirty="0"/>
              <a:t>Introduction</a:t>
            </a:r>
            <a:endParaRPr sz="4200"/>
          </a:p>
        </p:txBody>
      </p:sp>
      <p:sp>
        <p:nvSpPr>
          <p:cNvPr id="4" name="object 4"/>
          <p:cNvSpPr txBox="1"/>
          <p:nvPr/>
        </p:nvSpPr>
        <p:spPr>
          <a:xfrm>
            <a:off x="401453" y="1092428"/>
            <a:ext cx="2649220" cy="79819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4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55" dirty="0">
                <a:latin typeface="Arial"/>
                <a:cs typeface="Arial"/>
              </a:rPr>
              <a:t>Computer</a:t>
            </a:r>
            <a:r>
              <a:rPr sz="2200" spc="-114" dirty="0">
                <a:latin typeface="Arial"/>
                <a:cs typeface="Arial"/>
              </a:rPr>
              <a:t> </a:t>
            </a:r>
            <a:r>
              <a:rPr sz="2200" spc="5" dirty="0">
                <a:latin typeface="Arial"/>
                <a:cs typeface="Arial"/>
              </a:rPr>
              <a:t>Network</a:t>
            </a:r>
            <a:endParaRPr sz="22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9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105" dirty="0">
                <a:latin typeface="Arial"/>
                <a:cs typeface="Arial"/>
              </a:rPr>
              <a:t>hosts,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routers,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1453" y="1807361"/>
            <a:ext cx="3797300" cy="412496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681990">
              <a:lnSpc>
                <a:spcPct val="100000"/>
              </a:lnSpc>
              <a:spcBef>
                <a:spcPts val="550"/>
              </a:spcBef>
            </a:pPr>
            <a:r>
              <a:rPr sz="2000" spc="-30" dirty="0">
                <a:latin typeface="Arial"/>
                <a:cs typeface="Arial"/>
              </a:rPr>
              <a:t>communication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channels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5"/>
              </a:spcBef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b="1" spc="-210" dirty="0">
                <a:solidFill>
                  <a:srgbClr val="9A6500"/>
                </a:solidFill>
                <a:latin typeface="Arial"/>
                <a:cs typeface="Arial"/>
              </a:rPr>
              <a:t>Hosts </a:t>
            </a:r>
            <a:r>
              <a:rPr sz="2200" spc="30" dirty="0">
                <a:latin typeface="Arial"/>
                <a:cs typeface="Arial"/>
              </a:rPr>
              <a:t>run</a:t>
            </a:r>
            <a:r>
              <a:rPr sz="2200" spc="-335" dirty="0">
                <a:latin typeface="Arial"/>
                <a:cs typeface="Arial"/>
              </a:rPr>
              <a:t> </a:t>
            </a:r>
            <a:r>
              <a:rPr sz="2200" spc="-60" dirty="0">
                <a:latin typeface="Arial"/>
                <a:cs typeface="Arial"/>
              </a:rPr>
              <a:t>applications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2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b="1" spc="-175" dirty="0">
                <a:solidFill>
                  <a:srgbClr val="CA6800"/>
                </a:solidFill>
                <a:latin typeface="Arial"/>
                <a:cs typeface="Arial"/>
              </a:rPr>
              <a:t>Routers </a:t>
            </a:r>
            <a:r>
              <a:rPr sz="2200" spc="-5" dirty="0">
                <a:latin typeface="Arial"/>
                <a:cs typeface="Arial"/>
              </a:rPr>
              <a:t>forward</a:t>
            </a:r>
            <a:r>
              <a:rPr sz="2200" spc="5" dirty="0">
                <a:latin typeface="Arial"/>
                <a:cs typeface="Arial"/>
              </a:rPr>
              <a:t> information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2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b="1" spc="-185" dirty="0">
                <a:solidFill>
                  <a:srgbClr val="CC9A00"/>
                </a:solidFill>
                <a:latin typeface="Arial"/>
                <a:cs typeface="Arial"/>
              </a:rPr>
              <a:t>Packets</a:t>
            </a:r>
            <a:r>
              <a:rPr sz="2200" spc="-185" dirty="0">
                <a:latin typeface="Arial"/>
                <a:cs typeface="Arial"/>
              </a:rPr>
              <a:t>: </a:t>
            </a:r>
            <a:r>
              <a:rPr sz="2200" spc="-155" dirty="0">
                <a:latin typeface="Arial"/>
                <a:cs typeface="Arial"/>
              </a:rPr>
              <a:t>sequence </a:t>
            </a:r>
            <a:r>
              <a:rPr sz="2200" spc="-15" dirty="0">
                <a:latin typeface="Arial"/>
                <a:cs typeface="Arial"/>
              </a:rPr>
              <a:t>of</a:t>
            </a:r>
            <a:r>
              <a:rPr sz="2200" spc="140" dirty="0">
                <a:latin typeface="Arial"/>
                <a:cs typeface="Arial"/>
              </a:rPr>
              <a:t> </a:t>
            </a:r>
            <a:r>
              <a:rPr sz="2200" spc="-95" dirty="0">
                <a:latin typeface="Arial"/>
                <a:cs typeface="Arial"/>
              </a:rPr>
              <a:t>bytes</a:t>
            </a:r>
            <a:endParaRPr sz="22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9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25" dirty="0">
                <a:latin typeface="Arial"/>
                <a:cs typeface="Arial"/>
              </a:rPr>
              <a:t>contain </a:t>
            </a:r>
            <a:r>
              <a:rPr sz="2000" spc="5" dirty="0">
                <a:latin typeface="Arial"/>
                <a:cs typeface="Arial"/>
              </a:rPr>
              <a:t>control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10" dirty="0">
                <a:latin typeface="Arial"/>
                <a:cs typeface="Arial"/>
              </a:rPr>
              <a:t>information</a:t>
            </a:r>
            <a:endParaRPr sz="20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8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120" dirty="0">
                <a:latin typeface="Arial"/>
                <a:cs typeface="Arial"/>
              </a:rPr>
              <a:t>e.g. </a:t>
            </a:r>
            <a:r>
              <a:rPr sz="2000" spc="-35" dirty="0">
                <a:latin typeface="Arial"/>
                <a:cs typeface="Arial"/>
              </a:rPr>
              <a:t>destination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host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b="1" spc="-145" dirty="0">
                <a:solidFill>
                  <a:srgbClr val="3B822F"/>
                </a:solidFill>
                <a:latin typeface="Arial"/>
                <a:cs typeface="Arial"/>
              </a:rPr>
              <a:t>Protocol </a:t>
            </a:r>
            <a:r>
              <a:rPr sz="2200" spc="-90" dirty="0">
                <a:latin typeface="Arial"/>
                <a:cs typeface="Arial"/>
              </a:rPr>
              <a:t>is </a:t>
            </a:r>
            <a:r>
              <a:rPr sz="2200" spc="-120" dirty="0">
                <a:latin typeface="Arial"/>
                <a:cs typeface="Arial"/>
              </a:rPr>
              <a:t>an</a:t>
            </a:r>
            <a:r>
              <a:rPr sz="2200" spc="30" dirty="0">
                <a:latin typeface="Arial"/>
                <a:cs typeface="Arial"/>
              </a:rPr>
              <a:t> </a:t>
            </a:r>
            <a:r>
              <a:rPr sz="2200" spc="-100" dirty="0">
                <a:latin typeface="Arial"/>
                <a:cs typeface="Arial"/>
              </a:rPr>
              <a:t>agreement</a:t>
            </a:r>
            <a:endParaRPr sz="22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9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65" dirty="0">
                <a:latin typeface="Arial"/>
                <a:cs typeface="Arial"/>
              </a:rPr>
              <a:t>meaning </a:t>
            </a:r>
            <a:r>
              <a:rPr sz="2000" spc="-10" dirty="0">
                <a:latin typeface="Arial"/>
                <a:cs typeface="Arial"/>
              </a:rPr>
              <a:t>of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packets</a:t>
            </a:r>
            <a:endParaRPr sz="20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30" dirty="0">
                <a:latin typeface="Arial"/>
                <a:cs typeface="Arial"/>
              </a:rPr>
              <a:t>structure </a:t>
            </a:r>
            <a:r>
              <a:rPr sz="2000" spc="-90" dirty="0">
                <a:latin typeface="Arial"/>
                <a:cs typeface="Arial"/>
              </a:rPr>
              <a:t>and </a:t>
            </a:r>
            <a:r>
              <a:rPr sz="2000" spc="-114" dirty="0">
                <a:latin typeface="Arial"/>
                <a:cs typeface="Arial"/>
              </a:rPr>
              <a:t>size </a:t>
            </a:r>
            <a:r>
              <a:rPr sz="2000" spc="-10" dirty="0">
                <a:latin typeface="Arial"/>
                <a:cs typeface="Arial"/>
              </a:rPr>
              <a:t>of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packets</a:t>
            </a:r>
            <a:endParaRPr sz="2000">
              <a:latin typeface="Arial"/>
              <a:cs typeface="Arial"/>
            </a:endParaRPr>
          </a:p>
          <a:p>
            <a:pPr marL="681990" marR="5080" indent="-325755">
              <a:lnSpc>
                <a:spcPct val="100000"/>
              </a:lnSpc>
              <a:spcBef>
                <a:spcPts val="475"/>
              </a:spcBef>
            </a:pPr>
            <a:r>
              <a:rPr sz="2000" spc="-120" dirty="0">
                <a:latin typeface="Arial"/>
                <a:cs typeface="Arial"/>
              </a:rPr>
              <a:t>e.g. </a:t>
            </a:r>
            <a:r>
              <a:rPr sz="2000" spc="-15" dirty="0">
                <a:latin typeface="Arial"/>
                <a:cs typeface="Arial"/>
              </a:rPr>
              <a:t>Hypertext </a:t>
            </a:r>
            <a:r>
              <a:rPr sz="2000" spc="-55" dirty="0">
                <a:latin typeface="Arial"/>
                <a:cs typeface="Arial"/>
              </a:rPr>
              <a:t>Transfer </a:t>
            </a:r>
            <a:r>
              <a:rPr sz="2000" spc="-30" dirty="0">
                <a:latin typeface="Arial"/>
                <a:cs typeface="Arial"/>
              </a:rPr>
              <a:t>Protocol  (HTTP)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34115" y="1517395"/>
            <a:ext cx="1362455" cy="847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50127" y="2443226"/>
            <a:ext cx="666750" cy="4000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66051" y="1574545"/>
            <a:ext cx="1362455" cy="847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81765" y="5168900"/>
            <a:ext cx="1362455" cy="847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70285" y="3961129"/>
            <a:ext cx="1362455" cy="847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551801" y="5073650"/>
            <a:ext cx="1362455" cy="847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65722" y="3541267"/>
            <a:ext cx="666750" cy="4000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312545" y="3120644"/>
            <a:ext cx="666750" cy="4000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502527" y="4824476"/>
            <a:ext cx="666750" cy="4000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05865" y="5111750"/>
            <a:ext cx="579120" cy="241300"/>
          </a:xfrm>
          <a:custGeom>
            <a:avLst/>
            <a:gdLst/>
            <a:ahLst/>
            <a:cxnLst/>
            <a:rect l="l" t="t" r="r" b="b"/>
            <a:pathLst>
              <a:path w="579120" h="241300">
                <a:moveTo>
                  <a:pt x="0" y="0"/>
                </a:moveTo>
                <a:lnTo>
                  <a:pt x="579107" y="24079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244971" y="5198617"/>
            <a:ext cx="494030" cy="252729"/>
          </a:xfrm>
          <a:custGeom>
            <a:avLst/>
            <a:gdLst/>
            <a:ahLst/>
            <a:cxnLst/>
            <a:rect l="l" t="t" r="r" b="b"/>
            <a:pathLst>
              <a:path w="494029" h="252729">
                <a:moveTo>
                  <a:pt x="0" y="252222"/>
                </a:moveTo>
                <a:lnTo>
                  <a:pt x="493775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866269" y="3917696"/>
            <a:ext cx="483870" cy="357505"/>
          </a:xfrm>
          <a:custGeom>
            <a:avLst/>
            <a:gdLst/>
            <a:ahLst/>
            <a:cxnLst/>
            <a:rect l="l" t="t" r="r" b="b"/>
            <a:pathLst>
              <a:path w="483870" h="357504">
                <a:moveTo>
                  <a:pt x="0" y="357377"/>
                </a:moveTo>
                <a:lnTo>
                  <a:pt x="483857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675501" y="3990847"/>
            <a:ext cx="136525" cy="841375"/>
          </a:xfrm>
          <a:custGeom>
            <a:avLst/>
            <a:gdLst/>
            <a:ahLst/>
            <a:cxnLst/>
            <a:rect l="l" t="t" r="r" b="b"/>
            <a:pathLst>
              <a:path w="136525" h="841375">
                <a:moveTo>
                  <a:pt x="136398" y="841248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927722" y="3466591"/>
            <a:ext cx="398780" cy="220979"/>
          </a:xfrm>
          <a:custGeom>
            <a:avLst/>
            <a:gdLst/>
            <a:ahLst/>
            <a:cxnLst/>
            <a:rect l="l" t="t" r="r" b="b"/>
            <a:pathLst>
              <a:path w="398779" h="220979">
                <a:moveTo>
                  <a:pt x="0" y="220980"/>
                </a:moveTo>
                <a:lnTo>
                  <a:pt x="398525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443865" y="2877566"/>
            <a:ext cx="146685" cy="694690"/>
          </a:xfrm>
          <a:custGeom>
            <a:avLst/>
            <a:gdLst/>
            <a:ahLst/>
            <a:cxnLst/>
            <a:rect l="l" t="t" r="r" b="b"/>
            <a:pathLst>
              <a:path w="146684" h="694689">
                <a:moveTo>
                  <a:pt x="0" y="694181"/>
                </a:moveTo>
                <a:lnTo>
                  <a:pt x="146303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021448" y="2802889"/>
            <a:ext cx="357505" cy="284480"/>
          </a:xfrm>
          <a:custGeom>
            <a:avLst/>
            <a:gdLst/>
            <a:ahLst/>
            <a:cxnLst/>
            <a:rect l="l" t="t" r="r" b="b"/>
            <a:pathLst>
              <a:path w="357504" h="284480">
                <a:moveTo>
                  <a:pt x="0" y="0"/>
                </a:moveTo>
                <a:lnTo>
                  <a:pt x="357377" y="28422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640967" y="3753103"/>
            <a:ext cx="1362455" cy="847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774317" y="3587750"/>
            <a:ext cx="242570" cy="284480"/>
          </a:xfrm>
          <a:custGeom>
            <a:avLst/>
            <a:gdLst/>
            <a:ahLst/>
            <a:cxnLst/>
            <a:rect l="l" t="t" r="r" b="b"/>
            <a:pathLst>
              <a:path w="242570" h="284479">
                <a:moveTo>
                  <a:pt x="242303" y="284225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080122" y="2336545"/>
            <a:ext cx="398780" cy="220979"/>
          </a:xfrm>
          <a:custGeom>
            <a:avLst/>
            <a:gdLst/>
            <a:ahLst/>
            <a:cxnLst/>
            <a:rect l="l" t="t" r="r" b="b"/>
            <a:pathLst>
              <a:path w="398779" h="220980">
                <a:moveTo>
                  <a:pt x="0" y="220980"/>
                </a:moveTo>
                <a:lnTo>
                  <a:pt x="398525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797677" y="2317495"/>
            <a:ext cx="535305" cy="262255"/>
          </a:xfrm>
          <a:custGeom>
            <a:avLst/>
            <a:gdLst/>
            <a:ahLst/>
            <a:cxnLst/>
            <a:rect l="l" t="t" r="r" b="b"/>
            <a:pathLst>
              <a:path w="535304" h="262255">
                <a:moveTo>
                  <a:pt x="0" y="0"/>
                </a:moveTo>
                <a:lnTo>
                  <a:pt x="534924" y="262128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269103" y="1276857"/>
            <a:ext cx="4203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solidFill>
                  <a:srgbClr val="9A6500"/>
                </a:solidFill>
                <a:latin typeface="Arial"/>
                <a:cs typeface="Arial"/>
              </a:rPr>
              <a:t>Host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369355" y="2237026"/>
            <a:ext cx="5969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CA6800"/>
                </a:solidFill>
                <a:latin typeface="Arial"/>
                <a:cs typeface="Arial"/>
              </a:rPr>
              <a:t>Router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78596" y="2941884"/>
            <a:ext cx="136715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675"/>
              </a:lnSpc>
              <a:spcBef>
                <a:spcPts val="95"/>
              </a:spcBef>
            </a:pPr>
            <a:r>
              <a:rPr sz="1400" b="1" spc="-10" dirty="0">
                <a:solidFill>
                  <a:srgbClr val="AFBF39"/>
                </a:solidFill>
                <a:latin typeface="Arial"/>
                <a:cs typeface="Arial"/>
              </a:rPr>
              <a:t>Communication</a:t>
            </a:r>
            <a:endParaRPr sz="1400">
              <a:latin typeface="Arial"/>
              <a:cs typeface="Arial"/>
            </a:endParaRPr>
          </a:p>
          <a:p>
            <a:pPr marL="684530">
              <a:lnSpc>
                <a:spcPts val="1675"/>
              </a:lnSpc>
            </a:pPr>
            <a:r>
              <a:rPr sz="1400" b="1" spc="-5" dirty="0">
                <a:solidFill>
                  <a:srgbClr val="AFBF39"/>
                </a:solidFill>
                <a:latin typeface="Arial"/>
                <a:cs typeface="Arial"/>
              </a:rPr>
              <a:t>c</a:t>
            </a:r>
            <a:r>
              <a:rPr sz="1400" b="1" spc="-15" dirty="0">
                <a:solidFill>
                  <a:srgbClr val="AFBF39"/>
                </a:solidFill>
                <a:latin typeface="Arial"/>
                <a:cs typeface="Arial"/>
              </a:rPr>
              <a:t>h</a:t>
            </a:r>
            <a:r>
              <a:rPr sz="1400" b="1" spc="-5" dirty="0">
                <a:solidFill>
                  <a:srgbClr val="AFBF39"/>
                </a:solidFill>
                <a:latin typeface="Arial"/>
                <a:cs typeface="Arial"/>
              </a:rPr>
              <a:t>a</a:t>
            </a:r>
            <a:r>
              <a:rPr sz="1400" b="1" spc="-15" dirty="0">
                <a:solidFill>
                  <a:srgbClr val="AFBF39"/>
                </a:solidFill>
                <a:latin typeface="Arial"/>
                <a:cs typeface="Arial"/>
              </a:rPr>
              <a:t>n</a:t>
            </a:r>
            <a:r>
              <a:rPr sz="1400" b="1" spc="-5" dirty="0">
                <a:solidFill>
                  <a:srgbClr val="AFBF39"/>
                </a:solidFill>
                <a:latin typeface="Arial"/>
                <a:cs typeface="Arial"/>
              </a:rPr>
              <a:t>nel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48841" y="261873"/>
            <a:ext cx="582866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90" dirty="0"/>
              <a:t>Protocol </a:t>
            </a:r>
            <a:r>
              <a:rPr sz="4200" spc="-300" dirty="0"/>
              <a:t>Families </a:t>
            </a:r>
            <a:r>
              <a:rPr sz="4200" spc="-260" dirty="0"/>
              <a:t>-</a:t>
            </a:r>
            <a:r>
              <a:rPr sz="4200" spc="-125" dirty="0"/>
              <a:t> </a:t>
            </a:r>
            <a:r>
              <a:rPr sz="4200" spc="-85" dirty="0"/>
              <a:t>TCP/IP</a:t>
            </a:r>
            <a:endParaRPr sz="4200"/>
          </a:p>
        </p:txBody>
      </p:sp>
      <p:sp>
        <p:nvSpPr>
          <p:cNvPr id="4" name="object 4"/>
          <p:cNvSpPr txBox="1"/>
          <p:nvPr/>
        </p:nvSpPr>
        <p:spPr>
          <a:xfrm>
            <a:off x="401453" y="1250949"/>
            <a:ext cx="7774940" cy="4529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125" dirty="0">
                <a:latin typeface="Arial"/>
                <a:cs typeface="Arial"/>
              </a:rPr>
              <a:t>Several </a:t>
            </a:r>
            <a:r>
              <a:rPr sz="2200" spc="-55" dirty="0">
                <a:latin typeface="Arial"/>
                <a:cs typeface="Arial"/>
              </a:rPr>
              <a:t>protocols </a:t>
            </a:r>
            <a:r>
              <a:rPr sz="2200" spc="25" dirty="0">
                <a:latin typeface="Arial"/>
                <a:cs typeface="Arial"/>
              </a:rPr>
              <a:t>for </a:t>
            </a:r>
            <a:r>
              <a:rPr sz="2200" dirty="0">
                <a:latin typeface="Arial"/>
                <a:cs typeface="Arial"/>
              </a:rPr>
              <a:t>different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-75" dirty="0">
                <a:latin typeface="Arial"/>
                <a:cs typeface="Arial"/>
              </a:rPr>
              <a:t>problems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spc="355" dirty="0">
                <a:solidFill>
                  <a:srgbClr val="9A6500"/>
                </a:solidFill>
                <a:latin typeface="Wingdings"/>
                <a:cs typeface="Wingdings"/>
              </a:rPr>
              <a:t></a:t>
            </a:r>
            <a:r>
              <a:rPr sz="2200" b="1" spc="355" dirty="0">
                <a:latin typeface="Arial"/>
                <a:cs typeface="Arial"/>
              </a:rPr>
              <a:t>Protocol </a:t>
            </a:r>
            <a:r>
              <a:rPr sz="2200" b="1" spc="-204" dirty="0">
                <a:latin typeface="Arial"/>
                <a:cs typeface="Arial"/>
              </a:rPr>
              <a:t>Suites </a:t>
            </a:r>
            <a:r>
              <a:rPr sz="2200" dirty="0">
                <a:latin typeface="Arial"/>
                <a:cs typeface="Arial"/>
              </a:rPr>
              <a:t>or </a:t>
            </a:r>
            <a:r>
              <a:rPr sz="2200" b="1" spc="-145" dirty="0">
                <a:latin typeface="Arial"/>
                <a:cs typeface="Arial"/>
              </a:rPr>
              <a:t>Protocol </a:t>
            </a:r>
            <a:r>
              <a:rPr sz="2200" b="1" spc="-155" dirty="0">
                <a:latin typeface="Arial"/>
                <a:cs typeface="Arial"/>
              </a:rPr>
              <a:t>Families:</a:t>
            </a:r>
            <a:r>
              <a:rPr sz="2200" b="1" spc="-325" dirty="0">
                <a:latin typeface="Arial"/>
                <a:cs typeface="Arial"/>
              </a:rPr>
              <a:t> </a:t>
            </a:r>
            <a:r>
              <a:rPr sz="2200" spc="-55" dirty="0">
                <a:latin typeface="Arial"/>
                <a:cs typeface="Arial"/>
              </a:rPr>
              <a:t>TCP/IP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00">
              <a:latin typeface="Times New Roman"/>
              <a:cs typeface="Times New Roman"/>
            </a:endParaRPr>
          </a:p>
          <a:p>
            <a:pPr marL="354965" marR="167640" indent="-342265">
              <a:lnSpc>
                <a:spcPct val="100000"/>
              </a:lnSpc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55" dirty="0">
                <a:latin typeface="Arial"/>
                <a:cs typeface="Arial"/>
              </a:rPr>
              <a:t>TCP/IP </a:t>
            </a:r>
            <a:r>
              <a:rPr sz="2200" spc="-70" dirty="0">
                <a:latin typeface="Arial"/>
                <a:cs typeface="Arial"/>
              </a:rPr>
              <a:t>provides </a:t>
            </a:r>
            <a:r>
              <a:rPr sz="2200" b="1" spc="-105" dirty="0">
                <a:solidFill>
                  <a:srgbClr val="9A6500"/>
                </a:solidFill>
                <a:latin typeface="Arial"/>
                <a:cs typeface="Arial"/>
              </a:rPr>
              <a:t>end-to-end </a:t>
            </a:r>
            <a:r>
              <a:rPr sz="2200" spc="-5" dirty="0">
                <a:latin typeface="Arial"/>
                <a:cs typeface="Arial"/>
              </a:rPr>
              <a:t>connectivity </a:t>
            </a:r>
            <a:r>
              <a:rPr sz="2200" spc="-55" dirty="0">
                <a:latin typeface="Arial"/>
                <a:cs typeface="Arial"/>
              </a:rPr>
              <a:t>specifying </a:t>
            </a:r>
            <a:r>
              <a:rPr sz="2200" spc="5" dirty="0">
                <a:latin typeface="Arial"/>
                <a:cs typeface="Arial"/>
              </a:rPr>
              <a:t>how </a:t>
            </a:r>
            <a:r>
              <a:rPr sz="2200" spc="-120" dirty="0">
                <a:latin typeface="Arial"/>
                <a:cs typeface="Arial"/>
              </a:rPr>
              <a:t>data  </a:t>
            </a:r>
            <a:r>
              <a:rPr sz="2200" spc="-60" dirty="0">
                <a:latin typeface="Arial"/>
                <a:cs typeface="Arial"/>
              </a:rPr>
              <a:t>should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spc="-150" dirty="0">
                <a:latin typeface="Arial"/>
                <a:cs typeface="Arial"/>
              </a:rPr>
              <a:t>be</a:t>
            </a:r>
            <a:endParaRPr sz="22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9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30" dirty="0">
                <a:latin typeface="Arial"/>
                <a:cs typeface="Arial"/>
              </a:rPr>
              <a:t>formatted,</a:t>
            </a:r>
            <a:endParaRPr sz="20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140" dirty="0">
                <a:latin typeface="Arial"/>
                <a:cs typeface="Arial"/>
              </a:rPr>
              <a:t>addressed,</a:t>
            </a:r>
            <a:endParaRPr sz="20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25" dirty="0">
                <a:latin typeface="Arial"/>
                <a:cs typeface="Arial"/>
              </a:rPr>
              <a:t>transmitted,</a:t>
            </a:r>
            <a:endParaRPr sz="20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35" dirty="0">
                <a:latin typeface="Arial"/>
                <a:cs typeface="Arial"/>
              </a:rPr>
              <a:t>routed,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and</a:t>
            </a:r>
            <a:endParaRPr sz="20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65" dirty="0">
                <a:latin typeface="Arial"/>
                <a:cs typeface="Arial"/>
              </a:rPr>
              <a:t>received at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destination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114" dirty="0">
                <a:latin typeface="Arial"/>
                <a:cs typeface="Arial"/>
              </a:rPr>
              <a:t>can </a:t>
            </a:r>
            <a:r>
              <a:rPr sz="2200" spc="-145" dirty="0">
                <a:latin typeface="Arial"/>
                <a:cs typeface="Arial"/>
              </a:rPr>
              <a:t>be </a:t>
            </a:r>
            <a:r>
              <a:rPr sz="2200" spc="-160" dirty="0">
                <a:latin typeface="Arial"/>
                <a:cs typeface="Arial"/>
              </a:rPr>
              <a:t>used </a:t>
            </a:r>
            <a:r>
              <a:rPr sz="2200" spc="75" dirty="0">
                <a:latin typeface="Arial"/>
                <a:cs typeface="Arial"/>
              </a:rPr>
              <a:t>in </a:t>
            </a:r>
            <a:r>
              <a:rPr sz="2200" spc="-25" dirty="0">
                <a:latin typeface="Arial"/>
                <a:cs typeface="Arial"/>
              </a:rPr>
              <a:t>the </a:t>
            </a:r>
            <a:r>
              <a:rPr sz="2200" spc="5" dirty="0">
                <a:latin typeface="Arial"/>
                <a:cs typeface="Arial"/>
              </a:rPr>
              <a:t>internet </a:t>
            </a:r>
            <a:r>
              <a:rPr sz="2200" spc="-100" dirty="0">
                <a:latin typeface="Arial"/>
                <a:cs typeface="Arial"/>
              </a:rPr>
              <a:t>and </a:t>
            </a:r>
            <a:r>
              <a:rPr sz="2200" spc="75" dirty="0">
                <a:latin typeface="Arial"/>
                <a:cs typeface="Arial"/>
              </a:rPr>
              <a:t>in </a:t>
            </a:r>
            <a:r>
              <a:rPr sz="2200" spc="-80" dirty="0">
                <a:latin typeface="Arial"/>
                <a:cs typeface="Arial"/>
              </a:rPr>
              <a:t>stand-alone </a:t>
            </a:r>
            <a:r>
              <a:rPr sz="2200" spc="-30" dirty="0">
                <a:latin typeface="Arial"/>
                <a:cs typeface="Arial"/>
              </a:rPr>
              <a:t>private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-35" dirty="0">
                <a:latin typeface="Arial"/>
                <a:cs typeface="Arial"/>
              </a:rPr>
              <a:t>networks</a:t>
            </a:r>
            <a:endParaRPr sz="2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2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120" dirty="0">
                <a:latin typeface="Arial"/>
                <a:cs typeface="Arial"/>
              </a:rPr>
              <a:t>it </a:t>
            </a:r>
            <a:r>
              <a:rPr sz="2200" spc="-90" dirty="0">
                <a:latin typeface="Arial"/>
                <a:cs typeface="Arial"/>
              </a:rPr>
              <a:t>is </a:t>
            </a:r>
            <a:r>
              <a:rPr sz="2200" spc="-80" dirty="0">
                <a:latin typeface="Arial"/>
                <a:cs typeface="Arial"/>
              </a:rPr>
              <a:t>organized </a:t>
            </a:r>
            <a:r>
              <a:rPr sz="2200" spc="35" dirty="0">
                <a:latin typeface="Arial"/>
                <a:cs typeface="Arial"/>
              </a:rPr>
              <a:t>into</a:t>
            </a:r>
            <a:r>
              <a:rPr sz="2200" spc="-215" dirty="0">
                <a:latin typeface="Arial"/>
                <a:cs typeface="Arial"/>
              </a:rPr>
              <a:t> </a:t>
            </a:r>
            <a:r>
              <a:rPr sz="2200" b="1" spc="-170" dirty="0">
                <a:solidFill>
                  <a:srgbClr val="CA6800"/>
                </a:solidFill>
                <a:latin typeface="Arial"/>
                <a:cs typeface="Arial"/>
              </a:rPr>
              <a:t>layers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84904" y="261873"/>
            <a:ext cx="174942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80" dirty="0"/>
              <a:t>TCP/IP</a:t>
            </a:r>
            <a:endParaRPr sz="4200"/>
          </a:p>
        </p:txBody>
      </p:sp>
      <p:sp>
        <p:nvSpPr>
          <p:cNvPr id="4" name="object 4"/>
          <p:cNvSpPr/>
          <p:nvPr/>
        </p:nvSpPr>
        <p:spPr>
          <a:xfrm>
            <a:off x="2303919" y="933703"/>
            <a:ext cx="4314444" cy="50764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357501" y="5994400"/>
            <a:ext cx="29654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* image </a:t>
            </a:r>
            <a:r>
              <a:rPr sz="800" dirty="0">
                <a:latin typeface="Arial"/>
                <a:cs typeface="Arial"/>
              </a:rPr>
              <a:t>is taken </a:t>
            </a:r>
            <a:r>
              <a:rPr sz="800" spc="-5" dirty="0">
                <a:latin typeface="Arial"/>
                <a:cs typeface="Arial"/>
              </a:rPr>
              <a:t>from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  <a:hlinkClick r:id="rId3"/>
              </a:rPr>
              <a:t>“http://en.w</a:t>
            </a:r>
            <a:r>
              <a:rPr sz="800" dirty="0">
                <a:latin typeface="Arial"/>
                <a:cs typeface="Arial"/>
              </a:rPr>
              <a:t>i</a:t>
            </a:r>
            <a:r>
              <a:rPr sz="800" dirty="0">
                <a:latin typeface="Arial"/>
                <a:cs typeface="Arial"/>
                <a:hlinkClick r:id="rId3"/>
              </a:rPr>
              <a:t>kipedia.org/wiki/TCP/IP_model”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98031" y="1009395"/>
            <a:ext cx="16383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/>
                <a:cs typeface="Arial"/>
              </a:rPr>
              <a:t>*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86165" y="4354321"/>
            <a:ext cx="416559" cy="76200"/>
          </a:xfrm>
          <a:custGeom>
            <a:avLst/>
            <a:gdLst/>
            <a:ahLst/>
            <a:cxnLst/>
            <a:rect l="l" t="t" r="r" b="b"/>
            <a:pathLst>
              <a:path w="416560" h="76200">
                <a:moveTo>
                  <a:pt x="364998" y="38100"/>
                </a:moveTo>
                <a:lnTo>
                  <a:pt x="361980" y="33527"/>
                </a:lnTo>
                <a:lnTo>
                  <a:pt x="4572" y="33527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361980" y="42672"/>
                </a:lnTo>
                <a:lnTo>
                  <a:pt x="364998" y="38100"/>
                </a:lnTo>
                <a:close/>
              </a:path>
              <a:path w="416560" h="76200">
                <a:moveTo>
                  <a:pt x="416052" y="38100"/>
                </a:moveTo>
                <a:lnTo>
                  <a:pt x="339852" y="0"/>
                </a:lnTo>
                <a:lnTo>
                  <a:pt x="361980" y="33527"/>
                </a:lnTo>
                <a:lnTo>
                  <a:pt x="364998" y="33527"/>
                </a:lnTo>
                <a:lnTo>
                  <a:pt x="368808" y="34289"/>
                </a:lnTo>
                <a:lnTo>
                  <a:pt x="369570" y="38100"/>
                </a:lnTo>
                <a:lnTo>
                  <a:pt x="369570" y="61340"/>
                </a:lnTo>
                <a:lnTo>
                  <a:pt x="416052" y="38100"/>
                </a:lnTo>
                <a:close/>
              </a:path>
              <a:path w="416560" h="76200">
                <a:moveTo>
                  <a:pt x="369570" y="61340"/>
                </a:moveTo>
                <a:lnTo>
                  <a:pt x="369570" y="38100"/>
                </a:lnTo>
                <a:lnTo>
                  <a:pt x="368808" y="41148"/>
                </a:lnTo>
                <a:lnTo>
                  <a:pt x="364998" y="42672"/>
                </a:lnTo>
                <a:lnTo>
                  <a:pt x="361980" y="42672"/>
                </a:lnTo>
                <a:lnTo>
                  <a:pt x="339852" y="76200"/>
                </a:lnTo>
                <a:lnTo>
                  <a:pt x="369570" y="61340"/>
                </a:lnTo>
                <a:close/>
              </a:path>
              <a:path w="416560" h="76200">
                <a:moveTo>
                  <a:pt x="369570" y="38100"/>
                </a:moveTo>
                <a:lnTo>
                  <a:pt x="368808" y="34289"/>
                </a:lnTo>
                <a:lnTo>
                  <a:pt x="364998" y="33527"/>
                </a:lnTo>
                <a:lnTo>
                  <a:pt x="361980" y="33527"/>
                </a:lnTo>
                <a:lnTo>
                  <a:pt x="364998" y="38100"/>
                </a:lnTo>
                <a:lnTo>
                  <a:pt x="364998" y="42672"/>
                </a:lnTo>
                <a:lnTo>
                  <a:pt x="368808" y="41148"/>
                </a:lnTo>
                <a:lnTo>
                  <a:pt x="369570" y="38100"/>
                </a:lnTo>
                <a:close/>
              </a:path>
              <a:path w="416560" h="76200">
                <a:moveTo>
                  <a:pt x="364998" y="42672"/>
                </a:moveTo>
                <a:lnTo>
                  <a:pt x="364998" y="38100"/>
                </a:lnTo>
                <a:lnTo>
                  <a:pt x="361980" y="42672"/>
                </a:lnTo>
                <a:lnTo>
                  <a:pt x="364998" y="426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87689" y="3760723"/>
            <a:ext cx="416559" cy="76200"/>
          </a:xfrm>
          <a:custGeom>
            <a:avLst/>
            <a:gdLst/>
            <a:ahLst/>
            <a:cxnLst/>
            <a:rect l="l" t="t" r="r" b="b"/>
            <a:pathLst>
              <a:path w="416560" h="76200">
                <a:moveTo>
                  <a:pt x="364998" y="38100"/>
                </a:moveTo>
                <a:lnTo>
                  <a:pt x="361477" y="32765"/>
                </a:lnTo>
                <a:lnTo>
                  <a:pt x="4572" y="32765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361980" y="42672"/>
                </a:lnTo>
                <a:lnTo>
                  <a:pt x="364998" y="38100"/>
                </a:lnTo>
                <a:close/>
              </a:path>
              <a:path w="416560" h="76200">
                <a:moveTo>
                  <a:pt x="416051" y="38100"/>
                </a:moveTo>
                <a:lnTo>
                  <a:pt x="339851" y="0"/>
                </a:lnTo>
                <a:lnTo>
                  <a:pt x="361477" y="32765"/>
                </a:lnTo>
                <a:lnTo>
                  <a:pt x="364998" y="32765"/>
                </a:lnTo>
                <a:lnTo>
                  <a:pt x="368807" y="34289"/>
                </a:lnTo>
                <a:lnTo>
                  <a:pt x="369569" y="38100"/>
                </a:lnTo>
                <a:lnTo>
                  <a:pt x="369569" y="61340"/>
                </a:lnTo>
                <a:lnTo>
                  <a:pt x="416051" y="38100"/>
                </a:lnTo>
                <a:close/>
              </a:path>
              <a:path w="416560" h="76200">
                <a:moveTo>
                  <a:pt x="369569" y="61340"/>
                </a:moveTo>
                <a:lnTo>
                  <a:pt x="369569" y="38100"/>
                </a:lnTo>
                <a:lnTo>
                  <a:pt x="368807" y="41148"/>
                </a:lnTo>
                <a:lnTo>
                  <a:pt x="364998" y="42672"/>
                </a:lnTo>
                <a:lnTo>
                  <a:pt x="361980" y="42672"/>
                </a:lnTo>
                <a:lnTo>
                  <a:pt x="339851" y="76200"/>
                </a:lnTo>
                <a:lnTo>
                  <a:pt x="369569" y="61340"/>
                </a:lnTo>
                <a:close/>
              </a:path>
              <a:path w="416560" h="76200">
                <a:moveTo>
                  <a:pt x="369569" y="38100"/>
                </a:moveTo>
                <a:lnTo>
                  <a:pt x="368807" y="34289"/>
                </a:lnTo>
                <a:lnTo>
                  <a:pt x="364998" y="32765"/>
                </a:lnTo>
                <a:lnTo>
                  <a:pt x="361477" y="32765"/>
                </a:lnTo>
                <a:lnTo>
                  <a:pt x="364998" y="38100"/>
                </a:lnTo>
                <a:lnTo>
                  <a:pt x="364998" y="42672"/>
                </a:lnTo>
                <a:lnTo>
                  <a:pt x="368807" y="41148"/>
                </a:lnTo>
                <a:lnTo>
                  <a:pt x="369569" y="38100"/>
                </a:lnTo>
                <a:close/>
              </a:path>
              <a:path w="416560" h="76200">
                <a:moveTo>
                  <a:pt x="364998" y="42672"/>
                </a:moveTo>
                <a:lnTo>
                  <a:pt x="364998" y="38100"/>
                </a:lnTo>
                <a:lnTo>
                  <a:pt x="361980" y="42672"/>
                </a:lnTo>
                <a:lnTo>
                  <a:pt x="364998" y="426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710067" y="3066140"/>
            <a:ext cx="2021126" cy="20871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93785" y="4884673"/>
            <a:ext cx="416559" cy="76200"/>
          </a:xfrm>
          <a:custGeom>
            <a:avLst/>
            <a:gdLst/>
            <a:ahLst/>
            <a:cxnLst/>
            <a:rect l="l" t="t" r="r" b="b"/>
            <a:pathLst>
              <a:path w="416560" h="76200">
                <a:moveTo>
                  <a:pt x="364997" y="38100"/>
                </a:moveTo>
                <a:lnTo>
                  <a:pt x="361477" y="32765"/>
                </a:lnTo>
                <a:lnTo>
                  <a:pt x="5333" y="32765"/>
                </a:lnTo>
                <a:lnTo>
                  <a:pt x="1523" y="34289"/>
                </a:lnTo>
                <a:lnTo>
                  <a:pt x="0" y="38100"/>
                </a:lnTo>
                <a:lnTo>
                  <a:pt x="1523" y="41148"/>
                </a:lnTo>
                <a:lnTo>
                  <a:pt x="5333" y="42672"/>
                </a:lnTo>
                <a:lnTo>
                  <a:pt x="361980" y="42672"/>
                </a:lnTo>
                <a:lnTo>
                  <a:pt x="364997" y="38100"/>
                </a:lnTo>
                <a:close/>
              </a:path>
              <a:path w="416560" h="76200">
                <a:moveTo>
                  <a:pt x="416051" y="38100"/>
                </a:moveTo>
                <a:lnTo>
                  <a:pt x="339851" y="0"/>
                </a:lnTo>
                <a:lnTo>
                  <a:pt x="361477" y="32765"/>
                </a:lnTo>
                <a:lnTo>
                  <a:pt x="364997" y="32765"/>
                </a:lnTo>
                <a:lnTo>
                  <a:pt x="368807" y="34289"/>
                </a:lnTo>
                <a:lnTo>
                  <a:pt x="370331" y="38100"/>
                </a:lnTo>
                <a:lnTo>
                  <a:pt x="370331" y="60960"/>
                </a:lnTo>
                <a:lnTo>
                  <a:pt x="416051" y="38100"/>
                </a:lnTo>
                <a:close/>
              </a:path>
              <a:path w="416560" h="76200">
                <a:moveTo>
                  <a:pt x="370331" y="60960"/>
                </a:moveTo>
                <a:lnTo>
                  <a:pt x="370331" y="38100"/>
                </a:lnTo>
                <a:lnTo>
                  <a:pt x="368807" y="41148"/>
                </a:lnTo>
                <a:lnTo>
                  <a:pt x="364997" y="42672"/>
                </a:lnTo>
                <a:lnTo>
                  <a:pt x="361980" y="42672"/>
                </a:lnTo>
                <a:lnTo>
                  <a:pt x="339851" y="76200"/>
                </a:lnTo>
                <a:lnTo>
                  <a:pt x="370331" y="60960"/>
                </a:lnTo>
                <a:close/>
              </a:path>
              <a:path w="416560" h="76200">
                <a:moveTo>
                  <a:pt x="370331" y="38100"/>
                </a:moveTo>
                <a:lnTo>
                  <a:pt x="368807" y="34289"/>
                </a:lnTo>
                <a:lnTo>
                  <a:pt x="364997" y="32765"/>
                </a:lnTo>
                <a:lnTo>
                  <a:pt x="361477" y="32765"/>
                </a:lnTo>
                <a:lnTo>
                  <a:pt x="364997" y="38100"/>
                </a:lnTo>
                <a:lnTo>
                  <a:pt x="364997" y="42672"/>
                </a:lnTo>
                <a:lnTo>
                  <a:pt x="368807" y="41148"/>
                </a:lnTo>
                <a:lnTo>
                  <a:pt x="370331" y="38100"/>
                </a:lnTo>
                <a:close/>
              </a:path>
              <a:path w="416560" h="76200">
                <a:moveTo>
                  <a:pt x="364997" y="42672"/>
                </a:moveTo>
                <a:lnTo>
                  <a:pt x="364997" y="38100"/>
                </a:lnTo>
                <a:lnTo>
                  <a:pt x="361980" y="42672"/>
                </a:lnTo>
                <a:lnTo>
                  <a:pt x="364997" y="426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84641" y="3201416"/>
            <a:ext cx="416559" cy="76200"/>
          </a:xfrm>
          <a:custGeom>
            <a:avLst/>
            <a:gdLst/>
            <a:ahLst/>
            <a:cxnLst/>
            <a:rect l="l" t="t" r="r" b="b"/>
            <a:pathLst>
              <a:path w="416560" h="76200">
                <a:moveTo>
                  <a:pt x="364998" y="38100"/>
                </a:moveTo>
                <a:lnTo>
                  <a:pt x="361980" y="33528"/>
                </a:lnTo>
                <a:lnTo>
                  <a:pt x="4572" y="33528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910"/>
                </a:lnTo>
                <a:lnTo>
                  <a:pt x="4572" y="43434"/>
                </a:lnTo>
                <a:lnTo>
                  <a:pt x="361477" y="43434"/>
                </a:lnTo>
                <a:lnTo>
                  <a:pt x="364998" y="38100"/>
                </a:lnTo>
                <a:close/>
              </a:path>
              <a:path w="416560" h="76200">
                <a:moveTo>
                  <a:pt x="416052" y="38100"/>
                </a:moveTo>
                <a:lnTo>
                  <a:pt x="339852" y="0"/>
                </a:lnTo>
                <a:lnTo>
                  <a:pt x="361980" y="33528"/>
                </a:lnTo>
                <a:lnTo>
                  <a:pt x="364998" y="33528"/>
                </a:lnTo>
                <a:lnTo>
                  <a:pt x="368046" y="35051"/>
                </a:lnTo>
                <a:lnTo>
                  <a:pt x="369570" y="38100"/>
                </a:lnTo>
                <a:lnTo>
                  <a:pt x="369570" y="61340"/>
                </a:lnTo>
                <a:lnTo>
                  <a:pt x="416052" y="38100"/>
                </a:lnTo>
                <a:close/>
              </a:path>
              <a:path w="416560" h="76200">
                <a:moveTo>
                  <a:pt x="369570" y="61340"/>
                </a:moveTo>
                <a:lnTo>
                  <a:pt x="369570" y="38100"/>
                </a:lnTo>
                <a:lnTo>
                  <a:pt x="368046" y="41910"/>
                </a:lnTo>
                <a:lnTo>
                  <a:pt x="364998" y="43434"/>
                </a:lnTo>
                <a:lnTo>
                  <a:pt x="361477" y="43434"/>
                </a:lnTo>
                <a:lnTo>
                  <a:pt x="339852" y="76200"/>
                </a:lnTo>
                <a:lnTo>
                  <a:pt x="369570" y="61340"/>
                </a:lnTo>
                <a:close/>
              </a:path>
              <a:path w="416560" h="76200">
                <a:moveTo>
                  <a:pt x="364998" y="43434"/>
                </a:moveTo>
                <a:lnTo>
                  <a:pt x="364998" y="38100"/>
                </a:lnTo>
                <a:lnTo>
                  <a:pt x="361477" y="43434"/>
                </a:lnTo>
                <a:lnTo>
                  <a:pt x="364998" y="43434"/>
                </a:lnTo>
                <a:close/>
              </a:path>
              <a:path w="416560" h="76200">
                <a:moveTo>
                  <a:pt x="369570" y="38100"/>
                </a:moveTo>
                <a:lnTo>
                  <a:pt x="368046" y="35051"/>
                </a:lnTo>
                <a:lnTo>
                  <a:pt x="364998" y="33528"/>
                </a:lnTo>
                <a:lnTo>
                  <a:pt x="361980" y="33528"/>
                </a:lnTo>
                <a:lnTo>
                  <a:pt x="364998" y="38100"/>
                </a:lnTo>
                <a:lnTo>
                  <a:pt x="364998" y="43434"/>
                </a:lnTo>
                <a:lnTo>
                  <a:pt x="368046" y="41910"/>
                </a:lnTo>
                <a:lnTo>
                  <a:pt x="36957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10247" y="3018027"/>
            <a:ext cx="1249680" cy="2122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95"/>
              </a:spcBef>
            </a:pPr>
            <a:r>
              <a:rPr sz="1400" spc="-75" dirty="0">
                <a:latin typeface="Arial"/>
                <a:cs typeface="Arial"/>
              </a:rPr>
              <a:t>FTP, </a:t>
            </a:r>
            <a:r>
              <a:rPr sz="1400" spc="-70" dirty="0">
                <a:latin typeface="Arial"/>
                <a:cs typeface="Arial"/>
              </a:rPr>
              <a:t>SMTP,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…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34290" algn="ctr">
              <a:lnSpc>
                <a:spcPts val="1510"/>
              </a:lnSpc>
              <a:spcBef>
                <a:spcPts val="5"/>
              </a:spcBef>
            </a:pPr>
            <a:r>
              <a:rPr sz="1400" b="1" spc="-90" dirty="0">
                <a:solidFill>
                  <a:srgbClr val="CA6800"/>
                </a:solidFill>
                <a:latin typeface="Arial"/>
                <a:cs typeface="Arial"/>
              </a:rPr>
              <a:t>Transport</a:t>
            </a:r>
            <a:r>
              <a:rPr sz="1400" b="1" spc="-114" dirty="0">
                <a:solidFill>
                  <a:srgbClr val="CA6800"/>
                </a:solidFill>
                <a:latin typeface="Arial"/>
                <a:cs typeface="Arial"/>
              </a:rPr>
              <a:t> </a:t>
            </a:r>
            <a:r>
              <a:rPr sz="1400" b="1" spc="-90" dirty="0">
                <a:solidFill>
                  <a:srgbClr val="CA6800"/>
                </a:solidFill>
                <a:latin typeface="Arial"/>
                <a:cs typeface="Arial"/>
              </a:rPr>
              <a:t>Layer  </a:t>
            </a:r>
            <a:r>
              <a:rPr sz="1400" b="1" spc="-75" dirty="0">
                <a:solidFill>
                  <a:srgbClr val="CA6800"/>
                </a:solidFill>
                <a:latin typeface="Arial"/>
                <a:cs typeface="Arial"/>
              </a:rPr>
              <a:t>TCP or</a:t>
            </a:r>
            <a:r>
              <a:rPr sz="1400" b="1" spc="-45" dirty="0">
                <a:solidFill>
                  <a:srgbClr val="CA6800"/>
                </a:solidFill>
                <a:latin typeface="Arial"/>
                <a:cs typeface="Arial"/>
              </a:rPr>
              <a:t> UDP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Times New Roman"/>
              <a:cs typeface="Times New Roman"/>
            </a:endParaRPr>
          </a:p>
          <a:p>
            <a:pPr marL="47625" marR="73025" algn="ctr">
              <a:lnSpc>
                <a:spcPts val="1510"/>
              </a:lnSpc>
            </a:pPr>
            <a:r>
              <a:rPr sz="1400" b="1" spc="-55" dirty="0">
                <a:solidFill>
                  <a:srgbClr val="CC9A00"/>
                </a:solidFill>
                <a:latin typeface="Arial"/>
                <a:cs typeface="Arial"/>
              </a:rPr>
              <a:t>Network</a:t>
            </a:r>
            <a:r>
              <a:rPr sz="1400" b="1" spc="-110" dirty="0">
                <a:solidFill>
                  <a:srgbClr val="CC9A00"/>
                </a:solidFill>
                <a:latin typeface="Arial"/>
                <a:cs typeface="Arial"/>
              </a:rPr>
              <a:t> </a:t>
            </a:r>
            <a:r>
              <a:rPr sz="1400" b="1" spc="-95" dirty="0">
                <a:solidFill>
                  <a:srgbClr val="CC9A00"/>
                </a:solidFill>
                <a:latin typeface="Arial"/>
                <a:cs typeface="Arial"/>
              </a:rPr>
              <a:t>Layer  </a:t>
            </a:r>
            <a:r>
              <a:rPr sz="1400" b="1" spc="-5" dirty="0">
                <a:solidFill>
                  <a:srgbClr val="CC9A00"/>
                </a:solidFill>
                <a:latin typeface="Arial"/>
                <a:cs typeface="Arial"/>
              </a:rPr>
              <a:t>IP</a:t>
            </a:r>
            <a:endParaRPr sz="1400">
              <a:latin typeface="Arial"/>
              <a:cs typeface="Arial"/>
            </a:endParaRPr>
          </a:p>
          <a:p>
            <a:pPr marL="30480" marR="5080" algn="ctr">
              <a:lnSpc>
                <a:spcPct val="100000"/>
              </a:lnSpc>
              <a:spcBef>
                <a:spcPts val="869"/>
              </a:spcBef>
            </a:pPr>
            <a:r>
              <a:rPr sz="1400" b="1" spc="-95" dirty="0">
                <a:solidFill>
                  <a:srgbClr val="AFBF39"/>
                </a:solidFill>
                <a:latin typeface="Arial"/>
                <a:cs typeface="Arial"/>
              </a:rPr>
              <a:t>Commun</a:t>
            </a:r>
            <a:r>
              <a:rPr sz="1400" b="1" spc="-45" dirty="0">
                <a:solidFill>
                  <a:srgbClr val="AFBF39"/>
                </a:solidFill>
                <a:latin typeface="Arial"/>
                <a:cs typeface="Arial"/>
              </a:rPr>
              <a:t>i</a:t>
            </a:r>
            <a:r>
              <a:rPr sz="1400" b="1" spc="-80" dirty="0">
                <a:solidFill>
                  <a:srgbClr val="AFBF39"/>
                </a:solidFill>
                <a:latin typeface="Arial"/>
                <a:cs typeface="Arial"/>
              </a:rPr>
              <a:t>cation  </a:t>
            </a:r>
            <a:r>
              <a:rPr sz="1400" b="1" spc="-110" dirty="0">
                <a:solidFill>
                  <a:srgbClr val="AFBF39"/>
                </a:solidFill>
                <a:latin typeface="Arial"/>
                <a:cs typeface="Arial"/>
              </a:rPr>
              <a:t>Channels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4348" y="261873"/>
            <a:ext cx="455485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75" dirty="0"/>
              <a:t>Internet </a:t>
            </a:r>
            <a:r>
              <a:rPr sz="4200" spc="-190" dirty="0"/>
              <a:t>Protocol</a:t>
            </a:r>
            <a:r>
              <a:rPr sz="4200" spc="-459" dirty="0"/>
              <a:t> </a:t>
            </a:r>
            <a:r>
              <a:rPr sz="4200" spc="-265" dirty="0"/>
              <a:t>(IP)</a:t>
            </a:r>
            <a:endParaRPr sz="4200"/>
          </a:p>
        </p:txBody>
      </p:sp>
      <p:sp>
        <p:nvSpPr>
          <p:cNvPr id="4" name="object 4"/>
          <p:cNvSpPr txBox="1"/>
          <p:nvPr/>
        </p:nvSpPr>
        <p:spPr>
          <a:xfrm>
            <a:off x="401453" y="1181582"/>
            <a:ext cx="4296410" cy="327342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4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70" dirty="0">
                <a:latin typeface="Arial"/>
                <a:cs typeface="Arial"/>
              </a:rPr>
              <a:t>provides </a:t>
            </a:r>
            <a:r>
              <a:rPr sz="2200" spc="-250" dirty="0">
                <a:latin typeface="Arial"/>
                <a:cs typeface="Arial"/>
              </a:rPr>
              <a:t>a </a:t>
            </a:r>
            <a:r>
              <a:rPr sz="2200" b="1" spc="-180" dirty="0">
                <a:solidFill>
                  <a:srgbClr val="9A6500"/>
                </a:solidFill>
                <a:latin typeface="Arial"/>
                <a:cs typeface="Arial"/>
              </a:rPr>
              <a:t>datagram</a:t>
            </a:r>
            <a:r>
              <a:rPr sz="2200" b="1" spc="-254" dirty="0">
                <a:solidFill>
                  <a:srgbClr val="9A6500"/>
                </a:solidFill>
                <a:latin typeface="Arial"/>
                <a:cs typeface="Arial"/>
              </a:rPr>
              <a:t> </a:t>
            </a:r>
            <a:r>
              <a:rPr sz="2200" spc="-90" dirty="0">
                <a:latin typeface="Arial"/>
                <a:cs typeface="Arial"/>
              </a:rPr>
              <a:t>service</a:t>
            </a:r>
            <a:endParaRPr sz="2200">
              <a:latin typeface="Arial"/>
              <a:cs typeface="Arial"/>
            </a:endParaRPr>
          </a:p>
          <a:p>
            <a:pPr marL="681990" marR="5080" lvl="1" indent="-325120">
              <a:lnSpc>
                <a:spcPct val="100000"/>
              </a:lnSpc>
              <a:spcBef>
                <a:spcPts val="49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105" dirty="0">
                <a:latin typeface="Arial"/>
                <a:cs typeface="Arial"/>
              </a:rPr>
              <a:t>packets </a:t>
            </a:r>
            <a:r>
              <a:rPr sz="2000" spc="-110" dirty="0">
                <a:latin typeface="Arial"/>
                <a:cs typeface="Arial"/>
              </a:rPr>
              <a:t>are </a:t>
            </a:r>
            <a:r>
              <a:rPr sz="2000" spc="-55" dirty="0">
                <a:latin typeface="Arial"/>
                <a:cs typeface="Arial"/>
              </a:rPr>
              <a:t>handled </a:t>
            </a:r>
            <a:r>
              <a:rPr sz="2000" spc="-90" dirty="0">
                <a:latin typeface="Arial"/>
                <a:cs typeface="Arial"/>
              </a:rPr>
              <a:t>and </a:t>
            </a:r>
            <a:r>
              <a:rPr sz="2000" spc="-40" dirty="0">
                <a:latin typeface="Arial"/>
                <a:cs typeface="Arial"/>
              </a:rPr>
              <a:t>delivered  </a:t>
            </a:r>
            <a:r>
              <a:rPr sz="2000" spc="-25" dirty="0">
                <a:latin typeface="Arial"/>
                <a:cs typeface="Arial"/>
              </a:rPr>
              <a:t>independently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b="1" spc="-120" dirty="0">
                <a:solidFill>
                  <a:srgbClr val="3B822F"/>
                </a:solidFill>
                <a:latin typeface="Arial"/>
                <a:cs typeface="Arial"/>
              </a:rPr>
              <a:t>best-effort</a:t>
            </a:r>
            <a:r>
              <a:rPr sz="2200" b="1" spc="-70" dirty="0">
                <a:solidFill>
                  <a:srgbClr val="3B822F"/>
                </a:solidFill>
                <a:latin typeface="Arial"/>
                <a:cs typeface="Arial"/>
              </a:rPr>
              <a:t> </a:t>
            </a:r>
            <a:r>
              <a:rPr sz="2200" spc="-30" dirty="0">
                <a:latin typeface="Arial"/>
                <a:cs typeface="Arial"/>
              </a:rPr>
              <a:t>protocol</a:t>
            </a:r>
            <a:endParaRPr sz="2200">
              <a:latin typeface="Arial"/>
              <a:cs typeface="Arial"/>
            </a:endParaRPr>
          </a:p>
          <a:p>
            <a:pPr marL="681990" marR="312420" lvl="1" indent="-325120">
              <a:lnSpc>
                <a:spcPct val="100000"/>
              </a:lnSpc>
              <a:spcBef>
                <a:spcPts val="49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75" dirty="0">
                <a:latin typeface="Arial"/>
                <a:cs typeface="Arial"/>
              </a:rPr>
              <a:t>may </a:t>
            </a:r>
            <a:r>
              <a:rPr sz="2000" spc="-105" dirty="0">
                <a:latin typeface="Arial"/>
                <a:cs typeface="Arial"/>
              </a:rPr>
              <a:t>loose, </a:t>
            </a:r>
            <a:r>
              <a:rPr sz="2000" spc="-40" dirty="0">
                <a:latin typeface="Arial"/>
                <a:cs typeface="Arial"/>
              </a:rPr>
              <a:t>reorder </a:t>
            </a:r>
            <a:r>
              <a:rPr sz="2000" spc="-5" dirty="0">
                <a:latin typeface="Arial"/>
                <a:cs typeface="Arial"/>
              </a:rPr>
              <a:t>or </a:t>
            </a:r>
            <a:r>
              <a:rPr sz="2000" spc="-45" dirty="0">
                <a:latin typeface="Arial"/>
                <a:cs typeface="Arial"/>
              </a:rPr>
              <a:t>duplicate  </a:t>
            </a:r>
            <a:r>
              <a:rPr sz="2000" spc="-105" dirty="0">
                <a:latin typeface="Arial"/>
                <a:cs typeface="Arial"/>
              </a:rPr>
              <a:t>packets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9A6500"/>
              </a:buClr>
              <a:buFont typeface="Wingdings"/>
              <a:buChar char=""/>
            </a:pPr>
            <a:endParaRPr sz="2900">
              <a:latin typeface="Times New Roman"/>
              <a:cs typeface="Times New Roman"/>
            </a:endParaRPr>
          </a:p>
          <a:p>
            <a:pPr marL="355600" marR="290830" indent="-342900">
              <a:lnSpc>
                <a:spcPct val="100000"/>
              </a:lnSpc>
              <a:spcBef>
                <a:spcPts val="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145" dirty="0">
                <a:latin typeface="Arial"/>
                <a:cs typeface="Arial"/>
              </a:rPr>
              <a:t>each </a:t>
            </a:r>
            <a:r>
              <a:rPr sz="2200" spc="-85" dirty="0">
                <a:latin typeface="Arial"/>
                <a:cs typeface="Arial"/>
              </a:rPr>
              <a:t>packet </a:t>
            </a:r>
            <a:r>
              <a:rPr sz="2200" spc="-70" dirty="0">
                <a:latin typeface="Arial"/>
                <a:cs typeface="Arial"/>
              </a:rPr>
              <a:t>must </a:t>
            </a:r>
            <a:r>
              <a:rPr sz="2200" spc="-30" dirty="0">
                <a:latin typeface="Arial"/>
                <a:cs typeface="Arial"/>
              </a:rPr>
              <a:t>contain </a:t>
            </a:r>
            <a:r>
              <a:rPr sz="2200" spc="-120" dirty="0">
                <a:latin typeface="Arial"/>
                <a:cs typeface="Arial"/>
              </a:rPr>
              <a:t>an </a:t>
            </a:r>
            <a:r>
              <a:rPr sz="2200" b="1" spc="-10" dirty="0">
                <a:solidFill>
                  <a:srgbClr val="CA6800"/>
                </a:solidFill>
                <a:latin typeface="Arial"/>
                <a:cs typeface="Arial"/>
              </a:rPr>
              <a:t>IP  </a:t>
            </a:r>
            <a:r>
              <a:rPr sz="2200" b="1" spc="-245" dirty="0">
                <a:solidFill>
                  <a:srgbClr val="CA6800"/>
                </a:solidFill>
                <a:latin typeface="Arial"/>
                <a:cs typeface="Arial"/>
              </a:rPr>
              <a:t>address </a:t>
            </a:r>
            <a:r>
              <a:rPr sz="2200" spc="-15" dirty="0">
                <a:latin typeface="Arial"/>
                <a:cs typeface="Arial"/>
              </a:rPr>
              <a:t>of </a:t>
            </a:r>
            <a:r>
              <a:rPr sz="2200" spc="-25" dirty="0">
                <a:latin typeface="Arial"/>
                <a:cs typeface="Arial"/>
              </a:rPr>
              <a:t>its</a:t>
            </a:r>
            <a:r>
              <a:rPr sz="2200" spc="-320" dirty="0">
                <a:latin typeface="Arial"/>
                <a:cs typeface="Arial"/>
              </a:rPr>
              <a:t> </a:t>
            </a:r>
            <a:r>
              <a:rPr sz="2200" spc="-40" dirty="0">
                <a:latin typeface="Arial"/>
                <a:cs typeface="Arial"/>
              </a:rPr>
              <a:t>destination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92927" y="3706622"/>
            <a:ext cx="2409444" cy="15604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45327" y="1272794"/>
            <a:ext cx="2117598" cy="1828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83458" y="261873"/>
            <a:ext cx="354965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65" dirty="0"/>
              <a:t>Addresses </a:t>
            </a:r>
            <a:r>
              <a:rPr sz="4200" spc="-260" dirty="0"/>
              <a:t>-</a:t>
            </a:r>
            <a:r>
              <a:rPr sz="4200" spc="-475" dirty="0"/>
              <a:t> </a:t>
            </a:r>
            <a:r>
              <a:rPr sz="4200" spc="-220" dirty="0"/>
              <a:t>IPv4</a:t>
            </a:r>
            <a:endParaRPr sz="4200"/>
          </a:p>
        </p:txBody>
      </p:sp>
      <p:sp>
        <p:nvSpPr>
          <p:cNvPr id="4" name="object 4"/>
          <p:cNvSpPr/>
          <p:nvPr/>
        </p:nvSpPr>
        <p:spPr>
          <a:xfrm>
            <a:off x="2904366" y="3433800"/>
            <a:ext cx="3957320" cy="264160"/>
          </a:xfrm>
          <a:custGeom>
            <a:avLst/>
            <a:gdLst/>
            <a:ahLst/>
            <a:cxnLst/>
            <a:rect l="l" t="t" r="r" b="b"/>
            <a:pathLst>
              <a:path w="3957320" h="264160">
                <a:moveTo>
                  <a:pt x="3957052" y="0"/>
                </a:moveTo>
                <a:lnTo>
                  <a:pt x="0" y="0"/>
                </a:lnTo>
                <a:lnTo>
                  <a:pt x="0" y="263649"/>
                </a:lnTo>
                <a:lnTo>
                  <a:pt x="3957052" y="263649"/>
                </a:lnTo>
                <a:lnTo>
                  <a:pt x="3957052" y="0"/>
                </a:lnTo>
                <a:close/>
              </a:path>
            </a:pathLst>
          </a:custGeom>
          <a:ln w="155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04366" y="3946626"/>
            <a:ext cx="3957320" cy="262890"/>
          </a:xfrm>
          <a:custGeom>
            <a:avLst/>
            <a:gdLst/>
            <a:ahLst/>
            <a:cxnLst/>
            <a:rect l="l" t="t" r="r" b="b"/>
            <a:pathLst>
              <a:path w="3957320" h="262889">
                <a:moveTo>
                  <a:pt x="3957052" y="0"/>
                </a:moveTo>
                <a:lnTo>
                  <a:pt x="0" y="0"/>
                </a:lnTo>
                <a:lnTo>
                  <a:pt x="0" y="262885"/>
                </a:lnTo>
                <a:lnTo>
                  <a:pt x="3957052" y="262885"/>
                </a:lnTo>
                <a:lnTo>
                  <a:pt x="3957052" y="0"/>
                </a:lnTo>
                <a:close/>
              </a:path>
            </a:pathLst>
          </a:custGeom>
          <a:ln w="155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4366" y="4443441"/>
            <a:ext cx="3957320" cy="262890"/>
          </a:xfrm>
          <a:custGeom>
            <a:avLst/>
            <a:gdLst/>
            <a:ahLst/>
            <a:cxnLst/>
            <a:rect l="l" t="t" r="r" b="b"/>
            <a:pathLst>
              <a:path w="3957320" h="262889">
                <a:moveTo>
                  <a:pt x="3957052" y="0"/>
                </a:moveTo>
                <a:lnTo>
                  <a:pt x="0" y="0"/>
                </a:lnTo>
                <a:lnTo>
                  <a:pt x="0" y="262885"/>
                </a:lnTo>
                <a:lnTo>
                  <a:pt x="3957052" y="262885"/>
                </a:lnTo>
                <a:lnTo>
                  <a:pt x="3957052" y="0"/>
                </a:lnTo>
                <a:close/>
              </a:path>
            </a:pathLst>
          </a:custGeom>
          <a:ln w="155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04366" y="4955504"/>
            <a:ext cx="3957320" cy="264160"/>
          </a:xfrm>
          <a:custGeom>
            <a:avLst/>
            <a:gdLst/>
            <a:ahLst/>
            <a:cxnLst/>
            <a:rect l="l" t="t" r="r" b="b"/>
            <a:pathLst>
              <a:path w="3957320" h="264160">
                <a:moveTo>
                  <a:pt x="3957052" y="0"/>
                </a:moveTo>
                <a:lnTo>
                  <a:pt x="0" y="0"/>
                </a:lnTo>
                <a:lnTo>
                  <a:pt x="0" y="263649"/>
                </a:lnTo>
                <a:lnTo>
                  <a:pt x="3957052" y="263649"/>
                </a:lnTo>
                <a:lnTo>
                  <a:pt x="3957052" y="0"/>
                </a:lnTo>
                <a:close/>
              </a:path>
            </a:pathLst>
          </a:custGeom>
          <a:ln w="155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7904" y="3301975"/>
            <a:ext cx="108585" cy="62865"/>
          </a:xfrm>
          <a:custGeom>
            <a:avLst/>
            <a:gdLst/>
            <a:ahLst/>
            <a:cxnLst/>
            <a:rect l="l" t="t" r="r" b="b"/>
            <a:pathLst>
              <a:path w="108585" h="62864">
                <a:moveTo>
                  <a:pt x="108205" y="31247"/>
                </a:moveTo>
                <a:lnTo>
                  <a:pt x="108205" y="62482"/>
                </a:lnTo>
                <a:lnTo>
                  <a:pt x="0" y="31247"/>
                </a:lnTo>
                <a:lnTo>
                  <a:pt x="108205" y="0"/>
                </a:lnTo>
                <a:lnTo>
                  <a:pt x="108205" y="31247"/>
                </a:lnTo>
                <a:close/>
              </a:path>
            </a:pathLst>
          </a:custGeom>
          <a:ln w="155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97923" y="3302000"/>
            <a:ext cx="108585" cy="62865"/>
          </a:xfrm>
          <a:custGeom>
            <a:avLst/>
            <a:gdLst/>
            <a:ahLst/>
            <a:cxnLst/>
            <a:rect l="l" t="t" r="r" b="b"/>
            <a:pathLst>
              <a:path w="108585" h="62864">
                <a:moveTo>
                  <a:pt x="108204" y="62484"/>
                </a:moveTo>
                <a:lnTo>
                  <a:pt x="108204" y="0"/>
                </a:lnTo>
                <a:lnTo>
                  <a:pt x="0" y="31241"/>
                </a:lnTo>
                <a:lnTo>
                  <a:pt x="108204" y="624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793616" y="3301975"/>
            <a:ext cx="123825" cy="62865"/>
          </a:xfrm>
          <a:custGeom>
            <a:avLst/>
            <a:gdLst/>
            <a:ahLst/>
            <a:cxnLst/>
            <a:rect l="l" t="t" r="r" b="b"/>
            <a:pathLst>
              <a:path w="123825" h="62864">
                <a:moveTo>
                  <a:pt x="0" y="31247"/>
                </a:moveTo>
                <a:lnTo>
                  <a:pt x="0" y="0"/>
                </a:lnTo>
                <a:lnTo>
                  <a:pt x="123436" y="31247"/>
                </a:lnTo>
                <a:lnTo>
                  <a:pt x="0" y="62482"/>
                </a:lnTo>
                <a:lnTo>
                  <a:pt x="0" y="31247"/>
                </a:lnTo>
                <a:close/>
              </a:path>
            </a:pathLst>
          </a:custGeom>
          <a:ln w="155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93629" y="3302000"/>
            <a:ext cx="123825" cy="62865"/>
          </a:xfrm>
          <a:custGeom>
            <a:avLst/>
            <a:gdLst/>
            <a:ahLst/>
            <a:cxnLst/>
            <a:rect l="l" t="t" r="r" b="b"/>
            <a:pathLst>
              <a:path w="123825" h="62864">
                <a:moveTo>
                  <a:pt x="123443" y="31241"/>
                </a:moveTo>
                <a:lnTo>
                  <a:pt x="0" y="0"/>
                </a:lnTo>
                <a:lnTo>
                  <a:pt x="0" y="62484"/>
                </a:lnTo>
                <a:lnTo>
                  <a:pt x="123443" y="312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971021" y="3294218"/>
            <a:ext cx="138963" cy="779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691360" y="3294218"/>
            <a:ext cx="139711" cy="779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275322" y="3807046"/>
            <a:ext cx="123716" cy="772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651489" y="3807044"/>
            <a:ext cx="138951" cy="772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836652" y="3807046"/>
            <a:ext cx="123716" cy="772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691359" y="3807044"/>
            <a:ext cx="139712" cy="772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849479" y="4326864"/>
            <a:ext cx="108585" cy="62230"/>
          </a:xfrm>
          <a:custGeom>
            <a:avLst/>
            <a:gdLst/>
            <a:ahLst/>
            <a:cxnLst/>
            <a:rect l="l" t="t" r="r" b="b"/>
            <a:pathLst>
              <a:path w="108585" h="62229">
                <a:moveTo>
                  <a:pt x="108205" y="31234"/>
                </a:moveTo>
                <a:lnTo>
                  <a:pt x="108205" y="61718"/>
                </a:lnTo>
                <a:lnTo>
                  <a:pt x="0" y="31234"/>
                </a:lnTo>
                <a:lnTo>
                  <a:pt x="108205" y="0"/>
                </a:lnTo>
                <a:lnTo>
                  <a:pt x="108205" y="31234"/>
                </a:lnTo>
                <a:close/>
              </a:path>
            </a:pathLst>
          </a:custGeom>
          <a:ln w="155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849505" y="4326890"/>
            <a:ext cx="108585" cy="62230"/>
          </a:xfrm>
          <a:custGeom>
            <a:avLst/>
            <a:gdLst/>
            <a:ahLst/>
            <a:cxnLst/>
            <a:rect l="l" t="t" r="r" b="b"/>
            <a:pathLst>
              <a:path w="108585" h="62229">
                <a:moveTo>
                  <a:pt x="108191" y="61722"/>
                </a:moveTo>
                <a:lnTo>
                  <a:pt x="108191" y="0"/>
                </a:lnTo>
                <a:lnTo>
                  <a:pt x="0" y="31242"/>
                </a:lnTo>
                <a:lnTo>
                  <a:pt x="108191" y="617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707366" y="4319109"/>
            <a:ext cx="123704" cy="7722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461243" y="4319107"/>
            <a:ext cx="138964" cy="7723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671806" y="4319109"/>
            <a:ext cx="123716" cy="7722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631175" y="4831172"/>
            <a:ext cx="123716" cy="7799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707366" y="4831172"/>
            <a:ext cx="123703" cy="7799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04366" y="5467567"/>
            <a:ext cx="3957320" cy="264160"/>
          </a:xfrm>
          <a:custGeom>
            <a:avLst/>
            <a:gdLst/>
            <a:ahLst/>
            <a:cxnLst/>
            <a:rect l="l" t="t" r="r" b="b"/>
            <a:pathLst>
              <a:path w="3957320" h="264160">
                <a:moveTo>
                  <a:pt x="3957052" y="0"/>
                </a:moveTo>
                <a:lnTo>
                  <a:pt x="0" y="0"/>
                </a:lnTo>
                <a:lnTo>
                  <a:pt x="0" y="263649"/>
                </a:lnTo>
                <a:lnTo>
                  <a:pt x="3957052" y="263649"/>
                </a:lnTo>
                <a:lnTo>
                  <a:pt x="3957052" y="0"/>
                </a:lnTo>
                <a:close/>
              </a:path>
            </a:pathLst>
          </a:custGeom>
          <a:ln w="155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801095" y="5327989"/>
            <a:ext cx="123710" cy="9323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707369" y="5327989"/>
            <a:ext cx="123697" cy="9323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613652" y="3298525"/>
            <a:ext cx="4897120" cy="2390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70075">
              <a:lnSpc>
                <a:spcPts val="1075"/>
              </a:lnSpc>
              <a:tabLst>
                <a:tab pos="3709670" algn="l"/>
              </a:tabLst>
            </a:pPr>
            <a:r>
              <a:rPr sz="950" spc="15" dirty="0">
                <a:latin typeface="Arial"/>
                <a:cs typeface="Arial"/>
              </a:rPr>
              <a:t>7	24</a:t>
            </a:r>
            <a:endParaRPr sz="950">
              <a:latin typeface="Arial"/>
              <a:cs typeface="Arial"/>
            </a:endParaRPr>
          </a:p>
          <a:p>
            <a:pPr marL="618490">
              <a:lnSpc>
                <a:spcPct val="100000"/>
              </a:lnSpc>
              <a:spcBef>
                <a:spcPts val="690"/>
              </a:spcBef>
              <a:tabLst>
                <a:tab pos="1344295" algn="l"/>
                <a:tab pos="1560830" algn="l"/>
                <a:tab pos="3555365" algn="l"/>
              </a:tabLst>
            </a:pPr>
            <a:r>
              <a:rPr sz="950" spc="10" dirty="0">
                <a:latin typeface="Arial"/>
                <a:cs typeface="Arial"/>
              </a:rPr>
              <a:t>Class A:	</a:t>
            </a:r>
            <a:r>
              <a:rPr sz="950" spc="15" dirty="0">
                <a:latin typeface="Arial"/>
                <a:cs typeface="Arial"/>
              </a:rPr>
              <a:t>0	</a:t>
            </a:r>
            <a:r>
              <a:rPr sz="950" spc="10" dirty="0">
                <a:latin typeface="Arial"/>
                <a:cs typeface="Arial"/>
              </a:rPr>
              <a:t>Network</a:t>
            </a:r>
            <a:r>
              <a:rPr sz="950" spc="20" dirty="0">
                <a:latin typeface="Arial"/>
                <a:cs typeface="Arial"/>
              </a:rPr>
              <a:t> </a:t>
            </a:r>
            <a:r>
              <a:rPr sz="950" spc="10" dirty="0">
                <a:latin typeface="Arial"/>
                <a:cs typeface="Arial"/>
              </a:rPr>
              <a:t>ID	Host</a:t>
            </a:r>
            <a:r>
              <a:rPr sz="950" dirty="0">
                <a:latin typeface="Arial"/>
                <a:cs typeface="Arial"/>
              </a:rPr>
              <a:t> </a:t>
            </a:r>
            <a:r>
              <a:rPr sz="950" spc="10" dirty="0">
                <a:latin typeface="Arial"/>
                <a:cs typeface="Arial"/>
              </a:rPr>
              <a:t>ID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00">
              <a:latin typeface="Times New Roman"/>
              <a:cs typeface="Times New Roman"/>
            </a:endParaRPr>
          </a:p>
          <a:p>
            <a:pPr marL="2364740">
              <a:lnSpc>
                <a:spcPct val="100000"/>
              </a:lnSpc>
              <a:tabLst>
                <a:tab pos="4127500" algn="l"/>
              </a:tabLst>
            </a:pPr>
            <a:r>
              <a:rPr sz="950" spc="15" dirty="0">
                <a:latin typeface="Arial"/>
                <a:cs typeface="Arial"/>
              </a:rPr>
              <a:t>14	16</a:t>
            </a:r>
            <a:endParaRPr sz="950">
              <a:latin typeface="Arial"/>
              <a:cs typeface="Arial"/>
            </a:endParaRPr>
          </a:p>
          <a:p>
            <a:pPr marL="618490">
              <a:lnSpc>
                <a:spcPct val="100000"/>
              </a:lnSpc>
              <a:spcBef>
                <a:spcPts val="570"/>
              </a:spcBef>
              <a:tabLst>
                <a:tab pos="1344295" algn="l"/>
                <a:tab pos="2101850" algn="l"/>
                <a:tab pos="3987800" algn="l"/>
              </a:tabLst>
            </a:pPr>
            <a:r>
              <a:rPr sz="950" spc="10" dirty="0">
                <a:latin typeface="Arial"/>
                <a:cs typeface="Arial"/>
              </a:rPr>
              <a:t>Class B:	</a:t>
            </a:r>
            <a:r>
              <a:rPr sz="950" spc="15" dirty="0">
                <a:latin typeface="Arial"/>
                <a:cs typeface="Arial"/>
              </a:rPr>
              <a:t>1  </a:t>
            </a:r>
            <a:r>
              <a:rPr sz="950" spc="95" dirty="0">
                <a:latin typeface="Arial"/>
                <a:cs typeface="Arial"/>
              </a:rPr>
              <a:t> </a:t>
            </a:r>
            <a:r>
              <a:rPr sz="950" spc="15" dirty="0">
                <a:latin typeface="Arial"/>
                <a:cs typeface="Arial"/>
              </a:rPr>
              <a:t>0	</a:t>
            </a:r>
            <a:r>
              <a:rPr sz="950" spc="10" dirty="0">
                <a:latin typeface="Arial"/>
                <a:cs typeface="Arial"/>
              </a:rPr>
              <a:t>Network</a:t>
            </a:r>
            <a:r>
              <a:rPr sz="950" spc="20" dirty="0">
                <a:latin typeface="Arial"/>
                <a:cs typeface="Arial"/>
              </a:rPr>
              <a:t> </a:t>
            </a:r>
            <a:r>
              <a:rPr sz="950" spc="10" dirty="0">
                <a:latin typeface="Arial"/>
                <a:cs typeface="Arial"/>
              </a:rPr>
              <a:t>ID	Host</a:t>
            </a:r>
            <a:r>
              <a:rPr sz="950" dirty="0">
                <a:latin typeface="Arial"/>
                <a:cs typeface="Arial"/>
              </a:rPr>
              <a:t> </a:t>
            </a:r>
            <a:r>
              <a:rPr sz="950" spc="10" dirty="0">
                <a:latin typeface="Arial"/>
                <a:cs typeface="Arial"/>
              </a:rPr>
              <a:t>ID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00">
              <a:latin typeface="Times New Roman"/>
              <a:cs typeface="Times New Roman"/>
            </a:endParaRPr>
          </a:p>
          <a:p>
            <a:pPr marL="2967355">
              <a:lnSpc>
                <a:spcPct val="100000"/>
              </a:lnSpc>
              <a:spcBef>
                <a:spcPts val="5"/>
              </a:spcBef>
              <a:tabLst>
                <a:tab pos="4668520" algn="l"/>
              </a:tabLst>
            </a:pPr>
            <a:r>
              <a:rPr sz="950" spc="15" dirty="0">
                <a:latin typeface="Arial"/>
                <a:cs typeface="Arial"/>
              </a:rPr>
              <a:t>21	8</a:t>
            </a:r>
            <a:endParaRPr sz="950">
              <a:latin typeface="Arial"/>
              <a:cs typeface="Arial"/>
            </a:endParaRPr>
          </a:p>
          <a:p>
            <a:pPr marL="618490">
              <a:lnSpc>
                <a:spcPct val="100000"/>
              </a:lnSpc>
              <a:spcBef>
                <a:spcPts val="695"/>
              </a:spcBef>
              <a:tabLst>
                <a:tab pos="1344295" algn="l"/>
                <a:tab pos="2673985" algn="l"/>
                <a:tab pos="4482465" algn="l"/>
              </a:tabLst>
            </a:pPr>
            <a:r>
              <a:rPr sz="950" spc="10" dirty="0">
                <a:latin typeface="Arial"/>
                <a:cs typeface="Arial"/>
              </a:rPr>
              <a:t>Class C:	</a:t>
            </a:r>
            <a:r>
              <a:rPr sz="950" spc="15" dirty="0">
                <a:latin typeface="Arial"/>
                <a:cs typeface="Arial"/>
              </a:rPr>
              <a:t>1  </a:t>
            </a:r>
            <a:r>
              <a:rPr sz="950" spc="95" dirty="0">
                <a:latin typeface="Arial"/>
                <a:cs typeface="Arial"/>
              </a:rPr>
              <a:t> </a:t>
            </a:r>
            <a:r>
              <a:rPr sz="950" spc="15" dirty="0">
                <a:latin typeface="Arial"/>
                <a:cs typeface="Arial"/>
              </a:rPr>
              <a:t>1 </a:t>
            </a:r>
            <a:r>
              <a:rPr sz="950" spc="250" dirty="0">
                <a:latin typeface="Arial"/>
                <a:cs typeface="Arial"/>
              </a:rPr>
              <a:t> </a:t>
            </a:r>
            <a:r>
              <a:rPr sz="950" spc="15" dirty="0">
                <a:latin typeface="Arial"/>
                <a:cs typeface="Arial"/>
              </a:rPr>
              <a:t>0	</a:t>
            </a:r>
            <a:r>
              <a:rPr sz="950" spc="10" dirty="0">
                <a:latin typeface="Arial"/>
                <a:cs typeface="Arial"/>
              </a:rPr>
              <a:t>Network</a:t>
            </a:r>
            <a:r>
              <a:rPr sz="950" spc="20" dirty="0">
                <a:latin typeface="Arial"/>
                <a:cs typeface="Arial"/>
              </a:rPr>
              <a:t> </a:t>
            </a:r>
            <a:r>
              <a:rPr sz="950" spc="10" dirty="0">
                <a:latin typeface="Arial"/>
                <a:cs typeface="Arial"/>
              </a:rPr>
              <a:t>ID	Host</a:t>
            </a:r>
            <a:r>
              <a:rPr sz="950" spc="-70" dirty="0">
                <a:latin typeface="Arial"/>
                <a:cs typeface="Arial"/>
              </a:rPr>
              <a:t> </a:t>
            </a:r>
            <a:r>
              <a:rPr sz="950" spc="10" dirty="0">
                <a:latin typeface="Arial"/>
                <a:cs typeface="Arial"/>
              </a:rPr>
              <a:t>ID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00">
              <a:latin typeface="Times New Roman"/>
              <a:cs typeface="Times New Roman"/>
            </a:endParaRPr>
          </a:p>
          <a:p>
            <a:pPr marR="1179830" algn="r">
              <a:lnSpc>
                <a:spcPct val="100000"/>
              </a:lnSpc>
            </a:pPr>
            <a:r>
              <a:rPr sz="950" spc="15" dirty="0">
                <a:latin typeface="Arial"/>
                <a:cs typeface="Arial"/>
              </a:rPr>
              <a:t>28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0"/>
              </a:spcBef>
              <a:tabLst>
                <a:tab pos="1344295" algn="l"/>
                <a:tab pos="3045460" algn="l"/>
              </a:tabLst>
            </a:pPr>
            <a:r>
              <a:rPr sz="950" spc="10" dirty="0">
                <a:latin typeface="Arial"/>
                <a:cs typeface="Arial"/>
              </a:rPr>
              <a:t>Class </a:t>
            </a:r>
            <a:r>
              <a:rPr sz="950" spc="20" dirty="0">
                <a:latin typeface="Arial"/>
                <a:cs typeface="Arial"/>
              </a:rPr>
              <a:t>D</a:t>
            </a:r>
            <a:r>
              <a:rPr sz="950" spc="15" dirty="0">
                <a:latin typeface="Arial"/>
                <a:cs typeface="Arial"/>
              </a:rPr>
              <a:t> </a:t>
            </a:r>
            <a:r>
              <a:rPr sz="950" spc="10" dirty="0">
                <a:latin typeface="Arial"/>
                <a:cs typeface="Arial"/>
              </a:rPr>
              <a:t>(multicast):	</a:t>
            </a:r>
            <a:r>
              <a:rPr sz="950" spc="15" dirty="0">
                <a:latin typeface="Arial"/>
                <a:cs typeface="Arial"/>
              </a:rPr>
              <a:t>1   1  </a:t>
            </a:r>
            <a:r>
              <a:rPr sz="950" spc="50" dirty="0">
                <a:latin typeface="Arial"/>
                <a:cs typeface="Arial"/>
              </a:rPr>
              <a:t> </a:t>
            </a:r>
            <a:r>
              <a:rPr sz="950" spc="15" dirty="0">
                <a:latin typeface="Arial"/>
                <a:cs typeface="Arial"/>
              </a:rPr>
              <a:t>1  </a:t>
            </a:r>
            <a:r>
              <a:rPr sz="950" spc="90" dirty="0">
                <a:latin typeface="Arial"/>
                <a:cs typeface="Arial"/>
              </a:rPr>
              <a:t> </a:t>
            </a:r>
            <a:r>
              <a:rPr sz="950" spc="15" dirty="0">
                <a:latin typeface="Arial"/>
                <a:cs typeface="Arial"/>
              </a:rPr>
              <a:t>0	</a:t>
            </a:r>
            <a:r>
              <a:rPr sz="950" spc="10" dirty="0">
                <a:latin typeface="Arial"/>
                <a:cs typeface="Arial"/>
              </a:rPr>
              <a:t>Multicast</a:t>
            </a:r>
            <a:r>
              <a:rPr sz="950" spc="5" dirty="0">
                <a:latin typeface="Arial"/>
                <a:cs typeface="Arial"/>
              </a:rPr>
              <a:t> </a:t>
            </a:r>
            <a:r>
              <a:rPr sz="950" spc="10" dirty="0">
                <a:latin typeface="Arial"/>
                <a:cs typeface="Arial"/>
              </a:rPr>
              <a:t>address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Times New Roman"/>
              <a:cs typeface="Times New Roman"/>
            </a:endParaRPr>
          </a:p>
          <a:p>
            <a:pPr marR="1117600" algn="r">
              <a:lnSpc>
                <a:spcPct val="100000"/>
              </a:lnSpc>
              <a:spcBef>
                <a:spcPts val="5"/>
              </a:spcBef>
            </a:pPr>
            <a:r>
              <a:rPr sz="950" spc="15" dirty="0">
                <a:latin typeface="Arial"/>
                <a:cs typeface="Arial"/>
              </a:rPr>
              <a:t>27</a:t>
            </a:r>
            <a:endParaRPr sz="950">
              <a:latin typeface="Arial"/>
              <a:cs typeface="Arial"/>
            </a:endParaRPr>
          </a:p>
          <a:p>
            <a:pPr marR="1142365" algn="r">
              <a:lnSpc>
                <a:spcPct val="100000"/>
              </a:lnSpc>
              <a:spcBef>
                <a:spcPts val="565"/>
              </a:spcBef>
              <a:tabLst>
                <a:tab pos="1313180" algn="l"/>
                <a:tab pos="3307079" algn="l"/>
              </a:tabLst>
            </a:pPr>
            <a:r>
              <a:rPr sz="950" spc="10" dirty="0">
                <a:latin typeface="Arial"/>
                <a:cs typeface="Arial"/>
              </a:rPr>
              <a:t>Class</a:t>
            </a:r>
            <a:r>
              <a:rPr sz="950" spc="5" dirty="0">
                <a:latin typeface="Arial"/>
                <a:cs typeface="Arial"/>
              </a:rPr>
              <a:t> </a:t>
            </a:r>
            <a:r>
              <a:rPr sz="950" spc="15" dirty="0">
                <a:latin typeface="Arial"/>
                <a:cs typeface="Arial"/>
              </a:rPr>
              <a:t>E</a:t>
            </a:r>
            <a:r>
              <a:rPr sz="950" spc="5" dirty="0">
                <a:latin typeface="Arial"/>
                <a:cs typeface="Arial"/>
              </a:rPr>
              <a:t> </a:t>
            </a:r>
            <a:r>
              <a:rPr sz="950" spc="10" dirty="0">
                <a:latin typeface="Arial"/>
                <a:cs typeface="Arial"/>
              </a:rPr>
              <a:t>(reserved):</a:t>
            </a:r>
            <a:r>
              <a:rPr sz="950" dirty="0">
                <a:latin typeface="Arial"/>
                <a:cs typeface="Arial"/>
              </a:rPr>
              <a:t>	</a:t>
            </a:r>
            <a:r>
              <a:rPr sz="950" spc="15" dirty="0">
                <a:latin typeface="Arial"/>
                <a:cs typeface="Arial"/>
              </a:rPr>
              <a:t>1</a:t>
            </a:r>
            <a:r>
              <a:rPr sz="950" dirty="0">
                <a:latin typeface="Arial"/>
                <a:cs typeface="Arial"/>
              </a:rPr>
              <a:t>  </a:t>
            </a:r>
            <a:r>
              <a:rPr sz="950" spc="125" dirty="0">
                <a:latin typeface="Arial"/>
                <a:cs typeface="Arial"/>
              </a:rPr>
              <a:t> </a:t>
            </a:r>
            <a:r>
              <a:rPr sz="950" spc="15" dirty="0">
                <a:latin typeface="Arial"/>
                <a:cs typeface="Arial"/>
              </a:rPr>
              <a:t>1</a:t>
            </a:r>
            <a:r>
              <a:rPr sz="950" dirty="0">
                <a:latin typeface="Arial"/>
                <a:cs typeface="Arial"/>
              </a:rPr>
              <a:t>   </a:t>
            </a:r>
            <a:r>
              <a:rPr sz="950" spc="15" dirty="0">
                <a:latin typeface="Arial"/>
                <a:cs typeface="Arial"/>
              </a:rPr>
              <a:t>1</a:t>
            </a:r>
            <a:r>
              <a:rPr sz="950" dirty="0">
                <a:latin typeface="Arial"/>
                <a:cs typeface="Arial"/>
              </a:rPr>
              <a:t>  </a:t>
            </a:r>
            <a:r>
              <a:rPr sz="950" spc="120" dirty="0">
                <a:latin typeface="Arial"/>
                <a:cs typeface="Arial"/>
              </a:rPr>
              <a:t> </a:t>
            </a:r>
            <a:r>
              <a:rPr sz="950" spc="15" dirty="0">
                <a:latin typeface="Arial"/>
                <a:cs typeface="Arial"/>
              </a:rPr>
              <a:t>1</a:t>
            </a:r>
            <a:r>
              <a:rPr sz="950" dirty="0">
                <a:latin typeface="Arial"/>
                <a:cs typeface="Arial"/>
              </a:rPr>
              <a:t>   </a:t>
            </a:r>
            <a:r>
              <a:rPr sz="950" spc="15" dirty="0">
                <a:latin typeface="Arial"/>
                <a:cs typeface="Arial"/>
              </a:rPr>
              <a:t>0</a:t>
            </a:r>
            <a:r>
              <a:rPr sz="950" dirty="0">
                <a:latin typeface="Arial"/>
                <a:cs typeface="Arial"/>
              </a:rPr>
              <a:t>	</a:t>
            </a:r>
            <a:r>
              <a:rPr sz="950" spc="15" dirty="0">
                <a:latin typeface="Arial"/>
                <a:cs typeface="Arial"/>
              </a:rPr>
              <a:t>unused</a:t>
            </a:r>
            <a:endParaRPr sz="95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509915" y="3203701"/>
            <a:ext cx="5464810" cy="2574925"/>
          </a:xfrm>
          <a:custGeom>
            <a:avLst/>
            <a:gdLst/>
            <a:ahLst/>
            <a:cxnLst/>
            <a:rect l="l" t="t" r="r" b="b"/>
            <a:pathLst>
              <a:path w="5464809" h="2574925">
                <a:moveTo>
                  <a:pt x="0" y="0"/>
                </a:moveTo>
                <a:lnTo>
                  <a:pt x="0" y="2574798"/>
                </a:lnTo>
                <a:lnTo>
                  <a:pt x="5464301" y="2574798"/>
                </a:lnTo>
                <a:lnTo>
                  <a:pt x="5464301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509915" y="3202939"/>
            <a:ext cx="5464810" cy="2575560"/>
          </a:xfrm>
          <a:custGeom>
            <a:avLst/>
            <a:gdLst/>
            <a:ahLst/>
            <a:cxnLst/>
            <a:rect l="l" t="t" r="r" b="b"/>
            <a:pathLst>
              <a:path w="5464809" h="2575560">
                <a:moveTo>
                  <a:pt x="0" y="0"/>
                </a:moveTo>
                <a:lnTo>
                  <a:pt x="0" y="2575560"/>
                </a:lnTo>
                <a:lnTo>
                  <a:pt x="5464301" y="2575560"/>
                </a:lnTo>
                <a:lnTo>
                  <a:pt x="546430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048386" y="3059925"/>
            <a:ext cx="1153795" cy="2713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Arial"/>
                <a:cs typeface="Arial"/>
              </a:rPr>
              <a:t>Range of</a:t>
            </a:r>
            <a:r>
              <a:rPr sz="1000" spc="-8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addresses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850" dirty="0">
              <a:latin typeface="Times New Roman"/>
              <a:cs typeface="Times New Roman"/>
            </a:endParaRPr>
          </a:p>
          <a:p>
            <a:pPr marL="107950" marR="93980" indent="-9525">
              <a:lnSpc>
                <a:spcPct val="121000"/>
              </a:lnSpc>
            </a:pPr>
            <a:r>
              <a:rPr sz="1000" spc="-5" dirty="0">
                <a:latin typeface="Arial"/>
                <a:cs typeface="Arial"/>
              </a:rPr>
              <a:t>1.0.0.0 to  </a:t>
            </a:r>
            <a:r>
              <a:rPr sz="1000" spc="-10" dirty="0">
                <a:latin typeface="Arial"/>
                <a:cs typeface="Arial"/>
              </a:rPr>
              <a:t>127.255.255.255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950" dirty="0">
              <a:latin typeface="Times New Roman"/>
              <a:cs typeface="Times New Roman"/>
            </a:endParaRPr>
          </a:p>
          <a:p>
            <a:pPr marL="107950" marR="93980" indent="-5080">
              <a:lnSpc>
                <a:spcPct val="121000"/>
              </a:lnSpc>
            </a:pPr>
            <a:r>
              <a:rPr sz="1000" spc="-10" dirty="0">
                <a:latin typeface="Arial"/>
                <a:cs typeface="Arial"/>
              </a:rPr>
              <a:t>128.0.0.0 to  191.255.255.255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 dirty="0">
              <a:latin typeface="Times New Roman"/>
              <a:cs typeface="Times New Roman"/>
            </a:endParaRPr>
          </a:p>
          <a:p>
            <a:pPr marL="107950" marR="93980" indent="-5080">
              <a:lnSpc>
                <a:spcPct val="121000"/>
              </a:lnSpc>
            </a:pPr>
            <a:r>
              <a:rPr sz="1000" spc="-10" dirty="0">
                <a:latin typeface="Arial"/>
                <a:cs typeface="Arial"/>
              </a:rPr>
              <a:t>192.0.0.0 to  223.255.255.255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 dirty="0">
              <a:latin typeface="Times New Roman"/>
              <a:cs typeface="Times New Roman"/>
            </a:endParaRPr>
          </a:p>
          <a:p>
            <a:pPr marL="107950" marR="93980" indent="-5080">
              <a:lnSpc>
                <a:spcPct val="119500"/>
              </a:lnSpc>
            </a:pPr>
            <a:r>
              <a:rPr sz="1000" spc="-10" dirty="0">
                <a:latin typeface="Arial"/>
                <a:cs typeface="Arial"/>
              </a:rPr>
              <a:t>224.0.0.0 to  239.255.255.255</a:t>
            </a:r>
            <a:endParaRPr sz="1000" dirty="0">
              <a:latin typeface="Arial"/>
              <a:cs typeface="Arial"/>
            </a:endParaRPr>
          </a:p>
          <a:p>
            <a:pPr marL="107950" marR="93980" indent="-5080">
              <a:lnSpc>
                <a:spcPct val="121000"/>
              </a:lnSpc>
              <a:spcBef>
                <a:spcPts val="944"/>
              </a:spcBef>
            </a:pPr>
            <a:r>
              <a:rPr sz="1000" spc="-10" dirty="0">
                <a:latin typeface="Arial"/>
                <a:cs typeface="Arial"/>
              </a:rPr>
              <a:t>240.0.0.0 to  255.255.255.255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01453" y="966724"/>
            <a:ext cx="8373745" cy="2666114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355600" marR="20320" indent="-342900">
              <a:buClr>
                <a:srgbClr val="CC9A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400" spc="-70" dirty="0">
                <a:latin typeface="Arial"/>
                <a:cs typeface="Arial"/>
              </a:rPr>
              <a:t>The </a:t>
            </a:r>
            <a:r>
              <a:rPr sz="2400" b="1" spc="-125" dirty="0">
                <a:latin typeface="Arial"/>
                <a:cs typeface="Arial"/>
              </a:rPr>
              <a:t>32 </a:t>
            </a:r>
            <a:r>
              <a:rPr sz="2400" spc="-35" dirty="0">
                <a:latin typeface="Arial"/>
                <a:cs typeface="Arial"/>
              </a:rPr>
              <a:t>bits </a:t>
            </a:r>
            <a:r>
              <a:rPr sz="2400" spc="-15" dirty="0">
                <a:latin typeface="Arial"/>
                <a:cs typeface="Arial"/>
              </a:rPr>
              <a:t>of </a:t>
            </a:r>
            <a:r>
              <a:rPr sz="2400" spc="-120" dirty="0">
                <a:latin typeface="Arial"/>
                <a:cs typeface="Arial"/>
              </a:rPr>
              <a:t>an </a:t>
            </a:r>
            <a:r>
              <a:rPr sz="2400" spc="-35" dirty="0">
                <a:latin typeface="Arial"/>
                <a:cs typeface="Arial"/>
              </a:rPr>
              <a:t>IPv4 </a:t>
            </a:r>
            <a:r>
              <a:rPr sz="2400" spc="-165" dirty="0">
                <a:latin typeface="Arial"/>
                <a:cs typeface="Arial"/>
              </a:rPr>
              <a:t>address </a:t>
            </a:r>
            <a:r>
              <a:rPr sz="2400" spc="-125" dirty="0">
                <a:latin typeface="Arial"/>
                <a:cs typeface="Arial"/>
              </a:rPr>
              <a:t>are </a:t>
            </a:r>
            <a:r>
              <a:rPr sz="2400" spc="-40" dirty="0">
                <a:latin typeface="Arial"/>
                <a:cs typeface="Arial"/>
              </a:rPr>
              <a:t>broken </a:t>
            </a:r>
            <a:r>
              <a:rPr sz="2400" spc="35" dirty="0">
                <a:latin typeface="Arial"/>
                <a:cs typeface="Arial"/>
              </a:rPr>
              <a:t>into </a:t>
            </a:r>
            <a:r>
              <a:rPr sz="2400" b="1" spc="-125" dirty="0">
                <a:solidFill>
                  <a:srgbClr val="9A6500"/>
                </a:solidFill>
                <a:latin typeface="Arial"/>
                <a:cs typeface="Arial"/>
              </a:rPr>
              <a:t>4 </a:t>
            </a:r>
            <a:r>
              <a:rPr sz="2400" b="1" spc="-175" dirty="0">
                <a:solidFill>
                  <a:srgbClr val="9A6500"/>
                </a:solidFill>
                <a:latin typeface="Arial"/>
                <a:cs typeface="Arial"/>
              </a:rPr>
              <a:t>octets</a:t>
            </a:r>
            <a:r>
              <a:rPr sz="2400" spc="-175" dirty="0">
                <a:latin typeface="Arial"/>
                <a:cs typeface="Arial"/>
              </a:rPr>
              <a:t>, </a:t>
            </a:r>
            <a:r>
              <a:rPr sz="2400" dirty="0">
                <a:latin typeface="Arial"/>
                <a:cs typeface="Arial"/>
              </a:rPr>
              <a:t>or </a:t>
            </a:r>
            <a:r>
              <a:rPr sz="2400" spc="-125" dirty="0">
                <a:latin typeface="Arial"/>
                <a:cs typeface="Arial"/>
              </a:rPr>
              <a:t>8 </a:t>
            </a:r>
            <a:r>
              <a:rPr sz="2400" spc="55" dirty="0">
                <a:latin typeface="Arial"/>
                <a:cs typeface="Arial"/>
              </a:rPr>
              <a:t>bit </a:t>
            </a:r>
            <a:r>
              <a:rPr sz="2400" spc="-45" dirty="0">
                <a:latin typeface="Arial"/>
                <a:cs typeface="Arial"/>
              </a:rPr>
              <a:t>fields  </a:t>
            </a:r>
            <a:r>
              <a:rPr sz="2400" spc="-75" dirty="0">
                <a:latin typeface="Arial"/>
                <a:cs typeface="Arial"/>
              </a:rPr>
              <a:t>(0-255 value </a:t>
            </a:r>
            <a:r>
              <a:rPr sz="2400" spc="75" dirty="0">
                <a:latin typeface="Arial"/>
                <a:cs typeface="Arial"/>
              </a:rPr>
              <a:t>in </a:t>
            </a:r>
            <a:r>
              <a:rPr sz="2400" spc="-60" dirty="0">
                <a:latin typeface="Arial"/>
                <a:cs typeface="Arial"/>
              </a:rPr>
              <a:t>decimal</a:t>
            </a:r>
            <a:r>
              <a:rPr sz="2400" spc="-19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notation).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buClr>
                <a:srgbClr val="CC9A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400" spc="-60" dirty="0">
                <a:latin typeface="Arial"/>
                <a:cs typeface="Arial"/>
              </a:rPr>
              <a:t>For </a:t>
            </a:r>
            <a:r>
              <a:rPr sz="2400" spc="-30" dirty="0">
                <a:latin typeface="Arial"/>
                <a:cs typeface="Arial"/>
              </a:rPr>
              <a:t>networks </a:t>
            </a:r>
            <a:r>
              <a:rPr sz="2400" spc="-15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different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size,</a:t>
            </a:r>
            <a:endParaRPr sz="2400" dirty="0">
              <a:latin typeface="Arial"/>
              <a:cs typeface="Arial"/>
            </a:endParaRPr>
          </a:p>
          <a:p>
            <a:pPr marL="681990" marR="5080" lvl="1" indent="-325120">
              <a:buClr>
                <a:srgbClr val="3B822F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400" spc="-25" dirty="0">
                <a:latin typeface="Arial"/>
                <a:cs typeface="Arial"/>
              </a:rPr>
              <a:t>the </a:t>
            </a:r>
            <a:r>
              <a:rPr sz="2400" spc="20" dirty="0">
                <a:latin typeface="Arial"/>
                <a:cs typeface="Arial"/>
              </a:rPr>
              <a:t>first </a:t>
            </a:r>
            <a:r>
              <a:rPr sz="2400" spc="-95" dirty="0">
                <a:latin typeface="Arial"/>
                <a:cs typeface="Arial"/>
              </a:rPr>
              <a:t>one </a:t>
            </a:r>
            <a:r>
              <a:rPr sz="2400" spc="10" dirty="0">
                <a:latin typeface="Arial"/>
                <a:cs typeface="Arial"/>
              </a:rPr>
              <a:t>(for </a:t>
            </a:r>
            <a:r>
              <a:rPr sz="2400" spc="-80" dirty="0">
                <a:latin typeface="Arial"/>
                <a:cs typeface="Arial"/>
              </a:rPr>
              <a:t>large </a:t>
            </a:r>
            <a:r>
              <a:rPr sz="2400" spc="-30" dirty="0">
                <a:latin typeface="Arial"/>
                <a:cs typeface="Arial"/>
              </a:rPr>
              <a:t>networks)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40" dirty="0">
                <a:latin typeface="Arial"/>
                <a:cs typeface="Arial"/>
              </a:rPr>
              <a:t>three </a:t>
            </a:r>
            <a:r>
              <a:rPr sz="2400" spc="10" dirty="0">
                <a:latin typeface="Arial"/>
                <a:cs typeface="Arial"/>
              </a:rPr>
              <a:t>(for </a:t>
            </a:r>
            <a:r>
              <a:rPr sz="2400" spc="-60" dirty="0">
                <a:latin typeface="Arial"/>
                <a:cs typeface="Arial"/>
              </a:rPr>
              <a:t>small </a:t>
            </a:r>
            <a:r>
              <a:rPr sz="2400" spc="-30" dirty="0">
                <a:latin typeface="Arial"/>
                <a:cs typeface="Arial"/>
              </a:rPr>
              <a:t>networks) </a:t>
            </a:r>
            <a:r>
              <a:rPr sz="2400" spc="-85" dirty="0">
                <a:latin typeface="Arial"/>
                <a:cs typeface="Arial"/>
              </a:rPr>
              <a:t>octets</a:t>
            </a:r>
            <a:r>
              <a:rPr sz="2400" spc="-300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can  </a:t>
            </a:r>
            <a:r>
              <a:rPr sz="2400" spc="-130" dirty="0">
                <a:latin typeface="Arial"/>
                <a:cs typeface="Arial"/>
              </a:rPr>
              <a:t>be </a:t>
            </a:r>
            <a:r>
              <a:rPr sz="2400" spc="-145" dirty="0">
                <a:latin typeface="Arial"/>
                <a:cs typeface="Arial"/>
              </a:rPr>
              <a:t>used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25" dirty="0">
                <a:latin typeface="Arial"/>
                <a:cs typeface="Arial"/>
              </a:rPr>
              <a:t>identify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b="1" spc="-80" dirty="0">
                <a:solidFill>
                  <a:srgbClr val="CC9A00"/>
                </a:solidFill>
                <a:latin typeface="Arial"/>
                <a:cs typeface="Arial"/>
              </a:rPr>
              <a:t>network</a:t>
            </a:r>
            <a:r>
              <a:rPr sz="2400" spc="-80" dirty="0">
                <a:latin typeface="Arial"/>
                <a:cs typeface="Arial"/>
              </a:rPr>
              <a:t>,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30" dirty="0">
                <a:latin typeface="Arial"/>
                <a:cs typeface="Arial"/>
              </a:rPr>
              <a:t>while</a:t>
            </a:r>
            <a:endParaRPr sz="2400" dirty="0">
              <a:latin typeface="Arial"/>
              <a:cs typeface="Arial"/>
            </a:endParaRPr>
          </a:p>
          <a:p>
            <a:pPr marL="681990" lvl="1" indent="-325120">
              <a:buClr>
                <a:srgbClr val="3B822F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400" spc="-25" dirty="0">
                <a:latin typeface="Arial"/>
                <a:cs typeface="Arial"/>
              </a:rPr>
              <a:t>the </a:t>
            </a:r>
            <a:r>
              <a:rPr sz="2400" spc="-70" dirty="0">
                <a:latin typeface="Arial"/>
                <a:cs typeface="Arial"/>
              </a:rPr>
              <a:t>rest </a:t>
            </a:r>
            <a:r>
              <a:rPr sz="2400" spc="-10" dirty="0">
                <a:latin typeface="Arial"/>
                <a:cs typeface="Arial"/>
              </a:rPr>
              <a:t>of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spc="-80" dirty="0">
                <a:latin typeface="Arial"/>
                <a:cs typeface="Arial"/>
              </a:rPr>
              <a:t>octets </a:t>
            </a:r>
            <a:r>
              <a:rPr sz="2400" spc="-110" dirty="0">
                <a:latin typeface="Arial"/>
                <a:cs typeface="Arial"/>
              </a:rPr>
              <a:t>can </a:t>
            </a:r>
            <a:r>
              <a:rPr sz="2400" spc="-130" dirty="0">
                <a:latin typeface="Arial"/>
                <a:cs typeface="Arial"/>
              </a:rPr>
              <a:t>be </a:t>
            </a:r>
            <a:r>
              <a:rPr sz="2400" spc="-150" dirty="0">
                <a:latin typeface="Arial"/>
                <a:cs typeface="Arial"/>
              </a:rPr>
              <a:t>used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25" dirty="0">
                <a:latin typeface="Arial"/>
                <a:cs typeface="Arial"/>
              </a:rPr>
              <a:t>identify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b="1" spc="-165" dirty="0">
                <a:solidFill>
                  <a:srgbClr val="CA6800"/>
                </a:solidFill>
                <a:latin typeface="Arial"/>
                <a:cs typeface="Arial"/>
              </a:rPr>
              <a:t>node </a:t>
            </a:r>
            <a:r>
              <a:rPr sz="2400" spc="-40" dirty="0">
                <a:latin typeface="Arial"/>
                <a:cs typeface="Arial"/>
              </a:rPr>
              <a:t>on </a:t>
            </a:r>
            <a:r>
              <a:rPr sz="2400" spc="-25" dirty="0">
                <a:latin typeface="Arial"/>
                <a:cs typeface="Arial"/>
              </a:rPr>
              <a:t>the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network.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1865" y="261873"/>
            <a:ext cx="7912734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15" dirty="0"/>
              <a:t>Local </a:t>
            </a:r>
            <a:r>
              <a:rPr sz="4200" spc="-250" dirty="0"/>
              <a:t>Area </a:t>
            </a:r>
            <a:r>
              <a:rPr sz="4200" spc="-220" dirty="0"/>
              <a:t>Network </a:t>
            </a:r>
            <a:r>
              <a:rPr sz="4200" spc="-265" dirty="0"/>
              <a:t>Addresses </a:t>
            </a:r>
            <a:r>
              <a:rPr sz="4200" spc="-260" dirty="0"/>
              <a:t>-</a:t>
            </a:r>
            <a:r>
              <a:rPr sz="4200" spc="370" dirty="0"/>
              <a:t> </a:t>
            </a:r>
            <a:r>
              <a:rPr sz="4200" spc="-220" dirty="0"/>
              <a:t>IPv4</a:t>
            </a:r>
            <a:endParaRPr sz="4200"/>
          </a:p>
        </p:txBody>
      </p:sp>
      <p:sp>
        <p:nvSpPr>
          <p:cNvPr id="3" name="object 3"/>
          <p:cNvSpPr/>
          <p:nvPr/>
        </p:nvSpPr>
        <p:spPr>
          <a:xfrm>
            <a:off x="825222" y="1060450"/>
            <a:ext cx="7467878" cy="55075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62173" y="261873"/>
            <a:ext cx="279527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85" dirty="0"/>
              <a:t>TCP </a:t>
            </a:r>
            <a:r>
              <a:rPr sz="4200" spc="-200" dirty="0"/>
              <a:t>vs</a:t>
            </a:r>
            <a:r>
              <a:rPr sz="4200" spc="85" dirty="0"/>
              <a:t> </a:t>
            </a:r>
            <a:r>
              <a:rPr sz="4200" spc="-110" dirty="0"/>
              <a:t>UDP</a:t>
            </a:r>
            <a:endParaRPr sz="4200"/>
          </a:p>
        </p:txBody>
      </p:sp>
      <p:sp>
        <p:nvSpPr>
          <p:cNvPr id="4" name="object 4"/>
          <p:cNvSpPr txBox="1"/>
          <p:nvPr/>
        </p:nvSpPr>
        <p:spPr>
          <a:xfrm>
            <a:off x="401453" y="873036"/>
            <a:ext cx="8501247" cy="5219378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55600" indent="-342900"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spc="-30" dirty="0">
                <a:latin typeface="Arial"/>
                <a:cs typeface="Arial"/>
              </a:rPr>
              <a:t>Both </a:t>
            </a:r>
            <a:r>
              <a:rPr sz="2800" spc="-190" dirty="0">
                <a:latin typeface="Arial"/>
                <a:cs typeface="Arial"/>
              </a:rPr>
              <a:t>use </a:t>
            </a:r>
            <a:r>
              <a:rPr sz="2800" b="1" spc="-114" dirty="0">
                <a:solidFill>
                  <a:srgbClr val="9A6500"/>
                </a:solidFill>
                <a:latin typeface="Arial"/>
                <a:cs typeface="Arial"/>
              </a:rPr>
              <a:t>port</a:t>
            </a:r>
            <a:r>
              <a:rPr sz="2800" b="1" spc="20" dirty="0">
                <a:solidFill>
                  <a:srgbClr val="9A6500"/>
                </a:solidFill>
                <a:latin typeface="Arial"/>
                <a:cs typeface="Arial"/>
              </a:rPr>
              <a:t> </a:t>
            </a:r>
            <a:r>
              <a:rPr sz="2800" b="1" spc="-185" dirty="0">
                <a:solidFill>
                  <a:srgbClr val="9A6500"/>
                </a:solidFill>
                <a:latin typeface="Arial"/>
                <a:cs typeface="Arial"/>
              </a:rPr>
              <a:t>numbers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35" dirty="0">
                <a:latin typeface="Arial"/>
                <a:cs typeface="Arial"/>
              </a:rPr>
              <a:t>application-specific construct </a:t>
            </a:r>
            <a:r>
              <a:rPr sz="2800" spc="-60" dirty="0">
                <a:latin typeface="Arial"/>
                <a:cs typeface="Arial"/>
              </a:rPr>
              <a:t>serving </a:t>
            </a:r>
            <a:r>
              <a:rPr sz="2800" spc="-260" dirty="0">
                <a:latin typeface="Arial"/>
                <a:cs typeface="Arial"/>
              </a:rPr>
              <a:t>as </a:t>
            </a:r>
            <a:r>
              <a:rPr sz="2800" spc="-229" dirty="0">
                <a:latin typeface="Arial"/>
                <a:cs typeface="Arial"/>
              </a:rPr>
              <a:t>a </a:t>
            </a:r>
            <a:r>
              <a:rPr sz="2800" spc="-30" dirty="0">
                <a:latin typeface="Arial"/>
                <a:cs typeface="Arial"/>
              </a:rPr>
              <a:t>communication</a:t>
            </a:r>
            <a:r>
              <a:rPr sz="2800" spc="-29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endpoint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5" dirty="0">
                <a:latin typeface="Arial"/>
                <a:cs typeface="Arial"/>
              </a:rPr>
              <a:t>16-bit </a:t>
            </a:r>
            <a:r>
              <a:rPr sz="2800" spc="-75" dirty="0">
                <a:latin typeface="Arial"/>
                <a:cs typeface="Arial"/>
              </a:rPr>
              <a:t>unsigned </a:t>
            </a:r>
            <a:r>
              <a:rPr sz="2800" spc="-35" dirty="0">
                <a:latin typeface="Arial"/>
                <a:cs typeface="Arial"/>
              </a:rPr>
              <a:t>integer, </a:t>
            </a:r>
            <a:r>
              <a:rPr sz="2800" spc="-50" dirty="0">
                <a:latin typeface="Arial"/>
                <a:cs typeface="Arial"/>
              </a:rPr>
              <a:t>thus </a:t>
            </a:r>
            <a:r>
              <a:rPr sz="2800" spc="-45" dirty="0">
                <a:latin typeface="Arial"/>
                <a:cs typeface="Arial"/>
              </a:rPr>
              <a:t>ranging </a:t>
            </a:r>
            <a:r>
              <a:rPr sz="2800" spc="10" dirty="0">
                <a:latin typeface="Arial"/>
                <a:cs typeface="Arial"/>
              </a:rPr>
              <a:t>from </a:t>
            </a:r>
            <a:r>
              <a:rPr sz="2800" spc="-114" dirty="0">
                <a:latin typeface="Arial"/>
                <a:cs typeface="Arial"/>
              </a:rPr>
              <a:t>0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160" dirty="0">
                <a:latin typeface="Arial"/>
                <a:cs typeface="Arial"/>
              </a:rPr>
              <a:t> </a:t>
            </a:r>
            <a:r>
              <a:rPr sz="2800" spc="-114" dirty="0">
                <a:latin typeface="Arial"/>
                <a:cs typeface="Arial"/>
              </a:rPr>
              <a:t>65535</a:t>
            </a:r>
            <a:endParaRPr sz="2800" dirty="0">
              <a:latin typeface="Arial"/>
              <a:cs typeface="Arial"/>
            </a:endParaRPr>
          </a:p>
          <a:p>
            <a:pPr marL="356870"/>
            <a:r>
              <a:rPr sz="2800" spc="3625" dirty="0">
                <a:solidFill>
                  <a:srgbClr val="9A6500"/>
                </a:solidFill>
                <a:latin typeface="Wingdings"/>
                <a:cs typeface="Wingdings"/>
              </a:rPr>
              <a:t></a:t>
            </a:r>
            <a:r>
              <a:rPr sz="2800" spc="-235" dirty="0">
                <a:solidFill>
                  <a:srgbClr val="9A65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Arial"/>
                <a:cs typeface="Arial"/>
              </a:rPr>
              <a:t>to </a:t>
            </a:r>
            <a:r>
              <a:rPr sz="2800" spc="-30" dirty="0">
                <a:latin typeface="Arial"/>
                <a:cs typeface="Arial"/>
              </a:rPr>
              <a:t>provide </a:t>
            </a:r>
            <a:r>
              <a:rPr sz="2800" b="1" spc="-90" dirty="0">
                <a:solidFill>
                  <a:srgbClr val="9A6500"/>
                </a:solidFill>
                <a:latin typeface="Arial"/>
                <a:cs typeface="Arial"/>
              </a:rPr>
              <a:t>end-to-end </a:t>
            </a:r>
            <a:r>
              <a:rPr sz="2800" spc="-30" dirty="0">
                <a:latin typeface="Arial"/>
                <a:cs typeface="Arial"/>
              </a:rPr>
              <a:t>transport</a:t>
            </a:r>
            <a:endParaRPr sz="2800" dirty="0">
              <a:latin typeface="Arial"/>
              <a:cs typeface="Arial"/>
            </a:endParaRPr>
          </a:p>
          <a:p>
            <a:pPr marL="355600" indent="-342900"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spc="-65" dirty="0">
                <a:latin typeface="Arial"/>
                <a:cs typeface="Arial"/>
              </a:rPr>
              <a:t>UDP: </a:t>
            </a:r>
            <a:r>
              <a:rPr sz="2800" spc="-110" dirty="0">
                <a:latin typeface="Arial"/>
                <a:cs typeface="Arial"/>
              </a:rPr>
              <a:t>User </a:t>
            </a:r>
            <a:r>
              <a:rPr sz="2800" spc="-95" dirty="0">
                <a:latin typeface="Arial"/>
                <a:cs typeface="Arial"/>
              </a:rPr>
              <a:t>Datagram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Protocol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40" dirty="0">
                <a:latin typeface="Arial"/>
                <a:cs typeface="Arial"/>
              </a:rPr>
              <a:t>no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75" dirty="0">
                <a:latin typeface="Arial"/>
                <a:cs typeface="Arial"/>
              </a:rPr>
              <a:t>acknowledgements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40" dirty="0">
                <a:latin typeface="Arial"/>
                <a:cs typeface="Arial"/>
              </a:rPr>
              <a:t>no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75" dirty="0">
                <a:latin typeface="Arial"/>
                <a:cs typeface="Arial"/>
              </a:rPr>
              <a:t>retransmissions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10" dirty="0">
                <a:latin typeface="Arial"/>
                <a:cs typeface="Arial"/>
              </a:rPr>
              <a:t>out of </a:t>
            </a:r>
            <a:r>
              <a:rPr sz="2800" spc="-35" dirty="0">
                <a:latin typeface="Arial"/>
                <a:cs typeface="Arial"/>
              </a:rPr>
              <a:t>order, </a:t>
            </a:r>
            <a:r>
              <a:rPr sz="2800" spc="-65" dirty="0">
                <a:latin typeface="Arial"/>
                <a:cs typeface="Arial"/>
              </a:rPr>
              <a:t>duplicates</a:t>
            </a:r>
            <a:r>
              <a:rPr sz="2800" spc="-17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possible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70" dirty="0">
                <a:latin typeface="Arial"/>
                <a:cs typeface="Arial"/>
              </a:rPr>
              <a:t>connectionless, </a:t>
            </a:r>
            <a:r>
              <a:rPr sz="2800" spc="-55" dirty="0">
                <a:latin typeface="Arial"/>
                <a:cs typeface="Arial"/>
              </a:rPr>
              <a:t>i.e., </a:t>
            </a:r>
            <a:r>
              <a:rPr sz="2800" spc="-125" dirty="0">
                <a:latin typeface="Arial"/>
                <a:cs typeface="Arial"/>
              </a:rPr>
              <a:t>app </a:t>
            </a:r>
            <a:r>
              <a:rPr sz="2800" spc="-55" dirty="0">
                <a:latin typeface="Arial"/>
                <a:cs typeface="Arial"/>
              </a:rPr>
              <a:t>indicates </a:t>
            </a:r>
            <a:r>
              <a:rPr sz="2800" spc="-35" dirty="0">
                <a:latin typeface="Arial"/>
                <a:cs typeface="Arial"/>
              </a:rPr>
              <a:t>destination </a:t>
            </a:r>
            <a:r>
              <a:rPr sz="2800" spc="25" dirty="0">
                <a:latin typeface="Arial"/>
                <a:cs typeface="Arial"/>
              </a:rPr>
              <a:t>for </a:t>
            </a:r>
            <a:r>
              <a:rPr sz="2800" spc="-130" dirty="0">
                <a:latin typeface="Arial"/>
                <a:cs typeface="Arial"/>
              </a:rPr>
              <a:t>each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75" dirty="0" smtClean="0">
                <a:latin typeface="Arial"/>
                <a:cs typeface="Arial"/>
              </a:rPr>
              <a:t>packet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62173" y="261873"/>
            <a:ext cx="279527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85" dirty="0"/>
              <a:t>TCP </a:t>
            </a:r>
            <a:r>
              <a:rPr sz="4200" spc="-200" dirty="0"/>
              <a:t>vs</a:t>
            </a:r>
            <a:r>
              <a:rPr sz="4200" spc="85" dirty="0"/>
              <a:t> </a:t>
            </a:r>
            <a:r>
              <a:rPr sz="4200" spc="-110" dirty="0"/>
              <a:t>UDP</a:t>
            </a:r>
            <a:endParaRPr sz="4200"/>
          </a:p>
        </p:txBody>
      </p:sp>
      <p:sp>
        <p:nvSpPr>
          <p:cNvPr id="4" name="object 4"/>
          <p:cNvSpPr txBox="1"/>
          <p:nvPr/>
        </p:nvSpPr>
        <p:spPr>
          <a:xfrm>
            <a:off x="520700" y="1653108"/>
            <a:ext cx="7851775" cy="3064942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55600" indent="-342900"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spc="-110" dirty="0" smtClean="0">
                <a:latin typeface="Arial"/>
                <a:cs typeface="Arial"/>
              </a:rPr>
              <a:t>TCP</a:t>
            </a:r>
            <a:r>
              <a:rPr sz="2800" spc="-110" dirty="0">
                <a:latin typeface="Arial"/>
                <a:cs typeface="Arial"/>
              </a:rPr>
              <a:t>: </a:t>
            </a:r>
            <a:r>
              <a:rPr sz="2800" spc="-80" dirty="0">
                <a:latin typeface="Arial"/>
                <a:cs typeface="Arial"/>
              </a:rPr>
              <a:t>Transmission </a:t>
            </a:r>
            <a:r>
              <a:rPr sz="2800" spc="-5" dirty="0">
                <a:latin typeface="Arial"/>
                <a:cs typeface="Arial"/>
              </a:rPr>
              <a:t>Control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Protocol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30" dirty="0">
                <a:latin typeface="Arial"/>
                <a:cs typeface="Arial"/>
              </a:rPr>
              <a:t>reliable </a:t>
            </a:r>
            <a:r>
              <a:rPr sz="2800" b="1" spc="-125" dirty="0">
                <a:solidFill>
                  <a:srgbClr val="CA6800"/>
                </a:solidFill>
                <a:latin typeface="Arial"/>
                <a:cs typeface="Arial"/>
              </a:rPr>
              <a:t>byte-stream </a:t>
            </a:r>
            <a:r>
              <a:rPr sz="2800" b="1" spc="-130" dirty="0">
                <a:solidFill>
                  <a:srgbClr val="CA6800"/>
                </a:solidFill>
                <a:latin typeface="Arial"/>
                <a:cs typeface="Arial"/>
              </a:rPr>
              <a:t>channel </a:t>
            </a:r>
            <a:r>
              <a:rPr sz="2800" spc="40" dirty="0">
                <a:latin typeface="Arial"/>
                <a:cs typeface="Arial"/>
              </a:rPr>
              <a:t>(in </a:t>
            </a:r>
            <a:r>
              <a:rPr sz="2800" spc="-35" dirty="0">
                <a:latin typeface="Arial"/>
                <a:cs typeface="Arial"/>
              </a:rPr>
              <a:t>order, </a:t>
            </a:r>
            <a:r>
              <a:rPr sz="2800" spc="5" dirty="0">
                <a:latin typeface="Arial"/>
                <a:cs typeface="Arial"/>
              </a:rPr>
              <a:t>all </a:t>
            </a:r>
            <a:r>
              <a:rPr sz="2800" spc="-25" dirty="0">
                <a:latin typeface="Arial"/>
                <a:cs typeface="Arial"/>
              </a:rPr>
              <a:t>arrive, </a:t>
            </a:r>
            <a:r>
              <a:rPr sz="2800" spc="-40" dirty="0">
                <a:latin typeface="Arial"/>
                <a:cs typeface="Arial"/>
              </a:rPr>
              <a:t>no</a:t>
            </a:r>
            <a:r>
              <a:rPr sz="2800" spc="-160" dirty="0">
                <a:latin typeface="Arial"/>
                <a:cs typeface="Arial"/>
              </a:rPr>
              <a:t> </a:t>
            </a:r>
            <a:r>
              <a:rPr sz="2800" spc="-60" dirty="0">
                <a:latin typeface="Arial"/>
                <a:cs typeface="Arial"/>
              </a:rPr>
              <a:t>duplicates)</a:t>
            </a:r>
            <a:endParaRPr sz="2800" dirty="0">
              <a:latin typeface="Arial"/>
              <a:cs typeface="Arial"/>
            </a:endParaRPr>
          </a:p>
          <a:p>
            <a:pPr marL="1035050" lvl="2" indent="-351155">
              <a:buClr>
                <a:srgbClr val="9A6500"/>
              </a:buClr>
              <a:buSzPct val="66666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2800" spc="-10" dirty="0">
                <a:latin typeface="Arial"/>
                <a:cs typeface="Arial"/>
              </a:rPr>
              <a:t>similar </a:t>
            </a:r>
            <a:r>
              <a:rPr sz="2800" dirty="0">
                <a:latin typeface="Arial"/>
                <a:cs typeface="Arial"/>
              </a:rPr>
              <a:t>to </a:t>
            </a:r>
            <a:r>
              <a:rPr sz="2800" spc="30" dirty="0">
                <a:latin typeface="Arial"/>
                <a:cs typeface="Arial"/>
              </a:rPr>
              <a:t>file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spc="50" dirty="0">
                <a:latin typeface="Arial"/>
                <a:cs typeface="Arial"/>
              </a:rPr>
              <a:t>I/O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50" dirty="0">
                <a:latin typeface="Arial"/>
                <a:cs typeface="Arial"/>
              </a:rPr>
              <a:t>flow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5" dirty="0">
                <a:latin typeface="Arial"/>
                <a:cs typeface="Arial"/>
              </a:rPr>
              <a:t>control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25" dirty="0">
                <a:latin typeface="Arial"/>
                <a:cs typeface="Arial"/>
              </a:rPr>
              <a:t>connection-oriented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5" dirty="0">
                <a:latin typeface="Arial"/>
                <a:cs typeface="Arial"/>
              </a:rPr>
              <a:t>bidirectional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62173" y="261873"/>
            <a:ext cx="279527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85" dirty="0"/>
              <a:t>TCP </a:t>
            </a:r>
            <a:r>
              <a:rPr sz="4200" spc="-200" dirty="0"/>
              <a:t>vs</a:t>
            </a:r>
            <a:r>
              <a:rPr sz="4200" spc="85" dirty="0"/>
              <a:t> </a:t>
            </a:r>
            <a:r>
              <a:rPr sz="4200" spc="-110" dirty="0"/>
              <a:t>UDP</a:t>
            </a:r>
            <a:endParaRPr sz="4200"/>
          </a:p>
        </p:txBody>
      </p:sp>
      <p:sp>
        <p:nvSpPr>
          <p:cNvPr id="4" name="object 4"/>
          <p:cNvSpPr txBox="1"/>
          <p:nvPr/>
        </p:nvSpPr>
        <p:spPr>
          <a:xfrm>
            <a:off x="405130" y="755650"/>
            <a:ext cx="8116570" cy="2666114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355600" marR="5080" indent="-342900"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400" spc="-120" dirty="0">
                <a:latin typeface="Arial"/>
                <a:cs typeface="Arial"/>
              </a:rPr>
              <a:t>TCP </a:t>
            </a:r>
            <a:r>
              <a:rPr sz="2400" spc="-90" dirty="0">
                <a:latin typeface="Arial"/>
                <a:cs typeface="Arial"/>
              </a:rPr>
              <a:t>is </a:t>
            </a:r>
            <a:r>
              <a:rPr sz="2400" spc="-160" dirty="0">
                <a:latin typeface="Arial"/>
                <a:cs typeface="Arial"/>
              </a:rPr>
              <a:t>used </a:t>
            </a:r>
            <a:r>
              <a:rPr sz="2400" spc="25" dirty="0">
                <a:latin typeface="Arial"/>
                <a:cs typeface="Arial"/>
              </a:rPr>
              <a:t>for </a:t>
            </a:r>
            <a:r>
              <a:rPr sz="2400" spc="-120" dirty="0">
                <a:latin typeface="Arial"/>
                <a:cs typeface="Arial"/>
              </a:rPr>
              <a:t>services </a:t>
            </a:r>
            <a:r>
              <a:rPr sz="2400" spc="95" dirty="0">
                <a:latin typeface="Arial"/>
                <a:cs typeface="Arial"/>
              </a:rPr>
              <a:t>with </a:t>
            </a:r>
            <a:r>
              <a:rPr sz="2400" spc="-250" dirty="0">
                <a:latin typeface="Arial"/>
                <a:cs typeface="Arial"/>
              </a:rPr>
              <a:t>a </a:t>
            </a:r>
            <a:r>
              <a:rPr sz="2400" spc="-85" dirty="0">
                <a:latin typeface="Arial"/>
                <a:cs typeface="Arial"/>
              </a:rPr>
              <a:t>large </a:t>
            </a:r>
            <a:r>
              <a:rPr sz="2400" spc="-114" dirty="0">
                <a:latin typeface="Arial"/>
                <a:cs typeface="Arial"/>
              </a:rPr>
              <a:t>data </a:t>
            </a:r>
            <a:r>
              <a:rPr sz="2400" spc="-65" dirty="0">
                <a:latin typeface="Arial"/>
                <a:cs typeface="Arial"/>
              </a:rPr>
              <a:t>capacity, </a:t>
            </a:r>
            <a:r>
              <a:rPr sz="2400" spc="-100" dirty="0">
                <a:latin typeface="Arial"/>
                <a:cs typeface="Arial"/>
              </a:rPr>
              <a:t>and </a:t>
            </a:r>
            <a:r>
              <a:rPr sz="2400" spc="-250" dirty="0">
                <a:latin typeface="Arial"/>
                <a:cs typeface="Arial"/>
              </a:rPr>
              <a:t>a </a:t>
            </a:r>
            <a:r>
              <a:rPr sz="2400" spc="-70" dirty="0">
                <a:latin typeface="Arial"/>
                <a:cs typeface="Arial"/>
              </a:rPr>
              <a:t>persistent  </a:t>
            </a:r>
            <a:r>
              <a:rPr sz="2400" spc="-40" dirty="0">
                <a:latin typeface="Arial"/>
                <a:cs typeface="Arial"/>
              </a:rPr>
              <a:t>connection</a:t>
            </a:r>
            <a:endParaRPr sz="2400" dirty="0">
              <a:latin typeface="Arial"/>
              <a:cs typeface="Arial"/>
            </a:endParaRPr>
          </a:p>
          <a:p>
            <a:pPr marL="355600" marR="480695" indent="-342900"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400" spc="-65" dirty="0">
                <a:latin typeface="Arial"/>
                <a:cs typeface="Arial"/>
              </a:rPr>
              <a:t>UDP </a:t>
            </a:r>
            <a:r>
              <a:rPr sz="2400" spc="-90" dirty="0">
                <a:latin typeface="Arial"/>
                <a:cs typeface="Arial"/>
              </a:rPr>
              <a:t>is </a:t>
            </a:r>
            <a:r>
              <a:rPr sz="2400" spc="-65" dirty="0">
                <a:latin typeface="Arial"/>
                <a:cs typeface="Arial"/>
              </a:rPr>
              <a:t>more </a:t>
            </a:r>
            <a:r>
              <a:rPr sz="2400" spc="-30" dirty="0">
                <a:latin typeface="Arial"/>
                <a:cs typeface="Arial"/>
              </a:rPr>
              <a:t>commonly </a:t>
            </a:r>
            <a:r>
              <a:rPr sz="2400" spc="-160" dirty="0">
                <a:latin typeface="Arial"/>
                <a:cs typeface="Arial"/>
              </a:rPr>
              <a:t>used </a:t>
            </a:r>
            <a:r>
              <a:rPr sz="2400" spc="25" dirty="0">
                <a:latin typeface="Arial"/>
                <a:cs typeface="Arial"/>
              </a:rPr>
              <a:t>for </a:t>
            </a:r>
            <a:r>
              <a:rPr sz="2400" spc="-15" dirty="0">
                <a:latin typeface="Arial"/>
                <a:cs typeface="Arial"/>
              </a:rPr>
              <a:t>quick </a:t>
            </a:r>
            <a:r>
              <a:rPr sz="2400" spc="-65" dirty="0">
                <a:latin typeface="Arial"/>
                <a:cs typeface="Arial"/>
              </a:rPr>
              <a:t>lookups, </a:t>
            </a:r>
            <a:r>
              <a:rPr sz="2400" spc="-100" dirty="0">
                <a:latin typeface="Arial"/>
                <a:cs typeface="Arial"/>
              </a:rPr>
              <a:t>and </a:t>
            </a:r>
            <a:r>
              <a:rPr sz="2400" spc="-70" dirty="0">
                <a:latin typeface="Arial"/>
                <a:cs typeface="Arial"/>
              </a:rPr>
              <a:t>single </a:t>
            </a:r>
            <a:r>
              <a:rPr sz="2400" spc="-190" dirty="0">
                <a:latin typeface="Arial"/>
                <a:cs typeface="Arial"/>
              </a:rPr>
              <a:t>use  </a:t>
            </a:r>
            <a:r>
              <a:rPr sz="2400" spc="-15" dirty="0">
                <a:latin typeface="Arial"/>
                <a:cs typeface="Arial"/>
              </a:rPr>
              <a:t>query-reply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actions.</a:t>
            </a:r>
            <a:endParaRPr sz="2400" dirty="0">
              <a:latin typeface="Arial"/>
              <a:cs typeface="Arial"/>
            </a:endParaRPr>
          </a:p>
          <a:p>
            <a:pPr>
              <a:buClr>
                <a:srgbClr val="9A6500"/>
              </a:buClr>
              <a:buFont typeface="Wingdings"/>
              <a:buChar char=""/>
            </a:pPr>
            <a:endParaRPr sz="2400" dirty="0">
              <a:latin typeface="Times New Roman"/>
              <a:cs typeface="Times New Roman"/>
            </a:endParaRPr>
          </a:p>
          <a:p>
            <a:pPr marL="355600" indent="-342900"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400" spc="-195" dirty="0">
                <a:latin typeface="Arial"/>
                <a:cs typeface="Arial"/>
              </a:rPr>
              <a:t>Some </a:t>
            </a:r>
            <a:r>
              <a:rPr sz="2400" spc="-65" dirty="0">
                <a:latin typeface="Arial"/>
                <a:cs typeface="Arial"/>
              </a:rPr>
              <a:t>common </a:t>
            </a:r>
            <a:r>
              <a:rPr sz="2400" spc="-130" dirty="0">
                <a:latin typeface="Arial"/>
                <a:cs typeface="Arial"/>
              </a:rPr>
              <a:t>examples </a:t>
            </a:r>
            <a:r>
              <a:rPr sz="2400" spc="-15" dirty="0">
                <a:latin typeface="Arial"/>
                <a:cs typeface="Arial"/>
              </a:rPr>
              <a:t>of </a:t>
            </a:r>
            <a:r>
              <a:rPr sz="2400" spc="-125" dirty="0">
                <a:latin typeface="Arial"/>
                <a:cs typeface="Arial"/>
              </a:rPr>
              <a:t>TCP </a:t>
            </a:r>
            <a:r>
              <a:rPr sz="2400" spc="-105" dirty="0">
                <a:latin typeface="Arial"/>
                <a:cs typeface="Arial"/>
              </a:rPr>
              <a:t>and </a:t>
            </a:r>
            <a:r>
              <a:rPr sz="2400" spc="-65" dirty="0">
                <a:latin typeface="Arial"/>
                <a:cs typeface="Arial"/>
              </a:rPr>
              <a:t>UDP </a:t>
            </a:r>
            <a:r>
              <a:rPr sz="2400" spc="95" dirty="0">
                <a:latin typeface="Arial"/>
                <a:cs typeface="Arial"/>
              </a:rPr>
              <a:t>with </a:t>
            </a:r>
            <a:r>
              <a:rPr sz="2400" spc="30" dirty="0">
                <a:latin typeface="Arial"/>
                <a:cs typeface="Arial"/>
              </a:rPr>
              <a:t>their </a:t>
            </a:r>
            <a:r>
              <a:rPr sz="2400" spc="-35" dirty="0">
                <a:latin typeface="Arial"/>
                <a:cs typeface="Arial"/>
              </a:rPr>
              <a:t>default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ports: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8672" y="3497357"/>
            <a:ext cx="4077335" cy="1624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  <a:tabLst>
                <a:tab pos="2742565" algn="l"/>
                <a:tab pos="3657600" algn="l"/>
              </a:tabLst>
            </a:pPr>
            <a:r>
              <a:rPr sz="2200" spc="-135" dirty="0">
                <a:latin typeface="Arial"/>
                <a:cs typeface="Arial"/>
              </a:rPr>
              <a:t>DNS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lookup	</a:t>
            </a:r>
            <a:r>
              <a:rPr sz="2200" spc="-65" dirty="0">
                <a:latin typeface="Arial"/>
                <a:cs typeface="Arial"/>
              </a:rPr>
              <a:t>UDP	</a:t>
            </a:r>
            <a:r>
              <a:rPr sz="2200" spc="-125" dirty="0">
                <a:latin typeface="Arial"/>
                <a:cs typeface="Arial"/>
              </a:rPr>
              <a:t>53</a:t>
            </a:r>
            <a:endParaRPr sz="2200">
              <a:latin typeface="Arial"/>
              <a:cs typeface="Arial"/>
            </a:endParaRPr>
          </a:p>
          <a:p>
            <a:pPr>
              <a:lnSpc>
                <a:spcPts val="2635"/>
              </a:lnSpc>
              <a:tabLst>
                <a:tab pos="2743200" algn="l"/>
                <a:tab pos="3657600" algn="l"/>
              </a:tabLst>
            </a:pPr>
            <a:r>
              <a:rPr sz="2200" spc="-120" dirty="0">
                <a:latin typeface="Arial"/>
                <a:cs typeface="Arial"/>
              </a:rPr>
              <a:t>FTP	TCP	</a:t>
            </a:r>
            <a:r>
              <a:rPr sz="2200" spc="-130" dirty="0">
                <a:latin typeface="Arial"/>
                <a:cs typeface="Arial"/>
              </a:rPr>
              <a:t>21</a:t>
            </a:r>
            <a:endParaRPr sz="2200">
              <a:latin typeface="Arial"/>
              <a:cs typeface="Arial"/>
            </a:endParaRPr>
          </a:p>
          <a:p>
            <a:pPr>
              <a:lnSpc>
                <a:spcPts val="2635"/>
              </a:lnSpc>
              <a:tabLst>
                <a:tab pos="2742565" algn="l"/>
                <a:tab pos="3656965" algn="l"/>
              </a:tabLst>
            </a:pPr>
            <a:r>
              <a:rPr sz="2200" spc="-35" dirty="0">
                <a:latin typeface="Arial"/>
                <a:cs typeface="Arial"/>
              </a:rPr>
              <a:t>HTTP	</a:t>
            </a:r>
            <a:r>
              <a:rPr sz="2200" spc="-120" dirty="0">
                <a:latin typeface="Arial"/>
                <a:cs typeface="Arial"/>
              </a:rPr>
              <a:t>TCP	</a:t>
            </a:r>
            <a:r>
              <a:rPr sz="2200" spc="-125" dirty="0">
                <a:latin typeface="Arial"/>
                <a:cs typeface="Arial"/>
              </a:rPr>
              <a:t>80</a:t>
            </a:r>
            <a:endParaRPr sz="2200">
              <a:latin typeface="Arial"/>
              <a:cs typeface="Arial"/>
            </a:endParaRPr>
          </a:p>
          <a:p>
            <a:pPr>
              <a:lnSpc>
                <a:spcPts val="2635"/>
              </a:lnSpc>
              <a:tabLst>
                <a:tab pos="2743200" algn="l"/>
                <a:tab pos="3656965" algn="l"/>
              </a:tabLst>
            </a:pPr>
            <a:r>
              <a:rPr sz="2200" spc="-140" dirty="0">
                <a:latin typeface="Arial"/>
                <a:cs typeface="Arial"/>
              </a:rPr>
              <a:t>POP</a:t>
            </a:r>
            <a:r>
              <a:rPr sz="2200" spc="-110" dirty="0">
                <a:latin typeface="Arial"/>
                <a:cs typeface="Arial"/>
              </a:rPr>
              <a:t>3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25" dirty="0">
                <a:latin typeface="Arial"/>
                <a:cs typeface="Arial"/>
              </a:rPr>
              <a:t>TC</a:t>
            </a:r>
            <a:r>
              <a:rPr sz="2200" spc="-120" dirty="0">
                <a:latin typeface="Arial"/>
                <a:cs typeface="Arial"/>
              </a:rPr>
              <a:t>P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25" dirty="0">
                <a:latin typeface="Arial"/>
                <a:cs typeface="Arial"/>
              </a:rPr>
              <a:t>1</a:t>
            </a:r>
            <a:r>
              <a:rPr sz="2200" spc="-130" dirty="0">
                <a:latin typeface="Arial"/>
                <a:cs typeface="Arial"/>
              </a:rPr>
              <a:t>10</a:t>
            </a:r>
            <a:endParaRPr sz="2200">
              <a:latin typeface="Arial"/>
              <a:cs typeface="Arial"/>
            </a:endParaRPr>
          </a:p>
          <a:p>
            <a:pPr>
              <a:lnSpc>
                <a:spcPts val="2635"/>
              </a:lnSpc>
              <a:tabLst>
                <a:tab pos="2742565" algn="l"/>
                <a:tab pos="3656965" algn="l"/>
              </a:tabLst>
            </a:pPr>
            <a:r>
              <a:rPr sz="2200" spc="-35" dirty="0">
                <a:latin typeface="Arial"/>
                <a:cs typeface="Arial"/>
              </a:rPr>
              <a:t>Telnet	</a:t>
            </a:r>
            <a:r>
              <a:rPr sz="2200" spc="-120" dirty="0">
                <a:latin typeface="Arial"/>
                <a:cs typeface="Arial"/>
              </a:rPr>
              <a:t>TCP	</a:t>
            </a:r>
            <a:r>
              <a:rPr sz="2200" spc="-125" dirty="0">
                <a:latin typeface="Arial"/>
                <a:cs typeface="Arial"/>
              </a:rPr>
              <a:t>23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06639" y="3346196"/>
            <a:ext cx="4592955" cy="1902460"/>
          </a:xfrm>
          <a:custGeom>
            <a:avLst/>
            <a:gdLst/>
            <a:ahLst/>
            <a:cxnLst/>
            <a:rect l="l" t="t" r="r" b="b"/>
            <a:pathLst>
              <a:path w="4592955" h="1902460">
                <a:moveTo>
                  <a:pt x="0" y="0"/>
                </a:moveTo>
                <a:lnTo>
                  <a:pt x="0" y="1901952"/>
                </a:lnTo>
                <a:lnTo>
                  <a:pt x="4592573" y="1901952"/>
                </a:lnTo>
                <a:lnTo>
                  <a:pt x="4592573" y="0"/>
                </a:lnTo>
                <a:lnTo>
                  <a:pt x="0" y="0"/>
                </a:lnTo>
                <a:close/>
              </a:path>
            </a:pathLst>
          </a:custGeom>
          <a:solidFill>
            <a:srgbClr val="CC9900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20619" y="261873"/>
            <a:ext cx="327977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70" dirty="0"/>
              <a:t>Berkley</a:t>
            </a:r>
            <a:r>
              <a:rPr sz="4200" spc="-30" dirty="0"/>
              <a:t> </a:t>
            </a:r>
            <a:r>
              <a:rPr sz="4200" spc="-245" dirty="0"/>
              <a:t>Sockets</a:t>
            </a:r>
            <a:endParaRPr sz="4200"/>
          </a:p>
        </p:txBody>
      </p:sp>
      <p:sp>
        <p:nvSpPr>
          <p:cNvPr id="4" name="object 4"/>
          <p:cNvSpPr txBox="1"/>
          <p:nvPr/>
        </p:nvSpPr>
        <p:spPr>
          <a:xfrm>
            <a:off x="401452" y="1184656"/>
            <a:ext cx="5605647" cy="2736647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55600" indent="-342900">
              <a:buClr>
                <a:srgbClr val="9A6500"/>
              </a:buClr>
              <a:buSzPct val="6666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400" spc="-20" dirty="0">
                <a:latin typeface="Arial"/>
                <a:cs typeface="Arial"/>
              </a:rPr>
              <a:t>Universally </a:t>
            </a:r>
            <a:r>
              <a:rPr sz="2400" spc="20" dirty="0">
                <a:latin typeface="Arial"/>
                <a:cs typeface="Arial"/>
              </a:rPr>
              <a:t>known </a:t>
            </a:r>
            <a:r>
              <a:rPr sz="2400" spc="-310" dirty="0">
                <a:latin typeface="Arial"/>
                <a:cs typeface="Arial"/>
              </a:rPr>
              <a:t>as</a:t>
            </a:r>
            <a:r>
              <a:rPr sz="2400" spc="-200" dirty="0">
                <a:latin typeface="Arial"/>
                <a:cs typeface="Arial"/>
              </a:rPr>
              <a:t> </a:t>
            </a:r>
            <a:r>
              <a:rPr sz="2400" b="1" spc="-250" dirty="0">
                <a:solidFill>
                  <a:srgbClr val="CC9A00"/>
                </a:solidFill>
                <a:latin typeface="Arial"/>
                <a:cs typeface="Arial"/>
              </a:rPr>
              <a:t>Sockets</a:t>
            </a:r>
            <a:endParaRPr sz="2400" dirty="0">
              <a:latin typeface="Arial"/>
              <a:cs typeface="Arial"/>
            </a:endParaRPr>
          </a:p>
          <a:p>
            <a:pPr marL="355600" marR="5080" indent="-342900">
              <a:buClr>
                <a:srgbClr val="9A6500"/>
              </a:buClr>
              <a:buSzPct val="6666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400" spc="150" dirty="0">
                <a:latin typeface="Arial"/>
                <a:cs typeface="Arial"/>
              </a:rPr>
              <a:t>It </a:t>
            </a:r>
            <a:r>
              <a:rPr sz="2400" spc="-95" dirty="0">
                <a:latin typeface="Arial"/>
                <a:cs typeface="Arial"/>
              </a:rPr>
              <a:t>is </a:t>
            </a:r>
            <a:r>
              <a:rPr sz="2400" spc="-125" dirty="0">
                <a:latin typeface="Arial"/>
                <a:cs typeface="Arial"/>
              </a:rPr>
              <a:t>an </a:t>
            </a:r>
            <a:r>
              <a:rPr sz="2400" spc="-60" dirty="0">
                <a:latin typeface="Arial"/>
                <a:cs typeface="Arial"/>
              </a:rPr>
              <a:t>abstraction </a:t>
            </a:r>
            <a:r>
              <a:rPr sz="2400" spc="-5" dirty="0">
                <a:latin typeface="Arial"/>
                <a:cs typeface="Arial"/>
              </a:rPr>
              <a:t>through </a:t>
            </a:r>
            <a:r>
              <a:rPr sz="2400" spc="40" dirty="0">
                <a:latin typeface="Arial"/>
                <a:cs typeface="Arial"/>
              </a:rPr>
              <a:t>which </a:t>
            </a:r>
            <a:r>
              <a:rPr sz="2400" spc="-125" dirty="0">
                <a:latin typeface="Arial"/>
                <a:cs typeface="Arial"/>
              </a:rPr>
              <a:t>an  </a:t>
            </a:r>
            <a:r>
              <a:rPr sz="2400" spc="-35" dirty="0">
                <a:latin typeface="Arial"/>
                <a:cs typeface="Arial"/>
              </a:rPr>
              <a:t>application </a:t>
            </a:r>
            <a:r>
              <a:rPr sz="2400" spc="-90" dirty="0">
                <a:latin typeface="Arial"/>
                <a:cs typeface="Arial"/>
              </a:rPr>
              <a:t>may </a:t>
            </a:r>
            <a:r>
              <a:rPr sz="2400" spc="-155" dirty="0">
                <a:latin typeface="Arial"/>
                <a:cs typeface="Arial"/>
              </a:rPr>
              <a:t>send </a:t>
            </a:r>
            <a:r>
              <a:rPr sz="2400" spc="-110" dirty="0">
                <a:latin typeface="Arial"/>
                <a:cs typeface="Arial"/>
              </a:rPr>
              <a:t>and </a:t>
            </a:r>
            <a:r>
              <a:rPr sz="2400" spc="-80" dirty="0">
                <a:latin typeface="Arial"/>
                <a:cs typeface="Arial"/>
              </a:rPr>
              <a:t>receive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data</a:t>
            </a:r>
            <a:endParaRPr sz="2400" dirty="0">
              <a:latin typeface="Arial"/>
              <a:cs typeface="Arial"/>
            </a:endParaRPr>
          </a:p>
          <a:p>
            <a:pPr marL="355600" marR="37465" indent="-342900">
              <a:buClr>
                <a:srgbClr val="9A6500"/>
              </a:buClr>
              <a:buSzPct val="6666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400" spc="-45" dirty="0">
                <a:latin typeface="Arial"/>
                <a:cs typeface="Arial"/>
              </a:rPr>
              <a:t>Provide </a:t>
            </a:r>
            <a:r>
              <a:rPr sz="2400" b="1" spc="-170" dirty="0">
                <a:solidFill>
                  <a:srgbClr val="CA6800"/>
                </a:solidFill>
                <a:latin typeface="Arial"/>
                <a:cs typeface="Arial"/>
              </a:rPr>
              <a:t>generic </a:t>
            </a:r>
            <a:r>
              <a:rPr sz="2400" b="1" spc="-335" dirty="0">
                <a:solidFill>
                  <a:srgbClr val="CA6800"/>
                </a:solidFill>
                <a:latin typeface="Arial"/>
                <a:cs typeface="Arial"/>
              </a:rPr>
              <a:t>access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80" dirty="0">
                <a:latin typeface="Arial"/>
                <a:cs typeface="Arial"/>
              </a:rPr>
              <a:t>interprocess  </a:t>
            </a:r>
            <a:r>
              <a:rPr sz="2400" spc="-30" dirty="0">
                <a:latin typeface="Arial"/>
                <a:cs typeface="Arial"/>
              </a:rPr>
              <a:t>communication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services</a:t>
            </a:r>
            <a:endParaRPr sz="2400" dirty="0">
              <a:latin typeface="Arial"/>
              <a:cs typeface="Arial"/>
            </a:endParaRPr>
          </a:p>
          <a:p>
            <a:pPr marL="681990" lvl="1" indent="-325120"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500" spc="-150" dirty="0">
                <a:latin typeface="Arial"/>
                <a:cs typeface="Arial"/>
              </a:rPr>
              <a:t>e.g. </a:t>
            </a:r>
            <a:r>
              <a:rPr sz="2500" spc="-95" dirty="0">
                <a:latin typeface="Arial"/>
                <a:cs typeface="Arial"/>
              </a:rPr>
              <a:t>IPX/SPX, </a:t>
            </a:r>
            <a:r>
              <a:rPr sz="2500" spc="-20" dirty="0">
                <a:latin typeface="Arial"/>
                <a:cs typeface="Arial"/>
              </a:rPr>
              <a:t>Appletalk,</a:t>
            </a:r>
            <a:r>
              <a:rPr sz="2500" spc="-5" dirty="0">
                <a:latin typeface="Arial"/>
                <a:cs typeface="Arial"/>
              </a:rPr>
              <a:t> </a:t>
            </a:r>
            <a:r>
              <a:rPr sz="2500" spc="-60" dirty="0">
                <a:latin typeface="Arial"/>
                <a:cs typeface="Arial"/>
              </a:rPr>
              <a:t>TCP/IP</a:t>
            </a:r>
            <a:endParaRPr sz="2500" dirty="0">
              <a:latin typeface="Arial"/>
              <a:cs typeface="Arial"/>
            </a:endParaRPr>
          </a:p>
          <a:p>
            <a:pPr marL="355600" indent="-342900">
              <a:buClr>
                <a:srgbClr val="9A6500"/>
              </a:buClr>
              <a:buSzPct val="6666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400" spc="-110" dirty="0">
                <a:latin typeface="Arial"/>
                <a:cs typeface="Arial"/>
              </a:rPr>
              <a:t>Standard </a:t>
            </a:r>
            <a:r>
              <a:rPr sz="2400" spc="30" dirty="0">
                <a:latin typeface="Arial"/>
                <a:cs typeface="Arial"/>
              </a:rPr>
              <a:t>API for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networking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14193" y="1505966"/>
            <a:ext cx="2117323" cy="20448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97445" y="4003802"/>
            <a:ext cx="1397000" cy="1901189"/>
          </a:xfrm>
          <a:custGeom>
            <a:avLst/>
            <a:gdLst/>
            <a:ahLst/>
            <a:cxnLst/>
            <a:rect l="l" t="t" r="r" b="b"/>
            <a:pathLst>
              <a:path w="1397000" h="1901189">
                <a:moveTo>
                  <a:pt x="0" y="0"/>
                </a:moveTo>
                <a:lnTo>
                  <a:pt x="0" y="1901189"/>
                </a:lnTo>
                <a:lnTo>
                  <a:pt x="1396746" y="1901189"/>
                </a:lnTo>
                <a:lnTo>
                  <a:pt x="1396746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96683" y="4003040"/>
            <a:ext cx="1397635" cy="1902460"/>
          </a:xfrm>
          <a:custGeom>
            <a:avLst/>
            <a:gdLst/>
            <a:ahLst/>
            <a:cxnLst/>
            <a:rect l="l" t="t" r="r" b="b"/>
            <a:pathLst>
              <a:path w="1397635" h="1902460">
                <a:moveTo>
                  <a:pt x="0" y="0"/>
                </a:moveTo>
                <a:lnTo>
                  <a:pt x="0" y="1901952"/>
                </a:lnTo>
                <a:lnTo>
                  <a:pt x="1397508" y="1901952"/>
                </a:lnTo>
                <a:lnTo>
                  <a:pt x="1397508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38707" y="5918200"/>
            <a:ext cx="37401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95" dirty="0">
                <a:latin typeface="Arial"/>
                <a:cs typeface="Arial"/>
              </a:rPr>
              <a:t>Host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22413" y="4103623"/>
            <a:ext cx="1178560" cy="356870"/>
          </a:xfrm>
          <a:custGeom>
            <a:avLst/>
            <a:gdLst/>
            <a:ahLst/>
            <a:cxnLst/>
            <a:rect l="l" t="t" r="r" b="b"/>
            <a:pathLst>
              <a:path w="1178560" h="356870">
                <a:moveTo>
                  <a:pt x="1178052" y="178308"/>
                </a:moveTo>
                <a:lnTo>
                  <a:pt x="1162498" y="137479"/>
                </a:lnTo>
                <a:lnTo>
                  <a:pt x="1118193" y="99970"/>
                </a:lnTo>
                <a:lnTo>
                  <a:pt x="1048669" y="66860"/>
                </a:lnTo>
                <a:lnTo>
                  <a:pt x="1005554" y="52292"/>
                </a:lnTo>
                <a:lnTo>
                  <a:pt x="957458" y="39228"/>
                </a:lnTo>
                <a:lnTo>
                  <a:pt x="904824" y="27804"/>
                </a:lnTo>
                <a:lnTo>
                  <a:pt x="848092" y="18154"/>
                </a:lnTo>
                <a:lnTo>
                  <a:pt x="787705" y="10414"/>
                </a:lnTo>
                <a:lnTo>
                  <a:pt x="724104" y="4718"/>
                </a:lnTo>
                <a:lnTo>
                  <a:pt x="657730" y="1202"/>
                </a:lnTo>
                <a:lnTo>
                  <a:pt x="589026" y="0"/>
                </a:lnTo>
                <a:lnTo>
                  <a:pt x="520321" y="1202"/>
                </a:lnTo>
                <a:lnTo>
                  <a:pt x="453947" y="4718"/>
                </a:lnTo>
                <a:lnTo>
                  <a:pt x="390346" y="10414"/>
                </a:lnTo>
                <a:lnTo>
                  <a:pt x="329959" y="18154"/>
                </a:lnTo>
                <a:lnTo>
                  <a:pt x="273227" y="27804"/>
                </a:lnTo>
                <a:lnTo>
                  <a:pt x="220593" y="39228"/>
                </a:lnTo>
                <a:lnTo>
                  <a:pt x="172497" y="52292"/>
                </a:lnTo>
                <a:lnTo>
                  <a:pt x="129382" y="66860"/>
                </a:lnTo>
                <a:lnTo>
                  <a:pt x="91688" y="82798"/>
                </a:lnTo>
                <a:lnTo>
                  <a:pt x="34332" y="118243"/>
                </a:lnTo>
                <a:lnTo>
                  <a:pt x="3961" y="157546"/>
                </a:lnTo>
                <a:lnTo>
                  <a:pt x="0" y="178308"/>
                </a:lnTo>
                <a:lnTo>
                  <a:pt x="3961" y="199210"/>
                </a:lnTo>
                <a:lnTo>
                  <a:pt x="34332" y="238675"/>
                </a:lnTo>
                <a:lnTo>
                  <a:pt x="91688" y="274155"/>
                </a:lnTo>
                <a:lnTo>
                  <a:pt x="129382" y="290075"/>
                </a:lnTo>
                <a:lnTo>
                  <a:pt x="172497" y="304609"/>
                </a:lnTo>
                <a:lnTo>
                  <a:pt x="220593" y="317627"/>
                </a:lnTo>
                <a:lnTo>
                  <a:pt x="273227" y="328999"/>
                </a:lnTo>
                <a:lnTo>
                  <a:pt x="329959" y="338594"/>
                </a:lnTo>
                <a:lnTo>
                  <a:pt x="390346" y="346284"/>
                </a:lnTo>
                <a:lnTo>
                  <a:pt x="453947" y="351937"/>
                </a:lnTo>
                <a:lnTo>
                  <a:pt x="520321" y="355424"/>
                </a:lnTo>
                <a:lnTo>
                  <a:pt x="589026" y="356615"/>
                </a:lnTo>
                <a:lnTo>
                  <a:pt x="657730" y="355424"/>
                </a:lnTo>
                <a:lnTo>
                  <a:pt x="724104" y="351937"/>
                </a:lnTo>
                <a:lnTo>
                  <a:pt x="787705" y="346284"/>
                </a:lnTo>
                <a:lnTo>
                  <a:pt x="848092" y="338594"/>
                </a:lnTo>
                <a:lnTo>
                  <a:pt x="904824" y="328999"/>
                </a:lnTo>
                <a:lnTo>
                  <a:pt x="957458" y="317627"/>
                </a:lnTo>
                <a:lnTo>
                  <a:pt x="1005554" y="304609"/>
                </a:lnTo>
                <a:lnTo>
                  <a:pt x="1048669" y="290075"/>
                </a:lnTo>
                <a:lnTo>
                  <a:pt x="1086363" y="274155"/>
                </a:lnTo>
                <a:lnTo>
                  <a:pt x="1143719" y="238675"/>
                </a:lnTo>
                <a:lnTo>
                  <a:pt x="1174090" y="199210"/>
                </a:lnTo>
                <a:lnTo>
                  <a:pt x="1178052" y="178308"/>
                </a:lnTo>
                <a:close/>
              </a:path>
            </a:pathLst>
          </a:custGeom>
          <a:solidFill>
            <a:srgbClr val="3B812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2413" y="4103623"/>
            <a:ext cx="1178560" cy="356870"/>
          </a:xfrm>
          <a:custGeom>
            <a:avLst/>
            <a:gdLst/>
            <a:ahLst/>
            <a:cxnLst/>
            <a:rect l="l" t="t" r="r" b="b"/>
            <a:pathLst>
              <a:path w="1178560" h="356870">
                <a:moveTo>
                  <a:pt x="589026" y="0"/>
                </a:moveTo>
                <a:lnTo>
                  <a:pt x="520321" y="1202"/>
                </a:lnTo>
                <a:lnTo>
                  <a:pt x="453947" y="4718"/>
                </a:lnTo>
                <a:lnTo>
                  <a:pt x="390346" y="10414"/>
                </a:lnTo>
                <a:lnTo>
                  <a:pt x="329959" y="18154"/>
                </a:lnTo>
                <a:lnTo>
                  <a:pt x="273227" y="27804"/>
                </a:lnTo>
                <a:lnTo>
                  <a:pt x="220593" y="39228"/>
                </a:lnTo>
                <a:lnTo>
                  <a:pt x="172497" y="52292"/>
                </a:lnTo>
                <a:lnTo>
                  <a:pt x="129382" y="66860"/>
                </a:lnTo>
                <a:lnTo>
                  <a:pt x="91688" y="82798"/>
                </a:lnTo>
                <a:lnTo>
                  <a:pt x="34332" y="118243"/>
                </a:lnTo>
                <a:lnTo>
                  <a:pt x="3961" y="157546"/>
                </a:lnTo>
                <a:lnTo>
                  <a:pt x="0" y="178308"/>
                </a:lnTo>
                <a:lnTo>
                  <a:pt x="3961" y="199210"/>
                </a:lnTo>
                <a:lnTo>
                  <a:pt x="34332" y="238675"/>
                </a:lnTo>
                <a:lnTo>
                  <a:pt x="91688" y="274155"/>
                </a:lnTo>
                <a:lnTo>
                  <a:pt x="129382" y="290075"/>
                </a:lnTo>
                <a:lnTo>
                  <a:pt x="172497" y="304609"/>
                </a:lnTo>
                <a:lnTo>
                  <a:pt x="220593" y="317627"/>
                </a:lnTo>
                <a:lnTo>
                  <a:pt x="273227" y="328999"/>
                </a:lnTo>
                <a:lnTo>
                  <a:pt x="329959" y="338594"/>
                </a:lnTo>
                <a:lnTo>
                  <a:pt x="390346" y="346284"/>
                </a:lnTo>
                <a:lnTo>
                  <a:pt x="453947" y="351937"/>
                </a:lnTo>
                <a:lnTo>
                  <a:pt x="520321" y="355424"/>
                </a:lnTo>
                <a:lnTo>
                  <a:pt x="589026" y="356615"/>
                </a:lnTo>
                <a:lnTo>
                  <a:pt x="657730" y="355424"/>
                </a:lnTo>
                <a:lnTo>
                  <a:pt x="724104" y="351937"/>
                </a:lnTo>
                <a:lnTo>
                  <a:pt x="787705" y="346284"/>
                </a:lnTo>
                <a:lnTo>
                  <a:pt x="848092" y="338594"/>
                </a:lnTo>
                <a:lnTo>
                  <a:pt x="904824" y="328999"/>
                </a:lnTo>
                <a:lnTo>
                  <a:pt x="957458" y="317627"/>
                </a:lnTo>
                <a:lnTo>
                  <a:pt x="1005554" y="304609"/>
                </a:lnTo>
                <a:lnTo>
                  <a:pt x="1048669" y="290075"/>
                </a:lnTo>
                <a:lnTo>
                  <a:pt x="1086363" y="274155"/>
                </a:lnTo>
                <a:lnTo>
                  <a:pt x="1143719" y="238675"/>
                </a:lnTo>
                <a:lnTo>
                  <a:pt x="1174090" y="199210"/>
                </a:lnTo>
                <a:lnTo>
                  <a:pt x="1178052" y="178308"/>
                </a:lnTo>
                <a:lnTo>
                  <a:pt x="1174090" y="157546"/>
                </a:lnTo>
                <a:lnTo>
                  <a:pt x="1143719" y="118243"/>
                </a:lnTo>
                <a:lnTo>
                  <a:pt x="1086363" y="82798"/>
                </a:lnTo>
                <a:lnTo>
                  <a:pt x="1048669" y="66860"/>
                </a:lnTo>
                <a:lnTo>
                  <a:pt x="1005554" y="52292"/>
                </a:lnTo>
                <a:lnTo>
                  <a:pt x="957458" y="39228"/>
                </a:lnTo>
                <a:lnTo>
                  <a:pt x="904824" y="27804"/>
                </a:lnTo>
                <a:lnTo>
                  <a:pt x="848092" y="18154"/>
                </a:lnTo>
                <a:lnTo>
                  <a:pt x="787705" y="10414"/>
                </a:lnTo>
                <a:lnTo>
                  <a:pt x="724104" y="4718"/>
                </a:lnTo>
                <a:lnTo>
                  <a:pt x="657730" y="1202"/>
                </a:lnTo>
                <a:lnTo>
                  <a:pt x="589026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78115" y="4146550"/>
            <a:ext cx="90106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70" dirty="0">
                <a:latin typeface="Arial"/>
                <a:cs typeface="Arial"/>
              </a:rPr>
              <a:t>Application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60691" y="4681220"/>
            <a:ext cx="1292860" cy="273050"/>
          </a:xfrm>
          <a:custGeom>
            <a:avLst/>
            <a:gdLst/>
            <a:ahLst/>
            <a:cxnLst/>
            <a:rect l="l" t="t" r="r" b="b"/>
            <a:pathLst>
              <a:path w="1292860" h="273050">
                <a:moveTo>
                  <a:pt x="1292352" y="227837"/>
                </a:moveTo>
                <a:lnTo>
                  <a:pt x="1292352" y="45719"/>
                </a:lnTo>
                <a:lnTo>
                  <a:pt x="1288744" y="27967"/>
                </a:lnTo>
                <a:lnTo>
                  <a:pt x="1278921" y="13430"/>
                </a:lnTo>
                <a:lnTo>
                  <a:pt x="1264384" y="3607"/>
                </a:lnTo>
                <a:lnTo>
                  <a:pt x="1246632" y="0"/>
                </a:lnTo>
                <a:lnTo>
                  <a:pt x="45720" y="0"/>
                </a:lnTo>
                <a:lnTo>
                  <a:pt x="27967" y="3607"/>
                </a:lnTo>
                <a:lnTo>
                  <a:pt x="13430" y="13430"/>
                </a:lnTo>
                <a:lnTo>
                  <a:pt x="3607" y="27967"/>
                </a:lnTo>
                <a:lnTo>
                  <a:pt x="0" y="45719"/>
                </a:lnTo>
                <a:lnTo>
                  <a:pt x="0" y="227837"/>
                </a:lnTo>
                <a:lnTo>
                  <a:pt x="3607" y="245471"/>
                </a:lnTo>
                <a:lnTo>
                  <a:pt x="13430" y="259746"/>
                </a:lnTo>
                <a:lnTo>
                  <a:pt x="27967" y="269307"/>
                </a:lnTo>
                <a:lnTo>
                  <a:pt x="45720" y="272795"/>
                </a:lnTo>
                <a:lnTo>
                  <a:pt x="1246632" y="272795"/>
                </a:lnTo>
                <a:lnTo>
                  <a:pt x="1264384" y="269307"/>
                </a:lnTo>
                <a:lnTo>
                  <a:pt x="1278921" y="259746"/>
                </a:lnTo>
                <a:lnTo>
                  <a:pt x="1288744" y="245471"/>
                </a:lnTo>
                <a:lnTo>
                  <a:pt x="1292352" y="227837"/>
                </a:lnTo>
                <a:close/>
              </a:path>
            </a:pathLst>
          </a:custGeom>
          <a:solidFill>
            <a:srgbClr val="A5002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60691" y="4681220"/>
            <a:ext cx="1292860" cy="273050"/>
          </a:xfrm>
          <a:custGeom>
            <a:avLst/>
            <a:gdLst/>
            <a:ahLst/>
            <a:cxnLst/>
            <a:rect l="l" t="t" r="r" b="b"/>
            <a:pathLst>
              <a:path w="1292860" h="273050">
                <a:moveTo>
                  <a:pt x="45720" y="0"/>
                </a:moveTo>
                <a:lnTo>
                  <a:pt x="27967" y="3607"/>
                </a:lnTo>
                <a:lnTo>
                  <a:pt x="13430" y="13430"/>
                </a:lnTo>
                <a:lnTo>
                  <a:pt x="3607" y="27967"/>
                </a:lnTo>
                <a:lnTo>
                  <a:pt x="0" y="45719"/>
                </a:lnTo>
                <a:lnTo>
                  <a:pt x="0" y="227837"/>
                </a:lnTo>
                <a:lnTo>
                  <a:pt x="3607" y="245471"/>
                </a:lnTo>
                <a:lnTo>
                  <a:pt x="13430" y="259746"/>
                </a:lnTo>
                <a:lnTo>
                  <a:pt x="27967" y="269307"/>
                </a:lnTo>
                <a:lnTo>
                  <a:pt x="45720" y="272795"/>
                </a:lnTo>
                <a:lnTo>
                  <a:pt x="1246632" y="272795"/>
                </a:lnTo>
                <a:lnTo>
                  <a:pt x="1264384" y="269307"/>
                </a:lnTo>
                <a:lnTo>
                  <a:pt x="1278921" y="259746"/>
                </a:lnTo>
                <a:lnTo>
                  <a:pt x="1288744" y="245471"/>
                </a:lnTo>
                <a:lnTo>
                  <a:pt x="1292352" y="227837"/>
                </a:lnTo>
                <a:lnTo>
                  <a:pt x="1292352" y="45719"/>
                </a:lnTo>
                <a:lnTo>
                  <a:pt x="1288744" y="27967"/>
                </a:lnTo>
                <a:lnTo>
                  <a:pt x="1278921" y="13430"/>
                </a:lnTo>
                <a:lnTo>
                  <a:pt x="1264384" y="3607"/>
                </a:lnTo>
                <a:lnTo>
                  <a:pt x="1246632" y="0"/>
                </a:lnTo>
                <a:lnTo>
                  <a:pt x="4572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4597" y="4676902"/>
            <a:ext cx="514984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30" dirty="0">
                <a:latin typeface="Arial"/>
                <a:cs typeface="Arial"/>
              </a:rPr>
              <a:t>Socket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66787" y="5043170"/>
            <a:ext cx="1292860" cy="337185"/>
          </a:xfrm>
          <a:custGeom>
            <a:avLst/>
            <a:gdLst/>
            <a:ahLst/>
            <a:cxnLst/>
            <a:rect l="l" t="t" r="r" b="b"/>
            <a:pathLst>
              <a:path w="1292860" h="337185">
                <a:moveTo>
                  <a:pt x="1292352" y="280415"/>
                </a:moveTo>
                <a:lnTo>
                  <a:pt x="1292352" y="56387"/>
                </a:lnTo>
                <a:lnTo>
                  <a:pt x="1287934" y="34397"/>
                </a:lnTo>
                <a:lnTo>
                  <a:pt x="1275873" y="16478"/>
                </a:lnTo>
                <a:lnTo>
                  <a:pt x="1257954" y="4417"/>
                </a:lnTo>
                <a:lnTo>
                  <a:pt x="1235964" y="0"/>
                </a:lnTo>
                <a:lnTo>
                  <a:pt x="56387" y="0"/>
                </a:lnTo>
                <a:lnTo>
                  <a:pt x="34397" y="4417"/>
                </a:lnTo>
                <a:lnTo>
                  <a:pt x="16478" y="16478"/>
                </a:lnTo>
                <a:lnTo>
                  <a:pt x="4417" y="34397"/>
                </a:lnTo>
                <a:lnTo>
                  <a:pt x="0" y="56387"/>
                </a:lnTo>
                <a:lnTo>
                  <a:pt x="0" y="280415"/>
                </a:lnTo>
                <a:lnTo>
                  <a:pt x="4417" y="302406"/>
                </a:lnTo>
                <a:lnTo>
                  <a:pt x="16478" y="320325"/>
                </a:lnTo>
                <a:lnTo>
                  <a:pt x="34397" y="332386"/>
                </a:lnTo>
                <a:lnTo>
                  <a:pt x="56387" y="336803"/>
                </a:lnTo>
                <a:lnTo>
                  <a:pt x="1235964" y="336803"/>
                </a:lnTo>
                <a:lnTo>
                  <a:pt x="1257954" y="332386"/>
                </a:lnTo>
                <a:lnTo>
                  <a:pt x="1275873" y="320325"/>
                </a:lnTo>
                <a:lnTo>
                  <a:pt x="1287934" y="302406"/>
                </a:lnTo>
                <a:lnTo>
                  <a:pt x="1292352" y="280415"/>
                </a:lnTo>
                <a:close/>
              </a:path>
            </a:pathLst>
          </a:custGeom>
          <a:solidFill>
            <a:srgbClr val="CC99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66787" y="5043170"/>
            <a:ext cx="1292860" cy="337185"/>
          </a:xfrm>
          <a:custGeom>
            <a:avLst/>
            <a:gdLst/>
            <a:ahLst/>
            <a:cxnLst/>
            <a:rect l="l" t="t" r="r" b="b"/>
            <a:pathLst>
              <a:path w="1292860" h="337185">
                <a:moveTo>
                  <a:pt x="56387" y="0"/>
                </a:moveTo>
                <a:lnTo>
                  <a:pt x="34397" y="4417"/>
                </a:lnTo>
                <a:lnTo>
                  <a:pt x="16478" y="16478"/>
                </a:lnTo>
                <a:lnTo>
                  <a:pt x="4417" y="34397"/>
                </a:lnTo>
                <a:lnTo>
                  <a:pt x="0" y="56387"/>
                </a:lnTo>
                <a:lnTo>
                  <a:pt x="0" y="280415"/>
                </a:lnTo>
                <a:lnTo>
                  <a:pt x="4417" y="302406"/>
                </a:lnTo>
                <a:lnTo>
                  <a:pt x="16478" y="320325"/>
                </a:lnTo>
                <a:lnTo>
                  <a:pt x="34397" y="332386"/>
                </a:lnTo>
                <a:lnTo>
                  <a:pt x="56387" y="336803"/>
                </a:lnTo>
                <a:lnTo>
                  <a:pt x="1235964" y="336803"/>
                </a:lnTo>
                <a:lnTo>
                  <a:pt x="1257954" y="332386"/>
                </a:lnTo>
                <a:lnTo>
                  <a:pt x="1275873" y="320325"/>
                </a:lnTo>
                <a:lnTo>
                  <a:pt x="1287934" y="302406"/>
                </a:lnTo>
                <a:lnTo>
                  <a:pt x="1292352" y="280415"/>
                </a:lnTo>
                <a:lnTo>
                  <a:pt x="1292352" y="56387"/>
                </a:lnTo>
                <a:lnTo>
                  <a:pt x="1287934" y="34397"/>
                </a:lnTo>
                <a:lnTo>
                  <a:pt x="1275873" y="16478"/>
                </a:lnTo>
                <a:lnTo>
                  <a:pt x="1257954" y="4417"/>
                </a:lnTo>
                <a:lnTo>
                  <a:pt x="1235964" y="0"/>
                </a:lnTo>
                <a:lnTo>
                  <a:pt x="56387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62215" y="5447791"/>
            <a:ext cx="1292860" cy="337185"/>
          </a:xfrm>
          <a:custGeom>
            <a:avLst/>
            <a:gdLst/>
            <a:ahLst/>
            <a:cxnLst/>
            <a:rect l="l" t="t" r="r" b="b"/>
            <a:pathLst>
              <a:path w="1292860" h="337185">
                <a:moveTo>
                  <a:pt x="1292352" y="280416"/>
                </a:moveTo>
                <a:lnTo>
                  <a:pt x="1292352" y="56387"/>
                </a:lnTo>
                <a:lnTo>
                  <a:pt x="1287934" y="34397"/>
                </a:lnTo>
                <a:lnTo>
                  <a:pt x="1275873" y="16478"/>
                </a:lnTo>
                <a:lnTo>
                  <a:pt x="1257954" y="4417"/>
                </a:lnTo>
                <a:lnTo>
                  <a:pt x="1235964" y="0"/>
                </a:lnTo>
                <a:lnTo>
                  <a:pt x="55625" y="0"/>
                </a:lnTo>
                <a:lnTo>
                  <a:pt x="34075" y="4417"/>
                </a:lnTo>
                <a:lnTo>
                  <a:pt x="16383" y="16478"/>
                </a:lnTo>
                <a:lnTo>
                  <a:pt x="4405" y="34397"/>
                </a:lnTo>
                <a:lnTo>
                  <a:pt x="0" y="56387"/>
                </a:lnTo>
                <a:lnTo>
                  <a:pt x="0" y="280416"/>
                </a:lnTo>
                <a:lnTo>
                  <a:pt x="4405" y="302406"/>
                </a:lnTo>
                <a:lnTo>
                  <a:pt x="16383" y="320325"/>
                </a:lnTo>
                <a:lnTo>
                  <a:pt x="34075" y="332386"/>
                </a:lnTo>
                <a:lnTo>
                  <a:pt x="55625" y="336804"/>
                </a:lnTo>
                <a:lnTo>
                  <a:pt x="1235964" y="336804"/>
                </a:lnTo>
                <a:lnTo>
                  <a:pt x="1257954" y="332386"/>
                </a:lnTo>
                <a:lnTo>
                  <a:pt x="1275873" y="320325"/>
                </a:lnTo>
                <a:lnTo>
                  <a:pt x="1287934" y="302406"/>
                </a:lnTo>
                <a:lnTo>
                  <a:pt x="1292352" y="280416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62215" y="5447791"/>
            <a:ext cx="1292860" cy="337185"/>
          </a:xfrm>
          <a:custGeom>
            <a:avLst/>
            <a:gdLst/>
            <a:ahLst/>
            <a:cxnLst/>
            <a:rect l="l" t="t" r="r" b="b"/>
            <a:pathLst>
              <a:path w="1292860" h="337185">
                <a:moveTo>
                  <a:pt x="55625" y="0"/>
                </a:moveTo>
                <a:lnTo>
                  <a:pt x="34075" y="4417"/>
                </a:lnTo>
                <a:lnTo>
                  <a:pt x="16383" y="16478"/>
                </a:lnTo>
                <a:lnTo>
                  <a:pt x="4405" y="34397"/>
                </a:lnTo>
                <a:lnTo>
                  <a:pt x="0" y="56387"/>
                </a:lnTo>
                <a:lnTo>
                  <a:pt x="0" y="280416"/>
                </a:lnTo>
                <a:lnTo>
                  <a:pt x="4405" y="302406"/>
                </a:lnTo>
                <a:lnTo>
                  <a:pt x="16383" y="320325"/>
                </a:lnTo>
                <a:lnTo>
                  <a:pt x="34075" y="332386"/>
                </a:lnTo>
                <a:lnTo>
                  <a:pt x="55625" y="336804"/>
                </a:lnTo>
                <a:lnTo>
                  <a:pt x="1235964" y="336804"/>
                </a:lnTo>
                <a:lnTo>
                  <a:pt x="1257954" y="332386"/>
                </a:lnTo>
                <a:lnTo>
                  <a:pt x="1275873" y="320325"/>
                </a:lnTo>
                <a:lnTo>
                  <a:pt x="1287934" y="302406"/>
                </a:lnTo>
                <a:lnTo>
                  <a:pt x="1292352" y="280416"/>
                </a:lnTo>
                <a:lnTo>
                  <a:pt x="1292352" y="56387"/>
                </a:lnTo>
                <a:lnTo>
                  <a:pt x="1287934" y="34397"/>
                </a:lnTo>
                <a:lnTo>
                  <a:pt x="1275873" y="16478"/>
                </a:lnTo>
                <a:lnTo>
                  <a:pt x="1257954" y="4417"/>
                </a:lnTo>
                <a:lnTo>
                  <a:pt x="1235964" y="0"/>
                </a:lnTo>
                <a:lnTo>
                  <a:pt x="55625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201547" y="5084571"/>
            <a:ext cx="3556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75" dirty="0">
                <a:latin typeface="Arial"/>
                <a:cs typeface="Arial"/>
              </a:rPr>
              <a:t>TCP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82319" y="5484621"/>
            <a:ext cx="19431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Arial"/>
                <a:cs typeface="Arial"/>
              </a:rPr>
              <a:t>IP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775091" y="4439665"/>
            <a:ext cx="0" cy="1165860"/>
          </a:xfrm>
          <a:custGeom>
            <a:avLst/>
            <a:gdLst/>
            <a:ahLst/>
            <a:cxnLst/>
            <a:rect l="l" t="t" r="r" b="b"/>
            <a:pathLst>
              <a:path h="1165860">
                <a:moveTo>
                  <a:pt x="0" y="0"/>
                </a:moveTo>
                <a:lnTo>
                  <a:pt x="0" y="116586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773567" y="5605526"/>
            <a:ext cx="829944" cy="0"/>
          </a:xfrm>
          <a:custGeom>
            <a:avLst/>
            <a:gdLst/>
            <a:ahLst/>
            <a:cxnLst/>
            <a:rect l="l" t="t" r="r" b="b"/>
            <a:pathLst>
              <a:path w="829944">
                <a:moveTo>
                  <a:pt x="0" y="0"/>
                </a:moveTo>
                <a:lnTo>
                  <a:pt x="829818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495943" y="5475223"/>
            <a:ext cx="967740" cy="252729"/>
          </a:xfrm>
          <a:custGeom>
            <a:avLst/>
            <a:gdLst/>
            <a:ahLst/>
            <a:cxnLst/>
            <a:rect l="l" t="t" r="r" b="b"/>
            <a:pathLst>
              <a:path w="967739" h="252729">
                <a:moveTo>
                  <a:pt x="967739" y="125729"/>
                </a:moveTo>
                <a:lnTo>
                  <a:pt x="958250" y="76831"/>
                </a:lnTo>
                <a:lnTo>
                  <a:pt x="932402" y="36861"/>
                </a:lnTo>
                <a:lnTo>
                  <a:pt x="894123" y="9894"/>
                </a:lnTo>
                <a:lnTo>
                  <a:pt x="847343" y="0"/>
                </a:lnTo>
                <a:lnTo>
                  <a:pt x="120395" y="0"/>
                </a:lnTo>
                <a:lnTo>
                  <a:pt x="73616" y="9894"/>
                </a:lnTo>
                <a:lnTo>
                  <a:pt x="35337" y="36861"/>
                </a:lnTo>
                <a:lnTo>
                  <a:pt x="9489" y="76831"/>
                </a:lnTo>
                <a:lnTo>
                  <a:pt x="0" y="125729"/>
                </a:lnTo>
                <a:lnTo>
                  <a:pt x="9489" y="175069"/>
                </a:lnTo>
                <a:lnTo>
                  <a:pt x="35337" y="215265"/>
                </a:lnTo>
                <a:lnTo>
                  <a:pt x="73616" y="242316"/>
                </a:lnTo>
                <a:lnTo>
                  <a:pt x="120396" y="252222"/>
                </a:lnTo>
                <a:lnTo>
                  <a:pt x="847343" y="252222"/>
                </a:lnTo>
                <a:lnTo>
                  <a:pt x="894123" y="242316"/>
                </a:lnTo>
                <a:lnTo>
                  <a:pt x="932402" y="215265"/>
                </a:lnTo>
                <a:lnTo>
                  <a:pt x="958250" y="175069"/>
                </a:lnTo>
                <a:lnTo>
                  <a:pt x="967739" y="125729"/>
                </a:lnTo>
                <a:close/>
              </a:path>
            </a:pathLst>
          </a:custGeom>
          <a:solidFill>
            <a:srgbClr val="5F5F5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495943" y="5475223"/>
            <a:ext cx="241553" cy="2522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495943" y="5475223"/>
            <a:ext cx="967740" cy="252729"/>
          </a:xfrm>
          <a:custGeom>
            <a:avLst/>
            <a:gdLst/>
            <a:ahLst/>
            <a:cxnLst/>
            <a:rect l="l" t="t" r="r" b="b"/>
            <a:pathLst>
              <a:path w="967739" h="252729">
                <a:moveTo>
                  <a:pt x="0" y="125729"/>
                </a:moveTo>
                <a:lnTo>
                  <a:pt x="9489" y="175069"/>
                </a:lnTo>
                <a:lnTo>
                  <a:pt x="35337" y="215265"/>
                </a:lnTo>
                <a:lnTo>
                  <a:pt x="73616" y="242316"/>
                </a:lnTo>
                <a:lnTo>
                  <a:pt x="120396" y="252222"/>
                </a:lnTo>
                <a:lnTo>
                  <a:pt x="847343" y="252222"/>
                </a:lnTo>
                <a:lnTo>
                  <a:pt x="894123" y="242316"/>
                </a:lnTo>
                <a:lnTo>
                  <a:pt x="932402" y="215265"/>
                </a:lnTo>
                <a:lnTo>
                  <a:pt x="958250" y="175069"/>
                </a:lnTo>
                <a:lnTo>
                  <a:pt x="967739" y="125729"/>
                </a:lnTo>
                <a:lnTo>
                  <a:pt x="958250" y="76831"/>
                </a:lnTo>
                <a:lnTo>
                  <a:pt x="932402" y="36861"/>
                </a:lnTo>
                <a:lnTo>
                  <a:pt x="894123" y="9894"/>
                </a:lnTo>
                <a:lnTo>
                  <a:pt x="847343" y="0"/>
                </a:lnTo>
                <a:lnTo>
                  <a:pt x="120395" y="0"/>
                </a:lnTo>
                <a:lnTo>
                  <a:pt x="73616" y="9894"/>
                </a:lnTo>
                <a:lnTo>
                  <a:pt x="35337" y="36861"/>
                </a:lnTo>
                <a:lnTo>
                  <a:pt x="9489" y="76831"/>
                </a:lnTo>
                <a:lnTo>
                  <a:pt x="0" y="12572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616339" y="5475223"/>
            <a:ext cx="121285" cy="252729"/>
          </a:xfrm>
          <a:custGeom>
            <a:avLst/>
            <a:gdLst/>
            <a:ahLst/>
            <a:cxnLst/>
            <a:rect l="l" t="t" r="r" b="b"/>
            <a:pathLst>
              <a:path w="121285" h="252729">
                <a:moveTo>
                  <a:pt x="0" y="252222"/>
                </a:moveTo>
                <a:lnTo>
                  <a:pt x="47220" y="242316"/>
                </a:lnTo>
                <a:lnTo>
                  <a:pt x="85725" y="215265"/>
                </a:lnTo>
                <a:lnTo>
                  <a:pt x="111656" y="175069"/>
                </a:lnTo>
                <a:lnTo>
                  <a:pt x="121158" y="125729"/>
                </a:lnTo>
                <a:lnTo>
                  <a:pt x="111656" y="76831"/>
                </a:lnTo>
                <a:lnTo>
                  <a:pt x="85724" y="36861"/>
                </a:lnTo>
                <a:lnTo>
                  <a:pt x="47220" y="9894"/>
                </a:ln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462159" y="5600191"/>
            <a:ext cx="410209" cy="0"/>
          </a:xfrm>
          <a:custGeom>
            <a:avLst/>
            <a:gdLst/>
            <a:ahLst/>
            <a:cxnLst/>
            <a:rect l="l" t="t" r="r" b="b"/>
            <a:pathLst>
              <a:path w="410210">
                <a:moveTo>
                  <a:pt x="0" y="0"/>
                </a:moveTo>
                <a:lnTo>
                  <a:pt x="409955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573648" y="5446267"/>
            <a:ext cx="969010" cy="252729"/>
          </a:xfrm>
          <a:custGeom>
            <a:avLst/>
            <a:gdLst/>
            <a:ahLst/>
            <a:cxnLst/>
            <a:rect l="l" t="t" r="r" b="b"/>
            <a:pathLst>
              <a:path w="969009" h="252729">
                <a:moveTo>
                  <a:pt x="968501" y="126492"/>
                </a:moveTo>
                <a:lnTo>
                  <a:pt x="959001" y="77152"/>
                </a:lnTo>
                <a:lnTo>
                  <a:pt x="933070" y="36956"/>
                </a:lnTo>
                <a:lnTo>
                  <a:pt x="894569" y="9905"/>
                </a:lnTo>
                <a:lnTo>
                  <a:pt x="847356" y="0"/>
                </a:lnTo>
                <a:lnTo>
                  <a:pt x="121157" y="0"/>
                </a:lnTo>
                <a:lnTo>
                  <a:pt x="73937" y="9905"/>
                </a:lnTo>
                <a:lnTo>
                  <a:pt x="35432" y="36956"/>
                </a:lnTo>
                <a:lnTo>
                  <a:pt x="9501" y="77152"/>
                </a:lnTo>
                <a:lnTo>
                  <a:pt x="0" y="126492"/>
                </a:lnTo>
                <a:lnTo>
                  <a:pt x="9501" y="175390"/>
                </a:lnTo>
                <a:lnTo>
                  <a:pt x="35432" y="215360"/>
                </a:lnTo>
                <a:lnTo>
                  <a:pt x="73937" y="242327"/>
                </a:lnTo>
                <a:lnTo>
                  <a:pt x="121158" y="252222"/>
                </a:lnTo>
                <a:lnTo>
                  <a:pt x="847356" y="252222"/>
                </a:lnTo>
                <a:lnTo>
                  <a:pt x="894569" y="242327"/>
                </a:lnTo>
                <a:lnTo>
                  <a:pt x="933070" y="215360"/>
                </a:lnTo>
                <a:lnTo>
                  <a:pt x="959001" y="175390"/>
                </a:lnTo>
                <a:lnTo>
                  <a:pt x="968501" y="126492"/>
                </a:lnTo>
                <a:close/>
              </a:path>
            </a:pathLst>
          </a:custGeom>
          <a:solidFill>
            <a:srgbClr val="5F5F5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573648" y="5446267"/>
            <a:ext cx="242328" cy="25222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573648" y="5446267"/>
            <a:ext cx="969010" cy="252729"/>
          </a:xfrm>
          <a:custGeom>
            <a:avLst/>
            <a:gdLst/>
            <a:ahLst/>
            <a:cxnLst/>
            <a:rect l="l" t="t" r="r" b="b"/>
            <a:pathLst>
              <a:path w="969009" h="252729">
                <a:moveTo>
                  <a:pt x="0" y="126492"/>
                </a:moveTo>
                <a:lnTo>
                  <a:pt x="9501" y="175390"/>
                </a:lnTo>
                <a:lnTo>
                  <a:pt x="35433" y="215360"/>
                </a:lnTo>
                <a:lnTo>
                  <a:pt x="73937" y="242327"/>
                </a:lnTo>
                <a:lnTo>
                  <a:pt x="121158" y="252222"/>
                </a:lnTo>
                <a:lnTo>
                  <a:pt x="847356" y="252222"/>
                </a:lnTo>
                <a:lnTo>
                  <a:pt x="894569" y="242327"/>
                </a:lnTo>
                <a:lnTo>
                  <a:pt x="933070" y="215360"/>
                </a:lnTo>
                <a:lnTo>
                  <a:pt x="959001" y="175390"/>
                </a:lnTo>
                <a:lnTo>
                  <a:pt x="968501" y="126492"/>
                </a:lnTo>
                <a:lnTo>
                  <a:pt x="959001" y="77152"/>
                </a:lnTo>
                <a:lnTo>
                  <a:pt x="933070" y="36956"/>
                </a:lnTo>
                <a:lnTo>
                  <a:pt x="894569" y="9905"/>
                </a:lnTo>
                <a:lnTo>
                  <a:pt x="847356" y="0"/>
                </a:lnTo>
                <a:lnTo>
                  <a:pt x="121157" y="0"/>
                </a:lnTo>
                <a:lnTo>
                  <a:pt x="73937" y="9905"/>
                </a:lnTo>
                <a:lnTo>
                  <a:pt x="35432" y="36956"/>
                </a:lnTo>
                <a:lnTo>
                  <a:pt x="9501" y="77152"/>
                </a:lnTo>
                <a:lnTo>
                  <a:pt x="0" y="12649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694807" y="5446267"/>
            <a:ext cx="121285" cy="252729"/>
          </a:xfrm>
          <a:custGeom>
            <a:avLst/>
            <a:gdLst/>
            <a:ahLst/>
            <a:cxnLst/>
            <a:rect l="l" t="t" r="r" b="b"/>
            <a:pathLst>
              <a:path w="121285" h="252729">
                <a:moveTo>
                  <a:pt x="0" y="252222"/>
                </a:moveTo>
                <a:lnTo>
                  <a:pt x="47222" y="242327"/>
                </a:lnTo>
                <a:lnTo>
                  <a:pt x="85731" y="215360"/>
                </a:lnTo>
                <a:lnTo>
                  <a:pt x="111667" y="175390"/>
                </a:lnTo>
                <a:lnTo>
                  <a:pt x="121170" y="126492"/>
                </a:lnTo>
                <a:lnTo>
                  <a:pt x="111667" y="77152"/>
                </a:lnTo>
                <a:lnTo>
                  <a:pt x="85731" y="36956"/>
                </a:lnTo>
                <a:lnTo>
                  <a:pt x="47222" y="9905"/>
                </a:ln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268861" y="5573521"/>
            <a:ext cx="416559" cy="0"/>
          </a:xfrm>
          <a:custGeom>
            <a:avLst/>
            <a:gdLst/>
            <a:ahLst/>
            <a:cxnLst/>
            <a:rect l="l" t="t" r="r" b="b"/>
            <a:pathLst>
              <a:path w="416560">
                <a:moveTo>
                  <a:pt x="0" y="0"/>
                </a:moveTo>
                <a:lnTo>
                  <a:pt x="416039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886575" y="3955796"/>
            <a:ext cx="1397635" cy="1902460"/>
          </a:xfrm>
          <a:custGeom>
            <a:avLst/>
            <a:gdLst/>
            <a:ahLst/>
            <a:cxnLst/>
            <a:rect l="l" t="t" r="r" b="b"/>
            <a:pathLst>
              <a:path w="1397634" h="1902460">
                <a:moveTo>
                  <a:pt x="0" y="0"/>
                </a:moveTo>
                <a:lnTo>
                  <a:pt x="0" y="1901952"/>
                </a:lnTo>
                <a:lnTo>
                  <a:pt x="1397507" y="1901952"/>
                </a:lnTo>
                <a:lnTo>
                  <a:pt x="1397507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886575" y="3955796"/>
            <a:ext cx="1397000" cy="1902460"/>
          </a:xfrm>
          <a:custGeom>
            <a:avLst/>
            <a:gdLst/>
            <a:ahLst/>
            <a:cxnLst/>
            <a:rect l="l" t="t" r="r" b="b"/>
            <a:pathLst>
              <a:path w="1397000" h="1902460">
                <a:moveTo>
                  <a:pt x="0" y="0"/>
                </a:moveTo>
                <a:lnTo>
                  <a:pt x="0" y="1901952"/>
                </a:lnTo>
                <a:lnTo>
                  <a:pt x="1396746" y="1901952"/>
                </a:lnTo>
                <a:lnTo>
                  <a:pt x="1396746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428610" y="5870194"/>
            <a:ext cx="37401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95" dirty="0">
                <a:latin typeface="Arial"/>
                <a:cs typeface="Arial"/>
              </a:rPr>
              <a:t>Host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012317" y="4055617"/>
            <a:ext cx="1178560" cy="357505"/>
          </a:xfrm>
          <a:custGeom>
            <a:avLst/>
            <a:gdLst/>
            <a:ahLst/>
            <a:cxnLst/>
            <a:rect l="l" t="t" r="r" b="b"/>
            <a:pathLst>
              <a:path w="1178559" h="357504">
                <a:moveTo>
                  <a:pt x="1178052" y="179070"/>
                </a:moveTo>
                <a:lnTo>
                  <a:pt x="1162498" y="137959"/>
                </a:lnTo>
                <a:lnTo>
                  <a:pt x="1118193" y="100248"/>
                </a:lnTo>
                <a:lnTo>
                  <a:pt x="1048669" y="67002"/>
                </a:lnTo>
                <a:lnTo>
                  <a:pt x="1005554" y="52387"/>
                </a:lnTo>
                <a:lnTo>
                  <a:pt x="957458" y="39288"/>
                </a:lnTo>
                <a:lnTo>
                  <a:pt x="904824" y="27839"/>
                </a:lnTo>
                <a:lnTo>
                  <a:pt x="848092" y="18172"/>
                </a:lnTo>
                <a:lnTo>
                  <a:pt x="787705" y="10421"/>
                </a:lnTo>
                <a:lnTo>
                  <a:pt x="724104" y="4720"/>
                </a:lnTo>
                <a:lnTo>
                  <a:pt x="657730" y="1202"/>
                </a:lnTo>
                <a:lnTo>
                  <a:pt x="589026" y="0"/>
                </a:lnTo>
                <a:lnTo>
                  <a:pt x="520321" y="1202"/>
                </a:lnTo>
                <a:lnTo>
                  <a:pt x="453947" y="4720"/>
                </a:lnTo>
                <a:lnTo>
                  <a:pt x="390346" y="10421"/>
                </a:lnTo>
                <a:lnTo>
                  <a:pt x="329959" y="18172"/>
                </a:lnTo>
                <a:lnTo>
                  <a:pt x="273227" y="27839"/>
                </a:lnTo>
                <a:lnTo>
                  <a:pt x="220593" y="39288"/>
                </a:lnTo>
                <a:lnTo>
                  <a:pt x="172497" y="52387"/>
                </a:lnTo>
                <a:lnTo>
                  <a:pt x="129382" y="67002"/>
                </a:lnTo>
                <a:lnTo>
                  <a:pt x="91688" y="83000"/>
                </a:lnTo>
                <a:lnTo>
                  <a:pt x="34332" y="118612"/>
                </a:lnTo>
                <a:lnTo>
                  <a:pt x="3961" y="158156"/>
                </a:lnTo>
                <a:lnTo>
                  <a:pt x="0" y="179070"/>
                </a:lnTo>
                <a:lnTo>
                  <a:pt x="3961" y="199831"/>
                </a:lnTo>
                <a:lnTo>
                  <a:pt x="34332" y="239134"/>
                </a:lnTo>
                <a:lnTo>
                  <a:pt x="91688" y="274579"/>
                </a:lnTo>
                <a:lnTo>
                  <a:pt x="129382" y="290517"/>
                </a:lnTo>
                <a:lnTo>
                  <a:pt x="172497" y="305085"/>
                </a:lnTo>
                <a:lnTo>
                  <a:pt x="220593" y="318149"/>
                </a:lnTo>
                <a:lnTo>
                  <a:pt x="273227" y="329573"/>
                </a:lnTo>
                <a:lnTo>
                  <a:pt x="329959" y="339223"/>
                </a:lnTo>
                <a:lnTo>
                  <a:pt x="390346" y="346963"/>
                </a:lnTo>
                <a:lnTo>
                  <a:pt x="453947" y="352659"/>
                </a:lnTo>
                <a:lnTo>
                  <a:pt x="520321" y="356175"/>
                </a:lnTo>
                <a:lnTo>
                  <a:pt x="589026" y="357378"/>
                </a:lnTo>
                <a:lnTo>
                  <a:pt x="657730" y="356175"/>
                </a:lnTo>
                <a:lnTo>
                  <a:pt x="724104" y="352659"/>
                </a:lnTo>
                <a:lnTo>
                  <a:pt x="787705" y="346963"/>
                </a:lnTo>
                <a:lnTo>
                  <a:pt x="848092" y="339223"/>
                </a:lnTo>
                <a:lnTo>
                  <a:pt x="904824" y="329573"/>
                </a:lnTo>
                <a:lnTo>
                  <a:pt x="957458" y="318149"/>
                </a:lnTo>
                <a:lnTo>
                  <a:pt x="1005554" y="305085"/>
                </a:lnTo>
                <a:lnTo>
                  <a:pt x="1048669" y="290517"/>
                </a:lnTo>
                <a:lnTo>
                  <a:pt x="1086363" y="274579"/>
                </a:lnTo>
                <a:lnTo>
                  <a:pt x="1143719" y="239134"/>
                </a:lnTo>
                <a:lnTo>
                  <a:pt x="1174090" y="199831"/>
                </a:lnTo>
                <a:lnTo>
                  <a:pt x="1178052" y="179070"/>
                </a:lnTo>
                <a:close/>
              </a:path>
            </a:pathLst>
          </a:custGeom>
          <a:solidFill>
            <a:srgbClr val="3B812F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012317" y="4055617"/>
            <a:ext cx="1178560" cy="357505"/>
          </a:xfrm>
          <a:custGeom>
            <a:avLst/>
            <a:gdLst/>
            <a:ahLst/>
            <a:cxnLst/>
            <a:rect l="l" t="t" r="r" b="b"/>
            <a:pathLst>
              <a:path w="1178559" h="357504">
                <a:moveTo>
                  <a:pt x="589026" y="0"/>
                </a:moveTo>
                <a:lnTo>
                  <a:pt x="520321" y="1202"/>
                </a:lnTo>
                <a:lnTo>
                  <a:pt x="453947" y="4720"/>
                </a:lnTo>
                <a:lnTo>
                  <a:pt x="390346" y="10421"/>
                </a:lnTo>
                <a:lnTo>
                  <a:pt x="329959" y="18172"/>
                </a:lnTo>
                <a:lnTo>
                  <a:pt x="273227" y="27839"/>
                </a:lnTo>
                <a:lnTo>
                  <a:pt x="220593" y="39288"/>
                </a:lnTo>
                <a:lnTo>
                  <a:pt x="172497" y="52387"/>
                </a:lnTo>
                <a:lnTo>
                  <a:pt x="129382" y="67002"/>
                </a:lnTo>
                <a:lnTo>
                  <a:pt x="91688" y="83000"/>
                </a:lnTo>
                <a:lnTo>
                  <a:pt x="34332" y="118612"/>
                </a:lnTo>
                <a:lnTo>
                  <a:pt x="3961" y="158156"/>
                </a:lnTo>
                <a:lnTo>
                  <a:pt x="0" y="179070"/>
                </a:lnTo>
                <a:lnTo>
                  <a:pt x="3961" y="199831"/>
                </a:lnTo>
                <a:lnTo>
                  <a:pt x="34332" y="239134"/>
                </a:lnTo>
                <a:lnTo>
                  <a:pt x="91688" y="274579"/>
                </a:lnTo>
                <a:lnTo>
                  <a:pt x="129382" y="290517"/>
                </a:lnTo>
                <a:lnTo>
                  <a:pt x="172497" y="305085"/>
                </a:lnTo>
                <a:lnTo>
                  <a:pt x="220593" y="318149"/>
                </a:lnTo>
                <a:lnTo>
                  <a:pt x="273227" y="329573"/>
                </a:lnTo>
                <a:lnTo>
                  <a:pt x="329959" y="339223"/>
                </a:lnTo>
                <a:lnTo>
                  <a:pt x="390346" y="346963"/>
                </a:lnTo>
                <a:lnTo>
                  <a:pt x="453947" y="352659"/>
                </a:lnTo>
                <a:lnTo>
                  <a:pt x="520321" y="356175"/>
                </a:lnTo>
                <a:lnTo>
                  <a:pt x="589026" y="357378"/>
                </a:lnTo>
                <a:lnTo>
                  <a:pt x="657730" y="356175"/>
                </a:lnTo>
                <a:lnTo>
                  <a:pt x="724104" y="352659"/>
                </a:lnTo>
                <a:lnTo>
                  <a:pt x="787705" y="346963"/>
                </a:lnTo>
                <a:lnTo>
                  <a:pt x="848092" y="339223"/>
                </a:lnTo>
                <a:lnTo>
                  <a:pt x="904824" y="329573"/>
                </a:lnTo>
                <a:lnTo>
                  <a:pt x="957458" y="318149"/>
                </a:lnTo>
                <a:lnTo>
                  <a:pt x="1005554" y="305085"/>
                </a:lnTo>
                <a:lnTo>
                  <a:pt x="1048669" y="290517"/>
                </a:lnTo>
                <a:lnTo>
                  <a:pt x="1086363" y="274579"/>
                </a:lnTo>
                <a:lnTo>
                  <a:pt x="1143719" y="239134"/>
                </a:lnTo>
                <a:lnTo>
                  <a:pt x="1174090" y="199831"/>
                </a:lnTo>
                <a:lnTo>
                  <a:pt x="1178052" y="179070"/>
                </a:lnTo>
                <a:lnTo>
                  <a:pt x="1174090" y="158156"/>
                </a:lnTo>
                <a:lnTo>
                  <a:pt x="1143719" y="118612"/>
                </a:lnTo>
                <a:lnTo>
                  <a:pt x="1086363" y="83000"/>
                </a:lnTo>
                <a:lnTo>
                  <a:pt x="1048669" y="67002"/>
                </a:lnTo>
                <a:lnTo>
                  <a:pt x="1005554" y="52387"/>
                </a:lnTo>
                <a:lnTo>
                  <a:pt x="957458" y="39288"/>
                </a:lnTo>
                <a:lnTo>
                  <a:pt x="904824" y="27839"/>
                </a:lnTo>
                <a:lnTo>
                  <a:pt x="848092" y="18172"/>
                </a:lnTo>
                <a:lnTo>
                  <a:pt x="787705" y="10421"/>
                </a:lnTo>
                <a:lnTo>
                  <a:pt x="724104" y="4720"/>
                </a:lnTo>
                <a:lnTo>
                  <a:pt x="657730" y="1202"/>
                </a:lnTo>
                <a:lnTo>
                  <a:pt x="589026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168006" y="4098544"/>
            <a:ext cx="90106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70" dirty="0">
                <a:latin typeface="Arial"/>
                <a:cs typeface="Arial"/>
              </a:rPr>
              <a:t>Application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949820" y="4633976"/>
            <a:ext cx="1292860" cy="273050"/>
          </a:xfrm>
          <a:custGeom>
            <a:avLst/>
            <a:gdLst/>
            <a:ahLst/>
            <a:cxnLst/>
            <a:rect l="l" t="t" r="r" b="b"/>
            <a:pathLst>
              <a:path w="1292859" h="273050">
                <a:moveTo>
                  <a:pt x="1292352" y="227075"/>
                </a:moveTo>
                <a:lnTo>
                  <a:pt x="1292352" y="44958"/>
                </a:lnTo>
                <a:lnTo>
                  <a:pt x="1288865" y="27324"/>
                </a:lnTo>
                <a:lnTo>
                  <a:pt x="1279309" y="13049"/>
                </a:lnTo>
                <a:lnTo>
                  <a:pt x="1265037" y="3488"/>
                </a:lnTo>
                <a:lnTo>
                  <a:pt x="1247406" y="0"/>
                </a:lnTo>
                <a:lnTo>
                  <a:pt x="45732" y="0"/>
                </a:lnTo>
                <a:lnTo>
                  <a:pt x="27978" y="3488"/>
                </a:lnTo>
                <a:lnTo>
                  <a:pt x="13436" y="13049"/>
                </a:lnTo>
                <a:lnTo>
                  <a:pt x="3609" y="27324"/>
                </a:lnTo>
                <a:lnTo>
                  <a:pt x="0" y="44958"/>
                </a:lnTo>
                <a:lnTo>
                  <a:pt x="0" y="227075"/>
                </a:lnTo>
                <a:lnTo>
                  <a:pt x="3609" y="244828"/>
                </a:lnTo>
                <a:lnTo>
                  <a:pt x="13436" y="259365"/>
                </a:lnTo>
                <a:lnTo>
                  <a:pt x="27978" y="269188"/>
                </a:lnTo>
                <a:lnTo>
                  <a:pt x="45732" y="272796"/>
                </a:lnTo>
                <a:lnTo>
                  <a:pt x="1247406" y="272796"/>
                </a:lnTo>
                <a:lnTo>
                  <a:pt x="1265037" y="269188"/>
                </a:lnTo>
                <a:lnTo>
                  <a:pt x="1279309" y="259365"/>
                </a:lnTo>
                <a:lnTo>
                  <a:pt x="1288865" y="244828"/>
                </a:lnTo>
                <a:lnTo>
                  <a:pt x="1292352" y="227075"/>
                </a:lnTo>
                <a:close/>
              </a:path>
            </a:pathLst>
          </a:custGeom>
          <a:solidFill>
            <a:srgbClr val="A5002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949820" y="4633976"/>
            <a:ext cx="1292860" cy="273050"/>
          </a:xfrm>
          <a:custGeom>
            <a:avLst/>
            <a:gdLst/>
            <a:ahLst/>
            <a:cxnLst/>
            <a:rect l="l" t="t" r="r" b="b"/>
            <a:pathLst>
              <a:path w="1292859" h="273050">
                <a:moveTo>
                  <a:pt x="45732" y="0"/>
                </a:moveTo>
                <a:lnTo>
                  <a:pt x="27978" y="3488"/>
                </a:lnTo>
                <a:lnTo>
                  <a:pt x="13436" y="13049"/>
                </a:lnTo>
                <a:lnTo>
                  <a:pt x="3609" y="27324"/>
                </a:lnTo>
                <a:lnTo>
                  <a:pt x="0" y="44958"/>
                </a:lnTo>
                <a:lnTo>
                  <a:pt x="0" y="227075"/>
                </a:lnTo>
                <a:lnTo>
                  <a:pt x="3609" y="244828"/>
                </a:lnTo>
                <a:lnTo>
                  <a:pt x="13436" y="259365"/>
                </a:lnTo>
                <a:lnTo>
                  <a:pt x="27978" y="269188"/>
                </a:lnTo>
                <a:lnTo>
                  <a:pt x="45732" y="272796"/>
                </a:lnTo>
                <a:lnTo>
                  <a:pt x="1247406" y="272796"/>
                </a:lnTo>
                <a:lnTo>
                  <a:pt x="1265037" y="269188"/>
                </a:lnTo>
                <a:lnTo>
                  <a:pt x="1279309" y="259365"/>
                </a:lnTo>
                <a:lnTo>
                  <a:pt x="1288865" y="244828"/>
                </a:lnTo>
                <a:lnTo>
                  <a:pt x="1292352" y="227075"/>
                </a:lnTo>
                <a:lnTo>
                  <a:pt x="1292352" y="44958"/>
                </a:lnTo>
                <a:lnTo>
                  <a:pt x="1288865" y="27324"/>
                </a:lnTo>
                <a:lnTo>
                  <a:pt x="1279309" y="13049"/>
                </a:lnTo>
                <a:lnTo>
                  <a:pt x="1265037" y="3488"/>
                </a:lnTo>
                <a:lnTo>
                  <a:pt x="1247406" y="0"/>
                </a:lnTo>
                <a:lnTo>
                  <a:pt x="45732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7558151" y="4628896"/>
            <a:ext cx="514984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30" dirty="0">
                <a:latin typeface="Arial"/>
                <a:cs typeface="Arial"/>
              </a:rPr>
              <a:t>Socket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956691" y="4995926"/>
            <a:ext cx="1292860" cy="336550"/>
          </a:xfrm>
          <a:custGeom>
            <a:avLst/>
            <a:gdLst/>
            <a:ahLst/>
            <a:cxnLst/>
            <a:rect l="l" t="t" r="r" b="b"/>
            <a:pathLst>
              <a:path w="1292859" h="336550">
                <a:moveTo>
                  <a:pt x="1292352" y="280415"/>
                </a:moveTo>
                <a:lnTo>
                  <a:pt x="1292352" y="55625"/>
                </a:lnTo>
                <a:lnTo>
                  <a:pt x="1287934" y="34075"/>
                </a:lnTo>
                <a:lnTo>
                  <a:pt x="1275873" y="16383"/>
                </a:lnTo>
                <a:lnTo>
                  <a:pt x="1257954" y="4405"/>
                </a:lnTo>
                <a:lnTo>
                  <a:pt x="1235964" y="0"/>
                </a:lnTo>
                <a:lnTo>
                  <a:pt x="55625" y="0"/>
                </a:lnTo>
                <a:lnTo>
                  <a:pt x="34070" y="4405"/>
                </a:lnTo>
                <a:lnTo>
                  <a:pt x="16378" y="16383"/>
                </a:lnTo>
                <a:lnTo>
                  <a:pt x="4403" y="34075"/>
                </a:lnTo>
                <a:lnTo>
                  <a:pt x="0" y="55625"/>
                </a:lnTo>
                <a:lnTo>
                  <a:pt x="0" y="280415"/>
                </a:lnTo>
                <a:lnTo>
                  <a:pt x="4403" y="301966"/>
                </a:lnTo>
                <a:lnTo>
                  <a:pt x="16378" y="319659"/>
                </a:lnTo>
                <a:lnTo>
                  <a:pt x="34070" y="331636"/>
                </a:lnTo>
                <a:lnTo>
                  <a:pt x="55625" y="336041"/>
                </a:lnTo>
                <a:lnTo>
                  <a:pt x="1235964" y="336041"/>
                </a:lnTo>
                <a:lnTo>
                  <a:pt x="1257954" y="331636"/>
                </a:lnTo>
                <a:lnTo>
                  <a:pt x="1275873" y="319658"/>
                </a:lnTo>
                <a:lnTo>
                  <a:pt x="1287934" y="301966"/>
                </a:lnTo>
                <a:lnTo>
                  <a:pt x="1292352" y="280415"/>
                </a:lnTo>
                <a:close/>
              </a:path>
            </a:pathLst>
          </a:custGeom>
          <a:solidFill>
            <a:srgbClr val="CC99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956691" y="4995926"/>
            <a:ext cx="1292860" cy="336550"/>
          </a:xfrm>
          <a:custGeom>
            <a:avLst/>
            <a:gdLst/>
            <a:ahLst/>
            <a:cxnLst/>
            <a:rect l="l" t="t" r="r" b="b"/>
            <a:pathLst>
              <a:path w="1292859" h="336550">
                <a:moveTo>
                  <a:pt x="55625" y="0"/>
                </a:moveTo>
                <a:lnTo>
                  <a:pt x="34070" y="4405"/>
                </a:lnTo>
                <a:lnTo>
                  <a:pt x="16378" y="16383"/>
                </a:lnTo>
                <a:lnTo>
                  <a:pt x="4403" y="34075"/>
                </a:lnTo>
                <a:lnTo>
                  <a:pt x="0" y="55625"/>
                </a:lnTo>
                <a:lnTo>
                  <a:pt x="0" y="280415"/>
                </a:lnTo>
                <a:lnTo>
                  <a:pt x="4403" y="301966"/>
                </a:lnTo>
                <a:lnTo>
                  <a:pt x="16378" y="319659"/>
                </a:lnTo>
                <a:lnTo>
                  <a:pt x="34070" y="331636"/>
                </a:lnTo>
                <a:lnTo>
                  <a:pt x="55625" y="336041"/>
                </a:lnTo>
                <a:lnTo>
                  <a:pt x="1235964" y="336041"/>
                </a:lnTo>
                <a:lnTo>
                  <a:pt x="1257954" y="331636"/>
                </a:lnTo>
                <a:lnTo>
                  <a:pt x="1275873" y="319658"/>
                </a:lnTo>
                <a:lnTo>
                  <a:pt x="1287934" y="301966"/>
                </a:lnTo>
                <a:lnTo>
                  <a:pt x="1292352" y="280415"/>
                </a:lnTo>
                <a:lnTo>
                  <a:pt x="1292352" y="55625"/>
                </a:lnTo>
                <a:lnTo>
                  <a:pt x="1287934" y="34075"/>
                </a:lnTo>
                <a:lnTo>
                  <a:pt x="1275873" y="16383"/>
                </a:lnTo>
                <a:lnTo>
                  <a:pt x="1257954" y="4405"/>
                </a:lnTo>
                <a:lnTo>
                  <a:pt x="1235964" y="0"/>
                </a:lnTo>
                <a:lnTo>
                  <a:pt x="55625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952119" y="5400547"/>
            <a:ext cx="1291590" cy="336550"/>
          </a:xfrm>
          <a:custGeom>
            <a:avLst/>
            <a:gdLst/>
            <a:ahLst/>
            <a:cxnLst/>
            <a:rect l="l" t="t" r="r" b="b"/>
            <a:pathLst>
              <a:path w="1291590" h="336550">
                <a:moveTo>
                  <a:pt x="1291577" y="280415"/>
                </a:moveTo>
                <a:lnTo>
                  <a:pt x="1291577" y="55625"/>
                </a:lnTo>
                <a:lnTo>
                  <a:pt x="1287171" y="34075"/>
                </a:lnTo>
                <a:lnTo>
                  <a:pt x="1275194" y="16383"/>
                </a:lnTo>
                <a:lnTo>
                  <a:pt x="1257501" y="4405"/>
                </a:lnTo>
                <a:lnTo>
                  <a:pt x="1235951" y="0"/>
                </a:lnTo>
                <a:lnTo>
                  <a:pt x="55626" y="0"/>
                </a:lnTo>
                <a:lnTo>
                  <a:pt x="34075" y="4405"/>
                </a:lnTo>
                <a:lnTo>
                  <a:pt x="16382" y="16383"/>
                </a:lnTo>
                <a:lnTo>
                  <a:pt x="4405" y="34075"/>
                </a:lnTo>
                <a:lnTo>
                  <a:pt x="0" y="55625"/>
                </a:lnTo>
                <a:lnTo>
                  <a:pt x="0" y="280415"/>
                </a:lnTo>
                <a:lnTo>
                  <a:pt x="4405" y="302287"/>
                </a:lnTo>
                <a:lnTo>
                  <a:pt x="16382" y="319944"/>
                </a:lnTo>
                <a:lnTo>
                  <a:pt x="34075" y="331743"/>
                </a:lnTo>
                <a:lnTo>
                  <a:pt x="55626" y="336041"/>
                </a:lnTo>
                <a:lnTo>
                  <a:pt x="1235951" y="336041"/>
                </a:lnTo>
                <a:lnTo>
                  <a:pt x="1257501" y="331743"/>
                </a:lnTo>
                <a:lnTo>
                  <a:pt x="1275194" y="319944"/>
                </a:lnTo>
                <a:lnTo>
                  <a:pt x="1287171" y="302287"/>
                </a:lnTo>
                <a:lnTo>
                  <a:pt x="1291577" y="280415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952119" y="5400547"/>
            <a:ext cx="1291590" cy="336550"/>
          </a:xfrm>
          <a:custGeom>
            <a:avLst/>
            <a:gdLst/>
            <a:ahLst/>
            <a:cxnLst/>
            <a:rect l="l" t="t" r="r" b="b"/>
            <a:pathLst>
              <a:path w="1291590" h="336550">
                <a:moveTo>
                  <a:pt x="55626" y="0"/>
                </a:moveTo>
                <a:lnTo>
                  <a:pt x="34075" y="4405"/>
                </a:lnTo>
                <a:lnTo>
                  <a:pt x="16382" y="16383"/>
                </a:lnTo>
                <a:lnTo>
                  <a:pt x="4405" y="34075"/>
                </a:lnTo>
                <a:lnTo>
                  <a:pt x="0" y="55625"/>
                </a:lnTo>
                <a:lnTo>
                  <a:pt x="0" y="280415"/>
                </a:lnTo>
                <a:lnTo>
                  <a:pt x="4405" y="302287"/>
                </a:lnTo>
                <a:lnTo>
                  <a:pt x="16382" y="319944"/>
                </a:lnTo>
                <a:lnTo>
                  <a:pt x="34075" y="331743"/>
                </a:lnTo>
                <a:lnTo>
                  <a:pt x="55626" y="336041"/>
                </a:lnTo>
                <a:lnTo>
                  <a:pt x="1235951" y="336041"/>
                </a:lnTo>
                <a:lnTo>
                  <a:pt x="1257501" y="331743"/>
                </a:lnTo>
                <a:lnTo>
                  <a:pt x="1275194" y="319944"/>
                </a:lnTo>
                <a:lnTo>
                  <a:pt x="1287171" y="302287"/>
                </a:lnTo>
                <a:lnTo>
                  <a:pt x="1291577" y="280415"/>
                </a:lnTo>
                <a:lnTo>
                  <a:pt x="1291577" y="55625"/>
                </a:lnTo>
                <a:lnTo>
                  <a:pt x="1287171" y="34075"/>
                </a:lnTo>
                <a:lnTo>
                  <a:pt x="1275194" y="16383"/>
                </a:lnTo>
                <a:lnTo>
                  <a:pt x="1257501" y="4405"/>
                </a:lnTo>
                <a:lnTo>
                  <a:pt x="1235951" y="0"/>
                </a:lnTo>
                <a:lnTo>
                  <a:pt x="55626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7635125" y="5036565"/>
            <a:ext cx="3556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75" dirty="0">
                <a:latin typeface="Arial"/>
                <a:cs typeface="Arial"/>
              </a:rPr>
              <a:t>TCP</a:t>
            </a:r>
            <a:endParaRPr sz="14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715884" y="5436615"/>
            <a:ext cx="19431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Arial"/>
                <a:cs typeface="Arial"/>
              </a:rPr>
              <a:t>IP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353693" y="4392421"/>
            <a:ext cx="0" cy="1165225"/>
          </a:xfrm>
          <a:custGeom>
            <a:avLst/>
            <a:gdLst/>
            <a:ahLst/>
            <a:cxnLst/>
            <a:rect l="l" t="t" r="r" b="b"/>
            <a:pathLst>
              <a:path h="1165225">
                <a:moveTo>
                  <a:pt x="0" y="0"/>
                </a:moveTo>
                <a:lnTo>
                  <a:pt x="0" y="116509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872115" y="5262626"/>
            <a:ext cx="1397000" cy="598170"/>
          </a:xfrm>
          <a:custGeom>
            <a:avLst/>
            <a:gdLst/>
            <a:ahLst/>
            <a:cxnLst/>
            <a:rect l="l" t="t" r="r" b="b"/>
            <a:pathLst>
              <a:path w="1397000" h="598170">
                <a:moveTo>
                  <a:pt x="0" y="0"/>
                </a:moveTo>
                <a:lnTo>
                  <a:pt x="0" y="598170"/>
                </a:lnTo>
                <a:lnTo>
                  <a:pt x="1396746" y="598170"/>
                </a:lnTo>
                <a:lnTo>
                  <a:pt x="139674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872115" y="5262626"/>
            <a:ext cx="1397000" cy="598170"/>
          </a:xfrm>
          <a:custGeom>
            <a:avLst/>
            <a:gdLst/>
            <a:ahLst/>
            <a:cxnLst/>
            <a:rect l="l" t="t" r="r" b="b"/>
            <a:pathLst>
              <a:path w="1397000" h="598170">
                <a:moveTo>
                  <a:pt x="0" y="0"/>
                </a:moveTo>
                <a:lnTo>
                  <a:pt x="0" y="598170"/>
                </a:lnTo>
                <a:lnTo>
                  <a:pt x="1396746" y="598170"/>
                </a:lnTo>
                <a:lnTo>
                  <a:pt x="139674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4333366" y="5873241"/>
            <a:ext cx="53721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85" dirty="0">
                <a:latin typeface="Arial"/>
                <a:cs typeface="Arial"/>
              </a:rPr>
              <a:t>Router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936885" y="5403596"/>
            <a:ext cx="1292860" cy="337185"/>
          </a:xfrm>
          <a:custGeom>
            <a:avLst/>
            <a:gdLst/>
            <a:ahLst/>
            <a:cxnLst/>
            <a:rect l="l" t="t" r="r" b="b"/>
            <a:pathLst>
              <a:path w="1292860" h="337185">
                <a:moveTo>
                  <a:pt x="1292352" y="280415"/>
                </a:moveTo>
                <a:lnTo>
                  <a:pt x="1292352" y="56387"/>
                </a:lnTo>
                <a:lnTo>
                  <a:pt x="1275968" y="16478"/>
                </a:lnTo>
                <a:lnTo>
                  <a:pt x="1236726" y="0"/>
                </a:lnTo>
                <a:lnTo>
                  <a:pt x="56387" y="0"/>
                </a:lnTo>
                <a:lnTo>
                  <a:pt x="34397" y="4417"/>
                </a:lnTo>
                <a:lnTo>
                  <a:pt x="16478" y="16478"/>
                </a:lnTo>
                <a:lnTo>
                  <a:pt x="4417" y="34397"/>
                </a:lnTo>
                <a:lnTo>
                  <a:pt x="0" y="56388"/>
                </a:lnTo>
                <a:lnTo>
                  <a:pt x="0" y="280416"/>
                </a:lnTo>
                <a:lnTo>
                  <a:pt x="4417" y="302406"/>
                </a:lnTo>
                <a:lnTo>
                  <a:pt x="16478" y="320325"/>
                </a:lnTo>
                <a:lnTo>
                  <a:pt x="34397" y="332386"/>
                </a:lnTo>
                <a:lnTo>
                  <a:pt x="56388" y="336804"/>
                </a:lnTo>
                <a:lnTo>
                  <a:pt x="1236726" y="336803"/>
                </a:lnTo>
                <a:lnTo>
                  <a:pt x="1258276" y="332386"/>
                </a:lnTo>
                <a:lnTo>
                  <a:pt x="1275969" y="320325"/>
                </a:lnTo>
                <a:lnTo>
                  <a:pt x="1287946" y="302406"/>
                </a:lnTo>
                <a:lnTo>
                  <a:pt x="1292352" y="280415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936885" y="5403596"/>
            <a:ext cx="1292860" cy="337185"/>
          </a:xfrm>
          <a:custGeom>
            <a:avLst/>
            <a:gdLst/>
            <a:ahLst/>
            <a:cxnLst/>
            <a:rect l="l" t="t" r="r" b="b"/>
            <a:pathLst>
              <a:path w="1292860" h="337185">
                <a:moveTo>
                  <a:pt x="56387" y="0"/>
                </a:moveTo>
                <a:lnTo>
                  <a:pt x="34397" y="4417"/>
                </a:lnTo>
                <a:lnTo>
                  <a:pt x="16478" y="16478"/>
                </a:lnTo>
                <a:lnTo>
                  <a:pt x="4417" y="34397"/>
                </a:lnTo>
                <a:lnTo>
                  <a:pt x="0" y="56388"/>
                </a:lnTo>
                <a:lnTo>
                  <a:pt x="0" y="280416"/>
                </a:lnTo>
                <a:lnTo>
                  <a:pt x="4417" y="302406"/>
                </a:lnTo>
                <a:lnTo>
                  <a:pt x="16478" y="320325"/>
                </a:lnTo>
                <a:lnTo>
                  <a:pt x="34397" y="332386"/>
                </a:lnTo>
                <a:lnTo>
                  <a:pt x="56388" y="336804"/>
                </a:lnTo>
                <a:lnTo>
                  <a:pt x="1236726" y="336803"/>
                </a:lnTo>
                <a:lnTo>
                  <a:pt x="1258276" y="332386"/>
                </a:lnTo>
                <a:lnTo>
                  <a:pt x="1275969" y="320325"/>
                </a:lnTo>
                <a:lnTo>
                  <a:pt x="1287946" y="302406"/>
                </a:lnTo>
                <a:lnTo>
                  <a:pt x="1292352" y="280415"/>
                </a:lnTo>
                <a:lnTo>
                  <a:pt x="1292352" y="56387"/>
                </a:lnTo>
                <a:lnTo>
                  <a:pt x="1287946" y="34397"/>
                </a:lnTo>
                <a:lnTo>
                  <a:pt x="1275968" y="16478"/>
                </a:lnTo>
                <a:lnTo>
                  <a:pt x="1258276" y="4417"/>
                </a:lnTo>
                <a:lnTo>
                  <a:pt x="1236726" y="0"/>
                </a:lnTo>
                <a:lnTo>
                  <a:pt x="56387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4480940" y="5428996"/>
            <a:ext cx="18161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Arial"/>
                <a:cs typeface="Arial"/>
              </a:rPr>
              <a:t>IP</a:t>
            </a:r>
            <a:endParaRPr sz="14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780410" y="5483097"/>
            <a:ext cx="5657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70" dirty="0">
                <a:latin typeface="Arial"/>
                <a:cs typeface="Arial"/>
              </a:rPr>
              <a:t>Channel</a:t>
            </a:r>
            <a:endParaRPr sz="12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863475" y="5449570"/>
            <a:ext cx="5657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70" dirty="0">
                <a:latin typeface="Arial"/>
                <a:cs typeface="Arial"/>
              </a:rPr>
              <a:t>Channel</a:t>
            </a:r>
            <a:endParaRPr sz="12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6540627" y="5571997"/>
            <a:ext cx="831215" cy="0"/>
          </a:xfrm>
          <a:custGeom>
            <a:avLst/>
            <a:gdLst/>
            <a:ahLst/>
            <a:cxnLst/>
            <a:rect l="l" t="t" r="r" b="b"/>
            <a:pathLst>
              <a:path w="831215">
                <a:moveTo>
                  <a:pt x="0" y="0"/>
                </a:moveTo>
                <a:lnTo>
                  <a:pt x="830592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60342" y="261873"/>
            <a:ext cx="159829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45" dirty="0"/>
              <a:t>Sockets</a:t>
            </a:r>
            <a:endParaRPr sz="4200"/>
          </a:p>
        </p:txBody>
      </p:sp>
      <p:sp>
        <p:nvSpPr>
          <p:cNvPr id="4" name="object 4"/>
          <p:cNvSpPr txBox="1"/>
          <p:nvPr/>
        </p:nvSpPr>
        <p:spPr>
          <a:xfrm>
            <a:off x="392308" y="906499"/>
            <a:ext cx="8357991" cy="1998624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4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dirty="0">
                <a:latin typeface="Arial"/>
                <a:cs typeface="Arial"/>
              </a:rPr>
              <a:t>Uniquely </a:t>
            </a:r>
            <a:r>
              <a:rPr sz="2800" spc="5" dirty="0">
                <a:latin typeface="Arial"/>
                <a:cs typeface="Arial"/>
              </a:rPr>
              <a:t>identified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by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9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105" dirty="0">
                <a:latin typeface="Arial"/>
                <a:cs typeface="Arial"/>
              </a:rPr>
              <a:t>an </a:t>
            </a:r>
            <a:r>
              <a:rPr sz="2800" spc="5" dirty="0">
                <a:latin typeface="Arial"/>
                <a:cs typeface="Arial"/>
              </a:rPr>
              <a:t>internet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address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105" dirty="0">
                <a:latin typeface="Arial"/>
                <a:cs typeface="Arial"/>
              </a:rPr>
              <a:t>an </a:t>
            </a:r>
            <a:r>
              <a:rPr sz="2800" spc="-30" dirty="0">
                <a:latin typeface="Arial"/>
                <a:cs typeface="Arial"/>
              </a:rPr>
              <a:t>end-to-end </a:t>
            </a:r>
            <a:r>
              <a:rPr sz="2800" spc="-20" dirty="0">
                <a:latin typeface="Arial"/>
                <a:cs typeface="Arial"/>
              </a:rPr>
              <a:t>protocol </a:t>
            </a:r>
            <a:r>
              <a:rPr sz="2800" spc="-105" dirty="0">
                <a:latin typeface="Arial"/>
                <a:cs typeface="Arial"/>
              </a:rPr>
              <a:t>(e.g. </a:t>
            </a:r>
            <a:r>
              <a:rPr sz="2800" spc="-110" dirty="0">
                <a:latin typeface="Arial"/>
                <a:cs typeface="Arial"/>
              </a:rPr>
              <a:t>TCP </a:t>
            </a:r>
            <a:r>
              <a:rPr sz="2800" dirty="0">
                <a:latin typeface="Arial"/>
                <a:cs typeface="Arial"/>
              </a:rPr>
              <a:t>or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UDP)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8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229" dirty="0">
                <a:latin typeface="Arial"/>
                <a:cs typeface="Arial"/>
              </a:rPr>
              <a:t>a </a:t>
            </a:r>
            <a:r>
              <a:rPr sz="2800" spc="5" dirty="0">
                <a:latin typeface="Arial"/>
                <a:cs typeface="Arial"/>
              </a:rPr>
              <a:t>port</a:t>
            </a:r>
            <a:r>
              <a:rPr sz="2800" spc="-21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number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2309" y="2407209"/>
            <a:ext cx="8434191" cy="2985433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2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spc="-10" dirty="0">
                <a:latin typeface="Arial"/>
                <a:cs typeface="Arial"/>
              </a:rPr>
              <a:t>Two </a:t>
            </a:r>
            <a:r>
              <a:rPr sz="2800" spc="-95" dirty="0">
                <a:latin typeface="Arial"/>
                <a:cs typeface="Arial"/>
              </a:rPr>
              <a:t>types </a:t>
            </a:r>
            <a:r>
              <a:rPr sz="2800" spc="-15" dirty="0">
                <a:latin typeface="Arial"/>
                <a:cs typeface="Arial"/>
              </a:rPr>
              <a:t>of </a:t>
            </a:r>
            <a:r>
              <a:rPr sz="2800" spc="-45" dirty="0">
                <a:latin typeface="Arial"/>
                <a:cs typeface="Arial"/>
              </a:rPr>
              <a:t>(TCP/IP)</a:t>
            </a:r>
            <a:r>
              <a:rPr sz="2800" spc="-155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sockets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520"/>
              </a:spcBef>
              <a:buClr>
                <a:srgbClr val="9A6500"/>
              </a:buClr>
              <a:buSzPct val="59090"/>
              <a:buFont typeface="Wingdings"/>
              <a:buChar char=""/>
              <a:tabLst>
                <a:tab pos="682625" algn="l"/>
              </a:tabLst>
            </a:pPr>
            <a:r>
              <a:rPr sz="2800" b="1" spc="-175" dirty="0">
                <a:solidFill>
                  <a:srgbClr val="CC9A00"/>
                </a:solidFill>
                <a:latin typeface="Arial"/>
                <a:cs typeface="Arial"/>
              </a:rPr>
              <a:t>Stream </a:t>
            </a:r>
            <a:r>
              <a:rPr sz="2800" spc="-130" dirty="0">
                <a:latin typeface="Arial"/>
                <a:cs typeface="Arial"/>
              </a:rPr>
              <a:t>sockets </a:t>
            </a:r>
            <a:r>
              <a:rPr sz="2800" spc="-110" dirty="0">
                <a:latin typeface="Arial"/>
                <a:cs typeface="Arial"/>
              </a:rPr>
              <a:t>(e.g. </a:t>
            </a:r>
            <a:r>
              <a:rPr sz="2800" spc="-220" dirty="0">
                <a:latin typeface="Arial"/>
                <a:cs typeface="Arial"/>
              </a:rPr>
              <a:t>uses</a:t>
            </a:r>
            <a:r>
              <a:rPr sz="2800" spc="14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TCP)</a:t>
            </a:r>
            <a:endParaRPr sz="2800" dirty="0">
              <a:latin typeface="Arial"/>
              <a:cs typeface="Arial"/>
            </a:endParaRPr>
          </a:p>
          <a:p>
            <a:pPr marL="1035050" lvl="2" indent="-351155">
              <a:lnSpc>
                <a:spcPct val="100000"/>
              </a:lnSpc>
              <a:spcBef>
                <a:spcPts val="495"/>
              </a:spcBef>
              <a:buClr>
                <a:srgbClr val="9A6500"/>
              </a:buClr>
              <a:buSzPct val="65000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2800" spc="-35" dirty="0">
                <a:latin typeface="Arial"/>
                <a:cs typeface="Arial"/>
              </a:rPr>
              <a:t>provide </a:t>
            </a:r>
            <a:r>
              <a:rPr sz="2800" spc="-30" dirty="0">
                <a:latin typeface="Arial"/>
                <a:cs typeface="Arial"/>
              </a:rPr>
              <a:t>reliable </a:t>
            </a:r>
            <a:r>
              <a:rPr sz="2800" spc="-55" dirty="0">
                <a:latin typeface="Arial"/>
                <a:cs typeface="Arial"/>
              </a:rPr>
              <a:t>byte-stream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service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505"/>
              </a:spcBef>
              <a:buSzPct val="59090"/>
              <a:buFont typeface="Wingdings"/>
              <a:buChar char=""/>
              <a:tabLst>
                <a:tab pos="682625" algn="l"/>
              </a:tabLst>
            </a:pPr>
            <a:r>
              <a:rPr sz="2800" b="1" spc="-155" dirty="0">
                <a:solidFill>
                  <a:srgbClr val="9A6500"/>
                </a:solidFill>
                <a:latin typeface="Arial"/>
                <a:cs typeface="Arial"/>
              </a:rPr>
              <a:t>Datagram </a:t>
            </a:r>
            <a:r>
              <a:rPr sz="2800" spc="-130" dirty="0">
                <a:latin typeface="Arial"/>
                <a:cs typeface="Arial"/>
              </a:rPr>
              <a:t>sockets </a:t>
            </a:r>
            <a:r>
              <a:rPr sz="2800" spc="-110" dirty="0">
                <a:latin typeface="Arial"/>
                <a:cs typeface="Arial"/>
              </a:rPr>
              <a:t>(e.g. </a:t>
            </a:r>
            <a:r>
              <a:rPr sz="2800" spc="-220" dirty="0">
                <a:latin typeface="Arial"/>
                <a:cs typeface="Arial"/>
              </a:rPr>
              <a:t>uses</a:t>
            </a:r>
            <a:r>
              <a:rPr sz="2800" spc="125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UDP)</a:t>
            </a:r>
            <a:endParaRPr sz="2800" dirty="0">
              <a:latin typeface="Arial"/>
              <a:cs typeface="Arial"/>
            </a:endParaRPr>
          </a:p>
          <a:p>
            <a:pPr marL="1035050" lvl="2" indent="-351155">
              <a:lnSpc>
                <a:spcPct val="100000"/>
              </a:lnSpc>
              <a:spcBef>
                <a:spcPts val="490"/>
              </a:spcBef>
              <a:buClr>
                <a:srgbClr val="9A6500"/>
              </a:buClr>
              <a:buSzPct val="65000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2800" spc="-35" dirty="0">
                <a:latin typeface="Arial"/>
                <a:cs typeface="Arial"/>
              </a:rPr>
              <a:t>provide </a:t>
            </a:r>
            <a:r>
              <a:rPr sz="2800" spc="-30" dirty="0">
                <a:latin typeface="Arial"/>
                <a:cs typeface="Arial"/>
              </a:rPr>
              <a:t>best-effort </a:t>
            </a:r>
            <a:r>
              <a:rPr sz="2800" spc="-95" dirty="0">
                <a:latin typeface="Arial"/>
                <a:cs typeface="Arial"/>
              </a:rPr>
              <a:t>datagram</a:t>
            </a:r>
            <a:r>
              <a:rPr sz="2800" spc="-85" dirty="0">
                <a:latin typeface="Arial"/>
                <a:cs typeface="Arial"/>
              </a:rPr>
              <a:t> service</a:t>
            </a:r>
            <a:endParaRPr sz="2800" dirty="0">
              <a:latin typeface="Arial"/>
              <a:cs typeface="Arial"/>
            </a:endParaRPr>
          </a:p>
          <a:p>
            <a:pPr marL="1035050" lvl="2" indent="-351155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5000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2800" spc="-210" dirty="0">
                <a:latin typeface="Arial"/>
                <a:cs typeface="Arial"/>
              </a:rPr>
              <a:t>messages </a:t>
            </a:r>
            <a:r>
              <a:rPr sz="2800" spc="-55" dirty="0">
                <a:latin typeface="Arial"/>
                <a:cs typeface="Arial"/>
              </a:rPr>
              <a:t>up </a:t>
            </a:r>
            <a:r>
              <a:rPr sz="2800" dirty="0">
                <a:latin typeface="Arial"/>
                <a:cs typeface="Arial"/>
              </a:rPr>
              <a:t>to </a:t>
            </a:r>
            <a:r>
              <a:rPr sz="2800" spc="-105" dirty="0">
                <a:latin typeface="Arial"/>
                <a:cs typeface="Arial"/>
              </a:rPr>
              <a:t>65.500</a:t>
            </a:r>
            <a:r>
              <a:rPr sz="2800" spc="-330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bytes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60342" y="261873"/>
            <a:ext cx="159829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45" dirty="0"/>
              <a:t>Sockets</a:t>
            </a:r>
            <a:endParaRPr sz="4200"/>
          </a:p>
        </p:txBody>
      </p:sp>
      <p:sp>
        <p:nvSpPr>
          <p:cNvPr id="7" name="object 7"/>
          <p:cNvSpPr/>
          <p:nvPr/>
        </p:nvSpPr>
        <p:spPr>
          <a:xfrm>
            <a:off x="6177165" y="2987294"/>
            <a:ext cx="1024255" cy="76200"/>
          </a:xfrm>
          <a:custGeom>
            <a:avLst/>
            <a:gdLst/>
            <a:ahLst/>
            <a:cxnLst/>
            <a:rect l="l" t="t" r="r" b="b"/>
            <a:pathLst>
              <a:path w="1024254" h="76200">
                <a:moveTo>
                  <a:pt x="965453" y="38100"/>
                </a:moveTo>
                <a:lnTo>
                  <a:pt x="963930" y="35051"/>
                </a:lnTo>
                <a:lnTo>
                  <a:pt x="960107" y="33527"/>
                </a:lnTo>
                <a:lnTo>
                  <a:pt x="4559" y="33527"/>
                </a:lnTo>
                <a:lnTo>
                  <a:pt x="1511" y="35051"/>
                </a:lnTo>
                <a:lnTo>
                  <a:pt x="0" y="38100"/>
                </a:lnTo>
                <a:lnTo>
                  <a:pt x="1511" y="41909"/>
                </a:lnTo>
                <a:lnTo>
                  <a:pt x="4559" y="42671"/>
                </a:lnTo>
                <a:lnTo>
                  <a:pt x="960107" y="42671"/>
                </a:lnTo>
                <a:lnTo>
                  <a:pt x="963930" y="41909"/>
                </a:lnTo>
                <a:lnTo>
                  <a:pt x="965453" y="38100"/>
                </a:lnTo>
                <a:close/>
              </a:path>
              <a:path w="1024254" h="76200">
                <a:moveTo>
                  <a:pt x="1024127" y="38100"/>
                </a:moveTo>
                <a:lnTo>
                  <a:pt x="947927" y="0"/>
                </a:lnTo>
                <a:lnTo>
                  <a:pt x="947927" y="33527"/>
                </a:lnTo>
                <a:lnTo>
                  <a:pt x="960107" y="33527"/>
                </a:lnTo>
                <a:lnTo>
                  <a:pt x="963930" y="35051"/>
                </a:lnTo>
                <a:lnTo>
                  <a:pt x="965453" y="38100"/>
                </a:lnTo>
                <a:lnTo>
                  <a:pt x="965453" y="67437"/>
                </a:lnTo>
                <a:lnTo>
                  <a:pt x="1024127" y="38100"/>
                </a:lnTo>
                <a:close/>
              </a:path>
              <a:path w="1024254" h="76200">
                <a:moveTo>
                  <a:pt x="965453" y="67437"/>
                </a:moveTo>
                <a:lnTo>
                  <a:pt x="965453" y="38100"/>
                </a:lnTo>
                <a:lnTo>
                  <a:pt x="963930" y="41909"/>
                </a:lnTo>
                <a:lnTo>
                  <a:pt x="960107" y="42671"/>
                </a:lnTo>
                <a:lnTo>
                  <a:pt x="947927" y="42671"/>
                </a:lnTo>
                <a:lnTo>
                  <a:pt x="947927" y="76200"/>
                </a:lnTo>
                <a:lnTo>
                  <a:pt x="965453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650103" y="2878277"/>
            <a:ext cx="132080" cy="80899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400" spc="-5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  <a:spcBef>
                <a:spcPts val="395"/>
              </a:spcBef>
            </a:pPr>
            <a:r>
              <a:rPr sz="1400" spc="-5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  <a:spcBef>
                <a:spcPts val="335"/>
              </a:spcBef>
            </a:pPr>
            <a:r>
              <a:rPr sz="1400" spc="-5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67793" y="2921000"/>
            <a:ext cx="683260" cy="1606550"/>
          </a:xfrm>
          <a:custGeom>
            <a:avLst/>
            <a:gdLst/>
            <a:ahLst/>
            <a:cxnLst/>
            <a:rect l="l" t="t" r="r" b="b"/>
            <a:pathLst>
              <a:path w="683259" h="1606550">
                <a:moveTo>
                  <a:pt x="0" y="0"/>
                </a:moveTo>
                <a:lnTo>
                  <a:pt x="0" y="1606296"/>
                </a:lnTo>
                <a:lnTo>
                  <a:pt x="682751" y="1606296"/>
                </a:lnTo>
                <a:lnTo>
                  <a:pt x="68275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9900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67793" y="2921000"/>
            <a:ext cx="681990" cy="1606550"/>
          </a:xfrm>
          <a:custGeom>
            <a:avLst/>
            <a:gdLst/>
            <a:ahLst/>
            <a:cxnLst/>
            <a:rect l="l" t="t" r="r" b="b"/>
            <a:pathLst>
              <a:path w="681990" h="1606550">
                <a:moveTo>
                  <a:pt x="0" y="0"/>
                </a:moveTo>
                <a:lnTo>
                  <a:pt x="0" y="1606296"/>
                </a:lnTo>
                <a:lnTo>
                  <a:pt x="681990" y="1606296"/>
                </a:lnTo>
                <a:lnTo>
                  <a:pt x="68199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876925" y="3189223"/>
            <a:ext cx="673100" cy="0"/>
          </a:xfrm>
          <a:custGeom>
            <a:avLst/>
            <a:gdLst/>
            <a:ahLst/>
            <a:cxnLst/>
            <a:rect l="l" t="t" r="r" b="b"/>
            <a:pathLst>
              <a:path w="673100">
                <a:moveTo>
                  <a:pt x="0" y="0"/>
                </a:moveTo>
                <a:lnTo>
                  <a:pt x="67284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873877" y="3452876"/>
            <a:ext cx="673100" cy="0"/>
          </a:xfrm>
          <a:custGeom>
            <a:avLst/>
            <a:gdLst/>
            <a:ahLst/>
            <a:cxnLst/>
            <a:rect l="l" t="t" r="r" b="b"/>
            <a:pathLst>
              <a:path w="673100">
                <a:moveTo>
                  <a:pt x="0" y="0"/>
                </a:moveTo>
                <a:lnTo>
                  <a:pt x="67284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73877" y="3719576"/>
            <a:ext cx="673100" cy="0"/>
          </a:xfrm>
          <a:custGeom>
            <a:avLst/>
            <a:gdLst/>
            <a:ahLst/>
            <a:cxnLst/>
            <a:rect l="l" t="t" r="r" b="b"/>
            <a:pathLst>
              <a:path w="673100">
                <a:moveTo>
                  <a:pt x="0" y="0"/>
                </a:moveTo>
                <a:lnTo>
                  <a:pt x="67284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881496" y="3971797"/>
            <a:ext cx="673735" cy="0"/>
          </a:xfrm>
          <a:custGeom>
            <a:avLst/>
            <a:gdLst/>
            <a:ahLst/>
            <a:cxnLst/>
            <a:rect l="l" t="t" r="r" b="b"/>
            <a:pathLst>
              <a:path w="673734">
                <a:moveTo>
                  <a:pt x="0" y="0"/>
                </a:moveTo>
                <a:lnTo>
                  <a:pt x="67362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235825" y="2758948"/>
            <a:ext cx="13938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internal data  structure </a:t>
            </a:r>
            <a:r>
              <a:rPr sz="1400" spc="-5" dirty="0">
                <a:latin typeface="Arial"/>
                <a:cs typeface="Arial"/>
              </a:rPr>
              <a:t>for file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013322" y="4287265"/>
            <a:ext cx="421005" cy="0"/>
          </a:xfrm>
          <a:custGeom>
            <a:avLst/>
            <a:gdLst/>
            <a:ahLst/>
            <a:cxnLst/>
            <a:rect l="l" t="t" r="r" b="b"/>
            <a:pathLst>
              <a:path w="421004">
                <a:moveTo>
                  <a:pt x="0" y="0"/>
                </a:moveTo>
                <a:lnTo>
                  <a:pt x="420624" y="0"/>
                </a:lnTo>
              </a:path>
            </a:pathLst>
          </a:custGeom>
          <a:ln w="2857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7032688" y="3698811"/>
          <a:ext cx="2001520" cy="16846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1520"/>
              </a:tblGrid>
              <a:tr h="242570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Family: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PF_INET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>
                        <a:alpha val="29998"/>
                      </a:srgbClr>
                    </a:solidFill>
                  </a:tcPr>
                </a:tc>
              </a:tr>
              <a:tr h="239395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Service:</a:t>
                      </a:r>
                      <a:r>
                        <a:rPr sz="12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SOCK_STREAM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>
                        <a:alpha val="29998"/>
                      </a:srgbClr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200" spc="-10" dirty="0">
                          <a:latin typeface="Arial"/>
                          <a:cs typeface="Arial"/>
                        </a:rPr>
                        <a:t>Local_IP: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>
                        <a:alpha val="29998"/>
                      </a:srgbClr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Remote_IP: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66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>
                        <a:alpha val="29998"/>
                      </a:srgbClr>
                    </a:solidFill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marR="26034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latin typeface="Arial"/>
                          <a:cs typeface="Arial"/>
                        </a:rPr>
                        <a:t>Local_Port: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>
                        <a:alpha val="29998"/>
                      </a:srgbClr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spc="-5" dirty="0">
                          <a:latin typeface="Arial"/>
                          <a:cs typeface="Arial"/>
                        </a:rPr>
                        <a:t>Remote_Port: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>
                        <a:alpha val="29998"/>
                      </a:srgbClr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…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>
                        <a:alpha val="29998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6202298" y="3801871"/>
            <a:ext cx="794385" cy="76200"/>
          </a:xfrm>
          <a:custGeom>
            <a:avLst/>
            <a:gdLst/>
            <a:ahLst/>
            <a:cxnLst/>
            <a:rect l="l" t="t" r="r" b="b"/>
            <a:pathLst>
              <a:path w="794384" h="76200">
                <a:moveTo>
                  <a:pt x="735342" y="38100"/>
                </a:moveTo>
                <a:lnTo>
                  <a:pt x="733818" y="34289"/>
                </a:lnTo>
                <a:lnTo>
                  <a:pt x="730770" y="33527"/>
                </a:lnTo>
                <a:lnTo>
                  <a:pt x="4572" y="33527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730770" y="42672"/>
                </a:lnTo>
                <a:lnTo>
                  <a:pt x="733818" y="41148"/>
                </a:lnTo>
                <a:lnTo>
                  <a:pt x="735342" y="38100"/>
                </a:lnTo>
                <a:close/>
              </a:path>
              <a:path w="794384" h="76200">
                <a:moveTo>
                  <a:pt x="794016" y="38100"/>
                </a:moveTo>
                <a:lnTo>
                  <a:pt x="717816" y="0"/>
                </a:lnTo>
                <a:lnTo>
                  <a:pt x="717816" y="33527"/>
                </a:lnTo>
                <a:lnTo>
                  <a:pt x="730770" y="33527"/>
                </a:lnTo>
                <a:lnTo>
                  <a:pt x="733818" y="34289"/>
                </a:lnTo>
                <a:lnTo>
                  <a:pt x="735342" y="38100"/>
                </a:lnTo>
                <a:lnTo>
                  <a:pt x="735342" y="67437"/>
                </a:lnTo>
                <a:lnTo>
                  <a:pt x="794016" y="38100"/>
                </a:lnTo>
                <a:close/>
              </a:path>
              <a:path w="794384" h="76200">
                <a:moveTo>
                  <a:pt x="735342" y="67437"/>
                </a:moveTo>
                <a:lnTo>
                  <a:pt x="735342" y="38100"/>
                </a:lnTo>
                <a:lnTo>
                  <a:pt x="733818" y="41148"/>
                </a:lnTo>
                <a:lnTo>
                  <a:pt x="730770" y="42672"/>
                </a:lnTo>
                <a:lnTo>
                  <a:pt x="717816" y="42672"/>
                </a:lnTo>
                <a:lnTo>
                  <a:pt x="717816" y="76200"/>
                </a:lnTo>
                <a:lnTo>
                  <a:pt x="735342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638672" y="2668270"/>
            <a:ext cx="11417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Descriptor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Table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6"/>
          <p:cNvSpPr txBox="1"/>
          <p:nvPr/>
        </p:nvSpPr>
        <p:spPr>
          <a:xfrm>
            <a:off x="392309" y="1060450"/>
            <a:ext cx="8510391" cy="1320233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5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400" spc="-114" dirty="0">
                <a:latin typeface="Arial"/>
                <a:cs typeface="Arial"/>
              </a:rPr>
              <a:t>Socket </a:t>
            </a:r>
            <a:r>
              <a:rPr sz="2400" spc="-70" dirty="0">
                <a:latin typeface="Arial"/>
                <a:cs typeface="Arial"/>
              </a:rPr>
              <a:t>extend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spc="-45" dirty="0">
                <a:latin typeface="Arial"/>
                <a:cs typeface="Arial"/>
              </a:rPr>
              <a:t>convectional </a:t>
            </a:r>
            <a:r>
              <a:rPr sz="2400" spc="30" dirty="0">
                <a:latin typeface="Arial"/>
                <a:cs typeface="Arial"/>
              </a:rPr>
              <a:t>UNIX </a:t>
            </a:r>
            <a:r>
              <a:rPr sz="2400" spc="60" dirty="0">
                <a:latin typeface="Arial"/>
                <a:cs typeface="Arial"/>
              </a:rPr>
              <a:t>I/O</a:t>
            </a:r>
            <a:r>
              <a:rPr sz="2400" spc="-18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facilities</a:t>
            </a:r>
            <a:endParaRPr sz="24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50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400" spc="30" dirty="0">
                <a:latin typeface="Arial"/>
                <a:cs typeface="Arial"/>
              </a:rPr>
              <a:t>file </a:t>
            </a:r>
            <a:r>
              <a:rPr sz="2400" spc="-65" dirty="0">
                <a:latin typeface="Arial"/>
                <a:cs typeface="Arial"/>
              </a:rPr>
              <a:t>descriptors </a:t>
            </a:r>
            <a:r>
              <a:rPr sz="2400" spc="25" dirty="0">
                <a:latin typeface="Arial"/>
                <a:cs typeface="Arial"/>
              </a:rPr>
              <a:t>for </a:t>
            </a:r>
            <a:r>
              <a:rPr sz="2400" spc="10" dirty="0">
                <a:latin typeface="Arial"/>
                <a:cs typeface="Arial"/>
              </a:rPr>
              <a:t>network</a:t>
            </a:r>
            <a:r>
              <a:rPr sz="2400" spc="-22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communication</a:t>
            </a:r>
            <a:endParaRPr sz="24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400" spc="-80" dirty="0">
                <a:latin typeface="Arial"/>
                <a:cs typeface="Arial"/>
              </a:rPr>
              <a:t>extended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spc="-100" dirty="0">
                <a:latin typeface="Arial"/>
                <a:cs typeface="Arial"/>
              </a:rPr>
              <a:t>read </a:t>
            </a:r>
            <a:r>
              <a:rPr sz="2400" spc="-95" dirty="0">
                <a:latin typeface="Arial"/>
                <a:cs typeface="Arial"/>
              </a:rPr>
              <a:t>and </a:t>
            </a:r>
            <a:r>
              <a:rPr sz="2400" spc="40" dirty="0">
                <a:latin typeface="Arial"/>
                <a:cs typeface="Arial"/>
              </a:rPr>
              <a:t>write </a:t>
            </a:r>
            <a:r>
              <a:rPr sz="2400" spc="-114" dirty="0">
                <a:latin typeface="Arial"/>
                <a:cs typeface="Arial"/>
              </a:rPr>
              <a:t>system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calls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60342" y="261873"/>
            <a:ext cx="159829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45" dirty="0"/>
              <a:t>Sockets</a:t>
            </a:r>
            <a:endParaRPr sz="4200"/>
          </a:p>
        </p:txBody>
      </p:sp>
      <p:sp>
        <p:nvSpPr>
          <p:cNvPr id="4" name="object 4"/>
          <p:cNvSpPr/>
          <p:nvPr/>
        </p:nvSpPr>
        <p:spPr>
          <a:xfrm>
            <a:off x="1544777" y="1839531"/>
            <a:ext cx="6319634" cy="26087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065398" y="4060444"/>
            <a:ext cx="4832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TCP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23127" y="4055871"/>
            <a:ext cx="509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UDP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00059" y="4608067"/>
            <a:ext cx="5960110" cy="452755"/>
          </a:xfrm>
          <a:custGeom>
            <a:avLst/>
            <a:gdLst/>
            <a:ahLst/>
            <a:cxnLst/>
            <a:rect l="l" t="t" r="r" b="b"/>
            <a:pathLst>
              <a:path w="5960109" h="452754">
                <a:moveTo>
                  <a:pt x="5959589" y="377190"/>
                </a:moveTo>
                <a:lnTo>
                  <a:pt x="5959589" y="75437"/>
                </a:lnTo>
                <a:lnTo>
                  <a:pt x="5953695" y="46291"/>
                </a:lnTo>
                <a:lnTo>
                  <a:pt x="5937588" y="22288"/>
                </a:lnTo>
                <a:lnTo>
                  <a:pt x="5913624" y="6000"/>
                </a:lnTo>
                <a:lnTo>
                  <a:pt x="5884164" y="0"/>
                </a:lnTo>
                <a:lnTo>
                  <a:pt x="75437" y="0"/>
                </a:lnTo>
                <a:lnTo>
                  <a:pt x="46291" y="6000"/>
                </a:lnTo>
                <a:lnTo>
                  <a:pt x="22288" y="22288"/>
                </a:lnTo>
                <a:lnTo>
                  <a:pt x="6000" y="46291"/>
                </a:lnTo>
                <a:lnTo>
                  <a:pt x="0" y="75438"/>
                </a:lnTo>
                <a:lnTo>
                  <a:pt x="0" y="377190"/>
                </a:lnTo>
                <a:lnTo>
                  <a:pt x="6000" y="406657"/>
                </a:lnTo>
                <a:lnTo>
                  <a:pt x="22288" y="430625"/>
                </a:lnTo>
                <a:lnTo>
                  <a:pt x="46291" y="446734"/>
                </a:lnTo>
                <a:lnTo>
                  <a:pt x="75437" y="452628"/>
                </a:lnTo>
                <a:lnTo>
                  <a:pt x="5884164" y="452628"/>
                </a:lnTo>
                <a:lnTo>
                  <a:pt x="5913624" y="446734"/>
                </a:lnTo>
                <a:lnTo>
                  <a:pt x="5937588" y="430625"/>
                </a:lnTo>
                <a:lnTo>
                  <a:pt x="5953695" y="406657"/>
                </a:lnTo>
                <a:lnTo>
                  <a:pt x="5959589" y="37719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00059" y="4608067"/>
            <a:ext cx="5960110" cy="452755"/>
          </a:xfrm>
          <a:custGeom>
            <a:avLst/>
            <a:gdLst/>
            <a:ahLst/>
            <a:cxnLst/>
            <a:rect l="l" t="t" r="r" b="b"/>
            <a:pathLst>
              <a:path w="5960109" h="452754">
                <a:moveTo>
                  <a:pt x="75437" y="0"/>
                </a:moveTo>
                <a:lnTo>
                  <a:pt x="46291" y="6000"/>
                </a:lnTo>
                <a:lnTo>
                  <a:pt x="22288" y="22288"/>
                </a:lnTo>
                <a:lnTo>
                  <a:pt x="6000" y="46291"/>
                </a:lnTo>
                <a:lnTo>
                  <a:pt x="0" y="75438"/>
                </a:lnTo>
                <a:lnTo>
                  <a:pt x="0" y="377190"/>
                </a:lnTo>
                <a:lnTo>
                  <a:pt x="6000" y="406657"/>
                </a:lnTo>
                <a:lnTo>
                  <a:pt x="22288" y="430625"/>
                </a:lnTo>
                <a:lnTo>
                  <a:pt x="46291" y="446734"/>
                </a:lnTo>
                <a:lnTo>
                  <a:pt x="75437" y="452628"/>
                </a:lnTo>
                <a:lnTo>
                  <a:pt x="5884164" y="452628"/>
                </a:lnTo>
                <a:lnTo>
                  <a:pt x="5913624" y="446734"/>
                </a:lnTo>
                <a:lnTo>
                  <a:pt x="5937588" y="430625"/>
                </a:lnTo>
                <a:lnTo>
                  <a:pt x="5953695" y="406657"/>
                </a:lnTo>
                <a:lnTo>
                  <a:pt x="5959589" y="377190"/>
                </a:lnTo>
                <a:lnTo>
                  <a:pt x="5959589" y="75437"/>
                </a:lnTo>
                <a:lnTo>
                  <a:pt x="5953695" y="46291"/>
                </a:lnTo>
                <a:lnTo>
                  <a:pt x="5937588" y="22288"/>
                </a:lnTo>
                <a:lnTo>
                  <a:pt x="5913624" y="6000"/>
                </a:lnTo>
                <a:lnTo>
                  <a:pt x="5884164" y="0"/>
                </a:lnTo>
                <a:lnTo>
                  <a:pt x="75437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759337" y="4677664"/>
            <a:ext cx="241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IP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895993" y="2934716"/>
            <a:ext cx="755650" cy="0"/>
          </a:xfrm>
          <a:custGeom>
            <a:avLst/>
            <a:gdLst/>
            <a:ahLst/>
            <a:cxnLst/>
            <a:rect l="l" t="t" r="r" b="b"/>
            <a:pathLst>
              <a:path w="755650">
                <a:moveTo>
                  <a:pt x="0" y="0"/>
                </a:moveTo>
                <a:lnTo>
                  <a:pt x="755141" y="0"/>
                </a:lnTo>
              </a:path>
            </a:pathLst>
          </a:custGeom>
          <a:ln w="31750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137541" y="2906522"/>
            <a:ext cx="755650" cy="0"/>
          </a:xfrm>
          <a:custGeom>
            <a:avLst/>
            <a:gdLst/>
            <a:ahLst/>
            <a:cxnLst/>
            <a:rect l="l" t="t" r="r" b="b"/>
            <a:pathLst>
              <a:path w="755650">
                <a:moveTo>
                  <a:pt x="0" y="0"/>
                </a:moveTo>
                <a:lnTo>
                  <a:pt x="755129" y="0"/>
                </a:lnTo>
              </a:path>
            </a:pathLst>
          </a:custGeom>
          <a:ln w="31750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971929" y="3677158"/>
            <a:ext cx="3981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4325" algn="l"/>
              </a:tabLst>
            </a:pPr>
            <a:r>
              <a:rPr sz="1000" b="1" dirty="0">
                <a:latin typeface="Arial"/>
                <a:cs typeface="Arial"/>
              </a:rPr>
              <a:t>1	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02480" y="3669538"/>
            <a:ext cx="37592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latin typeface="Arial"/>
                <a:cs typeface="Arial"/>
              </a:rPr>
              <a:t>655</a:t>
            </a:r>
            <a:r>
              <a:rPr sz="1000" b="1" spc="-15" dirty="0">
                <a:latin typeface="Arial"/>
                <a:cs typeface="Arial"/>
              </a:rPr>
              <a:t>3</a:t>
            </a:r>
            <a:r>
              <a:rPr sz="1000" b="1" dirty="0">
                <a:latin typeface="Arial"/>
                <a:cs typeface="Arial"/>
              </a:rPr>
              <a:t>5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53278" y="3687064"/>
            <a:ext cx="3981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4325" algn="l"/>
              </a:tabLst>
            </a:pPr>
            <a:r>
              <a:rPr sz="1000" b="1" dirty="0">
                <a:latin typeface="Arial"/>
                <a:cs typeface="Arial"/>
              </a:rPr>
              <a:t>1	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5665" y="1935988"/>
            <a:ext cx="842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Applications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0643" y="2823717"/>
            <a:ext cx="889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TCP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sockets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24622" y="2787141"/>
            <a:ext cx="905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UDP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sockets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22299" y="3642867"/>
            <a:ext cx="711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TCP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ports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83831" y="3653535"/>
            <a:ext cx="1336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0395" algn="l"/>
              </a:tabLst>
            </a:pPr>
            <a:r>
              <a:rPr sz="1000" b="1" spc="-10" dirty="0">
                <a:latin typeface="Arial"/>
                <a:cs typeface="Arial"/>
              </a:rPr>
              <a:t>65535	</a:t>
            </a:r>
            <a:r>
              <a:rPr sz="1800" spc="-7" baseline="2314" dirty="0">
                <a:latin typeface="Arial"/>
                <a:cs typeface="Arial"/>
              </a:rPr>
              <a:t>UDP</a:t>
            </a:r>
            <a:r>
              <a:rPr sz="1800" spc="-97" baseline="2314" dirty="0">
                <a:latin typeface="Arial"/>
                <a:cs typeface="Arial"/>
              </a:rPr>
              <a:t> </a:t>
            </a:r>
            <a:r>
              <a:rPr sz="1800" baseline="2314" dirty="0">
                <a:latin typeface="Arial"/>
                <a:cs typeface="Arial"/>
              </a:rPr>
              <a:t>ports</a:t>
            </a:r>
            <a:endParaRPr sz="1800" baseline="2314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88059" y="1425447"/>
            <a:ext cx="74422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Descriptor  </a:t>
            </a:r>
            <a:r>
              <a:rPr sz="1200" dirty="0">
                <a:latin typeface="Arial"/>
                <a:cs typeface="Arial"/>
              </a:rPr>
              <a:t>ref</a:t>
            </a:r>
            <a:r>
              <a:rPr sz="1200" spc="-15" dirty="0">
                <a:latin typeface="Arial"/>
                <a:cs typeface="Arial"/>
              </a:rPr>
              <a:t>e</a:t>
            </a:r>
            <a:r>
              <a:rPr sz="1200" spc="-5" dirty="0">
                <a:latin typeface="Arial"/>
                <a:cs typeface="Arial"/>
              </a:rPr>
              <a:t>r</a:t>
            </a:r>
            <a:r>
              <a:rPr sz="1200" spc="-15" dirty="0">
                <a:latin typeface="Arial"/>
                <a:cs typeface="Arial"/>
              </a:rPr>
              <a:t>e</a:t>
            </a:r>
            <a:r>
              <a:rPr sz="1200" spc="-5" dirty="0">
                <a:latin typeface="Arial"/>
                <a:cs typeface="Arial"/>
              </a:rPr>
              <a:t>nces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042277" y="3222244"/>
            <a:ext cx="15824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Sockets bound to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5" dirty="0">
                <a:latin typeface="Arial"/>
                <a:cs typeface="Arial"/>
              </a:rPr>
              <a:t>ports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43685" y="264921"/>
            <a:ext cx="6032500" cy="60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spc="-65" dirty="0">
                <a:latin typeface="Arial"/>
                <a:cs typeface="Arial"/>
              </a:rPr>
              <a:t>Client-Server</a:t>
            </a:r>
            <a:r>
              <a:rPr sz="3800" spc="-145" dirty="0">
                <a:latin typeface="Arial"/>
                <a:cs typeface="Arial"/>
              </a:rPr>
              <a:t> </a:t>
            </a:r>
            <a:r>
              <a:rPr sz="3800" spc="-50" dirty="0">
                <a:latin typeface="Arial"/>
                <a:cs typeface="Arial"/>
              </a:rPr>
              <a:t>communication</a:t>
            </a:r>
            <a:endParaRPr sz="3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2308" y="1844004"/>
            <a:ext cx="8129391" cy="3483646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4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b="1" spc="-165" dirty="0">
                <a:solidFill>
                  <a:srgbClr val="3B822F"/>
                </a:solidFill>
                <a:latin typeface="Arial"/>
                <a:cs typeface="Arial"/>
              </a:rPr>
              <a:t>Server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9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85" dirty="0">
                <a:latin typeface="Arial"/>
                <a:cs typeface="Arial"/>
              </a:rPr>
              <a:t>passively </a:t>
            </a:r>
            <a:r>
              <a:rPr sz="2800" spc="-40" dirty="0">
                <a:latin typeface="Arial"/>
                <a:cs typeface="Arial"/>
              </a:rPr>
              <a:t>waits </a:t>
            </a:r>
            <a:r>
              <a:rPr sz="2800" spc="25" dirty="0">
                <a:latin typeface="Arial"/>
                <a:cs typeface="Arial"/>
              </a:rPr>
              <a:t>for </a:t>
            </a:r>
            <a:r>
              <a:rPr sz="2800" spc="-90" dirty="0">
                <a:latin typeface="Arial"/>
                <a:cs typeface="Arial"/>
              </a:rPr>
              <a:t>and </a:t>
            </a:r>
            <a:r>
              <a:rPr sz="2800" spc="-110" dirty="0">
                <a:latin typeface="Arial"/>
                <a:cs typeface="Arial"/>
              </a:rPr>
              <a:t>responds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clients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210" dirty="0">
                <a:solidFill>
                  <a:srgbClr val="3B822F"/>
                </a:solidFill>
                <a:latin typeface="Arial"/>
                <a:cs typeface="Arial"/>
              </a:rPr>
              <a:t>passive</a:t>
            </a:r>
            <a:r>
              <a:rPr sz="2800" b="1" spc="-65" dirty="0">
                <a:solidFill>
                  <a:srgbClr val="3B822F"/>
                </a:solidFill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socket</a:t>
            </a:r>
            <a:endParaRPr sz="2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b="1" spc="-75" dirty="0">
                <a:solidFill>
                  <a:srgbClr val="CA6800"/>
                </a:solidFill>
                <a:latin typeface="Arial"/>
                <a:cs typeface="Arial"/>
              </a:rPr>
              <a:t>Client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9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15" dirty="0">
                <a:latin typeface="Arial"/>
                <a:cs typeface="Arial"/>
              </a:rPr>
              <a:t>initiates </a:t>
            </a:r>
            <a:r>
              <a:rPr sz="2800" spc="-25" dirty="0">
                <a:latin typeface="Arial"/>
                <a:cs typeface="Arial"/>
              </a:rPr>
              <a:t>the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30" dirty="0">
                <a:latin typeface="Arial"/>
                <a:cs typeface="Arial"/>
              </a:rPr>
              <a:t>communication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8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60" dirty="0">
                <a:latin typeface="Arial"/>
                <a:cs typeface="Arial"/>
              </a:rPr>
              <a:t>must </a:t>
            </a:r>
            <a:r>
              <a:rPr sz="2800" spc="15" dirty="0">
                <a:latin typeface="Arial"/>
                <a:cs typeface="Arial"/>
              </a:rPr>
              <a:t>know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-145" dirty="0">
                <a:latin typeface="Arial"/>
                <a:cs typeface="Arial"/>
              </a:rPr>
              <a:t>address </a:t>
            </a:r>
            <a:r>
              <a:rPr sz="2800" spc="-90" dirty="0">
                <a:latin typeface="Arial"/>
                <a:cs typeface="Arial"/>
              </a:rPr>
              <a:t>and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5" dirty="0">
                <a:latin typeface="Arial"/>
                <a:cs typeface="Arial"/>
              </a:rPr>
              <a:t>port </a:t>
            </a:r>
            <a:r>
              <a:rPr sz="2800" spc="-10" dirty="0">
                <a:latin typeface="Arial"/>
                <a:cs typeface="Arial"/>
              </a:rPr>
              <a:t>of </a:t>
            </a:r>
            <a:r>
              <a:rPr sz="2800" spc="-25" dirty="0">
                <a:latin typeface="Arial"/>
                <a:cs typeface="Arial"/>
              </a:rPr>
              <a:t>the</a:t>
            </a:r>
            <a:r>
              <a:rPr sz="2800" spc="-245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server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125" dirty="0">
                <a:solidFill>
                  <a:srgbClr val="CA6800"/>
                </a:solidFill>
                <a:latin typeface="Arial"/>
                <a:cs typeface="Arial"/>
              </a:rPr>
              <a:t>active</a:t>
            </a:r>
            <a:r>
              <a:rPr sz="2800" b="1" spc="-65" dirty="0">
                <a:solidFill>
                  <a:srgbClr val="CA6800"/>
                </a:solidFill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socket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6591" y="261873"/>
            <a:ext cx="372681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50" dirty="0"/>
              <a:t>Sockets </a:t>
            </a:r>
            <a:r>
              <a:rPr sz="3200" spc="-200" dirty="0"/>
              <a:t>-</a:t>
            </a:r>
            <a:r>
              <a:rPr sz="3200" spc="-495" dirty="0"/>
              <a:t> </a:t>
            </a:r>
            <a:r>
              <a:rPr sz="3200" spc="-204" dirty="0"/>
              <a:t>Procedures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198555" y="1005838"/>
            <a:ext cx="8774346" cy="508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6989" y="1790192"/>
            <a:ext cx="8766175" cy="389890"/>
          </a:xfrm>
          <a:custGeom>
            <a:avLst/>
            <a:gdLst/>
            <a:ahLst/>
            <a:cxnLst/>
            <a:rect l="l" t="t" r="r" b="b"/>
            <a:pathLst>
              <a:path w="8766175" h="389889">
                <a:moveTo>
                  <a:pt x="8766035" y="324612"/>
                </a:moveTo>
                <a:lnTo>
                  <a:pt x="8766035" y="64770"/>
                </a:lnTo>
                <a:lnTo>
                  <a:pt x="8760953" y="39540"/>
                </a:lnTo>
                <a:lnTo>
                  <a:pt x="8747086" y="18954"/>
                </a:lnTo>
                <a:lnTo>
                  <a:pt x="8726505" y="5083"/>
                </a:lnTo>
                <a:lnTo>
                  <a:pt x="8701278" y="0"/>
                </a:lnTo>
                <a:lnTo>
                  <a:pt x="64770" y="0"/>
                </a:lnTo>
                <a:lnTo>
                  <a:pt x="39540" y="5083"/>
                </a:lnTo>
                <a:lnTo>
                  <a:pt x="18954" y="18954"/>
                </a:lnTo>
                <a:lnTo>
                  <a:pt x="5083" y="39540"/>
                </a:lnTo>
                <a:lnTo>
                  <a:pt x="0" y="64770"/>
                </a:lnTo>
                <a:lnTo>
                  <a:pt x="0" y="324612"/>
                </a:lnTo>
                <a:lnTo>
                  <a:pt x="5083" y="349841"/>
                </a:lnTo>
                <a:lnTo>
                  <a:pt x="18954" y="370427"/>
                </a:lnTo>
                <a:lnTo>
                  <a:pt x="39540" y="384298"/>
                </a:lnTo>
                <a:lnTo>
                  <a:pt x="64770" y="389382"/>
                </a:lnTo>
                <a:lnTo>
                  <a:pt x="8701278" y="389382"/>
                </a:lnTo>
                <a:lnTo>
                  <a:pt x="8726505" y="384298"/>
                </a:lnTo>
                <a:lnTo>
                  <a:pt x="8747086" y="370427"/>
                </a:lnTo>
                <a:lnTo>
                  <a:pt x="8760953" y="349841"/>
                </a:lnTo>
                <a:lnTo>
                  <a:pt x="8766035" y="324612"/>
                </a:lnTo>
                <a:close/>
              </a:path>
            </a:pathLst>
          </a:custGeom>
          <a:solidFill>
            <a:srgbClr val="CCFFFF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6989" y="1790192"/>
            <a:ext cx="8766175" cy="389890"/>
          </a:xfrm>
          <a:custGeom>
            <a:avLst/>
            <a:gdLst/>
            <a:ahLst/>
            <a:cxnLst/>
            <a:rect l="l" t="t" r="r" b="b"/>
            <a:pathLst>
              <a:path w="8766175" h="389889">
                <a:moveTo>
                  <a:pt x="64770" y="0"/>
                </a:moveTo>
                <a:lnTo>
                  <a:pt x="39540" y="5083"/>
                </a:lnTo>
                <a:lnTo>
                  <a:pt x="18954" y="18954"/>
                </a:lnTo>
                <a:lnTo>
                  <a:pt x="5083" y="39540"/>
                </a:lnTo>
                <a:lnTo>
                  <a:pt x="0" y="64770"/>
                </a:lnTo>
                <a:lnTo>
                  <a:pt x="0" y="324612"/>
                </a:lnTo>
                <a:lnTo>
                  <a:pt x="5083" y="349841"/>
                </a:lnTo>
                <a:lnTo>
                  <a:pt x="18954" y="370427"/>
                </a:lnTo>
                <a:lnTo>
                  <a:pt x="39540" y="384298"/>
                </a:lnTo>
                <a:lnTo>
                  <a:pt x="64770" y="389382"/>
                </a:lnTo>
                <a:lnTo>
                  <a:pt x="8701278" y="389382"/>
                </a:lnTo>
                <a:lnTo>
                  <a:pt x="8726505" y="384298"/>
                </a:lnTo>
                <a:lnTo>
                  <a:pt x="8747086" y="370427"/>
                </a:lnTo>
                <a:lnTo>
                  <a:pt x="8760953" y="349841"/>
                </a:lnTo>
                <a:lnTo>
                  <a:pt x="8766035" y="324612"/>
                </a:lnTo>
                <a:lnTo>
                  <a:pt x="8766035" y="64770"/>
                </a:lnTo>
                <a:lnTo>
                  <a:pt x="8760953" y="39540"/>
                </a:lnTo>
                <a:lnTo>
                  <a:pt x="8747086" y="18954"/>
                </a:lnTo>
                <a:lnTo>
                  <a:pt x="8726505" y="5083"/>
                </a:lnTo>
                <a:lnTo>
                  <a:pt x="8701278" y="0"/>
                </a:lnTo>
                <a:lnTo>
                  <a:pt x="6477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51979" y="261873"/>
            <a:ext cx="761492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35" dirty="0"/>
              <a:t>Client</a:t>
            </a:r>
            <a:r>
              <a:rPr sz="4200" spc="20" dirty="0"/>
              <a:t> </a:t>
            </a:r>
            <a:r>
              <a:rPr sz="4200" spc="-260" dirty="0"/>
              <a:t>-</a:t>
            </a:r>
            <a:r>
              <a:rPr sz="4200" spc="45" dirty="0"/>
              <a:t> </a:t>
            </a:r>
            <a:r>
              <a:rPr sz="4200" spc="-280" dirty="0"/>
              <a:t>Server</a:t>
            </a:r>
            <a:r>
              <a:rPr sz="4200" spc="30" dirty="0"/>
              <a:t> </a:t>
            </a:r>
            <a:r>
              <a:rPr sz="4200" spc="-280" dirty="0"/>
              <a:t>Communication</a:t>
            </a:r>
            <a:r>
              <a:rPr sz="4200" spc="30" dirty="0"/>
              <a:t> </a:t>
            </a:r>
            <a:r>
              <a:rPr sz="3200" spc="-200" dirty="0"/>
              <a:t>-</a:t>
            </a:r>
            <a:r>
              <a:rPr sz="3200" spc="20" dirty="0"/>
              <a:t> </a:t>
            </a:r>
            <a:r>
              <a:rPr sz="3200" spc="-200" dirty="0"/>
              <a:t>Unix</a:t>
            </a:r>
            <a:endParaRPr sz="3200"/>
          </a:p>
        </p:txBody>
      </p:sp>
      <p:sp>
        <p:nvSpPr>
          <p:cNvPr id="6" name="object 6"/>
          <p:cNvSpPr/>
          <p:nvPr/>
        </p:nvSpPr>
        <p:spPr>
          <a:xfrm>
            <a:off x="321195" y="1860295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7"/>
                </a:lnTo>
                <a:lnTo>
                  <a:pt x="1335023" y="231647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0433" y="1860295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7"/>
                </a:lnTo>
                <a:lnTo>
                  <a:pt x="1335786" y="231647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60539" y="1851406"/>
            <a:ext cx="6559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7465" y="2096516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8" y="330707"/>
                </a:lnTo>
                <a:lnTo>
                  <a:pt x="33528" y="276605"/>
                </a:lnTo>
                <a:lnTo>
                  <a:pt x="34290" y="279653"/>
                </a:lnTo>
                <a:lnTo>
                  <a:pt x="38100" y="281177"/>
                </a:lnTo>
                <a:lnTo>
                  <a:pt x="41148" y="279653"/>
                </a:lnTo>
                <a:lnTo>
                  <a:pt x="42672" y="276605"/>
                </a:lnTo>
                <a:lnTo>
                  <a:pt x="42672" y="330707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72" y="263651"/>
                </a:moveTo>
                <a:lnTo>
                  <a:pt x="42672" y="5333"/>
                </a:lnTo>
                <a:lnTo>
                  <a:pt x="41148" y="1523"/>
                </a:lnTo>
                <a:lnTo>
                  <a:pt x="38100" y="0"/>
                </a:lnTo>
                <a:lnTo>
                  <a:pt x="34290" y="1523"/>
                </a:lnTo>
                <a:lnTo>
                  <a:pt x="33528" y="5333"/>
                </a:lnTo>
                <a:lnTo>
                  <a:pt x="33528" y="263651"/>
                </a:lnTo>
                <a:lnTo>
                  <a:pt x="42672" y="263651"/>
                </a:lnTo>
                <a:close/>
              </a:path>
              <a:path w="76200" h="340360">
                <a:moveTo>
                  <a:pt x="42672" y="330707"/>
                </a:moveTo>
                <a:lnTo>
                  <a:pt x="42672" y="276605"/>
                </a:lnTo>
                <a:lnTo>
                  <a:pt x="41148" y="279653"/>
                </a:lnTo>
                <a:lnTo>
                  <a:pt x="38100" y="281177"/>
                </a:lnTo>
                <a:lnTo>
                  <a:pt x="34290" y="279653"/>
                </a:lnTo>
                <a:lnTo>
                  <a:pt x="33528" y="276605"/>
                </a:lnTo>
                <a:lnTo>
                  <a:pt x="33528" y="330707"/>
                </a:lnTo>
                <a:lnTo>
                  <a:pt x="38100" y="339851"/>
                </a:lnTo>
                <a:lnTo>
                  <a:pt x="42672" y="3307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4243" y="2466848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4243" y="2466848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52729" y="2457957"/>
            <a:ext cx="4787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bind()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60513" y="2703067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6605"/>
                </a:lnTo>
                <a:lnTo>
                  <a:pt x="35051" y="279653"/>
                </a:lnTo>
                <a:lnTo>
                  <a:pt x="38100" y="281177"/>
                </a:lnTo>
                <a:lnTo>
                  <a:pt x="41910" y="279653"/>
                </a:lnTo>
                <a:lnTo>
                  <a:pt x="42672" y="276605"/>
                </a:lnTo>
                <a:lnTo>
                  <a:pt x="42672" y="330707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72" y="263651"/>
                </a:moveTo>
                <a:lnTo>
                  <a:pt x="42672" y="4571"/>
                </a:lnTo>
                <a:lnTo>
                  <a:pt x="41910" y="1523"/>
                </a:lnTo>
                <a:lnTo>
                  <a:pt x="38100" y="0"/>
                </a:lnTo>
                <a:lnTo>
                  <a:pt x="35051" y="1523"/>
                </a:lnTo>
                <a:lnTo>
                  <a:pt x="33527" y="4571"/>
                </a:lnTo>
                <a:lnTo>
                  <a:pt x="33527" y="263651"/>
                </a:lnTo>
                <a:lnTo>
                  <a:pt x="42672" y="263651"/>
                </a:lnTo>
                <a:close/>
              </a:path>
              <a:path w="76200" h="340360">
                <a:moveTo>
                  <a:pt x="42672" y="330707"/>
                </a:moveTo>
                <a:lnTo>
                  <a:pt x="42672" y="276605"/>
                </a:lnTo>
                <a:lnTo>
                  <a:pt x="41910" y="279653"/>
                </a:lnTo>
                <a:lnTo>
                  <a:pt x="38100" y="281177"/>
                </a:lnTo>
                <a:lnTo>
                  <a:pt x="35051" y="279653"/>
                </a:lnTo>
                <a:lnTo>
                  <a:pt x="33527" y="276605"/>
                </a:lnTo>
                <a:lnTo>
                  <a:pt x="33527" y="330707"/>
                </a:lnTo>
                <a:lnTo>
                  <a:pt x="38100" y="339851"/>
                </a:lnTo>
                <a:lnTo>
                  <a:pt x="42672" y="3307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27291" y="3063494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27291" y="3063494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16165" y="3054604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listen()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63561" y="3300476"/>
            <a:ext cx="76200" cy="339090"/>
          </a:xfrm>
          <a:custGeom>
            <a:avLst/>
            <a:gdLst/>
            <a:ahLst/>
            <a:cxnLst/>
            <a:rect l="l" t="t" r="r" b="b"/>
            <a:pathLst>
              <a:path w="76200" h="339089">
                <a:moveTo>
                  <a:pt x="76200" y="262889"/>
                </a:moveTo>
                <a:lnTo>
                  <a:pt x="0" y="262889"/>
                </a:lnTo>
                <a:lnTo>
                  <a:pt x="33527" y="329945"/>
                </a:lnTo>
                <a:lnTo>
                  <a:pt x="33527" y="275844"/>
                </a:lnTo>
                <a:lnTo>
                  <a:pt x="35051" y="279653"/>
                </a:lnTo>
                <a:lnTo>
                  <a:pt x="38100" y="280415"/>
                </a:lnTo>
                <a:lnTo>
                  <a:pt x="41909" y="279653"/>
                </a:lnTo>
                <a:lnTo>
                  <a:pt x="42671" y="275844"/>
                </a:lnTo>
                <a:lnTo>
                  <a:pt x="42671" y="329946"/>
                </a:lnTo>
                <a:lnTo>
                  <a:pt x="76200" y="262889"/>
                </a:lnTo>
                <a:close/>
              </a:path>
              <a:path w="76200" h="339089">
                <a:moveTo>
                  <a:pt x="42671" y="262889"/>
                </a:moveTo>
                <a:lnTo>
                  <a:pt x="42671" y="4572"/>
                </a:lnTo>
                <a:lnTo>
                  <a:pt x="41909" y="762"/>
                </a:lnTo>
                <a:lnTo>
                  <a:pt x="38100" y="0"/>
                </a:lnTo>
                <a:lnTo>
                  <a:pt x="35051" y="762"/>
                </a:lnTo>
                <a:lnTo>
                  <a:pt x="33527" y="4572"/>
                </a:lnTo>
                <a:lnTo>
                  <a:pt x="33527" y="262889"/>
                </a:lnTo>
                <a:lnTo>
                  <a:pt x="42671" y="262889"/>
                </a:lnTo>
                <a:close/>
              </a:path>
              <a:path w="76200" h="339089">
                <a:moveTo>
                  <a:pt x="42671" y="329946"/>
                </a:moveTo>
                <a:lnTo>
                  <a:pt x="42671" y="275844"/>
                </a:lnTo>
                <a:lnTo>
                  <a:pt x="41909" y="279653"/>
                </a:lnTo>
                <a:lnTo>
                  <a:pt x="38100" y="280415"/>
                </a:lnTo>
                <a:lnTo>
                  <a:pt x="35051" y="279653"/>
                </a:lnTo>
                <a:lnTo>
                  <a:pt x="33527" y="275844"/>
                </a:lnTo>
                <a:lnTo>
                  <a:pt x="33527" y="329945"/>
                </a:lnTo>
                <a:lnTo>
                  <a:pt x="38100" y="339089"/>
                </a:lnTo>
                <a:lnTo>
                  <a:pt x="42671" y="3299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0339" y="367004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0339" y="367004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65111" y="3661155"/>
            <a:ext cx="66548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accept()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66609" y="3906265"/>
            <a:ext cx="76200" cy="424815"/>
          </a:xfrm>
          <a:custGeom>
            <a:avLst/>
            <a:gdLst/>
            <a:ahLst/>
            <a:cxnLst/>
            <a:rect l="l" t="t" r="r" b="b"/>
            <a:pathLst>
              <a:path w="76200" h="424814">
                <a:moveTo>
                  <a:pt x="76200" y="348234"/>
                </a:moveTo>
                <a:lnTo>
                  <a:pt x="0" y="348234"/>
                </a:lnTo>
                <a:lnTo>
                  <a:pt x="33528" y="415290"/>
                </a:lnTo>
                <a:lnTo>
                  <a:pt x="33528" y="360425"/>
                </a:lnTo>
                <a:lnTo>
                  <a:pt x="35052" y="364236"/>
                </a:lnTo>
                <a:lnTo>
                  <a:pt x="38100" y="365760"/>
                </a:lnTo>
                <a:lnTo>
                  <a:pt x="41910" y="364236"/>
                </a:lnTo>
                <a:lnTo>
                  <a:pt x="43434" y="360425"/>
                </a:lnTo>
                <a:lnTo>
                  <a:pt x="43434" y="413765"/>
                </a:lnTo>
                <a:lnTo>
                  <a:pt x="76200" y="348234"/>
                </a:lnTo>
                <a:close/>
              </a:path>
              <a:path w="76200" h="424814">
                <a:moveTo>
                  <a:pt x="43434" y="348234"/>
                </a:moveTo>
                <a:lnTo>
                  <a:pt x="43434" y="5334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5334"/>
                </a:lnTo>
                <a:lnTo>
                  <a:pt x="33528" y="348234"/>
                </a:lnTo>
                <a:lnTo>
                  <a:pt x="43434" y="348234"/>
                </a:lnTo>
                <a:close/>
              </a:path>
              <a:path w="76200" h="424814">
                <a:moveTo>
                  <a:pt x="43434" y="413765"/>
                </a:moveTo>
                <a:lnTo>
                  <a:pt x="43434" y="360425"/>
                </a:lnTo>
                <a:lnTo>
                  <a:pt x="41910" y="364236"/>
                </a:lnTo>
                <a:lnTo>
                  <a:pt x="38100" y="365760"/>
                </a:lnTo>
                <a:lnTo>
                  <a:pt x="35052" y="364236"/>
                </a:lnTo>
                <a:lnTo>
                  <a:pt x="33528" y="360425"/>
                </a:lnTo>
                <a:lnTo>
                  <a:pt x="33528" y="415290"/>
                </a:lnTo>
                <a:lnTo>
                  <a:pt x="38100" y="424434"/>
                </a:lnTo>
                <a:lnTo>
                  <a:pt x="43434" y="4137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18909" y="4377944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18909" y="4377944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3" y="231648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48169" y="4369053"/>
            <a:ext cx="4781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55941" y="4614926"/>
            <a:ext cx="76200" cy="339090"/>
          </a:xfrm>
          <a:custGeom>
            <a:avLst/>
            <a:gdLst/>
            <a:ahLst/>
            <a:cxnLst/>
            <a:rect l="l" t="t" r="r" b="b"/>
            <a:pathLst>
              <a:path w="76200" h="339089">
                <a:moveTo>
                  <a:pt x="76200" y="262889"/>
                </a:moveTo>
                <a:lnTo>
                  <a:pt x="0" y="262889"/>
                </a:lnTo>
                <a:lnTo>
                  <a:pt x="33528" y="329946"/>
                </a:lnTo>
                <a:lnTo>
                  <a:pt x="33528" y="275844"/>
                </a:lnTo>
                <a:lnTo>
                  <a:pt x="34290" y="279653"/>
                </a:lnTo>
                <a:lnTo>
                  <a:pt x="38100" y="280415"/>
                </a:lnTo>
                <a:lnTo>
                  <a:pt x="41148" y="279653"/>
                </a:lnTo>
                <a:lnTo>
                  <a:pt x="42672" y="275844"/>
                </a:lnTo>
                <a:lnTo>
                  <a:pt x="42672" y="329945"/>
                </a:lnTo>
                <a:lnTo>
                  <a:pt x="76200" y="262889"/>
                </a:lnTo>
                <a:close/>
              </a:path>
              <a:path w="76200" h="339089">
                <a:moveTo>
                  <a:pt x="42672" y="262889"/>
                </a:moveTo>
                <a:lnTo>
                  <a:pt x="42672" y="4572"/>
                </a:lnTo>
                <a:lnTo>
                  <a:pt x="41148" y="762"/>
                </a:lnTo>
                <a:lnTo>
                  <a:pt x="38100" y="0"/>
                </a:lnTo>
                <a:lnTo>
                  <a:pt x="34290" y="762"/>
                </a:lnTo>
                <a:lnTo>
                  <a:pt x="33528" y="4572"/>
                </a:lnTo>
                <a:lnTo>
                  <a:pt x="33528" y="262889"/>
                </a:lnTo>
                <a:lnTo>
                  <a:pt x="42672" y="262889"/>
                </a:lnTo>
                <a:close/>
              </a:path>
              <a:path w="76200" h="339089">
                <a:moveTo>
                  <a:pt x="42672" y="329945"/>
                </a:moveTo>
                <a:lnTo>
                  <a:pt x="42672" y="275844"/>
                </a:lnTo>
                <a:lnTo>
                  <a:pt x="41148" y="279653"/>
                </a:lnTo>
                <a:lnTo>
                  <a:pt x="38100" y="280415"/>
                </a:lnTo>
                <a:lnTo>
                  <a:pt x="34290" y="279653"/>
                </a:lnTo>
                <a:lnTo>
                  <a:pt x="33528" y="275844"/>
                </a:lnTo>
                <a:lnTo>
                  <a:pt x="33528" y="329946"/>
                </a:lnTo>
                <a:lnTo>
                  <a:pt x="38100" y="339089"/>
                </a:lnTo>
                <a:lnTo>
                  <a:pt x="42672" y="3299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22719" y="498449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22719" y="498449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25309" y="4975605"/>
            <a:ext cx="5270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58989" y="5220715"/>
            <a:ext cx="76200" cy="540385"/>
          </a:xfrm>
          <a:custGeom>
            <a:avLst/>
            <a:gdLst/>
            <a:ahLst/>
            <a:cxnLst/>
            <a:rect l="l" t="t" r="r" b="b"/>
            <a:pathLst>
              <a:path w="76200" h="540385">
                <a:moveTo>
                  <a:pt x="76200" y="464058"/>
                </a:moveTo>
                <a:lnTo>
                  <a:pt x="0" y="464058"/>
                </a:lnTo>
                <a:lnTo>
                  <a:pt x="33528" y="531114"/>
                </a:lnTo>
                <a:lnTo>
                  <a:pt x="33528" y="476250"/>
                </a:lnTo>
                <a:lnTo>
                  <a:pt x="35051" y="480060"/>
                </a:lnTo>
                <a:lnTo>
                  <a:pt x="38100" y="481584"/>
                </a:lnTo>
                <a:lnTo>
                  <a:pt x="41148" y="480060"/>
                </a:lnTo>
                <a:lnTo>
                  <a:pt x="42672" y="476250"/>
                </a:lnTo>
                <a:lnTo>
                  <a:pt x="42672" y="531113"/>
                </a:lnTo>
                <a:lnTo>
                  <a:pt x="76200" y="464058"/>
                </a:lnTo>
                <a:close/>
              </a:path>
              <a:path w="76200" h="540385">
                <a:moveTo>
                  <a:pt x="42672" y="464058"/>
                </a:moveTo>
                <a:lnTo>
                  <a:pt x="42672" y="5334"/>
                </a:lnTo>
                <a:lnTo>
                  <a:pt x="41148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8" y="5334"/>
                </a:lnTo>
                <a:lnTo>
                  <a:pt x="33528" y="464058"/>
                </a:lnTo>
                <a:lnTo>
                  <a:pt x="42672" y="464058"/>
                </a:lnTo>
                <a:close/>
              </a:path>
              <a:path w="76200" h="540385">
                <a:moveTo>
                  <a:pt x="42672" y="531113"/>
                </a:moveTo>
                <a:lnTo>
                  <a:pt x="42672" y="476250"/>
                </a:lnTo>
                <a:lnTo>
                  <a:pt x="41148" y="480060"/>
                </a:lnTo>
                <a:lnTo>
                  <a:pt x="38100" y="481584"/>
                </a:lnTo>
                <a:lnTo>
                  <a:pt x="35051" y="480060"/>
                </a:lnTo>
                <a:lnTo>
                  <a:pt x="33528" y="476250"/>
                </a:lnTo>
                <a:lnTo>
                  <a:pt x="33528" y="531114"/>
                </a:lnTo>
                <a:lnTo>
                  <a:pt x="38100" y="540258"/>
                </a:lnTo>
                <a:lnTo>
                  <a:pt x="42672" y="531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27291" y="5790691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5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27291" y="5790691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16165" y="5781802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65873" y="1545843"/>
            <a:ext cx="6578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Server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962287" y="1867916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962287" y="1867916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3302380" y="1859025"/>
            <a:ext cx="6559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599319" y="2104898"/>
            <a:ext cx="76200" cy="1559560"/>
          </a:xfrm>
          <a:custGeom>
            <a:avLst/>
            <a:gdLst/>
            <a:ahLst/>
            <a:cxnLst/>
            <a:rect l="l" t="t" r="r" b="b"/>
            <a:pathLst>
              <a:path w="76200" h="1559560">
                <a:moveTo>
                  <a:pt x="76200" y="1482852"/>
                </a:moveTo>
                <a:lnTo>
                  <a:pt x="0" y="1482852"/>
                </a:lnTo>
                <a:lnTo>
                  <a:pt x="32765" y="1548383"/>
                </a:lnTo>
                <a:lnTo>
                  <a:pt x="32765" y="1495043"/>
                </a:lnTo>
                <a:lnTo>
                  <a:pt x="34289" y="1498853"/>
                </a:lnTo>
                <a:lnTo>
                  <a:pt x="38100" y="1500377"/>
                </a:lnTo>
                <a:lnTo>
                  <a:pt x="41148" y="1498853"/>
                </a:lnTo>
                <a:lnTo>
                  <a:pt x="42672" y="1495043"/>
                </a:lnTo>
                <a:lnTo>
                  <a:pt x="42672" y="1549907"/>
                </a:lnTo>
                <a:lnTo>
                  <a:pt x="76200" y="1482852"/>
                </a:lnTo>
                <a:close/>
              </a:path>
              <a:path w="76200" h="1559560">
                <a:moveTo>
                  <a:pt x="42672" y="1482852"/>
                </a:moveTo>
                <a:lnTo>
                  <a:pt x="42672" y="4571"/>
                </a:lnTo>
                <a:lnTo>
                  <a:pt x="41148" y="1523"/>
                </a:lnTo>
                <a:lnTo>
                  <a:pt x="38100" y="0"/>
                </a:lnTo>
                <a:lnTo>
                  <a:pt x="34289" y="1523"/>
                </a:lnTo>
                <a:lnTo>
                  <a:pt x="32765" y="4571"/>
                </a:lnTo>
                <a:lnTo>
                  <a:pt x="32765" y="1482852"/>
                </a:lnTo>
                <a:lnTo>
                  <a:pt x="42672" y="1482852"/>
                </a:lnTo>
                <a:close/>
              </a:path>
              <a:path w="76200" h="1559560">
                <a:moveTo>
                  <a:pt x="42672" y="1549907"/>
                </a:moveTo>
                <a:lnTo>
                  <a:pt x="42672" y="1495043"/>
                </a:lnTo>
                <a:lnTo>
                  <a:pt x="41148" y="1498853"/>
                </a:lnTo>
                <a:lnTo>
                  <a:pt x="38100" y="1500377"/>
                </a:lnTo>
                <a:lnTo>
                  <a:pt x="34289" y="1498853"/>
                </a:lnTo>
                <a:lnTo>
                  <a:pt x="32765" y="1495043"/>
                </a:lnTo>
                <a:lnTo>
                  <a:pt x="32765" y="1548383"/>
                </a:lnTo>
                <a:lnTo>
                  <a:pt x="38100" y="1559052"/>
                </a:lnTo>
                <a:lnTo>
                  <a:pt x="42672" y="15499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972193" y="367766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972193" y="367766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257422" y="3668776"/>
            <a:ext cx="7639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connect()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608463" y="3914647"/>
            <a:ext cx="76200" cy="424180"/>
          </a:xfrm>
          <a:custGeom>
            <a:avLst/>
            <a:gdLst/>
            <a:ahLst/>
            <a:cxnLst/>
            <a:rect l="l" t="t" r="r" b="b"/>
            <a:pathLst>
              <a:path w="76200" h="424179">
                <a:moveTo>
                  <a:pt x="76200" y="347472"/>
                </a:moveTo>
                <a:lnTo>
                  <a:pt x="0" y="347472"/>
                </a:lnTo>
                <a:lnTo>
                  <a:pt x="33528" y="414528"/>
                </a:lnTo>
                <a:lnTo>
                  <a:pt x="33528" y="360425"/>
                </a:lnTo>
                <a:lnTo>
                  <a:pt x="35052" y="363474"/>
                </a:lnTo>
                <a:lnTo>
                  <a:pt x="38100" y="364998"/>
                </a:lnTo>
                <a:lnTo>
                  <a:pt x="41910" y="363474"/>
                </a:lnTo>
                <a:lnTo>
                  <a:pt x="42672" y="360425"/>
                </a:lnTo>
                <a:lnTo>
                  <a:pt x="42672" y="414527"/>
                </a:lnTo>
                <a:lnTo>
                  <a:pt x="76200" y="347472"/>
                </a:lnTo>
                <a:close/>
              </a:path>
              <a:path w="76200" h="424179">
                <a:moveTo>
                  <a:pt x="42672" y="34747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347472"/>
                </a:lnTo>
                <a:lnTo>
                  <a:pt x="42672" y="347472"/>
                </a:lnTo>
                <a:close/>
              </a:path>
              <a:path w="76200" h="424179">
                <a:moveTo>
                  <a:pt x="42672" y="414527"/>
                </a:moveTo>
                <a:lnTo>
                  <a:pt x="42672" y="360425"/>
                </a:lnTo>
                <a:lnTo>
                  <a:pt x="41910" y="363474"/>
                </a:lnTo>
                <a:lnTo>
                  <a:pt x="38100" y="364998"/>
                </a:lnTo>
                <a:lnTo>
                  <a:pt x="35052" y="363474"/>
                </a:lnTo>
                <a:lnTo>
                  <a:pt x="33528" y="360425"/>
                </a:lnTo>
                <a:lnTo>
                  <a:pt x="33528" y="414528"/>
                </a:lnTo>
                <a:lnTo>
                  <a:pt x="38100" y="423672"/>
                </a:lnTo>
                <a:lnTo>
                  <a:pt x="42672" y="414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960763" y="438632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960763" y="438632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3364103" y="4376673"/>
            <a:ext cx="5270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597033" y="4622546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5843"/>
                </a:lnTo>
                <a:lnTo>
                  <a:pt x="35051" y="279653"/>
                </a:lnTo>
                <a:lnTo>
                  <a:pt x="38100" y="281177"/>
                </a:lnTo>
                <a:lnTo>
                  <a:pt x="41910" y="279653"/>
                </a:lnTo>
                <a:lnTo>
                  <a:pt x="43434" y="275843"/>
                </a:lnTo>
                <a:lnTo>
                  <a:pt x="43434" y="329183"/>
                </a:lnTo>
                <a:lnTo>
                  <a:pt x="76200" y="263651"/>
                </a:lnTo>
                <a:close/>
              </a:path>
              <a:path w="76200" h="340360">
                <a:moveTo>
                  <a:pt x="43434" y="263651"/>
                </a:moveTo>
                <a:lnTo>
                  <a:pt x="43434" y="4571"/>
                </a:lnTo>
                <a:lnTo>
                  <a:pt x="41910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7" y="4571"/>
                </a:lnTo>
                <a:lnTo>
                  <a:pt x="33527" y="263651"/>
                </a:lnTo>
                <a:lnTo>
                  <a:pt x="43434" y="263651"/>
                </a:lnTo>
                <a:close/>
              </a:path>
              <a:path w="76200" h="340360">
                <a:moveTo>
                  <a:pt x="43434" y="329183"/>
                </a:moveTo>
                <a:lnTo>
                  <a:pt x="43434" y="275843"/>
                </a:lnTo>
                <a:lnTo>
                  <a:pt x="41910" y="279653"/>
                </a:lnTo>
                <a:lnTo>
                  <a:pt x="38100" y="281177"/>
                </a:lnTo>
                <a:lnTo>
                  <a:pt x="35051" y="279653"/>
                </a:lnTo>
                <a:lnTo>
                  <a:pt x="33527" y="275843"/>
                </a:lnTo>
                <a:lnTo>
                  <a:pt x="33527" y="330707"/>
                </a:lnTo>
                <a:lnTo>
                  <a:pt x="38100" y="339851"/>
                </a:lnTo>
                <a:lnTo>
                  <a:pt x="43434" y="3291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963811" y="499211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963811" y="499211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3392296" y="4983226"/>
            <a:ext cx="4781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600843" y="5229097"/>
            <a:ext cx="76200" cy="539750"/>
          </a:xfrm>
          <a:custGeom>
            <a:avLst/>
            <a:gdLst/>
            <a:ahLst/>
            <a:cxnLst/>
            <a:rect l="l" t="t" r="r" b="b"/>
            <a:pathLst>
              <a:path w="76200" h="539750">
                <a:moveTo>
                  <a:pt x="76200" y="463296"/>
                </a:moveTo>
                <a:lnTo>
                  <a:pt x="0" y="463296"/>
                </a:lnTo>
                <a:lnTo>
                  <a:pt x="32765" y="528827"/>
                </a:lnTo>
                <a:lnTo>
                  <a:pt x="32765" y="476250"/>
                </a:lnTo>
                <a:lnTo>
                  <a:pt x="34289" y="479298"/>
                </a:lnTo>
                <a:lnTo>
                  <a:pt x="38100" y="480822"/>
                </a:lnTo>
                <a:lnTo>
                  <a:pt x="41148" y="479298"/>
                </a:lnTo>
                <a:lnTo>
                  <a:pt x="42672" y="476250"/>
                </a:lnTo>
                <a:lnTo>
                  <a:pt x="42672" y="530351"/>
                </a:lnTo>
                <a:lnTo>
                  <a:pt x="76200" y="463296"/>
                </a:lnTo>
                <a:close/>
              </a:path>
              <a:path w="76200" h="539750">
                <a:moveTo>
                  <a:pt x="42672" y="463296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4289" y="1524"/>
                </a:lnTo>
                <a:lnTo>
                  <a:pt x="32765" y="4572"/>
                </a:lnTo>
                <a:lnTo>
                  <a:pt x="32765" y="463296"/>
                </a:lnTo>
                <a:lnTo>
                  <a:pt x="42672" y="463296"/>
                </a:lnTo>
                <a:close/>
              </a:path>
              <a:path w="76200" h="539750">
                <a:moveTo>
                  <a:pt x="42672" y="530351"/>
                </a:moveTo>
                <a:lnTo>
                  <a:pt x="42672" y="476250"/>
                </a:lnTo>
                <a:lnTo>
                  <a:pt x="41148" y="479298"/>
                </a:lnTo>
                <a:lnTo>
                  <a:pt x="38100" y="480822"/>
                </a:lnTo>
                <a:lnTo>
                  <a:pt x="34289" y="479298"/>
                </a:lnTo>
                <a:lnTo>
                  <a:pt x="32765" y="476250"/>
                </a:lnTo>
                <a:lnTo>
                  <a:pt x="32765" y="528827"/>
                </a:lnTo>
                <a:lnTo>
                  <a:pt x="38100" y="539496"/>
                </a:lnTo>
                <a:lnTo>
                  <a:pt x="42672" y="530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969145" y="5799073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968383" y="5799073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3358007" y="5789421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331336" y="1552701"/>
            <a:ext cx="5899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Client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676793" y="3755390"/>
            <a:ext cx="1271270" cy="76200"/>
          </a:xfrm>
          <a:custGeom>
            <a:avLst/>
            <a:gdLst/>
            <a:ahLst/>
            <a:cxnLst/>
            <a:rect l="l" t="t" r="r" b="b"/>
            <a:pathLst>
              <a:path w="1271270" h="76200">
                <a:moveTo>
                  <a:pt x="76200" y="0"/>
                </a:moveTo>
                <a:lnTo>
                  <a:pt x="0" y="38100"/>
                </a:lnTo>
                <a:lnTo>
                  <a:pt x="45719" y="60960"/>
                </a:lnTo>
                <a:lnTo>
                  <a:pt x="45719" y="38100"/>
                </a:lnTo>
                <a:lnTo>
                  <a:pt x="47243" y="35051"/>
                </a:lnTo>
                <a:lnTo>
                  <a:pt x="50292" y="33527"/>
                </a:lnTo>
                <a:lnTo>
                  <a:pt x="53400" y="33527"/>
                </a:lnTo>
                <a:lnTo>
                  <a:pt x="76200" y="0"/>
                </a:lnTo>
                <a:close/>
              </a:path>
              <a:path w="1271270" h="76200">
                <a:moveTo>
                  <a:pt x="53919" y="43434"/>
                </a:moveTo>
                <a:lnTo>
                  <a:pt x="50292" y="38100"/>
                </a:lnTo>
                <a:lnTo>
                  <a:pt x="50292" y="33527"/>
                </a:lnTo>
                <a:lnTo>
                  <a:pt x="47243" y="35051"/>
                </a:lnTo>
                <a:lnTo>
                  <a:pt x="45719" y="38100"/>
                </a:lnTo>
                <a:lnTo>
                  <a:pt x="47243" y="41910"/>
                </a:lnTo>
                <a:lnTo>
                  <a:pt x="50292" y="43434"/>
                </a:lnTo>
                <a:lnTo>
                  <a:pt x="50292" y="38100"/>
                </a:lnTo>
                <a:lnTo>
                  <a:pt x="53400" y="33527"/>
                </a:lnTo>
                <a:lnTo>
                  <a:pt x="53400" y="43434"/>
                </a:lnTo>
                <a:lnTo>
                  <a:pt x="53919" y="43434"/>
                </a:lnTo>
                <a:close/>
              </a:path>
              <a:path w="1271270" h="76200">
                <a:moveTo>
                  <a:pt x="76200" y="76200"/>
                </a:moveTo>
                <a:lnTo>
                  <a:pt x="53919" y="43434"/>
                </a:lnTo>
                <a:lnTo>
                  <a:pt x="50292" y="43434"/>
                </a:lnTo>
                <a:lnTo>
                  <a:pt x="47243" y="41910"/>
                </a:lnTo>
                <a:lnTo>
                  <a:pt x="45719" y="38100"/>
                </a:lnTo>
                <a:lnTo>
                  <a:pt x="45719" y="60960"/>
                </a:lnTo>
                <a:lnTo>
                  <a:pt x="76200" y="76200"/>
                </a:lnTo>
                <a:close/>
              </a:path>
              <a:path w="1271270" h="76200">
                <a:moveTo>
                  <a:pt x="1212341" y="38100"/>
                </a:moveTo>
                <a:lnTo>
                  <a:pt x="1211579" y="35051"/>
                </a:lnTo>
                <a:lnTo>
                  <a:pt x="1207769" y="33527"/>
                </a:lnTo>
                <a:lnTo>
                  <a:pt x="53400" y="33527"/>
                </a:lnTo>
                <a:lnTo>
                  <a:pt x="50292" y="38100"/>
                </a:lnTo>
                <a:lnTo>
                  <a:pt x="53919" y="43434"/>
                </a:lnTo>
                <a:lnTo>
                  <a:pt x="1207769" y="43434"/>
                </a:lnTo>
                <a:lnTo>
                  <a:pt x="1211579" y="41910"/>
                </a:lnTo>
                <a:lnTo>
                  <a:pt x="1212341" y="38100"/>
                </a:lnTo>
                <a:close/>
              </a:path>
              <a:path w="1271270" h="76200">
                <a:moveTo>
                  <a:pt x="1271015" y="38100"/>
                </a:moveTo>
                <a:lnTo>
                  <a:pt x="1194815" y="0"/>
                </a:lnTo>
                <a:lnTo>
                  <a:pt x="1194815" y="33527"/>
                </a:lnTo>
                <a:lnTo>
                  <a:pt x="1207769" y="33527"/>
                </a:lnTo>
                <a:lnTo>
                  <a:pt x="1211579" y="35051"/>
                </a:lnTo>
                <a:lnTo>
                  <a:pt x="1212341" y="38100"/>
                </a:lnTo>
                <a:lnTo>
                  <a:pt x="1212341" y="67437"/>
                </a:lnTo>
                <a:lnTo>
                  <a:pt x="1271015" y="38100"/>
                </a:lnTo>
                <a:close/>
              </a:path>
              <a:path w="1271270" h="76200">
                <a:moveTo>
                  <a:pt x="1212341" y="67437"/>
                </a:moveTo>
                <a:lnTo>
                  <a:pt x="1212341" y="38100"/>
                </a:lnTo>
                <a:lnTo>
                  <a:pt x="1211579" y="41910"/>
                </a:lnTo>
                <a:lnTo>
                  <a:pt x="1207769" y="43434"/>
                </a:lnTo>
                <a:lnTo>
                  <a:pt x="1194815" y="43434"/>
                </a:lnTo>
                <a:lnTo>
                  <a:pt x="1194815" y="76200"/>
                </a:lnTo>
                <a:lnTo>
                  <a:pt x="1212341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1821814" y="3383788"/>
            <a:ext cx="1080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5285" marR="5080" indent="-36322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synchronization  point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656219" y="4438141"/>
            <a:ext cx="1317625" cy="76200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76200" y="33528"/>
                </a:move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58674" y="38100"/>
                </a:lnTo>
                <a:lnTo>
                  <a:pt x="59436" y="35052"/>
                </a:lnTo>
                <a:lnTo>
                  <a:pt x="63245" y="33528"/>
                </a:lnTo>
                <a:lnTo>
                  <a:pt x="76200" y="33528"/>
                </a:lnTo>
                <a:close/>
              </a:path>
              <a:path w="1317625" h="76200">
                <a:moveTo>
                  <a:pt x="1317497" y="38100"/>
                </a:moveTo>
                <a:lnTo>
                  <a:pt x="1315973" y="35052"/>
                </a:lnTo>
                <a:lnTo>
                  <a:pt x="1312163" y="33528"/>
                </a:lnTo>
                <a:lnTo>
                  <a:pt x="63245" y="33528"/>
                </a:lnTo>
                <a:lnTo>
                  <a:pt x="59436" y="35052"/>
                </a:lnTo>
                <a:lnTo>
                  <a:pt x="58674" y="38100"/>
                </a:lnTo>
                <a:lnTo>
                  <a:pt x="59436" y="41910"/>
                </a:lnTo>
                <a:lnTo>
                  <a:pt x="63245" y="43434"/>
                </a:lnTo>
                <a:lnTo>
                  <a:pt x="1312163" y="43434"/>
                </a:lnTo>
                <a:lnTo>
                  <a:pt x="1315973" y="41910"/>
                </a:lnTo>
                <a:lnTo>
                  <a:pt x="1317497" y="38100"/>
                </a:lnTo>
                <a:close/>
              </a:path>
              <a:path w="1317625" h="76200">
                <a:moveTo>
                  <a:pt x="76200" y="76200"/>
                </a:moveTo>
                <a:lnTo>
                  <a:pt x="76200" y="43434"/>
                </a:lnTo>
                <a:lnTo>
                  <a:pt x="63245" y="43434"/>
                </a:lnTo>
                <a:lnTo>
                  <a:pt x="59436" y="41910"/>
                </a:lnTo>
                <a:lnTo>
                  <a:pt x="58674" y="38100"/>
                </a:lnTo>
                <a:lnTo>
                  <a:pt x="58674" y="67437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644789" y="5063744"/>
            <a:ext cx="1317625" cy="76200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1266443" y="38100"/>
                </a:moveTo>
                <a:lnTo>
                  <a:pt x="1263426" y="33527"/>
                </a:lnTo>
                <a:lnTo>
                  <a:pt x="4572" y="33527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909"/>
                </a:lnTo>
                <a:lnTo>
                  <a:pt x="4572" y="42671"/>
                </a:lnTo>
                <a:lnTo>
                  <a:pt x="1263426" y="42671"/>
                </a:lnTo>
                <a:lnTo>
                  <a:pt x="1266443" y="38100"/>
                </a:lnTo>
                <a:close/>
              </a:path>
              <a:path w="1317625" h="76200">
                <a:moveTo>
                  <a:pt x="1317497" y="38100"/>
                </a:moveTo>
                <a:lnTo>
                  <a:pt x="1241297" y="0"/>
                </a:lnTo>
                <a:lnTo>
                  <a:pt x="1263426" y="33527"/>
                </a:lnTo>
                <a:lnTo>
                  <a:pt x="1266443" y="33527"/>
                </a:lnTo>
                <a:lnTo>
                  <a:pt x="1270253" y="35051"/>
                </a:lnTo>
                <a:lnTo>
                  <a:pt x="1271777" y="38100"/>
                </a:lnTo>
                <a:lnTo>
                  <a:pt x="1271777" y="60959"/>
                </a:lnTo>
                <a:lnTo>
                  <a:pt x="1317497" y="38100"/>
                </a:lnTo>
                <a:close/>
              </a:path>
              <a:path w="1317625" h="76200">
                <a:moveTo>
                  <a:pt x="1271777" y="60959"/>
                </a:moveTo>
                <a:lnTo>
                  <a:pt x="1271777" y="38100"/>
                </a:lnTo>
                <a:lnTo>
                  <a:pt x="1270253" y="41909"/>
                </a:lnTo>
                <a:lnTo>
                  <a:pt x="1266443" y="42671"/>
                </a:lnTo>
                <a:lnTo>
                  <a:pt x="1263426" y="42672"/>
                </a:lnTo>
                <a:lnTo>
                  <a:pt x="1241297" y="76200"/>
                </a:lnTo>
                <a:lnTo>
                  <a:pt x="1271777" y="60959"/>
                </a:lnTo>
                <a:close/>
              </a:path>
              <a:path w="1317625" h="76200">
                <a:moveTo>
                  <a:pt x="1271777" y="38100"/>
                </a:moveTo>
                <a:lnTo>
                  <a:pt x="1270253" y="35051"/>
                </a:lnTo>
                <a:lnTo>
                  <a:pt x="1266443" y="33527"/>
                </a:lnTo>
                <a:lnTo>
                  <a:pt x="1263426" y="33527"/>
                </a:lnTo>
                <a:lnTo>
                  <a:pt x="1266443" y="38100"/>
                </a:lnTo>
                <a:lnTo>
                  <a:pt x="1266443" y="42671"/>
                </a:lnTo>
                <a:lnTo>
                  <a:pt x="1270253" y="41909"/>
                </a:lnTo>
                <a:lnTo>
                  <a:pt x="1271777" y="38100"/>
                </a:lnTo>
                <a:close/>
              </a:path>
              <a:path w="1317625" h="76200">
                <a:moveTo>
                  <a:pt x="1266443" y="42671"/>
                </a:moveTo>
                <a:lnTo>
                  <a:pt x="1266443" y="38100"/>
                </a:lnTo>
                <a:lnTo>
                  <a:pt x="1263426" y="42672"/>
                </a:lnTo>
                <a:lnTo>
                  <a:pt x="1266443" y="426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9255" y="4467097"/>
            <a:ext cx="219710" cy="665480"/>
          </a:xfrm>
          <a:custGeom>
            <a:avLst/>
            <a:gdLst/>
            <a:ahLst/>
            <a:cxnLst/>
            <a:rect l="l" t="t" r="r" b="b"/>
            <a:pathLst>
              <a:path w="219710" h="665479">
                <a:moveTo>
                  <a:pt x="169186" y="39412"/>
                </a:moveTo>
                <a:lnTo>
                  <a:pt x="168402" y="33527"/>
                </a:lnTo>
                <a:lnTo>
                  <a:pt x="163369" y="32226"/>
                </a:lnTo>
                <a:lnTo>
                  <a:pt x="146304" y="47243"/>
                </a:lnTo>
                <a:lnTo>
                  <a:pt x="111252" y="81534"/>
                </a:lnTo>
                <a:lnTo>
                  <a:pt x="80990" y="114280"/>
                </a:lnTo>
                <a:lnTo>
                  <a:pt x="55024" y="145578"/>
                </a:lnTo>
                <a:lnTo>
                  <a:pt x="25651" y="192421"/>
                </a:lnTo>
                <a:lnTo>
                  <a:pt x="3302" y="256210"/>
                </a:lnTo>
                <a:lnTo>
                  <a:pt x="0" y="291084"/>
                </a:lnTo>
                <a:lnTo>
                  <a:pt x="5599" y="334616"/>
                </a:lnTo>
                <a:lnTo>
                  <a:pt x="10021" y="348820"/>
                </a:lnTo>
                <a:lnTo>
                  <a:pt x="10021" y="279178"/>
                </a:lnTo>
                <a:lnTo>
                  <a:pt x="15011" y="246430"/>
                </a:lnTo>
                <a:lnTo>
                  <a:pt x="40386" y="185927"/>
                </a:lnTo>
                <a:lnTo>
                  <a:pt x="61145" y="153466"/>
                </a:lnTo>
                <a:lnTo>
                  <a:pt x="85344" y="123443"/>
                </a:lnTo>
                <a:lnTo>
                  <a:pt x="134874" y="70865"/>
                </a:lnTo>
                <a:lnTo>
                  <a:pt x="169186" y="39412"/>
                </a:lnTo>
                <a:close/>
              </a:path>
              <a:path w="219710" h="665479">
                <a:moveTo>
                  <a:pt x="219456" y="660653"/>
                </a:moveTo>
                <a:lnTo>
                  <a:pt x="218694" y="657605"/>
                </a:lnTo>
                <a:lnTo>
                  <a:pt x="198882" y="633222"/>
                </a:lnTo>
                <a:lnTo>
                  <a:pt x="141732" y="560069"/>
                </a:lnTo>
                <a:lnTo>
                  <a:pt x="103489" y="508115"/>
                </a:lnTo>
                <a:lnTo>
                  <a:pt x="67818" y="454151"/>
                </a:lnTo>
                <a:lnTo>
                  <a:pt x="49202" y="420902"/>
                </a:lnTo>
                <a:lnTo>
                  <a:pt x="32289" y="385567"/>
                </a:lnTo>
                <a:lnTo>
                  <a:pt x="19044" y="348901"/>
                </a:lnTo>
                <a:lnTo>
                  <a:pt x="10021" y="279178"/>
                </a:lnTo>
                <a:lnTo>
                  <a:pt x="10021" y="348820"/>
                </a:lnTo>
                <a:lnTo>
                  <a:pt x="39917" y="423872"/>
                </a:lnTo>
                <a:lnTo>
                  <a:pt x="65392" y="468312"/>
                </a:lnTo>
                <a:lnTo>
                  <a:pt x="94250" y="511770"/>
                </a:lnTo>
                <a:lnTo>
                  <a:pt x="124869" y="553604"/>
                </a:lnTo>
                <a:lnTo>
                  <a:pt x="155626" y="593172"/>
                </a:lnTo>
                <a:lnTo>
                  <a:pt x="211074" y="662939"/>
                </a:lnTo>
                <a:lnTo>
                  <a:pt x="214122" y="665226"/>
                </a:lnTo>
                <a:lnTo>
                  <a:pt x="217932" y="663701"/>
                </a:lnTo>
                <a:lnTo>
                  <a:pt x="219456" y="660653"/>
                </a:lnTo>
                <a:close/>
              </a:path>
              <a:path w="219710" h="665479">
                <a:moveTo>
                  <a:pt x="205740" y="0"/>
                </a:moveTo>
                <a:lnTo>
                  <a:pt x="124206" y="22098"/>
                </a:lnTo>
                <a:lnTo>
                  <a:pt x="163369" y="32226"/>
                </a:lnTo>
                <a:lnTo>
                  <a:pt x="165354" y="30479"/>
                </a:lnTo>
                <a:lnTo>
                  <a:pt x="168402" y="28955"/>
                </a:lnTo>
                <a:lnTo>
                  <a:pt x="171450" y="30479"/>
                </a:lnTo>
                <a:lnTo>
                  <a:pt x="172974" y="34289"/>
                </a:lnTo>
                <a:lnTo>
                  <a:pt x="172974" y="67817"/>
                </a:lnTo>
                <a:lnTo>
                  <a:pt x="174498" y="79248"/>
                </a:lnTo>
                <a:lnTo>
                  <a:pt x="205740" y="0"/>
                </a:lnTo>
                <a:close/>
              </a:path>
              <a:path w="219710" h="665479">
                <a:moveTo>
                  <a:pt x="172974" y="34289"/>
                </a:moveTo>
                <a:lnTo>
                  <a:pt x="171450" y="30479"/>
                </a:lnTo>
                <a:lnTo>
                  <a:pt x="168402" y="28955"/>
                </a:lnTo>
                <a:lnTo>
                  <a:pt x="165354" y="30479"/>
                </a:lnTo>
                <a:lnTo>
                  <a:pt x="163369" y="32226"/>
                </a:lnTo>
                <a:lnTo>
                  <a:pt x="168402" y="33527"/>
                </a:lnTo>
                <a:lnTo>
                  <a:pt x="169186" y="39412"/>
                </a:lnTo>
                <a:lnTo>
                  <a:pt x="171450" y="37337"/>
                </a:lnTo>
                <a:lnTo>
                  <a:pt x="172974" y="34289"/>
                </a:lnTo>
                <a:close/>
              </a:path>
              <a:path w="219710" h="665479">
                <a:moveTo>
                  <a:pt x="172974" y="67817"/>
                </a:moveTo>
                <a:lnTo>
                  <a:pt x="172974" y="34289"/>
                </a:lnTo>
                <a:lnTo>
                  <a:pt x="171450" y="37337"/>
                </a:lnTo>
                <a:lnTo>
                  <a:pt x="169186" y="39412"/>
                </a:lnTo>
                <a:lnTo>
                  <a:pt x="172974" y="678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317885" y="4483100"/>
            <a:ext cx="237490" cy="665480"/>
          </a:xfrm>
          <a:custGeom>
            <a:avLst/>
            <a:gdLst/>
            <a:ahLst/>
            <a:cxnLst/>
            <a:rect l="l" t="t" r="r" b="b"/>
            <a:pathLst>
              <a:path w="237489" h="665479">
                <a:moveTo>
                  <a:pt x="79248" y="31241"/>
                </a:moveTo>
                <a:lnTo>
                  <a:pt x="0" y="0"/>
                </a:lnTo>
                <a:lnTo>
                  <a:pt x="22098" y="82296"/>
                </a:lnTo>
                <a:lnTo>
                  <a:pt x="28956" y="57435"/>
                </a:lnTo>
                <a:lnTo>
                  <a:pt x="28956" y="37337"/>
                </a:lnTo>
                <a:lnTo>
                  <a:pt x="30480" y="34289"/>
                </a:lnTo>
                <a:lnTo>
                  <a:pt x="34289" y="32765"/>
                </a:lnTo>
                <a:lnTo>
                  <a:pt x="37337" y="34289"/>
                </a:lnTo>
                <a:lnTo>
                  <a:pt x="39892" y="37245"/>
                </a:lnTo>
                <a:lnTo>
                  <a:pt x="79248" y="31241"/>
                </a:lnTo>
                <a:close/>
              </a:path>
              <a:path w="237489" h="665479">
                <a:moveTo>
                  <a:pt x="227075" y="425960"/>
                </a:moveTo>
                <a:lnTo>
                  <a:pt x="227075" y="368808"/>
                </a:lnTo>
                <a:lnTo>
                  <a:pt x="223089" y="407843"/>
                </a:lnTo>
                <a:lnTo>
                  <a:pt x="210197" y="444650"/>
                </a:lnTo>
                <a:lnTo>
                  <a:pt x="190885" y="478969"/>
                </a:lnTo>
                <a:lnTo>
                  <a:pt x="167639" y="510539"/>
                </a:lnTo>
                <a:lnTo>
                  <a:pt x="129744" y="551030"/>
                </a:lnTo>
                <a:lnTo>
                  <a:pt x="89154" y="589026"/>
                </a:lnTo>
                <a:lnTo>
                  <a:pt x="28194" y="639317"/>
                </a:lnTo>
                <a:lnTo>
                  <a:pt x="6858" y="656082"/>
                </a:lnTo>
                <a:lnTo>
                  <a:pt x="5334" y="659891"/>
                </a:lnTo>
                <a:lnTo>
                  <a:pt x="6096" y="662939"/>
                </a:lnTo>
                <a:lnTo>
                  <a:pt x="9144" y="665226"/>
                </a:lnTo>
                <a:lnTo>
                  <a:pt x="12954" y="663701"/>
                </a:lnTo>
                <a:lnTo>
                  <a:pt x="54863" y="630174"/>
                </a:lnTo>
                <a:lnTo>
                  <a:pt x="95250" y="595884"/>
                </a:lnTo>
                <a:lnTo>
                  <a:pt x="133350" y="560832"/>
                </a:lnTo>
                <a:lnTo>
                  <a:pt x="171083" y="520382"/>
                </a:lnTo>
                <a:lnTo>
                  <a:pt x="202347" y="478786"/>
                </a:lnTo>
                <a:lnTo>
                  <a:pt x="219422" y="447174"/>
                </a:lnTo>
                <a:lnTo>
                  <a:pt x="227075" y="425960"/>
                </a:lnTo>
                <a:close/>
              </a:path>
              <a:path w="237489" h="665479">
                <a:moveTo>
                  <a:pt x="39892" y="37245"/>
                </a:moveTo>
                <a:lnTo>
                  <a:pt x="37337" y="34289"/>
                </a:lnTo>
                <a:lnTo>
                  <a:pt x="34289" y="32765"/>
                </a:lnTo>
                <a:lnTo>
                  <a:pt x="30480" y="34289"/>
                </a:lnTo>
                <a:lnTo>
                  <a:pt x="28956" y="37337"/>
                </a:lnTo>
                <a:lnTo>
                  <a:pt x="30480" y="41148"/>
                </a:lnTo>
                <a:lnTo>
                  <a:pt x="32726" y="43768"/>
                </a:lnTo>
                <a:lnTo>
                  <a:pt x="34289" y="38100"/>
                </a:lnTo>
                <a:lnTo>
                  <a:pt x="39892" y="37245"/>
                </a:lnTo>
                <a:close/>
              </a:path>
              <a:path w="237489" h="665479">
                <a:moveTo>
                  <a:pt x="32726" y="43768"/>
                </a:moveTo>
                <a:lnTo>
                  <a:pt x="30480" y="41148"/>
                </a:lnTo>
                <a:lnTo>
                  <a:pt x="28956" y="37337"/>
                </a:lnTo>
                <a:lnTo>
                  <a:pt x="28956" y="57435"/>
                </a:lnTo>
                <a:lnTo>
                  <a:pt x="32726" y="43768"/>
                </a:lnTo>
                <a:close/>
              </a:path>
              <a:path w="237489" h="665479">
                <a:moveTo>
                  <a:pt x="236982" y="379475"/>
                </a:moveTo>
                <a:lnTo>
                  <a:pt x="233077" y="333526"/>
                </a:lnTo>
                <a:lnTo>
                  <a:pt x="218333" y="286475"/>
                </a:lnTo>
                <a:lnTo>
                  <a:pt x="195163" y="239273"/>
                </a:lnTo>
                <a:lnTo>
                  <a:pt x="165977" y="192871"/>
                </a:lnTo>
                <a:lnTo>
                  <a:pt x="133190" y="148221"/>
                </a:lnTo>
                <a:lnTo>
                  <a:pt x="99212" y="106273"/>
                </a:lnTo>
                <a:lnTo>
                  <a:pt x="39892" y="37245"/>
                </a:lnTo>
                <a:lnTo>
                  <a:pt x="34289" y="38100"/>
                </a:lnTo>
                <a:lnTo>
                  <a:pt x="32726" y="43768"/>
                </a:lnTo>
                <a:lnTo>
                  <a:pt x="39624" y="51815"/>
                </a:lnTo>
                <a:lnTo>
                  <a:pt x="81534" y="99822"/>
                </a:lnTo>
                <a:lnTo>
                  <a:pt x="119949" y="147058"/>
                </a:lnTo>
                <a:lnTo>
                  <a:pt x="154370" y="193436"/>
                </a:lnTo>
                <a:lnTo>
                  <a:pt x="191032" y="251954"/>
                </a:lnTo>
                <a:lnTo>
                  <a:pt x="209349" y="289912"/>
                </a:lnTo>
                <a:lnTo>
                  <a:pt x="222433" y="329599"/>
                </a:lnTo>
                <a:lnTo>
                  <a:pt x="227075" y="368808"/>
                </a:lnTo>
                <a:lnTo>
                  <a:pt x="227075" y="425960"/>
                </a:lnTo>
                <a:lnTo>
                  <a:pt x="231561" y="413527"/>
                </a:lnTo>
                <a:lnTo>
                  <a:pt x="236982" y="3794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1695323" y="1157223"/>
            <a:ext cx="1092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541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Stream  </a:t>
            </a:r>
            <a:r>
              <a:rPr sz="1800" b="1" spc="-5" dirty="0">
                <a:latin typeface="Arial"/>
                <a:cs typeface="Arial"/>
              </a:rPr>
              <a:t>(e.g.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TCP)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4874145" y="1867916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873383" y="1867916"/>
            <a:ext cx="1336040" cy="232410"/>
          </a:xfrm>
          <a:custGeom>
            <a:avLst/>
            <a:gdLst/>
            <a:ahLst/>
            <a:cxnLst/>
            <a:rect l="l" t="t" r="r" b="b"/>
            <a:pathLst>
              <a:path w="1336039" h="232410">
                <a:moveTo>
                  <a:pt x="0" y="0"/>
                </a:moveTo>
                <a:lnTo>
                  <a:pt x="0" y="232410"/>
                </a:lnTo>
                <a:lnTo>
                  <a:pt x="1335786" y="232410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5213477" y="1859025"/>
            <a:ext cx="6559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5510415" y="2104898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5843"/>
                </a:lnTo>
                <a:lnTo>
                  <a:pt x="34289" y="279653"/>
                </a:lnTo>
                <a:lnTo>
                  <a:pt x="38100" y="281177"/>
                </a:lnTo>
                <a:lnTo>
                  <a:pt x="41135" y="279653"/>
                </a:lnTo>
                <a:lnTo>
                  <a:pt x="42659" y="275843"/>
                </a:lnTo>
                <a:lnTo>
                  <a:pt x="42659" y="330733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59" y="263651"/>
                </a:moveTo>
                <a:lnTo>
                  <a:pt x="42659" y="4571"/>
                </a:lnTo>
                <a:lnTo>
                  <a:pt x="41135" y="1523"/>
                </a:lnTo>
                <a:lnTo>
                  <a:pt x="38100" y="0"/>
                </a:lnTo>
                <a:lnTo>
                  <a:pt x="34289" y="1523"/>
                </a:lnTo>
                <a:lnTo>
                  <a:pt x="33527" y="4571"/>
                </a:lnTo>
                <a:lnTo>
                  <a:pt x="33527" y="263651"/>
                </a:lnTo>
                <a:lnTo>
                  <a:pt x="42659" y="263651"/>
                </a:lnTo>
                <a:close/>
              </a:path>
              <a:path w="76200" h="340360">
                <a:moveTo>
                  <a:pt x="42659" y="330733"/>
                </a:moveTo>
                <a:lnTo>
                  <a:pt x="42659" y="275843"/>
                </a:lnTo>
                <a:lnTo>
                  <a:pt x="41135" y="279653"/>
                </a:lnTo>
                <a:lnTo>
                  <a:pt x="38100" y="281177"/>
                </a:lnTo>
                <a:lnTo>
                  <a:pt x="34289" y="279653"/>
                </a:lnTo>
                <a:lnTo>
                  <a:pt x="33527" y="275843"/>
                </a:lnTo>
                <a:lnTo>
                  <a:pt x="33527" y="330707"/>
                </a:lnTo>
                <a:lnTo>
                  <a:pt x="38100" y="339851"/>
                </a:lnTo>
                <a:lnTo>
                  <a:pt x="42659" y="3307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877193" y="2474467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877193" y="2474467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5305678" y="2465577"/>
            <a:ext cx="4787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bind()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5513451" y="2711450"/>
            <a:ext cx="76200" cy="1631950"/>
          </a:xfrm>
          <a:custGeom>
            <a:avLst/>
            <a:gdLst/>
            <a:ahLst/>
            <a:cxnLst/>
            <a:rect l="l" t="t" r="r" b="b"/>
            <a:pathLst>
              <a:path w="76200" h="1631950">
                <a:moveTo>
                  <a:pt x="76200" y="1555241"/>
                </a:moveTo>
                <a:lnTo>
                  <a:pt x="0" y="1555241"/>
                </a:lnTo>
                <a:lnTo>
                  <a:pt x="33540" y="1622323"/>
                </a:lnTo>
                <a:lnTo>
                  <a:pt x="33540" y="1568195"/>
                </a:lnTo>
                <a:lnTo>
                  <a:pt x="35064" y="1571243"/>
                </a:lnTo>
                <a:lnTo>
                  <a:pt x="38100" y="1572767"/>
                </a:lnTo>
                <a:lnTo>
                  <a:pt x="41922" y="1571243"/>
                </a:lnTo>
                <a:lnTo>
                  <a:pt x="42684" y="1568195"/>
                </a:lnTo>
                <a:lnTo>
                  <a:pt x="42684" y="1622272"/>
                </a:lnTo>
                <a:lnTo>
                  <a:pt x="76200" y="1555241"/>
                </a:lnTo>
                <a:close/>
              </a:path>
              <a:path w="76200" h="1631950">
                <a:moveTo>
                  <a:pt x="42684" y="1555241"/>
                </a:moveTo>
                <a:lnTo>
                  <a:pt x="42684" y="4571"/>
                </a:lnTo>
                <a:lnTo>
                  <a:pt x="41922" y="761"/>
                </a:lnTo>
                <a:lnTo>
                  <a:pt x="38100" y="0"/>
                </a:lnTo>
                <a:lnTo>
                  <a:pt x="35064" y="761"/>
                </a:lnTo>
                <a:lnTo>
                  <a:pt x="33540" y="4571"/>
                </a:lnTo>
                <a:lnTo>
                  <a:pt x="33540" y="1555241"/>
                </a:lnTo>
                <a:lnTo>
                  <a:pt x="42684" y="1555241"/>
                </a:lnTo>
                <a:close/>
              </a:path>
              <a:path w="76200" h="1631950">
                <a:moveTo>
                  <a:pt x="42684" y="1622272"/>
                </a:moveTo>
                <a:lnTo>
                  <a:pt x="42684" y="1568195"/>
                </a:lnTo>
                <a:lnTo>
                  <a:pt x="41922" y="1571243"/>
                </a:lnTo>
                <a:lnTo>
                  <a:pt x="38100" y="1572767"/>
                </a:lnTo>
                <a:lnTo>
                  <a:pt x="35064" y="1571243"/>
                </a:lnTo>
                <a:lnTo>
                  <a:pt x="33540" y="1568195"/>
                </a:lnTo>
                <a:lnTo>
                  <a:pt x="33540" y="1622323"/>
                </a:lnTo>
                <a:lnTo>
                  <a:pt x="38100" y="1631441"/>
                </a:lnTo>
                <a:lnTo>
                  <a:pt x="42684" y="1622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871859" y="4386326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8"/>
                </a:lnTo>
                <a:lnTo>
                  <a:pt x="1335785" y="231648"/>
                </a:lnTo>
                <a:lnTo>
                  <a:pt x="1335785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871859" y="438632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5122811" y="4376673"/>
            <a:ext cx="8318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recvfrom()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5508891" y="4622546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15" y="330682"/>
                </a:lnTo>
                <a:lnTo>
                  <a:pt x="33515" y="275843"/>
                </a:lnTo>
                <a:lnTo>
                  <a:pt x="34289" y="279653"/>
                </a:lnTo>
                <a:lnTo>
                  <a:pt x="38100" y="281177"/>
                </a:lnTo>
                <a:lnTo>
                  <a:pt x="41135" y="279653"/>
                </a:lnTo>
                <a:lnTo>
                  <a:pt x="42659" y="275843"/>
                </a:lnTo>
                <a:lnTo>
                  <a:pt x="42659" y="330733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59" y="263651"/>
                </a:moveTo>
                <a:lnTo>
                  <a:pt x="42659" y="4571"/>
                </a:lnTo>
                <a:lnTo>
                  <a:pt x="41135" y="1524"/>
                </a:lnTo>
                <a:lnTo>
                  <a:pt x="38100" y="0"/>
                </a:lnTo>
                <a:lnTo>
                  <a:pt x="34289" y="1524"/>
                </a:lnTo>
                <a:lnTo>
                  <a:pt x="33515" y="4571"/>
                </a:lnTo>
                <a:lnTo>
                  <a:pt x="33515" y="263651"/>
                </a:lnTo>
                <a:lnTo>
                  <a:pt x="42659" y="263651"/>
                </a:lnTo>
                <a:close/>
              </a:path>
              <a:path w="76200" h="340360">
                <a:moveTo>
                  <a:pt x="42659" y="330733"/>
                </a:moveTo>
                <a:lnTo>
                  <a:pt x="42659" y="275843"/>
                </a:lnTo>
                <a:lnTo>
                  <a:pt x="41135" y="279653"/>
                </a:lnTo>
                <a:lnTo>
                  <a:pt x="38100" y="281177"/>
                </a:lnTo>
                <a:lnTo>
                  <a:pt x="34289" y="279653"/>
                </a:lnTo>
                <a:lnTo>
                  <a:pt x="33515" y="275843"/>
                </a:lnTo>
                <a:lnTo>
                  <a:pt x="33515" y="330682"/>
                </a:lnTo>
                <a:lnTo>
                  <a:pt x="38100" y="339851"/>
                </a:lnTo>
                <a:lnTo>
                  <a:pt x="42659" y="3307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875669" y="499211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3" y="232410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875669" y="499211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3" y="232410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5205857" y="4983226"/>
            <a:ext cx="6750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sendto()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5511927" y="5229097"/>
            <a:ext cx="76200" cy="539750"/>
          </a:xfrm>
          <a:custGeom>
            <a:avLst/>
            <a:gdLst/>
            <a:ahLst/>
            <a:cxnLst/>
            <a:rect l="l" t="t" r="r" b="b"/>
            <a:pathLst>
              <a:path w="76200" h="539750">
                <a:moveTo>
                  <a:pt x="76200" y="463296"/>
                </a:moveTo>
                <a:lnTo>
                  <a:pt x="0" y="463296"/>
                </a:lnTo>
                <a:lnTo>
                  <a:pt x="33540" y="530377"/>
                </a:lnTo>
                <a:lnTo>
                  <a:pt x="33540" y="476250"/>
                </a:lnTo>
                <a:lnTo>
                  <a:pt x="35064" y="479298"/>
                </a:lnTo>
                <a:lnTo>
                  <a:pt x="38100" y="480822"/>
                </a:lnTo>
                <a:lnTo>
                  <a:pt x="41148" y="479298"/>
                </a:lnTo>
                <a:lnTo>
                  <a:pt x="42672" y="476250"/>
                </a:lnTo>
                <a:lnTo>
                  <a:pt x="42672" y="530351"/>
                </a:lnTo>
                <a:lnTo>
                  <a:pt x="76200" y="463296"/>
                </a:lnTo>
                <a:close/>
              </a:path>
              <a:path w="76200" h="539750">
                <a:moveTo>
                  <a:pt x="42672" y="463296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5064" y="1524"/>
                </a:lnTo>
                <a:lnTo>
                  <a:pt x="33540" y="4572"/>
                </a:lnTo>
                <a:lnTo>
                  <a:pt x="33540" y="463296"/>
                </a:lnTo>
                <a:lnTo>
                  <a:pt x="42672" y="463296"/>
                </a:lnTo>
                <a:close/>
              </a:path>
              <a:path w="76200" h="539750">
                <a:moveTo>
                  <a:pt x="42672" y="530351"/>
                </a:moveTo>
                <a:lnTo>
                  <a:pt x="42672" y="476250"/>
                </a:lnTo>
                <a:lnTo>
                  <a:pt x="41148" y="479298"/>
                </a:lnTo>
                <a:lnTo>
                  <a:pt x="38100" y="480822"/>
                </a:lnTo>
                <a:lnTo>
                  <a:pt x="35064" y="479298"/>
                </a:lnTo>
                <a:lnTo>
                  <a:pt x="33540" y="476250"/>
                </a:lnTo>
                <a:lnTo>
                  <a:pt x="33540" y="530377"/>
                </a:lnTo>
                <a:lnTo>
                  <a:pt x="38100" y="539496"/>
                </a:lnTo>
                <a:lnTo>
                  <a:pt x="42672" y="530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880241" y="5799073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880241" y="5799073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5269103" y="5789421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218810" y="1554225"/>
            <a:ext cx="6578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Server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7515225" y="1876298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515225" y="1876298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7855331" y="1867407"/>
            <a:ext cx="6559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8152269" y="2701544"/>
            <a:ext cx="76200" cy="1632585"/>
          </a:xfrm>
          <a:custGeom>
            <a:avLst/>
            <a:gdLst/>
            <a:ahLst/>
            <a:cxnLst/>
            <a:rect l="l" t="t" r="r" b="b"/>
            <a:pathLst>
              <a:path w="76200" h="1632585">
                <a:moveTo>
                  <a:pt x="76200" y="1556004"/>
                </a:moveTo>
                <a:lnTo>
                  <a:pt x="0" y="1556004"/>
                </a:lnTo>
                <a:lnTo>
                  <a:pt x="32753" y="1621510"/>
                </a:lnTo>
                <a:lnTo>
                  <a:pt x="32753" y="1568196"/>
                </a:lnTo>
                <a:lnTo>
                  <a:pt x="34277" y="1572006"/>
                </a:lnTo>
                <a:lnTo>
                  <a:pt x="38100" y="1573530"/>
                </a:lnTo>
                <a:lnTo>
                  <a:pt x="41148" y="1572006"/>
                </a:lnTo>
                <a:lnTo>
                  <a:pt x="42672" y="1568196"/>
                </a:lnTo>
                <a:lnTo>
                  <a:pt x="42672" y="1623060"/>
                </a:lnTo>
                <a:lnTo>
                  <a:pt x="76200" y="1556004"/>
                </a:lnTo>
                <a:close/>
              </a:path>
              <a:path w="76200" h="1632585">
                <a:moveTo>
                  <a:pt x="42672" y="1556004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77" y="1524"/>
                </a:lnTo>
                <a:lnTo>
                  <a:pt x="32753" y="4572"/>
                </a:lnTo>
                <a:lnTo>
                  <a:pt x="32753" y="1556004"/>
                </a:lnTo>
                <a:lnTo>
                  <a:pt x="42672" y="1556004"/>
                </a:lnTo>
                <a:close/>
              </a:path>
              <a:path w="76200" h="1632585">
                <a:moveTo>
                  <a:pt x="42672" y="1623060"/>
                </a:moveTo>
                <a:lnTo>
                  <a:pt x="42672" y="1568196"/>
                </a:lnTo>
                <a:lnTo>
                  <a:pt x="41148" y="1572006"/>
                </a:lnTo>
                <a:lnTo>
                  <a:pt x="38100" y="1573530"/>
                </a:lnTo>
                <a:lnTo>
                  <a:pt x="34277" y="1572006"/>
                </a:lnTo>
                <a:lnTo>
                  <a:pt x="32753" y="1568196"/>
                </a:lnTo>
                <a:lnTo>
                  <a:pt x="32753" y="1621510"/>
                </a:lnTo>
                <a:lnTo>
                  <a:pt x="38100" y="1632204"/>
                </a:lnTo>
                <a:lnTo>
                  <a:pt x="42672" y="16230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513701" y="439394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7513701" y="439394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7843901" y="4385055"/>
            <a:ext cx="6750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sendto()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8149970" y="4630165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6606"/>
                </a:lnTo>
                <a:lnTo>
                  <a:pt x="35051" y="279654"/>
                </a:lnTo>
                <a:lnTo>
                  <a:pt x="38100" y="281178"/>
                </a:lnTo>
                <a:lnTo>
                  <a:pt x="41922" y="279654"/>
                </a:lnTo>
                <a:lnTo>
                  <a:pt x="43446" y="276606"/>
                </a:lnTo>
                <a:lnTo>
                  <a:pt x="43446" y="329158"/>
                </a:lnTo>
                <a:lnTo>
                  <a:pt x="76200" y="263651"/>
                </a:lnTo>
                <a:close/>
              </a:path>
              <a:path w="76200" h="340360">
                <a:moveTo>
                  <a:pt x="43446" y="263651"/>
                </a:moveTo>
                <a:lnTo>
                  <a:pt x="43446" y="5334"/>
                </a:lnTo>
                <a:lnTo>
                  <a:pt x="41922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7" y="5334"/>
                </a:lnTo>
                <a:lnTo>
                  <a:pt x="33527" y="263651"/>
                </a:lnTo>
                <a:lnTo>
                  <a:pt x="43446" y="263651"/>
                </a:lnTo>
                <a:close/>
              </a:path>
              <a:path w="76200" h="340360">
                <a:moveTo>
                  <a:pt x="43446" y="329158"/>
                </a:moveTo>
                <a:lnTo>
                  <a:pt x="43446" y="276606"/>
                </a:lnTo>
                <a:lnTo>
                  <a:pt x="41922" y="279654"/>
                </a:lnTo>
                <a:lnTo>
                  <a:pt x="38100" y="281178"/>
                </a:lnTo>
                <a:lnTo>
                  <a:pt x="35051" y="279654"/>
                </a:lnTo>
                <a:lnTo>
                  <a:pt x="33527" y="276606"/>
                </a:lnTo>
                <a:lnTo>
                  <a:pt x="33527" y="330707"/>
                </a:lnTo>
                <a:lnTo>
                  <a:pt x="38100" y="339851"/>
                </a:lnTo>
                <a:lnTo>
                  <a:pt x="43446" y="3291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516748" y="5000497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7516748" y="5000497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7767701" y="4991608"/>
            <a:ext cx="8318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recvfrom()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8153793" y="5236717"/>
            <a:ext cx="76200" cy="540385"/>
          </a:xfrm>
          <a:custGeom>
            <a:avLst/>
            <a:gdLst/>
            <a:ahLst/>
            <a:cxnLst/>
            <a:rect l="l" t="t" r="r" b="b"/>
            <a:pathLst>
              <a:path w="76200" h="540385">
                <a:moveTo>
                  <a:pt x="76200" y="464058"/>
                </a:moveTo>
                <a:lnTo>
                  <a:pt x="0" y="464058"/>
                </a:lnTo>
                <a:lnTo>
                  <a:pt x="32753" y="529564"/>
                </a:lnTo>
                <a:lnTo>
                  <a:pt x="32753" y="476250"/>
                </a:lnTo>
                <a:lnTo>
                  <a:pt x="34277" y="480060"/>
                </a:lnTo>
                <a:lnTo>
                  <a:pt x="38100" y="480822"/>
                </a:lnTo>
                <a:lnTo>
                  <a:pt x="41148" y="480060"/>
                </a:lnTo>
                <a:lnTo>
                  <a:pt x="42672" y="476250"/>
                </a:lnTo>
                <a:lnTo>
                  <a:pt x="42672" y="531113"/>
                </a:lnTo>
                <a:lnTo>
                  <a:pt x="76200" y="464058"/>
                </a:lnTo>
                <a:close/>
              </a:path>
              <a:path w="76200" h="540385">
                <a:moveTo>
                  <a:pt x="42672" y="464058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77" y="1524"/>
                </a:lnTo>
                <a:lnTo>
                  <a:pt x="32753" y="4572"/>
                </a:lnTo>
                <a:lnTo>
                  <a:pt x="32753" y="464058"/>
                </a:lnTo>
                <a:lnTo>
                  <a:pt x="42672" y="464058"/>
                </a:lnTo>
                <a:close/>
              </a:path>
              <a:path w="76200" h="540385">
                <a:moveTo>
                  <a:pt x="42672" y="531113"/>
                </a:moveTo>
                <a:lnTo>
                  <a:pt x="42672" y="476250"/>
                </a:lnTo>
                <a:lnTo>
                  <a:pt x="41148" y="480060"/>
                </a:lnTo>
                <a:lnTo>
                  <a:pt x="38100" y="480822"/>
                </a:lnTo>
                <a:lnTo>
                  <a:pt x="34277" y="480060"/>
                </a:lnTo>
                <a:lnTo>
                  <a:pt x="32753" y="476250"/>
                </a:lnTo>
                <a:lnTo>
                  <a:pt x="32753" y="529564"/>
                </a:lnTo>
                <a:lnTo>
                  <a:pt x="38100" y="540258"/>
                </a:lnTo>
                <a:lnTo>
                  <a:pt x="42672" y="531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522095" y="5806694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521333" y="5806694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40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7910956" y="5797803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7884286" y="1560322"/>
            <a:ext cx="5899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Client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6209169" y="4446523"/>
            <a:ext cx="1317625" cy="76200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76200" y="32765"/>
                </a:move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58674" y="38100"/>
                </a:lnTo>
                <a:lnTo>
                  <a:pt x="59436" y="34289"/>
                </a:lnTo>
                <a:lnTo>
                  <a:pt x="63246" y="32765"/>
                </a:lnTo>
                <a:lnTo>
                  <a:pt x="76200" y="32765"/>
                </a:lnTo>
                <a:close/>
              </a:path>
              <a:path w="1317625" h="76200">
                <a:moveTo>
                  <a:pt x="1317498" y="38100"/>
                </a:moveTo>
                <a:lnTo>
                  <a:pt x="1315974" y="34289"/>
                </a:lnTo>
                <a:lnTo>
                  <a:pt x="1312164" y="32765"/>
                </a:lnTo>
                <a:lnTo>
                  <a:pt x="63246" y="32765"/>
                </a:lnTo>
                <a:lnTo>
                  <a:pt x="59436" y="34289"/>
                </a:lnTo>
                <a:lnTo>
                  <a:pt x="58674" y="38100"/>
                </a:lnTo>
                <a:lnTo>
                  <a:pt x="59436" y="41148"/>
                </a:lnTo>
                <a:lnTo>
                  <a:pt x="63246" y="42672"/>
                </a:lnTo>
                <a:lnTo>
                  <a:pt x="1312164" y="42672"/>
                </a:lnTo>
                <a:lnTo>
                  <a:pt x="1315974" y="41148"/>
                </a:lnTo>
                <a:lnTo>
                  <a:pt x="1317498" y="38100"/>
                </a:lnTo>
                <a:close/>
              </a:path>
              <a:path w="1317625" h="76200">
                <a:moveTo>
                  <a:pt x="76200" y="76200"/>
                </a:moveTo>
                <a:lnTo>
                  <a:pt x="76200" y="42672"/>
                </a:lnTo>
                <a:lnTo>
                  <a:pt x="63246" y="42672"/>
                </a:lnTo>
                <a:lnTo>
                  <a:pt x="59436" y="41148"/>
                </a:lnTo>
                <a:lnTo>
                  <a:pt x="58674" y="38100"/>
                </a:lnTo>
                <a:lnTo>
                  <a:pt x="58674" y="67437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6197727" y="5072126"/>
            <a:ext cx="1317625" cy="76200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1266456" y="38100"/>
                </a:moveTo>
                <a:lnTo>
                  <a:pt x="1262934" y="32765"/>
                </a:lnTo>
                <a:lnTo>
                  <a:pt x="4572" y="32765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1263437" y="42672"/>
                </a:lnTo>
                <a:lnTo>
                  <a:pt x="1266456" y="38100"/>
                </a:lnTo>
                <a:close/>
              </a:path>
              <a:path w="1317625" h="76200">
                <a:moveTo>
                  <a:pt x="1317498" y="38100"/>
                </a:moveTo>
                <a:lnTo>
                  <a:pt x="1241298" y="0"/>
                </a:lnTo>
                <a:lnTo>
                  <a:pt x="1262934" y="32765"/>
                </a:lnTo>
                <a:lnTo>
                  <a:pt x="1266456" y="32765"/>
                </a:lnTo>
                <a:lnTo>
                  <a:pt x="1270266" y="34289"/>
                </a:lnTo>
                <a:lnTo>
                  <a:pt x="1271790" y="38100"/>
                </a:lnTo>
                <a:lnTo>
                  <a:pt x="1271790" y="60953"/>
                </a:lnTo>
                <a:lnTo>
                  <a:pt x="1317498" y="38100"/>
                </a:lnTo>
                <a:close/>
              </a:path>
              <a:path w="1317625" h="76200">
                <a:moveTo>
                  <a:pt x="1271790" y="60953"/>
                </a:moveTo>
                <a:lnTo>
                  <a:pt x="1271790" y="38100"/>
                </a:lnTo>
                <a:lnTo>
                  <a:pt x="1270266" y="41148"/>
                </a:lnTo>
                <a:lnTo>
                  <a:pt x="1266456" y="42672"/>
                </a:lnTo>
                <a:lnTo>
                  <a:pt x="1263437" y="42672"/>
                </a:lnTo>
                <a:lnTo>
                  <a:pt x="1241298" y="76200"/>
                </a:lnTo>
                <a:lnTo>
                  <a:pt x="1271790" y="60953"/>
                </a:lnTo>
                <a:close/>
              </a:path>
              <a:path w="1317625" h="76200">
                <a:moveTo>
                  <a:pt x="1271790" y="38100"/>
                </a:moveTo>
                <a:lnTo>
                  <a:pt x="1270266" y="34289"/>
                </a:lnTo>
                <a:lnTo>
                  <a:pt x="1266456" y="32765"/>
                </a:lnTo>
                <a:lnTo>
                  <a:pt x="1262934" y="32765"/>
                </a:lnTo>
                <a:lnTo>
                  <a:pt x="1266456" y="38100"/>
                </a:lnTo>
                <a:lnTo>
                  <a:pt x="1266456" y="42672"/>
                </a:lnTo>
                <a:lnTo>
                  <a:pt x="1270266" y="41148"/>
                </a:lnTo>
                <a:lnTo>
                  <a:pt x="1271790" y="38100"/>
                </a:lnTo>
                <a:close/>
              </a:path>
              <a:path w="1317625" h="76200">
                <a:moveTo>
                  <a:pt x="1266456" y="42672"/>
                </a:moveTo>
                <a:lnTo>
                  <a:pt x="1266456" y="38100"/>
                </a:lnTo>
                <a:lnTo>
                  <a:pt x="1263437" y="42672"/>
                </a:lnTo>
                <a:lnTo>
                  <a:pt x="1266456" y="426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592967" y="4474717"/>
            <a:ext cx="219075" cy="665480"/>
          </a:xfrm>
          <a:custGeom>
            <a:avLst/>
            <a:gdLst/>
            <a:ahLst/>
            <a:cxnLst/>
            <a:rect l="l" t="t" r="r" b="b"/>
            <a:pathLst>
              <a:path w="219075" h="665479">
                <a:moveTo>
                  <a:pt x="168344" y="39486"/>
                </a:moveTo>
                <a:lnTo>
                  <a:pt x="167639" y="34290"/>
                </a:lnTo>
                <a:lnTo>
                  <a:pt x="161938" y="32815"/>
                </a:lnTo>
                <a:lnTo>
                  <a:pt x="145541" y="47244"/>
                </a:lnTo>
                <a:lnTo>
                  <a:pt x="110489" y="82296"/>
                </a:lnTo>
                <a:lnTo>
                  <a:pt x="77724" y="117348"/>
                </a:lnTo>
                <a:lnTo>
                  <a:pt x="49444" y="153066"/>
                </a:lnTo>
                <a:lnTo>
                  <a:pt x="16859" y="209638"/>
                </a:lnTo>
                <a:lnTo>
                  <a:pt x="481" y="270774"/>
                </a:lnTo>
                <a:lnTo>
                  <a:pt x="0" y="302514"/>
                </a:lnTo>
                <a:lnTo>
                  <a:pt x="7214" y="344435"/>
                </a:lnTo>
                <a:lnTo>
                  <a:pt x="9143" y="350051"/>
                </a:lnTo>
                <a:lnTo>
                  <a:pt x="9143" y="301752"/>
                </a:lnTo>
                <a:lnTo>
                  <a:pt x="10822" y="264344"/>
                </a:lnTo>
                <a:lnTo>
                  <a:pt x="31925" y="200017"/>
                </a:lnTo>
                <a:lnTo>
                  <a:pt x="66236" y="146265"/>
                </a:lnTo>
                <a:lnTo>
                  <a:pt x="98396" y="107973"/>
                </a:lnTo>
                <a:lnTo>
                  <a:pt x="134112" y="71628"/>
                </a:lnTo>
                <a:lnTo>
                  <a:pt x="152400" y="54102"/>
                </a:lnTo>
                <a:lnTo>
                  <a:pt x="168344" y="39486"/>
                </a:lnTo>
                <a:close/>
              </a:path>
              <a:path w="219075" h="665479">
                <a:moveTo>
                  <a:pt x="218693" y="661416"/>
                </a:moveTo>
                <a:lnTo>
                  <a:pt x="217931" y="657606"/>
                </a:lnTo>
                <a:lnTo>
                  <a:pt x="198119" y="633222"/>
                </a:lnTo>
                <a:lnTo>
                  <a:pt x="160019" y="584454"/>
                </a:lnTo>
                <a:lnTo>
                  <a:pt x="135155" y="553062"/>
                </a:lnTo>
                <a:lnTo>
                  <a:pt x="111294" y="520879"/>
                </a:lnTo>
                <a:lnTo>
                  <a:pt x="88555" y="487908"/>
                </a:lnTo>
                <a:lnTo>
                  <a:pt x="67055" y="454152"/>
                </a:lnTo>
                <a:lnTo>
                  <a:pt x="46750" y="417832"/>
                </a:lnTo>
                <a:lnTo>
                  <a:pt x="29532" y="381061"/>
                </a:lnTo>
                <a:lnTo>
                  <a:pt x="16597" y="342736"/>
                </a:lnTo>
                <a:lnTo>
                  <a:pt x="9143" y="301752"/>
                </a:lnTo>
                <a:lnTo>
                  <a:pt x="9143" y="350051"/>
                </a:lnTo>
                <a:lnTo>
                  <a:pt x="21986" y="387434"/>
                </a:lnTo>
                <a:lnTo>
                  <a:pt x="42807" y="430857"/>
                </a:lnTo>
                <a:lnTo>
                  <a:pt x="68169" y="474050"/>
                </a:lnTo>
                <a:lnTo>
                  <a:pt x="96563" y="516361"/>
                </a:lnTo>
                <a:lnTo>
                  <a:pt x="126483" y="557134"/>
                </a:lnTo>
                <a:lnTo>
                  <a:pt x="156420" y="595718"/>
                </a:lnTo>
                <a:lnTo>
                  <a:pt x="210312" y="663702"/>
                </a:lnTo>
                <a:lnTo>
                  <a:pt x="213360" y="665226"/>
                </a:lnTo>
                <a:lnTo>
                  <a:pt x="217169" y="664464"/>
                </a:lnTo>
                <a:lnTo>
                  <a:pt x="218693" y="661416"/>
                </a:lnTo>
                <a:close/>
              </a:path>
              <a:path w="219075" h="665479">
                <a:moveTo>
                  <a:pt x="204977" y="0"/>
                </a:moveTo>
                <a:lnTo>
                  <a:pt x="123443" y="22860"/>
                </a:lnTo>
                <a:lnTo>
                  <a:pt x="161938" y="32815"/>
                </a:lnTo>
                <a:lnTo>
                  <a:pt x="164591" y="30480"/>
                </a:lnTo>
                <a:lnTo>
                  <a:pt x="167639" y="28956"/>
                </a:lnTo>
                <a:lnTo>
                  <a:pt x="170687" y="30480"/>
                </a:lnTo>
                <a:lnTo>
                  <a:pt x="172212" y="34290"/>
                </a:lnTo>
                <a:lnTo>
                  <a:pt x="172212" y="68008"/>
                </a:lnTo>
                <a:lnTo>
                  <a:pt x="173736" y="79248"/>
                </a:lnTo>
                <a:lnTo>
                  <a:pt x="204977" y="0"/>
                </a:lnTo>
                <a:close/>
              </a:path>
              <a:path w="219075" h="665479">
                <a:moveTo>
                  <a:pt x="172212" y="34290"/>
                </a:moveTo>
                <a:lnTo>
                  <a:pt x="170687" y="30480"/>
                </a:lnTo>
                <a:lnTo>
                  <a:pt x="167639" y="28956"/>
                </a:lnTo>
                <a:lnTo>
                  <a:pt x="164591" y="30480"/>
                </a:lnTo>
                <a:lnTo>
                  <a:pt x="161938" y="32815"/>
                </a:lnTo>
                <a:lnTo>
                  <a:pt x="167639" y="34290"/>
                </a:lnTo>
                <a:lnTo>
                  <a:pt x="168344" y="39486"/>
                </a:lnTo>
                <a:lnTo>
                  <a:pt x="170687" y="37337"/>
                </a:lnTo>
                <a:lnTo>
                  <a:pt x="172212" y="34290"/>
                </a:lnTo>
                <a:close/>
              </a:path>
              <a:path w="219075" h="665479">
                <a:moveTo>
                  <a:pt x="172212" y="68008"/>
                </a:moveTo>
                <a:lnTo>
                  <a:pt x="172212" y="34290"/>
                </a:lnTo>
                <a:lnTo>
                  <a:pt x="170687" y="37337"/>
                </a:lnTo>
                <a:lnTo>
                  <a:pt x="168344" y="39486"/>
                </a:lnTo>
                <a:lnTo>
                  <a:pt x="172212" y="680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8870822" y="4490720"/>
            <a:ext cx="236854" cy="665480"/>
          </a:xfrm>
          <a:custGeom>
            <a:avLst/>
            <a:gdLst/>
            <a:ahLst/>
            <a:cxnLst/>
            <a:rect l="l" t="t" r="r" b="b"/>
            <a:pathLst>
              <a:path w="236854" h="665479">
                <a:moveTo>
                  <a:pt x="79248" y="32003"/>
                </a:moveTo>
                <a:lnTo>
                  <a:pt x="0" y="0"/>
                </a:lnTo>
                <a:lnTo>
                  <a:pt x="22098" y="82295"/>
                </a:lnTo>
                <a:lnTo>
                  <a:pt x="28968" y="57415"/>
                </a:lnTo>
                <a:lnTo>
                  <a:pt x="28968" y="38100"/>
                </a:lnTo>
                <a:lnTo>
                  <a:pt x="30492" y="34289"/>
                </a:lnTo>
                <a:lnTo>
                  <a:pt x="34302" y="33527"/>
                </a:lnTo>
                <a:lnTo>
                  <a:pt x="37350" y="35051"/>
                </a:lnTo>
                <a:lnTo>
                  <a:pt x="39400" y="37408"/>
                </a:lnTo>
                <a:lnTo>
                  <a:pt x="79248" y="32003"/>
                </a:lnTo>
                <a:close/>
              </a:path>
              <a:path w="236854" h="665479">
                <a:moveTo>
                  <a:pt x="227075" y="427697"/>
                </a:moveTo>
                <a:lnTo>
                  <a:pt x="227075" y="369569"/>
                </a:lnTo>
                <a:lnTo>
                  <a:pt x="223702" y="405332"/>
                </a:lnTo>
                <a:lnTo>
                  <a:pt x="212450" y="439821"/>
                </a:lnTo>
                <a:lnTo>
                  <a:pt x="174498" y="501395"/>
                </a:lnTo>
                <a:lnTo>
                  <a:pt x="143122" y="538110"/>
                </a:lnTo>
                <a:lnTo>
                  <a:pt x="89153" y="589026"/>
                </a:lnTo>
                <a:lnTo>
                  <a:pt x="48780" y="623315"/>
                </a:lnTo>
                <a:lnTo>
                  <a:pt x="6870" y="656843"/>
                </a:lnTo>
                <a:lnTo>
                  <a:pt x="5346" y="659891"/>
                </a:lnTo>
                <a:lnTo>
                  <a:pt x="6108" y="663701"/>
                </a:lnTo>
                <a:lnTo>
                  <a:pt x="9156" y="665226"/>
                </a:lnTo>
                <a:lnTo>
                  <a:pt x="12953" y="664463"/>
                </a:lnTo>
                <a:lnTo>
                  <a:pt x="75450" y="613409"/>
                </a:lnTo>
                <a:lnTo>
                  <a:pt x="116436" y="577275"/>
                </a:lnTo>
                <a:lnTo>
                  <a:pt x="156400" y="537558"/>
                </a:lnTo>
                <a:lnTo>
                  <a:pt x="196445" y="488125"/>
                </a:lnTo>
                <a:lnTo>
                  <a:pt x="214572" y="457490"/>
                </a:lnTo>
                <a:lnTo>
                  <a:pt x="227075" y="427697"/>
                </a:lnTo>
                <a:close/>
              </a:path>
              <a:path w="236854" h="665479">
                <a:moveTo>
                  <a:pt x="39400" y="37408"/>
                </a:moveTo>
                <a:lnTo>
                  <a:pt x="37350" y="35051"/>
                </a:lnTo>
                <a:lnTo>
                  <a:pt x="34302" y="33527"/>
                </a:lnTo>
                <a:lnTo>
                  <a:pt x="30492" y="34289"/>
                </a:lnTo>
                <a:lnTo>
                  <a:pt x="28968" y="38100"/>
                </a:lnTo>
                <a:lnTo>
                  <a:pt x="30492" y="41147"/>
                </a:lnTo>
                <a:lnTo>
                  <a:pt x="32736" y="43769"/>
                </a:lnTo>
                <a:lnTo>
                  <a:pt x="34302" y="38100"/>
                </a:lnTo>
                <a:lnTo>
                  <a:pt x="39400" y="37408"/>
                </a:lnTo>
                <a:close/>
              </a:path>
              <a:path w="236854" h="665479">
                <a:moveTo>
                  <a:pt x="32736" y="43769"/>
                </a:moveTo>
                <a:lnTo>
                  <a:pt x="30492" y="41147"/>
                </a:lnTo>
                <a:lnTo>
                  <a:pt x="28968" y="38100"/>
                </a:lnTo>
                <a:lnTo>
                  <a:pt x="28968" y="57415"/>
                </a:lnTo>
                <a:lnTo>
                  <a:pt x="32736" y="43769"/>
                </a:lnTo>
                <a:close/>
              </a:path>
              <a:path w="236854" h="665479">
                <a:moveTo>
                  <a:pt x="236232" y="390143"/>
                </a:moveTo>
                <a:lnTo>
                  <a:pt x="235599" y="348397"/>
                </a:lnTo>
                <a:lnTo>
                  <a:pt x="225243" y="305446"/>
                </a:lnTo>
                <a:lnTo>
                  <a:pt x="207031" y="262051"/>
                </a:lnTo>
                <a:lnTo>
                  <a:pt x="182829" y="218976"/>
                </a:lnTo>
                <a:lnTo>
                  <a:pt x="154507" y="176981"/>
                </a:lnTo>
                <a:lnTo>
                  <a:pt x="123930" y="136829"/>
                </a:lnTo>
                <a:lnTo>
                  <a:pt x="92967" y="99282"/>
                </a:lnTo>
                <a:lnTo>
                  <a:pt x="39400" y="37408"/>
                </a:lnTo>
                <a:lnTo>
                  <a:pt x="34302" y="38100"/>
                </a:lnTo>
                <a:lnTo>
                  <a:pt x="32736" y="43769"/>
                </a:lnTo>
                <a:lnTo>
                  <a:pt x="39624" y="51815"/>
                </a:lnTo>
                <a:lnTo>
                  <a:pt x="60972" y="76200"/>
                </a:lnTo>
                <a:lnTo>
                  <a:pt x="101358" y="124205"/>
                </a:lnTo>
                <a:lnTo>
                  <a:pt x="135724" y="167836"/>
                </a:lnTo>
                <a:lnTo>
                  <a:pt x="164398" y="208381"/>
                </a:lnTo>
                <a:lnTo>
                  <a:pt x="196179" y="262136"/>
                </a:lnTo>
                <a:lnTo>
                  <a:pt x="223019" y="332473"/>
                </a:lnTo>
                <a:lnTo>
                  <a:pt x="227075" y="369569"/>
                </a:lnTo>
                <a:lnTo>
                  <a:pt x="227075" y="427697"/>
                </a:lnTo>
                <a:lnTo>
                  <a:pt x="228290" y="424804"/>
                </a:lnTo>
                <a:lnTo>
                  <a:pt x="236232" y="3901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 txBox="1"/>
          <p:nvPr/>
        </p:nvSpPr>
        <p:spPr>
          <a:xfrm>
            <a:off x="6235331" y="1164844"/>
            <a:ext cx="1118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Datagram  (e.g.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UDP)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7522095" y="2452370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7521333" y="2452370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40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 txBox="1"/>
          <p:nvPr/>
        </p:nvSpPr>
        <p:spPr>
          <a:xfrm>
            <a:off x="7950581" y="2443480"/>
            <a:ext cx="4787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bind()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8142351" y="2109470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2"/>
                </a:moveTo>
                <a:lnTo>
                  <a:pt x="0" y="263652"/>
                </a:lnTo>
                <a:lnTo>
                  <a:pt x="33540" y="330733"/>
                </a:lnTo>
                <a:lnTo>
                  <a:pt x="33540" y="276606"/>
                </a:lnTo>
                <a:lnTo>
                  <a:pt x="35064" y="279654"/>
                </a:lnTo>
                <a:lnTo>
                  <a:pt x="38100" y="281178"/>
                </a:lnTo>
                <a:lnTo>
                  <a:pt x="41922" y="279654"/>
                </a:lnTo>
                <a:lnTo>
                  <a:pt x="42672" y="276606"/>
                </a:lnTo>
                <a:lnTo>
                  <a:pt x="42672" y="330708"/>
                </a:lnTo>
                <a:lnTo>
                  <a:pt x="76200" y="263652"/>
                </a:lnTo>
                <a:close/>
              </a:path>
              <a:path w="76200" h="340360">
                <a:moveTo>
                  <a:pt x="42672" y="263652"/>
                </a:moveTo>
                <a:lnTo>
                  <a:pt x="42672" y="4572"/>
                </a:lnTo>
                <a:lnTo>
                  <a:pt x="41922" y="1524"/>
                </a:lnTo>
                <a:lnTo>
                  <a:pt x="38100" y="0"/>
                </a:lnTo>
                <a:lnTo>
                  <a:pt x="35064" y="1524"/>
                </a:lnTo>
                <a:lnTo>
                  <a:pt x="33540" y="4572"/>
                </a:lnTo>
                <a:lnTo>
                  <a:pt x="33540" y="263652"/>
                </a:lnTo>
                <a:lnTo>
                  <a:pt x="42672" y="263652"/>
                </a:lnTo>
                <a:close/>
              </a:path>
              <a:path w="76200" h="340360">
                <a:moveTo>
                  <a:pt x="42672" y="330708"/>
                </a:moveTo>
                <a:lnTo>
                  <a:pt x="42672" y="276606"/>
                </a:lnTo>
                <a:lnTo>
                  <a:pt x="41922" y="279654"/>
                </a:lnTo>
                <a:lnTo>
                  <a:pt x="38100" y="281178"/>
                </a:lnTo>
                <a:lnTo>
                  <a:pt x="35064" y="279654"/>
                </a:lnTo>
                <a:lnTo>
                  <a:pt x="33540" y="276606"/>
                </a:lnTo>
                <a:lnTo>
                  <a:pt x="33540" y="330733"/>
                </a:lnTo>
                <a:lnTo>
                  <a:pt x="38100" y="339852"/>
                </a:lnTo>
                <a:lnTo>
                  <a:pt x="42672" y="3307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7361" y="261873"/>
            <a:ext cx="664527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40" dirty="0"/>
              <a:t>Socket </a:t>
            </a:r>
            <a:r>
              <a:rPr sz="4200" spc="-270" dirty="0"/>
              <a:t>creation </a:t>
            </a:r>
            <a:r>
              <a:rPr sz="4200" spc="-310" dirty="0"/>
              <a:t>in </a:t>
            </a:r>
            <a:r>
              <a:rPr sz="4200" spc="-215" dirty="0"/>
              <a:t>C:</a:t>
            </a:r>
            <a:r>
              <a:rPr sz="4200" spc="-525" dirty="0"/>
              <a:t> </a:t>
            </a:r>
            <a:r>
              <a:rPr sz="3600" spc="-5" dirty="0">
                <a:latin typeface="Courier New"/>
                <a:cs typeface="Courier New"/>
              </a:rPr>
              <a:t>socket()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0859" y="1271269"/>
            <a:ext cx="7631430" cy="337185"/>
          </a:xfrm>
          <a:custGeom>
            <a:avLst/>
            <a:gdLst/>
            <a:ahLst/>
            <a:cxnLst/>
            <a:rect l="l" t="t" r="r" b="b"/>
            <a:pathLst>
              <a:path w="7631430" h="337184">
                <a:moveTo>
                  <a:pt x="7631417" y="280416"/>
                </a:moveTo>
                <a:lnTo>
                  <a:pt x="7631417" y="56388"/>
                </a:lnTo>
                <a:lnTo>
                  <a:pt x="7627001" y="34397"/>
                </a:lnTo>
                <a:lnTo>
                  <a:pt x="7614943" y="16478"/>
                </a:lnTo>
                <a:lnTo>
                  <a:pt x="7597025" y="4417"/>
                </a:lnTo>
                <a:lnTo>
                  <a:pt x="7575029" y="0"/>
                </a:lnTo>
                <a:lnTo>
                  <a:pt x="56387" y="0"/>
                </a:lnTo>
                <a:lnTo>
                  <a:pt x="34397" y="4417"/>
                </a:lnTo>
                <a:lnTo>
                  <a:pt x="16478" y="16478"/>
                </a:lnTo>
                <a:lnTo>
                  <a:pt x="4417" y="34397"/>
                </a:lnTo>
                <a:lnTo>
                  <a:pt x="0" y="56388"/>
                </a:lnTo>
                <a:lnTo>
                  <a:pt x="0" y="280416"/>
                </a:lnTo>
                <a:lnTo>
                  <a:pt x="4417" y="302406"/>
                </a:lnTo>
                <a:lnTo>
                  <a:pt x="16478" y="320325"/>
                </a:lnTo>
                <a:lnTo>
                  <a:pt x="34397" y="332386"/>
                </a:lnTo>
                <a:lnTo>
                  <a:pt x="56387" y="336804"/>
                </a:lnTo>
                <a:lnTo>
                  <a:pt x="7575029" y="336804"/>
                </a:lnTo>
                <a:lnTo>
                  <a:pt x="7597025" y="332386"/>
                </a:lnTo>
                <a:lnTo>
                  <a:pt x="7614943" y="320325"/>
                </a:lnTo>
                <a:lnTo>
                  <a:pt x="7627001" y="302406"/>
                </a:lnTo>
                <a:lnTo>
                  <a:pt x="7631417" y="280416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5901" y="1174088"/>
            <a:ext cx="8763000" cy="4962897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4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int </a:t>
            </a:r>
            <a:r>
              <a:rPr sz="2800" b="1" u="sng" dirty="0">
                <a:solidFill>
                  <a:srgbClr val="3B822F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sockid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= socket(</a:t>
            </a:r>
            <a:r>
              <a:rPr sz="2800" b="1" u="sng" dirty="0">
                <a:solidFill>
                  <a:srgbClr val="9A65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family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 </a:t>
            </a:r>
            <a:r>
              <a:rPr sz="2800" b="1" u="sng" dirty="0">
                <a:solidFill>
                  <a:srgbClr val="CC9A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type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</a:t>
            </a:r>
            <a:r>
              <a:rPr sz="2800" b="1" u="sng" spc="-2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800" b="1" u="sng" dirty="0">
                <a:solidFill>
                  <a:srgbClr val="CA68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protocol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);</a:t>
            </a:r>
            <a:endParaRPr sz="2800" dirty="0">
              <a:latin typeface="Courier New"/>
              <a:cs typeface="Courier New"/>
            </a:endParaRPr>
          </a:p>
          <a:p>
            <a:pPr marL="681990" lvl="1" indent="-325120">
              <a:lnSpc>
                <a:spcPct val="100000"/>
              </a:lnSpc>
              <a:spcBef>
                <a:spcPts val="31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160" dirty="0">
                <a:solidFill>
                  <a:srgbClr val="3B822F"/>
                </a:solidFill>
                <a:latin typeface="Arial"/>
                <a:cs typeface="Arial"/>
              </a:rPr>
              <a:t>sockid</a:t>
            </a:r>
            <a:r>
              <a:rPr sz="2800" spc="-160" dirty="0">
                <a:latin typeface="Arial"/>
                <a:cs typeface="Arial"/>
              </a:rPr>
              <a:t>: </a:t>
            </a:r>
            <a:r>
              <a:rPr sz="2800" spc="-90" dirty="0">
                <a:latin typeface="Arial"/>
                <a:cs typeface="Arial"/>
              </a:rPr>
              <a:t>socket </a:t>
            </a:r>
            <a:r>
              <a:rPr sz="2800" spc="-45" dirty="0">
                <a:latin typeface="Arial"/>
                <a:cs typeface="Arial"/>
              </a:rPr>
              <a:t>descriptor, </a:t>
            </a:r>
            <a:r>
              <a:rPr sz="2800" spc="-105" dirty="0">
                <a:latin typeface="Arial"/>
                <a:cs typeface="Arial"/>
              </a:rPr>
              <a:t>an </a:t>
            </a:r>
            <a:r>
              <a:rPr sz="2800" spc="-35" dirty="0">
                <a:latin typeface="Arial"/>
                <a:cs typeface="Arial"/>
              </a:rPr>
              <a:t>integer </a:t>
            </a:r>
            <a:r>
              <a:rPr sz="2800" spc="15" dirty="0">
                <a:latin typeface="Arial"/>
                <a:cs typeface="Arial"/>
              </a:rPr>
              <a:t>(like </a:t>
            </a:r>
            <a:r>
              <a:rPr sz="2800" spc="-229" dirty="0">
                <a:latin typeface="Arial"/>
                <a:cs typeface="Arial"/>
              </a:rPr>
              <a:t>a</a:t>
            </a:r>
            <a:r>
              <a:rPr sz="2800" spc="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file-handle)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240"/>
              </a:spcBef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70" dirty="0">
                <a:solidFill>
                  <a:srgbClr val="9A6500"/>
                </a:solidFill>
                <a:latin typeface="Arial"/>
                <a:cs typeface="Arial"/>
              </a:rPr>
              <a:t>family</a:t>
            </a:r>
            <a:r>
              <a:rPr sz="2800" spc="-70" dirty="0">
                <a:latin typeface="Arial"/>
                <a:cs typeface="Arial"/>
              </a:rPr>
              <a:t>: </a:t>
            </a:r>
            <a:r>
              <a:rPr sz="2800" spc="-35" dirty="0">
                <a:latin typeface="Arial"/>
                <a:cs typeface="Arial"/>
              </a:rPr>
              <a:t>integer, </a:t>
            </a:r>
            <a:r>
              <a:rPr sz="2800" spc="-30" dirty="0">
                <a:latin typeface="Arial"/>
                <a:cs typeface="Arial"/>
              </a:rPr>
              <a:t>communication </a:t>
            </a:r>
            <a:r>
              <a:rPr sz="2800" spc="-50" dirty="0">
                <a:latin typeface="Arial"/>
                <a:cs typeface="Arial"/>
              </a:rPr>
              <a:t>domain,</a:t>
            </a:r>
            <a:r>
              <a:rPr sz="2800" spc="-105" dirty="0">
                <a:latin typeface="Arial"/>
                <a:cs typeface="Arial"/>
              </a:rPr>
              <a:t> e.g.,</a:t>
            </a:r>
            <a:endParaRPr sz="2800" dirty="0">
              <a:latin typeface="Arial"/>
              <a:cs typeface="Arial"/>
            </a:endParaRPr>
          </a:p>
          <a:p>
            <a:pPr marL="1035050" lvl="2" indent="-351155">
              <a:lnSpc>
                <a:spcPct val="100000"/>
              </a:lnSpc>
              <a:spcBef>
                <a:spcPts val="235"/>
              </a:spcBef>
              <a:buClr>
                <a:srgbClr val="9A6500"/>
              </a:buClr>
              <a:buSzPct val="66666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2800" spc="-60" dirty="0">
                <a:latin typeface="Arial"/>
                <a:cs typeface="Arial"/>
              </a:rPr>
              <a:t>PF_INET, </a:t>
            </a:r>
            <a:r>
              <a:rPr sz="2800" spc="-25" dirty="0">
                <a:latin typeface="Arial"/>
                <a:cs typeface="Arial"/>
              </a:rPr>
              <a:t>IPv4 </a:t>
            </a:r>
            <a:r>
              <a:rPr sz="2800" spc="-45" dirty="0">
                <a:latin typeface="Arial"/>
                <a:cs typeface="Arial"/>
              </a:rPr>
              <a:t>protocols, </a:t>
            </a:r>
            <a:r>
              <a:rPr sz="2800" spc="10" dirty="0">
                <a:latin typeface="Arial"/>
                <a:cs typeface="Arial"/>
              </a:rPr>
              <a:t>Internet </a:t>
            </a:r>
            <a:r>
              <a:rPr sz="2800" spc="-150" dirty="0">
                <a:latin typeface="Arial"/>
                <a:cs typeface="Arial"/>
              </a:rPr>
              <a:t>addresses </a:t>
            </a:r>
            <a:r>
              <a:rPr sz="2800" spc="10" dirty="0">
                <a:latin typeface="Arial"/>
                <a:cs typeface="Arial"/>
              </a:rPr>
              <a:t>(typically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used)</a:t>
            </a:r>
            <a:endParaRPr sz="2800" dirty="0">
              <a:latin typeface="Arial"/>
              <a:cs typeface="Arial"/>
            </a:endParaRPr>
          </a:p>
          <a:p>
            <a:pPr marL="1035050" lvl="2" indent="-351155">
              <a:lnSpc>
                <a:spcPct val="100000"/>
              </a:lnSpc>
              <a:spcBef>
                <a:spcPts val="229"/>
              </a:spcBef>
              <a:buClr>
                <a:srgbClr val="9A6500"/>
              </a:buClr>
              <a:buSzPct val="66666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2800" spc="-40" dirty="0">
                <a:latin typeface="Arial"/>
                <a:cs typeface="Arial"/>
              </a:rPr>
              <a:t>PF_UNIX, </a:t>
            </a:r>
            <a:r>
              <a:rPr sz="2800" spc="-60" dirty="0">
                <a:latin typeface="Arial"/>
                <a:cs typeface="Arial"/>
              </a:rPr>
              <a:t>Local </a:t>
            </a:r>
            <a:r>
              <a:rPr sz="2800" spc="-25" dirty="0">
                <a:latin typeface="Arial"/>
                <a:cs typeface="Arial"/>
              </a:rPr>
              <a:t>communication, File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addresses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22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100" dirty="0">
                <a:solidFill>
                  <a:srgbClr val="CC9A00"/>
                </a:solidFill>
                <a:latin typeface="Arial"/>
                <a:cs typeface="Arial"/>
              </a:rPr>
              <a:t>type</a:t>
            </a:r>
            <a:r>
              <a:rPr sz="2800" spc="-100" dirty="0">
                <a:latin typeface="Arial"/>
                <a:cs typeface="Arial"/>
              </a:rPr>
              <a:t>: </a:t>
            </a:r>
            <a:r>
              <a:rPr sz="2800" spc="-30" dirty="0">
                <a:latin typeface="Arial"/>
                <a:cs typeface="Arial"/>
              </a:rPr>
              <a:t>communication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type</a:t>
            </a:r>
            <a:endParaRPr sz="2800" dirty="0">
              <a:latin typeface="Arial"/>
              <a:cs typeface="Arial"/>
            </a:endParaRPr>
          </a:p>
          <a:p>
            <a:pPr marL="1035050" lvl="2" indent="-351155">
              <a:lnSpc>
                <a:spcPct val="100000"/>
              </a:lnSpc>
              <a:spcBef>
                <a:spcPts val="235"/>
              </a:spcBef>
              <a:buClr>
                <a:srgbClr val="9A6500"/>
              </a:buClr>
              <a:buSzPct val="66666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2800" spc="-95" dirty="0">
                <a:latin typeface="Arial"/>
                <a:cs typeface="Arial"/>
              </a:rPr>
              <a:t>SOCK_STREAM </a:t>
            </a:r>
            <a:r>
              <a:rPr sz="2800" spc="80" dirty="0">
                <a:latin typeface="Arial"/>
                <a:cs typeface="Arial"/>
              </a:rPr>
              <a:t>- </a:t>
            </a:r>
            <a:r>
              <a:rPr sz="2800" spc="-30" dirty="0">
                <a:latin typeface="Arial"/>
                <a:cs typeface="Arial"/>
              </a:rPr>
              <a:t>reliable, 2-way, </a:t>
            </a:r>
            <a:r>
              <a:rPr sz="2800" spc="-60" dirty="0">
                <a:latin typeface="Arial"/>
                <a:cs typeface="Arial"/>
              </a:rPr>
              <a:t>connection-based</a:t>
            </a:r>
            <a:r>
              <a:rPr sz="2800" spc="-180" dirty="0">
                <a:latin typeface="Arial"/>
                <a:cs typeface="Arial"/>
              </a:rPr>
              <a:t> </a:t>
            </a:r>
            <a:r>
              <a:rPr sz="2800" spc="-70" dirty="0" smtClean="0">
                <a:latin typeface="Arial"/>
                <a:cs typeface="Arial"/>
              </a:rPr>
              <a:t>service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7361" y="261873"/>
            <a:ext cx="664527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40" dirty="0"/>
              <a:t>Socket </a:t>
            </a:r>
            <a:r>
              <a:rPr sz="4200" spc="-270" dirty="0"/>
              <a:t>creation </a:t>
            </a:r>
            <a:r>
              <a:rPr sz="4200" spc="-310" dirty="0"/>
              <a:t>in </a:t>
            </a:r>
            <a:r>
              <a:rPr sz="4200" spc="-215" dirty="0"/>
              <a:t>C:</a:t>
            </a:r>
            <a:r>
              <a:rPr sz="4200" spc="-525" dirty="0"/>
              <a:t> </a:t>
            </a:r>
            <a:r>
              <a:rPr sz="3600" spc="-5" dirty="0">
                <a:latin typeface="Courier New"/>
                <a:cs typeface="Courier New"/>
              </a:rPr>
              <a:t>socket()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0859" y="1271269"/>
            <a:ext cx="7631430" cy="337185"/>
          </a:xfrm>
          <a:custGeom>
            <a:avLst/>
            <a:gdLst/>
            <a:ahLst/>
            <a:cxnLst/>
            <a:rect l="l" t="t" r="r" b="b"/>
            <a:pathLst>
              <a:path w="7631430" h="337184">
                <a:moveTo>
                  <a:pt x="7631417" y="280416"/>
                </a:moveTo>
                <a:lnTo>
                  <a:pt x="7631417" y="56388"/>
                </a:lnTo>
                <a:lnTo>
                  <a:pt x="7627001" y="34397"/>
                </a:lnTo>
                <a:lnTo>
                  <a:pt x="7614943" y="16478"/>
                </a:lnTo>
                <a:lnTo>
                  <a:pt x="7597025" y="4417"/>
                </a:lnTo>
                <a:lnTo>
                  <a:pt x="7575029" y="0"/>
                </a:lnTo>
                <a:lnTo>
                  <a:pt x="56387" y="0"/>
                </a:lnTo>
                <a:lnTo>
                  <a:pt x="34397" y="4417"/>
                </a:lnTo>
                <a:lnTo>
                  <a:pt x="16478" y="16478"/>
                </a:lnTo>
                <a:lnTo>
                  <a:pt x="4417" y="34397"/>
                </a:lnTo>
                <a:lnTo>
                  <a:pt x="0" y="56388"/>
                </a:lnTo>
                <a:lnTo>
                  <a:pt x="0" y="280416"/>
                </a:lnTo>
                <a:lnTo>
                  <a:pt x="4417" y="302406"/>
                </a:lnTo>
                <a:lnTo>
                  <a:pt x="16478" y="320325"/>
                </a:lnTo>
                <a:lnTo>
                  <a:pt x="34397" y="332386"/>
                </a:lnTo>
                <a:lnTo>
                  <a:pt x="56387" y="336804"/>
                </a:lnTo>
                <a:lnTo>
                  <a:pt x="7575029" y="336804"/>
                </a:lnTo>
                <a:lnTo>
                  <a:pt x="7597025" y="332386"/>
                </a:lnTo>
                <a:lnTo>
                  <a:pt x="7614943" y="320325"/>
                </a:lnTo>
                <a:lnTo>
                  <a:pt x="7627001" y="302406"/>
                </a:lnTo>
                <a:lnTo>
                  <a:pt x="7631417" y="280416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1453" y="1174088"/>
            <a:ext cx="8271509" cy="4873129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035050" lvl="2" indent="-351155">
              <a:lnSpc>
                <a:spcPct val="100000"/>
              </a:lnSpc>
              <a:spcBef>
                <a:spcPts val="229"/>
              </a:spcBef>
              <a:buClr>
                <a:srgbClr val="9A6500"/>
              </a:buClr>
              <a:buSzPct val="66666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2800" spc="-70" dirty="0" smtClean="0">
                <a:latin typeface="Arial"/>
                <a:cs typeface="Arial"/>
              </a:rPr>
              <a:t>SOCK_DGRAM </a:t>
            </a:r>
            <a:r>
              <a:rPr sz="2800" spc="80" dirty="0">
                <a:latin typeface="Arial"/>
                <a:cs typeface="Arial"/>
              </a:rPr>
              <a:t>- </a:t>
            </a:r>
            <a:r>
              <a:rPr sz="2800" spc="-30" dirty="0">
                <a:latin typeface="Arial"/>
                <a:cs typeface="Arial"/>
              </a:rPr>
              <a:t>unreliable, </a:t>
            </a:r>
            <a:r>
              <a:rPr sz="2800" spc="-65" dirty="0">
                <a:latin typeface="Arial"/>
                <a:cs typeface="Arial"/>
              </a:rPr>
              <a:t>connectionless, </a:t>
            </a:r>
            <a:r>
              <a:rPr sz="2800" spc="-190" dirty="0">
                <a:latin typeface="Arial"/>
                <a:cs typeface="Arial"/>
              </a:rPr>
              <a:t>messages </a:t>
            </a:r>
            <a:r>
              <a:rPr sz="2800" spc="-10" dirty="0">
                <a:latin typeface="Arial"/>
                <a:cs typeface="Arial"/>
              </a:rPr>
              <a:t>of </a:t>
            </a:r>
            <a:r>
              <a:rPr sz="2800" spc="-30" dirty="0">
                <a:latin typeface="Arial"/>
                <a:cs typeface="Arial"/>
              </a:rPr>
              <a:t>maximum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5" dirty="0" smtClean="0">
                <a:latin typeface="Arial"/>
                <a:cs typeface="Arial"/>
              </a:rPr>
              <a:t>length</a:t>
            </a:r>
            <a:endParaRPr lang="en-GB" sz="2800" spc="-15" dirty="0" smtClean="0">
              <a:latin typeface="Arial"/>
              <a:cs typeface="Arial"/>
            </a:endParaRPr>
          </a:p>
          <a:p>
            <a:pPr marL="1035050" lvl="2" indent="-351155">
              <a:lnSpc>
                <a:spcPct val="100000"/>
              </a:lnSpc>
              <a:spcBef>
                <a:spcPts val="229"/>
              </a:spcBef>
              <a:buClr>
                <a:srgbClr val="9A6500"/>
              </a:buClr>
              <a:buSzPct val="66666"/>
              <a:buFont typeface="Wingdings"/>
              <a:buChar char=""/>
              <a:tabLst>
                <a:tab pos="1035050" algn="l"/>
                <a:tab pos="1035685" algn="l"/>
              </a:tabLst>
            </a:pP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229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125" dirty="0">
                <a:solidFill>
                  <a:srgbClr val="CA6800"/>
                </a:solidFill>
                <a:latin typeface="Arial"/>
                <a:cs typeface="Arial"/>
              </a:rPr>
              <a:t>protocol</a:t>
            </a:r>
            <a:r>
              <a:rPr sz="2800" spc="-125" dirty="0">
                <a:latin typeface="Arial"/>
                <a:cs typeface="Arial"/>
              </a:rPr>
              <a:t>: </a:t>
            </a:r>
            <a:r>
              <a:rPr sz="2800" spc="-90" dirty="0">
                <a:latin typeface="Arial"/>
                <a:cs typeface="Arial"/>
              </a:rPr>
              <a:t>specifies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protocol</a:t>
            </a:r>
            <a:endParaRPr sz="2800" dirty="0">
              <a:latin typeface="Arial"/>
              <a:cs typeface="Arial"/>
            </a:endParaRPr>
          </a:p>
          <a:p>
            <a:pPr marL="1035050" lvl="2" indent="-351155">
              <a:lnSpc>
                <a:spcPct val="100000"/>
              </a:lnSpc>
              <a:spcBef>
                <a:spcPts val="235"/>
              </a:spcBef>
              <a:buClr>
                <a:srgbClr val="9A6500"/>
              </a:buClr>
              <a:buSzPct val="66666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2800" spc="-70" dirty="0">
                <a:latin typeface="Arial"/>
                <a:cs typeface="Arial"/>
              </a:rPr>
              <a:t>IPPROTO_TCP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IPPROTO_UDP</a:t>
            </a:r>
            <a:endParaRPr sz="2800" dirty="0">
              <a:latin typeface="Arial"/>
              <a:cs typeface="Arial"/>
            </a:endParaRPr>
          </a:p>
          <a:p>
            <a:pPr marL="1035050" lvl="2" indent="-351155">
              <a:buClr>
                <a:srgbClr val="9A6500"/>
              </a:buClr>
              <a:buSzPct val="66666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2800" spc="-40" dirty="0">
                <a:latin typeface="Arial"/>
                <a:cs typeface="Arial"/>
              </a:rPr>
              <a:t>usually </a:t>
            </a:r>
            <a:r>
              <a:rPr sz="2800" spc="-114" dirty="0">
                <a:latin typeface="Arial"/>
                <a:cs typeface="Arial"/>
              </a:rPr>
              <a:t>set </a:t>
            </a:r>
            <a:r>
              <a:rPr sz="2800" dirty="0">
                <a:latin typeface="Arial"/>
                <a:cs typeface="Arial"/>
              </a:rPr>
              <a:t>to </a:t>
            </a:r>
            <a:r>
              <a:rPr sz="2800" spc="-105" dirty="0">
                <a:latin typeface="Arial"/>
                <a:cs typeface="Arial"/>
              </a:rPr>
              <a:t>0 </a:t>
            </a:r>
            <a:r>
              <a:rPr sz="2800" spc="-45" dirty="0">
                <a:latin typeface="Arial"/>
                <a:cs typeface="Arial"/>
              </a:rPr>
              <a:t>(i.e., </a:t>
            </a:r>
            <a:r>
              <a:rPr sz="2800" spc="-155" dirty="0">
                <a:latin typeface="Arial"/>
                <a:cs typeface="Arial"/>
              </a:rPr>
              <a:t>use </a:t>
            </a:r>
            <a:r>
              <a:rPr sz="2800" spc="-30" dirty="0">
                <a:latin typeface="Arial"/>
                <a:cs typeface="Arial"/>
              </a:rPr>
              <a:t>default</a:t>
            </a:r>
            <a:r>
              <a:rPr sz="2800" spc="-235" dirty="0">
                <a:latin typeface="Arial"/>
                <a:cs typeface="Arial"/>
              </a:rPr>
              <a:t> </a:t>
            </a:r>
            <a:r>
              <a:rPr sz="2800" spc="-15" dirty="0">
                <a:latin typeface="Arial"/>
                <a:cs typeface="Arial"/>
              </a:rPr>
              <a:t>protocol)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45" dirty="0">
                <a:latin typeface="Arial"/>
                <a:cs typeface="Arial"/>
              </a:rPr>
              <a:t>upon </a:t>
            </a:r>
            <a:r>
              <a:rPr sz="2800" spc="-5" dirty="0">
                <a:latin typeface="Arial"/>
                <a:cs typeface="Arial"/>
              </a:rPr>
              <a:t>failure </a:t>
            </a:r>
            <a:r>
              <a:rPr sz="2800" spc="-30" dirty="0">
                <a:latin typeface="Arial"/>
                <a:cs typeface="Arial"/>
              </a:rPr>
              <a:t>returns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5" dirty="0">
                <a:latin typeface="Arial"/>
                <a:cs typeface="Arial"/>
              </a:rPr>
              <a:t>-</a:t>
            </a:r>
            <a:r>
              <a:rPr sz="2800" spc="-15" dirty="0" smtClean="0">
                <a:latin typeface="Arial"/>
                <a:cs typeface="Arial"/>
              </a:rPr>
              <a:t>1</a:t>
            </a:r>
            <a:endParaRPr lang="en-GB" sz="2800" spc="-15" dirty="0" smtClean="0">
              <a:latin typeface="Arial"/>
              <a:cs typeface="Arial"/>
            </a:endParaRPr>
          </a:p>
          <a:p>
            <a:pPr marL="681990" lvl="1" indent="-325120">
              <a:buClr>
                <a:srgbClr val="9A6500"/>
              </a:buClr>
              <a:buSzPct val="60000"/>
              <a:tabLst>
                <a:tab pos="682625" algn="l"/>
              </a:tabLst>
            </a:pPr>
            <a:endParaRPr sz="2800" dirty="0">
              <a:latin typeface="Arial"/>
              <a:cs typeface="Arial"/>
            </a:endParaRPr>
          </a:p>
          <a:p>
            <a:pPr marL="355600" marR="5080" indent="-342900"/>
            <a:r>
              <a:rPr sz="2800" spc="670" dirty="0">
                <a:solidFill>
                  <a:srgbClr val="9A6500"/>
                </a:solidFill>
                <a:latin typeface="Wingdings"/>
                <a:cs typeface="Wingdings"/>
              </a:rPr>
              <a:t></a:t>
            </a:r>
            <a:r>
              <a:rPr sz="2800" spc="670" dirty="0">
                <a:latin typeface="Arial"/>
                <a:cs typeface="Arial"/>
              </a:rPr>
              <a:t>NOTE: </a:t>
            </a:r>
            <a:r>
              <a:rPr sz="2800" spc="-100" dirty="0">
                <a:latin typeface="Arial"/>
                <a:cs typeface="Arial"/>
              </a:rPr>
              <a:t>socket </a:t>
            </a:r>
            <a:r>
              <a:rPr sz="2800" spc="-25" dirty="0">
                <a:latin typeface="Arial"/>
                <a:cs typeface="Arial"/>
              </a:rPr>
              <a:t>call </a:t>
            </a:r>
            <a:r>
              <a:rPr sz="2800" spc="-180" dirty="0">
                <a:latin typeface="Arial"/>
                <a:cs typeface="Arial"/>
              </a:rPr>
              <a:t>does </a:t>
            </a:r>
            <a:r>
              <a:rPr sz="2800" spc="5" dirty="0">
                <a:latin typeface="Arial"/>
                <a:cs typeface="Arial"/>
              </a:rPr>
              <a:t>not </a:t>
            </a:r>
            <a:r>
              <a:rPr sz="2800" spc="-70" dirty="0">
                <a:latin typeface="Arial"/>
                <a:cs typeface="Arial"/>
              </a:rPr>
              <a:t>specify </a:t>
            </a:r>
            <a:r>
              <a:rPr sz="2800" spc="-40" dirty="0">
                <a:latin typeface="Arial"/>
                <a:cs typeface="Arial"/>
              </a:rPr>
              <a:t>where </a:t>
            </a:r>
            <a:r>
              <a:rPr sz="2800" spc="-114" dirty="0">
                <a:latin typeface="Arial"/>
                <a:cs typeface="Arial"/>
              </a:rPr>
              <a:t>data </a:t>
            </a:r>
            <a:r>
              <a:rPr sz="2800" spc="125" dirty="0">
                <a:latin typeface="Arial"/>
                <a:cs typeface="Arial"/>
              </a:rPr>
              <a:t>will </a:t>
            </a:r>
            <a:r>
              <a:rPr sz="2800" spc="-145" dirty="0">
                <a:latin typeface="Arial"/>
                <a:cs typeface="Arial"/>
              </a:rPr>
              <a:t>be </a:t>
            </a:r>
            <a:r>
              <a:rPr sz="2800" spc="-50" dirty="0">
                <a:latin typeface="Arial"/>
                <a:cs typeface="Arial"/>
              </a:rPr>
              <a:t>coming </a:t>
            </a:r>
            <a:r>
              <a:rPr sz="2800" spc="-1010" dirty="0" err="1" smtClean="0">
                <a:latin typeface="Arial"/>
                <a:cs typeface="Arial"/>
              </a:rPr>
              <a:t>fr</a:t>
            </a:r>
            <a:r>
              <a:rPr lang="en-GB" sz="2800" spc="-1010" dirty="0" smtClean="0">
                <a:latin typeface="Arial"/>
                <a:cs typeface="Arial"/>
              </a:rPr>
              <a:t>fro</a:t>
            </a:r>
            <a:r>
              <a:rPr sz="2800" spc="-1010" dirty="0" smtClean="0">
                <a:latin typeface="Arial"/>
                <a:cs typeface="Arial"/>
              </a:rPr>
              <a:t>, </a:t>
            </a:r>
            <a:r>
              <a:rPr sz="2800" spc="-605" dirty="0" smtClean="0">
                <a:latin typeface="Arial"/>
                <a:cs typeface="Arial"/>
              </a:rPr>
              <a:t> </a:t>
            </a:r>
            <a:r>
              <a:rPr sz="2800" spc="5" dirty="0" smtClean="0">
                <a:latin typeface="Arial"/>
                <a:cs typeface="Arial"/>
              </a:rPr>
              <a:t>nor</a:t>
            </a:r>
            <a:r>
              <a:rPr sz="2800" spc="-70" dirty="0" smtClean="0">
                <a:latin typeface="Arial"/>
                <a:cs typeface="Arial"/>
              </a:rPr>
              <a:t> </a:t>
            </a:r>
            <a:r>
              <a:rPr sz="2800" spc="-40" dirty="0" smtClean="0">
                <a:latin typeface="Arial"/>
                <a:cs typeface="Arial"/>
              </a:rPr>
              <a:t>where</a:t>
            </a:r>
            <a:r>
              <a:rPr sz="2800" spc="-65" dirty="0" smtClean="0">
                <a:latin typeface="Arial"/>
                <a:cs typeface="Arial"/>
              </a:rPr>
              <a:t> </a:t>
            </a:r>
            <a:r>
              <a:rPr sz="2800" spc="120" dirty="0">
                <a:latin typeface="Arial"/>
                <a:cs typeface="Arial"/>
              </a:rPr>
              <a:t>it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125" dirty="0">
                <a:latin typeface="Arial"/>
                <a:cs typeface="Arial"/>
              </a:rPr>
              <a:t>will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be</a:t>
            </a:r>
            <a:r>
              <a:rPr sz="2800" spc="-65" dirty="0">
                <a:latin typeface="Arial"/>
                <a:cs typeface="Arial"/>
              </a:rPr>
              <a:t> going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–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125" dirty="0">
                <a:latin typeface="Arial"/>
                <a:cs typeface="Arial"/>
              </a:rPr>
              <a:t>it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just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creates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the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interface!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7563" y="5711444"/>
            <a:ext cx="8766175" cy="389890"/>
          </a:xfrm>
          <a:custGeom>
            <a:avLst/>
            <a:gdLst/>
            <a:ahLst/>
            <a:cxnLst/>
            <a:rect l="l" t="t" r="r" b="b"/>
            <a:pathLst>
              <a:path w="8766175" h="389889">
                <a:moveTo>
                  <a:pt x="8766035" y="323850"/>
                </a:moveTo>
                <a:lnTo>
                  <a:pt x="8766035" y="64769"/>
                </a:lnTo>
                <a:lnTo>
                  <a:pt x="8760953" y="39540"/>
                </a:lnTo>
                <a:lnTo>
                  <a:pt x="8747086" y="18954"/>
                </a:lnTo>
                <a:lnTo>
                  <a:pt x="8726505" y="5083"/>
                </a:lnTo>
                <a:lnTo>
                  <a:pt x="8701277" y="0"/>
                </a:lnTo>
                <a:lnTo>
                  <a:pt x="64769" y="0"/>
                </a:lnTo>
                <a:lnTo>
                  <a:pt x="39540" y="5083"/>
                </a:lnTo>
                <a:lnTo>
                  <a:pt x="18954" y="18954"/>
                </a:lnTo>
                <a:lnTo>
                  <a:pt x="5083" y="39540"/>
                </a:lnTo>
                <a:lnTo>
                  <a:pt x="0" y="64770"/>
                </a:lnTo>
                <a:lnTo>
                  <a:pt x="0" y="323850"/>
                </a:lnTo>
                <a:lnTo>
                  <a:pt x="5083" y="349198"/>
                </a:lnTo>
                <a:lnTo>
                  <a:pt x="18954" y="370046"/>
                </a:lnTo>
                <a:lnTo>
                  <a:pt x="39540" y="384178"/>
                </a:lnTo>
                <a:lnTo>
                  <a:pt x="64769" y="389382"/>
                </a:lnTo>
                <a:lnTo>
                  <a:pt x="8701277" y="389381"/>
                </a:lnTo>
                <a:lnTo>
                  <a:pt x="8726505" y="384178"/>
                </a:lnTo>
                <a:lnTo>
                  <a:pt x="8747086" y="370046"/>
                </a:lnTo>
                <a:lnTo>
                  <a:pt x="8760953" y="349198"/>
                </a:lnTo>
                <a:lnTo>
                  <a:pt x="8766035" y="323850"/>
                </a:lnTo>
                <a:close/>
              </a:path>
            </a:pathLst>
          </a:custGeom>
          <a:solidFill>
            <a:srgbClr val="CCFFFF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7563" y="5711444"/>
            <a:ext cx="8766175" cy="389890"/>
          </a:xfrm>
          <a:custGeom>
            <a:avLst/>
            <a:gdLst/>
            <a:ahLst/>
            <a:cxnLst/>
            <a:rect l="l" t="t" r="r" b="b"/>
            <a:pathLst>
              <a:path w="8766175" h="389889">
                <a:moveTo>
                  <a:pt x="64769" y="0"/>
                </a:moveTo>
                <a:lnTo>
                  <a:pt x="39540" y="5083"/>
                </a:lnTo>
                <a:lnTo>
                  <a:pt x="18954" y="18954"/>
                </a:lnTo>
                <a:lnTo>
                  <a:pt x="5083" y="39540"/>
                </a:lnTo>
                <a:lnTo>
                  <a:pt x="0" y="64770"/>
                </a:lnTo>
                <a:lnTo>
                  <a:pt x="0" y="323850"/>
                </a:lnTo>
                <a:lnTo>
                  <a:pt x="5083" y="349198"/>
                </a:lnTo>
                <a:lnTo>
                  <a:pt x="18954" y="370046"/>
                </a:lnTo>
                <a:lnTo>
                  <a:pt x="39540" y="384178"/>
                </a:lnTo>
                <a:lnTo>
                  <a:pt x="64769" y="389382"/>
                </a:lnTo>
                <a:lnTo>
                  <a:pt x="8701277" y="389381"/>
                </a:lnTo>
                <a:lnTo>
                  <a:pt x="8726505" y="384178"/>
                </a:lnTo>
                <a:lnTo>
                  <a:pt x="8747086" y="370046"/>
                </a:lnTo>
                <a:lnTo>
                  <a:pt x="8760953" y="349198"/>
                </a:lnTo>
                <a:lnTo>
                  <a:pt x="8766035" y="323850"/>
                </a:lnTo>
                <a:lnTo>
                  <a:pt x="8766035" y="64769"/>
                </a:lnTo>
                <a:lnTo>
                  <a:pt x="8760953" y="39540"/>
                </a:lnTo>
                <a:lnTo>
                  <a:pt x="8747086" y="18954"/>
                </a:lnTo>
                <a:lnTo>
                  <a:pt x="8726505" y="5083"/>
                </a:lnTo>
                <a:lnTo>
                  <a:pt x="8701277" y="0"/>
                </a:lnTo>
                <a:lnTo>
                  <a:pt x="64769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51979" y="261873"/>
            <a:ext cx="761492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35" dirty="0"/>
              <a:t>Client</a:t>
            </a:r>
            <a:r>
              <a:rPr sz="4200" spc="20" dirty="0"/>
              <a:t> </a:t>
            </a:r>
            <a:r>
              <a:rPr sz="4200" spc="-260" dirty="0"/>
              <a:t>-</a:t>
            </a:r>
            <a:r>
              <a:rPr sz="4200" spc="45" dirty="0"/>
              <a:t> </a:t>
            </a:r>
            <a:r>
              <a:rPr sz="4200" spc="-280" dirty="0"/>
              <a:t>Server</a:t>
            </a:r>
            <a:r>
              <a:rPr sz="4200" spc="30" dirty="0"/>
              <a:t> </a:t>
            </a:r>
            <a:r>
              <a:rPr sz="4200" spc="-280" dirty="0"/>
              <a:t>Communication</a:t>
            </a:r>
            <a:r>
              <a:rPr sz="4200" spc="30" dirty="0"/>
              <a:t> </a:t>
            </a:r>
            <a:r>
              <a:rPr sz="3200" spc="-200" dirty="0"/>
              <a:t>-</a:t>
            </a:r>
            <a:r>
              <a:rPr sz="3200" spc="20" dirty="0"/>
              <a:t> </a:t>
            </a:r>
            <a:r>
              <a:rPr sz="3200" spc="-200" dirty="0"/>
              <a:t>Unix</a:t>
            </a:r>
            <a:endParaRPr sz="3200"/>
          </a:p>
        </p:txBody>
      </p:sp>
      <p:sp>
        <p:nvSpPr>
          <p:cNvPr id="6" name="object 6"/>
          <p:cNvSpPr/>
          <p:nvPr/>
        </p:nvSpPr>
        <p:spPr>
          <a:xfrm>
            <a:off x="321195" y="1860295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7"/>
                </a:lnTo>
                <a:lnTo>
                  <a:pt x="1335023" y="231647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0433" y="1860295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7"/>
                </a:lnTo>
                <a:lnTo>
                  <a:pt x="1335786" y="231647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60539" y="1851406"/>
            <a:ext cx="6559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7465" y="2096516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8" y="330707"/>
                </a:lnTo>
                <a:lnTo>
                  <a:pt x="33528" y="276605"/>
                </a:lnTo>
                <a:lnTo>
                  <a:pt x="34290" y="279653"/>
                </a:lnTo>
                <a:lnTo>
                  <a:pt x="38100" y="281177"/>
                </a:lnTo>
                <a:lnTo>
                  <a:pt x="41148" y="279653"/>
                </a:lnTo>
                <a:lnTo>
                  <a:pt x="42672" y="276605"/>
                </a:lnTo>
                <a:lnTo>
                  <a:pt x="42672" y="330707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72" y="263651"/>
                </a:moveTo>
                <a:lnTo>
                  <a:pt x="42672" y="5333"/>
                </a:lnTo>
                <a:lnTo>
                  <a:pt x="41148" y="1523"/>
                </a:lnTo>
                <a:lnTo>
                  <a:pt x="38100" y="0"/>
                </a:lnTo>
                <a:lnTo>
                  <a:pt x="34290" y="1523"/>
                </a:lnTo>
                <a:lnTo>
                  <a:pt x="33528" y="5333"/>
                </a:lnTo>
                <a:lnTo>
                  <a:pt x="33528" y="263651"/>
                </a:lnTo>
                <a:lnTo>
                  <a:pt x="42672" y="263651"/>
                </a:lnTo>
                <a:close/>
              </a:path>
              <a:path w="76200" h="340360">
                <a:moveTo>
                  <a:pt x="42672" y="330707"/>
                </a:moveTo>
                <a:lnTo>
                  <a:pt x="42672" y="276605"/>
                </a:lnTo>
                <a:lnTo>
                  <a:pt x="41148" y="279653"/>
                </a:lnTo>
                <a:lnTo>
                  <a:pt x="38100" y="281177"/>
                </a:lnTo>
                <a:lnTo>
                  <a:pt x="34290" y="279653"/>
                </a:lnTo>
                <a:lnTo>
                  <a:pt x="33528" y="276605"/>
                </a:lnTo>
                <a:lnTo>
                  <a:pt x="33528" y="330707"/>
                </a:lnTo>
                <a:lnTo>
                  <a:pt x="38100" y="339851"/>
                </a:lnTo>
                <a:lnTo>
                  <a:pt x="42672" y="3307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4243" y="2466848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4243" y="2466848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52729" y="2457957"/>
            <a:ext cx="4787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bind()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60513" y="2703067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6605"/>
                </a:lnTo>
                <a:lnTo>
                  <a:pt x="35051" y="279653"/>
                </a:lnTo>
                <a:lnTo>
                  <a:pt x="38100" y="281177"/>
                </a:lnTo>
                <a:lnTo>
                  <a:pt x="41910" y="279653"/>
                </a:lnTo>
                <a:lnTo>
                  <a:pt x="42672" y="276605"/>
                </a:lnTo>
                <a:lnTo>
                  <a:pt x="42672" y="330707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72" y="263651"/>
                </a:moveTo>
                <a:lnTo>
                  <a:pt x="42672" y="4571"/>
                </a:lnTo>
                <a:lnTo>
                  <a:pt x="41910" y="1523"/>
                </a:lnTo>
                <a:lnTo>
                  <a:pt x="38100" y="0"/>
                </a:lnTo>
                <a:lnTo>
                  <a:pt x="35051" y="1523"/>
                </a:lnTo>
                <a:lnTo>
                  <a:pt x="33527" y="4571"/>
                </a:lnTo>
                <a:lnTo>
                  <a:pt x="33527" y="263651"/>
                </a:lnTo>
                <a:lnTo>
                  <a:pt x="42672" y="263651"/>
                </a:lnTo>
                <a:close/>
              </a:path>
              <a:path w="76200" h="340360">
                <a:moveTo>
                  <a:pt x="42672" y="330707"/>
                </a:moveTo>
                <a:lnTo>
                  <a:pt x="42672" y="276605"/>
                </a:lnTo>
                <a:lnTo>
                  <a:pt x="41910" y="279653"/>
                </a:lnTo>
                <a:lnTo>
                  <a:pt x="38100" y="281177"/>
                </a:lnTo>
                <a:lnTo>
                  <a:pt x="35051" y="279653"/>
                </a:lnTo>
                <a:lnTo>
                  <a:pt x="33527" y="276605"/>
                </a:lnTo>
                <a:lnTo>
                  <a:pt x="33527" y="330707"/>
                </a:lnTo>
                <a:lnTo>
                  <a:pt x="38100" y="339851"/>
                </a:lnTo>
                <a:lnTo>
                  <a:pt x="42672" y="3307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27291" y="3063494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27291" y="3063494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16165" y="3054604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listen()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63561" y="3300476"/>
            <a:ext cx="76200" cy="339090"/>
          </a:xfrm>
          <a:custGeom>
            <a:avLst/>
            <a:gdLst/>
            <a:ahLst/>
            <a:cxnLst/>
            <a:rect l="l" t="t" r="r" b="b"/>
            <a:pathLst>
              <a:path w="76200" h="339089">
                <a:moveTo>
                  <a:pt x="76200" y="262889"/>
                </a:moveTo>
                <a:lnTo>
                  <a:pt x="0" y="262889"/>
                </a:lnTo>
                <a:lnTo>
                  <a:pt x="33527" y="329945"/>
                </a:lnTo>
                <a:lnTo>
                  <a:pt x="33527" y="275844"/>
                </a:lnTo>
                <a:lnTo>
                  <a:pt x="35051" y="279653"/>
                </a:lnTo>
                <a:lnTo>
                  <a:pt x="38100" y="280415"/>
                </a:lnTo>
                <a:lnTo>
                  <a:pt x="41909" y="279653"/>
                </a:lnTo>
                <a:lnTo>
                  <a:pt x="42671" y="275844"/>
                </a:lnTo>
                <a:lnTo>
                  <a:pt x="42671" y="329946"/>
                </a:lnTo>
                <a:lnTo>
                  <a:pt x="76200" y="262889"/>
                </a:lnTo>
                <a:close/>
              </a:path>
              <a:path w="76200" h="339089">
                <a:moveTo>
                  <a:pt x="42671" y="262889"/>
                </a:moveTo>
                <a:lnTo>
                  <a:pt x="42671" y="4572"/>
                </a:lnTo>
                <a:lnTo>
                  <a:pt x="41909" y="762"/>
                </a:lnTo>
                <a:lnTo>
                  <a:pt x="38100" y="0"/>
                </a:lnTo>
                <a:lnTo>
                  <a:pt x="35051" y="762"/>
                </a:lnTo>
                <a:lnTo>
                  <a:pt x="33527" y="4572"/>
                </a:lnTo>
                <a:lnTo>
                  <a:pt x="33527" y="262889"/>
                </a:lnTo>
                <a:lnTo>
                  <a:pt x="42671" y="262889"/>
                </a:lnTo>
                <a:close/>
              </a:path>
              <a:path w="76200" h="339089">
                <a:moveTo>
                  <a:pt x="42671" y="329946"/>
                </a:moveTo>
                <a:lnTo>
                  <a:pt x="42671" y="275844"/>
                </a:lnTo>
                <a:lnTo>
                  <a:pt x="41909" y="279653"/>
                </a:lnTo>
                <a:lnTo>
                  <a:pt x="38100" y="280415"/>
                </a:lnTo>
                <a:lnTo>
                  <a:pt x="35051" y="279653"/>
                </a:lnTo>
                <a:lnTo>
                  <a:pt x="33527" y="275844"/>
                </a:lnTo>
                <a:lnTo>
                  <a:pt x="33527" y="329945"/>
                </a:lnTo>
                <a:lnTo>
                  <a:pt x="38100" y="339089"/>
                </a:lnTo>
                <a:lnTo>
                  <a:pt x="42671" y="3299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0339" y="367004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0339" y="367004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65111" y="3661155"/>
            <a:ext cx="66548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accept()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66609" y="3906265"/>
            <a:ext cx="76200" cy="424815"/>
          </a:xfrm>
          <a:custGeom>
            <a:avLst/>
            <a:gdLst/>
            <a:ahLst/>
            <a:cxnLst/>
            <a:rect l="l" t="t" r="r" b="b"/>
            <a:pathLst>
              <a:path w="76200" h="424814">
                <a:moveTo>
                  <a:pt x="76200" y="348234"/>
                </a:moveTo>
                <a:lnTo>
                  <a:pt x="0" y="348234"/>
                </a:lnTo>
                <a:lnTo>
                  <a:pt x="33528" y="415290"/>
                </a:lnTo>
                <a:lnTo>
                  <a:pt x="33528" y="360425"/>
                </a:lnTo>
                <a:lnTo>
                  <a:pt x="35052" y="364236"/>
                </a:lnTo>
                <a:lnTo>
                  <a:pt x="38100" y="365760"/>
                </a:lnTo>
                <a:lnTo>
                  <a:pt x="41910" y="364236"/>
                </a:lnTo>
                <a:lnTo>
                  <a:pt x="43434" y="360425"/>
                </a:lnTo>
                <a:lnTo>
                  <a:pt x="43434" y="413765"/>
                </a:lnTo>
                <a:lnTo>
                  <a:pt x="76200" y="348234"/>
                </a:lnTo>
                <a:close/>
              </a:path>
              <a:path w="76200" h="424814">
                <a:moveTo>
                  <a:pt x="43434" y="348234"/>
                </a:moveTo>
                <a:lnTo>
                  <a:pt x="43434" y="5334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5334"/>
                </a:lnTo>
                <a:lnTo>
                  <a:pt x="33528" y="348234"/>
                </a:lnTo>
                <a:lnTo>
                  <a:pt x="43434" y="348234"/>
                </a:lnTo>
                <a:close/>
              </a:path>
              <a:path w="76200" h="424814">
                <a:moveTo>
                  <a:pt x="43434" y="413765"/>
                </a:moveTo>
                <a:lnTo>
                  <a:pt x="43434" y="360425"/>
                </a:lnTo>
                <a:lnTo>
                  <a:pt x="41910" y="364236"/>
                </a:lnTo>
                <a:lnTo>
                  <a:pt x="38100" y="365760"/>
                </a:lnTo>
                <a:lnTo>
                  <a:pt x="35052" y="364236"/>
                </a:lnTo>
                <a:lnTo>
                  <a:pt x="33528" y="360425"/>
                </a:lnTo>
                <a:lnTo>
                  <a:pt x="33528" y="415290"/>
                </a:lnTo>
                <a:lnTo>
                  <a:pt x="38100" y="424434"/>
                </a:lnTo>
                <a:lnTo>
                  <a:pt x="43434" y="4137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18909" y="4377944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18909" y="4377944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3" y="231648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48169" y="4369053"/>
            <a:ext cx="4781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55941" y="4614926"/>
            <a:ext cx="76200" cy="339090"/>
          </a:xfrm>
          <a:custGeom>
            <a:avLst/>
            <a:gdLst/>
            <a:ahLst/>
            <a:cxnLst/>
            <a:rect l="l" t="t" r="r" b="b"/>
            <a:pathLst>
              <a:path w="76200" h="339089">
                <a:moveTo>
                  <a:pt x="76200" y="262889"/>
                </a:moveTo>
                <a:lnTo>
                  <a:pt x="0" y="262889"/>
                </a:lnTo>
                <a:lnTo>
                  <a:pt x="33528" y="329946"/>
                </a:lnTo>
                <a:lnTo>
                  <a:pt x="33528" y="275844"/>
                </a:lnTo>
                <a:lnTo>
                  <a:pt x="34290" y="279653"/>
                </a:lnTo>
                <a:lnTo>
                  <a:pt x="38100" y="280415"/>
                </a:lnTo>
                <a:lnTo>
                  <a:pt x="41148" y="279653"/>
                </a:lnTo>
                <a:lnTo>
                  <a:pt x="42672" y="275844"/>
                </a:lnTo>
                <a:lnTo>
                  <a:pt x="42672" y="329945"/>
                </a:lnTo>
                <a:lnTo>
                  <a:pt x="76200" y="262889"/>
                </a:lnTo>
                <a:close/>
              </a:path>
              <a:path w="76200" h="339089">
                <a:moveTo>
                  <a:pt x="42672" y="262889"/>
                </a:moveTo>
                <a:lnTo>
                  <a:pt x="42672" y="4572"/>
                </a:lnTo>
                <a:lnTo>
                  <a:pt x="41148" y="762"/>
                </a:lnTo>
                <a:lnTo>
                  <a:pt x="38100" y="0"/>
                </a:lnTo>
                <a:lnTo>
                  <a:pt x="34290" y="762"/>
                </a:lnTo>
                <a:lnTo>
                  <a:pt x="33528" y="4572"/>
                </a:lnTo>
                <a:lnTo>
                  <a:pt x="33528" y="262889"/>
                </a:lnTo>
                <a:lnTo>
                  <a:pt x="42672" y="262889"/>
                </a:lnTo>
                <a:close/>
              </a:path>
              <a:path w="76200" h="339089">
                <a:moveTo>
                  <a:pt x="42672" y="329945"/>
                </a:moveTo>
                <a:lnTo>
                  <a:pt x="42672" y="275844"/>
                </a:lnTo>
                <a:lnTo>
                  <a:pt x="41148" y="279653"/>
                </a:lnTo>
                <a:lnTo>
                  <a:pt x="38100" y="280415"/>
                </a:lnTo>
                <a:lnTo>
                  <a:pt x="34290" y="279653"/>
                </a:lnTo>
                <a:lnTo>
                  <a:pt x="33528" y="275844"/>
                </a:lnTo>
                <a:lnTo>
                  <a:pt x="33528" y="329946"/>
                </a:lnTo>
                <a:lnTo>
                  <a:pt x="38100" y="339089"/>
                </a:lnTo>
                <a:lnTo>
                  <a:pt x="42672" y="3299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22719" y="498449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22719" y="498449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25309" y="4975605"/>
            <a:ext cx="5270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58989" y="5220715"/>
            <a:ext cx="76200" cy="540385"/>
          </a:xfrm>
          <a:custGeom>
            <a:avLst/>
            <a:gdLst/>
            <a:ahLst/>
            <a:cxnLst/>
            <a:rect l="l" t="t" r="r" b="b"/>
            <a:pathLst>
              <a:path w="76200" h="540385">
                <a:moveTo>
                  <a:pt x="76200" y="464058"/>
                </a:moveTo>
                <a:lnTo>
                  <a:pt x="0" y="464058"/>
                </a:lnTo>
                <a:lnTo>
                  <a:pt x="33528" y="531114"/>
                </a:lnTo>
                <a:lnTo>
                  <a:pt x="33528" y="476250"/>
                </a:lnTo>
                <a:lnTo>
                  <a:pt x="35051" y="480060"/>
                </a:lnTo>
                <a:lnTo>
                  <a:pt x="38100" y="481584"/>
                </a:lnTo>
                <a:lnTo>
                  <a:pt x="41148" y="480060"/>
                </a:lnTo>
                <a:lnTo>
                  <a:pt x="42672" y="476250"/>
                </a:lnTo>
                <a:lnTo>
                  <a:pt x="42672" y="531113"/>
                </a:lnTo>
                <a:lnTo>
                  <a:pt x="76200" y="464058"/>
                </a:lnTo>
                <a:close/>
              </a:path>
              <a:path w="76200" h="540385">
                <a:moveTo>
                  <a:pt x="42672" y="464058"/>
                </a:moveTo>
                <a:lnTo>
                  <a:pt x="42672" y="5334"/>
                </a:lnTo>
                <a:lnTo>
                  <a:pt x="41148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8" y="5334"/>
                </a:lnTo>
                <a:lnTo>
                  <a:pt x="33528" y="464058"/>
                </a:lnTo>
                <a:lnTo>
                  <a:pt x="42672" y="464058"/>
                </a:lnTo>
                <a:close/>
              </a:path>
              <a:path w="76200" h="540385">
                <a:moveTo>
                  <a:pt x="42672" y="531113"/>
                </a:moveTo>
                <a:lnTo>
                  <a:pt x="42672" y="476250"/>
                </a:lnTo>
                <a:lnTo>
                  <a:pt x="41148" y="480060"/>
                </a:lnTo>
                <a:lnTo>
                  <a:pt x="38100" y="481584"/>
                </a:lnTo>
                <a:lnTo>
                  <a:pt x="35051" y="480060"/>
                </a:lnTo>
                <a:lnTo>
                  <a:pt x="33528" y="476250"/>
                </a:lnTo>
                <a:lnTo>
                  <a:pt x="33528" y="531114"/>
                </a:lnTo>
                <a:lnTo>
                  <a:pt x="38100" y="540258"/>
                </a:lnTo>
                <a:lnTo>
                  <a:pt x="42672" y="531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27291" y="5790691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5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27291" y="5790691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16165" y="5781802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65873" y="1545843"/>
            <a:ext cx="6578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Server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962287" y="1867916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962287" y="1867916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3302380" y="1859025"/>
            <a:ext cx="6559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599319" y="2104898"/>
            <a:ext cx="76200" cy="1559560"/>
          </a:xfrm>
          <a:custGeom>
            <a:avLst/>
            <a:gdLst/>
            <a:ahLst/>
            <a:cxnLst/>
            <a:rect l="l" t="t" r="r" b="b"/>
            <a:pathLst>
              <a:path w="76200" h="1559560">
                <a:moveTo>
                  <a:pt x="76200" y="1482852"/>
                </a:moveTo>
                <a:lnTo>
                  <a:pt x="0" y="1482852"/>
                </a:lnTo>
                <a:lnTo>
                  <a:pt x="32765" y="1548383"/>
                </a:lnTo>
                <a:lnTo>
                  <a:pt x="32765" y="1495043"/>
                </a:lnTo>
                <a:lnTo>
                  <a:pt x="34289" y="1498853"/>
                </a:lnTo>
                <a:lnTo>
                  <a:pt x="38100" y="1500377"/>
                </a:lnTo>
                <a:lnTo>
                  <a:pt x="41148" y="1498853"/>
                </a:lnTo>
                <a:lnTo>
                  <a:pt x="42672" y="1495043"/>
                </a:lnTo>
                <a:lnTo>
                  <a:pt x="42672" y="1549907"/>
                </a:lnTo>
                <a:lnTo>
                  <a:pt x="76200" y="1482852"/>
                </a:lnTo>
                <a:close/>
              </a:path>
              <a:path w="76200" h="1559560">
                <a:moveTo>
                  <a:pt x="42672" y="1482852"/>
                </a:moveTo>
                <a:lnTo>
                  <a:pt x="42672" y="4571"/>
                </a:lnTo>
                <a:lnTo>
                  <a:pt x="41148" y="1523"/>
                </a:lnTo>
                <a:lnTo>
                  <a:pt x="38100" y="0"/>
                </a:lnTo>
                <a:lnTo>
                  <a:pt x="34289" y="1523"/>
                </a:lnTo>
                <a:lnTo>
                  <a:pt x="32765" y="4571"/>
                </a:lnTo>
                <a:lnTo>
                  <a:pt x="32765" y="1482852"/>
                </a:lnTo>
                <a:lnTo>
                  <a:pt x="42672" y="1482852"/>
                </a:lnTo>
                <a:close/>
              </a:path>
              <a:path w="76200" h="1559560">
                <a:moveTo>
                  <a:pt x="42672" y="1549907"/>
                </a:moveTo>
                <a:lnTo>
                  <a:pt x="42672" y="1495043"/>
                </a:lnTo>
                <a:lnTo>
                  <a:pt x="41148" y="1498853"/>
                </a:lnTo>
                <a:lnTo>
                  <a:pt x="38100" y="1500377"/>
                </a:lnTo>
                <a:lnTo>
                  <a:pt x="34289" y="1498853"/>
                </a:lnTo>
                <a:lnTo>
                  <a:pt x="32765" y="1495043"/>
                </a:lnTo>
                <a:lnTo>
                  <a:pt x="32765" y="1548383"/>
                </a:lnTo>
                <a:lnTo>
                  <a:pt x="38100" y="1559052"/>
                </a:lnTo>
                <a:lnTo>
                  <a:pt x="42672" y="15499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972193" y="367766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972193" y="367766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257422" y="3668776"/>
            <a:ext cx="7639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connect()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608463" y="3914647"/>
            <a:ext cx="76200" cy="424180"/>
          </a:xfrm>
          <a:custGeom>
            <a:avLst/>
            <a:gdLst/>
            <a:ahLst/>
            <a:cxnLst/>
            <a:rect l="l" t="t" r="r" b="b"/>
            <a:pathLst>
              <a:path w="76200" h="424179">
                <a:moveTo>
                  <a:pt x="76200" y="347472"/>
                </a:moveTo>
                <a:lnTo>
                  <a:pt x="0" y="347472"/>
                </a:lnTo>
                <a:lnTo>
                  <a:pt x="33528" y="414528"/>
                </a:lnTo>
                <a:lnTo>
                  <a:pt x="33528" y="360425"/>
                </a:lnTo>
                <a:lnTo>
                  <a:pt x="35052" y="363474"/>
                </a:lnTo>
                <a:lnTo>
                  <a:pt x="38100" y="364998"/>
                </a:lnTo>
                <a:lnTo>
                  <a:pt x="41910" y="363474"/>
                </a:lnTo>
                <a:lnTo>
                  <a:pt x="42672" y="360425"/>
                </a:lnTo>
                <a:lnTo>
                  <a:pt x="42672" y="414527"/>
                </a:lnTo>
                <a:lnTo>
                  <a:pt x="76200" y="347472"/>
                </a:lnTo>
                <a:close/>
              </a:path>
              <a:path w="76200" h="424179">
                <a:moveTo>
                  <a:pt x="42672" y="34747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347472"/>
                </a:lnTo>
                <a:lnTo>
                  <a:pt x="42672" y="347472"/>
                </a:lnTo>
                <a:close/>
              </a:path>
              <a:path w="76200" h="424179">
                <a:moveTo>
                  <a:pt x="42672" y="414527"/>
                </a:moveTo>
                <a:lnTo>
                  <a:pt x="42672" y="360425"/>
                </a:lnTo>
                <a:lnTo>
                  <a:pt x="41910" y="363474"/>
                </a:lnTo>
                <a:lnTo>
                  <a:pt x="38100" y="364998"/>
                </a:lnTo>
                <a:lnTo>
                  <a:pt x="35052" y="363474"/>
                </a:lnTo>
                <a:lnTo>
                  <a:pt x="33528" y="360425"/>
                </a:lnTo>
                <a:lnTo>
                  <a:pt x="33528" y="414528"/>
                </a:lnTo>
                <a:lnTo>
                  <a:pt x="38100" y="423672"/>
                </a:lnTo>
                <a:lnTo>
                  <a:pt x="42672" y="414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960763" y="438632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960763" y="438632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3364103" y="4376673"/>
            <a:ext cx="5270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597033" y="4622546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5843"/>
                </a:lnTo>
                <a:lnTo>
                  <a:pt x="35051" y="279653"/>
                </a:lnTo>
                <a:lnTo>
                  <a:pt x="38100" y="281177"/>
                </a:lnTo>
                <a:lnTo>
                  <a:pt x="41910" y="279653"/>
                </a:lnTo>
                <a:lnTo>
                  <a:pt x="43434" y="275843"/>
                </a:lnTo>
                <a:lnTo>
                  <a:pt x="43434" y="329183"/>
                </a:lnTo>
                <a:lnTo>
                  <a:pt x="76200" y="263651"/>
                </a:lnTo>
                <a:close/>
              </a:path>
              <a:path w="76200" h="340360">
                <a:moveTo>
                  <a:pt x="43434" y="263651"/>
                </a:moveTo>
                <a:lnTo>
                  <a:pt x="43434" y="4571"/>
                </a:lnTo>
                <a:lnTo>
                  <a:pt x="41910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7" y="4571"/>
                </a:lnTo>
                <a:lnTo>
                  <a:pt x="33527" y="263651"/>
                </a:lnTo>
                <a:lnTo>
                  <a:pt x="43434" y="263651"/>
                </a:lnTo>
                <a:close/>
              </a:path>
              <a:path w="76200" h="340360">
                <a:moveTo>
                  <a:pt x="43434" y="329183"/>
                </a:moveTo>
                <a:lnTo>
                  <a:pt x="43434" y="275843"/>
                </a:lnTo>
                <a:lnTo>
                  <a:pt x="41910" y="279653"/>
                </a:lnTo>
                <a:lnTo>
                  <a:pt x="38100" y="281177"/>
                </a:lnTo>
                <a:lnTo>
                  <a:pt x="35051" y="279653"/>
                </a:lnTo>
                <a:lnTo>
                  <a:pt x="33527" y="275843"/>
                </a:lnTo>
                <a:lnTo>
                  <a:pt x="33527" y="330707"/>
                </a:lnTo>
                <a:lnTo>
                  <a:pt x="38100" y="339851"/>
                </a:lnTo>
                <a:lnTo>
                  <a:pt x="43434" y="3291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963811" y="499211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963811" y="499211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3392296" y="4983226"/>
            <a:ext cx="4781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600843" y="5229097"/>
            <a:ext cx="76200" cy="539750"/>
          </a:xfrm>
          <a:custGeom>
            <a:avLst/>
            <a:gdLst/>
            <a:ahLst/>
            <a:cxnLst/>
            <a:rect l="l" t="t" r="r" b="b"/>
            <a:pathLst>
              <a:path w="76200" h="539750">
                <a:moveTo>
                  <a:pt x="76200" y="463296"/>
                </a:moveTo>
                <a:lnTo>
                  <a:pt x="0" y="463296"/>
                </a:lnTo>
                <a:lnTo>
                  <a:pt x="32765" y="528827"/>
                </a:lnTo>
                <a:lnTo>
                  <a:pt x="32765" y="476250"/>
                </a:lnTo>
                <a:lnTo>
                  <a:pt x="34289" y="479298"/>
                </a:lnTo>
                <a:lnTo>
                  <a:pt x="38100" y="480822"/>
                </a:lnTo>
                <a:lnTo>
                  <a:pt x="41148" y="479298"/>
                </a:lnTo>
                <a:lnTo>
                  <a:pt x="42672" y="476250"/>
                </a:lnTo>
                <a:lnTo>
                  <a:pt x="42672" y="530351"/>
                </a:lnTo>
                <a:lnTo>
                  <a:pt x="76200" y="463296"/>
                </a:lnTo>
                <a:close/>
              </a:path>
              <a:path w="76200" h="539750">
                <a:moveTo>
                  <a:pt x="42672" y="463296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4289" y="1524"/>
                </a:lnTo>
                <a:lnTo>
                  <a:pt x="32765" y="4572"/>
                </a:lnTo>
                <a:lnTo>
                  <a:pt x="32765" y="463296"/>
                </a:lnTo>
                <a:lnTo>
                  <a:pt x="42672" y="463296"/>
                </a:lnTo>
                <a:close/>
              </a:path>
              <a:path w="76200" h="539750">
                <a:moveTo>
                  <a:pt x="42672" y="530351"/>
                </a:moveTo>
                <a:lnTo>
                  <a:pt x="42672" y="476250"/>
                </a:lnTo>
                <a:lnTo>
                  <a:pt x="41148" y="479298"/>
                </a:lnTo>
                <a:lnTo>
                  <a:pt x="38100" y="480822"/>
                </a:lnTo>
                <a:lnTo>
                  <a:pt x="34289" y="479298"/>
                </a:lnTo>
                <a:lnTo>
                  <a:pt x="32765" y="476250"/>
                </a:lnTo>
                <a:lnTo>
                  <a:pt x="32765" y="528827"/>
                </a:lnTo>
                <a:lnTo>
                  <a:pt x="38100" y="539496"/>
                </a:lnTo>
                <a:lnTo>
                  <a:pt x="42672" y="530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969145" y="5799073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968383" y="5799073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3358007" y="5789421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331336" y="1552701"/>
            <a:ext cx="5899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Client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676793" y="3755390"/>
            <a:ext cx="1271270" cy="76200"/>
          </a:xfrm>
          <a:custGeom>
            <a:avLst/>
            <a:gdLst/>
            <a:ahLst/>
            <a:cxnLst/>
            <a:rect l="l" t="t" r="r" b="b"/>
            <a:pathLst>
              <a:path w="1271270" h="76200">
                <a:moveTo>
                  <a:pt x="76200" y="0"/>
                </a:moveTo>
                <a:lnTo>
                  <a:pt x="0" y="38100"/>
                </a:lnTo>
                <a:lnTo>
                  <a:pt x="45719" y="60960"/>
                </a:lnTo>
                <a:lnTo>
                  <a:pt x="45719" y="38100"/>
                </a:lnTo>
                <a:lnTo>
                  <a:pt x="47243" y="35051"/>
                </a:lnTo>
                <a:lnTo>
                  <a:pt x="50292" y="33527"/>
                </a:lnTo>
                <a:lnTo>
                  <a:pt x="53400" y="33527"/>
                </a:lnTo>
                <a:lnTo>
                  <a:pt x="76200" y="0"/>
                </a:lnTo>
                <a:close/>
              </a:path>
              <a:path w="1271270" h="76200">
                <a:moveTo>
                  <a:pt x="53919" y="43434"/>
                </a:moveTo>
                <a:lnTo>
                  <a:pt x="50292" y="38100"/>
                </a:lnTo>
                <a:lnTo>
                  <a:pt x="50292" y="33527"/>
                </a:lnTo>
                <a:lnTo>
                  <a:pt x="47243" y="35051"/>
                </a:lnTo>
                <a:lnTo>
                  <a:pt x="45719" y="38100"/>
                </a:lnTo>
                <a:lnTo>
                  <a:pt x="47243" y="41910"/>
                </a:lnTo>
                <a:lnTo>
                  <a:pt x="50292" y="43434"/>
                </a:lnTo>
                <a:lnTo>
                  <a:pt x="50292" y="38100"/>
                </a:lnTo>
                <a:lnTo>
                  <a:pt x="53400" y="33527"/>
                </a:lnTo>
                <a:lnTo>
                  <a:pt x="53400" y="43434"/>
                </a:lnTo>
                <a:lnTo>
                  <a:pt x="53919" y="43434"/>
                </a:lnTo>
                <a:close/>
              </a:path>
              <a:path w="1271270" h="76200">
                <a:moveTo>
                  <a:pt x="76200" y="76200"/>
                </a:moveTo>
                <a:lnTo>
                  <a:pt x="53919" y="43434"/>
                </a:lnTo>
                <a:lnTo>
                  <a:pt x="50292" y="43434"/>
                </a:lnTo>
                <a:lnTo>
                  <a:pt x="47243" y="41910"/>
                </a:lnTo>
                <a:lnTo>
                  <a:pt x="45719" y="38100"/>
                </a:lnTo>
                <a:lnTo>
                  <a:pt x="45719" y="60960"/>
                </a:lnTo>
                <a:lnTo>
                  <a:pt x="76200" y="76200"/>
                </a:lnTo>
                <a:close/>
              </a:path>
              <a:path w="1271270" h="76200">
                <a:moveTo>
                  <a:pt x="1212341" y="38100"/>
                </a:moveTo>
                <a:lnTo>
                  <a:pt x="1211579" y="35051"/>
                </a:lnTo>
                <a:lnTo>
                  <a:pt x="1207769" y="33527"/>
                </a:lnTo>
                <a:lnTo>
                  <a:pt x="53400" y="33527"/>
                </a:lnTo>
                <a:lnTo>
                  <a:pt x="50292" y="38100"/>
                </a:lnTo>
                <a:lnTo>
                  <a:pt x="53919" y="43434"/>
                </a:lnTo>
                <a:lnTo>
                  <a:pt x="1207769" y="43434"/>
                </a:lnTo>
                <a:lnTo>
                  <a:pt x="1211579" y="41910"/>
                </a:lnTo>
                <a:lnTo>
                  <a:pt x="1212341" y="38100"/>
                </a:lnTo>
                <a:close/>
              </a:path>
              <a:path w="1271270" h="76200">
                <a:moveTo>
                  <a:pt x="1271015" y="38100"/>
                </a:moveTo>
                <a:lnTo>
                  <a:pt x="1194815" y="0"/>
                </a:lnTo>
                <a:lnTo>
                  <a:pt x="1194815" y="33527"/>
                </a:lnTo>
                <a:lnTo>
                  <a:pt x="1207769" y="33527"/>
                </a:lnTo>
                <a:lnTo>
                  <a:pt x="1211579" y="35051"/>
                </a:lnTo>
                <a:lnTo>
                  <a:pt x="1212341" y="38100"/>
                </a:lnTo>
                <a:lnTo>
                  <a:pt x="1212341" y="67437"/>
                </a:lnTo>
                <a:lnTo>
                  <a:pt x="1271015" y="38100"/>
                </a:lnTo>
                <a:close/>
              </a:path>
              <a:path w="1271270" h="76200">
                <a:moveTo>
                  <a:pt x="1212341" y="67437"/>
                </a:moveTo>
                <a:lnTo>
                  <a:pt x="1212341" y="38100"/>
                </a:lnTo>
                <a:lnTo>
                  <a:pt x="1211579" y="41910"/>
                </a:lnTo>
                <a:lnTo>
                  <a:pt x="1207769" y="43434"/>
                </a:lnTo>
                <a:lnTo>
                  <a:pt x="1194815" y="43434"/>
                </a:lnTo>
                <a:lnTo>
                  <a:pt x="1194815" y="76200"/>
                </a:lnTo>
                <a:lnTo>
                  <a:pt x="1212341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1821814" y="3383788"/>
            <a:ext cx="1080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5285" marR="5080" indent="-36322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synchronization  point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656219" y="4438141"/>
            <a:ext cx="1317625" cy="76200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76200" y="33528"/>
                </a:move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58674" y="38100"/>
                </a:lnTo>
                <a:lnTo>
                  <a:pt x="59436" y="35052"/>
                </a:lnTo>
                <a:lnTo>
                  <a:pt x="63245" y="33528"/>
                </a:lnTo>
                <a:lnTo>
                  <a:pt x="76200" y="33528"/>
                </a:lnTo>
                <a:close/>
              </a:path>
              <a:path w="1317625" h="76200">
                <a:moveTo>
                  <a:pt x="1317497" y="38100"/>
                </a:moveTo>
                <a:lnTo>
                  <a:pt x="1315973" y="35052"/>
                </a:lnTo>
                <a:lnTo>
                  <a:pt x="1312163" y="33528"/>
                </a:lnTo>
                <a:lnTo>
                  <a:pt x="63245" y="33528"/>
                </a:lnTo>
                <a:lnTo>
                  <a:pt x="59436" y="35052"/>
                </a:lnTo>
                <a:lnTo>
                  <a:pt x="58674" y="38100"/>
                </a:lnTo>
                <a:lnTo>
                  <a:pt x="59436" y="41910"/>
                </a:lnTo>
                <a:lnTo>
                  <a:pt x="63245" y="43434"/>
                </a:lnTo>
                <a:lnTo>
                  <a:pt x="1312163" y="43434"/>
                </a:lnTo>
                <a:lnTo>
                  <a:pt x="1315973" y="41910"/>
                </a:lnTo>
                <a:lnTo>
                  <a:pt x="1317497" y="38100"/>
                </a:lnTo>
                <a:close/>
              </a:path>
              <a:path w="1317625" h="76200">
                <a:moveTo>
                  <a:pt x="76200" y="76200"/>
                </a:moveTo>
                <a:lnTo>
                  <a:pt x="76200" y="43434"/>
                </a:lnTo>
                <a:lnTo>
                  <a:pt x="63245" y="43434"/>
                </a:lnTo>
                <a:lnTo>
                  <a:pt x="59436" y="41910"/>
                </a:lnTo>
                <a:lnTo>
                  <a:pt x="58674" y="38100"/>
                </a:lnTo>
                <a:lnTo>
                  <a:pt x="58674" y="67437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644789" y="5063744"/>
            <a:ext cx="1317625" cy="76200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1266443" y="38100"/>
                </a:moveTo>
                <a:lnTo>
                  <a:pt x="1263426" y="33527"/>
                </a:lnTo>
                <a:lnTo>
                  <a:pt x="4572" y="33527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909"/>
                </a:lnTo>
                <a:lnTo>
                  <a:pt x="4572" y="42671"/>
                </a:lnTo>
                <a:lnTo>
                  <a:pt x="1263426" y="42671"/>
                </a:lnTo>
                <a:lnTo>
                  <a:pt x="1266443" y="38100"/>
                </a:lnTo>
                <a:close/>
              </a:path>
              <a:path w="1317625" h="76200">
                <a:moveTo>
                  <a:pt x="1317497" y="38100"/>
                </a:moveTo>
                <a:lnTo>
                  <a:pt x="1241297" y="0"/>
                </a:lnTo>
                <a:lnTo>
                  <a:pt x="1263426" y="33527"/>
                </a:lnTo>
                <a:lnTo>
                  <a:pt x="1266443" y="33527"/>
                </a:lnTo>
                <a:lnTo>
                  <a:pt x="1270253" y="35051"/>
                </a:lnTo>
                <a:lnTo>
                  <a:pt x="1271777" y="38100"/>
                </a:lnTo>
                <a:lnTo>
                  <a:pt x="1271777" y="60959"/>
                </a:lnTo>
                <a:lnTo>
                  <a:pt x="1317497" y="38100"/>
                </a:lnTo>
                <a:close/>
              </a:path>
              <a:path w="1317625" h="76200">
                <a:moveTo>
                  <a:pt x="1271777" y="60959"/>
                </a:moveTo>
                <a:lnTo>
                  <a:pt x="1271777" y="38100"/>
                </a:lnTo>
                <a:lnTo>
                  <a:pt x="1270253" y="41909"/>
                </a:lnTo>
                <a:lnTo>
                  <a:pt x="1266443" y="42671"/>
                </a:lnTo>
                <a:lnTo>
                  <a:pt x="1263426" y="42672"/>
                </a:lnTo>
                <a:lnTo>
                  <a:pt x="1241297" y="76200"/>
                </a:lnTo>
                <a:lnTo>
                  <a:pt x="1271777" y="60959"/>
                </a:lnTo>
                <a:close/>
              </a:path>
              <a:path w="1317625" h="76200">
                <a:moveTo>
                  <a:pt x="1271777" y="38100"/>
                </a:moveTo>
                <a:lnTo>
                  <a:pt x="1270253" y="35051"/>
                </a:lnTo>
                <a:lnTo>
                  <a:pt x="1266443" y="33527"/>
                </a:lnTo>
                <a:lnTo>
                  <a:pt x="1263426" y="33527"/>
                </a:lnTo>
                <a:lnTo>
                  <a:pt x="1266443" y="38100"/>
                </a:lnTo>
                <a:lnTo>
                  <a:pt x="1266443" y="42671"/>
                </a:lnTo>
                <a:lnTo>
                  <a:pt x="1270253" y="41909"/>
                </a:lnTo>
                <a:lnTo>
                  <a:pt x="1271777" y="38100"/>
                </a:lnTo>
                <a:close/>
              </a:path>
              <a:path w="1317625" h="76200">
                <a:moveTo>
                  <a:pt x="1266443" y="42671"/>
                </a:moveTo>
                <a:lnTo>
                  <a:pt x="1266443" y="38100"/>
                </a:lnTo>
                <a:lnTo>
                  <a:pt x="1263426" y="42672"/>
                </a:lnTo>
                <a:lnTo>
                  <a:pt x="1266443" y="426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9255" y="4467097"/>
            <a:ext cx="219710" cy="665480"/>
          </a:xfrm>
          <a:custGeom>
            <a:avLst/>
            <a:gdLst/>
            <a:ahLst/>
            <a:cxnLst/>
            <a:rect l="l" t="t" r="r" b="b"/>
            <a:pathLst>
              <a:path w="219710" h="665479">
                <a:moveTo>
                  <a:pt x="169186" y="39412"/>
                </a:moveTo>
                <a:lnTo>
                  <a:pt x="168402" y="33527"/>
                </a:lnTo>
                <a:lnTo>
                  <a:pt x="163369" y="32226"/>
                </a:lnTo>
                <a:lnTo>
                  <a:pt x="146304" y="47243"/>
                </a:lnTo>
                <a:lnTo>
                  <a:pt x="111252" y="81534"/>
                </a:lnTo>
                <a:lnTo>
                  <a:pt x="80990" y="114280"/>
                </a:lnTo>
                <a:lnTo>
                  <a:pt x="55024" y="145578"/>
                </a:lnTo>
                <a:lnTo>
                  <a:pt x="25651" y="192421"/>
                </a:lnTo>
                <a:lnTo>
                  <a:pt x="3302" y="256210"/>
                </a:lnTo>
                <a:lnTo>
                  <a:pt x="0" y="291084"/>
                </a:lnTo>
                <a:lnTo>
                  <a:pt x="5599" y="334616"/>
                </a:lnTo>
                <a:lnTo>
                  <a:pt x="10021" y="348820"/>
                </a:lnTo>
                <a:lnTo>
                  <a:pt x="10021" y="279178"/>
                </a:lnTo>
                <a:lnTo>
                  <a:pt x="15011" y="246430"/>
                </a:lnTo>
                <a:lnTo>
                  <a:pt x="40386" y="185927"/>
                </a:lnTo>
                <a:lnTo>
                  <a:pt x="61145" y="153466"/>
                </a:lnTo>
                <a:lnTo>
                  <a:pt x="85344" y="123443"/>
                </a:lnTo>
                <a:lnTo>
                  <a:pt x="134874" y="70865"/>
                </a:lnTo>
                <a:lnTo>
                  <a:pt x="169186" y="39412"/>
                </a:lnTo>
                <a:close/>
              </a:path>
              <a:path w="219710" h="665479">
                <a:moveTo>
                  <a:pt x="219456" y="660653"/>
                </a:moveTo>
                <a:lnTo>
                  <a:pt x="218694" y="657605"/>
                </a:lnTo>
                <a:lnTo>
                  <a:pt x="198882" y="633222"/>
                </a:lnTo>
                <a:lnTo>
                  <a:pt x="141732" y="560069"/>
                </a:lnTo>
                <a:lnTo>
                  <a:pt x="103489" y="508115"/>
                </a:lnTo>
                <a:lnTo>
                  <a:pt x="67818" y="454151"/>
                </a:lnTo>
                <a:lnTo>
                  <a:pt x="49202" y="420902"/>
                </a:lnTo>
                <a:lnTo>
                  <a:pt x="32289" y="385567"/>
                </a:lnTo>
                <a:lnTo>
                  <a:pt x="19044" y="348901"/>
                </a:lnTo>
                <a:lnTo>
                  <a:pt x="10021" y="279178"/>
                </a:lnTo>
                <a:lnTo>
                  <a:pt x="10021" y="348820"/>
                </a:lnTo>
                <a:lnTo>
                  <a:pt x="39917" y="423872"/>
                </a:lnTo>
                <a:lnTo>
                  <a:pt x="65392" y="468312"/>
                </a:lnTo>
                <a:lnTo>
                  <a:pt x="94250" y="511770"/>
                </a:lnTo>
                <a:lnTo>
                  <a:pt x="124869" y="553604"/>
                </a:lnTo>
                <a:lnTo>
                  <a:pt x="155626" y="593172"/>
                </a:lnTo>
                <a:lnTo>
                  <a:pt x="211074" y="662939"/>
                </a:lnTo>
                <a:lnTo>
                  <a:pt x="214122" y="665226"/>
                </a:lnTo>
                <a:lnTo>
                  <a:pt x="217932" y="663701"/>
                </a:lnTo>
                <a:lnTo>
                  <a:pt x="219456" y="660653"/>
                </a:lnTo>
                <a:close/>
              </a:path>
              <a:path w="219710" h="665479">
                <a:moveTo>
                  <a:pt x="205740" y="0"/>
                </a:moveTo>
                <a:lnTo>
                  <a:pt x="124206" y="22098"/>
                </a:lnTo>
                <a:lnTo>
                  <a:pt x="163369" y="32226"/>
                </a:lnTo>
                <a:lnTo>
                  <a:pt x="165354" y="30479"/>
                </a:lnTo>
                <a:lnTo>
                  <a:pt x="168402" y="28955"/>
                </a:lnTo>
                <a:lnTo>
                  <a:pt x="171450" y="30479"/>
                </a:lnTo>
                <a:lnTo>
                  <a:pt x="172974" y="34289"/>
                </a:lnTo>
                <a:lnTo>
                  <a:pt x="172974" y="67817"/>
                </a:lnTo>
                <a:lnTo>
                  <a:pt x="174498" y="79248"/>
                </a:lnTo>
                <a:lnTo>
                  <a:pt x="205740" y="0"/>
                </a:lnTo>
                <a:close/>
              </a:path>
              <a:path w="219710" h="665479">
                <a:moveTo>
                  <a:pt x="172974" y="34289"/>
                </a:moveTo>
                <a:lnTo>
                  <a:pt x="171450" y="30479"/>
                </a:lnTo>
                <a:lnTo>
                  <a:pt x="168402" y="28955"/>
                </a:lnTo>
                <a:lnTo>
                  <a:pt x="165354" y="30479"/>
                </a:lnTo>
                <a:lnTo>
                  <a:pt x="163369" y="32226"/>
                </a:lnTo>
                <a:lnTo>
                  <a:pt x="168402" y="33527"/>
                </a:lnTo>
                <a:lnTo>
                  <a:pt x="169186" y="39412"/>
                </a:lnTo>
                <a:lnTo>
                  <a:pt x="171450" y="37337"/>
                </a:lnTo>
                <a:lnTo>
                  <a:pt x="172974" y="34289"/>
                </a:lnTo>
                <a:close/>
              </a:path>
              <a:path w="219710" h="665479">
                <a:moveTo>
                  <a:pt x="172974" y="67817"/>
                </a:moveTo>
                <a:lnTo>
                  <a:pt x="172974" y="34289"/>
                </a:lnTo>
                <a:lnTo>
                  <a:pt x="171450" y="37337"/>
                </a:lnTo>
                <a:lnTo>
                  <a:pt x="169186" y="39412"/>
                </a:lnTo>
                <a:lnTo>
                  <a:pt x="172974" y="678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317885" y="4483100"/>
            <a:ext cx="237490" cy="665480"/>
          </a:xfrm>
          <a:custGeom>
            <a:avLst/>
            <a:gdLst/>
            <a:ahLst/>
            <a:cxnLst/>
            <a:rect l="l" t="t" r="r" b="b"/>
            <a:pathLst>
              <a:path w="237489" h="665479">
                <a:moveTo>
                  <a:pt x="79248" y="31241"/>
                </a:moveTo>
                <a:lnTo>
                  <a:pt x="0" y="0"/>
                </a:lnTo>
                <a:lnTo>
                  <a:pt x="22098" y="82296"/>
                </a:lnTo>
                <a:lnTo>
                  <a:pt x="28956" y="57435"/>
                </a:lnTo>
                <a:lnTo>
                  <a:pt x="28956" y="37337"/>
                </a:lnTo>
                <a:lnTo>
                  <a:pt x="30480" y="34289"/>
                </a:lnTo>
                <a:lnTo>
                  <a:pt x="34289" y="32765"/>
                </a:lnTo>
                <a:lnTo>
                  <a:pt x="37337" y="34289"/>
                </a:lnTo>
                <a:lnTo>
                  <a:pt x="39892" y="37245"/>
                </a:lnTo>
                <a:lnTo>
                  <a:pt x="79248" y="31241"/>
                </a:lnTo>
                <a:close/>
              </a:path>
              <a:path w="237489" h="665479">
                <a:moveTo>
                  <a:pt x="227075" y="425960"/>
                </a:moveTo>
                <a:lnTo>
                  <a:pt x="227075" y="368808"/>
                </a:lnTo>
                <a:lnTo>
                  <a:pt x="223089" y="407843"/>
                </a:lnTo>
                <a:lnTo>
                  <a:pt x="210197" y="444650"/>
                </a:lnTo>
                <a:lnTo>
                  <a:pt x="190885" y="478969"/>
                </a:lnTo>
                <a:lnTo>
                  <a:pt x="167639" y="510539"/>
                </a:lnTo>
                <a:lnTo>
                  <a:pt x="129744" y="551030"/>
                </a:lnTo>
                <a:lnTo>
                  <a:pt x="89154" y="589026"/>
                </a:lnTo>
                <a:lnTo>
                  <a:pt x="28194" y="639317"/>
                </a:lnTo>
                <a:lnTo>
                  <a:pt x="6858" y="656082"/>
                </a:lnTo>
                <a:lnTo>
                  <a:pt x="5334" y="659891"/>
                </a:lnTo>
                <a:lnTo>
                  <a:pt x="6096" y="662939"/>
                </a:lnTo>
                <a:lnTo>
                  <a:pt x="9144" y="665226"/>
                </a:lnTo>
                <a:lnTo>
                  <a:pt x="12954" y="663701"/>
                </a:lnTo>
                <a:lnTo>
                  <a:pt x="54863" y="630174"/>
                </a:lnTo>
                <a:lnTo>
                  <a:pt x="95250" y="595884"/>
                </a:lnTo>
                <a:lnTo>
                  <a:pt x="133350" y="560832"/>
                </a:lnTo>
                <a:lnTo>
                  <a:pt x="171083" y="520382"/>
                </a:lnTo>
                <a:lnTo>
                  <a:pt x="202347" y="478786"/>
                </a:lnTo>
                <a:lnTo>
                  <a:pt x="219422" y="447174"/>
                </a:lnTo>
                <a:lnTo>
                  <a:pt x="227075" y="425960"/>
                </a:lnTo>
                <a:close/>
              </a:path>
              <a:path w="237489" h="665479">
                <a:moveTo>
                  <a:pt x="39892" y="37245"/>
                </a:moveTo>
                <a:lnTo>
                  <a:pt x="37337" y="34289"/>
                </a:lnTo>
                <a:lnTo>
                  <a:pt x="34289" y="32765"/>
                </a:lnTo>
                <a:lnTo>
                  <a:pt x="30480" y="34289"/>
                </a:lnTo>
                <a:lnTo>
                  <a:pt x="28956" y="37337"/>
                </a:lnTo>
                <a:lnTo>
                  <a:pt x="30480" y="41148"/>
                </a:lnTo>
                <a:lnTo>
                  <a:pt x="32726" y="43768"/>
                </a:lnTo>
                <a:lnTo>
                  <a:pt x="34289" y="38100"/>
                </a:lnTo>
                <a:lnTo>
                  <a:pt x="39892" y="37245"/>
                </a:lnTo>
                <a:close/>
              </a:path>
              <a:path w="237489" h="665479">
                <a:moveTo>
                  <a:pt x="32726" y="43768"/>
                </a:moveTo>
                <a:lnTo>
                  <a:pt x="30480" y="41148"/>
                </a:lnTo>
                <a:lnTo>
                  <a:pt x="28956" y="37337"/>
                </a:lnTo>
                <a:lnTo>
                  <a:pt x="28956" y="57435"/>
                </a:lnTo>
                <a:lnTo>
                  <a:pt x="32726" y="43768"/>
                </a:lnTo>
                <a:close/>
              </a:path>
              <a:path w="237489" h="665479">
                <a:moveTo>
                  <a:pt x="236982" y="379475"/>
                </a:moveTo>
                <a:lnTo>
                  <a:pt x="233077" y="333526"/>
                </a:lnTo>
                <a:lnTo>
                  <a:pt x="218333" y="286475"/>
                </a:lnTo>
                <a:lnTo>
                  <a:pt x="195163" y="239273"/>
                </a:lnTo>
                <a:lnTo>
                  <a:pt x="165977" y="192871"/>
                </a:lnTo>
                <a:lnTo>
                  <a:pt x="133190" y="148221"/>
                </a:lnTo>
                <a:lnTo>
                  <a:pt x="99212" y="106273"/>
                </a:lnTo>
                <a:lnTo>
                  <a:pt x="39892" y="37245"/>
                </a:lnTo>
                <a:lnTo>
                  <a:pt x="34289" y="38100"/>
                </a:lnTo>
                <a:lnTo>
                  <a:pt x="32726" y="43768"/>
                </a:lnTo>
                <a:lnTo>
                  <a:pt x="39624" y="51815"/>
                </a:lnTo>
                <a:lnTo>
                  <a:pt x="81534" y="99822"/>
                </a:lnTo>
                <a:lnTo>
                  <a:pt x="119949" y="147058"/>
                </a:lnTo>
                <a:lnTo>
                  <a:pt x="154370" y="193436"/>
                </a:lnTo>
                <a:lnTo>
                  <a:pt x="191032" y="251954"/>
                </a:lnTo>
                <a:lnTo>
                  <a:pt x="209349" y="289912"/>
                </a:lnTo>
                <a:lnTo>
                  <a:pt x="222433" y="329599"/>
                </a:lnTo>
                <a:lnTo>
                  <a:pt x="227075" y="368808"/>
                </a:lnTo>
                <a:lnTo>
                  <a:pt x="227075" y="425960"/>
                </a:lnTo>
                <a:lnTo>
                  <a:pt x="231561" y="413527"/>
                </a:lnTo>
                <a:lnTo>
                  <a:pt x="236982" y="3794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1695323" y="1157223"/>
            <a:ext cx="1092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541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Stream  </a:t>
            </a:r>
            <a:r>
              <a:rPr sz="1800" b="1" spc="-5" dirty="0">
                <a:latin typeface="Arial"/>
                <a:cs typeface="Arial"/>
              </a:rPr>
              <a:t>(e.g.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TCP)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4874145" y="1867916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873383" y="1867916"/>
            <a:ext cx="1336040" cy="232410"/>
          </a:xfrm>
          <a:custGeom>
            <a:avLst/>
            <a:gdLst/>
            <a:ahLst/>
            <a:cxnLst/>
            <a:rect l="l" t="t" r="r" b="b"/>
            <a:pathLst>
              <a:path w="1336039" h="232410">
                <a:moveTo>
                  <a:pt x="0" y="0"/>
                </a:moveTo>
                <a:lnTo>
                  <a:pt x="0" y="232410"/>
                </a:lnTo>
                <a:lnTo>
                  <a:pt x="1335786" y="232410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5213477" y="1859025"/>
            <a:ext cx="6559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5510415" y="2104898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5843"/>
                </a:lnTo>
                <a:lnTo>
                  <a:pt x="34289" y="279653"/>
                </a:lnTo>
                <a:lnTo>
                  <a:pt x="38100" y="281177"/>
                </a:lnTo>
                <a:lnTo>
                  <a:pt x="41135" y="279653"/>
                </a:lnTo>
                <a:lnTo>
                  <a:pt x="42659" y="275843"/>
                </a:lnTo>
                <a:lnTo>
                  <a:pt x="42659" y="330733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59" y="263651"/>
                </a:moveTo>
                <a:lnTo>
                  <a:pt x="42659" y="4571"/>
                </a:lnTo>
                <a:lnTo>
                  <a:pt x="41135" y="1523"/>
                </a:lnTo>
                <a:lnTo>
                  <a:pt x="38100" y="0"/>
                </a:lnTo>
                <a:lnTo>
                  <a:pt x="34289" y="1523"/>
                </a:lnTo>
                <a:lnTo>
                  <a:pt x="33527" y="4571"/>
                </a:lnTo>
                <a:lnTo>
                  <a:pt x="33527" y="263651"/>
                </a:lnTo>
                <a:lnTo>
                  <a:pt x="42659" y="263651"/>
                </a:lnTo>
                <a:close/>
              </a:path>
              <a:path w="76200" h="340360">
                <a:moveTo>
                  <a:pt x="42659" y="330733"/>
                </a:moveTo>
                <a:lnTo>
                  <a:pt x="42659" y="275843"/>
                </a:lnTo>
                <a:lnTo>
                  <a:pt x="41135" y="279653"/>
                </a:lnTo>
                <a:lnTo>
                  <a:pt x="38100" y="281177"/>
                </a:lnTo>
                <a:lnTo>
                  <a:pt x="34289" y="279653"/>
                </a:lnTo>
                <a:lnTo>
                  <a:pt x="33527" y="275843"/>
                </a:lnTo>
                <a:lnTo>
                  <a:pt x="33527" y="330707"/>
                </a:lnTo>
                <a:lnTo>
                  <a:pt x="38100" y="339851"/>
                </a:lnTo>
                <a:lnTo>
                  <a:pt x="42659" y="3307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877193" y="2474467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877193" y="2474467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5305678" y="2465577"/>
            <a:ext cx="4787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bind()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5513451" y="2711450"/>
            <a:ext cx="76200" cy="1631950"/>
          </a:xfrm>
          <a:custGeom>
            <a:avLst/>
            <a:gdLst/>
            <a:ahLst/>
            <a:cxnLst/>
            <a:rect l="l" t="t" r="r" b="b"/>
            <a:pathLst>
              <a:path w="76200" h="1631950">
                <a:moveTo>
                  <a:pt x="76200" y="1555241"/>
                </a:moveTo>
                <a:lnTo>
                  <a:pt x="0" y="1555241"/>
                </a:lnTo>
                <a:lnTo>
                  <a:pt x="33540" y="1622323"/>
                </a:lnTo>
                <a:lnTo>
                  <a:pt x="33540" y="1568195"/>
                </a:lnTo>
                <a:lnTo>
                  <a:pt x="35064" y="1571243"/>
                </a:lnTo>
                <a:lnTo>
                  <a:pt x="38100" y="1572767"/>
                </a:lnTo>
                <a:lnTo>
                  <a:pt x="41922" y="1571243"/>
                </a:lnTo>
                <a:lnTo>
                  <a:pt x="42684" y="1568195"/>
                </a:lnTo>
                <a:lnTo>
                  <a:pt x="42684" y="1622272"/>
                </a:lnTo>
                <a:lnTo>
                  <a:pt x="76200" y="1555241"/>
                </a:lnTo>
                <a:close/>
              </a:path>
              <a:path w="76200" h="1631950">
                <a:moveTo>
                  <a:pt x="42684" y="1555241"/>
                </a:moveTo>
                <a:lnTo>
                  <a:pt x="42684" y="4571"/>
                </a:lnTo>
                <a:lnTo>
                  <a:pt x="41922" y="761"/>
                </a:lnTo>
                <a:lnTo>
                  <a:pt x="38100" y="0"/>
                </a:lnTo>
                <a:lnTo>
                  <a:pt x="35064" y="761"/>
                </a:lnTo>
                <a:lnTo>
                  <a:pt x="33540" y="4571"/>
                </a:lnTo>
                <a:lnTo>
                  <a:pt x="33540" y="1555241"/>
                </a:lnTo>
                <a:lnTo>
                  <a:pt x="42684" y="1555241"/>
                </a:lnTo>
                <a:close/>
              </a:path>
              <a:path w="76200" h="1631950">
                <a:moveTo>
                  <a:pt x="42684" y="1622272"/>
                </a:moveTo>
                <a:lnTo>
                  <a:pt x="42684" y="1568195"/>
                </a:lnTo>
                <a:lnTo>
                  <a:pt x="41922" y="1571243"/>
                </a:lnTo>
                <a:lnTo>
                  <a:pt x="38100" y="1572767"/>
                </a:lnTo>
                <a:lnTo>
                  <a:pt x="35064" y="1571243"/>
                </a:lnTo>
                <a:lnTo>
                  <a:pt x="33540" y="1568195"/>
                </a:lnTo>
                <a:lnTo>
                  <a:pt x="33540" y="1622323"/>
                </a:lnTo>
                <a:lnTo>
                  <a:pt x="38100" y="1631441"/>
                </a:lnTo>
                <a:lnTo>
                  <a:pt x="42684" y="1622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871859" y="4386326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8"/>
                </a:lnTo>
                <a:lnTo>
                  <a:pt x="1335785" y="231648"/>
                </a:lnTo>
                <a:lnTo>
                  <a:pt x="1335785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871859" y="438632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5122811" y="4376673"/>
            <a:ext cx="8318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recvfrom()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5508891" y="4622546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15" y="330682"/>
                </a:lnTo>
                <a:lnTo>
                  <a:pt x="33515" y="275843"/>
                </a:lnTo>
                <a:lnTo>
                  <a:pt x="34289" y="279653"/>
                </a:lnTo>
                <a:lnTo>
                  <a:pt x="38100" y="281177"/>
                </a:lnTo>
                <a:lnTo>
                  <a:pt x="41135" y="279653"/>
                </a:lnTo>
                <a:lnTo>
                  <a:pt x="42659" y="275843"/>
                </a:lnTo>
                <a:lnTo>
                  <a:pt x="42659" y="330733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59" y="263651"/>
                </a:moveTo>
                <a:lnTo>
                  <a:pt x="42659" y="4571"/>
                </a:lnTo>
                <a:lnTo>
                  <a:pt x="41135" y="1524"/>
                </a:lnTo>
                <a:lnTo>
                  <a:pt x="38100" y="0"/>
                </a:lnTo>
                <a:lnTo>
                  <a:pt x="34289" y="1524"/>
                </a:lnTo>
                <a:lnTo>
                  <a:pt x="33515" y="4571"/>
                </a:lnTo>
                <a:lnTo>
                  <a:pt x="33515" y="263651"/>
                </a:lnTo>
                <a:lnTo>
                  <a:pt x="42659" y="263651"/>
                </a:lnTo>
                <a:close/>
              </a:path>
              <a:path w="76200" h="340360">
                <a:moveTo>
                  <a:pt x="42659" y="330733"/>
                </a:moveTo>
                <a:lnTo>
                  <a:pt x="42659" y="275843"/>
                </a:lnTo>
                <a:lnTo>
                  <a:pt x="41135" y="279653"/>
                </a:lnTo>
                <a:lnTo>
                  <a:pt x="38100" y="281177"/>
                </a:lnTo>
                <a:lnTo>
                  <a:pt x="34289" y="279653"/>
                </a:lnTo>
                <a:lnTo>
                  <a:pt x="33515" y="275843"/>
                </a:lnTo>
                <a:lnTo>
                  <a:pt x="33515" y="330682"/>
                </a:lnTo>
                <a:lnTo>
                  <a:pt x="38100" y="339851"/>
                </a:lnTo>
                <a:lnTo>
                  <a:pt x="42659" y="3307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875669" y="499211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3" y="232410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875669" y="499211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3" y="232410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5205857" y="4983226"/>
            <a:ext cx="6750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sendto()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5511927" y="5229097"/>
            <a:ext cx="76200" cy="539750"/>
          </a:xfrm>
          <a:custGeom>
            <a:avLst/>
            <a:gdLst/>
            <a:ahLst/>
            <a:cxnLst/>
            <a:rect l="l" t="t" r="r" b="b"/>
            <a:pathLst>
              <a:path w="76200" h="539750">
                <a:moveTo>
                  <a:pt x="76200" y="463296"/>
                </a:moveTo>
                <a:lnTo>
                  <a:pt x="0" y="463296"/>
                </a:lnTo>
                <a:lnTo>
                  <a:pt x="33540" y="530377"/>
                </a:lnTo>
                <a:lnTo>
                  <a:pt x="33540" y="476250"/>
                </a:lnTo>
                <a:lnTo>
                  <a:pt x="35064" y="479298"/>
                </a:lnTo>
                <a:lnTo>
                  <a:pt x="38100" y="480822"/>
                </a:lnTo>
                <a:lnTo>
                  <a:pt x="41148" y="479298"/>
                </a:lnTo>
                <a:lnTo>
                  <a:pt x="42672" y="476250"/>
                </a:lnTo>
                <a:lnTo>
                  <a:pt x="42672" y="530351"/>
                </a:lnTo>
                <a:lnTo>
                  <a:pt x="76200" y="463296"/>
                </a:lnTo>
                <a:close/>
              </a:path>
              <a:path w="76200" h="539750">
                <a:moveTo>
                  <a:pt x="42672" y="463296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5064" y="1524"/>
                </a:lnTo>
                <a:lnTo>
                  <a:pt x="33540" y="4572"/>
                </a:lnTo>
                <a:lnTo>
                  <a:pt x="33540" y="463296"/>
                </a:lnTo>
                <a:lnTo>
                  <a:pt x="42672" y="463296"/>
                </a:lnTo>
                <a:close/>
              </a:path>
              <a:path w="76200" h="539750">
                <a:moveTo>
                  <a:pt x="42672" y="530351"/>
                </a:moveTo>
                <a:lnTo>
                  <a:pt x="42672" y="476250"/>
                </a:lnTo>
                <a:lnTo>
                  <a:pt x="41148" y="479298"/>
                </a:lnTo>
                <a:lnTo>
                  <a:pt x="38100" y="480822"/>
                </a:lnTo>
                <a:lnTo>
                  <a:pt x="35064" y="479298"/>
                </a:lnTo>
                <a:lnTo>
                  <a:pt x="33540" y="476250"/>
                </a:lnTo>
                <a:lnTo>
                  <a:pt x="33540" y="530377"/>
                </a:lnTo>
                <a:lnTo>
                  <a:pt x="38100" y="539496"/>
                </a:lnTo>
                <a:lnTo>
                  <a:pt x="42672" y="530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880241" y="5799073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880241" y="5799073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5269103" y="5789421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218810" y="1554225"/>
            <a:ext cx="6578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Server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7515225" y="1876298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515225" y="1876298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7855331" y="1867407"/>
            <a:ext cx="6559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8152269" y="2701544"/>
            <a:ext cx="76200" cy="1632585"/>
          </a:xfrm>
          <a:custGeom>
            <a:avLst/>
            <a:gdLst/>
            <a:ahLst/>
            <a:cxnLst/>
            <a:rect l="l" t="t" r="r" b="b"/>
            <a:pathLst>
              <a:path w="76200" h="1632585">
                <a:moveTo>
                  <a:pt x="76200" y="1556004"/>
                </a:moveTo>
                <a:lnTo>
                  <a:pt x="0" y="1556004"/>
                </a:lnTo>
                <a:lnTo>
                  <a:pt x="32753" y="1621510"/>
                </a:lnTo>
                <a:lnTo>
                  <a:pt x="32753" y="1568196"/>
                </a:lnTo>
                <a:lnTo>
                  <a:pt x="34277" y="1572006"/>
                </a:lnTo>
                <a:lnTo>
                  <a:pt x="38100" y="1573530"/>
                </a:lnTo>
                <a:lnTo>
                  <a:pt x="41148" y="1572006"/>
                </a:lnTo>
                <a:lnTo>
                  <a:pt x="42672" y="1568196"/>
                </a:lnTo>
                <a:lnTo>
                  <a:pt x="42672" y="1623060"/>
                </a:lnTo>
                <a:lnTo>
                  <a:pt x="76200" y="1556004"/>
                </a:lnTo>
                <a:close/>
              </a:path>
              <a:path w="76200" h="1632585">
                <a:moveTo>
                  <a:pt x="42672" y="1556004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77" y="1524"/>
                </a:lnTo>
                <a:lnTo>
                  <a:pt x="32753" y="4572"/>
                </a:lnTo>
                <a:lnTo>
                  <a:pt x="32753" y="1556004"/>
                </a:lnTo>
                <a:lnTo>
                  <a:pt x="42672" y="1556004"/>
                </a:lnTo>
                <a:close/>
              </a:path>
              <a:path w="76200" h="1632585">
                <a:moveTo>
                  <a:pt x="42672" y="1623060"/>
                </a:moveTo>
                <a:lnTo>
                  <a:pt x="42672" y="1568196"/>
                </a:lnTo>
                <a:lnTo>
                  <a:pt x="41148" y="1572006"/>
                </a:lnTo>
                <a:lnTo>
                  <a:pt x="38100" y="1573530"/>
                </a:lnTo>
                <a:lnTo>
                  <a:pt x="34277" y="1572006"/>
                </a:lnTo>
                <a:lnTo>
                  <a:pt x="32753" y="1568196"/>
                </a:lnTo>
                <a:lnTo>
                  <a:pt x="32753" y="1621510"/>
                </a:lnTo>
                <a:lnTo>
                  <a:pt x="38100" y="1632204"/>
                </a:lnTo>
                <a:lnTo>
                  <a:pt x="42672" y="16230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513701" y="439394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7513701" y="439394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7843901" y="4385055"/>
            <a:ext cx="6750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sendto()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8149970" y="4630165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6606"/>
                </a:lnTo>
                <a:lnTo>
                  <a:pt x="35051" y="279654"/>
                </a:lnTo>
                <a:lnTo>
                  <a:pt x="38100" y="281178"/>
                </a:lnTo>
                <a:lnTo>
                  <a:pt x="41922" y="279654"/>
                </a:lnTo>
                <a:lnTo>
                  <a:pt x="43446" y="276606"/>
                </a:lnTo>
                <a:lnTo>
                  <a:pt x="43446" y="329158"/>
                </a:lnTo>
                <a:lnTo>
                  <a:pt x="76200" y="263651"/>
                </a:lnTo>
                <a:close/>
              </a:path>
              <a:path w="76200" h="340360">
                <a:moveTo>
                  <a:pt x="43446" y="263651"/>
                </a:moveTo>
                <a:lnTo>
                  <a:pt x="43446" y="5334"/>
                </a:lnTo>
                <a:lnTo>
                  <a:pt x="41922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7" y="5334"/>
                </a:lnTo>
                <a:lnTo>
                  <a:pt x="33527" y="263651"/>
                </a:lnTo>
                <a:lnTo>
                  <a:pt x="43446" y="263651"/>
                </a:lnTo>
                <a:close/>
              </a:path>
              <a:path w="76200" h="340360">
                <a:moveTo>
                  <a:pt x="43446" y="329158"/>
                </a:moveTo>
                <a:lnTo>
                  <a:pt x="43446" y="276606"/>
                </a:lnTo>
                <a:lnTo>
                  <a:pt x="41922" y="279654"/>
                </a:lnTo>
                <a:lnTo>
                  <a:pt x="38100" y="281178"/>
                </a:lnTo>
                <a:lnTo>
                  <a:pt x="35051" y="279654"/>
                </a:lnTo>
                <a:lnTo>
                  <a:pt x="33527" y="276606"/>
                </a:lnTo>
                <a:lnTo>
                  <a:pt x="33527" y="330707"/>
                </a:lnTo>
                <a:lnTo>
                  <a:pt x="38100" y="339851"/>
                </a:lnTo>
                <a:lnTo>
                  <a:pt x="43446" y="3291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516748" y="5000497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7516748" y="5000497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7767701" y="4991608"/>
            <a:ext cx="8318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recvfrom()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8153793" y="5236717"/>
            <a:ext cx="76200" cy="540385"/>
          </a:xfrm>
          <a:custGeom>
            <a:avLst/>
            <a:gdLst/>
            <a:ahLst/>
            <a:cxnLst/>
            <a:rect l="l" t="t" r="r" b="b"/>
            <a:pathLst>
              <a:path w="76200" h="540385">
                <a:moveTo>
                  <a:pt x="76200" y="464058"/>
                </a:moveTo>
                <a:lnTo>
                  <a:pt x="0" y="464058"/>
                </a:lnTo>
                <a:lnTo>
                  <a:pt x="32753" y="529564"/>
                </a:lnTo>
                <a:lnTo>
                  <a:pt x="32753" y="476250"/>
                </a:lnTo>
                <a:lnTo>
                  <a:pt x="34277" y="480060"/>
                </a:lnTo>
                <a:lnTo>
                  <a:pt x="38100" y="480822"/>
                </a:lnTo>
                <a:lnTo>
                  <a:pt x="41148" y="480060"/>
                </a:lnTo>
                <a:lnTo>
                  <a:pt x="42672" y="476250"/>
                </a:lnTo>
                <a:lnTo>
                  <a:pt x="42672" y="531113"/>
                </a:lnTo>
                <a:lnTo>
                  <a:pt x="76200" y="464058"/>
                </a:lnTo>
                <a:close/>
              </a:path>
              <a:path w="76200" h="540385">
                <a:moveTo>
                  <a:pt x="42672" y="464058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77" y="1524"/>
                </a:lnTo>
                <a:lnTo>
                  <a:pt x="32753" y="4572"/>
                </a:lnTo>
                <a:lnTo>
                  <a:pt x="32753" y="464058"/>
                </a:lnTo>
                <a:lnTo>
                  <a:pt x="42672" y="464058"/>
                </a:lnTo>
                <a:close/>
              </a:path>
              <a:path w="76200" h="540385">
                <a:moveTo>
                  <a:pt x="42672" y="531113"/>
                </a:moveTo>
                <a:lnTo>
                  <a:pt x="42672" y="476250"/>
                </a:lnTo>
                <a:lnTo>
                  <a:pt x="41148" y="480060"/>
                </a:lnTo>
                <a:lnTo>
                  <a:pt x="38100" y="480822"/>
                </a:lnTo>
                <a:lnTo>
                  <a:pt x="34277" y="480060"/>
                </a:lnTo>
                <a:lnTo>
                  <a:pt x="32753" y="476250"/>
                </a:lnTo>
                <a:lnTo>
                  <a:pt x="32753" y="529564"/>
                </a:lnTo>
                <a:lnTo>
                  <a:pt x="38100" y="540258"/>
                </a:lnTo>
                <a:lnTo>
                  <a:pt x="42672" y="531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522095" y="5806694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521333" y="5806694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40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7910956" y="5797803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7884286" y="1560322"/>
            <a:ext cx="5899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Client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6209169" y="4446523"/>
            <a:ext cx="1317625" cy="76200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76200" y="32765"/>
                </a:move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58674" y="38100"/>
                </a:lnTo>
                <a:lnTo>
                  <a:pt x="59436" y="34289"/>
                </a:lnTo>
                <a:lnTo>
                  <a:pt x="63246" y="32765"/>
                </a:lnTo>
                <a:lnTo>
                  <a:pt x="76200" y="32765"/>
                </a:lnTo>
                <a:close/>
              </a:path>
              <a:path w="1317625" h="76200">
                <a:moveTo>
                  <a:pt x="1317498" y="38100"/>
                </a:moveTo>
                <a:lnTo>
                  <a:pt x="1315974" y="34289"/>
                </a:lnTo>
                <a:lnTo>
                  <a:pt x="1312164" y="32765"/>
                </a:lnTo>
                <a:lnTo>
                  <a:pt x="63246" y="32765"/>
                </a:lnTo>
                <a:lnTo>
                  <a:pt x="59436" y="34289"/>
                </a:lnTo>
                <a:lnTo>
                  <a:pt x="58674" y="38100"/>
                </a:lnTo>
                <a:lnTo>
                  <a:pt x="59436" y="41148"/>
                </a:lnTo>
                <a:lnTo>
                  <a:pt x="63246" y="42672"/>
                </a:lnTo>
                <a:lnTo>
                  <a:pt x="1312164" y="42672"/>
                </a:lnTo>
                <a:lnTo>
                  <a:pt x="1315974" y="41148"/>
                </a:lnTo>
                <a:lnTo>
                  <a:pt x="1317498" y="38100"/>
                </a:lnTo>
                <a:close/>
              </a:path>
              <a:path w="1317625" h="76200">
                <a:moveTo>
                  <a:pt x="76200" y="76200"/>
                </a:moveTo>
                <a:lnTo>
                  <a:pt x="76200" y="42672"/>
                </a:lnTo>
                <a:lnTo>
                  <a:pt x="63246" y="42672"/>
                </a:lnTo>
                <a:lnTo>
                  <a:pt x="59436" y="41148"/>
                </a:lnTo>
                <a:lnTo>
                  <a:pt x="58674" y="38100"/>
                </a:lnTo>
                <a:lnTo>
                  <a:pt x="58674" y="67437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6197727" y="5072126"/>
            <a:ext cx="1317625" cy="76200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1266456" y="38100"/>
                </a:moveTo>
                <a:lnTo>
                  <a:pt x="1262934" y="32765"/>
                </a:lnTo>
                <a:lnTo>
                  <a:pt x="4572" y="32765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1263437" y="42672"/>
                </a:lnTo>
                <a:lnTo>
                  <a:pt x="1266456" y="38100"/>
                </a:lnTo>
                <a:close/>
              </a:path>
              <a:path w="1317625" h="76200">
                <a:moveTo>
                  <a:pt x="1317498" y="38100"/>
                </a:moveTo>
                <a:lnTo>
                  <a:pt x="1241298" y="0"/>
                </a:lnTo>
                <a:lnTo>
                  <a:pt x="1262934" y="32765"/>
                </a:lnTo>
                <a:lnTo>
                  <a:pt x="1266456" y="32765"/>
                </a:lnTo>
                <a:lnTo>
                  <a:pt x="1270266" y="34289"/>
                </a:lnTo>
                <a:lnTo>
                  <a:pt x="1271790" y="38100"/>
                </a:lnTo>
                <a:lnTo>
                  <a:pt x="1271790" y="60953"/>
                </a:lnTo>
                <a:lnTo>
                  <a:pt x="1317498" y="38100"/>
                </a:lnTo>
                <a:close/>
              </a:path>
              <a:path w="1317625" h="76200">
                <a:moveTo>
                  <a:pt x="1271790" y="60953"/>
                </a:moveTo>
                <a:lnTo>
                  <a:pt x="1271790" y="38100"/>
                </a:lnTo>
                <a:lnTo>
                  <a:pt x="1270266" y="41148"/>
                </a:lnTo>
                <a:lnTo>
                  <a:pt x="1266456" y="42672"/>
                </a:lnTo>
                <a:lnTo>
                  <a:pt x="1263437" y="42672"/>
                </a:lnTo>
                <a:lnTo>
                  <a:pt x="1241298" y="76200"/>
                </a:lnTo>
                <a:lnTo>
                  <a:pt x="1271790" y="60953"/>
                </a:lnTo>
                <a:close/>
              </a:path>
              <a:path w="1317625" h="76200">
                <a:moveTo>
                  <a:pt x="1271790" y="38100"/>
                </a:moveTo>
                <a:lnTo>
                  <a:pt x="1270266" y="34289"/>
                </a:lnTo>
                <a:lnTo>
                  <a:pt x="1266456" y="32765"/>
                </a:lnTo>
                <a:lnTo>
                  <a:pt x="1262934" y="32765"/>
                </a:lnTo>
                <a:lnTo>
                  <a:pt x="1266456" y="38100"/>
                </a:lnTo>
                <a:lnTo>
                  <a:pt x="1266456" y="42672"/>
                </a:lnTo>
                <a:lnTo>
                  <a:pt x="1270266" y="41148"/>
                </a:lnTo>
                <a:lnTo>
                  <a:pt x="1271790" y="38100"/>
                </a:lnTo>
                <a:close/>
              </a:path>
              <a:path w="1317625" h="76200">
                <a:moveTo>
                  <a:pt x="1266456" y="42672"/>
                </a:moveTo>
                <a:lnTo>
                  <a:pt x="1266456" y="38100"/>
                </a:lnTo>
                <a:lnTo>
                  <a:pt x="1263437" y="42672"/>
                </a:lnTo>
                <a:lnTo>
                  <a:pt x="1266456" y="426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592967" y="4474717"/>
            <a:ext cx="219075" cy="665480"/>
          </a:xfrm>
          <a:custGeom>
            <a:avLst/>
            <a:gdLst/>
            <a:ahLst/>
            <a:cxnLst/>
            <a:rect l="l" t="t" r="r" b="b"/>
            <a:pathLst>
              <a:path w="219075" h="665479">
                <a:moveTo>
                  <a:pt x="168344" y="39486"/>
                </a:moveTo>
                <a:lnTo>
                  <a:pt x="167639" y="34290"/>
                </a:lnTo>
                <a:lnTo>
                  <a:pt x="161938" y="32815"/>
                </a:lnTo>
                <a:lnTo>
                  <a:pt x="145541" y="47244"/>
                </a:lnTo>
                <a:lnTo>
                  <a:pt x="110489" y="82296"/>
                </a:lnTo>
                <a:lnTo>
                  <a:pt x="77724" y="117348"/>
                </a:lnTo>
                <a:lnTo>
                  <a:pt x="49444" y="153066"/>
                </a:lnTo>
                <a:lnTo>
                  <a:pt x="16859" y="209638"/>
                </a:lnTo>
                <a:lnTo>
                  <a:pt x="481" y="270774"/>
                </a:lnTo>
                <a:lnTo>
                  <a:pt x="0" y="302514"/>
                </a:lnTo>
                <a:lnTo>
                  <a:pt x="7214" y="344435"/>
                </a:lnTo>
                <a:lnTo>
                  <a:pt x="9143" y="350051"/>
                </a:lnTo>
                <a:lnTo>
                  <a:pt x="9143" y="301752"/>
                </a:lnTo>
                <a:lnTo>
                  <a:pt x="10822" y="264344"/>
                </a:lnTo>
                <a:lnTo>
                  <a:pt x="31925" y="200017"/>
                </a:lnTo>
                <a:lnTo>
                  <a:pt x="66236" y="146265"/>
                </a:lnTo>
                <a:lnTo>
                  <a:pt x="98396" y="107973"/>
                </a:lnTo>
                <a:lnTo>
                  <a:pt x="134112" y="71628"/>
                </a:lnTo>
                <a:lnTo>
                  <a:pt x="152400" y="54102"/>
                </a:lnTo>
                <a:lnTo>
                  <a:pt x="168344" y="39486"/>
                </a:lnTo>
                <a:close/>
              </a:path>
              <a:path w="219075" h="665479">
                <a:moveTo>
                  <a:pt x="218693" y="661416"/>
                </a:moveTo>
                <a:lnTo>
                  <a:pt x="217931" y="657606"/>
                </a:lnTo>
                <a:lnTo>
                  <a:pt x="198119" y="633222"/>
                </a:lnTo>
                <a:lnTo>
                  <a:pt x="160019" y="584454"/>
                </a:lnTo>
                <a:lnTo>
                  <a:pt x="135155" y="553062"/>
                </a:lnTo>
                <a:lnTo>
                  <a:pt x="111294" y="520879"/>
                </a:lnTo>
                <a:lnTo>
                  <a:pt x="88555" y="487908"/>
                </a:lnTo>
                <a:lnTo>
                  <a:pt x="67055" y="454152"/>
                </a:lnTo>
                <a:lnTo>
                  <a:pt x="46750" y="417832"/>
                </a:lnTo>
                <a:lnTo>
                  <a:pt x="29532" y="381061"/>
                </a:lnTo>
                <a:lnTo>
                  <a:pt x="16597" y="342736"/>
                </a:lnTo>
                <a:lnTo>
                  <a:pt x="9143" y="301752"/>
                </a:lnTo>
                <a:lnTo>
                  <a:pt x="9143" y="350051"/>
                </a:lnTo>
                <a:lnTo>
                  <a:pt x="21986" y="387434"/>
                </a:lnTo>
                <a:lnTo>
                  <a:pt x="42807" y="430857"/>
                </a:lnTo>
                <a:lnTo>
                  <a:pt x="68169" y="474050"/>
                </a:lnTo>
                <a:lnTo>
                  <a:pt x="96563" y="516361"/>
                </a:lnTo>
                <a:lnTo>
                  <a:pt x="126483" y="557134"/>
                </a:lnTo>
                <a:lnTo>
                  <a:pt x="156420" y="595718"/>
                </a:lnTo>
                <a:lnTo>
                  <a:pt x="210312" y="663702"/>
                </a:lnTo>
                <a:lnTo>
                  <a:pt x="213360" y="665226"/>
                </a:lnTo>
                <a:lnTo>
                  <a:pt x="217169" y="664464"/>
                </a:lnTo>
                <a:lnTo>
                  <a:pt x="218693" y="661416"/>
                </a:lnTo>
                <a:close/>
              </a:path>
              <a:path w="219075" h="665479">
                <a:moveTo>
                  <a:pt x="204977" y="0"/>
                </a:moveTo>
                <a:lnTo>
                  <a:pt x="123443" y="22860"/>
                </a:lnTo>
                <a:lnTo>
                  <a:pt x="161938" y="32815"/>
                </a:lnTo>
                <a:lnTo>
                  <a:pt x="164591" y="30480"/>
                </a:lnTo>
                <a:lnTo>
                  <a:pt x="167639" y="28956"/>
                </a:lnTo>
                <a:lnTo>
                  <a:pt x="170687" y="30480"/>
                </a:lnTo>
                <a:lnTo>
                  <a:pt x="172212" y="34290"/>
                </a:lnTo>
                <a:lnTo>
                  <a:pt x="172212" y="68008"/>
                </a:lnTo>
                <a:lnTo>
                  <a:pt x="173736" y="79248"/>
                </a:lnTo>
                <a:lnTo>
                  <a:pt x="204977" y="0"/>
                </a:lnTo>
                <a:close/>
              </a:path>
              <a:path w="219075" h="665479">
                <a:moveTo>
                  <a:pt x="172212" y="34290"/>
                </a:moveTo>
                <a:lnTo>
                  <a:pt x="170687" y="30480"/>
                </a:lnTo>
                <a:lnTo>
                  <a:pt x="167639" y="28956"/>
                </a:lnTo>
                <a:lnTo>
                  <a:pt x="164591" y="30480"/>
                </a:lnTo>
                <a:lnTo>
                  <a:pt x="161938" y="32815"/>
                </a:lnTo>
                <a:lnTo>
                  <a:pt x="167639" y="34290"/>
                </a:lnTo>
                <a:lnTo>
                  <a:pt x="168344" y="39486"/>
                </a:lnTo>
                <a:lnTo>
                  <a:pt x="170687" y="37337"/>
                </a:lnTo>
                <a:lnTo>
                  <a:pt x="172212" y="34290"/>
                </a:lnTo>
                <a:close/>
              </a:path>
              <a:path w="219075" h="665479">
                <a:moveTo>
                  <a:pt x="172212" y="68008"/>
                </a:moveTo>
                <a:lnTo>
                  <a:pt x="172212" y="34290"/>
                </a:lnTo>
                <a:lnTo>
                  <a:pt x="170687" y="37337"/>
                </a:lnTo>
                <a:lnTo>
                  <a:pt x="168344" y="39486"/>
                </a:lnTo>
                <a:lnTo>
                  <a:pt x="172212" y="680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8870822" y="4490720"/>
            <a:ext cx="236854" cy="665480"/>
          </a:xfrm>
          <a:custGeom>
            <a:avLst/>
            <a:gdLst/>
            <a:ahLst/>
            <a:cxnLst/>
            <a:rect l="l" t="t" r="r" b="b"/>
            <a:pathLst>
              <a:path w="236854" h="665479">
                <a:moveTo>
                  <a:pt x="79248" y="32003"/>
                </a:moveTo>
                <a:lnTo>
                  <a:pt x="0" y="0"/>
                </a:lnTo>
                <a:lnTo>
                  <a:pt x="22098" y="82295"/>
                </a:lnTo>
                <a:lnTo>
                  <a:pt x="28968" y="57415"/>
                </a:lnTo>
                <a:lnTo>
                  <a:pt x="28968" y="38100"/>
                </a:lnTo>
                <a:lnTo>
                  <a:pt x="30492" y="34289"/>
                </a:lnTo>
                <a:lnTo>
                  <a:pt x="34302" y="33527"/>
                </a:lnTo>
                <a:lnTo>
                  <a:pt x="37350" y="35051"/>
                </a:lnTo>
                <a:lnTo>
                  <a:pt x="39400" y="37408"/>
                </a:lnTo>
                <a:lnTo>
                  <a:pt x="79248" y="32003"/>
                </a:lnTo>
                <a:close/>
              </a:path>
              <a:path w="236854" h="665479">
                <a:moveTo>
                  <a:pt x="227075" y="427697"/>
                </a:moveTo>
                <a:lnTo>
                  <a:pt x="227075" y="369569"/>
                </a:lnTo>
                <a:lnTo>
                  <a:pt x="223702" y="405332"/>
                </a:lnTo>
                <a:lnTo>
                  <a:pt x="212450" y="439821"/>
                </a:lnTo>
                <a:lnTo>
                  <a:pt x="174498" y="501395"/>
                </a:lnTo>
                <a:lnTo>
                  <a:pt x="143122" y="538110"/>
                </a:lnTo>
                <a:lnTo>
                  <a:pt x="89153" y="589026"/>
                </a:lnTo>
                <a:lnTo>
                  <a:pt x="48780" y="623315"/>
                </a:lnTo>
                <a:lnTo>
                  <a:pt x="6870" y="656843"/>
                </a:lnTo>
                <a:lnTo>
                  <a:pt x="5346" y="659891"/>
                </a:lnTo>
                <a:lnTo>
                  <a:pt x="6108" y="663701"/>
                </a:lnTo>
                <a:lnTo>
                  <a:pt x="9156" y="665226"/>
                </a:lnTo>
                <a:lnTo>
                  <a:pt x="12953" y="664463"/>
                </a:lnTo>
                <a:lnTo>
                  <a:pt x="75450" y="613409"/>
                </a:lnTo>
                <a:lnTo>
                  <a:pt x="116436" y="577275"/>
                </a:lnTo>
                <a:lnTo>
                  <a:pt x="156400" y="537558"/>
                </a:lnTo>
                <a:lnTo>
                  <a:pt x="196445" y="488125"/>
                </a:lnTo>
                <a:lnTo>
                  <a:pt x="214572" y="457490"/>
                </a:lnTo>
                <a:lnTo>
                  <a:pt x="227075" y="427697"/>
                </a:lnTo>
                <a:close/>
              </a:path>
              <a:path w="236854" h="665479">
                <a:moveTo>
                  <a:pt x="39400" y="37408"/>
                </a:moveTo>
                <a:lnTo>
                  <a:pt x="37350" y="35051"/>
                </a:lnTo>
                <a:lnTo>
                  <a:pt x="34302" y="33527"/>
                </a:lnTo>
                <a:lnTo>
                  <a:pt x="30492" y="34289"/>
                </a:lnTo>
                <a:lnTo>
                  <a:pt x="28968" y="38100"/>
                </a:lnTo>
                <a:lnTo>
                  <a:pt x="30492" y="41147"/>
                </a:lnTo>
                <a:lnTo>
                  <a:pt x="32736" y="43769"/>
                </a:lnTo>
                <a:lnTo>
                  <a:pt x="34302" y="38100"/>
                </a:lnTo>
                <a:lnTo>
                  <a:pt x="39400" y="37408"/>
                </a:lnTo>
                <a:close/>
              </a:path>
              <a:path w="236854" h="665479">
                <a:moveTo>
                  <a:pt x="32736" y="43769"/>
                </a:moveTo>
                <a:lnTo>
                  <a:pt x="30492" y="41147"/>
                </a:lnTo>
                <a:lnTo>
                  <a:pt x="28968" y="38100"/>
                </a:lnTo>
                <a:lnTo>
                  <a:pt x="28968" y="57415"/>
                </a:lnTo>
                <a:lnTo>
                  <a:pt x="32736" y="43769"/>
                </a:lnTo>
                <a:close/>
              </a:path>
              <a:path w="236854" h="665479">
                <a:moveTo>
                  <a:pt x="236232" y="390143"/>
                </a:moveTo>
                <a:lnTo>
                  <a:pt x="235599" y="348397"/>
                </a:lnTo>
                <a:lnTo>
                  <a:pt x="225243" y="305446"/>
                </a:lnTo>
                <a:lnTo>
                  <a:pt x="207031" y="262051"/>
                </a:lnTo>
                <a:lnTo>
                  <a:pt x="182829" y="218976"/>
                </a:lnTo>
                <a:lnTo>
                  <a:pt x="154507" y="176981"/>
                </a:lnTo>
                <a:lnTo>
                  <a:pt x="123930" y="136829"/>
                </a:lnTo>
                <a:lnTo>
                  <a:pt x="92967" y="99282"/>
                </a:lnTo>
                <a:lnTo>
                  <a:pt x="39400" y="37408"/>
                </a:lnTo>
                <a:lnTo>
                  <a:pt x="34302" y="38100"/>
                </a:lnTo>
                <a:lnTo>
                  <a:pt x="32736" y="43769"/>
                </a:lnTo>
                <a:lnTo>
                  <a:pt x="39624" y="51815"/>
                </a:lnTo>
                <a:lnTo>
                  <a:pt x="60972" y="76200"/>
                </a:lnTo>
                <a:lnTo>
                  <a:pt x="101358" y="124205"/>
                </a:lnTo>
                <a:lnTo>
                  <a:pt x="135724" y="167836"/>
                </a:lnTo>
                <a:lnTo>
                  <a:pt x="164398" y="208381"/>
                </a:lnTo>
                <a:lnTo>
                  <a:pt x="196179" y="262136"/>
                </a:lnTo>
                <a:lnTo>
                  <a:pt x="223019" y="332473"/>
                </a:lnTo>
                <a:lnTo>
                  <a:pt x="227075" y="369569"/>
                </a:lnTo>
                <a:lnTo>
                  <a:pt x="227075" y="427697"/>
                </a:lnTo>
                <a:lnTo>
                  <a:pt x="228290" y="424804"/>
                </a:lnTo>
                <a:lnTo>
                  <a:pt x="236232" y="3901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 txBox="1"/>
          <p:nvPr/>
        </p:nvSpPr>
        <p:spPr>
          <a:xfrm>
            <a:off x="6235331" y="1164844"/>
            <a:ext cx="1118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Datagram  (e.g.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UDP)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7522095" y="2452370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7521333" y="2452370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40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 txBox="1"/>
          <p:nvPr/>
        </p:nvSpPr>
        <p:spPr>
          <a:xfrm>
            <a:off x="7950581" y="2443480"/>
            <a:ext cx="4787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bind()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8142351" y="2109470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2"/>
                </a:moveTo>
                <a:lnTo>
                  <a:pt x="0" y="263652"/>
                </a:lnTo>
                <a:lnTo>
                  <a:pt x="33540" y="330733"/>
                </a:lnTo>
                <a:lnTo>
                  <a:pt x="33540" y="276606"/>
                </a:lnTo>
                <a:lnTo>
                  <a:pt x="35064" y="279654"/>
                </a:lnTo>
                <a:lnTo>
                  <a:pt x="38100" y="281178"/>
                </a:lnTo>
                <a:lnTo>
                  <a:pt x="41922" y="279654"/>
                </a:lnTo>
                <a:lnTo>
                  <a:pt x="42672" y="276606"/>
                </a:lnTo>
                <a:lnTo>
                  <a:pt x="42672" y="330708"/>
                </a:lnTo>
                <a:lnTo>
                  <a:pt x="76200" y="263652"/>
                </a:lnTo>
                <a:close/>
              </a:path>
              <a:path w="76200" h="340360">
                <a:moveTo>
                  <a:pt x="42672" y="263652"/>
                </a:moveTo>
                <a:lnTo>
                  <a:pt x="42672" y="4572"/>
                </a:lnTo>
                <a:lnTo>
                  <a:pt x="41922" y="1524"/>
                </a:lnTo>
                <a:lnTo>
                  <a:pt x="38100" y="0"/>
                </a:lnTo>
                <a:lnTo>
                  <a:pt x="35064" y="1524"/>
                </a:lnTo>
                <a:lnTo>
                  <a:pt x="33540" y="4572"/>
                </a:lnTo>
                <a:lnTo>
                  <a:pt x="33540" y="263652"/>
                </a:lnTo>
                <a:lnTo>
                  <a:pt x="42672" y="263652"/>
                </a:lnTo>
                <a:close/>
              </a:path>
              <a:path w="76200" h="340360">
                <a:moveTo>
                  <a:pt x="42672" y="330708"/>
                </a:moveTo>
                <a:lnTo>
                  <a:pt x="42672" y="276606"/>
                </a:lnTo>
                <a:lnTo>
                  <a:pt x="41922" y="279654"/>
                </a:lnTo>
                <a:lnTo>
                  <a:pt x="38100" y="281178"/>
                </a:lnTo>
                <a:lnTo>
                  <a:pt x="35064" y="279654"/>
                </a:lnTo>
                <a:lnTo>
                  <a:pt x="33540" y="276606"/>
                </a:lnTo>
                <a:lnTo>
                  <a:pt x="33540" y="330733"/>
                </a:lnTo>
                <a:lnTo>
                  <a:pt x="38100" y="339852"/>
                </a:lnTo>
                <a:lnTo>
                  <a:pt x="42672" y="3307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0859" y="2093467"/>
            <a:ext cx="4015104" cy="337185"/>
          </a:xfrm>
          <a:custGeom>
            <a:avLst/>
            <a:gdLst/>
            <a:ahLst/>
            <a:cxnLst/>
            <a:rect l="l" t="t" r="r" b="b"/>
            <a:pathLst>
              <a:path w="4015104" h="337185">
                <a:moveTo>
                  <a:pt x="4014978" y="280415"/>
                </a:moveTo>
                <a:lnTo>
                  <a:pt x="4014978" y="56387"/>
                </a:lnTo>
                <a:lnTo>
                  <a:pt x="4010572" y="34397"/>
                </a:lnTo>
                <a:lnTo>
                  <a:pt x="3998594" y="16478"/>
                </a:lnTo>
                <a:lnTo>
                  <a:pt x="3980902" y="4417"/>
                </a:lnTo>
                <a:lnTo>
                  <a:pt x="3959352" y="0"/>
                </a:lnTo>
                <a:lnTo>
                  <a:pt x="56387" y="0"/>
                </a:lnTo>
                <a:lnTo>
                  <a:pt x="34397" y="4417"/>
                </a:lnTo>
                <a:lnTo>
                  <a:pt x="16478" y="16478"/>
                </a:lnTo>
                <a:lnTo>
                  <a:pt x="4417" y="34397"/>
                </a:lnTo>
                <a:lnTo>
                  <a:pt x="0" y="56388"/>
                </a:lnTo>
                <a:lnTo>
                  <a:pt x="0" y="280416"/>
                </a:lnTo>
                <a:lnTo>
                  <a:pt x="4417" y="302406"/>
                </a:lnTo>
                <a:lnTo>
                  <a:pt x="16478" y="320325"/>
                </a:lnTo>
                <a:lnTo>
                  <a:pt x="34397" y="332386"/>
                </a:lnTo>
                <a:lnTo>
                  <a:pt x="56387" y="336804"/>
                </a:lnTo>
                <a:lnTo>
                  <a:pt x="3959352" y="336804"/>
                </a:lnTo>
                <a:lnTo>
                  <a:pt x="3980902" y="332386"/>
                </a:lnTo>
                <a:lnTo>
                  <a:pt x="3998594" y="320325"/>
                </a:lnTo>
                <a:lnTo>
                  <a:pt x="4010572" y="302406"/>
                </a:lnTo>
                <a:lnTo>
                  <a:pt x="4014978" y="280415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88477" y="261873"/>
            <a:ext cx="574167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40" dirty="0"/>
              <a:t>Socket </a:t>
            </a:r>
            <a:r>
              <a:rPr sz="4200" spc="-220" dirty="0"/>
              <a:t>close </a:t>
            </a:r>
            <a:r>
              <a:rPr sz="4200" spc="-310" dirty="0"/>
              <a:t>in </a:t>
            </a:r>
            <a:r>
              <a:rPr sz="4200" spc="-215" dirty="0"/>
              <a:t>C:</a:t>
            </a:r>
            <a:r>
              <a:rPr sz="4200" spc="155" dirty="0"/>
              <a:t> </a:t>
            </a:r>
            <a:r>
              <a:rPr sz="3600" spc="-5" dirty="0">
                <a:latin typeface="Courier New"/>
                <a:cs typeface="Courier New"/>
              </a:rPr>
              <a:t>close()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1453" y="1250949"/>
            <a:ext cx="8348847" cy="459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spc="5" dirty="0">
                <a:latin typeface="Arial"/>
                <a:cs typeface="Arial"/>
              </a:rPr>
              <a:t>When </a:t>
            </a:r>
            <a:r>
              <a:rPr sz="2800" spc="-25" dirty="0">
                <a:latin typeface="Arial"/>
                <a:cs typeface="Arial"/>
              </a:rPr>
              <a:t>finished </a:t>
            </a:r>
            <a:r>
              <a:rPr sz="2800" spc="-80" dirty="0">
                <a:latin typeface="Arial"/>
                <a:cs typeface="Arial"/>
              </a:rPr>
              <a:t>using </a:t>
            </a:r>
            <a:r>
              <a:rPr sz="2800" spc="-250" dirty="0">
                <a:latin typeface="Arial"/>
                <a:cs typeface="Arial"/>
              </a:rPr>
              <a:t>a </a:t>
            </a:r>
            <a:r>
              <a:rPr sz="2800" spc="-95" dirty="0">
                <a:latin typeface="Arial"/>
                <a:cs typeface="Arial"/>
              </a:rPr>
              <a:t>socket,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-100" dirty="0">
                <a:latin typeface="Arial"/>
                <a:cs typeface="Arial"/>
              </a:rPr>
              <a:t>socket </a:t>
            </a:r>
            <a:r>
              <a:rPr sz="2800" spc="-60" dirty="0">
                <a:latin typeface="Arial"/>
                <a:cs typeface="Arial"/>
              </a:rPr>
              <a:t>should </a:t>
            </a:r>
            <a:r>
              <a:rPr sz="2800" spc="-145" dirty="0">
                <a:latin typeface="Arial"/>
                <a:cs typeface="Arial"/>
              </a:rPr>
              <a:t>be</a:t>
            </a:r>
            <a:r>
              <a:rPr sz="2800" spc="-350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closed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9A6500"/>
              </a:buClr>
              <a:buFont typeface="Wingdings"/>
              <a:buChar char=""/>
            </a:pPr>
            <a:endParaRPr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b="1" u="sng" dirty="0">
                <a:solidFill>
                  <a:srgbClr val="CC9A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status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=</a:t>
            </a:r>
            <a:r>
              <a:rPr sz="2800" b="1" u="sng" spc="-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close(</a:t>
            </a:r>
            <a:r>
              <a:rPr sz="2800" b="1" u="sng" dirty="0">
                <a:solidFill>
                  <a:srgbClr val="9A65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sockid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);</a:t>
            </a:r>
            <a:endParaRPr sz="2800" dirty="0">
              <a:latin typeface="Courier New"/>
              <a:cs typeface="Courier New"/>
            </a:endParaRPr>
          </a:p>
          <a:p>
            <a:pPr marL="681990" lvl="1" indent="-325120">
              <a:lnSpc>
                <a:spcPct val="100000"/>
              </a:lnSpc>
              <a:spcBef>
                <a:spcPts val="575"/>
              </a:spcBef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160" dirty="0">
                <a:solidFill>
                  <a:srgbClr val="9A6500"/>
                </a:solidFill>
                <a:latin typeface="Arial"/>
                <a:cs typeface="Arial"/>
              </a:rPr>
              <a:t>sockid</a:t>
            </a:r>
            <a:r>
              <a:rPr sz="2800" spc="-160" dirty="0">
                <a:latin typeface="Arial"/>
                <a:cs typeface="Arial"/>
              </a:rPr>
              <a:t>: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30" dirty="0">
                <a:latin typeface="Arial"/>
                <a:cs typeface="Arial"/>
              </a:rPr>
              <a:t>file </a:t>
            </a:r>
            <a:r>
              <a:rPr sz="2800" spc="-40" dirty="0">
                <a:latin typeface="Arial"/>
                <a:cs typeface="Arial"/>
              </a:rPr>
              <a:t>descriptor </a:t>
            </a:r>
            <a:r>
              <a:rPr sz="2800" spc="-85" dirty="0">
                <a:latin typeface="Arial"/>
                <a:cs typeface="Arial"/>
              </a:rPr>
              <a:t>(socket </a:t>
            </a:r>
            <a:r>
              <a:rPr sz="2800" spc="-60" dirty="0">
                <a:latin typeface="Arial"/>
                <a:cs typeface="Arial"/>
              </a:rPr>
              <a:t>being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closed)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175" dirty="0">
                <a:solidFill>
                  <a:srgbClr val="CC9A00"/>
                </a:solidFill>
                <a:latin typeface="Arial"/>
                <a:cs typeface="Arial"/>
              </a:rPr>
              <a:t>status</a:t>
            </a:r>
            <a:r>
              <a:rPr sz="2800" spc="-175" dirty="0">
                <a:latin typeface="Arial"/>
                <a:cs typeface="Arial"/>
              </a:rPr>
              <a:t>: </a:t>
            </a:r>
            <a:r>
              <a:rPr sz="2800" spc="-114" dirty="0">
                <a:latin typeface="Arial"/>
                <a:cs typeface="Arial"/>
              </a:rPr>
              <a:t>0 </a:t>
            </a:r>
            <a:r>
              <a:rPr sz="2800" spc="95" dirty="0">
                <a:latin typeface="Arial"/>
                <a:cs typeface="Arial"/>
              </a:rPr>
              <a:t>if </a:t>
            </a:r>
            <a:r>
              <a:rPr sz="2800" spc="-110" dirty="0">
                <a:latin typeface="Arial"/>
                <a:cs typeface="Arial"/>
              </a:rPr>
              <a:t>successful, </a:t>
            </a:r>
            <a:r>
              <a:rPr sz="2800" spc="-15" dirty="0">
                <a:latin typeface="Arial"/>
                <a:cs typeface="Arial"/>
              </a:rPr>
              <a:t>-1 </a:t>
            </a:r>
            <a:r>
              <a:rPr sz="2800" spc="95" dirty="0">
                <a:latin typeface="Arial"/>
                <a:cs typeface="Arial"/>
              </a:rPr>
              <a:t>if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error</a:t>
            </a: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9A6500"/>
              </a:buClr>
              <a:buFont typeface="Wingdings"/>
              <a:buChar char=""/>
            </a:pPr>
            <a:endParaRPr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spc="-70" dirty="0">
                <a:latin typeface="Arial"/>
                <a:cs typeface="Arial"/>
              </a:rPr>
              <a:t>Closing </a:t>
            </a:r>
            <a:r>
              <a:rPr sz="2800" spc="-250" dirty="0">
                <a:latin typeface="Arial"/>
                <a:cs typeface="Arial"/>
              </a:rPr>
              <a:t>a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socket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9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145" dirty="0">
                <a:latin typeface="Arial"/>
                <a:cs typeface="Arial"/>
              </a:rPr>
              <a:t>closes </a:t>
            </a:r>
            <a:r>
              <a:rPr sz="2800" spc="-229" dirty="0">
                <a:latin typeface="Arial"/>
                <a:cs typeface="Arial"/>
              </a:rPr>
              <a:t>a </a:t>
            </a:r>
            <a:r>
              <a:rPr sz="2800" spc="-40" dirty="0">
                <a:latin typeface="Arial"/>
                <a:cs typeface="Arial"/>
              </a:rPr>
              <a:t>connection </a:t>
            </a:r>
            <a:r>
              <a:rPr sz="2800" spc="10" dirty="0">
                <a:latin typeface="Arial"/>
                <a:cs typeface="Arial"/>
              </a:rPr>
              <a:t>(for </a:t>
            </a:r>
            <a:r>
              <a:rPr sz="2800" spc="-95" dirty="0">
                <a:latin typeface="Arial"/>
                <a:cs typeface="Arial"/>
              </a:rPr>
              <a:t>stream</a:t>
            </a:r>
            <a:r>
              <a:rPr sz="2800" spc="-220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socket)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8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100" dirty="0">
                <a:latin typeface="Arial"/>
                <a:cs typeface="Arial"/>
              </a:rPr>
              <a:t>frees </a:t>
            </a:r>
            <a:r>
              <a:rPr sz="2800" spc="-55" dirty="0">
                <a:latin typeface="Arial"/>
                <a:cs typeface="Arial"/>
              </a:rPr>
              <a:t>up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5" dirty="0">
                <a:latin typeface="Arial"/>
                <a:cs typeface="Arial"/>
              </a:rPr>
              <a:t>port </a:t>
            </a:r>
            <a:r>
              <a:rPr sz="2800" spc="-145" dirty="0">
                <a:latin typeface="Arial"/>
                <a:cs typeface="Arial"/>
              </a:rPr>
              <a:t>used </a:t>
            </a:r>
            <a:r>
              <a:rPr sz="2800" spc="-15" dirty="0">
                <a:latin typeface="Arial"/>
                <a:cs typeface="Arial"/>
              </a:rPr>
              <a:t>by </a:t>
            </a:r>
            <a:r>
              <a:rPr sz="2800" spc="-25" dirty="0">
                <a:latin typeface="Arial"/>
                <a:cs typeface="Arial"/>
              </a:rPr>
              <a:t>the</a:t>
            </a:r>
            <a:r>
              <a:rPr sz="2800" spc="-90" dirty="0">
                <a:latin typeface="Arial"/>
                <a:cs typeface="Arial"/>
              </a:rPr>
              <a:t> socket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68930" y="261873"/>
            <a:ext cx="437896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54" dirty="0"/>
              <a:t>Specifying</a:t>
            </a:r>
            <a:r>
              <a:rPr sz="4200" spc="-5" dirty="0"/>
              <a:t> </a:t>
            </a:r>
            <a:r>
              <a:rPr sz="4200" spc="-265" dirty="0"/>
              <a:t>Addresses</a:t>
            </a:r>
            <a:endParaRPr sz="4200"/>
          </a:p>
        </p:txBody>
      </p:sp>
      <p:sp>
        <p:nvSpPr>
          <p:cNvPr id="4" name="object 4"/>
          <p:cNvSpPr txBox="1"/>
          <p:nvPr/>
        </p:nvSpPr>
        <p:spPr>
          <a:xfrm>
            <a:off x="401453" y="812999"/>
            <a:ext cx="7828915" cy="5191806"/>
          </a:xfrm>
          <a:prstGeom prst="rect">
            <a:avLst/>
          </a:prstGeom>
        </p:spPr>
        <p:txBody>
          <a:bodyPr vert="horz" wrap="square" lIns="0" tIns="2063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62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400" spc="-114" dirty="0">
                <a:latin typeface="Arial"/>
                <a:cs typeface="Arial"/>
              </a:rPr>
              <a:t>Socket </a:t>
            </a:r>
            <a:r>
              <a:rPr sz="2400" spc="30" dirty="0">
                <a:latin typeface="Arial"/>
                <a:cs typeface="Arial"/>
              </a:rPr>
              <a:t>API </a:t>
            </a:r>
            <a:r>
              <a:rPr sz="2400" spc="-80" dirty="0">
                <a:latin typeface="Arial"/>
                <a:cs typeface="Arial"/>
              </a:rPr>
              <a:t>defines </a:t>
            </a:r>
            <a:r>
              <a:rPr sz="2400" spc="-250" dirty="0">
                <a:latin typeface="Arial"/>
                <a:cs typeface="Arial"/>
              </a:rPr>
              <a:t>a </a:t>
            </a:r>
            <a:r>
              <a:rPr sz="2400" b="1" spc="-155" dirty="0">
                <a:solidFill>
                  <a:srgbClr val="9A6500"/>
                </a:solidFill>
                <a:latin typeface="Arial"/>
                <a:cs typeface="Arial"/>
              </a:rPr>
              <a:t>generic </a:t>
            </a:r>
            <a:r>
              <a:rPr sz="2400" spc="-114" dirty="0">
                <a:latin typeface="Arial"/>
                <a:cs typeface="Arial"/>
              </a:rPr>
              <a:t>data </a:t>
            </a:r>
            <a:r>
              <a:rPr sz="2400" spc="-40" dirty="0">
                <a:latin typeface="Arial"/>
                <a:cs typeface="Arial"/>
              </a:rPr>
              <a:t>type </a:t>
            </a:r>
            <a:r>
              <a:rPr sz="2400" spc="25" dirty="0">
                <a:latin typeface="Arial"/>
                <a:cs typeface="Arial"/>
              </a:rPr>
              <a:t>for</a:t>
            </a:r>
            <a:r>
              <a:rPr sz="2400" spc="-155" dirty="0">
                <a:latin typeface="Arial"/>
                <a:cs typeface="Arial"/>
              </a:rPr>
              <a:t> </a:t>
            </a:r>
            <a:r>
              <a:rPr sz="2400" spc="-175" dirty="0">
                <a:latin typeface="Arial"/>
                <a:cs typeface="Arial"/>
              </a:rPr>
              <a:t>addresses:</a:t>
            </a:r>
            <a:endParaRPr sz="2400" dirty="0">
              <a:latin typeface="Arial"/>
              <a:cs typeface="Arial"/>
            </a:endParaRPr>
          </a:p>
          <a:p>
            <a:pPr marL="876300">
              <a:lnSpc>
                <a:spcPct val="100000"/>
              </a:lnSpc>
              <a:spcBef>
                <a:spcPts val="1110"/>
              </a:spcBef>
            </a:pPr>
            <a:r>
              <a:rPr sz="2400" b="1" dirty="0">
                <a:latin typeface="Courier New"/>
                <a:cs typeface="Courier New"/>
              </a:rPr>
              <a:t>struct </a:t>
            </a:r>
            <a:r>
              <a:rPr sz="2400" b="1" dirty="0">
                <a:solidFill>
                  <a:srgbClr val="9A6500"/>
                </a:solidFill>
                <a:latin typeface="Courier New"/>
                <a:cs typeface="Courier New"/>
              </a:rPr>
              <a:t>sockaddr </a:t>
            </a:r>
            <a:r>
              <a:rPr sz="2400" b="1" dirty="0">
                <a:latin typeface="Courier New"/>
                <a:cs typeface="Courier New"/>
              </a:rPr>
              <a:t>{</a:t>
            </a:r>
            <a:endParaRPr sz="2400" dirty="0">
              <a:latin typeface="Courier New"/>
              <a:cs typeface="Courier New"/>
            </a:endParaRPr>
          </a:p>
          <a:p>
            <a:pPr marL="1233805">
              <a:lnSpc>
                <a:spcPct val="100000"/>
              </a:lnSpc>
              <a:spcBef>
                <a:spcPts val="425"/>
              </a:spcBef>
            </a:pPr>
            <a:r>
              <a:rPr sz="2400" b="1" dirty="0">
                <a:latin typeface="Courier New"/>
                <a:cs typeface="Courier New"/>
              </a:rPr>
              <a:t>unsigned short sa_family; </a:t>
            </a:r>
            <a:r>
              <a:rPr sz="2400" spc="-40" dirty="0">
                <a:latin typeface="Arial"/>
                <a:cs typeface="Arial"/>
              </a:rPr>
              <a:t>/* </a:t>
            </a:r>
            <a:r>
              <a:rPr sz="2400" spc="-80" dirty="0">
                <a:latin typeface="Arial"/>
                <a:cs typeface="Arial"/>
              </a:rPr>
              <a:t>Address </a:t>
            </a:r>
            <a:r>
              <a:rPr sz="2400" spc="15" dirty="0">
                <a:latin typeface="Arial"/>
                <a:cs typeface="Arial"/>
              </a:rPr>
              <a:t>family </a:t>
            </a:r>
            <a:r>
              <a:rPr sz="2400" spc="-80" dirty="0">
                <a:latin typeface="Arial"/>
                <a:cs typeface="Arial"/>
              </a:rPr>
              <a:t>(e.g. </a:t>
            </a:r>
            <a:r>
              <a:rPr sz="2400" spc="-25" dirty="0">
                <a:latin typeface="Arial"/>
                <a:cs typeface="Arial"/>
              </a:rPr>
              <a:t>AF_INET)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*/</a:t>
            </a:r>
            <a:endParaRPr sz="2400" dirty="0">
              <a:latin typeface="Arial"/>
              <a:cs typeface="Arial"/>
            </a:endParaRPr>
          </a:p>
          <a:p>
            <a:pPr marL="1233805">
              <a:lnSpc>
                <a:spcPct val="100000"/>
              </a:lnSpc>
              <a:spcBef>
                <a:spcPts val="395"/>
              </a:spcBef>
              <a:tabLst>
                <a:tab pos="4412615" algn="l"/>
              </a:tabLst>
            </a:pPr>
            <a:r>
              <a:rPr sz="2400" b="1" dirty="0">
                <a:latin typeface="Courier New"/>
                <a:cs typeface="Courier New"/>
              </a:rPr>
              <a:t>char</a:t>
            </a:r>
            <a:r>
              <a:rPr sz="2400" b="1" spc="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sa_data[14];	</a:t>
            </a:r>
            <a:r>
              <a:rPr sz="2400" spc="-40" dirty="0">
                <a:latin typeface="Arial"/>
                <a:cs typeface="Arial"/>
              </a:rPr>
              <a:t>/* </a:t>
            </a:r>
            <a:r>
              <a:rPr sz="2400" spc="-25" dirty="0">
                <a:latin typeface="Arial"/>
                <a:cs typeface="Arial"/>
              </a:rPr>
              <a:t>Family-specific </a:t>
            </a:r>
            <a:r>
              <a:rPr sz="2400" spc="-114" dirty="0">
                <a:latin typeface="Arial"/>
                <a:cs typeface="Arial"/>
              </a:rPr>
              <a:t>address </a:t>
            </a:r>
            <a:r>
              <a:rPr sz="2400" spc="10" dirty="0">
                <a:latin typeface="Arial"/>
                <a:cs typeface="Arial"/>
              </a:rPr>
              <a:t>information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*/</a:t>
            </a:r>
            <a:endParaRPr sz="2400" dirty="0">
              <a:latin typeface="Arial"/>
              <a:cs typeface="Arial"/>
            </a:endParaRPr>
          </a:p>
          <a:p>
            <a:pPr marL="876300">
              <a:lnSpc>
                <a:spcPct val="100000"/>
              </a:lnSpc>
              <a:spcBef>
                <a:spcPts val="390"/>
              </a:spcBef>
            </a:pPr>
            <a:r>
              <a:rPr sz="2400" b="1" dirty="0">
                <a:latin typeface="Courier New"/>
                <a:cs typeface="Courier New"/>
              </a:rPr>
              <a:t>}</a:t>
            </a:r>
            <a:endParaRPr sz="2400" dirty="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400" spc="-25" dirty="0">
                <a:latin typeface="Arial"/>
                <a:cs typeface="Arial"/>
              </a:rPr>
              <a:t>Particular </a:t>
            </a:r>
            <a:r>
              <a:rPr sz="2400" spc="10" dirty="0">
                <a:latin typeface="Arial"/>
                <a:cs typeface="Arial"/>
              </a:rPr>
              <a:t>form </a:t>
            </a:r>
            <a:r>
              <a:rPr sz="2400" spc="-15" dirty="0">
                <a:latin typeface="Arial"/>
                <a:cs typeface="Arial"/>
              </a:rPr>
              <a:t>of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spc="-100" dirty="0">
                <a:latin typeface="Arial"/>
                <a:cs typeface="Arial"/>
              </a:rPr>
              <a:t>sockaddr </a:t>
            </a:r>
            <a:r>
              <a:rPr sz="2400" spc="-160" dirty="0">
                <a:latin typeface="Arial"/>
                <a:cs typeface="Arial"/>
              </a:rPr>
              <a:t>used </a:t>
            </a:r>
            <a:r>
              <a:rPr sz="2400" spc="25" dirty="0">
                <a:latin typeface="Arial"/>
                <a:cs typeface="Arial"/>
              </a:rPr>
              <a:t>for </a:t>
            </a:r>
            <a:r>
              <a:rPr sz="2400" b="1" spc="-50" dirty="0">
                <a:solidFill>
                  <a:srgbClr val="A50021"/>
                </a:solidFill>
                <a:latin typeface="Arial"/>
                <a:cs typeface="Arial"/>
              </a:rPr>
              <a:t>TCP/IP</a:t>
            </a:r>
            <a:r>
              <a:rPr sz="2400" b="1" spc="-245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400" spc="-175" dirty="0">
                <a:latin typeface="Arial"/>
                <a:cs typeface="Arial"/>
              </a:rPr>
              <a:t>addresses:</a:t>
            </a:r>
            <a:endParaRPr sz="2400" dirty="0">
              <a:latin typeface="Arial"/>
              <a:cs typeface="Arial"/>
            </a:endParaRPr>
          </a:p>
          <a:p>
            <a:pPr marL="873125">
              <a:lnSpc>
                <a:spcPct val="100000"/>
              </a:lnSpc>
              <a:spcBef>
                <a:spcPts val="550"/>
              </a:spcBef>
            </a:pPr>
            <a:r>
              <a:rPr sz="2400" b="1" dirty="0">
                <a:latin typeface="Courier New"/>
                <a:cs typeface="Courier New"/>
              </a:rPr>
              <a:t>struct in_addr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{</a:t>
            </a:r>
            <a:endParaRPr sz="2400" dirty="0">
              <a:latin typeface="Courier New"/>
              <a:cs typeface="Courier New"/>
            </a:endParaRPr>
          </a:p>
          <a:p>
            <a:pPr marL="1230630">
              <a:lnSpc>
                <a:spcPct val="100000"/>
              </a:lnSpc>
              <a:spcBef>
                <a:spcPts val="430"/>
              </a:spcBef>
              <a:tabLst>
                <a:tab pos="4776470" algn="l"/>
              </a:tabLst>
            </a:pPr>
            <a:r>
              <a:rPr sz="2400" b="1" dirty="0">
                <a:latin typeface="Courier New"/>
                <a:cs typeface="Courier New"/>
              </a:rPr>
              <a:t>unsigned</a:t>
            </a:r>
            <a:r>
              <a:rPr sz="2400" b="1" spc="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long</a:t>
            </a:r>
            <a:r>
              <a:rPr sz="2400" b="1" spc="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s_addr;	</a:t>
            </a:r>
            <a:r>
              <a:rPr sz="2400" spc="-40" dirty="0">
                <a:latin typeface="Arial"/>
                <a:cs typeface="Arial"/>
              </a:rPr>
              <a:t>/* </a:t>
            </a:r>
            <a:r>
              <a:rPr sz="2400" spc="5" dirty="0">
                <a:latin typeface="Arial"/>
                <a:cs typeface="Arial"/>
              </a:rPr>
              <a:t>Internet </a:t>
            </a:r>
            <a:r>
              <a:rPr sz="2400" spc="-114" dirty="0">
                <a:latin typeface="Arial"/>
                <a:cs typeface="Arial"/>
              </a:rPr>
              <a:t>address </a:t>
            </a:r>
            <a:r>
              <a:rPr sz="2400" spc="-70" dirty="0">
                <a:latin typeface="Arial"/>
                <a:cs typeface="Arial"/>
              </a:rPr>
              <a:t>(32 </a:t>
            </a:r>
            <a:r>
              <a:rPr sz="2400" spc="-20" dirty="0">
                <a:latin typeface="Arial"/>
                <a:cs typeface="Arial"/>
              </a:rPr>
              <a:t>bits)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40" dirty="0" smtClean="0">
                <a:latin typeface="Arial"/>
                <a:cs typeface="Arial"/>
              </a:rPr>
              <a:t>*/</a:t>
            </a:r>
            <a:endParaRPr lang="en-GB" sz="2400" spc="-40" dirty="0" smtClean="0">
              <a:latin typeface="Arial"/>
              <a:cs typeface="Arial"/>
            </a:endParaRPr>
          </a:p>
          <a:p>
            <a:pPr marL="1230630">
              <a:lnSpc>
                <a:spcPct val="100000"/>
              </a:lnSpc>
              <a:spcBef>
                <a:spcPts val="430"/>
              </a:spcBef>
              <a:tabLst>
                <a:tab pos="4776470" algn="l"/>
              </a:tabLst>
            </a:pPr>
            <a:r>
              <a:rPr lang="en-GB" sz="2400" spc="-40" dirty="0" smtClean="0">
                <a:latin typeface="Arial"/>
                <a:cs typeface="Arial"/>
              </a:rPr>
              <a:t>}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68930" y="261873"/>
            <a:ext cx="437896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54" dirty="0"/>
              <a:t>Specifying</a:t>
            </a:r>
            <a:r>
              <a:rPr sz="4200" spc="-5" dirty="0"/>
              <a:t> </a:t>
            </a:r>
            <a:r>
              <a:rPr sz="4200" spc="-265" dirty="0"/>
              <a:t>Addresses</a:t>
            </a:r>
            <a:endParaRPr sz="4200"/>
          </a:p>
        </p:txBody>
      </p:sp>
      <p:sp>
        <p:nvSpPr>
          <p:cNvPr id="5" name="object 5"/>
          <p:cNvSpPr txBox="1"/>
          <p:nvPr/>
        </p:nvSpPr>
        <p:spPr>
          <a:xfrm>
            <a:off x="63500" y="908050"/>
            <a:ext cx="9055100" cy="4403128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50000"/>
              </a:lnSpc>
            </a:pPr>
            <a:endParaRPr lang="en-GB" sz="2800" b="1" dirty="0" smtClean="0">
              <a:latin typeface="Courier New"/>
              <a:cs typeface="Courier New"/>
            </a:endParaRPr>
          </a:p>
          <a:p>
            <a:pPr marL="12700">
              <a:lnSpc>
                <a:spcPct val="150000"/>
              </a:lnSpc>
            </a:pPr>
            <a:r>
              <a:rPr sz="2800" b="1" dirty="0" err="1" smtClean="0">
                <a:latin typeface="Courier New"/>
                <a:cs typeface="Courier New"/>
              </a:rPr>
              <a:t>struct</a:t>
            </a:r>
            <a:r>
              <a:rPr sz="2800" b="1" dirty="0" smtClean="0">
                <a:latin typeface="Courier New"/>
                <a:cs typeface="Courier New"/>
              </a:rPr>
              <a:t> </a:t>
            </a:r>
            <a:r>
              <a:rPr sz="2800" b="1" dirty="0">
                <a:solidFill>
                  <a:srgbClr val="A50021"/>
                </a:solidFill>
                <a:latin typeface="Courier New"/>
                <a:cs typeface="Courier New"/>
              </a:rPr>
              <a:t>sockaddr_in</a:t>
            </a:r>
            <a:r>
              <a:rPr sz="2800" b="1" spc="-85" dirty="0">
                <a:solidFill>
                  <a:srgbClr val="A50021"/>
                </a:solidFill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{</a:t>
            </a:r>
            <a:endParaRPr sz="2800" dirty="0">
              <a:latin typeface="Courier New"/>
              <a:cs typeface="Courier New"/>
            </a:endParaRPr>
          </a:p>
          <a:p>
            <a:pPr marL="369570" marR="5080">
              <a:lnSpc>
                <a:spcPct val="150000"/>
              </a:lnSpc>
            </a:pPr>
            <a:r>
              <a:rPr sz="2800" b="1" dirty="0">
                <a:latin typeface="Courier New"/>
                <a:cs typeface="Courier New"/>
              </a:rPr>
              <a:t>unsigned short</a:t>
            </a:r>
            <a:r>
              <a:rPr sz="2800" b="1" spc="-75" dirty="0">
                <a:latin typeface="Courier New"/>
                <a:cs typeface="Courier New"/>
              </a:rPr>
              <a:t> </a:t>
            </a:r>
            <a:r>
              <a:rPr sz="2800" b="1" dirty="0" err="1">
                <a:latin typeface="Courier New"/>
                <a:cs typeface="Courier New"/>
              </a:rPr>
              <a:t>sin_family</a:t>
            </a:r>
            <a:r>
              <a:rPr sz="2800" b="1" dirty="0" smtClean="0">
                <a:latin typeface="Courier New"/>
                <a:cs typeface="Courier New"/>
              </a:rPr>
              <a:t>;</a:t>
            </a:r>
            <a:r>
              <a:rPr lang="en-GB" sz="2800" spc="-35" dirty="0" smtClean="0">
                <a:latin typeface="Arial"/>
                <a:cs typeface="Arial"/>
              </a:rPr>
              <a:t> </a:t>
            </a:r>
            <a:r>
              <a:rPr lang="en-GB" sz="2000" spc="-35" dirty="0" smtClean="0">
                <a:latin typeface="Arial"/>
                <a:cs typeface="Arial"/>
              </a:rPr>
              <a:t>/* </a:t>
            </a:r>
            <a:r>
              <a:rPr lang="en-GB" sz="2000" spc="5" dirty="0" smtClean="0">
                <a:latin typeface="Arial"/>
                <a:cs typeface="Arial"/>
              </a:rPr>
              <a:t>Internet </a:t>
            </a:r>
            <a:r>
              <a:rPr lang="en-GB" sz="2000" spc="-20" dirty="0" smtClean="0">
                <a:latin typeface="Arial"/>
                <a:cs typeface="Arial"/>
              </a:rPr>
              <a:t>protocol </a:t>
            </a:r>
            <a:r>
              <a:rPr lang="en-GB" sz="2000" spc="-25" dirty="0" smtClean="0">
                <a:latin typeface="Arial"/>
                <a:cs typeface="Arial"/>
              </a:rPr>
              <a:t>(AF_INET)</a:t>
            </a:r>
            <a:r>
              <a:rPr lang="en-GB" sz="2000" spc="-150" dirty="0" smtClean="0">
                <a:latin typeface="Arial"/>
                <a:cs typeface="Arial"/>
              </a:rPr>
              <a:t> </a:t>
            </a:r>
            <a:r>
              <a:rPr lang="en-GB" sz="2000" spc="-45" dirty="0" smtClean="0">
                <a:latin typeface="Arial"/>
                <a:cs typeface="Arial"/>
              </a:rPr>
              <a:t>*/</a:t>
            </a:r>
            <a:endParaRPr lang="en-GB" sz="2000" dirty="0" smtClean="0">
              <a:latin typeface="Arial"/>
              <a:cs typeface="Arial"/>
            </a:endParaRPr>
          </a:p>
          <a:p>
            <a:pPr marL="369570" marR="5080">
              <a:lnSpc>
                <a:spcPct val="150000"/>
              </a:lnSpc>
            </a:pPr>
            <a:r>
              <a:rPr sz="2800" b="1" dirty="0" smtClean="0">
                <a:latin typeface="Courier New"/>
                <a:cs typeface="Courier New"/>
              </a:rPr>
              <a:t>  </a:t>
            </a:r>
            <a:r>
              <a:rPr sz="2800" b="1" dirty="0">
                <a:latin typeface="Courier New"/>
                <a:cs typeface="Courier New"/>
              </a:rPr>
              <a:t>unsigned short </a:t>
            </a:r>
            <a:r>
              <a:rPr sz="2800" b="1" dirty="0" err="1">
                <a:latin typeface="Courier New"/>
                <a:cs typeface="Courier New"/>
              </a:rPr>
              <a:t>sin_port</a:t>
            </a:r>
            <a:r>
              <a:rPr sz="2800" b="1" dirty="0" smtClean="0">
                <a:latin typeface="Courier New"/>
                <a:cs typeface="Courier New"/>
              </a:rPr>
              <a:t>;</a:t>
            </a:r>
            <a:r>
              <a:rPr lang="en-GB" sz="2800" spc="-35" dirty="0" smtClean="0">
                <a:latin typeface="Arial"/>
                <a:cs typeface="Arial"/>
              </a:rPr>
              <a:t> </a:t>
            </a:r>
            <a:r>
              <a:rPr lang="en-GB" sz="2000" spc="-35" dirty="0" smtClean="0">
                <a:latin typeface="Arial"/>
                <a:cs typeface="Arial"/>
              </a:rPr>
              <a:t>/* </a:t>
            </a:r>
            <a:r>
              <a:rPr lang="en-GB" sz="2000" spc="-80" dirty="0" smtClean="0">
                <a:latin typeface="Arial"/>
                <a:cs typeface="Arial"/>
              </a:rPr>
              <a:t>Address </a:t>
            </a:r>
            <a:r>
              <a:rPr lang="en-GB" sz="2000" spc="5" dirty="0" smtClean="0">
                <a:latin typeface="Arial"/>
                <a:cs typeface="Arial"/>
              </a:rPr>
              <a:t>port </a:t>
            </a:r>
            <a:r>
              <a:rPr lang="en-GB" sz="2000" spc="-70" dirty="0" smtClean="0">
                <a:latin typeface="Arial"/>
                <a:cs typeface="Arial"/>
              </a:rPr>
              <a:t>(16 </a:t>
            </a:r>
            <a:r>
              <a:rPr lang="en-GB" sz="2000" spc="-20" dirty="0" smtClean="0">
                <a:latin typeface="Arial"/>
                <a:cs typeface="Arial"/>
              </a:rPr>
              <a:t>bits)</a:t>
            </a:r>
            <a:r>
              <a:rPr lang="en-GB" sz="2000" spc="-55" dirty="0" smtClean="0">
                <a:latin typeface="Arial"/>
                <a:cs typeface="Arial"/>
              </a:rPr>
              <a:t> </a:t>
            </a:r>
            <a:r>
              <a:rPr lang="en-GB" sz="2000" spc="-40" dirty="0" smtClean="0">
                <a:latin typeface="Arial"/>
                <a:cs typeface="Arial"/>
              </a:rPr>
              <a:t>*/</a:t>
            </a:r>
            <a:endParaRPr lang="en-GB" sz="2000" dirty="0" smtClean="0">
              <a:latin typeface="Arial"/>
              <a:cs typeface="Arial"/>
            </a:endParaRPr>
          </a:p>
          <a:p>
            <a:pPr marL="369570" marR="5080">
              <a:lnSpc>
                <a:spcPct val="150000"/>
              </a:lnSpc>
            </a:pPr>
            <a:r>
              <a:rPr sz="2800" b="1" dirty="0" smtClean="0">
                <a:latin typeface="Courier New"/>
                <a:cs typeface="Courier New"/>
              </a:rPr>
              <a:t>  </a:t>
            </a:r>
            <a:r>
              <a:rPr sz="2800" b="1" dirty="0">
                <a:latin typeface="Courier New"/>
                <a:cs typeface="Courier New"/>
              </a:rPr>
              <a:t>struct in_addr </a:t>
            </a:r>
            <a:r>
              <a:rPr sz="2800" b="1" dirty="0" err="1">
                <a:latin typeface="Courier New"/>
                <a:cs typeface="Courier New"/>
              </a:rPr>
              <a:t>sin_addr</a:t>
            </a:r>
            <a:r>
              <a:rPr sz="2800" b="1" dirty="0" smtClean="0">
                <a:latin typeface="Courier New"/>
                <a:cs typeface="Courier New"/>
              </a:rPr>
              <a:t>;</a:t>
            </a:r>
            <a:r>
              <a:rPr lang="en-GB" sz="2000" spc="-40" dirty="0" smtClean="0">
                <a:latin typeface="Arial"/>
                <a:cs typeface="Arial"/>
              </a:rPr>
              <a:t>/* </a:t>
            </a:r>
            <a:r>
              <a:rPr lang="en-GB" sz="2000" spc="5" dirty="0" smtClean="0">
                <a:latin typeface="Arial"/>
                <a:cs typeface="Arial"/>
              </a:rPr>
              <a:t>Internet </a:t>
            </a:r>
            <a:r>
              <a:rPr lang="en-GB" sz="2000" spc="-120" dirty="0" smtClean="0">
                <a:latin typeface="Arial"/>
                <a:cs typeface="Arial"/>
              </a:rPr>
              <a:t>address </a:t>
            </a:r>
            <a:r>
              <a:rPr lang="en-GB" sz="2000" spc="-70" dirty="0" smtClean="0">
                <a:latin typeface="Arial"/>
                <a:cs typeface="Arial"/>
              </a:rPr>
              <a:t>(32 </a:t>
            </a:r>
            <a:r>
              <a:rPr lang="en-GB" sz="2000" spc="-25" dirty="0" smtClean="0">
                <a:latin typeface="Arial"/>
                <a:cs typeface="Arial"/>
              </a:rPr>
              <a:t>bits)</a:t>
            </a:r>
            <a:r>
              <a:rPr lang="en-GB" sz="2000" spc="-10" dirty="0" smtClean="0">
                <a:latin typeface="Arial"/>
                <a:cs typeface="Arial"/>
              </a:rPr>
              <a:t> </a:t>
            </a:r>
            <a:r>
              <a:rPr lang="en-GB" sz="2000" spc="-45" dirty="0" smtClean="0">
                <a:latin typeface="Arial"/>
                <a:cs typeface="Arial"/>
              </a:rPr>
              <a:t>*/</a:t>
            </a:r>
            <a:endParaRPr lang="en-GB" sz="2000" dirty="0" smtClean="0">
              <a:latin typeface="Arial"/>
              <a:cs typeface="Arial"/>
            </a:endParaRPr>
          </a:p>
          <a:p>
            <a:pPr marL="369570" marR="5080">
              <a:lnSpc>
                <a:spcPct val="150000"/>
              </a:lnSpc>
            </a:pPr>
            <a:r>
              <a:rPr sz="2800" b="1" dirty="0" smtClean="0">
                <a:latin typeface="Courier New"/>
                <a:cs typeface="Courier New"/>
              </a:rPr>
              <a:t> char</a:t>
            </a:r>
            <a:r>
              <a:rPr sz="2800" b="1" spc="-5" dirty="0" smtClean="0">
                <a:latin typeface="Courier New"/>
                <a:cs typeface="Courier New"/>
              </a:rPr>
              <a:t> </a:t>
            </a:r>
            <a:r>
              <a:rPr sz="2800" b="1" dirty="0" err="1">
                <a:latin typeface="Courier New"/>
                <a:cs typeface="Courier New"/>
              </a:rPr>
              <a:t>sin_zero</a:t>
            </a:r>
            <a:r>
              <a:rPr sz="2800" b="1" dirty="0">
                <a:latin typeface="Courier New"/>
                <a:cs typeface="Courier New"/>
              </a:rPr>
              <a:t>[8</a:t>
            </a:r>
            <a:r>
              <a:rPr sz="2800" b="1" dirty="0" smtClean="0">
                <a:latin typeface="Courier New"/>
                <a:cs typeface="Courier New"/>
              </a:rPr>
              <a:t>];</a:t>
            </a:r>
            <a:r>
              <a:rPr lang="en-GB" sz="2800" b="1" dirty="0" smtClean="0">
                <a:latin typeface="Courier New"/>
                <a:cs typeface="Courier New"/>
              </a:rPr>
              <a:t> </a:t>
            </a:r>
            <a:r>
              <a:rPr lang="en-GB" sz="2800" spc="-40" dirty="0" smtClean="0">
                <a:latin typeface="Arial"/>
                <a:cs typeface="Arial"/>
              </a:rPr>
              <a:t>/* </a:t>
            </a:r>
            <a:r>
              <a:rPr lang="en-GB" sz="2800" dirty="0" smtClean="0">
                <a:latin typeface="Arial"/>
                <a:cs typeface="Arial"/>
              </a:rPr>
              <a:t>Not </a:t>
            </a:r>
            <a:r>
              <a:rPr lang="en-GB" sz="2800" spc="-114" dirty="0" smtClean="0">
                <a:latin typeface="Arial"/>
                <a:cs typeface="Arial"/>
              </a:rPr>
              <a:t>used</a:t>
            </a:r>
            <a:r>
              <a:rPr lang="en-GB" sz="2800" spc="-105" dirty="0" smtClean="0">
                <a:latin typeface="Arial"/>
                <a:cs typeface="Arial"/>
              </a:rPr>
              <a:t> </a:t>
            </a:r>
            <a:r>
              <a:rPr lang="en-GB" sz="2800" spc="-40" dirty="0" smtClean="0">
                <a:latin typeface="Arial"/>
                <a:cs typeface="Arial"/>
              </a:rPr>
              <a:t>*/</a:t>
            </a:r>
            <a:endParaRPr sz="28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1453" y="5444985"/>
            <a:ext cx="6328410" cy="642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3760">
              <a:lnSpc>
                <a:spcPts val="1830"/>
              </a:lnSpc>
              <a:spcBef>
                <a:spcPts val="100"/>
              </a:spcBef>
            </a:pPr>
            <a:r>
              <a:rPr sz="1600" b="1" dirty="0">
                <a:latin typeface="Courier New"/>
                <a:cs typeface="Courier New"/>
              </a:rPr>
              <a:t>}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ts val="3030"/>
              </a:lnSpc>
            </a:pPr>
            <a:r>
              <a:rPr sz="2600" spc="315" dirty="0">
                <a:solidFill>
                  <a:srgbClr val="9A6500"/>
                </a:solidFill>
                <a:latin typeface="Wingdings"/>
                <a:cs typeface="Wingdings"/>
              </a:rPr>
              <a:t></a:t>
            </a:r>
            <a:r>
              <a:rPr sz="2200" b="1" spc="315" dirty="0">
                <a:latin typeface="Arial"/>
                <a:cs typeface="Arial"/>
              </a:rPr>
              <a:t>Important</a:t>
            </a:r>
            <a:r>
              <a:rPr sz="2200" spc="315" dirty="0">
                <a:latin typeface="Arial"/>
                <a:cs typeface="Arial"/>
              </a:rPr>
              <a:t>: </a:t>
            </a:r>
            <a:r>
              <a:rPr sz="2200" spc="-70" dirty="0">
                <a:latin typeface="Arial"/>
                <a:cs typeface="Arial"/>
              </a:rPr>
              <a:t>sockaddr_in </a:t>
            </a:r>
            <a:r>
              <a:rPr sz="2200" spc="-120" dirty="0">
                <a:latin typeface="Arial"/>
                <a:cs typeface="Arial"/>
              </a:rPr>
              <a:t>can </a:t>
            </a:r>
            <a:r>
              <a:rPr sz="2200" spc="-145" dirty="0">
                <a:latin typeface="Arial"/>
                <a:cs typeface="Arial"/>
              </a:rPr>
              <a:t>be </a:t>
            </a:r>
            <a:r>
              <a:rPr sz="2200" spc="-140" dirty="0">
                <a:latin typeface="Arial"/>
                <a:cs typeface="Arial"/>
              </a:rPr>
              <a:t>casted </a:t>
            </a:r>
            <a:r>
              <a:rPr sz="2200" dirty="0">
                <a:latin typeface="Arial"/>
                <a:cs typeface="Arial"/>
              </a:rPr>
              <a:t>to </a:t>
            </a:r>
            <a:r>
              <a:rPr sz="2200" spc="-250" dirty="0">
                <a:latin typeface="Arial"/>
                <a:cs typeface="Arial"/>
              </a:rPr>
              <a:t>a</a:t>
            </a:r>
            <a:r>
              <a:rPr sz="2200" spc="-305" dirty="0">
                <a:latin typeface="Arial"/>
                <a:cs typeface="Arial"/>
              </a:rPr>
              <a:t> </a:t>
            </a:r>
            <a:r>
              <a:rPr sz="2200" spc="-1125" dirty="0">
                <a:latin typeface="Arial"/>
                <a:cs typeface="Arial"/>
              </a:rPr>
              <a:t>sockaddr</a:t>
            </a:r>
            <a:endParaRPr sz="2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6989" y="2390648"/>
            <a:ext cx="8766175" cy="388620"/>
          </a:xfrm>
          <a:custGeom>
            <a:avLst/>
            <a:gdLst/>
            <a:ahLst/>
            <a:cxnLst/>
            <a:rect l="l" t="t" r="r" b="b"/>
            <a:pathLst>
              <a:path w="8766175" h="388619">
                <a:moveTo>
                  <a:pt x="8766035" y="323850"/>
                </a:moveTo>
                <a:lnTo>
                  <a:pt x="8766035" y="64769"/>
                </a:lnTo>
                <a:lnTo>
                  <a:pt x="8760953" y="39540"/>
                </a:lnTo>
                <a:lnTo>
                  <a:pt x="8747086" y="18954"/>
                </a:lnTo>
                <a:lnTo>
                  <a:pt x="8726505" y="5083"/>
                </a:lnTo>
                <a:lnTo>
                  <a:pt x="8701278" y="0"/>
                </a:lnTo>
                <a:lnTo>
                  <a:pt x="64770" y="0"/>
                </a:lnTo>
                <a:lnTo>
                  <a:pt x="39540" y="5083"/>
                </a:lnTo>
                <a:lnTo>
                  <a:pt x="18954" y="18954"/>
                </a:lnTo>
                <a:lnTo>
                  <a:pt x="5083" y="39540"/>
                </a:lnTo>
                <a:lnTo>
                  <a:pt x="0" y="64770"/>
                </a:lnTo>
                <a:lnTo>
                  <a:pt x="0" y="323850"/>
                </a:lnTo>
                <a:lnTo>
                  <a:pt x="5083" y="349079"/>
                </a:lnTo>
                <a:lnTo>
                  <a:pt x="18954" y="369665"/>
                </a:lnTo>
                <a:lnTo>
                  <a:pt x="39540" y="383536"/>
                </a:lnTo>
                <a:lnTo>
                  <a:pt x="64770" y="388620"/>
                </a:lnTo>
                <a:lnTo>
                  <a:pt x="8701278" y="388619"/>
                </a:lnTo>
                <a:lnTo>
                  <a:pt x="8726505" y="383536"/>
                </a:lnTo>
                <a:lnTo>
                  <a:pt x="8747086" y="369665"/>
                </a:lnTo>
                <a:lnTo>
                  <a:pt x="8760953" y="349079"/>
                </a:lnTo>
                <a:lnTo>
                  <a:pt x="8766035" y="323850"/>
                </a:lnTo>
                <a:close/>
              </a:path>
            </a:pathLst>
          </a:custGeom>
          <a:solidFill>
            <a:srgbClr val="CCFFFF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6989" y="2390648"/>
            <a:ext cx="8766175" cy="388620"/>
          </a:xfrm>
          <a:custGeom>
            <a:avLst/>
            <a:gdLst/>
            <a:ahLst/>
            <a:cxnLst/>
            <a:rect l="l" t="t" r="r" b="b"/>
            <a:pathLst>
              <a:path w="8766175" h="388619">
                <a:moveTo>
                  <a:pt x="64770" y="0"/>
                </a:moveTo>
                <a:lnTo>
                  <a:pt x="39540" y="5083"/>
                </a:lnTo>
                <a:lnTo>
                  <a:pt x="18954" y="18954"/>
                </a:lnTo>
                <a:lnTo>
                  <a:pt x="5083" y="39540"/>
                </a:lnTo>
                <a:lnTo>
                  <a:pt x="0" y="64770"/>
                </a:lnTo>
                <a:lnTo>
                  <a:pt x="0" y="323850"/>
                </a:lnTo>
                <a:lnTo>
                  <a:pt x="5083" y="349079"/>
                </a:lnTo>
                <a:lnTo>
                  <a:pt x="18954" y="369665"/>
                </a:lnTo>
                <a:lnTo>
                  <a:pt x="39540" y="383536"/>
                </a:lnTo>
                <a:lnTo>
                  <a:pt x="64770" y="388620"/>
                </a:lnTo>
                <a:lnTo>
                  <a:pt x="8701278" y="388619"/>
                </a:lnTo>
                <a:lnTo>
                  <a:pt x="8726505" y="383536"/>
                </a:lnTo>
                <a:lnTo>
                  <a:pt x="8747086" y="369665"/>
                </a:lnTo>
                <a:lnTo>
                  <a:pt x="8760953" y="349079"/>
                </a:lnTo>
                <a:lnTo>
                  <a:pt x="8766035" y="323850"/>
                </a:lnTo>
                <a:lnTo>
                  <a:pt x="8766035" y="64769"/>
                </a:lnTo>
                <a:lnTo>
                  <a:pt x="8760953" y="39540"/>
                </a:lnTo>
                <a:lnTo>
                  <a:pt x="8747086" y="18954"/>
                </a:lnTo>
                <a:lnTo>
                  <a:pt x="8726505" y="5083"/>
                </a:lnTo>
                <a:lnTo>
                  <a:pt x="8701278" y="0"/>
                </a:lnTo>
                <a:lnTo>
                  <a:pt x="6477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51979" y="261873"/>
            <a:ext cx="761492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35" dirty="0"/>
              <a:t>Client</a:t>
            </a:r>
            <a:r>
              <a:rPr sz="4200" spc="20" dirty="0"/>
              <a:t> </a:t>
            </a:r>
            <a:r>
              <a:rPr sz="4200" spc="-260" dirty="0"/>
              <a:t>-</a:t>
            </a:r>
            <a:r>
              <a:rPr sz="4200" spc="45" dirty="0"/>
              <a:t> </a:t>
            </a:r>
            <a:r>
              <a:rPr sz="4200" spc="-280" dirty="0"/>
              <a:t>Server</a:t>
            </a:r>
            <a:r>
              <a:rPr sz="4200" spc="30" dirty="0"/>
              <a:t> </a:t>
            </a:r>
            <a:r>
              <a:rPr sz="4200" spc="-280" dirty="0"/>
              <a:t>Communication</a:t>
            </a:r>
            <a:r>
              <a:rPr sz="4200" spc="30" dirty="0"/>
              <a:t> </a:t>
            </a:r>
            <a:r>
              <a:rPr sz="3200" spc="-200" dirty="0"/>
              <a:t>-</a:t>
            </a:r>
            <a:r>
              <a:rPr sz="3200" spc="20" dirty="0"/>
              <a:t> </a:t>
            </a:r>
            <a:r>
              <a:rPr sz="3200" spc="-200" dirty="0"/>
              <a:t>Unix</a:t>
            </a:r>
            <a:endParaRPr sz="3200"/>
          </a:p>
        </p:txBody>
      </p:sp>
      <p:sp>
        <p:nvSpPr>
          <p:cNvPr id="6" name="object 6"/>
          <p:cNvSpPr/>
          <p:nvPr/>
        </p:nvSpPr>
        <p:spPr>
          <a:xfrm>
            <a:off x="321195" y="1860295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7"/>
                </a:lnTo>
                <a:lnTo>
                  <a:pt x="1335023" y="231647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0433" y="1860295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7"/>
                </a:lnTo>
                <a:lnTo>
                  <a:pt x="1335786" y="231647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60539" y="1851406"/>
            <a:ext cx="6559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7465" y="2096516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8" y="330707"/>
                </a:lnTo>
                <a:lnTo>
                  <a:pt x="33528" y="276605"/>
                </a:lnTo>
                <a:lnTo>
                  <a:pt x="34290" y="279653"/>
                </a:lnTo>
                <a:lnTo>
                  <a:pt x="38100" y="281177"/>
                </a:lnTo>
                <a:lnTo>
                  <a:pt x="41148" y="279653"/>
                </a:lnTo>
                <a:lnTo>
                  <a:pt x="42672" y="276605"/>
                </a:lnTo>
                <a:lnTo>
                  <a:pt x="42672" y="330707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72" y="263651"/>
                </a:moveTo>
                <a:lnTo>
                  <a:pt x="42672" y="5333"/>
                </a:lnTo>
                <a:lnTo>
                  <a:pt x="41148" y="1523"/>
                </a:lnTo>
                <a:lnTo>
                  <a:pt x="38100" y="0"/>
                </a:lnTo>
                <a:lnTo>
                  <a:pt x="34290" y="1523"/>
                </a:lnTo>
                <a:lnTo>
                  <a:pt x="33528" y="5333"/>
                </a:lnTo>
                <a:lnTo>
                  <a:pt x="33528" y="263651"/>
                </a:lnTo>
                <a:lnTo>
                  <a:pt x="42672" y="263651"/>
                </a:lnTo>
                <a:close/>
              </a:path>
              <a:path w="76200" h="340360">
                <a:moveTo>
                  <a:pt x="42672" y="330707"/>
                </a:moveTo>
                <a:lnTo>
                  <a:pt x="42672" y="276605"/>
                </a:lnTo>
                <a:lnTo>
                  <a:pt x="41148" y="279653"/>
                </a:lnTo>
                <a:lnTo>
                  <a:pt x="38100" y="281177"/>
                </a:lnTo>
                <a:lnTo>
                  <a:pt x="34290" y="279653"/>
                </a:lnTo>
                <a:lnTo>
                  <a:pt x="33528" y="276605"/>
                </a:lnTo>
                <a:lnTo>
                  <a:pt x="33528" y="330707"/>
                </a:lnTo>
                <a:lnTo>
                  <a:pt x="38100" y="339851"/>
                </a:lnTo>
                <a:lnTo>
                  <a:pt x="42672" y="3307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4243" y="2466848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4243" y="2466848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52729" y="2457957"/>
            <a:ext cx="4787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bind()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60513" y="2703067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6605"/>
                </a:lnTo>
                <a:lnTo>
                  <a:pt x="35051" y="279653"/>
                </a:lnTo>
                <a:lnTo>
                  <a:pt x="38100" y="281177"/>
                </a:lnTo>
                <a:lnTo>
                  <a:pt x="41910" y="279653"/>
                </a:lnTo>
                <a:lnTo>
                  <a:pt x="42672" y="276605"/>
                </a:lnTo>
                <a:lnTo>
                  <a:pt x="42672" y="330707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72" y="263651"/>
                </a:moveTo>
                <a:lnTo>
                  <a:pt x="42672" y="4571"/>
                </a:lnTo>
                <a:lnTo>
                  <a:pt x="41910" y="1523"/>
                </a:lnTo>
                <a:lnTo>
                  <a:pt x="38100" y="0"/>
                </a:lnTo>
                <a:lnTo>
                  <a:pt x="35051" y="1523"/>
                </a:lnTo>
                <a:lnTo>
                  <a:pt x="33527" y="4571"/>
                </a:lnTo>
                <a:lnTo>
                  <a:pt x="33527" y="263651"/>
                </a:lnTo>
                <a:lnTo>
                  <a:pt x="42672" y="263651"/>
                </a:lnTo>
                <a:close/>
              </a:path>
              <a:path w="76200" h="340360">
                <a:moveTo>
                  <a:pt x="42672" y="330707"/>
                </a:moveTo>
                <a:lnTo>
                  <a:pt x="42672" y="276605"/>
                </a:lnTo>
                <a:lnTo>
                  <a:pt x="41910" y="279653"/>
                </a:lnTo>
                <a:lnTo>
                  <a:pt x="38100" y="281177"/>
                </a:lnTo>
                <a:lnTo>
                  <a:pt x="35051" y="279653"/>
                </a:lnTo>
                <a:lnTo>
                  <a:pt x="33527" y="276605"/>
                </a:lnTo>
                <a:lnTo>
                  <a:pt x="33527" y="330707"/>
                </a:lnTo>
                <a:lnTo>
                  <a:pt x="38100" y="339851"/>
                </a:lnTo>
                <a:lnTo>
                  <a:pt x="42672" y="3307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27291" y="3063494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27291" y="3063494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16165" y="3054604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listen()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63561" y="3300476"/>
            <a:ext cx="76200" cy="339090"/>
          </a:xfrm>
          <a:custGeom>
            <a:avLst/>
            <a:gdLst/>
            <a:ahLst/>
            <a:cxnLst/>
            <a:rect l="l" t="t" r="r" b="b"/>
            <a:pathLst>
              <a:path w="76200" h="339089">
                <a:moveTo>
                  <a:pt x="76200" y="262889"/>
                </a:moveTo>
                <a:lnTo>
                  <a:pt x="0" y="262889"/>
                </a:lnTo>
                <a:lnTo>
                  <a:pt x="33527" y="329945"/>
                </a:lnTo>
                <a:lnTo>
                  <a:pt x="33527" y="275844"/>
                </a:lnTo>
                <a:lnTo>
                  <a:pt x="35051" y="279653"/>
                </a:lnTo>
                <a:lnTo>
                  <a:pt x="38100" y="280415"/>
                </a:lnTo>
                <a:lnTo>
                  <a:pt x="41909" y="279653"/>
                </a:lnTo>
                <a:lnTo>
                  <a:pt x="42671" y="275844"/>
                </a:lnTo>
                <a:lnTo>
                  <a:pt x="42671" y="329946"/>
                </a:lnTo>
                <a:lnTo>
                  <a:pt x="76200" y="262889"/>
                </a:lnTo>
                <a:close/>
              </a:path>
              <a:path w="76200" h="339089">
                <a:moveTo>
                  <a:pt x="42671" y="262889"/>
                </a:moveTo>
                <a:lnTo>
                  <a:pt x="42671" y="4572"/>
                </a:lnTo>
                <a:lnTo>
                  <a:pt x="41909" y="762"/>
                </a:lnTo>
                <a:lnTo>
                  <a:pt x="38100" y="0"/>
                </a:lnTo>
                <a:lnTo>
                  <a:pt x="35051" y="762"/>
                </a:lnTo>
                <a:lnTo>
                  <a:pt x="33527" y="4572"/>
                </a:lnTo>
                <a:lnTo>
                  <a:pt x="33527" y="262889"/>
                </a:lnTo>
                <a:lnTo>
                  <a:pt x="42671" y="262889"/>
                </a:lnTo>
                <a:close/>
              </a:path>
              <a:path w="76200" h="339089">
                <a:moveTo>
                  <a:pt x="42671" y="329946"/>
                </a:moveTo>
                <a:lnTo>
                  <a:pt x="42671" y="275844"/>
                </a:lnTo>
                <a:lnTo>
                  <a:pt x="41909" y="279653"/>
                </a:lnTo>
                <a:lnTo>
                  <a:pt x="38100" y="280415"/>
                </a:lnTo>
                <a:lnTo>
                  <a:pt x="35051" y="279653"/>
                </a:lnTo>
                <a:lnTo>
                  <a:pt x="33527" y="275844"/>
                </a:lnTo>
                <a:lnTo>
                  <a:pt x="33527" y="329945"/>
                </a:lnTo>
                <a:lnTo>
                  <a:pt x="38100" y="339089"/>
                </a:lnTo>
                <a:lnTo>
                  <a:pt x="42671" y="3299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0339" y="367004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0339" y="367004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65111" y="3661155"/>
            <a:ext cx="66548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accept()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66609" y="3906265"/>
            <a:ext cx="76200" cy="424815"/>
          </a:xfrm>
          <a:custGeom>
            <a:avLst/>
            <a:gdLst/>
            <a:ahLst/>
            <a:cxnLst/>
            <a:rect l="l" t="t" r="r" b="b"/>
            <a:pathLst>
              <a:path w="76200" h="424814">
                <a:moveTo>
                  <a:pt x="76200" y="348234"/>
                </a:moveTo>
                <a:lnTo>
                  <a:pt x="0" y="348234"/>
                </a:lnTo>
                <a:lnTo>
                  <a:pt x="33528" y="415290"/>
                </a:lnTo>
                <a:lnTo>
                  <a:pt x="33528" y="360425"/>
                </a:lnTo>
                <a:lnTo>
                  <a:pt x="35052" y="364236"/>
                </a:lnTo>
                <a:lnTo>
                  <a:pt x="38100" y="365760"/>
                </a:lnTo>
                <a:lnTo>
                  <a:pt x="41910" y="364236"/>
                </a:lnTo>
                <a:lnTo>
                  <a:pt x="43434" y="360425"/>
                </a:lnTo>
                <a:lnTo>
                  <a:pt x="43434" y="413765"/>
                </a:lnTo>
                <a:lnTo>
                  <a:pt x="76200" y="348234"/>
                </a:lnTo>
                <a:close/>
              </a:path>
              <a:path w="76200" h="424814">
                <a:moveTo>
                  <a:pt x="43434" y="348234"/>
                </a:moveTo>
                <a:lnTo>
                  <a:pt x="43434" y="5334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5334"/>
                </a:lnTo>
                <a:lnTo>
                  <a:pt x="33528" y="348234"/>
                </a:lnTo>
                <a:lnTo>
                  <a:pt x="43434" y="348234"/>
                </a:lnTo>
                <a:close/>
              </a:path>
              <a:path w="76200" h="424814">
                <a:moveTo>
                  <a:pt x="43434" y="413765"/>
                </a:moveTo>
                <a:lnTo>
                  <a:pt x="43434" y="360425"/>
                </a:lnTo>
                <a:lnTo>
                  <a:pt x="41910" y="364236"/>
                </a:lnTo>
                <a:lnTo>
                  <a:pt x="38100" y="365760"/>
                </a:lnTo>
                <a:lnTo>
                  <a:pt x="35052" y="364236"/>
                </a:lnTo>
                <a:lnTo>
                  <a:pt x="33528" y="360425"/>
                </a:lnTo>
                <a:lnTo>
                  <a:pt x="33528" y="415290"/>
                </a:lnTo>
                <a:lnTo>
                  <a:pt x="38100" y="424434"/>
                </a:lnTo>
                <a:lnTo>
                  <a:pt x="43434" y="4137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18909" y="4377944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18909" y="4377944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3" y="231648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48169" y="4369053"/>
            <a:ext cx="4781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55941" y="4614926"/>
            <a:ext cx="76200" cy="339090"/>
          </a:xfrm>
          <a:custGeom>
            <a:avLst/>
            <a:gdLst/>
            <a:ahLst/>
            <a:cxnLst/>
            <a:rect l="l" t="t" r="r" b="b"/>
            <a:pathLst>
              <a:path w="76200" h="339089">
                <a:moveTo>
                  <a:pt x="76200" y="262889"/>
                </a:moveTo>
                <a:lnTo>
                  <a:pt x="0" y="262889"/>
                </a:lnTo>
                <a:lnTo>
                  <a:pt x="33528" y="329946"/>
                </a:lnTo>
                <a:lnTo>
                  <a:pt x="33528" y="275844"/>
                </a:lnTo>
                <a:lnTo>
                  <a:pt x="34290" y="279653"/>
                </a:lnTo>
                <a:lnTo>
                  <a:pt x="38100" y="280415"/>
                </a:lnTo>
                <a:lnTo>
                  <a:pt x="41148" y="279653"/>
                </a:lnTo>
                <a:lnTo>
                  <a:pt x="42672" y="275844"/>
                </a:lnTo>
                <a:lnTo>
                  <a:pt x="42672" y="329945"/>
                </a:lnTo>
                <a:lnTo>
                  <a:pt x="76200" y="262889"/>
                </a:lnTo>
                <a:close/>
              </a:path>
              <a:path w="76200" h="339089">
                <a:moveTo>
                  <a:pt x="42672" y="262889"/>
                </a:moveTo>
                <a:lnTo>
                  <a:pt x="42672" y="4572"/>
                </a:lnTo>
                <a:lnTo>
                  <a:pt x="41148" y="762"/>
                </a:lnTo>
                <a:lnTo>
                  <a:pt x="38100" y="0"/>
                </a:lnTo>
                <a:lnTo>
                  <a:pt x="34290" y="762"/>
                </a:lnTo>
                <a:lnTo>
                  <a:pt x="33528" y="4572"/>
                </a:lnTo>
                <a:lnTo>
                  <a:pt x="33528" y="262889"/>
                </a:lnTo>
                <a:lnTo>
                  <a:pt x="42672" y="262889"/>
                </a:lnTo>
                <a:close/>
              </a:path>
              <a:path w="76200" h="339089">
                <a:moveTo>
                  <a:pt x="42672" y="329945"/>
                </a:moveTo>
                <a:lnTo>
                  <a:pt x="42672" y="275844"/>
                </a:lnTo>
                <a:lnTo>
                  <a:pt x="41148" y="279653"/>
                </a:lnTo>
                <a:lnTo>
                  <a:pt x="38100" y="280415"/>
                </a:lnTo>
                <a:lnTo>
                  <a:pt x="34290" y="279653"/>
                </a:lnTo>
                <a:lnTo>
                  <a:pt x="33528" y="275844"/>
                </a:lnTo>
                <a:lnTo>
                  <a:pt x="33528" y="329946"/>
                </a:lnTo>
                <a:lnTo>
                  <a:pt x="38100" y="339089"/>
                </a:lnTo>
                <a:lnTo>
                  <a:pt x="42672" y="3299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22719" y="498449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22719" y="498449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25309" y="4975605"/>
            <a:ext cx="5270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58989" y="5220715"/>
            <a:ext cx="76200" cy="540385"/>
          </a:xfrm>
          <a:custGeom>
            <a:avLst/>
            <a:gdLst/>
            <a:ahLst/>
            <a:cxnLst/>
            <a:rect l="l" t="t" r="r" b="b"/>
            <a:pathLst>
              <a:path w="76200" h="540385">
                <a:moveTo>
                  <a:pt x="76200" y="464058"/>
                </a:moveTo>
                <a:lnTo>
                  <a:pt x="0" y="464058"/>
                </a:lnTo>
                <a:lnTo>
                  <a:pt x="33528" y="531114"/>
                </a:lnTo>
                <a:lnTo>
                  <a:pt x="33528" y="476250"/>
                </a:lnTo>
                <a:lnTo>
                  <a:pt x="35051" y="480060"/>
                </a:lnTo>
                <a:lnTo>
                  <a:pt x="38100" y="481584"/>
                </a:lnTo>
                <a:lnTo>
                  <a:pt x="41148" y="480060"/>
                </a:lnTo>
                <a:lnTo>
                  <a:pt x="42672" y="476250"/>
                </a:lnTo>
                <a:lnTo>
                  <a:pt x="42672" y="531113"/>
                </a:lnTo>
                <a:lnTo>
                  <a:pt x="76200" y="464058"/>
                </a:lnTo>
                <a:close/>
              </a:path>
              <a:path w="76200" h="540385">
                <a:moveTo>
                  <a:pt x="42672" y="464058"/>
                </a:moveTo>
                <a:lnTo>
                  <a:pt x="42672" y="5334"/>
                </a:lnTo>
                <a:lnTo>
                  <a:pt x="41148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8" y="5334"/>
                </a:lnTo>
                <a:lnTo>
                  <a:pt x="33528" y="464058"/>
                </a:lnTo>
                <a:lnTo>
                  <a:pt x="42672" y="464058"/>
                </a:lnTo>
                <a:close/>
              </a:path>
              <a:path w="76200" h="540385">
                <a:moveTo>
                  <a:pt x="42672" y="531113"/>
                </a:moveTo>
                <a:lnTo>
                  <a:pt x="42672" y="476250"/>
                </a:lnTo>
                <a:lnTo>
                  <a:pt x="41148" y="480060"/>
                </a:lnTo>
                <a:lnTo>
                  <a:pt x="38100" y="481584"/>
                </a:lnTo>
                <a:lnTo>
                  <a:pt x="35051" y="480060"/>
                </a:lnTo>
                <a:lnTo>
                  <a:pt x="33528" y="476250"/>
                </a:lnTo>
                <a:lnTo>
                  <a:pt x="33528" y="531114"/>
                </a:lnTo>
                <a:lnTo>
                  <a:pt x="38100" y="540258"/>
                </a:lnTo>
                <a:lnTo>
                  <a:pt x="42672" y="531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27291" y="5790691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5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27291" y="5790691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16165" y="5781802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65873" y="1545843"/>
            <a:ext cx="6578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Server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962287" y="1867916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962287" y="1867916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3302380" y="1859025"/>
            <a:ext cx="6559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599319" y="2104898"/>
            <a:ext cx="76200" cy="1559560"/>
          </a:xfrm>
          <a:custGeom>
            <a:avLst/>
            <a:gdLst/>
            <a:ahLst/>
            <a:cxnLst/>
            <a:rect l="l" t="t" r="r" b="b"/>
            <a:pathLst>
              <a:path w="76200" h="1559560">
                <a:moveTo>
                  <a:pt x="76200" y="1482852"/>
                </a:moveTo>
                <a:lnTo>
                  <a:pt x="0" y="1482852"/>
                </a:lnTo>
                <a:lnTo>
                  <a:pt x="32765" y="1548383"/>
                </a:lnTo>
                <a:lnTo>
                  <a:pt x="32765" y="1495043"/>
                </a:lnTo>
                <a:lnTo>
                  <a:pt x="34289" y="1498853"/>
                </a:lnTo>
                <a:lnTo>
                  <a:pt x="38100" y="1500377"/>
                </a:lnTo>
                <a:lnTo>
                  <a:pt x="41148" y="1498853"/>
                </a:lnTo>
                <a:lnTo>
                  <a:pt x="42672" y="1495043"/>
                </a:lnTo>
                <a:lnTo>
                  <a:pt x="42672" y="1549907"/>
                </a:lnTo>
                <a:lnTo>
                  <a:pt x="76200" y="1482852"/>
                </a:lnTo>
                <a:close/>
              </a:path>
              <a:path w="76200" h="1559560">
                <a:moveTo>
                  <a:pt x="42672" y="1482852"/>
                </a:moveTo>
                <a:lnTo>
                  <a:pt x="42672" y="4571"/>
                </a:lnTo>
                <a:lnTo>
                  <a:pt x="41148" y="1523"/>
                </a:lnTo>
                <a:lnTo>
                  <a:pt x="38100" y="0"/>
                </a:lnTo>
                <a:lnTo>
                  <a:pt x="34289" y="1523"/>
                </a:lnTo>
                <a:lnTo>
                  <a:pt x="32765" y="4571"/>
                </a:lnTo>
                <a:lnTo>
                  <a:pt x="32765" y="1482852"/>
                </a:lnTo>
                <a:lnTo>
                  <a:pt x="42672" y="1482852"/>
                </a:lnTo>
                <a:close/>
              </a:path>
              <a:path w="76200" h="1559560">
                <a:moveTo>
                  <a:pt x="42672" y="1549907"/>
                </a:moveTo>
                <a:lnTo>
                  <a:pt x="42672" y="1495043"/>
                </a:lnTo>
                <a:lnTo>
                  <a:pt x="41148" y="1498853"/>
                </a:lnTo>
                <a:lnTo>
                  <a:pt x="38100" y="1500377"/>
                </a:lnTo>
                <a:lnTo>
                  <a:pt x="34289" y="1498853"/>
                </a:lnTo>
                <a:lnTo>
                  <a:pt x="32765" y="1495043"/>
                </a:lnTo>
                <a:lnTo>
                  <a:pt x="32765" y="1548383"/>
                </a:lnTo>
                <a:lnTo>
                  <a:pt x="38100" y="1559052"/>
                </a:lnTo>
                <a:lnTo>
                  <a:pt x="42672" y="15499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972193" y="367766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972193" y="367766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257422" y="3668776"/>
            <a:ext cx="7639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connect()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608463" y="3914647"/>
            <a:ext cx="76200" cy="424180"/>
          </a:xfrm>
          <a:custGeom>
            <a:avLst/>
            <a:gdLst/>
            <a:ahLst/>
            <a:cxnLst/>
            <a:rect l="l" t="t" r="r" b="b"/>
            <a:pathLst>
              <a:path w="76200" h="424179">
                <a:moveTo>
                  <a:pt x="76200" y="347472"/>
                </a:moveTo>
                <a:lnTo>
                  <a:pt x="0" y="347472"/>
                </a:lnTo>
                <a:lnTo>
                  <a:pt x="33528" y="414528"/>
                </a:lnTo>
                <a:lnTo>
                  <a:pt x="33528" y="360425"/>
                </a:lnTo>
                <a:lnTo>
                  <a:pt x="35052" y="363474"/>
                </a:lnTo>
                <a:lnTo>
                  <a:pt x="38100" y="364998"/>
                </a:lnTo>
                <a:lnTo>
                  <a:pt x="41910" y="363474"/>
                </a:lnTo>
                <a:lnTo>
                  <a:pt x="42672" y="360425"/>
                </a:lnTo>
                <a:lnTo>
                  <a:pt x="42672" y="414527"/>
                </a:lnTo>
                <a:lnTo>
                  <a:pt x="76200" y="347472"/>
                </a:lnTo>
                <a:close/>
              </a:path>
              <a:path w="76200" h="424179">
                <a:moveTo>
                  <a:pt x="42672" y="34747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347472"/>
                </a:lnTo>
                <a:lnTo>
                  <a:pt x="42672" y="347472"/>
                </a:lnTo>
                <a:close/>
              </a:path>
              <a:path w="76200" h="424179">
                <a:moveTo>
                  <a:pt x="42672" y="414527"/>
                </a:moveTo>
                <a:lnTo>
                  <a:pt x="42672" y="360425"/>
                </a:lnTo>
                <a:lnTo>
                  <a:pt x="41910" y="363474"/>
                </a:lnTo>
                <a:lnTo>
                  <a:pt x="38100" y="364998"/>
                </a:lnTo>
                <a:lnTo>
                  <a:pt x="35052" y="363474"/>
                </a:lnTo>
                <a:lnTo>
                  <a:pt x="33528" y="360425"/>
                </a:lnTo>
                <a:lnTo>
                  <a:pt x="33528" y="414528"/>
                </a:lnTo>
                <a:lnTo>
                  <a:pt x="38100" y="423672"/>
                </a:lnTo>
                <a:lnTo>
                  <a:pt x="42672" y="414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960763" y="438632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960763" y="438632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3364103" y="4376673"/>
            <a:ext cx="5270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597033" y="4622546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5843"/>
                </a:lnTo>
                <a:lnTo>
                  <a:pt x="35051" y="279653"/>
                </a:lnTo>
                <a:lnTo>
                  <a:pt x="38100" y="281177"/>
                </a:lnTo>
                <a:lnTo>
                  <a:pt x="41910" y="279653"/>
                </a:lnTo>
                <a:lnTo>
                  <a:pt x="43434" y="275843"/>
                </a:lnTo>
                <a:lnTo>
                  <a:pt x="43434" y="329183"/>
                </a:lnTo>
                <a:lnTo>
                  <a:pt x="76200" y="263651"/>
                </a:lnTo>
                <a:close/>
              </a:path>
              <a:path w="76200" h="340360">
                <a:moveTo>
                  <a:pt x="43434" y="263651"/>
                </a:moveTo>
                <a:lnTo>
                  <a:pt x="43434" y="4571"/>
                </a:lnTo>
                <a:lnTo>
                  <a:pt x="41910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7" y="4571"/>
                </a:lnTo>
                <a:lnTo>
                  <a:pt x="33527" y="263651"/>
                </a:lnTo>
                <a:lnTo>
                  <a:pt x="43434" y="263651"/>
                </a:lnTo>
                <a:close/>
              </a:path>
              <a:path w="76200" h="340360">
                <a:moveTo>
                  <a:pt x="43434" y="329183"/>
                </a:moveTo>
                <a:lnTo>
                  <a:pt x="43434" y="275843"/>
                </a:lnTo>
                <a:lnTo>
                  <a:pt x="41910" y="279653"/>
                </a:lnTo>
                <a:lnTo>
                  <a:pt x="38100" y="281177"/>
                </a:lnTo>
                <a:lnTo>
                  <a:pt x="35051" y="279653"/>
                </a:lnTo>
                <a:lnTo>
                  <a:pt x="33527" y="275843"/>
                </a:lnTo>
                <a:lnTo>
                  <a:pt x="33527" y="330707"/>
                </a:lnTo>
                <a:lnTo>
                  <a:pt x="38100" y="339851"/>
                </a:lnTo>
                <a:lnTo>
                  <a:pt x="43434" y="3291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963811" y="499211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963811" y="499211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3392296" y="4983226"/>
            <a:ext cx="4781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600843" y="5229097"/>
            <a:ext cx="76200" cy="539750"/>
          </a:xfrm>
          <a:custGeom>
            <a:avLst/>
            <a:gdLst/>
            <a:ahLst/>
            <a:cxnLst/>
            <a:rect l="l" t="t" r="r" b="b"/>
            <a:pathLst>
              <a:path w="76200" h="539750">
                <a:moveTo>
                  <a:pt x="76200" y="463296"/>
                </a:moveTo>
                <a:lnTo>
                  <a:pt x="0" y="463296"/>
                </a:lnTo>
                <a:lnTo>
                  <a:pt x="32765" y="528827"/>
                </a:lnTo>
                <a:lnTo>
                  <a:pt x="32765" y="476250"/>
                </a:lnTo>
                <a:lnTo>
                  <a:pt x="34289" y="479298"/>
                </a:lnTo>
                <a:lnTo>
                  <a:pt x="38100" y="480822"/>
                </a:lnTo>
                <a:lnTo>
                  <a:pt x="41148" y="479298"/>
                </a:lnTo>
                <a:lnTo>
                  <a:pt x="42672" y="476250"/>
                </a:lnTo>
                <a:lnTo>
                  <a:pt x="42672" y="530351"/>
                </a:lnTo>
                <a:lnTo>
                  <a:pt x="76200" y="463296"/>
                </a:lnTo>
                <a:close/>
              </a:path>
              <a:path w="76200" h="539750">
                <a:moveTo>
                  <a:pt x="42672" y="463296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4289" y="1524"/>
                </a:lnTo>
                <a:lnTo>
                  <a:pt x="32765" y="4572"/>
                </a:lnTo>
                <a:lnTo>
                  <a:pt x="32765" y="463296"/>
                </a:lnTo>
                <a:lnTo>
                  <a:pt x="42672" y="463296"/>
                </a:lnTo>
                <a:close/>
              </a:path>
              <a:path w="76200" h="539750">
                <a:moveTo>
                  <a:pt x="42672" y="530351"/>
                </a:moveTo>
                <a:lnTo>
                  <a:pt x="42672" y="476250"/>
                </a:lnTo>
                <a:lnTo>
                  <a:pt x="41148" y="479298"/>
                </a:lnTo>
                <a:lnTo>
                  <a:pt x="38100" y="480822"/>
                </a:lnTo>
                <a:lnTo>
                  <a:pt x="34289" y="479298"/>
                </a:lnTo>
                <a:lnTo>
                  <a:pt x="32765" y="476250"/>
                </a:lnTo>
                <a:lnTo>
                  <a:pt x="32765" y="528827"/>
                </a:lnTo>
                <a:lnTo>
                  <a:pt x="38100" y="539496"/>
                </a:lnTo>
                <a:lnTo>
                  <a:pt x="42672" y="530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969145" y="5799073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968383" y="5799073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3358007" y="5789421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331336" y="1552701"/>
            <a:ext cx="5899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Client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676793" y="3755390"/>
            <a:ext cx="1271270" cy="76200"/>
          </a:xfrm>
          <a:custGeom>
            <a:avLst/>
            <a:gdLst/>
            <a:ahLst/>
            <a:cxnLst/>
            <a:rect l="l" t="t" r="r" b="b"/>
            <a:pathLst>
              <a:path w="1271270" h="76200">
                <a:moveTo>
                  <a:pt x="76200" y="0"/>
                </a:moveTo>
                <a:lnTo>
                  <a:pt x="0" y="38100"/>
                </a:lnTo>
                <a:lnTo>
                  <a:pt x="45719" y="60960"/>
                </a:lnTo>
                <a:lnTo>
                  <a:pt x="45719" y="38100"/>
                </a:lnTo>
                <a:lnTo>
                  <a:pt x="47243" y="35051"/>
                </a:lnTo>
                <a:lnTo>
                  <a:pt x="50292" y="33527"/>
                </a:lnTo>
                <a:lnTo>
                  <a:pt x="53400" y="33527"/>
                </a:lnTo>
                <a:lnTo>
                  <a:pt x="76200" y="0"/>
                </a:lnTo>
                <a:close/>
              </a:path>
              <a:path w="1271270" h="76200">
                <a:moveTo>
                  <a:pt x="53919" y="43434"/>
                </a:moveTo>
                <a:lnTo>
                  <a:pt x="50292" y="38100"/>
                </a:lnTo>
                <a:lnTo>
                  <a:pt x="50292" y="33527"/>
                </a:lnTo>
                <a:lnTo>
                  <a:pt x="47243" y="35051"/>
                </a:lnTo>
                <a:lnTo>
                  <a:pt x="45719" y="38100"/>
                </a:lnTo>
                <a:lnTo>
                  <a:pt x="47243" y="41910"/>
                </a:lnTo>
                <a:lnTo>
                  <a:pt x="50292" y="43434"/>
                </a:lnTo>
                <a:lnTo>
                  <a:pt x="50292" y="38100"/>
                </a:lnTo>
                <a:lnTo>
                  <a:pt x="53400" y="33527"/>
                </a:lnTo>
                <a:lnTo>
                  <a:pt x="53400" y="43434"/>
                </a:lnTo>
                <a:lnTo>
                  <a:pt x="53919" y="43434"/>
                </a:lnTo>
                <a:close/>
              </a:path>
              <a:path w="1271270" h="76200">
                <a:moveTo>
                  <a:pt x="76200" y="76200"/>
                </a:moveTo>
                <a:lnTo>
                  <a:pt x="53919" y="43434"/>
                </a:lnTo>
                <a:lnTo>
                  <a:pt x="50292" y="43434"/>
                </a:lnTo>
                <a:lnTo>
                  <a:pt x="47243" y="41910"/>
                </a:lnTo>
                <a:lnTo>
                  <a:pt x="45719" y="38100"/>
                </a:lnTo>
                <a:lnTo>
                  <a:pt x="45719" y="60960"/>
                </a:lnTo>
                <a:lnTo>
                  <a:pt x="76200" y="76200"/>
                </a:lnTo>
                <a:close/>
              </a:path>
              <a:path w="1271270" h="76200">
                <a:moveTo>
                  <a:pt x="1212341" y="38100"/>
                </a:moveTo>
                <a:lnTo>
                  <a:pt x="1211579" y="35051"/>
                </a:lnTo>
                <a:lnTo>
                  <a:pt x="1207769" y="33527"/>
                </a:lnTo>
                <a:lnTo>
                  <a:pt x="53400" y="33527"/>
                </a:lnTo>
                <a:lnTo>
                  <a:pt x="50292" y="38100"/>
                </a:lnTo>
                <a:lnTo>
                  <a:pt x="53919" y="43434"/>
                </a:lnTo>
                <a:lnTo>
                  <a:pt x="1207769" y="43434"/>
                </a:lnTo>
                <a:lnTo>
                  <a:pt x="1211579" y="41910"/>
                </a:lnTo>
                <a:lnTo>
                  <a:pt x="1212341" y="38100"/>
                </a:lnTo>
                <a:close/>
              </a:path>
              <a:path w="1271270" h="76200">
                <a:moveTo>
                  <a:pt x="1271015" y="38100"/>
                </a:moveTo>
                <a:lnTo>
                  <a:pt x="1194815" y="0"/>
                </a:lnTo>
                <a:lnTo>
                  <a:pt x="1194815" y="33527"/>
                </a:lnTo>
                <a:lnTo>
                  <a:pt x="1207769" y="33527"/>
                </a:lnTo>
                <a:lnTo>
                  <a:pt x="1211579" y="35051"/>
                </a:lnTo>
                <a:lnTo>
                  <a:pt x="1212341" y="38100"/>
                </a:lnTo>
                <a:lnTo>
                  <a:pt x="1212341" y="67437"/>
                </a:lnTo>
                <a:lnTo>
                  <a:pt x="1271015" y="38100"/>
                </a:lnTo>
                <a:close/>
              </a:path>
              <a:path w="1271270" h="76200">
                <a:moveTo>
                  <a:pt x="1212341" y="67437"/>
                </a:moveTo>
                <a:lnTo>
                  <a:pt x="1212341" y="38100"/>
                </a:lnTo>
                <a:lnTo>
                  <a:pt x="1211579" y="41910"/>
                </a:lnTo>
                <a:lnTo>
                  <a:pt x="1207769" y="43434"/>
                </a:lnTo>
                <a:lnTo>
                  <a:pt x="1194815" y="43434"/>
                </a:lnTo>
                <a:lnTo>
                  <a:pt x="1194815" y="76200"/>
                </a:lnTo>
                <a:lnTo>
                  <a:pt x="1212341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1821814" y="3383788"/>
            <a:ext cx="1080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5285" marR="5080" indent="-36322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synchronization  point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656219" y="4438141"/>
            <a:ext cx="1317625" cy="76200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76200" y="33528"/>
                </a:move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58674" y="38100"/>
                </a:lnTo>
                <a:lnTo>
                  <a:pt x="59436" y="35052"/>
                </a:lnTo>
                <a:lnTo>
                  <a:pt x="63245" y="33528"/>
                </a:lnTo>
                <a:lnTo>
                  <a:pt x="76200" y="33528"/>
                </a:lnTo>
                <a:close/>
              </a:path>
              <a:path w="1317625" h="76200">
                <a:moveTo>
                  <a:pt x="1317497" y="38100"/>
                </a:moveTo>
                <a:lnTo>
                  <a:pt x="1315973" y="35052"/>
                </a:lnTo>
                <a:lnTo>
                  <a:pt x="1312163" y="33528"/>
                </a:lnTo>
                <a:lnTo>
                  <a:pt x="63245" y="33528"/>
                </a:lnTo>
                <a:lnTo>
                  <a:pt x="59436" y="35052"/>
                </a:lnTo>
                <a:lnTo>
                  <a:pt x="58674" y="38100"/>
                </a:lnTo>
                <a:lnTo>
                  <a:pt x="59436" y="41910"/>
                </a:lnTo>
                <a:lnTo>
                  <a:pt x="63245" y="43434"/>
                </a:lnTo>
                <a:lnTo>
                  <a:pt x="1312163" y="43434"/>
                </a:lnTo>
                <a:lnTo>
                  <a:pt x="1315973" y="41910"/>
                </a:lnTo>
                <a:lnTo>
                  <a:pt x="1317497" y="38100"/>
                </a:lnTo>
                <a:close/>
              </a:path>
              <a:path w="1317625" h="76200">
                <a:moveTo>
                  <a:pt x="76200" y="76200"/>
                </a:moveTo>
                <a:lnTo>
                  <a:pt x="76200" y="43434"/>
                </a:lnTo>
                <a:lnTo>
                  <a:pt x="63245" y="43434"/>
                </a:lnTo>
                <a:lnTo>
                  <a:pt x="59436" y="41910"/>
                </a:lnTo>
                <a:lnTo>
                  <a:pt x="58674" y="38100"/>
                </a:lnTo>
                <a:lnTo>
                  <a:pt x="58674" y="67437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644789" y="5063744"/>
            <a:ext cx="1317625" cy="76200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1266443" y="38100"/>
                </a:moveTo>
                <a:lnTo>
                  <a:pt x="1263426" y="33527"/>
                </a:lnTo>
                <a:lnTo>
                  <a:pt x="4572" y="33527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909"/>
                </a:lnTo>
                <a:lnTo>
                  <a:pt x="4572" y="42671"/>
                </a:lnTo>
                <a:lnTo>
                  <a:pt x="1263426" y="42671"/>
                </a:lnTo>
                <a:lnTo>
                  <a:pt x="1266443" y="38100"/>
                </a:lnTo>
                <a:close/>
              </a:path>
              <a:path w="1317625" h="76200">
                <a:moveTo>
                  <a:pt x="1317497" y="38100"/>
                </a:moveTo>
                <a:lnTo>
                  <a:pt x="1241297" y="0"/>
                </a:lnTo>
                <a:lnTo>
                  <a:pt x="1263426" y="33527"/>
                </a:lnTo>
                <a:lnTo>
                  <a:pt x="1266443" y="33527"/>
                </a:lnTo>
                <a:lnTo>
                  <a:pt x="1270253" y="35051"/>
                </a:lnTo>
                <a:lnTo>
                  <a:pt x="1271777" y="38100"/>
                </a:lnTo>
                <a:lnTo>
                  <a:pt x="1271777" y="60959"/>
                </a:lnTo>
                <a:lnTo>
                  <a:pt x="1317497" y="38100"/>
                </a:lnTo>
                <a:close/>
              </a:path>
              <a:path w="1317625" h="76200">
                <a:moveTo>
                  <a:pt x="1271777" y="60959"/>
                </a:moveTo>
                <a:lnTo>
                  <a:pt x="1271777" y="38100"/>
                </a:lnTo>
                <a:lnTo>
                  <a:pt x="1270253" y="41909"/>
                </a:lnTo>
                <a:lnTo>
                  <a:pt x="1266443" y="42671"/>
                </a:lnTo>
                <a:lnTo>
                  <a:pt x="1263426" y="42672"/>
                </a:lnTo>
                <a:lnTo>
                  <a:pt x="1241297" y="76200"/>
                </a:lnTo>
                <a:lnTo>
                  <a:pt x="1271777" y="60959"/>
                </a:lnTo>
                <a:close/>
              </a:path>
              <a:path w="1317625" h="76200">
                <a:moveTo>
                  <a:pt x="1271777" y="38100"/>
                </a:moveTo>
                <a:lnTo>
                  <a:pt x="1270253" y="35051"/>
                </a:lnTo>
                <a:lnTo>
                  <a:pt x="1266443" y="33527"/>
                </a:lnTo>
                <a:lnTo>
                  <a:pt x="1263426" y="33527"/>
                </a:lnTo>
                <a:lnTo>
                  <a:pt x="1266443" y="38100"/>
                </a:lnTo>
                <a:lnTo>
                  <a:pt x="1266443" y="42671"/>
                </a:lnTo>
                <a:lnTo>
                  <a:pt x="1270253" y="41909"/>
                </a:lnTo>
                <a:lnTo>
                  <a:pt x="1271777" y="38100"/>
                </a:lnTo>
                <a:close/>
              </a:path>
              <a:path w="1317625" h="76200">
                <a:moveTo>
                  <a:pt x="1266443" y="42671"/>
                </a:moveTo>
                <a:lnTo>
                  <a:pt x="1266443" y="38100"/>
                </a:lnTo>
                <a:lnTo>
                  <a:pt x="1263426" y="42672"/>
                </a:lnTo>
                <a:lnTo>
                  <a:pt x="1266443" y="426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9255" y="4467097"/>
            <a:ext cx="219710" cy="665480"/>
          </a:xfrm>
          <a:custGeom>
            <a:avLst/>
            <a:gdLst/>
            <a:ahLst/>
            <a:cxnLst/>
            <a:rect l="l" t="t" r="r" b="b"/>
            <a:pathLst>
              <a:path w="219710" h="665479">
                <a:moveTo>
                  <a:pt x="169186" y="39412"/>
                </a:moveTo>
                <a:lnTo>
                  <a:pt x="168402" y="33527"/>
                </a:lnTo>
                <a:lnTo>
                  <a:pt x="163369" y="32226"/>
                </a:lnTo>
                <a:lnTo>
                  <a:pt x="146304" y="47243"/>
                </a:lnTo>
                <a:lnTo>
                  <a:pt x="111252" y="81534"/>
                </a:lnTo>
                <a:lnTo>
                  <a:pt x="80990" y="114280"/>
                </a:lnTo>
                <a:lnTo>
                  <a:pt x="55024" y="145578"/>
                </a:lnTo>
                <a:lnTo>
                  <a:pt x="25651" y="192421"/>
                </a:lnTo>
                <a:lnTo>
                  <a:pt x="3302" y="256210"/>
                </a:lnTo>
                <a:lnTo>
                  <a:pt x="0" y="291084"/>
                </a:lnTo>
                <a:lnTo>
                  <a:pt x="5599" y="334616"/>
                </a:lnTo>
                <a:lnTo>
                  <a:pt x="10021" y="348820"/>
                </a:lnTo>
                <a:lnTo>
                  <a:pt x="10021" y="279178"/>
                </a:lnTo>
                <a:lnTo>
                  <a:pt x="15011" y="246430"/>
                </a:lnTo>
                <a:lnTo>
                  <a:pt x="40386" y="185927"/>
                </a:lnTo>
                <a:lnTo>
                  <a:pt x="61145" y="153466"/>
                </a:lnTo>
                <a:lnTo>
                  <a:pt x="85344" y="123443"/>
                </a:lnTo>
                <a:lnTo>
                  <a:pt x="134874" y="70865"/>
                </a:lnTo>
                <a:lnTo>
                  <a:pt x="169186" y="39412"/>
                </a:lnTo>
                <a:close/>
              </a:path>
              <a:path w="219710" h="665479">
                <a:moveTo>
                  <a:pt x="219456" y="660653"/>
                </a:moveTo>
                <a:lnTo>
                  <a:pt x="218694" y="657605"/>
                </a:lnTo>
                <a:lnTo>
                  <a:pt x="198882" y="633222"/>
                </a:lnTo>
                <a:lnTo>
                  <a:pt x="141732" y="560069"/>
                </a:lnTo>
                <a:lnTo>
                  <a:pt x="103489" y="508115"/>
                </a:lnTo>
                <a:lnTo>
                  <a:pt x="67818" y="454151"/>
                </a:lnTo>
                <a:lnTo>
                  <a:pt x="49202" y="420902"/>
                </a:lnTo>
                <a:lnTo>
                  <a:pt x="32289" y="385567"/>
                </a:lnTo>
                <a:lnTo>
                  <a:pt x="19044" y="348901"/>
                </a:lnTo>
                <a:lnTo>
                  <a:pt x="10021" y="279178"/>
                </a:lnTo>
                <a:lnTo>
                  <a:pt x="10021" y="348820"/>
                </a:lnTo>
                <a:lnTo>
                  <a:pt x="39917" y="423872"/>
                </a:lnTo>
                <a:lnTo>
                  <a:pt x="65392" y="468312"/>
                </a:lnTo>
                <a:lnTo>
                  <a:pt x="94250" y="511770"/>
                </a:lnTo>
                <a:lnTo>
                  <a:pt x="124869" y="553604"/>
                </a:lnTo>
                <a:lnTo>
                  <a:pt x="155626" y="593172"/>
                </a:lnTo>
                <a:lnTo>
                  <a:pt x="211074" y="662939"/>
                </a:lnTo>
                <a:lnTo>
                  <a:pt x="214122" y="665226"/>
                </a:lnTo>
                <a:lnTo>
                  <a:pt x="217932" y="663701"/>
                </a:lnTo>
                <a:lnTo>
                  <a:pt x="219456" y="660653"/>
                </a:lnTo>
                <a:close/>
              </a:path>
              <a:path w="219710" h="665479">
                <a:moveTo>
                  <a:pt x="205740" y="0"/>
                </a:moveTo>
                <a:lnTo>
                  <a:pt x="124206" y="22098"/>
                </a:lnTo>
                <a:lnTo>
                  <a:pt x="163369" y="32226"/>
                </a:lnTo>
                <a:lnTo>
                  <a:pt x="165354" y="30479"/>
                </a:lnTo>
                <a:lnTo>
                  <a:pt x="168402" y="28955"/>
                </a:lnTo>
                <a:lnTo>
                  <a:pt x="171450" y="30479"/>
                </a:lnTo>
                <a:lnTo>
                  <a:pt x="172974" y="34289"/>
                </a:lnTo>
                <a:lnTo>
                  <a:pt x="172974" y="67817"/>
                </a:lnTo>
                <a:lnTo>
                  <a:pt x="174498" y="79248"/>
                </a:lnTo>
                <a:lnTo>
                  <a:pt x="205740" y="0"/>
                </a:lnTo>
                <a:close/>
              </a:path>
              <a:path w="219710" h="665479">
                <a:moveTo>
                  <a:pt x="172974" y="34289"/>
                </a:moveTo>
                <a:lnTo>
                  <a:pt x="171450" y="30479"/>
                </a:lnTo>
                <a:lnTo>
                  <a:pt x="168402" y="28955"/>
                </a:lnTo>
                <a:lnTo>
                  <a:pt x="165354" y="30479"/>
                </a:lnTo>
                <a:lnTo>
                  <a:pt x="163369" y="32226"/>
                </a:lnTo>
                <a:lnTo>
                  <a:pt x="168402" y="33527"/>
                </a:lnTo>
                <a:lnTo>
                  <a:pt x="169186" y="39412"/>
                </a:lnTo>
                <a:lnTo>
                  <a:pt x="171450" y="37337"/>
                </a:lnTo>
                <a:lnTo>
                  <a:pt x="172974" y="34289"/>
                </a:lnTo>
                <a:close/>
              </a:path>
              <a:path w="219710" h="665479">
                <a:moveTo>
                  <a:pt x="172974" y="67817"/>
                </a:moveTo>
                <a:lnTo>
                  <a:pt x="172974" y="34289"/>
                </a:lnTo>
                <a:lnTo>
                  <a:pt x="171450" y="37337"/>
                </a:lnTo>
                <a:lnTo>
                  <a:pt x="169186" y="39412"/>
                </a:lnTo>
                <a:lnTo>
                  <a:pt x="172974" y="678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317885" y="4483100"/>
            <a:ext cx="237490" cy="665480"/>
          </a:xfrm>
          <a:custGeom>
            <a:avLst/>
            <a:gdLst/>
            <a:ahLst/>
            <a:cxnLst/>
            <a:rect l="l" t="t" r="r" b="b"/>
            <a:pathLst>
              <a:path w="237489" h="665479">
                <a:moveTo>
                  <a:pt x="79248" y="31241"/>
                </a:moveTo>
                <a:lnTo>
                  <a:pt x="0" y="0"/>
                </a:lnTo>
                <a:lnTo>
                  <a:pt x="22098" y="82296"/>
                </a:lnTo>
                <a:lnTo>
                  <a:pt x="28956" y="57435"/>
                </a:lnTo>
                <a:lnTo>
                  <a:pt x="28956" y="37337"/>
                </a:lnTo>
                <a:lnTo>
                  <a:pt x="30480" y="34289"/>
                </a:lnTo>
                <a:lnTo>
                  <a:pt x="34289" y="32765"/>
                </a:lnTo>
                <a:lnTo>
                  <a:pt x="37337" y="34289"/>
                </a:lnTo>
                <a:lnTo>
                  <a:pt x="39892" y="37245"/>
                </a:lnTo>
                <a:lnTo>
                  <a:pt x="79248" y="31241"/>
                </a:lnTo>
                <a:close/>
              </a:path>
              <a:path w="237489" h="665479">
                <a:moveTo>
                  <a:pt x="227075" y="425960"/>
                </a:moveTo>
                <a:lnTo>
                  <a:pt x="227075" y="368808"/>
                </a:lnTo>
                <a:lnTo>
                  <a:pt x="223089" y="407843"/>
                </a:lnTo>
                <a:lnTo>
                  <a:pt x="210197" y="444650"/>
                </a:lnTo>
                <a:lnTo>
                  <a:pt x="190885" y="478969"/>
                </a:lnTo>
                <a:lnTo>
                  <a:pt x="167639" y="510539"/>
                </a:lnTo>
                <a:lnTo>
                  <a:pt x="129744" y="551030"/>
                </a:lnTo>
                <a:lnTo>
                  <a:pt x="89154" y="589026"/>
                </a:lnTo>
                <a:lnTo>
                  <a:pt x="28194" y="639317"/>
                </a:lnTo>
                <a:lnTo>
                  <a:pt x="6858" y="656082"/>
                </a:lnTo>
                <a:lnTo>
                  <a:pt x="5334" y="659891"/>
                </a:lnTo>
                <a:lnTo>
                  <a:pt x="6096" y="662939"/>
                </a:lnTo>
                <a:lnTo>
                  <a:pt x="9144" y="665226"/>
                </a:lnTo>
                <a:lnTo>
                  <a:pt x="12954" y="663701"/>
                </a:lnTo>
                <a:lnTo>
                  <a:pt x="54863" y="630174"/>
                </a:lnTo>
                <a:lnTo>
                  <a:pt x="95250" y="595884"/>
                </a:lnTo>
                <a:lnTo>
                  <a:pt x="133350" y="560832"/>
                </a:lnTo>
                <a:lnTo>
                  <a:pt x="171083" y="520382"/>
                </a:lnTo>
                <a:lnTo>
                  <a:pt x="202347" y="478786"/>
                </a:lnTo>
                <a:lnTo>
                  <a:pt x="219422" y="447174"/>
                </a:lnTo>
                <a:lnTo>
                  <a:pt x="227075" y="425960"/>
                </a:lnTo>
                <a:close/>
              </a:path>
              <a:path w="237489" h="665479">
                <a:moveTo>
                  <a:pt x="39892" y="37245"/>
                </a:moveTo>
                <a:lnTo>
                  <a:pt x="37337" y="34289"/>
                </a:lnTo>
                <a:lnTo>
                  <a:pt x="34289" y="32765"/>
                </a:lnTo>
                <a:lnTo>
                  <a:pt x="30480" y="34289"/>
                </a:lnTo>
                <a:lnTo>
                  <a:pt x="28956" y="37337"/>
                </a:lnTo>
                <a:lnTo>
                  <a:pt x="30480" y="41148"/>
                </a:lnTo>
                <a:lnTo>
                  <a:pt x="32726" y="43768"/>
                </a:lnTo>
                <a:lnTo>
                  <a:pt x="34289" y="38100"/>
                </a:lnTo>
                <a:lnTo>
                  <a:pt x="39892" y="37245"/>
                </a:lnTo>
                <a:close/>
              </a:path>
              <a:path w="237489" h="665479">
                <a:moveTo>
                  <a:pt x="32726" y="43768"/>
                </a:moveTo>
                <a:lnTo>
                  <a:pt x="30480" y="41148"/>
                </a:lnTo>
                <a:lnTo>
                  <a:pt x="28956" y="37337"/>
                </a:lnTo>
                <a:lnTo>
                  <a:pt x="28956" y="57435"/>
                </a:lnTo>
                <a:lnTo>
                  <a:pt x="32726" y="43768"/>
                </a:lnTo>
                <a:close/>
              </a:path>
              <a:path w="237489" h="665479">
                <a:moveTo>
                  <a:pt x="236982" y="379475"/>
                </a:moveTo>
                <a:lnTo>
                  <a:pt x="233077" y="333526"/>
                </a:lnTo>
                <a:lnTo>
                  <a:pt x="218333" y="286475"/>
                </a:lnTo>
                <a:lnTo>
                  <a:pt x="195163" y="239273"/>
                </a:lnTo>
                <a:lnTo>
                  <a:pt x="165977" y="192871"/>
                </a:lnTo>
                <a:lnTo>
                  <a:pt x="133190" y="148221"/>
                </a:lnTo>
                <a:lnTo>
                  <a:pt x="99212" y="106273"/>
                </a:lnTo>
                <a:lnTo>
                  <a:pt x="39892" y="37245"/>
                </a:lnTo>
                <a:lnTo>
                  <a:pt x="34289" y="38100"/>
                </a:lnTo>
                <a:lnTo>
                  <a:pt x="32726" y="43768"/>
                </a:lnTo>
                <a:lnTo>
                  <a:pt x="39624" y="51815"/>
                </a:lnTo>
                <a:lnTo>
                  <a:pt x="81534" y="99822"/>
                </a:lnTo>
                <a:lnTo>
                  <a:pt x="119949" y="147058"/>
                </a:lnTo>
                <a:lnTo>
                  <a:pt x="154370" y="193436"/>
                </a:lnTo>
                <a:lnTo>
                  <a:pt x="191032" y="251954"/>
                </a:lnTo>
                <a:lnTo>
                  <a:pt x="209349" y="289912"/>
                </a:lnTo>
                <a:lnTo>
                  <a:pt x="222433" y="329599"/>
                </a:lnTo>
                <a:lnTo>
                  <a:pt x="227075" y="368808"/>
                </a:lnTo>
                <a:lnTo>
                  <a:pt x="227075" y="425960"/>
                </a:lnTo>
                <a:lnTo>
                  <a:pt x="231561" y="413527"/>
                </a:lnTo>
                <a:lnTo>
                  <a:pt x="236982" y="3794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1695323" y="1157223"/>
            <a:ext cx="1092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541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Stream  </a:t>
            </a:r>
            <a:r>
              <a:rPr sz="1800" b="1" spc="-5" dirty="0">
                <a:latin typeface="Arial"/>
                <a:cs typeface="Arial"/>
              </a:rPr>
              <a:t>(e.g.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TCP)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4874145" y="1867916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873383" y="1867916"/>
            <a:ext cx="1336040" cy="232410"/>
          </a:xfrm>
          <a:custGeom>
            <a:avLst/>
            <a:gdLst/>
            <a:ahLst/>
            <a:cxnLst/>
            <a:rect l="l" t="t" r="r" b="b"/>
            <a:pathLst>
              <a:path w="1336039" h="232410">
                <a:moveTo>
                  <a:pt x="0" y="0"/>
                </a:moveTo>
                <a:lnTo>
                  <a:pt x="0" y="232410"/>
                </a:lnTo>
                <a:lnTo>
                  <a:pt x="1335786" y="232410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5213477" y="1859025"/>
            <a:ext cx="6559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5510415" y="2104898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5843"/>
                </a:lnTo>
                <a:lnTo>
                  <a:pt x="34289" y="279653"/>
                </a:lnTo>
                <a:lnTo>
                  <a:pt x="38100" y="281177"/>
                </a:lnTo>
                <a:lnTo>
                  <a:pt x="41135" y="279653"/>
                </a:lnTo>
                <a:lnTo>
                  <a:pt x="42659" y="275843"/>
                </a:lnTo>
                <a:lnTo>
                  <a:pt x="42659" y="330733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59" y="263651"/>
                </a:moveTo>
                <a:lnTo>
                  <a:pt x="42659" y="4571"/>
                </a:lnTo>
                <a:lnTo>
                  <a:pt x="41135" y="1523"/>
                </a:lnTo>
                <a:lnTo>
                  <a:pt x="38100" y="0"/>
                </a:lnTo>
                <a:lnTo>
                  <a:pt x="34289" y="1523"/>
                </a:lnTo>
                <a:lnTo>
                  <a:pt x="33527" y="4571"/>
                </a:lnTo>
                <a:lnTo>
                  <a:pt x="33527" y="263651"/>
                </a:lnTo>
                <a:lnTo>
                  <a:pt x="42659" y="263651"/>
                </a:lnTo>
                <a:close/>
              </a:path>
              <a:path w="76200" h="340360">
                <a:moveTo>
                  <a:pt x="42659" y="330733"/>
                </a:moveTo>
                <a:lnTo>
                  <a:pt x="42659" y="275843"/>
                </a:lnTo>
                <a:lnTo>
                  <a:pt x="41135" y="279653"/>
                </a:lnTo>
                <a:lnTo>
                  <a:pt x="38100" y="281177"/>
                </a:lnTo>
                <a:lnTo>
                  <a:pt x="34289" y="279653"/>
                </a:lnTo>
                <a:lnTo>
                  <a:pt x="33527" y="275843"/>
                </a:lnTo>
                <a:lnTo>
                  <a:pt x="33527" y="330707"/>
                </a:lnTo>
                <a:lnTo>
                  <a:pt x="38100" y="339851"/>
                </a:lnTo>
                <a:lnTo>
                  <a:pt x="42659" y="3307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877193" y="2474467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877193" y="2474467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5305678" y="2465577"/>
            <a:ext cx="4787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bind()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5513451" y="2711450"/>
            <a:ext cx="76200" cy="1631950"/>
          </a:xfrm>
          <a:custGeom>
            <a:avLst/>
            <a:gdLst/>
            <a:ahLst/>
            <a:cxnLst/>
            <a:rect l="l" t="t" r="r" b="b"/>
            <a:pathLst>
              <a:path w="76200" h="1631950">
                <a:moveTo>
                  <a:pt x="76200" y="1555241"/>
                </a:moveTo>
                <a:lnTo>
                  <a:pt x="0" y="1555241"/>
                </a:lnTo>
                <a:lnTo>
                  <a:pt x="33540" y="1622323"/>
                </a:lnTo>
                <a:lnTo>
                  <a:pt x="33540" y="1568195"/>
                </a:lnTo>
                <a:lnTo>
                  <a:pt x="35064" y="1571243"/>
                </a:lnTo>
                <a:lnTo>
                  <a:pt x="38100" y="1572767"/>
                </a:lnTo>
                <a:lnTo>
                  <a:pt x="41922" y="1571243"/>
                </a:lnTo>
                <a:lnTo>
                  <a:pt x="42684" y="1568195"/>
                </a:lnTo>
                <a:lnTo>
                  <a:pt x="42684" y="1622272"/>
                </a:lnTo>
                <a:lnTo>
                  <a:pt x="76200" y="1555241"/>
                </a:lnTo>
                <a:close/>
              </a:path>
              <a:path w="76200" h="1631950">
                <a:moveTo>
                  <a:pt x="42684" y="1555241"/>
                </a:moveTo>
                <a:lnTo>
                  <a:pt x="42684" y="4571"/>
                </a:lnTo>
                <a:lnTo>
                  <a:pt x="41922" y="761"/>
                </a:lnTo>
                <a:lnTo>
                  <a:pt x="38100" y="0"/>
                </a:lnTo>
                <a:lnTo>
                  <a:pt x="35064" y="761"/>
                </a:lnTo>
                <a:lnTo>
                  <a:pt x="33540" y="4571"/>
                </a:lnTo>
                <a:lnTo>
                  <a:pt x="33540" y="1555241"/>
                </a:lnTo>
                <a:lnTo>
                  <a:pt x="42684" y="1555241"/>
                </a:lnTo>
                <a:close/>
              </a:path>
              <a:path w="76200" h="1631950">
                <a:moveTo>
                  <a:pt x="42684" y="1622272"/>
                </a:moveTo>
                <a:lnTo>
                  <a:pt x="42684" y="1568195"/>
                </a:lnTo>
                <a:lnTo>
                  <a:pt x="41922" y="1571243"/>
                </a:lnTo>
                <a:lnTo>
                  <a:pt x="38100" y="1572767"/>
                </a:lnTo>
                <a:lnTo>
                  <a:pt x="35064" y="1571243"/>
                </a:lnTo>
                <a:lnTo>
                  <a:pt x="33540" y="1568195"/>
                </a:lnTo>
                <a:lnTo>
                  <a:pt x="33540" y="1622323"/>
                </a:lnTo>
                <a:lnTo>
                  <a:pt x="38100" y="1631441"/>
                </a:lnTo>
                <a:lnTo>
                  <a:pt x="42684" y="1622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871859" y="4386326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8"/>
                </a:lnTo>
                <a:lnTo>
                  <a:pt x="1335785" y="231648"/>
                </a:lnTo>
                <a:lnTo>
                  <a:pt x="1335785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871859" y="438632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5122811" y="4376673"/>
            <a:ext cx="8318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recvfrom()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5508891" y="4622546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15" y="330682"/>
                </a:lnTo>
                <a:lnTo>
                  <a:pt x="33515" y="275843"/>
                </a:lnTo>
                <a:lnTo>
                  <a:pt x="34289" y="279653"/>
                </a:lnTo>
                <a:lnTo>
                  <a:pt x="38100" y="281177"/>
                </a:lnTo>
                <a:lnTo>
                  <a:pt x="41135" y="279653"/>
                </a:lnTo>
                <a:lnTo>
                  <a:pt x="42659" y="275843"/>
                </a:lnTo>
                <a:lnTo>
                  <a:pt x="42659" y="330733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59" y="263651"/>
                </a:moveTo>
                <a:lnTo>
                  <a:pt x="42659" y="4571"/>
                </a:lnTo>
                <a:lnTo>
                  <a:pt x="41135" y="1524"/>
                </a:lnTo>
                <a:lnTo>
                  <a:pt x="38100" y="0"/>
                </a:lnTo>
                <a:lnTo>
                  <a:pt x="34289" y="1524"/>
                </a:lnTo>
                <a:lnTo>
                  <a:pt x="33515" y="4571"/>
                </a:lnTo>
                <a:lnTo>
                  <a:pt x="33515" y="263651"/>
                </a:lnTo>
                <a:lnTo>
                  <a:pt x="42659" y="263651"/>
                </a:lnTo>
                <a:close/>
              </a:path>
              <a:path w="76200" h="340360">
                <a:moveTo>
                  <a:pt x="42659" y="330733"/>
                </a:moveTo>
                <a:lnTo>
                  <a:pt x="42659" y="275843"/>
                </a:lnTo>
                <a:lnTo>
                  <a:pt x="41135" y="279653"/>
                </a:lnTo>
                <a:lnTo>
                  <a:pt x="38100" y="281177"/>
                </a:lnTo>
                <a:lnTo>
                  <a:pt x="34289" y="279653"/>
                </a:lnTo>
                <a:lnTo>
                  <a:pt x="33515" y="275843"/>
                </a:lnTo>
                <a:lnTo>
                  <a:pt x="33515" y="330682"/>
                </a:lnTo>
                <a:lnTo>
                  <a:pt x="38100" y="339851"/>
                </a:lnTo>
                <a:lnTo>
                  <a:pt x="42659" y="3307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875669" y="499211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3" y="232410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875669" y="499211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3" y="232410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5205857" y="4983226"/>
            <a:ext cx="6750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sendto()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5511927" y="5229097"/>
            <a:ext cx="76200" cy="539750"/>
          </a:xfrm>
          <a:custGeom>
            <a:avLst/>
            <a:gdLst/>
            <a:ahLst/>
            <a:cxnLst/>
            <a:rect l="l" t="t" r="r" b="b"/>
            <a:pathLst>
              <a:path w="76200" h="539750">
                <a:moveTo>
                  <a:pt x="76200" y="463296"/>
                </a:moveTo>
                <a:lnTo>
                  <a:pt x="0" y="463296"/>
                </a:lnTo>
                <a:lnTo>
                  <a:pt x="33540" y="530377"/>
                </a:lnTo>
                <a:lnTo>
                  <a:pt x="33540" y="476250"/>
                </a:lnTo>
                <a:lnTo>
                  <a:pt x="35064" y="479298"/>
                </a:lnTo>
                <a:lnTo>
                  <a:pt x="38100" y="480822"/>
                </a:lnTo>
                <a:lnTo>
                  <a:pt x="41148" y="479298"/>
                </a:lnTo>
                <a:lnTo>
                  <a:pt x="42672" y="476250"/>
                </a:lnTo>
                <a:lnTo>
                  <a:pt x="42672" y="530351"/>
                </a:lnTo>
                <a:lnTo>
                  <a:pt x="76200" y="463296"/>
                </a:lnTo>
                <a:close/>
              </a:path>
              <a:path w="76200" h="539750">
                <a:moveTo>
                  <a:pt x="42672" y="463296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5064" y="1524"/>
                </a:lnTo>
                <a:lnTo>
                  <a:pt x="33540" y="4572"/>
                </a:lnTo>
                <a:lnTo>
                  <a:pt x="33540" y="463296"/>
                </a:lnTo>
                <a:lnTo>
                  <a:pt x="42672" y="463296"/>
                </a:lnTo>
                <a:close/>
              </a:path>
              <a:path w="76200" h="539750">
                <a:moveTo>
                  <a:pt x="42672" y="530351"/>
                </a:moveTo>
                <a:lnTo>
                  <a:pt x="42672" y="476250"/>
                </a:lnTo>
                <a:lnTo>
                  <a:pt x="41148" y="479298"/>
                </a:lnTo>
                <a:lnTo>
                  <a:pt x="38100" y="480822"/>
                </a:lnTo>
                <a:lnTo>
                  <a:pt x="35064" y="479298"/>
                </a:lnTo>
                <a:lnTo>
                  <a:pt x="33540" y="476250"/>
                </a:lnTo>
                <a:lnTo>
                  <a:pt x="33540" y="530377"/>
                </a:lnTo>
                <a:lnTo>
                  <a:pt x="38100" y="539496"/>
                </a:lnTo>
                <a:lnTo>
                  <a:pt x="42672" y="530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880241" y="5799073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880241" y="5799073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5269103" y="5789421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218810" y="1554225"/>
            <a:ext cx="6578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Server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7515225" y="1876298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515225" y="1876298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7855331" y="1867407"/>
            <a:ext cx="6559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8152269" y="2701544"/>
            <a:ext cx="76200" cy="1632585"/>
          </a:xfrm>
          <a:custGeom>
            <a:avLst/>
            <a:gdLst/>
            <a:ahLst/>
            <a:cxnLst/>
            <a:rect l="l" t="t" r="r" b="b"/>
            <a:pathLst>
              <a:path w="76200" h="1632585">
                <a:moveTo>
                  <a:pt x="76200" y="1556004"/>
                </a:moveTo>
                <a:lnTo>
                  <a:pt x="0" y="1556004"/>
                </a:lnTo>
                <a:lnTo>
                  <a:pt x="32753" y="1621510"/>
                </a:lnTo>
                <a:lnTo>
                  <a:pt x="32753" y="1568196"/>
                </a:lnTo>
                <a:lnTo>
                  <a:pt x="34277" y="1572006"/>
                </a:lnTo>
                <a:lnTo>
                  <a:pt x="38100" y="1573530"/>
                </a:lnTo>
                <a:lnTo>
                  <a:pt x="41148" y="1572006"/>
                </a:lnTo>
                <a:lnTo>
                  <a:pt x="42672" y="1568196"/>
                </a:lnTo>
                <a:lnTo>
                  <a:pt x="42672" y="1623060"/>
                </a:lnTo>
                <a:lnTo>
                  <a:pt x="76200" y="1556004"/>
                </a:lnTo>
                <a:close/>
              </a:path>
              <a:path w="76200" h="1632585">
                <a:moveTo>
                  <a:pt x="42672" y="1556004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77" y="1524"/>
                </a:lnTo>
                <a:lnTo>
                  <a:pt x="32753" y="4572"/>
                </a:lnTo>
                <a:lnTo>
                  <a:pt x="32753" y="1556004"/>
                </a:lnTo>
                <a:lnTo>
                  <a:pt x="42672" y="1556004"/>
                </a:lnTo>
                <a:close/>
              </a:path>
              <a:path w="76200" h="1632585">
                <a:moveTo>
                  <a:pt x="42672" y="1623060"/>
                </a:moveTo>
                <a:lnTo>
                  <a:pt x="42672" y="1568196"/>
                </a:lnTo>
                <a:lnTo>
                  <a:pt x="41148" y="1572006"/>
                </a:lnTo>
                <a:lnTo>
                  <a:pt x="38100" y="1573530"/>
                </a:lnTo>
                <a:lnTo>
                  <a:pt x="34277" y="1572006"/>
                </a:lnTo>
                <a:lnTo>
                  <a:pt x="32753" y="1568196"/>
                </a:lnTo>
                <a:lnTo>
                  <a:pt x="32753" y="1621510"/>
                </a:lnTo>
                <a:lnTo>
                  <a:pt x="38100" y="1632204"/>
                </a:lnTo>
                <a:lnTo>
                  <a:pt x="42672" y="16230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513701" y="439394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7513701" y="439394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7843901" y="4385055"/>
            <a:ext cx="6750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sendto()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8149970" y="4630165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6606"/>
                </a:lnTo>
                <a:lnTo>
                  <a:pt x="35051" y="279654"/>
                </a:lnTo>
                <a:lnTo>
                  <a:pt x="38100" y="281178"/>
                </a:lnTo>
                <a:lnTo>
                  <a:pt x="41922" y="279654"/>
                </a:lnTo>
                <a:lnTo>
                  <a:pt x="43446" y="276606"/>
                </a:lnTo>
                <a:lnTo>
                  <a:pt x="43446" y="329158"/>
                </a:lnTo>
                <a:lnTo>
                  <a:pt x="76200" y="263651"/>
                </a:lnTo>
                <a:close/>
              </a:path>
              <a:path w="76200" h="340360">
                <a:moveTo>
                  <a:pt x="43446" y="263651"/>
                </a:moveTo>
                <a:lnTo>
                  <a:pt x="43446" y="5334"/>
                </a:lnTo>
                <a:lnTo>
                  <a:pt x="41922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7" y="5334"/>
                </a:lnTo>
                <a:lnTo>
                  <a:pt x="33527" y="263651"/>
                </a:lnTo>
                <a:lnTo>
                  <a:pt x="43446" y="263651"/>
                </a:lnTo>
                <a:close/>
              </a:path>
              <a:path w="76200" h="340360">
                <a:moveTo>
                  <a:pt x="43446" y="329158"/>
                </a:moveTo>
                <a:lnTo>
                  <a:pt x="43446" y="276606"/>
                </a:lnTo>
                <a:lnTo>
                  <a:pt x="41922" y="279654"/>
                </a:lnTo>
                <a:lnTo>
                  <a:pt x="38100" y="281178"/>
                </a:lnTo>
                <a:lnTo>
                  <a:pt x="35051" y="279654"/>
                </a:lnTo>
                <a:lnTo>
                  <a:pt x="33527" y="276606"/>
                </a:lnTo>
                <a:lnTo>
                  <a:pt x="33527" y="330707"/>
                </a:lnTo>
                <a:lnTo>
                  <a:pt x="38100" y="339851"/>
                </a:lnTo>
                <a:lnTo>
                  <a:pt x="43446" y="3291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516748" y="5000497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7516748" y="5000497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7767701" y="4991608"/>
            <a:ext cx="8318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recvfrom()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8153793" y="5236717"/>
            <a:ext cx="76200" cy="540385"/>
          </a:xfrm>
          <a:custGeom>
            <a:avLst/>
            <a:gdLst/>
            <a:ahLst/>
            <a:cxnLst/>
            <a:rect l="l" t="t" r="r" b="b"/>
            <a:pathLst>
              <a:path w="76200" h="540385">
                <a:moveTo>
                  <a:pt x="76200" y="464058"/>
                </a:moveTo>
                <a:lnTo>
                  <a:pt x="0" y="464058"/>
                </a:lnTo>
                <a:lnTo>
                  <a:pt x="32753" y="529564"/>
                </a:lnTo>
                <a:lnTo>
                  <a:pt x="32753" y="476250"/>
                </a:lnTo>
                <a:lnTo>
                  <a:pt x="34277" y="480060"/>
                </a:lnTo>
                <a:lnTo>
                  <a:pt x="38100" y="480822"/>
                </a:lnTo>
                <a:lnTo>
                  <a:pt x="41148" y="480060"/>
                </a:lnTo>
                <a:lnTo>
                  <a:pt x="42672" y="476250"/>
                </a:lnTo>
                <a:lnTo>
                  <a:pt x="42672" y="531113"/>
                </a:lnTo>
                <a:lnTo>
                  <a:pt x="76200" y="464058"/>
                </a:lnTo>
                <a:close/>
              </a:path>
              <a:path w="76200" h="540385">
                <a:moveTo>
                  <a:pt x="42672" y="464058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77" y="1524"/>
                </a:lnTo>
                <a:lnTo>
                  <a:pt x="32753" y="4572"/>
                </a:lnTo>
                <a:lnTo>
                  <a:pt x="32753" y="464058"/>
                </a:lnTo>
                <a:lnTo>
                  <a:pt x="42672" y="464058"/>
                </a:lnTo>
                <a:close/>
              </a:path>
              <a:path w="76200" h="540385">
                <a:moveTo>
                  <a:pt x="42672" y="531113"/>
                </a:moveTo>
                <a:lnTo>
                  <a:pt x="42672" y="476250"/>
                </a:lnTo>
                <a:lnTo>
                  <a:pt x="41148" y="480060"/>
                </a:lnTo>
                <a:lnTo>
                  <a:pt x="38100" y="480822"/>
                </a:lnTo>
                <a:lnTo>
                  <a:pt x="34277" y="480060"/>
                </a:lnTo>
                <a:lnTo>
                  <a:pt x="32753" y="476250"/>
                </a:lnTo>
                <a:lnTo>
                  <a:pt x="32753" y="529564"/>
                </a:lnTo>
                <a:lnTo>
                  <a:pt x="38100" y="540258"/>
                </a:lnTo>
                <a:lnTo>
                  <a:pt x="42672" y="531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522095" y="5806694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521333" y="5806694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40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7910956" y="5797803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7884286" y="1560322"/>
            <a:ext cx="5899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Client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6209169" y="4446523"/>
            <a:ext cx="1317625" cy="76200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76200" y="32765"/>
                </a:move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58674" y="38100"/>
                </a:lnTo>
                <a:lnTo>
                  <a:pt x="59436" y="34289"/>
                </a:lnTo>
                <a:lnTo>
                  <a:pt x="63246" y="32765"/>
                </a:lnTo>
                <a:lnTo>
                  <a:pt x="76200" y="32765"/>
                </a:lnTo>
                <a:close/>
              </a:path>
              <a:path w="1317625" h="76200">
                <a:moveTo>
                  <a:pt x="1317498" y="38100"/>
                </a:moveTo>
                <a:lnTo>
                  <a:pt x="1315974" y="34289"/>
                </a:lnTo>
                <a:lnTo>
                  <a:pt x="1312164" y="32765"/>
                </a:lnTo>
                <a:lnTo>
                  <a:pt x="63246" y="32765"/>
                </a:lnTo>
                <a:lnTo>
                  <a:pt x="59436" y="34289"/>
                </a:lnTo>
                <a:lnTo>
                  <a:pt x="58674" y="38100"/>
                </a:lnTo>
                <a:lnTo>
                  <a:pt x="59436" y="41148"/>
                </a:lnTo>
                <a:lnTo>
                  <a:pt x="63246" y="42672"/>
                </a:lnTo>
                <a:lnTo>
                  <a:pt x="1312164" y="42672"/>
                </a:lnTo>
                <a:lnTo>
                  <a:pt x="1315974" y="41148"/>
                </a:lnTo>
                <a:lnTo>
                  <a:pt x="1317498" y="38100"/>
                </a:lnTo>
                <a:close/>
              </a:path>
              <a:path w="1317625" h="76200">
                <a:moveTo>
                  <a:pt x="76200" y="76200"/>
                </a:moveTo>
                <a:lnTo>
                  <a:pt x="76200" y="42672"/>
                </a:lnTo>
                <a:lnTo>
                  <a:pt x="63246" y="42672"/>
                </a:lnTo>
                <a:lnTo>
                  <a:pt x="59436" y="41148"/>
                </a:lnTo>
                <a:lnTo>
                  <a:pt x="58674" y="38100"/>
                </a:lnTo>
                <a:lnTo>
                  <a:pt x="58674" y="67437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6197727" y="5072126"/>
            <a:ext cx="1317625" cy="76200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1266456" y="38100"/>
                </a:moveTo>
                <a:lnTo>
                  <a:pt x="1262934" y="32765"/>
                </a:lnTo>
                <a:lnTo>
                  <a:pt x="4572" y="32765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1263437" y="42672"/>
                </a:lnTo>
                <a:lnTo>
                  <a:pt x="1266456" y="38100"/>
                </a:lnTo>
                <a:close/>
              </a:path>
              <a:path w="1317625" h="76200">
                <a:moveTo>
                  <a:pt x="1317498" y="38100"/>
                </a:moveTo>
                <a:lnTo>
                  <a:pt x="1241298" y="0"/>
                </a:lnTo>
                <a:lnTo>
                  <a:pt x="1262934" y="32765"/>
                </a:lnTo>
                <a:lnTo>
                  <a:pt x="1266456" y="32765"/>
                </a:lnTo>
                <a:lnTo>
                  <a:pt x="1270266" y="34289"/>
                </a:lnTo>
                <a:lnTo>
                  <a:pt x="1271790" y="38100"/>
                </a:lnTo>
                <a:lnTo>
                  <a:pt x="1271790" y="60953"/>
                </a:lnTo>
                <a:lnTo>
                  <a:pt x="1317498" y="38100"/>
                </a:lnTo>
                <a:close/>
              </a:path>
              <a:path w="1317625" h="76200">
                <a:moveTo>
                  <a:pt x="1271790" y="60953"/>
                </a:moveTo>
                <a:lnTo>
                  <a:pt x="1271790" y="38100"/>
                </a:lnTo>
                <a:lnTo>
                  <a:pt x="1270266" y="41148"/>
                </a:lnTo>
                <a:lnTo>
                  <a:pt x="1266456" y="42672"/>
                </a:lnTo>
                <a:lnTo>
                  <a:pt x="1263437" y="42672"/>
                </a:lnTo>
                <a:lnTo>
                  <a:pt x="1241298" y="76200"/>
                </a:lnTo>
                <a:lnTo>
                  <a:pt x="1271790" y="60953"/>
                </a:lnTo>
                <a:close/>
              </a:path>
              <a:path w="1317625" h="76200">
                <a:moveTo>
                  <a:pt x="1271790" y="38100"/>
                </a:moveTo>
                <a:lnTo>
                  <a:pt x="1270266" y="34289"/>
                </a:lnTo>
                <a:lnTo>
                  <a:pt x="1266456" y="32765"/>
                </a:lnTo>
                <a:lnTo>
                  <a:pt x="1262934" y="32765"/>
                </a:lnTo>
                <a:lnTo>
                  <a:pt x="1266456" y="38100"/>
                </a:lnTo>
                <a:lnTo>
                  <a:pt x="1266456" y="42672"/>
                </a:lnTo>
                <a:lnTo>
                  <a:pt x="1270266" y="41148"/>
                </a:lnTo>
                <a:lnTo>
                  <a:pt x="1271790" y="38100"/>
                </a:lnTo>
                <a:close/>
              </a:path>
              <a:path w="1317625" h="76200">
                <a:moveTo>
                  <a:pt x="1266456" y="42672"/>
                </a:moveTo>
                <a:lnTo>
                  <a:pt x="1266456" y="38100"/>
                </a:lnTo>
                <a:lnTo>
                  <a:pt x="1263437" y="42672"/>
                </a:lnTo>
                <a:lnTo>
                  <a:pt x="1266456" y="426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592967" y="4474717"/>
            <a:ext cx="219075" cy="665480"/>
          </a:xfrm>
          <a:custGeom>
            <a:avLst/>
            <a:gdLst/>
            <a:ahLst/>
            <a:cxnLst/>
            <a:rect l="l" t="t" r="r" b="b"/>
            <a:pathLst>
              <a:path w="219075" h="665479">
                <a:moveTo>
                  <a:pt x="168344" y="39486"/>
                </a:moveTo>
                <a:lnTo>
                  <a:pt x="167639" y="34290"/>
                </a:lnTo>
                <a:lnTo>
                  <a:pt x="161938" y="32815"/>
                </a:lnTo>
                <a:lnTo>
                  <a:pt x="145541" y="47244"/>
                </a:lnTo>
                <a:lnTo>
                  <a:pt x="110489" y="82296"/>
                </a:lnTo>
                <a:lnTo>
                  <a:pt x="77724" y="117348"/>
                </a:lnTo>
                <a:lnTo>
                  <a:pt x="49444" y="153066"/>
                </a:lnTo>
                <a:lnTo>
                  <a:pt x="16859" y="209638"/>
                </a:lnTo>
                <a:lnTo>
                  <a:pt x="481" y="270774"/>
                </a:lnTo>
                <a:lnTo>
                  <a:pt x="0" y="302514"/>
                </a:lnTo>
                <a:lnTo>
                  <a:pt x="7214" y="344435"/>
                </a:lnTo>
                <a:lnTo>
                  <a:pt x="9143" y="350051"/>
                </a:lnTo>
                <a:lnTo>
                  <a:pt x="9143" y="301752"/>
                </a:lnTo>
                <a:lnTo>
                  <a:pt x="10822" y="264344"/>
                </a:lnTo>
                <a:lnTo>
                  <a:pt x="31925" y="200017"/>
                </a:lnTo>
                <a:lnTo>
                  <a:pt x="66236" y="146265"/>
                </a:lnTo>
                <a:lnTo>
                  <a:pt x="98396" y="107973"/>
                </a:lnTo>
                <a:lnTo>
                  <a:pt x="134112" y="71628"/>
                </a:lnTo>
                <a:lnTo>
                  <a:pt x="152400" y="54102"/>
                </a:lnTo>
                <a:lnTo>
                  <a:pt x="168344" y="39486"/>
                </a:lnTo>
                <a:close/>
              </a:path>
              <a:path w="219075" h="665479">
                <a:moveTo>
                  <a:pt x="218693" y="661416"/>
                </a:moveTo>
                <a:lnTo>
                  <a:pt x="217931" y="657606"/>
                </a:lnTo>
                <a:lnTo>
                  <a:pt x="198119" y="633222"/>
                </a:lnTo>
                <a:lnTo>
                  <a:pt x="160019" y="584454"/>
                </a:lnTo>
                <a:lnTo>
                  <a:pt x="135155" y="553062"/>
                </a:lnTo>
                <a:lnTo>
                  <a:pt x="111294" y="520879"/>
                </a:lnTo>
                <a:lnTo>
                  <a:pt x="88555" y="487908"/>
                </a:lnTo>
                <a:lnTo>
                  <a:pt x="67055" y="454152"/>
                </a:lnTo>
                <a:lnTo>
                  <a:pt x="46750" y="417832"/>
                </a:lnTo>
                <a:lnTo>
                  <a:pt x="29532" y="381061"/>
                </a:lnTo>
                <a:lnTo>
                  <a:pt x="16597" y="342736"/>
                </a:lnTo>
                <a:lnTo>
                  <a:pt x="9143" y="301752"/>
                </a:lnTo>
                <a:lnTo>
                  <a:pt x="9143" y="350051"/>
                </a:lnTo>
                <a:lnTo>
                  <a:pt x="21986" y="387434"/>
                </a:lnTo>
                <a:lnTo>
                  <a:pt x="42807" y="430857"/>
                </a:lnTo>
                <a:lnTo>
                  <a:pt x="68169" y="474050"/>
                </a:lnTo>
                <a:lnTo>
                  <a:pt x="96563" y="516361"/>
                </a:lnTo>
                <a:lnTo>
                  <a:pt x="126483" y="557134"/>
                </a:lnTo>
                <a:lnTo>
                  <a:pt x="156420" y="595718"/>
                </a:lnTo>
                <a:lnTo>
                  <a:pt x="210312" y="663702"/>
                </a:lnTo>
                <a:lnTo>
                  <a:pt x="213360" y="665226"/>
                </a:lnTo>
                <a:lnTo>
                  <a:pt x="217169" y="664464"/>
                </a:lnTo>
                <a:lnTo>
                  <a:pt x="218693" y="661416"/>
                </a:lnTo>
                <a:close/>
              </a:path>
              <a:path w="219075" h="665479">
                <a:moveTo>
                  <a:pt x="204977" y="0"/>
                </a:moveTo>
                <a:lnTo>
                  <a:pt x="123443" y="22860"/>
                </a:lnTo>
                <a:lnTo>
                  <a:pt x="161938" y="32815"/>
                </a:lnTo>
                <a:lnTo>
                  <a:pt x="164591" y="30480"/>
                </a:lnTo>
                <a:lnTo>
                  <a:pt x="167639" y="28956"/>
                </a:lnTo>
                <a:lnTo>
                  <a:pt x="170687" y="30480"/>
                </a:lnTo>
                <a:lnTo>
                  <a:pt x="172212" y="34290"/>
                </a:lnTo>
                <a:lnTo>
                  <a:pt x="172212" y="68008"/>
                </a:lnTo>
                <a:lnTo>
                  <a:pt x="173736" y="79248"/>
                </a:lnTo>
                <a:lnTo>
                  <a:pt x="204977" y="0"/>
                </a:lnTo>
                <a:close/>
              </a:path>
              <a:path w="219075" h="665479">
                <a:moveTo>
                  <a:pt x="172212" y="34290"/>
                </a:moveTo>
                <a:lnTo>
                  <a:pt x="170687" y="30480"/>
                </a:lnTo>
                <a:lnTo>
                  <a:pt x="167639" y="28956"/>
                </a:lnTo>
                <a:lnTo>
                  <a:pt x="164591" y="30480"/>
                </a:lnTo>
                <a:lnTo>
                  <a:pt x="161938" y="32815"/>
                </a:lnTo>
                <a:lnTo>
                  <a:pt x="167639" y="34290"/>
                </a:lnTo>
                <a:lnTo>
                  <a:pt x="168344" y="39486"/>
                </a:lnTo>
                <a:lnTo>
                  <a:pt x="170687" y="37337"/>
                </a:lnTo>
                <a:lnTo>
                  <a:pt x="172212" y="34290"/>
                </a:lnTo>
                <a:close/>
              </a:path>
              <a:path w="219075" h="665479">
                <a:moveTo>
                  <a:pt x="172212" y="68008"/>
                </a:moveTo>
                <a:lnTo>
                  <a:pt x="172212" y="34290"/>
                </a:lnTo>
                <a:lnTo>
                  <a:pt x="170687" y="37337"/>
                </a:lnTo>
                <a:lnTo>
                  <a:pt x="168344" y="39486"/>
                </a:lnTo>
                <a:lnTo>
                  <a:pt x="172212" y="680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8870822" y="4490720"/>
            <a:ext cx="236854" cy="665480"/>
          </a:xfrm>
          <a:custGeom>
            <a:avLst/>
            <a:gdLst/>
            <a:ahLst/>
            <a:cxnLst/>
            <a:rect l="l" t="t" r="r" b="b"/>
            <a:pathLst>
              <a:path w="236854" h="665479">
                <a:moveTo>
                  <a:pt x="79248" y="32003"/>
                </a:moveTo>
                <a:lnTo>
                  <a:pt x="0" y="0"/>
                </a:lnTo>
                <a:lnTo>
                  <a:pt x="22098" y="82295"/>
                </a:lnTo>
                <a:lnTo>
                  <a:pt x="28968" y="57415"/>
                </a:lnTo>
                <a:lnTo>
                  <a:pt x="28968" y="38100"/>
                </a:lnTo>
                <a:lnTo>
                  <a:pt x="30492" y="34289"/>
                </a:lnTo>
                <a:lnTo>
                  <a:pt x="34302" y="33527"/>
                </a:lnTo>
                <a:lnTo>
                  <a:pt x="37350" y="35051"/>
                </a:lnTo>
                <a:lnTo>
                  <a:pt x="39400" y="37408"/>
                </a:lnTo>
                <a:lnTo>
                  <a:pt x="79248" y="32003"/>
                </a:lnTo>
                <a:close/>
              </a:path>
              <a:path w="236854" h="665479">
                <a:moveTo>
                  <a:pt x="227075" y="427697"/>
                </a:moveTo>
                <a:lnTo>
                  <a:pt x="227075" y="369569"/>
                </a:lnTo>
                <a:lnTo>
                  <a:pt x="223702" y="405332"/>
                </a:lnTo>
                <a:lnTo>
                  <a:pt x="212450" y="439821"/>
                </a:lnTo>
                <a:lnTo>
                  <a:pt x="174498" y="501395"/>
                </a:lnTo>
                <a:lnTo>
                  <a:pt x="143122" y="538110"/>
                </a:lnTo>
                <a:lnTo>
                  <a:pt x="89153" y="589026"/>
                </a:lnTo>
                <a:lnTo>
                  <a:pt x="48780" y="623315"/>
                </a:lnTo>
                <a:lnTo>
                  <a:pt x="6870" y="656843"/>
                </a:lnTo>
                <a:lnTo>
                  <a:pt x="5346" y="659891"/>
                </a:lnTo>
                <a:lnTo>
                  <a:pt x="6108" y="663701"/>
                </a:lnTo>
                <a:lnTo>
                  <a:pt x="9156" y="665226"/>
                </a:lnTo>
                <a:lnTo>
                  <a:pt x="12953" y="664463"/>
                </a:lnTo>
                <a:lnTo>
                  <a:pt x="75450" y="613409"/>
                </a:lnTo>
                <a:lnTo>
                  <a:pt x="116436" y="577275"/>
                </a:lnTo>
                <a:lnTo>
                  <a:pt x="156400" y="537558"/>
                </a:lnTo>
                <a:lnTo>
                  <a:pt x="196445" y="488125"/>
                </a:lnTo>
                <a:lnTo>
                  <a:pt x="214572" y="457490"/>
                </a:lnTo>
                <a:lnTo>
                  <a:pt x="227075" y="427697"/>
                </a:lnTo>
                <a:close/>
              </a:path>
              <a:path w="236854" h="665479">
                <a:moveTo>
                  <a:pt x="39400" y="37408"/>
                </a:moveTo>
                <a:lnTo>
                  <a:pt x="37350" y="35051"/>
                </a:lnTo>
                <a:lnTo>
                  <a:pt x="34302" y="33527"/>
                </a:lnTo>
                <a:lnTo>
                  <a:pt x="30492" y="34289"/>
                </a:lnTo>
                <a:lnTo>
                  <a:pt x="28968" y="38100"/>
                </a:lnTo>
                <a:lnTo>
                  <a:pt x="30492" y="41147"/>
                </a:lnTo>
                <a:lnTo>
                  <a:pt x="32736" y="43769"/>
                </a:lnTo>
                <a:lnTo>
                  <a:pt x="34302" y="38100"/>
                </a:lnTo>
                <a:lnTo>
                  <a:pt x="39400" y="37408"/>
                </a:lnTo>
                <a:close/>
              </a:path>
              <a:path w="236854" h="665479">
                <a:moveTo>
                  <a:pt x="32736" y="43769"/>
                </a:moveTo>
                <a:lnTo>
                  <a:pt x="30492" y="41147"/>
                </a:lnTo>
                <a:lnTo>
                  <a:pt x="28968" y="38100"/>
                </a:lnTo>
                <a:lnTo>
                  <a:pt x="28968" y="57415"/>
                </a:lnTo>
                <a:lnTo>
                  <a:pt x="32736" y="43769"/>
                </a:lnTo>
                <a:close/>
              </a:path>
              <a:path w="236854" h="665479">
                <a:moveTo>
                  <a:pt x="236232" y="390143"/>
                </a:moveTo>
                <a:lnTo>
                  <a:pt x="235599" y="348397"/>
                </a:lnTo>
                <a:lnTo>
                  <a:pt x="225243" y="305446"/>
                </a:lnTo>
                <a:lnTo>
                  <a:pt x="207031" y="262051"/>
                </a:lnTo>
                <a:lnTo>
                  <a:pt x="182829" y="218976"/>
                </a:lnTo>
                <a:lnTo>
                  <a:pt x="154507" y="176981"/>
                </a:lnTo>
                <a:lnTo>
                  <a:pt x="123930" y="136829"/>
                </a:lnTo>
                <a:lnTo>
                  <a:pt x="92967" y="99282"/>
                </a:lnTo>
                <a:lnTo>
                  <a:pt x="39400" y="37408"/>
                </a:lnTo>
                <a:lnTo>
                  <a:pt x="34302" y="38100"/>
                </a:lnTo>
                <a:lnTo>
                  <a:pt x="32736" y="43769"/>
                </a:lnTo>
                <a:lnTo>
                  <a:pt x="39624" y="51815"/>
                </a:lnTo>
                <a:lnTo>
                  <a:pt x="60972" y="76200"/>
                </a:lnTo>
                <a:lnTo>
                  <a:pt x="101358" y="124205"/>
                </a:lnTo>
                <a:lnTo>
                  <a:pt x="135724" y="167836"/>
                </a:lnTo>
                <a:lnTo>
                  <a:pt x="164398" y="208381"/>
                </a:lnTo>
                <a:lnTo>
                  <a:pt x="196179" y="262136"/>
                </a:lnTo>
                <a:lnTo>
                  <a:pt x="223019" y="332473"/>
                </a:lnTo>
                <a:lnTo>
                  <a:pt x="227075" y="369569"/>
                </a:lnTo>
                <a:lnTo>
                  <a:pt x="227075" y="427697"/>
                </a:lnTo>
                <a:lnTo>
                  <a:pt x="228290" y="424804"/>
                </a:lnTo>
                <a:lnTo>
                  <a:pt x="236232" y="3901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 txBox="1"/>
          <p:nvPr/>
        </p:nvSpPr>
        <p:spPr>
          <a:xfrm>
            <a:off x="6235331" y="1164844"/>
            <a:ext cx="1118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Datagram  (e.g.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UDP)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7522095" y="2452370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7521333" y="2452370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40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 txBox="1"/>
          <p:nvPr/>
        </p:nvSpPr>
        <p:spPr>
          <a:xfrm>
            <a:off x="7950581" y="2443480"/>
            <a:ext cx="4787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bind()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8142351" y="2109470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2"/>
                </a:moveTo>
                <a:lnTo>
                  <a:pt x="0" y="263652"/>
                </a:lnTo>
                <a:lnTo>
                  <a:pt x="33540" y="330733"/>
                </a:lnTo>
                <a:lnTo>
                  <a:pt x="33540" y="276606"/>
                </a:lnTo>
                <a:lnTo>
                  <a:pt x="35064" y="279654"/>
                </a:lnTo>
                <a:lnTo>
                  <a:pt x="38100" y="281178"/>
                </a:lnTo>
                <a:lnTo>
                  <a:pt x="41922" y="279654"/>
                </a:lnTo>
                <a:lnTo>
                  <a:pt x="42672" y="276606"/>
                </a:lnTo>
                <a:lnTo>
                  <a:pt x="42672" y="330708"/>
                </a:lnTo>
                <a:lnTo>
                  <a:pt x="76200" y="263652"/>
                </a:lnTo>
                <a:close/>
              </a:path>
              <a:path w="76200" h="340360">
                <a:moveTo>
                  <a:pt x="42672" y="263652"/>
                </a:moveTo>
                <a:lnTo>
                  <a:pt x="42672" y="4572"/>
                </a:lnTo>
                <a:lnTo>
                  <a:pt x="41922" y="1524"/>
                </a:lnTo>
                <a:lnTo>
                  <a:pt x="38100" y="0"/>
                </a:lnTo>
                <a:lnTo>
                  <a:pt x="35064" y="1524"/>
                </a:lnTo>
                <a:lnTo>
                  <a:pt x="33540" y="4572"/>
                </a:lnTo>
                <a:lnTo>
                  <a:pt x="33540" y="263652"/>
                </a:lnTo>
                <a:lnTo>
                  <a:pt x="42672" y="263652"/>
                </a:lnTo>
                <a:close/>
              </a:path>
              <a:path w="76200" h="340360">
                <a:moveTo>
                  <a:pt x="42672" y="330708"/>
                </a:moveTo>
                <a:lnTo>
                  <a:pt x="42672" y="276606"/>
                </a:lnTo>
                <a:lnTo>
                  <a:pt x="41922" y="279654"/>
                </a:lnTo>
                <a:lnTo>
                  <a:pt x="38100" y="281178"/>
                </a:lnTo>
                <a:lnTo>
                  <a:pt x="35064" y="279654"/>
                </a:lnTo>
                <a:lnTo>
                  <a:pt x="33540" y="276606"/>
                </a:lnTo>
                <a:lnTo>
                  <a:pt x="33540" y="330733"/>
                </a:lnTo>
                <a:lnTo>
                  <a:pt x="38100" y="339852"/>
                </a:lnTo>
                <a:lnTo>
                  <a:pt x="42672" y="3307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0859" y="2093467"/>
            <a:ext cx="7359015" cy="337185"/>
          </a:xfrm>
          <a:custGeom>
            <a:avLst/>
            <a:gdLst/>
            <a:ahLst/>
            <a:cxnLst/>
            <a:rect l="l" t="t" r="r" b="b"/>
            <a:pathLst>
              <a:path w="7359015" h="337185">
                <a:moveTo>
                  <a:pt x="7358633" y="280415"/>
                </a:moveTo>
                <a:lnTo>
                  <a:pt x="7358633" y="56387"/>
                </a:lnTo>
                <a:lnTo>
                  <a:pt x="7354216" y="34397"/>
                </a:lnTo>
                <a:lnTo>
                  <a:pt x="7342155" y="16478"/>
                </a:lnTo>
                <a:lnTo>
                  <a:pt x="7324236" y="4417"/>
                </a:lnTo>
                <a:lnTo>
                  <a:pt x="7302246" y="0"/>
                </a:lnTo>
                <a:lnTo>
                  <a:pt x="56387" y="0"/>
                </a:lnTo>
                <a:lnTo>
                  <a:pt x="34397" y="4417"/>
                </a:lnTo>
                <a:lnTo>
                  <a:pt x="16478" y="16478"/>
                </a:lnTo>
                <a:lnTo>
                  <a:pt x="4417" y="34397"/>
                </a:lnTo>
                <a:lnTo>
                  <a:pt x="0" y="56388"/>
                </a:lnTo>
                <a:lnTo>
                  <a:pt x="0" y="280416"/>
                </a:lnTo>
                <a:lnTo>
                  <a:pt x="4417" y="302406"/>
                </a:lnTo>
                <a:lnTo>
                  <a:pt x="16478" y="320325"/>
                </a:lnTo>
                <a:lnTo>
                  <a:pt x="34397" y="332386"/>
                </a:lnTo>
                <a:lnTo>
                  <a:pt x="56387" y="336804"/>
                </a:lnTo>
                <a:lnTo>
                  <a:pt x="7302246" y="336804"/>
                </a:lnTo>
                <a:lnTo>
                  <a:pt x="7324236" y="332386"/>
                </a:lnTo>
                <a:lnTo>
                  <a:pt x="7342155" y="320325"/>
                </a:lnTo>
                <a:lnTo>
                  <a:pt x="7354216" y="302406"/>
                </a:lnTo>
                <a:lnTo>
                  <a:pt x="7358633" y="280415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61338" y="261873"/>
            <a:ext cx="699643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40" dirty="0"/>
              <a:t>Assign </a:t>
            </a:r>
            <a:r>
              <a:rPr sz="4200" spc="-320" dirty="0"/>
              <a:t>address </a:t>
            </a:r>
            <a:r>
              <a:rPr sz="4200" spc="-175" dirty="0"/>
              <a:t>to </a:t>
            </a:r>
            <a:r>
              <a:rPr sz="4200" spc="-250" dirty="0"/>
              <a:t>socket:</a:t>
            </a:r>
            <a:r>
              <a:rPr sz="4200" spc="-615" dirty="0"/>
              <a:t> </a:t>
            </a:r>
            <a:r>
              <a:rPr sz="3600" spc="-5" dirty="0">
                <a:latin typeface="Courier New"/>
                <a:cs typeface="Courier New"/>
              </a:rPr>
              <a:t>bind()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1452" y="1250949"/>
            <a:ext cx="8501247" cy="47474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600" spc="-170" dirty="0">
                <a:latin typeface="Arial"/>
                <a:cs typeface="Arial"/>
              </a:rPr>
              <a:t>associates </a:t>
            </a:r>
            <a:r>
              <a:rPr sz="2600" spc="-100" dirty="0">
                <a:latin typeface="Arial"/>
                <a:cs typeface="Arial"/>
              </a:rPr>
              <a:t>and </a:t>
            </a:r>
            <a:r>
              <a:rPr sz="2600" spc="-135" dirty="0">
                <a:latin typeface="Arial"/>
                <a:cs typeface="Arial"/>
              </a:rPr>
              <a:t>reserves </a:t>
            </a:r>
            <a:r>
              <a:rPr sz="2600" spc="-250" dirty="0">
                <a:latin typeface="Arial"/>
                <a:cs typeface="Arial"/>
              </a:rPr>
              <a:t>a </a:t>
            </a:r>
            <a:r>
              <a:rPr sz="2600" spc="5" dirty="0">
                <a:latin typeface="Arial"/>
                <a:cs typeface="Arial"/>
              </a:rPr>
              <a:t>port </a:t>
            </a:r>
            <a:r>
              <a:rPr sz="2600" spc="25" dirty="0">
                <a:latin typeface="Arial"/>
                <a:cs typeface="Arial"/>
              </a:rPr>
              <a:t>for </a:t>
            </a:r>
            <a:r>
              <a:rPr sz="2600" spc="-190" dirty="0">
                <a:latin typeface="Arial"/>
                <a:cs typeface="Arial"/>
              </a:rPr>
              <a:t>use </a:t>
            </a:r>
            <a:r>
              <a:rPr sz="2600" spc="-20" dirty="0">
                <a:latin typeface="Arial"/>
                <a:cs typeface="Arial"/>
              </a:rPr>
              <a:t>by </a:t>
            </a:r>
            <a:r>
              <a:rPr sz="2600" spc="-25" dirty="0">
                <a:latin typeface="Arial"/>
                <a:cs typeface="Arial"/>
              </a:rPr>
              <a:t>the</a:t>
            </a:r>
            <a:r>
              <a:rPr sz="2600" spc="-110" dirty="0">
                <a:latin typeface="Arial"/>
                <a:cs typeface="Arial"/>
              </a:rPr>
              <a:t> </a:t>
            </a:r>
            <a:r>
              <a:rPr sz="2600" spc="-100" dirty="0">
                <a:latin typeface="Arial"/>
                <a:cs typeface="Arial"/>
              </a:rPr>
              <a:t>socket</a:t>
            </a:r>
            <a:endParaRPr sz="2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9A6500"/>
              </a:buClr>
              <a:buFont typeface="Wingdings"/>
              <a:buChar char=""/>
            </a:pPr>
            <a:endParaRPr sz="26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6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int status = bind(</a:t>
            </a:r>
            <a:r>
              <a:rPr sz="2600" b="1" u="sng" dirty="0">
                <a:solidFill>
                  <a:srgbClr val="CC9A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sockid</a:t>
            </a:r>
            <a:r>
              <a:rPr sz="26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 &amp;</a:t>
            </a:r>
            <a:r>
              <a:rPr sz="2600" b="1" u="sng" dirty="0">
                <a:solidFill>
                  <a:srgbClr val="9A65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addrport</a:t>
            </a:r>
            <a:r>
              <a:rPr sz="26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</a:t>
            </a:r>
            <a:r>
              <a:rPr sz="2600" b="1" u="sng" spc="-1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600" b="1" u="sng" dirty="0">
                <a:solidFill>
                  <a:srgbClr val="CA68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size</a:t>
            </a:r>
            <a:r>
              <a:rPr sz="26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);</a:t>
            </a:r>
            <a:endParaRPr sz="2600" dirty="0">
              <a:latin typeface="Courier New"/>
              <a:cs typeface="Courier New"/>
            </a:endParaRPr>
          </a:p>
          <a:p>
            <a:pPr marL="681990" lvl="1" indent="-325120">
              <a:lnSpc>
                <a:spcPct val="100000"/>
              </a:lnSpc>
              <a:spcBef>
                <a:spcPts val="5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600" b="1" spc="-160" dirty="0">
                <a:solidFill>
                  <a:srgbClr val="CC9A00"/>
                </a:solidFill>
                <a:latin typeface="Arial"/>
                <a:cs typeface="Arial"/>
              </a:rPr>
              <a:t>sockid</a:t>
            </a:r>
            <a:r>
              <a:rPr sz="2600" spc="-160" dirty="0">
                <a:latin typeface="Arial"/>
                <a:cs typeface="Arial"/>
              </a:rPr>
              <a:t>: </a:t>
            </a:r>
            <a:r>
              <a:rPr sz="2600" spc="-40" dirty="0">
                <a:latin typeface="Arial"/>
                <a:cs typeface="Arial"/>
              </a:rPr>
              <a:t>integer, </a:t>
            </a:r>
            <a:r>
              <a:rPr sz="2600" spc="-95" dirty="0">
                <a:latin typeface="Arial"/>
                <a:cs typeface="Arial"/>
              </a:rPr>
              <a:t>socket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-45" dirty="0">
                <a:latin typeface="Arial"/>
                <a:cs typeface="Arial"/>
              </a:rPr>
              <a:t>descriptor</a:t>
            </a:r>
            <a:endParaRPr sz="26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600" b="1" spc="-120" dirty="0">
                <a:solidFill>
                  <a:srgbClr val="9A6500"/>
                </a:solidFill>
                <a:latin typeface="Arial"/>
                <a:cs typeface="Arial"/>
              </a:rPr>
              <a:t>addrport</a:t>
            </a:r>
            <a:r>
              <a:rPr sz="2600" spc="-120" dirty="0">
                <a:latin typeface="Arial"/>
                <a:cs typeface="Arial"/>
              </a:rPr>
              <a:t>: </a:t>
            </a:r>
            <a:r>
              <a:rPr sz="2600" spc="-25" dirty="0">
                <a:latin typeface="Arial"/>
                <a:cs typeface="Arial"/>
              </a:rPr>
              <a:t>struct </a:t>
            </a:r>
            <a:r>
              <a:rPr sz="2600" spc="-90" dirty="0">
                <a:latin typeface="Arial"/>
                <a:cs typeface="Arial"/>
              </a:rPr>
              <a:t>sockaddr, </a:t>
            </a:r>
            <a:r>
              <a:rPr sz="2600" spc="-25" dirty="0">
                <a:latin typeface="Arial"/>
                <a:cs typeface="Arial"/>
              </a:rPr>
              <a:t>the </a:t>
            </a:r>
            <a:r>
              <a:rPr sz="2600" spc="-15" dirty="0">
                <a:latin typeface="Arial"/>
                <a:cs typeface="Arial"/>
              </a:rPr>
              <a:t>(IP) </a:t>
            </a:r>
            <a:r>
              <a:rPr sz="2600" spc="-150" dirty="0">
                <a:latin typeface="Arial"/>
                <a:cs typeface="Arial"/>
              </a:rPr>
              <a:t>address </a:t>
            </a:r>
            <a:r>
              <a:rPr sz="2600" spc="-95" dirty="0">
                <a:latin typeface="Arial"/>
                <a:cs typeface="Arial"/>
              </a:rPr>
              <a:t>and </a:t>
            </a:r>
            <a:r>
              <a:rPr sz="2600" spc="5" dirty="0">
                <a:latin typeface="Arial"/>
                <a:cs typeface="Arial"/>
              </a:rPr>
              <a:t>port </a:t>
            </a:r>
            <a:r>
              <a:rPr sz="2600" spc="-10" dirty="0">
                <a:latin typeface="Arial"/>
                <a:cs typeface="Arial"/>
              </a:rPr>
              <a:t>of </a:t>
            </a:r>
            <a:r>
              <a:rPr sz="2600" spc="-25" dirty="0">
                <a:latin typeface="Arial"/>
                <a:cs typeface="Arial"/>
              </a:rPr>
              <a:t>the </a:t>
            </a:r>
            <a:r>
              <a:rPr sz="2600" spc="-65" dirty="0">
                <a:latin typeface="Arial"/>
                <a:cs typeface="Arial"/>
              </a:rPr>
              <a:t>machine</a:t>
            </a:r>
            <a:endParaRPr sz="2600" dirty="0">
              <a:latin typeface="Arial"/>
              <a:cs typeface="Arial"/>
            </a:endParaRPr>
          </a:p>
          <a:p>
            <a:pPr marL="1035050" marR="5080" lvl="2" indent="-351155">
              <a:lnSpc>
                <a:spcPct val="100000"/>
              </a:lnSpc>
              <a:spcBef>
                <a:spcPts val="450"/>
              </a:spcBef>
              <a:buClr>
                <a:srgbClr val="9A6500"/>
              </a:buClr>
              <a:buSzPct val="66666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2600" spc="20" dirty="0">
                <a:latin typeface="Arial"/>
                <a:cs typeface="Arial"/>
              </a:rPr>
              <a:t>for </a:t>
            </a:r>
            <a:r>
              <a:rPr sz="2600" spc="-40" dirty="0">
                <a:latin typeface="Arial"/>
                <a:cs typeface="Arial"/>
              </a:rPr>
              <a:t>TCP/IP </a:t>
            </a:r>
            <a:r>
              <a:rPr sz="2600" spc="-70" dirty="0">
                <a:latin typeface="Arial"/>
                <a:cs typeface="Arial"/>
              </a:rPr>
              <a:t>server, </a:t>
            </a:r>
            <a:r>
              <a:rPr sz="2600" spc="5" dirty="0">
                <a:latin typeface="Arial"/>
                <a:cs typeface="Arial"/>
              </a:rPr>
              <a:t>internet </a:t>
            </a:r>
            <a:r>
              <a:rPr sz="2600" spc="-130" dirty="0">
                <a:latin typeface="Arial"/>
                <a:cs typeface="Arial"/>
              </a:rPr>
              <a:t>address </a:t>
            </a:r>
            <a:r>
              <a:rPr sz="2600" spc="-75" dirty="0">
                <a:latin typeface="Arial"/>
                <a:cs typeface="Arial"/>
              </a:rPr>
              <a:t>is </a:t>
            </a:r>
            <a:r>
              <a:rPr sz="2600" spc="-40" dirty="0">
                <a:latin typeface="Arial"/>
                <a:cs typeface="Arial"/>
              </a:rPr>
              <a:t>usually </a:t>
            </a:r>
            <a:r>
              <a:rPr sz="2600" spc="-114" dirty="0">
                <a:latin typeface="Arial"/>
                <a:cs typeface="Arial"/>
              </a:rPr>
              <a:t>set </a:t>
            </a:r>
            <a:r>
              <a:rPr sz="2600" dirty="0">
                <a:latin typeface="Arial"/>
                <a:cs typeface="Arial"/>
              </a:rPr>
              <a:t>to INADDR_ANY, </a:t>
            </a:r>
            <a:r>
              <a:rPr sz="2600" spc="-45" dirty="0">
                <a:latin typeface="Arial"/>
                <a:cs typeface="Arial"/>
              </a:rPr>
              <a:t>i.e.,  </a:t>
            </a:r>
            <a:r>
              <a:rPr sz="2600" spc="-135" dirty="0">
                <a:latin typeface="Arial"/>
                <a:cs typeface="Arial"/>
              </a:rPr>
              <a:t>chooses </a:t>
            </a:r>
            <a:r>
              <a:rPr sz="2600" spc="-55" dirty="0">
                <a:latin typeface="Arial"/>
                <a:cs typeface="Arial"/>
              </a:rPr>
              <a:t>any </a:t>
            </a:r>
            <a:r>
              <a:rPr sz="2600" spc="-20" dirty="0">
                <a:latin typeface="Arial"/>
                <a:cs typeface="Arial"/>
              </a:rPr>
              <a:t>incoming</a:t>
            </a:r>
            <a:r>
              <a:rPr sz="2600" spc="30" dirty="0">
                <a:latin typeface="Arial"/>
                <a:cs typeface="Arial"/>
              </a:rPr>
              <a:t> </a:t>
            </a:r>
            <a:r>
              <a:rPr sz="2600" spc="-35" dirty="0">
                <a:latin typeface="Arial"/>
                <a:cs typeface="Arial"/>
              </a:rPr>
              <a:t>interface</a:t>
            </a:r>
            <a:endParaRPr sz="26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6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600" b="1" spc="-145" dirty="0">
                <a:solidFill>
                  <a:srgbClr val="CA6800"/>
                </a:solidFill>
                <a:latin typeface="Arial"/>
                <a:cs typeface="Arial"/>
              </a:rPr>
              <a:t>size</a:t>
            </a:r>
            <a:r>
              <a:rPr sz="2600" spc="-145" dirty="0">
                <a:latin typeface="Arial"/>
                <a:cs typeface="Arial"/>
              </a:rPr>
              <a:t>: </a:t>
            </a:r>
            <a:r>
              <a:rPr sz="2600" spc="-25" dirty="0">
                <a:latin typeface="Arial"/>
                <a:cs typeface="Arial"/>
              </a:rPr>
              <a:t>the </a:t>
            </a:r>
            <a:r>
              <a:rPr sz="2600" spc="-114" dirty="0">
                <a:latin typeface="Arial"/>
                <a:cs typeface="Arial"/>
              </a:rPr>
              <a:t>size </a:t>
            </a:r>
            <a:r>
              <a:rPr sz="2600" spc="40" dirty="0">
                <a:latin typeface="Arial"/>
                <a:cs typeface="Arial"/>
              </a:rPr>
              <a:t>(in </a:t>
            </a:r>
            <a:r>
              <a:rPr sz="2600" spc="-70" dirty="0">
                <a:latin typeface="Arial"/>
                <a:cs typeface="Arial"/>
              </a:rPr>
              <a:t>bytes) </a:t>
            </a:r>
            <a:r>
              <a:rPr sz="2600" spc="-10" dirty="0">
                <a:latin typeface="Arial"/>
                <a:cs typeface="Arial"/>
              </a:rPr>
              <a:t>of </a:t>
            </a:r>
            <a:r>
              <a:rPr sz="2600" spc="-25" dirty="0">
                <a:latin typeface="Arial"/>
                <a:cs typeface="Arial"/>
              </a:rPr>
              <a:t>the </a:t>
            </a:r>
            <a:r>
              <a:rPr sz="2600" spc="-30" dirty="0">
                <a:latin typeface="Arial"/>
                <a:cs typeface="Arial"/>
              </a:rPr>
              <a:t>addrport</a:t>
            </a:r>
            <a:r>
              <a:rPr sz="2600" spc="-135" dirty="0">
                <a:latin typeface="Arial"/>
                <a:cs typeface="Arial"/>
              </a:rPr>
              <a:t> </a:t>
            </a:r>
            <a:r>
              <a:rPr sz="2600" spc="-30" dirty="0">
                <a:latin typeface="Arial"/>
                <a:cs typeface="Arial"/>
              </a:rPr>
              <a:t>structure</a:t>
            </a:r>
            <a:endParaRPr sz="26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600" b="1" spc="-175" dirty="0">
                <a:latin typeface="Arial"/>
                <a:cs typeface="Arial"/>
              </a:rPr>
              <a:t>status</a:t>
            </a:r>
            <a:r>
              <a:rPr sz="2600" spc="-175" dirty="0">
                <a:latin typeface="Arial"/>
                <a:cs typeface="Arial"/>
              </a:rPr>
              <a:t>: </a:t>
            </a:r>
            <a:r>
              <a:rPr sz="2600" spc="-45" dirty="0">
                <a:latin typeface="Arial"/>
                <a:cs typeface="Arial"/>
              </a:rPr>
              <a:t>upon </a:t>
            </a:r>
            <a:r>
              <a:rPr sz="2600" spc="-5" dirty="0">
                <a:latin typeface="Arial"/>
                <a:cs typeface="Arial"/>
              </a:rPr>
              <a:t>failure </a:t>
            </a:r>
            <a:r>
              <a:rPr sz="2600" spc="-15" dirty="0">
                <a:latin typeface="Arial"/>
                <a:cs typeface="Arial"/>
              </a:rPr>
              <a:t>-1 </a:t>
            </a:r>
            <a:r>
              <a:rPr sz="2600" spc="-80" dirty="0">
                <a:latin typeface="Arial"/>
                <a:cs typeface="Arial"/>
              </a:rPr>
              <a:t>is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returned</a:t>
            </a:r>
            <a:endParaRPr sz="2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74570" y="267970"/>
            <a:ext cx="55689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20" dirty="0">
                <a:latin typeface="Courier New"/>
                <a:cs typeface="Courier New"/>
              </a:rPr>
              <a:t>bind()</a:t>
            </a:r>
            <a:r>
              <a:rPr sz="3600" spc="20" dirty="0">
                <a:latin typeface="Arial"/>
                <a:cs typeface="Arial"/>
              </a:rPr>
              <a:t>- </a:t>
            </a:r>
            <a:r>
              <a:rPr sz="3600" spc="-155" dirty="0">
                <a:latin typeface="Arial"/>
                <a:cs typeface="Arial"/>
              </a:rPr>
              <a:t>Example </a:t>
            </a:r>
            <a:r>
              <a:rPr sz="3600" spc="155" dirty="0">
                <a:latin typeface="Arial"/>
                <a:cs typeface="Arial"/>
              </a:rPr>
              <a:t>with</a:t>
            </a:r>
            <a:r>
              <a:rPr sz="3600" spc="-210" dirty="0">
                <a:latin typeface="Arial"/>
                <a:cs typeface="Arial"/>
              </a:rPr>
              <a:t> </a:t>
            </a:r>
            <a:r>
              <a:rPr sz="3600" spc="-200" dirty="0">
                <a:latin typeface="Arial"/>
                <a:cs typeface="Arial"/>
              </a:rPr>
              <a:t>TCP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5900" y="984250"/>
            <a:ext cx="8686800" cy="5350183"/>
          </a:xfrm>
          <a:prstGeom prst="rect">
            <a:avLst/>
          </a:prstGeom>
          <a:ln w="19050">
            <a:solidFill>
              <a:srgbClr val="9966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260"/>
              </a:spcBef>
            </a:pPr>
            <a:r>
              <a:rPr sz="2600" b="1" spc="-5" dirty="0">
                <a:latin typeface="Courier New"/>
                <a:cs typeface="Courier New"/>
              </a:rPr>
              <a:t>int</a:t>
            </a:r>
            <a:r>
              <a:rPr sz="2600" b="1" spc="-10" dirty="0">
                <a:latin typeface="Courier New"/>
                <a:cs typeface="Courier New"/>
              </a:rPr>
              <a:t> </a:t>
            </a:r>
            <a:r>
              <a:rPr sz="2600" b="1" spc="-10" dirty="0">
                <a:solidFill>
                  <a:srgbClr val="CC9A00"/>
                </a:solidFill>
                <a:latin typeface="Courier New"/>
                <a:cs typeface="Courier New"/>
              </a:rPr>
              <a:t>sockid</a:t>
            </a:r>
            <a:r>
              <a:rPr sz="2600" b="1" spc="-10" dirty="0">
                <a:latin typeface="Courier New"/>
                <a:cs typeface="Courier New"/>
              </a:rPr>
              <a:t>;</a:t>
            </a:r>
            <a:endParaRPr sz="2600" dirty="0">
              <a:latin typeface="Courier New"/>
              <a:cs typeface="Courier New"/>
            </a:endParaRPr>
          </a:p>
          <a:p>
            <a:pPr marL="100965">
              <a:lnSpc>
                <a:spcPct val="100000"/>
              </a:lnSpc>
              <a:spcBef>
                <a:spcPts val="335"/>
              </a:spcBef>
            </a:pPr>
            <a:r>
              <a:rPr sz="2600" b="1" spc="-10" dirty="0">
                <a:latin typeface="Courier New"/>
                <a:cs typeface="Courier New"/>
              </a:rPr>
              <a:t>struct sockaddr_in</a:t>
            </a:r>
            <a:r>
              <a:rPr sz="2600" b="1" dirty="0">
                <a:latin typeface="Courier New"/>
                <a:cs typeface="Courier New"/>
              </a:rPr>
              <a:t> </a:t>
            </a:r>
            <a:r>
              <a:rPr sz="2600" b="1" spc="-10" dirty="0">
                <a:solidFill>
                  <a:srgbClr val="9A6500"/>
                </a:solidFill>
                <a:latin typeface="Courier New"/>
                <a:cs typeface="Courier New"/>
              </a:rPr>
              <a:t>addrport</a:t>
            </a:r>
            <a:r>
              <a:rPr sz="2600" b="1" spc="-10" dirty="0">
                <a:latin typeface="Courier New"/>
                <a:cs typeface="Courier New"/>
              </a:rPr>
              <a:t>;</a:t>
            </a:r>
            <a:endParaRPr sz="2600" dirty="0">
              <a:latin typeface="Courier New"/>
              <a:cs typeface="Courier New"/>
            </a:endParaRPr>
          </a:p>
          <a:p>
            <a:pPr marL="100965">
              <a:lnSpc>
                <a:spcPct val="100000"/>
              </a:lnSpc>
              <a:spcBef>
                <a:spcPts val="330"/>
              </a:spcBef>
            </a:pPr>
            <a:r>
              <a:rPr sz="2600" b="1" spc="-5" dirty="0">
                <a:solidFill>
                  <a:srgbClr val="CC9A00"/>
                </a:solidFill>
                <a:latin typeface="Courier New"/>
                <a:cs typeface="Courier New"/>
              </a:rPr>
              <a:t>sockid </a:t>
            </a:r>
            <a:r>
              <a:rPr sz="2600" b="1" spc="-5" dirty="0">
                <a:latin typeface="Courier New"/>
                <a:cs typeface="Courier New"/>
              </a:rPr>
              <a:t>= </a:t>
            </a:r>
            <a:r>
              <a:rPr sz="2600" b="1" spc="-10" dirty="0">
                <a:solidFill>
                  <a:srgbClr val="006533"/>
                </a:solidFill>
                <a:latin typeface="Courier New"/>
                <a:cs typeface="Courier New"/>
              </a:rPr>
              <a:t>socket</a:t>
            </a:r>
            <a:r>
              <a:rPr sz="2600" b="1" spc="-10" dirty="0">
                <a:latin typeface="Courier New"/>
                <a:cs typeface="Courier New"/>
              </a:rPr>
              <a:t>(PF_INET, SOCK_STREAM,</a:t>
            </a:r>
            <a:r>
              <a:rPr sz="2600" b="1" dirty="0">
                <a:latin typeface="Courier New"/>
                <a:cs typeface="Courier New"/>
              </a:rPr>
              <a:t> </a:t>
            </a:r>
            <a:r>
              <a:rPr sz="2600" b="1" spc="-10" dirty="0">
                <a:latin typeface="Courier New"/>
                <a:cs typeface="Courier New"/>
              </a:rPr>
              <a:t>0);</a:t>
            </a:r>
            <a:endParaRPr sz="26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600" dirty="0">
              <a:latin typeface="Times New Roman"/>
              <a:cs typeface="Times New Roman"/>
            </a:endParaRPr>
          </a:p>
          <a:p>
            <a:pPr marL="100965" marR="2967990">
              <a:lnSpc>
                <a:spcPct val="119800"/>
              </a:lnSpc>
              <a:spcBef>
                <a:spcPts val="5"/>
              </a:spcBef>
            </a:pPr>
            <a:r>
              <a:rPr sz="2600" b="1" spc="-10" dirty="0">
                <a:solidFill>
                  <a:srgbClr val="9A6500"/>
                </a:solidFill>
                <a:latin typeface="Courier New"/>
                <a:cs typeface="Courier New"/>
              </a:rPr>
              <a:t>addrport</a:t>
            </a:r>
            <a:r>
              <a:rPr sz="2600" b="1" spc="-10" dirty="0">
                <a:latin typeface="Courier New"/>
                <a:cs typeface="Courier New"/>
              </a:rPr>
              <a:t>.sin_family </a:t>
            </a:r>
            <a:r>
              <a:rPr sz="2600" b="1" spc="-5" dirty="0">
                <a:latin typeface="Courier New"/>
                <a:cs typeface="Courier New"/>
              </a:rPr>
              <a:t>= </a:t>
            </a:r>
            <a:r>
              <a:rPr sz="2600" b="1" spc="-10" dirty="0">
                <a:latin typeface="Courier New"/>
                <a:cs typeface="Courier New"/>
              </a:rPr>
              <a:t>AF_INET;  </a:t>
            </a:r>
            <a:r>
              <a:rPr sz="2600" b="1" spc="-10" dirty="0">
                <a:solidFill>
                  <a:srgbClr val="9A6500"/>
                </a:solidFill>
                <a:latin typeface="Courier New"/>
                <a:cs typeface="Courier New"/>
              </a:rPr>
              <a:t>addrport</a:t>
            </a:r>
            <a:r>
              <a:rPr sz="2600" b="1" spc="-10" dirty="0">
                <a:latin typeface="Courier New"/>
                <a:cs typeface="Courier New"/>
              </a:rPr>
              <a:t>.sin_port </a:t>
            </a:r>
            <a:r>
              <a:rPr sz="2600" b="1" spc="-5" dirty="0">
                <a:latin typeface="Courier New"/>
                <a:cs typeface="Courier New"/>
              </a:rPr>
              <a:t>= </a:t>
            </a:r>
            <a:r>
              <a:rPr sz="2600" b="1" spc="-10" dirty="0">
                <a:latin typeface="Courier New"/>
                <a:cs typeface="Courier New"/>
              </a:rPr>
              <a:t>htons(5100);  </a:t>
            </a:r>
            <a:r>
              <a:rPr sz="2600" b="1" spc="-10" dirty="0">
                <a:solidFill>
                  <a:srgbClr val="9A6500"/>
                </a:solidFill>
                <a:latin typeface="Courier New"/>
                <a:cs typeface="Courier New"/>
              </a:rPr>
              <a:t>addrport</a:t>
            </a:r>
            <a:r>
              <a:rPr sz="2600" b="1" spc="-10" dirty="0">
                <a:latin typeface="Courier New"/>
                <a:cs typeface="Courier New"/>
              </a:rPr>
              <a:t>.sin_addr.s_addr </a:t>
            </a:r>
            <a:r>
              <a:rPr sz="2600" b="1" spc="-5" dirty="0">
                <a:latin typeface="Courier New"/>
                <a:cs typeface="Courier New"/>
              </a:rPr>
              <a:t>=</a:t>
            </a:r>
            <a:r>
              <a:rPr sz="2600" b="1" spc="60" dirty="0">
                <a:latin typeface="Courier New"/>
                <a:cs typeface="Courier New"/>
              </a:rPr>
              <a:t> </a:t>
            </a:r>
            <a:r>
              <a:rPr sz="2600" b="1" spc="-10" dirty="0">
                <a:latin typeface="Courier New"/>
                <a:cs typeface="Courier New"/>
              </a:rPr>
              <a:t>htonl(INADDR_ANY);</a:t>
            </a:r>
            <a:endParaRPr sz="2600" dirty="0">
              <a:latin typeface="Courier New"/>
              <a:cs typeface="Courier New"/>
            </a:endParaRPr>
          </a:p>
          <a:p>
            <a:pPr marL="100965">
              <a:lnSpc>
                <a:spcPct val="100000"/>
              </a:lnSpc>
              <a:spcBef>
                <a:spcPts val="330"/>
              </a:spcBef>
            </a:pPr>
            <a:r>
              <a:rPr sz="2600" b="1" spc="-5" dirty="0">
                <a:latin typeface="Courier New"/>
                <a:cs typeface="Courier New"/>
              </a:rPr>
              <a:t>if(</a:t>
            </a:r>
            <a:r>
              <a:rPr sz="2600" b="1" spc="-5" dirty="0">
                <a:solidFill>
                  <a:srgbClr val="006533"/>
                </a:solidFill>
                <a:latin typeface="Courier New"/>
                <a:cs typeface="Courier New"/>
              </a:rPr>
              <a:t>bind</a:t>
            </a:r>
            <a:r>
              <a:rPr sz="2600" b="1" spc="-5" dirty="0">
                <a:latin typeface="Courier New"/>
                <a:cs typeface="Courier New"/>
              </a:rPr>
              <a:t>(</a:t>
            </a:r>
            <a:r>
              <a:rPr sz="2600" b="1" spc="-5" dirty="0">
                <a:solidFill>
                  <a:srgbClr val="CC9A00"/>
                </a:solidFill>
                <a:latin typeface="Courier New"/>
                <a:cs typeface="Courier New"/>
              </a:rPr>
              <a:t>sockid</a:t>
            </a:r>
            <a:r>
              <a:rPr sz="2600" b="1" spc="-5" dirty="0">
                <a:latin typeface="Courier New"/>
                <a:cs typeface="Courier New"/>
              </a:rPr>
              <a:t>, </a:t>
            </a:r>
            <a:r>
              <a:rPr sz="2600" b="1" spc="-10" dirty="0">
                <a:latin typeface="Courier New"/>
                <a:cs typeface="Courier New"/>
              </a:rPr>
              <a:t>(struct sockaddr </a:t>
            </a:r>
            <a:r>
              <a:rPr sz="2600" b="1" spc="-5" dirty="0">
                <a:latin typeface="Courier New"/>
                <a:cs typeface="Courier New"/>
              </a:rPr>
              <a:t>*) </a:t>
            </a:r>
            <a:r>
              <a:rPr sz="2600" b="1" spc="-10" dirty="0">
                <a:latin typeface="Courier New"/>
                <a:cs typeface="Courier New"/>
              </a:rPr>
              <a:t>&amp;</a:t>
            </a:r>
            <a:r>
              <a:rPr sz="2600" b="1" spc="-10" dirty="0">
                <a:solidFill>
                  <a:srgbClr val="9A6500"/>
                </a:solidFill>
                <a:latin typeface="Courier New"/>
                <a:cs typeface="Courier New"/>
              </a:rPr>
              <a:t>addrport</a:t>
            </a:r>
            <a:r>
              <a:rPr sz="2600" b="1" spc="-10" dirty="0">
                <a:latin typeface="Courier New"/>
                <a:cs typeface="Courier New"/>
              </a:rPr>
              <a:t>, sizeof(</a:t>
            </a:r>
            <a:r>
              <a:rPr sz="2600" b="1" spc="-10" dirty="0">
                <a:solidFill>
                  <a:srgbClr val="9A6500"/>
                </a:solidFill>
                <a:latin typeface="Courier New"/>
                <a:cs typeface="Courier New"/>
              </a:rPr>
              <a:t>addrport</a:t>
            </a:r>
            <a:r>
              <a:rPr sz="2600" b="1" spc="-10" dirty="0">
                <a:latin typeface="Courier New"/>
                <a:cs typeface="Courier New"/>
              </a:rPr>
              <a:t>))!= </a:t>
            </a:r>
            <a:r>
              <a:rPr sz="2600" b="1" spc="-5" dirty="0">
                <a:latin typeface="Courier New"/>
                <a:cs typeface="Courier New"/>
              </a:rPr>
              <a:t>-1)</a:t>
            </a:r>
            <a:r>
              <a:rPr sz="2600" b="1" spc="80" dirty="0">
                <a:latin typeface="Courier New"/>
                <a:cs typeface="Courier New"/>
              </a:rPr>
              <a:t> </a:t>
            </a:r>
            <a:r>
              <a:rPr sz="2600" b="1" spc="-5" dirty="0">
                <a:latin typeface="Courier New"/>
                <a:cs typeface="Courier New"/>
              </a:rPr>
              <a:t>{</a:t>
            </a:r>
            <a:endParaRPr sz="2600" dirty="0">
              <a:latin typeface="Courier New"/>
              <a:cs typeface="Courier New"/>
            </a:endParaRPr>
          </a:p>
          <a:p>
            <a:pPr marL="443865">
              <a:lnSpc>
                <a:spcPct val="100000"/>
              </a:lnSpc>
            </a:pPr>
            <a:r>
              <a:rPr sz="2600" b="1" spc="-5" dirty="0">
                <a:latin typeface="Courier New"/>
                <a:cs typeface="Courier New"/>
              </a:rPr>
              <a:t>…}</a:t>
            </a:r>
            <a:endParaRPr sz="26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62847" y="261873"/>
            <a:ext cx="439229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90" dirty="0"/>
              <a:t>Skipping </a:t>
            </a:r>
            <a:r>
              <a:rPr sz="4200" spc="-270" dirty="0"/>
              <a:t>the</a:t>
            </a:r>
            <a:r>
              <a:rPr sz="4200" spc="-434" dirty="0"/>
              <a:t> </a:t>
            </a:r>
            <a:r>
              <a:rPr sz="3600" spc="-5" dirty="0">
                <a:latin typeface="Courier New"/>
                <a:cs typeface="Courier New"/>
              </a:rPr>
              <a:t>bind()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453" y="1250949"/>
            <a:ext cx="8568690" cy="51806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CC9A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spc="5" dirty="0">
                <a:latin typeface="Arial"/>
                <a:cs typeface="Arial"/>
              </a:rPr>
              <a:t>bind </a:t>
            </a:r>
            <a:r>
              <a:rPr sz="2800" spc="-120" dirty="0">
                <a:latin typeface="Arial"/>
                <a:cs typeface="Arial"/>
              </a:rPr>
              <a:t>can </a:t>
            </a:r>
            <a:r>
              <a:rPr sz="2800" spc="-145" dirty="0">
                <a:latin typeface="Arial"/>
                <a:cs typeface="Arial"/>
              </a:rPr>
              <a:t>be </a:t>
            </a:r>
            <a:r>
              <a:rPr sz="2800" spc="-80" dirty="0">
                <a:latin typeface="Arial"/>
                <a:cs typeface="Arial"/>
              </a:rPr>
              <a:t>skipped </a:t>
            </a:r>
            <a:r>
              <a:rPr sz="2800" spc="30" dirty="0">
                <a:latin typeface="Arial"/>
                <a:cs typeface="Arial"/>
              </a:rPr>
              <a:t>for </a:t>
            </a:r>
            <a:r>
              <a:rPr sz="2800" spc="-10" dirty="0">
                <a:latin typeface="Arial"/>
                <a:cs typeface="Arial"/>
              </a:rPr>
              <a:t>both </a:t>
            </a:r>
            <a:r>
              <a:rPr sz="2800" spc="-95" dirty="0">
                <a:latin typeface="Arial"/>
                <a:cs typeface="Arial"/>
              </a:rPr>
              <a:t>types </a:t>
            </a:r>
            <a:r>
              <a:rPr sz="2800" spc="-15" dirty="0">
                <a:latin typeface="Arial"/>
                <a:cs typeface="Arial"/>
              </a:rPr>
              <a:t>of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sockets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CC9A00"/>
              </a:buClr>
              <a:buFont typeface="Wingdings"/>
              <a:buChar char=""/>
            </a:pPr>
            <a:endParaRPr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CC9A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spc="-95" dirty="0">
                <a:latin typeface="Arial"/>
                <a:cs typeface="Arial"/>
              </a:rPr>
              <a:t>Datagram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socket:</a:t>
            </a:r>
            <a:endParaRPr sz="2800" dirty="0">
              <a:latin typeface="Arial"/>
              <a:cs typeface="Arial"/>
            </a:endParaRPr>
          </a:p>
          <a:p>
            <a:pPr marL="681990" marR="17780" lvl="1" indent="-325120">
              <a:lnSpc>
                <a:spcPct val="100000"/>
              </a:lnSpc>
              <a:spcBef>
                <a:spcPts val="495"/>
              </a:spcBef>
              <a:buClr>
                <a:srgbClr val="3B822F"/>
              </a:buClr>
              <a:buSzPct val="60000"/>
              <a:buFont typeface="Wingdings"/>
              <a:buChar char=""/>
              <a:tabLst>
                <a:tab pos="682625" algn="l"/>
                <a:tab pos="4252595" algn="l"/>
              </a:tabLst>
            </a:pPr>
            <a:r>
              <a:rPr sz="2800" spc="100" dirty="0">
                <a:latin typeface="Arial"/>
                <a:cs typeface="Arial"/>
              </a:rPr>
              <a:t>if </a:t>
            </a:r>
            <a:r>
              <a:rPr sz="2800" spc="20" dirty="0">
                <a:latin typeface="Arial"/>
                <a:cs typeface="Arial"/>
              </a:rPr>
              <a:t>only </a:t>
            </a:r>
            <a:r>
              <a:rPr sz="2800" spc="-75" dirty="0">
                <a:latin typeface="Arial"/>
                <a:cs typeface="Arial"/>
              </a:rPr>
              <a:t>sending, </a:t>
            </a:r>
            <a:r>
              <a:rPr sz="2800" spc="-40" dirty="0">
                <a:latin typeface="Arial"/>
                <a:cs typeface="Arial"/>
              </a:rPr>
              <a:t>no </a:t>
            </a:r>
            <a:r>
              <a:rPr sz="2800" spc="-110" dirty="0">
                <a:latin typeface="Arial"/>
                <a:cs typeface="Arial"/>
              </a:rPr>
              <a:t>need</a:t>
            </a:r>
            <a:r>
              <a:rPr sz="2800" spc="-2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bind</a:t>
            </a:r>
            <a:r>
              <a:rPr sz="2800" spc="-10" dirty="0" smtClean="0">
                <a:latin typeface="Arial"/>
                <a:cs typeface="Arial"/>
              </a:rPr>
              <a:t>.</a:t>
            </a:r>
            <a:endParaRPr lang="en-GB" sz="2800" spc="-10" dirty="0" smtClean="0">
              <a:latin typeface="Arial"/>
              <a:cs typeface="Arial"/>
            </a:endParaRPr>
          </a:p>
          <a:p>
            <a:pPr marL="681990" marR="17780" lvl="1" indent="-325120">
              <a:lnSpc>
                <a:spcPct val="100000"/>
              </a:lnSpc>
              <a:spcBef>
                <a:spcPts val="495"/>
              </a:spcBef>
              <a:buClr>
                <a:srgbClr val="3B822F"/>
              </a:buClr>
              <a:buSzPct val="60000"/>
              <a:buFont typeface="Wingdings"/>
              <a:buChar char=""/>
              <a:tabLst>
                <a:tab pos="682625" algn="l"/>
                <a:tab pos="4252595" algn="l"/>
              </a:tabLst>
            </a:pPr>
            <a:r>
              <a:rPr sz="2800" spc="-10" dirty="0">
                <a:latin typeface="Arial"/>
                <a:cs typeface="Arial"/>
              </a:rPr>
              <a:t>	</a:t>
            </a:r>
            <a:r>
              <a:rPr sz="2800" spc="-70" dirty="0">
                <a:latin typeface="Arial"/>
                <a:cs typeface="Arial"/>
              </a:rPr>
              <a:t>The </a:t>
            </a:r>
            <a:r>
              <a:rPr sz="2800" spc="-210" dirty="0">
                <a:latin typeface="Arial"/>
                <a:cs typeface="Arial"/>
              </a:rPr>
              <a:t>OS </a:t>
            </a:r>
            <a:r>
              <a:rPr sz="2800" spc="-25" dirty="0">
                <a:latin typeface="Arial"/>
                <a:cs typeface="Arial"/>
              </a:rPr>
              <a:t>finds </a:t>
            </a:r>
            <a:r>
              <a:rPr sz="2800" spc="-229" dirty="0">
                <a:latin typeface="Arial"/>
                <a:cs typeface="Arial"/>
              </a:rPr>
              <a:t>a </a:t>
            </a:r>
            <a:r>
              <a:rPr sz="2800" spc="5" dirty="0">
                <a:latin typeface="Arial"/>
                <a:cs typeface="Arial"/>
              </a:rPr>
              <a:t>port </a:t>
            </a:r>
            <a:r>
              <a:rPr sz="2800" spc="-130" dirty="0">
                <a:latin typeface="Arial"/>
                <a:cs typeface="Arial"/>
              </a:rPr>
              <a:t>each </a:t>
            </a:r>
            <a:r>
              <a:rPr sz="2800" spc="-5" dirty="0">
                <a:latin typeface="Arial"/>
                <a:cs typeface="Arial"/>
              </a:rPr>
              <a:t>time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-90" dirty="0">
                <a:latin typeface="Arial"/>
                <a:cs typeface="Arial"/>
              </a:rPr>
              <a:t>socket  </a:t>
            </a:r>
            <a:r>
              <a:rPr sz="2800" spc="-165" dirty="0">
                <a:latin typeface="Arial"/>
                <a:cs typeface="Arial"/>
              </a:rPr>
              <a:t>sends </a:t>
            </a:r>
            <a:r>
              <a:rPr sz="2800" spc="-229" dirty="0">
                <a:latin typeface="Arial"/>
                <a:cs typeface="Arial"/>
              </a:rPr>
              <a:t>a</a:t>
            </a:r>
            <a:r>
              <a:rPr sz="2800" spc="40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packet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3B822F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95" dirty="0">
                <a:latin typeface="Arial"/>
                <a:cs typeface="Arial"/>
              </a:rPr>
              <a:t>if </a:t>
            </a:r>
            <a:r>
              <a:rPr sz="2800" spc="-35" dirty="0">
                <a:latin typeface="Arial"/>
                <a:cs typeface="Arial"/>
              </a:rPr>
              <a:t>receiving, </a:t>
            </a:r>
            <a:r>
              <a:rPr sz="2800" spc="-110" dirty="0">
                <a:latin typeface="Arial"/>
                <a:cs typeface="Arial"/>
              </a:rPr>
              <a:t>need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185" dirty="0">
                <a:latin typeface="Arial"/>
                <a:cs typeface="Arial"/>
              </a:rPr>
              <a:t> </a:t>
            </a:r>
            <a:r>
              <a:rPr sz="2800" spc="5" dirty="0">
                <a:latin typeface="Arial"/>
                <a:cs typeface="Arial"/>
              </a:rPr>
              <a:t>bind</a:t>
            </a:r>
            <a:endParaRPr sz="2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Clr>
                <a:srgbClr val="CC9A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spc="-120" dirty="0">
                <a:latin typeface="Arial"/>
                <a:cs typeface="Arial"/>
              </a:rPr>
              <a:t>Stream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socket: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95"/>
              </a:spcBef>
              <a:buClr>
                <a:srgbClr val="3B822F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35" dirty="0">
                <a:latin typeface="Arial"/>
                <a:cs typeface="Arial"/>
              </a:rPr>
              <a:t>destination </a:t>
            </a:r>
            <a:r>
              <a:rPr sz="2800" spc="-40" dirty="0">
                <a:latin typeface="Arial"/>
                <a:cs typeface="Arial"/>
              </a:rPr>
              <a:t>determined </a:t>
            </a:r>
            <a:r>
              <a:rPr sz="2800" spc="-5" dirty="0">
                <a:latin typeface="Arial"/>
                <a:cs typeface="Arial"/>
              </a:rPr>
              <a:t>during </a:t>
            </a:r>
            <a:r>
              <a:rPr sz="2800" spc="-35" dirty="0">
                <a:latin typeface="Arial"/>
                <a:cs typeface="Arial"/>
              </a:rPr>
              <a:t>connection</a:t>
            </a:r>
            <a:r>
              <a:rPr sz="2800" spc="-16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setup</a:t>
            </a:r>
            <a:endParaRPr sz="2800" dirty="0">
              <a:latin typeface="Arial"/>
              <a:cs typeface="Arial"/>
            </a:endParaRPr>
          </a:p>
          <a:p>
            <a:pPr marL="681990" marR="5080" lvl="1" indent="-325120">
              <a:lnSpc>
                <a:spcPct val="107500"/>
              </a:lnSpc>
              <a:spcBef>
                <a:spcPts val="295"/>
              </a:spcBef>
              <a:buClr>
                <a:srgbClr val="3B822F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10" dirty="0">
                <a:latin typeface="Arial"/>
                <a:cs typeface="Arial"/>
              </a:rPr>
              <a:t>don’t </a:t>
            </a:r>
            <a:r>
              <a:rPr sz="2800" spc="-110" dirty="0">
                <a:latin typeface="Arial"/>
                <a:cs typeface="Arial"/>
              </a:rPr>
              <a:t>need </a:t>
            </a:r>
            <a:r>
              <a:rPr sz="2800" dirty="0">
                <a:latin typeface="Arial"/>
                <a:cs typeface="Arial"/>
              </a:rPr>
              <a:t>to </a:t>
            </a:r>
            <a:r>
              <a:rPr sz="2800" spc="15" dirty="0">
                <a:latin typeface="Arial"/>
                <a:cs typeface="Arial"/>
              </a:rPr>
              <a:t>know </a:t>
            </a:r>
            <a:r>
              <a:rPr sz="2800" spc="5" dirty="0">
                <a:latin typeface="Arial"/>
                <a:cs typeface="Arial"/>
              </a:rPr>
              <a:t>port </a:t>
            </a:r>
            <a:r>
              <a:rPr sz="2800" spc="-80" dirty="0">
                <a:latin typeface="Arial"/>
                <a:cs typeface="Arial"/>
              </a:rPr>
              <a:t>sending </a:t>
            </a:r>
            <a:r>
              <a:rPr sz="2800" spc="10" dirty="0">
                <a:latin typeface="Arial"/>
                <a:cs typeface="Arial"/>
              </a:rPr>
              <a:t>from </a:t>
            </a:r>
            <a:r>
              <a:rPr sz="2800" spc="-5" dirty="0">
                <a:latin typeface="Arial"/>
                <a:cs typeface="Arial"/>
              </a:rPr>
              <a:t>(during </a:t>
            </a:r>
            <a:r>
              <a:rPr sz="2800" spc="-35" dirty="0">
                <a:latin typeface="Arial"/>
                <a:cs typeface="Arial"/>
              </a:rPr>
              <a:t>connection </a:t>
            </a:r>
            <a:r>
              <a:rPr sz="2800" spc="-90" dirty="0">
                <a:latin typeface="Arial"/>
                <a:cs typeface="Arial"/>
              </a:rPr>
              <a:t>setup,</a:t>
            </a:r>
            <a:r>
              <a:rPr sz="2800" spc="-32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receiving  </a:t>
            </a:r>
            <a:r>
              <a:rPr sz="2800" spc="-80" dirty="0">
                <a:latin typeface="Arial"/>
                <a:cs typeface="Arial"/>
              </a:rPr>
              <a:t>end </a:t>
            </a:r>
            <a:r>
              <a:rPr sz="2800" spc="-85" dirty="0">
                <a:latin typeface="Arial"/>
                <a:cs typeface="Arial"/>
              </a:rPr>
              <a:t>is </a:t>
            </a:r>
            <a:r>
              <a:rPr sz="2800" spc="-15" dirty="0">
                <a:latin typeface="Arial"/>
                <a:cs typeface="Arial"/>
              </a:rPr>
              <a:t>informed </a:t>
            </a:r>
            <a:r>
              <a:rPr sz="2800" spc="-10" dirty="0">
                <a:latin typeface="Arial"/>
                <a:cs typeface="Arial"/>
              </a:rPr>
              <a:t>of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port)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6989" y="2987294"/>
            <a:ext cx="8766175" cy="389890"/>
          </a:xfrm>
          <a:custGeom>
            <a:avLst/>
            <a:gdLst/>
            <a:ahLst/>
            <a:cxnLst/>
            <a:rect l="l" t="t" r="r" b="b"/>
            <a:pathLst>
              <a:path w="8766175" h="389889">
                <a:moveTo>
                  <a:pt x="8766035" y="323850"/>
                </a:moveTo>
                <a:lnTo>
                  <a:pt x="8766035" y="64769"/>
                </a:lnTo>
                <a:lnTo>
                  <a:pt x="8760953" y="39540"/>
                </a:lnTo>
                <a:lnTo>
                  <a:pt x="8747086" y="18954"/>
                </a:lnTo>
                <a:lnTo>
                  <a:pt x="8726505" y="5083"/>
                </a:lnTo>
                <a:lnTo>
                  <a:pt x="8701278" y="0"/>
                </a:lnTo>
                <a:lnTo>
                  <a:pt x="64770" y="0"/>
                </a:lnTo>
                <a:lnTo>
                  <a:pt x="39540" y="5083"/>
                </a:lnTo>
                <a:lnTo>
                  <a:pt x="18954" y="18954"/>
                </a:lnTo>
                <a:lnTo>
                  <a:pt x="5083" y="39540"/>
                </a:lnTo>
                <a:lnTo>
                  <a:pt x="0" y="64770"/>
                </a:lnTo>
                <a:lnTo>
                  <a:pt x="0" y="323850"/>
                </a:lnTo>
                <a:lnTo>
                  <a:pt x="5083" y="349198"/>
                </a:lnTo>
                <a:lnTo>
                  <a:pt x="18954" y="370046"/>
                </a:lnTo>
                <a:lnTo>
                  <a:pt x="39540" y="384178"/>
                </a:lnTo>
                <a:lnTo>
                  <a:pt x="64770" y="389382"/>
                </a:lnTo>
                <a:lnTo>
                  <a:pt x="8701278" y="389381"/>
                </a:lnTo>
                <a:lnTo>
                  <a:pt x="8726505" y="384178"/>
                </a:lnTo>
                <a:lnTo>
                  <a:pt x="8747086" y="370046"/>
                </a:lnTo>
                <a:lnTo>
                  <a:pt x="8760953" y="349198"/>
                </a:lnTo>
                <a:lnTo>
                  <a:pt x="8766035" y="323850"/>
                </a:lnTo>
                <a:close/>
              </a:path>
            </a:pathLst>
          </a:custGeom>
          <a:solidFill>
            <a:srgbClr val="CCFFFF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6989" y="2987294"/>
            <a:ext cx="8766175" cy="389890"/>
          </a:xfrm>
          <a:custGeom>
            <a:avLst/>
            <a:gdLst/>
            <a:ahLst/>
            <a:cxnLst/>
            <a:rect l="l" t="t" r="r" b="b"/>
            <a:pathLst>
              <a:path w="8766175" h="389889">
                <a:moveTo>
                  <a:pt x="64770" y="0"/>
                </a:moveTo>
                <a:lnTo>
                  <a:pt x="39540" y="5083"/>
                </a:lnTo>
                <a:lnTo>
                  <a:pt x="18954" y="18954"/>
                </a:lnTo>
                <a:lnTo>
                  <a:pt x="5083" y="39540"/>
                </a:lnTo>
                <a:lnTo>
                  <a:pt x="0" y="64770"/>
                </a:lnTo>
                <a:lnTo>
                  <a:pt x="0" y="323850"/>
                </a:lnTo>
                <a:lnTo>
                  <a:pt x="5083" y="349198"/>
                </a:lnTo>
                <a:lnTo>
                  <a:pt x="18954" y="370046"/>
                </a:lnTo>
                <a:lnTo>
                  <a:pt x="39540" y="384178"/>
                </a:lnTo>
                <a:lnTo>
                  <a:pt x="64770" y="389382"/>
                </a:lnTo>
                <a:lnTo>
                  <a:pt x="8701278" y="389381"/>
                </a:lnTo>
                <a:lnTo>
                  <a:pt x="8726505" y="384178"/>
                </a:lnTo>
                <a:lnTo>
                  <a:pt x="8747086" y="370046"/>
                </a:lnTo>
                <a:lnTo>
                  <a:pt x="8760953" y="349198"/>
                </a:lnTo>
                <a:lnTo>
                  <a:pt x="8766035" y="323850"/>
                </a:lnTo>
                <a:lnTo>
                  <a:pt x="8766035" y="64769"/>
                </a:lnTo>
                <a:lnTo>
                  <a:pt x="8760953" y="39540"/>
                </a:lnTo>
                <a:lnTo>
                  <a:pt x="8747086" y="18954"/>
                </a:lnTo>
                <a:lnTo>
                  <a:pt x="8726505" y="5083"/>
                </a:lnTo>
                <a:lnTo>
                  <a:pt x="8701278" y="0"/>
                </a:lnTo>
                <a:lnTo>
                  <a:pt x="6477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51979" y="261873"/>
            <a:ext cx="761492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35" dirty="0"/>
              <a:t>Client</a:t>
            </a:r>
            <a:r>
              <a:rPr sz="4200" spc="20" dirty="0"/>
              <a:t> </a:t>
            </a:r>
            <a:r>
              <a:rPr sz="4200" spc="-260" dirty="0"/>
              <a:t>-</a:t>
            </a:r>
            <a:r>
              <a:rPr sz="4200" spc="45" dirty="0"/>
              <a:t> </a:t>
            </a:r>
            <a:r>
              <a:rPr sz="4200" spc="-280" dirty="0"/>
              <a:t>Server</a:t>
            </a:r>
            <a:r>
              <a:rPr sz="4200" spc="30" dirty="0"/>
              <a:t> </a:t>
            </a:r>
            <a:r>
              <a:rPr sz="4200" spc="-280" dirty="0"/>
              <a:t>Communication</a:t>
            </a:r>
            <a:r>
              <a:rPr sz="4200" spc="30" dirty="0"/>
              <a:t> </a:t>
            </a:r>
            <a:r>
              <a:rPr sz="3200" spc="-200" dirty="0"/>
              <a:t>-</a:t>
            </a:r>
            <a:r>
              <a:rPr sz="3200" spc="20" dirty="0"/>
              <a:t> </a:t>
            </a:r>
            <a:r>
              <a:rPr sz="3200" spc="-200" dirty="0"/>
              <a:t>Unix</a:t>
            </a:r>
            <a:endParaRPr sz="3200"/>
          </a:p>
        </p:txBody>
      </p:sp>
      <p:sp>
        <p:nvSpPr>
          <p:cNvPr id="6" name="object 6"/>
          <p:cNvSpPr/>
          <p:nvPr/>
        </p:nvSpPr>
        <p:spPr>
          <a:xfrm>
            <a:off x="321195" y="1860295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7"/>
                </a:lnTo>
                <a:lnTo>
                  <a:pt x="1335023" y="231647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0433" y="1860295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7"/>
                </a:lnTo>
                <a:lnTo>
                  <a:pt x="1335786" y="231647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60539" y="1851406"/>
            <a:ext cx="6559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7465" y="2096516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8" y="330707"/>
                </a:lnTo>
                <a:lnTo>
                  <a:pt x="33528" y="276605"/>
                </a:lnTo>
                <a:lnTo>
                  <a:pt x="34290" y="279653"/>
                </a:lnTo>
                <a:lnTo>
                  <a:pt x="38100" y="281177"/>
                </a:lnTo>
                <a:lnTo>
                  <a:pt x="41148" y="279653"/>
                </a:lnTo>
                <a:lnTo>
                  <a:pt x="42672" y="276605"/>
                </a:lnTo>
                <a:lnTo>
                  <a:pt x="42672" y="330707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72" y="263651"/>
                </a:moveTo>
                <a:lnTo>
                  <a:pt x="42672" y="5333"/>
                </a:lnTo>
                <a:lnTo>
                  <a:pt x="41148" y="1523"/>
                </a:lnTo>
                <a:lnTo>
                  <a:pt x="38100" y="0"/>
                </a:lnTo>
                <a:lnTo>
                  <a:pt x="34290" y="1523"/>
                </a:lnTo>
                <a:lnTo>
                  <a:pt x="33528" y="5333"/>
                </a:lnTo>
                <a:lnTo>
                  <a:pt x="33528" y="263651"/>
                </a:lnTo>
                <a:lnTo>
                  <a:pt x="42672" y="263651"/>
                </a:lnTo>
                <a:close/>
              </a:path>
              <a:path w="76200" h="340360">
                <a:moveTo>
                  <a:pt x="42672" y="330707"/>
                </a:moveTo>
                <a:lnTo>
                  <a:pt x="42672" y="276605"/>
                </a:lnTo>
                <a:lnTo>
                  <a:pt x="41148" y="279653"/>
                </a:lnTo>
                <a:lnTo>
                  <a:pt x="38100" y="281177"/>
                </a:lnTo>
                <a:lnTo>
                  <a:pt x="34290" y="279653"/>
                </a:lnTo>
                <a:lnTo>
                  <a:pt x="33528" y="276605"/>
                </a:lnTo>
                <a:lnTo>
                  <a:pt x="33528" y="330707"/>
                </a:lnTo>
                <a:lnTo>
                  <a:pt x="38100" y="339851"/>
                </a:lnTo>
                <a:lnTo>
                  <a:pt x="42672" y="3307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4243" y="2466848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4243" y="2466848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52729" y="2457957"/>
            <a:ext cx="4787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bind()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60513" y="2703067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6605"/>
                </a:lnTo>
                <a:lnTo>
                  <a:pt x="35051" y="279653"/>
                </a:lnTo>
                <a:lnTo>
                  <a:pt x="38100" y="281177"/>
                </a:lnTo>
                <a:lnTo>
                  <a:pt x="41910" y="279653"/>
                </a:lnTo>
                <a:lnTo>
                  <a:pt x="42672" y="276605"/>
                </a:lnTo>
                <a:lnTo>
                  <a:pt x="42672" y="330707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72" y="263651"/>
                </a:moveTo>
                <a:lnTo>
                  <a:pt x="42672" y="4571"/>
                </a:lnTo>
                <a:lnTo>
                  <a:pt x="41910" y="1523"/>
                </a:lnTo>
                <a:lnTo>
                  <a:pt x="38100" y="0"/>
                </a:lnTo>
                <a:lnTo>
                  <a:pt x="35051" y="1523"/>
                </a:lnTo>
                <a:lnTo>
                  <a:pt x="33527" y="4571"/>
                </a:lnTo>
                <a:lnTo>
                  <a:pt x="33527" y="263651"/>
                </a:lnTo>
                <a:lnTo>
                  <a:pt x="42672" y="263651"/>
                </a:lnTo>
                <a:close/>
              </a:path>
              <a:path w="76200" h="340360">
                <a:moveTo>
                  <a:pt x="42672" y="330707"/>
                </a:moveTo>
                <a:lnTo>
                  <a:pt x="42672" y="276605"/>
                </a:lnTo>
                <a:lnTo>
                  <a:pt x="41910" y="279653"/>
                </a:lnTo>
                <a:lnTo>
                  <a:pt x="38100" y="281177"/>
                </a:lnTo>
                <a:lnTo>
                  <a:pt x="35051" y="279653"/>
                </a:lnTo>
                <a:lnTo>
                  <a:pt x="33527" y="276605"/>
                </a:lnTo>
                <a:lnTo>
                  <a:pt x="33527" y="330707"/>
                </a:lnTo>
                <a:lnTo>
                  <a:pt x="38100" y="339851"/>
                </a:lnTo>
                <a:lnTo>
                  <a:pt x="42672" y="3307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27291" y="3063494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27291" y="3063494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16165" y="3054604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listen()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63561" y="3300476"/>
            <a:ext cx="76200" cy="339090"/>
          </a:xfrm>
          <a:custGeom>
            <a:avLst/>
            <a:gdLst/>
            <a:ahLst/>
            <a:cxnLst/>
            <a:rect l="l" t="t" r="r" b="b"/>
            <a:pathLst>
              <a:path w="76200" h="339089">
                <a:moveTo>
                  <a:pt x="76200" y="262889"/>
                </a:moveTo>
                <a:lnTo>
                  <a:pt x="0" y="262889"/>
                </a:lnTo>
                <a:lnTo>
                  <a:pt x="33527" y="329945"/>
                </a:lnTo>
                <a:lnTo>
                  <a:pt x="33527" y="275844"/>
                </a:lnTo>
                <a:lnTo>
                  <a:pt x="35051" y="279653"/>
                </a:lnTo>
                <a:lnTo>
                  <a:pt x="38100" y="280415"/>
                </a:lnTo>
                <a:lnTo>
                  <a:pt x="41909" y="279653"/>
                </a:lnTo>
                <a:lnTo>
                  <a:pt x="42671" y="275844"/>
                </a:lnTo>
                <a:lnTo>
                  <a:pt x="42671" y="329946"/>
                </a:lnTo>
                <a:lnTo>
                  <a:pt x="76200" y="262889"/>
                </a:lnTo>
                <a:close/>
              </a:path>
              <a:path w="76200" h="339089">
                <a:moveTo>
                  <a:pt x="42671" y="262889"/>
                </a:moveTo>
                <a:lnTo>
                  <a:pt x="42671" y="4572"/>
                </a:lnTo>
                <a:lnTo>
                  <a:pt x="41909" y="762"/>
                </a:lnTo>
                <a:lnTo>
                  <a:pt x="38100" y="0"/>
                </a:lnTo>
                <a:lnTo>
                  <a:pt x="35051" y="762"/>
                </a:lnTo>
                <a:lnTo>
                  <a:pt x="33527" y="4572"/>
                </a:lnTo>
                <a:lnTo>
                  <a:pt x="33527" y="262889"/>
                </a:lnTo>
                <a:lnTo>
                  <a:pt x="42671" y="262889"/>
                </a:lnTo>
                <a:close/>
              </a:path>
              <a:path w="76200" h="339089">
                <a:moveTo>
                  <a:pt x="42671" y="329946"/>
                </a:moveTo>
                <a:lnTo>
                  <a:pt x="42671" y="275844"/>
                </a:lnTo>
                <a:lnTo>
                  <a:pt x="41909" y="279653"/>
                </a:lnTo>
                <a:lnTo>
                  <a:pt x="38100" y="280415"/>
                </a:lnTo>
                <a:lnTo>
                  <a:pt x="35051" y="279653"/>
                </a:lnTo>
                <a:lnTo>
                  <a:pt x="33527" y="275844"/>
                </a:lnTo>
                <a:lnTo>
                  <a:pt x="33527" y="329945"/>
                </a:lnTo>
                <a:lnTo>
                  <a:pt x="38100" y="339089"/>
                </a:lnTo>
                <a:lnTo>
                  <a:pt x="42671" y="3299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0339" y="367004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0339" y="367004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65111" y="3661155"/>
            <a:ext cx="66548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accept()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66609" y="3906265"/>
            <a:ext cx="76200" cy="424815"/>
          </a:xfrm>
          <a:custGeom>
            <a:avLst/>
            <a:gdLst/>
            <a:ahLst/>
            <a:cxnLst/>
            <a:rect l="l" t="t" r="r" b="b"/>
            <a:pathLst>
              <a:path w="76200" h="424814">
                <a:moveTo>
                  <a:pt x="76200" y="348234"/>
                </a:moveTo>
                <a:lnTo>
                  <a:pt x="0" y="348234"/>
                </a:lnTo>
                <a:lnTo>
                  <a:pt x="33528" y="415290"/>
                </a:lnTo>
                <a:lnTo>
                  <a:pt x="33528" y="360425"/>
                </a:lnTo>
                <a:lnTo>
                  <a:pt x="35052" y="364236"/>
                </a:lnTo>
                <a:lnTo>
                  <a:pt x="38100" y="365760"/>
                </a:lnTo>
                <a:lnTo>
                  <a:pt x="41910" y="364236"/>
                </a:lnTo>
                <a:lnTo>
                  <a:pt x="43434" y="360425"/>
                </a:lnTo>
                <a:lnTo>
                  <a:pt x="43434" y="413765"/>
                </a:lnTo>
                <a:lnTo>
                  <a:pt x="76200" y="348234"/>
                </a:lnTo>
                <a:close/>
              </a:path>
              <a:path w="76200" h="424814">
                <a:moveTo>
                  <a:pt x="43434" y="348234"/>
                </a:moveTo>
                <a:lnTo>
                  <a:pt x="43434" y="5334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5334"/>
                </a:lnTo>
                <a:lnTo>
                  <a:pt x="33528" y="348234"/>
                </a:lnTo>
                <a:lnTo>
                  <a:pt x="43434" y="348234"/>
                </a:lnTo>
                <a:close/>
              </a:path>
              <a:path w="76200" h="424814">
                <a:moveTo>
                  <a:pt x="43434" y="413765"/>
                </a:moveTo>
                <a:lnTo>
                  <a:pt x="43434" y="360425"/>
                </a:lnTo>
                <a:lnTo>
                  <a:pt x="41910" y="364236"/>
                </a:lnTo>
                <a:lnTo>
                  <a:pt x="38100" y="365760"/>
                </a:lnTo>
                <a:lnTo>
                  <a:pt x="35052" y="364236"/>
                </a:lnTo>
                <a:lnTo>
                  <a:pt x="33528" y="360425"/>
                </a:lnTo>
                <a:lnTo>
                  <a:pt x="33528" y="415290"/>
                </a:lnTo>
                <a:lnTo>
                  <a:pt x="38100" y="424434"/>
                </a:lnTo>
                <a:lnTo>
                  <a:pt x="43434" y="4137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18909" y="4377944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18909" y="4377944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3" y="231648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48169" y="4369053"/>
            <a:ext cx="4781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55941" y="4614926"/>
            <a:ext cx="76200" cy="339090"/>
          </a:xfrm>
          <a:custGeom>
            <a:avLst/>
            <a:gdLst/>
            <a:ahLst/>
            <a:cxnLst/>
            <a:rect l="l" t="t" r="r" b="b"/>
            <a:pathLst>
              <a:path w="76200" h="339089">
                <a:moveTo>
                  <a:pt x="76200" y="262889"/>
                </a:moveTo>
                <a:lnTo>
                  <a:pt x="0" y="262889"/>
                </a:lnTo>
                <a:lnTo>
                  <a:pt x="33528" y="329946"/>
                </a:lnTo>
                <a:lnTo>
                  <a:pt x="33528" y="275844"/>
                </a:lnTo>
                <a:lnTo>
                  <a:pt x="34290" y="279653"/>
                </a:lnTo>
                <a:lnTo>
                  <a:pt x="38100" y="280415"/>
                </a:lnTo>
                <a:lnTo>
                  <a:pt x="41148" y="279653"/>
                </a:lnTo>
                <a:lnTo>
                  <a:pt x="42672" y="275844"/>
                </a:lnTo>
                <a:lnTo>
                  <a:pt x="42672" y="329945"/>
                </a:lnTo>
                <a:lnTo>
                  <a:pt x="76200" y="262889"/>
                </a:lnTo>
                <a:close/>
              </a:path>
              <a:path w="76200" h="339089">
                <a:moveTo>
                  <a:pt x="42672" y="262889"/>
                </a:moveTo>
                <a:lnTo>
                  <a:pt x="42672" y="4572"/>
                </a:lnTo>
                <a:lnTo>
                  <a:pt x="41148" y="762"/>
                </a:lnTo>
                <a:lnTo>
                  <a:pt x="38100" y="0"/>
                </a:lnTo>
                <a:lnTo>
                  <a:pt x="34290" y="762"/>
                </a:lnTo>
                <a:lnTo>
                  <a:pt x="33528" y="4572"/>
                </a:lnTo>
                <a:lnTo>
                  <a:pt x="33528" y="262889"/>
                </a:lnTo>
                <a:lnTo>
                  <a:pt x="42672" y="262889"/>
                </a:lnTo>
                <a:close/>
              </a:path>
              <a:path w="76200" h="339089">
                <a:moveTo>
                  <a:pt x="42672" y="329945"/>
                </a:moveTo>
                <a:lnTo>
                  <a:pt x="42672" y="275844"/>
                </a:lnTo>
                <a:lnTo>
                  <a:pt x="41148" y="279653"/>
                </a:lnTo>
                <a:lnTo>
                  <a:pt x="38100" y="280415"/>
                </a:lnTo>
                <a:lnTo>
                  <a:pt x="34290" y="279653"/>
                </a:lnTo>
                <a:lnTo>
                  <a:pt x="33528" y="275844"/>
                </a:lnTo>
                <a:lnTo>
                  <a:pt x="33528" y="329946"/>
                </a:lnTo>
                <a:lnTo>
                  <a:pt x="38100" y="339089"/>
                </a:lnTo>
                <a:lnTo>
                  <a:pt x="42672" y="3299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22719" y="498449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22719" y="498449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25309" y="4975605"/>
            <a:ext cx="5270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58989" y="5220715"/>
            <a:ext cx="76200" cy="540385"/>
          </a:xfrm>
          <a:custGeom>
            <a:avLst/>
            <a:gdLst/>
            <a:ahLst/>
            <a:cxnLst/>
            <a:rect l="l" t="t" r="r" b="b"/>
            <a:pathLst>
              <a:path w="76200" h="540385">
                <a:moveTo>
                  <a:pt x="76200" y="464058"/>
                </a:moveTo>
                <a:lnTo>
                  <a:pt x="0" y="464058"/>
                </a:lnTo>
                <a:lnTo>
                  <a:pt x="33528" y="531114"/>
                </a:lnTo>
                <a:lnTo>
                  <a:pt x="33528" y="476250"/>
                </a:lnTo>
                <a:lnTo>
                  <a:pt x="35051" y="480060"/>
                </a:lnTo>
                <a:lnTo>
                  <a:pt x="38100" y="481584"/>
                </a:lnTo>
                <a:lnTo>
                  <a:pt x="41148" y="480060"/>
                </a:lnTo>
                <a:lnTo>
                  <a:pt x="42672" y="476250"/>
                </a:lnTo>
                <a:lnTo>
                  <a:pt x="42672" y="531113"/>
                </a:lnTo>
                <a:lnTo>
                  <a:pt x="76200" y="464058"/>
                </a:lnTo>
                <a:close/>
              </a:path>
              <a:path w="76200" h="540385">
                <a:moveTo>
                  <a:pt x="42672" y="464058"/>
                </a:moveTo>
                <a:lnTo>
                  <a:pt x="42672" y="5334"/>
                </a:lnTo>
                <a:lnTo>
                  <a:pt x="41148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8" y="5334"/>
                </a:lnTo>
                <a:lnTo>
                  <a:pt x="33528" y="464058"/>
                </a:lnTo>
                <a:lnTo>
                  <a:pt x="42672" y="464058"/>
                </a:lnTo>
                <a:close/>
              </a:path>
              <a:path w="76200" h="540385">
                <a:moveTo>
                  <a:pt x="42672" y="531113"/>
                </a:moveTo>
                <a:lnTo>
                  <a:pt x="42672" y="476250"/>
                </a:lnTo>
                <a:lnTo>
                  <a:pt x="41148" y="480060"/>
                </a:lnTo>
                <a:lnTo>
                  <a:pt x="38100" y="481584"/>
                </a:lnTo>
                <a:lnTo>
                  <a:pt x="35051" y="480060"/>
                </a:lnTo>
                <a:lnTo>
                  <a:pt x="33528" y="476250"/>
                </a:lnTo>
                <a:lnTo>
                  <a:pt x="33528" y="531114"/>
                </a:lnTo>
                <a:lnTo>
                  <a:pt x="38100" y="540258"/>
                </a:lnTo>
                <a:lnTo>
                  <a:pt x="42672" y="531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27291" y="5790691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5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27291" y="5790691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16165" y="5781802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65873" y="1545843"/>
            <a:ext cx="6578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Server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962287" y="1867916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962287" y="1867916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3302380" y="1859025"/>
            <a:ext cx="6559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599319" y="2104898"/>
            <a:ext cx="76200" cy="1559560"/>
          </a:xfrm>
          <a:custGeom>
            <a:avLst/>
            <a:gdLst/>
            <a:ahLst/>
            <a:cxnLst/>
            <a:rect l="l" t="t" r="r" b="b"/>
            <a:pathLst>
              <a:path w="76200" h="1559560">
                <a:moveTo>
                  <a:pt x="76200" y="1482852"/>
                </a:moveTo>
                <a:lnTo>
                  <a:pt x="0" y="1482852"/>
                </a:lnTo>
                <a:lnTo>
                  <a:pt x="32765" y="1548383"/>
                </a:lnTo>
                <a:lnTo>
                  <a:pt x="32765" y="1495043"/>
                </a:lnTo>
                <a:lnTo>
                  <a:pt x="34289" y="1498853"/>
                </a:lnTo>
                <a:lnTo>
                  <a:pt x="38100" y="1500377"/>
                </a:lnTo>
                <a:lnTo>
                  <a:pt x="41148" y="1498853"/>
                </a:lnTo>
                <a:lnTo>
                  <a:pt x="42672" y="1495043"/>
                </a:lnTo>
                <a:lnTo>
                  <a:pt x="42672" y="1549907"/>
                </a:lnTo>
                <a:lnTo>
                  <a:pt x="76200" y="1482852"/>
                </a:lnTo>
                <a:close/>
              </a:path>
              <a:path w="76200" h="1559560">
                <a:moveTo>
                  <a:pt x="42672" y="1482852"/>
                </a:moveTo>
                <a:lnTo>
                  <a:pt x="42672" y="4571"/>
                </a:lnTo>
                <a:lnTo>
                  <a:pt x="41148" y="1523"/>
                </a:lnTo>
                <a:lnTo>
                  <a:pt x="38100" y="0"/>
                </a:lnTo>
                <a:lnTo>
                  <a:pt x="34289" y="1523"/>
                </a:lnTo>
                <a:lnTo>
                  <a:pt x="32765" y="4571"/>
                </a:lnTo>
                <a:lnTo>
                  <a:pt x="32765" y="1482852"/>
                </a:lnTo>
                <a:lnTo>
                  <a:pt x="42672" y="1482852"/>
                </a:lnTo>
                <a:close/>
              </a:path>
              <a:path w="76200" h="1559560">
                <a:moveTo>
                  <a:pt x="42672" y="1549907"/>
                </a:moveTo>
                <a:lnTo>
                  <a:pt x="42672" y="1495043"/>
                </a:lnTo>
                <a:lnTo>
                  <a:pt x="41148" y="1498853"/>
                </a:lnTo>
                <a:lnTo>
                  <a:pt x="38100" y="1500377"/>
                </a:lnTo>
                <a:lnTo>
                  <a:pt x="34289" y="1498853"/>
                </a:lnTo>
                <a:lnTo>
                  <a:pt x="32765" y="1495043"/>
                </a:lnTo>
                <a:lnTo>
                  <a:pt x="32765" y="1548383"/>
                </a:lnTo>
                <a:lnTo>
                  <a:pt x="38100" y="1559052"/>
                </a:lnTo>
                <a:lnTo>
                  <a:pt x="42672" y="15499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972193" y="367766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972193" y="367766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257422" y="3668776"/>
            <a:ext cx="7639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connect()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608463" y="3914647"/>
            <a:ext cx="76200" cy="424180"/>
          </a:xfrm>
          <a:custGeom>
            <a:avLst/>
            <a:gdLst/>
            <a:ahLst/>
            <a:cxnLst/>
            <a:rect l="l" t="t" r="r" b="b"/>
            <a:pathLst>
              <a:path w="76200" h="424179">
                <a:moveTo>
                  <a:pt x="76200" y="347472"/>
                </a:moveTo>
                <a:lnTo>
                  <a:pt x="0" y="347472"/>
                </a:lnTo>
                <a:lnTo>
                  <a:pt x="33528" y="414528"/>
                </a:lnTo>
                <a:lnTo>
                  <a:pt x="33528" y="360425"/>
                </a:lnTo>
                <a:lnTo>
                  <a:pt x="35052" y="363474"/>
                </a:lnTo>
                <a:lnTo>
                  <a:pt x="38100" y="364998"/>
                </a:lnTo>
                <a:lnTo>
                  <a:pt x="41910" y="363474"/>
                </a:lnTo>
                <a:lnTo>
                  <a:pt x="42672" y="360425"/>
                </a:lnTo>
                <a:lnTo>
                  <a:pt x="42672" y="414527"/>
                </a:lnTo>
                <a:lnTo>
                  <a:pt x="76200" y="347472"/>
                </a:lnTo>
                <a:close/>
              </a:path>
              <a:path w="76200" h="424179">
                <a:moveTo>
                  <a:pt x="42672" y="34747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347472"/>
                </a:lnTo>
                <a:lnTo>
                  <a:pt x="42672" y="347472"/>
                </a:lnTo>
                <a:close/>
              </a:path>
              <a:path w="76200" h="424179">
                <a:moveTo>
                  <a:pt x="42672" y="414527"/>
                </a:moveTo>
                <a:lnTo>
                  <a:pt x="42672" y="360425"/>
                </a:lnTo>
                <a:lnTo>
                  <a:pt x="41910" y="363474"/>
                </a:lnTo>
                <a:lnTo>
                  <a:pt x="38100" y="364998"/>
                </a:lnTo>
                <a:lnTo>
                  <a:pt x="35052" y="363474"/>
                </a:lnTo>
                <a:lnTo>
                  <a:pt x="33528" y="360425"/>
                </a:lnTo>
                <a:lnTo>
                  <a:pt x="33528" y="414528"/>
                </a:lnTo>
                <a:lnTo>
                  <a:pt x="38100" y="423672"/>
                </a:lnTo>
                <a:lnTo>
                  <a:pt x="42672" y="414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960763" y="438632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960763" y="438632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3364103" y="4376673"/>
            <a:ext cx="5270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597033" y="4622546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5843"/>
                </a:lnTo>
                <a:lnTo>
                  <a:pt x="35051" y="279653"/>
                </a:lnTo>
                <a:lnTo>
                  <a:pt x="38100" y="281177"/>
                </a:lnTo>
                <a:lnTo>
                  <a:pt x="41910" y="279653"/>
                </a:lnTo>
                <a:lnTo>
                  <a:pt x="43434" y="275843"/>
                </a:lnTo>
                <a:lnTo>
                  <a:pt x="43434" y="329183"/>
                </a:lnTo>
                <a:lnTo>
                  <a:pt x="76200" y="263651"/>
                </a:lnTo>
                <a:close/>
              </a:path>
              <a:path w="76200" h="340360">
                <a:moveTo>
                  <a:pt x="43434" y="263651"/>
                </a:moveTo>
                <a:lnTo>
                  <a:pt x="43434" y="4571"/>
                </a:lnTo>
                <a:lnTo>
                  <a:pt x="41910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7" y="4571"/>
                </a:lnTo>
                <a:lnTo>
                  <a:pt x="33527" y="263651"/>
                </a:lnTo>
                <a:lnTo>
                  <a:pt x="43434" y="263651"/>
                </a:lnTo>
                <a:close/>
              </a:path>
              <a:path w="76200" h="340360">
                <a:moveTo>
                  <a:pt x="43434" y="329183"/>
                </a:moveTo>
                <a:lnTo>
                  <a:pt x="43434" y="275843"/>
                </a:lnTo>
                <a:lnTo>
                  <a:pt x="41910" y="279653"/>
                </a:lnTo>
                <a:lnTo>
                  <a:pt x="38100" y="281177"/>
                </a:lnTo>
                <a:lnTo>
                  <a:pt x="35051" y="279653"/>
                </a:lnTo>
                <a:lnTo>
                  <a:pt x="33527" y="275843"/>
                </a:lnTo>
                <a:lnTo>
                  <a:pt x="33527" y="330707"/>
                </a:lnTo>
                <a:lnTo>
                  <a:pt x="38100" y="339851"/>
                </a:lnTo>
                <a:lnTo>
                  <a:pt x="43434" y="3291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963811" y="499211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963811" y="499211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3392296" y="4983226"/>
            <a:ext cx="4781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600843" y="5229097"/>
            <a:ext cx="76200" cy="539750"/>
          </a:xfrm>
          <a:custGeom>
            <a:avLst/>
            <a:gdLst/>
            <a:ahLst/>
            <a:cxnLst/>
            <a:rect l="l" t="t" r="r" b="b"/>
            <a:pathLst>
              <a:path w="76200" h="539750">
                <a:moveTo>
                  <a:pt x="76200" y="463296"/>
                </a:moveTo>
                <a:lnTo>
                  <a:pt x="0" y="463296"/>
                </a:lnTo>
                <a:lnTo>
                  <a:pt x="32765" y="528827"/>
                </a:lnTo>
                <a:lnTo>
                  <a:pt x="32765" y="476250"/>
                </a:lnTo>
                <a:lnTo>
                  <a:pt x="34289" y="479298"/>
                </a:lnTo>
                <a:lnTo>
                  <a:pt x="38100" y="480822"/>
                </a:lnTo>
                <a:lnTo>
                  <a:pt x="41148" y="479298"/>
                </a:lnTo>
                <a:lnTo>
                  <a:pt x="42672" y="476250"/>
                </a:lnTo>
                <a:lnTo>
                  <a:pt x="42672" y="530351"/>
                </a:lnTo>
                <a:lnTo>
                  <a:pt x="76200" y="463296"/>
                </a:lnTo>
                <a:close/>
              </a:path>
              <a:path w="76200" h="539750">
                <a:moveTo>
                  <a:pt x="42672" y="463296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4289" y="1524"/>
                </a:lnTo>
                <a:lnTo>
                  <a:pt x="32765" y="4572"/>
                </a:lnTo>
                <a:lnTo>
                  <a:pt x="32765" y="463296"/>
                </a:lnTo>
                <a:lnTo>
                  <a:pt x="42672" y="463296"/>
                </a:lnTo>
                <a:close/>
              </a:path>
              <a:path w="76200" h="539750">
                <a:moveTo>
                  <a:pt x="42672" y="530351"/>
                </a:moveTo>
                <a:lnTo>
                  <a:pt x="42672" y="476250"/>
                </a:lnTo>
                <a:lnTo>
                  <a:pt x="41148" y="479298"/>
                </a:lnTo>
                <a:lnTo>
                  <a:pt x="38100" y="480822"/>
                </a:lnTo>
                <a:lnTo>
                  <a:pt x="34289" y="479298"/>
                </a:lnTo>
                <a:lnTo>
                  <a:pt x="32765" y="476250"/>
                </a:lnTo>
                <a:lnTo>
                  <a:pt x="32765" y="528827"/>
                </a:lnTo>
                <a:lnTo>
                  <a:pt x="38100" y="539496"/>
                </a:lnTo>
                <a:lnTo>
                  <a:pt x="42672" y="530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969145" y="5799073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968383" y="5799073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3358007" y="5789421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331336" y="1552701"/>
            <a:ext cx="5899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Client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676793" y="3755390"/>
            <a:ext cx="1271270" cy="76200"/>
          </a:xfrm>
          <a:custGeom>
            <a:avLst/>
            <a:gdLst/>
            <a:ahLst/>
            <a:cxnLst/>
            <a:rect l="l" t="t" r="r" b="b"/>
            <a:pathLst>
              <a:path w="1271270" h="76200">
                <a:moveTo>
                  <a:pt x="76200" y="0"/>
                </a:moveTo>
                <a:lnTo>
                  <a:pt x="0" y="38100"/>
                </a:lnTo>
                <a:lnTo>
                  <a:pt x="45719" y="60960"/>
                </a:lnTo>
                <a:lnTo>
                  <a:pt x="45719" y="38100"/>
                </a:lnTo>
                <a:lnTo>
                  <a:pt x="47243" y="35051"/>
                </a:lnTo>
                <a:lnTo>
                  <a:pt x="50292" y="33527"/>
                </a:lnTo>
                <a:lnTo>
                  <a:pt x="53400" y="33527"/>
                </a:lnTo>
                <a:lnTo>
                  <a:pt x="76200" y="0"/>
                </a:lnTo>
                <a:close/>
              </a:path>
              <a:path w="1271270" h="76200">
                <a:moveTo>
                  <a:pt x="53919" y="43434"/>
                </a:moveTo>
                <a:lnTo>
                  <a:pt x="50292" y="38100"/>
                </a:lnTo>
                <a:lnTo>
                  <a:pt x="50292" y="33527"/>
                </a:lnTo>
                <a:lnTo>
                  <a:pt x="47243" y="35051"/>
                </a:lnTo>
                <a:lnTo>
                  <a:pt x="45719" y="38100"/>
                </a:lnTo>
                <a:lnTo>
                  <a:pt x="47243" y="41910"/>
                </a:lnTo>
                <a:lnTo>
                  <a:pt x="50292" y="43434"/>
                </a:lnTo>
                <a:lnTo>
                  <a:pt x="50292" y="38100"/>
                </a:lnTo>
                <a:lnTo>
                  <a:pt x="53400" y="33527"/>
                </a:lnTo>
                <a:lnTo>
                  <a:pt x="53400" y="43434"/>
                </a:lnTo>
                <a:lnTo>
                  <a:pt x="53919" y="43434"/>
                </a:lnTo>
                <a:close/>
              </a:path>
              <a:path w="1271270" h="76200">
                <a:moveTo>
                  <a:pt x="76200" y="76200"/>
                </a:moveTo>
                <a:lnTo>
                  <a:pt x="53919" y="43434"/>
                </a:lnTo>
                <a:lnTo>
                  <a:pt x="50292" y="43434"/>
                </a:lnTo>
                <a:lnTo>
                  <a:pt x="47243" y="41910"/>
                </a:lnTo>
                <a:lnTo>
                  <a:pt x="45719" y="38100"/>
                </a:lnTo>
                <a:lnTo>
                  <a:pt x="45719" y="60960"/>
                </a:lnTo>
                <a:lnTo>
                  <a:pt x="76200" y="76200"/>
                </a:lnTo>
                <a:close/>
              </a:path>
              <a:path w="1271270" h="76200">
                <a:moveTo>
                  <a:pt x="1212341" y="38100"/>
                </a:moveTo>
                <a:lnTo>
                  <a:pt x="1211579" y="35051"/>
                </a:lnTo>
                <a:lnTo>
                  <a:pt x="1207769" y="33527"/>
                </a:lnTo>
                <a:lnTo>
                  <a:pt x="53400" y="33527"/>
                </a:lnTo>
                <a:lnTo>
                  <a:pt x="50292" y="38100"/>
                </a:lnTo>
                <a:lnTo>
                  <a:pt x="53919" y="43434"/>
                </a:lnTo>
                <a:lnTo>
                  <a:pt x="1207769" y="43434"/>
                </a:lnTo>
                <a:lnTo>
                  <a:pt x="1211579" y="41910"/>
                </a:lnTo>
                <a:lnTo>
                  <a:pt x="1212341" y="38100"/>
                </a:lnTo>
                <a:close/>
              </a:path>
              <a:path w="1271270" h="76200">
                <a:moveTo>
                  <a:pt x="1271015" y="38100"/>
                </a:moveTo>
                <a:lnTo>
                  <a:pt x="1194815" y="0"/>
                </a:lnTo>
                <a:lnTo>
                  <a:pt x="1194815" y="33527"/>
                </a:lnTo>
                <a:lnTo>
                  <a:pt x="1207769" y="33527"/>
                </a:lnTo>
                <a:lnTo>
                  <a:pt x="1211579" y="35051"/>
                </a:lnTo>
                <a:lnTo>
                  <a:pt x="1212341" y="38100"/>
                </a:lnTo>
                <a:lnTo>
                  <a:pt x="1212341" y="67437"/>
                </a:lnTo>
                <a:lnTo>
                  <a:pt x="1271015" y="38100"/>
                </a:lnTo>
                <a:close/>
              </a:path>
              <a:path w="1271270" h="76200">
                <a:moveTo>
                  <a:pt x="1212341" y="67437"/>
                </a:moveTo>
                <a:lnTo>
                  <a:pt x="1212341" y="38100"/>
                </a:lnTo>
                <a:lnTo>
                  <a:pt x="1211579" y="41910"/>
                </a:lnTo>
                <a:lnTo>
                  <a:pt x="1207769" y="43434"/>
                </a:lnTo>
                <a:lnTo>
                  <a:pt x="1194815" y="43434"/>
                </a:lnTo>
                <a:lnTo>
                  <a:pt x="1194815" y="76200"/>
                </a:lnTo>
                <a:lnTo>
                  <a:pt x="1212341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1821814" y="3383788"/>
            <a:ext cx="1080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5285" marR="5080" indent="-36322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synchronization  point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656219" y="4438141"/>
            <a:ext cx="1317625" cy="76200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76200" y="33528"/>
                </a:move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58674" y="38100"/>
                </a:lnTo>
                <a:lnTo>
                  <a:pt x="59436" y="35052"/>
                </a:lnTo>
                <a:lnTo>
                  <a:pt x="63245" y="33528"/>
                </a:lnTo>
                <a:lnTo>
                  <a:pt x="76200" y="33528"/>
                </a:lnTo>
                <a:close/>
              </a:path>
              <a:path w="1317625" h="76200">
                <a:moveTo>
                  <a:pt x="1317497" y="38100"/>
                </a:moveTo>
                <a:lnTo>
                  <a:pt x="1315973" y="35052"/>
                </a:lnTo>
                <a:lnTo>
                  <a:pt x="1312163" y="33528"/>
                </a:lnTo>
                <a:lnTo>
                  <a:pt x="63245" y="33528"/>
                </a:lnTo>
                <a:lnTo>
                  <a:pt x="59436" y="35052"/>
                </a:lnTo>
                <a:lnTo>
                  <a:pt x="58674" y="38100"/>
                </a:lnTo>
                <a:lnTo>
                  <a:pt x="59436" y="41910"/>
                </a:lnTo>
                <a:lnTo>
                  <a:pt x="63245" y="43434"/>
                </a:lnTo>
                <a:lnTo>
                  <a:pt x="1312163" y="43434"/>
                </a:lnTo>
                <a:lnTo>
                  <a:pt x="1315973" y="41910"/>
                </a:lnTo>
                <a:lnTo>
                  <a:pt x="1317497" y="38100"/>
                </a:lnTo>
                <a:close/>
              </a:path>
              <a:path w="1317625" h="76200">
                <a:moveTo>
                  <a:pt x="76200" y="76200"/>
                </a:moveTo>
                <a:lnTo>
                  <a:pt x="76200" y="43434"/>
                </a:lnTo>
                <a:lnTo>
                  <a:pt x="63245" y="43434"/>
                </a:lnTo>
                <a:lnTo>
                  <a:pt x="59436" y="41910"/>
                </a:lnTo>
                <a:lnTo>
                  <a:pt x="58674" y="38100"/>
                </a:lnTo>
                <a:lnTo>
                  <a:pt x="58674" y="67437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644789" y="5063744"/>
            <a:ext cx="1317625" cy="76200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1266443" y="38100"/>
                </a:moveTo>
                <a:lnTo>
                  <a:pt x="1263426" y="33527"/>
                </a:lnTo>
                <a:lnTo>
                  <a:pt x="4572" y="33527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909"/>
                </a:lnTo>
                <a:lnTo>
                  <a:pt x="4572" y="42671"/>
                </a:lnTo>
                <a:lnTo>
                  <a:pt x="1263426" y="42671"/>
                </a:lnTo>
                <a:lnTo>
                  <a:pt x="1266443" y="38100"/>
                </a:lnTo>
                <a:close/>
              </a:path>
              <a:path w="1317625" h="76200">
                <a:moveTo>
                  <a:pt x="1317497" y="38100"/>
                </a:moveTo>
                <a:lnTo>
                  <a:pt x="1241297" y="0"/>
                </a:lnTo>
                <a:lnTo>
                  <a:pt x="1263426" y="33527"/>
                </a:lnTo>
                <a:lnTo>
                  <a:pt x="1266443" y="33527"/>
                </a:lnTo>
                <a:lnTo>
                  <a:pt x="1270253" y="35051"/>
                </a:lnTo>
                <a:lnTo>
                  <a:pt x="1271777" y="38100"/>
                </a:lnTo>
                <a:lnTo>
                  <a:pt x="1271777" y="60959"/>
                </a:lnTo>
                <a:lnTo>
                  <a:pt x="1317497" y="38100"/>
                </a:lnTo>
                <a:close/>
              </a:path>
              <a:path w="1317625" h="76200">
                <a:moveTo>
                  <a:pt x="1271777" y="60959"/>
                </a:moveTo>
                <a:lnTo>
                  <a:pt x="1271777" y="38100"/>
                </a:lnTo>
                <a:lnTo>
                  <a:pt x="1270253" y="41909"/>
                </a:lnTo>
                <a:lnTo>
                  <a:pt x="1266443" y="42671"/>
                </a:lnTo>
                <a:lnTo>
                  <a:pt x="1263426" y="42672"/>
                </a:lnTo>
                <a:lnTo>
                  <a:pt x="1241297" y="76200"/>
                </a:lnTo>
                <a:lnTo>
                  <a:pt x="1271777" y="60959"/>
                </a:lnTo>
                <a:close/>
              </a:path>
              <a:path w="1317625" h="76200">
                <a:moveTo>
                  <a:pt x="1271777" y="38100"/>
                </a:moveTo>
                <a:lnTo>
                  <a:pt x="1270253" y="35051"/>
                </a:lnTo>
                <a:lnTo>
                  <a:pt x="1266443" y="33527"/>
                </a:lnTo>
                <a:lnTo>
                  <a:pt x="1263426" y="33527"/>
                </a:lnTo>
                <a:lnTo>
                  <a:pt x="1266443" y="38100"/>
                </a:lnTo>
                <a:lnTo>
                  <a:pt x="1266443" y="42671"/>
                </a:lnTo>
                <a:lnTo>
                  <a:pt x="1270253" y="41909"/>
                </a:lnTo>
                <a:lnTo>
                  <a:pt x="1271777" y="38100"/>
                </a:lnTo>
                <a:close/>
              </a:path>
              <a:path w="1317625" h="76200">
                <a:moveTo>
                  <a:pt x="1266443" y="42671"/>
                </a:moveTo>
                <a:lnTo>
                  <a:pt x="1266443" y="38100"/>
                </a:lnTo>
                <a:lnTo>
                  <a:pt x="1263426" y="42672"/>
                </a:lnTo>
                <a:lnTo>
                  <a:pt x="1266443" y="426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9255" y="4467097"/>
            <a:ext cx="219710" cy="665480"/>
          </a:xfrm>
          <a:custGeom>
            <a:avLst/>
            <a:gdLst/>
            <a:ahLst/>
            <a:cxnLst/>
            <a:rect l="l" t="t" r="r" b="b"/>
            <a:pathLst>
              <a:path w="219710" h="665479">
                <a:moveTo>
                  <a:pt x="169186" y="39412"/>
                </a:moveTo>
                <a:lnTo>
                  <a:pt x="168402" y="33527"/>
                </a:lnTo>
                <a:lnTo>
                  <a:pt x="163369" y="32226"/>
                </a:lnTo>
                <a:lnTo>
                  <a:pt x="146304" y="47243"/>
                </a:lnTo>
                <a:lnTo>
                  <a:pt x="111252" y="81534"/>
                </a:lnTo>
                <a:lnTo>
                  <a:pt x="80990" y="114280"/>
                </a:lnTo>
                <a:lnTo>
                  <a:pt x="55024" y="145578"/>
                </a:lnTo>
                <a:lnTo>
                  <a:pt x="25651" y="192421"/>
                </a:lnTo>
                <a:lnTo>
                  <a:pt x="3302" y="256210"/>
                </a:lnTo>
                <a:lnTo>
                  <a:pt x="0" y="291084"/>
                </a:lnTo>
                <a:lnTo>
                  <a:pt x="5599" y="334616"/>
                </a:lnTo>
                <a:lnTo>
                  <a:pt x="10021" y="348820"/>
                </a:lnTo>
                <a:lnTo>
                  <a:pt x="10021" y="279178"/>
                </a:lnTo>
                <a:lnTo>
                  <a:pt x="15011" y="246430"/>
                </a:lnTo>
                <a:lnTo>
                  <a:pt x="40386" y="185927"/>
                </a:lnTo>
                <a:lnTo>
                  <a:pt x="61145" y="153466"/>
                </a:lnTo>
                <a:lnTo>
                  <a:pt x="85344" y="123443"/>
                </a:lnTo>
                <a:lnTo>
                  <a:pt x="134874" y="70865"/>
                </a:lnTo>
                <a:lnTo>
                  <a:pt x="169186" y="39412"/>
                </a:lnTo>
                <a:close/>
              </a:path>
              <a:path w="219710" h="665479">
                <a:moveTo>
                  <a:pt x="219456" y="660653"/>
                </a:moveTo>
                <a:lnTo>
                  <a:pt x="218694" y="657605"/>
                </a:lnTo>
                <a:lnTo>
                  <a:pt x="198882" y="633222"/>
                </a:lnTo>
                <a:lnTo>
                  <a:pt x="141732" y="560069"/>
                </a:lnTo>
                <a:lnTo>
                  <a:pt x="103489" y="508115"/>
                </a:lnTo>
                <a:lnTo>
                  <a:pt x="67818" y="454151"/>
                </a:lnTo>
                <a:lnTo>
                  <a:pt x="49202" y="420902"/>
                </a:lnTo>
                <a:lnTo>
                  <a:pt x="32289" y="385567"/>
                </a:lnTo>
                <a:lnTo>
                  <a:pt x="19044" y="348901"/>
                </a:lnTo>
                <a:lnTo>
                  <a:pt x="10021" y="279178"/>
                </a:lnTo>
                <a:lnTo>
                  <a:pt x="10021" y="348820"/>
                </a:lnTo>
                <a:lnTo>
                  <a:pt x="39917" y="423872"/>
                </a:lnTo>
                <a:lnTo>
                  <a:pt x="65392" y="468312"/>
                </a:lnTo>
                <a:lnTo>
                  <a:pt x="94250" y="511770"/>
                </a:lnTo>
                <a:lnTo>
                  <a:pt x="124869" y="553604"/>
                </a:lnTo>
                <a:lnTo>
                  <a:pt x="155626" y="593172"/>
                </a:lnTo>
                <a:lnTo>
                  <a:pt x="211074" y="662939"/>
                </a:lnTo>
                <a:lnTo>
                  <a:pt x="214122" y="665226"/>
                </a:lnTo>
                <a:lnTo>
                  <a:pt x="217932" y="663701"/>
                </a:lnTo>
                <a:lnTo>
                  <a:pt x="219456" y="660653"/>
                </a:lnTo>
                <a:close/>
              </a:path>
              <a:path w="219710" h="665479">
                <a:moveTo>
                  <a:pt x="205740" y="0"/>
                </a:moveTo>
                <a:lnTo>
                  <a:pt x="124206" y="22098"/>
                </a:lnTo>
                <a:lnTo>
                  <a:pt x="163369" y="32226"/>
                </a:lnTo>
                <a:lnTo>
                  <a:pt x="165354" y="30479"/>
                </a:lnTo>
                <a:lnTo>
                  <a:pt x="168402" y="28955"/>
                </a:lnTo>
                <a:lnTo>
                  <a:pt x="171450" y="30479"/>
                </a:lnTo>
                <a:lnTo>
                  <a:pt x="172974" y="34289"/>
                </a:lnTo>
                <a:lnTo>
                  <a:pt x="172974" y="67817"/>
                </a:lnTo>
                <a:lnTo>
                  <a:pt x="174498" y="79248"/>
                </a:lnTo>
                <a:lnTo>
                  <a:pt x="205740" y="0"/>
                </a:lnTo>
                <a:close/>
              </a:path>
              <a:path w="219710" h="665479">
                <a:moveTo>
                  <a:pt x="172974" y="34289"/>
                </a:moveTo>
                <a:lnTo>
                  <a:pt x="171450" y="30479"/>
                </a:lnTo>
                <a:lnTo>
                  <a:pt x="168402" y="28955"/>
                </a:lnTo>
                <a:lnTo>
                  <a:pt x="165354" y="30479"/>
                </a:lnTo>
                <a:lnTo>
                  <a:pt x="163369" y="32226"/>
                </a:lnTo>
                <a:lnTo>
                  <a:pt x="168402" y="33527"/>
                </a:lnTo>
                <a:lnTo>
                  <a:pt x="169186" y="39412"/>
                </a:lnTo>
                <a:lnTo>
                  <a:pt x="171450" y="37337"/>
                </a:lnTo>
                <a:lnTo>
                  <a:pt x="172974" y="34289"/>
                </a:lnTo>
                <a:close/>
              </a:path>
              <a:path w="219710" h="665479">
                <a:moveTo>
                  <a:pt x="172974" y="67817"/>
                </a:moveTo>
                <a:lnTo>
                  <a:pt x="172974" y="34289"/>
                </a:lnTo>
                <a:lnTo>
                  <a:pt x="171450" y="37337"/>
                </a:lnTo>
                <a:lnTo>
                  <a:pt x="169186" y="39412"/>
                </a:lnTo>
                <a:lnTo>
                  <a:pt x="172974" y="678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317885" y="4483100"/>
            <a:ext cx="237490" cy="665480"/>
          </a:xfrm>
          <a:custGeom>
            <a:avLst/>
            <a:gdLst/>
            <a:ahLst/>
            <a:cxnLst/>
            <a:rect l="l" t="t" r="r" b="b"/>
            <a:pathLst>
              <a:path w="237489" h="665479">
                <a:moveTo>
                  <a:pt x="79248" y="31241"/>
                </a:moveTo>
                <a:lnTo>
                  <a:pt x="0" y="0"/>
                </a:lnTo>
                <a:lnTo>
                  <a:pt x="22098" y="82296"/>
                </a:lnTo>
                <a:lnTo>
                  <a:pt x="28956" y="57435"/>
                </a:lnTo>
                <a:lnTo>
                  <a:pt x="28956" y="37337"/>
                </a:lnTo>
                <a:lnTo>
                  <a:pt x="30480" y="34289"/>
                </a:lnTo>
                <a:lnTo>
                  <a:pt x="34289" y="32765"/>
                </a:lnTo>
                <a:lnTo>
                  <a:pt x="37337" y="34289"/>
                </a:lnTo>
                <a:lnTo>
                  <a:pt x="39892" y="37245"/>
                </a:lnTo>
                <a:lnTo>
                  <a:pt x="79248" y="31241"/>
                </a:lnTo>
                <a:close/>
              </a:path>
              <a:path w="237489" h="665479">
                <a:moveTo>
                  <a:pt x="227075" y="425960"/>
                </a:moveTo>
                <a:lnTo>
                  <a:pt x="227075" y="368808"/>
                </a:lnTo>
                <a:lnTo>
                  <a:pt x="223089" y="407843"/>
                </a:lnTo>
                <a:lnTo>
                  <a:pt x="210197" y="444650"/>
                </a:lnTo>
                <a:lnTo>
                  <a:pt x="190885" y="478969"/>
                </a:lnTo>
                <a:lnTo>
                  <a:pt x="167639" y="510539"/>
                </a:lnTo>
                <a:lnTo>
                  <a:pt x="129744" y="551030"/>
                </a:lnTo>
                <a:lnTo>
                  <a:pt x="89154" y="589026"/>
                </a:lnTo>
                <a:lnTo>
                  <a:pt x="28194" y="639317"/>
                </a:lnTo>
                <a:lnTo>
                  <a:pt x="6858" y="656082"/>
                </a:lnTo>
                <a:lnTo>
                  <a:pt x="5334" y="659891"/>
                </a:lnTo>
                <a:lnTo>
                  <a:pt x="6096" y="662939"/>
                </a:lnTo>
                <a:lnTo>
                  <a:pt x="9144" y="665226"/>
                </a:lnTo>
                <a:lnTo>
                  <a:pt x="12954" y="663701"/>
                </a:lnTo>
                <a:lnTo>
                  <a:pt x="54863" y="630174"/>
                </a:lnTo>
                <a:lnTo>
                  <a:pt x="95250" y="595884"/>
                </a:lnTo>
                <a:lnTo>
                  <a:pt x="133350" y="560832"/>
                </a:lnTo>
                <a:lnTo>
                  <a:pt x="171083" y="520382"/>
                </a:lnTo>
                <a:lnTo>
                  <a:pt x="202347" y="478786"/>
                </a:lnTo>
                <a:lnTo>
                  <a:pt x="219422" y="447174"/>
                </a:lnTo>
                <a:lnTo>
                  <a:pt x="227075" y="425960"/>
                </a:lnTo>
                <a:close/>
              </a:path>
              <a:path w="237489" h="665479">
                <a:moveTo>
                  <a:pt x="39892" y="37245"/>
                </a:moveTo>
                <a:lnTo>
                  <a:pt x="37337" y="34289"/>
                </a:lnTo>
                <a:lnTo>
                  <a:pt x="34289" y="32765"/>
                </a:lnTo>
                <a:lnTo>
                  <a:pt x="30480" y="34289"/>
                </a:lnTo>
                <a:lnTo>
                  <a:pt x="28956" y="37337"/>
                </a:lnTo>
                <a:lnTo>
                  <a:pt x="30480" y="41148"/>
                </a:lnTo>
                <a:lnTo>
                  <a:pt x="32726" y="43768"/>
                </a:lnTo>
                <a:lnTo>
                  <a:pt x="34289" y="38100"/>
                </a:lnTo>
                <a:lnTo>
                  <a:pt x="39892" y="37245"/>
                </a:lnTo>
                <a:close/>
              </a:path>
              <a:path w="237489" h="665479">
                <a:moveTo>
                  <a:pt x="32726" y="43768"/>
                </a:moveTo>
                <a:lnTo>
                  <a:pt x="30480" y="41148"/>
                </a:lnTo>
                <a:lnTo>
                  <a:pt x="28956" y="37337"/>
                </a:lnTo>
                <a:lnTo>
                  <a:pt x="28956" y="57435"/>
                </a:lnTo>
                <a:lnTo>
                  <a:pt x="32726" y="43768"/>
                </a:lnTo>
                <a:close/>
              </a:path>
              <a:path w="237489" h="665479">
                <a:moveTo>
                  <a:pt x="236982" y="379475"/>
                </a:moveTo>
                <a:lnTo>
                  <a:pt x="233077" y="333526"/>
                </a:lnTo>
                <a:lnTo>
                  <a:pt x="218333" y="286475"/>
                </a:lnTo>
                <a:lnTo>
                  <a:pt x="195163" y="239273"/>
                </a:lnTo>
                <a:lnTo>
                  <a:pt x="165977" y="192871"/>
                </a:lnTo>
                <a:lnTo>
                  <a:pt x="133190" y="148221"/>
                </a:lnTo>
                <a:lnTo>
                  <a:pt x="99212" y="106273"/>
                </a:lnTo>
                <a:lnTo>
                  <a:pt x="39892" y="37245"/>
                </a:lnTo>
                <a:lnTo>
                  <a:pt x="34289" y="38100"/>
                </a:lnTo>
                <a:lnTo>
                  <a:pt x="32726" y="43768"/>
                </a:lnTo>
                <a:lnTo>
                  <a:pt x="39624" y="51815"/>
                </a:lnTo>
                <a:lnTo>
                  <a:pt x="81534" y="99822"/>
                </a:lnTo>
                <a:lnTo>
                  <a:pt x="119949" y="147058"/>
                </a:lnTo>
                <a:lnTo>
                  <a:pt x="154370" y="193436"/>
                </a:lnTo>
                <a:lnTo>
                  <a:pt x="191032" y="251954"/>
                </a:lnTo>
                <a:lnTo>
                  <a:pt x="209349" y="289912"/>
                </a:lnTo>
                <a:lnTo>
                  <a:pt x="222433" y="329599"/>
                </a:lnTo>
                <a:lnTo>
                  <a:pt x="227075" y="368808"/>
                </a:lnTo>
                <a:lnTo>
                  <a:pt x="227075" y="425960"/>
                </a:lnTo>
                <a:lnTo>
                  <a:pt x="231561" y="413527"/>
                </a:lnTo>
                <a:lnTo>
                  <a:pt x="236982" y="3794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1695323" y="1157223"/>
            <a:ext cx="1092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541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Stream  </a:t>
            </a:r>
            <a:r>
              <a:rPr sz="1800" b="1" spc="-5" dirty="0">
                <a:latin typeface="Arial"/>
                <a:cs typeface="Arial"/>
              </a:rPr>
              <a:t>(e.g.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TCP)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4874145" y="1867916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873383" y="1867916"/>
            <a:ext cx="1336040" cy="232410"/>
          </a:xfrm>
          <a:custGeom>
            <a:avLst/>
            <a:gdLst/>
            <a:ahLst/>
            <a:cxnLst/>
            <a:rect l="l" t="t" r="r" b="b"/>
            <a:pathLst>
              <a:path w="1336039" h="232410">
                <a:moveTo>
                  <a:pt x="0" y="0"/>
                </a:moveTo>
                <a:lnTo>
                  <a:pt x="0" y="232410"/>
                </a:lnTo>
                <a:lnTo>
                  <a:pt x="1335786" y="232410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5213477" y="1859025"/>
            <a:ext cx="6559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5510415" y="2104898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5843"/>
                </a:lnTo>
                <a:lnTo>
                  <a:pt x="34289" y="279653"/>
                </a:lnTo>
                <a:lnTo>
                  <a:pt x="38100" y="281177"/>
                </a:lnTo>
                <a:lnTo>
                  <a:pt x="41135" y="279653"/>
                </a:lnTo>
                <a:lnTo>
                  <a:pt x="42659" y="275843"/>
                </a:lnTo>
                <a:lnTo>
                  <a:pt x="42659" y="330733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59" y="263651"/>
                </a:moveTo>
                <a:lnTo>
                  <a:pt x="42659" y="4571"/>
                </a:lnTo>
                <a:lnTo>
                  <a:pt x="41135" y="1523"/>
                </a:lnTo>
                <a:lnTo>
                  <a:pt x="38100" y="0"/>
                </a:lnTo>
                <a:lnTo>
                  <a:pt x="34289" y="1523"/>
                </a:lnTo>
                <a:lnTo>
                  <a:pt x="33527" y="4571"/>
                </a:lnTo>
                <a:lnTo>
                  <a:pt x="33527" y="263651"/>
                </a:lnTo>
                <a:lnTo>
                  <a:pt x="42659" y="263651"/>
                </a:lnTo>
                <a:close/>
              </a:path>
              <a:path w="76200" h="340360">
                <a:moveTo>
                  <a:pt x="42659" y="330733"/>
                </a:moveTo>
                <a:lnTo>
                  <a:pt x="42659" y="275843"/>
                </a:lnTo>
                <a:lnTo>
                  <a:pt x="41135" y="279653"/>
                </a:lnTo>
                <a:lnTo>
                  <a:pt x="38100" y="281177"/>
                </a:lnTo>
                <a:lnTo>
                  <a:pt x="34289" y="279653"/>
                </a:lnTo>
                <a:lnTo>
                  <a:pt x="33527" y="275843"/>
                </a:lnTo>
                <a:lnTo>
                  <a:pt x="33527" y="330707"/>
                </a:lnTo>
                <a:lnTo>
                  <a:pt x="38100" y="339851"/>
                </a:lnTo>
                <a:lnTo>
                  <a:pt x="42659" y="3307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877193" y="2474467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877193" y="2474467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5305678" y="2465577"/>
            <a:ext cx="4787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bind()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5513451" y="2711450"/>
            <a:ext cx="76200" cy="1631950"/>
          </a:xfrm>
          <a:custGeom>
            <a:avLst/>
            <a:gdLst/>
            <a:ahLst/>
            <a:cxnLst/>
            <a:rect l="l" t="t" r="r" b="b"/>
            <a:pathLst>
              <a:path w="76200" h="1631950">
                <a:moveTo>
                  <a:pt x="76200" y="1555241"/>
                </a:moveTo>
                <a:lnTo>
                  <a:pt x="0" y="1555241"/>
                </a:lnTo>
                <a:lnTo>
                  <a:pt x="33540" y="1622323"/>
                </a:lnTo>
                <a:lnTo>
                  <a:pt x="33540" y="1568195"/>
                </a:lnTo>
                <a:lnTo>
                  <a:pt x="35064" y="1571243"/>
                </a:lnTo>
                <a:lnTo>
                  <a:pt x="38100" y="1572767"/>
                </a:lnTo>
                <a:lnTo>
                  <a:pt x="41922" y="1571243"/>
                </a:lnTo>
                <a:lnTo>
                  <a:pt x="42684" y="1568195"/>
                </a:lnTo>
                <a:lnTo>
                  <a:pt x="42684" y="1622272"/>
                </a:lnTo>
                <a:lnTo>
                  <a:pt x="76200" y="1555241"/>
                </a:lnTo>
                <a:close/>
              </a:path>
              <a:path w="76200" h="1631950">
                <a:moveTo>
                  <a:pt x="42684" y="1555241"/>
                </a:moveTo>
                <a:lnTo>
                  <a:pt x="42684" y="4571"/>
                </a:lnTo>
                <a:lnTo>
                  <a:pt x="41922" y="761"/>
                </a:lnTo>
                <a:lnTo>
                  <a:pt x="38100" y="0"/>
                </a:lnTo>
                <a:lnTo>
                  <a:pt x="35064" y="761"/>
                </a:lnTo>
                <a:lnTo>
                  <a:pt x="33540" y="4571"/>
                </a:lnTo>
                <a:lnTo>
                  <a:pt x="33540" y="1555241"/>
                </a:lnTo>
                <a:lnTo>
                  <a:pt x="42684" y="1555241"/>
                </a:lnTo>
                <a:close/>
              </a:path>
              <a:path w="76200" h="1631950">
                <a:moveTo>
                  <a:pt x="42684" y="1622272"/>
                </a:moveTo>
                <a:lnTo>
                  <a:pt x="42684" y="1568195"/>
                </a:lnTo>
                <a:lnTo>
                  <a:pt x="41922" y="1571243"/>
                </a:lnTo>
                <a:lnTo>
                  <a:pt x="38100" y="1572767"/>
                </a:lnTo>
                <a:lnTo>
                  <a:pt x="35064" y="1571243"/>
                </a:lnTo>
                <a:lnTo>
                  <a:pt x="33540" y="1568195"/>
                </a:lnTo>
                <a:lnTo>
                  <a:pt x="33540" y="1622323"/>
                </a:lnTo>
                <a:lnTo>
                  <a:pt x="38100" y="1631441"/>
                </a:lnTo>
                <a:lnTo>
                  <a:pt x="42684" y="1622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871859" y="4386326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8"/>
                </a:lnTo>
                <a:lnTo>
                  <a:pt x="1335785" y="231648"/>
                </a:lnTo>
                <a:lnTo>
                  <a:pt x="1335785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871859" y="438632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5122811" y="4376673"/>
            <a:ext cx="8318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recvfrom()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5508891" y="4622546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15" y="330682"/>
                </a:lnTo>
                <a:lnTo>
                  <a:pt x="33515" y="275843"/>
                </a:lnTo>
                <a:lnTo>
                  <a:pt x="34289" y="279653"/>
                </a:lnTo>
                <a:lnTo>
                  <a:pt x="38100" y="281177"/>
                </a:lnTo>
                <a:lnTo>
                  <a:pt x="41135" y="279653"/>
                </a:lnTo>
                <a:lnTo>
                  <a:pt x="42659" y="275843"/>
                </a:lnTo>
                <a:lnTo>
                  <a:pt x="42659" y="330733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59" y="263651"/>
                </a:moveTo>
                <a:lnTo>
                  <a:pt x="42659" y="4571"/>
                </a:lnTo>
                <a:lnTo>
                  <a:pt x="41135" y="1524"/>
                </a:lnTo>
                <a:lnTo>
                  <a:pt x="38100" y="0"/>
                </a:lnTo>
                <a:lnTo>
                  <a:pt x="34289" y="1524"/>
                </a:lnTo>
                <a:lnTo>
                  <a:pt x="33515" y="4571"/>
                </a:lnTo>
                <a:lnTo>
                  <a:pt x="33515" y="263651"/>
                </a:lnTo>
                <a:lnTo>
                  <a:pt x="42659" y="263651"/>
                </a:lnTo>
                <a:close/>
              </a:path>
              <a:path w="76200" h="340360">
                <a:moveTo>
                  <a:pt x="42659" y="330733"/>
                </a:moveTo>
                <a:lnTo>
                  <a:pt x="42659" y="275843"/>
                </a:lnTo>
                <a:lnTo>
                  <a:pt x="41135" y="279653"/>
                </a:lnTo>
                <a:lnTo>
                  <a:pt x="38100" y="281177"/>
                </a:lnTo>
                <a:lnTo>
                  <a:pt x="34289" y="279653"/>
                </a:lnTo>
                <a:lnTo>
                  <a:pt x="33515" y="275843"/>
                </a:lnTo>
                <a:lnTo>
                  <a:pt x="33515" y="330682"/>
                </a:lnTo>
                <a:lnTo>
                  <a:pt x="38100" y="339851"/>
                </a:lnTo>
                <a:lnTo>
                  <a:pt x="42659" y="3307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875669" y="499211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3" y="232410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875669" y="499211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3" y="232410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5205857" y="4983226"/>
            <a:ext cx="6750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sendto()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5511927" y="5229097"/>
            <a:ext cx="76200" cy="539750"/>
          </a:xfrm>
          <a:custGeom>
            <a:avLst/>
            <a:gdLst/>
            <a:ahLst/>
            <a:cxnLst/>
            <a:rect l="l" t="t" r="r" b="b"/>
            <a:pathLst>
              <a:path w="76200" h="539750">
                <a:moveTo>
                  <a:pt x="76200" y="463296"/>
                </a:moveTo>
                <a:lnTo>
                  <a:pt x="0" y="463296"/>
                </a:lnTo>
                <a:lnTo>
                  <a:pt x="33540" y="530377"/>
                </a:lnTo>
                <a:lnTo>
                  <a:pt x="33540" y="476250"/>
                </a:lnTo>
                <a:lnTo>
                  <a:pt x="35064" y="479298"/>
                </a:lnTo>
                <a:lnTo>
                  <a:pt x="38100" y="480822"/>
                </a:lnTo>
                <a:lnTo>
                  <a:pt x="41148" y="479298"/>
                </a:lnTo>
                <a:lnTo>
                  <a:pt x="42672" y="476250"/>
                </a:lnTo>
                <a:lnTo>
                  <a:pt x="42672" y="530351"/>
                </a:lnTo>
                <a:lnTo>
                  <a:pt x="76200" y="463296"/>
                </a:lnTo>
                <a:close/>
              </a:path>
              <a:path w="76200" h="539750">
                <a:moveTo>
                  <a:pt x="42672" y="463296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5064" y="1524"/>
                </a:lnTo>
                <a:lnTo>
                  <a:pt x="33540" y="4572"/>
                </a:lnTo>
                <a:lnTo>
                  <a:pt x="33540" y="463296"/>
                </a:lnTo>
                <a:lnTo>
                  <a:pt x="42672" y="463296"/>
                </a:lnTo>
                <a:close/>
              </a:path>
              <a:path w="76200" h="539750">
                <a:moveTo>
                  <a:pt x="42672" y="530351"/>
                </a:moveTo>
                <a:lnTo>
                  <a:pt x="42672" y="476250"/>
                </a:lnTo>
                <a:lnTo>
                  <a:pt x="41148" y="479298"/>
                </a:lnTo>
                <a:lnTo>
                  <a:pt x="38100" y="480822"/>
                </a:lnTo>
                <a:lnTo>
                  <a:pt x="35064" y="479298"/>
                </a:lnTo>
                <a:lnTo>
                  <a:pt x="33540" y="476250"/>
                </a:lnTo>
                <a:lnTo>
                  <a:pt x="33540" y="530377"/>
                </a:lnTo>
                <a:lnTo>
                  <a:pt x="38100" y="539496"/>
                </a:lnTo>
                <a:lnTo>
                  <a:pt x="42672" y="530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880241" y="5799073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880241" y="5799073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5269103" y="5789421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218810" y="1554225"/>
            <a:ext cx="6578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Server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7515225" y="1876298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515225" y="1876298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7855331" y="1867407"/>
            <a:ext cx="6559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8152269" y="2701544"/>
            <a:ext cx="76200" cy="1632585"/>
          </a:xfrm>
          <a:custGeom>
            <a:avLst/>
            <a:gdLst/>
            <a:ahLst/>
            <a:cxnLst/>
            <a:rect l="l" t="t" r="r" b="b"/>
            <a:pathLst>
              <a:path w="76200" h="1632585">
                <a:moveTo>
                  <a:pt x="76200" y="1556004"/>
                </a:moveTo>
                <a:lnTo>
                  <a:pt x="0" y="1556004"/>
                </a:lnTo>
                <a:lnTo>
                  <a:pt x="32753" y="1621510"/>
                </a:lnTo>
                <a:lnTo>
                  <a:pt x="32753" y="1568196"/>
                </a:lnTo>
                <a:lnTo>
                  <a:pt x="34277" y="1572006"/>
                </a:lnTo>
                <a:lnTo>
                  <a:pt x="38100" y="1573530"/>
                </a:lnTo>
                <a:lnTo>
                  <a:pt x="41148" y="1572006"/>
                </a:lnTo>
                <a:lnTo>
                  <a:pt x="42672" y="1568196"/>
                </a:lnTo>
                <a:lnTo>
                  <a:pt x="42672" y="1623060"/>
                </a:lnTo>
                <a:lnTo>
                  <a:pt x="76200" y="1556004"/>
                </a:lnTo>
                <a:close/>
              </a:path>
              <a:path w="76200" h="1632585">
                <a:moveTo>
                  <a:pt x="42672" y="1556004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77" y="1524"/>
                </a:lnTo>
                <a:lnTo>
                  <a:pt x="32753" y="4572"/>
                </a:lnTo>
                <a:lnTo>
                  <a:pt x="32753" y="1556004"/>
                </a:lnTo>
                <a:lnTo>
                  <a:pt x="42672" y="1556004"/>
                </a:lnTo>
                <a:close/>
              </a:path>
              <a:path w="76200" h="1632585">
                <a:moveTo>
                  <a:pt x="42672" y="1623060"/>
                </a:moveTo>
                <a:lnTo>
                  <a:pt x="42672" y="1568196"/>
                </a:lnTo>
                <a:lnTo>
                  <a:pt x="41148" y="1572006"/>
                </a:lnTo>
                <a:lnTo>
                  <a:pt x="38100" y="1573530"/>
                </a:lnTo>
                <a:lnTo>
                  <a:pt x="34277" y="1572006"/>
                </a:lnTo>
                <a:lnTo>
                  <a:pt x="32753" y="1568196"/>
                </a:lnTo>
                <a:lnTo>
                  <a:pt x="32753" y="1621510"/>
                </a:lnTo>
                <a:lnTo>
                  <a:pt x="38100" y="1632204"/>
                </a:lnTo>
                <a:lnTo>
                  <a:pt x="42672" y="16230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513701" y="439394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7513701" y="439394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7843901" y="4385055"/>
            <a:ext cx="6750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sendto()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8149970" y="4630165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6606"/>
                </a:lnTo>
                <a:lnTo>
                  <a:pt x="35051" y="279654"/>
                </a:lnTo>
                <a:lnTo>
                  <a:pt x="38100" y="281178"/>
                </a:lnTo>
                <a:lnTo>
                  <a:pt x="41922" y="279654"/>
                </a:lnTo>
                <a:lnTo>
                  <a:pt x="43446" y="276606"/>
                </a:lnTo>
                <a:lnTo>
                  <a:pt x="43446" y="329158"/>
                </a:lnTo>
                <a:lnTo>
                  <a:pt x="76200" y="263651"/>
                </a:lnTo>
                <a:close/>
              </a:path>
              <a:path w="76200" h="340360">
                <a:moveTo>
                  <a:pt x="43446" y="263651"/>
                </a:moveTo>
                <a:lnTo>
                  <a:pt x="43446" y="5334"/>
                </a:lnTo>
                <a:lnTo>
                  <a:pt x="41922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7" y="5334"/>
                </a:lnTo>
                <a:lnTo>
                  <a:pt x="33527" y="263651"/>
                </a:lnTo>
                <a:lnTo>
                  <a:pt x="43446" y="263651"/>
                </a:lnTo>
                <a:close/>
              </a:path>
              <a:path w="76200" h="340360">
                <a:moveTo>
                  <a:pt x="43446" y="329158"/>
                </a:moveTo>
                <a:lnTo>
                  <a:pt x="43446" y="276606"/>
                </a:lnTo>
                <a:lnTo>
                  <a:pt x="41922" y="279654"/>
                </a:lnTo>
                <a:lnTo>
                  <a:pt x="38100" y="281178"/>
                </a:lnTo>
                <a:lnTo>
                  <a:pt x="35051" y="279654"/>
                </a:lnTo>
                <a:lnTo>
                  <a:pt x="33527" y="276606"/>
                </a:lnTo>
                <a:lnTo>
                  <a:pt x="33527" y="330707"/>
                </a:lnTo>
                <a:lnTo>
                  <a:pt x="38100" y="339851"/>
                </a:lnTo>
                <a:lnTo>
                  <a:pt x="43446" y="3291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516748" y="5000497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7516748" y="5000497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7767701" y="4991608"/>
            <a:ext cx="8318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recvfrom()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8153793" y="5236717"/>
            <a:ext cx="76200" cy="540385"/>
          </a:xfrm>
          <a:custGeom>
            <a:avLst/>
            <a:gdLst/>
            <a:ahLst/>
            <a:cxnLst/>
            <a:rect l="l" t="t" r="r" b="b"/>
            <a:pathLst>
              <a:path w="76200" h="540385">
                <a:moveTo>
                  <a:pt x="76200" y="464058"/>
                </a:moveTo>
                <a:lnTo>
                  <a:pt x="0" y="464058"/>
                </a:lnTo>
                <a:lnTo>
                  <a:pt x="32753" y="529564"/>
                </a:lnTo>
                <a:lnTo>
                  <a:pt x="32753" y="476250"/>
                </a:lnTo>
                <a:lnTo>
                  <a:pt x="34277" y="480060"/>
                </a:lnTo>
                <a:lnTo>
                  <a:pt x="38100" y="480822"/>
                </a:lnTo>
                <a:lnTo>
                  <a:pt x="41148" y="480060"/>
                </a:lnTo>
                <a:lnTo>
                  <a:pt x="42672" y="476250"/>
                </a:lnTo>
                <a:lnTo>
                  <a:pt x="42672" y="531113"/>
                </a:lnTo>
                <a:lnTo>
                  <a:pt x="76200" y="464058"/>
                </a:lnTo>
                <a:close/>
              </a:path>
              <a:path w="76200" h="540385">
                <a:moveTo>
                  <a:pt x="42672" y="464058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77" y="1524"/>
                </a:lnTo>
                <a:lnTo>
                  <a:pt x="32753" y="4572"/>
                </a:lnTo>
                <a:lnTo>
                  <a:pt x="32753" y="464058"/>
                </a:lnTo>
                <a:lnTo>
                  <a:pt x="42672" y="464058"/>
                </a:lnTo>
                <a:close/>
              </a:path>
              <a:path w="76200" h="540385">
                <a:moveTo>
                  <a:pt x="42672" y="531113"/>
                </a:moveTo>
                <a:lnTo>
                  <a:pt x="42672" y="476250"/>
                </a:lnTo>
                <a:lnTo>
                  <a:pt x="41148" y="480060"/>
                </a:lnTo>
                <a:lnTo>
                  <a:pt x="38100" y="480822"/>
                </a:lnTo>
                <a:lnTo>
                  <a:pt x="34277" y="480060"/>
                </a:lnTo>
                <a:lnTo>
                  <a:pt x="32753" y="476250"/>
                </a:lnTo>
                <a:lnTo>
                  <a:pt x="32753" y="529564"/>
                </a:lnTo>
                <a:lnTo>
                  <a:pt x="38100" y="540258"/>
                </a:lnTo>
                <a:lnTo>
                  <a:pt x="42672" y="531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522095" y="5806694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521333" y="5806694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40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7910956" y="5797803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7884286" y="1560322"/>
            <a:ext cx="5899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Client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6209169" y="4446523"/>
            <a:ext cx="1317625" cy="76200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76200" y="32765"/>
                </a:move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58674" y="38100"/>
                </a:lnTo>
                <a:lnTo>
                  <a:pt x="59436" y="34289"/>
                </a:lnTo>
                <a:lnTo>
                  <a:pt x="63246" y="32765"/>
                </a:lnTo>
                <a:lnTo>
                  <a:pt x="76200" y="32765"/>
                </a:lnTo>
                <a:close/>
              </a:path>
              <a:path w="1317625" h="76200">
                <a:moveTo>
                  <a:pt x="1317498" y="38100"/>
                </a:moveTo>
                <a:lnTo>
                  <a:pt x="1315974" y="34289"/>
                </a:lnTo>
                <a:lnTo>
                  <a:pt x="1312164" y="32765"/>
                </a:lnTo>
                <a:lnTo>
                  <a:pt x="63246" y="32765"/>
                </a:lnTo>
                <a:lnTo>
                  <a:pt x="59436" y="34289"/>
                </a:lnTo>
                <a:lnTo>
                  <a:pt x="58674" y="38100"/>
                </a:lnTo>
                <a:lnTo>
                  <a:pt x="59436" y="41148"/>
                </a:lnTo>
                <a:lnTo>
                  <a:pt x="63246" y="42672"/>
                </a:lnTo>
                <a:lnTo>
                  <a:pt x="1312164" y="42672"/>
                </a:lnTo>
                <a:lnTo>
                  <a:pt x="1315974" y="41148"/>
                </a:lnTo>
                <a:lnTo>
                  <a:pt x="1317498" y="38100"/>
                </a:lnTo>
                <a:close/>
              </a:path>
              <a:path w="1317625" h="76200">
                <a:moveTo>
                  <a:pt x="76200" y="76200"/>
                </a:moveTo>
                <a:lnTo>
                  <a:pt x="76200" y="42672"/>
                </a:lnTo>
                <a:lnTo>
                  <a:pt x="63246" y="42672"/>
                </a:lnTo>
                <a:lnTo>
                  <a:pt x="59436" y="41148"/>
                </a:lnTo>
                <a:lnTo>
                  <a:pt x="58674" y="38100"/>
                </a:lnTo>
                <a:lnTo>
                  <a:pt x="58674" y="67437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6197727" y="5072126"/>
            <a:ext cx="1317625" cy="76200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1266456" y="38100"/>
                </a:moveTo>
                <a:lnTo>
                  <a:pt x="1262934" y="32765"/>
                </a:lnTo>
                <a:lnTo>
                  <a:pt x="4572" y="32765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1263437" y="42672"/>
                </a:lnTo>
                <a:lnTo>
                  <a:pt x="1266456" y="38100"/>
                </a:lnTo>
                <a:close/>
              </a:path>
              <a:path w="1317625" h="76200">
                <a:moveTo>
                  <a:pt x="1317498" y="38100"/>
                </a:moveTo>
                <a:lnTo>
                  <a:pt x="1241298" y="0"/>
                </a:lnTo>
                <a:lnTo>
                  <a:pt x="1262934" y="32765"/>
                </a:lnTo>
                <a:lnTo>
                  <a:pt x="1266456" y="32765"/>
                </a:lnTo>
                <a:lnTo>
                  <a:pt x="1270266" y="34289"/>
                </a:lnTo>
                <a:lnTo>
                  <a:pt x="1271790" y="38100"/>
                </a:lnTo>
                <a:lnTo>
                  <a:pt x="1271790" y="60953"/>
                </a:lnTo>
                <a:lnTo>
                  <a:pt x="1317498" y="38100"/>
                </a:lnTo>
                <a:close/>
              </a:path>
              <a:path w="1317625" h="76200">
                <a:moveTo>
                  <a:pt x="1271790" y="60953"/>
                </a:moveTo>
                <a:lnTo>
                  <a:pt x="1271790" y="38100"/>
                </a:lnTo>
                <a:lnTo>
                  <a:pt x="1270266" y="41148"/>
                </a:lnTo>
                <a:lnTo>
                  <a:pt x="1266456" y="42672"/>
                </a:lnTo>
                <a:lnTo>
                  <a:pt x="1263437" y="42672"/>
                </a:lnTo>
                <a:lnTo>
                  <a:pt x="1241298" y="76200"/>
                </a:lnTo>
                <a:lnTo>
                  <a:pt x="1271790" y="60953"/>
                </a:lnTo>
                <a:close/>
              </a:path>
              <a:path w="1317625" h="76200">
                <a:moveTo>
                  <a:pt x="1271790" y="38100"/>
                </a:moveTo>
                <a:lnTo>
                  <a:pt x="1270266" y="34289"/>
                </a:lnTo>
                <a:lnTo>
                  <a:pt x="1266456" y="32765"/>
                </a:lnTo>
                <a:lnTo>
                  <a:pt x="1262934" y="32765"/>
                </a:lnTo>
                <a:lnTo>
                  <a:pt x="1266456" y="38100"/>
                </a:lnTo>
                <a:lnTo>
                  <a:pt x="1266456" y="42672"/>
                </a:lnTo>
                <a:lnTo>
                  <a:pt x="1270266" y="41148"/>
                </a:lnTo>
                <a:lnTo>
                  <a:pt x="1271790" y="38100"/>
                </a:lnTo>
                <a:close/>
              </a:path>
              <a:path w="1317625" h="76200">
                <a:moveTo>
                  <a:pt x="1266456" y="42672"/>
                </a:moveTo>
                <a:lnTo>
                  <a:pt x="1266456" y="38100"/>
                </a:lnTo>
                <a:lnTo>
                  <a:pt x="1263437" y="42672"/>
                </a:lnTo>
                <a:lnTo>
                  <a:pt x="1266456" y="426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592967" y="4474717"/>
            <a:ext cx="219075" cy="665480"/>
          </a:xfrm>
          <a:custGeom>
            <a:avLst/>
            <a:gdLst/>
            <a:ahLst/>
            <a:cxnLst/>
            <a:rect l="l" t="t" r="r" b="b"/>
            <a:pathLst>
              <a:path w="219075" h="665479">
                <a:moveTo>
                  <a:pt x="168344" y="39486"/>
                </a:moveTo>
                <a:lnTo>
                  <a:pt x="167639" y="34290"/>
                </a:lnTo>
                <a:lnTo>
                  <a:pt x="161938" y="32815"/>
                </a:lnTo>
                <a:lnTo>
                  <a:pt x="145541" y="47244"/>
                </a:lnTo>
                <a:lnTo>
                  <a:pt x="110489" y="82296"/>
                </a:lnTo>
                <a:lnTo>
                  <a:pt x="77724" y="117348"/>
                </a:lnTo>
                <a:lnTo>
                  <a:pt x="49444" y="153066"/>
                </a:lnTo>
                <a:lnTo>
                  <a:pt x="16859" y="209638"/>
                </a:lnTo>
                <a:lnTo>
                  <a:pt x="481" y="270774"/>
                </a:lnTo>
                <a:lnTo>
                  <a:pt x="0" y="302514"/>
                </a:lnTo>
                <a:lnTo>
                  <a:pt x="7214" y="344435"/>
                </a:lnTo>
                <a:lnTo>
                  <a:pt x="9143" y="350051"/>
                </a:lnTo>
                <a:lnTo>
                  <a:pt x="9143" y="301752"/>
                </a:lnTo>
                <a:lnTo>
                  <a:pt x="10822" y="264344"/>
                </a:lnTo>
                <a:lnTo>
                  <a:pt x="31925" y="200017"/>
                </a:lnTo>
                <a:lnTo>
                  <a:pt x="66236" y="146265"/>
                </a:lnTo>
                <a:lnTo>
                  <a:pt x="98396" y="107973"/>
                </a:lnTo>
                <a:lnTo>
                  <a:pt x="134112" y="71628"/>
                </a:lnTo>
                <a:lnTo>
                  <a:pt x="152400" y="54102"/>
                </a:lnTo>
                <a:lnTo>
                  <a:pt x="168344" y="39486"/>
                </a:lnTo>
                <a:close/>
              </a:path>
              <a:path w="219075" h="665479">
                <a:moveTo>
                  <a:pt x="218693" y="661416"/>
                </a:moveTo>
                <a:lnTo>
                  <a:pt x="217931" y="657606"/>
                </a:lnTo>
                <a:lnTo>
                  <a:pt x="198119" y="633222"/>
                </a:lnTo>
                <a:lnTo>
                  <a:pt x="160019" y="584454"/>
                </a:lnTo>
                <a:lnTo>
                  <a:pt x="135155" y="553062"/>
                </a:lnTo>
                <a:lnTo>
                  <a:pt x="111294" y="520879"/>
                </a:lnTo>
                <a:lnTo>
                  <a:pt x="88555" y="487908"/>
                </a:lnTo>
                <a:lnTo>
                  <a:pt x="67055" y="454152"/>
                </a:lnTo>
                <a:lnTo>
                  <a:pt x="46750" y="417832"/>
                </a:lnTo>
                <a:lnTo>
                  <a:pt x="29532" y="381061"/>
                </a:lnTo>
                <a:lnTo>
                  <a:pt x="16597" y="342736"/>
                </a:lnTo>
                <a:lnTo>
                  <a:pt x="9143" y="301752"/>
                </a:lnTo>
                <a:lnTo>
                  <a:pt x="9143" y="350051"/>
                </a:lnTo>
                <a:lnTo>
                  <a:pt x="21986" y="387434"/>
                </a:lnTo>
                <a:lnTo>
                  <a:pt x="42807" y="430857"/>
                </a:lnTo>
                <a:lnTo>
                  <a:pt x="68169" y="474050"/>
                </a:lnTo>
                <a:lnTo>
                  <a:pt x="96563" y="516361"/>
                </a:lnTo>
                <a:lnTo>
                  <a:pt x="126483" y="557134"/>
                </a:lnTo>
                <a:lnTo>
                  <a:pt x="156420" y="595718"/>
                </a:lnTo>
                <a:lnTo>
                  <a:pt x="210312" y="663702"/>
                </a:lnTo>
                <a:lnTo>
                  <a:pt x="213360" y="665226"/>
                </a:lnTo>
                <a:lnTo>
                  <a:pt x="217169" y="664464"/>
                </a:lnTo>
                <a:lnTo>
                  <a:pt x="218693" y="661416"/>
                </a:lnTo>
                <a:close/>
              </a:path>
              <a:path w="219075" h="665479">
                <a:moveTo>
                  <a:pt x="204977" y="0"/>
                </a:moveTo>
                <a:lnTo>
                  <a:pt x="123443" y="22860"/>
                </a:lnTo>
                <a:lnTo>
                  <a:pt x="161938" y="32815"/>
                </a:lnTo>
                <a:lnTo>
                  <a:pt x="164591" y="30480"/>
                </a:lnTo>
                <a:lnTo>
                  <a:pt x="167639" y="28956"/>
                </a:lnTo>
                <a:lnTo>
                  <a:pt x="170687" y="30480"/>
                </a:lnTo>
                <a:lnTo>
                  <a:pt x="172212" y="34290"/>
                </a:lnTo>
                <a:lnTo>
                  <a:pt x="172212" y="68008"/>
                </a:lnTo>
                <a:lnTo>
                  <a:pt x="173736" y="79248"/>
                </a:lnTo>
                <a:lnTo>
                  <a:pt x="204977" y="0"/>
                </a:lnTo>
                <a:close/>
              </a:path>
              <a:path w="219075" h="665479">
                <a:moveTo>
                  <a:pt x="172212" y="34290"/>
                </a:moveTo>
                <a:lnTo>
                  <a:pt x="170687" y="30480"/>
                </a:lnTo>
                <a:lnTo>
                  <a:pt x="167639" y="28956"/>
                </a:lnTo>
                <a:lnTo>
                  <a:pt x="164591" y="30480"/>
                </a:lnTo>
                <a:lnTo>
                  <a:pt x="161938" y="32815"/>
                </a:lnTo>
                <a:lnTo>
                  <a:pt x="167639" y="34290"/>
                </a:lnTo>
                <a:lnTo>
                  <a:pt x="168344" y="39486"/>
                </a:lnTo>
                <a:lnTo>
                  <a:pt x="170687" y="37337"/>
                </a:lnTo>
                <a:lnTo>
                  <a:pt x="172212" y="34290"/>
                </a:lnTo>
                <a:close/>
              </a:path>
              <a:path w="219075" h="665479">
                <a:moveTo>
                  <a:pt x="172212" y="68008"/>
                </a:moveTo>
                <a:lnTo>
                  <a:pt x="172212" y="34290"/>
                </a:lnTo>
                <a:lnTo>
                  <a:pt x="170687" y="37337"/>
                </a:lnTo>
                <a:lnTo>
                  <a:pt x="168344" y="39486"/>
                </a:lnTo>
                <a:lnTo>
                  <a:pt x="172212" y="680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8870822" y="4490720"/>
            <a:ext cx="236854" cy="665480"/>
          </a:xfrm>
          <a:custGeom>
            <a:avLst/>
            <a:gdLst/>
            <a:ahLst/>
            <a:cxnLst/>
            <a:rect l="l" t="t" r="r" b="b"/>
            <a:pathLst>
              <a:path w="236854" h="665479">
                <a:moveTo>
                  <a:pt x="79248" y="32003"/>
                </a:moveTo>
                <a:lnTo>
                  <a:pt x="0" y="0"/>
                </a:lnTo>
                <a:lnTo>
                  <a:pt x="22098" y="82295"/>
                </a:lnTo>
                <a:lnTo>
                  <a:pt x="28968" y="57415"/>
                </a:lnTo>
                <a:lnTo>
                  <a:pt x="28968" y="38100"/>
                </a:lnTo>
                <a:lnTo>
                  <a:pt x="30492" y="34289"/>
                </a:lnTo>
                <a:lnTo>
                  <a:pt x="34302" y="33527"/>
                </a:lnTo>
                <a:lnTo>
                  <a:pt x="37350" y="35051"/>
                </a:lnTo>
                <a:lnTo>
                  <a:pt x="39400" y="37408"/>
                </a:lnTo>
                <a:lnTo>
                  <a:pt x="79248" y="32003"/>
                </a:lnTo>
                <a:close/>
              </a:path>
              <a:path w="236854" h="665479">
                <a:moveTo>
                  <a:pt x="227075" y="427697"/>
                </a:moveTo>
                <a:lnTo>
                  <a:pt x="227075" y="369569"/>
                </a:lnTo>
                <a:lnTo>
                  <a:pt x="223702" y="405332"/>
                </a:lnTo>
                <a:lnTo>
                  <a:pt x="212450" y="439821"/>
                </a:lnTo>
                <a:lnTo>
                  <a:pt x="174498" y="501395"/>
                </a:lnTo>
                <a:lnTo>
                  <a:pt x="143122" y="538110"/>
                </a:lnTo>
                <a:lnTo>
                  <a:pt x="89153" y="589026"/>
                </a:lnTo>
                <a:lnTo>
                  <a:pt x="48780" y="623315"/>
                </a:lnTo>
                <a:lnTo>
                  <a:pt x="6870" y="656843"/>
                </a:lnTo>
                <a:lnTo>
                  <a:pt x="5346" y="659891"/>
                </a:lnTo>
                <a:lnTo>
                  <a:pt x="6108" y="663701"/>
                </a:lnTo>
                <a:lnTo>
                  <a:pt x="9156" y="665226"/>
                </a:lnTo>
                <a:lnTo>
                  <a:pt x="12953" y="664463"/>
                </a:lnTo>
                <a:lnTo>
                  <a:pt x="75450" y="613409"/>
                </a:lnTo>
                <a:lnTo>
                  <a:pt x="116436" y="577275"/>
                </a:lnTo>
                <a:lnTo>
                  <a:pt x="156400" y="537558"/>
                </a:lnTo>
                <a:lnTo>
                  <a:pt x="196445" y="488125"/>
                </a:lnTo>
                <a:lnTo>
                  <a:pt x="214572" y="457490"/>
                </a:lnTo>
                <a:lnTo>
                  <a:pt x="227075" y="427697"/>
                </a:lnTo>
                <a:close/>
              </a:path>
              <a:path w="236854" h="665479">
                <a:moveTo>
                  <a:pt x="39400" y="37408"/>
                </a:moveTo>
                <a:lnTo>
                  <a:pt x="37350" y="35051"/>
                </a:lnTo>
                <a:lnTo>
                  <a:pt x="34302" y="33527"/>
                </a:lnTo>
                <a:lnTo>
                  <a:pt x="30492" y="34289"/>
                </a:lnTo>
                <a:lnTo>
                  <a:pt x="28968" y="38100"/>
                </a:lnTo>
                <a:lnTo>
                  <a:pt x="30492" y="41147"/>
                </a:lnTo>
                <a:lnTo>
                  <a:pt x="32736" y="43769"/>
                </a:lnTo>
                <a:lnTo>
                  <a:pt x="34302" y="38100"/>
                </a:lnTo>
                <a:lnTo>
                  <a:pt x="39400" y="37408"/>
                </a:lnTo>
                <a:close/>
              </a:path>
              <a:path w="236854" h="665479">
                <a:moveTo>
                  <a:pt x="32736" y="43769"/>
                </a:moveTo>
                <a:lnTo>
                  <a:pt x="30492" y="41147"/>
                </a:lnTo>
                <a:lnTo>
                  <a:pt x="28968" y="38100"/>
                </a:lnTo>
                <a:lnTo>
                  <a:pt x="28968" y="57415"/>
                </a:lnTo>
                <a:lnTo>
                  <a:pt x="32736" y="43769"/>
                </a:lnTo>
                <a:close/>
              </a:path>
              <a:path w="236854" h="665479">
                <a:moveTo>
                  <a:pt x="236232" y="390143"/>
                </a:moveTo>
                <a:lnTo>
                  <a:pt x="235599" y="348397"/>
                </a:lnTo>
                <a:lnTo>
                  <a:pt x="225243" y="305446"/>
                </a:lnTo>
                <a:lnTo>
                  <a:pt x="207031" y="262051"/>
                </a:lnTo>
                <a:lnTo>
                  <a:pt x="182829" y="218976"/>
                </a:lnTo>
                <a:lnTo>
                  <a:pt x="154507" y="176981"/>
                </a:lnTo>
                <a:lnTo>
                  <a:pt x="123930" y="136829"/>
                </a:lnTo>
                <a:lnTo>
                  <a:pt x="92967" y="99282"/>
                </a:lnTo>
                <a:lnTo>
                  <a:pt x="39400" y="37408"/>
                </a:lnTo>
                <a:lnTo>
                  <a:pt x="34302" y="38100"/>
                </a:lnTo>
                <a:lnTo>
                  <a:pt x="32736" y="43769"/>
                </a:lnTo>
                <a:lnTo>
                  <a:pt x="39624" y="51815"/>
                </a:lnTo>
                <a:lnTo>
                  <a:pt x="60972" y="76200"/>
                </a:lnTo>
                <a:lnTo>
                  <a:pt x="101358" y="124205"/>
                </a:lnTo>
                <a:lnTo>
                  <a:pt x="135724" y="167836"/>
                </a:lnTo>
                <a:lnTo>
                  <a:pt x="164398" y="208381"/>
                </a:lnTo>
                <a:lnTo>
                  <a:pt x="196179" y="262136"/>
                </a:lnTo>
                <a:lnTo>
                  <a:pt x="223019" y="332473"/>
                </a:lnTo>
                <a:lnTo>
                  <a:pt x="227075" y="369569"/>
                </a:lnTo>
                <a:lnTo>
                  <a:pt x="227075" y="427697"/>
                </a:lnTo>
                <a:lnTo>
                  <a:pt x="228290" y="424804"/>
                </a:lnTo>
                <a:lnTo>
                  <a:pt x="236232" y="3901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 txBox="1"/>
          <p:nvPr/>
        </p:nvSpPr>
        <p:spPr>
          <a:xfrm>
            <a:off x="6235331" y="1164844"/>
            <a:ext cx="1118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Datagram  (e.g.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UDP)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7522095" y="2452370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7521333" y="2452370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40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 txBox="1"/>
          <p:nvPr/>
        </p:nvSpPr>
        <p:spPr>
          <a:xfrm>
            <a:off x="7950581" y="2443480"/>
            <a:ext cx="4787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bind()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8142351" y="2109470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2"/>
                </a:moveTo>
                <a:lnTo>
                  <a:pt x="0" y="263652"/>
                </a:lnTo>
                <a:lnTo>
                  <a:pt x="33540" y="330733"/>
                </a:lnTo>
                <a:lnTo>
                  <a:pt x="33540" y="276606"/>
                </a:lnTo>
                <a:lnTo>
                  <a:pt x="35064" y="279654"/>
                </a:lnTo>
                <a:lnTo>
                  <a:pt x="38100" y="281178"/>
                </a:lnTo>
                <a:lnTo>
                  <a:pt x="41922" y="279654"/>
                </a:lnTo>
                <a:lnTo>
                  <a:pt x="42672" y="276606"/>
                </a:lnTo>
                <a:lnTo>
                  <a:pt x="42672" y="330708"/>
                </a:lnTo>
                <a:lnTo>
                  <a:pt x="76200" y="263652"/>
                </a:lnTo>
                <a:close/>
              </a:path>
              <a:path w="76200" h="340360">
                <a:moveTo>
                  <a:pt x="42672" y="263652"/>
                </a:moveTo>
                <a:lnTo>
                  <a:pt x="42672" y="4572"/>
                </a:lnTo>
                <a:lnTo>
                  <a:pt x="41922" y="1524"/>
                </a:lnTo>
                <a:lnTo>
                  <a:pt x="38100" y="0"/>
                </a:lnTo>
                <a:lnTo>
                  <a:pt x="35064" y="1524"/>
                </a:lnTo>
                <a:lnTo>
                  <a:pt x="33540" y="4572"/>
                </a:lnTo>
                <a:lnTo>
                  <a:pt x="33540" y="263652"/>
                </a:lnTo>
                <a:lnTo>
                  <a:pt x="42672" y="263652"/>
                </a:lnTo>
                <a:close/>
              </a:path>
              <a:path w="76200" h="340360">
                <a:moveTo>
                  <a:pt x="42672" y="330708"/>
                </a:moveTo>
                <a:lnTo>
                  <a:pt x="42672" y="276606"/>
                </a:lnTo>
                <a:lnTo>
                  <a:pt x="41922" y="279654"/>
                </a:lnTo>
                <a:lnTo>
                  <a:pt x="38100" y="281178"/>
                </a:lnTo>
                <a:lnTo>
                  <a:pt x="35064" y="279654"/>
                </a:lnTo>
                <a:lnTo>
                  <a:pt x="33540" y="276606"/>
                </a:lnTo>
                <a:lnTo>
                  <a:pt x="33540" y="330733"/>
                </a:lnTo>
                <a:lnTo>
                  <a:pt x="38100" y="339852"/>
                </a:lnTo>
                <a:lnTo>
                  <a:pt x="42672" y="3307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0859" y="2093467"/>
            <a:ext cx="6875780" cy="337185"/>
          </a:xfrm>
          <a:custGeom>
            <a:avLst/>
            <a:gdLst/>
            <a:ahLst/>
            <a:cxnLst/>
            <a:rect l="l" t="t" r="r" b="b"/>
            <a:pathLst>
              <a:path w="6875780" h="337185">
                <a:moveTo>
                  <a:pt x="6875513" y="280415"/>
                </a:moveTo>
                <a:lnTo>
                  <a:pt x="6875513" y="56387"/>
                </a:lnTo>
                <a:lnTo>
                  <a:pt x="6871107" y="34397"/>
                </a:lnTo>
                <a:lnTo>
                  <a:pt x="6859130" y="16478"/>
                </a:lnTo>
                <a:lnTo>
                  <a:pt x="6841437" y="4417"/>
                </a:lnTo>
                <a:lnTo>
                  <a:pt x="6819887" y="0"/>
                </a:lnTo>
                <a:lnTo>
                  <a:pt x="56387" y="0"/>
                </a:lnTo>
                <a:lnTo>
                  <a:pt x="34397" y="4417"/>
                </a:lnTo>
                <a:lnTo>
                  <a:pt x="16478" y="16478"/>
                </a:lnTo>
                <a:lnTo>
                  <a:pt x="4417" y="34397"/>
                </a:lnTo>
                <a:lnTo>
                  <a:pt x="0" y="56388"/>
                </a:lnTo>
                <a:lnTo>
                  <a:pt x="0" y="280416"/>
                </a:lnTo>
                <a:lnTo>
                  <a:pt x="4417" y="302406"/>
                </a:lnTo>
                <a:lnTo>
                  <a:pt x="16478" y="320325"/>
                </a:lnTo>
                <a:lnTo>
                  <a:pt x="34397" y="332386"/>
                </a:lnTo>
                <a:lnTo>
                  <a:pt x="56387" y="336804"/>
                </a:lnTo>
                <a:lnTo>
                  <a:pt x="6819887" y="336804"/>
                </a:lnTo>
                <a:lnTo>
                  <a:pt x="6841437" y="332386"/>
                </a:lnTo>
                <a:lnTo>
                  <a:pt x="6859130" y="320325"/>
                </a:lnTo>
                <a:lnTo>
                  <a:pt x="6871107" y="302406"/>
                </a:lnTo>
                <a:lnTo>
                  <a:pt x="6875513" y="280415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61338" y="261873"/>
            <a:ext cx="699643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40" dirty="0"/>
              <a:t>Assign </a:t>
            </a:r>
            <a:r>
              <a:rPr sz="4200" spc="-320" dirty="0"/>
              <a:t>address </a:t>
            </a:r>
            <a:r>
              <a:rPr sz="4200" spc="-175" dirty="0"/>
              <a:t>to </a:t>
            </a:r>
            <a:r>
              <a:rPr sz="4200" spc="-250" dirty="0"/>
              <a:t>socket:</a:t>
            </a:r>
            <a:r>
              <a:rPr sz="4200" spc="-615" dirty="0"/>
              <a:t> </a:t>
            </a:r>
            <a:r>
              <a:rPr sz="3600" spc="-5" dirty="0">
                <a:latin typeface="Courier New"/>
                <a:cs typeface="Courier New"/>
              </a:rPr>
              <a:t>bind()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300" y="1011257"/>
            <a:ext cx="8529320" cy="56117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600" spc="-35" dirty="0">
                <a:latin typeface="Arial"/>
                <a:cs typeface="Arial"/>
              </a:rPr>
              <a:t>Instructs </a:t>
            </a:r>
            <a:r>
              <a:rPr sz="2600" spc="-120" dirty="0">
                <a:latin typeface="Arial"/>
                <a:cs typeface="Arial"/>
              </a:rPr>
              <a:t>TCP </a:t>
            </a:r>
            <a:r>
              <a:rPr sz="2600" spc="-25" dirty="0">
                <a:latin typeface="Arial"/>
                <a:cs typeface="Arial"/>
              </a:rPr>
              <a:t>protocol </a:t>
            </a:r>
            <a:r>
              <a:rPr sz="2600" spc="-20" dirty="0">
                <a:latin typeface="Arial"/>
                <a:cs typeface="Arial"/>
              </a:rPr>
              <a:t>implementation </a:t>
            </a:r>
            <a:r>
              <a:rPr sz="2600" dirty="0">
                <a:latin typeface="Arial"/>
                <a:cs typeface="Arial"/>
              </a:rPr>
              <a:t>to </a:t>
            </a:r>
            <a:r>
              <a:rPr sz="2600" spc="-25" dirty="0">
                <a:latin typeface="Arial"/>
                <a:cs typeface="Arial"/>
              </a:rPr>
              <a:t>listen </a:t>
            </a:r>
            <a:r>
              <a:rPr sz="2600" spc="25" dirty="0">
                <a:latin typeface="Arial"/>
                <a:cs typeface="Arial"/>
              </a:rPr>
              <a:t>for</a:t>
            </a:r>
            <a:r>
              <a:rPr sz="2600" spc="-225" dirty="0">
                <a:latin typeface="Arial"/>
                <a:cs typeface="Arial"/>
              </a:rPr>
              <a:t> </a:t>
            </a:r>
            <a:r>
              <a:rPr sz="2600" spc="-65" dirty="0">
                <a:latin typeface="Arial"/>
                <a:cs typeface="Arial"/>
              </a:rPr>
              <a:t>connections</a:t>
            </a:r>
            <a:endParaRPr sz="2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9A6500"/>
              </a:buClr>
              <a:buFont typeface="Wingdings"/>
              <a:buChar char=""/>
            </a:pPr>
            <a:endParaRPr sz="26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6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int status = listen(</a:t>
            </a:r>
            <a:r>
              <a:rPr sz="2600" b="1" u="sng" dirty="0">
                <a:solidFill>
                  <a:srgbClr val="9A65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sockid</a:t>
            </a:r>
            <a:r>
              <a:rPr sz="26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</a:t>
            </a:r>
            <a:r>
              <a:rPr sz="2600" b="1" u="sng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600" b="1" u="sng" dirty="0">
                <a:solidFill>
                  <a:srgbClr val="A50021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queueLimit</a:t>
            </a:r>
            <a:r>
              <a:rPr sz="26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);</a:t>
            </a:r>
            <a:endParaRPr sz="2600" dirty="0">
              <a:latin typeface="Courier New"/>
              <a:cs typeface="Courier New"/>
            </a:endParaRPr>
          </a:p>
          <a:p>
            <a:pPr marL="681990" lvl="1" indent="-325120">
              <a:lnSpc>
                <a:spcPct val="100000"/>
              </a:lnSpc>
              <a:spcBef>
                <a:spcPts val="575"/>
              </a:spcBef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600" b="1" spc="-160" dirty="0">
                <a:solidFill>
                  <a:srgbClr val="9A6500"/>
                </a:solidFill>
                <a:latin typeface="Arial"/>
                <a:cs typeface="Arial"/>
              </a:rPr>
              <a:t>sockid</a:t>
            </a:r>
            <a:r>
              <a:rPr sz="2600" spc="-160" dirty="0">
                <a:latin typeface="Arial"/>
                <a:cs typeface="Arial"/>
              </a:rPr>
              <a:t>: </a:t>
            </a:r>
            <a:r>
              <a:rPr sz="2600" spc="-40" dirty="0">
                <a:latin typeface="Arial"/>
                <a:cs typeface="Arial"/>
              </a:rPr>
              <a:t>integer, </a:t>
            </a:r>
            <a:r>
              <a:rPr sz="2600" spc="-95" dirty="0">
                <a:latin typeface="Arial"/>
                <a:cs typeface="Arial"/>
              </a:rPr>
              <a:t>socket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-45" dirty="0">
                <a:latin typeface="Arial"/>
                <a:cs typeface="Arial"/>
              </a:rPr>
              <a:t>descriptor</a:t>
            </a:r>
            <a:endParaRPr sz="26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600" b="1" spc="-130" dirty="0">
                <a:solidFill>
                  <a:srgbClr val="A50021"/>
                </a:solidFill>
                <a:latin typeface="Arial"/>
                <a:cs typeface="Arial"/>
              </a:rPr>
              <a:t>queuelen</a:t>
            </a:r>
            <a:r>
              <a:rPr sz="2600" spc="-130" dirty="0">
                <a:latin typeface="Arial"/>
                <a:cs typeface="Arial"/>
              </a:rPr>
              <a:t>: </a:t>
            </a:r>
            <a:r>
              <a:rPr sz="2600" spc="-35" dirty="0">
                <a:latin typeface="Arial"/>
                <a:cs typeface="Arial"/>
              </a:rPr>
              <a:t>integer, </a:t>
            </a:r>
            <a:r>
              <a:rPr sz="2600" spc="-114" dirty="0">
                <a:latin typeface="Arial"/>
                <a:cs typeface="Arial"/>
              </a:rPr>
              <a:t># </a:t>
            </a:r>
            <a:r>
              <a:rPr sz="2600" spc="-10" dirty="0">
                <a:latin typeface="Arial"/>
                <a:cs typeface="Arial"/>
              </a:rPr>
              <a:t>of </a:t>
            </a:r>
            <a:r>
              <a:rPr sz="2600" spc="-50" dirty="0">
                <a:latin typeface="Arial"/>
                <a:cs typeface="Arial"/>
              </a:rPr>
              <a:t>active </a:t>
            </a:r>
            <a:r>
              <a:rPr sz="2600" spc="-35" dirty="0">
                <a:latin typeface="Arial"/>
                <a:cs typeface="Arial"/>
              </a:rPr>
              <a:t>participants </a:t>
            </a:r>
            <a:r>
              <a:rPr sz="2600" dirty="0">
                <a:latin typeface="Arial"/>
                <a:cs typeface="Arial"/>
              </a:rPr>
              <a:t>that </a:t>
            </a:r>
            <a:r>
              <a:rPr sz="2600" spc="-110" dirty="0">
                <a:latin typeface="Arial"/>
                <a:cs typeface="Arial"/>
              </a:rPr>
              <a:t>can </a:t>
            </a:r>
            <a:r>
              <a:rPr sz="2600" spc="45" dirty="0">
                <a:latin typeface="Arial"/>
                <a:cs typeface="Arial"/>
              </a:rPr>
              <a:t>“wait” </a:t>
            </a:r>
            <a:r>
              <a:rPr sz="2600" spc="25" dirty="0">
                <a:latin typeface="Arial"/>
                <a:cs typeface="Arial"/>
              </a:rPr>
              <a:t>for </a:t>
            </a:r>
            <a:r>
              <a:rPr sz="2600" spc="-229" dirty="0">
                <a:latin typeface="Arial"/>
                <a:cs typeface="Arial"/>
              </a:rPr>
              <a:t>a</a:t>
            </a:r>
            <a:r>
              <a:rPr sz="2600" spc="-180" dirty="0">
                <a:latin typeface="Arial"/>
                <a:cs typeface="Arial"/>
              </a:rPr>
              <a:t> </a:t>
            </a:r>
            <a:r>
              <a:rPr sz="2600" spc="-35" dirty="0">
                <a:latin typeface="Arial"/>
                <a:cs typeface="Arial"/>
              </a:rPr>
              <a:t>connection</a:t>
            </a:r>
            <a:endParaRPr sz="26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600" b="1" spc="-175" dirty="0">
                <a:latin typeface="Arial"/>
                <a:cs typeface="Arial"/>
              </a:rPr>
              <a:t>status</a:t>
            </a:r>
            <a:r>
              <a:rPr sz="2600" spc="-175" dirty="0">
                <a:latin typeface="Arial"/>
                <a:cs typeface="Arial"/>
              </a:rPr>
              <a:t>: </a:t>
            </a:r>
            <a:r>
              <a:rPr sz="2600" spc="-114" dirty="0">
                <a:latin typeface="Arial"/>
                <a:cs typeface="Arial"/>
              </a:rPr>
              <a:t>0 </a:t>
            </a:r>
            <a:r>
              <a:rPr sz="2600" spc="100" dirty="0">
                <a:latin typeface="Arial"/>
                <a:cs typeface="Arial"/>
              </a:rPr>
              <a:t>if </a:t>
            </a:r>
            <a:r>
              <a:rPr sz="2600" spc="-20" dirty="0">
                <a:latin typeface="Arial"/>
                <a:cs typeface="Arial"/>
              </a:rPr>
              <a:t>listening, </a:t>
            </a:r>
            <a:r>
              <a:rPr sz="2600" spc="-15" dirty="0">
                <a:latin typeface="Arial"/>
                <a:cs typeface="Arial"/>
              </a:rPr>
              <a:t>-1 </a:t>
            </a:r>
            <a:r>
              <a:rPr sz="2600" spc="100" dirty="0">
                <a:latin typeface="Arial"/>
                <a:cs typeface="Arial"/>
              </a:rPr>
              <a:t>if</a:t>
            </a:r>
            <a:r>
              <a:rPr sz="2600" spc="-1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error</a:t>
            </a:r>
          </a:p>
          <a:p>
            <a:pPr marL="355600" indent="-342900">
              <a:lnSpc>
                <a:spcPct val="100000"/>
              </a:lnSpc>
              <a:spcBef>
                <a:spcPts val="50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600" dirty="0">
                <a:latin typeface="Courier New"/>
                <a:cs typeface="Courier New"/>
              </a:rPr>
              <a:t>listen()</a:t>
            </a:r>
            <a:r>
              <a:rPr sz="2600" spc="-735" dirty="0">
                <a:latin typeface="Courier New"/>
                <a:cs typeface="Courier New"/>
              </a:rPr>
              <a:t> </a:t>
            </a:r>
            <a:r>
              <a:rPr sz="2600" spc="-90" dirty="0">
                <a:latin typeface="Arial"/>
                <a:cs typeface="Arial"/>
              </a:rPr>
              <a:t>is </a:t>
            </a:r>
            <a:r>
              <a:rPr sz="2600" b="1" spc="-120" dirty="0">
                <a:latin typeface="Arial"/>
                <a:cs typeface="Arial"/>
              </a:rPr>
              <a:t>non-blocking</a:t>
            </a:r>
            <a:r>
              <a:rPr sz="2600" spc="-120" dirty="0">
                <a:latin typeface="Arial"/>
                <a:cs typeface="Arial"/>
              </a:rPr>
              <a:t>: </a:t>
            </a:r>
            <a:r>
              <a:rPr sz="2600" spc="-35" dirty="0">
                <a:latin typeface="Arial"/>
                <a:cs typeface="Arial"/>
              </a:rPr>
              <a:t>returns </a:t>
            </a:r>
            <a:r>
              <a:rPr sz="2600" spc="-25" dirty="0">
                <a:latin typeface="Arial"/>
                <a:cs typeface="Arial"/>
              </a:rPr>
              <a:t>immediately</a:t>
            </a:r>
            <a:endParaRPr sz="2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9A6500"/>
              </a:buClr>
              <a:buFont typeface="Wingdings"/>
              <a:buChar char=""/>
            </a:pPr>
            <a:endParaRPr sz="26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600" spc="-70" dirty="0">
                <a:latin typeface="Arial"/>
                <a:cs typeface="Arial"/>
              </a:rPr>
              <a:t>The </a:t>
            </a:r>
            <a:r>
              <a:rPr sz="2600" spc="-20" dirty="0">
                <a:latin typeface="Arial"/>
                <a:cs typeface="Arial"/>
              </a:rPr>
              <a:t>listening </a:t>
            </a:r>
            <a:r>
              <a:rPr sz="2600" spc="-100" dirty="0">
                <a:latin typeface="Arial"/>
                <a:cs typeface="Arial"/>
              </a:rPr>
              <a:t>socket</a:t>
            </a:r>
            <a:r>
              <a:rPr sz="2600" spc="-105" dirty="0">
                <a:latin typeface="Arial"/>
                <a:cs typeface="Arial"/>
              </a:rPr>
              <a:t> </a:t>
            </a:r>
            <a:r>
              <a:rPr sz="2600" spc="-60" dirty="0">
                <a:latin typeface="Arial"/>
                <a:cs typeface="Arial"/>
              </a:rPr>
              <a:t>(sockid)</a:t>
            </a:r>
            <a:endParaRPr sz="26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50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600" spc="-85" dirty="0">
                <a:latin typeface="Arial"/>
                <a:cs typeface="Arial"/>
              </a:rPr>
              <a:t>is </a:t>
            </a:r>
            <a:r>
              <a:rPr sz="2600" spc="-60" dirty="0">
                <a:latin typeface="Arial"/>
                <a:cs typeface="Arial"/>
              </a:rPr>
              <a:t>never </a:t>
            </a:r>
            <a:r>
              <a:rPr sz="2600" spc="-150" dirty="0">
                <a:latin typeface="Arial"/>
                <a:cs typeface="Arial"/>
              </a:rPr>
              <a:t>used </a:t>
            </a:r>
            <a:r>
              <a:rPr sz="2600" spc="25" dirty="0">
                <a:latin typeface="Arial"/>
                <a:cs typeface="Arial"/>
              </a:rPr>
              <a:t>for </a:t>
            </a:r>
            <a:r>
              <a:rPr sz="2600" spc="-80" dirty="0">
                <a:latin typeface="Arial"/>
                <a:cs typeface="Arial"/>
              </a:rPr>
              <a:t>sending </a:t>
            </a:r>
            <a:r>
              <a:rPr sz="2600" spc="-90" dirty="0">
                <a:latin typeface="Arial"/>
                <a:cs typeface="Arial"/>
              </a:rPr>
              <a:t>and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-35" dirty="0">
                <a:latin typeface="Arial"/>
                <a:cs typeface="Arial"/>
              </a:rPr>
              <a:t>receiving</a:t>
            </a:r>
            <a:endParaRPr sz="26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600" spc="-85" dirty="0">
                <a:latin typeface="Arial"/>
                <a:cs typeface="Arial"/>
              </a:rPr>
              <a:t>is </a:t>
            </a:r>
            <a:r>
              <a:rPr sz="2600" spc="-150" dirty="0">
                <a:latin typeface="Arial"/>
                <a:cs typeface="Arial"/>
              </a:rPr>
              <a:t>used </a:t>
            </a:r>
            <a:r>
              <a:rPr sz="2600" spc="-15" dirty="0">
                <a:latin typeface="Arial"/>
                <a:cs typeface="Arial"/>
              </a:rPr>
              <a:t>by </a:t>
            </a:r>
            <a:r>
              <a:rPr sz="2600" spc="-25" dirty="0">
                <a:latin typeface="Arial"/>
                <a:cs typeface="Arial"/>
              </a:rPr>
              <a:t>the </a:t>
            </a:r>
            <a:r>
              <a:rPr sz="2600" spc="-80" dirty="0">
                <a:latin typeface="Arial"/>
                <a:cs typeface="Arial"/>
              </a:rPr>
              <a:t>server </a:t>
            </a:r>
            <a:r>
              <a:rPr sz="2600" spc="20" dirty="0">
                <a:latin typeface="Arial"/>
                <a:cs typeface="Arial"/>
              </a:rPr>
              <a:t>only </a:t>
            </a:r>
            <a:r>
              <a:rPr sz="2600" spc="-260" dirty="0">
                <a:latin typeface="Arial"/>
                <a:cs typeface="Arial"/>
              </a:rPr>
              <a:t>as </a:t>
            </a:r>
            <a:r>
              <a:rPr sz="2600" spc="-229" dirty="0">
                <a:latin typeface="Arial"/>
                <a:cs typeface="Arial"/>
              </a:rPr>
              <a:t>a </a:t>
            </a:r>
            <a:r>
              <a:rPr sz="2600" spc="-40" dirty="0">
                <a:latin typeface="Arial"/>
                <a:cs typeface="Arial"/>
              </a:rPr>
              <a:t>way </a:t>
            </a:r>
            <a:r>
              <a:rPr sz="2600" dirty="0">
                <a:latin typeface="Arial"/>
                <a:cs typeface="Arial"/>
              </a:rPr>
              <a:t>to </a:t>
            </a:r>
            <a:r>
              <a:rPr sz="2600" spc="-90" dirty="0">
                <a:latin typeface="Arial"/>
                <a:cs typeface="Arial"/>
              </a:rPr>
              <a:t>get </a:t>
            </a:r>
            <a:r>
              <a:rPr sz="2600" spc="-30" dirty="0">
                <a:latin typeface="Arial"/>
                <a:cs typeface="Arial"/>
              </a:rPr>
              <a:t>new</a:t>
            </a:r>
            <a:r>
              <a:rPr sz="2600" spc="-380" dirty="0">
                <a:latin typeface="Arial"/>
                <a:cs typeface="Arial"/>
              </a:rPr>
              <a:t> </a:t>
            </a:r>
            <a:r>
              <a:rPr sz="2600" spc="-120" dirty="0">
                <a:latin typeface="Arial"/>
                <a:cs typeface="Arial"/>
              </a:rPr>
              <a:t>sockets</a:t>
            </a:r>
            <a:endParaRPr sz="2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6989" y="3590797"/>
            <a:ext cx="8766175" cy="388620"/>
          </a:xfrm>
          <a:custGeom>
            <a:avLst/>
            <a:gdLst/>
            <a:ahLst/>
            <a:cxnLst/>
            <a:rect l="l" t="t" r="r" b="b"/>
            <a:pathLst>
              <a:path w="8766175" h="388620">
                <a:moveTo>
                  <a:pt x="8766035" y="323850"/>
                </a:moveTo>
                <a:lnTo>
                  <a:pt x="8766035" y="64769"/>
                </a:lnTo>
                <a:lnTo>
                  <a:pt x="8760953" y="39540"/>
                </a:lnTo>
                <a:lnTo>
                  <a:pt x="8747086" y="18954"/>
                </a:lnTo>
                <a:lnTo>
                  <a:pt x="8726505" y="5083"/>
                </a:lnTo>
                <a:lnTo>
                  <a:pt x="8701278" y="0"/>
                </a:lnTo>
                <a:lnTo>
                  <a:pt x="64770" y="0"/>
                </a:lnTo>
                <a:lnTo>
                  <a:pt x="39540" y="5083"/>
                </a:lnTo>
                <a:lnTo>
                  <a:pt x="18954" y="18954"/>
                </a:lnTo>
                <a:lnTo>
                  <a:pt x="5083" y="39540"/>
                </a:lnTo>
                <a:lnTo>
                  <a:pt x="0" y="64770"/>
                </a:lnTo>
                <a:lnTo>
                  <a:pt x="0" y="323850"/>
                </a:lnTo>
                <a:lnTo>
                  <a:pt x="5083" y="349079"/>
                </a:lnTo>
                <a:lnTo>
                  <a:pt x="18954" y="369665"/>
                </a:lnTo>
                <a:lnTo>
                  <a:pt x="39540" y="383536"/>
                </a:lnTo>
                <a:lnTo>
                  <a:pt x="64770" y="388620"/>
                </a:lnTo>
                <a:lnTo>
                  <a:pt x="8701278" y="388619"/>
                </a:lnTo>
                <a:lnTo>
                  <a:pt x="8726505" y="383536"/>
                </a:lnTo>
                <a:lnTo>
                  <a:pt x="8747086" y="369665"/>
                </a:lnTo>
                <a:lnTo>
                  <a:pt x="8760953" y="349079"/>
                </a:lnTo>
                <a:lnTo>
                  <a:pt x="8766035" y="323850"/>
                </a:lnTo>
                <a:close/>
              </a:path>
            </a:pathLst>
          </a:custGeom>
          <a:solidFill>
            <a:srgbClr val="CCFFFF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6989" y="3590797"/>
            <a:ext cx="8766175" cy="388620"/>
          </a:xfrm>
          <a:custGeom>
            <a:avLst/>
            <a:gdLst/>
            <a:ahLst/>
            <a:cxnLst/>
            <a:rect l="l" t="t" r="r" b="b"/>
            <a:pathLst>
              <a:path w="8766175" h="388620">
                <a:moveTo>
                  <a:pt x="64770" y="0"/>
                </a:moveTo>
                <a:lnTo>
                  <a:pt x="39540" y="5083"/>
                </a:lnTo>
                <a:lnTo>
                  <a:pt x="18954" y="18954"/>
                </a:lnTo>
                <a:lnTo>
                  <a:pt x="5083" y="39540"/>
                </a:lnTo>
                <a:lnTo>
                  <a:pt x="0" y="64770"/>
                </a:lnTo>
                <a:lnTo>
                  <a:pt x="0" y="323850"/>
                </a:lnTo>
                <a:lnTo>
                  <a:pt x="5083" y="349079"/>
                </a:lnTo>
                <a:lnTo>
                  <a:pt x="18954" y="369665"/>
                </a:lnTo>
                <a:lnTo>
                  <a:pt x="39540" y="383536"/>
                </a:lnTo>
                <a:lnTo>
                  <a:pt x="64770" y="388620"/>
                </a:lnTo>
                <a:lnTo>
                  <a:pt x="8701278" y="388619"/>
                </a:lnTo>
                <a:lnTo>
                  <a:pt x="8726505" y="383536"/>
                </a:lnTo>
                <a:lnTo>
                  <a:pt x="8747086" y="369665"/>
                </a:lnTo>
                <a:lnTo>
                  <a:pt x="8760953" y="349079"/>
                </a:lnTo>
                <a:lnTo>
                  <a:pt x="8766035" y="323850"/>
                </a:lnTo>
                <a:lnTo>
                  <a:pt x="8766035" y="64769"/>
                </a:lnTo>
                <a:lnTo>
                  <a:pt x="8760953" y="39540"/>
                </a:lnTo>
                <a:lnTo>
                  <a:pt x="8747086" y="18954"/>
                </a:lnTo>
                <a:lnTo>
                  <a:pt x="8726505" y="5083"/>
                </a:lnTo>
                <a:lnTo>
                  <a:pt x="8701278" y="0"/>
                </a:lnTo>
                <a:lnTo>
                  <a:pt x="6477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51979" y="261873"/>
            <a:ext cx="761492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35" dirty="0"/>
              <a:t>Client</a:t>
            </a:r>
            <a:r>
              <a:rPr sz="4200" spc="20" dirty="0"/>
              <a:t> </a:t>
            </a:r>
            <a:r>
              <a:rPr sz="4200" spc="-260" dirty="0"/>
              <a:t>-</a:t>
            </a:r>
            <a:r>
              <a:rPr sz="4200" spc="45" dirty="0"/>
              <a:t> </a:t>
            </a:r>
            <a:r>
              <a:rPr sz="4200" spc="-280" dirty="0"/>
              <a:t>Server</a:t>
            </a:r>
            <a:r>
              <a:rPr sz="4200" spc="30" dirty="0"/>
              <a:t> </a:t>
            </a:r>
            <a:r>
              <a:rPr sz="4200" spc="-280" dirty="0"/>
              <a:t>Communication</a:t>
            </a:r>
            <a:r>
              <a:rPr sz="4200" spc="30" dirty="0"/>
              <a:t> </a:t>
            </a:r>
            <a:r>
              <a:rPr sz="3200" spc="-200" dirty="0"/>
              <a:t>-</a:t>
            </a:r>
            <a:r>
              <a:rPr sz="3200" spc="20" dirty="0"/>
              <a:t> </a:t>
            </a:r>
            <a:r>
              <a:rPr sz="3200" spc="-200" dirty="0"/>
              <a:t>Unix</a:t>
            </a:r>
            <a:endParaRPr sz="3200"/>
          </a:p>
        </p:txBody>
      </p:sp>
      <p:sp>
        <p:nvSpPr>
          <p:cNvPr id="6" name="object 6"/>
          <p:cNvSpPr/>
          <p:nvPr/>
        </p:nvSpPr>
        <p:spPr>
          <a:xfrm>
            <a:off x="321195" y="1860295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7"/>
                </a:lnTo>
                <a:lnTo>
                  <a:pt x="1335023" y="231647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0433" y="1860295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7"/>
                </a:lnTo>
                <a:lnTo>
                  <a:pt x="1335786" y="231647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60539" y="1851406"/>
            <a:ext cx="6559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7465" y="2096516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8" y="330707"/>
                </a:lnTo>
                <a:lnTo>
                  <a:pt x="33528" y="276605"/>
                </a:lnTo>
                <a:lnTo>
                  <a:pt x="34290" y="279653"/>
                </a:lnTo>
                <a:lnTo>
                  <a:pt x="38100" y="281177"/>
                </a:lnTo>
                <a:lnTo>
                  <a:pt x="41148" y="279653"/>
                </a:lnTo>
                <a:lnTo>
                  <a:pt x="42672" y="276605"/>
                </a:lnTo>
                <a:lnTo>
                  <a:pt x="42672" y="330707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72" y="263651"/>
                </a:moveTo>
                <a:lnTo>
                  <a:pt x="42672" y="5333"/>
                </a:lnTo>
                <a:lnTo>
                  <a:pt x="41148" y="1523"/>
                </a:lnTo>
                <a:lnTo>
                  <a:pt x="38100" y="0"/>
                </a:lnTo>
                <a:lnTo>
                  <a:pt x="34290" y="1523"/>
                </a:lnTo>
                <a:lnTo>
                  <a:pt x="33528" y="5333"/>
                </a:lnTo>
                <a:lnTo>
                  <a:pt x="33528" y="263651"/>
                </a:lnTo>
                <a:lnTo>
                  <a:pt x="42672" y="263651"/>
                </a:lnTo>
                <a:close/>
              </a:path>
              <a:path w="76200" h="340360">
                <a:moveTo>
                  <a:pt x="42672" y="330707"/>
                </a:moveTo>
                <a:lnTo>
                  <a:pt x="42672" y="276605"/>
                </a:lnTo>
                <a:lnTo>
                  <a:pt x="41148" y="279653"/>
                </a:lnTo>
                <a:lnTo>
                  <a:pt x="38100" y="281177"/>
                </a:lnTo>
                <a:lnTo>
                  <a:pt x="34290" y="279653"/>
                </a:lnTo>
                <a:lnTo>
                  <a:pt x="33528" y="276605"/>
                </a:lnTo>
                <a:lnTo>
                  <a:pt x="33528" y="330707"/>
                </a:lnTo>
                <a:lnTo>
                  <a:pt x="38100" y="339851"/>
                </a:lnTo>
                <a:lnTo>
                  <a:pt x="42672" y="3307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4243" y="2466848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4243" y="2466848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52729" y="2457957"/>
            <a:ext cx="4787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bind()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60513" y="2703067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6605"/>
                </a:lnTo>
                <a:lnTo>
                  <a:pt x="35051" y="279653"/>
                </a:lnTo>
                <a:lnTo>
                  <a:pt x="38100" y="281177"/>
                </a:lnTo>
                <a:lnTo>
                  <a:pt x="41910" y="279653"/>
                </a:lnTo>
                <a:lnTo>
                  <a:pt x="42672" y="276605"/>
                </a:lnTo>
                <a:lnTo>
                  <a:pt x="42672" y="330707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72" y="263651"/>
                </a:moveTo>
                <a:lnTo>
                  <a:pt x="42672" y="4571"/>
                </a:lnTo>
                <a:lnTo>
                  <a:pt x="41910" y="1523"/>
                </a:lnTo>
                <a:lnTo>
                  <a:pt x="38100" y="0"/>
                </a:lnTo>
                <a:lnTo>
                  <a:pt x="35051" y="1523"/>
                </a:lnTo>
                <a:lnTo>
                  <a:pt x="33527" y="4571"/>
                </a:lnTo>
                <a:lnTo>
                  <a:pt x="33527" y="263651"/>
                </a:lnTo>
                <a:lnTo>
                  <a:pt x="42672" y="263651"/>
                </a:lnTo>
                <a:close/>
              </a:path>
              <a:path w="76200" h="340360">
                <a:moveTo>
                  <a:pt x="42672" y="330707"/>
                </a:moveTo>
                <a:lnTo>
                  <a:pt x="42672" y="276605"/>
                </a:lnTo>
                <a:lnTo>
                  <a:pt x="41910" y="279653"/>
                </a:lnTo>
                <a:lnTo>
                  <a:pt x="38100" y="281177"/>
                </a:lnTo>
                <a:lnTo>
                  <a:pt x="35051" y="279653"/>
                </a:lnTo>
                <a:lnTo>
                  <a:pt x="33527" y="276605"/>
                </a:lnTo>
                <a:lnTo>
                  <a:pt x="33527" y="330707"/>
                </a:lnTo>
                <a:lnTo>
                  <a:pt x="38100" y="339851"/>
                </a:lnTo>
                <a:lnTo>
                  <a:pt x="42672" y="3307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27291" y="3063494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27291" y="3063494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63561" y="3300476"/>
            <a:ext cx="76200" cy="339090"/>
          </a:xfrm>
          <a:custGeom>
            <a:avLst/>
            <a:gdLst/>
            <a:ahLst/>
            <a:cxnLst/>
            <a:rect l="l" t="t" r="r" b="b"/>
            <a:pathLst>
              <a:path w="76200" h="339089">
                <a:moveTo>
                  <a:pt x="76200" y="262889"/>
                </a:moveTo>
                <a:lnTo>
                  <a:pt x="0" y="262889"/>
                </a:lnTo>
                <a:lnTo>
                  <a:pt x="33527" y="329945"/>
                </a:lnTo>
                <a:lnTo>
                  <a:pt x="33527" y="275844"/>
                </a:lnTo>
                <a:lnTo>
                  <a:pt x="35051" y="279653"/>
                </a:lnTo>
                <a:lnTo>
                  <a:pt x="38100" y="280415"/>
                </a:lnTo>
                <a:lnTo>
                  <a:pt x="41909" y="279653"/>
                </a:lnTo>
                <a:lnTo>
                  <a:pt x="42671" y="275844"/>
                </a:lnTo>
                <a:lnTo>
                  <a:pt x="42671" y="329946"/>
                </a:lnTo>
                <a:lnTo>
                  <a:pt x="76200" y="262889"/>
                </a:lnTo>
                <a:close/>
              </a:path>
              <a:path w="76200" h="339089">
                <a:moveTo>
                  <a:pt x="42671" y="262889"/>
                </a:moveTo>
                <a:lnTo>
                  <a:pt x="42671" y="4572"/>
                </a:lnTo>
                <a:lnTo>
                  <a:pt x="41909" y="762"/>
                </a:lnTo>
                <a:lnTo>
                  <a:pt x="38100" y="0"/>
                </a:lnTo>
                <a:lnTo>
                  <a:pt x="35051" y="762"/>
                </a:lnTo>
                <a:lnTo>
                  <a:pt x="33527" y="4572"/>
                </a:lnTo>
                <a:lnTo>
                  <a:pt x="33527" y="262889"/>
                </a:lnTo>
                <a:lnTo>
                  <a:pt x="42671" y="262889"/>
                </a:lnTo>
                <a:close/>
              </a:path>
              <a:path w="76200" h="339089">
                <a:moveTo>
                  <a:pt x="42671" y="329946"/>
                </a:moveTo>
                <a:lnTo>
                  <a:pt x="42671" y="275844"/>
                </a:lnTo>
                <a:lnTo>
                  <a:pt x="41909" y="279653"/>
                </a:lnTo>
                <a:lnTo>
                  <a:pt x="38100" y="280415"/>
                </a:lnTo>
                <a:lnTo>
                  <a:pt x="35051" y="279653"/>
                </a:lnTo>
                <a:lnTo>
                  <a:pt x="33527" y="275844"/>
                </a:lnTo>
                <a:lnTo>
                  <a:pt x="33527" y="329945"/>
                </a:lnTo>
                <a:lnTo>
                  <a:pt x="38100" y="339089"/>
                </a:lnTo>
                <a:lnTo>
                  <a:pt x="42671" y="3299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0339" y="367004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0339" y="367004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65111" y="3661155"/>
            <a:ext cx="66548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accept()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66609" y="3906265"/>
            <a:ext cx="76200" cy="424815"/>
          </a:xfrm>
          <a:custGeom>
            <a:avLst/>
            <a:gdLst/>
            <a:ahLst/>
            <a:cxnLst/>
            <a:rect l="l" t="t" r="r" b="b"/>
            <a:pathLst>
              <a:path w="76200" h="424814">
                <a:moveTo>
                  <a:pt x="76200" y="348234"/>
                </a:moveTo>
                <a:lnTo>
                  <a:pt x="0" y="348234"/>
                </a:lnTo>
                <a:lnTo>
                  <a:pt x="33528" y="415290"/>
                </a:lnTo>
                <a:lnTo>
                  <a:pt x="33528" y="360425"/>
                </a:lnTo>
                <a:lnTo>
                  <a:pt x="35052" y="364236"/>
                </a:lnTo>
                <a:lnTo>
                  <a:pt x="38100" y="365760"/>
                </a:lnTo>
                <a:lnTo>
                  <a:pt x="41910" y="364236"/>
                </a:lnTo>
                <a:lnTo>
                  <a:pt x="43434" y="360425"/>
                </a:lnTo>
                <a:lnTo>
                  <a:pt x="43434" y="413765"/>
                </a:lnTo>
                <a:lnTo>
                  <a:pt x="76200" y="348234"/>
                </a:lnTo>
                <a:close/>
              </a:path>
              <a:path w="76200" h="424814">
                <a:moveTo>
                  <a:pt x="43434" y="348234"/>
                </a:moveTo>
                <a:lnTo>
                  <a:pt x="43434" y="5334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5334"/>
                </a:lnTo>
                <a:lnTo>
                  <a:pt x="33528" y="348234"/>
                </a:lnTo>
                <a:lnTo>
                  <a:pt x="43434" y="348234"/>
                </a:lnTo>
                <a:close/>
              </a:path>
              <a:path w="76200" h="424814">
                <a:moveTo>
                  <a:pt x="43434" y="413765"/>
                </a:moveTo>
                <a:lnTo>
                  <a:pt x="43434" y="360425"/>
                </a:lnTo>
                <a:lnTo>
                  <a:pt x="41910" y="364236"/>
                </a:lnTo>
                <a:lnTo>
                  <a:pt x="38100" y="365760"/>
                </a:lnTo>
                <a:lnTo>
                  <a:pt x="35052" y="364236"/>
                </a:lnTo>
                <a:lnTo>
                  <a:pt x="33528" y="360425"/>
                </a:lnTo>
                <a:lnTo>
                  <a:pt x="33528" y="415290"/>
                </a:lnTo>
                <a:lnTo>
                  <a:pt x="38100" y="424434"/>
                </a:lnTo>
                <a:lnTo>
                  <a:pt x="43434" y="4137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18909" y="4377944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18909" y="4377944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3" y="231648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48169" y="4369053"/>
            <a:ext cx="4781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55941" y="4614926"/>
            <a:ext cx="76200" cy="339090"/>
          </a:xfrm>
          <a:custGeom>
            <a:avLst/>
            <a:gdLst/>
            <a:ahLst/>
            <a:cxnLst/>
            <a:rect l="l" t="t" r="r" b="b"/>
            <a:pathLst>
              <a:path w="76200" h="339089">
                <a:moveTo>
                  <a:pt x="76200" y="262889"/>
                </a:moveTo>
                <a:lnTo>
                  <a:pt x="0" y="262889"/>
                </a:lnTo>
                <a:lnTo>
                  <a:pt x="33528" y="329946"/>
                </a:lnTo>
                <a:lnTo>
                  <a:pt x="33528" y="275844"/>
                </a:lnTo>
                <a:lnTo>
                  <a:pt x="34290" y="279653"/>
                </a:lnTo>
                <a:lnTo>
                  <a:pt x="38100" y="280415"/>
                </a:lnTo>
                <a:lnTo>
                  <a:pt x="41148" y="279653"/>
                </a:lnTo>
                <a:lnTo>
                  <a:pt x="42672" y="275844"/>
                </a:lnTo>
                <a:lnTo>
                  <a:pt x="42672" y="329945"/>
                </a:lnTo>
                <a:lnTo>
                  <a:pt x="76200" y="262889"/>
                </a:lnTo>
                <a:close/>
              </a:path>
              <a:path w="76200" h="339089">
                <a:moveTo>
                  <a:pt x="42672" y="262889"/>
                </a:moveTo>
                <a:lnTo>
                  <a:pt x="42672" y="4572"/>
                </a:lnTo>
                <a:lnTo>
                  <a:pt x="41148" y="762"/>
                </a:lnTo>
                <a:lnTo>
                  <a:pt x="38100" y="0"/>
                </a:lnTo>
                <a:lnTo>
                  <a:pt x="34290" y="762"/>
                </a:lnTo>
                <a:lnTo>
                  <a:pt x="33528" y="4572"/>
                </a:lnTo>
                <a:lnTo>
                  <a:pt x="33528" y="262889"/>
                </a:lnTo>
                <a:lnTo>
                  <a:pt x="42672" y="262889"/>
                </a:lnTo>
                <a:close/>
              </a:path>
              <a:path w="76200" h="339089">
                <a:moveTo>
                  <a:pt x="42672" y="329945"/>
                </a:moveTo>
                <a:lnTo>
                  <a:pt x="42672" y="275844"/>
                </a:lnTo>
                <a:lnTo>
                  <a:pt x="41148" y="279653"/>
                </a:lnTo>
                <a:lnTo>
                  <a:pt x="38100" y="280415"/>
                </a:lnTo>
                <a:lnTo>
                  <a:pt x="34290" y="279653"/>
                </a:lnTo>
                <a:lnTo>
                  <a:pt x="33528" y="275844"/>
                </a:lnTo>
                <a:lnTo>
                  <a:pt x="33528" y="329946"/>
                </a:lnTo>
                <a:lnTo>
                  <a:pt x="38100" y="339089"/>
                </a:lnTo>
                <a:lnTo>
                  <a:pt x="42672" y="3299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22719" y="498449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22719" y="498449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25309" y="4975605"/>
            <a:ext cx="5270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58989" y="5220715"/>
            <a:ext cx="76200" cy="540385"/>
          </a:xfrm>
          <a:custGeom>
            <a:avLst/>
            <a:gdLst/>
            <a:ahLst/>
            <a:cxnLst/>
            <a:rect l="l" t="t" r="r" b="b"/>
            <a:pathLst>
              <a:path w="76200" h="540385">
                <a:moveTo>
                  <a:pt x="76200" y="464058"/>
                </a:moveTo>
                <a:lnTo>
                  <a:pt x="0" y="464058"/>
                </a:lnTo>
                <a:lnTo>
                  <a:pt x="33528" y="531114"/>
                </a:lnTo>
                <a:lnTo>
                  <a:pt x="33528" y="476250"/>
                </a:lnTo>
                <a:lnTo>
                  <a:pt x="35051" y="480060"/>
                </a:lnTo>
                <a:lnTo>
                  <a:pt x="38100" y="481584"/>
                </a:lnTo>
                <a:lnTo>
                  <a:pt x="41148" y="480060"/>
                </a:lnTo>
                <a:lnTo>
                  <a:pt x="42672" y="476250"/>
                </a:lnTo>
                <a:lnTo>
                  <a:pt x="42672" y="531113"/>
                </a:lnTo>
                <a:lnTo>
                  <a:pt x="76200" y="464058"/>
                </a:lnTo>
                <a:close/>
              </a:path>
              <a:path w="76200" h="540385">
                <a:moveTo>
                  <a:pt x="42672" y="464058"/>
                </a:moveTo>
                <a:lnTo>
                  <a:pt x="42672" y="5334"/>
                </a:lnTo>
                <a:lnTo>
                  <a:pt x="41148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8" y="5334"/>
                </a:lnTo>
                <a:lnTo>
                  <a:pt x="33528" y="464058"/>
                </a:lnTo>
                <a:lnTo>
                  <a:pt x="42672" y="464058"/>
                </a:lnTo>
                <a:close/>
              </a:path>
              <a:path w="76200" h="540385">
                <a:moveTo>
                  <a:pt x="42672" y="531113"/>
                </a:moveTo>
                <a:lnTo>
                  <a:pt x="42672" y="476250"/>
                </a:lnTo>
                <a:lnTo>
                  <a:pt x="41148" y="480060"/>
                </a:lnTo>
                <a:lnTo>
                  <a:pt x="38100" y="481584"/>
                </a:lnTo>
                <a:lnTo>
                  <a:pt x="35051" y="480060"/>
                </a:lnTo>
                <a:lnTo>
                  <a:pt x="33528" y="476250"/>
                </a:lnTo>
                <a:lnTo>
                  <a:pt x="33528" y="531114"/>
                </a:lnTo>
                <a:lnTo>
                  <a:pt x="38100" y="540258"/>
                </a:lnTo>
                <a:lnTo>
                  <a:pt x="42672" y="531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27291" y="5790691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5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27291" y="5790691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16165" y="5781802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65873" y="1545843"/>
            <a:ext cx="6578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Server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962287" y="1867916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962287" y="1867916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302380" y="1859025"/>
            <a:ext cx="6559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599319" y="2104898"/>
            <a:ext cx="76200" cy="1559560"/>
          </a:xfrm>
          <a:custGeom>
            <a:avLst/>
            <a:gdLst/>
            <a:ahLst/>
            <a:cxnLst/>
            <a:rect l="l" t="t" r="r" b="b"/>
            <a:pathLst>
              <a:path w="76200" h="1559560">
                <a:moveTo>
                  <a:pt x="76200" y="1482852"/>
                </a:moveTo>
                <a:lnTo>
                  <a:pt x="0" y="1482852"/>
                </a:lnTo>
                <a:lnTo>
                  <a:pt x="32765" y="1548383"/>
                </a:lnTo>
                <a:lnTo>
                  <a:pt x="32765" y="1495043"/>
                </a:lnTo>
                <a:lnTo>
                  <a:pt x="34289" y="1498853"/>
                </a:lnTo>
                <a:lnTo>
                  <a:pt x="38100" y="1500377"/>
                </a:lnTo>
                <a:lnTo>
                  <a:pt x="41148" y="1498853"/>
                </a:lnTo>
                <a:lnTo>
                  <a:pt x="42672" y="1495043"/>
                </a:lnTo>
                <a:lnTo>
                  <a:pt x="42672" y="1549907"/>
                </a:lnTo>
                <a:lnTo>
                  <a:pt x="76200" y="1482852"/>
                </a:lnTo>
                <a:close/>
              </a:path>
              <a:path w="76200" h="1559560">
                <a:moveTo>
                  <a:pt x="42672" y="1482852"/>
                </a:moveTo>
                <a:lnTo>
                  <a:pt x="42672" y="4571"/>
                </a:lnTo>
                <a:lnTo>
                  <a:pt x="41148" y="1523"/>
                </a:lnTo>
                <a:lnTo>
                  <a:pt x="38100" y="0"/>
                </a:lnTo>
                <a:lnTo>
                  <a:pt x="34289" y="1523"/>
                </a:lnTo>
                <a:lnTo>
                  <a:pt x="32765" y="4571"/>
                </a:lnTo>
                <a:lnTo>
                  <a:pt x="32765" y="1482852"/>
                </a:lnTo>
                <a:lnTo>
                  <a:pt x="42672" y="1482852"/>
                </a:lnTo>
                <a:close/>
              </a:path>
              <a:path w="76200" h="1559560">
                <a:moveTo>
                  <a:pt x="42672" y="1549907"/>
                </a:moveTo>
                <a:lnTo>
                  <a:pt x="42672" y="1495043"/>
                </a:lnTo>
                <a:lnTo>
                  <a:pt x="41148" y="1498853"/>
                </a:lnTo>
                <a:lnTo>
                  <a:pt x="38100" y="1500377"/>
                </a:lnTo>
                <a:lnTo>
                  <a:pt x="34289" y="1498853"/>
                </a:lnTo>
                <a:lnTo>
                  <a:pt x="32765" y="1495043"/>
                </a:lnTo>
                <a:lnTo>
                  <a:pt x="32765" y="1548383"/>
                </a:lnTo>
                <a:lnTo>
                  <a:pt x="38100" y="1559052"/>
                </a:lnTo>
                <a:lnTo>
                  <a:pt x="42672" y="15499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972193" y="367766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972193" y="367766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257422" y="3668776"/>
            <a:ext cx="7639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connect()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608463" y="3914647"/>
            <a:ext cx="76200" cy="424180"/>
          </a:xfrm>
          <a:custGeom>
            <a:avLst/>
            <a:gdLst/>
            <a:ahLst/>
            <a:cxnLst/>
            <a:rect l="l" t="t" r="r" b="b"/>
            <a:pathLst>
              <a:path w="76200" h="424179">
                <a:moveTo>
                  <a:pt x="76200" y="347472"/>
                </a:moveTo>
                <a:lnTo>
                  <a:pt x="0" y="347472"/>
                </a:lnTo>
                <a:lnTo>
                  <a:pt x="33528" y="414528"/>
                </a:lnTo>
                <a:lnTo>
                  <a:pt x="33528" y="360425"/>
                </a:lnTo>
                <a:lnTo>
                  <a:pt x="35052" y="363474"/>
                </a:lnTo>
                <a:lnTo>
                  <a:pt x="38100" y="364998"/>
                </a:lnTo>
                <a:lnTo>
                  <a:pt x="41910" y="363474"/>
                </a:lnTo>
                <a:lnTo>
                  <a:pt x="42672" y="360425"/>
                </a:lnTo>
                <a:lnTo>
                  <a:pt x="42672" y="414527"/>
                </a:lnTo>
                <a:lnTo>
                  <a:pt x="76200" y="347472"/>
                </a:lnTo>
                <a:close/>
              </a:path>
              <a:path w="76200" h="424179">
                <a:moveTo>
                  <a:pt x="42672" y="34747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347472"/>
                </a:lnTo>
                <a:lnTo>
                  <a:pt x="42672" y="347472"/>
                </a:lnTo>
                <a:close/>
              </a:path>
              <a:path w="76200" h="424179">
                <a:moveTo>
                  <a:pt x="42672" y="414527"/>
                </a:moveTo>
                <a:lnTo>
                  <a:pt x="42672" y="360425"/>
                </a:lnTo>
                <a:lnTo>
                  <a:pt x="41910" y="363474"/>
                </a:lnTo>
                <a:lnTo>
                  <a:pt x="38100" y="364998"/>
                </a:lnTo>
                <a:lnTo>
                  <a:pt x="35052" y="363474"/>
                </a:lnTo>
                <a:lnTo>
                  <a:pt x="33528" y="360425"/>
                </a:lnTo>
                <a:lnTo>
                  <a:pt x="33528" y="414528"/>
                </a:lnTo>
                <a:lnTo>
                  <a:pt x="38100" y="423672"/>
                </a:lnTo>
                <a:lnTo>
                  <a:pt x="42672" y="414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960763" y="438632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960763" y="438632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3364103" y="4376673"/>
            <a:ext cx="5270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597033" y="4622546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5843"/>
                </a:lnTo>
                <a:lnTo>
                  <a:pt x="35051" y="279653"/>
                </a:lnTo>
                <a:lnTo>
                  <a:pt x="38100" y="281177"/>
                </a:lnTo>
                <a:lnTo>
                  <a:pt x="41910" y="279653"/>
                </a:lnTo>
                <a:lnTo>
                  <a:pt x="43434" y="275843"/>
                </a:lnTo>
                <a:lnTo>
                  <a:pt x="43434" y="329183"/>
                </a:lnTo>
                <a:lnTo>
                  <a:pt x="76200" y="263651"/>
                </a:lnTo>
                <a:close/>
              </a:path>
              <a:path w="76200" h="340360">
                <a:moveTo>
                  <a:pt x="43434" y="263651"/>
                </a:moveTo>
                <a:lnTo>
                  <a:pt x="43434" y="4571"/>
                </a:lnTo>
                <a:lnTo>
                  <a:pt x="41910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7" y="4571"/>
                </a:lnTo>
                <a:lnTo>
                  <a:pt x="33527" y="263651"/>
                </a:lnTo>
                <a:lnTo>
                  <a:pt x="43434" y="263651"/>
                </a:lnTo>
                <a:close/>
              </a:path>
              <a:path w="76200" h="340360">
                <a:moveTo>
                  <a:pt x="43434" y="329183"/>
                </a:moveTo>
                <a:lnTo>
                  <a:pt x="43434" y="275843"/>
                </a:lnTo>
                <a:lnTo>
                  <a:pt x="41910" y="279653"/>
                </a:lnTo>
                <a:lnTo>
                  <a:pt x="38100" y="281177"/>
                </a:lnTo>
                <a:lnTo>
                  <a:pt x="35051" y="279653"/>
                </a:lnTo>
                <a:lnTo>
                  <a:pt x="33527" y="275843"/>
                </a:lnTo>
                <a:lnTo>
                  <a:pt x="33527" y="330707"/>
                </a:lnTo>
                <a:lnTo>
                  <a:pt x="38100" y="339851"/>
                </a:lnTo>
                <a:lnTo>
                  <a:pt x="43434" y="3291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963811" y="499211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963811" y="499211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392296" y="4983226"/>
            <a:ext cx="4781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600843" y="5229097"/>
            <a:ext cx="76200" cy="539750"/>
          </a:xfrm>
          <a:custGeom>
            <a:avLst/>
            <a:gdLst/>
            <a:ahLst/>
            <a:cxnLst/>
            <a:rect l="l" t="t" r="r" b="b"/>
            <a:pathLst>
              <a:path w="76200" h="539750">
                <a:moveTo>
                  <a:pt x="76200" y="463296"/>
                </a:moveTo>
                <a:lnTo>
                  <a:pt x="0" y="463296"/>
                </a:lnTo>
                <a:lnTo>
                  <a:pt x="32765" y="528827"/>
                </a:lnTo>
                <a:lnTo>
                  <a:pt x="32765" y="476250"/>
                </a:lnTo>
                <a:lnTo>
                  <a:pt x="34289" y="479298"/>
                </a:lnTo>
                <a:lnTo>
                  <a:pt x="38100" y="480822"/>
                </a:lnTo>
                <a:lnTo>
                  <a:pt x="41148" y="479298"/>
                </a:lnTo>
                <a:lnTo>
                  <a:pt x="42672" y="476250"/>
                </a:lnTo>
                <a:lnTo>
                  <a:pt x="42672" y="530351"/>
                </a:lnTo>
                <a:lnTo>
                  <a:pt x="76200" y="463296"/>
                </a:lnTo>
                <a:close/>
              </a:path>
              <a:path w="76200" h="539750">
                <a:moveTo>
                  <a:pt x="42672" y="463296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4289" y="1524"/>
                </a:lnTo>
                <a:lnTo>
                  <a:pt x="32765" y="4572"/>
                </a:lnTo>
                <a:lnTo>
                  <a:pt x="32765" y="463296"/>
                </a:lnTo>
                <a:lnTo>
                  <a:pt x="42672" y="463296"/>
                </a:lnTo>
                <a:close/>
              </a:path>
              <a:path w="76200" h="539750">
                <a:moveTo>
                  <a:pt x="42672" y="530351"/>
                </a:moveTo>
                <a:lnTo>
                  <a:pt x="42672" y="476250"/>
                </a:lnTo>
                <a:lnTo>
                  <a:pt x="41148" y="479298"/>
                </a:lnTo>
                <a:lnTo>
                  <a:pt x="38100" y="480822"/>
                </a:lnTo>
                <a:lnTo>
                  <a:pt x="34289" y="479298"/>
                </a:lnTo>
                <a:lnTo>
                  <a:pt x="32765" y="476250"/>
                </a:lnTo>
                <a:lnTo>
                  <a:pt x="32765" y="528827"/>
                </a:lnTo>
                <a:lnTo>
                  <a:pt x="38100" y="539496"/>
                </a:lnTo>
                <a:lnTo>
                  <a:pt x="42672" y="530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969145" y="5799073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968383" y="5799073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3358007" y="5789421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331336" y="1552701"/>
            <a:ext cx="5899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Client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676793" y="3755390"/>
            <a:ext cx="1271270" cy="76200"/>
          </a:xfrm>
          <a:custGeom>
            <a:avLst/>
            <a:gdLst/>
            <a:ahLst/>
            <a:cxnLst/>
            <a:rect l="l" t="t" r="r" b="b"/>
            <a:pathLst>
              <a:path w="1271270" h="76200">
                <a:moveTo>
                  <a:pt x="76200" y="0"/>
                </a:moveTo>
                <a:lnTo>
                  <a:pt x="0" y="38100"/>
                </a:lnTo>
                <a:lnTo>
                  <a:pt x="45719" y="60960"/>
                </a:lnTo>
                <a:lnTo>
                  <a:pt x="45719" y="38100"/>
                </a:lnTo>
                <a:lnTo>
                  <a:pt x="47243" y="35051"/>
                </a:lnTo>
                <a:lnTo>
                  <a:pt x="50292" y="33527"/>
                </a:lnTo>
                <a:lnTo>
                  <a:pt x="53400" y="33527"/>
                </a:lnTo>
                <a:lnTo>
                  <a:pt x="76200" y="0"/>
                </a:lnTo>
                <a:close/>
              </a:path>
              <a:path w="1271270" h="76200">
                <a:moveTo>
                  <a:pt x="53919" y="43434"/>
                </a:moveTo>
                <a:lnTo>
                  <a:pt x="50292" y="38100"/>
                </a:lnTo>
                <a:lnTo>
                  <a:pt x="50292" y="33527"/>
                </a:lnTo>
                <a:lnTo>
                  <a:pt x="47243" y="35051"/>
                </a:lnTo>
                <a:lnTo>
                  <a:pt x="45719" y="38100"/>
                </a:lnTo>
                <a:lnTo>
                  <a:pt x="47243" y="41910"/>
                </a:lnTo>
                <a:lnTo>
                  <a:pt x="50292" y="43434"/>
                </a:lnTo>
                <a:lnTo>
                  <a:pt x="50292" y="38100"/>
                </a:lnTo>
                <a:lnTo>
                  <a:pt x="53400" y="33527"/>
                </a:lnTo>
                <a:lnTo>
                  <a:pt x="53400" y="43434"/>
                </a:lnTo>
                <a:lnTo>
                  <a:pt x="53919" y="43434"/>
                </a:lnTo>
                <a:close/>
              </a:path>
              <a:path w="1271270" h="76200">
                <a:moveTo>
                  <a:pt x="76200" y="76200"/>
                </a:moveTo>
                <a:lnTo>
                  <a:pt x="53919" y="43434"/>
                </a:lnTo>
                <a:lnTo>
                  <a:pt x="50292" y="43434"/>
                </a:lnTo>
                <a:lnTo>
                  <a:pt x="47243" y="41910"/>
                </a:lnTo>
                <a:lnTo>
                  <a:pt x="45719" y="38100"/>
                </a:lnTo>
                <a:lnTo>
                  <a:pt x="45719" y="60960"/>
                </a:lnTo>
                <a:lnTo>
                  <a:pt x="76200" y="76200"/>
                </a:lnTo>
                <a:close/>
              </a:path>
              <a:path w="1271270" h="76200">
                <a:moveTo>
                  <a:pt x="1212341" y="38100"/>
                </a:moveTo>
                <a:lnTo>
                  <a:pt x="1211579" y="35051"/>
                </a:lnTo>
                <a:lnTo>
                  <a:pt x="1207769" y="33527"/>
                </a:lnTo>
                <a:lnTo>
                  <a:pt x="53400" y="33527"/>
                </a:lnTo>
                <a:lnTo>
                  <a:pt x="50292" y="38100"/>
                </a:lnTo>
                <a:lnTo>
                  <a:pt x="53919" y="43434"/>
                </a:lnTo>
                <a:lnTo>
                  <a:pt x="1207769" y="43434"/>
                </a:lnTo>
                <a:lnTo>
                  <a:pt x="1211579" y="41910"/>
                </a:lnTo>
                <a:lnTo>
                  <a:pt x="1212341" y="38100"/>
                </a:lnTo>
                <a:close/>
              </a:path>
              <a:path w="1271270" h="76200">
                <a:moveTo>
                  <a:pt x="1271015" y="38100"/>
                </a:moveTo>
                <a:lnTo>
                  <a:pt x="1194815" y="0"/>
                </a:lnTo>
                <a:lnTo>
                  <a:pt x="1194815" y="33527"/>
                </a:lnTo>
                <a:lnTo>
                  <a:pt x="1207769" y="33527"/>
                </a:lnTo>
                <a:lnTo>
                  <a:pt x="1211579" y="35051"/>
                </a:lnTo>
                <a:lnTo>
                  <a:pt x="1212341" y="38100"/>
                </a:lnTo>
                <a:lnTo>
                  <a:pt x="1212341" y="67437"/>
                </a:lnTo>
                <a:lnTo>
                  <a:pt x="1271015" y="38100"/>
                </a:lnTo>
                <a:close/>
              </a:path>
              <a:path w="1271270" h="76200">
                <a:moveTo>
                  <a:pt x="1212341" y="67437"/>
                </a:moveTo>
                <a:lnTo>
                  <a:pt x="1212341" y="38100"/>
                </a:lnTo>
                <a:lnTo>
                  <a:pt x="1211579" y="41910"/>
                </a:lnTo>
                <a:lnTo>
                  <a:pt x="1207769" y="43434"/>
                </a:lnTo>
                <a:lnTo>
                  <a:pt x="1194815" y="43434"/>
                </a:lnTo>
                <a:lnTo>
                  <a:pt x="1194815" y="76200"/>
                </a:lnTo>
                <a:lnTo>
                  <a:pt x="1212341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716165" y="3054604"/>
            <a:ext cx="2185670" cy="537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listen()</a:t>
            </a:r>
            <a:endParaRPr sz="1400">
              <a:latin typeface="Arial"/>
              <a:cs typeface="Arial"/>
            </a:endParaRPr>
          </a:p>
          <a:p>
            <a:pPr marL="1118235">
              <a:lnSpc>
                <a:spcPct val="100000"/>
              </a:lnSpc>
              <a:spcBef>
                <a:spcPts val="915"/>
              </a:spcBef>
            </a:pPr>
            <a:r>
              <a:rPr sz="1200" spc="-10" dirty="0">
                <a:latin typeface="Arial"/>
                <a:cs typeface="Arial"/>
              </a:rPr>
              <a:t>synchronization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184526" y="3566667"/>
            <a:ext cx="3543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po</a:t>
            </a:r>
            <a:r>
              <a:rPr sz="1200" spc="-15" dirty="0">
                <a:latin typeface="Arial"/>
                <a:cs typeface="Arial"/>
              </a:rPr>
              <a:t>i</a:t>
            </a:r>
            <a:r>
              <a:rPr sz="1200" spc="-5" dirty="0">
                <a:latin typeface="Arial"/>
                <a:cs typeface="Arial"/>
              </a:rPr>
              <a:t>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656219" y="4438141"/>
            <a:ext cx="1317625" cy="76200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76200" y="33528"/>
                </a:move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58674" y="38100"/>
                </a:lnTo>
                <a:lnTo>
                  <a:pt x="59436" y="35052"/>
                </a:lnTo>
                <a:lnTo>
                  <a:pt x="63245" y="33528"/>
                </a:lnTo>
                <a:lnTo>
                  <a:pt x="76200" y="33528"/>
                </a:lnTo>
                <a:close/>
              </a:path>
              <a:path w="1317625" h="76200">
                <a:moveTo>
                  <a:pt x="1317497" y="38100"/>
                </a:moveTo>
                <a:lnTo>
                  <a:pt x="1315973" y="35052"/>
                </a:lnTo>
                <a:lnTo>
                  <a:pt x="1312163" y="33528"/>
                </a:lnTo>
                <a:lnTo>
                  <a:pt x="63245" y="33528"/>
                </a:lnTo>
                <a:lnTo>
                  <a:pt x="59436" y="35052"/>
                </a:lnTo>
                <a:lnTo>
                  <a:pt x="58674" y="38100"/>
                </a:lnTo>
                <a:lnTo>
                  <a:pt x="59436" y="41910"/>
                </a:lnTo>
                <a:lnTo>
                  <a:pt x="63245" y="43434"/>
                </a:lnTo>
                <a:lnTo>
                  <a:pt x="1312163" y="43434"/>
                </a:lnTo>
                <a:lnTo>
                  <a:pt x="1315973" y="41910"/>
                </a:lnTo>
                <a:lnTo>
                  <a:pt x="1317497" y="38100"/>
                </a:lnTo>
                <a:close/>
              </a:path>
              <a:path w="1317625" h="76200">
                <a:moveTo>
                  <a:pt x="76200" y="76200"/>
                </a:moveTo>
                <a:lnTo>
                  <a:pt x="76200" y="43434"/>
                </a:lnTo>
                <a:lnTo>
                  <a:pt x="63245" y="43434"/>
                </a:lnTo>
                <a:lnTo>
                  <a:pt x="59436" y="41910"/>
                </a:lnTo>
                <a:lnTo>
                  <a:pt x="58674" y="38100"/>
                </a:lnTo>
                <a:lnTo>
                  <a:pt x="58674" y="67437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644789" y="5063744"/>
            <a:ext cx="1317625" cy="76200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1266443" y="38100"/>
                </a:moveTo>
                <a:lnTo>
                  <a:pt x="1263426" y="33527"/>
                </a:lnTo>
                <a:lnTo>
                  <a:pt x="4572" y="33527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909"/>
                </a:lnTo>
                <a:lnTo>
                  <a:pt x="4572" y="42671"/>
                </a:lnTo>
                <a:lnTo>
                  <a:pt x="1263426" y="42671"/>
                </a:lnTo>
                <a:lnTo>
                  <a:pt x="1266443" y="38100"/>
                </a:lnTo>
                <a:close/>
              </a:path>
              <a:path w="1317625" h="76200">
                <a:moveTo>
                  <a:pt x="1317497" y="38100"/>
                </a:moveTo>
                <a:lnTo>
                  <a:pt x="1241297" y="0"/>
                </a:lnTo>
                <a:lnTo>
                  <a:pt x="1263426" y="33527"/>
                </a:lnTo>
                <a:lnTo>
                  <a:pt x="1266443" y="33527"/>
                </a:lnTo>
                <a:lnTo>
                  <a:pt x="1270253" y="35051"/>
                </a:lnTo>
                <a:lnTo>
                  <a:pt x="1271777" y="38100"/>
                </a:lnTo>
                <a:lnTo>
                  <a:pt x="1271777" y="60959"/>
                </a:lnTo>
                <a:lnTo>
                  <a:pt x="1317497" y="38100"/>
                </a:lnTo>
                <a:close/>
              </a:path>
              <a:path w="1317625" h="76200">
                <a:moveTo>
                  <a:pt x="1271777" y="60959"/>
                </a:moveTo>
                <a:lnTo>
                  <a:pt x="1271777" y="38100"/>
                </a:lnTo>
                <a:lnTo>
                  <a:pt x="1270253" y="41909"/>
                </a:lnTo>
                <a:lnTo>
                  <a:pt x="1266443" y="42671"/>
                </a:lnTo>
                <a:lnTo>
                  <a:pt x="1263426" y="42672"/>
                </a:lnTo>
                <a:lnTo>
                  <a:pt x="1241297" y="76200"/>
                </a:lnTo>
                <a:lnTo>
                  <a:pt x="1271777" y="60959"/>
                </a:lnTo>
                <a:close/>
              </a:path>
              <a:path w="1317625" h="76200">
                <a:moveTo>
                  <a:pt x="1271777" y="38100"/>
                </a:moveTo>
                <a:lnTo>
                  <a:pt x="1270253" y="35051"/>
                </a:lnTo>
                <a:lnTo>
                  <a:pt x="1266443" y="33527"/>
                </a:lnTo>
                <a:lnTo>
                  <a:pt x="1263426" y="33527"/>
                </a:lnTo>
                <a:lnTo>
                  <a:pt x="1266443" y="38100"/>
                </a:lnTo>
                <a:lnTo>
                  <a:pt x="1266443" y="42671"/>
                </a:lnTo>
                <a:lnTo>
                  <a:pt x="1270253" y="41909"/>
                </a:lnTo>
                <a:lnTo>
                  <a:pt x="1271777" y="38100"/>
                </a:lnTo>
                <a:close/>
              </a:path>
              <a:path w="1317625" h="76200">
                <a:moveTo>
                  <a:pt x="1266443" y="42671"/>
                </a:moveTo>
                <a:lnTo>
                  <a:pt x="1266443" y="38100"/>
                </a:lnTo>
                <a:lnTo>
                  <a:pt x="1263426" y="42672"/>
                </a:lnTo>
                <a:lnTo>
                  <a:pt x="1266443" y="426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9255" y="4467097"/>
            <a:ext cx="219710" cy="665480"/>
          </a:xfrm>
          <a:custGeom>
            <a:avLst/>
            <a:gdLst/>
            <a:ahLst/>
            <a:cxnLst/>
            <a:rect l="l" t="t" r="r" b="b"/>
            <a:pathLst>
              <a:path w="219710" h="665479">
                <a:moveTo>
                  <a:pt x="169186" y="39412"/>
                </a:moveTo>
                <a:lnTo>
                  <a:pt x="168402" y="33527"/>
                </a:lnTo>
                <a:lnTo>
                  <a:pt x="163369" y="32226"/>
                </a:lnTo>
                <a:lnTo>
                  <a:pt x="146304" y="47243"/>
                </a:lnTo>
                <a:lnTo>
                  <a:pt x="111252" y="81534"/>
                </a:lnTo>
                <a:lnTo>
                  <a:pt x="80990" y="114280"/>
                </a:lnTo>
                <a:lnTo>
                  <a:pt x="55024" y="145578"/>
                </a:lnTo>
                <a:lnTo>
                  <a:pt x="25651" y="192421"/>
                </a:lnTo>
                <a:lnTo>
                  <a:pt x="3302" y="256210"/>
                </a:lnTo>
                <a:lnTo>
                  <a:pt x="0" y="291084"/>
                </a:lnTo>
                <a:lnTo>
                  <a:pt x="5599" y="334616"/>
                </a:lnTo>
                <a:lnTo>
                  <a:pt x="10021" y="348820"/>
                </a:lnTo>
                <a:lnTo>
                  <a:pt x="10021" y="279178"/>
                </a:lnTo>
                <a:lnTo>
                  <a:pt x="15011" y="246430"/>
                </a:lnTo>
                <a:lnTo>
                  <a:pt x="40386" y="185927"/>
                </a:lnTo>
                <a:lnTo>
                  <a:pt x="61145" y="153466"/>
                </a:lnTo>
                <a:lnTo>
                  <a:pt x="85344" y="123443"/>
                </a:lnTo>
                <a:lnTo>
                  <a:pt x="134874" y="70865"/>
                </a:lnTo>
                <a:lnTo>
                  <a:pt x="169186" y="39412"/>
                </a:lnTo>
                <a:close/>
              </a:path>
              <a:path w="219710" h="665479">
                <a:moveTo>
                  <a:pt x="219456" y="660653"/>
                </a:moveTo>
                <a:lnTo>
                  <a:pt x="218694" y="657605"/>
                </a:lnTo>
                <a:lnTo>
                  <a:pt x="198882" y="633222"/>
                </a:lnTo>
                <a:lnTo>
                  <a:pt x="141732" y="560069"/>
                </a:lnTo>
                <a:lnTo>
                  <a:pt x="103489" y="508115"/>
                </a:lnTo>
                <a:lnTo>
                  <a:pt x="67818" y="454151"/>
                </a:lnTo>
                <a:lnTo>
                  <a:pt x="49202" y="420902"/>
                </a:lnTo>
                <a:lnTo>
                  <a:pt x="32289" y="385567"/>
                </a:lnTo>
                <a:lnTo>
                  <a:pt x="19044" y="348901"/>
                </a:lnTo>
                <a:lnTo>
                  <a:pt x="10021" y="279178"/>
                </a:lnTo>
                <a:lnTo>
                  <a:pt x="10021" y="348820"/>
                </a:lnTo>
                <a:lnTo>
                  <a:pt x="39917" y="423872"/>
                </a:lnTo>
                <a:lnTo>
                  <a:pt x="65392" y="468312"/>
                </a:lnTo>
                <a:lnTo>
                  <a:pt x="94250" y="511770"/>
                </a:lnTo>
                <a:lnTo>
                  <a:pt x="124869" y="553604"/>
                </a:lnTo>
                <a:lnTo>
                  <a:pt x="155626" y="593172"/>
                </a:lnTo>
                <a:lnTo>
                  <a:pt x="211074" y="662939"/>
                </a:lnTo>
                <a:lnTo>
                  <a:pt x="214122" y="665226"/>
                </a:lnTo>
                <a:lnTo>
                  <a:pt x="217932" y="663701"/>
                </a:lnTo>
                <a:lnTo>
                  <a:pt x="219456" y="660653"/>
                </a:lnTo>
                <a:close/>
              </a:path>
              <a:path w="219710" h="665479">
                <a:moveTo>
                  <a:pt x="205740" y="0"/>
                </a:moveTo>
                <a:lnTo>
                  <a:pt x="124206" y="22098"/>
                </a:lnTo>
                <a:lnTo>
                  <a:pt x="163369" y="32226"/>
                </a:lnTo>
                <a:lnTo>
                  <a:pt x="165354" y="30479"/>
                </a:lnTo>
                <a:lnTo>
                  <a:pt x="168402" y="28955"/>
                </a:lnTo>
                <a:lnTo>
                  <a:pt x="171450" y="30479"/>
                </a:lnTo>
                <a:lnTo>
                  <a:pt x="172974" y="34289"/>
                </a:lnTo>
                <a:lnTo>
                  <a:pt x="172974" y="67817"/>
                </a:lnTo>
                <a:lnTo>
                  <a:pt x="174498" y="79248"/>
                </a:lnTo>
                <a:lnTo>
                  <a:pt x="205740" y="0"/>
                </a:lnTo>
                <a:close/>
              </a:path>
              <a:path w="219710" h="665479">
                <a:moveTo>
                  <a:pt x="172974" y="34289"/>
                </a:moveTo>
                <a:lnTo>
                  <a:pt x="171450" y="30479"/>
                </a:lnTo>
                <a:lnTo>
                  <a:pt x="168402" y="28955"/>
                </a:lnTo>
                <a:lnTo>
                  <a:pt x="165354" y="30479"/>
                </a:lnTo>
                <a:lnTo>
                  <a:pt x="163369" y="32226"/>
                </a:lnTo>
                <a:lnTo>
                  <a:pt x="168402" y="33527"/>
                </a:lnTo>
                <a:lnTo>
                  <a:pt x="169186" y="39412"/>
                </a:lnTo>
                <a:lnTo>
                  <a:pt x="171450" y="37337"/>
                </a:lnTo>
                <a:lnTo>
                  <a:pt x="172974" y="34289"/>
                </a:lnTo>
                <a:close/>
              </a:path>
              <a:path w="219710" h="665479">
                <a:moveTo>
                  <a:pt x="172974" y="67817"/>
                </a:moveTo>
                <a:lnTo>
                  <a:pt x="172974" y="34289"/>
                </a:lnTo>
                <a:lnTo>
                  <a:pt x="171450" y="37337"/>
                </a:lnTo>
                <a:lnTo>
                  <a:pt x="169186" y="39412"/>
                </a:lnTo>
                <a:lnTo>
                  <a:pt x="172974" y="678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317885" y="4483100"/>
            <a:ext cx="237490" cy="665480"/>
          </a:xfrm>
          <a:custGeom>
            <a:avLst/>
            <a:gdLst/>
            <a:ahLst/>
            <a:cxnLst/>
            <a:rect l="l" t="t" r="r" b="b"/>
            <a:pathLst>
              <a:path w="237489" h="665479">
                <a:moveTo>
                  <a:pt x="79248" y="31241"/>
                </a:moveTo>
                <a:lnTo>
                  <a:pt x="0" y="0"/>
                </a:lnTo>
                <a:lnTo>
                  <a:pt x="22098" y="82296"/>
                </a:lnTo>
                <a:lnTo>
                  <a:pt x="28956" y="57435"/>
                </a:lnTo>
                <a:lnTo>
                  <a:pt x="28956" y="37337"/>
                </a:lnTo>
                <a:lnTo>
                  <a:pt x="30480" y="34289"/>
                </a:lnTo>
                <a:lnTo>
                  <a:pt x="34289" y="32765"/>
                </a:lnTo>
                <a:lnTo>
                  <a:pt x="37337" y="34289"/>
                </a:lnTo>
                <a:lnTo>
                  <a:pt x="39892" y="37245"/>
                </a:lnTo>
                <a:lnTo>
                  <a:pt x="79248" y="31241"/>
                </a:lnTo>
                <a:close/>
              </a:path>
              <a:path w="237489" h="665479">
                <a:moveTo>
                  <a:pt x="227075" y="425960"/>
                </a:moveTo>
                <a:lnTo>
                  <a:pt x="227075" y="368808"/>
                </a:lnTo>
                <a:lnTo>
                  <a:pt x="223089" y="407843"/>
                </a:lnTo>
                <a:lnTo>
                  <a:pt x="210197" y="444650"/>
                </a:lnTo>
                <a:lnTo>
                  <a:pt x="190885" y="478969"/>
                </a:lnTo>
                <a:lnTo>
                  <a:pt x="167639" y="510539"/>
                </a:lnTo>
                <a:lnTo>
                  <a:pt x="129744" y="551030"/>
                </a:lnTo>
                <a:lnTo>
                  <a:pt x="89154" y="589026"/>
                </a:lnTo>
                <a:lnTo>
                  <a:pt x="28194" y="639317"/>
                </a:lnTo>
                <a:lnTo>
                  <a:pt x="6858" y="656082"/>
                </a:lnTo>
                <a:lnTo>
                  <a:pt x="5334" y="659891"/>
                </a:lnTo>
                <a:lnTo>
                  <a:pt x="6096" y="662939"/>
                </a:lnTo>
                <a:lnTo>
                  <a:pt x="9144" y="665226"/>
                </a:lnTo>
                <a:lnTo>
                  <a:pt x="12954" y="663701"/>
                </a:lnTo>
                <a:lnTo>
                  <a:pt x="54863" y="630174"/>
                </a:lnTo>
                <a:lnTo>
                  <a:pt x="95250" y="595884"/>
                </a:lnTo>
                <a:lnTo>
                  <a:pt x="133350" y="560832"/>
                </a:lnTo>
                <a:lnTo>
                  <a:pt x="171083" y="520382"/>
                </a:lnTo>
                <a:lnTo>
                  <a:pt x="202347" y="478786"/>
                </a:lnTo>
                <a:lnTo>
                  <a:pt x="219422" y="447174"/>
                </a:lnTo>
                <a:lnTo>
                  <a:pt x="227075" y="425960"/>
                </a:lnTo>
                <a:close/>
              </a:path>
              <a:path w="237489" h="665479">
                <a:moveTo>
                  <a:pt x="39892" y="37245"/>
                </a:moveTo>
                <a:lnTo>
                  <a:pt x="37337" y="34289"/>
                </a:lnTo>
                <a:lnTo>
                  <a:pt x="34289" y="32765"/>
                </a:lnTo>
                <a:lnTo>
                  <a:pt x="30480" y="34289"/>
                </a:lnTo>
                <a:lnTo>
                  <a:pt x="28956" y="37337"/>
                </a:lnTo>
                <a:lnTo>
                  <a:pt x="30480" y="41148"/>
                </a:lnTo>
                <a:lnTo>
                  <a:pt x="32726" y="43768"/>
                </a:lnTo>
                <a:lnTo>
                  <a:pt x="34289" y="38100"/>
                </a:lnTo>
                <a:lnTo>
                  <a:pt x="39892" y="37245"/>
                </a:lnTo>
                <a:close/>
              </a:path>
              <a:path w="237489" h="665479">
                <a:moveTo>
                  <a:pt x="32726" y="43768"/>
                </a:moveTo>
                <a:lnTo>
                  <a:pt x="30480" y="41148"/>
                </a:lnTo>
                <a:lnTo>
                  <a:pt x="28956" y="37337"/>
                </a:lnTo>
                <a:lnTo>
                  <a:pt x="28956" y="57435"/>
                </a:lnTo>
                <a:lnTo>
                  <a:pt x="32726" y="43768"/>
                </a:lnTo>
                <a:close/>
              </a:path>
              <a:path w="237489" h="665479">
                <a:moveTo>
                  <a:pt x="236982" y="379475"/>
                </a:moveTo>
                <a:lnTo>
                  <a:pt x="233077" y="333526"/>
                </a:lnTo>
                <a:lnTo>
                  <a:pt x="218333" y="286475"/>
                </a:lnTo>
                <a:lnTo>
                  <a:pt x="195163" y="239273"/>
                </a:lnTo>
                <a:lnTo>
                  <a:pt x="165977" y="192871"/>
                </a:lnTo>
                <a:lnTo>
                  <a:pt x="133190" y="148221"/>
                </a:lnTo>
                <a:lnTo>
                  <a:pt x="99212" y="106273"/>
                </a:lnTo>
                <a:lnTo>
                  <a:pt x="39892" y="37245"/>
                </a:lnTo>
                <a:lnTo>
                  <a:pt x="34289" y="38100"/>
                </a:lnTo>
                <a:lnTo>
                  <a:pt x="32726" y="43768"/>
                </a:lnTo>
                <a:lnTo>
                  <a:pt x="39624" y="51815"/>
                </a:lnTo>
                <a:lnTo>
                  <a:pt x="81534" y="99822"/>
                </a:lnTo>
                <a:lnTo>
                  <a:pt x="119949" y="147058"/>
                </a:lnTo>
                <a:lnTo>
                  <a:pt x="154370" y="193436"/>
                </a:lnTo>
                <a:lnTo>
                  <a:pt x="191032" y="251954"/>
                </a:lnTo>
                <a:lnTo>
                  <a:pt x="209349" y="289912"/>
                </a:lnTo>
                <a:lnTo>
                  <a:pt x="222433" y="329599"/>
                </a:lnTo>
                <a:lnTo>
                  <a:pt x="227075" y="368808"/>
                </a:lnTo>
                <a:lnTo>
                  <a:pt x="227075" y="425960"/>
                </a:lnTo>
                <a:lnTo>
                  <a:pt x="231561" y="413527"/>
                </a:lnTo>
                <a:lnTo>
                  <a:pt x="236982" y="3794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1695323" y="1157223"/>
            <a:ext cx="1092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541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Stream  </a:t>
            </a:r>
            <a:r>
              <a:rPr sz="1800" b="1" spc="-5" dirty="0">
                <a:latin typeface="Arial"/>
                <a:cs typeface="Arial"/>
              </a:rPr>
              <a:t>(e.g.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TCP)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4874145" y="1867916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873383" y="1867916"/>
            <a:ext cx="1336040" cy="232410"/>
          </a:xfrm>
          <a:custGeom>
            <a:avLst/>
            <a:gdLst/>
            <a:ahLst/>
            <a:cxnLst/>
            <a:rect l="l" t="t" r="r" b="b"/>
            <a:pathLst>
              <a:path w="1336039" h="232410">
                <a:moveTo>
                  <a:pt x="0" y="0"/>
                </a:moveTo>
                <a:lnTo>
                  <a:pt x="0" y="232410"/>
                </a:lnTo>
                <a:lnTo>
                  <a:pt x="1335786" y="232410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5213477" y="1859025"/>
            <a:ext cx="6559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5510415" y="2104898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5843"/>
                </a:lnTo>
                <a:lnTo>
                  <a:pt x="34289" y="279653"/>
                </a:lnTo>
                <a:lnTo>
                  <a:pt x="38100" y="281177"/>
                </a:lnTo>
                <a:lnTo>
                  <a:pt x="41135" y="279653"/>
                </a:lnTo>
                <a:lnTo>
                  <a:pt x="42659" y="275843"/>
                </a:lnTo>
                <a:lnTo>
                  <a:pt x="42659" y="330733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59" y="263651"/>
                </a:moveTo>
                <a:lnTo>
                  <a:pt x="42659" y="4571"/>
                </a:lnTo>
                <a:lnTo>
                  <a:pt x="41135" y="1523"/>
                </a:lnTo>
                <a:lnTo>
                  <a:pt x="38100" y="0"/>
                </a:lnTo>
                <a:lnTo>
                  <a:pt x="34289" y="1523"/>
                </a:lnTo>
                <a:lnTo>
                  <a:pt x="33527" y="4571"/>
                </a:lnTo>
                <a:lnTo>
                  <a:pt x="33527" y="263651"/>
                </a:lnTo>
                <a:lnTo>
                  <a:pt x="42659" y="263651"/>
                </a:lnTo>
                <a:close/>
              </a:path>
              <a:path w="76200" h="340360">
                <a:moveTo>
                  <a:pt x="42659" y="330733"/>
                </a:moveTo>
                <a:lnTo>
                  <a:pt x="42659" y="275843"/>
                </a:lnTo>
                <a:lnTo>
                  <a:pt x="41135" y="279653"/>
                </a:lnTo>
                <a:lnTo>
                  <a:pt x="38100" y="281177"/>
                </a:lnTo>
                <a:lnTo>
                  <a:pt x="34289" y="279653"/>
                </a:lnTo>
                <a:lnTo>
                  <a:pt x="33527" y="275843"/>
                </a:lnTo>
                <a:lnTo>
                  <a:pt x="33527" y="330707"/>
                </a:lnTo>
                <a:lnTo>
                  <a:pt x="38100" y="339851"/>
                </a:lnTo>
                <a:lnTo>
                  <a:pt x="42659" y="3307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877193" y="2474467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877193" y="2474467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5305678" y="2465577"/>
            <a:ext cx="4787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bind()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5513451" y="2711450"/>
            <a:ext cx="76200" cy="1631950"/>
          </a:xfrm>
          <a:custGeom>
            <a:avLst/>
            <a:gdLst/>
            <a:ahLst/>
            <a:cxnLst/>
            <a:rect l="l" t="t" r="r" b="b"/>
            <a:pathLst>
              <a:path w="76200" h="1631950">
                <a:moveTo>
                  <a:pt x="76200" y="1555241"/>
                </a:moveTo>
                <a:lnTo>
                  <a:pt x="0" y="1555241"/>
                </a:lnTo>
                <a:lnTo>
                  <a:pt x="33540" y="1622323"/>
                </a:lnTo>
                <a:lnTo>
                  <a:pt x="33540" y="1568195"/>
                </a:lnTo>
                <a:lnTo>
                  <a:pt x="35064" y="1571243"/>
                </a:lnTo>
                <a:lnTo>
                  <a:pt x="38100" y="1572767"/>
                </a:lnTo>
                <a:lnTo>
                  <a:pt x="41922" y="1571243"/>
                </a:lnTo>
                <a:lnTo>
                  <a:pt x="42684" y="1568195"/>
                </a:lnTo>
                <a:lnTo>
                  <a:pt x="42684" y="1622272"/>
                </a:lnTo>
                <a:lnTo>
                  <a:pt x="76200" y="1555241"/>
                </a:lnTo>
                <a:close/>
              </a:path>
              <a:path w="76200" h="1631950">
                <a:moveTo>
                  <a:pt x="42684" y="1555241"/>
                </a:moveTo>
                <a:lnTo>
                  <a:pt x="42684" y="4571"/>
                </a:lnTo>
                <a:lnTo>
                  <a:pt x="41922" y="761"/>
                </a:lnTo>
                <a:lnTo>
                  <a:pt x="38100" y="0"/>
                </a:lnTo>
                <a:lnTo>
                  <a:pt x="35064" y="761"/>
                </a:lnTo>
                <a:lnTo>
                  <a:pt x="33540" y="4571"/>
                </a:lnTo>
                <a:lnTo>
                  <a:pt x="33540" y="1555241"/>
                </a:lnTo>
                <a:lnTo>
                  <a:pt x="42684" y="1555241"/>
                </a:lnTo>
                <a:close/>
              </a:path>
              <a:path w="76200" h="1631950">
                <a:moveTo>
                  <a:pt x="42684" y="1622272"/>
                </a:moveTo>
                <a:lnTo>
                  <a:pt x="42684" y="1568195"/>
                </a:lnTo>
                <a:lnTo>
                  <a:pt x="41922" y="1571243"/>
                </a:lnTo>
                <a:lnTo>
                  <a:pt x="38100" y="1572767"/>
                </a:lnTo>
                <a:lnTo>
                  <a:pt x="35064" y="1571243"/>
                </a:lnTo>
                <a:lnTo>
                  <a:pt x="33540" y="1568195"/>
                </a:lnTo>
                <a:lnTo>
                  <a:pt x="33540" y="1622323"/>
                </a:lnTo>
                <a:lnTo>
                  <a:pt x="38100" y="1631441"/>
                </a:lnTo>
                <a:lnTo>
                  <a:pt x="42684" y="1622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871859" y="4386326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8"/>
                </a:lnTo>
                <a:lnTo>
                  <a:pt x="1335785" y="231648"/>
                </a:lnTo>
                <a:lnTo>
                  <a:pt x="1335785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871859" y="438632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5122811" y="4376673"/>
            <a:ext cx="8318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recvfrom()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5508891" y="4622546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15" y="330682"/>
                </a:lnTo>
                <a:lnTo>
                  <a:pt x="33515" y="275843"/>
                </a:lnTo>
                <a:lnTo>
                  <a:pt x="34289" y="279653"/>
                </a:lnTo>
                <a:lnTo>
                  <a:pt x="38100" y="281177"/>
                </a:lnTo>
                <a:lnTo>
                  <a:pt x="41135" y="279653"/>
                </a:lnTo>
                <a:lnTo>
                  <a:pt x="42659" y="275843"/>
                </a:lnTo>
                <a:lnTo>
                  <a:pt x="42659" y="330733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59" y="263651"/>
                </a:moveTo>
                <a:lnTo>
                  <a:pt x="42659" y="4571"/>
                </a:lnTo>
                <a:lnTo>
                  <a:pt x="41135" y="1524"/>
                </a:lnTo>
                <a:lnTo>
                  <a:pt x="38100" y="0"/>
                </a:lnTo>
                <a:lnTo>
                  <a:pt x="34289" y="1524"/>
                </a:lnTo>
                <a:lnTo>
                  <a:pt x="33515" y="4571"/>
                </a:lnTo>
                <a:lnTo>
                  <a:pt x="33515" y="263651"/>
                </a:lnTo>
                <a:lnTo>
                  <a:pt x="42659" y="263651"/>
                </a:lnTo>
                <a:close/>
              </a:path>
              <a:path w="76200" h="340360">
                <a:moveTo>
                  <a:pt x="42659" y="330733"/>
                </a:moveTo>
                <a:lnTo>
                  <a:pt x="42659" y="275843"/>
                </a:lnTo>
                <a:lnTo>
                  <a:pt x="41135" y="279653"/>
                </a:lnTo>
                <a:lnTo>
                  <a:pt x="38100" y="281177"/>
                </a:lnTo>
                <a:lnTo>
                  <a:pt x="34289" y="279653"/>
                </a:lnTo>
                <a:lnTo>
                  <a:pt x="33515" y="275843"/>
                </a:lnTo>
                <a:lnTo>
                  <a:pt x="33515" y="330682"/>
                </a:lnTo>
                <a:lnTo>
                  <a:pt x="38100" y="339851"/>
                </a:lnTo>
                <a:lnTo>
                  <a:pt x="42659" y="3307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875669" y="499211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3" y="232410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875669" y="499211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3" y="232410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5205857" y="4983226"/>
            <a:ext cx="6750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sendto()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5511927" y="5229097"/>
            <a:ext cx="76200" cy="539750"/>
          </a:xfrm>
          <a:custGeom>
            <a:avLst/>
            <a:gdLst/>
            <a:ahLst/>
            <a:cxnLst/>
            <a:rect l="l" t="t" r="r" b="b"/>
            <a:pathLst>
              <a:path w="76200" h="539750">
                <a:moveTo>
                  <a:pt x="76200" y="463296"/>
                </a:moveTo>
                <a:lnTo>
                  <a:pt x="0" y="463296"/>
                </a:lnTo>
                <a:lnTo>
                  <a:pt x="33540" y="530377"/>
                </a:lnTo>
                <a:lnTo>
                  <a:pt x="33540" y="476250"/>
                </a:lnTo>
                <a:lnTo>
                  <a:pt x="35064" y="479298"/>
                </a:lnTo>
                <a:lnTo>
                  <a:pt x="38100" y="480822"/>
                </a:lnTo>
                <a:lnTo>
                  <a:pt x="41148" y="479298"/>
                </a:lnTo>
                <a:lnTo>
                  <a:pt x="42672" y="476250"/>
                </a:lnTo>
                <a:lnTo>
                  <a:pt x="42672" y="530351"/>
                </a:lnTo>
                <a:lnTo>
                  <a:pt x="76200" y="463296"/>
                </a:lnTo>
                <a:close/>
              </a:path>
              <a:path w="76200" h="539750">
                <a:moveTo>
                  <a:pt x="42672" y="463296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5064" y="1524"/>
                </a:lnTo>
                <a:lnTo>
                  <a:pt x="33540" y="4572"/>
                </a:lnTo>
                <a:lnTo>
                  <a:pt x="33540" y="463296"/>
                </a:lnTo>
                <a:lnTo>
                  <a:pt x="42672" y="463296"/>
                </a:lnTo>
                <a:close/>
              </a:path>
              <a:path w="76200" h="539750">
                <a:moveTo>
                  <a:pt x="42672" y="530351"/>
                </a:moveTo>
                <a:lnTo>
                  <a:pt x="42672" y="476250"/>
                </a:lnTo>
                <a:lnTo>
                  <a:pt x="41148" y="479298"/>
                </a:lnTo>
                <a:lnTo>
                  <a:pt x="38100" y="480822"/>
                </a:lnTo>
                <a:lnTo>
                  <a:pt x="35064" y="479298"/>
                </a:lnTo>
                <a:lnTo>
                  <a:pt x="33540" y="476250"/>
                </a:lnTo>
                <a:lnTo>
                  <a:pt x="33540" y="530377"/>
                </a:lnTo>
                <a:lnTo>
                  <a:pt x="38100" y="539496"/>
                </a:lnTo>
                <a:lnTo>
                  <a:pt x="42672" y="530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880241" y="5799073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880241" y="5799073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5269103" y="5789421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218810" y="1554225"/>
            <a:ext cx="6578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Server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7515225" y="1876298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515225" y="1876298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7855331" y="1867407"/>
            <a:ext cx="6559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8152269" y="2701544"/>
            <a:ext cx="76200" cy="1632585"/>
          </a:xfrm>
          <a:custGeom>
            <a:avLst/>
            <a:gdLst/>
            <a:ahLst/>
            <a:cxnLst/>
            <a:rect l="l" t="t" r="r" b="b"/>
            <a:pathLst>
              <a:path w="76200" h="1632585">
                <a:moveTo>
                  <a:pt x="76200" y="1556004"/>
                </a:moveTo>
                <a:lnTo>
                  <a:pt x="0" y="1556004"/>
                </a:lnTo>
                <a:lnTo>
                  <a:pt x="32753" y="1621510"/>
                </a:lnTo>
                <a:lnTo>
                  <a:pt x="32753" y="1568196"/>
                </a:lnTo>
                <a:lnTo>
                  <a:pt x="34277" y="1572006"/>
                </a:lnTo>
                <a:lnTo>
                  <a:pt x="38100" y="1573530"/>
                </a:lnTo>
                <a:lnTo>
                  <a:pt x="41148" y="1572006"/>
                </a:lnTo>
                <a:lnTo>
                  <a:pt x="42672" y="1568196"/>
                </a:lnTo>
                <a:lnTo>
                  <a:pt x="42672" y="1623060"/>
                </a:lnTo>
                <a:lnTo>
                  <a:pt x="76200" y="1556004"/>
                </a:lnTo>
                <a:close/>
              </a:path>
              <a:path w="76200" h="1632585">
                <a:moveTo>
                  <a:pt x="42672" y="1556004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77" y="1524"/>
                </a:lnTo>
                <a:lnTo>
                  <a:pt x="32753" y="4572"/>
                </a:lnTo>
                <a:lnTo>
                  <a:pt x="32753" y="1556004"/>
                </a:lnTo>
                <a:lnTo>
                  <a:pt x="42672" y="1556004"/>
                </a:lnTo>
                <a:close/>
              </a:path>
              <a:path w="76200" h="1632585">
                <a:moveTo>
                  <a:pt x="42672" y="1623060"/>
                </a:moveTo>
                <a:lnTo>
                  <a:pt x="42672" y="1568196"/>
                </a:lnTo>
                <a:lnTo>
                  <a:pt x="41148" y="1572006"/>
                </a:lnTo>
                <a:lnTo>
                  <a:pt x="38100" y="1573530"/>
                </a:lnTo>
                <a:lnTo>
                  <a:pt x="34277" y="1572006"/>
                </a:lnTo>
                <a:lnTo>
                  <a:pt x="32753" y="1568196"/>
                </a:lnTo>
                <a:lnTo>
                  <a:pt x="32753" y="1621510"/>
                </a:lnTo>
                <a:lnTo>
                  <a:pt x="38100" y="1632204"/>
                </a:lnTo>
                <a:lnTo>
                  <a:pt x="42672" y="16230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513701" y="439394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7513701" y="439394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7843901" y="4385055"/>
            <a:ext cx="6750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sendto()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8149970" y="4630165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6606"/>
                </a:lnTo>
                <a:lnTo>
                  <a:pt x="35051" y="279654"/>
                </a:lnTo>
                <a:lnTo>
                  <a:pt x="38100" y="281178"/>
                </a:lnTo>
                <a:lnTo>
                  <a:pt x="41922" y="279654"/>
                </a:lnTo>
                <a:lnTo>
                  <a:pt x="43446" y="276606"/>
                </a:lnTo>
                <a:lnTo>
                  <a:pt x="43446" y="329158"/>
                </a:lnTo>
                <a:lnTo>
                  <a:pt x="76200" y="263651"/>
                </a:lnTo>
                <a:close/>
              </a:path>
              <a:path w="76200" h="340360">
                <a:moveTo>
                  <a:pt x="43446" y="263651"/>
                </a:moveTo>
                <a:lnTo>
                  <a:pt x="43446" y="5334"/>
                </a:lnTo>
                <a:lnTo>
                  <a:pt x="41922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7" y="5334"/>
                </a:lnTo>
                <a:lnTo>
                  <a:pt x="33527" y="263651"/>
                </a:lnTo>
                <a:lnTo>
                  <a:pt x="43446" y="263651"/>
                </a:lnTo>
                <a:close/>
              </a:path>
              <a:path w="76200" h="340360">
                <a:moveTo>
                  <a:pt x="43446" y="329158"/>
                </a:moveTo>
                <a:lnTo>
                  <a:pt x="43446" y="276606"/>
                </a:lnTo>
                <a:lnTo>
                  <a:pt x="41922" y="279654"/>
                </a:lnTo>
                <a:lnTo>
                  <a:pt x="38100" y="281178"/>
                </a:lnTo>
                <a:lnTo>
                  <a:pt x="35051" y="279654"/>
                </a:lnTo>
                <a:lnTo>
                  <a:pt x="33527" y="276606"/>
                </a:lnTo>
                <a:lnTo>
                  <a:pt x="33527" y="330707"/>
                </a:lnTo>
                <a:lnTo>
                  <a:pt x="38100" y="339851"/>
                </a:lnTo>
                <a:lnTo>
                  <a:pt x="43446" y="3291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516748" y="5000497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7516748" y="5000497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7767701" y="4991608"/>
            <a:ext cx="8318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recvfrom()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8153793" y="5236717"/>
            <a:ext cx="76200" cy="540385"/>
          </a:xfrm>
          <a:custGeom>
            <a:avLst/>
            <a:gdLst/>
            <a:ahLst/>
            <a:cxnLst/>
            <a:rect l="l" t="t" r="r" b="b"/>
            <a:pathLst>
              <a:path w="76200" h="540385">
                <a:moveTo>
                  <a:pt x="76200" y="464058"/>
                </a:moveTo>
                <a:lnTo>
                  <a:pt x="0" y="464058"/>
                </a:lnTo>
                <a:lnTo>
                  <a:pt x="32753" y="529564"/>
                </a:lnTo>
                <a:lnTo>
                  <a:pt x="32753" y="476250"/>
                </a:lnTo>
                <a:lnTo>
                  <a:pt x="34277" y="480060"/>
                </a:lnTo>
                <a:lnTo>
                  <a:pt x="38100" y="480822"/>
                </a:lnTo>
                <a:lnTo>
                  <a:pt x="41148" y="480060"/>
                </a:lnTo>
                <a:lnTo>
                  <a:pt x="42672" y="476250"/>
                </a:lnTo>
                <a:lnTo>
                  <a:pt x="42672" y="531113"/>
                </a:lnTo>
                <a:lnTo>
                  <a:pt x="76200" y="464058"/>
                </a:lnTo>
                <a:close/>
              </a:path>
              <a:path w="76200" h="540385">
                <a:moveTo>
                  <a:pt x="42672" y="464058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77" y="1524"/>
                </a:lnTo>
                <a:lnTo>
                  <a:pt x="32753" y="4572"/>
                </a:lnTo>
                <a:lnTo>
                  <a:pt x="32753" y="464058"/>
                </a:lnTo>
                <a:lnTo>
                  <a:pt x="42672" y="464058"/>
                </a:lnTo>
                <a:close/>
              </a:path>
              <a:path w="76200" h="540385">
                <a:moveTo>
                  <a:pt x="42672" y="531113"/>
                </a:moveTo>
                <a:lnTo>
                  <a:pt x="42672" y="476250"/>
                </a:lnTo>
                <a:lnTo>
                  <a:pt x="41148" y="480060"/>
                </a:lnTo>
                <a:lnTo>
                  <a:pt x="38100" y="480822"/>
                </a:lnTo>
                <a:lnTo>
                  <a:pt x="34277" y="480060"/>
                </a:lnTo>
                <a:lnTo>
                  <a:pt x="32753" y="476250"/>
                </a:lnTo>
                <a:lnTo>
                  <a:pt x="32753" y="529564"/>
                </a:lnTo>
                <a:lnTo>
                  <a:pt x="38100" y="540258"/>
                </a:lnTo>
                <a:lnTo>
                  <a:pt x="42672" y="531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522095" y="5806694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521333" y="5806694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40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7910956" y="5797803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7884286" y="1560322"/>
            <a:ext cx="5899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Client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6209169" y="4446523"/>
            <a:ext cx="1317625" cy="76200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76200" y="32765"/>
                </a:move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58674" y="38100"/>
                </a:lnTo>
                <a:lnTo>
                  <a:pt x="59436" y="34289"/>
                </a:lnTo>
                <a:lnTo>
                  <a:pt x="63246" y="32765"/>
                </a:lnTo>
                <a:lnTo>
                  <a:pt x="76200" y="32765"/>
                </a:lnTo>
                <a:close/>
              </a:path>
              <a:path w="1317625" h="76200">
                <a:moveTo>
                  <a:pt x="1317498" y="38100"/>
                </a:moveTo>
                <a:lnTo>
                  <a:pt x="1315974" y="34289"/>
                </a:lnTo>
                <a:lnTo>
                  <a:pt x="1312164" y="32765"/>
                </a:lnTo>
                <a:lnTo>
                  <a:pt x="63246" y="32765"/>
                </a:lnTo>
                <a:lnTo>
                  <a:pt x="59436" y="34289"/>
                </a:lnTo>
                <a:lnTo>
                  <a:pt x="58674" y="38100"/>
                </a:lnTo>
                <a:lnTo>
                  <a:pt x="59436" y="41148"/>
                </a:lnTo>
                <a:lnTo>
                  <a:pt x="63246" y="42672"/>
                </a:lnTo>
                <a:lnTo>
                  <a:pt x="1312164" y="42672"/>
                </a:lnTo>
                <a:lnTo>
                  <a:pt x="1315974" y="41148"/>
                </a:lnTo>
                <a:lnTo>
                  <a:pt x="1317498" y="38100"/>
                </a:lnTo>
                <a:close/>
              </a:path>
              <a:path w="1317625" h="76200">
                <a:moveTo>
                  <a:pt x="76200" y="76200"/>
                </a:moveTo>
                <a:lnTo>
                  <a:pt x="76200" y="42672"/>
                </a:lnTo>
                <a:lnTo>
                  <a:pt x="63246" y="42672"/>
                </a:lnTo>
                <a:lnTo>
                  <a:pt x="59436" y="41148"/>
                </a:lnTo>
                <a:lnTo>
                  <a:pt x="58674" y="38100"/>
                </a:lnTo>
                <a:lnTo>
                  <a:pt x="58674" y="67437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6197727" y="5072126"/>
            <a:ext cx="1317625" cy="76200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1266456" y="38100"/>
                </a:moveTo>
                <a:lnTo>
                  <a:pt x="1262934" y="32765"/>
                </a:lnTo>
                <a:lnTo>
                  <a:pt x="4572" y="32765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1263437" y="42672"/>
                </a:lnTo>
                <a:lnTo>
                  <a:pt x="1266456" y="38100"/>
                </a:lnTo>
                <a:close/>
              </a:path>
              <a:path w="1317625" h="76200">
                <a:moveTo>
                  <a:pt x="1317498" y="38100"/>
                </a:moveTo>
                <a:lnTo>
                  <a:pt x="1241298" y="0"/>
                </a:lnTo>
                <a:lnTo>
                  <a:pt x="1262934" y="32765"/>
                </a:lnTo>
                <a:lnTo>
                  <a:pt x="1266456" y="32765"/>
                </a:lnTo>
                <a:lnTo>
                  <a:pt x="1270266" y="34289"/>
                </a:lnTo>
                <a:lnTo>
                  <a:pt x="1271790" y="38100"/>
                </a:lnTo>
                <a:lnTo>
                  <a:pt x="1271790" y="60953"/>
                </a:lnTo>
                <a:lnTo>
                  <a:pt x="1317498" y="38100"/>
                </a:lnTo>
                <a:close/>
              </a:path>
              <a:path w="1317625" h="76200">
                <a:moveTo>
                  <a:pt x="1271790" y="60953"/>
                </a:moveTo>
                <a:lnTo>
                  <a:pt x="1271790" y="38100"/>
                </a:lnTo>
                <a:lnTo>
                  <a:pt x="1270266" y="41148"/>
                </a:lnTo>
                <a:lnTo>
                  <a:pt x="1266456" y="42672"/>
                </a:lnTo>
                <a:lnTo>
                  <a:pt x="1263437" y="42672"/>
                </a:lnTo>
                <a:lnTo>
                  <a:pt x="1241298" y="76200"/>
                </a:lnTo>
                <a:lnTo>
                  <a:pt x="1271790" y="60953"/>
                </a:lnTo>
                <a:close/>
              </a:path>
              <a:path w="1317625" h="76200">
                <a:moveTo>
                  <a:pt x="1271790" y="38100"/>
                </a:moveTo>
                <a:lnTo>
                  <a:pt x="1270266" y="34289"/>
                </a:lnTo>
                <a:lnTo>
                  <a:pt x="1266456" y="32765"/>
                </a:lnTo>
                <a:lnTo>
                  <a:pt x="1262934" y="32765"/>
                </a:lnTo>
                <a:lnTo>
                  <a:pt x="1266456" y="38100"/>
                </a:lnTo>
                <a:lnTo>
                  <a:pt x="1266456" y="42672"/>
                </a:lnTo>
                <a:lnTo>
                  <a:pt x="1270266" y="41148"/>
                </a:lnTo>
                <a:lnTo>
                  <a:pt x="1271790" y="38100"/>
                </a:lnTo>
                <a:close/>
              </a:path>
              <a:path w="1317625" h="76200">
                <a:moveTo>
                  <a:pt x="1266456" y="42672"/>
                </a:moveTo>
                <a:lnTo>
                  <a:pt x="1266456" y="38100"/>
                </a:lnTo>
                <a:lnTo>
                  <a:pt x="1263437" y="42672"/>
                </a:lnTo>
                <a:lnTo>
                  <a:pt x="1266456" y="426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592967" y="4474717"/>
            <a:ext cx="219075" cy="665480"/>
          </a:xfrm>
          <a:custGeom>
            <a:avLst/>
            <a:gdLst/>
            <a:ahLst/>
            <a:cxnLst/>
            <a:rect l="l" t="t" r="r" b="b"/>
            <a:pathLst>
              <a:path w="219075" h="665479">
                <a:moveTo>
                  <a:pt x="168344" y="39486"/>
                </a:moveTo>
                <a:lnTo>
                  <a:pt x="167639" y="34290"/>
                </a:lnTo>
                <a:lnTo>
                  <a:pt x="161938" y="32815"/>
                </a:lnTo>
                <a:lnTo>
                  <a:pt x="145541" y="47244"/>
                </a:lnTo>
                <a:lnTo>
                  <a:pt x="110489" y="82296"/>
                </a:lnTo>
                <a:lnTo>
                  <a:pt x="77724" y="117348"/>
                </a:lnTo>
                <a:lnTo>
                  <a:pt x="49444" y="153066"/>
                </a:lnTo>
                <a:lnTo>
                  <a:pt x="16859" y="209638"/>
                </a:lnTo>
                <a:lnTo>
                  <a:pt x="481" y="270774"/>
                </a:lnTo>
                <a:lnTo>
                  <a:pt x="0" y="302514"/>
                </a:lnTo>
                <a:lnTo>
                  <a:pt x="7214" y="344435"/>
                </a:lnTo>
                <a:lnTo>
                  <a:pt x="9143" y="350051"/>
                </a:lnTo>
                <a:lnTo>
                  <a:pt x="9143" y="301752"/>
                </a:lnTo>
                <a:lnTo>
                  <a:pt x="10822" y="264344"/>
                </a:lnTo>
                <a:lnTo>
                  <a:pt x="31925" y="200017"/>
                </a:lnTo>
                <a:lnTo>
                  <a:pt x="66236" y="146265"/>
                </a:lnTo>
                <a:lnTo>
                  <a:pt x="98396" y="107973"/>
                </a:lnTo>
                <a:lnTo>
                  <a:pt x="134112" y="71628"/>
                </a:lnTo>
                <a:lnTo>
                  <a:pt x="152400" y="54102"/>
                </a:lnTo>
                <a:lnTo>
                  <a:pt x="168344" y="39486"/>
                </a:lnTo>
                <a:close/>
              </a:path>
              <a:path w="219075" h="665479">
                <a:moveTo>
                  <a:pt x="218693" y="661416"/>
                </a:moveTo>
                <a:lnTo>
                  <a:pt x="217931" y="657606"/>
                </a:lnTo>
                <a:lnTo>
                  <a:pt x="198119" y="633222"/>
                </a:lnTo>
                <a:lnTo>
                  <a:pt x="160019" y="584454"/>
                </a:lnTo>
                <a:lnTo>
                  <a:pt x="135155" y="553062"/>
                </a:lnTo>
                <a:lnTo>
                  <a:pt x="111294" y="520879"/>
                </a:lnTo>
                <a:lnTo>
                  <a:pt x="88555" y="487908"/>
                </a:lnTo>
                <a:lnTo>
                  <a:pt x="67055" y="454152"/>
                </a:lnTo>
                <a:lnTo>
                  <a:pt x="46750" y="417832"/>
                </a:lnTo>
                <a:lnTo>
                  <a:pt x="29532" y="381061"/>
                </a:lnTo>
                <a:lnTo>
                  <a:pt x="16597" y="342736"/>
                </a:lnTo>
                <a:lnTo>
                  <a:pt x="9143" y="301752"/>
                </a:lnTo>
                <a:lnTo>
                  <a:pt x="9143" y="350051"/>
                </a:lnTo>
                <a:lnTo>
                  <a:pt x="21986" y="387434"/>
                </a:lnTo>
                <a:lnTo>
                  <a:pt x="42807" y="430857"/>
                </a:lnTo>
                <a:lnTo>
                  <a:pt x="68169" y="474050"/>
                </a:lnTo>
                <a:lnTo>
                  <a:pt x="96563" y="516361"/>
                </a:lnTo>
                <a:lnTo>
                  <a:pt x="126483" y="557134"/>
                </a:lnTo>
                <a:lnTo>
                  <a:pt x="156420" y="595718"/>
                </a:lnTo>
                <a:lnTo>
                  <a:pt x="210312" y="663702"/>
                </a:lnTo>
                <a:lnTo>
                  <a:pt x="213360" y="665226"/>
                </a:lnTo>
                <a:lnTo>
                  <a:pt x="217169" y="664464"/>
                </a:lnTo>
                <a:lnTo>
                  <a:pt x="218693" y="661416"/>
                </a:lnTo>
                <a:close/>
              </a:path>
              <a:path w="219075" h="665479">
                <a:moveTo>
                  <a:pt x="204977" y="0"/>
                </a:moveTo>
                <a:lnTo>
                  <a:pt x="123443" y="22860"/>
                </a:lnTo>
                <a:lnTo>
                  <a:pt x="161938" y="32815"/>
                </a:lnTo>
                <a:lnTo>
                  <a:pt x="164591" y="30480"/>
                </a:lnTo>
                <a:lnTo>
                  <a:pt x="167639" y="28956"/>
                </a:lnTo>
                <a:lnTo>
                  <a:pt x="170687" y="30480"/>
                </a:lnTo>
                <a:lnTo>
                  <a:pt x="172212" y="34290"/>
                </a:lnTo>
                <a:lnTo>
                  <a:pt x="172212" y="68008"/>
                </a:lnTo>
                <a:lnTo>
                  <a:pt x="173736" y="79248"/>
                </a:lnTo>
                <a:lnTo>
                  <a:pt x="204977" y="0"/>
                </a:lnTo>
                <a:close/>
              </a:path>
              <a:path w="219075" h="665479">
                <a:moveTo>
                  <a:pt x="172212" y="34290"/>
                </a:moveTo>
                <a:lnTo>
                  <a:pt x="170687" y="30480"/>
                </a:lnTo>
                <a:lnTo>
                  <a:pt x="167639" y="28956"/>
                </a:lnTo>
                <a:lnTo>
                  <a:pt x="164591" y="30480"/>
                </a:lnTo>
                <a:lnTo>
                  <a:pt x="161938" y="32815"/>
                </a:lnTo>
                <a:lnTo>
                  <a:pt x="167639" y="34290"/>
                </a:lnTo>
                <a:lnTo>
                  <a:pt x="168344" y="39486"/>
                </a:lnTo>
                <a:lnTo>
                  <a:pt x="170687" y="37337"/>
                </a:lnTo>
                <a:lnTo>
                  <a:pt x="172212" y="34290"/>
                </a:lnTo>
                <a:close/>
              </a:path>
              <a:path w="219075" h="665479">
                <a:moveTo>
                  <a:pt x="172212" y="68008"/>
                </a:moveTo>
                <a:lnTo>
                  <a:pt x="172212" y="34290"/>
                </a:lnTo>
                <a:lnTo>
                  <a:pt x="170687" y="37337"/>
                </a:lnTo>
                <a:lnTo>
                  <a:pt x="168344" y="39486"/>
                </a:lnTo>
                <a:lnTo>
                  <a:pt x="172212" y="680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8870822" y="4490720"/>
            <a:ext cx="236854" cy="665480"/>
          </a:xfrm>
          <a:custGeom>
            <a:avLst/>
            <a:gdLst/>
            <a:ahLst/>
            <a:cxnLst/>
            <a:rect l="l" t="t" r="r" b="b"/>
            <a:pathLst>
              <a:path w="236854" h="665479">
                <a:moveTo>
                  <a:pt x="79248" y="32003"/>
                </a:moveTo>
                <a:lnTo>
                  <a:pt x="0" y="0"/>
                </a:lnTo>
                <a:lnTo>
                  <a:pt x="22098" y="82295"/>
                </a:lnTo>
                <a:lnTo>
                  <a:pt x="28968" y="57415"/>
                </a:lnTo>
                <a:lnTo>
                  <a:pt x="28968" y="38100"/>
                </a:lnTo>
                <a:lnTo>
                  <a:pt x="30492" y="34289"/>
                </a:lnTo>
                <a:lnTo>
                  <a:pt x="34302" y="33527"/>
                </a:lnTo>
                <a:lnTo>
                  <a:pt x="37350" y="35051"/>
                </a:lnTo>
                <a:lnTo>
                  <a:pt x="39400" y="37408"/>
                </a:lnTo>
                <a:lnTo>
                  <a:pt x="79248" y="32003"/>
                </a:lnTo>
                <a:close/>
              </a:path>
              <a:path w="236854" h="665479">
                <a:moveTo>
                  <a:pt x="227075" y="427697"/>
                </a:moveTo>
                <a:lnTo>
                  <a:pt x="227075" y="369569"/>
                </a:lnTo>
                <a:lnTo>
                  <a:pt x="223702" y="405332"/>
                </a:lnTo>
                <a:lnTo>
                  <a:pt x="212450" y="439821"/>
                </a:lnTo>
                <a:lnTo>
                  <a:pt x="174498" y="501395"/>
                </a:lnTo>
                <a:lnTo>
                  <a:pt x="143122" y="538110"/>
                </a:lnTo>
                <a:lnTo>
                  <a:pt x="89153" y="589026"/>
                </a:lnTo>
                <a:lnTo>
                  <a:pt x="48780" y="623315"/>
                </a:lnTo>
                <a:lnTo>
                  <a:pt x="6870" y="656843"/>
                </a:lnTo>
                <a:lnTo>
                  <a:pt x="5346" y="659891"/>
                </a:lnTo>
                <a:lnTo>
                  <a:pt x="6108" y="663701"/>
                </a:lnTo>
                <a:lnTo>
                  <a:pt x="9156" y="665226"/>
                </a:lnTo>
                <a:lnTo>
                  <a:pt x="12953" y="664463"/>
                </a:lnTo>
                <a:lnTo>
                  <a:pt x="75450" y="613409"/>
                </a:lnTo>
                <a:lnTo>
                  <a:pt x="116436" y="577275"/>
                </a:lnTo>
                <a:lnTo>
                  <a:pt x="156400" y="537558"/>
                </a:lnTo>
                <a:lnTo>
                  <a:pt x="196445" y="488125"/>
                </a:lnTo>
                <a:lnTo>
                  <a:pt x="214572" y="457490"/>
                </a:lnTo>
                <a:lnTo>
                  <a:pt x="227075" y="427697"/>
                </a:lnTo>
                <a:close/>
              </a:path>
              <a:path w="236854" h="665479">
                <a:moveTo>
                  <a:pt x="39400" y="37408"/>
                </a:moveTo>
                <a:lnTo>
                  <a:pt x="37350" y="35051"/>
                </a:lnTo>
                <a:lnTo>
                  <a:pt x="34302" y="33527"/>
                </a:lnTo>
                <a:lnTo>
                  <a:pt x="30492" y="34289"/>
                </a:lnTo>
                <a:lnTo>
                  <a:pt x="28968" y="38100"/>
                </a:lnTo>
                <a:lnTo>
                  <a:pt x="30492" y="41147"/>
                </a:lnTo>
                <a:lnTo>
                  <a:pt x="32736" y="43769"/>
                </a:lnTo>
                <a:lnTo>
                  <a:pt x="34302" y="38100"/>
                </a:lnTo>
                <a:lnTo>
                  <a:pt x="39400" y="37408"/>
                </a:lnTo>
                <a:close/>
              </a:path>
              <a:path w="236854" h="665479">
                <a:moveTo>
                  <a:pt x="32736" y="43769"/>
                </a:moveTo>
                <a:lnTo>
                  <a:pt x="30492" y="41147"/>
                </a:lnTo>
                <a:lnTo>
                  <a:pt x="28968" y="38100"/>
                </a:lnTo>
                <a:lnTo>
                  <a:pt x="28968" y="57415"/>
                </a:lnTo>
                <a:lnTo>
                  <a:pt x="32736" y="43769"/>
                </a:lnTo>
                <a:close/>
              </a:path>
              <a:path w="236854" h="665479">
                <a:moveTo>
                  <a:pt x="236232" y="390143"/>
                </a:moveTo>
                <a:lnTo>
                  <a:pt x="235599" y="348397"/>
                </a:lnTo>
                <a:lnTo>
                  <a:pt x="225243" y="305446"/>
                </a:lnTo>
                <a:lnTo>
                  <a:pt x="207031" y="262051"/>
                </a:lnTo>
                <a:lnTo>
                  <a:pt x="182829" y="218976"/>
                </a:lnTo>
                <a:lnTo>
                  <a:pt x="154507" y="176981"/>
                </a:lnTo>
                <a:lnTo>
                  <a:pt x="123930" y="136829"/>
                </a:lnTo>
                <a:lnTo>
                  <a:pt x="92967" y="99282"/>
                </a:lnTo>
                <a:lnTo>
                  <a:pt x="39400" y="37408"/>
                </a:lnTo>
                <a:lnTo>
                  <a:pt x="34302" y="38100"/>
                </a:lnTo>
                <a:lnTo>
                  <a:pt x="32736" y="43769"/>
                </a:lnTo>
                <a:lnTo>
                  <a:pt x="39624" y="51815"/>
                </a:lnTo>
                <a:lnTo>
                  <a:pt x="60972" y="76200"/>
                </a:lnTo>
                <a:lnTo>
                  <a:pt x="101358" y="124205"/>
                </a:lnTo>
                <a:lnTo>
                  <a:pt x="135724" y="167836"/>
                </a:lnTo>
                <a:lnTo>
                  <a:pt x="164398" y="208381"/>
                </a:lnTo>
                <a:lnTo>
                  <a:pt x="196179" y="262136"/>
                </a:lnTo>
                <a:lnTo>
                  <a:pt x="223019" y="332473"/>
                </a:lnTo>
                <a:lnTo>
                  <a:pt x="227075" y="369569"/>
                </a:lnTo>
                <a:lnTo>
                  <a:pt x="227075" y="427697"/>
                </a:lnTo>
                <a:lnTo>
                  <a:pt x="228290" y="424804"/>
                </a:lnTo>
                <a:lnTo>
                  <a:pt x="236232" y="3901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 txBox="1"/>
          <p:nvPr/>
        </p:nvSpPr>
        <p:spPr>
          <a:xfrm>
            <a:off x="6235331" y="1164844"/>
            <a:ext cx="1118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Datagram  (e.g.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UDP)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7522095" y="2452370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7521333" y="2452370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40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 txBox="1"/>
          <p:nvPr/>
        </p:nvSpPr>
        <p:spPr>
          <a:xfrm>
            <a:off x="7950581" y="2443480"/>
            <a:ext cx="4787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bind()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8142351" y="2109470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2"/>
                </a:moveTo>
                <a:lnTo>
                  <a:pt x="0" y="263652"/>
                </a:lnTo>
                <a:lnTo>
                  <a:pt x="33540" y="330733"/>
                </a:lnTo>
                <a:lnTo>
                  <a:pt x="33540" y="276606"/>
                </a:lnTo>
                <a:lnTo>
                  <a:pt x="35064" y="279654"/>
                </a:lnTo>
                <a:lnTo>
                  <a:pt x="38100" y="281178"/>
                </a:lnTo>
                <a:lnTo>
                  <a:pt x="41922" y="279654"/>
                </a:lnTo>
                <a:lnTo>
                  <a:pt x="42672" y="276606"/>
                </a:lnTo>
                <a:lnTo>
                  <a:pt x="42672" y="330708"/>
                </a:lnTo>
                <a:lnTo>
                  <a:pt x="76200" y="263652"/>
                </a:lnTo>
                <a:close/>
              </a:path>
              <a:path w="76200" h="340360">
                <a:moveTo>
                  <a:pt x="42672" y="263652"/>
                </a:moveTo>
                <a:lnTo>
                  <a:pt x="42672" y="4572"/>
                </a:lnTo>
                <a:lnTo>
                  <a:pt x="41922" y="1524"/>
                </a:lnTo>
                <a:lnTo>
                  <a:pt x="38100" y="0"/>
                </a:lnTo>
                <a:lnTo>
                  <a:pt x="35064" y="1524"/>
                </a:lnTo>
                <a:lnTo>
                  <a:pt x="33540" y="4572"/>
                </a:lnTo>
                <a:lnTo>
                  <a:pt x="33540" y="263652"/>
                </a:lnTo>
                <a:lnTo>
                  <a:pt x="42672" y="263652"/>
                </a:lnTo>
                <a:close/>
              </a:path>
              <a:path w="76200" h="340360">
                <a:moveTo>
                  <a:pt x="42672" y="330708"/>
                </a:moveTo>
                <a:lnTo>
                  <a:pt x="42672" y="276606"/>
                </a:lnTo>
                <a:lnTo>
                  <a:pt x="41922" y="279654"/>
                </a:lnTo>
                <a:lnTo>
                  <a:pt x="38100" y="281178"/>
                </a:lnTo>
                <a:lnTo>
                  <a:pt x="35064" y="279654"/>
                </a:lnTo>
                <a:lnTo>
                  <a:pt x="33540" y="276606"/>
                </a:lnTo>
                <a:lnTo>
                  <a:pt x="33540" y="330733"/>
                </a:lnTo>
                <a:lnTo>
                  <a:pt x="38100" y="339852"/>
                </a:lnTo>
                <a:lnTo>
                  <a:pt x="42672" y="3307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70191" y="2405126"/>
            <a:ext cx="8082280" cy="336550"/>
          </a:xfrm>
          <a:custGeom>
            <a:avLst/>
            <a:gdLst/>
            <a:ahLst/>
            <a:cxnLst/>
            <a:rect l="l" t="t" r="r" b="b"/>
            <a:pathLst>
              <a:path w="8082280" h="336550">
                <a:moveTo>
                  <a:pt x="8081759" y="280416"/>
                </a:moveTo>
                <a:lnTo>
                  <a:pt x="8081759" y="55625"/>
                </a:lnTo>
                <a:lnTo>
                  <a:pt x="8077344" y="34075"/>
                </a:lnTo>
                <a:lnTo>
                  <a:pt x="8065287" y="16383"/>
                </a:lnTo>
                <a:lnTo>
                  <a:pt x="8047372" y="4405"/>
                </a:lnTo>
                <a:lnTo>
                  <a:pt x="8025384" y="0"/>
                </a:lnTo>
                <a:lnTo>
                  <a:pt x="55625" y="0"/>
                </a:lnTo>
                <a:lnTo>
                  <a:pt x="34075" y="4405"/>
                </a:lnTo>
                <a:lnTo>
                  <a:pt x="16382" y="16383"/>
                </a:lnTo>
                <a:lnTo>
                  <a:pt x="4405" y="34075"/>
                </a:lnTo>
                <a:lnTo>
                  <a:pt x="0" y="55626"/>
                </a:lnTo>
                <a:lnTo>
                  <a:pt x="0" y="280416"/>
                </a:lnTo>
                <a:lnTo>
                  <a:pt x="4405" y="301966"/>
                </a:lnTo>
                <a:lnTo>
                  <a:pt x="16382" y="319659"/>
                </a:lnTo>
                <a:lnTo>
                  <a:pt x="34075" y="331636"/>
                </a:lnTo>
                <a:lnTo>
                  <a:pt x="55625" y="336042"/>
                </a:lnTo>
                <a:lnTo>
                  <a:pt x="8025384" y="336042"/>
                </a:lnTo>
                <a:lnTo>
                  <a:pt x="8047372" y="331636"/>
                </a:lnTo>
                <a:lnTo>
                  <a:pt x="8065287" y="319658"/>
                </a:lnTo>
                <a:lnTo>
                  <a:pt x="8077344" y="301966"/>
                </a:lnTo>
                <a:lnTo>
                  <a:pt x="8081759" y="280416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8469" y="261873"/>
            <a:ext cx="720217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50" dirty="0"/>
              <a:t>Establish </a:t>
            </a:r>
            <a:r>
              <a:rPr sz="4200" spc="-245" dirty="0"/>
              <a:t>Connection:</a:t>
            </a:r>
            <a:r>
              <a:rPr sz="4200" spc="-425" dirty="0"/>
              <a:t> </a:t>
            </a:r>
            <a:r>
              <a:rPr sz="3600" spc="-5" dirty="0">
                <a:latin typeface="Courier New"/>
                <a:cs typeface="Courier New"/>
              </a:rPr>
              <a:t>connect()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1453" y="1250949"/>
            <a:ext cx="8293100" cy="52245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600"/>
              </a:lnSpc>
              <a:spcBef>
                <a:spcPts val="10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spc="-70" dirty="0">
                <a:latin typeface="Arial"/>
                <a:cs typeface="Arial"/>
              </a:rPr>
              <a:t>The </a:t>
            </a:r>
            <a:r>
              <a:rPr sz="2800" spc="10" dirty="0">
                <a:latin typeface="Arial"/>
                <a:cs typeface="Arial"/>
              </a:rPr>
              <a:t>client </a:t>
            </a:r>
            <a:r>
              <a:rPr sz="2800" spc="-120" dirty="0">
                <a:latin typeface="Arial"/>
                <a:cs typeface="Arial"/>
              </a:rPr>
              <a:t>establishes </a:t>
            </a:r>
            <a:r>
              <a:rPr sz="2800" spc="-250" dirty="0">
                <a:latin typeface="Arial"/>
                <a:cs typeface="Arial"/>
              </a:rPr>
              <a:t>a </a:t>
            </a:r>
            <a:r>
              <a:rPr sz="2800" spc="-40" dirty="0">
                <a:latin typeface="Arial"/>
                <a:cs typeface="Arial"/>
              </a:rPr>
              <a:t>connection </a:t>
            </a:r>
            <a:r>
              <a:rPr sz="2800" spc="95" dirty="0">
                <a:latin typeface="Arial"/>
                <a:cs typeface="Arial"/>
              </a:rPr>
              <a:t>with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-90" dirty="0">
                <a:latin typeface="Arial"/>
                <a:cs typeface="Arial"/>
              </a:rPr>
              <a:t>server </a:t>
            </a:r>
            <a:r>
              <a:rPr sz="2800" spc="-20" dirty="0">
                <a:latin typeface="Arial"/>
                <a:cs typeface="Arial"/>
              </a:rPr>
              <a:t>by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calling</a:t>
            </a:r>
            <a:endParaRPr sz="2800" dirty="0">
              <a:latin typeface="Arial"/>
              <a:cs typeface="Arial"/>
            </a:endParaRPr>
          </a:p>
          <a:p>
            <a:pPr marL="355600">
              <a:lnSpc>
                <a:spcPts val="2600"/>
              </a:lnSpc>
            </a:pPr>
            <a:r>
              <a:rPr sz="2800" dirty="0">
                <a:latin typeface="Courier New"/>
                <a:cs typeface="Courier New"/>
              </a:rPr>
              <a:t>connect()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9A6500"/>
              </a:buClr>
              <a:buSzPct val="65000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b="1" u="sng" spc="-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int status = connect(</a:t>
            </a:r>
            <a:r>
              <a:rPr sz="2800" b="1" u="sng" spc="-5" dirty="0">
                <a:solidFill>
                  <a:srgbClr val="9A65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sockid</a:t>
            </a:r>
            <a:r>
              <a:rPr sz="2800" b="1" u="sng" spc="-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 &amp;</a:t>
            </a:r>
            <a:r>
              <a:rPr sz="2800" b="1" u="sng" spc="-5" dirty="0">
                <a:solidFill>
                  <a:srgbClr val="CC9A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foreignAddr</a:t>
            </a:r>
            <a:r>
              <a:rPr sz="2800" b="1" u="sng" spc="-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</a:t>
            </a:r>
            <a:r>
              <a:rPr sz="2800" b="1" u="sng" spc="9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800" b="1" u="sng" spc="-5" dirty="0">
                <a:solidFill>
                  <a:srgbClr val="A50021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addrlen</a:t>
            </a:r>
            <a:r>
              <a:rPr sz="2800" b="1" u="sng" spc="-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);</a:t>
            </a:r>
            <a:endParaRPr sz="2800" dirty="0">
              <a:latin typeface="Courier New"/>
              <a:cs typeface="Courier New"/>
            </a:endParaRPr>
          </a:p>
          <a:p>
            <a:pPr marL="681990" lvl="1" indent="-325120">
              <a:lnSpc>
                <a:spcPct val="100000"/>
              </a:lnSpc>
              <a:spcBef>
                <a:spcPts val="550"/>
              </a:spcBef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160" dirty="0">
                <a:solidFill>
                  <a:srgbClr val="9A6500"/>
                </a:solidFill>
                <a:latin typeface="Arial"/>
                <a:cs typeface="Arial"/>
              </a:rPr>
              <a:t>sockid</a:t>
            </a:r>
            <a:r>
              <a:rPr sz="2800" spc="-160" dirty="0">
                <a:latin typeface="Arial"/>
                <a:cs typeface="Arial"/>
              </a:rPr>
              <a:t>: </a:t>
            </a:r>
            <a:r>
              <a:rPr sz="2800" spc="-40" dirty="0">
                <a:latin typeface="Arial"/>
                <a:cs typeface="Arial"/>
              </a:rPr>
              <a:t>integer, </a:t>
            </a:r>
            <a:r>
              <a:rPr sz="2800" spc="-90" dirty="0">
                <a:latin typeface="Arial"/>
                <a:cs typeface="Arial"/>
              </a:rPr>
              <a:t>socket </a:t>
            </a:r>
            <a:r>
              <a:rPr sz="2800" dirty="0">
                <a:latin typeface="Arial"/>
                <a:cs typeface="Arial"/>
              </a:rPr>
              <a:t>to </a:t>
            </a:r>
            <a:r>
              <a:rPr sz="2800" spc="-130" dirty="0">
                <a:latin typeface="Arial"/>
                <a:cs typeface="Arial"/>
              </a:rPr>
              <a:t>be </a:t>
            </a:r>
            <a:r>
              <a:rPr sz="2800" spc="-145" dirty="0">
                <a:latin typeface="Arial"/>
                <a:cs typeface="Arial"/>
              </a:rPr>
              <a:t>used </a:t>
            </a:r>
            <a:r>
              <a:rPr sz="2800" spc="65" dirty="0">
                <a:latin typeface="Arial"/>
                <a:cs typeface="Arial"/>
              </a:rPr>
              <a:t>in</a:t>
            </a:r>
            <a:r>
              <a:rPr sz="2800" spc="145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connection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105" dirty="0">
                <a:solidFill>
                  <a:srgbClr val="CC9A00"/>
                </a:solidFill>
                <a:latin typeface="Arial"/>
                <a:cs typeface="Arial"/>
              </a:rPr>
              <a:t>foreignAddr</a:t>
            </a:r>
            <a:r>
              <a:rPr sz="2800" spc="-105" dirty="0">
                <a:latin typeface="Arial"/>
                <a:cs typeface="Arial"/>
              </a:rPr>
              <a:t>: </a:t>
            </a:r>
            <a:r>
              <a:rPr sz="2800" spc="-20" dirty="0">
                <a:latin typeface="Arial"/>
                <a:cs typeface="Arial"/>
              </a:rPr>
              <a:t>struct </a:t>
            </a:r>
            <a:r>
              <a:rPr sz="2800" spc="-85" dirty="0">
                <a:latin typeface="Arial"/>
                <a:cs typeface="Arial"/>
              </a:rPr>
              <a:t>sockaddr: </a:t>
            </a:r>
            <a:r>
              <a:rPr sz="2800" spc="-145" dirty="0">
                <a:latin typeface="Arial"/>
                <a:cs typeface="Arial"/>
              </a:rPr>
              <a:t>address </a:t>
            </a:r>
            <a:r>
              <a:rPr sz="2800" spc="-10" dirty="0">
                <a:latin typeface="Arial"/>
                <a:cs typeface="Arial"/>
              </a:rPr>
              <a:t>of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-135" dirty="0">
                <a:latin typeface="Arial"/>
                <a:cs typeface="Arial"/>
              </a:rPr>
              <a:t>passive</a:t>
            </a:r>
            <a:r>
              <a:rPr sz="2800" spc="-15" dirty="0">
                <a:latin typeface="Arial"/>
                <a:cs typeface="Arial"/>
              </a:rPr>
              <a:t> participant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114" dirty="0">
                <a:solidFill>
                  <a:srgbClr val="A50021"/>
                </a:solidFill>
                <a:latin typeface="Arial"/>
                <a:cs typeface="Arial"/>
              </a:rPr>
              <a:t>addrlen</a:t>
            </a:r>
            <a:r>
              <a:rPr sz="2800" spc="-114" dirty="0">
                <a:latin typeface="Arial"/>
                <a:cs typeface="Arial"/>
              </a:rPr>
              <a:t>: </a:t>
            </a:r>
            <a:r>
              <a:rPr sz="2800" spc="-40" dirty="0">
                <a:latin typeface="Arial"/>
                <a:cs typeface="Arial"/>
              </a:rPr>
              <a:t>integer,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sizeof(name)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100" dirty="0">
                <a:latin typeface="Arial"/>
                <a:cs typeface="Arial"/>
              </a:rPr>
              <a:t>status: </a:t>
            </a:r>
            <a:r>
              <a:rPr sz="2800" spc="-114" dirty="0">
                <a:latin typeface="Arial"/>
                <a:cs typeface="Arial"/>
              </a:rPr>
              <a:t>0 </a:t>
            </a:r>
            <a:r>
              <a:rPr sz="2800" spc="95" dirty="0">
                <a:latin typeface="Arial"/>
                <a:cs typeface="Arial"/>
              </a:rPr>
              <a:t>if </a:t>
            </a:r>
            <a:r>
              <a:rPr sz="2800" spc="-114" dirty="0">
                <a:latin typeface="Arial"/>
                <a:cs typeface="Arial"/>
              </a:rPr>
              <a:t>successful </a:t>
            </a:r>
            <a:r>
              <a:rPr sz="2800" spc="-55" dirty="0">
                <a:latin typeface="Arial"/>
                <a:cs typeface="Arial"/>
              </a:rPr>
              <a:t>connect, </a:t>
            </a:r>
            <a:r>
              <a:rPr sz="2800" spc="-15" dirty="0">
                <a:latin typeface="Arial"/>
                <a:cs typeface="Arial"/>
              </a:rPr>
              <a:t>-1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otherwise</a:t>
            </a:r>
            <a:endParaRPr sz="2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dirty="0">
                <a:latin typeface="Courier New"/>
                <a:cs typeface="Courier New"/>
              </a:rPr>
              <a:t>connect()</a:t>
            </a:r>
            <a:r>
              <a:rPr sz="2800" spc="-755" dirty="0">
                <a:latin typeface="Courier New"/>
                <a:cs typeface="Courier New"/>
              </a:rPr>
              <a:t> </a:t>
            </a:r>
            <a:r>
              <a:rPr sz="2800" spc="-90" dirty="0">
                <a:latin typeface="Arial"/>
                <a:cs typeface="Arial"/>
              </a:rPr>
              <a:t>is </a:t>
            </a:r>
            <a:r>
              <a:rPr sz="2800" b="1" spc="-140" dirty="0">
                <a:latin typeface="Arial"/>
                <a:cs typeface="Arial"/>
              </a:rPr>
              <a:t>blocking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0859" y="2037842"/>
            <a:ext cx="7945755" cy="337185"/>
          </a:xfrm>
          <a:custGeom>
            <a:avLst/>
            <a:gdLst/>
            <a:ahLst/>
            <a:cxnLst/>
            <a:rect l="l" t="t" r="r" b="b"/>
            <a:pathLst>
              <a:path w="7945755" h="337185">
                <a:moveTo>
                  <a:pt x="7945361" y="280416"/>
                </a:moveTo>
                <a:lnTo>
                  <a:pt x="7945361" y="56388"/>
                </a:lnTo>
                <a:lnTo>
                  <a:pt x="7941065" y="34397"/>
                </a:lnTo>
                <a:lnTo>
                  <a:pt x="7929270" y="16478"/>
                </a:lnTo>
                <a:lnTo>
                  <a:pt x="7911617" y="4417"/>
                </a:lnTo>
                <a:lnTo>
                  <a:pt x="7889748" y="0"/>
                </a:lnTo>
                <a:lnTo>
                  <a:pt x="56387" y="0"/>
                </a:lnTo>
                <a:lnTo>
                  <a:pt x="34397" y="4417"/>
                </a:lnTo>
                <a:lnTo>
                  <a:pt x="16478" y="16478"/>
                </a:lnTo>
                <a:lnTo>
                  <a:pt x="4417" y="34397"/>
                </a:lnTo>
                <a:lnTo>
                  <a:pt x="0" y="56388"/>
                </a:lnTo>
                <a:lnTo>
                  <a:pt x="0" y="280416"/>
                </a:lnTo>
                <a:lnTo>
                  <a:pt x="4417" y="302406"/>
                </a:lnTo>
                <a:lnTo>
                  <a:pt x="16478" y="320325"/>
                </a:lnTo>
                <a:lnTo>
                  <a:pt x="34397" y="332386"/>
                </a:lnTo>
                <a:lnTo>
                  <a:pt x="56387" y="336804"/>
                </a:lnTo>
                <a:lnTo>
                  <a:pt x="7889748" y="336804"/>
                </a:lnTo>
                <a:lnTo>
                  <a:pt x="7911617" y="332386"/>
                </a:lnTo>
                <a:lnTo>
                  <a:pt x="7929270" y="320325"/>
                </a:lnTo>
                <a:lnTo>
                  <a:pt x="7941065" y="302406"/>
                </a:lnTo>
                <a:lnTo>
                  <a:pt x="7945361" y="280416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48397" y="261873"/>
            <a:ext cx="702119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70" dirty="0"/>
              <a:t>Incoming </a:t>
            </a:r>
            <a:r>
              <a:rPr sz="4200" spc="-245" dirty="0"/>
              <a:t>Connection:</a:t>
            </a:r>
            <a:r>
              <a:rPr sz="4200" spc="-390" dirty="0"/>
              <a:t> </a:t>
            </a:r>
            <a:r>
              <a:rPr sz="3600" spc="-5" dirty="0">
                <a:latin typeface="Courier New"/>
                <a:cs typeface="Courier New"/>
              </a:rPr>
              <a:t>accept()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1453" y="1250949"/>
            <a:ext cx="8378190" cy="43627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600"/>
              </a:lnSpc>
              <a:spcBef>
                <a:spcPts val="10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spc="-70" dirty="0">
                <a:latin typeface="Arial"/>
                <a:cs typeface="Arial"/>
              </a:rPr>
              <a:t>The </a:t>
            </a:r>
            <a:r>
              <a:rPr sz="2800" spc="-90" dirty="0">
                <a:latin typeface="Arial"/>
                <a:cs typeface="Arial"/>
              </a:rPr>
              <a:t>server </a:t>
            </a:r>
            <a:r>
              <a:rPr sz="2800" spc="-150" dirty="0">
                <a:latin typeface="Arial"/>
                <a:cs typeface="Arial"/>
              </a:rPr>
              <a:t>gets </a:t>
            </a:r>
            <a:r>
              <a:rPr sz="2800" spc="-250" dirty="0">
                <a:latin typeface="Arial"/>
                <a:cs typeface="Arial"/>
              </a:rPr>
              <a:t>a </a:t>
            </a:r>
            <a:r>
              <a:rPr sz="2800" spc="-100" dirty="0">
                <a:latin typeface="Arial"/>
                <a:cs typeface="Arial"/>
              </a:rPr>
              <a:t>socket </a:t>
            </a:r>
            <a:r>
              <a:rPr sz="2800" spc="25" dirty="0">
                <a:latin typeface="Arial"/>
                <a:cs typeface="Arial"/>
              </a:rPr>
              <a:t>for </a:t>
            </a:r>
            <a:r>
              <a:rPr sz="2800" spc="-120" dirty="0">
                <a:latin typeface="Arial"/>
                <a:cs typeface="Arial"/>
              </a:rPr>
              <a:t>an </a:t>
            </a:r>
            <a:r>
              <a:rPr sz="2800" spc="-20" dirty="0">
                <a:latin typeface="Arial"/>
                <a:cs typeface="Arial"/>
              </a:rPr>
              <a:t>incoming </a:t>
            </a:r>
            <a:r>
              <a:rPr sz="2800" spc="10" dirty="0">
                <a:latin typeface="Arial"/>
                <a:cs typeface="Arial"/>
              </a:rPr>
              <a:t>client </a:t>
            </a:r>
            <a:r>
              <a:rPr sz="2800" spc="-40" dirty="0">
                <a:latin typeface="Arial"/>
                <a:cs typeface="Arial"/>
              </a:rPr>
              <a:t>connection </a:t>
            </a:r>
            <a:r>
              <a:rPr sz="2800" spc="-20" dirty="0">
                <a:latin typeface="Arial"/>
                <a:cs typeface="Arial"/>
              </a:rPr>
              <a:t>by</a:t>
            </a:r>
            <a:r>
              <a:rPr sz="2800" spc="-27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calling</a:t>
            </a:r>
            <a:endParaRPr sz="2800" dirty="0">
              <a:latin typeface="Arial"/>
              <a:cs typeface="Arial"/>
            </a:endParaRPr>
          </a:p>
          <a:p>
            <a:pPr marL="355600">
              <a:lnSpc>
                <a:spcPts val="2600"/>
              </a:lnSpc>
            </a:pPr>
            <a:r>
              <a:rPr sz="2800" dirty="0">
                <a:latin typeface="Courier New"/>
                <a:cs typeface="Courier New"/>
              </a:rPr>
              <a:t>accept()</a:t>
            </a:r>
          </a:p>
          <a:p>
            <a:pPr marL="355600" indent="-342900">
              <a:lnSpc>
                <a:spcPct val="100000"/>
              </a:lnSpc>
              <a:spcBef>
                <a:spcPts val="52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int </a:t>
            </a:r>
            <a:r>
              <a:rPr sz="2800" b="1" u="sng" dirty="0">
                <a:solidFill>
                  <a:srgbClr val="3B822F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= accept(</a:t>
            </a:r>
            <a:r>
              <a:rPr sz="2800" b="1" u="sng" dirty="0">
                <a:solidFill>
                  <a:srgbClr val="9A65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sockid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 &amp;</a:t>
            </a:r>
            <a:r>
              <a:rPr sz="2800" b="1" u="sng" dirty="0">
                <a:solidFill>
                  <a:srgbClr val="A50021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clientAddr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</a:t>
            </a:r>
            <a:r>
              <a:rPr sz="2800" b="1" u="sng" spc="-2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&amp;</a:t>
            </a:r>
            <a:r>
              <a:rPr sz="2800" b="1" u="sng" dirty="0">
                <a:solidFill>
                  <a:srgbClr val="CC9A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addrLen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);</a:t>
            </a:r>
            <a:endParaRPr sz="2800" dirty="0">
              <a:latin typeface="Courier New"/>
              <a:cs typeface="Courier New"/>
            </a:endParaRPr>
          </a:p>
          <a:p>
            <a:pPr marL="681990" lvl="1" indent="-325120">
              <a:lnSpc>
                <a:spcPct val="100000"/>
              </a:lnSpc>
              <a:spcBef>
                <a:spcPts val="5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225" dirty="0">
                <a:solidFill>
                  <a:srgbClr val="3B822F"/>
                </a:solidFill>
                <a:latin typeface="Arial"/>
                <a:cs typeface="Arial"/>
              </a:rPr>
              <a:t>s</a:t>
            </a:r>
            <a:r>
              <a:rPr sz="2800" spc="-225" dirty="0">
                <a:latin typeface="Arial"/>
                <a:cs typeface="Arial"/>
              </a:rPr>
              <a:t>: </a:t>
            </a:r>
            <a:r>
              <a:rPr sz="2800" spc="-40" dirty="0">
                <a:latin typeface="Arial"/>
                <a:cs typeface="Arial"/>
              </a:rPr>
              <a:t>integer,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-30" dirty="0">
                <a:latin typeface="Arial"/>
                <a:cs typeface="Arial"/>
              </a:rPr>
              <a:t>new </a:t>
            </a:r>
            <a:r>
              <a:rPr sz="2800" spc="-90" dirty="0">
                <a:latin typeface="Arial"/>
                <a:cs typeface="Arial"/>
              </a:rPr>
              <a:t>socket </a:t>
            </a:r>
            <a:r>
              <a:rPr sz="2800" spc="-120" dirty="0">
                <a:latin typeface="Arial"/>
                <a:cs typeface="Arial"/>
              </a:rPr>
              <a:t>(used </a:t>
            </a:r>
            <a:r>
              <a:rPr sz="2800" spc="25" dirty="0">
                <a:latin typeface="Arial"/>
                <a:cs typeface="Arial"/>
              </a:rPr>
              <a:t>for</a:t>
            </a:r>
            <a:r>
              <a:rPr sz="2800" spc="-22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data-transfer)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80"/>
              </a:spcBef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160" dirty="0">
                <a:solidFill>
                  <a:srgbClr val="9A6500"/>
                </a:solidFill>
                <a:latin typeface="Arial"/>
                <a:cs typeface="Arial"/>
              </a:rPr>
              <a:t>sockid</a:t>
            </a:r>
            <a:r>
              <a:rPr sz="2800" spc="-160" dirty="0">
                <a:latin typeface="Arial"/>
                <a:cs typeface="Arial"/>
              </a:rPr>
              <a:t>: </a:t>
            </a:r>
            <a:r>
              <a:rPr sz="2800" spc="-40" dirty="0">
                <a:latin typeface="Arial"/>
                <a:cs typeface="Arial"/>
              </a:rPr>
              <a:t>integer,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-20" dirty="0">
                <a:latin typeface="Arial"/>
                <a:cs typeface="Arial"/>
              </a:rPr>
              <a:t>orig. </a:t>
            </a:r>
            <a:r>
              <a:rPr sz="2800" spc="-90" dirty="0">
                <a:latin typeface="Arial"/>
                <a:cs typeface="Arial"/>
              </a:rPr>
              <a:t>socket </a:t>
            </a:r>
            <a:r>
              <a:rPr sz="2800" spc="-55" dirty="0">
                <a:latin typeface="Arial"/>
                <a:cs typeface="Arial"/>
              </a:rPr>
              <a:t>(being </a:t>
            </a:r>
            <a:r>
              <a:rPr sz="2800" spc="-50" dirty="0">
                <a:latin typeface="Arial"/>
                <a:cs typeface="Arial"/>
              </a:rPr>
              <a:t>listened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on)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80" dirty="0">
                <a:solidFill>
                  <a:srgbClr val="A50021"/>
                </a:solidFill>
                <a:latin typeface="Arial"/>
                <a:cs typeface="Arial"/>
              </a:rPr>
              <a:t>clientAddr</a:t>
            </a:r>
            <a:r>
              <a:rPr sz="2800" spc="-80" dirty="0">
                <a:latin typeface="Arial"/>
                <a:cs typeface="Arial"/>
              </a:rPr>
              <a:t>: </a:t>
            </a:r>
            <a:r>
              <a:rPr sz="2800" spc="-20" dirty="0">
                <a:latin typeface="Arial"/>
                <a:cs typeface="Arial"/>
              </a:rPr>
              <a:t>struct </a:t>
            </a:r>
            <a:r>
              <a:rPr sz="2800" spc="-85" dirty="0">
                <a:latin typeface="Arial"/>
                <a:cs typeface="Arial"/>
              </a:rPr>
              <a:t>sockaddr, </a:t>
            </a:r>
            <a:r>
              <a:rPr sz="2800" spc="-145" dirty="0">
                <a:latin typeface="Arial"/>
                <a:cs typeface="Arial"/>
              </a:rPr>
              <a:t>address </a:t>
            </a:r>
            <a:r>
              <a:rPr sz="2800" spc="-10" dirty="0">
                <a:latin typeface="Arial"/>
                <a:cs typeface="Arial"/>
              </a:rPr>
              <a:t>of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-50" dirty="0">
                <a:latin typeface="Arial"/>
                <a:cs typeface="Arial"/>
              </a:rPr>
              <a:t>active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5" dirty="0">
                <a:latin typeface="Arial"/>
                <a:cs typeface="Arial"/>
              </a:rPr>
              <a:t>participant</a:t>
            </a:r>
            <a:endParaRPr sz="2800" dirty="0">
              <a:latin typeface="Arial"/>
              <a:cs typeface="Arial"/>
            </a:endParaRPr>
          </a:p>
          <a:p>
            <a:pPr marL="1035050" lvl="2" indent="-351155">
              <a:lnSpc>
                <a:spcPct val="100000"/>
              </a:lnSpc>
              <a:spcBef>
                <a:spcPts val="450"/>
              </a:spcBef>
              <a:buClr>
                <a:srgbClr val="9A6500"/>
              </a:buClr>
              <a:buSzPct val="66666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2800" spc="25" dirty="0">
                <a:latin typeface="Arial"/>
                <a:cs typeface="Arial"/>
              </a:rPr>
              <a:t>filled </a:t>
            </a:r>
            <a:r>
              <a:rPr sz="2800" spc="60" dirty="0">
                <a:latin typeface="Arial"/>
                <a:cs typeface="Arial"/>
              </a:rPr>
              <a:t>in </a:t>
            </a:r>
            <a:r>
              <a:rPr sz="2800" spc="-45" dirty="0">
                <a:latin typeface="Arial"/>
                <a:cs typeface="Arial"/>
              </a:rPr>
              <a:t>upon</a:t>
            </a:r>
            <a:r>
              <a:rPr sz="2800" spc="-260" dirty="0">
                <a:latin typeface="Arial"/>
                <a:cs typeface="Arial"/>
              </a:rPr>
              <a:t> </a:t>
            </a:r>
            <a:r>
              <a:rPr sz="2800" spc="5" dirty="0" smtClean="0">
                <a:latin typeface="Arial"/>
                <a:cs typeface="Arial"/>
              </a:rPr>
              <a:t>return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0859" y="2037842"/>
            <a:ext cx="7945755" cy="337185"/>
          </a:xfrm>
          <a:custGeom>
            <a:avLst/>
            <a:gdLst/>
            <a:ahLst/>
            <a:cxnLst/>
            <a:rect l="l" t="t" r="r" b="b"/>
            <a:pathLst>
              <a:path w="7945755" h="337185">
                <a:moveTo>
                  <a:pt x="7945361" y="280416"/>
                </a:moveTo>
                <a:lnTo>
                  <a:pt x="7945361" y="56388"/>
                </a:lnTo>
                <a:lnTo>
                  <a:pt x="7941065" y="34397"/>
                </a:lnTo>
                <a:lnTo>
                  <a:pt x="7929270" y="16478"/>
                </a:lnTo>
                <a:lnTo>
                  <a:pt x="7911617" y="4417"/>
                </a:lnTo>
                <a:lnTo>
                  <a:pt x="7889748" y="0"/>
                </a:lnTo>
                <a:lnTo>
                  <a:pt x="56387" y="0"/>
                </a:lnTo>
                <a:lnTo>
                  <a:pt x="34397" y="4417"/>
                </a:lnTo>
                <a:lnTo>
                  <a:pt x="16478" y="16478"/>
                </a:lnTo>
                <a:lnTo>
                  <a:pt x="4417" y="34397"/>
                </a:lnTo>
                <a:lnTo>
                  <a:pt x="0" y="56388"/>
                </a:lnTo>
                <a:lnTo>
                  <a:pt x="0" y="280416"/>
                </a:lnTo>
                <a:lnTo>
                  <a:pt x="4417" y="302406"/>
                </a:lnTo>
                <a:lnTo>
                  <a:pt x="16478" y="320325"/>
                </a:lnTo>
                <a:lnTo>
                  <a:pt x="34397" y="332386"/>
                </a:lnTo>
                <a:lnTo>
                  <a:pt x="56387" y="336804"/>
                </a:lnTo>
                <a:lnTo>
                  <a:pt x="7889748" y="336804"/>
                </a:lnTo>
                <a:lnTo>
                  <a:pt x="7911617" y="332386"/>
                </a:lnTo>
                <a:lnTo>
                  <a:pt x="7929270" y="320325"/>
                </a:lnTo>
                <a:lnTo>
                  <a:pt x="7941065" y="302406"/>
                </a:lnTo>
                <a:lnTo>
                  <a:pt x="7945361" y="280416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48397" y="261873"/>
            <a:ext cx="702119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70" dirty="0"/>
              <a:t>Incoming </a:t>
            </a:r>
            <a:r>
              <a:rPr sz="4200" spc="-245" dirty="0"/>
              <a:t>Connection:</a:t>
            </a:r>
            <a:r>
              <a:rPr sz="4200" spc="-390" dirty="0"/>
              <a:t> </a:t>
            </a:r>
            <a:r>
              <a:rPr sz="3600" spc="-5" dirty="0">
                <a:latin typeface="Courier New"/>
                <a:cs typeface="Courier New"/>
              </a:rPr>
              <a:t>accept()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1453" y="1250949"/>
            <a:ext cx="8378190" cy="43627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600"/>
              </a:lnSpc>
              <a:spcBef>
                <a:spcPts val="10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spc="-70" dirty="0">
                <a:latin typeface="Arial"/>
                <a:cs typeface="Arial"/>
              </a:rPr>
              <a:t>The </a:t>
            </a:r>
            <a:r>
              <a:rPr sz="2800" spc="-90" dirty="0">
                <a:latin typeface="Arial"/>
                <a:cs typeface="Arial"/>
              </a:rPr>
              <a:t>server </a:t>
            </a:r>
            <a:r>
              <a:rPr sz="2800" spc="-150" dirty="0">
                <a:latin typeface="Arial"/>
                <a:cs typeface="Arial"/>
              </a:rPr>
              <a:t>gets </a:t>
            </a:r>
            <a:r>
              <a:rPr sz="2800" spc="-250" dirty="0">
                <a:latin typeface="Arial"/>
                <a:cs typeface="Arial"/>
              </a:rPr>
              <a:t>a </a:t>
            </a:r>
            <a:r>
              <a:rPr sz="2800" spc="-100" dirty="0">
                <a:latin typeface="Arial"/>
                <a:cs typeface="Arial"/>
              </a:rPr>
              <a:t>socket </a:t>
            </a:r>
            <a:r>
              <a:rPr sz="2800" spc="25" dirty="0">
                <a:latin typeface="Arial"/>
                <a:cs typeface="Arial"/>
              </a:rPr>
              <a:t>for </a:t>
            </a:r>
            <a:r>
              <a:rPr sz="2800" spc="-120" dirty="0">
                <a:latin typeface="Arial"/>
                <a:cs typeface="Arial"/>
              </a:rPr>
              <a:t>an </a:t>
            </a:r>
            <a:r>
              <a:rPr sz="2800" spc="-20" dirty="0">
                <a:latin typeface="Arial"/>
                <a:cs typeface="Arial"/>
              </a:rPr>
              <a:t>incoming </a:t>
            </a:r>
            <a:r>
              <a:rPr sz="2800" spc="10" dirty="0">
                <a:latin typeface="Arial"/>
                <a:cs typeface="Arial"/>
              </a:rPr>
              <a:t>client </a:t>
            </a:r>
            <a:r>
              <a:rPr sz="2800" spc="-40" dirty="0">
                <a:latin typeface="Arial"/>
                <a:cs typeface="Arial"/>
              </a:rPr>
              <a:t>connection </a:t>
            </a:r>
            <a:r>
              <a:rPr sz="2800" spc="-20" dirty="0">
                <a:latin typeface="Arial"/>
                <a:cs typeface="Arial"/>
              </a:rPr>
              <a:t>by</a:t>
            </a:r>
            <a:r>
              <a:rPr sz="2800" spc="-27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calling</a:t>
            </a:r>
            <a:endParaRPr sz="2800" dirty="0">
              <a:latin typeface="Arial"/>
              <a:cs typeface="Arial"/>
            </a:endParaRPr>
          </a:p>
          <a:p>
            <a:pPr marL="355600">
              <a:lnSpc>
                <a:spcPts val="2600"/>
              </a:lnSpc>
            </a:pPr>
            <a:r>
              <a:rPr sz="2800" dirty="0">
                <a:latin typeface="Courier New"/>
                <a:cs typeface="Courier New"/>
              </a:rPr>
              <a:t>accept()</a:t>
            </a:r>
          </a:p>
          <a:p>
            <a:pPr marL="355600" indent="-342900">
              <a:lnSpc>
                <a:spcPct val="100000"/>
              </a:lnSpc>
              <a:spcBef>
                <a:spcPts val="52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int </a:t>
            </a:r>
            <a:r>
              <a:rPr sz="2800" b="1" u="sng" dirty="0">
                <a:solidFill>
                  <a:srgbClr val="3B822F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= accept(</a:t>
            </a:r>
            <a:r>
              <a:rPr sz="2800" b="1" u="sng" dirty="0">
                <a:solidFill>
                  <a:srgbClr val="9A65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sockid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 &amp;</a:t>
            </a:r>
            <a:r>
              <a:rPr sz="2800" b="1" u="sng" dirty="0">
                <a:solidFill>
                  <a:srgbClr val="A50021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clientAddr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</a:t>
            </a:r>
            <a:r>
              <a:rPr sz="2800" b="1" u="sng" spc="-2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&amp;</a:t>
            </a:r>
            <a:r>
              <a:rPr sz="2800" b="1" u="sng" dirty="0">
                <a:solidFill>
                  <a:srgbClr val="CC9A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addrLen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);</a:t>
            </a:r>
            <a:endParaRPr sz="2800" dirty="0">
              <a:latin typeface="Courier New"/>
              <a:cs typeface="Courier New"/>
            </a:endParaRPr>
          </a:p>
          <a:p>
            <a:pPr marL="681990" lvl="1" indent="-325120">
              <a:lnSpc>
                <a:spcPct val="100000"/>
              </a:lnSpc>
              <a:spcBef>
                <a:spcPts val="5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225" dirty="0">
                <a:solidFill>
                  <a:srgbClr val="3B822F"/>
                </a:solidFill>
                <a:latin typeface="Arial"/>
                <a:cs typeface="Arial"/>
              </a:rPr>
              <a:t>s</a:t>
            </a:r>
            <a:r>
              <a:rPr sz="2800" spc="-225" dirty="0">
                <a:latin typeface="Arial"/>
                <a:cs typeface="Arial"/>
              </a:rPr>
              <a:t>: </a:t>
            </a:r>
            <a:r>
              <a:rPr sz="2800" spc="-40" dirty="0">
                <a:latin typeface="Arial"/>
                <a:cs typeface="Arial"/>
              </a:rPr>
              <a:t>integer,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-30" dirty="0">
                <a:latin typeface="Arial"/>
                <a:cs typeface="Arial"/>
              </a:rPr>
              <a:t>new </a:t>
            </a:r>
            <a:r>
              <a:rPr sz="2800" spc="-90" dirty="0">
                <a:latin typeface="Arial"/>
                <a:cs typeface="Arial"/>
              </a:rPr>
              <a:t>socket </a:t>
            </a:r>
            <a:r>
              <a:rPr sz="2800" spc="-120" dirty="0">
                <a:latin typeface="Arial"/>
                <a:cs typeface="Arial"/>
              </a:rPr>
              <a:t>(used </a:t>
            </a:r>
            <a:r>
              <a:rPr sz="2800" spc="25" dirty="0">
                <a:latin typeface="Arial"/>
                <a:cs typeface="Arial"/>
              </a:rPr>
              <a:t>for</a:t>
            </a:r>
            <a:r>
              <a:rPr sz="2800" spc="-22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data-transfer)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80"/>
              </a:spcBef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160" dirty="0">
                <a:solidFill>
                  <a:srgbClr val="9A6500"/>
                </a:solidFill>
                <a:latin typeface="Arial"/>
                <a:cs typeface="Arial"/>
              </a:rPr>
              <a:t>sockid</a:t>
            </a:r>
            <a:r>
              <a:rPr sz="2800" spc="-160" dirty="0">
                <a:latin typeface="Arial"/>
                <a:cs typeface="Arial"/>
              </a:rPr>
              <a:t>: </a:t>
            </a:r>
            <a:r>
              <a:rPr sz="2800" spc="-40" dirty="0">
                <a:latin typeface="Arial"/>
                <a:cs typeface="Arial"/>
              </a:rPr>
              <a:t>integer,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-20" dirty="0">
                <a:latin typeface="Arial"/>
                <a:cs typeface="Arial"/>
              </a:rPr>
              <a:t>orig. </a:t>
            </a:r>
            <a:r>
              <a:rPr sz="2800" spc="-90" dirty="0">
                <a:latin typeface="Arial"/>
                <a:cs typeface="Arial"/>
              </a:rPr>
              <a:t>socket </a:t>
            </a:r>
            <a:r>
              <a:rPr sz="2800" spc="-55" dirty="0">
                <a:latin typeface="Arial"/>
                <a:cs typeface="Arial"/>
              </a:rPr>
              <a:t>(being </a:t>
            </a:r>
            <a:r>
              <a:rPr sz="2800" spc="-50" dirty="0">
                <a:latin typeface="Arial"/>
                <a:cs typeface="Arial"/>
              </a:rPr>
              <a:t>listened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on)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80" dirty="0">
                <a:solidFill>
                  <a:srgbClr val="A50021"/>
                </a:solidFill>
                <a:latin typeface="Arial"/>
                <a:cs typeface="Arial"/>
              </a:rPr>
              <a:t>clientAddr</a:t>
            </a:r>
            <a:r>
              <a:rPr sz="2800" spc="-80" dirty="0">
                <a:latin typeface="Arial"/>
                <a:cs typeface="Arial"/>
              </a:rPr>
              <a:t>: </a:t>
            </a:r>
            <a:r>
              <a:rPr sz="2800" spc="-20" dirty="0">
                <a:latin typeface="Arial"/>
                <a:cs typeface="Arial"/>
              </a:rPr>
              <a:t>struct </a:t>
            </a:r>
            <a:r>
              <a:rPr sz="2800" spc="-85" dirty="0">
                <a:latin typeface="Arial"/>
                <a:cs typeface="Arial"/>
              </a:rPr>
              <a:t>sockaddr, </a:t>
            </a:r>
            <a:r>
              <a:rPr sz="2800" spc="-145" dirty="0">
                <a:latin typeface="Arial"/>
                <a:cs typeface="Arial"/>
              </a:rPr>
              <a:t>address </a:t>
            </a:r>
            <a:r>
              <a:rPr sz="2800" spc="-10" dirty="0">
                <a:latin typeface="Arial"/>
                <a:cs typeface="Arial"/>
              </a:rPr>
              <a:t>of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-50" dirty="0">
                <a:latin typeface="Arial"/>
                <a:cs typeface="Arial"/>
              </a:rPr>
              <a:t>active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5" dirty="0">
                <a:latin typeface="Arial"/>
                <a:cs typeface="Arial"/>
              </a:rPr>
              <a:t>participant</a:t>
            </a:r>
            <a:endParaRPr sz="2800" dirty="0">
              <a:latin typeface="Arial"/>
              <a:cs typeface="Arial"/>
            </a:endParaRPr>
          </a:p>
          <a:p>
            <a:pPr marL="1035050" lvl="2" indent="-351155">
              <a:lnSpc>
                <a:spcPct val="100000"/>
              </a:lnSpc>
              <a:spcBef>
                <a:spcPts val="450"/>
              </a:spcBef>
              <a:buClr>
                <a:srgbClr val="9A6500"/>
              </a:buClr>
              <a:buSzPct val="66666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2800" spc="25" dirty="0">
                <a:latin typeface="Arial"/>
                <a:cs typeface="Arial"/>
              </a:rPr>
              <a:t>filled </a:t>
            </a:r>
            <a:r>
              <a:rPr sz="2800" spc="60" dirty="0">
                <a:latin typeface="Arial"/>
                <a:cs typeface="Arial"/>
              </a:rPr>
              <a:t>in </a:t>
            </a:r>
            <a:r>
              <a:rPr sz="2800" spc="-45" dirty="0">
                <a:latin typeface="Arial"/>
                <a:cs typeface="Arial"/>
              </a:rPr>
              <a:t>upon</a:t>
            </a:r>
            <a:r>
              <a:rPr sz="2800" spc="-260" dirty="0">
                <a:latin typeface="Arial"/>
                <a:cs typeface="Arial"/>
              </a:rPr>
              <a:t> </a:t>
            </a:r>
            <a:r>
              <a:rPr sz="2800" spc="5" dirty="0" smtClean="0">
                <a:latin typeface="Arial"/>
                <a:cs typeface="Arial"/>
              </a:rPr>
              <a:t>return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6989" y="4301744"/>
            <a:ext cx="8766175" cy="999490"/>
          </a:xfrm>
          <a:custGeom>
            <a:avLst/>
            <a:gdLst/>
            <a:ahLst/>
            <a:cxnLst/>
            <a:rect l="l" t="t" r="r" b="b"/>
            <a:pathLst>
              <a:path w="8766175" h="999489">
                <a:moveTo>
                  <a:pt x="8766035" y="832103"/>
                </a:moveTo>
                <a:lnTo>
                  <a:pt x="8766035" y="166877"/>
                </a:lnTo>
                <a:lnTo>
                  <a:pt x="8760080" y="122502"/>
                </a:lnTo>
                <a:lnTo>
                  <a:pt x="8743288" y="82634"/>
                </a:lnTo>
                <a:lnTo>
                  <a:pt x="8717268" y="48863"/>
                </a:lnTo>
                <a:lnTo>
                  <a:pt x="8683630" y="22775"/>
                </a:lnTo>
                <a:lnTo>
                  <a:pt x="8643981" y="5958"/>
                </a:lnTo>
                <a:lnTo>
                  <a:pt x="8599932" y="0"/>
                </a:lnTo>
                <a:lnTo>
                  <a:pt x="166115" y="0"/>
                </a:lnTo>
                <a:lnTo>
                  <a:pt x="122061" y="5958"/>
                </a:lnTo>
                <a:lnTo>
                  <a:pt x="82408" y="22775"/>
                </a:lnTo>
                <a:lnTo>
                  <a:pt x="48768" y="48863"/>
                </a:lnTo>
                <a:lnTo>
                  <a:pt x="22747" y="82634"/>
                </a:lnTo>
                <a:lnTo>
                  <a:pt x="5954" y="122502"/>
                </a:lnTo>
                <a:lnTo>
                  <a:pt x="0" y="166878"/>
                </a:lnTo>
                <a:lnTo>
                  <a:pt x="0" y="832104"/>
                </a:lnTo>
                <a:lnTo>
                  <a:pt x="5954" y="876479"/>
                </a:lnTo>
                <a:lnTo>
                  <a:pt x="22747" y="916347"/>
                </a:lnTo>
                <a:lnTo>
                  <a:pt x="48768" y="950118"/>
                </a:lnTo>
                <a:lnTo>
                  <a:pt x="82408" y="976206"/>
                </a:lnTo>
                <a:lnTo>
                  <a:pt x="122061" y="993023"/>
                </a:lnTo>
                <a:lnTo>
                  <a:pt x="166115" y="998982"/>
                </a:lnTo>
                <a:lnTo>
                  <a:pt x="8599932" y="998981"/>
                </a:lnTo>
                <a:lnTo>
                  <a:pt x="8643981" y="993023"/>
                </a:lnTo>
                <a:lnTo>
                  <a:pt x="8683630" y="976206"/>
                </a:lnTo>
                <a:lnTo>
                  <a:pt x="8717268" y="950118"/>
                </a:lnTo>
                <a:lnTo>
                  <a:pt x="8743288" y="916347"/>
                </a:lnTo>
                <a:lnTo>
                  <a:pt x="8760080" y="876479"/>
                </a:lnTo>
                <a:lnTo>
                  <a:pt x="8766035" y="832103"/>
                </a:lnTo>
                <a:close/>
              </a:path>
            </a:pathLst>
          </a:custGeom>
          <a:solidFill>
            <a:srgbClr val="CCFFFF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6989" y="4301744"/>
            <a:ext cx="8766175" cy="999490"/>
          </a:xfrm>
          <a:custGeom>
            <a:avLst/>
            <a:gdLst/>
            <a:ahLst/>
            <a:cxnLst/>
            <a:rect l="l" t="t" r="r" b="b"/>
            <a:pathLst>
              <a:path w="8766175" h="999489">
                <a:moveTo>
                  <a:pt x="166115" y="0"/>
                </a:moveTo>
                <a:lnTo>
                  <a:pt x="122061" y="5958"/>
                </a:lnTo>
                <a:lnTo>
                  <a:pt x="82408" y="22775"/>
                </a:lnTo>
                <a:lnTo>
                  <a:pt x="48768" y="48863"/>
                </a:lnTo>
                <a:lnTo>
                  <a:pt x="22747" y="82634"/>
                </a:lnTo>
                <a:lnTo>
                  <a:pt x="5954" y="122502"/>
                </a:lnTo>
                <a:lnTo>
                  <a:pt x="0" y="166878"/>
                </a:lnTo>
                <a:lnTo>
                  <a:pt x="0" y="832104"/>
                </a:lnTo>
                <a:lnTo>
                  <a:pt x="5954" y="876479"/>
                </a:lnTo>
                <a:lnTo>
                  <a:pt x="22747" y="916347"/>
                </a:lnTo>
                <a:lnTo>
                  <a:pt x="48768" y="950118"/>
                </a:lnTo>
                <a:lnTo>
                  <a:pt x="82408" y="976206"/>
                </a:lnTo>
                <a:lnTo>
                  <a:pt x="122061" y="993023"/>
                </a:lnTo>
                <a:lnTo>
                  <a:pt x="166115" y="998982"/>
                </a:lnTo>
                <a:lnTo>
                  <a:pt x="8599932" y="998981"/>
                </a:lnTo>
                <a:lnTo>
                  <a:pt x="8643981" y="993023"/>
                </a:lnTo>
                <a:lnTo>
                  <a:pt x="8683630" y="976206"/>
                </a:lnTo>
                <a:lnTo>
                  <a:pt x="8717268" y="950118"/>
                </a:lnTo>
                <a:lnTo>
                  <a:pt x="8743288" y="916347"/>
                </a:lnTo>
                <a:lnTo>
                  <a:pt x="8760080" y="876479"/>
                </a:lnTo>
                <a:lnTo>
                  <a:pt x="8766035" y="832103"/>
                </a:lnTo>
                <a:lnTo>
                  <a:pt x="8766035" y="166877"/>
                </a:lnTo>
                <a:lnTo>
                  <a:pt x="8760080" y="122502"/>
                </a:lnTo>
                <a:lnTo>
                  <a:pt x="8743288" y="82634"/>
                </a:lnTo>
                <a:lnTo>
                  <a:pt x="8717268" y="48863"/>
                </a:lnTo>
                <a:lnTo>
                  <a:pt x="8683630" y="22775"/>
                </a:lnTo>
                <a:lnTo>
                  <a:pt x="8643981" y="5958"/>
                </a:lnTo>
                <a:lnTo>
                  <a:pt x="8599932" y="0"/>
                </a:lnTo>
                <a:lnTo>
                  <a:pt x="166115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51979" y="261873"/>
            <a:ext cx="761492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35" dirty="0"/>
              <a:t>Client</a:t>
            </a:r>
            <a:r>
              <a:rPr sz="4200" spc="20" dirty="0"/>
              <a:t> </a:t>
            </a:r>
            <a:r>
              <a:rPr sz="4200" spc="-260" dirty="0"/>
              <a:t>-</a:t>
            </a:r>
            <a:r>
              <a:rPr sz="4200" spc="45" dirty="0"/>
              <a:t> </a:t>
            </a:r>
            <a:r>
              <a:rPr sz="4200" spc="-280" dirty="0"/>
              <a:t>Server</a:t>
            </a:r>
            <a:r>
              <a:rPr sz="4200" spc="30" dirty="0"/>
              <a:t> </a:t>
            </a:r>
            <a:r>
              <a:rPr sz="4200" spc="-280" dirty="0"/>
              <a:t>Communication</a:t>
            </a:r>
            <a:r>
              <a:rPr sz="4200" spc="30" dirty="0"/>
              <a:t> </a:t>
            </a:r>
            <a:r>
              <a:rPr sz="3200" spc="-200" dirty="0"/>
              <a:t>-</a:t>
            </a:r>
            <a:r>
              <a:rPr sz="3200" spc="20" dirty="0"/>
              <a:t> </a:t>
            </a:r>
            <a:r>
              <a:rPr sz="3200" spc="-200" dirty="0"/>
              <a:t>Unix</a:t>
            </a:r>
            <a:endParaRPr sz="3200"/>
          </a:p>
        </p:txBody>
      </p:sp>
      <p:sp>
        <p:nvSpPr>
          <p:cNvPr id="6" name="object 6"/>
          <p:cNvSpPr/>
          <p:nvPr/>
        </p:nvSpPr>
        <p:spPr>
          <a:xfrm>
            <a:off x="321195" y="1860295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7"/>
                </a:lnTo>
                <a:lnTo>
                  <a:pt x="1335023" y="231647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0433" y="1860295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7"/>
                </a:lnTo>
                <a:lnTo>
                  <a:pt x="1335786" y="231647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60539" y="1851406"/>
            <a:ext cx="6559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7465" y="2096516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8" y="330707"/>
                </a:lnTo>
                <a:lnTo>
                  <a:pt x="33528" y="276605"/>
                </a:lnTo>
                <a:lnTo>
                  <a:pt x="34290" y="279653"/>
                </a:lnTo>
                <a:lnTo>
                  <a:pt x="38100" y="281177"/>
                </a:lnTo>
                <a:lnTo>
                  <a:pt x="41148" y="279653"/>
                </a:lnTo>
                <a:lnTo>
                  <a:pt x="42672" y="276605"/>
                </a:lnTo>
                <a:lnTo>
                  <a:pt x="42672" y="330707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72" y="263651"/>
                </a:moveTo>
                <a:lnTo>
                  <a:pt x="42672" y="5333"/>
                </a:lnTo>
                <a:lnTo>
                  <a:pt x="41148" y="1523"/>
                </a:lnTo>
                <a:lnTo>
                  <a:pt x="38100" y="0"/>
                </a:lnTo>
                <a:lnTo>
                  <a:pt x="34290" y="1523"/>
                </a:lnTo>
                <a:lnTo>
                  <a:pt x="33528" y="5333"/>
                </a:lnTo>
                <a:lnTo>
                  <a:pt x="33528" y="263651"/>
                </a:lnTo>
                <a:lnTo>
                  <a:pt x="42672" y="263651"/>
                </a:lnTo>
                <a:close/>
              </a:path>
              <a:path w="76200" h="340360">
                <a:moveTo>
                  <a:pt x="42672" y="330707"/>
                </a:moveTo>
                <a:lnTo>
                  <a:pt x="42672" y="276605"/>
                </a:lnTo>
                <a:lnTo>
                  <a:pt x="41148" y="279653"/>
                </a:lnTo>
                <a:lnTo>
                  <a:pt x="38100" y="281177"/>
                </a:lnTo>
                <a:lnTo>
                  <a:pt x="34290" y="279653"/>
                </a:lnTo>
                <a:lnTo>
                  <a:pt x="33528" y="276605"/>
                </a:lnTo>
                <a:lnTo>
                  <a:pt x="33528" y="330707"/>
                </a:lnTo>
                <a:lnTo>
                  <a:pt x="38100" y="339851"/>
                </a:lnTo>
                <a:lnTo>
                  <a:pt x="42672" y="3307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4243" y="2466848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4243" y="2466848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52729" y="2457957"/>
            <a:ext cx="4787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bind()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60513" y="2703067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6605"/>
                </a:lnTo>
                <a:lnTo>
                  <a:pt x="35051" y="279653"/>
                </a:lnTo>
                <a:lnTo>
                  <a:pt x="38100" y="281177"/>
                </a:lnTo>
                <a:lnTo>
                  <a:pt x="41910" y="279653"/>
                </a:lnTo>
                <a:lnTo>
                  <a:pt x="42672" y="276605"/>
                </a:lnTo>
                <a:lnTo>
                  <a:pt x="42672" y="330707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72" y="263651"/>
                </a:moveTo>
                <a:lnTo>
                  <a:pt x="42672" y="4571"/>
                </a:lnTo>
                <a:lnTo>
                  <a:pt x="41910" y="1523"/>
                </a:lnTo>
                <a:lnTo>
                  <a:pt x="38100" y="0"/>
                </a:lnTo>
                <a:lnTo>
                  <a:pt x="35051" y="1523"/>
                </a:lnTo>
                <a:lnTo>
                  <a:pt x="33527" y="4571"/>
                </a:lnTo>
                <a:lnTo>
                  <a:pt x="33527" y="263651"/>
                </a:lnTo>
                <a:lnTo>
                  <a:pt x="42672" y="263651"/>
                </a:lnTo>
                <a:close/>
              </a:path>
              <a:path w="76200" h="340360">
                <a:moveTo>
                  <a:pt x="42672" y="330707"/>
                </a:moveTo>
                <a:lnTo>
                  <a:pt x="42672" y="276605"/>
                </a:lnTo>
                <a:lnTo>
                  <a:pt x="41910" y="279653"/>
                </a:lnTo>
                <a:lnTo>
                  <a:pt x="38100" y="281177"/>
                </a:lnTo>
                <a:lnTo>
                  <a:pt x="35051" y="279653"/>
                </a:lnTo>
                <a:lnTo>
                  <a:pt x="33527" y="276605"/>
                </a:lnTo>
                <a:lnTo>
                  <a:pt x="33527" y="330707"/>
                </a:lnTo>
                <a:lnTo>
                  <a:pt x="38100" y="339851"/>
                </a:lnTo>
                <a:lnTo>
                  <a:pt x="42672" y="3307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27291" y="3063494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27291" y="3063494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16165" y="3054604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listen()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63561" y="3300476"/>
            <a:ext cx="76200" cy="339090"/>
          </a:xfrm>
          <a:custGeom>
            <a:avLst/>
            <a:gdLst/>
            <a:ahLst/>
            <a:cxnLst/>
            <a:rect l="l" t="t" r="r" b="b"/>
            <a:pathLst>
              <a:path w="76200" h="339089">
                <a:moveTo>
                  <a:pt x="76200" y="262889"/>
                </a:moveTo>
                <a:lnTo>
                  <a:pt x="0" y="262889"/>
                </a:lnTo>
                <a:lnTo>
                  <a:pt x="33527" y="329945"/>
                </a:lnTo>
                <a:lnTo>
                  <a:pt x="33527" y="275844"/>
                </a:lnTo>
                <a:lnTo>
                  <a:pt x="35051" y="279653"/>
                </a:lnTo>
                <a:lnTo>
                  <a:pt x="38100" y="280415"/>
                </a:lnTo>
                <a:lnTo>
                  <a:pt x="41909" y="279653"/>
                </a:lnTo>
                <a:lnTo>
                  <a:pt x="42671" y="275844"/>
                </a:lnTo>
                <a:lnTo>
                  <a:pt x="42671" y="329946"/>
                </a:lnTo>
                <a:lnTo>
                  <a:pt x="76200" y="262889"/>
                </a:lnTo>
                <a:close/>
              </a:path>
              <a:path w="76200" h="339089">
                <a:moveTo>
                  <a:pt x="42671" y="262889"/>
                </a:moveTo>
                <a:lnTo>
                  <a:pt x="42671" y="4572"/>
                </a:lnTo>
                <a:lnTo>
                  <a:pt x="41909" y="762"/>
                </a:lnTo>
                <a:lnTo>
                  <a:pt x="38100" y="0"/>
                </a:lnTo>
                <a:lnTo>
                  <a:pt x="35051" y="762"/>
                </a:lnTo>
                <a:lnTo>
                  <a:pt x="33527" y="4572"/>
                </a:lnTo>
                <a:lnTo>
                  <a:pt x="33527" y="262889"/>
                </a:lnTo>
                <a:lnTo>
                  <a:pt x="42671" y="262889"/>
                </a:lnTo>
                <a:close/>
              </a:path>
              <a:path w="76200" h="339089">
                <a:moveTo>
                  <a:pt x="42671" y="329946"/>
                </a:moveTo>
                <a:lnTo>
                  <a:pt x="42671" y="275844"/>
                </a:lnTo>
                <a:lnTo>
                  <a:pt x="41909" y="279653"/>
                </a:lnTo>
                <a:lnTo>
                  <a:pt x="38100" y="280415"/>
                </a:lnTo>
                <a:lnTo>
                  <a:pt x="35051" y="279653"/>
                </a:lnTo>
                <a:lnTo>
                  <a:pt x="33527" y="275844"/>
                </a:lnTo>
                <a:lnTo>
                  <a:pt x="33527" y="329945"/>
                </a:lnTo>
                <a:lnTo>
                  <a:pt x="38100" y="339089"/>
                </a:lnTo>
                <a:lnTo>
                  <a:pt x="42671" y="3299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0339" y="367004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0339" y="367004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65111" y="3661155"/>
            <a:ext cx="66548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accept()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66609" y="3906265"/>
            <a:ext cx="76200" cy="424815"/>
          </a:xfrm>
          <a:custGeom>
            <a:avLst/>
            <a:gdLst/>
            <a:ahLst/>
            <a:cxnLst/>
            <a:rect l="l" t="t" r="r" b="b"/>
            <a:pathLst>
              <a:path w="76200" h="424814">
                <a:moveTo>
                  <a:pt x="76200" y="348234"/>
                </a:moveTo>
                <a:lnTo>
                  <a:pt x="0" y="348234"/>
                </a:lnTo>
                <a:lnTo>
                  <a:pt x="33528" y="415290"/>
                </a:lnTo>
                <a:lnTo>
                  <a:pt x="33528" y="360425"/>
                </a:lnTo>
                <a:lnTo>
                  <a:pt x="35052" y="364236"/>
                </a:lnTo>
                <a:lnTo>
                  <a:pt x="38100" y="365760"/>
                </a:lnTo>
                <a:lnTo>
                  <a:pt x="41910" y="364236"/>
                </a:lnTo>
                <a:lnTo>
                  <a:pt x="43434" y="360425"/>
                </a:lnTo>
                <a:lnTo>
                  <a:pt x="43434" y="413765"/>
                </a:lnTo>
                <a:lnTo>
                  <a:pt x="76200" y="348234"/>
                </a:lnTo>
                <a:close/>
              </a:path>
              <a:path w="76200" h="424814">
                <a:moveTo>
                  <a:pt x="43434" y="348234"/>
                </a:moveTo>
                <a:lnTo>
                  <a:pt x="43434" y="5334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5334"/>
                </a:lnTo>
                <a:lnTo>
                  <a:pt x="33528" y="348234"/>
                </a:lnTo>
                <a:lnTo>
                  <a:pt x="43434" y="348234"/>
                </a:lnTo>
                <a:close/>
              </a:path>
              <a:path w="76200" h="424814">
                <a:moveTo>
                  <a:pt x="43434" y="413765"/>
                </a:moveTo>
                <a:lnTo>
                  <a:pt x="43434" y="360425"/>
                </a:lnTo>
                <a:lnTo>
                  <a:pt x="41910" y="364236"/>
                </a:lnTo>
                <a:lnTo>
                  <a:pt x="38100" y="365760"/>
                </a:lnTo>
                <a:lnTo>
                  <a:pt x="35052" y="364236"/>
                </a:lnTo>
                <a:lnTo>
                  <a:pt x="33528" y="360425"/>
                </a:lnTo>
                <a:lnTo>
                  <a:pt x="33528" y="415290"/>
                </a:lnTo>
                <a:lnTo>
                  <a:pt x="38100" y="424434"/>
                </a:lnTo>
                <a:lnTo>
                  <a:pt x="43434" y="4137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18909" y="4377944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18909" y="4377944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3" y="231648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48169" y="4369053"/>
            <a:ext cx="4781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55941" y="4614926"/>
            <a:ext cx="76200" cy="339090"/>
          </a:xfrm>
          <a:custGeom>
            <a:avLst/>
            <a:gdLst/>
            <a:ahLst/>
            <a:cxnLst/>
            <a:rect l="l" t="t" r="r" b="b"/>
            <a:pathLst>
              <a:path w="76200" h="339089">
                <a:moveTo>
                  <a:pt x="76200" y="262889"/>
                </a:moveTo>
                <a:lnTo>
                  <a:pt x="0" y="262889"/>
                </a:lnTo>
                <a:lnTo>
                  <a:pt x="33528" y="329946"/>
                </a:lnTo>
                <a:lnTo>
                  <a:pt x="33528" y="275844"/>
                </a:lnTo>
                <a:lnTo>
                  <a:pt x="34290" y="279653"/>
                </a:lnTo>
                <a:lnTo>
                  <a:pt x="38100" y="280415"/>
                </a:lnTo>
                <a:lnTo>
                  <a:pt x="41148" y="279653"/>
                </a:lnTo>
                <a:lnTo>
                  <a:pt x="42672" y="275844"/>
                </a:lnTo>
                <a:lnTo>
                  <a:pt x="42672" y="329945"/>
                </a:lnTo>
                <a:lnTo>
                  <a:pt x="76200" y="262889"/>
                </a:lnTo>
                <a:close/>
              </a:path>
              <a:path w="76200" h="339089">
                <a:moveTo>
                  <a:pt x="42672" y="262889"/>
                </a:moveTo>
                <a:lnTo>
                  <a:pt x="42672" y="4572"/>
                </a:lnTo>
                <a:lnTo>
                  <a:pt x="41148" y="762"/>
                </a:lnTo>
                <a:lnTo>
                  <a:pt x="38100" y="0"/>
                </a:lnTo>
                <a:lnTo>
                  <a:pt x="34290" y="762"/>
                </a:lnTo>
                <a:lnTo>
                  <a:pt x="33528" y="4572"/>
                </a:lnTo>
                <a:lnTo>
                  <a:pt x="33528" y="262889"/>
                </a:lnTo>
                <a:lnTo>
                  <a:pt x="42672" y="262889"/>
                </a:lnTo>
                <a:close/>
              </a:path>
              <a:path w="76200" h="339089">
                <a:moveTo>
                  <a:pt x="42672" y="329945"/>
                </a:moveTo>
                <a:lnTo>
                  <a:pt x="42672" y="275844"/>
                </a:lnTo>
                <a:lnTo>
                  <a:pt x="41148" y="279653"/>
                </a:lnTo>
                <a:lnTo>
                  <a:pt x="38100" y="280415"/>
                </a:lnTo>
                <a:lnTo>
                  <a:pt x="34290" y="279653"/>
                </a:lnTo>
                <a:lnTo>
                  <a:pt x="33528" y="275844"/>
                </a:lnTo>
                <a:lnTo>
                  <a:pt x="33528" y="329946"/>
                </a:lnTo>
                <a:lnTo>
                  <a:pt x="38100" y="339089"/>
                </a:lnTo>
                <a:lnTo>
                  <a:pt x="42672" y="3299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22719" y="498449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22719" y="498449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25309" y="4975605"/>
            <a:ext cx="5270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58989" y="5220715"/>
            <a:ext cx="76200" cy="540385"/>
          </a:xfrm>
          <a:custGeom>
            <a:avLst/>
            <a:gdLst/>
            <a:ahLst/>
            <a:cxnLst/>
            <a:rect l="l" t="t" r="r" b="b"/>
            <a:pathLst>
              <a:path w="76200" h="540385">
                <a:moveTo>
                  <a:pt x="76200" y="464058"/>
                </a:moveTo>
                <a:lnTo>
                  <a:pt x="0" y="464058"/>
                </a:lnTo>
                <a:lnTo>
                  <a:pt x="33528" y="531114"/>
                </a:lnTo>
                <a:lnTo>
                  <a:pt x="33528" y="476250"/>
                </a:lnTo>
                <a:lnTo>
                  <a:pt x="35051" y="480060"/>
                </a:lnTo>
                <a:lnTo>
                  <a:pt x="38100" y="481584"/>
                </a:lnTo>
                <a:lnTo>
                  <a:pt x="41148" y="480060"/>
                </a:lnTo>
                <a:lnTo>
                  <a:pt x="42672" y="476250"/>
                </a:lnTo>
                <a:lnTo>
                  <a:pt x="42672" y="531113"/>
                </a:lnTo>
                <a:lnTo>
                  <a:pt x="76200" y="464058"/>
                </a:lnTo>
                <a:close/>
              </a:path>
              <a:path w="76200" h="540385">
                <a:moveTo>
                  <a:pt x="42672" y="464058"/>
                </a:moveTo>
                <a:lnTo>
                  <a:pt x="42672" y="5334"/>
                </a:lnTo>
                <a:lnTo>
                  <a:pt x="41148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8" y="5334"/>
                </a:lnTo>
                <a:lnTo>
                  <a:pt x="33528" y="464058"/>
                </a:lnTo>
                <a:lnTo>
                  <a:pt x="42672" y="464058"/>
                </a:lnTo>
                <a:close/>
              </a:path>
              <a:path w="76200" h="540385">
                <a:moveTo>
                  <a:pt x="42672" y="531113"/>
                </a:moveTo>
                <a:lnTo>
                  <a:pt x="42672" y="476250"/>
                </a:lnTo>
                <a:lnTo>
                  <a:pt x="41148" y="480060"/>
                </a:lnTo>
                <a:lnTo>
                  <a:pt x="38100" y="481584"/>
                </a:lnTo>
                <a:lnTo>
                  <a:pt x="35051" y="480060"/>
                </a:lnTo>
                <a:lnTo>
                  <a:pt x="33528" y="476250"/>
                </a:lnTo>
                <a:lnTo>
                  <a:pt x="33528" y="531114"/>
                </a:lnTo>
                <a:lnTo>
                  <a:pt x="38100" y="540258"/>
                </a:lnTo>
                <a:lnTo>
                  <a:pt x="42672" y="531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27291" y="5790691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5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27291" y="5790691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16165" y="5781802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65873" y="1545843"/>
            <a:ext cx="6578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Server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962287" y="1867916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962287" y="1867916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3302380" y="1859025"/>
            <a:ext cx="6559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599319" y="2104898"/>
            <a:ext cx="76200" cy="1559560"/>
          </a:xfrm>
          <a:custGeom>
            <a:avLst/>
            <a:gdLst/>
            <a:ahLst/>
            <a:cxnLst/>
            <a:rect l="l" t="t" r="r" b="b"/>
            <a:pathLst>
              <a:path w="76200" h="1559560">
                <a:moveTo>
                  <a:pt x="76200" y="1482852"/>
                </a:moveTo>
                <a:lnTo>
                  <a:pt x="0" y="1482852"/>
                </a:lnTo>
                <a:lnTo>
                  <a:pt x="32765" y="1548383"/>
                </a:lnTo>
                <a:lnTo>
                  <a:pt x="32765" y="1495043"/>
                </a:lnTo>
                <a:lnTo>
                  <a:pt x="34289" y="1498853"/>
                </a:lnTo>
                <a:lnTo>
                  <a:pt x="38100" y="1500377"/>
                </a:lnTo>
                <a:lnTo>
                  <a:pt x="41148" y="1498853"/>
                </a:lnTo>
                <a:lnTo>
                  <a:pt x="42672" y="1495043"/>
                </a:lnTo>
                <a:lnTo>
                  <a:pt x="42672" y="1549907"/>
                </a:lnTo>
                <a:lnTo>
                  <a:pt x="76200" y="1482852"/>
                </a:lnTo>
                <a:close/>
              </a:path>
              <a:path w="76200" h="1559560">
                <a:moveTo>
                  <a:pt x="42672" y="1482852"/>
                </a:moveTo>
                <a:lnTo>
                  <a:pt x="42672" y="4571"/>
                </a:lnTo>
                <a:lnTo>
                  <a:pt x="41148" y="1523"/>
                </a:lnTo>
                <a:lnTo>
                  <a:pt x="38100" y="0"/>
                </a:lnTo>
                <a:lnTo>
                  <a:pt x="34289" y="1523"/>
                </a:lnTo>
                <a:lnTo>
                  <a:pt x="32765" y="4571"/>
                </a:lnTo>
                <a:lnTo>
                  <a:pt x="32765" y="1482852"/>
                </a:lnTo>
                <a:lnTo>
                  <a:pt x="42672" y="1482852"/>
                </a:lnTo>
                <a:close/>
              </a:path>
              <a:path w="76200" h="1559560">
                <a:moveTo>
                  <a:pt x="42672" y="1549907"/>
                </a:moveTo>
                <a:lnTo>
                  <a:pt x="42672" y="1495043"/>
                </a:lnTo>
                <a:lnTo>
                  <a:pt x="41148" y="1498853"/>
                </a:lnTo>
                <a:lnTo>
                  <a:pt x="38100" y="1500377"/>
                </a:lnTo>
                <a:lnTo>
                  <a:pt x="34289" y="1498853"/>
                </a:lnTo>
                <a:lnTo>
                  <a:pt x="32765" y="1495043"/>
                </a:lnTo>
                <a:lnTo>
                  <a:pt x="32765" y="1548383"/>
                </a:lnTo>
                <a:lnTo>
                  <a:pt x="38100" y="1559052"/>
                </a:lnTo>
                <a:lnTo>
                  <a:pt x="42672" y="15499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972193" y="367766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972193" y="367766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257422" y="3668776"/>
            <a:ext cx="7639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connect()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608463" y="3914647"/>
            <a:ext cx="76200" cy="424180"/>
          </a:xfrm>
          <a:custGeom>
            <a:avLst/>
            <a:gdLst/>
            <a:ahLst/>
            <a:cxnLst/>
            <a:rect l="l" t="t" r="r" b="b"/>
            <a:pathLst>
              <a:path w="76200" h="424179">
                <a:moveTo>
                  <a:pt x="76200" y="347472"/>
                </a:moveTo>
                <a:lnTo>
                  <a:pt x="0" y="347472"/>
                </a:lnTo>
                <a:lnTo>
                  <a:pt x="33528" y="414528"/>
                </a:lnTo>
                <a:lnTo>
                  <a:pt x="33528" y="360425"/>
                </a:lnTo>
                <a:lnTo>
                  <a:pt x="35052" y="363474"/>
                </a:lnTo>
                <a:lnTo>
                  <a:pt x="38100" y="364998"/>
                </a:lnTo>
                <a:lnTo>
                  <a:pt x="41910" y="363474"/>
                </a:lnTo>
                <a:lnTo>
                  <a:pt x="42672" y="360425"/>
                </a:lnTo>
                <a:lnTo>
                  <a:pt x="42672" y="414527"/>
                </a:lnTo>
                <a:lnTo>
                  <a:pt x="76200" y="347472"/>
                </a:lnTo>
                <a:close/>
              </a:path>
              <a:path w="76200" h="424179">
                <a:moveTo>
                  <a:pt x="42672" y="34747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347472"/>
                </a:lnTo>
                <a:lnTo>
                  <a:pt x="42672" y="347472"/>
                </a:lnTo>
                <a:close/>
              </a:path>
              <a:path w="76200" h="424179">
                <a:moveTo>
                  <a:pt x="42672" y="414527"/>
                </a:moveTo>
                <a:lnTo>
                  <a:pt x="42672" y="360425"/>
                </a:lnTo>
                <a:lnTo>
                  <a:pt x="41910" y="363474"/>
                </a:lnTo>
                <a:lnTo>
                  <a:pt x="38100" y="364998"/>
                </a:lnTo>
                <a:lnTo>
                  <a:pt x="35052" y="363474"/>
                </a:lnTo>
                <a:lnTo>
                  <a:pt x="33528" y="360425"/>
                </a:lnTo>
                <a:lnTo>
                  <a:pt x="33528" y="414528"/>
                </a:lnTo>
                <a:lnTo>
                  <a:pt x="38100" y="423672"/>
                </a:lnTo>
                <a:lnTo>
                  <a:pt x="42672" y="414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960763" y="438632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960763" y="438632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3364103" y="4376673"/>
            <a:ext cx="5270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597033" y="4622546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5843"/>
                </a:lnTo>
                <a:lnTo>
                  <a:pt x="35051" y="279653"/>
                </a:lnTo>
                <a:lnTo>
                  <a:pt x="38100" y="281177"/>
                </a:lnTo>
                <a:lnTo>
                  <a:pt x="41910" y="279653"/>
                </a:lnTo>
                <a:lnTo>
                  <a:pt x="43434" y="275843"/>
                </a:lnTo>
                <a:lnTo>
                  <a:pt x="43434" y="329183"/>
                </a:lnTo>
                <a:lnTo>
                  <a:pt x="76200" y="263651"/>
                </a:lnTo>
                <a:close/>
              </a:path>
              <a:path w="76200" h="340360">
                <a:moveTo>
                  <a:pt x="43434" y="263651"/>
                </a:moveTo>
                <a:lnTo>
                  <a:pt x="43434" y="4571"/>
                </a:lnTo>
                <a:lnTo>
                  <a:pt x="41910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7" y="4571"/>
                </a:lnTo>
                <a:lnTo>
                  <a:pt x="33527" y="263651"/>
                </a:lnTo>
                <a:lnTo>
                  <a:pt x="43434" y="263651"/>
                </a:lnTo>
                <a:close/>
              </a:path>
              <a:path w="76200" h="340360">
                <a:moveTo>
                  <a:pt x="43434" y="329183"/>
                </a:moveTo>
                <a:lnTo>
                  <a:pt x="43434" y="275843"/>
                </a:lnTo>
                <a:lnTo>
                  <a:pt x="41910" y="279653"/>
                </a:lnTo>
                <a:lnTo>
                  <a:pt x="38100" y="281177"/>
                </a:lnTo>
                <a:lnTo>
                  <a:pt x="35051" y="279653"/>
                </a:lnTo>
                <a:lnTo>
                  <a:pt x="33527" y="275843"/>
                </a:lnTo>
                <a:lnTo>
                  <a:pt x="33527" y="330707"/>
                </a:lnTo>
                <a:lnTo>
                  <a:pt x="38100" y="339851"/>
                </a:lnTo>
                <a:lnTo>
                  <a:pt x="43434" y="3291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963811" y="499211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963811" y="499211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3392296" y="4983226"/>
            <a:ext cx="4781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600843" y="5229097"/>
            <a:ext cx="76200" cy="539750"/>
          </a:xfrm>
          <a:custGeom>
            <a:avLst/>
            <a:gdLst/>
            <a:ahLst/>
            <a:cxnLst/>
            <a:rect l="l" t="t" r="r" b="b"/>
            <a:pathLst>
              <a:path w="76200" h="539750">
                <a:moveTo>
                  <a:pt x="76200" y="463296"/>
                </a:moveTo>
                <a:lnTo>
                  <a:pt x="0" y="463296"/>
                </a:lnTo>
                <a:lnTo>
                  <a:pt x="32765" y="528827"/>
                </a:lnTo>
                <a:lnTo>
                  <a:pt x="32765" y="476250"/>
                </a:lnTo>
                <a:lnTo>
                  <a:pt x="34289" y="479298"/>
                </a:lnTo>
                <a:lnTo>
                  <a:pt x="38100" y="480822"/>
                </a:lnTo>
                <a:lnTo>
                  <a:pt x="41148" y="479298"/>
                </a:lnTo>
                <a:lnTo>
                  <a:pt x="42672" y="476250"/>
                </a:lnTo>
                <a:lnTo>
                  <a:pt x="42672" y="530351"/>
                </a:lnTo>
                <a:lnTo>
                  <a:pt x="76200" y="463296"/>
                </a:lnTo>
                <a:close/>
              </a:path>
              <a:path w="76200" h="539750">
                <a:moveTo>
                  <a:pt x="42672" y="463296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4289" y="1524"/>
                </a:lnTo>
                <a:lnTo>
                  <a:pt x="32765" y="4572"/>
                </a:lnTo>
                <a:lnTo>
                  <a:pt x="32765" y="463296"/>
                </a:lnTo>
                <a:lnTo>
                  <a:pt x="42672" y="463296"/>
                </a:lnTo>
                <a:close/>
              </a:path>
              <a:path w="76200" h="539750">
                <a:moveTo>
                  <a:pt x="42672" y="530351"/>
                </a:moveTo>
                <a:lnTo>
                  <a:pt x="42672" y="476250"/>
                </a:lnTo>
                <a:lnTo>
                  <a:pt x="41148" y="479298"/>
                </a:lnTo>
                <a:lnTo>
                  <a:pt x="38100" y="480822"/>
                </a:lnTo>
                <a:lnTo>
                  <a:pt x="34289" y="479298"/>
                </a:lnTo>
                <a:lnTo>
                  <a:pt x="32765" y="476250"/>
                </a:lnTo>
                <a:lnTo>
                  <a:pt x="32765" y="528827"/>
                </a:lnTo>
                <a:lnTo>
                  <a:pt x="38100" y="539496"/>
                </a:lnTo>
                <a:lnTo>
                  <a:pt x="42672" y="530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969145" y="5799073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968383" y="5799073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3358007" y="5789421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331336" y="1552701"/>
            <a:ext cx="5899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Client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676793" y="3755390"/>
            <a:ext cx="1271270" cy="76200"/>
          </a:xfrm>
          <a:custGeom>
            <a:avLst/>
            <a:gdLst/>
            <a:ahLst/>
            <a:cxnLst/>
            <a:rect l="l" t="t" r="r" b="b"/>
            <a:pathLst>
              <a:path w="1271270" h="76200">
                <a:moveTo>
                  <a:pt x="76200" y="0"/>
                </a:moveTo>
                <a:lnTo>
                  <a:pt x="0" y="38100"/>
                </a:lnTo>
                <a:lnTo>
                  <a:pt x="45719" y="60960"/>
                </a:lnTo>
                <a:lnTo>
                  <a:pt x="45719" y="38100"/>
                </a:lnTo>
                <a:lnTo>
                  <a:pt x="47243" y="35051"/>
                </a:lnTo>
                <a:lnTo>
                  <a:pt x="50292" y="33527"/>
                </a:lnTo>
                <a:lnTo>
                  <a:pt x="53400" y="33527"/>
                </a:lnTo>
                <a:lnTo>
                  <a:pt x="76200" y="0"/>
                </a:lnTo>
                <a:close/>
              </a:path>
              <a:path w="1271270" h="76200">
                <a:moveTo>
                  <a:pt x="53919" y="43434"/>
                </a:moveTo>
                <a:lnTo>
                  <a:pt x="50292" y="38100"/>
                </a:lnTo>
                <a:lnTo>
                  <a:pt x="50292" y="33527"/>
                </a:lnTo>
                <a:lnTo>
                  <a:pt x="47243" y="35051"/>
                </a:lnTo>
                <a:lnTo>
                  <a:pt x="45719" y="38100"/>
                </a:lnTo>
                <a:lnTo>
                  <a:pt x="47243" y="41910"/>
                </a:lnTo>
                <a:lnTo>
                  <a:pt x="50292" y="43434"/>
                </a:lnTo>
                <a:lnTo>
                  <a:pt x="50292" y="38100"/>
                </a:lnTo>
                <a:lnTo>
                  <a:pt x="53400" y="33527"/>
                </a:lnTo>
                <a:lnTo>
                  <a:pt x="53400" y="43434"/>
                </a:lnTo>
                <a:lnTo>
                  <a:pt x="53919" y="43434"/>
                </a:lnTo>
                <a:close/>
              </a:path>
              <a:path w="1271270" h="76200">
                <a:moveTo>
                  <a:pt x="76200" y="76200"/>
                </a:moveTo>
                <a:lnTo>
                  <a:pt x="53919" y="43434"/>
                </a:lnTo>
                <a:lnTo>
                  <a:pt x="50292" y="43434"/>
                </a:lnTo>
                <a:lnTo>
                  <a:pt x="47243" y="41910"/>
                </a:lnTo>
                <a:lnTo>
                  <a:pt x="45719" y="38100"/>
                </a:lnTo>
                <a:lnTo>
                  <a:pt x="45719" y="60960"/>
                </a:lnTo>
                <a:lnTo>
                  <a:pt x="76200" y="76200"/>
                </a:lnTo>
                <a:close/>
              </a:path>
              <a:path w="1271270" h="76200">
                <a:moveTo>
                  <a:pt x="1212341" y="38100"/>
                </a:moveTo>
                <a:lnTo>
                  <a:pt x="1211579" y="35051"/>
                </a:lnTo>
                <a:lnTo>
                  <a:pt x="1207769" y="33527"/>
                </a:lnTo>
                <a:lnTo>
                  <a:pt x="53400" y="33527"/>
                </a:lnTo>
                <a:lnTo>
                  <a:pt x="50292" y="38100"/>
                </a:lnTo>
                <a:lnTo>
                  <a:pt x="53919" y="43434"/>
                </a:lnTo>
                <a:lnTo>
                  <a:pt x="1207769" y="43434"/>
                </a:lnTo>
                <a:lnTo>
                  <a:pt x="1211579" y="41910"/>
                </a:lnTo>
                <a:lnTo>
                  <a:pt x="1212341" y="38100"/>
                </a:lnTo>
                <a:close/>
              </a:path>
              <a:path w="1271270" h="76200">
                <a:moveTo>
                  <a:pt x="1271015" y="38100"/>
                </a:moveTo>
                <a:lnTo>
                  <a:pt x="1194815" y="0"/>
                </a:lnTo>
                <a:lnTo>
                  <a:pt x="1194815" y="33527"/>
                </a:lnTo>
                <a:lnTo>
                  <a:pt x="1207769" y="33527"/>
                </a:lnTo>
                <a:lnTo>
                  <a:pt x="1211579" y="35051"/>
                </a:lnTo>
                <a:lnTo>
                  <a:pt x="1212341" y="38100"/>
                </a:lnTo>
                <a:lnTo>
                  <a:pt x="1212341" y="67437"/>
                </a:lnTo>
                <a:lnTo>
                  <a:pt x="1271015" y="38100"/>
                </a:lnTo>
                <a:close/>
              </a:path>
              <a:path w="1271270" h="76200">
                <a:moveTo>
                  <a:pt x="1212341" y="67437"/>
                </a:moveTo>
                <a:lnTo>
                  <a:pt x="1212341" y="38100"/>
                </a:lnTo>
                <a:lnTo>
                  <a:pt x="1211579" y="41910"/>
                </a:lnTo>
                <a:lnTo>
                  <a:pt x="1207769" y="43434"/>
                </a:lnTo>
                <a:lnTo>
                  <a:pt x="1194815" y="43434"/>
                </a:lnTo>
                <a:lnTo>
                  <a:pt x="1194815" y="76200"/>
                </a:lnTo>
                <a:lnTo>
                  <a:pt x="1212341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1821814" y="3383788"/>
            <a:ext cx="1080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5285" marR="5080" indent="-36322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synchronization  point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656219" y="4438141"/>
            <a:ext cx="1317625" cy="76200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76200" y="33528"/>
                </a:move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58674" y="38100"/>
                </a:lnTo>
                <a:lnTo>
                  <a:pt x="59436" y="35052"/>
                </a:lnTo>
                <a:lnTo>
                  <a:pt x="63245" y="33528"/>
                </a:lnTo>
                <a:lnTo>
                  <a:pt x="76200" y="33528"/>
                </a:lnTo>
                <a:close/>
              </a:path>
              <a:path w="1317625" h="76200">
                <a:moveTo>
                  <a:pt x="1317497" y="38100"/>
                </a:moveTo>
                <a:lnTo>
                  <a:pt x="1315973" y="35052"/>
                </a:lnTo>
                <a:lnTo>
                  <a:pt x="1312163" y="33528"/>
                </a:lnTo>
                <a:lnTo>
                  <a:pt x="63245" y="33528"/>
                </a:lnTo>
                <a:lnTo>
                  <a:pt x="59436" y="35052"/>
                </a:lnTo>
                <a:lnTo>
                  <a:pt x="58674" y="38100"/>
                </a:lnTo>
                <a:lnTo>
                  <a:pt x="59436" y="41910"/>
                </a:lnTo>
                <a:lnTo>
                  <a:pt x="63245" y="43434"/>
                </a:lnTo>
                <a:lnTo>
                  <a:pt x="1312163" y="43434"/>
                </a:lnTo>
                <a:lnTo>
                  <a:pt x="1315973" y="41910"/>
                </a:lnTo>
                <a:lnTo>
                  <a:pt x="1317497" y="38100"/>
                </a:lnTo>
                <a:close/>
              </a:path>
              <a:path w="1317625" h="76200">
                <a:moveTo>
                  <a:pt x="76200" y="76200"/>
                </a:moveTo>
                <a:lnTo>
                  <a:pt x="76200" y="43434"/>
                </a:lnTo>
                <a:lnTo>
                  <a:pt x="63245" y="43434"/>
                </a:lnTo>
                <a:lnTo>
                  <a:pt x="59436" y="41910"/>
                </a:lnTo>
                <a:lnTo>
                  <a:pt x="58674" y="38100"/>
                </a:lnTo>
                <a:lnTo>
                  <a:pt x="58674" y="67437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644789" y="5063744"/>
            <a:ext cx="1317625" cy="76200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1266443" y="38100"/>
                </a:moveTo>
                <a:lnTo>
                  <a:pt x="1263426" y="33527"/>
                </a:lnTo>
                <a:lnTo>
                  <a:pt x="4572" y="33527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909"/>
                </a:lnTo>
                <a:lnTo>
                  <a:pt x="4572" y="42671"/>
                </a:lnTo>
                <a:lnTo>
                  <a:pt x="1263426" y="42671"/>
                </a:lnTo>
                <a:lnTo>
                  <a:pt x="1266443" y="38100"/>
                </a:lnTo>
                <a:close/>
              </a:path>
              <a:path w="1317625" h="76200">
                <a:moveTo>
                  <a:pt x="1317497" y="38100"/>
                </a:moveTo>
                <a:lnTo>
                  <a:pt x="1241297" y="0"/>
                </a:lnTo>
                <a:lnTo>
                  <a:pt x="1263426" y="33527"/>
                </a:lnTo>
                <a:lnTo>
                  <a:pt x="1266443" y="33527"/>
                </a:lnTo>
                <a:lnTo>
                  <a:pt x="1270253" y="35051"/>
                </a:lnTo>
                <a:lnTo>
                  <a:pt x="1271777" y="38100"/>
                </a:lnTo>
                <a:lnTo>
                  <a:pt x="1271777" y="60959"/>
                </a:lnTo>
                <a:lnTo>
                  <a:pt x="1317497" y="38100"/>
                </a:lnTo>
                <a:close/>
              </a:path>
              <a:path w="1317625" h="76200">
                <a:moveTo>
                  <a:pt x="1271777" y="60959"/>
                </a:moveTo>
                <a:lnTo>
                  <a:pt x="1271777" y="38100"/>
                </a:lnTo>
                <a:lnTo>
                  <a:pt x="1270253" y="41909"/>
                </a:lnTo>
                <a:lnTo>
                  <a:pt x="1266443" y="42671"/>
                </a:lnTo>
                <a:lnTo>
                  <a:pt x="1263426" y="42672"/>
                </a:lnTo>
                <a:lnTo>
                  <a:pt x="1241297" y="76200"/>
                </a:lnTo>
                <a:lnTo>
                  <a:pt x="1271777" y="60959"/>
                </a:lnTo>
                <a:close/>
              </a:path>
              <a:path w="1317625" h="76200">
                <a:moveTo>
                  <a:pt x="1271777" y="38100"/>
                </a:moveTo>
                <a:lnTo>
                  <a:pt x="1270253" y="35051"/>
                </a:lnTo>
                <a:lnTo>
                  <a:pt x="1266443" y="33527"/>
                </a:lnTo>
                <a:lnTo>
                  <a:pt x="1263426" y="33527"/>
                </a:lnTo>
                <a:lnTo>
                  <a:pt x="1266443" y="38100"/>
                </a:lnTo>
                <a:lnTo>
                  <a:pt x="1266443" y="42671"/>
                </a:lnTo>
                <a:lnTo>
                  <a:pt x="1270253" y="41909"/>
                </a:lnTo>
                <a:lnTo>
                  <a:pt x="1271777" y="38100"/>
                </a:lnTo>
                <a:close/>
              </a:path>
              <a:path w="1317625" h="76200">
                <a:moveTo>
                  <a:pt x="1266443" y="42671"/>
                </a:moveTo>
                <a:lnTo>
                  <a:pt x="1266443" y="38100"/>
                </a:lnTo>
                <a:lnTo>
                  <a:pt x="1263426" y="42672"/>
                </a:lnTo>
                <a:lnTo>
                  <a:pt x="1266443" y="426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9255" y="4467097"/>
            <a:ext cx="219710" cy="665480"/>
          </a:xfrm>
          <a:custGeom>
            <a:avLst/>
            <a:gdLst/>
            <a:ahLst/>
            <a:cxnLst/>
            <a:rect l="l" t="t" r="r" b="b"/>
            <a:pathLst>
              <a:path w="219710" h="665479">
                <a:moveTo>
                  <a:pt x="169186" y="39412"/>
                </a:moveTo>
                <a:lnTo>
                  <a:pt x="168402" y="33527"/>
                </a:lnTo>
                <a:lnTo>
                  <a:pt x="163369" y="32226"/>
                </a:lnTo>
                <a:lnTo>
                  <a:pt x="146304" y="47243"/>
                </a:lnTo>
                <a:lnTo>
                  <a:pt x="111252" y="81534"/>
                </a:lnTo>
                <a:lnTo>
                  <a:pt x="80990" y="114280"/>
                </a:lnTo>
                <a:lnTo>
                  <a:pt x="55024" y="145578"/>
                </a:lnTo>
                <a:lnTo>
                  <a:pt x="25651" y="192421"/>
                </a:lnTo>
                <a:lnTo>
                  <a:pt x="3302" y="256210"/>
                </a:lnTo>
                <a:lnTo>
                  <a:pt x="0" y="291084"/>
                </a:lnTo>
                <a:lnTo>
                  <a:pt x="5599" y="334616"/>
                </a:lnTo>
                <a:lnTo>
                  <a:pt x="10021" y="348820"/>
                </a:lnTo>
                <a:lnTo>
                  <a:pt x="10021" y="279178"/>
                </a:lnTo>
                <a:lnTo>
                  <a:pt x="15011" y="246430"/>
                </a:lnTo>
                <a:lnTo>
                  <a:pt x="40386" y="185927"/>
                </a:lnTo>
                <a:lnTo>
                  <a:pt x="61145" y="153466"/>
                </a:lnTo>
                <a:lnTo>
                  <a:pt x="85344" y="123443"/>
                </a:lnTo>
                <a:lnTo>
                  <a:pt x="134874" y="70865"/>
                </a:lnTo>
                <a:lnTo>
                  <a:pt x="169186" y="39412"/>
                </a:lnTo>
                <a:close/>
              </a:path>
              <a:path w="219710" h="665479">
                <a:moveTo>
                  <a:pt x="219456" y="660653"/>
                </a:moveTo>
                <a:lnTo>
                  <a:pt x="218694" y="657605"/>
                </a:lnTo>
                <a:lnTo>
                  <a:pt x="198882" y="633222"/>
                </a:lnTo>
                <a:lnTo>
                  <a:pt x="141732" y="560069"/>
                </a:lnTo>
                <a:lnTo>
                  <a:pt x="103489" y="508115"/>
                </a:lnTo>
                <a:lnTo>
                  <a:pt x="67818" y="454151"/>
                </a:lnTo>
                <a:lnTo>
                  <a:pt x="49202" y="420902"/>
                </a:lnTo>
                <a:lnTo>
                  <a:pt x="32289" y="385567"/>
                </a:lnTo>
                <a:lnTo>
                  <a:pt x="19044" y="348901"/>
                </a:lnTo>
                <a:lnTo>
                  <a:pt x="10021" y="279178"/>
                </a:lnTo>
                <a:lnTo>
                  <a:pt x="10021" y="348820"/>
                </a:lnTo>
                <a:lnTo>
                  <a:pt x="39917" y="423872"/>
                </a:lnTo>
                <a:lnTo>
                  <a:pt x="65392" y="468312"/>
                </a:lnTo>
                <a:lnTo>
                  <a:pt x="94250" y="511770"/>
                </a:lnTo>
                <a:lnTo>
                  <a:pt x="124869" y="553604"/>
                </a:lnTo>
                <a:lnTo>
                  <a:pt x="155626" y="593172"/>
                </a:lnTo>
                <a:lnTo>
                  <a:pt x="211074" y="662939"/>
                </a:lnTo>
                <a:lnTo>
                  <a:pt x="214122" y="665226"/>
                </a:lnTo>
                <a:lnTo>
                  <a:pt x="217932" y="663701"/>
                </a:lnTo>
                <a:lnTo>
                  <a:pt x="219456" y="660653"/>
                </a:lnTo>
                <a:close/>
              </a:path>
              <a:path w="219710" h="665479">
                <a:moveTo>
                  <a:pt x="205740" y="0"/>
                </a:moveTo>
                <a:lnTo>
                  <a:pt x="124206" y="22098"/>
                </a:lnTo>
                <a:lnTo>
                  <a:pt x="163369" y="32226"/>
                </a:lnTo>
                <a:lnTo>
                  <a:pt x="165354" y="30479"/>
                </a:lnTo>
                <a:lnTo>
                  <a:pt x="168402" y="28955"/>
                </a:lnTo>
                <a:lnTo>
                  <a:pt x="171450" y="30479"/>
                </a:lnTo>
                <a:lnTo>
                  <a:pt x="172974" y="34289"/>
                </a:lnTo>
                <a:lnTo>
                  <a:pt x="172974" y="67817"/>
                </a:lnTo>
                <a:lnTo>
                  <a:pt x="174498" y="79248"/>
                </a:lnTo>
                <a:lnTo>
                  <a:pt x="205740" y="0"/>
                </a:lnTo>
                <a:close/>
              </a:path>
              <a:path w="219710" h="665479">
                <a:moveTo>
                  <a:pt x="172974" y="34289"/>
                </a:moveTo>
                <a:lnTo>
                  <a:pt x="171450" y="30479"/>
                </a:lnTo>
                <a:lnTo>
                  <a:pt x="168402" y="28955"/>
                </a:lnTo>
                <a:lnTo>
                  <a:pt x="165354" y="30479"/>
                </a:lnTo>
                <a:lnTo>
                  <a:pt x="163369" y="32226"/>
                </a:lnTo>
                <a:lnTo>
                  <a:pt x="168402" y="33527"/>
                </a:lnTo>
                <a:lnTo>
                  <a:pt x="169186" y="39412"/>
                </a:lnTo>
                <a:lnTo>
                  <a:pt x="171450" y="37337"/>
                </a:lnTo>
                <a:lnTo>
                  <a:pt x="172974" y="34289"/>
                </a:lnTo>
                <a:close/>
              </a:path>
              <a:path w="219710" h="665479">
                <a:moveTo>
                  <a:pt x="172974" y="67817"/>
                </a:moveTo>
                <a:lnTo>
                  <a:pt x="172974" y="34289"/>
                </a:lnTo>
                <a:lnTo>
                  <a:pt x="171450" y="37337"/>
                </a:lnTo>
                <a:lnTo>
                  <a:pt x="169186" y="39412"/>
                </a:lnTo>
                <a:lnTo>
                  <a:pt x="172974" y="678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317885" y="4483100"/>
            <a:ext cx="237490" cy="665480"/>
          </a:xfrm>
          <a:custGeom>
            <a:avLst/>
            <a:gdLst/>
            <a:ahLst/>
            <a:cxnLst/>
            <a:rect l="l" t="t" r="r" b="b"/>
            <a:pathLst>
              <a:path w="237489" h="665479">
                <a:moveTo>
                  <a:pt x="79248" y="31241"/>
                </a:moveTo>
                <a:lnTo>
                  <a:pt x="0" y="0"/>
                </a:lnTo>
                <a:lnTo>
                  <a:pt x="22098" y="82296"/>
                </a:lnTo>
                <a:lnTo>
                  <a:pt x="28956" y="57435"/>
                </a:lnTo>
                <a:lnTo>
                  <a:pt x="28956" y="37337"/>
                </a:lnTo>
                <a:lnTo>
                  <a:pt x="30480" y="34289"/>
                </a:lnTo>
                <a:lnTo>
                  <a:pt x="34289" y="32765"/>
                </a:lnTo>
                <a:lnTo>
                  <a:pt x="37337" y="34289"/>
                </a:lnTo>
                <a:lnTo>
                  <a:pt x="39892" y="37245"/>
                </a:lnTo>
                <a:lnTo>
                  <a:pt x="79248" y="31241"/>
                </a:lnTo>
                <a:close/>
              </a:path>
              <a:path w="237489" h="665479">
                <a:moveTo>
                  <a:pt x="227075" y="425960"/>
                </a:moveTo>
                <a:lnTo>
                  <a:pt x="227075" y="368808"/>
                </a:lnTo>
                <a:lnTo>
                  <a:pt x="223089" y="407843"/>
                </a:lnTo>
                <a:lnTo>
                  <a:pt x="210197" y="444650"/>
                </a:lnTo>
                <a:lnTo>
                  <a:pt x="190885" y="478969"/>
                </a:lnTo>
                <a:lnTo>
                  <a:pt x="167639" y="510539"/>
                </a:lnTo>
                <a:lnTo>
                  <a:pt x="129744" y="551030"/>
                </a:lnTo>
                <a:lnTo>
                  <a:pt x="89154" y="589026"/>
                </a:lnTo>
                <a:lnTo>
                  <a:pt x="28194" y="639317"/>
                </a:lnTo>
                <a:lnTo>
                  <a:pt x="6858" y="656082"/>
                </a:lnTo>
                <a:lnTo>
                  <a:pt x="5334" y="659891"/>
                </a:lnTo>
                <a:lnTo>
                  <a:pt x="6096" y="662939"/>
                </a:lnTo>
                <a:lnTo>
                  <a:pt x="9144" y="665226"/>
                </a:lnTo>
                <a:lnTo>
                  <a:pt x="12954" y="663701"/>
                </a:lnTo>
                <a:lnTo>
                  <a:pt x="54863" y="630174"/>
                </a:lnTo>
                <a:lnTo>
                  <a:pt x="95250" y="595884"/>
                </a:lnTo>
                <a:lnTo>
                  <a:pt x="133350" y="560832"/>
                </a:lnTo>
                <a:lnTo>
                  <a:pt x="171083" y="520382"/>
                </a:lnTo>
                <a:lnTo>
                  <a:pt x="202347" y="478786"/>
                </a:lnTo>
                <a:lnTo>
                  <a:pt x="219422" y="447174"/>
                </a:lnTo>
                <a:lnTo>
                  <a:pt x="227075" y="425960"/>
                </a:lnTo>
                <a:close/>
              </a:path>
              <a:path w="237489" h="665479">
                <a:moveTo>
                  <a:pt x="39892" y="37245"/>
                </a:moveTo>
                <a:lnTo>
                  <a:pt x="37337" y="34289"/>
                </a:lnTo>
                <a:lnTo>
                  <a:pt x="34289" y="32765"/>
                </a:lnTo>
                <a:lnTo>
                  <a:pt x="30480" y="34289"/>
                </a:lnTo>
                <a:lnTo>
                  <a:pt x="28956" y="37337"/>
                </a:lnTo>
                <a:lnTo>
                  <a:pt x="30480" y="41148"/>
                </a:lnTo>
                <a:lnTo>
                  <a:pt x="32726" y="43768"/>
                </a:lnTo>
                <a:lnTo>
                  <a:pt x="34289" y="38100"/>
                </a:lnTo>
                <a:lnTo>
                  <a:pt x="39892" y="37245"/>
                </a:lnTo>
                <a:close/>
              </a:path>
              <a:path w="237489" h="665479">
                <a:moveTo>
                  <a:pt x="32726" y="43768"/>
                </a:moveTo>
                <a:lnTo>
                  <a:pt x="30480" y="41148"/>
                </a:lnTo>
                <a:lnTo>
                  <a:pt x="28956" y="37337"/>
                </a:lnTo>
                <a:lnTo>
                  <a:pt x="28956" y="57435"/>
                </a:lnTo>
                <a:lnTo>
                  <a:pt x="32726" y="43768"/>
                </a:lnTo>
                <a:close/>
              </a:path>
              <a:path w="237489" h="665479">
                <a:moveTo>
                  <a:pt x="236982" y="379475"/>
                </a:moveTo>
                <a:lnTo>
                  <a:pt x="233077" y="333526"/>
                </a:lnTo>
                <a:lnTo>
                  <a:pt x="218333" y="286475"/>
                </a:lnTo>
                <a:lnTo>
                  <a:pt x="195163" y="239273"/>
                </a:lnTo>
                <a:lnTo>
                  <a:pt x="165977" y="192871"/>
                </a:lnTo>
                <a:lnTo>
                  <a:pt x="133190" y="148221"/>
                </a:lnTo>
                <a:lnTo>
                  <a:pt x="99212" y="106273"/>
                </a:lnTo>
                <a:lnTo>
                  <a:pt x="39892" y="37245"/>
                </a:lnTo>
                <a:lnTo>
                  <a:pt x="34289" y="38100"/>
                </a:lnTo>
                <a:lnTo>
                  <a:pt x="32726" y="43768"/>
                </a:lnTo>
                <a:lnTo>
                  <a:pt x="39624" y="51815"/>
                </a:lnTo>
                <a:lnTo>
                  <a:pt x="81534" y="99822"/>
                </a:lnTo>
                <a:lnTo>
                  <a:pt x="119949" y="147058"/>
                </a:lnTo>
                <a:lnTo>
                  <a:pt x="154370" y="193436"/>
                </a:lnTo>
                <a:lnTo>
                  <a:pt x="191032" y="251954"/>
                </a:lnTo>
                <a:lnTo>
                  <a:pt x="209349" y="289912"/>
                </a:lnTo>
                <a:lnTo>
                  <a:pt x="222433" y="329599"/>
                </a:lnTo>
                <a:lnTo>
                  <a:pt x="227075" y="368808"/>
                </a:lnTo>
                <a:lnTo>
                  <a:pt x="227075" y="425960"/>
                </a:lnTo>
                <a:lnTo>
                  <a:pt x="231561" y="413527"/>
                </a:lnTo>
                <a:lnTo>
                  <a:pt x="236982" y="3794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1695323" y="1157223"/>
            <a:ext cx="1092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541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Stream  </a:t>
            </a:r>
            <a:r>
              <a:rPr sz="1800" b="1" spc="-5" dirty="0">
                <a:latin typeface="Arial"/>
                <a:cs typeface="Arial"/>
              </a:rPr>
              <a:t>(e.g.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TCP)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4874145" y="1867916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873383" y="1867916"/>
            <a:ext cx="1336040" cy="232410"/>
          </a:xfrm>
          <a:custGeom>
            <a:avLst/>
            <a:gdLst/>
            <a:ahLst/>
            <a:cxnLst/>
            <a:rect l="l" t="t" r="r" b="b"/>
            <a:pathLst>
              <a:path w="1336039" h="232410">
                <a:moveTo>
                  <a:pt x="0" y="0"/>
                </a:moveTo>
                <a:lnTo>
                  <a:pt x="0" y="232410"/>
                </a:lnTo>
                <a:lnTo>
                  <a:pt x="1335786" y="232410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5213477" y="1859025"/>
            <a:ext cx="6559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5510415" y="2104898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5843"/>
                </a:lnTo>
                <a:lnTo>
                  <a:pt x="34289" y="279653"/>
                </a:lnTo>
                <a:lnTo>
                  <a:pt x="38100" y="281177"/>
                </a:lnTo>
                <a:lnTo>
                  <a:pt x="41135" y="279653"/>
                </a:lnTo>
                <a:lnTo>
                  <a:pt x="42659" y="275843"/>
                </a:lnTo>
                <a:lnTo>
                  <a:pt x="42659" y="330733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59" y="263651"/>
                </a:moveTo>
                <a:lnTo>
                  <a:pt x="42659" y="4571"/>
                </a:lnTo>
                <a:lnTo>
                  <a:pt x="41135" y="1523"/>
                </a:lnTo>
                <a:lnTo>
                  <a:pt x="38100" y="0"/>
                </a:lnTo>
                <a:lnTo>
                  <a:pt x="34289" y="1523"/>
                </a:lnTo>
                <a:lnTo>
                  <a:pt x="33527" y="4571"/>
                </a:lnTo>
                <a:lnTo>
                  <a:pt x="33527" y="263651"/>
                </a:lnTo>
                <a:lnTo>
                  <a:pt x="42659" y="263651"/>
                </a:lnTo>
                <a:close/>
              </a:path>
              <a:path w="76200" h="340360">
                <a:moveTo>
                  <a:pt x="42659" y="330733"/>
                </a:moveTo>
                <a:lnTo>
                  <a:pt x="42659" y="275843"/>
                </a:lnTo>
                <a:lnTo>
                  <a:pt x="41135" y="279653"/>
                </a:lnTo>
                <a:lnTo>
                  <a:pt x="38100" y="281177"/>
                </a:lnTo>
                <a:lnTo>
                  <a:pt x="34289" y="279653"/>
                </a:lnTo>
                <a:lnTo>
                  <a:pt x="33527" y="275843"/>
                </a:lnTo>
                <a:lnTo>
                  <a:pt x="33527" y="330707"/>
                </a:lnTo>
                <a:lnTo>
                  <a:pt x="38100" y="339851"/>
                </a:lnTo>
                <a:lnTo>
                  <a:pt x="42659" y="3307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877193" y="2474467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877193" y="2474467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5305678" y="2465577"/>
            <a:ext cx="4787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bind()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5513451" y="2711450"/>
            <a:ext cx="76200" cy="1631950"/>
          </a:xfrm>
          <a:custGeom>
            <a:avLst/>
            <a:gdLst/>
            <a:ahLst/>
            <a:cxnLst/>
            <a:rect l="l" t="t" r="r" b="b"/>
            <a:pathLst>
              <a:path w="76200" h="1631950">
                <a:moveTo>
                  <a:pt x="76200" y="1555241"/>
                </a:moveTo>
                <a:lnTo>
                  <a:pt x="0" y="1555241"/>
                </a:lnTo>
                <a:lnTo>
                  <a:pt x="33540" y="1622323"/>
                </a:lnTo>
                <a:lnTo>
                  <a:pt x="33540" y="1568195"/>
                </a:lnTo>
                <a:lnTo>
                  <a:pt x="35064" y="1571243"/>
                </a:lnTo>
                <a:lnTo>
                  <a:pt x="38100" y="1572767"/>
                </a:lnTo>
                <a:lnTo>
                  <a:pt x="41922" y="1571243"/>
                </a:lnTo>
                <a:lnTo>
                  <a:pt x="42684" y="1568195"/>
                </a:lnTo>
                <a:lnTo>
                  <a:pt x="42684" y="1622272"/>
                </a:lnTo>
                <a:lnTo>
                  <a:pt x="76200" y="1555241"/>
                </a:lnTo>
                <a:close/>
              </a:path>
              <a:path w="76200" h="1631950">
                <a:moveTo>
                  <a:pt x="42684" y="1555241"/>
                </a:moveTo>
                <a:lnTo>
                  <a:pt x="42684" y="4571"/>
                </a:lnTo>
                <a:lnTo>
                  <a:pt x="41922" y="761"/>
                </a:lnTo>
                <a:lnTo>
                  <a:pt x="38100" y="0"/>
                </a:lnTo>
                <a:lnTo>
                  <a:pt x="35064" y="761"/>
                </a:lnTo>
                <a:lnTo>
                  <a:pt x="33540" y="4571"/>
                </a:lnTo>
                <a:lnTo>
                  <a:pt x="33540" y="1555241"/>
                </a:lnTo>
                <a:lnTo>
                  <a:pt x="42684" y="1555241"/>
                </a:lnTo>
                <a:close/>
              </a:path>
              <a:path w="76200" h="1631950">
                <a:moveTo>
                  <a:pt x="42684" y="1622272"/>
                </a:moveTo>
                <a:lnTo>
                  <a:pt x="42684" y="1568195"/>
                </a:lnTo>
                <a:lnTo>
                  <a:pt x="41922" y="1571243"/>
                </a:lnTo>
                <a:lnTo>
                  <a:pt x="38100" y="1572767"/>
                </a:lnTo>
                <a:lnTo>
                  <a:pt x="35064" y="1571243"/>
                </a:lnTo>
                <a:lnTo>
                  <a:pt x="33540" y="1568195"/>
                </a:lnTo>
                <a:lnTo>
                  <a:pt x="33540" y="1622323"/>
                </a:lnTo>
                <a:lnTo>
                  <a:pt x="38100" y="1631441"/>
                </a:lnTo>
                <a:lnTo>
                  <a:pt x="42684" y="1622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871859" y="4386326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8"/>
                </a:lnTo>
                <a:lnTo>
                  <a:pt x="1335785" y="231648"/>
                </a:lnTo>
                <a:lnTo>
                  <a:pt x="1335785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871859" y="438632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5122811" y="4376673"/>
            <a:ext cx="8318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recvfrom()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5508891" y="4622546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15" y="330682"/>
                </a:lnTo>
                <a:lnTo>
                  <a:pt x="33515" y="275843"/>
                </a:lnTo>
                <a:lnTo>
                  <a:pt x="34289" y="279653"/>
                </a:lnTo>
                <a:lnTo>
                  <a:pt x="38100" y="281177"/>
                </a:lnTo>
                <a:lnTo>
                  <a:pt x="41135" y="279653"/>
                </a:lnTo>
                <a:lnTo>
                  <a:pt x="42659" y="275843"/>
                </a:lnTo>
                <a:lnTo>
                  <a:pt x="42659" y="330733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59" y="263651"/>
                </a:moveTo>
                <a:lnTo>
                  <a:pt x="42659" y="4571"/>
                </a:lnTo>
                <a:lnTo>
                  <a:pt x="41135" y="1524"/>
                </a:lnTo>
                <a:lnTo>
                  <a:pt x="38100" y="0"/>
                </a:lnTo>
                <a:lnTo>
                  <a:pt x="34289" y="1524"/>
                </a:lnTo>
                <a:lnTo>
                  <a:pt x="33515" y="4571"/>
                </a:lnTo>
                <a:lnTo>
                  <a:pt x="33515" y="263651"/>
                </a:lnTo>
                <a:lnTo>
                  <a:pt x="42659" y="263651"/>
                </a:lnTo>
                <a:close/>
              </a:path>
              <a:path w="76200" h="340360">
                <a:moveTo>
                  <a:pt x="42659" y="330733"/>
                </a:moveTo>
                <a:lnTo>
                  <a:pt x="42659" y="275843"/>
                </a:lnTo>
                <a:lnTo>
                  <a:pt x="41135" y="279653"/>
                </a:lnTo>
                <a:lnTo>
                  <a:pt x="38100" y="281177"/>
                </a:lnTo>
                <a:lnTo>
                  <a:pt x="34289" y="279653"/>
                </a:lnTo>
                <a:lnTo>
                  <a:pt x="33515" y="275843"/>
                </a:lnTo>
                <a:lnTo>
                  <a:pt x="33515" y="330682"/>
                </a:lnTo>
                <a:lnTo>
                  <a:pt x="38100" y="339851"/>
                </a:lnTo>
                <a:lnTo>
                  <a:pt x="42659" y="3307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875669" y="499211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3" y="232410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875669" y="499211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3" y="232410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5205857" y="4983226"/>
            <a:ext cx="6750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sendto()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5511927" y="5229097"/>
            <a:ext cx="76200" cy="539750"/>
          </a:xfrm>
          <a:custGeom>
            <a:avLst/>
            <a:gdLst/>
            <a:ahLst/>
            <a:cxnLst/>
            <a:rect l="l" t="t" r="r" b="b"/>
            <a:pathLst>
              <a:path w="76200" h="539750">
                <a:moveTo>
                  <a:pt x="76200" y="463296"/>
                </a:moveTo>
                <a:lnTo>
                  <a:pt x="0" y="463296"/>
                </a:lnTo>
                <a:lnTo>
                  <a:pt x="33540" y="530377"/>
                </a:lnTo>
                <a:lnTo>
                  <a:pt x="33540" y="476250"/>
                </a:lnTo>
                <a:lnTo>
                  <a:pt x="35064" y="479298"/>
                </a:lnTo>
                <a:lnTo>
                  <a:pt x="38100" y="480822"/>
                </a:lnTo>
                <a:lnTo>
                  <a:pt x="41148" y="479298"/>
                </a:lnTo>
                <a:lnTo>
                  <a:pt x="42672" y="476250"/>
                </a:lnTo>
                <a:lnTo>
                  <a:pt x="42672" y="530351"/>
                </a:lnTo>
                <a:lnTo>
                  <a:pt x="76200" y="463296"/>
                </a:lnTo>
                <a:close/>
              </a:path>
              <a:path w="76200" h="539750">
                <a:moveTo>
                  <a:pt x="42672" y="463296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5064" y="1524"/>
                </a:lnTo>
                <a:lnTo>
                  <a:pt x="33540" y="4572"/>
                </a:lnTo>
                <a:lnTo>
                  <a:pt x="33540" y="463296"/>
                </a:lnTo>
                <a:lnTo>
                  <a:pt x="42672" y="463296"/>
                </a:lnTo>
                <a:close/>
              </a:path>
              <a:path w="76200" h="539750">
                <a:moveTo>
                  <a:pt x="42672" y="530351"/>
                </a:moveTo>
                <a:lnTo>
                  <a:pt x="42672" y="476250"/>
                </a:lnTo>
                <a:lnTo>
                  <a:pt x="41148" y="479298"/>
                </a:lnTo>
                <a:lnTo>
                  <a:pt x="38100" y="480822"/>
                </a:lnTo>
                <a:lnTo>
                  <a:pt x="35064" y="479298"/>
                </a:lnTo>
                <a:lnTo>
                  <a:pt x="33540" y="476250"/>
                </a:lnTo>
                <a:lnTo>
                  <a:pt x="33540" y="530377"/>
                </a:lnTo>
                <a:lnTo>
                  <a:pt x="38100" y="539496"/>
                </a:lnTo>
                <a:lnTo>
                  <a:pt x="42672" y="530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880241" y="5799073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880241" y="5799073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5269103" y="5789421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218810" y="1554225"/>
            <a:ext cx="6578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Server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7515225" y="1876298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515225" y="1876298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7855331" y="1867407"/>
            <a:ext cx="6559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8152269" y="2701544"/>
            <a:ext cx="76200" cy="1632585"/>
          </a:xfrm>
          <a:custGeom>
            <a:avLst/>
            <a:gdLst/>
            <a:ahLst/>
            <a:cxnLst/>
            <a:rect l="l" t="t" r="r" b="b"/>
            <a:pathLst>
              <a:path w="76200" h="1632585">
                <a:moveTo>
                  <a:pt x="76200" y="1556004"/>
                </a:moveTo>
                <a:lnTo>
                  <a:pt x="0" y="1556004"/>
                </a:lnTo>
                <a:lnTo>
                  <a:pt x="32753" y="1621510"/>
                </a:lnTo>
                <a:lnTo>
                  <a:pt x="32753" y="1568196"/>
                </a:lnTo>
                <a:lnTo>
                  <a:pt x="34277" y="1572006"/>
                </a:lnTo>
                <a:lnTo>
                  <a:pt x="38100" y="1573530"/>
                </a:lnTo>
                <a:lnTo>
                  <a:pt x="41148" y="1572006"/>
                </a:lnTo>
                <a:lnTo>
                  <a:pt x="42672" y="1568196"/>
                </a:lnTo>
                <a:lnTo>
                  <a:pt x="42672" y="1623060"/>
                </a:lnTo>
                <a:lnTo>
                  <a:pt x="76200" y="1556004"/>
                </a:lnTo>
                <a:close/>
              </a:path>
              <a:path w="76200" h="1632585">
                <a:moveTo>
                  <a:pt x="42672" y="1556004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77" y="1524"/>
                </a:lnTo>
                <a:lnTo>
                  <a:pt x="32753" y="4572"/>
                </a:lnTo>
                <a:lnTo>
                  <a:pt x="32753" y="1556004"/>
                </a:lnTo>
                <a:lnTo>
                  <a:pt x="42672" y="1556004"/>
                </a:lnTo>
                <a:close/>
              </a:path>
              <a:path w="76200" h="1632585">
                <a:moveTo>
                  <a:pt x="42672" y="1623060"/>
                </a:moveTo>
                <a:lnTo>
                  <a:pt x="42672" y="1568196"/>
                </a:lnTo>
                <a:lnTo>
                  <a:pt x="41148" y="1572006"/>
                </a:lnTo>
                <a:lnTo>
                  <a:pt x="38100" y="1573530"/>
                </a:lnTo>
                <a:lnTo>
                  <a:pt x="34277" y="1572006"/>
                </a:lnTo>
                <a:lnTo>
                  <a:pt x="32753" y="1568196"/>
                </a:lnTo>
                <a:lnTo>
                  <a:pt x="32753" y="1621510"/>
                </a:lnTo>
                <a:lnTo>
                  <a:pt x="38100" y="1632204"/>
                </a:lnTo>
                <a:lnTo>
                  <a:pt x="42672" y="16230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513701" y="439394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7513701" y="439394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7843901" y="4385055"/>
            <a:ext cx="6750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sendto()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8149970" y="4630165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6606"/>
                </a:lnTo>
                <a:lnTo>
                  <a:pt x="35051" y="279654"/>
                </a:lnTo>
                <a:lnTo>
                  <a:pt x="38100" y="281178"/>
                </a:lnTo>
                <a:lnTo>
                  <a:pt x="41922" y="279654"/>
                </a:lnTo>
                <a:lnTo>
                  <a:pt x="43446" y="276606"/>
                </a:lnTo>
                <a:lnTo>
                  <a:pt x="43446" y="329158"/>
                </a:lnTo>
                <a:lnTo>
                  <a:pt x="76200" y="263651"/>
                </a:lnTo>
                <a:close/>
              </a:path>
              <a:path w="76200" h="340360">
                <a:moveTo>
                  <a:pt x="43446" y="263651"/>
                </a:moveTo>
                <a:lnTo>
                  <a:pt x="43446" y="5334"/>
                </a:lnTo>
                <a:lnTo>
                  <a:pt x="41922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7" y="5334"/>
                </a:lnTo>
                <a:lnTo>
                  <a:pt x="33527" y="263651"/>
                </a:lnTo>
                <a:lnTo>
                  <a:pt x="43446" y="263651"/>
                </a:lnTo>
                <a:close/>
              </a:path>
              <a:path w="76200" h="340360">
                <a:moveTo>
                  <a:pt x="43446" y="329158"/>
                </a:moveTo>
                <a:lnTo>
                  <a:pt x="43446" y="276606"/>
                </a:lnTo>
                <a:lnTo>
                  <a:pt x="41922" y="279654"/>
                </a:lnTo>
                <a:lnTo>
                  <a:pt x="38100" y="281178"/>
                </a:lnTo>
                <a:lnTo>
                  <a:pt x="35051" y="279654"/>
                </a:lnTo>
                <a:lnTo>
                  <a:pt x="33527" y="276606"/>
                </a:lnTo>
                <a:lnTo>
                  <a:pt x="33527" y="330707"/>
                </a:lnTo>
                <a:lnTo>
                  <a:pt x="38100" y="339851"/>
                </a:lnTo>
                <a:lnTo>
                  <a:pt x="43446" y="3291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516748" y="5000497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7516748" y="5000497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7767701" y="4991608"/>
            <a:ext cx="8318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recvfrom()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8153793" y="5236717"/>
            <a:ext cx="76200" cy="540385"/>
          </a:xfrm>
          <a:custGeom>
            <a:avLst/>
            <a:gdLst/>
            <a:ahLst/>
            <a:cxnLst/>
            <a:rect l="l" t="t" r="r" b="b"/>
            <a:pathLst>
              <a:path w="76200" h="540385">
                <a:moveTo>
                  <a:pt x="76200" y="464058"/>
                </a:moveTo>
                <a:lnTo>
                  <a:pt x="0" y="464058"/>
                </a:lnTo>
                <a:lnTo>
                  <a:pt x="32753" y="529564"/>
                </a:lnTo>
                <a:lnTo>
                  <a:pt x="32753" y="476250"/>
                </a:lnTo>
                <a:lnTo>
                  <a:pt x="34277" y="480060"/>
                </a:lnTo>
                <a:lnTo>
                  <a:pt x="38100" y="480822"/>
                </a:lnTo>
                <a:lnTo>
                  <a:pt x="41148" y="480060"/>
                </a:lnTo>
                <a:lnTo>
                  <a:pt x="42672" y="476250"/>
                </a:lnTo>
                <a:lnTo>
                  <a:pt x="42672" y="531113"/>
                </a:lnTo>
                <a:lnTo>
                  <a:pt x="76200" y="464058"/>
                </a:lnTo>
                <a:close/>
              </a:path>
              <a:path w="76200" h="540385">
                <a:moveTo>
                  <a:pt x="42672" y="464058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77" y="1524"/>
                </a:lnTo>
                <a:lnTo>
                  <a:pt x="32753" y="4572"/>
                </a:lnTo>
                <a:lnTo>
                  <a:pt x="32753" y="464058"/>
                </a:lnTo>
                <a:lnTo>
                  <a:pt x="42672" y="464058"/>
                </a:lnTo>
                <a:close/>
              </a:path>
              <a:path w="76200" h="540385">
                <a:moveTo>
                  <a:pt x="42672" y="531113"/>
                </a:moveTo>
                <a:lnTo>
                  <a:pt x="42672" y="476250"/>
                </a:lnTo>
                <a:lnTo>
                  <a:pt x="41148" y="480060"/>
                </a:lnTo>
                <a:lnTo>
                  <a:pt x="38100" y="480822"/>
                </a:lnTo>
                <a:lnTo>
                  <a:pt x="34277" y="480060"/>
                </a:lnTo>
                <a:lnTo>
                  <a:pt x="32753" y="476250"/>
                </a:lnTo>
                <a:lnTo>
                  <a:pt x="32753" y="529564"/>
                </a:lnTo>
                <a:lnTo>
                  <a:pt x="38100" y="540258"/>
                </a:lnTo>
                <a:lnTo>
                  <a:pt x="42672" y="531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522095" y="5806694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521333" y="5806694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40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7910956" y="5797803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7884286" y="1560322"/>
            <a:ext cx="5899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Client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6209169" y="4446523"/>
            <a:ext cx="1317625" cy="76200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76200" y="32765"/>
                </a:move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58674" y="38100"/>
                </a:lnTo>
                <a:lnTo>
                  <a:pt x="59436" y="34289"/>
                </a:lnTo>
                <a:lnTo>
                  <a:pt x="63246" y="32765"/>
                </a:lnTo>
                <a:lnTo>
                  <a:pt x="76200" y="32765"/>
                </a:lnTo>
                <a:close/>
              </a:path>
              <a:path w="1317625" h="76200">
                <a:moveTo>
                  <a:pt x="1317498" y="38100"/>
                </a:moveTo>
                <a:lnTo>
                  <a:pt x="1315974" y="34289"/>
                </a:lnTo>
                <a:lnTo>
                  <a:pt x="1312164" y="32765"/>
                </a:lnTo>
                <a:lnTo>
                  <a:pt x="63246" y="32765"/>
                </a:lnTo>
                <a:lnTo>
                  <a:pt x="59436" y="34289"/>
                </a:lnTo>
                <a:lnTo>
                  <a:pt x="58674" y="38100"/>
                </a:lnTo>
                <a:lnTo>
                  <a:pt x="59436" y="41148"/>
                </a:lnTo>
                <a:lnTo>
                  <a:pt x="63246" y="42672"/>
                </a:lnTo>
                <a:lnTo>
                  <a:pt x="1312164" y="42672"/>
                </a:lnTo>
                <a:lnTo>
                  <a:pt x="1315974" y="41148"/>
                </a:lnTo>
                <a:lnTo>
                  <a:pt x="1317498" y="38100"/>
                </a:lnTo>
                <a:close/>
              </a:path>
              <a:path w="1317625" h="76200">
                <a:moveTo>
                  <a:pt x="76200" y="76200"/>
                </a:moveTo>
                <a:lnTo>
                  <a:pt x="76200" y="42672"/>
                </a:lnTo>
                <a:lnTo>
                  <a:pt x="63246" y="42672"/>
                </a:lnTo>
                <a:lnTo>
                  <a:pt x="59436" y="41148"/>
                </a:lnTo>
                <a:lnTo>
                  <a:pt x="58674" y="38100"/>
                </a:lnTo>
                <a:lnTo>
                  <a:pt x="58674" y="67437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6197727" y="5072126"/>
            <a:ext cx="1317625" cy="76200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1266456" y="38100"/>
                </a:moveTo>
                <a:lnTo>
                  <a:pt x="1262934" y="32765"/>
                </a:lnTo>
                <a:lnTo>
                  <a:pt x="4572" y="32765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1263437" y="42672"/>
                </a:lnTo>
                <a:lnTo>
                  <a:pt x="1266456" y="38100"/>
                </a:lnTo>
                <a:close/>
              </a:path>
              <a:path w="1317625" h="76200">
                <a:moveTo>
                  <a:pt x="1317498" y="38100"/>
                </a:moveTo>
                <a:lnTo>
                  <a:pt x="1241298" y="0"/>
                </a:lnTo>
                <a:lnTo>
                  <a:pt x="1262934" y="32765"/>
                </a:lnTo>
                <a:lnTo>
                  <a:pt x="1266456" y="32765"/>
                </a:lnTo>
                <a:lnTo>
                  <a:pt x="1270266" y="34289"/>
                </a:lnTo>
                <a:lnTo>
                  <a:pt x="1271790" y="38100"/>
                </a:lnTo>
                <a:lnTo>
                  <a:pt x="1271790" y="60953"/>
                </a:lnTo>
                <a:lnTo>
                  <a:pt x="1317498" y="38100"/>
                </a:lnTo>
                <a:close/>
              </a:path>
              <a:path w="1317625" h="76200">
                <a:moveTo>
                  <a:pt x="1271790" y="60953"/>
                </a:moveTo>
                <a:lnTo>
                  <a:pt x="1271790" y="38100"/>
                </a:lnTo>
                <a:lnTo>
                  <a:pt x="1270266" y="41148"/>
                </a:lnTo>
                <a:lnTo>
                  <a:pt x="1266456" y="42672"/>
                </a:lnTo>
                <a:lnTo>
                  <a:pt x="1263437" y="42672"/>
                </a:lnTo>
                <a:lnTo>
                  <a:pt x="1241298" y="76200"/>
                </a:lnTo>
                <a:lnTo>
                  <a:pt x="1271790" y="60953"/>
                </a:lnTo>
                <a:close/>
              </a:path>
              <a:path w="1317625" h="76200">
                <a:moveTo>
                  <a:pt x="1271790" y="38100"/>
                </a:moveTo>
                <a:lnTo>
                  <a:pt x="1270266" y="34289"/>
                </a:lnTo>
                <a:lnTo>
                  <a:pt x="1266456" y="32765"/>
                </a:lnTo>
                <a:lnTo>
                  <a:pt x="1262934" y="32765"/>
                </a:lnTo>
                <a:lnTo>
                  <a:pt x="1266456" y="38100"/>
                </a:lnTo>
                <a:lnTo>
                  <a:pt x="1266456" y="42672"/>
                </a:lnTo>
                <a:lnTo>
                  <a:pt x="1270266" y="41148"/>
                </a:lnTo>
                <a:lnTo>
                  <a:pt x="1271790" y="38100"/>
                </a:lnTo>
                <a:close/>
              </a:path>
              <a:path w="1317625" h="76200">
                <a:moveTo>
                  <a:pt x="1266456" y="42672"/>
                </a:moveTo>
                <a:lnTo>
                  <a:pt x="1266456" y="38100"/>
                </a:lnTo>
                <a:lnTo>
                  <a:pt x="1263437" y="42672"/>
                </a:lnTo>
                <a:lnTo>
                  <a:pt x="1266456" y="426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592967" y="4474717"/>
            <a:ext cx="219075" cy="665480"/>
          </a:xfrm>
          <a:custGeom>
            <a:avLst/>
            <a:gdLst/>
            <a:ahLst/>
            <a:cxnLst/>
            <a:rect l="l" t="t" r="r" b="b"/>
            <a:pathLst>
              <a:path w="219075" h="665479">
                <a:moveTo>
                  <a:pt x="168344" y="39486"/>
                </a:moveTo>
                <a:lnTo>
                  <a:pt x="167639" y="34290"/>
                </a:lnTo>
                <a:lnTo>
                  <a:pt x="161938" y="32815"/>
                </a:lnTo>
                <a:lnTo>
                  <a:pt x="145541" y="47244"/>
                </a:lnTo>
                <a:lnTo>
                  <a:pt x="110489" y="82296"/>
                </a:lnTo>
                <a:lnTo>
                  <a:pt x="77724" y="117348"/>
                </a:lnTo>
                <a:lnTo>
                  <a:pt x="49444" y="153066"/>
                </a:lnTo>
                <a:lnTo>
                  <a:pt x="16859" y="209638"/>
                </a:lnTo>
                <a:lnTo>
                  <a:pt x="481" y="270774"/>
                </a:lnTo>
                <a:lnTo>
                  <a:pt x="0" y="302514"/>
                </a:lnTo>
                <a:lnTo>
                  <a:pt x="7214" y="344435"/>
                </a:lnTo>
                <a:lnTo>
                  <a:pt x="9143" y="350051"/>
                </a:lnTo>
                <a:lnTo>
                  <a:pt x="9143" y="301752"/>
                </a:lnTo>
                <a:lnTo>
                  <a:pt x="10822" y="264344"/>
                </a:lnTo>
                <a:lnTo>
                  <a:pt x="31925" y="200017"/>
                </a:lnTo>
                <a:lnTo>
                  <a:pt x="66236" y="146265"/>
                </a:lnTo>
                <a:lnTo>
                  <a:pt x="98396" y="107973"/>
                </a:lnTo>
                <a:lnTo>
                  <a:pt x="134112" y="71628"/>
                </a:lnTo>
                <a:lnTo>
                  <a:pt x="152400" y="54102"/>
                </a:lnTo>
                <a:lnTo>
                  <a:pt x="168344" y="39486"/>
                </a:lnTo>
                <a:close/>
              </a:path>
              <a:path w="219075" h="665479">
                <a:moveTo>
                  <a:pt x="218693" y="661416"/>
                </a:moveTo>
                <a:lnTo>
                  <a:pt x="217931" y="657606"/>
                </a:lnTo>
                <a:lnTo>
                  <a:pt x="198119" y="633222"/>
                </a:lnTo>
                <a:lnTo>
                  <a:pt x="160019" y="584454"/>
                </a:lnTo>
                <a:lnTo>
                  <a:pt x="135155" y="553062"/>
                </a:lnTo>
                <a:lnTo>
                  <a:pt x="111294" y="520879"/>
                </a:lnTo>
                <a:lnTo>
                  <a:pt x="88555" y="487908"/>
                </a:lnTo>
                <a:lnTo>
                  <a:pt x="67055" y="454152"/>
                </a:lnTo>
                <a:lnTo>
                  <a:pt x="46750" y="417832"/>
                </a:lnTo>
                <a:lnTo>
                  <a:pt x="29532" y="381061"/>
                </a:lnTo>
                <a:lnTo>
                  <a:pt x="16597" y="342736"/>
                </a:lnTo>
                <a:lnTo>
                  <a:pt x="9143" y="301752"/>
                </a:lnTo>
                <a:lnTo>
                  <a:pt x="9143" y="350051"/>
                </a:lnTo>
                <a:lnTo>
                  <a:pt x="21986" y="387434"/>
                </a:lnTo>
                <a:lnTo>
                  <a:pt x="42807" y="430857"/>
                </a:lnTo>
                <a:lnTo>
                  <a:pt x="68169" y="474050"/>
                </a:lnTo>
                <a:lnTo>
                  <a:pt x="96563" y="516361"/>
                </a:lnTo>
                <a:lnTo>
                  <a:pt x="126483" y="557134"/>
                </a:lnTo>
                <a:lnTo>
                  <a:pt x="156420" y="595718"/>
                </a:lnTo>
                <a:lnTo>
                  <a:pt x="210312" y="663702"/>
                </a:lnTo>
                <a:lnTo>
                  <a:pt x="213360" y="665226"/>
                </a:lnTo>
                <a:lnTo>
                  <a:pt x="217169" y="664464"/>
                </a:lnTo>
                <a:lnTo>
                  <a:pt x="218693" y="661416"/>
                </a:lnTo>
                <a:close/>
              </a:path>
              <a:path w="219075" h="665479">
                <a:moveTo>
                  <a:pt x="204977" y="0"/>
                </a:moveTo>
                <a:lnTo>
                  <a:pt x="123443" y="22860"/>
                </a:lnTo>
                <a:lnTo>
                  <a:pt x="161938" y="32815"/>
                </a:lnTo>
                <a:lnTo>
                  <a:pt x="164591" y="30480"/>
                </a:lnTo>
                <a:lnTo>
                  <a:pt x="167639" y="28956"/>
                </a:lnTo>
                <a:lnTo>
                  <a:pt x="170687" y="30480"/>
                </a:lnTo>
                <a:lnTo>
                  <a:pt x="172212" y="34290"/>
                </a:lnTo>
                <a:lnTo>
                  <a:pt x="172212" y="68008"/>
                </a:lnTo>
                <a:lnTo>
                  <a:pt x="173736" y="79248"/>
                </a:lnTo>
                <a:lnTo>
                  <a:pt x="204977" y="0"/>
                </a:lnTo>
                <a:close/>
              </a:path>
              <a:path w="219075" h="665479">
                <a:moveTo>
                  <a:pt x="172212" y="34290"/>
                </a:moveTo>
                <a:lnTo>
                  <a:pt x="170687" y="30480"/>
                </a:lnTo>
                <a:lnTo>
                  <a:pt x="167639" y="28956"/>
                </a:lnTo>
                <a:lnTo>
                  <a:pt x="164591" y="30480"/>
                </a:lnTo>
                <a:lnTo>
                  <a:pt x="161938" y="32815"/>
                </a:lnTo>
                <a:lnTo>
                  <a:pt x="167639" y="34290"/>
                </a:lnTo>
                <a:lnTo>
                  <a:pt x="168344" y="39486"/>
                </a:lnTo>
                <a:lnTo>
                  <a:pt x="170687" y="37337"/>
                </a:lnTo>
                <a:lnTo>
                  <a:pt x="172212" y="34290"/>
                </a:lnTo>
                <a:close/>
              </a:path>
              <a:path w="219075" h="665479">
                <a:moveTo>
                  <a:pt x="172212" y="68008"/>
                </a:moveTo>
                <a:lnTo>
                  <a:pt x="172212" y="34290"/>
                </a:lnTo>
                <a:lnTo>
                  <a:pt x="170687" y="37337"/>
                </a:lnTo>
                <a:lnTo>
                  <a:pt x="168344" y="39486"/>
                </a:lnTo>
                <a:lnTo>
                  <a:pt x="172212" y="680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8870822" y="4490720"/>
            <a:ext cx="236854" cy="665480"/>
          </a:xfrm>
          <a:custGeom>
            <a:avLst/>
            <a:gdLst/>
            <a:ahLst/>
            <a:cxnLst/>
            <a:rect l="l" t="t" r="r" b="b"/>
            <a:pathLst>
              <a:path w="236854" h="665479">
                <a:moveTo>
                  <a:pt x="79248" y="32003"/>
                </a:moveTo>
                <a:lnTo>
                  <a:pt x="0" y="0"/>
                </a:lnTo>
                <a:lnTo>
                  <a:pt x="22098" y="82295"/>
                </a:lnTo>
                <a:lnTo>
                  <a:pt x="28968" y="57415"/>
                </a:lnTo>
                <a:lnTo>
                  <a:pt x="28968" y="38100"/>
                </a:lnTo>
                <a:lnTo>
                  <a:pt x="30492" y="34289"/>
                </a:lnTo>
                <a:lnTo>
                  <a:pt x="34302" y="33527"/>
                </a:lnTo>
                <a:lnTo>
                  <a:pt x="37350" y="35051"/>
                </a:lnTo>
                <a:lnTo>
                  <a:pt x="39400" y="37408"/>
                </a:lnTo>
                <a:lnTo>
                  <a:pt x="79248" y="32003"/>
                </a:lnTo>
                <a:close/>
              </a:path>
              <a:path w="236854" h="665479">
                <a:moveTo>
                  <a:pt x="227075" y="427697"/>
                </a:moveTo>
                <a:lnTo>
                  <a:pt x="227075" y="369569"/>
                </a:lnTo>
                <a:lnTo>
                  <a:pt x="223702" y="405332"/>
                </a:lnTo>
                <a:lnTo>
                  <a:pt x="212450" y="439821"/>
                </a:lnTo>
                <a:lnTo>
                  <a:pt x="174498" y="501395"/>
                </a:lnTo>
                <a:lnTo>
                  <a:pt x="143122" y="538110"/>
                </a:lnTo>
                <a:lnTo>
                  <a:pt x="89153" y="589026"/>
                </a:lnTo>
                <a:lnTo>
                  <a:pt x="48780" y="623315"/>
                </a:lnTo>
                <a:lnTo>
                  <a:pt x="6870" y="656843"/>
                </a:lnTo>
                <a:lnTo>
                  <a:pt x="5346" y="659891"/>
                </a:lnTo>
                <a:lnTo>
                  <a:pt x="6108" y="663701"/>
                </a:lnTo>
                <a:lnTo>
                  <a:pt x="9156" y="665226"/>
                </a:lnTo>
                <a:lnTo>
                  <a:pt x="12953" y="664463"/>
                </a:lnTo>
                <a:lnTo>
                  <a:pt x="75450" y="613409"/>
                </a:lnTo>
                <a:lnTo>
                  <a:pt x="116436" y="577275"/>
                </a:lnTo>
                <a:lnTo>
                  <a:pt x="156400" y="537558"/>
                </a:lnTo>
                <a:lnTo>
                  <a:pt x="196445" y="488125"/>
                </a:lnTo>
                <a:lnTo>
                  <a:pt x="214572" y="457490"/>
                </a:lnTo>
                <a:lnTo>
                  <a:pt x="227075" y="427697"/>
                </a:lnTo>
                <a:close/>
              </a:path>
              <a:path w="236854" h="665479">
                <a:moveTo>
                  <a:pt x="39400" y="37408"/>
                </a:moveTo>
                <a:lnTo>
                  <a:pt x="37350" y="35051"/>
                </a:lnTo>
                <a:lnTo>
                  <a:pt x="34302" y="33527"/>
                </a:lnTo>
                <a:lnTo>
                  <a:pt x="30492" y="34289"/>
                </a:lnTo>
                <a:lnTo>
                  <a:pt x="28968" y="38100"/>
                </a:lnTo>
                <a:lnTo>
                  <a:pt x="30492" y="41147"/>
                </a:lnTo>
                <a:lnTo>
                  <a:pt x="32736" y="43769"/>
                </a:lnTo>
                <a:lnTo>
                  <a:pt x="34302" y="38100"/>
                </a:lnTo>
                <a:lnTo>
                  <a:pt x="39400" y="37408"/>
                </a:lnTo>
                <a:close/>
              </a:path>
              <a:path w="236854" h="665479">
                <a:moveTo>
                  <a:pt x="32736" y="43769"/>
                </a:moveTo>
                <a:lnTo>
                  <a:pt x="30492" y="41147"/>
                </a:lnTo>
                <a:lnTo>
                  <a:pt x="28968" y="38100"/>
                </a:lnTo>
                <a:lnTo>
                  <a:pt x="28968" y="57415"/>
                </a:lnTo>
                <a:lnTo>
                  <a:pt x="32736" y="43769"/>
                </a:lnTo>
                <a:close/>
              </a:path>
              <a:path w="236854" h="665479">
                <a:moveTo>
                  <a:pt x="236232" y="390143"/>
                </a:moveTo>
                <a:lnTo>
                  <a:pt x="235599" y="348397"/>
                </a:lnTo>
                <a:lnTo>
                  <a:pt x="225243" y="305446"/>
                </a:lnTo>
                <a:lnTo>
                  <a:pt x="207031" y="262051"/>
                </a:lnTo>
                <a:lnTo>
                  <a:pt x="182829" y="218976"/>
                </a:lnTo>
                <a:lnTo>
                  <a:pt x="154507" y="176981"/>
                </a:lnTo>
                <a:lnTo>
                  <a:pt x="123930" y="136829"/>
                </a:lnTo>
                <a:lnTo>
                  <a:pt x="92967" y="99282"/>
                </a:lnTo>
                <a:lnTo>
                  <a:pt x="39400" y="37408"/>
                </a:lnTo>
                <a:lnTo>
                  <a:pt x="34302" y="38100"/>
                </a:lnTo>
                <a:lnTo>
                  <a:pt x="32736" y="43769"/>
                </a:lnTo>
                <a:lnTo>
                  <a:pt x="39624" y="51815"/>
                </a:lnTo>
                <a:lnTo>
                  <a:pt x="60972" y="76200"/>
                </a:lnTo>
                <a:lnTo>
                  <a:pt x="101358" y="124205"/>
                </a:lnTo>
                <a:lnTo>
                  <a:pt x="135724" y="167836"/>
                </a:lnTo>
                <a:lnTo>
                  <a:pt x="164398" y="208381"/>
                </a:lnTo>
                <a:lnTo>
                  <a:pt x="196179" y="262136"/>
                </a:lnTo>
                <a:lnTo>
                  <a:pt x="223019" y="332473"/>
                </a:lnTo>
                <a:lnTo>
                  <a:pt x="227075" y="369569"/>
                </a:lnTo>
                <a:lnTo>
                  <a:pt x="227075" y="427697"/>
                </a:lnTo>
                <a:lnTo>
                  <a:pt x="228290" y="424804"/>
                </a:lnTo>
                <a:lnTo>
                  <a:pt x="236232" y="3901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 txBox="1"/>
          <p:nvPr/>
        </p:nvSpPr>
        <p:spPr>
          <a:xfrm>
            <a:off x="6235331" y="1164844"/>
            <a:ext cx="1118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Datagram  (e.g.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UDP)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7522095" y="2452370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7521333" y="2452370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40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 txBox="1"/>
          <p:nvPr/>
        </p:nvSpPr>
        <p:spPr>
          <a:xfrm>
            <a:off x="7950581" y="2443480"/>
            <a:ext cx="4787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bind()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8142351" y="2109470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2"/>
                </a:moveTo>
                <a:lnTo>
                  <a:pt x="0" y="263652"/>
                </a:lnTo>
                <a:lnTo>
                  <a:pt x="33540" y="330733"/>
                </a:lnTo>
                <a:lnTo>
                  <a:pt x="33540" y="276606"/>
                </a:lnTo>
                <a:lnTo>
                  <a:pt x="35064" y="279654"/>
                </a:lnTo>
                <a:lnTo>
                  <a:pt x="38100" y="281178"/>
                </a:lnTo>
                <a:lnTo>
                  <a:pt x="41922" y="279654"/>
                </a:lnTo>
                <a:lnTo>
                  <a:pt x="42672" y="276606"/>
                </a:lnTo>
                <a:lnTo>
                  <a:pt x="42672" y="330708"/>
                </a:lnTo>
                <a:lnTo>
                  <a:pt x="76200" y="263652"/>
                </a:lnTo>
                <a:close/>
              </a:path>
              <a:path w="76200" h="340360">
                <a:moveTo>
                  <a:pt x="42672" y="263652"/>
                </a:moveTo>
                <a:lnTo>
                  <a:pt x="42672" y="4572"/>
                </a:lnTo>
                <a:lnTo>
                  <a:pt x="41922" y="1524"/>
                </a:lnTo>
                <a:lnTo>
                  <a:pt x="38100" y="0"/>
                </a:lnTo>
                <a:lnTo>
                  <a:pt x="35064" y="1524"/>
                </a:lnTo>
                <a:lnTo>
                  <a:pt x="33540" y="4572"/>
                </a:lnTo>
                <a:lnTo>
                  <a:pt x="33540" y="263652"/>
                </a:lnTo>
                <a:lnTo>
                  <a:pt x="42672" y="263652"/>
                </a:lnTo>
                <a:close/>
              </a:path>
              <a:path w="76200" h="340360">
                <a:moveTo>
                  <a:pt x="42672" y="330708"/>
                </a:moveTo>
                <a:lnTo>
                  <a:pt x="42672" y="276606"/>
                </a:lnTo>
                <a:lnTo>
                  <a:pt x="41922" y="279654"/>
                </a:lnTo>
                <a:lnTo>
                  <a:pt x="38100" y="281178"/>
                </a:lnTo>
                <a:lnTo>
                  <a:pt x="35064" y="279654"/>
                </a:lnTo>
                <a:lnTo>
                  <a:pt x="33540" y="276606"/>
                </a:lnTo>
                <a:lnTo>
                  <a:pt x="33540" y="330733"/>
                </a:lnTo>
                <a:lnTo>
                  <a:pt x="38100" y="339852"/>
                </a:lnTo>
                <a:lnTo>
                  <a:pt x="42672" y="3307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0191" y="1293367"/>
            <a:ext cx="7724775" cy="337185"/>
          </a:xfrm>
          <a:custGeom>
            <a:avLst/>
            <a:gdLst/>
            <a:ahLst/>
            <a:cxnLst/>
            <a:rect l="l" t="t" r="r" b="b"/>
            <a:pathLst>
              <a:path w="7724775" h="337185">
                <a:moveTo>
                  <a:pt x="7724381" y="280416"/>
                </a:moveTo>
                <a:lnTo>
                  <a:pt x="7724381" y="56388"/>
                </a:lnTo>
                <a:lnTo>
                  <a:pt x="7719975" y="34397"/>
                </a:lnTo>
                <a:lnTo>
                  <a:pt x="7707998" y="16478"/>
                </a:lnTo>
                <a:lnTo>
                  <a:pt x="7690305" y="4417"/>
                </a:lnTo>
                <a:lnTo>
                  <a:pt x="7668755" y="0"/>
                </a:lnTo>
                <a:lnTo>
                  <a:pt x="55625" y="0"/>
                </a:lnTo>
                <a:lnTo>
                  <a:pt x="34075" y="4417"/>
                </a:lnTo>
                <a:lnTo>
                  <a:pt x="16382" y="16478"/>
                </a:lnTo>
                <a:lnTo>
                  <a:pt x="4405" y="34397"/>
                </a:lnTo>
                <a:lnTo>
                  <a:pt x="0" y="56388"/>
                </a:lnTo>
                <a:lnTo>
                  <a:pt x="0" y="280416"/>
                </a:lnTo>
                <a:lnTo>
                  <a:pt x="4405" y="302406"/>
                </a:lnTo>
                <a:lnTo>
                  <a:pt x="16382" y="320325"/>
                </a:lnTo>
                <a:lnTo>
                  <a:pt x="34075" y="332386"/>
                </a:lnTo>
                <a:lnTo>
                  <a:pt x="55625" y="336804"/>
                </a:lnTo>
                <a:lnTo>
                  <a:pt x="7668755" y="336804"/>
                </a:lnTo>
                <a:lnTo>
                  <a:pt x="7690305" y="332386"/>
                </a:lnTo>
                <a:lnTo>
                  <a:pt x="7707998" y="320325"/>
                </a:lnTo>
                <a:lnTo>
                  <a:pt x="7719975" y="302406"/>
                </a:lnTo>
                <a:lnTo>
                  <a:pt x="7724381" y="280416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26642" y="245871"/>
            <a:ext cx="74676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60" dirty="0"/>
              <a:t>Exchanging </a:t>
            </a:r>
            <a:r>
              <a:rPr sz="4200" spc="-340" dirty="0"/>
              <a:t>data </a:t>
            </a:r>
            <a:r>
              <a:rPr sz="4200" spc="-275" dirty="0"/>
              <a:t>with </a:t>
            </a:r>
            <a:r>
              <a:rPr sz="4200" spc="-335" dirty="0"/>
              <a:t>stream</a:t>
            </a:r>
            <a:r>
              <a:rPr sz="4200" spc="325" dirty="0"/>
              <a:t> </a:t>
            </a:r>
            <a:r>
              <a:rPr sz="4200" spc="-225" dirty="0"/>
              <a:t>socket</a:t>
            </a:r>
            <a:endParaRPr sz="4200"/>
          </a:p>
        </p:txBody>
      </p:sp>
      <p:sp>
        <p:nvSpPr>
          <p:cNvPr id="4" name="object 4"/>
          <p:cNvSpPr/>
          <p:nvPr/>
        </p:nvSpPr>
        <p:spPr>
          <a:xfrm>
            <a:off x="673239" y="3360673"/>
            <a:ext cx="8377555" cy="336550"/>
          </a:xfrm>
          <a:custGeom>
            <a:avLst/>
            <a:gdLst/>
            <a:ahLst/>
            <a:cxnLst/>
            <a:rect l="l" t="t" r="r" b="b"/>
            <a:pathLst>
              <a:path w="8377555" h="336550">
                <a:moveTo>
                  <a:pt x="8377428" y="280415"/>
                </a:moveTo>
                <a:lnTo>
                  <a:pt x="8377428" y="55625"/>
                </a:lnTo>
                <a:lnTo>
                  <a:pt x="8373010" y="34075"/>
                </a:lnTo>
                <a:lnTo>
                  <a:pt x="8360949" y="16383"/>
                </a:lnTo>
                <a:lnTo>
                  <a:pt x="8343030" y="4405"/>
                </a:lnTo>
                <a:lnTo>
                  <a:pt x="8321040" y="0"/>
                </a:lnTo>
                <a:lnTo>
                  <a:pt x="56387" y="0"/>
                </a:lnTo>
                <a:lnTo>
                  <a:pt x="34397" y="4405"/>
                </a:lnTo>
                <a:lnTo>
                  <a:pt x="16478" y="16383"/>
                </a:lnTo>
                <a:lnTo>
                  <a:pt x="4417" y="34075"/>
                </a:lnTo>
                <a:lnTo>
                  <a:pt x="0" y="55626"/>
                </a:lnTo>
                <a:lnTo>
                  <a:pt x="0" y="280416"/>
                </a:lnTo>
                <a:lnTo>
                  <a:pt x="4417" y="301966"/>
                </a:lnTo>
                <a:lnTo>
                  <a:pt x="16478" y="319659"/>
                </a:lnTo>
                <a:lnTo>
                  <a:pt x="34397" y="331636"/>
                </a:lnTo>
                <a:lnTo>
                  <a:pt x="56387" y="336042"/>
                </a:lnTo>
                <a:lnTo>
                  <a:pt x="8321040" y="336041"/>
                </a:lnTo>
                <a:lnTo>
                  <a:pt x="8343030" y="331636"/>
                </a:lnTo>
                <a:lnTo>
                  <a:pt x="8360949" y="319658"/>
                </a:lnTo>
                <a:lnTo>
                  <a:pt x="8373010" y="301966"/>
                </a:lnTo>
                <a:lnTo>
                  <a:pt x="8377428" y="280415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1453" y="1160758"/>
            <a:ext cx="8611235" cy="3379771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3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int count = send(</a:t>
            </a:r>
            <a:r>
              <a:rPr sz="2800" b="1" u="sng" dirty="0">
                <a:solidFill>
                  <a:srgbClr val="9A65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sockid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 </a:t>
            </a:r>
            <a:r>
              <a:rPr sz="2800" b="1" u="sng" dirty="0">
                <a:solidFill>
                  <a:srgbClr val="CC9A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msg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 </a:t>
            </a:r>
            <a:r>
              <a:rPr sz="2800" b="1" u="sng" dirty="0">
                <a:solidFill>
                  <a:srgbClr val="A50021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msgLen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</a:t>
            </a:r>
            <a:r>
              <a:rPr sz="2800" b="1" u="sng" spc="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800" b="1" u="sng" dirty="0">
                <a:solidFill>
                  <a:srgbClr val="CA68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flags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);</a:t>
            </a:r>
            <a:endParaRPr sz="2800" dirty="0">
              <a:latin typeface="Courier New"/>
              <a:cs typeface="Courier New"/>
            </a:endParaRPr>
          </a:p>
          <a:p>
            <a:pPr marL="681990" lvl="1" indent="-325120">
              <a:lnSpc>
                <a:spcPct val="100000"/>
              </a:lnSpc>
              <a:spcBef>
                <a:spcPts val="57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135" dirty="0">
                <a:solidFill>
                  <a:srgbClr val="CC9A00"/>
                </a:solidFill>
                <a:latin typeface="Arial"/>
                <a:cs typeface="Arial"/>
              </a:rPr>
              <a:t>msg</a:t>
            </a:r>
            <a:r>
              <a:rPr sz="2800" spc="-135" dirty="0">
                <a:latin typeface="Arial"/>
                <a:cs typeface="Arial"/>
              </a:rPr>
              <a:t>: </a:t>
            </a:r>
            <a:r>
              <a:rPr sz="2800" spc="-75" dirty="0">
                <a:latin typeface="Arial"/>
                <a:cs typeface="Arial"/>
              </a:rPr>
              <a:t>const </a:t>
            </a:r>
            <a:r>
              <a:rPr sz="2800" spc="15" dirty="0">
                <a:latin typeface="Arial"/>
                <a:cs typeface="Arial"/>
              </a:rPr>
              <a:t>void[], </a:t>
            </a:r>
            <a:r>
              <a:rPr sz="2800" spc="-200" dirty="0">
                <a:latin typeface="Arial"/>
                <a:cs typeface="Arial"/>
              </a:rPr>
              <a:t>message </a:t>
            </a:r>
            <a:r>
              <a:rPr sz="2800" dirty="0">
                <a:latin typeface="Arial"/>
                <a:cs typeface="Arial"/>
              </a:rPr>
              <a:t>to </a:t>
            </a:r>
            <a:r>
              <a:rPr sz="2800" spc="-130" dirty="0">
                <a:latin typeface="Arial"/>
                <a:cs typeface="Arial"/>
              </a:rPr>
              <a:t>be</a:t>
            </a:r>
            <a:r>
              <a:rPr sz="2800" spc="-320" dirty="0">
                <a:latin typeface="Arial"/>
                <a:cs typeface="Arial"/>
              </a:rPr>
              <a:t> </a:t>
            </a:r>
            <a:r>
              <a:rPr sz="2800" spc="-30" dirty="0">
                <a:latin typeface="Arial"/>
                <a:cs typeface="Arial"/>
              </a:rPr>
              <a:t>transmitted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110" dirty="0">
                <a:solidFill>
                  <a:srgbClr val="A50021"/>
                </a:solidFill>
                <a:latin typeface="Arial"/>
                <a:cs typeface="Arial"/>
              </a:rPr>
              <a:t>msgLen</a:t>
            </a:r>
            <a:r>
              <a:rPr sz="2800" spc="-110" dirty="0">
                <a:latin typeface="Arial"/>
                <a:cs typeface="Arial"/>
              </a:rPr>
              <a:t>: </a:t>
            </a:r>
            <a:r>
              <a:rPr sz="2800" spc="-40" dirty="0">
                <a:latin typeface="Arial"/>
                <a:cs typeface="Arial"/>
              </a:rPr>
              <a:t>integer, </a:t>
            </a:r>
            <a:r>
              <a:rPr sz="2800" spc="-20" dirty="0">
                <a:latin typeface="Arial"/>
                <a:cs typeface="Arial"/>
              </a:rPr>
              <a:t>length </a:t>
            </a:r>
            <a:r>
              <a:rPr sz="2800" spc="-10" dirty="0">
                <a:latin typeface="Arial"/>
                <a:cs typeface="Arial"/>
              </a:rPr>
              <a:t>of </a:t>
            </a:r>
            <a:r>
              <a:rPr sz="2800" spc="-200" dirty="0">
                <a:latin typeface="Arial"/>
                <a:cs typeface="Arial"/>
              </a:rPr>
              <a:t>message </a:t>
            </a:r>
            <a:r>
              <a:rPr sz="2800" spc="40" dirty="0">
                <a:latin typeface="Arial"/>
                <a:cs typeface="Arial"/>
              </a:rPr>
              <a:t>(in </a:t>
            </a:r>
            <a:r>
              <a:rPr sz="2800" spc="-70" dirty="0">
                <a:latin typeface="Arial"/>
                <a:cs typeface="Arial"/>
              </a:rPr>
              <a:t>bytes)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5" dirty="0">
                <a:latin typeface="Arial"/>
                <a:cs typeface="Arial"/>
              </a:rPr>
              <a:t>transmit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90" dirty="0">
                <a:solidFill>
                  <a:srgbClr val="CA6800"/>
                </a:solidFill>
                <a:latin typeface="Arial"/>
                <a:cs typeface="Arial"/>
              </a:rPr>
              <a:t>flags</a:t>
            </a:r>
            <a:r>
              <a:rPr sz="2800" spc="-90" dirty="0">
                <a:latin typeface="Arial"/>
                <a:cs typeface="Arial"/>
              </a:rPr>
              <a:t>: </a:t>
            </a:r>
            <a:r>
              <a:rPr sz="2800" spc="-35" dirty="0">
                <a:latin typeface="Arial"/>
                <a:cs typeface="Arial"/>
              </a:rPr>
              <a:t>integer, </a:t>
            </a:r>
            <a:r>
              <a:rPr sz="2800" spc="-95" dirty="0">
                <a:latin typeface="Arial"/>
                <a:cs typeface="Arial"/>
              </a:rPr>
              <a:t>special </a:t>
            </a:r>
            <a:r>
              <a:rPr sz="2800" spc="-45" dirty="0">
                <a:latin typeface="Arial"/>
                <a:cs typeface="Arial"/>
              </a:rPr>
              <a:t>options, usually </a:t>
            </a:r>
            <a:r>
              <a:rPr sz="2800" spc="-35" dirty="0">
                <a:latin typeface="Arial"/>
                <a:cs typeface="Arial"/>
              </a:rPr>
              <a:t>just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14" dirty="0">
                <a:latin typeface="Arial"/>
                <a:cs typeface="Arial"/>
              </a:rPr>
              <a:t>0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30" dirty="0">
                <a:latin typeface="Arial"/>
                <a:cs typeface="Arial"/>
              </a:rPr>
              <a:t>count: </a:t>
            </a:r>
            <a:r>
              <a:rPr sz="2800" spc="-114" dirty="0">
                <a:latin typeface="Arial"/>
                <a:cs typeface="Arial"/>
              </a:rPr>
              <a:t># </a:t>
            </a:r>
            <a:r>
              <a:rPr sz="2800" spc="-85" dirty="0">
                <a:latin typeface="Arial"/>
                <a:cs typeface="Arial"/>
              </a:rPr>
              <a:t>bytes </a:t>
            </a:r>
            <a:r>
              <a:rPr sz="2800" spc="-25" dirty="0">
                <a:latin typeface="Arial"/>
                <a:cs typeface="Arial"/>
              </a:rPr>
              <a:t>transmitted </a:t>
            </a:r>
            <a:r>
              <a:rPr sz="2800" spc="-15" dirty="0">
                <a:latin typeface="Arial"/>
                <a:cs typeface="Arial"/>
              </a:rPr>
              <a:t>(-1 </a:t>
            </a:r>
            <a:r>
              <a:rPr sz="2800" spc="100" dirty="0">
                <a:latin typeface="Arial"/>
                <a:cs typeface="Arial"/>
              </a:rPr>
              <a:t>if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error</a:t>
            </a:r>
            <a:r>
              <a:rPr sz="2800" spc="-5" dirty="0" smtClean="0">
                <a:latin typeface="Arial"/>
                <a:cs typeface="Arial"/>
              </a:rPr>
              <a:t>)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0191" y="1293367"/>
            <a:ext cx="7724775" cy="337185"/>
          </a:xfrm>
          <a:custGeom>
            <a:avLst/>
            <a:gdLst/>
            <a:ahLst/>
            <a:cxnLst/>
            <a:rect l="l" t="t" r="r" b="b"/>
            <a:pathLst>
              <a:path w="7724775" h="337185">
                <a:moveTo>
                  <a:pt x="7724381" y="280416"/>
                </a:moveTo>
                <a:lnTo>
                  <a:pt x="7724381" y="56388"/>
                </a:lnTo>
                <a:lnTo>
                  <a:pt x="7719975" y="34397"/>
                </a:lnTo>
                <a:lnTo>
                  <a:pt x="7707998" y="16478"/>
                </a:lnTo>
                <a:lnTo>
                  <a:pt x="7690305" y="4417"/>
                </a:lnTo>
                <a:lnTo>
                  <a:pt x="7668755" y="0"/>
                </a:lnTo>
                <a:lnTo>
                  <a:pt x="55625" y="0"/>
                </a:lnTo>
                <a:lnTo>
                  <a:pt x="34075" y="4417"/>
                </a:lnTo>
                <a:lnTo>
                  <a:pt x="16382" y="16478"/>
                </a:lnTo>
                <a:lnTo>
                  <a:pt x="4405" y="34397"/>
                </a:lnTo>
                <a:lnTo>
                  <a:pt x="0" y="56388"/>
                </a:lnTo>
                <a:lnTo>
                  <a:pt x="0" y="280416"/>
                </a:lnTo>
                <a:lnTo>
                  <a:pt x="4405" y="302406"/>
                </a:lnTo>
                <a:lnTo>
                  <a:pt x="16382" y="320325"/>
                </a:lnTo>
                <a:lnTo>
                  <a:pt x="34075" y="332386"/>
                </a:lnTo>
                <a:lnTo>
                  <a:pt x="55625" y="336804"/>
                </a:lnTo>
                <a:lnTo>
                  <a:pt x="7668755" y="336804"/>
                </a:lnTo>
                <a:lnTo>
                  <a:pt x="7690305" y="332386"/>
                </a:lnTo>
                <a:lnTo>
                  <a:pt x="7707998" y="320325"/>
                </a:lnTo>
                <a:lnTo>
                  <a:pt x="7719975" y="302406"/>
                </a:lnTo>
                <a:lnTo>
                  <a:pt x="7724381" y="280416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26642" y="245871"/>
            <a:ext cx="74676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60" dirty="0"/>
              <a:t>Exchanging </a:t>
            </a:r>
            <a:r>
              <a:rPr sz="4200" spc="-340" dirty="0"/>
              <a:t>data </a:t>
            </a:r>
            <a:r>
              <a:rPr sz="4200" spc="-275" dirty="0"/>
              <a:t>with </a:t>
            </a:r>
            <a:r>
              <a:rPr sz="4200" spc="-335" dirty="0"/>
              <a:t>stream</a:t>
            </a:r>
            <a:r>
              <a:rPr sz="4200" spc="325" dirty="0"/>
              <a:t> </a:t>
            </a:r>
            <a:r>
              <a:rPr sz="4200" spc="-225" dirty="0"/>
              <a:t>socket</a:t>
            </a:r>
            <a:endParaRPr sz="4200"/>
          </a:p>
        </p:txBody>
      </p:sp>
      <p:sp>
        <p:nvSpPr>
          <p:cNvPr id="4" name="object 4"/>
          <p:cNvSpPr/>
          <p:nvPr/>
        </p:nvSpPr>
        <p:spPr>
          <a:xfrm>
            <a:off x="673239" y="3360673"/>
            <a:ext cx="8377555" cy="336550"/>
          </a:xfrm>
          <a:custGeom>
            <a:avLst/>
            <a:gdLst/>
            <a:ahLst/>
            <a:cxnLst/>
            <a:rect l="l" t="t" r="r" b="b"/>
            <a:pathLst>
              <a:path w="8377555" h="336550">
                <a:moveTo>
                  <a:pt x="8377428" y="280415"/>
                </a:moveTo>
                <a:lnTo>
                  <a:pt x="8377428" y="55625"/>
                </a:lnTo>
                <a:lnTo>
                  <a:pt x="8373010" y="34075"/>
                </a:lnTo>
                <a:lnTo>
                  <a:pt x="8360949" y="16383"/>
                </a:lnTo>
                <a:lnTo>
                  <a:pt x="8343030" y="4405"/>
                </a:lnTo>
                <a:lnTo>
                  <a:pt x="8321040" y="0"/>
                </a:lnTo>
                <a:lnTo>
                  <a:pt x="56387" y="0"/>
                </a:lnTo>
                <a:lnTo>
                  <a:pt x="34397" y="4405"/>
                </a:lnTo>
                <a:lnTo>
                  <a:pt x="16478" y="16383"/>
                </a:lnTo>
                <a:lnTo>
                  <a:pt x="4417" y="34075"/>
                </a:lnTo>
                <a:lnTo>
                  <a:pt x="0" y="55626"/>
                </a:lnTo>
                <a:lnTo>
                  <a:pt x="0" y="280416"/>
                </a:lnTo>
                <a:lnTo>
                  <a:pt x="4417" y="301966"/>
                </a:lnTo>
                <a:lnTo>
                  <a:pt x="16478" y="319659"/>
                </a:lnTo>
                <a:lnTo>
                  <a:pt x="34397" y="331636"/>
                </a:lnTo>
                <a:lnTo>
                  <a:pt x="56387" y="336042"/>
                </a:lnTo>
                <a:lnTo>
                  <a:pt x="8321040" y="336041"/>
                </a:lnTo>
                <a:lnTo>
                  <a:pt x="8343030" y="331636"/>
                </a:lnTo>
                <a:lnTo>
                  <a:pt x="8360949" y="319658"/>
                </a:lnTo>
                <a:lnTo>
                  <a:pt x="8373010" y="301966"/>
                </a:lnTo>
                <a:lnTo>
                  <a:pt x="8377428" y="280415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1453" y="1160758"/>
            <a:ext cx="8611235" cy="4292842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b="1" u="sng" dirty="0" err="1" smtClean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int</a:t>
            </a:r>
            <a:r>
              <a:rPr sz="2800" b="1" u="sng" dirty="0" smtClean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count = </a:t>
            </a:r>
            <a:r>
              <a:rPr sz="2800" b="1" u="sng" dirty="0" err="1" smtClean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recv</a:t>
            </a:r>
            <a:r>
              <a:rPr sz="2800" b="1" u="sng" dirty="0" smtClean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(</a:t>
            </a:r>
            <a:r>
              <a:rPr sz="2800" b="1" u="sng" dirty="0" err="1" smtClean="0">
                <a:solidFill>
                  <a:srgbClr val="9A65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sockid</a:t>
            </a:r>
            <a:r>
              <a:rPr sz="2800" b="1" u="sng" dirty="0" smtClean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 </a:t>
            </a:r>
            <a:r>
              <a:rPr sz="2800" b="1" u="sng" dirty="0" err="1" smtClean="0">
                <a:solidFill>
                  <a:srgbClr val="CC9A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recvBuf</a:t>
            </a:r>
            <a:r>
              <a:rPr sz="2800" b="1" u="sng" dirty="0" smtClean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 </a:t>
            </a:r>
            <a:r>
              <a:rPr sz="2800" b="1" u="sng" dirty="0" err="1" smtClean="0">
                <a:solidFill>
                  <a:srgbClr val="A50021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bufLen</a:t>
            </a:r>
            <a:r>
              <a:rPr sz="2800" b="1" u="sng" dirty="0" smtClean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</a:t>
            </a:r>
            <a:r>
              <a:rPr sz="2800" b="1" u="sng" spc="-10" dirty="0" smtClean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800" b="1" u="sng" dirty="0" smtClean="0">
                <a:solidFill>
                  <a:srgbClr val="CA68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flags</a:t>
            </a:r>
            <a:r>
              <a:rPr sz="2800" b="1" u="sng" dirty="0" smtClean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);</a:t>
            </a:r>
            <a:endParaRPr sz="2800" dirty="0" smtClean="0">
              <a:latin typeface="Courier New"/>
              <a:cs typeface="Courier New"/>
            </a:endParaRPr>
          </a:p>
          <a:p>
            <a:pPr marL="681990" lvl="1" indent="-325120">
              <a:lnSpc>
                <a:spcPct val="100000"/>
              </a:lnSpc>
              <a:spcBef>
                <a:spcPts val="49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50" dirty="0" err="1" smtClean="0">
                <a:solidFill>
                  <a:srgbClr val="CC9A00"/>
                </a:solidFill>
                <a:latin typeface="Arial"/>
                <a:cs typeface="Arial"/>
              </a:rPr>
              <a:t>recvBuf</a:t>
            </a:r>
            <a:r>
              <a:rPr sz="2800" spc="-50" dirty="0" smtClean="0">
                <a:latin typeface="Arial"/>
                <a:cs typeface="Arial"/>
              </a:rPr>
              <a:t>: </a:t>
            </a:r>
            <a:r>
              <a:rPr sz="2800" spc="10" dirty="0" smtClean="0">
                <a:latin typeface="Arial"/>
                <a:cs typeface="Arial"/>
              </a:rPr>
              <a:t>void[], </a:t>
            </a:r>
            <a:r>
              <a:rPr sz="2800" spc="-114" dirty="0" smtClean="0">
                <a:latin typeface="Arial"/>
                <a:cs typeface="Arial"/>
              </a:rPr>
              <a:t>stores </a:t>
            </a:r>
            <a:r>
              <a:rPr sz="2800" spc="-70" dirty="0" smtClean="0">
                <a:latin typeface="Arial"/>
                <a:cs typeface="Arial"/>
              </a:rPr>
              <a:t>received</a:t>
            </a:r>
            <a:r>
              <a:rPr sz="2800" spc="-85" dirty="0" smtClean="0">
                <a:latin typeface="Arial"/>
                <a:cs typeface="Arial"/>
              </a:rPr>
              <a:t> </a:t>
            </a:r>
            <a:r>
              <a:rPr sz="2800" spc="-90" dirty="0" smtClean="0">
                <a:latin typeface="Arial"/>
                <a:cs typeface="Arial"/>
              </a:rPr>
              <a:t>bytes</a:t>
            </a:r>
            <a:endParaRPr sz="2800" dirty="0" smtClean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40" dirty="0" err="1" smtClean="0">
                <a:solidFill>
                  <a:srgbClr val="A50021"/>
                </a:solidFill>
                <a:latin typeface="Arial"/>
                <a:cs typeface="Arial"/>
              </a:rPr>
              <a:t>bufLen</a:t>
            </a:r>
            <a:r>
              <a:rPr sz="2800" spc="-40" dirty="0" smtClean="0">
                <a:latin typeface="Arial"/>
                <a:cs typeface="Arial"/>
              </a:rPr>
              <a:t>: </a:t>
            </a:r>
            <a:r>
              <a:rPr sz="2800" spc="-114" dirty="0" smtClean="0">
                <a:latin typeface="Arial"/>
                <a:cs typeface="Arial"/>
              </a:rPr>
              <a:t># </a:t>
            </a:r>
            <a:r>
              <a:rPr sz="2800" spc="-85" dirty="0" smtClean="0">
                <a:latin typeface="Arial"/>
                <a:cs typeface="Arial"/>
              </a:rPr>
              <a:t>bytes</a:t>
            </a:r>
            <a:r>
              <a:rPr sz="2800" spc="-30" dirty="0" smtClean="0">
                <a:latin typeface="Arial"/>
                <a:cs typeface="Arial"/>
              </a:rPr>
              <a:t> </a:t>
            </a:r>
            <a:r>
              <a:rPr sz="2800" spc="-70" dirty="0" smtClean="0">
                <a:latin typeface="Arial"/>
                <a:cs typeface="Arial"/>
              </a:rPr>
              <a:t>received</a:t>
            </a:r>
            <a:endParaRPr sz="2800" dirty="0" smtClean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90" dirty="0" smtClean="0">
                <a:solidFill>
                  <a:srgbClr val="CA6800"/>
                </a:solidFill>
                <a:latin typeface="Arial"/>
                <a:cs typeface="Arial"/>
              </a:rPr>
              <a:t>flags</a:t>
            </a:r>
            <a:r>
              <a:rPr sz="2800" spc="-90" dirty="0" smtClean="0">
                <a:latin typeface="Arial"/>
                <a:cs typeface="Arial"/>
              </a:rPr>
              <a:t>: </a:t>
            </a:r>
            <a:r>
              <a:rPr sz="2800" spc="-35" dirty="0" smtClean="0">
                <a:latin typeface="Arial"/>
                <a:cs typeface="Arial"/>
              </a:rPr>
              <a:t>integer, </a:t>
            </a:r>
            <a:r>
              <a:rPr sz="2800" spc="-95" dirty="0" smtClean="0">
                <a:latin typeface="Arial"/>
                <a:cs typeface="Arial"/>
              </a:rPr>
              <a:t>special </a:t>
            </a:r>
            <a:r>
              <a:rPr sz="2800" spc="-45" dirty="0" smtClean="0">
                <a:latin typeface="Arial"/>
                <a:cs typeface="Arial"/>
              </a:rPr>
              <a:t>options, usually </a:t>
            </a:r>
            <a:r>
              <a:rPr sz="2800" spc="-35" dirty="0" smtClean="0">
                <a:latin typeface="Arial"/>
                <a:cs typeface="Arial"/>
              </a:rPr>
              <a:t>just</a:t>
            </a:r>
            <a:r>
              <a:rPr sz="2800" spc="-60" dirty="0" smtClean="0">
                <a:latin typeface="Arial"/>
                <a:cs typeface="Arial"/>
              </a:rPr>
              <a:t> </a:t>
            </a:r>
            <a:r>
              <a:rPr sz="2800" spc="-114" dirty="0" smtClean="0">
                <a:latin typeface="Arial"/>
                <a:cs typeface="Arial"/>
              </a:rPr>
              <a:t>0</a:t>
            </a:r>
            <a:endParaRPr sz="2800" dirty="0" smtClean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30" dirty="0" smtClean="0">
                <a:latin typeface="Arial"/>
                <a:cs typeface="Arial"/>
              </a:rPr>
              <a:t>count: </a:t>
            </a:r>
            <a:r>
              <a:rPr sz="2800" spc="-114" dirty="0" smtClean="0">
                <a:latin typeface="Arial"/>
                <a:cs typeface="Arial"/>
              </a:rPr>
              <a:t># </a:t>
            </a:r>
            <a:r>
              <a:rPr sz="2800" spc="-85" dirty="0" smtClean="0">
                <a:latin typeface="Arial"/>
                <a:cs typeface="Arial"/>
              </a:rPr>
              <a:t>bytes </a:t>
            </a:r>
            <a:r>
              <a:rPr sz="2800" spc="-65" dirty="0" smtClean="0">
                <a:latin typeface="Arial"/>
                <a:cs typeface="Arial"/>
              </a:rPr>
              <a:t>received </a:t>
            </a:r>
            <a:r>
              <a:rPr sz="2800" spc="-15" dirty="0" smtClean="0">
                <a:latin typeface="Arial"/>
                <a:cs typeface="Arial"/>
              </a:rPr>
              <a:t>(-1 </a:t>
            </a:r>
            <a:r>
              <a:rPr sz="2800" spc="95" dirty="0" smtClean="0">
                <a:latin typeface="Arial"/>
                <a:cs typeface="Arial"/>
              </a:rPr>
              <a:t>if</a:t>
            </a:r>
            <a:r>
              <a:rPr sz="2800" spc="-55" dirty="0" smtClean="0">
                <a:latin typeface="Arial"/>
                <a:cs typeface="Arial"/>
              </a:rPr>
              <a:t> </a:t>
            </a:r>
            <a:r>
              <a:rPr sz="2800" spc="-5" dirty="0" smtClean="0">
                <a:latin typeface="Arial"/>
                <a:cs typeface="Arial"/>
              </a:rPr>
              <a:t>error)</a:t>
            </a:r>
            <a:endParaRPr sz="2800" dirty="0" smtClean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9A6500"/>
              </a:buClr>
              <a:buFont typeface="Wingdings"/>
              <a:buChar char=""/>
            </a:pPr>
            <a:endParaRPr sz="2800" dirty="0" smtClean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spc="-95" dirty="0" smtClean="0">
                <a:latin typeface="Arial"/>
                <a:cs typeface="Arial"/>
              </a:rPr>
              <a:t>Calls </a:t>
            </a:r>
            <a:r>
              <a:rPr sz="2800" spc="-125" dirty="0" smtClean="0">
                <a:latin typeface="Arial"/>
                <a:cs typeface="Arial"/>
              </a:rPr>
              <a:t>are</a:t>
            </a:r>
            <a:r>
              <a:rPr sz="2800" spc="-45" dirty="0" smtClean="0">
                <a:latin typeface="Arial"/>
                <a:cs typeface="Arial"/>
              </a:rPr>
              <a:t> </a:t>
            </a:r>
            <a:r>
              <a:rPr sz="2800" b="1" spc="-140" dirty="0" smtClean="0">
                <a:latin typeface="Arial"/>
                <a:cs typeface="Arial"/>
              </a:rPr>
              <a:t>blocking</a:t>
            </a:r>
            <a:endParaRPr sz="2800" dirty="0" smtClean="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490"/>
              </a:spcBef>
              <a:tabLst>
                <a:tab pos="356870" algn="l"/>
                <a:tab pos="681990" algn="l"/>
                <a:tab pos="8272145" algn="l"/>
              </a:tabLst>
            </a:pPr>
            <a:r>
              <a:rPr sz="2800" u="heavy" dirty="0" smtClean="0">
                <a:solidFill>
                  <a:srgbClr val="9A65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2800" u="heavy" dirty="0" smtClean="0">
                <a:solidFill>
                  <a:srgbClr val="9A6500"/>
                </a:solidFill>
                <a:uFill>
                  <a:solidFill>
                    <a:srgbClr val="CC9900"/>
                  </a:solidFill>
                </a:uFill>
                <a:latin typeface="Wingdings"/>
                <a:cs typeface="Wingdings"/>
              </a:rPr>
              <a:t></a:t>
            </a:r>
            <a:r>
              <a:rPr sz="2800" u="heavy" dirty="0" smtClean="0">
                <a:solidFill>
                  <a:srgbClr val="9A65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800" u="heavy" spc="-30" dirty="0" smtClean="0"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returns </a:t>
            </a:r>
            <a:r>
              <a:rPr sz="2800" u="heavy" spc="20" dirty="0" smtClean="0"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only </a:t>
            </a:r>
            <a:r>
              <a:rPr sz="2800" u="heavy" spc="-30" dirty="0" smtClean="0"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after </a:t>
            </a:r>
            <a:r>
              <a:rPr sz="2800" u="heavy" spc="-105" dirty="0" smtClean="0"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data </a:t>
            </a:r>
            <a:r>
              <a:rPr sz="2800" u="heavy" spc="-80" dirty="0" smtClean="0"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is </a:t>
            </a:r>
            <a:r>
              <a:rPr sz="2800" u="heavy" spc="-90" dirty="0" smtClean="0"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sent </a:t>
            </a:r>
            <a:r>
              <a:rPr sz="2800" u="heavy" spc="60" dirty="0" smtClean="0"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/</a:t>
            </a:r>
            <a:r>
              <a:rPr sz="2800" u="heavy" spc="-114" dirty="0" smtClean="0"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 </a:t>
            </a:r>
            <a:r>
              <a:rPr sz="2800" u="heavy" spc="-65" dirty="0" smtClean="0">
                <a:uFill>
                  <a:solidFill>
                    <a:srgbClr val="CC9900"/>
                  </a:solidFill>
                </a:uFill>
                <a:latin typeface="Arial"/>
                <a:cs typeface="Arial"/>
              </a:rPr>
              <a:t>received	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70191" y="1293367"/>
            <a:ext cx="7891780" cy="716280"/>
          </a:xfrm>
          <a:custGeom>
            <a:avLst/>
            <a:gdLst/>
            <a:ahLst/>
            <a:cxnLst/>
            <a:rect l="l" t="t" r="r" b="b"/>
            <a:pathLst>
              <a:path w="7891780" h="716280">
                <a:moveTo>
                  <a:pt x="7891259" y="596646"/>
                </a:moveTo>
                <a:lnTo>
                  <a:pt x="7891259" y="119634"/>
                </a:lnTo>
                <a:lnTo>
                  <a:pt x="7881891" y="72973"/>
                </a:lnTo>
                <a:lnTo>
                  <a:pt x="7856308" y="34956"/>
                </a:lnTo>
                <a:lnTo>
                  <a:pt x="7818296" y="9370"/>
                </a:lnTo>
                <a:lnTo>
                  <a:pt x="7771638" y="0"/>
                </a:lnTo>
                <a:lnTo>
                  <a:pt x="118872" y="0"/>
                </a:lnTo>
                <a:lnTo>
                  <a:pt x="72651" y="9370"/>
                </a:lnTo>
                <a:lnTo>
                  <a:pt x="34861" y="34956"/>
                </a:lnTo>
                <a:lnTo>
                  <a:pt x="9358" y="72973"/>
                </a:lnTo>
                <a:lnTo>
                  <a:pt x="0" y="119634"/>
                </a:lnTo>
                <a:lnTo>
                  <a:pt x="0" y="596646"/>
                </a:lnTo>
                <a:lnTo>
                  <a:pt x="9358" y="643306"/>
                </a:lnTo>
                <a:lnTo>
                  <a:pt x="34861" y="681323"/>
                </a:lnTo>
                <a:lnTo>
                  <a:pt x="72651" y="706909"/>
                </a:lnTo>
                <a:lnTo>
                  <a:pt x="118872" y="716280"/>
                </a:lnTo>
                <a:lnTo>
                  <a:pt x="7771638" y="716280"/>
                </a:lnTo>
                <a:lnTo>
                  <a:pt x="7818296" y="706909"/>
                </a:lnTo>
                <a:lnTo>
                  <a:pt x="7856308" y="681323"/>
                </a:lnTo>
                <a:lnTo>
                  <a:pt x="7881891" y="643306"/>
                </a:lnTo>
                <a:lnTo>
                  <a:pt x="7891259" y="596646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0191" y="1293367"/>
            <a:ext cx="7891780" cy="716280"/>
          </a:xfrm>
          <a:custGeom>
            <a:avLst/>
            <a:gdLst/>
            <a:ahLst/>
            <a:cxnLst/>
            <a:rect l="l" t="t" r="r" b="b"/>
            <a:pathLst>
              <a:path w="7891780" h="716280">
                <a:moveTo>
                  <a:pt x="118872" y="0"/>
                </a:moveTo>
                <a:lnTo>
                  <a:pt x="72651" y="9370"/>
                </a:lnTo>
                <a:lnTo>
                  <a:pt x="34861" y="34956"/>
                </a:lnTo>
                <a:lnTo>
                  <a:pt x="9358" y="72973"/>
                </a:lnTo>
                <a:lnTo>
                  <a:pt x="0" y="119634"/>
                </a:lnTo>
                <a:lnTo>
                  <a:pt x="0" y="596646"/>
                </a:lnTo>
                <a:lnTo>
                  <a:pt x="9358" y="643306"/>
                </a:lnTo>
                <a:lnTo>
                  <a:pt x="34861" y="681323"/>
                </a:lnTo>
                <a:lnTo>
                  <a:pt x="72651" y="706909"/>
                </a:lnTo>
                <a:lnTo>
                  <a:pt x="118872" y="716280"/>
                </a:lnTo>
                <a:lnTo>
                  <a:pt x="7771638" y="716280"/>
                </a:lnTo>
                <a:lnTo>
                  <a:pt x="7818296" y="706909"/>
                </a:lnTo>
                <a:lnTo>
                  <a:pt x="7856308" y="681323"/>
                </a:lnTo>
                <a:lnTo>
                  <a:pt x="7881891" y="643306"/>
                </a:lnTo>
                <a:lnTo>
                  <a:pt x="7891259" y="596646"/>
                </a:lnTo>
                <a:lnTo>
                  <a:pt x="7891259" y="119634"/>
                </a:lnTo>
                <a:lnTo>
                  <a:pt x="7881891" y="72973"/>
                </a:lnTo>
                <a:lnTo>
                  <a:pt x="7856308" y="34956"/>
                </a:lnTo>
                <a:lnTo>
                  <a:pt x="7818296" y="9370"/>
                </a:lnTo>
                <a:lnTo>
                  <a:pt x="7771638" y="0"/>
                </a:lnTo>
                <a:lnTo>
                  <a:pt x="118872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65289" y="245871"/>
            <a:ext cx="79883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60" dirty="0"/>
              <a:t>Exchanging </a:t>
            </a:r>
            <a:r>
              <a:rPr sz="4200" spc="-340" dirty="0"/>
              <a:t>data </a:t>
            </a:r>
            <a:r>
              <a:rPr sz="4200" spc="-275" dirty="0"/>
              <a:t>with </a:t>
            </a:r>
            <a:r>
              <a:rPr sz="4200" spc="-355" dirty="0"/>
              <a:t>datagram</a:t>
            </a:r>
            <a:r>
              <a:rPr sz="4200" spc="-330" dirty="0"/>
              <a:t> </a:t>
            </a:r>
            <a:r>
              <a:rPr sz="4200" spc="-225" dirty="0"/>
              <a:t>socket</a:t>
            </a:r>
            <a:endParaRPr sz="4200"/>
          </a:p>
        </p:txBody>
      </p:sp>
      <p:sp>
        <p:nvSpPr>
          <p:cNvPr id="6" name="object 6"/>
          <p:cNvSpPr/>
          <p:nvPr/>
        </p:nvSpPr>
        <p:spPr>
          <a:xfrm>
            <a:off x="673239" y="3360673"/>
            <a:ext cx="7799070" cy="673100"/>
          </a:xfrm>
          <a:custGeom>
            <a:avLst/>
            <a:gdLst/>
            <a:ahLst/>
            <a:cxnLst/>
            <a:rect l="l" t="t" r="r" b="b"/>
            <a:pathLst>
              <a:path w="7799070" h="673100">
                <a:moveTo>
                  <a:pt x="7799057" y="560831"/>
                </a:moveTo>
                <a:lnTo>
                  <a:pt x="7799057" y="112013"/>
                </a:lnTo>
                <a:lnTo>
                  <a:pt x="7790236" y="68472"/>
                </a:lnTo>
                <a:lnTo>
                  <a:pt x="7766202" y="32861"/>
                </a:lnTo>
                <a:lnTo>
                  <a:pt x="7730595" y="8822"/>
                </a:lnTo>
                <a:lnTo>
                  <a:pt x="7687056" y="0"/>
                </a:lnTo>
                <a:lnTo>
                  <a:pt x="112014" y="0"/>
                </a:lnTo>
                <a:lnTo>
                  <a:pt x="68472" y="8822"/>
                </a:lnTo>
                <a:lnTo>
                  <a:pt x="32861" y="32861"/>
                </a:lnTo>
                <a:lnTo>
                  <a:pt x="8822" y="68472"/>
                </a:lnTo>
                <a:lnTo>
                  <a:pt x="0" y="112014"/>
                </a:lnTo>
                <a:lnTo>
                  <a:pt x="0" y="560832"/>
                </a:lnTo>
                <a:lnTo>
                  <a:pt x="8822" y="604373"/>
                </a:lnTo>
                <a:lnTo>
                  <a:pt x="32861" y="639984"/>
                </a:lnTo>
                <a:lnTo>
                  <a:pt x="68472" y="664023"/>
                </a:lnTo>
                <a:lnTo>
                  <a:pt x="112014" y="672846"/>
                </a:lnTo>
                <a:lnTo>
                  <a:pt x="7687056" y="672846"/>
                </a:lnTo>
                <a:lnTo>
                  <a:pt x="7730595" y="664023"/>
                </a:lnTo>
                <a:lnTo>
                  <a:pt x="7766202" y="639984"/>
                </a:lnTo>
                <a:lnTo>
                  <a:pt x="7790236" y="604373"/>
                </a:lnTo>
                <a:lnTo>
                  <a:pt x="7799057" y="560831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01453" y="1241043"/>
            <a:ext cx="8105775" cy="32342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b="1" dirty="0">
                <a:latin typeface="Courier New"/>
                <a:cs typeface="Courier New"/>
              </a:rPr>
              <a:t>int count = sendto(</a:t>
            </a:r>
            <a:r>
              <a:rPr sz="2800" b="1" dirty="0">
                <a:solidFill>
                  <a:srgbClr val="9A6500"/>
                </a:solidFill>
                <a:latin typeface="Courier New"/>
                <a:cs typeface="Courier New"/>
              </a:rPr>
              <a:t>sockid</a:t>
            </a:r>
            <a:r>
              <a:rPr sz="2800" b="1" dirty="0">
                <a:latin typeface="Courier New"/>
                <a:cs typeface="Courier New"/>
              </a:rPr>
              <a:t>, </a:t>
            </a:r>
            <a:r>
              <a:rPr sz="2800" b="1" dirty="0">
                <a:solidFill>
                  <a:srgbClr val="CC9A00"/>
                </a:solidFill>
                <a:latin typeface="Courier New"/>
                <a:cs typeface="Courier New"/>
              </a:rPr>
              <a:t>msg</a:t>
            </a:r>
            <a:r>
              <a:rPr sz="2800" b="1" dirty="0">
                <a:latin typeface="Courier New"/>
                <a:cs typeface="Courier New"/>
              </a:rPr>
              <a:t>, </a:t>
            </a:r>
            <a:r>
              <a:rPr sz="2800" b="1" dirty="0">
                <a:solidFill>
                  <a:srgbClr val="A50021"/>
                </a:solidFill>
                <a:latin typeface="Courier New"/>
                <a:cs typeface="Courier New"/>
              </a:rPr>
              <a:t>msgLen</a:t>
            </a:r>
            <a:r>
              <a:rPr sz="2800" b="1" dirty="0">
                <a:latin typeface="Courier New"/>
                <a:cs typeface="Courier New"/>
              </a:rPr>
              <a:t>, </a:t>
            </a:r>
            <a:r>
              <a:rPr sz="2800" b="1" dirty="0">
                <a:solidFill>
                  <a:srgbClr val="CA6800"/>
                </a:solidFill>
                <a:latin typeface="Courier New"/>
                <a:cs typeface="Courier New"/>
              </a:rPr>
              <a:t>flags</a:t>
            </a:r>
            <a:r>
              <a:rPr sz="2800" b="1" dirty="0">
                <a:latin typeface="Courier New"/>
                <a:cs typeface="Courier New"/>
              </a:rPr>
              <a:t>,  &amp;</a:t>
            </a:r>
            <a:r>
              <a:rPr sz="2800" b="1" dirty="0">
                <a:solidFill>
                  <a:srgbClr val="006533"/>
                </a:solidFill>
                <a:latin typeface="Courier New"/>
                <a:cs typeface="Courier New"/>
              </a:rPr>
              <a:t>foreignAddr</a:t>
            </a:r>
            <a:r>
              <a:rPr sz="2800" b="1" dirty="0">
                <a:latin typeface="Courier New"/>
                <a:cs typeface="Courier New"/>
              </a:rPr>
              <a:t>,</a:t>
            </a:r>
            <a:r>
              <a:rPr sz="2800" b="1" spc="5" dirty="0">
                <a:latin typeface="Courier New"/>
                <a:cs typeface="Courier New"/>
              </a:rPr>
              <a:t> </a:t>
            </a:r>
            <a:r>
              <a:rPr sz="2800" b="1" dirty="0">
                <a:solidFill>
                  <a:srgbClr val="AFBF39"/>
                </a:solidFill>
                <a:latin typeface="Courier New"/>
                <a:cs typeface="Courier New"/>
              </a:rPr>
              <a:t>addrlen</a:t>
            </a:r>
            <a:r>
              <a:rPr sz="2800" b="1" dirty="0">
                <a:latin typeface="Courier New"/>
                <a:cs typeface="Courier New"/>
              </a:rPr>
              <a:t>);</a:t>
            </a:r>
            <a:endParaRPr sz="2800" dirty="0">
              <a:latin typeface="Courier New"/>
              <a:cs typeface="Courier New"/>
            </a:endParaRPr>
          </a:p>
          <a:p>
            <a:pPr marL="681990" lvl="1" indent="-325120">
              <a:lnSpc>
                <a:spcPct val="100000"/>
              </a:lnSpc>
              <a:spcBef>
                <a:spcPts val="56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135" dirty="0">
                <a:solidFill>
                  <a:srgbClr val="CC9A00"/>
                </a:solidFill>
                <a:latin typeface="Arial"/>
                <a:cs typeface="Arial"/>
              </a:rPr>
              <a:t>msg</a:t>
            </a:r>
            <a:r>
              <a:rPr sz="2800" spc="-135" dirty="0">
                <a:latin typeface="Arial"/>
                <a:cs typeface="Arial"/>
              </a:rPr>
              <a:t>, </a:t>
            </a:r>
            <a:r>
              <a:rPr sz="2800" spc="-110" dirty="0">
                <a:solidFill>
                  <a:srgbClr val="A50021"/>
                </a:solidFill>
                <a:latin typeface="Arial"/>
                <a:cs typeface="Arial"/>
              </a:rPr>
              <a:t>msgLen, </a:t>
            </a:r>
            <a:r>
              <a:rPr sz="2800" spc="-90" dirty="0">
                <a:solidFill>
                  <a:srgbClr val="CA6800"/>
                </a:solidFill>
                <a:latin typeface="Arial"/>
                <a:cs typeface="Arial"/>
              </a:rPr>
              <a:t>flags</a:t>
            </a:r>
            <a:r>
              <a:rPr sz="2800" spc="-90" dirty="0">
                <a:latin typeface="Arial"/>
                <a:cs typeface="Arial"/>
              </a:rPr>
              <a:t>, </a:t>
            </a:r>
            <a:r>
              <a:rPr sz="2800" spc="-30" dirty="0">
                <a:latin typeface="Arial"/>
                <a:cs typeface="Arial"/>
              </a:rPr>
              <a:t>count: </a:t>
            </a:r>
            <a:r>
              <a:rPr sz="2800" spc="-185" dirty="0">
                <a:latin typeface="Arial"/>
                <a:cs typeface="Arial"/>
              </a:rPr>
              <a:t>same </a:t>
            </a:r>
            <a:r>
              <a:rPr sz="2800" spc="85" dirty="0">
                <a:latin typeface="Arial"/>
                <a:cs typeface="Arial"/>
              </a:rPr>
              <a:t>with</a:t>
            </a:r>
            <a:r>
              <a:rPr sz="2800" spc="-190" dirty="0">
                <a:latin typeface="Arial"/>
                <a:cs typeface="Arial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send()</a:t>
            </a:r>
            <a:endParaRPr sz="2800" dirty="0">
              <a:latin typeface="Courier New"/>
              <a:cs typeface="Courier New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105" dirty="0">
                <a:solidFill>
                  <a:srgbClr val="006533"/>
                </a:solidFill>
                <a:latin typeface="Arial"/>
                <a:cs typeface="Arial"/>
              </a:rPr>
              <a:t>foreignAddr</a:t>
            </a:r>
            <a:r>
              <a:rPr sz="2800" spc="-105" dirty="0">
                <a:latin typeface="Arial"/>
                <a:cs typeface="Arial"/>
              </a:rPr>
              <a:t>: </a:t>
            </a:r>
            <a:r>
              <a:rPr sz="2800" spc="-20" dirty="0">
                <a:latin typeface="Arial"/>
                <a:cs typeface="Arial"/>
              </a:rPr>
              <a:t>struct </a:t>
            </a:r>
            <a:r>
              <a:rPr sz="2800" spc="-85" dirty="0">
                <a:latin typeface="Arial"/>
                <a:cs typeface="Arial"/>
              </a:rPr>
              <a:t>sockaddr, </a:t>
            </a:r>
            <a:r>
              <a:rPr sz="2800" spc="-145" dirty="0">
                <a:latin typeface="Arial"/>
                <a:cs typeface="Arial"/>
              </a:rPr>
              <a:t>address </a:t>
            </a:r>
            <a:r>
              <a:rPr sz="2800" spc="-10" dirty="0">
                <a:latin typeface="Arial"/>
                <a:cs typeface="Arial"/>
              </a:rPr>
              <a:t>of </a:t>
            </a:r>
            <a:r>
              <a:rPr sz="2800" spc="-25" dirty="0">
                <a:latin typeface="Arial"/>
                <a:cs typeface="Arial"/>
              </a:rPr>
              <a:t>the</a:t>
            </a:r>
            <a:r>
              <a:rPr sz="2800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destination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8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130" dirty="0">
                <a:solidFill>
                  <a:srgbClr val="AFBF39"/>
                </a:solidFill>
                <a:latin typeface="Arial"/>
                <a:cs typeface="Arial"/>
              </a:rPr>
              <a:t>addrLen</a:t>
            </a:r>
            <a:r>
              <a:rPr sz="2800" spc="-130" dirty="0">
                <a:latin typeface="Arial"/>
                <a:cs typeface="Arial"/>
              </a:rPr>
              <a:t>: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30" dirty="0" err="1">
                <a:latin typeface="Arial"/>
                <a:cs typeface="Arial"/>
              </a:rPr>
              <a:t>sizeof</a:t>
            </a:r>
            <a:r>
              <a:rPr sz="2800" spc="-30" dirty="0">
                <a:latin typeface="Arial"/>
                <a:cs typeface="Arial"/>
              </a:rPr>
              <a:t>(</a:t>
            </a:r>
            <a:r>
              <a:rPr sz="2800" spc="-30" dirty="0" err="1">
                <a:latin typeface="Arial"/>
                <a:cs typeface="Arial"/>
              </a:rPr>
              <a:t>foreignAddr</a:t>
            </a:r>
            <a:r>
              <a:rPr sz="2800" spc="-30" dirty="0" smtClean="0">
                <a:latin typeface="Arial"/>
                <a:cs typeface="Arial"/>
              </a:rPr>
              <a:t>)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70191" y="1293367"/>
            <a:ext cx="7891780" cy="716280"/>
          </a:xfrm>
          <a:custGeom>
            <a:avLst/>
            <a:gdLst/>
            <a:ahLst/>
            <a:cxnLst/>
            <a:rect l="l" t="t" r="r" b="b"/>
            <a:pathLst>
              <a:path w="7891780" h="716280">
                <a:moveTo>
                  <a:pt x="7891259" y="596646"/>
                </a:moveTo>
                <a:lnTo>
                  <a:pt x="7891259" y="119634"/>
                </a:lnTo>
                <a:lnTo>
                  <a:pt x="7881891" y="72973"/>
                </a:lnTo>
                <a:lnTo>
                  <a:pt x="7856308" y="34956"/>
                </a:lnTo>
                <a:lnTo>
                  <a:pt x="7818296" y="9370"/>
                </a:lnTo>
                <a:lnTo>
                  <a:pt x="7771638" y="0"/>
                </a:lnTo>
                <a:lnTo>
                  <a:pt x="118872" y="0"/>
                </a:lnTo>
                <a:lnTo>
                  <a:pt x="72651" y="9370"/>
                </a:lnTo>
                <a:lnTo>
                  <a:pt x="34861" y="34956"/>
                </a:lnTo>
                <a:lnTo>
                  <a:pt x="9358" y="72973"/>
                </a:lnTo>
                <a:lnTo>
                  <a:pt x="0" y="119634"/>
                </a:lnTo>
                <a:lnTo>
                  <a:pt x="0" y="596646"/>
                </a:lnTo>
                <a:lnTo>
                  <a:pt x="9358" y="643306"/>
                </a:lnTo>
                <a:lnTo>
                  <a:pt x="34861" y="681323"/>
                </a:lnTo>
                <a:lnTo>
                  <a:pt x="72651" y="706909"/>
                </a:lnTo>
                <a:lnTo>
                  <a:pt x="118872" y="716280"/>
                </a:lnTo>
                <a:lnTo>
                  <a:pt x="7771638" y="716280"/>
                </a:lnTo>
                <a:lnTo>
                  <a:pt x="7818296" y="706909"/>
                </a:lnTo>
                <a:lnTo>
                  <a:pt x="7856308" y="681323"/>
                </a:lnTo>
                <a:lnTo>
                  <a:pt x="7881891" y="643306"/>
                </a:lnTo>
                <a:lnTo>
                  <a:pt x="7891259" y="596646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0191" y="1293367"/>
            <a:ext cx="7891780" cy="716280"/>
          </a:xfrm>
          <a:custGeom>
            <a:avLst/>
            <a:gdLst/>
            <a:ahLst/>
            <a:cxnLst/>
            <a:rect l="l" t="t" r="r" b="b"/>
            <a:pathLst>
              <a:path w="7891780" h="716280">
                <a:moveTo>
                  <a:pt x="118872" y="0"/>
                </a:moveTo>
                <a:lnTo>
                  <a:pt x="72651" y="9370"/>
                </a:lnTo>
                <a:lnTo>
                  <a:pt x="34861" y="34956"/>
                </a:lnTo>
                <a:lnTo>
                  <a:pt x="9358" y="72973"/>
                </a:lnTo>
                <a:lnTo>
                  <a:pt x="0" y="119634"/>
                </a:lnTo>
                <a:lnTo>
                  <a:pt x="0" y="596646"/>
                </a:lnTo>
                <a:lnTo>
                  <a:pt x="9358" y="643306"/>
                </a:lnTo>
                <a:lnTo>
                  <a:pt x="34861" y="681323"/>
                </a:lnTo>
                <a:lnTo>
                  <a:pt x="72651" y="706909"/>
                </a:lnTo>
                <a:lnTo>
                  <a:pt x="118872" y="716280"/>
                </a:lnTo>
                <a:lnTo>
                  <a:pt x="7771638" y="716280"/>
                </a:lnTo>
                <a:lnTo>
                  <a:pt x="7818296" y="706909"/>
                </a:lnTo>
                <a:lnTo>
                  <a:pt x="7856308" y="681323"/>
                </a:lnTo>
                <a:lnTo>
                  <a:pt x="7881891" y="643306"/>
                </a:lnTo>
                <a:lnTo>
                  <a:pt x="7891259" y="596646"/>
                </a:lnTo>
                <a:lnTo>
                  <a:pt x="7891259" y="119634"/>
                </a:lnTo>
                <a:lnTo>
                  <a:pt x="7881891" y="72973"/>
                </a:lnTo>
                <a:lnTo>
                  <a:pt x="7856308" y="34956"/>
                </a:lnTo>
                <a:lnTo>
                  <a:pt x="7818296" y="9370"/>
                </a:lnTo>
                <a:lnTo>
                  <a:pt x="7771638" y="0"/>
                </a:lnTo>
                <a:lnTo>
                  <a:pt x="118872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65289" y="245871"/>
            <a:ext cx="79883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60" dirty="0"/>
              <a:t>Exchanging </a:t>
            </a:r>
            <a:r>
              <a:rPr sz="4200" spc="-340" dirty="0"/>
              <a:t>data </a:t>
            </a:r>
            <a:r>
              <a:rPr sz="4200" spc="-275" dirty="0"/>
              <a:t>with </a:t>
            </a:r>
            <a:r>
              <a:rPr sz="4200" spc="-355" dirty="0"/>
              <a:t>datagram</a:t>
            </a:r>
            <a:r>
              <a:rPr sz="4200" spc="-330" dirty="0"/>
              <a:t> </a:t>
            </a:r>
            <a:r>
              <a:rPr sz="4200" spc="-225" dirty="0"/>
              <a:t>socket</a:t>
            </a:r>
            <a:endParaRPr sz="4200"/>
          </a:p>
        </p:txBody>
      </p:sp>
      <p:sp>
        <p:nvSpPr>
          <p:cNvPr id="6" name="object 6"/>
          <p:cNvSpPr/>
          <p:nvPr/>
        </p:nvSpPr>
        <p:spPr>
          <a:xfrm>
            <a:off x="673239" y="3360673"/>
            <a:ext cx="7799070" cy="673100"/>
          </a:xfrm>
          <a:custGeom>
            <a:avLst/>
            <a:gdLst/>
            <a:ahLst/>
            <a:cxnLst/>
            <a:rect l="l" t="t" r="r" b="b"/>
            <a:pathLst>
              <a:path w="7799070" h="673100">
                <a:moveTo>
                  <a:pt x="7799057" y="560831"/>
                </a:moveTo>
                <a:lnTo>
                  <a:pt x="7799057" y="112013"/>
                </a:lnTo>
                <a:lnTo>
                  <a:pt x="7790236" y="68472"/>
                </a:lnTo>
                <a:lnTo>
                  <a:pt x="7766202" y="32861"/>
                </a:lnTo>
                <a:lnTo>
                  <a:pt x="7730595" y="8822"/>
                </a:lnTo>
                <a:lnTo>
                  <a:pt x="7687056" y="0"/>
                </a:lnTo>
                <a:lnTo>
                  <a:pt x="112014" y="0"/>
                </a:lnTo>
                <a:lnTo>
                  <a:pt x="68472" y="8822"/>
                </a:lnTo>
                <a:lnTo>
                  <a:pt x="32861" y="32861"/>
                </a:lnTo>
                <a:lnTo>
                  <a:pt x="8822" y="68472"/>
                </a:lnTo>
                <a:lnTo>
                  <a:pt x="0" y="112014"/>
                </a:lnTo>
                <a:lnTo>
                  <a:pt x="0" y="560832"/>
                </a:lnTo>
                <a:lnTo>
                  <a:pt x="8822" y="604373"/>
                </a:lnTo>
                <a:lnTo>
                  <a:pt x="32861" y="639984"/>
                </a:lnTo>
                <a:lnTo>
                  <a:pt x="68472" y="664023"/>
                </a:lnTo>
                <a:lnTo>
                  <a:pt x="112014" y="672846"/>
                </a:lnTo>
                <a:lnTo>
                  <a:pt x="7687056" y="672846"/>
                </a:lnTo>
                <a:lnTo>
                  <a:pt x="7730595" y="664023"/>
                </a:lnTo>
                <a:lnTo>
                  <a:pt x="7766202" y="639984"/>
                </a:lnTo>
                <a:lnTo>
                  <a:pt x="7790236" y="604373"/>
                </a:lnTo>
                <a:lnTo>
                  <a:pt x="7799057" y="560831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01453" y="1241043"/>
            <a:ext cx="8105775" cy="46170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95250" indent="-342900">
              <a:lnSpc>
                <a:spcPct val="102899"/>
              </a:lnSpc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  <a:tab pos="8002270" algn="l"/>
              </a:tabLst>
            </a:pPr>
            <a:r>
              <a:rPr sz="2800" b="1" dirty="0" err="1" smtClean="0">
                <a:latin typeface="Courier New"/>
                <a:cs typeface="Courier New"/>
              </a:rPr>
              <a:t>int</a:t>
            </a:r>
            <a:r>
              <a:rPr sz="2800" b="1" dirty="0" smtClean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count = recvfrom(</a:t>
            </a:r>
            <a:r>
              <a:rPr sz="2800" b="1" dirty="0">
                <a:solidFill>
                  <a:srgbClr val="9A6500"/>
                </a:solidFill>
                <a:latin typeface="Courier New"/>
                <a:cs typeface="Courier New"/>
              </a:rPr>
              <a:t>sockid</a:t>
            </a:r>
            <a:r>
              <a:rPr sz="2800" b="1" dirty="0">
                <a:latin typeface="Courier New"/>
                <a:cs typeface="Courier New"/>
              </a:rPr>
              <a:t>, </a:t>
            </a:r>
            <a:r>
              <a:rPr sz="2800" b="1" dirty="0">
                <a:solidFill>
                  <a:srgbClr val="CC9A00"/>
                </a:solidFill>
                <a:latin typeface="Courier New"/>
                <a:cs typeface="Courier New"/>
              </a:rPr>
              <a:t>recvBuf</a:t>
            </a:r>
            <a:r>
              <a:rPr sz="2800" b="1" dirty="0">
                <a:latin typeface="Courier New"/>
                <a:cs typeface="Courier New"/>
              </a:rPr>
              <a:t>, </a:t>
            </a:r>
            <a:r>
              <a:rPr sz="2800" b="1" dirty="0">
                <a:solidFill>
                  <a:srgbClr val="A50021"/>
                </a:solidFill>
                <a:latin typeface="Courier New"/>
                <a:cs typeface="Courier New"/>
              </a:rPr>
              <a:t>bufLen</a:t>
            </a:r>
            <a:r>
              <a:rPr sz="2800" b="1" dirty="0">
                <a:latin typeface="Courier New"/>
                <a:cs typeface="Courier New"/>
              </a:rPr>
              <a:t>, </a:t>
            </a:r>
            <a:r>
              <a:rPr sz="2800" b="1" u="sng" dirty="0">
                <a:solidFill>
                  <a:srgbClr val="CA6800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flags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 &amp;</a:t>
            </a:r>
            <a:r>
              <a:rPr sz="2800" b="1" u="sng" dirty="0">
                <a:solidFill>
                  <a:srgbClr val="006533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clientAddr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,</a:t>
            </a:r>
            <a:r>
              <a:rPr sz="2800" b="1" u="sng" spc="-7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800" b="1" u="sng" dirty="0">
                <a:solidFill>
                  <a:srgbClr val="AFBF39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addrlen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);	</a:t>
            </a:r>
            <a:endParaRPr sz="2800" dirty="0">
              <a:latin typeface="Courier New"/>
              <a:cs typeface="Courier New"/>
            </a:endParaRPr>
          </a:p>
          <a:p>
            <a:pPr marL="681990" lvl="1" indent="-325120">
              <a:lnSpc>
                <a:spcPct val="100000"/>
              </a:lnSpc>
              <a:spcBef>
                <a:spcPts val="49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50" dirty="0">
                <a:solidFill>
                  <a:srgbClr val="CC9A00"/>
                </a:solidFill>
                <a:latin typeface="Arial"/>
                <a:cs typeface="Arial"/>
              </a:rPr>
              <a:t>recvBuf</a:t>
            </a:r>
            <a:r>
              <a:rPr sz="2800" spc="-50" dirty="0">
                <a:latin typeface="Arial"/>
                <a:cs typeface="Arial"/>
              </a:rPr>
              <a:t>, </a:t>
            </a:r>
            <a:r>
              <a:rPr sz="2800" spc="-40" dirty="0">
                <a:solidFill>
                  <a:srgbClr val="A50021"/>
                </a:solidFill>
                <a:latin typeface="Arial"/>
                <a:cs typeface="Arial"/>
              </a:rPr>
              <a:t>bufLen</a:t>
            </a:r>
            <a:r>
              <a:rPr sz="2800" spc="-40" dirty="0">
                <a:latin typeface="Arial"/>
                <a:cs typeface="Arial"/>
              </a:rPr>
              <a:t>, </a:t>
            </a:r>
            <a:r>
              <a:rPr sz="2800" spc="-90" dirty="0">
                <a:solidFill>
                  <a:srgbClr val="CA6800"/>
                </a:solidFill>
                <a:latin typeface="Arial"/>
                <a:cs typeface="Arial"/>
              </a:rPr>
              <a:t>flags</a:t>
            </a:r>
            <a:r>
              <a:rPr sz="2800" spc="-90" dirty="0">
                <a:latin typeface="Arial"/>
                <a:cs typeface="Arial"/>
              </a:rPr>
              <a:t>, </a:t>
            </a:r>
            <a:r>
              <a:rPr sz="2800" spc="-30" dirty="0">
                <a:latin typeface="Arial"/>
                <a:cs typeface="Arial"/>
              </a:rPr>
              <a:t>count: </a:t>
            </a:r>
            <a:r>
              <a:rPr sz="2800" spc="-185" dirty="0">
                <a:latin typeface="Arial"/>
                <a:cs typeface="Arial"/>
              </a:rPr>
              <a:t>same  </a:t>
            </a:r>
            <a:r>
              <a:rPr sz="2800" spc="85" dirty="0">
                <a:latin typeface="Arial"/>
                <a:cs typeface="Arial"/>
              </a:rPr>
              <a:t>with</a:t>
            </a:r>
            <a:r>
              <a:rPr sz="2800" spc="-315" dirty="0">
                <a:latin typeface="Arial"/>
                <a:cs typeface="Arial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recv()</a:t>
            </a:r>
            <a:endParaRPr sz="2800" dirty="0">
              <a:latin typeface="Courier New"/>
              <a:cs typeface="Courier New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80" dirty="0">
                <a:solidFill>
                  <a:srgbClr val="006533"/>
                </a:solidFill>
                <a:latin typeface="Arial"/>
                <a:cs typeface="Arial"/>
              </a:rPr>
              <a:t>clientAddr</a:t>
            </a:r>
            <a:r>
              <a:rPr sz="2800" spc="-80" dirty="0">
                <a:latin typeface="Arial"/>
                <a:cs typeface="Arial"/>
              </a:rPr>
              <a:t>: </a:t>
            </a:r>
            <a:r>
              <a:rPr sz="2800" spc="-25" dirty="0">
                <a:latin typeface="Arial"/>
                <a:cs typeface="Arial"/>
              </a:rPr>
              <a:t>struct </a:t>
            </a:r>
            <a:r>
              <a:rPr sz="2800" spc="-90" dirty="0">
                <a:latin typeface="Arial"/>
                <a:cs typeface="Arial"/>
              </a:rPr>
              <a:t>sockaddr, </a:t>
            </a:r>
            <a:r>
              <a:rPr sz="2800" spc="-150" dirty="0">
                <a:latin typeface="Arial"/>
                <a:cs typeface="Arial"/>
              </a:rPr>
              <a:t>address </a:t>
            </a:r>
            <a:r>
              <a:rPr sz="2800" spc="-10" dirty="0">
                <a:latin typeface="Arial"/>
                <a:cs typeface="Arial"/>
              </a:rPr>
              <a:t>of </a:t>
            </a:r>
            <a:r>
              <a:rPr sz="2800" spc="-25" dirty="0">
                <a:latin typeface="Arial"/>
                <a:cs typeface="Arial"/>
              </a:rPr>
              <a:t>the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5" dirty="0">
                <a:latin typeface="Arial"/>
                <a:cs typeface="Arial"/>
              </a:rPr>
              <a:t>client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130" dirty="0">
                <a:solidFill>
                  <a:srgbClr val="AFBF39"/>
                </a:solidFill>
                <a:latin typeface="Arial"/>
                <a:cs typeface="Arial"/>
              </a:rPr>
              <a:t>addrLen</a:t>
            </a:r>
            <a:r>
              <a:rPr sz="2800" spc="-130" dirty="0">
                <a:latin typeface="Arial"/>
                <a:cs typeface="Arial"/>
              </a:rPr>
              <a:t>: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sizeof(clientAddr)</a:t>
            </a:r>
            <a:endParaRPr sz="28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9A6500"/>
              </a:buClr>
              <a:buFont typeface="Wingdings"/>
              <a:buChar char=""/>
            </a:pPr>
            <a:endParaRPr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spc="-95" dirty="0">
                <a:latin typeface="Arial"/>
                <a:cs typeface="Arial"/>
              </a:rPr>
              <a:t>Calls </a:t>
            </a:r>
            <a:r>
              <a:rPr sz="2800" spc="-125" dirty="0">
                <a:latin typeface="Arial"/>
                <a:cs typeface="Arial"/>
              </a:rPr>
              <a:t>are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b="1" spc="-140" dirty="0">
                <a:latin typeface="Arial"/>
                <a:cs typeface="Arial"/>
              </a:rPr>
              <a:t>blocking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9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30" dirty="0">
                <a:latin typeface="Arial"/>
                <a:cs typeface="Arial"/>
              </a:rPr>
              <a:t>returns </a:t>
            </a:r>
            <a:r>
              <a:rPr sz="2800" spc="20" dirty="0">
                <a:latin typeface="Arial"/>
                <a:cs typeface="Arial"/>
              </a:rPr>
              <a:t>only </a:t>
            </a:r>
            <a:r>
              <a:rPr sz="2800" spc="-30" dirty="0">
                <a:latin typeface="Arial"/>
                <a:cs typeface="Arial"/>
              </a:rPr>
              <a:t>after </a:t>
            </a:r>
            <a:r>
              <a:rPr sz="2800" spc="-105" dirty="0">
                <a:latin typeface="Arial"/>
                <a:cs typeface="Arial"/>
              </a:rPr>
              <a:t>data </a:t>
            </a:r>
            <a:r>
              <a:rPr sz="2800" spc="-80" dirty="0">
                <a:latin typeface="Arial"/>
                <a:cs typeface="Arial"/>
              </a:rPr>
              <a:t>is </a:t>
            </a:r>
            <a:r>
              <a:rPr sz="2800" spc="-90" dirty="0">
                <a:latin typeface="Arial"/>
                <a:cs typeface="Arial"/>
              </a:rPr>
              <a:t>sent </a:t>
            </a:r>
            <a:r>
              <a:rPr sz="2800" spc="60" dirty="0">
                <a:latin typeface="Arial"/>
                <a:cs typeface="Arial"/>
              </a:rPr>
              <a:t>/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received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53385" y="261873"/>
            <a:ext cx="321373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70" dirty="0"/>
              <a:t>Example </a:t>
            </a:r>
            <a:r>
              <a:rPr sz="3600" spc="-225" dirty="0"/>
              <a:t>-</a:t>
            </a:r>
            <a:r>
              <a:rPr sz="3600" spc="-459" dirty="0"/>
              <a:t> </a:t>
            </a:r>
            <a:r>
              <a:rPr sz="3600" spc="-125" dirty="0"/>
              <a:t>Echo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401453" y="1174750"/>
            <a:ext cx="8515985" cy="1455527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9A6500"/>
              </a:buClr>
              <a:buSzPct val="6666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spc="100" dirty="0">
                <a:latin typeface="Arial"/>
                <a:cs typeface="Arial"/>
              </a:rPr>
              <a:t>A </a:t>
            </a:r>
            <a:r>
              <a:rPr sz="2800" spc="15" dirty="0">
                <a:latin typeface="Arial"/>
                <a:cs typeface="Arial"/>
              </a:rPr>
              <a:t>client </a:t>
            </a:r>
            <a:r>
              <a:rPr sz="2800" spc="-85" dirty="0">
                <a:latin typeface="Arial"/>
                <a:cs typeface="Arial"/>
              </a:rPr>
              <a:t>communicates </a:t>
            </a:r>
            <a:r>
              <a:rPr sz="2800" spc="105" dirty="0">
                <a:latin typeface="Arial"/>
                <a:cs typeface="Arial"/>
              </a:rPr>
              <a:t>with </a:t>
            </a:r>
            <a:r>
              <a:rPr sz="2800" spc="-125" dirty="0">
                <a:latin typeface="Arial"/>
                <a:cs typeface="Arial"/>
              </a:rPr>
              <a:t>an </a:t>
            </a:r>
            <a:r>
              <a:rPr sz="2800" spc="-35" dirty="0">
                <a:latin typeface="Arial"/>
                <a:cs typeface="Arial"/>
              </a:rPr>
              <a:t>“echo”</a:t>
            </a:r>
            <a:r>
              <a:rPr sz="2800" spc="-40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server</a:t>
            </a:r>
            <a:endParaRPr sz="2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0"/>
              </a:spcBef>
              <a:buClr>
                <a:srgbClr val="9A6500"/>
              </a:buClr>
              <a:buSzPct val="6666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spc="-75" dirty="0">
                <a:latin typeface="Arial"/>
                <a:cs typeface="Arial"/>
              </a:rPr>
              <a:t>The </a:t>
            </a:r>
            <a:r>
              <a:rPr sz="2800" spc="-95" dirty="0">
                <a:latin typeface="Arial"/>
                <a:cs typeface="Arial"/>
              </a:rPr>
              <a:t>server </a:t>
            </a:r>
            <a:r>
              <a:rPr sz="2800" spc="-20" dirty="0">
                <a:latin typeface="Arial"/>
                <a:cs typeface="Arial"/>
              </a:rPr>
              <a:t>simply </a:t>
            </a:r>
            <a:r>
              <a:rPr sz="2800" spc="-170" dirty="0">
                <a:latin typeface="Arial"/>
                <a:cs typeface="Arial"/>
              </a:rPr>
              <a:t>echoes </a:t>
            </a:r>
            <a:r>
              <a:rPr sz="2800" spc="-45" dirty="0">
                <a:latin typeface="Arial"/>
                <a:cs typeface="Arial"/>
              </a:rPr>
              <a:t>whatever </a:t>
            </a:r>
            <a:r>
              <a:rPr sz="2800" spc="135" dirty="0">
                <a:latin typeface="Arial"/>
                <a:cs typeface="Arial"/>
              </a:rPr>
              <a:t>it </a:t>
            </a:r>
            <a:r>
              <a:rPr sz="2800" spc="-110" dirty="0">
                <a:latin typeface="Arial"/>
                <a:cs typeface="Arial"/>
              </a:rPr>
              <a:t>receives </a:t>
            </a:r>
            <a:r>
              <a:rPr sz="2800" spc="-105" dirty="0">
                <a:latin typeface="Arial"/>
                <a:cs typeface="Arial"/>
              </a:rPr>
              <a:t>back </a:t>
            </a:r>
            <a:r>
              <a:rPr sz="2800" dirty="0">
                <a:latin typeface="Arial"/>
                <a:cs typeface="Arial"/>
              </a:rPr>
              <a:t>to </a:t>
            </a:r>
            <a:r>
              <a:rPr sz="2800" spc="-25" dirty="0">
                <a:latin typeface="Arial"/>
                <a:cs typeface="Arial"/>
              </a:rPr>
              <a:t>the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15" dirty="0">
                <a:latin typeface="Arial"/>
                <a:cs typeface="Arial"/>
              </a:rPr>
              <a:t>client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9636" y="261873"/>
            <a:ext cx="6801484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70" dirty="0"/>
              <a:t>Example </a:t>
            </a:r>
            <a:r>
              <a:rPr sz="3600" spc="-225" dirty="0"/>
              <a:t>- </a:t>
            </a:r>
            <a:r>
              <a:rPr sz="3600" spc="-130" dirty="0"/>
              <a:t>Echo </a:t>
            </a:r>
            <a:r>
              <a:rPr sz="3600" spc="-260" dirty="0"/>
              <a:t>using </a:t>
            </a:r>
            <a:r>
              <a:rPr sz="3600" spc="-285" dirty="0"/>
              <a:t>stream</a:t>
            </a:r>
            <a:r>
              <a:rPr sz="3600" spc="-160" dirty="0"/>
              <a:t> </a:t>
            </a:r>
            <a:r>
              <a:rPr sz="3600" spc="-195" dirty="0"/>
              <a:t>socket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219335" y="3096303"/>
            <a:ext cx="2928620" cy="185038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435735">
              <a:lnSpc>
                <a:spcPct val="100000"/>
              </a:lnSpc>
              <a:spcBef>
                <a:spcPts val="470"/>
              </a:spcBef>
            </a:pPr>
            <a:r>
              <a:rPr sz="2200" b="1" dirty="0">
                <a:solidFill>
                  <a:srgbClr val="006533"/>
                </a:solidFill>
                <a:latin typeface="Arial"/>
                <a:cs typeface="Arial"/>
              </a:rPr>
              <a:t>Client</a:t>
            </a:r>
            <a:endParaRPr sz="2200" dirty="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TCP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 dirty="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Establish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connection</a:t>
            </a:r>
            <a:endParaRPr sz="2000" dirty="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Communicate</a:t>
            </a:r>
            <a:endParaRPr sz="2000" dirty="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Close </a:t>
            </a:r>
            <a:r>
              <a:rPr sz="2000" spc="-5" dirty="0">
                <a:latin typeface="Arial"/>
                <a:cs typeface="Arial"/>
              </a:rPr>
              <a:t>the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connection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86528" y="3096303"/>
            <a:ext cx="3124200" cy="186943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380490">
              <a:lnSpc>
                <a:spcPct val="100000"/>
              </a:lnSpc>
              <a:spcBef>
                <a:spcPts val="470"/>
              </a:spcBef>
            </a:pPr>
            <a:r>
              <a:rPr sz="2200" b="1" spc="-5" dirty="0">
                <a:solidFill>
                  <a:srgbClr val="006533"/>
                </a:solidFill>
                <a:latin typeface="Arial"/>
                <a:cs typeface="Arial"/>
              </a:rPr>
              <a:t>Server</a:t>
            </a:r>
            <a:endParaRPr sz="2200" dirty="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TCP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 dirty="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Assign </a:t>
            </a:r>
            <a:r>
              <a:rPr sz="2000" spc="-5" dirty="0">
                <a:latin typeface="Arial"/>
                <a:cs typeface="Arial"/>
              </a:rPr>
              <a:t>a port to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 dirty="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Set socket to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listen</a:t>
            </a:r>
            <a:endParaRPr sz="2000" dirty="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62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Repeatedly: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43728" y="4940249"/>
            <a:ext cx="3094990" cy="110172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575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Arial"/>
                <a:cs typeface="Arial"/>
              </a:rPr>
              <a:t>Accept new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470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spc="-10" dirty="0">
                <a:latin typeface="Arial"/>
                <a:cs typeface="Arial"/>
              </a:rPr>
              <a:t>Close </a:t>
            </a:r>
            <a:r>
              <a:rPr sz="2000" spc="-5" dirty="0">
                <a:latin typeface="Arial"/>
                <a:cs typeface="Arial"/>
              </a:rPr>
              <a:t>the </a:t>
            </a:r>
            <a:r>
              <a:rPr sz="2000" spc="-10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5733" y="2084577"/>
            <a:ext cx="8406765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5" dirty="0">
                <a:solidFill>
                  <a:srgbClr val="A50021"/>
                </a:solidFill>
                <a:latin typeface="Tahoma"/>
                <a:cs typeface="Tahoma"/>
              </a:rPr>
              <a:t>The server starts by getting ready to receive client</a:t>
            </a:r>
            <a:r>
              <a:rPr sz="2300" spc="20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300" spc="-5" dirty="0">
                <a:solidFill>
                  <a:srgbClr val="A50021"/>
                </a:solidFill>
                <a:latin typeface="Tahoma"/>
                <a:cs typeface="Tahoma"/>
              </a:rPr>
              <a:t>connections…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4600" spc="-290" dirty="0"/>
              <a:t>Example </a:t>
            </a:r>
            <a:r>
              <a:rPr spc="-250" dirty="0"/>
              <a:t>- </a:t>
            </a:r>
            <a:r>
              <a:rPr spc="-140" dirty="0"/>
              <a:t>Echo </a:t>
            </a:r>
            <a:r>
              <a:rPr spc="-290" dirty="0"/>
              <a:t>using </a:t>
            </a:r>
            <a:r>
              <a:rPr spc="-315" dirty="0"/>
              <a:t>stream</a:t>
            </a:r>
            <a:r>
              <a:rPr spc="-195" dirty="0"/>
              <a:t> </a:t>
            </a:r>
            <a:r>
              <a:rPr spc="-220" dirty="0"/>
              <a:t>socket</a:t>
            </a:r>
            <a:endParaRPr sz="4600"/>
          </a:p>
        </p:txBody>
      </p:sp>
      <p:sp>
        <p:nvSpPr>
          <p:cNvPr id="4" name="object 4"/>
          <p:cNvSpPr txBox="1"/>
          <p:nvPr/>
        </p:nvSpPr>
        <p:spPr>
          <a:xfrm>
            <a:off x="219335" y="3096303"/>
            <a:ext cx="2928620" cy="185038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435735">
              <a:lnSpc>
                <a:spcPct val="100000"/>
              </a:lnSpc>
              <a:spcBef>
                <a:spcPts val="470"/>
              </a:spcBef>
            </a:pPr>
            <a:r>
              <a:rPr sz="2200" b="1" dirty="0">
                <a:solidFill>
                  <a:srgbClr val="006533"/>
                </a:solidFill>
                <a:latin typeface="Arial"/>
                <a:cs typeface="Arial"/>
              </a:rPr>
              <a:t>Client</a:t>
            </a:r>
            <a:endParaRPr sz="2200" dirty="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TCP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 dirty="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Establish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connection</a:t>
            </a:r>
            <a:endParaRPr sz="2000" dirty="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Communicate</a:t>
            </a:r>
            <a:endParaRPr sz="2000" dirty="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Close </a:t>
            </a:r>
            <a:r>
              <a:rPr sz="2000" spc="-5" dirty="0">
                <a:latin typeface="Arial"/>
                <a:cs typeface="Arial"/>
              </a:rPr>
              <a:t>the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connection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86528" y="3096303"/>
            <a:ext cx="3124200" cy="186943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380490">
              <a:lnSpc>
                <a:spcPct val="100000"/>
              </a:lnSpc>
              <a:spcBef>
                <a:spcPts val="470"/>
              </a:spcBef>
            </a:pPr>
            <a:r>
              <a:rPr sz="2200" b="1" spc="-5" dirty="0">
                <a:solidFill>
                  <a:srgbClr val="006533"/>
                </a:solidFill>
                <a:latin typeface="Arial"/>
                <a:cs typeface="Arial"/>
              </a:rPr>
              <a:t>Server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b="1" spc="-5" dirty="0">
                <a:solidFill>
                  <a:srgbClr val="A50021"/>
                </a:solidFill>
                <a:latin typeface="Arial"/>
                <a:cs typeface="Arial"/>
              </a:rPr>
              <a:t>Create a TCP</a:t>
            </a:r>
            <a:r>
              <a:rPr sz="2000" b="1" spc="-20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A50021"/>
                </a:solidFill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Assign </a:t>
            </a:r>
            <a:r>
              <a:rPr sz="2000" spc="-5" dirty="0">
                <a:latin typeface="Arial"/>
                <a:cs typeface="Arial"/>
              </a:rPr>
              <a:t>a port to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Set socket to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listen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62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Repeatedly: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43728" y="4940249"/>
            <a:ext cx="3094990" cy="110172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575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Arial"/>
                <a:cs typeface="Arial"/>
              </a:rPr>
              <a:t>Accept new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470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spc="-10" dirty="0">
                <a:latin typeface="Arial"/>
                <a:cs typeface="Arial"/>
              </a:rPr>
              <a:t>Close </a:t>
            </a:r>
            <a:r>
              <a:rPr sz="2000" spc="-5" dirty="0">
                <a:latin typeface="Arial"/>
                <a:cs typeface="Arial"/>
              </a:rPr>
              <a:t>the </a:t>
            </a:r>
            <a:r>
              <a:rPr sz="2000" spc="-10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3793" y="1285747"/>
            <a:ext cx="8397240" cy="1753685"/>
          </a:xfrm>
          <a:prstGeom prst="rect">
            <a:avLst/>
          </a:prstGeom>
          <a:ln w="22225">
            <a:solidFill>
              <a:srgbClr val="9966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73355">
              <a:lnSpc>
                <a:spcPct val="100000"/>
              </a:lnSpc>
              <a:spcBef>
                <a:spcPts val="235"/>
              </a:spcBef>
            </a:pPr>
            <a:r>
              <a:rPr sz="2800" spc="-40" dirty="0">
                <a:latin typeface="Arial"/>
                <a:cs typeface="Arial"/>
              </a:rPr>
              <a:t>/* </a:t>
            </a:r>
            <a:r>
              <a:rPr sz="2800" spc="-80" dirty="0">
                <a:latin typeface="Arial"/>
                <a:cs typeface="Arial"/>
              </a:rPr>
              <a:t>Create </a:t>
            </a:r>
            <a:r>
              <a:rPr sz="2800" spc="-75" dirty="0">
                <a:latin typeface="Arial"/>
                <a:cs typeface="Arial"/>
              </a:rPr>
              <a:t>socket </a:t>
            </a:r>
            <a:r>
              <a:rPr sz="2800" spc="15" dirty="0">
                <a:latin typeface="Arial"/>
                <a:cs typeface="Arial"/>
              </a:rPr>
              <a:t>for </a:t>
            </a:r>
            <a:r>
              <a:rPr sz="2800" spc="-15" dirty="0">
                <a:latin typeface="Arial"/>
                <a:cs typeface="Arial"/>
              </a:rPr>
              <a:t>incoming </a:t>
            </a:r>
            <a:r>
              <a:rPr sz="2800" spc="-45" dirty="0">
                <a:latin typeface="Arial"/>
                <a:cs typeface="Arial"/>
              </a:rPr>
              <a:t>connections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*/</a:t>
            </a:r>
            <a:endParaRPr sz="2800" dirty="0">
              <a:latin typeface="Arial"/>
              <a:cs typeface="Arial"/>
            </a:endParaRPr>
          </a:p>
          <a:p>
            <a:pPr marL="793115" marR="502284" indent="-611505">
              <a:lnSpc>
                <a:spcPct val="100000"/>
              </a:lnSpc>
              <a:spcBef>
                <a:spcPts val="5"/>
              </a:spcBef>
            </a:pPr>
            <a:r>
              <a:rPr sz="2800" b="1" dirty="0">
                <a:latin typeface="Courier New"/>
                <a:cs typeface="Courier New"/>
              </a:rPr>
              <a:t>if ((</a:t>
            </a:r>
            <a:r>
              <a:rPr sz="2800" b="1" dirty="0">
                <a:solidFill>
                  <a:srgbClr val="9A6500"/>
                </a:solidFill>
                <a:latin typeface="Courier New"/>
                <a:cs typeface="Courier New"/>
              </a:rPr>
              <a:t>servSock </a:t>
            </a:r>
            <a:r>
              <a:rPr sz="2800" b="1" dirty="0">
                <a:latin typeface="Courier New"/>
                <a:cs typeface="Courier New"/>
              </a:rPr>
              <a:t>= </a:t>
            </a:r>
            <a:r>
              <a:rPr sz="2800" b="1" dirty="0">
                <a:solidFill>
                  <a:srgbClr val="006533"/>
                </a:solidFill>
                <a:latin typeface="Courier New"/>
                <a:cs typeface="Courier New"/>
              </a:rPr>
              <a:t>socket</a:t>
            </a:r>
            <a:r>
              <a:rPr sz="2800" b="1" dirty="0">
                <a:latin typeface="Courier New"/>
                <a:cs typeface="Courier New"/>
              </a:rPr>
              <a:t>(PF_INET, SOCK_STREAM, IPPROTO_TCP)) &lt; 0)  DieWithError("socket()</a:t>
            </a:r>
            <a:r>
              <a:rPr sz="2800" b="1" spc="-5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failed");</a:t>
            </a:r>
            <a:endParaRPr sz="2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9335" y="3096303"/>
            <a:ext cx="2928620" cy="185038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435735">
              <a:lnSpc>
                <a:spcPct val="100000"/>
              </a:lnSpc>
              <a:spcBef>
                <a:spcPts val="470"/>
              </a:spcBef>
            </a:pPr>
            <a:r>
              <a:rPr sz="2200" b="1" dirty="0">
                <a:solidFill>
                  <a:srgbClr val="006533"/>
                </a:solidFill>
                <a:latin typeface="Arial"/>
                <a:cs typeface="Arial"/>
              </a:rPr>
              <a:t>Client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TCP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Establish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Close </a:t>
            </a:r>
            <a:r>
              <a:rPr sz="2000" spc="-5" dirty="0">
                <a:latin typeface="Arial"/>
                <a:cs typeface="Arial"/>
              </a:rPr>
              <a:t>the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86528" y="3096303"/>
            <a:ext cx="3364229" cy="186943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380490">
              <a:lnSpc>
                <a:spcPct val="100000"/>
              </a:lnSpc>
              <a:spcBef>
                <a:spcPts val="470"/>
              </a:spcBef>
            </a:pPr>
            <a:r>
              <a:rPr sz="2200" b="1" spc="-5" dirty="0">
                <a:solidFill>
                  <a:srgbClr val="006533"/>
                </a:solidFill>
                <a:latin typeface="Arial"/>
                <a:cs typeface="Arial"/>
              </a:rPr>
              <a:t>Server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TCP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b="1" spc="-10" dirty="0">
                <a:solidFill>
                  <a:srgbClr val="A50021"/>
                </a:solidFill>
                <a:latin typeface="Arial"/>
                <a:cs typeface="Arial"/>
              </a:rPr>
              <a:t>Assign </a:t>
            </a:r>
            <a:r>
              <a:rPr sz="2000" b="1" spc="-5" dirty="0">
                <a:solidFill>
                  <a:srgbClr val="A50021"/>
                </a:solidFill>
                <a:latin typeface="Arial"/>
                <a:cs typeface="Arial"/>
              </a:rPr>
              <a:t>a port to</a:t>
            </a:r>
            <a:r>
              <a:rPr sz="2000" b="1" spc="-20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50021"/>
                </a:solidFill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Set socket to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listen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62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Repeatedly: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43728" y="4940249"/>
            <a:ext cx="3094990" cy="110172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575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Arial"/>
                <a:cs typeface="Arial"/>
              </a:rPr>
              <a:t>Accept new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470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spc="-10" dirty="0">
                <a:latin typeface="Arial"/>
                <a:cs typeface="Arial"/>
              </a:rPr>
              <a:t>Close </a:t>
            </a:r>
            <a:r>
              <a:rPr sz="2000" spc="-5" dirty="0">
                <a:latin typeface="Arial"/>
                <a:cs typeface="Arial"/>
              </a:rPr>
              <a:t>the </a:t>
            </a:r>
            <a:r>
              <a:rPr sz="2000" spc="-10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3387" y="298450"/>
            <a:ext cx="8660130" cy="1402948"/>
          </a:xfrm>
          <a:prstGeom prst="rect">
            <a:avLst/>
          </a:prstGeom>
          <a:ln w="22225">
            <a:solidFill>
              <a:srgbClr val="996600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127635" marR="1125855" algn="just">
              <a:lnSpc>
                <a:spcPct val="100000"/>
              </a:lnSpc>
              <a:spcBef>
                <a:spcPts val="860"/>
              </a:spcBef>
              <a:tabLst>
                <a:tab pos="5445760" algn="l"/>
              </a:tabLst>
            </a:pPr>
            <a:r>
              <a:rPr sz="1400" b="1" spc="-10" dirty="0">
                <a:solidFill>
                  <a:srgbClr val="AFBF39"/>
                </a:solidFill>
                <a:latin typeface="Courier New"/>
                <a:cs typeface="Courier New"/>
              </a:rPr>
              <a:t>echoServAddr</a:t>
            </a:r>
            <a:r>
              <a:rPr sz="1400" b="1" spc="-10" dirty="0">
                <a:latin typeface="Courier New"/>
                <a:cs typeface="Courier New"/>
              </a:rPr>
              <a:t>.sin_family</a:t>
            </a:r>
            <a:r>
              <a:rPr sz="1400" b="1" spc="25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=</a:t>
            </a:r>
            <a:r>
              <a:rPr sz="1400" b="1" spc="40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AF_INET;	</a:t>
            </a:r>
            <a:r>
              <a:rPr sz="1400" spc="-35" dirty="0">
                <a:latin typeface="Arial"/>
                <a:cs typeface="Arial"/>
              </a:rPr>
              <a:t>/* </a:t>
            </a:r>
            <a:r>
              <a:rPr sz="1400" spc="5" dirty="0">
                <a:latin typeface="Arial"/>
                <a:cs typeface="Arial"/>
              </a:rPr>
              <a:t>Internet </a:t>
            </a:r>
            <a:r>
              <a:rPr sz="1400" spc="-105" dirty="0">
                <a:latin typeface="Arial"/>
                <a:cs typeface="Arial"/>
              </a:rPr>
              <a:t>address </a:t>
            </a:r>
            <a:r>
              <a:rPr sz="1400" spc="10" dirty="0">
                <a:latin typeface="Arial"/>
                <a:cs typeface="Arial"/>
              </a:rPr>
              <a:t>family </a:t>
            </a:r>
            <a:r>
              <a:rPr sz="1400" spc="-35" dirty="0">
                <a:latin typeface="Arial"/>
                <a:cs typeface="Arial"/>
              </a:rPr>
              <a:t>*/  </a:t>
            </a:r>
            <a:r>
              <a:rPr sz="1400" b="1" spc="-10" dirty="0">
                <a:solidFill>
                  <a:srgbClr val="AFBF39"/>
                </a:solidFill>
                <a:latin typeface="Courier New"/>
                <a:cs typeface="Courier New"/>
              </a:rPr>
              <a:t>echoServAddr</a:t>
            </a:r>
            <a:r>
              <a:rPr sz="1400" b="1" spc="-10" dirty="0">
                <a:latin typeface="Courier New"/>
                <a:cs typeface="Courier New"/>
              </a:rPr>
              <a:t>.sin_addr.s_addr </a:t>
            </a:r>
            <a:r>
              <a:rPr sz="1400" b="1" spc="-5" dirty="0">
                <a:latin typeface="Courier New"/>
                <a:cs typeface="Courier New"/>
              </a:rPr>
              <a:t>= </a:t>
            </a:r>
            <a:r>
              <a:rPr sz="1400" b="1" spc="-15" dirty="0">
                <a:latin typeface="Courier New"/>
                <a:cs typeface="Courier New"/>
              </a:rPr>
              <a:t>htonl(INADDR_ANY</a:t>
            </a:r>
            <a:r>
              <a:rPr sz="1400" b="1" spc="-15" dirty="0">
                <a:latin typeface="Arial"/>
                <a:cs typeface="Arial"/>
              </a:rPr>
              <a:t>); </a:t>
            </a:r>
            <a:r>
              <a:rPr sz="1400" spc="-35" dirty="0">
                <a:latin typeface="Arial"/>
                <a:cs typeface="Arial"/>
              </a:rPr>
              <a:t>/* </a:t>
            </a:r>
            <a:r>
              <a:rPr sz="1400" spc="30" dirty="0">
                <a:latin typeface="Arial"/>
                <a:cs typeface="Arial"/>
              </a:rPr>
              <a:t>Any </a:t>
            </a:r>
            <a:r>
              <a:rPr sz="1400" spc="-10" dirty="0">
                <a:latin typeface="Arial"/>
                <a:cs typeface="Arial"/>
              </a:rPr>
              <a:t>incoming </a:t>
            </a:r>
            <a:r>
              <a:rPr sz="1400" spc="-25" dirty="0">
                <a:latin typeface="Arial"/>
                <a:cs typeface="Arial"/>
              </a:rPr>
              <a:t>interface </a:t>
            </a:r>
            <a:r>
              <a:rPr sz="1400" spc="-35" dirty="0">
                <a:latin typeface="Arial"/>
                <a:cs typeface="Arial"/>
              </a:rPr>
              <a:t>*/  </a:t>
            </a:r>
            <a:r>
              <a:rPr sz="1400" b="1" spc="-10" dirty="0">
                <a:solidFill>
                  <a:srgbClr val="AFBF39"/>
                </a:solidFill>
                <a:latin typeface="Courier New"/>
                <a:cs typeface="Courier New"/>
              </a:rPr>
              <a:t>echoServAddr</a:t>
            </a:r>
            <a:r>
              <a:rPr sz="1400" b="1" spc="-10" dirty="0">
                <a:latin typeface="Courier New"/>
                <a:cs typeface="Courier New"/>
              </a:rPr>
              <a:t>.sin_port </a:t>
            </a:r>
            <a:r>
              <a:rPr sz="1400" b="1" spc="-5" dirty="0">
                <a:latin typeface="Courier New"/>
                <a:cs typeface="Courier New"/>
              </a:rPr>
              <a:t>= </a:t>
            </a:r>
            <a:r>
              <a:rPr sz="1400" b="1" spc="-10" dirty="0">
                <a:latin typeface="Courier New"/>
                <a:cs typeface="Courier New"/>
              </a:rPr>
              <a:t>htons(echoServPort); </a:t>
            </a:r>
            <a:r>
              <a:rPr sz="1400" spc="-35" dirty="0">
                <a:latin typeface="Arial"/>
                <a:cs typeface="Arial"/>
              </a:rPr>
              <a:t>/* </a:t>
            </a:r>
            <a:r>
              <a:rPr sz="1400" spc="-45" dirty="0">
                <a:latin typeface="Arial"/>
                <a:cs typeface="Arial"/>
              </a:rPr>
              <a:t>Local </a:t>
            </a:r>
            <a:r>
              <a:rPr sz="1400" spc="5" dirty="0">
                <a:latin typeface="Arial"/>
                <a:cs typeface="Arial"/>
              </a:rPr>
              <a:t>port</a:t>
            </a:r>
            <a:r>
              <a:rPr sz="1400" spc="45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*/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553085" marR="15875" indent="-425450">
              <a:lnSpc>
                <a:spcPct val="100000"/>
              </a:lnSpc>
            </a:pPr>
            <a:r>
              <a:rPr sz="1400" b="1" spc="-5" dirty="0">
                <a:latin typeface="Courier New"/>
                <a:cs typeface="Courier New"/>
              </a:rPr>
              <a:t>if </a:t>
            </a:r>
            <a:r>
              <a:rPr sz="1400" b="1" spc="-10" dirty="0">
                <a:latin typeface="Courier New"/>
                <a:cs typeface="Courier New"/>
              </a:rPr>
              <a:t>(</a:t>
            </a:r>
            <a:r>
              <a:rPr sz="1400" b="1" spc="-10" dirty="0">
                <a:solidFill>
                  <a:srgbClr val="006533"/>
                </a:solidFill>
                <a:latin typeface="Courier New"/>
                <a:cs typeface="Courier New"/>
              </a:rPr>
              <a:t>bind</a:t>
            </a:r>
            <a:r>
              <a:rPr sz="1400" b="1" spc="-10" dirty="0">
                <a:latin typeface="Courier New"/>
                <a:cs typeface="Courier New"/>
              </a:rPr>
              <a:t>(</a:t>
            </a:r>
            <a:r>
              <a:rPr sz="1400" b="1" spc="-10" dirty="0">
                <a:solidFill>
                  <a:srgbClr val="9A6500"/>
                </a:solidFill>
                <a:latin typeface="Courier New"/>
                <a:cs typeface="Courier New"/>
              </a:rPr>
              <a:t>servSock</a:t>
            </a:r>
            <a:r>
              <a:rPr sz="1400" b="1" spc="-10" dirty="0">
                <a:latin typeface="Courier New"/>
                <a:cs typeface="Courier New"/>
              </a:rPr>
              <a:t>, (struct sockaddr </a:t>
            </a:r>
            <a:r>
              <a:rPr sz="1400" b="1" spc="-5" dirty="0">
                <a:latin typeface="Courier New"/>
                <a:cs typeface="Courier New"/>
              </a:rPr>
              <a:t>*) </a:t>
            </a:r>
            <a:r>
              <a:rPr sz="1400" b="1" spc="-10" dirty="0">
                <a:latin typeface="Courier New"/>
                <a:cs typeface="Courier New"/>
              </a:rPr>
              <a:t>&amp;</a:t>
            </a:r>
            <a:r>
              <a:rPr sz="1400" b="1" spc="-10" dirty="0">
                <a:solidFill>
                  <a:srgbClr val="AFBF39"/>
                </a:solidFill>
                <a:latin typeface="Courier New"/>
                <a:cs typeface="Courier New"/>
              </a:rPr>
              <a:t>echoServAddr</a:t>
            </a:r>
            <a:r>
              <a:rPr sz="1400" b="1" spc="-10" dirty="0">
                <a:latin typeface="Courier New"/>
                <a:cs typeface="Courier New"/>
              </a:rPr>
              <a:t>, sizeof(</a:t>
            </a:r>
            <a:r>
              <a:rPr sz="1400" b="1" spc="-10" dirty="0">
                <a:solidFill>
                  <a:srgbClr val="AFBF39"/>
                </a:solidFill>
                <a:latin typeface="Courier New"/>
                <a:cs typeface="Courier New"/>
              </a:rPr>
              <a:t>echoServAddr</a:t>
            </a:r>
            <a:r>
              <a:rPr sz="1400" b="1" spc="-10" dirty="0">
                <a:latin typeface="Courier New"/>
                <a:cs typeface="Courier New"/>
              </a:rPr>
              <a:t>)) </a:t>
            </a:r>
            <a:r>
              <a:rPr sz="1400" b="1" spc="-5" dirty="0">
                <a:latin typeface="Courier New"/>
                <a:cs typeface="Courier New"/>
              </a:rPr>
              <a:t>&lt; </a:t>
            </a:r>
            <a:r>
              <a:rPr sz="1400" b="1" spc="-10" dirty="0">
                <a:latin typeface="Courier New"/>
                <a:cs typeface="Courier New"/>
              </a:rPr>
              <a:t>0)  DieWithError("bind()</a:t>
            </a:r>
            <a:r>
              <a:rPr sz="1400" b="1" spc="-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failed");</a:t>
            </a:r>
            <a:endParaRPr sz="1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44500" y="298450"/>
            <a:ext cx="8382000" cy="5511765"/>
          </a:xfrm>
          <a:prstGeom prst="rect">
            <a:avLst/>
          </a:prstGeom>
          <a:ln w="22225">
            <a:solidFill>
              <a:srgbClr val="996600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127635" marR="1125855">
              <a:lnSpc>
                <a:spcPct val="100000"/>
              </a:lnSpc>
              <a:spcBef>
                <a:spcPts val="860"/>
              </a:spcBef>
              <a:tabLst>
                <a:tab pos="5445760" algn="l"/>
              </a:tabLst>
            </a:pPr>
            <a:r>
              <a:rPr sz="2800" b="1" spc="-10" dirty="0">
                <a:solidFill>
                  <a:srgbClr val="AFBF39"/>
                </a:solidFill>
                <a:latin typeface="Courier New"/>
                <a:cs typeface="Courier New"/>
              </a:rPr>
              <a:t>echoServAddr</a:t>
            </a:r>
            <a:r>
              <a:rPr sz="2800" b="1" spc="-10" dirty="0">
                <a:latin typeface="Courier New"/>
                <a:cs typeface="Courier New"/>
              </a:rPr>
              <a:t>.sin_family</a:t>
            </a:r>
            <a:r>
              <a:rPr sz="2800" b="1" spc="25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=</a:t>
            </a:r>
            <a:r>
              <a:rPr sz="2800" b="1" spc="40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AF_INET</a:t>
            </a:r>
            <a:r>
              <a:rPr sz="2800" b="1" spc="-10" dirty="0" smtClean="0">
                <a:latin typeface="Courier New"/>
                <a:cs typeface="Courier New"/>
              </a:rPr>
              <a:t>;</a:t>
            </a:r>
            <a:r>
              <a:rPr lang="en-GB" sz="2800" b="1" spc="-10" dirty="0" smtClean="0">
                <a:latin typeface="Courier New"/>
                <a:cs typeface="Courier New"/>
              </a:rPr>
              <a:t> </a:t>
            </a:r>
            <a:r>
              <a:rPr sz="2800" spc="-35" dirty="0" smtClean="0">
                <a:latin typeface="Arial"/>
                <a:cs typeface="Arial"/>
              </a:rPr>
              <a:t>/* </a:t>
            </a:r>
            <a:r>
              <a:rPr sz="2800" spc="5" dirty="0">
                <a:latin typeface="Arial"/>
                <a:cs typeface="Arial"/>
              </a:rPr>
              <a:t>Internet </a:t>
            </a:r>
            <a:r>
              <a:rPr sz="2800" spc="-105" dirty="0">
                <a:latin typeface="Arial"/>
                <a:cs typeface="Arial"/>
              </a:rPr>
              <a:t>address </a:t>
            </a:r>
            <a:r>
              <a:rPr sz="2800" spc="10" dirty="0">
                <a:latin typeface="Arial"/>
                <a:cs typeface="Arial"/>
              </a:rPr>
              <a:t>family </a:t>
            </a:r>
            <a:r>
              <a:rPr sz="2800" spc="-35" dirty="0">
                <a:latin typeface="Arial"/>
                <a:cs typeface="Arial"/>
              </a:rPr>
              <a:t>*/  </a:t>
            </a:r>
            <a:r>
              <a:rPr sz="2800" b="1" spc="-10" dirty="0">
                <a:solidFill>
                  <a:srgbClr val="AFBF39"/>
                </a:solidFill>
                <a:latin typeface="Courier New"/>
                <a:cs typeface="Courier New"/>
              </a:rPr>
              <a:t>echoServAddr</a:t>
            </a:r>
            <a:r>
              <a:rPr sz="2800" b="1" spc="-10" dirty="0">
                <a:latin typeface="Courier New"/>
                <a:cs typeface="Courier New"/>
              </a:rPr>
              <a:t>.sin_addr.s_addr </a:t>
            </a:r>
            <a:r>
              <a:rPr sz="2800" b="1" spc="-5" dirty="0">
                <a:latin typeface="Courier New"/>
                <a:cs typeface="Courier New"/>
              </a:rPr>
              <a:t>= </a:t>
            </a:r>
            <a:r>
              <a:rPr sz="2800" b="1" spc="-15" dirty="0">
                <a:latin typeface="Courier New"/>
                <a:cs typeface="Courier New"/>
              </a:rPr>
              <a:t>htonl(INADDR_ANY</a:t>
            </a:r>
            <a:r>
              <a:rPr sz="2800" b="1" spc="-15" dirty="0">
                <a:latin typeface="Arial"/>
                <a:cs typeface="Arial"/>
              </a:rPr>
              <a:t>); </a:t>
            </a:r>
            <a:r>
              <a:rPr sz="2800" spc="-35" dirty="0" smtClean="0">
                <a:latin typeface="Arial"/>
                <a:cs typeface="Arial"/>
              </a:rPr>
              <a:t>/*</a:t>
            </a:r>
            <a:r>
              <a:rPr sz="2800" spc="30" dirty="0" smtClean="0">
                <a:latin typeface="Arial"/>
                <a:cs typeface="Arial"/>
              </a:rPr>
              <a:t>Any </a:t>
            </a:r>
            <a:r>
              <a:rPr sz="2800" spc="-10" dirty="0">
                <a:latin typeface="Arial"/>
                <a:cs typeface="Arial"/>
              </a:rPr>
              <a:t>incoming </a:t>
            </a:r>
            <a:r>
              <a:rPr sz="2800" spc="-25" dirty="0">
                <a:latin typeface="Arial"/>
                <a:cs typeface="Arial"/>
              </a:rPr>
              <a:t>interface </a:t>
            </a:r>
            <a:r>
              <a:rPr sz="2800" spc="-35" dirty="0">
                <a:latin typeface="Arial"/>
                <a:cs typeface="Arial"/>
              </a:rPr>
              <a:t>*/  </a:t>
            </a:r>
            <a:endParaRPr lang="en-GB" sz="2800" spc="-35" dirty="0" smtClean="0">
              <a:latin typeface="Arial"/>
              <a:cs typeface="Arial"/>
            </a:endParaRPr>
          </a:p>
          <a:p>
            <a:pPr marL="127635" marR="1125855">
              <a:lnSpc>
                <a:spcPct val="100000"/>
              </a:lnSpc>
              <a:spcBef>
                <a:spcPts val="860"/>
              </a:spcBef>
              <a:tabLst>
                <a:tab pos="5445760" algn="l"/>
              </a:tabLst>
            </a:pPr>
            <a:r>
              <a:rPr sz="2800" b="1" spc="-10" dirty="0" err="1" smtClean="0">
                <a:solidFill>
                  <a:srgbClr val="AFBF39"/>
                </a:solidFill>
                <a:latin typeface="Courier New"/>
                <a:cs typeface="Courier New"/>
              </a:rPr>
              <a:t>echoServAddr</a:t>
            </a:r>
            <a:r>
              <a:rPr sz="2800" b="1" spc="-10" dirty="0" err="1" smtClean="0">
                <a:latin typeface="Courier New"/>
                <a:cs typeface="Courier New"/>
              </a:rPr>
              <a:t>.sin_port</a:t>
            </a:r>
            <a:r>
              <a:rPr sz="2800" b="1" spc="-10" dirty="0" smtClean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= </a:t>
            </a:r>
            <a:r>
              <a:rPr sz="2800" b="1" spc="-10" dirty="0">
                <a:latin typeface="Courier New"/>
                <a:cs typeface="Courier New"/>
              </a:rPr>
              <a:t>htons(echoServPort); </a:t>
            </a:r>
            <a:endParaRPr lang="en-GB" sz="2800" b="1" spc="-10" dirty="0" smtClean="0">
              <a:latin typeface="Courier New"/>
              <a:cs typeface="Courier New"/>
            </a:endParaRPr>
          </a:p>
          <a:p>
            <a:pPr marL="127635" marR="1125855">
              <a:lnSpc>
                <a:spcPct val="100000"/>
              </a:lnSpc>
              <a:spcBef>
                <a:spcPts val="860"/>
              </a:spcBef>
              <a:tabLst>
                <a:tab pos="5445760" algn="l"/>
              </a:tabLst>
            </a:pPr>
            <a:r>
              <a:rPr sz="2800" spc="-35" dirty="0" smtClean="0">
                <a:latin typeface="Arial"/>
                <a:cs typeface="Arial"/>
              </a:rPr>
              <a:t>/* </a:t>
            </a:r>
            <a:r>
              <a:rPr sz="2800" spc="-45" dirty="0">
                <a:latin typeface="Arial"/>
                <a:cs typeface="Arial"/>
              </a:rPr>
              <a:t>Local </a:t>
            </a:r>
            <a:r>
              <a:rPr sz="2800" spc="5" dirty="0">
                <a:latin typeface="Arial"/>
                <a:cs typeface="Arial"/>
              </a:rPr>
              <a:t>port</a:t>
            </a:r>
            <a:r>
              <a:rPr sz="2800" spc="45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*/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553085" marR="15875" indent="-425450">
              <a:lnSpc>
                <a:spcPct val="100000"/>
              </a:lnSpc>
            </a:pPr>
            <a:r>
              <a:rPr sz="2800" b="1" spc="-5" dirty="0">
                <a:latin typeface="Courier New"/>
                <a:cs typeface="Courier New"/>
              </a:rPr>
              <a:t>if </a:t>
            </a:r>
            <a:r>
              <a:rPr sz="2800" b="1" spc="-10" dirty="0">
                <a:latin typeface="Courier New"/>
                <a:cs typeface="Courier New"/>
              </a:rPr>
              <a:t>(</a:t>
            </a:r>
            <a:r>
              <a:rPr sz="2800" b="1" spc="-10" dirty="0">
                <a:solidFill>
                  <a:srgbClr val="006533"/>
                </a:solidFill>
                <a:latin typeface="Courier New"/>
                <a:cs typeface="Courier New"/>
              </a:rPr>
              <a:t>bind</a:t>
            </a:r>
            <a:r>
              <a:rPr sz="2800" b="1" spc="-10" dirty="0">
                <a:latin typeface="Courier New"/>
                <a:cs typeface="Courier New"/>
              </a:rPr>
              <a:t>(</a:t>
            </a:r>
            <a:r>
              <a:rPr sz="2800" b="1" spc="-10" dirty="0">
                <a:solidFill>
                  <a:srgbClr val="9A6500"/>
                </a:solidFill>
                <a:latin typeface="Courier New"/>
                <a:cs typeface="Courier New"/>
              </a:rPr>
              <a:t>servSock</a:t>
            </a:r>
            <a:r>
              <a:rPr sz="2800" b="1" spc="-10" dirty="0">
                <a:latin typeface="Courier New"/>
                <a:cs typeface="Courier New"/>
              </a:rPr>
              <a:t>, (struct sockaddr </a:t>
            </a:r>
            <a:r>
              <a:rPr sz="2800" b="1" spc="-5" dirty="0">
                <a:latin typeface="Courier New"/>
                <a:cs typeface="Courier New"/>
              </a:rPr>
              <a:t>*) </a:t>
            </a:r>
            <a:r>
              <a:rPr sz="2800" b="1" spc="-10" dirty="0">
                <a:latin typeface="Courier New"/>
                <a:cs typeface="Courier New"/>
              </a:rPr>
              <a:t>&amp;</a:t>
            </a:r>
            <a:r>
              <a:rPr sz="2800" b="1" spc="-10" dirty="0">
                <a:solidFill>
                  <a:srgbClr val="AFBF39"/>
                </a:solidFill>
                <a:latin typeface="Courier New"/>
                <a:cs typeface="Courier New"/>
              </a:rPr>
              <a:t>echoServAddr</a:t>
            </a:r>
            <a:r>
              <a:rPr sz="2800" b="1" spc="-10" dirty="0">
                <a:latin typeface="Courier New"/>
                <a:cs typeface="Courier New"/>
              </a:rPr>
              <a:t>, sizeof(</a:t>
            </a:r>
            <a:r>
              <a:rPr sz="2800" b="1" spc="-10" dirty="0">
                <a:solidFill>
                  <a:srgbClr val="AFBF39"/>
                </a:solidFill>
                <a:latin typeface="Courier New"/>
                <a:cs typeface="Courier New"/>
              </a:rPr>
              <a:t>echoServAddr</a:t>
            </a:r>
            <a:r>
              <a:rPr sz="2800" b="1" spc="-10" dirty="0">
                <a:latin typeface="Courier New"/>
                <a:cs typeface="Courier New"/>
              </a:rPr>
              <a:t>)) </a:t>
            </a:r>
            <a:r>
              <a:rPr sz="2800" b="1" spc="-5" dirty="0">
                <a:latin typeface="Courier New"/>
                <a:cs typeface="Courier New"/>
              </a:rPr>
              <a:t>&lt; </a:t>
            </a:r>
            <a:r>
              <a:rPr sz="2800" b="1" spc="-10" dirty="0">
                <a:latin typeface="Courier New"/>
                <a:cs typeface="Courier New"/>
              </a:rPr>
              <a:t>0)  DieWithError("bind()</a:t>
            </a:r>
            <a:r>
              <a:rPr sz="2800" b="1" spc="-5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failed");</a:t>
            </a:r>
            <a:endParaRPr sz="2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4600" spc="-290" dirty="0"/>
              <a:t>Example </a:t>
            </a:r>
            <a:r>
              <a:rPr spc="-250" dirty="0"/>
              <a:t>- </a:t>
            </a:r>
            <a:r>
              <a:rPr spc="-140" dirty="0"/>
              <a:t>Echo </a:t>
            </a:r>
            <a:r>
              <a:rPr spc="-290" dirty="0"/>
              <a:t>using </a:t>
            </a:r>
            <a:r>
              <a:rPr spc="-315" dirty="0"/>
              <a:t>stream</a:t>
            </a:r>
            <a:r>
              <a:rPr spc="-195" dirty="0"/>
              <a:t> </a:t>
            </a:r>
            <a:r>
              <a:rPr spc="-220" dirty="0"/>
              <a:t>socket</a:t>
            </a:r>
            <a:endParaRPr sz="4600"/>
          </a:p>
        </p:txBody>
      </p:sp>
      <p:sp>
        <p:nvSpPr>
          <p:cNvPr id="4" name="object 4"/>
          <p:cNvSpPr txBox="1"/>
          <p:nvPr/>
        </p:nvSpPr>
        <p:spPr>
          <a:xfrm>
            <a:off x="219335" y="3096303"/>
            <a:ext cx="2928620" cy="185038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435735">
              <a:lnSpc>
                <a:spcPct val="100000"/>
              </a:lnSpc>
              <a:spcBef>
                <a:spcPts val="470"/>
              </a:spcBef>
            </a:pPr>
            <a:r>
              <a:rPr sz="2200" b="1" dirty="0">
                <a:solidFill>
                  <a:srgbClr val="006533"/>
                </a:solidFill>
                <a:latin typeface="Arial"/>
                <a:cs typeface="Arial"/>
              </a:rPr>
              <a:t>Client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TCP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Establish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Close </a:t>
            </a:r>
            <a:r>
              <a:rPr sz="2000" spc="-5" dirty="0">
                <a:latin typeface="Arial"/>
                <a:cs typeface="Arial"/>
              </a:rPr>
              <a:t>the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86528" y="3096303"/>
            <a:ext cx="3124200" cy="186943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380490">
              <a:lnSpc>
                <a:spcPct val="100000"/>
              </a:lnSpc>
              <a:spcBef>
                <a:spcPts val="470"/>
              </a:spcBef>
            </a:pPr>
            <a:r>
              <a:rPr sz="2200" b="1" spc="-5" dirty="0">
                <a:solidFill>
                  <a:srgbClr val="006533"/>
                </a:solidFill>
                <a:latin typeface="Arial"/>
                <a:cs typeface="Arial"/>
              </a:rPr>
              <a:t>Server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TCP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Assign </a:t>
            </a:r>
            <a:r>
              <a:rPr sz="2000" spc="-5" dirty="0">
                <a:latin typeface="Arial"/>
                <a:cs typeface="Arial"/>
              </a:rPr>
              <a:t>a port to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b="1" spc="-5" dirty="0">
                <a:solidFill>
                  <a:srgbClr val="A50021"/>
                </a:solidFill>
                <a:latin typeface="Arial"/>
                <a:cs typeface="Arial"/>
              </a:rPr>
              <a:t>Set </a:t>
            </a:r>
            <a:r>
              <a:rPr sz="2000" b="1" spc="-10" dirty="0">
                <a:solidFill>
                  <a:srgbClr val="A50021"/>
                </a:solidFill>
                <a:latin typeface="Arial"/>
                <a:cs typeface="Arial"/>
              </a:rPr>
              <a:t>socket </a:t>
            </a:r>
            <a:r>
              <a:rPr sz="2000" b="1" spc="-5" dirty="0">
                <a:solidFill>
                  <a:srgbClr val="A50021"/>
                </a:solidFill>
                <a:latin typeface="Arial"/>
                <a:cs typeface="Arial"/>
              </a:rPr>
              <a:t>to </a:t>
            </a:r>
            <a:r>
              <a:rPr sz="2000" b="1" spc="-10" dirty="0">
                <a:solidFill>
                  <a:srgbClr val="A50021"/>
                </a:solidFill>
                <a:latin typeface="Arial"/>
                <a:cs typeface="Arial"/>
              </a:rPr>
              <a:t>listen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62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Repeatedly: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43728" y="4940249"/>
            <a:ext cx="3094990" cy="110172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575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Arial"/>
                <a:cs typeface="Arial"/>
              </a:rPr>
              <a:t>Accept new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470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spc="-10" dirty="0">
                <a:latin typeface="Arial"/>
                <a:cs typeface="Arial"/>
              </a:rPr>
              <a:t>Close </a:t>
            </a:r>
            <a:r>
              <a:rPr sz="2000" spc="-5" dirty="0">
                <a:latin typeface="Arial"/>
                <a:cs typeface="Arial"/>
              </a:rPr>
              <a:t>the </a:t>
            </a:r>
            <a:r>
              <a:rPr sz="2000" spc="-10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9617" y="1136650"/>
            <a:ext cx="8253083" cy="1753044"/>
          </a:xfrm>
          <a:prstGeom prst="rect">
            <a:avLst/>
          </a:prstGeom>
          <a:ln w="22225">
            <a:solidFill>
              <a:srgbClr val="996600"/>
            </a:solidFill>
          </a:ln>
        </p:spPr>
        <p:txBody>
          <a:bodyPr vert="horz" wrap="square" lIns="0" tIns="69850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550"/>
              </a:spcBef>
            </a:pPr>
            <a:r>
              <a:rPr sz="2800" spc="-45" dirty="0">
                <a:latin typeface="Arial"/>
                <a:cs typeface="Arial"/>
              </a:rPr>
              <a:t>/* </a:t>
            </a:r>
            <a:r>
              <a:rPr sz="2800" spc="15" dirty="0">
                <a:latin typeface="Arial"/>
                <a:cs typeface="Arial"/>
              </a:rPr>
              <a:t>Mark </a:t>
            </a:r>
            <a:r>
              <a:rPr sz="2800" spc="-20" dirty="0">
                <a:latin typeface="Arial"/>
                <a:cs typeface="Arial"/>
              </a:rPr>
              <a:t>the </a:t>
            </a:r>
            <a:r>
              <a:rPr sz="2800" spc="-80" dirty="0">
                <a:latin typeface="Arial"/>
                <a:cs typeface="Arial"/>
              </a:rPr>
              <a:t>socket </a:t>
            </a:r>
            <a:r>
              <a:rPr sz="2800" spc="-175" dirty="0">
                <a:latin typeface="Arial"/>
                <a:cs typeface="Arial"/>
              </a:rPr>
              <a:t>so </a:t>
            </a:r>
            <a:r>
              <a:rPr sz="2800" spc="100" dirty="0">
                <a:latin typeface="Arial"/>
                <a:cs typeface="Arial"/>
              </a:rPr>
              <a:t>it </a:t>
            </a:r>
            <a:r>
              <a:rPr sz="2800" spc="105" dirty="0">
                <a:latin typeface="Arial"/>
                <a:cs typeface="Arial"/>
              </a:rPr>
              <a:t>will </a:t>
            </a:r>
            <a:r>
              <a:rPr sz="2800" spc="-15" dirty="0">
                <a:latin typeface="Arial"/>
                <a:cs typeface="Arial"/>
              </a:rPr>
              <a:t>listen </a:t>
            </a:r>
            <a:r>
              <a:rPr sz="2800" spc="20" dirty="0">
                <a:latin typeface="Arial"/>
                <a:cs typeface="Arial"/>
              </a:rPr>
              <a:t>for</a:t>
            </a:r>
            <a:r>
              <a:rPr sz="2800" spc="-36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incoming </a:t>
            </a:r>
            <a:r>
              <a:rPr sz="2800" spc="-55" dirty="0">
                <a:latin typeface="Arial"/>
                <a:cs typeface="Arial"/>
              </a:rPr>
              <a:t>connections </a:t>
            </a:r>
            <a:r>
              <a:rPr sz="2800" spc="-50" dirty="0">
                <a:latin typeface="Arial"/>
                <a:cs typeface="Arial"/>
              </a:rPr>
              <a:t>*/</a:t>
            </a:r>
            <a:endParaRPr sz="2800" dirty="0">
              <a:latin typeface="Arial"/>
              <a:cs typeface="Arial"/>
            </a:endParaRPr>
          </a:p>
          <a:p>
            <a:pPr marL="979805" marR="873760" indent="-807720">
              <a:lnSpc>
                <a:spcPts val="2120"/>
              </a:lnSpc>
              <a:spcBef>
                <a:spcPts val="114"/>
              </a:spcBef>
            </a:pPr>
            <a:r>
              <a:rPr sz="2800" b="1" spc="-5" dirty="0">
                <a:latin typeface="Courier New"/>
                <a:cs typeface="Courier New"/>
              </a:rPr>
              <a:t>if </a:t>
            </a:r>
            <a:r>
              <a:rPr sz="2800" b="1" spc="-10" dirty="0">
                <a:latin typeface="Courier New"/>
                <a:cs typeface="Courier New"/>
              </a:rPr>
              <a:t>(</a:t>
            </a:r>
            <a:r>
              <a:rPr sz="2800" b="1" spc="-10" dirty="0">
                <a:solidFill>
                  <a:srgbClr val="006533"/>
                </a:solidFill>
                <a:latin typeface="Courier New"/>
                <a:cs typeface="Courier New"/>
              </a:rPr>
              <a:t>listen</a:t>
            </a:r>
            <a:r>
              <a:rPr sz="2800" b="1" spc="-10" dirty="0">
                <a:latin typeface="Courier New"/>
                <a:cs typeface="Courier New"/>
              </a:rPr>
              <a:t>(</a:t>
            </a:r>
            <a:r>
              <a:rPr sz="2800" b="1" spc="-10" dirty="0">
                <a:solidFill>
                  <a:srgbClr val="9A6500"/>
                </a:solidFill>
                <a:latin typeface="Courier New"/>
                <a:cs typeface="Courier New"/>
              </a:rPr>
              <a:t>servSock</a:t>
            </a:r>
            <a:r>
              <a:rPr sz="2800" b="1" spc="-10" dirty="0">
                <a:latin typeface="Courier New"/>
                <a:cs typeface="Courier New"/>
              </a:rPr>
              <a:t>, </a:t>
            </a:r>
            <a:r>
              <a:rPr sz="2800" b="1" spc="-5" dirty="0">
                <a:latin typeface="Courier New"/>
                <a:cs typeface="Courier New"/>
              </a:rPr>
              <a:t>MAXPENDING) &lt; </a:t>
            </a:r>
            <a:r>
              <a:rPr sz="2800" b="1" spc="-10" dirty="0">
                <a:latin typeface="Courier New"/>
                <a:cs typeface="Courier New"/>
              </a:rPr>
              <a:t>0)  </a:t>
            </a:r>
            <a:r>
              <a:rPr sz="2800" b="1" spc="-5" dirty="0">
                <a:latin typeface="Courier New"/>
                <a:cs typeface="Courier New"/>
              </a:rPr>
              <a:t>DieWithError("listen()</a:t>
            </a:r>
            <a:r>
              <a:rPr sz="2800" b="1" spc="-70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failed");</a:t>
            </a:r>
            <a:endParaRPr sz="2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9335" y="3096303"/>
            <a:ext cx="2928620" cy="185038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435735">
              <a:lnSpc>
                <a:spcPct val="100000"/>
              </a:lnSpc>
              <a:spcBef>
                <a:spcPts val="470"/>
              </a:spcBef>
            </a:pPr>
            <a:r>
              <a:rPr sz="2200" b="1" dirty="0">
                <a:solidFill>
                  <a:srgbClr val="006533"/>
                </a:solidFill>
                <a:latin typeface="Arial"/>
                <a:cs typeface="Arial"/>
              </a:rPr>
              <a:t>Client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TCP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Establish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Close </a:t>
            </a:r>
            <a:r>
              <a:rPr sz="2000" spc="-5" dirty="0">
                <a:latin typeface="Arial"/>
                <a:cs typeface="Arial"/>
              </a:rPr>
              <a:t>the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86528" y="3096303"/>
            <a:ext cx="3124200" cy="186943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458595">
              <a:lnSpc>
                <a:spcPct val="100000"/>
              </a:lnSpc>
              <a:spcBef>
                <a:spcPts val="470"/>
              </a:spcBef>
            </a:pPr>
            <a:r>
              <a:rPr sz="2200" b="1" spc="-5" dirty="0">
                <a:solidFill>
                  <a:srgbClr val="006533"/>
                </a:solidFill>
                <a:latin typeface="Arial"/>
                <a:cs typeface="Arial"/>
              </a:rPr>
              <a:t>Server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TCP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Assign </a:t>
            </a:r>
            <a:r>
              <a:rPr sz="2000" spc="-5" dirty="0">
                <a:latin typeface="Arial"/>
                <a:cs typeface="Arial"/>
              </a:rPr>
              <a:t>a port to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Set socket to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listen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62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Repeatedly: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43728" y="4940249"/>
            <a:ext cx="3319145" cy="110172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575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b="1" spc="-5" dirty="0">
                <a:solidFill>
                  <a:srgbClr val="A50021"/>
                </a:solidFill>
                <a:latin typeface="Arial"/>
                <a:cs typeface="Arial"/>
              </a:rPr>
              <a:t>Accept new</a:t>
            </a:r>
            <a:r>
              <a:rPr sz="2000" b="1" spc="-25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A50021"/>
                </a:solidFill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470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spc="-10" dirty="0">
                <a:latin typeface="Arial"/>
                <a:cs typeface="Arial"/>
              </a:rPr>
              <a:t>Close </a:t>
            </a:r>
            <a:r>
              <a:rPr sz="2000" spc="-5" dirty="0">
                <a:latin typeface="Arial"/>
                <a:cs typeface="Arial"/>
              </a:rPr>
              <a:t>the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5663" y="222250"/>
            <a:ext cx="8689975" cy="2541721"/>
          </a:xfrm>
          <a:prstGeom prst="rect">
            <a:avLst/>
          </a:prstGeom>
          <a:ln w="22225">
            <a:solidFill>
              <a:srgbClr val="9966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52069">
              <a:lnSpc>
                <a:spcPts val="1675"/>
              </a:lnSpc>
              <a:spcBef>
                <a:spcPts val="320"/>
              </a:spcBef>
            </a:pPr>
            <a:r>
              <a:rPr sz="2400" b="1" spc="-5" dirty="0">
                <a:latin typeface="Courier New"/>
                <a:cs typeface="Courier New"/>
              </a:rPr>
              <a:t>for </a:t>
            </a:r>
            <a:r>
              <a:rPr sz="2400" b="1" spc="-10" dirty="0">
                <a:latin typeface="Courier New"/>
                <a:cs typeface="Courier New"/>
              </a:rPr>
              <a:t>(;;) </a:t>
            </a:r>
            <a:r>
              <a:rPr sz="2400" b="1" spc="-5" dirty="0">
                <a:latin typeface="Courier New"/>
                <a:cs typeface="Courier New"/>
              </a:rPr>
              <a:t>/* Run </a:t>
            </a:r>
            <a:r>
              <a:rPr sz="2400" b="1" spc="-10" dirty="0">
                <a:latin typeface="Courier New"/>
                <a:cs typeface="Courier New"/>
              </a:rPr>
              <a:t>forever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*/</a:t>
            </a:r>
            <a:endParaRPr sz="2400" dirty="0">
              <a:latin typeface="Courier New"/>
              <a:cs typeface="Courier New"/>
            </a:endParaRPr>
          </a:p>
          <a:p>
            <a:pPr marL="52069">
              <a:lnSpc>
                <a:spcPts val="1675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 dirty="0">
              <a:latin typeface="Courier New"/>
              <a:cs typeface="Courier New"/>
            </a:endParaRPr>
          </a:p>
          <a:p>
            <a:pPr marL="26543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clntLen </a:t>
            </a:r>
            <a:r>
              <a:rPr sz="2400" b="1" spc="-5" dirty="0">
                <a:latin typeface="Courier New"/>
                <a:cs typeface="Courier New"/>
              </a:rPr>
              <a:t>=</a:t>
            </a:r>
            <a:r>
              <a:rPr sz="2400" b="1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sizeof(echoClntAddr);</a:t>
            </a:r>
            <a:endParaRPr sz="2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400" dirty="0">
              <a:latin typeface="Times New Roman"/>
              <a:cs typeface="Times New Roman"/>
            </a:endParaRPr>
          </a:p>
          <a:p>
            <a:pPr marL="690880" marR="120014" indent="-42545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if </a:t>
            </a:r>
            <a:r>
              <a:rPr sz="2400" b="1" spc="-10" dirty="0">
                <a:latin typeface="Courier New"/>
                <a:cs typeface="Courier New"/>
              </a:rPr>
              <a:t>((</a:t>
            </a:r>
            <a:r>
              <a:rPr sz="2400" b="1" spc="-10" dirty="0">
                <a:solidFill>
                  <a:srgbClr val="CC9A00"/>
                </a:solidFill>
                <a:latin typeface="Courier New"/>
                <a:cs typeface="Courier New"/>
              </a:rPr>
              <a:t>clientSock</a:t>
            </a:r>
            <a:r>
              <a:rPr sz="2400" b="1" spc="-10" dirty="0">
                <a:latin typeface="Courier New"/>
                <a:cs typeface="Courier New"/>
              </a:rPr>
              <a:t>=</a:t>
            </a:r>
            <a:r>
              <a:rPr sz="2400" b="1" spc="-10" dirty="0">
                <a:solidFill>
                  <a:srgbClr val="006533"/>
                </a:solidFill>
                <a:latin typeface="Courier New"/>
                <a:cs typeface="Courier New"/>
              </a:rPr>
              <a:t>accept</a:t>
            </a:r>
            <a:r>
              <a:rPr sz="2400" b="1" spc="-10" dirty="0">
                <a:latin typeface="Courier New"/>
                <a:cs typeface="Courier New"/>
              </a:rPr>
              <a:t>(</a:t>
            </a:r>
            <a:r>
              <a:rPr sz="2400" b="1" spc="-10" dirty="0">
                <a:solidFill>
                  <a:srgbClr val="9A6500"/>
                </a:solidFill>
                <a:latin typeface="Courier New"/>
                <a:cs typeface="Courier New"/>
              </a:rPr>
              <a:t>servSock</a:t>
            </a:r>
            <a:r>
              <a:rPr sz="2400" b="1" spc="-10" dirty="0">
                <a:latin typeface="Courier New"/>
                <a:cs typeface="Courier New"/>
              </a:rPr>
              <a:t>,(struct sockaddr *)&amp;echoClntAddr,&amp;clntLen))&lt;0)  DieWithError("accept()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failed");</a:t>
            </a:r>
            <a:endParaRPr sz="2400" dirty="0">
              <a:latin typeface="Courier New"/>
              <a:cs typeface="Courier New"/>
            </a:endParaRPr>
          </a:p>
          <a:p>
            <a:pPr marL="265430">
              <a:lnSpc>
                <a:spcPts val="1664"/>
              </a:lnSpc>
            </a:pPr>
            <a:r>
              <a:rPr sz="2400" b="1" spc="-10" dirty="0">
                <a:latin typeface="Courier New"/>
                <a:cs typeface="Courier New"/>
              </a:rPr>
              <a:t>...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4600" spc="-290" dirty="0"/>
              <a:t>Example </a:t>
            </a:r>
            <a:r>
              <a:rPr spc="-250" dirty="0"/>
              <a:t>- </a:t>
            </a:r>
            <a:r>
              <a:rPr spc="-140" dirty="0"/>
              <a:t>Echo </a:t>
            </a:r>
            <a:r>
              <a:rPr spc="-290" dirty="0"/>
              <a:t>using </a:t>
            </a:r>
            <a:r>
              <a:rPr spc="-315" dirty="0"/>
              <a:t>stream</a:t>
            </a:r>
            <a:r>
              <a:rPr spc="-195" dirty="0"/>
              <a:t> </a:t>
            </a:r>
            <a:r>
              <a:rPr spc="-220" dirty="0"/>
              <a:t>socket</a:t>
            </a:r>
            <a:endParaRPr sz="4600"/>
          </a:p>
        </p:txBody>
      </p:sp>
      <p:sp>
        <p:nvSpPr>
          <p:cNvPr id="4" name="object 4"/>
          <p:cNvSpPr txBox="1"/>
          <p:nvPr/>
        </p:nvSpPr>
        <p:spPr>
          <a:xfrm>
            <a:off x="219335" y="3096303"/>
            <a:ext cx="2928620" cy="185038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435735">
              <a:lnSpc>
                <a:spcPct val="100000"/>
              </a:lnSpc>
              <a:spcBef>
                <a:spcPts val="470"/>
              </a:spcBef>
            </a:pPr>
            <a:r>
              <a:rPr sz="2200" b="1" dirty="0">
                <a:solidFill>
                  <a:srgbClr val="006533"/>
                </a:solidFill>
                <a:latin typeface="Arial"/>
                <a:cs typeface="Arial"/>
              </a:rPr>
              <a:t>Client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TCP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Establish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Close </a:t>
            </a:r>
            <a:r>
              <a:rPr sz="2000" spc="-5" dirty="0">
                <a:latin typeface="Arial"/>
                <a:cs typeface="Arial"/>
              </a:rPr>
              <a:t>the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86528" y="3096303"/>
            <a:ext cx="3124200" cy="186943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590675">
              <a:lnSpc>
                <a:spcPct val="100000"/>
              </a:lnSpc>
              <a:spcBef>
                <a:spcPts val="470"/>
              </a:spcBef>
            </a:pPr>
            <a:r>
              <a:rPr sz="2200" b="1" spc="-5" dirty="0">
                <a:solidFill>
                  <a:srgbClr val="006533"/>
                </a:solidFill>
                <a:latin typeface="Arial"/>
                <a:cs typeface="Arial"/>
              </a:rPr>
              <a:t>Server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TCP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Assign </a:t>
            </a:r>
            <a:r>
              <a:rPr sz="2000" spc="-5" dirty="0">
                <a:latin typeface="Arial"/>
                <a:cs typeface="Arial"/>
              </a:rPr>
              <a:t>a port to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Set socket to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listen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62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Repeatedly: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43728" y="4940249"/>
            <a:ext cx="3319145" cy="110172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575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b="1" spc="-5" dirty="0">
                <a:solidFill>
                  <a:srgbClr val="A50021"/>
                </a:solidFill>
                <a:latin typeface="Arial"/>
                <a:cs typeface="Arial"/>
              </a:rPr>
              <a:t>Accept new</a:t>
            </a:r>
            <a:r>
              <a:rPr sz="2000" b="1" spc="-25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A50021"/>
                </a:solidFill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470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spc="-10" dirty="0">
                <a:latin typeface="Arial"/>
                <a:cs typeface="Arial"/>
              </a:rPr>
              <a:t>Close </a:t>
            </a:r>
            <a:r>
              <a:rPr sz="2000" spc="-5" dirty="0">
                <a:latin typeface="Arial"/>
                <a:cs typeface="Arial"/>
              </a:rPr>
              <a:t>the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1113" y="1715770"/>
            <a:ext cx="7834630" cy="1122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A50021"/>
                </a:solidFill>
                <a:latin typeface="Tahoma"/>
                <a:cs typeface="Tahoma"/>
              </a:rPr>
              <a:t>Server </a:t>
            </a:r>
            <a:r>
              <a:rPr sz="2400" dirty="0">
                <a:solidFill>
                  <a:srgbClr val="A50021"/>
                </a:solidFill>
                <a:latin typeface="Tahoma"/>
                <a:cs typeface="Tahoma"/>
              </a:rPr>
              <a:t>is </a:t>
            </a:r>
            <a:r>
              <a:rPr sz="2400" spc="-5" dirty="0">
                <a:solidFill>
                  <a:srgbClr val="A50021"/>
                </a:solidFill>
                <a:latin typeface="Tahoma"/>
                <a:cs typeface="Tahoma"/>
              </a:rPr>
              <a:t>now blocked waiting </a:t>
            </a:r>
            <a:r>
              <a:rPr sz="2400" dirty="0">
                <a:solidFill>
                  <a:srgbClr val="A50021"/>
                </a:solidFill>
                <a:latin typeface="Tahoma"/>
                <a:cs typeface="Tahoma"/>
              </a:rPr>
              <a:t>for connection from a</a:t>
            </a:r>
            <a:r>
              <a:rPr sz="2400" spc="3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A50021"/>
                </a:solidFill>
                <a:latin typeface="Tahoma"/>
                <a:cs typeface="Tahoma"/>
              </a:rPr>
              <a:t>client</a:t>
            </a:r>
            <a:endParaRPr sz="2400">
              <a:latin typeface="Tahoma"/>
              <a:cs typeface="Tahoma"/>
            </a:endParaRPr>
          </a:p>
          <a:p>
            <a:pPr algn="ctr">
              <a:lnSpc>
                <a:spcPts val="2875"/>
              </a:lnSpc>
            </a:pPr>
            <a:r>
              <a:rPr sz="2400" dirty="0">
                <a:solidFill>
                  <a:srgbClr val="A50021"/>
                </a:solidFill>
                <a:latin typeface="Tahoma"/>
                <a:cs typeface="Tahoma"/>
              </a:rPr>
              <a:t>…</a:t>
            </a:r>
            <a:endParaRPr sz="2400">
              <a:latin typeface="Tahoma"/>
              <a:cs typeface="Tahoma"/>
            </a:endParaRPr>
          </a:p>
          <a:p>
            <a:pPr algn="ctr">
              <a:lnSpc>
                <a:spcPts val="2875"/>
              </a:lnSpc>
            </a:pPr>
            <a:r>
              <a:rPr sz="2400" spc="-5" dirty="0">
                <a:solidFill>
                  <a:srgbClr val="CA6800"/>
                </a:solidFill>
                <a:latin typeface="Tahoma"/>
                <a:cs typeface="Tahoma"/>
              </a:rPr>
              <a:t>A </a:t>
            </a:r>
            <a:r>
              <a:rPr sz="2400" dirty="0">
                <a:solidFill>
                  <a:srgbClr val="CA6800"/>
                </a:solidFill>
                <a:latin typeface="Tahoma"/>
                <a:cs typeface="Tahoma"/>
              </a:rPr>
              <a:t>client </a:t>
            </a:r>
            <a:r>
              <a:rPr sz="2400" spc="-5" dirty="0">
                <a:solidFill>
                  <a:srgbClr val="CA6800"/>
                </a:solidFill>
                <a:latin typeface="Tahoma"/>
                <a:cs typeface="Tahoma"/>
              </a:rPr>
              <a:t>decides </a:t>
            </a:r>
            <a:r>
              <a:rPr sz="2400" dirty="0">
                <a:solidFill>
                  <a:srgbClr val="CA6800"/>
                </a:solidFill>
                <a:latin typeface="Tahoma"/>
                <a:cs typeface="Tahoma"/>
              </a:rPr>
              <a:t>to talk to the</a:t>
            </a:r>
            <a:r>
              <a:rPr sz="2400" spc="-10" dirty="0">
                <a:solidFill>
                  <a:srgbClr val="CA68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CA6800"/>
                </a:solidFill>
                <a:latin typeface="Tahoma"/>
                <a:cs typeface="Tahoma"/>
              </a:rPr>
              <a:t>server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4600" spc="-290" dirty="0"/>
              <a:t>Example </a:t>
            </a:r>
            <a:r>
              <a:rPr spc="-250" dirty="0"/>
              <a:t>- </a:t>
            </a:r>
            <a:r>
              <a:rPr spc="-140" dirty="0"/>
              <a:t>Echo </a:t>
            </a:r>
            <a:r>
              <a:rPr spc="-290" dirty="0"/>
              <a:t>using </a:t>
            </a:r>
            <a:r>
              <a:rPr spc="-315" dirty="0"/>
              <a:t>stream</a:t>
            </a:r>
            <a:r>
              <a:rPr spc="-195" dirty="0"/>
              <a:t> </a:t>
            </a:r>
            <a:r>
              <a:rPr spc="-220" dirty="0"/>
              <a:t>socket</a:t>
            </a:r>
            <a:endParaRPr sz="4600"/>
          </a:p>
        </p:txBody>
      </p:sp>
      <p:sp>
        <p:nvSpPr>
          <p:cNvPr id="4" name="object 4"/>
          <p:cNvSpPr txBox="1"/>
          <p:nvPr/>
        </p:nvSpPr>
        <p:spPr>
          <a:xfrm>
            <a:off x="219335" y="3096303"/>
            <a:ext cx="3013710" cy="185038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435735">
              <a:lnSpc>
                <a:spcPct val="100000"/>
              </a:lnSpc>
              <a:spcBef>
                <a:spcPts val="470"/>
              </a:spcBef>
            </a:pPr>
            <a:r>
              <a:rPr sz="2200" b="1" dirty="0">
                <a:solidFill>
                  <a:srgbClr val="006533"/>
                </a:solidFill>
                <a:latin typeface="Arial"/>
                <a:cs typeface="Arial"/>
              </a:rPr>
              <a:t>Client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b="1" spc="-5" dirty="0">
                <a:solidFill>
                  <a:srgbClr val="CA6800"/>
                </a:solidFill>
                <a:latin typeface="Arial"/>
                <a:cs typeface="Arial"/>
              </a:rPr>
              <a:t>Create a TCP</a:t>
            </a:r>
            <a:r>
              <a:rPr sz="2000" b="1" spc="-30" dirty="0">
                <a:solidFill>
                  <a:srgbClr val="CA6800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CA6800"/>
                </a:solidFill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Establish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Close </a:t>
            </a:r>
            <a:r>
              <a:rPr sz="2000" spc="-5" dirty="0">
                <a:latin typeface="Arial"/>
                <a:cs typeface="Arial"/>
              </a:rPr>
              <a:t>the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86528" y="3096303"/>
            <a:ext cx="3124200" cy="186943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590675">
              <a:lnSpc>
                <a:spcPct val="100000"/>
              </a:lnSpc>
              <a:spcBef>
                <a:spcPts val="470"/>
              </a:spcBef>
            </a:pPr>
            <a:r>
              <a:rPr sz="2200" b="1" spc="-5" dirty="0">
                <a:solidFill>
                  <a:srgbClr val="006533"/>
                </a:solidFill>
                <a:latin typeface="Arial"/>
                <a:cs typeface="Arial"/>
              </a:rPr>
              <a:t>Server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TCP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Assign </a:t>
            </a:r>
            <a:r>
              <a:rPr sz="2000" spc="-5" dirty="0">
                <a:latin typeface="Arial"/>
                <a:cs typeface="Arial"/>
              </a:rPr>
              <a:t>a port to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Set socket to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listen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62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Repeatedly: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43728" y="4940249"/>
            <a:ext cx="3319145" cy="110172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575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b="1" spc="-5" dirty="0">
                <a:solidFill>
                  <a:srgbClr val="A50021"/>
                </a:solidFill>
                <a:latin typeface="Arial"/>
                <a:cs typeface="Arial"/>
              </a:rPr>
              <a:t>Accept new</a:t>
            </a:r>
            <a:r>
              <a:rPr sz="2000" b="1" spc="-25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A50021"/>
                </a:solidFill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470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spc="-10" dirty="0">
                <a:latin typeface="Arial"/>
                <a:cs typeface="Arial"/>
              </a:rPr>
              <a:t>Close </a:t>
            </a:r>
            <a:r>
              <a:rPr sz="2000" spc="-5" dirty="0">
                <a:latin typeface="Arial"/>
                <a:cs typeface="Arial"/>
              </a:rPr>
              <a:t>the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3793" y="1285747"/>
            <a:ext cx="8397240" cy="1507464"/>
          </a:xfrm>
          <a:prstGeom prst="rect">
            <a:avLst/>
          </a:prstGeom>
          <a:ln w="22225">
            <a:solidFill>
              <a:srgbClr val="9966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73355">
              <a:lnSpc>
                <a:spcPct val="100000"/>
              </a:lnSpc>
              <a:spcBef>
                <a:spcPts val="235"/>
              </a:spcBef>
            </a:pPr>
            <a:r>
              <a:rPr sz="2400" spc="-40" dirty="0">
                <a:latin typeface="Arial"/>
                <a:cs typeface="Arial"/>
              </a:rPr>
              <a:t>/* </a:t>
            </a:r>
            <a:r>
              <a:rPr sz="2400" spc="-75" dirty="0">
                <a:latin typeface="Arial"/>
                <a:cs typeface="Arial"/>
              </a:rPr>
              <a:t>Create </a:t>
            </a:r>
            <a:r>
              <a:rPr sz="2400" spc="-185" dirty="0">
                <a:latin typeface="Arial"/>
                <a:cs typeface="Arial"/>
              </a:rPr>
              <a:t>a </a:t>
            </a:r>
            <a:r>
              <a:rPr sz="2400" spc="-25" dirty="0">
                <a:latin typeface="Arial"/>
                <a:cs typeface="Arial"/>
              </a:rPr>
              <a:t>reliable, </a:t>
            </a:r>
            <a:r>
              <a:rPr sz="2400" spc="-70" dirty="0">
                <a:latin typeface="Arial"/>
                <a:cs typeface="Arial"/>
              </a:rPr>
              <a:t>stream socket </a:t>
            </a:r>
            <a:r>
              <a:rPr sz="2400" spc="-60" dirty="0">
                <a:latin typeface="Arial"/>
                <a:cs typeface="Arial"/>
              </a:rPr>
              <a:t>using </a:t>
            </a:r>
            <a:r>
              <a:rPr sz="2400" spc="-90" dirty="0">
                <a:latin typeface="Arial"/>
                <a:cs typeface="Arial"/>
              </a:rPr>
              <a:t>TCP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*/</a:t>
            </a:r>
            <a:endParaRPr sz="2400" dirty="0">
              <a:latin typeface="Arial"/>
              <a:cs typeface="Arial"/>
            </a:endParaRPr>
          </a:p>
          <a:p>
            <a:pPr marL="793115" marR="258445" indent="-611505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Courier New"/>
                <a:cs typeface="Courier New"/>
              </a:rPr>
              <a:t>if ((</a:t>
            </a:r>
            <a:r>
              <a:rPr sz="2400" b="1" dirty="0">
                <a:solidFill>
                  <a:srgbClr val="CC9A00"/>
                </a:solidFill>
                <a:latin typeface="Courier New"/>
                <a:cs typeface="Courier New"/>
              </a:rPr>
              <a:t>clientSock </a:t>
            </a:r>
            <a:r>
              <a:rPr sz="2400" b="1" dirty="0">
                <a:latin typeface="Courier New"/>
                <a:cs typeface="Courier New"/>
              </a:rPr>
              <a:t>= </a:t>
            </a:r>
            <a:r>
              <a:rPr sz="2400" b="1" dirty="0">
                <a:solidFill>
                  <a:srgbClr val="006533"/>
                </a:solidFill>
                <a:latin typeface="Courier New"/>
                <a:cs typeface="Courier New"/>
              </a:rPr>
              <a:t>socket</a:t>
            </a:r>
            <a:r>
              <a:rPr sz="2400" b="1" dirty="0">
                <a:latin typeface="Courier New"/>
                <a:cs typeface="Courier New"/>
              </a:rPr>
              <a:t>(PF_INET, SOCK_STREAM, IPPROTO_TCP)) &lt; 0)  DieWithError("socket()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failed");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4600" spc="-290" dirty="0"/>
              <a:t>Example </a:t>
            </a:r>
            <a:r>
              <a:rPr spc="-250" dirty="0"/>
              <a:t>- </a:t>
            </a:r>
            <a:r>
              <a:rPr spc="-140" dirty="0"/>
              <a:t>Echo </a:t>
            </a:r>
            <a:r>
              <a:rPr spc="-290" dirty="0"/>
              <a:t>using </a:t>
            </a:r>
            <a:r>
              <a:rPr spc="-315" dirty="0"/>
              <a:t>stream</a:t>
            </a:r>
            <a:r>
              <a:rPr spc="-195" dirty="0"/>
              <a:t> </a:t>
            </a:r>
            <a:r>
              <a:rPr spc="-220" dirty="0"/>
              <a:t>socket</a:t>
            </a:r>
            <a:endParaRPr sz="4600"/>
          </a:p>
        </p:txBody>
      </p:sp>
      <p:sp>
        <p:nvSpPr>
          <p:cNvPr id="4" name="object 4"/>
          <p:cNvSpPr txBox="1"/>
          <p:nvPr/>
        </p:nvSpPr>
        <p:spPr>
          <a:xfrm>
            <a:off x="219335" y="3096303"/>
            <a:ext cx="3112135" cy="185038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435735">
              <a:lnSpc>
                <a:spcPct val="100000"/>
              </a:lnSpc>
              <a:spcBef>
                <a:spcPts val="470"/>
              </a:spcBef>
            </a:pPr>
            <a:r>
              <a:rPr sz="2200" b="1" dirty="0">
                <a:solidFill>
                  <a:srgbClr val="006533"/>
                </a:solidFill>
                <a:latin typeface="Arial"/>
                <a:cs typeface="Arial"/>
              </a:rPr>
              <a:t>Client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TCP</a:t>
            </a:r>
            <a:r>
              <a:rPr sz="2000" spc="-10" dirty="0">
                <a:latin typeface="Arial"/>
                <a:cs typeface="Arial"/>
              </a:rPr>
              <a:t> 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b="1" spc="-5" dirty="0">
                <a:solidFill>
                  <a:srgbClr val="CA6800"/>
                </a:solidFill>
                <a:latin typeface="Arial"/>
                <a:cs typeface="Arial"/>
              </a:rPr>
              <a:t>Establish</a:t>
            </a:r>
            <a:r>
              <a:rPr sz="2000" b="1" spc="-25" dirty="0">
                <a:solidFill>
                  <a:srgbClr val="CA6800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CA6800"/>
                </a:solidFill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Close </a:t>
            </a:r>
            <a:r>
              <a:rPr sz="2000" spc="-5" dirty="0">
                <a:latin typeface="Arial"/>
                <a:cs typeface="Arial"/>
              </a:rPr>
              <a:t>the </a:t>
            </a:r>
            <a:r>
              <a:rPr sz="2000" spc="-10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86528" y="3096303"/>
            <a:ext cx="3124200" cy="186943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590675">
              <a:lnSpc>
                <a:spcPct val="100000"/>
              </a:lnSpc>
              <a:spcBef>
                <a:spcPts val="470"/>
              </a:spcBef>
            </a:pPr>
            <a:r>
              <a:rPr sz="2200" b="1" spc="-5" dirty="0">
                <a:solidFill>
                  <a:srgbClr val="006533"/>
                </a:solidFill>
                <a:latin typeface="Arial"/>
                <a:cs typeface="Arial"/>
              </a:rPr>
              <a:t>Server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TCP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Assign </a:t>
            </a:r>
            <a:r>
              <a:rPr sz="2000" spc="-5" dirty="0">
                <a:latin typeface="Arial"/>
                <a:cs typeface="Arial"/>
              </a:rPr>
              <a:t>a port to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Set socket to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listen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62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Repeatedly: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43728" y="4940249"/>
            <a:ext cx="3319145" cy="110172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575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b="1" spc="-5" dirty="0">
                <a:solidFill>
                  <a:srgbClr val="A50021"/>
                </a:solidFill>
                <a:latin typeface="Arial"/>
                <a:cs typeface="Arial"/>
              </a:rPr>
              <a:t>Accept new</a:t>
            </a:r>
            <a:r>
              <a:rPr sz="2000" b="1" spc="-25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A50021"/>
                </a:solidFill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470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spc="-10" dirty="0">
                <a:latin typeface="Arial"/>
                <a:cs typeface="Arial"/>
              </a:rPr>
              <a:t>Close </a:t>
            </a:r>
            <a:r>
              <a:rPr sz="2000" spc="-5" dirty="0">
                <a:latin typeface="Arial"/>
                <a:cs typeface="Arial"/>
              </a:rPr>
              <a:t>the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3387" y="1285747"/>
            <a:ext cx="8660130" cy="1743075"/>
          </a:xfrm>
          <a:prstGeom prst="rect">
            <a:avLst/>
          </a:prstGeom>
          <a:ln w="22225">
            <a:solidFill>
              <a:srgbClr val="996600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127635" marR="750570">
              <a:lnSpc>
                <a:spcPct val="100000"/>
              </a:lnSpc>
              <a:spcBef>
                <a:spcPts val="860"/>
              </a:spcBef>
              <a:tabLst>
                <a:tab pos="5832475" algn="l"/>
                <a:tab pos="5871210" algn="l"/>
              </a:tabLst>
            </a:pPr>
            <a:r>
              <a:rPr sz="1400" b="1" spc="-10" dirty="0">
                <a:solidFill>
                  <a:srgbClr val="AFBF39"/>
                </a:solidFill>
                <a:latin typeface="Courier New"/>
                <a:cs typeface="Courier New"/>
              </a:rPr>
              <a:t>echoServAddr</a:t>
            </a:r>
            <a:r>
              <a:rPr sz="1400" b="1" spc="-10" dirty="0">
                <a:latin typeface="Courier New"/>
                <a:cs typeface="Courier New"/>
              </a:rPr>
              <a:t>.sin_family</a:t>
            </a:r>
            <a:r>
              <a:rPr sz="1400" b="1" spc="25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=</a:t>
            </a:r>
            <a:r>
              <a:rPr sz="1400" b="1" spc="40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AF_INET;		</a:t>
            </a:r>
            <a:r>
              <a:rPr sz="1400" spc="-35" dirty="0">
                <a:latin typeface="Arial"/>
                <a:cs typeface="Arial"/>
              </a:rPr>
              <a:t>/* </a:t>
            </a:r>
            <a:r>
              <a:rPr sz="1400" dirty="0">
                <a:latin typeface="Arial"/>
                <a:cs typeface="Arial"/>
              </a:rPr>
              <a:t>Internet </a:t>
            </a:r>
            <a:r>
              <a:rPr sz="1400" spc="-105" dirty="0">
                <a:latin typeface="Arial"/>
                <a:cs typeface="Arial"/>
              </a:rPr>
              <a:t>address </a:t>
            </a:r>
            <a:r>
              <a:rPr sz="1400" spc="10" dirty="0">
                <a:latin typeface="Arial"/>
                <a:cs typeface="Arial"/>
              </a:rPr>
              <a:t>family </a:t>
            </a:r>
            <a:r>
              <a:rPr sz="1400" spc="-30" dirty="0">
                <a:latin typeface="Arial"/>
                <a:cs typeface="Arial"/>
              </a:rPr>
              <a:t>*/  </a:t>
            </a:r>
            <a:r>
              <a:rPr sz="1400" b="1" spc="-10" dirty="0">
                <a:solidFill>
                  <a:srgbClr val="AFBF39"/>
                </a:solidFill>
                <a:latin typeface="Courier New"/>
                <a:cs typeface="Courier New"/>
              </a:rPr>
              <a:t>echoServAddr</a:t>
            </a:r>
            <a:r>
              <a:rPr sz="1400" b="1" spc="-10" dirty="0">
                <a:latin typeface="Courier New"/>
                <a:cs typeface="Courier New"/>
              </a:rPr>
              <a:t>.sin_addr.s_addr</a:t>
            </a:r>
            <a:r>
              <a:rPr sz="1400" b="1" spc="60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=</a:t>
            </a:r>
            <a:r>
              <a:rPr sz="1400" b="1" spc="60" dirty="0">
                <a:latin typeface="Courier New"/>
                <a:cs typeface="Courier New"/>
              </a:rPr>
              <a:t> </a:t>
            </a:r>
            <a:r>
              <a:rPr sz="1400" b="1" spc="-15" dirty="0">
                <a:latin typeface="Courier New"/>
                <a:cs typeface="Courier New"/>
              </a:rPr>
              <a:t>inet_addr(echoservIP</a:t>
            </a:r>
            <a:r>
              <a:rPr sz="1400" b="1" spc="-15" dirty="0">
                <a:latin typeface="Arial"/>
                <a:cs typeface="Arial"/>
              </a:rPr>
              <a:t>);	</a:t>
            </a:r>
            <a:r>
              <a:rPr sz="1400" spc="-35" dirty="0">
                <a:latin typeface="Arial"/>
                <a:cs typeface="Arial"/>
              </a:rPr>
              <a:t>/* </a:t>
            </a:r>
            <a:r>
              <a:rPr sz="1400" spc="-65" dirty="0">
                <a:latin typeface="Arial"/>
                <a:cs typeface="Arial"/>
              </a:rPr>
              <a:t>Server </a:t>
            </a:r>
            <a:r>
              <a:rPr sz="1400" spc="-5" dirty="0">
                <a:latin typeface="Arial"/>
                <a:cs typeface="Arial"/>
              </a:rPr>
              <a:t>IP </a:t>
            </a:r>
            <a:r>
              <a:rPr sz="1400" spc="-90" dirty="0">
                <a:latin typeface="Arial"/>
                <a:cs typeface="Arial"/>
              </a:rPr>
              <a:t>address*/  </a:t>
            </a:r>
            <a:r>
              <a:rPr sz="1400" b="1" spc="-10" dirty="0">
                <a:solidFill>
                  <a:srgbClr val="AFBF39"/>
                </a:solidFill>
                <a:latin typeface="Courier New"/>
                <a:cs typeface="Courier New"/>
              </a:rPr>
              <a:t>echoServAddr</a:t>
            </a:r>
            <a:r>
              <a:rPr sz="1400" b="1" spc="-10" dirty="0">
                <a:latin typeface="Courier New"/>
                <a:cs typeface="Courier New"/>
              </a:rPr>
              <a:t>.sin_port</a:t>
            </a:r>
            <a:r>
              <a:rPr sz="1400" b="1" spc="55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=</a:t>
            </a:r>
            <a:r>
              <a:rPr sz="1400" b="1" spc="40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htons(echoServPort);		</a:t>
            </a:r>
            <a:r>
              <a:rPr sz="1400" spc="-35" dirty="0">
                <a:latin typeface="Arial"/>
                <a:cs typeface="Arial"/>
              </a:rPr>
              <a:t>/* </a:t>
            </a:r>
            <a:r>
              <a:rPr sz="1400" spc="-70" dirty="0">
                <a:latin typeface="Arial"/>
                <a:cs typeface="Arial"/>
              </a:rPr>
              <a:t>Server </a:t>
            </a:r>
            <a:r>
              <a:rPr sz="1400" dirty="0">
                <a:latin typeface="Arial"/>
                <a:cs typeface="Arial"/>
              </a:rPr>
              <a:t>port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40" dirty="0">
                <a:latin typeface="Arial"/>
                <a:cs typeface="Arial"/>
              </a:rPr>
              <a:t>*/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635">
              <a:lnSpc>
                <a:spcPts val="1675"/>
              </a:lnSpc>
            </a:pPr>
            <a:r>
              <a:rPr sz="1400" b="1" spc="-5" dirty="0">
                <a:latin typeface="Courier New"/>
                <a:cs typeface="Courier New"/>
              </a:rPr>
              <a:t>if </a:t>
            </a:r>
            <a:r>
              <a:rPr sz="1400" b="1" spc="-10" dirty="0">
                <a:latin typeface="Courier New"/>
                <a:cs typeface="Courier New"/>
              </a:rPr>
              <a:t>(</a:t>
            </a:r>
            <a:r>
              <a:rPr sz="1400" b="1" spc="-10" dirty="0">
                <a:solidFill>
                  <a:srgbClr val="3B822F"/>
                </a:solidFill>
                <a:latin typeface="Courier New"/>
                <a:cs typeface="Courier New"/>
              </a:rPr>
              <a:t>connect</a:t>
            </a:r>
            <a:r>
              <a:rPr sz="1400" b="1" spc="-10" dirty="0">
                <a:latin typeface="Courier New"/>
                <a:cs typeface="Courier New"/>
              </a:rPr>
              <a:t>(</a:t>
            </a:r>
            <a:r>
              <a:rPr sz="1400" b="1" spc="-10" dirty="0">
                <a:solidFill>
                  <a:srgbClr val="CC9A00"/>
                </a:solidFill>
                <a:latin typeface="Courier New"/>
                <a:cs typeface="Courier New"/>
              </a:rPr>
              <a:t>clientSock</a:t>
            </a:r>
            <a:r>
              <a:rPr sz="1400" b="1" spc="-10" dirty="0">
                <a:latin typeface="Courier New"/>
                <a:cs typeface="Courier New"/>
              </a:rPr>
              <a:t>, (struct sockaddr </a:t>
            </a:r>
            <a:r>
              <a:rPr sz="1400" b="1" spc="-5" dirty="0">
                <a:latin typeface="Courier New"/>
                <a:cs typeface="Courier New"/>
              </a:rPr>
              <a:t>*)</a:t>
            </a:r>
            <a:r>
              <a:rPr sz="1400" b="1" spc="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&amp;</a:t>
            </a:r>
            <a:r>
              <a:rPr sz="1400" b="1" spc="-10" dirty="0">
                <a:solidFill>
                  <a:srgbClr val="AFBF39"/>
                </a:solidFill>
                <a:latin typeface="Courier New"/>
                <a:cs typeface="Courier New"/>
              </a:rPr>
              <a:t>echoServAddr</a:t>
            </a:r>
            <a:r>
              <a:rPr sz="1400" b="1" spc="-10" dirty="0">
                <a:latin typeface="Courier New"/>
                <a:cs typeface="Courier New"/>
              </a:rPr>
              <a:t>,</a:t>
            </a:r>
            <a:endParaRPr sz="1400" dirty="0">
              <a:latin typeface="Courier New"/>
              <a:cs typeface="Courier New"/>
            </a:endParaRPr>
          </a:p>
          <a:p>
            <a:pPr marL="553085" marR="3206115" indent="2126615">
              <a:lnSpc>
                <a:spcPts val="1680"/>
              </a:lnSpc>
              <a:spcBef>
                <a:spcPts val="55"/>
              </a:spcBef>
            </a:pPr>
            <a:r>
              <a:rPr sz="1400" b="1" spc="-10" dirty="0">
                <a:latin typeface="Courier New"/>
                <a:cs typeface="Courier New"/>
              </a:rPr>
              <a:t>sizeof(</a:t>
            </a:r>
            <a:r>
              <a:rPr sz="1400" b="1" spc="-10" dirty="0">
                <a:solidFill>
                  <a:srgbClr val="AFBF39"/>
                </a:solidFill>
                <a:latin typeface="Courier New"/>
                <a:cs typeface="Courier New"/>
              </a:rPr>
              <a:t>echoServAddr</a:t>
            </a:r>
            <a:r>
              <a:rPr sz="1400" b="1" spc="-10" dirty="0">
                <a:latin typeface="Courier New"/>
                <a:cs typeface="Courier New"/>
              </a:rPr>
              <a:t>)) </a:t>
            </a:r>
            <a:r>
              <a:rPr sz="1400" b="1" spc="-5" dirty="0">
                <a:latin typeface="Courier New"/>
                <a:cs typeface="Courier New"/>
              </a:rPr>
              <a:t>&lt; </a:t>
            </a:r>
            <a:r>
              <a:rPr sz="1400" b="1" spc="-10" dirty="0">
                <a:latin typeface="Courier New"/>
                <a:cs typeface="Courier New"/>
              </a:rPr>
              <a:t>0)  DieWithError("connect()</a:t>
            </a:r>
            <a:r>
              <a:rPr sz="1400" b="1" spc="-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failed");</a:t>
            </a:r>
            <a:endParaRPr sz="1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4600" spc="-290" dirty="0"/>
              <a:t>Example </a:t>
            </a:r>
            <a:r>
              <a:rPr spc="-250" dirty="0"/>
              <a:t>- </a:t>
            </a:r>
            <a:r>
              <a:rPr spc="-140" dirty="0"/>
              <a:t>Echo </a:t>
            </a:r>
            <a:r>
              <a:rPr spc="-290" dirty="0"/>
              <a:t>using </a:t>
            </a:r>
            <a:r>
              <a:rPr spc="-315" dirty="0"/>
              <a:t>stream</a:t>
            </a:r>
            <a:r>
              <a:rPr spc="-195" dirty="0"/>
              <a:t> </a:t>
            </a:r>
            <a:r>
              <a:rPr spc="-220" dirty="0"/>
              <a:t>socket</a:t>
            </a:r>
            <a:endParaRPr sz="4600"/>
          </a:p>
        </p:txBody>
      </p:sp>
      <p:sp>
        <p:nvSpPr>
          <p:cNvPr id="7" name="object 7"/>
          <p:cNvSpPr txBox="1"/>
          <p:nvPr/>
        </p:nvSpPr>
        <p:spPr>
          <a:xfrm>
            <a:off x="333387" y="1285747"/>
            <a:ext cx="8660130" cy="4850046"/>
          </a:xfrm>
          <a:prstGeom prst="rect">
            <a:avLst/>
          </a:prstGeom>
          <a:ln w="22225">
            <a:solidFill>
              <a:srgbClr val="996600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127635" marR="750570">
              <a:tabLst>
                <a:tab pos="5832475" algn="l"/>
                <a:tab pos="5871210" algn="l"/>
              </a:tabLst>
            </a:pPr>
            <a:r>
              <a:rPr sz="2800" b="1" spc="-10" dirty="0">
                <a:solidFill>
                  <a:srgbClr val="AFBF39"/>
                </a:solidFill>
                <a:latin typeface="Courier New"/>
                <a:cs typeface="Courier New"/>
              </a:rPr>
              <a:t>echoServAddr</a:t>
            </a:r>
            <a:r>
              <a:rPr sz="2800" b="1" spc="-10" dirty="0">
                <a:latin typeface="Courier New"/>
                <a:cs typeface="Courier New"/>
              </a:rPr>
              <a:t>.sin_family</a:t>
            </a:r>
            <a:r>
              <a:rPr sz="2800" b="1" spc="25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=</a:t>
            </a:r>
            <a:r>
              <a:rPr sz="2800" b="1" spc="40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AF_INET</a:t>
            </a:r>
            <a:r>
              <a:rPr sz="2800" b="1" spc="-10" dirty="0" smtClean="0">
                <a:latin typeface="Courier New"/>
                <a:cs typeface="Courier New"/>
              </a:rPr>
              <a:t>;</a:t>
            </a:r>
            <a:endParaRPr lang="en-GB" sz="2800" b="1" spc="-10" dirty="0" smtClean="0">
              <a:latin typeface="Courier New"/>
              <a:cs typeface="Courier New"/>
            </a:endParaRPr>
          </a:p>
          <a:p>
            <a:pPr marL="127635" marR="750570">
              <a:tabLst>
                <a:tab pos="5832475" algn="l"/>
                <a:tab pos="5871210" algn="l"/>
              </a:tabLst>
            </a:pPr>
            <a:r>
              <a:rPr sz="2800" spc="-35" dirty="0" smtClean="0">
                <a:latin typeface="Arial"/>
                <a:cs typeface="Arial"/>
              </a:rPr>
              <a:t>/* </a:t>
            </a:r>
            <a:r>
              <a:rPr sz="2800" dirty="0">
                <a:latin typeface="Arial"/>
                <a:cs typeface="Arial"/>
              </a:rPr>
              <a:t>Internet </a:t>
            </a:r>
            <a:r>
              <a:rPr sz="2800" spc="-105" dirty="0">
                <a:latin typeface="Arial"/>
                <a:cs typeface="Arial"/>
              </a:rPr>
              <a:t>address </a:t>
            </a:r>
            <a:r>
              <a:rPr sz="2800" spc="10" dirty="0">
                <a:latin typeface="Arial"/>
                <a:cs typeface="Arial"/>
              </a:rPr>
              <a:t>family </a:t>
            </a:r>
            <a:r>
              <a:rPr sz="2800" spc="-30" dirty="0">
                <a:latin typeface="Arial"/>
                <a:cs typeface="Arial"/>
              </a:rPr>
              <a:t>*/  </a:t>
            </a:r>
            <a:r>
              <a:rPr sz="2800" b="1" spc="-10" dirty="0">
                <a:solidFill>
                  <a:srgbClr val="AFBF39"/>
                </a:solidFill>
                <a:latin typeface="Courier New"/>
                <a:cs typeface="Courier New"/>
              </a:rPr>
              <a:t>echoServAddr</a:t>
            </a:r>
            <a:r>
              <a:rPr sz="2800" b="1" spc="-10" dirty="0">
                <a:latin typeface="Courier New"/>
                <a:cs typeface="Courier New"/>
              </a:rPr>
              <a:t>.sin_addr.s_addr</a:t>
            </a:r>
            <a:r>
              <a:rPr sz="2800" b="1" spc="60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=</a:t>
            </a:r>
            <a:r>
              <a:rPr sz="2800" b="1" spc="60" dirty="0">
                <a:latin typeface="Courier New"/>
                <a:cs typeface="Courier New"/>
              </a:rPr>
              <a:t> </a:t>
            </a:r>
            <a:r>
              <a:rPr sz="2800" b="1" spc="-15" dirty="0">
                <a:latin typeface="Courier New"/>
                <a:cs typeface="Courier New"/>
              </a:rPr>
              <a:t>inet_addr(echoservIP</a:t>
            </a:r>
            <a:r>
              <a:rPr sz="2800" b="1" spc="-15" dirty="0">
                <a:latin typeface="Arial"/>
                <a:cs typeface="Arial"/>
              </a:rPr>
              <a:t>);	</a:t>
            </a:r>
            <a:endParaRPr lang="en-GB" sz="2800" b="1" spc="-15" dirty="0" smtClean="0">
              <a:latin typeface="Arial"/>
              <a:cs typeface="Arial"/>
            </a:endParaRPr>
          </a:p>
          <a:p>
            <a:pPr marL="127635" marR="750570">
              <a:tabLst>
                <a:tab pos="5832475" algn="l"/>
                <a:tab pos="5871210" algn="l"/>
              </a:tabLst>
            </a:pPr>
            <a:r>
              <a:rPr sz="2800" spc="-35" dirty="0" smtClean="0">
                <a:latin typeface="Arial"/>
                <a:cs typeface="Arial"/>
              </a:rPr>
              <a:t>/* </a:t>
            </a:r>
            <a:r>
              <a:rPr sz="2800" spc="-65" dirty="0">
                <a:latin typeface="Arial"/>
                <a:cs typeface="Arial"/>
              </a:rPr>
              <a:t>Server </a:t>
            </a:r>
            <a:r>
              <a:rPr sz="2800" spc="-5" dirty="0">
                <a:latin typeface="Arial"/>
                <a:cs typeface="Arial"/>
              </a:rPr>
              <a:t>IP </a:t>
            </a:r>
            <a:r>
              <a:rPr sz="2800" spc="-90" dirty="0">
                <a:latin typeface="Arial"/>
                <a:cs typeface="Arial"/>
              </a:rPr>
              <a:t>address*/  </a:t>
            </a:r>
            <a:r>
              <a:rPr sz="2800" b="1" spc="-10" dirty="0">
                <a:solidFill>
                  <a:srgbClr val="AFBF39"/>
                </a:solidFill>
                <a:latin typeface="Courier New"/>
                <a:cs typeface="Courier New"/>
              </a:rPr>
              <a:t>echoServAddr</a:t>
            </a:r>
            <a:r>
              <a:rPr sz="2800" b="1" spc="-10" dirty="0">
                <a:latin typeface="Courier New"/>
                <a:cs typeface="Courier New"/>
              </a:rPr>
              <a:t>.sin_port</a:t>
            </a:r>
            <a:r>
              <a:rPr sz="2800" b="1" spc="55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=</a:t>
            </a:r>
            <a:r>
              <a:rPr sz="2800" b="1" spc="40" dirty="0">
                <a:latin typeface="Courier New"/>
                <a:cs typeface="Courier New"/>
              </a:rPr>
              <a:t> </a:t>
            </a:r>
            <a:r>
              <a:rPr sz="2800" b="1" spc="-10" dirty="0" err="1">
                <a:latin typeface="Courier New"/>
                <a:cs typeface="Courier New"/>
              </a:rPr>
              <a:t>htons</a:t>
            </a:r>
            <a:r>
              <a:rPr sz="2800" b="1" spc="-10" dirty="0">
                <a:latin typeface="Courier New"/>
                <a:cs typeface="Courier New"/>
              </a:rPr>
              <a:t>(</a:t>
            </a:r>
            <a:r>
              <a:rPr sz="2800" b="1" spc="-10" dirty="0" err="1">
                <a:latin typeface="Courier New"/>
                <a:cs typeface="Courier New"/>
              </a:rPr>
              <a:t>echoServPort</a:t>
            </a:r>
            <a:r>
              <a:rPr sz="2800" b="1" spc="-10" dirty="0" smtClean="0">
                <a:latin typeface="Courier New"/>
                <a:cs typeface="Courier New"/>
              </a:rPr>
              <a:t>);</a:t>
            </a:r>
            <a:r>
              <a:rPr sz="2800" spc="-35" dirty="0" smtClean="0">
                <a:latin typeface="Arial"/>
                <a:cs typeface="Arial"/>
              </a:rPr>
              <a:t>/* </a:t>
            </a:r>
            <a:r>
              <a:rPr sz="2800" spc="-70" dirty="0">
                <a:latin typeface="Arial"/>
                <a:cs typeface="Arial"/>
              </a:rPr>
              <a:t>Server </a:t>
            </a:r>
            <a:r>
              <a:rPr sz="2800" dirty="0">
                <a:latin typeface="Arial"/>
                <a:cs typeface="Arial"/>
              </a:rPr>
              <a:t>port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40" dirty="0" smtClean="0">
                <a:latin typeface="Arial"/>
                <a:cs typeface="Arial"/>
              </a:rPr>
              <a:t>*/</a:t>
            </a:r>
            <a:endParaRPr lang="en-GB" sz="2800" spc="-40" dirty="0" smtClean="0">
              <a:latin typeface="Arial"/>
              <a:cs typeface="Arial"/>
            </a:endParaRPr>
          </a:p>
          <a:p>
            <a:pPr marL="127635" marR="750570">
              <a:tabLst>
                <a:tab pos="5832475" algn="l"/>
                <a:tab pos="5871210" algn="l"/>
              </a:tabLst>
            </a:pPr>
            <a:endParaRPr sz="2800" dirty="0">
              <a:latin typeface="Times New Roman"/>
              <a:cs typeface="Times New Roman"/>
            </a:endParaRPr>
          </a:p>
          <a:p>
            <a:pPr marL="127635"/>
            <a:r>
              <a:rPr sz="2800" b="1" spc="-5" dirty="0">
                <a:latin typeface="Courier New"/>
                <a:cs typeface="Courier New"/>
              </a:rPr>
              <a:t>if </a:t>
            </a:r>
            <a:r>
              <a:rPr sz="2800" b="1" spc="-10" dirty="0">
                <a:latin typeface="Courier New"/>
                <a:cs typeface="Courier New"/>
              </a:rPr>
              <a:t>(</a:t>
            </a:r>
            <a:r>
              <a:rPr sz="2800" b="1" spc="-10" dirty="0">
                <a:solidFill>
                  <a:srgbClr val="3B822F"/>
                </a:solidFill>
                <a:latin typeface="Courier New"/>
                <a:cs typeface="Courier New"/>
              </a:rPr>
              <a:t>connect</a:t>
            </a:r>
            <a:r>
              <a:rPr sz="2800" b="1" spc="-10" dirty="0">
                <a:latin typeface="Courier New"/>
                <a:cs typeface="Courier New"/>
              </a:rPr>
              <a:t>(</a:t>
            </a:r>
            <a:r>
              <a:rPr sz="2800" b="1" spc="-10" dirty="0">
                <a:solidFill>
                  <a:srgbClr val="CC9A00"/>
                </a:solidFill>
                <a:latin typeface="Courier New"/>
                <a:cs typeface="Courier New"/>
              </a:rPr>
              <a:t>clientSock</a:t>
            </a:r>
            <a:r>
              <a:rPr sz="2800" b="1" spc="-10" dirty="0">
                <a:latin typeface="Courier New"/>
                <a:cs typeface="Courier New"/>
              </a:rPr>
              <a:t>, (struct sockaddr </a:t>
            </a:r>
            <a:r>
              <a:rPr sz="2800" b="1" spc="-5" dirty="0">
                <a:latin typeface="Courier New"/>
                <a:cs typeface="Courier New"/>
              </a:rPr>
              <a:t>*)</a:t>
            </a:r>
            <a:r>
              <a:rPr sz="2800" b="1" spc="5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&amp;</a:t>
            </a:r>
            <a:r>
              <a:rPr sz="2800" b="1" spc="-10" dirty="0" err="1" smtClean="0">
                <a:solidFill>
                  <a:srgbClr val="AFBF39"/>
                </a:solidFill>
                <a:latin typeface="Courier New"/>
                <a:cs typeface="Courier New"/>
              </a:rPr>
              <a:t>echoServAddr</a:t>
            </a:r>
            <a:r>
              <a:rPr sz="2800" b="1" spc="-10" dirty="0" err="1" smtClean="0">
                <a:latin typeface="Courier New"/>
                <a:cs typeface="Courier New"/>
              </a:rPr>
              <a:t>,sizeof</a:t>
            </a:r>
            <a:r>
              <a:rPr sz="2800" b="1" spc="-10" dirty="0" smtClean="0">
                <a:latin typeface="Courier New"/>
                <a:cs typeface="Courier New"/>
              </a:rPr>
              <a:t>(</a:t>
            </a:r>
            <a:r>
              <a:rPr sz="2800" b="1" spc="-10" dirty="0" err="1" smtClean="0">
                <a:solidFill>
                  <a:srgbClr val="AFBF39"/>
                </a:solidFill>
                <a:latin typeface="Courier New"/>
                <a:cs typeface="Courier New"/>
              </a:rPr>
              <a:t>echoServAddr</a:t>
            </a:r>
            <a:r>
              <a:rPr sz="2800" b="1" spc="-10" dirty="0">
                <a:latin typeface="Courier New"/>
                <a:cs typeface="Courier New"/>
              </a:rPr>
              <a:t>)) </a:t>
            </a:r>
            <a:r>
              <a:rPr sz="2800" b="1" spc="-5" dirty="0">
                <a:latin typeface="Courier New"/>
                <a:cs typeface="Courier New"/>
              </a:rPr>
              <a:t>&lt; </a:t>
            </a:r>
            <a:r>
              <a:rPr sz="2800" b="1" spc="-10" dirty="0">
                <a:latin typeface="Courier New"/>
                <a:cs typeface="Courier New"/>
              </a:rPr>
              <a:t>0)  DieWithError("connect()</a:t>
            </a:r>
            <a:r>
              <a:rPr sz="2800" b="1" spc="-5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failed");</a:t>
            </a:r>
            <a:endParaRPr sz="2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9335" y="3096303"/>
            <a:ext cx="3112135" cy="185038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435735">
              <a:lnSpc>
                <a:spcPct val="100000"/>
              </a:lnSpc>
              <a:spcBef>
                <a:spcPts val="470"/>
              </a:spcBef>
            </a:pPr>
            <a:r>
              <a:rPr sz="2200" b="1" dirty="0">
                <a:solidFill>
                  <a:srgbClr val="006533"/>
                </a:solidFill>
                <a:latin typeface="Arial"/>
                <a:cs typeface="Arial"/>
              </a:rPr>
              <a:t>Client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TCP</a:t>
            </a:r>
            <a:r>
              <a:rPr sz="2000" spc="-10" dirty="0">
                <a:latin typeface="Arial"/>
                <a:cs typeface="Arial"/>
              </a:rPr>
              <a:t> 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b="1" spc="-5" dirty="0">
                <a:solidFill>
                  <a:srgbClr val="CA6800"/>
                </a:solidFill>
                <a:latin typeface="Arial"/>
                <a:cs typeface="Arial"/>
              </a:rPr>
              <a:t>Establish</a:t>
            </a:r>
            <a:r>
              <a:rPr sz="2000" b="1" spc="-25" dirty="0">
                <a:solidFill>
                  <a:srgbClr val="CA6800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CA6800"/>
                </a:solidFill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Close </a:t>
            </a:r>
            <a:r>
              <a:rPr sz="2000" spc="-5" dirty="0">
                <a:latin typeface="Arial"/>
                <a:cs typeface="Arial"/>
              </a:rPr>
              <a:t>the </a:t>
            </a:r>
            <a:r>
              <a:rPr sz="2000" spc="-10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86528" y="3096303"/>
            <a:ext cx="3124200" cy="186943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590675">
              <a:lnSpc>
                <a:spcPct val="100000"/>
              </a:lnSpc>
              <a:spcBef>
                <a:spcPts val="470"/>
              </a:spcBef>
            </a:pPr>
            <a:r>
              <a:rPr sz="2200" b="1" spc="-5" dirty="0">
                <a:solidFill>
                  <a:srgbClr val="006533"/>
                </a:solidFill>
                <a:latin typeface="Arial"/>
                <a:cs typeface="Arial"/>
              </a:rPr>
              <a:t>Server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TCP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Assign </a:t>
            </a:r>
            <a:r>
              <a:rPr sz="2000" spc="-5" dirty="0">
                <a:latin typeface="Arial"/>
                <a:cs typeface="Arial"/>
              </a:rPr>
              <a:t>a port to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Set socket to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listen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62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Repeatedly: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43728" y="4940249"/>
            <a:ext cx="3319145" cy="110172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575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b="1" spc="-5" dirty="0">
                <a:solidFill>
                  <a:srgbClr val="A50021"/>
                </a:solidFill>
                <a:latin typeface="Arial"/>
                <a:cs typeface="Arial"/>
              </a:rPr>
              <a:t>Accept new</a:t>
            </a:r>
            <a:r>
              <a:rPr sz="2000" b="1" spc="-25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A50021"/>
                </a:solidFill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470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spc="-10" dirty="0">
                <a:latin typeface="Arial"/>
                <a:cs typeface="Arial"/>
              </a:rPr>
              <a:t>Close </a:t>
            </a:r>
            <a:r>
              <a:rPr sz="2000" spc="-5" dirty="0">
                <a:latin typeface="Arial"/>
                <a:cs typeface="Arial"/>
              </a:rPr>
              <a:t>the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5663" y="755650"/>
            <a:ext cx="8689975" cy="2428870"/>
          </a:xfrm>
          <a:prstGeom prst="rect">
            <a:avLst/>
          </a:prstGeom>
          <a:ln w="22225">
            <a:solidFill>
              <a:srgbClr val="9966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52069">
              <a:lnSpc>
                <a:spcPts val="1675"/>
              </a:lnSpc>
              <a:spcBef>
                <a:spcPts val="325"/>
              </a:spcBef>
            </a:pPr>
            <a:r>
              <a:rPr sz="2400" b="1" spc="-5" dirty="0">
                <a:latin typeface="Courier New"/>
                <a:cs typeface="Courier New"/>
              </a:rPr>
              <a:t>for </a:t>
            </a:r>
            <a:r>
              <a:rPr sz="2400" b="1" spc="-10" dirty="0">
                <a:latin typeface="Courier New"/>
                <a:cs typeface="Courier New"/>
              </a:rPr>
              <a:t>(;;) </a:t>
            </a:r>
            <a:r>
              <a:rPr sz="2400" b="1" spc="-5" dirty="0">
                <a:latin typeface="Courier New"/>
                <a:cs typeface="Courier New"/>
              </a:rPr>
              <a:t>/* Run </a:t>
            </a:r>
            <a:r>
              <a:rPr sz="2400" b="1" spc="-10" dirty="0">
                <a:latin typeface="Courier New"/>
                <a:cs typeface="Courier New"/>
              </a:rPr>
              <a:t>forever</a:t>
            </a:r>
            <a:r>
              <a:rPr sz="2400" b="1" spc="-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*/</a:t>
            </a:r>
            <a:endParaRPr sz="2400" dirty="0">
              <a:latin typeface="Courier New"/>
              <a:cs typeface="Courier New"/>
            </a:endParaRPr>
          </a:p>
          <a:p>
            <a:pPr marL="52069">
              <a:lnSpc>
                <a:spcPts val="1675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 dirty="0">
              <a:latin typeface="Courier New"/>
              <a:cs typeface="Courier New"/>
            </a:endParaRPr>
          </a:p>
          <a:p>
            <a:pPr marL="265430">
              <a:lnSpc>
                <a:spcPts val="1675"/>
              </a:lnSpc>
            </a:pPr>
            <a:r>
              <a:rPr sz="2400" b="1" spc="-10" dirty="0">
                <a:latin typeface="Courier New"/>
                <a:cs typeface="Courier New"/>
              </a:rPr>
              <a:t>clntLen </a:t>
            </a:r>
            <a:r>
              <a:rPr sz="2400" b="1" spc="-5" dirty="0">
                <a:latin typeface="Courier New"/>
                <a:cs typeface="Courier New"/>
              </a:rPr>
              <a:t>=</a:t>
            </a:r>
            <a:r>
              <a:rPr sz="2400" b="1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sizeof(echoClntAddr);</a:t>
            </a:r>
            <a:endParaRPr sz="2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400" dirty="0">
              <a:latin typeface="Times New Roman"/>
              <a:cs typeface="Times New Roman"/>
            </a:endParaRPr>
          </a:p>
          <a:p>
            <a:pPr marL="584835" marR="120014" indent="-319405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if </a:t>
            </a:r>
            <a:r>
              <a:rPr sz="2400" b="1" spc="-10" dirty="0">
                <a:latin typeface="Courier New"/>
                <a:cs typeface="Courier New"/>
              </a:rPr>
              <a:t>((</a:t>
            </a:r>
            <a:r>
              <a:rPr sz="2400" b="1" spc="-10" dirty="0">
                <a:solidFill>
                  <a:srgbClr val="CC9A00"/>
                </a:solidFill>
                <a:latin typeface="Courier New"/>
                <a:cs typeface="Courier New"/>
              </a:rPr>
              <a:t>clientSock</a:t>
            </a:r>
            <a:r>
              <a:rPr sz="2400" b="1" spc="-10" dirty="0">
                <a:latin typeface="Courier New"/>
                <a:cs typeface="Courier New"/>
              </a:rPr>
              <a:t>=</a:t>
            </a:r>
            <a:r>
              <a:rPr sz="2400" b="1" spc="-10" dirty="0">
                <a:solidFill>
                  <a:srgbClr val="006533"/>
                </a:solidFill>
                <a:latin typeface="Courier New"/>
                <a:cs typeface="Courier New"/>
              </a:rPr>
              <a:t>accept</a:t>
            </a:r>
            <a:r>
              <a:rPr sz="2400" b="1" spc="-10" dirty="0">
                <a:latin typeface="Courier New"/>
                <a:cs typeface="Courier New"/>
              </a:rPr>
              <a:t>(</a:t>
            </a:r>
            <a:r>
              <a:rPr sz="2400" b="1" spc="-10" dirty="0">
                <a:solidFill>
                  <a:srgbClr val="9A6500"/>
                </a:solidFill>
                <a:latin typeface="Courier New"/>
                <a:cs typeface="Courier New"/>
              </a:rPr>
              <a:t>servSock</a:t>
            </a:r>
            <a:r>
              <a:rPr sz="2400" b="1" spc="-10" dirty="0">
                <a:latin typeface="Courier New"/>
                <a:cs typeface="Courier New"/>
              </a:rPr>
              <a:t>,(struct sockaddr *)&amp;echoClntAddr,&amp;clntLen))&lt;0)  DieWithError("accept() failed");</a:t>
            </a:r>
            <a:endParaRPr sz="2400" dirty="0">
              <a:latin typeface="Courier New"/>
              <a:cs typeface="Courier New"/>
            </a:endParaRPr>
          </a:p>
          <a:p>
            <a:pPr marL="265430">
              <a:lnSpc>
                <a:spcPts val="1675"/>
              </a:lnSpc>
            </a:pPr>
            <a:r>
              <a:rPr sz="2400" b="1" spc="-10" dirty="0">
                <a:latin typeface="Courier New"/>
                <a:cs typeface="Courier New"/>
              </a:rPr>
              <a:t>...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0700" y="298450"/>
            <a:ext cx="79749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Server’s accept procedure in now unblocked and returns client’s</a:t>
            </a:r>
            <a:r>
              <a:rPr sz="2000" spc="175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A50021"/>
                </a:solidFill>
                <a:latin typeface="Tahoma"/>
                <a:cs typeface="Tahoma"/>
              </a:rPr>
              <a:t>socket</a:t>
            </a:r>
            <a:endParaRPr sz="20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4600" spc="-290" dirty="0"/>
              <a:t>Example </a:t>
            </a:r>
            <a:r>
              <a:rPr spc="-250" dirty="0"/>
              <a:t>- </a:t>
            </a:r>
            <a:r>
              <a:rPr spc="-140" dirty="0"/>
              <a:t>Echo </a:t>
            </a:r>
            <a:r>
              <a:rPr spc="-290" dirty="0"/>
              <a:t>using </a:t>
            </a:r>
            <a:r>
              <a:rPr spc="-315" dirty="0"/>
              <a:t>stream</a:t>
            </a:r>
            <a:r>
              <a:rPr spc="-195" dirty="0"/>
              <a:t> </a:t>
            </a:r>
            <a:r>
              <a:rPr spc="-220" dirty="0"/>
              <a:t>socket</a:t>
            </a:r>
            <a:endParaRPr sz="4600"/>
          </a:p>
        </p:txBody>
      </p:sp>
      <p:sp>
        <p:nvSpPr>
          <p:cNvPr id="4" name="object 4"/>
          <p:cNvSpPr txBox="1"/>
          <p:nvPr/>
        </p:nvSpPr>
        <p:spPr>
          <a:xfrm>
            <a:off x="219335" y="3096303"/>
            <a:ext cx="2928620" cy="185038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435735">
              <a:lnSpc>
                <a:spcPct val="100000"/>
              </a:lnSpc>
              <a:spcBef>
                <a:spcPts val="470"/>
              </a:spcBef>
            </a:pPr>
            <a:r>
              <a:rPr sz="2200" b="1" dirty="0">
                <a:solidFill>
                  <a:srgbClr val="006533"/>
                </a:solidFill>
                <a:latin typeface="Arial"/>
                <a:cs typeface="Arial"/>
              </a:rPr>
              <a:t>Client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TCP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Establish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b="1" spc="-5" dirty="0">
                <a:solidFill>
                  <a:srgbClr val="CA6800"/>
                </a:solidFill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Close </a:t>
            </a:r>
            <a:r>
              <a:rPr sz="2000" spc="-5" dirty="0">
                <a:latin typeface="Arial"/>
                <a:cs typeface="Arial"/>
              </a:rPr>
              <a:t>the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86528" y="3096303"/>
            <a:ext cx="3124200" cy="186943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590675">
              <a:lnSpc>
                <a:spcPct val="100000"/>
              </a:lnSpc>
              <a:spcBef>
                <a:spcPts val="470"/>
              </a:spcBef>
            </a:pPr>
            <a:r>
              <a:rPr sz="2200" b="1" spc="-5" dirty="0">
                <a:solidFill>
                  <a:srgbClr val="006533"/>
                </a:solidFill>
                <a:latin typeface="Arial"/>
                <a:cs typeface="Arial"/>
              </a:rPr>
              <a:t>Server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TCP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Assign </a:t>
            </a:r>
            <a:r>
              <a:rPr sz="2000" spc="-5" dirty="0">
                <a:latin typeface="Arial"/>
                <a:cs typeface="Arial"/>
              </a:rPr>
              <a:t>a port to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Set socket to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listen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62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Repeatedly: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43728" y="4940249"/>
            <a:ext cx="3319145" cy="110172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575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b="1" spc="-5" dirty="0">
                <a:solidFill>
                  <a:srgbClr val="A50021"/>
                </a:solidFill>
                <a:latin typeface="Arial"/>
                <a:cs typeface="Arial"/>
              </a:rPr>
              <a:t>Accept new</a:t>
            </a:r>
            <a:r>
              <a:rPr sz="2000" b="1" spc="-25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A50021"/>
                </a:solidFill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470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spc="-10" dirty="0">
                <a:latin typeface="Arial"/>
                <a:cs typeface="Arial"/>
              </a:rPr>
              <a:t>Close </a:t>
            </a:r>
            <a:r>
              <a:rPr sz="2000" spc="-5" dirty="0">
                <a:latin typeface="Arial"/>
                <a:cs typeface="Arial"/>
              </a:rPr>
              <a:t>the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3508" y="1441450"/>
            <a:ext cx="7990840" cy="1085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4041140" algn="l"/>
              </a:tabLst>
            </a:pPr>
            <a:r>
              <a:rPr sz="1400" b="1" spc="-10" dirty="0">
                <a:latin typeface="Courier New"/>
                <a:cs typeface="Courier New"/>
              </a:rPr>
              <a:t>echoStringLen</a:t>
            </a:r>
            <a:r>
              <a:rPr sz="1400" b="1" spc="30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=</a:t>
            </a:r>
            <a:r>
              <a:rPr sz="1400" b="1" spc="3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strlen(echoString);	</a:t>
            </a:r>
            <a:r>
              <a:rPr sz="1400" spc="-35" dirty="0">
                <a:latin typeface="Arial"/>
                <a:cs typeface="Arial"/>
              </a:rPr>
              <a:t>/* </a:t>
            </a:r>
            <a:r>
              <a:rPr sz="1400" spc="-30" dirty="0">
                <a:latin typeface="Arial"/>
                <a:cs typeface="Arial"/>
              </a:rPr>
              <a:t>Determine </a:t>
            </a:r>
            <a:r>
              <a:rPr sz="1400" spc="15" dirty="0">
                <a:latin typeface="Arial"/>
                <a:cs typeface="Arial"/>
              </a:rPr>
              <a:t>input </a:t>
            </a:r>
            <a:r>
              <a:rPr sz="1400" spc="-15" dirty="0">
                <a:latin typeface="Arial"/>
                <a:cs typeface="Arial"/>
              </a:rPr>
              <a:t>length</a:t>
            </a:r>
            <a:r>
              <a:rPr sz="1400" spc="-135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*/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50" dirty="0">
              <a:latin typeface="Times New Roman"/>
              <a:cs typeface="Times New Roman"/>
            </a:endParaRPr>
          </a:p>
          <a:p>
            <a:pPr>
              <a:lnSpc>
                <a:spcPts val="1664"/>
              </a:lnSpc>
            </a:pPr>
            <a:r>
              <a:rPr sz="1400" spc="-35" dirty="0">
                <a:latin typeface="Arial"/>
                <a:cs typeface="Arial"/>
              </a:rPr>
              <a:t>/* </a:t>
            </a:r>
            <a:r>
              <a:rPr sz="1400" spc="-110" dirty="0">
                <a:latin typeface="Arial"/>
                <a:cs typeface="Arial"/>
              </a:rPr>
              <a:t>Send </a:t>
            </a:r>
            <a:r>
              <a:rPr sz="1400" spc="-20" dirty="0">
                <a:latin typeface="Arial"/>
                <a:cs typeface="Arial"/>
              </a:rPr>
              <a:t>the </a:t>
            </a:r>
            <a:r>
              <a:rPr sz="1400" spc="-15" dirty="0">
                <a:latin typeface="Arial"/>
                <a:cs typeface="Arial"/>
              </a:rPr>
              <a:t>string </a:t>
            </a:r>
            <a:r>
              <a:rPr sz="1400" spc="-5" dirty="0">
                <a:latin typeface="Arial"/>
                <a:cs typeface="Arial"/>
              </a:rPr>
              <a:t>to </a:t>
            </a:r>
            <a:r>
              <a:rPr sz="1400" spc="-20" dirty="0">
                <a:latin typeface="Arial"/>
                <a:cs typeface="Arial"/>
              </a:rPr>
              <a:t>the </a:t>
            </a:r>
            <a:r>
              <a:rPr sz="1400" spc="-55" dirty="0">
                <a:latin typeface="Arial"/>
                <a:cs typeface="Arial"/>
              </a:rPr>
              <a:t>server</a:t>
            </a:r>
            <a:r>
              <a:rPr sz="1400" spc="-114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*/</a:t>
            </a:r>
            <a:endParaRPr sz="1400" dirty="0">
              <a:latin typeface="Arial"/>
              <a:cs typeface="Arial"/>
            </a:endParaRPr>
          </a:p>
          <a:p>
            <a:pPr marL="531495" marR="5080" indent="-532130">
              <a:lnSpc>
                <a:spcPts val="1670"/>
              </a:lnSpc>
              <a:spcBef>
                <a:spcPts val="50"/>
              </a:spcBef>
            </a:pPr>
            <a:r>
              <a:rPr sz="1400" b="1" spc="-5" dirty="0">
                <a:latin typeface="Courier New"/>
                <a:cs typeface="Courier New"/>
              </a:rPr>
              <a:t>if </a:t>
            </a:r>
            <a:r>
              <a:rPr sz="1400" b="1" spc="-10" dirty="0">
                <a:latin typeface="Courier New"/>
                <a:cs typeface="Courier New"/>
              </a:rPr>
              <a:t>(</a:t>
            </a:r>
            <a:r>
              <a:rPr sz="1400" b="1" spc="-10" dirty="0">
                <a:solidFill>
                  <a:srgbClr val="006533"/>
                </a:solidFill>
                <a:latin typeface="Courier New"/>
                <a:cs typeface="Courier New"/>
              </a:rPr>
              <a:t>send</a:t>
            </a:r>
            <a:r>
              <a:rPr sz="1400" b="1" spc="-10" dirty="0">
                <a:latin typeface="Courier New"/>
                <a:cs typeface="Courier New"/>
              </a:rPr>
              <a:t>(</a:t>
            </a:r>
            <a:r>
              <a:rPr sz="1400" b="1" spc="-10" dirty="0">
                <a:solidFill>
                  <a:srgbClr val="CC9A00"/>
                </a:solidFill>
                <a:latin typeface="Courier New"/>
                <a:cs typeface="Courier New"/>
              </a:rPr>
              <a:t>clientSock</a:t>
            </a:r>
            <a:r>
              <a:rPr sz="1400" b="1" spc="-10" dirty="0">
                <a:latin typeface="Courier New"/>
                <a:cs typeface="Courier New"/>
              </a:rPr>
              <a:t>, echoString, echoStringLen, </a:t>
            </a:r>
            <a:r>
              <a:rPr sz="1400" b="1" spc="-5" dirty="0">
                <a:latin typeface="Courier New"/>
                <a:cs typeface="Courier New"/>
              </a:rPr>
              <a:t>0) != </a:t>
            </a:r>
            <a:r>
              <a:rPr sz="1400" b="1" spc="-10" dirty="0">
                <a:latin typeface="Courier New"/>
                <a:cs typeface="Courier New"/>
              </a:rPr>
              <a:t>echoStringLen)  DieWithError("send() sent </a:t>
            </a:r>
            <a:r>
              <a:rPr sz="1400" b="1" spc="-5" dirty="0">
                <a:latin typeface="Courier New"/>
                <a:cs typeface="Courier New"/>
              </a:rPr>
              <a:t>a </a:t>
            </a:r>
            <a:r>
              <a:rPr sz="1400" b="1" spc="-10" dirty="0">
                <a:latin typeface="Courier New"/>
                <a:cs typeface="Courier New"/>
              </a:rPr>
              <a:t>different number </a:t>
            </a:r>
            <a:r>
              <a:rPr sz="1400" b="1" spc="-5" dirty="0">
                <a:latin typeface="Courier New"/>
                <a:cs typeface="Courier New"/>
              </a:rPr>
              <a:t>of </a:t>
            </a:r>
            <a:r>
              <a:rPr sz="1400" b="1" spc="-10" dirty="0">
                <a:latin typeface="Courier New"/>
                <a:cs typeface="Courier New"/>
              </a:rPr>
              <a:t>bytes than</a:t>
            </a:r>
            <a:r>
              <a:rPr sz="1400" b="1" spc="15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expected");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98741" y="1429766"/>
            <a:ext cx="8258175" cy="1188085"/>
          </a:xfrm>
          <a:custGeom>
            <a:avLst/>
            <a:gdLst/>
            <a:ahLst/>
            <a:cxnLst/>
            <a:rect l="l" t="t" r="r" b="b"/>
            <a:pathLst>
              <a:path w="8258175" h="1188085">
                <a:moveTo>
                  <a:pt x="0" y="0"/>
                </a:moveTo>
                <a:lnTo>
                  <a:pt x="0" y="1187958"/>
                </a:lnTo>
                <a:lnTo>
                  <a:pt x="8257794" y="1187958"/>
                </a:lnTo>
                <a:lnTo>
                  <a:pt x="8257794" y="0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4600" spc="-290" dirty="0"/>
              <a:t>Example </a:t>
            </a:r>
            <a:r>
              <a:rPr spc="-250" dirty="0"/>
              <a:t>- </a:t>
            </a:r>
            <a:r>
              <a:rPr spc="-140" dirty="0"/>
              <a:t>Echo </a:t>
            </a:r>
            <a:r>
              <a:rPr spc="-290" dirty="0"/>
              <a:t>using </a:t>
            </a:r>
            <a:r>
              <a:rPr spc="-315" dirty="0"/>
              <a:t>stream</a:t>
            </a:r>
            <a:r>
              <a:rPr spc="-195" dirty="0"/>
              <a:t> </a:t>
            </a:r>
            <a:r>
              <a:rPr spc="-220" dirty="0"/>
              <a:t>socket</a:t>
            </a:r>
            <a:endParaRPr sz="4600"/>
          </a:p>
        </p:txBody>
      </p:sp>
      <p:sp>
        <p:nvSpPr>
          <p:cNvPr id="7" name="object 7"/>
          <p:cNvSpPr txBox="1"/>
          <p:nvPr/>
        </p:nvSpPr>
        <p:spPr>
          <a:xfrm>
            <a:off x="643508" y="1441450"/>
            <a:ext cx="7990840" cy="51828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50000"/>
              </a:lnSpc>
              <a:tabLst>
                <a:tab pos="4041140" algn="l"/>
              </a:tabLst>
            </a:pPr>
            <a:r>
              <a:rPr sz="2800" b="1" spc="-10" dirty="0">
                <a:latin typeface="Courier New"/>
                <a:cs typeface="Courier New"/>
              </a:rPr>
              <a:t>echoStringLen</a:t>
            </a:r>
            <a:r>
              <a:rPr sz="2800" b="1" spc="30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=</a:t>
            </a:r>
            <a:r>
              <a:rPr sz="2800" b="1" spc="35" dirty="0">
                <a:latin typeface="Courier New"/>
                <a:cs typeface="Courier New"/>
              </a:rPr>
              <a:t> </a:t>
            </a:r>
            <a:r>
              <a:rPr sz="2800" b="1" spc="-10" dirty="0" err="1">
                <a:latin typeface="Courier New"/>
                <a:cs typeface="Courier New"/>
              </a:rPr>
              <a:t>strlen</a:t>
            </a:r>
            <a:r>
              <a:rPr sz="2800" b="1" spc="-10" dirty="0">
                <a:latin typeface="Courier New"/>
                <a:cs typeface="Courier New"/>
              </a:rPr>
              <a:t>(</a:t>
            </a:r>
            <a:r>
              <a:rPr sz="2800" b="1" spc="-10" dirty="0" err="1">
                <a:latin typeface="Courier New"/>
                <a:cs typeface="Courier New"/>
              </a:rPr>
              <a:t>echoString</a:t>
            </a:r>
            <a:r>
              <a:rPr sz="2800" b="1" spc="-10" dirty="0" smtClean="0">
                <a:latin typeface="Courier New"/>
                <a:cs typeface="Courier New"/>
              </a:rPr>
              <a:t>);</a:t>
            </a:r>
            <a:endParaRPr lang="en-GB" sz="2800" b="1" spc="-10" dirty="0" smtClean="0">
              <a:latin typeface="Courier New"/>
              <a:cs typeface="Courier New"/>
            </a:endParaRPr>
          </a:p>
          <a:p>
            <a:pPr>
              <a:lnSpc>
                <a:spcPct val="150000"/>
              </a:lnSpc>
              <a:tabLst>
                <a:tab pos="4041140" algn="l"/>
              </a:tabLst>
            </a:pPr>
            <a:r>
              <a:rPr sz="2800" spc="-35" dirty="0" smtClean="0">
                <a:latin typeface="Arial"/>
                <a:cs typeface="Arial"/>
              </a:rPr>
              <a:t>/* </a:t>
            </a:r>
            <a:r>
              <a:rPr sz="2800" spc="-30" dirty="0">
                <a:latin typeface="Arial"/>
                <a:cs typeface="Arial"/>
              </a:rPr>
              <a:t>Determine </a:t>
            </a:r>
            <a:r>
              <a:rPr sz="2800" spc="15" dirty="0">
                <a:latin typeface="Arial"/>
                <a:cs typeface="Arial"/>
              </a:rPr>
              <a:t>input </a:t>
            </a:r>
            <a:r>
              <a:rPr sz="2800" spc="-15" dirty="0">
                <a:latin typeface="Arial"/>
                <a:cs typeface="Arial"/>
              </a:rPr>
              <a:t>length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30" dirty="0">
                <a:latin typeface="Arial"/>
                <a:cs typeface="Arial"/>
              </a:rPr>
              <a:t>*/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sz="2800" spc="-35" dirty="0" smtClean="0">
                <a:latin typeface="Arial"/>
                <a:cs typeface="Arial"/>
              </a:rPr>
              <a:t>/* </a:t>
            </a:r>
            <a:r>
              <a:rPr sz="2800" spc="-110" dirty="0">
                <a:latin typeface="Arial"/>
                <a:cs typeface="Arial"/>
              </a:rPr>
              <a:t>Send </a:t>
            </a:r>
            <a:r>
              <a:rPr sz="2800" spc="-20" dirty="0">
                <a:latin typeface="Arial"/>
                <a:cs typeface="Arial"/>
              </a:rPr>
              <a:t>the </a:t>
            </a:r>
            <a:r>
              <a:rPr sz="2800" spc="-15" dirty="0">
                <a:latin typeface="Arial"/>
                <a:cs typeface="Arial"/>
              </a:rPr>
              <a:t>string </a:t>
            </a:r>
            <a:r>
              <a:rPr sz="2800" spc="-5" dirty="0">
                <a:latin typeface="Arial"/>
                <a:cs typeface="Arial"/>
              </a:rPr>
              <a:t>to </a:t>
            </a:r>
            <a:r>
              <a:rPr sz="2800" spc="-20" dirty="0">
                <a:latin typeface="Arial"/>
                <a:cs typeface="Arial"/>
              </a:rPr>
              <a:t>the </a:t>
            </a:r>
            <a:r>
              <a:rPr sz="2800" spc="-55" dirty="0">
                <a:latin typeface="Arial"/>
                <a:cs typeface="Arial"/>
              </a:rPr>
              <a:t>server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*/</a:t>
            </a:r>
            <a:endParaRPr sz="2800" dirty="0">
              <a:latin typeface="Arial"/>
              <a:cs typeface="Arial"/>
            </a:endParaRPr>
          </a:p>
          <a:p>
            <a:pPr marL="531495" marR="5080" indent="-532130">
              <a:lnSpc>
                <a:spcPct val="150000"/>
              </a:lnSpc>
            </a:pPr>
            <a:r>
              <a:rPr sz="2800" b="1" spc="-5" dirty="0">
                <a:latin typeface="Courier New"/>
                <a:cs typeface="Courier New"/>
              </a:rPr>
              <a:t>if </a:t>
            </a:r>
            <a:r>
              <a:rPr sz="2800" b="1" spc="-10" dirty="0">
                <a:latin typeface="Courier New"/>
                <a:cs typeface="Courier New"/>
              </a:rPr>
              <a:t>(</a:t>
            </a:r>
            <a:r>
              <a:rPr sz="2800" b="1" spc="-10" dirty="0">
                <a:solidFill>
                  <a:srgbClr val="006533"/>
                </a:solidFill>
                <a:latin typeface="Courier New"/>
                <a:cs typeface="Courier New"/>
              </a:rPr>
              <a:t>send</a:t>
            </a:r>
            <a:r>
              <a:rPr sz="2800" b="1" spc="-10" dirty="0">
                <a:latin typeface="Courier New"/>
                <a:cs typeface="Courier New"/>
              </a:rPr>
              <a:t>(</a:t>
            </a:r>
            <a:r>
              <a:rPr sz="2800" b="1" spc="-10" dirty="0">
                <a:solidFill>
                  <a:srgbClr val="CC9A00"/>
                </a:solidFill>
                <a:latin typeface="Courier New"/>
                <a:cs typeface="Courier New"/>
              </a:rPr>
              <a:t>clientSock</a:t>
            </a:r>
            <a:r>
              <a:rPr sz="2800" b="1" spc="-10" dirty="0">
                <a:latin typeface="Courier New"/>
                <a:cs typeface="Courier New"/>
              </a:rPr>
              <a:t>, echoString, echoStringLen, </a:t>
            </a:r>
            <a:r>
              <a:rPr sz="2800" b="1" spc="-5" dirty="0">
                <a:latin typeface="Courier New"/>
                <a:cs typeface="Courier New"/>
              </a:rPr>
              <a:t>0) != </a:t>
            </a:r>
            <a:r>
              <a:rPr sz="2800" b="1" spc="-10" dirty="0">
                <a:latin typeface="Courier New"/>
                <a:cs typeface="Courier New"/>
              </a:rPr>
              <a:t>echoStringLen)  DieWithError("send() sent </a:t>
            </a:r>
            <a:r>
              <a:rPr sz="2800" b="1" spc="-5" dirty="0">
                <a:latin typeface="Courier New"/>
                <a:cs typeface="Courier New"/>
              </a:rPr>
              <a:t>a </a:t>
            </a:r>
            <a:r>
              <a:rPr sz="2800" b="1" spc="-10" dirty="0">
                <a:latin typeface="Courier New"/>
                <a:cs typeface="Courier New"/>
              </a:rPr>
              <a:t>different number </a:t>
            </a:r>
            <a:r>
              <a:rPr sz="2800" b="1" spc="-5" dirty="0">
                <a:latin typeface="Courier New"/>
                <a:cs typeface="Courier New"/>
              </a:rPr>
              <a:t>of </a:t>
            </a:r>
            <a:r>
              <a:rPr sz="2800" b="1" spc="-10" dirty="0">
                <a:latin typeface="Courier New"/>
                <a:cs typeface="Courier New"/>
              </a:rPr>
              <a:t>bytes than</a:t>
            </a:r>
            <a:r>
              <a:rPr sz="2800" b="1" spc="155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expected");</a:t>
            </a:r>
            <a:endParaRPr sz="28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98741" y="1429766"/>
            <a:ext cx="8258175" cy="3897884"/>
          </a:xfrm>
          <a:custGeom>
            <a:avLst/>
            <a:gdLst/>
            <a:ahLst/>
            <a:cxnLst/>
            <a:rect l="l" t="t" r="r" b="b"/>
            <a:pathLst>
              <a:path w="8258175" h="1188085">
                <a:moveTo>
                  <a:pt x="0" y="0"/>
                </a:moveTo>
                <a:lnTo>
                  <a:pt x="0" y="1187958"/>
                </a:lnTo>
                <a:lnTo>
                  <a:pt x="8257794" y="1187958"/>
                </a:lnTo>
                <a:lnTo>
                  <a:pt x="8257794" y="0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9335" y="3196124"/>
            <a:ext cx="2928620" cy="185038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435735">
              <a:lnSpc>
                <a:spcPct val="100000"/>
              </a:lnSpc>
              <a:spcBef>
                <a:spcPts val="470"/>
              </a:spcBef>
            </a:pPr>
            <a:r>
              <a:rPr sz="2200" b="1" dirty="0">
                <a:solidFill>
                  <a:srgbClr val="006533"/>
                </a:solidFill>
                <a:latin typeface="Arial"/>
                <a:cs typeface="Arial"/>
              </a:rPr>
              <a:t>Client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TCP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Establish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b="1" spc="-5" dirty="0">
                <a:solidFill>
                  <a:srgbClr val="CA6800"/>
                </a:solidFill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Close </a:t>
            </a:r>
            <a:r>
              <a:rPr sz="2000" spc="-5" dirty="0">
                <a:latin typeface="Arial"/>
                <a:cs typeface="Arial"/>
              </a:rPr>
              <a:t>the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86528" y="3196124"/>
            <a:ext cx="3124200" cy="186943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590675">
              <a:lnSpc>
                <a:spcPct val="100000"/>
              </a:lnSpc>
              <a:spcBef>
                <a:spcPts val="470"/>
              </a:spcBef>
            </a:pPr>
            <a:r>
              <a:rPr sz="2200" b="1" spc="-5" dirty="0">
                <a:solidFill>
                  <a:srgbClr val="006533"/>
                </a:solidFill>
                <a:latin typeface="Arial"/>
                <a:cs typeface="Arial"/>
              </a:rPr>
              <a:t>Server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TCP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Assign </a:t>
            </a:r>
            <a:r>
              <a:rPr sz="2000" spc="-5" dirty="0">
                <a:latin typeface="Arial"/>
                <a:cs typeface="Arial"/>
              </a:rPr>
              <a:t>a port to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Set socket to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listen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62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Repeatedly: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43728" y="5040071"/>
            <a:ext cx="3094990" cy="110172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575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Arial"/>
                <a:cs typeface="Arial"/>
              </a:rPr>
              <a:t>Accept new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470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b="1" spc="-5" dirty="0">
                <a:solidFill>
                  <a:srgbClr val="A50021"/>
                </a:solidFill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spc="-10" dirty="0">
                <a:latin typeface="Arial"/>
                <a:cs typeface="Arial"/>
              </a:rPr>
              <a:t>Close </a:t>
            </a:r>
            <a:r>
              <a:rPr sz="2000" spc="-5" dirty="0">
                <a:latin typeface="Arial"/>
                <a:cs typeface="Arial"/>
              </a:rPr>
              <a:t>the </a:t>
            </a:r>
            <a:r>
              <a:rPr sz="2000" spc="-10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1227" y="374650"/>
            <a:ext cx="7896225" cy="30771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ts val="1675"/>
              </a:lnSpc>
              <a:spcBef>
                <a:spcPts val="95"/>
              </a:spcBef>
            </a:pPr>
            <a:r>
              <a:rPr sz="2000" spc="-35" dirty="0">
                <a:latin typeface="Arial"/>
                <a:cs typeface="Arial"/>
              </a:rPr>
              <a:t>/* </a:t>
            </a:r>
            <a:r>
              <a:rPr sz="2000" spc="-70" dirty="0">
                <a:latin typeface="Arial"/>
                <a:cs typeface="Arial"/>
              </a:rPr>
              <a:t>Receive </a:t>
            </a:r>
            <a:r>
              <a:rPr sz="2000" spc="-140" dirty="0">
                <a:latin typeface="Arial"/>
                <a:cs typeface="Arial"/>
              </a:rPr>
              <a:t>message </a:t>
            </a:r>
            <a:r>
              <a:rPr sz="2000" spc="5" dirty="0">
                <a:latin typeface="Arial"/>
                <a:cs typeface="Arial"/>
              </a:rPr>
              <a:t>from client</a:t>
            </a:r>
            <a:r>
              <a:rPr sz="2000" spc="-229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*/</a:t>
            </a:r>
            <a:endParaRPr sz="2000" dirty="0">
              <a:latin typeface="Arial"/>
              <a:cs typeface="Arial"/>
            </a:endParaRPr>
          </a:p>
          <a:p>
            <a:pPr marL="437515" marR="643890" indent="-425450">
              <a:lnSpc>
                <a:spcPts val="1670"/>
              </a:lnSpc>
              <a:spcBef>
                <a:spcPts val="60"/>
              </a:spcBef>
            </a:pPr>
            <a:r>
              <a:rPr sz="2000" b="1" spc="-5" dirty="0">
                <a:latin typeface="Courier New"/>
                <a:cs typeface="Courier New"/>
              </a:rPr>
              <a:t>if </a:t>
            </a:r>
            <a:r>
              <a:rPr sz="2000" b="1" spc="-10" dirty="0">
                <a:latin typeface="Courier New"/>
                <a:cs typeface="Courier New"/>
              </a:rPr>
              <a:t>((recvMsgSize </a:t>
            </a:r>
            <a:r>
              <a:rPr sz="2000" b="1" spc="-5" dirty="0">
                <a:latin typeface="Courier New"/>
                <a:cs typeface="Courier New"/>
              </a:rPr>
              <a:t>= </a:t>
            </a:r>
            <a:r>
              <a:rPr sz="2000" b="1" spc="-10" dirty="0">
                <a:solidFill>
                  <a:srgbClr val="006533"/>
                </a:solidFill>
                <a:latin typeface="Courier New"/>
                <a:cs typeface="Courier New"/>
              </a:rPr>
              <a:t>recv</a:t>
            </a:r>
            <a:r>
              <a:rPr sz="2000" b="1" spc="-10" dirty="0">
                <a:latin typeface="Courier New"/>
                <a:cs typeface="Courier New"/>
              </a:rPr>
              <a:t>(clntSocket, echoBuffer, RCVBUFSIZE, </a:t>
            </a:r>
            <a:r>
              <a:rPr sz="2000" b="1" spc="-5" dirty="0">
                <a:latin typeface="Courier New"/>
                <a:cs typeface="Courier New"/>
              </a:rPr>
              <a:t>0)) &lt; </a:t>
            </a:r>
            <a:r>
              <a:rPr sz="2000" b="1" spc="-10" dirty="0">
                <a:latin typeface="Courier New"/>
                <a:cs typeface="Courier New"/>
              </a:rPr>
              <a:t>0)  DieWithError("recv() failed");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ts val="1645"/>
              </a:lnSpc>
            </a:pPr>
            <a:r>
              <a:rPr sz="2000" spc="-35" dirty="0">
                <a:latin typeface="Arial"/>
                <a:cs typeface="Arial"/>
              </a:rPr>
              <a:t>/* </a:t>
            </a:r>
            <a:r>
              <a:rPr sz="2000" spc="-114" dirty="0">
                <a:latin typeface="Arial"/>
                <a:cs typeface="Arial"/>
              </a:rPr>
              <a:t>Send </a:t>
            </a:r>
            <a:r>
              <a:rPr sz="2000" spc="-50" dirty="0">
                <a:latin typeface="Arial"/>
                <a:cs typeface="Arial"/>
              </a:rPr>
              <a:t>received </a:t>
            </a:r>
            <a:r>
              <a:rPr sz="2000" spc="-15" dirty="0">
                <a:latin typeface="Arial"/>
                <a:cs typeface="Arial"/>
              </a:rPr>
              <a:t>string </a:t>
            </a:r>
            <a:r>
              <a:rPr sz="2000" spc="-65" dirty="0">
                <a:latin typeface="Arial"/>
                <a:cs typeface="Arial"/>
              </a:rPr>
              <a:t>and </a:t>
            </a:r>
            <a:r>
              <a:rPr sz="2000" spc="-50" dirty="0">
                <a:latin typeface="Arial"/>
                <a:cs typeface="Arial"/>
              </a:rPr>
              <a:t>receive </a:t>
            </a:r>
            <a:r>
              <a:rPr sz="2000" spc="-70" dirty="0">
                <a:latin typeface="Arial"/>
                <a:cs typeface="Arial"/>
              </a:rPr>
              <a:t>again </a:t>
            </a:r>
            <a:r>
              <a:rPr sz="2000" spc="45" dirty="0">
                <a:latin typeface="Arial"/>
                <a:cs typeface="Arial"/>
              </a:rPr>
              <a:t>until </a:t>
            </a:r>
            <a:r>
              <a:rPr sz="2000" spc="-55" dirty="0">
                <a:latin typeface="Arial"/>
                <a:cs typeface="Arial"/>
              </a:rPr>
              <a:t>end </a:t>
            </a:r>
            <a:r>
              <a:rPr sz="2000" spc="-10" dirty="0">
                <a:latin typeface="Arial"/>
                <a:cs typeface="Arial"/>
              </a:rPr>
              <a:t>of </a:t>
            </a:r>
            <a:r>
              <a:rPr sz="2000" spc="-45" dirty="0">
                <a:latin typeface="Arial"/>
                <a:cs typeface="Arial"/>
              </a:rPr>
              <a:t>transmission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*/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ts val="1660"/>
              </a:lnSpc>
            </a:pPr>
            <a:r>
              <a:rPr sz="2000" b="1" spc="-10" dirty="0">
                <a:latin typeface="Courier New"/>
                <a:cs typeface="Courier New"/>
              </a:rPr>
              <a:t>while (recvMsgSize </a:t>
            </a:r>
            <a:r>
              <a:rPr sz="2000" b="1" spc="-5" dirty="0">
                <a:latin typeface="Courier New"/>
                <a:cs typeface="Courier New"/>
              </a:rPr>
              <a:t>&gt; 0) { </a:t>
            </a:r>
            <a:r>
              <a:rPr sz="2000" spc="-35" dirty="0">
                <a:latin typeface="Arial"/>
                <a:cs typeface="Arial"/>
              </a:rPr>
              <a:t>/* </a:t>
            </a:r>
            <a:r>
              <a:rPr sz="2000" spc="-55" dirty="0">
                <a:latin typeface="Arial"/>
                <a:cs typeface="Arial"/>
              </a:rPr>
              <a:t>zero </a:t>
            </a:r>
            <a:r>
              <a:rPr sz="2000" spc="-40" dirty="0">
                <a:latin typeface="Arial"/>
                <a:cs typeface="Arial"/>
              </a:rPr>
              <a:t>indicates </a:t>
            </a:r>
            <a:r>
              <a:rPr sz="2000" spc="-60" dirty="0">
                <a:latin typeface="Arial"/>
                <a:cs typeface="Arial"/>
              </a:rPr>
              <a:t>end </a:t>
            </a:r>
            <a:r>
              <a:rPr sz="2000" spc="-10" dirty="0">
                <a:latin typeface="Arial"/>
                <a:cs typeface="Arial"/>
              </a:rPr>
              <a:t>of </a:t>
            </a:r>
            <a:r>
              <a:rPr sz="2000" spc="-45" dirty="0">
                <a:latin typeface="Arial"/>
                <a:cs typeface="Arial"/>
              </a:rPr>
              <a:t>transmission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*/</a:t>
            </a:r>
            <a:endParaRPr sz="2000" dirty="0">
              <a:latin typeface="Arial"/>
              <a:cs typeface="Arial"/>
            </a:endParaRPr>
          </a:p>
          <a:p>
            <a:pPr marL="650240" marR="538480" indent="-318770">
              <a:lnSpc>
                <a:spcPts val="1680"/>
              </a:lnSpc>
              <a:spcBef>
                <a:spcPts val="45"/>
              </a:spcBef>
            </a:pPr>
            <a:r>
              <a:rPr sz="2000" b="1" spc="-5" dirty="0">
                <a:latin typeface="Courier New"/>
                <a:cs typeface="Courier New"/>
              </a:rPr>
              <a:t>if </a:t>
            </a:r>
            <a:r>
              <a:rPr sz="2000" b="1" spc="-10" dirty="0">
                <a:latin typeface="Courier New"/>
                <a:cs typeface="Courier New"/>
              </a:rPr>
              <a:t>(send(clientSocket, echobuffer, recvMsgSize, </a:t>
            </a:r>
            <a:r>
              <a:rPr sz="2000" b="1" spc="-5" dirty="0">
                <a:latin typeface="Courier New"/>
                <a:cs typeface="Courier New"/>
              </a:rPr>
              <a:t>0) != </a:t>
            </a:r>
            <a:r>
              <a:rPr sz="2000" b="1" spc="-10" dirty="0">
                <a:latin typeface="Courier New"/>
                <a:cs typeface="Courier New"/>
              </a:rPr>
              <a:t>recvMsgSize)  DieWithError(“send()</a:t>
            </a:r>
            <a:r>
              <a:rPr sz="2000" b="1" spc="-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failed”);</a:t>
            </a:r>
            <a:endParaRPr sz="2000" dirty="0">
              <a:latin typeface="Courier New"/>
              <a:cs typeface="Courier New"/>
            </a:endParaRPr>
          </a:p>
          <a:p>
            <a:pPr marL="650240" marR="5080" indent="-318770">
              <a:lnSpc>
                <a:spcPts val="1670"/>
              </a:lnSpc>
            </a:pPr>
            <a:r>
              <a:rPr sz="2000" b="1" spc="-5" dirty="0">
                <a:latin typeface="Courier New"/>
                <a:cs typeface="Courier New"/>
              </a:rPr>
              <a:t>if </a:t>
            </a:r>
            <a:r>
              <a:rPr sz="2000" b="1" spc="-10" dirty="0">
                <a:latin typeface="Courier New"/>
                <a:cs typeface="Courier New"/>
              </a:rPr>
              <a:t>((recvMsgSize </a:t>
            </a:r>
            <a:r>
              <a:rPr sz="2000" b="1" spc="-5" dirty="0">
                <a:latin typeface="Courier New"/>
                <a:cs typeface="Courier New"/>
              </a:rPr>
              <a:t>= </a:t>
            </a:r>
            <a:r>
              <a:rPr sz="2000" b="1" spc="-10" dirty="0">
                <a:latin typeface="Courier New"/>
                <a:cs typeface="Courier New"/>
              </a:rPr>
              <a:t>recv(clientSocket, echoBuffer, RECVBUFSIZE, </a:t>
            </a:r>
            <a:r>
              <a:rPr sz="2000" b="1" spc="-5" dirty="0">
                <a:latin typeface="Courier New"/>
                <a:cs typeface="Courier New"/>
              </a:rPr>
              <a:t>0)) &lt; </a:t>
            </a:r>
            <a:r>
              <a:rPr sz="2000" b="1" spc="-10" dirty="0">
                <a:latin typeface="Courier New"/>
                <a:cs typeface="Courier New"/>
              </a:rPr>
              <a:t>0)  DieWithError(“recv()</a:t>
            </a:r>
            <a:r>
              <a:rPr sz="2000" b="1" spc="-5" dirty="0">
                <a:latin typeface="Courier New"/>
                <a:cs typeface="Courier New"/>
              </a:rPr>
              <a:t> </a:t>
            </a:r>
            <a:r>
              <a:rPr sz="2000" b="1" spc="-10" dirty="0">
                <a:latin typeface="Courier New"/>
                <a:cs typeface="Courier New"/>
              </a:rPr>
              <a:t>failed”);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ts val="1625"/>
              </a:lnSpc>
            </a:pPr>
            <a:r>
              <a:rPr sz="2000" b="1" spc="-5" dirty="0">
                <a:latin typeface="Courier New"/>
                <a:cs typeface="Courier New"/>
              </a:rPr>
              <a:t>}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5663" y="1074674"/>
            <a:ext cx="8689975" cy="2207260"/>
          </a:xfrm>
          <a:custGeom>
            <a:avLst/>
            <a:gdLst/>
            <a:ahLst/>
            <a:cxnLst/>
            <a:rect l="l" t="t" r="r" b="b"/>
            <a:pathLst>
              <a:path w="8689975" h="2207260">
                <a:moveTo>
                  <a:pt x="0" y="0"/>
                </a:moveTo>
                <a:lnTo>
                  <a:pt x="0" y="2206752"/>
                </a:lnTo>
                <a:lnTo>
                  <a:pt x="8689848" y="2206752"/>
                </a:lnTo>
                <a:lnTo>
                  <a:pt x="8689848" y="0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61227" y="298450"/>
            <a:ext cx="8241473" cy="64754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/>
            <a:r>
              <a:rPr sz="2800" spc="-35" dirty="0">
                <a:latin typeface="Arial"/>
                <a:cs typeface="Arial"/>
              </a:rPr>
              <a:t>/* </a:t>
            </a:r>
            <a:r>
              <a:rPr sz="2800" spc="-70" dirty="0">
                <a:latin typeface="Arial"/>
                <a:cs typeface="Arial"/>
              </a:rPr>
              <a:t>Receive </a:t>
            </a:r>
            <a:r>
              <a:rPr sz="2800" spc="-140" dirty="0">
                <a:latin typeface="Arial"/>
                <a:cs typeface="Arial"/>
              </a:rPr>
              <a:t>message </a:t>
            </a:r>
            <a:r>
              <a:rPr sz="2800" spc="5" dirty="0">
                <a:latin typeface="Arial"/>
                <a:cs typeface="Arial"/>
              </a:rPr>
              <a:t>from client</a:t>
            </a:r>
            <a:r>
              <a:rPr sz="2800" spc="-229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*/</a:t>
            </a:r>
            <a:endParaRPr sz="2800" dirty="0">
              <a:latin typeface="Arial"/>
              <a:cs typeface="Arial"/>
            </a:endParaRPr>
          </a:p>
          <a:p>
            <a:pPr marL="437515" marR="643890" indent="-425450"/>
            <a:r>
              <a:rPr sz="2800" b="1" spc="-5" dirty="0">
                <a:latin typeface="Courier New"/>
                <a:cs typeface="Courier New"/>
              </a:rPr>
              <a:t>if </a:t>
            </a:r>
            <a:r>
              <a:rPr sz="2800" b="1" spc="-10" dirty="0">
                <a:latin typeface="Courier New"/>
                <a:cs typeface="Courier New"/>
              </a:rPr>
              <a:t>((recvMsgSize </a:t>
            </a:r>
            <a:r>
              <a:rPr sz="2800" b="1" spc="-5" dirty="0">
                <a:latin typeface="Courier New"/>
                <a:cs typeface="Courier New"/>
              </a:rPr>
              <a:t>= </a:t>
            </a:r>
            <a:r>
              <a:rPr sz="2800" b="1" spc="-10" dirty="0">
                <a:solidFill>
                  <a:srgbClr val="006533"/>
                </a:solidFill>
                <a:latin typeface="Courier New"/>
                <a:cs typeface="Courier New"/>
              </a:rPr>
              <a:t>recv</a:t>
            </a:r>
            <a:r>
              <a:rPr sz="2800" b="1" spc="-10" dirty="0">
                <a:latin typeface="Courier New"/>
                <a:cs typeface="Courier New"/>
              </a:rPr>
              <a:t>(clntSocket, echoBuffer, RCVBUFSIZE, </a:t>
            </a:r>
            <a:r>
              <a:rPr sz="2800" b="1" spc="-5" dirty="0">
                <a:latin typeface="Courier New"/>
                <a:cs typeface="Courier New"/>
              </a:rPr>
              <a:t>0)) &lt; </a:t>
            </a:r>
            <a:r>
              <a:rPr sz="2800" b="1" spc="-10" dirty="0">
                <a:latin typeface="Courier New"/>
                <a:cs typeface="Courier New"/>
              </a:rPr>
              <a:t>0)  DieWithError("recv() failed");</a:t>
            </a:r>
            <a:endParaRPr sz="2800" dirty="0">
              <a:latin typeface="Courier New"/>
              <a:cs typeface="Courier New"/>
            </a:endParaRPr>
          </a:p>
          <a:p>
            <a:pPr marL="12700"/>
            <a:r>
              <a:rPr sz="2800" spc="-35" dirty="0">
                <a:latin typeface="Arial"/>
                <a:cs typeface="Arial"/>
              </a:rPr>
              <a:t>/* </a:t>
            </a:r>
            <a:r>
              <a:rPr sz="2800" spc="-114" dirty="0">
                <a:latin typeface="Arial"/>
                <a:cs typeface="Arial"/>
              </a:rPr>
              <a:t>Send </a:t>
            </a:r>
            <a:r>
              <a:rPr sz="2800" spc="-50" dirty="0">
                <a:latin typeface="Arial"/>
                <a:cs typeface="Arial"/>
              </a:rPr>
              <a:t>received </a:t>
            </a:r>
            <a:r>
              <a:rPr sz="2800" spc="-15" dirty="0">
                <a:latin typeface="Arial"/>
                <a:cs typeface="Arial"/>
              </a:rPr>
              <a:t>string </a:t>
            </a:r>
            <a:r>
              <a:rPr sz="2800" spc="-65" dirty="0">
                <a:latin typeface="Arial"/>
                <a:cs typeface="Arial"/>
              </a:rPr>
              <a:t>and </a:t>
            </a:r>
            <a:r>
              <a:rPr sz="2800" spc="-50" dirty="0">
                <a:latin typeface="Arial"/>
                <a:cs typeface="Arial"/>
              </a:rPr>
              <a:t>receive </a:t>
            </a:r>
            <a:r>
              <a:rPr sz="2800" spc="-70" dirty="0">
                <a:latin typeface="Arial"/>
                <a:cs typeface="Arial"/>
              </a:rPr>
              <a:t>again </a:t>
            </a:r>
            <a:r>
              <a:rPr sz="2800" spc="45" dirty="0">
                <a:latin typeface="Arial"/>
                <a:cs typeface="Arial"/>
              </a:rPr>
              <a:t>until </a:t>
            </a:r>
            <a:r>
              <a:rPr sz="2800" spc="-55" dirty="0">
                <a:latin typeface="Arial"/>
                <a:cs typeface="Arial"/>
              </a:rPr>
              <a:t>end </a:t>
            </a:r>
            <a:r>
              <a:rPr sz="2800" spc="-10" dirty="0">
                <a:latin typeface="Arial"/>
                <a:cs typeface="Arial"/>
              </a:rPr>
              <a:t>of </a:t>
            </a:r>
            <a:r>
              <a:rPr sz="2800" spc="-45" dirty="0">
                <a:latin typeface="Arial"/>
                <a:cs typeface="Arial"/>
              </a:rPr>
              <a:t>transmission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*/</a:t>
            </a:r>
            <a:endParaRPr sz="2800" dirty="0">
              <a:latin typeface="Arial"/>
              <a:cs typeface="Arial"/>
            </a:endParaRPr>
          </a:p>
          <a:p>
            <a:pPr marL="12700"/>
            <a:r>
              <a:rPr sz="2800" b="1" spc="-10" dirty="0">
                <a:latin typeface="Courier New"/>
                <a:cs typeface="Courier New"/>
              </a:rPr>
              <a:t>while (recvMsgSize </a:t>
            </a:r>
            <a:r>
              <a:rPr sz="2800" b="1" spc="-5" dirty="0">
                <a:latin typeface="Courier New"/>
                <a:cs typeface="Courier New"/>
              </a:rPr>
              <a:t>&gt; 0) { </a:t>
            </a:r>
            <a:r>
              <a:rPr sz="2800" spc="-35" dirty="0">
                <a:latin typeface="Arial"/>
                <a:cs typeface="Arial"/>
              </a:rPr>
              <a:t>/* </a:t>
            </a:r>
            <a:r>
              <a:rPr sz="2800" spc="-55" dirty="0">
                <a:latin typeface="Arial"/>
                <a:cs typeface="Arial"/>
              </a:rPr>
              <a:t>zero </a:t>
            </a:r>
            <a:r>
              <a:rPr sz="2800" spc="-40" dirty="0">
                <a:latin typeface="Arial"/>
                <a:cs typeface="Arial"/>
              </a:rPr>
              <a:t>indicates </a:t>
            </a:r>
            <a:r>
              <a:rPr sz="2800" spc="-60" dirty="0">
                <a:latin typeface="Arial"/>
                <a:cs typeface="Arial"/>
              </a:rPr>
              <a:t>end </a:t>
            </a:r>
            <a:r>
              <a:rPr sz="2800" spc="-10" dirty="0">
                <a:latin typeface="Arial"/>
                <a:cs typeface="Arial"/>
              </a:rPr>
              <a:t>of </a:t>
            </a:r>
            <a:r>
              <a:rPr sz="2800" spc="-45" dirty="0">
                <a:latin typeface="Arial"/>
                <a:cs typeface="Arial"/>
              </a:rPr>
              <a:t>transmission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*/</a:t>
            </a:r>
            <a:endParaRPr sz="2800" dirty="0">
              <a:latin typeface="Arial"/>
              <a:cs typeface="Arial"/>
            </a:endParaRPr>
          </a:p>
          <a:p>
            <a:pPr marL="650240" marR="538480" indent="-318770"/>
            <a:r>
              <a:rPr sz="2800" b="1" spc="-5" dirty="0">
                <a:latin typeface="Courier New"/>
                <a:cs typeface="Courier New"/>
              </a:rPr>
              <a:t>if </a:t>
            </a:r>
            <a:r>
              <a:rPr sz="2800" b="1" spc="-10" dirty="0">
                <a:latin typeface="Courier New"/>
                <a:cs typeface="Courier New"/>
              </a:rPr>
              <a:t>(send(clientSocket, echobuffer, recvMsgSize, </a:t>
            </a:r>
            <a:r>
              <a:rPr sz="2800" b="1" spc="-5" dirty="0">
                <a:latin typeface="Courier New"/>
                <a:cs typeface="Courier New"/>
              </a:rPr>
              <a:t>0) != </a:t>
            </a:r>
            <a:r>
              <a:rPr sz="2800" b="1" spc="-10" dirty="0">
                <a:latin typeface="Courier New"/>
                <a:cs typeface="Courier New"/>
              </a:rPr>
              <a:t>recvMsgSize)  DieWithError(“send()</a:t>
            </a:r>
            <a:r>
              <a:rPr sz="2800" b="1" spc="-5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failed”);</a:t>
            </a:r>
            <a:endParaRPr sz="2800" dirty="0">
              <a:latin typeface="Courier New"/>
              <a:cs typeface="Courier New"/>
            </a:endParaRPr>
          </a:p>
          <a:p>
            <a:pPr marL="650240" marR="5080" indent="-318770"/>
            <a:r>
              <a:rPr sz="2800" b="1" spc="-5" dirty="0">
                <a:latin typeface="Courier New"/>
                <a:cs typeface="Courier New"/>
              </a:rPr>
              <a:t>if </a:t>
            </a:r>
            <a:r>
              <a:rPr sz="2800" b="1" spc="-10" dirty="0">
                <a:latin typeface="Courier New"/>
                <a:cs typeface="Courier New"/>
              </a:rPr>
              <a:t>((recvMsgSize </a:t>
            </a:r>
            <a:r>
              <a:rPr sz="2800" b="1" spc="-5" dirty="0">
                <a:latin typeface="Courier New"/>
                <a:cs typeface="Courier New"/>
              </a:rPr>
              <a:t>= </a:t>
            </a:r>
            <a:r>
              <a:rPr sz="2800" b="1" spc="-10" dirty="0">
                <a:latin typeface="Courier New"/>
                <a:cs typeface="Courier New"/>
              </a:rPr>
              <a:t>recv(clientSocket, echoBuffer, RECVBUFSIZE, </a:t>
            </a:r>
            <a:r>
              <a:rPr sz="2800" b="1" spc="-5" dirty="0">
                <a:latin typeface="Courier New"/>
                <a:cs typeface="Courier New"/>
              </a:rPr>
              <a:t>0)) &lt; </a:t>
            </a:r>
            <a:r>
              <a:rPr sz="2800" b="1" spc="-10" dirty="0">
                <a:latin typeface="Courier New"/>
                <a:cs typeface="Courier New"/>
              </a:rPr>
              <a:t>0)  DieWithError(“recv()</a:t>
            </a:r>
            <a:r>
              <a:rPr sz="2800" b="1" spc="-5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failed”);</a:t>
            </a:r>
            <a:endParaRPr sz="2800" dirty="0">
              <a:latin typeface="Courier New"/>
              <a:cs typeface="Courier New"/>
            </a:endParaRPr>
          </a:p>
          <a:p>
            <a:pPr marL="12700"/>
            <a:r>
              <a:rPr sz="2800" b="1" spc="-5" dirty="0">
                <a:latin typeface="Courier New"/>
                <a:cs typeface="Courier New"/>
              </a:rPr>
              <a:t>}</a:t>
            </a:r>
            <a:endParaRPr sz="28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2100" y="1074674"/>
            <a:ext cx="8653538" cy="5395976"/>
          </a:xfrm>
          <a:custGeom>
            <a:avLst/>
            <a:gdLst/>
            <a:ahLst/>
            <a:cxnLst/>
            <a:rect l="l" t="t" r="r" b="b"/>
            <a:pathLst>
              <a:path w="8689975" h="2207260">
                <a:moveTo>
                  <a:pt x="0" y="0"/>
                </a:moveTo>
                <a:lnTo>
                  <a:pt x="0" y="2206752"/>
                </a:lnTo>
                <a:lnTo>
                  <a:pt x="8689848" y="2206752"/>
                </a:lnTo>
                <a:lnTo>
                  <a:pt x="8689848" y="0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4600" spc="-290" dirty="0"/>
              <a:t>Example </a:t>
            </a:r>
            <a:r>
              <a:rPr spc="-250" dirty="0"/>
              <a:t>- </a:t>
            </a:r>
            <a:r>
              <a:rPr spc="-140" dirty="0"/>
              <a:t>Echo </a:t>
            </a:r>
            <a:r>
              <a:rPr spc="-290" dirty="0"/>
              <a:t>using </a:t>
            </a:r>
            <a:r>
              <a:rPr spc="-315" dirty="0"/>
              <a:t>stream</a:t>
            </a:r>
            <a:r>
              <a:rPr spc="-195" dirty="0"/>
              <a:t> </a:t>
            </a:r>
            <a:r>
              <a:rPr spc="-220" dirty="0"/>
              <a:t>socket</a:t>
            </a:r>
            <a:endParaRPr sz="4600"/>
          </a:p>
        </p:txBody>
      </p:sp>
      <p:sp>
        <p:nvSpPr>
          <p:cNvPr id="4" name="object 4"/>
          <p:cNvSpPr txBox="1"/>
          <p:nvPr/>
        </p:nvSpPr>
        <p:spPr>
          <a:xfrm>
            <a:off x="219335" y="3096303"/>
            <a:ext cx="2928620" cy="185038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435735">
              <a:lnSpc>
                <a:spcPct val="100000"/>
              </a:lnSpc>
              <a:spcBef>
                <a:spcPts val="470"/>
              </a:spcBef>
            </a:pPr>
            <a:r>
              <a:rPr sz="2200" b="1" dirty="0">
                <a:solidFill>
                  <a:srgbClr val="006533"/>
                </a:solidFill>
                <a:latin typeface="Arial"/>
                <a:cs typeface="Arial"/>
              </a:rPr>
              <a:t>Client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TCP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Establish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b="1" spc="-5" dirty="0">
                <a:solidFill>
                  <a:srgbClr val="CA6800"/>
                </a:solidFill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Close </a:t>
            </a:r>
            <a:r>
              <a:rPr sz="2000" spc="-5" dirty="0">
                <a:latin typeface="Arial"/>
                <a:cs typeface="Arial"/>
              </a:rPr>
              <a:t>the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86528" y="3096303"/>
            <a:ext cx="3124200" cy="186943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590675">
              <a:lnSpc>
                <a:spcPct val="100000"/>
              </a:lnSpc>
              <a:spcBef>
                <a:spcPts val="470"/>
              </a:spcBef>
            </a:pPr>
            <a:r>
              <a:rPr sz="2200" b="1" spc="-5" dirty="0">
                <a:solidFill>
                  <a:srgbClr val="006533"/>
                </a:solidFill>
                <a:latin typeface="Arial"/>
                <a:cs typeface="Arial"/>
              </a:rPr>
              <a:t>Server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TCP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Assign </a:t>
            </a:r>
            <a:r>
              <a:rPr sz="2000" spc="-5" dirty="0">
                <a:latin typeface="Arial"/>
                <a:cs typeface="Arial"/>
              </a:rPr>
              <a:t>a port to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Set socket to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listen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62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Repeatedly: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43728" y="4940249"/>
            <a:ext cx="3094990" cy="110172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575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Arial"/>
                <a:cs typeface="Arial"/>
              </a:rPr>
              <a:t>Accept new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470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b="1" spc="-5" dirty="0">
                <a:solidFill>
                  <a:srgbClr val="A50021"/>
                </a:solidFill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spc="-10" dirty="0">
                <a:latin typeface="Arial"/>
                <a:cs typeface="Arial"/>
              </a:rPr>
              <a:t>Close </a:t>
            </a:r>
            <a:r>
              <a:rPr sz="2000" spc="-5" dirty="0">
                <a:latin typeface="Arial"/>
                <a:cs typeface="Arial"/>
              </a:rPr>
              <a:t>the </a:t>
            </a:r>
            <a:r>
              <a:rPr sz="2000" spc="-10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0965" y="1715770"/>
            <a:ext cx="7155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CA6800"/>
                </a:solidFill>
                <a:latin typeface="Tahoma"/>
                <a:cs typeface="Tahoma"/>
              </a:rPr>
              <a:t>Similarly, </a:t>
            </a:r>
            <a:r>
              <a:rPr sz="2400" dirty="0">
                <a:solidFill>
                  <a:srgbClr val="CA6800"/>
                </a:solidFill>
                <a:latin typeface="Tahoma"/>
                <a:cs typeface="Tahoma"/>
              </a:rPr>
              <a:t>the client receives the </a:t>
            </a:r>
            <a:r>
              <a:rPr sz="2400" spc="-5" dirty="0">
                <a:solidFill>
                  <a:srgbClr val="CA6800"/>
                </a:solidFill>
                <a:latin typeface="Tahoma"/>
                <a:cs typeface="Tahoma"/>
              </a:rPr>
              <a:t>data </a:t>
            </a:r>
            <a:r>
              <a:rPr sz="2400" dirty="0">
                <a:solidFill>
                  <a:srgbClr val="CA6800"/>
                </a:solidFill>
                <a:latin typeface="Tahoma"/>
                <a:cs typeface="Tahoma"/>
              </a:rPr>
              <a:t>from the</a:t>
            </a:r>
            <a:r>
              <a:rPr sz="2400" spc="-25" dirty="0">
                <a:solidFill>
                  <a:srgbClr val="CA68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CA6800"/>
                </a:solidFill>
                <a:latin typeface="Tahoma"/>
                <a:cs typeface="Tahoma"/>
              </a:rPr>
              <a:t>server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4600" spc="-290" dirty="0"/>
              <a:t>Example </a:t>
            </a:r>
            <a:r>
              <a:rPr spc="-250" dirty="0"/>
              <a:t>- </a:t>
            </a:r>
            <a:r>
              <a:rPr spc="-140" dirty="0"/>
              <a:t>Echo </a:t>
            </a:r>
            <a:r>
              <a:rPr spc="-290" dirty="0"/>
              <a:t>using </a:t>
            </a:r>
            <a:r>
              <a:rPr spc="-315" dirty="0"/>
              <a:t>stream</a:t>
            </a:r>
            <a:r>
              <a:rPr spc="-195" dirty="0"/>
              <a:t> </a:t>
            </a:r>
            <a:r>
              <a:rPr spc="-220" dirty="0"/>
              <a:t>socket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219335" y="3096303"/>
            <a:ext cx="3126105" cy="185038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435735">
              <a:lnSpc>
                <a:spcPct val="100000"/>
              </a:lnSpc>
              <a:spcBef>
                <a:spcPts val="470"/>
              </a:spcBef>
            </a:pPr>
            <a:r>
              <a:rPr sz="2200" b="1" dirty="0">
                <a:solidFill>
                  <a:srgbClr val="006533"/>
                </a:solidFill>
                <a:latin typeface="Arial"/>
                <a:cs typeface="Arial"/>
              </a:rPr>
              <a:t>Client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TCP</a:t>
            </a:r>
            <a:r>
              <a:rPr sz="2000" spc="-10" dirty="0">
                <a:latin typeface="Arial"/>
                <a:cs typeface="Arial"/>
              </a:rPr>
              <a:t> 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Establish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b="1" spc="-5" dirty="0">
                <a:solidFill>
                  <a:srgbClr val="CA6800"/>
                </a:solidFill>
                <a:latin typeface="Arial"/>
                <a:cs typeface="Arial"/>
              </a:rPr>
              <a:t>Close the</a:t>
            </a:r>
            <a:r>
              <a:rPr sz="2000" b="1" spc="-40" dirty="0">
                <a:solidFill>
                  <a:srgbClr val="CA68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CA6800"/>
                </a:solidFill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86528" y="3096303"/>
            <a:ext cx="3552190" cy="294576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590675">
              <a:lnSpc>
                <a:spcPct val="100000"/>
              </a:lnSpc>
              <a:spcBef>
                <a:spcPts val="470"/>
              </a:spcBef>
            </a:pPr>
            <a:r>
              <a:rPr sz="2200" b="1" spc="-5" dirty="0">
                <a:solidFill>
                  <a:srgbClr val="006533"/>
                </a:solidFill>
                <a:latin typeface="Arial"/>
                <a:cs typeface="Arial"/>
              </a:rPr>
              <a:t>Server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TCP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Assign </a:t>
            </a:r>
            <a:r>
              <a:rPr sz="2000" spc="-5" dirty="0">
                <a:latin typeface="Arial"/>
                <a:cs typeface="Arial"/>
              </a:rPr>
              <a:t>a port to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Set socket to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listen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62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Repeatedly:</a:t>
            </a:r>
            <a:endParaRPr sz="20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spcBef>
                <a:spcPts val="470"/>
              </a:spcBef>
              <a:buClr>
                <a:srgbClr val="006533"/>
              </a:buClr>
              <a:buSzPct val="60000"/>
              <a:buAutoNum type="alphaLcPeriod"/>
              <a:tabLst>
                <a:tab pos="926465" algn="l"/>
                <a:tab pos="927100" algn="l"/>
              </a:tabLst>
            </a:pPr>
            <a:r>
              <a:rPr sz="2000" spc="-5" dirty="0">
                <a:latin typeface="Arial"/>
                <a:cs typeface="Arial"/>
              </a:rPr>
              <a:t>Accept new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spcBef>
                <a:spcPts val="475"/>
              </a:spcBef>
              <a:buClr>
                <a:srgbClr val="006533"/>
              </a:buClr>
              <a:buSzPct val="60000"/>
              <a:buAutoNum type="alphaLcPeriod"/>
              <a:tabLst>
                <a:tab pos="926465" algn="l"/>
                <a:tab pos="927100" algn="l"/>
              </a:tabLst>
            </a:pPr>
            <a:r>
              <a:rPr sz="2000" spc="-5" dirty="0"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spcBef>
                <a:spcPts val="325"/>
              </a:spcBef>
              <a:buClr>
                <a:srgbClr val="006533"/>
              </a:buClr>
              <a:buSzPct val="60000"/>
              <a:buAutoNum type="alphaLcPeriod"/>
              <a:tabLst>
                <a:tab pos="926465" algn="l"/>
                <a:tab pos="927100" algn="l"/>
              </a:tabLst>
            </a:pPr>
            <a:r>
              <a:rPr sz="2000" b="1" spc="-5" dirty="0">
                <a:solidFill>
                  <a:srgbClr val="A50021"/>
                </a:solidFill>
                <a:latin typeface="Arial"/>
                <a:cs typeface="Arial"/>
              </a:rPr>
              <a:t>Close the</a:t>
            </a:r>
            <a:r>
              <a:rPr sz="2000" b="1" spc="-20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A50021"/>
                </a:solidFill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0612" y="2234692"/>
            <a:ext cx="3459088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10" dirty="0">
                <a:solidFill>
                  <a:srgbClr val="006533"/>
                </a:solidFill>
                <a:latin typeface="Courier New"/>
                <a:cs typeface="Courier New"/>
              </a:rPr>
              <a:t>close</a:t>
            </a:r>
            <a:r>
              <a:rPr sz="2400" b="1" spc="-10" dirty="0">
                <a:latin typeface="Courier New"/>
                <a:cs typeface="Courier New"/>
              </a:rPr>
              <a:t>(</a:t>
            </a:r>
            <a:r>
              <a:rPr sz="2400" b="1" spc="-10" dirty="0">
                <a:solidFill>
                  <a:srgbClr val="CC9A00"/>
                </a:solidFill>
                <a:latin typeface="Courier New"/>
                <a:cs typeface="Courier New"/>
              </a:rPr>
              <a:t>clientSock</a:t>
            </a:r>
            <a:r>
              <a:rPr sz="2400" b="1" spc="-10" dirty="0">
                <a:latin typeface="Courier New"/>
                <a:cs typeface="Courier New"/>
              </a:rPr>
              <a:t>);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51498" y="2234692"/>
            <a:ext cx="3517802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10" dirty="0">
                <a:solidFill>
                  <a:srgbClr val="006533"/>
                </a:solidFill>
                <a:latin typeface="Courier New"/>
                <a:cs typeface="Courier New"/>
              </a:rPr>
              <a:t>clos</a:t>
            </a:r>
            <a:r>
              <a:rPr sz="2400" b="1" spc="-5" dirty="0">
                <a:solidFill>
                  <a:srgbClr val="006533"/>
                </a:solidFill>
                <a:latin typeface="Courier New"/>
                <a:cs typeface="Courier New"/>
              </a:rPr>
              <a:t>e</a:t>
            </a:r>
            <a:r>
              <a:rPr sz="2400" b="1" spc="-5" dirty="0">
                <a:latin typeface="Courier New"/>
                <a:cs typeface="Courier New"/>
              </a:rPr>
              <a:t>(</a:t>
            </a:r>
            <a:r>
              <a:rPr sz="2400" b="1" spc="-10" dirty="0">
                <a:solidFill>
                  <a:srgbClr val="CC9A00"/>
                </a:solidFill>
                <a:latin typeface="Courier New"/>
                <a:cs typeface="Courier New"/>
              </a:rPr>
              <a:t>clientSoc</a:t>
            </a:r>
            <a:r>
              <a:rPr sz="2400" b="1" spc="-5" dirty="0">
                <a:solidFill>
                  <a:srgbClr val="CC9A00"/>
                </a:solidFill>
                <a:latin typeface="Courier New"/>
                <a:cs typeface="Courier New"/>
              </a:rPr>
              <a:t>k</a:t>
            </a:r>
            <a:r>
              <a:rPr sz="2400" b="1" spc="-5" dirty="0">
                <a:latin typeface="Courier New"/>
                <a:cs typeface="Courier New"/>
              </a:rPr>
              <a:t>);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4600" spc="-290" dirty="0"/>
              <a:t>Example </a:t>
            </a:r>
            <a:r>
              <a:rPr spc="-250" dirty="0"/>
              <a:t>- </a:t>
            </a:r>
            <a:r>
              <a:rPr spc="-140" dirty="0"/>
              <a:t>Echo </a:t>
            </a:r>
            <a:r>
              <a:rPr spc="-290" dirty="0"/>
              <a:t>using </a:t>
            </a:r>
            <a:r>
              <a:rPr spc="-315" dirty="0"/>
              <a:t>stream</a:t>
            </a:r>
            <a:r>
              <a:rPr spc="-195" dirty="0"/>
              <a:t> </a:t>
            </a:r>
            <a:r>
              <a:rPr spc="-220" dirty="0"/>
              <a:t>socket</a:t>
            </a:r>
            <a:endParaRPr sz="4600"/>
          </a:p>
        </p:txBody>
      </p:sp>
      <p:sp>
        <p:nvSpPr>
          <p:cNvPr id="4" name="object 4"/>
          <p:cNvSpPr txBox="1"/>
          <p:nvPr/>
        </p:nvSpPr>
        <p:spPr>
          <a:xfrm>
            <a:off x="219335" y="3096303"/>
            <a:ext cx="2928620" cy="185038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435735">
              <a:lnSpc>
                <a:spcPct val="100000"/>
              </a:lnSpc>
              <a:spcBef>
                <a:spcPts val="470"/>
              </a:spcBef>
            </a:pPr>
            <a:r>
              <a:rPr sz="2200" b="1" dirty="0">
                <a:solidFill>
                  <a:srgbClr val="006533"/>
                </a:solidFill>
                <a:latin typeface="Arial"/>
                <a:cs typeface="Arial"/>
              </a:rPr>
              <a:t>Client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TCP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Establish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Close </a:t>
            </a:r>
            <a:r>
              <a:rPr sz="2000" spc="-5" dirty="0">
                <a:latin typeface="Arial"/>
                <a:cs typeface="Arial"/>
              </a:rPr>
              <a:t>the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86528" y="3096303"/>
            <a:ext cx="3124200" cy="186943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590675">
              <a:lnSpc>
                <a:spcPct val="100000"/>
              </a:lnSpc>
              <a:spcBef>
                <a:spcPts val="470"/>
              </a:spcBef>
            </a:pPr>
            <a:r>
              <a:rPr sz="2200" b="1" spc="-5" dirty="0">
                <a:solidFill>
                  <a:srgbClr val="006533"/>
                </a:solidFill>
                <a:latin typeface="Arial"/>
                <a:cs typeface="Arial"/>
              </a:rPr>
              <a:t>Server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TCP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Assign </a:t>
            </a:r>
            <a:r>
              <a:rPr sz="2000" spc="-5" dirty="0">
                <a:latin typeface="Arial"/>
                <a:cs typeface="Arial"/>
              </a:rPr>
              <a:t>a port to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Set socket to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listen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62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Repeatedly: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43728" y="4940249"/>
            <a:ext cx="3319145" cy="110172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575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b="1" spc="-5" dirty="0">
                <a:solidFill>
                  <a:srgbClr val="A50021"/>
                </a:solidFill>
                <a:latin typeface="Arial"/>
                <a:cs typeface="Arial"/>
              </a:rPr>
              <a:t>Accept new</a:t>
            </a:r>
            <a:r>
              <a:rPr sz="2000" b="1" spc="-25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A50021"/>
                </a:solidFill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470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spc="-5" dirty="0"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Clr>
                <a:srgbClr val="006533"/>
              </a:buClr>
              <a:buSzPct val="60000"/>
              <a:buAutoNum type="alphaLcPeriod"/>
              <a:tabLst>
                <a:tab pos="469265" algn="l"/>
                <a:tab pos="469900" algn="l"/>
              </a:tabLst>
            </a:pPr>
            <a:r>
              <a:rPr sz="2000" spc="-10" dirty="0">
                <a:latin typeface="Arial"/>
                <a:cs typeface="Arial"/>
              </a:rPr>
              <a:t>Close </a:t>
            </a:r>
            <a:r>
              <a:rPr sz="2000" spc="-5" dirty="0">
                <a:latin typeface="Arial"/>
                <a:cs typeface="Arial"/>
              </a:rPr>
              <a:t>the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1113" y="1715770"/>
            <a:ext cx="78346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A50021"/>
                </a:solidFill>
                <a:latin typeface="Tahoma"/>
                <a:cs typeface="Tahoma"/>
              </a:rPr>
              <a:t>Server </a:t>
            </a:r>
            <a:r>
              <a:rPr sz="2400" dirty="0">
                <a:solidFill>
                  <a:srgbClr val="A50021"/>
                </a:solidFill>
                <a:latin typeface="Tahoma"/>
                <a:cs typeface="Tahoma"/>
              </a:rPr>
              <a:t>is </a:t>
            </a:r>
            <a:r>
              <a:rPr sz="2400" spc="-5" dirty="0">
                <a:solidFill>
                  <a:srgbClr val="A50021"/>
                </a:solidFill>
                <a:latin typeface="Tahoma"/>
                <a:cs typeface="Tahoma"/>
              </a:rPr>
              <a:t>now blocked waiting </a:t>
            </a:r>
            <a:r>
              <a:rPr sz="2400" dirty="0">
                <a:solidFill>
                  <a:srgbClr val="A50021"/>
                </a:solidFill>
                <a:latin typeface="Tahoma"/>
                <a:cs typeface="Tahoma"/>
              </a:rPr>
              <a:t>for connection from a</a:t>
            </a:r>
            <a:r>
              <a:rPr sz="2400" spc="30" dirty="0">
                <a:solidFill>
                  <a:srgbClr val="A50021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A50021"/>
                </a:solidFill>
                <a:latin typeface="Tahoma"/>
                <a:cs typeface="Tahoma"/>
              </a:rPr>
              <a:t>client</a:t>
            </a:r>
            <a:endParaRPr sz="2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dirty="0">
                <a:solidFill>
                  <a:srgbClr val="A50021"/>
                </a:solidFill>
                <a:latin typeface="Tahoma"/>
                <a:cs typeface="Tahoma"/>
              </a:rPr>
              <a:t>…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1573" y="256540"/>
            <a:ext cx="8018145" cy="72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290" dirty="0"/>
              <a:t>Example </a:t>
            </a:r>
            <a:r>
              <a:rPr spc="-250" dirty="0"/>
              <a:t>- </a:t>
            </a:r>
            <a:r>
              <a:rPr spc="-140" dirty="0"/>
              <a:t>Echo </a:t>
            </a:r>
            <a:r>
              <a:rPr spc="-290" dirty="0"/>
              <a:t>using </a:t>
            </a:r>
            <a:r>
              <a:rPr spc="-340" dirty="0"/>
              <a:t>datagram</a:t>
            </a:r>
            <a:r>
              <a:rPr spc="-165" dirty="0"/>
              <a:t> </a:t>
            </a:r>
            <a:r>
              <a:rPr spc="-220" dirty="0"/>
              <a:t>socket</a:t>
            </a:r>
            <a:endParaRPr sz="4600"/>
          </a:p>
        </p:txBody>
      </p:sp>
      <p:sp>
        <p:nvSpPr>
          <p:cNvPr id="4" name="object 4"/>
          <p:cNvSpPr txBox="1"/>
          <p:nvPr/>
        </p:nvSpPr>
        <p:spPr>
          <a:xfrm>
            <a:off x="508139" y="3750783"/>
            <a:ext cx="3124200" cy="185166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435735">
              <a:lnSpc>
                <a:spcPct val="100000"/>
              </a:lnSpc>
              <a:spcBef>
                <a:spcPts val="475"/>
              </a:spcBef>
            </a:pPr>
            <a:r>
              <a:rPr sz="2200" b="1" dirty="0">
                <a:solidFill>
                  <a:srgbClr val="006533"/>
                </a:solidFill>
                <a:latin typeface="Arial"/>
                <a:cs typeface="Arial"/>
              </a:rPr>
              <a:t>Client</a:t>
            </a:r>
            <a:endParaRPr sz="2200">
              <a:latin typeface="Arial"/>
              <a:cs typeface="Arial"/>
            </a:endParaRPr>
          </a:p>
          <a:p>
            <a:pPr marL="545465" indent="-532765">
              <a:lnSpc>
                <a:spcPct val="100000"/>
              </a:lnSpc>
              <a:spcBef>
                <a:spcPts val="34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b="1" spc="-5" dirty="0">
                <a:solidFill>
                  <a:srgbClr val="CA6800"/>
                </a:solidFill>
                <a:latin typeface="Arial"/>
                <a:cs typeface="Arial"/>
              </a:rPr>
              <a:t>Create a UDP</a:t>
            </a:r>
            <a:r>
              <a:rPr sz="2000" b="1" spc="-20" dirty="0">
                <a:solidFill>
                  <a:srgbClr val="CA6800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CA6800"/>
                </a:solidFill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5465" indent="-532765">
              <a:lnSpc>
                <a:spcPct val="100000"/>
              </a:lnSpc>
              <a:spcBef>
                <a:spcPts val="47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Assign </a:t>
            </a:r>
            <a:r>
              <a:rPr sz="2000" spc="-5" dirty="0">
                <a:latin typeface="Arial"/>
                <a:cs typeface="Arial"/>
              </a:rPr>
              <a:t>a port to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5465" indent="-532765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545465" indent="-532765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Close 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32527" y="5374894"/>
            <a:ext cx="8953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" dirty="0">
                <a:solidFill>
                  <a:srgbClr val="3B822F"/>
                </a:solidFill>
                <a:latin typeface="Wingdings"/>
                <a:cs typeface="Wingdings"/>
              </a:rPr>
              <a:t></a:t>
            </a:r>
            <a:endParaRPr sz="11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75327" y="3750783"/>
            <a:ext cx="3124200" cy="183515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380490">
              <a:lnSpc>
                <a:spcPct val="100000"/>
              </a:lnSpc>
              <a:spcBef>
                <a:spcPts val="475"/>
              </a:spcBef>
            </a:pPr>
            <a:r>
              <a:rPr sz="2200" b="1" spc="-5" dirty="0">
                <a:solidFill>
                  <a:srgbClr val="006533"/>
                </a:solidFill>
                <a:latin typeface="Arial"/>
                <a:cs typeface="Arial"/>
              </a:rPr>
              <a:t>Server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4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b="1" spc="-5" dirty="0">
                <a:solidFill>
                  <a:srgbClr val="A50021"/>
                </a:solidFill>
                <a:latin typeface="Arial"/>
                <a:cs typeface="Arial"/>
              </a:rPr>
              <a:t>Create a UDP</a:t>
            </a:r>
            <a:r>
              <a:rPr sz="2000" b="1" spc="-20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A50021"/>
                </a:solidFill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62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Assign </a:t>
            </a:r>
            <a:r>
              <a:rPr sz="2000" spc="-5" dirty="0">
                <a:latin typeface="Arial"/>
                <a:cs typeface="Arial"/>
              </a:rPr>
              <a:t>a port to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Repeatedly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34"/>
              </a:spcBef>
            </a:pPr>
            <a:r>
              <a:rPr sz="1800" spc="-10" dirty="0">
                <a:latin typeface="Arial"/>
                <a:cs typeface="Arial"/>
              </a:rPr>
              <a:t>Communicate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3793" y="1285747"/>
            <a:ext cx="8397240" cy="967105"/>
          </a:xfrm>
          <a:prstGeom prst="rect">
            <a:avLst/>
          </a:prstGeom>
          <a:ln w="22225">
            <a:solidFill>
              <a:srgbClr val="9966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73355">
              <a:lnSpc>
                <a:spcPct val="100000"/>
              </a:lnSpc>
              <a:spcBef>
                <a:spcPts val="235"/>
              </a:spcBef>
            </a:pPr>
            <a:r>
              <a:rPr sz="1600" spc="-40" dirty="0">
                <a:latin typeface="Arial"/>
                <a:cs typeface="Arial"/>
              </a:rPr>
              <a:t>/* </a:t>
            </a:r>
            <a:r>
              <a:rPr sz="1600" spc="-75" dirty="0">
                <a:latin typeface="Arial"/>
                <a:cs typeface="Arial"/>
              </a:rPr>
              <a:t>Create </a:t>
            </a:r>
            <a:r>
              <a:rPr sz="1600" spc="-70" dirty="0">
                <a:latin typeface="Arial"/>
                <a:cs typeface="Arial"/>
              </a:rPr>
              <a:t>socket </a:t>
            </a:r>
            <a:r>
              <a:rPr sz="1600" spc="20" dirty="0">
                <a:latin typeface="Arial"/>
                <a:cs typeface="Arial"/>
              </a:rPr>
              <a:t>for </a:t>
            </a:r>
            <a:r>
              <a:rPr sz="1600" spc="-35" dirty="0">
                <a:latin typeface="Arial"/>
                <a:cs typeface="Arial"/>
              </a:rPr>
              <a:t>sending/receiving </a:t>
            </a:r>
            <a:r>
              <a:rPr sz="1600" spc="-90" dirty="0">
                <a:latin typeface="Arial"/>
                <a:cs typeface="Arial"/>
              </a:rPr>
              <a:t>datagrams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spc="-40" dirty="0">
                <a:latin typeface="Arial"/>
                <a:cs typeface="Arial"/>
              </a:rPr>
              <a:t>*/</a:t>
            </a:r>
            <a:endParaRPr sz="1600">
              <a:latin typeface="Arial"/>
              <a:cs typeface="Arial"/>
            </a:endParaRPr>
          </a:p>
          <a:p>
            <a:pPr marL="793115" marR="625475" indent="-611505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latin typeface="Courier New"/>
                <a:cs typeface="Courier New"/>
              </a:rPr>
              <a:t>if ((</a:t>
            </a:r>
            <a:r>
              <a:rPr sz="1600" b="1" dirty="0">
                <a:solidFill>
                  <a:srgbClr val="9A6500"/>
                </a:solidFill>
                <a:latin typeface="Courier New"/>
                <a:cs typeface="Courier New"/>
              </a:rPr>
              <a:t>servSock </a:t>
            </a:r>
            <a:r>
              <a:rPr sz="1600" b="1" dirty="0">
                <a:latin typeface="Courier New"/>
                <a:cs typeface="Courier New"/>
              </a:rPr>
              <a:t>= </a:t>
            </a:r>
            <a:r>
              <a:rPr sz="1600" b="1" dirty="0">
                <a:solidFill>
                  <a:srgbClr val="006533"/>
                </a:solidFill>
                <a:latin typeface="Courier New"/>
                <a:cs typeface="Courier New"/>
              </a:rPr>
              <a:t>socket</a:t>
            </a:r>
            <a:r>
              <a:rPr sz="1600" b="1" dirty="0">
                <a:latin typeface="Courier New"/>
                <a:cs typeface="Courier New"/>
              </a:rPr>
              <a:t>(PF_INET, SOCK_DGRAM, IPPROTO_UDP)) &lt; 0)  DieWithError("socket()</a:t>
            </a:r>
            <a:r>
              <a:rPr sz="1600" b="1" spc="-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failed");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2363" y="2456942"/>
            <a:ext cx="8398510" cy="967105"/>
          </a:xfrm>
          <a:prstGeom prst="rect">
            <a:avLst/>
          </a:prstGeom>
          <a:ln w="22225">
            <a:solidFill>
              <a:srgbClr val="9966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173355">
              <a:lnSpc>
                <a:spcPct val="100000"/>
              </a:lnSpc>
              <a:spcBef>
                <a:spcPts val="240"/>
              </a:spcBef>
            </a:pPr>
            <a:r>
              <a:rPr sz="1600" spc="-40" dirty="0">
                <a:latin typeface="Arial"/>
                <a:cs typeface="Arial"/>
              </a:rPr>
              <a:t>/* </a:t>
            </a:r>
            <a:r>
              <a:rPr sz="1600" spc="-75" dirty="0">
                <a:latin typeface="Arial"/>
                <a:cs typeface="Arial"/>
              </a:rPr>
              <a:t>Create </a:t>
            </a:r>
            <a:r>
              <a:rPr sz="1600" spc="-185" dirty="0">
                <a:latin typeface="Arial"/>
                <a:cs typeface="Arial"/>
              </a:rPr>
              <a:t>a </a:t>
            </a:r>
            <a:r>
              <a:rPr sz="1600" spc="-55" dirty="0">
                <a:latin typeface="Arial"/>
                <a:cs typeface="Arial"/>
              </a:rPr>
              <a:t>datagram/UDP </a:t>
            </a:r>
            <a:r>
              <a:rPr sz="1600" spc="-70" dirty="0">
                <a:latin typeface="Arial"/>
                <a:cs typeface="Arial"/>
              </a:rPr>
              <a:t>socket</a:t>
            </a:r>
            <a:r>
              <a:rPr sz="1600" spc="-135" dirty="0">
                <a:latin typeface="Arial"/>
                <a:cs typeface="Arial"/>
              </a:rPr>
              <a:t> </a:t>
            </a:r>
            <a:r>
              <a:rPr sz="1600" spc="-40" dirty="0">
                <a:latin typeface="Arial"/>
                <a:cs typeface="Arial"/>
              </a:rPr>
              <a:t>*/</a:t>
            </a:r>
            <a:endParaRPr sz="1600">
              <a:latin typeface="Arial"/>
              <a:cs typeface="Arial"/>
            </a:endParaRPr>
          </a:p>
          <a:p>
            <a:pPr marL="793115" marR="381000" indent="-611505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latin typeface="Courier New"/>
                <a:cs typeface="Courier New"/>
              </a:rPr>
              <a:t>if ((</a:t>
            </a:r>
            <a:r>
              <a:rPr sz="1600" b="1" dirty="0">
                <a:solidFill>
                  <a:srgbClr val="CC9A00"/>
                </a:solidFill>
                <a:latin typeface="Courier New"/>
                <a:cs typeface="Courier New"/>
              </a:rPr>
              <a:t>clientSock </a:t>
            </a:r>
            <a:r>
              <a:rPr sz="1600" b="1" dirty="0">
                <a:latin typeface="Courier New"/>
                <a:cs typeface="Courier New"/>
              </a:rPr>
              <a:t>= </a:t>
            </a:r>
            <a:r>
              <a:rPr sz="1600" b="1" dirty="0">
                <a:solidFill>
                  <a:srgbClr val="006533"/>
                </a:solidFill>
                <a:latin typeface="Courier New"/>
                <a:cs typeface="Courier New"/>
              </a:rPr>
              <a:t>socket</a:t>
            </a:r>
            <a:r>
              <a:rPr sz="1600" b="1" dirty="0">
                <a:latin typeface="Courier New"/>
                <a:cs typeface="Courier New"/>
              </a:rPr>
              <a:t>(PF_INET, SOCK_DGRAM, IPPROTO_UDP)) &lt; 0)  DieWithError("socket()</a:t>
            </a:r>
            <a:r>
              <a:rPr sz="1600" b="1" spc="-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failed");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1573" y="256540"/>
            <a:ext cx="8018145" cy="72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290" dirty="0"/>
              <a:t>Example </a:t>
            </a:r>
            <a:r>
              <a:rPr spc="-250" dirty="0"/>
              <a:t>- </a:t>
            </a:r>
            <a:r>
              <a:rPr spc="-140" dirty="0"/>
              <a:t>Echo </a:t>
            </a:r>
            <a:r>
              <a:rPr spc="-290" dirty="0"/>
              <a:t>using </a:t>
            </a:r>
            <a:r>
              <a:rPr spc="-340" dirty="0"/>
              <a:t>datagram</a:t>
            </a:r>
            <a:r>
              <a:rPr spc="-165" dirty="0"/>
              <a:t> </a:t>
            </a:r>
            <a:r>
              <a:rPr spc="-220" dirty="0"/>
              <a:t>socket</a:t>
            </a:r>
            <a:endParaRPr sz="4600"/>
          </a:p>
        </p:txBody>
      </p:sp>
      <p:sp>
        <p:nvSpPr>
          <p:cNvPr id="4" name="object 4"/>
          <p:cNvSpPr txBox="1"/>
          <p:nvPr/>
        </p:nvSpPr>
        <p:spPr>
          <a:xfrm>
            <a:off x="508139" y="4141004"/>
            <a:ext cx="3364229" cy="185038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85750" algn="ctr">
              <a:lnSpc>
                <a:spcPct val="100000"/>
              </a:lnSpc>
              <a:spcBef>
                <a:spcPts val="470"/>
              </a:spcBef>
            </a:pPr>
            <a:r>
              <a:rPr sz="2200" b="1" dirty="0">
                <a:solidFill>
                  <a:srgbClr val="006533"/>
                </a:solidFill>
                <a:latin typeface="Arial"/>
                <a:cs typeface="Arial"/>
              </a:rPr>
              <a:t>Client</a:t>
            </a:r>
            <a:endParaRPr sz="2200">
              <a:latin typeface="Arial"/>
              <a:cs typeface="Arial"/>
            </a:endParaRPr>
          </a:p>
          <a:p>
            <a:pPr marL="545465" indent="-532765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UDP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5465" indent="-532765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b="1" spc="-10" dirty="0">
                <a:solidFill>
                  <a:srgbClr val="CA6800"/>
                </a:solidFill>
                <a:latin typeface="Arial"/>
                <a:cs typeface="Arial"/>
              </a:rPr>
              <a:t>Assign </a:t>
            </a:r>
            <a:r>
              <a:rPr sz="2000" b="1" spc="-5" dirty="0">
                <a:solidFill>
                  <a:srgbClr val="CA6800"/>
                </a:solidFill>
                <a:latin typeface="Arial"/>
                <a:cs typeface="Arial"/>
              </a:rPr>
              <a:t>a port to</a:t>
            </a:r>
            <a:r>
              <a:rPr sz="2000" b="1" spc="-20" dirty="0">
                <a:solidFill>
                  <a:srgbClr val="CA68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CA6800"/>
                </a:solidFill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5465" indent="-532765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545465" indent="-532765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Close the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32527" y="5764276"/>
            <a:ext cx="8953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" dirty="0">
                <a:solidFill>
                  <a:srgbClr val="3B822F"/>
                </a:solidFill>
                <a:latin typeface="Wingdings"/>
                <a:cs typeface="Wingdings"/>
              </a:rPr>
              <a:t></a:t>
            </a:r>
            <a:endParaRPr sz="11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75327" y="4141004"/>
            <a:ext cx="3364229" cy="183388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380490">
              <a:lnSpc>
                <a:spcPct val="100000"/>
              </a:lnSpc>
              <a:spcBef>
                <a:spcPts val="470"/>
              </a:spcBef>
            </a:pPr>
            <a:r>
              <a:rPr sz="2200" b="1" spc="-5" dirty="0">
                <a:solidFill>
                  <a:srgbClr val="006533"/>
                </a:solidFill>
                <a:latin typeface="Arial"/>
                <a:cs typeface="Arial"/>
              </a:rPr>
              <a:t>Server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UDP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62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b="1" spc="-10" dirty="0">
                <a:solidFill>
                  <a:srgbClr val="A50021"/>
                </a:solidFill>
                <a:latin typeface="Arial"/>
                <a:cs typeface="Arial"/>
              </a:rPr>
              <a:t>Assign </a:t>
            </a:r>
            <a:r>
              <a:rPr sz="2000" b="1" spc="-5" dirty="0">
                <a:solidFill>
                  <a:srgbClr val="A50021"/>
                </a:solidFill>
                <a:latin typeface="Arial"/>
                <a:cs typeface="Arial"/>
              </a:rPr>
              <a:t>a port to</a:t>
            </a:r>
            <a:r>
              <a:rPr sz="2000" b="1" spc="-20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50021"/>
                </a:solidFill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Repeatedly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39"/>
              </a:spcBef>
            </a:pPr>
            <a:r>
              <a:rPr sz="1800" spc="-10" dirty="0">
                <a:latin typeface="Arial"/>
                <a:cs typeface="Arial"/>
              </a:rPr>
              <a:t>Communicate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3387" y="1063244"/>
            <a:ext cx="8660130" cy="1461135"/>
          </a:xfrm>
          <a:prstGeom prst="rect">
            <a:avLst/>
          </a:prstGeom>
          <a:ln w="22225">
            <a:solidFill>
              <a:srgbClr val="996600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127635" marR="1125855" algn="just">
              <a:lnSpc>
                <a:spcPct val="100000"/>
              </a:lnSpc>
              <a:spcBef>
                <a:spcPts val="860"/>
              </a:spcBef>
              <a:tabLst>
                <a:tab pos="5445760" algn="l"/>
              </a:tabLst>
            </a:pPr>
            <a:r>
              <a:rPr sz="1400" b="1" spc="-10" dirty="0">
                <a:solidFill>
                  <a:srgbClr val="AFBF39"/>
                </a:solidFill>
                <a:latin typeface="Courier New"/>
                <a:cs typeface="Courier New"/>
              </a:rPr>
              <a:t>echoServAddr</a:t>
            </a:r>
            <a:r>
              <a:rPr sz="1400" b="1" spc="-10" dirty="0">
                <a:latin typeface="Courier New"/>
                <a:cs typeface="Courier New"/>
              </a:rPr>
              <a:t>.sin_family</a:t>
            </a:r>
            <a:r>
              <a:rPr sz="1400" b="1" spc="25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=</a:t>
            </a:r>
            <a:r>
              <a:rPr sz="1400" b="1" spc="40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AF_INET;	</a:t>
            </a:r>
            <a:r>
              <a:rPr sz="1400" spc="-35" dirty="0">
                <a:latin typeface="Arial"/>
                <a:cs typeface="Arial"/>
              </a:rPr>
              <a:t>/* </a:t>
            </a:r>
            <a:r>
              <a:rPr sz="1400" spc="5" dirty="0">
                <a:latin typeface="Arial"/>
                <a:cs typeface="Arial"/>
              </a:rPr>
              <a:t>Internet </a:t>
            </a:r>
            <a:r>
              <a:rPr sz="1400" spc="-105" dirty="0">
                <a:latin typeface="Arial"/>
                <a:cs typeface="Arial"/>
              </a:rPr>
              <a:t>address </a:t>
            </a:r>
            <a:r>
              <a:rPr sz="1400" spc="10" dirty="0">
                <a:latin typeface="Arial"/>
                <a:cs typeface="Arial"/>
              </a:rPr>
              <a:t>family </a:t>
            </a:r>
            <a:r>
              <a:rPr sz="1400" spc="-35" dirty="0">
                <a:latin typeface="Arial"/>
                <a:cs typeface="Arial"/>
              </a:rPr>
              <a:t>*/  </a:t>
            </a:r>
            <a:r>
              <a:rPr sz="1400" b="1" spc="-10" dirty="0">
                <a:solidFill>
                  <a:srgbClr val="AFBF39"/>
                </a:solidFill>
                <a:latin typeface="Courier New"/>
                <a:cs typeface="Courier New"/>
              </a:rPr>
              <a:t>echoServAddr</a:t>
            </a:r>
            <a:r>
              <a:rPr sz="1400" b="1" spc="-10" dirty="0">
                <a:latin typeface="Courier New"/>
                <a:cs typeface="Courier New"/>
              </a:rPr>
              <a:t>.sin_addr.s_addr </a:t>
            </a:r>
            <a:r>
              <a:rPr sz="1400" b="1" spc="-5" dirty="0">
                <a:latin typeface="Courier New"/>
                <a:cs typeface="Courier New"/>
              </a:rPr>
              <a:t>= </a:t>
            </a:r>
            <a:r>
              <a:rPr sz="1400" b="1" spc="-15" dirty="0">
                <a:latin typeface="Courier New"/>
                <a:cs typeface="Courier New"/>
              </a:rPr>
              <a:t>htonl(INADDR_ANY</a:t>
            </a:r>
            <a:r>
              <a:rPr sz="1400" b="1" spc="-15" dirty="0">
                <a:latin typeface="Arial"/>
                <a:cs typeface="Arial"/>
              </a:rPr>
              <a:t>); </a:t>
            </a:r>
            <a:r>
              <a:rPr sz="1400" spc="-35" dirty="0">
                <a:latin typeface="Arial"/>
                <a:cs typeface="Arial"/>
              </a:rPr>
              <a:t>/* </a:t>
            </a:r>
            <a:r>
              <a:rPr sz="1400" spc="30" dirty="0">
                <a:latin typeface="Arial"/>
                <a:cs typeface="Arial"/>
              </a:rPr>
              <a:t>Any </a:t>
            </a:r>
            <a:r>
              <a:rPr sz="1400" spc="-10" dirty="0">
                <a:latin typeface="Arial"/>
                <a:cs typeface="Arial"/>
              </a:rPr>
              <a:t>incoming </a:t>
            </a:r>
            <a:r>
              <a:rPr sz="1400" spc="-25" dirty="0">
                <a:latin typeface="Arial"/>
                <a:cs typeface="Arial"/>
              </a:rPr>
              <a:t>interface </a:t>
            </a:r>
            <a:r>
              <a:rPr sz="1400" spc="-35" dirty="0">
                <a:latin typeface="Arial"/>
                <a:cs typeface="Arial"/>
              </a:rPr>
              <a:t>*/  </a:t>
            </a:r>
            <a:r>
              <a:rPr sz="1400" b="1" spc="-10" dirty="0">
                <a:solidFill>
                  <a:srgbClr val="AFBF39"/>
                </a:solidFill>
                <a:latin typeface="Courier New"/>
                <a:cs typeface="Courier New"/>
              </a:rPr>
              <a:t>echoServAddr</a:t>
            </a:r>
            <a:r>
              <a:rPr sz="1400" b="1" spc="-10" dirty="0">
                <a:latin typeface="Courier New"/>
                <a:cs typeface="Courier New"/>
              </a:rPr>
              <a:t>.sin_port </a:t>
            </a:r>
            <a:r>
              <a:rPr sz="1400" b="1" spc="-5" dirty="0">
                <a:latin typeface="Courier New"/>
                <a:cs typeface="Courier New"/>
              </a:rPr>
              <a:t>= </a:t>
            </a:r>
            <a:r>
              <a:rPr sz="1400" b="1" spc="-10" dirty="0">
                <a:latin typeface="Courier New"/>
                <a:cs typeface="Courier New"/>
              </a:rPr>
              <a:t>htons(echoServPort); </a:t>
            </a:r>
            <a:r>
              <a:rPr sz="1400" spc="-35" dirty="0">
                <a:latin typeface="Arial"/>
                <a:cs typeface="Arial"/>
              </a:rPr>
              <a:t>/* </a:t>
            </a:r>
            <a:r>
              <a:rPr sz="1400" spc="-45" dirty="0">
                <a:latin typeface="Arial"/>
                <a:cs typeface="Arial"/>
              </a:rPr>
              <a:t>Local </a:t>
            </a:r>
            <a:r>
              <a:rPr sz="1400" spc="5" dirty="0">
                <a:latin typeface="Arial"/>
                <a:cs typeface="Arial"/>
              </a:rPr>
              <a:t>port</a:t>
            </a:r>
            <a:r>
              <a:rPr sz="1400" spc="45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*/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Times New Roman"/>
              <a:cs typeface="Times New Roman"/>
            </a:endParaRPr>
          </a:p>
          <a:p>
            <a:pPr marL="553085" marR="15875" indent="-425450">
              <a:lnSpc>
                <a:spcPct val="100000"/>
              </a:lnSpc>
            </a:pPr>
            <a:r>
              <a:rPr sz="1400" b="1" spc="-5" dirty="0">
                <a:latin typeface="Courier New"/>
                <a:cs typeface="Courier New"/>
              </a:rPr>
              <a:t>if </a:t>
            </a:r>
            <a:r>
              <a:rPr sz="1400" b="1" spc="-10" dirty="0">
                <a:latin typeface="Courier New"/>
                <a:cs typeface="Courier New"/>
              </a:rPr>
              <a:t>(</a:t>
            </a:r>
            <a:r>
              <a:rPr sz="1400" b="1" spc="-10" dirty="0">
                <a:solidFill>
                  <a:srgbClr val="006533"/>
                </a:solidFill>
                <a:latin typeface="Courier New"/>
                <a:cs typeface="Courier New"/>
              </a:rPr>
              <a:t>bind</a:t>
            </a:r>
            <a:r>
              <a:rPr sz="1400" b="1" spc="-10" dirty="0">
                <a:latin typeface="Courier New"/>
                <a:cs typeface="Courier New"/>
              </a:rPr>
              <a:t>(</a:t>
            </a:r>
            <a:r>
              <a:rPr sz="1400" b="1" spc="-10" dirty="0">
                <a:solidFill>
                  <a:srgbClr val="9A6500"/>
                </a:solidFill>
                <a:latin typeface="Courier New"/>
                <a:cs typeface="Courier New"/>
              </a:rPr>
              <a:t>servSock</a:t>
            </a:r>
            <a:r>
              <a:rPr sz="1400" b="1" spc="-10" dirty="0">
                <a:latin typeface="Courier New"/>
                <a:cs typeface="Courier New"/>
              </a:rPr>
              <a:t>, (struct sockaddr </a:t>
            </a:r>
            <a:r>
              <a:rPr sz="1400" b="1" spc="-5" dirty="0">
                <a:latin typeface="Courier New"/>
                <a:cs typeface="Courier New"/>
              </a:rPr>
              <a:t>*) </a:t>
            </a:r>
            <a:r>
              <a:rPr sz="1400" b="1" spc="-10" dirty="0">
                <a:latin typeface="Courier New"/>
                <a:cs typeface="Courier New"/>
              </a:rPr>
              <a:t>&amp;</a:t>
            </a:r>
            <a:r>
              <a:rPr sz="1400" b="1" spc="-10" dirty="0">
                <a:solidFill>
                  <a:srgbClr val="AFBF39"/>
                </a:solidFill>
                <a:latin typeface="Courier New"/>
                <a:cs typeface="Courier New"/>
              </a:rPr>
              <a:t>echoServAddr</a:t>
            </a:r>
            <a:r>
              <a:rPr sz="1400" b="1" spc="-10" dirty="0">
                <a:latin typeface="Courier New"/>
                <a:cs typeface="Courier New"/>
              </a:rPr>
              <a:t>, sizeof(</a:t>
            </a:r>
            <a:r>
              <a:rPr sz="1400" b="1" spc="-10" dirty="0">
                <a:solidFill>
                  <a:srgbClr val="AFBF39"/>
                </a:solidFill>
                <a:latin typeface="Courier New"/>
                <a:cs typeface="Courier New"/>
              </a:rPr>
              <a:t>echoServAddr</a:t>
            </a:r>
            <a:r>
              <a:rPr sz="1400" b="1" spc="-10" dirty="0">
                <a:latin typeface="Courier New"/>
                <a:cs typeface="Courier New"/>
              </a:rPr>
              <a:t>)) </a:t>
            </a:r>
            <a:r>
              <a:rPr sz="1400" b="1" spc="-5" dirty="0">
                <a:latin typeface="Courier New"/>
                <a:cs typeface="Courier New"/>
              </a:rPr>
              <a:t>&lt; </a:t>
            </a:r>
            <a:r>
              <a:rPr sz="1400" b="1" spc="-10" dirty="0">
                <a:latin typeface="Courier New"/>
                <a:cs typeface="Courier New"/>
              </a:rPr>
              <a:t>0)  DieWithError("bind()</a:t>
            </a:r>
            <a:r>
              <a:rPr sz="1400" b="1" spc="-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failed");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387" y="2607817"/>
            <a:ext cx="8660130" cy="1490980"/>
          </a:xfrm>
          <a:prstGeom prst="rect">
            <a:avLst/>
          </a:prstGeom>
          <a:ln w="22225">
            <a:solidFill>
              <a:srgbClr val="996600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127635" marR="912494" algn="just">
              <a:lnSpc>
                <a:spcPct val="100000"/>
              </a:lnSpc>
              <a:spcBef>
                <a:spcPts val="860"/>
              </a:spcBef>
              <a:tabLst>
                <a:tab pos="5657215" algn="l"/>
              </a:tabLst>
            </a:pPr>
            <a:r>
              <a:rPr sz="1400" b="1" spc="-10" dirty="0">
                <a:solidFill>
                  <a:srgbClr val="AFBF39"/>
                </a:solidFill>
                <a:latin typeface="Courier New"/>
                <a:cs typeface="Courier New"/>
              </a:rPr>
              <a:t>echoClientAddr</a:t>
            </a:r>
            <a:r>
              <a:rPr sz="1400" b="1" spc="-10" dirty="0">
                <a:latin typeface="Courier New"/>
                <a:cs typeface="Courier New"/>
              </a:rPr>
              <a:t>.sin_family</a:t>
            </a:r>
            <a:r>
              <a:rPr sz="1400" b="1" spc="45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=</a:t>
            </a:r>
            <a:r>
              <a:rPr sz="1400" b="1" spc="40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AF_INET;	</a:t>
            </a:r>
            <a:r>
              <a:rPr sz="1400" spc="-35" dirty="0">
                <a:latin typeface="Arial"/>
                <a:cs typeface="Arial"/>
              </a:rPr>
              <a:t>/* </a:t>
            </a:r>
            <a:r>
              <a:rPr sz="1400" spc="5" dirty="0">
                <a:latin typeface="Arial"/>
                <a:cs typeface="Arial"/>
              </a:rPr>
              <a:t>Internet </a:t>
            </a:r>
            <a:r>
              <a:rPr sz="1400" spc="-105" dirty="0">
                <a:latin typeface="Arial"/>
                <a:cs typeface="Arial"/>
              </a:rPr>
              <a:t>address </a:t>
            </a:r>
            <a:r>
              <a:rPr sz="1400" spc="10" dirty="0">
                <a:latin typeface="Arial"/>
                <a:cs typeface="Arial"/>
              </a:rPr>
              <a:t>family </a:t>
            </a:r>
            <a:r>
              <a:rPr sz="1400" spc="-30" dirty="0">
                <a:latin typeface="Arial"/>
                <a:cs typeface="Arial"/>
              </a:rPr>
              <a:t>*/  </a:t>
            </a:r>
            <a:r>
              <a:rPr sz="1400" b="1" spc="-10" dirty="0">
                <a:solidFill>
                  <a:srgbClr val="AFBF39"/>
                </a:solidFill>
                <a:latin typeface="Courier New"/>
                <a:cs typeface="Courier New"/>
              </a:rPr>
              <a:t>echoClientAddr</a:t>
            </a:r>
            <a:r>
              <a:rPr sz="1400" b="1" spc="-10" dirty="0">
                <a:latin typeface="Courier New"/>
                <a:cs typeface="Courier New"/>
              </a:rPr>
              <a:t>.sin_addr.s_addr </a:t>
            </a:r>
            <a:r>
              <a:rPr sz="1400" b="1" spc="-5" dirty="0">
                <a:latin typeface="Courier New"/>
                <a:cs typeface="Courier New"/>
              </a:rPr>
              <a:t>= </a:t>
            </a:r>
            <a:r>
              <a:rPr sz="1400" b="1" spc="-15" dirty="0">
                <a:latin typeface="Courier New"/>
                <a:cs typeface="Courier New"/>
              </a:rPr>
              <a:t>htonl(INADDR_ANY</a:t>
            </a:r>
            <a:r>
              <a:rPr sz="1400" b="1" spc="-15" dirty="0">
                <a:latin typeface="Arial"/>
                <a:cs typeface="Arial"/>
              </a:rPr>
              <a:t>); </a:t>
            </a:r>
            <a:r>
              <a:rPr sz="1400" spc="-35" dirty="0">
                <a:latin typeface="Arial"/>
                <a:cs typeface="Arial"/>
              </a:rPr>
              <a:t>/* </a:t>
            </a:r>
            <a:r>
              <a:rPr sz="1400" spc="30" dirty="0">
                <a:latin typeface="Arial"/>
                <a:cs typeface="Arial"/>
              </a:rPr>
              <a:t>Any </a:t>
            </a:r>
            <a:r>
              <a:rPr sz="1400" spc="-10" dirty="0">
                <a:latin typeface="Arial"/>
                <a:cs typeface="Arial"/>
              </a:rPr>
              <a:t>incoming </a:t>
            </a:r>
            <a:r>
              <a:rPr sz="1400" spc="-25" dirty="0">
                <a:latin typeface="Arial"/>
                <a:cs typeface="Arial"/>
              </a:rPr>
              <a:t>interface </a:t>
            </a:r>
            <a:r>
              <a:rPr sz="1400" spc="-35" dirty="0">
                <a:latin typeface="Arial"/>
                <a:cs typeface="Arial"/>
              </a:rPr>
              <a:t>*/  </a:t>
            </a:r>
            <a:r>
              <a:rPr sz="1400" b="1" spc="-10" dirty="0">
                <a:solidFill>
                  <a:srgbClr val="AFBF39"/>
                </a:solidFill>
                <a:latin typeface="Courier New"/>
                <a:cs typeface="Courier New"/>
              </a:rPr>
              <a:t>echoClientAddr</a:t>
            </a:r>
            <a:r>
              <a:rPr sz="1400" b="1" spc="-10" dirty="0">
                <a:latin typeface="Courier New"/>
                <a:cs typeface="Courier New"/>
              </a:rPr>
              <a:t>.sin_port </a:t>
            </a:r>
            <a:r>
              <a:rPr sz="1400" b="1" spc="-5" dirty="0">
                <a:latin typeface="Courier New"/>
                <a:cs typeface="Courier New"/>
              </a:rPr>
              <a:t>= </a:t>
            </a:r>
            <a:r>
              <a:rPr sz="1400" b="1" spc="-10" dirty="0">
                <a:latin typeface="Courier New"/>
                <a:cs typeface="Courier New"/>
              </a:rPr>
              <a:t>htons(echoClientPort); </a:t>
            </a:r>
            <a:r>
              <a:rPr sz="1400" spc="-35" dirty="0">
                <a:latin typeface="Arial"/>
                <a:cs typeface="Arial"/>
              </a:rPr>
              <a:t>/* </a:t>
            </a:r>
            <a:r>
              <a:rPr sz="1400" spc="-45" dirty="0">
                <a:latin typeface="Arial"/>
                <a:cs typeface="Arial"/>
              </a:rPr>
              <a:t>Local </a:t>
            </a:r>
            <a:r>
              <a:rPr sz="1400" dirty="0">
                <a:latin typeface="Arial"/>
                <a:cs typeface="Arial"/>
              </a:rPr>
              <a:t>port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*/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Times New Roman"/>
              <a:cs typeface="Times New Roman"/>
            </a:endParaRPr>
          </a:p>
          <a:p>
            <a:pPr marL="552450" marR="16510" indent="-425450">
              <a:lnSpc>
                <a:spcPct val="100000"/>
              </a:lnSpc>
            </a:pPr>
            <a:r>
              <a:rPr sz="1400" b="1" spc="-10" dirty="0">
                <a:latin typeface="Courier New"/>
                <a:cs typeface="Courier New"/>
              </a:rPr>
              <a:t>if(</a:t>
            </a:r>
            <a:r>
              <a:rPr sz="1400" b="1" spc="-10" dirty="0">
                <a:solidFill>
                  <a:srgbClr val="3B822F"/>
                </a:solidFill>
                <a:latin typeface="Courier New"/>
                <a:cs typeface="Courier New"/>
              </a:rPr>
              <a:t>bind</a:t>
            </a:r>
            <a:r>
              <a:rPr sz="1400" b="1" spc="-10" dirty="0">
                <a:latin typeface="Courier New"/>
                <a:cs typeface="Courier New"/>
              </a:rPr>
              <a:t>(</a:t>
            </a:r>
            <a:r>
              <a:rPr sz="1400" b="1" spc="-10" dirty="0">
                <a:solidFill>
                  <a:srgbClr val="CC9A00"/>
                </a:solidFill>
                <a:latin typeface="Courier New"/>
                <a:cs typeface="Courier New"/>
              </a:rPr>
              <a:t>clientSock</a:t>
            </a:r>
            <a:r>
              <a:rPr sz="1400" b="1" spc="-10" dirty="0">
                <a:latin typeface="Courier New"/>
                <a:cs typeface="Courier New"/>
              </a:rPr>
              <a:t>,(struct sockaddr *)&amp;</a:t>
            </a:r>
            <a:r>
              <a:rPr sz="1400" b="1" spc="-10" dirty="0">
                <a:solidFill>
                  <a:srgbClr val="AFBF39"/>
                </a:solidFill>
                <a:latin typeface="Courier New"/>
                <a:cs typeface="Courier New"/>
              </a:rPr>
              <a:t>echoClientAddr</a:t>
            </a:r>
            <a:r>
              <a:rPr sz="1400" b="1" spc="-10" dirty="0">
                <a:latin typeface="Courier New"/>
                <a:cs typeface="Courier New"/>
              </a:rPr>
              <a:t>,sizeof(</a:t>
            </a:r>
            <a:r>
              <a:rPr sz="1400" b="1" spc="-10" dirty="0">
                <a:solidFill>
                  <a:srgbClr val="AFBF39"/>
                </a:solidFill>
                <a:latin typeface="Courier New"/>
                <a:cs typeface="Courier New"/>
              </a:rPr>
              <a:t>echoClientAddr</a:t>
            </a:r>
            <a:r>
              <a:rPr sz="1400" b="1" spc="-10" dirty="0">
                <a:latin typeface="Courier New"/>
                <a:cs typeface="Courier New"/>
              </a:rPr>
              <a:t>))&lt;0)  DieWithError("connect()</a:t>
            </a:r>
            <a:r>
              <a:rPr sz="1400" b="1" spc="-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failed");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1573" y="256540"/>
            <a:ext cx="8018145" cy="72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290" dirty="0"/>
              <a:t>Example </a:t>
            </a:r>
            <a:r>
              <a:rPr spc="-250" dirty="0"/>
              <a:t>- </a:t>
            </a:r>
            <a:r>
              <a:rPr spc="-140" dirty="0"/>
              <a:t>Echo </a:t>
            </a:r>
            <a:r>
              <a:rPr spc="-290" dirty="0"/>
              <a:t>using </a:t>
            </a:r>
            <a:r>
              <a:rPr spc="-340" dirty="0"/>
              <a:t>datagram</a:t>
            </a:r>
            <a:r>
              <a:rPr spc="-165" dirty="0"/>
              <a:t> </a:t>
            </a:r>
            <a:r>
              <a:rPr spc="-220" dirty="0"/>
              <a:t>socket</a:t>
            </a:r>
            <a:endParaRPr sz="4600"/>
          </a:p>
        </p:txBody>
      </p:sp>
      <p:sp>
        <p:nvSpPr>
          <p:cNvPr id="4" name="object 4"/>
          <p:cNvSpPr txBox="1"/>
          <p:nvPr/>
        </p:nvSpPr>
        <p:spPr>
          <a:xfrm>
            <a:off x="508139" y="3750783"/>
            <a:ext cx="3124200" cy="185166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435735">
              <a:lnSpc>
                <a:spcPct val="100000"/>
              </a:lnSpc>
              <a:spcBef>
                <a:spcPts val="475"/>
              </a:spcBef>
            </a:pPr>
            <a:r>
              <a:rPr sz="2200" b="1" dirty="0">
                <a:solidFill>
                  <a:srgbClr val="006533"/>
                </a:solidFill>
                <a:latin typeface="Arial"/>
                <a:cs typeface="Arial"/>
              </a:rPr>
              <a:t>Client</a:t>
            </a:r>
            <a:endParaRPr sz="2200">
              <a:latin typeface="Arial"/>
              <a:cs typeface="Arial"/>
            </a:endParaRPr>
          </a:p>
          <a:p>
            <a:pPr marL="545465" indent="-532765">
              <a:lnSpc>
                <a:spcPct val="100000"/>
              </a:lnSpc>
              <a:spcBef>
                <a:spcPts val="34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UDP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5465" indent="-532765">
              <a:lnSpc>
                <a:spcPct val="100000"/>
              </a:lnSpc>
              <a:spcBef>
                <a:spcPts val="47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Assign </a:t>
            </a:r>
            <a:r>
              <a:rPr sz="2000" spc="-5" dirty="0">
                <a:latin typeface="Arial"/>
                <a:cs typeface="Arial"/>
              </a:rPr>
              <a:t>a port to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5465" indent="-532765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b="1" spc="-5" dirty="0">
                <a:solidFill>
                  <a:srgbClr val="CA6800"/>
                </a:solidFill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545465" indent="-532765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Close 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32527" y="5374894"/>
            <a:ext cx="8953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" dirty="0">
                <a:solidFill>
                  <a:srgbClr val="3B822F"/>
                </a:solidFill>
                <a:latin typeface="Wingdings"/>
                <a:cs typeface="Wingdings"/>
              </a:rPr>
              <a:t></a:t>
            </a:r>
            <a:endParaRPr sz="11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75327" y="3750783"/>
            <a:ext cx="3364229" cy="183515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380490">
              <a:lnSpc>
                <a:spcPct val="100000"/>
              </a:lnSpc>
              <a:spcBef>
                <a:spcPts val="475"/>
              </a:spcBef>
            </a:pPr>
            <a:r>
              <a:rPr sz="2200" b="1" spc="-5" dirty="0">
                <a:solidFill>
                  <a:srgbClr val="006533"/>
                </a:solidFill>
                <a:latin typeface="Arial"/>
                <a:cs typeface="Arial"/>
              </a:rPr>
              <a:t>Server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4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UDP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62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b="1" spc="-10" dirty="0">
                <a:solidFill>
                  <a:srgbClr val="A50021"/>
                </a:solidFill>
                <a:latin typeface="Arial"/>
                <a:cs typeface="Arial"/>
              </a:rPr>
              <a:t>Assign </a:t>
            </a:r>
            <a:r>
              <a:rPr sz="2000" b="1" spc="-5" dirty="0">
                <a:solidFill>
                  <a:srgbClr val="A50021"/>
                </a:solidFill>
                <a:latin typeface="Arial"/>
                <a:cs typeface="Arial"/>
              </a:rPr>
              <a:t>a port to</a:t>
            </a:r>
            <a:r>
              <a:rPr sz="2000" b="1" spc="-20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A50021"/>
                </a:solidFill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Repeatedly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34"/>
              </a:spcBef>
            </a:pPr>
            <a:r>
              <a:rPr sz="1800" spc="-10" dirty="0">
                <a:latin typeface="Arial"/>
                <a:cs typeface="Arial"/>
              </a:rPr>
              <a:t>Communicate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0808" y="1309624"/>
            <a:ext cx="5553075" cy="663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AFBF39"/>
                </a:solidFill>
                <a:latin typeface="Courier New"/>
                <a:cs typeface="Courier New"/>
              </a:rPr>
              <a:t>echoServAddr</a:t>
            </a:r>
            <a:r>
              <a:rPr sz="1400" b="1" spc="-10" dirty="0">
                <a:latin typeface="Courier New"/>
                <a:cs typeface="Courier New"/>
              </a:rPr>
              <a:t>.sin_family </a:t>
            </a:r>
            <a:r>
              <a:rPr sz="1400" b="1" spc="-5" dirty="0">
                <a:latin typeface="Courier New"/>
                <a:cs typeface="Courier New"/>
              </a:rPr>
              <a:t>= </a:t>
            </a:r>
            <a:r>
              <a:rPr sz="1400" b="1" spc="-10" dirty="0">
                <a:latin typeface="Courier New"/>
                <a:cs typeface="Courier New"/>
              </a:rPr>
              <a:t>AF_INET;  </a:t>
            </a:r>
            <a:r>
              <a:rPr sz="1400" b="1" spc="-10" dirty="0">
                <a:solidFill>
                  <a:srgbClr val="AFBF39"/>
                </a:solidFill>
                <a:latin typeface="Courier New"/>
                <a:cs typeface="Courier New"/>
              </a:rPr>
              <a:t>echoServAddr</a:t>
            </a:r>
            <a:r>
              <a:rPr sz="1400" b="1" spc="-10" dirty="0">
                <a:latin typeface="Courier New"/>
                <a:cs typeface="Courier New"/>
              </a:rPr>
              <a:t>.sin_addr.s_addr </a:t>
            </a:r>
            <a:r>
              <a:rPr sz="1400" b="1" spc="-5" dirty="0">
                <a:latin typeface="Courier New"/>
                <a:cs typeface="Courier New"/>
              </a:rPr>
              <a:t>= </a:t>
            </a:r>
            <a:r>
              <a:rPr sz="1400" b="1" spc="-15" dirty="0">
                <a:latin typeface="Courier New"/>
                <a:cs typeface="Courier New"/>
              </a:rPr>
              <a:t>inet_addr(echoservIP</a:t>
            </a:r>
            <a:r>
              <a:rPr sz="1400" b="1" spc="-15" dirty="0">
                <a:latin typeface="Arial"/>
                <a:cs typeface="Arial"/>
              </a:rPr>
              <a:t>);  </a:t>
            </a:r>
            <a:r>
              <a:rPr sz="1400" b="1" spc="-10" dirty="0">
                <a:solidFill>
                  <a:srgbClr val="AFBF39"/>
                </a:solidFill>
                <a:latin typeface="Courier New"/>
                <a:cs typeface="Courier New"/>
              </a:rPr>
              <a:t>echoServAddr</a:t>
            </a:r>
            <a:r>
              <a:rPr sz="1400" b="1" spc="-10" dirty="0">
                <a:latin typeface="Courier New"/>
                <a:cs typeface="Courier New"/>
              </a:rPr>
              <a:t>.sin_port </a:t>
            </a:r>
            <a:r>
              <a:rPr sz="1400" b="1" spc="-5" dirty="0">
                <a:latin typeface="Courier New"/>
                <a:cs typeface="Courier New"/>
              </a:rPr>
              <a:t>=</a:t>
            </a:r>
            <a:r>
              <a:rPr sz="1400" b="1" spc="1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htons(echoServPort);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36959" y="1309624"/>
            <a:ext cx="2093595" cy="663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165">
              <a:lnSpc>
                <a:spcPts val="1675"/>
              </a:lnSpc>
              <a:spcBef>
                <a:spcPts val="95"/>
              </a:spcBef>
            </a:pPr>
            <a:r>
              <a:rPr sz="1400" spc="-35" dirty="0">
                <a:latin typeface="Arial"/>
                <a:cs typeface="Arial"/>
              </a:rPr>
              <a:t>/* </a:t>
            </a:r>
            <a:r>
              <a:rPr sz="1400" dirty="0">
                <a:latin typeface="Arial"/>
                <a:cs typeface="Arial"/>
              </a:rPr>
              <a:t>Internet </a:t>
            </a:r>
            <a:r>
              <a:rPr sz="1400" spc="-105" dirty="0">
                <a:latin typeface="Arial"/>
                <a:cs typeface="Arial"/>
              </a:rPr>
              <a:t>address </a:t>
            </a:r>
            <a:r>
              <a:rPr sz="1400" spc="10" dirty="0">
                <a:latin typeface="Arial"/>
                <a:cs typeface="Arial"/>
              </a:rPr>
              <a:t>family</a:t>
            </a:r>
            <a:r>
              <a:rPr sz="1400" spc="-30" dirty="0">
                <a:latin typeface="Arial"/>
                <a:cs typeface="Arial"/>
              </a:rPr>
              <a:t> */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75"/>
              </a:lnSpc>
            </a:pPr>
            <a:r>
              <a:rPr sz="1400" spc="-35" dirty="0">
                <a:latin typeface="Arial"/>
                <a:cs typeface="Arial"/>
              </a:rPr>
              <a:t>/* </a:t>
            </a:r>
            <a:r>
              <a:rPr sz="1400" spc="-65" dirty="0">
                <a:latin typeface="Arial"/>
                <a:cs typeface="Arial"/>
              </a:rPr>
              <a:t>Server </a:t>
            </a:r>
            <a:r>
              <a:rPr sz="1400" spc="-5" dirty="0">
                <a:latin typeface="Arial"/>
                <a:cs typeface="Arial"/>
              </a:rPr>
              <a:t>IP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90" dirty="0">
                <a:latin typeface="Arial"/>
                <a:cs typeface="Arial"/>
              </a:rPr>
              <a:t>address*/</a:t>
            </a:r>
            <a:endParaRPr sz="1400">
              <a:latin typeface="Arial"/>
              <a:cs typeface="Arial"/>
            </a:endParaRPr>
          </a:p>
          <a:p>
            <a:pPr marL="50800">
              <a:lnSpc>
                <a:spcPts val="1675"/>
              </a:lnSpc>
            </a:pPr>
            <a:r>
              <a:rPr sz="1400" spc="-35" dirty="0">
                <a:latin typeface="Arial"/>
                <a:cs typeface="Arial"/>
              </a:rPr>
              <a:t>/* </a:t>
            </a:r>
            <a:r>
              <a:rPr sz="1400" spc="-70" dirty="0">
                <a:latin typeface="Arial"/>
                <a:cs typeface="Arial"/>
              </a:rPr>
              <a:t>Server </a:t>
            </a:r>
            <a:r>
              <a:rPr sz="1400" dirty="0">
                <a:latin typeface="Arial"/>
                <a:cs typeface="Arial"/>
              </a:rPr>
              <a:t>port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*/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1164" y="2159891"/>
            <a:ext cx="8003540" cy="1511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53840" algn="l"/>
              </a:tabLst>
            </a:pPr>
            <a:r>
              <a:rPr sz="1400" b="1" spc="-10" dirty="0">
                <a:latin typeface="Courier New"/>
                <a:cs typeface="Courier New"/>
              </a:rPr>
              <a:t>echoStringLen</a:t>
            </a:r>
            <a:r>
              <a:rPr sz="1400" b="1" spc="30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=</a:t>
            </a:r>
            <a:r>
              <a:rPr sz="1400" b="1" spc="3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strlen(echoString);	</a:t>
            </a:r>
            <a:r>
              <a:rPr sz="1400" spc="-35" dirty="0">
                <a:latin typeface="Arial"/>
                <a:cs typeface="Arial"/>
              </a:rPr>
              <a:t>/* </a:t>
            </a:r>
            <a:r>
              <a:rPr sz="1400" spc="-30" dirty="0">
                <a:latin typeface="Arial"/>
                <a:cs typeface="Arial"/>
              </a:rPr>
              <a:t>Determine </a:t>
            </a:r>
            <a:r>
              <a:rPr sz="1400" spc="15" dirty="0">
                <a:latin typeface="Arial"/>
                <a:cs typeface="Arial"/>
              </a:rPr>
              <a:t>input </a:t>
            </a:r>
            <a:r>
              <a:rPr sz="1400" spc="-15" dirty="0">
                <a:latin typeface="Arial"/>
                <a:cs typeface="Arial"/>
              </a:rPr>
              <a:t>length</a:t>
            </a:r>
            <a:r>
              <a:rPr sz="1400" spc="-135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*/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ts val="1664"/>
              </a:lnSpc>
              <a:spcBef>
                <a:spcPts val="5"/>
              </a:spcBef>
            </a:pPr>
            <a:r>
              <a:rPr sz="1400" spc="-35" dirty="0">
                <a:latin typeface="Arial"/>
                <a:cs typeface="Arial"/>
              </a:rPr>
              <a:t>/* </a:t>
            </a:r>
            <a:r>
              <a:rPr sz="1400" spc="-110" dirty="0">
                <a:latin typeface="Arial"/>
                <a:cs typeface="Arial"/>
              </a:rPr>
              <a:t>Send </a:t>
            </a:r>
            <a:r>
              <a:rPr sz="1400" spc="-20" dirty="0">
                <a:latin typeface="Arial"/>
                <a:cs typeface="Arial"/>
              </a:rPr>
              <a:t>the </a:t>
            </a:r>
            <a:r>
              <a:rPr sz="1400" spc="-15" dirty="0">
                <a:latin typeface="Arial"/>
                <a:cs typeface="Arial"/>
              </a:rPr>
              <a:t>string </a:t>
            </a:r>
            <a:r>
              <a:rPr sz="1400" spc="-5" dirty="0">
                <a:latin typeface="Arial"/>
                <a:cs typeface="Arial"/>
              </a:rPr>
              <a:t>to </a:t>
            </a:r>
            <a:r>
              <a:rPr sz="1400" spc="-20" dirty="0">
                <a:latin typeface="Arial"/>
                <a:cs typeface="Arial"/>
              </a:rPr>
              <a:t>the </a:t>
            </a:r>
            <a:r>
              <a:rPr sz="1400" spc="-55" dirty="0">
                <a:latin typeface="Arial"/>
                <a:cs typeface="Arial"/>
              </a:rPr>
              <a:t>server</a:t>
            </a:r>
            <a:r>
              <a:rPr sz="1400" spc="-114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*/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0"/>
              </a:lnSpc>
            </a:pPr>
            <a:r>
              <a:rPr sz="1400" b="1" spc="-5" dirty="0">
                <a:latin typeface="Courier New"/>
                <a:cs typeface="Courier New"/>
              </a:rPr>
              <a:t>if </a:t>
            </a:r>
            <a:r>
              <a:rPr sz="1400" b="1" spc="-10" dirty="0">
                <a:latin typeface="Courier New"/>
                <a:cs typeface="Courier New"/>
              </a:rPr>
              <a:t>(</a:t>
            </a:r>
            <a:r>
              <a:rPr sz="1400" b="1" spc="-10" dirty="0">
                <a:solidFill>
                  <a:srgbClr val="006533"/>
                </a:solidFill>
                <a:latin typeface="Courier New"/>
                <a:cs typeface="Courier New"/>
              </a:rPr>
              <a:t>sendto</a:t>
            </a:r>
            <a:r>
              <a:rPr sz="1400" b="1" spc="-10" dirty="0">
                <a:latin typeface="Courier New"/>
                <a:cs typeface="Courier New"/>
              </a:rPr>
              <a:t>( </a:t>
            </a:r>
            <a:r>
              <a:rPr sz="1400" b="1" spc="-10" dirty="0">
                <a:solidFill>
                  <a:srgbClr val="CC9A00"/>
                </a:solidFill>
                <a:latin typeface="Courier New"/>
                <a:cs typeface="Courier New"/>
              </a:rPr>
              <a:t>clientSock</a:t>
            </a:r>
            <a:r>
              <a:rPr sz="1400" b="1" spc="-10" dirty="0">
                <a:latin typeface="Courier New"/>
                <a:cs typeface="Courier New"/>
              </a:rPr>
              <a:t>, echoString, echoStringLen,</a:t>
            </a:r>
            <a:r>
              <a:rPr sz="1400" b="1" spc="20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0,</a:t>
            </a:r>
            <a:endParaRPr sz="1400">
              <a:latin typeface="Courier New"/>
              <a:cs typeface="Courier New"/>
            </a:endParaRPr>
          </a:p>
          <a:p>
            <a:pPr marL="1182370">
              <a:lnSpc>
                <a:spcPts val="1675"/>
              </a:lnSpc>
            </a:pPr>
            <a:r>
              <a:rPr sz="1400" b="1" spc="-10" dirty="0">
                <a:latin typeface="Courier New"/>
                <a:cs typeface="Courier New"/>
              </a:rPr>
              <a:t>(struct sockaddr </a:t>
            </a:r>
            <a:r>
              <a:rPr sz="1400" b="1" spc="-5" dirty="0">
                <a:latin typeface="Courier New"/>
                <a:cs typeface="Courier New"/>
              </a:rPr>
              <a:t>*) </a:t>
            </a:r>
            <a:r>
              <a:rPr sz="1400" b="1" spc="-10" dirty="0">
                <a:latin typeface="Courier New"/>
                <a:cs typeface="Courier New"/>
              </a:rPr>
              <a:t>&amp;</a:t>
            </a:r>
            <a:r>
              <a:rPr sz="1400" b="1" spc="-10" dirty="0">
                <a:solidFill>
                  <a:srgbClr val="AFBF39"/>
                </a:solidFill>
                <a:latin typeface="Courier New"/>
                <a:cs typeface="Courier New"/>
              </a:rPr>
              <a:t>echoServAddr</a:t>
            </a:r>
            <a:r>
              <a:rPr sz="1400" b="1" spc="-10" dirty="0">
                <a:latin typeface="Courier New"/>
                <a:cs typeface="Courier New"/>
              </a:rPr>
              <a:t>,</a:t>
            </a:r>
            <a:r>
              <a:rPr sz="1400" b="1" spc="3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sizeof(</a:t>
            </a:r>
            <a:r>
              <a:rPr sz="1400" b="1" spc="-10" dirty="0">
                <a:solidFill>
                  <a:srgbClr val="AFBF39"/>
                </a:solidFill>
                <a:latin typeface="Courier New"/>
                <a:cs typeface="Courier New"/>
              </a:rPr>
              <a:t>echoServAddr</a:t>
            </a:r>
            <a:r>
              <a:rPr sz="1400" b="1" spc="-10" dirty="0">
                <a:latin typeface="Courier New"/>
                <a:cs typeface="Courier New"/>
              </a:rPr>
              <a:t>))</a:t>
            </a:r>
            <a:endParaRPr sz="1400">
              <a:latin typeface="Courier New"/>
              <a:cs typeface="Courier New"/>
            </a:endParaRPr>
          </a:p>
          <a:p>
            <a:pPr marL="969010">
              <a:lnSpc>
                <a:spcPts val="1675"/>
              </a:lnSpc>
            </a:pPr>
            <a:r>
              <a:rPr sz="1400" b="1" spc="-5" dirty="0">
                <a:latin typeface="Courier New"/>
                <a:cs typeface="Courier New"/>
              </a:rPr>
              <a:t>!=</a:t>
            </a:r>
            <a:r>
              <a:rPr sz="1400" b="1" spc="-1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echoStringLen)</a:t>
            </a:r>
            <a:endParaRPr sz="1400">
              <a:latin typeface="Courier New"/>
              <a:cs typeface="Courier New"/>
            </a:endParaRPr>
          </a:p>
          <a:p>
            <a:pPr marL="543560">
              <a:lnSpc>
                <a:spcPts val="1675"/>
              </a:lnSpc>
            </a:pPr>
            <a:r>
              <a:rPr sz="1400" b="1" spc="-10" dirty="0">
                <a:latin typeface="Courier New"/>
                <a:cs typeface="Courier New"/>
              </a:rPr>
              <a:t>DieWithError("send() sent </a:t>
            </a:r>
            <a:r>
              <a:rPr sz="1400" b="1" spc="-5" dirty="0">
                <a:latin typeface="Courier New"/>
                <a:cs typeface="Courier New"/>
              </a:rPr>
              <a:t>a </a:t>
            </a:r>
            <a:r>
              <a:rPr sz="1400" b="1" spc="-10" dirty="0">
                <a:latin typeface="Courier New"/>
                <a:cs typeface="Courier New"/>
              </a:rPr>
              <a:t>different number </a:t>
            </a:r>
            <a:r>
              <a:rPr sz="1400" b="1" spc="-5" dirty="0">
                <a:latin typeface="Courier New"/>
                <a:cs typeface="Courier New"/>
              </a:rPr>
              <a:t>of </a:t>
            </a:r>
            <a:r>
              <a:rPr sz="1400" b="1" spc="-10" dirty="0">
                <a:latin typeface="Courier New"/>
                <a:cs typeface="Courier New"/>
              </a:rPr>
              <a:t>bytes than</a:t>
            </a:r>
            <a:r>
              <a:rPr sz="1400" b="1" spc="150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expected");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98741" y="1085341"/>
            <a:ext cx="8258175" cy="2668905"/>
          </a:xfrm>
          <a:custGeom>
            <a:avLst/>
            <a:gdLst/>
            <a:ahLst/>
            <a:cxnLst/>
            <a:rect l="l" t="t" r="r" b="b"/>
            <a:pathLst>
              <a:path w="8258175" h="2668904">
                <a:moveTo>
                  <a:pt x="0" y="0"/>
                </a:moveTo>
                <a:lnTo>
                  <a:pt x="0" y="2668524"/>
                </a:lnTo>
                <a:lnTo>
                  <a:pt x="8257794" y="2668524"/>
                </a:lnTo>
                <a:lnTo>
                  <a:pt x="8257794" y="0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1573" y="256540"/>
            <a:ext cx="8018145" cy="72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290" dirty="0"/>
              <a:t>Example </a:t>
            </a:r>
            <a:r>
              <a:rPr spc="-250" dirty="0"/>
              <a:t>- </a:t>
            </a:r>
            <a:r>
              <a:rPr spc="-140" dirty="0"/>
              <a:t>Echo </a:t>
            </a:r>
            <a:r>
              <a:rPr spc="-290" dirty="0"/>
              <a:t>using </a:t>
            </a:r>
            <a:r>
              <a:rPr spc="-340" dirty="0"/>
              <a:t>datagram</a:t>
            </a:r>
            <a:r>
              <a:rPr spc="-165" dirty="0"/>
              <a:t> </a:t>
            </a:r>
            <a:r>
              <a:rPr spc="-220" dirty="0"/>
              <a:t>socket</a:t>
            </a:r>
            <a:endParaRPr sz="4600"/>
          </a:p>
        </p:txBody>
      </p:sp>
      <p:sp>
        <p:nvSpPr>
          <p:cNvPr id="4" name="object 4"/>
          <p:cNvSpPr txBox="1"/>
          <p:nvPr/>
        </p:nvSpPr>
        <p:spPr>
          <a:xfrm>
            <a:off x="508139" y="4262925"/>
            <a:ext cx="3124200" cy="1850389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435735">
              <a:lnSpc>
                <a:spcPct val="100000"/>
              </a:lnSpc>
              <a:spcBef>
                <a:spcPts val="470"/>
              </a:spcBef>
            </a:pPr>
            <a:r>
              <a:rPr sz="2200" b="1" dirty="0">
                <a:solidFill>
                  <a:srgbClr val="006533"/>
                </a:solidFill>
                <a:latin typeface="Arial"/>
                <a:cs typeface="Arial"/>
              </a:rPr>
              <a:t>Client</a:t>
            </a:r>
            <a:endParaRPr sz="2200">
              <a:latin typeface="Arial"/>
              <a:cs typeface="Arial"/>
            </a:endParaRPr>
          </a:p>
          <a:p>
            <a:pPr marL="545465" indent="-532765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UDP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5465" indent="-532765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Assign </a:t>
            </a:r>
            <a:r>
              <a:rPr sz="2000" spc="-5" dirty="0">
                <a:latin typeface="Arial"/>
                <a:cs typeface="Arial"/>
              </a:rPr>
              <a:t>a port to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5465" indent="-532765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b="1" spc="-5" dirty="0">
                <a:solidFill>
                  <a:srgbClr val="CA6800"/>
                </a:solidFill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545465" indent="-532765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Close 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32527" y="5886196"/>
            <a:ext cx="8953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" dirty="0">
                <a:solidFill>
                  <a:srgbClr val="3B822F"/>
                </a:solidFill>
                <a:latin typeface="Wingdings"/>
                <a:cs typeface="Wingdings"/>
              </a:rPr>
              <a:t></a:t>
            </a:r>
            <a:endParaRPr sz="11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75327" y="4262925"/>
            <a:ext cx="3124200" cy="183388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380490">
              <a:lnSpc>
                <a:spcPct val="100000"/>
              </a:lnSpc>
              <a:spcBef>
                <a:spcPts val="470"/>
              </a:spcBef>
            </a:pPr>
            <a:r>
              <a:rPr sz="2200" b="1" spc="-5" dirty="0">
                <a:solidFill>
                  <a:srgbClr val="006533"/>
                </a:solidFill>
                <a:latin typeface="Arial"/>
                <a:cs typeface="Arial"/>
              </a:rPr>
              <a:t>Server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UDP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63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Assign </a:t>
            </a:r>
            <a:r>
              <a:rPr sz="2000" spc="-5" dirty="0">
                <a:latin typeface="Arial"/>
                <a:cs typeface="Arial"/>
              </a:rPr>
              <a:t>a port to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Repeatedly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34"/>
              </a:spcBef>
            </a:pPr>
            <a:r>
              <a:rPr sz="1800" b="1" spc="-10" dirty="0">
                <a:solidFill>
                  <a:srgbClr val="A50021"/>
                </a:solidFill>
                <a:latin typeface="Arial"/>
                <a:cs typeface="Arial"/>
              </a:rPr>
              <a:t>Communicate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32121" y="1701292"/>
            <a:ext cx="3376929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40" dirty="0">
                <a:latin typeface="Arial"/>
                <a:cs typeface="Arial"/>
              </a:rPr>
              <a:t>/* </a:t>
            </a:r>
            <a:r>
              <a:rPr sz="1600" spc="-125" dirty="0">
                <a:latin typeface="Arial"/>
                <a:cs typeface="Arial"/>
              </a:rPr>
              <a:t>Set </a:t>
            </a:r>
            <a:r>
              <a:rPr sz="1600" spc="-20" dirty="0">
                <a:latin typeface="Arial"/>
                <a:cs typeface="Arial"/>
              </a:rPr>
              <a:t>the </a:t>
            </a:r>
            <a:r>
              <a:rPr sz="1600" spc="-90" dirty="0">
                <a:latin typeface="Arial"/>
                <a:cs typeface="Arial"/>
              </a:rPr>
              <a:t>size </a:t>
            </a:r>
            <a:r>
              <a:rPr sz="1600" spc="-10" dirty="0">
                <a:latin typeface="Arial"/>
                <a:cs typeface="Arial"/>
              </a:rPr>
              <a:t>of </a:t>
            </a:r>
            <a:r>
              <a:rPr sz="1600" spc="-20" dirty="0">
                <a:latin typeface="Arial"/>
                <a:cs typeface="Arial"/>
              </a:rPr>
              <a:t>the </a:t>
            </a:r>
            <a:r>
              <a:rPr sz="1600" spc="25" dirty="0">
                <a:latin typeface="Arial"/>
                <a:cs typeface="Arial"/>
              </a:rPr>
              <a:t>in-out </a:t>
            </a:r>
            <a:r>
              <a:rPr sz="1600" spc="-60" dirty="0">
                <a:latin typeface="Arial"/>
                <a:cs typeface="Arial"/>
              </a:rPr>
              <a:t>parameter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spc="-40" dirty="0">
                <a:latin typeface="Arial"/>
                <a:cs typeface="Arial"/>
              </a:rPr>
              <a:t>*/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8603" y="1276095"/>
            <a:ext cx="438594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95"/>
              </a:spcBef>
            </a:pPr>
            <a:r>
              <a:rPr sz="1400" b="1" spc="-5" dirty="0">
                <a:latin typeface="Courier New"/>
                <a:cs typeface="Courier New"/>
              </a:rPr>
              <a:t>for </a:t>
            </a:r>
            <a:r>
              <a:rPr sz="1400" b="1" spc="-10" dirty="0">
                <a:latin typeface="Courier New"/>
                <a:cs typeface="Courier New"/>
              </a:rPr>
              <a:t>(;;) </a:t>
            </a:r>
            <a:r>
              <a:rPr sz="1400" spc="-35" dirty="0">
                <a:latin typeface="Arial"/>
                <a:cs typeface="Arial"/>
              </a:rPr>
              <a:t>/* </a:t>
            </a:r>
            <a:r>
              <a:rPr sz="1400" spc="-40" dirty="0">
                <a:latin typeface="Arial"/>
                <a:cs typeface="Arial"/>
              </a:rPr>
              <a:t>Run </a:t>
            </a:r>
            <a:r>
              <a:rPr sz="1400" spc="-20" dirty="0">
                <a:latin typeface="Arial"/>
                <a:cs typeface="Arial"/>
              </a:rPr>
              <a:t>forever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*/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sz="1400" b="1" spc="-5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331470">
              <a:lnSpc>
                <a:spcPct val="100000"/>
              </a:lnSpc>
              <a:spcBef>
                <a:spcPts val="225"/>
              </a:spcBef>
            </a:pPr>
            <a:r>
              <a:rPr sz="1400" b="1" spc="-10" dirty="0">
                <a:latin typeface="Courier New"/>
                <a:cs typeface="Courier New"/>
              </a:rPr>
              <a:t>clientAddrLen </a:t>
            </a:r>
            <a:r>
              <a:rPr sz="1400" b="1" spc="-5" dirty="0">
                <a:latin typeface="Courier New"/>
                <a:cs typeface="Courier New"/>
              </a:rPr>
              <a:t>=</a:t>
            </a:r>
            <a:r>
              <a:rPr sz="1400" b="1" spc="2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sizeof(echoClientAddr)</a:t>
            </a:r>
            <a:endParaRPr sz="1400">
              <a:latin typeface="Courier New"/>
              <a:cs typeface="Courier New"/>
            </a:endParaRPr>
          </a:p>
          <a:p>
            <a:pPr marL="318135">
              <a:lnSpc>
                <a:spcPct val="100000"/>
              </a:lnSpc>
              <a:spcBef>
                <a:spcPts val="45"/>
              </a:spcBef>
            </a:pPr>
            <a:r>
              <a:rPr sz="1600" spc="-35" dirty="0">
                <a:latin typeface="Arial"/>
                <a:cs typeface="Arial"/>
              </a:rPr>
              <a:t>/*Block </a:t>
            </a:r>
            <a:r>
              <a:rPr sz="1600" spc="50" dirty="0">
                <a:latin typeface="Arial"/>
                <a:cs typeface="Arial"/>
              </a:rPr>
              <a:t>until </a:t>
            </a:r>
            <a:r>
              <a:rPr sz="1600" spc="-55" dirty="0">
                <a:latin typeface="Arial"/>
                <a:cs typeface="Arial"/>
              </a:rPr>
              <a:t>receive </a:t>
            </a:r>
            <a:r>
              <a:rPr sz="1600" spc="-155" dirty="0">
                <a:latin typeface="Arial"/>
                <a:cs typeface="Arial"/>
              </a:rPr>
              <a:t>message </a:t>
            </a:r>
            <a:r>
              <a:rPr sz="1600" spc="10" dirty="0">
                <a:latin typeface="Arial"/>
                <a:cs typeface="Arial"/>
              </a:rPr>
              <a:t>from</a:t>
            </a:r>
            <a:r>
              <a:rPr sz="1600" spc="-3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client*/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8269" y="2210307"/>
            <a:ext cx="7895590" cy="1949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846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latin typeface="Courier New"/>
                <a:cs typeface="Courier New"/>
              </a:rPr>
              <a:t>if </a:t>
            </a:r>
            <a:r>
              <a:rPr sz="1400" b="1" spc="-10" dirty="0">
                <a:latin typeface="Courier New"/>
                <a:cs typeface="Courier New"/>
              </a:rPr>
              <a:t>((recvMsgSize </a:t>
            </a:r>
            <a:r>
              <a:rPr sz="1400" b="1" spc="-5" dirty="0">
                <a:latin typeface="Courier New"/>
                <a:cs typeface="Courier New"/>
              </a:rPr>
              <a:t>= </a:t>
            </a:r>
            <a:r>
              <a:rPr sz="1400" b="1" spc="-10" dirty="0">
                <a:latin typeface="Courier New"/>
                <a:cs typeface="Courier New"/>
              </a:rPr>
              <a:t>recvfrom(</a:t>
            </a:r>
            <a:r>
              <a:rPr sz="1400" b="1" spc="-10" dirty="0">
                <a:solidFill>
                  <a:srgbClr val="CC9A00"/>
                </a:solidFill>
                <a:latin typeface="Courier New"/>
                <a:cs typeface="Courier New"/>
              </a:rPr>
              <a:t>servSock</a:t>
            </a:r>
            <a:r>
              <a:rPr sz="1400" b="1" spc="-10" dirty="0">
                <a:latin typeface="Courier New"/>
                <a:cs typeface="Courier New"/>
              </a:rPr>
              <a:t>, echoBuffer, ECHOMAX,</a:t>
            </a:r>
            <a:r>
              <a:rPr sz="1400" b="1" spc="30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0),</a:t>
            </a:r>
            <a:endParaRPr sz="1400">
              <a:latin typeface="Courier New"/>
              <a:cs typeface="Courier New"/>
            </a:endParaRPr>
          </a:p>
          <a:p>
            <a:pPr marL="863600" marR="5080">
              <a:lnSpc>
                <a:spcPct val="100000"/>
              </a:lnSpc>
              <a:spcBef>
                <a:spcPts val="70"/>
              </a:spcBef>
            </a:pPr>
            <a:r>
              <a:rPr sz="1400" b="1" spc="-10" dirty="0">
                <a:latin typeface="Courier New"/>
                <a:cs typeface="Courier New"/>
              </a:rPr>
              <a:t>(struct sockaddr </a:t>
            </a:r>
            <a:r>
              <a:rPr sz="1400" b="1" spc="-5" dirty="0">
                <a:latin typeface="Courier New"/>
                <a:cs typeface="Courier New"/>
              </a:rPr>
              <a:t>*) </a:t>
            </a:r>
            <a:r>
              <a:rPr sz="1400" b="1" spc="-10" dirty="0">
                <a:latin typeface="Courier New"/>
                <a:cs typeface="Courier New"/>
              </a:rPr>
              <a:t>&amp;</a:t>
            </a:r>
            <a:r>
              <a:rPr sz="1400" b="1" spc="-10" dirty="0">
                <a:solidFill>
                  <a:srgbClr val="AFBF39"/>
                </a:solidFill>
                <a:latin typeface="Courier New"/>
                <a:cs typeface="Courier New"/>
              </a:rPr>
              <a:t>echoClientAddr</a:t>
            </a:r>
            <a:r>
              <a:rPr sz="1400" b="1" spc="-10" dirty="0">
                <a:latin typeface="Courier New"/>
                <a:cs typeface="Courier New"/>
              </a:rPr>
              <a:t>, sizeof(</a:t>
            </a:r>
            <a:r>
              <a:rPr sz="1400" b="1" spc="-10" dirty="0">
                <a:solidFill>
                  <a:srgbClr val="AFBF39"/>
                </a:solidFill>
                <a:latin typeface="Courier New"/>
                <a:cs typeface="Courier New"/>
              </a:rPr>
              <a:t>echoClientAddr</a:t>
            </a:r>
            <a:r>
              <a:rPr sz="1400" b="1" spc="-10" dirty="0">
                <a:latin typeface="Courier New"/>
                <a:cs typeface="Courier New"/>
              </a:rPr>
              <a:t>))) </a:t>
            </a:r>
            <a:r>
              <a:rPr sz="1400" b="1" spc="-5" dirty="0">
                <a:latin typeface="Courier New"/>
                <a:cs typeface="Courier New"/>
              </a:rPr>
              <a:t>&lt; </a:t>
            </a:r>
            <a:r>
              <a:rPr sz="1400" b="1" spc="-10" dirty="0">
                <a:latin typeface="Courier New"/>
                <a:cs typeface="Courier New"/>
              </a:rPr>
              <a:t>0)  DieWithError(“recvfrom()</a:t>
            </a:r>
            <a:r>
              <a:rPr sz="1400" b="1" spc="-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failed");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</a:pPr>
            <a:r>
              <a:rPr sz="1400" b="1" spc="-5" dirty="0">
                <a:latin typeface="Courier New"/>
                <a:cs typeface="Courier New"/>
              </a:rPr>
              <a:t>if </a:t>
            </a:r>
            <a:r>
              <a:rPr sz="1400" b="1" spc="-10" dirty="0">
                <a:latin typeface="Courier New"/>
                <a:cs typeface="Courier New"/>
              </a:rPr>
              <a:t>(sendto(</a:t>
            </a:r>
            <a:r>
              <a:rPr sz="1400" b="1" spc="-10" dirty="0">
                <a:solidFill>
                  <a:srgbClr val="9A6500"/>
                </a:solidFill>
                <a:latin typeface="Courier New"/>
                <a:cs typeface="Courier New"/>
              </a:rPr>
              <a:t>servSock</a:t>
            </a:r>
            <a:r>
              <a:rPr sz="1400" b="1" spc="-10" dirty="0">
                <a:latin typeface="Courier New"/>
                <a:cs typeface="Courier New"/>
              </a:rPr>
              <a:t>, echobuffer, recvMsgSize,</a:t>
            </a:r>
            <a:r>
              <a:rPr sz="1400" b="1" spc="-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0,</a:t>
            </a:r>
            <a:endParaRPr sz="1400">
              <a:latin typeface="Courier New"/>
              <a:cs typeface="Courier New"/>
            </a:endParaRPr>
          </a:p>
          <a:p>
            <a:pPr marL="1395730">
              <a:lnSpc>
                <a:spcPts val="1675"/>
              </a:lnSpc>
            </a:pPr>
            <a:r>
              <a:rPr sz="1400" b="1" spc="-10" dirty="0">
                <a:latin typeface="Courier New"/>
                <a:cs typeface="Courier New"/>
              </a:rPr>
              <a:t>(struct sockaddr </a:t>
            </a:r>
            <a:r>
              <a:rPr sz="1400" b="1" spc="-5" dirty="0">
                <a:latin typeface="Courier New"/>
                <a:cs typeface="Courier New"/>
              </a:rPr>
              <a:t>*) </a:t>
            </a:r>
            <a:r>
              <a:rPr sz="1400" b="1" spc="-10" dirty="0">
                <a:latin typeface="Courier New"/>
                <a:cs typeface="Courier New"/>
              </a:rPr>
              <a:t>&amp;</a:t>
            </a:r>
            <a:r>
              <a:rPr sz="1400" b="1" spc="-10" dirty="0">
                <a:solidFill>
                  <a:srgbClr val="AFBF39"/>
                </a:solidFill>
                <a:latin typeface="Courier New"/>
                <a:cs typeface="Courier New"/>
              </a:rPr>
              <a:t>echoClientAddr</a:t>
            </a:r>
            <a:r>
              <a:rPr sz="1400" b="1" spc="-10" dirty="0">
                <a:latin typeface="Courier New"/>
                <a:cs typeface="Courier New"/>
              </a:rPr>
              <a:t>,</a:t>
            </a:r>
            <a:r>
              <a:rPr sz="1400" b="1" spc="9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sizeof(</a:t>
            </a:r>
            <a:r>
              <a:rPr sz="1400" b="1" spc="-10" dirty="0">
                <a:solidFill>
                  <a:srgbClr val="AFBF39"/>
                </a:solidFill>
                <a:latin typeface="Courier New"/>
                <a:cs typeface="Courier New"/>
              </a:rPr>
              <a:t>echoClientAddr</a:t>
            </a:r>
            <a:r>
              <a:rPr sz="1400" b="1" spc="-10" dirty="0">
                <a:latin typeface="Courier New"/>
                <a:cs typeface="Courier New"/>
              </a:rPr>
              <a:t>))</a:t>
            </a:r>
            <a:endParaRPr sz="1400">
              <a:latin typeface="Courier New"/>
              <a:cs typeface="Courier New"/>
            </a:endParaRPr>
          </a:p>
          <a:p>
            <a:pPr marL="863600" marR="3833495" indent="212090">
              <a:lnSpc>
                <a:spcPts val="1670"/>
              </a:lnSpc>
              <a:spcBef>
                <a:spcPts val="60"/>
              </a:spcBef>
            </a:pPr>
            <a:r>
              <a:rPr sz="1400" b="1" spc="-5" dirty="0">
                <a:latin typeface="Courier New"/>
                <a:cs typeface="Courier New"/>
              </a:rPr>
              <a:t>!= </a:t>
            </a:r>
            <a:r>
              <a:rPr sz="1400" b="1" spc="-10" dirty="0">
                <a:latin typeface="Courier New"/>
                <a:cs typeface="Courier New"/>
              </a:rPr>
              <a:t>recvMsgSize)  DieWithError(“send()</a:t>
            </a:r>
            <a:r>
              <a:rPr sz="1400" b="1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failed”);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25"/>
              </a:lnSpc>
            </a:pPr>
            <a:r>
              <a:rPr sz="1400" b="1" spc="-5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8919" y="1152397"/>
            <a:ext cx="8258175" cy="3162300"/>
          </a:xfrm>
          <a:custGeom>
            <a:avLst/>
            <a:gdLst/>
            <a:ahLst/>
            <a:cxnLst/>
            <a:rect l="l" t="t" r="r" b="b"/>
            <a:pathLst>
              <a:path w="8258175" h="3162300">
                <a:moveTo>
                  <a:pt x="0" y="0"/>
                </a:moveTo>
                <a:lnTo>
                  <a:pt x="0" y="3162300"/>
                </a:lnTo>
                <a:lnTo>
                  <a:pt x="8257794" y="3162300"/>
                </a:lnTo>
                <a:lnTo>
                  <a:pt x="8257794" y="0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1573" y="256540"/>
            <a:ext cx="8018145" cy="72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290" dirty="0"/>
              <a:t>Example </a:t>
            </a:r>
            <a:r>
              <a:rPr spc="-250" dirty="0"/>
              <a:t>- </a:t>
            </a:r>
            <a:r>
              <a:rPr spc="-140" dirty="0"/>
              <a:t>Echo </a:t>
            </a:r>
            <a:r>
              <a:rPr spc="-290" dirty="0"/>
              <a:t>using </a:t>
            </a:r>
            <a:r>
              <a:rPr spc="-340" dirty="0"/>
              <a:t>datagram</a:t>
            </a:r>
            <a:r>
              <a:rPr spc="-165" dirty="0"/>
              <a:t> </a:t>
            </a:r>
            <a:r>
              <a:rPr spc="-220" dirty="0"/>
              <a:t>socket</a:t>
            </a:r>
            <a:endParaRPr sz="4600"/>
          </a:p>
        </p:txBody>
      </p:sp>
      <p:sp>
        <p:nvSpPr>
          <p:cNvPr id="4" name="object 4"/>
          <p:cNvSpPr txBox="1"/>
          <p:nvPr/>
        </p:nvSpPr>
        <p:spPr>
          <a:xfrm>
            <a:off x="508139" y="3750783"/>
            <a:ext cx="3124200" cy="185166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435735">
              <a:lnSpc>
                <a:spcPct val="100000"/>
              </a:lnSpc>
              <a:spcBef>
                <a:spcPts val="475"/>
              </a:spcBef>
            </a:pPr>
            <a:r>
              <a:rPr sz="2200" b="1" dirty="0">
                <a:solidFill>
                  <a:srgbClr val="006533"/>
                </a:solidFill>
                <a:latin typeface="Arial"/>
                <a:cs typeface="Arial"/>
              </a:rPr>
              <a:t>Client</a:t>
            </a:r>
            <a:endParaRPr sz="2200">
              <a:latin typeface="Arial"/>
              <a:cs typeface="Arial"/>
            </a:endParaRPr>
          </a:p>
          <a:p>
            <a:pPr marL="545465" indent="-532765">
              <a:lnSpc>
                <a:spcPct val="100000"/>
              </a:lnSpc>
              <a:spcBef>
                <a:spcPts val="34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UDP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5465" indent="-532765">
              <a:lnSpc>
                <a:spcPct val="100000"/>
              </a:lnSpc>
              <a:spcBef>
                <a:spcPts val="47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Assign </a:t>
            </a:r>
            <a:r>
              <a:rPr sz="2000" spc="-5" dirty="0">
                <a:latin typeface="Arial"/>
                <a:cs typeface="Arial"/>
              </a:rPr>
              <a:t>a port to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5465" indent="-532765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b="1" spc="-5" dirty="0">
                <a:solidFill>
                  <a:srgbClr val="CA6800"/>
                </a:solidFill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545465" indent="-532765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Close the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32527" y="5374894"/>
            <a:ext cx="8953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" dirty="0">
                <a:solidFill>
                  <a:srgbClr val="3B822F"/>
                </a:solidFill>
                <a:latin typeface="Wingdings"/>
                <a:cs typeface="Wingdings"/>
              </a:rPr>
              <a:t></a:t>
            </a:r>
            <a:endParaRPr sz="11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75327" y="3750783"/>
            <a:ext cx="3124200" cy="183515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380490">
              <a:lnSpc>
                <a:spcPct val="100000"/>
              </a:lnSpc>
              <a:spcBef>
                <a:spcPts val="475"/>
              </a:spcBef>
            </a:pPr>
            <a:r>
              <a:rPr sz="2200" b="1" spc="-5" dirty="0">
                <a:solidFill>
                  <a:srgbClr val="006533"/>
                </a:solidFill>
                <a:latin typeface="Arial"/>
                <a:cs typeface="Arial"/>
              </a:rPr>
              <a:t>Server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4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UDP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62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Assign </a:t>
            </a:r>
            <a:r>
              <a:rPr sz="2000" spc="-5" dirty="0">
                <a:latin typeface="Arial"/>
                <a:cs typeface="Arial"/>
              </a:rPr>
              <a:t>a port to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Repeatedly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34"/>
              </a:spcBef>
            </a:pPr>
            <a:r>
              <a:rPr sz="1800" b="1" spc="-10" dirty="0">
                <a:solidFill>
                  <a:srgbClr val="A50021"/>
                </a:solidFill>
                <a:latin typeface="Arial"/>
                <a:cs typeface="Arial"/>
              </a:rPr>
              <a:t>Communicate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0965" y="1715770"/>
            <a:ext cx="7155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CA6800"/>
                </a:solidFill>
                <a:latin typeface="Tahoma"/>
                <a:cs typeface="Tahoma"/>
              </a:rPr>
              <a:t>Similarly, </a:t>
            </a:r>
            <a:r>
              <a:rPr sz="2400" dirty="0">
                <a:solidFill>
                  <a:srgbClr val="CA6800"/>
                </a:solidFill>
                <a:latin typeface="Tahoma"/>
                <a:cs typeface="Tahoma"/>
              </a:rPr>
              <a:t>the client receives the </a:t>
            </a:r>
            <a:r>
              <a:rPr sz="2400" spc="-5" dirty="0">
                <a:solidFill>
                  <a:srgbClr val="CA6800"/>
                </a:solidFill>
                <a:latin typeface="Tahoma"/>
                <a:cs typeface="Tahoma"/>
              </a:rPr>
              <a:t>data </a:t>
            </a:r>
            <a:r>
              <a:rPr sz="2400" dirty="0">
                <a:solidFill>
                  <a:srgbClr val="CA6800"/>
                </a:solidFill>
                <a:latin typeface="Tahoma"/>
                <a:cs typeface="Tahoma"/>
              </a:rPr>
              <a:t>from the</a:t>
            </a:r>
            <a:r>
              <a:rPr sz="2400" spc="-25" dirty="0">
                <a:solidFill>
                  <a:srgbClr val="CA68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CA6800"/>
                </a:solidFill>
                <a:latin typeface="Tahoma"/>
                <a:cs typeface="Tahoma"/>
              </a:rPr>
              <a:t>server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2655" y="254254"/>
            <a:ext cx="7276465" cy="146240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945130" marR="5080" indent="-2933065">
              <a:lnSpc>
                <a:spcPct val="100600"/>
              </a:lnSpc>
              <a:spcBef>
                <a:spcPts val="60"/>
              </a:spcBef>
            </a:pPr>
            <a:r>
              <a:rPr sz="5000" spc="-315" dirty="0"/>
              <a:t>Example </a:t>
            </a:r>
            <a:r>
              <a:rPr sz="4400" spc="-275" dirty="0"/>
              <a:t>- </a:t>
            </a:r>
            <a:r>
              <a:rPr sz="4400" spc="-150" dirty="0"/>
              <a:t>Echo </a:t>
            </a:r>
            <a:r>
              <a:rPr sz="4400" spc="-320" dirty="0"/>
              <a:t>using </a:t>
            </a:r>
            <a:r>
              <a:rPr sz="4400" spc="-370" dirty="0"/>
              <a:t>datagram  </a:t>
            </a:r>
            <a:r>
              <a:rPr sz="4400" spc="-240" dirty="0"/>
              <a:t>socket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490613" y="2187448"/>
            <a:ext cx="19405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006533"/>
                </a:solidFill>
                <a:latin typeface="Courier New"/>
                <a:cs typeface="Courier New"/>
              </a:rPr>
              <a:t>close</a:t>
            </a:r>
            <a:r>
              <a:rPr sz="1400" b="1" spc="-10" dirty="0">
                <a:latin typeface="Courier New"/>
                <a:cs typeface="Courier New"/>
              </a:rPr>
              <a:t>(</a:t>
            </a:r>
            <a:r>
              <a:rPr sz="1400" b="1" spc="-10" dirty="0">
                <a:solidFill>
                  <a:srgbClr val="CC9A00"/>
                </a:solidFill>
                <a:latin typeface="Courier New"/>
                <a:cs typeface="Courier New"/>
              </a:rPr>
              <a:t>clientSock</a:t>
            </a:r>
            <a:r>
              <a:rPr sz="1400" b="1" spc="-10" dirty="0">
                <a:latin typeface="Courier New"/>
                <a:cs typeface="Courier New"/>
              </a:rPr>
              <a:t>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8139" y="3750783"/>
            <a:ext cx="3124200" cy="185166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435735">
              <a:lnSpc>
                <a:spcPct val="100000"/>
              </a:lnSpc>
              <a:spcBef>
                <a:spcPts val="475"/>
              </a:spcBef>
            </a:pPr>
            <a:r>
              <a:rPr sz="2200" b="1" dirty="0">
                <a:solidFill>
                  <a:srgbClr val="006533"/>
                </a:solidFill>
                <a:latin typeface="Arial"/>
                <a:cs typeface="Arial"/>
              </a:rPr>
              <a:t>Client</a:t>
            </a:r>
            <a:endParaRPr sz="2200">
              <a:latin typeface="Arial"/>
              <a:cs typeface="Arial"/>
            </a:endParaRPr>
          </a:p>
          <a:p>
            <a:pPr marL="545465" indent="-532765">
              <a:lnSpc>
                <a:spcPct val="100000"/>
              </a:lnSpc>
              <a:spcBef>
                <a:spcPts val="34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UDP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5465" indent="-532765">
              <a:lnSpc>
                <a:spcPct val="100000"/>
              </a:lnSpc>
              <a:spcBef>
                <a:spcPts val="47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Assign </a:t>
            </a:r>
            <a:r>
              <a:rPr sz="2000" spc="-5" dirty="0">
                <a:latin typeface="Arial"/>
                <a:cs typeface="Arial"/>
              </a:rPr>
              <a:t>a port to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5465" indent="-532765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5" dirty="0">
                <a:latin typeface="Arial"/>
                <a:cs typeface="Arial"/>
              </a:rPr>
              <a:t>Communicate</a:t>
            </a:r>
            <a:endParaRPr sz="2000">
              <a:latin typeface="Arial"/>
              <a:cs typeface="Arial"/>
            </a:endParaRPr>
          </a:p>
          <a:p>
            <a:pPr marL="545465" indent="-532765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b="1" spc="-5" dirty="0">
                <a:solidFill>
                  <a:srgbClr val="CA6800"/>
                </a:solidFill>
                <a:latin typeface="Arial"/>
                <a:cs typeface="Arial"/>
              </a:rPr>
              <a:t>Close the</a:t>
            </a:r>
            <a:r>
              <a:rPr sz="2000" b="1" spc="-10" dirty="0">
                <a:solidFill>
                  <a:srgbClr val="CA6800"/>
                </a:solidFill>
                <a:latin typeface="Arial"/>
                <a:cs typeface="Arial"/>
              </a:rPr>
              <a:t> socket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32527" y="5374894"/>
            <a:ext cx="8953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" dirty="0">
                <a:solidFill>
                  <a:srgbClr val="3B822F"/>
                </a:solidFill>
                <a:latin typeface="Wingdings"/>
                <a:cs typeface="Wingdings"/>
              </a:rPr>
              <a:t></a:t>
            </a:r>
            <a:endParaRPr sz="110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75327" y="3750783"/>
            <a:ext cx="3124200" cy="183515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380490">
              <a:lnSpc>
                <a:spcPct val="100000"/>
              </a:lnSpc>
              <a:spcBef>
                <a:spcPts val="475"/>
              </a:spcBef>
            </a:pPr>
            <a:r>
              <a:rPr sz="2200" b="1" spc="-5" dirty="0">
                <a:solidFill>
                  <a:srgbClr val="006533"/>
                </a:solidFill>
                <a:latin typeface="Arial"/>
                <a:cs typeface="Arial"/>
              </a:rPr>
              <a:t>Server</a:t>
            </a:r>
            <a:endParaRPr sz="22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34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Create </a:t>
            </a:r>
            <a:r>
              <a:rPr sz="2000" spc="-5" dirty="0">
                <a:latin typeface="Arial"/>
                <a:cs typeface="Arial"/>
              </a:rPr>
              <a:t>a UDP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620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spc="-10" dirty="0">
                <a:latin typeface="Arial"/>
                <a:cs typeface="Arial"/>
              </a:rPr>
              <a:t>Assign </a:t>
            </a:r>
            <a:r>
              <a:rPr sz="2000" spc="-5" dirty="0">
                <a:latin typeface="Arial"/>
                <a:cs typeface="Arial"/>
              </a:rPr>
              <a:t>a port to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546100" indent="-533400">
              <a:lnSpc>
                <a:spcPct val="100000"/>
              </a:lnSpc>
              <a:spcBef>
                <a:spcPts val="475"/>
              </a:spcBef>
              <a:buClr>
                <a:srgbClr val="CC9A00"/>
              </a:buClr>
              <a:buSzPct val="65000"/>
              <a:buAutoNum type="arabicPeriod"/>
              <a:tabLst>
                <a:tab pos="545465" algn="l"/>
                <a:tab pos="546100" algn="l"/>
              </a:tabLst>
            </a:pPr>
            <a:r>
              <a:rPr sz="2000" b="1" spc="-5" dirty="0">
                <a:solidFill>
                  <a:srgbClr val="A50021"/>
                </a:solidFill>
                <a:latin typeface="Arial"/>
                <a:cs typeface="Arial"/>
              </a:rPr>
              <a:t>Repeatedly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34"/>
              </a:spcBef>
            </a:pPr>
            <a:r>
              <a:rPr sz="1800" spc="-10" dirty="0">
                <a:latin typeface="Arial"/>
                <a:cs typeface="Arial"/>
              </a:rPr>
              <a:t>Communicate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1979" y="261873"/>
            <a:ext cx="761492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35" dirty="0"/>
              <a:t>Client </a:t>
            </a:r>
            <a:r>
              <a:rPr sz="4200" spc="-260" dirty="0"/>
              <a:t>- </a:t>
            </a:r>
            <a:r>
              <a:rPr sz="4200" spc="-285" dirty="0"/>
              <a:t>Server </a:t>
            </a:r>
            <a:r>
              <a:rPr sz="4200" spc="-280" dirty="0"/>
              <a:t>Communication </a:t>
            </a:r>
            <a:r>
              <a:rPr sz="3200" spc="-200" dirty="0"/>
              <a:t>-</a:t>
            </a:r>
            <a:r>
              <a:rPr sz="3200" spc="-85" dirty="0"/>
              <a:t> </a:t>
            </a:r>
            <a:r>
              <a:rPr sz="3200" spc="-195" dirty="0"/>
              <a:t>Unix</a:t>
            </a:r>
            <a:endParaRPr sz="3200"/>
          </a:p>
        </p:txBody>
      </p:sp>
      <p:sp>
        <p:nvSpPr>
          <p:cNvPr id="4" name="object 4"/>
          <p:cNvSpPr/>
          <p:nvPr/>
        </p:nvSpPr>
        <p:spPr>
          <a:xfrm>
            <a:off x="321195" y="1860295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7"/>
                </a:lnTo>
                <a:lnTo>
                  <a:pt x="1335023" y="231647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0433" y="1860295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7"/>
                </a:lnTo>
                <a:lnTo>
                  <a:pt x="1335786" y="231647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60539" y="1851406"/>
            <a:ext cx="6559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7465" y="2096516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8" y="330707"/>
                </a:lnTo>
                <a:lnTo>
                  <a:pt x="33528" y="276605"/>
                </a:lnTo>
                <a:lnTo>
                  <a:pt x="34290" y="279653"/>
                </a:lnTo>
                <a:lnTo>
                  <a:pt x="38100" y="281177"/>
                </a:lnTo>
                <a:lnTo>
                  <a:pt x="41148" y="279653"/>
                </a:lnTo>
                <a:lnTo>
                  <a:pt x="42672" y="276605"/>
                </a:lnTo>
                <a:lnTo>
                  <a:pt x="42672" y="330707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72" y="263651"/>
                </a:moveTo>
                <a:lnTo>
                  <a:pt x="42672" y="5333"/>
                </a:lnTo>
                <a:lnTo>
                  <a:pt x="41148" y="1523"/>
                </a:lnTo>
                <a:lnTo>
                  <a:pt x="38100" y="0"/>
                </a:lnTo>
                <a:lnTo>
                  <a:pt x="34290" y="1523"/>
                </a:lnTo>
                <a:lnTo>
                  <a:pt x="33528" y="5333"/>
                </a:lnTo>
                <a:lnTo>
                  <a:pt x="33528" y="263651"/>
                </a:lnTo>
                <a:lnTo>
                  <a:pt x="42672" y="263651"/>
                </a:lnTo>
                <a:close/>
              </a:path>
              <a:path w="76200" h="340360">
                <a:moveTo>
                  <a:pt x="42672" y="330707"/>
                </a:moveTo>
                <a:lnTo>
                  <a:pt x="42672" y="276605"/>
                </a:lnTo>
                <a:lnTo>
                  <a:pt x="41148" y="279653"/>
                </a:lnTo>
                <a:lnTo>
                  <a:pt x="38100" y="281177"/>
                </a:lnTo>
                <a:lnTo>
                  <a:pt x="34290" y="279653"/>
                </a:lnTo>
                <a:lnTo>
                  <a:pt x="33528" y="276605"/>
                </a:lnTo>
                <a:lnTo>
                  <a:pt x="33528" y="330707"/>
                </a:lnTo>
                <a:lnTo>
                  <a:pt x="38100" y="339851"/>
                </a:lnTo>
                <a:lnTo>
                  <a:pt x="42672" y="3307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4243" y="2466848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4243" y="2466848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52729" y="2457957"/>
            <a:ext cx="4787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bind()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60513" y="2703067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6605"/>
                </a:lnTo>
                <a:lnTo>
                  <a:pt x="35051" y="279653"/>
                </a:lnTo>
                <a:lnTo>
                  <a:pt x="38100" y="281177"/>
                </a:lnTo>
                <a:lnTo>
                  <a:pt x="41910" y="279653"/>
                </a:lnTo>
                <a:lnTo>
                  <a:pt x="42672" y="276605"/>
                </a:lnTo>
                <a:lnTo>
                  <a:pt x="42672" y="330707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72" y="263651"/>
                </a:moveTo>
                <a:lnTo>
                  <a:pt x="42672" y="4571"/>
                </a:lnTo>
                <a:lnTo>
                  <a:pt x="41910" y="1523"/>
                </a:lnTo>
                <a:lnTo>
                  <a:pt x="38100" y="0"/>
                </a:lnTo>
                <a:lnTo>
                  <a:pt x="35051" y="1523"/>
                </a:lnTo>
                <a:lnTo>
                  <a:pt x="33527" y="4571"/>
                </a:lnTo>
                <a:lnTo>
                  <a:pt x="33527" y="263651"/>
                </a:lnTo>
                <a:lnTo>
                  <a:pt x="42672" y="263651"/>
                </a:lnTo>
                <a:close/>
              </a:path>
              <a:path w="76200" h="340360">
                <a:moveTo>
                  <a:pt x="42672" y="330707"/>
                </a:moveTo>
                <a:lnTo>
                  <a:pt x="42672" y="276605"/>
                </a:lnTo>
                <a:lnTo>
                  <a:pt x="41910" y="279653"/>
                </a:lnTo>
                <a:lnTo>
                  <a:pt x="38100" y="281177"/>
                </a:lnTo>
                <a:lnTo>
                  <a:pt x="35051" y="279653"/>
                </a:lnTo>
                <a:lnTo>
                  <a:pt x="33527" y="276605"/>
                </a:lnTo>
                <a:lnTo>
                  <a:pt x="33527" y="330707"/>
                </a:lnTo>
                <a:lnTo>
                  <a:pt x="38100" y="339851"/>
                </a:lnTo>
                <a:lnTo>
                  <a:pt x="42672" y="3307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27291" y="3063494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27291" y="3063494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16165" y="3054604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listen()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63561" y="3300476"/>
            <a:ext cx="76200" cy="339090"/>
          </a:xfrm>
          <a:custGeom>
            <a:avLst/>
            <a:gdLst/>
            <a:ahLst/>
            <a:cxnLst/>
            <a:rect l="l" t="t" r="r" b="b"/>
            <a:pathLst>
              <a:path w="76200" h="339089">
                <a:moveTo>
                  <a:pt x="76200" y="262889"/>
                </a:moveTo>
                <a:lnTo>
                  <a:pt x="0" y="262889"/>
                </a:lnTo>
                <a:lnTo>
                  <a:pt x="33527" y="329945"/>
                </a:lnTo>
                <a:lnTo>
                  <a:pt x="33527" y="275844"/>
                </a:lnTo>
                <a:lnTo>
                  <a:pt x="35051" y="279653"/>
                </a:lnTo>
                <a:lnTo>
                  <a:pt x="38100" y="280415"/>
                </a:lnTo>
                <a:lnTo>
                  <a:pt x="41909" y="279653"/>
                </a:lnTo>
                <a:lnTo>
                  <a:pt x="42671" y="275844"/>
                </a:lnTo>
                <a:lnTo>
                  <a:pt x="42671" y="329946"/>
                </a:lnTo>
                <a:lnTo>
                  <a:pt x="76200" y="262889"/>
                </a:lnTo>
                <a:close/>
              </a:path>
              <a:path w="76200" h="339089">
                <a:moveTo>
                  <a:pt x="42671" y="262889"/>
                </a:moveTo>
                <a:lnTo>
                  <a:pt x="42671" y="4572"/>
                </a:lnTo>
                <a:lnTo>
                  <a:pt x="41909" y="762"/>
                </a:lnTo>
                <a:lnTo>
                  <a:pt x="38100" y="0"/>
                </a:lnTo>
                <a:lnTo>
                  <a:pt x="35051" y="762"/>
                </a:lnTo>
                <a:lnTo>
                  <a:pt x="33527" y="4572"/>
                </a:lnTo>
                <a:lnTo>
                  <a:pt x="33527" y="262889"/>
                </a:lnTo>
                <a:lnTo>
                  <a:pt x="42671" y="262889"/>
                </a:lnTo>
                <a:close/>
              </a:path>
              <a:path w="76200" h="339089">
                <a:moveTo>
                  <a:pt x="42671" y="329946"/>
                </a:moveTo>
                <a:lnTo>
                  <a:pt x="42671" y="275844"/>
                </a:lnTo>
                <a:lnTo>
                  <a:pt x="41909" y="279653"/>
                </a:lnTo>
                <a:lnTo>
                  <a:pt x="38100" y="280415"/>
                </a:lnTo>
                <a:lnTo>
                  <a:pt x="35051" y="279653"/>
                </a:lnTo>
                <a:lnTo>
                  <a:pt x="33527" y="275844"/>
                </a:lnTo>
                <a:lnTo>
                  <a:pt x="33527" y="329945"/>
                </a:lnTo>
                <a:lnTo>
                  <a:pt x="38100" y="339089"/>
                </a:lnTo>
                <a:lnTo>
                  <a:pt x="42671" y="3299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0339" y="367004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0339" y="367004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65111" y="3661155"/>
            <a:ext cx="66548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accept()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66609" y="3906265"/>
            <a:ext cx="76200" cy="424815"/>
          </a:xfrm>
          <a:custGeom>
            <a:avLst/>
            <a:gdLst/>
            <a:ahLst/>
            <a:cxnLst/>
            <a:rect l="l" t="t" r="r" b="b"/>
            <a:pathLst>
              <a:path w="76200" h="424814">
                <a:moveTo>
                  <a:pt x="76200" y="348234"/>
                </a:moveTo>
                <a:lnTo>
                  <a:pt x="0" y="348234"/>
                </a:lnTo>
                <a:lnTo>
                  <a:pt x="33528" y="415290"/>
                </a:lnTo>
                <a:lnTo>
                  <a:pt x="33528" y="360425"/>
                </a:lnTo>
                <a:lnTo>
                  <a:pt x="35052" y="364236"/>
                </a:lnTo>
                <a:lnTo>
                  <a:pt x="38100" y="365760"/>
                </a:lnTo>
                <a:lnTo>
                  <a:pt x="41910" y="364236"/>
                </a:lnTo>
                <a:lnTo>
                  <a:pt x="43434" y="360425"/>
                </a:lnTo>
                <a:lnTo>
                  <a:pt x="43434" y="413765"/>
                </a:lnTo>
                <a:lnTo>
                  <a:pt x="76200" y="348234"/>
                </a:lnTo>
                <a:close/>
              </a:path>
              <a:path w="76200" h="424814">
                <a:moveTo>
                  <a:pt x="43434" y="348234"/>
                </a:moveTo>
                <a:lnTo>
                  <a:pt x="43434" y="5334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5334"/>
                </a:lnTo>
                <a:lnTo>
                  <a:pt x="33528" y="348234"/>
                </a:lnTo>
                <a:lnTo>
                  <a:pt x="43434" y="348234"/>
                </a:lnTo>
                <a:close/>
              </a:path>
              <a:path w="76200" h="424814">
                <a:moveTo>
                  <a:pt x="43434" y="413765"/>
                </a:moveTo>
                <a:lnTo>
                  <a:pt x="43434" y="360425"/>
                </a:lnTo>
                <a:lnTo>
                  <a:pt x="41910" y="364236"/>
                </a:lnTo>
                <a:lnTo>
                  <a:pt x="38100" y="365760"/>
                </a:lnTo>
                <a:lnTo>
                  <a:pt x="35052" y="364236"/>
                </a:lnTo>
                <a:lnTo>
                  <a:pt x="33528" y="360425"/>
                </a:lnTo>
                <a:lnTo>
                  <a:pt x="33528" y="415290"/>
                </a:lnTo>
                <a:lnTo>
                  <a:pt x="38100" y="424434"/>
                </a:lnTo>
                <a:lnTo>
                  <a:pt x="43434" y="4137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18909" y="4377944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18909" y="4377944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3" y="231648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48169" y="4369053"/>
            <a:ext cx="4781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55941" y="4614926"/>
            <a:ext cx="76200" cy="339090"/>
          </a:xfrm>
          <a:custGeom>
            <a:avLst/>
            <a:gdLst/>
            <a:ahLst/>
            <a:cxnLst/>
            <a:rect l="l" t="t" r="r" b="b"/>
            <a:pathLst>
              <a:path w="76200" h="339089">
                <a:moveTo>
                  <a:pt x="76200" y="262889"/>
                </a:moveTo>
                <a:lnTo>
                  <a:pt x="0" y="262889"/>
                </a:lnTo>
                <a:lnTo>
                  <a:pt x="33528" y="329946"/>
                </a:lnTo>
                <a:lnTo>
                  <a:pt x="33528" y="275844"/>
                </a:lnTo>
                <a:lnTo>
                  <a:pt x="34290" y="279653"/>
                </a:lnTo>
                <a:lnTo>
                  <a:pt x="38100" y="280415"/>
                </a:lnTo>
                <a:lnTo>
                  <a:pt x="41148" y="279653"/>
                </a:lnTo>
                <a:lnTo>
                  <a:pt x="42672" y="275844"/>
                </a:lnTo>
                <a:lnTo>
                  <a:pt x="42672" y="329945"/>
                </a:lnTo>
                <a:lnTo>
                  <a:pt x="76200" y="262889"/>
                </a:lnTo>
                <a:close/>
              </a:path>
              <a:path w="76200" h="339089">
                <a:moveTo>
                  <a:pt x="42672" y="262889"/>
                </a:moveTo>
                <a:lnTo>
                  <a:pt x="42672" y="4572"/>
                </a:lnTo>
                <a:lnTo>
                  <a:pt x="41148" y="762"/>
                </a:lnTo>
                <a:lnTo>
                  <a:pt x="38100" y="0"/>
                </a:lnTo>
                <a:lnTo>
                  <a:pt x="34290" y="762"/>
                </a:lnTo>
                <a:lnTo>
                  <a:pt x="33528" y="4572"/>
                </a:lnTo>
                <a:lnTo>
                  <a:pt x="33528" y="262889"/>
                </a:lnTo>
                <a:lnTo>
                  <a:pt x="42672" y="262889"/>
                </a:lnTo>
                <a:close/>
              </a:path>
              <a:path w="76200" h="339089">
                <a:moveTo>
                  <a:pt x="42672" y="329945"/>
                </a:moveTo>
                <a:lnTo>
                  <a:pt x="42672" y="275844"/>
                </a:lnTo>
                <a:lnTo>
                  <a:pt x="41148" y="279653"/>
                </a:lnTo>
                <a:lnTo>
                  <a:pt x="38100" y="280415"/>
                </a:lnTo>
                <a:lnTo>
                  <a:pt x="34290" y="279653"/>
                </a:lnTo>
                <a:lnTo>
                  <a:pt x="33528" y="275844"/>
                </a:lnTo>
                <a:lnTo>
                  <a:pt x="33528" y="329946"/>
                </a:lnTo>
                <a:lnTo>
                  <a:pt x="38100" y="339089"/>
                </a:lnTo>
                <a:lnTo>
                  <a:pt x="42672" y="3299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22719" y="498449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22719" y="498449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25309" y="4975605"/>
            <a:ext cx="5270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58989" y="5220715"/>
            <a:ext cx="76200" cy="540385"/>
          </a:xfrm>
          <a:custGeom>
            <a:avLst/>
            <a:gdLst/>
            <a:ahLst/>
            <a:cxnLst/>
            <a:rect l="l" t="t" r="r" b="b"/>
            <a:pathLst>
              <a:path w="76200" h="540385">
                <a:moveTo>
                  <a:pt x="76200" y="464058"/>
                </a:moveTo>
                <a:lnTo>
                  <a:pt x="0" y="464058"/>
                </a:lnTo>
                <a:lnTo>
                  <a:pt x="33528" y="531114"/>
                </a:lnTo>
                <a:lnTo>
                  <a:pt x="33528" y="476250"/>
                </a:lnTo>
                <a:lnTo>
                  <a:pt x="35051" y="480060"/>
                </a:lnTo>
                <a:lnTo>
                  <a:pt x="38100" y="481584"/>
                </a:lnTo>
                <a:lnTo>
                  <a:pt x="41148" y="480060"/>
                </a:lnTo>
                <a:lnTo>
                  <a:pt x="42672" y="476250"/>
                </a:lnTo>
                <a:lnTo>
                  <a:pt x="42672" y="531113"/>
                </a:lnTo>
                <a:lnTo>
                  <a:pt x="76200" y="464058"/>
                </a:lnTo>
                <a:close/>
              </a:path>
              <a:path w="76200" h="540385">
                <a:moveTo>
                  <a:pt x="42672" y="464058"/>
                </a:moveTo>
                <a:lnTo>
                  <a:pt x="42672" y="5334"/>
                </a:lnTo>
                <a:lnTo>
                  <a:pt x="41148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8" y="5334"/>
                </a:lnTo>
                <a:lnTo>
                  <a:pt x="33528" y="464058"/>
                </a:lnTo>
                <a:lnTo>
                  <a:pt x="42672" y="464058"/>
                </a:lnTo>
                <a:close/>
              </a:path>
              <a:path w="76200" h="540385">
                <a:moveTo>
                  <a:pt x="42672" y="531113"/>
                </a:moveTo>
                <a:lnTo>
                  <a:pt x="42672" y="476250"/>
                </a:lnTo>
                <a:lnTo>
                  <a:pt x="41148" y="480060"/>
                </a:lnTo>
                <a:lnTo>
                  <a:pt x="38100" y="481584"/>
                </a:lnTo>
                <a:lnTo>
                  <a:pt x="35051" y="480060"/>
                </a:lnTo>
                <a:lnTo>
                  <a:pt x="33528" y="476250"/>
                </a:lnTo>
                <a:lnTo>
                  <a:pt x="33528" y="531114"/>
                </a:lnTo>
                <a:lnTo>
                  <a:pt x="38100" y="540258"/>
                </a:lnTo>
                <a:lnTo>
                  <a:pt x="42672" y="531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27291" y="5790691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5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27291" y="5790691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5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16165" y="5781802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65873" y="1545843"/>
            <a:ext cx="6578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Server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962287" y="1867916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962287" y="1867916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302380" y="1859025"/>
            <a:ext cx="6559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599319" y="2104898"/>
            <a:ext cx="76200" cy="1559560"/>
          </a:xfrm>
          <a:custGeom>
            <a:avLst/>
            <a:gdLst/>
            <a:ahLst/>
            <a:cxnLst/>
            <a:rect l="l" t="t" r="r" b="b"/>
            <a:pathLst>
              <a:path w="76200" h="1559560">
                <a:moveTo>
                  <a:pt x="76200" y="1482852"/>
                </a:moveTo>
                <a:lnTo>
                  <a:pt x="0" y="1482852"/>
                </a:lnTo>
                <a:lnTo>
                  <a:pt x="32765" y="1548383"/>
                </a:lnTo>
                <a:lnTo>
                  <a:pt x="32765" y="1495043"/>
                </a:lnTo>
                <a:lnTo>
                  <a:pt x="34289" y="1498853"/>
                </a:lnTo>
                <a:lnTo>
                  <a:pt x="38100" y="1500377"/>
                </a:lnTo>
                <a:lnTo>
                  <a:pt x="41148" y="1498853"/>
                </a:lnTo>
                <a:lnTo>
                  <a:pt x="42672" y="1495043"/>
                </a:lnTo>
                <a:lnTo>
                  <a:pt x="42672" y="1549907"/>
                </a:lnTo>
                <a:lnTo>
                  <a:pt x="76200" y="1482852"/>
                </a:lnTo>
                <a:close/>
              </a:path>
              <a:path w="76200" h="1559560">
                <a:moveTo>
                  <a:pt x="42672" y="1482852"/>
                </a:moveTo>
                <a:lnTo>
                  <a:pt x="42672" y="4571"/>
                </a:lnTo>
                <a:lnTo>
                  <a:pt x="41148" y="1523"/>
                </a:lnTo>
                <a:lnTo>
                  <a:pt x="38100" y="0"/>
                </a:lnTo>
                <a:lnTo>
                  <a:pt x="34289" y="1523"/>
                </a:lnTo>
                <a:lnTo>
                  <a:pt x="32765" y="4571"/>
                </a:lnTo>
                <a:lnTo>
                  <a:pt x="32765" y="1482852"/>
                </a:lnTo>
                <a:lnTo>
                  <a:pt x="42672" y="1482852"/>
                </a:lnTo>
                <a:close/>
              </a:path>
              <a:path w="76200" h="1559560">
                <a:moveTo>
                  <a:pt x="42672" y="1549907"/>
                </a:moveTo>
                <a:lnTo>
                  <a:pt x="42672" y="1495043"/>
                </a:lnTo>
                <a:lnTo>
                  <a:pt x="41148" y="1498853"/>
                </a:lnTo>
                <a:lnTo>
                  <a:pt x="38100" y="1500377"/>
                </a:lnTo>
                <a:lnTo>
                  <a:pt x="34289" y="1498853"/>
                </a:lnTo>
                <a:lnTo>
                  <a:pt x="32765" y="1495043"/>
                </a:lnTo>
                <a:lnTo>
                  <a:pt x="32765" y="1548383"/>
                </a:lnTo>
                <a:lnTo>
                  <a:pt x="38100" y="1559052"/>
                </a:lnTo>
                <a:lnTo>
                  <a:pt x="42672" y="15499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972193" y="367766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972193" y="367766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3257422" y="3668776"/>
            <a:ext cx="7639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connect()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608463" y="3914647"/>
            <a:ext cx="76200" cy="424180"/>
          </a:xfrm>
          <a:custGeom>
            <a:avLst/>
            <a:gdLst/>
            <a:ahLst/>
            <a:cxnLst/>
            <a:rect l="l" t="t" r="r" b="b"/>
            <a:pathLst>
              <a:path w="76200" h="424179">
                <a:moveTo>
                  <a:pt x="76200" y="347472"/>
                </a:moveTo>
                <a:lnTo>
                  <a:pt x="0" y="347472"/>
                </a:lnTo>
                <a:lnTo>
                  <a:pt x="33528" y="414528"/>
                </a:lnTo>
                <a:lnTo>
                  <a:pt x="33528" y="360425"/>
                </a:lnTo>
                <a:lnTo>
                  <a:pt x="35052" y="363474"/>
                </a:lnTo>
                <a:lnTo>
                  <a:pt x="38100" y="364998"/>
                </a:lnTo>
                <a:lnTo>
                  <a:pt x="41910" y="363474"/>
                </a:lnTo>
                <a:lnTo>
                  <a:pt x="42672" y="360425"/>
                </a:lnTo>
                <a:lnTo>
                  <a:pt x="42672" y="414527"/>
                </a:lnTo>
                <a:lnTo>
                  <a:pt x="76200" y="347472"/>
                </a:lnTo>
                <a:close/>
              </a:path>
              <a:path w="76200" h="424179">
                <a:moveTo>
                  <a:pt x="42672" y="34747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347472"/>
                </a:lnTo>
                <a:lnTo>
                  <a:pt x="42672" y="347472"/>
                </a:lnTo>
                <a:close/>
              </a:path>
              <a:path w="76200" h="424179">
                <a:moveTo>
                  <a:pt x="42672" y="414527"/>
                </a:moveTo>
                <a:lnTo>
                  <a:pt x="42672" y="360425"/>
                </a:lnTo>
                <a:lnTo>
                  <a:pt x="41910" y="363474"/>
                </a:lnTo>
                <a:lnTo>
                  <a:pt x="38100" y="364998"/>
                </a:lnTo>
                <a:lnTo>
                  <a:pt x="35052" y="363474"/>
                </a:lnTo>
                <a:lnTo>
                  <a:pt x="33528" y="360425"/>
                </a:lnTo>
                <a:lnTo>
                  <a:pt x="33528" y="414528"/>
                </a:lnTo>
                <a:lnTo>
                  <a:pt x="38100" y="423672"/>
                </a:lnTo>
                <a:lnTo>
                  <a:pt x="42672" y="4145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960763" y="438632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960763" y="438632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3364103" y="4376673"/>
            <a:ext cx="5270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597033" y="4622546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5843"/>
                </a:lnTo>
                <a:lnTo>
                  <a:pt x="35051" y="279653"/>
                </a:lnTo>
                <a:lnTo>
                  <a:pt x="38100" y="281177"/>
                </a:lnTo>
                <a:lnTo>
                  <a:pt x="41910" y="279653"/>
                </a:lnTo>
                <a:lnTo>
                  <a:pt x="43434" y="275843"/>
                </a:lnTo>
                <a:lnTo>
                  <a:pt x="43434" y="329183"/>
                </a:lnTo>
                <a:lnTo>
                  <a:pt x="76200" y="263651"/>
                </a:lnTo>
                <a:close/>
              </a:path>
              <a:path w="76200" h="340360">
                <a:moveTo>
                  <a:pt x="43434" y="263651"/>
                </a:moveTo>
                <a:lnTo>
                  <a:pt x="43434" y="4571"/>
                </a:lnTo>
                <a:lnTo>
                  <a:pt x="41910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7" y="4571"/>
                </a:lnTo>
                <a:lnTo>
                  <a:pt x="33527" y="263651"/>
                </a:lnTo>
                <a:lnTo>
                  <a:pt x="43434" y="263651"/>
                </a:lnTo>
                <a:close/>
              </a:path>
              <a:path w="76200" h="340360">
                <a:moveTo>
                  <a:pt x="43434" y="329183"/>
                </a:moveTo>
                <a:lnTo>
                  <a:pt x="43434" y="275843"/>
                </a:lnTo>
                <a:lnTo>
                  <a:pt x="41910" y="279653"/>
                </a:lnTo>
                <a:lnTo>
                  <a:pt x="38100" y="281177"/>
                </a:lnTo>
                <a:lnTo>
                  <a:pt x="35051" y="279653"/>
                </a:lnTo>
                <a:lnTo>
                  <a:pt x="33527" y="275843"/>
                </a:lnTo>
                <a:lnTo>
                  <a:pt x="33527" y="330707"/>
                </a:lnTo>
                <a:lnTo>
                  <a:pt x="38100" y="339851"/>
                </a:lnTo>
                <a:lnTo>
                  <a:pt x="43434" y="3291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963811" y="499211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963811" y="499211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3392296" y="4983226"/>
            <a:ext cx="4781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600843" y="5229097"/>
            <a:ext cx="76200" cy="539750"/>
          </a:xfrm>
          <a:custGeom>
            <a:avLst/>
            <a:gdLst/>
            <a:ahLst/>
            <a:cxnLst/>
            <a:rect l="l" t="t" r="r" b="b"/>
            <a:pathLst>
              <a:path w="76200" h="539750">
                <a:moveTo>
                  <a:pt x="76200" y="463296"/>
                </a:moveTo>
                <a:lnTo>
                  <a:pt x="0" y="463296"/>
                </a:lnTo>
                <a:lnTo>
                  <a:pt x="32765" y="528827"/>
                </a:lnTo>
                <a:lnTo>
                  <a:pt x="32765" y="476250"/>
                </a:lnTo>
                <a:lnTo>
                  <a:pt x="34289" y="479298"/>
                </a:lnTo>
                <a:lnTo>
                  <a:pt x="38100" y="480822"/>
                </a:lnTo>
                <a:lnTo>
                  <a:pt x="41148" y="479298"/>
                </a:lnTo>
                <a:lnTo>
                  <a:pt x="42672" y="476250"/>
                </a:lnTo>
                <a:lnTo>
                  <a:pt x="42672" y="530351"/>
                </a:lnTo>
                <a:lnTo>
                  <a:pt x="76200" y="463296"/>
                </a:lnTo>
                <a:close/>
              </a:path>
              <a:path w="76200" h="539750">
                <a:moveTo>
                  <a:pt x="42672" y="463296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4289" y="1524"/>
                </a:lnTo>
                <a:lnTo>
                  <a:pt x="32765" y="4572"/>
                </a:lnTo>
                <a:lnTo>
                  <a:pt x="32765" y="463296"/>
                </a:lnTo>
                <a:lnTo>
                  <a:pt x="42672" y="463296"/>
                </a:lnTo>
                <a:close/>
              </a:path>
              <a:path w="76200" h="539750">
                <a:moveTo>
                  <a:pt x="42672" y="530351"/>
                </a:moveTo>
                <a:lnTo>
                  <a:pt x="42672" y="476250"/>
                </a:lnTo>
                <a:lnTo>
                  <a:pt x="41148" y="479298"/>
                </a:lnTo>
                <a:lnTo>
                  <a:pt x="38100" y="480822"/>
                </a:lnTo>
                <a:lnTo>
                  <a:pt x="34289" y="479298"/>
                </a:lnTo>
                <a:lnTo>
                  <a:pt x="32765" y="476250"/>
                </a:lnTo>
                <a:lnTo>
                  <a:pt x="32765" y="528827"/>
                </a:lnTo>
                <a:lnTo>
                  <a:pt x="38100" y="539496"/>
                </a:lnTo>
                <a:lnTo>
                  <a:pt x="42672" y="530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969145" y="5799073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968383" y="5799073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3358007" y="5789421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331336" y="1552701"/>
            <a:ext cx="5899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Client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676793" y="3755390"/>
            <a:ext cx="1271270" cy="76200"/>
          </a:xfrm>
          <a:custGeom>
            <a:avLst/>
            <a:gdLst/>
            <a:ahLst/>
            <a:cxnLst/>
            <a:rect l="l" t="t" r="r" b="b"/>
            <a:pathLst>
              <a:path w="1271270" h="76200">
                <a:moveTo>
                  <a:pt x="76200" y="0"/>
                </a:moveTo>
                <a:lnTo>
                  <a:pt x="0" y="38100"/>
                </a:lnTo>
                <a:lnTo>
                  <a:pt x="45719" y="60960"/>
                </a:lnTo>
                <a:lnTo>
                  <a:pt x="45719" y="38100"/>
                </a:lnTo>
                <a:lnTo>
                  <a:pt x="47243" y="35051"/>
                </a:lnTo>
                <a:lnTo>
                  <a:pt x="50292" y="33527"/>
                </a:lnTo>
                <a:lnTo>
                  <a:pt x="53400" y="33527"/>
                </a:lnTo>
                <a:lnTo>
                  <a:pt x="76200" y="0"/>
                </a:lnTo>
                <a:close/>
              </a:path>
              <a:path w="1271270" h="76200">
                <a:moveTo>
                  <a:pt x="53919" y="43434"/>
                </a:moveTo>
                <a:lnTo>
                  <a:pt x="50292" y="38100"/>
                </a:lnTo>
                <a:lnTo>
                  <a:pt x="50292" y="33527"/>
                </a:lnTo>
                <a:lnTo>
                  <a:pt x="47243" y="35051"/>
                </a:lnTo>
                <a:lnTo>
                  <a:pt x="45719" y="38100"/>
                </a:lnTo>
                <a:lnTo>
                  <a:pt x="47243" y="41910"/>
                </a:lnTo>
                <a:lnTo>
                  <a:pt x="50292" y="43434"/>
                </a:lnTo>
                <a:lnTo>
                  <a:pt x="50292" y="38100"/>
                </a:lnTo>
                <a:lnTo>
                  <a:pt x="53400" y="33527"/>
                </a:lnTo>
                <a:lnTo>
                  <a:pt x="53400" y="43434"/>
                </a:lnTo>
                <a:lnTo>
                  <a:pt x="53919" y="43434"/>
                </a:lnTo>
                <a:close/>
              </a:path>
              <a:path w="1271270" h="76200">
                <a:moveTo>
                  <a:pt x="76200" y="76200"/>
                </a:moveTo>
                <a:lnTo>
                  <a:pt x="53919" y="43434"/>
                </a:lnTo>
                <a:lnTo>
                  <a:pt x="50292" y="43434"/>
                </a:lnTo>
                <a:lnTo>
                  <a:pt x="47243" y="41910"/>
                </a:lnTo>
                <a:lnTo>
                  <a:pt x="45719" y="38100"/>
                </a:lnTo>
                <a:lnTo>
                  <a:pt x="45719" y="60960"/>
                </a:lnTo>
                <a:lnTo>
                  <a:pt x="76200" y="76200"/>
                </a:lnTo>
                <a:close/>
              </a:path>
              <a:path w="1271270" h="76200">
                <a:moveTo>
                  <a:pt x="1212341" y="38100"/>
                </a:moveTo>
                <a:lnTo>
                  <a:pt x="1211579" y="35051"/>
                </a:lnTo>
                <a:lnTo>
                  <a:pt x="1207769" y="33527"/>
                </a:lnTo>
                <a:lnTo>
                  <a:pt x="53400" y="33527"/>
                </a:lnTo>
                <a:lnTo>
                  <a:pt x="50292" y="38100"/>
                </a:lnTo>
                <a:lnTo>
                  <a:pt x="53919" y="43434"/>
                </a:lnTo>
                <a:lnTo>
                  <a:pt x="1207769" y="43434"/>
                </a:lnTo>
                <a:lnTo>
                  <a:pt x="1211579" y="41910"/>
                </a:lnTo>
                <a:lnTo>
                  <a:pt x="1212341" y="38100"/>
                </a:lnTo>
                <a:close/>
              </a:path>
              <a:path w="1271270" h="76200">
                <a:moveTo>
                  <a:pt x="1271015" y="38100"/>
                </a:moveTo>
                <a:lnTo>
                  <a:pt x="1194815" y="0"/>
                </a:lnTo>
                <a:lnTo>
                  <a:pt x="1194815" y="33527"/>
                </a:lnTo>
                <a:lnTo>
                  <a:pt x="1207769" y="33527"/>
                </a:lnTo>
                <a:lnTo>
                  <a:pt x="1211579" y="35051"/>
                </a:lnTo>
                <a:lnTo>
                  <a:pt x="1212341" y="38100"/>
                </a:lnTo>
                <a:lnTo>
                  <a:pt x="1212341" y="67437"/>
                </a:lnTo>
                <a:lnTo>
                  <a:pt x="1271015" y="38100"/>
                </a:lnTo>
                <a:close/>
              </a:path>
              <a:path w="1271270" h="76200">
                <a:moveTo>
                  <a:pt x="1212341" y="67437"/>
                </a:moveTo>
                <a:lnTo>
                  <a:pt x="1212341" y="38100"/>
                </a:lnTo>
                <a:lnTo>
                  <a:pt x="1211579" y="41910"/>
                </a:lnTo>
                <a:lnTo>
                  <a:pt x="1207769" y="43434"/>
                </a:lnTo>
                <a:lnTo>
                  <a:pt x="1194815" y="43434"/>
                </a:lnTo>
                <a:lnTo>
                  <a:pt x="1194815" y="76200"/>
                </a:lnTo>
                <a:lnTo>
                  <a:pt x="1212341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1821814" y="3383788"/>
            <a:ext cx="1080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5285" marR="5080" indent="-36322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synchronization  point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656219" y="4438141"/>
            <a:ext cx="1317625" cy="76200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76200" y="33528"/>
                </a:move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58674" y="38100"/>
                </a:lnTo>
                <a:lnTo>
                  <a:pt x="59436" y="35052"/>
                </a:lnTo>
                <a:lnTo>
                  <a:pt x="63245" y="33528"/>
                </a:lnTo>
                <a:lnTo>
                  <a:pt x="76200" y="33528"/>
                </a:lnTo>
                <a:close/>
              </a:path>
              <a:path w="1317625" h="76200">
                <a:moveTo>
                  <a:pt x="1317497" y="38100"/>
                </a:moveTo>
                <a:lnTo>
                  <a:pt x="1315973" y="35052"/>
                </a:lnTo>
                <a:lnTo>
                  <a:pt x="1312163" y="33528"/>
                </a:lnTo>
                <a:lnTo>
                  <a:pt x="63245" y="33528"/>
                </a:lnTo>
                <a:lnTo>
                  <a:pt x="59436" y="35052"/>
                </a:lnTo>
                <a:lnTo>
                  <a:pt x="58674" y="38100"/>
                </a:lnTo>
                <a:lnTo>
                  <a:pt x="59436" y="41910"/>
                </a:lnTo>
                <a:lnTo>
                  <a:pt x="63245" y="43434"/>
                </a:lnTo>
                <a:lnTo>
                  <a:pt x="1312163" y="43434"/>
                </a:lnTo>
                <a:lnTo>
                  <a:pt x="1315973" y="41910"/>
                </a:lnTo>
                <a:lnTo>
                  <a:pt x="1317497" y="38100"/>
                </a:lnTo>
                <a:close/>
              </a:path>
              <a:path w="1317625" h="76200">
                <a:moveTo>
                  <a:pt x="76200" y="76200"/>
                </a:moveTo>
                <a:lnTo>
                  <a:pt x="76200" y="43434"/>
                </a:lnTo>
                <a:lnTo>
                  <a:pt x="63245" y="43434"/>
                </a:lnTo>
                <a:lnTo>
                  <a:pt x="59436" y="41910"/>
                </a:lnTo>
                <a:lnTo>
                  <a:pt x="58674" y="38100"/>
                </a:lnTo>
                <a:lnTo>
                  <a:pt x="58674" y="67437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644789" y="5063744"/>
            <a:ext cx="1317625" cy="76200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1266443" y="38100"/>
                </a:moveTo>
                <a:lnTo>
                  <a:pt x="1263426" y="33527"/>
                </a:lnTo>
                <a:lnTo>
                  <a:pt x="4572" y="33527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909"/>
                </a:lnTo>
                <a:lnTo>
                  <a:pt x="4572" y="42671"/>
                </a:lnTo>
                <a:lnTo>
                  <a:pt x="1263426" y="42671"/>
                </a:lnTo>
                <a:lnTo>
                  <a:pt x="1266443" y="38100"/>
                </a:lnTo>
                <a:close/>
              </a:path>
              <a:path w="1317625" h="76200">
                <a:moveTo>
                  <a:pt x="1317497" y="38100"/>
                </a:moveTo>
                <a:lnTo>
                  <a:pt x="1241297" y="0"/>
                </a:lnTo>
                <a:lnTo>
                  <a:pt x="1263426" y="33527"/>
                </a:lnTo>
                <a:lnTo>
                  <a:pt x="1266443" y="33527"/>
                </a:lnTo>
                <a:lnTo>
                  <a:pt x="1270253" y="35051"/>
                </a:lnTo>
                <a:lnTo>
                  <a:pt x="1271777" y="38100"/>
                </a:lnTo>
                <a:lnTo>
                  <a:pt x="1271777" y="60959"/>
                </a:lnTo>
                <a:lnTo>
                  <a:pt x="1317497" y="38100"/>
                </a:lnTo>
                <a:close/>
              </a:path>
              <a:path w="1317625" h="76200">
                <a:moveTo>
                  <a:pt x="1271777" y="60959"/>
                </a:moveTo>
                <a:lnTo>
                  <a:pt x="1271777" y="38100"/>
                </a:lnTo>
                <a:lnTo>
                  <a:pt x="1270253" y="41909"/>
                </a:lnTo>
                <a:lnTo>
                  <a:pt x="1266443" y="42671"/>
                </a:lnTo>
                <a:lnTo>
                  <a:pt x="1263426" y="42672"/>
                </a:lnTo>
                <a:lnTo>
                  <a:pt x="1241297" y="76200"/>
                </a:lnTo>
                <a:lnTo>
                  <a:pt x="1271777" y="60959"/>
                </a:lnTo>
                <a:close/>
              </a:path>
              <a:path w="1317625" h="76200">
                <a:moveTo>
                  <a:pt x="1271777" y="38100"/>
                </a:moveTo>
                <a:lnTo>
                  <a:pt x="1270253" y="35051"/>
                </a:lnTo>
                <a:lnTo>
                  <a:pt x="1266443" y="33527"/>
                </a:lnTo>
                <a:lnTo>
                  <a:pt x="1263426" y="33527"/>
                </a:lnTo>
                <a:lnTo>
                  <a:pt x="1266443" y="38100"/>
                </a:lnTo>
                <a:lnTo>
                  <a:pt x="1266443" y="42671"/>
                </a:lnTo>
                <a:lnTo>
                  <a:pt x="1270253" y="41909"/>
                </a:lnTo>
                <a:lnTo>
                  <a:pt x="1271777" y="38100"/>
                </a:lnTo>
                <a:close/>
              </a:path>
              <a:path w="1317625" h="76200">
                <a:moveTo>
                  <a:pt x="1266443" y="42671"/>
                </a:moveTo>
                <a:lnTo>
                  <a:pt x="1266443" y="38100"/>
                </a:lnTo>
                <a:lnTo>
                  <a:pt x="1263426" y="42672"/>
                </a:lnTo>
                <a:lnTo>
                  <a:pt x="1266443" y="426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9255" y="4467097"/>
            <a:ext cx="219710" cy="665480"/>
          </a:xfrm>
          <a:custGeom>
            <a:avLst/>
            <a:gdLst/>
            <a:ahLst/>
            <a:cxnLst/>
            <a:rect l="l" t="t" r="r" b="b"/>
            <a:pathLst>
              <a:path w="219710" h="665479">
                <a:moveTo>
                  <a:pt x="169186" y="39412"/>
                </a:moveTo>
                <a:lnTo>
                  <a:pt x="168402" y="33527"/>
                </a:lnTo>
                <a:lnTo>
                  <a:pt x="163369" y="32226"/>
                </a:lnTo>
                <a:lnTo>
                  <a:pt x="146304" y="47243"/>
                </a:lnTo>
                <a:lnTo>
                  <a:pt x="111252" y="81534"/>
                </a:lnTo>
                <a:lnTo>
                  <a:pt x="80990" y="114280"/>
                </a:lnTo>
                <a:lnTo>
                  <a:pt x="55024" y="145578"/>
                </a:lnTo>
                <a:lnTo>
                  <a:pt x="25651" y="192421"/>
                </a:lnTo>
                <a:lnTo>
                  <a:pt x="3302" y="256210"/>
                </a:lnTo>
                <a:lnTo>
                  <a:pt x="0" y="291084"/>
                </a:lnTo>
                <a:lnTo>
                  <a:pt x="5599" y="334616"/>
                </a:lnTo>
                <a:lnTo>
                  <a:pt x="10021" y="348820"/>
                </a:lnTo>
                <a:lnTo>
                  <a:pt x="10021" y="279178"/>
                </a:lnTo>
                <a:lnTo>
                  <a:pt x="15011" y="246430"/>
                </a:lnTo>
                <a:lnTo>
                  <a:pt x="40386" y="185927"/>
                </a:lnTo>
                <a:lnTo>
                  <a:pt x="61145" y="153466"/>
                </a:lnTo>
                <a:lnTo>
                  <a:pt x="85344" y="123443"/>
                </a:lnTo>
                <a:lnTo>
                  <a:pt x="134874" y="70865"/>
                </a:lnTo>
                <a:lnTo>
                  <a:pt x="169186" y="39412"/>
                </a:lnTo>
                <a:close/>
              </a:path>
              <a:path w="219710" h="665479">
                <a:moveTo>
                  <a:pt x="219456" y="660653"/>
                </a:moveTo>
                <a:lnTo>
                  <a:pt x="218694" y="657605"/>
                </a:lnTo>
                <a:lnTo>
                  <a:pt x="198882" y="633222"/>
                </a:lnTo>
                <a:lnTo>
                  <a:pt x="141732" y="560069"/>
                </a:lnTo>
                <a:lnTo>
                  <a:pt x="103489" y="508115"/>
                </a:lnTo>
                <a:lnTo>
                  <a:pt x="67818" y="454151"/>
                </a:lnTo>
                <a:lnTo>
                  <a:pt x="49202" y="420902"/>
                </a:lnTo>
                <a:lnTo>
                  <a:pt x="32289" y="385567"/>
                </a:lnTo>
                <a:lnTo>
                  <a:pt x="19044" y="348901"/>
                </a:lnTo>
                <a:lnTo>
                  <a:pt x="10021" y="279178"/>
                </a:lnTo>
                <a:lnTo>
                  <a:pt x="10021" y="348820"/>
                </a:lnTo>
                <a:lnTo>
                  <a:pt x="39917" y="423872"/>
                </a:lnTo>
                <a:lnTo>
                  <a:pt x="65392" y="468312"/>
                </a:lnTo>
                <a:lnTo>
                  <a:pt x="94250" y="511770"/>
                </a:lnTo>
                <a:lnTo>
                  <a:pt x="124869" y="553604"/>
                </a:lnTo>
                <a:lnTo>
                  <a:pt x="155626" y="593172"/>
                </a:lnTo>
                <a:lnTo>
                  <a:pt x="211074" y="662939"/>
                </a:lnTo>
                <a:lnTo>
                  <a:pt x="214122" y="665226"/>
                </a:lnTo>
                <a:lnTo>
                  <a:pt x="217932" y="663701"/>
                </a:lnTo>
                <a:lnTo>
                  <a:pt x="219456" y="660653"/>
                </a:lnTo>
                <a:close/>
              </a:path>
              <a:path w="219710" h="665479">
                <a:moveTo>
                  <a:pt x="205740" y="0"/>
                </a:moveTo>
                <a:lnTo>
                  <a:pt x="124206" y="22098"/>
                </a:lnTo>
                <a:lnTo>
                  <a:pt x="163369" y="32226"/>
                </a:lnTo>
                <a:lnTo>
                  <a:pt x="165354" y="30479"/>
                </a:lnTo>
                <a:lnTo>
                  <a:pt x="168402" y="28955"/>
                </a:lnTo>
                <a:lnTo>
                  <a:pt x="171450" y="30479"/>
                </a:lnTo>
                <a:lnTo>
                  <a:pt x="172974" y="34289"/>
                </a:lnTo>
                <a:lnTo>
                  <a:pt x="172974" y="67817"/>
                </a:lnTo>
                <a:lnTo>
                  <a:pt x="174498" y="79248"/>
                </a:lnTo>
                <a:lnTo>
                  <a:pt x="205740" y="0"/>
                </a:lnTo>
                <a:close/>
              </a:path>
              <a:path w="219710" h="665479">
                <a:moveTo>
                  <a:pt x="172974" y="34289"/>
                </a:moveTo>
                <a:lnTo>
                  <a:pt x="171450" y="30479"/>
                </a:lnTo>
                <a:lnTo>
                  <a:pt x="168402" y="28955"/>
                </a:lnTo>
                <a:lnTo>
                  <a:pt x="165354" y="30479"/>
                </a:lnTo>
                <a:lnTo>
                  <a:pt x="163369" y="32226"/>
                </a:lnTo>
                <a:lnTo>
                  <a:pt x="168402" y="33527"/>
                </a:lnTo>
                <a:lnTo>
                  <a:pt x="169186" y="39412"/>
                </a:lnTo>
                <a:lnTo>
                  <a:pt x="171450" y="37337"/>
                </a:lnTo>
                <a:lnTo>
                  <a:pt x="172974" y="34289"/>
                </a:lnTo>
                <a:close/>
              </a:path>
              <a:path w="219710" h="665479">
                <a:moveTo>
                  <a:pt x="172974" y="67817"/>
                </a:moveTo>
                <a:lnTo>
                  <a:pt x="172974" y="34289"/>
                </a:lnTo>
                <a:lnTo>
                  <a:pt x="171450" y="37337"/>
                </a:lnTo>
                <a:lnTo>
                  <a:pt x="169186" y="39412"/>
                </a:lnTo>
                <a:lnTo>
                  <a:pt x="172974" y="678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317885" y="4483100"/>
            <a:ext cx="237490" cy="665480"/>
          </a:xfrm>
          <a:custGeom>
            <a:avLst/>
            <a:gdLst/>
            <a:ahLst/>
            <a:cxnLst/>
            <a:rect l="l" t="t" r="r" b="b"/>
            <a:pathLst>
              <a:path w="237489" h="665479">
                <a:moveTo>
                  <a:pt x="79248" y="31241"/>
                </a:moveTo>
                <a:lnTo>
                  <a:pt x="0" y="0"/>
                </a:lnTo>
                <a:lnTo>
                  <a:pt x="22098" y="82296"/>
                </a:lnTo>
                <a:lnTo>
                  <a:pt x="28956" y="57435"/>
                </a:lnTo>
                <a:lnTo>
                  <a:pt x="28956" y="37337"/>
                </a:lnTo>
                <a:lnTo>
                  <a:pt x="30480" y="34289"/>
                </a:lnTo>
                <a:lnTo>
                  <a:pt x="34289" y="32765"/>
                </a:lnTo>
                <a:lnTo>
                  <a:pt x="37337" y="34289"/>
                </a:lnTo>
                <a:lnTo>
                  <a:pt x="39892" y="37245"/>
                </a:lnTo>
                <a:lnTo>
                  <a:pt x="79248" y="31241"/>
                </a:lnTo>
                <a:close/>
              </a:path>
              <a:path w="237489" h="665479">
                <a:moveTo>
                  <a:pt x="227075" y="425960"/>
                </a:moveTo>
                <a:lnTo>
                  <a:pt x="227075" y="368808"/>
                </a:lnTo>
                <a:lnTo>
                  <a:pt x="223089" y="407843"/>
                </a:lnTo>
                <a:lnTo>
                  <a:pt x="210197" y="444650"/>
                </a:lnTo>
                <a:lnTo>
                  <a:pt x="190885" y="478969"/>
                </a:lnTo>
                <a:lnTo>
                  <a:pt x="167639" y="510539"/>
                </a:lnTo>
                <a:lnTo>
                  <a:pt x="129744" y="551030"/>
                </a:lnTo>
                <a:lnTo>
                  <a:pt x="89154" y="589026"/>
                </a:lnTo>
                <a:lnTo>
                  <a:pt x="28194" y="639317"/>
                </a:lnTo>
                <a:lnTo>
                  <a:pt x="6858" y="656082"/>
                </a:lnTo>
                <a:lnTo>
                  <a:pt x="5334" y="659891"/>
                </a:lnTo>
                <a:lnTo>
                  <a:pt x="6096" y="662939"/>
                </a:lnTo>
                <a:lnTo>
                  <a:pt x="9144" y="665226"/>
                </a:lnTo>
                <a:lnTo>
                  <a:pt x="12954" y="663701"/>
                </a:lnTo>
                <a:lnTo>
                  <a:pt x="54863" y="630174"/>
                </a:lnTo>
                <a:lnTo>
                  <a:pt x="95250" y="595884"/>
                </a:lnTo>
                <a:lnTo>
                  <a:pt x="133350" y="560832"/>
                </a:lnTo>
                <a:lnTo>
                  <a:pt x="171083" y="520382"/>
                </a:lnTo>
                <a:lnTo>
                  <a:pt x="202347" y="478786"/>
                </a:lnTo>
                <a:lnTo>
                  <a:pt x="219422" y="447174"/>
                </a:lnTo>
                <a:lnTo>
                  <a:pt x="227075" y="425960"/>
                </a:lnTo>
                <a:close/>
              </a:path>
              <a:path w="237489" h="665479">
                <a:moveTo>
                  <a:pt x="39892" y="37245"/>
                </a:moveTo>
                <a:lnTo>
                  <a:pt x="37337" y="34289"/>
                </a:lnTo>
                <a:lnTo>
                  <a:pt x="34289" y="32765"/>
                </a:lnTo>
                <a:lnTo>
                  <a:pt x="30480" y="34289"/>
                </a:lnTo>
                <a:lnTo>
                  <a:pt x="28956" y="37337"/>
                </a:lnTo>
                <a:lnTo>
                  <a:pt x="30480" y="41148"/>
                </a:lnTo>
                <a:lnTo>
                  <a:pt x="32726" y="43768"/>
                </a:lnTo>
                <a:lnTo>
                  <a:pt x="34289" y="38100"/>
                </a:lnTo>
                <a:lnTo>
                  <a:pt x="39892" y="37245"/>
                </a:lnTo>
                <a:close/>
              </a:path>
              <a:path w="237489" h="665479">
                <a:moveTo>
                  <a:pt x="32726" y="43768"/>
                </a:moveTo>
                <a:lnTo>
                  <a:pt x="30480" y="41148"/>
                </a:lnTo>
                <a:lnTo>
                  <a:pt x="28956" y="37337"/>
                </a:lnTo>
                <a:lnTo>
                  <a:pt x="28956" y="57435"/>
                </a:lnTo>
                <a:lnTo>
                  <a:pt x="32726" y="43768"/>
                </a:lnTo>
                <a:close/>
              </a:path>
              <a:path w="237489" h="665479">
                <a:moveTo>
                  <a:pt x="236982" y="379475"/>
                </a:moveTo>
                <a:lnTo>
                  <a:pt x="233077" y="333526"/>
                </a:lnTo>
                <a:lnTo>
                  <a:pt x="218333" y="286475"/>
                </a:lnTo>
                <a:lnTo>
                  <a:pt x="195163" y="239273"/>
                </a:lnTo>
                <a:lnTo>
                  <a:pt x="165977" y="192871"/>
                </a:lnTo>
                <a:lnTo>
                  <a:pt x="133190" y="148221"/>
                </a:lnTo>
                <a:lnTo>
                  <a:pt x="99212" y="106273"/>
                </a:lnTo>
                <a:lnTo>
                  <a:pt x="39892" y="37245"/>
                </a:lnTo>
                <a:lnTo>
                  <a:pt x="34289" y="38100"/>
                </a:lnTo>
                <a:lnTo>
                  <a:pt x="32726" y="43768"/>
                </a:lnTo>
                <a:lnTo>
                  <a:pt x="39624" y="51815"/>
                </a:lnTo>
                <a:lnTo>
                  <a:pt x="81534" y="99822"/>
                </a:lnTo>
                <a:lnTo>
                  <a:pt x="119949" y="147058"/>
                </a:lnTo>
                <a:lnTo>
                  <a:pt x="154370" y="193436"/>
                </a:lnTo>
                <a:lnTo>
                  <a:pt x="191032" y="251954"/>
                </a:lnTo>
                <a:lnTo>
                  <a:pt x="209349" y="289912"/>
                </a:lnTo>
                <a:lnTo>
                  <a:pt x="222433" y="329599"/>
                </a:lnTo>
                <a:lnTo>
                  <a:pt x="227075" y="368808"/>
                </a:lnTo>
                <a:lnTo>
                  <a:pt x="227075" y="425960"/>
                </a:lnTo>
                <a:lnTo>
                  <a:pt x="231561" y="413527"/>
                </a:lnTo>
                <a:lnTo>
                  <a:pt x="236982" y="3794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1695323" y="1157223"/>
            <a:ext cx="1092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541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Stream  </a:t>
            </a:r>
            <a:r>
              <a:rPr sz="1800" b="1" spc="-5" dirty="0">
                <a:latin typeface="Arial"/>
                <a:cs typeface="Arial"/>
              </a:rPr>
              <a:t>(e.g.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TCP)</a:t>
            </a:r>
            <a:endParaRPr sz="1800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4874145" y="1867916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4" y="232410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873383" y="1867916"/>
            <a:ext cx="1336040" cy="232410"/>
          </a:xfrm>
          <a:custGeom>
            <a:avLst/>
            <a:gdLst/>
            <a:ahLst/>
            <a:cxnLst/>
            <a:rect l="l" t="t" r="r" b="b"/>
            <a:pathLst>
              <a:path w="1336039" h="232410">
                <a:moveTo>
                  <a:pt x="0" y="0"/>
                </a:moveTo>
                <a:lnTo>
                  <a:pt x="0" y="232410"/>
                </a:lnTo>
                <a:lnTo>
                  <a:pt x="1335786" y="232410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5213477" y="1859025"/>
            <a:ext cx="6559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5510415" y="2104898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5843"/>
                </a:lnTo>
                <a:lnTo>
                  <a:pt x="34289" y="279653"/>
                </a:lnTo>
                <a:lnTo>
                  <a:pt x="38100" y="281177"/>
                </a:lnTo>
                <a:lnTo>
                  <a:pt x="41135" y="279653"/>
                </a:lnTo>
                <a:lnTo>
                  <a:pt x="42659" y="275843"/>
                </a:lnTo>
                <a:lnTo>
                  <a:pt x="42659" y="330733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59" y="263651"/>
                </a:moveTo>
                <a:lnTo>
                  <a:pt x="42659" y="4571"/>
                </a:lnTo>
                <a:lnTo>
                  <a:pt x="41135" y="1523"/>
                </a:lnTo>
                <a:lnTo>
                  <a:pt x="38100" y="0"/>
                </a:lnTo>
                <a:lnTo>
                  <a:pt x="34289" y="1523"/>
                </a:lnTo>
                <a:lnTo>
                  <a:pt x="33527" y="4571"/>
                </a:lnTo>
                <a:lnTo>
                  <a:pt x="33527" y="263651"/>
                </a:lnTo>
                <a:lnTo>
                  <a:pt x="42659" y="263651"/>
                </a:lnTo>
                <a:close/>
              </a:path>
              <a:path w="76200" h="340360">
                <a:moveTo>
                  <a:pt x="42659" y="330733"/>
                </a:moveTo>
                <a:lnTo>
                  <a:pt x="42659" y="275843"/>
                </a:lnTo>
                <a:lnTo>
                  <a:pt x="41135" y="279653"/>
                </a:lnTo>
                <a:lnTo>
                  <a:pt x="38100" y="281177"/>
                </a:lnTo>
                <a:lnTo>
                  <a:pt x="34289" y="279653"/>
                </a:lnTo>
                <a:lnTo>
                  <a:pt x="33527" y="275843"/>
                </a:lnTo>
                <a:lnTo>
                  <a:pt x="33527" y="330707"/>
                </a:lnTo>
                <a:lnTo>
                  <a:pt x="38100" y="339851"/>
                </a:lnTo>
                <a:lnTo>
                  <a:pt x="42659" y="3307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877193" y="2474467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877193" y="2474467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5305678" y="2465577"/>
            <a:ext cx="4787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bind()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5513451" y="2711450"/>
            <a:ext cx="76200" cy="1631950"/>
          </a:xfrm>
          <a:custGeom>
            <a:avLst/>
            <a:gdLst/>
            <a:ahLst/>
            <a:cxnLst/>
            <a:rect l="l" t="t" r="r" b="b"/>
            <a:pathLst>
              <a:path w="76200" h="1631950">
                <a:moveTo>
                  <a:pt x="76200" y="1555241"/>
                </a:moveTo>
                <a:lnTo>
                  <a:pt x="0" y="1555241"/>
                </a:lnTo>
                <a:lnTo>
                  <a:pt x="33540" y="1622323"/>
                </a:lnTo>
                <a:lnTo>
                  <a:pt x="33540" y="1568195"/>
                </a:lnTo>
                <a:lnTo>
                  <a:pt x="35064" y="1571243"/>
                </a:lnTo>
                <a:lnTo>
                  <a:pt x="38100" y="1572767"/>
                </a:lnTo>
                <a:lnTo>
                  <a:pt x="41922" y="1571243"/>
                </a:lnTo>
                <a:lnTo>
                  <a:pt x="42684" y="1568195"/>
                </a:lnTo>
                <a:lnTo>
                  <a:pt x="42684" y="1622272"/>
                </a:lnTo>
                <a:lnTo>
                  <a:pt x="76200" y="1555241"/>
                </a:lnTo>
                <a:close/>
              </a:path>
              <a:path w="76200" h="1631950">
                <a:moveTo>
                  <a:pt x="42684" y="1555241"/>
                </a:moveTo>
                <a:lnTo>
                  <a:pt x="42684" y="4571"/>
                </a:lnTo>
                <a:lnTo>
                  <a:pt x="41922" y="761"/>
                </a:lnTo>
                <a:lnTo>
                  <a:pt x="38100" y="0"/>
                </a:lnTo>
                <a:lnTo>
                  <a:pt x="35064" y="761"/>
                </a:lnTo>
                <a:lnTo>
                  <a:pt x="33540" y="4571"/>
                </a:lnTo>
                <a:lnTo>
                  <a:pt x="33540" y="1555241"/>
                </a:lnTo>
                <a:lnTo>
                  <a:pt x="42684" y="1555241"/>
                </a:lnTo>
                <a:close/>
              </a:path>
              <a:path w="76200" h="1631950">
                <a:moveTo>
                  <a:pt x="42684" y="1622272"/>
                </a:moveTo>
                <a:lnTo>
                  <a:pt x="42684" y="1568195"/>
                </a:lnTo>
                <a:lnTo>
                  <a:pt x="41922" y="1571243"/>
                </a:lnTo>
                <a:lnTo>
                  <a:pt x="38100" y="1572767"/>
                </a:lnTo>
                <a:lnTo>
                  <a:pt x="35064" y="1571243"/>
                </a:lnTo>
                <a:lnTo>
                  <a:pt x="33540" y="1568195"/>
                </a:lnTo>
                <a:lnTo>
                  <a:pt x="33540" y="1622323"/>
                </a:lnTo>
                <a:lnTo>
                  <a:pt x="38100" y="1631441"/>
                </a:lnTo>
                <a:lnTo>
                  <a:pt x="42684" y="1622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871859" y="4386326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39" h="231775">
                <a:moveTo>
                  <a:pt x="0" y="0"/>
                </a:moveTo>
                <a:lnTo>
                  <a:pt x="0" y="231648"/>
                </a:lnTo>
                <a:lnTo>
                  <a:pt x="1335785" y="231648"/>
                </a:lnTo>
                <a:lnTo>
                  <a:pt x="1335785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871859" y="438632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5122811" y="4376673"/>
            <a:ext cx="8318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recvfrom()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5508891" y="4622546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15" y="330682"/>
                </a:lnTo>
                <a:lnTo>
                  <a:pt x="33515" y="275843"/>
                </a:lnTo>
                <a:lnTo>
                  <a:pt x="34289" y="279653"/>
                </a:lnTo>
                <a:lnTo>
                  <a:pt x="38100" y="281177"/>
                </a:lnTo>
                <a:lnTo>
                  <a:pt x="41135" y="279653"/>
                </a:lnTo>
                <a:lnTo>
                  <a:pt x="42659" y="275843"/>
                </a:lnTo>
                <a:lnTo>
                  <a:pt x="42659" y="330733"/>
                </a:lnTo>
                <a:lnTo>
                  <a:pt x="76200" y="263651"/>
                </a:lnTo>
                <a:close/>
              </a:path>
              <a:path w="76200" h="340360">
                <a:moveTo>
                  <a:pt x="42659" y="263651"/>
                </a:moveTo>
                <a:lnTo>
                  <a:pt x="42659" y="4571"/>
                </a:lnTo>
                <a:lnTo>
                  <a:pt x="41135" y="1524"/>
                </a:lnTo>
                <a:lnTo>
                  <a:pt x="38100" y="0"/>
                </a:lnTo>
                <a:lnTo>
                  <a:pt x="34289" y="1524"/>
                </a:lnTo>
                <a:lnTo>
                  <a:pt x="33515" y="4571"/>
                </a:lnTo>
                <a:lnTo>
                  <a:pt x="33515" y="263651"/>
                </a:lnTo>
                <a:lnTo>
                  <a:pt x="42659" y="263651"/>
                </a:lnTo>
                <a:close/>
              </a:path>
              <a:path w="76200" h="340360">
                <a:moveTo>
                  <a:pt x="42659" y="330733"/>
                </a:moveTo>
                <a:lnTo>
                  <a:pt x="42659" y="275843"/>
                </a:lnTo>
                <a:lnTo>
                  <a:pt x="41135" y="279653"/>
                </a:lnTo>
                <a:lnTo>
                  <a:pt x="38100" y="281177"/>
                </a:lnTo>
                <a:lnTo>
                  <a:pt x="34289" y="279653"/>
                </a:lnTo>
                <a:lnTo>
                  <a:pt x="33515" y="275843"/>
                </a:lnTo>
                <a:lnTo>
                  <a:pt x="33515" y="330682"/>
                </a:lnTo>
                <a:lnTo>
                  <a:pt x="38100" y="339851"/>
                </a:lnTo>
                <a:lnTo>
                  <a:pt x="42659" y="3307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875669" y="499211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3" y="232410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875669" y="4992115"/>
            <a:ext cx="1335405" cy="232410"/>
          </a:xfrm>
          <a:custGeom>
            <a:avLst/>
            <a:gdLst/>
            <a:ahLst/>
            <a:cxnLst/>
            <a:rect l="l" t="t" r="r" b="b"/>
            <a:pathLst>
              <a:path w="1335404" h="232410">
                <a:moveTo>
                  <a:pt x="0" y="0"/>
                </a:moveTo>
                <a:lnTo>
                  <a:pt x="0" y="232410"/>
                </a:lnTo>
                <a:lnTo>
                  <a:pt x="1335023" y="232410"/>
                </a:lnTo>
                <a:lnTo>
                  <a:pt x="1335023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5205857" y="4983226"/>
            <a:ext cx="6750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sendto()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5511927" y="5229097"/>
            <a:ext cx="76200" cy="539750"/>
          </a:xfrm>
          <a:custGeom>
            <a:avLst/>
            <a:gdLst/>
            <a:ahLst/>
            <a:cxnLst/>
            <a:rect l="l" t="t" r="r" b="b"/>
            <a:pathLst>
              <a:path w="76200" h="539750">
                <a:moveTo>
                  <a:pt x="76200" y="463296"/>
                </a:moveTo>
                <a:lnTo>
                  <a:pt x="0" y="463296"/>
                </a:lnTo>
                <a:lnTo>
                  <a:pt x="33540" y="530377"/>
                </a:lnTo>
                <a:lnTo>
                  <a:pt x="33540" y="476250"/>
                </a:lnTo>
                <a:lnTo>
                  <a:pt x="35064" y="479298"/>
                </a:lnTo>
                <a:lnTo>
                  <a:pt x="38100" y="480822"/>
                </a:lnTo>
                <a:lnTo>
                  <a:pt x="41148" y="479298"/>
                </a:lnTo>
                <a:lnTo>
                  <a:pt x="42672" y="476250"/>
                </a:lnTo>
                <a:lnTo>
                  <a:pt x="42672" y="530351"/>
                </a:lnTo>
                <a:lnTo>
                  <a:pt x="76200" y="463296"/>
                </a:lnTo>
                <a:close/>
              </a:path>
              <a:path w="76200" h="539750">
                <a:moveTo>
                  <a:pt x="42672" y="463296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5064" y="1524"/>
                </a:lnTo>
                <a:lnTo>
                  <a:pt x="33540" y="4572"/>
                </a:lnTo>
                <a:lnTo>
                  <a:pt x="33540" y="463296"/>
                </a:lnTo>
                <a:lnTo>
                  <a:pt x="42672" y="463296"/>
                </a:lnTo>
                <a:close/>
              </a:path>
              <a:path w="76200" h="539750">
                <a:moveTo>
                  <a:pt x="42672" y="530351"/>
                </a:moveTo>
                <a:lnTo>
                  <a:pt x="42672" y="476250"/>
                </a:lnTo>
                <a:lnTo>
                  <a:pt x="41148" y="479298"/>
                </a:lnTo>
                <a:lnTo>
                  <a:pt x="38100" y="480822"/>
                </a:lnTo>
                <a:lnTo>
                  <a:pt x="35064" y="479298"/>
                </a:lnTo>
                <a:lnTo>
                  <a:pt x="33540" y="476250"/>
                </a:lnTo>
                <a:lnTo>
                  <a:pt x="33540" y="530377"/>
                </a:lnTo>
                <a:lnTo>
                  <a:pt x="38100" y="539496"/>
                </a:lnTo>
                <a:lnTo>
                  <a:pt x="42672" y="5303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880241" y="5799073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AFBF39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880241" y="5799073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5269103" y="5789421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218810" y="1554225"/>
            <a:ext cx="6578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Server</a:t>
            </a:r>
            <a:endParaRPr sz="1600">
              <a:latin typeface="Arial"/>
              <a:cs typeface="Arial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7515225" y="1876298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7515225" y="1876298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7855331" y="1867407"/>
            <a:ext cx="65595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socket()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8152269" y="2701544"/>
            <a:ext cx="76200" cy="1632585"/>
          </a:xfrm>
          <a:custGeom>
            <a:avLst/>
            <a:gdLst/>
            <a:ahLst/>
            <a:cxnLst/>
            <a:rect l="l" t="t" r="r" b="b"/>
            <a:pathLst>
              <a:path w="76200" h="1632585">
                <a:moveTo>
                  <a:pt x="76200" y="1556004"/>
                </a:moveTo>
                <a:lnTo>
                  <a:pt x="0" y="1556004"/>
                </a:lnTo>
                <a:lnTo>
                  <a:pt x="32753" y="1621510"/>
                </a:lnTo>
                <a:lnTo>
                  <a:pt x="32753" y="1568196"/>
                </a:lnTo>
                <a:lnTo>
                  <a:pt x="34277" y="1572006"/>
                </a:lnTo>
                <a:lnTo>
                  <a:pt x="38100" y="1573530"/>
                </a:lnTo>
                <a:lnTo>
                  <a:pt x="41148" y="1572006"/>
                </a:lnTo>
                <a:lnTo>
                  <a:pt x="42672" y="1568196"/>
                </a:lnTo>
                <a:lnTo>
                  <a:pt x="42672" y="1623060"/>
                </a:lnTo>
                <a:lnTo>
                  <a:pt x="76200" y="1556004"/>
                </a:lnTo>
                <a:close/>
              </a:path>
              <a:path w="76200" h="1632585">
                <a:moveTo>
                  <a:pt x="42672" y="1556004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77" y="1524"/>
                </a:lnTo>
                <a:lnTo>
                  <a:pt x="32753" y="4572"/>
                </a:lnTo>
                <a:lnTo>
                  <a:pt x="32753" y="1556004"/>
                </a:lnTo>
                <a:lnTo>
                  <a:pt x="42672" y="1556004"/>
                </a:lnTo>
                <a:close/>
              </a:path>
              <a:path w="76200" h="1632585">
                <a:moveTo>
                  <a:pt x="42672" y="1623060"/>
                </a:moveTo>
                <a:lnTo>
                  <a:pt x="42672" y="1568196"/>
                </a:lnTo>
                <a:lnTo>
                  <a:pt x="41148" y="1572006"/>
                </a:lnTo>
                <a:lnTo>
                  <a:pt x="38100" y="1573530"/>
                </a:lnTo>
                <a:lnTo>
                  <a:pt x="34277" y="1572006"/>
                </a:lnTo>
                <a:lnTo>
                  <a:pt x="32753" y="1568196"/>
                </a:lnTo>
                <a:lnTo>
                  <a:pt x="32753" y="1621510"/>
                </a:lnTo>
                <a:lnTo>
                  <a:pt x="38100" y="1632204"/>
                </a:lnTo>
                <a:lnTo>
                  <a:pt x="42672" y="16230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7513701" y="439394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7513701" y="4393946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7843901" y="4385055"/>
            <a:ext cx="6750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sendto()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8149970" y="4630165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1"/>
                </a:moveTo>
                <a:lnTo>
                  <a:pt x="0" y="263651"/>
                </a:lnTo>
                <a:lnTo>
                  <a:pt x="33527" y="330707"/>
                </a:lnTo>
                <a:lnTo>
                  <a:pt x="33527" y="276606"/>
                </a:lnTo>
                <a:lnTo>
                  <a:pt x="35051" y="279654"/>
                </a:lnTo>
                <a:lnTo>
                  <a:pt x="38100" y="281178"/>
                </a:lnTo>
                <a:lnTo>
                  <a:pt x="41922" y="279654"/>
                </a:lnTo>
                <a:lnTo>
                  <a:pt x="43446" y="276606"/>
                </a:lnTo>
                <a:lnTo>
                  <a:pt x="43446" y="329158"/>
                </a:lnTo>
                <a:lnTo>
                  <a:pt x="76200" y="263651"/>
                </a:lnTo>
                <a:close/>
              </a:path>
              <a:path w="76200" h="340360">
                <a:moveTo>
                  <a:pt x="43446" y="263651"/>
                </a:moveTo>
                <a:lnTo>
                  <a:pt x="43446" y="5334"/>
                </a:lnTo>
                <a:lnTo>
                  <a:pt x="41922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7" y="5334"/>
                </a:lnTo>
                <a:lnTo>
                  <a:pt x="33527" y="263651"/>
                </a:lnTo>
                <a:lnTo>
                  <a:pt x="43446" y="263651"/>
                </a:lnTo>
                <a:close/>
              </a:path>
              <a:path w="76200" h="340360">
                <a:moveTo>
                  <a:pt x="43446" y="329158"/>
                </a:moveTo>
                <a:lnTo>
                  <a:pt x="43446" y="276606"/>
                </a:lnTo>
                <a:lnTo>
                  <a:pt x="41922" y="279654"/>
                </a:lnTo>
                <a:lnTo>
                  <a:pt x="38100" y="281178"/>
                </a:lnTo>
                <a:lnTo>
                  <a:pt x="35051" y="279654"/>
                </a:lnTo>
                <a:lnTo>
                  <a:pt x="33527" y="276606"/>
                </a:lnTo>
                <a:lnTo>
                  <a:pt x="33527" y="330707"/>
                </a:lnTo>
                <a:lnTo>
                  <a:pt x="38100" y="339851"/>
                </a:lnTo>
                <a:lnTo>
                  <a:pt x="43446" y="3291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7516748" y="5000497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7516748" y="5000497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7767701" y="4991608"/>
            <a:ext cx="8318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recvfrom()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8153793" y="5236717"/>
            <a:ext cx="76200" cy="540385"/>
          </a:xfrm>
          <a:custGeom>
            <a:avLst/>
            <a:gdLst/>
            <a:ahLst/>
            <a:cxnLst/>
            <a:rect l="l" t="t" r="r" b="b"/>
            <a:pathLst>
              <a:path w="76200" h="540385">
                <a:moveTo>
                  <a:pt x="76200" y="464058"/>
                </a:moveTo>
                <a:lnTo>
                  <a:pt x="0" y="464058"/>
                </a:lnTo>
                <a:lnTo>
                  <a:pt x="32753" y="529564"/>
                </a:lnTo>
                <a:lnTo>
                  <a:pt x="32753" y="476250"/>
                </a:lnTo>
                <a:lnTo>
                  <a:pt x="34277" y="480060"/>
                </a:lnTo>
                <a:lnTo>
                  <a:pt x="38100" y="480822"/>
                </a:lnTo>
                <a:lnTo>
                  <a:pt x="41148" y="480060"/>
                </a:lnTo>
                <a:lnTo>
                  <a:pt x="42672" y="476250"/>
                </a:lnTo>
                <a:lnTo>
                  <a:pt x="42672" y="531113"/>
                </a:lnTo>
                <a:lnTo>
                  <a:pt x="76200" y="464058"/>
                </a:lnTo>
                <a:close/>
              </a:path>
              <a:path w="76200" h="540385">
                <a:moveTo>
                  <a:pt x="42672" y="464058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77" y="1524"/>
                </a:lnTo>
                <a:lnTo>
                  <a:pt x="32753" y="4572"/>
                </a:lnTo>
                <a:lnTo>
                  <a:pt x="32753" y="464058"/>
                </a:lnTo>
                <a:lnTo>
                  <a:pt x="42672" y="464058"/>
                </a:lnTo>
                <a:close/>
              </a:path>
              <a:path w="76200" h="540385">
                <a:moveTo>
                  <a:pt x="42672" y="531113"/>
                </a:moveTo>
                <a:lnTo>
                  <a:pt x="42672" y="476250"/>
                </a:lnTo>
                <a:lnTo>
                  <a:pt x="41148" y="480060"/>
                </a:lnTo>
                <a:lnTo>
                  <a:pt x="38100" y="480822"/>
                </a:lnTo>
                <a:lnTo>
                  <a:pt x="34277" y="480060"/>
                </a:lnTo>
                <a:lnTo>
                  <a:pt x="32753" y="476250"/>
                </a:lnTo>
                <a:lnTo>
                  <a:pt x="32753" y="529564"/>
                </a:lnTo>
                <a:lnTo>
                  <a:pt x="38100" y="540258"/>
                </a:lnTo>
                <a:lnTo>
                  <a:pt x="42672" y="531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7522095" y="5806694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7521333" y="5806694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40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7910956" y="5797803"/>
            <a:ext cx="557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close()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7884286" y="1560322"/>
            <a:ext cx="58991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Client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6209169" y="4446523"/>
            <a:ext cx="1317625" cy="76200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76200" y="32765"/>
                </a:move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58674" y="38100"/>
                </a:lnTo>
                <a:lnTo>
                  <a:pt x="59436" y="34289"/>
                </a:lnTo>
                <a:lnTo>
                  <a:pt x="63246" y="32765"/>
                </a:lnTo>
                <a:lnTo>
                  <a:pt x="76200" y="32765"/>
                </a:lnTo>
                <a:close/>
              </a:path>
              <a:path w="1317625" h="76200">
                <a:moveTo>
                  <a:pt x="1317498" y="38100"/>
                </a:moveTo>
                <a:lnTo>
                  <a:pt x="1315974" y="34289"/>
                </a:lnTo>
                <a:lnTo>
                  <a:pt x="1312164" y="32765"/>
                </a:lnTo>
                <a:lnTo>
                  <a:pt x="63246" y="32765"/>
                </a:lnTo>
                <a:lnTo>
                  <a:pt x="59436" y="34289"/>
                </a:lnTo>
                <a:lnTo>
                  <a:pt x="58674" y="38100"/>
                </a:lnTo>
                <a:lnTo>
                  <a:pt x="59436" y="41148"/>
                </a:lnTo>
                <a:lnTo>
                  <a:pt x="63246" y="42672"/>
                </a:lnTo>
                <a:lnTo>
                  <a:pt x="1312164" y="42672"/>
                </a:lnTo>
                <a:lnTo>
                  <a:pt x="1315974" y="41148"/>
                </a:lnTo>
                <a:lnTo>
                  <a:pt x="1317498" y="38100"/>
                </a:lnTo>
                <a:close/>
              </a:path>
              <a:path w="1317625" h="76200">
                <a:moveTo>
                  <a:pt x="76200" y="76200"/>
                </a:moveTo>
                <a:lnTo>
                  <a:pt x="76200" y="42672"/>
                </a:lnTo>
                <a:lnTo>
                  <a:pt x="63246" y="42672"/>
                </a:lnTo>
                <a:lnTo>
                  <a:pt x="59436" y="41148"/>
                </a:lnTo>
                <a:lnTo>
                  <a:pt x="58674" y="38100"/>
                </a:lnTo>
                <a:lnTo>
                  <a:pt x="58674" y="67437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6197727" y="5072126"/>
            <a:ext cx="1317625" cy="76200"/>
          </a:xfrm>
          <a:custGeom>
            <a:avLst/>
            <a:gdLst/>
            <a:ahLst/>
            <a:cxnLst/>
            <a:rect l="l" t="t" r="r" b="b"/>
            <a:pathLst>
              <a:path w="1317625" h="76200">
                <a:moveTo>
                  <a:pt x="1266456" y="38100"/>
                </a:moveTo>
                <a:lnTo>
                  <a:pt x="1262934" y="32765"/>
                </a:lnTo>
                <a:lnTo>
                  <a:pt x="4572" y="32765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1263437" y="42672"/>
                </a:lnTo>
                <a:lnTo>
                  <a:pt x="1266456" y="38100"/>
                </a:lnTo>
                <a:close/>
              </a:path>
              <a:path w="1317625" h="76200">
                <a:moveTo>
                  <a:pt x="1317498" y="38100"/>
                </a:moveTo>
                <a:lnTo>
                  <a:pt x="1241298" y="0"/>
                </a:lnTo>
                <a:lnTo>
                  <a:pt x="1262934" y="32765"/>
                </a:lnTo>
                <a:lnTo>
                  <a:pt x="1266456" y="32765"/>
                </a:lnTo>
                <a:lnTo>
                  <a:pt x="1270266" y="34289"/>
                </a:lnTo>
                <a:lnTo>
                  <a:pt x="1271790" y="38100"/>
                </a:lnTo>
                <a:lnTo>
                  <a:pt x="1271790" y="60953"/>
                </a:lnTo>
                <a:lnTo>
                  <a:pt x="1317498" y="38100"/>
                </a:lnTo>
                <a:close/>
              </a:path>
              <a:path w="1317625" h="76200">
                <a:moveTo>
                  <a:pt x="1271790" y="60953"/>
                </a:moveTo>
                <a:lnTo>
                  <a:pt x="1271790" y="38100"/>
                </a:lnTo>
                <a:lnTo>
                  <a:pt x="1270266" y="41148"/>
                </a:lnTo>
                <a:lnTo>
                  <a:pt x="1266456" y="42672"/>
                </a:lnTo>
                <a:lnTo>
                  <a:pt x="1263437" y="42672"/>
                </a:lnTo>
                <a:lnTo>
                  <a:pt x="1241298" y="76200"/>
                </a:lnTo>
                <a:lnTo>
                  <a:pt x="1271790" y="60953"/>
                </a:lnTo>
                <a:close/>
              </a:path>
              <a:path w="1317625" h="76200">
                <a:moveTo>
                  <a:pt x="1271790" y="38100"/>
                </a:moveTo>
                <a:lnTo>
                  <a:pt x="1270266" y="34289"/>
                </a:lnTo>
                <a:lnTo>
                  <a:pt x="1266456" y="32765"/>
                </a:lnTo>
                <a:lnTo>
                  <a:pt x="1262934" y="32765"/>
                </a:lnTo>
                <a:lnTo>
                  <a:pt x="1266456" y="38100"/>
                </a:lnTo>
                <a:lnTo>
                  <a:pt x="1266456" y="42672"/>
                </a:lnTo>
                <a:lnTo>
                  <a:pt x="1270266" y="41148"/>
                </a:lnTo>
                <a:lnTo>
                  <a:pt x="1271790" y="38100"/>
                </a:lnTo>
                <a:close/>
              </a:path>
              <a:path w="1317625" h="76200">
                <a:moveTo>
                  <a:pt x="1266456" y="42672"/>
                </a:moveTo>
                <a:lnTo>
                  <a:pt x="1266456" y="38100"/>
                </a:lnTo>
                <a:lnTo>
                  <a:pt x="1263437" y="42672"/>
                </a:lnTo>
                <a:lnTo>
                  <a:pt x="1266456" y="426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4592967" y="4474717"/>
            <a:ext cx="219075" cy="665480"/>
          </a:xfrm>
          <a:custGeom>
            <a:avLst/>
            <a:gdLst/>
            <a:ahLst/>
            <a:cxnLst/>
            <a:rect l="l" t="t" r="r" b="b"/>
            <a:pathLst>
              <a:path w="219075" h="665479">
                <a:moveTo>
                  <a:pt x="168344" y="39486"/>
                </a:moveTo>
                <a:lnTo>
                  <a:pt x="167639" y="34290"/>
                </a:lnTo>
                <a:lnTo>
                  <a:pt x="161938" y="32815"/>
                </a:lnTo>
                <a:lnTo>
                  <a:pt x="145541" y="47244"/>
                </a:lnTo>
                <a:lnTo>
                  <a:pt x="110489" y="82296"/>
                </a:lnTo>
                <a:lnTo>
                  <a:pt x="77724" y="117348"/>
                </a:lnTo>
                <a:lnTo>
                  <a:pt x="49444" y="153066"/>
                </a:lnTo>
                <a:lnTo>
                  <a:pt x="16859" y="209638"/>
                </a:lnTo>
                <a:lnTo>
                  <a:pt x="481" y="270774"/>
                </a:lnTo>
                <a:lnTo>
                  <a:pt x="0" y="302514"/>
                </a:lnTo>
                <a:lnTo>
                  <a:pt x="7214" y="344435"/>
                </a:lnTo>
                <a:lnTo>
                  <a:pt x="9143" y="350051"/>
                </a:lnTo>
                <a:lnTo>
                  <a:pt x="9143" y="301752"/>
                </a:lnTo>
                <a:lnTo>
                  <a:pt x="10822" y="264344"/>
                </a:lnTo>
                <a:lnTo>
                  <a:pt x="31925" y="200017"/>
                </a:lnTo>
                <a:lnTo>
                  <a:pt x="66236" y="146265"/>
                </a:lnTo>
                <a:lnTo>
                  <a:pt x="98396" y="107973"/>
                </a:lnTo>
                <a:lnTo>
                  <a:pt x="134112" y="71628"/>
                </a:lnTo>
                <a:lnTo>
                  <a:pt x="152400" y="54102"/>
                </a:lnTo>
                <a:lnTo>
                  <a:pt x="168344" y="39486"/>
                </a:lnTo>
                <a:close/>
              </a:path>
              <a:path w="219075" h="665479">
                <a:moveTo>
                  <a:pt x="218693" y="661416"/>
                </a:moveTo>
                <a:lnTo>
                  <a:pt x="217931" y="657606"/>
                </a:lnTo>
                <a:lnTo>
                  <a:pt x="198119" y="633222"/>
                </a:lnTo>
                <a:lnTo>
                  <a:pt x="160019" y="584454"/>
                </a:lnTo>
                <a:lnTo>
                  <a:pt x="135155" y="553062"/>
                </a:lnTo>
                <a:lnTo>
                  <a:pt x="111294" y="520879"/>
                </a:lnTo>
                <a:lnTo>
                  <a:pt x="88555" y="487908"/>
                </a:lnTo>
                <a:lnTo>
                  <a:pt x="67055" y="454152"/>
                </a:lnTo>
                <a:lnTo>
                  <a:pt x="46750" y="417832"/>
                </a:lnTo>
                <a:lnTo>
                  <a:pt x="29532" y="381061"/>
                </a:lnTo>
                <a:lnTo>
                  <a:pt x="16597" y="342736"/>
                </a:lnTo>
                <a:lnTo>
                  <a:pt x="9143" y="301752"/>
                </a:lnTo>
                <a:lnTo>
                  <a:pt x="9143" y="350051"/>
                </a:lnTo>
                <a:lnTo>
                  <a:pt x="21986" y="387434"/>
                </a:lnTo>
                <a:lnTo>
                  <a:pt x="42807" y="430857"/>
                </a:lnTo>
                <a:lnTo>
                  <a:pt x="68169" y="474050"/>
                </a:lnTo>
                <a:lnTo>
                  <a:pt x="96563" y="516361"/>
                </a:lnTo>
                <a:lnTo>
                  <a:pt x="126483" y="557134"/>
                </a:lnTo>
                <a:lnTo>
                  <a:pt x="156420" y="595718"/>
                </a:lnTo>
                <a:lnTo>
                  <a:pt x="210312" y="663702"/>
                </a:lnTo>
                <a:lnTo>
                  <a:pt x="213360" y="665226"/>
                </a:lnTo>
                <a:lnTo>
                  <a:pt x="217169" y="664464"/>
                </a:lnTo>
                <a:lnTo>
                  <a:pt x="218693" y="661416"/>
                </a:lnTo>
                <a:close/>
              </a:path>
              <a:path w="219075" h="665479">
                <a:moveTo>
                  <a:pt x="204977" y="0"/>
                </a:moveTo>
                <a:lnTo>
                  <a:pt x="123443" y="22860"/>
                </a:lnTo>
                <a:lnTo>
                  <a:pt x="161938" y="32815"/>
                </a:lnTo>
                <a:lnTo>
                  <a:pt x="164591" y="30480"/>
                </a:lnTo>
                <a:lnTo>
                  <a:pt x="167639" y="28956"/>
                </a:lnTo>
                <a:lnTo>
                  <a:pt x="170687" y="30480"/>
                </a:lnTo>
                <a:lnTo>
                  <a:pt x="172212" y="34290"/>
                </a:lnTo>
                <a:lnTo>
                  <a:pt x="172212" y="68008"/>
                </a:lnTo>
                <a:lnTo>
                  <a:pt x="173736" y="79248"/>
                </a:lnTo>
                <a:lnTo>
                  <a:pt x="204977" y="0"/>
                </a:lnTo>
                <a:close/>
              </a:path>
              <a:path w="219075" h="665479">
                <a:moveTo>
                  <a:pt x="172212" y="34290"/>
                </a:moveTo>
                <a:lnTo>
                  <a:pt x="170687" y="30480"/>
                </a:lnTo>
                <a:lnTo>
                  <a:pt x="167639" y="28956"/>
                </a:lnTo>
                <a:lnTo>
                  <a:pt x="164591" y="30480"/>
                </a:lnTo>
                <a:lnTo>
                  <a:pt x="161938" y="32815"/>
                </a:lnTo>
                <a:lnTo>
                  <a:pt x="167639" y="34290"/>
                </a:lnTo>
                <a:lnTo>
                  <a:pt x="168344" y="39486"/>
                </a:lnTo>
                <a:lnTo>
                  <a:pt x="170687" y="37337"/>
                </a:lnTo>
                <a:lnTo>
                  <a:pt x="172212" y="34290"/>
                </a:lnTo>
                <a:close/>
              </a:path>
              <a:path w="219075" h="665479">
                <a:moveTo>
                  <a:pt x="172212" y="68008"/>
                </a:moveTo>
                <a:lnTo>
                  <a:pt x="172212" y="34290"/>
                </a:lnTo>
                <a:lnTo>
                  <a:pt x="170687" y="37337"/>
                </a:lnTo>
                <a:lnTo>
                  <a:pt x="168344" y="39486"/>
                </a:lnTo>
                <a:lnTo>
                  <a:pt x="172212" y="680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8870822" y="4490720"/>
            <a:ext cx="236854" cy="665480"/>
          </a:xfrm>
          <a:custGeom>
            <a:avLst/>
            <a:gdLst/>
            <a:ahLst/>
            <a:cxnLst/>
            <a:rect l="l" t="t" r="r" b="b"/>
            <a:pathLst>
              <a:path w="236854" h="665479">
                <a:moveTo>
                  <a:pt x="79248" y="32003"/>
                </a:moveTo>
                <a:lnTo>
                  <a:pt x="0" y="0"/>
                </a:lnTo>
                <a:lnTo>
                  <a:pt x="22098" y="82295"/>
                </a:lnTo>
                <a:lnTo>
                  <a:pt x="28968" y="57415"/>
                </a:lnTo>
                <a:lnTo>
                  <a:pt x="28968" y="38100"/>
                </a:lnTo>
                <a:lnTo>
                  <a:pt x="30492" y="34289"/>
                </a:lnTo>
                <a:lnTo>
                  <a:pt x="34302" y="33527"/>
                </a:lnTo>
                <a:lnTo>
                  <a:pt x="37350" y="35051"/>
                </a:lnTo>
                <a:lnTo>
                  <a:pt x="39400" y="37408"/>
                </a:lnTo>
                <a:lnTo>
                  <a:pt x="79248" y="32003"/>
                </a:lnTo>
                <a:close/>
              </a:path>
              <a:path w="236854" h="665479">
                <a:moveTo>
                  <a:pt x="227075" y="427697"/>
                </a:moveTo>
                <a:lnTo>
                  <a:pt x="227075" y="369569"/>
                </a:lnTo>
                <a:lnTo>
                  <a:pt x="223702" y="405332"/>
                </a:lnTo>
                <a:lnTo>
                  <a:pt x="212450" y="439821"/>
                </a:lnTo>
                <a:lnTo>
                  <a:pt x="174498" y="501395"/>
                </a:lnTo>
                <a:lnTo>
                  <a:pt x="143122" y="538110"/>
                </a:lnTo>
                <a:lnTo>
                  <a:pt x="89153" y="589026"/>
                </a:lnTo>
                <a:lnTo>
                  <a:pt x="48780" y="623315"/>
                </a:lnTo>
                <a:lnTo>
                  <a:pt x="6870" y="656843"/>
                </a:lnTo>
                <a:lnTo>
                  <a:pt x="5346" y="659891"/>
                </a:lnTo>
                <a:lnTo>
                  <a:pt x="6108" y="663701"/>
                </a:lnTo>
                <a:lnTo>
                  <a:pt x="9156" y="665226"/>
                </a:lnTo>
                <a:lnTo>
                  <a:pt x="12953" y="664463"/>
                </a:lnTo>
                <a:lnTo>
                  <a:pt x="75450" y="613409"/>
                </a:lnTo>
                <a:lnTo>
                  <a:pt x="116436" y="577275"/>
                </a:lnTo>
                <a:lnTo>
                  <a:pt x="156400" y="537558"/>
                </a:lnTo>
                <a:lnTo>
                  <a:pt x="196445" y="488125"/>
                </a:lnTo>
                <a:lnTo>
                  <a:pt x="214572" y="457490"/>
                </a:lnTo>
                <a:lnTo>
                  <a:pt x="227075" y="427697"/>
                </a:lnTo>
                <a:close/>
              </a:path>
              <a:path w="236854" h="665479">
                <a:moveTo>
                  <a:pt x="39400" y="37408"/>
                </a:moveTo>
                <a:lnTo>
                  <a:pt x="37350" y="35051"/>
                </a:lnTo>
                <a:lnTo>
                  <a:pt x="34302" y="33527"/>
                </a:lnTo>
                <a:lnTo>
                  <a:pt x="30492" y="34289"/>
                </a:lnTo>
                <a:lnTo>
                  <a:pt x="28968" y="38100"/>
                </a:lnTo>
                <a:lnTo>
                  <a:pt x="30492" y="41147"/>
                </a:lnTo>
                <a:lnTo>
                  <a:pt x="32736" y="43769"/>
                </a:lnTo>
                <a:lnTo>
                  <a:pt x="34302" y="38100"/>
                </a:lnTo>
                <a:lnTo>
                  <a:pt x="39400" y="37408"/>
                </a:lnTo>
                <a:close/>
              </a:path>
              <a:path w="236854" h="665479">
                <a:moveTo>
                  <a:pt x="32736" y="43769"/>
                </a:moveTo>
                <a:lnTo>
                  <a:pt x="30492" y="41147"/>
                </a:lnTo>
                <a:lnTo>
                  <a:pt x="28968" y="38100"/>
                </a:lnTo>
                <a:lnTo>
                  <a:pt x="28968" y="57415"/>
                </a:lnTo>
                <a:lnTo>
                  <a:pt x="32736" y="43769"/>
                </a:lnTo>
                <a:close/>
              </a:path>
              <a:path w="236854" h="665479">
                <a:moveTo>
                  <a:pt x="236232" y="390143"/>
                </a:moveTo>
                <a:lnTo>
                  <a:pt x="235599" y="348397"/>
                </a:lnTo>
                <a:lnTo>
                  <a:pt x="225243" y="305446"/>
                </a:lnTo>
                <a:lnTo>
                  <a:pt x="207031" y="262051"/>
                </a:lnTo>
                <a:lnTo>
                  <a:pt x="182829" y="218976"/>
                </a:lnTo>
                <a:lnTo>
                  <a:pt x="154507" y="176981"/>
                </a:lnTo>
                <a:lnTo>
                  <a:pt x="123930" y="136829"/>
                </a:lnTo>
                <a:lnTo>
                  <a:pt x="92967" y="99282"/>
                </a:lnTo>
                <a:lnTo>
                  <a:pt x="39400" y="37408"/>
                </a:lnTo>
                <a:lnTo>
                  <a:pt x="34302" y="38100"/>
                </a:lnTo>
                <a:lnTo>
                  <a:pt x="32736" y="43769"/>
                </a:lnTo>
                <a:lnTo>
                  <a:pt x="39624" y="51815"/>
                </a:lnTo>
                <a:lnTo>
                  <a:pt x="60972" y="76200"/>
                </a:lnTo>
                <a:lnTo>
                  <a:pt x="101358" y="124205"/>
                </a:lnTo>
                <a:lnTo>
                  <a:pt x="135724" y="167836"/>
                </a:lnTo>
                <a:lnTo>
                  <a:pt x="164398" y="208381"/>
                </a:lnTo>
                <a:lnTo>
                  <a:pt x="196179" y="262136"/>
                </a:lnTo>
                <a:lnTo>
                  <a:pt x="223019" y="332473"/>
                </a:lnTo>
                <a:lnTo>
                  <a:pt x="227075" y="369569"/>
                </a:lnTo>
                <a:lnTo>
                  <a:pt x="227075" y="427697"/>
                </a:lnTo>
                <a:lnTo>
                  <a:pt x="228290" y="424804"/>
                </a:lnTo>
                <a:lnTo>
                  <a:pt x="236232" y="3901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 txBox="1"/>
          <p:nvPr/>
        </p:nvSpPr>
        <p:spPr>
          <a:xfrm>
            <a:off x="6235331" y="1164844"/>
            <a:ext cx="1118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Datagram  (e.g.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UDP)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7522095" y="2452370"/>
            <a:ext cx="1335405" cy="231775"/>
          </a:xfrm>
          <a:custGeom>
            <a:avLst/>
            <a:gdLst/>
            <a:ahLst/>
            <a:cxnLst/>
            <a:rect l="l" t="t" r="r" b="b"/>
            <a:pathLst>
              <a:path w="1335404" h="231775">
                <a:moveTo>
                  <a:pt x="0" y="0"/>
                </a:moveTo>
                <a:lnTo>
                  <a:pt x="0" y="231648"/>
                </a:lnTo>
                <a:lnTo>
                  <a:pt x="1335024" y="231648"/>
                </a:lnTo>
                <a:lnTo>
                  <a:pt x="1335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A68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521333" y="2452370"/>
            <a:ext cx="1336040" cy="231775"/>
          </a:xfrm>
          <a:custGeom>
            <a:avLst/>
            <a:gdLst/>
            <a:ahLst/>
            <a:cxnLst/>
            <a:rect l="l" t="t" r="r" b="b"/>
            <a:pathLst>
              <a:path w="1336040" h="231775">
                <a:moveTo>
                  <a:pt x="0" y="0"/>
                </a:moveTo>
                <a:lnTo>
                  <a:pt x="0" y="231648"/>
                </a:lnTo>
                <a:lnTo>
                  <a:pt x="1335786" y="231648"/>
                </a:lnTo>
                <a:lnTo>
                  <a:pt x="13357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7950581" y="2443480"/>
            <a:ext cx="47879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bind()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8142351" y="2109470"/>
            <a:ext cx="76200" cy="340360"/>
          </a:xfrm>
          <a:custGeom>
            <a:avLst/>
            <a:gdLst/>
            <a:ahLst/>
            <a:cxnLst/>
            <a:rect l="l" t="t" r="r" b="b"/>
            <a:pathLst>
              <a:path w="76200" h="340360">
                <a:moveTo>
                  <a:pt x="76200" y="263652"/>
                </a:moveTo>
                <a:lnTo>
                  <a:pt x="0" y="263652"/>
                </a:lnTo>
                <a:lnTo>
                  <a:pt x="33540" y="330733"/>
                </a:lnTo>
                <a:lnTo>
                  <a:pt x="33540" y="276606"/>
                </a:lnTo>
                <a:lnTo>
                  <a:pt x="35064" y="279654"/>
                </a:lnTo>
                <a:lnTo>
                  <a:pt x="38100" y="281178"/>
                </a:lnTo>
                <a:lnTo>
                  <a:pt x="41922" y="279654"/>
                </a:lnTo>
                <a:lnTo>
                  <a:pt x="42672" y="276606"/>
                </a:lnTo>
                <a:lnTo>
                  <a:pt x="42672" y="330708"/>
                </a:lnTo>
                <a:lnTo>
                  <a:pt x="76200" y="263652"/>
                </a:lnTo>
                <a:close/>
              </a:path>
              <a:path w="76200" h="340360">
                <a:moveTo>
                  <a:pt x="42672" y="263652"/>
                </a:moveTo>
                <a:lnTo>
                  <a:pt x="42672" y="4572"/>
                </a:lnTo>
                <a:lnTo>
                  <a:pt x="41922" y="1524"/>
                </a:lnTo>
                <a:lnTo>
                  <a:pt x="38100" y="0"/>
                </a:lnTo>
                <a:lnTo>
                  <a:pt x="35064" y="1524"/>
                </a:lnTo>
                <a:lnTo>
                  <a:pt x="33540" y="4572"/>
                </a:lnTo>
                <a:lnTo>
                  <a:pt x="33540" y="263652"/>
                </a:lnTo>
                <a:lnTo>
                  <a:pt x="42672" y="263652"/>
                </a:lnTo>
                <a:close/>
              </a:path>
              <a:path w="76200" h="340360">
                <a:moveTo>
                  <a:pt x="42672" y="330708"/>
                </a:moveTo>
                <a:lnTo>
                  <a:pt x="42672" y="276606"/>
                </a:lnTo>
                <a:lnTo>
                  <a:pt x="41922" y="279654"/>
                </a:lnTo>
                <a:lnTo>
                  <a:pt x="38100" y="281178"/>
                </a:lnTo>
                <a:lnTo>
                  <a:pt x="35064" y="279654"/>
                </a:lnTo>
                <a:lnTo>
                  <a:pt x="33540" y="276606"/>
                </a:lnTo>
                <a:lnTo>
                  <a:pt x="33540" y="330733"/>
                </a:lnTo>
                <a:lnTo>
                  <a:pt x="38100" y="339852"/>
                </a:lnTo>
                <a:lnTo>
                  <a:pt x="42672" y="3307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90829" y="261873"/>
            <a:ext cx="753681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50" dirty="0"/>
              <a:t>Constructing </a:t>
            </a:r>
            <a:r>
              <a:rPr sz="4200" spc="-315" dirty="0"/>
              <a:t>Messages </a:t>
            </a:r>
            <a:r>
              <a:rPr sz="3200" spc="-200" dirty="0"/>
              <a:t>- </a:t>
            </a:r>
            <a:r>
              <a:rPr sz="3200" spc="-175" dirty="0"/>
              <a:t>Encoding</a:t>
            </a:r>
            <a:r>
              <a:rPr sz="3200" spc="-345" dirty="0"/>
              <a:t> </a:t>
            </a:r>
            <a:r>
              <a:rPr sz="3200" spc="-185" dirty="0"/>
              <a:t>Data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401453" y="1184960"/>
            <a:ext cx="7604759" cy="232537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2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dirty="0">
                <a:latin typeface="Arial"/>
                <a:cs typeface="Arial"/>
              </a:rPr>
              <a:t>Client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wants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to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-145" dirty="0">
                <a:latin typeface="Arial"/>
                <a:cs typeface="Arial"/>
              </a:rPr>
              <a:t>send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35" dirty="0">
                <a:latin typeface="Arial"/>
                <a:cs typeface="Arial"/>
              </a:rPr>
              <a:t>two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integers</a:t>
            </a:r>
            <a:r>
              <a:rPr sz="2200" spc="-55" dirty="0">
                <a:latin typeface="Arial"/>
                <a:cs typeface="Arial"/>
              </a:rPr>
              <a:t> </a:t>
            </a:r>
            <a:r>
              <a:rPr sz="2200" dirty="0">
                <a:latin typeface="Courier New"/>
                <a:cs typeface="Courier New"/>
              </a:rPr>
              <a:t>x</a:t>
            </a:r>
            <a:r>
              <a:rPr sz="2200" spc="-770" dirty="0">
                <a:latin typeface="Courier New"/>
                <a:cs typeface="Courier New"/>
              </a:rPr>
              <a:t> </a:t>
            </a:r>
            <a:r>
              <a:rPr sz="2200" spc="-100" dirty="0">
                <a:latin typeface="Arial"/>
                <a:cs typeface="Arial"/>
              </a:rPr>
              <a:t>and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dirty="0">
                <a:latin typeface="Courier New"/>
                <a:cs typeface="Courier New"/>
              </a:rPr>
              <a:t>y</a:t>
            </a:r>
            <a:r>
              <a:rPr sz="2200" spc="-775" dirty="0">
                <a:latin typeface="Courier New"/>
                <a:cs typeface="Courier New"/>
              </a:rPr>
              <a:t> </a:t>
            </a:r>
            <a:r>
              <a:rPr sz="2200" dirty="0">
                <a:latin typeface="Arial"/>
                <a:cs typeface="Arial"/>
              </a:rPr>
              <a:t>to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spc="-90" dirty="0">
                <a:latin typeface="Arial"/>
                <a:cs typeface="Arial"/>
              </a:rPr>
              <a:t>server</a:t>
            </a:r>
            <a:endParaRPr sz="22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2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90" dirty="0">
                <a:latin typeface="Arial"/>
                <a:cs typeface="Arial"/>
              </a:rPr>
              <a:t>1</a:t>
            </a:r>
            <a:r>
              <a:rPr sz="2250" spc="-135" baseline="25925" dirty="0">
                <a:latin typeface="Arial"/>
                <a:cs typeface="Arial"/>
              </a:rPr>
              <a:t>st </a:t>
            </a:r>
            <a:r>
              <a:rPr sz="2200" spc="-40" dirty="0">
                <a:latin typeface="Arial"/>
                <a:cs typeface="Arial"/>
              </a:rPr>
              <a:t>Solution: </a:t>
            </a:r>
            <a:r>
              <a:rPr sz="2200" b="1" spc="-140" dirty="0">
                <a:solidFill>
                  <a:srgbClr val="9A6500"/>
                </a:solidFill>
                <a:latin typeface="Arial"/>
                <a:cs typeface="Arial"/>
              </a:rPr>
              <a:t>Character</a:t>
            </a:r>
            <a:r>
              <a:rPr sz="2200" b="1" spc="-45" dirty="0">
                <a:solidFill>
                  <a:srgbClr val="9A6500"/>
                </a:solidFill>
                <a:latin typeface="Arial"/>
                <a:cs typeface="Arial"/>
              </a:rPr>
              <a:t> </a:t>
            </a:r>
            <a:r>
              <a:rPr sz="2200" b="1" spc="-165" dirty="0">
                <a:solidFill>
                  <a:srgbClr val="9A6500"/>
                </a:solidFill>
                <a:latin typeface="Arial"/>
                <a:cs typeface="Arial"/>
              </a:rPr>
              <a:t>Encoding</a:t>
            </a:r>
            <a:endParaRPr sz="2200" dirty="0">
              <a:latin typeface="Arial"/>
              <a:cs typeface="Arial"/>
            </a:endParaRPr>
          </a:p>
          <a:p>
            <a:pPr marL="681990" lvl="1" indent="-325120">
              <a:lnSpc>
                <a:spcPts val="2385"/>
              </a:lnSpc>
              <a:spcBef>
                <a:spcPts val="49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120" dirty="0">
                <a:latin typeface="Arial"/>
                <a:cs typeface="Arial"/>
              </a:rPr>
              <a:t>e.g.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ASCII</a:t>
            </a:r>
            <a:endParaRPr sz="2000" dirty="0">
              <a:latin typeface="Arial"/>
              <a:cs typeface="Arial"/>
            </a:endParaRPr>
          </a:p>
          <a:p>
            <a:pPr marL="356870">
              <a:lnSpc>
                <a:spcPts val="2925"/>
              </a:lnSpc>
            </a:pPr>
            <a:r>
              <a:rPr sz="2500" spc="2115" dirty="0">
                <a:solidFill>
                  <a:srgbClr val="9A6500"/>
                </a:solidFill>
                <a:latin typeface="Wingdings"/>
                <a:cs typeface="Wingdings"/>
              </a:rPr>
              <a:t></a:t>
            </a:r>
            <a:r>
              <a:rPr sz="2500" spc="2115" dirty="0">
                <a:solidFill>
                  <a:srgbClr val="9A650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185" dirty="0">
                <a:latin typeface="Arial"/>
                <a:cs typeface="Arial"/>
              </a:rPr>
              <a:t>same </a:t>
            </a:r>
            <a:r>
              <a:rPr sz="2000" spc="-50" dirty="0">
                <a:latin typeface="Arial"/>
                <a:cs typeface="Arial"/>
              </a:rPr>
              <a:t>representation </a:t>
            </a:r>
            <a:r>
              <a:rPr sz="2000" spc="-85" dirty="0">
                <a:latin typeface="Arial"/>
                <a:cs typeface="Arial"/>
              </a:rPr>
              <a:t>is </a:t>
            </a:r>
            <a:r>
              <a:rPr sz="2000" spc="-145" dirty="0">
                <a:latin typeface="Arial"/>
                <a:cs typeface="Arial"/>
              </a:rPr>
              <a:t>used </a:t>
            </a:r>
            <a:r>
              <a:rPr sz="2000" dirty="0">
                <a:latin typeface="Arial"/>
                <a:cs typeface="Arial"/>
              </a:rPr>
              <a:t>to </a:t>
            </a:r>
            <a:r>
              <a:rPr sz="2000" spc="55" dirty="0">
                <a:latin typeface="Arial"/>
                <a:cs typeface="Arial"/>
              </a:rPr>
              <a:t>print </a:t>
            </a:r>
            <a:r>
              <a:rPr sz="2000" dirty="0">
                <a:latin typeface="Arial"/>
                <a:cs typeface="Arial"/>
              </a:rPr>
              <a:t>or </a:t>
            </a:r>
            <a:r>
              <a:rPr sz="2000" spc="-50" dirty="0">
                <a:latin typeface="Arial"/>
                <a:cs typeface="Arial"/>
              </a:rPr>
              <a:t>display </a:t>
            </a:r>
            <a:r>
              <a:rPr sz="2000" spc="-25" dirty="0">
                <a:latin typeface="Arial"/>
                <a:cs typeface="Arial"/>
              </a:rPr>
              <a:t>them </a:t>
            </a:r>
            <a:r>
              <a:rPr sz="2000" dirty="0">
                <a:latin typeface="Arial"/>
                <a:cs typeface="Arial"/>
              </a:rPr>
              <a:t>to  </a:t>
            </a:r>
            <a:r>
              <a:rPr sz="2000" spc="-350" dirty="0">
                <a:latin typeface="Arial"/>
                <a:cs typeface="Arial"/>
              </a:rPr>
              <a:t>screen</a:t>
            </a:r>
            <a:endParaRPr sz="2000" dirty="0">
              <a:latin typeface="Arial"/>
              <a:cs typeface="Arial"/>
            </a:endParaRPr>
          </a:p>
          <a:p>
            <a:pPr marL="356870">
              <a:lnSpc>
                <a:spcPts val="2935"/>
              </a:lnSpc>
            </a:pPr>
            <a:r>
              <a:rPr sz="2500" spc="2115" dirty="0">
                <a:solidFill>
                  <a:srgbClr val="9A6500"/>
                </a:solidFill>
                <a:latin typeface="Wingdings"/>
                <a:cs typeface="Wingdings"/>
              </a:rPr>
              <a:t></a:t>
            </a:r>
            <a:r>
              <a:rPr sz="2500" spc="140" dirty="0">
                <a:solidFill>
                  <a:srgbClr val="9A6500"/>
                </a:solidFill>
                <a:latin typeface="Times New Roman"/>
                <a:cs typeface="Times New Roman"/>
              </a:rPr>
              <a:t> </a:t>
            </a:r>
            <a:r>
              <a:rPr sz="2000" spc="-45" dirty="0">
                <a:latin typeface="Arial"/>
                <a:cs typeface="Arial"/>
              </a:rPr>
              <a:t>allows </a:t>
            </a:r>
            <a:r>
              <a:rPr sz="2000" spc="-80" dirty="0">
                <a:latin typeface="Arial"/>
                <a:cs typeface="Arial"/>
              </a:rPr>
              <a:t>sending </a:t>
            </a:r>
            <a:r>
              <a:rPr sz="2000" spc="25" dirty="0">
                <a:latin typeface="Arial"/>
                <a:cs typeface="Arial"/>
              </a:rPr>
              <a:t>arbitrarily </a:t>
            </a:r>
            <a:r>
              <a:rPr sz="2000" spc="-75" dirty="0">
                <a:latin typeface="Arial"/>
                <a:cs typeface="Arial"/>
              </a:rPr>
              <a:t>large </a:t>
            </a:r>
            <a:r>
              <a:rPr sz="2000" spc="-70" dirty="0">
                <a:latin typeface="Arial"/>
                <a:cs typeface="Arial"/>
              </a:rPr>
              <a:t>numbers </a:t>
            </a:r>
            <a:r>
              <a:rPr sz="2000" spc="-50" dirty="0">
                <a:latin typeface="Arial"/>
                <a:cs typeface="Arial"/>
              </a:rPr>
              <a:t>(at </a:t>
            </a:r>
            <a:r>
              <a:rPr sz="2000" spc="-95" dirty="0">
                <a:latin typeface="Arial"/>
                <a:cs typeface="Arial"/>
              </a:rPr>
              <a:t>least </a:t>
            </a:r>
            <a:r>
              <a:rPr sz="2000" spc="70" dirty="0">
                <a:latin typeface="Arial"/>
                <a:cs typeface="Arial"/>
              </a:rPr>
              <a:t>in </a:t>
            </a:r>
            <a:r>
              <a:rPr sz="2000" dirty="0">
                <a:latin typeface="Arial"/>
                <a:cs typeface="Arial"/>
              </a:rPr>
              <a:t>principle)</a:t>
            </a:r>
          </a:p>
          <a:p>
            <a:pPr marL="355600" indent="-342900">
              <a:lnSpc>
                <a:spcPct val="100000"/>
              </a:lnSpc>
              <a:spcBef>
                <a:spcPts val="40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130" dirty="0">
                <a:latin typeface="Arial"/>
                <a:cs typeface="Arial"/>
              </a:rPr>
              <a:t>e.g. </a:t>
            </a:r>
            <a:r>
              <a:rPr sz="2200" dirty="0">
                <a:latin typeface="Courier New"/>
                <a:cs typeface="Courier New"/>
              </a:rPr>
              <a:t>x = 17,998,720 </a:t>
            </a:r>
            <a:r>
              <a:rPr sz="2200" spc="-100" dirty="0">
                <a:latin typeface="Arial"/>
                <a:cs typeface="Arial"/>
              </a:rPr>
              <a:t>and </a:t>
            </a:r>
            <a:r>
              <a:rPr sz="2200" dirty="0">
                <a:latin typeface="Courier New"/>
                <a:cs typeface="Courier New"/>
              </a:rPr>
              <a:t>y =</a:t>
            </a:r>
            <a:r>
              <a:rPr sz="2200" spc="-66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47,034,615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61067" y="4263897"/>
            <a:ext cx="1143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8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9602" y="4263897"/>
            <a:ext cx="1143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80" dirty="0">
                <a:latin typeface="Arial"/>
                <a:cs typeface="Arial"/>
              </a:rPr>
              <a:t>7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8138" y="4263897"/>
            <a:ext cx="1143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80" dirty="0">
                <a:latin typeface="Arial"/>
                <a:cs typeface="Arial"/>
              </a:rPr>
              <a:t>9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27911" y="4263897"/>
            <a:ext cx="1143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80" dirty="0">
                <a:latin typeface="Arial"/>
                <a:cs typeface="Arial"/>
              </a:rPr>
              <a:t>9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60602" y="4263897"/>
            <a:ext cx="1143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80" dirty="0"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06265" y="4263897"/>
            <a:ext cx="1143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80" dirty="0">
                <a:latin typeface="Arial"/>
                <a:cs typeface="Arial"/>
              </a:rPr>
              <a:t>7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94818" y="4263897"/>
            <a:ext cx="1143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80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83749" y="4263897"/>
            <a:ext cx="1143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80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73363" y="4263897"/>
            <a:ext cx="1143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80" dirty="0">
                <a:latin typeface="Arial"/>
                <a:cs typeface="Arial"/>
              </a:rPr>
              <a:t>_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62219" y="4263897"/>
            <a:ext cx="1143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80" dirty="0"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51541" y="4263897"/>
            <a:ext cx="1143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80" dirty="0">
                <a:latin typeface="Arial"/>
                <a:cs typeface="Arial"/>
              </a:rPr>
              <a:t>7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40396" y="4263897"/>
            <a:ext cx="1143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80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29527" y="4263897"/>
            <a:ext cx="1143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80" dirty="0"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18579" y="4263897"/>
            <a:ext cx="1143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80" dirty="0"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07829" y="4263897"/>
            <a:ext cx="1143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80" dirty="0">
                <a:latin typeface="Arial"/>
                <a:cs typeface="Arial"/>
              </a:rPr>
              <a:t>6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96044" y="4263897"/>
            <a:ext cx="1143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8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185018" y="4263897"/>
            <a:ext cx="1143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80" dirty="0"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72630" y="4263897"/>
            <a:ext cx="1143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80" dirty="0">
                <a:latin typeface="Arial"/>
                <a:cs typeface="Arial"/>
              </a:rPr>
              <a:t>_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196799" y="4565650"/>
          <a:ext cx="8789665" cy="336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420"/>
                <a:gridCol w="496570"/>
                <a:gridCol w="496570"/>
                <a:gridCol w="497205"/>
                <a:gridCol w="481965"/>
                <a:gridCol w="496569"/>
                <a:gridCol w="496569"/>
                <a:gridCol w="496570"/>
                <a:gridCol w="450850"/>
                <a:gridCol w="496570"/>
                <a:gridCol w="496570"/>
                <a:gridCol w="496570"/>
                <a:gridCol w="481964"/>
                <a:gridCol w="496569"/>
                <a:gridCol w="497204"/>
                <a:gridCol w="496570"/>
                <a:gridCol w="466090"/>
                <a:gridCol w="509270"/>
              </a:tblGrid>
              <a:tr h="336550"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49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55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57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34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57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34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56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34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55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34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50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34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48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34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32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34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52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34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55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234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48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234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51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234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52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234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54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234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49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234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53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234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32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234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>
                        <a:alpha val="1999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4" name="object 24"/>
          <p:cNvSpPr txBox="1"/>
          <p:nvPr/>
        </p:nvSpPr>
        <p:spPr>
          <a:xfrm>
            <a:off x="781443" y="4973065"/>
            <a:ext cx="7810500" cy="600710"/>
          </a:xfrm>
          <a:prstGeom prst="rect">
            <a:avLst/>
          </a:prstGeom>
          <a:ln w="19050">
            <a:solidFill>
              <a:srgbClr val="99660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100965" marR="2688590">
              <a:lnSpc>
                <a:spcPct val="100000"/>
              </a:lnSpc>
              <a:spcBef>
                <a:spcPts val="290"/>
              </a:spcBef>
            </a:pPr>
            <a:r>
              <a:rPr sz="1600" b="1" dirty="0">
                <a:latin typeface="Courier New"/>
                <a:cs typeface="Courier New"/>
              </a:rPr>
              <a:t>sprintf(msgBuffer, “%d %d ”, x, y);  send(clientSocket, strlen(msgBuffer),</a:t>
            </a:r>
            <a:r>
              <a:rPr sz="1600" b="1" spc="-6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0);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1452" y="1181582"/>
            <a:ext cx="8348847" cy="49378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4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400" spc="-20" dirty="0">
                <a:latin typeface="Arial"/>
                <a:cs typeface="Arial"/>
              </a:rPr>
              <a:t>Pitfalls</a:t>
            </a:r>
            <a:endParaRPr sz="24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9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400" spc="-25" dirty="0">
                <a:latin typeface="Arial"/>
                <a:cs typeface="Arial"/>
              </a:rPr>
              <a:t>the </a:t>
            </a:r>
            <a:r>
              <a:rPr sz="2400" spc="-125" dirty="0">
                <a:latin typeface="Arial"/>
                <a:cs typeface="Arial"/>
              </a:rPr>
              <a:t>second </a:t>
            </a:r>
            <a:r>
              <a:rPr sz="2400" spc="10" dirty="0">
                <a:latin typeface="Arial"/>
                <a:cs typeface="Arial"/>
              </a:rPr>
              <a:t>delimiter </a:t>
            </a:r>
            <a:r>
              <a:rPr sz="2400" spc="-85" dirty="0">
                <a:latin typeface="Arial"/>
                <a:cs typeface="Arial"/>
              </a:rPr>
              <a:t>is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required</a:t>
            </a:r>
            <a:endParaRPr sz="2400" dirty="0">
              <a:latin typeface="Arial"/>
              <a:cs typeface="Arial"/>
            </a:endParaRPr>
          </a:p>
          <a:p>
            <a:pPr marL="1035050" marR="5080" lvl="2" indent="-351155">
              <a:lnSpc>
                <a:spcPct val="100000"/>
              </a:lnSpc>
              <a:spcBef>
                <a:spcPts val="455"/>
              </a:spcBef>
              <a:buClr>
                <a:srgbClr val="9A6500"/>
              </a:buClr>
              <a:buSzPct val="66666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2400" spc="-35" dirty="0">
                <a:latin typeface="Arial"/>
                <a:cs typeface="Arial"/>
              </a:rPr>
              <a:t>otherwise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spc="-70" dirty="0">
                <a:latin typeface="Arial"/>
                <a:cs typeface="Arial"/>
              </a:rPr>
              <a:t>server </a:t>
            </a:r>
            <a:r>
              <a:rPr sz="2400" spc="105" dirty="0">
                <a:latin typeface="Arial"/>
                <a:cs typeface="Arial"/>
              </a:rPr>
              <a:t>will </a:t>
            </a:r>
            <a:r>
              <a:rPr sz="2400" spc="5" dirty="0">
                <a:latin typeface="Arial"/>
                <a:cs typeface="Arial"/>
              </a:rPr>
              <a:t>not </a:t>
            </a:r>
            <a:r>
              <a:rPr sz="2400" spc="-120" dirty="0">
                <a:latin typeface="Arial"/>
                <a:cs typeface="Arial"/>
              </a:rPr>
              <a:t>be </a:t>
            </a:r>
            <a:r>
              <a:rPr sz="2400" spc="-80" dirty="0">
                <a:latin typeface="Arial"/>
                <a:cs typeface="Arial"/>
              </a:rPr>
              <a:t>able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114" dirty="0">
                <a:latin typeface="Arial"/>
                <a:cs typeface="Arial"/>
              </a:rPr>
              <a:t>separate </a:t>
            </a:r>
            <a:r>
              <a:rPr sz="2400" spc="100" dirty="0">
                <a:latin typeface="Arial"/>
                <a:cs typeface="Arial"/>
              </a:rPr>
              <a:t>it </a:t>
            </a:r>
            <a:r>
              <a:rPr sz="2400" spc="10" dirty="0">
                <a:latin typeface="Arial"/>
                <a:cs typeface="Arial"/>
              </a:rPr>
              <a:t>from </a:t>
            </a:r>
            <a:r>
              <a:rPr sz="2400" spc="-35" dirty="0">
                <a:latin typeface="Arial"/>
                <a:cs typeface="Arial"/>
              </a:rPr>
              <a:t>whatever</a:t>
            </a:r>
            <a:r>
              <a:rPr sz="2400" spc="-330" dirty="0">
                <a:latin typeface="Arial"/>
                <a:cs typeface="Arial"/>
              </a:rPr>
              <a:t> </a:t>
            </a:r>
            <a:r>
              <a:rPr sz="2400" spc="100" dirty="0">
                <a:latin typeface="Arial"/>
                <a:cs typeface="Arial"/>
              </a:rPr>
              <a:t>it  </a:t>
            </a:r>
            <a:r>
              <a:rPr sz="2400" spc="-15" dirty="0">
                <a:latin typeface="Arial"/>
                <a:cs typeface="Arial"/>
              </a:rPr>
              <a:t>follows</a:t>
            </a:r>
            <a:endParaRPr sz="24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65"/>
              </a:spcBef>
              <a:buClr>
                <a:srgbClr val="9A6500"/>
              </a:buClr>
              <a:buSzPct val="61111"/>
              <a:buFont typeface="Wingdings"/>
              <a:buChar char=""/>
              <a:tabLst>
                <a:tab pos="682625" algn="l"/>
              </a:tabLst>
            </a:pPr>
            <a:r>
              <a:rPr sz="2400" spc="-5" dirty="0">
                <a:latin typeface="Courier New"/>
                <a:cs typeface="Courier New"/>
              </a:rPr>
              <a:t>msgBuffer</a:t>
            </a:r>
            <a:r>
              <a:rPr sz="2400" spc="-555" dirty="0">
                <a:latin typeface="Courier New"/>
                <a:cs typeface="Courier New"/>
              </a:rPr>
              <a:t> </a:t>
            </a:r>
            <a:r>
              <a:rPr sz="2400" spc="-60" dirty="0">
                <a:latin typeface="Arial"/>
                <a:cs typeface="Arial"/>
              </a:rPr>
              <a:t>must </a:t>
            </a:r>
            <a:r>
              <a:rPr sz="2400" spc="-130" dirty="0">
                <a:latin typeface="Arial"/>
                <a:cs typeface="Arial"/>
              </a:rPr>
              <a:t>be </a:t>
            </a:r>
            <a:r>
              <a:rPr sz="2400" spc="-75" dirty="0">
                <a:latin typeface="Arial"/>
                <a:cs typeface="Arial"/>
              </a:rPr>
              <a:t>large enough</a:t>
            </a:r>
            <a:endParaRPr sz="24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400" spc="-25" dirty="0">
                <a:latin typeface="Arial"/>
                <a:cs typeface="Arial"/>
              </a:rPr>
              <a:t>strlen </a:t>
            </a:r>
            <a:r>
              <a:rPr sz="2400" spc="-70" dirty="0">
                <a:latin typeface="Arial"/>
                <a:cs typeface="Arial"/>
              </a:rPr>
              <a:t>counts </a:t>
            </a:r>
            <a:r>
              <a:rPr sz="2400" spc="20" dirty="0">
                <a:latin typeface="Arial"/>
                <a:cs typeface="Arial"/>
              </a:rPr>
              <a:t>only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spc="-85" dirty="0">
                <a:latin typeface="Arial"/>
                <a:cs typeface="Arial"/>
              </a:rPr>
              <a:t>bytes </a:t>
            </a:r>
            <a:r>
              <a:rPr sz="2400" spc="-10" dirty="0">
                <a:latin typeface="Arial"/>
                <a:cs typeface="Arial"/>
              </a:rPr>
              <a:t>of </a:t>
            </a:r>
            <a:r>
              <a:rPr sz="2400" spc="-25" dirty="0">
                <a:latin typeface="Arial"/>
                <a:cs typeface="Arial"/>
              </a:rPr>
              <a:t>the</a:t>
            </a:r>
            <a:r>
              <a:rPr sz="2400" spc="-220" dirty="0">
                <a:latin typeface="Arial"/>
                <a:cs typeface="Arial"/>
              </a:rPr>
              <a:t> </a:t>
            </a:r>
            <a:r>
              <a:rPr sz="2400" spc="-200" dirty="0">
                <a:latin typeface="Arial"/>
                <a:cs typeface="Arial"/>
              </a:rPr>
              <a:t>message</a:t>
            </a:r>
            <a:endParaRPr sz="2400" dirty="0">
              <a:latin typeface="Arial"/>
              <a:cs typeface="Arial"/>
            </a:endParaRPr>
          </a:p>
          <a:p>
            <a:pPr marL="1035050" lvl="2" indent="-351155">
              <a:lnSpc>
                <a:spcPct val="100000"/>
              </a:lnSpc>
              <a:spcBef>
                <a:spcPts val="450"/>
              </a:spcBef>
              <a:buClr>
                <a:srgbClr val="9A6500"/>
              </a:buClr>
              <a:buSzPct val="66666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2400" spc="5" dirty="0">
                <a:latin typeface="Arial"/>
                <a:cs typeface="Arial"/>
              </a:rPr>
              <a:t>not </a:t>
            </a:r>
            <a:r>
              <a:rPr sz="2400" spc="-20" dirty="0">
                <a:latin typeface="Arial"/>
                <a:cs typeface="Arial"/>
              </a:rPr>
              <a:t>the </a:t>
            </a:r>
            <a:r>
              <a:rPr sz="2400" spc="55" dirty="0">
                <a:latin typeface="Arial"/>
                <a:cs typeface="Arial"/>
              </a:rPr>
              <a:t>null </a:t>
            </a:r>
            <a:r>
              <a:rPr sz="2400" spc="-55" dirty="0">
                <a:latin typeface="Arial"/>
                <a:cs typeface="Arial"/>
              </a:rPr>
              <a:t>at </a:t>
            </a:r>
            <a:r>
              <a:rPr sz="2400" spc="-20" dirty="0">
                <a:latin typeface="Arial"/>
                <a:cs typeface="Arial"/>
              </a:rPr>
              <a:t>the </a:t>
            </a:r>
            <a:r>
              <a:rPr sz="2400" spc="-70" dirty="0">
                <a:latin typeface="Arial"/>
                <a:cs typeface="Arial"/>
              </a:rPr>
              <a:t>end </a:t>
            </a:r>
            <a:r>
              <a:rPr sz="2400" spc="-10" dirty="0">
                <a:latin typeface="Arial"/>
                <a:cs typeface="Arial"/>
              </a:rPr>
              <a:t>of </a:t>
            </a:r>
            <a:r>
              <a:rPr sz="2400" spc="-20" dirty="0">
                <a:latin typeface="Arial"/>
                <a:cs typeface="Arial"/>
              </a:rPr>
              <a:t>the</a:t>
            </a:r>
            <a:r>
              <a:rPr sz="2400" spc="-295" dirty="0">
                <a:latin typeface="Arial"/>
                <a:cs typeface="Arial"/>
              </a:rPr>
              <a:t> </a:t>
            </a:r>
            <a:r>
              <a:rPr sz="2400" spc="-15" dirty="0">
                <a:latin typeface="Arial"/>
                <a:cs typeface="Arial"/>
              </a:rPr>
              <a:t>string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  <a:tabLst>
                <a:tab pos="354965" algn="l"/>
              </a:tabLst>
            </a:pPr>
            <a:r>
              <a:rPr sz="2400" spc="2115" dirty="0">
                <a:solidFill>
                  <a:srgbClr val="9A6500"/>
                </a:solidFill>
                <a:latin typeface="Wingdings"/>
                <a:cs typeface="Wingdings"/>
              </a:rPr>
              <a:t></a:t>
            </a:r>
            <a:r>
              <a:rPr sz="2400" spc="2115" dirty="0">
                <a:solidFill>
                  <a:srgbClr val="9A6500"/>
                </a:solidFill>
                <a:latin typeface="Times New Roman"/>
                <a:cs typeface="Times New Roman"/>
              </a:rPr>
              <a:t>	</a:t>
            </a:r>
            <a:r>
              <a:rPr sz="2400" spc="-45" dirty="0">
                <a:latin typeface="Arial"/>
                <a:cs typeface="Arial"/>
              </a:rPr>
              <a:t>This </a:t>
            </a:r>
            <a:r>
              <a:rPr sz="2400" spc="-25" dirty="0">
                <a:latin typeface="Arial"/>
                <a:cs typeface="Arial"/>
              </a:rPr>
              <a:t>solution </a:t>
            </a:r>
            <a:r>
              <a:rPr sz="2400" spc="-90" dirty="0">
                <a:latin typeface="Arial"/>
                <a:cs typeface="Arial"/>
              </a:rPr>
              <a:t>is </a:t>
            </a:r>
            <a:r>
              <a:rPr sz="2400" spc="5" dirty="0">
                <a:latin typeface="Arial"/>
                <a:cs typeface="Arial"/>
              </a:rPr>
              <a:t>not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efficient</a:t>
            </a:r>
            <a:endParaRPr sz="2400" dirty="0">
              <a:latin typeface="Arial"/>
              <a:cs typeface="Arial"/>
            </a:endParaRPr>
          </a:p>
          <a:p>
            <a:pPr marL="356870">
              <a:lnSpc>
                <a:spcPct val="100000"/>
              </a:lnSpc>
              <a:spcBef>
                <a:spcPts val="130"/>
              </a:spcBef>
              <a:tabLst>
                <a:tab pos="681990" algn="l"/>
              </a:tabLst>
            </a:pPr>
            <a:r>
              <a:rPr sz="2400" spc="1939" dirty="0">
                <a:solidFill>
                  <a:srgbClr val="9A6500"/>
                </a:solidFill>
                <a:latin typeface="Wingdings"/>
                <a:cs typeface="Wingdings"/>
              </a:rPr>
              <a:t></a:t>
            </a:r>
            <a:r>
              <a:rPr sz="2400" spc="1939" dirty="0">
                <a:solidFill>
                  <a:srgbClr val="9A6500"/>
                </a:solidFill>
                <a:latin typeface="Times New Roman"/>
                <a:cs typeface="Times New Roman"/>
              </a:rPr>
              <a:t>	</a:t>
            </a:r>
            <a:r>
              <a:rPr sz="2400" spc="-130" dirty="0">
                <a:latin typeface="Arial"/>
                <a:cs typeface="Arial"/>
              </a:rPr>
              <a:t>each </a:t>
            </a:r>
            <a:r>
              <a:rPr sz="2400" spc="25" dirty="0">
                <a:latin typeface="Arial"/>
                <a:cs typeface="Arial"/>
              </a:rPr>
              <a:t>digit </a:t>
            </a:r>
            <a:r>
              <a:rPr sz="2400" spc="-110" dirty="0">
                <a:latin typeface="Arial"/>
                <a:cs typeface="Arial"/>
              </a:rPr>
              <a:t>can </a:t>
            </a:r>
            <a:r>
              <a:rPr sz="2400" spc="-130" dirty="0">
                <a:latin typeface="Arial"/>
                <a:cs typeface="Arial"/>
              </a:rPr>
              <a:t>be </a:t>
            </a:r>
            <a:r>
              <a:rPr sz="2400" spc="-80" dirty="0">
                <a:latin typeface="Arial"/>
                <a:cs typeface="Arial"/>
              </a:rPr>
              <a:t>represented </a:t>
            </a:r>
            <a:r>
              <a:rPr sz="2400" spc="-70" dirty="0">
                <a:latin typeface="Arial"/>
                <a:cs typeface="Arial"/>
              </a:rPr>
              <a:t>using </a:t>
            </a:r>
            <a:r>
              <a:rPr sz="2400" spc="-114" dirty="0">
                <a:latin typeface="Arial"/>
                <a:cs typeface="Arial"/>
              </a:rPr>
              <a:t>4 </a:t>
            </a:r>
            <a:r>
              <a:rPr sz="2400" spc="-35" dirty="0">
                <a:latin typeface="Arial"/>
                <a:cs typeface="Arial"/>
              </a:rPr>
              <a:t>bits, </a:t>
            </a:r>
            <a:r>
              <a:rPr sz="2400" spc="-75" dirty="0">
                <a:latin typeface="Arial"/>
                <a:cs typeface="Arial"/>
              </a:rPr>
              <a:t>instead </a:t>
            </a:r>
            <a:r>
              <a:rPr sz="2400" spc="-10" dirty="0">
                <a:latin typeface="Arial"/>
                <a:cs typeface="Arial"/>
              </a:rPr>
              <a:t>of </a:t>
            </a:r>
            <a:r>
              <a:rPr sz="2400" spc="-95" dirty="0">
                <a:latin typeface="Arial"/>
                <a:cs typeface="Arial"/>
              </a:rPr>
              <a:t>one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byte</a:t>
            </a:r>
            <a:endParaRPr sz="2400" dirty="0">
              <a:latin typeface="Arial"/>
              <a:cs typeface="Arial"/>
            </a:endParaRPr>
          </a:p>
          <a:p>
            <a:pPr marL="356870">
              <a:lnSpc>
                <a:spcPct val="100000"/>
              </a:lnSpc>
              <a:spcBef>
                <a:spcPts val="120"/>
              </a:spcBef>
              <a:tabLst>
                <a:tab pos="681990" algn="l"/>
              </a:tabLst>
            </a:pPr>
            <a:r>
              <a:rPr sz="2400" spc="1939" dirty="0">
                <a:solidFill>
                  <a:srgbClr val="9A6500"/>
                </a:solidFill>
                <a:latin typeface="Wingdings"/>
                <a:cs typeface="Wingdings"/>
              </a:rPr>
              <a:t></a:t>
            </a:r>
            <a:r>
              <a:rPr sz="2400" spc="1939" dirty="0">
                <a:solidFill>
                  <a:srgbClr val="9A6500"/>
                </a:solidFill>
                <a:latin typeface="Times New Roman"/>
                <a:cs typeface="Times New Roman"/>
              </a:rPr>
              <a:t>	</a:t>
            </a:r>
            <a:r>
              <a:rPr sz="2400" spc="110" dirty="0">
                <a:latin typeface="Arial"/>
                <a:cs typeface="Arial"/>
              </a:rPr>
              <a:t>it </a:t>
            </a:r>
            <a:r>
              <a:rPr sz="2400" spc="-80" dirty="0">
                <a:latin typeface="Arial"/>
                <a:cs typeface="Arial"/>
              </a:rPr>
              <a:t>is </a:t>
            </a:r>
            <a:r>
              <a:rPr sz="2400" spc="-15" dirty="0">
                <a:latin typeface="Arial"/>
                <a:cs typeface="Arial"/>
              </a:rPr>
              <a:t>inconvenient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45" dirty="0">
                <a:latin typeface="Arial"/>
                <a:cs typeface="Arial"/>
              </a:rPr>
              <a:t>manipulate</a:t>
            </a:r>
            <a:r>
              <a:rPr sz="2400" spc="-295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numbers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4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400" spc="-55" dirty="0">
                <a:latin typeface="Arial"/>
                <a:cs typeface="Arial"/>
              </a:rPr>
              <a:t>2</a:t>
            </a:r>
            <a:r>
              <a:rPr sz="2400" spc="-82" baseline="25925" dirty="0">
                <a:latin typeface="Arial"/>
                <a:cs typeface="Arial"/>
              </a:rPr>
              <a:t>nd </a:t>
            </a:r>
            <a:r>
              <a:rPr sz="2400" spc="-40" dirty="0">
                <a:latin typeface="Arial"/>
                <a:cs typeface="Arial"/>
              </a:rPr>
              <a:t>Solution: </a:t>
            </a:r>
            <a:r>
              <a:rPr sz="2400" b="1" spc="-190" dirty="0">
                <a:solidFill>
                  <a:srgbClr val="CC9A00"/>
                </a:solidFill>
                <a:latin typeface="Arial"/>
                <a:cs typeface="Arial"/>
              </a:rPr>
              <a:t>Sending </a:t>
            </a:r>
            <a:r>
              <a:rPr sz="2400" b="1" spc="-110" dirty="0">
                <a:solidFill>
                  <a:srgbClr val="CC9A00"/>
                </a:solidFill>
                <a:latin typeface="Arial"/>
                <a:cs typeface="Arial"/>
              </a:rPr>
              <a:t>the </a:t>
            </a:r>
            <a:r>
              <a:rPr sz="2400" b="1" spc="-195" dirty="0">
                <a:solidFill>
                  <a:srgbClr val="CC9A00"/>
                </a:solidFill>
                <a:latin typeface="Arial"/>
                <a:cs typeface="Arial"/>
              </a:rPr>
              <a:t>values </a:t>
            </a:r>
            <a:r>
              <a:rPr sz="2400" spc="-10" dirty="0">
                <a:latin typeface="Arial"/>
                <a:cs typeface="Arial"/>
              </a:rPr>
              <a:t>of </a:t>
            </a:r>
            <a:r>
              <a:rPr sz="2400" dirty="0">
                <a:latin typeface="Courier New"/>
                <a:cs typeface="Courier New"/>
              </a:rPr>
              <a:t>x</a:t>
            </a:r>
            <a:r>
              <a:rPr sz="2400" spc="-505" dirty="0">
                <a:latin typeface="Courier New"/>
                <a:cs typeface="Courier New"/>
              </a:rPr>
              <a:t> </a:t>
            </a:r>
            <a:r>
              <a:rPr sz="2400" spc="-100" dirty="0">
                <a:latin typeface="Arial"/>
                <a:cs typeface="Arial"/>
              </a:rPr>
              <a:t>and </a:t>
            </a:r>
            <a:r>
              <a:rPr sz="2400" dirty="0">
                <a:latin typeface="Courier New"/>
                <a:cs typeface="Courier New"/>
              </a:rPr>
              <a:t>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90829" y="261873"/>
            <a:ext cx="753681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50" dirty="0"/>
              <a:t>Constructing </a:t>
            </a:r>
            <a:r>
              <a:rPr sz="4200" spc="-315" dirty="0"/>
              <a:t>Messages </a:t>
            </a:r>
            <a:r>
              <a:rPr sz="3200" spc="-200" dirty="0"/>
              <a:t>- </a:t>
            </a:r>
            <a:r>
              <a:rPr sz="3200" spc="-175" dirty="0"/>
              <a:t>Encoding</a:t>
            </a:r>
            <a:r>
              <a:rPr sz="3200" spc="-345" dirty="0"/>
              <a:t> </a:t>
            </a:r>
            <a:r>
              <a:rPr sz="3200" spc="-185" dirty="0"/>
              <a:t>Data</a:t>
            </a:r>
            <a:endParaRPr sz="32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81443" y="3657091"/>
            <a:ext cx="7791450" cy="1390650"/>
          </a:xfrm>
          <a:prstGeom prst="rect">
            <a:avLst/>
          </a:prstGeom>
          <a:ln w="22225">
            <a:solidFill>
              <a:srgbClr val="9966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316230" marR="5979160" indent="-213995">
              <a:lnSpc>
                <a:spcPct val="100000"/>
              </a:lnSpc>
              <a:spcBef>
                <a:spcPts val="305"/>
              </a:spcBef>
            </a:pPr>
            <a:r>
              <a:rPr sz="1400" b="1" spc="-10" dirty="0">
                <a:latin typeface="Courier New"/>
                <a:cs typeface="Courier New"/>
              </a:rPr>
              <a:t>typedef struct </a:t>
            </a:r>
            <a:r>
              <a:rPr sz="1400" b="1" spc="-5" dirty="0">
                <a:latin typeface="Courier New"/>
                <a:cs typeface="Courier New"/>
              </a:rPr>
              <a:t>{  int</a:t>
            </a:r>
            <a:r>
              <a:rPr sz="1400" b="1" spc="-2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x,y;</a:t>
            </a:r>
            <a:endParaRPr sz="1400" dirty="0">
              <a:latin typeface="Courier New"/>
              <a:cs typeface="Courier New"/>
            </a:endParaRPr>
          </a:p>
          <a:p>
            <a:pPr marL="102235">
              <a:lnSpc>
                <a:spcPts val="1664"/>
              </a:lnSpc>
            </a:pPr>
            <a:r>
              <a:rPr sz="1400" b="1" spc="-5" dirty="0">
                <a:latin typeface="Courier New"/>
                <a:cs typeface="Courier New"/>
              </a:rPr>
              <a:t>}</a:t>
            </a:r>
            <a:r>
              <a:rPr sz="1400" b="1" spc="-10" dirty="0">
                <a:latin typeface="Courier New"/>
                <a:cs typeface="Courier New"/>
              </a:rPr>
              <a:t> msgStruct;</a:t>
            </a:r>
            <a:endParaRPr sz="1400" dirty="0">
              <a:latin typeface="Courier New"/>
              <a:cs typeface="Courier New"/>
            </a:endParaRPr>
          </a:p>
          <a:p>
            <a:pPr marL="102235">
              <a:lnSpc>
                <a:spcPts val="1675"/>
              </a:lnSpc>
            </a:pPr>
            <a:r>
              <a:rPr sz="1400" b="1" spc="-5" dirty="0">
                <a:latin typeface="Courier New"/>
                <a:cs typeface="Courier New"/>
              </a:rPr>
              <a:t>…</a:t>
            </a:r>
            <a:endParaRPr sz="1400" dirty="0">
              <a:latin typeface="Courier New"/>
              <a:cs typeface="Courier New"/>
            </a:endParaRPr>
          </a:p>
          <a:p>
            <a:pPr marL="102235" marR="2256790">
              <a:lnSpc>
                <a:spcPts val="1670"/>
              </a:lnSpc>
              <a:spcBef>
                <a:spcPts val="60"/>
              </a:spcBef>
              <a:tabLst>
                <a:tab pos="2017395" algn="l"/>
              </a:tabLst>
            </a:pPr>
            <a:r>
              <a:rPr sz="1400" b="1" spc="-10" dirty="0">
                <a:latin typeface="Courier New"/>
                <a:cs typeface="Courier New"/>
              </a:rPr>
              <a:t>msgStruct.x</a:t>
            </a:r>
            <a:r>
              <a:rPr sz="1400" b="1" spc="10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=</a:t>
            </a:r>
            <a:r>
              <a:rPr sz="1400" b="1" spc="10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x;	</a:t>
            </a:r>
            <a:r>
              <a:rPr sz="1400" b="1" spc="-10" dirty="0">
                <a:latin typeface="Courier New"/>
                <a:cs typeface="Courier New"/>
              </a:rPr>
              <a:t>msgStruct.y </a:t>
            </a:r>
            <a:r>
              <a:rPr sz="1400" b="1" spc="-5" dirty="0">
                <a:latin typeface="Courier New"/>
                <a:cs typeface="Courier New"/>
              </a:rPr>
              <a:t>= </a:t>
            </a:r>
            <a:r>
              <a:rPr sz="1400" b="1" spc="-10" dirty="0">
                <a:latin typeface="Courier New"/>
                <a:cs typeface="Courier New"/>
              </a:rPr>
              <a:t>y;  send(clientSock, &amp;msgStruct, sizeof(msgStruct),</a:t>
            </a:r>
            <a:r>
              <a:rPr sz="1400" b="1" spc="80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0);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1443" y="5428741"/>
            <a:ext cx="4191000" cy="540385"/>
          </a:xfrm>
          <a:prstGeom prst="rect">
            <a:avLst/>
          </a:prstGeom>
          <a:ln w="22225">
            <a:solidFill>
              <a:srgbClr val="9966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02235" marR="252095">
              <a:lnSpc>
                <a:spcPct val="100000"/>
              </a:lnSpc>
              <a:spcBef>
                <a:spcPts val="305"/>
              </a:spcBef>
            </a:pPr>
            <a:r>
              <a:rPr sz="1400" b="1" spc="-10" dirty="0">
                <a:latin typeface="Courier New"/>
                <a:cs typeface="Courier New"/>
              </a:rPr>
              <a:t>send(clientSock, </a:t>
            </a:r>
            <a:r>
              <a:rPr sz="1400" b="1" spc="-5" dirty="0">
                <a:latin typeface="Courier New"/>
                <a:cs typeface="Courier New"/>
              </a:rPr>
              <a:t>&amp;x, </a:t>
            </a:r>
            <a:r>
              <a:rPr sz="1400" b="1" spc="-10" dirty="0">
                <a:latin typeface="Courier New"/>
                <a:cs typeface="Courier New"/>
              </a:rPr>
              <a:t>sizeof(x)), 0);  send(clientSock, </a:t>
            </a:r>
            <a:r>
              <a:rPr sz="1400" b="1" spc="-5" dirty="0">
                <a:latin typeface="Courier New"/>
                <a:cs typeface="Courier New"/>
              </a:rPr>
              <a:t>&amp;y, </a:t>
            </a:r>
            <a:r>
              <a:rPr sz="1400" b="1" spc="-10" dirty="0">
                <a:latin typeface="Courier New"/>
                <a:cs typeface="Courier New"/>
              </a:rPr>
              <a:t>sizeof(y)),</a:t>
            </a:r>
            <a:r>
              <a:rPr sz="1400" b="1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0);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1453" y="1181582"/>
            <a:ext cx="7797800" cy="2355132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4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pc="-55" dirty="0">
                <a:latin typeface="Arial"/>
                <a:cs typeface="Arial"/>
              </a:rPr>
              <a:t>2</a:t>
            </a:r>
            <a:r>
              <a:rPr spc="-82" baseline="25925" dirty="0">
                <a:latin typeface="Arial"/>
                <a:cs typeface="Arial"/>
              </a:rPr>
              <a:t>nd </a:t>
            </a:r>
            <a:r>
              <a:rPr spc="-40" dirty="0">
                <a:latin typeface="Arial"/>
                <a:cs typeface="Arial"/>
              </a:rPr>
              <a:t>Solution: </a:t>
            </a:r>
            <a:r>
              <a:rPr b="1" spc="-190" dirty="0">
                <a:solidFill>
                  <a:srgbClr val="CC9A00"/>
                </a:solidFill>
                <a:latin typeface="Arial"/>
                <a:cs typeface="Arial"/>
              </a:rPr>
              <a:t>Sending </a:t>
            </a:r>
            <a:r>
              <a:rPr b="1" spc="-110" dirty="0">
                <a:solidFill>
                  <a:srgbClr val="CC9A00"/>
                </a:solidFill>
                <a:latin typeface="Arial"/>
                <a:cs typeface="Arial"/>
              </a:rPr>
              <a:t>the </a:t>
            </a:r>
            <a:r>
              <a:rPr b="1" spc="-195" dirty="0">
                <a:solidFill>
                  <a:srgbClr val="CC9A00"/>
                </a:solidFill>
                <a:latin typeface="Arial"/>
                <a:cs typeface="Arial"/>
              </a:rPr>
              <a:t>values </a:t>
            </a:r>
            <a:r>
              <a:rPr spc="-10" dirty="0">
                <a:latin typeface="Arial"/>
                <a:cs typeface="Arial"/>
              </a:rPr>
              <a:t>of </a:t>
            </a:r>
            <a:r>
              <a:rPr dirty="0">
                <a:latin typeface="Courier New"/>
                <a:cs typeface="Courier New"/>
              </a:rPr>
              <a:t>x</a:t>
            </a:r>
            <a:r>
              <a:rPr spc="-505" dirty="0">
                <a:latin typeface="Courier New"/>
                <a:cs typeface="Courier New"/>
              </a:rPr>
              <a:t> </a:t>
            </a:r>
            <a:r>
              <a:rPr spc="-100" dirty="0">
                <a:latin typeface="Arial"/>
                <a:cs typeface="Arial"/>
              </a:rPr>
              <a:t>and </a:t>
            </a:r>
            <a:r>
              <a:rPr dirty="0">
                <a:latin typeface="Courier New"/>
                <a:cs typeface="Courier New"/>
              </a:rPr>
              <a:t>y</a:t>
            </a:r>
          </a:p>
          <a:p>
            <a:pPr marL="681990" lvl="1" indent="-325120">
              <a:lnSpc>
                <a:spcPct val="100000"/>
              </a:lnSpc>
              <a:spcBef>
                <a:spcPts val="49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pc="25" dirty="0">
                <a:latin typeface="Arial"/>
                <a:cs typeface="Arial"/>
              </a:rPr>
              <a:t>pitfall: </a:t>
            </a:r>
            <a:r>
              <a:rPr spc="-30" dirty="0">
                <a:latin typeface="Arial"/>
                <a:cs typeface="Arial"/>
              </a:rPr>
              <a:t>native integer</a:t>
            </a:r>
            <a:r>
              <a:rPr spc="-175" dirty="0">
                <a:latin typeface="Arial"/>
                <a:cs typeface="Arial"/>
              </a:rPr>
              <a:t> </a:t>
            </a:r>
            <a:r>
              <a:rPr spc="-15" dirty="0">
                <a:latin typeface="Arial"/>
                <a:cs typeface="Arial"/>
              </a:rPr>
              <a:t>format</a:t>
            </a:r>
            <a:endParaRPr dirty="0">
              <a:latin typeface="Arial"/>
              <a:cs typeface="Arial"/>
            </a:endParaRPr>
          </a:p>
          <a:p>
            <a:pPr marL="356870">
              <a:lnSpc>
                <a:spcPct val="100000"/>
              </a:lnSpc>
              <a:spcBef>
                <a:spcPts val="175"/>
              </a:spcBef>
            </a:pPr>
            <a:r>
              <a:rPr spc="3625" dirty="0">
                <a:solidFill>
                  <a:srgbClr val="9A6500"/>
                </a:solidFill>
                <a:latin typeface="Wingdings"/>
                <a:cs typeface="Wingdings"/>
              </a:rPr>
              <a:t></a:t>
            </a:r>
            <a:r>
              <a:rPr spc="-250" dirty="0">
                <a:solidFill>
                  <a:srgbClr val="9A6500"/>
                </a:solidFill>
                <a:latin typeface="Times New Roman"/>
                <a:cs typeface="Times New Roman"/>
              </a:rPr>
              <a:t> </a:t>
            </a:r>
            <a:r>
              <a:rPr spc="-229" dirty="0">
                <a:latin typeface="Arial"/>
                <a:cs typeface="Arial"/>
              </a:rPr>
              <a:t>a </a:t>
            </a:r>
            <a:r>
              <a:rPr b="1" spc="-130" dirty="0">
                <a:latin typeface="Arial"/>
                <a:cs typeface="Arial"/>
              </a:rPr>
              <a:t>protocol </a:t>
            </a:r>
            <a:r>
              <a:rPr spc="-85" dirty="0">
                <a:latin typeface="Arial"/>
                <a:cs typeface="Arial"/>
              </a:rPr>
              <a:t>is </a:t>
            </a:r>
            <a:r>
              <a:rPr spc="-145" dirty="0">
                <a:latin typeface="Arial"/>
                <a:cs typeface="Arial"/>
              </a:rPr>
              <a:t>used</a:t>
            </a:r>
            <a:endParaRPr dirty="0">
              <a:latin typeface="Arial"/>
              <a:cs typeface="Arial"/>
            </a:endParaRPr>
          </a:p>
          <a:p>
            <a:pPr marL="1035050" lvl="2" indent="-351155">
              <a:lnSpc>
                <a:spcPct val="100000"/>
              </a:lnSpc>
              <a:spcBef>
                <a:spcPts val="390"/>
              </a:spcBef>
              <a:buClr>
                <a:srgbClr val="9A6500"/>
              </a:buClr>
              <a:buSzPct val="66666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pc="5" dirty="0">
                <a:latin typeface="Arial"/>
                <a:cs typeface="Arial"/>
              </a:rPr>
              <a:t>how </a:t>
            </a:r>
            <a:r>
              <a:rPr spc="-45" dirty="0">
                <a:latin typeface="Arial"/>
                <a:cs typeface="Arial"/>
              </a:rPr>
              <a:t>many </a:t>
            </a:r>
            <a:r>
              <a:rPr spc="-30" dirty="0">
                <a:latin typeface="Arial"/>
                <a:cs typeface="Arial"/>
              </a:rPr>
              <a:t>bits </a:t>
            </a:r>
            <a:r>
              <a:rPr spc="-100" dirty="0">
                <a:latin typeface="Arial"/>
                <a:cs typeface="Arial"/>
              </a:rPr>
              <a:t>are </a:t>
            </a:r>
            <a:r>
              <a:rPr spc="-130" dirty="0">
                <a:latin typeface="Arial"/>
                <a:cs typeface="Arial"/>
              </a:rPr>
              <a:t>used </a:t>
            </a:r>
            <a:r>
              <a:rPr spc="20" dirty="0">
                <a:latin typeface="Arial"/>
                <a:cs typeface="Arial"/>
              </a:rPr>
              <a:t>for </a:t>
            </a:r>
            <a:r>
              <a:rPr spc="-114" dirty="0">
                <a:latin typeface="Arial"/>
                <a:cs typeface="Arial"/>
              </a:rPr>
              <a:t>each</a:t>
            </a:r>
            <a:r>
              <a:rPr spc="-70" dirty="0">
                <a:latin typeface="Arial"/>
                <a:cs typeface="Arial"/>
              </a:rPr>
              <a:t> </a:t>
            </a:r>
            <a:r>
              <a:rPr spc="-30" dirty="0">
                <a:latin typeface="Arial"/>
                <a:cs typeface="Arial"/>
              </a:rPr>
              <a:t>integer</a:t>
            </a:r>
            <a:endParaRPr dirty="0">
              <a:latin typeface="Arial"/>
              <a:cs typeface="Arial"/>
            </a:endParaRPr>
          </a:p>
          <a:p>
            <a:pPr marL="1035050" marR="5080" lvl="2" indent="-351155">
              <a:lnSpc>
                <a:spcPct val="100000"/>
              </a:lnSpc>
              <a:spcBef>
                <a:spcPts val="445"/>
              </a:spcBef>
              <a:buClr>
                <a:srgbClr val="9A6500"/>
              </a:buClr>
              <a:buSzPct val="66666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dirty="0">
                <a:latin typeface="Arial"/>
                <a:cs typeface="Arial"/>
              </a:rPr>
              <a:t>what </a:t>
            </a:r>
            <a:r>
              <a:rPr spc="-30" dirty="0">
                <a:latin typeface="Arial"/>
                <a:cs typeface="Arial"/>
              </a:rPr>
              <a:t>type </a:t>
            </a:r>
            <a:r>
              <a:rPr spc="-10" dirty="0">
                <a:latin typeface="Arial"/>
                <a:cs typeface="Arial"/>
              </a:rPr>
              <a:t>of </a:t>
            </a:r>
            <a:r>
              <a:rPr spc="-55" dirty="0">
                <a:latin typeface="Arial"/>
                <a:cs typeface="Arial"/>
              </a:rPr>
              <a:t>encoding </a:t>
            </a:r>
            <a:r>
              <a:rPr spc="-75" dirty="0">
                <a:latin typeface="Arial"/>
                <a:cs typeface="Arial"/>
              </a:rPr>
              <a:t>is </a:t>
            </a:r>
            <a:r>
              <a:rPr spc="-130" dirty="0">
                <a:latin typeface="Arial"/>
                <a:cs typeface="Arial"/>
              </a:rPr>
              <a:t>used </a:t>
            </a:r>
            <a:r>
              <a:rPr spc="-90" dirty="0">
                <a:latin typeface="Arial"/>
                <a:cs typeface="Arial"/>
              </a:rPr>
              <a:t>(e.g. </a:t>
            </a:r>
            <a:r>
              <a:rPr spc="-35" dirty="0">
                <a:latin typeface="Arial"/>
                <a:cs typeface="Arial"/>
              </a:rPr>
              <a:t>two’s </a:t>
            </a:r>
            <a:r>
              <a:rPr spc="-45" dirty="0">
                <a:latin typeface="Arial"/>
                <a:cs typeface="Arial"/>
              </a:rPr>
              <a:t>complement, sign/magnitude,  </a:t>
            </a:r>
            <a:r>
              <a:rPr spc="-65" dirty="0">
                <a:latin typeface="Arial"/>
                <a:cs typeface="Arial"/>
              </a:rPr>
              <a:t>unsigned)</a:t>
            </a:r>
            <a:endParaRPr dirty="0">
              <a:latin typeface="Arial"/>
              <a:cs typeface="Arial"/>
            </a:endParaRPr>
          </a:p>
          <a:p>
            <a:pPr marL="349250">
              <a:lnSpc>
                <a:spcPct val="100000"/>
              </a:lnSpc>
              <a:spcBef>
                <a:spcPts val="1110"/>
              </a:spcBef>
            </a:pPr>
            <a:r>
              <a:rPr b="1" spc="-90" dirty="0">
                <a:solidFill>
                  <a:srgbClr val="9A6500"/>
                </a:solidFill>
                <a:latin typeface="Arial"/>
                <a:cs typeface="Arial"/>
              </a:rPr>
              <a:t>1</a:t>
            </a:r>
            <a:r>
              <a:rPr b="1" spc="-135" baseline="24691" dirty="0">
                <a:solidFill>
                  <a:srgbClr val="9A6500"/>
                </a:solidFill>
                <a:latin typeface="Arial"/>
                <a:cs typeface="Arial"/>
              </a:rPr>
              <a:t>st</a:t>
            </a:r>
            <a:r>
              <a:rPr b="1" spc="-37" baseline="24691" dirty="0">
                <a:solidFill>
                  <a:srgbClr val="9A6500"/>
                </a:solidFill>
                <a:latin typeface="Arial"/>
                <a:cs typeface="Arial"/>
              </a:rPr>
              <a:t> </a:t>
            </a:r>
            <a:r>
              <a:rPr b="1" spc="-70" dirty="0">
                <a:solidFill>
                  <a:srgbClr val="9A6500"/>
                </a:solidFill>
                <a:latin typeface="Arial"/>
                <a:cs typeface="Arial"/>
              </a:rPr>
              <a:t>Implementation</a:t>
            </a:r>
            <a:endParaRPr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8213" y="5168473"/>
            <a:ext cx="148526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65" dirty="0">
                <a:solidFill>
                  <a:srgbClr val="9A6500"/>
                </a:solidFill>
                <a:latin typeface="Arial"/>
                <a:cs typeface="Arial"/>
              </a:rPr>
              <a:t>2</a:t>
            </a:r>
            <a:r>
              <a:rPr sz="1350" b="1" spc="-97" baseline="24691" dirty="0">
                <a:solidFill>
                  <a:srgbClr val="9A6500"/>
                </a:solidFill>
                <a:latin typeface="Arial"/>
                <a:cs typeface="Arial"/>
              </a:rPr>
              <a:t>nd</a:t>
            </a:r>
            <a:r>
              <a:rPr sz="1350" b="1" spc="-67" baseline="24691" dirty="0">
                <a:solidFill>
                  <a:srgbClr val="9A6500"/>
                </a:solidFill>
                <a:latin typeface="Arial"/>
                <a:cs typeface="Arial"/>
              </a:rPr>
              <a:t> </a:t>
            </a:r>
            <a:r>
              <a:rPr sz="1400" b="1" spc="-70" dirty="0">
                <a:solidFill>
                  <a:srgbClr val="9A6500"/>
                </a:solidFill>
                <a:latin typeface="Arial"/>
                <a:cs typeface="Arial"/>
              </a:rPr>
              <a:t>Implementation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29528" y="5363464"/>
            <a:ext cx="212217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2</a:t>
            </a:r>
            <a:r>
              <a:rPr sz="1800" b="1" baseline="23148" dirty="0">
                <a:latin typeface="Arial"/>
                <a:cs typeface="Arial"/>
              </a:rPr>
              <a:t>nd </a:t>
            </a:r>
            <a:r>
              <a:rPr sz="1800" b="1" spc="-5" dirty="0">
                <a:latin typeface="Arial"/>
                <a:cs typeface="Arial"/>
              </a:rPr>
              <a:t>implementation  works </a:t>
            </a:r>
            <a:r>
              <a:rPr sz="1800" b="1" dirty="0">
                <a:latin typeface="Arial"/>
                <a:cs typeface="Arial"/>
              </a:rPr>
              <a:t>in </a:t>
            </a:r>
            <a:r>
              <a:rPr sz="1800" b="1" spc="-5" dirty="0">
                <a:latin typeface="Arial"/>
                <a:cs typeface="Arial"/>
              </a:rPr>
              <a:t>any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case?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90829" y="261873"/>
            <a:ext cx="753681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50" dirty="0"/>
              <a:t>Constructing </a:t>
            </a:r>
            <a:r>
              <a:rPr sz="4200" spc="-315" dirty="0"/>
              <a:t>Messages </a:t>
            </a:r>
            <a:r>
              <a:rPr sz="3200" spc="-200" dirty="0"/>
              <a:t>- </a:t>
            </a:r>
            <a:r>
              <a:rPr sz="3200" spc="-175" dirty="0"/>
              <a:t>Encoding</a:t>
            </a:r>
            <a:r>
              <a:rPr sz="3200" spc="-345" dirty="0"/>
              <a:t> </a:t>
            </a:r>
            <a:r>
              <a:rPr sz="3200" spc="-185" dirty="0"/>
              <a:t>Data</a:t>
            </a:r>
            <a:endParaRPr sz="32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245239" y="4640071"/>
            <a:ext cx="3657600" cy="1371600"/>
          </a:xfrm>
          <a:custGeom>
            <a:avLst/>
            <a:gdLst/>
            <a:ahLst/>
            <a:cxnLst/>
            <a:rect l="l" t="t" r="r" b="b"/>
            <a:pathLst>
              <a:path w="3657600" h="1371600">
                <a:moveTo>
                  <a:pt x="0" y="0"/>
                </a:moveTo>
                <a:lnTo>
                  <a:pt x="0" y="1371600"/>
                </a:lnTo>
                <a:lnTo>
                  <a:pt x="3657599" y="1371600"/>
                </a:lnTo>
                <a:lnTo>
                  <a:pt x="3657599" y="0"/>
                </a:lnTo>
                <a:lnTo>
                  <a:pt x="0" y="0"/>
                </a:lnTo>
                <a:close/>
              </a:path>
            </a:pathLst>
          </a:custGeom>
          <a:solidFill>
            <a:srgbClr val="CC9900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245239" y="4640071"/>
            <a:ext cx="3657600" cy="1371600"/>
          </a:xfrm>
          <a:custGeom>
            <a:avLst/>
            <a:gdLst/>
            <a:ahLst/>
            <a:cxnLst/>
            <a:rect l="l" t="t" r="r" b="b"/>
            <a:pathLst>
              <a:path w="3657600" h="1371600">
                <a:moveTo>
                  <a:pt x="0" y="0"/>
                </a:moveTo>
                <a:lnTo>
                  <a:pt x="0" y="1371600"/>
                </a:lnTo>
                <a:lnTo>
                  <a:pt x="3657599" y="1371600"/>
                </a:lnTo>
                <a:lnTo>
                  <a:pt x="3657599" y="0"/>
                </a:lnTo>
                <a:lnTo>
                  <a:pt x="0" y="0"/>
                </a:lnTo>
                <a:close/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6039" y="4716271"/>
            <a:ext cx="3886200" cy="1371600"/>
          </a:xfrm>
          <a:custGeom>
            <a:avLst/>
            <a:gdLst/>
            <a:ahLst/>
            <a:cxnLst/>
            <a:rect l="l" t="t" r="r" b="b"/>
            <a:pathLst>
              <a:path w="3886200" h="1371600">
                <a:moveTo>
                  <a:pt x="0" y="0"/>
                </a:moveTo>
                <a:lnTo>
                  <a:pt x="0" y="1371600"/>
                </a:lnTo>
                <a:lnTo>
                  <a:pt x="3886200" y="1371600"/>
                </a:lnTo>
                <a:lnTo>
                  <a:pt x="3886199" y="0"/>
                </a:lnTo>
                <a:lnTo>
                  <a:pt x="0" y="0"/>
                </a:lnTo>
                <a:close/>
              </a:path>
            </a:pathLst>
          </a:custGeom>
          <a:solidFill>
            <a:srgbClr val="CC9900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6039" y="4716271"/>
            <a:ext cx="3886200" cy="1371600"/>
          </a:xfrm>
          <a:custGeom>
            <a:avLst/>
            <a:gdLst/>
            <a:ahLst/>
            <a:cxnLst/>
            <a:rect l="l" t="t" r="r" b="b"/>
            <a:pathLst>
              <a:path w="3886200" h="1371600">
                <a:moveTo>
                  <a:pt x="0" y="0"/>
                </a:moveTo>
                <a:lnTo>
                  <a:pt x="0" y="1371600"/>
                </a:lnTo>
                <a:lnTo>
                  <a:pt x="3886200" y="1371600"/>
                </a:lnTo>
                <a:lnTo>
                  <a:pt x="3886199" y="0"/>
                </a:lnTo>
                <a:lnTo>
                  <a:pt x="0" y="0"/>
                </a:lnTo>
                <a:close/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47945" y="1228826"/>
            <a:ext cx="7251065" cy="332549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507365" indent="-342265">
              <a:lnSpc>
                <a:spcPct val="100000"/>
              </a:lnSpc>
              <a:spcBef>
                <a:spcPts val="645"/>
              </a:spcBef>
              <a:buClr>
                <a:srgbClr val="CC9A00"/>
              </a:buClr>
              <a:buSzPct val="63636"/>
              <a:buFont typeface="Wingdings"/>
              <a:buChar char=""/>
              <a:tabLst>
                <a:tab pos="507365" algn="l"/>
                <a:tab pos="508000" algn="l"/>
              </a:tabLst>
            </a:pPr>
            <a:r>
              <a:rPr sz="2200" spc="-114" dirty="0">
                <a:latin typeface="Arial"/>
                <a:cs typeface="Arial"/>
              </a:rPr>
              <a:t>Address </a:t>
            </a:r>
            <a:r>
              <a:rPr sz="2200" spc="-100" dirty="0">
                <a:latin typeface="Arial"/>
                <a:cs typeface="Arial"/>
              </a:rPr>
              <a:t>and </a:t>
            </a:r>
            <a:r>
              <a:rPr sz="2200" spc="5" dirty="0">
                <a:latin typeface="Arial"/>
                <a:cs typeface="Arial"/>
              </a:rPr>
              <a:t>port </a:t>
            </a:r>
            <a:r>
              <a:rPr sz="2200" spc="-125" dirty="0">
                <a:latin typeface="Arial"/>
                <a:cs typeface="Arial"/>
              </a:rPr>
              <a:t>are </a:t>
            </a:r>
            <a:r>
              <a:rPr sz="2200" spc="-85" dirty="0">
                <a:latin typeface="Arial"/>
                <a:cs typeface="Arial"/>
              </a:rPr>
              <a:t>stored </a:t>
            </a:r>
            <a:r>
              <a:rPr sz="2200" spc="-285" dirty="0">
                <a:latin typeface="Arial"/>
                <a:cs typeface="Arial"/>
              </a:rPr>
              <a:t>as</a:t>
            </a:r>
            <a:r>
              <a:rPr sz="2200" spc="30" dirty="0">
                <a:latin typeface="Arial"/>
                <a:cs typeface="Arial"/>
              </a:rPr>
              <a:t> </a:t>
            </a:r>
            <a:r>
              <a:rPr sz="2200" spc="-75" dirty="0">
                <a:latin typeface="Arial"/>
                <a:cs typeface="Arial"/>
              </a:rPr>
              <a:t>integers</a:t>
            </a:r>
            <a:endParaRPr sz="2200">
              <a:latin typeface="Arial"/>
              <a:cs typeface="Arial"/>
            </a:endParaRPr>
          </a:p>
          <a:p>
            <a:pPr marL="834390" lvl="1" indent="-325120">
              <a:lnSpc>
                <a:spcPct val="100000"/>
              </a:lnSpc>
              <a:spcBef>
                <a:spcPts val="495"/>
              </a:spcBef>
              <a:buClr>
                <a:srgbClr val="3B822F"/>
              </a:buClr>
              <a:buSzPct val="60000"/>
              <a:buFont typeface="Wingdings"/>
              <a:buChar char=""/>
              <a:tabLst>
                <a:tab pos="835025" algn="l"/>
              </a:tabLst>
            </a:pPr>
            <a:r>
              <a:rPr sz="2000" spc="-45" dirty="0">
                <a:latin typeface="Arial"/>
                <a:cs typeface="Arial"/>
              </a:rPr>
              <a:t>u_short </a:t>
            </a:r>
            <a:r>
              <a:rPr sz="2000" spc="-35" dirty="0">
                <a:latin typeface="Arial"/>
                <a:cs typeface="Arial"/>
              </a:rPr>
              <a:t>sin_port; </a:t>
            </a:r>
            <a:r>
              <a:rPr sz="2000" spc="-80" dirty="0">
                <a:latin typeface="Arial"/>
                <a:cs typeface="Arial"/>
              </a:rPr>
              <a:t>(16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35" dirty="0">
                <a:latin typeface="Arial"/>
                <a:cs typeface="Arial"/>
              </a:rPr>
              <a:t>bit)</a:t>
            </a:r>
            <a:endParaRPr sz="2000">
              <a:latin typeface="Arial"/>
              <a:cs typeface="Arial"/>
            </a:endParaRPr>
          </a:p>
          <a:p>
            <a:pPr marL="834390" lvl="1" indent="-325120">
              <a:lnSpc>
                <a:spcPct val="100000"/>
              </a:lnSpc>
              <a:spcBef>
                <a:spcPts val="475"/>
              </a:spcBef>
              <a:buClr>
                <a:srgbClr val="3B822F"/>
              </a:buClr>
              <a:buSzPct val="60000"/>
              <a:buFont typeface="Wingdings"/>
              <a:buChar char=""/>
              <a:tabLst>
                <a:tab pos="835025" algn="l"/>
              </a:tabLst>
            </a:pPr>
            <a:r>
              <a:rPr sz="2000" spc="-35" dirty="0">
                <a:latin typeface="Arial"/>
                <a:cs typeface="Arial"/>
              </a:rPr>
              <a:t>in_addr </a:t>
            </a:r>
            <a:r>
              <a:rPr sz="2000" spc="-65" dirty="0">
                <a:latin typeface="Arial"/>
                <a:cs typeface="Arial"/>
              </a:rPr>
              <a:t>sin_addr; </a:t>
            </a:r>
            <a:r>
              <a:rPr sz="2000" spc="-85" dirty="0">
                <a:latin typeface="Arial"/>
                <a:cs typeface="Arial"/>
              </a:rPr>
              <a:t>(32 </a:t>
            </a:r>
            <a:r>
              <a:rPr sz="2000" spc="35" dirty="0">
                <a:latin typeface="Arial"/>
                <a:cs typeface="Arial"/>
              </a:rPr>
              <a:t>bit)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50"/>
              </a:spcBef>
              <a:buClr>
                <a:srgbClr val="3B822F"/>
              </a:buClr>
              <a:buSzPct val="83333"/>
              <a:buFont typeface="Wingdings"/>
              <a:buChar char=""/>
              <a:tabLst>
                <a:tab pos="355600" algn="l"/>
              </a:tabLst>
            </a:pPr>
            <a:r>
              <a:rPr sz="2400" spc="-55" dirty="0">
                <a:latin typeface="Arial"/>
                <a:cs typeface="Arial"/>
              </a:rPr>
              <a:t>Problem:</a:t>
            </a:r>
            <a:endParaRPr sz="2400">
              <a:latin typeface="Arial"/>
              <a:cs typeface="Arial"/>
            </a:endParaRPr>
          </a:p>
          <a:p>
            <a:pPr marL="755015" lvl="1" indent="-285750">
              <a:lnSpc>
                <a:spcPct val="100000"/>
              </a:lnSpc>
              <a:spcBef>
                <a:spcPts val="520"/>
              </a:spcBef>
              <a:buClr>
                <a:srgbClr val="3B822F"/>
              </a:buClr>
              <a:buSzPct val="75000"/>
              <a:buFont typeface="Wingdings"/>
              <a:buChar char=""/>
              <a:tabLst>
                <a:tab pos="755650" algn="l"/>
              </a:tabLst>
            </a:pPr>
            <a:r>
              <a:rPr sz="2000" spc="5" dirty="0">
                <a:latin typeface="Arial"/>
                <a:cs typeface="Arial"/>
              </a:rPr>
              <a:t>different </a:t>
            </a:r>
            <a:r>
              <a:rPr sz="2000" spc="-85" dirty="0">
                <a:latin typeface="Arial"/>
                <a:cs typeface="Arial"/>
              </a:rPr>
              <a:t>machines </a:t>
            </a:r>
            <a:r>
              <a:rPr sz="2000" spc="60" dirty="0">
                <a:latin typeface="Arial"/>
                <a:cs typeface="Arial"/>
              </a:rPr>
              <a:t>/ </a:t>
            </a:r>
            <a:r>
              <a:rPr sz="2000" spc="-175" dirty="0">
                <a:latin typeface="Arial"/>
                <a:cs typeface="Arial"/>
              </a:rPr>
              <a:t>OS’s use </a:t>
            </a:r>
            <a:r>
              <a:rPr sz="2000" spc="5" dirty="0">
                <a:latin typeface="Arial"/>
                <a:cs typeface="Arial"/>
              </a:rPr>
              <a:t>different word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orderings</a:t>
            </a:r>
            <a:endParaRPr sz="2000">
              <a:latin typeface="Arial"/>
              <a:cs typeface="Arial"/>
            </a:endParaRPr>
          </a:p>
          <a:p>
            <a:pPr marL="1155700" lvl="2" indent="-229235">
              <a:lnSpc>
                <a:spcPct val="100000"/>
              </a:lnSpc>
              <a:spcBef>
                <a:spcPts val="455"/>
              </a:spcBef>
              <a:buChar char="•"/>
              <a:tabLst>
                <a:tab pos="1155065" algn="l"/>
                <a:tab pos="1156335" algn="l"/>
              </a:tabLst>
            </a:pPr>
            <a:r>
              <a:rPr sz="1800" spc="5" dirty="0">
                <a:latin typeface="Arial"/>
                <a:cs typeface="Arial"/>
              </a:rPr>
              <a:t>little-endian: lower </a:t>
            </a:r>
            <a:r>
              <a:rPr sz="1800" spc="-75" dirty="0">
                <a:latin typeface="Arial"/>
                <a:cs typeface="Arial"/>
              </a:rPr>
              <a:t>bytes</a:t>
            </a:r>
            <a:r>
              <a:rPr sz="1800" spc="-180" dirty="0">
                <a:latin typeface="Arial"/>
                <a:cs typeface="Arial"/>
              </a:rPr>
              <a:t> </a:t>
            </a:r>
            <a:r>
              <a:rPr sz="1800" spc="20" dirty="0">
                <a:latin typeface="Arial"/>
                <a:cs typeface="Arial"/>
              </a:rPr>
              <a:t>first</a:t>
            </a:r>
            <a:endParaRPr sz="1800">
              <a:latin typeface="Arial"/>
              <a:cs typeface="Arial"/>
            </a:endParaRPr>
          </a:p>
          <a:p>
            <a:pPr marL="1155700" lvl="2" indent="-229235">
              <a:lnSpc>
                <a:spcPct val="100000"/>
              </a:lnSpc>
              <a:spcBef>
                <a:spcPts val="445"/>
              </a:spcBef>
              <a:buChar char="•"/>
              <a:tabLst>
                <a:tab pos="1155065" algn="l"/>
                <a:tab pos="1156335" algn="l"/>
              </a:tabLst>
            </a:pPr>
            <a:r>
              <a:rPr sz="1800" spc="-35" dirty="0">
                <a:latin typeface="Arial"/>
                <a:cs typeface="Arial"/>
              </a:rPr>
              <a:t>big-endian: </a:t>
            </a:r>
            <a:r>
              <a:rPr sz="1800" spc="-15" dirty="0">
                <a:latin typeface="Arial"/>
                <a:cs typeface="Arial"/>
              </a:rPr>
              <a:t>higher </a:t>
            </a:r>
            <a:r>
              <a:rPr sz="1800" spc="-75" dirty="0">
                <a:latin typeface="Arial"/>
                <a:cs typeface="Arial"/>
              </a:rPr>
              <a:t>bytes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spc="20" dirty="0">
                <a:latin typeface="Arial"/>
                <a:cs typeface="Arial"/>
              </a:rPr>
              <a:t>first</a:t>
            </a:r>
            <a:endParaRPr sz="1800">
              <a:latin typeface="Arial"/>
              <a:cs typeface="Arial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459"/>
              </a:spcBef>
              <a:buClr>
                <a:srgbClr val="3B822F"/>
              </a:buClr>
              <a:buSzPct val="75000"/>
              <a:buFont typeface="Wingdings"/>
              <a:buChar char=""/>
              <a:tabLst>
                <a:tab pos="755650" algn="l"/>
              </a:tabLst>
            </a:pPr>
            <a:r>
              <a:rPr sz="2000" spc="-114" dirty="0">
                <a:latin typeface="Arial"/>
                <a:cs typeface="Arial"/>
              </a:rPr>
              <a:t>these </a:t>
            </a:r>
            <a:r>
              <a:rPr sz="2000" spc="-85" dirty="0">
                <a:latin typeface="Arial"/>
                <a:cs typeface="Arial"/>
              </a:rPr>
              <a:t>machines </a:t>
            </a:r>
            <a:r>
              <a:rPr sz="2000" spc="-75" dirty="0">
                <a:latin typeface="Arial"/>
                <a:cs typeface="Arial"/>
              </a:rPr>
              <a:t>may </a:t>
            </a:r>
            <a:r>
              <a:rPr sz="2000" spc="-55" dirty="0">
                <a:latin typeface="Arial"/>
                <a:cs typeface="Arial"/>
              </a:rPr>
              <a:t>communicate </a:t>
            </a:r>
            <a:r>
              <a:rPr sz="2000" spc="85" dirty="0">
                <a:latin typeface="Arial"/>
                <a:cs typeface="Arial"/>
              </a:rPr>
              <a:t>with </a:t>
            </a:r>
            <a:r>
              <a:rPr sz="2000" spc="-95" dirty="0">
                <a:latin typeface="Arial"/>
                <a:cs typeface="Arial"/>
              </a:rPr>
              <a:t>one </a:t>
            </a:r>
            <a:r>
              <a:rPr sz="2000" spc="-40" dirty="0">
                <a:latin typeface="Arial"/>
                <a:cs typeface="Arial"/>
              </a:rPr>
              <a:t>another </a:t>
            </a:r>
            <a:r>
              <a:rPr sz="2000" spc="-45" dirty="0">
                <a:latin typeface="Arial"/>
                <a:cs typeface="Arial"/>
              </a:rPr>
              <a:t>over </a:t>
            </a:r>
            <a:r>
              <a:rPr sz="2000" spc="-930" dirty="0">
                <a:latin typeface="Arial"/>
                <a:cs typeface="Arial"/>
              </a:rPr>
              <a:t>the </a:t>
            </a:r>
            <a:r>
              <a:rPr sz="2000" spc="-550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network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7293" y="5043423"/>
            <a:ext cx="1447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mic Sans MS"/>
                <a:cs typeface="Comic Sans MS"/>
              </a:rPr>
              <a:t>128.119.40.12</a:t>
            </a:r>
            <a:endParaRPr sz="1800">
              <a:latin typeface="Comic Sans MS"/>
              <a:cs typeface="Comic Sans MS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419364" y="5614796"/>
          <a:ext cx="2438400" cy="398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  <a:gridCol w="609600"/>
              </a:tblGrid>
              <a:tr h="398145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128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119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40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12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7226681" y="4891023"/>
            <a:ext cx="1447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mic Sans MS"/>
                <a:cs typeface="Comic Sans MS"/>
              </a:rPr>
              <a:t>12.40.119.128</a:t>
            </a:r>
            <a:endParaRPr sz="1800">
              <a:latin typeface="Comic Sans MS"/>
              <a:cs typeface="Comic Sans MS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457952" y="5538596"/>
          <a:ext cx="2438400" cy="398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  <a:gridCol w="609600"/>
              </a:tblGrid>
              <a:tr h="398145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128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119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40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12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2560713" y="4533391"/>
            <a:ext cx="1698625" cy="838200"/>
          </a:xfrm>
          <a:custGeom>
            <a:avLst/>
            <a:gdLst/>
            <a:ahLst/>
            <a:cxnLst/>
            <a:rect l="l" t="t" r="r" b="b"/>
            <a:pathLst>
              <a:path w="1698625" h="838200">
                <a:moveTo>
                  <a:pt x="0" y="0"/>
                </a:moveTo>
                <a:lnTo>
                  <a:pt x="0" y="838200"/>
                </a:lnTo>
                <a:lnTo>
                  <a:pt x="1698498" y="838200"/>
                </a:lnTo>
                <a:lnTo>
                  <a:pt x="169849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560713" y="4533391"/>
            <a:ext cx="1698625" cy="838200"/>
          </a:xfrm>
          <a:custGeom>
            <a:avLst/>
            <a:gdLst/>
            <a:ahLst/>
            <a:cxnLst/>
            <a:rect l="l" t="t" r="r" b="b"/>
            <a:pathLst>
              <a:path w="1698625" h="838200">
                <a:moveTo>
                  <a:pt x="0" y="0"/>
                </a:moveTo>
                <a:lnTo>
                  <a:pt x="0" y="838200"/>
                </a:lnTo>
                <a:lnTo>
                  <a:pt x="1698498" y="838200"/>
                </a:lnTo>
                <a:lnTo>
                  <a:pt x="1698498" y="0"/>
                </a:lnTo>
                <a:lnTo>
                  <a:pt x="0" y="0"/>
                </a:lnTo>
                <a:close/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986448" y="4558792"/>
            <a:ext cx="185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n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68651" y="4732146"/>
            <a:ext cx="1518285" cy="631825"/>
          </a:xfrm>
          <a:prstGeom prst="rect">
            <a:avLst/>
          </a:prstGeom>
          <a:solidFill>
            <a:srgbClr val="CC9900">
              <a:alpha val="69999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1614"/>
              </a:lnSpc>
            </a:pPr>
            <a:r>
              <a:rPr sz="2400" dirty="0">
                <a:latin typeface="Comic Sans MS"/>
                <a:cs typeface="Comic Sans MS"/>
              </a:rPr>
              <a:t>Big-Endia</a:t>
            </a:r>
            <a:endParaRPr sz="2400">
              <a:latin typeface="Comic Sans MS"/>
              <a:cs typeface="Comic Sans MS"/>
            </a:endParaRPr>
          </a:p>
          <a:p>
            <a:pPr marL="9144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machine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00409" y="4553965"/>
            <a:ext cx="2049780" cy="838200"/>
          </a:xfrm>
          <a:custGeom>
            <a:avLst/>
            <a:gdLst/>
            <a:ahLst/>
            <a:cxnLst/>
            <a:rect l="l" t="t" r="r" b="b"/>
            <a:pathLst>
              <a:path w="2049779" h="838200">
                <a:moveTo>
                  <a:pt x="0" y="0"/>
                </a:moveTo>
                <a:lnTo>
                  <a:pt x="0" y="838200"/>
                </a:lnTo>
                <a:lnTo>
                  <a:pt x="2049779" y="838200"/>
                </a:lnTo>
                <a:lnTo>
                  <a:pt x="204977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700409" y="4553965"/>
            <a:ext cx="2049780" cy="838200"/>
          </a:xfrm>
          <a:custGeom>
            <a:avLst/>
            <a:gdLst/>
            <a:ahLst/>
            <a:cxnLst/>
            <a:rect l="l" t="t" r="r" b="b"/>
            <a:pathLst>
              <a:path w="2049779" h="838200">
                <a:moveTo>
                  <a:pt x="0" y="0"/>
                </a:moveTo>
                <a:lnTo>
                  <a:pt x="0" y="838200"/>
                </a:lnTo>
                <a:lnTo>
                  <a:pt x="2049779" y="838200"/>
                </a:lnTo>
                <a:lnTo>
                  <a:pt x="2049779" y="0"/>
                </a:lnTo>
                <a:lnTo>
                  <a:pt x="0" y="0"/>
                </a:lnTo>
                <a:close/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788280" y="4579366"/>
            <a:ext cx="18770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mic Sans MS"/>
                <a:cs typeface="Comic Sans MS"/>
              </a:rPr>
              <a:t>Little-Endian  machine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949839" y="5735065"/>
            <a:ext cx="1524000" cy="95250"/>
          </a:xfrm>
          <a:custGeom>
            <a:avLst/>
            <a:gdLst/>
            <a:ahLst/>
            <a:cxnLst/>
            <a:rect l="l" t="t" r="r" b="b"/>
            <a:pathLst>
              <a:path w="1524000" h="95250">
                <a:moveTo>
                  <a:pt x="1444752" y="64008"/>
                </a:moveTo>
                <a:lnTo>
                  <a:pt x="1444752" y="32004"/>
                </a:lnTo>
                <a:lnTo>
                  <a:pt x="0" y="32004"/>
                </a:lnTo>
                <a:lnTo>
                  <a:pt x="0" y="64008"/>
                </a:lnTo>
                <a:lnTo>
                  <a:pt x="1444752" y="64008"/>
                </a:lnTo>
                <a:close/>
              </a:path>
              <a:path w="1524000" h="95250">
                <a:moveTo>
                  <a:pt x="1523987" y="48006"/>
                </a:moveTo>
                <a:lnTo>
                  <a:pt x="1428750" y="0"/>
                </a:lnTo>
                <a:lnTo>
                  <a:pt x="1428750" y="32004"/>
                </a:lnTo>
                <a:lnTo>
                  <a:pt x="1444752" y="32004"/>
                </a:lnTo>
                <a:lnTo>
                  <a:pt x="1444752" y="87311"/>
                </a:lnTo>
                <a:lnTo>
                  <a:pt x="1523987" y="48006"/>
                </a:lnTo>
                <a:close/>
              </a:path>
              <a:path w="1524000" h="95250">
                <a:moveTo>
                  <a:pt x="1444752" y="87311"/>
                </a:moveTo>
                <a:lnTo>
                  <a:pt x="1444752" y="64008"/>
                </a:lnTo>
                <a:lnTo>
                  <a:pt x="1428750" y="64008"/>
                </a:lnTo>
                <a:lnTo>
                  <a:pt x="1428750" y="95250"/>
                </a:lnTo>
                <a:lnTo>
                  <a:pt x="1444752" y="87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866266" y="261873"/>
            <a:ext cx="738759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50" dirty="0"/>
              <a:t>Constructing </a:t>
            </a:r>
            <a:r>
              <a:rPr sz="4200" spc="-315" dirty="0"/>
              <a:t>Messages </a:t>
            </a:r>
            <a:r>
              <a:rPr sz="3200" spc="-200" dirty="0"/>
              <a:t>- </a:t>
            </a:r>
            <a:r>
              <a:rPr sz="3200" spc="-190" dirty="0"/>
              <a:t>Byte</a:t>
            </a:r>
            <a:r>
              <a:rPr sz="3200" spc="-340" dirty="0"/>
              <a:t> </a:t>
            </a:r>
            <a:r>
              <a:rPr sz="3200" spc="-190" dirty="0"/>
              <a:t>Ordering</a:t>
            </a:r>
            <a:endParaRPr sz="32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85937" y="1587696"/>
            <a:ext cx="5975603" cy="17965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11261" y="4111537"/>
            <a:ext cx="5987796" cy="18224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1453" y="1183893"/>
            <a:ext cx="1758314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CC9A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45" dirty="0">
                <a:latin typeface="Arial"/>
                <a:cs typeface="Arial"/>
              </a:rPr>
              <a:t>Big-Endian: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1453" y="3594100"/>
            <a:ext cx="20021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CC9A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5" dirty="0">
                <a:latin typeface="Arial"/>
                <a:cs typeface="Arial"/>
              </a:rPr>
              <a:t>Little-Endian: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66266" y="261873"/>
            <a:ext cx="738759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50" dirty="0"/>
              <a:t>Constructing </a:t>
            </a:r>
            <a:r>
              <a:rPr sz="4200" spc="-315" dirty="0"/>
              <a:t>Messages </a:t>
            </a:r>
            <a:r>
              <a:rPr sz="3200" spc="-200" dirty="0"/>
              <a:t>- </a:t>
            </a:r>
            <a:r>
              <a:rPr sz="3200" spc="-190" dirty="0"/>
              <a:t>Byte</a:t>
            </a:r>
            <a:r>
              <a:rPr sz="3200" spc="-340" dirty="0"/>
              <a:t> </a:t>
            </a:r>
            <a:r>
              <a:rPr sz="3200" spc="-190" dirty="0"/>
              <a:t>Ordering</a:t>
            </a:r>
            <a:endParaRPr sz="32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3553" y="266445"/>
            <a:ext cx="6811009" cy="60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spc="-225" dirty="0"/>
              <a:t>Constructing </a:t>
            </a:r>
            <a:r>
              <a:rPr sz="3800" spc="-285" dirty="0"/>
              <a:t>Messages </a:t>
            </a:r>
            <a:r>
              <a:rPr sz="2800" spc="-175" dirty="0"/>
              <a:t>- </a:t>
            </a:r>
            <a:r>
              <a:rPr sz="2800" spc="-170" dirty="0"/>
              <a:t>Byte Ordering</a:t>
            </a:r>
            <a:r>
              <a:rPr sz="2800" spc="-105" dirty="0"/>
              <a:t> </a:t>
            </a:r>
            <a:r>
              <a:rPr sz="2800" spc="-175" dirty="0"/>
              <a:t>-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524141" y="642355"/>
            <a:ext cx="7434580" cy="1793239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550035">
              <a:lnSpc>
                <a:spcPct val="100000"/>
              </a:lnSpc>
              <a:spcBef>
                <a:spcPts val="1780"/>
              </a:spcBef>
            </a:pPr>
            <a:r>
              <a:rPr sz="2800" spc="-45" dirty="0">
                <a:solidFill>
                  <a:srgbClr val="006533"/>
                </a:solidFill>
                <a:latin typeface="Arial"/>
                <a:cs typeface="Arial"/>
              </a:rPr>
              <a:t>Solution: </a:t>
            </a:r>
            <a:r>
              <a:rPr sz="2800" spc="15" dirty="0">
                <a:solidFill>
                  <a:srgbClr val="006533"/>
                </a:solidFill>
                <a:latin typeface="Arial"/>
                <a:cs typeface="Arial"/>
              </a:rPr>
              <a:t>Network </a:t>
            </a:r>
            <a:r>
              <a:rPr sz="2800" spc="-65" dirty="0">
                <a:solidFill>
                  <a:srgbClr val="006533"/>
                </a:solidFill>
                <a:latin typeface="Arial"/>
                <a:cs typeface="Arial"/>
              </a:rPr>
              <a:t>Byte</a:t>
            </a:r>
            <a:r>
              <a:rPr sz="2800" spc="-204" dirty="0">
                <a:solidFill>
                  <a:srgbClr val="006533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006533"/>
                </a:solidFill>
                <a:latin typeface="Arial"/>
                <a:cs typeface="Arial"/>
              </a:rPr>
              <a:t>Ordering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195"/>
              </a:spcBef>
              <a:buClr>
                <a:srgbClr val="CC9A00"/>
              </a:buClr>
              <a:buSzPct val="6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b="1" spc="-135" dirty="0">
                <a:solidFill>
                  <a:srgbClr val="A50021"/>
                </a:solidFill>
                <a:latin typeface="Arial"/>
                <a:cs typeface="Arial"/>
              </a:rPr>
              <a:t>Host </a:t>
            </a:r>
            <a:r>
              <a:rPr sz="2000" b="1" spc="-90" dirty="0">
                <a:solidFill>
                  <a:srgbClr val="A50021"/>
                </a:solidFill>
                <a:latin typeface="Arial"/>
                <a:cs typeface="Arial"/>
              </a:rPr>
              <a:t>Byte-Ordering</a:t>
            </a:r>
            <a:r>
              <a:rPr sz="2000" spc="-90" dirty="0">
                <a:latin typeface="Arial"/>
                <a:cs typeface="Arial"/>
              </a:rPr>
              <a:t>: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30" dirty="0">
                <a:latin typeface="Arial"/>
                <a:cs typeface="Arial"/>
              </a:rPr>
              <a:t>byte </a:t>
            </a:r>
            <a:r>
              <a:rPr sz="2000" spc="-25" dirty="0">
                <a:latin typeface="Arial"/>
                <a:cs typeface="Arial"/>
              </a:rPr>
              <a:t>ordering </a:t>
            </a:r>
            <a:r>
              <a:rPr sz="2000" spc="-145" dirty="0">
                <a:latin typeface="Arial"/>
                <a:cs typeface="Arial"/>
              </a:rPr>
              <a:t>used </a:t>
            </a:r>
            <a:r>
              <a:rPr sz="2000" spc="-15" dirty="0">
                <a:latin typeface="Arial"/>
                <a:cs typeface="Arial"/>
              </a:rPr>
              <a:t>by </a:t>
            </a:r>
            <a:r>
              <a:rPr sz="2000" spc="-229" dirty="0">
                <a:latin typeface="Arial"/>
                <a:cs typeface="Arial"/>
              </a:rPr>
              <a:t>a </a:t>
            </a:r>
            <a:r>
              <a:rPr sz="2000" spc="-65" dirty="0">
                <a:latin typeface="Arial"/>
                <a:cs typeface="Arial"/>
              </a:rPr>
              <a:t>host </a:t>
            </a:r>
            <a:r>
              <a:rPr sz="2000" spc="-35" dirty="0">
                <a:latin typeface="Arial"/>
                <a:cs typeface="Arial"/>
              </a:rPr>
              <a:t>(big </a:t>
            </a:r>
            <a:r>
              <a:rPr sz="2000" dirty="0">
                <a:latin typeface="Arial"/>
                <a:cs typeface="Arial"/>
              </a:rPr>
              <a:t>or</a:t>
            </a:r>
            <a:r>
              <a:rPr sz="2000" spc="-175" dirty="0">
                <a:latin typeface="Arial"/>
                <a:cs typeface="Arial"/>
              </a:rPr>
              <a:t> </a:t>
            </a:r>
            <a:r>
              <a:rPr sz="2000" spc="45" dirty="0">
                <a:latin typeface="Arial"/>
                <a:cs typeface="Arial"/>
              </a:rPr>
              <a:t>little)</a:t>
            </a:r>
            <a:endParaRPr sz="2000">
              <a:latin typeface="Arial"/>
              <a:cs typeface="Arial"/>
            </a:endParaRPr>
          </a:p>
          <a:p>
            <a:pPr marL="354965" marR="101600" indent="-342265">
              <a:lnSpc>
                <a:spcPct val="100000"/>
              </a:lnSpc>
              <a:spcBef>
                <a:spcPts val="480"/>
              </a:spcBef>
              <a:buClr>
                <a:srgbClr val="CC9A00"/>
              </a:buClr>
              <a:buSzPct val="6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b="1" spc="-70" dirty="0">
                <a:solidFill>
                  <a:srgbClr val="9A6500"/>
                </a:solidFill>
                <a:latin typeface="Arial"/>
                <a:cs typeface="Arial"/>
              </a:rPr>
              <a:t>Network </a:t>
            </a:r>
            <a:r>
              <a:rPr sz="2000" b="1" spc="-90" dirty="0">
                <a:solidFill>
                  <a:srgbClr val="9A6500"/>
                </a:solidFill>
                <a:latin typeface="Arial"/>
                <a:cs typeface="Arial"/>
              </a:rPr>
              <a:t>Byte-Ordering</a:t>
            </a:r>
            <a:r>
              <a:rPr sz="2000" spc="-90" dirty="0">
                <a:latin typeface="Arial"/>
                <a:cs typeface="Arial"/>
              </a:rPr>
              <a:t>: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35" dirty="0">
                <a:latin typeface="Arial"/>
                <a:cs typeface="Arial"/>
              </a:rPr>
              <a:t>byte </a:t>
            </a:r>
            <a:r>
              <a:rPr sz="2000" spc="-25" dirty="0">
                <a:latin typeface="Arial"/>
                <a:cs typeface="Arial"/>
              </a:rPr>
              <a:t>ordering </a:t>
            </a:r>
            <a:r>
              <a:rPr sz="2000" spc="-150" dirty="0">
                <a:latin typeface="Arial"/>
                <a:cs typeface="Arial"/>
              </a:rPr>
              <a:t>used </a:t>
            </a:r>
            <a:r>
              <a:rPr sz="2000" spc="-20" dirty="0">
                <a:latin typeface="Arial"/>
                <a:cs typeface="Arial"/>
              </a:rPr>
              <a:t>by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5" dirty="0">
                <a:latin typeface="Arial"/>
                <a:cs typeface="Arial"/>
              </a:rPr>
              <a:t>network </a:t>
            </a:r>
            <a:r>
              <a:rPr sz="2000" spc="-114" dirty="0">
                <a:latin typeface="Arial"/>
                <a:cs typeface="Arial"/>
              </a:rPr>
              <a:t>–  </a:t>
            </a:r>
            <a:r>
              <a:rPr sz="2000" spc="-80" dirty="0">
                <a:latin typeface="Arial"/>
                <a:cs typeface="Arial"/>
              </a:rPr>
              <a:t>always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big-endian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2137" y="2511297"/>
            <a:ext cx="3782060" cy="68580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35"/>
              </a:spcBef>
              <a:buClr>
                <a:srgbClr val="CC9A00"/>
              </a:buClr>
              <a:buSzPct val="666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b="1" spc="-10" dirty="0">
                <a:latin typeface="Courier New"/>
                <a:cs typeface="Courier New"/>
              </a:rPr>
              <a:t>u_long </a:t>
            </a:r>
            <a:r>
              <a:rPr sz="1800" b="1" spc="-10" dirty="0">
                <a:solidFill>
                  <a:srgbClr val="3B822F"/>
                </a:solidFill>
                <a:latin typeface="Courier New"/>
                <a:cs typeface="Courier New"/>
              </a:rPr>
              <a:t>htonl</a:t>
            </a:r>
            <a:r>
              <a:rPr sz="1800" b="1" spc="-10" dirty="0">
                <a:latin typeface="Courier New"/>
                <a:cs typeface="Courier New"/>
              </a:rPr>
              <a:t>(u_long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x);</a:t>
            </a:r>
            <a:endParaRPr sz="1800">
              <a:latin typeface="Courier New"/>
              <a:cs typeface="Courier New"/>
            </a:endParaRPr>
          </a:p>
          <a:p>
            <a:pPr marL="354965" indent="-342265">
              <a:lnSpc>
                <a:spcPct val="100000"/>
              </a:lnSpc>
              <a:spcBef>
                <a:spcPts val="440"/>
              </a:spcBef>
              <a:buClr>
                <a:srgbClr val="CC9A00"/>
              </a:buClr>
              <a:buSzPct val="666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b="1" spc="-10" dirty="0">
                <a:latin typeface="Courier New"/>
                <a:cs typeface="Courier New"/>
              </a:rPr>
              <a:t>u_short </a:t>
            </a:r>
            <a:r>
              <a:rPr sz="1800" b="1" spc="-10" dirty="0">
                <a:solidFill>
                  <a:srgbClr val="3B822F"/>
                </a:solidFill>
                <a:latin typeface="Courier New"/>
                <a:cs typeface="Courier New"/>
              </a:rPr>
              <a:t>htons</a:t>
            </a:r>
            <a:r>
              <a:rPr sz="1800" b="1" spc="-10" dirty="0">
                <a:latin typeface="Courier New"/>
                <a:cs typeface="Courier New"/>
              </a:rPr>
              <a:t>(u_short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spc="-15" dirty="0">
                <a:latin typeface="Courier New"/>
                <a:cs typeface="Courier New"/>
              </a:rPr>
              <a:t>x);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06925" y="2511297"/>
            <a:ext cx="3782060" cy="68580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35"/>
              </a:spcBef>
              <a:buClr>
                <a:srgbClr val="CC9A00"/>
              </a:buClr>
              <a:buSzPct val="666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b="1" spc="-10" dirty="0">
                <a:latin typeface="Courier New"/>
                <a:cs typeface="Courier New"/>
              </a:rPr>
              <a:t>u_long </a:t>
            </a:r>
            <a:r>
              <a:rPr sz="1800" b="1" spc="-10" dirty="0">
                <a:solidFill>
                  <a:srgbClr val="3B822F"/>
                </a:solidFill>
                <a:latin typeface="Courier New"/>
                <a:cs typeface="Courier New"/>
              </a:rPr>
              <a:t>ntohl</a:t>
            </a:r>
            <a:r>
              <a:rPr sz="1800" b="1" spc="-10" dirty="0">
                <a:latin typeface="Courier New"/>
                <a:cs typeface="Courier New"/>
              </a:rPr>
              <a:t>(u_long</a:t>
            </a:r>
            <a:r>
              <a:rPr sz="1800" b="1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x);</a:t>
            </a:r>
            <a:endParaRPr sz="180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440"/>
              </a:spcBef>
              <a:buClr>
                <a:srgbClr val="CC9A00"/>
              </a:buClr>
              <a:buSzPct val="666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b="1" spc="-10" dirty="0">
                <a:latin typeface="Courier New"/>
                <a:cs typeface="Courier New"/>
              </a:rPr>
              <a:t>u_short </a:t>
            </a:r>
            <a:r>
              <a:rPr sz="1800" b="1" spc="-10" dirty="0">
                <a:solidFill>
                  <a:srgbClr val="3B822F"/>
                </a:solidFill>
                <a:latin typeface="Courier New"/>
                <a:cs typeface="Courier New"/>
              </a:rPr>
              <a:t>ntohs</a:t>
            </a:r>
            <a:r>
              <a:rPr sz="1800" b="1" spc="-10" dirty="0">
                <a:latin typeface="Courier New"/>
                <a:cs typeface="Courier New"/>
              </a:rPr>
              <a:t>(u_short</a:t>
            </a:r>
            <a:r>
              <a:rPr sz="1800" b="1" spc="-50" dirty="0">
                <a:latin typeface="Courier New"/>
                <a:cs typeface="Courier New"/>
              </a:rPr>
              <a:t> </a:t>
            </a:r>
            <a:r>
              <a:rPr sz="1800" b="1" spc="-15" dirty="0">
                <a:latin typeface="Courier New"/>
                <a:cs typeface="Courier New"/>
              </a:rPr>
              <a:t>x);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8325" y="3506927"/>
            <a:ext cx="6160135" cy="7569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3B822F"/>
              </a:buClr>
              <a:buSzPct val="85000"/>
              <a:buFont typeface="Wingdings"/>
              <a:buChar char=""/>
              <a:tabLst>
                <a:tab pos="354965" algn="l"/>
                <a:tab pos="355600" algn="l"/>
              </a:tabLst>
            </a:pPr>
            <a:r>
              <a:rPr sz="2000" spc="-15" dirty="0">
                <a:latin typeface="Arial"/>
                <a:cs typeface="Arial"/>
              </a:rPr>
              <a:t>On </a:t>
            </a:r>
            <a:r>
              <a:rPr sz="2000" spc="-35" dirty="0">
                <a:latin typeface="Arial"/>
                <a:cs typeface="Arial"/>
              </a:rPr>
              <a:t>big-endian </a:t>
            </a:r>
            <a:r>
              <a:rPr sz="2000" spc="-85" dirty="0">
                <a:latin typeface="Arial"/>
                <a:cs typeface="Arial"/>
              </a:rPr>
              <a:t>machines, </a:t>
            </a:r>
            <a:r>
              <a:rPr sz="2000" spc="-110" dirty="0">
                <a:latin typeface="Arial"/>
                <a:cs typeface="Arial"/>
              </a:rPr>
              <a:t>these </a:t>
            </a:r>
            <a:r>
              <a:rPr sz="2000" spc="-35" dirty="0">
                <a:latin typeface="Arial"/>
                <a:cs typeface="Arial"/>
              </a:rPr>
              <a:t>routines </a:t>
            </a:r>
            <a:r>
              <a:rPr sz="2000" spc="-80" dirty="0">
                <a:latin typeface="Arial"/>
                <a:cs typeface="Arial"/>
              </a:rPr>
              <a:t>do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nothing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3B822F"/>
              </a:buClr>
              <a:buSzPct val="85000"/>
              <a:buFont typeface="Wingdings"/>
              <a:buChar char=""/>
              <a:tabLst>
                <a:tab pos="354965" algn="l"/>
                <a:tab pos="355600" algn="l"/>
              </a:tabLst>
            </a:pPr>
            <a:r>
              <a:rPr sz="2000" spc="-15" dirty="0">
                <a:latin typeface="Arial"/>
                <a:cs typeface="Arial"/>
              </a:rPr>
              <a:t>On </a:t>
            </a:r>
            <a:r>
              <a:rPr sz="2000" spc="10" dirty="0">
                <a:latin typeface="Arial"/>
                <a:cs typeface="Arial"/>
              </a:rPr>
              <a:t>little-endian </a:t>
            </a:r>
            <a:r>
              <a:rPr sz="2000" spc="-85" dirty="0">
                <a:latin typeface="Arial"/>
                <a:cs typeface="Arial"/>
              </a:rPr>
              <a:t>machines, </a:t>
            </a:r>
            <a:r>
              <a:rPr sz="2000" spc="-10" dirty="0">
                <a:latin typeface="Arial"/>
                <a:cs typeface="Arial"/>
              </a:rPr>
              <a:t>they </a:t>
            </a:r>
            <a:r>
              <a:rPr sz="2000" spc="-100" dirty="0">
                <a:latin typeface="Arial"/>
                <a:cs typeface="Arial"/>
              </a:rPr>
              <a:t>reverse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35" dirty="0">
                <a:latin typeface="Arial"/>
                <a:cs typeface="Arial"/>
              </a:rPr>
              <a:t>byte</a:t>
            </a:r>
            <a:r>
              <a:rPr sz="2000" spc="-160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order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45239" y="4584446"/>
            <a:ext cx="3657600" cy="1371600"/>
          </a:xfrm>
          <a:custGeom>
            <a:avLst/>
            <a:gdLst/>
            <a:ahLst/>
            <a:cxnLst/>
            <a:rect l="l" t="t" r="r" b="b"/>
            <a:pathLst>
              <a:path w="3657600" h="1371600">
                <a:moveTo>
                  <a:pt x="0" y="0"/>
                </a:moveTo>
                <a:lnTo>
                  <a:pt x="0" y="1371600"/>
                </a:lnTo>
                <a:lnTo>
                  <a:pt x="3657599" y="1371600"/>
                </a:lnTo>
                <a:lnTo>
                  <a:pt x="3657599" y="0"/>
                </a:lnTo>
                <a:lnTo>
                  <a:pt x="0" y="0"/>
                </a:lnTo>
                <a:close/>
              </a:path>
            </a:pathLst>
          </a:custGeom>
          <a:solidFill>
            <a:srgbClr val="CC9900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245239" y="4584446"/>
            <a:ext cx="3657600" cy="1371600"/>
          </a:xfrm>
          <a:custGeom>
            <a:avLst/>
            <a:gdLst/>
            <a:ahLst/>
            <a:cxnLst/>
            <a:rect l="l" t="t" r="r" b="b"/>
            <a:pathLst>
              <a:path w="3657600" h="1371600">
                <a:moveTo>
                  <a:pt x="0" y="0"/>
                </a:moveTo>
                <a:lnTo>
                  <a:pt x="0" y="1371600"/>
                </a:lnTo>
                <a:lnTo>
                  <a:pt x="3657599" y="1371600"/>
                </a:lnTo>
                <a:lnTo>
                  <a:pt x="3657599" y="0"/>
                </a:lnTo>
                <a:lnTo>
                  <a:pt x="0" y="0"/>
                </a:lnTo>
                <a:close/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16039" y="4660646"/>
            <a:ext cx="3886200" cy="1371600"/>
          </a:xfrm>
          <a:custGeom>
            <a:avLst/>
            <a:gdLst/>
            <a:ahLst/>
            <a:cxnLst/>
            <a:rect l="l" t="t" r="r" b="b"/>
            <a:pathLst>
              <a:path w="3886200" h="1371600">
                <a:moveTo>
                  <a:pt x="0" y="0"/>
                </a:moveTo>
                <a:lnTo>
                  <a:pt x="0" y="1371600"/>
                </a:lnTo>
                <a:lnTo>
                  <a:pt x="3886200" y="1371600"/>
                </a:lnTo>
                <a:lnTo>
                  <a:pt x="3886199" y="0"/>
                </a:lnTo>
                <a:lnTo>
                  <a:pt x="0" y="0"/>
                </a:lnTo>
                <a:close/>
              </a:path>
            </a:pathLst>
          </a:custGeom>
          <a:solidFill>
            <a:srgbClr val="CC9900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16039" y="4660646"/>
            <a:ext cx="3886200" cy="1371600"/>
          </a:xfrm>
          <a:custGeom>
            <a:avLst/>
            <a:gdLst/>
            <a:ahLst/>
            <a:cxnLst/>
            <a:rect l="l" t="t" r="r" b="b"/>
            <a:pathLst>
              <a:path w="3886200" h="1371600">
                <a:moveTo>
                  <a:pt x="0" y="0"/>
                </a:moveTo>
                <a:lnTo>
                  <a:pt x="0" y="1371600"/>
                </a:lnTo>
                <a:lnTo>
                  <a:pt x="3886200" y="1371600"/>
                </a:lnTo>
                <a:lnTo>
                  <a:pt x="3886199" y="0"/>
                </a:lnTo>
                <a:lnTo>
                  <a:pt x="0" y="0"/>
                </a:lnTo>
                <a:close/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33793" y="4824769"/>
            <a:ext cx="382905" cy="3187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800" dirty="0">
                <a:latin typeface="Comic Sans MS"/>
                <a:cs typeface="Comic Sans MS"/>
              </a:rPr>
              <a:t>128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6312" y="4824769"/>
            <a:ext cx="600075" cy="3187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800" dirty="0">
                <a:latin typeface="Comic Sans MS"/>
                <a:cs typeface="Comic Sans MS"/>
              </a:rPr>
              <a:t>.119.4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16152" y="4824769"/>
            <a:ext cx="440055" cy="3187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800" dirty="0">
                <a:latin typeface="Comic Sans MS"/>
                <a:cs typeface="Comic Sans MS"/>
              </a:rPr>
              <a:t>0.12</a:t>
            </a:r>
            <a:endParaRPr sz="1800">
              <a:latin typeface="Comic Sans MS"/>
              <a:cs typeface="Comic Sans MS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419364" y="5559171"/>
          <a:ext cx="2438400" cy="398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  <a:gridCol w="609600"/>
              </a:tblGrid>
              <a:tr h="398145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128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119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40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12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8221533" y="4672369"/>
            <a:ext cx="440055" cy="3187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800" dirty="0">
                <a:latin typeface="Comic Sans MS"/>
                <a:cs typeface="Comic Sans MS"/>
              </a:rPr>
              <a:t>0.12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21831" y="4672369"/>
            <a:ext cx="600075" cy="3187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800" dirty="0">
                <a:latin typeface="Comic Sans MS"/>
                <a:cs typeface="Comic Sans MS"/>
              </a:rPr>
              <a:t>.119.4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39381" y="4672369"/>
            <a:ext cx="382905" cy="3187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sz="1800" dirty="0">
                <a:latin typeface="Comic Sans MS"/>
                <a:cs typeface="Comic Sans MS"/>
              </a:rPr>
              <a:t>128</a:t>
            </a:r>
            <a:endParaRPr sz="1800">
              <a:latin typeface="Comic Sans MS"/>
              <a:cs typeface="Comic Sans MS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5457952" y="5482971"/>
          <a:ext cx="2438400" cy="398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  <a:gridCol w="609600"/>
              </a:tblGrid>
              <a:tr h="398145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128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119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40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12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20" name="object 20"/>
          <p:cNvSpPr/>
          <p:nvPr/>
        </p:nvSpPr>
        <p:spPr>
          <a:xfrm>
            <a:off x="3076587" y="4499102"/>
            <a:ext cx="1321435" cy="657225"/>
          </a:xfrm>
          <a:custGeom>
            <a:avLst/>
            <a:gdLst/>
            <a:ahLst/>
            <a:cxnLst/>
            <a:rect l="l" t="t" r="r" b="b"/>
            <a:pathLst>
              <a:path w="1321435" h="657225">
                <a:moveTo>
                  <a:pt x="0" y="0"/>
                </a:moveTo>
                <a:lnTo>
                  <a:pt x="0" y="656844"/>
                </a:lnTo>
                <a:lnTo>
                  <a:pt x="1321308" y="656844"/>
                </a:lnTo>
                <a:lnTo>
                  <a:pt x="1321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076587" y="4498340"/>
            <a:ext cx="1320800" cy="657860"/>
          </a:xfrm>
          <a:custGeom>
            <a:avLst/>
            <a:gdLst/>
            <a:ahLst/>
            <a:cxnLst/>
            <a:rect l="l" t="t" r="r" b="b"/>
            <a:pathLst>
              <a:path w="1320800" h="657860">
                <a:moveTo>
                  <a:pt x="0" y="0"/>
                </a:moveTo>
                <a:lnTo>
                  <a:pt x="0" y="657606"/>
                </a:lnTo>
                <a:lnTo>
                  <a:pt x="1320546" y="657606"/>
                </a:lnTo>
                <a:lnTo>
                  <a:pt x="1320546" y="0"/>
                </a:lnTo>
                <a:lnTo>
                  <a:pt x="0" y="0"/>
                </a:lnTo>
                <a:close/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084525" y="4676521"/>
            <a:ext cx="1002030" cy="471805"/>
          </a:xfrm>
          <a:prstGeom prst="rect">
            <a:avLst/>
          </a:prstGeom>
          <a:solidFill>
            <a:srgbClr val="CC9900">
              <a:alpha val="69999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1100"/>
              </a:lnSpc>
            </a:pPr>
            <a:r>
              <a:rPr sz="1800" spc="-5" dirty="0">
                <a:latin typeface="Comic Sans MS"/>
                <a:cs typeface="Comic Sans MS"/>
              </a:rPr>
              <a:t>Big-Endi</a:t>
            </a:r>
            <a:endParaRPr sz="1800">
              <a:latin typeface="Comic Sans MS"/>
              <a:cs typeface="Comic Sans MS"/>
            </a:endParaRPr>
          </a:p>
          <a:p>
            <a:pPr marL="91440">
              <a:lnSpc>
                <a:spcPct val="100000"/>
              </a:lnSpc>
            </a:pPr>
            <a:r>
              <a:rPr sz="1800" spc="-5" dirty="0">
                <a:latin typeface="Comic Sans MS"/>
                <a:cs typeface="Comic Sans MS"/>
              </a:rPr>
              <a:t>machine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629543" y="4503673"/>
            <a:ext cx="1692910" cy="657225"/>
          </a:xfrm>
          <a:custGeom>
            <a:avLst/>
            <a:gdLst/>
            <a:ahLst/>
            <a:cxnLst/>
            <a:rect l="l" t="t" r="r" b="b"/>
            <a:pathLst>
              <a:path w="1692910" h="657225">
                <a:moveTo>
                  <a:pt x="0" y="0"/>
                </a:moveTo>
                <a:lnTo>
                  <a:pt x="0" y="656844"/>
                </a:lnTo>
                <a:lnTo>
                  <a:pt x="1692401" y="656844"/>
                </a:lnTo>
                <a:lnTo>
                  <a:pt x="16924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629543" y="4503673"/>
            <a:ext cx="1691639" cy="657225"/>
          </a:xfrm>
          <a:custGeom>
            <a:avLst/>
            <a:gdLst/>
            <a:ahLst/>
            <a:cxnLst/>
            <a:rect l="l" t="t" r="r" b="b"/>
            <a:pathLst>
              <a:path w="1691639" h="657225">
                <a:moveTo>
                  <a:pt x="0" y="0"/>
                </a:moveTo>
                <a:lnTo>
                  <a:pt x="0" y="656844"/>
                </a:lnTo>
                <a:lnTo>
                  <a:pt x="1691639" y="656844"/>
                </a:lnTo>
                <a:lnTo>
                  <a:pt x="1691639" y="0"/>
                </a:lnTo>
                <a:lnTo>
                  <a:pt x="0" y="0"/>
                </a:lnTo>
                <a:close/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261114" y="4600321"/>
            <a:ext cx="1052195" cy="552450"/>
          </a:xfrm>
          <a:prstGeom prst="rect">
            <a:avLst/>
          </a:prstGeom>
          <a:solidFill>
            <a:srgbClr val="CC9900">
              <a:alpha val="69999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35"/>
              </a:lnSpc>
            </a:pPr>
            <a:r>
              <a:rPr sz="1800" spc="-5" dirty="0">
                <a:latin typeface="Comic Sans MS"/>
                <a:cs typeface="Comic Sans MS"/>
              </a:rPr>
              <a:t>e-Endian</a:t>
            </a:r>
            <a:endParaRPr sz="1800">
              <a:latin typeface="Comic Sans MS"/>
              <a:cs typeface="Comic Sans MS"/>
            </a:endParaRPr>
          </a:p>
          <a:p>
            <a:pPr marL="65405">
              <a:lnSpc>
                <a:spcPct val="100000"/>
              </a:lnSpc>
            </a:pPr>
            <a:r>
              <a:rPr sz="1800" spc="-5" dirty="0">
                <a:latin typeface="Comic Sans MS"/>
                <a:cs typeface="Comic Sans MS"/>
              </a:rPr>
              <a:t>ine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47776" y="4533645"/>
            <a:ext cx="12922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5330" marR="5080" indent="-723265">
              <a:lnSpc>
                <a:spcPct val="100000"/>
              </a:lnSpc>
              <a:spcBef>
                <a:spcPts val="100"/>
              </a:spcBef>
              <a:tabLst>
                <a:tab pos="735330" algn="l"/>
              </a:tabLst>
            </a:pPr>
            <a:r>
              <a:rPr sz="2700" spc="-7" baseline="1543" dirty="0">
                <a:latin typeface="Comic Sans MS"/>
                <a:cs typeface="Comic Sans MS"/>
              </a:rPr>
              <a:t>an	</a:t>
            </a:r>
            <a:r>
              <a:rPr sz="1800" spc="-5" dirty="0">
                <a:latin typeface="Comic Sans MS"/>
                <a:cs typeface="Comic Sans MS"/>
              </a:rPr>
              <a:t>Littl  mach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949839" y="5679440"/>
            <a:ext cx="1524000" cy="95250"/>
          </a:xfrm>
          <a:custGeom>
            <a:avLst/>
            <a:gdLst/>
            <a:ahLst/>
            <a:cxnLst/>
            <a:rect l="l" t="t" r="r" b="b"/>
            <a:pathLst>
              <a:path w="1524000" h="95250">
                <a:moveTo>
                  <a:pt x="1444752" y="64008"/>
                </a:moveTo>
                <a:lnTo>
                  <a:pt x="1444752" y="32004"/>
                </a:lnTo>
                <a:lnTo>
                  <a:pt x="0" y="32004"/>
                </a:lnTo>
                <a:lnTo>
                  <a:pt x="0" y="64008"/>
                </a:lnTo>
                <a:lnTo>
                  <a:pt x="1444752" y="64008"/>
                </a:lnTo>
                <a:close/>
              </a:path>
              <a:path w="1524000" h="95250">
                <a:moveTo>
                  <a:pt x="1523987" y="48006"/>
                </a:moveTo>
                <a:lnTo>
                  <a:pt x="1428750" y="0"/>
                </a:lnTo>
                <a:lnTo>
                  <a:pt x="1428750" y="32004"/>
                </a:lnTo>
                <a:lnTo>
                  <a:pt x="1444752" y="32004"/>
                </a:lnTo>
                <a:lnTo>
                  <a:pt x="1444752" y="87311"/>
                </a:lnTo>
                <a:lnTo>
                  <a:pt x="1523987" y="48006"/>
                </a:lnTo>
                <a:close/>
              </a:path>
              <a:path w="1524000" h="95250">
                <a:moveTo>
                  <a:pt x="1444752" y="87311"/>
                </a:moveTo>
                <a:lnTo>
                  <a:pt x="1444752" y="64008"/>
                </a:lnTo>
                <a:lnTo>
                  <a:pt x="1428750" y="64008"/>
                </a:lnTo>
                <a:lnTo>
                  <a:pt x="1428750" y="95250"/>
                </a:lnTo>
                <a:lnTo>
                  <a:pt x="1444752" y="87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44461" y="5178044"/>
            <a:ext cx="737870" cy="812165"/>
          </a:xfrm>
          <a:custGeom>
            <a:avLst/>
            <a:gdLst/>
            <a:ahLst/>
            <a:cxnLst/>
            <a:rect l="l" t="t" r="r" b="b"/>
            <a:pathLst>
              <a:path w="737869" h="812164">
                <a:moveTo>
                  <a:pt x="316991" y="32003"/>
                </a:moveTo>
                <a:lnTo>
                  <a:pt x="244602" y="0"/>
                </a:lnTo>
                <a:lnTo>
                  <a:pt x="225216" y="35741"/>
                </a:lnTo>
                <a:lnTo>
                  <a:pt x="201998" y="74742"/>
                </a:lnTo>
                <a:lnTo>
                  <a:pt x="120302" y="205576"/>
                </a:lnTo>
                <a:lnTo>
                  <a:pt x="92686" y="251929"/>
                </a:lnTo>
                <a:lnTo>
                  <a:pt x="66755" y="298609"/>
                </a:lnTo>
                <a:lnTo>
                  <a:pt x="43544" y="345152"/>
                </a:lnTo>
                <a:lnTo>
                  <a:pt x="24167" y="390950"/>
                </a:lnTo>
                <a:lnTo>
                  <a:pt x="9720" y="435432"/>
                </a:lnTo>
                <a:lnTo>
                  <a:pt x="1299" y="478026"/>
                </a:lnTo>
                <a:lnTo>
                  <a:pt x="0" y="518159"/>
                </a:lnTo>
                <a:lnTo>
                  <a:pt x="16288" y="566175"/>
                </a:lnTo>
                <a:lnTo>
                  <a:pt x="49282" y="601579"/>
                </a:lnTo>
                <a:lnTo>
                  <a:pt x="79248" y="618795"/>
                </a:lnTo>
                <a:lnTo>
                  <a:pt x="79248" y="511301"/>
                </a:lnTo>
                <a:lnTo>
                  <a:pt x="82501" y="473534"/>
                </a:lnTo>
                <a:lnTo>
                  <a:pt x="93724" y="431866"/>
                </a:lnTo>
                <a:lnTo>
                  <a:pt x="111484" y="387211"/>
                </a:lnTo>
                <a:lnTo>
                  <a:pt x="134349" y="340481"/>
                </a:lnTo>
                <a:lnTo>
                  <a:pt x="160886" y="292590"/>
                </a:lnTo>
                <a:lnTo>
                  <a:pt x="189662" y="244452"/>
                </a:lnTo>
                <a:lnTo>
                  <a:pt x="275100" y="107681"/>
                </a:lnTo>
                <a:lnTo>
                  <a:pt x="298507" y="67683"/>
                </a:lnTo>
                <a:lnTo>
                  <a:pt x="316991" y="32003"/>
                </a:lnTo>
                <a:close/>
              </a:path>
              <a:path w="737869" h="812164">
                <a:moveTo>
                  <a:pt x="580142" y="629278"/>
                </a:moveTo>
                <a:lnTo>
                  <a:pt x="511051" y="591354"/>
                </a:lnTo>
                <a:lnTo>
                  <a:pt x="503257" y="591505"/>
                </a:lnTo>
                <a:lnTo>
                  <a:pt x="452214" y="591746"/>
                </a:lnTo>
                <a:lnTo>
                  <a:pt x="386488" y="590887"/>
                </a:lnTo>
                <a:lnTo>
                  <a:pt x="321526" y="588219"/>
                </a:lnTo>
                <a:lnTo>
                  <a:pt x="261681" y="583457"/>
                </a:lnTo>
                <a:lnTo>
                  <a:pt x="206326" y="576089"/>
                </a:lnTo>
                <a:lnTo>
                  <a:pt x="157931" y="565652"/>
                </a:lnTo>
                <a:lnTo>
                  <a:pt x="118971" y="551684"/>
                </a:lnTo>
                <a:lnTo>
                  <a:pt x="79248" y="511301"/>
                </a:lnTo>
                <a:lnTo>
                  <a:pt x="79248" y="618795"/>
                </a:lnTo>
                <a:lnTo>
                  <a:pt x="140208" y="643127"/>
                </a:lnTo>
                <a:lnTo>
                  <a:pt x="189259" y="653665"/>
                </a:lnTo>
                <a:lnTo>
                  <a:pt x="240022" y="661274"/>
                </a:lnTo>
                <a:lnTo>
                  <a:pt x="292098" y="666378"/>
                </a:lnTo>
                <a:lnTo>
                  <a:pt x="345087" y="669401"/>
                </a:lnTo>
                <a:lnTo>
                  <a:pt x="398526" y="670763"/>
                </a:lnTo>
                <a:lnTo>
                  <a:pt x="452214" y="670892"/>
                </a:lnTo>
                <a:lnTo>
                  <a:pt x="505553" y="670208"/>
                </a:lnTo>
                <a:lnTo>
                  <a:pt x="514294" y="670031"/>
                </a:lnTo>
                <a:lnTo>
                  <a:pt x="580142" y="629278"/>
                </a:lnTo>
                <a:close/>
              </a:path>
              <a:path w="737869" h="812164">
                <a:moveTo>
                  <a:pt x="737616" y="625601"/>
                </a:moveTo>
                <a:lnTo>
                  <a:pt x="436626" y="459485"/>
                </a:lnTo>
                <a:lnTo>
                  <a:pt x="421636" y="455128"/>
                </a:lnTo>
                <a:lnTo>
                  <a:pt x="406431" y="456628"/>
                </a:lnTo>
                <a:lnTo>
                  <a:pt x="392799" y="463557"/>
                </a:lnTo>
                <a:lnTo>
                  <a:pt x="382524" y="475488"/>
                </a:lnTo>
                <a:lnTo>
                  <a:pt x="377844" y="490477"/>
                </a:lnTo>
                <a:lnTo>
                  <a:pt x="379380" y="505682"/>
                </a:lnTo>
                <a:lnTo>
                  <a:pt x="511051" y="591354"/>
                </a:lnTo>
                <a:lnTo>
                  <a:pt x="556323" y="590477"/>
                </a:lnTo>
                <a:lnTo>
                  <a:pt x="601512" y="589158"/>
                </a:lnTo>
                <a:lnTo>
                  <a:pt x="636352" y="588012"/>
                </a:lnTo>
                <a:lnTo>
                  <a:pt x="658368" y="587501"/>
                </a:lnTo>
                <a:lnTo>
                  <a:pt x="659891" y="667511"/>
                </a:lnTo>
                <a:lnTo>
                  <a:pt x="659891" y="673572"/>
                </a:lnTo>
                <a:lnTo>
                  <a:pt x="737616" y="625601"/>
                </a:lnTo>
                <a:close/>
              </a:path>
              <a:path w="737869" h="812164">
                <a:moveTo>
                  <a:pt x="659891" y="673572"/>
                </a:moveTo>
                <a:lnTo>
                  <a:pt x="659891" y="667511"/>
                </a:lnTo>
                <a:lnTo>
                  <a:pt x="609791" y="668094"/>
                </a:lnTo>
                <a:lnTo>
                  <a:pt x="514294" y="670031"/>
                </a:lnTo>
                <a:lnTo>
                  <a:pt x="403859" y="738377"/>
                </a:lnTo>
                <a:lnTo>
                  <a:pt x="385429" y="778240"/>
                </a:lnTo>
                <a:lnTo>
                  <a:pt x="390906" y="793241"/>
                </a:lnTo>
                <a:lnTo>
                  <a:pt x="401609" y="804588"/>
                </a:lnTo>
                <a:lnTo>
                  <a:pt x="415385" y="810863"/>
                </a:lnTo>
                <a:lnTo>
                  <a:pt x="430446" y="811565"/>
                </a:lnTo>
                <a:lnTo>
                  <a:pt x="445008" y="806195"/>
                </a:lnTo>
                <a:lnTo>
                  <a:pt x="659891" y="673572"/>
                </a:lnTo>
                <a:close/>
              </a:path>
              <a:path w="737869" h="812164">
                <a:moveTo>
                  <a:pt x="659891" y="667511"/>
                </a:moveTo>
                <a:lnTo>
                  <a:pt x="658368" y="587501"/>
                </a:lnTo>
                <a:lnTo>
                  <a:pt x="636352" y="588012"/>
                </a:lnTo>
                <a:lnTo>
                  <a:pt x="601512" y="589158"/>
                </a:lnTo>
                <a:lnTo>
                  <a:pt x="556323" y="590477"/>
                </a:lnTo>
                <a:lnTo>
                  <a:pt x="511051" y="591354"/>
                </a:lnTo>
                <a:lnTo>
                  <a:pt x="580142" y="629278"/>
                </a:lnTo>
                <a:lnTo>
                  <a:pt x="637794" y="593597"/>
                </a:lnTo>
                <a:lnTo>
                  <a:pt x="640079" y="662177"/>
                </a:lnTo>
                <a:lnTo>
                  <a:pt x="640079" y="667742"/>
                </a:lnTo>
                <a:lnTo>
                  <a:pt x="659891" y="667511"/>
                </a:lnTo>
                <a:close/>
              </a:path>
              <a:path w="737869" h="812164">
                <a:moveTo>
                  <a:pt x="640079" y="667742"/>
                </a:moveTo>
                <a:lnTo>
                  <a:pt x="640079" y="662177"/>
                </a:lnTo>
                <a:lnTo>
                  <a:pt x="580142" y="629278"/>
                </a:lnTo>
                <a:lnTo>
                  <a:pt x="514294" y="670031"/>
                </a:lnTo>
                <a:lnTo>
                  <a:pt x="609791" y="668094"/>
                </a:lnTo>
                <a:lnTo>
                  <a:pt x="640079" y="667742"/>
                </a:lnTo>
                <a:close/>
              </a:path>
              <a:path w="737869" h="812164">
                <a:moveTo>
                  <a:pt x="640079" y="662177"/>
                </a:moveTo>
                <a:lnTo>
                  <a:pt x="637794" y="593597"/>
                </a:lnTo>
                <a:lnTo>
                  <a:pt x="580142" y="629278"/>
                </a:lnTo>
                <a:lnTo>
                  <a:pt x="640079" y="662177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 rot="18060000">
            <a:off x="191147" y="5299428"/>
            <a:ext cx="607466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00"/>
              </a:lnSpc>
            </a:pPr>
            <a:r>
              <a:rPr sz="2000" spc="-15" dirty="0">
                <a:solidFill>
                  <a:srgbClr val="FF3300"/>
                </a:solidFill>
                <a:latin typeface="Arial"/>
                <a:cs typeface="Arial"/>
              </a:rPr>
              <a:t>hton</a:t>
            </a:r>
            <a:r>
              <a:rPr sz="2000" spc="-5" dirty="0">
                <a:solidFill>
                  <a:srgbClr val="FF3300"/>
                </a:solidFill>
                <a:latin typeface="Arial"/>
                <a:cs typeface="Arial"/>
              </a:rPr>
              <a:t>l</a:t>
            </a:r>
            <a:endParaRPr sz="20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75472" y="5042408"/>
            <a:ext cx="582930" cy="789305"/>
          </a:xfrm>
          <a:custGeom>
            <a:avLst/>
            <a:gdLst/>
            <a:ahLst/>
            <a:cxnLst/>
            <a:rect l="l" t="t" r="r" b="b"/>
            <a:pathLst>
              <a:path w="582929" h="789304">
                <a:moveTo>
                  <a:pt x="439171" y="766491"/>
                </a:moveTo>
                <a:lnTo>
                  <a:pt x="439171" y="615042"/>
                </a:lnTo>
                <a:lnTo>
                  <a:pt x="435876" y="655319"/>
                </a:lnTo>
                <a:lnTo>
                  <a:pt x="420082" y="684696"/>
                </a:lnTo>
                <a:lnTo>
                  <a:pt x="389178" y="701998"/>
                </a:lnTo>
                <a:lnTo>
                  <a:pt x="346707" y="709221"/>
                </a:lnTo>
                <a:lnTo>
                  <a:pt x="296206" y="708364"/>
                </a:lnTo>
                <a:lnTo>
                  <a:pt x="241219" y="701425"/>
                </a:lnTo>
                <a:lnTo>
                  <a:pt x="185283" y="690401"/>
                </a:lnTo>
                <a:lnTo>
                  <a:pt x="131940" y="677291"/>
                </a:lnTo>
                <a:lnTo>
                  <a:pt x="84731" y="664090"/>
                </a:lnTo>
                <a:lnTo>
                  <a:pt x="47195" y="652799"/>
                </a:lnTo>
                <a:lnTo>
                  <a:pt x="22872" y="645413"/>
                </a:lnTo>
                <a:lnTo>
                  <a:pt x="0" y="721613"/>
                </a:lnTo>
                <a:lnTo>
                  <a:pt x="29837" y="730426"/>
                </a:lnTo>
                <a:lnTo>
                  <a:pt x="64992" y="740871"/>
                </a:lnTo>
                <a:lnTo>
                  <a:pt x="104397" y="752077"/>
                </a:lnTo>
                <a:lnTo>
                  <a:pt x="146983" y="763171"/>
                </a:lnTo>
                <a:lnTo>
                  <a:pt x="191683" y="773280"/>
                </a:lnTo>
                <a:lnTo>
                  <a:pt x="237428" y="781531"/>
                </a:lnTo>
                <a:lnTo>
                  <a:pt x="283149" y="787050"/>
                </a:lnTo>
                <a:lnTo>
                  <a:pt x="327779" y="788966"/>
                </a:lnTo>
                <a:lnTo>
                  <a:pt x="370250" y="786405"/>
                </a:lnTo>
                <a:lnTo>
                  <a:pt x="409493" y="778494"/>
                </a:lnTo>
                <a:lnTo>
                  <a:pt x="439171" y="766491"/>
                </a:lnTo>
                <a:close/>
              </a:path>
              <a:path w="582929" h="789304">
                <a:moveTo>
                  <a:pt x="582461" y="273176"/>
                </a:moveTo>
                <a:lnTo>
                  <a:pt x="579642" y="258341"/>
                </a:lnTo>
                <a:lnTo>
                  <a:pt x="570750" y="245363"/>
                </a:lnTo>
                <a:lnTo>
                  <a:pt x="330720" y="0"/>
                </a:lnTo>
                <a:lnTo>
                  <a:pt x="235470" y="329945"/>
                </a:lnTo>
                <a:lnTo>
                  <a:pt x="234170" y="345828"/>
                </a:lnTo>
                <a:lnTo>
                  <a:pt x="238798" y="360425"/>
                </a:lnTo>
                <a:lnTo>
                  <a:pt x="248425" y="372165"/>
                </a:lnTo>
                <a:lnTo>
                  <a:pt x="262127" y="379475"/>
                </a:lnTo>
                <a:lnTo>
                  <a:pt x="278018" y="380761"/>
                </a:lnTo>
                <a:lnTo>
                  <a:pt x="292619" y="376046"/>
                </a:lnTo>
                <a:lnTo>
                  <a:pt x="304360" y="366188"/>
                </a:lnTo>
                <a:lnTo>
                  <a:pt x="311670" y="352043"/>
                </a:lnTo>
                <a:lnTo>
                  <a:pt x="311670" y="86867"/>
                </a:lnTo>
                <a:lnTo>
                  <a:pt x="387870" y="65531"/>
                </a:lnTo>
                <a:lnTo>
                  <a:pt x="432722" y="217420"/>
                </a:lnTo>
                <a:lnTo>
                  <a:pt x="514350" y="300989"/>
                </a:lnTo>
                <a:lnTo>
                  <a:pt x="527347" y="309562"/>
                </a:lnTo>
                <a:lnTo>
                  <a:pt x="542269" y="312420"/>
                </a:lnTo>
                <a:lnTo>
                  <a:pt x="557332" y="309562"/>
                </a:lnTo>
                <a:lnTo>
                  <a:pt x="570750" y="300989"/>
                </a:lnTo>
                <a:lnTo>
                  <a:pt x="579424" y="288012"/>
                </a:lnTo>
                <a:lnTo>
                  <a:pt x="582461" y="273176"/>
                </a:lnTo>
                <a:close/>
              </a:path>
              <a:path w="582929" h="789304">
                <a:moveTo>
                  <a:pt x="432722" y="217420"/>
                </a:moveTo>
                <a:lnTo>
                  <a:pt x="387870" y="65531"/>
                </a:lnTo>
                <a:lnTo>
                  <a:pt x="311670" y="86867"/>
                </a:lnTo>
                <a:lnTo>
                  <a:pt x="321576" y="121076"/>
                </a:lnTo>
                <a:lnTo>
                  <a:pt x="321576" y="103631"/>
                </a:lnTo>
                <a:lnTo>
                  <a:pt x="387870" y="86867"/>
                </a:lnTo>
                <a:lnTo>
                  <a:pt x="387870" y="171502"/>
                </a:lnTo>
                <a:lnTo>
                  <a:pt x="432722" y="217420"/>
                </a:lnTo>
                <a:close/>
              </a:path>
              <a:path w="582929" h="789304">
                <a:moveTo>
                  <a:pt x="350181" y="218025"/>
                </a:moveTo>
                <a:lnTo>
                  <a:pt x="311670" y="86867"/>
                </a:lnTo>
                <a:lnTo>
                  <a:pt x="311670" y="352043"/>
                </a:lnTo>
                <a:lnTo>
                  <a:pt x="350181" y="218025"/>
                </a:lnTo>
                <a:close/>
              </a:path>
              <a:path w="582929" h="789304">
                <a:moveTo>
                  <a:pt x="387870" y="86867"/>
                </a:moveTo>
                <a:lnTo>
                  <a:pt x="321576" y="103631"/>
                </a:lnTo>
                <a:lnTo>
                  <a:pt x="369078" y="152263"/>
                </a:lnTo>
                <a:lnTo>
                  <a:pt x="387870" y="86867"/>
                </a:lnTo>
                <a:close/>
              </a:path>
              <a:path w="582929" h="789304">
                <a:moveTo>
                  <a:pt x="369078" y="152263"/>
                </a:moveTo>
                <a:lnTo>
                  <a:pt x="321576" y="103631"/>
                </a:lnTo>
                <a:lnTo>
                  <a:pt x="321576" y="121076"/>
                </a:lnTo>
                <a:lnTo>
                  <a:pt x="350181" y="218025"/>
                </a:lnTo>
                <a:lnTo>
                  <a:pt x="369078" y="152263"/>
                </a:lnTo>
                <a:close/>
              </a:path>
              <a:path w="582929" h="789304">
                <a:moveTo>
                  <a:pt x="518384" y="631805"/>
                </a:moveTo>
                <a:lnTo>
                  <a:pt x="517239" y="584285"/>
                </a:lnTo>
                <a:lnTo>
                  <a:pt x="511488" y="535796"/>
                </a:lnTo>
                <a:lnTo>
                  <a:pt x="503226" y="488804"/>
                </a:lnTo>
                <a:lnTo>
                  <a:pt x="494550" y="445769"/>
                </a:lnTo>
                <a:lnTo>
                  <a:pt x="482739" y="397688"/>
                </a:lnTo>
                <a:lnTo>
                  <a:pt x="470234" y="349890"/>
                </a:lnTo>
                <a:lnTo>
                  <a:pt x="457164" y="302313"/>
                </a:lnTo>
                <a:lnTo>
                  <a:pt x="432722" y="217420"/>
                </a:lnTo>
                <a:lnTo>
                  <a:pt x="369078" y="152263"/>
                </a:lnTo>
                <a:lnTo>
                  <a:pt x="350181" y="218025"/>
                </a:lnTo>
                <a:lnTo>
                  <a:pt x="384312" y="335799"/>
                </a:lnTo>
                <a:lnTo>
                  <a:pt x="397849" y="385857"/>
                </a:lnTo>
                <a:lnTo>
                  <a:pt x="410535" y="436201"/>
                </a:lnTo>
                <a:lnTo>
                  <a:pt x="422148" y="486917"/>
                </a:lnTo>
                <a:lnTo>
                  <a:pt x="429454" y="526087"/>
                </a:lnTo>
                <a:lnTo>
                  <a:pt x="436079" y="570380"/>
                </a:lnTo>
                <a:lnTo>
                  <a:pt x="439171" y="615042"/>
                </a:lnTo>
                <a:lnTo>
                  <a:pt x="439171" y="766491"/>
                </a:lnTo>
                <a:lnTo>
                  <a:pt x="444441" y="764360"/>
                </a:lnTo>
                <a:lnTo>
                  <a:pt x="474024" y="743131"/>
                </a:lnTo>
                <a:lnTo>
                  <a:pt x="497175" y="713933"/>
                </a:lnTo>
                <a:lnTo>
                  <a:pt x="512825" y="675893"/>
                </a:lnTo>
                <a:lnTo>
                  <a:pt x="518384" y="631805"/>
                </a:lnTo>
                <a:close/>
              </a:path>
              <a:path w="582929" h="789304">
                <a:moveTo>
                  <a:pt x="387870" y="171502"/>
                </a:moveTo>
                <a:lnTo>
                  <a:pt x="387870" y="86867"/>
                </a:lnTo>
                <a:lnTo>
                  <a:pt x="369078" y="152263"/>
                </a:lnTo>
                <a:lnTo>
                  <a:pt x="387870" y="171502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8482037" y="5286502"/>
            <a:ext cx="309245" cy="57531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spc="-10" dirty="0">
                <a:solidFill>
                  <a:srgbClr val="FF3300"/>
                </a:solidFill>
                <a:latin typeface="Arial"/>
                <a:cs typeface="Arial"/>
              </a:rPr>
              <a:t>ntohl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276364" y="4720971"/>
          <a:ext cx="2438400" cy="398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609600"/>
                <a:gridCol w="609600"/>
                <a:gridCol w="609600"/>
              </a:tblGrid>
              <a:tr h="398145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128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119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40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" dirty="0">
                          <a:latin typeface="Comic Sans MS"/>
                          <a:cs typeface="Comic Sans MS"/>
                        </a:rPr>
                        <a:t>12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508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33" name="object 33"/>
          <p:cNvSpPr txBox="1"/>
          <p:nvPr/>
        </p:nvSpPr>
        <p:spPr>
          <a:xfrm>
            <a:off x="8293227" y="4660646"/>
            <a:ext cx="610235" cy="398780"/>
          </a:xfrm>
          <a:prstGeom prst="rect">
            <a:avLst/>
          </a:prstGeom>
          <a:solidFill>
            <a:srgbClr val="FFFF00"/>
          </a:solidFill>
          <a:ln w="31762">
            <a:solidFill>
              <a:srgbClr val="000000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400"/>
              </a:spcBef>
            </a:pPr>
            <a:r>
              <a:rPr sz="1800" spc="-5" dirty="0">
                <a:latin typeface="Comic Sans MS"/>
                <a:cs typeface="Comic Sans MS"/>
              </a:rPr>
              <a:t>128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683627" y="4660646"/>
            <a:ext cx="609600" cy="398780"/>
          </a:xfrm>
          <a:prstGeom prst="rect">
            <a:avLst/>
          </a:prstGeom>
          <a:solidFill>
            <a:srgbClr val="FFFF00"/>
          </a:solidFill>
          <a:ln w="31750">
            <a:solidFill>
              <a:srgbClr val="000000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131445">
              <a:lnSpc>
                <a:spcPct val="100000"/>
              </a:lnSpc>
              <a:spcBef>
                <a:spcPts val="400"/>
              </a:spcBef>
            </a:pPr>
            <a:r>
              <a:rPr sz="1800" spc="-5" dirty="0">
                <a:latin typeface="Comic Sans MS"/>
                <a:cs typeface="Comic Sans MS"/>
              </a:rPr>
              <a:t>119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074027" y="4660646"/>
            <a:ext cx="609600" cy="398780"/>
          </a:xfrm>
          <a:prstGeom prst="rect">
            <a:avLst/>
          </a:prstGeom>
          <a:solidFill>
            <a:srgbClr val="FFFF00"/>
          </a:solidFill>
          <a:ln w="31750">
            <a:solidFill>
              <a:srgbClr val="000000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400"/>
              </a:spcBef>
            </a:pPr>
            <a:r>
              <a:rPr sz="1800" spc="-5" dirty="0">
                <a:latin typeface="Comic Sans MS"/>
                <a:cs typeface="Comic Sans MS"/>
              </a:rPr>
              <a:t>40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464427" y="4660646"/>
            <a:ext cx="609600" cy="398780"/>
          </a:xfrm>
          <a:prstGeom prst="rect">
            <a:avLst/>
          </a:prstGeom>
          <a:solidFill>
            <a:srgbClr val="FFFF00"/>
          </a:solidFill>
          <a:ln w="31750">
            <a:solidFill>
              <a:srgbClr val="000000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400"/>
              </a:spcBef>
            </a:pPr>
            <a:r>
              <a:rPr sz="1800" spc="-5" dirty="0">
                <a:latin typeface="Comic Sans MS"/>
                <a:cs typeface="Comic Sans MS"/>
              </a:rPr>
              <a:t>12</a:t>
            </a:r>
            <a:endParaRPr sz="1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98741" y="1419097"/>
            <a:ext cx="8258175" cy="2184400"/>
          </a:xfrm>
          <a:custGeom>
            <a:avLst/>
            <a:gdLst/>
            <a:ahLst/>
            <a:cxnLst/>
            <a:rect l="l" t="t" r="r" b="b"/>
            <a:pathLst>
              <a:path w="8258175" h="2184400">
                <a:moveTo>
                  <a:pt x="0" y="0"/>
                </a:moveTo>
                <a:lnTo>
                  <a:pt x="0" y="2183892"/>
                </a:lnTo>
                <a:lnTo>
                  <a:pt x="8257794" y="2183892"/>
                </a:lnTo>
                <a:lnTo>
                  <a:pt x="8257794" y="0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81469" y="1089405"/>
            <a:ext cx="615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65" dirty="0">
                <a:solidFill>
                  <a:srgbClr val="9A6500"/>
                </a:solidFill>
                <a:latin typeface="Arial"/>
                <a:cs typeface="Arial"/>
              </a:rPr>
              <a:t>Client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7791" y="4083050"/>
            <a:ext cx="8258175" cy="2011045"/>
          </a:xfrm>
          <a:prstGeom prst="rect">
            <a:avLst/>
          </a:prstGeom>
          <a:ln w="22225">
            <a:solidFill>
              <a:srgbClr val="A50021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144780" marR="4170045">
              <a:lnSpc>
                <a:spcPct val="100000"/>
              </a:lnSpc>
              <a:spcBef>
                <a:spcPts val="160"/>
              </a:spcBef>
            </a:pPr>
            <a:r>
              <a:rPr sz="1400" b="1" spc="-10" dirty="0">
                <a:latin typeface="Courier New"/>
                <a:cs typeface="Courier New"/>
              </a:rPr>
              <a:t>unsigned short clientPort, rcvBuffer;  unsigned </a:t>
            </a:r>
            <a:r>
              <a:rPr sz="1400" b="1" spc="-5" dirty="0">
                <a:latin typeface="Courier New"/>
                <a:cs typeface="Courier New"/>
              </a:rPr>
              <a:t>int </a:t>
            </a:r>
            <a:r>
              <a:rPr sz="1400" b="1" spc="-10" dirty="0">
                <a:latin typeface="Courier New"/>
                <a:cs typeface="Courier New"/>
              </a:rPr>
              <a:t>recvMsgSize </a:t>
            </a:r>
            <a:r>
              <a:rPr sz="1400" b="1" spc="-5" dirty="0"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imes New Roman"/>
              <a:cs typeface="Times New Roman"/>
            </a:endParaRPr>
          </a:p>
          <a:p>
            <a:pPr marL="144780">
              <a:lnSpc>
                <a:spcPct val="100000"/>
              </a:lnSpc>
            </a:pPr>
            <a:r>
              <a:rPr sz="1400" b="1" spc="-5" dirty="0">
                <a:latin typeface="Courier New"/>
                <a:cs typeface="Courier New"/>
              </a:rPr>
              <a:t>if ( </a:t>
            </a:r>
            <a:r>
              <a:rPr sz="1400" b="1" spc="-10" dirty="0">
                <a:latin typeface="Courier New"/>
                <a:cs typeface="Courier New"/>
              </a:rPr>
              <a:t>recvfrom(</a:t>
            </a:r>
            <a:r>
              <a:rPr sz="1400" b="1" spc="-10" dirty="0">
                <a:solidFill>
                  <a:srgbClr val="A50021"/>
                </a:solidFill>
                <a:latin typeface="Courier New"/>
                <a:cs typeface="Courier New"/>
              </a:rPr>
              <a:t>servSock</a:t>
            </a:r>
            <a:r>
              <a:rPr sz="1400" b="1" spc="-10" dirty="0">
                <a:latin typeface="Courier New"/>
                <a:cs typeface="Courier New"/>
              </a:rPr>
              <a:t>, &amp;rcvBuffer, sizeof(unsigned int),</a:t>
            </a:r>
            <a:r>
              <a:rPr sz="1400" b="1" spc="40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0),</a:t>
            </a:r>
            <a:endParaRPr sz="1400">
              <a:latin typeface="Courier New"/>
              <a:cs typeface="Courier New"/>
            </a:endParaRPr>
          </a:p>
          <a:p>
            <a:pPr marL="676275" marR="660400">
              <a:lnSpc>
                <a:spcPct val="100000"/>
              </a:lnSpc>
            </a:pPr>
            <a:r>
              <a:rPr sz="1400" b="1" spc="-10" dirty="0">
                <a:latin typeface="Courier New"/>
                <a:cs typeface="Courier New"/>
              </a:rPr>
              <a:t>(struct sockaddr </a:t>
            </a:r>
            <a:r>
              <a:rPr sz="1400" b="1" spc="-5" dirty="0">
                <a:latin typeface="Courier New"/>
                <a:cs typeface="Courier New"/>
              </a:rPr>
              <a:t>*) </a:t>
            </a:r>
            <a:r>
              <a:rPr sz="1400" b="1" spc="-10" dirty="0">
                <a:latin typeface="Courier New"/>
                <a:cs typeface="Courier New"/>
              </a:rPr>
              <a:t>&amp;</a:t>
            </a:r>
            <a:r>
              <a:rPr sz="1400" b="1" spc="-10" dirty="0">
                <a:solidFill>
                  <a:srgbClr val="CA6800"/>
                </a:solidFill>
                <a:latin typeface="Courier New"/>
                <a:cs typeface="Courier New"/>
              </a:rPr>
              <a:t>echoClientAddr</a:t>
            </a:r>
            <a:r>
              <a:rPr sz="1400" b="1" spc="-10" dirty="0">
                <a:latin typeface="Courier New"/>
                <a:cs typeface="Courier New"/>
              </a:rPr>
              <a:t>, sizeof(</a:t>
            </a:r>
            <a:r>
              <a:rPr sz="1400" b="1" spc="-10" dirty="0">
                <a:solidFill>
                  <a:srgbClr val="CA6800"/>
                </a:solidFill>
                <a:latin typeface="Courier New"/>
                <a:cs typeface="Courier New"/>
              </a:rPr>
              <a:t>echoClientAddr</a:t>
            </a:r>
            <a:r>
              <a:rPr sz="1400" b="1" spc="-10" dirty="0">
                <a:latin typeface="Courier New"/>
                <a:cs typeface="Courier New"/>
              </a:rPr>
              <a:t>)) </a:t>
            </a:r>
            <a:r>
              <a:rPr sz="1400" b="1" spc="-5" dirty="0">
                <a:latin typeface="Courier New"/>
                <a:cs typeface="Courier New"/>
              </a:rPr>
              <a:t>&lt; </a:t>
            </a:r>
            <a:r>
              <a:rPr sz="1400" b="1" spc="-10" dirty="0">
                <a:latin typeface="Courier New"/>
                <a:cs typeface="Courier New"/>
              </a:rPr>
              <a:t>0)  DieWithError(“recvfrom() failed");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imes New Roman"/>
              <a:cs typeface="Times New Roman"/>
            </a:endParaRPr>
          </a:p>
          <a:p>
            <a:pPr marL="144145">
              <a:lnSpc>
                <a:spcPts val="1675"/>
              </a:lnSpc>
            </a:pPr>
            <a:r>
              <a:rPr sz="1400" b="1" spc="-10" dirty="0">
                <a:latin typeface="Courier New"/>
                <a:cs typeface="Courier New"/>
              </a:rPr>
              <a:t>clientPort </a:t>
            </a:r>
            <a:r>
              <a:rPr sz="1400" b="1" spc="-5" dirty="0">
                <a:latin typeface="Courier New"/>
                <a:cs typeface="Courier New"/>
              </a:rPr>
              <a:t>= </a:t>
            </a:r>
            <a:r>
              <a:rPr sz="1400" b="1" spc="-10" dirty="0">
                <a:solidFill>
                  <a:srgbClr val="3B822F"/>
                </a:solidFill>
                <a:latin typeface="Courier New"/>
                <a:cs typeface="Courier New"/>
              </a:rPr>
              <a:t>ntohs</a:t>
            </a:r>
            <a:r>
              <a:rPr sz="1400" b="1" spc="-10" dirty="0">
                <a:latin typeface="Courier New"/>
                <a:cs typeface="Courier New"/>
              </a:rPr>
              <a:t>(rcvBuffer);</a:t>
            </a:r>
            <a:endParaRPr sz="1400">
              <a:latin typeface="Courier New"/>
              <a:cs typeface="Courier New"/>
            </a:endParaRPr>
          </a:p>
          <a:p>
            <a:pPr marL="144145">
              <a:lnSpc>
                <a:spcPts val="1675"/>
              </a:lnSpc>
            </a:pPr>
            <a:r>
              <a:rPr sz="1400" b="1" spc="-10" dirty="0">
                <a:latin typeface="Courier New"/>
                <a:cs typeface="Courier New"/>
              </a:rPr>
              <a:t>printf (“Client’s port: %d”,</a:t>
            </a:r>
            <a:r>
              <a:rPr sz="1400" b="1" spc="10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clientPort);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0519" y="1426972"/>
            <a:ext cx="8133715" cy="262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95"/>
              </a:spcBef>
              <a:tabLst>
                <a:tab pos="4183379" algn="l"/>
              </a:tabLst>
            </a:pPr>
            <a:r>
              <a:rPr sz="1400" b="1" spc="-10" dirty="0">
                <a:latin typeface="Courier New"/>
                <a:cs typeface="Courier New"/>
              </a:rPr>
              <a:t>unsigned short</a:t>
            </a:r>
            <a:r>
              <a:rPr sz="1400" b="1" spc="6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clientPort,</a:t>
            </a:r>
            <a:r>
              <a:rPr sz="1400" b="1" spc="30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message;	unsigned </a:t>
            </a:r>
            <a:r>
              <a:rPr sz="1400" b="1" spc="-5" dirty="0">
                <a:latin typeface="Courier New"/>
                <a:cs typeface="Courier New"/>
              </a:rPr>
              <a:t>int</a:t>
            </a:r>
            <a:r>
              <a:rPr sz="1400" b="1" spc="-1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messageLenth;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 marL="142875">
              <a:lnSpc>
                <a:spcPct val="100000"/>
              </a:lnSpc>
            </a:pPr>
            <a:r>
              <a:rPr sz="1400" b="1" spc="-10" dirty="0">
                <a:latin typeface="Courier New"/>
                <a:cs typeface="Courier New"/>
              </a:rPr>
              <a:t>servPort </a:t>
            </a:r>
            <a:r>
              <a:rPr sz="1400" b="1" spc="-5" dirty="0">
                <a:latin typeface="Courier New"/>
                <a:cs typeface="Courier New"/>
              </a:rPr>
              <a:t>= </a:t>
            </a:r>
            <a:r>
              <a:rPr sz="1400" b="1" spc="-10" dirty="0">
                <a:latin typeface="Courier New"/>
                <a:cs typeface="Courier New"/>
              </a:rPr>
              <a:t>1111;</a:t>
            </a:r>
            <a:endParaRPr sz="1400">
              <a:latin typeface="Courier New"/>
              <a:cs typeface="Courier New"/>
            </a:endParaRPr>
          </a:p>
          <a:p>
            <a:pPr marL="142875" marR="4579620">
              <a:lnSpc>
                <a:spcPct val="100000"/>
              </a:lnSpc>
              <a:spcBef>
                <a:spcPts val="5"/>
              </a:spcBef>
            </a:pPr>
            <a:r>
              <a:rPr sz="1400" b="1" spc="-10" dirty="0">
                <a:latin typeface="Courier New"/>
                <a:cs typeface="Courier New"/>
              </a:rPr>
              <a:t>message </a:t>
            </a:r>
            <a:r>
              <a:rPr sz="1400" b="1" spc="-5" dirty="0">
                <a:latin typeface="Courier New"/>
                <a:cs typeface="Courier New"/>
              </a:rPr>
              <a:t>= </a:t>
            </a:r>
            <a:r>
              <a:rPr sz="1400" b="1" spc="-10" dirty="0">
                <a:solidFill>
                  <a:srgbClr val="3B822F"/>
                </a:solidFill>
                <a:latin typeface="Courier New"/>
                <a:cs typeface="Courier New"/>
              </a:rPr>
              <a:t>htons</a:t>
            </a:r>
            <a:r>
              <a:rPr sz="1400" b="1" spc="-10" dirty="0">
                <a:latin typeface="Courier New"/>
                <a:cs typeface="Courier New"/>
              </a:rPr>
              <a:t>(clientPort);  messageLength </a:t>
            </a:r>
            <a:r>
              <a:rPr sz="1400" b="1" spc="-5" dirty="0">
                <a:latin typeface="Courier New"/>
                <a:cs typeface="Courier New"/>
              </a:rPr>
              <a:t>=</a:t>
            </a:r>
            <a:r>
              <a:rPr sz="1400" b="1" spc="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sizeof(message);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imes New Roman"/>
              <a:cs typeface="Times New Roman"/>
            </a:endParaRPr>
          </a:p>
          <a:p>
            <a:pPr marL="142875">
              <a:lnSpc>
                <a:spcPts val="1675"/>
              </a:lnSpc>
            </a:pPr>
            <a:r>
              <a:rPr sz="1400" b="1" spc="-5" dirty="0">
                <a:latin typeface="Courier New"/>
                <a:cs typeface="Courier New"/>
              </a:rPr>
              <a:t>if </a:t>
            </a:r>
            <a:r>
              <a:rPr sz="1400" b="1" spc="-10" dirty="0">
                <a:latin typeface="Courier New"/>
                <a:cs typeface="Courier New"/>
              </a:rPr>
              <a:t>(sendto( </a:t>
            </a:r>
            <a:r>
              <a:rPr sz="1400" b="1" spc="-10" dirty="0">
                <a:solidFill>
                  <a:srgbClr val="9A6500"/>
                </a:solidFill>
                <a:latin typeface="Courier New"/>
                <a:cs typeface="Courier New"/>
              </a:rPr>
              <a:t>clientSock</a:t>
            </a:r>
            <a:r>
              <a:rPr sz="1400" b="1" spc="-10" dirty="0">
                <a:latin typeface="Courier New"/>
                <a:cs typeface="Courier New"/>
              </a:rPr>
              <a:t>, message, messageLength,</a:t>
            </a:r>
            <a:r>
              <a:rPr sz="1400" b="1" spc="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0,</a:t>
            </a:r>
            <a:endParaRPr sz="1400">
              <a:latin typeface="Courier New"/>
              <a:cs typeface="Courier New"/>
            </a:endParaRPr>
          </a:p>
          <a:p>
            <a:pPr marL="1313180">
              <a:lnSpc>
                <a:spcPts val="1675"/>
              </a:lnSpc>
            </a:pPr>
            <a:r>
              <a:rPr sz="1400" b="1" spc="-10" dirty="0">
                <a:latin typeface="Courier New"/>
                <a:cs typeface="Courier New"/>
              </a:rPr>
              <a:t>(struct sockaddr </a:t>
            </a:r>
            <a:r>
              <a:rPr sz="1400" b="1" spc="-5" dirty="0">
                <a:latin typeface="Courier New"/>
                <a:cs typeface="Courier New"/>
              </a:rPr>
              <a:t>*) </a:t>
            </a:r>
            <a:r>
              <a:rPr sz="1400" b="1" spc="-10" dirty="0">
                <a:latin typeface="Courier New"/>
                <a:cs typeface="Courier New"/>
              </a:rPr>
              <a:t>&amp;</a:t>
            </a:r>
            <a:r>
              <a:rPr sz="1400" b="1" spc="-10" dirty="0">
                <a:solidFill>
                  <a:srgbClr val="CC9A00"/>
                </a:solidFill>
                <a:latin typeface="Courier New"/>
                <a:cs typeface="Courier New"/>
              </a:rPr>
              <a:t>echoServAddr</a:t>
            </a:r>
            <a:r>
              <a:rPr sz="1400" b="1" spc="-10" dirty="0">
                <a:latin typeface="Courier New"/>
                <a:cs typeface="Courier New"/>
              </a:rPr>
              <a:t>,</a:t>
            </a:r>
            <a:r>
              <a:rPr sz="1400" b="1" spc="3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sizeof(</a:t>
            </a:r>
            <a:r>
              <a:rPr sz="1400" b="1" spc="-10" dirty="0">
                <a:solidFill>
                  <a:srgbClr val="CC9A00"/>
                </a:solidFill>
                <a:latin typeface="Courier New"/>
                <a:cs typeface="Courier New"/>
              </a:rPr>
              <a:t>echoServAddr</a:t>
            </a:r>
            <a:r>
              <a:rPr sz="1400" b="1" spc="-10" dirty="0">
                <a:latin typeface="Courier New"/>
                <a:cs typeface="Courier New"/>
              </a:rPr>
              <a:t>))</a:t>
            </a:r>
            <a:endParaRPr sz="1400">
              <a:latin typeface="Courier New"/>
              <a:cs typeface="Courier New"/>
            </a:endParaRPr>
          </a:p>
          <a:p>
            <a:pPr marL="1099185">
              <a:lnSpc>
                <a:spcPts val="1675"/>
              </a:lnSpc>
            </a:pPr>
            <a:r>
              <a:rPr sz="1400" b="1" spc="-5" dirty="0">
                <a:latin typeface="Courier New"/>
                <a:cs typeface="Courier New"/>
              </a:rPr>
              <a:t>!=</a:t>
            </a:r>
            <a:r>
              <a:rPr sz="1400" b="1" spc="-1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messageLength)</a:t>
            </a:r>
            <a:endParaRPr sz="1400">
              <a:latin typeface="Courier New"/>
              <a:cs typeface="Courier New"/>
            </a:endParaRPr>
          </a:p>
          <a:p>
            <a:pPr marL="674370">
              <a:lnSpc>
                <a:spcPct val="100000"/>
              </a:lnSpc>
            </a:pPr>
            <a:r>
              <a:rPr sz="1400" b="1" spc="-10" dirty="0">
                <a:latin typeface="Courier New"/>
                <a:cs typeface="Courier New"/>
              </a:rPr>
              <a:t>DieWithError("send() sent </a:t>
            </a:r>
            <a:r>
              <a:rPr sz="1400" b="1" spc="-5" dirty="0">
                <a:latin typeface="Courier New"/>
                <a:cs typeface="Courier New"/>
              </a:rPr>
              <a:t>a </a:t>
            </a:r>
            <a:r>
              <a:rPr sz="1400" b="1" spc="-10" dirty="0">
                <a:latin typeface="Courier New"/>
                <a:cs typeface="Courier New"/>
              </a:rPr>
              <a:t>different number </a:t>
            </a:r>
            <a:r>
              <a:rPr sz="1400" b="1" spc="-5" dirty="0">
                <a:latin typeface="Courier New"/>
                <a:cs typeface="Courier New"/>
              </a:rPr>
              <a:t>of </a:t>
            </a:r>
            <a:r>
              <a:rPr sz="1400" b="1" spc="-10" dirty="0">
                <a:latin typeface="Courier New"/>
                <a:cs typeface="Courier New"/>
              </a:rPr>
              <a:t>bytes than</a:t>
            </a:r>
            <a:r>
              <a:rPr sz="1400" b="1" spc="15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expected");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140" dirty="0">
                <a:solidFill>
                  <a:srgbClr val="A50021"/>
                </a:solidFill>
                <a:latin typeface="Arial"/>
                <a:cs typeface="Arial"/>
              </a:rPr>
              <a:t>Server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51979" y="99567"/>
            <a:ext cx="7614284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50" dirty="0"/>
              <a:t>Constructing </a:t>
            </a:r>
            <a:r>
              <a:rPr sz="4200" spc="-315" dirty="0"/>
              <a:t>Messages </a:t>
            </a:r>
            <a:r>
              <a:rPr sz="3200" spc="-200" dirty="0"/>
              <a:t>- </a:t>
            </a:r>
            <a:r>
              <a:rPr sz="3200" spc="-195" dirty="0"/>
              <a:t>Byte </a:t>
            </a:r>
            <a:r>
              <a:rPr sz="3200" spc="-190" dirty="0"/>
              <a:t>Ordering</a:t>
            </a:r>
            <a:r>
              <a:rPr sz="3200" spc="-125" dirty="0"/>
              <a:t> </a:t>
            </a:r>
            <a:r>
              <a:rPr sz="3200" spc="-200" dirty="0"/>
              <a:t>-</a:t>
            </a:r>
            <a:endParaRPr sz="3200"/>
          </a:p>
        </p:txBody>
      </p:sp>
      <p:sp>
        <p:nvSpPr>
          <p:cNvPr id="8" name="object 8"/>
          <p:cNvSpPr txBox="1"/>
          <p:nvPr/>
        </p:nvSpPr>
        <p:spPr>
          <a:xfrm>
            <a:off x="3814361" y="749531"/>
            <a:ext cx="14903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35" dirty="0">
                <a:solidFill>
                  <a:srgbClr val="006533"/>
                </a:solidFill>
                <a:latin typeface="Arial"/>
                <a:cs typeface="Arial"/>
              </a:rPr>
              <a:t>Example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1453" y="817371"/>
            <a:ext cx="4199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A6500"/>
              </a:buClr>
              <a:buSzPct val="6666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1800" spc="-60" dirty="0">
                <a:latin typeface="Arial"/>
                <a:cs typeface="Arial"/>
              </a:rPr>
              <a:t>consider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20" dirty="0">
                <a:latin typeface="Arial"/>
                <a:cs typeface="Arial"/>
              </a:rPr>
              <a:t>following </a:t>
            </a:r>
            <a:r>
              <a:rPr sz="1800" b="1" spc="-105" dirty="0">
                <a:solidFill>
                  <a:srgbClr val="9A6500"/>
                </a:solidFill>
                <a:latin typeface="Arial"/>
                <a:cs typeface="Arial"/>
              </a:rPr>
              <a:t>12 byte</a:t>
            </a:r>
            <a:r>
              <a:rPr sz="1800" b="1" spc="-95" dirty="0">
                <a:solidFill>
                  <a:srgbClr val="9A6500"/>
                </a:solidFill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structure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453" y="2227833"/>
            <a:ext cx="8103870" cy="185166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45"/>
              </a:spcBef>
              <a:buClr>
                <a:srgbClr val="9A6500"/>
              </a:buClr>
              <a:buSzPct val="6666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1800" spc="30" dirty="0">
                <a:latin typeface="Arial"/>
                <a:cs typeface="Arial"/>
              </a:rPr>
              <a:t>After </a:t>
            </a:r>
            <a:r>
              <a:rPr sz="1800" spc="-10" dirty="0">
                <a:latin typeface="Arial"/>
                <a:cs typeface="Arial"/>
              </a:rPr>
              <a:t>compilation </a:t>
            </a:r>
            <a:r>
              <a:rPr sz="1800" spc="100" dirty="0">
                <a:latin typeface="Arial"/>
                <a:cs typeface="Arial"/>
              </a:rPr>
              <a:t>it </a:t>
            </a:r>
            <a:r>
              <a:rPr sz="1800" spc="105" dirty="0">
                <a:latin typeface="Arial"/>
                <a:cs typeface="Arial"/>
              </a:rPr>
              <a:t>will </a:t>
            </a:r>
            <a:r>
              <a:rPr sz="1800" spc="-120" dirty="0">
                <a:latin typeface="Arial"/>
                <a:cs typeface="Arial"/>
              </a:rPr>
              <a:t>be </a:t>
            </a:r>
            <a:r>
              <a:rPr sz="1800" spc="-204" dirty="0">
                <a:latin typeface="Arial"/>
                <a:cs typeface="Arial"/>
              </a:rPr>
              <a:t>a </a:t>
            </a:r>
            <a:r>
              <a:rPr sz="1800" b="1" spc="-105" dirty="0">
                <a:solidFill>
                  <a:srgbClr val="A50021"/>
                </a:solidFill>
                <a:latin typeface="Arial"/>
                <a:cs typeface="Arial"/>
              </a:rPr>
              <a:t>14 byte</a:t>
            </a:r>
            <a:r>
              <a:rPr sz="1800" b="1" spc="-229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structure!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40"/>
              </a:spcBef>
              <a:buClr>
                <a:srgbClr val="9A6500"/>
              </a:buClr>
              <a:buSzPct val="6666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1800" spc="-25" dirty="0">
                <a:latin typeface="Arial"/>
                <a:cs typeface="Arial"/>
              </a:rPr>
              <a:t>Why? </a:t>
            </a:r>
            <a:r>
              <a:rPr sz="1800" spc="3025" dirty="0">
                <a:latin typeface="Wingdings"/>
                <a:cs typeface="Wingdings"/>
              </a:rPr>
              <a:t>€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b="1" spc="-75" dirty="0">
                <a:solidFill>
                  <a:srgbClr val="A50021"/>
                </a:solidFill>
                <a:latin typeface="Arial"/>
                <a:cs typeface="Arial"/>
              </a:rPr>
              <a:t>Alignment</a:t>
            </a:r>
            <a:r>
              <a:rPr sz="1800" spc="-75" dirty="0">
                <a:latin typeface="Arial"/>
                <a:cs typeface="Arial"/>
              </a:rPr>
              <a:t>!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40"/>
              </a:spcBef>
              <a:buClr>
                <a:srgbClr val="9A6500"/>
              </a:buClr>
              <a:buSzPct val="6666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1800" spc="-85" dirty="0">
                <a:latin typeface="Arial"/>
                <a:cs typeface="Arial"/>
              </a:rPr>
              <a:t>Remember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20" dirty="0">
                <a:latin typeface="Arial"/>
                <a:cs typeface="Arial"/>
              </a:rPr>
              <a:t>following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rules:</a:t>
            </a:r>
            <a:endParaRPr sz="18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09"/>
              </a:spcBef>
              <a:buClr>
                <a:srgbClr val="9A6500"/>
              </a:buClr>
              <a:buSzPct val="62500"/>
              <a:buFont typeface="Wingdings"/>
              <a:buChar char=""/>
              <a:tabLst>
                <a:tab pos="681990" algn="l"/>
                <a:tab pos="682625" algn="l"/>
              </a:tabLst>
            </a:pPr>
            <a:r>
              <a:rPr sz="1600" spc="-85" dirty="0">
                <a:latin typeface="Arial"/>
                <a:cs typeface="Arial"/>
              </a:rPr>
              <a:t>data </a:t>
            </a:r>
            <a:r>
              <a:rPr sz="1600" spc="-45" dirty="0">
                <a:latin typeface="Arial"/>
                <a:cs typeface="Arial"/>
              </a:rPr>
              <a:t>structures </a:t>
            </a:r>
            <a:r>
              <a:rPr sz="1600" spc="-85" dirty="0">
                <a:latin typeface="Arial"/>
                <a:cs typeface="Arial"/>
              </a:rPr>
              <a:t>are </a:t>
            </a:r>
            <a:r>
              <a:rPr sz="1600" spc="-10" dirty="0">
                <a:latin typeface="Arial"/>
                <a:cs typeface="Arial"/>
              </a:rPr>
              <a:t>maximally </a:t>
            </a:r>
            <a:r>
              <a:rPr sz="1600" spc="-45" dirty="0">
                <a:latin typeface="Arial"/>
                <a:cs typeface="Arial"/>
              </a:rPr>
              <a:t>aligned, </a:t>
            </a:r>
            <a:r>
              <a:rPr sz="1600" spc="-50" dirty="0">
                <a:latin typeface="Arial"/>
                <a:cs typeface="Arial"/>
              </a:rPr>
              <a:t>according </a:t>
            </a:r>
            <a:r>
              <a:rPr sz="1600" dirty="0">
                <a:latin typeface="Arial"/>
                <a:cs typeface="Arial"/>
              </a:rPr>
              <a:t>to </a:t>
            </a:r>
            <a:r>
              <a:rPr sz="1600" spc="-20" dirty="0">
                <a:latin typeface="Arial"/>
                <a:cs typeface="Arial"/>
              </a:rPr>
              <a:t>the </a:t>
            </a:r>
            <a:r>
              <a:rPr sz="1600" spc="-90" dirty="0">
                <a:latin typeface="Arial"/>
                <a:cs typeface="Arial"/>
              </a:rPr>
              <a:t>size </a:t>
            </a:r>
            <a:r>
              <a:rPr sz="1600" spc="-10" dirty="0">
                <a:latin typeface="Arial"/>
                <a:cs typeface="Arial"/>
              </a:rPr>
              <a:t>of </a:t>
            </a:r>
            <a:r>
              <a:rPr sz="1600" spc="-20" dirty="0">
                <a:latin typeface="Arial"/>
                <a:cs typeface="Arial"/>
              </a:rPr>
              <a:t>the </a:t>
            </a:r>
            <a:r>
              <a:rPr sz="1600" spc="-65" dirty="0">
                <a:latin typeface="Arial"/>
                <a:cs typeface="Arial"/>
              </a:rPr>
              <a:t>largest </a:t>
            </a:r>
            <a:r>
              <a:rPr sz="1600" spc="-20" dirty="0">
                <a:latin typeface="Arial"/>
                <a:cs typeface="Arial"/>
              </a:rPr>
              <a:t>native</a:t>
            </a:r>
            <a:r>
              <a:rPr sz="1600" spc="2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integer</a:t>
            </a:r>
            <a:endParaRPr sz="1600">
              <a:latin typeface="Arial"/>
              <a:cs typeface="Arial"/>
            </a:endParaRPr>
          </a:p>
          <a:p>
            <a:pPr marL="681990" marR="5080" lvl="1" indent="-325120">
              <a:lnSpc>
                <a:spcPct val="100000"/>
              </a:lnSpc>
              <a:spcBef>
                <a:spcPts val="395"/>
              </a:spcBef>
              <a:buClr>
                <a:srgbClr val="9A6500"/>
              </a:buClr>
              <a:buSzPct val="62500"/>
              <a:buFont typeface="Wingdings"/>
              <a:buChar char=""/>
              <a:tabLst>
                <a:tab pos="681990" algn="l"/>
                <a:tab pos="682625" algn="l"/>
              </a:tabLst>
            </a:pPr>
            <a:r>
              <a:rPr sz="1600" spc="-10" dirty="0">
                <a:latin typeface="Arial"/>
                <a:cs typeface="Arial"/>
              </a:rPr>
              <a:t>other </a:t>
            </a:r>
            <a:r>
              <a:rPr sz="1600" spc="15" dirty="0">
                <a:latin typeface="Arial"/>
                <a:cs typeface="Arial"/>
              </a:rPr>
              <a:t>multibyte </a:t>
            </a:r>
            <a:r>
              <a:rPr sz="1600" spc="-30" dirty="0">
                <a:latin typeface="Arial"/>
                <a:cs typeface="Arial"/>
              </a:rPr>
              <a:t>fields </a:t>
            </a:r>
            <a:r>
              <a:rPr sz="1600" spc="-85" dirty="0">
                <a:latin typeface="Arial"/>
                <a:cs typeface="Arial"/>
              </a:rPr>
              <a:t>are </a:t>
            </a:r>
            <a:r>
              <a:rPr sz="1600" spc="-45" dirty="0">
                <a:latin typeface="Arial"/>
                <a:cs typeface="Arial"/>
              </a:rPr>
              <a:t>aligned </a:t>
            </a:r>
            <a:r>
              <a:rPr sz="1600" dirty="0">
                <a:latin typeface="Arial"/>
                <a:cs typeface="Arial"/>
              </a:rPr>
              <a:t>to </a:t>
            </a:r>
            <a:r>
              <a:rPr sz="1600" spc="20" dirty="0">
                <a:latin typeface="Arial"/>
                <a:cs typeface="Arial"/>
              </a:rPr>
              <a:t>their </a:t>
            </a:r>
            <a:r>
              <a:rPr sz="1600" spc="-85" dirty="0">
                <a:latin typeface="Arial"/>
                <a:cs typeface="Arial"/>
              </a:rPr>
              <a:t>size, e.g., </a:t>
            </a:r>
            <a:r>
              <a:rPr sz="1600" spc="-185" dirty="0">
                <a:latin typeface="Arial"/>
                <a:cs typeface="Arial"/>
              </a:rPr>
              <a:t>a </a:t>
            </a:r>
            <a:r>
              <a:rPr sz="1600" dirty="0">
                <a:latin typeface="Arial"/>
                <a:cs typeface="Arial"/>
              </a:rPr>
              <a:t>four-byte </a:t>
            </a:r>
            <a:r>
              <a:rPr sz="1600" spc="-45" dirty="0">
                <a:latin typeface="Arial"/>
                <a:cs typeface="Arial"/>
              </a:rPr>
              <a:t>integer’s </a:t>
            </a:r>
            <a:r>
              <a:rPr sz="1600" spc="-114" dirty="0">
                <a:latin typeface="Arial"/>
                <a:cs typeface="Arial"/>
              </a:rPr>
              <a:t>address </a:t>
            </a:r>
            <a:r>
              <a:rPr sz="1600" spc="95" dirty="0">
                <a:latin typeface="Arial"/>
                <a:cs typeface="Arial"/>
              </a:rPr>
              <a:t>will </a:t>
            </a:r>
            <a:r>
              <a:rPr sz="1600" spc="-105" dirty="0">
                <a:latin typeface="Arial"/>
                <a:cs typeface="Arial"/>
              </a:rPr>
              <a:t>be  </a:t>
            </a:r>
            <a:r>
              <a:rPr sz="1600" spc="-10" dirty="0">
                <a:latin typeface="Arial"/>
                <a:cs typeface="Arial"/>
              </a:rPr>
              <a:t>divisible by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spc="5" dirty="0">
                <a:latin typeface="Arial"/>
                <a:cs typeface="Arial"/>
              </a:rPr>
              <a:t>four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1758" y="104901"/>
            <a:ext cx="7894320" cy="60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spc="-225" dirty="0"/>
              <a:t>Constructing </a:t>
            </a:r>
            <a:r>
              <a:rPr sz="3800" spc="-285" dirty="0"/>
              <a:t>Messages </a:t>
            </a:r>
            <a:r>
              <a:rPr sz="2800" spc="-175" dirty="0"/>
              <a:t>- </a:t>
            </a:r>
            <a:r>
              <a:rPr sz="2800" spc="-185" dirty="0"/>
              <a:t>Alignment </a:t>
            </a:r>
            <a:r>
              <a:rPr sz="2800" spc="-240" dirty="0"/>
              <a:t>and</a:t>
            </a:r>
            <a:r>
              <a:rPr sz="2800" spc="-10" dirty="0"/>
              <a:t> </a:t>
            </a:r>
            <a:r>
              <a:rPr sz="2800" spc="-204" dirty="0"/>
              <a:t>Padding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819543" y="1218691"/>
            <a:ext cx="1781175" cy="1028700"/>
          </a:xfrm>
          <a:prstGeom prst="rect">
            <a:avLst/>
          </a:prstGeom>
          <a:ln w="22225">
            <a:solidFill>
              <a:srgbClr val="9966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255270" marR="450850" indent="-153035">
              <a:lnSpc>
                <a:spcPct val="100000"/>
              </a:lnSpc>
              <a:spcBef>
                <a:spcPts val="350"/>
              </a:spcBef>
            </a:pPr>
            <a:r>
              <a:rPr sz="1000" b="1" spc="-5" dirty="0">
                <a:latin typeface="Courier New"/>
                <a:cs typeface="Courier New"/>
              </a:rPr>
              <a:t>typedef struct</a:t>
            </a:r>
            <a:r>
              <a:rPr sz="1000" b="1" spc="-80" dirty="0"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{  </a:t>
            </a:r>
            <a:r>
              <a:rPr sz="1000" b="1" spc="-5" dirty="0">
                <a:latin typeface="Courier New"/>
                <a:cs typeface="Courier New"/>
              </a:rPr>
              <a:t>int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x;</a:t>
            </a:r>
            <a:endParaRPr sz="1000">
              <a:latin typeface="Courier New"/>
              <a:cs typeface="Courier New"/>
            </a:endParaRPr>
          </a:p>
          <a:p>
            <a:pPr marL="255270" marR="831850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short</a:t>
            </a:r>
            <a:r>
              <a:rPr sz="1000" b="1" spc="-9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x2;  int y;  short</a:t>
            </a:r>
            <a:r>
              <a:rPr sz="1000" b="1" spc="-9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y2;</a:t>
            </a:r>
            <a:endParaRPr sz="10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</a:pPr>
            <a:r>
              <a:rPr sz="1000" b="1" dirty="0">
                <a:latin typeface="Courier New"/>
                <a:cs typeface="Courier New"/>
              </a:rPr>
              <a:t>}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msgStruct;</a:t>
            </a:r>
            <a:endParaRPr sz="1000">
              <a:latin typeface="Courier New"/>
              <a:cs typeface="Courier New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01827" y="4179633"/>
          <a:ext cx="3134360" cy="275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3130"/>
                <a:gridCol w="654050"/>
                <a:gridCol w="913130"/>
                <a:gridCol w="654050"/>
              </a:tblGrid>
              <a:tr h="275590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ourier New"/>
                          <a:cs typeface="Courier New"/>
                        </a:rPr>
                        <a:t>x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542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latin typeface="Courier New"/>
                          <a:cs typeface="Courier New"/>
                        </a:rPr>
                        <a:t>x2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A50021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ourier New"/>
                          <a:cs typeface="Courier New"/>
                        </a:rPr>
                        <a:t>y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479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latin typeface="Courier New"/>
                          <a:cs typeface="Courier New"/>
                        </a:rPr>
                        <a:t>y2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A50021">
                        <a:alpha val="1999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401453" y="4429119"/>
            <a:ext cx="3507104" cy="122872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593725">
              <a:lnSpc>
                <a:spcPct val="100000"/>
              </a:lnSpc>
              <a:spcBef>
                <a:spcPts val="625"/>
              </a:spcBef>
              <a:tabLst>
                <a:tab pos="1377950" algn="l"/>
                <a:tab pos="2160270" algn="l"/>
                <a:tab pos="2944495" algn="l"/>
              </a:tabLst>
            </a:pPr>
            <a:r>
              <a:rPr sz="1000" dirty="0">
                <a:latin typeface="Courier New"/>
                <a:cs typeface="Courier New"/>
              </a:rPr>
              <a:t>4 </a:t>
            </a:r>
            <a:r>
              <a:rPr sz="1000" spc="-5" dirty="0">
                <a:latin typeface="Courier New"/>
                <a:cs typeface="Courier New"/>
              </a:rPr>
              <a:t>bytes	</a:t>
            </a:r>
            <a:r>
              <a:rPr sz="1000" dirty="0">
                <a:latin typeface="Courier New"/>
                <a:cs typeface="Courier New"/>
              </a:rPr>
              <a:t>2 </a:t>
            </a:r>
            <a:r>
              <a:rPr sz="1000" spc="-5" dirty="0">
                <a:latin typeface="Courier New"/>
                <a:cs typeface="Courier New"/>
              </a:rPr>
              <a:t>bytes	</a:t>
            </a:r>
            <a:r>
              <a:rPr sz="1000" dirty="0">
                <a:latin typeface="Courier New"/>
                <a:cs typeface="Courier New"/>
              </a:rPr>
              <a:t>4 </a:t>
            </a:r>
            <a:r>
              <a:rPr sz="1000" spc="-5" dirty="0">
                <a:latin typeface="Courier New"/>
                <a:cs typeface="Courier New"/>
              </a:rPr>
              <a:t>bytes	</a:t>
            </a:r>
            <a:r>
              <a:rPr sz="1000" dirty="0">
                <a:latin typeface="Courier New"/>
                <a:cs typeface="Courier New"/>
              </a:rPr>
              <a:t>2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bytes</a:t>
            </a:r>
            <a:endParaRPr sz="100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940"/>
              </a:spcBef>
              <a:buClr>
                <a:srgbClr val="9A6500"/>
              </a:buClr>
              <a:buSzPct val="6666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1800" spc="-35" dirty="0">
                <a:latin typeface="Arial"/>
                <a:cs typeface="Arial"/>
              </a:rPr>
              <a:t>This </a:t>
            </a:r>
            <a:r>
              <a:rPr sz="1800" spc="-95" dirty="0">
                <a:latin typeface="Arial"/>
                <a:cs typeface="Arial"/>
              </a:rPr>
              <a:t>can </a:t>
            </a:r>
            <a:r>
              <a:rPr sz="1800" spc="-120" dirty="0">
                <a:latin typeface="Arial"/>
                <a:cs typeface="Arial"/>
              </a:rPr>
              <a:t>be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avoided</a:t>
            </a:r>
            <a:endParaRPr sz="18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09"/>
              </a:spcBef>
              <a:buClr>
                <a:srgbClr val="9A6500"/>
              </a:buClr>
              <a:buSzPct val="62500"/>
              <a:buFont typeface="Wingdings"/>
              <a:buChar char=""/>
              <a:tabLst>
                <a:tab pos="681990" algn="l"/>
                <a:tab pos="682625" algn="l"/>
              </a:tabLst>
            </a:pPr>
            <a:r>
              <a:rPr sz="1600" spc="-20" dirty="0">
                <a:latin typeface="Arial"/>
                <a:cs typeface="Arial"/>
              </a:rPr>
              <a:t>include </a:t>
            </a:r>
            <a:r>
              <a:rPr sz="1600" spc="-50" dirty="0">
                <a:latin typeface="Arial"/>
                <a:cs typeface="Arial"/>
              </a:rPr>
              <a:t>padding </a:t>
            </a:r>
            <a:r>
              <a:rPr sz="1600" dirty="0">
                <a:latin typeface="Arial"/>
                <a:cs typeface="Arial"/>
              </a:rPr>
              <a:t>to </a:t>
            </a:r>
            <a:r>
              <a:rPr sz="1600" spc="-85" dirty="0">
                <a:latin typeface="Arial"/>
                <a:cs typeface="Arial"/>
              </a:rPr>
              <a:t>data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structure</a:t>
            </a:r>
            <a:endParaRPr sz="16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395"/>
              </a:spcBef>
              <a:buClr>
                <a:srgbClr val="9A6500"/>
              </a:buClr>
              <a:buSzPct val="62500"/>
              <a:buFont typeface="Wingdings"/>
              <a:buChar char=""/>
              <a:tabLst>
                <a:tab pos="681990" algn="l"/>
                <a:tab pos="682625" algn="l"/>
              </a:tabLst>
            </a:pPr>
            <a:r>
              <a:rPr sz="1600" spc="-30" dirty="0">
                <a:latin typeface="Arial"/>
                <a:cs typeface="Arial"/>
              </a:rPr>
              <a:t>reorder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fields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183011" y="4307840"/>
            <a:ext cx="338455" cy="76200"/>
          </a:xfrm>
          <a:custGeom>
            <a:avLst/>
            <a:gdLst/>
            <a:ahLst/>
            <a:cxnLst/>
            <a:rect l="l" t="t" r="r" b="b"/>
            <a:pathLst>
              <a:path w="338454" h="76200">
                <a:moveTo>
                  <a:pt x="279654" y="38100"/>
                </a:moveTo>
                <a:lnTo>
                  <a:pt x="278130" y="35051"/>
                </a:lnTo>
                <a:lnTo>
                  <a:pt x="275082" y="33527"/>
                </a:lnTo>
                <a:lnTo>
                  <a:pt x="4572" y="33527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910"/>
                </a:lnTo>
                <a:lnTo>
                  <a:pt x="4572" y="43434"/>
                </a:lnTo>
                <a:lnTo>
                  <a:pt x="275082" y="43434"/>
                </a:lnTo>
                <a:lnTo>
                  <a:pt x="278130" y="41910"/>
                </a:lnTo>
                <a:lnTo>
                  <a:pt x="279654" y="38100"/>
                </a:lnTo>
                <a:close/>
              </a:path>
              <a:path w="338454" h="76200">
                <a:moveTo>
                  <a:pt x="338328" y="38100"/>
                </a:moveTo>
                <a:lnTo>
                  <a:pt x="262128" y="0"/>
                </a:lnTo>
                <a:lnTo>
                  <a:pt x="262128" y="33527"/>
                </a:lnTo>
                <a:lnTo>
                  <a:pt x="275082" y="33527"/>
                </a:lnTo>
                <a:lnTo>
                  <a:pt x="278130" y="35051"/>
                </a:lnTo>
                <a:lnTo>
                  <a:pt x="279654" y="38100"/>
                </a:lnTo>
                <a:lnTo>
                  <a:pt x="279654" y="67437"/>
                </a:lnTo>
                <a:lnTo>
                  <a:pt x="338328" y="38100"/>
                </a:lnTo>
                <a:close/>
              </a:path>
              <a:path w="338454" h="76200">
                <a:moveTo>
                  <a:pt x="279654" y="67437"/>
                </a:moveTo>
                <a:lnTo>
                  <a:pt x="279654" y="38100"/>
                </a:lnTo>
                <a:lnTo>
                  <a:pt x="278130" y="41910"/>
                </a:lnTo>
                <a:lnTo>
                  <a:pt x="275082" y="43434"/>
                </a:lnTo>
                <a:lnTo>
                  <a:pt x="262128" y="43434"/>
                </a:lnTo>
                <a:lnTo>
                  <a:pt x="262128" y="76200"/>
                </a:lnTo>
                <a:lnTo>
                  <a:pt x="279654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016966" y="4514596"/>
            <a:ext cx="5588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ourier New"/>
                <a:cs typeface="Courier New"/>
              </a:rPr>
              <a:t>4</a:t>
            </a:r>
            <a:r>
              <a:rPr sz="1000" spc="-8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bytes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00987" y="4514596"/>
            <a:ext cx="5588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ourier New"/>
                <a:cs typeface="Courier New"/>
              </a:rPr>
              <a:t>2</a:t>
            </a:r>
            <a:r>
              <a:rPr sz="1000" spc="-8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bytes</a:t>
            </a:r>
            <a:endParaRPr sz="1000">
              <a:latin typeface="Courier New"/>
              <a:cs typeface="Courier New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4611827" y="4198683"/>
          <a:ext cx="3790312" cy="275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3130"/>
                <a:gridCol w="655319"/>
                <a:gridCol w="655955"/>
                <a:gridCol w="912494"/>
                <a:gridCol w="653414"/>
              </a:tblGrid>
              <a:tr h="275590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ourier New"/>
                          <a:cs typeface="Courier New"/>
                        </a:rPr>
                        <a:t>x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542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latin typeface="Courier New"/>
                          <a:cs typeface="Courier New"/>
                        </a:rPr>
                        <a:t>x2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A50021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[pad]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dirty="0">
                          <a:latin typeface="Courier New"/>
                          <a:cs typeface="Courier New"/>
                        </a:rPr>
                        <a:t>y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99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479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spc="-5" dirty="0">
                          <a:latin typeface="Courier New"/>
                          <a:cs typeface="Courier New"/>
                        </a:rPr>
                        <a:t>y2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A50021">
                        <a:alpha val="1999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4792853" y="4514596"/>
            <a:ext cx="20008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6290" algn="l"/>
              </a:tabLst>
            </a:pPr>
            <a:r>
              <a:rPr sz="1000" dirty="0">
                <a:latin typeface="Courier New"/>
                <a:cs typeface="Courier New"/>
              </a:rPr>
              <a:t>4 </a:t>
            </a:r>
            <a:r>
              <a:rPr sz="1000" spc="-5" dirty="0">
                <a:latin typeface="Courier New"/>
                <a:cs typeface="Courier New"/>
              </a:rPr>
              <a:t>bytes	</a:t>
            </a:r>
            <a:r>
              <a:rPr sz="1000" dirty="0">
                <a:latin typeface="Courier New"/>
                <a:cs typeface="Courier New"/>
              </a:rPr>
              <a:t>2 </a:t>
            </a:r>
            <a:r>
              <a:rPr sz="1000" spc="-5" dirty="0">
                <a:latin typeface="Courier New"/>
                <a:cs typeface="Courier New"/>
              </a:rPr>
              <a:t>bytes </a:t>
            </a:r>
            <a:r>
              <a:rPr sz="1000" dirty="0">
                <a:latin typeface="Courier New"/>
                <a:cs typeface="Courier New"/>
              </a:rPr>
              <a:t>2</a:t>
            </a:r>
            <a:r>
              <a:rPr sz="1000" spc="-30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bytes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43615" y="4864100"/>
            <a:ext cx="1781175" cy="1181100"/>
          </a:xfrm>
          <a:prstGeom prst="rect">
            <a:avLst/>
          </a:prstGeom>
          <a:ln w="22225">
            <a:solidFill>
              <a:srgbClr val="9966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254635" marR="450850" indent="-152400">
              <a:lnSpc>
                <a:spcPct val="100000"/>
              </a:lnSpc>
              <a:spcBef>
                <a:spcPts val="350"/>
              </a:spcBef>
            </a:pPr>
            <a:r>
              <a:rPr sz="1000" b="1" spc="-5" dirty="0">
                <a:latin typeface="Courier New"/>
                <a:cs typeface="Courier New"/>
              </a:rPr>
              <a:t>typedef struct</a:t>
            </a:r>
            <a:r>
              <a:rPr sz="1000" b="1" spc="-80" dirty="0"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{  </a:t>
            </a:r>
            <a:r>
              <a:rPr sz="1000" b="1" spc="-5" dirty="0">
                <a:latin typeface="Courier New"/>
                <a:cs typeface="Courier New"/>
              </a:rPr>
              <a:t>int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x;</a:t>
            </a:r>
            <a:endParaRPr sz="1000">
              <a:latin typeface="Courier New"/>
              <a:cs typeface="Courier New"/>
            </a:endParaRPr>
          </a:p>
          <a:p>
            <a:pPr marL="254635" marR="603250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short x2;  char</a:t>
            </a:r>
            <a:r>
              <a:rPr sz="1000" b="1" spc="-8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pad[2];  int</a:t>
            </a:r>
            <a:r>
              <a:rPr sz="1000" b="1" spc="-2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y;</a:t>
            </a:r>
            <a:endParaRPr sz="1000">
              <a:latin typeface="Courier New"/>
              <a:cs typeface="Courier New"/>
            </a:endParaRPr>
          </a:p>
          <a:p>
            <a:pPr marL="254635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short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y2;</a:t>
            </a:r>
            <a:endParaRPr sz="10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</a:pPr>
            <a:r>
              <a:rPr sz="1000" b="1" dirty="0">
                <a:latin typeface="Courier New"/>
                <a:cs typeface="Courier New"/>
              </a:rPr>
              <a:t>}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msgStruct;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78727" y="4927346"/>
            <a:ext cx="1781175" cy="1028700"/>
          </a:xfrm>
          <a:prstGeom prst="rect">
            <a:avLst/>
          </a:prstGeom>
          <a:ln w="22225">
            <a:solidFill>
              <a:srgbClr val="9966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255270" marR="450850" indent="-152400">
              <a:lnSpc>
                <a:spcPct val="100000"/>
              </a:lnSpc>
              <a:spcBef>
                <a:spcPts val="350"/>
              </a:spcBef>
            </a:pPr>
            <a:r>
              <a:rPr sz="1000" b="1" spc="-5" dirty="0">
                <a:latin typeface="Courier New"/>
                <a:cs typeface="Courier New"/>
              </a:rPr>
              <a:t>typedef struct</a:t>
            </a:r>
            <a:r>
              <a:rPr sz="1000" b="1" spc="-80" dirty="0"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{  </a:t>
            </a:r>
            <a:r>
              <a:rPr sz="1000" b="1" spc="-5" dirty="0">
                <a:latin typeface="Courier New"/>
                <a:cs typeface="Courier New"/>
              </a:rPr>
              <a:t>int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x;</a:t>
            </a:r>
            <a:endParaRPr sz="1000">
              <a:latin typeface="Courier New"/>
              <a:cs typeface="Courier New"/>
            </a:endParaRPr>
          </a:p>
          <a:p>
            <a:pPr marL="255270" marR="831850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int y;  short</a:t>
            </a:r>
            <a:r>
              <a:rPr sz="1000" b="1" spc="-9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x2;  short</a:t>
            </a:r>
            <a:r>
              <a:rPr sz="1000" b="1" spc="-9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y2;</a:t>
            </a:r>
            <a:endParaRPr sz="1000">
              <a:latin typeface="Courier New"/>
              <a:cs typeface="Courier New"/>
            </a:endParaRPr>
          </a:p>
          <a:p>
            <a:pPr marL="102870">
              <a:lnSpc>
                <a:spcPct val="100000"/>
              </a:lnSpc>
            </a:pPr>
            <a:r>
              <a:rPr sz="1000" b="1" dirty="0">
                <a:latin typeface="Courier New"/>
                <a:cs typeface="Courier New"/>
              </a:rPr>
              <a:t>}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msgStruct;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1453" y="1250949"/>
            <a:ext cx="8133080" cy="3705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15265" indent="-342900">
              <a:lnSpc>
                <a:spcPct val="100000"/>
              </a:lnSpc>
              <a:spcBef>
                <a:spcPts val="100"/>
              </a:spcBef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b="1" spc="-145" dirty="0">
                <a:solidFill>
                  <a:srgbClr val="9A6500"/>
                </a:solidFill>
                <a:latin typeface="Arial"/>
                <a:cs typeface="Arial"/>
              </a:rPr>
              <a:t>Framing </a:t>
            </a:r>
            <a:r>
              <a:rPr sz="2200" spc="-90" dirty="0">
                <a:latin typeface="Arial"/>
                <a:cs typeface="Arial"/>
              </a:rPr>
              <a:t>is </a:t>
            </a:r>
            <a:r>
              <a:rPr sz="2200" spc="-25" dirty="0">
                <a:latin typeface="Arial"/>
                <a:cs typeface="Arial"/>
              </a:rPr>
              <a:t>the </a:t>
            </a:r>
            <a:r>
              <a:rPr sz="2200" spc="-40" dirty="0">
                <a:latin typeface="Arial"/>
                <a:cs typeface="Arial"/>
              </a:rPr>
              <a:t>problem </a:t>
            </a:r>
            <a:r>
              <a:rPr sz="2200" spc="-15" dirty="0">
                <a:latin typeface="Arial"/>
                <a:cs typeface="Arial"/>
              </a:rPr>
              <a:t>of </a:t>
            </a:r>
            <a:r>
              <a:rPr sz="2200" spc="-5" dirty="0">
                <a:latin typeface="Arial"/>
                <a:cs typeface="Arial"/>
              </a:rPr>
              <a:t>formatting </a:t>
            </a:r>
            <a:r>
              <a:rPr sz="2200" spc="-25" dirty="0">
                <a:latin typeface="Arial"/>
                <a:cs typeface="Arial"/>
              </a:rPr>
              <a:t>the </a:t>
            </a:r>
            <a:r>
              <a:rPr sz="2200" spc="5" dirty="0">
                <a:latin typeface="Arial"/>
                <a:cs typeface="Arial"/>
              </a:rPr>
              <a:t>information </a:t>
            </a:r>
            <a:r>
              <a:rPr sz="2200" spc="-210" dirty="0">
                <a:latin typeface="Arial"/>
                <a:cs typeface="Arial"/>
              </a:rPr>
              <a:t>so </a:t>
            </a:r>
            <a:r>
              <a:rPr sz="2200" dirty="0">
                <a:latin typeface="Arial"/>
                <a:cs typeface="Arial"/>
              </a:rPr>
              <a:t>that </a:t>
            </a:r>
            <a:r>
              <a:rPr sz="2200" spc="-30" dirty="0">
                <a:latin typeface="Arial"/>
                <a:cs typeface="Arial"/>
              </a:rPr>
              <a:t>the  </a:t>
            </a:r>
            <a:r>
              <a:rPr sz="2200" spc="-55" dirty="0">
                <a:latin typeface="Arial"/>
                <a:cs typeface="Arial"/>
              </a:rPr>
              <a:t>receiver </a:t>
            </a:r>
            <a:r>
              <a:rPr sz="2200" spc="-120" dirty="0">
                <a:latin typeface="Arial"/>
                <a:cs typeface="Arial"/>
              </a:rPr>
              <a:t>can </a:t>
            </a:r>
            <a:r>
              <a:rPr sz="2200" b="1" spc="-225" dirty="0">
                <a:solidFill>
                  <a:srgbClr val="CC9A00"/>
                </a:solidFill>
                <a:latin typeface="Arial"/>
                <a:cs typeface="Arial"/>
              </a:rPr>
              <a:t>parse</a:t>
            </a:r>
            <a:r>
              <a:rPr sz="2200" b="1" spc="-45" dirty="0">
                <a:solidFill>
                  <a:srgbClr val="CC9A00"/>
                </a:solidFill>
                <a:latin typeface="Arial"/>
                <a:cs typeface="Arial"/>
              </a:rPr>
              <a:t> </a:t>
            </a:r>
            <a:r>
              <a:rPr sz="2200" spc="-235" dirty="0">
                <a:latin typeface="Arial"/>
                <a:cs typeface="Arial"/>
              </a:rPr>
              <a:t>messages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1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b="1" spc="-220" dirty="0">
                <a:solidFill>
                  <a:srgbClr val="CC9A00"/>
                </a:solidFill>
                <a:latin typeface="Arial"/>
                <a:cs typeface="Arial"/>
              </a:rPr>
              <a:t>Parse </a:t>
            </a:r>
            <a:r>
              <a:rPr sz="2200" spc="-155" dirty="0">
                <a:latin typeface="Arial"/>
                <a:cs typeface="Arial"/>
              </a:rPr>
              <a:t>means </a:t>
            </a:r>
            <a:r>
              <a:rPr sz="2200" dirty="0">
                <a:latin typeface="Arial"/>
                <a:cs typeface="Arial"/>
              </a:rPr>
              <a:t>to </a:t>
            </a:r>
            <a:r>
              <a:rPr sz="2200" spc="-80" dirty="0">
                <a:latin typeface="Arial"/>
                <a:cs typeface="Arial"/>
              </a:rPr>
              <a:t>locate </a:t>
            </a:r>
            <a:r>
              <a:rPr sz="2200" spc="-25" dirty="0">
                <a:latin typeface="Arial"/>
                <a:cs typeface="Arial"/>
              </a:rPr>
              <a:t>the </a:t>
            </a:r>
            <a:r>
              <a:rPr sz="2200" spc="-40" dirty="0">
                <a:latin typeface="Arial"/>
                <a:cs typeface="Arial"/>
              </a:rPr>
              <a:t>beginning </a:t>
            </a:r>
            <a:r>
              <a:rPr sz="2200" spc="-100" dirty="0">
                <a:latin typeface="Arial"/>
                <a:cs typeface="Arial"/>
              </a:rPr>
              <a:t>and </a:t>
            </a:r>
            <a:r>
              <a:rPr sz="2200" spc="-25" dirty="0">
                <a:latin typeface="Arial"/>
                <a:cs typeface="Arial"/>
              </a:rPr>
              <a:t>the </a:t>
            </a:r>
            <a:r>
              <a:rPr sz="2200" spc="-90" dirty="0">
                <a:latin typeface="Arial"/>
                <a:cs typeface="Arial"/>
              </a:rPr>
              <a:t>end </a:t>
            </a:r>
            <a:r>
              <a:rPr sz="2200" spc="-15" dirty="0">
                <a:latin typeface="Arial"/>
                <a:cs typeface="Arial"/>
              </a:rPr>
              <a:t>of</a:t>
            </a:r>
            <a:r>
              <a:rPr sz="2200" spc="-300" dirty="0">
                <a:latin typeface="Arial"/>
                <a:cs typeface="Arial"/>
              </a:rPr>
              <a:t> </a:t>
            </a:r>
            <a:r>
              <a:rPr sz="2200" spc="-220" dirty="0">
                <a:latin typeface="Arial"/>
                <a:cs typeface="Arial"/>
              </a:rPr>
              <a:t>message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9A6500"/>
              </a:buClr>
              <a:buFont typeface="Wingdings"/>
              <a:buChar char=""/>
            </a:pP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45" dirty="0">
                <a:latin typeface="Arial"/>
                <a:cs typeface="Arial"/>
              </a:rPr>
              <a:t>This </a:t>
            </a:r>
            <a:r>
              <a:rPr sz="2200" spc="-90" dirty="0">
                <a:latin typeface="Arial"/>
                <a:cs typeface="Arial"/>
              </a:rPr>
              <a:t>is </a:t>
            </a:r>
            <a:r>
              <a:rPr sz="2200" spc="-190" dirty="0">
                <a:latin typeface="Arial"/>
                <a:cs typeface="Arial"/>
              </a:rPr>
              <a:t>easy </a:t>
            </a:r>
            <a:r>
              <a:rPr sz="2200" spc="110" dirty="0">
                <a:latin typeface="Arial"/>
                <a:cs typeface="Arial"/>
              </a:rPr>
              <a:t>if </a:t>
            </a:r>
            <a:r>
              <a:rPr sz="2200" spc="-25" dirty="0">
                <a:latin typeface="Arial"/>
                <a:cs typeface="Arial"/>
              </a:rPr>
              <a:t>the </a:t>
            </a:r>
            <a:r>
              <a:rPr sz="2200" spc="-40" dirty="0">
                <a:latin typeface="Arial"/>
                <a:cs typeface="Arial"/>
              </a:rPr>
              <a:t>fields </a:t>
            </a:r>
            <a:r>
              <a:rPr sz="2200" spc="-110" dirty="0">
                <a:latin typeface="Arial"/>
                <a:cs typeface="Arial"/>
              </a:rPr>
              <a:t>have </a:t>
            </a:r>
            <a:r>
              <a:rPr sz="2200" spc="-20" dirty="0">
                <a:latin typeface="Arial"/>
                <a:cs typeface="Arial"/>
              </a:rPr>
              <a:t>fixed</a:t>
            </a:r>
            <a:r>
              <a:rPr sz="2200" spc="-135" dirty="0">
                <a:latin typeface="Arial"/>
                <a:cs typeface="Arial"/>
              </a:rPr>
              <a:t> </a:t>
            </a:r>
            <a:r>
              <a:rPr sz="2200" spc="-170" dirty="0">
                <a:latin typeface="Arial"/>
                <a:cs typeface="Arial"/>
              </a:rPr>
              <a:t>sizes</a:t>
            </a:r>
            <a:endParaRPr sz="22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50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110" dirty="0">
                <a:latin typeface="Arial"/>
                <a:cs typeface="Arial"/>
              </a:rPr>
              <a:t>e.g.,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1800" spc="-15" dirty="0">
                <a:latin typeface="Courier New"/>
                <a:cs typeface="Courier New"/>
              </a:rPr>
              <a:t>msgStruct</a:t>
            </a:r>
            <a:endParaRPr sz="180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50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60" dirty="0">
                <a:latin typeface="Arial"/>
                <a:cs typeface="Arial"/>
              </a:rPr>
              <a:t>For </a:t>
            </a:r>
            <a:r>
              <a:rPr sz="2200" spc="-5" dirty="0">
                <a:latin typeface="Arial"/>
                <a:cs typeface="Arial"/>
              </a:rPr>
              <a:t>text-string </a:t>
            </a:r>
            <a:r>
              <a:rPr sz="2200" spc="-75" dirty="0">
                <a:latin typeface="Arial"/>
                <a:cs typeface="Arial"/>
              </a:rPr>
              <a:t>representations </a:t>
            </a:r>
            <a:r>
              <a:rPr sz="2200" spc="-90" dirty="0">
                <a:latin typeface="Arial"/>
                <a:cs typeface="Arial"/>
              </a:rPr>
              <a:t>is</a:t>
            </a:r>
            <a:r>
              <a:rPr sz="2200" spc="-145" dirty="0">
                <a:latin typeface="Arial"/>
                <a:cs typeface="Arial"/>
              </a:rPr>
              <a:t> </a:t>
            </a:r>
            <a:r>
              <a:rPr sz="2200" spc="-50" dirty="0">
                <a:latin typeface="Arial"/>
                <a:cs typeface="Arial"/>
              </a:rPr>
              <a:t>harder</a:t>
            </a:r>
            <a:endParaRPr sz="22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9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35" dirty="0">
                <a:latin typeface="Arial"/>
                <a:cs typeface="Arial"/>
              </a:rPr>
              <a:t>Solution: </a:t>
            </a:r>
            <a:r>
              <a:rPr sz="2000" spc="-170" dirty="0">
                <a:latin typeface="Arial"/>
                <a:cs typeface="Arial"/>
              </a:rPr>
              <a:t>use </a:t>
            </a:r>
            <a:r>
              <a:rPr sz="2000" spc="-10" dirty="0">
                <a:latin typeface="Arial"/>
                <a:cs typeface="Arial"/>
              </a:rPr>
              <a:t>of </a:t>
            </a:r>
            <a:r>
              <a:rPr sz="2000" spc="-50" dirty="0">
                <a:latin typeface="Arial"/>
                <a:cs typeface="Arial"/>
              </a:rPr>
              <a:t>appropriate</a:t>
            </a:r>
            <a:r>
              <a:rPr sz="2000" spc="-20" dirty="0">
                <a:latin typeface="Arial"/>
                <a:cs typeface="Arial"/>
              </a:rPr>
              <a:t> delimiters</a:t>
            </a:r>
            <a:endParaRPr sz="2000">
              <a:latin typeface="Arial"/>
              <a:cs typeface="Arial"/>
            </a:endParaRPr>
          </a:p>
          <a:p>
            <a:pPr marL="681990" marR="508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35" dirty="0">
                <a:latin typeface="Arial"/>
                <a:cs typeface="Arial"/>
              </a:rPr>
              <a:t>caution </a:t>
            </a:r>
            <a:r>
              <a:rPr sz="2000" spc="-80" dirty="0">
                <a:latin typeface="Arial"/>
                <a:cs typeface="Arial"/>
              </a:rPr>
              <a:t>is </a:t>
            </a:r>
            <a:r>
              <a:rPr sz="2000" spc="-114" dirty="0">
                <a:latin typeface="Arial"/>
                <a:cs typeface="Arial"/>
              </a:rPr>
              <a:t>needed </a:t>
            </a:r>
            <a:r>
              <a:rPr sz="2000" spc="-90" dirty="0">
                <a:latin typeface="Arial"/>
                <a:cs typeface="Arial"/>
              </a:rPr>
              <a:t>since </a:t>
            </a:r>
            <a:r>
              <a:rPr sz="2000" spc="-229" dirty="0">
                <a:latin typeface="Arial"/>
                <a:cs typeface="Arial"/>
              </a:rPr>
              <a:t>a </a:t>
            </a:r>
            <a:r>
              <a:rPr sz="2000" spc="-25" dirty="0">
                <a:latin typeface="Arial"/>
                <a:cs typeface="Arial"/>
              </a:rPr>
              <a:t>call </a:t>
            </a:r>
            <a:r>
              <a:rPr sz="2000" spc="-10" dirty="0">
                <a:latin typeface="Arial"/>
                <a:cs typeface="Arial"/>
              </a:rPr>
              <a:t>of </a:t>
            </a:r>
            <a:r>
              <a:rPr sz="1800" spc="-5" dirty="0">
                <a:latin typeface="Courier New"/>
                <a:cs typeface="Courier New"/>
              </a:rPr>
              <a:t>recv </a:t>
            </a:r>
            <a:r>
              <a:rPr sz="2000" spc="-75" dirty="0">
                <a:latin typeface="Arial"/>
                <a:cs typeface="Arial"/>
              </a:rPr>
              <a:t>may </a:t>
            </a:r>
            <a:r>
              <a:rPr sz="2000" spc="15" dirty="0">
                <a:latin typeface="Arial"/>
                <a:cs typeface="Arial"/>
              </a:rPr>
              <a:t>return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405" dirty="0">
                <a:latin typeface="Arial"/>
                <a:cs typeface="Arial"/>
              </a:rPr>
              <a:t> </a:t>
            </a:r>
            <a:r>
              <a:rPr sz="2000" spc="-210" dirty="0">
                <a:latin typeface="Arial"/>
                <a:cs typeface="Arial"/>
              </a:rPr>
              <a:t>messages </a:t>
            </a:r>
            <a:r>
              <a:rPr sz="2000" spc="-90" dirty="0">
                <a:latin typeface="Arial"/>
                <a:cs typeface="Arial"/>
              </a:rPr>
              <a:t>sent </a:t>
            </a:r>
            <a:r>
              <a:rPr sz="2000" spc="-15" dirty="0">
                <a:latin typeface="Arial"/>
                <a:cs typeface="Arial"/>
              </a:rPr>
              <a:t>by  </a:t>
            </a:r>
            <a:r>
              <a:rPr sz="2000" spc="20" dirty="0">
                <a:latin typeface="Arial"/>
                <a:cs typeface="Arial"/>
              </a:rPr>
              <a:t>multiple </a:t>
            </a:r>
            <a:r>
              <a:rPr sz="2000" spc="-75" dirty="0">
                <a:latin typeface="Arial"/>
                <a:cs typeface="Arial"/>
              </a:rPr>
              <a:t>calls </a:t>
            </a:r>
            <a:r>
              <a:rPr sz="2000" spc="-10" dirty="0">
                <a:latin typeface="Arial"/>
                <a:cs typeface="Arial"/>
              </a:rPr>
              <a:t>of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send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10653" y="266445"/>
            <a:ext cx="7496809" cy="60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00" spc="-225" dirty="0"/>
              <a:t>Constructing </a:t>
            </a:r>
            <a:r>
              <a:rPr sz="3800" spc="-285" dirty="0"/>
              <a:t>Messages </a:t>
            </a:r>
            <a:r>
              <a:rPr sz="2800" spc="-175" dirty="0"/>
              <a:t>- </a:t>
            </a:r>
            <a:r>
              <a:rPr sz="2800" spc="-215" dirty="0"/>
              <a:t>Framing </a:t>
            </a:r>
            <a:r>
              <a:rPr sz="2800" spc="-240" dirty="0"/>
              <a:t>and</a:t>
            </a:r>
            <a:r>
              <a:rPr sz="2800" spc="-35" dirty="0"/>
              <a:t> </a:t>
            </a:r>
            <a:r>
              <a:rPr sz="2800" spc="-200" dirty="0"/>
              <a:t>Parsing</a:t>
            </a:r>
            <a:endParaRPr sz="28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38145" y="245871"/>
            <a:ext cx="324104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40" dirty="0"/>
              <a:t>Socket</a:t>
            </a:r>
            <a:r>
              <a:rPr sz="4200" spc="-20" dirty="0"/>
              <a:t> </a:t>
            </a:r>
            <a:r>
              <a:rPr sz="4200" spc="-200" dirty="0"/>
              <a:t>Options</a:t>
            </a:r>
            <a:endParaRPr sz="4200"/>
          </a:p>
        </p:txBody>
      </p:sp>
      <p:sp>
        <p:nvSpPr>
          <p:cNvPr id="4" name="object 4"/>
          <p:cNvSpPr txBox="1"/>
          <p:nvPr/>
        </p:nvSpPr>
        <p:spPr>
          <a:xfrm>
            <a:off x="368301" y="1115360"/>
            <a:ext cx="8305800" cy="46422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05765" indent="-342900">
              <a:lnSpc>
                <a:spcPct val="100000"/>
              </a:lnSpc>
              <a:spcBef>
                <a:spcPts val="100"/>
              </a:spcBef>
              <a:buClr>
                <a:srgbClr val="9A6500"/>
              </a:buClr>
              <a:buSzPct val="65000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spc="-5" dirty="0">
                <a:latin typeface="Courier New"/>
                <a:cs typeface="Courier New"/>
              </a:rPr>
              <a:t>getsockopt</a:t>
            </a:r>
            <a:r>
              <a:rPr sz="2800" spc="-695" dirty="0">
                <a:latin typeface="Courier New"/>
                <a:cs typeface="Courier New"/>
              </a:rPr>
              <a:t> </a:t>
            </a:r>
            <a:r>
              <a:rPr sz="2800" spc="-100" dirty="0">
                <a:latin typeface="Arial"/>
                <a:cs typeface="Arial"/>
              </a:rPr>
              <a:t>and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setsockopt</a:t>
            </a:r>
            <a:r>
              <a:rPr sz="2800" spc="-695" dirty="0">
                <a:latin typeface="Courier New"/>
                <a:cs typeface="Courier New"/>
              </a:rPr>
              <a:t> </a:t>
            </a:r>
            <a:r>
              <a:rPr sz="2800" dirty="0">
                <a:latin typeface="Arial"/>
                <a:cs typeface="Arial"/>
              </a:rPr>
              <a:t>allow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socket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options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14" dirty="0">
                <a:latin typeface="Arial"/>
                <a:cs typeface="Arial"/>
              </a:rPr>
              <a:t>values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be  </a:t>
            </a:r>
            <a:r>
              <a:rPr sz="2800" spc="-60" dirty="0">
                <a:latin typeface="Arial"/>
                <a:cs typeface="Arial"/>
              </a:rPr>
              <a:t>queried </a:t>
            </a:r>
            <a:r>
              <a:rPr sz="2800" spc="-100" dirty="0">
                <a:latin typeface="Arial"/>
                <a:cs typeface="Arial"/>
              </a:rPr>
              <a:t>and </a:t>
            </a:r>
            <a:r>
              <a:rPr sz="2800" spc="-120" dirty="0">
                <a:latin typeface="Arial"/>
                <a:cs typeface="Arial"/>
              </a:rPr>
              <a:t>set,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respectively</a:t>
            </a:r>
            <a:endParaRPr sz="28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44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b="1" dirty="0">
                <a:latin typeface="Courier New"/>
                <a:cs typeface="Courier New"/>
              </a:rPr>
              <a:t>int getsockopt (</a:t>
            </a:r>
            <a:r>
              <a:rPr sz="2800" b="1" dirty="0">
                <a:solidFill>
                  <a:srgbClr val="9A6500"/>
                </a:solidFill>
                <a:latin typeface="Courier New"/>
                <a:cs typeface="Courier New"/>
              </a:rPr>
              <a:t>sockid</a:t>
            </a:r>
            <a:r>
              <a:rPr sz="2800" b="1" dirty="0">
                <a:latin typeface="Courier New"/>
                <a:cs typeface="Courier New"/>
              </a:rPr>
              <a:t>, </a:t>
            </a:r>
            <a:r>
              <a:rPr sz="2800" b="1" dirty="0">
                <a:solidFill>
                  <a:srgbClr val="CC9A00"/>
                </a:solidFill>
                <a:latin typeface="Courier New"/>
                <a:cs typeface="Courier New"/>
              </a:rPr>
              <a:t>level</a:t>
            </a:r>
            <a:r>
              <a:rPr sz="2800" b="1" dirty="0">
                <a:latin typeface="Courier New"/>
                <a:cs typeface="Courier New"/>
              </a:rPr>
              <a:t>, </a:t>
            </a:r>
            <a:r>
              <a:rPr sz="2800" b="1" dirty="0">
                <a:solidFill>
                  <a:srgbClr val="A50021"/>
                </a:solidFill>
                <a:latin typeface="Courier New"/>
                <a:cs typeface="Courier New"/>
              </a:rPr>
              <a:t>optName</a:t>
            </a:r>
            <a:r>
              <a:rPr sz="2800" b="1" dirty="0">
                <a:latin typeface="Courier New"/>
                <a:cs typeface="Courier New"/>
              </a:rPr>
              <a:t>, </a:t>
            </a:r>
            <a:r>
              <a:rPr sz="2800" b="1" dirty="0">
                <a:solidFill>
                  <a:srgbClr val="CA6800"/>
                </a:solidFill>
                <a:latin typeface="Courier New"/>
                <a:cs typeface="Courier New"/>
              </a:rPr>
              <a:t>optVal</a:t>
            </a:r>
            <a:r>
              <a:rPr sz="2800" b="1" dirty="0">
                <a:latin typeface="Courier New"/>
                <a:cs typeface="Courier New"/>
              </a:rPr>
              <a:t>, </a:t>
            </a:r>
            <a:r>
              <a:rPr sz="2800" b="1" dirty="0">
                <a:solidFill>
                  <a:srgbClr val="AFBF39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AFBF39"/>
                </a:solidFill>
                <a:latin typeface="Courier New"/>
                <a:cs typeface="Courier New"/>
              </a:rPr>
              <a:t>optLen</a:t>
            </a:r>
            <a:r>
              <a:rPr sz="2800" b="1" spc="-5" dirty="0">
                <a:latin typeface="Courier New"/>
                <a:cs typeface="Courier New"/>
              </a:rPr>
              <a:t>);</a:t>
            </a:r>
            <a:endParaRPr sz="2800" dirty="0">
              <a:latin typeface="Courier New"/>
              <a:cs typeface="Courier New"/>
            </a:endParaRPr>
          </a:p>
          <a:p>
            <a:pPr marL="681990" lvl="1" indent="-325120">
              <a:lnSpc>
                <a:spcPct val="100000"/>
              </a:lnSpc>
              <a:spcBef>
                <a:spcPts val="570"/>
              </a:spcBef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160" dirty="0">
                <a:solidFill>
                  <a:srgbClr val="9A6500"/>
                </a:solidFill>
                <a:latin typeface="Arial"/>
                <a:cs typeface="Arial"/>
              </a:rPr>
              <a:t>sockid</a:t>
            </a:r>
            <a:r>
              <a:rPr sz="2800" spc="-160" dirty="0">
                <a:latin typeface="Arial"/>
                <a:cs typeface="Arial"/>
              </a:rPr>
              <a:t>: </a:t>
            </a:r>
            <a:r>
              <a:rPr sz="2800" spc="-40" dirty="0">
                <a:latin typeface="Arial"/>
                <a:cs typeface="Arial"/>
              </a:rPr>
              <a:t>integer, </a:t>
            </a:r>
            <a:r>
              <a:rPr sz="2800" spc="-95" dirty="0">
                <a:latin typeface="Arial"/>
                <a:cs typeface="Arial"/>
              </a:rPr>
              <a:t>socket</a:t>
            </a:r>
            <a:r>
              <a:rPr sz="2800" spc="15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descriptor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85" dirty="0">
                <a:solidFill>
                  <a:srgbClr val="CC9A00"/>
                </a:solidFill>
                <a:latin typeface="Arial"/>
                <a:cs typeface="Arial"/>
              </a:rPr>
              <a:t>level</a:t>
            </a:r>
            <a:r>
              <a:rPr sz="2800" spc="-85" dirty="0">
                <a:latin typeface="Arial"/>
                <a:cs typeface="Arial"/>
              </a:rPr>
              <a:t>: </a:t>
            </a:r>
            <a:r>
              <a:rPr sz="2800" spc="-40" dirty="0">
                <a:latin typeface="Arial"/>
                <a:cs typeface="Arial"/>
              </a:rPr>
              <a:t>integer,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-80" dirty="0">
                <a:latin typeface="Arial"/>
                <a:cs typeface="Arial"/>
              </a:rPr>
              <a:t>layers </a:t>
            </a:r>
            <a:r>
              <a:rPr sz="2800" spc="-10" dirty="0">
                <a:latin typeface="Arial"/>
                <a:cs typeface="Arial"/>
              </a:rPr>
              <a:t>of </a:t>
            </a:r>
            <a:r>
              <a:rPr sz="2800" spc="-25" dirty="0">
                <a:latin typeface="Arial"/>
                <a:cs typeface="Arial"/>
              </a:rPr>
              <a:t>the protocol </a:t>
            </a:r>
            <a:r>
              <a:rPr sz="2800" spc="-95" dirty="0">
                <a:latin typeface="Arial"/>
                <a:cs typeface="Arial"/>
              </a:rPr>
              <a:t>stack </a:t>
            </a:r>
            <a:r>
              <a:rPr sz="2800" spc="-80" dirty="0">
                <a:latin typeface="Arial"/>
                <a:cs typeface="Arial"/>
              </a:rPr>
              <a:t>(socket, </a:t>
            </a:r>
            <a:r>
              <a:rPr sz="2800" spc="-100" dirty="0">
                <a:latin typeface="Arial"/>
                <a:cs typeface="Arial"/>
              </a:rPr>
              <a:t>TCP,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5" dirty="0">
                <a:latin typeface="Arial"/>
                <a:cs typeface="Arial"/>
              </a:rPr>
              <a:t>IP)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125" dirty="0">
                <a:solidFill>
                  <a:srgbClr val="A50021"/>
                </a:solidFill>
                <a:latin typeface="Arial"/>
                <a:cs typeface="Arial"/>
              </a:rPr>
              <a:t>optName</a:t>
            </a:r>
            <a:r>
              <a:rPr sz="2800" spc="-125" dirty="0">
                <a:latin typeface="Arial"/>
                <a:cs typeface="Arial"/>
              </a:rPr>
              <a:t>: </a:t>
            </a:r>
            <a:r>
              <a:rPr sz="2800" spc="-35" dirty="0">
                <a:latin typeface="Arial"/>
                <a:cs typeface="Arial"/>
              </a:rPr>
              <a:t>integer,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option</a:t>
            </a:r>
            <a:endParaRPr sz="2800" dirty="0">
              <a:latin typeface="Arial"/>
              <a:cs typeface="Arial"/>
            </a:endParaRPr>
          </a:p>
          <a:p>
            <a:pPr marL="681990" marR="498475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85" dirty="0">
                <a:solidFill>
                  <a:srgbClr val="CA6800"/>
                </a:solidFill>
                <a:latin typeface="Arial"/>
                <a:cs typeface="Arial"/>
              </a:rPr>
              <a:t>optVal</a:t>
            </a:r>
            <a:r>
              <a:rPr sz="2800" spc="-85" dirty="0">
                <a:latin typeface="Arial"/>
                <a:cs typeface="Arial"/>
              </a:rPr>
              <a:t>: </a:t>
            </a:r>
            <a:r>
              <a:rPr sz="2800" spc="-5" dirty="0">
                <a:latin typeface="Arial"/>
                <a:cs typeface="Arial"/>
              </a:rPr>
              <a:t>pointer </a:t>
            </a:r>
            <a:r>
              <a:rPr sz="2800" dirty="0">
                <a:latin typeface="Arial"/>
                <a:cs typeface="Arial"/>
              </a:rPr>
              <a:t>to </a:t>
            </a:r>
            <a:r>
              <a:rPr sz="2800" spc="-229" dirty="0">
                <a:latin typeface="Arial"/>
                <a:cs typeface="Arial"/>
              </a:rPr>
              <a:t>a </a:t>
            </a:r>
            <a:r>
              <a:rPr sz="2800" spc="-15" dirty="0">
                <a:latin typeface="Arial"/>
                <a:cs typeface="Arial"/>
              </a:rPr>
              <a:t>buffer; </a:t>
            </a:r>
            <a:r>
              <a:rPr sz="2800" spc="-45" dirty="0">
                <a:latin typeface="Arial"/>
                <a:cs typeface="Arial"/>
              </a:rPr>
              <a:t>upon </a:t>
            </a:r>
            <a:r>
              <a:rPr sz="2800" spc="15" dirty="0">
                <a:latin typeface="Arial"/>
                <a:cs typeface="Arial"/>
              </a:rPr>
              <a:t>return </a:t>
            </a:r>
            <a:r>
              <a:rPr sz="2800" spc="110" dirty="0">
                <a:latin typeface="Arial"/>
                <a:cs typeface="Arial"/>
              </a:rPr>
              <a:t>it </a:t>
            </a:r>
            <a:r>
              <a:rPr sz="2800" spc="-60" dirty="0">
                <a:latin typeface="Arial"/>
                <a:cs typeface="Arial"/>
              </a:rPr>
              <a:t>contains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-65" dirty="0">
                <a:latin typeface="Arial"/>
                <a:cs typeface="Arial"/>
              </a:rPr>
              <a:t>value </a:t>
            </a:r>
            <a:r>
              <a:rPr sz="2800" spc="-10" dirty="0">
                <a:latin typeface="Arial"/>
                <a:cs typeface="Arial"/>
              </a:rPr>
              <a:t>of</a:t>
            </a:r>
            <a:r>
              <a:rPr sz="2800" spc="-22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the  </a:t>
            </a:r>
            <a:r>
              <a:rPr sz="2800" spc="-65" dirty="0">
                <a:latin typeface="Arial"/>
                <a:cs typeface="Arial"/>
              </a:rPr>
              <a:t>specified </a:t>
            </a:r>
            <a:r>
              <a:rPr sz="2800" spc="-5" dirty="0" smtClean="0">
                <a:latin typeface="Arial"/>
                <a:cs typeface="Arial"/>
              </a:rPr>
              <a:t>option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38145" y="245871"/>
            <a:ext cx="324104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40" dirty="0"/>
              <a:t>Socket</a:t>
            </a:r>
            <a:r>
              <a:rPr sz="4200" spc="-20" dirty="0"/>
              <a:t> </a:t>
            </a:r>
            <a:r>
              <a:rPr sz="4200" spc="-200" dirty="0"/>
              <a:t>Options</a:t>
            </a:r>
            <a:endParaRPr sz="4200"/>
          </a:p>
        </p:txBody>
      </p:sp>
      <p:sp>
        <p:nvSpPr>
          <p:cNvPr id="4" name="object 4"/>
          <p:cNvSpPr txBox="1"/>
          <p:nvPr/>
        </p:nvSpPr>
        <p:spPr>
          <a:xfrm>
            <a:off x="368301" y="1428330"/>
            <a:ext cx="8153400" cy="2984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4026535" lvl="1">
              <a:lnSpc>
                <a:spcPct val="119700"/>
              </a:lnSpc>
              <a:spcBef>
                <a:spcPts val="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120" dirty="0" err="1" smtClean="0">
                <a:solidFill>
                  <a:srgbClr val="AFBF39"/>
                </a:solidFill>
                <a:latin typeface="Arial"/>
                <a:cs typeface="Arial"/>
              </a:rPr>
              <a:t>optLen</a:t>
            </a:r>
            <a:r>
              <a:rPr sz="2800" spc="-120" dirty="0">
                <a:latin typeface="Arial"/>
                <a:cs typeface="Arial"/>
              </a:rPr>
              <a:t>: </a:t>
            </a:r>
            <a:r>
              <a:rPr sz="2800" spc="-35" dirty="0">
                <a:latin typeface="Arial"/>
                <a:cs typeface="Arial"/>
              </a:rPr>
              <a:t>integer, </a:t>
            </a:r>
            <a:r>
              <a:rPr sz="2800" spc="30" dirty="0">
                <a:latin typeface="Arial"/>
                <a:cs typeface="Arial"/>
              </a:rPr>
              <a:t>in-out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lang="en-GB" sz="2800" spc="-25" dirty="0" smtClean="0">
                <a:latin typeface="Arial"/>
                <a:cs typeface="Arial"/>
              </a:rPr>
              <a:t> </a:t>
            </a:r>
            <a:r>
              <a:rPr sz="2800" spc="-75" dirty="0" smtClean="0">
                <a:latin typeface="Arial"/>
                <a:cs typeface="Arial"/>
              </a:rPr>
              <a:t>parameter  </a:t>
            </a:r>
            <a:r>
              <a:rPr sz="2800" spc="110" dirty="0">
                <a:latin typeface="Arial"/>
                <a:cs typeface="Arial"/>
              </a:rPr>
              <a:t>it </a:t>
            </a:r>
            <a:r>
              <a:rPr sz="2800" spc="-30" dirty="0">
                <a:latin typeface="Arial"/>
                <a:cs typeface="Arial"/>
              </a:rPr>
              <a:t>returns </a:t>
            </a:r>
            <a:r>
              <a:rPr sz="2800" spc="-15" dirty="0">
                <a:latin typeface="Arial"/>
                <a:cs typeface="Arial"/>
              </a:rPr>
              <a:t>-1 </a:t>
            </a:r>
            <a:r>
              <a:rPr sz="2800" spc="100" dirty="0">
                <a:latin typeface="Arial"/>
                <a:cs typeface="Arial"/>
              </a:rPr>
              <a:t>if</a:t>
            </a:r>
            <a:r>
              <a:rPr sz="2800" spc="-320" dirty="0">
                <a:latin typeface="Arial"/>
                <a:cs typeface="Arial"/>
              </a:rPr>
              <a:t> </a:t>
            </a:r>
            <a:r>
              <a:rPr lang="en-GB" sz="2800" spc="-320" dirty="0" smtClean="0">
                <a:latin typeface="Arial"/>
                <a:cs typeface="Arial"/>
              </a:rPr>
              <a:t>  </a:t>
            </a:r>
            <a:r>
              <a:rPr sz="2800" spc="-105" dirty="0" smtClean="0">
                <a:latin typeface="Arial"/>
                <a:cs typeface="Arial"/>
              </a:rPr>
              <a:t>an </a:t>
            </a:r>
            <a:r>
              <a:rPr sz="2800" dirty="0">
                <a:latin typeface="Arial"/>
                <a:cs typeface="Arial"/>
              </a:rPr>
              <a:t>error </a:t>
            </a:r>
            <a:r>
              <a:rPr sz="2800" spc="-75" dirty="0">
                <a:latin typeface="Arial"/>
                <a:cs typeface="Arial"/>
              </a:rPr>
              <a:t>occured</a:t>
            </a:r>
            <a:endParaRPr sz="28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42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b="1" dirty="0">
                <a:latin typeface="Courier New"/>
                <a:cs typeface="Courier New"/>
              </a:rPr>
              <a:t>int setsockopt (</a:t>
            </a:r>
            <a:r>
              <a:rPr sz="2800" b="1" dirty="0">
                <a:solidFill>
                  <a:srgbClr val="9A6500"/>
                </a:solidFill>
                <a:latin typeface="Courier New"/>
                <a:cs typeface="Courier New"/>
              </a:rPr>
              <a:t>sockid</a:t>
            </a:r>
            <a:r>
              <a:rPr sz="2800" b="1" dirty="0">
                <a:latin typeface="Courier New"/>
                <a:cs typeface="Courier New"/>
              </a:rPr>
              <a:t>, </a:t>
            </a:r>
            <a:r>
              <a:rPr sz="2800" b="1" dirty="0">
                <a:solidFill>
                  <a:srgbClr val="CC9A00"/>
                </a:solidFill>
                <a:latin typeface="Courier New"/>
                <a:cs typeface="Courier New"/>
              </a:rPr>
              <a:t>level</a:t>
            </a:r>
            <a:r>
              <a:rPr sz="2800" b="1" dirty="0">
                <a:latin typeface="Courier New"/>
                <a:cs typeface="Courier New"/>
              </a:rPr>
              <a:t>, </a:t>
            </a:r>
            <a:r>
              <a:rPr sz="2800" b="1" dirty="0">
                <a:solidFill>
                  <a:srgbClr val="A50021"/>
                </a:solidFill>
                <a:latin typeface="Courier New"/>
                <a:cs typeface="Courier New"/>
              </a:rPr>
              <a:t>optName</a:t>
            </a:r>
            <a:r>
              <a:rPr sz="2800" b="1" dirty="0">
                <a:latin typeface="Courier New"/>
                <a:cs typeface="Courier New"/>
              </a:rPr>
              <a:t>, </a:t>
            </a:r>
            <a:r>
              <a:rPr sz="2800" b="1" dirty="0">
                <a:solidFill>
                  <a:srgbClr val="CA6800"/>
                </a:solidFill>
                <a:latin typeface="Courier New"/>
                <a:cs typeface="Courier New"/>
              </a:rPr>
              <a:t>optVal</a:t>
            </a:r>
            <a:r>
              <a:rPr sz="2800" b="1" dirty="0">
                <a:latin typeface="Courier New"/>
                <a:cs typeface="Courier New"/>
              </a:rPr>
              <a:t>, </a:t>
            </a:r>
            <a:r>
              <a:rPr sz="2800" b="1" dirty="0">
                <a:solidFill>
                  <a:srgbClr val="AFBF39"/>
                </a:solidFill>
                <a:latin typeface="Courier New"/>
                <a:cs typeface="Courier New"/>
              </a:rPr>
              <a:t> </a:t>
            </a:r>
            <a:r>
              <a:rPr sz="2800" b="1" spc="-5" dirty="0">
                <a:solidFill>
                  <a:srgbClr val="AFBF39"/>
                </a:solidFill>
                <a:latin typeface="Courier New"/>
                <a:cs typeface="Courier New"/>
              </a:rPr>
              <a:t>optLen</a:t>
            </a:r>
            <a:r>
              <a:rPr sz="2800" b="1" spc="-5" dirty="0">
                <a:latin typeface="Courier New"/>
                <a:cs typeface="Courier New"/>
              </a:rPr>
              <a:t>);</a:t>
            </a:r>
            <a:endParaRPr sz="2800" dirty="0">
              <a:latin typeface="Courier New"/>
              <a:cs typeface="Courier New"/>
            </a:endParaRPr>
          </a:p>
          <a:p>
            <a:pPr marL="681990" lvl="1" indent="-325120">
              <a:lnSpc>
                <a:spcPct val="100000"/>
              </a:lnSpc>
              <a:spcBef>
                <a:spcPts val="57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130" dirty="0">
                <a:solidFill>
                  <a:srgbClr val="AFBF39"/>
                </a:solidFill>
                <a:latin typeface="Arial"/>
                <a:cs typeface="Arial"/>
              </a:rPr>
              <a:t>optLen </a:t>
            </a:r>
            <a:r>
              <a:rPr sz="2800" spc="-80" dirty="0">
                <a:latin typeface="Arial"/>
                <a:cs typeface="Arial"/>
              </a:rPr>
              <a:t>is </a:t>
            </a:r>
            <a:r>
              <a:rPr sz="2800" spc="5" dirty="0">
                <a:latin typeface="Arial"/>
                <a:cs typeface="Arial"/>
              </a:rPr>
              <a:t>now </a:t>
            </a:r>
            <a:r>
              <a:rPr sz="2800" spc="20" dirty="0">
                <a:latin typeface="Arial"/>
                <a:cs typeface="Arial"/>
              </a:rPr>
              <a:t>only </a:t>
            </a:r>
            <a:r>
              <a:rPr sz="2800" spc="-105" dirty="0">
                <a:latin typeface="Arial"/>
                <a:cs typeface="Arial"/>
              </a:rPr>
              <a:t>an </a:t>
            </a:r>
            <a:r>
              <a:rPr sz="2800" spc="25" dirty="0">
                <a:latin typeface="Arial"/>
                <a:cs typeface="Arial"/>
              </a:rPr>
              <a:t>input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75" dirty="0">
                <a:latin typeface="Arial"/>
                <a:cs typeface="Arial"/>
              </a:rPr>
              <a:t>parameter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714" y="1266951"/>
            <a:ext cx="2938780" cy="1040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800" spc="-215" dirty="0"/>
              <a:t>Socket</a:t>
            </a:r>
            <a:r>
              <a:rPr sz="3800" spc="-35" dirty="0"/>
              <a:t> </a:t>
            </a:r>
            <a:r>
              <a:rPr sz="3800" spc="-175" dirty="0"/>
              <a:t>Options</a:t>
            </a:r>
            <a:endParaRPr sz="3800"/>
          </a:p>
          <a:p>
            <a:pPr algn="ctr">
              <a:lnSpc>
                <a:spcPct val="100000"/>
              </a:lnSpc>
              <a:spcBef>
                <a:spcPts val="80"/>
              </a:spcBef>
            </a:pPr>
            <a:r>
              <a:rPr sz="2800" spc="-175" dirty="0"/>
              <a:t>-</a:t>
            </a:r>
            <a:r>
              <a:rPr sz="2800" spc="15" dirty="0"/>
              <a:t> </a:t>
            </a:r>
            <a:r>
              <a:rPr sz="2800" spc="-160" dirty="0"/>
              <a:t>Table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3313569" y="0"/>
            <a:ext cx="5658396" cy="684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05009" y="453644"/>
            <a:ext cx="5459730" cy="226060"/>
          </a:xfrm>
          <a:custGeom>
            <a:avLst/>
            <a:gdLst/>
            <a:ahLst/>
            <a:cxnLst/>
            <a:rect l="l" t="t" r="r" b="b"/>
            <a:pathLst>
              <a:path w="5459730" h="226059">
                <a:moveTo>
                  <a:pt x="5459717" y="188213"/>
                </a:moveTo>
                <a:lnTo>
                  <a:pt x="5459717" y="37337"/>
                </a:lnTo>
                <a:lnTo>
                  <a:pt x="5456778" y="22824"/>
                </a:lnTo>
                <a:lnTo>
                  <a:pt x="5448769" y="10953"/>
                </a:lnTo>
                <a:lnTo>
                  <a:pt x="5436903" y="2940"/>
                </a:lnTo>
                <a:lnTo>
                  <a:pt x="5422392" y="0"/>
                </a:lnTo>
                <a:lnTo>
                  <a:pt x="38100" y="0"/>
                </a:lnTo>
                <a:lnTo>
                  <a:pt x="23145" y="2940"/>
                </a:lnTo>
                <a:lnTo>
                  <a:pt x="11049" y="10953"/>
                </a:lnTo>
                <a:lnTo>
                  <a:pt x="2952" y="22824"/>
                </a:lnTo>
                <a:lnTo>
                  <a:pt x="0" y="37338"/>
                </a:lnTo>
                <a:lnTo>
                  <a:pt x="0" y="188214"/>
                </a:lnTo>
                <a:lnTo>
                  <a:pt x="2952" y="202727"/>
                </a:lnTo>
                <a:lnTo>
                  <a:pt x="11049" y="214598"/>
                </a:lnTo>
                <a:lnTo>
                  <a:pt x="23145" y="222611"/>
                </a:lnTo>
                <a:lnTo>
                  <a:pt x="38100" y="225552"/>
                </a:lnTo>
                <a:lnTo>
                  <a:pt x="5422392" y="225551"/>
                </a:lnTo>
                <a:lnTo>
                  <a:pt x="5436903" y="222611"/>
                </a:lnTo>
                <a:lnTo>
                  <a:pt x="5448769" y="214598"/>
                </a:lnTo>
                <a:lnTo>
                  <a:pt x="5456778" y="202727"/>
                </a:lnTo>
                <a:lnTo>
                  <a:pt x="5459717" y="188213"/>
                </a:lnTo>
                <a:close/>
              </a:path>
            </a:pathLst>
          </a:custGeom>
          <a:solidFill>
            <a:srgbClr val="CA68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05009" y="453644"/>
            <a:ext cx="5459730" cy="226060"/>
          </a:xfrm>
          <a:custGeom>
            <a:avLst/>
            <a:gdLst/>
            <a:ahLst/>
            <a:cxnLst/>
            <a:rect l="l" t="t" r="r" b="b"/>
            <a:pathLst>
              <a:path w="5459730" h="226059">
                <a:moveTo>
                  <a:pt x="38100" y="0"/>
                </a:moveTo>
                <a:lnTo>
                  <a:pt x="23145" y="2940"/>
                </a:lnTo>
                <a:lnTo>
                  <a:pt x="11049" y="10953"/>
                </a:lnTo>
                <a:lnTo>
                  <a:pt x="2952" y="22824"/>
                </a:lnTo>
                <a:lnTo>
                  <a:pt x="0" y="37338"/>
                </a:lnTo>
                <a:lnTo>
                  <a:pt x="0" y="188214"/>
                </a:lnTo>
                <a:lnTo>
                  <a:pt x="2952" y="202727"/>
                </a:lnTo>
                <a:lnTo>
                  <a:pt x="11049" y="214598"/>
                </a:lnTo>
                <a:lnTo>
                  <a:pt x="23145" y="222611"/>
                </a:lnTo>
                <a:lnTo>
                  <a:pt x="38100" y="225552"/>
                </a:lnTo>
                <a:lnTo>
                  <a:pt x="5422392" y="225551"/>
                </a:lnTo>
                <a:lnTo>
                  <a:pt x="5436903" y="222611"/>
                </a:lnTo>
                <a:lnTo>
                  <a:pt x="5448769" y="214598"/>
                </a:lnTo>
                <a:lnTo>
                  <a:pt x="5456778" y="202727"/>
                </a:lnTo>
                <a:lnTo>
                  <a:pt x="5459717" y="188213"/>
                </a:lnTo>
                <a:lnTo>
                  <a:pt x="5459717" y="37337"/>
                </a:lnTo>
                <a:lnTo>
                  <a:pt x="5456778" y="22824"/>
                </a:lnTo>
                <a:lnTo>
                  <a:pt x="5448769" y="10953"/>
                </a:lnTo>
                <a:lnTo>
                  <a:pt x="5436903" y="2940"/>
                </a:lnTo>
                <a:lnTo>
                  <a:pt x="5422392" y="0"/>
                </a:lnTo>
                <a:lnTo>
                  <a:pt x="3810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29393" y="1382522"/>
            <a:ext cx="5424170" cy="936625"/>
          </a:xfrm>
          <a:custGeom>
            <a:avLst/>
            <a:gdLst/>
            <a:ahLst/>
            <a:cxnLst/>
            <a:rect l="l" t="t" r="r" b="b"/>
            <a:pathLst>
              <a:path w="5424170" h="936625">
                <a:moveTo>
                  <a:pt x="5423903" y="780288"/>
                </a:moveTo>
                <a:lnTo>
                  <a:pt x="5423903" y="156209"/>
                </a:lnTo>
                <a:lnTo>
                  <a:pt x="5416004" y="106899"/>
                </a:lnTo>
                <a:lnTo>
                  <a:pt x="5393987" y="64026"/>
                </a:lnTo>
                <a:lnTo>
                  <a:pt x="5360376" y="30187"/>
                </a:lnTo>
                <a:lnTo>
                  <a:pt x="5317691" y="7979"/>
                </a:lnTo>
                <a:lnTo>
                  <a:pt x="5268455" y="0"/>
                </a:lnTo>
                <a:lnTo>
                  <a:pt x="155448" y="0"/>
                </a:lnTo>
                <a:lnTo>
                  <a:pt x="106216" y="7979"/>
                </a:lnTo>
                <a:lnTo>
                  <a:pt x="63532" y="30187"/>
                </a:lnTo>
                <a:lnTo>
                  <a:pt x="29919" y="64026"/>
                </a:lnTo>
                <a:lnTo>
                  <a:pt x="7900" y="106899"/>
                </a:lnTo>
                <a:lnTo>
                  <a:pt x="0" y="156210"/>
                </a:lnTo>
                <a:lnTo>
                  <a:pt x="0" y="780288"/>
                </a:lnTo>
                <a:lnTo>
                  <a:pt x="7900" y="829598"/>
                </a:lnTo>
                <a:lnTo>
                  <a:pt x="29919" y="872471"/>
                </a:lnTo>
                <a:lnTo>
                  <a:pt x="63532" y="906310"/>
                </a:lnTo>
                <a:lnTo>
                  <a:pt x="106216" y="928518"/>
                </a:lnTo>
                <a:lnTo>
                  <a:pt x="155448" y="936498"/>
                </a:lnTo>
                <a:lnTo>
                  <a:pt x="5268455" y="936497"/>
                </a:lnTo>
                <a:lnTo>
                  <a:pt x="5317691" y="928518"/>
                </a:lnTo>
                <a:lnTo>
                  <a:pt x="5360376" y="906310"/>
                </a:lnTo>
                <a:lnTo>
                  <a:pt x="5393987" y="872471"/>
                </a:lnTo>
                <a:lnTo>
                  <a:pt x="5416004" y="829598"/>
                </a:lnTo>
                <a:lnTo>
                  <a:pt x="5423903" y="780288"/>
                </a:lnTo>
                <a:close/>
              </a:path>
            </a:pathLst>
          </a:custGeom>
          <a:solidFill>
            <a:srgbClr val="CA68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29393" y="1382522"/>
            <a:ext cx="5424170" cy="936625"/>
          </a:xfrm>
          <a:custGeom>
            <a:avLst/>
            <a:gdLst/>
            <a:ahLst/>
            <a:cxnLst/>
            <a:rect l="l" t="t" r="r" b="b"/>
            <a:pathLst>
              <a:path w="5424170" h="936625">
                <a:moveTo>
                  <a:pt x="155448" y="0"/>
                </a:moveTo>
                <a:lnTo>
                  <a:pt x="106216" y="7979"/>
                </a:lnTo>
                <a:lnTo>
                  <a:pt x="63532" y="30187"/>
                </a:lnTo>
                <a:lnTo>
                  <a:pt x="29919" y="64026"/>
                </a:lnTo>
                <a:lnTo>
                  <a:pt x="7900" y="106899"/>
                </a:lnTo>
                <a:lnTo>
                  <a:pt x="0" y="156210"/>
                </a:lnTo>
                <a:lnTo>
                  <a:pt x="0" y="780288"/>
                </a:lnTo>
                <a:lnTo>
                  <a:pt x="7900" y="829598"/>
                </a:lnTo>
                <a:lnTo>
                  <a:pt x="29919" y="872471"/>
                </a:lnTo>
                <a:lnTo>
                  <a:pt x="63532" y="906310"/>
                </a:lnTo>
                <a:lnTo>
                  <a:pt x="106216" y="928518"/>
                </a:lnTo>
                <a:lnTo>
                  <a:pt x="155448" y="936498"/>
                </a:lnTo>
                <a:lnTo>
                  <a:pt x="5268455" y="936497"/>
                </a:lnTo>
                <a:lnTo>
                  <a:pt x="5317691" y="928518"/>
                </a:lnTo>
                <a:lnTo>
                  <a:pt x="5360376" y="906310"/>
                </a:lnTo>
                <a:lnTo>
                  <a:pt x="5393987" y="872471"/>
                </a:lnTo>
                <a:lnTo>
                  <a:pt x="5416004" y="829598"/>
                </a:lnTo>
                <a:lnTo>
                  <a:pt x="5423903" y="780288"/>
                </a:lnTo>
                <a:lnTo>
                  <a:pt x="5423903" y="156209"/>
                </a:lnTo>
                <a:lnTo>
                  <a:pt x="5416004" y="106899"/>
                </a:lnTo>
                <a:lnTo>
                  <a:pt x="5393987" y="64026"/>
                </a:lnTo>
                <a:lnTo>
                  <a:pt x="5360376" y="30187"/>
                </a:lnTo>
                <a:lnTo>
                  <a:pt x="5317691" y="7979"/>
                </a:lnTo>
                <a:lnTo>
                  <a:pt x="5268455" y="0"/>
                </a:lnTo>
                <a:lnTo>
                  <a:pt x="155448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421011" y="2856992"/>
            <a:ext cx="5521960" cy="226060"/>
          </a:xfrm>
          <a:custGeom>
            <a:avLst/>
            <a:gdLst/>
            <a:ahLst/>
            <a:cxnLst/>
            <a:rect l="l" t="t" r="r" b="b"/>
            <a:pathLst>
              <a:path w="5521959" h="226060">
                <a:moveTo>
                  <a:pt x="5521439" y="188213"/>
                </a:moveTo>
                <a:lnTo>
                  <a:pt x="5521439" y="38100"/>
                </a:lnTo>
                <a:lnTo>
                  <a:pt x="5518500" y="23145"/>
                </a:lnTo>
                <a:lnTo>
                  <a:pt x="5510491" y="11049"/>
                </a:lnTo>
                <a:lnTo>
                  <a:pt x="5498625" y="2952"/>
                </a:lnTo>
                <a:lnTo>
                  <a:pt x="5484114" y="0"/>
                </a:lnTo>
                <a:lnTo>
                  <a:pt x="38100" y="0"/>
                </a:lnTo>
                <a:lnTo>
                  <a:pt x="23145" y="2952"/>
                </a:lnTo>
                <a:lnTo>
                  <a:pt x="11049" y="11049"/>
                </a:lnTo>
                <a:lnTo>
                  <a:pt x="2952" y="23145"/>
                </a:lnTo>
                <a:lnTo>
                  <a:pt x="0" y="38100"/>
                </a:lnTo>
                <a:lnTo>
                  <a:pt x="0" y="188214"/>
                </a:lnTo>
                <a:lnTo>
                  <a:pt x="2952" y="202727"/>
                </a:lnTo>
                <a:lnTo>
                  <a:pt x="11049" y="214598"/>
                </a:lnTo>
                <a:lnTo>
                  <a:pt x="23145" y="222611"/>
                </a:lnTo>
                <a:lnTo>
                  <a:pt x="38100" y="225552"/>
                </a:lnTo>
                <a:lnTo>
                  <a:pt x="5484114" y="225552"/>
                </a:lnTo>
                <a:lnTo>
                  <a:pt x="5498625" y="222611"/>
                </a:lnTo>
                <a:lnTo>
                  <a:pt x="5510491" y="214598"/>
                </a:lnTo>
                <a:lnTo>
                  <a:pt x="5518500" y="202727"/>
                </a:lnTo>
                <a:lnTo>
                  <a:pt x="5521439" y="188213"/>
                </a:lnTo>
                <a:close/>
              </a:path>
            </a:pathLst>
          </a:custGeom>
          <a:solidFill>
            <a:srgbClr val="CA68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21011" y="2856992"/>
            <a:ext cx="5521960" cy="226060"/>
          </a:xfrm>
          <a:custGeom>
            <a:avLst/>
            <a:gdLst/>
            <a:ahLst/>
            <a:cxnLst/>
            <a:rect l="l" t="t" r="r" b="b"/>
            <a:pathLst>
              <a:path w="5521959" h="226060">
                <a:moveTo>
                  <a:pt x="38100" y="0"/>
                </a:moveTo>
                <a:lnTo>
                  <a:pt x="23145" y="2952"/>
                </a:lnTo>
                <a:lnTo>
                  <a:pt x="11049" y="11049"/>
                </a:lnTo>
                <a:lnTo>
                  <a:pt x="2952" y="23145"/>
                </a:lnTo>
                <a:lnTo>
                  <a:pt x="0" y="38100"/>
                </a:lnTo>
                <a:lnTo>
                  <a:pt x="0" y="188214"/>
                </a:lnTo>
                <a:lnTo>
                  <a:pt x="2952" y="202727"/>
                </a:lnTo>
                <a:lnTo>
                  <a:pt x="11049" y="214598"/>
                </a:lnTo>
                <a:lnTo>
                  <a:pt x="23145" y="222611"/>
                </a:lnTo>
                <a:lnTo>
                  <a:pt x="38100" y="225552"/>
                </a:lnTo>
                <a:lnTo>
                  <a:pt x="5484114" y="225552"/>
                </a:lnTo>
                <a:lnTo>
                  <a:pt x="5498625" y="222611"/>
                </a:lnTo>
                <a:lnTo>
                  <a:pt x="5510491" y="214598"/>
                </a:lnTo>
                <a:lnTo>
                  <a:pt x="5518500" y="202727"/>
                </a:lnTo>
                <a:lnTo>
                  <a:pt x="5521439" y="188213"/>
                </a:lnTo>
                <a:lnTo>
                  <a:pt x="5521439" y="38100"/>
                </a:lnTo>
                <a:lnTo>
                  <a:pt x="5518500" y="23145"/>
                </a:lnTo>
                <a:lnTo>
                  <a:pt x="5510491" y="11049"/>
                </a:lnTo>
                <a:lnTo>
                  <a:pt x="5498625" y="2952"/>
                </a:lnTo>
                <a:lnTo>
                  <a:pt x="5484114" y="0"/>
                </a:lnTo>
                <a:lnTo>
                  <a:pt x="3810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24059" y="4749800"/>
            <a:ext cx="5521960" cy="660400"/>
          </a:xfrm>
          <a:custGeom>
            <a:avLst/>
            <a:gdLst/>
            <a:ahLst/>
            <a:cxnLst/>
            <a:rect l="l" t="t" r="r" b="b"/>
            <a:pathLst>
              <a:path w="5521959" h="660400">
                <a:moveTo>
                  <a:pt x="5521439" y="550163"/>
                </a:moveTo>
                <a:lnTo>
                  <a:pt x="5521439" y="109727"/>
                </a:lnTo>
                <a:lnTo>
                  <a:pt x="5512868" y="66865"/>
                </a:lnTo>
                <a:lnTo>
                  <a:pt x="5489440" y="32003"/>
                </a:lnTo>
                <a:lnTo>
                  <a:pt x="5454579" y="8572"/>
                </a:lnTo>
                <a:lnTo>
                  <a:pt x="5411711" y="0"/>
                </a:lnTo>
                <a:lnTo>
                  <a:pt x="110489" y="0"/>
                </a:lnTo>
                <a:lnTo>
                  <a:pt x="67508" y="8572"/>
                </a:lnTo>
                <a:lnTo>
                  <a:pt x="32385" y="32004"/>
                </a:lnTo>
                <a:lnTo>
                  <a:pt x="8691" y="66865"/>
                </a:lnTo>
                <a:lnTo>
                  <a:pt x="0" y="109728"/>
                </a:lnTo>
                <a:lnTo>
                  <a:pt x="0" y="550164"/>
                </a:lnTo>
                <a:lnTo>
                  <a:pt x="8691" y="593026"/>
                </a:lnTo>
                <a:lnTo>
                  <a:pt x="32385" y="627888"/>
                </a:lnTo>
                <a:lnTo>
                  <a:pt x="67508" y="651319"/>
                </a:lnTo>
                <a:lnTo>
                  <a:pt x="110489" y="659892"/>
                </a:lnTo>
                <a:lnTo>
                  <a:pt x="5411711" y="659891"/>
                </a:lnTo>
                <a:lnTo>
                  <a:pt x="5454579" y="651319"/>
                </a:lnTo>
                <a:lnTo>
                  <a:pt x="5489440" y="627888"/>
                </a:lnTo>
                <a:lnTo>
                  <a:pt x="5512868" y="593026"/>
                </a:lnTo>
                <a:lnTo>
                  <a:pt x="5521439" y="550163"/>
                </a:lnTo>
                <a:close/>
              </a:path>
            </a:pathLst>
          </a:custGeom>
          <a:solidFill>
            <a:srgbClr val="CA6800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24059" y="4749800"/>
            <a:ext cx="5521960" cy="660400"/>
          </a:xfrm>
          <a:custGeom>
            <a:avLst/>
            <a:gdLst/>
            <a:ahLst/>
            <a:cxnLst/>
            <a:rect l="l" t="t" r="r" b="b"/>
            <a:pathLst>
              <a:path w="5521959" h="660400">
                <a:moveTo>
                  <a:pt x="110489" y="0"/>
                </a:moveTo>
                <a:lnTo>
                  <a:pt x="67508" y="8572"/>
                </a:lnTo>
                <a:lnTo>
                  <a:pt x="32385" y="32004"/>
                </a:lnTo>
                <a:lnTo>
                  <a:pt x="8691" y="66865"/>
                </a:lnTo>
                <a:lnTo>
                  <a:pt x="0" y="109728"/>
                </a:lnTo>
                <a:lnTo>
                  <a:pt x="0" y="550164"/>
                </a:lnTo>
                <a:lnTo>
                  <a:pt x="8691" y="593026"/>
                </a:lnTo>
                <a:lnTo>
                  <a:pt x="32385" y="627888"/>
                </a:lnTo>
                <a:lnTo>
                  <a:pt x="67508" y="651319"/>
                </a:lnTo>
                <a:lnTo>
                  <a:pt x="110489" y="659892"/>
                </a:lnTo>
                <a:lnTo>
                  <a:pt x="5411711" y="659891"/>
                </a:lnTo>
                <a:lnTo>
                  <a:pt x="5454579" y="651319"/>
                </a:lnTo>
                <a:lnTo>
                  <a:pt x="5489440" y="627888"/>
                </a:lnTo>
                <a:lnTo>
                  <a:pt x="5512868" y="593026"/>
                </a:lnTo>
                <a:lnTo>
                  <a:pt x="5521439" y="550163"/>
                </a:lnTo>
                <a:lnTo>
                  <a:pt x="5521439" y="109727"/>
                </a:lnTo>
                <a:lnTo>
                  <a:pt x="5512868" y="66865"/>
                </a:lnTo>
                <a:lnTo>
                  <a:pt x="5489440" y="32003"/>
                </a:lnTo>
                <a:lnTo>
                  <a:pt x="5454579" y="8572"/>
                </a:lnTo>
                <a:lnTo>
                  <a:pt x="5411711" y="0"/>
                </a:lnTo>
                <a:lnTo>
                  <a:pt x="110489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57273" y="261873"/>
            <a:ext cx="500443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40" dirty="0"/>
              <a:t>Socket </a:t>
            </a:r>
            <a:r>
              <a:rPr sz="4200" spc="-200" dirty="0"/>
              <a:t>Options </a:t>
            </a:r>
            <a:r>
              <a:rPr sz="3200" spc="-200" dirty="0"/>
              <a:t>-</a:t>
            </a:r>
            <a:r>
              <a:rPr sz="3200" spc="-250" dirty="0"/>
              <a:t> </a:t>
            </a:r>
            <a:r>
              <a:rPr sz="3200" spc="-204" dirty="0"/>
              <a:t>Example</a:t>
            </a:r>
            <a:endParaRPr sz="3200"/>
          </a:p>
        </p:txBody>
      </p:sp>
      <p:sp>
        <p:nvSpPr>
          <p:cNvPr id="8" name="object 8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77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453" y="1250949"/>
            <a:ext cx="807593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400" spc="-75" dirty="0">
                <a:latin typeface="Arial"/>
                <a:cs typeface="Arial"/>
              </a:rPr>
              <a:t>Fetch </a:t>
            </a:r>
            <a:r>
              <a:rPr sz="2400" spc="-100" dirty="0">
                <a:latin typeface="Arial"/>
                <a:cs typeface="Arial"/>
              </a:rPr>
              <a:t>and </a:t>
            </a:r>
            <a:r>
              <a:rPr sz="2400" spc="-15" dirty="0">
                <a:latin typeface="Arial"/>
                <a:cs typeface="Arial"/>
              </a:rPr>
              <a:t>then </a:t>
            </a:r>
            <a:r>
              <a:rPr sz="2400" spc="-65" dirty="0">
                <a:latin typeface="Arial"/>
                <a:cs typeface="Arial"/>
              </a:rPr>
              <a:t>double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current </a:t>
            </a:r>
            <a:r>
              <a:rPr sz="2400" spc="-40" dirty="0">
                <a:latin typeface="Arial"/>
                <a:cs typeface="Arial"/>
              </a:rPr>
              <a:t>number </a:t>
            </a:r>
            <a:r>
              <a:rPr sz="2400" spc="-15" dirty="0">
                <a:latin typeface="Arial"/>
                <a:cs typeface="Arial"/>
              </a:rPr>
              <a:t>of </a:t>
            </a:r>
            <a:r>
              <a:rPr sz="2400" spc="-95" dirty="0">
                <a:latin typeface="Arial"/>
                <a:cs typeface="Arial"/>
              </a:rPr>
              <a:t>bytes </a:t>
            </a:r>
            <a:r>
              <a:rPr sz="2400" spc="75" dirty="0">
                <a:latin typeface="Arial"/>
                <a:cs typeface="Arial"/>
              </a:rPr>
              <a:t>in </a:t>
            </a:r>
            <a:r>
              <a:rPr sz="2400" spc="-25" dirty="0">
                <a:latin typeface="Arial"/>
                <a:cs typeface="Arial"/>
              </a:rPr>
              <a:t>the</a:t>
            </a:r>
            <a:r>
              <a:rPr sz="2400" spc="-365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socket’s  </a:t>
            </a:r>
            <a:r>
              <a:rPr sz="2400" spc="-75" dirty="0">
                <a:latin typeface="Arial"/>
                <a:cs typeface="Arial"/>
              </a:rPr>
              <a:t>receive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buffer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6163" y="2149094"/>
            <a:ext cx="8503920" cy="3861955"/>
          </a:xfrm>
          <a:prstGeom prst="rect">
            <a:avLst/>
          </a:prstGeom>
          <a:ln w="22225">
            <a:solidFill>
              <a:srgbClr val="9966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103505" marR="6477635">
              <a:lnSpc>
                <a:spcPct val="150000"/>
              </a:lnSpc>
            </a:pPr>
            <a:r>
              <a:rPr sz="2800" b="1" spc="-5" dirty="0">
                <a:latin typeface="Courier New"/>
                <a:cs typeface="Courier New"/>
              </a:rPr>
              <a:t>int </a:t>
            </a:r>
            <a:r>
              <a:rPr sz="2800" b="1" spc="-10" dirty="0">
                <a:latin typeface="Courier New"/>
                <a:cs typeface="Courier New"/>
              </a:rPr>
              <a:t>rcvBufferSize;  </a:t>
            </a:r>
            <a:r>
              <a:rPr sz="2800" b="1" spc="-5" dirty="0">
                <a:latin typeface="Courier New"/>
                <a:cs typeface="Courier New"/>
              </a:rPr>
              <a:t>int</a:t>
            </a:r>
            <a:r>
              <a:rPr sz="2800" b="1" spc="-25" dirty="0">
                <a:latin typeface="Courier New"/>
                <a:cs typeface="Courier New"/>
              </a:rPr>
              <a:t> </a:t>
            </a:r>
            <a:r>
              <a:rPr sz="2800" b="1" spc="-10" dirty="0" err="1">
                <a:latin typeface="Courier New"/>
                <a:cs typeface="Courier New"/>
              </a:rPr>
              <a:t>sockOptSize</a:t>
            </a:r>
            <a:r>
              <a:rPr sz="2800" b="1" spc="-10" dirty="0" smtClean="0">
                <a:latin typeface="Courier New"/>
                <a:cs typeface="Courier New"/>
              </a:rPr>
              <a:t>;</a:t>
            </a:r>
            <a:r>
              <a:rPr sz="2800" b="1" spc="-5" dirty="0" smtClean="0">
                <a:latin typeface="Courier New"/>
                <a:cs typeface="Courier New"/>
              </a:rPr>
              <a:t>…</a:t>
            </a:r>
            <a:endParaRPr sz="2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57273" y="261873"/>
            <a:ext cx="500443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40" dirty="0"/>
              <a:t>Socket </a:t>
            </a:r>
            <a:r>
              <a:rPr sz="4200" spc="-200" dirty="0"/>
              <a:t>Options </a:t>
            </a:r>
            <a:r>
              <a:rPr sz="3200" spc="-200" dirty="0"/>
              <a:t>-</a:t>
            </a:r>
            <a:r>
              <a:rPr sz="3200" spc="-250" dirty="0"/>
              <a:t> </a:t>
            </a:r>
            <a:r>
              <a:rPr sz="3200" spc="-204" dirty="0"/>
              <a:t>Example</a:t>
            </a:r>
            <a:endParaRPr sz="3200"/>
          </a:p>
        </p:txBody>
      </p:sp>
      <p:sp>
        <p:nvSpPr>
          <p:cNvPr id="8" name="object 8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78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6163" y="908050"/>
            <a:ext cx="8503920" cy="5208477"/>
          </a:xfrm>
          <a:prstGeom prst="rect">
            <a:avLst/>
          </a:prstGeom>
          <a:ln w="22225">
            <a:solidFill>
              <a:srgbClr val="9966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103505">
              <a:lnSpc>
                <a:spcPct val="150000"/>
              </a:lnSpc>
            </a:pPr>
            <a:r>
              <a:rPr sz="2800" spc="-35" dirty="0" smtClean="0">
                <a:latin typeface="Arial"/>
                <a:cs typeface="Arial"/>
              </a:rPr>
              <a:t>/* </a:t>
            </a:r>
            <a:r>
              <a:rPr sz="2800" spc="-35" dirty="0">
                <a:latin typeface="Arial"/>
                <a:cs typeface="Arial"/>
              </a:rPr>
              <a:t>Retrieve </a:t>
            </a:r>
            <a:r>
              <a:rPr sz="2800" spc="-65" dirty="0">
                <a:latin typeface="Arial"/>
                <a:cs typeface="Arial"/>
              </a:rPr>
              <a:t>and </a:t>
            </a:r>
            <a:r>
              <a:rPr sz="2800" spc="35" dirty="0">
                <a:latin typeface="Arial"/>
                <a:cs typeface="Arial"/>
              </a:rPr>
              <a:t>print </a:t>
            </a:r>
            <a:r>
              <a:rPr sz="2800" spc="-15" dirty="0">
                <a:latin typeface="Arial"/>
                <a:cs typeface="Arial"/>
              </a:rPr>
              <a:t>the </a:t>
            </a:r>
            <a:r>
              <a:rPr sz="2800" spc="-25" dirty="0">
                <a:latin typeface="Arial"/>
                <a:cs typeface="Arial"/>
              </a:rPr>
              <a:t>default </a:t>
            </a:r>
            <a:r>
              <a:rPr sz="2800" spc="-5" dirty="0">
                <a:latin typeface="Arial"/>
                <a:cs typeface="Arial"/>
              </a:rPr>
              <a:t>buffer </a:t>
            </a:r>
            <a:r>
              <a:rPr sz="2800" spc="-80" dirty="0">
                <a:latin typeface="Arial"/>
                <a:cs typeface="Arial"/>
              </a:rPr>
              <a:t>size</a:t>
            </a:r>
            <a:r>
              <a:rPr sz="2800" spc="-18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*/</a:t>
            </a:r>
            <a:endParaRPr sz="2800" dirty="0">
              <a:latin typeface="Arial"/>
              <a:cs typeface="Arial"/>
            </a:endParaRPr>
          </a:p>
          <a:p>
            <a:pPr marL="103505">
              <a:lnSpc>
                <a:spcPct val="150000"/>
              </a:lnSpc>
            </a:pPr>
            <a:r>
              <a:rPr sz="2800" b="1" spc="-10" dirty="0">
                <a:latin typeface="Courier New"/>
                <a:cs typeface="Courier New"/>
              </a:rPr>
              <a:t>sockOptSize </a:t>
            </a:r>
            <a:r>
              <a:rPr sz="2800" b="1" spc="-5" dirty="0">
                <a:latin typeface="Courier New"/>
                <a:cs typeface="Courier New"/>
              </a:rPr>
              <a:t>= </a:t>
            </a:r>
            <a:r>
              <a:rPr sz="2800" b="1" spc="-10" dirty="0">
                <a:latin typeface="Courier New"/>
                <a:cs typeface="Courier New"/>
              </a:rPr>
              <a:t>sizeof(recvBuffSize);</a:t>
            </a:r>
            <a:endParaRPr sz="2800" dirty="0">
              <a:latin typeface="Courier New"/>
              <a:cs typeface="Courier New"/>
            </a:endParaRPr>
          </a:p>
          <a:p>
            <a:pPr marL="422275" marR="97155" indent="-319405">
              <a:lnSpc>
                <a:spcPct val="150000"/>
              </a:lnSpc>
            </a:pPr>
            <a:r>
              <a:rPr sz="2800" b="1" spc="-5" dirty="0">
                <a:latin typeface="Courier New"/>
                <a:cs typeface="Courier New"/>
              </a:rPr>
              <a:t>if </a:t>
            </a:r>
            <a:r>
              <a:rPr sz="2800" b="1" spc="-10" dirty="0">
                <a:latin typeface="Courier New"/>
                <a:cs typeface="Courier New"/>
              </a:rPr>
              <a:t>(</a:t>
            </a:r>
            <a:r>
              <a:rPr sz="2800" b="1" spc="-10" dirty="0">
                <a:solidFill>
                  <a:srgbClr val="CC9A00"/>
                </a:solidFill>
                <a:latin typeface="Courier New"/>
                <a:cs typeface="Courier New"/>
              </a:rPr>
              <a:t>getsockopt</a:t>
            </a:r>
            <a:r>
              <a:rPr sz="2800" b="1" spc="-10" dirty="0">
                <a:latin typeface="Courier New"/>
                <a:cs typeface="Courier New"/>
              </a:rPr>
              <a:t>(sock, </a:t>
            </a:r>
            <a:r>
              <a:rPr sz="2800" b="1" spc="-10" dirty="0">
                <a:solidFill>
                  <a:srgbClr val="9A6500"/>
                </a:solidFill>
                <a:latin typeface="Courier New"/>
                <a:cs typeface="Courier New"/>
              </a:rPr>
              <a:t>SOL_SOCKET</a:t>
            </a:r>
            <a:r>
              <a:rPr sz="2800" b="1" spc="-10" dirty="0">
                <a:latin typeface="Courier New"/>
                <a:cs typeface="Courier New"/>
              </a:rPr>
              <a:t>, </a:t>
            </a:r>
            <a:r>
              <a:rPr sz="2800" b="1" spc="-10" dirty="0">
                <a:solidFill>
                  <a:srgbClr val="CA6800"/>
                </a:solidFill>
                <a:latin typeface="Courier New"/>
                <a:cs typeface="Courier New"/>
              </a:rPr>
              <a:t>SO_RCVBUF</a:t>
            </a:r>
            <a:r>
              <a:rPr sz="2800" b="1" spc="-10" dirty="0">
                <a:latin typeface="Courier New"/>
                <a:cs typeface="Courier New"/>
              </a:rPr>
              <a:t>, &amp;rcvBufferSize, &amp;sockOptSize) </a:t>
            </a:r>
            <a:r>
              <a:rPr sz="2800" b="1" spc="-5" dirty="0">
                <a:latin typeface="Courier New"/>
                <a:cs typeface="Courier New"/>
              </a:rPr>
              <a:t>&lt; </a:t>
            </a:r>
            <a:r>
              <a:rPr sz="2800" b="1" spc="-10" dirty="0">
                <a:latin typeface="Courier New"/>
                <a:cs typeface="Courier New"/>
              </a:rPr>
              <a:t>0)  DieWithError(“getsockopt()</a:t>
            </a:r>
            <a:r>
              <a:rPr sz="2800" b="1" spc="-5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failed”);</a:t>
            </a:r>
            <a:endParaRPr sz="2800" dirty="0">
              <a:latin typeface="Courier New"/>
              <a:cs typeface="Courier New"/>
            </a:endParaRPr>
          </a:p>
          <a:p>
            <a:pPr marL="103505">
              <a:lnSpc>
                <a:spcPct val="150000"/>
              </a:lnSpc>
            </a:pPr>
            <a:r>
              <a:rPr sz="2800" b="1" spc="-10" dirty="0">
                <a:latin typeface="Courier New"/>
                <a:cs typeface="Courier New"/>
              </a:rPr>
              <a:t>printf(“Initial Receive Buffer </a:t>
            </a:r>
            <a:r>
              <a:rPr sz="2800" b="1" spc="-5" dirty="0">
                <a:latin typeface="Courier New"/>
                <a:cs typeface="Courier New"/>
              </a:rPr>
              <a:t>Size: </a:t>
            </a:r>
            <a:r>
              <a:rPr sz="2800" b="1" spc="-10" dirty="0">
                <a:latin typeface="Courier New"/>
                <a:cs typeface="Courier New"/>
              </a:rPr>
              <a:t>%d\n”,</a:t>
            </a:r>
            <a:r>
              <a:rPr sz="2800" b="1" spc="25" dirty="0">
                <a:latin typeface="Courier New"/>
                <a:cs typeface="Courier New"/>
              </a:rPr>
              <a:t> </a:t>
            </a:r>
            <a:r>
              <a:rPr sz="2800" b="1" spc="-10" dirty="0" err="1">
                <a:latin typeface="Courier New"/>
                <a:cs typeface="Courier New"/>
              </a:rPr>
              <a:t>rcvBufferSize</a:t>
            </a:r>
            <a:r>
              <a:rPr sz="2800" b="1" spc="-10" dirty="0" smtClean="0">
                <a:latin typeface="Courier New"/>
                <a:cs typeface="Courier New"/>
              </a:rPr>
              <a:t>);</a:t>
            </a:r>
            <a:endParaRPr sz="2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57273" y="261873"/>
            <a:ext cx="500443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40" dirty="0"/>
              <a:t>Socket </a:t>
            </a:r>
            <a:r>
              <a:rPr sz="4200" spc="-200" dirty="0"/>
              <a:t>Options </a:t>
            </a:r>
            <a:r>
              <a:rPr sz="3200" spc="-200" dirty="0"/>
              <a:t>-</a:t>
            </a:r>
            <a:r>
              <a:rPr sz="3200" spc="-250" dirty="0"/>
              <a:t> </a:t>
            </a:r>
            <a:r>
              <a:rPr sz="3200" spc="-204" dirty="0"/>
              <a:t>Example</a:t>
            </a:r>
            <a:endParaRPr sz="3200"/>
          </a:p>
        </p:txBody>
      </p:sp>
      <p:sp>
        <p:nvSpPr>
          <p:cNvPr id="8" name="object 8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79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6163" y="908050"/>
            <a:ext cx="8503920" cy="5208477"/>
          </a:xfrm>
          <a:prstGeom prst="rect">
            <a:avLst/>
          </a:prstGeom>
          <a:ln w="22225">
            <a:solidFill>
              <a:srgbClr val="9966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103505">
              <a:lnSpc>
                <a:spcPct val="150000"/>
              </a:lnSpc>
            </a:pPr>
            <a:r>
              <a:rPr sz="2800" spc="-35" dirty="0" smtClean="0">
                <a:latin typeface="Arial"/>
                <a:cs typeface="Arial"/>
              </a:rPr>
              <a:t>/* </a:t>
            </a:r>
            <a:r>
              <a:rPr sz="2800" spc="-35" dirty="0">
                <a:latin typeface="Arial"/>
                <a:cs typeface="Arial"/>
              </a:rPr>
              <a:t>Double </a:t>
            </a:r>
            <a:r>
              <a:rPr sz="2800" spc="-15" dirty="0">
                <a:latin typeface="Arial"/>
                <a:cs typeface="Arial"/>
              </a:rPr>
              <a:t>the </a:t>
            </a:r>
            <a:r>
              <a:rPr sz="2800" spc="-5" dirty="0">
                <a:latin typeface="Arial"/>
                <a:cs typeface="Arial"/>
              </a:rPr>
              <a:t>buffer </a:t>
            </a:r>
            <a:r>
              <a:rPr sz="2800" spc="-85" dirty="0">
                <a:latin typeface="Arial"/>
                <a:cs typeface="Arial"/>
              </a:rPr>
              <a:t>size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*/</a:t>
            </a:r>
            <a:endParaRPr sz="2800" dirty="0">
              <a:latin typeface="Arial"/>
              <a:cs typeface="Arial"/>
            </a:endParaRPr>
          </a:p>
          <a:p>
            <a:pPr marL="103505">
              <a:lnSpc>
                <a:spcPct val="150000"/>
              </a:lnSpc>
            </a:pPr>
            <a:r>
              <a:rPr sz="2800" b="1" spc="-10" dirty="0">
                <a:latin typeface="Courier New"/>
                <a:cs typeface="Courier New"/>
              </a:rPr>
              <a:t>recvBufferSize </a:t>
            </a:r>
            <a:r>
              <a:rPr sz="2800" b="1" spc="-5" dirty="0">
                <a:latin typeface="Courier New"/>
                <a:cs typeface="Courier New"/>
              </a:rPr>
              <a:t>*=</a:t>
            </a:r>
            <a:r>
              <a:rPr sz="2800" b="1" spc="-10" dirty="0">
                <a:latin typeface="Courier New"/>
                <a:cs typeface="Courier New"/>
              </a:rPr>
              <a:t> 2</a:t>
            </a:r>
            <a:r>
              <a:rPr sz="2800" b="1" spc="-10" dirty="0" smtClean="0">
                <a:latin typeface="Courier New"/>
                <a:cs typeface="Courier New"/>
              </a:rPr>
              <a:t>;</a:t>
            </a:r>
            <a:endParaRPr sz="2800" dirty="0">
              <a:latin typeface="Times New Roman"/>
              <a:cs typeface="Times New Roman"/>
            </a:endParaRPr>
          </a:p>
          <a:p>
            <a:pPr marL="103505">
              <a:lnSpc>
                <a:spcPct val="150000"/>
              </a:lnSpc>
            </a:pPr>
            <a:r>
              <a:rPr sz="2800" spc="-35" dirty="0">
                <a:latin typeface="Arial"/>
                <a:cs typeface="Arial"/>
              </a:rPr>
              <a:t>/* </a:t>
            </a:r>
            <a:r>
              <a:rPr sz="2800" spc="-110" dirty="0">
                <a:latin typeface="Arial"/>
                <a:cs typeface="Arial"/>
              </a:rPr>
              <a:t>Set </a:t>
            </a:r>
            <a:r>
              <a:rPr sz="2800" spc="-15" dirty="0">
                <a:latin typeface="Arial"/>
                <a:cs typeface="Arial"/>
              </a:rPr>
              <a:t>the </a:t>
            </a:r>
            <a:r>
              <a:rPr sz="2800" spc="-5" dirty="0">
                <a:latin typeface="Arial"/>
                <a:cs typeface="Arial"/>
              </a:rPr>
              <a:t>buffer </a:t>
            </a:r>
            <a:r>
              <a:rPr sz="2800" spc="-80" dirty="0">
                <a:latin typeface="Arial"/>
                <a:cs typeface="Arial"/>
              </a:rPr>
              <a:t>size </a:t>
            </a:r>
            <a:r>
              <a:rPr sz="2800" dirty="0">
                <a:latin typeface="Arial"/>
                <a:cs typeface="Arial"/>
              </a:rPr>
              <a:t>to </a:t>
            </a:r>
            <a:r>
              <a:rPr sz="2800" spc="-20" dirty="0">
                <a:latin typeface="Arial"/>
                <a:cs typeface="Arial"/>
              </a:rPr>
              <a:t>new </a:t>
            </a:r>
            <a:r>
              <a:rPr sz="2800" spc="-45" dirty="0">
                <a:latin typeface="Arial"/>
                <a:cs typeface="Arial"/>
              </a:rPr>
              <a:t>value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*/</a:t>
            </a:r>
            <a:endParaRPr sz="2800" dirty="0">
              <a:latin typeface="Arial"/>
              <a:cs typeface="Arial"/>
            </a:endParaRPr>
          </a:p>
          <a:p>
            <a:pPr marL="1698625" marR="2118360" indent="-1595755">
              <a:lnSpc>
                <a:spcPct val="150000"/>
              </a:lnSpc>
            </a:pPr>
            <a:r>
              <a:rPr sz="2800" b="1" spc="-5" dirty="0" smtClean="0">
                <a:latin typeface="Courier New"/>
                <a:cs typeface="Courier New"/>
              </a:rPr>
              <a:t>if </a:t>
            </a:r>
            <a:r>
              <a:rPr sz="2800" b="1" spc="-10" dirty="0" smtClean="0">
                <a:latin typeface="Courier New"/>
                <a:cs typeface="Courier New"/>
              </a:rPr>
              <a:t>(</a:t>
            </a:r>
            <a:r>
              <a:rPr sz="2800" b="1" spc="-10" dirty="0" err="1" smtClean="0">
                <a:solidFill>
                  <a:srgbClr val="CC9A00"/>
                </a:solidFill>
                <a:latin typeface="Courier New"/>
                <a:cs typeface="Courier New"/>
              </a:rPr>
              <a:t>setsockopt</a:t>
            </a:r>
            <a:r>
              <a:rPr sz="2800" b="1" spc="-10" dirty="0" smtClean="0">
                <a:latin typeface="Courier New"/>
                <a:cs typeface="Courier New"/>
              </a:rPr>
              <a:t>(sock, </a:t>
            </a:r>
            <a:r>
              <a:rPr lang="en-GB" sz="2800" b="1" spc="-10" dirty="0" smtClean="0">
                <a:latin typeface="Courier New"/>
                <a:cs typeface="Courier New"/>
              </a:rPr>
              <a:t>SOL_SOCKET, SO_RCVBUF, </a:t>
            </a:r>
          </a:p>
          <a:p>
            <a:pPr marL="1698625" marR="2118360" indent="-1595755">
              <a:lnSpc>
                <a:spcPct val="150000"/>
              </a:lnSpc>
            </a:pPr>
            <a:r>
              <a:rPr sz="2800" b="1" spc="-10" dirty="0" smtClean="0">
                <a:latin typeface="Courier New"/>
                <a:cs typeface="Courier New"/>
              </a:rPr>
              <a:t>&amp;</a:t>
            </a:r>
            <a:r>
              <a:rPr sz="2800" b="1" spc="-10" dirty="0">
                <a:latin typeface="Courier New"/>
                <a:cs typeface="Courier New"/>
              </a:rPr>
              <a:t>rcvBufferSize,  </a:t>
            </a:r>
            <a:endParaRPr lang="en-GB" sz="2800" b="1" spc="-10" dirty="0" smtClean="0">
              <a:latin typeface="Courier New"/>
              <a:cs typeface="Courier New"/>
            </a:endParaRPr>
          </a:p>
          <a:p>
            <a:pPr marL="1698625" marR="2118360" indent="-1595755">
              <a:lnSpc>
                <a:spcPct val="150000"/>
              </a:lnSpc>
            </a:pPr>
            <a:r>
              <a:rPr sz="2800" b="1" spc="-10" dirty="0" err="1" smtClean="0">
                <a:latin typeface="Courier New"/>
                <a:cs typeface="Courier New"/>
              </a:rPr>
              <a:t>sizeof</a:t>
            </a:r>
            <a:r>
              <a:rPr sz="2800" b="1" spc="-10" dirty="0" smtClean="0">
                <a:latin typeface="Courier New"/>
                <a:cs typeface="Courier New"/>
              </a:rPr>
              <a:t>(</a:t>
            </a:r>
            <a:r>
              <a:rPr sz="2800" b="1" spc="-10" dirty="0" err="1" smtClean="0">
                <a:latin typeface="Courier New"/>
                <a:cs typeface="Courier New"/>
              </a:rPr>
              <a:t>rcvBufferSize</a:t>
            </a:r>
            <a:r>
              <a:rPr sz="2800" b="1" spc="-10" dirty="0">
                <a:latin typeface="Courier New"/>
                <a:cs typeface="Courier New"/>
              </a:rPr>
              <a:t>)) </a:t>
            </a:r>
            <a:r>
              <a:rPr sz="2800" b="1" spc="-5" dirty="0" smtClean="0">
                <a:latin typeface="Courier New"/>
                <a:cs typeface="Courier New"/>
              </a:rPr>
              <a:t>&lt; </a:t>
            </a:r>
            <a:r>
              <a:rPr sz="2800" b="1" spc="-10" dirty="0">
                <a:latin typeface="Courier New"/>
                <a:cs typeface="Courier New"/>
              </a:rPr>
              <a:t>0)</a:t>
            </a:r>
            <a:endParaRPr sz="2800" dirty="0">
              <a:latin typeface="Courier New"/>
              <a:cs typeface="Courier New"/>
            </a:endParaRPr>
          </a:p>
          <a:p>
            <a:pPr marL="210185">
              <a:lnSpc>
                <a:spcPct val="150000"/>
              </a:lnSpc>
            </a:pPr>
            <a:r>
              <a:rPr sz="2800" b="1" spc="-10" dirty="0">
                <a:latin typeface="Courier New"/>
                <a:cs typeface="Courier New"/>
              </a:rPr>
              <a:t>DieWithError(“getsockopt() failed”);</a:t>
            </a:r>
            <a:endParaRPr sz="2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57273" y="261873"/>
            <a:ext cx="500443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40" dirty="0"/>
              <a:t>Socket </a:t>
            </a:r>
            <a:r>
              <a:rPr sz="4200" spc="-200" dirty="0"/>
              <a:t>Options </a:t>
            </a:r>
            <a:r>
              <a:rPr sz="3200" spc="-200" dirty="0"/>
              <a:t>-</a:t>
            </a:r>
            <a:r>
              <a:rPr sz="3200" spc="-250" dirty="0"/>
              <a:t> </a:t>
            </a:r>
            <a:r>
              <a:rPr sz="3200" spc="-204" dirty="0"/>
              <a:t>Example</a:t>
            </a:r>
            <a:endParaRPr sz="3200"/>
          </a:p>
        </p:txBody>
      </p:sp>
      <p:sp>
        <p:nvSpPr>
          <p:cNvPr id="8" name="object 8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80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453" y="1250949"/>
            <a:ext cx="807593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400" spc="-75" dirty="0">
                <a:latin typeface="Arial"/>
                <a:cs typeface="Arial"/>
              </a:rPr>
              <a:t>Fetch </a:t>
            </a:r>
            <a:r>
              <a:rPr sz="2400" spc="-100" dirty="0">
                <a:latin typeface="Arial"/>
                <a:cs typeface="Arial"/>
              </a:rPr>
              <a:t>and </a:t>
            </a:r>
            <a:r>
              <a:rPr sz="2400" spc="-15" dirty="0">
                <a:latin typeface="Arial"/>
                <a:cs typeface="Arial"/>
              </a:rPr>
              <a:t>then </a:t>
            </a:r>
            <a:r>
              <a:rPr sz="2400" spc="-65" dirty="0">
                <a:latin typeface="Arial"/>
                <a:cs typeface="Arial"/>
              </a:rPr>
              <a:t>double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current </a:t>
            </a:r>
            <a:r>
              <a:rPr sz="2400" spc="-40" dirty="0">
                <a:latin typeface="Arial"/>
                <a:cs typeface="Arial"/>
              </a:rPr>
              <a:t>number </a:t>
            </a:r>
            <a:r>
              <a:rPr sz="2400" spc="-15" dirty="0">
                <a:latin typeface="Arial"/>
                <a:cs typeface="Arial"/>
              </a:rPr>
              <a:t>of </a:t>
            </a:r>
            <a:r>
              <a:rPr sz="2400" spc="-95" dirty="0">
                <a:latin typeface="Arial"/>
                <a:cs typeface="Arial"/>
              </a:rPr>
              <a:t>bytes </a:t>
            </a:r>
            <a:r>
              <a:rPr sz="2400" spc="75" dirty="0">
                <a:latin typeface="Arial"/>
                <a:cs typeface="Arial"/>
              </a:rPr>
              <a:t>in </a:t>
            </a:r>
            <a:r>
              <a:rPr sz="2400" spc="-25" dirty="0">
                <a:latin typeface="Arial"/>
                <a:cs typeface="Arial"/>
              </a:rPr>
              <a:t>the</a:t>
            </a:r>
            <a:r>
              <a:rPr sz="2400" spc="-365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socket’s  </a:t>
            </a:r>
            <a:r>
              <a:rPr sz="2400" spc="-75" dirty="0">
                <a:latin typeface="Arial"/>
                <a:cs typeface="Arial"/>
              </a:rPr>
              <a:t>receive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buffer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6163" y="2149094"/>
            <a:ext cx="8503920" cy="3518535"/>
          </a:xfrm>
          <a:prstGeom prst="rect">
            <a:avLst/>
          </a:prstGeom>
          <a:ln w="22225">
            <a:solidFill>
              <a:srgbClr val="9966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103505" marR="6477635">
              <a:lnSpc>
                <a:spcPct val="100000"/>
              </a:lnSpc>
              <a:spcBef>
                <a:spcPts val="295"/>
              </a:spcBef>
            </a:pPr>
            <a:r>
              <a:rPr sz="1400" b="1" spc="-5" dirty="0">
                <a:latin typeface="Courier New"/>
                <a:cs typeface="Courier New"/>
              </a:rPr>
              <a:t>int </a:t>
            </a:r>
            <a:r>
              <a:rPr sz="1400" b="1" spc="-10" dirty="0">
                <a:latin typeface="Courier New"/>
                <a:cs typeface="Courier New"/>
              </a:rPr>
              <a:t>rcvBufferSize;  </a:t>
            </a:r>
            <a:r>
              <a:rPr sz="1400" b="1" spc="-5" dirty="0">
                <a:latin typeface="Courier New"/>
                <a:cs typeface="Courier New"/>
              </a:rPr>
              <a:t>int</a:t>
            </a:r>
            <a:r>
              <a:rPr sz="1400" b="1" spc="-2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sockOptSize;</a:t>
            </a:r>
            <a:endParaRPr sz="1400" dirty="0">
              <a:latin typeface="Courier New"/>
              <a:cs typeface="Courier New"/>
            </a:endParaRPr>
          </a:p>
          <a:p>
            <a:pPr marL="103505">
              <a:lnSpc>
                <a:spcPts val="1675"/>
              </a:lnSpc>
            </a:pPr>
            <a:r>
              <a:rPr sz="1400" b="1" spc="-5" dirty="0">
                <a:latin typeface="Courier New"/>
                <a:cs typeface="Courier New"/>
              </a:rPr>
              <a:t>…</a:t>
            </a:r>
            <a:endParaRPr sz="1400" dirty="0">
              <a:latin typeface="Courier New"/>
              <a:cs typeface="Courier New"/>
            </a:endParaRPr>
          </a:p>
          <a:p>
            <a:pPr marL="103505">
              <a:lnSpc>
                <a:spcPts val="1664"/>
              </a:lnSpc>
              <a:spcBef>
                <a:spcPts val="20"/>
              </a:spcBef>
            </a:pPr>
            <a:r>
              <a:rPr sz="1400" spc="-35" dirty="0">
                <a:latin typeface="Arial"/>
                <a:cs typeface="Arial"/>
              </a:rPr>
              <a:t>/* Retrieve </a:t>
            </a:r>
            <a:r>
              <a:rPr sz="1400" spc="-65" dirty="0">
                <a:latin typeface="Arial"/>
                <a:cs typeface="Arial"/>
              </a:rPr>
              <a:t>and </a:t>
            </a:r>
            <a:r>
              <a:rPr sz="1400" spc="35" dirty="0">
                <a:latin typeface="Arial"/>
                <a:cs typeface="Arial"/>
              </a:rPr>
              <a:t>print </a:t>
            </a:r>
            <a:r>
              <a:rPr sz="1400" spc="-15" dirty="0">
                <a:latin typeface="Arial"/>
                <a:cs typeface="Arial"/>
              </a:rPr>
              <a:t>the </a:t>
            </a:r>
            <a:r>
              <a:rPr sz="1400" spc="-25" dirty="0">
                <a:latin typeface="Arial"/>
                <a:cs typeface="Arial"/>
              </a:rPr>
              <a:t>default </a:t>
            </a:r>
            <a:r>
              <a:rPr sz="1400" spc="-5" dirty="0">
                <a:latin typeface="Arial"/>
                <a:cs typeface="Arial"/>
              </a:rPr>
              <a:t>buffer </a:t>
            </a:r>
            <a:r>
              <a:rPr sz="1400" spc="-80" dirty="0">
                <a:latin typeface="Arial"/>
                <a:cs typeface="Arial"/>
              </a:rPr>
              <a:t>size</a:t>
            </a:r>
            <a:r>
              <a:rPr sz="1400" spc="-180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*/</a:t>
            </a:r>
            <a:endParaRPr sz="1400" dirty="0">
              <a:latin typeface="Arial"/>
              <a:cs typeface="Arial"/>
            </a:endParaRPr>
          </a:p>
          <a:p>
            <a:pPr marL="103505">
              <a:lnSpc>
                <a:spcPts val="1660"/>
              </a:lnSpc>
            </a:pPr>
            <a:r>
              <a:rPr sz="1400" b="1" spc="-10" dirty="0">
                <a:latin typeface="Courier New"/>
                <a:cs typeface="Courier New"/>
              </a:rPr>
              <a:t>sockOptSize </a:t>
            </a:r>
            <a:r>
              <a:rPr sz="1400" b="1" spc="-5" dirty="0">
                <a:latin typeface="Courier New"/>
                <a:cs typeface="Courier New"/>
              </a:rPr>
              <a:t>= </a:t>
            </a:r>
            <a:r>
              <a:rPr sz="1400" b="1" spc="-10" dirty="0">
                <a:latin typeface="Courier New"/>
                <a:cs typeface="Courier New"/>
              </a:rPr>
              <a:t>sizeof(recvBuffSize);</a:t>
            </a:r>
            <a:endParaRPr sz="1400" dirty="0">
              <a:latin typeface="Courier New"/>
              <a:cs typeface="Courier New"/>
            </a:endParaRPr>
          </a:p>
          <a:p>
            <a:pPr marL="422275" marR="97155" indent="-319405">
              <a:lnSpc>
                <a:spcPts val="1670"/>
              </a:lnSpc>
              <a:spcBef>
                <a:spcPts val="60"/>
              </a:spcBef>
            </a:pPr>
            <a:r>
              <a:rPr sz="1400" b="1" spc="-5" dirty="0">
                <a:latin typeface="Courier New"/>
                <a:cs typeface="Courier New"/>
              </a:rPr>
              <a:t>if </a:t>
            </a:r>
            <a:r>
              <a:rPr sz="1400" b="1" spc="-10" dirty="0">
                <a:latin typeface="Courier New"/>
                <a:cs typeface="Courier New"/>
              </a:rPr>
              <a:t>(</a:t>
            </a:r>
            <a:r>
              <a:rPr sz="1400" b="1" spc="-10" dirty="0">
                <a:solidFill>
                  <a:srgbClr val="CC9A00"/>
                </a:solidFill>
                <a:latin typeface="Courier New"/>
                <a:cs typeface="Courier New"/>
              </a:rPr>
              <a:t>getsockopt</a:t>
            </a:r>
            <a:r>
              <a:rPr sz="1400" b="1" spc="-10" dirty="0">
                <a:latin typeface="Courier New"/>
                <a:cs typeface="Courier New"/>
              </a:rPr>
              <a:t>(sock, </a:t>
            </a:r>
            <a:r>
              <a:rPr sz="1400" b="1" spc="-10" dirty="0">
                <a:solidFill>
                  <a:srgbClr val="9A6500"/>
                </a:solidFill>
                <a:latin typeface="Courier New"/>
                <a:cs typeface="Courier New"/>
              </a:rPr>
              <a:t>SOL_SOCKET</a:t>
            </a:r>
            <a:r>
              <a:rPr sz="1400" b="1" spc="-10" dirty="0">
                <a:latin typeface="Courier New"/>
                <a:cs typeface="Courier New"/>
              </a:rPr>
              <a:t>, </a:t>
            </a:r>
            <a:r>
              <a:rPr sz="1400" b="1" spc="-10" dirty="0">
                <a:solidFill>
                  <a:srgbClr val="CA6800"/>
                </a:solidFill>
                <a:latin typeface="Courier New"/>
                <a:cs typeface="Courier New"/>
              </a:rPr>
              <a:t>SO_RCVBUF</a:t>
            </a:r>
            <a:r>
              <a:rPr sz="1400" b="1" spc="-10" dirty="0">
                <a:latin typeface="Courier New"/>
                <a:cs typeface="Courier New"/>
              </a:rPr>
              <a:t>, &amp;rcvBufferSize, &amp;sockOptSize) </a:t>
            </a:r>
            <a:r>
              <a:rPr sz="1400" b="1" spc="-5" dirty="0">
                <a:latin typeface="Courier New"/>
                <a:cs typeface="Courier New"/>
              </a:rPr>
              <a:t>&lt; </a:t>
            </a:r>
            <a:r>
              <a:rPr sz="1400" b="1" spc="-10" dirty="0">
                <a:latin typeface="Courier New"/>
                <a:cs typeface="Courier New"/>
              </a:rPr>
              <a:t>0)  DieWithError(“getsockopt()</a:t>
            </a:r>
            <a:r>
              <a:rPr sz="1400" b="1" spc="-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failed”);</a:t>
            </a:r>
            <a:endParaRPr sz="1400" dirty="0">
              <a:latin typeface="Courier New"/>
              <a:cs typeface="Courier New"/>
            </a:endParaRPr>
          </a:p>
          <a:p>
            <a:pPr marL="103505">
              <a:lnSpc>
                <a:spcPts val="1630"/>
              </a:lnSpc>
            </a:pPr>
            <a:r>
              <a:rPr sz="1400" b="1" spc="-10" dirty="0">
                <a:latin typeface="Courier New"/>
                <a:cs typeface="Courier New"/>
              </a:rPr>
              <a:t>printf(“Initial Receive Buffer </a:t>
            </a:r>
            <a:r>
              <a:rPr sz="1400" b="1" spc="-5" dirty="0">
                <a:latin typeface="Courier New"/>
                <a:cs typeface="Courier New"/>
              </a:rPr>
              <a:t>Size: </a:t>
            </a:r>
            <a:r>
              <a:rPr sz="1400" b="1" spc="-10" dirty="0">
                <a:latin typeface="Courier New"/>
                <a:cs typeface="Courier New"/>
              </a:rPr>
              <a:t>%d\n”,</a:t>
            </a:r>
            <a:r>
              <a:rPr sz="1400" b="1" spc="2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rcvBufferSize);</a:t>
            </a:r>
            <a:endParaRPr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103505">
              <a:lnSpc>
                <a:spcPts val="1664"/>
              </a:lnSpc>
            </a:pPr>
            <a:r>
              <a:rPr sz="1400" spc="-35" dirty="0">
                <a:latin typeface="Arial"/>
                <a:cs typeface="Arial"/>
              </a:rPr>
              <a:t>/* Double </a:t>
            </a:r>
            <a:r>
              <a:rPr sz="1400" spc="-15" dirty="0">
                <a:latin typeface="Arial"/>
                <a:cs typeface="Arial"/>
              </a:rPr>
              <a:t>the </a:t>
            </a:r>
            <a:r>
              <a:rPr sz="1400" spc="-5" dirty="0">
                <a:latin typeface="Arial"/>
                <a:cs typeface="Arial"/>
              </a:rPr>
              <a:t>buffer </a:t>
            </a:r>
            <a:r>
              <a:rPr sz="1400" spc="-85" dirty="0">
                <a:latin typeface="Arial"/>
                <a:cs typeface="Arial"/>
              </a:rPr>
              <a:t>size</a:t>
            </a:r>
            <a:r>
              <a:rPr sz="1400" spc="-114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*/</a:t>
            </a:r>
            <a:endParaRPr sz="1400" dirty="0">
              <a:latin typeface="Arial"/>
              <a:cs typeface="Arial"/>
            </a:endParaRPr>
          </a:p>
          <a:p>
            <a:pPr marL="103505">
              <a:lnSpc>
                <a:spcPts val="1664"/>
              </a:lnSpc>
            </a:pPr>
            <a:r>
              <a:rPr sz="1400" b="1" spc="-10" dirty="0">
                <a:latin typeface="Courier New"/>
                <a:cs typeface="Courier New"/>
              </a:rPr>
              <a:t>recvBufferSize </a:t>
            </a:r>
            <a:r>
              <a:rPr sz="1400" b="1" spc="-5" dirty="0">
                <a:latin typeface="Courier New"/>
                <a:cs typeface="Courier New"/>
              </a:rPr>
              <a:t>*=</a:t>
            </a:r>
            <a:r>
              <a:rPr sz="1400" b="1" spc="-10" dirty="0">
                <a:latin typeface="Courier New"/>
                <a:cs typeface="Courier New"/>
              </a:rPr>
              <a:t> 2;</a:t>
            </a:r>
            <a:endParaRPr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103505">
              <a:lnSpc>
                <a:spcPts val="1670"/>
              </a:lnSpc>
            </a:pPr>
            <a:r>
              <a:rPr sz="1400" spc="-35" dirty="0">
                <a:latin typeface="Arial"/>
                <a:cs typeface="Arial"/>
              </a:rPr>
              <a:t>/* </a:t>
            </a:r>
            <a:r>
              <a:rPr sz="1400" spc="-110" dirty="0">
                <a:latin typeface="Arial"/>
                <a:cs typeface="Arial"/>
              </a:rPr>
              <a:t>Set </a:t>
            </a:r>
            <a:r>
              <a:rPr sz="1400" spc="-15" dirty="0">
                <a:latin typeface="Arial"/>
                <a:cs typeface="Arial"/>
              </a:rPr>
              <a:t>the </a:t>
            </a:r>
            <a:r>
              <a:rPr sz="1400" spc="-5" dirty="0">
                <a:latin typeface="Arial"/>
                <a:cs typeface="Arial"/>
              </a:rPr>
              <a:t>buffer </a:t>
            </a:r>
            <a:r>
              <a:rPr sz="1400" spc="-80" dirty="0">
                <a:latin typeface="Arial"/>
                <a:cs typeface="Arial"/>
              </a:rPr>
              <a:t>size </a:t>
            </a:r>
            <a:r>
              <a:rPr sz="1400" dirty="0">
                <a:latin typeface="Arial"/>
                <a:cs typeface="Arial"/>
              </a:rPr>
              <a:t>to </a:t>
            </a:r>
            <a:r>
              <a:rPr sz="1400" spc="-20" dirty="0">
                <a:latin typeface="Arial"/>
                <a:cs typeface="Arial"/>
              </a:rPr>
              <a:t>new </a:t>
            </a:r>
            <a:r>
              <a:rPr sz="1400" spc="-45" dirty="0">
                <a:latin typeface="Arial"/>
                <a:cs typeface="Arial"/>
              </a:rPr>
              <a:t>value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*/</a:t>
            </a:r>
            <a:endParaRPr sz="1400" dirty="0">
              <a:latin typeface="Arial"/>
              <a:cs typeface="Arial"/>
            </a:endParaRPr>
          </a:p>
          <a:p>
            <a:pPr marL="1698625" marR="2118360" indent="-1595755">
              <a:lnSpc>
                <a:spcPts val="1670"/>
              </a:lnSpc>
              <a:spcBef>
                <a:spcPts val="50"/>
              </a:spcBef>
            </a:pPr>
            <a:r>
              <a:rPr sz="1400" b="1" spc="-5" dirty="0">
                <a:latin typeface="Courier New"/>
                <a:cs typeface="Courier New"/>
              </a:rPr>
              <a:t>if </a:t>
            </a:r>
            <a:r>
              <a:rPr sz="1400" b="1" spc="-10" dirty="0">
                <a:latin typeface="Courier New"/>
                <a:cs typeface="Courier New"/>
              </a:rPr>
              <a:t>(</a:t>
            </a:r>
            <a:r>
              <a:rPr sz="1400" b="1" spc="-10" dirty="0">
                <a:solidFill>
                  <a:srgbClr val="CC9A00"/>
                </a:solidFill>
                <a:latin typeface="Courier New"/>
                <a:cs typeface="Courier New"/>
              </a:rPr>
              <a:t>setsockopt</a:t>
            </a:r>
            <a:r>
              <a:rPr sz="1400" b="1" spc="-10" dirty="0">
                <a:latin typeface="Courier New"/>
                <a:cs typeface="Courier New"/>
              </a:rPr>
              <a:t>(sock, </a:t>
            </a:r>
            <a:r>
              <a:rPr sz="1400" b="1" spc="-10" dirty="0">
                <a:solidFill>
                  <a:srgbClr val="9A6500"/>
                </a:solidFill>
                <a:latin typeface="Courier New"/>
                <a:cs typeface="Courier New"/>
              </a:rPr>
              <a:t>SOL_SOCKET</a:t>
            </a:r>
            <a:r>
              <a:rPr sz="1400" b="1" spc="-10" dirty="0">
                <a:latin typeface="Courier New"/>
                <a:cs typeface="Courier New"/>
              </a:rPr>
              <a:t>, </a:t>
            </a:r>
            <a:r>
              <a:rPr sz="1400" b="1" spc="-10" dirty="0">
                <a:solidFill>
                  <a:srgbClr val="CA6800"/>
                </a:solidFill>
                <a:latin typeface="Courier New"/>
                <a:cs typeface="Courier New"/>
              </a:rPr>
              <a:t>SO_RCVBUF</a:t>
            </a:r>
            <a:r>
              <a:rPr sz="1400" b="1" spc="-10" dirty="0">
                <a:latin typeface="Courier New"/>
                <a:cs typeface="Courier New"/>
              </a:rPr>
              <a:t>, &amp;rcvBufferSize,  sizeof(rcvBufferSize)) </a:t>
            </a:r>
            <a:r>
              <a:rPr sz="1400" b="1" spc="-5" dirty="0">
                <a:latin typeface="Courier New"/>
                <a:cs typeface="Courier New"/>
              </a:rPr>
              <a:t>&lt; </a:t>
            </a:r>
            <a:r>
              <a:rPr sz="1400" b="1" spc="-10" dirty="0">
                <a:latin typeface="Courier New"/>
                <a:cs typeface="Courier New"/>
              </a:rPr>
              <a:t>0)</a:t>
            </a:r>
            <a:endParaRPr sz="1400" dirty="0">
              <a:latin typeface="Courier New"/>
              <a:cs typeface="Courier New"/>
            </a:endParaRPr>
          </a:p>
          <a:p>
            <a:pPr marL="210185">
              <a:lnSpc>
                <a:spcPts val="1625"/>
              </a:lnSpc>
            </a:pPr>
            <a:r>
              <a:rPr sz="1400" b="1" spc="-10" dirty="0">
                <a:latin typeface="Courier New"/>
                <a:cs typeface="Courier New"/>
              </a:rPr>
              <a:t>DieWithError(“getsockopt() failed”);</a:t>
            </a:r>
            <a:endParaRPr sz="1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66951" y="261873"/>
            <a:ext cx="558546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50" dirty="0"/>
              <a:t>Dealing </a:t>
            </a:r>
            <a:r>
              <a:rPr sz="4200" spc="-275" dirty="0"/>
              <a:t>with </a:t>
            </a:r>
            <a:r>
              <a:rPr sz="4200" spc="-240" dirty="0"/>
              <a:t>blocking</a:t>
            </a:r>
            <a:r>
              <a:rPr sz="4200" spc="-165" dirty="0"/>
              <a:t> </a:t>
            </a:r>
            <a:r>
              <a:rPr sz="4200" spc="-270" dirty="0"/>
              <a:t>calls</a:t>
            </a:r>
            <a:endParaRPr sz="4200"/>
          </a:p>
        </p:txBody>
      </p:sp>
      <p:sp>
        <p:nvSpPr>
          <p:cNvPr id="7" name="object 7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81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453" y="1250949"/>
            <a:ext cx="7726045" cy="55681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CC9A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spc="-15" dirty="0">
                <a:latin typeface="Arial"/>
                <a:cs typeface="Arial"/>
              </a:rPr>
              <a:t>Many of </a:t>
            </a:r>
            <a:r>
              <a:rPr sz="2800" spc="-25" dirty="0">
                <a:latin typeface="Arial"/>
                <a:cs typeface="Arial"/>
              </a:rPr>
              <a:t>the functions </a:t>
            </a:r>
            <a:r>
              <a:rPr sz="2800" spc="-55" dirty="0">
                <a:latin typeface="Arial"/>
                <a:cs typeface="Arial"/>
              </a:rPr>
              <a:t>we </a:t>
            </a:r>
            <a:r>
              <a:rPr sz="2800" spc="-155" dirty="0">
                <a:latin typeface="Arial"/>
                <a:cs typeface="Arial"/>
              </a:rPr>
              <a:t>saw </a:t>
            </a:r>
            <a:r>
              <a:rPr sz="2800" spc="-25" dirty="0">
                <a:latin typeface="Arial"/>
                <a:cs typeface="Arial"/>
              </a:rPr>
              <a:t>block </a:t>
            </a:r>
            <a:r>
              <a:rPr sz="2800" spc="-20" dirty="0">
                <a:latin typeface="Arial"/>
                <a:cs typeface="Arial"/>
              </a:rPr>
              <a:t>(by </a:t>
            </a:r>
            <a:r>
              <a:rPr sz="2800" spc="-35" dirty="0">
                <a:latin typeface="Arial"/>
                <a:cs typeface="Arial"/>
              </a:rPr>
              <a:t>default) </a:t>
            </a:r>
            <a:r>
              <a:rPr sz="2800" spc="70" dirty="0">
                <a:latin typeface="Arial"/>
                <a:cs typeface="Arial"/>
              </a:rPr>
              <a:t>until </a:t>
            </a:r>
            <a:r>
              <a:rPr sz="2800" spc="-250" dirty="0">
                <a:latin typeface="Arial"/>
                <a:cs typeface="Arial"/>
              </a:rPr>
              <a:t>a </a:t>
            </a:r>
            <a:r>
              <a:rPr sz="2800" spc="-35" dirty="0">
                <a:latin typeface="Arial"/>
                <a:cs typeface="Arial"/>
              </a:rPr>
              <a:t>certain  </a:t>
            </a:r>
            <a:r>
              <a:rPr sz="2800" spc="-60" dirty="0">
                <a:latin typeface="Arial"/>
                <a:cs typeface="Arial"/>
              </a:rPr>
              <a:t>event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90"/>
              </a:spcBef>
              <a:buClr>
                <a:srgbClr val="3B822F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160" dirty="0">
                <a:latin typeface="Arial"/>
                <a:cs typeface="Arial"/>
              </a:rPr>
              <a:t>accept</a:t>
            </a:r>
            <a:r>
              <a:rPr sz="2800" spc="-160" dirty="0">
                <a:latin typeface="Arial"/>
                <a:cs typeface="Arial"/>
              </a:rPr>
              <a:t>: </a:t>
            </a:r>
            <a:r>
              <a:rPr sz="2800" spc="65" dirty="0">
                <a:latin typeface="Arial"/>
                <a:cs typeface="Arial"/>
              </a:rPr>
              <a:t>until </a:t>
            </a:r>
            <a:r>
              <a:rPr sz="2800" spc="-229" dirty="0">
                <a:latin typeface="Arial"/>
                <a:cs typeface="Arial"/>
              </a:rPr>
              <a:t>a </a:t>
            </a:r>
            <a:r>
              <a:rPr sz="2800" spc="-35" dirty="0">
                <a:latin typeface="Arial"/>
                <a:cs typeface="Arial"/>
              </a:rPr>
              <a:t>connection </a:t>
            </a:r>
            <a:r>
              <a:rPr sz="2800" spc="-145" dirty="0">
                <a:latin typeface="Arial"/>
                <a:cs typeface="Arial"/>
              </a:rPr>
              <a:t>comes</a:t>
            </a:r>
            <a:r>
              <a:rPr sz="2800" spc="-245" dirty="0">
                <a:latin typeface="Arial"/>
                <a:cs typeface="Arial"/>
              </a:rPr>
              <a:t> </a:t>
            </a:r>
            <a:r>
              <a:rPr sz="2800" spc="70" dirty="0">
                <a:latin typeface="Arial"/>
                <a:cs typeface="Arial"/>
              </a:rPr>
              <a:t>in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3B822F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140" dirty="0">
                <a:latin typeface="Arial"/>
                <a:cs typeface="Arial"/>
              </a:rPr>
              <a:t>connect</a:t>
            </a:r>
            <a:r>
              <a:rPr sz="2800" spc="-140" dirty="0">
                <a:latin typeface="Arial"/>
                <a:cs typeface="Arial"/>
              </a:rPr>
              <a:t>: </a:t>
            </a:r>
            <a:r>
              <a:rPr sz="2800" spc="65" dirty="0">
                <a:latin typeface="Arial"/>
                <a:cs typeface="Arial"/>
              </a:rPr>
              <a:t>until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-35" dirty="0">
                <a:latin typeface="Arial"/>
                <a:cs typeface="Arial"/>
              </a:rPr>
              <a:t>connection </a:t>
            </a:r>
            <a:r>
              <a:rPr sz="2800" spc="-80" dirty="0">
                <a:latin typeface="Arial"/>
                <a:cs typeface="Arial"/>
              </a:rPr>
              <a:t>is</a:t>
            </a:r>
            <a:r>
              <a:rPr sz="2800" spc="-160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established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80"/>
              </a:spcBef>
              <a:buClr>
                <a:srgbClr val="3B822F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120" dirty="0">
                <a:latin typeface="Arial"/>
                <a:cs typeface="Arial"/>
              </a:rPr>
              <a:t>recv</a:t>
            </a:r>
            <a:r>
              <a:rPr sz="2800" spc="-120" dirty="0">
                <a:latin typeface="Arial"/>
                <a:cs typeface="Arial"/>
              </a:rPr>
              <a:t>, </a:t>
            </a:r>
            <a:r>
              <a:rPr sz="2800" b="1" spc="-110" dirty="0">
                <a:latin typeface="Arial"/>
                <a:cs typeface="Arial"/>
              </a:rPr>
              <a:t>recvfrom</a:t>
            </a:r>
            <a:r>
              <a:rPr sz="2800" spc="-110" dirty="0">
                <a:latin typeface="Arial"/>
                <a:cs typeface="Arial"/>
              </a:rPr>
              <a:t>: </a:t>
            </a:r>
            <a:r>
              <a:rPr sz="2800" spc="60" dirty="0">
                <a:latin typeface="Arial"/>
                <a:cs typeface="Arial"/>
              </a:rPr>
              <a:t>until </a:t>
            </a:r>
            <a:r>
              <a:rPr sz="2800" spc="-229" dirty="0">
                <a:latin typeface="Arial"/>
                <a:cs typeface="Arial"/>
              </a:rPr>
              <a:t>a </a:t>
            </a:r>
            <a:r>
              <a:rPr sz="2800" spc="-80" dirty="0">
                <a:latin typeface="Arial"/>
                <a:cs typeface="Arial"/>
              </a:rPr>
              <a:t>packet </a:t>
            </a:r>
            <a:r>
              <a:rPr sz="2800" spc="-15" dirty="0">
                <a:latin typeface="Arial"/>
                <a:cs typeface="Arial"/>
              </a:rPr>
              <a:t>(of </a:t>
            </a:r>
            <a:r>
              <a:rPr sz="2800" spc="-85" dirty="0">
                <a:latin typeface="Arial"/>
                <a:cs typeface="Arial"/>
              </a:rPr>
              <a:t>data) is</a:t>
            </a:r>
            <a:r>
              <a:rPr sz="2800" spc="-204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received</a:t>
            </a:r>
            <a:endParaRPr sz="2800" dirty="0">
              <a:latin typeface="Arial"/>
              <a:cs typeface="Arial"/>
            </a:endParaRPr>
          </a:p>
          <a:p>
            <a:pPr marL="1035050" lvl="2" indent="-351155">
              <a:lnSpc>
                <a:spcPct val="100000"/>
              </a:lnSpc>
              <a:spcBef>
                <a:spcPts val="450"/>
              </a:spcBef>
              <a:buClr>
                <a:srgbClr val="CC9A00"/>
              </a:buClr>
              <a:buSzPct val="66666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2800" dirty="0">
                <a:latin typeface="Arial"/>
                <a:cs typeface="Arial"/>
              </a:rPr>
              <a:t>what </a:t>
            </a:r>
            <a:r>
              <a:rPr sz="2800" spc="90" dirty="0">
                <a:latin typeface="Arial"/>
                <a:cs typeface="Arial"/>
              </a:rPr>
              <a:t>if </a:t>
            </a:r>
            <a:r>
              <a:rPr sz="2800" spc="-204" dirty="0">
                <a:latin typeface="Arial"/>
                <a:cs typeface="Arial"/>
              </a:rPr>
              <a:t>a </a:t>
            </a:r>
            <a:r>
              <a:rPr sz="2800" spc="-65" dirty="0">
                <a:latin typeface="Arial"/>
                <a:cs typeface="Arial"/>
              </a:rPr>
              <a:t>packet </a:t>
            </a:r>
            <a:r>
              <a:rPr sz="2800" spc="-75" dirty="0">
                <a:latin typeface="Arial"/>
                <a:cs typeface="Arial"/>
              </a:rPr>
              <a:t>is </a:t>
            </a:r>
            <a:r>
              <a:rPr sz="2800" spc="-35" dirty="0">
                <a:latin typeface="Arial"/>
                <a:cs typeface="Arial"/>
              </a:rPr>
              <a:t>lost </a:t>
            </a:r>
            <a:r>
              <a:rPr sz="2800" spc="40" dirty="0">
                <a:latin typeface="Arial"/>
                <a:cs typeface="Arial"/>
              </a:rPr>
              <a:t>(in </a:t>
            </a:r>
            <a:r>
              <a:rPr sz="2800" spc="-85" dirty="0">
                <a:latin typeface="Arial"/>
                <a:cs typeface="Arial"/>
              </a:rPr>
              <a:t>datagram</a:t>
            </a:r>
            <a:r>
              <a:rPr sz="2800" spc="-165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socket)?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59"/>
              </a:spcBef>
              <a:buClr>
                <a:srgbClr val="3B822F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180" dirty="0">
                <a:latin typeface="Arial"/>
                <a:cs typeface="Arial"/>
              </a:rPr>
              <a:t>send</a:t>
            </a:r>
            <a:r>
              <a:rPr sz="2800" spc="-180" dirty="0">
                <a:latin typeface="Arial"/>
                <a:cs typeface="Arial"/>
              </a:rPr>
              <a:t>:  </a:t>
            </a:r>
            <a:r>
              <a:rPr sz="2800" spc="70" dirty="0">
                <a:latin typeface="Arial"/>
                <a:cs typeface="Arial"/>
              </a:rPr>
              <a:t>until </a:t>
            </a:r>
            <a:r>
              <a:rPr sz="2800" spc="-105" dirty="0">
                <a:latin typeface="Arial"/>
                <a:cs typeface="Arial"/>
              </a:rPr>
              <a:t>data </a:t>
            </a:r>
            <a:r>
              <a:rPr sz="2800" spc="-110" dirty="0">
                <a:latin typeface="Arial"/>
                <a:cs typeface="Arial"/>
              </a:rPr>
              <a:t>are </a:t>
            </a:r>
            <a:r>
              <a:rPr sz="2800" spc="-105" dirty="0">
                <a:latin typeface="Arial"/>
                <a:cs typeface="Arial"/>
              </a:rPr>
              <a:t>pushed </a:t>
            </a:r>
            <a:r>
              <a:rPr sz="2800" spc="35" dirty="0">
                <a:latin typeface="Arial"/>
                <a:cs typeface="Arial"/>
              </a:rPr>
              <a:t>into </a:t>
            </a:r>
            <a:r>
              <a:rPr sz="2800" spc="-100" dirty="0">
                <a:latin typeface="Arial"/>
                <a:cs typeface="Arial"/>
              </a:rPr>
              <a:t>socket’s</a:t>
            </a:r>
            <a:r>
              <a:rPr sz="2800" spc="-3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buffer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3B822F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160" dirty="0">
                <a:latin typeface="Arial"/>
                <a:cs typeface="Arial"/>
              </a:rPr>
              <a:t>sendto</a:t>
            </a:r>
            <a:r>
              <a:rPr sz="2800" spc="-160" dirty="0">
                <a:latin typeface="Arial"/>
                <a:cs typeface="Arial"/>
              </a:rPr>
              <a:t>: </a:t>
            </a:r>
            <a:r>
              <a:rPr sz="2800" spc="65" dirty="0">
                <a:latin typeface="Arial"/>
                <a:cs typeface="Arial"/>
              </a:rPr>
              <a:t>until </a:t>
            </a:r>
            <a:r>
              <a:rPr sz="2800" spc="-105" dirty="0">
                <a:latin typeface="Arial"/>
                <a:cs typeface="Arial"/>
              </a:rPr>
              <a:t>data </a:t>
            </a:r>
            <a:r>
              <a:rPr sz="2800" spc="-110" dirty="0">
                <a:latin typeface="Arial"/>
                <a:cs typeface="Arial"/>
              </a:rPr>
              <a:t>are </a:t>
            </a:r>
            <a:r>
              <a:rPr sz="2800" spc="-40" dirty="0">
                <a:latin typeface="Arial"/>
                <a:cs typeface="Arial"/>
              </a:rPr>
              <a:t>given </a:t>
            </a:r>
            <a:r>
              <a:rPr sz="2800" dirty="0">
                <a:latin typeface="Arial"/>
                <a:cs typeface="Arial"/>
              </a:rPr>
              <a:t>to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10" dirty="0">
                <a:latin typeface="Arial"/>
                <a:cs typeface="Arial"/>
              </a:rPr>
              <a:t>network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14" dirty="0" smtClean="0">
                <a:latin typeface="Arial"/>
                <a:cs typeface="Arial"/>
              </a:rPr>
              <a:t>subsystem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66951" y="261873"/>
            <a:ext cx="558546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50" dirty="0"/>
              <a:t>Dealing </a:t>
            </a:r>
            <a:r>
              <a:rPr sz="4200" spc="-275" dirty="0"/>
              <a:t>with </a:t>
            </a:r>
            <a:r>
              <a:rPr sz="4200" spc="-240" dirty="0"/>
              <a:t>blocking</a:t>
            </a:r>
            <a:r>
              <a:rPr sz="4200" spc="-165" dirty="0"/>
              <a:t> </a:t>
            </a:r>
            <a:r>
              <a:rPr sz="4200" spc="-270" dirty="0"/>
              <a:t>calls</a:t>
            </a:r>
            <a:endParaRPr sz="4200"/>
          </a:p>
        </p:txBody>
      </p:sp>
      <p:sp>
        <p:nvSpPr>
          <p:cNvPr id="7" name="object 7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82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453" y="1250949"/>
            <a:ext cx="7726045" cy="3349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0"/>
              </a:spcBef>
              <a:buClr>
                <a:srgbClr val="CC9A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endParaRPr lang="en-GB" sz="2800" spc="-60" dirty="0" smtClean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Clr>
                <a:srgbClr val="CC9A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spc="-60" dirty="0" smtClean="0">
                <a:latin typeface="Arial"/>
                <a:cs typeface="Arial"/>
              </a:rPr>
              <a:t>For </a:t>
            </a:r>
            <a:r>
              <a:rPr sz="2800" b="1" spc="-165" dirty="0">
                <a:solidFill>
                  <a:srgbClr val="9A6500"/>
                </a:solidFill>
                <a:latin typeface="Arial"/>
                <a:cs typeface="Arial"/>
              </a:rPr>
              <a:t>simple </a:t>
            </a:r>
            <a:r>
              <a:rPr sz="2800" b="1" spc="-185" dirty="0">
                <a:solidFill>
                  <a:srgbClr val="9A6500"/>
                </a:solidFill>
                <a:latin typeface="Arial"/>
                <a:cs typeface="Arial"/>
              </a:rPr>
              <a:t>programs</a:t>
            </a:r>
            <a:r>
              <a:rPr sz="2800" spc="-185" dirty="0">
                <a:latin typeface="Arial"/>
                <a:cs typeface="Arial"/>
              </a:rPr>
              <a:t>, </a:t>
            </a:r>
            <a:r>
              <a:rPr sz="2800" spc="-20" dirty="0">
                <a:latin typeface="Arial"/>
                <a:cs typeface="Arial"/>
              </a:rPr>
              <a:t>blocking </a:t>
            </a:r>
            <a:r>
              <a:rPr sz="2800" spc="-90" dirty="0">
                <a:latin typeface="Arial"/>
                <a:cs typeface="Arial"/>
              </a:rPr>
              <a:t>is</a:t>
            </a:r>
            <a:r>
              <a:rPr sz="2800" spc="85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convenient</a:t>
            </a:r>
            <a:endParaRPr sz="2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25"/>
              </a:spcBef>
              <a:buClr>
                <a:srgbClr val="CC9A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spc="20" dirty="0">
                <a:latin typeface="Arial"/>
                <a:cs typeface="Arial"/>
              </a:rPr>
              <a:t>What </a:t>
            </a:r>
            <a:r>
              <a:rPr sz="2800" spc="-75" dirty="0">
                <a:latin typeface="Arial"/>
                <a:cs typeface="Arial"/>
              </a:rPr>
              <a:t>about </a:t>
            </a:r>
            <a:r>
              <a:rPr sz="2800" spc="-65" dirty="0">
                <a:latin typeface="Arial"/>
                <a:cs typeface="Arial"/>
              </a:rPr>
              <a:t>more </a:t>
            </a:r>
            <a:r>
              <a:rPr sz="2800" b="1" spc="-165" dirty="0">
                <a:solidFill>
                  <a:srgbClr val="CC9A00"/>
                </a:solidFill>
                <a:latin typeface="Arial"/>
                <a:cs typeface="Arial"/>
              </a:rPr>
              <a:t>complex</a:t>
            </a:r>
            <a:r>
              <a:rPr sz="2800" b="1" spc="-160" dirty="0">
                <a:solidFill>
                  <a:srgbClr val="CC9A00"/>
                </a:solidFill>
                <a:latin typeface="Arial"/>
                <a:cs typeface="Arial"/>
              </a:rPr>
              <a:t> </a:t>
            </a:r>
            <a:r>
              <a:rPr sz="2800" b="1" spc="-225" dirty="0">
                <a:solidFill>
                  <a:srgbClr val="CC9A00"/>
                </a:solidFill>
                <a:latin typeface="Arial"/>
                <a:cs typeface="Arial"/>
              </a:rPr>
              <a:t>programs</a:t>
            </a:r>
            <a:r>
              <a:rPr sz="2800" spc="-225" dirty="0">
                <a:latin typeface="Arial"/>
                <a:cs typeface="Arial"/>
              </a:rPr>
              <a:t>?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500"/>
              </a:spcBef>
              <a:buClr>
                <a:srgbClr val="3B822F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20" dirty="0">
                <a:latin typeface="Arial"/>
                <a:cs typeface="Arial"/>
              </a:rPr>
              <a:t>multiple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60" dirty="0">
                <a:latin typeface="Arial"/>
                <a:cs typeface="Arial"/>
              </a:rPr>
              <a:t>connections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0"/>
              </a:spcBef>
              <a:buClr>
                <a:srgbClr val="3B822F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70" dirty="0">
                <a:latin typeface="Arial"/>
                <a:cs typeface="Arial"/>
              </a:rPr>
              <a:t>simultaneous </a:t>
            </a:r>
            <a:r>
              <a:rPr sz="2800" spc="-165" dirty="0">
                <a:latin typeface="Arial"/>
                <a:cs typeface="Arial"/>
              </a:rPr>
              <a:t>sends </a:t>
            </a:r>
            <a:r>
              <a:rPr sz="2800" spc="-90" dirty="0">
                <a:latin typeface="Arial"/>
                <a:cs typeface="Arial"/>
              </a:rPr>
              <a:t>and</a:t>
            </a:r>
            <a:r>
              <a:rPr sz="2800" spc="5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receives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3B822F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50" dirty="0">
                <a:latin typeface="Arial"/>
                <a:cs typeface="Arial"/>
              </a:rPr>
              <a:t>simultaneously </a:t>
            </a:r>
            <a:r>
              <a:rPr sz="2800" spc="-35" dirty="0">
                <a:latin typeface="Arial"/>
                <a:cs typeface="Arial"/>
              </a:rPr>
              <a:t>doing </a:t>
            </a:r>
            <a:r>
              <a:rPr sz="2800" spc="5" dirty="0">
                <a:latin typeface="Arial"/>
                <a:cs typeface="Arial"/>
              </a:rPr>
              <a:t>non-networking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processing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66951" y="261873"/>
            <a:ext cx="558546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50" dirty="0"/>
              <a:t>Dealing </a:t>
            </a:r>
            <a:r>
              <a:rPr sz="4200" spc="-275" dirty="0"/>
              <a:t>with </a:t>
            </a:r>
            <a:r>
              <a:rPr sz="4200" spc="-240" dirty="0"/>
              <a:t>blocking</a:t>
            </a:r>
            <a:r>
              <a:rPr sz="4200" spc="-165" dirty="0"/>
              <a:t> </a:t>
            </a:r>
            <a:r>
              <a:rPr sz="4200" spc="-270" dirty="0"/>
              <a:t>calls</a:t>
            </a:r>
            <a:endParaRPr sz="4200"/>
          </a:p>
        </p:txBody>
      </p:sp>
      <p:sp>
        <p:nvSpPr>
          <p:cNvPr id="7" name="object 7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83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453" y="1184960"/>
            <a:ext cx="2925445" cy="123063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2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15" dirty="0">
                <a:latin typeface="Arial"/>
                <a:cs typeface="Arial"/>
              </a:rPr>
              <a:t>Non-blocking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-145" dirty="0">
                <a:latin typeface="Arial"/>
                <a:cs typeface="Arial"/>
              </a:rPr>
              <a:t>Sockets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2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60" dirty="0">
                <a:latin typeface="Arial"/>
                <a:cs typeface="Arial"/>
              </a:rPr>
              <a:t>Asynchronous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spc="55" dirty="0">
                <a:latin typeface="Arial"/>
                <a:cs typeface="Arial"/>
              </a:rPr>
              <a:t>I/O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2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65" dirty="0">
                <a:latin typeface="Arial"/>
                <a:cs typeface="Arial"/>
              </a:rPr>
              <a:t>Timeouts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48535" y="261873"/>
            <a:ext cx="462216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20" dirty="0"/>
              <a:t>Non-blocking</a:t>
            </a:r>
            <a:r>
              <a:rPr sz="4200" spc="-25" dirty="0"/>
              <a:t> </a:t>
            </a:r>
            <a:r>
              <a:rPr sz="4200" spc="-250" dirty="0"/>
              <a:t>Sockets</a:t>
            </a:r>
            <a:endParaRPr sz="4200"/>
          </a:p>
        </p:txBody>
      </p:sp>
      <p:sp>
        <p:nvSpPr>
          <p:cNvPr id="7" name="object 7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84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453" y="1250949"/>
            <a:ext cx="8318500" cy="2662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15265" indent="-342900">
              <a:lnSpc>
                <a:spcPct val="100000"/>
              </a:lnSpc>
              <a:spcBef>
                <a:spcPts val="10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spc="120" dirty="0">
                <a:latin typeface="Arial"/>
                <a:cs typeface="Arial"/>
              </a:rPr>
              <a:t>If </a:t>
            </a:r>
            <a:r>
              <a:rPr sz="2800" spc="-120" dirty="0">
                <a:latin typeface="Arial"/>
                <a:cs typeface="Arial"/>
              </a:rPr>
              <a:t>an </a:t>
            </a:r>
            <a:r>
              <a:rPr sz="2800" spc="-45" dirty="0">
                <a:latin typeface="Arial"/>
                <a:cs typeface="Arial"/>
              </a:rPr>
              <a:t>operation </a:t>
            </a:r>
            <a:r>
              <a:rPr sz="2800" spc="-114" dirty="0">
                <a:latin typeface="Arial"/>
                <a:cs typeface="Arial"/>
              </a:rPr>
              <a:t>can </a:t>
            </a:r>
            <a:r>
              <a:rPr sz="2800" spc="-145" dirty="0">
                <a:latin typeface="Arial"/>
                <a:cs typeface="Arial"/>
              </a:rPr>
              <a:t>be </a:t>
            </a:r>
            <a:r>
              <a:rPr sz="2800" spc="-65" dirty="0">
                <a:latin typeface="Arial"/>
                <a:cs typeface="Arial"/>
              </a:rPr>
              <a:t>completed </a:t>
            </a:r>
            <a:r>
              <a:rPr sz="2800" spc="-30" dirty="0">
                <a:latin typeface="Arial"/>
                <a:cs typeface="Arial"/>
              </a:rPr>
              <a:t>immediately, </a:t>
            </a:r>
            <a:r>
              <a:rPr sz="2800" spc="-210" dirty="0">
                <a:latin typeface="Arial"/>
                <a:cs typeface="Arial"/>
              </a:rPr>
              <a:t>success </a:t>
            </a:r>
            <a:r>
              <a:rPr sz="2800" spc="-90" dirty="0">
                <a:latin typeface="Arial"/>
                <a:cs typeface="Arial"/>
              </a:rPr>
              <a:t>is </a:t>
            </a:r>
            <a:r>
              <a:rPr sz="2800" spc="-30" dirty="0">
                <a:latin typeface="Arial"/>
                <a:cs typeface="Arial"/>
              </a:rPr>
              <a:t>returned;  </a:t>
            </a:r>
            <a:r>
              <a:rPr sz="2800" spc="-45" dirty="0">
                <a:latin typeface="Arial"/>
                <a:cs typeface="Arial"/>
              </a:rPr>
              <a:t>otherwise, </a:t>
            </a:r>
            <a:r>
              <a:rPr sz="2800" spc="-250" dirty="0">
                <a:latin typeface="Arial"/>
                <a:cs typeface="Arial"/>
              </a:rPr>
              <a:t>a </a:t>
            </a:r>
            <a:r>
              <a:rPr sz="2800" spc="-10" dirty="0">
                <a:latin typeface="Arial"/>
                <a:cs typeface="Arial"/>
              </a:rPr>
              <a:t>failure </a:t>
            </a:r>
            <a:r>
              <a:rPr sz="2800" spc="-90" dirty="0">
                <a:latin typeface="Arial"/>
                <a:cs typeface="Arial"/>
              </a:rPr>
              <a:t>is </a:t>
            </a:r>
            <a:r>
              <a:rPr sz="2800" spc="-25" dirty="0">
                <a:latin typeface="Arial"/>
                <a:cs typeface="Arial"/>
              </a:rPr>
              <a:t>returned </a:t>
            </a:r>
            <a:r>
              <a:rPr sz="2800" spc="-45" dirty="0">
                <a:latin typeface="Arial"/>
                <a:cs typeface="Arial"/>
              </a:rPr>
              <a:t>(usually</a:t>
            </a:r>
            <a:r>
              <a:rPr sz="2800" spc="-33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-1)</a:t>
            </a:r>
            <a:endParaRPr sz="2800" dirty="0">
              <a:latin typeface="Arial"/>
              <a:cs typeface="Arial"/>
            </a:endParaRPr>
          </a:p>
          <a:p>
            <a:pPr marL="682625" marR="208279" lvl="1" indent="-325755">
              <a:lnSpc>
                <a:spcPct val="100000"/>
              </a:lnSpc>
              <a:spcBef>
                <a:spcPts val="51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5" dirty="0">
                <a:latin typeface="Courier New"/>
                <a:cs typeface="Courier New"/>
              </a:rPr>
              <a:t>errno</a:t>
            </a:r>
            <a:r>
              <a:rPr sz="2800" spc="-844" dirty="0">
                <a:latin typeface="Courier New"/>
                <a:cs typeface="Courier New"/>
              </a:rPr>
              <a:t> </a:t>
            </a:r>
            <a:r>
              <a:rPr sz="2800" spc="-90" dirty="0">
                <a:latin typeface="Arial"/>
                <a:cs typeface="Arial"/>
              </a:rPr>
              <a:t>is </a:t>
            </a:r>
            <a:r>
              <a:rPr sz="2800" spc="-15" dirty="0">
                <a:latin typeface="Arial"/>
                <a:cs typeface="Arial"/>
              </a:rPr>
              <a:t>properly </a:t>
            </a:r>
            <a:r>
              <a:rPr sz="2800" spc="-125" dirty="0">
                <a:latin typeface="Arial"/>
                <a:cs typeface="Arial"/>
              </a:rPr>
              <a:t>set, </a:t>
            </a:r>
            <a:r>
              <a:rPr sz="2800" dirty="0">
                <a:latin typeface="Arial"/>
                <a:cs typeface="Arial"/>
              </a:rPr>
              <a:t>to </a:t>
            </a:r>
            <a:r>
              <a:rPr sz="2800" spc="-35" dirty="0">
                <a:latin typeface="Arial"/>
                <a:cs typeface="Arial"/>
              </a:rPr>
              <a:t>distinguish </a:t>
            </a:r>
            <a:r>
              <a:rPr sz="2800" spc="-10" dirty="0">
                <a:latin typeface="Arial"/>
                <a:cs typeface="Arial"/>
              </a:rPr>
              <a:t>this </a:t>
            </a:r>
            <a:r>
              <a:rPr sz="2800" spc="-20" dirty="0">
                <a:latin typeface="Arial"/>
                <a:cs typeface="Arial"/>
              </a:rPr>
              <a:t>(blocking) </a:t>
            </a:r>
            <a:r>
              <a:rPr sz="2800" spc="-10" dirty="0">
                <a:latin typeface="Arial"/>
                <a:cs typeface="Arial"/>
              </a:rPr>
              <a:t>failure </a:t>
            </a:r>
            <a:r>
              <a:rPr sz="2800" spc="10" dirty="0">
                <a:latin typeface="Arial"/>
                <a:cs typeface="Arial"/>
              </a:rPr>
              <a:t>from  </a:t>
            </a:r>
            <a:r>
              <a:rPr sz="2800" spc="-20" dirty="0">
                <a:latin typeface="Arial"/>
                <a:cs typeface="Arial"/>
              </a:rPr>
              <a:t>other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100" dirty="0">
                <a:latin typeface="Arial"/>
                <a:cs typeface="Arial"/>
              </a:rPr>
              <a:t>-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(</a:t>
            </a:r>
            <a:r>
              <a:rPr sz="2800" spc="-5" dirty="0">
                <a:latin typeface="Courier New"/>
                <a:cs typeface="Courier New"/>
              </a:rPr>
              <a:t>EINPROGRESS</a:t>
            </a:r>
            <a:r>
              <a:rPr sz="2800" spc="-565" dirty="0">
                <a:latin typeface="Courier New"/>
                <a:cs typeface="Courier New"/>
              </a:rPr>
              <a:t> </a:t>
            </a:r>
            <a:r>
              <a:rPr sz="2800" spc="20" dirty="0">
                <a:latin typeface="Arial"/>
                <a:cs typeface="Arial"/>
              </a:rPr>
              <a:t>for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connect</a:t>
            </a:r>
            <a:r>
              <a:rPr sz="2800" spc="-5" dirty="0">
                <a:latin typeface="Arial"/>
                <a:cs typeface="Arial"/>
              </a:rPr>
              <a:t>,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Courier New"/>
                <a:cs typeface="Courier New"/>
              </a:rPr>
              <a:t>EWOULDBLOCK</a:t>
            </a:r>
            <a:r>
              <a:rPr sz="2800" spc="-555" dirty="0">
                <a:latin typeface="Courier New"/>
                <a:cs typeface="Courier New"/>
              </a:rPr>
              <a:t> </a:t>
            </a:r>
            <a:r>
              <a:rPr sz="2800" spc="15" dirty="0">
                <a:latin typeface="Arial"/>
                <a:cs typeface="Arial"/>
              </a:rPr>
              <a:t>for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the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5" dirty="0">
                <a:latin typeface="Arial"/>
                <a:cs typeface="Arial"/>
              </a:rPr>
              <a:t>other</a:t>
            </a:r>
            <a:r>
              <a:rPr sz="2800" spc="-15" dirty="0" smtClean="0">
                <a:latin typeface="Arial"/>
                <a:cs typeface="Arial"/>
              </a:rPr>
              <a:t>)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48535" y="261873"/>
            <a:ext cx="462216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20" dirty="0"/>
              <a:t>Non-blocking</a:t>
            </a:r>
            <a:r>
              <a:rPr sz="4200" spc="-25" dirty="0"/>
              <a:t> </a:t>
            </a:r>
            <a:r>
              <a:rPr sz="4200" spc="-250" dirty="0"/>
              <a:t>Sockets</a:t>
            </a:r>
            <a:endParaRPr sz="4200"/>
          </a:p>
        </p:txBody>
      </p:sp>
      <p:sp>
        <p:nvSpPr>
          <p:cNvPr id="7" name="object 7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85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453" y="1250949"/>
            <a:ext cx="8318500" cy="53912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67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  <a:tab pos="1912620" algn="l"/>
              </a:tabLst>
            </a:pPr>
            <a:r>
              <a:rPr sz="2800" spc="-90" dirty="0" smtClean="0">
                <a:solidFill>
                  <a:srgbClr val="006533"/>
                </a:solidFill>
                <a:latin typeface="Arial"/>
                <a:cs typeface="Arial"/>
              </a:rPr>
              <a:t>1</a:t>
            </a:r>
            <a:r>
              <a:rPr sz="2800" spc="-135" baseline="25925" dirty="0" smtClean="0">
                <a:solidFill>
                  <a:srgbClr val="006533"/>
                </a:solidFill>
                <a:latin typeface="Arial"/>
                <a:cs typeface="Arial"/>
              </a:rPr>
              <a:t>st</a:t>
            </a:r>
            <a:r>
              <a:rPr sz="2800" spc="-44" baseline="25925" dirty="0" smtClean="0">
                <a:solidFill>
                  <a:srgbClr val="006533"/>
                </a:solidFill>
                <a:latin typeface="Arial"/>
                <a:cs typeface="Arial"/>
              </a:rPr>
              <a:t> </a:t>
            </a:r>
            <a:r>
              <a:rPr sz="2800" spc="-40" dirty="0">
                <a:solidFill>
                  <a:srgbClr val="006533"/>
                </a:solidFill>
                <a:latin typeface="Arial"/>
                <a:cs typeface="Arial"/>
              </a:rPr>
              <a:t>Solution</a:t>
            </a:r>
            <a:r>
              <a:rPr sz="2800" spc="-40" dirty="0">
                <a:latin typeface="Arial"/>
                <a:cs typeface="Arial"/>
              </a:rPr>
              <a:t>:	</a:t>
            </a:r>
            <a:r>
              <a:rPr sz="2800" b="1" dirty="0">
                <a:latin typeface="Courier New"/>
                <a:cs typeface="Courier New"/>
              </a:rPr>
              <a:t>int fcntl (</a:t>
            </a:r>
            <a:r>
              <a:rPr sz="2800" b="1" dirty="0">
                <a:solidFill>
                  <a:srgbClr val="9A6500"/>
                </a:solidFill>
                <a:latin typeface="Courier New"/>
                <a:cs typeface="Courier New"/>
              </a:rPr>
              <a:t>sockid</a:t>
            </a:r>
            <a:r>
              <a:rPr sz="2800" b="1" dirty="0">
                <a:latin typeface="Courier New"/>
                <a:cs typeface="Courier New"/>
              </a:rPr>
              <a:t>, </a:t>
            </a:r>
            <a:r>
              <a:rPr sz="2800" b="1" dirty="0">
                <a:solidFill>
                  <a:srgbClr val="CC9A00"/>
                </a:solidFill>
                <a:latin typeface="Courier New"/>
                <a:cs typeface="Courier New"/>
              </a:rPr>
              <a:t>command</a:t>
            </a:r>
            <a:r>
              <a:rPr sz="2800" b="1" dirty="0">
                <a:latin typeface="Courier New"/>
                <a:cs typeface="Courier New"/>
              </a:rPr>
              <a:t>,</a:t>
            </a:r>
            <a:r>
              <a:rPr sz="2800" b="1" spc="-40" dirty="0">
                <a:latin typeface="Courier New"/>
                <a:cs typeface="Courier New"/>
              </a:rPr>
              <a:t> </a:t>
            </a:r>
            <a:r>
              <a:rPr sz="2800" b="1" dirty="0">
                <a:solidFill>
                  <a:srgbClr val="A50021"/>
                </a:solidFill>
                <a:latin typeface="Courier New"/>
                <a:cs typeface="Courier New"/>
              </a:rPr>
              <a:t>argument</a:t>
            </a:r>
            <a:r>
              <a:rPr sz="2800" b="1" dirty="0">
                <a:latin typeface="Courier New"/>
                <a:cs typeface="Courier New"/>
              </a:rPr>
              <a:t>);</a:t>
            </a:r>
            <a:endParaRPr sz="2800" dirty="0">
              <a:latin typeface="Courier New"/>
              <a:cs typeface="Courier New"/>
            </a:endParaRPr>
          </a:p>
          <a:p>
            <a:pPr marL="681990" lvl="1" indent="-325120">
              <a:lnSpc>
                <a:spcPct val="100000"/>
              </a:lnSpc>
              <a:spcBef>
                <a:spcPts val="495"/>
              </a:spcBef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160" dirty="0">
                <a:solidFill>
                  <a:srgbClr val="9A6500"/>
                </a:solidFill>
                <a:latin typeface="Arial"/>
                <a:cs typeface="Arial"/>
              </a:rPr>
              <a:t>sockid</a:t>
            </a:r>
            <a:r>
              <a:rPr sz="2800" spc="-160" dirty="0">
                <a:latin typeface="Arial"/>
                <a:cs typeface="Arial"/>
              </a:rPr>
              <a:t>: </a:t>
            </a:r>
            <a:r>
              <a:rPr sz="2800" spc="-40" dirty="0">
                <a:latin typeface="Arial"/>
                <a:cs typeface="Arial"/>
              </a:rPr>
              <a:t>integer, </a:t>
            </a:r>
            <a:r>
              <a:rPr sz="2800" spc="-95" dirty="0">
                <a:latin typeface="Arial"/>
                <a:cs typeface="Arial"/>
              </a:rPr>
              <a:t>socket</a:t>
            </a:r>
            <a:r>
              <a:rPr sz="2800" spc="15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descriptor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160" dirty="0">
                <a:solidFill>
                  <a:srgbClr val="CC9A00"/>
                </a:solidFill>
                <a:latin typeface="Arial"/>
                <a:cs typeface="Arial"/>
              </a:rPr>
              <a:t>command</a:t>
            </a:r>
            <a:r>
              <a:rPr sz="2800" spc="-160" dirty="0">
                <a:latin typeface="Arial"/>
                <a:cs typeface="Arial"/>
              </a:rPr>
              <a:t>: </a:t>
            </a:r>
            <a:r>
              <a:rPr sz="2800" spc="-40" dirty="0">
                <a:latin typeface="Arial"/>
                <a:cs typeface="Arial"/>
              </a:rPr>
              <a:t>integer,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-40" dirty="0">
                <a:latin typeface="Arial"/>
                <a:cs typeface="Arial"/>
              </a:rPr>
              <a:t>operation </a:t>
            </a:r>
            <a:r>
              <a:rPr sz="2800" dirty="0">
                <a:latin typeface="Arial"/>
                <a:cs typeface="Arial"/>
              </a:rPr>
              <a:t>to </a:t>
            </a:r>
            <a:r>
              <a:rPr sz="2800" spc="-130" dirty="0">
                <a:latin typeface="Arial"/>
                <a:cs typeface="Arial"/>
              </a:rPr>
              <a:t>be </a:t>
            </a:r>
            <a:r>
              <a:rPr sz="2800" spc="-45" dirty="0">
                <a:latin typeface="Arial"/>
                <a:cs typeface="Arial"/>
              </a:rPr>
              <a:t>performed </a:t>
            </a:r>
            <a:r>
              <a:rPr sz="2800" spc="-20" dirty="0">
                <a:latin typeface="Arial"/>
                <a:cs typeface="Arial"/>
              </a:rPr>
              <a:t>(</a:t>
            </a:r>
            <a:r>
              <a:rPr sz="2800" b="1" spc="-20" dirty="0">
                <a:solidFill>
                  <a:srgbClr val="CC9A00"/>
                </a:solidFill>
                <a:latin typeface="Courier New"/>
                <a:cs typeface="Courier New"/>
              </a:rPr>
              <a:t>F_GETFL</a:t>
            </a:r>
            <a:r>
              <a:rPr sz="2800" spc="-20" dirty="0">
                <a:latin typeface="Arial"/>
                <a:cs typeface="Arial"/>
              </a:rPr>
              <a:t>,</a:t>
            </a:r>
            <a:r>
              <a:rPr sz="2800" dirty="0"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CC9A00"/>
                </a:solidFill>
                <a:latin typeface="Courier New"/>
                <a:cs typeface="Courier New"/>
              </a:rPr>
              <a:t>F_SETFL</a:t>
            </a:r>
            <a:r>
              <a:rPr sz="2800" spc="-5" dirty="0">
                <a:latin typeface="Arial"/>
                <a:cs typeface="Arial"/>
              </a:rPr>
              <a:t>)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ts val="2395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b="1" spc="-130" dirty="0">
                <a:solidFill>
                  <a:srgbClr val="A50021"/>
                </a:solidFill>
                <a:latin typeface="Arial"/>
                <a:cs typeface="Arial"/>
              </a:rPr>
              <a:t>argument</a:t>
            </a:r>
            <a:r>
              <a:rPr sz="2800" spc="-130" dirty="0">
                <a:latin typeface="Arial"/>
                <a:cs typeface="Arial"/>
              </a:rPr>
              <a:t>: </a:t>
            </a:r>
            <a:r>
              <a:rPr sz="2800" spc="-40" dirty="0">
                <a:latin typeface="Arial"/>
                <a:cs typeface="Arial"/>
              </a:rPr>
              <a:t>long, </a:t>
            </a:r>
            <a:r>
              <a:rPr sz="2800" spc="-120" dirty="0">
                <a:latin typeface="Arial"/>
                <a:cs typeface="Arial"/>
              </a:rPr>
              <a:t>e.g.</a:t>
            </a:r>
            <a:r>
              <a:rPr sz="2800" dirty="0"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A50021"/>
                </a:solidFill>
                <a:latin typeface="Courier New"/>
                <a:cs typeface="Courier New"/>
              </a:rPr>
              <a:t>O_NONBLOCK</a:t>
            </a:r>
            <a:endParaRPr sz="2800" dirty="0">
              <a:latin typeface="Courier New"/>
              <a:cs typeface="Courier New"/>
            </a:endParaRPr>
          </a:p>
          <a:p>
            <a:pPr marL="356870">
              <a:lnSpc>
                <a:spcPts val="2635"/>
              </a:lnSpc>
            </a:pPr>
            <a:r>
              <a:rPr sz="2800" spc="3475" dirty="0">
                <a:solidFill>
                  <a:srgbClr val="9A6500"/>
                </a:solidFill>
                <a:latin typeface="Wingdings"/>
                <a:cs typeface="Wingdings"/>
              </a:rPr>
              <a:t></a:t>
            </a:r>
            <a:r>
              <a:rPr sz="2800" spc="-90" dirty="0">
                <a:solidFill>
                  <a:srgbClr val="9A65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fcntl </a:t>
            </a:r>
            <a:r>
              <a:rPr sz="2800" b="1" spc="-5" dirty="0">
                <a:latin typeface="Courier New"/>
                <a:cs typeface="Courier New"/>
              </a:rPr>
              <a:t>(</a:t>
            </a:r>
            <a:r>
              <a:rPr sz="2800" b="1" spc="-5" dirty="0">
                <a:solidFill>
                  <a:srgbClr val="9A6500"/>
                </a:solidFill>
                <a:latin typeface="Courier New"/>
                <a:cs typeface="Courier New"/>
              </a:rPr>
              <a:t>sockid</a:t>
            </a:r>
            <a:r>
              <a:rPr sz="2800" b="1" spc="-5" dirty="0">
                <a:latin typeface="Courier New"/>
                <a:cs typeface="Courier New"/>
              </a:rPr>
              <a:t>, </a:t>
            </a:r>
            <a:r>
              <a:rPr sz="2800" b="1" spc="-10" dirty="0">
                <a:solidFill>
                  <a:srgbClr val="CC9A00"/>
                </a:solidFill>
                <a:latin typeface="Courier New"/>
                <a:cs typeface="Courier New"/>
              </a:rPr>
              <a:t>F_SETFL</a:t>
            </a:r>
            <a:r>
              <a:rPr sz="2800" b="1" spc="-10" dirty="0">
                <a:latin typeface="Courier New"/>
                <a:cs typeface="Courier New"/>
              </a:rPr>
              <a:t>, </a:t>
            </a:r>
            <a:r>
              <a:rPr sz="2800" b="1" spc="-10" dirty="0">
                <a:solidFill>
                  <a:srgbClr val="A50021"/>
                </a:solidFill>
                <a:latin typeface="Courier New"/>
                <a:cs typeface="Courier New"/>
              </a:rPr>
              <a:t>O_NONBLOCK</a:t>
            </a:r>
            <a:r>
              <a:rPr sz="2800" b="1" spc="-10" dirty="0">
                <a:latin typeface="Courier New"/>
                <a:cs typeface="Courier New"/>
              </a:rPr>
              <a:t>);</a:t>
            </a:r>
            <a:endParaRPr sz="2800" dirty="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162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spc="-55" dirty="0">
                <a:solidFill>
                  <a:srgbClr val="006533"/>
                </a:solidFill>
                <a:latin typeface="Arial"/>
                <a:cs typeface="Arial"/>
              </a:rPr>
              <a:t>2</a:t>
            </a:r>
            <a:r>
              <a:rPr sz="2800" spc="-82" baseline="25925" dirty="0">
                <a:solidFill>
                  <a:srgbClr val="006533"/>
                </a:solidFill>
                <a:latin typeface="Arial"/>
                <a:cs typeface="Arial"/>
              </a:rPr>
              <a:t>nd </a:t>
            </a:r>
            <a:r>
              <a:rPr sz="2800" spc="-40" dirty="0">
                <a:solidFill>
                  <a:srgbClr val="006533"/>
                </a:solidFill>
                <a:latin typeface="Arial"/>
                <a:cs typeface="Arial"/>
              </a:rPr>
              <a:t>Solution</a:t>
            </a:r>
            <a:r>
              <a:rPr sz="2800" spc="-40" dirty="0">
                <a:latin typeface="Arial"/>
                <a:cs typeface="Arial"/>
              </a:rPr>
              <a:t>: </a:t>
            </a:r>
            <a:r>
              <a:rPr sz="2800" spc="-105" dirty="0">
                <a:latin typeface="Arial"/>
                <a:cs typeface="Arial"/>
              </a:rPr>
              <a:t>flags </a:t>
            </a:r>
            <a:r>
              <a:rPr sz="2800" spc="-85" dirty="0">
                <a:latin typeface="Arial"/>
                <a:cs typeface="Arial"/>
              </a:rPr>
              <a:t>parameter </a:t>
            </a:r>
            <a:r>
              <a:rPr sz="2800" spc="-15" dirty="0">
                <a:latin typeface="Arial"/>
                <a:cs typeface="Arial"/>
              </a:rPr>
              <a:t>of </a:t>
            </a:r>
            <a:r>
              <a:rPr sz="2800" spc="-15" dirty="0">
                <a:latin typeface="Courier New"/>
                <a:cs typeface="Courier New"/>
              </a:rPr>
              <a:t>send</a:t>
            </a:r>
            <a:r>
              <a:rPr sz="2800" spc="-15" dirty="0">
                <a:latin typeface="Arial"/>
                <a:cs typeface="Arial"/>
              </a:rPr>
              <a:t>, </a:t>
            </a:r>
            <a:r>
              <a:rPr sz="2800" spc="-15" dirty="0">
                <a:latin typeface="Courier New"/>
                <a:cs typeface="Courier New"/>
              </a:rPr>
              <a:t>recv</a:t>
            </a:r>
            <a:r>
              <a:rPr sz="2800" spc="-15" dirty="0">
                <a:latin typeface="Arial"/>
                <a:cs typeface="Arial"/>
              </a:rPr>
              <a:t>, </a:t>
            </a:r>
            <a:r>
              <a:rPr sz="2800" spc="-10" dirty="0">
                <a:latin typeface="Courier New"/>
                <a:cs typeface="Courier New"/>
              </a:rPr>
              <a:t>sendto</a:t>
            </a:r>
            <a:r>
              <a:rPr sz="2800" spc="-10" dirty="0">
                <a:latin typeface="Arial"/>
                <a:cs typeface="Arial"/>
              </a:rPr>
              <a:t>,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recvfrom</a:t>
            </a:r>
            <a:endParaRPr sz="2800" dirty="0">
              <a:latin typeface="Courier New"/>
              <a:cs typeface="Courier New"/>
            </a:endParaRPr>
          </a:p>
          <a:p>
            <a:pPr marL="681990" lvl="1" indent="-325120">
              <a:lnSpc>
                <a:spcPct val="100000"/>
              </a:lnSpc>
              <a:spcBef>
                <a:spcPts val="470"/>
              </a:spcBef>
              <a:buClr>
                <a:srgbClr val="9A6500"/>
              </a:buClr>
              <a:buSzPct val="61111"/>
              <a:buFont typeface="Wingdings"/>
              <a:buChar char=""/>
              <a:tabLst>
                <a:tab pos="682625" algn="l"/>
              </a:tabLst>
            </a:pPr>
            <a:r>
              <a:rPr sz="2800" b="1" spc="-15" dirty="0">
                <a:solidFill>
                  <a:srgbClr val="CA6800"/>
                </a:solidFill>
                <a:latin typeface="Courier New"/>
                <a:cs typeface="Courier New"/>
              </a:rPr>
              <a:t>MSG_DONTWAIT</a:t>
            </a:r>
            <a:endParaRPr sz="2800" dirty="0">
              <a:latin typeface="Courier New"/>
              <a:cs typeface="Courier New"/>
            </a:endParaRPr>
          </a:p>
          <a:p>
            <a:pPr marL="681990" lvl="1" indent="-325120">
              <a:lnSpc>
                <a:spcPct val="100000"/>
              </a:lnSpc>
              <a:spcBef>
                <a:spcPts val="46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5" dirty="0">
                <a:latin typeface="Arial"/>
                <a:cs typeface="Arial"/>
              </a:rPr>
              <a:t>not </a:t>
            </a:r>
            <a:r>
              <a:rPr sz="2800" spc="-70" dirty="0">
                <a:latin typeface="Arial"/>
                <a:cs typeface="Arial"/>
              </a:rPr>
              <a:t>supported </a:t>
            </a:r>
            <a:r>
              <a:rPr sz="2800" spc="-15" dirty="0">
                <a:latin typeface="Arial"/>
                <a:cs typeface="Arial"/>
              </a:rPr>
              <a:t>by </a:t>
            </a:r>
            <a:r>
              <a:rPr sz="2800" spc="5" dirty="0">
                <a:latin typeface="Arial"/>
                <a:cs typeface="Arial"/>
              </a:rPr>
              <a:t>all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implementations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780" y="118617"/>
            <a:ext cx="14478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310" dirty="0"/>
              <a:t>Signals</a:t>
            </a:r>
            <a:endParaRPr sz="4200"/>
          </a:p>
        </p:txBody>
      </p:sp>
      <p:sp>
        <p:nvSpPr>
          <p:cNvPr id="7" name="object 7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86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01" y="678909"/>
            <a:ext cx="8978899" cy="60965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61620" indent="-342900">
              <a:lnSpc>
                <a:spcPct val="150000"/>
              </a:lnSpc>
              <a:spcBef>
                <a:spcPts val="10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spc="-45" dirty="0">
                <a:latin typeface="Arial"/>
                <a:cs typeface="Arial"/>
              </a:rPr>
              <a:t>Provide </a:t>
            </a:r>
            <a:r>
              <a:rPr sz="2800" spc="-250" dirty="0">
                <a:latin typeface="Arial"/>
                <a:cs typeface="Arial"/>
              </a:rPr>
              <a:t>a </a:t>
            </a:r>
            <a:r>
              <a:rPr sz="2800" spc="-90" dirty="0">
                <a:latin typeface="Arial"/>
                <a:cs typeface="Arial"/>
              </a:rPr>
              <a:t>mechanism </a:t>
            </a:r>
            <a:r>
              <a:rPr sz="2800" spc="25" dirty="0">
                <a:latin typeface="Arial"/>
                <a:cs typeface="Arial"/>
              </a:rPr>
              <a:t>for </a:t>
            </a:r>
            <a:r>
              <a:rPr sz="2800" spc="-55" dirty="0">
                <a:latin typeface="Arial"/>
                <a:cs typeface="Arial"/>
              </a:rPr>
              <a:t>operating </a:t>
            </a:r>
            <a:r>
              <a:rPr sz="2800" spc="-130" dirty="0">
                <a:latin typeface="Arial"/>
                <a:cs typeface="Arial"/>
              </a:rPr>
              <a:t>system </a:t>
            </a:r>
            <a:r>
              <a:rPr sz="2800" dirty="0">
                <a:latin typeface="Arial"/>
                <a:cs typeface="Arial"/>
              </a:rPr>
              <a:t>to </a:t>
            </a:r>
            <a:r>
              <a:rPr sz="2800" spc="45" dirty="0">
                <a:latin typeface="Arial"/>
                <a:cs typeface="Arial"/>
              </a:rPr>
              <a:t>notify </a:t>
            </a:r>
            <a:r>
              <a:rPr sz="2800" spc="-180" dirty="0">
                <a:latin typeface="Arial"/>
                <a:cs typeface="Arial"/>
              </a:rPr>
              <a:t>processes </a:t>
            </a:r>
            <a:r>
              <a:rPr sz="2800" spc="-5" dirty="0">
                <a:latin typeface="Arial"/>
                <a:cs typeface="Arial"/>
              </a:rPr>
              <a:t>that  </a:t>
            </a:r>
            <a:r>
              <a:rPr sz="2800" spc="-35" dirty="0">
                <a:latin typeface="Arial"/>
                <a:cs typeface="Arial"/>
              </a:rPr>
              <a:t>certain </a:t>
            </a:r>
            <a:r>
              <a:rPr sz="2800" spc="-105" dirty="0">
                <a:latin typeface="Arial"/>
                <a:cs typeface="Arial"/>
              </a:rPr>
              <a:t>events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60" dirty="0">
                <a:latin typeface="Arial"/>
                <a:cs typeface="Arial"/>
              </a:rPr>
              <a:t>occur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50000"/>
              </a:lnSpc>
              <a:spcBef>
                <a:spcPts val="49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400" spc="-105" dirty="0">
                <a:latin typeface="Arial"/>
                <a:cs typeface="Arial"/>
              </a:rPr>
              <a:t>e.g.,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spc="-110" dirty="0">
                <a:latin typeface="Arial"/>
                <a:cs typeface="Arial"/>
              </a:rPr>
              <a:t>user </a:t>
            </a:r>
            <a:r>
              <a:rPr sz="2400" spc="-45" dirty="0">
                <a:latin typeface="Arial"/>
                <a:cs typeface="Arial"/>
              </a:rPr>
              <a:t>typed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spc="40" dirty="0">
                <a:latin typeface="Arial"/>
                <a:cs typeface="Arial"/>
              </a:rPr>
              <a:t>“interrupt” </a:t>
            </a:r>
            <a:r>
              <a:rPr sz="2400" spc="-60" dirty="0">
                <a:latin typeface="Arial"/>
                <a:cs typeface="Arial"/>
              </a:rPr>
              <a:t>character, </a:t>
            </a:r>
            <a:r>
              <a:rPr sz="2400" dirty="0">
                <a:latin typeface="Arial"/>
                <a:cs typeface="Arial"/>
              </a:rPr>
              <a:t>or </a:t>
            </a:r>
            <a:r>
              <a:rPr sz="2400" spc="-229" dirty="0">
                <a:latin typeface="Arial"/>
                <a:cs typeface="Arial"/>
              </a:rPr>
              <a:t>a </a:t>
            </a:r>
            <a:r>
              <a:rPr sz="2400" spc="15" dirty="0">
                <a:latin typeface="Arial"/>
                <a:cs typeface="Arial"/>
              </a:rPr>
              <a:t>timer</a:t>
            </a:r>
            <a:r>
              <a:rPr sz="2400" spc="-37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expired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50000"/>
              </a:lnSpc>
              <a:spcBef>
                <a:spcPts val="50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spc="-110" dirty="0">
                <a:latin typeface="Arial"/>
                <a:cs typeface="Arial"/>
              </a:rPr>
              <a:t>signals </a:t>
            </a:r>
            <a:r>
              <a:rPr sz="2800" spc="-125" dirty="0">
                <a:latin typeface="Arial"/>
                <a:cs typeface="Arial"/>
              </a:rPr>
              <a:t>are </a:t>
            </a:r>
            <a:r>
              <a:rPr sz="2800" spc="-45" dirty="0">
                <a:latin typeface="Arial"/>
                <a:cs typeface="Arial"/>
              </a:rPr>
              <a:t>delivered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b="1" spc="-180" dirty="0">
                <a:solidFill>
                  <a:srgbClr val="9A6500"/>
                </a:solidFill>
                <a:latin typeface="Arial"/>
                <a:cs typeface="Arial"/>
              </a:rPr>
              <a:t>asynchronously</a:t>
            </a:r>
            <a:endParaRPr sz="2800" dirty="0">
              <a:latin typeface="Arial"/>
              <a:cs typeface="Arial"/>
            </a:endParaRPr>
          </a:p>
          <a:p>
            <a:pPr marL="355600" indent="-342900">
              <a:lnSpc>
                <a:spcPct val="150000"/>
              </a:lnSpc>
              <a:spcBef>
                <a:spcPts val="52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spc="-55" dirty="0">
                <a:latin typeface="Arial"/>
                <a:cs typeface="Arial"/>
              </a:rPr>
              <a:t>upon </a:t>
            </a:r>
            <a:r>
              <a:rPr sz="2800" spc="-80" dirty="0">
                <a:latin typeface="Arial"/>
                <a:cs typeface="Arial"/>
              </a:rPr>
              <a:t>signal </a:t>
            </a:r>
            <a:r>
              <a:rPr sz="2800" spc="-10" dirty="0">
                <a:latin typeface="Arial"/>
                <a:cs typeface="Arial"/>
              </a:rPr>
              <a:t>delivery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program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50000"/>
              </a:lnSpc>
              <a:spcBef>
                <a:spcPts val="50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110" dirty="0">
                <a:latin typeface="Arial"/>
                <a:cs typeface="Arial"/>
              </a:rPr>
              <a:t>it </a:t>
            </a:r>
            <a:r>
              <a:rPr sz="2800" spc="-75" dirty="0">
                <a:latin typeface="Arial"/>
                <a:cs typeface="Arial"/>
              </a:rPr>
              <a:t>may </a:t>
            </a:r>
            <a:r>
              <a:rPr sz="2800" spc="-130" dirty="0">
                <a:latin typeface="Arial"/>
                <a:cs typeface="Arial"/>
              </a:rPr>
              <a:t>be </a:t>
            </a:r>
            <a:r>
              <a:rPr sz="2800" b="1" spc="-125" dirty="0">
                <a:solidFill>
                  <a:srgbClr val="CC9A00"/>
                </a:solidFill>
                <a:latin typeface="Arial"/>
                <a:cs typeface="Arial"/>
              </a:rPr>
              <a:t>ignored</a:t>
            </a:r>
            <a:r>
              <a:rPr sz="2800" spc="-125" dirty="0">
                <a:latin typeface="Arial"/>
                <a:cs typeface="Arial"/>
              </a:rPr>
              <a:t>,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-140" dirty="0">
                <a:latin typeface="Arial"/>
                <a:cs typeface="Arial"/>
              </a:rPr>
              <a:t>process </a:t>
            </a:r>
            <a:r>
              <a:rPr sz="2800" spc="-85" dirty="0">
                <a:latin typeface="Arial"/>
                <a:cs typeface="Arial"/>
              </a:rPr>
              <a:t>is </a:t>
            </a:r>
            <a:r>
              <a:rPr sz="2800" spc="-60" dirty="0">
                <a:latin typeface="Arial"/>
                <a:cs typeface="Arial"/>
              </a:rPr>
              <a:t>never </a:t>
            </a:r>
            <a:r>
              <a:rPr sz="2800" spc="-95" dirty="0">
                <a:latin typeface="Arial"/>
                <a:cs typeface="Arial"/>
              </a:rPr>
              <a:t>aware </a:t>
            </a:r>
            <a:r>
              <a:rPr sz="2800" spc="-10" dirty="0">
                <a:latin typeface="Arial"/>
                <a:cs typeface="Arial"/>
              </a:rPr>
              <a:t>of</a:t>
            </a:r>
            <a:r>
              <a:rPr sz="2800" spc="35" dirty="0">
                <a:latin typeface="Arial"/>
                <a:cs typeface="Arial"/>
              </a:rPr>
              <a:t> </a:t>
            </a:r>
            <a:r>
              <a:rPr sz="2800" spc="105" dirty="0">
                <a:latin typeface="Arial"/>
                <a:cs typeface="Arial"/>
              </a:rPr>
              <a:t>it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50000"/>
              </a:lnSpc>
              <a:spcBef>
                <a:spcPts val="47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-60" dirty="0">
                <a:latin typeface="Arial"/>
                <a:cs typeface="Arial"/>
              </a:rPr>
              <a:t>program </a:t>
            </a:r>
            <a:r>
              <a:rPr sz="2800" spc="-85" dirty="0">
                <a:latin typeface="Arial"/>
                <a:cs typeface="Arial"/>
              </a:rPr>
              <a:t>is </a:t>
            </a:r>
            <a:r>
              <a:rPr sz="2800" b="1" spc="-90" dirty="0">
                <a:solidFill>
                  <a:srgbClr val="CC9A00"/>
                </a:solidFill>
                <a:latin typeface="Arial"/>
                <a:cs typeface="Arial"/>
              </a:rPr>
              <a:t>forcefully </a:t>
            </a:r>
            <a:r>
              <a:rPr sz="2800" b="1" spc="-105" dirty="0">
                <a:solidFill>
                  <a:srgbClr val="CC9A00"/>
                </a:solidFill>
                <a:latin typeface="Arial"/>
                <a:cs typeface="Arial"/>
              </a:rPr>
              <a:t>terminated </a:t>
            </a:r>
            <a:r>
              <a:rPr sz="2800" spc="-15" dirty="0">
                <a:latin typeface="Arial"/>
                <a:cs typeface="Arial"/>
              </a:rPr>
              <a:t>by </a:t>
            </a:r>
            <a:r>
              <a:rPr sz="2800" spc="-25" dirty="0">
                <a:latin typeface="Arial"/>
                <a:cs typeface="Arial"/>
              </a:rPr>
              <a:t>the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210" dirty="0">
                <a:latin typeface="Arial"/>
                <a:cs typeface="Arial"/>
              </a:rPr>
              <a:t>OS</a:t>
            </a:r>
            <a:endParaRPr sz="2800" dirty="0">
              <a:latin typeface="Arial"/>
              <a:cs typeface="Arial"/>
            </a:endParaRPr>
          </a:p>
          <a:p>
            <a:pPr marL="681990" lvl="1" indent="-325120">
              <a:lnSpc>
                <a:spcPct val="150000"/>
              </a:lnSpc>
              <a:spcBef>
                <a:spcPts val="29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229" dirty="0">
                <a:latin typeface="Arial"/>
                <a:cs typeface="Arial"/>
              </a:rPr>
              <a:t>a </a:t>
            </a:r>
            <a:r>
              <a:rPr sz="2800" b="1" spc="-120" dirty="0">
                <a:solidFill>
                  <a:srgbClr val="CC9A00"/>
                </a:solidFill>
                <a:latin typeface="Arial"/>
                <a:cs typeface="Arial"/>
              </a:rPr>
              <a:t>signal-handling </a:t>
            </a:r>
            <a:r>
              <a:rPr sz="2800" b="1" spc="-90" dirty="0">
                <a:solidFill>
                  <a:srgbClr val="CC9A00"/>
                </a:solidFill>
                <a:latin typeface="Arial"/>
                <a:cs typeface="Arial"/>
              </a:rPr>
              <a:t>routine</a:t>
            </a:r>
            <a:r>
              <a:rPr sz="2800" spc="-90" dirty="0">
                <a:latin typeface="Arial"/>
                <a:cs typeface="Arial"/>
              </a:rPr>
              <a:t>, </a:t>
            </a:r>
            <a:r>
              <a:rPr sz="2800" spc="-65" dirty="0">
                <a:latin typeface="Arial"/>
                <a:cs typeface="Arial"/>
              </a:rPr>
              <a:t>specified </a:t>
            </a:r>
            <a:r>
              <a:rPr sz="2800" spc="-15" dirty="0">
                <a:latin typeface="Arial"/>
                <a:cs typeface="Arial"/>
              </a:rPr>
              <a:t>by </a:t>
            </a:r>
            <a:r>
              <a:rPr sz="2800" spc="-25" dirty="0">
                <a:latin typeface="Arial"/>
                <a:cs typeface="Arial"/>
              </a:rPr>
              <a:t>the </a:t>
            </a:r>
            <a:r>
              <a:rPr sz="2800" spc="-55" dirty="0">
                <a:latin typeface="Arial"/>
                <a:cs typeface="Arial"/>
              </a:rPr>
              <a:t>program, </a:t>
            </a:r>
            <a:r>
              <a:rPr sz="2800" spc="-85" dirty="0">
                <a:latin typeface="Arial"/>
                <a:cs typeface="Arial"/>
              </a:rPr>
              <a:t>is</a:t>
            </a:r>
            <a:r>
              <a:rPr sz="2800" spc="-210" dirty="0">
                <a:latin typeface="Arial"/>
                <a:cs typeface="Arial"/>
              </a:rPr>
              <a:t> </a:t>
            </a:r>
            <a:r>
              <a:rPr sz="2800" spc="-90" dirty="0" smtClean="0">
                <a:latin typeface="Arial"/>
                <a:cs typeface="Arial"/>
              </a:rPr>
              <a:t>executed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780" y="118617"/>
            <a:ext cx="14478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310" dirty="0"/>
              <a:t>Signals</a:t>
            </a:r>
            <a:endParaRPr sz="4200"/>
          </a:p>
        </p:txBody>
      </p:sp>
      <p:sp>
        <p:nvSpPr>
          <p:cNvPr id="7" name="object 7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87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9700" y="698499"/>
            <a:ext cx="8839200" cy="6124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5050" lvl="2" indent="-351155">
              <a:lnSpc>
                <a:spcPct val="150000"/>
              </a:lnSpc>
              <a:spcBef>
                <a:spcPts val="235"/>
              </a:spcBef>
              <a:buClr>
                <a:srgbClr val="9A6500"/>
              </a:buClr>
              <a:buSzPct val="66666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2800" spc="-10" dirty="0" smtClean="0">
                <a:latin typeface="Arial"/>
                <a:cs typeface="Arial"/>
              </a:rPr>
              <a:t>this </a:t>
            </a:r>
            <a:r>
              <a:rPr sz="2800" spc="-105" dirty="0" smtClean="0">
                <a:latin typeface="Arial"/>
                <a:cs typeface="Arial"/>
              </a:rPr>
              <a:t>happens </a:t>
            </a:r>
            <a:r>
              <a:rPr sz="2800" spc="60" dirty="0" smtClean="0">
                <a:latin typeface="Arial"/>
                <a:cs typeface="Arial"/>
              </a:rPr>
              <a:t>in </a:t>
            </a:r>
            <a:r>
              <a:rPr sz="2800" spc="-204" dirty="0" smtClean="0">
                <a:latin typeface="Arial"/>
                <a:cs typeface="Arial"/>
              </a:rPr>
              <a:t>a </a:t>
            </a:r>
            <a:r>
              <a:rPr sz="2800" spc="5" dirty="0" smtClean="0">
                <a:latin typeface="Arial"/>
                <a:cs typeface="Arial"/>
              </a:rPr>
              <a:t>different</a:t>
            </a:r>
            <a:r>
              <a:rPr sz="2800" spc="-315" dirty="0" smtClean="0">
                <a:latin typeface="Arial"/>
                <a:cs typeface="Arial"/>
              </a:rPr>
              <a:t> </a:t>
            </a:r>
            <a:r>
              <a:rPr sz="2800" spc="-45" dirty="0" smtClean="0">
                <a:latin typeface="Arial"/>
                <a:cs typeface="Arial"/>
              </a:rPr>
              <a:t>thread</a:t>
            </a:r>
            <a:endParaRPr sz="2800" dirty="0" smtClean="0">
              <a:latin typeface="Arial"/>
              <a:cs typeface="Arial"/>
            </a:endParaRPr>
          </a:p>
          <a:p>
            <a:pPr marL="681990" lvl="1" indent="-325120">
              <a:lnSpc>
                <a:spcPct val="150000"/>
              </a:lnSpc>
              <a:spcBef>
                <a:spcPts val="234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25" dirty="0" smtClean="0">
                <a:latin typeface="Arial"/>
                <a:cs typeface="Arial"/>
              </a:rPr>
              <a:t>the </a:t>
            </a:r>
            <a:r>
              <a:rPr sz="2800" spc="-70" dirty="0" smtClean="0">
                <a:latin typeface="Arial"/>
                <a:cs typeface="Arial"/>
              </a:rPr>
              <a:t>signal </a:t>
            </a:r>
            <a:r>
              <a:rPr sz="2800" spc="-80" dirty="0" smtClean="0">
                <a:latin typeface="Arial"/>
                <a:cs typeface="Arial"/>
              </a:rPr>
              <a:t>is </a:t>
            </a:r>
            <a:r>
              <a:rPr sz="2800" b="1" spc="-135" dirty="0" smtClean="0">
                <a:solidFill>
                  <a:srgbClr val="CC9A00"/>
                </a:solidFill>
                <a:latin typeface="Arial"/>
                <a:cs typeface="Arial"/>
              </a:rPr>
              <a:t>blocked</a:t>
            </a:r>
            <a:r>
              <a:rPr sz="2800" spc="-135" dirty="0" smtClean="0">
                <a:latin typeface="Arial"/>
                <a:cs typeface="Arial"/>
              </a:rPr>
              <a:t>, </a:t>
            </a:r>
            <a:r>
              <a:rPr sz="2800" spc="65" dirty="0" smtClean="0">
                <a:latin typeface="Arial"/>
                <a:cs typeface="Arial"/>
              </a:rPr>
              <a:t>until </a:t>
            </a:r>
            <a:r>
              <a:rPr sz="2800" spc="-25" dirty="0" smtClean="0">
                <a:latin typeface="Arial"/>
                <a:cs typeface="Arial"/>
              </a:rPr>
              <a:t>the </a:t>
            </a:r>
            <a:r>
              <a:rPr sz="2800" spc="-55" dirty="0" smtClean="0">
                <a:latin typeface="Arial"/>
                <a:cs typeface="Arial"/>
              </a:rPr>
              <a:t>program </a:t>
            </a:r>
            <a:r>
              <a:rPr sz="2800" spc="-110" dirty="0" smtClean="0">
                <a:latin typeface="Arial"/>
                <a:cs typeface="Arial"/>
              </a:rPr>
              <a:t>takes </a:t>
            </a:r>
            <a:r>
              <a:rPr sz="2800" spc="-35" dirty="0" smtClean="0">
                <a:latin typeface="Arial"/>
                <a:cs typeface="Arial"/>
              </a:rPr>
              <a:t>action </a:t>
            </a:r>
            <a:r>
              <a:rPr sz="2800" dirty="0" smtClean="0">
                <a:latin typeface="Arial"/>
                <a:cs typeface="Arial"/>
              </a:rPr>
              <a:t>to </a:t>
            </a:r>
            <a:r>
              <a:rPr sz="2800" spc="5" dirty="0" smtClean="0">
                <a:latin typeface="Arial"/>
                <a:cs typeface="Arial"/>
              </a:rPr>
              <a:t>allow </a:t>
            </a:r>
            <a:r>
              <a:rPr sz="2800" spc="-20" dirty="0" smtClean="0">
                <a:latin typeface="Arial"/>
                <a:cs typeface="Arial"/>
              </a:rPr>
              <a:t>its</a:t>
            </a:r>
            <a:r>
              <a:rPr sz="2800" spc="-175" dirty="0" smtClean="0">
                <a:latin typeface="Arial"/>
                <a:cs typeface="Arial"/>
              </a:rPr>
              <a:t> </a:t>
            </a:r>
            <a:r>
              <a:rPr sz="2800" spc="-10" dirty="0" smtClean="0">
                <a:latin typeface="Arial"/>
                <a:cs typeface="Arial"/>
              </a:rPr>
              <a:t>delivery</a:t>
            </a:r>
            <a:endParaRPr sz="2800" dirty="0" smtClean="0">
              <a:latin typeface="Arial"/>
              <a:cs typeface="Arial"/>
            </a:endParaRPr>
          </a:p>
          <a:p>
            <a:pPr marL="1035050" lvl="2" indent="-351155">
              <a:lnSpc>
                <a:spcPct val="150000"/>
              </a:lnSpc>
              <a:spcBef>
                <a:spcPts val="235"/>
              </a:spcBef>
              <a:buClr>
                <a:srgbClr val="9A6500"/>
              </a:buClr>
              <a:buSzPct val="66666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2800" spc="-120" dirty="0" smtClean="0">
                <a:latin typeface="Arial"/>
                <a:cs typeface="Arial"/>
              </a:rPr>
              <a:t>each </a:t>
            </a:r>
            <a:r>
              <a:rPr sz="2800" spc="-125" dirty="0" smtClean="0">
                <a:latin typeface="Arial"/>
                <a:cs typeface="Arial"/>
              </a:rPr>
              <a:t>process </a:t>
            </a:r>
            <a:r>
              <a:rPr sz="2800" spc="-10" dirty="0" smtClean="0">
                <a:latin typeface="Arial"/>
                <a:cs typeface="Arial"/>
              </a:rPr>
              <a:t>(or </a:t>
            </a:r>
            <a:r>
              <a:rPr sz="2800" spc="-40" dirty="0" smtClean="0">
                <a:latin typeface="Arial"/>
                <a:cs typeface="Arial"/>
              </a:rPr>
              <a:t>thread) </a:t>
            </a:r>
            <a:r>
              <a:rPr sz="2800" spc="-145" dirty="0" smtClean="0">
                <a:latin typeface="Arial"/>
                <a:cs typeface="Arial"/>
              </a:rPr>
              <a:t>has </a:t>
            </a:r>
            <a:r>
              <a:rPr sz="2800" spc="-204" dirty="0" smtClean="0">
                <a:latin typeface="Arial"/>
                <a:cs typeface="Arial"/>
              </a:rPr>
              <a:t>a </a:t>
            </a:r>
            <a:r>
              <a:rPr sz="2800" spc="-50" dirty="0" smtClean="0">
                <a:latin typeface="Arial"/>
                <a:cs typeface="Arial"/>
              </a:rPr>
              <a:t>corresponding </a:t>
            </a:r>
            <a:r>
              <a:rPr sz="2800" b="1" spc="-185" dirty="0" smtClean="0">
                <a:solidFill>
                  <a:srgbClr val="CC9A00"/>
                </a:solidFill>
                <a:latin typeface="Arial"/>
                <a:cs typeface="Arial"/>
              </a:rPr>
              <a:t>mask</a:t>
            </a:r>
            <a:endParaRPr sz="2800" dirty="0" smtClean="0">
              <a:latin typeface="Arial"/>
              <a:cs typeface="Arial"/>
            </a:endParaRPr>
          </a:p>
          <a:p>
            <a:pPr marL="355600" indent="-342900">
              <a:lnSpc>
                <a:spcPct val="150000"/>
              </a:lnSpc>
              <a:spcBef>
                <a:spcPts val="44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spc="-135" dirty="0" smtClean="0">
                <a:latin typeface="Arial"/>
                <a:cs typeface="Arial"/>
              </a:rPr>
              <a:t>Each </a:t>
            </a:r>
            <a:r>
              <a:rPr sz="2800" spc="-75" dirty="0" smtClean="0">
                <a:latin typeface="Arial"/>
                <a:cs typeface="Arial"/>
              </a:rPr>
              <a:t>signal </a:t>
            </a:r>
            <a:r>
              <a:rPr sz="2800" spc="-175" dirty="0" smtClean="0">
                <a:latin typeface="Arial"/>
                <a:cs typeface="Arial"/>
              </a:rPr>
              <a:t>has </a:t>
            </a:r>
            <a:r>
              <a:rPr sz="2800" spc="-250" dirty="0" smtClean="0">
                <a:latin typeface="Arial"/>
                <a:cs typeface="Arial"/>
              </a:rPr>
              <a:t>a </a:t>
            </a:r>
            <a:r>
              <a:rPr sz="2800" b="1" spc="-125" dirty="0" smtClean="0">
                <a:solidFill>
                  <a:srgbClr val="CA6800"/>
                </a:solidFill>
                <a:latin typeface="Arial"/>
                <a:cs typeface="Arial"/>
              </a:rPr>
              <a:t>default</a:t>
            </a:r>
            <a:r>
              <a:rPr sz="2800" b="1" spc="-80" dirty="0" smtClean="0">
                <a:solidFill>
                  <a:srgbClr val="CA6800"/>
                </a:solidFill>
                <a:latin typeface="Arial"/>
                <a:cs typeface="Arial"/>
              </a:rPr>
              <a:t> </a:t>
            </a:r>
            <a:r>
              <a:rPr sz="2800" b="1" spc="-140" dirty="0" smtClean="0">
                <a:solidFill>
                  <a:srgbClr val="CA6800"/>
                </a:solidFill>
                <a:latin typeface="Arial"/>
                <a:cs typeface="Arial"/>
              </a:rPr>
              <a:t>behavior</a:t>
            </a:r>
            <a:endParaRPr sz="2800" dirty="0" smtClean="0">
              <a:latin typeface="Arial"/>
              <a:cs typeface="Arial"/>
            </a:endParaRPr>
          </a:p>
          <a:p>
            <a:pPr marL="681990" lvl="1" indent="-325120">
              <a:lnSpc>
                <a:spcPct val="150000"/>
              </a:lnSpc>
              <a:spcBef>
                <a:spcPts val="49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-120" dirty="0" smtClean="0">
                <a:latin typeface="Arial"/>
                <a:cs typeface="Arial"/>
              </a:rPr>
              <a:t>e.g. </a:t>
            </a:r>
            <a:r>
              <a:rPr sz="2800" spc="-40" dirty="0" smtClean="0">
                <a:latin typeface="Arial"/>
                <a:cs typeface="Arial"/>
              </a:rPr>
              <a:t>SIGINT </a:t>
            </a:r>
            <a:r>
              <a:rPr sz="2800" spc="-50" dirty="0" smtClean="0">
                <a:latin typeface="Arial"/>
                <a:cs typeface="Arial"/>
              </a:rPr>
              <a:t>(i.e., </a:t>
            </a:r>
            <a:r>
              <a:rPr sz="2800" spc="-25" dirty="0" err="1" smtClean="0">
                <a:latin typeface="Arial"/>
                <a:cs typeface="Arial"/>
              </a:rPr>
              <a:t>Ctrl+C</a:t>
            </a:r>
            <a:r>
              <a:rPr sz="2800" spc="-25" dirty="0" smtClean="0">
                <a:latin typeface="Arial"/>
                <a:cs typeface="Arial"/>
              </a:rPr>
              <a:t>) </a:t>
            </a:r>
            <a:r>
              <a:rPr sz="2800" spc="-190" dirty="0" smtClean="0">
                <a:latin typeface="Arial"/>
                <a:cs typeface="Arial"/>
              </a:rPr>
              <a:t>causes</a:t>
            </a:r>
            <a:r>
              <a:rPr sz="2800" spc="-65" dirty="0" smtClean="0">
                <a:latin typeface="Arial"/>
                <a:cs typeface="Arial"/>
              </a:rPr>
              <a:t> </a:t>
            </a:r>
            <a:r>
              <a:rPr sz="2800" spc="-5" dirty="0" smtClean="0">
                <a:latin typeface="Arial"/>
                <a:cs typeface="Arial"/>
              </a:rPr>
              <a:t>termination</a:t>
            </a:r>
            <a:endParaRPr sz="2800" dirty="0" smtClean="0">
              <a:latin typeface="Arial"/>
              <a:cs typeface="Arial"/>
            </a:endParaRPr>
          </a:p>
          <a:p>
            <a:pPr marL="681990" lvl="1" indent="-325120">
              <a:lnSpc>
                <a:spcPct val="150000"/>
              </a:lnSpc>
              <a:spcBef>
                <a:spcPts val="47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800" spc="110" dirty="0" smtClean="0">
                <a:latin typeface="Arial"/>
                <a:cs typeface="Arial"/>
              </a:rPr>
              <a:t>it </a:t>
            </a:r>
            <a:r>
              <a:rPr sz="2800" spc="-110" dirty="0" smtClean="0">
                <a:latin typeface="Arial"/>
                <a:cs typeface="Arial"/>
              </a:rPr>
              <a:t>can </a:t>
            </a:r>
            <a:r>
              <a:rPr sz="2800" spc="-130" dirty="0" smtClean="0">
                <a:latin typeface="Arial"/>
                <a:cs typeface="Arial"/>
              </a:rPr>
              <a:t>be </a:t>
            </a:r>
            <a:r>
              <a:rPr sz="2800" spc="-105" dirty="0" smtClean="0">
                <a:latin typeface="Arial"/>
                <a:cs typeface="Arial"/>
              </a:rPr>
              <a:t>changed </a:t>
            </a:r>
            <a:r>
              <a:rPr sz="2800" spc="-70" dirty="0" smtClean="0">
                <a:latin typeface="Arial"/>
                <a:cs typeface="Arial"/>
              </a:rPr>
              <a:t>using</a:t>
            </a:r>
            <a:r>
              <a:rPr sz="2800" spc="-55" dirty="0" smtClean="0">
                <a:latin typeface="Arial"/>
                <a:cs typeface="Arial"/>
              </a:rPr>
              <a:t> </a:t>
            </a:r>
            <a:r>
              <a:rPr sz="2800" spc="-10" dirty="0" err="1" smtClean="0">
                <a:latin typeface="Courier New"/>
                <a:cs typeface="Courier New"/>
              </a:rPr>
              <a:t>sigaction</a:t>
            </a:r>
            <a:r>
              <a:rPr sz="2800" spc="-10" dirty="0" smtClean="0">
                <a:latin typeface="Courier New"/>
                <a:cs typeface="Courier New"/>
              </a:rPr>
              <a:t>()</a:t>
            </a:r>
            <a:endParaRPr sz="2800" dirty="0" smtClean="0">
              <a:latin typeface="Courier New"/>
              <a:cs typeface="Courier New"/>
            </a:endParaRPr>
          </a:p>
          <a:p>
            <a:pPr marL="355600" indent="-342900">
              <a:lnSpc>
                <a:spcPct val="150000"/>
              </a:lnSpc>
              <a:spcBef>
                <a:spcPts val="50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800" spc="-120" dirty="0" smtClean="0">
                <a:latin typeface="Arial"/>
                <a:cs typeface="Arial"/>
              </a:rPr>
              <a:t>Signals </a:t>
            </a:r>
            <a:r>
              <a:rPr sz="2800" spc="-114" dirty="0" smtClean="0">
                <a:latin typeface="Arial"/>
                <a:cs typeface="Arial"/>
              </a:rPr>
              <a:t>can </a:t>
            </a:r>
            <a:r>
              <a:rPr sz="2800" spc="-145" dirty="0" smtClean="0">
                <a:latin typeface="Arial"/>
                <a:cs typeface="Arial"/>
              </a:rPr>
              <a:t>be </a:t>
            </a:r>
            <a:r>
              <a:rPr sz="2800" b="1" spc="-195" dirty="0" smtClean="0">
                <a:solidFill>
                  <a:srgbClr val="A50021"/>
                </a:solidFill>
                <a:latin typeface="Arial"/>
                <a:cs typeface="Arial"/>
              </a:rPr>
              <a:t>nested </a:t>
            </a:r>
            <a:r>
              <a:rPr sz="2800" spc="-45" dirty="0" smtClean="0">
                <a:latin typeface="Arial"/>
                <a:cs typeface="Arial"/>
              </a:rPr>
              <a:t>(i.e., </a:t>
            </a:r>
            <a:r>
              <a:rPr sz="2800" spc="25" dirty="0" smtClean="0">
                <a:latin typeface="Arial"/>
                <a:cs typeface="Arial"/>
              </a:rPr>
              <a:t>while </a:t>
            </a:r>
            <a:r>
              <a:rPr sz="2800" spc="-85" dirty="0" smtClean="0">
                <a:latin typeface="Arial"/>
                <a:cs typeface="Arial"/>
              </a:rPr>
              <a:t>one </a:t>
            </a:r>
            <a:r>
              <a:rPr sz="2800" spc="-75" dirty="0" smtClean="0">
                <a:latin typeface="Arial"/>
                <a:cs typeface="Arial"/>
              </a:rPr>
              <a:t>is </a:t>
            </a:r>
            <a:r>
              <a:rPr sz="2800" spc="-50" dirty="0" smtClean="0">
                <a:latin typeface="Arial"/>
                <a:cs typeface="Arial"/>
              </a:rPr>
              <a:t>being handled </a:t>
            </a:r>
            <a:r>
              <a:rPr sz="2800" spc="-35" dirty="0" smtClean="0">
                <a:latin typeface="Arial"/>
                <a:cs typeface="Arial"/>
              </a:rPr>
              <a:t>another </a:t>
            </a:r>
            <a:r>
              <a:rPr sz="2800" spc="-75" dirty="0" smtClean="0">
                <a:latin typeface="Arial"/>
                <a:cs typeface="Arial"/>
              </a:rPr>
              <a:t>is</a:t>
            </a:r>
            <a:r>
              <a:rPr sz="2800" spc="-175" dirty="0" smtClean="0">
                <a:latin typeface="Arial"/>
                <a:cs typeface="Arial"/>
              </a:rPr>
              <a:t> </a:t>
            </a:r>
            <a:r>
              <a:rPr sz="2800" spc="-40" dirty="0" smtClean="0">
                <a:latin typeface="Arial"/>
                <a:cs typeface="Arial"/>
              </a:rPr>
              <a:t>delivered)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780" y="118617"/>
            <a:ext cx="14478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310" dirty="0"/>
              <a:t>Signals</a:t>
            </a:r>
            <a:endParaRPr sz="4200"/>
          </a:p>
        </p:txBody>
      </p:sp>
      <p:sp>
        <p:nvSpPr>
          <p:cNvPr id="4" name="object 4"/>
          <p:cNvSpPr txBox="1"/>
          <p:nvPr/>
        </p:nvSpPr>
        <p:spPr>
          <a:xfrm>
            <a:off x="66935" y="718312"/>
            <a:ext cx="8201659" cy="157099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40"/>
              </a:spcBef>
              <a:buClr>
                <a:srgbClr val="9A6500"/>
              </a:buClr>
              <a:buSzPct val="666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Courier New"/>
                <a:cs typeface="Courier New"/>
              </a:rPr>
              <a:t>int sigaction(</a:t>
            </a:r>
            <a:r>
              <a:rPr sz="1800" b="1" spc="-5" dirty="0">
                <a:solidFill>
                  <a:srgbClr val="9A6500"/>
                </a:solidFill>
                <a:latin typeface="Courier New"/>
                <a:cs typeface="Courier New"/>
              </a:rPr>
              <a:t>whichSignal</a:t>
            </a:r>
            <a:r>
              <a:rPr sz="1800" b="1" spc="-5" dirty="0">
                <a:latin typeface="Courier New"/>
                <a:cs typeface="Courier New"/>
              </a:rPr>
              <a:t>, </a:t>
            </a:r>
            <a:r>
              <a:rPr sz="1800" b="1" spc="-10" dirty="0">
                <a:latin typeface="Courier New"/>
                <a:cs typeface="Courier New"/>
              </a:rPr>
              <a:t>&amp;</a:t>
            </a:r>
            <a:r>
              <a:rPr sz="1800" b="1" spc="-10" dirty="0">
                <a:solidFill>
                  <a:srgbClr val="A50021"/>
                </a:solidFill>
                <a:latin typeface="Courier New"/>
                <a:cs typeface="Courier New"/>
              </a:rPr>
              <a:t>newAction</a:t>
            </a:r>
            <a:r>
              <a:rPr sz="1800" b="1" spc="-10" dirty="0">
                <a:latin typeface="Courier New"/>
                <a:cs typeface="Courier New"/>
              </a:rPr>
              <a:t>,</a:t>
            </a:r>
            <a:r>
              <a:rPr sz="1800" b="1" spc="-4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&amp;</a:t>
            </a:r>
            <a:r>
              <a:rPr sz="1800" b="1" spc="-10" dirty="0">
                <a:solidFill>
                  <a:srgbClr val="CC9A00"/>
                </a:solidFill>
                <a:latin typeface="Courier New"/>
                <a:cs typeface="Courier New"/>
              </a:rPr>
              <a:t>oldAction</a:t>
            </a:r>
            <a:r>
              <a:rPr sz="1800" b="1" spc="-10" dirty="0">
                <a:latin typeface="Courier New"/>
                <a:cs typeface="Courier New"/>
              </a:rPr>
              <a:t>);</a:t>
            </a:r>
            <a:endParaRPr sz="1800">
              <a:latin typeface="Courier New"/>
              <a:cs typeface="Courier New"/>
            </a:endParaRPr>
          </a:p>
          <a:p>
            <a:pPr marL="681990" lvl="1" indent="-325120">
              <a:lnSpc>
                <a:spcPct val="100000"/>
              </a:lnSpc>
              <a:spcBef>
                <a:spcPts val="340"/>
              </a:spcBef>
              <a:buSzPct val="61111"/>
              <a:buFont typeface="Wingdings"/>
              <a:buChar char=""/>
              <a:tabLst>
                <a:tab pos="682625" algn="l"/>
              </a:tabLst>
            </a:pPr>
            <a:r>
              <a:rPr sz="1800" b="1" spc="-110" dirty="0">
                <a:solidFill>
                  <a:srgbClr val="9A6500"/>
                </a:solidFill>
                <a:latin typeface="Arial"/>
                <a:cs typeface="Arial"/>
              </a:rPr>
              <a:t>whichSignal</a:t>
            </a:r>
            <a:r>
              <a:rPr sz="1800" spc="-110" dirty="0">
                <a:latin typeface="Arial"/>
                <a:cs typeface="Arial"/>
              </a:rPr>
              <a:t>: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35" dirty="0">
                <a:latin typeface="Arial"/>
                <a:cs typeface="Arial"/>
              </a:rPr>
              <a:t>integer</a:t>
            </a:r>
            <a:endParaRPr sz="18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229"/>
              </a:spcBef>
              <a:buClr>
                <a:srgbClr val="9A6500"/>
              </a:buClr>
              <a:buSzPct val="61111"/>
              <a:buFont typeface="Wingdings"/>
              <a:buChar char=""/>
              <a:tabLst>
                <a:tab pos="682625" algn="l"/>
              </a:tabLst>
            </a:pPr>
            <a:r>
              <a:rPr sz="1800" b="1" spc="-80" dirty="0">
                <a:solidFill>
                  <a:srgbClr val="A50021"/>
                </a:solidFill>
                <a:latin typeface="Arial"/>
                <a:cs typeface="Arial"/>
              </a:rPr>
              <a:t>newAction</a:t>
            </a:r>
            <a:r>
              <a:rPr sz="1800" spc="-80" dirty="0">
                <a:latin typeface="Arial"/>
                <a:cs typeface="Arial"/>
              </a:rPr>
              <a:t>: </a:t>
            </a:r>
            <a:r>
              <a:rPr sz="1600" dirty="0">
                <a:latin typeface="Courier New"/>
                <a:cs typeface="Courier New"/>
              </a:rPr>
              <a:t>struct </a:t>
            </a:r>
            <a:r>
              <a:rPr sz="1600" spc="-5" dirty="0">
                <a:latin typeface="Courier New"/>
                <a:cs typeface="Courier New"/>
              </a:rPr>
              <a:t>sigaction</a:t>
            </a:r>
            <a:r>
              <a:rPr sz="1800" spc="-5" dirty="0">
                <a:latin typeface="Arial"/>
                <a:cs typeface="Arial"/>
              </a:rPr>
              <a:t>, </a:t>
            </a:r>
            <a:r>
              <a:rPr sz="1800" spc="-70" dirty="0">
                <a:latin typeface="Arial"/>
                <a:cs typeface="Arial"/>
              </a:rPr>
              <a:t>defines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30" dirty="0">
                <a:latin typeface="Arial"/>
                <a:cs typeface="Arial"/>
              </a:rPr>
              <a:t>new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40" dirty="0">
                <a:latin typeface="Arial"/>
                <a:cs typeface="Arial"/>
              </a:rPr>
              <a:t>behavior</a:t>
            </a:r>
            <a:endParaRPr sz="18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229"/>
              </a:spcBef>
              <a:buClr>
                <a:srgbClr val="9A6500"/>
              </a:buClr>
              <a:buSzPct val="61111"/>
              <a:buFont typeface="Wingdings"/>
              <a:buChar char=""/>
              <a:tabLst>
                <a:tab pos="682625" algn="l"/>
              </a:tabLst>
            </a:pPr>
            <a:r>
              <a:rPr sz="1800" b="1" spc="-85" dirty="0">
                <a:solidFill>
                  <a:srgbClr val="CC9A00"/>
                </a:solidFill>
                <a:latin typeface="Arial"/>
                <a:cs typeface="Arial"/>
              </a:rPr>
              <a:t>oldAction</a:t>
            </a:r>
            <a:r>
              <a:rPr sz="1800" spc="-85" dirty="0">
                <a:latin typeface="Arial"/>
                <a:cs typeface="Arial"/>
              </a:rPr>
              <a:t>: </a:t>
            </a:r>
            <a:r>
              <a:rPr sz="1600" dirty="0">
                <a:latin typeface="Courier New"/>
                <a:cs typeface="Courier New"/>
              </a:rPr>
              <a:t>struct </a:t>
            </a:r>
            <a:r>
              <a:rPr sz="1600" spc="-5" dirty="0">
                <a:latin typeface="Courier New"/>
                <a:cs typeface="Courier New"/>
              </a:rPr>
              <a:t>sigaction</a:t>
            </a:r>
            <a:r>
              <a:rPr sz="1800" spc="-5" dirty="0">
                <a:latin typeface="Arial"/>
                <a:cs typeface="Arial"/>
              </a:rPr>
              <a:t>, </a:t>
            </a:r>
            <a:r>
              <a:rPr sz="1800" spc="90" dirty="0">
                <a:latin typeface="Arial"/>
                <a:cs typeface="Arial"/>
              </a:rPr>
              <a:t>if </a:t>
            </a:r>
            <a:r>
              <a:rPr sz="1800" spc="5" dirty="0">
                <a:latin typeface="Arial"/>
                <a:cs typeface="Arial"/>
              </a:rPr>
              <a:t>not </a:t>
            </a:r>
            <a:r>
              <a:rPr sz="1800" spc="-15" dirty="0">
                <a:latin typeface="Arial"/>
                <a:cs typeface="Arial"/>
              </a:rPr>
              <a:t>NULL, </a:t>
            </a:r>
            <a:r>
              <a:rPr sz="1800" spc="-10" dirty="0">
                <a:latin typeface="Arial"/>
                <a:cs typeface="Arial"/>
              </a:rPr>
              <a:t>then </a:t>
            </a:r>
            <a:r>
              <a:rPr sz="1800" spc="-55" dirty="0">
                <a:latin typeface="Arial"/>
                <a:cs typeface="Arial"/>
              </a:rPr>
              <a:t>previous </a:t>
            </a:r>
            <a:r>
              <a:rPr sz="1800" spc="-35" dirty="0">
                <a:latin typeface="Arial"/>
                <a:cs typeface="Arial"/>
              </a:rPr>
              <a:t>behavior</a:t>
            </a:r>
            <a:r>
              <a:rPr sz="1800" spc="-335" dirty="0">
                <a:latin typeface="Arial"/>
                <a:cs typeface="Arial"/>
              </a:rPr>
              <a:t> </a:t>
            </a:r>
            <a:r>
              <a:rPr sz="1800" spc="-75" dirty="0">
                <a:latin typeface="Arial"/>
                <a:cs typeface="Arial"/>
              </a:rPr>
              <a:t>is </a:t>
            </a:r>
            <a:r>
              <a:rPr sz="1800" spc="-65" dirty="0">
                <a:latin typeface="Arial"/>
                <a:cs typeface="Arial"/>
              </a:rPr>
              <a:t>copied</a:t>
            </a:r>
            <a:endParaRPr sz="18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225"/>
              </a:spcBef>
              <a:buClr>
                <a:srgbClr val="9A6500"/>
              </a:buClr>
              <a:buSzPct val="61111"/>
              <a:buFont typeface="Wingdings"/>
              <a:buChar char=""/>
              <a:tabLst>
                <a:tab pos="682625" algn="l"/>
              </a:tabLst>
            </a:pPr>
            <a:r>
              <a:rPr sz="1800" spc="100" dirty="0">
                <a:latin typeface="Arial"/>
                <a:cs typeface="Arial"/>
              </a:rPr>
              <a:t>it </a:t>
            </a:r>
            <a:r>
              <a:rPr sz="1800" spc="-25" dirty="0">
                <a:latin typeface="Arial"/>
                <a:cs typeface="Arial"/>
              </a:rPr>
              <a:t>returns </a:t>
            </a:r>
            <a:r>
              <a:rPr sz="1800" spc="-105" dirty="0">
                <a:latin typeface="Arial"/>
                <a:cs typeface="Arial"/>
              </a:rPr>
              <a:t>0 </a:t>
            </a:r>
            <a:r>
              <a:rPr sz="1800" spc="-40" dirty="0">
                <a:latin typeface="Arial"/>
                <a:cs typeface="Arial"/>
              </a:rPr>
              <a:t>on </a:t>
            </a:r>
            <a:r>
              <a:rPr sz="1800" spc="-155" dirty="0">
                <a:latin typeface="Arial"/>
                <a:cs typeface="Arial"/>
              </a:rPr>
              <a:t>success, </a:t>
            </a:r>
            <a:r>
              <a:rPr sz="1800" spc="-10" dirty="0">
                <a:latin typeface="Arial"/>
                <a:cs typeface="Arial"/>
              </a:rPr>
              <a:t>-1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35" dirty="0">
                <a:latin typeface="Arial"/>
                <a:cs typeface="Arial"/>
              </a:rPr>
              <a:t>otherwise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3961" y="2377694"/>
            <a:ext cx="8505190" cy="1178560"/>
          </a:xfrm>
          <a:prstGeom prst="rect">
            <a:avLst/>
          </a:prstGeom>
          <a:ln w="22225">
            <a:solidFill>
              <a:srgbClr val="9966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295"/>
              </a:spcBef>
            </a:pPr>
            <a:r>
              <a:rPr sz="1400" b="1" spc="-10" dirty="0">
                <a:latin typeface="Courier New"/>
                <a:cs typeface="Courier New"/>
              </a:rPr>
              <a:t>struct sigaction</a:t>
            </a:r>
            <a:r>
              <a:rPr sz="1400" b="1" spc="-15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422275">
              <a:lnSpc>
                <a:spcPts val="1675"/>
              </a:lnSpc>
              <a:spcBef>
                <a:spcPts val="25"/>
              </a:spcBef>
            </a:pPr>
            <a:r>
              <a:rPr sz="1400" b="1" spc="-10" dirty="0">
                <a:latin typeface="Courier New"/>
                <a:cs typeface="Courier New"/>
              </a:rPr>
              <a:t>void (*sa_handler)(int); </a:t>
            </a:r>
            <a:r>
              <a:rPr sz="1400" spc="-35" dirty="0">
                <a:latin typeface="Arial"/>
                <a:cs typeface="Arial"/>
              </a:rPr>
              <a:t>/* </a:t>
            </a:r>
            <a:r>
              <a:rPr sz="1400" spc="-60" dirty="0">
                <a:latin typeface="Arial"/>
                <a:cs typeface="Arial"/>
              </a:rPr>
              <a:t>Signal </a:t>
            </a:r>
            <a:r>
              <a:rPr sz="1400" spc="-25" dirty="0">
                <a:latin typeface="Arial"/>
                <a:cs typeface="Arial"/>
              </a:rPr>
              <a:t>handler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*/</a:t>
            </a:r>
            <a:endParaRPr sz="1400">
              <a:latin typeface="Arial"/>
              <a:cs typeface="Arial"/>
            </a:endParaRPr>
          </a:p>
          <a:p>
            <a:pPr marL="422275" marR="1520190">
              <a:lnSpc>
                <a:spcPts val="1670"/>
              </a:lnSpc>
              <a:spcBef>
                <a:spcPts val="60"/>
              </a:spcBef>
              <a:tabLst>
                <a:tab pos="3081020" algn="l"/>
              </a:tabLst>
            </a:pPr>
            <a:r>
              <a:rPr sz="1400" b="1" spc="-10" dirty="0">
                <a:latin typeface="Courier New"/>
                <a:cs typeface="Courier New"/>
              </a:rPr>
              <a:t>sigset_t</a:t>
            </a:r>
            <a:r>
              <a:rPr sz="1400" b="1" spc="30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sa_mask;	</a:t>
            </a:r>
            <a:r>
              <a:rPr sz="1400" spc="-35" dirty="0">
                <a:latin typeface="Arial"/>
                <a:cs typeface="Arial"/>
              </a:rPr>
              <a:t>/* </a:t>
            </a:r>
            <a:r>
              <a:rPr sz="1400" spc="-80" dirty="0">
                <a:latin typeface="Arial"/>
                <a:cs typeface="Arial"/>
              </a:rPr>
              <a:t>Signals </a:t>
            </a:r>
            <a:r>
              <a:rPr sz="1400" dirty="0">
                <a:latin typeface="Arial"/>
                <a:cs typeface="Arial"/>
              </a:rPr>
              <a:t>to </a:t>
            </a:r>
            <a:r>
              <a:rPr sz="1400" spc="-95" dirty="0">
                <a:latin typeface="Arial"/>
                <a:cs typeface="Arial"/>
              </a:rPr>
              <a:t>be </a:t>
            </a:r>
            <a:r>
              <a:rPr sz="1400" spc="-35" dirty="0">
                <a:latin typeface="Arial"/>
                <a:cs typeface="Arial"/>
              </a:rPr>
              <a:t>blocked </a:t>
            </a:r>
            <a:r>
              <a:rPr sz="1400" spc="-5" dirty="0">
                <a:latin typeface="Arial"/>
                <a:cs typeface="Arial"/>
              </a:rPr>
              <a:t>during </a:t>
            </a:r>
            <a:r>
              <a:rPr sz="1400" spc="-25" dirty="0">
                <a:latin typeface="Arial"/>
                <a:cs typeface="Arial"/>
              </a:rPr>
              <a:t>handler </a:t>
            </a:r>
            <a:r>
              <a:rPr sz="1400" spc="-35" dirty="0">
                <a:latin typeface="Arial"/>
                <a:cs typeface="Arial"/>
              </a:rPr>
              <a:t>execution </a:t>
            </a:r>
            <a:r>
              <a:rPr sz="1400" b="1" spc="-5" dirty="0">
                <a:latin typeface="Courier New"/>
                <a:cs typeface="Courier New"/>
              </a:rPr>
              <a:t>*/  int</a:t>
            </a:r>
            <a:r>
              <a:rPr sz="1400" b="1" spc="10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sa_flags;	</a:t>
            </a:r>
            <a:r>
              <a:rPr sz="1400" spc="-35" dirty="0">
                <a:latin typeface="Arial"/>
                <a:cs typeface="Arial"/>
              </a:rPr>
              <a:t>/* </a:t>
            </a:r>
            <a:r>
              <a:rPr sz="1400" spc="-100" dirty="0">
                <a:latin typeface="Arial"/>
                <a:cs typeface="Arial"/>
              </a:rPr>
              <a:t>Flags </a:t>
            </a:r>
            <a:r>
              <a:rPr sz="1400" dirty="0">
                <a:latin typeface="Arial"/>
                <a:cs typeface="Arial"/>
              </a:rPr>
              <a:t>to </a:t>
            </a:r>
            <a:r>
              <a:rPr sz="1400" spc="5" dirty="0">
                <a:latin typeface="Arial"/>
                <a:cs typeface="Arial"/>
              </a:rPr>
              <a:t>modify </a:t>
            </a:r>
            <a:r>
              <a:rPr sz="1400" spc="-20" dirty="0">
                <a:latin typeface="Arial"/>
                <a:cs typeface="Arial"/>
              </a:rPr>
              <a:t>default </a:t>
            </a:r>
            <a:r>
              <a:rPr sz="1400" spc="-30" dirty="0">
                <a:latin typeface="Arial"/>
                <a:cs typeface="Arial"/>
              </a:rPr>
              <a:t>behavior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*/</a:t>
            </a:r>
            <a:endParaRPr sz="1400">
              <a:latin typeface="Arial"/>
              <a:cs typeface="Arial"/>
            </a:endParaRPr>
          </a:p>
          <a:p>
            <a:pPr marL="103505">
              <a:lnSpc>
                <a:spcPts val="1600"/>
              </a:lnSpc>
            </a:pPr>
            <a:r>
              <a:rPr sz="1400" b="1" spc="-5" dirty="0">
                <a:latin typeface="Courier New"/>
                <a:cs typeface="Courier New"/>
              </a:rPr>
              <a:t>};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36535" y="5351017"/>
            <a:ext cx="6177915" cy="845185"/>
          </a:xfrm>
          <a:custGeom>
            <a:avLst/>
            <a:gdLst/>
            <a:ahLst/>
            <a:cxnLst/>
            <a:rect l="l" t="t" r="r" b="b"/>
            <a:pathLst>
              <a:path w="6177915" h="845185">
                <a:moveTo>
                  <a:pt x="0" y="0"/>
                </a:moveTo>
                <a:lnTo>
                  <a:pt x="0" y="845058"/>
                </a:lnTo>
                <a:lnTo>
                  <a:pt x="6177534" y="845058"/>
                </a:lnTo>
                <a:lnTo>
                  <a:pt x="6177534" y="0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38263" y="3519423"/>
            <a:ext cx="8308975" cy="2620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5080" indent="-351155">
              <a:lnSpc>
                <a:spcPct val="100000"/>
              </a:lnSpc>
              <a:spcBef>
                <a:spcPts val="100"/>
              </a:spcBef>
              <a:buClr>
                <a:srgbClr val="9A6500"/>
              </a:buClr>
              <a:buSzPct val="62500"/>
              <a:buFont typeface="Wingdings"/>
              <a:buChar char=""/>
              <a:tabLst>
                <a:tab pos="363855" algn="l"/>
                <a:tab pos="364490" algn="l"/>
              </a:tabLst>
            </a:pPr>
            <a:r>
              <a:rPr sz="1600" dirty="0">
                <a:latin typeface="Courier New"/>
                <a:cs typeface="Courier New"/>
              </a:rPr>
              <a:t>sa_handler </a:t>
            </a:r>
            <a:r>
              <a:rPr sz="1800" spc="-55" dirty="0">
                <a:latin typeface="Arial"/>
                <a:cs typeface="Arial"/>
              </a:rPr>
              <a:t>determines </a:t>
            </a:r>
            <a:r>
              <a:rPr sz="1800" spc="30" dirty="0">
                <a:latin typeface="Arial"/>
                <a:cs typeface="Arial"/>
              </a:rPr>
              <a:t>which </a:t>
            </a:r>
            <a:r>
              <a:rPr sz="1800" spc="-10" dirty="0">
                <a:latin typeface="Arial"/>
                <a:cs typeface="Arial"/>
              </a:rPr>
              <a:t>of </a:t>
            </a:r>
            <a:r>
              <a:rPr sz="1800" spc="-20" dirty="0">
                <a:latin typeface="Arial"/>
                <a:cs typeface="Arial"/>
              </a:rPr>
              <a:t>the </a:t>
            </a:r>
            <a:r>
              <a:rPr sz="1800" spc="20" dirty="0">
                <a:latin typeface="Arial"/>
                <a:cs typeface="Arial"/>
              </a:rPr>
              <a:t>first </a:t>
            </a:r>
            <a:r>
              <a:rPr sz="1800" spc="-30" dirty="0">
                <a:latin typeface="Arial"/>
                <a:cs typeface="Arial"/>
              </a:rPr>
              <a:t>three </a:t>
            </a:r>
            <a:r>
              <a:rPr sz="1800" spc="-40" dirty="0">
                <a:latin typeface="Arial"/>
                <a:cs typeface="Arial"/>
              </a:rPr>
              <a:t>possibilities </a:t>
            </a:r>
            <a:r>
              <a:rPr sz="1800" spc="-80" dirty="0">
                <a:latin typeface="Arial"/>
                <a:cs typeface="Arial"/>
              </a:rPr>
              <a:t>occurs </a:t>
            </a:r>
            <a:r>
              <a:rPr sz="1800" spc="-15" dirty="0">
                <a:latin typeface="Arial"/>
                <a:cs typeface="Arial"/>
              </a:rPr>
              <a:t>when</a:t>
            </a:r>
            <a:r>
              <a:rPr sz="1800" spc="-360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signal </a:t>
            </a:r>
            <a:r>
              <a:rPr sz="1800" spc="-80" dirty="0">
                <a:latin typeface="Arial"/>
                <a:cs typeface="Arial"/>
              </a:rPr>
              <a:t>is  </a:t>
            </a:r>
            <a:r>
              <a:rPr sz="1800" spc="-40" dirty="0">
                <a:latin typeface="Arial"/>
                <a:cs typeface="Arial"/>
              </a:rPr>
              <a:t>delivered, </a:t>
            </a:r>
            <a:r>
              <a:rPr sz="1800" spc="-50" dirty="0">
                <a:latin typeface="Arial"/>
                <a:cs typeface="Arial"/>
              </a:rPr>
              <a:t>i.e., </a:t>
            </a:r>
            <a:r>
              <a:rPr sz="1800" spc="100" dirty="0">
                <a:latin typeface="Arial"/>
                <a:cs typeface="Arial"/>
              </a:rPr>
              <a:t>it </a:t>
            </a:r>
            <a:r>
              <a:rPr sz="1800" spc="-75" dirty="0">
                <a:latin typeface="Arial"/>
                <a:cs typeface="Arial"/>
              </a:rPr>
              <a:t>is </a:t>
            </a:r>
            <a:r>
              <a:rPr sz="1800" spc="5" dirty="0">
                <a:latin typeface="Arial"/>
                <a:cs typeface="Arial"/>
              </a:rPr>
              <a:t>not</a:t>
            </a:r>
            <a:r>
              <a:rPr sz="1800" spc="-204" dirty="0">
                <a:latin typeface="Arial"/>
                <a:cs typeface="Arial"/>
              </a:rPr>
              <a:t> </a:t>
            </a:r>
            <a:r>
              <a:rPr sz="1800" spc="-110" dirty="0">
                <a:latin typeface="Arial"/>
                <a:cs typeface="Arial"/>
              </a:rPr>
              <a:t>masked</a:t>
            </a:r>
            <a:endParaRPr sz="1800">
              <a:latin typeface="Arial"/>
              <a:cs typeface="Arial"/>
            </a:endParaRPr>
          </a:p>
          <a:p>
            <a:pPr marL="680720" lvl="1" indent="-315595">
              <a:lnSpc>
                <a:spcPct val="100000"/>
              </a:lnSpc>
              <a:spcBef>
                <a:spcPts val="415"/>
              </a:spcBef>
              <a:buClr>
                <a:srgbClr val="9A6500"/>
              </a:buClr>
              <a:buSzPct val="71428"/>
              <a:buFont typeface="Wingdings"/>
              <a:buChar char=""/>
              <a:tabLst>
                <a:tab pos="680720" algn="l"/>
                <a:tab pos="681355" algn="l"/>
              </a:tabLst>
            </a:pPr>
            <a:r>
              <a:rPr sz="1400" spc="-15" dirty="0">
                <a:latin typeface="Courier New"/>
                <a:cs typeface="Courier New"/>
              </a:rPr>
              <a:t>SIG_IGN</a:t>
            </a:r>
            <a:r>
              <a:rPr sz="1600" spc="-15" dirty="0">
                <a:latin typeface="Arial"/>
                <a:cs typeface="Arial"/>
              </a:rPr>
              <a:t>, </a:t>
            </a:r>
            <a:r>
              <a:rPr sz="1400" spc="-15" dirty="0">
                <a:latin typeface="Courier New"/>
                <a:cs typeface="Courier New"/>
              </a:rPr>
              <a:t>SIG_DFL</a:t>
            </a:r>
            <a:r>
              <a:rPr sz="1600" spc="-15" dirty="0">
                <a:latin typeface="Arial"/>
                <a:cs typeface="Arial"/>
              </a:rPr>
              <a:t>, </a:t>
            </a:r>
            <a:r>
              <a:rPr sz="1600" spc="-114" dirty="0">
                <a:latin typeface="Arial"/>
                <a:cs typeface="Arial"/>
              </a:rPr>
              <a:t>address </a:t>
            </a:r>
            <a:r>
              <a:rPr sz="1600" spc="-10" dirty="0">
                <a:latin typeface="Arial"/>
                <a:cs typeface="Arial"/>
              </a:rPr>
              <a:t>of </a:t>
            </a:r>
            <a:r>
              <a:rPr sz="1600" spc="-185" dirty="0">
                <a:latin typeface="Arial"/>
                <a:cs typeface="Arial"/>
              </a:rPr>
              <a:t>a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spc="10" dirty="0">
                <a:latin typeface="Arial"/>
                <a:cs typeface="Arial"/>
              </a:rPr>
              <a:t>function</a:t>
            </a:r>
            <a:endParaRPr sz="1600">
              <a:latin typeface="Arial"/>
              <a:cs typeface="Arial"/>
            </a:endParaRPr>
          </a:p>
          <a:p>
            <a:pPr marL="363855" indent="-351155">
              <a:lnSpc>
                <a:spcPct val="100000"/>
              </a:lnSpc>
              <a:spcBef>
                <a:spcPts val="420"/>
              </a:spcBef>
              <a:buClr>
                <a:srgbClr val="9A6500"/>
              </a:buClr>
              <a:buSzPct val="62500"/>
              <a:buFont typeface="Wingdings"/>
              <a:buChar char=""/>
              <a:tabLst>
                <a:tab pos="363855" algn="l"/>
                <a:tab pos="364490" algn="l"/>
              </a:tabLst>
            </a:pPr>
            <a:r>
              <a:rPr sz="1600" dirty="0">
                <a:latin typeface="Courier New"/>
                <a:cs typeface="Courier New"/>
              </a:rPr>
              <a:t>sa_mask</a:t>
            </a:r>
            <a:r>
              <a:rPr sz="1600" spc="-635" dirty="0">
                <a:latin typeface="Courier New"/>
                <a:cs typeface="Courier New"/>
              </a:rPr>
              <a:t> </a:t>
            </a:r>
            <a:r>
              <a:rPr sz="1800" spc="-80" dirty="0">
                <a:latin typeface="Arial"/>
                <a:cs typeface="Arial"/>
              </a:rPr>
              <a:t>specifies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90" dirty="0">
                <a:latin typeface="Arial"/>
                <a:cs typeface="Arial"/>
              </a:rPr>
              <a:t>signals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120" dirty="0">
                <a:latin typeface="Arial"/>
                <a:cs typeface="Arial"/>
              </a:rPr>
              <a:t>be </a:t>
            </a:r>
            <a:r>
              <a:rPr sz="1800" spc="-45" dirty="0">
                <a:latin typeface="Arial"/>
                <a:cs typeface="Arial"/>
              </a:rPr>
              <a:t>blocked </a:t>
            </a:r>
            <a:r>
              <a:rPr sz="1800" spc="30" dirty="0">
                <a:latin typeface="Arial"/>
                <a:cs typeface="Arial"/>
              </a:rPr>
              <a:t>while </a:t>
            </a:r>
            <a:r>
              <a:rPr sz="1800" spc="-15" dirty="0">
                <a:latin typeface="Arial"/>
                <a:cs typeface="Arial"/>
              </a:rPr>
              <a:t>handling </a:t>
            </a:r>
            <a:r>
              <a:rPr sz="1800" b="1" spc="-114" dirty="0">
                <a:solidFill>
                  <a:srgbClr val="9A6500"/>
                </a:solidFill>
                <a:latin typeface="Arial"/>
                <a:cs typeface="Arial"/>
              </a:rPr>
              <a:t>whichSignal</a:t>
            </a:r>
            <a:endParaRPr sz="1800">
              <a:latin typeface="Arial"/>
              <a:cs typeface="Arial"/>
            </a:endParaRPr>
          </a:p>
          <a:p>
            <a:pPr marL="680720" lvl="1" indent="-315595">
              <a:lnSpc>
                <a:spcPct val="100000"/>
              </a:lnSpc>
              <a:spcBef>
                <a:spcPts val="415"/>
              </a:spcBef>
              <a:buSzPct val="68750"/>
              <a:buFont typeface="Wingdings"/>
              <a:buChar char=""/>
              <a:tabLst>
                <a:tab pos="680720" algn="l"/>
                <a:tab pos="681355" algn="l"/>
              </a:tabLst>
            </a:pPr>
            <a:r>
              <a:rPr sz="1600" b="1" spc="-95" dirty="0">
                <a:solidFill>
                  <a:srgbClr val="9A6500"/>
                </a:solidFill>
                <a:latin typeface="Arial"/>
                <a:cs typeface="Arial"/>
              </a:rPr>
              <a:t>whichSignal </a:t>
            </a:r>
            <a:r>
              <a:rPr sz="1600" spc="-65" dirty="0">
                <a:latin typeface="Arial"/>
                <a:cs typeface="Arial"/>
              </a:rPr>
              <a:t>is always</a:t>
            </a:r>
            <a:r>
              <a:rPr sz="1600" spc="20" dirty="0">
                <a:latin typeface="Arial"/>
                <a:cs typeface="Arial"/>
              </a:rPr>
              <a:t> </a:t>
            </a:r>
            <a:r>
              <a:rPr sz="1600" spc="-40" dirty="0">
                <a:latin typeface="Arial"/>
                <a:cs typeface="Arial"/>
              </a:rPr>
              <a:t>blocked</a:t>
            </a:r>
            <a:endParaRPr sz="1600">
              <a:latin typeface="Arial"/>
              <a:cs typeface="Arial"/>
            </a:endParaRPr>
          </a:p>
          <a:p>
            <a:pPr marL="680720" lvl="1" indent="-315595">
              <a:lnSpc>
                <a:spcPct val="100000"/>
              </a:lnSpc>
              <a:spcBef>
                <a:spcPts val="390"/>
              </a:spcBef>
              <a:buClr>
                <a:srgbClr val="9A6500"/>
              </a:buClr>
              <a:buSzPct val="68750"/>
              <a:buFont typeface="Wingdings"/>
              <a:buChar char=""/>
              <a:tabLst>
                <a:tab pos="680720" algn="l"/>
                <a:tab pos="681355" algn="l"/>
              </a:tabLst>
            </a:pPr>
            <a:r>
              <a:rPr sz="1600" spc="90" dirty="0">
                <a:latin typeface="Arial"/>
                <a:cs typeface="Arial"/>
              </a:rPr>
              <a:t>it </a:t>
            </a:r>
            <a:r>
              <a:rPr sz="1600" spc="-65" dirty="0">
                <a:latin typeface="Arial"/>
                <a:cs typeface="Arial"/>
              </a:rPr>
              <a:t>is </a:t>
            </a:r>
            <a:r>
              <a:rPr sz="1600" spc="-35" dirty="0">
                <a:latin typeface="Arial"/>
                <a:cs typeface="Arial"/>
              </a:rPr>
              <a:t>implemented </a:t>
            </a:r>
            <a:r>
              <a:rPr sz="1600" spc="-204" dirty="0">
                <a:latin typeface="Arial"/>
                <a:cs typeface="Arial"/>
              </a:rPr>
              <a:t>as </a:t>
            </a:r>
            <a:r>
              <a:rPr sz="1600" spc="-185" dirty="0">
                <a:latin typeface="Arial"/>
                <a:cs typeface="Arial"/>
              </a:rPr>
              <a:t>a </a:t>
            </a:r>
            <a:r>
              <a:rPr sz="1600" spc="-100" dirty="0">
                <a:latin typeface="Arial"/>
                <a:cs typeface="Arial"/>
              </a:rPr>
              <a:t>set </a:t>
            </a:r>
            <a:r>
              <a:rPr sz="1600" spc="-10" dirty="0">
                <a:latin typeface="Arial"/>
                <a:cs typeface="Arial"/>
              </a:rPr>
              <a:t>of </a:t>
            </a:r>
            <a:r>
              <a:rPr sz="1600" spc="-60" dirty="0">
                <a:latin typeface="Arial"/>
                <a:cs typeface="Arial"/>
              </a:rPr>
              <a:t>boolean</a:t>
            </a:r>
            <a:r>
              <a:rPr sz="1600" spc="-95" dirty="0">
                <a:latin typeface="Arial"/>
                <a:cs typeface="Arial"/>
              </a:rPr>
              <a:t> </a:t>
            </a:r>
            <a:r>
              <a:rPr sz="1600" spc="-75" dirty="0">
                <a:latin typeface="Arial"/>
                <a:cs typeface="Arial"/>
              </a:rPr>
              <a:t>flags</a:t>
            </a:r>
            <a:endParaRPr sz="1600">
              <a:latin typeface="Arial"/>
              <a:cs typeface="Arial"/>
            </a:endParaRPr>
          </a:p>
          <a:p>
            <a:pPr marL="501650">
              <a:lnSpc>
                <a:spcPts val="1435"/>
              </a:lnSpc>
              <a:spcBef>
                <a:spcPts val="795"/>
              </a:spcBef>
            </a:pPr>
            <a:r>
              <a:rPr sz="1200" b="1" dirty="0">
                <a:latin typeface="Courier New"/>
                <a:cs typeface="Courier New"/>
              </a:rPr>
              <a:t>int sigemptyset (sigset_t *set); </a:t>
            </a:r>
            <a:r>
              <a:rPr sz="1200" spc="-30" dirty="0">
                <a:latin typeface="Arial"/>
                <a:cs typeface="Arial"/>
              </a:rPr>
              <a:t>/* </a:t>
            </a:r>
            <a:r>
              <a:rPr sz="1200" spc="-50" dirty="0">
                <a:latin typeface="Arial"/>
                <a:cs typeface="Arial"/>
              </a:rPr>
              <a:t>unset </a:t>
            </a:r>
            <a:r>
              <a:rPr sz="1200" spc="5" dirty="0">
                <a:latin typeface="Arial"/>
                <a:cs typeface="Arial"/>
              </a:rPr>
              <a:t>all </a:t>
            </a:r>
            <a:r>
              <a:rPr sz="1200" spc="-15" dirty="0">
                <a:latin typeface="Arial"/>
                <a:cs typeface="Arial"/>
              </a:rPr>
              <a:t>the </a:t>
            </a:r>
            <a:r>
              <a:rPr sz="1200" spc="-60" dirty="0">
                <a:latin typeface="Arial"/>
                <a:cs typeface="Arial"/>
              </a:rPr>
              <a:t>flags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*/</a:t>
            </a:r>
            <a:endParaRPr sz="1200">
              <a:latin typeface="Arial"/>
              <a:cs typeface="Arial"/>
            </a:endParaRPr>
          </a:p>
          <a:p>
            <a:pPr marL="501650">
              <a:lnSpc>
                <a:spcPts val="1435"/>
              </a:lnSpc>
              <a:tabLst>
                <a:tab pos="3540125" algn="l"/>
              </a:tabLst>
            </a:pPr>
            <a:r>
              <a:rPr sz="1200" b="1" dirty="0">
                <a:latin typeface="Courier New"/>
                <a:cs typeface="Courier New"/>
              </a:rPr>
              <a:t>int sigfullset</a:t>
            </a:r>
            <a:r>
              <a:rPr sz="1200" b="1" spc="75" dirty="0">
                <a:latin typeface="Courier New"/>
                <a:cs typeface="Courier New"/>
              </a:rPr>
              <a:t> </a:t>
            </a:r>
            <a:r>
              <a:rPr sz="1200" b="1" dirty="0">
                <a:latin typeface="Courier New"/>
                <a:cs typeface="Courier New"/>
              </a:rPr>
              <a:t>(sigset_t</a:t>
            </a:r>
            <a:r>
              <a:rPr sz="1200" b="1" spc="40" dirty="0">
                <a:latin typeface="Courier New"/>
                <a:cs typeface="Courier New"/>
              </a:rPr>
              <a:t> </a:t>
            </a:r>
            <a:r>
              <a:rPr sz="1200" b="1" dirty="0">
                <a:latin typeface="Courier New"/>
                <a:cs typeface="Courier New"/>
              </a:rPr>
              <a:t>*set);	</a:t>
            </a:r>
            <a:r>
              <a:rPr sz="1200" spc="-30" dirty="0">
                <a:latin typeface="Arial"/>
                <a:cs typeface="Arial"/>
              </a:rPr>
              <a:t>/* </a:t>
            </a:r>
            <a:r>
              <a:rPr sz="1200" spc="-75" dirty="0">
                <a:latin typeface="Arial"/>
                <a:cs typeface="Arial"/>
              </a:rPr>
              <a:t>set </a:t>
            </a:r>
            <a:r>
              <a:rPr sz="1200" spc="5" dirty="0">
                <a:latin typeface="Arial"/>
                <a:cs typeface="Arial"/>
              </a:rPr>
              <a:t>all </a:t>
            </a:r>
            <a:r>
              <a:rPr sz="1200" spc="-15" dirty="0">
                <a:latin typeface="Arial"/>
                <a:cs typeface="Arial"/>
              </a:rPr>
              <a:t>the </a:t>
            </a:r>
            <a:r>
              <a:rPr sz="1200" spc="-60" dirty="0">
                <a:latin typeface="Arial"/>
                <a:cs typeface="Arial"/>
              </a:rPr>
              <a:t>flags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*/</a:t>
            </a:r>
            <a:endParaRPr sz="120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</a:pPr>
            <a:r>
              <a:rPr sz="1200" b="1" dirty="0">
                <a:latin typeface="Courier New"/>
                <a:cs typeface="Courier New"/>
              </a:rPr>
              <a:t>int sigaddset(sigset_t *set, int whichSignal); </a:t>
            </a:r>
            <a:r>
              <a:rPr sz="1200" spc="-30" dirty="0">
                <a:latin typeface="Arial"/>
                <a:cs typeface="Arial"/>
              </a:rPr>
              <a:t>/* </a:t>
            </a:r>
            <a:r>
              <a:rPr sz="1200" spc="-75" dirty="0">
                <a:latin typeface="Arial"/>
                <a:cs typeface="Arial"/>
              </a:rPr>
              <a:t>set </a:t>
            </a:r>
            <a:r>
              <a:rPr sz="1200" spc="5" dirty="0">
                <a:latin typeface="Arial"/>
                <a:cs typeface="Arial"/>
              </a:rPr>
              <a:t>individual </a:t>
            </a:r>
            <a:r>
              <a:rPr sz="1200" spc="-30" dirty="0">
                <a:latin typeface="Arial"/>
                <a:cs typeface="Arial"/>
              </a:rPr>
              <a:t>flag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*/</a:t>
            </a:r>
            <a:endParaRPr sz="120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</a:pPr>
            <a:r>
              <a:rPr sz="1200" b="1" dirty="0">
                <a:latin typeface="Courier New"/>
                <a:cs typeface="Courier New"/>
              </a:rPr>
              <a:t>int sigdelset(sigset_t *set, int whichSignal); </a:t>
            </a:r>
            <a:r>
              <a:rPr sz="1200" spc="-30" dirty="0">
                <a:latin typeface="Arial"/>
                <a:cs typeface="Arial"/>
              </a:rPr>
              <a:t>/* </a:t>
            </a:r>
            <a:r>
              <a:rPr sz="1200" spc="-50" dirty="0">
                <a:latin typeface="Arial"/>
                <a:cs typeface="Arial"/>
              </a:rPr>
              <a:t>unset </a:t>
            </a:r>
            <a:r>
              <a:rPr sz="1200" spc="5" dirty="0">
                <a:latin typeface="Arial"/>
                <a:cs typeface="Arial"/>
              </a:rPr>
              <a:t>individual </a:t>
            </a:r>
            <a:r>
              <a:rPr sz="1200" spc="-30" dirty="0">
                <a:latin typeface="Arial"/>
                <a:cs typeface="Arial"/>
              </a:rPr>
              <a:t>flag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*/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88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54147" y="118617"/>
            <a:ext cx="320929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315" dirty="0"/>
              <a:t>Signals </a:t>
            </a:r>
            <a:r>
              <a:rPr sz="3200" spc="-200" dirty="0"/>
              <a:t>-</a:t>
            </a:r>
            <a:r>
              <a:rPr sz="3200" spc="-350" dirty="0"/>
              <a:t> </a:t>
            </a:r>
            <a:r>
              <a:rPr sz="3200" spc="-210" dirty="0"/>
              <a:t>Example</a:t>
            </a:r>
            <a:endParaRPr sz="3200"/>
          </a:p>
        </p:txBody>
      </p:sp>
      <p:sp>
        <p:nvSpPr>
          <p:cNvPr id="4" name="object 4"/>
          <p:cNvSpPr/>
          <p:nvPr/>
        </p:nvSpPr>
        <p:spPr>
          <a:xfrm>
            <a:off x="353961" y="777494"/>
            <a:ext cx="8587105" cy="5388610"/>
          </a:xfrm>
          <a:custGeom>
            <a:avLst/>
            <a:gdLst/>
            <a:ahLst/>
            <a:cxnLst/>
            <a:rect l="l" t="t" r="r" b="b"/>
            <a:pathLst>
              <a:path w="8587105" h="5388610">
                <a:moveTo>
                  <a:pt x="0" y="0"/>
                </a:moveTo>
                <a:lnTo>
                  <a:pt x="0" y="5388102"/>
                </a:lnTo>
                <a:lnTo>
                  <a:pt x="8586978" y="5388102"/>
                </a:lnTo>
                <a:lnTo>
                  <a:pt x="8586978" y="0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4887" y="802894"/>
            <a:ext cx="4705985" cy="1302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6319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Courier New"/>
                <a:cs typeface="Courier New"/>
              </a:rPr>
              <a:t>#include &lt;stdio.h&gt;  </a:t>
            </a:r>
            <a:r>
              <a:rPr sz="1400" b="1" spc="-10" dirty="0">
                <a:latin typeface="Courier New"/>
                <a:cs typeface="Courier New"/>
              </a:rPr>
              <a:t>#include &lt;signal.h&gt;  </a:t>
            </a:r>
            <a:r>
              <a:rPr sz="1400" spc="-10" dirty="0">
                <a:latin typeface="Courier New"/>
                <a:cs typeface="Courier New"/>
              </a:rPr>
              <a:t>#include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&lt;unistd.h&gt;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75"/>
              </a:lnSpc>
            </a:pPr>
            <a:r>
              <a:rPr sz="1400" spc="-10" dirty="0">
                <a:latin typeface="Courier New"/>
                <a:cs typeface="Courier New"/>
              </a:rPr>
              <a:t>void DieWithError(char</a:t>
            </a:r>
            <a:r>
              <a:rPr sz="1400" spc="15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*errorMessage);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75"/>
              </a:lnSpc>
            </a:pPr>
            <a:r>
              <a:rPr sz="1400" spc="-10" dirty="0">
                <a:latin typeface="Courier New"/>
                <a:cs typeface="Courier New"/>
              </a:rPr>
              <a:t>void </a:t>
            </a:r>
            <a:r>
              <a:rPr sz="1400" b="1" spc="-10" dirty="0">
                <a:solidFill>
                  <a:srgbClr val="CA6800"/>
                </a:solidFill>
                <a:latin typeface="Courier New"/>
                <a:cs typeface="Courier New"/>
              </a:rPr>
              <a:t>InterruptSignalHandler</a:t>
            </a:r>
            <a:r>
              <a:rPr sz="1400" spc="-10" dirty="0">
                <a:latin typeface="Courier New"/>
                <a:cs typeface="Courier New"/>
              </a:rPr>
              <a:t>(int</a:t>
            </a:r>
            <a:r>
              <a:rPr sz="1400" spc="65" dirty="0">
                <a:latin typeface="Courier New"/>
                <a:cs typeface="Courier New"/>
              </a:rPr>
              <a:t> </a:t>
            </a:r>
            <a:r>
              <a:rPr sz="1400" b="1" spc="-10" dirty="0">
                <a:latin typeface="Courier New"/>
                <a:cs typeface="Courier New"/>
              </a:rPr>
              <a:t>signalType</a:t>
            </a:r>
            <a:r>
              <a:rPr sz="1400" spc="-10" dirty="0">
                <a:latin typeface="Courier New"/>
                <a:cs typeface="Courier New"/>
              </a:rPr>
              <a:t>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89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49543" y="2494203"/>
            <a:ext cx="3100705" cy="80518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595"/>
              </a:spcBef>
            </a:pPr>
            <a:r>
              <a:rPr sz="1400" spc="-35" dirty="0">
                <a:latin typeface="Arial"/>
                <a:cs typeface="Arial"/>
              </a:rPr>
              <a:t>/* </a:t>
            </a:r>
            <a:r>
              <a:rPr sz="1400" spc="-60" dirty="0">
                <a:latin typeface="Arial"/>
                <a:cs typeface="Arial"/>
              </a:rPr>
              <a:t>Signal </a:t>
            </a:r>
            <a:r>
              <a:rPr sz="1400" spc="-25" dirty="0">
                <a:latin typeface="Arial"/>
                <a:cs typeface="Arial"/>
              </a:rPr>
              <a:t>handler </a:t>
            </a:r>
            <a:r>
              <a:rPr sz="1400" spc="-30" dirty="0">
                <a:latin typeface="Arial"/>
                <a:cs typeface="Arial"/>
              </a:rPr>
              <a:t>specification </a:t>
            </a:r>
            <a:r>
              <a:rPr sz="1400" spc="-20" dirty="0">
                <a:latin typeface="Arial"/>
                <a:cs typeface="Arial"/>
              </a:rPr>
              <a:t>structure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*/</a:t>
            </a:r>
            <a:endParaRPr sz="140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500"/>
              </a:spcBef>
            </a:pPr>
            <a:r>
              <a:rPr sz="1400" spc="-35" dirty="0">
                <a:latin typeface="Arial"/>
                <a:cs typeface="Arial"/>
              </a:rPr>
              <a:t>/* </a:t>
            </a:r>
            <a:r>
              <a:rPr sz="1400" spc="-110" dirty="0">
                <a:latin typeface="Arial"/>
                <a:cs typeface="Arial"/>
              </a:rPr>
              <a:t>Set </a:t>
            </a:r>
            <a:r>
              <a:rPr sz="1400" spc="-25" dirty="0">
                <a:latin typeface="Arial"/>
                <a:cs typeface="Arial"/>
              </a:rPr>
              <a:t>handler </a:t>
            </a:r>
            <a:r>
              <a:rPr sz="1400" spc="5" dirty="0">
                <a:latin typeface="Arial"/>
                <a:cs typeface="Arial"/>
              </a:rPr>
              <a:t>function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*/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latin typeface="Arial"/>
                <a:cs typeface="Arial"/>
              </a:rPr>
              <a:t>/* </a:t>
            </a:r>
            <a:r>
              <a:rPr sz="1400" spc="-70" dirty="0">
                <a:latin typeface="Arial"/>
                <a:cs typeface="Arial"/>
              </a:rPr>
              <a:t>Create </a:t>
            </a:r>
            <a:r>
              <a:rPr sz="1400" spc="-85" dirty="0">
                <a:latin typeface="Arial"/>
                <a:cs typeface="Arial"/>
              </a:rPr>
              <a:t>mask </a:t>
            </a:r>
            <a:r>
              <a:rPr sz="1400" dirty="0">
                <a:latin typeface="Arial"/>
                <a:cs typeface="Arial"/>
              </a:rPr>
              <a:t>that </a:t>
            </a:r>
            <a:r>
              <a:rPr sz="1400" spc="-110" dirty="0">
                <a:latin typeface="Arial"/>
                <a:cs typeface="Arial"/>
              </a:rPr>
              <a:t>masks </a:t>
            </a:r>
            <a:r>
              <a:rPr sz="1400" spc="5" dirty="0">
                <a:latin typeface="Arial"/>
                <a:cs typeface="Arial"/>
              </a:rPr>
              <a:t>all </a:t>
            </a:r>
            <a:r>
              <a:rPr sz="1400" spc="-70" dirty="0">
                <a:latin typeface="Arial"/>
                <a:cs typeface="Arial"/>
              </a:rPr>
              <a:t>signals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*/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49721" y="3812019"/>
            <a:ext cx="325501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35" dirty="0">
                <a:latin typeface="Arial"/>
                <a:cs typeface="Arial"/>
              </a:rPr>
              <a:t>/* </a:t>
            </a:r>
            <a:r>
              <a:rPr sz="1400" spc="-110" dirty="0">
                <a:latin typeface="Arial"/>
                <a:cs typeface="Arial"/>
              </a:rPr>
              <a:t>Set </a:t>
            </a:r>
            <a:r>
              <a:rPr sz="1400" spc="-50" dirty="0">
                <a:latin typeface="Arial"/>
                <a:cs typeface="Arial"/>
              </a:rPr>
              <a:t>signal </a:t>
            </a:r>
            <a:r>
              <a:rPr sz="1400" spc="-15" dirty="0">
                <a:latin typeface="Arial"/>
                <a:cs typeface="Arial"/>
              </a:rPr>
              <a:t>handling </a:t>
            </a:r>
            <a:r>
              <a:rPr sz="1400" spc="15" dirty="0">
                <a:latin typeface="Arial"/>
                <a:cs typeface="Arial"/>
              </a:rPr>
              <a:t>for interrupt </a:t>
            </a:r>
            <a:r>
              <a:rPr sz="1400" spc="-70" dirty="0">
                <a:latin typeface="Arial"/>
                <a:cs typeface="Arial"/>
              </a:rPr>
              <a:t>signals</a:t>
            </a:r>
            <a:r>
              <a:rPr sz="1400" spc="-125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*/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49569" y="4364469"/>
            <a:ext cx="316674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35" dirty="0">
                <a:latin typeface="Arial"/>
                <a:cs typeface="Arial"/>
              </a:rPr>
              <a:t>/* </a:t>
            </a:r>
            <a:r>
              <a:rPr sz="1400" spc="-105" dirty="0">
                <a:latin typeface="Arial"/>
                <a:cs typeface="Arial"/>
              </a:rPr>
              <a:t>Suspend </a:t>
            </a:r>
            <a:r>
              <a:rPr sz="1400" spc="-45" dirty="0">
                <a:latin typeface="Arial"/>
                <a:cs typeface="Arial"/>
              </a:rPr>
              <a:t>program </a:t>
            </a:r>
            <a:r>
              <a:rPr sz="1400" spc="45" dirty="0">
                <a:latin typeface="Arial"/>
                <a:cs typeface="Arial"/>
              </a:rPr>
              <a:t>until </a:t>
            </a:r>
            <a:r>
              <a:rPr sz="1400" spc="-50" dirty="0">
                <a:latin typeface="Arial"/>
                <a:cs typeface="Arial"/>
              </a:rPr>
              <a:t>signal received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*/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4887" y="2240457"/>
            <a:ext cx="5024755" cy="279844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400" spc="-5" dirty="0">
                <a:latin typeface="Courier New"/>
                <a:cs typeface="Courier New"/>
              </a:rPr>
              <a:t>int </a:t>
            </a:r>
            <a:r>
              <a:rPr sz="1400" spc="-10" dirty="0">
                <a:latin typeface="Courier New"/>
                <a:cs typeface="Courier New"/>
              </a:rPr>
              <a:t>main (int argc, char *argv[])</a:t>
            </a:r>
            <a:r>
              <a:rPr sz="1400" spc="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331470">
              <a:lnSpc>
                <a:spcPct val="100000"/>
              </a:lnSpc>
              <a:spcBef>
                <a:spcPts val="409"/>
              </a:spcBef>
            </a:pPr>
            <a:r>
              <a:rPr sz="1400" b="1" spc="-10" dirty="0">
                <a:latin typeface="Courier New"/>
                <a:cs typeface="Courier New"/>
              </a:rPr>
              <a:t>struct sigaction</a:t>
            </a:r>
            <a:r>
              <a:rPr sz="1400" b="1" spc="-15" dirty="0"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CC9A00"/>
                </a:solidFill>
                <a:latin typeface="Courier New"/>
                <a:cs typeface="Courier New"/>
              </a:rPr>
              <a:t>handler</a:t>
            </a:r>
            <a:r>
              <a:rPr sz="1400" spc="-10" dirty="0"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331470">
              <a:lnSpc>
                <a:spcPct val="100000"/>
              </a:lnSpc>
              <a:spcBef>
                <a:spcPts val="500"/>
              </a:spcBef>
            </a:pPr>
            <a:r>
              <a:rPr sz="1400" b="1" spc="-10" dirty="0">
                <a:solidFill>
                  <a:srgbClr val="CC9A00"/>
                </a:solidFill>
                <a:latin typeface="Courier New"/>
                <a:cs typeface="Courier New"/>
              </a:rPr>
              <a:t>handler</a:t>
            </a:r>
            <a:r>
              <a:rPr sz="1400" b="1" spc="-10" dirty="0">
                <a:latin typeface="Courier New"/>
                <a:cs typeface="Courier New"/>
              </a:rPr>
              <a:t>.sa_handler </a:t>
            </a:r>
            <a:r>
              <a:rPr sz="1400" spc="-5" dirty="0">
                <a:latin typeface="Courier New"/>
                <a:cs typeface="Courier New"/>
              </a:rPr>
              <a:t>=</a:t>
            </a:r>
            <a:r>
              <a:rPr sz="1400" spc="55" dirty="0"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CA6800"/>
                </a:solidFill>
                <a:latin typeface="Courier New"/>
                <a:cs typeface="Courier New"/>
              </a:rPr>
              <a:t>InterruptSignalHandler</a:t>
            </a:r>
            <a:r>
              <a:rPr sz="1400" b="1" spc="-10" dirty="0"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650875" marR="431165" indent="-319405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latin typeface="Courier New"/>
                <a:cs typeface="Courier New"/>
              </a:rPr>
              <a:t>if </a:t>
            </a:r>
            <a:r>
              <a:rPr sz="1400" spc="-10" dirty="0">
                <a:latin typeface="Courier New"/>
                <a:cs typeface="Courier New"/>
              </a:rPr>
              <a:t>(</a:t>
            </a:r>
            <a:r>
              <a:rPr sz="1400" b="1" spc="-10" dirty="0">
                <a:latin typeface="Courier New"/>
                <a:cs typeface="Courier New"/>
              </a:rPr>
              <a:t>sigfillset</a:t>
            </a:r>
            <a:r>
              <a:rPr sz="1400" spc="-10" dirty="0">
                <a:latin typeface="Courier New"/>
                <a:cs typeface="Courier New"/>
              </a:rPr>
              <a:t>(&amp;</a:t>
            </a:r>
            <a:r>
              <a:rPr sz="1400" b="1" spc="-10" dirty="0">
                <a:solidFill>
                  <a:srgbClr val="CC9A00"/>
                </a:solidFill>
                <a:latin typeface="Courier New"/>
                <a:cs typeface="Courier New"/>
              </a:rPr>
              <a:t>handler</a:t>
            </a:r>
            <a:r>
              <a:rPr sz="1400" b="1" spc="-10" dirty="0">
                <a:latin typeface="Courier New"/>
                <a:cs typeface="Courier New"/>
              </a:rPr>
              <a:t>.sa_mask</a:t>
            </a:r>
            <a:r>
              <a:rPr sz="1400" spc="-10" dirty="0">
                <a:latin typeface="Courier New"/>
                <a:cs typeface="Courier New"/>
              </a:rPr>
              <a:t>) </a:t>
            </a:r>
            <a:r>
              <a:rPr sz="1400" spc="-5" dirty="0">
                <a:latin typeface="Courier New"/>
                <a:cs typeface="Courier New"/>
              </a:rPr>
              <a:t>&lt; </a:t>
            </a:r>
            <a:r>
              <a:rPr sz="1400" spc="-10" dirty="0">
                <a:latin typeface="Courier New"/>
                <a:cs typeface="Courier New"/>
              </a:rPr>
              <a:t>0)  DieWithError (“sigfillset()</a:t>
            </a:r>
            <a:r>
              <a:rPr sz="1400" spc="25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failed”);</a:t>
            </a:r>
            <a:endParaRPr sz="1400">
              <a:latin typeface="Courier New"/>
              <a:cs typeface="Courier New"/>
            </a:endParaRPr>
          </a:p>
          <a:p>
            <a:pPr marL="331470">
              <a:lnSpc>
                <a:spcPct val="100000"/>
              </a:lnSpc>
              <a:spcBef>
                <a:spcPts val="315"/>
              </a:spcBef>
            </a:pPr>
            <a:r>
              <a:rPr sz="1400" b="1" spc="-10" dirty="0">
                <a:solidFill>
                  <a:srgbClr val="CC9A00"/>
                </a:solidFill>
                <a:latin typeface="Courier New"/>
                <a:cs typeface="Courier New"/>
              </a:rPr>
              <a:t>handler</a:t>
            </a:r>
            <a:r>
              <a:rPr sz="1400" b="1" spc="-10" dirty="0">
                <a:latin typeface="Courier New"/>
                <a:cs typeface="Courier New"/>
              </a:rPr>
              <a:t>.sa_flags </a:t>
            </a:r>
            <a:r>
              <a:rPr sz="1400" b="1" spc="-5" dirty="0">
                <a:latin typeface="Courier New"/>
                <a:cs typeface="Courier New"/>
              </a:rPr>
              <a:t>= </a:t>
            </a:r>
            <a:r>
              <a:rPr sz="1400" b="1" spc="-10" dirty="0">
                <a:latin typeface="Courier New"/>
                <a:cs typeface="Courier New"/>
              </a:rPr>
              <a:t>0;</a:t>
            </a:r>
            <a:endParaRPr sz="1400">
              <a:latin typeface="Courier New"/>
              <a:cs typeface="Courier New"/>
            </a:endParaRPr>
          </a:p>
          <a:p>
            <a:pPr marL="650875" marR="536575" indent="-319405">
              <a:lnSpc>
                <a:spcPct val="126800"/>
              </a:lnSpc>
              <a:spcBef>
                <a:spcPts val="90"/>
              </a:spcBef>
            </a:pPr>
            <a:r>
              <a:rPr sz="1400" spc="-5" dirty="0">
                <a:latin typeface="Courier New"/>
                <a:cs typeface="Courier New"/>
              </a:rPr>
              <a:t>if </a:t>
            </a:r>
            <a:r>
              <a:rPr sz="1400" spc="-10" dirty="0">
                <a:latin typeface="Courier New"/>
                <a:cs typeface="Courier New"/>
              </a:rPr>
              <a:t>(</a:t>
            </a:r>
            <a:r>
              <a:rPr sz="1400" b="1" spc="-10" dirty="0">
                <a:latin typeface="Courier New"/>
                <a:cs typeface="Courier New"/>
              </a:rPr>
              <a:t>sigaction</a:t>
            </a:r>
            <a:r>
              <a:rPr sz="1400" spc="-10" dirty="0">
                <a:latin typeface="Courier New"/>
                <a:cs typeface="Courier New"/>
              </a:rPr>
              <a:t>(</a:t>
            </a:r>
            <a:r>
              <a:rPr sz="1400" b="1" spc="-10" dirty="0">
                <a:solidFill>
                  <a:srgbClr val="3B822F"/>
                </a:solidFill>
                <a:latin typeface="Courier New"/>
                <a:cs typeface="Courier New"/>
              </a:rPr>
              <a:t>SIGINT</a:t>
            </a:r>
            <a:r>
              <a:rPr sz="1400" spc="-10" dirty="0">
                <a:latin typeface="Courier New"/>
                <a:cs typeface="Courier New"/>
              </a:rPr>
              <a:t>, &amp;</a:t>
            </a:r>
            <a:r>
              <a:rPr sz="1400" b="1" spc="-10" dirty="0">
                <a:solidFill>
                  <a:srgbClr val="CC9A00"/>
                </a:solidFill>
                <a:latin typeface="Courier New"/>
                <a:cs typeface="Courier New"/>
              </a:rPr>
              <a:t>handler</a:t>
            </a:r>
            <a:r>
              <a:rPr sz="1400" spc="-10" dirty="0">
                <a:latin typeface="Courier New"/>
                <a:cs typeface="Courier New"/>
              </a:rPr>
              <a:t>, </a:t>
            </a:r>
            <a:r>
              <a:rPr sz="1400" spc="-5" dirty="0">
                <a:latin typeface="Courier New"/>
                <a:cs typeface="Courier New"/>
              </a:rPr>
              <a:t>0) &lt; </a:t>
            </a:r>
            <a:r>
              <a:rPr sz="1400" spc="-10" dirty="0">
                <a:latin typeface="Courier New"/>
                <a:cs typeface="Courier New"/>
              </a:rPr>
              <a:t>0)  DieWithError (“sigaction()</a:t>
            </a:r>
            <a:r>
              <a:rPr sz="1400" spc="25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failed”);</a:t>
            </a:r>
            <a:endParaRPr sz="1400">
              <a:latin typeface="Courier New"/>
              <a:cs typeface="Courier New"/>
            </a:endParaRPr>
          </a:p>
          <a:p>
            <a:pPr marL="331470" marR="2981960">
              <a:lnSpc>
                <a:spcPct val="104600"/>
              </a:lnSpc>
              <a:spcBef>
                <a:spcPts val="464"/>
              </a:spcBef>
            </a:pPr>
            <a:r>
              <a:rPr sz="1400" spc="-10" dirty="0">
                <a:latin typeface="Courier New"/>
                <a:cs typeface="Courier New"/>
              </a:rPr>
              <a:t>for(;;) pause();  exit(0);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75"/>
              </a:lnSpc>
            </a:pPr>
            <a:r>
              <a:rPr sz="1400" spc="-5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4887" y="5226278"/>
            <a:ext cx="5557520" cy="876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675"/>
              </a:lnSpc>
              <a:spcBef>
                <a:spcPts val="95"/>
              </a:spcBef>
            </a:pPr>
            <a:r>
              <a:rPr sz="1400" spc="-10" dirty="0">
                <a:latin typeface="Courier New"/>
                <a:cs typeface="Courier New"/>
              </a:rPr>
              <a:t>void </a:t>
            </a:r>
            <a:r>
              <a:rPr sz="1400" b="1" spc="-10" dirty="0">
                <a:solidFill>
                  <a:srgbClr val="CA6800"/>
                </a:solidFill>
                <a:latin typeface="Courier New"/>
                <a:cs typeface="Courier New"/>
              </a:rPr>
              <a:t>InterruptHandler </a:t>
            </a:r>
            <a:r>
              <a:rPr sz="1400" spc="-10" dirty="0">
                <a:latin typeface="Courier New"/>
                <a:cs typeface="Courier New"/>
              </a:rPr>
              <a:t>(int </a:t>
            </a:r>
            <a:r>
              <a:rPr sz="1400" b="1" spc="-10" dirty="0">
                <a:latin typeface="Courier New"/>
                <a:cs typeface="Courier New"/>
              </a:rPr>
              <a:t>signalType</a:t>
            </a:r>
            <a:r>
              <a:rPr sz="1400" spc="-10" dirty="0">
                <a:latin typeface="Courier New"/>
                <a:cs typeface="Courier New"/>
              </a:rPr>
              <a:t>)</a:t>
            </a:r>
            <a:r>
              <a:rPr sz="1400" spc="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331470" marR="5080">
              <a:lnSpc>
                <a:spcPts val="1670"/>
              </a:lnSpc>
              <a:spcBef>
                <a:spcPts val="60"/>
              </a:spcBef>
            </a:pPr>
            <a:r>
              <a:rPr sz="1400" spc="-10" dirty="0">
                <a:latin typeface="Courier New"/>
                <a:cs typeface="Courier New"/>
              </a:rPr>
              <a:t>printf (“Interrupt received. Exiting program.\n);  exit(1);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25"/>
              </a:lnSpc>
            </a:pPr>
            <a:r>
              <a:rPr sz="1400" spc="-5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46476" y="261873"/>
            <a:ext cx="402209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50" dirty="0"/>
              <a:t>Asynchronous</a:t>
            </a:r>
            <a:r>
              <a:rPr sz="4200" spc="-30" dirty="0"/>
              <a:t> </a:t>
            </a:r>
            <a:r>
              <a:rPr sz="4200" spc="40" dirty="0"/>
              <a:t>I/O</a:t>
            </a:r>
            <a:endParaRPr sz="4200"/>
          </a:p>
        </p:txBody>
      </p:sp>
      <p:sp>
        <p:nvSpPr>
          <p:cNvPr id="7" name="object 7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90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453" y="885951"/>
            <a:ext cx="8768080" cy="4912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010"/>
              </a:lnSpc>
              <a:spcBef>
                <a:spcPts val="95"/>
              </a:spcBef>
            </a:pPr>
            <a:r>
              <a:rPr sz="2600" spc="2195" dirty="0">
                <a:solidFill>
                  <a:srgbClr val="9A6500"/>
                </a:solidFill>
                <a:latin typeface="Wingdings"/>
                <a:cs typeface="Wingdings"/>
              </a:rPr>
              <a:t></a:t>
            </a:r>
            <a:r>
              <a:rPr sz="2600" spc="280" dirty="0">
                <a:solidFill>
                  <a:srgbClr val="9A6500"/>
                </a:solidFill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Arial"/>
                <a:cs typeface="Arial"/>
              </a:rPr>
              <a:t>Non-blocking </a:t>
            </a:r>
            <a:r>
              <a:rPr sz="2200" spc="-130" dirty="0">
                <a:latin typeface="Arial"/>
                <a:cs typeface="Arial"/>
              </a:rPr>
              <a:t>sockets </a:t>
            </a:r>
            <a:r>
              <a:rPr sz="2200" spc="-35" dirty="0">
                <a:latin typeface="Arial"/>
                <a:cs typeface="Arial"/>
              </a:rPr>
              <a:t>require </a:t>
            </a:r>
            <a:r>
              <a:rPr sz="2200" spc="-65" dirty="0">
                <a:latin typeface="Arial"/>
                <a:cs typeface="Arial"/>
              </a:rPr>
              <a:t>“</a:t>
            </a:r>
            <a:r>
              <a:rPr sz="2200" b="1" spc="-65" dirty="0">
                <a:solidFill>
                  <a:srgbClr val="9A6500"/>
                </a:solidFill>
                <a:latin typeface="Arial"/>
                <a:cs typeface="Arial"/>
              </a:rPr>
              <a:t>polling</a:t>
            </a:r>
            <a:r>
              <a:rPr sz="2200" spc="-65" dirty="0">
                <a:latin typeface="Arial"/>
                <a:cs typeface="Arial"/>
              </a:rPr>
              <a:t>”</a:t>
            </a:r>
            <a:endParaRPr sz="2200">
              <a:latin typeface="Arial"/>
              <a:cs typeface="Arial"/>
            </a:endParaRPr>
          </a:p>
          <a:p>
            <a:pPr marL="355600" marR="665480" indent="-343535">
              <a:lnSpc>
                <a:spcPts val="2900"/>
              </a:lnSpc>
              <a:spcBef>
                <a:spcPts val="170"/>
              </a:spcBef>
            </a:pPr>
            <a:r>
              <a:rPr sz="2600" spc="2195" dirty="0">
                <a:solidFill>
                  <a:srgbClr val="9A6500"/>
                </a:solidFill>
                <a:latin typeface="Wingdings"/>
                <a:cs typeface="Wingdings"/>
              </a:rPr>
              <a:t></a:t>
            </a:r>
            <a:r>
              <a:rPr sz="2600" spc="2195" dirty="0">
                <a:solidFill>
                  <a:srgbClr val="9A6500"/>
                </a:solidFill>
                <a:latin typeface="Times New Roman"/>
                <a:cs typeface="Times New Roman"/>
              </a:rPr>
              <a:t> </a:t>
            </a:r>
            <a:r>
              <a:rPr sz="2200" spc="114" dirty="0">
                <a:latin typeface="Arial"/>
                <a:cs typeface="Arial"/>
              </a:rPr>
              <a:t>With </a:t>
            </a:r>
            <a:r>
              <a:rPr sz="2200" spc="-90" dirty="0">
                <a:latin typeface="Arial"/>
                <a:cs typeface="Arial"/>
              </a:rPr>
              <a:t>asynchronous </a:t>
            </a:r>
            <a:r>
              <a:rPr sz="2200" spc="60" dirty="0">
                <a:latin typeface="Arial"/>
                <a:cs typeface="Arial"/>
              </a:rPr>
              <a:t>I/O </a:t>
            </a:r>
            <a:r>
              <a:rPr sz="2200" spc="-25" dirty="0">
                <a:latin typeface="Arial"/>
                <a:cs typeface="Arial"/>
              </a:rPr>
              <a:t>the </a:t>
            </a:r>
            <a:r>
              <a:rPr sz="2200" b="1" spc="-145" dirty="0">
                <a:solidFill>
                  <a:srgbClr val="CC9A00"/>
                </a:solidFill>
                <a:latin typeface="Arial"/>
                <a:cs typeface="Arial"/>
              </a:rPr>
              <a:t>operating </a:t>
            </a:r>
            <a:r>
              <a:rPr sz="2200" b="1" spc="-220" dirty="0">
                <a:solidFill>
                  <a:srgbClr val="CC9A00"/>
                </a:solidFill>
                <a:latin typeface="Arial"/>
                <a:cs typeface="Arial"/>
              </a:rPr>
              <a:t>system </a:t>
            </a:r>
            <a:r>
              <a:rPr sz="2200" b="1" spc="-140" dirty="0">
                <a:solidFill>
                  <a:srgbClr val="CC9A00"/>
                </a:solidFill>
                <a:latin typeface="Arial"/>
                <a:cs typeface="Arial"/>
              </a:rPr>
              <a:t>informs </a:t>
            </a:r>
            <a:r>
              <a:rPr sz="2200" spc="-25" dirty="0">
                <a:latin typeface="Arial"/>
                <a:cs typeface="Arial"/>
              </a:rPr>
              <a:t>the </a:t>
            </a:r>
            <a:r>
              <a:rPr sz="2200" spc="-1175" dirty="0">
                <a:latin typeface="Arial"/>
                <a:cs typeface="Arial"/>
              </a:rPr>
              <a:t>program </a:t>
            </a:r>
            <a:r>
              <a:rPr sz="2200" spc="-605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when </a:t>
            </a:r>
            <a:r>
              <a:rPr sz="2200" spc="-250" dirty="0">
                <a:latin typeface="Arial"/>
                <a:cs typeface="Arial"/>
              </a:rPr>
              <a:t>a </a:t>
            </a:r>
            <a:r>
              <a:rPr sz="2200" spc="-100" dirty="0">
                <a:latin typeface="Arial"/>
                <a:cs typeface="Arial"/>
              </a:rPr>
              <a:t>socket </a:t>
            </a:r>
            <a:r>
              <a:rPr sz="2200" spc="-25" dirty="0">
                <a:latin typeface="Arial"/>
                <a:cs typeface="Arial"/>
              </a:rPr>
              <a:t>call </a:t>
            </a:r>
            <a:r>
              <a:rPr sz="2200" spc="-90" dirty="0">
                <a:latin typeface="Arial"/>
                <a:cs typeface="Arial"/>
              </a:rPr>
              <a:t>is</a:t>
            </a:r>
            <a:r>
              <a:rPr sz="2200" spc="-300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completed</a:t>
            </a:r>
            <a:endParaRPr sz="2200">
              <a:latin typeface="Arial"/>
              <a:cs typeface="Arial"/>
            </a:endParaRPr>
          </a:p>
          <a:p>
            <a:pPr marL="681990" marR="277495" indent="-325120">
              <a:lnSpc>
                <a:spcPts val="2160"/>
              </a:lnSpc>
              <a:spcBef>
                <a:spcPts val="38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25" dirty="0">
                <a:latin typeface="Arial"/>
                <a:cs typeface="Arial"/>
              </a:rPr>
              <a:t>the </a:t>
            </a:r>
            <a:r>
              <a:rPr sz="1800" b="1" spc="-5" dirty="0">
                <a:solidFill>
                  <a:srgbClr val="CC9A00"/>
                </a:solidFill>
                <a:latin typeface="Courier New"/>
                <a:cs typeface="Courier New"/>
              </a:rPr>
              <a:t>SIGIO</a:t>
            </a:r>
            <a:r>
              <a:rPr sz="1800" b="1" spc="-655" dirty="0">
                <a:solidFill>
                  <a:srgbClr val="CC9A00"/>
                </a:solidFill>
                <a:latin typeface="Courier New"/>
                <a:cs typeface="Courier New"/>
              </a:rPr>
              <a:t> </a:t>
            </a:r>
            <a:r>
              <a:rPr sz="2000" spc="-70" dirty="0">
                <a:latin typeface="Arial"/>
                <a:cs typeface="Arial"/>
              </a:rPr>
              <a:t>signal </a:t>
            </a:r>
            <a:r>
              <a:rPr sz="2000" spc="-85" dirty="0">
                <a:latin typeface="Arial"/>
                <a:cs typeface="Arial"/>
              </a:rPr>
              <a:t>is </a:t>
            </a:r>
            <a:r>
              <a:rPr sz="2000" spc="-40" dirty="0">
                <a:latin typeface="Arial"/>
                <a:cs typeface="Arial"/>
              </a:rPr>
              <a:t>delivered </a:t>
            </a:r>
            <a:r>
              <a:rPr sz="2000" dirty="0">
                <a:latin typeface="Arial"/>
                <a:cs typeface="Arial"/>
              </a:rPr>
              <a:t>to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130" dirty="0">
                <a:latin typeface="Arial"/>
                <a:cs typeface="Arial"/>
              </a:rPr>
              <a:t>process, </a:t>
            </a:r>
            <a:r>
              <a:rPr sz="2000" spc="-15" dirty="0">
                <a:latin typeface="Arial"/>
                <a:cs typeface="Arial"/>
              </a:rPr>
              <a:t>when </a:t>
            </a:r>
            <a:r>
              <a:rPr sz="2000" spc="-155" dirty="0">
                <a:latin typeface="Arial"/>
                <a:cs typeface="Arial"/>
              </a:rPr>
              <a:t>some </a:t>
            </a:r>
            <a:r>
              <a:rPr sz="2000" spc="-15" dirty="0">
                <a:latin typeface="Arial"/>
                <a:cs typeface="Arial"/>
              </a:rPr>
              <a:t>I/O-related </a:t>
            </a:r>
            <a:r>
              <a:rPr sz="2000" spc="-55" dirty="0">
                <a:latin typeface="Arial"/>
                <a:cs typeface="Arial"/>
              </a:rPr>
              <a:t>event  </a:t>
            </a:r>
            <a:r>
              <a:rPr sz="2000" spc="-90" dirty="0">
                <a:latin typeface="Arial"/>
                <a:cs typeface="Arial"/>
              </a:rPr>
              <a:t>occurs </a:t>
            </a:r>
            <a:r>
              <a:rPr sz="2000" spc="-40" dirty="0">
                <a:latin typeface="Arial"/>
                <a:cs typeface="Arial"/>
              </a:rPr>
              <a:t>on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1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65" dirty="0">
                <a:latin typeface="Arial"/>
                <a:cs typeface="Arial"/>
              </a:rPr>
              <a:t>Three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spc="-150" dirty="0">
                <a:latin typeface="Arial"/>
                <a:cs typeface="Arial"/>
              </a:rPr>
              <a:t>steps:</a:t>
            </a:r>
            <a:endParaRPr sz="2200">
              <a:latin typeface="Arial"/>
              <a:cs typeface="Arial"/>
            </a:endParaRPr>
          </a:p>
          <a:p>
            <a:pPr marL="683895" marR="2971165" indent="-224790">
              <a:lnSpc>
                <a:spcPct val="109700"/>
              </a:lnSpc>
              <a:spcBef>
                <a:spcPts val="50"/>
              </a:spcBef>
            </a:pPr>
            <a:r>
              <a:rPr sz="1600" spc="-40" dirty="0">
                <a:latin typeface="Arial"/>
                <a:cs typeface="Arial"/>
              </a:rPr>
              <a:t>/* </a:t>
            </a:r>
            <a:r>
              <a:rPr sz="1600" spc="25" dirty="0">
                <a:latin typeface="Arial"/>
                <a:cs typeface="Arial"/>
              </a:rPr>
              <a:t>i. </a:t>
            </a:r>
            <a:r>
              <a:rPr sz="1600" spc="20" dirty="0">
                <a:latin typeface="Arial"/>
                <a:cs typeface="Arial"/>
              </a:rPr>
              <a:t>inform </a:t>
            </a:r>
            <a:r>
              <a:rPr sz="1600" spc="-20" dirty="0">
                <a:latin typeface="Arial"/>
                <a:cs typeface="Arial"/>
              </a:rPr>
              <a:t>the </a:t>
            </a:r>
            <a:r>
              <a:rPr sz="1600" spc="-85" dirty="0">
                <a:latin typeface="Arial"/>
                <a:cs typeface="Arial"/>
              </a:rPr>
              <a:t>system </a:t>
            </a:r>
            <a:r>
              <a:rPr sz="1600" spc="-10" dirty="0">
                <a:latin typeface="Arial"/>
                <a:cs typeface="Arial"/>
              </a:rPr>
              <a:t>of </a:t>
            </a:r>
            <a:r>
              <a:rPr sz="1600" spc="-20" dirty="0">
                <a:latin typeface="Arial"/>
                <a:cs typeface="Arial"/>
              </a:rPr>
              <a:t>the </a:t>
            </a:r>
            <a:r>
              <a:rPr sz="1600" u="sng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desired </a:t>
            </a:r>
            <a:r>
              <a:rPr sz="1600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disposition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of </a:t>
            </a:r>
            <a:r>
              <a:rPr sz="1600" spc="-20" dirty="0">
                <a:latin typeface="Arial"/>
                <a:cs typeface="Arial"/>
              </a:rPr>
              <a:t>the </a:t>
            </a:r>
            <a:r>
              <a:rPr sz="1600" spc="-60" dirty="0">
                <a:latin typeface="Arial"/>
                <a:cs typeface="Arial"/>
              </a:rPr>
              <a:t>signal</a:t>
            </a:r>
            <a:r>
              <a:rPr sz="1600" spc="-275" dirty="0">
                <a:latin typeface="Arial"/>
                <a:cs typeface="Arial"/>
              </a:rPr>
              <a:t> </a:t>
            </a:r>
            <a:r>
              <a:rPr sz="1600" spc="-45" dirty="0">
                <a:latin typeface="Arial"/>
                <a:cs typeface="Arial"/>
              </a:rPr>
              <a:t>*/  </a:t>
            </a:r>
            <a:r>
              <a:rPr sz="1600" b="1" dirty="0">
                <a:latin typeface="Courier New"/>
                <a:cs typeface="Courier New"/>
              </a:rPr>
              <a:t>struct sigaction handler;  handler.sa_handler =</a:t>
            </a:r>
            <a:r>
              <a:rPr sz="1600" b="1" spc="-1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SIGIOHandler;</a:t>
            </a:r>
            <a:endParaRPr sz="1600">
              <a:latin typeface="Courier New"/>
              <a:cs typeface="Courier New"/>
            </a:endParaRPr>
          </a:p>
          <a:p>
            <a:pPr marL="683895" marR="1228725">
              <a:lnSpc>
                <a:spcPct val="110600"/>
              </a:lnSpc>
            </a:pPr>
            <a:r>
              <a:rPr sz="1600" b="1" dirty="0">
                <a:latin typeface="Courier New"/>
                <a:cs typeface="Courier New"/>
              </a:rPr>
              <a:t>if (sigfillset(&amp;handler.sa_mask) &lt; 0) DiewithError(“…”);  handler.sa_flags =</a:t>
            </a:r>
            <a:r>
              <a:rPr sz="1600" b="1" spc="-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0;</a:t>
            </a:r>
            <a:endParaRPr sz="1600">
              <a:latin typeface="Courier New"/>
              <a:cs typeface="Courier New"/>
            </a:endParaRPr>
          </a:p>
          <a:p>
            <a:pPr marL="683895">
              <a:lnSpc>
                <a:spcPct val="100000"/>
              </a:lnSpc>
              <a:spcBef>
                <a:spcPts val="210"/>
              </a:spcBef>
            </a:pPr>
            <a:r>
              <a:rPr sz="1600" b="1" dirty="0">
                <a:latin typeface="Courier New"/>
                <a:cs typeface="Courier New"/>
              </a:rPr>
              <a:t>if (sigaction(</a:t>
            </a:r>
            <a:r>
              <a:rPr sz="1600" b="1" dirty="0">
                <a:solidFill>
                  <a:srgbClr val="CC9A00"/>
                </a:solidFill>
                <a:latin typeface="Courier New"/>
                <a:cs typeface="Courier New"/>
              </a:rPr>
              <a:t>SIGIO</a:t>
            </a:r>
            <a:r>
              <a:rPr sz="1600" b="1" dirty="0">
                <a:latin typeface="Courier New"/>
                <a:cs typeface="Courier New"/>
              </a:rPr>
              <a:t>, &amp;handler, 0) &lt; 0)</a:t>
            </a:r>
            <a:r>
              <a:rPr sz="1600" b="1" spc="-2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DieWithError(“…”);</a:t>
            </a:r>
            <a:endParaRPr sz="1600">
              <a:latin typeface="Courier New"/>
              <a:cs typeface="Courier New"/>
            </a:endParaRPr>
          </a:p>
          <a:p>
            <a:pPr marL="419734">
              <a:lnSpc>
                <a:spcPct val="100000"/>
              </a:lnSpc>
              <a:spcBef>
                <a:spcPts val="655"/>
              </a:spcBef>
            </a:pPr>
            <a:r>
              <a:rPr sz="1600" spc="-40" dirty="0">
                <a:latin typeface="Arial"/>
                <a:cs typeface="Arial"/>
              </a:rPr>
              <a:t>/* </a:t>
            </a:r>
            <a:r>
              <a:rPr sz="1600" spc="45" dirty="0">
                <a:latin typeface="Arial"/>
                <a:cs typeface="Arial"/>
              </a:rPr>
              <a:t>ii. </a:t>
            </a:r>
            <a:r>
              <a:rPr sz="1600" spc="-80" dirty="0">
                <a:latin typeface="Arial"/>
                <a:cs typeface="Arial"/>
              </a:rPr>
              <a:t>ensure </a:t>
            </a:r>
            <a:r>
              <a:rPr sz="1600" spc="-5" dirty="0">
                <a:latin typeface="Arial"/>
                <a:cs typeface="Arial"/>
              </a:rPr>
              <a:t>that </a:t>
            </a:r>
            <a:r>
              <a:rPr sz="1600" spc="-80" dirty="0">
                <a:latin typeface="Arial"/>
                <a:cs typeface="Arial"/>
              </a:rPr>
              <a:t>signals </a:t>
            </a:r>
            <a:r>
              <a:rPr sz="1600" spc="-40" dirty="0">
                <a:latin typeface="Arial"/>
                <a:cs typeface="Arial"/>
              </a:rPr>
              <a:t>related </a:t>
            </a:r>
            <a:r>
              <a:rPr sz="1600" dirty="0">
                <a:latin typeface="Arial"/>
                <a:cs typeface="Arial"/>
              </a:rPr>
              <a:t>to </a:t>
            </a:r>
            <a:r>
              <a:rPr sz="1600" spc="-20" dirty="0">
                <a:latin typeface="Arial"/>
                <a:cs typeface="Arial"/>
              </a:rPr>
              <a:t>the </a:t>
            </a:r>
            <a:r>
              <a:rPr sz="1600" spc="-70" dirty="0">
                <a:latin typeface="Arial"/>
                <a:cs typeface="Arial"/>
              </a:rPr>
              <a:t>socket </a:t>
            </a:r>
            <a:r>
              <a:rPr sz="1600" spc="95" dirty="0">
                <a:latin typeface="Arial"/>
                <a:cs typeface="Arial"/>
              </a:rPr>
              <a:t>will </a:t>
            </a:r>
            <a:r>
              <a:rPr sz="1600" spc="-105" dirty="0">
                <a:latin typeface="Arial"/>
                <a:cs typeface="Arial"/>
              </a:rPr>
              <a:t>be </a:t>
            </a:r>
            <a:r>
              <a:rPr sz="1600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delivered 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 </a:t>
            </a:r>
            <a:r>
              <a:rPr sz="1600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this</a:t>
            </a:r>
            <a:r>
              <a:rPr sz="1600" u="sng" spc="-229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600" u="sng" spc="-1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process</a:t>
            </a:r>
            <a:r>
              <a:rPr sz="1600" spc="-110" dirty="0">
                <a:latin typeface="Arial"/>
                <a:cs typeface="Arial"/>
              </a:rPr>
              <a:t> </a:t>
            </a:r>
            <a:r>
              <a:rPr sz="1600" spc="-45" dirty="0">
                <a:latin typeface="Arial"/>
                <a:cs typeface="Arial"/>
              </a:rPr>
              <a:t>*/</a:t>
            </a:r>
            <a:endParaRPr sz="1600">
              <a:latin typeface="Arial"/>
              <a:cs typeface="Arial"/>
            </a:endParaRPr>
          </a:p>
          <a:p>
            <a:pPr marL="683895">
              <a:lnSpc>
                <a:spcPct val="100000"/>
              </a:lnSpc>
              <a:spcBef>
                <a:spcPts val="300"/>
              </a:spcBef>
            </a:pPr>
            <a:r>
              <a:rPr sz="1600" b="1" dirty="0">
                <a:latin typeface="Courier New"/>
                <a:cs typeface="Courier New"/>
              </a:rPr>
              <a:t>if (fcntl(sock, </a:t>
            </a:r>
            <a:r>
              <a:rPr sz="1600" b="1" dirty="0">
                <a:solidFill>
                  <a:srgbClr val="9A6500"/>
                </a:solidFill>
                <a:latin typeface="Courier New"/>
                <a:cs typeface="Courier New"/>
              </a:rPr>
              <a:t>F_SETOWN</a:t>
            </a:r>
            <a:r>
              <a:rPr sz="1600" b="1" dirty="0">
                <a:latin typeface="Courier New"/>
                <a:cs typeface="Courier New"/>
              </a:rPr>
              <a:t>, </a:t>
            </a:r>
            <a:r>
              <a:rPr sz="1600" b="1" dirty="0">
                <a:solidFill>
                  <a:srgbClr val="9A6500"/>
                </a:solidFill>
                <a:latin typeface="Courier New"/>
                <a:cs typeface="Courier New"/>
              </a:rPr>
              <a:t>getpid()</a:t>
            </a:r>
            <a:r>
              <a:rPr sz="1600" b="1" dirty="0">
                <a:latin typeface="Courier New"/>
                <a:cs typeface="Courier New"/>
              </a:rPr>
              <a:t>) &lt; 0)</a:t>
            </a:r>
            <a:r>
              <a:rPr sz="1600" b="1" spc="-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DieWithError();</a:t>
            </a:r>
            <a:endParaRPr sz="1600">
              <a:latin typeface="Courier New"/>
              <a:cs typeface="Courier New"/>
            </a:endParaRPr>
          </a:p>
          <a:p>
            <a:pPr marL="356870">
              <a:lnSpc>
                <a:spcPct val="100000"/>
              </a:lnSpc>
              <a:spcBef>
                <a:spcPts val="210"/>
              </a:spcBef>
            </a:pPr>
            <a:r>
              <a:rPr sz="1600" spc="-40" dirty="0">
                <a:latin typeface="Arial"/>
                <a:cs typeface="Arial"/>
              </a:rPr>
              <a:t>/* </a:t>
            </a:r>
            <a:r>
              <a:rPr sz="1600" spc="60" dirty="0">
                <a:latin typeface="Arial"/>
                <a:cs typeface="Arial"/>
              </a:rPr>
              <a:t>iii. </a:t>
            </a:r>
            <a:r>
              <a:rPr sz="1600" spc="-20" dirty="0">
                <a:latin typeface="Arial"/>
                <a:cs typeface="Arial"/>
              </a:rPr>
              <a:t>mark the </a:t>
            </a:r>
            <a:r>
              <a:rPr sz="1600" spc="-70" dirty="0">
                <a:latin typeface="Arial"/>
                <a:cs typeface="Arial"/>
              </a:rPr>
              <a:t>socket </a:t>
            </a:r>
            <a:r>
              <a:rPr sz="1600" spc="-204" dirty="0">
                <a:latin typeface="Arial"/>
                <a:cs typeface="Arial"/>
              </a:rPr>
              <a:t>as </a:t>
            </a:r>
            <a:r>
              <a:rPr sz="1600" spc="-50" dirty="0">
                <a:latin typeface="Arial"/>
                <a:cs typeface="Arial"/>
              </a:rPr>
              <a:t>being </a:t>
            </a:r>
            <a:r>
              <a:rPr sz="1600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primed </a:t>
            </a:r>
            <a:r>
              <a:rPr sz="1600" u="sng" spc="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 </a:t>
            </a:r>
            <a:r>
              <a:rPr sz="1600" u="sng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asynchronous </a:t>
            </a:r>
            <a:r>
              <a:rPr sz="1600" u="sng" spc="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I/O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-45" dirty="0">
                <a:latin typeface="Arial"/>
                <a:cs typeface="Arial"/>
              </a:rPr>
              <a:t>*/</a:t>
            </a:r>
            <a:endParaRPr sz="1600">
              <a:latin typeface="Arial"/>
              <a:cs typeface="Arial"/>
            </a:endParaRPr>
          </a:p>
          <a:p>
            <a:pPr marL="683895">
              <a:lnSpc>
                <a:spcPct val="100000"/>
              </a:lnSpc>
              <a:spcBef>
                <a:spcPts val="355"/>
              </a:spcBef>
            </a:pPr>
            <a:r>
              <a:rPr sz="1600" b="1" dirty="0">
                <a:latin typeface="Courier New"/>
                <a:cs typeface="Courier New"/>
              </a:rPr>
              <a:t>if (fcntl(sock, F_SETFL, </a:t>
            </a:r>
            <a:r>
              <a:rPr sz="1600" b="1" dirty="0">
                <a:solidFill>
                  <a:srgbClr val="A50021"/>
                </a:solidFill>
                <a:latin typeface="Courier New"/>
                <a:cs typeface="Courier New"/>
              </a:rPr>
              <a:t>O_NONBLOCK </a:t>
            </a:r>
            <a:r>
              <a:rPr sz="1600" b="1" dirty="0">
                <a:latin typeface="Courier New"/>
                <a:cs typeface="Courier New"/>
              </a:rPr>
              <a:t>| </a:t>
            </a:r>
            <a:r>
              <a:rPr sz="1600" b="1" dirty="0">
                <a:solidFill>
                  <a:srgbClr val="A50021"/>
                </a:solidFill>
                <a:latin typeface="Courier New"/>
                <a:cs typeface="Courier New"/>
              </a:rPr>
              <a:t>FASYNC</a:t>
            </a:r>
            <a:r>
              <a:rPr sz="1600" b="1" dirty="0">
                <a:latin typeface="Courier New"/>
                <a:cs typeface="Courier New"/>
              </a:rPr>
              <a:t>) &lt; 0)</a:t>
            </a:r>
            <a:r>
              <a:rPr sz="1600" b="1" spc="-2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DieWithError();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62984" y="261873"/>
            <a:ext cx="199453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54" dirty="0"/>
              <a:t>Timeouts</a:t>
            </a:r>
            <a:endParaRPr sz="4200"/>
          </a:p>
        </p:txBody>
      </p:sp>
      <p:sp>
        <p:nvSpPr>
          <p:cNvPr id="7" name="object 7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91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453" y="1225042"/>
            <a:ext cx="8385809" cy="384302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55600" marR="233679" indent="-342900">
              <a:lnSpc>
                <a:spcPts val="2380"/>
              </a:lnSpc>
              <a:spcBef>
                <a:spcPts val="39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75" dirty="0">
                <a:latin typeface="Arial"/>
                <a:cs typeface="Arial"/>
              </a:rPr>
              <a:t>Using </a:t>
            </a:r>
            <a:r>
              <a:rPr sz="2200" spc="-90" dirty="0">
                <a:latin typeface="Arial"/>
                <a:cs typeface="Arial"/>
              </a:rPr>
              <a:t>asynchronous </a:t>
            </a:r>
            <a:r>
              <a:rPr sz="2200" spc="60" dirty="0">
                <a:latin typeface="Arial"/>
                <a:cs typeface="Arial"/>
              </a:rPr>
              <a:t>I/O </a:t>
            </a:r>
            <a:r>
              <a:rPr sz="2200" spc="-25" dirty="0">
                <a:latin typeface="Arial"/>
                <a:cs typeface="Arial"/>
              </a:rPr>
              <a:t>the </a:t>
            </a:r>
            <a:r>
              <a:rPr sz="2200" spc="-55" dirty="0">
                <a:latin typeface="Arial"/>
                <a:cs typeface="Arial"/>
              </a:rPr>
              <a:t>operating </a:t>
            </a:r>
            <a:r>
              <a:rPr sz="2200" spc="-125" dirty="0">
                <a:latin typeface="Arial"/>
                <a:cs typeface="Arial"/>
              </a:rPr>
              <a:t>system </a:t>
            </a:r>
            <a:r>
              <a:rPr sz="2200" spc="-20" dirty="0">
                <a:latin typeface="Arial"/>
                <a:cs typeface="Arial"/>
              </a:rPr>
              <a:t>informs </a:t>
            </a:r>
            <a:r>
              <a:rPr sz="2200" spc="-25" dirty="0">
                <a:latin typeface="Arial"/>
                <a:cs typeface="Arial"/>
              </a:rPr>
              <a:t>the </a:t>
            </a:r>
            <a:r>
              <a:rPr sz="2200" spc="-65" dirty="0">
                <a:latin typeface="Arial"/>
                <a:cs typeface="Arial"/>
              </a:rPr>
              <a:t>program  </a:t>
            </a:r>
            <a:r>
              <a:rPr sz="2200" spc="25" dirty="0">
                <a:latin typeface="Arial"/>
                <a:cs typeface="Arial"/>
              </a:rPr>
              <a:t>for </a:t>
            </a:r>
            <a:r>
              <a:rPr sz="2200" spc="-25" dirty="0">
                <a:latin typeface="Arial"/>
                <a:cs typeface="Arial"/>
              </a:rPr>
              <a:t>the </a:t>
            </a:r>
            <a:r>
              <a:rPr sz="2200" spc="-75" dirty="0">
                <a:latin typeface="Arial"/>
                <a:cs typeface="Arial"/>
              </a:rPr>
              <a:t>occurrence </a:t>
            </a:r>
            <a:r>
              <a:rPr sz="2200" spc="-15" dirty="0">
                <a:latin typeface="Arial"/>
                <a:cs typeface="Arial"/>
              </a:rPr>
              <a:t>of </a:t>
            </a:r>
            <a:r>
              <a:rPr sz="2200" spc="-120" dirty="0">
                <a:latin typeface="Arial"/>
                <a:cs typeface="Arial"/>
              </a:rPr>
              <a:t>an </a:t>
            </a:r>
            <a:r>
              <a:rPr sz="2200" spc="60" dirty="0">
                <a:latin typeface="Arial"/>
                <a:cs typeface="Arial"/>
              </a:rPr>
              <a:t>I/O </a:t>
            </a:r>
            <a:r>
              <a:rPr sz="2200" spc="-60" dirty="0">
                <a:latin typeface="Arial"/>
                <a:cs typeface="Arial"/>
              </a:rPr>
              <a:t>related</a:t>
            </a:r>
            <a:r>
              <a:rPr sz="2200" spc="-310" dirty="0">
                <a:latin typeface="Arial"/>
                <a:cs typeface="Arial"/>
              </a:rPr>
              <a:t> </a:t>
            </a:r>
            <a:r>
              <a:rPr sz="2200" spc="-60" dirty="0">
                <a:latin typeface="Arial"/>
                <a:cs typeface="Arial"/>
              </a:rPr>
              <a:t>event</a:t>
            </a:r>
            <a:endParaRPr sz="22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21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dirty="0">
                <a:latin typeface="Arial"/>
                <a:cs typeface="Arial"/>
              </a:rPr>
              <a:t>what </a:t>
            </a:r>
            <a:r>
              <a:rPr sz="2000" spc="-114" dirty="0">
                <a:latin typeface="Arial"/>
                <a:cs typeface="Arial"/>
              </a:rPr>
              <a:t>happens </a:t>
            </a:r>
            <a:r>
              <a:rPr sz="2000" spc="100" dirty="0">
                <a:latin typeface="Arial"/>
                <a:cs typeface="Arial"/>
              </a:rPr>
              <a:t>if </a:t>
            </a:r>
            <a:r>
              <a:rPr sz="2000" spc="-229" dirty="0">
                <a:latin typeface="Arial"/>
                <a:cs typeface="Arial"/>
              </a:rPr>
              <a:t>a </a:t>
            </a:r>
            <a:r>
              <a:rPr sz="2000" spc="-55" dirty="0">
                <a:latin typeface="Arial"/>
                <a:cs typeface="Arial"/>
              </a:rPr>
              <a:t>UPD </a:t>
            </a:r>
            <a:r>
              <a:rPr sz="2000" spc="-75" dirty="0">
                <a:latin typeface="Arial"/>
                <a:cs typeface="Arial"/>
              </a:rPr>
              <a:t>packet </a:t>
            </a:r>
            <a:r>
              <a:rPr sz="2000" spc="-80" dirty="0">
                <a:latin typeface="Arial"/>
                <a:cs typeface="Arial"/>
              </a:rPr>
              <a:t>is</a:t>
            </a:r>
            <a:r>
              <a:rPr sz="2000" spc="-34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lost?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5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10" dirty="0">
                <a:latin typeface="Arial"/>
                <a:cs typeface="Arial"/>
              </a:rPr>
              <a:t>We </a:t>
            </a:r>
            <a:r>
              <a:rPr sz="2200" spc="-85" dirty="0">
                <a:latin typeface="Arial"/>
                <a:cs typeface="Arial"/>
              </a:rPr>
              <a:t>may </a:t>
            </a:r>
            <a:r>
              <a:rPr sz="2200" spc="-120" dirty="0">
                <a:latin typeface="Arial"/>
                <a:cs typeface="Arial"/>
              </a:rPr>
              <a:t>need </a:t>
            </a:r>
            <a:r>
              <a:rPr sz="2200" dirty="0">
                <a:latin typeface="Arial"/>
                <a:cs typeface="Arial"/>
              </a:rPr>
              <a:t>to </a:t>
            </a:r>
            <a:r>
              <a:rPr sz="2200" spc="15" dirty="0">
                <a:latin typeface="Arial"/>
                <a:cs typeface="Arial"/>
              </a:rPr>
              <a:t>know </a:t>
            </a:r>
            <a:r>
              <a:rPr sz="2200" spc="110" dirty="0">
                <a:latin typeface="Arial"/>
                <a:cs typeface="Arial"/>
              </a:rPr>
              <a:t>if </a:t>
            </a:r>
            <a:r>
              <a:rPr sz="2200" spc="-65" dirty="0">
                <a:latin typeface="Arial"/>
                <a:cs typeface="Arial"/>
              </a:rPr>
              <a:t>something </a:t>
            </a:r>
            <a:r>
              <a:rPr sz="2200" spc="-85" dirty="0">
                <a:latin typeface="Arial"/>
                <a:cs typeface="Arial"/>
              </a:rPr>
              <a:t>doesn’t </a:t>
            </a:r>
            <a:r>
              <a:rPr sz="2200" spc="-100" dirty="0">
                <a:latin typeface="Arial"/>
                <a:cs typeface="Arial"/>
              </a:rPr>
              <a:t>happen </a:t>
            </a:r>
            <a:r>
              <a:rPr sz="2200" spc="-35" dirty="0">
                <a:latin typeface="Arial"/>
                <a:cs typeface="Arial"/>
              </a:rPr>
              <a:t>after </a:t>
            </a:r>
            <a:r>
              <a:rPr sz="2200" spc="-170" dirty="0">
                <a:latin typeface="Arial"/>
                <a:cs typeface="Arial"/>
              </a:rPr>
              <a:t>some</a:t>
            </a:r>
            <a:r>
              <a:rPr sz="2200" spc="-29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time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54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b="1" dirty="0">
                <a:latin typeface="Courier New"/>
                <a:cs typeface="Courier New"/>
              </a:rPr>
              <a:t>unsigned int alarm (unsigned int </a:t>
            </a:r>
            <a:r>
              <a:rPr sz="2200" b="1" dirty="0">
                <a:solidFill>
                  <a:srgbClr val="9A6500"/>
                </a:solidFill>
                <a:latin typeface="Courier New"/>
                <a:cs typeface="Courier New"/>
              </a:rPr>
              <a:t>secs</a:t>
            </a:r>
            <a:r>
              <a:rPr sz="2200" b="1" dirty="0">
                <a:latin typeface="Courier New"/>
                <a:cs typeface="Courier New"/>
              </a:rPr>
              <a:t>);</a:t>
            </a:r>
            <a:endParaRPr sz="2200">
              <a:latin typeface="Courier New"/>
              <a:cs typeface="Courier New"/>
            </a:endParaRPr>
          </a:p>
          <a:p>
            <a:pPr marL="681990" lvl="1" indent="-325120">
              <a:lnSpc>
                <a:spcPct val="100000"/>
              </a:lnSpc>
              <a:spcBef>
                <a:spcPts val="25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85" dirty="0">
                <a:latin typeface="Arial"/>
                <a:cs typeface="Arial"/>
              </a:rPr>
              <a:t>starts </a:t>
            </a:r>
            <a:r>
              <a:rPr sz="2000" spc="-229" dirty="0">
                <a:latin typeface="Arial"/>
                <a:cs typeface="Arial"/>
              </a:rPr>
              <a:t>a </a:t>
            </a:r>
            <a:r>
              <a:rPr sz="2000" spc="20" dirty="0">
                <a:latin typeface="Arial"/>
                <a:cs typeface="Arial"/>
              </a:rPr>
              <a:t>timer </a:t>
            </a:r>
            <a:r>
              <a:rPr sz="2000" dirty="0">
                <a:latin typeface="Arial"/>
                <a:cs typeface="Arial"/>
              </a:rPr>
              <a:t>that </a:t>
            </a:r>
            <a:r>
              <a:rPr sz="2000" spc="-80" dirty="0">
                <a:latin typeface="Arial"/>
                <a:cs typeface="Arial"/>
              </a:rPr>
              <a:t>expires </a:t>
            </a:r>
            <a:r>
              <a:rPr sz="2000" spc="-30" dirty="0">
                <a:latin typeface="Arial"/>
                <a:cs typeface="Arial"/>
              </a:rPr>
              <a:t>after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65" dirty="0">
                <a:latin typeface="Arial"/>
                <a:cs typeface="Arial"/>
              </a:rPr>
              <a:t>specified </a:t>
            </a:r>
            <a:r>
              <a:rPr sz="2000" spc="-35" dirty="0">
                <a:latin typeface="Arial"/>
                <a:cs typeface="Arial"/>
              </a:rPr>
              <a:t>number </a:t>
            </a:r>
            <a:r>
              <a:rPr sz="2000" spc="-10" dirty="0">
                <a:latin typeface="Arial"/>
                <a:cs typeface="Arial"/>
              </a:rPr>
              <a:t>of </a:t>
            </a:r>
            <a:r>
              <a:rPr sz="2000" spc="-145" dirty="0">
                <a:latin typeface="Arial"/>
                <a:cs typeface="Arial"/>
              </a:rPr>
              <a:t>seconds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(</a:t>
            </a:r>
            <a:r>
              <a:rPr sz="2000" b="1" spc="-15" dirty="0">
                <a:solidFill>
                  <a:srgbClr val="9A6500"/>
                </a:solidFill>
                <a:latin typeface="Courier New"/>
                <a:cs typeface="Courier New"/>
              </a:rPr>
              <a:t>secs</a:t>
            </a:r>
            <a:r>
              <a:rPr sz="2000" spc="-15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24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30" dirty="0">
                <a:latin typeface="Arial"/>
                <a:cs typeface="Arial"/>
              </a:rPr>
              <a:t>returns</a:t>
            </a:r>
            <a:endParaRPr sz="2000">
              <a:latin typeface="Arial"/>
              <a:cs typeface="Arial"/>
            </a:endParaRPr>
          </a:p>
          <a:p>
            <a:pPr marL="1035050" marR="139700" lvl="2" indent="-351155">
              <a:lnSpc>
                <a:spcPts val="1950"/>
              </a:lnSpc>
              <a:spcBef>
                <a:spcPts val="475"/>
              </a:spcBef>
              <a:buClr>
                <a:srgbClr val="9A6500"/>
              </a:buClr>
              <a:buSzPct val="66666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35" dirty="0">
                <a:latin typeface="Arial"/>
                <a:cs typeface="Arial"/>
              </a:rPr>
              <a:t>number </a:t>
            </a:r>
            <a:r>
              <a:rPr sz="1800" spc="-10" dirty="0">
                <a:latin typeface="Arial"/>
                <a:cs typeface="Arial"/>
              </a:rPr>
              <a:t>of </a:t>
            </a:r>
            <a:r>
              <a:rPr sz="1800" spc="-135" dirty="0">
                <a:latin typeface="Arial"/>
                <a:cs typeface="Arial"/>
              </a:rPr>
              <a:t>seconds </a:t>
            </a:r>
            <a:r>
              <a:rPr sz="1800" spc="-25" dirty="0">
                <a:latin typeface="Arial"/>
                <a:cs typeface="Arial"/>
              </a:rPr>
              <a:t>remaining </a:t>
            </a:r>
            <a:r>
              <a:rPr sz="1800" spc="55" dirty="0">
                <a:latin typeface="Arial"/>
                <a:cs typeface="Arial"/>
              </a:rPr>
              <a:t>until </a:t>
            </a:r>
            <a:r>
              <a:rPr sz="1800" spc="-55" dirty="0">
                <a:latin typeface="Arial"/>
                <a:cs typeface="Arial"/>
              </a:rPr>
              <a:t>any </a:t>
            </a:r>
            <a:r>
              <a:rPr sz="1800" spc="-30" dirty="0">
                <a:latin typeface="Arial"/>
                <a:cs typeface="Arial"/>
              </a:rPr>
              <a:t>previously </a:t>
            </a:r>
            <a:r>
              <a:rPr sz="1800" spc="-80" dirty="0">
                <a:latin typeface="Arial"/>
                <a:cs typeface="Arial"/>
              </a:rPr>
              <a:t>scheduled </a:t>
            </a:r>
            <a:r>
              <a:rPr sz="1800" spc="-45" dirty="0">
                <a:latin typeface="Arial"/>
                <a:cs typeface="Arial"/>
              </a:rPr>
              <a:t>alarm </a:t>
            </a:r>
            <a:r>
              <a:rPr sz="1800" spc="-130" dirty="0">
                <a:latin typeface="Arial"/>
                <a:cs typeface="Arial"/>
              </a:rPr>
              <a:t>was  </a:t>
            </a:r>
            <a:r>
              <a:rPr sz="1800" spc="-85" dirty="0">
                <a:latin typeface="Arial"/>
                <a:cs typeface="Arial"/>
              </a:rPr>
              <a:t>due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114" dirty="0">
                <a:latin typeface="Arial"/>
                <a:cs typeface="Arial"/>
              </a:rPr>
              <a:t>be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35" dirty="0">
                <a:latin typeface="Arial"/>
                <a:cs typeface="Arial"/>
              </a:rPr>
              <a:t>delivered,</a:t>
            </a:r>
            <a:endParaRPr sz="1800">
              <a:latin typeface="Arial"/>
              <a:cs typeface="Arial"/>
            </a:endParaRPr>
          </a:p>
          <a:p>
            <a:pPr marL="1035050" lvl="2" indent="-351155">
              <a:lnSpc>
                <a:spcPct val="100000"/>
              </a:lnSpc>
              <a:spcBef>
                <a:spcPts val="200"/>
              </a:spcBef>
              <a:buClr>
                <a:srgbClr val="9A6500"/>
              </a:buClr>
              <a:buSzPct val="66666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1800" dirty="0">
                <a:latin typeface="Arial"/>
                <a:cs typeface="Arial"/>
              </a:rPr>
              <a:t>or </a:t>
            </a:r>
            <a:r>
              <a:rPr sz="1800" spc="-70" dirty="0">
                <a:latin typeface="Arial"/>
                <a:cs typeface="Arial"/>
              </a:rPr>
              <a:t>zero </a:t>
            </a:r>
            <a:r>
              <a:rPr sz="1800" spc="90" dirty="0">
                <a:latin typeface="Arial"/>
                <a:cs typeface="Arial"/>
              </a:rPr>
              <a:t>if </a:t>
            </a:r>
            <a:r>
              <a:rPr sz="1800" spc="-35" dirty="0">
                <a:latin typeface="Arial"/>
                <a:cs typeface="Arial"/>
              </a:rPr>
              <a:t>there </a:t>
            </a:r>
            <a:r>
              <a:rPr sz="1800" spc="-125" dirty="0">
                <a:latin typeface="Arial"/>
                <a:cs typeface="Arial"/>
              </a:rPr>
              <a:t>was </a:t>
            </a:r>
            <a:r>
              <a:rPr sz="1800" spc="-35" dirty="0">
                <a:latin typeface="Arial"/>
                <a:cs typeface="Arial"/>
              </a:rPr>
              <a:t>no </a:t>
            </a:r>
            <a:r>
              <a:rPr sz="1800" spc="-25" dirty="0">
                <a:latin typeface="Arial"/>
                <a:cs typeface="Arial"/>
              </a:rPr>
              <a:t>previously </a:t>
            </a:r>
            <a:r>
              <a:rPr sz="1800" spc="-80" dirty="0">
                <a:latin typeface="Arial"/>
                <a:cs typeface="Arial"/>
              </a:rPr>
              <a:t>scheduled</a:t>
            </a:r>
            <a:r>
              <a:rPr sz="1800" spc="-250" dirty="0">
                <a:latin typeface="Arial"/>
                <a:cs typeface="Arial"/>
              </a:rPr>
              <a:t> </a:t>
            </a:r>
            <a:r>
              <a:rPr sz="1800" spc="-45" dirty="0">
                <a:latin typeface="Arial"/>
                <a:cs typeface="Arial"/>
              </a:rPr>
              <a:t>alarm</a:t>
            </a:r>
            <a:endParaRPr sz="1800">
              <a:latin typeface="Arial"/>
              <a:cs typeface="Arial"/>
            </a:endParaRPr>
          </a:p>
          <a:p>
            <a:pPr marL="681990" lvl="1" indent="-325120">
              <a:lnSpc>
                <a:spcPts val="2300"/>
              </a:lnSpc>
              <a:spcBef>
                <a:spcPts val="22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140" dirty="0">
                <a:latin typeface="Arial"/>
                <a:cs typeface="Arial"/>
              </a:rPr>
              <a:t>process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receives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CC9A00"/>
                </a:solidFill>
                <a:latin typeface="Courier New"/>
                <a:cs typeface="Courier New"/>
              </a:rPr>
              <a:t>SIGALARM</a:t>
            </a:r>
            <a:r>
              <a:rPr sz="1800" b="1" spc="-635" dirty="0">
                <a:solidFill>
                  <a:srgbClr val="CC9A00"/>
                </a:solidFill>
                <a:latin typeface="Courier New"/>
                <a:cs typeface="Courier New"/>
              </a:rPr>
              <a:t> </a:t>
            </a:r>
            <a:r>
              <a:rPr sz="2000" spc="-70" dirty="0">
                <a:latin typeface="Arial"/>
                <a:cs typeface="Arial"/>
              </a:rPr>
              <a:t>signal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5" dirty="0">
                <a:latin typeface="Arial"/>
                <a:cs typeface="Arial"/>
              </a:rPr>
              <a:t>when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20" dirty="0">
                <a:latin typeface="Arial"/>
                <a:cs typeface="Arial"/>
              </a:rPr>
              <a:t>timer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expires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and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errno</a:t>
            </a:r>
            <a:r>
              <a:rPr sz="1800" spc="-635" dirty="0">
                <a:latin typeface="Courier New"/>
                <a:cs typeface="Courier New"/>
              </a:rPr>
              <a:t> </a:t>
            </a:r>
            <a:r>
              <a:rPr sz="2000" spc="-85" dirty="0">
                <a:latin typeface="Arial"/>
                <a:cs typeface="Arial"/>
              </a:rPr>
              <a:t>is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set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to</a:t>
            </a:r>
            <a:endParaRPr sz="2000">
              <a:latin typeface="Arial"/>
              <a:cs typeface="Arial"/>
            </a:endParaRPr>
          </a:p>
          <a:p>
            <a:pPr marL="681990">
              <a:lnSpc>
                <a:spcPts val="2060"/>
              </a:lnSpc>
            </a:pPr>
            <a:r>
              <a:rPr sz="1800" b="1" spc="-10" dirty="0">
                <a:solidFill>
                  <a:srgbClr val="9A6500"/>
                </a:solidFill>
                <a:latin typeface="Courier New"/>
                <a:cs typeface="Courier New"/>
              </a:rPr>
              <a:t>EINTR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62747" y="261873"/>
            <a:ext cx="599313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50" dirty="0"/>
              <a:t>Asynchronous </a:t>
            </a:r>
            <a:r>
              <a:rPr sz="4200" spc="45" dirty="0"/>
              <a:t>I/O </a:t>
            </a:r>
            <a:r>
              <a:rPr sz="3600" spc="-225" dirty="0"/>
              <a:t>-</a:t>
            </a:r>
            <a:r>
              <a:rPr sz="3600" spc="-475" dirty="0"/>
              <a:t> </a:t>
            </a:r>
            <a:r>
              <a:rPr sz="3600" spc="-229" dirty="0"/>
              <a:t>Example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92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9116" y="1277163"/>
            <a:ext cx="7626984" cy="3980179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276225" marR="2383155" indent="-224790">
              <a:lnSpc>
                <a:spcPct val="119200"/>
              </a:lnSpc>
              <a:spcBef>
                <a:spcPts val="70"/>
              </a:spcBef>
            </a:pPr>
            <a:r>
              <a:rPr sz="1600" spc="-40" dirty="0">
                <a:latin typeface="Arial"/>
                <a:cs typeface="Arial"/>
              </a:rPr>
              <a:t>/* </a:t>
            </a:r>
            <a:r>
              <a:rPr sz="1600" spc="25" dirty="0">
                <a:latin typeface="Arial"/>
                <a:cs typeface="Arial"/>
              </a:rPr>
              <a:t>Inform </a:t>
            </a:r>
            <a:r>
              <a:rPr sz="1600" spc="-20" dirty="0">
                <a:latin typeface="Arial"/>
                <a:cs typeface="Arial"/>
              </a:rPr>
              <a:t>the </a:t>
            </a:r>
            <a:r>
              <a:rPr sz="1600" spc="-90" dirty="0">
                <a:latin typeface="Arial"/>
                <a:cs typeface="Arial"/>
              </a:rPr>
              <a:t>system </a:t>
            </a:r>
            <a:r>
              <a:rPr sz="1600" spc="-10" dirty="0">
                <a:latin typeface="Arial"/>
                <a:cs typeface="Arial"/>
              </a:rPr>
              <a:t>of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u="sng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desired </a:t>
            </a:r>
            <a:r>
              <a:rPr sz="1600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disposition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of </a:t>
            </a:r>
            <a:r>
              <a:rPr sz="1600" spc="-20" dirty="0">
                <a:latin typeface="Arial"/>
                <a:cs typeface="Arial"/>
              </a:rPr>
              <a:t>the </a:t>
            </a:r>
            <a:r>
              <a:rPr sz="1600" spc="-55" dirty="0">
                <a:latin typeface="Arial"/>
                <a:cs typeface="Arial"/>
              </a:rPr>
              <a:t>signal </a:t>
            </a:r>
            <a:r>
              <a:rPr sz="1600" spc="-40" dirty="0">
                <a:latin typeface="Arial"/>
                <a:cs typeface="Arial"/>
              </a:rPr>
              <a:t>*/  </a:t>
            </a:r>
            <a:r>
              <a:rPr sz="1600" b="1" dirty="0">
                <a:latin typeface="Courier New"/>
                <a:cs typeface="Courier New"/>
              </a:rPr>
              <a:t>struct sigaction myAction;  myAction.sa_handler =</a:t>
            </a:r>
            <a:r>
              <a:rPr sz="1600" b="1" spc="-2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CatchAlarm;</a:t>
            </a:r>
            <a:endParaRPr sz="1600">
              <a:latin typeface="Courier New"/>
              <a:cs typeface="Courier New"/>
            </a:endParaRPr>
          </a:p>
          <a:p>
            <a:pPr marL="276225" marR="372745">
              <a:lnSpc>
                <a:spcPts val="2320"/>
              </a:lnSpc>
              <a:spcBef>
                <a:spcPts val="135"/>
              </a:spcBef>
            </a:pPr>
            <a:r>
              <a:rPr sz="1600" b="1" dirty="0">
                <a:latin typeface="Courier New"/>
                <a:cs typeface="Courier New"/>
              </a:rPr>
              <a:t>if (sigfillset(&amp;myAction.sa_mask) &lt; 0) DiewithError(“…”);  myAction.sa_flags =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0;</a:t>
            </a:r>
            <a:endParaRPr sz="1600">
              <a:latin typeface="Courier New"/>
              <a:cs typeface="Courier New"/>
            </a:endParaRPr>
          </a:p>
          <a:p>
            <a:pPr marL="276225">
              <a:lnSpc>
                <a:spcPct val="100000"/>
              </a:lnSpc>
              <a:spcBef>
                <a:spcPts val="240"/>
              </a:spcBef>
            </a:pPr>
            <a:r>
              <a:rPr sz="1600" b="1" dirty="0">
                <a:latin typeface="Courier New"/>
                <a:cs typeface="Courier New"/>
              </a:rPr>
              <a:t>if (sigaction(</a:t>
            </a:r>
            <a:r>
              <a:rPr sz="1600" b="1" dirty="0">
                <a:solidFill>
                  <a:srgbClr val="CC9A00"/>
                </a:solidFill>
                <a:latin typeface="Courier New"/>
                <a:cs typeface="Courier New"/>
              </a:rPr>
              <a:t>SIGALARM</a:t>
            </a:r>
            <a:r>
              <a:rPr sz="1600" b="1" dirty="0">
                <a:latin typeface="Courier New"/>
                <a:cs typeface="Courier New"/>
              </a:rPr>
              <a:t>, &amp;handler, 0) &lt; 0)</a:t>
            </a:r>
            <a:r>
              <a:rPr sz="1600" b="1" spc="-2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DieWithError(“…”);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600" spc="-40" dirty="0">
                <a:latin typeface="Arial"/>
                <a:cs typeface="Arial"/>
              </a:rPr>
              <a:t>/* </a:t>
            </a:r>
            <a:r>
              <a:rPr sz="1600" spc="-125" dirty="0">
                <a:latin typeface="Arial"/>
                <a:cs typeface="Arial"/>
              </a:rPr>
              <a:t>Set </a:t>
            </a:r>
            <a:r>
              <a:rPr sz="1600" spc="-40" dirty="0">
                <a:latin typeface="Arial"/>
                <a:cs typeface="Arial"/>
              </a:rPr>
              <a:t>alarm</a:t>
            </a:r>
            <a:r>
              <a:rPr sz="1600" spc="30" dirty="0">
                <a:latin typeface="Arial"/>
                <a:cs typeface="Arial"/>
              </a:rPr>
              <a:t> </a:t>
            </a:r>
            <a:r>
              <a:rPr sz="1600" spc="-40" dirty="0">
                <a:latin typeface="Arial"/>
                <a:cs typeface="Arial"/>
              </a:rPr>
              <a:t>*/</a:t>
            </a:r>
            <a:endParaRPr sz="1600">
              <a:latin typeface="Arial"/>
              <a:cs typeface="Arial"/>
            </a:endParaRPr>
          </a:p>
          <a:p>
            <a:pPr marL="274320">
              <a:lnSpc>
                <a:spcPct val="100000"/>
              </a:lnSpc>
              <a:spcBef>
                <a:spcPts val="459"/>
              </a:spcBef>
            </a:pPr>
            <a:r>
              <a:rPr sz="1600" b="1" dirty="0">
                <a:latin typeface="Courier New"/>
                <a:cs typeface="Courier New"/>
              </a:rPr>
              <a:t>alarm(TIMEOUT_SECS);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600" spc="-40" dirty="0">
                <a:latin typeface="Arial"/>
                <a:cs typeface="Arial"/>
              </a:rPr>
              <a:t>/* </a:t>
            </a:r>
            <a:r>
              <a:rPr sz="1600" spc="-25" dirty="0">
                <a:latin typeface="Arial"/>
                <a:cs typeface="Arial"/>
              </a:rPr>
              <a:t>Call </a:t>
            </a:r>
            <a:r>
              <a:rPr sz="1600" spc="-10" dirty="0">
                <a:latin typeface="Arial"/>
                <a:cs typeface="Arial"/>
              </a:rPr>
              <a:t>blocking </a:t>
            </a:r>
            <a:r>
              <a:rPr sz="1600" spc="-55" dirty="0">
                <a:latin typeface="Arial"/>
                <a:cs typeface="Arial"/>
              </a:rPr>
              <a:t>receive</a:t>
            </a:r>
            <a:r>
              <a:rPr sz="1600" spc="-110" dirty="0">
                <a:latin typeface="Arial"/>
                <a:cs typeface="Arial"/>
              </a:rPr>
              <a:t> </a:t>
            </a:r>
            <a:r>
              <a:rPr sz="1600" spc="-40" dirty="0">
                <a:latin typeface="Arial"/>
                <a:cs typeface="Arial"/>
              </a:rPr>
              <a:t>*/</a:t>
            </a:r>
            <a:endParaRPr sz="1600">
              <a:latin typeface="Arial"/>
              <a:cs typeface="Arial"/>
            </a:endParaRPr>
          </a:p>
          <a:p>
            <a:pPr marL="627380" marR="862965" indent="-353060">
              <a:lnSpc>
                <a:spcPts val="2510"/>
              </a:lnSpc>
              <a:spcBef>
                <a:spcPts val="45"/>
              </a:spcBef>
            </a:pPr>
            <a:r>
              <a:rPr sz="1600" b="1" dirty="0">
                <a:latin typeface="Courier New"/>
                <a:cs typeface="Courier New"/>
              </a:rPr>
              <a:t>if (recvfrom(sock, echoBuffer, ECHOMAX, 0, … ) &lt; 0) {  if (errno = EINTR) … </a:t>
            </a:r>
            <a:r>
              <a:rPr sz="1600" spc="-10" dirty="0">
                <a:latin typeface="Arial"/>
                <a:cs typeface="Arial"/>
              </a:rPr>
              <a:t>/*Alarm </a:t>
            </a:r>
            <a:r>
              <a:rPr sz="1600" spc="5" dirty="0">
                <a:latin typeface="Arial"/>
                <a:cs typeface="Arial"/>
              </a:rPr>
              <a:t>went </a:t>
            </a:r>
            <a:r>
              <a:rPr sz="1600" spc="15" dirty="0">
                <a:latin typeface="Arial"/>
                <a:cs typeface="Arial"/>
              </a:rPr>
              <a:t>off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40" dirty="0">
                <a:latin typeface="Arial"/>
                <a:cs typeface="Arial"/>
              </a:rPr>
              <a:t>*/</a:t>
            </a:r>
            <a:endParaRPr sz="1600">
              <a:latin typeface="Arial"/>
              <a:cs typeface="Arial"/>
            </a:endParaRPr>
          </a:p>
          <a:p>
            <a:pPr marL="627380">
              <a:lnSpc>
                <a:spcPct val="100000"/>
              </a:lnSpc>
              <a:spcBef>
                <a:spcPts val="250"/>
              </a:spcBef>
            </a:pPr>
            <a:r>
              <a:rPr sz="1600" b="1" dirty="0">
                <a:latin typeface="Courier New"/>
                <a:cs typeface="Courier New"/>
              </a:rPr>
              <a:t>else DieWithError(“recvfrom() failed”);</a:t>
            </a:r>
            <a:endParaRPr sz="1600">
              <a:latin typeface="Courier New"/>
              <a:cs typeface="Courier New"/>
            </a:endParaRPr>
          </a:p>
          <a:p>
            <a:pPr marL="276225">
              <a:lnSpc>
                <a:spcPct val="100000"/>
              </a:lnSpc>
              <a:spcBef>
                <a:spcPts val="395"/>
              </a:spcBef>
            </a:pPr>
            <a:r>
              <a:rPr sz="1600" b="1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28622" y="261873"/>
            <a:ext cx="626237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54" dirty="0"/>
              <a:t>Iterative </a:t>
            </a:r>
            <a:r>
              <a:rPr sz="4200" spc="-345" dirty="0"/>
              <a:t>Stream </a:t>
            </a:r>
            <a:r>
              <a:rPr sz="4200" spc="-240" dirty="0"/>
              <a:t>Socket</a:t>
            </a:r>
            <a:r>
              <a:rPr sz="4200" spc="25" dirty="0"/>
              <a:t> </a:t>
            </a:r>
            <a:r>
              <a:rPr sz="4200" spc="-280" dirty="0"/>
              <a:t>Server</a:t>
            </a:r>
            <a:endParaRPr sz="4200"/>
          </a:p>
        </p:txBody>
      </p:sp>
      <p:sp>
        <p:nvSpPr>
          <p:cNvPr id="7" name="object 7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93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453" y="1184960"/>
            <a:ext cx="7729855" cy="310896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2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90" dirty="0">
                <a:latin typeface="Arial"/>
                <a:cs typeface="Arial"/>
              </a:rPr>
              <a:t>Handles </a:t>
            </a:r>
            <a:r>
              <a:rPr sz="2200" spc="-105" dirty="0">
                <a:latin typeface="Arial"/>
                <a:cs typeface="Arial"/>
              </a:rPr>
              <a:t>one </a:t>
            </a:r>
            <a:r>
              <a:rPr sz="2200" spc="10" dirty="0">
                <a:latin typeface="Arial"/>
                <a:cs typeface="Arial"/>
              </a:rPr>
              <a:t>client </a:t>
            </a:r>
            <a:r>
              <a:rPr sz="2200" spc="-70" dirty="0">
                <a:latin typeface="Arial"/>
                <a:cs typeface="Arial"/>
              </a:rPr>
              <a:t>at </a:t>
            </a:r>
            <a:r>
              <a:rPr sz="2200" spc="-250" dirty="0">
                <a:latin typeface="Arial"/>
                <a:cs typeface="Arial"/>
              </a:rPr>
              <a:t>a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time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2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10" dirty="0">
                <a:latin typeface="Arial"/>
                <a:cs typeface="Arial"/>
              </a:rPr>
              <a:t>Additional </a:t>
            </a:r>
            <a:r>
              <a:rPr sz="2200" spc="-40" dirty="0">
                <a:latin typeface="Arial"/>
                <a:cs typeface="Arial"/>
              </a:rPr>
              <a:t>clients </a:t>
            </a:r>
            <a:r>
              <a:rPr sz="2200" spc="-120" dirty="0">
                <a:latin typeface="Arial"/>
                <a:cs typeface="Arial"/>
              </a:rPr>
              <a:t>can </a:t>
            </a:r>
            <a:r>
              <a:rPr sz="2200" spc="-65" dirty="0">
                <a:latin typeface="Arial"/>
                <a:cs typeface="Arial"/>
              </a:rPr>
              <a:t>connect </a:t>
            </a:r>
            <a:r>
              <a:rPr sz="2200" spc="35" dirty="0">
                <a:latin typeface="Arial"/>
                <a:cs typeface="Arial"/>
              </a:rPr>
              <a:t>while </a:t>
            </a:r>
            <a:r>
              <a:rPr sz="2200" spc="-105" dirty="0">
                <a:latin typeface="Arial"/>
                <a:cs typeface="Arial"/>
              </a:rPr>
              <a:t>one </a:t>
            </a:r>
            <a:r>
              <a:rPr sz="2200" spc="-90" dirty="0">
                <a:latin typeface="Arial"/>
                <a:cs typeface="Arial"/>
              </a:rPr>
              <a:t>is </a:t>
            </a:r>
            <a:r>
              <a:rPr sz="2200" spc="-65" dirty="0">
                <a:latin typeface="Arial"/>
                <a:cs typeface="Arial"/>
              </a:rPr>
              <a:t>being</a:t>
            </a:r>
            <a:r>
              <a:rPr sz="2200" spc="-140" dirty="0">
                <a:latin typeface="Arial"/>
                <a:cs typeface="Arial"/>
              </a:rPr>
              <a:t> </a:t>
            </a:r>
            <a:r>
              <a:rPr sz="2200" spc="-120" dirty="0">
                <a:latin typeface="Arial"/>
                <a:cs typeface="Arial"/>
              </a:rPr>
              <a:t>served</a:t>
            </a:r>
            <a:endParaRPr sz="22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9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60" dirty="0">
                <a:latin typeface="Arial"/>
                <a:cs typeface="Arial"/>
              </a:rPr>
              <a:t>connections </a:t>
            </a:r>
            <a:r>
              <a:rPr sz="2000" spc="-110" dirty="0">
                <a:latin typeface="Arial"/>
                <a:cs typeface="Arial"/>
              </a:rPr>
              <a:t>are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established</a:t>
            </a:r>
            <a:endParaRPr sz="20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15" dirty="0">
                <a:latin typeface="Arial"/>
                <a:cs typeface="Arial"/>
              </a:rPr>
              <a:t>they </a:t>
            </a:r>
            <a:r>
              <a:rPr sz="2000" spc="-110" dirty="0">
                <a:latin typeface="Arial"/>
                <a:cs typeface="Arial"/>
              </a:rPr>
              <a:t>are </a:t>
            </a:r>
            <a:r>
              <a:rPr sz="2000" spc="-90" dirty="0">
                <a:latin typeface="Arial"/>
                <a:cs typeface="Arial"/>
              </a:rPr>
              <a:t>able </a:t>
            </a:r>
            <a:r>
              <a:rPr sz="2000" dirty="0">
                <a:latin typeface="Arial"/>
                <a:cs typeface="Arial"/>
              </a:rPr>
              <a:t>to </a:t>
            </a:r>
            <a:r>
              <a:rPr sz="2000" spc="-130" dirty="0">
                <a:latin typeface="Arial"/>
                <a:cs typeface="Arial"/>
              </a:rPr>
              <a:t>send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requests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00"/>
              </a:spcBef>
            </a:pPr>
            <a:r>
              <a:rPr sz="2200" spc="-15" dirty="0">
                <a:latin typeface="Arial"/>
                <a:cs typeface="Arial"/>
              </a:rPr>
              <a:t>but,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the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-90" dirty="0">
                <a:latin typeface="Arial"/>
                <a:cs typeface="Arial"/>
              </a:rPr>
              <a:t>server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125" dirty="0">
                <a:latin typeface="Arial"/>
                <a:cs typeface="Arial"/>
              </a:rPr>
              <a:t>will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-95" dirty="0">
                <a:latin typeface="Arial"/>
                <a:cs typeface="Arial"/>
              </a:rPr>
              <a:t>respond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-35" dirty="0">
                <a:latin typeface="Arial"/>
                <a:cs typeface="Arial"/>
              </a:rPr>
              <a:t>after</a:t>
            </a:r>
            <a:r>
              <a:rPr sz="2200" spc="-80" dirty="0">
                <a:latin typeface="Arial"/>
                <a:cs typeface="Arial"/>
              </a:rPr>
              <a:t> </a:t>
            </a:r>
            <a:r>
              <a:rPr sz="2200" spc="120" dirty="0">
                <a:latin typeface="Arial"/>
                <a:cs typeface="Arial"/>
              </a:rPr>
              <a:t>it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-60" dirty="0">
                <a:latin typeface="Arial"/>
                <a:cs typeface="Arial"/>
              </a:rPr>
              <a:t>finishes </a:t>
            </a:r>
            <a:r>
              <a:rPr sz="2200" spc="95" dirty="0">
                <a:latin typeface="Arial"/>
                <a:cs typeface="Arial"/>
              </a:rPr>
              <a:t>with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the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20" dirty="0">
                <a:latin typeface="Arial"/>
                <a:cs typeface="Arial"/>
              </a:rPr>
              <a:t>first</a:t>
            </a:r>
            <a:r>
              <a:rPr sz="2200" spc="-60" dirty="0">
                <a:latin typeface="Arial"/>
                <a:cs typeface="Arial"/>
              </a:rPr>
              <a:t> </a:t>
            </a:r>
            <a:r>
              <a:rPr sz="2200" spc="5" dirty="0">
                <a:latin typeface="Arial"/>
                <a:cs typeface="Arial"/>
              </a:rPr>
              <a:t>client</a:t>
            </a:r>
            <a:endParaRPr sz="2200">
              <a:latin typeface="Arial"/>
              <a:cs typeface="Arial"/>
            </a:endParaRPr>
          </a:p>
          <a:p>
            <a:pPr marL="355600" marR="67945" indent="-342900">
              <a:lnSpc>
                <a:spcPts val="2640"/>
              </a:lnSpc>
              <a:spcBef>
                <a:spcPts val="610"/>
              </a:spcBef>
            </a:pPr>
            <a:r>
              <a:rPr sz="2600" spc="2195" dirty="0">
                <a:solidFill>
                  <a:srgbClr val="9A6500"/>
                </a:solidFill>
                <a:latin typeface="Wingdings"/>
                <a:cs typeface="Wingdings"/>
              </a:rPr>
              <a:t></a:t>
            </a:r>
            <a:r>
              <a:rPr sz="2600" spc="-215" dirty="0">
                <a:solidFill>
                  <a:srgbClr val="9A6500"/>
                </a:solidFill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Arial"/>
                <a:cs typeface="Arial"/>
              </a:rPr>
              <a:t>Works </a:t>
            </a:r>
            <a:r>
              <a:rPr sz="2200" spc="40" dirty="0">
                <a:latin typeface="Arial"/>
                <a:cs typeface="Arial"/>
              </a:rPr>
              <a:t>well </a:t>
            </a:r>
            <a:r>
              <a:rPr sz="2200" spc="110" dirty="0">
                <a:latin typeface="Arial"/>
                <a:cs typeface="Arial"/>
              </a:rPr>
              <a:t>if </a:t>
            </a:r>
            <a:r>
              <a:rPr sz="2200" spc="-145" dirty="0">
                <a:latin typeface="Arial"/>
                <a:cs typeface="Arial"/>
              </a:rPr>
              <a:t>each </a:t>
            </a:r>
            <a:r>
              <a:rPr sz="2200" spc="10" dirty="0">
                <a:latin typeface="Arial"/>
                <a:cs typeface="Arial"/>
              </a:rPr>
              <a:t>client </a:t>
            </a:r>
            <a:r>
              <a:rPr sz="2200" spc="-40" dirty="0">
                <a:latin typeface="Arial"/>
                <a:cs typeface="Arial"/>
              </a:rPr>
              <a:t>required </a:t>
            </a:r>
            <a:r>
              <a:rPr sz="2200" spc="-250" dirty="0">
                <a:latin typeface="Arial"/>
                <a:cs typeface="Arial"/>
              </a:rPr>
              <a:t>a </a:t>
            </a:r>
            <a:r>
              <a:rPr sz="2200" spc="-65" dirty="0">
                <a:latin typeface="Arial"/>
                <a:cs typeface="Arial"/>
              </a:rPr>
              <a:t>small, </a:t>
            </a:r>
            <a:r>
              <a:rPr sz="2200" spc="-80" dirty="0">
                <a:latin typeface="Arial"/>
                <a:cs typeface="Arial"/>
              </a:rPr>
              <a:t>bounded </a:t>
            </a:r>
            <a:r>
              <a:rPr sz="2200" spc="-145" dirty="0">
                <a:latin typeface="Arial"/>
                <a:cs typeface="Arial"/>
              </a:rPr>
              <a:t>amount  </a:t>
            </a:r>
            <a:r>
              <a:rPr sz="2200" spc="-15" dirty="0">
                <a:latin typeface="Arial"/>
                <a:cs typeface="Arial"/>
              </a:rPr>
              <a:t>of </a:t>
            </a:r>
            <a:r>
              <a:rPr sz="2200" spc="40" dirty="0">
                <a:latin typeface="Arial"/>
                <a:cs typeface="Arial"/>
              </a:rPr>
              <a:t>work </a:t>
            </a:r>
            <a:r>
              <a:rPr sz="2200" spc="-20" dirty="0">
                <a:latin typeface="Arial"/>
                <a:cs typeface="Arial"/>
              </a:rPr>
              <a:t>by </a:t>
            </a:r>
            <a:r>
              <a:rPr sz="2200" spc="-25" dirty="0">
                <a:latin typeface="Arial"/>
                <a:cs typeface="Arial"/>
              </a:rPr>
              <a:t>the</a:t>
            </a:r>
            <a:r>
              <a:rPr sz="2200" spc="-215" dirty="0">
                <a:latin typeface="Arial"/>
                <a:cs typeface="Arial"/>
              </a:rPr>
              <a:t> </a:t>
            </a:r>
            <a:r>
              <a:rPr sz="2200" spc="-90" dirty="0">
                <a:latin typeface="Arial"/>
                <a:cs typeface="Arial"/>
              </a:rPr>
              <a:t>server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2600" spc="2195" dirty="0">
                <a:solidFill>
                  <a:srgbClr val="9A6500"/>
                </a:solidFill>
                <a:latin typeface="Wingdings"/>
                <a:cs typeface="Wingdings"/>
              </a:rPr>
              <a:t></a:t>
            </a:r>
            <a:r>
              <a:rPr sz="2600" spc="190" dirty="0">
                <a:solidFill>
                  <a:srgbClr val="9A6500"/>
                </a:solidFill>
                <a:latin typeface="Times New Roman"/>
                <a:cs typeface="Times New Roman"/>
              </a:rPr>
              <a:t> </a:t>
            </a:r>
            <a:r>
              <a:rPr sz="2200" spc="-45" dirty="0">
                <a:latin typeface="Arial"/>
                <a:cs typeface="Arial"/>
              </a:rPr>
              <a:t>otherwise, </a:t>
            </a:r>
            <a:r>
              <a:rPr sz="2200" spc="-25" dirty="0">
                <a:latin typeface="Arial"/>
                <a:cs typeface="Arial"/>
              </a:rPr>
              <a:t>the </a:t>
            </a:r>
            <a:r>
              <a:rPr sz="2200" spc="-40" dirty="0">
                <a:latin typeface="Arial"/>
                <a:cs typeface="Arial"/>
              </a:rPr>
              <a:t>clients </a:t>
            </a:r>
            <a:r>
              <a:rPr sz="2200" spc="-85" dirty="0">
                <a:latin typeface="Arial"/>
                <a:cs typeface="Arial"/>
              </a:rPr>
              <a:t>experience </a:t>
            </a:r>
            <a:r>
              <a:rPr sz="2200" spc="-35" dirty="0">
                <a:latin typeface="Arial"/>
                <a:cs typeface="Arial"/>
              </a:rPr>
              <a:t>long </a:t>
            </a:r>
            <a:r>
              <a:rPr sz="2200" spc="-114" dirty="0">
                <a:latin typeface="Arial"/>
                <a:cs typeface="Arial"/>
              </a:rPr>
              <a:t>delays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0247" y="338073"/>
            <a:ext cx="7900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20" dirty="0"/>
              <a:t>Iterative </a:t>
            </a:r>
            <a:r>
              <a:rPr sz="3600" spc="-240" dirty="0"/>
              <a:t>Server </a:t>
            </a:r>
            <a:r>
              <a:rPr sz="2800" spc="-175" dirty="0"/>
              <a:t>- </a:t>
            </a:r>
            <a:r>
              <a:rPr sz="2800" spc="-190" dirty="0"/>
              <a:t>Example: </a:t>
            </a:r>
            <a:r>
              <a:rPr sz="2800" spc="-145" dirty="0"/>
              <a:t>echo </a:t>
            </a:r>
            <a:r>
              <a:rPr sz="2800" spc="-204" dirty="0"/>
              <a:t>using </a:t>
            </a:r>
            <a:r>
              <a:rPr sz="2800" spc="-225" dirty="0"/>
              <a:t>stream</a:t>
            </a:r>
            <a:r>
              <a:rPr sz="2800" spc="-80" dirty="0"/>
              <a:t> </a:t>
            </a:r>
            <a:r>
              <a:rPr sz="2800" spc="-155" dirty="0"/>
              <a:t>socket</a:t>
            </a:r>
            <a:endParaRPr sz="2800"/>
          </a:p>
        </p:txBody>
      </p:sp>
      <p:sp>
        <p:nvSpPr>
          <p:cNvPr id="4" name="object 4"/>
          <p:cNvSpPr/>
          <p:nvPr/>
        </p:nvSpPr>
        <p:spPr>
          <a:xfrm>
            <a:off x="353961" y="939800"/>
            <a:ext cx="8587105" cy="4991100"/>
          </a:xfrm>
          <a:custGeom>
            <a:avLst/>
            <a:gdLst/>
            <a:ahLst/>
            <a:cxnLst/>
            <a:rect l="l" t="t" r="r" b="b"/>
            <a:pathLst>
              <a:path w="8587105" h="4991100">
                <a:moveTo>
                  <a:pt x="0" y="0"/>
                </a:moveTo>
                <a:lnTo>
                  <a:pt x="0" y="4991100"/>
                </a:lnTo>
                <a:lnTo>
                  <a:pt x="8586978" y="4991100"/>
                </a:lnTo>
                <a:lnTo>
                  <a:pt x="8586978" y="0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4887" y="969772"/>
            <a:ext cx="61207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0864" algn="l"/>
              </a:tabLst>
            </a:pPr>
            <a:r>
              <a:rPr sz="1000" spc="-5" dirty="0">
                <a:latin typeface="Courier New"/>
                <a:cs typeface="Courier New"/>
              </a:rPr>
              <a:t>#include</a:t>
            </a:r>
            <a:r>
              <a:rPr sz="1000" spc="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&lt;stdio.h&gt;	/* for printf() and fprintf()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#include &lt;sys/socket.h&gt; /* for socket(), bind(), connect(), recv() and send()</a:t>
            </a:r>
            <a:r>
              <a:rPr sz="1000" b="1" spc="2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94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887" y="1274572"/>
            <a:ext cx="170180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Courier New"/>
                <a:cs typeface="Courier New"/>
              </a:rPr>
              <a:t>#include &lt;arpa/inet.h&gt;  </a:t>
            </a:r>
            <a:r>
              <a:rPr sz="1000" spc="-5" dirty="0">
                <a:latin typeface="Courier New"/>
                <a:cs typeface="Courier New"/>
              </a:rPr>
              <a:t>#include &lt;stdlib.h&gt;  #include &lt;string.h&gt;  #include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&lt;unistd.h&gt;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73374" y="1274572"/>
            <a:ext cx="284480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Courier New"/>
                <a:cs typeface="Courier New"/>
              </a:rPr>
              <a:t>/* for sockaddr_in and inet_ntoa()</a:t>
            </a:r>
            <a:r>
              <a:rPr sz="1000" b="1" spc="-4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for atoi() and exit()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for memset()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for close()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4887" y="2036572"/>
            <a:ext cx="566356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0864" algn="l"/>
              </a:tabLst>
            </a:pPr>
            <a:r>
              <a:rPr sz="1000" spc="-5" dirty="0">
                <a:latin typeface="Courier New"/>
                <a:cs typeface="Courier New"/>
              </a:rPr>
              <a:t>#define</a:t>
            </a:r>
            <a:r>
              <a:rPr sz="1000" spc="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MAXPENDING</a:t>
            </a:r>
            <a:r>
              <a:rPr sz="1000" spc="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5	</a:t>
            </a:r>
            <a:r>
              <a:rPr sz="1000" spc="-5" dirty="0">
                <a:latin typeface="Courier New"/>
                <a:cs typeface="Courier New"/>
              </a:rPr>
              <a:t>/* Maximum outstanding connection requests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060065" algn="l"/>
              </a:tabLst>
            </a:pPr>
            <a:r>
              <a:rPr sz="1000" spc="-5" dirty="0">
                <a:latin typeface="Courier New"/>
                <a:cs typeface="Courier New"/>
              </a:rPr>
              <a:t>void</a:t>
            </a:r>
            <a:r>
              <a:rPr sz="1000" spc="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DieWithError(char</a:t>
            </a:r>
            <a:r>
              <a:rPr sz="1000" spc="1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*errorMessage);	/* Error handling function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tabLst>
                <a:tab pos="3060065" algn="l"/>
              </a:tabLst>
            </a:pPr>
            <a:r>
              <a:rPr sz="1000" spc="-5" dirty="0">
                <a:latin typeface="Courier New"/>
                <a:cs typeface="Courier New"/>
              </a:rPr>
              <a:t>void</a:t>
            </a:r>
            <a:r>
              <a:rPr sz="1000" spc="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HandleTCPClient(int</a:t>
            </a:r>
            <a:r>
              <a:rPr sz="1000" spc="1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clntSocket);	/* TCP client handling function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4887" y="2798559"/>
            <a:ext cx="26162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5080" indent="-3048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Courier New"/>
                <a:cs typeface="Courier New"/>
              </a:rPr>
              <a:t>int main(int argc, char *argv[]) </a:t>
            </a:r>
            <a:r>
              <a:rPr sz="1000" dirty="0">
                <a:latin typeface="Courier New"/>
                <a:cs typeface="Courier New"/>
              </a:rPr>
              <a:t>{  </a:t>
            </a:r>
            <a:r>
              <a:rPr sz="1000" spc="-5" dirty="0">
                <a:latin typeface="Courier New"/>
                <a:cs typeface="Courier New"/>
              </a:rPr>
              <a:t>int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b="1" spc="-5" dirty="0">
                <a:solidFill>
                  <a:srgbClr val="9A6500"/>
                </a:solidFill>
                <a:latin typeface="Courier New"/>
                <a:cs typeface="Courier New"/>
              </a:rPr>
              <a:t>servSock</a:t>
            </a:r>
            <a:r>
              <a:rPr sz="1000" spc="-5" dirty="0">
                <a:latin typeface="Courier New"/>
                <a:cs typeface="Courier New"/>
              </a:rPr>
              <a:t>;</a:t>
            </a:r>
            <a:endParaRPr sz="1000">
              <a:latin typeface="Courier New"/>
              <a:cs typeface="Courier New"/>
            </a:endParaRPr>
          </a:p>
          <a:p>
            <a:pPr marL="316865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int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b="1" spc="-5" dirty="0">
                <a:solidFill>
                  <a:srgbClr val="CC9A00"/>
                </a:solidFill>
                <a:latin typeface="Courier New"/>
                <a:cs typeface="Courier New"/>
              </a:rPr>
              <a:t>clntSock</a:t>
            </a:r>
            <a:r>
              <a:rPr sz="1000" spc="-5" dirty="0">
                <a:latin typeface="Courier New"/>
                <a:cs typeface="Courier New"/>
              </a:rPr>
              <a:t>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64054" y="2950959"/>
            <a:ext cx="26162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Courier New"/>
                <a:cs typeface="Courier New"/>
              </a:rPr>
              <a:t>/* Socket descriptor for server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Socket descriptor for client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9668" y="3255759"/>
            <a:ext cx="40640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Courier New"/>
                <a:cs typeface="Courier New"/>
              </a:rPr>
              <a:t>struct sockaddr_in </a:t>
            </a:r>
            <a:r>
              <a:rPr sz="1000" b="1" spc="-5" dirty="0">
                <a:solidFill>
                  <a:srgbClr val="9A6500"/>
                </a:solidFill>
                <a:latin typeface="Courier New"/>
                <a:cs typeface="Courier New"/>
              </a:rPr>
              <a:t>echoServAddr</a:t>
            </a:r>
            <a:r>
              <a:rPr sz="1000" spc="-5" dirty="0">
                <a:latin typeface="Courier New"/>
                <a:cs typeface="Courier New"/>
              </a:rPr>
              <a:t>; /* Local address */  struct sockaddr_in </a:t>
            </a:r>
            <a:r>
              <a:rPr sz="1000" b="1" spc="-5" dirty="0">
                <a:solidFill>
                  <a:srgbClr val="CC9A00"/>
                </a:solidFill>
                <a:latin typeface="Courier New"/>
                <a:cs typeface="Courier New"/>
              </a:rPr>
              <a:t>echoClntAddr</a:t>
            </a:r>
            <a:r>
              <a:rPr sz="1000" spc="-5" dirty="0">
                <a:latin typeface="Courier New"/>
                <a:cs typeface="Courier New"/>
              </a:rPr>
              <a:t>; /* Client address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9655" y="3560559"/>
            <a:ext cx="21590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Courier New"/>
                <a:cs typeface="Courier New"/>
              </a:rPr>
              <a:t>unsigned short echoServPort;  unsigned int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clntLen;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63825" y="3560559"/>
            <a:ext cx="34544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Courier New"/>
                <a:cs typeface="Courier New"/>
              </a:rPr>
              <a:t>/* Server port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Length of client address data structure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9655" y="4017759"/>
            <a:ext cx="482600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5080" indent="-304800">
              <a:lnSpc>
                <a:spcPct val="100000"/>
              </a:lnSpc>
              <a:spcBef>
                <a:spcPts val="100"/>
              </a:spcBef>
              <a:tabLst>
                <a:tab pos="1612265" algn="l"/>
                <a:tab pos="2221865" algn="l"/>
              </a:tabLst>
            </a:pPr>
            <a:r>
              <a:rPr sz="1000" spc="-5" dirty="0">
                <a:latin typeface="Courier New"/>
                <a:cs typeface="Courier New"/>
              </a:rPr>
              <a:t>if (argc !=</a:t>
            </a:r>
            <a:r>
              <a:rPr sz="1000" spc="1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2)</a:t>
            </a:r>
            <a:r>
              <a:rPr sz="1000" dirty="0">
                <a:latin typeface="Courier New"/>
                <a:cs typeface="Courier New"/>
              </a:rPr>
              <a:t> {	</a:t>
            </a:r>
            <a:r>
              <a:rPr sz="1000" spc="-5" dirty="0">
                <a:latin typeface="Courier New"/>
                <a:cs typeface="Courier New"/>
              </a:rPr>
              <a:t>/* Test for correct number of arguments */  fprintf(stderr,</a:t>
            </a:r>
            <a:r>
              <a:rPr sz="1000" spc="2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"Usage:	%s &lt;Server Port&gt;\n", argv[0]);  exit(1);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374265" algn="l"/>
                <a:tab pos="3517265" algn="l"/>
              </a:tabLst>
            </a:pPr>
            <a:r>
              <a:rPr sz="1000" spc="-5" dirty="0">
                <a:latin typeface="Courier New"/>
                <a:cs typeface="Courier New"/>
              </a:rPr>
              <a:t>echoServPort</a:t>
            </a:r>
            <a:r>
              <a:rPr sz="1000" spc="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1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atoi</a:t>
            </a:r>
            <a:r>
              <a:rPr sz="1000" spc="-5" dirty="0">
                <a:latin typeface="Courier New"/>
                <a:cs typeface="Courier New"/>
              </a:rPr>
              <a:t>(argv[1]);	/*</a:t>
            </a:r>
            <a:r>
              <a:rPr sz="1000" spc="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First</a:t>
            </a:r>
            <a:r>
              <a:rPr sz="100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arg:	local port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Create socket for incoming connections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316865" marR="5080" indent="-3048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if ((servSock </a:t>
            </a:r>
            <a:r>
              <a:rPr sz="1000" dirty="0">
                <a:latin typeface="Courier New"/>
                <a:cs typeface="Courier New"/>
              </a:rPr>
              <a:t>= </a:t>
            </a:r>
            <a:r>
              <a:rPr sz="1000" b="1" spc="-5" dirty="0">
                <a:latin typeface="Courier New"/>
                <a:cs typeface="Courier New"/>
              </a:rPr>
              <a:t>socket</a:t>
            </a:r>
            <a:r>
              <a:rPr sz="1000" spc="-5" dirty="0">
                <a:latin typeface="Courier New"/>
                <a:cs typeface="Courier New"/>
              </a:rPr>
              <a:t>(PF_INET, SOCK_STREAM, IPPROTO_TCP)) </a:t>
            </a:r>
            <a:r>
              <a:rPr sz="1000" dirty="0">
                <a:latin typeface="Courier New"/>
                <a:cs typeface="Courier New"/>
              </a:rPr>
              <a:t>&lt; </a:t>
            </a:r>
            <a:r>
              <a:rPr sz="1000" spc="-5" dirty="0">
                <a:latin typeface="Courier New"/>
                <a:cs typeface="Courier New"/>
              </a:rPr>
              <a:t>0)  DieWithError("socket()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failed");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...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0247" y="232917"/>
            <a:ext cx="7900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20" dirty="0"/>
              <a:t>Iterative </a:t>
            </a:r>
            <a:r>
              <a:rPr sz="3600" spc="-240" dirty="0"/>
              <a:t>Server </a:t>
            </a:r>
            <a:r>
              <a:rPr sz="2800" spc="-175" dirty="0"/>
              <a:t>- </a:t>
            </a:r>
            <a:r>
              <a:rPr sz="2800" spc="-190" dirty="0"/>
              <a:t>Example: </a:t>
            </a:r>
            <a:r>
              <a:rPr sz="2800" spc="-145" dirty="0"/>
              <a:t>echo </a:t>
            </a:r>
            <a:r>
              <a:rPr sz="2800" spc="-204" dirty="0"/>
              <a:t>using </a:t>
            </a:r>
            <a:r>
              <a:rPr sz="2800" spc="-225" dirty="0"/>
              <a:t>stream</a:t>
            </a:r>
            <a:r>
              <a:rPr sz="2800" spc="-80" dirty="0"/>
              <a:t> </a:t>
            </a:r>
            <a:r>
              <a:rPr sz="2800" spc="-155" dirty="0"/>
              <a:t>socket</a:t>
            </a:r>
            <a:endParaRPr sz="2800"/>
          </a:p>
        </p:txBody>
      </p:sp>
      <p:sp>
        <p:nvSpPr>
          <p:cNvPr id="4" name="object 4"/>
          <p:cNvSpPr/>
          <p:nvPr/>
        </p:nvSpPr>
        <p:spPr>
          <a:xfrm>
            <a:off x="353961" y="834644"/>
            <a:ext cx="8587105" cy="5295900"/>
          </a:xfrm>
          <a:custGeom>
            <a:avLst/>
            <a:gdLst/>
            <a:ahLst/>
            <a:cxnLst/>
            <a:rect l="l" t="t" r="r" b="b"/>
            <a:pathLst>
              <a:path w="8587105" h="5295900">
                <a:moveTo>
                  <a:pt x="0" y="0"/>
                </a:moveTo>
                <a:lnTo>
                  <a:pt x="0" y="5295900"/>
                </a:lnTo>
                <a:lnTo>
                  <a:pt x="8586978" y="5295900"/>
                </a:lnTo>
                <a:lnTo>
                  <a:pt x="8586978" y="0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49693" y="864616"/>
            <a:ext cx="2540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Courier New"/>
                <a:cs typeface="Courier New"/>
              </a:rPr>
              <a:t>...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95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9693" y="1169416"/>
            <a:ext cx="36068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Courier New"/>
                <a:cs typeface="Courier New"/>
              </a:rPr>
              <a:t>/* Construct local address structure */  memset(&amp;echoServAddr, 0, sizeof(echoServAddr));  </a:t>
            </a:r>
            <a:r>
              <a:rPr sz="1000" b="1" spc="-5" dirty="0">
                <a:solidFill>
                  <a:srgbClr val="9A6500"/>
                </a:solidFill>
                <a:latin typeface="Courier New"/>
                <a:cs typeface="Courier New"/>
              </a:rPr>
              <a:t>echoServAddr</a:t>
            </a:r>
            <a:r>
              <a:rPr sz="1000" spc="-5" dirty="0">
                <a:latin typeface="Courier New"/>
                <a:cs typeface="Courier New"/>
              </a:rPr>
              <a:t>.sin_family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AF_INET;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59042" y="1321816"/>
            <a:ext cx="22352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Courier New"/>
                <a:cs typeface="Courier New"/>
              </a:rPr>
              <a:t>/* Zero out structure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Internet address family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4825" y="1626616"/>
            <a:ext cx="6426200" cy="444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solidFill>
                  <a:srgbClr val="9A6500"/>
                </a:solidFill>
                <a:latin typeface="Courier New"/>
                <a:cs typeface="Courier New"/>
              </a:rPr>
              <a:t>echoServAddr</a:t>
            </a:r>
            <a:r>
              <a:rPr sz="1000" spc="-5" dirty="0">
                <a:latin typeface="Courier New"/>
                <a:cs typeface="Courier New"/>
              </a:rPr>
              <a:t>.sin_addr.s_addr </a:t>
            </a:r>
            <a:r>
              <a:rPr sz="1000" dirty="0">
                <a:latin typeface="Courier New"/>
                <a:cs typeface="Courier New"/>
              </a:rPr>
              <a:t>= </a:t>
            </a:r>
            <a:r>
              <a:rPr sz="1000" b="1" spc="-5" dirty="0">
                <a:latin typeface="Courier New"/>
                <a:cs typeface="Courier New"/>
              </a:rPr>
              <a:t>htonl</a:t>
            </a:r>
            <a:r>
              <a:rPr sz="1000" spc="-5" dirty="0">
                <a:latin typeface="Courier New"/>
                <a:cs typeface="Courier New"/>
              </a:rPr>
              <a:t>(INADDR_ANY); /* Any incoming interface */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  <a:tabLst>
                <a:tab pos="4126865" algn="l"/>
              </a:tabLst>
            </a:pPr>
            <a:r>
              <a:rPr sz="1000" b="1" spc="-5" dirty="0">
                <a:solidFill>
                  <a:srgbClr val="9A6500"/>
                </a:solidFill>
                <a:latin typeface="Courier New"/>
                <a:cs typeface="Courier New"/>
              </a:rPr>
              <a:t>echoServAddr</a:t>
            </a:r>
            <a:r>
              <a:rPr sz="1000" spc="-5" dirty="0">
                <a:latin typeface="Courier New"/>
                <a:cs typeface="Courier New"/>
              </a:rPr>
              <a:t>.sin_port</a:t>
            </a:r>
            <a:r>
              <a:rPr sz="1000" spc="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1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htons</a:t>
            </a:r>
            <a:r>
              <a:rPr sz="1000" spc="-5" dirty="0">
                <a:latin typeface="Courier New"/>
                <a:cs typeface="Courier New"/>
              </a:rPr>
              <a:t>(echoServPort);	/* Local port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Bind to the local address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622300" marR="5080" indent="-3048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if (</a:t>
            </a:r>
            <a:r>
              <a:rPr sz="1000" b="1" spc="-5" dirty="0">
                <a:latin typeface="Courier New"/>
                <a:cs typeface="Courier New"/>
              </a:rPr>
              <a:t>bind</a:t>
            </a:r>
            <a:r>
              <a:rPr sz="1000" spc="-5" dirty="0">
                <a:latin typeface="Courier New"/>
                <a:cs typeface="Courier New"/>
              </a:rPr>
              <a:t>(</a:t>
            </a:r>
            <a:r>
              <a:rPr sz="1000" b="1" spc="-5" dirty="0">
                <a:solidFill>
                  <a:srgbClr val="9A6500"/>
                </a:solidFill>
                <a:latin typeface="Courier New"/>
                <a:cs typeface="Courier New"/>
              </a:rPr>
              <a:t>servSock</a:t>
            </a:r>
            <a:r>
              <a:rPr sz="1000" spc="-5" dirty="0">
                <a:latin typeface="Courier New"/>
                <a:cs typeface="Courier New"/>
              </a:rPr>
              <a:t>, (struct sockaddr *) &amp;</a:t>
            </a:r>
            <a:r>
              <a:rPr sz="1000" b="1" spc="-5" dirty="0">
                <a:solidFill>
                  <a:srgbClr val="9A6500"/>
                </a:solidFill>
                <a:latin typeface="Courier New"/>
                <a:cs typeface="Courier New"/>
              </a:rPr>
              <a:t>echoServAddr</a:t>
            </a:r>
            <a:r>
              <a:rPr sz="1000" spc="-5" dirty="0">
                <a:latin typeface="Courier New"/>
                <a:cs typeface="Courier New"/>
              </a:rPr>
              <a:t>, sizeof(</a:t>
            </a:r>
            <a:r>
              <a:rPr sz="1000" b="1" spc="-5" dirty="0">
                <a:solidFill>
                  <a:srgbClr val="9A6500"/>
                </a:solidFill>
                <a:latin typeface="Courier New"/>
                <a:cs typeface="Courier New"/>
              </a:rPr>
              <a:t>echoServAddr</a:t>
            </a:r>
            <a:r>
              <a:rPr sz="1000" spc="-5" dirty="0">
                <a:latin typeface="Courier New"/>
                <a:cs typeface="Courier New"/>
              </a:rPr>
              <a:t>)) </a:t>
            </a:r>
            <a:r>
              <a:rPr sz="1000" dirty="0">
                <a:latin typeface="Courier New"/>
                <a:cs typeface="Courier New"/>
              </a:rPr>
              <a:t>&lt; </a:t>
            </a:r>
            <a:r>
              <a:rPr sz="1000" spc="-5" dirty="0">
                <a:latin typeface="Courier New"/>
                <a:cs typeface="Courier New"/>
              </a:rPr>
              <a:t>0)  DieWithError("bind()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failed");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317500" marR="1224915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Mark the socket so it will listen for incoming connections */  if (</a:t>
            </a:r>
            <a:r>
              <a:rPr sz="1000" b="1" spc="-5" dirty="0">
                <a:latin typeface="Courier New"/>
                <a:cs typeface="Courier New"/>
              </a:rPr>
              <a:t>listen</a:t>
            </a:r>
            <a:r>
              <a:rPr sz="1000" spc="-5" dirty="0">
                <a:latin typeface="Courier New"/>
                <a:cs typeface="Courier New"/>
              </a:rPr>
              <a:t>(</a:t>
            </a:r>
            <a:r>
              <a:rPr sz="1000" b="1" spc="-5" dirty="0">
                <a:solidFill>
                  <a:srgbClr val="9A6500"/>
                </a:solidFill>
                <a:latin typeface="Courier New"/>
                <a:cs typeface="Courier New"/>
              </a:rPr>
              <a:t>servSock</a:t>
            </a:r>
            <a:r>
              <a:rPr sz="1000" spc="-5" dirty="0">
                <a:latin typeface="Courier New"/>
                <a:cs typeface="Courier New"/>
              </a:rPr>
              <a:t>, MAXPENDING) </a:t>
            </a:r>
            <a:r>
              <a:rPr sz="1000" dirty="0">
                <a:latin typeface="Courier New"/>
                <a:cs typeface="Courier New"/>
              </a:rPr>
              <a:t>&lt;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0)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DieWithError("listen()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failed");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for (;;) /* Run forever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sz="100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622300" marR="259588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Set the size of the in-out parameter */  clntLen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sizeof(</a:t>
            </a:r>
            <a:r>
              <a:rPr sz="1000" b="1" spc="-5" dirty="0">
                <a:solidFill>
                  <a:srgbClr val="CC9A00"/>
                </a:solidFill>
                <a:latin typeface="Courier New"/>
                <a:cs typeface="Courier New"/>
              </a:rPr>
              <a:t>echoClntAddr</a:t>
            </a:r>
            <a:r>
              <a:rPr sz="1000" spc="-5" dirty="0"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Wait for </a:t>
            </a:r>
            <a:r>
              <a:rPr sz="1000" dirty="0">
                <a:latin typeface="Courier New"/>
                <a:cs typeface="Courier New"/>
              </a:rPr>
              <a:t>a </a:t>
            </a:r>
            <a:r>
              <a:rPr sz="1000" spc="-5" dirty="0">
                <a:latin typeface="Courier New"/>
                <a:cs typeface="Courier New"/>
              </a:rPr>
              <a:t>client to connect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if ((</a:t>
            </a:r>
            <a:r>
              <a:rPr sz="1000" b="1" spc="-5" dirty="0">
                <a:solidFill>
                  <a:srgbClr val="CC9A00"/>
                </a:solidFill>
                <a:latin typeface="Courier New"/>
                <a:cs typeface="Courier New"/>
              </a:rPr>
              <a:t>clntSock </a:t>
            </a:r>
            <a:r>
              <a:rPr sz="1000" dirty="0">
                <a:latin typeface="Courier New"/>
                <a:cs typeface="Courier New"/>
              </a:rPr>
              <a:t>= </a:t>
            </a:r>
            <a:r>
              <a:rPr sz="1000" b="1" spc="-5" dirty="0">
                <a:latin typeface="Courier New"/>
                <a:cs typeface="Courier New"/>
              </a:rPr>
              <a:t>accept</a:t>
            </a:r>
            <a:r>
              <a:rPr sz="1000" spc="-5" dirty="0">
                <a:latin typeface="Courier New"/>
                <a:cs typeface="Courier New"/>
              </a:rPr>
              <a:t>(</a:t>
            </a:r>
            <a:r>
              <a:rPr sz="1000" b="1" spc="-5" dirty="0">
                <a:solidFill>
                  <a:srgbClr val="9A6500"/>
                </a:solidFill>
                <a:latin typeface="Courier New"/>
                <a:cs typeface="Courier New"/>
              </a:rPr>
              <a:t>servSock</a:t>
            </a:r>
            <a:r>
              <a:rPr sz="1000" spc="-5" dirty="0">
                <a:latin typeface="Courier New"/>
                <a:cs typeface="Courier New"/>
              </a:rPr>
              <a:t>, (struct sockaddr *)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&amp;</a:t>
            </a:r>
            <a:r>
              <a:rPr sz="1000" b="1" spc="-5" dirty="0">
                <a:solidFill>
                  <a:srgbClr val="CC9A00"/>
                </a:solidFill>
                <a:latin typeface="Courier New"/>
                <a:cs typeface="Courier New"/>
              </a:rPr>
              <a:t>echoClntAddr</a:t>
            </a:r>
            <a:r>
              <a:rPr sz="1000" spc="-5" dirty="0">
                <a:latin typeface="Courier New"/>
                <a:cs typeface="Courier New"/>
              </a:rPr>
              <a:t>,</a:t>
            </a:r>
            <a:endParaRPr sz="1000">
              <a:latin typeface="Courier New"/>
              <a:cs typeface="Courier New"/>
            </a:endParaRPr>
          </a:p>
          <a:p>
            <a:pPr marL="927100" marR="2900680" indent="14478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&amp;clntLen)) </a:t>
            </a:r>
            <a:r>
              <a:rPr sz="1000" dirty="0">
                <a:latin typeface="Courier New"/>
                <a:cs typeface="Courier New"/>
              </a:rPr>
              <a:t>&lt;</a:t>
            </a:r>
            <a:r>
              <a:rPr sz="1000" spc="-8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0)  DieWithError("accept()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failed");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clntSock is connected to </a:t>
            </a:r>
            <a:r>
              <a:rPr sz="1000" dirty="0">
                <a:latin typeface="Courier New"/>
                <a:cs typeface="Courier New"/>
              </a:rPr>
              <a:t>a </a:t>
            </a:r>
            <a:r>
              <a:rPr sz="1000" spc="-5" dirty="0">
                <a:latin typeface="Courier New"/>
                <a:cs typeface="Courier New"/>
              </a:rPr>
              <a:t>client!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622300" marR="843280">
              <a:lnSpc>
                <a:spcPct val="200000"/>
              </a:lnSpc>
            </a:pPr>
            <a:r>
              <a:rPr sz="1000" spc="-5" dirty="0">
                <a:latin typeface="Courier New"/>
                <a:cs typeface="Courier New"/>
              </a:rPr>
              <a:t>printf("Handling client %s\n", </a:t>
            </a:r>
            <a:r>
              <a:rPr sz="1000" b="1" spc="-5" dirty="0">
                <a:latin typeface="Courier New"/>
                <a:cs typeface="Courier New"/>
              </a:rPr>
              <a:t>inet_ntoa</a:t>
            </a:r>
            <a:r>
              <a:rPr sz="1000" spc="-5" dirty="0">
                <a:latin typeface="Courier New"/>
                <a:cs typeface="Courier New"/>
              </a:rPr>
              <a:t>(echoClntAddr.sin_addr));  </a:t>
            </a:r>
            <a:r>
              <a:rPr sz="1000" b="1" spc="-5" dirty="0">
                <a:latin typeface="Courier New"/>
                <a:cs typeface="Courier New"/>
              </a:rPr>
              <a:t>HandleTCPClient</a:t>
            </a:r>
            <a:r>
              <a:rPr sz="1000" spc="-5" dirty="0">
                <a:latin typeface="Courier New"/>
                <a:cs typeface="Courier New"/>
              </a:rPr>
              <a:t>(</a:t>
            </a:r>
            <a:r>
              <a:rPr sz="1000" b="1" spc="-5" dirty="0">
                <a:solidFill>
                  <a:srgbClr val="9A6500"/>
                </a:solidFill>
                <a:latin typeface="Courier New"/>
                <a:cs typeface="Courier New"/>
              </a:rPr>
              <a:t>clntSock</a:t>
            </a:r>
            <a:r>
              <a:rPr sz="1000" spc="-5" dirty="0"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  <a:p>
            <a:pPr marL="316865">
              <a:lnSpc>
                <a:spcPct val="100000"/>
              </a:lnSpc>
            </a:pPr>
            <a:r>
              <a:rPr sz="100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316865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NOT REACHED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0247" y="232917"/>
            <a:ext cx="7900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20" dirty="0"/>
              <a:t>Iterative </a:t>
            </a:r>
            <a:r>
              <a:rPr sz="3600" spc="-240" dirty="0"/>
              <a:t>Server </a:t>
            </a:r>
            <a:r>
              <a:rPr sz="2800" spc="-175" dirty="0"/>
              <a:t>- </a:t>
            </a:r>
            <a:r>
              <a:rPr sz="2800" spc="-190" dirty="0"/>
              <a:t>Example: </a:t>
            </a:r>
            <a:r>
              <a:rPr sz="2800" spc="-145" dirty="0"/>
              <a:t>echo </a:t>
            </a:r>
            <a:r>
              <a:rPr sz="2800" spc="-204" dirty="0"/>
              <a:t>using </a:t>
            </a:r>
            <a:r>
              <a:rPr sz="2800" spc="-225" dirty="0"/>
              <a:t>stream</a:t>
            </a:r>
            <a:r>
              <a:rPr sz="2800" spc="-80" dirty="0"/>
              <a:t> </a:t>
            </a:r>
            <a:r>
              <a:rPr sz="2800" spc="-155" dirty="0"/>
              <a:t>socket</a:t>
            </a:r>
            <a:endParaRPr sz="2800"/>
          </a:p>
        </p:txBody>
      </p:sp>
      <p:sp>
        <p:nvSpPr>
          <p:cNvPr id="4" name="object 4"/>
          <p:cNvSpPr/>
          <p:nvPr/>
        </p:nvSpPr>
        <p:spPr>
          <a:xfrm>
            <a:off x="353961" y="891794"/>
            <a:ext cx="8587105" cy="3924300"/>
          </a:xfrm>
          <a:custGeom>
            <a:avLst/>
            <a:gdLst/>
            <a:ahLst/>
            <a:cxnLst/>
            <a:rect l="l" t="t" r="r" b="b"/>
            <a:pathLst>
              <a:path w="8587105" h="3924300">
                <a:moveTo>
                  <a:pt x="0" y="0"/>
                </a:moveTo>
                <a:lnTo>
                  <a:pt x="0" y="3924300"/>
                </a:lnTo>
                <a:lnTo>
                  <a:pt x="8586978" y="3924300"/>
                </a:lnTo>
                <a:lnTo>
                  <a:pt x="8586978" y="0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7587" y="921766"/>
            <a:ext cx="39744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828164" algn="l"/>
              </a:tabLst>
            </a:pPr>
            <a:r>
              <a:rPr sz="1000" spc="-5" dirty="0">
                <a:latin typeface="Courier New"/>
                <a:cs typeface="Courier New"/>
              </a:rPr>
              <a:t>#define</a:t>
            </a:r>
            <a:r>
              <a:rPr sz="1000" spc="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RCVBUFSIZE</a:t>
            </a:r>
            <a:r>
              <a:rPr sz="1000" spc="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32	/* Size of receive buffer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96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574" y="1226566"/>
            <a:ext cx="275653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Courier New"/>
                <a:cs typeface="Courier New"/>
              </a:rPr>
              <a:t>void </a:t>
            </a:r>
            <a:r>
              <a:rPr sz="1000" b="1" spc="-5" dirty="0">
                <a:latin typeface="Courier New"/>
                <a:cs typeface="Courier New"/>
              </a:rPr>
              <a:t>HandleTCPClient</a:t>
            </a:r>
            <a:r>
              <a:rPr sz="1000" spc="-5" dirty="0">
                <a:latin typeface="Courier New"/>
                <a:cs typeface="Courier New"/>
              </a:rPr>
              <a:t>(int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b="1" spc="-5" dirty="0">
                <a:solidFill>
                  <a:srgbClr val="CC9A00"/>
                </a:solidFill>
                <a:latin typeface="Courier New"/>
                <a:cs typeface="Courier New"/>
              </a:rPr>
              <a:t>clntSocket</a:t>
            </a:r>
            <a:r>
              <a:rPr sz="1000" spc="-5" dirty="0"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100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304165" marR="30988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char echoBuffer[RCVBUFSIZE];  int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recvMsgSize;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05099" y="1531366"/>
            <a:ext cx="22987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Courier New"/>
                <a:cs typeface="Courier New"/>
              </a:rPr>
              <a:t>/* Buffer for echo string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Size of received message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7549" y="1988566"/>
            <a:ext cx="5803900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Courier New"/>
                <a:cs typeface="Courier New"/>
              </a:rPr>
              <a:t>/* Receive message from client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609600" marR="309245" indent="-3048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if ((recvMsgSize </a:t>
            </a:r>
            <a:r>
              <a:rPr sz="1000" dirty="0">
                <a:latin typeface="Courier New"/>
                <a:cs typeface="Courier New"/>
              </a:rPr>
              <a:t>= </a:t>
            </a:r>
            <a:r>
              <a:rPr sz="1000" b="1" spc="-5" dirty="0">
                <a:latin typeface="Courier New"/>
                <a:cs typeface="Courier New"/>
              </a:rPr>
              <a:t>recv</a:t>
            </a:r>
            <a:r>
              <a:rPr sz="1000" spc="-5" dirty="0">
                <a:latin typeface="Courier New"/>
                <a:cs typeface="Courier New"/>
              </a:rPr>
              <a:t>(</a:t>
            </a:r>
            <a:r>
              <a:rPr sz="1000" b="1" spc="-5" dirty="0">
                <a:solidFill>
                  <a:srgbClr val="CC9A00"/>
                </a:solidFill>
                <a:latin typeface="Courier New"/>
                <a:cs typeface="Courier New"/>
              </a:rPr>
              <a:t>clntSocket</a:t>
            </a:r>
            <a:r>
              <a:rPr sz="1000" spc="-5" dirty="0">
                <a:latin typeface="Courier New"/>
                <a:cs typeface="Courier New"/>
              </a:rPr>
              <a:t>, echoBuffer, RCVBUFSIZE, 0)) </a:t>
            </a:r>
            <a:r>
              <a:rPr sz="1000" dirty="0">
                <a:latin typeface="Courier New"/>
                <a:cs typeface="Courier New"/>
              </a:rPr>
              <a:t>&lt; </a:t>
            </a:r>
            <a:r>
              <a:rPr sz="1000" spc="-5" dirty="0">
                <a:latin typeface="Courier New"/>
                <a:cs typeface="Courier New"/>
              </a:rPr>
              <a:t>0)  DieWithError("recv()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failed");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304800" marR="157480">
              <a:lnSpc>
                <a:spcPct val="100000"/>
              </a:lnSpc>
              <a:tabLst>
                <a:tab pos="2513965" algn="l"/>
              </a:tabLst>
            </a:pPr>
            <a:r>
              <a:rPr sz="1000" spc="-5" dirty="0">
                <a:latin typeface="Courier New"/>
                <a:cs typeface="Courier New"/>
              </a:rPr>
              <a:t>/* Send received string and receive again until end of transmission */  while (recvMsgSize</a:t>
            </a:r>
            <a:r>
              <a:rPr sz="1000" spc="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&gt;</a:t>
            </a:r>
            <a:r>
              <a:rPr sz="1000" spc="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0)	/* zero indicates end of transmission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304800">
              <a:lnSpc>
                <a:spcPct val="100000"/>
              </a:lnSpc>
            </a:pPr>
            <a:r>
              <a:rPr sz="100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6096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Echo message back to client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914400" marR="309880" indent="-3048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if (</a:t>
            </a:r>
            <a:r>
              <a:rPr sz="1000" b="1" spc="-5" dirty="0">
                <a:latin typeface="Courier New"/>
                <a:cs typeface="Courier New"/>
              </a:rPr>
              <a:t>send</a:t>
            </a:r>
            <a:r>
              <a:rPr sz="1000" spc="-5" dirty="0">
                <a:latin typeface="Courier New"/>
                <a:cs typeface="Courier New"/>
              </a:rPr>
              <a:t>(</a:t>
            </a:r>
            <a:r>
              <a:rPr sz="1000" b="1" spc="-5" dirty="0">
                <a:solidFill>
                  <a:srgbClr val="CC9A00"/>
                </a:solidFill>
                <a:latin typeface="Courier New"/>
                <a:cs typeface="Courier New"/>
              </a:rPr>
              <a:t>clntSocket</a:t>
            </a:r>
            <a:r>
              <a:rPr sz="1000" spc="-5" dirty="0">
                <a:latin typeface="Courier New"/>
                <a:cs typeface="Courier New"/>
              </a:rPr>
              <a:t>, echoBuffer, recvMsgSize, 0) != recvMsgSize)  DieWithError("send()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failed");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6096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See if there is more data to receive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913765" marR="5080" indent="-3048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if ((recvMsgSize </a:t>
            </a:r>
            <a:r>
              <a:rPr sz="1000" dirty="0">
                <a:latin typeface="Courier New"/>
                <a:cs typeface="Courier New"/>
              </a:rPr>
              <a:t>= </a:t>
            </a:r>
            <a:r>
              <a:rPr sz="1000" b="1" spc="-5" dirty="0">
                <a:latin typeface="Courier New"/>
                <a:cs typeface="Courier New"/>
              </a:rPr>
              <a:t>recv</a:t>
            </a:r>
            <a:r>
              <a:rPr sz="1000" spc="-5" dirty="0">
                <a:latin typeface="Courier New"/>
                <a:cs typeface="Courier New"/>
              </a:rPr>
              <a:t>(</a:t>
            </a:r>
            <a:r>
              <a:rPr sz="1000" b="1" spc="-5" dirty="0">
                <a:solidFill>
                  <a:srgbClr val="CC9A00"/>
                </a:solidFill>
                <a:latin typeface="Courier New"/>
                <a:cs typeface="Courier New"/>
              </a:rPr>
              <a:t>clntSocket</a:t>
            </a:r>
            <a:r>
              <a:rPr sz="1000" spc="-5" dirty="0">
                <a:latin typeface="Courier New"/>
                <a:cs typeface="Courier New"/>
              </a:rPr>
              <a:t>, echoBuffer, RCVBUFSIZE, 0)) </a:t>
            </a:r>
            <a:r>
              <a:rPr sz="1000" dirty="0">
                <a:latin typeface="Courier New"/>
                <a:cs typeface="Courier New"/>
              </a:rPr>
              <a:t>&lt; </a:t>
            </a:r>
            <a:r>
              <a:rPr sz="1000" spc="-5" dirty="0">
                <a:latin typeface="Courier New"/>
                <a:cs typeface="Courier New"/>
              </a:rPr>
              <a:t>0)  DieWithError("recv()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failed");</a:t>
            </a:r>
            <a:endParaRPr sz="1000">
              <a:latin typeface="Courier New"/>
              <a:cs typeface="Courier New"/>
            </a:endParaRPr>
          </a:p>
          <a:p>
            <a:pPr marL="304165">
              <a:lnSpc>
                <a:spcPct val="100000"/>
              </a:lnSpc>
            </a:pPr>
            <a:r>
              <a:rPr sz="100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304165">
              <a:lnSpc>
                <a:spcPct val="100000"/>
              </a:lnSpc>
              <a:tabLst>
                <a:tab pos="1980564" algn="l"/>
              </a:tabLst>
            </a:pPr>
            <a:r>
              <a:rPr sz="1000" b="1" spc="-5" dirty="0">
                <a:latin typeface="Courier New"/>
                <a:cs typeface="Courier New"/>
              </a:rPr>
              <a:t>close</a:t>
            </a:r>
            <a:r>
              <a:rPr sz="1000" spc="-5" dirty="0">
                <a:latin typeface="Courier New"/>
                <a:cs typeface="Courier New"/>
              </a:rPr>
              <a:t>(</a:t>
            </a:r>
            <a:r>
              <a:rPr sz="1000" b="1" spc="-5" dirty="0">
                <a:solidFill>
                  <a:srgbClr val="CC9A00"/>
                </a:solidFill>
                <a:latin typeface="Courier New"/>
                <a:cs typeface="Courier New"/>
              </a:rPr>
              <a:t>clntSocket</a:t>
            </a:r>
            <a:r>
              <a:rPr sz="1000" spc="-5" dirty="0">
                <a:latin typeface="Courier New"/>
                <a:cs typeface="Courier New"/>
              </a:rPr>
              <a:t>);	/* Close client socket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100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36242" y="261873"/>
            <a:ext cx="62534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305" dirty="0"/>
              <a:t>Multitasking </a:t>
            </a:r>
            <a:r>
              <a:rPr sz="3600" spc="-225" dirty="0"/>
              <a:t>- </a:t>
            </a:r>
            <a:r>
              <a:rPr sz="3600" spc="-210" dirty="0"/>
              <a:t>Per-Client</a:t>
            </a:r>
            <a:r>
              <a:rPr sz="3600" spc="-35" dirty="0"/>
              <a:t> </a:t>
            </a:r>
            <a:r>
              <a:rPr sz="3600" spc="-204" dirty="0"/>
              <a:t>Process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97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453" y="1250949"/>
            <a:ext cx="8054975" cy="3498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31800" indent="-342900">
              <a:lnSpc>
                <a:spcPct val="100000"/>
              </a:lnSpc>
              <a:spcBef>
                <a:spcPts val="10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60" dirty="0">
                <a:latin typeface="Arial"/>
                <a:cs typeface="Arial"/>
              </a:rPr>
              <a:t>For </a:t>
            </a:r>
            <a:r>
              <a:rPr sz="2200" spc="-145" dirty="0">
                <a:latin typeface="Arial"/>
                <a:cs typeface="Arial"/>
              </a:rPr>
              <a:t>each </a:t>
            </a:r>
            <a:r>
              <a:rPr sz="2200" spc="10" dirty="0">
                <a:latin typeface="Arial"/>
                <a:cs typeface="Arial"/>
              </a:rPr>
              <a:t>client </a:t>
            </a:r>
            <a:r>
              <a:rPr sz="2200" spc="-40" dirty="0">
                <a:latin typeface="Arial"/>
                <a:cs typeface="Arial"/>
              </a:rPr>
              <a:t>connection </a:t>
            </a:r>
            <a:r>
              <a:rPr sz="2200" spc="-95" dirty="0">
                <a:latin typeface="Arial"/>
                <a:cs typeface="Arial"/>
              </a:rPr>
              <a:t>request, </a:t>
            </a:r>
            <a:r>
              <a:rPr sz="2200" spc="-250" dirty="0">
                <a:latin typeface="Arial"/>
                <a:cs typeface="Arial"/>
              </a:rPr>
              <a:t>a </a:t>
            </a:r>
            <a:r>
              <a:rPr sz="2200" spc="-35" dirty="0">
                <a:latin typeface="Arial"/>
                <a:cs typeface="Arial"/>
              </a:rPr>
              <a:t>new </a:t>
            </a:r>
            <a:r>
              <a:rPr sz="2200" spc="-150" dirty="0">
                <a:latin typeface="Arial"/>
                <a:cs typeface="Arial"/>
              </a:rPr>
              <a:t>process </a:t>
            </a:r>
            <a:r>
              <a:rPr sz="2200" spc="-90" dirty="0">
                <a:latin typeface="Arial"/>
                <a:cs typeface="Arial"/>
              </a:rPr>
              <a:t>is </a:t>
            </a:r>
            <a:r>
              <a:rPr sz="2200" spc="-95" dirty="0">
                <a:latin typeface="Arial"/>
                <a:cs typeface="Arial"/>
              </a:rPr>
              <a:t>created </a:t>
            </a:r>
            <a:r>
              <a:rPr sz="2200" dirty="0">
                <a:latin typeface="Arial"/>
                <a:cs typeface="Arial"/>
              </a:rPr>
              <a:t>to  </a:t>
            </a:r>
            <a:r>
              <a:rPr sz="2200" spc="-60" dirty="0">
                <a:latin typeface="Arial"/>
                <a:cs typeface="Arial"/>
              </a:rPr>
              <a:t>handle </a:t>
            </a:r>
            <a:r>
              <a:rPr sz="2200" spc="-25" dirty="0">
                <a:latin typeface="Arial"/>
                <a:cs typeface="Arial"/>
              </a:rPr>
              <a:t>the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spc="-35" dirty="0">
                <a:latin typeface="Arial"/>
                <a:cs typeface="Arial"/>
              </a:rPr>
              <a:t>communication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15"/>
              </a:spcBef>
              <a:buClr>
                <a:srgbClr val="9A6500"/>
              </a:buClr>
              <a:buSzPct val="65000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000" b="1" spc="-5" dirty="0">
                <a:latin typeface="Courier New"/>
                <a:cs typeface="Courier New"/>
              </a:rPr>
              <a:t>int fork();</a:t>
            </a:r>
            <a:endParaRPr sz="2000">
              <a:latin typeface="Courier New"/>
              <a:cs typeface="Courier New"/>
            </a:endParaRPr>
          </a:p>
          <a:p>
            <a:pPr marL="681990" marR="5080" lvl="1" indent="-325120">
              <a:lnSpc>
                <a:spcPct val="100000"/>
              </a:lnSpc>
              <a:spcBef>
                <a:spcPts val="55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229" dirty="0">
                <a:latin typeface="Arial"/>
                <a:cs typeface="Arial"/>
              </a:rPr>
              <a:t>a </a:t>
            </a:r>
            <a:r>
              <a:rPr sz="2000" spc="-35" dirty="0">
                <a:latin typeface="Arial"/>
                <a:cs typeface="Arial"/>
              </a:rPr>
              <a:t>new </a:t>
            </a:r>
            <a:r>
              <a:rPr sz="2000" spc="-140" dirty="0">
                <a:latin typeface="Arial"/>
                <a:cs typeface="Arial"/>
              </a:rPr>
              <a:t>process </a:t>
            </a:r>
            <a:r>
              <a:rPr sz="2000" spc="-85" dirty="0">
                <a:latin typeface="Arial"/>
                <a:cs typeface="Arial"/>
              </a:rPr>
              <a:t>is </a:t>
            </a:r>
            <a:r>
              <a:rPr sz="2000" spc="-80" dirty="0">
                <a:latin typeface="Arial"/>
                <a:cs typeface="Arial"/>
              </a:rPr>
              <a:t>created, </a:t>
            </a:r>
            <a:r>
              <a:rPr sz="2000" spc="-15" dirty="0">
                <a:latin typeface="Arial"/>
                <a:cs typeface="Arial"/>
              </a:rPr>
              <a:t>identical </a:t>
            </a:r>
            <a:r>
              <a:rPr sz="2000" dirty="0">
                <a:latin typeface="Arial"/>
                <a:cs typeface="Arial"/>
              </a:rPr>
              <a:t>to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15" dirty="0">
                <a:latin typeface="Arial"/>
                <a:cs typeface="Arial"/>
              </a:rPr>
              <a:t>calling </a:t>
            </a:r>
            <a:r>
              <a:rPr sz="2000" spc="-125" dirty="0">
                <a:latin typeface="Arial"/>
                <a:cs typeface="Arial"/>
              </a:rPr>
              <a:t>process, </a:t>
            </a:r>
            <a:r>
              <a:rPr sz="2000" spc="-85" dirty="0">
                <a:latin typeface="Arial"/>
                <a:cs typeface="Arial"/>
              </a:rPr>
              <a:t>except </a:t>
            </a:r>
            <a:r>
              <a:rPr sz="2000" spc="25" dirty="0">
                <a:latin typeface="Arial"/>
                <a:cs typeface="Arial"/>
              </a:rPr>
              <a:t>for </a:t>
            </a:r>
            <a:r>
              <a:rPr sz="2000" spc="-25" dirty="0">
                <a:latin typeface="Arial"/>
                <a:cs typeface="Arial"/>
              </a:rPr>
              <a:t>its  </a:t>
            </a:r>
            <a:r>
              <a:rPr sz="2000" spc="-135" dirty="0">
                <a:latin typeface="Arial"/>
                <a:cs typeface="Arial"/>
              </a:rPr>
              <a:t>process </a:t>
            </a:r>
            <a:r>
              <a:rPr sz="2000" spc="70" dirty="0">
                <a:latin typeface="Arial"/>
                <a:cs typeface="Arial"/>
              </a:rPr>
              <a:t>ID </a:t>
            </a:r>
            <a:r>
              <a:rPr sz="2000" spc="-90" dirty="0">
                <a:latin typeface="Arial"/>
                <a:cs typeface="Arial"/>
              </a:rPr>
              <a:t>and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15" dirty="0">
                <a:latin typeface="Arial"/>
                <a:cs typeface="Arial"/>
              </a:rPr>
              <a:t>return </a:t>
            </a:r>
            <a:r>
              <a:rPr sz="2000" spc="-65" dirty="0">
                <a:latin typeface="Arial"/>
                <a:cs typeface="Arial"/>
              </a:rPr>
              <a:t>value </a:t>
            </a:r>
            <a:r>
              <a:rPr sz="2000" spc="110" dirty="0">
                <a:latin typeface="Arial"/>
                <a:cs typeface="Arial"/>
              </a:rPr>
              <a:t>it </a:t>
            </a:r>
            <a:r>
              <a:rPr sz="2000" spc="-95" dirty="0">
                <a:latin typeface="Arial"/>
                <a:cs typeface="Arial"/>
              </a:rPr>
              <a:t>receives </a:t>
            </a:r>
            <a:r>
              <a:rPr sz="2000" spc="10" dirty="0">
                <a:latin typeface="Arial"/>
                <a:cs typeface="Arial"/>
              </a:rPr>
              <a:t>from</a:t>
            </a:r>
            <a:r>
              <a:rPr sz="2000" spc="-345" dirty="0">
                <a:latin typeface="Arial"/>
                <a:cs typeface="Arial"/>
              </a:rPr>
              <a:t> </a:t>
            </a:r>
            <a:r>
              <a:rPr sz="1800" spc="-15" dirty="0">
                <a:latin typeface="Courier New"/>
                <a:cs typeface="Courier New"/>
              </a:rPr>
              <a:t>fork()</a:t>
            </a:r>
            <a:endParaRPr sz="1800">
              <a:latin typeface="Courier New"/>
              <a:cs typeface="Courier New"/>
            </a:endParaRPr>
          </a:p>
          <a:p>
            <a:pPr marL="681990" marR="527685" lvl="1" indent="-325120">
              <a:lnSpc>
                <a:spcPct val="100000"/>
              </a:lnSpc>
              <a:spcBef>
                <a:spcPts val="48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30" dirty="0">
                <a:latin typeface="Arial"/>
                <a:cs typeface="Arial"/>
              </a:rPr>
              <a:t>returns </a:t>
            </a:r>
            <a:r>
              <a:rPr sz="2000" spc="-114" dirty="0">
                <a:latin typeface="Arial"/>
                <a:cs typeface="Arial"/>
              </a:rPr>
              <a:t>0 </a:t>
            </a:r>
            <a:r>
              <a:rPr sz="2000" dirty="0">
                <a:latin typeface="Arial"/>
                <a:cs typeface="Arial"/>
              </a:rPr>
              <a:t>to </a:t>
            </a:r>
            <a:r>
              <a:rPr sz="2000" b="1" spc="-90" dirty="0">
                <a:solidFill>
                  <a:srgbClr val="9A6500"/>
                </a:solidFill>
                <a:latin typeface="Arial"/>
                <a:cs typeface="Arial"/>
              </a:rPr>
              <a:t>child </a:t>
            </a:r>
            <a:r>
              <a:rPr sz="2000" spc="-130" dirty="0">
                <a:latin typeface="Arial"/>
                <a:cs typeface="Arial"/>
              </a:rPr>
              <a:t>process, </a:t>
            </a:r>
            <a:r>
              <a:rPr sz="2000" spc="-95" dirty="0">
                <a:latin typeface="Arial"/>
                <a:cs typeface="Arial"/>
              </a:rPr>
              <a:t>and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140" dirty="0">
                <a:latin typeface="Arial"/>
                <a:cs typeface="Arial"/>
              </a:rPr>
              <a:t>process </a:t>
            </a:r>
            <a:r>
              <a:rPr sz="2000" spc="70" dirty="0">
                <a:latin typeface="Arial"/>
                <a:cs typeface="Arial"/>
              </a:rPr>
              <a:t>ID </a:t>
            </a:r>
            <a:r>
              <a:rPr sz="2000" spc="-15" dirty="0">
                <a:latin typeface="Arial"/>
                <a:cs typeface="Arial"/>
              </a:rPr>
              <a:t>of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35" dirty="0">
                <a:latin typeface="Arial"/>
                <a:cs typeface="Arial"/>
              </a:rPr>
              <a:t>new </a:t>
            </a:r>
            <a:r>
              <a:rPr sz="2000" spc="20" dirty="0">
                <a:latin typeface="Arial"/>
                <a:cs typeface="Arial"/>
              </a:rPr>
              <a:t>child </a:t>
            </a:r>
            <a:r>
              <a:rPr sz="2000" spc="-5" dirty="0">
                <a:latin typeface="Arial"/>
                <a:cs typeface="Arial"/>
              </a:rPr>
              <a:t>to </a:t>
            </a:r>
            <a:r>
              <a:rPr sz="2000" spc="-5" dirty="0">
                <a:solidFill>
                  <a:srgbClr val="CC9A00"/>
                </a:solidFill>
                <a:latin typeface="Arial"/>
                <a:cs typeface="Arial"/>
              </a:rPr>
              <a:t> </a:t>
            </a:r>
            <a:r>
              <a:rPr sz="2000" b="1" spc="-120" dirty="0">
                <a:solidFill>
                  <a:srgbClr val="CC9A00"/>
                </a:solidFill>
                <a:latin typeface="Arial"/>
                <a:cs typeface="Arial"/>
              </a:rPr>
              <a:t>parent</a:t>
            </a:r>
            <a:endParaRPr sz="2000">
              <a:latin typeface="Arial"/>
              <a:cs typeface="Arial"/>
            </a:endParaRPr>
          </a:p>
          <a:p>
            <a:pPr marL="356870">
              <a:lnSpc>
                <a:spcPct val="100000"/>
              </a:lnSpc>
              <a:spcBef>
                <a:spcPts val="470"/>
              </a:spcBef>
            </a:pPr>
            <a:r>
              <a:rPr sz="2000" b="1" spc="-110" dirty="0">
                <a:latin typeface="Arial"/>
                <a:cs typeface="Arial"/>
              </a:rPr>
              <a:t>Caution</a:t>
            </a:r>
            <a:r>
              <a:rPr sz="2000" spc="-110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20" dirty="0">
                <a:latin typeface="Arial"/>
                <a:cs typeface="Arial"/>
              </a:rPr>
              <a:t>when </a:t>
            </a:r>
            <a:r>
              <a:rPr sz="2000" spc="-229" dirty="0">
                <a:latin typeface="Arial"/>
                <a:cs typeface="Arial"/>
              </a:rPr>
              <a:t>a </a:t>
            </a:r>
            <a:r>
              <a:rPr sz="2000" spc="20" dirty="0">
                <a:latin typeface="Arial"/>
                <a:cs typeface="Arial"/>
              </a:rPr>
              <a:t>child </a:t>
            </a:r>
            <a:r>
              <a:rPr sz="2000" spc="-140" dirty="0">
                <a:latin typeface="Arial"/>
                <a:cs typeface="Arial"/>
              </a:rPr>
              <a:t>process </a:t>
            </a:r>
            <a:r>
              <a:rPr sz="2000" spc="-55" dirty="0">
                <a:latin typeface="Arial"/>
                <a:cs typeface="Arial"/>
              </a:rPr>
              <a:t>terminates, </a:t>
            </a:r>
            <a:r>
              <a:rPr sz="2000" spc="110" dirty="0">
                <a:latin typeface="Arial"/>
                <a:cs typeface="Arial"/>
              </a:rPr>
              <a:t>it </a:t>
            </a:r>
            <a:r>
              <a:rPr sz="2000" spc="-160" dirty="0">
                <a:latin typeface="Arial"/>
                <a:cs typeface="Arial"/>
              </a:rPr>
              <a:t>does </a:t>
            </a:r>
            <a:r>
              <a:rPr sz="2000" spc="5" dirty="0">
                <a:latin typeface="Arial"/>
                <a:cs typeface="Arial"/>
              </a:rPr>
              <a:t>not </a:t>
            </a:r>
            <a:r>
              <a:rPr sz="2000" spc="-25" dirty="0">
                <a:latin typeface="Arial"/>
                <a:cs typeface="Arial"/>
              </a:rPr>
              <a:t>automatically</a:t>
            </a:r>
            <a:r>
              <a:rPr sz="2000" spc="-40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disappears</a:t>
            </a:r>
            <a:endParaRPr sz="20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170" dirty="0">
                <a:latin typeface="Arial"/>
                <a:cs typeface="Arial"/>
              </a:rPr>
              <a:t>use </a:t>
            </a:r>
            <a:r>
              <a:rPr sz="1800" spc="-10" dirty="0">
                <a:latin typeface="Courier New"/>
                <a:cs typeface="Courier New"/>
              </a:rPr>
              <a:t>waitpid()</a:t>
            </a:r>
            <a:r>
              <a:rPr sz="1800" spc="-835" dirty="0">
                <a:latin typeface="Courier New"/>
                <a:cs typeface="Courier New"/>
              </a:rPr>
              <a:t> </a:t>
            </a:r>
            <a:r>
              <a:rPr sz="2000" dirty="0">
                <a:latin typeface="Arial"/>
                <a:cs typeface="Arial"/>
              </a:rPr>
              <a:t>to </a:t>
            </a:r>
            <a:r>
              <a:rPr sz="2000" spc="-50" dirty="0">
                <a:latin typeface="Arial"/>
                <a:cs typeface="Arial"/>
              </a:rPr>
              <a:t>parent </a:t>
            </a:r>
            <a:r>
              <a:rPr sz="2000" spc="65" dirty="0">
                <a:latin typeface="Arial"/>
                <a:cs typeface="Arial"/>
              </a:rPr>
              <a:t>in </a:t>
            </a:r>
            <a:r>
              <a:rPr sz="2000" spc="-35" dirty="0">
                <a:latin typeface="Arial"/>
                <a:cs typeface="Arial"/>
              </a:rPr>
              <a:t>order </a:t>
            </a:r>
            <a:r>
              <a:rPr sz="2000" dirty="0">
                <a:latin typeface="Arial"/>
                <a:cs typeface="Arial"/>
              </a:rPr>
              <a:t>to </a:t>
            </a:r>
            <a:r>
              <a:rPr sz="2000" spc="-35" dirty="0">
                <a:latin typeface="Arial"/>
                <a:cs typeface="Arial"/>
              </a:rPr>
              <a:t>“harvest” </a:t>
            </a:r>
            <a:r>
              <a:rPr sz="2000" spc="-100" dirty="0">
                <a:latin typeface="Arial"/>
                <a:cs typeface="Arial"/>
              </a:rPr>
              <a:t>zombies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09039" y="110236"/>
            <a:ext cx="570547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0" dirty="0"/>
              <a:t>Multitasking </a:t>
            </a:r>
            <a:r>
              <a:rPr sz="3200" spc="-200" dirty="0"/>
              <a:t>- </a:t>
            </a:r>
            <a:r>
              <a:rPr sz="3200" spc="-185" dirty="0"/>
              <a:t>Per-Client</a:t>
            </a:r>
            <a:r>
              <a:rPr sz="3200" spc="-200" dirty="0"/>
              <a:t> </a:t>
            </a:r>
            <a:r>
              <a:rPr sz="3200" spc="-180" dirty="0"/>
              <a:t>Process</a:t>
            </a:r>
            <a:endParaRPr sz="3200"/>
          </a:p>
        </p:txBody>
      </p:sp>
      <p:sp>
        <p:nvSpPr>
          <p:cNvPr id="4" name="object 4"/>
          <p:cNvSpPr/>
          <p:nvPr/>
        </p:nvSpPr>
        <p:spPr>
          <a:xfrm>
            <a:off x="353961" y="1187450"/>
            <a:ext cx="8587105" cy="4838700"/>
          </a:xfrm>
          <a:custGeom>
            <a:avLst/>
            <a:gdLst/>
            <a:ahLst/>
            <a:cxnLst/>
            <a:rect l="l" t="t" r="r" b="b"/>
            <a:pathLst>
              <a:path w="8587105" h="4838700">
                <a:moveTo>
                  <a:pt x="0" y="0"/>
                </a:moveTo>
                <a:lnTo>
                  <a:pt x="0" y="4838700"/>
                </a:lnTo>
                <a:lnTo>
                  <a:pt x="8586978" y="4838700"/>
                </a:lnTo>
                <a:lnTo>
                  <a:pt x="8586978" y="0"/>
                </a:lnTo>
                <a:lnTo>
                  <a:pt x="0" y="0"/>
                </a:lnTo>
                <a:close/>
              </a:path>
            </a:pathLst>
          </a:custGeom>
          <a:ln w="22224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4887" y="741171"/>
            <a:ext cx="5934075" cy="654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11400">
              <a:lnSpc>
                <a:spcPct val="100000"/>
              </a:lnSpc>
              <a:spcBef>
                <a:spcPts val="95"/>
              </a:spcBef>
            </a:pPr>
            <a:r>
              <a:rPr sz="2000" spc="-125" dirty="0">
                <a:solidFill>
                  <a:srgbClr val="006533"/>
                </a:solidFill>
                <a:latin typeface="Georgia"/>
                <a:cs typeface="Georgia"/>
              </a:rPr>
              <a:t>- </a:t>
            </a:r>
            <a:r>
              <a:rPr sz="2000" spc="-135" dirty="0">
                <a:solidFill>
                  <a:srgbClr val="006533"/>
                </a:solidFill>
                <a:latin typeface="Georgia"/>
                <a:cs typeface="Georgia"/>
              </a:rPr>
              <a:t>Example: </a:t>
            </a:r>
            <a:r>
              <a:rPr sz="2000" spc="-100" dirty="0">
                <a:solidFill>
                  <a:srgbClr val="006533"/>
                </a:solidFill>
                <a:latin typeface="Georgia"/>
                <a:cs typeface="Georgia"/>
              </a:rPr>
              <a:t>echo </a:t>
            </a:r>
            <a:r>
              <a:rPr sz="2000" spc="-145" dirty="0">
                <a:solidFill>
                  <a:srgbClr val="006533"/>
                </a:solidFill>
                <a:latin typeface="Georgia"/>
                <a:cs typeface="Georgia"/>
              </a:rPr>
              <a:t>using </a:t>
            </a:r>
            <a:r>
              <a:rPr sz="2000" spc="-160" dirty="0">
                <a:solidFill>
                  <a:srgbClr val="006533"/>
                </a:solidFill>
                <a:latin typeface="Georgia"/>
                <a:cs typeface="Georgia"/>
              </a:rPr>
              <a:t>stream</a:t>
            </a:r>
            <a:r>
              <a:rPr sz="2000" spc="-135" dirty="0">
                <a:solidFill>
                  <a:srgbClr val="006533"/>
                </a:solidFill>
                <a:latin typeface="Georgia"/>
                <a:cs typeface="Georgia"/>
              </a:rPr>
              <a:t> </a:t>
            </a:r>
            <a:r>
              <a:rPr sz="2000" spc="-110" dirty="0">
                <a:solidFill>
                  <a:srgbClr val="006533"/>
                </a:solidFill>
                <a:latin typeface="Georgia"/>
                <a:cs typeface="Georgia"/>
              </a:rPr>
              <a:t>socket</a:t>
            </a:r>
            <a:endParaRPr sz="2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  <a:tabLst>
                <a:tab pos="2831465" algn="l"/>
              </a:tabLst>
            </a:pPr>
            <a:r>
              <a:rPr sz="1000" spc="-5" dirty="0">
                <a:latin typeface="Courier New"/>
                <a:cs typeface="Courier New"/>
              </a:rPr>
              <a:t>#include</a:t>
            </a:r>
            <a:r>
              <a:rPr sz="1000" spc="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&lt;sys/wait.h&gt;	/* for waitpid()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98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887" y="1522222"/>
            <a:ext cx="269240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80645" indent="-2286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Courier New"/>
                <a:cs typeface="Courier New"/>
              </a:rPr>
              <a:t>int main(int argc, char *argv[]) </a:t>
            </a:r>
            <a:r>
              <a:rPr sz="1000" dirty="0">
                <a:latin typeface="Courier New"/>
                <a:cs typeface="Courier New"/>
              </a:rPr>
              <a:t>{  </a:t>
            </a:r>
            <a:r>
              <a:rPr sz="1000" spc="-5" dirty="0">
                <a:latin typeface="Courier New"/>
                <a:cs typeface="Courier New"/>
              </a:rPr>
              <a:t>int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b="1" spc="-5" dirty="0">
                <a:solidFill>
                  <a:srgbClr val="9A6500"/>
                </a:solidFill>
                <a:latin typeface="Courier New"/>
                <a:cs typeface="Courier New"/>
              </a:rPr>
              <a:t>servSock</a:t>
            </a:r>
            <a:r>
              <a:rPr sz="1000" spc="-5" dirty="0">
                <a:latin typeface="Courier New"/>
                <a:cs typeface="Courier New"/>
              </a:rPr>
              <a:t>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int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b="1" spc="-5" dirty="0">
                <a:solidFill>
                  <a:srgbClr val="CC9A00"/>
                </a:solidFill>
                <a:latin typeface="Courier New"/>
                <a:cs typeface="Courier New"/>
              </a:rPr>
              <a:t>clntSock</a:t>
            </a:r>
            <a:r>
              <a:rPr sz="1000" spc="-5" dirty="0">
                <a:latin typeface="Courier New"/>
                <a:cs typeface="Courier New"/>
              </a:rPr>
              <a:t>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unsigned short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echoServPort;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pid_t</a:t>
            </a:r>
            <a:r>
              <a:rPr sz="1000" b="1" spc="-10" dirty="0">
                <a:latin typeface="Courier New"/>
                <a:cs typeface="Courier New"/>
              </a:rPr>
              <a:t> </a:t>
            </a:r>
            <a:r>
              <a:rPr sz="1000" b="1" spc="-5" dirty="0">
                <a:solidFill>
                  <a:srgbClr val="006533"/>
                </a:solidFill>
                <a:latin typeface="Courier New"/>
                <a:cs typeface="Courier New"/>
              </a:rPr>
              <a:t>processID</a:t>
            </a:r>
            <a:r>
              <a:rPr sz="1000" spc="-5" dirty="0">
                <a:latin typeface="Courier New"/>
                <a:cs typeface="Courier New"/>
              </a:rPr>
              <a:t>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unsigned int childProcCount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0;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63837" y="1674622"/>
            <a:ext cx="2616200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Courier New"/>
                <a:cs typeface="Courier New"/>
              </a:rPr>
              <a:t>/* Socket descriptor for server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Socket descriptor for client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Server port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Process ID from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fork()*/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Number of child processes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3480" y="2589022"/>
            <a:ext cx="688276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2061845" indent="-228600">
              <a:lnSpc>
                <a:spcPct val="100000"/>
              </a:lnSpc>
              <a:spcBef>
                <a:spcPts val="100"/>
              </a:spcBef>
              <a:tabLst>
                <a:tab pos="1612265" algn="l"/>
                <a:tab pos="2145665" algn="l"/>
              </a:tabLst>
            </a:pPr>
            <a:r>
              <a:rPr sz="1000" spc="-5" dirty="0">
                <a:latin typeface="Courier New"/>
                <a:cs typeface="Courier New"/>
              </a:rPr>
              <a:t>if (argc !=</a:t>
            </a:r>
            <a:r>
              <a:rPr sz="1000" spc="1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2)</a:t>
            </a:r>
            <a:r>
              <a:rPr sz="1000" dirty="0">
                <a:latin typeface="Courier New"/>
                <a:cs typeface="Courier New"/>
              </a:rPr>
              <a:t> {	</a:t>
            </a:r>
            <a:r>
              <a:rPr sz="1000" spc="-5" dirty="0">
                <a:latin typeface="Courier New"/>
                <a:cs typeface="Courier New"/>
              </a:rPr>
              <a:t>/* Test for correct number of arguments */  fprintf(stderr,</a:t>
            </a:r>
            <a:r>
              <a:rPr sz="1000" spc="2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"Usage:	%s &lt;Server Port&gt;\n", argv[0]);  exit(1);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tabLst>
                <a:tab pos="2602865" algn="l"/>
                <a:tab pos="3745865" algn="l"/>
              </a:tabLst>
            </a:pPr>
            <a:r>
              <a:rPr sz="1000" spc="-5" dirty="0">
                <a:latin typeface="Courier New"/>
                <a:cs typeface="Courier New"/>
              </a:rPr>
              <a:t>echoServPort</a:t>
            </a:r>
            <a:r>
              <a:rPr sz="1000" spc="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1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atoi</a:t>
            </a:r>
            <a:r>
              <a:rPr sz="1000" spc="-5" dirty="0">
                <a:latin typeface="Courier New"/>
                <a:cs typeface="Courier New"/>
              </a:rPr>
              <a:t>(argv[1]);	/*</a:t>
            </a:r>
            <a:r>
              <a:rPr sz="1000" spc="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First</a:t>
            </a:r>
            <a:r>
              <a:rPr sz="100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arg:	local port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12700" marR="3280410">
              <a:lnSpc>
                <a:spcPct val="200000"/>
              </a:lnSpc>
            </a:pPr>
            <a:r>
              <a:rPr sz="1000" b="1" spc="-5" dirty="0">
                <a:solidFill>
                  <a:srgbClr val="9A6500"/>
                </a:solidFill>
                <a:latin typeface="Courier New"/>
                <a:cs typeface="Courier New"/>
              </a:rPr>
              <a:t>servSock </a:t>
            </a:r>
            <a:r>
              <a:rPr sz="1000" dirty="0">
                <a:latin typeface="Courier New"/>
                <a:cs typeface="Courier New"/>
              </a:rPr>
              <a:t>= </a:t>
            </a:r>
            <a:r>
              <a:rPr sz="1000" b="1" spc="-5" dirty="0">
                <a:latin typeface="Courier New"/>
                <a:cs typeface="Courier New"/>
              </a:rPr>
              <a:t>CreateTCPServerSocket</a:t>
            </a:r>
            <a:r>
              <a:rPr sz="1000" spc="-5" dirty="0">
                <a:latin typeface="Courier New"/>
                <a:cs typeface="Courier New"/>
              </a:rPr>
              <a:t>(echoServPort);  for (;;) </a:t>
            </a:r>
            <a:r>
              <a:rPr sz="1000" dirty="0">
                <a:latin typeface="Courier New"/>
                <a:cs typeface="Courier New"/>
              </a:rPr>
              <a:t>{ </a:t>
            </a:r>
            <a:r>
              <a:rPr sz="1000" spc="-5" dirty="0">
                <a:latin typeface="Courier New"/>
                <a:cs typeface="Courier New"/>
              </a:rPr>
              <a:t>/* Run forever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</a:pPr>
            <a:r>
              <a:rPr sz="1000" b="1" spc="-5" dirty="0">
                <a:solidFill>
                  <a:srgbClr val="CC9A00"/>
                </a:solidFill>
                <a:latin typeface="Courier New"/>
                <a:cs typeface="Courier New"/>
              </a:rPr>
              <a:t>clntSock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AcceptTCPConnection</a:t>
            </a:r>
            <a:r>
              <a:rPr sz="1000" spc="-5" dirty="0">
                <a:latin typeface="Courier New"/>
                <a:cs typeface="Courier New"/>
              </a:rPr>
              <a:t>(</a:t>
            </a:r>
            <a:r>
              <a:rPr sz="1000" b="1" spc="-5" dirty="0">
                <a:solidFill>
                  <a:srgbClr val="9A6500"/>
                </a:solidFill>
                <a:latin typeface="Courier New"/>
                <a:cs typeface="Courier New"/>
              </a:rPr>
              <a:t>servSock</a:t>
            </a:r>
            <a:r>
              <a:rPr sz="1000" spc="-5" dirty="0"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  <a:tabLst>
                <a:tab pos="5040630" algn="l"/>
              </a:tabLst>
            </a:pPr>
            <a:r>
              <a:rPr sz="1000" spc="-5" dirty="0">
                <a:latin typeface="Courier New"/>
                <a:cs typeface="Courier New"/>
              </a:rPr>
              <a:t>if ((</a:t>
            </a:r>
            <a:r>
              <a:rPr sz="1000" b="1" spc="-5" dirty="0">
                <a:solidFill>
                  <a:srgbClr val="006533"/>
                </a:solidFill>
                <a:latin typeface="Courier New"/>
                <a:cs typeface="Courier New"/>
              </a:rPr>
              <a:t>processID </a:t>
            </a:r>
            <a:r>
              <a:rPr sz="1000" dirty="0">
                <a:latin typeface="Courier New"/>
                <a:cs typeface="Courier New"/>
              </a:rPr>
              <a:t>= </a:t>
            </a:r>
            <a:r>
              <a:rPr sz="1000" b="1" spc="-5" dirty="0">
                <a:latin typeface="Courier New"/>
                <a:cs typeface="Courier New"/>
              </a:rPr>
              <a:t>fork</a:t>
            </a:r>
            <a:r>
              <a:rPr sz="1000" spc="-5" dirty="0">
                <a:latin typeface="Courier New"/>
                <a:cs typeface="Courier New"/>
              </a:rPr>
              <a:t>()) </a:t>
            </a:r>
            <a:r>
              <a:rPr sz="1000" dirty="0">
                <a:latin typeface="Courier New"/>
                <a:cs typeface="Courier New"/>
              </a:rPr>
              <a:t>&lt; </a:t>
            </a:r>
            <a:r>
              <a:rPr sz="1000" spc="-5" dirty="0">
                <a:latin typeface="Courier New"/>
                <a:cs typeface="Courier New"/>
              </a:rPr>
              <a:t>0) DieWithError</a:t>
            </a:r>
            <a:r>
              <a:rPr sz="1000" spc="6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(“fork()</a:t>
            </a:r>
            <a:r>
              <a:rPr sz="1000" spc="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failed”);	/* Fork child process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64131" y="4417809"/>
            <a:ext cx="23876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Courier New"/>
                <a:cs typeface="Courier New"/>
              </a:rPr>
              <a:t>/* This is the child process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64196" y="4570209"/>
            <a:ext cx="26924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Courier New"/>
                <a:cs typeface="Courier New"/>
              </a:rPr>
              <a:t>/* child closes listening socket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64183" y="4875009"/>
            <a:ext cx="23114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Courier New"/>
                <a:cs typeface="Courier New"/>
              </a:rPr>
              <a:t>/* child process terminates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2042" y="4417809"/>
            <a:ext cx="2235200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Courier New"/>
                <a:cs typeface="Courier New"/>
              </a:rPr>
              <a:t>else if (</a:t>
            </a:r>
            <a:r>
              <a:rPr sz="1000" b="1" spc="-5" dirty="0">
                <a:solidFill>
                  <a:srgbClr val="006533"/>
                </a:solidFill>
                <a:latin typeface="Courier New"/>
                <a:cs typeface="Courier New"/>
              </a:rPr>
              <a:t>processID </a:t>
            </a:r>
            <a:r>
              <a:rPr sz="1000" dirty="0">
                <a:latin typeface="Courier New"/>
                <a:cs typeface="Courier New"/>
              </a:rPr>
              <a:t>= </a:t>
            </a:r>
            <a:r>
              <a:rPr sz="1000" spc="-5" dirty="0">
                <a:latin typeface="Courier New"/>
                <a:cs typeface="Courier New"/>
              </a:rPr>
              <a:t>0) </a:t>
            </a:r>
            <a:r>
              <a:rPr sz="1000" dirty="0">
                <a:latin typeface="Courier New"/>
                <a:cs typeface="Courier New"/>
              </a:rPr>
              <a:t>{  </a:t>
            </a:r>
            <a:r>
              <a:rPr sz="1000" spc="-5" dirty="0">
                <a:latin typeface="Courier New"/>
                <a:cs typeface="Courier New"/>
              </a:rPr>
              <a:t>close(</a:t>
            </a:r>
            <a:r>
              <a:rPr sz="1000" b="1" spc="-5" dirty="0">
                <a:solidFill>
                  <a:srgbClr val="9A6500"/>
                </a:solidFill>
                <a:latin typeface="Courier New"/>
                <a:cs typeface="Courier New"/>
              </a:rPr>
              <a:t>servSock</a:t>
            </a:r>
            <a:r>
              <a:rPr sz="1000" spc="-5" dirty="0">
                <a:latin typeface="Courier New"/>
                <a:cs typeface="Courier New"/>
              </a:rPr>
              <a:t>);  HandleTCPClient(</a:t>
            </a:r>
            <a:r>
              <a:rPr sz="1000" b="1" spc="-5" dirty="0">
                <a:solidFill>
                  <a:srgbClr val="CC9A00"/>
                </a:solidFill>
                <a:latin typeface="Courier New"/>
                <a:cs typeface="Courier New"/>
              </a:rPr>
              <a:t>clntSock</a:t>
            </a:r>
            <a:r>
              <a:rPr sz="1000" spc="-5" dirty="0">
                <a:latin typeface="Courier New"/>
                <a:cs typeface="Courier New"/>
              </a:rPr>
              <a:t>);  exit(0);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2042" y="5332209"/>
            <a:ext cx="1320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Courier New"/>
                <a:cs typeface="Courier New"/>
              </a:rPr>
              <a:t>close(</a:t>
            </a:r>
            <a:r>
              <a:rPr sz="1000" b="1" spc="-5" dirty="0">
                <a:solidFill>
                  <a:srgbClr val="CC9A00"/>
                </a:solidFill>
                <a:latin typeface="Courier New"/>
                <a:cs typeface="Courier New"/>
              </a:rPr>
              <a:t>clntSock</a:t>
            </a:r>
            <a:r>
              <a:rPr sz="1000" spc="-5" dirty="0">
                <a:latin typeface="Courier New"/>
                <a:cs typeface="Courier New"/>
              </a:rPr>
              <a:t>);  childProcCount++;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64004" y="5332209"/>
            <a:ext cx="40633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Courier New"/>
                <a:cs typeface="Courier New"/>
              </a:rPr>
              <a:t>/* parent closes child socket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Increment number of outstanding child processes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02042" y="5789409"/>
            <a:ext cx="2540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Courier New"/>
                <a:cs typeface="Courier New"/>
              </a:rPr>
              <a:t>...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09039" y="68110"/>
            <a:ext cx="5705475" cy="100330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30"/>
              </a:spcBef>
            </a:pPr>
            <a:r>
              <a:rPr spc="-290" dirty="0"/>
              <a:t>Multitasking </a:t>
            </a:r>
            <a:r>
              <a:rPr sz="3200" spc="-200" dirty="0"/>
              <a:t>- </a:t>
            </a:r>
            <a:r>
              <a:rPr sz="3200" spc="-185" dirty="0"/>
              <a:t>Per-Client</a:t>
            </a:r>
            <a:r>
              <a:rPr sz="3200" spc="-200" dirty="0"/>
              <a:t> </a:t>
            </a:r>
            <a:r>
              <a:rPr sz="3200" spc="-180" dirty="0"/>
              <a:t>Process</a:t>
            </a:r>
            <a:endParaRPr sz="3200"/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2000" spc="-125" dirty="0"/>
              <a:t>- </a:t>
            </a:r>
            <a:r>
              <a:rPr sz="2000" spc="-135" dirty="0"/>
              <a:t>Example: </a:t>
            </a:r>
            <a:r>
              <a:rPr sz="2000" spc="-100" dirty="0"/>
              <a:t>echo </a:t>
            </a:r>
            <a:r>
              <a:rPr sz="2000" spc="-145" dirty="0"/>
              <a:t>using </a:t>
            </a:r>
            <a:r>
              <a:rPr sz="2000" spc="-160" dirty="0"/>
              <a:t>stream</a:t>
            </a:r>
            <a:r>
              <a:rPr sz="2000" spc="-75" dirty="0"/>
              <a:t> </a:t>
            </a:r>
            <a:r>
              <a:rPr sz="2000" spc="-110" dirty="0"/>
              <a:t>socket</a:t>
            </a:r>
            <a:endParaRPr sz="2000"/>
          </a:p>
        </p:txBody>
      </p:sp>
      <p:sp>
        <p:nvSpPr>
          <p:cNvPr id="4" name="object 4"/>
          <p:cNvSpPr/>
          <p:nvPr/>
        </p:nvSpPr>
        <p:spPr>
          <a:xfrm>
            <a:off x="353961" y="1187450"/>
            <a:ext cx="8587105" cy="1638300"/>
          </a:xfrm>
          <a:custGeom>
            <a:avLst/>
            <a:gdLst/>
            <a:ahLst/>
            <a:cxnLst/>
            <a:rect l="l" t="t" r="r" b="b"/>
            <a:pathLst>
              <a:path w="8587105" h="1638300">
                <a:moveTo>
                  <a:pt x="0" y="0"/>
                </a:moveTo>
                <a:lnTo>
                  <a:pt x="0" y="1638300"/>
                </a:lnTo>
                <a:lnTo>
                  <a:pt x="8586978" y="1638300"/>
                </a:lnTo>
                <a:lnTo>
                  <a:pt x="8586978" y="0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29196" y="1369822"/>
            <a:ext cx="2298700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Courier New"/>
                <a:cs typeface="Courier New"/>
              </a:rPr>
              <a:t>/* Clean up all zombies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Non-blocking wait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No zombie to wait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Cleaned up after </a:t>
            </a:r>
            <a:r>
              <a:rPr sz="1000" dirty="0">
                <a:latin typeface="Courier New"/>
                <a:cs typeface="Courier New"/>
              </a:rPr>
              <a:t>a </a:t>
            </a:r>
            <a:r>
              <a:rPr sz="1000" spc="-5" dirty="0">
                <a:latin typeface="Courier New"/>
                <a:cs typeface="Courier New"/>
              </a:rPr>
              <a:t>child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99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768" y="1217422"/>
            <a:ext cx="3747135" cy="1092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Courier New"/>
                <a:cs typeface="Courier New"/>
              </a:rPr>
              <a:t>...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while (childProcCount)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228600" marR="508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processID </a:t>
            </a:r>
            <a:r>
              <a:rPr sz="1000" dirty="0">
                <a:latin typeface="Courier New"/>
                <a:cs typeface="Courier New"/>
              </a:rPr>
              <a:t>= </a:t>
            </a:r>
            <a:r>
              <a:rPr sz="1000" b="1" spc="-5" dirty="0">
                <a:latin typeface="Courier New"/>
                <a:cs typeface="Courier New"/>
              </a:rPr>
              <a:t>waitpid</a:t>
            </a:r>
            <a:r>
              <a:rPr sz="1000" spc="-5" dirty="0">
                <a:latin typeface="Courier New"/>
                <a:cs typeface="Courier New"/>
              </a:rPr>
              <a:t>((pid_t) -1, NULL, </a:t>
            </a:r>
            <a:r>
              <a:rPr sz="1000" b="1" spc="-5" dirty="0">
                <a:latin typeface="Courier New"/>
                <a:cs typeface="Courier New"/>
              </a:rPr>
              <a:t>WHOANG</a:t>
            </a:r>
            <a:r>
              <a:rPr sz="1000" spc="-5" dirty="0">
                <a:latin typeface="Courier New"/>
                <a:cs typeface="Courier New"/>
              </a:rPr>
              <a:t>);  if (processID </a:t>
            </a:r>
            <a:r>
              <a:rPr sz="1000" dirty="0">
                <a:latin typeface="Courier New"/>
                <a:cs typeface="Courier New"/>
              </a:rPr>
              <a:t>&lt; </a:t>
            </a:r>
            <a:r>
              <a:rPr sz="1000" spc="-5" dirty="0">
                <a:latin typeface="Courier New"/>
                <a:cs typeface="Courier New"/>
              </a:rPr>
              <a:t>0) DieWithError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(“...”);</a:t>
            </a:r>
            <a:endParaRPr sz="1000">
              <a:latin typeface="Courier New"/>
              <a:cs typeface="Courier New"/>
            </a:endParaRPr>
          </a:p>
          <a:p>
            <a:pPr marL="228600" marR="114808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else if (processID == 0) break;  else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childProcCount--;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100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7575" y="2284222"/>
            <a:ext cx="15367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2286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NOT REACHED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100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78927" y="261873"/>
            <a:ext cx="616712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305" dirty="0"/>
              <a:t>Multitasking </a:t>
            </a:r>
            <a:r>
              <a:rPr sz="3600" spc="-225" dirty="0"/>
              <a:t>- </a:t>
            </a:r>
            <a:r>
              <a:rPr sz="3600" spc="-210" dirty="0"/>
              <a:t>Per-Client</a:t>
            </a:r>
            <a:r>
              <a:rPr sz="3600" spc="-55" dirty="0"/>
              <a:t> </a:t>
            </a:r>
            <a:r>
              <a:rPr sz="3600" spc="-235" dirty="0"/>
              <a:t>Thread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100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453" y="1131894"/>
            <a:ext cx="7923530" cy="26797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2600" spc="2195" dirty="0">
                <a:solidFill>
                  <a:srgbClr val="9A6500"/>
                </a:solidFill>
                <a:latin typeface="Wingdings"/>
                <a:cs typeface="Wingdings"/>
              </a:rPr>
              <a:t></a:t>
            </a:r>
            <a:r>
              <a:rPr sz="2600" spc="145" dirty="0">
                <a:solidFill>
                  <a:srgbClr val="9A650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Arial"/>
                <a:cs typeface="Arial"/>
              </a:rPr>
              <a:t>Forking </a:t>
            </a:r>
            <a:r>
              <a:rPr sz="2200" spc="-250" dirty="0">
                <a:latin typeface="Arial"/>
                <a:cs typeface="Arial"/>
              </a:rPr>
              <a:t>a </a:t>
            </a:r>
            <a:r>
              <a:rPr sz="2200" spc="-35" dirty="0">
                <a:latin typeface="Arial"/>
                <a:cs typeface="Arial"/>
              </a:rPr>
              <a:t>new </a:t>
            </a:r>
            <a:r>
              <a:rPr sz="2200" spc="-150" dirty="0">
                <a:latin typeface="Arial"/>
                <a:cs typeface="Arial"/>
              </a:rPr>
              <a:t>process </a:t>
            </a:r>
            <a:r>
              <a:rPr sz="2200" spc="-90" dirty="0">
                <a:latin typeface="Arial"/>
                <a:cs typeface="Arial"/>
              </a:rPr>
              <a:t>is </a:t>
            </a:r>
            <a:r>
              <a:rPr sz="2200" spc="-105" dirty="0">
                <a:latin typeface="Arial"/>
                <a:cs typeface="Arial"/>
              </a:rPr>
              <a:t>expensive</a:t>
            </a:r>
            <a:endParaRPr sz="2200">
              <a:latin typeface="Arial"/>
              <a:cs typeface="Arial"/>
            </a:endParaRPr>
          </a:p>
          <a:p>
            <a:pPr marL="681990" indent="-325120">
              <a:lnSpc>
                <a:spcPct val="100000"/>
              </a:lnSpc>
              <a:spcBef>
                <a:spcPts val="409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40" dirty="0">
                <a:latin typeface="Arial"/>
                <a:cs typeface="Arial"/>
              </a:rPr>
              <a:t>duplicate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10" dirty="0">
                <a:latin typeface="Arial"/>
                <a:cs typeface="Arial"/>
              </a:rPr>
              <a:t>entire </a:t>
            </a:r>
            <a:r>
              <a:rPr sz="2000" spc="-100" dirty="0">
                <a:latin typeface="Arial"/>
                <a:cs typeface="Arial"/>
              </a:rPr>
              <a:t>state </a:t>
            </a:r>
            <a:r>
              <a:rPr sz="2000" spc="-40" dirty="0">
                <a:latin typeface="Arial"/>
                <a:cs typeface="Arial"/>
              </a:rPr>
              <a:t>(memory, </a:t>
            </a:r>
            <a:r>
              <a:rPr sz="2000" spc="-90" dirty="0">
                <a:latin typeface="Arial"/>
                <a:cs typeface="Arial"/>
              </a:rPr>
              <a:t>stack, </a:t>
            </a:r>
            <a:r>
              <a:rPr sz="2000" spc="-30" dirty="0">
                <a:latin typeface="Arial"/>
                <a:cs typeface="Arial"/>
              </a:rPr>
              <a:t>file/socket </a:t>
            </a:r>
            <a:r>
              <a:rPr sz="2000" spc="-65" dirty="0">
                <a:latin typeface="Arial"/>
                <a:cs typeface="Arial"/>
              </a:rPr>
              <a:t>descriptors,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…)</a:t>
            </a:r>
            <a:endParaRPr sz="2000">
              <a:latin typeface="Arial"/>
              <a:cs typeface="Arial"/>
            </a:endParaRPr>
          </a:p>
          <a:p>
            <a:pPr marL="355600" marR="259715" indent="-342900">
              <a:lnSpc>
                <a:spcPts val="2630"/>
              </a:lnSpc>
              <a:spcBef>
                <a:spcPts val="600"/>
              </a:spcBef>
            </a:pPr>
            <a:r>
              <a:rPr sz="2600" spc="2195" dirty="0">
                <a:solidFill>
                  <a:srgbClr val="9A6500"/>
                </a:solidFill>
                <a:latin typeface="Wingdings"/>
                <a:cs typeface="Wingdings"/>
              </a:rPr>
              <a:t></a:t>
            </a:r>
            <a:r>
              <a:rPr sz="2600" spc="110" dirty="0">
                <a:solidFill>
                  <a:srgbClr val="9A6500"/>
                </a:solidFill>
                <a:latin typeface="Times New Roman"/>
                <a:cs typeface="Times New Roman"/>
              </a:rPr>
              <a:t> </a:t>
            </a:r>
            <a:r>
              <a:rPr sz="2200" spc="-105" dirty="0">
                <a:latin typeface="Arial"/>
                <a:cs typeface="Arial"/>
              </a:rPr>
              <a:t>Threads </a:t>
            </a:r>
            <a:r>
              <a:rPr sz="2200" spc="-165" dirty="0">
                <a:latin typeface="Arial"/>
                <a:cs typeface="Arial"/>
              </a:rPr>
              <a:t>decrease </a:t>
            </a:r>
            <a:r>
              <a:rPr sz="2200" spc="-10" dirty="0">
                <a:latin typeface="Arial"/>
                <a:cs typeface="Arial"/>
              </a:rPr>
              <a:t>this </a:t>
            </a:r>
            <a:r>
              <a:rPr sz="2200" spc="-110" dirty="0">
                <a:latin typeface="Arial"/>
                <a:cs typeface="Arial"/>
              </a:rPr>
              <a:t>cost </a:t>
            </a:r>
            <a:r>
              <a:rPr sz="2200" spc="-20" dirty="0">
                <a:latin typeface="Arial"/>
                <a:cs typeface="Arial"/>
              </a:rPr>
              <a:t>by </a:t>
            </a:r>
            <a:r>
              <a:rPr sz="2200" spc="-5" dirty="0">
                <a:latin typeface="Arial"/>
                <a:cs typeface="Arial"/>
              </a:rPr>
              <a:t>allowing </a:t>
            </a:r>
            <a:r>
              <a:rPr sz="2200" spc="-10" dirty="0">
                <a:latin typeface="Arial"/>
                <a:cs typeface="Arial"/>
              </a:rPr>
              <a:t>multitasking </a:t>
            </a:r>
            <a:r>
              <a:rPr sz="2200" spc="85" dirty="0">
                <a:latin typeface="Arial"/>
                <a:cs typeface="Arial"/>
              </a:rPr>
              <a:t>within </a:t>
            </a:r>
            <a:r>
              <a:rPr sz="2200" spc="-1025" dirty="0">
                <a:latin typeface="Arial"/>
                <a:cs typeface="Arial"/>
              </a:rPr>
              <a:t>the </a:t>
            </a:r>
            <a:r>
              <a:rPr sz="2200" spc="-600" dirty="0">
                <a:latin typeface="Arial"/>
                <a:cs typeface="Arial"/>
              </a:rPr>
              <a:t> </a:t>
            </a:r>
            <a:r>
              <a:rPr sz="2200" spc="-204" dirty="0">
                <a:latin typeface="Arial"/>
                <a:cs typeface="Arial"/>
              </a:rPr>
              <a:t>same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spc="-155" dirty="0">
                <a:latin typeface="Arial"/>
                <a:cs typeface="Arial"/>
              </a:rPr>
              <a:t>process</a:t>
            </a:r>
            <a:endParaRPr sz="2200">
              <a:latin typeface="Arial"/>
              <a:cs typeface="Arial"/>
            </a:endParaRPr>
          </a:p>
          <a:p>
            <a:pPr marL="681990" indent="-325120">
              <a:lnSpc>
                <a:spcPct val="100000"/>
              </a:lnSpc>
              <a:spcBef>
                <a:spcPts val="42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85" dirty="0">
                <a:latin typeface="Arial"/>
                <a:cs typeface="Arial"/>
              </a:rPr>
              <a:t>threads </a:t>
            </a:r>
            <a:r>
              <a:rPr sz="2000" spc="-120" dirty="0">
                <a:latin typeface="Arial"/>
                <a:cs typeface="Arial"/>
              </a:rPr>
              <a:t>share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190" dirty="0">
                <a:latin typeface="Arial"/>
                <a:cs typeface="Arial"/>
              </a:rPr>
              <a:t>same </a:t>
            </a:r>
            <a:r>
              <a:rPr sz="2000" spc="-150" dirty="0">
                <a:latin typeface="Arial"/>
                <a:cs typeface="Arial"/>
              </a:rPr>
              <a:t>address </a:t>
            </a:r>
            <a:r>
              <a:rPr sz="2000" spc="-185" dirty="0">
                <a:latin typeface="Arial"/>
                <a:cs typeface="Arial"/>
              </a:rPr>
              <a:t>space </a:t>
            </a:r>
            <a:r>
              <a:rPr sz="2000" spc="-100" dirty="0">
                <a:latin typeface="Arial"/>
                <a:cs typeface="Arial"/>
              </a:rPr>
              <a:t>(code </a:t>
            </a:r>
            <a:r>
              <a:rPr sz="2000" spc="-95" dirty="0">
                <a:latin typeface="Arial"/>
                <a:cs typeface="Arial"/>
              </a:rPr>
              <a:t>and</a:t>
            </a:r>
            <a:r>
              <a:rPr sz="2000" spc="-38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data)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900">
              <a:latin typeface="Times New Roman"/>
              <a:cs typeface="Times New Roman"/>
            </a:endParaRPr>
          </a:p>
          <a:p>
            <a:pPr marL="356870">
              <a:lnSpc>
                <a:spcPct val="100000"/>
              </a:lnSpc>
            </a:pPr>
            <a:r>
              <a:rPr sz="2000" spc="50" dirty="0">
                <a:latin typeface="Arial"/>
                <a:cs typeface="Arial"/>
              </a:rPr>
              <a:t>An </a:t>
            </a:r>
            <a:r>
              <a:rPr sz="2000" spc="-90" dirty="0">
                <a:latin typeface="Arial"/>
                <a:cs typeface="Arial"/>
              </a:rPr>
              <a:t>example </a:t>
            </a:r>
            <a:r>
              <a:rPr sz="2000" spc="-85" dirty="0">
                <a:latin typeface="Arial"/>
                <a:cs typeface="Arial"/>
              </a:rPr>
              <a:t>is </a:t>
            </a:r>
            <a:r>
              <a:rPr sz="2000" spc="-30" dirty="0">
                <a:latin typeface="Arial"/>
                <a:cs typeface="Arial"/>
              </a:rPr>
              <a:t>provided </a:t>
            </a:r>
            <a:r>
              <a:rPr sz="2000" spc="-70" dirty="0">
                <a:latin typeface="Arial"/>
                <a:cs typeface="Arial"/>
              </a:rPr>
              <a:t>using </a:t>
            </a:r>
            <a:r>
              <a:rPr sz="2000" spc="-95" dirty="0">
                <a:latin typeface="Arial"/>
                <a:cs typeface="Arial"/>
              </a:rPr>
              <a:t>POSIX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Threads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4547" y="25654"/>
            <a:ext cx="44323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235" dirty="0"/>
              <a:t>Multitasking </a:t>
            </a:r>
            <a:r>
              <a:rPr sz="3200" spc="-200" dirty="0"/>
              <a:t>- </a:t>
            </a:r>
            <a:r>
              <a:rPr sz="2400" spc="-140" dirty="0"/>
              <a:t>Per-Client</a:t>
            </a:r>
            <a:r>
              <a:rPr sz="2400" spc="85" dirty="0"/>
              <a:t> </a:t>
            </a:r>
            <a:r>
              <a:rPr sz="2400" spc="-160" dirty="0"/>
              <a:t>Thread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2743835" y="524001"/>
            <a:ext cx="36353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25" dirty="0">
                <a:solidFill>
                  <a:srgbClr val="006533"/>
                </a:solidFill>
                <a:latin typeface="Georgia"/>
                <a:cs typeface="Georgia"/>
              </a:rPr>
              <a:t>- </a:t>
            </a:r>
            <a:r>
              <a:rPr sz="2000" spc="-135" dirty="0">
                <a:solidFill>
                  <a:srgbClr val="006533"/>
                </a:solidFill>
                <a:latin typeface="Georgia"/>
                <a:cs typeface="Georgia"/>
              </a:rPr>
              <a:t>Example: </a:t>
            </a:r>
            <a:r>
              <a:rPr sz="2000" spc="-100" dirty="0">
                <a:solidFill>
                  <a:srgbClr val="006533"/>
                </a:solidFill>
                <a:latin typeface="Georgia"/>
                <a:cs typeface="Georgia"/>
              </a:rPr>
              <a:t>echo </a:t>
            </a:r>
            <a:r>
              <a:rPr sz="2000" spc="-145" dirty="0">
                <a:solidFill>
                  <a:srgbClr val="006533"/>
                </a:solidFill>
                <a:latin typeface="Georgia"/>
                <a:cs typeface="Georgia"/>
              </a:rPr>
              <a:t>using </a:t>
            </a:r>
            <a:r>
              <a:rPr sz="2000" spc="-160" dirty="0">
                <a:solidFill>
                  <a:srgbClr val="006533"/>
                </a:solidFill>
                <a:latin typeface="Georgia"/>
                <a:cs typeface="Georgia"/>
              </a:rPr>
              <a:t>stream</a:t>
            </a:r>
            <a:r>
              <a:rPr sz="2000" spc="-135" dirty="0">
                <a:solidFill>
                  <a:srgbClr val="006533"/>
                </a:solidFill>
                <a:latin typeface="Georgia"/>
                <a:cs typeface="Georgia"/>
              </a:rPr>
              <a:t> </a:t>
            </a:r>
            <a:r>
              <a:rPr sz="2000" spc="-110" dirty="0">
                <a:solidFill>
                  <a:srgbClr val="006533"/>
                </a:solidFill>
                <a:latin typeface="Georgia"/>
                <a:cs typeface="Georgia"/>
              </a:rPr>
              <a:t>socket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3961" y="872744"/>
            <a:ext cx="8587105" cy="5448300"/>
          </a:xfrm>
          <a:custGeom>
            <a:avLst/>
            <a:gdLst/>
            <a:ahLst/>
            <a:cxnLst/>
            <a:rect l="l" t="t" r="r" b="b"/>
            <a:pathLst>
              <a:path w="8587105" h="5448300">
                <a:moveTo>
                  <a:pt x="0" y="0"/>
                </a:moveTo>
                <a:lnTo>
                  <a:pt x="0" y="5448300"/>
                </a:lnTo>
                <a:lnTo>
                  <a:pt x="8586978" y="5448300"/>
                </a:lnTo>
                <a:lnTo>
                  <a:pt x="8586978" y="0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4887" y="902716"/>
            <a:ext cx="15494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Courier New"/>
                <a:cs typeface="Courier New"/>
              </a:rPr>
              <a:t>#include</a:t>
            </a:r>
            <a:r>
              <a:rPr sz="1000" b="1" spc="-6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&lt;pthread.h&gt;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101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64072" y="902716"/>
            <a:ext cx="17780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Courier New"/>
                <a:cs typeface="Courier New"/>
              </a:rPr>
              <a:t>/* for POSIX threads</a:t>
            </a:r>
            <a:r>
              <a:rPr sz="1000" b="1" spc="-6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887" y="1207516"/>
            <a:ext cx="20828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Courier New"/>
                <a:cs typeface="Courier New"/>
              </a:rPr>
              <a:t>void *</a:t>
            </a:r>
            <a:r>
              <a:rPr sz="1000" b="1" spc="-5" dirty="0">
                <a:solidFill>
                  <a:srgbClr val="006533"/>
                </a:solidFill>
                <a:latin typeface="Courier New"/>
                <a:cs typeface="Courier New"/>
              </a:rPr>
              <a:t>ThreadMain</a:t>
            </a:r>
            <a:r>
              <a:rPr sz="1000" spc="-5" dirty="0">
                <a:latin typeface="Courier New"/>
                <a:cs typeface="Courier New"/>
              </a:rPr>
              <a:t>(void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*arg)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64199" y="1207516"/>
            <a:ext cx="23114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Courier New"/>
                <a:cs typeface="Courier New"/>
              </a:rPr>
              <a:t>/* Main program of </a:t>
            </a:r>
            <a:r>
              <a:rPr sz="1000" dirty="0">
                <a:latin typeface="Courier New"/>
                <a:cs typeface="Courier New"/>
              </a:rPr>
              <a:t>a </a:t>
            </a:r>
            <a:r>
              <a:rPr sz="1000" spc="-5" dirty="0">
                <a:latin typeface="Courier New"/>
                <a:cs typeface="Courier New"/>
              </a:rPr>
              <a:t>thread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64072" y="1512316"/>
            <a:ext cx="40633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Courier New"/>
                <a:cs typeface="Courier New"/>
              </a:rPr>
              <a:t>/* Structure of arguments to pass to client thread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/* socket descriptor for client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4887" y="1512316"/>
            <a:ext cx="14732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Courier New"/>
                <a:cs typeface="Courier New"/>
              </a:rPr>
              <a:t>struct ThreadArgs</a:t>
            </a:r>
            <a:r>
              <a:rPr sz="1000" b="1" spc="-75" dirty="0"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{  </a:t>
            </a:r>
            <a:r>
              <a:rPr sz="1000" b="1" spc="-5" dirty="0">
                <a:latin typeface="Courier New"/>
                <a:cs typeface="Courier New"/>
              </a:rPr>
              <a:t>int</a:t>
            </a:r>
            <a:r>
              <a:rPr sz="1000" b="1" spc="-2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clntSock;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};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4887" y="2121916"/>
            <a:ext cx="261620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5080" indent="-2286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Courier New"/>
                <a:cs typeface="Courier New"/>
              </a:rPr>
              <a:t>int main(int argc, char *argv[]) </a:t>
            </a:r>
            <a:r>
              <a:rPr sz="1000" dirty="0">
                <a:latin typeface="Courier New"/>
                <a:cs typeface="Courier New"/>
              </a:rPr>
              <a:t>{  </a:t>
            </a:r>
            <a:r>
              <a:rPr sz="1000" spc="-5" dirty="0">
                <a:latin typeface="Courier New"/>
                <a:cs typeface="Courier New"/>
              </a:rPr>
              <a:t>int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b="1" spc="-5" dirty="0">
                <a:solidFill>
                  <a:srgbClr val="9A6500"/>
                </a:solidFill>
                <a:latin typeface="Courier New"/>
                <a:cs typeface="Courier New"/>
              </a:rPr>
              <a:t>servSock</a:t>
            </a:r>
            <a:r>
              <a:rPr sz="1000" spc="-5" dirty="0">
                <a:latin typeface="Courier New"/>
                <a:cs typeface="Courier New"/>
              </a:rPr>
              <a:t>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int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b="1" spc="-5" dirty="0">
                <a:solidFill>
                  <a:srgbClr val="CC9A00"/>
                </a:solidFill>
                <a:latin typeface="Courier New"/>
                <a:cs typeface="Courier New"/>
              </a:rPr>
              <a:t>clntSock</a:t>
            </a:r>
            <a:r>
              <a:rPr sz="1000" spc="-5" dirty="0">
                <a:latin typeface="Courier New"/>
                <a:cs typeface="Courier New"/>
              </a:rPr>
              <a:t>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unsigned short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echoServPort;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pthread_t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5" dirty="0">
                <a:solidFill>
                  <a:srgbClr val="A50021"/>
                </a:solidFill>
                <a:latin typeface="Courier New"/>
                <a:cs typeface="Courier New"/>
              </a:rPr>
              <a:t>threadID</a:t>
            </a:r>
            <a:r>
              <a:rPr sz="1000" spc="-5" dirty="0">
                <a:latin typeface="Courier New"/>
                <a:cs typeface="Courier New"/>
              </a:rPr>
              <a:t>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struct ThreadArgs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</a:t>
            </a:r>
            <a:r>
              <a:rPr sz="1000" b="1" spc="-5" dirty="0">
                <a:solidFill>
                  <a:srgbClr val="CA6800"/>
                </a:solidFill>
                <a:latin typeface="Courier New"/>
                <a:cs typeface="Courier New"/>
              </a:rPr>
              <a:t>threadArgs</a:t>
            </a:r>
            <a:r>
              <a:rPr sz="1000" spc="-5" dirty="0">
                <a:latin typeface="Courier New"/>
                <a:cs typeface="Courier New"/>
              </a:rPr>
              <a:t>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63837" y="2274316"/>
            <a:ext cx="3530600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Courier New"/>
                <a:cs typeface="Courier New"/>
              </a:rPr>
              <a:t>/* Socket descriptor for server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Socket descriptor for client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Server port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Thread ID from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pthread_create()*/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Pointer to argument structure for thread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4811" y="3188703"/>
            <a:ext cx="8331200" cy="3074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3281679" indent="-228600">
              <a:lnSpc>
                <a:spcPct val="100000"/>
              </a:lnSpc>
              <a:spcBef>
                <a:spcPts val="100"/>
              </a:spcBef>
              <a:tabLst>
                <a:tab pos="1840864" algn="l"/>
                <a:tab pos="2374265" algn="l"/>
              </a:tabLst>
            </a:pPr>
            <a:r>
              <a:rPr sz="1000" spc="-5" dirty="0">
                <a:latin typeface="Courier New"/>
                <a:cs typeface="Courier New"/>
              </a:rPr>
              <a:t>if (argc !=</a:t>
            </a:r>
            <a:r>
              <a:rPr sz="1000" spc="1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2)</a:t>
            </a:r>
            <a:r>
              <a:rPr sz="1000" dirty="0">
                <a:latin typeface="Courier New"/>
                <a:cs typeface="Courier New"/>
              </a:rPr>
              <a:t> {	</a:t>
            </a:r>
            <a:r>
              <a:rPr sz="1000" spc="-5" dirty="0">
                <a:latin typeface="Courier New"/>
                <a:cs typeface="Courier New"/>
              </a:rPr>
              <a:t>/* Test for correct number of arguments */  fprintf(stderr,</a:t>
            </a:r>
            <a:r>
              <a:rPr sz="1000" spc="2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"Usage:	%s &lt;Server Port&gt;\n", argv[0]);  exit(1);</a:t>
            </a:r>
            <a:endParaRPr sz="10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</a:pPr>
            <a:r>
              <a:rPr sz="100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tabLst>
                <a:tab pos="2831465" algn="l"/>
                <a:tab pos="3974465" algn="l"/>
              </a:tabLst>
            </a:pPr>
            <a:r>
              <a:rPr sz="1000" spc="-5" dirty="0">
                <a:latin typeface="Courier New"/>
                <a:cs typeface="Courier New"/>
              </a:rPr>
              <a:t>echoServPort</a:t>
            </a:r>
            <a:r>
              <a:rPr sz="1000" spc="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1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atoi</a:t>
            </a:r>
            <a:r>
              <a:rPr sz="1000" spc="-5" dirty="0">
                <a:latin typeface="Courier New"/>
                <a:cs typeface="Courier New"/>
              </a:rPr>
              <a:t>(argv[1]);	/*</a:t>
            </a:r>
            <a:r>
              <a:rPr sz="1000" spc="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First</a:t>
            </a:r>
            <a:r>
              <a:rPr sz="100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arg:	local port */</a:t>
            </a:r>
            <a:endParaRPr sz="1000">
              <a:latin typeface="Courier New"/>
              <a:cs typeface="Courier New"/>
            </a:endParaRPr>
          </a:p>
          <a:p>
            <a:pPr marL="241300" marR="4500245">
              <a:lnSpc>
                <a:spcPct val="200000"/>
              </a:lnSpc>
            </a:pPr>
            <a:r>
              <a:rPr sz="1000" b="1" spc="-5" dirty="0">
                <a:solidFill>
                  <a:srgbClr val="9A6500"/>
                </a:solidFill>
                <a:latin typeface="Courier New"/>
                <a:cs typeface="Courier New"/>
              </a:rPr>
              <a:t>servSock </a:t>
            </a:r>
            <a:r>
              <a:rPr sz="1000" dirty="0">
                <a:latin typeface="Courier New"/>
                <a:cs typeface="Courier New"/>
              </a:rPr>
              <a:t>= </a:t>
            </a:r>
            <a:r>
              <a:rPr sz="1000" b="1" spc="-5" dirty="0">
                <a:latin typeface="Courier New"/>
                <a:cs typeface="Courier New"/>
              </a:rPr>
              <a:t>CreateTCPServerSocket</a:t>
            </a:r>
            <a:r>
              <a:rPr sz="1000" spc="-5" dirty="0">
                <a:latin typeface="Courier New"/>
                <a:cs typeface="Courier New"/>
              </a:rPr>
              <a:t>(echoServPort);  for (;;) </a:t>
            </a:r>
            <a:r>
              <a:rPr sz="1000" dirty="0">
                <a:latin typeface="Courier New"/>
                <a:cs typeface="Courier New"/>
              </a:rPr>
              <a:t>{ </a:t>
            </a:r>
            <a:r>
              <a:rPr sz="1000" spc="-5" dirty="0">
                <a:latin typeface="Courier New"/>
                <a:cs typeface="Courier New"/>
              </a:rPr>
              <a:t>/* Run forever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000" b="1" spc="-5" dirty="0">
                <a:solidFill>
                  <a:srgbClr val="CC9A00"/>
                </a:solidFill>
                <a:latin typeface="Courier New"/>
                <a:cs typeface="Courier New"/>
              </a:rPr>
              <a:t>clntSock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AcceptTCPConnection</a:t>
            </a:r>
            <a:r>
              <a:rPr sz="1000" spc="-5" dirty="0">
                <a:latin typeface="Courier New"/>
                <a:cs typeface="Courier New"/>
              </a:rPr>
              <a:t>(</a:t>
            </a:r>
            <a:r>
              <a:rPr sz="1000" b="1" spc="-5" dirty="0">
                <a:solidFill>
                  <a:srgbClr val="9A6500"/>
                </a:solidFill>
                <a:latin typeface="Courier New"/>
                <a:cs typeface="Courier New"/>
              </a:rPr>
              <a:t>servSock</a:t>
            </a:r>
            <a:r>
              <a:rPr sz="1000" spc="-5" dirty="0"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Create separate memory for client argument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if ((</a:t>
            </a:r>
            <a:r>
              <a:rPr sz="1000" b="1" spc="-5" dirty="0">
                <a:solidFill>
                  <a:srgbClr val="CA6800"/>
                </a:solidFill>
                <a:latin typeface="Courier New"/>
                <a:cs typeface="Courier New"/>
              </a:rPr>
              <a:t>threadArgs </a:t>
            </a:r>
            <a:r>
              <a:rPr sz="1000" dirty="0">
                <a:latin typeface="Courier New"/>
                <a:cs typeface="Courier New"/>
              </a:rPr>
              <a:t>= </a:t>
            </a:r>
            <a:r>
              <a:rPr sz="1000" spc="-5" dirty="0">
                <a:latin typeface="Courier New"/>
                <a:cs typeface="Courier New"/>
              </a:rPr>
              <a:t>(</a:t>
            </a:r>
            <a:r>
              <a:rPr sz="1000" b="1" spc="-5" dirty="0">
                <a:latin typeface="Courier New"/>
                <a:cs typeface="Courier New"/>
              </a:rPr>
              <a:t>struct ThreadArgs </a:t>
            </a:r>
            <a:r>
              <a:rPr sz="1000" spc="-5" dirty="0">
                <a:latin typeface="Courier New"/>
                <a:cs typeface="Courier New"/>
              </a:rPr>
              <a:t>*) malloc(sizeof(</a:t>
            </a:r>
            <a:r>
              <a:rPr sz="1000" b="1" spc="-5" dirty="0">
                <a:latin typeface="Courier New"/>
                <a:cs typeface="Courier New"/>
              </a:rPr>
              <a:t>struct ThreadArgs</a:t>
            </a:r>
            <a:r>
              <a:rPr sz="1000" spc="-5" dirty="0">
                <a:latin typeface="Courier New"/>
                <a:cs typeface="Courier New"/>
              </a:rPr>
              <a:t>)))) == NULL)</a:t>
            </a:r>
            <a:r>
              <a:rPr sz="1000" spc="5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DieWithError(“…”);</a:t>
            </a:r>
            <a:endParaRPr sz="1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000" b="1" spc="-5" dirty="0">
                <a:solidFill>
                  <a:srgbClr val="CA6800"/>
                </a:solidFill>
                <a:latin typeface="Courier New"/>
                <a:cs typeface="Courier New"/>
              </a:rPr>
              <a:t>threadArgs </a:t>
            </a:r>
            <a:r>
              <a:rPr sz="1000" spc="-5" dirty="0">
                <a:latin typeface="Courier New"/>
                <a:cs typeface="Courier New"/>
              </a:rPr>
              <a:t>-&gt; clntSock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b="1" spc="-5" dirty="0">
                <a:solidFill>
                  <a:srgbClr val="CC9A00"/>
                </a:solidFill>
                <a:latin typeface="Courier New"/>
                <a:cs typeface="Courier New"/>
              </a:rPr>
              <a:t>clntSock</a:t>
            </a:r>
            <a:r>
              <a:rPr sz="1000" spc="-5" dirty="0">
                <a:latin typeface="Courier New"/>
                <a:cs typeface="Courier New"/>
              </a:rPr>
              <a:t>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Create client thread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if (pthread_create (&amp;</a:t>
            </a:r>
            <a:r>
              <a:rPr sz="1000" b="1" spc="-5" dirty="0">
                <a:solidFill>
                  <a:srgbClr val="A50021"/>
                </a:solidFill>
                <a:latin typeface="Courier New"/>
                <a:cs typeface="Courier New"/>
              </a:rPr>
              <a:t>threadID</a:t>
            </a:r>
            <a:r>
              <a:rPr sz="1000" spc="-5" dirty="0">
                <a:latin typeface="Courier New"/>
                <a:cs typeface="Courier New"/>
              </a:rPr>
              <a:t>, NULL, </a:t>
            </a:r>
            <a:r>
              <a:rPr sz="1000" b="1" spc="-5" dirty="0">
                <a:solidFill>
                  <a:srgbClr val="006533"/>
                </a:solidFill>
                <a:latin typeface="Courier New"/>
                <a:cs typeface="Courier New"/>
              </a:rPr>
              <a:t>ThreadMain</a:t>
            </a:r>
            <a:r>
              <a:rPr sz="1000" spc="-5" dirty="0">
                <a:latin typeface="Courier New"/>
                <a:cs typeface="Courier New"/>
              </a:rPr>
              <a:t>, (void *) </a:t>
            </a:r>
            <a:r>
              <a:rPr sz="1000" b="1" spc="-5" dirty="0">
                <a:solidFill>
                  <a:srgbClr val="CA6800"/>
                </a:solidFill>
                <a:latin typeface="Courier New"/>
                <a:cs typeface="Courier New"/>
              </a:rPr>
              <a:t>threadArgs</a:t>
            </a:r>
            <a:r>
              <a:rPr sz="1000" spc="-5" dirty="0">
                <a:latin typeface="Courier New"/>
                <a:cs typeface="Courier New"/>
              </a:rPr>
              <a:t>) != 0)</a:t>
            </a:r>
            <a:r>
              <a:rPr sz="1000" spc="1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DieWithError(“…”);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ct val="100000"/>
              </a:lnSpc>
            </a:pPr>
            <a:r>
              <a:rPr sz="100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NOT REACHED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tabLst>
                <a:tab pos="8228965" algn="l"/>
              </a:tabLst>
            </a:pPr>
            <a:r>
              <a:rPr sz="1000" strike="sngStrike" dirty="0">
                <a:latin typeface="Courier New"/>
                <a:cs typeface="Courier New"/>
              </a:rPr>
              <a:t>}	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47139" y="110236"/>
            <a:ext cx="562864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0" dirty="0"/>
              <a:t>Multitasking </a:t>
            </a:r>
            <a:r>
              <a:rPr sz="3200" spc="-200" dirty="0"/>
              <a:t>- </a:t>
            </a:r>
            <a:r>
              <a:rPr sz="3200" spc="-185" dirty="0"/>
              <a:t>Per-Client</a:t>
            </a:r>
            <a:r>
              <a:rPr sz="3200" spc="-195" dirty="0"/>
              <a:t> </a:t>
            </a:r>
            <a:r>
              <a:rPr sz="3200" spc="-210" dirty="0"/>
              <a:t>Thread</a:t>
            </a:r>
            <a:endParaRPr sz="3200"/>
          </a:p>
        </p:txBody>
      </p:sp>
      <p:sp>
        <p:nvSpPr>
          <p:cNvPr id="8" name="object 8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102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3835" y="741171"/>
            <a:ext cx="36353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25" dirty="0">
                <a:solidFill>
                  <a:srgbClr val="006533"/>
                </a:solidFill>
                <a:latin typeface="Georgia"/>
                <a:cs typeface="Georgia"/>
              </a:rPr>
              <a:t>- </a:t>
            </a:r>
            <a:r>
              <a:rPr sz="2000" spc="-135" dirty="0">
                <a:solidFill>
                  <a:srgbClr val="006533"/>
                </a:solidFill>
                <a:latin typeface="Georgia"/>
                <a:cs typeface="Georgia"/>
              </a:rPr>
              <a:t>Example: </a:t>
            </a:r>
            <a:r>
              <a:rPr sz="2000" spc="-100" dirty="0">
                <a:solidFill>
                  <a:srgbClr val="006533"/>
                </a:solidFill>
                <a:latin typeface="Georgia"/>
                <a:cs typeface="Georgia"/>
              </a:rPr>
              <a:t>echo </a:t>
            </a:r>
            <a:r>
              <a:rPr sz="2000" spc="-145" dirty="0">
                <a:solidFill>
                  <a:srgbClr val="006533"/>
                </a:solidFill>
                <a:latin typeface="Georgia"/>
                <a:cs typeface="Georgia"/>
              </a:rPr>
              <a:t>using </a:t>
            </a:r>
            <a:r>
              <a:rPr sz="2000" spc="-160" dirty="0">
                <a:solidFill>
                  <a:srgbClr val="006533"/>
                </a:solidFill>
                <a:latin typeface="Georgia"/>
                <a:cs typeface="Georgia"/>
              </a:rPr>
              <a:t>stream</a:t>
            </a:r>
            <a:r>
              <a:rPr sz="2000" spc="-135" dirty="0">
                <a:solidFill>
                  <a:srgbClr val="006533"/>
                </a:solidFill>
                <a:latin typeface="Georgia"/>
                <a:cs typeface="Georgia"/>
              </a:rPr>
              <a:t> </a:t>
            </a:r>
            <a:r>
              <a:rPr sz="2000" spc="-110" dirty="0">
                <a:solidFill>
                  <a:srgbClr val="006533"/>
                </a:solidFill>
                <a:latin typeface="Georgia"/>
                <a:cs typeface="Georgia"/>
              </a:rPr>
              <a:t>socket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3961" y="1187450"/>
            <a:ext cx="8587105" cy="2247900"/>
          </a:xfrm>
          <a:prstGeom prst="rect">
            <a:avLst/>
          </a:prstGeom>
          <a:ln w="22225">
            <a:solidFill>
              <a:srgbClr val="9966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335"/>
              </a:spcBef>
            </a:pPr>
            <a:r>
              <a:rPr sz="1000" spc="-5" dirty="0">
                <a:latin typeface="Courier New"/>
                <a:cs typeface="Courier New"/>
              </a:rPr>
              <a:t>void *ThreadMain(void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</a:t>
            </a:r>
            <a:r>
              <a:rPr sz="1000" b="1" spc="-5" dirty="0">
                <a:solidFill>
                  <a:srgbClr val="CA6800"/>
                </a:solidFill>
                <a:latin typeface="Courier New"/>
                <a:cs typeface="Courier New"/>
              </a:rPr>
              <a:t>threadArgs</a:t>
            </a:r>
            <a:r>
              <a:rPr sz="1000" spc="-5" dirty="0"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  <a:p>
            <a:pPr marL="103505">
              <a:lnSpc>
                <a:spcPct val="100000"/>
              </a:lnSpc>
            </a:pPr>
            <a:r>
              <a:rPr sz="100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408305">
              <a:lnSpc>
                <a:spcPct val="100000"/>
              </a:lnSpc>
              <a:tabLst>
                <a:tab pos="2846070" algn="l"/>
              </a:tabLst>
            </a:pPr>
            <a:r>
              <a:rPr sz="1000" spc="-5" dirty="0">
                <a:latin typeface="Courier New"/>
                <a:cs typeface="Courier New"/>
              </a:rPr>
              <a:t>int</a:t>
            </a:r>
            <a:r>
              <a:rPr sz="1000" spc="5" dirty="0">
                <a:latin typeface="Courier New"/>
                <a:cs typeface="Courier New"/>
              </a:rPr>
              <a:t> </a:t>
            </a:r>
            <a:r>
              <a:rPr sz="1000" b="1" spc="-5" dirty="0">
                <a:solidFill>
                  <a:srgbClr val="CC9A00"/>
                </a:solidFill>
                <a:latin typeface="Courier New"/>
                <a:cs typeface="Courier New"/>
              </a:rPr>
              <a:t>clntSock</a:t>
            </a:r>
            <a:r>
              <a:rPr sz="1000" spc="-5" dirty="0">
                <a:latin typeface="Courier New"/>
                <a:cs typeface="Courier New"/>
              </a:rPr>
              <a:t>;	/* Socket descriptor for client connection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408305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pthread_detach</a:t>
            </a:r>
            <a:r>
              <a:rPr sz="1000" spc="-5" dirty="0">
                <a:latin typeface="Courier New"/>
                <a:cs typeface="Courier New"/>
              </a:rPr>
              <a:t>(</a:t>
            </a:r>
            <a:r>
              <a:rPr sz="1000" b="1" spc="-5" dirty="0">
                <a:latin typeface="Courier New"/>
                <a:cs typeface="Courier New"/>
              </a:rPr>
              <a:t>pthread_self</a:t>
            </a:r>
            <a:r>
              <a:rPr sz="1000" spc="-5" dirty="0">
                <a:latin typeface="Courier New"/>
                <a:cs typeface="Courier New"/>
              </a:rPr>
              <a:t>()); /* Guarantees that thread resources are deallocated upon return</a:t>
            </a:r>
            <a:r>
              <a:rPr sz="1000" spc="2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408305">
              <a:lnSpc>
                <a:spcPct val="100000"/>
              </a:lnSpc>
            </a:pPr>
            <a:r>
              <a:rPr sz="1000" spc="-5" dirty="0">
                <a:latin typeface="Courier New"/>
                <a:cs typeface="Courier New"/>
              </a:rPr>
              <a:t>/* Extract socket file descriptor from argument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408305" marR="3065780">
              <a:lnSpc>
                <a:spcPct val="100000"/>
              </a:lnSpc>
              <a:tabLst>
                <a:tab pos="2769870" algn="l"/>
              </a:tabLst>
            </a:pPr>
            <a:r>
              <a:rPr sz="1000" b="1" spc="-5" dirty="0">
                <a:solidFill>
                  <a:srgbClr val="CC9A00"/>
                </a:solidFill>
                <a:latin typeface="Courier New"/>
                <a:cs typeface="Courier New"/>
              </a:rPr>
              <a:t>clntSock </a:t>
            </a:r>
            <a:r>
              <a:rPr sz="1000" dirty="0">
                <a:latin typeface="Courier New"/>
                <a:cs typeface="Courier New"/>
              </a:rPr>
              <a:t>= </a:t>
            </a:r>
            <a:r>
              <a:rPr sz="1000" spc="-5" dirty="0">
                <a:latin typeface="Courier New"/>
                <a:cs typeface="Courier New"/>
              </a:rPr>
              <a:t>((</a:t>
            </a:r>
            <a:r>
              <a:rPr sz="1000" b="1" spc="-5" dirty="0">
                <a:latin typeface="Courier New"/>
                <a:cs typeface="Courier New"/>
              </a:rPr>
              <a:t>struct ThreadArgs </a:t>
            </a:r>
            <a:r>
              <a:rPr sz="1000" spc="-5" dirty="0">
                <a:latin typeface="Courier New"/>
                <a:cs typeface="Courier New"/>
              </a:rPr>
              <a:t>*) </a:t>
            </a:r>
            <a:r>
              <a:rPr sz="1000" b="1" spc="-5" dirty="0">
                <a:solidFill>
                  <a:srgbClr val="CA6800"/>
                </a:solidFill>
                <a:latin typeface="Courier New"/>
                <a:cs typeface="Courier New"/>
              </a:rPr>
              <a:t>threadArgs</a:t>
            </a:r>
            <a:r>
              <a:rPr sz="1000" spc="-5" dirty="0">
                <a:latin typeface="Courier New"/>
                <a:cs typeface="Courier New"/>
              </a:rPr>
              <a:t>) -&gt; clntSock;  free(</a:t>
            </a:r>
            <a:r>
              <a:rPr sz="1000" b="1" spc="-5" dirty="0">
                <a:solidFill>
                  <a:srgbClr val="CA6800"/>
                </a:solidFill>
                <a:latin typeface="Courier New"/>
                <a:cs typeface="Courier New"/>
              </a:rPr>
              <a:t>threadArgs</a:t>
            </a:r>
            <a:r>
              <a:rPr sz="1000" spc="-5" dirty="0">
                <a:latin typeface="Courier New"/>
                <a:cs typeface="Courier New"/>
              </a:rPr>
              <a:t>);	/* Deallocate memory for argument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408305" marR="6189345">
              <a:lnSpc>
                <a:spcPct val="200000"/>
              </a:lnSpc>
            </a:pPr>
            <a:r>
              <a:rPr sz="1000" b="1" spc="-5" dirty="0">
                <a:latin typeface="Courier New"/>
                <a:cs typeface="Courier New"/>
              </a:rPr>
              <a:t>HandleTCPClient</a:t>
            </a:r>
            <a:r>
              <a:rPr sz="1000" spc="-5" dirty="0">
                <a:latin typeface="Courier New"/>
                <a:cs typeface="Courier New"/>
              </a:rPr>
              <a:t>(</a:t>
            </a:r>
            <a:r>
              <a:rPr sz="1000" b="1" spc="-5" dirty="0">
                <a:solidFill>
                  <a:srgbClr val="CA6800"/>
                </a:solidFill>
                <a:latin typeface="Courier New"/>
                <a:cs typeface="Courier New"/>
              </a:rPr>
              <a:t>clntSock</a:t>
            </a:r>
            <a:r>
              <a:rPr sz="1000" spc="-5" dirty="0">
                <a:latin typeface="Courier New"/>
                <a:cs typeface="Courier New"/>
              </a:rPr>
              <a:t>);  return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(NULL);</a:t>
            </a:r>
            <a:endParaRPr sz="1000">
              <a:latin typeface="Courier New"/>
              <a:cs typeface="Courier New"/>
            </a:endParaRPr>
          </a:p>
          <a:p>
            <a:pPr marL="103505">
              <a:lnSpc>
                <a:spcPct val="100000"/>
              </a:lnSpc>
            </a:pPr>
            <a:r>
              <a:rPr sz="100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28901" y="261873"/>
            <a:ext cx="486029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305" dirty="0"/>
              <a:t>Multitasking </a:t>
            </a:r>
            <a:r>
              <a:rPr sz="3200" spc="-200" dirty="0"/>
              <a:t>-</a:t>
            </a:r>
            <a:r>
              <a:rPr sz="3200" spc="-325" dirty="0"/>
              <a:t> </a:t>
            </a:r>
            <a:r>
              <a:rPr sz="3200" spc="-204" dirty="0"/>
              <a:t>Constrained</a:t>
            </a:r>
            <a:endParaRPr sz="3200"/>
          </a:p>
        </p:txBody>
      </p:sp>
      <p:sp>
        <p:nvSpPr>
          <p:cNvPr id="7" name="object 7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103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453" y="1181582"/>
            <a:ext cx="7059930" cy="443039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4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30" dirty="0">
                <a:latin typeface="Arial"/>
                <a:cs typeface="Arial"/>
              </a:rPr>
              <a:t>Both </a:t>
            </a:r>
            <a:r>
              <a:rPr sz="2200" spc="-150" dirty="0">
                <a:latin typeface="Arial"/>
                <a:cs typeface="Arial"/>
              </a:rPr>
              <a:t>process </a:t>
            </a:r>
            <a:r>
              <a:rPr sz="2200" spc="-100" dirty="0">
                <a:latin typeface="Arial"/>
                <a:cs typeface="Arial"/>
              </a:rPr>
              <a:t>and </a:t>
            </a:r>
            <a:r>
              <a:rPr sz="2200" spc="-50" dirty="0">
                <a:latin typeface="Arial"/>
                <a:cs typeface="Arial"/>
              </a:rPr>
              <a:t>thread </a:t>
            </a:r>
            <a:r>
              <a:rPr sz="2200" spc="-40" dirty="0">
                <a:latin typeface="Arial"/>
                <a:cs typeface="Arial"/>
              </a:rPr>
              <a:t>incurs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b="1" spc="-170" dirty="0">
                <a:solidFill>
                  <a:srgbClr val="9A6500"/>
                </a:solidFill>
                <a:latin typeface="Arial"/>
                <a:cs typeface="Arial"/>
              </a:rPr>
              <a:t>overhead</a:t>
            </a:r>
            <a:endParaRPr sz="22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9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40" dirty="0">
                <a:latin typeface="Arial"/>
                <a:cs typeface="Arial"/>
              </a:rPr>
              <a:t>creation, </a:t>
            </a:r>
            <a:r>
              <a:rPr sz="2000" spc="-55" dirty="0">
                <a:latin typeface="Arial"/>
                <a:cs typeface="Arial"/>
              </a:rPr>
              <a:t>scheduling </a:t>
            </a:r>
            <a:r>
              <a:rPr sz="2000" spc="-90" dirty="0">
                <a:latin typeface="Arial"/>
                <a:cs typeface="Arial"/>
              </a:rPr>
              <a:t>and </a:t>
            </a:r>
            <a:r>
              <a:rPr sz="2000" spc="-30" dirty="0">
                <a:latin typeface="Arial"/>
                <a:cs typeface="Arial"/>
              </a:rPr>
              <a:t>context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switching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110" dirty="0">
                <a:latin typeface="Arial"/>
                <a:cs typeface="Arial"/>
              </a:rPr>
              <a:t>As </a:t>
            </a:r>
            <a:r>
              <a:rPr sz="2200" spc="30" dirty="0">
                <a:latin typeface="Arial"/>
                <a:cs typeface="Arial"/>
              </a:rPr>
              <a:t>their </a:t>
            </a:r>
            <a:r>
              <a:rPr sz="2200" spc="-80" dirty="0">
                <a:latin typeface="Arial"/>
                <a:cs typeface="Arial"/>
              </a:rPr>
              <a:t>numbers</a:t>
            </a:r>
            <a:r>
              <a:rPr sz="2200" spc="-120" dirty="0">
                <a:latin typeface="Arial"/>
                <a:cs typeface="Arial"/>
              </a:rPr>
              <a:t> </a:t>
            </a:r>
            <a:r>
              <a:rPr sz="2200" spc="-135" dirty="0">
                <a:latin typeface="Arial"/>
                <a:cs typeface="Arial"/>
              </a:rPr>
              <a:t>increases</a:t>
            </a:r>
            <a:endParaRPr sz="22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9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15" dirty="0">
                <a:latin typeface="Arial"/>
                <a:cs typeface="Arial"/>
              </a:rPr>
              <a:t>this </a:t>
            </a:r>
            <a:r>
              <a:rPr sz="2000" spc="-85" dirty="0">
                <a:latin typeface="Arial"/>
                <a:cs typeface="Arial"/>
              </a:rPr>
              <a:t>overhead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increases</a:t>
            </a:r>
            <a:endParaRPr sz="20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30" dirty="0">
                <a:latin typeface="Arial"/>
                <a:cs typeface="Arial"/>
              </a:rPr>
              <a:t>after </a:t>
            </a:r>
            <a:r>
              <a:rPr sz="2000" spc="-155" dirty="0">
                <a:latin typeface="Arial"/>
                <a:cs typeface="Arial"/>
              </a:rPr>
              <a:t>some </a:t>
            </a:r>
            <a:r>
              <a:rPr sz="2000" spc="15" dirty="0">
                <a:latin typeface="Arial"/>
                <a:cs typeface="Arial"/>
              </a:rPr>
              <a:t>point </a:t>
            </a:r>
            <a:r>
              <a:rPr sz="2000" spc="110" dirty="0">
                <a:latin typeface="Arial"/>
                <a:cs typeface="Arial"/>
              </a:rPr>
              <a:t>it </a:t>
            </a:r>
            <a:r>
              <a:rPr sz="2000" spc="5" dirty="0">
                <a:latin typeface="Arial"/>
                <a:cs typeface="Arial"/>
              </a:rPr>
              <a:t>would </a:t>
            </a:r>
            <a:r>
              <a:rPr sz="2000" spc="-130" dirty="0">
                <a:latin typeface="Arial"/>
                <a:cs typeface="Arial"/>
              </a:rPr>
              <a:t>be </a:t>
            </a:r>
            <a:r>
              <a:rPr sz="2000" spc="-25" dirty="0">
                <a:latin typeface="Arial"/>
                <a:cs typeface="Arial"/>
              </a:rPr>
              <a:t>better </a:t>
            </a:r>
            <a:r>
              <a:rPr sz="2000" spc="100" dirty="0">
                <a:latin typeface="Arial"/>
                <a:cs typeface="Arial"/>
              </a:rPr>
              <a:t>if </a:t>
            </a:r>
            <a:r>
              <a:rPr sz="2000" spc="-229" dirty="0">
                <a:latin typeface="Arial"/>
                <a:cs typeface="Arial"/>
              </a:rPr>
              <a:t>a </a:t>
            </a:r>
            <a:r>
              <a:rPr sz="2000" spc="10" dirty="0">
                <a:latin typeface="Arial"/>
                <a:cs typeface="Arial"/>
              </a:rPr>
              <a:t>client </a:t>
            </a:r>
            <a:r>
              <a:rPr sz="2000" spc="-140" dirty="0">
                <a:latin typeface="Arial"/>
                <a:cs typeface="Arial"/>
              </a:rPr>
              <a:t>was</a:t>
            </a:r>
            <a:r>
              <a:rPr sz="2000" spc="-33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blocked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2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40" dirty="0">
                <a:latin typeface="Arial"/>
                <a:cs typeface="Arial"/>
              </a:rPr>
              <a:t>Solution: </a:t>
            </a:r>
            <a:r>
              <a:rPr sz="2200" b="1" spc="-160" dirty="0">
                <a:solidFill>
                  <a:srgbClr val="CA6800"/>
                </a:solidFill>
                <a:latin typeface="Arial"/>
                <a:cs typeface="Arial"/>
              </a:rPr>
              <a:t>Constrained </a:t>
            </a:r>
            <a:r>
              <a:rPr sz="2200" b="1" spc="-120" dirty="0">
                <a:solidFill>
                  <a:srgbClr val="CA6800"/>
                </a:solidFill>
                <a:latin typeface="Arial"/>
                <a:cs typeface="Arial"/>
              </a:rPr>
              <a:t>multitasking</a:t>
            </a:r>
            <a:r>
              <a:rPr sz="2200" spc="-120" dirty="0">
                <a:latin typeface="Arial"/>
                <a:cs typeface="Arial"/>
              </a:rPr>
              <a:t>. </a:t>
            </a:r>
            <a:r>
              <a:rPr sz="2200" spc="-70" dirty="0">
                <a:latin typeface="Arial"/>
                <a:cs typeface="Arial"/>
              </a:rPr>
              <a:t>The</a:t>
            </a:r>
            <a:r>
              <a:rPr sz="2200" spc="25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server:</a:t>
            </a:r>
            <a:endParaRPr sz="24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52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90" dirty="0">
                <a:latin typeface="Arial"/>
                <a:cs typeface="Arial"/>
              </a:rPr>
              <a:t>begins, </a:t>
            </a:r>
            <a:r>
              <a:rPr sz="2000" spc="-45" dirty="0">
                <a:latin typeface="Arial"/>
                <a:cs typeface="Arial"/>
              </a:rPr>
              <a:t>creating, </a:t>
            </a:r>
            <a:r>
              <a:rPr sz="2000" dirty="0">
                <a:latin typeface="Arial"/>
                <a:cs typeface="Arial"/>
              </a:rPr>
              <a:t>binding </a:t>
            </a:r>
            <a:r>
              <a:rPr sz="2000" spc="-90" dirty="0">
                <a:latin typeface="Arial"/>
                <a:cs typeface="Arial"/>
              </a:rPr>
              <a:t>and </a:t>
            </a:r>
            <a:r>
              <a:rPr sz="2000" spc="-15" dirty="0">
                <a:latin typeface="Arial"/>
                <a:cs typeface="Arial"/>
              </a:rPr>
              <a:t>listening </a:t>
            </a:r>
            <a:r>
              <a:rPr sz="2000" dirty="0">
                <a:latin typeface="Arial"/>
                <a:cs typeface="Arial"/>
              </a:rPr>
              <a:t>to </a:t>
            </a:r>
            <a:r>
              <a:rPr sz="2000" spc="-229" dirty="0">
                <a:latin typeface="Arial"/>
                <a:cs typeface="Arial"/>
              </a:rPr>
              <a:t>a</a:t>
            </a:r>
            <a:r>
              <a:rPr sz="2000" spc="-15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681990" marR="508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120" dirty="0">
                <a:latin typeface="Arial"/>
                <a:cs typeface="Arial"/>
              </a:rPr>
              <a:t>creates </a:t>
            </a:r>
            <a:r>
              <a:rPr sz="2000" spc="-229" dirty="0">
                <a:latin typeface="Arial"/>
                <a:cs typeface="Arial"/>
              </a:rPr>
              <a:t>a </a:t>
            </a:r>
            <a:r>
              <a:rPr sz="2000" spc="-40" dirty="0">
                <a:latin typeface="Arial"/>
                <a:cs typeface="Arial"/>
              </a:rPr>
              <a:t>number </a:t>
            </a:r>
            <a:r>
              <a:rPr sz="2000" spc="-15" dirty="0">
                <a:latin typeface="Arial"/>
                <a:cs typeface="Arial"/>
              </a:rPr>
              <a:t>of </a:t>
            </a:r>
            <a:r>
              <a:rPr sz="2000" spc="-155" dirty="0">
                <a:latin typeface="Arial"/>
                <a:cs typeface="Arial"/>
              </a:rPr>
              <a:t>processes, </a:t>
            </a:r>
            <a:r>
              <a:rPr sz="2000" spc="-130" dirty="0">
                <a:latin typeface="Arial"/>
                <a:cs typeface="Arial"/>
              </a:rPr>
              <a:t>each </a:t>
            </a:r>
            <a:r>
              <a:rPr sz="2000" spc="-90" dirty="0">
                <a:latin typeface="Arial"/>
                <a:cs typeface="Arial"/>
              </a:rPr>
              <a:t>loops </a:t>
            </a:r>
            <a:r>
              <a:rPr sz="2000" spc="-35" dirty="0">
                <a:latin typeface="Arial"/>
                <a:cs typeface="Arial"/>
              </a:rPr>
              <a:t>forever </a:t>
            </a:r>
            <a:r>
              <a:rPr sz="2000" spc="-95" dirty="0">
                <a:latin typeface="Arial"/>
                <a:cs typeface="Arial"/>
              </a:rPr>
              <a:t>and </a:t>
            </a:r>
            <a:r>
              <a:rPr sz="2000" spc="-110" dirty="0">
                <a:latin typeface="Arial"/>
                <a:cs typeface="Arial"/>
              </a:rPr>
              <a:t>accept  </a:t>
            </a:r>
            <a:r>
              <a:rPr sz="2000" spc="-60" dirty="0">
                <a:latin typeface="Arial"/>
                <a:cs typeface="Arial"/>
              </a:rPr>
              <a:t>connections </a:t>
            </a:r>
            <a:r>
              <a:rPr sz="2000" spc="10" dirty="0">
                <a:latin typeface="Arial"/>
                <a:cs typeface="Arial"/>
              </a:rPr>
              <a:t>from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185" dirty="0">
                <a:latin typeface="Arial"/>
                <a:cs typeface="Arial"/>
              </a:rPr>
              <a:t>same</a:t>
            </a:r>
            <a:r>
              <a:rPr sz="2000" spc="-17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8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15" dirty="0">
                <a:latin typeface="Arial"/>
                <a:cs typeface="Arial"/>
              </a:rPr>
              <a:t>when </a:t>
            </a:r>
            <a:r>
              <a:rPr sz="2000" spc="-229" dirty="0">
                <a:latin typeface="Arial"/>
                <a:cs typeface="Arial"/>
              </a:rPr>
              <a:t>a </a:t>
            </a:r>
            <a:r>
              <a:rPr sz="2000" spc="-35" dirty="0">
                <a:latin typeface="Arial"/>
                <a:cs typeface="Arial"/>
              </a:rPr>
              <a:t>connection </a:t>
            </a:r>
            <a:r>
              <a:rPr sz="2000" spc="-85" dirty="0">
                <a:latin typeface="Arial"/>
                <a:cs typeface="Arial"/>
              </a:rPr>
              <a:t>is</a:t>
            </a:r>
            <a:r>
              <a:rPr sz="2000" spc="-27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established</a:t>
            </a:r>
            <a:endParaRPr sz="2000">
              <a:latin typeface="Arial"/>
              <a:cs typeface="Arial"/>
            </a:endParaRPr>
          </a:p>
          <a:p>
            <a:pPr marL="1035050" lvl="2" indent="-351155">
              <a:lnSpc>
                <a:spcPct val="100000"/>
              </a:lnSpc>
              <a:spcBef>
                <a:spcPts val="450"/>
              </a:spcBef>
              <a:buClr>
                <a:srgbClr val="9A6500"/>
              </a:buClr>
              <a:buSzPct val="66666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10" dirty="0">
                <a:latin typeface="Arial"/>
                <a:cs typeface="Arial"/>
              </a:rPr>
              <a:t>client </a:t>
            </a:r>
            <a:r>
              <a:rPr sz="1800" spc="-80" dirty="0">
                <a:latin typeface="Arial"/>
                <a:cs typeface="Arial"/>
              </a:rPr>
              <a:t>socket </a:t>
            </a:r>
            <a:r>
              <a:rPr sz="1800" spc="-35" dirty="0">
                <a:latin typeface="Arial"/>
                <a:cs typeface="Arial"/>
              </a:rPr>
              <a:t>descriptor </a:t>
            </a:r>
            <a:r>
              <a:rPr sz="1800" spc="-75" dirty="0">
                <a:latin typeface="Arial"/>
                <a:cs typeface="Arial"/>
              </a:rPr>
              <a:t>is </a:t>
            </a:r>
            <a:r>
              <a:rPr sz="1800" spc="-20" dirty="0">
                <a:latin typeface="Arial"/>
                <a:cs typeface="Arial"/>
              </a:rPr>
              <a:t>returned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15" dirty="0">
                <a:latin typeface="Arial"/>
                <a:cs typeface="Arial"/>
              </a:rPr>
              <a:t>only </a:t>
            </a:r>
            <a:r>
              <a:rPr sz="1800" spc="-85" dirty="0">
                <a:latin typeface="Arial"/>
                <a:cs typeface="Arial"/>
              </a:rPr>
              <a:t>one</a:t>
            </a:r>
            <a:r>
              <a:rPr sz="1800" spc="-254" dirty="0">
                <a:latin typeface="Arial"/>
                <a:cs typeface="Arial"/>
              </a:rPr>
              <a:t> </a:t>
            </a:r>
            <a:r>
              <a:rPr sz="1800" spc="-125" dirty="0">
                <a:latin typeface="Arial"/>
                <a:cs typeface="Arial"/>
              </a:rPr>
              <a:t>process</a:t>
            </a:r>
            <a:endParaRPr sz="1800">
              <a:latin typeface="Arial"/>
              <a:cs typeface="Arial"/>
            </a:endParaRPr>
          </a:p>
          <a:p>
            <a:pPr marL="1035050" lvl="2" indent="-351155">
              <a:lnSpc>
                <a:spcPct val="100000"/>
              </a:lnSpc>
              <a:spcBef>
                <a:spcPts val="440"/>
              </a:spcBef>
              <a:buClr>
                <a:srgbClr val="9A6500"/>
              </a:buClr>
              <a:buSzPct val="66666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15" dirty="0">
                <a:latin typeface="Arial"/>
                <a:cs typeface="Arial"/>
              </a:rPr>
              <a:t>other </a:t>
            </a:r>
            <a:r>
              <a:rPr sz="1800" spc="-30" dirty="0">
                <a:latin typeface="Arial"/>
                <a:cs typeface="Arial"/>
              </a:rPr>
              <a:t>remain</a:t>
            </a:r>
            <a:r>
              <a:rPr sz="1800" spc="-12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blocked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8970" y="25654"/>
            <a:ext cx="373887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235" dirty="0"/>
              <a:t>Multitasking </a:t>
            </a:r>
            <a:r>
              <a:rPr sz="3200" spc="-200" dirty="0"/>
              <a:t>-</a:t>
            </a:r>
            <a:r>
              <a:rPr sz="3200" spc="-229" dirty="0"/>
              <a:t> </a:t>
            </a:r>
            <a:r>
              <a:rPr sz="2400" spc="-160" dirty="0"/>
              <a:t>Constrained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353961" y="872744"/>
            <a:ext cx="8587105" cy="5448300"/>
          </a:xfrm>
          <a:custGeom>
            <a:avLst/>
            <a:gdLst/>
            <a:ahLst/>
            <a:cxnLst/>
            <a:rect l="l" t="t" r="r" b="b"/>
            <a:pathLst>
              <a:path w="8587105" h="5448300">
                <a:moveTo>
                  <a:pt x="0" y="0"/>
                </a:moveTo>
                <a:lnTo>
                  <a:pt x="0" y="5448300"/>
                </a:lnTo>
                <a:lnTo>
                  <a:pt x="8586978" y="5448300"/>
                </a:lnTo>
                <a:lnTo>
                  <a:pt x="8586978" y="0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4887" y="376008"/>
            <a:ext cx="5934075" cy="704850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311400">
              <a:lnSpc>
                <a:spcPct val="100000"/>
              </a:lnSpc>
              <a:spcBef>
                <a:spcPts val="1260"/>
              </a:spcBef>
            </a:pPr>
            <a:r>
              <a:rPr sz="2000" spc="-125" dirty="0">
                <a:solidFill>
                  <a:srgbClr val="006533"/>
                </a:solidFill>
                <a:latin typeface="Georgia"/>
                <a:cs typeface="Georgia"/>
              </a:rPr>
              <a:t>- </a:t>
            </a:r>
            <a:r>
              <a:rPr sz="2000" spc="-135" dirty="0">
                <a:solidFill>
                  <a:srgbClr val="006533"/>
                </a:solidFill>
                <a:latin typeface="Georgia"/>
                <a:cs typeface="Georgia"/>
              </a:rPr>
              <a:t>Example: </a:t>
            </a:r>
            <a:r>
              <a:rPr sz="2000" spc="-100" dirty="0">
                <a:solidFill>
                  <a:srgbClr val="006533"/>
                </a:solidFill>
                <a:latin typeface="Georgia"/>
                <a:cs typeface="Georgia"/>
              </a:rPr>
              <a:t>echo </a:t>
            </a:r>
            <a:r>
              <a:rPr sz="2000" spc="-145" dirty="0">
                <a:solidFill>
                  <a:srgbClr val="006533"/>
                </a:solidFill>
                <a:latin typeface="Georgia"/>
                <a:cs typeface="Georgia"/>
              </a:rPr>
              <a:t>using </a:t>
            </a:r>
            <a:r>
              <a:rPr sz="2000" spc="-160" dirty="0">
                <a:solidFill>
                  <a:srgbClr val="006533"/>
                </a:solidFill>
                <a:latin typeface="Georgia"/>
                <a:cs typeface="Georgia"/>
              </a:rPr>
              <a:t>stream</a:t>
            </a:r>
            <a:r>
              <a:rPr sz="2000" spc="-135" dirty="0">
                <a:solidFill>
                  <a:srgbClr val="006533"/>
                </a:solidFill>
                <a:latin typeface="Georgia"/>
                <a:cs typeface="Georgia"/>
              </a:rPr>
              <a:t> </a:t>
            </a:r>
            <a:r>
              <a:rPr sz="2000" spc="-110" dirty="0">
                <a:solidFill>
                  <a:srgbClr val="006533"/>
                </a:solidFill>
                <a:latin typeface="Georgia"/>
                <a:cs typeface="Georgia"/>
              </a:rPr>
              <a:t>socket</a:t>
            </a:r>
            <a:endParaRPr sz="2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  <a:tabLst>
                <a:tab pos="2831465" algn="l"/>
              </a:tabLst>
            </a:pPr>
            <a:r>
              <a:rPr sz="1000" b="1" spc="-5" dirty="0">
                <a:latin typeface="Courier New"/>
                <a:cs typeface="Courier New"/>
              </a:rPr>
              <a:t>void</a:t>
            </a:r>
            <a:r>
              <a:rPr sz="1000" b="1" spc="1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ProcessMain(int</a:t>
            </a:r>
            <a:r>
              <a:rPr sz="1000" b="1" spc="1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servSock);	/* Main program of process</a:t>
            </a:r>
            <a:r>
              <a:rPr sz="1000" b="1" spc="-2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104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887" y="1207516"/>
            <a:ext cx="261620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5080" indent="-3048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Courier New"/>
                <a:cs typeface="Courier New"/>
              </a:rPr>
              <a:t>int main(int argc, char *argv[]) </a:t>
            </a:r>
            <a:r>
              <a:rPr sz="1000" b="1" dirty="0">
                <a:latin typeface="Courier New"/>
                <a:cs typeface="Courier New"/>
              </a:rPr>
              <a:t>{  </a:t>
            </a:r>
            <a:r>
              <a:rPr sz="1000" b="1" spc="-5" dirty="0">
                <a:latin typeface="Courier New"/>
                <a:cs typeface="Courier New"/>
              </a:rPr>
              <a:t>int</a:t>
            </a:r>
            <a:r>
              <a:rPr sz="1000" b="1" spc="-1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servSock;</a:t>
            </a:r>
            <a:endParaRPr sz="1000">
              <a:latin typeface="Courier New"/>
              <a:cs typeface="Courier New"/>
            </a:endParaRPr>
          </a:p>
          <a:p>
            <a:pPr marL="316865" marR="157480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unsigned short echoServPort;  pid_t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processID;</a:t>
            </a:r>
            <a:endParaRPr sz="1000">
              <a:latin typeface="Courier New"/>
              <a:cs typeface="Courier New"/>
            </a:endParaRPr>
          </a:p>
          <a:p>
            <a:pPr marL="316865" marR="309245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unsigned int </a:t>
            </a:r>
            <a:r>
              <a:rPr sz="1000" b="1" spc="-5" dirty="0">
                <a:solidFill>
                  <a:srgbClr val="A50021"/>
                </a:solidFill>
                <a:latin typeface="Courier New"/>
                <a:cs typeface="Courier New"/>
              </a:rPr>
              <a:t>processLimit</a:t>
            </a:r>
            <a:r>
              <a:rPr sz="1000" b="1" spc="-5" dirty="0">
                <a:latin typeface="Courier New"/>
                <a:cs typeface="Courier New"/>
              </a:rPr>
              <a:t>;  unsigned int</a:t>
            </a:r>
            <a:r>
              <a:rPr sz="1000" b="1" spc="-30" dirty="0">
                <a:latin typeface="Courier New"/>
                <a:cs typeface="Courier New"/>
              </a:rPr>
              <a:t> </a:t>
            </a:r>
            <a:r>
              <a:rPr sz="1000" b="1" spc="-5" dirty="0">
                <a:solidFill>
                  <a:srgbClr val="CA6800"/>
                </a:solidFill>
                <a:latin typeface="Courier New"/>
                <a:cs typeface="Courier New"/>
              </a:rPr>
              <a:t>processCt</a:t>
            </a:r>
            <a:r>
              <a:rPr sz="1000" b="1" spc="-5" dirty="0">
                <a:latin typeface="Courier New"/>
                <a:cs typeface="Courier New"/>
              </a:rPr>
              <a:t>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63851" y="1359916"/>
            <a:ext cx="3149600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Courier New"/>
                <a:cs typeface="Courier New"/>
              </a:rPr>
              <a:t>/* Socket descriptor for</a:t>
            </a:r>
            <a:r>
              <a:rPr sz="1000" b="1" spc="-2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server*/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/* Server port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/* Process ID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/* Number of child processes to create</a:t>
            </a:r>
            <a:r>
              <a:rPr sz="1000" b="1" spc="-3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/* Process counter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9655" y="2274316"/>
            <a:ext cx="573976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309880" indent="-304800">
              <a:lnSpc>
                <a:spcPct val="100000"/>
              </a:lnSpc>
              <a:spcBef>
                <a:spcPts val="100"/>
              </a:spcBef>
              <a:tabLst>
                <a:tab pos="1612265" algn="l"/>
                <a:tab pos="2145665" algn="l"/>
              </a:tabLst>
            </a:pPr>
            <a:r>
              <a:rPr sz="1000" b="1" spc="-5" dirty="0">
                <a:latin typeface="Courier New"/>
                <a:cs typeface="Courier New"/>
              </a:rPr>
              <a:t>if (argc !=</a:t>
            </a:r>
            <a:r>
              <a:rPr sz="1000" b="1" spc="1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3)</a:t>
            </a:r>
            <a:r>
              <a:rPr sz="1000" b="1" dirty="0">
                <a:latin typeface="Courier New"/>
                <a:cs typeface="Courier New"/>
              </a:rPr>
              <a:t> {	</a:t>
            </a:r>
            <a:r>
              <a:rPr sz="1000" b="1" spc="-5" dirty="0">
                <a:latin typeface="Courier New"/>
                <a:cs typeface="Courier New"/>
              </a:rPr>
              <a:t>/* Test for correct number of arguments */  fprintf(stderr,"Usage:	%s &lt;SERVER PORT&gt; &lt;FORK LIMIT&gt;\n", argv[0]);  exit(1);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b="1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374265" algn="l"/>
              </a:tabLst>
            </a:pPr>
            <a:r>
              <a:rPr sz="1000" b="1" spc="-5" dirty="0">
                <a:latin typeface="Courier New"/>
                <a:cs typeface="Courier New"/>
              </a:rPr>
              <a:t>echoServPort</a:t>
            </a:r>
            <a:r>
              <a:rPr sz="1000" b="1" spc="5" dirty="0"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=</a:t>
            </a:r>
            <a:r>
              <a:rPr sz="1000" b="1" spc="1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atoi(argv[1]);	/* First arg: local port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tabLst>
                <a:tab pos="2374265" algn="l"/>
                <a:tab pos="3593465" algn="l"/>
              </a:tabLst>
            </a:pPr>
            <a:r>
              <a:rPr sz="1000" b="1" spc="-5" dirty="0">
                <a:solidFill>
                  <a:srgbClr val="A50021"/>
                </a:solidFill>
                <a:latin typeface="Courier New"/>
                <a:cs typeface="Courier New"/>
              </a:rPr>
              <a:t>processLimit</a:t>
            </a:r>
            <a:r>
              <a:rPr sz="1000" b="1" spc="5" dirty="0">
                <a:solidFill>
                  <a:srgbClr val="A50021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=</a:t>
            </a:r>
            <a:r>
              <a:rPr sz="1000" b="1" spc="1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atoi(argv[2]);	/*</a:t>
            </a:r>
            <a:r>
              <a:rPr sz="1000" b="1" spc="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Second</a:t>
            </a:r>
            <a:r>
              <a:rPr sz="1000" b="1" spc="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arg:	number of child processes</a:t>
            </a:r>
            <a:r>
              <a:rPr sz="1000" b="1" spc="-5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servSock </a:t>
            </a:r>
            <a:r>
              <a:rPr sz="1000" b="1" dirty="0">
                <a:latin typeface="Courier New"/>
                <a:cs typeface="Courier New"/>
              </a:rPr>
              <a:t>=</a:t>
            </a:r>
            <a:r>
              <a:rPr sz="1000" b="1" spc="-1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CreateTCPServerSocket(echoServPort);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9655" y="3798303"/>
            <a:ext cx="490156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Courier New"/>
                <a:cs typeface="Courier New"/>
              </a:rPr>
              <a:t>for (</a:t>
            </a:r>
            <a:r>
              <a:rPr sz="1000" b="1" spc="-5" dirty="0">
                <a:solidFill>
                  <a:srgbClr val="CA6800"/>
                </a:solidFill>
                <a:latin typeface="Courier New"/>
                <a:cs typeface="Courier New"/>
              </a:rPr>
              <a:t>processCt</a:t>
            </a:r>
            <a:r>
              <a:rPr sz="1000" b="1" spc="-5" dirty="0">
                <a:latin typeface="Courier New"/>
                <a:cs typeface="Courier New"/>
              </a:rPr>
              <a:t>=0; </a:t>
            </a:r>
            <a:r>
              <a:rPr sz="1000" b="1" spc="-5" dirty="0">
                <a:solidFill>
                  <a:srgbClr val="CA6800"/>
                </a:solidFill>
                <a:latin typeface="Courier New"/>
                <a:cs typeface="Courier New"/>
              </a:rPr>
              <a:t>processCt </a:t>
            </a:r>
            <a:r>
              <a:rPr sz="1000" b="1" dirty="0">
                <a:latin typeface="Courier New"/>
                <a:cs typeface="Courier New"/>
              </a:rPr>
              <a:t>&lt; </a:t>
            </a:r>
            <a:r>
              <a:rPr sz="1000" b="1" spc="-5" dirty="0">
                <a:solidFill>
                  <a:srgbClr val="A50021"/>
                </a:solidFill>
                <a:latin typeface="Courier New"/>
                <a:cs typeface="Courier New"/>
              </a:rPr>
              <a:t>processLimit</a:t>
            </a:r>
            <a:r>
              <a:rPr sz="1000" b="1" spc="-5" dirty="0">
                <a:latin typeface="Courier New"/>
                <a:cs typeface="Courier New"/>
              </a:rPr>
              <a:t>;</a:t>
            </a:r>
            <a:r>
              <a:rPr sz="1000" b="1" spc="-20" dirty="0">
                <a:latin typeface="Courier New"/>
                <a:cs typeface="Courier New"/>
              </a:rPr>
              <a:t> </a:t>
            </a:r>
            <a:r>
              <a:rPr sz="1000" b="1" spc="-5" dirty="0">
                <a:solidFill>
                  <a:srgbClr val="CA6800"/>
                </a:solidFill>
                <a:latin typeface="Courier New"/>
                <a:cs typeface="Courier New"/>
              </a:rPr>
              <a:t>processCt</a:t>
            </a:r>
            <a:r>
              <a:rPr sz="1000" b="1" spc="-5" dirty="0">
                <a:latin typeface="Courier New"/>
                <a:cs typeface="Courier New"/>
              </a:rPr>
              <a:t>++)</a:t>
            </a:r>
            <a:endParaRPr sz="1000">
              <a:latin typeface="Courier New"/>
              <a:cs typeface="Courier New"/>
            </a:endParaRPr>
          </a:p>
          <a:p>
            <a:pPr marL="316865" marR="5080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if ((processID </a:t>
            </a:r>
            <a:r>
              <a:rPr sz="1000" b="1" dirty="0">
                <a:latin typeface="Courier New"/>
                <a:cs typeface="Courier New"/>
              </a:rPr>
              <a:t>= </a:t>
            </a:r>
            <a:r>
              <a:rPr sz="1000" b="1" spc="-5" dirty="0">
                <a:latin typeface="Courier New"/>
                <a:cs typeface="Courier New"/>
              </a:rPr>
              <a:t>fork()) </a:t>
            </a:r>
            <a:r>
              <a:rPr sz="1000" b="1" dirty="0">
                <a:latin typeface="Courier New"/>
                <a:cs typeface="Courier New"/>
              </a:rPr>
              <a:t>&lt; </a:t>
            </a:r>
            <a:r>
              <a:rPr sz="1000" b="1" spc="-5" dirty="0">
                <a:latin typeface="Courier New"/>
                <a:cs typeface="Courier New"/>
              </a:rPr>
              <a:t>0) DieWithError("fork() failed");  else if (processID == 0)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ProcessMain(servSock);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30434" y="3950703"/>
            <a:ext cx="26162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Courier New"/>
                <a:cs typeface="Courier New"/>
              </a:rPr>
              <a:t>/* Fork child process</a:t>
            </a:r>
            <a:r>
              <a:rPr sz="1000" b="1" spc="-2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/* If this is the child process</a:t>
            </a:r>
            <a:r>
              <a:rPr sz="1000" b="1" spc="-4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4849" y="4407903"/>
            <a:ext cx="824230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>
              <a:lnSpc>
                <a:spcPct val="100000"/>
              </a:lnSpc>
              <a:spcBef>
                <a:spcPts val="100"/>
              </a:spcBef>
              <a:tabLst>
                <a:tab pos="1078865" algn="l"/>
              </a:tabLst>
            </a:pPr>
            <a:r>
              <a:rPr sz="1000" b="1" spc="-5" dirty="0">
                <a:latin typeface="Courier New"/>
                <a:cs typeface="Courier New"/>
              </a:rPr>
              <a:t>exit(0);	/* The children will carry on</a:t>
            </a:r>
            <a:r>
              <a:rPr sz="1000" b="1" spc="-1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b="1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void ProcessMain(int servSock)</a:t>
            </a:r>
            <a:r>
              <a:rPr sz="1000" b="1" spc="-10" dirty="0"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316865">
              <a:lnSpc>
                <a:spcPct val="100000"/>
              </a:lnSpc>
              <a:tabLst>
                <a:tab pos="2679065" algn="l"/>
              </a:tabLst>
            </a:pPr>
            <a:r>
              <a:rPr sz="1000" b="1" spc="-5" dirty="0">
                <a:latin typeface="Courier New"/>
                <a:cs typeface="Courier New"/>
              </a:rPr>
              <a:t>int</a:t>
            </a:r>
            <a:r>
              <a:rPr sz="1000" b="1" spc="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clntSock;	/* Socket descriptor for client connection</a:t>
            </a:r>
            <a:r>
              <a:rPr sz="1000" b="1" spc="-1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316865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for (;;) </a:t>
            </a:r>
            <a:r>
              <a:rPr sz="1000" b="1" dirty="0">
                <a:latin typeface="Courier New"/>
                <a:cs typeface="Courier New"/>
              </a:rPr>
              <a:t>{ </a:t>
            </a:r>
            <a:r>
              <a:rPr sz="1000" b="1" spc="-5" dirty="0">
                <a:latin typeface="Courier New"/>
                <a:cs typeface="Courier New"/>
              </a:rPr>
              <a:t>/* Run forever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621665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clntSock </a:t>
            </a:r>
            <a:r>
              <a:rPr sz="1000" b="1" dirty="0">
                <a:latin typeface="Courier New"/>
                <a:cs typeface="Courier New"/>
              </a:rPr>
              <a:t>=</a:t>
            </a:r>
            <a:r>
              <a:rPr sz="1000" b="1" spc="-1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AcceptTCPConnection(servSock);</a:t>
            </a:r>
            <a:endParaRPr sz="1000">
              <a:latin typeface="Courier New"/>
              <a:cs typeface="Courier New"/>
            </a:endParaRPr>
          </a:p>
          <a:p>
            <a:pPr marL="621665" marR="3040380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printf("with child process: %d\n", (unsigned int) getpid());  HandleTCPClient(clntSock);</a:t>
            </a:r>
            <a:endParaRPr sz="1000">
              <a:latin typeface="Courier New"/>
              <a:cs typeface="Courier New"/>
            </a:endParaRPr>
          </a:p>
          <a:p>
            <a:pPr marL="316865">
              <a:lnSpc>
                <a:spcPct val="100000"/>
              </a:lnSpc>
            </a:pPr>
            <a:r>
              <a:rPr sz="1000" b="1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tabLst>
                <a:tab pos="8228965" algn="l"/>
              </a:tabLst>
            </a:pPr>
            <a:r>
              <a:rPr sz="1000" b="1" strike="sngStrike" dirty="0">
                <a:latin typeface="Courier New"/>
                <a:cs typeface="Courier New"/>
              </a:rPr>
              <a:t>}	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46767" y="261873"/>
            <a:ext cx="262191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85" dirty="0"/>
              <a:t>Multiplexing</a:t>
            </a:r>
            <a:endParaRPr sz="4200"/>
          </a:p>
        </p:txBody>
      </p:sp>
      <p:sp>
        <p:nvSpPr>
          <p:cNvPr id="7" name="object 7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105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453" y="1184960"/>
            <a:ext cx="8045450" cy="412559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2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260" dirty="0">
                <a:latin typeface="Arial"/>
                <a:cs typeface="Arial"/>
              </a:rPr>
              <a:t>So </a:t>
            </a:r>
            <a:r>
              <a:rPr sz="2200" spc="-35" dirty="0">
                <a:latin typeface="Arial"/>
                <a:cs typeface="Arial"/>
              </a:rPr>
              <a:t>far, </a:t>
            </a:r>
            <a:r>
              <a:rPr sz="2200" spc="-55" dirty="0">
                <a:latin typeface="Arial"/>
                <a:cs typeface="Arial"/>
              </a:rPr>
              <a:t>we </a:t>
            </a:r>
            <a:r>
              <a:rPr sz="2200" spc="-110" dirty="0">
                <a:latin typeface="Arial"/>
                <a:cs typeface="Arial"/>
              </a:rPr>
              <a:t>have </a:t>
            </a:r>
            <a:r>
              <a:rPr sz="2200" spc="-60" dirty="0">
                <a:latin typeface="Arial"/>
                <a:cs typeface="Arial"/>
              </a:rPr>
              <a:t>dealt </a:t>
            </a:r>
            <a:r>
              <a:rPr sz="2200" spc="95" dirty="0">
                <a:latin typeface="Arial"/>
                <a:cs typeface="Arial"/>
              </a:rPr>
              <a:t>with </a:t>
            </a:r>
            <a:r>
              <a:rPr sz="2200" spc="-250" dirty="0">
                <a:latin typeface="Arial"/>
                <a:cs typeface="Arial"/>
              </a:rPr>
              <a:t>a </a:t>
            </a:r>
            <a:r>
              <a:rPr sz="2200" b="1" spc="-170" dirty="0">
                <a:solidFill>
                  <a:srgbClr val="9A6500"/>
                </a:solidFill>
                <a:latin typeface="Arial"/>
                <a:cs typeface="Arial"/>
              </a:rPr>
              <a:t>single </a:t>
            </a:r>
            <a:r>
              <a:rPr sz="2200" spc="60" dirty="0">
                <a:latin typeface="Arial"/>
                <a:cs typeface="Arial"/>
              </a:rPr>
              <a:t>I/O</a:t>
            </a:r>
            <a:r>
              <a:rPr sz="2200" spc="-110" dirty="0">
                <a:latin typeface="Arial"/>
                <a:cs typeface="Arial"/>
              </a:rPr>
              <a:t> </a:t>
            </a:r>
            <a:r>
              <a:rPr sz="2200" spc="-60" dirty="0">
                <a:latin typeface="Arial"/>
                <a:cs typeface="Arial"/>
              </a:rPr>
              <a:t>channel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2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10" dirty="0">
                <a:latin typeface="Arial"/>
                <a:cs typeface="Arial"/>
              </a:rPr>
              <a:t>We </a:t>
            </a:r>
            <a:r>
              <a:rPr sz="2200" spc="-85" dirty="0">
                <a:latin typeface="Arial"/>
                <a:cs typeface="Arial"/>
              </a:rPr>
              <a:t>may </a:t>
            </a:r>
            <a:r>
              <a:rPr sz="2200" spc="-120" dirty="0">
                <a:latin typeface="Arial"/>
                <a:cs typeface="Arial"/>
              </a:rPr>
              <a:t>need </a:t>
            </a:r>
            <a:r>
              <a:rPr sz="2200" dirty="0">
                <a:latin typeface="Arial"/>
                <a:cs typeface="Arial"/>
              </a:rPr>
              <a:t>to </a:t>
            </a:r>
            <a:r>
              <a:rPr sz="2200" spc="-135" dirty="0">
                <a:latin typeface="Arial"/>
                <a:cs typeface="Arial"/>
              </a:rPr>
              <a:t>cope </a:t>
            </a:r>
            <a:r>
              <a:rPr sz="2200" spc="95" dirty="0">
                <a:latin typeface="Arial"/>
                <a:cs typeface="Arial"/>
              </a:rPr>
              <a:t>with </a:t>
            </a:r>
            <a:r>
              <a:rPr sz="2200" b="1" spc="-90" dirty="0">
                <a:solidFill>
                  <a:srgbClr val="CC9A00"/>
                </a:solidFill>
                <a:latin typeface="Arial"/>
                <a:cs typeface="Arial"/>
              </a:rPr>
              <a:t>multiple </a:t>
            </a:r>
            <a:r>
              <a:rPr sz="2200" spc="60" dirty="0">
                <a:latin typeface="Arial"/>
                <a:cs typeface="Arial"/>
              </a:rPr>
              <a:t>I/O</a:t>
            </a:r>
            <a:r>
              <a:rPr sz="2200" spc="-200" dirty="0">
                <a:latin typeface="Arial"/>
                <a:cs typeface="Arial"/>
              </a:rPr>
              <a:t> </a:t>
            </a:r>
            <a:r>
              <a:rPr sz="2200" spc="-90" dirty="0">
                <a:latin typeface="Arial"/>
                <a:cs typeface="Arial"/>
              </a:rPr>
              <a:t>channels</a:t>
            </a:r>
            <a:endParaRPr sz="22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9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105" dirty="0">
                <a:latin typeface="Arial"/>
                <a:cs typeface="Arial"/>
              </a:rPr>
              <a:t>e.g., </a:t>
            </a:r>
            <a:r>
              <a:rPr sz="2000" spc="-40" dirty="0">
                <a:latin typeface="Arial"/>
                <a:cs typeface="Arial"/>
              </a:rPr>
              <a:t>supporting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95" dirty="0">
                <a:latin typeface="Arial"/>
                <a:cs typeface="Arial"/>
              </a:rPr>
              <a:t>echo </a:t>
            </a:r>
            <a:r>
              <a:rPr sz="2000" spc="-80" dirty="0">
                <a:latin typeface="Arial"/>
                <a:cs typeface="Arial"/>
              </a:rPr>
              <a:t>service </a:t>
            </a:r>
            <a:r>
              <a:rPr sz="2000" spc="-45" dirty="0">
                <a:latin typeface="Arial"/>
                <a:cs typeface="Arial"/>
              </a:rPr>
              <a:t>over </a:t>
            </a:r>
            <a:r>
              <a:rPr sz="2000" spc="20" dirty="0">
                <a:latin typeface="Arial"/>
                <a:cs typeface="Arial"/>
              </a:rPr>
              <a:t>multiple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ports</a:t>
            </a:r>
            <a:endParaRPr sz="20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50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b="1" spc="-130" dirty="0">
                <a:latin typeface="Arial"/>
                <a:cs typeface="Arial"/>
              </a:rPr>
              <a:t>Problem</a:t>
            </a:r>
            <a:r>
              <a:rPr sz="2200" spc="-130" dirty="0">
                <a:latin typeface="Arial"/>
                <a:cs typeface="Arial"/>
              </a:rPr>
              <a:t>: </a:t>
            </a:r>
            <a:r>
              <a:rPr sz="2200" spc="10" dirty="0">
                <a:latin typeface="Arial"/>
                <a:cs typeface="Arial"/>
              </a:rPr>
              <a:t>from </a:t>
            </a:r>
            <a:r>
              <a:rPr sz="2200" spc="35" dirty="0">
                <a:latin typeface="Arial"/>
                <a:cs typeface="Arial"/>
              </a:rPr>
              <a:t>which </a:t>
            </a:r>
            <a:r>
              <a:rPr sz="2200" spc="-100" dirty="0">
                <a:latin typeface="Arial"/>
                <a:cs typeface="Arial"/>
              </a:rPr>
              <a:t>socket </a:t>
            </a:r>
            <a:r>
              <a:rPr sz="2200" spc="-25" dirty="0">
                <a:latin typeface="Arial"/>
                <a:cs typeface="Arial"/>
              </a:rPr>
              <a:t>the </a:t>
            </a:r>
            <a:r>
              <a:rPr sz="2200" spc="-95" dirty="0">
                <a:latin typeface="Arial"/>
                <a:cs typeface="Arial"/>
              </a:rPr>
              <a:t>server </a:t>
            </a:r>
            <a:r>
              <a:rPr sz="2200" spc="-60" dirty="0">
                <a:latin typeface="Arial"/>
                <a:cs typeface="Arial"/>
              </a:rPr>
              <a:t>should </a:t>
            </a:r>
            <a:r>
              <a:rPr sz="2200" spc="-114" dirty="0">
                <a:latin typeface="Arial"/>
                <a:cs typeface="Arial"/>
              </a:rPr>
              <a:t>accept </a:t>
            </a:r>
            <a:r>
              <a:rPr sz="2200" spc="-65" dirty="0">
                <a:latin typeface="Arial"/>
                <a:cs typeface="Arial"/>
              </a:rPr>
              <a:t>connections  </a:t>
            </a:r>
            <a:r>
              <a:rPr sz="2200" dirty="0">
                <a:latin typeface="Arial"/>
                <a:cs typeface="Arial"/>
              </a:rPr>
              <a:t>or </a:t>
            </a:r>
            <a:r>
              <a:rPr sz="2200" spc="-75" dirty="0">
                <a:latin typeface="Arial"/>
                <a:cs typeface="Arial"/>
              </a:rPr>
              <a:t>receive</a:t>
            </a:r>
            <a:r>
              <a:rPr sz="2200" spc="-135" dirty="0">
                <a:latin typeface="Arial"/>
                <a:cs typeface="Arial"/>
              </a:rPr>
              <a:t> </a:t>
            </a:r>
            <a:r>
              <a:rPr sz="2200" spc="-250" dirty="0">
                <a:latin typeface="Arial"/>
                <a:cs typeface="Arial"/>
              </a:rPr>
              <a:t>messages?</a:t>
            </a:r>
            <a:endParaRPr sz="22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9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110" dirty="0">
                <a:latin typeface="Arial"/>
                <a:cs typeface="Arial"/>
              </a:rPr>
              <a:t>it </a:t>
            </a:r>
            <a:r>
              <a:rPr sz="2000" spc="-110" dirty="0">
                <a:latin typeface="Arial"/>
                <a:cs typeface="Arial"/>
              </a:rPr>
              <a:t>can </a:t>
            </a:r>
            <a:r>
              <a:rPr sz="2000" spc="-130" dirty="0">
                <a:latin typeface="Arial"/>
                <a:cs typeface="Arial"/>
              </a:rPr>
              <a:t>be </a:t>
            </a:r>
            <a:r>
              <a:rPr sz="2000" spc="-85" dirty="0">
                <a:latin typeface="Arial"/>
                <a:cs typeface="Arial"/>
              </a:rPr>
              <a:t>solved </a:t>
            </a:r>
            <a:r>
              <a:rPr sz="2000" spc="-70" dirty="0">
                <a:latin typeface="Arial"/>
                <a:cs typeface="Arial"/>
              </a:rPr>
              <a:t>using </a:t>
            </a:r>
            <a:r>
              <a:rPr sz="2000" spc="-10" dirty="0">
                <a:latin typeface="Arial"/>
                <a:cs typeface="Arial"/>
              </a:rPr>
              <a:t>non-blocking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sockets</a:t>
            </a:r>
            <a:endParaRPr sz="2000">
              <a:latin typeface="Arial"/>
              <a:cs typeface="Arial"/>
            </a:endParaRPr>
          </a:p>
          <a:p>
            <a:pPr marL="683895">
              <a:lnSpc>
                <a:spcPct val="100000"/>
              </a:lnSpc>
              <a:spcBef>
                <a:spcPts val="55"/>
              </a:spcBef>
              <a:tabLst>
                <a:tab pos="1035050" algn="l"/>
              </a:tabLst>
            </a:pPr>
            <a:r>
              <a:rPr sz="2200" spc="1864" dirty="0">
                <a:solidFill>
                  <a:srgbClr val="9A6500"/>
                </a:solidFill>
                <a:latin typeface="Wingdings"/>
                <a:cs typeface="Wingdings"/>
              </a:rPr>
              <a:t></a:t>
            </a:r>
            <a:r>
              <a:rPr sz="2200" spc="1864" dirty="0">
                <a:solidFill>
                  <a:srgbClr val="9A6500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latin typeface="Arial"/>
                <a:cs typeface="Arial"/>
              </a:rPr>
              <a:t>but </a:t>
            </a:r>
            <a:r>
              <a:rPr sz="1800" spc="100" dirty="0">
                <a:latin typeface="Arial"/>
                <a:cs typeface="Arial"/>
              </a:rPr>
              <a:t>it </a:t>
            </a:r>
            <a:r>
              <a:rPr sz="1800" spc="-55" dirty="0">
                <a:latin typeface="Arial"/>
                <a:cs typeface="Arial"/>
              </a:rPr>
              <a:t>requires</a:t>
            </a:r>
            <a:r>
              <a:rPr sz="1800" spc="-260" dirty="0">
                <a:latin typeface="Arial"/>
                <a:cs typeface="Arial"/>
              </a:rPr>
              <a:t> </a:t>
            </a:r>
            <a:r>
              <a:rPr sz="1800" spc="5" dirty="0">
                <a:latin typeface="Arial"/>
                <a:cs typeface="Arial"/>
              </a:rPr>
              <a:t>polling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0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b="1" spc="-135" dirty="0">
                <a:latin typeface="Arial"/>
                <a:cs typeface="Arial"/>
              </a:rPr>
              <a:t>Solution</a:t>
            </a:r>
            <a:r>
              <a:rPr sz="2200" spc="-135" dirty="0">
                <a:latin typeface="Arial"/>
                <a:cs typeface="Arial"/>
              </a:rPr>
              <a:t>: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select()</a:t>
            </a:r>
            <a:endParaRPr sz="2000">
              <a:latin typeface="Courier New"/>
              <a:cs typeface="Courier New"/>
            </a:endParaRPr>
          </a:p>
          <a:p>
            <a:pPr marL="681990" lvl="1" indent="-325120">
              <a:lnSpc>
                <a:spcPct val="100000"/>
              </a:lnSpc>
              <a:spcBef>
                <a:spcPts val="49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90" dirty="0">
                <a:latin typeface="Arial"/>
                <a:cs typeface="Arial"/>
              </a:rPr>
              <a:t>specifies </a:t>
            </a:r>
            <a:r>
              <a:rPr sz="2000" spc="-229" dirty="0">
                <a:latin typeface="Arial"/>
                <a:cs typeface="Arial"/>
              </a:rPr>
              <a:t>a </a:t>
            </a:r>
            <a:r>
              <a:rPr sz="2000" spc="10" dirty="0">
                <a:latin typeface="Arial"/>
                <a:cs typeface="Arial"/>
              </a:rPr>
              <a:t>list </a:t>
            </a:r>
            <a:r>
              <a:rPr sz="2000" spc="-10" dirty="0">
                <a:latin typeface="Arial"/>
                <a:cs typeface="Arial"/>
              </a:rPr>
              <a:t>of </a:t>
            </a:r>
            <a:r>
              <a:rPr sz="2000" spc="-65" dirty="0">
                <a:latin typeface="Arial"/>
                <a:cs typeface="Arial"/>
              </a:rPr>
              <a:t>descriptors </a:t>
            </a:r>
            <a:r>
              <a:rPr sz="2000" dirty="0">
                <a:latin typeface="Arial"/>
                <a:cs typeface="Arial"/>
              </a:rPr>
              <a:t>to </a:t>
            </a:r>
            <a:r>
              <a:rPr sz="2000" spc="-70" dirty="0">
                <a:latin typeface="Arial"/>
                <a:cs typeface="Arial"/>
              </a:rPr>
              <a:t>check </a:t>
            </a:r>
            <a:r>
              <a:rPr sz="2000" spc="25" dirty="0">
                <a:latin typeface="Arial"/>
                <a:cs typeface="Arial"/>
              </a:rPr>
              <a:t>for </a:t>
            </a:r>
            <a:r>
              <a:rPr sz="2000" spc="-50" dirty="0">
                <a:latin typeface="Arial"/>
                <a:cs typeface="Arial"/>
              </a:rPr>
              <a:t>pending </a:t>
            </a:r>
            <a:r>
              <a:rPr sz="2000" spc="55" dirty="0">
                <a:latin typeface="Arial"/>
                <a:cs typeface="Arial"/>
              </a:rPr>
              <a:t>I/O</a:t>
            </a:r>
            <a:r>
              <a:rPr sz="2000" spc="-40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operations</a:t>
            </a:r>
            <a:endParaRPr sz="20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65" dirty="0">
                <a:latin typeface="Arial"/>
                <a:cs typeface="Arial"/>
              </a:rPr>
              <a:t>blocks </a:t>
            </a:r>
            <a:r>
              <a:rPr sz="2000" spc="65" dirty="0">
                <a:latin typeface="Arial"/>
                <a:cs typeface="Arial"/>
              </a:rPr>
              <a:t>until </a:t>
            </a:r>
            <a:r>
              <a:rPr sz="2000" spc="-95" dirty="0">
                <a:latin typeface="Arial"/>
                <a:cs typeface="Arial"/>
              </a:rPr>
              <a:t>one </a:t>
            </a:r>
            <a:r>
              <a:rPr sz="2000" spc="-10" dirty="0">
                <a:latin typeface="Arial"/>
                <a:cs typeface="Arial"/>
              </a:rPr>
              <a:t>of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65" dirty="0">
                <a:latin typeface="Arial"/>
                <a:cs typeface="Arial"/>
              </a:rPr>
              <a:t>descriptors </a:t>
            </a:r>
            <a:r>
              <a:rPr sz="2000" spc="-85" dirty="0">
                <a:latin typeface="Arial"/>
                <a:cs typeface="Arial"/>
              </a:rPr>
              <a:t>is</a:t>
            </a:r>
            <a:r>
              <a:rPr sz="2000" spc="-22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ready</a:t>
            </a:r>
            <a:endParaRPr sz="20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8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30" dirty="0">
                <a:latin typeface="Arial"/>
                <a:cs typeface="Arial"/>
              </a:rPr>
              <a:t>returns </a:t>
            </a:r>
            <a:r>
              <a:rPr sz="2000" spc="25" dirty="0">
                <a:latin typeface="Arial"/>
                <a:cs typeface="Arial"/>
              </a:rPr>
              <a:t>which </a:t>
            </a:r>
            <a:r>
              <a:rPr sz="2000" spc="-65" dirty="0">
                <a:latin typeface="Arial"/>
                <a:cs typeface="Arial"/>
              </a:rPr>
              <a:t>descriptors </a:t>
            </a:r>
            <a:r>
              <a:rPr sz="2000" spc="-110" dirty="0">
                <a:latin typeface="Arial"/>
                <a:cs typeface="Arial"/>
              </a:rPr>
              <a:t>are</a:t>
            </a:r>
            <a:r>
              <a:rPr sz="2000" spc="-17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ready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46767" y="99567"/>
            <a:ext cx="262191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85" dirty="0"/>
              <a:t>Multiplexing</a:t>
            </a:r>
            <a:endParaRPr sz="4200"/>
          </a:p>
        </p:txBody>
      </p:sp>
      <p:sp>
        <p:nvSpPr>
          <p:cNvPr id="4" name="object 4"/>
          <p:cNvSpPr txBox="1"/>
          <p:nvPr/>
        </p:nvSpPr>
        <p:spPr>
          <a:xfrm>
            <a:off x="401453" y="730504"/>
            <a:ext cx="8444230" cy="3199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460375" indent="-342900">
              <a:lnSpc>
                <a:spcPct val="100000"/>
              </a:lnSpc>
              <a:spcBef>
                <a:spcPts val="95"/>
              </a:spcBef>
              <a:buClr>
                <a:srgbClr val="9A6500"/>
              </a:buClr>
              <a:buSzPct val="65000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000" b="1" spc="-5" dirty="0">
                <a:latin typeface="Courier New"/>
                <a:cs typeface="Courier New"/>
              </a:rPr>
              <a:t>int select (</a:t>
            </a:r>
            <a:r>
              <a:rPr sz="2000" b="1" spc="-5" dirty="0">
                <a:solidFill>
                  <a:srgbClr val="9A6500"/>
                </a:solidFill>
                <a:latin typeface="Courier New"/>
                <a:cs typeface="Courier New"/>
              </a:rPr>
              <a:t>maxDescPlus1</a:t>
            </a:r>
            <a:r>
              <a:rPr sz="2000" b="1" spc="-5" dirty="0">
                <a:latin typeface="Courier New"/>
                <a:cs typeface="Courier New"/>
              </a:rPr>
              <a:t>, &amp;</a:t>
            </a:r>
            <a:r>
              <a:rPr sz="2000" b="1" spc="-5" dirty="0">
                <a:solidFill>
                  <a:srgbClr val="CC9A00"/>
                </a:solidFill>
                <a:latin typeface="Courier New"/>
                <a:cs typeface="Courier New"/>
              </a:rPr>
              <a:t>readDescs</a:t>
            </a:r>
            <a:r>
              <a:rPr sz="2000" b="1" spc="-5" dirty="0">
                <a:latin typeface="Courier New"/>
                <a:cs typeface="Courier New"/>
              </a:rPr>
              <a:t>, &amp;</a:t>
            </a:r>
            <a:r>
              <a:rPr sz="2000" b="1" spc="-5" dirty="0">
                <a:solidFill>
                  <a:srgbClr val="A50021"/>
                </a:solidFill>
                <a:latin typeface="Courier New"/>
                <a:cs typeface="Courier New"/>
              </a:rPr>
              <a:t>writeDescs</a:t>
            </a:r>
            <a:r>
              <a:rPr sz="2000" b="1" spc="-5" dirty="0">
                <a:latin typeface="Courier New"/>
                <a:cs typeface="Courier New"/>
              </a:rPr>
              <a:t>,  &amp;</a:t>
            </a:r>
            <a:r>
              <a:rPr sz="2000" b="1" spc="-5" dirty="0">
                <a:solidFill>
                  <a:srgbClr val="CA6800"/>
                </a:solidFill>
                <a:latin typeface="Courier New"/>
                <a:cs typeface="Courier New"/>
              </a:rPr>
              <a:t>exceptionDescs</a:t>
            </a:r>
            <a:r>
              <a:rPr sz="2000" b="1" spc="-5" dirty="0">
                <a:latin typeface="Courier New"/>
                <a:cs typeface="Courier New"/>
              </a:rPr>
              <a:t>, &amp;</a:t>
            </a:r>
            <a:r>
              <a:rPr sz="2000" b="1" spc="-5" dirty="0">
                <a:solidFill>
                  <a:srgbClr val="006533"/>
                </a:solidFill>
                <a:latin typeface="Courier New"/>
                <a:cs typeface="Courier New"/>
              </a:rPr>
              <a:t>timeout</a:t>
            </a:r>
            <a:r>
              <a:rPr sz="2000" b="1" spc="-5" dirty="0"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  <a:p>
            <a:pPr marL="681990" lvl="1" indent="-325120">
              <a:lnSpc>
                <a:spcPct val="100000"/>
              </a:lnSpc>
              <a:spcBef>
                <a:spcPts val="545"/>
              </a:spcBef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b="1" spc="-185" dirty="0">
                <a:solidFill>
                  <a:srgbClr val="9A6500"/>
                </a:solidFill>
                <a:latin typeface="Arial"/>
                <a:cs typeface="Arial"/>
              </a:rPr>
              <a:t>maxDescsPlus1</a:t>
            </a:r>
            <a:r>
              <a:rPr sz="2000" spc="-185" dirty="0">
                <a:latin typeface="Arial"/>
                <a:cs typeface="Arial"/>
              </a:rPr>
              <a:t>: </a:t>
            </a:r>
            <a:r>
              <a:rPr sz="2000" spc="-40" dirty="0">
                <a:latin typeface="Arial"/>
                <a:cs typeface="Arial"/>
              </a:rPr>
              <a:t>integer, </a:t>
            </a:r>
            <a:r>
              <a:rPr sz="2000" spc="65" dirty="0">
                <a:latin typeface="Arial"/>
                <a:cs typeface="Arial"/>
              </a:rPr>
              <a:t>hint </a:t>
            </a:r>
            <a:r>
              <a:rPr sz="2000" spc="-10" dirty="0">
                <a:latin typeface="Arial"/>
                <a:cs typeface="Arial"/>
              </a:rPr>
              <a:t>of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35" dirty="0">
                <a:latin typeface="Arial"/>
                <a:cs typeface="Arial"/>
              </a:rPr>
              <a:t>maximum number </a:t>
            </a:r>
            <a:r>
              <a:rPr sz="2000" spc="-10" dirty="0">
                <a:latin typeface="Arial"/>
                <a:cs typeface="Arial"/>
              </a:rPr>
              <a:t>of</a:t>
            </a:r>
            <a:r>
              <a:rPr sz="2000" spc="-19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descriptors</a:t>
            </a:r>
            <a:endParaRPr sz="20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b="1" spc="-185" dirty="0">
                <a:solidFill>
                  <a:srgbClr val="CC9A00"/>
                </a:solidFill>
                <a:latin typeface="Arial"/>
                <a:cs typeface="Arial"/>
              </a:rPr>
              <a:t>readDescs</a:t>
            </a:r>
            <a:r>
              <a:rPr sz="2000" spc="-185" dirty="0">
                <a:latin typeface="Arial"/>
                <a:cs typeface="Arial"/>
              </a:rPr>
              <a:t>: </a:t>
            </a:r>
            <a:r>
              <a:rPr sz="1800" spc="-15" dirty="0">
                <a:latin typeface="Courier New"/>
                <a:cs typeface="Courier New"/>
              </a:rPr>
              <a:t>fd_set</a:t>
            </a:r>
            <a:r>
              <a:rPr sz="2000" spc="-15" dirty="0">
                <a:latin typeface="Arial"/>
                <a:cs typeface="Arial"/>
              </a:rPr>
              <a:t>, </a:t>
            </a:r>
            <a:r>
              <a:rPr sz="2000" spc="-85" dirty="0">
                <a:latin typeface="Arial"/>
                <a:cs typeface="Arial"/>
              </a:rPr>
              <a:t>checked </a:t>
            </a:r>
            <a:r>
              <a:rPr sz="2000" spc="25" dirty="0">
                <a:latin typeface="Arial"/>
                <a:cs typeface="Arial"/>
              </a:rPr>
              <a:t>for </a:t>
            </a:r>
            <a:r>
              <a:rPr sz="2000" spc="-45" dirty="0">
                <a:latin typeface="Arial"/>
                <a:cs typeface="Arial"/>
              </a:rPr>
              <a:t>immediate </a:t>
            </a:r>
            <a:r>
              <a:rPr sz="2000" spc="25" dirty="0">
                <a:latin typeface="Arial"/>
                <a:cs typeface="Arial"/>
              </a:rPr>
              <a:t>input</a:t>
            </a:r>
            <a:r>
              <a:rPr sz="2000" spc="-4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availability</a:t>
            </a:r>
            <a:endParaRPr sz="20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b="1" spc="-135" dirty="0">
                <a:solidFill>
                  <a:srgbClr val="A50021"/>
                </a:solidFill>
                <a:latin typeface="Arial"/>
                <a:cs typeface="Arial"/>
              </a:rPr>
              <a:t>writeDescs</a:t>
            </a:r>
            <a:r>
              <a:rPr sz="2000" spc="-135" dirty="0">
                <a:latin typeface="Arial"/>
                <a:cs typeface="Arial"/>
              </a:rPr>
              <a:t>: </a:t>
            </a:r>
            <a:r>
              <a:rPr sz="1800" spc="-20" dirty="0">
                <a:latin typeface="Courier New"/>
                <a:cs typeface="Courier New"/>
              </a:rPr>
              <a:t>fd_set</a:t>
            </a:r>
            <a:r>
              <a:rPr sz="2000" spc="-20" dirty="0">
                <a:latin typeface="Arial"/>
                <a:cs typeface="Arial"/>
              </a:rPr>
              <a:t>, </a:t>
            </a:r>
            <a:r>
              <a:rPr sz="2000" spc="-85" dirty="0">
                <a:latin typeface="Arial"/>
                <a:cs typeface="Arial"/>
              </a:rPr>
              <a:t>checked </a:t>
            </a:r>
            <a:r>
              <a:rPr sz="2000" spc="25" dirty="0">
                <a:latin typeface="Arial"/>
                <a:cs typeface="Arial"/>
              </a:rPr>
              <a:t>for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30" dirty="0">
                <a:latin typeface="Arial"/>
                <a:cs typeface="Arial"/>
              </a:rPr>
              <a:t>ability </a:t>
            </a:r>
            <a:r>
              <a:rPr sz="2000" dirty="0">
                <a:latin typeface="Arial"/>
                <a:cs typeface="Arial"/>
              </a:rPr>
              <a:t>to </a:t>
            </a:r>
            <a:r>
              <a:rPr sz="2000" spc="-25" dirty="0">
                <a:latin typeface="Arial"/>
                <a:cs typeface="Arial"/>
              </a:rPr>
              <a:t>immediately </a:t>
            </a:r>
            <a:r>
              <a:rPr sz="2000" spc="45" dirty="0">
                <a:latin typeface="Arial"/>
                <a:cs typeface="Arial"/>
              </a:rPr>
              <a:t>write</a:t>
            </a:r>
            <a:r>
              <a:rPr sz="2000" spc="-28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8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b="1" spc="-165" dirty="0">
                <a:solidFill>
                  <a:srgbClr val="CA6800"/>
                </a:solidFill>
                <a:latin typeface="Arial"/>
                <a:cs typeface="Arial"/>
              </a:rPr>
              <a:t>exceptionDescs</a:t>
            </a:r>
            <a:r>
              <a:rPr sz="2000" spc="-165" dirty="0">
                <a:latin typeface="Arial"/>
                <a:cs typeface="Arial"/>
              </a:rPr>
              <a:t>: </a:t>
            </a:r>
            <a:r>
              <a:rPr sz="1800" spc="-20" dirty="0">
                <a:latin typeface="Courier New"/>
                <a:cs typeface="Courier New"/>
              </a:rPr>
              <a:t>fd_set</a:t>
            </a:r>
            <a:r>
              <a:rPr sz="2000" spc="-20" dirty="0">
                <a:latin typeface="Arial"/>
                <a:cs typeface="Arial"/>
              </a:rPr>
              <a:t>, </a:t>
            </a:r>
            <a:r>
              <a:rPr sz="2000" spc="-85" dirty="0">
                <a:latin typeface="Arial"/>
                <a:cs typeface="Arial"/>
              </a:rPr>
              <a:t>checked </a:t>
            </a:r>
            <a:r>
              <a:rPr sz="2000" spc="25" dirty="0">
                <a:latin typeface="Arial"/>
                <a:cs typeface="Arial"/>
              </a:rPr>
              <a:t>for </a:t>
            </a:r>
            <a:r>
              <a:rPr sz="2000" spc="-55" dirty="0">
                <a:latin typeface="Arial"/>
                <a:cs typeface="Arial"/>
              </a:rPr>
              <a:t>pending </a:t>
            </a:r>
            <a:r>
              <a:rPr sz="2000" spc="-80" dirty="0">
                <a:latin typeface="Arial"/>
                <a:cs typeface="Arial"/>
              </a:rPr>
              <a:t>exceptions</a:t>
            </a:r>
            <a:endParaRPr sz="20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b="1" spc="-95" dirty="0">
                <a:solidFill>
                  <a:srgbClr val="006533"/>
                </a:solidFill>
                <a:latin typeface="Arial"/>
                <a:cs typeface="Arial"/>
              </a:rPr>
              <a:t>timeout</a:t>
            </a:r>
            <a:r>
              <a:rPr sz="2000" spc="-95" dirty="0">
                <a:latin typeface="Arial"/>
                <a:cs typeface="Arial"/>
              </a:rPr>
              <a:t>: </a:t>
            </a:r>
            <a:r>
              <a:rPr sz="1800" spc="-5" dirty="0">
                <a:latin typeface="Courier New"/>
                <a:cs typeface="Courier New"/>
              </a:rPr>
              <a:t>struct </a:t>
            </a:r>
            <a:r>
              <a:rPr sz="1800" spc="-15" dirty="0">
                <a:latin typeface="Courier New"/>
                <a:cs typeface="Courier New"/>
              </a:rPr>
              <a:t>timeval</a:t>
            </a:r>
            <a:r>
              <a:rPr sz="2000" spc="-15" dirty="0">
                <a:latin typeface="Arial"/>
                <a:cs typeface="Arial"/>
              </a:rPr>
              <a:t>, </a:t>
            </a:r>
            <a:r>
              <a:rPr sz="2000" spc="5" dirty="0">
                <a:latin typeface="Arial"/>
                <a:cs typeface="Arial"/>
              </a:rPr>
              <a:t>how </a:t>
            </a:r>
            <a:r>
              <a:rPr sz="2000" spc="-35" dirty="0">
                <a:latin typeface="Arial"/>
                <a:cs typeface="Arial"/>
              </a:rPr>
              <a:t>long </a:t>
            </a:r>
            <a:r>
              <a:rPr sz="2000" spc="110" dirty="0">
                <a:latin typeface="Arial"/>
                <a:cs typeface="Arial"/>
              </a:rPr>
              <a:t>it </a:t>
            </a:r>
            <a:r>
              <a:rPr sz="2000" spc="-65" dirty="0">
                <a:latin typeface="Arial"/>
                <a:cs typeface="Arial"/>
              </a:rPr>
              <a:t>blocks </a:t>
            </a:r>
            <a:r>
              <a:rPr sz="2000" spc="-15" dirty="0">
                <a:latin typeface="Arial"/>
                <a:cs typeface="Arial"/>
              </a:rPr>
              <a:t>(NULL </a:t>
            </a:r>
            <a:r>
              <a:rPr sz="2000" spc="3354" dirty="0">
                <a:latin typeface="Wingdings"/>
                <a:cs typeface="Wingdings"/>
              </a:rPr>
              <a:t>€</a:t>
            </a:r>
            <a:r>
              <a:rPr sz="2000" spc="-270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Arial"/>
                <a:cs typeface="Arial"/>
              </a:rPr>
              <a:t>forever)</a:t>
            </a:r>
            <a:endParaRPr sz="2000">
              <a:latin typeface="Arial"/>
              <a:cs typeface="Arial"/>
            </a:endParaRPr>
          </a:p>
          <a:p>
            <a:pPr marL="517525" indent="-160655">
              <a:lnSpc>
                <a:spcPct val="100000"/>
              </a:lnSpc>
              <a:spcBef>
                <a:spcPts val="475"/>
              </a:spcBef>
              <a:buChar char="-"/>
              <a:tabLst>
                <a:tab pos="518159" algn="l"/>
              </a:tabLst>
            </a:pPr>
            <a:r>
              <a:rPr sz="2000" b="1" spc="-125" dirty="0">
                <a:latin typeface="Arial"/>
                <a:cs typeface="Arial"/>
              </a:rPr>
              <a:t>returns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5" dirty="0">
                <a:latin typeface="Arial"/>
                <a:cs typeface="Arial"/>
              </a:rPr>
              <a:t>total </a:t>
            </a:r>
            <a:r>
              <a:rPr sz="2000" spc="-40" dirty="0">
                <a:latin typeface="Arial"/>
                <a:cs typeface="Arial"/>
              </a:rPr>
              <a:t>number </a:t>
            </a:r>
            <a:r>
              <a:rPr sz="2000" spc="-10" dirty="0">
                <a:latin typeface="Arial"/>
                <a:cs typeface="Arial"/>
              </a:rPr>
              <a:t>of </a:t>
            </a:r>
            <a:r>
              <a:rPr sz="2000" spc="-70" dirty="0">
                <a:latin typeface="Arial"/>
                <a:cs typeface="Arial"/>
              </a:rPr>
              <a:t>ready </a:t>
            </a:r>
            <a:r>
              <a:rPr sz="2000" spc="-65" dirty="0">
                <a:latin typeface="Arial"/>
                <a:cs typeface="Arial"/>
              </a:rPr>
              <a:t>descriptors, </a:t>
            </a:r>
            <a:r>
              <a:rPr sz="2000" spc="-15" dirty="0">
                <a:latin typeface="Arial"/>
                <a:cs typeface="Arial"/>
              </a:rPr>
              <a:t>-1 </a:t>
            </a:r>
            <a:r>
              <a:rPr sz="2000" spc="65" dirty="0">
                <a:latin typeface="Arial"/>
                <a:cs typeface="Arial"/>
              </a:rPr>
              <a:t>in </a:t>
            </a:r>
            <a:r>
              <a:rPr sz="2000" spc="-204" dirty="0">
                <a:latin typeface="Arial"/>
                <a:cs typeface="Arial"/>
              </a:rPr>
              <a:t>case </a:t>
            </a:r>
            <a:r>
              <a:rPr sz="2000" spc="-10" dirty="0">
                <a:latin typeface="Arial"/>
                <a:cs typeface="Arial"/>
              </a:rPr>
              <a:t>of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error</a:t>
            </a:r>
            <a:endParaRPr sz="2000">
              <a:latin typeface="Arial"/>
              <a:cs typeface="Arial"/>
            </a:endParaRPr>
          </a:p>
          <a:p>
            <a:pPr marL="516890" indent="-160020">
              <a:lnSpc>
                <a:spcPct val="100000"/>
              </a:lnSpc>
              <a:spcBef>
                <a:spcPts val="470"/>
              </a:spcBef>
              <a:buChar char="-"/>
              <a:tabLst>
                <a:tab pos="517525" algn="l"/>
              </a:tabLst>
            </a:pPr>
            <a:r>
              <a:rPr sz="2000" b="1" spc="-215" dirty="0">
                <a:latin typeface="Arial"/>
                <a:cs typeface="Arial"/>
              </a:rPr>
              <a:t>changes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40" dirty="0">
                <a:latin typeface="Arial"/>
                <a:cs typeface="Arial"/>
              </a:rPr>
              <a:t>descriptor </a:t>
            </a:r>
            <a:r>
              <a:rPr sz="2000" spc="-50" dirty="0">
                <a:latin typeface="Arial"/>
                <a:cs typeface="Arial"/>
              </a:rPr>
              <a:t>lists </a:t>
            </a:r>
            <a:r>
              <a:rPr sz="2000" spc="-195" dirty="0">
                <a:latin typeface="Arial"/>
                <a:cs typeface="Arial"/>
              </a:rPr>
              <a:t>so </a:t>
            </a:r>
            <a:r>
              <a:rPr sz="2000" spc="-5" dirty="0">
                <a:latin typeface="Arial"/>
                <a:cs typeface="Arial"/>
              </a:rPr>
              <a:t>that </a:t>
            </a:r>
            <a:r>
              <a:rPr sz="2000" spc="20" dirty="0">
                <a:latin typeface="Arial"/>
                <a:cs typeface="Arial"/>
              </a:rPr>
              <a:t>only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55" dirty="0">
                <a:latin typeface="Arial"/>
                <a:cs typeface="Arial"/>
              </a:rPr>
              <a:t>corresponding </a:t>
            </a:r>
            <a:r>
              <a:rPr sz="2000" spc="-60" dirty="0">
                <a:latin typeface="Arial"/>
                <a:cs typeface="Arial"/>
              </a:rPr>
              <a:t>positions </a:t>
            </a:r>
            <a:r>
              <a:rPr sz="2000" spc="-110" dirty="0">
                <a:latin typeface="Arial"/>
                <a:cs typeface="Arial"/>
              </a:rPr>
              <a:t>are</a:t>
            </a:r>
            <a:r>
              <a:rPr sz="2000" spc="-285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set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6559" y="4285741"/>
            <a:ext cx="8115300" cy="845185"/>
          </a:xfrm>
          <a:custGeom>
            <a:avLst/>
            <a:gdLst/>
            <a:ahLst/>
            <a:cxnLst/>
            <a:rect l="l" t="t" r="r" b="b"/>
            <a:pathLst>
              <a:path w="8115300" h="845185">
                <a:moveTo>
                  <a:pt x="0" y="0"/>
                </a:moveTo>
                <a:lnTo>
                  <a:pt x="0" y="845058"/>
                </a:lnTo>
                <a:lnTo>
                  <a:pt x="8115300" y="845058"/>
                </a:lnTo>
                <a:lnTo>
                  <a:pt x="8115300" y="0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70191" y="4318000"/>
            <a:ext cx="5170805" cy="573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196975" algn="l"/>
              </a:tabLst>
            </a:pPr>
            <a:r>
              <a:rPr sz="1200" b="1" dirty="0">
                <a:latin typeface="Courier New"/>
                <a:cs typeface="Courier New"/>
              </a:rPr>
              <a:t>int</a:t>
            </a:r>
            <a:r>
              <a:rPr sz="1200" b="1" spc="30" dirty="0">
                <a:latin typeface="Courier New"/>
                <a:cs typeface="Courier New"/>
              </a:rPr>
              <a:t> </a:t>
            </a:r>
            <a:r>
              <a:rPr sz="1200" b="1" dirty="0">
                <a:latin typeface="Courier New"/>
                <a:cs typeface="Courier New"/>
              </a:rPr>
              <a:t>FD_ZERO	(fd_set</a:t>
            </a:r>
            <a:r>
              <a:rPr sz="1200" b="1" spc="10" dirty="0">
                <a:latin typeface="Courier New"/>
                <a:cs typeface="Courier New"/>
              </a:rPr>
              <a:t> </a:t>
            </a:r>
            <a:r>
              <a:rPr sz="1200" b="1" dirty="0">
                <a:latin typeface="Courier New"/>
                <a:cs typeface="Courier New"/>
              </a:rPr>
              <a:t>*descriptorVector);</a:t>
            </a:r>
            <a:endParaRPr sz="1200">
              <a:latin typeface="Courier New"/>
              <a:cs typeface="Courier New"/>
            </a:endParaRPr>
          </a:p>
          <a:p>
            <a:pPr marR="5080">
              <a:lnSpc>
                <a:spcPct val="100000"/>
              </a:lnSpc>
              <a:tabLst>
                <a:tab pos="1196975" algn="l"/>
              </a:tabLst>
            </a:pPr>
            <a:r>
              <a:rPr sz="1200" b="1" dirty="0">
                <a:latin typeface="Courier New"/>
                <a:cs typeface="Courier New"/>
              </a:rPr>
              <a:t>int</a:t>
            </a:r>
            <a:r>
              <a:rPr sz="1200" b="1" spc="20" dirty="0">
                <a:latin typeface="Courier New"/>
                <a:cs typeface="Courier New"/>
              </a:rPr>
              <a:t> </a:t>
            </a:r>
            <a:r>
              <a:rPr sz="1200" b="1" dirty="0">
                <a:latin typeface="Courier New"/>
                <a:cs typeface="Courier New"/>
              </a:rPr>
              <a:t>FD_CLR	(int descriptor, fd_set *descriptorVector);  int</a:t>
            </a:r>
            <a:r>
              <a:rPr sz="1200" b="1" spc="20" dirty="0">
                <a:latin typeface="Courier New"/>
                <a:cs typeface="Courier New"/>
              </a:rPr>
              <a:t> </a:t>
            </a:r>
            <a:r>
              <a:rPr sz="1200" b="1" dirty="0">
                <a:latin typeface="Courier New"/>
                <a:cs typeface="Courier New"/>
              </a:rPr>
              <a:t>FD_SET	(int descriptor, fd_set</a:t>
            </a:r>
            <a:r>
              <a:rPr sz="1200" b="1" spc="100" dirty="0">
                <a:latin typeface="Courier New"/>
                <a:cs typeface="Courier New"/>
              </a:rPr>
              <a:t> </a:t>
            </a:r>
            <a:r>
              <a:rPr sz="1200" b="1" dirty="0">
                <a:latin typeface="Courier New"/>
                <a:cs typeface="Courier New"/>
              </a:rPr>
              <a:t>*descriptorVector);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106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0191" y="4865878"/>
            <a:ext cx="51701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ourier New"/>
                <a:cs typeface="Courier New"/>
              </a:rPr>
              <a:t>int FD_ISSET (int descriptor, fd_set</a:t>
            </a:r>
            <a:r>
              <a:rPr sz="1200" b="1" spc="165" dirty="0">
                <a:latin typeface="Courier New"/>
                <a:cs typeface="Courier New"/>
              </a:rPr>
              <a:t> </a:t>
            </a:r>
            <a:r>
              <a:rPr sz="1200" b="1" dirty="0">
                <a:latin typeface="Courier New"/>
                <a:cs typeface="Courier New"/>
              </a:rPr>
              <a:t>*descriptorVector);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19609" y="4318000"/>
            <a:ext cx="2529840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latin typeface="Arial"/>
                <a:cs typeface="Arial"/>
              </a:rPr>
              <a:t>/* </a:t>
            </a:r>
            <a:r>
              <a:rPr sz="1200" spc="-60" dirty="0">
                <a:latin typeface="Arial"/>
                <a:cs typeface="Arial"/>
              </a:rPr>
              <a:t>removes </a:t>
            </a:r>
            <a:r>
              <a:rPr sz="1200" spc="5" dirty="0">
                <a:latin typeface="Arial"/>
                <a:cs typeface="Arial"/>
              </a:rPr>
              <a:t>all </a:t>
            </a:r>
            <a:r>
              <a:rPr sz="1200" spc="-40" dirty="0">
                <a:latin typeface="Arial"/>
                <a:cs typeface="Arial"/>
              </a:rPr>
              <a:t>descriptors </a:t>
            </a:r>
            <a:r>
              <a:rPr sz="1200" spc="5" dirty="0">
                <a:latin typeface="Arial"/>
                <a:cs typeface="Arial"/>
              </a:rPr>
              <a:t>from </a:t>
            </a:r>
            <a:r>
              <a:rPr sz="1200" spc="-20" dirty="0">
                <a:latin typeface="Arial"/>
                <a:cs typeface="Arial"/>
              </a:rPr>
              <a:t>vector</a:t>
            </a:r>
            <a:r>
              <a:rPr sz="1200" spc="-9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*/</a:t>
            </a:r>
            <a:endParaRPr sz="1200">
              <a:latin typeface="Arial"/>
              <a:cs typeface="Arial"/>
            </a:endParaRPr>
          </a:p>
          <a:p>
            <a:pPr>
              <a:lnSpc>
                <a:spcPts val="1435"/>
              </a:lnSpc>
            </a:pPr>
            <a:r>
              <a:rPr sz="1200" spc="-30" dirty="0">
                <a:latin typeface="Arial"/>
                <a:cs typeface="Arial"/>
              </a:rPr>
              <a:t>/* </a:t>
            </a:r>
            <a:r>
              <a:rPr sz="1200" spc="-40" dirty="0">
                <a:latin typeface="Arial"/>
                <a:cs typeface="Arial"/>
              </a:rPr>
              <a:t>remove </a:t>
            </a:r>
            <a:r>
              <a:rPr sz="1200" spc="-25" dirty="0">
                <a:latin typeface="Arial"/>
                <a:cs typeface="Arial"/>
              </a:rPr>
              <a:t>descriptor </a:t>
            </a:r>
            <a:r>
              <a:rPr sz="1200" spc="5" dirty="0">
                <a:latin typeface="Arial"/>
                <a:cs typeface="Arial"/>
              </a:rPr>
              <a:t>from </a:t>
            </a:r>
            <a:r>
              <a:rPr sz="1200" spc="-20" dirty="0">
                <a:latin typeface="Arial"/>
                <a:cs typeface="Arial"/>
              </a:rPr>
              <a:t>vector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*/</a:t>
            </a:r>
            <a:endParaRPr sz="1200">
              <a:latin typeface="Arial"/>
              <a:cs typeface="Arial"/>
            </a:endParaRPr>
          </a:p>
          <a:p>
            <a:pPr>
              <a:lnSpc>
                <a:spcPts val="1435"/>
              </a:lnSpc>
            </a:pPr>
            <a:r>
              <a:rPr sz="1200" spc="-30" dirty="0">
                <a:latin typeface="Arial"/>
                <a:cs typeface="Arial"/>
              </a:rPr>
              <a:t>/* </a:t>
            </a:r>
            <a:r>
              <a:rPr sz="1200" spc="-70" dirty="0">
                <a:latin typeface="Arial"/>
                <a:cs typeface="Arial"/>
              </a:rPr>
              <a:t>add </a:t>
            </a:r>
            <a:r>
              <a:rPr sz="1200" spc="-25" dirty="0">
                <a:latin typeface="Arial"/>
                <a:cs typeface="Arial"/>
              </a:rPr>
              <a:t>descriptor </a:t>
            </a:r>
            <a:r>
              <a:rPr sz="1200" dirty="0">
                <a:latin typeface="Arial"/>
                <a:cs typeface="Arial"/>
              </a:rPr>
              <a:t>to </a:t>
            </a:r>
            <a:r>
              <a:rPr sz="1200" spc="-20" dirty="0">
                <a:latin typeface="Arial"/>
                <a:cs typeface="Arial"/>
              </a:rPr>
              <a:t>vector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*/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1200" spc="-25" dirty="0">
                <a:latin typeface="Arial"/>
                <a:cs typeface="Arial"/>
              </a:rPr>
              <a:t>/* </a:t>
            </a:r>
            <a:r>
              <a:rPr sz="1200" spc="-20" dirty="0">
                <a:latin typeface="Arial"/>
                <a:cs typeface="Arial"/>
              </a:rPr>
              <a:t>vector </a:t>
            </a:r>
            <a:r>
              <a:rPr sz="1200" spc="-40" dirty="0">
                <a:latin typeface="Arial"/>
                <a:cs typeface="Arial"/>
              </a:rPr>
              <a:t>membership check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*/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6559" y="5248147"/>
            <a:ext cx="3802379" cy="844550"/>
          </a:xfrm>
          <a:prstGeom prst="rect">
            <a:avLst/>
          </a:prstGeom>
          <a:ln w="22225">
            <a:solidFill>
              <a:srgbClr val="9966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325"/>
              </a:spcBef>
            </a:pPr>
            <a:r>
              <a:rPr sz="1200" b="1" dirty="0">
                <a:latin typeface="Courier New"/>
                <a:cs typeface="Courier New"/>
              </a:rPr>
              <a:t>struct timeval</a:t>
            </a:r>
            <a:r>
              <a:rPr sz="1200" b="1" spc="15" dirty="0">
                <a:latin typeface="Courier New"/>
                <a:cs typeface="Courier New"/>
              </a:rPr>
              <a:t> </a:t>
            </a:r>
            <a:r>
              <a:rPr sz="1200" b="1" spc="-5" dirty="0"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  <a:p>
            <a:pPr marL="379095" marR="203835">
              <a:lnSpc>
                <a:spcPct val="100000"/>
              </a:lnSpc>
              <a:tabLst>
                <a:tab pos="1932305" algn="l"/>
              </a:tabLst>
            </a:pPr>
            <a:r>
              <a:rPr sz="1200" b="1" dirty="0">
                <a:latin typeface="Courier New"/>
                <a:cs typeface="Courier New"/>
              </a:rPr>
              <a:t>time_t</a:t>
            </a:r>
            <a:r>
              <a:rPr sz="1200" b="1" spc="35" dirty="0">
                <a:latin typeface="Courier New"/>
                <a:cs typeface="Courier New"/>
              </a:rPr>
              <a:t> </a:t>
            </a:r>
            <a:r>
              <a:rPr sz="1200" b="1" dirty="0">
                <a:latin typeface="Courier New"/>
                <a:cs typeface="Courier New"/>
              </a:rPr>
              <a:t>tv_sec;	/* seconds */  time_t</a:t>
            </a:r>
            <a:r>
              <a:rPr sz="1200" b="1" spc="40" dirty="0">
                <a:latin typeface="Courier New"/>
                <a:cs typeface="Courier New"/>
              </a:rPr>
              <a:t> </a:t>
            </a:r>
            <a:r>
              <a:rPr sz="1200" b="1" dirty="0">
                <a:latin typeface="Courier New"/>
                <a:cs typeface="Courier New"/>
              </a:rPr>
              <a:t>tv_usec;	/* microseconds</a:t>
            </a:r>
            <a:r>
              <a:rPr sz="1200" b="1" spc="-25" dirty="0">
                <a:latin typeface="Courier New"/>
                <a:cs typeface="Courier New"/>
              </a:rPr>
              <a:t> </a:t>
            </a:r>
            <a:r>
              <a:rPr sz="1200" b="1" dirty="0">
                <a:latin typeface="Courier New"/>
                <a:cs typeface="Courier New"/>
              </a:rPr>
              <a:t>*/</a:t>
            </a:r>
            <a:endParaRPr sz="1200">
              <a:latin typeface="Courier New"/>
              <a:cs typeface="Courier New"/>
            </a:endParaRPr>
          </a:p>
          <a:p>
            <a:pPr marL="103505">
              <a:lnSpc>
                <a:spcPts val="1435"/>
              </a:lnSpc>
            </a:pPr>
            <a:r>
              <a:rPr sz="1200" b="1" dirty="0">
                <a:latin typeface="Courier New"/>
                <a:cs typeface="Courier New"/>
              </a:rPr>
              <a:t>};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28357" y="110236"/>
            <a:ext cx="766445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5" dirty="0"/>
              <a:t>Multiplexing </a:t>
            </a:r>
            <a:r>
              <a:rPr sz="2800" spc="-175" dirty="0"/>
              <a:t>- </a:t>
            </a:r>
            <a:r>
              <a:rPr sz="2800" spc="-190" dirty="0"/>
              <a:t>Example: </a:t>
            </a:r>
            <a:r>
              <a:rPr sz="2800" spc="-145" dirty="0"/>
              <a:t>echo </a:t>
            </a:r>
            <a:r>
              <a:rPr sz="2800" spc="-204" dirty="0"/>
              <a:t>using </a:t>
            </a:r>
            <a:r>
              <a:rPr sz="2800" spc="-225" dirty="0"/>
              <a:t>stream</a:t>
            </a:r>
            <a:r>
              <a:rPr sz="2800" spc="-15" dirty="0"/>
              <a:t> </a:t>
            </a:r>
            <a:r>
              <a:rPr sz="2800" spc="-155" dirty="0"/>
              <a:t>socket</a:t>
            </a:r>
            <a:endParaRPr sz="2800"/>
          </a:p>
        </p:txBody>
      </p:sp>
      <p:sp>
        <p:nvSpPr>
          <p:cNvPr id="4" name="object 4"/>
          <p:cNvSpPr/>
          <p:nvPr/>
        </p:nvSpPr>
        <p:spPr>
          <a:xfrm>
            <a:off x="353961" y="920750"/>
            <a:ext cx="8587105" cy="5143500"/>
          </a:xfrm>
          <a:custGeom>
            <a:avLst/>
            <a:gdLst/>
            <a:ahLst/>
            <a:cxnLst/>
            <a:rect l="l" t="t" r="r" b="b"/>
            <a:pathLst>
              <a:path w="8587105" h="5143500">
                <a:moveTo>
                  <a:pt x="0" y="0"/>
                </a:moveTo>
                <a:lnTo>
                  <a:pt x="0" y="5143500"/>
                </a:lnTo>
                <a:lnTo>
                  <a:pt x="8586978" y="5143500"/>
                </a:lnTo>
                <a:lnTo>
                  <a:pt x="8586978" y="0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4887" y="950722"/>
            <a:ext cx="42157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45665" algn="l"/>
              </a:tabLst>
            </a:pPr>
            <a:r>
              <a:rPr sz="1000" b="1" spc="-5" dirty="0">
                <a:latin typeface="Courier New"/>
                <a:cs typeface="Courier New"/>
              </a:rPr>
              <a:t>#include</a:t>
            </a:r>
            <a:r>
              <a:rPr sz="1000" b="1" spc="1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&lt;sys/time.h&gt;	/* for struct timeval {}</a:t>
            </a:r>
            <a:r>
              <a:rPr sz="1000" b="1" spc="-5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107</a:t>
            </a:fld>
            <a:endParaRPr sz="12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25837" y="1289534"/>
          <a:ext cx="6539230" cy="1666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8450"/>
                <a:gridCol w="2361565"/>
                <a:gridCol w="381000"/>
                <a:gridCol w="3498215"/>
              </a:tblGrid>
              <a:tr h="147955">
                <a:tc>
                  <a:txBody>
                    <a:bodyPr/>
                    <a:lstStyle/>
                    <a:p>
                      <a:pPr marL="31750">
                        <a:lnSpc>
                          <a:spcPts val="1035"/>
                        </a:lnSpc>
                      </a:pPr>
                      <a:r>
                        <a:rPr sz="1000" b="1" spc="-5" dirty="0">
                          <a:latin typeface="Courier New"/>
                          <a:cs typeface="Courier New"/>
                        </a:rPr>
                        <a:t>int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035"/>
                        </a:lnSpc>
                      </a:pPr>
                      <a:r>
                        <a:rPr sz="1000" b="1" spc="-5" dirty="0">
                          <a:latin typeface="Courier New"/>
                          <a:cs typeface="Courier New"/>
                        </a:rPr>
                        <a:t>main(int argc, char</a:t>
                      </a:r>
                      <a:r>
                        <a:rPr sz="1000" b="1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b="1" spc="-5" dirty="0">
                          <a:latin typeface="Courier New"/>
                          <a:cs typeface="Courier New"/>
                        </a:rPr>
                        <a:t>*argv[])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ts val="1065"/>
                        </a:lnSpc>
                      </a:pPr>
                      <a:r>
                        <a:rPr sz="1000" b="1" dirty="0">
                          <a:latin typeface="Courier New"/>
                          <a:cs typeface="Courier New"/>
                        </a:rPr>
                        <a:t>{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065"/>
                        </a:lnSpc>
                      </a:pPr>
                      <a:r>
                        <a:rPr sz="1000" b="1" spc="-5" dirty="0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1000" b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b="1" spc="-5" dirty="0">
                          <a:latin typeface="Courier New"/>
                          <a:cs typeface="Courier New"/>
                        </a:rPr>
                        <a:t>*servSock;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ts val="1065"/>
                        </a:lnSpc>
                      </a:pPr>
                      <a:r>
                        <a:rPr sz="1000" b="1" spc="-5" dirty="0">
                          <a:latin typeface="Courier New"/>
                          <a:cs typeface="Courier New"/>
                        </a:rPr>
                        <a:t>/*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065"/>
                        </a:lnSpc>
                      </a:pPr>
                      <a:r>
                        <a:rPr sz="1000" b="1" spc="-5" dirty="0">
                          <a:latin typeface="Courier New"/>
                          <a:cs typeface="Courier New"/>
                        </a:rPr>
                        <a:t>Socket descriptors for server</a:t>
                      </a:r>
                      <a:r>
                        <a:rPr sz="1000" b="1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b="1" spc="-5" dirty="0">
                          <a:latin typeface="Courier New"/>
                          <a:cs typeface="Courier New"/>
                        </a:rPr>
                        <a:t>*/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065"/>
                        </a:lnSpc>
                      </a:pPr>
                      <a:r>
                        <a:rPr sz="1000" b="1" spc="-5" dirty="0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10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b="1" spc="-5" dirty="0">
                          <a:latin typeface="Courier New"/>
                          <a:cs typeface="Courier New"/>
                        </a:rPr>
                        <a:t>maxDescriptor;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ts val="1065"/>
                        </a:lnSpc>
                      </a:pPr>
                      <a:r>
                        <a:rPr sz="1000" b="1" spc="-5" dirty="0">
                          <a:latin typeface="Courier New"/>
                          <a:cs typeface="Courier New"/>
                        </a:rPr>
                        <a:t>/*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065"/>
                        </a:lnSpc>
                      </a:pPr>
                      <a:r>
                        <a:rPr sz="1000" b="1" spc="-5" dirty="0">
                          <a:latin typeface="Courier New"/>
                          <a:cs typeface="Courier New"/>
                        </a:rPr>
                        <a:t>Maximum socket descriptor value</a:t>
                      </a:r>
                      <a:r>
                        <a:rPr sz="1000" b="1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b="1" spc="-5" dirty="0">
                          <a:latin typeface="Courier New"/>
                          <a:cs typeface="Courier New"/>
                        </a:rPr>
                        <a:t>*/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065"/>
                        </a:lnSpc>
                      </a:pPr>
                      <a:r>
                        <a:rPr sz="1000" b="1" spc="-5" dirty="0">
                          <a:latin typeface="Courier New"/>
                          <a:cs typeface="Courier New"/>
                        </a:rPr>
                        <a:t>fd_set</a:t>
                      </a:r>
                      <a:r>
                        <a:rPr sz="1000" b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b="1" spc="-5" dirty="0">
                          <a:solidFill>
                            <a:srgbClr val="9A6500"/>
                          </a:solidFill>
                          <a:latin typeface="Courier New"/>
                          <a:cs typeface="Courier New"/>
                        </a:rPr>
                        <a:t>sockSet</a:t>
                      </a:r>
                      <a:r>
                        <a:rPr sz="1000" b="1" spc="-5" dirty="0">
                          <a:latin typeface="Courier New"/>
                          <a:cs typeface="Courier New"/>
                        </a:rPr>
                        <a:t>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ts val="1065"/>
                        </a:lnSpc>
                      </a:pPr>
                      <a:r>
                        <a:rPr sz="1000" b="1" spc="-5" dirty="0">
                          <a:latin typeface="Courier New"/>
                          <a:cs typeface="Courier New"/>
                        </a:rPr>
                        <a:t>/*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065"/>
                        </a:lnSpc>
                      </a:pPr>
                      <a:r>
                        <a:rPr sz="1000" b="1" spc="-5" dirty="0">
                          <a:latin typeface="Courier New"/>
                          <a:cs typeface="Courier New"/>
                        </a:rPr>
                        <a:t>Set of socket descriptors for select()</a:t>
                      </a:r>
                      <a:r>
                        <a:rPr sz="1000" b="1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b="1" spc="-5" dirty="0">
                          <a:latin typeface="Courier New"/>
                          <a:cs typeface="Courier New"/>
                        </a:rPr>
                        <a:t>*/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065"/>
                        </a:lnSpc>
                      </a:pPr>
                      <a:r>
                        <a:rPr sz="1000" b="1" spc="-5" dirty="0">
                          <a:latin typeface="Courier New"/>
                          <a:cs typeface="Courier New"/>
                        </a:rPr>
                        <a:t>long</a:t>
                      </a:r>
                      <a:r>
                        <a:rPr sz="1000" b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b="1" spc="-5" dirty="0">
                          <a:solidFill>
                            <a:srgbClr val="AFBF39"/>
                          </a:solidFill>
                          <a:latin typeface="Courier New"/>
                          <a:cs typeface="Courier New"/>
                        </a:rPr>
                        <a:t>timeout</a:t>
                      </a:r>
                      <a:r>
                        <a:rPr sz="1000" b="1" spc="-5" dirty="0">
                          <a:latin typeface="Courier New"/>
                          <a:cs typeface="Courier New"/>
                        </a:rPr>
                        <a:t>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ts val="1065"/>
                        </a:lnSpc>
                      </a:pPr>
                      <a:r>
                        <a:rPr sz="1000" b="1" spc="-5" dirty="0">
                          <a:latin typeface="Courier New"/>
                          <a:cs typeface="Courier New"/>
                        </a:rPr>
                        <a:t>/*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065"/>
                        </a:lnSpc>
                      </a:pPr>
                      <a:r>
                        <a:rPr sz="1000" b="1" spc="-5" dirty="0">
                          <a:latin typeface="Courier New"/>
                          <a:cs typeface="Courier New"/>
                        </a:rPr>
                        <a:t>Timeout value given on command-line</a:t>
                      </a:r>
                      <a:r>
                        <a:rPr sz="1000" b="1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b="1" spc="-5" dirty="0">
                          <a:latin typeface="Courier New"/>
                          <a:cs typeface="Courier New"/>
                        </a:rPr>
                        <a:t>*/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065"/>
                        </a:lnSpc>
                      </a:pPr>
                      <a:r>
                        <a:rPr sz="1000" b="1" spc="-5" dirty="0">
                          <a:latin typeface="Courier New"/>
                          <a:cs typeface="Courier New"/>
                        </a:rPr>
                        <a:t>struct timeval</a:t>
                      </a:r>
                      <a:r>
                        <a:rPr sz="1000" b="1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b="1" spc="-5" dirty="0">
                          <a:solidFill>
                            <a:srgbClr val="3B822F"/>
                          </a:solidFill>
                          <a:latin typeface="Courier New"/>
                          <a:cs typeface="Courier New"/>
                        </a:rPr>
                        <a:t>selTimeout</a:t>
                      </a:r>
                      <a:r>
                        <a:rPr sz="1000" b="1" spc="-5" dirty="0">
                          <a:latin typeface="Courier New"/>
                          <a:cs typeface="Courier New"/>
                        </a:rPr>
                        <a:t>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ts val="1065"/>
                        </a:lnSpc>
                      </a:pPr>
                      <a:r>
                        <a:rPr sz="1000" b="1" spc="-5" dirty="0">
                          <a:latin typeface="Courier New"/>
                          <a:cs typeface="Courier New"/>
                        </a:rPr>
                        <a:t>/*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065"/>
                        </a:lnSpc>
                      </a:pPr>
                      <a:r>
                        <a:rPr sz="1000" b="1" spc="-5" dirty="0">
                          <a:latin typeface="Courier New"/>
                          <a:cs typeface="Courier New"/>
                        </a:rPr>
                        <a:t>Timeout for select()</a:t>
                      </a:r>
                      <a:r>
                        <a:rPr sz="10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b="1" spc="-5" dirty="0">
                          <a:latin typeface="Courier New"/>
                          <a:cs typeface="Courier New"/>
                        </a:rPr>
                        <a:t>*/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065"/>
                        </a:lnSpc>
                      </a:pPr>
                      <a:r>
                        <a:rPr sz="1000" b="1" spc="-5" dirty="0">
                          <a:latin typeface="Courier New"/>
                          <a:cs typeface="Courier New"/>
                        </a:rPr>
                        <a:t>int running </a:t>
                      </a:r>
                      <a:r>
                        <a:rPr sz="1000" b="1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000" b="1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b="1" spc="-5" dirty="0">
                          <a:latin typeface="Courier New"/>
                          <a:cs typeface="Courier New"/>
                        </a:rPr>
                        <a:t>1;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ts val="1065"/>
                        </a:lnSpc>
                      </a:pPr>
                      <a:r>
                        <a:rPr sz="1000" b="1" spc="-5" dirty="0">
                          <a:latin typeface="Courier New"/>
                          <a:cs typeface="Courier New"/>
                        </a:rPr>
                        <a:t>/*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065"/>
                        </a:lnSpc>
                      </a:pPr>
                      <a:r>
                        <a:rPr sz="1000" b="1" dirty="0">
                          <a:latin typeface="Courier New"/>
                          <a:cs typeface="Courier New"/>
                        </a:rPr>
                        <a:t>1 </a:t>
                      </a:r>
                      <a:r>
                        <a:rPr sz="1000" b="1" spc="-5" dirty="0">
                          <a:latin typeface="Courier New"/>
                          <a:cs typeface="Courier New"/>
                        </a:rPr>
                        <a:t>if server should be running; </a:t>
                      </a:r>
                      <a:r>
                        <a:rPr sz="1000" b="1" dirty="0">
                          <a:latin typeface="Courier New"/>
                          <a:cs typeface="Courier New"/>
                        </a:rPr>
                        <a:t>0 </a:t>
                      </a:r>
                      <a:r>
                        <a:rPr sz="1000" b="1" spc="-5" dirty="0">
                          <a:latin typeface="Courier New"/>
                          <a:cs typeface="Courier New"/>
                        </a:rPr>
                        <a:t>otherwise</a:t>
                      </a:r>
                      <a:r>
                        <a:rPr sz="1000" b="1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b="1" spc="-5" dirty="0">
                          <a:latin typeface="Courier New"/>
                          <a:cs typeface="Courier New"/>
                        </a:rPr>
                        <a:t>*/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151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065"/>
                        </a:lnSpc>
                      </a:pPr>
                      <a:r>
                        <a:rPr sz="1000" b="1" spc="-5" dirty="0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1000" b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b="1" spc="-5" dirty="0">
                          <a:latin typeface="Courier New"/>
                          <a:cs typeface="Courier New"/>
                        </a:rPr>
                        <a:t>noPorts;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ts val="1065"/>
                        </a:lnSpc>
                      </a:pPr>
                      <a:r>
                        <a:rPr sz="1000" b="1" spc="-5" dirty="0">
                          <a:latin typeface="Courier New"/>
                          <a:cs typeface="Courier New"/>
                        </a:rPr>
                        <a:t>/*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065"/>
                        </a:lnSpc>
                      </a:pPr>
                      <a:r>
                        <a:rPr sz="1000" b="1" spc="-5" dirty="0">
                          <a:latin typeface="Courier New"/>
                          <a:cs typeface="Courier New"/>
                        </a:rPr>
                        <a:t>Number of port specified on command-line</a:t>
                      </a:r>
                      <a:r>
                        <a:rPr sz="1000" b="1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b="1" spc="-5" dirty="0">
                          <a:latin typeface="Courier New"/>
                          <a:cs typeface="Courier New"/>
                        </a:rPr>
                        <a:t>*/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065"/>
                        </a:lnSpc>
                      </a:pPr>
                      <a:r>
                        <a:rPr sz="1000" b="1" spc="-5" dirty="0"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1000" b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b="1" spc="-5" dirty="0">
                          <a:latin typeface="Courier New"/>
                          <a:cs typeface="Courier New"/>
                        </a:rPr>
                        <a:t>port;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ts val="1065"/>
                        </a:lnSpc>
                      </a:pPr>
                      <a:r>
                        <a:rPr sz="1000" b="1" spc="-5" dirty="0">
                          <a:latin typeface="Courier New"/>
                          <a:cs typeface="Courier New"/>
                        </a:rPr>
                        <a:t>/*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065"/>
                        </a:lnSpc>
                      </a:pPr>
                      <a:r>
                        <a:rPr sz="1000" b="1" spc="-5" dirty="0">
                          <a:latin typeface="Courier New"/>
                          <a:cs typeface="Courier New"/>
                        </a:rPr>
                        <a:t>Looping variable for ports</a:t>
                      </a:r>
                      <a:r>
                        <a:rPr sz="1000" b="1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b="1" spc="-5" dirty="0">
                          <a:latin typeface="Courier New"/>
                          <a:cs typeface="Courier New"/>
                        </a:rPr>
                        <a:t>*/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147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065"/>
                        </a:lnSpc>
                      </a:pPr>
                      <a:r>
                        <a:rPr sz="1000" b="1" spc="-5" dirty="0">
                          <a:latin typeface="Courier New"/>
                          <a:cs typeface="Courier New"/>
                        </a:rPr>
                        <a:t>unsigned short</a:t>
                      </a:r>
                      <a:r>
                        <a:rPr sz="1000" b="1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b="1" spc="-5" dirty="0">
                          <a:latin typeface="Courier New"/>
                          <a:cs typeface="Courier New"/>
                        </a:rPr>
                        <a:t>portNo;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ts val="1065"/>
                        </a:lnSpc>
                      </a:pPr>
                      <a:r>
                        <a:rPr sz="1000" b="1" spc="-5" dirty="0">
                          <a:latin typeface="Courier New"/>
                          <a:cs typeface="Courier New"/>
                        </a:rPr>
                        <a:t>/*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1065"/>
                        </a:lnSpc>
                      </a:pPr>
                      <a:r>
                        <a:rPr sz="1000" b="1" spc="-5" dirty="0">
                          <a:latin typeface="Courier New"/>
                          <a:cs typeface="Courier New"/>
                        </a:rPr>
                        <a:t>Actual port number</a:t>
                      </a:r>
                      <a:r>
                        <a:rPr sz="10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00" b="1" spc="-5" dirty="0">
                          <a:latin typeface="Courier New"/>
                          <a:cs typeface="Courier New"/>
                        </a:rPr>
                        <a:t>*/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49668" y="3084309"/>
            <a:ext cx="581596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5080" indent="-304800">
              <a:lnSpc>
                <a:spcPct val="100000"/>
              </a:lnSpc>
              <a:spcBef>
                <a:spcPts val="100"/>
              </a:spcBef>
              <a:tabLst>
                <a:tab pos="1536065" algn="l"/>
                <a:tab pos="2221865" algn="l"/>
              </a:tabLst>
            </a:pPr>
            <a:r>
              <a:rPr sz="1000" b="1" spc="-5" dirty="0">
                <a:latin typeface="Courier New"/>
                <a:cs typeface="Courier New"/>
              </a:rPr>
              <a:t>if (argc </a:t>
            </a:r>
            <a:r>
              <a:rPr sz="1000" b="1" dirty="0">
                <a:latin typeface="Courier New"/>
                <a:cs typeface="Courier New"/>
              </a:rPr>
              <a:t>&lt;</a:t>
            </a:r>
            <a:r>
              <a:rPr sz="1000" b="1" spc="1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3)</a:t>
            </a:r>
            <a:r>
              <a:rPr sz="1000" b="1" dirty="0">
                <a:latin typeface="Courier New"/>
                <a:cs typeface="Courier New"/>
              </a:rPr>
              <a:t> {	</a:t>
            </a:r>
            <a:r>
              <a:rPr sz="1000" b="1" spc="-5" dirty="0">
                <a:latin typeface="Courier New"/>
                <a:cs typeface="Courier New"/>
              </a:rPr>
              <a:t>/* Test for correct number of arguments */  fprintf(stderr,</a:t>
            </a:r>
            <a:r>
              <a:rPr sz="1000" b="1" spc="2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"Usage:	%s &lt;Timeout (secs.)&gt; &lt;Port 1&gt; ...\n", argv[0]);  exit(1);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b="1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9668" y="3846309"/>
            <a:ext cx="18542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solidFill>
                  <a:srgbClr val="AFBF39"/>
                </a:solidFill>
                <a:latin typeface="Courier New"/>
                <a:cs typeface="Courier New"/>
              </a:rPr>
              <a:t>timeout </a:t>
            </a:r>
            <a:r>
              <a:rPr sz="1000" b="1" dirty="0">
                <a:latin typeface="Courier New"/>
                <a:cs typeface="Courier New"/>
              </a:rPr>
              <a:t>= </a:t>
            </a:r>
            <a:r>
              <a:rPr sz="1000" b="1" spc="-5" dirty="0">
                <a:latin typeface="Courier New"/>
                <a:cs typeface="Courier New"/>
              </a:rPr>
              <a:t>atol(argv[1]);  noPorts </a:t>
            </a:r>
            <a:r>
              <a:rPr sz="1000" b="1" dirty="0">
                <a:latin typeface="Courier New"/>
                <a:cs typeface="Courier New"/>
              </a:rPr>
              <a:t>= </a:t>
            </a:r>
            <a:r>
              <a:rPr sz="1000" b="1" spc="-5" dirty="0">
                <a:latin typeface="Courier New"/>
                <a:cs typeface="Courier New"/>
              </a:rPr>
              <a:t>argc </a:t>
            </a:r>
            <a:r>
              <a:rPr sz="1000" b="1" dirty="0">
                <a:latin typeface="Courier New"/>
                <a:cs typeface="Courier New"/>
              </a:rPr>
              <a:t>-</a:t>
            </a:r>
            <a:r>
              <a:rPr sz="1000" b="1" spc="-4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2;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87702" y="3846309"/>
            <a:ext cx="3606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Courier New"/>
                <a:cs typeface="Courier New"/>
              </a:rPr>
              <a:t>/* First arg: Timeout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/* Number of ports is argument count minus </a:t>
            </a:r>
            <a:r>
              <a:rPr sz="1000" b="1" dirty="0">
                <a:latin typeface="Courier New"/>
                <a:cs typeface="Courier New"/>
              </a:rPr>
              <a:t>2</a:t>
            </a:r>
            <a:r>
              <a:rPr sz="1000" b="1" spc="-2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9668" y="4303509"/>
            <a:ext cx="80251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3822065" algn="l"/>
              </a:tabLst>
            </a:pPr>
            <a:r>
              <a:rPr sz="1000" b="1" spc="-5" dirty="0">
                <a:latin typeface="Courier New"/>
                <a:cs typeface="Courier New"/>
              </a:rPr>
              <a:t>servSock </a:t>
            </a:r>
            <a:r>
              <a:rPr sz="1000" b="1" dirty="0">
                <a:latin typeface="Courier New"/>
                <a:cs typeface="Courier New"/>
              </a:rPr>
              <a:t>= </a:t>
            </a:r>
            <a:r>
              <a:rPr sz="1000" b="1" spc="-5" dirty="0">
                <a:latin typeface="Courier New"/>
                <a:cs typeface="Courier New"/>
              </a:rPr>
              <a:t>(int *) malloc(noPorts </a:t>
            </a:r>
            <a:r>
              <a:rPr sz="1000" b="1" dirty="0">
                <a:latin typeface="Courier New"/>
                <a:cs typeface="Courier New"/>
              </a:rPr>
              <a:t>* </a:t>
            </a:r>
            <a:r>
              <a:rPr sz="1000" b="1" spc="-5" dirty="0">
                <a:latin typeface="Courier New"/>
                <a:cs typeface="Courier New"/>
              </a:rPr>
              <a:t>sizeof(int)); /* Allocate list of sockets for incoming connections */  maxDescriptor</a:t>
            </a:r>
            <a:r>
              <a:rPr sz="1000" b="1" dirty="0">
                <a:latin typeface="Courier New"/>
                <a:cs typeface="Courier New"/>
              </a:rPr>
              <a:t> =</a:t>
            </a:r>
            <a:r>
              <a:rPr sz="1000" b="1" spc="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-1;	/* Initialize maxDescriptor for use by select()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9668" y="4760709"/>
            <a:ext cx="30734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5080" indent="-3048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Courier New"/>
                <a:cs typeface="Courier New"/>
              </a:rPr>
              <a:t>for (port </a:t>
            </a:r>
            <a:r>
              <a:rPr sz="1000" b="1" dirty="0">
                <a:latin typeface="Courier New"/>
                <a:cs typeface="Courier New"/>
              </a:rPr>
              <a:t>= </a:t>
            </a:r>
            <a:r>
              <a:rPr sz="1000" b="1" spc="-5" dirty="0">
                <a:latin typeface="Courier New"/>
                <a:cs typeface="Courier New"/>
              </a:rPr>
              <a:t>0; port </a:t>
            </a:r>
            <a:r>
              <a:rPr sz="1000" b="1" dirty="0">
                <a:latin typeface="Courier New"/>
                <a:cs typeface="Courier New"/>
              </a:rPr>
              <a:t>&lt; </a:t>
            </a:r>
            <a:r>
              <a:rPr sz="1000" b="1" spc="-5" dirty="0">
                <a:latin typeface="Courier New"/>
                <a:cs typeface="Courier New"/>
              </a:rPr>
              <a:t>noPorts; port++) </a:t>
            </a:r>
            <a:r>
              <a:rPr sz="1000" b="1" dirty="0">
                <a:latin typeface="Courier New"/>
                <a:cs typeface="Courier New"/>
              </a:rPr>
              <a:t>{  </a:t>
            </a:r>
            <a:r>
              <a:rPr sz="1000" b="1" spc="-5" dirty="0">
                <a:latin typeface="Courier New"/>
                <a:cs typeface="Courier New"/>
              </a:rPr>
              <a:t>portNo </a:t>
            </a:r>
            <a:r>
              <a:rPr sz="1000" b="1" dirty="0">
                <a:latin typeface="Courier New"/>
                <a:cs typeface="Courier New"/>
              </a:rPr>
              <a:t>= </a:t>
            </a:r>
            <a:r>
              <a:rPr sz="1000" b="1" spc="-5" dirty="0">
                <a:latin typeface="Courier New"/>
                <a:cs typeface="Courier New"/>
              </a:rPr>
              <a:t>atoi(argv[port </a:t>
            </a:r>
            <a:r>
              <a:rPr sz="1000" b="1" dirty="0">
                <a:latin typeface="Courier New"/>
                <a:cs typeface="Courier New"/>
              </a:rPr>
              <a:t>+</a:t>
            </a:r>
            <a:r>
              <a:rPr sz="1000" b="1" spc="-3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2]);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59144" y="4760709"/>
            <a:ext cx="41395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Courier New"/>
                <a:cs typeface="Courier New"/>
              </a:rPr>
              <a:t>/* Create list of ports and sockets to handle ports</a:t>
            </a:r>
            <a:r>
              <a:rPr sz="1000" b="1" spc="-1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/* Add port to port list. Skip first two arguments</a:t>
            </a:r>
            <a:r>
              <a:rPr sz="1000" b="1" spc="-1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9668" y="5065509"/>
            <a:ext cx="749236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Courier New"/>
                <a:cs typeface="Courier New"/>
              </a:rPr>
              <a:t>servSock[port] </a:t>
            </a:r>
            <a:r>
              <a:rPr sz="1000" b="1" dirty="0">
                <a:latin typeface="Courier New"/>
                <a:cs typeface="Courier New"/>
              </a:rPr>
              <a:t>= </a:t>
            </a:r>
            <a:r>
              <a:rPr sz="1000" b="1" spc="-5" dirty="0">
                <a:latin typeface="Courier New"/>
                <a:cs typeface="Courier New"/>
              </a:rPr>
              <a:t>CreateTCPServerSocket(portNo); /* Create port socket</a:t>
            </a:r>
            <a:r>
              <a:rPr sz="1000" b="1" spc="-1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622300" marR="5080" indent="-304800">
              <a:lnSpc>
                <a:spcPct val="100000"/>
              </a:lnSpc>
              <a:tabLst>
                <a:tab pos="3822065" algn="l"/>
              </a:tabLst>
            </a:pPr>
            <a:r>
              <a:rPr sz="1000" b="1" spc="-5" dirty="0">
                <a:latin typeface="Courier New"/>
                <a:cs typeface="Courier New"/>
              </a:rPr>
              <a:t>if (servSock[port]</a:t>
            </a:r>
            <a:r>
              <a:rPr sz="1000" b="1" spc="20" dirty="0"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&gt;</a:t>
            </a:r>
            <a:r>
              <a:rPr sz="1000" b="1" spc="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maxDescriptor)	/* Determine if new descriptor is the largest */  maxDescriptor </a:t>
            </a:r>
            <a:r>
              <a:rPr sz="1000" b="1" dirty="0">
                <a:latin typeface="Courier New"/>
                <a:cs typeface="Courier New"/>
              </a:rPr>
              <a:t>=</a:t>
            </a:r>
            <a:r>
              <a:rPr sz="1000" b="1" spc="-1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servSock[port];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b="1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...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28357" y="110236"/>
            <a:ext cx="766445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5" dirty="0"/>
              <a:t>Multiplexing </a:t>
            </a:r>
            <a:r>
              <a:rPr sz="2800" spc="-175" dirty="0"/>
              <a:t>- </a:t>
            </a:r>
            <a:r>
              <a:rPr sz="2800" spc="-190" dirty="0"/>
              <a:t>Example: </a:t>
            </a:r>
            <a:r>
              <a:rPr sz="2800" spc="-145" dirty="0"/>
              <a:t>echo </a:t>
            </a:r>
            <a:r>
              <a:rPr sz="2800" spc="-204" dirty="0"/>
              <a:t>using </a:t>
            </a:r>
            <a:r>
              <a:rPr sz="2800" spc="-225" dirty="0"/>
              <a:t>stream</a:t>
            </a:r>
            <a:r>
              <a:rPr sz="2800" spc="-15" dirty="0"/>
              <a:t> </a:t>
            </a:r>
            <a:r>
              <a:rPr sz="2800" spc="-155" dirty="0"/>
              <a:t>socket</a:t>
            </a:r>
            <a:endParaRPr sz="2800"/>
          </a:p>
        </p:txBody>
      </p:sp>
      <p:sp>
        <p:nvSpPr>
          <p:cNvPr id="4" name="object 4"/>
          <p:cNvSpPr/>
          <p:nvPr/>
        </p:nvSpPr>
        <p:spPr>
          <a:xfrm>
            <a:off x="353961" y="920750"/>
            <a:ext cx="8587105" cy="5143500"/>
          </a:xfrm>
          <a:custGeom>
            <a:avLst/>
            <a:gdLst/>
            <a:ahLst/>
            <a:cxnLst/>
            <a:rect l="l" t="t" r="r" b="b"/>
            <a:pathLst>
              <a:path w="8587105" h="5143500">
                <a:moveTo>
                  <a:pt x="0" y="0"/>
                </a:moveTo>
                <a:lnTo>
                  <a:pt x="0" y="5143500"/>
                </a:lnTo>
                <a:lnTo>
                  <a:pt x="8586978" y="5143500"/>
                </a:lnTo>
                <a:lnTo>
                  <a:pt x="8586978" y="0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4863" y="950722"/>
            <a:ext cx="7112000" cy="505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2748280">
              <a:lnSpc>
                <a:spcPct val="100000"/>
              </a:lnSpc>
              <a:spcBef>
                <a:spcPts val="100"/>
              </a:spcBef>
              <a:tabLst>
                <a:tab pos="2298065" algn="l"/>
              </a:tabLst>
            </a:pPr>
            <a:r>
              <a:rPr sz="1000" b="1" spc="-5" dirty="0">
                <a:latin typeface="Courier New"/>
                <a:cs typeface="Courier New"/>
              </a:rPr>
              <a:t>printf("Starting</a:t>
            </a:r>
            <a:r>
              <a:rPr sz="1000" b="1" spc="1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server:	Hit return to shutdown\n");  while (running)</a:t>
            </a:r>
            <a:r>
              <a:rPr sz="1000" b="1" spc="-10" dirty="0"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/* Zero socket descriptor vector and set for server sockets */</a:t>
            </a:r>
            <a:endParaRPr sz="1000">
              <a:latin typeface="Courier New"/>
              <a:cs typeface="Courier New"/>
            </a:endParaRPr>
          </a:p>
          <a:p>
            <a:pPr marL="622300" marR="2367280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/* This must be reset every time select() is called */  </a:t>
            </a:r>
            <a:r>
              <a:rPr sz="1000" b="1" spc="-5" dirty="0">
                <a:solidFill>
                  <a:srgbClr val="006533"/>
                </a:solidFill>
                <a:latin typeface="Courier New"/>
                <a:cs typeface="Courier New"/>
              </a:rPr>
              <a:t>FD_ZERO</a:t>
            </a:r>
            <a:r>
              <a:rPr sz="1000" b="1" spc="-5" dirty="0">
                <a:latin typeface="Courier New"/>
                <a:cs typeface="Courier New"/>
              </a:rPr>
              <a:t>(&amp;</a:t>
            </a:r>
            <a:r>
              <a:rPr sz="1000" b="1" spc="-5" dirty="0">
                <a:solidFill>
                  <a:srgbClr val="9A6500"/>
                </a:solidFill>
                <a:latin typeface="Courier New"/>
                <a:cs typeface="Courier New"/>
              </a:rPr>
              <a:t>sockSet</a:t>
            </a:r>
            <a:r>
              <a:rPr sz="1000" b="1" spc="-5" dirty="0"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  <a:p>
            <a:pPr marL="622300" marR="995680">
              <a:lnSpc>
                <a:spcPct val="100000"/>
              </a:lnSpc>
            </a:pPr>
            <a:r>
              <a:rPr sz="1000" b="1" spc="-5" dirty="0">
                <a:solidFill>
                  <a:srgbClr val="006533"/>
                </a:solidFill>
                <a:latin typeface="Courier New"/>
                <a:cs typeface="Courier New"/>
              </a:rPr>
              <a:t>FD_SET</a:t>
            </a:r>
            <a:r>
              <a:rPr sz="1000" b="1" spc="-5" dirty="0">
                <a:latin typeface="Courier New"/>
                <a:cs typeface="Courier New"/>
              </a:rPr>
              <a:t>(STDIN_FILENO, &amp;</a:t>
            </a:r>
            <a:r>
              <a:rPr sz="1000" b="1" spc="-5" dirty="0">
                <a:solidFill>
                  <a:srgbClr val="9A6500"/>
                </a:solidFill>
                <a:latin typeface="Courier New"/>
                <a:cs typeface="Courier New"/>
              </a:rPr>
              <a:t>sockSet</a:t>
            </a:r>
            <a:r>
              <a:rPr sz="1000" b="1" spc="-5" dirty="0">
                <a:latin typeface="Courier New"/>
                <a:cs typeface="Courier New"/>
              </a:rPr>
              <a:t>); /* Add keyboard to descriptor vector */  for (port </a:t>
            </a:r>
            <a:r>
              <a:rPr sz="1000" b="1" dirty="0">
                <a:latin typeface="Courier New"/>
                <a:cs typeface="Courier New"/>
              </a:rPr>
              <a:t>= </a:t>
            </a:r>
            <a:r>
              <a:rPr sz="1000" b="1" spc="-5" dirty="0">
                <a:latin typeface="Courier New"/>
                <a:cs typeface="Courier New"/>
              </a:rPr>
              <a:t>0; port </a:t>
            </a:r>
            <a:r>
              <a:rPr sz="1000" b="1" dirty="0">
                <a:latin typeface="Courier New"/>
                <a:cs typeface="Courier New"/>
              </a:rPr>
              <a:t>&lt; </a:t>
            </a:r>
            <a:r>
              <a:rPr sz="1000" b="1" spc="-5" dirty="0">
                <a:latin typeface="Courier New"/>
                <a:cs typeface="Courier New"/>
              </a:rPr>
              <a:t>noPorts; port++) FD_SET(servSock[port],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&amp;sockSet);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/* Timeout specification</a:t>
            </a:r>
            <a:r>
              <a:rPr sz="1000" b="1" spc="-1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622300" marR="2214880">
              <a:lnSpc>
                <a:spcPct val="100000"/>
              </a:lnSpc>
              <a:tabLst>
                <a:tab pos="3288665" algn="l"/>
              </a:tabLst>
            </a:pPr>
            <a:r>
              <a:rPr sz="1000" b="1" spc="-5" dirty="0">
                <a:latin typeface="Courier New"/>
                <a:cs typeface="Courier New"/>
              </a:rPr>
              <a:t>/* This must be reset every time select() is called */  </a:t>
            </a:r>
            <a:r>
              <a:rPr sz="1000" b="1" spc="-5" dirty="0">
                <a:solidFill>
                  <a:srgbClr val="3B822F"/>
                </a:solidFill>
                <a:latin typeface="Courier New"/>
                <a:cs typeface="Courier New"/>
              </a:rPr>
              <a:t>selTimeout</a:t>
            </a:r>
            <a:r>
              <a:rPr sz="1000" b="1" spc="-5" dirty="0">
                <a:latin typeface="Courier New"/>
                <a:cs typeface="Courier New"/>
              </a:rPr>
              <a:t>.tv_sec</a:t>
            </a:r>
            <a:r>
              <a:rPr sz="1000" b="1" spc="5" dirty="0"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=</a:t>
            </a:r>
            <a:r>
              <a:rPr sz="1000" b="1" spc="1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timeout;	/* timeout (secs.) */  </a:t>
            </a:r>
            <a:r>
              <a:rPr sz="1000" b="1" spc="-5" dirty="0">
                <a:solidFill>
                  <a:srgbClr val="3B822F"/>
                </a:solidFill>
                <a:latin typeface="Courier New"/>
                <a:cs typeface="Courier New"/>
              </a:rPr>
              <a:t>selTimeout</a:t>
            </a:r>
            <a:r>
              <a:rPr sz="1000" b="1" spc="-5" dirty="0">
                <a:latin typeface="Courier New"/>
                <a:cs typeface="Courier New"/>
              </a:rPr>
              <a:t>.tv_usec</a:t>
            </a:r>
            <a:r>
              <a:rPr sz="1000" b="1" spc="5" dirty="0"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=</a:t>
            </a:r>
            <a:r>
              <a:rPr sz="1000" b="1" spc="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0;	/* </a:t>
            </a:r>
            <a:r>
              <a:rPr sz="1000" b="1" dirty="0">
                <a:latin typeface="Courier New"/>
                <a:cs typeface="Courier New"/>
              </a:rPr>
              <a:t>0 </a:t>
            </a:r>
            <a:r>
              <a:rPr sz="1000" b="1" spc="-5" dirty="0">
                <a:latin typeface="Courier New"/>
                <a:cs typeface="Courier New"/>
              </a:rPr>
              <a:t>microseconds</a:t>
            </a:r>
            <a:r>
              <a:rPr sz="1000" b="1" spc="-6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Times New Roman"/>
              <a:cs typeface="Times New Roman"/>
            </a:endParaRPr>
          </a:p>
          <a:p>
            <a:pPr marL="622300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/* Suspend program until descriptor is ready or timeout</a:t>
            </a:r>
            <a:r>
              <a:rPr sz="1000" b="1" spc="-1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927100" marR="690880" indent="-304800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if (</a:t>
            </a:r>
            <a:r>
              <a:rPr sz="1000" b="1" spc="-5" dirty="0">
                <a:solidFill>
                  <a:srgbClr val="006533"/>
                </a:solidFill>
                <a:latin typeface="Courier New"/>
                <a:cs typeface="Courier New"/>
              </a:rPr>
              <a:t>select</a:t>
            </a:r>
            <a:r>
              <a:rPr sz="1000" b="1" spc="-5" dirty="0">
                <a:latin typeface="Courier New"/>
                <a:cs typeface="Courier New"/>
              </a:rPr>
              <a:t>(maxDescriptor </a:t>
            </a:r>
            <a:r>
              <a:rPr sz="1000" b="1" dirty="0">
                <a:latin typeface="Courier New"/>
                <a:cs typeface="Courier New"/>
              </a:rPr>
              <a:t>+ </a:t>
            </a:r>
            <a:r>
              <a:rPr sz="1000" b="1" spc="-5" dirty="0">
                <a:latin typeface="Courier New"/>
                <a:cs typeface="Courier New"/>
              </a:rPr>
              <a:t>1, &amp;</a:t>
            </a:r>
            <a:r>
              <a:rPr sz="1000" b="1" spc="-5" dirty="0">
                <a:solidFill>
                  <a:srgbClr val="9A6500"/>
                </a:solidFill>
                <a:latin typeface="Courier New"/>
                <a:cs typeface="Courier New"/>
              </a:rPr>
              <a:t>sockSet</a:t>
            </a:r>
            <a:r>
              <a:rPr sz="1000" b="1" spc="-5" dirty="0">
                <a:latin typeface="Courier New"/>
                <a:cs typeface="Courier New"/>
              </a:rPr>
              <a:t>, NULL, NULL, &amp;</a:t>
            </a:r>
            <a:r>
              <a:rPr sz="1000" b="1" spc="-5" dirty="0">
                <a:solidFill>
                  <a:srgbClr val="3B822F"/>
                </a:solidFill>
                <a:latin typeface="Courier New"/>
                <a:cs typeface="Courier New"/>
              </a:rPr>
              <a:t>selTimeout</a:t>
            </a:r>
            <a:r>
              <a:rPr sz="1000" b="1" spc="-5" dirty="0">
                <a:latin typeface="Courier New"/>
                <a:cs typeface="Courier New"/>
              </a:rPr>
              <a:t>) == 0)  printf("No echo requests for %ld secs...Server still alive\n",</a:t>
            </a:r>
            <a:r>
              <a:rPr sz="1000" b="1" spc="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timeout);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  <a:tabLst>
                <a:tab pos="1078865" algn="l"/>
              </a:tabLst>
            </a:pPr>
            <a:r>
              <a:rPr sz="1000" b="1" spc="-5" dirty="0">
                <a:latin typeface="Courier New"/>
                <a:cs typeface="Courier New"/>
              </a:rPr>
              <a:t>else	</a:t>
            </a:r>
            <a:r>
              <a:rPr sz="1000" b="1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1231900" marR="2442845" indent="-304800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if (</a:t>
            </a:r>
            <a:r>
              <a:rPr sz="1000" b="1" spc="-5" dirty="0">
                <a:solidFill>
                  <a:srgbClr val="006533"/>
                </a:solidFill>
                <a:latin typeface="Courier New"/>
                <a:cs typeface="Courier New"/>
              </a:rPr>
              <a:t>FD_ISSET</a:t>
            </a:r>
            <a:r>
              <a:rPr sz="1000" b="1" spc="-5" dirty="0">
                <a:latin typeface="Courier New"/>
                <a:cs typeface="Courier New"/>
              </a:rPr>
              <a:t>(0, &amp;</a:t>
            </a:r>
            <a:r>
              <a:rPr sz="1000" b="1" spc="-5" dirty="0">
                <a:solidFill>
                  <a:srgbClr val="9A6500"/>
                </a:solidFill>
                <a:latin typeface="Courier New"/>
                <a:cs typeface="Courier New"/>
              </a:rPr>
              <a:t>sockSet</a:t>
            </a:r>
            <a:r>
              <a:rPr sz="1000" b="1" spc="-5" dirty="0">
                <a:latin typeface="Courier New"/>
                <a:cs typeface="Courier New"/>
              </a:rPr>
              <a:t>)) </a:t>
            </a:r>
            <a:r>
              <a:rPr sz="1000" b="1" dirty="0">
                <a:latin typeface="Courier New"/>
                <a:cs typeface="Courier New"/>
              </a:rPr>
              <a:t>{ </a:t>
            </a:r>
            <a:r>
              <a:rPr sz="1000" b="1" spc="-5" dirty="0">
                <a:latin typeface="Courier New"/>
                <a:cs typeface="Courier New"/>
              </a:rPr>
              <a:t>/* Check keyboard */  printf("Shutting down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server\n");</a:t>
            </a:r>
            <a:endParaRPr sz="1000">
              <a:latin typeface="Courier New"/>
              <a:cs typeface="Courier New"/>
            </a:endParaRPr>
          </a:p>
          <a:p>
            <a:pPr marL="1231900" marR="4957445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getchar();  running </a:t>
            </a:r>
            <a:r>
              <a:rPr sz="1000" b="1" dirty="0">
                <a:latin typeface="Courier New"/>
                <a:cs typeface="Courier New"/>
              </a:rPr>
              <a:t>=</a:t>
            </a:r>
            <a:r>
              <a:rPr sz="1000" b="1" spc="-9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0;</a:t>
            </a:r>
            <a:endParaRPr sz="1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1000" b="1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for (port </a:t>
            </a:r>
            <a:r>
              <a:rPr sz="1000" b="1" dirty="0">
                <a:latin typeface="Courier New"/>
                <a:cs typeface="Courier New"/>
              </a:rPr>
              <a:t>= </a:t>
            </a:r>
            <a:r>
              <a:rPr sz="1000" b="1" spc="-5" dirty="0">
                <a:latin typeface="Courier New"/>
                <a:cs typeface="Courier New"/>
              </a:rPr>
              <a:t>0; port </a:t>
            </a:r>
            <a:r>
              <a:rPr sz="1000" b="1" dirty="0">
                <a:latin typeface="Courier New"/>
                <a:cs typeface="Courier New"/>
              </a:rPr>
              <a:t>&lt; </a:t>
            </a:r>
            <a:r>
              <a:rPr sz="1000" b="1" spc="-5" dirty="0">
                <a:latin typeface="Courier New"/>
                <a:cs typeface="Courier New"/>
              </a:rPr>
              <a:t>noPorts;</a:t>
            </a:r>
            <a:r>
              <a:rPr sz="1000" b="1" spc="-2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port++)</a:t>
            </a:r>
            <a:endParaRPr sz="1000">
              <a:latin typeface="Courier New"/>
              <a:cs typeface="Courier New"/>
            </a:endParaRPr>
          </a:p>
          <a:p>
            <a:pPr marL="1536065" marR="1529080" indent="-304800">
              <a:lnSpc>
                <a:spcPct val="100000"/>
              </a:lnSpc>
              <a:tabLst>
                <a:tab pos="3745865" algn="l"/>
              </a:tabLst>
            </a:pPr>
            <a:r>
              <a:rPr sz="1000" b="1" spc="-5" dirty="0">
                <a:latin typeface="Courier New"/>
                <a:cs typeface="Courier New"/>
              </a:rPr>
              <a:t>if (</a:t>
            </a:r>
            <a:r>
              <a:rPr sz="1000" b="1" spc="-5" dirty="0">
                <a:solidFill>
                  <a:srgbClr val="006533"/>
                </a:solidFill>
                <a:latin typeface="Courier New"/>
                <a:cs typeface="Courier New"/>
              </a:rPr>
              <a:t>FD_ISSET</a:t>
            </a:r>
            <a:r>
              <a:rPr sz="1000" b="1" spc="-5" dirty="0">
                <a:latin typeface="Courier New"/>
                <a:cs typeface="Courier New"/>
              </a:rPr>
              <a:t>(servSock[port], &amp;</a:t>
            </a:r>
            <a:r>
              <a:rPr sz="1000" b="1" spc="-5" dirty="0">
                <a:solidFill>
                  <a:srgbClr val="9A6500"/>
                </a:solidFill>
                <a:latin typeface="Courier New"/>
                <a:cs typeface="Courier New"/>
              </a:rPr>
              <a:t>sockSet</a:t>
            </a:r>
            <a:r>
              <a:rPr sz="1000" b="1" spc="-5" dirty="0">
                <a:latin typeface="Courier New"/>
                <a:cs typeface="Courier New"/>
              </a:rPr>
              <a:t>)) </a:t>
            </a:r>
            <a:r>
              <a:rPr sz="1000" b="1" dirty="0">
                <a:latin typeface="Courier New"/>
                <a:cs typeface="Courier New"/>
              </a:rPr>
              <a:t>{  </a:t>
            </a:r>
            <a:r>
              <a:rPr sz="1000" b="1" spc="-5" dirty="0">
                <a:latin typeface="Courier New"/>
                <a:cs typeface="Courier New"/>
              </a:rPr>
              <a:t>printf("Request on</a:t>
            </a:r>
            <a:r>
              <a:rPr sz="1000" b="1" spc="1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port</a:t>
            </a:r>
            <a:r>
              <a:rPr sz="1000" b="1" spc="1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%d:	", port);  HandleTCPClient(AcceptTCPConnection(servSock[port]));</a:t>
            </a:r>
            <a:endParaRPr sz="1000">
              <a:latin typeface="Courier New"/>
              <a:cs typeface="Courier New"/>
            </a:endParaRPr>
          </a:p>
          <a:p>
            <a:pPr marL="1231265">
              <a:lnSpc>
                <a:spcPct val="100000"/>
              </a:lnSpc>
            </a:pPr>
            <a:r>
              <a:rPr sz="1000" b="1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621665">
              <a:lnSpc>
                <a:spcPct val="100000"/>
              </a:lnSpc>
            </a:pPr>
            <a:r>
              <a:rPr sz="1000" b="1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316865">
              <a:lnSpc>
                <a:spcPct val="100000"/>
              </a:lnSpc>
            </a:pPr>
            <a:r>
              <a:rPr sz="1000" b="1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316865" marR="5080">
              <a:lnSpc>
                <a:spcPct val="100000"/>
              </a:lnSpc>
              <a:tabLst>
                <a:tab pos="5116830" algn="l"/>
              </a:tabLst>
            </a:pPr>
            <a:r>
              <a:rPr sz="1000" b="1" spc="-5" dirty="0">
                <a:latin typeface="Courier New"/>
                <a:cs typeface="Courier New"/>
              </a:rPr>
              <a:t>for (port </a:t>
            </a:r>
            <a:r>
              <a:rPr sz="1000" b="1" dirty="0">
                <a:latin typeface="Courier New"/>
                <a:cs typeface="Courier New"/>
              </a:rPr>
              <a:t>= </a:t>
            </a:r>
            <a:r>
              <a:rPr sz="1000" b="1" spc="-5" dirty="0">
                <a:latin typeface="Courier New"/>
                <a:cs typeface="Courier New"/>
              </a:rPr>
              <a:t>0; port </a:t>
            </a:r>
            <a:r>
              <a:rPr sz="1000" b="1" dirty="0">
                <a:latin typeface="Courier New"/>
                <a:cs typeface="Courier New"/>
              </a:rPr>
              <a:t>&lt; </a:t>
            </a:r>
            <a:r>
              <a:rPr sz="1000" b="1" spc="-5" dirty="0">
                <a:latin typeface="Courier New"/>
                <a:cs typeface="Courier New"/>
              </a:rPr>
              <a:t>noPorts;</a:t>
            </a:r>
            <a:r>
              <a:rPr sz="1000" b="1" spc="5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port++)</a:t>
            </a:r>
            <a:r>
              <a:rPr sz="1000" b="1" spc="5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close(servSock[port]);	/* Close sockets */  free(servSock);	/* Free list of sockets</a:t>
            </a:r>
            <a:r>
              <a:rPr sz="1000" b="1" spc="-60" dirty="0">
                <a:latin typeface="Courier New"/>
                <a:cs typeface="Courier New"/>
              </a:rPr>
              <a:t> </a:t>
            </a:r>
            <a:r>
              <a:rPr sz="1000" b="1" spc="-5" dirty="0"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316865">
              <a:lnSpc>
                <a:spcPct val="100000"/>
              </a:lnSpc>
            </a:pPr>
            <a:r>
              <a:rPr sz="1000" b="1" spc="-5" dirty="0">
                <a:latin typeface="Courier New"/>
                <a:cs typeface="Courier New"/>
              </a:rPr>
              <a:t>exit(0);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b="1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108</a:t>
            </a:fld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49525" y="261873"/>
            <a:ext cx="401574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90" dirty="0"/>
              <a:t>Multiple</a:t>
            </a:r>
            <a:r>
              <a:rPr sz="4200" spc="-30" dirty="0"/>
              <a:t> </a:t>
            </a:r>
            <a:r>
              <a:rPr sz="4200" spc="-270" dirty="0"/>
              <a:t>Recipients</a:t>
            </a:r>
            <a:endParaRPr sz="4200"/>
          </a:p>
        </p:txBody>
      </p:sp>
      <p:sp>
        <p:nvSpPr>
          <p:cNvPr id="7" name="object 7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109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453" y="1181582"/>
            <a:ext cx="8158480" cy="476948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4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260" dirty="0">
                <a:latin typeface="Arial"/>
                <a:cs typeface="Arial"/>
              </a:rPr>
              <a:t>So </a:t>
            </a:r>
            <a:r>
              <a:rPr sz="2200" spc="-35" dirty="0">
                <a:latin typeface="Arial"/>
                <a:cs typeface="Arial"/>
              </a:rPr>
              <a:t>far, </a:t>
            </a:r>
            <a:r>
              <a:rPr sz="2200" spc="5" dirty="0">
                <a:latin typeface="Arial"/>
                <a:cs typeface="Arial"/>
              </a:rPr>
              <a:t>all </a:t>
            </a:r>
            <a:r>
              <a:rPr sz="2200" spc="-130" dirty="0">
                <a:latin typeface="Arial"/>
                <a:cs typeface="Arial"/>
              </a:rPr>
              <a:t>sockets </a:t>
            </a:r>
            <a:r>
              <a:rPr sz="2200" spc="-110" dirty="0">
                <a:latin typeface="Arial"/>
                <a:cs typeface="Arial"/>
              </a:rPr>
              <a:t>have </a:t>
            </a:r>
            <a:r>
              <a:rPr sz="2200" spc="-60" dirty="0">
                <a:latin typeface="Arial"/>
                <a:cs typeface="Arial"/>
              </a:rPr>
              <a:t>dealt </a:t>
            </a:r>
            <a:r>
              <a:rPr sz="2200" spc="95" dirty="0">
                <a:latin typeface="Arial"/>
                <a:cs typeface="Arial"/>
              </a:rPr>
              <a:t>with </a:t>
            </a:r>
            <a:r>
              <a:rPr sz="2200" b="1" spc="-170" dirty="0">
                <a:solidFill>
                  <a:srgbClr val="9A6500"/>
                </a:solidFill>
                <a:latin typeface="Arial"/>
                <a:cs typeface="Arial"/>
              </a:rPr>
              <a:t>uni</a:t>
            </a:r>
            <a:r>
              <a:rPr sz="2200" b="1" spc="-170" dirty="0">
                <a:solidFill>
                  <a:srgbClr val="CC9A00"/>
                </a:solidFill>
                <a:latin typeface="Arial"/>
                <a:cs typeface="Arial"/>
              </a:rPr>
              <a:t>cast</a:t>
            </a:r>
            <a:r>
              <a:rPr sz="2200" b="1" spc="-405" dirty="0">
                <a:solidFill>
                  <a:srgbClr val="CC9A00"/>
                </a:solidFill>
                <a:latin typeface="Arial"/>
                <a:cs typeface="Arial"/>
              </a:rPr>
              <a:t> </a:t>
            </a:r>
            <a:r>
              <a:rPr sz="2200" spc="-35" dirty="0">
                <a:latin typeface="Arial"/>
                <a:cs typeface="Arial"/>
              </a:rPr>
              <a:t>communication</a:t>
            </a:r>
            <a:endParaRPr sz="2200">
              <a:latin typeface="Arial"/>
              <a:cs typeface="Arial"/>
            </a:endParaRPr>
          </a:p>
          <a:p>
            <a:pPr marL="681990" marR="5080" lvl="1" indent="-325120">
              <a:lnSpc>
                <a:spcPct val="100000"/>
              </a:lnSpc>
              <a:spcBef>
                <a:spcPts val="49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50" dirty="0">
                <a:latin typeface="Arial"/>
                <a:cs typeface="Arial"/>
              </a:rPr>
              <a:t>i.e., </a:t>
            </a:r>
            <a:r>
              <a:rPr sz="2000" spc="-105" dirty="0">
                <a:latin typeface="Arial"/>
                <a:cs typeface="Arial"/>
              </a:rPr>
              <a:t>an </a:t>
            </a:r>
            <a:r>
              <a:rPr sz="2000" spc="-40" dirty="0">
                <a:latin typeface="Arial"/>
                <a:cs typeface="Arial"/>
              </a:rPr>
              <a:t>one-to-one </a:t>
            </a:r>
            <a:r>
              <a:rPr sz="2000" spc="-30" dirty="0">
                <a:latin typeface="Arial"/>
                <a:cs typeface="Arial"/>
              </a:rPr>
              <a:t>communication, </a:t>
            </a:r>
            <a:r>
              <a:rPr sz="2000" spc="-35" dirty="0">
                <a:latin typeface="Arial"/>
                <a:cs typeface="Arial"/>
              </a:rPr>
              <a:t>where </a:t>
            </a:r>
            <a:r>
              <a:rPr sz="2000" spc="-95" dirty="0">
                <a:latin typeface="Arial"/>
                <a:cs typeface="Arial"/>
              </a:rPr>
              <a:t>one </a:t>
            </a:r>
            <a:r>
              <a:rPr sz="2000" spc="-65" dirty="0">
                <a:latin typeface="Arial"/>
                <a:cs typeface="Arial"/>
              </a:rPr>
              <a:t>copy </a:t>
            </a:r>
            <a:r>
              <a:rPr sz="2000" spc="-10" dirty="0">
                <a:latin typeface="Arial"/>
                <a:cs typeface="Arial"/>
              </a:rPr>
              <a:t>(“</a:t>
            </a:r>
            <a:r>
              <a:rPr sz="2000" b="1" spc="-10" dirty="0">
                <a:solidFill>
                  <a:srgbClr val="9A6500"/>
                </a:solidFill>
                <a:latin typeface="Arial"/>
                <a:cs typeface="Arial"/>
              </a:rPr>
              <a:t>uni</a:t>
            </a:r>
            <a:r>
              <a:rPr sz="2000" spc="-10" dirty="0">
                <a:latin typeface="Arial"/>
                <a:cs typeface="Arial"/>
              </a:rPr>
              <a:t>”) of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105" dirty="0">
                <a:latin typeface="Arial"/>
                <a:cs typeface="Arial"/>
              </a:rPr>
              <a:t>data  </a:t>
            </a:r>
            <a:r>
              <a:rPr sz="2000" spc="-85" dirty="0">
                <a:latin typeface="Arial"/>
                <a:cs typeface="Arial"/>
              </a:rPr>
              <a:t>is </a:t>
            </a:r>
            <a:r>
              <a:rPr sz="2000" spc="-95" dirty="0">
                <a:latin typeface="Arial"/>
                <a:cs typeface="Arial"/>
              </a:rPr>
              <a:t>sent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(“</a:t>
            </a:r>
            <a:r>
              <a:rPr sz="2000" b="1" spc="-90" dirty="0">
                <a:solidFill>
                  <a:srgbClr val="CC9A00"/>
                </a:solidFill>
                <a:latin typeface="Arial"/>
                <a:cs typeface="Arial"/>
              </a:rPr>
              <a:t>cast</a:t>
            </a:r>
            <a:r>
              <a:rPr sz="2000" spc="-90" dirty="0">
                <a:latin typeface="Arial"/>
                <a:cs typeface="Arial"/>
              </a:rPr>
              <a:t>”)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5" dirty="0">
                <a:latin typeface="Arial"/>
                <a:cs typeface="Arial"/>
              </a:rPr>
              <a:t>what </a:t>
            </a:r>
            <a:r>
              <a:rPr sz="2200" spc="110" dirty="0">
                <a:latin typeface="Arial"/>
                <a:cs typeface="Arial"/>
              </a:rPr>
              <a:t>if </a:t>
            </a:r>
            <a:r>
              <a:rPr sz="2200" spc="-55" dirty="0">
                <a:latin typeface="Arial"/>
                <a:cs typeface="Arial"/>
              </a:rPr>
              <a:t>we </a:t>
            </a:r>
            <a:r>
              <a:rPr sz="2200" spc="-5" dirty="0">
                <a:latin typeface="Arial"/>
                <a:cs typeface="Arial"/>
              </a:rPr>
              <a:t>want </a:t>
            </a:r>
            <a:r>
              <a:rPr sz="2200" dirty="0">
                <a:latin typeface="Arial"/>
                <a:cs typeface="Arial"/>
              </a:rPr>
              <a:t>to </a:t>
            </a:r>
            <a:r>
              <a:rPr sz="2200" spc="-145" dirty="0">
                <a:latin typeface="Arial"/>
                <a:cs typeface="Arial"/>
              </a:rPr>
              <a:t>send </a:t>
            </a:r>
            <a:r>
              <a:rPr sz="2200" spc="-114" dirty="0">
                <a:latin typeface="Arial"/>
                <a:cs typeface="Arial"/>
              </a:rPr>
              <a:t>data </a:t>
            </a:r>
            <a:r>
              <a:rPr sz="2200" dirty="0">
                <a:latin typeface="Arial"/>
                <a:cs typeface="Arial"/>
              </a:rPr>
              <a:t>to </a:t>
            </a:r>
            <a:r>
              <a:rPr sz="2200" spc="20" dirty="0">
                <a:latin typeface="Arial"/>
                <a:cs typeface="Arial"/>
              </a:rPr>
              <a:t>multiple</a:t>
            </a:r>
            <a:r>
              <a:rPr sz="2200" spc="-380" dirty="0">
                <a:latin typeface="Arial"/>
                <a:cs typeface="Arial"/>
              </a:rPr>
              <a:t> </a:t>
            </a:r>
            <a:r>
              <a:rPr sz="2200" spc="-75" dirty="0">
                <a:latin typeface="Arial"/>
                <a:cs typeface="Arial"/>
              </a:rPr>
              <a:t>recipients?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2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b="1" spc="-145" dirty="0">
                <a:latin typeface="Arial"/>
                <a:cs typeface="Arial"/>
              </a:rPr>
              <a:t>1</a:t>
            </a:r>
            <a:r>
              <a:rPr sz="2250" b="1" spc="-217" baseline="25925" dirty="0">
                <a:latin typeface="Arial"/>
                <a:cs typeface="Arial"/>
              </a:rPr>
              <a:t>st </a:t>
            </a:r>
            <a:r>
              <a:rPr sz="2200" b="1" spc="-135" dirty="0">
                <a:latin typeface="Arial"/>
                <a:cs typeface="Arial"/>
              </a:rPr>
              <a:t>Solution</a:t>
            </a:r>
            <a:r>
              <a:rPr sz="2200" spc="-135" dirty="0">
                <a:latin typeface="Arial"/>
                <a:cs typeface="Arial"/>
              </a:rPr>
              <a:t>: </a:t>
            </a:r>
            <a:r>
              <a:rPr sz="2200" spc="-70" dirty="0">
                <a:latin typeface="Arial"/>
                <a:cs typeface="Arial"/>
              </a:rPr>
              <a:t>unicast </a:t>
            </a:r>
            <a:r>
              <a:rPr sz="2200" spc="-250" dirty="0">
                <a:latin typeface="Arial"/>
                <a:cs typeface="Arial"/>
              </a:rPr>
              <a:t>a </a:t>
            </a:r>
            <a:r>
              <a:rPr sz="2200" spc="-70" dirty="0">
                <a:latin typeface="Arial"/>
                <a:cs typeface="Arial"/>
              </a:rPr>
              <a:t>copy </a:t>
            </a:r>
            <a:r>
              <a:rPr sz="2200" spc="-15" dirty="0">
                <a:latin typeface="Arial"/>
                <a:cs typeface="Arial"/>
              </a:rPr>
              <a:t>of </a:t>
            </a:r>
            <a:r>
              <a:rPr sz="2200" spc="-25" dirty="0">
                <a:latin typeface="Arial"/>
                <a:cs typeface="Arial"/>
              </a:rPr>
              <a:t>the </a:t>
            </a:r>
            <a:r>
              <a:rPr sz="2200" spc="-114" dirty="0">
                <a:latin typeface="Arial"/>
                <a:cs typeface="Arial"/>
              </a:rPr>
              <a:t>data </a:t>
            </a:r>
            <a:r>
              <a:rPr sz="2200" dirty="0">
                <a:latin typeface="Arial"/>
                <a:cs typeface="Arial"/>
              </a:rPr>
              <a:t>to </a:t>
            </a:r>
            <a:r>
              <a:rPr sz="2200" spc="-145" dirty="0">
                <a:latin typeface="Arial"/>
                <a:cs typeface="Arial"/>
              </a:rPr>
              <a:t>each</a:t>
            </a:r>
            <a:r>
              <a:rPr sz="2200" spc="-409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recipient</a:t>
            </a:r>
            <a:endParaRPr sz="2200">
              <a:latin typeface="Arial"/>
              <a:cs typeface="Arial"/>
            </a:endParaRPr>
          </a:p>
          <a:p>
            <a:pPr marL="356870">
              <a:lnSpc>
                <a:spcPct val="100000"/>
              </a:lnSpc>
              <a:spcBef>
                <a:spcPts val="95"/>
              </a:spcBef>
            </a:pPr>
            <a:r>
              <a:rPr sz="2400" spc="2030" dirty="0">
                <a:solidFill>
                  <a:srgbClr val="9A6500"/>
                </a:solidFill>
                <a:latin typeface="Wingdings"/>
                <a:cs typeface="Wingdings"/>
              </a:rPr>
              <a:t></a:t>
            </a:r>
            <a:r>
              <a:rPr sz="2400" spc="265" dirty="0">
                <a:solidFill>
                  <a:srgbClr val="9A6500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Arial"/>
                <a:cs typeface="Arial"/>
              </a:rPr>
              <a:t>inefficient, </a:t>
            </a:r>
            <a:r>
              <a:rPr sz="2000" spc="-105" dirty="0">
                <a:latin typeface="Arial"/>
                <a:cs typeface="Arial"/>
              </a:rPr>
              <a:t>e.g.,</a:t>
            </a:r>
            <a:endParaRPr sz="2000">
              <a:latin typeface="Arial"/>
              <a:cs typeface="Arial"/>
            </a:endParaRPr>
          </a:p>
          <a:p>
            <a:pPr marL="1035050" indent="-351155">
              <a:lnSpc>
                <a:spcPct val="100000"/>
              </a:lnSpc>
              <a:spcBef>
                <a:spcPts val="370"/>
              </a:spcBef>
              <a:buClr>
                <a:srgbClr val="9A6500"/>
              </a:buClr>
              <a:buSzPct val="66666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1800" spc="-60" dirty="0">
                <a:latin typeface="Arial"/>
                <a:cs typeface="Arial"/>
              </a:rPr>
              <a:t>consider </a:t>
            </a:r>
            <a:r>
              <a:rPr sz="1800" spc="-45" dirty="0">
                <a:latin typeface="Arial"/>
                <a:cs typeface="Arial"/>
              </a:rPr>
              <a:t>we </a:t>
            </a:r>
            <a:r>
              <a:rPr sz="1800" spc="-100" dirty="0">
                <a:latin typeface="Arial"/>
                <a:cs typeface="Arial"/>
              </a:rPr>
              <a:t>are </a:t>
            </a:r>
            <a:r>
              <a:rPr sz="1800" spc="-65" dirty="0">
                <a:latin typeface="Arial"/>
                <a:cs typeface="Arial"/>
              </a:rPr>
              <a:t>connected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30" dirty="0">
                <a:latin typeface="Arial"/>
                <a:cs typeface="Arial"/>
              </a:rPr>
              <a:t>the </a:t>
            </a:r>
            <a:r>
              <a:rPr sz="1800" spc="5" dirty="0">
                <a:latin typeface="Arial"/>
                <a:cs typeface="Arial"/>
              </a:rPr>
              <a:t>internet </a:t>
            </a:r>
            <a:r>
              <a:rPr sz="1800" spc="-10" dirty="0">
                <a:latin typeface="Arial"/>
                <a:cs typeface="Arial"/>
              </a:rPr>
              <a:t>through </a:t>
            </a:r>
            <a:r>
              <a:rPr sz="1800" spc="-204" dirty="0">
                <a:latin typeface="Arial"/>
                <a:cs typeface="Arial"/>
              </a:rPr>
              <a:t>a </a:t>
            </a:r>
            <a:r>
              <a:rPr sz="1800" spc="-70" dirty="0">
                <a:latin typeface="Arial"/>
                <a:cs typeface="Arial"/>
              </a:rPr>
              <a:t>3Mbps</a:t>
            </a:r>
            <a:r>
              <a:rPr sz="1800" spc="-300" dirty="0">
                <a:latin typeface="Arial"/>
                <a:cs typeface="Arial"/>
              </a:rPr>
              <a:t> </a:t>
            </a:r>
            <a:r>
              <a:rPr sz="1800" spc="10" dirty="0">
                <a:latin typeface="Arial"/>
                <a:cs typeface="Arial"/>
              </a:rPr>
              <a:t>line</a:t>
            </a:r>
            <a:endParaRPr sz="1800">
              <a:latin typeface="Arial"/>
              <a:cs typeface="Arial"/>
            </a:endParaRPr>
          </a:p>
          <a:p>
            <a:pPr marL="1035050" indent="-351155">
              <a:lnSpc>
                <a:spcPct val="100000"/>
              </a:lnSpc>
              <a:spcBef>
                <a:spcPts val="445"/>
              </a:spcBef>
              <a:buClr>
                <a:srgbClr val="9A6500"/>
              </a:buClr>
              <a:buSzPct val="66666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1800" spc="-204" dirty="0">
                <a:latin typeface="Arial"/>
                <a:cs typeface="Arial"/>
              </a:rPr>
              <a:t>a </a:t>
            </a:r>
            <a:r>
              <a:rPr sz="1800" spc="-40" dirty="0">
                <a:latin typeface="Arial"/>
                <a:cs typeface="Arial"/>
              </a:rPr>
              <a:t>video </a:t>
            </a:r>
            <a:r>
              <a:rPr sz="1800" spc="-70" dirty="0">
                <a:latin typeface="Arial"/>
                <a:cs typeface="Arial"/>
              </a:rPr>
              <a:t>server </a:t>
            </a:r>
            <a:r>
              <a:rPr sz="1800" spc="-145" dirty="0">
                <a:latin typeface="Arial"/>
                <a:cs typeface="Arial"/>
              </a:rPr>
              <a:t>sends </a:t>
            </a:r>
            <a:r>
              <a:rPr sz="1800" spc="-45" dirty="0">
                <a:latin typeface="Arial"/>
                <a:cs typeface="Arial"/>
              </a:rPr>
              <a:t>1-Mbps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105" dirty="0">
                <a:latin typeface="Arial"/>
                <a:cs typeface="Arial"/>
              </a:rPr>
              <a:t>streams</a:t>
            </a:r>
            <a:endParaRPr sz="1800">
              <a:latin typeface="Arial"/>
              <a:cs typeface="Arial"/>
            </a:endParaRPr>
          </a:p>
          <a:p>
            <a:pPr marL="1035050" indent="-351155">
              <a:lnSpc>
                <a:spcPct val="100000"/>
              </a:lnSpc>
              <a:spcBef>
                <a:spcPts val="439"/>
              </a:spcBef>
              <a:buClr>
                <a:srgbClr val="9A6500"/>
              </a:buClr>
              <a:buSzPct val="66666"/>
              <a:buFont typeface="Wingdings"/>
              <a:buChar char=""/>
              <a:tabLst>
                <a:tab pos="1035050" algn="l"/>
                <a:tab pos="1035685" algn="l"/>
              </a:tabLst>
            </a:pPr>
            <a:r>
              <a:rPr sz="1800" spc="-25" dirty="0">
                <a:latin typeface="Arial"/>
                <a:cs typeface="Arial"/>
              </a:rPr>
              <a:t>then, </a:t>
            </a:r>
            <a:r>
              <a:rPr sz="1800" spc="-70" dirty="0">
                <a:latin typeface="Arial"/>
                <a:cs typeface="Arial"/>
              </a:rPr>
              <a:t>server </a:t>
            </a:r>
            <a:r>
              <a:rPr sz="1800" spc="-95" dirty="0">
                <a:latin typeface="Arial"/>
                <a:cs typeface="Arial"/>
              </a:rPr>
              <a:t>can </a:t>
            </a:r>
            <a:r>
              <a:rPr sz="1800" spc="-45" dirty="0">
                <a:latin typeface="Arial"/>
                <a:cs typeface="Arial"/>
              </a:rPr>
              <a:t>support </a:t>
            </a:r>
            <a:r>
              <a:rPr sz="1800" spc="15" dirty="0">
                <a:latin typeface="Arial"/>
                <a:cs typeface="Arial"/>
              </a:rPr>
              <a:t>only </a:t>
            </a:r>
            <a:r>
              <a:rPr sz="1800" spc="-35" dirty="0">
                <a:latin typeface="Arial"/>
                <a:cs typeface="Arial"/>
              </a:rPr>
              <a:t>three </a:t>
            </a:r>
            <a:r>
              <a:rPr sz="1800" spc="-30" dirty="0">
                <a:latin typeface="Arial"/>
                <a:cs typeface="Arial"/>
              </a:rPr>
              <a:t>clients</a:t>
            </a:r>
            <a:r>
              <a:rPr sz="1800" spc="-120" dirty="0">
                <a:latin typeface="Arial"/>
                <a:cs typeface="Arial"/>
              </a:rPr>
              <a:t> </a:t>
            </a:r>
            <a:r>
              <a:rPr sz="1800" spc="-45" dirty="0">
                <a:latin typeface="Arial"/>
                <a:cs typeface="Arial"/>
              </a:rPr>
              <a:t>simultaneously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b="1" spc="-110" dirty="0">
                <a:latin typeface="Arial"/>
                <a:cs typeface="Arial"/>
              </a:rPr>
              <a:t>2</a:t>
            </a:r>
            <a:r>
              <a:rPr sz="2250" b="1" spc="-165" baseline="25925" dirty="0">
                <a:latin typeface="Arial"/>
                <a:cs typeface="Arial"/>
              </a:rPr>
              <a:t>nd </a:t>
            </a:r>
            <a:r>
              <a:rPr sz="2200" b="1" spc="-135" dirty="0">
                <a:latin typeface="Arial"/>
                <a:cs typeface="Arial"/>
              </a:rPr>
              <a:t>Solution</a:t>
            </a:r>
            <a:r>
              <a:rPr sz="2200" spc="-135" dirty="0">
                <a:latin typeface="Arial"/>
                <a:cs typeface="Arial"/>
              </a:rPr>
              <a:t>: </a:t>
            </a:r>
            <a:r>
              <a:rPr sz="2200" spc="-80" dirty="0">
                <a:latin typeface="Arial"/>
                <a:cs typeface="Arial"/>
              </a:rPr>
              <a:t>using </a:t>
            </a:r>
            <a:r>
              <a:rPr sz="2200" spc="10" dirty="0">
                <a:latin typeface="Arial"/>
                <a:cs typeface="Arial"/>
              </a:rPr>
              <a:t>network</a:t>
            </a:r>
            <a:r>
              <a:rPr sz="2200" spc="65" dirty="0">
                <a:latin typeface="Arial"/>
                <a:cs typeface="Arial"/>
              </a:rPr>
              <a:t> </a:t>
            </a:r>
            <a:r>
              <a:rPr sz="2200" spc="-60" dirty="0">
                <a:latin typeface="Arial"/>
                <a:cs typeface="Arial"/>
              </a:rPr>
              <a:t>support</a:t>
            </a:r>
            <a:endParaRPr sz="22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9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b="1" spc="-170" dirty="0">
                <a:solidFill>
                  <a:srgbClr val="A50021"/>
                </a:solidFill>
                <a:latin typeface="Arial"/>
                <a:cs typeface="Arial"/>
              </a:rPr>
              <a:t>broadcast</a:t>
            </a:r>
            <a:r>
              <a:rPr sz="2000" spc="-170" dirty="0">
                <a:latin typeface="Arial"/>
                <a:cs typeface="Arial"/>
              </a:rPr>
              <a:t>, </a:t>
            </a:r>
            <a:r>
              <a:rPr sz="2000" spc="5" dirty="0">
                <a:latin typeface="Arial"/>
                <a:cs typeface="Arial"/>
              </a:rPr>
              <a:t>all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110" dirty="0">
                <a:latin typeface="Arial"/>
                <a:cs typeface="Arial"/>
              </a:rPr>
              <a:t>hosts </a:t>
            </a:r>
            <a:r>
              <a:rPr sz="2000" spc="-10" dirty="0">
                <a:latin typeface="Arial"/>
                <a:cs typeface="Arial"/>
              </a:rPr>
              <a:t>of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5" dirty="0">
                <a:latin typeface="Arial"/>
                <a:cs typeface="Arial"/>
              </a:rPr>
              <a:t>network </a:t>
            </a:r>
            <a:r>
              <a:rPr sz="2000" spc="-70" dirty="0">
                <a:latin typeface="Arial"/>
                <a:cs typeface="Arial"/>
              </a:rPr>
              <a:t>receive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200" dirty="0">
                <a:latin typeface="Arial"/>
                <a:cs typeface="Arial"/>
              </a:rPr>
              <a:t>message</a:t>
            </a:r>
            <a:endParaRPr sz="20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b="1" spc="-120" dirty="0">
                <a:solidFill>
                  <a:srgbClr val="CA6800"/>
                </a:solidFill>
                <a:latin typeface="Arial"/>
                <a:cs typeface="Arial"/>
              </a:rPr>
              <a:t>multicast</a:t>
            </a:r>
            <a:r>
              <a:rPr sz="2000" spc="-120" dirty="0">
                <a:latin typeface="Arial"/>
                <a:cs typeface="Arial"/>
              </a:rPr>
              <a:t>, </a:t>
            </a:r>
            <a:r>
              <a:rPr sz="2000" spc="-229" dirty="0">
                <a:latin typeface="Arial"/>
                <a:cs typeface="Arial"/>
              </a:rPr>
              <a:t>a </a:t>
            </a:r>
            <a:r>
              <a:rPr sz="2000" spc="-200" dirty="0">
                <a:latin typeface="Arial"/>
                <a:cs typeface="Arial"/>
              </a:rPr>
              <a:t>message </a:t>
            </a:r>
            <a:r>
              <a:rPr sz="2000" spc="-85" dirty="0">
                <a:latin typeface="Arial"/>
                <a:cs typeface="Arial"/>
              </a:rPr>
              <a:t>is </a:t>
            </a:r>
            <a:r>
              <a:rPr sz="2000" spc="-95" dirty="0">
                <a:latin typeface="Arial"/>
                <a:cs typeface="Arial"/>
              </a:rPr>
              <a:t>sent </a:t>
            </a:r>
            <a:r>
              <a:rPr sz="2000" dirty="0">
                <a:latin typeface="Arial"/>
                <a:cs typeface="Arial"/>
              </a:rPr>
              <a:t>to </a:t>
            </a:r>
            <a:r>
              <a:rPr sz="2000" spc="-155" dirty="0">
                <a:latin typeface="Arial"/>
                <a:cs typeface="Arial"/>
              </a:rPr>
              <a:t>some </a:t>
            </a:r>
            <a:r>
              <a:rPr sz="2000" spc="-130" dirty="0">
                <a:latin typeface="Arial"/>
                <a:cs typeface="Arial"/>
              </a:rPr>
              <a:t>subset </a:t>
            </a:r>
            <a:r>
              <a:rPr sz="2000" spc="-15" dirty="0">
                <a:latin typeface="Arial"/>
                <a:cs typeface="Arial"/>
              </a:rPr>
              <a:t>of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25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host</a:t>
            </a:r>
            <a:endParaRPr sz="2000">
              <a:latin typeface="Arial"/>
              <a:cs typeface="Arial"/>
            </a:endParaRPr>
          </a:p>
          <a:p>
            <a:pPr marL="356870">
              <a:lnSpc>
                <a:spcPct val="100000"/>
              </a:lnSpc>
              <a:spcBef>
                <a:spcPts val="80"/>
              </a:spcBef>
            </a:pPr>
            <a:r>
              <a:rPr sz="2400" spc="1040" dirty="0">
                <a:solidFill>
                  <a:srgbClr val="9A6500"/>
                </a:solidFill>
                <a:latin typeface="Wingdings"/>
                <a:cs typeface="Wingdings"/>
              </a:rPr>
              <a:t></a:t>
            </a:r>
            <a:r>
              <a:rPr sz="2000" spc="1040" dirty="0">
                <a:latin typeface="Arial"/>
                <a:cs typeface="Arial"/>
              </a:rPr>
              <a:t>for</a:t>
            </a:r>
            <a:r>
              <a:rPr sz="2000" spc="-3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IP: </a:t>
            </a:r>
            <a:r>
              <a:rPr sz="2000" spc="20" dirty="0">
                <a:latin typeface="Arial"/>
                <a:cs typeface="Arial"/>
              </a:rPr>
              <a:t>only </a:t>
            </a:r>
            <a:r>
              <a:rPr sz="2000" b="1" spc="-55" dirty="0">
                <a:solidFill>
                  <a:srgbClr val="3B822F"/>
                </a:solidFill>
                <a:latin typeface="Arial"/>
                <a:cs typeface="Arial"/>
              </a:rPr>
              <a:t>UDP </a:t>
            </a:r>
            <a:r>
              <a:rPr sz="2000" b="1" spc="-210" dirty="0">
                <a:solidFill>
                  <a:srgbClr val="3B822F"/>
                </a:solidFill>
                <a:latin typeface="Arial"/>
                <a:cs typeface="Arial"/>
              </a:rPr>
              <a:t>sockets </a:t>
            </a:r>
            <a:r>
              <a:rPr sz="2000" spc="-110" dirty="0">
                <a:latin typeface="Arial"/>
                <a:cs typeface="Arial"/>
              </a:rPr>
              <a:t>are </a:t>
            </a:r>
            <a:r>
              <a:rPr sz="2000" spc="-35" dirty="0">
                <a:latin typeface="Arial"/>
                <a:cs typeface="Arial"/>
              </a:rPr>
              <a:t>allowed </a:t>
            </a:r>
            <a:r>
              <a:rPr sz="2000" dirty="0">
                <a:latin typeface="Arial"/>
                <a:cs typeface="Arial"/>
              </a:rPr>
              <a:t>to </a:t>
            </a:r>
            <a:r>
              <a:rPr sz="2000" spc="-100" dirty="0">
                <a:latin typeface="Arial"/>
                <a:cs typeface="Arial"/>
              </a:rPr>
              <a:t>broadcast </a:t>
            </a:r>
            <a:r>
              <a:rPr sz="2000" spc="-90" dirty="0">
                <a:latin typeface="Arial"/>
                <a:cs typeface="Arial"/>
              </a:rPr>
              <a:t>and </a:t>
            </a:r>
            <a:r>
              <a:rPr sz="2000" spc="-25" dirty="0">
                <a:latin typeface="Arial"/>
                <a:cs typeface="Arial"/>
              </a:rPr>
              <a:t>multicast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87880" y="261873"/>
            <a:ext cx="594233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90" dirty="0"/>
              <a:t>Multiple </a:t>
            </a:r>
            <a:r>
              <a:rPr sz="4200" spc="-270" dirty="0"/>
              <a:t>Recipients </a:t>
            </a:r>
            <a:r>
              <a:rPr sz="3200" spc="-200" dirty="0"/>
              <a:t>-</a:t>
            </a:r>
            <a:r>
              <a:rPr sz="3200" spc="65" dirty="0"/>
              <a:t> </a:t>
            </a:r>
            <a:r>
              <a:rPr sz="3200" spc="-210" dirty="0"/>
              <a:t>Broadcast</a:t>
            </a:r>
            <a:endParaRPr sz="3200"/>
          </a:p>
        </p:txBody>
      </p:sp>
      <p:sp>
        <p:nvSpPr>
          <p:cNvPr id="7" name="object 7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110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453" y="1184960"/>
            <a:ext cx="8153400" cy="483743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2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35" dirty="0">
                <a:latin typeface="Arial"/>
                <a:cs typeface="Arial"/>
              </a:rPr>
              <a:t>Only </a:t>
            </a:r>
            <a:r>
              <a:rPr sz="2200" spc="-25" dirty="0">
                <a:latin typeface="Arial"/>
                <a:cs typeface="Arial"/>
              </a:rPr>
              <a:t>the </a:t>
            </a:r>
            <a:r>
              <a:rPr sz="2200" spc="-5" dirty="0">
                <a:latin typeface="Arial"/>
                <a:cs typeface="Arial"/>
              </a:rPr>
              <a:t>IP </a:t>
            </a:r>
            <a:r>
              <a:rPr sz="2200" spc="-165" dirty="0">
                <a:latin typeface="Arial"/>
                <a:cs typeface="Arial"/>
              </a:rPr>
              <a:t>address</a:t>
            </a:r>
            <a:r>
              <a:rPr sz="2200" spc="-270" dirty="0">
                <a:latin typeface="Arial"/>
                <a:cs typeface="Arial"/>
              </a:rPr>
              <a:t> </a:t>
            </a:r>
            <a:r>
              <a:rPr sz="2200" spc="-150" dirty="0">
                <a:latin typeface="Arial"/>
                <a:cs typeface="Arial"/>
              </a:rPr>
              <a:t>changes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20"/>
              </a:spcBef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b="1" spc="-170" dirty="0">
                <a:solidFill>
                  <a:srgbClr val="9A6500"/>
                </a:solidFill>
                <a:latin typeface="Arial"/>
                <a:cs typeface="Arial"/>
              </a:rPr>
              <a:t>Local </a:t>
            </a:r>
            <a:r>
              <a:rPr sz="2200" spc="-105" dirty="0">
                <a:latin typeface="Arial"/>
                <a:cs typeface="Arial"/>
              </a:rPr>
              <a:t>broadcast: </a:t>
            </a:r>
            <a:r>
              <a:rPr sz="2200" dirty="0">
                <a:latin typeface="Arial"/>
                <a:cs typeface="Arial"/>
              </a:rPr>
              <a:t>to </a:t>
            </a:r>
            <a:r>
              <a:rPr sz="2200" spc="-165" dirty="0">
                <a:latin typeface="Arial"/>
                <a:cs typeface="Arial"/>
              </a:rPr>
              <a:t>address</a:t>
            </a:r>
            <a:r>
              <a:rPr sz="2200" spc="-10" dirty="0">
                <a:latin typeface="Arial"/>
                <a:cs typeface="Arial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255.255.255.255</a:t>
            </a:r>
            <a:endParaRPr sz="2000">
              <a:latin typeface="Courier New"/>
              <a:cs typeface="Courier New"/>
            </a:endParaRPr>
          </a:p>
          <a:p>
            <a:pPr marL="681990" lvl="1" indent="-325120">
              <a:lnSpc>
                <a:spcPct val="100000"/>
              </a:lnSpc>
              <a:spcBef>
                <a:spcPts val="49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135" dirty="0">
                <a:latin typeface="Arial"/>
                <a:cs typeface="Arial"/>
              </a:rPr>
              <a:t>send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200" dirty="0">
                <a:latin typeface="Arial"/>
                <a:cs typeface="Arial"/>
              </a:rPr>
              <a:t>message </a:t>
            </a:r>
            <a:r>
              <a:rPr sz="2000" dirty="0">
                <a:latin typeface="Arial"/>
                <a:cs typeface="Arial"/>
              </a:rPr>
              <a:t>to </a:t>
            </a:r>
            <a:r>
              <a:rPr sz="2000" spc="-55" dirty="0">
                <a:latin typeface="Arial"/>
                <a:cs typeface="Arial"/>
              </a:rPr>
              <a:t>every </a:t>
            </a:r>
            <a:r>
              <a:rPr sz="2000" spc="-65" dirty="0">
                <a:latin typeface="Arial"/>
                <a:cs typeface="Arial"/>
              </a:rPr>
              <a:t>host </a:t>
            </a:r>
            <a:r>
              <a:rPr sz="2000" spc="-45" dirty="0">
                <a:latin typeface="Arial"/>
                <a:cs typeface="Arial"/>
              </a:rPr>
              <a:t>on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190" dirty="0">
                <a:latin typeface="Arial"/>
                <a:cs typeface="Arial"/>
              </a:rPr>
              <a:t>same </a:t>
            </a:r>
            <a:r>
              <a:rPr sz="2000" spc="-105" dirty="0">
                <a:latin typeface="Arial"/>
                <a:cs typeface="Arial"/>
              </a:rPr>
              <a:t>broadcast</a:t>
            </a:r>
            <a:r>
              <a:rPr sz="2000" spc="-200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network</a:t>
            </a:r>
            <a:endParaRPr sz="20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5" dirty="0">
                <a:latin typeface="Arial"/>
                <a:cs typeface="Arial"/>
              </a:rPr>
              <a:t>not </a:t>
            </a:r>
            <a:r>
              <a:rPr sz="2000" spc="-30" dirty="0">
                <a:latin typeface="Arial"/>
                <a:cs typeface="Arial"/>
              </a:rPr>
              <a:t>forwarded </a:t>
            </a:r>
            <a:r>
              <a:rPr sz="2000" spc="-15" dirty="0">
                <a:latin typeface="Arial"/>
                <a:cs typeface="Arial"/>
              </a:rPr>
              <a:t>by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204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routers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b="1" spc="-110" dirty="0">
                <a:solidFill>
                  <a:srgbClr val="CC9A00"/>
                </a:solidFill>
                <a:latin typeface="Arial"/>
                <a:cs typeface="Arial"/>
              </a:rPr>
              <a:t>Directed</a:t>
            </a:r>
            <a:r>
              <a:rPr sz="2200" b="1" spc="-70" dirty="0">
                <a:solidFill>
                  <a:srgbClr val="CC9A00"/>
                </a:solidFill>
                <a:latin typeface="Arial"/>
                <a:cs typeface="Arial"/>
              </a:rPr>
              <a:t> </a:t>
            </a:r>
            <a:r>
              <a:rPr sz="2200" spc="-105" dirty="0">
                <a:latin typeface="Arial"/>
                <a:cs typeface="Arial"/>
              </a:rPr>
              <a:t>broadcast:</a:t>
            </a:r>
            <a:endParaRPr sz="22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9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25" dirty="0">
                <a:latin typeface="Arial"/>
                <a:cs typeface="Arial"/>
              </a:rPr>
              <a:t>for </a:t>
            </a:r>
            <a:r>
              <a:rPr sz="2000" spc="10" dirty="0">
                <a:latin typeface="Arial"/>
                <a:cs typeface="Arial"/>
              </a:rPr>
              <a:t>network </a:t>
            </a:r>
            <a:r>
              <a:rPr sz="2000" spc="15" dirty="0">
                <a:latin typeface="Arial"/>
                <a:cs typeface="Arial"/>
              </a:rPr>
              <a:t>identifier </a:t>
            </a:r>
            <a:r>
              <a:rPr sz="1800" spc="-10" dirty="0">
                <a:latin typeface="Courier New"/>
                <a:cs typeface="Courier New"/>
              </a:rPr>
              <a:t>169.125</a:t>
            </a:r>
            <a:r>
              <a:rPr sz="1800" spc="-844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Arial"/>
                <a:cs typeface="Arial"/>
              </a:rPr>
              <a:t>(i.e., </a:t>
            </a:r>
            <a:r>
              <a:rPr sz="2000" spc="85" dirty="0">
                <a:latin typeface="Arial"/>
                <a:cs typeface="Arial"/>
              </a:rPr>
              <a:t>with </a:t>
            </a:r>
            <a:r>
              <a:rPr sz="2000" spc="-80" dirty="0">
                <a:latin typeface="Arial"/>
                <a:cs typeface="Arial"/>
              </a:rPr>
              <a:t>subnet </a:t>
            </a:r>
            <a:r>
              <a:rPr sz="2000" spc="-120" dirty="0">
                <a:latin typeface="Arial"/>
                <a:cs typeface="Arial"/>
              </a:rPr>
              <a:t>mask </a:t>
            </a:r>
            <a:r>
              <a:rPr sz="1800" spc="-10" dirty="0">
                <a:latin typeface="Courier New"/>
                <a:cs typeface="Courier New"/>
              </a:rPr>
              <a:t>255.255.0.0</a:t>
            </a:r>
            <a:r>
              <a:rPr sz="2000" spc="-10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40" dirty="0">
                <a:latin typeface="Arial"/>
                <a:cs typeface="Arial"/>
              </a:rPr>
              <a:t>directed </a:t>
            </a:r>
            <a:r>
              <a:rPr sz="2000" spc="-105" dirty="0">
                <a:latin typeface="Arial"/>
                <a:cs typeface="Arial"/>
              </a:rPr>
              <a:t>broadcast </a:t>
            </a:r>
            <a:r>
              <a:rPr sz="2000" spc="-150" dirty="0">
                <a:latin typeface="Arial"/>
                <a:cs typeface="Arial"/>
              </a:rPr>
              <a:t>address </a:t>
            </a:r>
            <a:r>
              <a:rPr sz="2000" spc="-85" dirty="0">
                <a:latin typeface="Arial"/>
                <a:cs typeface="Arial"/>
              </a:rPr>
              <a:t>is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169.125.255.255</a:t>
            </a:r>
            <a:endParaRPr sz="180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55" dirty="0">
                <a:latin typeface="Arial"/>
                <a:cs typeface="Arial"/>
              </a:rPr>
              <a:t>No </a:t>
            </a:r>
            <a:r>
              <a:rPr sz="2200" spc="10" dirty="0">
                <a:latin typeface="Arial"/>
                <a:cs typeface="Arial"/>
              </a:rPr>
              <a:t>network-wide </a:t>
            </a:r>
            <a:r>
              <a:rPr sz="2200" spc="-110" dirty="0">
                <a:latin typeface="Arial"/>
                <a:cs typeface="Arial"/>
              </a:rPr>
              <a:t>broadcast </a:t>
            </a:r>
            <a:r>
              <a:rPr sz="2200" spc="-165" dirty="0">
                <a:latin typeface="Arial"/>
                <a:cs typeface="Arial"/>
              </a:rPr>
              <a:t>address </a:t>
            </a:r>
            <a:r>
              <a:rPr sz="2200" spc="-90" dirty="0">
                <a:latin typeface="Arial"/>
                <a:cs typeface="Arial"/>
              </a:rPr>
              <a:t>is</a:t>
            </a:r>
            <a:r>
              <a:rPr sz="2200" spc="-5" dirty="0">
                <a:latin typeface="Arial"/>
                <a:cs typeface="Arial"/>
              </a:rPr>
              <a:t> </a:t>
            </a:r>
            <a:r>
              <a:rPr sz="2200" spc="-75" dirty="0">
                <a:latin typeface="Arial"/>
                <a:cs typeface="Arial"/>
              </a:rPr>
              <a:t>available</a:t>
            </a:r>
            <a:endParaRPr sz="22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50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45" dirty="0">
                <a:latin typeface="Arial"/>
                <a:cs typeface="Arial"/>
              </a:rPr>
              <a:t>why?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2600" spc="3870" dirty="0">
                <a:solidFill>
                  <a:srgbClr val="9A6500"/>
                </a:solidFill>
                <a:latin typeface="Wingdings"/>
                <a:cs typeface="Wingdings"/>
              </a:rPr>
              <a:t></a:t>
            </a:r>
            <a:r>
              <a:rPr sz="2600" spc="-455" dirty="0">
                <a:solidFill>
                  <a:srgbClr val="9A6500"/>
                </a:solidFill>
                <a:latin typeface="Times New Roman"/>
                <a:cs typeface="Times New Roman"/>
              </a:rPr>
              <a:t> </a:t>
            </a:r>
            <a:r>
              <a:rPr sz="2200" spc="90" dirty="0">
                <a:latin typeface="Arial"/>
                <a:cs typeface="Arial"/>
              </a:rPr>
              <a:t>In </a:t>
            </a:r>
            <a:r>
              <a:rPr sz="2200" spc="-40" dirty="0">
                <a:latin typeface="Arial"/>
                <a:cs typeface="Arial"/>
              </a:rPr>
              <a:t>order </a:t>
            </a:r>
            <a:r>
              <a:rPr sz="2200" dirty="0">
                <a:latin typeface="Arial"/>
                <a:cs typeface="Arial"/>
              </a:rPr>
              <a:t>to </a:t>
            </a:r>
            <a:r>
              <a:rPr sz="2200" spc="-190" dirty="0">
                <a:latin typeface="Arial"/>
                <a:cs typeface="Arial"/>
              </a:rPr>
              <a:t>use </a:t>
            </a:r>
            <a:r>
              <a:rPr sz="2200" spc="-110" dirty="0">
                <a:latin typeface="Arial"/>
                <a:cs typeface="Arial"/>
              </a:rPr>
              <a:t>broadcast </a:t>
            </a:r>
            <a:r>
              <a:rPr sz="2200" spc="-25" dirty="0">
                <a:latin typeface="Arial"/>
                <a:cs typeface="Arial"/>
              </a:rPr>
              <a:t>the </a:t>
            </a:r>
            <a:r>
              <a:rPr sz="2200" spc="-50" dirty="0">
                <a:latin typeface="Arial"/>
                <a:cs typeface="Arial"/>
              </a:rPr>
              <a:t>options </a:t>
            </a:r>
            <a:r>
              <a:rPr sz="2200" spc="-15" dirty="0">
                <a:latin typeface="Arial"/>
                <a:cs typeface="Arial"/>
              </a:rPr>
              <a:t>of </a:t>
            </a:r>
            <a:r>
              <a:rPr sz="2200" spc="-100" dirty="0">
                <a:latin typeface="Arial"/>
                <a:cs typeface="Arial"/>
              </a:rPr>
              <a:t>socket </a:t>
            </a:r>
            <a:r>
              <a:rPr sz="2200" spc="-70" dirty="0">
                <a:latin typeface="Arial"/>
                <a:cs typeface="Arial"/>
              </a:rPr>
              <a:t>must </a:t>
            </a:r>
            <a:r>
              <a:rPr sz="2200" spc="-114" dirty="0">
                <a:latin typeface="Arial"/>
                <a:cs typeface="Arial"/>
              </a:rPr>
              <a:t>change:</a:t>
            </a:r>
            <a:endParaRPr sz="2200">
              <a:latin typeface="Arial"/>
              <a:cs typeface="Arial"/>
            </a:endParaRPr>
          </a:p>
          <a:p>
            <a:pPr marL="356870">
              <a:lnSpc>
                <a:spcPct val="100000"/>
              </a:lnSpc>
              <a:spcBef>
                <a:spcPts val="320"/>
              </a:spcBef>
            </a:pPr>
            <a:r>
              <a:rPr sz="1600" b="1" dirty="0">
                <a:latin typeface="Courier New"/>
                <a:cs typeface="Courier New"/>
              </a:rPr>
              <a:t>int broadcastPermission =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1;</a:t>
            </a:r>
            <a:endParaRPr sz="1600">
              <a:latin typeface="Courier New"/>
              <a:cs typeface="Courier New"/>
            </a:endParaRPr>
          </a:p>
          <a:p>
            <a:pPr marL="681990" marR="1226820" indent="-325755">
              <a:lnSpc>
                <a:spcPct val="100000"/>
              </a:lnSpc>
              <a:spcBef>
                <a:spcPts val="390"/>
              </a:spcBef>
            </a:pPr>
            <a:r>
              <a:rPr sz="1600" b="1" dirty="0">
                <a:latin typeface="Courier New"/>
                <a:cs typeface="Courier New"/>
              </a:rPr>
              <a:t>setsockopt(sock, SOL_SOCKET, SO_BROADCAST, (void*)  &amp;broadcastPermission,</a:t>
            </a:r>
            <a:r>
              <a:rPr sz="1600" b="1" spc="-3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sizeof(broadcastPermission));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46567" y="261873"/>
            <a:ext cx="582739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90" dirty="0"/>
              <a:t>Multiple </a:t>
            </a:r>
            <a:r>
              <a:rPr sz="4200" spc="-270" dirty="0"/>
              <a:t>Recipients </a:t>
            </a:r>
            <a:r>
              <a:rPr sz="3200" spc="-200" dirty="0"/>
              <a:t>-</a:t>
            </a:r>
            <a:r>
              <a:rPr sz="3200" spc="75" dirty="0"/>
              <a:t> </a:t>
            </a:r>
            <a:r>
              <a:rPr sz="3200" spc="-220" dirty="0"/>
              <a:t>Multicast</a:t>
            </a:r>
            <a:endParaRPr sz="3200"/>
          </a:p>
        </p:txBody>
      </p:sp>
      <p:sp>
        <p:nvSpPr>
          <p:cNvPr id="7" name="object 7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111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453" y="1181582"/>
            <a:ext cx="7614920" cy="317881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4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70" dirty="0">
                <a:latin typeface="Arial"/>
                <a:cs typeface="Arial"/>
              </a:rPr>
              <a:t>Using </a:t>
            </a:r>
            <a:r>
              <a:rPr sz="2200" b="1" spc="-275" dirty="0">
                <a:solidFill>
                  <a:srgbClr val="CA6800"/>
                </a:solidFill>
                <a:latin typeface="Arial"/>
                <a:cs typeface="Arial"/>
              </a:rPr>
              <a:t>class </a:t>
            </a:r>
            <a:r>
              <a:rPr sz="2200" b="1" spc="5" dirty="0">
                <a:solidFill>
                  <a:srgbClr val="CA6800"/>
                </a:solidFill>
                <a:latin typeface="Arial"/>
                <a:cs typeface="Arial"/>
              </a:rPr>
              <a:t>D</a:t>
            </a:r>
            <a:r>
              <a:rPr sz="2200" b="1" spc="-195" dirty="0">
                <a:solidFill>
                  <a:srgbClr val="CA6800"/>
                </a:solidFill>
                <a:latin typeface="Arial"/>
                <a:cs typeface="Arial"/>
              </a:rPr>
              <a:t> </a:t>
            </a:r>
            <a:r>
              <a:rPr sz="2200" spc="-185" dirty="0">
                <a:latin typeface="Arial"/>
                <a:cs typeface="Arial"/>
              </a:rPr>
              <a:t>addresses</a:t>
            </a:r>
            <a:endParaRPr sz="22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9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95" dirty="0">
                <a:latin typeface="Arial"/>
                <a:cs typeface="Arial"/>
              </a:rPr>
              <a:t>range </a:t>
            </a:r>
            <a:r>
              <a:rPr sz="2000" spc="10" dirty="0">
                <a:latin typeface="Arial"/>
                <a:cs typeface="Arial"/>
              </a:rPr>
              <a:t>from </a:t>
            </a:r>
            <a:r>
              <a:rPr sz="1800" spc="-10" dirty="0">
                <a:latin typeface="Courier New"/>
                <a:cs typeface="Courier New"/>
              </a:rPr>
              <a:t>224.0.0.0</a:t>
            </a:r>
            <a:r>
              <a:rPr sz="1800" spc="-735" dirty="0">
                <a:latin typeface="Courier New"/>
                <a:cs typeface="Courier New"/>
              </a:rPr>
              <a:t> </a:t>
            </a:r>
            <a:r>
              <a:rPr sz="2000" dirty="0">
                <a:latin typeface="Arial"/>
                <a:cs typeface="Arial"/>
              </a:rPr>
              <a:t>to </a:t>
            </a:r>
            <a:r>
              <a:rPr sz="1800" spc="-10" dirty="0">
                <a:latin typeface="Courier New"/>
                <a:cs typeface="Courier New"/>
              </a:rPr>
              <a:t>239.255.255.255</a:t>
            </a:r>
            <a:endParaRPr sz="180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505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120" dirty="0">
                <a:latin typeface="Arial"/>
                <a:cs typeface="Arial"/>
              </a:rPr>
              <a:t>hosts </a:t>
            </a:r>
            <a:r>
              <a:rPr sz="2200" spc="-145" dirty="0">
                <a:latin typeface="Arial"/>
                <a:cs typeface="Arial"/>
              </a:rPr>
              <a:t>send </a:t>
            </a:r>
            <a:r>
              <a:rPr sz="2200" b="1" spc="-140" dirty="0">
                <a:solidFill>
                  <a:srgbClr val="CC9A00"/>
                </a:solidFill>
                <a:latin typeface="Arial"/>
                <a:cs typeface="Arial"/>
              </a:rPr>
              <a:t>multicast </a:t>
            </a:r>
            <a:r>
              <a:rPr sz="2200" b="1" spc="-215" dirty="0">
                <a:solidFill>
                  <a:srgbClr val="CC9A00"/>
                </a:solidFill>
                <a:latin typeface="Arial"/>
                <a:cs typeface="Arial"/>
              </a:rPr>
              <a:t>requests </a:t>
            </a:r>
            <a:r>
              <a:rPr sz="2200" spc="25" dirty="0">
                <a:latin typeface="Arial"/>
                <a:cs typeface="Arial"/>
              </a:rPr>
              <a:t>for </a:t>
            </a:r>
            <a:r>
              <a:rPr sz="2200" spc="-65" dirty="0">
                <a:latin typeface="Arial"/>
                <a:cs typeface="Arial"/>
              </a:rPr>
              <a:t>specific</a:t>
            </a:r>
            <a:r>
              <a:rPr sz="2200" spc="-215" dirty="0">
                <a:latin typeface="Arial"/>
                <a:cs typeface="Arial"/>
              </a:rPr>
              <a:t> </a:t>
            </a:r>
            <a:r>
              <a:rPr sz="2200" spc="-185" dirty="0">
                <a:latin typeface="Arial"/>
                <a:cs typeface="Arial"/>
              </a:rPr>
              <a:t>addresses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20"/>
              </a:spcBef>
              <a:buClr>
                <a:srgbClr val="9A6500"/>
              </a:buClr>
              <a:buSzPct val="63636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200" spc="-250" dirty="0">
                <a:latin typeface="Arial"/>
                <a:cs typeface="Arial"/>
              </a:rPr>
              <a:t>a </a:t>
            </a:r>
            <a:r>
              <a:rPr sz="2200" b="1" spc="-140" dirty="0">
                <a:solidFill>
                  <a:srgbClr val="9A6500"/>
                </a:solidFill>
                <a:latin typeface="Arial"/>
                <a:cs typeface="Arial"/>
              </a:rPr>
              <a:t>multicast </a:t>
            </a:r>
            <a:r>
              <a:rPr sz="2200" b="1" spc="-185" dirty="0">
                <a:solidFill>
                  <a:srgbClr val="9A6500"/>
                </a:solidFill>
                <a:latin typeface="Arial"/>
                <a:cs typeface="Arial"/>
              </a:rPr>
              <a:t>group </a:t>
            </a:r>
            <a:r>
              <a:rPr sz="2200" spc="-95" dirty="0">
                <a:latin typeface="Arial"/>
                <a:cs typeface="Arial"/>
              </a:rPr>
              <a:t>is</a:t>
            </a:r>
            <a:r>
              <a:rPr sz="2200" spc="-45" dirty="0">
                <a:latin typeface="Arial"/>
                <a:cs typeface="Arial"/>
              </a:rPr>
              <a:t> formed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spc="3870" dirty="0">
                <a:solidFill>
                  <a:srgbClr val="9A6500"/>
                </a:solidFill>
                <a:latin typeface="Wingdings"/>
                <a:cs typeface="Wingdings"/>
              </a:rPr>
              <a:t></a:t>
            </a:r>
            <a:r>
              <a:rPr sz="2600" spc="-315" dirty="0">
                <a:solidFill>
                  <a:srgbClr val="9A6500"/>
                </a:solidFill>
                <a:latin typeface="Times New Roman"/>
                <a:cs typeface="Times New Roman"/>
              </a:rPr>
              <a:t> </a:t>
            </a:r>
            <a:r>
              <a:rPr sz="2200" spc="-55" dirty="0">
                <a:latin typeface="Arial"/>
                <a:cs typeface="Arial"/>
              </a:rPr>
              <a:t>we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-120" dirty="0">
                <a:latin typeface="Arial"/>
                <a:cs typeface="Arial"/>
              </a:rPr>
              <a:t>need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to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-140" dirty="0">
                <a:latin typeface="Arial"/>
                <a:cs typeface="Arial"/>
              </a:rPr>
              <a:t>set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TTL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10" dirty="0">
                <a:latin typeface="Arial"/>
                <a:cs typeface="Arial"/>
              </a:rPr>
              <a:t>(time-to-live),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to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95" dirty="0">
                <a:latin typeface="Arial"/>
                <a:cs typeface="Arial"/>
              </a:rPr>
              <a:t>limit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the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-40" dirty="0">
                <a:latin typeface="Arial"/>
                <a:cs typeface="Arial"/>
              </a:rPr>
              <a:t>number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-15" dirty="0">
                <a:latin typeface="Arial"/>
                <a:cs typeface="Arial"/>
              </a:rPr>
              <a:t>of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-1200" dirty="0">
                <a:latin typeface="Arial"/>
                <a:cs typeface="Arial"/>
              </a:rPr>
              <a:t>hops</a:t>
            </a:r>
            <a:endParaRPr sz="2200">
              <a:latin typeface="Arial"/>
              <a:cs typeface="Arial"/>
            </a:endParaRPr>
          </a:p>
          <a:p>
            <a:pPr marL="356870">
              <a:lnSpc>
                <a:spcPct val="100000"/>
              </a:lnSpc>
              <a:spcBef>
                <a:spcPts val="415"/>
              </a:spcBef>
            </a:pPr>
            <a:r>
              <a:rPr sz="2000" spc="90" dirty="0">
                <a:latin typeface="Arial"/>
                <a:cs typeface="Arial"/>
              </a:rPr>
              <a:t>- </a:t>
            </a:r>
            <a:r>
              <a:rPr sz="2000" spc="-70" dirty="0">
                <a:latin typeface="Arial"/>
                <a:cs typeface="Arial"/>
              </a:rPr>
              <a:t>using</a:t>
            </a:r>
            <a:r>
              <a:rPr sz="2000" spc="-200" dirty="0">
                <a:latin typeface="Arial"/>
                <a:cs typeface="Arial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sockopt()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3870" dirty="0">
                <a:solidFill>
                  <a:srgbClr val="9A6500"/>
                </a:solidFill>
                <a:latin typeface="Wingdings"/>
                <a:cs typeface="Wingdings"/>
              </a:rPr>
              <a:t></a:t>
            </a:r>
            <a:r>
              <a:rPr sz="2600" spc="-400" dirty="0">
                <a:solidFill>
                  <a:srgbClr val="9A6500"/>
                </a:solidFill>
                <a:latin typeface="Times New Roman"/>
                <a:cs typeface="Times New Roman"/>
              </a:rPr>
              <a:t> </a:t>
            </a:r>
            <a:r>
              <a:rPr sz="2200" spc="-45" dirty="0">
                <a:latin typeface="Arial"/>
                <a:cs typeface="Arial"/>
              </a:rPr>
              <a:t>no </a:t>
            </a:r>
            <a:r>
              <a:rPr sz="2200" spc="-120" dirty="0">
                <a:latin typeface="Arial"/>
                <a:cs typeface="Arial"/>
              </a:rPr>
              <a:t>need </a:t>
            </a:r>
            <a:r>
              <a:rPr sz="2200" dirty="0">
                <a:latin typeface="Arial"/>
                <a:cs typeface="Arial"/>
              </a:rPr>
              <a:t>to </a:t>
            </a:r>
            <a:r>
              <a:rPr sz="2200" spc="-125" dirty="0">
                <a:latin typeface="Arial"/>
                <a:cs typeface="Arial"/>
              </a:rPr>
              <a:t>change </a:t>
            </a:r>
            <a:r>
              <a:rPr sz="2200" spc="-25" dirty="0">
                <a:latin typeface="Arial"/>
                <a:cs typeface="Arial"/>
              </a:rPr>
              <a:t>the </a:t>
            </a:r>
            <a:r>
              <a:rPr sz="2200" spc="-50" dirty="0">
                <a:latin typeface="Arial"/>
                <a:cs typeface="Arial"/>
              </a:rPr>
              <a:t>options </a:t>
            </a:r>
            <a:r>
              <a:rPr sz="2200" spc="-15" dirty="0">
                <a:latin typeface="Arial"/>
                <a:cs typeface="Arial"/>
              </a:rPr>
              <a:t>of </a:t>
            </a:r>
            <a:r>
              <a:rPr sz="2200" spc="-100" dirty="0">
                <a:latin typeface="Arial"/>
                <a:cs typeface="Arial"/>
              </a:rPr>
              <a:t>socket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68219" y="261873"/>
            <a:ext cx="358203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35" dirty="0"/>
              <a:t>Useful</a:t>
            </a:r>
            <a:r>
              <a:rPr sz="4200" spc="-45" dirty="0"/>
              <a:t> </a:t>
            </a:r>
            <a:r>
              <a:rPr sz="4200" spc="-250" dirty="0"/>
              <a:t>Functions</a:t>
            </a:r>
            <a:endParaRPr sz="4200"/>
          </a:p>
        </p:txBody>
      </p:sp>
      <p:sp>
        <p:nvSpPr>
          <p:cNvPr id="8" name="object 8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112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453" y="860032"/>
            <a:ext cx="8140065" cy="354330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0"/>
              </a:spcBef>
              <a:buClr>
                <a:srgbClr val="9A6500"/>
              </a:buClr>
              <a:buSzPct val="65000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000" b="1" spc="-5" dirty="0">
                <a:latin typeface="Courier New"/>
                <a:cs typeface="Courier New"/>
              </a:rPr>
              <a:t>int </a:t>
            </a:r>
            <a:r>
              <a:rPr sz="2000" b="1" spc="-5" dirty="0">
                <a:solidFill>
                  <a:srgbClr val="006533"/>
                </a:solidFill>
                <a:latin typeface="Courier New"/>
                <a:cs typeface="Courier New"/>
              </a:rPr>
              <a:t>atoi</a:t>
            </a:r>
            <a:r>
              <a:rPr sz="2000" b="1" spc="-5" dirty="0">
                <a:latin typeface="Courier New"/>
                <a:cs typeface="Courier New"/>
              </a:rPr>
              <a:t>(const char</a:t>
            </a:r>
            <a:r>
              <a:rPr sz="2000" b="1" spc="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*nptr);</a:t>
            </a:r>
            <a:endParaRPr sz="2000">
              <a:latin typeface="Courier New"/>
              <a:cs typeface="Courier New"/>
            </a:endParaRPr>
          </a:p>
          <a:p>
            <a:pPr marL="681990" lvl="1" indent="-325120">
              <a:lnSpc>
                <a:spcPct val="100000"/>
              </a:lnSpc>
              <a:spcBef>
                <a:spcPts val="525"/>
              </a:spcBef>
              <a:buClr>
                <a:srgbClr val="9A6500"/>
              </a:buClr>
              <a:buSzPct val="61111"/>
              <a:buFont typeface="Wingdings"/>
              <a:buChar char=""/>
              <a:tabLst>
                <a:tab pos="682625" algn="l"/>
              </a:tabLst>
            </a:pPr>
            <a:r>
              <a:rPr sz="1800" spc="-50" dirty="0">
                <a:latin typeface="Arial"/>
                <a:cs typeface="Arial"/>
              </a:rPr>
              <a:t>converts </a:t>
            </a:r>
            <a:r>
              <a:rPr sz="1800" spc="-25" dirty="0">
                <a:latin typeface="Arial"/>
                <a:cs typeface="Arial"/>
              </a:rPr>
              <a:t>the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45" dirty="0">
                <a:latin typeface="Arial"/>
                <a:cs typeface="Arial"/>
              </a:rPr>
              <a:t>initial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5" dirty="0">
                <a:latin typeface="Arial"/>
                <a:cs typeface="Arial"/>
              </a:rPr>
              <a:t>portion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of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the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string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pointed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by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nptr</a:t>
            </a:r>
            <a:r>
              <a:rPr sz="1800" spc="-630" dirty="0">
                <a:latin typeface="Courier New"/>
                <a:cs typeface="Courier New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70" dirty="0">
                <a:latin typeface="Arial"/>
                <a:cs typeface="Arial"/>
              </a:rPr>
              <a:t>int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85"/>
              </a:spcBef>
              <a:buClr>
                <a:srgbClr val="9A6500"/>
              </a:buClr>
              <a:buSzPct val="65000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000" b="1" spc="-5" dirty="0">
                <a:latin typeface="Courier New"/>
                <a:cs typeface="Courier New"/>
              </a:rPr>
              <a:t>int </a:t>
            </a:r>
            <a:r>
              <a:rPr sz="2000" b="1" spc="-5" dirty="0">
                <a:solidFill>
                  <a:srgbClr val="9A6500"/>
                </a:solidFill>
                <a:latin typeface="Courier New"/>
                <a:cs typeface="Courier New"/>
              </a:rPr>
              <a:t>inet_aton</a:t>
            </a:r>
            <a:r>
              <a:rPr sz="2000" b="1" spc="-5" dirty="0">
                <a:latin typeface="Courier New"/>
                <a:cs typeface="Courier New"/>
              </a:rPr>
              <a:t>(const char *cp, struct in_addr</a:t>
            </a:r>
            <a:r>
              <a:rPr sz="2000" b="1" spc="8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*inp);</a:t>
            </a:r>
            <a:endParaRPr sz="2000">
              <a:latin typeface="Courier New"/>
              <a:cs typeface="Courier New"/>
            </a:endParaRPr>
          </a:p>
          <a:p>
            <a:pPr marL="681990" marR="367030" lvl="1" indent="-325120">
              <a:lnSpc>
                <a:spcPct val="100000"/>
              </a:lnSpc>
              <a:spcBef>
                <a:spcPts val="54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60" dirty="0">
                <a:latin typeface="Arial"/>
                <a:cs typeface="Arial"/>
              </a:rPr>
              <a:t>converts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5" dirty="0">
                <a:latin typeface="Arial"/>
                <a:cs typeface="Arial"/>
              </a:rPr>
              <a:t>Internet </a:t>
            </a:r>
            <a:r>
              <a:rPr sz="2000" spc="-65" dirty="0">
                <a:latin typeface="Arial"/>
                <a:cs typeface="Arial"/>
              </a:rPr>
              <a:t>host </a:t>
            </a:r>
            <a:r>
              <a:rPr sz="2000" spc="-145" dirty="0">
                <a:latin typeface="Arial"/>
                <a:cs typeface="Arial"/>
              </a:rPr>
              <a:t>address </a:t>
            </a:r>
            <a:r>
              <a:rPr sz="2000" spc="-5" dirty="0">
                <a:latin typeface="Courier New"/>
                <a:cs typeface="Courier New"/>
              </a:rPr>
              <a:t>cp</a:t>
            </a:r>
            <a:r>
              <a:rPr sz="2000" spc="-810" dirty="0">
                <a:latin typeface="Courier New"/>
                <a:cs typeface="Courier New"/>
              </a:rPr>
              <a:t> </a:t>
            </a:r>
            <a:r>
              <a:rPr sz="2000" spc="10" dirty="0">
                <a:latin typeface="Arial"/>
                <a:cs typeface="Arial"/>
              </a:rPr>
              <a:t>from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30" dirty="0">
                <a:latin typeface="Arial"/>
                <a:cs typeface="Arial"/>
              </a:rPr>
              <a:t>IPv4 </a:t>
            </a:r>
            <a:r>
              <a:rPr sz="2000" spc="-50" dirty="0">
                <a:latin typeface="Arial"/>
                <a:cs typeface="Arial"/>
              </a:rPr>
              <a:t>numbers-and-  </a:t>
            </a:r>
            <a:r>
              <a:rPr sz="2000" spc="-85" dirty="0">
                <a:latin typeface="Arial"/>
                <a:cs typeface="Arial"/>
              </a:rPr>
              <a:t>dots </a:t>
            </a:r>
            <a:r>
              <a:rPr sz="2000" spc="-10" dirty="0">
                <a:latin typeface="Arial"/>
                <a:cs typeface="Arial"/>
              </a:rPr>
              <a:t>notation </a:t>
            </a:r>
            <a:r>
              <a:rPr sz="2000" spc="35" dirty="0">
                <a:latin typeface="Arial"/>
                <a:cs typeface="Arial"/>
              </a:rPr>
              <a:t>into </a:t>
            </a:r>
            <a:r>
              <a:rPr sz="2000" spc="-5" dirty="0">
                <a:latin typeface="Arial"/>
                <a:cs typeface="Arial"/>
              </a:rPr>
              <a:t>binary </a:t>
            </a:r>
            <a:r>
              <a:rPr sz="2000" spc="10" dirty="0">
                <a:latin typeface="Arial"/>
                <a:cs typeface="Arial"/>
              </a:rPr>
              <a:t>form </a:t>
            </a:r>
            <a:r>
              <a:rPr sz="2000" spc="40" dirty="0">
                <a:latin typeface="Arial"/>
                <a:cs typeface="Arial"/>
              </a:rPr>
              <a:t>(in </a:t>
            </a:r>
            <a:r>
              <a:rPr sz="2000" spc="5" dirty="0">
                <a:latin typeface="Arial"/>
                <a:cs typeface="Arial"/>
              </a:rPr>
              <a:t>network</a:t>
            </a:r>
            <a:r>
              <a:rPr sz="2000" spc="-40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byte order)</a:t>
            </a:r>
            <a:endParaRPr sz="20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114" dirty="0">
                <a:latin typeface="Arial"/>
                <a:cs typeface="Arial"/>
              </a:rPr>
              <a:t>stores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110" dirty="0">
                <a:latin typeface="Arial"/>
                <a:cs typeface="Arial"/>
              </a:rPr>
              <a:t>it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70" dirty="0">
                <a:latin typeface="Arial"/>
                <a:cs typeface="Arial"/>
              </a:rPr>
              <a:t>in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structure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inp</a:t>
            </a:r>
            <a:r>
              <a:rPr sz="2000" spc="-695" dirty="0">
                <a:latin typeface="Courier New"/>
                <a:cs typeface="Courier New"/>
              </a:rPr>
              <a:t> </a:t>
            </a:r>
            <a:r>
              <a:rPr sz="2000" spc="-35" dirty="0">
                <a:latin typeface="Arial"/>
                <a:cs typeface="Arial"/>
              </a:rPr>
              <a:t>points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to.</a:t>
            </a:r>
            <a:endParaRPr sz="20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8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110" dirty="0">
                <a:latin typeface="Arial"/>
                <a:cs typeface="Arial"/>
              </a:rPr>
              <a:t>it </a:t>
            </a:r>
            <a:r>
              <a:rPr sz="2000" spc="-30" dirty="0">
                <a:latin typeface="Arial"/>
                <a:cs typeface="Arial"/>
              </a:rPr>
              <a:t>returns </a:t>
            </a:r>
            <a:r>
              <a:rPr sz="2000" spc="-55" dirty="0">
                <a:latin typeface="Arial"/>
                <a:cs typeface="Arial"/>
              </a:rPr>
              <a:t>nonzero </a:t>
            </a:r>
            <a:r>
              <a:rPr sz="2000" spc="100" dirty="0">
                <a:latin typeface="Arial"/>
                <a:cs typeface="Arial"/>
              </a:rPr>
              <a:t>if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150" dirty="0">
                <a:latin typeface="Arial"/>
                <a:cs typeface="Arial"/>
              </a:rPr>
              <a:t>address </a:t>
            </a:r>
            <a:r>
              <a:rPr sz="2000" spc="-80" dirty="0">
                <a:latin typeface="Arial"/>
                <a:cs typeface="Arial"/>
              </a:rPr>
              <a:t>is </a:t>
            </a:r>
            <a:r>
              <a:rPr sz="2000" spc="-15" dirty="0">
                <a:latin typeface="Arial"/>
                <a:cs typeface="Arial"/>
              </a:rPr>
              <a:t>valid, </a:t>
            </a:r>
            <a:r>
              <a:rPr sz="2000" spc="-90" dirty="0">
                <a:latin typeface="Arial"/>
                <a:cs typeface="Arial"/>
              </a:rPr>
              <a:t>and </a:t>
            </a:r>
            <a:r>
              <a:rPr sz="2000" spc="-114" dirty="0">
                <a:latin typeface="Arial"/>
                <a:cs typeface="Arial"/>
              </a:rPr>
              <a:t>0 </a:t>
            </a:r>
            <a:r>
              <a:rPr sz="2000" spc="100" dirty="0">
                <a:latin typeface="Arial"/>
                <a:cs typeface="Arial"/>
              </a:rPr>
              <a:t>if</a:t>
            </a:r>
            <a:r>
              <a:rPr sz="2000" spc="-280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not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05"/>
              </a:spcBef>
              <a:buClr>
                <a:srgbClr val="9A6500"/>
              </a:buClr>
              <a:buSzPct val="65000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000" b="1" spc="-5" dirty="0">
                <a:latin typeface="Courier New"/>
                <a:cs typeface="Courier New"/>
              </a:rPr>
              <a:t>char *</a:t>
            </a:r>
            <a:r>
              <a:rPr sz="2000" b="1" spc="-5" dirty="0">
                <a:solidFill>
                  <a:srgbClr val="9A6500"/>
                </a:solidFill>
                <a:latin typeface="Courier New"/>
                <a:cs typeface="Courier New"/>
              </a:rPr>
              <a:t>inet_ntoa</a:t>
            </a:r>
            <a:r>
              <a:rPr sz="2000" b="1" spc="-5" dirty="0">
                <a:latin typeface="Courier New"/>
                <a:cs typeface="Courier New"/>
              </a:rPr>
              <a:t>(struct in_addr</a:t>
            </a:r>
            <a:r>
              <a:rPr sz="2000" b="1" spc="1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in);</a:t>
            </a:r>
            <a:endParaRPr sz="2000">
              <a:latin typeface="Courier New"/>
              <a:cs typeface="Courier New"/>
            </a:endParaRPr>
          </a:p>
          <a:p>
            <a:pPr marL="681990" marR="27305" lvl="1" indent="-325120">
              <a:lnSpc>
                <a:spcPct val="100000"/>
              </a:lnSpc>
              <a:spcBef>
                <a:spcPts val="54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60" dirty="0">
                <a:latin typeface="Arial"/>
                <a:cs typeface="Arial"/>
              </a:rPr>
              <a:t>converts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5" dirty="0">
                <a:latin typeface="Arial"/>
                <a:cs typeface="Arial"/>
              </a:rPr>
              <a:t>Internet </a:t>
            </a:r>
            <a:r>
              <a:rPr sz="2000" spc="-65" dirty="0">
                <a:latin typeface="Arial"/>
                <a:cs typeface="Arial"/>
              </a:rPr>
              <a:t>host </a:t>
            </a:r>
            <a:r>
              <a:rPr sz="2000" spc="-145" dirty="0">
                <a:latin typeface="Arial"/>
                <a:cs typeface="Arial"/>
              </a:rPr>
              <a:t>address </a:t>
            </a:r>
            <a:r>
              <a:rPr sz="2000" spc="-20" dirty="0">
                <a:latin typeface="Courier New"/>
                <a:cs typeface="Courier New"/>
              </a:rPr>
              <a:t>in</a:t>
            </a:r>
            <a:r>
              <a:rPr sz="2000" spc="-20" dirty="0">
                <a:latin typeface="Arial"/>
                <a:cs typeface="Arial"/>
              </a:rPr>
              <a:t>, </a:t>
            </a:r>
            <a:r>
              <a:rPr sz="2000" spc="-45" dirty="0">
                <a:latin typeface="Arial"/>
                <a:cs typeface="Arial"/>
              </a:rPr>
              <a:t>given </a:t>
            </a:r>
            <a:r>
              <a:rPr sz="2000" spc="65" dirty="0">
                <a:latin typeface="Arial"/>
                <a:cs typeface="Arial"/>
              </a:rPr>
              <a:t>in </a:t>
            </a:r>
            <a:r>
              <a:rPr sz="2000" spc="10" dirty="0">
                <a:latin typeface="Arial"/>
                <a:cs typeface="Arial"/>
              </a:rPr>
              <a:t>network </a:t>
            </a:r>
            <a:r>
              <a:rPr sz="2000" spc="-30" dirty="0">
                <a:latin typeface="Arial"/>
                <a:cs typeface="Arial"/>
              </a:rPr>
              <a:t>byte </a:t>
            </a:r>
            <a:r>
              <a:rPr sz="2000" spc="-35" dirty="0">
                <a:latin typeface="Arial"/>
                <a:cs typeface="Arial"/>
              </a:rPr>
              <a:t>order,</a:t>
            </a:r>
            <a:r>
              <a:rPr sz="2000" spc="-35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to  </a:t>
            </a:r>
            <a:r>
              <a:rPr sz="2000" spc="-229" dirty="0">
                <a:latin typeface="Arial"/>
                <a:cs typeface="Arial"/>
              </a:rPr>
              <a:t>a </a:t>
            </a:r>
            <a:r>
              <a:rPr sz="2000" spc="-20" dirty="0">
                <a:latin typeface="Arial"/>
                <a:cs typeface="Arial"/>
              </a:rPr>
              <a:t>string </a:t>
            </a:r>
            <a:r>
              <a:rPr sz="2000" spc="70" dirty="0">
                <a:latin typeface="Arial"/>
                <a:cs typeface="Arial"/>
              </a:rPr>
              <a:t>in </a:t>
            </a:r>
            <a:r>
              <a:rPr sz="2000" spc="-30" dirty="0">
                <a:latin typeface="Arial"/>
                <a:cs typeface="Arial"/>
              </a:rPr>
              <a:t>IPv4 </a:t>
            </a:r>
            <a:r>
              <a:rPr sz="2000" spc="-35" dirty="0">
                <a:latin typeface="Arial"/>
                <a:cs typeface="Arial"/>
              </a:rPr>
              <a:t>dotted-decimal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notation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0693" y="4656073"/>
            <a:ext cx="3676650" cy="1336675"/>
          </a:xfrm>
          <a:prstGeom prst="rect">
            <a:avLst/>
          </a:prstGeom>
          <a:ln w="22225">
            <a:solidFill>
              <a:srgbClr val="9966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300"/>
              </a:spcBef>
            </a:pPr>
            <a:r>
              <a:rPr sz="1600" b="1" dirty="0">
                <a:latin typeface="Courier New"/>
                <a:cs typeface="Courier New"/>
              </a:rPr>
              <a:t>typedef uint32_t</a:t>
            </a:r>
            <a:r>
              <a:rPr sz="1600" b="1" spc="-3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in_addr_t;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50">
              <a:latin typeface="Times New Roman"/>
              <a:cs typeface="Times New Roman"/>
            </a:endParaRPr>
          </a:p>
          <a:p>
            <a:pPr marL="469265" marR="1120140" indent="-367030">
              <a:lnSpc>
                <a:spcPct val="100000"/>
              </a:lnSpc>
            </a:pPr>
            <a:r>
              <a:rPr sz="1600" b="1" dirty="0">
                <a:latin typeface="Courier New"/>
                <a:cs typeface="Courier New"/>
              </a:rPr>
              <a:t>struct in_addr {  in_addr_t</a:t>
            </a:r>
            <a:r>
              <a:rPr sz="1600" b="1" spc="-8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s_addr;</a:t>
            </a:r>
            <a:endParaRPr sz="1600">
              <a:latin typeface="Courier New"/>
              <a:cs typeface="Courier New"/>
            </a:endParaRPr>
          </a:p>
          <a:p>
            <a:pPr marL="102235">
              <a:lnSpc>
                <a:spcPct val="100000"/>
              </a:lnSpc>
              <a:spcBef>
                <a:spcPts val="10"/>
              </a:spcBef>
            </a:pPr>
            <a:r>
              <a:rPr sz="1600" b="1" spc="-5" dirty="0">
                <a:latin typeface="Courier New"/>
                <a:cs typeface="Courier New"/>
              </a:rPr>
              <a:t>};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68219" y="261873"/>
            <a:ext cx="358203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35" dirty="0"/>
              <a:t>Useful</a:t>
            </a:r>
            <a:r>
              <a:rPr sz="4200" spc="-45" dirty="0"/>
              <a:t> </a:t>
            </a:r>
            <a:r>
              <a:rPr sz="4200" spc="-250" dirty="0"/>
              <a:t>Functions</a:t>
            </a:r>
            <a:endParaRPr sz="4200"/>
          </a:p>
        </p:txBody>
      </p:sp>
      <p:sp>
        <p:nvSpPr>
          <p:cNvPr id="7" name="object 7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113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453" y="1244854"/>
            <a:ext cx="8404860" cy="3749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421640" indent="-342900">
              <a:lnSpc>
                <a:spcPct val="100000"/>
              </a:lnSpc>
              <a:spcBef>
                <a:spcPts val="95"/>
              </a:spcBef>
              <a:buClr>
                <a:srgbClr val="9A6500"/>
              </a:buClr>
              <a:buSzPct val="65000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000" b="1" spc="-5" dirty="0">
                <a:latin typeface="Courier New"/>
                <a:cs typeface="Courier New"/>
              </a:rPr>
              <a:t>int </a:t>
            </a:r>
            <a:r>
              <a:rPr sz="2000" b="1" spc="-5" dirty="0">
                <a:solidFill>
                  <a:srgbClr val="CC9A00"/>
                </a:solidFill>
                <a:latin typeface="Courier New"/>
                <a:cs typeface="Courier New"/>
              </a:rPr>
              <a:t>getpeername</a:t>
            </a:r>
            <a:r>
              <a:rPr sz="2000" b="1" spc="-5" dirty="0">
                <a:latin typeface="Courier New"/>
                <a:cs typeface="Courier New"/>
              </a:rPr>
              <a:t>(int sockfd, struct sockaddr *addr,  socklen_t *addrlen);</a:t>
            </a:r>
            <a:endParaRPr sz="2000">
              <a:latin typeface="Courier New"/>
              <a:cs typeface="Courier New"/>
            </a:endParaRPr>
          </a:p>
          <a:p>
            <a:pPr marL="681990" lvl="1" indent="-325120">
              <a:lnSpc>
                <a:spcPct val="100000"/>
              </a:lnSpc>
              <a:spcBef>
                <a:spcPts val="54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30" dirty="0">
                <a:latin typeface="Arial"/>
                <a:cs typeface="Arial"/>
              </a:rPr>
              <a:t>returns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145" dirty="0">
                <a:latin typeface="Arial"/>
                <a:cs typeface="Arial"/>
              </a:rPr>
              <a:t>address </a:t>
            </a:r>
            <a:r>
              <a:rPr sz="2000" spc="-10" dirty="0">
                <a:latin typeface="Arial"/>
                <a:cs typeface="Arial"/>
              </a:rPr>
              <a:t>(IP </a:t>
            </a:r>
            <a:r>
              <a:rPr sz="2000" spc="-90" dirty="0">
                <a:latin typeface="Arial"/>
                <a:cs typeface="Arial"/>
              </a:rPr>
              <a:t>and </a:t>
            </a:r>
            <a:r>
              <a:rPr sz="2000" dirty="0">
                <a:latin typeface="Arial"/>
                <a:cs typeface="Arial"/>
              </a:rPr>
              <a:t>port) </a:t>
            </a:r>
            <a:r>
              <a:rPr sz="2000" spc="-10" dirty="0">
                <a:latin typeface="Arial"/>
                <a:cs typeface="Arial"/>
              </a:rPr>
              <a:t>of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95" dirty="0">
                <a:latin typeface="Arial"/>
                <a:cs typeface="Arial"/>
              </a:rPr>
              <a:t>peer </a:t>
            </a:r>
            <a:r>
              <a:rPr sz="2000" spc="-70" dirty="0">
                <a:latin typeface="Arial"/>
                <a:cs typeface="Arial"/>
              </a:rPr>
              <a:t>connected </a:t>
            </a:r>
            <a:r>
              <a:rPr sz="2000" dirty="0">
                <a:latin typeface="Arial"/>
                <a:cs typeface="Arial"/>
              </a:rPr>
              <a:t>to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24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socket</a:t>
            </a:r>
            <a:endParaRPr sz="2000">
              <a:latin typeface="Arial"/>
              <a:cs typeface="Arial"/>
            </a:endParaRPr>
          </a:p>
          <a:p>
            <a:pPr marL="681990">
              <a:lnSpc>
                <a:spcPct val="100000"/>
              </a:lnSpc>
            </a:pPr>
            <a:r>
              <a:rPr sz="2000" spc="-10" dirty="0">
                <a:latin typeface="Courier New"/>
                <a:cs typeface="Courier New"/>
              </a:rPr>
              <a:t>sockfd</a:t>
            </a:r>
            <a:r>
              <a:rPr sz="2000" spc="-10" dirty="0">
                <a:latin typeface="Arial"/>
                <a:cs typeface="Arial"/>
              </a:rPr>
              <a:t>, </a:t>
            </a:r>
            <a:r>
              <a:rPr sz="2000" spc="70" dirty="0">
                <a:latin typeface="Arial"/>
                <a:cs typeface="Arial"/>
              </a:rPr>
              <a:t>in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10" dirty="0">
                <a:latin typeface="Arial"/>
                <a:cs typeface="Arial"/>
              </a:rPr>
              <a:t>buffer </a:t>
            </a:r>
            <a:r>
              <a:rPr sz="2000" spc="-25" dirty="0">
                <a:latin typeface="Arial"/>
                <a:cs typeface="Arial"/>
              </a:rPr>
              <a:t>pointed </a:t>
            </a:r>
            <a:r>
              <a:rPr sz="2000" dirty="0">
                <a:latin typeface="Arial"/>
                <a:cs typeface="Arial"/>
              </a:rPr>
              <a:t>to </a:t>
            </a:r>
            <a:r>
              <a:rPr sz="2000" spc="-15" dirty="0">
                <a:latin typeface="Arial"/>
                <a:cs typeface="Arial"/>
              </a:rPr>
              <a:t>by</a:t>
            </a:r>
            <a:r>
              <a:rPr sz="2000" spc="-395" dirty="0">
                <a:latin typeface="Arial"/>
                <a:cs typeface="Arial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addr</a:t>
            </a:r>
            <a:endParaRPr sz="2000">
              <a:latin typeface="Courier New"/>
              <a:cs typeface="Courier New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114" dirty="0">
                <a:latin typeface="Arial"/>
                <a:cs typeface="Arial"/>
              </a:rPr>
              <a:t>0 </a:t>
            </a:r>
            <a:r>
              <a:rPr sz="2000" spc="-85" dirty="0">
                <a:latin typeface="Arial"/>
                <a:cs typeface="Arial"/>
              </a:rPr>
              <a:t>is </a:t>
            </a:r>
            <a:r>
              <a:rPr sz="2000" spc="-20" dirty="0">
                <a:latin typeface="Arial"/>
                <a:cs typeface="Arial"/>
              </a:rPr>
              <a:t>returned </a:t>
            </a:r>
            <a:r>
              <a:rPr sz="2000" spc="-40" dirty="0">
                <a:latin typeface="Arial"/>
                <a:cs typeface="Arial"/>
              </a:rPr>
              <a:t>on </a:t>
            </a:r>
            <a:r>
              <a:rPr sz="2000" spc="-170" dirty="0">
                <a:latin typeface="Arial"/>
                <a:cs typeface="Arial"/>
              </a:rPr>
              <a:t>success; </a:t>
            </a:r>
            <a:r>
              <a:rPr sz="2000" spc="-15" dirty="0">
                <a:latin typeface="Arial"/>
                <a:cs typeface="Arial"/>
              </a:rPr>
              <a:t>-1</a:t>
            </a:r>
            <a:r>
              <a:rPr sz="2000" spc="60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otherwise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lr>
                <a:srgbClr val="9A6500"/>
              </a:buClr>
              <a:buFont typeface="Wingdings"/>
              <a:buChar char=""/>
            </a:pPr>
            <a:endParaRPr sz="2850">
              <a:latin typeface="Times New Roman"/>
              <a:cs typeface="Times New Roman"/>
            </a:endParaRPr>
          </a:p>
          <a:p>
            <a:pPr marL="355600" marR="421640" indent="-342900">
              <a:lnSpc>
                <a:spcPct val="100000"/>
              </a:lnSpc>
              <a:buClr>
                <a:srgbClr val="9A6500"/>
              </a:buClr>
              <a:buSzPct val="65000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000" b="1" spc="-5" dirty="0">
                <a:latin typeface="Courier New"/>
                <a:cs typeface="Courier New"/>
              </a:rPr>
              <a:t>int </a:t>
            </a:r>
            <a:r>
              <a:rPr sz="2000" b="1" spc="-5" dirty="0">
                <a:solidFill>
                  <a:srgbClr val="CC9A00"/>
                </a:solidFill>
                <a:latin typeface="Courier New"/>
                <a:cs typeface="Courier New"/>
              </a:rPr>
              <a:t>getsockname</a:t>
            </a:r>
            <a:r>
              <a:rPr sz="2000" b="1" spc="-5" dirty="0">
                <a:latin typeface="Courier New"/>
                <a:cs typeface="Courier New"/>
              </a:rPr>
              <a:t>(int sockfd, struct sockaddr *addr,  socklen_t *addrlen);</a:t>
            </a:r>
            <a:endParaRPr sz="2000">
              <a:latin typeface="Courier New"/>
              <a:cs typeface="Courier New"/>
            </a:endParaRPr>
          </a:p>
          <a:p>
            <a:pPr marL="681990" marR="5080" lvl="1" indent="-325120">
              <a:lnSpc>
                <a:spcPct val="100000"/>
              </a:lnSpc>
              <a:spcBef>
                <a:spcPts val="54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30" dirty="0">
                <a:latin typeface="Arial"/>
                <a:cs typeface="Arial"/>
              </a:rPr>
              <a:t>returns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5" dirty="0">
                <a:latin typeface="Arial"/>
                <a:cs typeface="Arial"/>
              </a:rPr>
              <a:t>current </a:t>
            </a:r>
            <a:r>
              <a:rPr sz="2000" spc="-150" dirty="0">
                <a:latin typeface="Arial"/>
                <a:cs typeface="Arial"/>
              </a:rPr>
              <a:t>address </a:t>
            </a:r>
            <a:r>
              <a:rPr sz="2000" dirty="0">
                <a:latin typeface="Arial"/>
                <a:cs typeface="Arial"/>
              </a:rPr>
              <a:t>to </a:t>
            </a:r>
            <a:r>
              <a:rPr sz="2000" spc="25" dirty="0">
                <a:latin typeface="Arial"/>
                <a:cs typeface="Arial"/>
              </a:rPr>
              <a:t>which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90" dirty="0">
                <a:latin typeface="Arial"/>
                <a:cs typeface="Arial"/>
              </a:rPr>
              <a:t>socket </a:t>
            </a:r>
            <a:r>
              <a:rPr sz="2000" spc="-5" dirty="0">
                <a:latin typeface="Courier New"/>
                <a:cs typeface="Courier New"/>
              </a:rPr>
              <a:t>sockfd</a:t>
            </a:r>
            <a:r>
              <a:rPr sz="2000" spc="-969" dirty="0">
                <a:latin typeface="Courier New"/>
                <a:cs typeface="Courier New"/>
              </a:rPr>
              <a:t> </a:t>
            </a:r>
            <a:r>
              <a:rPr sz="2000" spc="-80" dirty="0">
                <a:latin typeface="Arial"/>
                <a:cs typeface="Arial"/>
              </a:rPr>
              <a:t>is </a:t>
            </a:r>
            <a:r>
              <a:rPr sz="2000" spc="-50" dirty="0">
                <a:latin typeface="Arial"/>
                <a:cs typeface="Arial"/>
              </a:rPr>
              <a:t>bound, </a:t>
            </a:r>
            <a:r>
              <a:rPr sz="2000" spc="70" dirty="0">
                <a:latin typeface="Arial"/>
                <a:cs typeface="Arial"/>
              </a:rPr>
              <a:t>in </a:t>
            </a:r>
            <a:r>
              <a:rPr sz="2000" spc="-25" dirty="0">
                <a:latin typeface="Arial"/>
                <a:cs typeface="Arial"/>
              </a:rPr>
              <a:t>the  </a:t>
            </a:r>
            <a:r>
              <a:rPr sz="2000" spc="-10" dirty="0">
                <a:latin typeface="Arial"/>
                <a:cs typeface="Arial"/>
              </a:rPr>
              <a:t>buffer </a:t>
            </a:r>
            <a:r>
              <a:rPr sz="2000" spc="-25" dirty="0">
                <a:latin typeface="Arial"/>
                <a:cs typeface="Arial"/>
              </a:rPr>
              <a:t>pointed </a:t>
            </a:r>
            <a:r>
              <a:rPr sz="2000" dirty="0">
                <a:latin typeface="Arial"/>
                <a:cs typeface="Arial"/>
              </a:rPr>
              <a:t>to </a:t>
            </a:r>
            <a:r>
              <a:rPr sz="2000" spc="-15" dirty="0">
                <a:latin typeface="Arial"/>
                <a:cs typeface="Arial"/>
              </a:rPr>
              <a:t>by</a:t>
            </a:r>
            <a:r>
              <a:rPr sz="2000" spc="-204" dirty="0">
                <a:latin typeface="Arial"/>
                <a:cs typeface="Arial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addr</a:t>
            </a:r>
            <a:endParaRPr sz="2000">
              <a:latin typeface="Courier New"/>
              <a:cs typeface="Courier New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114" dirty="0">
                <a:latin typeface="Arial"/>
                <a:cs typeface="Arial"/>
              </a:rPr>
              <a:t>0 </a:t>
            </a:r>
            <a:r>
              <a:rPr sz="2000" spc="-85" dirty="0">
                <a:latin typeface="Arial"/>
                <a:cs typeface="Arial"/>
              </a:rPr>
              <a:t>is </a:t>
            </a:r>
            <a:r>
              <a:rPr sz="2000" spc="-20" dirty="0">
                <a:latin typeface="Arial"/>
                <a:cs typeface="Arial"/>
              </a:rPr>
              <a:t>returned </a:t>
            </a:r>
            <a:r>
              <a:rPr sz="2000" spc="-40" dirty="0">
                <a:latin typeface="Arial"/>
                <a:cs typeface="Arial"/>
              </a:rPr>
              <a:t>on </a:t>
            </a:r>
            <a:r>
              <a:rPr sz="2000" spc="-170" dirty="0">
                <a:latin typeface="Arial"/>
                <a:cs typeface="Arial"/>
              </a:rPr>
              <a:t>success; </a:t>
            </a:r>
            <a:r>
              <a:rPr sz="2000" spc="-15" dirty="0">
                <a:latin typeface="Arial"/>
                <a:cs typeface="Arial"/>
              </a:rPr>
              <a:t>-1</a:t>
            </a:r>
            <a:r>
              <a:rPr sz="2000" spc="60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otherwise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93670" y="184150"/>
            <a:ext cx="473011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54" dirty="0"/>
              <a:t>Domain </a:t>
            </a:r>
            <a:r>
              <a:rPr sz="4200" spc="-285" dirty="0"/>
              <a:t>Name</a:t>
            </a:r>
            <a:r>
              <a:rPr sz="4200" spc="-500" dirty="0"/>
              <a:t> </a:t>
            </a:r>
            <a:r>
              <a:rPr sz="4200" spc="-254" dirty="0"/>
              <a:t>Service</a:t>
            </a:r>
            <a:endParaRPr sz="4200"/>
          </a:p>
        </p:txBody>
      </p:sp>
      <p:sp>
        <p:nvSpPr>
          <p:cNvPr id="4" name="object 4"/>
          <p:cNvSpPr txBox="1"/>
          <p:nvPr/>
        </p:nvSpPr>
        <p:spPr>
          <a:xfrm>
            <a:off x="401453" y="840689"/>
            <a:ext cx="7683500" cy="114046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50"/>
              </a:spcBef>
              <a:buClr>
                <a:srgbClr val="9A6500"/>
              </a:buClr>
              <a:buSzPct val="65000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000" b="1" spc="-5" dirty="0">
                <a:latin typeface="Courier New"/>
                <a:cs typeface="Courier New"/>
              </a:rPr>
              <a:t>struct hostent *</a:t>
            </a:r>
            <a:r>
              <a:rPr sz="2000" b="1" spc="-5" dirty="0">
                <a:solidFill>
                  <a:srgbClr val="CA6800"/>
                </a:solidFill>
                <a:latin typeface="Courier New"/>
                <a:cs typeface="Courier New"/>
              </a:rPr>
              <a:t>gethostbyname</a:t>
            </a:r>
            <a:r>
              <a:rPr sz="2000" b="1" spc="-5" dirty="0">
                <a:latin typeface="Courier New"/>
                <a:cs typeface="Courier New"/>
              </a:rPr>
              <a:t>(const char</a:t>
            </a:r>
            <a:r>
              <a:rPr sz="2000" b="1" spc="7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*name);</a:t>
            </a:r>
            <a:endParaRPr sz="2000">
              <a:latin typeface="Courier New"/>
              <a:cs typeface="Courier New"/>
            </a:endParaRPr>
          </a:p>
          <a:p>
            <a:pPr marL="681990" lvl="1" indent="-325120">
              <a:lnSpc>
                <a:spcPct val="100000"/>
              </a:lnSpc>
              <a:spcBef>
                <a:spcPts val="55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30" dirty="0">
                <a:latin typeface="Arial"/>
                <a:cs typeface="Arial"/>
              </a:rPr>
              <a:t>returns </a:t>
            </a:r>
            <a:r>
              <a:rPr sz="2000" spc="-229" dirty="0">
                <a:latin typeface="Arial"/>
                <a:cs typeface="Arial"/>
              </a:rPr>
              <a:t>a </a:t>
            </a:r>
            <a:r>
              <a:rPr sz="2000" spc="-30" dirty="0">
                <a:latin typeface="Arial"/>
                <a:cs typeface="Arial"/>
              </a:rPr>
              <a:t>structure </a:t>
            </a:r>
            <a:r>
              <a:rPr sz="2000" spc="-10" dirty="0">
                <a:latin typeface="Arial"/>
                <a:cs typeface="Arial"/>
              </a:rPr>
              <a:t>of </a:t>
            </a:r>
            <a:r>
              <a:rPr sz="2000" spc="-35" dirty="0">
                <a:latin typeface="Arial"/>
                <a:cs typeface="Arial"/>
              </a:rPr>
              <a:t>type </a:t>
            </a:r>
            <a:r>
              <a:rPr sz="2000" spc="-5" dirty="0">
                <a:latin typeface="Courier New"/>
                <a:cs typeface="Courier New"/>
              </a:rPr>
              <a:t>hostent</a:t>
            </a:r>
            <a:r>
              <a:rPr sz="2000" spc="-780" dirty="0">
                <a:latin typeface="Courier New"/>
                <a:cs typeface="Courier New"/>
              </a:rPr>
              <a:t> </a:t>
            </a:r>
            <a:r>
              <a:rPr sz="2000" spc="25" dirty="0">
                <a:latin typeface="Arial"/>
                <a:cs typeface="Arial"/>
              </a:rPr>
              <a:t>for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45" dirty="0">
                <a:latin typeface="Arial"/>
                <a:cs typeface="Arial"/>
              </a:rPr>
              <a:t>given </a:t>
            </a:r>
            <a:r>
              <a:rPr sz="2000" spc="-65" dirty="0">
                <a:latin typeface="Arial"/>
                <a:cs typeface="Arial"/>
              </a:rPr>
              <a:t>host </a:t>
            </a:r>
            <a:r>
              <a:rPr sz="2000" spc="-110" dirty="0">
                <a:latin typeface="Arial"/>
                <a:cs typeface="Arial"/>
              </a:rPr>
              <a:t>name</a:t>
            </a:r>
            <a:endParaRPr sz="20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0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5" dirty="0">
                <a:latin typeface="Courier New"/>
                <a:cs typeface="Courier New"/>
              </a:rPr>
              <a:t>name</a:t>
            </a:r>
            <a:r>
              <a:rPr sz="2000" spc="-875" dirty="0">
                <a:latin typeface="Courier New"/>
                <a:cs typeface="Courier New"/>
              </a:rPr>
              <a:t> </a:t>
            </a:r>
            <a:r>
              <a:rPr sz="2000" spc="-85" dirty="0">
                <a:latin typeface="Arial"/>
                <a:cs typeface="Arial"/>
              </a:rPr>
              <a:t>is </a:t>
            </a:r>
            <a:r>
              <a:rPr sz="2000" spc="-229" dirty="0">
                <a:latin typeface="Arial"/>
                <a:cs typeface="Arial"/>
              </a:rPr>
              <a:t>a </a:t>
            </a:r>
            <a:r>
              <a:rPr sz="2000" spc="-85" dirty="0">
                <a:latin typeface="Arial"/>
                <a:cs typeface="Arial"/>
              </a:rPr>
              <a:t>hostname, </a:t>
            </a:r>
            <a:r>
              <a:rPr sz="2000" dirty="0">
                <a:latin typeface="Arial"/>
                <a:cs typeface="Arial"/>
              </a:rPr>
              <a:t>or </a:t>
            </a:r>
            <a:r>
              <a:rPr sz="2000" spc="-105" dirty="0">
                <a:latin typeface="Arial"/>
                <a:cs typeface="Arial"/>
              </a:rPr>
              <a:t>an </a:t>
            </a:r>
            <a:r>
              <a:rPr sz="2000" spc="-30" dirty="0">
                <a:latin typeface="Arial"/>
                <a:cs typeface="Arial"/>
              </a:rPr>
              <a:t>IPv4 </a:t>
            </a:r>
            <a:r>
              <a:rPr sz="2000" spc="-150" dirty="0">
                <a:latin typeface="Arial"/>
                <a:cs typeface="Arial"/>
              </a:rPr>
              <a:t>address </a:t>
            </a:r>
            <a:r>
              <a:rPr sz="2000" spc="65" dirty="0">
                <a:latin typeface="Arial"/>
                <a:cs typeface="Arial"/>
              </a:rPr>
              <a:t>in </a:t>
            </a:r>
            <a:r>
              <a:rPr sz="2000" spc="-80" dirty="0">
                <a:latin typeface="Arial"/>
                <a:cs typeface="Arial"/>
              </a:rPr>
              <a:t>standard </a:t>
            </a:r>
            <a:r>
              <a:rPr sz="2000" spc="-20" dirty="0">
                <a:latin typeface="Arial"/>
                <a:cs typeface="Arial"/>
              </a:rPr>
              <a:t>dot </a:t>
            </a:r>
            <a:r>
              <a:rPr sz="2000" spc="-10" dirty="0">
                <a:latin typeface="Arial"/>
                <a:cs typeface="Arial"/>
              </a:rPr>
              <a:t>notation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5955" y="2015886"/>
            <a:ext cx="3898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25" dirty="0">
                <a:latin typeface="Arial"/>
                <a:cs typeface="Arial"/>
              </a:rPr>
              <a:t>e.g.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9844" y="2041144"/>
            <a:ext cx="4394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ourier New"/>
                <a:cs typeface="Courier New"/>
                <a:hlinkClick r:id="rId2"/>
              </a:rPr>
              <a:t>gethostbyname(“www.csd.uoc.gr”);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2833" y="3888740"/>
            <a:ext cx="7981950" cy="2193290"/>
          </a:xfrm>
          <a:custGeom>
            <a:avLst/>
            <a:gdLst/>
            <a:ahLst/>
            <a:cxnLst/>
            <a:rect l="l" t="t" r="r" b="b"/>
            <a:pathLst>
              <a:path w="7981950" h="2193290">
                <a:moveTo>
                  <a:pt x="0" y="0"/>
                </a:moveTo>
                <a:lnTo>
                  <a:pt x="0" y="2193036"/>
                </a:lnTo>
                <a:lnTo>
                  <a:pt x="7981950" y="2193036"/>
                </a:lnTo>
                <a:lnTo>
                  <a:pt x="7981950" y="0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01453" y="2518156"/>
            <a:ext cx="7966709" cy="1665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440055" indent="-342900">
              <a:lnSpc>
                <a:spcPct val="100000"/>
              </a:lnSpc>
              <a:spcBef>
                <a:spcPts val="95"/>
              </a:spcBef>
              <a:buClr>
                <a:srgbClr val="9A6500"/>
              </a:buClr>
              <a:buSzPct val="65000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000" b="1" spc="-5" dirty="0">
                <a:latin typeface="Courier New"/>
                <a:cs typeface="Courier New"/>
              </a:rPr>
              <a:t>struct hostent *</a:t>
            </a:r>
            <a:r>
              <a:rPr sz="2000" b="1" spc="-5" dirty="0">
                <a:solidFill>
                  <a:srgbClr val="CA6800"/>
                </a:solidFill>
                <a:latin typeface="Courier New"/>
                <a:cs typeface="Courier New"/>
              </a:rPr>
              <a:t>gethostbyaddr</a:t>
            </a:r>
            <a:r>
              <a:rPr sz="2000" b="1" spc="-5" dirty="0">
                <a:latin typeface="Courier New"/>
                <a:cs typeface="Courier New"/>
              </a:rPr>
              <a:t>(const void *addr,  socklen_t len, int</a:t>
            </a:r>
            <a:r>
              <a:rPr sz="2000" b="1" spc="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type);</a:t>
            </a:r>
            <a:endParaRPr sz="2000">
              <a:latin typeface="Courier New"/>
              <a:cs typeface="Courier New"/>
            </a:endParaRPr>
          </a:p>
          <a:p>
            <a:pPr marL="681990" marR="5080" lvl="1" indent="-325120">
              <a:lnSpc>
                <a:spcPct val="100000"/>
              </a:lnSpc>
              <a:spcBef>
                <a:spcPts val="54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30" dirty="0">
                <a:latin typeface="Arial"/>
                <a:cs typeface="Arial"/>
              </a:rPr>
              <a:t>returns </a:t>
            </a:r>
            <a:r>
              <a:rPr sz="2000" spc="-229" dirty="0">
                <a:latin typeface="Arial"/>
                <a:cs typeface="Arial"/>
              </a:rPr>
              <a:t>a </a:t>
            </a:r>
            <a:r>
              <a:rPr sz="2000" spc="-30" dirty="0">
                <a:latin typeface="Arial"/>
                <a:cs typeface="Arial"/>
              </a:rPr>
              <a:t>structure </a:t>
            </a:r>
            <a:r>
              <a:rPr sz="2000" spc="-10" dirty="0">
                <a:latin typeface="Arial"/>
                <a:cs typeface="Arial"/>
              </a:rPr>
              <a:t>of </a:t>
            </a:r>
            <a:r>
              <a:rPr sz="2000" spc="-35" dirty="0">
                <a:latin typeface="Arial"/>
                <a:cs typeface="Arial"/>
              </a:rPr>
              <a:t>type </a:t>
            </a:r>
            <a:r>
              <a:rPr sz="2000" spc="-50" dirty="0">
                <a:latin typeface="Arial"/>
                <a:cs typeface="Arial"/>
              </a:rPr>
              <a:t>hostent </a:t>
            </a:r>
            <a:r>
              <a:rPr sz="2000" spc="20" dirty="0">
                <a:latin typeface="Arial"/>
                <a:cs typeface="Arial"/>
              </a:rPr>
              <a:t>for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45" dirty="0">
                <a:latin typeface="Arial"/>
                <a:cs typeface="Arial"/>
              </a:rPr>
              <a:t>given </a:t>
            </a:r>
            <a:r>
              <a:rPr sz="2000" spc="-65" dirty="0">
                <a:latin typeface="Arial"/>
                <a:cs typeface="Arial"/>
              </a:rPr>
              <a:t>host </a:t>
            </a:r>
            <a:r>
              <a:rPr sz="2000" spc="-145" dirty="0">
                <a:latin typeface="Arial"/>
                <a:cs typeface="Arial"/>
              </a:rPr>
              <a:t>address </a:t>
            </a:r>
            <a:r>
              <a:rPr sz="2000" spc="-65" dirty="0">
                <a:latin typeface="Arial"/>
                <a:cs typeface="Arial"/>
              </a:rPr>
              <a:t>addr </a:t>
            </a:r>
            <a:r>
              <a:rPr sz="2000" spc="-10" dirty="0">
                <a:latin typeface="Arial"/>
                <a:cs typeface="Arial"/>
              </a:rPr>
              <a:t>of  </a:t>
            </a:r>
            <a:r>
              <a:rPr sz="2000" spc="-20" dirty="0">
                <a:latin typeface="Arial"/>
                <a:cs typeface="Arial"/>
              </a:rPr>
              <a:t>length len </a:t>
            </a:r>
            <a:r>
              <a:rPr sz="2000" spc="-90" dirty="0">
                <a:latin typeface="Arial"/>
                <a:cs typeface="Arial"/>
              </a:rPr>
              <a:t>and </a:t>
            </a:r>
            <a:r>
              <a:rPr sz="2000" spc="-145" dirty="0">
                <a:latin typeface="Arial"/>
                <a:cs typeface="Arial"/>
              </a:rPr>
              <a:t>address </a:t>
            </a:r>
            <a:r>
              <a:rPr sz="2000" spc="-40" dirty="0">
                <a:latin typeface="Arial"/>
                <a:cs typeface="Arial"/>
              </a:rPr>
              <a:t>type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type</a:t>
            </a:r>
            <a:endParaRPr sz="2000">
              <a:latin typeface="Courier New"/>
              <a:cs typeface="Courier New"/>
            </a:endParaRPr>
          </a:p>
          <a:p>
            <a:pPr marL="174625">
              <a:lnSpc>
                <a:spcPct val="100000"/>
              </a:lnSpc>
              <a:spcBef>
                <a:spcPts val="850"/>
              </a:spcBef>
            </a:pPr>
            <a:r>
              <a:rPr sz="1600" b="1" dirty="0">
                <a:latin typeface="Courier New"/>
                <a:cs typeface="Courier New"/>
              </a:rPr>
              <a:t>struct hostent</a:t>
            </a:r>
            <a:r>
              <a:rPr sz="1600" b="1" spc="-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114</a:t>
            </a:fld>
            <a:endParaRPr sz="120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911136" y="4208517"/>
          <a:ext cx="6971030" cy="1208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2295"/>
                <a:gridCol w="1896110"/>
                <a:gridCol w="4492625"/>
              </a:tblGrid>
              <a:tr h="237490">
                <a:tc>
                  <a:txBody>
                    <a:bodyPr/>
                    <a:lstStyle/>
                    <a:p>
                      <a:pPr marL="31750">
                        <a:lnSpc>
                          <a:spcPts val="1655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char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ts val="1655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*h_name;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655"/>
                        </a:lnSpc>
                      </a:pPr>
                      <a:r>
                        <a:rPr sz="1600" spc="-40" dirty="0">
                          <a:latin typeface="Arial"/>
                          <a:cs typeface="Arial"/>
                        </a:rPr>
                        <a:t>/* </a:t>
                      </a:r>
                      <a:r>
                        <a:rPr sz="1600" spc="10" dirty="0">
                          <a:latin typeface="Arial"/>
                          <a:cs typeface="Arial"/>
                        </a:rPr>
                        <a:t>official </a:t>
                      </a:r>
                      <a:r>
                        <a:rPr sz="1600" spc="-85" dirty="0">
                          <a:latin typeface="Arial"/>
                          <a:cs typeface="Arial"/>
                        </a:rPr>
                        <a:t>name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host</a:t>
                      </a:r>
                      <a:r>
                        <a:rPr sz="16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*/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244475">
                <a:tc>
                  <a:txBody>
                    <a:bodyPr/>
                    <a:lstStyle/>
                    <a:p>
                      <a:pPr marL="31750">
                        <a:lnSpc>
                          <a:spcPts val="1710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char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1710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**h_aliases;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710"/>
                        </a:lnSpc>
                      </a:pPr>
                      <a:r>
                        <a:rPr sz="1600" spc="-40" dirty="0">
                          <a:latin typeface="Arial"/>
                          <a:cs typeface="Arial"/>
                        </a:rPr>
                        <a:t>/* </a:t>
                      </a:r>
                      <a:r>
                        <a:rPr sz="1600" spc="-80" dirty="0">
                          <a:latin typeface="Arial"/>
                          <a:cs typeface="Arial"/>
                        </a:rPr>
                        <a:t>alias </a:t>
                      </a:r>
                      <a:r>
                        <a:rPr sz="1600" spc="10" dirty="0">
                          <a:latin typeface="Arial"/>
                          <a:cs typeface="Arial"/>
                        </a:rPr>
                        <a:t>list 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(strings)</a:t>
                      </a:r>
                      <a:r>
                        <a:rPr sz="16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*/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244475">
                <a:tc>
                  <a:txBody>
                    <a:bodyPr/>
                    <a:lstStyle/>
                    <a:p>
                      <a:pPr marL="31750">
                        <a:lnSpc>
                          <a:spcPts val="1710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int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710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h_addrtype;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710"/>
                        </a:lnSpc>
                      </a:pPr>
                      <a:r>
                        <a:rPr sz="1600" spc="-40" dirty="0">
                          <a:latin typeface="Arial"/>
                          <a:cs typeface="Arial"/>
                        </a:rPr>
                        <a:t>/* 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host </a:t>
                      </a:r>
                      <a:r>
                        <a:rPr sz="1600" spc="-114" dirty="0">
                          <a:latin typeface="Arial"/>
                          <a:cs typeface="Arial"/>
                        </a:rPr>
                        <a:t>address 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type 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(AF_INET)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*/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244475">
                <a:tc>
                  <a:txBody>
                    <a:bodyPr/>
                    <a:lstStyle/>
                    <a:p>
                      <a:pPr marL="31750">
                        <a:lnSpc>
                          <a:spcPts val="1710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int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710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h_length;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710"/>
                        </a:lnSpc>
                      </a:pPr>
                      <a:r>
                        <a:rPr sz="1600" spc="-40" dirty="0">
                          <a:latin typeface="Arial"/>
                          <a:cs typeface="Arial"/>
                        </a:rPr>
                        <a:t>/* </a:t>
                      </a:r>
                      <a:r>
                        <a:rPr sz="1600" spc="-15" dirty="0">
                          <a:latin typeface="Arial"/>
                          <a:cs typeface="Arial"/>
                        </a:rPr>
                        <a:t>length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600" spc="-114" dirty="0">
                          <a:latin typeface="Arial"/>
                          <a:cs typeface="Arial"/>
                        </a:rPr>
                        <a:t>address</a:t>
                      </a:r>
                      <a:r>
                        <a:rPr sz="160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*/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237490">
                <a:tc>
                  <a:txBody>
                    <a:bodyPr/>
                    <a:lstStyle/>
                    <a:p>
                      <a:pPr marL="31750">
                        <a:lnSpc>
                          <a:spcPts val="1710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char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1710"/>
                        </a:lnSpc>
                      </a:pPr>
                      <a:r>
                        <a:rPr sz="1600" b="1" dirty="0">
                          <a:latin typeface="Courier New"/>
                          <a:cs typeface="Courier New"/>
                        </a:rPr>
                        <a:t>**h_addr_list;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710"/>
                        </a:lnSpc>
                      </a:pPr>
                      <a:r>
                        <a:rPr sz="1600" spc="-40" dirty="0">
                          <a:latin typeface="Arial"/>
                          <a:cs typeface="Arial"/>
                        </a:rPr>
                        <a:t>/* </a:t>
                      </a:r>
                      <a:r>
                        <a:rPr sz="1600" spc="10" dirty="0">
                          <a:latin typeface="Arial"/>
                          <a:cs typeface="Arial"/>
                        </a:rPr>
                        <a:t>list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600" spc="-135" dirty="0">
                          <a:latin typeface="Arial"/>
                          <a:cs typeface="Arial"/>
                        </a:rPr>
                        <a:t>addresses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(binary </a:t>
                      </a:r>
                      <a:r>
                        <a:rPr sz="1600" spc="55" dirty="0">
                          <a:latin typeface="Arial"/>
                          <a:cs typeface="Arial"/>
                        </a:rPr>
                        <a:t>in </a:t>
                      </a:r>
                      <a:r>
                        <a:rPr sz="1600" spc="5" dirty="0">
                          <a:latin typeface="Arial"/>
                          <a:cs typeface="Arial"/>
                        </a:rPr>
                        <a:t>network 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byte order)</a:t>
                      </a:r>
                      <a:r>
                        <a:rPr sz="1600" spc="-229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45" dirty="0">
                          <a:latin typeface="Arial"/>
                          <a:cs typeface="Arial"/>
                        </a:rPr>
                        <a:t>*/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563765" y="5254495"/>
            <a:ext cx="6364605" cy="76644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600" b="1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600" b="1" dirty="0">
                <a:latin typeface="Courier New"/>
                <a:cs typeface="Courier New"/>
              </a:rPr>
              <a:t>#define h_addr h_addr_list[0] </a:t>
            </a:r>
            <a:r>
              <a:rPr sz="1600" spc="-40" dirty="0">
                <a:latin typeface="Arial"/>
                <a:cs typeface="Arial"/>
              </a:rPr>
              <a:t>/* </a:t>
            </a:r>
            <a:r>
              <a:rPr sz="1600" spc="20" dirty="0">
                <a:latin typeface="Arial"/>
                <a:cs typeface="Arial"/>
              </a:rPr>
              <a:t>for </a:t>
            </a:r>
            <a:r>
              <a:rPr sz="1600" spc="-45" dirty="0">
                <a:latin typeface="Arial"/>
                <a:cs typeface="Arial"/>
              </a:rPr>
              <a:t>backward </a:t>
            </a:r>
            <a:r>
              <a:rPr sz="1600" spc="10" dirty="0">
                <a:latin typeface="Arial"/>
                <a:cs typeface="Arial"/>
              </a:rPr>
              <a:t>compatibility</a:t>
            </a:r>
            <a:r>
              <a:rPr sz="1600" spc="-114" dirty="0">
                <a:latin typeface="Arial"/>
                <a:cs typeface="Arial"/>
              </a:rPr>
              <a:t> </a:t>
            </a:r>
            <a:r>
              <a:rPr sz="1600" spc="-40" dirty="0">
                <a:latin typeface="Arial"/>
                <a:cs typeface="Arial"/>
              </a:rPr>
              <a:t>*/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4639" y="6165596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87" y="0"/>
                </a:lnTo>
              </a:path>
            </a:pathLst>
          </a:custGeom>
          <a:ln w="19050">
            <a:solidFill>
              <a:srgbClr val="CC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93670" y="161290"/>
            <a:ext cx="473011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254" dirty="0"/>
              <a:t>Domain </a:t>
            </a:r>
            <a:r>
              <a:rPr sz="4200" spc="-285" dirty="0"/>
              <a:t>Name</a:t>
            </a:r>
            <a:r>
              <a:rPr sz="4200" spc="-500" dirty="0"/>
              <a:t> </a:t>
            </a:r>
            <a:r>
              <a:rPr sz="4200" spc="-254" dirty="0"/>
              <a:t>Service</a:t>
            </a:r>
            <a:endParaRPr sz="4200"/>
          </a:p>
        </p:txBody>
      </p:sp>
      <p:sp>
        <p:nvSpPr>
          <p:cNvPr id="4" name="object 4"/>
          <p:cNvSpPr txBox="1"/>
          <p:nvPr/>
        </p:nvSpPr>
        <p:spPr>
          <a:xfrm>
            <a:off x="401453" y="789177"/>
            <a:ext cx="7988300" cy="3566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461645" indent="-342900">
              <a:lnSpc>
                <a:spcPct val="100000"/>
              </a:lnSpc>
              <a:spcBef>
                <a:spcPts val="95"/>
              </a:spcBef>
              <a:buClr>
                <a:srgbClr val="9A6500"/>
              </a:buClr>
              <a:buSzPct val="65000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000" b="1" spc="-5" dirty="0">
                <a:latin typeface="Courier New"/>
                <a:cs typeface="Courier New"/>
              </a:rPr>
              <a:t>struct servent *</a:t>
            </a:r>
            <a:r>
              <a:rPr sz="2000" b="1" spc="-5" dirty="0">
                <a:solidFill>
                  <a:srgbClr val="A50021"/>
                </a:solidFill>
                <a:latin typeface="Courier New"/>
                <a:cs typeface="Courier New"/>
              </a:rPr>
              <a:t>getservbyname</a:t>
            </a:r>
            <a:r>
              <a:rPr sz="2000" b="1" spc="-5" dirty="0">
                <a:latin typeface="Courier New"/>
                <a:cs typeface="Courier New"/>
              </a:rPr>
              <a:t>(const char *name,  const char</a:t>
            </a:r>
            <a:r>
              <a:rPr sz="2000" b="1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*proto);</a:t>
            </a:r>
            <a:endParaRPr sz="2000">
              <a:latin typeface="Courier New"/>
              <a:cs typeface="Courier New"/>
            </a:endParaRPr>
          </a:p>
          <a:p>
            <a:pPr marL="681990" marR="354330" lvl="1" indent="-325120">
              <a:lnSpc>
                <a:spcPct val="100000"/>
              </a:lnSpc>
              <a:spcBef>
                <a:spcPts val="54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30" dirty="0">
                <a:latin typeface="Arial"/>
                <a:cs typeface="Arial"/>
              </a:rPr>
              <a:t>returns </a:t>
            </a:r>
            <a:r>
              <a:rPr sz="2000" spc="-229" dirty="0">
                <a:latin typeface="Arial"/>
                <a:cs typeface="Arial"/>
              </a:rPr>
              <a:t>a </a:t>
            </a:r>
            <a:r>
              <a:rPr sz="2000" spc="-5" dirty="0">
                <a:latin typeface="Courier New"/>
                <a:cs typeface="Courier New"/>
              </a:rPr>
              <a:t>servent</a:t>
            </a:r>
            <a:r>
              <a:rPr sz="2000" spc="-750" dirty="0">
                <a:latin typeface="Courier New"/>
                <a:cs typeface="Courier New"/>
              </a:rPr>
              <a:t> </a:t>
            </a:r>
            <a:r>
              <a:rPr sz="2000" spc="-30" dirty="0">
                <a:latin typeface="Arial"/>
                <a:cs typeface="Arial"/>
              </a:rPr>
              <a:t>structure </a:t>
            </a:r>
            <a:r>
              <a:rPr sz="2000" spc="25" dirty="0">
                <a:latin typeface="Arial"/>
                <a:cs typeface="Arial"/>
              </a:rPr>
              <a:t>for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10" dirty="0">
                <a:latin typeface="Arial"/>
                <a:cs typeface="Arial"/>
              </a:rPr>
              <a:t>entry from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150" dirty="0">
                <a:latin typeface="Arial"/>
                <a:cs typeface="Arial"/>
              </a:rPr>
              <a:t>database </a:t>
            </a:r>
            <a:r>
              <a:rPr sz="2000" dirty="0">
                <a:latin typeface="Arial"/>
                <a:cs typeface="Arial"/>
              </a:rPr>
              <a:t>that  </a:t>
            </a:r>
            <a:r>
              <a:rPr sz="2000" spc="-105" dirty="0">
                <a:latin typeface="Arial"/>
                <a:cs typeface="Arial"/>
              </a:rPr>
              <a:t>matches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80" dirty="0">
                <a:latin typeface="Arial"/>
                <a:cs typeface="Arial"/>
              </a:rPr>
              <a:t>service </a:t>
            </a:r>
            <a:r>
              <a:rPr sz="2000" spc="-110" dirty="0">
                <a:latin typeface="Arial"/>
                <a:cs typeface="Arial"/>
              </a:rPr>
              <a:t>name </a:t>
            </a:r>
            <a:r>
              <a:rPr sz="2000" spc="-75" dirty="0">
                <a:latin typeface="Arial"/>
                <a:cs typeface="Arial"/>
              </a:rPr>
              <a:t>using </a:t>
            </a:r>
            <a:r>
              <a:rPr sz="2000" spc="-25" dirty="0">
                <a:latin typeface="Arial"/>
                <a:cs typeface="Arial"/>
              </a:rPr>
              <a:t>protocol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spc="-15" dirty="0">
                <a:latin typeface="Courier New"/>
                <a:cs typeface="Courier New"/>
              </a:rPr>
              <a:t>proto</a:t>
            </a:r>
            <a:r>
              <a:rPr sz="2000" spc="-15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681990" lvl="1" indent="-325120">
              <a:lnSpc>
                <a:spcPct val="100000"/>
              </a:lnSpc>
              <a:spcBef>
                <a:spcPts val="47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100" dirty="0">
                <a:latin typeface="Arial"/>
                <a:cs typeface="Arial"/>
              </a:rPr>
              <a:t>if </a:t>
            </a:r>
            <a:r>
              <a:rPr sz="2000" spc="-5" dirty="0">
                <a:latin typeface="Courier New"/>
                <a:cs typeface="Courier New"/>
              </a:rPr>
              <a:t>proto</a:t>
            </a:r>
            <a:r>
              <a:rPr sz="2000" spc="-1015" dirty="0">
                <a:latin typeface="Courier New"/>
                <a:cs typeface="Courier New"/>
              </a:rPr>
              <a:t> </a:t>
            </a:r>
            <a:r>
              <a:rPr sz="2000" spc="-80" dirty="0">
                <a:latin typeface="Arial"/>
                <a:cs typeface="Arial"/>
              </a:rPr>
              <a:t>is </a:t>
            </a:r>
            <a:r>
              <a:rPr sz="2000" spc="-20" dirty="0">
                <a:latin typeface="Arial"/>
                <a:cs typeface="Arial"/>
              </a:rPr>
              <a:t>NULL, </a:t>
            </a:r>
            <a:r>
              <a:rPr sz="2000" spc="-60" dirty="0">
                <a:latin typeface="Arial"/>
                <a:cs typeface="Arial"/>
              </a:rPr>
              <a:t>any </a:t>
            </a:r>
            <a:r>
              <a:rPr sz="2000" spc="-20" dirty="0">
                <a:latin typeface="Arial"/>
                <a:cs typeface="Arial"/>
              </a:rPr>
              <a:t>protocol </a:t>
            </a:r>
            <a:r>
              <a:rPr sz="2000" spc="114" dirty="0">
                <a:latin typeface="Arial"/>
                <a:cs typeface="Arial"/>
              </a:rPr>
              <a:t>will </a:t>
            </a:r>
            <a:r>
              <a:rPr sz="2000" spc="-130" dirty="0">
                <a:latin typeface="Arial"/>
                <a:cs typeface="Arial"/>
              </a:rPr>
              <a:t>be </a:t>
            </a:r>
            <a:r>
              <a:rPr sz="2000" spc="-70" dirty="0">
                <a:latin typeface="Arial"/>
                <a:cs typeface="Arial"/>
              </a:rPr>
              <a:t>matched.</a:t>
            </a:r>
            <a:endParaRPr sz="2000">
              <a:latin typeface="Arial"/>
              <a:cs typeface="Arial"/>
            </a:endParaRPr>
          </a:p>
          <a:p>
            <a:pPr marL="356870">
              <a:lnSpc>
                <a:spcPct val="100000"/>
              </a:lnSpc>
              <a:spcBef>
                <a:spcPts val="505"/>
              </a:spcBef>
              <a:tabLst>
                <a:tab pos="967740" algn="l"/>
              </a:tabLst>
            </a:pPr>
            <a:r>
              <a:rPr sz="2200" spc="-130" dirty="0">
                <a:latin typeface="Arial"/>
                <a:cs typeface="Arial"/>
              </a:rPr>
              <a:t>e.g.	</a:t>
            </a:r>
            <a:r>
              <a:rPr sz="1800" b="1" spc="-5" dirty="0">
                <a:latin typeface="Courier New"/>
                <a:cs typeface="Courier New"/>
              </a:rPr>
              <a:t>getservbyname(“echo”, “tcp”)</a:t>
            </a:r>
            <a:r>
              <a:rPr sz="1800" b="1" spc="-650" dirty="0">
                <a:latin typeface="Courier New"/>
                <a:cs typeface="Courier New"/>
              </a:rPr>
              <a:t> </a:t>
            </a:r>
            <a:r>
              <a:rPr sz="2200" spc="-65" dirty="0">
                <a:latin typeface="Arial"/>
                <a:cs typeface="Arial"/>
              </a:rPr>
              <a:t>;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575"/>
              </a:spcBef>
              <a:buClr>
                <a:srgbClr val="9A6500"/>
              </a:buClr>
              <a:buSzPct val="65000"/>
              <a:buFont typeface="Wingdings"/>
              <a:buChar char=""/>
              <a:tabLst>
                <a:tab pos="354965" algn="l"/>
                <a:tab pos="356235" algn="l"/>
              </a:tabLst>
            </a:pPr>
            <a:r>
              <a:rPr sz="2000" b="1" spc="-5" dirty="0">
                <a:latin typeface="Courier New"/>
                <a:cs typeface="Courier New"/>
              </a:rPr>
              <a:t>struct servent *</a:t>
            </a:r>
            <a:r>
              <a:rPr sz="2000" b="1" spc="-5" dirty="0">
                <a:solidFill>
                  <a:srgbClr val="A50021"/>
                </a:solidFill>
                <a:latin typeface="Courier New"/>
                <a:cs typeface="Courier New"/>
              </a:rPr>
              <a:t>getservbyport</a:t>
            </a:r>
            <a:r>
              <a:rPr sz="2000" b="1" spc="-5" dirty="0">
                <a:latin typeface="Courier New"/>
                <a:cs typeface="Courier New"/>
              </a:rPr>
              <a:t>(int port, const</a:t>
            </a:r>
            <a:r>
              <a:rPr sz="2000" b="1" spc="8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char</a:t>
            </a:r>
            <a:endParaRPr sz="20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*proto);</a:t>
            </a:r>
            <a:endParaRPr sz="2000">
              <a:latin typeface="Courier New"/>
              <a:cs typeface="Courier New"/>
            </a:endParaRPr>
          </a:p>
          <a:p>
            <a:pPr marL="681990" marR="354330" lvl="1" indent="-325120">
              <a:lnSpc>
                <a:spcPct val="100000"/>
              </a:lnSpc>
              <a:spcBef>
                <a:spcPts val="545"/>
              </a:spcBef>
              <a:buClr>
                <a:srgbClr val="9A6500"/>
              </a:buClr>
              <a:buSzPct val="60000"/>
              <a:buFont typeface="Wingdings"/>
              <a:buChar char=""/>
              <a:tabLst>
                <a:tab pos="682625" algn="l"/>
              </a:tabLst>
            </a:pPr>
            <a:r>
              <a:rPr sz="2000" spc="-30" dirty="0">
                <a:latin typeface="Arial"/>
                <a:cs typeface="Arial"/>
              </a:rPr>
              <a:t>returns </a:t>
            </a:r>
            <a:r>
              <a:rPr sz="2000" spc="-229" dirty="0">
                <a:latin typeface="Arial"/>
                <a:cs typeface="Arial"/>
              </a:rPr>
              <a:t>a </a:t>
            </a:r>
            <a:r>
              <a:rPr sz="2000" spc="-5" dirty="0">
                <a:latin typeface="Courier New"/>
                <a:cs typeface="Courier New"/>
              </a:rPr>
              <a:t>servent</a:t>
            </a:r>
            <a:r>
              <a:rPr sz="2000" spc="-750" dirty="0">
                <a:latin typeface="Courier New"/>
                <a:cs typeface="Courier New"/>
              </a:rPr>
              <a:t> </a:t>
            </a:r>
            <a:r>
              <a:rPr sz="2000" spc="-30" dirty="0">
                <a:latin typeface="Arial"/>
                <a:cs typeface="Arial"/>
              </a:rPr>
              <a:t>structure </a:t>
            </a:r>
            <a:r>
              <a:rPr sz="2000" spc="25" dirty="0">
                <a:latin typeface="Arial"/>
                <a:cs typeface="Arial"/>
              </a:rPr>
              <a:t>for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10" dirty="0">
                <a:latin typeface="Arial"/>
                <a:cs typeface="Arial"/>
              </a:rPr>
              <a:t>entry from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150" dirty="0">
                <a:latin typeface="Arial"/>
                <a:cs typeface="Arial"/>
              </a:rPr>
              <a:t>database </a:t>
            </a:r>
            <a:r>
              <a:rPr sz="2000" dirty="0">
                <a:latin typeface="Arial"/>
                <a:cs typeface="Arial"/>
              </a:rPr>
              <a:t>that  </a:t>
            </a:r>
            <a:r>
              <a:rPr sz="2000" spc="-105" dirty="0">
                <a:latin typeface="Arial"/>
                <a:cs typeface="Arial"/>
              </a:rPr>
              <a:t>matches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80" dirty="0">
                <a:latin typeface="Arial"/>
                <a:cs typeface="Arial"/>
              </a:rPr>
              <a:t>service </a:t>
            </a:r>
            <a:r>
              <a:rPr sz="2000" spc="-110" dirty="0">
                <a:latin typeface="Arial"/>
                <a:cs typeface="Arial"/>
              </a:rPr>
              <a:t>name </a:t>
            </a:r>
            <a:r>
              <a:rPr sz="2000" spc="-75" dirty="0">
                <a:latin typeface="Arial"/>
                <a:cs typeface="Arial"/>
              </a:rPr>
              <a:t>using </a:t>
            </a:r>
            <a:r>
              <a:rPr sz="2000" spc="5" dirty="0">
                <a:latin typeface="Arial"/>
                <a:cs typeface="Arial"/>
              </a:rPr>
              <a:t>port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port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5693" y="4489196"/>
            <a:ext cx="8045450" cy="1581150"/>
          </a:xfrm>
          <a:custGeom>
            <a:avLst/>
            <a:gdLst/>
            <a:ahLst/>
            <a:cxnLst/>
            <a:rect l="l" t="t" r="r" b="b"/>
            <a:pathLst>
              <a:path w="8045450" h="1581150">
                <a:moveTo>
                  <a:pt x="0" y="0"/>
                </a:moveTo>
                <a:lnTo>
                  <a:pt x="0" y="1581150"/>
                </a:lnTo>
                <a:lnTo>
                  <a:pt x="8045195" y="1581150"/>
                </a:lnTo>
                <a:lnTo>
                  <a:pt x="8045195" y="0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rgbClr val="99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85863" y="4514596"/>
            <a:ext cx="2104390" cy="51752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79095" marR="5080" indent="-367030">
              <a:lnSpc>
                <a:spcPct val="101499"/>
              </a:lnSpc>
              <a:spcBef>
                <a:spcPts val="70"/>
              </a:spcBef>
              <a:tabLst>
                <a:tab pos="1112520" algn="l"/>
              </a:tabLst>
            </a:pPr>
            <a:r>
              <a:rPr sz="1600" b="1" dirty="0">
                <a:latin typeface="Courier New"/>
                <a:cs typeface="Courier New"/>
              </a:rPr>
              <a:t>struct servent {  char	*s_name;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41525" y="6378858"/>
            <a:ext cx="2800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25"/>
              </a:lnSpc>
            </a:pPr>
            <a:fld id="{81D60167-4931-47E6-BA6A-407CBD079E47}" type="slidenum">
              <a:rPr sz="1200" spc="-70" dirty="0">
                <a:solidFill>
                  <a:srgbClr val="5E5E5E"/>
                </a:solidFill>
                <a:latin typeface="Arial"/>
                <a:cs typeface="Arial"/>
              </a:rPr>
              <a:pPr marL="25400">
                <a:lnSpc>
                  <a:spcPts val="1225"/>
                </a:lnSpc>
              </a:pPr>
              <a:t>115</a:t>
            </a:fld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2284" y="5006751"/>
            <a:ext cx="21043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Courier New"/>
                <a:cs typeface="Courier New"/>
              </a:rPr>
              <a:t>char</a:t>
            </a:r>
            <a:r>
              <a:rPr sz="1600" b="1" spc="-7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**s_aliases;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2284" y="5250489"/>
            <a:ext cx="1860550" cy="514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746125" algn="l"/>
                <a:tab pos="868044" algn="l"/>
              </a:tabLst>
            </a:pPr>
            <a:r>
              <a:rPr sz="1600" b="1" dirty="0">
                <a:latin typeface="Courier New"/>
                <a:cs typeface="Courier New"/>
              </a:rPr>
              <a:t>int		s_port;  char	*s_proto;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21094" y="4762199"/>
            <a:ext cx="2952115" cy="1002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40" dirty="0">
                <a:latin typeface="Arial"/>
                <a:cs typeface="Arial"/>
              </a:rPr>
              <a:t>/* </a:t>
            </a:r>
            <a:r>
              <a:rPr sz="1600" spc="10" dirty="0">
                <a:latin typeface="Arial"/>
                <a:cs typeface="Arial"/>
              </a:rPr>
              <a:t>official </a:t>
            </a:r>
            <a:r>
              <a:rPr sz="1600" spc="-65" dirty="0">
                <a:latin typeface="Arial"/>
                <a:cs typeface="Arial"/>
              </a:rPr>
              <a:t>service </a:t>
            </a:r>
            <a:r>
              <a:rPr sz="1600" spc="-85" dirty="0">
                <a:latin typeface="Arial"/>
                <a:cs typeface="Arial"/>
              </a:rPr>
              <a:t>name</a:t>
            </a:r>
            <a:r>
              <a:rPr sz="1600" spc="-95" dirty="0">
                <a:latin typeface="Arial"/>
                <a:cs typeface="Arial"/>
              </a:rPr>
              <a:t> </a:t>
            </a:r>
            <a:r>
              <a:rPr sz="1600" spc="-40" dirty="0">
                <a:latin typeface="Arial"/>
                <a:cs typeface="Arial"/>
              </a:rPr>
              <a:t>*/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40" dirty="0">
                <a:latin typeface="Arial"/>
                <a:cs typeface="Arial"/>
              </a:rPr>
              <a:t>/* </a:t>
            </a:r>
            <a:r>
              <a:rPr sz="1600" spc="10" dirty="0">
                <a:latin typeface="Arial"/>
                <a:cs typeface="Arial"/>
              </a:rPr>
              <a:t>list </a:t>
            </a:r>
            <a:r>
              <a:rPr sz="1600" spc="-10" dirty="0">
                <a:latin typeface="Arial"/>
                <a:cs typeface="Arial"/>
              </a:rPr>
              <a:t>of </a:t>
            </a:r>
            <a:r>
              <a:rPr sz="1600" spc="-35" dirty="0">
                <a:latin typeface="Arial"/>
                <a:cs typeface="Arial"/>
              </a:rPr>
              <a:t>alternate </a:t>
            </a:r>
            <a:r>
              <a:rPr sz="1600" spc="-114" dirty="0">
                <a:latin typeface="Arial"/>
                <a:cs typeface="Arial"/>
              </a:rPr>
              <a:t>names</a:t>
            </a:r>
            <a:r>
              <a:rPr sz="1600" spc="-190" dirty="0">
                <a:latin typeface="Arial"/>
                <a:cs typeface="Arial"/>
              </a:rPr>
              <a:t> </a:t>
            </a:r>
            <a:r>
              <a:rPr sz="1600" spc="-40" dirty="0">
                <a:latin typeface="Arial"/>
                <a:cs typeface="Arial"/>
              </a:rPr>
              <a:t>(strings)*/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40" dirty="0">
                <a:latin typeface="Arial"/>
                <a:cs typeface="Arial"/>
              </a:rPr>
              <a:t>/* </a:t>
            </a:r>
            <a:r>
              <a:rPr sz="1600" spc="-65" dirty="0">
                <a:latin typeface="Arial"/>
                <a:cs typeface="Arial"/>
              </a:rPr>
              <a:t>service </a:t>
            </a:r>
            <a:r>
              <a:rPr sz="1600" dirty="0">
                <a:latin typeface="Arial"/>
                <a:cs typeface="Arial"/>
              </a:rPr>
              <a:t>port </a:t>
            </a:r>
            <a:r>
              <a:rPr sz="1600" spc="-30" dirty="0">
                <a:latin typeface="Arial"/>
                <a:cs typeface="Arial"/>
              </a:rPr>
              <a:t>number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spc="-45" dirty="0">
                <a:latin typeface="Arial"/>
                <a:cs typeface="Arial"/>
              </a:rPr>
              <a:t>*/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40" dirty="0">
                <a:latin typeface="Arial"/>
                <a:cs typeface="Arial"/>
              </a:rPr>
              <a:t>/* </a:t>
            </a:r>
            <a:r>
              <a:rPr sz="1600" spc="-20" dirty="0">
                <a:latin typeface="Arial"/>
                <a:cs typeface="Arial"/>
              </a:rPr>
              <a:t>protocol </a:t>
            </a:r>
            <a:r>
              <a:rPr sz="1600" dirty="0">
                <a:latin typeface="Arial"/>
                <a:cs typeface="Arial"/>
              </a:rPr>
              <a:t>to </a:t>
            </a:r>
            <a:r>
              <a:rPr sz="1600" spc="-140" dirty="0">
                <a:latin typeface="Arial"/>
                <a:cs typeface="Arial"/>
              </a:rPr>
              <a:t>use </a:t>
            </a:r>
            <a:r>
              <a:rPr sz="1600" spc="10" dirty="0">
                <a:latin typeface="Arial"/>
                <a:cs typeface="Arial"/>
              </a:rPr>
              <a:t>(“tcp” </a:t>
            </a:r>
            <a:r>
              <a:rPr sz="1600" dirty="0">
                <a:latin typeface="Arial"/>
                <a:cs typeface="Arial"/>
              </a:rPr>
              <a:t>or</a:t>
            </a:r>
            <a:r>
              <a:rPr sz="1600" spc="-14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“udp”)*/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5863" y="5736540"/>
            <a:ext cx="1479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Words>7695</Words>
  <Application>Microsoft Office PowerPoint</Application>
  <PresentationFormat>Custom</PresentationFormat>
  <Paragraphs>1730</Paragraphs>
  <Slides>115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115</vt:i4>
      </vt:variant>
    </vt:vector>
  </HeadingPairs>
  <TitlesOfParts>
    <vt:vector size="116" baseType="lpstr">
      <vt:lpstr>Office Theme</vt:lpstr>
      <vt:lpstr>Introduction to  Sockets Programming in C using TCP/IP</vt:lpstr>
      <vt:lpstr>Introduction</vt:lpstr>
      <vt:lpstr>Protocol Families - TCP/IP</vt:lpstr>
      <vt:lpstr>TCP/IP</vt:lpstr>
      <vt:lpstr>Internet Protocol (IP)</vt:lpstr>
      <vt:lpstr>Addresses - IPv4</vt:lpstr>
      <vt:lpstr>Local Area Network Addresses - IPv4</vt:lpstr>
      <vt:lpstr>TCP vs UDP</vt:lpstr>
      <vt:lpstr>TCP vs UDP</vt:lpstr>
      <vt:lpstr>TCP vs UDP</vt:lpstr>
      <vt:lpstr>Berkley Sockets</vt:lpstr>
      <vt:lpstr>Sockets</vt:lpstr>
      <vt:lpstr>Sockets</vt:lpstr>
      <vt:lpstr>Sockets</vt:lpstr>
      <vt:lpstr>Client-Server communication</vt:lpstr>
      <vt:lpstr>Sockets - Procedures</vt:lpstr>
      <vt:lpstr>Client - Server Communication - Unix</vt:lpstr>
      <vt:lpstr>Socket creation in C: socket()</vt:lpstr>
      <vt:lpstr>Socket creation in C: socket()</vt:lpstr>
      <vt:lpstr>Client - Server Communication - Unix</vt:lpstr>
      <vt:lpstr>Socket close in C: close()</vt:lpstr>
      <vt:lpstr>Specifying Addresses</vt:lpstr>
      <vt:lpstr>Specifying Addresses</vt:lpstr>
      <vt:lpstr>Client - Server Communication - Unix</vt:lpstr>
      <vt:lpstr>Assign address to socket: bind()</vt:lpstr>
      <vt:lpstr>bind()- Example with TCP</vt:lpstr>
      <vt:lpstr>Skipping the bind()</vt:lpstr>
      <vt:lpstr>Client - Server Communication - Unix</vt:lpstr>
      <vt:lpstr>Assign address to socket: bind()</vt:lpstr>
      <vt:lpstr>Client - Server Communication - Unix</vt:lpstr>
      <vt:lpstr>Establish Connection: connect()</vt:lpstr>
      <vt:lpstr>Incoming Connection: accept()</vt:lpstr>
      <vt:lpstr>Incoming Connection: accept()</vt:lpstr>
      <vt:lpstr>Client - Server Communication - Unix</vt:lpstr>
      <vt:lpstr>Exchanging data with stream socket</vt:lpstr>
      <vt:lpstr>Exchanging data with stream socket</vt:lpstr>
      <vt:lpstr>Exchanging data with datagram socket</vt:lpstr>
      <vt:lpstr>Exchanging data with datagram socket</vt:lpstr>
      <vt:lpstr>Example - Echo</vt:lpstr>
      <vt:lpstr>Example - Echo using stream socket</vt:lpstr>
      <vt:lpstr>Example - Echo using stream socket</vt:lpstr>
      <vt:lpstr>Slide 42</vt:lpstr>
      <vt:lpstr>Slide 43</vt:lpstr>
      <vt:lpstr>Example - Echo using stream socket</vt:lpstr>
      <vt:lpstr>Slide 45</vt:lpstr>
      <vt:lpstr>Example - Echo using stream socket</vt:lpstr>
      <vt:lpstr>Example - Echo using stream socket</vt:lpstr>
      <vt:lpstr>Example - Echo using stream socket</vt:lpstr>
      <vt:lpstr>Example - Echo using stream socket</vt:lpstr>
      <vt:lpstr>Slide 50</vt:lpstr>
      <vt:lpstr>Example - Echo using stream socket</vt:lpstr>
      <vt:lpstr>Example - Echo using stream socket</vt:lpstr>
      <vt:lpstr>Slide 53</vt:lpstr>
      <vt:lpstr>Slide 54</vt:lpstr>
      <vt:lpstr>Example - Echo using stream socket</vt:lpstr>
      <vt:lpstr>Example - Echo using stream socket</vt:lpstr>
      <vt:lpstr>Example - Echo using stream socket</vt:lpstr>
      <vt:lpstr>Example - Echo using datagram socket</vt:lpstr>
      <vt:lpstr>Example - Echo using datagram socket</vt:lpstr>
      <vt:lpstr>Example - Echo using datagram socket</vt:lpstr>
      <vt:lpstr>Example - Echo using datagram socket</vt:lpstr>
      <vt:lpstr>Example - Echo using datagram socket</vt:lpstr>
      <vt:lpstr>Example - Echo using datagram  socket</vt:lpstr>
      <vt:lpstr>Client - Server Communication - Unix</vt:lpstr>
      <vt:lpstr>Constructing Messages - Encoding Data</vt:lpstr>
      <vt:lpstr>Constructing Messages - Encoding Data</vt:lpstr>
      <vt:lpstr>Constructing Messages - Encoding Data</vt:lpstr>
      <vt:lpstr>Constructing Messages - Byte Ordering</vt:lpstr>
      <vt:lpstr>Constructing Messages - Byte Ordering</vt:lpstr>
      <vt:lpstr>Constructing Messages - Byte Ordering -</vt:lpstr>
      <vt:lpstr>Constructing Messages - Byte Ordering -</vt:lpstr>
      <vt:lpstr>Constructing Messages - Alignment and Padding</vt:lpstr>
      <vt:lpstr>Constructing Messages - Framing and Parsing</vt:lpstr>
      <vt:lpstr>Socket Options</vt:lpstr>
      <vt:lpstr>Socket Options</vt:lpstr>
      <vt:lpstr>Socket Options - Table</vt:lpstr>
      <vt:lpstr>Socket Options - Example</vt:lpstr>
      <vt:lpstr>Socket Options - Example</vt:lpstr>
      <vt:lpstr>Socket Options - Example</vt:lpstr>
      <vt:lpstr>Socket Options - Example</vt:lpstr>
      <vt:lpstr>Dealing with blocking calls</vt:lpstr>
      <vt:lpstr>Dealing with blocking calls</vt:lpstr>
      <vt:lpstr>Dealing with blocking calls</vt:lpstr>
      <vt:lpstr>Non-blocking Sockets</vt:lpstr>
      <vt:lpstr>Non-blocking Sockets</vt:lpstr>
      <vt:lpstr>Signals</vt:lpstr>
      <vt:lpstr>Signals</vt:lpstr>
      <vt:lpstr>Signals</vt:lpstr>
      <vt:lpstr>Signals - Example</vt:lpstr>
      <vt:lpstr>Asynchronous I/O</vt:lpstr>
      <vt:lpstr>Timeouts</vt:lpstr>
      <vt:lpstr>Asynchronous I/O - Example</vt:lpstr>
      <vt:lpstr>Iterative Stream Socket Server</vt:lpstr>
      <vt:lpstr>Iterative Server - Example: echo using stream socket</vt:lpstr>
      <vt:lpstr>Iterative Server - Example: echo using stream socket</vt:lpstr>
      <vt:lpstr>Iterative Server - Example: echo using stream socket</vt:lpstr>
      <vt:lpstr>Multitasking - Per-Client Process</vt:lpstr>
      <vt:lpstr>Multitasking - Per-Client Process</vt:lpstr>
      <vt:lpstr>Multitasking - Per-Client Process - Example: echo using stream socket</vt:lpstr>
      <vt:lpstr>Multitasking - Per-Client Thread</vt:lpstr>
      <vt:lpstr>Multitasking - Per-Client Thread</vt:lpstr>
      <vt:lpstr>Multitasking - Per-Client Thread</vt:lpstr>
      <vt:lpstr>Multitasking - Constrained</vt:lpstr>
      <vt:lpstr>Multitasking - Constrained</vt:lpstr>
      <vt:lpstr>Multiplexing</vt:lpstr>
      <vt:lpstr>Multiplexing</vt:lpstr>
      <vt:lpstr>Multiplexing - Example: echo using stream socket</vt:lpstr>
      <vt:lpstr>Multiplexing - Example: echo using stream socket</vt:lpstr>
      <vt:lpstr>Multiple Recipients</vt:lpstr>
      <vt:lpstr>Multiple Recipients - Broadcast</vt:lpstr>
      <vt:lpstr>Multiple Recipients - Multicast</vt:lpstr>
      <vt:lpstr>Useful Functions</vt:lpstr>
      <vt:lpstr>Useful Functions</vt:lpstr>
      <vt:lpstr>Domain Name Service</vt:lpstr>
      <vt:lpstr>Domain Name Service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Windows User</cp:lastModifiedBy>
  <cp:revision>10</cp:revision>
  <dcterms:created xsi:type="dcterms:W3CDTF">2018-12-09T14:27:53Z</dcterms:created>
  <dcterms:modified xsi:type="dcterms:W3CDTF">2019-01-06T05:41:33Z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2012-06-11T00:00:00Z</vt:filetime>
  </property>
  <property fmtid="{D5CDD505-2E9C-101B-9397-08002B2CF9AE}" pid="3" name="Creator">
    <vt:lpwstr>Acrobat PDFMaker 7.0.5 for PowerPoint</vt:lpwstr>
  </property>
  <property fmtid="{D5CDD505-2E9C-101B-9397-08002B2CF9AE}" pid="4" name="LastSaved">
    <vt:filetime>2018-12-09T00:00:00Z</vt:filetime>
  </property>
</Properties>
</file>