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5" r:id="rId3"/>
    <p:sldId id="257" r:id="rId4"/>
    <p:sldId id="259" r:id="rId5"/>
    <p:sldId id="260" r:id="rId6"/>
    <p:sldId id="261" r:id="rId7"/>
    <p:sldId id="262" r:id="rId8"/>
    <p:sldId id="263" r:id="rId9"/>
    <p:sldId id="265" r:id="rId10"/>
    <p:sldId id="264" r:id="rId11"/>
    <p:sldId id="266" r:id="rId12"/>
    <p:sldId id="267" r:id="rId13"/>
    <p:sldId id="268" r:id="rId14"/>
    <p:sldId id="269" r:id="rId15"/>
    <p:sldId id="270"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7" r:id="rId29"/>
    <p:sldId id="286" r:id="rId30"/>
    <p:sldId id="288" r:id="rId31"/>
    <p:sldId id="289" r:id="rId32"/>
    <p:sldId id="290" r:id="rId33"/>
    <p:sldId id="292" r:id="rId34"/>
    <p:sldId id="293" r:id="rId35"/>
    <p:sldId id="294"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1/3/2019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1/3/2019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1/3/2019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1/3/2019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1/3/2019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1/3/2019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rmAutofit/>
          </a:bodyPr>
          <a:lstStyle/>
          <a:p>
            <a:pPr algn="l">
              <a:spcBef>
                <a:spcPts val="0"/>
              </a:spcBef>
            </a:pPr>
            <a:endParaRPr lang="en-GB" sz="3600" dirty="0" smtClean="0">
              <a:solidFill>
                <a:srgbClr val="FF0000"/>
              </a:solidFill>
            </a:endParaRPr>
          </a:p>
          <a:p>
            <a:pPr algn="l">
              <a:spcBef>
                <a:spcPts val="0"/>
              </a:spcBef>
            </a:pPr>
            <a:endParaRPr lang="en-GB" sz="3600" dirty="0" smtClean="0">
              <a:solidFill>
                <a:srgbClr val="FF0000"/>
              </a:solidFill>
            </a:endParaRPr>
          </a:p>
          <a:p>
            <a:pPr algn="l">
              <a:spcBef>
                <a:spcPts val="0"/>
              </a:spcBef>
            </a:pPr>
            <a:endParaRPr lang="en-GB" sz="3600" dirty="0" smtClean="0">
              <a:solidFill>
                <a:srgbClr val="FF0000"/>
              </a:solidFill>
            </a:endParaRPr>
          </a:p>
          <a:p>
            <a:pPr algn="l">
              <a:spcBef>
                <a:spcPts val="0"/>
              </a:spcBef>
            </a:pPr>
            <a:endParaRPr lang="en-GB" sz="3600" dirty="0" smtClean="0">
              <a:solidFill>
                <a:srgbClr val="FF0000"/>
              </a:solidFill>
            </a:endParaRPr>
          </a:p>
          <a:p>
            <a:pPr>
              <a:spcBef>
                <a:spcPts val="0"/>
              </a:spcBef>
            </a:pPr>
            <a:r>
              <a:rPr lang="en-GB" sz="3600" b="1" dirty="0" smtClean="0">
                <a:solidFill>
                  <a:srgbClr val="FF0000"/>
                </a:solidFill>
              </a:rPr>
              <a:t>Unix </a:t>
            </a:r>
            <a:r>
              <a:rPr lang="en-GB" sz="3600" b="1" dirty="0" smtClean="0">
                <a:solidFill>
                  <a:srgbClr val="FF0000"/>
                </a:solidFill>
              </a:rPr>
              <a:t>Socket - Server Examples</a:t>
            </a:r>
          </a:p>
          <a:p>
            <a:pPr algn="l">
              <a:spcBef>
                <a:spcPts val="0"/>
              </a:spcBef>
            </a:pPr>
            <a:endParaRPr lang="en-GB" sz="3600" dirty="0">
              <a:solidFill>
                <a:srgbClr val="FF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rmAutofit fontScale="85000" lnSpcReduction="20000"/>
          </a:bodyPr>
          <a:lstStyle/>
          <a:p>
            <a:pPr algn="l">
              <a:spcBef>
                <a:spcPts val="0"/>
              </a:spcBef>
            </a:pPr>
            <a:r>
              <a:rPr lang="en-GB" sz="4200" b="1" dirty="0" smtClean="0">
                <a:solidFill>
                  <a:schemeClr val="tx1"/>
                </a:solidFill>
              </a:rPr>
              <a:t>To make a process a TCP server, you need to follow the steps given below −</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Create a socket with the socket() system call.</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Bind the socket to an address using the bind() system call. For a server socket on the Internet, an address consists of a port number on the host machine.</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Listen for connections with the listen() system call.</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Accept a connection with the accept() system call. This call typically blocks until a client connects with the server.</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Send and receive data using the read() and write() system calls.</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Now let us put these steps in the form of source code. Put this code into the file </a:t>
            </a:r>
            <a:r>
              <a:rPr lang="en-GB" sz="2800" dirty="0" err="1" smtClean="0">
                <a:solidFill>
                  <a:schemeClr val="tx1"/>
                </a:solidFill>
              </a:rPr>
              <a:t>server.c</a:t>
            </a:r>
            <a:r>
              <a:rPr lang="en-GB" sz="2800" dirty="0" smtClean="0">
                <a:solidFill>
                  <a:schemeClr val="tx1"/>
                </a:solidFill>
              </a:rPr>
              <a:t> and compile it with </a:t>
            </a:r>
            <a:r>
              <a:rPr lang="en-GB" sz="2800" dirty="0" err="1" smtClean="0">
                <a:solidFill>
                  <a:schemeClr val="tx1"/>
                </a:solidFill>
              </a:rPr>
              <a:t>gcc</a:t>
            </a:r>
            <a:r>
              <a:rPr lang="en-GB" sz="2800" dirty="0" smtClean="0">
                <a:solidFill>
                  <a:schemeClr val="tx1"/>
                </a:solidFill>
              </a:rPr>
              <a:t> compiler.</a:t>
            </a:r>
          </a:p>
          <a:p>
            <a:pPr algn="l">
              <a:spcBef>
                <a:spcPts val="0"/>
              </a:spcBef>
              <a:buFont typeface="Wingdings" pitchFamily="2" charset="2"/>
              <a:buChar char="Ø"/>
            </a:pPr>
            <a:endParaRPr lang="en-GB" sz="2800"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#include &lt;</a:t>
            </a:r>
            <a:r>
              <a:rPr lang="en-GB" sz="2800" dirty="0" err="1" smtClean="0">
                <a:solidFill>
                  <a:schemeClr val="tx1"/>
                </a:solidFill>
              </a:rPr>
              <a:t>stdio.h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stdlib.h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netdb.h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netinet</a:t>
            </a:r>
            <a:r>
              <a:rPr lang="en-GB" sz="2800" dirty="0" smtClean="0">
                <a:solidFill>
                  <a:schemeClr val="tx1"/>
                </a:solidFill>
              </a:rPr>
              <a:t>/</a:t>
            </a:r>
            <a:r>
              <a:rPr lang="en-GB" sz="2800" dirty="0" err="1" smtClean="0">
                <a:solidFill>
                  <a:schemeClr val="tx1"/>
                </a:solidFill>
              </a:rPr>
              <a:t>in.h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string.h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main(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argc</a:t>
            </a:r>
            <a:r>
              <a:rPr lang="en-GB" sz="2800" dirty="0" smtClean="0">
                <a:solidFill>
                  <a:schemeClr val="tx1"/>
                </a:solidFill>
              </a:rPr>
              <a:t>, char *</a:t>
            </a:r>
            <a:r>
              <a:rPr lang="en-GB" sz="2800" dirty="0" err="1" smtClean="0">
                <a:solidFill>
                  <a:schemeClr val="tx1"/>
                </a:solidFill>
              </a:rPr>
              <a:t>argv</a:t>
            </a:r>
            <a:r>
              <a:rPr lang="en-GB" sz="2800" dirty="0" smtClean="0">
                <a:solidFill>
                  <a:schemeClr val="tx1"/>
                </a:solidFill>
              </a:rPr>
              <a:t>[] ) {</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newsockfd</a:t>
            </a: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a:t>
            </a:r>
            <a:r>
              <a:rPr lang="en-GB" sz="2800" dirty="0" err="1" smtClean="0">
                <a:solidFill>
                  <a:schemeClr val="tx1"/>
                </a:solidFill>
              </a:rPr>
              <a:t>clilen</a:t>
            </a:r>
            <a:r>
              <a:rPr lang="en-GB" sz="2800" dirty="0" smtClean="0">
                <a:solidFill>
                  <a:schemeClr val="tx1"/>
                </a:solidFill>
              </a:rPr>
              <a:t>;</a:t>
            </a:r>
          </a:p>
          <a:p>
            <a:pPr algn="l">
              <a:spcBef>
                <a:spcPts val="0"/>
              </a:spcBef>
            </a:pPr>
            <a:r>
              <a:rPr lang="en-GB" sz="2800" dirty="0" smtClean="0">
                <a:solidFill>
                  <a:schemeClr val="tx1"/>
                </a:solidFill>
              </a:rPr>
              <a:t>   char buffer[256];</a:t>
            </a:r>
          </a:p>
          <a:p>
            <a:pPr algn="l">
              <a:spcBef>
                <a:spcPts val="0"/>
              </a:spcBef>
            </a:pP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sockaddr_in</a:t>
            </a:r>
            <a:r>
              <a:rPr lang="en-GB" sz="2800" dirty="0" smtClean="0">
                <a:solidFill>
                  <a:schemeClr val="tx1"/>
                </a:solidFill>
              </a:rPr>
              <a:t> </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cli_addr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n;</a:t>
            </a:r>
          </a:p>
          <a:p>
            <a:pPr algn="l">
              <a:spcBef>
                <a:spcPts val="0"/>
              </a:spcBef>
            </a:pP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a:t>
            </a:r>
            <a:r>
              <a:rPr lang="en-GB" sz="2800" dirty="0" smtClean="0">
                <a:solidFill>
                  <a:srgbClr val="FF0000"/>
                </a:solidFill>
              </a:rPr>
              <a:t>/* First call to socket() function */</a:t>
            </a:r>
          </a:p>
          <a:p>
            <a:pPr algn="l">
              <a:spcBef>
                <a:spcPts val="0"/>
              </a:spcBef>
            </a:pP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 socket(AF_INET, SOCK_STREAM, 0);</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a:t>
            </a:r>
            <a:r>
              <a:rPr lang="en-GB" sz="2800" dirty="0" err="1" smtClean="0">
                <a:solidFill>
                  <a:schemeClr val="tx1"/>
                </a:solidFill>
              </a:rPr>
              <a:t>sockfd</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opening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 Initialize socket structure */</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((char *) &amp;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 5001;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serv_addr.sin_family</a:t>
            </a:r>
            <a:r>
              <a:rPr lang="en-GB" sz="2800" dirty="0" smtClean="0">
                <a:solidFill>
                  <a:schemeClr val="tx1"/>
                </a:solidFill>
              </a:rPr>
              <a:t> = AF_INET;</a:t>
            </a:r>
          </a:p>
          <a:p>
            <a:pPr algn="l">
              <a:spcBef>
                <a:spcPts val="0"/>
              </a:spcBef>
            </a:pPr>
            <a:r>
              <a:rPr lang="en-GB" sz="2800" dirty="0" smtClean="0">
                <a:solidFill>
                  <a:schemeClr val="tx1"/>
                </a:solidFill>
              </a:rPr>
              <a:t>   </a:t>
            </a:r>
            <a:r>
              <a:rPr lang="en-GB" sz="2800" dirty="0" err="1" smtClean="0">
                <a:solidFill>
                  <a:schemeClr val="tx1"/>
                </a:solidFill>
              </a:rPr>
              <a:t>serv_addr.sin_addr.s_addr</a:t>
            </a:r>
            <a:r>
              <a:rPr lang="en-GB" sz="2800" dirty="0" smtClean="0">
                <a:solidFill>
                  <a:schemeClr val="tx1"/>
                </a:solidFill>
              </a:rPr>
              <a:t> = INADDR_ANY;</a:t>
            </a:r>
          </a:p>
          <a:p>
            <a:pPr algn="l">
              <a:spcBef>
                <a:spcPts val="0"/>
              </a:spcBef>
            </a:pPr>
            <a:r>
              <a:rPr lang="en-GB" sz="2800" dirty="0" smtClean="0">
                <a:solidFill>
                  <a:schemeClr val="tx1"/>
                </a:solidFill>
              </a:rPr>
              <a:t>   </a:t>
            </a:r>
            <a:r>
              <a:rPr lang="en-GB" sz="2800" dirty="0" err="1" smtClean="0">
                <a:solidFill>
                  <a:schemeClr val="tx1"/>
                </a:solidFill>
              </a:rPr>
              <a:t>serv_addr.sin_port</a:t>
            </a:r>
            <a:r>
              <a:rPr lang="en-GB" sz="2800" dirty="0" smtClean="0">
                <a:solidFill>
                  <a:schemeClr val="tx1"/>
                </a:solidFill>
              </a:rPr>
              <a:t> = </a:t>
            </a:r>
            <a:r>
              <a:rPr lang="en-GB" sz="2800" dirty="0" err="1" smtClean="0">
                <a:solidFill>
                  <a:schemeClr val="tx1"/>
                </a:solidFill>
              </a:rPr>
              <a:t>htons</a:t>
            </a:r>
            <a:r>
              <a:rPr lang="en-GB" sz="2800" dirty="0" smtClean="0">
                <a:solidFill>
                  <a:schemeClr val="tx1"/>
                </a:solidFill>
              </a:rPr>
              <a:t>(</a:t>
            </a:r>
            <a:r>
              <a:rPr lang="en-GB" sz="2800" dirty="0" err="1" smtClean="0">
                <a:solidFill>
                  <a:schemeClr val="tx1"/>
                </a:solidFill>
              </a:rPr>
              <a:t>portno</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Now bind the host address using bind() call.*/</a:t>
            </a:r>
          </a:p>
          <a:p>
            <a:pPr algn="l">
              <a:spcBef>
                <a:spcPts val="0"/>
              </a:spcBef>
            </a:pPr>
            <a:r>
              <a:rPr lang="en-GB" sz="2800" dirty="0" smtClean="0">
                <a:solidFill>
                  <a:schemeClr val="tx1"/>
                </a:solidFill>
              </a:rPr>
              <a:t>   if (bind(</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 &amp;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 &lt; 0) </a:t>
            </a:r>
            <a:endParaRPr lang="en-GB" sz="2800" dirty="0" smtClean="0">
              <a:solidFill>
                <a:schemeClr val="tx1"/>
              </a:solidFill>
            </a:endParaRPr>
          </a:p>
          <a:p>
            <a:pPr algn="l">
              <a:spcBef>
                <a:spcPts val="0"/>
              </a:spcBef>
            </a:pPr>
            <a:r>
              <a:rPr lang="en-GB" sz="2800" dirty="0" smtClean="0">
                <a:solidFill>
                  <a:schemeClr val="tx1"/>
                </a:solidFill>
              </a:rPr>
              <a:t>{</a:t>
            </a:r>
            <a:endParaRPr lang="en-GB" sz="2800" dirty="0" smtClean="0">
              <a:solidFill>
                <a:schemeClr val="tx1"/>
              </a:solidFill>
            </a:endParaRP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on binding");</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Now start listening for the clients, here process will</a:t>
            </a:r>
          </a:p>
          <a:p>
            <a:pPr algn="l">
              <a:spcBef>
                <a:spcPts val="0"/>
              </a:spcBef>
            </a:pPr>
            <a:r>
              <a:rPr lang="en-GB" sz="2800" dirty="0" smtClean="0">
                <a:solidFill>
                  <a:srgbClr val="FF0000"/>
                </a:solidFill>
              </a:rPr>
              <a:t>      * go in sleep mode and will wait for the incoming </a:t>
            </a:r>
            <a:r>
              <a:rPr lang="en-GB" sz="2800" dirty="0" smtClean="0">
                <a:solidFill>
                  <a:srgbClr val="FF0000"/>
                </a:solidFill>
              </a:rPr>
              <a:t>connection   </a:t>
            </a:r>
            <a:r>
              <a:rPr lang="en-GB" sz="2800" dirty="0" smtClean="0">
                <a:solidFill>
                  <a:srgbClr val="FF0000"/>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listen(sockfd,5);</a:t>
            </a:r>
          </a:p>
          <a:p>
            <a:pPr algn="l">
              <a:spcBef>
                <a:spcPts val="0"/>
              </a:spcBef>
            </a:pPr>
            <a:r>
              <a:rPr lang="en-GB" sz="2800" dirty="0" smtClean="0">
                <a:solidFill>
                  <a:schemeClr val="tx1"/>
                </a:solidFill>
              </a:rPr>
              <a:t>   </a:t>
            </a:r>
            <a:r>
              <a:rPr lang="en-GB" sz="2800" dirty="0" err="1" smtClean="0">
                <a:solidFill>
                  <a:schemeClr val="tx1"/>
                </a:solidFill>
              </a:rPr>
              <a:t>clilen</a:t>
            </a:r>
            <a:r>
              <a:rPr lang="en-GB" sz="2800" dirty="0" smtClean="0">
                <a:solidFill>
                  <a:schemeClr val="tx1"/>
                </a:solidFill>
              </a:rPr>
              <a:t> =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cli_addr</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34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a:t>
            </a:r>
            <a:r>
              <a:rPr lang="en-GB" sz="2800" dirty="0" smtClean="0">
                <a:solidFill>
                  <a:srgbClr val="FF0000"/>
                </a:solidFill>
              </a:rPr>
              <a:t>/* Accept actual connection from the client */</a:t>
            </a:r>
          </a:p>
          <a:p>
            <a:pPr algn="l">
              <a:spcBef>
                <a:spcPts val="0"/>
              </a:spcBef>
            </a:pPr>
            <a:r>
              <a:rPr lang="en-GB" sz="2800" dirty="0" smtClean="0">
                <a:solidFill>
                  <a:schemeClr val="tx1"/>
                </a:solidFill>
              </a:rPr>
              <a:t>   </a:t>
            </a:r>
            <a:r>
              <a:rPr lang="en-GB" sz="2800" dirty="0" err="1" smtClean="0">
                <a:solidFill>
                  <a:schemeClr val="tx1"/>
                </a:solidFill>
              </a:rPr>
              <a:t>newsockfd</a:t>
            </a:r>
            <a:r>
              <a:rPr lang="en-GB" sz="2800" dirty="0" smtClean="0">
                <a:solidFill>
                  <a:schemeClr val="tx1"/>
                </a:solidFill>
              </a:rPr>
              <a:t> = accept(</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*)&amp;</a:t>
            </a:r>
            <a:r>
              <a:rPr lang="en-GB" sz="2800" dirty="0" err="1" smtClean="0">
                <a:solidFill>
                  <a:schemeClr val="tx1"/>
                </a:solidFill>
              </a:rPr>
              <a:t>cli_addr</a:t>
            </a:r>
            <a:r>
              <a:rPr lang="en-GB" sz="2800" dirty="0" smtClean="0">
                <a:solidFill>
                  <a:schemeClr val="tx1"/>
                </a:solidFill>
              </a:rPr>
              <a:t>, &amp;</a:t>
            </a:r>
            <a:r>
              <a:rPr lang="en-GB" sz="2800" dirty="0" err="1" smtClean="0">
                <a:solidFill>
                  <a:schemeClr val="tx1"/>
                </a:solidFill>
              </a:rPr>
              <a:t>clilen</a:t>
            </a:r>
            <a:r>
              <a:rPr lang="en-GB" sz="2800" dirty="0" smtClean="0">
                <a:solidFill>
                  <a:schemeClr val="tx1"/>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a:t>
            </a:r>
            <a:r>
              <a:rPr lang="en-GB" sz="2800" dirty="0" err="1" smtClean="0">
                <a:solidFill>
                  <a:schemeClr val="tx1"/>
                </a:solidFill>
              </a:rPr>
              <a:t>newsockfd</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on accept");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chemeClr val="tx1"/>
                </a:solidFill>
              </a:rPr>
              <a:t> </a:t>
            </a:r>
            <a:r>
              <a:rPr lang="en-GB" sz="2800" dirty="0" smtClean="0">
                <a:solidFill>
                  <a:srgbClr val="FF0000"/>
                </a:solidFill>
              </a:rPr>
              <a:t>/* </a:t>
            </a:r>
            <a:r>
              <a:rPr lang="en-GB" sz="2800" dirty="0" smtClean="0">
                <a:solidFill>
                  <a:srgbClr val="FF0000"/>
                </a:solidFill>
              </a:rPr>
              <a:t>If connection is established then start communicating */</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(buffer,256);</a:t>
            </a:r>
          </a:p>
          <a:p>
            <a:pPr algn="l">
              <a:spcBef>
                <a:spcPts val="0"/>
              </a:spcBef>
            </a:pPr>
            <a:r>
              <a:rPr lang="en-GB" sz="2800" dirty="0" smtClean="0">
                <a:solidFill>
                  <a:schemeClr val="tx1"/>
                </a:solidFill>
              </a:rPr>
              <a:t>   n = read( newsockfd,buffer,255 );</a:t>
            </a:r>
          </a:p>
          <a:p>
            <a:pPr algn="l">
              <a:spcBef>
                <a:spcPts val="0"/>
              </a:spcBef>
            </a:pP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chemeClr val="tx1"/>
                </a:solidFill>
              </a:rPr>
              <a:t>if (n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reading from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("Here is the message: %s\</a:t>
            </a:r>
            <a:r>
              <a:rPr lang="en-GB" sz="2800" dirty="0" err="1" smtClean="0">
                <a:solidFill>
                  <a:schemeClr val="tx1"/>
                </a:solidFill>
              </a:rPr>
              <a:t>n",buffer</a:t>
            </a:r>
            <a:r>
              <a:rPr lang="en-GB" sz="2800" dirty="0" smtClean="0">
                <a:solidFill>
                  <a:schemeClr val="tx1"/>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 Write a response to the client */</a:t>
            </a:r>
          </a:p>
          <a:p>
            <a:pPr algn="l">
              <a:spcBef>
                <a:spcPts val="0"/>
              </a:spcBef>
            </a:pPr>
            <a:r>
              <a:rPr lang="en-GB" sz="2800" dirty="0" smtClean="0">
                <a:solidFill>
                  <a:schemeClr val="tx1"/>
                </a:solidFill>
              </a:rPr>
              <a:t>   n = write(</a:t>
            </a:r>
            <a:r>
              <a:rPr lang="en-GB" sz="2800" dirty="0" err="1" smtClean="0">
                <a:solidFill>
                  <a:schemeClr val="tx1"/>
                </a:solidFill>
              </a:rPr>
              <a:t>newsockfd,"I</a:t>
            </a:r>
            <a:r>
              <a:rPr lang="en-GB" sz="2800" dirty="0" smtClean="0">
                <a:solidFill>
                  <a:schemeClr val="tx1"/>
                </a:solidFill>
              </a:rPr>
              <a:t> got your message",18);</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writing to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r>
              <a:rPr lang="en-GB" sz="2800" dirty="0" smtClean="0">
                <a:solidFill>
                  <a:schemeClr val="tx1"/>
                </a:solidFill>
              </a:rPr>
              <a:t>}         </a:t>
            </a:r>
          </a:p>
          <a:p>
            <a:pPr algn="l">
              <a:spcBef>
                <a:spcPts val="0"/>
              </a:spcBef>
            </a:pPr>
            <a:r>
              <a:rPr lang="en-GB" sz="2800" dirty="0" smtClean="0">
                <a:solidFill>
                  <a:schemeClr val="tx1"/>
                </a:solidFill>
              </a:rPr>
              <a:t>return </a:t>
            </a:r>
            <a:r>
              <a:rPr lang="en-GB" sz="2800" dirty="0" smtClean="0">
                <a:solidFill>
                  <a:schemeClr val="tx1"/>
                </a:solidFill>
              </a:rPr>
              <a:t>0;</a:t>
            </a:r>
          </a:p>
          <a:p>
            <a:pPr algn="l">
              <a:spcBef>
                <a:spcPts val="0"/>
              </a:spcBef>
            </a:pP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spcBef>
                <a:spcPts val="0"/>
              </a:spcBef>
            </a:pPr>
            <a:r>
              <a:rPr lang="en-GB" sz="3600" b="1" dirty="0" smtClean="0">
                <a:solidFill>
                  <a:srgbClr val="FF0000"/>
                </a:solidFill>
              </a:rPr>
              <a:t>Handle Multiple Connections</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To </a:t>
            </a:r>
            <a:r>
              <a:rPr lang="en-GB" sz="2800" dirty="0" smtClean="0">
                <a:solidFill>
                  <a:schemeClr val="tx1"/>
                </a:solidFill>
              </a:rPr>
              <a:t>allow the server to handle multiple simultaneous connections, </a:t>
            </a:r>
            <a:r>
              <a:rPr lang="en-GB" sz="2800" dirty="0" smtClean="0">
                <a:solidFill>
                  <a:schemeClr val="tx1"/>
                </a:solidFill>
              </a:rPr>
              <a:t>make </a:t>
            </a:r>
            <a:r>
              <a:rPr lang="en-GB" sz="2800" dirty="0" smtClean="0">
                <a:solidFill>
                  <a:schemeClr val="tx1"/>
                </a:solidFill>
              </a:rPr>
              <a:t>the following changes in the </a:t>
            </a:r>
            <a:r>
              <a:rPr lang="en-GB" sz="2800" dirty="0" smtClean="0">
                <a:solidFill>
                  <a:schemeClr val="tx1"/>
                </a:solidFill>
              </a:rPr>
              <a:t>code </a:t>
            </a:r>
            <a:r>
              <a:rPr lang="en-GB" sz="2800" dirty="0" smtClean="0">
                <a:solidFill>
                  <a:schemeClr val="tx1"/>
                </a:solidFill>
              </a:rPr>
              <a:t>−</a:t>
            </a:r>
          </a:p>
          <a:p>
            <a:pPr algn="l">
              <a:spcBef>
                <a:spcPts val="0"/>
              </a:spcBef>
            </a:pPr>
            <a:endParaRPr lang="en-GB" sz="2800" dirty="0" smtClean="0">
              <a:solidFill>
                <a:srgbClr val="FF0000"/>
              </a:solidFill>
            </a:endParaRPr>
          </a:p>
          <a:p>
            <a:pPr algn="l">
              <a:spcBef>
                <a:spcPts val="0"/>
              </a:spcBef>
            </a:pPr>
            <a:r>
              <a:rPr lang="en-GB" sz="2800" b="1" dirty="0" smtClean="0">
                <a:solidFill>
                  <a:srgbClr val="FF0000"/>
                </a:solidFill>
              </a:rPr>
              <a:t>Put </a:t>
            </a:r>
            <a:r>
              <a:rPr lang="en-GB" sz="2800" b="1" dirty="0" smtClean="0">
                <a:solidFill>
                  <a:srgbClr val="FF0000"/>
                </a:solidFill>
              </a:rPr>
              <a:t>the accept statement and the following code in an infinite loop.</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After </a:t>
            </a:r>
            <a:r>
              <a:rPr lang="en-GB" sz="2800" dirty="0" smtClean="0">
                <a:solidFill>
                  <a:schemeClr val="tx1"/>
                </a:solidFill>
              </a:rPr>
              <a:t>a connection is established, call fork() to create a new process.</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The </a:t>
            </a:r>
            <a:r>
              <a:rPr lang="en-GB" sz="2800" dirty="0" smtClean="0">
                <a:solidFill>
                  <a:schemeClr val="tx1"/>
                </a:solidFill>
              </a:rPr>
              <a:t>child process will close </a:t>
            </a:r>
            <a:r>
              <a:rPr lang="en-GB" sz="2800" dirty="0" err="1" smtClean="0">
                <a:solidFill>
                  <a:schemeClr val="tx1"/>
                </a:solidFill>
              </a:rPr>
              <a:t>sockfd</a:t>
            </a:r>
            <a:r>
              <a:rPr lang="en-GB" sz="2800" dirty="0" smtClean="0">
                <a:solidFill>
                  <a:schemeClr val="tx1"/>
                </a:solidFill>
              </a:rPr>
              <a:t> and call </a:t>
            </a:r>
            <a:r>
              <a:rPr lang="en-GB" sz="2800" dirty="0" err="1" smtClean="0">
                <a:solidFill>
                  <a:schemeClr val="tx1"/>
                </a:solidFill>
              </a:rPr>
              <a:t>doprocessing</a:t>
            </a:r>
            <a:r>
              <a:rPr lang="en-GB" sz="2800" dirty="0" smtClean="0">
                <a:solidFill>
                  <a:schemeClr val="tx1"/>
                </a:solidFill>
              </a:rPr>
              <a:t> function, passing the new socket file descriptor as an argument</a:t>
            </a: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endParaRPr lang="en-GB" sz="2800" dirty="0" smtClean="0">
              <a:solidFill>
                <a:schemeClr val="tx1"/>
              </a:solidFill>
            </a:endParaRP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When the two processes have completed their conversation, as indicated by </a:t>
            </a:r>
            <a:r>
              <a:rPr lang="en-GB" sz="2800" dirty="0" err="1" smtClean="0">
                <a:solidFill>
                  <a:schemeClr val="tx1"/>
                </a:solidFill>
              </a:rPr>
              <a:t>doprocessing</a:t>
            </a:r>
            <a:r>
              <a:rPr lang="en-GB" sz="2800" dirty="0" smtClean="0">
                <a:solidFill>
                  <a:schemeClr val="tx1"/>
                </a:solidFill>
              </a:rPr>
              <a:t>() returning, this process simply exits.</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The parent process closes </a:t>
            </a:r>
            <a:r>
              <a:rPr lang="en-GB" sz="2800" dirty="0" err="1" smtClean="0">
                <a:solidFill>
                  <a:schemeClr val="tx1"/>
                </a:solidFill>
              </a:rPr>
              <a:t>newsockfd</a:t>
            </a:r>
            <a:r>
              <a:rPr lang="en-GB" sz="2800" dirty="0" smtClean="0">
                <a:solidFill>
                  <a:schemeClr val="tx1"/>
                </a:solidFill>
              </a:rPr>
              <a:t>. As all of this code is in an infinite loop, it will return to the accept statement to wait for the next connection.</a:t>
            </a:r>
          </a:p>
          <a:p>
            <a:pPr algn="l">
              <a:spcBef>
                <a:spcPts val="0"/>
              </a:spcBef>
            </a:pPr>
            <a:endParaRPr lang="en-GB" sz="2800" dirty="0" smtClean="0">
              <a:solidFill>
                <a:schemeClr val="tx1"/>
              </a:solidFill>
            </a:endParaRPr>
          </a:p>
          <a:p>
            <a:pPr algn="l">
              <a:spcBef>
                <a:spcPts val="0"/>
              </a:spcBef>
            </a:pPr>
            <a:endParaRPr lang="en-GB" sz="2800" dirty="0">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#include &lt;</a:t>
            </a:r>
            <a:r>
              <a:rPr lang="en-GB" sz="2800" dirty="0" err="1" smtClean="0">
                <a:solidFill>
                  <a:schemeClr val="tx1"/>
                </a:solidFill>
              </a:rPr>
              <a:t>stdio.h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stdlib.h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netdb.h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netinet</a:t>
            </a:r>
            <a:r>
              <a:rPr lang="en-GB" sz="2800" dirty="0" smtClean="0">
                <a:solidFill>
                  <a:schemeClr val="tx1"/>
                </a:solidFill>
              </a:rPr>
              <a:t>/</a:t>
            </a:r>
            <a:r>
              <a:rPr lang="en-GB" sz="2800" dirty="0" err="1" smtClean="0">
                <a:solidFill>
                  <a:schemeClr val="tx1"/>
                </a:solidFill>
              </a:rPr>
              <a:t>in.h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string.h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rgbClr val="FF0000"/>
                </a:solidFill>
              </a:rPr>
              <a:t>void </a:t>
            </a:r>
            <a:r>
              <a:rPr lang="en-GB" sz="2800" dirty="0" err="1" smtClean="0">
                <a:solidFill>
                  <a:srgbClr val="FF0000"/>
                </a:solidFill>
              </a:rPr>
              <a:t>doprocessing</a:t>
            </a:r>
            <a:r>
              <a:rPr lang="en-GB" sz="2800" dirty="0" smtClean="0">
                <a:solidFill>
                  <a:srgbClr val="FF0000"/>
                </a:solidFill>
              </a:rPr>
              <a:t> (</a:t>
            </a:r>
            <a:r>
              <a:rPr lang="en-GB" sz="2800" dirty="0" err="1" smtClean="0">
                <a:solidFill>
                  <a:srgbClr val="FF0000"/>
                </a:solidFill>
              </a:rPr>
              <a:t>int</a:t>
            </a:r>
            <a:r>
              <a:rPr lang="en-GB" sz="2800" dirty="0" smtClean="0">
                <a:solidFill>
                  <a:srgbClr val="FF0000"/>
                </a:solidFill>
              </a:rPr>
              <a:t> sock);</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main(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argc</a:t>
            </a:r>
            <a:r>
              <a:rPr lang="en-GB" sz="2800" dirty="0" smtClean="0">
                <a:solidFill>
                  <a:schemeClr val="tx1"/>
                </a:solidFill>
              </a:rPr>
              <a:t>, char *</a:t>
            </a:r>
            <a:r>
              <a:rPr lang="en-GB" sz="2800" dirty="0" err="1" smtClean="0">
                <a:solidFill>
                  <a:schemeClr val="tx1"/>
                </a:solidFill>
              </a:rPr>
              <a:t>argv</a:t>
            </a:r>
            <a:r>
              <a:rPr lang="en-GB" sz="2800" dirty="0" smtClean="0">
                <a:solidFill>
                  <a:schemeClr val="tx1"/>
                </a:solidFill>
              </a:rPr>
              <a:t>[] ) {</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newsockfd</a:t>
            </a: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a:t>
            </a:r>
            <a:r>
              <a:rPr lang="en-GB" sz="2800" dirty="0" err="1" smtClean="0">
                <a:solidFill>
                  <a:schemeClr val="tx1"/>
                </a:solidFill>
              </a:rPr>
              <a:t>clilen</a:t>
            </a:r>
            <a:r>
              <a:rPr lang="en-GB" sz="2800" dirty="0" smtClean="0">
                <a:solidFill>
                  <a:schemeClr val="tx1"/>
                </a:solidFill>
              </a:rPr>
              <a:t>;</a:t>
            </a:r>
          </a:p>
          <a:p>
            <a:pPr algn="l">
              <a:spcBef>
                <a:spcPts val="0"/>
              </a:spcBef>
            </a:pPr>
            <a:r>
              <a:rPr lang="en-GB" sz="2800" dirty="0" smtClean="0">
                <a:solidFill>
                  <a:schemeClr val="tx1"/>
                </a:solidFill>
              </a:rPr>
              <a:t>   char buffer[256];</a:t>
            </a:r>
          </a:p>
          <a:p>
            <a:pPr algn="l">
              <a:spcBef>
                <a:spcPts val="0"/>
              </a:spcBef>
            </a:pP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sockaddr_in</a:t>
            </a:r>
            <a:r>
              <a:rPr lang="en-GB" sz="2800" dirty="0" smtClean="0">
                <a:solidFill>
                  <a:schemeClr val="tx1"/>
                </a:solidFill>
              </a:rPr>
              <a:t> </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cli_addr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n, </a:t>
            </a:r>
            <a:r>
              <a:rPr lang="en-GB" sz="2800" dirty="0" err="1" smtClean="0">
                <a:solidFill>
                  <a:schemeClr val="tx1"/>
                </a:solidFill>
              </a:rPr>
              <a:t>pid</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a:t>
            </a:r>
            <a:r>
              <a:rPr lang="en-GB" sz="2800" dirty="0" smtClean="0">
                <a:solidFill>
                  <a:srgbClr val="FF0000"/>
                </a:solidFill>
              </a:rPr>
              <a:t>/* First call to socket() function */</a:t>
            </a:r>
          </a:p>
          <a:p>
            <a:pPr algn="l">
              <a:spcBef>
                <a:spcPts val="0"/>
              </a:spcBef>
            </a:pP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 socket(AF_INET, SOCK_STREAM, 0);</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a:t>
            </a:r>
            <a:r>
              <a:rPr lang="en-GB" sz="2800" dirty="0" err="1" smtClean="0">
                <a:solidFill>
                  <a:schemeClr val="tx1"/>
                </a:solidFill>
              </a:rPr>
              <a:t>sockfd</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opening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Initialize socket structure */</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((char *) &amp;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 5001;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serv_addr.sin_family</a:t>
            </a:r>
            <a:r>
              <a:rPr lang="en-GB" sz="2800" dirty="0" smtClean="0">
                <a:solidFill>
                  <a:schemeClr val="tx1"/>
                </a:solidFill>
              </a:rPr>
              <a:t> = AF_INET;</a:t>
            </a:r>
          </a:p>
          <a:p>
            <a:pPr algn="l">
              <a:spcBef>
                <a:spcPts val="0"/>
              </a:spcBef>
            </a:pPr>
            <a:r>
              <a:rPr lang="en-GB" sz="2800" dirty="0" smtClean="0">
                <a:solidFill>
                  <a:schemeClr val="tx1"/>
                </a:solidFill>
              </a:rPr>
              <a:t>   </a:t>
            </a:r>
            <a:r>
              <a:rPr lang="en-GB" sz="2800" dirty="0" err="1" smtClean="0">
                <a:solidFill>
                  <a:schemeClr val="tx1"/>
                </a:solidFill>
              </a:rPr>
              <a:t>serv_addr.sin_addr.s_addr</a:t>
            </a:r>
            <a:r>
              <a:rPr lang="en-GB" sz="2800" dirty="0" smtClean="0">
                <a:solidFill>
                  <a:schemeClr val="tx1"/>
                </a:solidFill>
              </a:rPr>
              <a:t> = INADDR_ANY;</a:t>
            </a:r>
          </a:p>
          <a:p>
            <a:pPr algn="l">
              <a:spcBef>
                <a:spcPts val="0"/>
              </a:spcBef>
            </a:pPr>
            <a:r>
              <a:rPr lang="en-GB" sz="2800" dirty="0" smtClean="0">
                <a:solidFill>
                  <a:schemeClr val="tx1"/>
                </a:solidFill>
              </a:rPr>
              <a:t>   </a:t>
            </a:r>
            <a:r>
              <a:rPr lang="en-GB" sz="2800" dirty="0" err="1" smtClean="0">
                <a:solidFill>
                  <a:schemeClr val="tx1"/>
                </a:solidFill>
              </a:rPr>
              <a:t>serv_addr.sin_port</a:t>
            </a:r>
            <a:r>
              <a:rPr lang="en-GB" sz="2800" dirty="0" smtClean="0">
                <a:solidFill>
                  <a:schemeClr val="tx1"/>
                </a:solidFill>
              </a:rPr>
              <a:t> = </a:t>
            </a:r>
            <a:r>
              <a:rPr lang="en-GB" sz="2800" dirty="0" err="1" smtClean="0">
                <a:solidFill>
                  <a:schemeClr val="tx1"/>
                </a:solidFill>
              </a:rPr>
              <a:t>htons</a:t>
            </a:r>
            <a:r>
              <a:rPr lang="en-GB" sz="2800" dirty="0" smtClean="0">
                <a:solidFill>
                  <a:schemeClr val="tx1"/>
                </a:solidFill>
              </a:rPr>
              <a:t>(</a:t>
            </a:r>
            <a:r>
              <a:rPr lang="en-GB" sz="2800" dirty="0" err="1" smtClean="0">
                <a:solidFill>
                  <a:schemeClr val="tx1"/>
                </a:solidFill>
              </a:rPr>
              <a:t>portno</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a:t>
            </a:r>
            <a:r>
              <a:rPr lang="en-GB" sz="2800" dirty="0" smtClean="0">
                <a:solidFill>
                  <a:srgbClr val="FF0000"/>
                </a:solidFill>
              </a:rPr>
              <a:t>/* Now bind the host address using bind() call.*/</a:t>
            </a:r>
          </a:p>
          <a:p>
            <a:pPr algn="l">
              <a:spcBef>
                <a:spcPts val="0"/>
              </a:spcBef>
            </a:pPr>
            <a:r>
              <a:rPr lang="en-GB" sz="2800" dirty="0" smtClean="0">
                <a:solidFill>
                  <a:schemeClr val="tx1"/>
                </a:solidFill>
              </a:rPr>
              <a:t>   if (bind(</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 &amp;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on binding");</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 Now start listening for the clients, </a:t>
            </a:r>
            <a:r>
              <a:rPr lang="en-GB" sz="2800" dirty="0" smtClean="0">
                <a:solidFill>
                  <a:srgbClr val="FF0000"/>
                </a:solidFill>
              </a:rPr>
              <a:t>here process </a:t>
            </a:r>
            <a:r>
              <a:rPr lang="en-GB" sz="2800" dirty="0" smtClean="0">
                <a:solidFill>
                  <a:srgbClr val="FF0000"/>
                </a:solidFill>
              </a:rPr>
              <a:t>will </a:t>
            </a:r>
            <a:r>
              <a:rPr lang="en-GB" sz="2800" dirty="0" smtClean="0">
                <a:solidFill>
                  <a:srgbClr val="FF0000"/>
                </a:solidFill>
              </a:rPr>
              <a:t>   go </a:t>
            </a:r>
            <a:r>
              <a:rPr lang="en-GB" sz="2800" dirty="0" smtClean="0">
                <a:solidFill>
                  <a:srgbClr val="FF0000"/>
                </a:solidFill>
              </a:rPr>
              <a:t>in sleep mode and will </a:t>
            </a:r>
            <a:r>
              <a:rPr lang="en-GB" sz="2800" dirty="0" smtClean="0">
                <a:solidFill>
                  <a:srgbClr val="FF0000"/>
                </a:solidFill>
              </a:rPr>
              <a:t>wait </a:t>
            </a:r>
            <a:r>
              <a:rPr lang="en-GB" sz="2800" dirty="0" smtClean="0">
                <a:solidFill>
                  <a:srgbClr val="FF0000"/>
                </a:solidFill>
              </a:rPr>
              <a:t>for the incoming </a:t>
            </a:r>
            <a:r>
              <a:rPr lang="en-GB" sz="2800" dirty="0" smtClean="0">
                <a:solidFill>
                  <a:srgbClr val="FF0000"/>
                </a:solidFill>
              </a:rPr>
              <a:t>connection   </a:t>
            </a:r>
            <a:r>
              <a:rPr lang="en-GB" sz="2800" dirty="0" smtClean="0">
                <a:solidFill>
                  <a:srgbClr val="FF0000"/>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listen(sockfd,5);</a:t>
            </a:r>
          </a:p>
          <a:p>
            <a:pPr algn="l">
              <a:spcBef>
                <a:spcPts val="0"/>
              </a:spcBef>
            </a:pPr>
            <a:r>
              <a:rPr lang="en-GB" sz="2800" dirty="0" smtClean="0">
                <a:solidFill>
                  <a:schemeClr val="tx1"/>
                </a:solidFill>
              </a:rPr>
              <a:t>   </a:t>
            </a:r>
            <a:r>
              <a:rPr lang="en-GB" sz="2800" dirty="0" err="1" smtClean="0">
                <a:solidFill>
                  <a:schemeClr val="tx1"/>
                </a:solidFill>
              </a:rPr>
              <a:t>clilen</a:t>
            </a:r>
            <a:r>
              <a:rPr lang="en-GB" sz="2800" dirty="0" smtClean="0">
                <a:solidFill>
                  <a:schemeClr val="tx1"/>
                </a:solidFill>
              </a:rPr>
              <a:t> =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cli_addr</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b="1" dirty="0" smtClean="0">
                <a:solidFill>
                  <a:srgbClr val="FF0000"/>
                </a:solidFill>
              </a:rPr>
              <a:t>   </a:t>
            </a:r>
            <a:r>
              <a:rPr lang="en-GB" sz="2800" b="1" dirty="0" smtClean="0">
                <a:solidFill>
                  <a:srgbClr val="FF0000"/>
                </a:solidFill>
              </a:rPr>
              <a:t>while (1) {</a:t>
            </a:r>
          </a:p>
          <a:p>
            <a:pPr algn="l">
              <a:spcBef>
                <a:spcPts val="0"/>
              </a:spcBef>
            </a:pPr>
            <a:r>
              <a:rPr lang="en-GB" sz="2800" b="1" dirty="0" smtClean="0">
                <a:solidFill>
                  <a:srgbClr val="FF0000"/>
                </a:solidFill>
              </a:rPr>
              <a:t>      </a:t>
            </a:r>
            <a:r>
              <a:rPr lang="en-GB" sz="2800" b="1" dirty="0" err="1" smtClean="0">
                <a:solidFill>
                  <a:srgbClr val="FF0000"/>
                </a:solidFill>
              </a:rPr>
              <a:t>newsockfd</a:t>
            </a:r>
            <a:r>
              <a:rPr lang="en-GB" sz="2800" b="1" dirty="0" smtClean="0">
                <a:solidFill>
                  <a:srgbClr val="FF0000"/>
                </a:solidFill>
              </a:rPr>
              <a:t> = accept(</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 &amp;</a:t>
            </a:r>
            <a:r>
              <a:rPr lang="en-GB" sz="2800" b="1" dirty="0" err="1" smtClean="0">
                <a:solidFill>
                  <a:srgbClr val="FF0000"/>
                </a:solidFill>
              </a:rPr>
              <a:t>cli_addr</a:t>
            </a:r>
            <a:r>
              <a:rPr lang="en-GB" sz="2800" b="1" dirty="0" smtClean="0">
                <a:solidFill>
                  <a:srgbClr val="FF0000"/>
                </a:solidFill>
              </a:rPr>
              <a:t>, &amp;</a:t>
            </a:r>
            <a:r>
              <a:rPr lang="en-GB" sz="2800" b="1" dirty="0" err="1" smtClean="0">
                <a:solidFill>
                  <a:srgbClr val="FF0000"/>
                </a:solidFill>
              </a:rPr>
              <a:t>clilen</a:t>
            </a:r>
            <a:r>
              <a:rPr lang="en-GB" sz="2800" b="1" dirty="0" smtClean="0">
                <a:solidFill>
                  <a:srgbClr val="FF0000"/>
                </a:solidFill>
              </a:rPr>
              <a:t>);</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if (</a:t>
            </a:r>
            <a:r>
              <a:rPr lang="en-GB" sz="2800" b="1" dirty="0" err="1" smtClean="0">
                <a:solidFill>
                  <a:srgbClr val="FF0000"/>
                </a:solidFill>
              </a:rPr>
              <a:t>newsockfd</a:t>
            </a:r>
            <a:r>
              <a:rPr lang="en-GB" sz="2800" b="1" dirty="0" smtClean="0">
                <a:solidFill>
                  <a:srgbClr val="FF0000"/>
                </a:solidFill>
              </a:rPr>
              <a:t> &lt; 0) {</a:t>
            </a:r>
          </a:p>
          <a:p>
            <a:pPr algn="l">
              <a:spcBef>
                <a:spcPts val="0"/>
              </a:spcBef>
            </a:pPr>
            <a:r>
              <a:rPr lang="en-GB" sz="2800" b="1" dirty="0" smtClean="0">
                <a:solidFill>
                  <a:srgbClr val="FF0000"/>
                </a:solidFill>
              </a:rPr>
              <a:t>         </a:t>
            </a:r>
            <a:r>
              <a:rPr lang="en-GB" sz="2800" b="1" dirty="0" err="1" smtClean="0">
                <a:solidFill>
                  <a:srgbClr val="FF0000"/>
                </a:solidFill>
              </a:rPr>
              <a:t>perror</a:t>
            </a:r>
            <a:r>
              <a:rPr lang="en-GB" sz="2800" b="1" dirty="0" smtClean="0">
                <a:solidFill>
                  <a:srgbClr val="FF0000"/>
                </a:solidFill>
              </a:rPr>
              <a:t>("ERROR on accept");</a:t>
            </a:r>
          </a:p>
          <a:p>
            <a:pPr algn="l">
              <a:spcBef>
                <a:spcPts val="0"/>
              </a:spcBef>
            </a:pPr>
            <a:r>
              <a:rPr lang="en-GB" sz="2800" b="1" dirty="0" smtClean="0">
                <a:solidFill>
                  <a:srgbClr val="FF0000"/>
                </a:solidFill>
              </a:rPr>
              <a:t>         exit(1);</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a:t>
            </a:r>
            <a:r>
              <a:rPr lang="en-GB" sz="2800" b="1" dirty="0" smtClean="0">
                <a:solidFill>
                  <a:srgbClr val="FF0000"/>
                </a:solidFill>
              </a:rPr>
              <a:t>      </a:t>
            </a:r>
            <a:r>
              <a:rPr lang="en-GB" sz="2800" b="1" dirty="0" smtClean="0">
                <a:solidFill>
                  <a:srgbClr val="FF0000"/>
                </a:solidFill>
              </a:rPr>
              <a:t>/* Create child process */</a:t>
            </a:r>
          </a:p>
          <a:p>
            <a:pPr algn="l">
              <a:spcBef>
                <a:spcPts val="0"/>
              </a:spcBef>
            </a:pPr>
            <a:r>
              <a:rPr lang="en-GB" sz="2800" b="1" dirty="0" smtClean="0">
                <a:solidFill>
                  <a:srgbClr val="FF0000"/>
                </a:solidFill>
              </a:rPr>
              <a:t>      </a:t>
            </a:r>
            <a:r>
              <a:rPr lang="en-GB" sz="2800" b="1" dirty="0" err="1" smtClean="0">
                <a:solidFill>
                  <a:srgbClr val="FF0000"/>
                </a:solidFill>
              </a:rPr>
              <a:t>pid</a:t>
            </a:r>
            <a:r>
              <a:rPr lang="en-GB" sz="2800" b="1" dirty="0" smtClean="0">
                <a:solidFill>
                  <a:srgbClr val="FF0000"/>
                </a:solidFill>
              </a:rPr>
              <a:t> = fork();</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if (</a:t>
            </a:r>
            <a:r>
              <a:rPr lang="en-GB" sz="2800" b="1" dirty="0" err="1" smtClean="0">
                <a:solidFill>
                  <a:srgbClr val="FF0000"/>
                </a:solidFill>
              </a:rPr>
              <a:t>pid</a:t>
            </a:r>
            <a:r>
              <a:rPr lang="en-GB" sz="2800" b="1" dirty="0" smtClean="0">
                <a:solidFill>
                  <a:srgbClr val="FF0000"/>
                </a:solidFill>
              </a:rPr>
              <a:t> &lt; 0</a:t>
            </a:r>
            <a:r>
              <a:rPr lang="en-GB" sz="2800" b="1" dirty="0" smtClean="0">
                <a:solidFill>
                  <a:srgbClr val="FF0000"/>
                </a:solidFill>
              </a:rPr>
              <a:t>) </a:t>
            </a:r>
            <a:r>
              <a:rPr lang="en-GB" sz="2800" b="1" dirty="0" smtClean="0">
                <a:solidFill>
                  <a:srgbClr val="FF0000"/>
                </a:solidFill>
              </a:rPr>
              <a:t>{</a:t>
            </a:r>
          </a:p>
          <a:p>
            <a:pPr algn="l">
              <a:spcBef>
                <a:spcPts val="0"/>
              </a:spcBef>
            </a:pPr>
            <a:r>
              <a:rPr lang="en-GB" sz="2800" b="1" dirty="0" smtClean="0">
                <a:solidFill>
                  <a:srgbClr val="FF0000"/>
                </a:solidFill>
              </a:rPr>
              <a:t>         </a:t>
            </a:r>
            <a:r>
              <a:rPr lang="en-GB" sz="2800" b="1" dirty="0" err="1" smtClean="0">
                <a:solidFill>
                  <a:srgbClr val="FF0000"/>
                </a:solidFill>
              </a:rPr>
              <a:t>perror</a:t>
            </a:r>
            <a:r>
              <a:rPr lang="en-GB" sz="2800" b="1" dirty="0" smtClean="0">
                <a:solidFill>
                  <a:srgbClr val="FF0000"/>
                </a:solidFill>
              </a:rPr>
              <a:t>("ERROR on fork");</a:t>
            </a:r>
          </a:p>
          <a:p>
            <a:pPr algn="l">
              <a:spcBef>
                <a:spcPts val="0"/>
              </a:spcBef>
            </a:pPr>
            <a:r>
              <a:rPr lang="en-GB" sz="2800" b="1" dirty="0" smtClean="0">
                <a:solidFill>
                  <a:srgbClr val="FF0000"/>
                </a:solidFill>
              </a:rPr>
              <a:t>         exit(1</a:t>
            </a:r>
            <a:r>
              <a:rPr lang="en-GB" sz="2800" b="1" dirty="0" smtClean="0">
                <a:solidFill>
                  <a:srgbClr val="FF0000"/>
                </a:solidFill>
              </a:rPr>
              <a:t>);   </a:t>
            </a:r>
          </a:p>
          <a:p>
            <a:pPr algn="l">
              <a:spcBef>
                <a:spcPts val="0"/>
              </a:spcBef>
            </a:pPr>
            <a:r>
              <a:rPr lang="en-GB" sz="2800" b="1" dirty="0" smtClean="0">
                <a:solidFill>
                  <a:srgbClr val="FF0000"/>
                </a:solidFill>
              </a:rPr>
              <a:t>   }</a:t>
            </a:r>
            <a:endParaRPr lang="en-GB" sz="2800" b="1" dirty="0">
              <a:solidFill>
                <a:srgbClr val="FF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b="1" dirty="0" smtClean="0">
                <a:solidFill>
                  <a:srgbClr val="FF0000"/>
                </a:solidFill>
              </a:rPr>
              <a:t>      </a:t>
            </a:r>
            <a:endParaRPr lang="en-GB" sz="2800" b="1" dirty="0" smtClean="0">
              <a:solidFill>
                <a:srgbClr val="FF0000"/>
              </a:solidFill>
            </a:endParaRPr>
          </a:p>
          <a:p>
            <a:pPr algn="l">
              <a:spcBef>
                <a:spcPts val="0"/>
              </a:spcBef>
            </a:pPr>
            <a:r>
              <a:rPr lang="en-GB" sz="2800" b="1" dirty="0" smtClean="0">
                <a:solidFill>
                  <a:srgbClr val="FF0000"/>
                </a:solidFill>
              </a:rPr>
              <a:t>      if (</a:t>
            </a:r>
            <a:r>
              <a:rPr lang="en-GB" sz="2800" b="1" dirty="0" err="1" smtClean="0">
                <a:solidFill>
                  <a:srgbClr val="FF0000"/>
                </a:solidFill>
              </a:rPr>
              <a:t>pid</a:t>
            </a:r>
            <a:r>
              <a:rPr lang="en-GB" sz="2800" b="1" dirty="0" smtClean="0">
                <a:solidFill>
                  <a:srgbClr val="FF0000"/>
                </a:solidFill>
              </a:rPr>
              <a:t> == 0) {</a:t>
            </a:r>
          </a:p>
          <a:p>
            <a:pPr algn="l">
              <a:spcBef>
                <a:spcPts val="0"/>
              </a:spcBef>
            </a:pPr>
            <a:r>
              <a:rPr lang="en-GB" sz="2800" b="1" dirty="0" smtClean="0">
                <a:solidFill>
                  <a:srgbClr val="FF0000"/>
                </a:solidFill>
              </a:rPr>
              <a:t>         /* This is the client process */</a:t>
            </a:r>
          </a:p>
          <a:p>
            <a:pPr algn="l">
              <a:spcBef>
                <a:spcPts val="0"/>
              </a:spcBef>
            </a:pPr>
            <a:r>
              <a:rPr lang="en-GB" sz="2800" b="1" dirty="0" smtClean="0">
                <a:solidFill>
                  <a:srgbClr val="FF0000"/>
                </a:solidFill>
              </a:rPr>
              <a:t>         close(</a:t>
            </a:r>
            <a:r>
              <a:rPr lang="en-GB" sz="2800" b="1" dirty="0" err="1" smtClean="0">
                <a:solidFill>
                  <a:srgbClr val="FF0000"/>
                </a:solidFill>
              </a:rPr>
              <a:t>sockfd</a:t>
            </a:r>
            <a:r>
              <a:rPr lang="en-GB" sz="2800" b="1" dirty="0" smtClean="0">
                <a:solidFill>
                  <a:srgbClr val="FF0000"/>
                </a:solidFill>
              </a:rPr>
              <a:t>);</a:t>
            </a:r>
          </a:p>
          <a:p>
            <a:pPr algn="l">
              <a:spcBef>
                <a:spcPts val="0"/>
              </a:spcBef>
            </a:pPr>
            <a:r>
              <a:rPr lang="en-GB" sz="2800" b="1" dirty="0" smtClean="0">
                <a:solidFill>
                  <a:srgbClr val="FF0000"/>
                </a:solidFill>
              </a:rPr>
              <a:t>         </a:t>
            </a:r>
            <a:r>
              <a:rPr lang="en-GB" sz="2800" b="1" dirty="0" err="1" smtClean="0">
                <a:solidFill>
                  <a:srgbClr val="FF0000"/>
                </a:solidFill>
              </a:rPr>
              <a:t>doprocessing</a:t>
            </a:r>
            <a:r>
              <a:rPr lang="en-GB" sz="2800" b="1" dirty="0" smtClean="0">
                <a:solidFill>
                  <a:srgbClr val="FF0000"/>
                </a:solidFill>
              </a:rPr>
              <a:t>(</a:t>
            </a:r>
            <a:r>
              <a:rPr lang="en-GB" sz="2800" b="1" dirty="0" err="1" smtClean="0">
                <a:solidFill>
                  <a:srgbClr val="FF0000"/>
                </a:solidFill>
              </a:rPr>
              <a:t>newsockfd</a:t>
            </a:r>
            <a:r>
              <a:rPr lang="en-GB" sz="2800" b="1" dirty="0" smtClean="0">
                <a:solidFill>
                  <a:srgbClr val="FF0000"/>
                </a:solidFill>
              </a:rPr>
              <a:t>);</a:t>
            </a:r>
          </a:p>
          <a:p>
            <a:pPr algn="l">
              <a:spcBef>
                <a:spcPts val="0"/>
              </a:spcBef>
            </a:pPr>
            <a:r>
              <a:rPr lang="en-GB" sz="2800" b="1" dirty="0" smtClean="0">
                <a:solidFill>
                  <a:srgbClr val="FF0000"/>
                </a:solidFill>
              </a:rPr>
              <a:t>         exit(0);</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else {</a:t>
            </a:r>
          </a:p>
          <a:p>
            <a:pPr algn="l">
              <a:spcBef>
                <a:spcPts val="0"/>
              </a:spcBef>
            </a:pPr>
            <a:r>
              <a:rPr lang="en-GB" sz="2800" b="1" dirty="0" smtClean="0">
                <a:solidFill>
                  <a:srgbClr val="FF0000"/>
                </a:solidFill>
              </a:rPr>
              <a:t>         close(</a:t>
            </a:r>
            <a:r>
              <a:rPr lang="en-GB" sz="2800" b="1" dirty="0" err="1" smtClean="0">
                <a:solidFill>
                  <a:srgbClr val="FF0000"/>
                </a:solidFill>
              </a:rPr>
              <a:t>newsockfd</a:t>
            </a:r>
            <a:r>
              <a:rPr lang="en-GB" sz="2800" b="1" dirty="0" smtClean="0">
                <a:solidFill>
                  <a:srgbClr val="FF0000"/>
                </a:solidFill>
              </a:rPr>
              <a:t>);</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a:t>
            </a:r>
          </a:p>
          <a:p>
            <a:pPr algn="l">
              <a:spcBef>
                <a:spcPts val="0"/>
              </a:spcBef>
            </a:pPr>
            <a:r>
              <a:rPr lang="en-GB" sz="2800" b="1" dirty="0" smtClean="0">
                <a:solidFill>
                  <a:srgbClr val="FF0000"/>
                </a:solidFill>
              </a:rPr>
              <a:t>   } /* end of while */</a:t>
            </a:r>
          </a:p>
          <a:p>
            <a:pPr algn="l">
              <a:spcBef>
                <a:spcPts val="0"/>
              </a:spcBef>
            </a:pPr>
            <a:r>
              <a:rPr lang="en-GB" sz="2800" b="1" dirty="0" smtClean="0">
                <a:solidFill>
                  <a:srgbClr val="FF0000"/>
                </a:solidFill>
              </a:rPr>
              <a:t>}</a:t>
            </a:r>
            <a:endParaRPr lang="en-GB" sz="2800" b="1" dirty="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b="1" dirty="0" smtClean="0">
                <a:solidFill>
                  <a:srgbClr val="FF0000"/>
                </a:solidFill>
              </a:rPr>
              <a:t>A </a:t>
            </a:r>
            <a:r>
              <a:rPr lang="en-GB" sz="2800" b="1" dirty="0" smtClean="0">
                <a:solidFill>
                  <a:srgbClr val="FF0000"/>
                </a:solidFill>
              </a:rPr>
              <a:t>simple implementation of </a:t>
            </a:r>
            <a:r>
              <a:rPr lang="en-GB" sz="2800" b="1" dirty="0" err="1" smtClean="0">
                <a:solidFill>
                  <a:srgbClr val="FF0000"/>
                </a:solidFill>
              </a:rPr>
              <a:t>doprocessing</a:t>
            </a:r>
            <a:r>
              <a:rPr lang="en-GB" sz="2800" b="1" dirty="0" smtClean="0">
                <a:solidFill>
                  <a:srgbClr val="FF0000"/>
                </a:solidFill>
              </a:rPr>
              <a:t> function.</a:t>
            </a:r>
          </a:p>
          <a:p>
            <a:pPr algn="l">
              <a:spcBef>
                <a:spcPts val="0"/>
              </a:spcBef>
            </a:pPr>
            <a:r>
              <a:rPr lang="en-GB" sz="2800" dirty="0" smtClean="0">
                <a:solidFill>
                  <a:schemeClr val="tx1"/>
                </a:solidFill>
              </a:rPr>
              <a:t>void </a:t>
            </a:r>
            <a:r>
              <a:rPr lang="en-GB" sz="2800" dirty="0" err="1" smtClean="0">
                <a:solidFill>
                  <a:schemeClr val="tx1"/>
                </a:solidFill>
              </a:rPr>
              <a:t>doprocessing</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sock) {</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n;</a:t>
            </a:r>
          </a:p>
          <a:p>
            <a:pPr algn="l">
              <a:spcBef>
                <a:spcPts val="0"/>
              </a:spcBef>
            </a:pPr>
            <a:r>
              <a:rPr lang="en-GB" sz="2800" dirty="0" smtClean="0">
                <a:solidFill>
                  <a:schemeClr val="tx1"/>
                </a:solidFill>
              </a:rPr>
              <a:t>   char buffer[256];</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(buffer,256);</a:t>
            </a:r>
          </a:p>
          <a:p>
            <a:pPr algn="l">
              <a:spcBef>
                <a:spcPts val="0"/>
              </a:spcBef>
            </a:pPr>
            <a:r>
              <a:rPr lang="en-GB" sz="2800" dirty="0" smtClean="0">
                <a:solidFill>
                  <a:schemeClr val="tx1"/>
                </a:solidFill>
              </a:rPr>
              <a:t>   n = read(sock,buffer,255);</a:t>
            </a:r>
          </a:p>
          <a:p>
            <a:pPr algn="l">
              <a:spcBef>
                <a:spcPts val="0"/>
              </a:spcBef>
            </a:pPr>
            <a:r>
              <a:rPr lang="en-GB" sz="2800" dirty="0" smtClean="0">
                <a:solidFill>
                  <a:schemeClr val="tx1"/>
                </a:solidFill>
              </a:rPr>
              <a:t>   </a:t>
            </a:r>
            <a:r>
              <a:rPr lang="en-GB" sz="2800" dirty="0" smtClean="0">
                <a:solidFill>
                  <a:schemeClr val="tx1"/>
                </a:solidFill>
              </a:rPr>
              <a:t>if </a:t>
            </a:r>
            <a:r>
              <a:rPr lang="en-GB" sz="2800" dirty="0" smtClean="0">
                <a:solidFill>
                  <a:schemeClr val="tx1"/>
                </a:solidFill>
              </a:rPr>
              <a:t>(n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reading from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("Here is the message: %s\</a:t>
            </a:r>
            <a:r>
              <a:rPr lang="en-GB" sz="2800" dirty="0" err="1" smtClean="0">
                <a:solidFill>
                  <a:schemeClr val="tx1"/>
                </a:solidFill>
              </a:rPr>
              <a:t>n",buffer</a:t>
            </a:r>
            <a:r>
              <a:rPr lang="en-GB" sz="2800" dirty="0" smtClean="0">
                <a:solidFill>
                  <a:schemeClr val="tx1"/>
                </a:solidFill>
              </a:rPr>
              <a:t>);</a:t>
            </a:r>
          </a:p>
          <a:p>
            <a:pPr algn="l">
              <a:spcBef>
                <a:spcPts val="0"/>
              </a:spcBef>
            </a:pPr>
            <a:r>
              <a:rPr lang="en-GB" sz="2800" dirty="0" smtClean="0">
                <a:solidFill>
                  <a:schemeClr val="tx1"/>
                </a:solidFill>
              </a:rPr>
              <a:t>   n = write(</a:t>
            </a:r>
            <a:r>
              <a:rPr lang="en-GB" sz="2800" dirty="0" err="1" smtClean="0">
                <a:solidFill>
                  <a:schemeClr val="tx1"/>
                </a:solidFill>
              </a:rPr>
              <a:t>sock,"I</a:t>
            </a:r>
            <a:r>
              <a:rPr lang="en-GB" sz="2800" dirty="0" smtClean="0">
                <a:solidFill>
                  <a:schemeClr val="tx1"/>
                </a:solidFill>
              </a:rPr>
              <a:t> got your message",18);</a:t>
            </a:r>
          </a:p>
          <a:p>
            <a:pPr algn="l">
              <a:spcBef>
                <a:spcPts val="0"/>
              </a:spcBef>
            </a:pPr>
            <a:r>
              <a:rPr lang="en-GB" sz="2800" dirty="0" smtClean="0">
                <a:solidFill>
                  <a:schemeClr val="tx1"/>
                </a:solidFill>
              </a:rPr>
              <a:t>   </a:t>
            </a:r>
            <a:r>
              <a:rPr lang="en-GB" sz="2800" dirty="0" smtClean="0">
                <a:solidFill>
                  <a:schemeClr val="tx1"/>
                </a:solidFill>
              </a:rPr>
              <a:t>if (n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writing to socket");</a:t>
            </a:r>
          </a:p>
          <a:p>
            <a:pPr algn="l">
              <a:spcBef>
                <a:spcPts val="0"/>
              </a:spcBef>
            </a:pPr>
            <a:r>
              <a:rPr lang="en-GB" sz="2800" dirty="0" smtClean="0">
                <a:solidFill>
                  <a:schemeClr val="tx1"/>
                </a:solidFill>
              </a:rPr>
              <a:t>      exit(1</a:t>
            </a:r>
            <a:r>
              <a:rPr lang="en-GB" sz="2800" dirty="0" smtClean="0">
                <a:solidFill>
                  <a:schemeClr val="tx1"/>
                </a:solidFill>
              </a:rPr>
              <a:t>);   } 	}</a:t>
            </a:r>
            <a:endParaRPr lang="en-GB" sz="2800" dirty="0" smtClean="0">
              <a:solidFill>
                <a:schemeClr val="tx1"/>
              </a:solidFill>
            </a:endParaRP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endParaRPr lang="en-GB" sz="3600" b="1" dirty="0" smtClean="0">
              <a:solidFill>
                <a:srgbClr val="FF0000"/>
              </a:solidFill>
            </a:endParaRPr>
          </a:p>
          <a:p>
            <a:endParaRPr lang="en-GB" sz="3600" b="1" dirty="0" smtClean="0">
              <a:solidFill>
                <a:srgbClr val="FF0000"/>
              </a:solidFill>
            </a:endParaRPr>
          </a:p>
          <a:p>
            <a:endParaRPr lang="en-GB" sz="3600" b="1" dirty="0" smtClean="0">
              <a:solidFill>
                <a:srgbClr val="FF0000"/>
              </a:solidFill>
            </a:endParaRPr>
          </a:p>
          <a:p>
            <a:r>
              <a:rPr lang="en-GB" sz="3600" b="1" dirty="0" smtClean="0">
                <a:solidFill>
                  <a:srgbClr val="FF0000"/>
                </a:solidFill>
              </a:rPr>
              <a:t>Unix </a:t>
            </a:r>
            <a:r>
              <a:rPr lang="en-GB" sz="3600" b="1" dirty="0" smtClean="0">
                <a:solidFill>
                  <a:srgbClr val="FF0000"/>
                </a:solidFill>
              </a:rPr>
              <a:t>Socket - Client Examples</a:t>
            </a:r>
          </a:p>
          <a:p>
            <a:r>
              <a:rPr lang="en-GB" sz="3600" b="1" dirty="0" smtClean="0">
                <a:solidFill>
                  <a:srgbClr val="FF0000"/>
                </a:solidFill>
              </a:rPr>
              <a:t/>
            </a:r>
            <a:br>
              <a:rPr lang="en-GB" sz="3600" b="1" dirty="0" smtClean="0">
                <a:solidFill>
                  <a:srgbClr val="FF0000"/>
                </a:solidFill>
              </a:rPr>
            </a:br>
            <a:endParaRPr lang="en-GB" sz="3600" b="1" dirty="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3600" b="1" dirty="0" smtClean="0">
                <a:solidFill>
                  <a:schemeClr val="tx1"/>
                </a:solidFill>
              </a:rPr>
              <a:t>To make a process a TCP client, you need to follow the steps given below &amp;minus ;</a:t>
            </a:r>
          </a:p>
          <a:p>
            <a:pPr algn="l">
              <a:spcBef>
                <a:spcPts val="0"/>
              </a:spcBef>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Create a socket with the socket() system call.</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Connect the socket to the address of the server using the connect() system call.</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Send and receive data. There are a number of ways to do this, but the simplest way is to use the read() and write() system calls</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buFont typeface="Wingdings" pitchFamily="2" charset="2"/>
              <a:buChar char="Ø"/>
            </a:pPr>
            <a:endParaRPr lang="en-GB" sz="2800" dirty="0" smtClean="0">
              <a:solidFill>
                <a:schemeClr val="tx1"/>
              </a:solidFill>
            </a:endParaRPr>
          </a:p>
          <a:p>
            <a:pPr algn="l">
              <a:spcBef>
                <a:spcPts val="0"/>
              </a:spcBef>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Now let us put these steps in the form of source code. Put this code into the file </a:t>
            </a:r>
            <a:r>
              <a:rPr lang="en-GB" sz="2800" dirty="0" err="1" smtClean="0">
                <a:solidFill>
                  <a:schemeClr val="tx1"/>
                </a:solidFill>
              </a:rPr>
              <a:t>client.c</a:t>
            </a:r>
            <a:r>
              <a:rPr lang="en-GB" sz="2800" dirty="0" smtClean="0">
                <a:solidFill>
                  <a:schemeClr val="tx1"/>
                </a:solidFill>
              </a:rPr>
              <a:t> and compile it with </a:t>
            </a:r>
            <a:r>
              <a:rPr lang="en-GB" sz="2800" dirty="0" err="1" smtClean="0">
                <a:solidFill>
                  <a:schemeClr val="tx1"/>
                </a:solidFill>
              </a:rPr>
              <a:t>gcc</a:t>
            </a:r>
            <a:r>
              <a:rPr lang="en-GB" sz="2800" dirty="0" smtClean="0">
                <a:solidFill>
                  <a:schemeClr val="tx1"/>
                </a:solidFill>
              </a:rPr>
              <a:t> compiler.</a:t>
            </a:r>
          </a:p>
          <a:p>
            <a:pPr algn="l">
              <a:spcBef>
                <a:spcPts val="0"/>
              </a:spcBef>
              <a:buFont typeface="Wingdings" pitchFamily="2" charset="2"/>
              <a:buChar char="Ø"/>
            </a:pPr>
            <a:endParaRPr lang="en-GB" sz="2800" dirty="0" smtClean="0">
              <a:solidFill>
                <a:schemeClr val="tx1"/>
              </a:solidFill>
            </a:endParaRPr>
          </a:p>
          <a:p>
            <a:pPr algn="l">
              <a:spcBef>
                <a:spcPts val="0"/>
              </a:spcBef>
              <a:buFont typeface="Wingdings" pitchFamily="2" charset="2"/>
              <a:buChar char="Ø"/>
            </a:pPr>
            <a:r>
              <a:rPr lang="en-GB" sz="2800" dirty="0" smtClean="0">
                <a:solidFill>
                  <a:schemeClr val="tx1"/>
                </a:solidFill>
              </a:rPr>
              <a:t>Run this program and pass hostname and port number of the server, to connect to the server, which you already must have run in another Unix window.</a:t>
            </a:r>
          </a:p>
          <a:p>
            <a:pPr algn="l">
              <a:spcBef>
                <a:spcPts val="0"/>
              </a:spcBef>
              <a:buFont typeface="Wingdings" pitchFamily="2" charset="2"/>
              <a:buChar char="Ø"/>
            </a:pPr>
            <a:endParaRPr lang="en-GB" sz="2800" dirty="0" smtClean="0">
              <a:solidFill>
                <a:schemeClr val="tx1"/>
              </a:solidFill>
            </a:endParaRPr>
          </a:p>
          <a:p>
            <a:pPr algn="l">
              <a:spcBef>
                <a:spcPts val="0"/>
              </a:spcBef>
            </a:pPr>
            <a:endParaRPr lang="en-GB" sz="28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#include &lt;</a:t>
            </a:r>
            <a:r>
              <a:rPr lang="en-GB" sz="2800" dirty="0" err="1" smtClean="0">
                <a:solidFill>
                  <a:schemeClr val="tx1"/>
                </a:solidFill>
              </a:rPr>
              <a:t>stdio.h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stdlib.h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netdb.h</a:t>
            </a:r>
            <a:r>
              <a:rPr lang="en-GB" sz="2800" dirty="0" smtClean="0">
                <a:solidFill>
                  <a:schemeClr val="tx1"/>
                </a:solidFill>
              </a:rPr>
              <a:t>&gt;</a:t>
            </a:r>
          </a:p>
          <a:p>
            <a:pPr algn="l">
              <a:spcBef>
                <a:spcPts val="0"/>
              </a:spcBef>
            </a:pPr>
            <a:r>
              <a:rPr lang="en-GB" sz="2800" dirty="0" smtClean="0">
                <a:solidFill>
                  <a:schemeClr val="tx1"/>
                </a:solidFill>
              </a:rPr>
              <a:t>#include &lt;</a:t>
            </a:r>
            <a:r>
              <a:rPr lang="en-GB" sz="2800" dirty="0" err="1" smtClean="0">
                <a:solidFill>
                  <a:schemeClr val="tx1"/>
                </a:solidFill>
              </a:rPr>
              <a:t>netinet</a:t>
            </a:r>
            <a:r>
              <a:rPr lang="en-GB" sz="2800" dirty="0" smtClean="0">
                <a:solidFill>
                  <a:schemeClr val="tx1"/>
                </a:solidFill>
              </a:rPr>
              <a:t>/</a:t>
            </a:r>
            <a:r>
              <a:rPr lang="en-GB" sz="2800" dirty="0" err="1" smtClean="0">
                <a:solidFill>
                  <a:schemeClr val="tx1"/>
                </a:solidFill>
              </a:rPr>
              <a:t>in.h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#include &lt;</a:t>
            </a:r>
            <a:r>
              <a:rPr lang="en-GB" sz="2800" dirty="0" err="1" smtClean="0">
                <a:solidFill>
                  <a:schemeClr val="tx1"/>
                </a:solidFill>
              </a:rPr>
              <a:t>string.h</a:t>
            </a:r>
            <a:r>
              <a:rPr lang="en-GB" sz="2800" dirty="0" smtClean="0">
                <a:solidFill>
                  <a:schemeClr val="tx1"/>
                </a:solidFill>
              </a:rPr>
              <a:t>&gt;</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main(</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argc</a:t>
            </a:r>
            <a:r>
              <a:rPr lang="en-GB" sz="2800" dirty="0" smtClean="0">
                <a:solidFill>
                  <a:schemeClr val="tx1"/>
                </a:solidFill>
              </a:rPr>
              <a:t>, char *</a:t>
            </a:r>
            <a:r>
              <a:rPr lang="en-GB" sz="2800" dirty="0" err="1" smtClean="0">
                <a:solidFill>
                  <a:schemeClr val="tx1"/>
                </a:solidFill>
              </a:rPr>
              <a:t>argv</a:t>
            </a: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n;</a:t>
            </a:r>
          </a:p>
          <a:p>
            <a:pPr algn="l">
              <a:spcBef>
                <a:spcPts val="0"/>
              </a:spcBef>
            </a:pP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sockaddr_in</a:t>
            </a:r>
            <a:r>
              <a:rPr lang="en-GB" sz="2800" dirty="0" smtClean="0">
                <a:solidFill>
                  <a:schemeClr val="tx1"/>
                </a:solidFill>
              </a:rPr>
              <a:t> </a:t>
            </a:r>
            <a:r>
              <a:rPr lang="en-GB" sz="2800" dirty="0" err="1" smtClean="0">
                <a:solidFill>
                  <a:schemeClr val="tx1"/>
                </a:solidFill>
              </a:rPr>
              <a:t>serv_addr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hostent</a:t>
            </a:r>
            <a:r>
              <a:rPr lang="en-GB" sz="2800" dirty="0" smtClean="0">
                <a:solidFill>
                  <a:schemeClr val="tx1"/>
                </a:solidFill>
              </a:rPr>
              <a:t> *server;</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char buffer[256</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chemeClr val="tx1"/>
                </a:solidFill>
              </a:rPr>
              <a:t>if (</a:t>
            </a:r>
            <a:r>
              <a:rPr lang="en-GB" sz="2800" dirty="0" err="1" smtClean="0">
                <a:solidFill>
                  <a:schemeClr val="tx1"/>
                </a:solidFill>
              </a:rPr>
              <a:t>argc</a:t>
            </a:r>
            <a:r>
              <a:rPr lang="en-GB" sz="2800" dirty="0" smtClean="0">
                <a:solidFill>
                  <a:schemeClr val="tx1"/>
                </a:solidFill>
              </a:rPr>
              <a:t> &lt; 3) {</a:t>
            </a:r>
          </a:p>
          <a:p>
            <a:pPr algn="l">
              <a:spcBef>
                <a:spcPts val="0"/>
              </a:spcBef>
            </a:pPr>
            <a:r>
              <a:rPr lang="en-GB" sz="2800" dirty="0" smtClean="0">
                <a:solidFill>
                  <a:schemeClr val="tx1"/>
                </a:solidFill>
              </a:rPr>
              <a:t>      </a:t>
            </a:r>
            <a:r>
              <a:rPr lang="en-GB" sz="2800" dirty="0" err="1" smtClean="0">
                <a:solidFill>
                  <a:schemeClr val="tx1"/>
                </a:solidFill>
              </a:rPr>
              <a:t>fprintf</a:t>
            </a:r>
            <a:r>
              <a:rPr lang="en-GB" sz="2800" dirty="0" smtClean="0">
                <a:solidFill>
                  <a:schemeClr val="tx1"/>
                </a:solidFill>
              </a:rPr>
              <a:t>(</a:t>
            </a:r>
            <a:r>
              <a:rPr lang="en-GB" sz="2800" dirty="0" err="1" smtClean="0">
                <a:solidFill>
                  <a:schemeClr val="tx1"/>
                </a:solidFill>
              </a:rPr>
              <a:t>stderr,"usage</a:t>
            </a:r>
            <a:r>
              <a:rPr lang="en-GB" sz="2800" dirty="0" smtClean="0">
                <a:solidFill>
                  <a:schemeClr val="tx1"/>
                </a:solidFill>
              </a:rPr>
              <a:t> %s hostname port\n", </a:t>
            </a:r>
            <a:r>
              <a:rPr lang="en-GB" sz="2800" dirty="0" err="1" smtClean="0">
                <a:solidFill>
                  <a:schemeClr val="tx1"/>
                </a:solidFill>
              </a:rPr>
              <a:t>argv</a:t>
            </a:r>
            <a:r>
              <a:rPr lang="en-GB" sz="2800" dirty="0" smtClean="0">
                <a:solidFill>
                  <a:schemeClr val="tx1"/>
                </a:solidFill>
              </a:rPr>
              <a:t>[0]);</a:t>
            </a:r>
          </a:p>
          <a:p>
            <a:pPr algn="l">
              <a:spcBef>
                <a:spcPts val="0"/>
              </a:spcBef>
            </a:pPr>
            <a:r>
              <a:rPr lang="en-GB" sz="2800" dirty="0" smtClean="0">
                <a:solidFill>
                  <a:schemeClr val="tx1"/>
                </a:solidFill>
              </a:rPr>
              <a:t>      exit(0);</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portno</a:t>
            </a:r>
            <a:r>
              <a:rPr lang="en-GB" sz="2800" dirty="0" smtClean="0">
                <a:solidFill>
                  <a:schemeClr val="tx1"/>
                </a:solidFill>
              </a:rPr>
              <a:t> = </a:t>
            </a:r>
            <a:r>
              <a:rPr lang="en-GB" sz="2800" dirty="0" err="1" smtClean="0">
                <a:solidFill>
                  <a:schemeClr val="tx1"/>
                </a:solidFill>
              </a:rPr>
              <a:t>atoi</a:t>
            </a:r>
            <a:r>
              <a:rPr lang="en-GB" sz="2800" dirty="0" smtClean="0">
                <a:solidFill>
                  <a:schemeClr val="tx1"/>
                </a:solidFill>
              </a:rPr>
              <a:t>(</a:t>
            </a:r>
            <a:r>
              <a:rPr lang="en-GB" sz="2800" dirty="0" err="1" smtClean="0">
                <a:solidFill>
                  <a:schemeClr val="tx1"/>
                </a:solidFill>
              </a:rPr>
              <a:t>argv</a:t>
            </a:r>
            <a:r>
              <a:rPr lang="en-GB" sz="2800" dirty="0" smtClean="0">
                <a:solidFill>
                  <a:schemeClr val="tx1"/>
                </a:solidFill>
              </a:rPr>
              <a:t>[2]);</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Create a socket point */</a:t>
            </a:r>
          </a:p>
          <a:p>
            <a:pPr algn="l">
              <a:spcBef>
                <a:spcPts val="0"/>
              </a:spcBef>
            </a:pP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 socket(AF_INET, SOCK_STREAM, 0);</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a:t>
            </a:r>
            <a:r>
              <a:rPr lang="en-GB" sz="2800" dirty="0" err="1" smtClean="0">
                <a:solidFill>
                  <a:schemeClr val="tx1"/>
                </a:solidFill>
              </a:rPr>
              <a:t>sockfd</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opening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server </a:t>
            </a:r>
            <a:r>
              <a:rPr lang="en-GB" sz="2800" dirty="0" smtClean="0">
                <a:solidFill>
                  <a:schemeClr val="tx1"/>
                </a:solidFill>
              </a:rPr>
              <a:t>= </a:t>
            </a:r>
            <a:r>
              <a:rPr lang="en-GB" sz="2800" dirty="0" err="1" smtClean="0">
                <a:solidFill>
                  <a:schemeClr val="tx1"/>
                </a:solidFill>
              </a:rPr>
              <a:t>gethostbyname</a:t>
            </a:r>
            <a:r>
              <a:rPr lang="en-GB" sz="2800" dirty="0" smtClean="0">
                <a:solidFill>
                  <a:schemeClr val="tx1"/>
                </a:solidFill>
              </a:rPr>
              <a:t>(</a:t>
            </a:r>
            <a:r>
              <a:rPr lang="en-GB" sz="2800" dirty="0" err="1" smtClean="0">
                <a:solidFill>
                  <a:schemeClr val="tx1"/>
                </a:solidFill>
              </a:rPr>
              <a:t>argv</a:t>
            </a:r>
            <a:r>
              <a:rPr lang="en-GB" sz="2800" dirty="0" smtClean="0">
                <a:solidFill>
                  <a:schemeClr val="tx1"/>
                </a:solidFill>
              </a:rPr>
              <a: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if (server == NULL) {</a:t>
            </a:r>
          </a:p>
          <a:p>
            <a:pPr algn="l">
              <a:spcBef>
                <a:spcPts val="0"/>
              </a:spcBef>
            </a:pPr>
            <a:r>
              <a:rPr lang="en-GB" sz="2800" dirty="0" smtClean="0">
                <a:solidFill>
                  <a:schemeClr val="tx1"/>
                </a:solidFill>
              </a:rPr>
              <a:t>      </a:t>
            </a:r>
            <a:r>
              <a:rPr lang="en-GB" sz="2800" dirty="0" err="1" smtClean="0">
                <a:solidFill>
                  <a:schemeClr val="tx1"/>
                </a:solidFill>
              </a:rPr>
              <a:t>fprintf</a:t>
            </a:r>
            <a:r>
              <a:rPr lang="en-GB" sz="2800" dirty="0" smtClean="0">
                <a:solidFill>
                  <a:schemeClr val="tx1"/>
                </a:solidFill>
              </a:rPr>
              <a:t>(</a:t>
            </a:r>
            <a:r>
              <a:rPr lang="en-GB" sz="2800" dirty="0" err="1" smtClean="0">
                <a:solidFill>
                  <a:schemeClr val="tx1"/>
                </a:solidFill>
              </a:rPr>
              <a:t>stderr,"ERROR</a:t>
            </a:r>
            <a:r>
              <a:rPr lang="en-GB" sz="2800" dirty="0" smtClean="0">
                <a:solidFill>
                  <a:schemeClr val="tx1"/>
                </a:solidFill>
              </a:rPr>
              <a:t>, no such host\n");</a:t>
            </a:r>
          </a:p>
          <a:p>
            <a:pPr algn="l">
              <a:spcBef>
                <a:spcPts val="0"/>
              </a:spcBef>
            </a:pPr>
            <a:r>
              <a:rPr lang="en-GB" sz="2800" dirty="0" smtClean="0">
                <a:solidFill>
                  <a:schemeClr val="tx1"/>
                </a:solidFill>
              </a:rPr>
              <a:t>      exit(0);</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((char *) &amp;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serv_addr.sin_family</a:t>
            </a:r>
            <a:r>
              <a:rPr lang="en-GB" sz="2800" dirty="0" smtClean="0">
                <a:solidFill>
                  <a:schemeClr val="tx1"/>
                </a:solidFill>
              </a:rPr>
              <a:t> = AF_INET;</a:t>
            </a:r>
          </a:p>
          <a:p>
            <a:pPr algn="l">
              <a:spcBef>
                <a:spcPts val="0"/>
              </a:spcBef>
            </a:pPr>
            <a:r>
              <a:rPr lang="en-GB" sz="2800" dirty="0" smtClean="0">
                <a:solidFill>
                  <a:schemeClr val="tx1"/>
                </a:solidFill>
              </a:rPr>
              <a:t>   </a:t>
            </a:r>
            <a:r>
              <a:rPr lang="en-GB" sz="2800" dirty="0" err="1" smtClean="0">
                <a:solidFill>
                  <a:schemeClr val="tx1"/>
                </a:solidFill>
              </a:rPr>
              <a:t>bcopy</a:t>
            </a:r>
            <a:r>
              <a:rPr lang="en-GB" sz="2800" dirty="0" smtClean="0">
                <a:solidFill>
                  <a:schemeClr val="tx1"/>
                </a:solidFill>
              </a:rPr>
              <a:t>((char *)server-&gt;</a:t>
            </a:r>
            <a:r>
              <a:rPr lang="en-GB" sz="2800" dirty="0" err="1" smtClean="0">
                <a:solidFill>
                  <a:schemeClr val="tx1"/>
                </a:solidFill>
              </a:rPr>
              <a:t>h_addr</a:t>
            </a:r>
            <a:r>
              <a:rPr lang="en-GB" sz="2800" dirty="0" smtClean="0">
                <a:solidFill>
                  <a:schemeClr val="tx1"/>
                </a:solidFill>
              </a:rPr>
              <a:t>, (char *)&amp;</a:t>
            </a:r>
            <a:r>
              <a:rPr lang="en-GB" sz="2800" dirty="0" err="1" smtClean="0">
                <a:solidFill>
                  <a:schemeClr val="tx1"/>
                </a:solidFill>
              </a:rPr>
              <a:t>serv_addr.sin_addr.s_addr</a:t>
            </a:r>
            <a:r>
              <a:rPr lang="en-GB" sz="2800" dirty="0" smtClean="0">
                <a:solidFill>
                  <a:schemeClr val="tx1"/>
                </a:solidFill>
              </a:rPr>
              <a:t>, server-&gt;</a:t>
            </a:r>
            <a:r>
              <a:rPr lang="en-GB" sz="2800" dirty="0" err="1" smtClean="0">
                <a:solidFill>
                  <a:schemeClr val="tx1"/>
                </a:solidFill>
              </a:rPr>
              <a:t>h_length</a:t>
            </a:r>
            <a:r>
              <a:rPr lang="en-GB" sz="2800" dirty="0" smtClean="0">
                <a:solidFill>
                  <a:schemeClr val="tx1"/>
                </a:solidFill>
              </a:rPr>
              <a:t>);</a:t>
            </a:r>
          </a:p>
          <a:p>
            <a:pPr algn="l">
              <a:spcBef>
                <a:spcPts val="0"/>
              </a:spcBef>
            </a:pPr>
            <a:r>
              <a:rPr lang="en-GB" sz="2800" dirty="0" smtClean="0">
                <a:solidFill>
                  <a:schemeClr val="tx1"/>
                </a:solidFill>
              </a:rPr>
              <a:t>   </a:t>
            </a:r>
            <a:r>
              <a:rPr lang="en-GB" sz="2800" dirty="0" err="1" smtClean="0">
                <a:solidFill>
                  <a:schemeClr val="tx1"/>
                </a:solidFill>
              </a:rPr>
              <a:t>serv_addr.sin_port</a:t>
            </a:r>
            <a:r>
              <a:rPr lang="en-GB" sz="2800" dirty="0" smtClean="0">
                <a:solidFill>
                  <a:schemeClr val="tx1"/>
                </a:solidFill>
              </a:rPr>
              <a:t> = </a:t>
            </a:r>
            <a:r>
              <a:rPr lang="en-GB" sz="2800" dirty="0" err="1" smtClean="0">
                <a:solidFill>
                  <a:schemeClr val="tx1"/>
                </a:solidFill>
              </a:rPr>
              <a:t>htons</a:t>
            </a:r>
            <a:r>
              <a:rPr lang="en-GB" sz="2800" dirty="0" smtClean="0">
                <a:solidFill>
                  <a:schemeClr val="tx1"/>
                </a:solidFill>
              </a:rPr>
              <a:t>(</a:t>
            </a:r>
            <a:r>
              <a:rPr lang="en-GB" sz="2800" dirty="0" err="1" smtClean="0">
                <a:solidFill>
                  <a:schemeClr val="tx1"/>
                </a:solidFill>
              </a:rPr>
              <a:t>portno</a:t>
            </a:r>
            <a:r>
              <a:rPr lang="en-GB" sz="2800" dirty="0" smtClean="0">
                <a:solidFill>
                  <a:schemeClr val="tx1"/>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Now connect to the server */</a:t>
            </a:r>
          </a:p>
          <a:p>
            <a:pPr algn="l">
              <a:spcBef>
                <a:spcPts val="0"/>
              </a:spcBef>
            </a:pPr>
            <a:r>
              <a:rPr lang="en-GB" sz="2800" dirty="0" smtClean="0">
                <a:solidFill>
                  <a:schemeClr val="tx1"/>
                </a:solidFill>
              </a:rPr>
              <a:t>   if (connect(</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*)&amp;</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sizeof</a:t>
            </a:r>
            <a:r>
              <a:rPr lang="en-GB" sz="2800" dirty="0" smtClean="0">
                <a:solidFill>
                  <a:schemeClr val="tx1"/>
                </a:solidFill>
              </a:rPr>
              <a:t>(</a:t>
            </a:r>
            <a:r>
              <a:rPr lang="en-GB" sz="2800" dirty="0" err="1" smtClean="0">
                <a:solidFill>
                  <a:schemeClr val="tx1"/>
                </a:solidFill>
              </a:rPr>
              <a:t>serv_addr</a:t>
            </a:r>
            <a:r>
              <a:rPr lang="en-GB" sz="2800" dirty="0" smtClean="0">
                <a:solidFill>
                  <a:schemeClr val="tx1"/>
                </a:solidFill>
              </a:rPr>
              <a:t>))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connecting");</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smtClean="0">
                <a:solidFill>
                  <a:srgbClr val="FF0000"/>
                </a:solidFill>
              </a:rPr>
              <a:t>/* Now ask for a message from the user, this message</a:t>
            </a:r>
          </a:p>
          <a:p>
            <a:pPr algn="l">
              <a:spcBef>
                <a:spcPts val="0"/>
              </a:spcBef>
            </a:pPr>
            <a:r>
              <a:rPr lang="en-GB" sz="2800" dirty="0" smtClean="0">
                <a:solidFill>
                  <a:srgbClr val="FF0000"/>
                </a:solidFill>
              </a:rPr>
              <a:t>      * will be read by </a:t>
            </a:r>
            <a:r>
              <a:rPr lang="en-GB" sz="2800" dirty="0" smtClean="0">
                <a:solidFill>
                  <a:srgbClr val="FF0000"/>
                </a:solidFill>
              </a:rPr>
              <a:t>server   </a:t>
            </a:r>
            <a:r>
              <a:rPr lang="en-GB" sz="2800" dirty="0" smtClean="0">
                <a:solidFill>
                  <a:srgbClr val="FF0000"/>
                </a:solidFill>
              </a:rPr>
              <a:t>*/</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("Please enter the message: ");</a:t>
            </a: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(buffer,256);</a:t>
            </a:r>
          </a:p>
          <a:p>
            <a:pPr algn="l">
              <a:spcBef>
                <a:spcPts val="0"/>
              </a:spcBef>
            </a:pPr>
            <a:r>
              <a:rPr lang="en-GB" sz="2800" dirty="0" smtClean="0">
                <a:solidFill>
                  <a:schemeClr val="tx1"/>
                </a:solidFill>
              </a:rPr>
              <a:t>   </a:t>
            </a:r>
            <a:r>
              <a:rPr lang="en-GB" sz="2800" dirty="0" err="1" smtClean="0">
                <a:solidFill>
                  <a:schemeClr val="tx1"/>
                </a:solidFill>
              </a:rPr>
              <a:t>fgets</a:t>
            </a:r>
            <a:r>
              <a:rPr lang="en-GB" sz="2800" dirty="0" smtClean="0">
                <a:solidFill>
                  <a:schemeClr val="tx1"/>
                </a:solidFill>
              </a:rPr>
              <a:t>(buffer,255,stdin</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r>
              <a:rPr lang="en-GB" sz="2800" dirty="0" smtClean="0">
                <a:solidFill>
                  <a:schemeClr val="tx1"/>
                </a:solidFill>
              </a:rPr>
              <a:t>   </a:t>
            </a:r>
            <a:r>
              <a:rPr lang="en-GB" sz="2800" dirty="0" smtClean="0">
                <a:solidFill>
                  <a:srgbClr val="FF0000"/>
                </a:solidFill>
              </a:rPr>
              <a:t>/* Send message to the server */</a:t>
            </a:r>
          </a:p>
          <a:p>
            <a:pPr algn="l">
              <a:spcBef>
                <a:spcPts val="0"/>
              </a:spcBef>
            </a:pPr>
            <a:r>
              <a:rPr lang="en-GB" sz="2800" dirty="0" smtClean="0">
                <a:solidFill>
                  <a:schemeClr val="tx1"/>
                </a:solidFill>
              </a:rPr>
              <a:t>   </a:t>
            </a:r>
            <a:endParaRPr lang="en-GB" sz="2800" dirty="0" smtClean="0">
              <a:solidFill>
                <a:schemeClr val="tx1"/>
              </a:solidFill>
            </a:endParaRPr>
          </a:p>
          <a:p>
            <a:pPr algn="l">
              <a:spcBef>
                <a:spcPts val="0"/>
              </a:spcBef>
            </a:pPr>
            <a:r>
              <a:rPr lang="en-GB" sz="2800" dirty="0" smtClean="0">
                <a:solidFill>
                  <a:schemeClr val="tx1"/>
                </a:solidFill>
              </a:rPr>
              <a:t>   n </a:t>
            </a:r>
            <a:r>
              <a:rPr lang="en-GB" sz="2800" dirty="0" smtClean="0">
                <a:solidFill>
                  <a:schemeClr val="tx1"/>
                </a:solidFill>
              </a:rPr>
              <a:t>= write(</a:t>
            </a:r>
            <a:r>
              <a:rPr lang="en-GB" sz="2800" dirty="0" err="1" smtClean="0">
                <a:solidFill>
                  <a:schemeClr val="tx1"/>
                </a:solidFill>
              </a:rPr>
              <a:t>sockfd</a:t>
            </a:r>
            <a:r>
              <a:rPr lang="en-GB" sz="2800" dirty="0" smtClean="0">
                <a:solidFill>
                  <a:schemeClr val="tx1"/>
                </a:solidFill>
              </a:rPr>
              <a:t>, buffer, </a:t>
            </a:r>
            <a:r>
              <a:rPr lang="en-GB" sz="2800" dirty="0" err="1" smtClean="0">
                <a:solidFill>
                  <a:schemeClr val="tx1"/>
                </a:solidFill>
              </a:rPr>
              <a:t>strlen</a:t>
            </a:r>
            <a:r>
              <a:rPr lang="en-GB" sz="2800" dirty="0" smtClean="0">
                <a:solidFill>
                  <a:schemeClr val="tx1"/>
                </a:solidFill>
              </a:rPr>
              <a:t>(buffer));</a:t>
            </a:r>
          </a:p>
          <a:p>
            <a:pPr algn="l">
              <a:spcBef>
                <a:spcPts val="0"/>
              </a:spcBef>
            </a:pPr>
            <a:r>
              <a:rPr lang="en-GB" sz="2800" dirty="0" smtClean="0">
                <a:solidFill>
                  <a:schemeClr val="tx1"/>
                </a:solidFill>
              </a:rPr>
              <a:t> </a:t>
            </a:r>
            <a:endParaRPr lang="en-GB" sz="2800" dirty="0" smtClean="0">
              <a:solidFill>
                <a:schemeClr val="tx1"/>
              </a:solidFill>
            </a:endParaRPr>
          </a:p>
          <a:p>
            <a:pPr algn="l">
              <a:spcBef>
                <a:spcPts val="0"/>
              </a:spcBef>
            </a:pPr>
            <a:r>
              <a:rPr lang="en-GB" sz="2800" dirty="0" smtClean="0">
                <a:solidFill>
                  <a:schemeClr val="tx1"/>
                </a:solidFill>
              </a:rPr>
              <a:t>   if (n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writing to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endParaRPr lang="en-GB" sz="2800" dirty="0" smtClean="0">
              <a:solidFill>
                <a:schemeClr val="tx1"/>
              </a:solidFill>
            </a:endParaRPr>
          </a:p>
          <a:p>
            <a:pPr algn="l">
              <a:spcBef>
                <a:spcPts val="0"/>
              </a:spcBef>
            </a:pPr>
            <a:r>
              <a:rPr lang="en-GB" sz="2800" dirty="0" smtClean="0">
                <a:solidFill>
                  <a:schemeClr val="tx1"/>
                </a:solidFill>
              </a:rPr>
              <a:t>   </a:t>
            </a:r>
            <a:r>
              <a:rPr lang="en-GB" sz="2800" dirty="0" smtClean="0">
                <a:solidFill>
                  <a:srgbClr val="FF0000"/>
                </a:solidFill>
              </a:rPr>
              <a:t>/* Now read server response */</a:t>
            </a:r>
          </a:p>
          <a:p>
            <a:pPr algn="l">
              <a:spcBef>
                <a:spcPts val="0"/>
              </a:spcBef>
            </a:pPr>
            <a:endParaRPr lang="en-GB" sz="2800" dirty="0" smtClean="0">
              <a:solidFill>
                <a:srgbClr val="FF0000"/>
              </a:solidFill>
            </a:endParaRPr>
          </a:p>
          <a:p>
            <a:pPr algn="l">
              <a:spcBef>
                <a:spcPts val="0"/>
              </a:spcBef>
            </a:pPr>
            <a:r>
              <a:rPr lang="en-GB" sz="2800" dirty="0" smtClean="0">
                <a:solidFill>
                  <a:schemeClr val="tx1"/>
                </a:solidFill>
              </a:rPr>
              <a:t>   </a:t>
            </a:r>
            <a:r>
              <a:rPr lang="en-GB" sz="2800" dirty="0" err="1" smtClean="0">
                <a:solidFill>
                  <a:schemeClr val="tx1"/>
                </a:solidFill>
              </a:rPr>
              <a:t>bzero</a:t>
            </a:r>
            <a:r>
              <a:rPr lang="en-GB" sz="2800" dirty="0" smtClean="0">
                <a:solidFill>
                  <a:schemeClr val="tx1"/>
                </a:solidFill>
              </a:rPr>
              <a:t>(buffer,256);</a:t>
            </a:r>
          </a:p>
          <a:p>
            <a:pPr algn="l">
              <a:spcBef>
                <a:spcPts val="0"/>
              </a:spcBef>
            </a:pPr>
            <a:r>
              <a:rPr lang="en-GB" sz="2800" dirty="0" smtClean="0">
                <a:solidFill>
                  <a:schemeClr val="tx1"/>
                </a:solidFill>
              </a:rPr>
              <a:t>   n = read(</a:t>
            </a:r>
            <a:r>
              <a:rPr lang="en-GB" sz="2800" dirty="0" err="1" smtClean="0">
                <a:solidFill>
                  <a:schemeClr val="tx1"/>
                </a:solidFill>
              </a:rPr>
              <a:t>sockfd</a:t>
            </a:r>
            <a:r>
              <a:rPr lang="en-GB" sz="2800" dirty="0" smtClean="0">
                <a:solidFill>
                  <a:schemeClr val="tx1"/>
                </a:solidFill>
              </a:rPr>
              <a:t>, buffer, 255);</a:t>
            </a:r>
          </a:p>
          <a:p>
            <a:pPr algn="l">
              <a:spcBef>
                <a:spcPts val="0"/>
              </a:spcBef>
            </a:pPr>
            <a:r>
              <a:rPr lang="en-GB" sz="2800" dirty="0" smtClean="0">
                <a:solidFill>
                  <a:schemeClr val="tx1"/>
                </a:solidFill>
              </a:rPr>
              <a:t>  </a:t>
            </a:r>
            <a:r>
              <a:rPr lang="en-GB" sz="2800" dirty="0" smtClean="0">
                <a:solidFill>
                  <a:schemeClr val="tx1"/>
                </a:solidFill>
              </a:rPr>
              <a:t> </a:t>
            </a:r>
          </a:p>
          <a:p>
            <a:pPr algn="l">
              <a:spcBef>
                <a:spcPts val="0"/>
              </a:spcBef>
            </a:pPr>
            <a:r>
              <a:rPr lang="en-GB" sz="2800" dirty="0" smtClean="0">
                <a:solidFill>
                  <a:schemeClr val="tx1"/>
                </a:solidFill>
              </a:rPr>
              <a:t>   </a:t>
            </a:r>
            <a:endParaRPr lang="en-GB" sz="2800" dirty="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382000" cy="6248400"/>
          </a:xfrm>
        </p:spPr>
        <p:txBody>
          <a:bodyPr>
            <a:noAutofit/>
          </a:bodyPr>
          <a:lstStyle/>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   </a:t>
            </a:r>
            <a:endParaRPr lang="en-GB" sz="2800" dirty="0" smtClean="0">
              <a:solidFill>
                <a:schemeClr val="tx1"/>
              </a:solidFill>
            </a:endParaRPr>
          </a:p>
          <a:p>
            <a:pPr algn="l">
              <a:spcBef>
                <a:spcPts val="0"/>
              </a:spcBef>
            </a:pPr>
            <a:r>
              <a:rPr lang="en-GB" sz="2800" dirty="0" smtClean="0">
                <a:solidFill>
                  <a:schemeClr val="tx1"/>
                </a:solidFill>
              </a:rPr>
              <a:t>   if (n &lt; 0) {</a:t>
            </a:r>
          </a:p>
          <a:p>
            <a:pPr algn="l">
              <a:spcBef>
                <a:spcPts val="0"/>
              </a:spcBef>
            </a:pPr>
            <a:r>
              <a:rPr lang="en-GB" sz="2800" dirty="0" smtClean="0">
                <a:solidFill>
                  <a:schemeClr val="tx1"/>
                </a:solidFill>
              </a:rPr>
              <a:t>      </a:t>
            </a:r>
            <a:r>
              <a:rPr lang="en-GB" sz="2800" dirty="0" err="1" smtClean="0">
                <a:solidFill>
                  <a:schemeClr val="tx1"/>
                </a:solidFill>
              </a:rPr>
              <a:t>perror</a:t>
            </a:r>
            <a:r>
              <a:rPr lang="en-GB" sz="2800" dirty="0" smtClean="0">
                <a:solidFill>
                  <a:schemeClr val="tx1"/>
                </a:solidFill>
              </a:rPr>
              <a:t>("ERROR reading from socket");</a:t>
            </a:r>
          </a:p>
          <a:p>
            <a:pPr algn="l">
              <a:spcBef>
                <a:spcPts val="0"/>
              </a:spcBef>
            </a:pPr>
            <a:r>
              <a:rPr lang="en-GB" sz="2800" dirty="0" smtClean="0">
                <a:solidFill>
                  <a:schemeClr val="tx1"/>
                </a:solidFill>
              </a:rPr>
              <a:t>      exit(1);</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p>
          <a:p>
            <a:pPr algn="l">
              <a:spcBef>
                <a:spcPts val="0"/>
              </a:spcBef>
            </a:pPr>
            <a:r>
              <a:rPr lang="en-GB" sz="2800" dirty="0" smtClean="0">
                <a:solidFill>
                  <a:schemeClr val="tx1"/>
                </a:solidFill>
              </a:rPr>
              <a:t>   </a:t>
            </a:r>
            <a:r>
              <a:rPr lang="en-GB" sz="2800" dirty="0" err="1" smtClean="0">
                <a:solidFill>
                  <a:schemeClr val="tx1"/>
                </a:solidFill>
              </a:rPr>
              <a:t>printf</a:t>
            </a:r>
            <a:r>
              <a:rPr lang="en-GB" sz="2800" dirty="0" smtClean="0">
                <a:solidFill>
                  <a:schemeClr val="tx1"/>
                </a:solidFill>
              </a:rPr>
              <a:t>("%s\</a:t>
            </a:r>
            <a:r>
              <a:rPr lang="en-GB" sz="2800" dirty="0" err="1" smtClean="0">
                <a:solidFill>
                  <a:schemeClr val="tx1"/>
                </a:solidFill>
              </a:rPr>
              <a:t>n",buffer</a:t>
            </a:r>
            <a:r>
              <a:rPr lang="en-GB" sz="2800" dirty="0" smtClean="0">
                <a:solidFill>
                  <a:schemeClr val="tx1"/>
                </a:solidFill>
              </a:rPr>
              <a:t>);</a:t>
            </a:r>
          </a:p>
          <a:p>
            <a:pPr algn="l">
              <a:spcBef>
                <a:spcPts val="0"/>
              </a:spcBef>
            </a:pPr>
            <a:r>
              <a:rPr lang="en-GB" sz="2800" dirty="0" smtClean="0">
                <a:solidFill>
                  <a:schemeClr val="tx1"/>
                </a:solidFill>
              </a:rPr>
              <a:t>   return 0;</a:t>
            </a:r>
          </a:p>
          <a:p>
            <a:pPr algn="l">
              <a:spcBef>
                <a:spcPts val="0"/>
              </a:spcBef>
            </a:pP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lgn="l">
              <a:spcBef>
                <a:spcPts val="0"/>
              </a:spcBef>
            </a:pPr>
            <a:r>
              <a:rPr lang="en-GB" sz="3600" b="1" dirty="0" smtClean="0">
                <a:solidFill>
                  <a:schemeClr val="tx1"/>
                </a:solidFill>
              </a:rPr>
              <a:t>Functions </a:t>
            </a:r>
            <a:r>
              <a:rPr lang="en-GB" sz="3600" b="1" dirty="0" smtClean="0">
                <a:solidFill>
                  <a:schemeClr val="tx1"/>
                </a:solidFill>
              </a:rPr>
              <a:t>related to socket programming.</a:t>
            </a:r>
          </a:p>
          <a:p>
            <a:pPr algn="l">
              <a:spcBef>
                <a:spcPts val="0"/>
              </a:spcBef>
            </a:pPr>
            <a:endParaRPr lang="en-GB" sz="2800" dirty="0" smtClean="0">
              <a:solidFill>
                <a:schemeClr val="tx1"/>
              </a:solidFill>
            </a:endParaRPr>
          </a:p>
          <a:p>
            <a:pPr>
              <a:spcBef>
                <a:spcPts val="0"/>
              </a:spcBef>
            </a:pPr>
            <a:r>
              <a:rPr lang="en-GB" sz="3600" b="1" dirty="0" smtClean="0">
                <a:solidFill>
                  <a:srgbClr val="FF0000"/>
                </a:solidFill>
              </a:rPr>
              <a:t>Port and Service Functions</a:t>
            </a:r>
          </a:p>
          <a:p>
            <a:pPr algn="l">
              <a:spcBef>
                <a:spcPts val="0"/>
              </a:spcBef>
            </a:pPr>
            <a:r>
              <a:rPr lang="en-GB" sz="2800" dirty="0" smtClean="0">
                <a:solidFill>
                  <a:schemeClr val="tx1"/>
                </a:solidFill>
              </a:rPr>
              <a:t>Unix provides the following functions to fetch service name from the /etc/services file.</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servent</a:t>
            </a:r>
            <a:r>
              <a:rPr lang="en-GB" sz="2800" b="1" dirty="0" smtClean="0">
                <a:solidFill>
                  <a:srgbClr val="FF0000"/>
                </a:solidFill>
              </a:rPr>
              <a:t> *</a:t>
            </a:r>
            <a:r>
              <a:rPr lang="en-GB" sz="2800" b="1" dirty="0" err="1" smtClean="0">
                <a:solidFill>
                  <a:srgbClr val="FF0000"/>
                </a:solidFill>
              </a:rPr>
              <a:t>getservbyname</a:t>
            </a:r>
            <a:r>
              <a:rPr lang="en-GB" sz="2800" b="1" dirty="0" smtClean="0">
                <a:solidFill>
                  <a:srgbClr val="FF0000"/>
                </a:solidFill>
              </a:rPr>
              <a:t>(char *name, char *proto)</a:t>
            </a:r>
            <a:r>
              <a:rPr lang="en-GB" sz="2800" dirty="0" smtClean="0">
                <a:solidFill>
                  <a:schemeClr val="tx1"/>
                </a:solidFill>
              </a:rPr>
              <a:t> − </a:t>
            </a:r>
            <a:r>
              <a:rPr lang="en-GB" sz="2800" dirty="0" smtClean="0">
                <a:solidFill>
                  <a:schemeClr val="tx1"/>
                </a:solidFill>
              </a:rPr>
              <a:t>takes </a:t>
            </a:r>
            <a:r>
              <a:rPr lang="en-GB" sz="2800" dirty="0" smtClean="0">
                <a:solidFill>
                  <a:schemeClr val="tx1"/>
                </a:solidFill>
              </a:rPr>
              <a:t>a service name and a protocol name and </a:t>
            </a:r>
            <a:endParaRPr lang="en-GB" sz="2800" dirty="0" smtClean="0">
              <a:solidFill>
                <a:schemeClr val="tx1"/>
              </a:solidFill>
            </a:endParaRPr>
          </a:p>
          <a:p>
            <a:pPr algn="l">
              <a:spcBef>
                <a:spcPts val="0"/>
              </a:spcBef>
            </a:pPr>
            <a:r>
              <a:rPr lang="en-GB" sz="2800" dirty="0" smtClean="0">
                <a:solidFill>
                  <a:schemeClr val="tx1"/>
                </a:solidFill>
              </a:rPr>
              <a:t>-  returns </a:t>
            </a:r>
            <a:r>
              <a:rPr lang="en-GB" sz="2800" dirty="0" smtClean="0">
                <a:solidFill>
                  <a:schemeClr val="tx1"/>
                </a:solidFill>
              </a:rPr>
              <a:t>the corresponding port number for that service.</a:t>
            </a:r>
          </a:p>
          <a:p>
            <a:pPr algn="l">
              <a:spcBef>
                <a:spcPts val="0"/>
              </a:spcBef>
            </a:pPr>
            <a:endParaRPr lang="en-GB" sz="2800" b="1" dirty="0" smtClean="0">
              <a:solidFill>
                <a:srgbClr val="FF0000"/>
              </a:solidFill>
            </a:endParaRPr>
          </a:p>
          <a:p>
            <a:pPr algn="l">
              <a:spcBef>
                <a:spcPts val="0"/>
              </a:spcBef>
            </a:pP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servent</a:t>
            </a:r>
            <a:r>
              <a:rPr lang="en-GB" sz="2800" b="1" dirty="0" smtClean="0">
                <a:solidFill>
                  <a:srgbClr val="FF0000"/>
                </a:solidFill>
              </a:rPr>
              <a:t> *</a:t>
            </a:r>
            <a:r>
              <a:rPr lang="en-GB" sz="2800" b="1" dirty="0" err="1" smtClean="0">
                <a:solidFill>
                  <a:srgbClr val="FF0000"/>
                </a:solidFill>
              </a:rPr>
              <a:t>getservbyport</a:t>
            </a:r>
            <a:r>
              <a:rPr lang="en-GB" sz="2800" b="1" dirty="0" smtClean="0">
                <a:solidFill>
                  <a:srgbClr val="FF0000"/>
                </a:solidFill>
              </a:rPr>
              <a:t>(</a:t>
            </a:r>
            <a:r>
              <a:rPr lang="en-GB" sz="2800" b="1" dirty="0" err="1" smtClean="0">
                <a:solidFill>
                  <a:srgbClr val="FF0000"/>
                </a:solidFill>
              </a:rPr>
              <a:t>int</a:t>
            </a:r>
            <a:r>
              <a:rPr lang="en-GB" sz="2800" b="1" dirty="0" smtClean="0">
                <a:solidFill>
                  <a:srgbClr val="FF0000"/>
                </a:solidFill>
              </a:rPr>
              <a:t> port, char *proto) </a:t>
            </a:r>
            <a:endParaRPr lang="en-GB" sz="2800" b="1" dirty="0" smtClean="0">
              <a:solidFill>
                <a:srgbClr val="FF0000"/>
              </a:solidFill>
            </a:endParaRPr>
          </a:p>
          <a:p>
            <a:pPr algn="l">
              <a:spcBef>
                <a:spcPts val="0"/>
              </a:spcBef>
            </a:pPr>
            <a:r>
              <a:rPr lang="en-GB" sz="2800" b="1" dirty="0" smtClean="0">
                <a:solidFill>
                  <a:srgbClr val="FF0000"/>
                </a:solidFill>
              </a:rPr>
              <a:t>− </a:t>
            </a:r>
            <a:r>
              <a:rPr lang="en-GB" sz="2800" dirty="0" smtClean="0">
                <a:solidFill>
                  <a:schemeClr val="tx1"/>
                </a:solidFill>
              </a:rPr>
              <a:t>takes </a:t>
            </a:r>
            <a:r>
              <a:rPr lang="en-GB" sz="2800" dirty="0" smtClean="0">
                <a:solidFill>
                  <a:schemeClr val="tx1"/>
                </a:solidFill>
              </a:rPr>
              <a:t>a port number and a protocol name </a:t>
            </a:r>
            <a:r>
              <a:rPr lang="en-GB" sz="2800" dirty="0" smtClean="0">
                <a:solidFill>
                  <a:schemeClr val="tx1"/>
                </a:solidFill>
              </a:rPr>
              <a:t>and</a:t>
            </a:r>
          </a:p>
          <a:p>
            <a:pPr algn="l">
              <a:spcBef>
                <a:spcPts val="0"/>
              </a:spcBef>
            </a:pPr>
            <a:r>
              <a:rPr lang="en-GB" sz="2800" dirty="0" smtClean="0">
                <a:solidFill>
                  <a:schemeClr val="tx1"/>
                </a:solidFill>
              </a:rPr>
              <a:t>-  </a:t>
            </a:r>
            <a:r>
              <a:rPr lang="en-GB" sz="2800" dirty="0" smtClean="0">
                <a:solidFill>
                  <a:schemeClr val="tx1"/>
                </a:solidFill>
              </a:rPr>
              <a:t>returns the corresponding service name</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81000" y="-76200"/>
            <a:ext cx="8458200" cy="6781800"/>
          </a:xfrm>
        </p:spPr>
        <p:txBody>
          <a:bodyPr>
            <a:noAutofit/>
          </a:bodyPr>
          <a:lstStyle/>
          <a:p>
            <a:pPr>
              <a:spcBef>
                <a:spcPts val="0"/>
              </a:spcBef>
            </a:pPr>
            <a:r>
              <a:rPr lang="en-GB" sz="3600" b="1" dirty="0" smtClean="0">
                <a:solidFill>
                  <a:srgbClr val="FF0000"/>
                </a:solidFill>
              </a:rPr>
              <a:t>Byte </a:t>
            </a:r>
            <a:r>
              <a:rPr lang="en-GB" sz="3600" b="1" dirty="0" smtClean="0">
                <a:solidFill>
                  <a:srgbClr val="FF0000"/>
                </a:solidFill>
              </a:rPr>
              <a:t>Ordering Functions</a:t>
            </a:r>
          </a:p>
          <a:p>
            <a:pPr algn="l">
              <a:spcBef>
                <a:spcPts val="0"/>
              </a:spcBef>
            </a:pPr>
            <a:r>
              <a:rPr lang="en-GB" sz="2800" b="1" dirty="0" smtClean="0">
                <a:solidFill>
                  <a:srgbClr val="FF0000"/>
                </a:solidFill>
              </a:rPr>
              <a:t>unsigned short </a:t>
            </a:r>
            <a:r>
              <a:rPr lang="en-GB" sz="2800" b="1" dirty="0" err="1" smtClean="0">
                <a:solidFill>
                  <a:srgbClr val="FF0000"/>
                </a:solidFill>
              </a:rPr>
              <a:t>htons</a:t>
            </a:r>
            <a:r>
              <a:rPr lang="en-GB" sz="2800" b="1" dirty="0" smtClean="0">
                <a:solidFill>
                  <a:srgbClr val="FF0000"/>
                </a:solidFill>
              </a:rPr>
              <a:t> (unsigned short </a:t>
            </a:r>
            <a:r>
              <a:rPr lang="en-GB" sz="2800" b="1" dirty="0" err="1" smtClean="0">
                <a:solidFill>
                  <a:srgbClr val="FF0000"/>
                </a:solidFill>
              </a:rPr>
              <a:t>hostshort</a:t>
            </a:r>
            <a:r>
              <a:rPr lang="en-GB" sz="2800" b="1" dirty="0" smtClean="0">
                <a:solidFill>
                  <a:srgbClr val="FF0000"/>
                </a:solidFill>
              </a:rPr>
              <a:t>)</a:t>
            </a:r>
            <a:r>
              <a:rPr lang="en-GB" sz="2800" dirty="0" smtClean="0">
                <a:solidFill>
                  <a:schemeClr val="tx1"/>
                </a:solidFill>
              </a:rPr>
              <a:t> − </a:t>
            </a:r>
            <a:endParaRPr lang="en-GB" sz="2800" dirty="0" smtClean="0">
              <a:solidFill>
                <a:schemeClr val="tx1"/>
              </a:solidFill>
            </a:endParaRPr>
          </a:p>
          <a:p>
            <a:pPr algn="l">
              <a:spcBef>
                <a:spcPts val="0"/>
              </a:spcBef>
            </a:pPr>
            <a:r>
              <a:rPr lang="en-GB" sz="2800" dirty="0" smtClean="0">
                <a:solidFill>
                  <a:schemeClr val="tx1"/>
                </a:solidFill>
              </a:rPr>
              <a:t>converts </a:t>
            </a:r>
            <a:r>
              <a:rPr lang="en-GB" sz="2800" dirty="0" smtClean="0">
                <a:solidFill>
                  <a:schemeClr val="tx1"/>
                </a:solidFill>
              </a:rPr>
              <a:t>16-bit </a:t>
            </a:r>
            <a:r>
              <a:rPr lang="en-GB" sz="2800" dirty="0" smtClean="0">
                <a:solidFill>
                  <a:schemeClr val="tx1"/>
                </a:solidFill>
              </a:rPr>
              <a:t>quantities </a:t>
            </a:r>
            <a:r>
              <a:rPr lang="en-GB" sz="2800" dirty="0" smtClean="0">
                <a:solidFill>
                  <a:schemeClr val="tx1"/>
                </a:solidFill>
              </a:rPr>
              <a:t>from host byte order to network byte order.</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unsigned long </a:t>
            </a:r>
            <a:r>
              <a:rPr lang="en-GB" sz="2800" b="1" dirty="0" err="1" smtClean="0">
                <a:solidFill>
                  <a:srgbClr val="FF0000"/>
                </a:solidFill>
              </a:rPr>
              <a:t>htonl</a:t>
            </a:r>
            <a:r>
              <a:rPr lang="en-GB" sz="2800" b="1" dirty="0" smtClean="0">
                <a:solidFill>
                  <a:srgbClr val="FF0000"/>
                </a:solidFill>
              </a:rPr>
              <a:t> (unsigned long </a:t>
            </a:r>
            <a:r>
              <a:rPr lang="en-GB" sz="2800" b="1" dirty="0" err="1" smtClean="0">
                <a:solidFill>
                  <a:srgbClr val="FF0000"/>
                </a:solidFill>
              </a:rPr>
              <a:t>hostlong</a:t>
            </a:r>
            <a:r>
              <a:rPr lang="en-GB" sz="2800" b="1" dirty="0" smtClean="0">
                <a:solidFill>
                  <a:srgbClr val="FF0000"/>
                </a:solidFill>
              </a:rPr>
              <a:t>)</a:t>
            </a:r>
            <a:r>
              <a:rPr lang="en-GB" sz="2800" dirty="0" smtClean="0">
                <a:solidFill>
                  <a:schemeClr val="tx1"/>
                </a:solidFill>
              </a:rPr>
              <a:t> − </a:t>
            </a:r>
            <a:endParaRPr lang="en-GB" sz="2800" dirty="0" smtClean="0">
              <a:solidFill>
                <a:schemeClr val="tx1"/>
              </a:solidFill>
            </a:endParaRPr>
          </a:p>
          <a:p>
            <a:pPr algn="l">
              <a:spcBef>
                <a:spcPts val="0"/>
              </a:spcBef>
            </a:pPr>
            <a:r>
              <a:rPr lang="en-GB" sz="2800" dirty="0" smtClean="0">
                <a:solidFill>
                  <a:schemeClr val="tx1"/>
                </a:solidFill>
              </a:rPr>
              <a:t>converts </a:t>
            </a:r>
            <a:r>
              <a:rPr lang="en-GB" sz="2800" dirty="0" smtClean="0">
                <a:solidFill>
                  <a:schemeClr val="tx1"/>
                </a:solidFill>
              </a:rPr>
              <a:t>32-bit </a:t>
            </a:r>
            <a:r>
              <a:rPr lang="en-GB" sz="2800" dirty="0" smtClean="0">
                <a:solidFill>
                  <a:schemeClr val="tx1"/>
                </a:solidFill>
              </a:rPr>
              <a:t>quantities </a:t>
            </a:r>
            <a:r>
              <a:rPr lang="en-GB" sz="2800" dirty="0" smtClean="0">
                <a:solidFill>
                  <a:schemeClr val="tx1"/>
                </a:solidFill>
              </a:rPr>
              <a:t>from host byte order to network byte order.</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unsigned short </a:t>
            </a:r>
            <a:r>
              <a:rPr lang="en-GB" sz="2800" b="1" dirty="0" err="1" smtClean="0">
                <a:solidFill>
                  <a:srgbClr val="FF0000"/>
                </a:solidFill>
              </a:rPr>
              <a:t>ntohs</a:t>
            </a:r>
            <a:r>
              <a:rPr lang="en-GB" sz="2800" b="1" dirty="0" smtClean="0">
                <a:solidFill>
                  <a:srgbClr val="FF0000"/>
                </a:solidFill>
              </a:rPr>
              <a:t> (unsigned short </a:t>
            </a:r>
            <a:r>
              <a:rPr lang="en-GB" sz="2800" b="1" dirty="0" err="1" smtClean="0">
                <a:solidFill>
                  <a:srgbClr val="FF0000"/>
                </a:solidFill>
              </a:rPr>
              <a:t>netshort</a:t>
            </a:r>
            <a:r>
              <a:rPr lang="en-GB" sz="2800" b="1" dirty="0" smtClean="0">
                <a:solidFill>
                  <a:srgbClr val="FF0000"/>
                </a:solidFill>
              </a:rPr>
              <a:t>)</a:t>
            </a:r>
            <a:r>
              <a:rPr lang="en-GB" sz="2800" dirty="0" smtClean="0">
                <a:solidFill>
                  <a:schemeClr val="tx1"/>
                </a:solidFill>
              </a:rPr>
              <a:t> − </a:t>
            </a:r>
            <a:endParaRPr lang="en-GB" sz="2800" dirty="0" smtClean="0">
              <a:solidFill>
                <a:schemeClr val="tx1"/>
              </a:solidFill>
            </a:endParaRPr>
          </a:p>
          <a:p>
            <a:pPr algn="l">
              <a:spcBef>
                <a:spcPts val="0"/>
              </a:spcBef>
            </a:pPr>
            <a:r>
              <a:rPr lang="en-GB" sz="2800" dirty="0" smtClean="0">
                <a:solidFill>
                  <a:schemeClr val="tx1"/>
                </a:solidFill>
              </a:rPr>
              <a:t> </a:t>
            </a:r>
            <a:r>
              <a:rPr lang="en-GB" sz="2800" dirty="0" smtClean="0">
                <a:solidFill>
                  <a:schemeClr val="tx1"/>
                </a:solidFill>
              </a:rPr>
              <a:t>converts 16-bit </a:t>
            </a:r>
            <a:r>
              <a:rPr lang="en-GB" sz="2800" dirty="0" smtClean="0">
                <a:solidFill>
                  <a:schemeClr val="tx1"/>
                </a:solidFill>
              </a:rPr>
              <a:t>quantities </a:t>
            </a:r>
            <a:r>
              <a:rPr lang="en-GB" sz="2800" dirty="0" smtClean="0">
                <a:solidFill>
                  <a:schemeClr val="tx1"/>
                </a:solidFill>
              </a:rPr>
              <a:t>from network byte order to host byte order.</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unsigned long </a:t>
            </a:r>
            <a:r>
              <a:rPr lang="en-GB" sz="2800" b="1" dirty="0" err="1" smtClean="0">
                <a:solidFill>
                  <a:srgbClr val="FF0000"/>
                </a:solidFill>
              </a:rPr>
              <a:t>ntohl</a:t>
            </a:r>
            <a:r>
              <a:rPr lang="en-GB" sz="2800" b="1" dirty="0" smtClean="0">
                <a:solidFill>
                  <a:srgbClr val="FF0000"/>
                </a:solidFill>
              </a:rPr>
              <a:t> (unsigned long </a:t>
            </a:r>
            <a:r>
              <a:rPr lang="en-GB" sz="2800" b="1" dirty="0" err="1" smtClean="0">
                <a:solidFill>
                  <a:srgbClr val="FF0000"/>
                </a:solidFill>
              </a:rPr>
              <a:t>netlong</a:t>
            </a:r>
            <a:r>
              <a:rPr lang="en-GB" sz="2800" b="1" dirty="0" smtClean="0">
                <a:solidFill>
                  <a:srgbClr val="FF0000"/>
                </a:solidFill>
              </a:rPr>
              <a:t>)</a:t>
            </a:r>
            <a:r>
              <a:rPr lang="en-GB" sz="2800" dirty="0" smtClean="0">
                <a:solidFill>
                  <a:schemeClr val="tx1"/>
                </a:solidFill>
              </a:rPr>
              <a:t> </a:t>
            </a:r>
            <a:r>
              <a:rPr lang="en-GB" sz="2800" dirty="0" smtClean="0">
                <a:solidFill>
                  <a:schemeClr val="tx1"/>
                </a:solidFill>
              </a:rPr>
              <a:t>−</a:t>
            </a:r>
          </a:p>
          <a:p>
            <a:pPr algn="l">
              <a:spcBef>
                <a:spcPts val="0"/>
              </a:spcBef>
            </a:pPr>
            <a:r>
              <a:rPr lang="en-GB" sz="2800" dirty="0" smtClean="0">
                <a:solidFill>
                  <a:schemeClr val="tx1"/>
                </a:solidFill>
              </a:rPr>
              <a:t> </a:t>
            </a:r>
            <a:r>
              <a:rPr lang="en-GB" sz="2800" dirty="0" smtClean="0">
                <a:solidFill>
                  <a:schemeClr val="tx1"/>
                </a:solidFill>
              </a:rPr>
              <a:t>converts 32-bit quantities from network byte order to host byte order.</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IP Address Functions</a:t>
            </a:r>
          </a:p>
          <a:p>
            <a:pPr algn="l">
              <a:spcBef>
                <a:spcPts val="0"/>
              </a:spcBef>
            </a:pP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inet_aton</a:t>
            </a:r>
            <a:r>
              <a:rPr lang="en-GB" sz="2800" dirty="0" smtClean="0">
                <a:solidFill>
                  <a:schemeClr val="tx1"/>
                </a:solidFill>
              </a:rPr>
              <a:t> (const char *</a:t>
            </a:r>
            <a:r>
              <a:rPr lang="en-GB" sz="2800" dirty="0" err="1" smtClean="0">
                <a:solidFill>
                  <a:schemeClr val="tx1"/>
                </a:solidFill>
              </a:rPr>
              <a:t>strptr</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in_addr</a:t>
            </a:r>
            <a:r>
              <a:rPr lang="en-GB" sz="2800" dirty="0" smtClean="0">
                <a:solidFill>
                  <a:schemeClr val="tx1"/>
                </a:solidFill>
              </a:rPr>
              <a:t> *</a:t>
            </a:r>
            <a:r>
              <a:rPr lang="en-GB" sz="2800" dirty="0" err="1" smtClean="0">
                <a:solidFill>
                  <a:schemeClr val="tx1"/>
                </a:solidFill>
              </a:rPr>
              <a:t>addrptr</a:t>
            </a:r>
            <a:r>
              <a:rPr lang="en-GB" sz="2800" dirty="0" smtClean="0">
                <a:solidFill>
                  <a:schemeClr val="tx1"/>
                </a:solidFill>
              </a:rPr>
              <a:t>) − This function call converts the specified string, in the Internet standard dot notation, to a network address, and stores the address in the structure provided. The converted address will be in Network Byte Order (bytes ordered from left to right). It returns 1 if the string is valid and 0 on error.</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in_addr_t</a:t>
            </a:r>
            <a:r>
              <a:rPr lang="en-GB" sz="2800" dirty="0" smtClean="0">
                <a:solidFill>
                  <a:schemeClr val="tx1"/>
                </a:solidFill>
              </a:rPr>
              <a:t> </a:t>
            </a:r>
            <a:r>
              <a:rPr lang="en-GB" sz="2800" dirty="0" err="1" smtClean="0">
                <a:solidFill>
                  <a:schemeClr val="tx1"/>
                </a:solidFill>
              </a:rPr>
              <a:t>inet_addr</a:t>
            </a:r>
            <a:r>
              <a:rPr lang="en-GB" sz="2800" dirty="0" smtClean="0">
                <a:solidFill>
                  <a:schemeClr val="tx1"/>
                </a:solidFill>
              </a:rPr>
              <a:t> (const char *</a:t>
            </a:r>
            <a:r>
              <a:rPr lang="en-GB" sz="2800" dirty="0" err="1" smtClean="0">
                <a:solidFill>
                  <a:schemeClr val="tx1"/>
                </a:solidFill>
              </a:rPr>
              <a:t>strptr</a:t>
            </a:r>
            <a:r>
              <a:rPr lang="en-GB" sz="2800" dirty="0" smtClean="0">
                <a:solidFill>
                  <a:schemeClr val="tx1"/>
                </a:solidFill>
              </a:rPr>
              <a:t>) − This function call converts the specified string, in the Internet standard dot notation, to an integer value suitable for use as an Internet address. The converted address will be in Network Byte Order (bytes ordered from left to right). It returns a 32-bit binary network byte ordered IPv4 address and INADDR_NONE on error.</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char *</a:t>
            </a:r>
            <a:r>
              <a:rPr lang="en-GB" sz="2800" dirty="0" err="1" smtClean="0">
                <a:solidFill>
                  <a:schemeClr val="tx1"/>
                </a:solidFill>
              </a:rPr>
              <a:t>inet_ntoa</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in_addr</a:t>
            </a:r>
            <a:r>
              <a:rPr lang="en-GB" sz="2800" dirty="0" smtClean="0">
                <a:solidFill>
                  <a:schemeClr val="tx1"/>
                </a:solidFill>
              </a:rPr>
              <a:t> </a:t>
            </a:r>
            <a:r>
              <a:rPr lang="en-GB" sz="2800" dirty="0" err="1" smtClean="0">
                <a:solidFill>
                  <a:schemeClr val="tx1"/>
                </a:solidFill>
              </a:rPr>
              <a:t>inaddr</a:t>
            </a:r>
            <a:r>
              <a:rPr lang="en-GB" sz="2800" dirty="0" smtClean="0">
                <a:solidFill>
                  <a:schemeClr val="tx1"/>
                </a:solidFill>
              </a:rPr>
              <a:t>) − This function call converts the specified Internet host address to a string in the Internet standard dot notation.</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Socket Core Functions</a:t>
            </a:r>
          </a:p>
          <a:p>
            <a:pPr algn="l">
              <a:spcBef>
                <a:spcPts val="0"/>
              </a:spcBef>
            </a:pPr>
            <a:r>
              <a:rPr lang="en-GB" sz="2800" dirty="0" err="1" smtClean="0">
                <a:solidFill>
                  <a:schemeClr val="tx1"/>
                </a:solidFill>
              </a:rPr>
              <a:t>int</a:t>
            </a:r>
            <a:r>
              <a:rPr lang="en-GB" sz="2800" dirty="0" smtClean="0">
                <a:solidFill>
                  <a:schemeClr val="tx1"/>
                </a:solidFill>
              </a:rPr>
              <a:t> socket (</a:t>
            </a:r>
            <a:r>
              <a:rPr lang="en-GB" sz="2800" dirty="0" err="1" smtClean="0">
                <a:solidFill>
                  <a:schemeClr val="tx1"/>
                </a:solidFill>
              </a:rPr>
              <a:t>int</a:t>
            </a:r>
            <a:r>
              <a:rPr lang="en-GB" sz="2800" dirty="0" smtClean="0">
                <a:solidFill>
                  <a:schemeClr val="tx1"/>
                </a:solidFill>
              </a:rPr>
              <a:t> family, </a:t>
            </a:r>
            <a:r>
              <a:rPr lang="en-GB" sz="2800" dirty="0" err="1" smtClean="0">
                <a:solidFill>
                  <a:schemeClr val="tx1"/>
                </a:solidFill>
              </a:rPr>
              <a:t>int</a:t>
            </a:r>
            <a:r>
              <a:rPr lang="en-GB" sz="2800" dirty="0" smtClean="0">
                <a:solidFill>
                  <a:schemeClr val="tx1"/>
                </a:solidFill>
              </a:rPr>
              <a:t> type, </a:t>
            </a:r>
            <a:r>
              <a:rPr lang="en-GB" sz="2800" dirty="0" err="1" smtClean="0">
                <a:solidFill>
                  <a:schemeClr val="tx1"/>
                </a:solidFill>
              </a:rPr>
              <a:t>int</a:t>
            </a:r>
            <a:r>
              <a:rPr lang="en-GB" sz="2800" dirty="0" smtClean="0">
                <a:solidFill>
                  <a:schemeClr val="tx1"/>
                </a:solidFill>
              </a:rPr>
              <a:t> protocol) − This call returns a socket descriptor that you can use in later system calls or it gives you -1 on error.</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connect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a:t>
            </a:r>
            <a:r>
              <a:rPr lang="en-GB" sz="2800" dirty="0" err="1" smtClean="0">
                <a:solidFill>
                  <a:schemeClr val="tx1"/>
                </a:solidFill>
              </a:rPr>
              <a:t>serv_addr</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addrlen</a:t>
            </a:r>
            <a:r>
              <a:rPr lang="en-GB" sz="2800" dirty="0" smtClean="0">
                <a:solidFill>
                  <a:schemeClr val="tx1"/>
                </a:solidFill>
              </a:rPr>
              <a:t>) − The connect function is used by a TCP client to establish a connection with a TCP server. This call returns 0 if it successfully connects to the server,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bind(</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a:t>
            </a:r>
            <a:r>
              <a:rPr lang="en-GB" sz="2800" dirty="0" err="1" smtClean="0">
                <a:solidFill>
                  <a:schemeClr val="tx1"/>
                </a:solidFill>
              </a:rPr>
              <a:t>my_addr,int</a:t>
            </a:r>
            <a:r>
              <a:rPr lang="en-GB" sz="2800" dirty="0" smtClean="0">
                <a:solidFill>
                  <a:schemeClr val="tx1"/>
                </a:solidFill>
              </a:rPr>
              <a:t> </a:t>
            </a:r>
            <a:r>
              <a:rPr lang="en-GB" sz="2800" dirty="0" err="1" smtClean="0">
                <a:solidFill>
                  <a:schemeClr val="tx1"/>
                </a:solidFill>
              </a:rPr>
              <a:t>addrlen</a:t>
            </a:r>
            <a:r>
              <a:rPr lang="en-GB" sz="2800" dirty="0" smtClean="0">
                <a:solidFill>
                  <a:schemeClr val="tx1"/>
                </a:solidFill>
              </a:rPr>
              <a:t>) − The bind function assigns a local protocol address to a socket. This call returns 0 if it successfully binds to the address,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listen(</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backlog) − The listen function is called only by a TCP server to listen for the client request. This call returns 0 on success,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accept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a:t>
            </a:r>
            <a:r>
              <a:rPr lang="en-GB" sz="2800" dirty="0" err="1" smtClean="0">
                <a:solidFill>
                  <a:schemeClr val="tx1"/>
                </a:solidFill>
              </a:rPr>
              <a:t>cliaddr</a:t>
            </a:r>
            <a:r>
              <a:rPr lang="en-GB" sz="2800" dirty="0" smtClean="0">
                <a:solidFill>
                  <a:schemeClr val="tx1"/>
                </a:solidFill>
              </a:rPr>
              <a:t>, </a:t>
            </a:r>
            <a:r>
              <a:rPr lang="en-GB" sz="2800" dirty="0" err="1" smtClean="0">
                <a:solidFill>
                  <a:schemeClr val="tx1"/>
                </a:solidFill>
              </a:rPr>
              <a:t>socklen_t</a:t>
            </a:r>
            <a:r>
              <a:rPr lang="en-GB" sz="2800" dirty="0" smtClean="0">
                <a:solidFill>
                  <a:schemeClr val="tx1"/>
                </a:solidFill>
              </a:rPr>
              <a:t> *</a:t>
            </a:r>
            <a:r>
              <a:rPr lang="en-GB" sz="2800" dirty="0" err="1" smtClean="0">
                <a:solidFill>
                  <a:schemeClr val="tx1"/>
                </a:solidFill>
              </a:rPr>
              <a:t>addrlen</a:t>
            </a:r>
            <a:r>
              <a:rPr lang="en-GB" sz="2800" dirty="0" smtClean="0">
                <a:solidFill>
                  <a:schemeClr val="tx1"/>
                </a:solidFill>
              </a:rPr>
              <a:t>) − The accept function is called by a TCP server to accept client requests and to establish actual connection. This call returns a non-negative descriptor on success,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send(</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const void *</a:t>
            </a:r>
            <a:r>
              <a:rPr lang="en-GB" sz="2800" dirty="0" err="1" smtClean="0">
                <a:solidFill>
                  <a:schemeClr val="tx1"/>
                </a:solidFill>
              </a:rPr>
              <a:t>msg</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len</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flags) − The send function is used to send data over stream sockets or CONNECTED datagram sockets. This call returns the number of bytes sent out,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recv</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void *</a:t>
            </a:r>
            <a:r>
              <a:rPr lang="en-GB" sz="2800" dirty="0" err="1" smtClean="0">
                <a:solidFill>
                  <a:schemeClr val="tx1"/>
                </a:solidFill>
              </a:rPr>
              <a:t>buf</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len</a:t>
            </a:r>
            <a:r>
              <a:rPr lang="en-GB" sz="2800" dirty="0" smtClean="0">
                <a:solidFill>
                  <a:schemeClr val="tx1"/>
                </a:solidFill>
              </a:rPr>
              <a:t>, unsigned </a:t>
            </a:r>
            <a:r>
              <a:rPr lang="en-GB" sz="2800" dirty="0" err="1" smtClean="0">
                <a:solidFill>
                  <a:schemeClr val="tx1"/>
                </a:solidFill>
              </a:rPr>
              <a:t>int</a:t>
            </a:r>
            <a:r>
              <a:rPr lang="en-GB" sz="2800" dirty="0" smtClean="0">
                <a:solidFill>
                  <a:schemeClr val="tx1"/>
                </a:solidFill>
              </a:rPr>
              <a:t> flags) − The </a:t>
            </a:r>
            <a:r>
              <a:rPr lang="en-GB" sz="2800" dirty="0" err="1" smtClean="0">
                <a:solidFill>
                  <a:schemeClr val="tx1"/>
                </a:solidFill>
              </a:rPr>
              <a:t>recv</a:t>
            </a:r>
            <a:r>
              <a:rPr lang="en-GB" sz="2800" dirty="0" smtClean="0">
                <a:solidFill>
                  <a:schemeClr val="tx1"/>
                </a:solidFill>
              </a:rPr>
              <a:t> function is used to receive data over stream sockets or CONNECTED datagram sockets. This call returns the number of bytes read into the buffer, otherwise it returns -1 on error.</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sendto</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const void *</a:t>
            </a:r>
            <a:r>
              <a:rPr lang="en-GB" sz="2800" dirty="0" err="1" smtClean="0">
                <a:solidFill>
                  <a:schemeClr val="tx1"/>
                </a:solidFill>
              </a:rPr>
              <a:t>msg</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len</a:t>
            </a:r>
            <a:r>
              <a:rPr lang="en-GB" sz="2800" dirty="0" smtClean="0">
                <a:solidFill>
                  <a:schemeClr val="tx1"/>
                </a:solidFill>
              </a:rPr>
              <a:t>, unsigned </a:t>
            </a:r>
            <a:r>
              <a:rPr lang="en-GB" sz="2800" dirty="0" err="1" smtClean="0">
                <a:solidFill>
                  <a:schemeClr val="tx1"/>
                </a:solidFill>
              </a:rPr>
              <a:t>int</a:t>
            </a:r>
            <a:r>
              <a:rPr lang="en-GB" sz="2800" dirty="0" smtClean="0">
                <a:solidFill>
                  <a:schemeClr val="tx1"/>
                </a:solidFill>
              </a:rPr>
              <a:t> flags, const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*to,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tolen</a:t>
            </a:r>
            <a:r>
              <a:rPr lang="en-GB" sz="2800" dirty="0" smtClean="0">
                <a:solidFill>
                  <a:schemeClr val="tx1"/>
                </a:solidFill>
              </a:rPr>
              <a:t>) − The </a:t>
            </a:r>
            <a:r>
              <a:rPr lang="en-GB" sz="2800" dirty="0" err="1" smtClean="0">
                <a:solidFill>
                  <a:schemeClr val="tx1"/>
                </a:solidFill>
              </a:rPr>
              <a:t>sendto</a:t>
            </a:r>
            <a:r>
              <a:rPr lang="en-GB" sz="2800" dirty="0" smtClean="0">
                <a:solidFill>
                  <a:schemeClr val="tx1"/>
                </a:solidFill>
              </a:rPr>
              <a:t> function is used to send data over UNCONNECTED datagram sockets. This call returns the number of bytes sent, otherwise it returns -1 on error.</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recvfrom</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void *</a:t>
            </a:r>
            <a:r>
              <a:rPr lang="en-GB" sz="2800" dirty="0" err="1" smtClean="0">
                <a:solidFill>
                  <a:schemeClr val="tx1"/>
                </a:solidFill>
              </a:rPr>
              <a:t>buf</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len</a:t>
            </a:r>
            <a:r>
              <a:rPr lang="en-GB" sz="2800" dirty="0" smtClean="0">
                <a:solidFill>
                  <a:schemeClr val="tx1"/>
                </a:solidFill>
              </a:rPr>
              <a:t>, unsigned </a:t>
            </a:r>
            <a:r>
              <a:rPr lang="en-GB" sz="2800" dirty="0" err="1" smtClean="0">
                <a:solidFill>
                  <a:schemeClr val="tx1"/>
                </a:solidFill>
              </a:rPr>
              <a:t>int</a:t>
            </a:r>
            <a:r>
              <a:rPr lang="en-GB" sz="2800" dirty="0" smtClean="0">
                <a:solidFill>
                  <a:schemeClr val="tx1"/>
                </a:solidFill>
              </a:rPr>
              <a:t> flags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sockaddr</a:t>
            </a:r>
            <a:r>
              <a:rPr lang="en-GB" sz="2800" dirty="0" smtClean="0">
                <a:solidFill>
                  <a:schemeClr val="tx1"/>
                </a:solidFill>
              </a:rPr>
              <a:t> *from,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fromlen</a:t>
            </a:r>
            <a:r>
              <a:rPr lang="en-GB" sz="2800" dirty="0" smtClean="0">
                <a:solidFill>
                  <a:schemeClr val="tx1"/>
                </a:solidFill>
              </a:rPr>
              <a:t>) − The </a:t>
            </a:r>
            <a:r>
              <a:rPr lang="en-GB" sz="2800" dirty="0" err="1" smtClean="0">
                <a:solidFill>
                  <a:schemeClr val="tx1"/>
                </a:solidFill>
              </a:rPr>
              <a:t>recvfrom</a:t>
            </a:r>
            <a:r>
              <a:rPr lang="en-GB" sz="2800" dirty="0" smtClean="0">
                <a:solidFill>
                  <a:schemeClr val="tx1"/>
                </a:solidFill>
              </a:rPr>
              <a:t> function is used to receive data from UNCONNECTED datagram sockets. This call returns the number of bytes read into the buffer, otherwise it returns -1 on error.</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close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 The close function is used to close a communication between the client and the server. This call returns 0 on success, otherwise it returns -1.</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shutdown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sockfd</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how) − The shutdown function is used to gracefully close a communication between the client and the server. This function gives more control in comparison to close function. It returns 0 on success, -1 otherwise.</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select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nfds</a:t>
            </a:r>
            <a:r>
              <a:rPr lang="en-GB" sz="2800" dirty="0" smtClean="0">
                <a:solidFill>
                  <a:schemeClr val="tx1"/>
                </a:solidFill>
              </a:rPr>
              <a:t>, </a:t>
            </a:r>
            <a:r>
              <a:rPr lang="en-GB" sz="2800" dirty="0" err="1" smtClean="0">
                <a:solidFill>
                  <a:schemeClr val="tx1"/>
                </a:solidFill>
              </a:rPr>
              <a:t>fd_set</a:t>
            </a:r>
            <a:r>
              <a:rPr lang="en-GB" sz="2800" dirty="0" smtClean="0">
                <a:solidFill>
                  <a:schemeClr val="tx1"/>
                </a:solidFill>
              </a:rPr>
              <a:t> *</a:t>
            </a:r>
            <a:r>
              <a:rPr lang="en-GB" sz="2800" dirty="0" err="1" smtClean="0">
                <a:solidFill>
                  <a:schemeClr val="tx1"/>
                </a:solidFill>
              </a:rPr>
              <a:t>readfds</a:t>
            </a:r>
            <a:r>
              <a:rPr lang="en-GB" sz="2800" dirty="0" smtClean="0">
                <a:solidFill>
                  <a:schemeClr val="tx1"/>
                </a:solidFill>
              </a:rPr>
              <a:t>, </a:t>
            </a:r>
            <a:r>
              <a:rPr lang="en-GB" sz="2800" dirty="0" err="1" smtClean="0">
                <a:solidFill>
                  <a:schemeClr val="tx1"/>
                </a:solidFill>
              </a:rPr>
              <a:t>fd_set</a:t>
            </a:r>
            <a:r>
              <a:rPr lang="en-GB" sz="2800" dirty="0" smtClean="0">
                <a:solidFill>
                  <a:schemeClr val="tx1"/>
                </a:solidFill>
              </a:rPr>
              <a:t> *</a:t>
            </a:r>
            <a:r>
              <a:rPr lang="en-GB" sz="2800" dirty="0" err="1" smtClean="0">
                <a:solidFill>
                  <a:schemeClr val="tx1"/>
                </a:solidFill>
              </a:rPr>
              <a:t>writefds</a:t>
            </a:r>
            <a:r>
              <a:rPr lang="en-GB" sz="2800" dirty="0" smtClean="0">
                <a:solidFill>
                  <a:schemeClr val="tx1"/>
                </a:solidFill>
              </a:rPr>
              <a:t>, </a:t>
            </a:r>
            <a:r>
              <a:rPr lang="en-GB" sz="2800" dirty="0" err="1" smtClean="0">
                <a:solidFill>
                  <a:schemeClr val="tx1"/>
                </a:solidFill>
              </a:rPr>
              <a:t>fd_set</a:t>
            </a:r>
            <a:r>
              <a:rPr lang="en-GB" sz="2800" dirty="0" smtClean="0">
                <a:solidFill>
                  <a:schemeClr val="tx1"/>
                </a:solidFill>
              </a:rPr>
              <a:t> *</a:t>
            </a:r>
            <a:r>
              <a:rPr lang="en-GB" sz="2800" dirty="0" err="1" smtClean="0">
                <a:solidFill>
                  <a:schemeClr val="tx1"/>
                </a:solidFill>
              </a:rPr>
              <a:t>errorfds</a:t>
            </a:r>
            <a:r>
              <a:rPr lang="en-GB" sz="2800" dirty="0" smtClean="0">
                <a:solidFill>
                  <a:schemeClr val="tx1"/>
                </a:solidFill>
              </a:rPr>
              <a:t>, </a:t>
            </a:r>
            <a:r>
              <a:rPr lang="en-GB" sz="2800" dirty="0" err="1" smtClean="0">
                <a:solidFill>
                  <a:schemeClr val="tx1"/>
                </a:solidFill>
              </a:rPr>
              <a:t>struct</a:t>
            </a:r>
            <a:r>
              <a:rPr lang="en-GB" sz="2800" dirty="0" smtClean="0">
                <a:solidFill>
                  <a:schemeClr val="tx1"/>
                </a:solidFill>
              </a:rPr>
              <a:t> </a:t>
            </a:r>
            <a:r>
              <a:rPr lang="en-GB" sz="2800" dirty="0" err="1" smtClean="0">
                <a:solidFill>
                  <a:schemeClr val="tx1"/>
                </a:solidFill>
              </a:rPr>
              <a:t>timeval</a:t>
            </a:r>
            <a:r>
              <a:rPr lang="en-GB" sz="2800" dirty="0" smtClean="0">
                <a:solidFill>
                  <a:schemeClr val="tx1"/>
                </a:solidFill>
              </a:rPr>
              <a:t> *timeout) − This function is used to read or write multiple sockets.</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Socket Helper Functions</a:t>
            </a:r>
          </a:p>
          <a:p>
            <a:pPr algn="l">
              <a:spcBef>
                <a:spcPts val="0"/>
              </a:spcBef>
            </a:pPr>
            <a:r>
              <a:rPr lang="en-GB" sz="2800" dirty="0" err="1" smtClean="0">
                <a:solidFill>
                  <a:schemeClr val="tx1"/>
                </a:solidFill>
              </a:rPr>
              <a:t>int</a:t>
            </a:r>
            <a:r>
              <a:rPr lang="en-GB" sz="2800" dirty="0" smtClean="0">
                <a:solidFill>
                  <a:schemeClr val="tx1"/>
                </a:solidFill>
              </a:rPr>
              <a:t> write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fildes</a:t>
            </a:r>
            <a:r>
              <a:rPr lang="en-GB" sz="2800" dirty="0" smtClean="0">
                <a:solidFill>
                  <a:schemeClr val="tx1"/>
                </a:solidFill>
              </a:rPr>
              <a:t>, const void *</a:t>
            </a:r>
            <a:r>
              <a:rPr lang="en-GB" sz="2800" dirty="0" err="1" smtClean="0">
                <a:solidFill>
                  <a:schemeClr val="tx1"/>
                </a:solidFill>
              </a:rPr>
              <a:t>buf</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write function attempts to write </a:t>
            </a:r>
            <a:r>
              <a:rPr lang="en-GB" sz="2800" dirty="0" err="1" smtClean="0">
                <a:solidFill>
                  <a:schemeClr val="tx1"/>
                </a:solidFill>
              </a:rPr>
              <a:t>nbyte</a:t>
            </a:r>
            <a:r>
              <a:rPr lang="en-GB" sz="2800" dirty="0" smtClean="0">
                <a:solidFill>
                  <a:schemeClr val="tx1"/>
                </a:solidFill>
              </a:rPr>
              <a:t> bytes from the buffer pointed to by </a:t>
            </a:r>
            <a:r>
              <a:rPr lang="en-GB" sz="2800" dirty="0" err="1" smtClean="0">
                <a:solidFill>
                  <a:schemeClr val="tx1"/>
                </a:solidFill>
              </a:rPr>
              <a:t>buf</a:t>
            </a:r>
            <a:r>
              <a:rPr lang="en-GB" sz="2800" dirty="0" smtClean="0">
                <a:solidFill>
                  <a:schemeClr val="tx1"/>
                </a:solidFill>
              </a:rPr>
              <a:t> to the file associated with the open file descriptor, </a:t>
            </a:r>
            <a:r>
              <a:rPr lang="en-GB" sz="2800" dirty="0" err="1" smtClean="0">
                <a:solidFill>
                  <a:schemeClr val="tx1"/>
                </a:solidFill>
              </a:rPr>
              <a:t>fildes</a:t>
            </a:r>
            <a:r>
              <a:rPr lang="en-GB" sz="2800" dirty="0" smtClean="0">
                <a:solidFill>
                  <a:schemeClr val="tx1"/>
                </a:solidFill>
              </a:rPr>
              <a:t>. Upon successful completion, write() returns the number of bytes actually written to the file associated with </a:t>
            </a:r>
            <a:r>
              <a:rPr lang="en-GB" sz="2800" dirty="0" err="1" smtClean="0">
                <a:solidFill>
                  <a:schemeClr val="tx1"/>
                </a:solidFill>
              </a:rPr>
              <a:t>fildes</a:t>
            </a:r>
            <a:r>
              <a:rPr lang="en-GB" sz="2800" dirty="0" smtClean="0">
                <a:solidFill>
                  <a:schemeClr val="tx1"/>
                </a:solidFill>
              </a:rPr>
              <a:t>. This number is never greater than </a:t>
            </a:r>
            <a:r>
              <a:rPr lang="en-GB" sz="2800" dirty="0" err="1" smtClean="0">
                <a:solidFill>
                  <a:schemeClr val="tx1"/>
                </a:solidFill>
              </a:rPr>
              <a:t>nbyte</a:t>
            </a:r>
            <a:r>
              <a:rPr lang="en-GB" sz="2800" dirty="0" smtClean="0">
                <a:solidFill>
                  <a:schemeClr val="tx1"/>
                </a:solidFill>
              </a:rPr>
              <a:t>. Otherwise, -1 is returned.</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read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fildes</a:t>
            </a:r>
            <a:r>
              <a:rPr lang="en-GB" sz="2800" dirty="0" smtClean="0">
                <a:solidFill>
                  <a:schemeClr val="tx1"/>
                </a:solidFill>
              </a:rPr>
              <a:t>, const void *</a:t>
            </a:r>
            <a:r>
              <a:rPr lang="en-GB" sz="2800" dirty="0" err="1" smtClean="0">
                <a:solidFill>
                  <a:schemeClr val="tx1"/>
                </a:solidFill>
              </a:rPr>
              <a:t>buf</a:t>
            </a:r>
            <a:r>
              <a:rPr lang="en-GB" sz="2800" dirty="0" smtClean="0">
                <a:solidFill>
                  <a:schemeClr val="tx1"/>
                </a:solidFill>
              </a:rPr>
              <a:t>,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read function attempts to read </a:t>
            </a:r>
            <a:r>
              <a:rPr lang="en-GB" sz="2800" dirty="0" err="1" smtClean="0">
                <a:solidFill>
                  <a:schemeClr val="tx1"/>
                </a:solidFill>
              </a:rPr>
              <a:t>nbyte</a:t>
            </a:r>
            <a:r>
              <a:rPr lang="en-GB" sz="2800" dirty="0" smtClean="0">
                <a:solidFill>
                  <a:schemeClr val="tx1"/>
                </a:solidFill>
              </a:rPr>
              <a:t> bytes from the file associated with the open file descriptor, </a:t>
            </a:r>
            <a:r>
              <a:rPr lang="en-GB" sz="2800" dirty="0" err="1" smtClean="0">
                <a:solidFill>
                  <a:schemeClr val="tx1"/>
                </a:solidFill>
              </a:rPr>
              <a:t>fildes</a:t>
            </a:r>
            <a:r>
              <a:rPr lang="en-GB" sz="2800" dirty="0" smtClean="0">
                <a:solidFill>
                  <a:schemeClr val="tx1"/>
                </a:solidFill>
              </a:rPr>
              <a:t>, into the buffer pointed to by </a:t>
            </a:r>
            <a:r>
              <a:rPr lang="en-GB" sz="2800" dirty="0" err="1" smtClean="0">
                <a:solidFill>
                  <a:schemeClr val="tx1"/>
                </a:solidFill>
              </a:rPr>
              <a:t>buf</a:t>
            </a:r>
            <a:r>
              <a:rPr lang="en-GB" sz="2800" dirty="0" smtClean="0">
                <a:solidFill>
                  <a:schemeClr val="tx1"/>
                </a:solidFill>
              </a:rPr>
              <a:t>. Upon successful completion, write() returns the number of bytes actually written to the file associated with </a:t>
            </a:r>
            <a:r>
              <a:rPr lang="en-GB" sz="2800" dirty="0" err="1" smtClean="0">
                <a:solidFill>
                  <a:schemeClr val="tx1"/>
                </a:solidFill>
              </a:rPr>
              <a:t>fildes</a:t>
            </a:r>
            <a:r>
              <a:rPr lang="en-GB" sz="2800" dirty="0" smtClean="0">
                <a:solidFill>
                  <a:schemeClr val="tx1"/>
                </a:solidFill>
              </a:rPr>
              <a:t>. This number is never greater than </a:t>
            </a:r>
            <a:r>
              <a:rPr lang="en-GB" sz="2800" dirty="0" err="1" smtClean="0">
                <a:solidFill>
                  <a:schemeClr val="tx1"/>
                </a:solidFill>
              </a:rPr>
              <a:t>nbyte</a:t>
            </a:r>
            <a:r>
              <a:rPr lang="en-GB" sz="2800" dirty="0" smtClean="0">
                <a:solidFill>
                  <a:schemeClr val="tx1"/>
                </a:solidFill>
              </a:rPr>
              <a:t>. Otherwise, -1 is returned.</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fork (void) − The fork function creates a new process. The new process, called the child process, will be an exact copy of the calling process (parent process).</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void </a:t>
            </a:r>
            <a:r>
              <a:rPr lang="en-GB" sz="2800" dirty="0" err="1" smtClean="0">
                <a:solidFill>
                  <a:schemeClr val="tx1"/>
                </a:solidFill>
              </a:rPr>
              <a:t>bzero</a:t>
            </a:r>
            <a:r>
              <a:rPr lang="en-GB" sz="2800" dirty="0" smtClean="0">
                <a:solidFill>
                  <a:schemeClr val="tx1"/>
                </a:solidFill>
              </a:rPr>
              <a:t> (void *s,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a:t>
            </a:r>
            <a:r>
              <a:rPr lang="en-GB" sz="2800" dirty="0" err="1" smtClean="0">
                <a:solidFill>
                  <a:schemeClr val="tx1"/>
                </a:solidFill>
              </a:rPr>
              <a:t>bzero</a:t>
            </a:r>
            <a:r>
              <a:rPr lang="en-GB" sz="2800" dirty="0" smtClean="0">
                <a:solidFill>
                  <a:schemeClr val="tx1"/>
                </a:solidFill>
              </a:rPr>
              <a:t> function places </a:t>
            </a:r>
            <a:r>
              <a:rPr lang="en-GB" sz="2800" dirty="0" err="1" smtClean="0">
                <a:solidFill>
                  <a:schemeClr val="tx1"/>
                </a:solidFill>
              </a:rPr>
              <a:t>nbyte</a:t>
            </a:r>
            <a:r>
              <a:rPr lang="en-GB" sz="2800" dirty="0" smtClean="0">
                <a:solidFill>
                  <a:schemeClr val="tx1"/>
                </a:solidFill>
              </a:rPr>
              <a:t> null bytes in the string s. This function will be used to set all the socket structures with null values.</a:t>
            </a:r>
          </a:p>
          <a:p>
            <a:pPr algn="l">
              <a:spcBef>
                <a:spcPts val="0"/>
              </a:spcBef>
            </a:pPr>
            <a:endParaRPr lang="en-GB" sz="2800" dirty="0" smtClean="0">
              <a:solidFill>
                <a:schemeClr val="tx1"/>
              </a:solidFill>
            </a:endParaRPr>
          </a:p>
          <a:p>
            <a:pPr algn="l">
              <a:spcBef>
                <a:spcPts val="0"/>
              </a:spcBef>
            </a:pP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bcmp</a:t>
            </a:r>
            <a:r>
              <a:rPr lang="en-GB" sz="2800" dirty="0" smtClean="0">
                <a:solidFill>
                  <a:schemeClr val="tx1"/>
                </a:solidFill>
              </a:rPr>
              <a:t> (const void *s1, const void *s2,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a:t>
            </a:r>
            <a:r>
              <a:rPr lang="en-GB" sz="2800" dirty="0" err="1" smtClean="0">
                <a:solidFill>
                  <a:schemeClr val="tx1"/>
                </a:solidFill>
              </a:rPr>
              <a:t>bcmp</a:t>
            </a:r>
            <a:r>
              <a:rPr lang="en-GB" sz="2800" dirty="0" smtClean="0">
                <a:solidFill>
                  <a:schemeClr val="tx1"/>
                </a:solidFill>
              </a:rPr>
              <a:t> function compares the byte string s1 against the byte string s2. Both the strings are assumed to be </a:t>
            </a:r>
            <a:r>
              <a:rPr lang="en-GB" sz="2800" dirty="0" err="1" smtClean="0">
                <a:solidFill>
                  <a:schemeClr val="tx1"/>
                </a:solidFill>
              </a:rPr>
              <a:t>nbyte</a:t>
            </a:r>
            <a:r>
              <a:rPr lang="en-GB" sz="2800" dirty="0" smtClean="0">
                <a:solidFill>
                  <a:schemeClr val="tx1"/>
                </a:solidFill>
              </a:rPr>
              <a:t> bytes long.</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void </a:t>
            </a:r>
            <a:r>
              <a:rPr lang="en-GB" sz="2800" dirty="0" err="1" smtClean="0">
                <a:solidFill>
                  <a:schemeClr val="tx1"/>
                </a:solidFill>
              </a:rPr>
              <a:t>bcopy</a:t>
            </a:r>
            <a:r>
              <a:rPr lang="en-GB" sz="2800" dirty="0" smtClean="0">
                <a:solidFill>
                  <a:schemeClr val="tx1"/>
                </a:solidFill>
              </a:rPr>
              <a:t> (const void *s1, void *s2,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a:t>
            </a:r>
            <a:r>
              <a:rPr lang="en-GB" sz="2800" dirty="0" err="1" smtClean="0">
                <a:solidFill>
                  <a:schemeClr val="tx1"/>
                </a:solidFill>
              </a:rPr>
              <a:t>bcopy</a:t>
            </a:r>
            <a:r>
              <a:rPr lang="en-GB" sz="2800" dirty="0" smtClean="0">
                <a:solidFill>
                  <a:schemeClr val="tx1"/>
                </a:solidFill>
              </a:rPr>
              <a:t> function copies </a:t>
            </a:r>
            <a:r>
              <a:rPr lang="en-GB" sz="2800" dirty="0" err="1" smtClean="0">
                <a:solidFill>
                  <a:schemeClr val="tx1"/>
                </a:solidFill>
              </a:rPr>
              <a:t>nbyte</a:t>
            </a:r>
            <a:r>
              <a:rPr lang="en-GB" sz="2800" dirty="0" smtClean="0">
                <a:solidFill>
                  <a:schemeClr val="tx1"/>
                </a:solidFill>
              </a:rPr>
              <a:t> bytes from the string s1 to the string s2. Overlapping strings are handled correctly.</a:t>
            </a:r>
          </a:p>
          <a:p>
            <a:pPr algn="l">
              <a:spcBef>
                <a:spcPts val="0"/>
              </a:spcBef>
            </a:pPr>
            <a:endParaRPr lang="en-GB" sz="2800" dirty="0" smtClean="0">
              <a:solidFill>
                <a:schemeClr val="tx1"/>
              </a:solidFill>
            </a:endParaRPr>
          </a:p>
          <a:p>
            <a:pPr algn="l">
              <a:spcBef>
                <a:spcPts val="0"/>
              </a:spcBef>
            </a:pPr>
            <a:r>
              <a:rPr lang="en-GB" sz="2800" dirty="0" smtClean="0">
                <a:solidFill>
                  <a:schemeClr val="tx1"/>
                </a:solidFill>
              </a:rPr>
              <a:t>void *</a:t>
            </a:r>
            <a:r>
              <a:rPr lang="en-GB" sz="2800" dirty="0" err="1" smtClean="0">
                <a:solidFill>
                  <a:schemeClr val="tx1"/>
                </a:solidFill>
              </a:rPr>
              <a:t>memset</a:t>
            </a:r>
            <a:r>
              <a:rPr lang="en-GB" sz="2800" dirty="0" smtClean="0">
                <a:solidFill>
                  <a:schemeClr val="tx1"/>
                </a:solidFill>
              </a:rPr>
              <a:t>(void *s, </a:t>
            </a:r>
            <a:r>
              <a:rPr lang="en-GB" sz="2800" dirty="0" err="1" smtClean="0">
                <a:solidFill>
                  <a:schemeClr val="tx1"/>
                </a:solidFill>
              </a:rPr>
              <a:t>int</a:t>
            </a:r>
            <a:r>
              <a:rPr lang="en-GB" sz="2800" dirty="0" smtClean="0">
                <a:solidFill>
                  <a:schemeClr val="tx1"/>
                </a:solidFill>
              </a:rPr>
              <a:t> c, </a:t>
            </a:r>
            <a:r>
              <a:rPr lang="en-GB" sz="2800" dirty="0" err="1" smtClean="0">
                <a:solidFill>
                  <a:schemeClr val="tx1"/>
                </a:solidFill>
              </a:rPr>
              <a:t>int</a:t>
            </a:r>
            <a:r>
              <a:rPr lang="en-GB" sz="2800" dirty="0" smtClean="0">
                <a:solidFill>
                  <a:schemeClr val="tx1"/>
                </a:solidFill>
              </a:rPr>
              <a:t> </a:t>
            </a:r>
            <a:r>
              <a:rPr lang="en-GB" sz="2800" dirty="0" err="1" smtClean="0">
                <a:solidFill>
                  <a:schemeClr val="tx1"/>
                </a:solidFill>
              </a:rPr>
              <a:t>nbyte</a:t>
            </a:r>
            <a:r>
              <a:rPr lang="en-GB" sz="2800" dirty="0" smtClean="0">
                <a:solidFill>
                  <a:schemeClr val="tx1"/>
                </a:solidFill>
              </a:rPr>
              <a:t>) − The </a:t>
            </a:r>
            <a:r>
              <a:rPr lang="en-GB" sz="2800" dirty="0" err="1" smtClean="0">
                <a:solidFill>
                  <a:schemeClr val="tx1"/>
                </a:solidFill>
              </a:rPr>
              <a:t>memset</a:t>
            </a:r>
            <a:r>
              <a:rPr lang="en-GB" sz="2800" dirty="0" smtClean="0">
                <a:solidFill>
                  <a:schemeClr val="tx1"/>
                </a:solidFill>
              </a:rPr>
              <a:t> function is also used to set structure variables in the same way as </a:t>
            </a:r>
            <a:r>
              <a:rPr lang="en-GB" sz="2800" dirty="0" err="1" smtClean="0">
                <a:solidFill>
                  <a:schemeClr val="tx1"/>
                </a:solidFill>
              </a:rPr>
              <a:t>bzero</a:t>
            </a:r>
            <a:r>
              <a:rPr lang="en-GB" sz="2800" dirty="0" smtClean="0">
                <a:solidFill>
                  <a:schemeClr val="tx1"/>
                </a:solidFill>
              </a:rPr>
              <a:t>.</a:t>
            </a:r>
          </a:p>
          <a:p>
            <a:pPr algn="l">
              <a:spcBef>
                <a:spcPts val="0"/>
              </a:spcBef>
            </a:pPr>
            <a:endParaRPr lang="en-GB" sz="2800" dirty="0" smtClean="0">
              <a:solidFill>
                <a:schemeClr val="tx1"/>
              </a:solidFill>
            </a:endParaRPr>
          </a:p>
          <a:p>
            <a:pPr algn="l">
              <a:spcBef>
                <a:spcPts val="0"/>
              </a:spcBef>
            </a:pPr>
            <a:endParaRPr lang="en-GB" sz="2800" dirty="0">
              <a:solidFill>
                <a:schemeClr val="tx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04800" y="76200"/>
            <a:ext cx="8686800" cy="6248400"/>
          </a:xfrm>
        </p:spPr>
        <p:txBody>
          <a:bodyPr>
            <a:noAutofit/>
          </a:bodyPr>
          <a:lstStyle/>
          <a:p>
            <a:pPr>
              <a:spcBef>
                <a:spcPts val="0"/>
              </a:spcBef>
            </a:pPr>
            <a:r>
              <a:rPr lang="en-GB" sz="3600" b="1" dirty="0" smtClean="0">
                <a:solidFill>
                  <a:srgbClr val="FF0000"/>
                </a:solidFill>
              </a:rPr>
              <a:t>IP </a:t>
            </a:r>
            <a:r>
              <a:rPr lang="en-GB" sz="3600" b="1" dirty="0" smtClean="0">
                <a:solidFill>
                  <a:srgbClr val="FF0000"/>
                </a:solidFill>
              </a:rPr>
              <a:t>Address Functions</a:t>
            </a: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inet_aton</a:t>
            </a:r>
            <a:r>
              <a:rPr lang="en-GB" sz="2800" b="1" dirty="0" smtClean="0">
                <a:solidFill>
                  <a:srgbClr val="FF0000"/>
                </a:solidFill>
              </a:rPr>
              <a:t> (const char *</a:t>
            </a:r>
            <a:r>
              <a:rPr lang="en-GB" sz="2800" b="1" dirty="0" err="1" smtClean="0">
                <a:solidFill>
                  <a:srgbClr val="FF0000"/>
                </a:solidFill>
              </a:rPr>
              <a:t>strptr</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in_addr</a:t>
            </a:r>
            <a:r>
              <a:rPr lang="en-GB" sz="2800" b="1" dirty="0" smtClean="0">
                <a:solidFill>
                  <a:srgbClr val="FF0000"/>
                </a:solidFill>
              </a:rPr>
              <a:t> *</a:t>
            </a:r>
            <a:r>
              <a:rPr lang="en-GB" sz="2800" b="1" dirty="0" err="1" smtClean="0">
                <a:solidFill>
                  <a:srgbClr val="FF0000"/>
                </a:solidFill>
              </a:rPr>
              <a:t>addrptr</a:t>
            </a:r>
            <a:r>
              <a:rPr lang="en-GB" sz="2800" b="1" dirty="0" smtClean="0">
                <a:solidFill>
                  <a:srgbClr val="FF0000"/>
                </a:solidFill>
              </a:rPr>
              <a:t>)</a:t>
            </a:r>
            <a:r>
              <a:rPr lang="en-GB" sz="2800" dirty="0" smtClean="0">
                <a:solidFill>
                  <a:schemeClr val="tx1"/>
                </a:solidFill>
              </a:rPr>
              <a:t> − </a:t>
            </a:r>
            <a:r>
              <a:rPr lang="en-GB" sz="2800" dirty="0" smtClean="0">
                <a:solidFill>
                  <a:schemeClr val="tx1"/>
                </a:solidFill>
              </a:rPr>
              <a:t>converts </a:t>
            </a:r>
            <a:r>
              <a:rPr lang="en-GB" sz="2800" dirty="0" smtClean="0">
                <a:solidFill>
                  <a:schemeClr val="tx1"/>
                </a:solidFill>
              </a:rPr>
              <a:t>the specified string, in the Internet standard dot notation, to a network address, and stores the address in the structure provided. </a:t>
            </a:r>
            <a:endParaRPr lang="en-GB" sz="2800" dirty="0" smtClean="0">
              <a:solidFill>
                <a:schemeClr val="tx1"/>
              </a:solidFill>
            </a:endParaRPr>
          </a:p>
          <a:p>
            <a:pPr algn="l">
              <a:spcBef>
                <a:spcPts val="0"/>
              </a:spcBef>
            </a:pPr>
            <a:r>
              <a:rPr lang="en-GB" sz="2800" dirty="0" smtClean="0">
                <a:solidFill>
                  <a:schemeClr val="tx1"/>
                </a:solidFill>
              </a:rPr>
              <a:t>It </a:t>
            </a:r>
            <a:r>
              <a:rPr lang="en-GB" sz="2800" dirty="0" smtClean="0">
                <a:solidFill>
                  <a:schemeClr val="tx1"/>
                </a:solidFill>
              </a:rPr>
              <a:t>returns 1 if the string is valid and 0 on error</a:t>
            </a:r>
            <a:r>
              <a:rPr lang="en-GB" sz="2800" dirty="0" smtClean="0">
                <a:solidFill>
                  <a:schemeClr val="tx1"/>
                </a:solidFill>
              </a:rPr>
              <a:t>.</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in_addr_t</a:t>
            </a:r>
            <a:r>
              <a:rPr lang="en-GB" sz="2800" b="1" dirty="0" smtClean="0">
                <a:solidFill>
                  <a:srgbClr val="FF0000"/>
                </a:solidFill>
              </a:rPr>
              <a:t> </a:t>
            </a:r>
            <a:r>
              <a:rPr lang="en-GB" sz="2800" b="1" dirty="0" err="1" smtClean="0">
                <a:solidFill>
                  <a:srgbClr val="FF0000"/>
                </a:solidFill>
              </a:rPr>
              <a:t>inet_addr</a:t>
            </a:r>
            <a:r>
              <a:rPr lang="en-GB" sz="2800" b="1" dirty="0" smtClean="0">
                <a:solidFill>
                  <a:srgbClr val="FF0000"/>
                </a:solidFill>
              </a:rPr>
              <a:t> (const char *</a:t>
            </a:r>
            <a:r>
              <a:rPr lang="en-GB" sz="2800" b="1" dirty="0" err="1" smtClean="0">
                <a:solidFill>
                  <a:srgbClr val="FF0000"/>
                </a:solidFill>
              </a:rPr>
              <a:t>strptr</a:t>
            </a:r>
            <a:r>
              <a:rPr lang="en-GB" sz="2800" b="1" dirty="0" smtClean="0">
                <a:solidFill>
                  <a:srgbClr val="FF0000"/>
                </a:solidFill>
              </a:rPr>
              <a:t>)</a:t>
            </a:r>
            <a:r>
              <a:rPr lang="en-GB" sz="2800" dirty="0" smtClean="0">
                <a:solidFill>
                  <a:schemeClr val="tx1"/>
                </a:solidFill>
              </a:rPr>
              <a:t> − </a:t>
            </a:r>
            <a:endParaRPr lang="en-GB" sz="2800" dirty="0" smtClean="0">
              <a:solidFill>
                <a:schemeClr val="tx1"/>
              </a:solidFill>
            </a:endParaRPr>
          </a:p>
          <a:p>
            <a:pPr algn="l">
              <a:spcBef>
                <a:spcPts val="0"/>
              </a:spcBef>
            </a:pPr>
            <a:r>
              <a:rPr lang="en-GB" sz="2800" dirty="0" smtClean="0">
                <a:solidFill>
                  <a:schemeClr val="tx1"/>
                </a:solidFill>
              </a:rPr>
              <a:t>converts </a:t>
            </a:r>
            <a:r>
              <a:rPr lang="en-GB" sz="2800" dirty="0" smtClean="0">
                <a:solidFill>
                  <a:schemeClr val="tx1"/>
                </a:solidFill>
              </a:rPr>
              <a:t>the specified string, in the Internet standard dot notation, to an integer value suitable for use as an Internet address</a:t>
            </a:r>
            <a:r>
              <a:rPr lang="en-GB" sz="2800" dirty="0" smtClean="0">
                <a:solidFill>
                  <a:schemeClr val="tx1"/>
                </a:solidFill>
              </a:rPr>
              <a:t>. </a:t>
            </a:r>
            <a:r>
              <a:rPr lang="en-GB" sz="2800" dirty="0" smtClean="0">
                <a:solidFill>
                  <a:schemeClr val="tx1"/>
                </a:solidFill>
              </a:rPr>
              <a:t>It returns a 32-bit binary network byte ordered IPv4 address and INADDR_NONE on error</a:t>
            </a:r>
            <a:r>
              <a:rPr lang="en-GB" sz="2800" dirty="0" smtClean="0">
                <a:solidFill>
                  <a:schemeClr val="tx1"/>
                </a:solidFill>
              </a:rPr>
              <a:t>.</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char *</a:t>
            </a:r>
            <a:r>
              <a:rPr lang="en-GB" sz="2800" b="1" dirty="0" err="1" smtClean="0">
                <a:solidFill>
                  <a:srgbClr val="FF0000"/>
                </a:solidFill>
              </a:rPr>
              <a:t>inet_ntoa</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in_addr</a:t>
            </a:r>
            <a:r>
              <a:rPr lang="en-GB" sz="2800" b="1" dirty="0" smtClean="0">
                <a:solidFill>
                  <a:srgbClr val="FF0000"/>
                </a:solidFill>
              </a:rPr>
              <a:t> </a:t>
            </a:r>
            <a:r>
              <a:rPr lang="en-GB" sz="2800" b="1" dirty="0" err="1" smtClean="0">
                <a:solidFill>
                  <a:srgbClr val="FF0000"/>
                </a:solidFill>
              </a:rPr>
              <a:t>inaddr</a:t>
            </a:r>
            <a:r>
              <a:rPr lang="en-GB" sz="2800" b="1" dirty="0" smtClean="0">
                <a:solidFill>
                  <a:srgbClr val="FF0000"/>
                </a:solidFill>
              </a:rPr>
              <a:t>)</a:t>
            </a:r>
            <a:r>
              <a:rPr lang="en-GB" sz="2800" dirty="0" smtClean="0">
                <a:solidFill>
                  <a:schemeClr val="tx1"/>
                </a:solidFill>
              </a:rPr>
              <a:t> − This function call converts the specified Internet host address to a string in the Internet standard dot notation.</a:t>
            </a:r>
          </a:p>
          <a:p>
            <a:pPr algn="l">
              <a:spcBef>
                <a:spcPts val="0"/>
              </a:spcBef>
            </a:pPr>
            <a:endParaRPr lang="en-GB" sz="2800" dirty="0" smtClean="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7630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Core Functions</a:t>
            </a:r>
          </a:p>
          <a:p>
            <a:pPr algn="l">
              <a:spcBef>
                <a:spcPts val="0"/>
              </a:spcBef>
            </a:pPr>
            <a:r>
              <a:rPr lang="en-GB" sz="2800" b="1" dirty="0" err="1" smtClean="0">
                <a:solidFill>
                  <a:srgbClr val="FF0000"/>
                </a:solidFill>
              </a:rPr>
              <a:t>int</a:t>
            </a:r>
            <a:r>
              <a:rPr lang="en-GB" sz="2800" b="1" dirty="0" smtClean="0">
                <a:solidFill>
                  <a:srgbClr val="FF0000"/>
                </a:solidFill>
              </a:rPr>
              <a:t> socket (</a:t>
            </a:r>
            <a:r>
              <a:rPr lang="en-GB" sz="2800" b="1" dirty="0" err="1" smtClean="0">
                <a:solidFill>
                  <a:srgbClr val="FF0000"/>
                </a:solidFill>
              </a:rPr>
              <a:t>int</a:t>
            </a:r>
            <a:r>
              <a:rPr lang="en-GB" sz="2800" b="1" dirty="0" smtClean="0">
                <a:solidFill>
                  <a:srgbClr val="FF0000"/>
                </a:solidFill>
              </a:rPr>
              <a:t> family, </a:t>
            </a:r>
            <a:r>
              <a:rPr lang="en-GB" sz="2800" b="1" dirty="0" err="1" smtClean="0">
                <a:solidFill>
                  <a:srgbClr val="FF0000"/>
                </a:solidFill>
              </a:rPr>
              <a:t>int</a:t>
            </a:r>
            <a:r>
              <a:rPr lang="en-GB" sz="2800" b="1" dirty="0" smtClean="0">
                <a:solidFill>
                  <a:srgbClr val="FF0000"/>
                </a:solidFill>
              </a:rPr>
              <a:t> type, </a:t>
            </a:r>
            <a:r>
              <a:rPr lang="en-GB" sz="2800" b="1" dirty="0" err="1" smtClean="0">
                <a:solidFill>
                  <a:srgbClr val="FF0000"/>
                </a:solidFill>
              </a:rPr>
              <a:t>int</a:t>
            </a:r>
            <a:r>
              <a:rPr lang="en-GB" sz="2800" b="1" dirty="0" smtClean="0">
                <a:solidFill>
                  <a:srgbClr val="FF0000"/>
                </a:solidFill>
              </a:rPr>
              <a:t> protocol</a:t>
            </a:r>
            <a:r>
              <a:rPr lang="en-GB" sz="2800" b="1" dirty="0" smtClean="0">
                <a:solidFill>
                  <a:srgbClr val="FF0000"/>
                </a:solidFill>
              </a:rPr>
              <a:t>)</a:t>
            </a:r>
            <a:r>
              <a:rPr lang="en-GB" sz="2800" dirty="0" smtClean="0">
                <a:solidFill>
                  <a:schemeClr val="tx1"/>
                </a:solidFill>
              </a:rPr>
              <a:t> −  returns a socket descriptor that you can use in later system calls or it gives you -1 on error.</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connect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a:t>
            </a:r>
            <a:r>
              <a:rPr lang="en-GB" sz="2800" b="1" dirty="0" err="1" smtClean="0">
                <a:solidFill>
                  <a:srgbClr val="FF0000"/>
                </a:solidFill>
              </a:rPr>
              <a:t>serv_addr</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addrlen</a:t>
            </a:r>
            <a:r>
              <a:rPr lang="en-GB" sz="2800" b="1" dirty="0" smtClean="0">
                <a:solidFill>
                  <a:srgbClr val="FF0000"/>
                </a:solidFill>
              </a:rPr>
              <a:t>)</a:t>
            </a:r>
            <a:r>
              <a:rPr lang="en-GB" sz="2800" dirty="0" smtClean="0">
                <a:solidFill>
                  <a:schemeClr val="tx1"/>
                </a:solidFill>
              </a:rPr>
              <a:t> −  is used by a TCP client to establish a connection with a TCP server. This call returns 0 if it successfully connects to the server, otherwise it returns -1.</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bind(</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a:t>
            </a:r>
            <a:r>
              <a:rPr lang="en-GB" sz="2800" b="1" dirty="0" err="1" smtClean="0">
                <a:solidFill>
                  <a:srgbClr val="FF0000"/>
                </a:solidFill>
              </a:rPr>
              <a:t>my_addr,int</a:t>
            </a:r>
            <a:r>
              <a:rPr lang="en-GB" sz="2800" b="1" dirty="0" smtClean="0">
                <a:solidFill>
                  <a:srgbClr val="FF0000"/>
                </a:solidFill>
              </a:rPr>
              <a:t> </a:t>
            </a:r>
            <a:r>
              <a:rPr lang="en-GB" sz="2800" b="1" dirty="0" err="1" smtClean="0">
                <a:solidFill>
                  <a:srgbClr val="FF0000"/>
                </a:solidFill>
              </a:rPr>
              <a:t>addrlen</a:t>
            </a:r>
            <a:r>
              <a:rPr lang="en-GB" sz="2800" b="1" dirty="0" smtClean="0">
                <a:solidFill>
                  <a:srgbClr val="FF0000"/>
                </a:solidFill>
              </a:rPr>
              <a:t>) </a:t>
            </a:r>
            <a:r>
              <a:rPr lang="en-GB" sz="2800" dirty="0" smtClean="0">
                <a:solidFill>
                  <a:schemeClr val="tx1"/>
                </a:solidFill>
              </a:rPr>
              <a:t>−  assigns a local protocol address to a socket. This call returns 0 if it successfully binds to the address, otherwise it returns -1.</a:t>
            </a:r>
            <a:endParaRPr lang="en-GB" sz="2800" dirty="0">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7630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Core Functions</a:t>
            </a: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smtClean="0">
                <a:solidFill>
                  <a:srgbClr val="FF0000"/>
                </a:solidFill>
              </a:rPr>
              <a:t>listen(</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backlog) </a:t>
            </a:r>
            <a:r>
              <a:rPr lang="en-GB" sz="2800" dirty="0" smtClean="0">
                <a:solidFill>
                  <a:schemeClr val="tx1"/>
                </a:solidFill>
              </a:rPr>
              <a:t>− </a:t>
            </a:r>
            <a:r>
              <a:rPr lang="en-GB" sz="2800" dirty="0" smtClean="0">
                <a:solidFill>
                  <a:schemeClr val="tx1"/>
                </a:solidFill>
              </a:rPr>
              <a:t> </a:t>
            </a:r>
            <a:r>
              <a:rPr lang="en-GB" sz="2800" dirty="0" smtClean="0">
                <a:solidFill>
                  <a:schemeClr val="tx1"/>
                </a:solidFill>
              </a:rPr>
              <a:t>is called only by a TCP server to listen for the client request. </a:t>
            </a:r>
            <a:r>
              <a:rPr lang="en-GB" sz="2800" dirty="0" smtClean="0">
                <a:solidFill>
                  <a:schemeClr val="tx1"/>
                </a:solidFill>
              </a:rPr>
              <a:t>It returns </a:t>
            </a:r>
            <a:r>
              <a:rPr lang="en-GB" sz="2800" dirty="0" smtClean="0">
                <a:solidFill>
                  <a:schemeClr val="tx1"/>
                </a:solidFill>
              </a:rPr>
              <a:t>0 on success, otherwise it returns -1.</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accept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a:t>
            </a:r>
            <a:r>
              <a:rPr lang="en-GB" sz="2800" b="1" dirty="0" err="1" smtClean="0">
                <a:solidFill>
                  <a:srgbClr val="FF0000"/>
                </a:solidFill>
              </a:rPr>
              <a:t>cliaddr</a:t>
            </a:r>
            <a:r>
              <a:rPr lang="en-GB" sz="2800" b="1" dirty="0" smtClean="0">
                <a:solidFill>
                  <a:srgbClr val="FF0000"/>
                </a:solidFill>
              </a:rPr>
              <a:t>, </a:t>
            </a:r>
            <a:r>
              <a:rPr lang="en-GB" sz="2800" b="1" dirty="0" err="1" smtClean="0">
                <a:solidFill>
                  <a:srgbClr val="FF0000"/>
                </a:solidFill>
              </a:rPr>
              <a:t>socklen_t</a:t>
            </a:r>
            <a:r>
              <a:rPr lang="en-GB" sz="2800" b="1" dirty="0" smtClean="0">
                <a:solidFill>
                  <a:srgbClr val="FF0000"/>
                </a:solidFill>
              </a:rPr>
              <a:t> *</a:t>
            </a:r>
            <a:r>
              <a:rPr lang="en-GB" sz="2800" b="1" dirty="0" err="1" smtClean="0">
                <a:solidFill>
                  <a:srgbClr val="FF0000"/>
                </a:solidFill>
              </a:rPr>
              <a:t>addrlen</a:t>
            </a:r>
            <a:r>
              <a:rPr lang="en-GB" sz="2800" b="1" dirty="0" smtClean="0">
                <a:solidFill>
                  <a:srgbClr val="FF0000"/>
                </a:solidFill>
              </a:rPr>
              <a:t>)</a:t>
            </a:r>
            <a:r>
              <a:rPr lang="en-GB" sz="2800" dirty="0" smtClean="0">
                <a:solidFill>
                  <a:schemeClr val="tx1"/>
                </a:solidFill>
              </a:rPr>
              <a:t> − </a:t>
            </a:r>
            <a:r>
              <a:rPr lang="en-GB" sz="2800" dirty="0" smtClean="0">
                <a:solidFill>
                  <a:schemeClr val="tx1"/>
                </a:solidFill>
              </a:rPr>
              <a:t>is </a:t>
            </a:r>
            <a:r>
              <a:rPr lang="en-GB" sz="2800" dirty="0" smtClean="0">
                <a:solidFill>
                  <a:schemeClr val="tx1"/>
                </a:solidFill>
              </a:rPr>
              <a:t>called by a TCP server to accept client requests and to establish actual connection. </a:t>
            </a:r>
            <a:r>
              <a:rPr lang="en-GB" sz="2800" dirty="0" smtClean="0">
                <a:solidFill>
                  <a:schemeClr val="tx1"/>
                </a:solidFill>
              </a:rPr>
              <a:t>It returns </a:t>
            </a:r>
            <a:r>
              <a:rPr lang="en-GB" sz="2800" dirty="0" smtClean="0">
                <a:solidFill>
                  <a:schemeClr val="tx1"/>
                </a:solidFill>
              </a:rPr>
              <a:t>a non-negative descriptor on success, otherwise it returns -1.</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send(</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const void *</a:t>
            </a:r>
            <a:r>
              <a:rPr lang="en-GB" sz="2800" b="1" dirty="0" err="1" smtClean="0">
                <a:solidFill>
                  <a:srgbClr val="FF0000"/>
                </a:solidFill>
              </a:rPr>
              <a:t>msg</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len</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flags) − </a:t>
            </a:r>
            <a:r>
              <a:rPr lang="en-GB" sz="2800" dirty="0" smtClean="0">
                <a:solidFill>
                  <a:schemeClr val="tx1"/>
                </a:solidFill>
              </a:rPr>
              <a:t> </a:t>
            </a:r>
            <a:r>
              <a:rPr lang="en-GB" sz="2800" dirty="0" smtClean="0">
                <a:solidFill>
                  <a:schemeClr val="tx1"/>
                </a:solidFill>
              </a:rPr>
              <a:t>is used to send data over stream sockets or CONNECTED datagram sockets. </a:t>
            </a:r>
            <a:r>
              <a:rPr lang="en-GB" sz="2800" dirty="0" smtClean="0">
                <a:solidFill>
                  <a:schemeClr val="tx1"/>
                </a:solidFill>
              </a:rPr>
              <a:t>It returns </a:t>
            </a:r>
            <a:r>
              <a:rPr lang="en-GB" sz="2800" dirty="0" smtClean="0">
                <a:solidFill>
                  <a:schemeClr val="tx1"/>
                </a:solidFill>
              </a:rPr>
              <a:t>the number of bytes sent out, otherwise it returns -1</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Core </a:t>
            </a:r>
            <a:r>
              <a:rPr lang="en-GB" sz="3600" b="1" dirty="0" smtClean="0">
                <a:solidFill>
                  <a:srgbClr val="FF0000"/>
                </a:solidFill>
              </a:rPr>
              <a:t>Functions</a:t>
            </a:r>
          </a:p>
          <a:p>
            <a:pPr algn="l">
              <a:spcBef>
                <a:spcPts val="0"/>
              </a:spcBef>
            </a:pPr>
            <a:endParaRPr lang="en-GB" sz="2800" b="1" dirty="0" smtClean="0">
              <a:solidFill>
                <a:srgbClr val="FF0000"/>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recv</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void *</a:t>
            </a:r>
            <a:r>
              <a:rPr lang="en-GB" sz="2800" b="1" dirty="0" err="1" smtClean="0">
                <a:solidFill>
                  <a:srgbClr val="FF0000"/>
                </a:solidFill>
              </a:rPr>
              <a:t>buf</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len</a:t>
            </a:r>
            <a:r>
              <a:rPr lang="en-GB" sz="2800" b="1" dirty="0" smtClean="0">
                <a:solidFill>
                  <a:srgbClr val="FF0000"/>
                </a:solidFill>
              </a:rPr>
              <a:t>, unsigned </a:t>
            </a:r>
            <a:r>
              <a:rPr lang="en-GB" sz="2800" b="1" dirty="0" err="1" smtClean="0">
                <a:solidFill>
                  <a:srgbClr val="FF0000"/>
                </a:solidFill>
              </a:rPr>
              <a:t>int</a:t>
            </a:r>
            <a:r>
              <a:rPr lang="en-GB" sz="2800" b="1" dirty="0" smtClean="0">
                <a:solidFill>
                  <a:srgbClr val="FF0000"/>
                </a:solidFill>
              </a:rPr>
              <a:t> flags) − </a:t>
            </a:r>
            <a:r>
              <a:rPr lang="en-GB" sz="2800" dirty="0" smtClean="0">
                <a:solidFill>
                  <a:schemeClr val="tx1"/>
                </a:solidFill>
              </a:rPr>
              <a:t> is used to receive data over stream sockets or CONNECTED datagram sockets. It returns the number of bytes read into the buffer, otherwise it returns -1 on error.</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sendto</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const void *</a:t>
            </a:r>
            <a:r>
              <a:rPr lang="en-GB" sz="2800" b="1" dirty="0" err="1" smtClean="0">
                <a:solidFill>
                  <a:srgbClr val="FF0000"/>
                </a:solidFill>
              </a:rPr>
              <a:t>msg</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len</a:t>
            </a:r>
            <a:r>
              <a:rPr lang="en-GB" sz="2800" b="1" dirty="0" smtClean="0">
                <a:solidFill>
                  <a:srgbClr val="FF0000"/>
                </a:solidFill>
              </a:rPr>
              <a:t>, unsigned </a:t>
            </a:r>
            <a:r>
              <a:rPr lang="en-GB" sz="2800" b="1" dirty="0" err="1" smtClean="0">
                <a:solidFill>
                  <a:srgbClr val="FF0000"/>
                </a:solidFill>
              </a:rPr>
              <a:t>int</a:t>
            </a:r>
            <a:r>
              <a:rPr lang="en-GB" sz="2800" b="1" dirty="0" smtClean="0">
                <a:solidFill>
                  <a:srgbClr val="FF0000"/>
                </a:solidFill>
              </a:rPr>
              <a:t> flags, const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*to,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tolen</a:t>
            </a:r>
            <a:r>
              <a:rPr lang="en-GB" sz="2800" b="1" dirty="0" smtClean="0">
                <a:solidFill>
                  <a:srgbClr val="FF0000"/>
                </a:solidFill>
              </a:rPr>
              <a:t>) </a:t>
            </a:r>
            <a:r>
              <a:rPr lang="en-GB" sz="2800" dirty="0" smtClean="0">
                <a:solidFill>
                  <a:schemeClr val="tx1"/>
                </a:solidFill>
              </a:rPr>
              <a:t>− </a:t>
            </a:r>
            <a:r>
              <a:rPr lang="en-GB" sz="2800" dirty="0" smtClean="0">
                <a:solidFill>
                  <a:schemeClr val="tx1"/>
                </a:solidFill>
              </a:rPr>
              <a:t> </a:t>
            </a:r>
            <a:r>
              <a:rPr lang="en-GB" sz="2800" dirty="0" smtClean="0">
                <a:solidFill>
                  <a:schemeClr val="tx1"/>
                </a:solidFill>
              </a:rPr>
              <a:t>is used to send data over UNCONNECTED datagram sockets. This call returns the number of bytes sent, otherwise it returns -1 on error</a:t>
            </a:r>
            <a:r>
              <a:rPr lang="en-GB" sz="2800" dirty="0" smtClean="0">
                <a:solidFill>
                  <a:schemeClr val="tx1"/>
                </a:solidFill>
              </a:rPr>
              <a:t>.</a:t>
            </a:r>
            <a:endParaRPr lang="en-GB" sz="2800" dirty="0" smtClean="0">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Core </a:t>
            </a:r>
            <a:r>
              <a:rPr lang="en-GB" sz="3600" b="1" dirty="0" smtClean="0">
                <a:solidFill>
                  <a:srgbClr val="FF0000"/>
                </a:solidFill>
              </a:rPr>
              <a:t>Functions</a:t>
            </a:r>
          </a:p>
          <a:p>
            <a:pPr algn="l">
              <a:spcBef>
                <a:spcPts val="0"/>
              </a:spcBef>
            </a:pPr>
            <a:endParaRPr lang="en-GB" sz="2800" b="1" dirty="0" smtClean="0">
              <a:solidFill>
                <a:srgbClr val="FF0000"/>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recvfrom</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void *</a:t>
            </a:r>
            <a:r>
              <a:rPr lang="en-GB" sz="2800" b="1" dirty="0" err="1" smtClean="0">
                <a:solidFill>
                  <a:srgbClr val="FF0000"/>
                </a:solidFill>
              </a:rPr>
              <a:t>buf</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len</a:t>
            </a:r>
            <a:r>
              <a:rPr lang="en-GB" sz="2800" b="1" dirty="0" smtClean="0">
                <a:solidFill>
                  <a:srgbClr val="FF0000"/>
                </a:solidFill>
              </a:rPr>
              <a:t>, unsigned </a:t>
            </a:r>
            <a:r>
              <a:rPr lang="en-GB" sz="2800" b="1" dirty="0" err="1" smtClean="0">
                <a:solidFill>
                  <a:srgbClr val="FF0000"/>
                </a:solidFill>
              </a:rPr>
              <a:t>int</a:t>
            </a:r>
            <a:r>
              <a:rPr lang="en-GB" sz="2800" b="1" dirty="0" smtClean="0">
                <a:solidFill>
                  <a:srgbClr val="FF0000"/>
                </a:solidFill>
              </a:rPr>
              <a:t> flags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sockaddr</a:t>
            </a:r>
            <a:r>
              <a:rPr lang="en-GB" sz="2800" b="1" dirty="0" smtClean="0">
                <a:solidFill>
                  <a:srgbClr val="FF0000"/>
                </a:solidFill>
              </a:rPr>
              <a:t> *from,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fromlen</a:t>
            </a:r>
            <a:r>
              <a:rPr lang="en-GB" sz="2800" b="1" dirty="0" smtClean="0">
                <a:solidFill>
                  <a:srgbClr val="FF0000"/>
                </a:solidFill>
              </a:rPr>
              <a:t>) </a:t>
            </a:r>
            <a:r>
              <a:rPr lang="en-GB" sz="2800" dirty="0" smtClean="0">
                <a:solidFill>
                  <a:schemeClr val="tx1"/>
                </a:solidFill>
              </a:rPr>
              <a:t>− </a:t>
            </a:r>
            <a:r>
              <a:rPr lang="en-GB" sz="2800" dirty="0" smtClean="0">
                <a:solidFill>
                  <a:schemeClr val="tx1"/>
                </a:solidFill>
              </a:rPr>
              <a:t> </a:t>
            </a:r>
            <a:r>
              <a:rPr lang="en-GB" sz="2800" dirty="0" smtClean="0">
                <a:solidFill>
                  <a:schemeClr val="tx1"/>
                </a:solidFill>
              </a:rPr>
              <a:t>is used to receive data from UNCONNECTED datagram sockets. </a:t>
            </a:r>
            <a:r>
              <a:rPr lang="en-GB" sz="2800" dirty="0" smtClean="0">
                <a:solidFill>
                  <a:schemeClr val="tx1"/>
                </a:solidFill>
              </a:rPr>
              <a:t>returns </a:t>
            </a:r>
            <a:r>
              <a:rPr lang="en-GB" sz="2800" dirty="0" smtClean="0">
                <a:solidFill>
                  <a:schemeClr val="tx1"/>
                </a:solidFill>
              </a:rPr>
              <a:t>the number of bytes read into the buffer, otherwise it returns -1 on error.</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close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dirty="0" smtClean="0">
                <a:solidFill>
                  <a:schemeClr val="tx1"/>
                </a:solidFill>
              </a:rPr>
              <a:t>− </a:t>
            </a:r>
            <a:r>
              <a:rPr lang="en-GB" sz="2800" dirty="0" smtClean="0">
                <a:solidFill>
                  <a:schemeClr val="tx1"/>
                </a:solidFill>
              </a:rPr>
              <a:t> </a:t>
            </a:r>
            <a:r>
              <a:rPr lang="en-GB" sz="2800" dirty="0" smtClean="0">
                <a:solidFill>
                  <a:schemeClr val="tx1"/>
                </a:solidFill>
              </a:rPr>
              <a:t>is used to close a communication between the client and the server. </a:t>
            </a:r>
            <a:r>
              <a:rPr lang="en-GB" sz="2800" dirty="0" smtClean="0">
                <a:solidFill>
                  <a:schemeClr val="tx1"/>
                </a:solidFill>
              </a:rPr>
              <a:t>returns </a:t>
            </a:r>
            <a:r>
              <a:rPr lang="en-GB" sz="2800" dirty="0" smtClean="0">
                <a:solidFill>
                  <a:schemeClr val="tx1"/>
                </a:solidFill>
              </a:rPr>
              <a:t>0 on success, otherwise it returns -1</a:t>
            </a:r>
            <a:r>
              <a:rPr lang="en-GB" sz="2800" dirty="0" smtClean="0">
                <a:solidFill>
                  <a:schemeClr val="tx1"/>
                </a:solidFill>
              </a:rPr>
              <a:t>.</a:t>
            </a:r>
          </a:p>
          <a:p>
            <a:pPr algn="l">
              <a:spcBef>
                <a:spcPts val="0"/>
              </a:spcBef>
            </a:pPr>
            <a:endParaRPr lang="en-GB" sz="2800" dirty="0" smtClean="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Core </a:t>
            </a:r>
            <a:r>
              <a:rPr lang="en-GB" sz="3600" b="1" dirty="0" smtClean="0">
                <a:solidFill>
                  <a:srgbClr val="FF0000"/>
                </a:solidFill>
              </a:rPr>
              <a:t>Functions</a:t>
            </a:r>
          </a:p>
          <a:p>
            <a:pPr algn="l">
              <a:spcBef>
                <a:spcPts val="0"/>
              </a:spcBef>
            </a:pPr>
            <a:endParaRPr lang="en-GB" sz="2800" b="1" dirty="0" smtClean="0">
              <a:solidFill>
                <a:srgbClr val="FF0000"/>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smtClean="0">
                <a:solidFill>
                  <a:srgbClr val="FF0000"/>
                </a:solidFill>
              </a:rPr>
              <a:t>shutdown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sockfd</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how) </a:t>
            </a:r>
            <a:r>
              <a:rPr lang="en-GB" sz="2800" dirty="0" smtClean="0">
                <a:solidFill>
                  <a:schemeClr val="tx1"/>
                </a:solidFill>
              </a:rPr>
              <a:t>− is used to gracefully close a communication between the client and the server. gives more control in comparison to close function. It returns 0 on success, -1 otherwise</a:t>
            </a:r>
            <a:r>
              <a:rPr lang="en-GB" sz="2800" dirty="0" smtClean="0">
                <a:solidFill>
                  <a:schemeClr val="tx1"/>
                </a:solidFill>
              </a:rPr>
              <a:t>.</a:t>
            </a:r>
            <a:endParaRPr lang="en-GB" sz="2800" b="1" dirty="0" smtClean="0">
              <a:solidFill>
                <a:srgbClr val="FF0000"/>
              </a:solidFill>
            </a:endParaRPr>
          </a:p>
          <a:p>
            <a:pPr algn="l">
              <a:spcBef>
                <a:spcPts val="0"/>
              </a:spcBef>
            </a:pPr>
            <a:endParaRPr lang="en-GB" sz="2800" b="1" dirty="0" smtClean="0">
              <a:solidFill>
                <a:srgbClr val="FF0000"/>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smtClean="0">
                <a:solidFill>
                  <a:srgbClr val="FF0000"/>
                </a:solidFill>
              </a:rPr>
              <a:t>select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nfds</a:t>
            </a:r>
            <a:r>
              <a:rPr lang="en-GB" sz="2800" b="1" dirty="0" smtClean="0">
                <a:solidFill>
                  <a:srgbClr val="FF0000"/>
                </a:solidFill>
              </a:rPr>
              <a:t>, </a:t>
            </a:r>
            <a:r>
              <a:rPr lang="en-GB" sz="2800" b="1" dirty="0" err="1" smtClean="0">
                <a:solidFill>
                  <a:srgbClr val="FF0000"/>
                </a:solidFill>
              </a:rPr>
              <a:t>fd_set</a:t>
            </a:r>
            <a:r>
              <a:rPr lang="en-GB" sz="2800" b="1" dirty="0" smtClean="0">
                <a:solidFill>
                  <a:srgbClr val="FF0000"/>
                </a:solidFill>
              </a:rPr>
              <a:t> *</a:t>
            </a:r>
            <a:r>
              <a:rPr lang="en-GB" sz="2800" b="1" dirty="0" err="1" smtClean="0">
                <a:solidFill>
                  <a:srgbClr val="FF0000"/>
                </a:solidFill>
              </a:rPr>
              <a:t>readfds</a:t>
            </a:r>
            <a:r>
              <a:rPr lang="en-GB" sz="2800" b="1" dirty="0" smtClean="0">
                <a:solidFill>
                  <a:srgbClr val="FF0000"/>
                </a:solidFill>
              </a:rPr>
              <a:t>, </a:t>
            </a:r>
            <a:r>
              <a:rPr lang="en-GB" sz="2800" b="1" dirty="0" err="1" smtClean="0">
                <a:solidFill>
                  <a:srgbClr val="FF0000"/>
                </a:solidFill>
              </a:rPr>
              <a:t>fd_set</a:t>
            </a:r>
            <a:r>
              <a:rPr lang="en-GB" sz="2800" b="1" dirty="0" smtClean="0">
                <a:solidFill>
                  <a:srgbClr val="FF0000"/>
                </a:solidFill>
              </a:rPr>
              <a:t> *</a:t>
            </a:r>
            <a:r>
              <a:rPr lang="en-GB" sz="2800" b="1" dirty="0" err="1" smtClean="0">
                <a:solidFill>
                  <a:srgbClr val="FF0000"/>
                </a:solidFill>
              </a:rPr>
              <a:t>writefds</a:t>
            </a:r>
            <a:r>
              <a:rPr lang="en-GB" sz="2800" b="1" dirty="0" smtClean="0">
                <a:solidFill>
                  <a:srgbClr val="FF0000"/>
                </a:solidFill>
              </a:rPr>
              <a:t>, </a:t>
            </a:r>
            <a:r>
              <a:rPr lang="en-GB" sz="2800" b="1" dirty="0" err="1" smtClean="0">
                <a:solidFill>
                  <a:srgbClr val="FF0000"/>
                </a:solidFill>
              </a:rPr>
              <a:t>fd_set</a:t>
            </a:r>
            <a:r>
              <a:rPr lang="en-GB" sz="2800" b="1" dirty="0" smtClean="0">
                <a:solidFill>
                  <a:srgbClr val="FF0000"/>
                </a:solidFill>
              </a:rPr>
              <a:t> *</a:t>
            </a:r>
            <a:r>
              <a:rPr lang="en-GB" sz="2800" b="1" dirty="0" err="1" smtClean="0">
                <a:solidFill>
                  <a:srgbClr val="FF0000"/>
                </a:solidFill>
              </a:rPr>
              <a:t>errorfds</a:t>
            </a:r>
            <a:r>
              <a:rPr lang="en-GB" sz="2800" b="1" dirty="0" smtClean="0">
                <a:solidFill>
                  <a:srgbClr val="FF0000"/>
                </a:solidFill>
              </a:rPr>
              <a:t>, </a:t>
            </a:r>
            <a:r>
              <a:rPr lang="en-GB" sz="2800" b="1" dirty="0" err="1" smtClean="0">
                <a:solidFill>
                  <a:srgbClr val="FF0000"/>
                </a:solidFill>
              </a:rPr>
              <a:t>struct</a:t>
            </a:r>
            <a:r>
              <a:rPr lang="en-GB" sz="2800" b="1" dirty="0" smtClean="0">
                <a:solidFill>
                  <a:srgbClr val="FF0000"/>
                </a:solidFill>
              </a:rPr>
              <a:t> </a:t>
            </a:r>
            <a:r>
              <a:rPr lang="en-GB" sz="2800" b="1" dirty="0" err="1" smtClean="0">
                <a:solidFill>
                  <a:srgbClr val="FF0000"/>
                </a:solidFill>
              </a:rPr>
              <a:t>timeval</a:t>
            </a:r>
            <a:r>
              <a:rPr lang="en-GB" sz="2800" b="1" dirty="0" smtClean="0">
                <a:solidFill>
                  <a:srgbClr val="FF0000"/>
                </a:solidFill>
              </a:rPr>
              <a:t> *timeout)</a:t>
            </a:r>
            <a:r>
              <a:rPr lang="en-GB" sz="2800" dirty="0" smtClean="0">
                <a:solidFill>
                  <a:schemeClr val="tx1"/>
                </a:solidFill>
              </a:rPr>
              <a:t> − This function is used to read or write multiple sockets.</a:t>
            </a:r>
          </a:p>
          <a:p>
            <a:pPr algn="l">
              <a:spcBef>
                <a:spcPts val="0"/>
              </a:spcBef>
            </a:pPr>
            <a:endParaRPr lang="en-GB" sz="2800" dirty="0" smtClean="0">
              <a:solidFill>
                <a:schemeClr val="tx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Helper Functions</a:t>
            </a:r>
          </a:p>
          <a:p>
            <a:pPr algn="l">
              <a:spcBef>
                <a:spcPts val="0"/>
              </a:spcBef>
            </a:pPr>
            <a:r>
              <a:rPr lang="en-GB" sz="2800" b="1" dirty="0" err="1" smtClean="0">
                <a:solidFill>
                  <a:srgbClr val="FF0000"/>
                </a:solidFill>
              </a:rPr>
              <a:t>int</a:t>
            </a:r>
            <a:r>
              <a:rPr lang="en-GB" sz="2800" b="1" dirty="0" smtClean="0">
                <a:solidFill>
                  <a:srgbClr val="FF0000"/>
                </a:solidFill>
              </a:rPr>
              <a:t> write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fildes</a:t>
            </a:r>
            <a:r>
              <a:rPr lang="en-GB" sz="2800" b="1" dirty="0" smtClean="0">
                <a:solidFill>
                  <a:srgbClr val="FF0000"/>
                </a:solidFill>
              </a:rPr>
              <a:t>, const void *</a:t>
            </a:r>
            <a:r>
              <a:rPr lang="en-GB" sz="2800" b="1" dirty="0" err="1" smtClean="0">
                <a:solidFill>
                  <a:srgbClr val="FF0000"/>
                </a:solidFill>
              </a:rPr>
              <a:t>buf</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a:t>
            </a:r>
            <a:r>
              <a:rPr lang="en-GB" sz="2800" dirty="0" smtClean="0">
                <a:solidFill>
                  <a:schemeClr val="tx1"/>
                </a:solidFill>
              </a:rPr>
              <a:t> − </a:t>
            </a:r>
            <a:r>
              <a:rPr lang="en-GB" sz="2800" dirty="0" smtClean="0">
                <a:solidFill>
                  <a:schemeClr val="tx1"/>
                </a:solidFill>
              </a:rPr>
              <a:t> </a:t>
            </a:r>
            <a:r>
              <a:rPr lang="en-GB" sz="2800" dirty="0" smtClean="0">
                <a:solidFill>
                  <a:schemeClr val="tx1"/>
                </a:solidFill>
              </a:rPr>
              <a:t>attempts to write </a:t>
            </a:r>
            <a:r>
              <a:rPr lang="en-GB" sz="2800" dirty="0" err="1" smtClean="0">
                <a:solidFill>
                  <a:schemeClr val="tx1"/>
                </a:solidFill>
              </a:rPr>
              <a:t>nbyte</a:t>
            </a:r>
            <a:r>
              <a:rPr lang="en-GB" sz="2800" dirty="0" smtClean="0">
                <a:solidFill>
                  <a:schemeClr val="tx1"/>
                </a:solidFill>
              </a:rPr>
              <a:t> bytes from the buffer pointed to by </a:t>
            </a:r>
            <a:r>
              <a:rPr lang="en-GB" sz="2800" dirty="0" err="1" smtClean="0">
                <a:solidFill>
                  <a:schemeClr val="tx1"/>
                </a:solidFill>
              </a:rPr>
              <a:t>buf</a:t>
            </a:r>
            <a:r>
              <a:rPr lang="en-GB" sz="2800" dirty="0" smtClean="0">
                <a:solidFill>
                  <a:schemeClr val="tx1"/>
                </a:solidFill>
              </a:rPr>
              <a:t> to the file associated with the open file descriptor, </a:t>
            </a:r>
            <a:r>
              <a:rPr lang="en-GB" sz="2800" dirty="0" err="1" smtClean="0">
                <a:solidFill>
                  <a:schemeClr val="tx1"/>
                </a:solidFill>
              </a:rPr>
              <a:t>fildes</a:t>
            </a:r>
            <a:r>
              <a:rPr lang="en-GB" sz="2800" dirty="0" smtClean="0">
                <a:solidFill>
                  <a:schemeClr val="tx1"/>
                </a:solidFill>
              </a:rPr>
              <a:t>. Upon successful completion, write() returns the number of bytes actually written to the file associated with </a:t>
            </a:r>
            <a:r>
              <a:rPr lang="en-GB" sz="2800" dirty="0" err="1" smtClean="0">
                <a:solidFill>
                  <a:schemeClr val="tx1"/>
                </a:solidFill>
              </a:rPr>
              <a:t>fildes</a:t>
            </a:r>
            <a:r>
              <a:rPr lang="en-GB" sz="2800" dirty="0" smtClean="0">
                <a:solidFill>
                  <a:schemeClr val="tx1"/>
                </a:solidFill>
              </a:rPr>
              <a:t>. This number is never greater than </a:t>
            </a:r>
            <a:r>
              <a:rPr lang="en-GB" sz="2800" dirty="0" err="1" smtClean="0">
                <a:solidFill>
                  <a:schemeClr val="tx1"/>
                </a:solidFill>
              </a:rPr>
              <a:t>nbyte</a:t>
            </a:r>
            <a:r>
              <a:rPr lang="en-GB" sz="2800" dirty="0" smtClean="0">
                <a:solidFill>
                  <a:schemeClr val="tx1"/>
                </a:solidFill>
              </a:rPr>
              <a:t>. Otherwise, -1 is returned</a:t>
            </a:r>
            <a:r>
              <a:rPr lang="en-GB" sz="2800" dirty="0" smtClean="0">
                <a:solidFill>
                  <a:schemeClr val="tx1"/>
                </a:solidFill>
              </a:rPr>
              <a:t>.</a:t>
            </a:r>
            <a:endParaRPr lang="en-GB" sz="2800" smtClean="0">
              <a:solidFill>
                <a:schemeClr val="tx1"/>
              </a:solidFill>
            </a:endParaRP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smtClean="0">
                <a:solidFill>
                  <a:srgbClr val="FF0000"/>
                </a:solidFill>
              </a:rPr>
              <a:t>read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fildes</a:t>
            </a:r>
            <a:r>
              <a:rPr lang="en-GB" sz="2800" b="1" dirty="0" smtClean="0">
                <a:solidFill>
                  <a:srgbClr val="FF0000"/>
                </a:solidFill>
              </a:rPr>
              <a:t>, const void *</a:t>
            </a:r>
            <a:r>
              <a:rPr lang="en-GB" sz="2800" b="1" dirty="0" err="1" smtClean="0">
                <a:solidFill>
                  <a:srgbClr val="FF0000"/>
                </a:solidFill>
              </a:rPr>
              <a:t>buf</a:t>
            </a:r>
            <a:r>
              <a:rPr lang="en-GB" sz="2800" b="1" dirty="0" smtClean="0">
                <a:solidFill>
                  <a:srgbClr val="FF0000"/>
                </a:solidFill>
              </a:rPr>
              <a:t>,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a:t>
            </a:r>
            <a:r>
              <a:rPr lang="en-GB" sz="2800" dirty="0" smtClean="0">
                <a:solidFill>
                  <a:schemeClr val="tx1"/>
                </a:solidFill>
              </a:rPr>
              <a:t> − </a:t>
            </a:r>
            <a:r>
              <a:rPr lang="en-GB" sz="2800" dirty="0" smtClean="0">
                <a:solidFill>
                  <a:schemeClr val="tx1"/>
                </a:solidFill>
              </a:rPr>
              <a:t> </a:t>
            </a:r>
            <a:r>
              <a:rPr lang="en-GB" sz="2800" dirty="0" smtClean="0">
                <a:solidFill>
                  <a:schemeClr val="tx1"/>
                </a:solidFill>
              </a:rPr>
              <a:t>attempts to read </a:t>
            </a:r>
            <a:r>
              <a:rPr lang="en-GB" sz="2800" dirty="0" err="1" smtClean="0">
                <a:solidFill>
                  <a:schemeClr val="tx1"/>
                </a:solidFill>
              </a:rPr>
              <a:t>nbyte</a:t>
            </a:r>
            <a:r>
              <a:rPr lang="en-GB" sz="2800" dirty="0" smtClean="0">
                <a:solidFill>
                  <a:schemeClr val="tx1"/>
                </a:solidFill>
              </a:rPr>
              <a:t> bytes from the file associated with the open file descriptor, </a:t>
            </a:r>
            <a:r>
              <a:rPr lang="en-GB" sz="2800" dirty="0" err="1" smtClean="0">
                <a:solidFill>
                  <a:schemeClr val="tx1"/>
                </a:solidFill>
              </a:rPr>
              <a:t>fildes</a:t>
            </a:r>
            <a:r>
              <a:rPr lang="en-GB" sz="2800" dirty="0" smtClean="0">
                <a:solidFill>
                  <a:schemeClr val="tx1"/>
                </a:solidFill>
              </a:rPr>
              <a:t>, into the buffer pointed to by </a:t>
            </a:r>
            <a:r>
              <a:rPr lang="en-GB" sz="2800" dirty="0" err="1" smtClean="0">
                <a:solidFill>
                  <a:schemeClr val="tx1"/>
                </a:solidFill>
              </a:rPr>
              <a:t>buf</a:t>
            </a:r>
            <a:r>
              <a:rPr lang="en-GB" sz="2800" dirty="0" smtClean="0">
                <a:solidFill>
                  <a:schemeClr val="tx1"/>
                </a:solidFill>
              </a:rPr>
              <a:t>. Upon successful completion, write() returns the number of bytes actually written to the file associated with </a:t>
            </a:r>
            <a:r>
              <a:rPr lang="en-GB" sz="2800" dirty="0" err="1" smtClean="0">
                <a:solidFill>
                  <a:schemeClr val="tx1"/>
                </a:solidFill>
              </a:rPr>
              <a:t>fildes</a:t>
            </a:r>
            <a:r>
              <a:rPr lang="en-GB" sz="2800" dirty="0" smtClean="0">
                <a:solidFill>
                  <a:schemeClr val="tx1"/>
                </a:solidFill>
              </a:rPr>
              <a:t>. This number is never greater than </a:t>
            </a:r>
            <a:r>
              <a:rPr lang="en-GB" sz="2800" dirty="0" err="1" smtClean="0">
                <a:solidFill>
                  <a:schemeClr val="tx1"/>
                </a:solidFill>
              </a:rPr>
              <a:t>nbyte</a:t>
            </a:r>
            <a:r>
              <a:rPr lang="en-GB" sz="2800" dirty="0" smtClean="0">
                <a:solidFill>
                  <a:schemeClr val="tx1"/>
                </a:solidFill>
              </a:rPr>
              <a:t>. Otherwise, -1 is returned</a:t>
            </a:r>
            <a:r>
              <a:rPr lang="en-GB" sz="2800" dirty="0" smtClean="0">
                <a:solidFill>
                  <a:schemeClr val="tx1"/>
                </a:solidFill>
              </a:rPr>
              <a:t>.</a:t>
            </a:r>
            <a:endParaRPr lang="en-GB" sz="2800" dirty="0">
              <a:solidFill>
                <a:schemeClr val="tx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Helper Functions</a:t>
            </a: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smtClean="0">
                <a:solidFill>
                  <a:srgbClr val="FF0000"/>
                </a:solidFill>
              </a:rPr>
              <a:t>fork (void) </a:t>
            </a:r>
            <a:r>
              <a:rPr lang="en-GB" sz="2800" dirty="0" smtClean="0">
                <a:solidFill>
                  <a:schemeClr val="tx1"/>
                </a:solidFill>
              </a:rPr>
              <a:t>− The fork function creates a new process. The new process, called the child process, will be an exact copy of the calling process (parent process).</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void </a:t>
            </a:r>
            <a:r>
              <a:rPr lang="en-GB" sz="2800" b="1" dirty="0" err="1" smtClean="0">
                <a:solidFill>
                  <a:srgbClr val="FF0000"/>
                </a:solidFill>
              </a:rPr>
              <a:t>bzero</a:t>
            </a:r>
            <a:r>
              <a:rPr lang="en-GB" sz="2800" b="1" dirty="0" smtClean="0">
                <a:solidFill>
                  <a:srgbClr val="FF0000"/>
                </a:solidFill>
              </a:rPr>
              <a:t> (void *s,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a:t>
            </a:r>
            <a:r>
              <a:rPr lang="en-GB" sz="2800" dirty="0" smtClean="0">
                <a:solidFill>
                  <a:schemeClr val="tx1"/>
                </a:solidFill>
              </a:rPr>
              <a:t> − The </a:t>
            </a:r>
            <a:r>
              <a:rPr lang="en-GB" sz="2800" dirty="0" err="1" smtClean="0">
                <a:solidFill>
                  <a:schemeClr val="tx1"/>
                </a:solidFill>
              </a:rPr>
              <a:t>bzero</a:t>
            </a:r>
            <a:r>
              <a:rPr lang="en-GB" sz="2800" dirty="0" smtClean="0">
                <a:solidFill>
                  <a:schemeClr val="tx1"/>
                </a:solidFill>
              </a:rPr>
              <a:t> function places </a:t>
            </a:r>
            <a:r>
              <a:rPr lang="en-GB" sz="2800" dirty="0" err="1" smtClean="0">
                <a:solidFill>
                  <a:schemeClr val="tx1"/>
                </a:solidFill>
              </a:rPr>
              <a:t>nbyte</a:t>
            </a:r>
            <a:r>
              <a:rPr lang="en-GB" sz="2800" dirty="0" smtClean="0">
                <a:solidFill>
                  <a:schemeClr val="tx1"/>
                </a:solidFill>
              </a:rPr>
              <a:t> null bytes in the string s. This function will be used to set all the socket structures with null values.</a:t>
            </a:r>
          </a:p>
          <a:p>
            <a:pPr algn="l">
              <a:spcBef>
                <a:spcPts val="0"/>
              </a:spcBef>
            </a:pPr>
            <a:endParaRPr lang="en-GB" sz="2800" dirty="0" smtClean="0">
              <a:solidFill>
                <a:schemeClr val="tx1"/>
              </a:solidFill>
            </a:endParaRPr>
          </a:p>
          <a:p>
            <a:pPr algn="l">
              <a:spcBef>
                <a:spcPts val="0"/>
              </a:spcBef>
            </a:pP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bcmp</a:t>
            </a:r>
            <a:r>
              <a:rPr lang="en-GB" sz="2800" b="1" dirty="0" smtClean="0">
                <a:solidFill>
                  <a:srgbClr val="FF0000"/>
                </a:solidFill>
              </a:rPr>
              <a:t> (const void *s1, const void *s2,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a:t>
            </a:r>
            <a:r>
              <a:rPr lang="en-GB" sz="2800" dirty="0" smtClean="0">
                <a:solidFill>
                  <a:schemeClr val="tx1"/>
                </a:solidFill>
              </a:rPr>
              <a:t> − The </a:t>
            </a:r>
            <a:r>
              <a:rPr lang="en-GB" sz="2800" dirty="0" err="1" smtClean="0">
                <a:solidFill>
                  <a:schemeClr val="tx1"/>
                </a:solidFill>
              </a:rPr>
              <a:t>bcmp</a:t>
            </a:r>
            <a:r>
              <a:rPr lang="en-GB" sz="2800" dirty="0" smtClean="0">
                <a:solidFill>
                  <a:schemeClr val="tx1"/>
                </a:solidFill>
              </a:rPr>
              <a:t> function compares the byte string s1 against the byte string s2. Both the strings are assumed to be </a:t>
            </a:r>
            <a:r>
              <a:rPr lang="en-GB" sz="2800" dirty="0" err="1" smtClean="0">
                <a:solidFill>
                  <a:schemeClr val="tx1"/>
                </a:solidFill>
              </a:rPr>
              <a:t>nbyte</a:t>
            </a:r>
            <a:r>
              <a:rPr lang="en-GB" sz="2800" dirty="0" smtClean="0">
                <a:solidFill>
                  <a:schemeClr val="tx1"/>
                </a:solidFill>
              </a:rPr>
              <a:t> bytes long</a:t>
            </a:r>
            <a:r>
              <a:rPr lang="en-GB" sz="2800" dirty="0" smtClean="0">
                <a:solidFill>
                  <a:schemeClr val="tx1"/>
                </a:solidFill>
              </a:rPr>
              <a:t>.</a:t>
            </a:r>
            <a:endParaRPr lang="en-GB" sz="2800" dirty="0" smtClean="0">
              <a:solidFill>
                <a:schemeClr val="tx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28600" y="228600"/>
            <a:ext cx="8610600" cy="6248400"/>
          </a:xfrm>
        </p:spPr>
        <p:txBody>
          <a:bodyPr>
            <a:noAutofit/>
          </a:bodyPr>
          <a:lstStyle/>
          <a:p>
            <a:pPr>
              <a:spcBef>
                <a:spcPts val="0"/>
              </a:spcBef>
            </a:pPr>
            <a:r>
              <a:rPr lang="en-GB" sz="3600" b="1" dirty="0" smtClean="0">
                <a:solidFill>
                  <a:srgbClr val="FF0000"/>
                </a:solidFill>
              </a:rPr>
              <a:t>Socket </a:t>
            </a:r>
            <a:r>
              <a:rPr lang="en-GB" sz="3600" b="1" dirty="0" smtClean="0">
                <a:solidFill>
                  <a:srgbClr val="FF0000"/>
                </a:solidFill>
              </a:rPr>
              <a:t>Helper Functions</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void </a:t>
            </a:r>
            <a:r>
              <a:rPr lang="en-GB" sz="2800" b="1" dirty="0" err="1" smtClean="0">
                <a:solidFill>
                  <a:srgbClr val="FF0000"/>
                </a:solidFill>
              </a:rPr>
              <a:t>bcopy</a:t>
            </a:r>
            <a:r>
              <a:rPr lang="en-GB" sz="2800" b="1" dirty="0" smtClean="0">
                <a:solidFill>
                  <a:srgbClr val="FF0000"/>
                </a:solidFill>
              </a:rPr>
              <a:t> (const void *s1, void *s2,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a:t>
            </a:r>
            <a:r>
              <a:rPr lang="en-GB" sz="2800" dirty="0" smtClean="0">
                <a:solidFill>
                  <a:schemeClr val="tx1"/>
                </a:solidFill>
              </a:rPr>
              <a:t> − The </a:t>
            </a:r>
            <a:r>
              <a:rPr lang="en-GB" sz="2800" dirty="0" err="1" smtClean="0">
                <a:solidFill>
                  <a:schemeClr val="tx1"/>
                </a:solidFill>
              </a:rPr>
              <a:t>bcopy</a:t>
            </a:r>
            <a:r>
              <a:rPr lang="en-GB" sz="2800" dirty="0" smtClean="0">
                <a:solidFill>
                  <a:schemeClr val="tx1"/>
                </a:solidFill>
              </a:rPr>
              <a:t> function copies </a:t>
            </a:r>
            <a:r>
              <a:rPr lang="en-GB" sz="2800" dirty="0" err="1" smtClean="0">
                <a:solidFill>
                  <a:schemeClr val="tx1"/>
                </a:solidFill>
              </a:rPr>
              <a:t>nbyte</a:t>
            </a:r>
            <a:r>
              <a:rPr lang="en-GB" sz="2800" dirty="0" smtClean="0">
                <a:solidFill>
                  <a:schemeClr val="tx1"/>
                </a:solidFill>
              </a:rPr>
              <a:t> bytes from the string s1 to the string s2. Overlapping strings are handled correctly.</a:t>
            </a:r>
          </a:p>
          <a:p>
            <a:pPr algn="l">
              <a:spcBef>
                <a:spcPts val="0"/>
              </a:spcBef>
            </a:pPr>
            <a:endParaRPr lang="en-GB" sz="2800" dirty="0" smtClean="0">
              <a:solidFill>
                <a:schemeClr val="tx1"/>
              </a:solidFill>
            </a:endParaRPr>
          </a:p>
          <a:p>
            <a:pPr algn="l">
              <a:spcBef>
                <a:spcPts val="0"/>
              </a:spcBef>
            </a:pPr>
            <a:r>
              <a:rPr lang="en-GB" sz="2800" b="1" dirty="0" smtClean="0">
                <a:solidFill>
                  <a:srgbClr val="FF0000"/>
                </a:solidFill>
              </a:rPr>
              <a:t>void *</a:t>
            </a:r>
            <a:r>
              <a:rPr lang="en-GB" sz="2800" b="1" dirty="0" err="1" smtClean="0">
                <a:solidFill>
                  <a:srgbClr val="FF0000"/>
                </a:solidFill>
              </a:rPr>
              <a:t>memset</a:t>
            </a:r>
            <a:r>
              <a:rPr lang="en-GB" sz="2800" b="1" dirty="0" smtClean="0">
                <a:solidFill>
                  <a:srgbClr val="FF0000"/>
                </a:solidFill>
              </a:rPr>
              <a:t>(void *s, </a:t>
            </a:r>
            <a:r>
              <a:rPr lang="en-GB" sz="2800" b="1" dirty="0" err="1" smtClean="0">
                <a:solidFill>
                  <a:srgbClr val="FF0000"/>
                </a:solidFill>
              </a:rPr>
              <a:t>int</a:t>
            </a:r>
            <a:r>
              <a:rPr lang="en-GB" sz="2800" b="1" dirty="0" smtClean="0">
                <a:solidFill>
                  <a:srgbClr val="FF0000"/>
                </a:solidFill>
              </a:rPr>
              <a:t> c, </a:t>
            </a:r>
            <a:r>
              <a:rPr lang="en-GB" sz="2800" b="1" dirty="0" err="1" smtClean="0">
                <a:solidFill>
                  <a:srgbClr val="FF0000"/>
                </a:solidFill>
              </a:rPr>
              <a:t>int</a:t>
            </a:r>
            <a:r>
              <a:rPr lang="en-GB" sz="2800" b="1" dirty="0" smtClean="0">
                <a:solidFill>
                  <a:srgbClr val="FF0000"/>
                </a:solidFill>
              </a:rPr>
              <a:t> </a:t>
            </a:r>
            <a:r>
              <a:rPr lang="en-GB" sz="2800" b="1" dirty="0" err="1" smtClean="0">
                <a:solidFill>
                  <a:srgbClr val="FF0000"/>
                </a:solidFill>
              </a:rPr>
              <a:t>nbyte</a:t>
            </a:r>
            <a:r>
              <a:rPr lang="en-GB" sz="2800" b="1" dirty="0" smtClean="0">
                <a:solidFill>
                  <a:srgbClr val="FF0000"/>
                </a:solidFill>
              </a:rPr>
              <a:t>) </a:t>
            </a:r>
            <a:r>
              <a:rPr lang="en-GB" sz="2800" dirty="0" smtClean="0">
                <a:solidFill>
                  <a:schemeClr val="tx1"/>
                </a:solidFill>
              </a:rPr>
              <a:t>− The </a:t>
            </a:r>
            <a:r>
              <a:rPr lang="en-GB" sz="2800" dirty="0" err="1" smtClean="0">
                <a:solidFill>
                  <a:schemeClr val="tx1"/>
                </a:solidFill>
              </a:rPr>
              <a:t>memset</a:t>
            </a:r>
            <a:r>
              <a:rPr lang="en-GB" sz="2800" dirty="0" smtClean="0">
                <a:solidFill>
                  <a:schemeClr val="tx1"/>
                </a:solidFill>
              </a:rPr>
              <a:t> function is also used to set structure variables in the same way as </a:t>
            </a:r>
            <a:r>
              <a:rPr lang="en-GB" sz="2800" dirty="0" err="1" smtClean="0">
                <a:solidFill>
                  <a:schemeClr val="tx1"/>
                </a:solidFill>
              </a:rPr>
              <a:t>bzero</a:t>
            </a:r>
            <a:r>
              <a:rPr lang="en-GB" sz="2800" dirty="0" smtClean="0">
                <a:solidFill>
                  <a:schemeClr val="tx1"/>
                </a:solidFill>
              </a:rPr>
              <a:t>.</a:t>
            </a:r>
          </a:p>
          <a:p>
            <a:pPr algn="l">
              <a:spcBef>
                <a:spcPts val="0"/>
              </a:spcBef>
            </a:pPr>
            <a:endParaRPr lang="en-GB" sz="2800" dirty="0" smtClean="0">
              <a:solidFill>
                <a:schemeClr val="tx1"/>
              </a:solidFill>
            </a:endParaRPr>
          </a:p>
          <a:p>
            <a:pPr algn="l">
              <a:spcBef>
                <a:spcPts val="0"/>
              </a:spcBef>
            </a:pPr>
            <a:endParaRPr lang="en-GB" sz="2800" dirty="0">
              <a:solidFill>
                <a:schemeClr val="tx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45</TotalTime>
  <Words>3633</Words>
  <Application>Microsoft Office PowerPoint</Application>
  <PresentationFormat>On-screen Show (4:3)</PresentationFormat>
  <Paragraphs>401</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Windows User</cp:lastModifiedBy>
  <cp:revision>9</cp:revision>
  <dcterms:created xsi:type="dcterms:W3CDTF">2006-08-16T00:00:00Z</dcterms:created>
  <dcterms:modified xsi:type="dcterms:W3CDTF">2019-01-03T15:27:40Z</dcterms:modified>
</cp:coreProperties>
</file>