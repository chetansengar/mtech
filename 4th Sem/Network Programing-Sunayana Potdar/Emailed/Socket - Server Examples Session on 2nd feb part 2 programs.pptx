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00" r:id="rId18"/>
    <p:sldId id="321" r:id="rId19"/>
    <p:sldId id="322" r:id="rId20"/>
    <p:sldId id="295" r:id="rId21"/>
    <p:sldId id="298" r:id="rId22"/>
    <p:sldId id="257" r:id="rId23"/>
    <p:sldId id="259" r:id="rId24"/>
    <p:sldId id="260" r:id="rId25"/>
    <p:sldId id="261" r:id="rId26"/>
    <p:sldId id="262" r:id="rId27"/>
    <p:sldId id="263" r:id="rId28"/>
    <p:sldId id="265" r:id="rId29"/>
    <p:sldId id="264" r:id="rId30"/>
    <p:sldId id="266" r:id="rId31"/>
    <p:sldId id="267" r:id="rId32"/>
    <p:sldId id="268" r:id="rId33"/>
    <p:sldId id="269" r:id="rId34"/>
    <p:sldId id="270" r:id="rId35"/>
    <p:sldId id="272" r:id="rId36"/>
    <p:sldId id="319" r:id="rId37"/>
    <p:sldId id="320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323" r:id="rId46"/>
    <p:sldId id="324" r:id="rId47"/>
    <p:sldId id="281" r:id="rId48"/>
    <p:sldId id="282" r:id="rId49"/>
    <p:sldId id="283" r:id="rId50"/>
    <p:sldId id="287" r:id="rId51"/>
    <p:sldId id="286" r:id="rId52"/>
    <p:sldId id="288" r:id="rId53"/>
    <p:sldId id="289" r:id="rId54"/>
    <p:sldId id="290" r:id="rId55"/>
    <p:sldId id="292" r:id="rId56"/>
    <p:sldId id="293" r:id="rId57"/>
    <p:sldId id="294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7538" y="1793513"/>
            <a:ext cx="8790593" cy="390613"/>
          </a:xfrm>
          <a:custGeom>
            <a:avLst/>
            <a:gdLst/>
            <a:ahLst/>
            <a:cxnLst/>
            <a:rect l="l" t="t" r="r" b="b"/>
            <a:pathLst>
              <a:path w="8766175" h="389889">
                <a:moveTo>
                  <a:pt x="8766035" y="324612"/>
                </a:moveTo>
                <a:lnTo>
                  <a:pt x="8766035" y="64770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8" y="0"/>
                </a:lnTo>
                <a:lnTo>
                  <a:pt x="64770" y="0"/>
                </a:ln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4612"/>
                </a:lnTo>
                <a:lnTo>
                  <a:pt x="5083" y="349841"/>
                </a:lnTo>
                <a:lnTo>
                  <a:pt x="18954" y="370427"/>
                </a:lnTo>
                <a:lnTo>
                  <a:pt x="39540" y="384298"/>
                </a:lnTo>
                <a:lnTo>
                  <a:pt x="64770" y="389382"/>
                </a:lnTo>
                <a:lnTo>
                  <a:pt x="8701278" y="389382"/>
                </a:lnTo>
                <a:lnTo>
                  <a:pt x="8726505" y="384298"/>
                </a:lnTo>
                <a:lnTo>
                  <a:pt x="8747086" y="370427"/>
                </a:lnTo>
                <a:lnTo>
                  <a:pt x="8760953" y="349841"/>
                </a:lnTo>
                <a:lnTo>
                  <a:pt x="8766035" y="324612"/>
                </a:lnTo>
                <a:close/>
              </a:path>
            </a:pathLst>
          </a:custGeom>
          <a:solidFill>
            <a:srgbClr val="CC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538" y="1793513"/>
            <a:ext cx="8790593" cy="390613"/>
          </a:xfrm>
          <a:custGeom>
            <a:avLst/>
            <a:gdLst/>
            <a:ahLst/>
            <a:cxnLst/>
            <a:rect l="l" t="t" r="r" b="b"/>
            <a:pathLst>
              <a:path w="8766175" h="389889">
                <a:moveTo>
                  <a:pt x="64770" y="0"/>
                </a:move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4612"/>
                </a:lnTo>
                <a:lnTo>
                  <a:pt x="5083" y="349841"/>
                </a:lnTo>
                <a:lnTo>
                  <a:pt x="18954" y="370427"/>
                </a:lnTo>
                <a:lnTo>
                  <a:pt x="39540" y="384298"/>
                </a:lnTo>
                <a:lnTo>
                  <a:pt x="64770" y="389382"/>
                </a:lnTo>
                <a:lnTo>
                  <a:pt x="8701278" y="389382"/>
                </a:lnTo>
                <a:lnTo>
                  <a:pt x="8726505" y="384298"/>
                </a:lnTo>
                <a:lnTo>
                  <a:pt x="8747086" y="370427"/>
                </a:lnTo>
                <a:lnTo>
                  <a:pt x="8760953" y="349841"/>
                </a:lnTo>
                <a:lnTo>
                  <a:pt x="8766035" y="324612"/>
                </a:lnTo>
                <a:lnTo>
                  <a:pt x="8766035" y="64770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8" y="0"/>
                </a:lnTo>
                <a:lnTo>
                  <a:pt x="6477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4074" y="262359"/>
            <a:ext cx="7636131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36" dirty="0"/>
              <a:t>Client</a:t>
            </a:r>
            <a:r>
              <a:rPr sz="4200" spc="20" dirty="0"/>
              <a:t> </a:t>
            </a:r>
            <a:r>
              <a:rPr sz="4200" spc="-261" dirty="0"/>
              <a:t>-</a:t>
            </a:r>
            <a:r>
              <a:rPr sz="4200" spc="45" dirty="0"/>
              <a:t> </a:t>
            </a:r>
            <a:r>
              <a:rPr sz="4200" spc="-281" dirty="0"/>
              <a:t>Server</a:t>
            </a:r>
            <a:r>
              <a:rPr sz="4200" spc="30" dirty="0"/>
              <a:t> </a:t>
            </a:r>
            <a:r>
              <a:rPr sz="4200" spc="-281" dirty="0"/>
              <a:t>Communication</a:t>
            </a:r>
            <a:r>
              <a:rPr sz="4200" spc="30" dirty="0"/>
              <a:t> </a:t>
            </a:r>
            <a:r>
              <a:rPr sz="3200" spc="-200" dirty="0"/>
              <a:t>-</a:t>
            </a:r>
            <a:r>
              <a:rPr sz="3200" spc="20" dirty="0"/>
              <a:t> </a:t>
            </a:r>
            <a:r>
              <a:rPr sz="3200" spc="-200" dirty="0"/>
              <a:t>Unix</a:t>
            </a:r>
            <a:endParaRPr sz="3200" dirty="0"/>
          </a:p>
        </p:txBody>
      </p:sp>
      <p:sp>
        <p:nvSpPr>
          <p:cNvPr id="6" name="object 6"/>
          <p:cNvSpPr/>
          <p:nvPr/>
        </p:nvSpPr>
        <p:spPr>
          <a:xfrm>
            <a:off x="322090" y="1863747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7"/>
                </a:lnTo>
                <a:lnTo>
                  <a:pt x="1335023" y="231647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1325" y="1863747"/>
            <a:ext cx="1339762" cy="23220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7"/>
                </a:lnTo>
                <a:lnTo>
                  <a:pt x="1335786" y="231647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2380" y="1854841"/>
            <a:ext cx="657782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0132" y="2100406"/>
            <a:ext cx="76412" cy="340991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8" y="330707"/>
                </a:lnTo>
                <a:lnTo>
                  <a:pt x="33528" y="276605"/>
                </a:lnTo>
                <a:lnTo>
                  <a:pt x="34290" y="279653"/>
                </a:lnTo>
                <a:lnTo>
                  <a:pt x="38100" y="281177"/>
                </a:lnTo>
                <a:lnTo>
                  <a:pt x="41148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5333"/>
                </a:lnTo>
                <a:lnTo>
                  <a:pt x="41148" y="1523"/>
                </a:lnTo>
                <a:lnTo>
                  <a:pt x="38100" y="0"/>
                </a:lnTo>
                <a:lnTo>
                  <a:pt x="34290" y="1523"/>
                </a:lnTo>
                <a:lnTo>
                  <a:pt x="33528" y="5333"/>
                </a:lnTo>
                <a:lnTo>
                  <a:pt x="33528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148" y="279653"/>
                </a:lnTo>
                <a:lnTo>
                  <a:pt x="38100" y="281177"/>
                </a:lnTo>
                <a:lnTo>
                  <a:pt x="34290" y="279653"/>
                </a:lnTo>
                <a:lnTo>
                  <a:pt x="33528" y="276605"/>
                </a:lnTo>
                <a:lnTo>
                  <a:pt x="33528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5147" y="2471425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5147" y="2471425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4826" y="2462517"/>
            <a:ext cx="480124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3189" y="2708082"/>
            <a:ext cx="76412" cy="340991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5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4571"/>
                </a:lnTo>
                <a:lnTo>
                  <a:pt x="41910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6605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8203" y="3069178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8203" y="3069178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8160" y="3060271"/>
            <a:ext cx="559083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listen()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66245" y="3306599"/>
            <a:ext cx="76412" cy="339719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7" y="329945"/>
                </a:lnTo>
                <a:lnTo>
                  <a:pt x="33527" y="275844"/>
                </a:lnTo>
                <a:lnTo>
                  <a:pt x="35051" y="279653"/>
                </a:lnTo>
                <a:lnTo>
                  <a:pt x="38100" y="280415"/>
                </a:lnTo>
                <a:lnTo>
                  <a:pt x="41909" y="279653"/>
                </a:lnTo>
                <a:lnTo>
                  <a:pt x="42671" y="275844"/>
                </a:lnTo>
                <a:lnTo>
                  <a:pt x="42671" y="329946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1" y="262889"/>
                </a:moveTo>
                <a:lnTo>
                  <a:pt x="42671" y="4572"/>
                </a:lnTo>
                <a:lnTo>
                  <a:pt x="41909" y="762"/>
                </a:lnTo>
                <a:lnTo>
                  <a:pt x="38100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62889"/>
                </a:lnTo>
                <a:lnTo>
                  <a:pt x="42671" y="262889"/>
                </a:lnTo>
                <a:close/>
              </a:path>
              <a:path w="76200" h="339089">
                <a:moveTo>
                  <a:pt x="42671" y="329946"/>
                </a:moveTo>
                <a:lnTo>
                  <a:pt x="42671" y="275844"/>
                </a:lnTo>
                <a:lnTo>
                  <a:pt x="41909" y="279653"/>
                </a:lnTo>
                <a:lnTo>
                  <a:pt x="38100" y="280415"/>
                </a:lnTo>
                <a:lnTo>
                  <a:pt x="35051" y="279653"/>
                </a:lnTo>
                <a:lnTo>
                  <a:pt x="33527" y="275844"/>
                </a:lnTo>
                <a:lnTo>
                  <a:pt x="33527" y="329945"/>
                </a:lnTo>
                <a:lnTo>
                  <a:pt x="38100" y="339089"/>
                </a:lnTo>
                <a:lnTo>
                  <a:pt x="42671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1260" y="3676855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1260" y="3676855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6964" y="3667947"/>
            <a:ext cx="667334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accept()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9302" y="3913513"/>
            <a:ext cx="76412" cy="425603"/>
          </a:xfrm>
          <a:custGeom>
            <a:avLst/>
            <a:gdLst/>
            <a:ahLst/>
            <a:cxnLst/>
            <a:rect l="l" t="t" r="r" b="b"/>
            <a:pathLst>
              <a:path w="76200" h="424814">
                <a:moveTo>
                  <a:pt x="76200" y="348234"/>
                </a:moveTo>
                <a:lnTo>
                  <a:pt x="0" y="348234"/>
                </a:lnTo>
                <a:lnTo>
                  <a:pt x="33528" y="415290"/>
                </a:lnTo>
                <a:lnTo>
                  <a:pt x="33528" y="360425"/>
                </a:lnTo>
                <a:lnTo>
                  <a:pt x="35052" y="364236"/>
                </a:lnTo>
                <a:lnTo>
                  <a:pt x="38100" y="365760"/>
                </a:lnTo>
                <a:lnTo>
                  <a:pt x="41910" y="364236"/>
                </a:lnTo>
                <a:lnTo>
                  <a:pt x="43434" y="360425"/>
                </a:lnTo>
                <a:lnTo>
                  <a:pt x="43434" y="413765"/>
                </a:lnTo>
                <a:lnTo>
                  <a:pt x="76200" y="348234"/>
                </a:lnTo>
                <a:close/>
              </a:path>
              <a:path w="76200" h="424814">
                <a:moveTo>
                  <a:pt x="43434" y="348234"/>
                </a:moveTo>
                <a:lnTo>
                  <a:pt x="43434" y="5334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5334"/>
                </a:lnTo>
                <a:lnTo>
                  <a:pt x="33528" y="348234"/>
                </a:lnTo>
                <a:lnTo>
                  <a:pt x="43434" y="348234"/>
                </a:lnTo>
                <a:close/>
              </a:path>
              <a:path w="76200" h="424814">
                <a:moveTo>
                  <a:pt x="43434" y="413765"/>
                </a:moveTo>
                <a:lnTo>
                  <a:pt x="43434" y="360425"/>
                </a:lnTo>
                <a:lnTo>
                  <a:pt x="41910" y="364236"/>
                </a:lnTo>
                <a:lnTo>
                  <a:pt x="38100" y="365760"/>
                </a:lnTo>
                <a:lnTo>
                  <a:pt x="35052" y="364236"/>
                </a:lnTo>
                <a:lnTo>
                  <a:pt x="33528" y="360425"/>
                </a:lnTo>
                <a:lnTo>
                  <a:pt x="33528" y="415290"/>
                </a:lnTo>
                <a:lnTo>
                  <a:pt x="38100" y="424434"/>
                </a:lnTo>
                <a:lnTo>
                  <a:pt x="43434" y="413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9797" y="4386067"/>
            <a:ext cx="1339762" cy="23220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9798" y="4386067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3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50253" y="4377159"/>
            <a:ext cx="479487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8604" y="4623488"/>
            <a:ext cx="76412" cy="339719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8" y="329946"/>
                </a:lnTo>
                <a:lnTo>
                  <a:pt x="33528" y="275844"/>
                </a:lnTo>
                <a:lnTo>
                  <a:pt x="34290" y="279653"/>
                </a:lnTo>
                <a:lnTo>
                  <a:pt x="38100" y="280415"/>
                </a:lnTo>
                <a:lnTo>
                  <a:pt x="41148" y="279653"/>
                </a:lnTo>
                <a:lnTo>
                  <a:pt x="42672" y="275844"/>
                </a:lnTo>
                <a:lnTo>
                  <a:pt x="42672" y="329945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2" y="262889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62889"/>
                </a:lnTo>
                <a:lnTo>
                  <a:pt x="42672" y="262889"/>
                </a:lnTo>
                <a:close/>
              </a:path>
              <a:path w="76200" h="339089">
                <a:moveTo>
                  <a:pt x="42672" y="329945"/>
                </a:moveTo>
                <a:lnTo>
                  <a:pt x="42672" y="275844"/>
                </a:lnTo>
                <a:lnTo>
                  <a:pt x="41148" y="279653"/>
                </a:lnTo>
                <a:lnTo>
                  <a:pt x="38100" y="280415"/>
                </a:lnTo>
                <a:lnTo>
                  <a:pt x="34290" y="279653"/>
                </a:lnTo>
                <a:lnTo>
                  <a:pt x="33528" y="275844"/>
                </a:lnTo>
                <a:lnTo>
                  <a:pt x="33528" y="329946"/>
                </a:lnTo>
                <a:lnTo>
                  <a:pt x="38100" y="339089"/>
                </a:lnTo>
                <a:lnTo>
                  <a:pt x="42672" y="329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3618" y="4993744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3618" y="4993744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7329" y="4984836"/>
            <a:ext cx="528518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61660" y="5230401"/>
            <a:ext cx="76412" cy="541388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3528" y="531114"/>
                </a:lnTo>
                <a:lnTo>
                  <a:pt x="33528" y="476250"/>
                </a:lnTo>
                <a:lnTo>
                  <a:pt x="35051" y="480060"/>
                </a:lnTo>
                <a:lnTo>
                  <a:pt x="38100" y="481584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8" y="5334"/>
                </a:lnTo>
                <a:lnTo>
                  <a:pt x="33528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1584"/>
                </a:lnTo>
                <a:lnTo>
                  <a:pt x="35051" y="480060"/>
                </a:lnTo>
                <a:lnTo>
                  <a:pt x="33528" y="476250"/>
                </a:lnTo>
                <a:lnTo>
                  <a:pt x="33528" y="53111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8203" y="5801434"/>
            <a:ext cx="1339125" cy="232841"/>
          </a:xfrm>
          <a:custGeom>
            <a:avLst/>
            <a:gdLst/>
            <a:ahLst/>
            <a:cxnLst/>
            <a:rect l="l" t="t" r="r" b="b"/>
            <a:pathLst>
              <a:path w="1335405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8203" y="5801435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8160" y="5792529"/>
            <a:ext cx="559083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7728" y="1548711"/>
            <a:ext cx="659692" cy="25907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970539" y="1871382"/>
            <a:ext cx="1339125" cy="232841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70539" y="1871382"/>
            <a:ext cx="1339125" cy="232841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311579" y="1862474"/>
            <a:ext cx="657782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609345" y="2108803"/>
            <a:ext cx="76412" cy="1562453"/>
          </a:xfrm>
          <a:custGeom>
            <a:avLst/>
            <a:gdLst/>
            <a:ahLst/>
            <a:cxnLst/>
            <a:rect l="l" t="t" r="r" b="b"/>
            <a:pathLst>
              <a:path w="76200" h="1559560">
                <a:moveTo>
                  <a:pt x="76200" y="1482852"/>
                </a:moveTo>
                <a:lnTo>
                  <a:pt x="0" y="1482852"/>
                </a:lnTo>
                <a:lnTo>
                  <a:pt x="32765" y="1548383"/>
                </a:lnTo>
                <a:lnTo>
                  <a:pt x="32765" y="1495043"/>
                </a:lnTo>
                <a:lnTo>
                  <a:pt x="34289" y="1498853"/>
                </a:lnTo>
                <a:lnTo>
                  <a:pt x="38100" y="1500377"/>
                </a:lnTo>
                <a:lnTo>
                  <a:pt x="41148" y="1498853"/>
                </a:lnTo>
                <a:lnTo>
                  <a:pt x="42672" y="1495043"/>
                </a:lnTo>
                <a:lnTo>
                  <a:pt x="42672" y="1549907"/>
                </a:lnTo>
                <a:lnTo>
                  <a:pt x="76200" y="1482852"/>
                </a:lnTo>
                <a:close/>
              </a:path>
              <a:path w="76200" h="1559560">
                <a:moveTo>
                  <a:pt x="42672" y="1482852"/>
                </a:moveTo>
                <a:lnTo>
                  <a:pt x="42672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2765" y="4571"/>
                </a:lnTo>
                <a:lnTo>
                  <a:pt x="32765" y="1482852"/>
                </a:lnTo>
                <a:lnTo>
                  <a:pt x="42672" y="1482852"/>
                </a:lnTo>
                <a:close/>
              </a:path>
              <a:path w="76200" h="1559560">
                <a:moveTo>
                  <a:pt x="42672" y="1549907"/>
                </a:moveTo>
                <a:lnTo>
                  <a:pt x="42672" y="1495043"/>
                </a:lnTo>
                <a:lnTo>
                  <a:pt x="41148" y="1498853"/>
                </a:lnTo>
                <a:lnTo>
                  <a:pt x="38100" y="1500377"/>
                </a:lnTo>
                <a:lnTo>
                  <a:pt x="34289" y="1498853"/>
                </a:lnTo>
                <a:lnTo>
                  <a:pt x="32765" y="1495043"/>
                </a:lnTo>
                <a:lnTo>
                  <a:pt x="32765" y="1548383"/>
                </a:lnTo>
                <a:lnTo>
                  <a:pt x="38100" y="1559052"/>
                </a:lnTo>
                <a:lnTo>
                  <a:pt x="42672" y="1549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80472" y="3684488"/>
            <a:ext cx="1339125" cy="232841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80472" y="3684488"/>
            <a:ext cx="1339125" cy="232841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266496" y="3675583"/>
            <a:ext cx="766033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connect()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18515" y="3921910"/>
            <a:ext cx="76412" cy="424967"/>
          </a:xfrm>
          <a:custGeom>
            <a:avLst/>
            <a:gdLst/>
            <a:ahLst/>
            <a:cxnLst/>
            <a:rect l="l" t="t" r="r" b="b"/>
            <a:pathLst>
              <a:path w="76200" h="424179">
                <a:moveTo>
                  <a:pt x="76200" y="347472"/>
                </a:moveTo>
                <a:lnTo>
                  <a:pt x="0" y="347472"/>
                </a:lnTo>
                <a:lnTo>
                  <a:pt x="33528" y="414528"/>
                </a:lnTo>
                <a:lnTo>
                  <a:pt x="33528" y="360425"/>
                </a:lnTo>
                <a:lnTo>
                  <a:pt x="35052" y="363474"/>
                </a:lnTo>
                <a:lnTo>
                  <a:pt x="38100" y="364998"/>
                </a:lnTo>
                <a:lnTo>
                  <a:pt x="41910" y="363474"/>
                </a:lnTo>
                <a:lnTo>
                  <a:pt x="42672" y="360425"/>
                </a:lnTo>
                <a:lnTo>
                  <a:pt x="42672" y="414527"/>
                </a:lnTo>
                <a:lnTo>
                  <a:pt x="76200" y="347472"/>
                </a:lnTo>
                <a:close/>
              </a:path>
              <a:path w="76200" h="424179">
                <a:moveTo>
                  <a:pt x="42672" y="34747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347472"/>
                </a:lnTo>
                <a:lnTo>
                  <a:pt x="42672" y="347472"/>
                </a:lnTo>
                <a:close/>
              </a:path>
              <a:path w="76200" h="424179">
                <a:moveTo>
                  <a:pt x="42672" y="414527"/>
                </a:moveTo>
                <a:lnTo>
                  <a:pt x="42672" y="360425"/>
                </a:lnTo>
                <a:lnTo>
                  <a:pt x="41910" y="363474"/>
                </a:lnTo>
                <a:lnTo>
                  <a:pt x="38100" y="364998"/>
                </a:lnTo>
                <a:lnTo>
                  <a:pt x="35052" y="363474"/>
                </a:lnTo>
                <a:lnTo>
                  <a:pt x="33528" y="360425"/>
                </a:lnTo>
                <a:lnTo>
                  <a:pt x="33528" y="414528"/>
                </a:lnTo>
                <a:lnTo>
                  <a:pt x="38100" y="423672"/>
                </a:lnTo>
                <a:lnTo>
                  <a:pt x="42672" y="414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69011" y="4394464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69011" y="4394464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373474" y="4384793"/>
            <a:ext cx="528518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607053" y="4631122"/>
            <a:ext cx="76412" cy="340991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3434" y="275843"/>
                </a:lnTo>
                <a:lnTo>
                  <a:pt x="43434" y="329183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34" y="263651"/>
                </a:moveTo>
                <a:lnTo>
                  <a:pt x="43434" y="4571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1"/>
                </a:lnTo>
                <a:lnTo>
                  <a:pt x="33527" y="263651"/>
                </a:lnTo>
                <a:lnTo>
                  <a:pt x="43434" y="263651"/>
                </a:lnTo>
                <a:close/>
              </a:path>
              <a:path w="76200" h="340360">
                <a:moveTo>
                  <a:pt x="43434" y="329183"/>
                </a:moveTo>
                <a:lnTo>
                  <a:pt x="43434" y="275843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34" y="329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972067" y="5001377"/>
            <a:ext cx="1339125" cy="232841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972067" y="5001377"/>
            <a:ext cx="1339125" cy="232841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401746" y="4992471"/>
            <a:ext cx="479487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10873" y="5238799"/>
            <a:ext cx="76412" cy="540751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2765" y="528827"/>
                </a:lnTo>
                <a:lnTo>
                  <a:pt x="32765" y="476250"/>
                </a:lnTo>
                <a:lnTo>
                  <a:pt x="34289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4289" y="479298"/>
                </a:lnTo>
                <a:lnTo>
                  <a:pt x="32765" y="476250"/>
                </a:lnTo>
                <a:lnTo>
                  <a:pt x="32765" y="52882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77416" y="5809832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76651" y="5809832"/>
            <a:ext cx="1339762" cy="23220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367361" y="5800162"/>
            <a:ext cx="559083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40616" y="1555582"/>
            <a:ext cx="591558" cy="25907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681464" y="3762358"/>
            <a:ext cx="1274811" cy="76341"/>
          </a:xfrm>
          <a:custGeom>
            <a:avLst/>
            <a:gdLst/>
            <a:ahLst/>
            <a:cxnLst/>
            <a:rect l="l" t="t" r="r" b="b"/>
            <a:pathLst>
              <a:path w="1271270" h="76200">
                <a:moveTo>
                  <a:pt x="76200" y="0"/>
                </a:moveTo>
                <a:lnTo>
                  <a:pt x="0" y="38100"/>
                </a:lnTo>
                <a:lnTo>
                  <a:pt x="45719" y="60960"/>
                </a:lnTo>
                <a:lnTo>
                  <a:pt x="45719" y="38100"/>
                </a:lnTo>
                <a:lnTo>
                  <a:pt x="47243" y="35051"/>
                </a:lnTo>
                <a:lnTo>
                  <a:pt x="50292" y="33527"/>
                </a:lnTo>
                <a:lnTo>
                  <a:pt x="53400" y="33527"/>
                </a:lnTo>
                <a:lnTo>
                  <a:pt x="76200" y="0"/>
                </a:lnTo>
                <a:close/>
              </a:path>
              <a:path w="1271270" h="76200">
                <a:moveTo>
                  <a:pt x="53919" y="43434"/>
                </a:moveTo>
                <a:lnTo>
                  <a:pt x="50292" y="38100"/>
                </a:lnTo>
                <a:lnTo>
                  <a:pt x="50292" y="33527"/>
                </a:lnTo>
                <a:lnTo>
                  <a:pt x="47243" y="35051"/>
                </a:lnTo>
                <a:lnTo>
                  <a:pt x="45719" y="38100"/>
                </a:lnTo>
                <a:lnTo>
                  <a:pt x="47243" y="41910"/>
                </a:lnTo>
                <a:lnTo>
                  <a:pt x="50292" y="43434"/>
                </a:lnTo>
                <a:lnTo>
                  <a:pt x="50292" y="38100"/>
                </a:lnTo>
                <a:lnTo>
                  <a:pt x="53400" y="33527"/>
                </a:lnTo>
                <a:lnTo>
                  <a:pt x="53400" y="43434"/>
                </a:lnTo>
                <a:lnTo>
                  <a:pt x="53919" y="43434"/>
                </a:lnTo>
                <a:close/>
              </a:path>
              <a:path w="1271270" h="76200">
                <a:moveTo>
                  <a:pt x="76200" y="76200"/>
                </a:moveTo>
                <a:lnTo>
                  <a:pt x="53919" y="43434"/>
                </a:lnTo>
                <a:lnTo>
                  <a:pt x="50292" y="43434"/>
                </a:lnTo>
                <a:lnTo>
                  <a:pt x="47243" y="41910"/>
                </a:lnTo>
                <a:lnTo>
                  <a:pt x="45719" y="38100"/>
                </a:lnTo>
                <a:lnTo>
                  <a:pt x="45719" y="60960"/>
                </a:lnTo>
                <a:lnTo>
                  <a:pt x="76200" y="76200"/>
                </a:lnTo>
                <a:close/>
              </a:path>
              <a:path w="1271270" h="76200">
                <a:moveTo>
                  <a:pt x="1212341" y="38100"/>
                </a:moveTo>
                <a:lnTo>
                  <a:pt x="1211579" y="35051"/>
                </a:lnTo>
                <a:lnTo>
                  <a:pt x="1207769" y="33527"/>
                </a:lnTo>
                <a:lnTo>
                  <a:pt x="53400" y="33527"/>
                </a:lnTo>
                <a:lnTo>
                  <a:pt x="50292" y="38100"/>
                </a:lnTo>
                <a:lnTo>
                  <a:pt x="53919" y="43434"/>
                </a:lnTo>
                <a:lnTo>
                  <a:pt x="1207769" y="43434"/>
                </a:lnTo>
                <a:lnTo>
                  <a:pt x="1211579" y="41910"/>
                </a:lnTo>
                <a:lnTo>
                  <a:pt x="1212341" y="38100"/>
                </a:lnTo>
                <a:close/>
              </a:path>
              <a:path w="1271270" h="76200">
                <a:moveTo>
                  <a:pt x="1271015" y="38100"/>
                </a:moveTo>
                <a:lnTo>
                  <a:pt x="1194815" y="0"/>
                </a:lnTo>
                <a:lnTo>
                  <a:pt x="1194815" y="33527"/>
                </a:lnTo>
                <a:lnTo>
                  <a:pt x="1207769" y="33527"/>
                </a:lnTo>
                <a:lnTo>
                  <a:pt x="1211579" y="35051"/>
                </a:lnTo>
                <a:lnTo>
                  <a:pt x="1212341" y="38100"/>
                </a:lnTo>
                <a:lnTo>
                  <a:pt x="1212341" y="67437"/>
                </a:lnTo>
                <a:lnTo>
                  <a:pt x="1271015" y="38100"/>
                </a:lnTo>
                <a:close/>
              </a:path>
              <a:path w="1271270" h="76200">
                <a:moveTo>
                  <a:pt x="1212341" y="67437"/>
                </a:moveTo>
                <a:lnTo>
                  <a:pt x="1212341" y="38100"/>
                </a:lnTo>
                <a:lnTo>
                  <a:pt x="1211579" y="41910"/>
                </a:lnTo>
                <a:lnTo>
                  <a:pt x="1207769" y="43434"/>
                </a:lnTo>
                <a:lnTo>
                  <a:pt x="1194815" y="43434"/>
                </a:lnTo>
                <a:lnTo>
                  <a:pt x="1194815" y="76200"/>
                </a:lnTo>
                <a:lnTo>
                  <a:pt x="121234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826889" y="3390066"/>
            <a:ext cx="1083144" cy="391886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376148" marR="5092" indent="-364055"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synchronization  point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660833" y="4446375"/>
            <a:ext cx="1321295" cy="76341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5052"/>
                </a:lnTo>
                <a:lnTo>
                  <a:pt x="63245" y="33528"/>
                </a:lnTo>
                <a:lnTo>
                  <a:pt x="76200" y="33528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315973" y="35052"/>
                </a:lnTo>
                <a:lnTo>
                  <a:pt x="1312163" y="33528"/>
                </a:lnTo>
                <a:lnTo>
                  <a:pt x="63245" y="33528"/>
                </a:lnTo>
                <a:lnTo>
                  <a:pt x="59436" y="35052"/>
                </a:lnTo>
                <a:lnTo>
                  <a:pt x="58674" y="38100"/>
                </a:lnTo>
                <a:lnTo>
                  <a:pt x="59436" y="41910"/>
                </a:lnTo>
                <a:lnTo>
                  <a:pt x="63245" y="43434"/>
                </a:lnTo>
                <a:lnTo>
                  <a:pt x="1312163" y="43434"/>
                </a:lnTo>
                <a:lnTo>
                  <a:pt x="1315973" y="41910"/>
                </a:lnTo>
                <a:lnTo>
                  <a:pt x="1317497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3434"/>
                </a:lnTo>
                <a:lnTo>
                  <a:pt x="63245" y="43434"/>
                </a:lnTo>
                <a:lnTo>
                  <a:pt x="59436" y="41910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49371" y="5073139"/>
            <a:ext cx="1321295" cy="76341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43" y="38100"/>
                </a:moveTo>
                <a:lnTo>
                  <a:pt x="12634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2671"/>
                </a:lnTo>
                <a:lnTo>
                  <a:pt x="1263426" y="42671"/>
                </a:lnTo>
                <a:lnTo>
                  <a:pt x="1266443" y="38100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241297" y="0"/>
                </a:lnTo>
                <a:lnTo>
                  <a:pt x="1263426" y="33527"/>
                </a:lnTo>
                <a:lnTo>
                  <a:pt x="1266443" y="33527"/>
                </a:lnTo>
                <a:lnTo>
                  <a:pt x="1270253" y="35051"/>
                </a:lnTo>
                <a:lnTo>
                  <a:pt x="1271777" y="38100"/>
                </a:lnTo>
                <a:lnTo>
                  <a:pt x="1271777" y="60959"/>
                </a:lnTo>
                <a:lnTo>
                  <a:pt x="1317497" y="38100"/>
                </a:lnTo>
                <a:close/>
              </a:path>
              <a:path w="1317625" h="76200">
                <a:moveTo>
                  <a:pt x="1271777" y="60959"/>
                </a:moveTo>
                <a:lnTo>
                  <a:pt x="1271777" y="38100"/>
                </a:lnTo>
                <a:lnTo>
                  <a:pt x="1270253" y="41909"/>
                </a:lnTo>
                <a:lnTo>
                  <a:pt x="1266443" y="42671"/>
                </a:lnTo>
                <a:lnTo>
                  <a:pt x="1263426" y="42672"/>
                </a:lnTo>
                <a:lnTo>
                  <a:pt x="1241297" y="76200"/>
                </a:lnTo>
                <a:lnTo>
                  <a:pt x="1271777" y="60959"/>
                </a:lnTo>
                <a:close/>
              </a:path>
              <a:path w="1317625" h="76200">
                <a:moveTo>
                  <a:pt x="1271777" y="38100"/>
                </a:moveTo>
                <a:lnTo>
                  <a:pt x="1270253" y="35051"/>
                </a:lnTo>
                <a:lnTo>
                  <a:pt x="1266443" y="33527"/>
                </a:lnTo>
                <a:lnTo>
                  <a:pt x="1263426" y="33527"/>
                </a:lnTo>
                <a:lnTo>
                  <a:pt x="1266443" y="38100"/>
                </a:lnTo>
                <a:lnTo>
                  <a:pt x="1266443" y="42671"/>
                </a:lnTo>
                <a:lnTo>
                  <a:pt x="1270253" y="41909"/>
                </a:lnTo>
                <a:lnTo>
                  <a:pt x="1271777" y="38100"/>
                </a:lnTo>
                <a:close/>
              </a:path>
              <a:path w="1317625" h="76200">
                <a:moveTo>
                  <a:pt x="1266443" y="42671"/>
                </a:moveTo>
                <a:lnTo>
                  <a:pt x="1266443" y="38100"/>
                </a:lnTo>
                <a:lnTo>
                  <a:pt x="1263426" y="42672"/>
                </a:lnTo>
                <a:lnTo>
                  <a:pt x="1266443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364" y="4475385"/>
            <a:ext cx="220322" cy="666715"/>
          </a:xfrm>
          <a:custGeom>
            <a:avLst/>
            <a:gdLst/>
            <a:ahLst/>
            <a:cxnLst/>
            <a:rect l="l" t="t" r="r" b="b"/>
            <a:pathLst>
              <a:path w="219710" h="665479">
                <a:moveTo>
                  <a:pt x="169186" y="39412"/>
                </a:moveTo>
                <a:lnTo>
                  <a:pt x="168402" y="33527"/>
                </a:lnTo>
                <a:lnTo>
                  <a:pt x="163369" y="32226"/>
                </a:lnTo>
                <a:lnTo>
                  <a:pt x="146304" y="47243"/>
                </a:lnTo>
                <a:lnTo>
                  <a:pt x="111252" y="81534"/>
                </a:lnTo>
                <a:lnTo>
                  <a:pt x="80990" y="114280"/>
                </a:lnTo>
                <a:lnTo>
                  <a:pt x="55024" y="145578"/>
                </a:lnTo>
                <a:lnTo>
                  <a:pt x="25651" y="192421"/>
                </a:lnTo>
                <a:lnTo>
                  <a:pt x="3302" y="256210"/>
                </a:lnTo>
                <a:lnTo>
                  <a:pt x="0" y="291084"/>
                </a:lnTo>
                <a:lnTo>
                  <a:pt x="5599" y="334616"/>
                </a:lnTo>
                <a:lnTo>
                  <a:pt x="10021" y="348820"/>
                </a:lnTo>
                <a:lnTo>
                  <a:pt x="10021" y="279178"/>
                </a:lnTo>
                <a:lnTo>
                  <a:pt x="15011" y="246430"/>
                </a:lnTo>
                <a:lnTo>
                  <a:pt x="40386" y="185927"/>
                </a:lnTo>
                <a:lnTo>
                  <a:pt x="61145" y="153466"/>
                </a:lnTo>
                <a:lnTo>
                  <a:pt x="85344" y="123443"/>
                </a:lnTo>
                <a:lnTo>
                  <a:pt x="134874" y="70865"/>
                </a:lnTo>
                <a:lnTo>
                  <a:pt x="169186" y="39412"/>
                </a:lnTo>
                <a:close/>
              </a:path>
              <a:path w="219710" h="665479">
                <a:moveTo>
                  <a:pt x="219456" y="660653"/>
                </a:moveTo>
                <a:lnTo>
                  <a:pt x="218694" y="657605"/>
                </a:lnTo>
                <a:lnTo>
                  <a:pt x="198882" y="633222"/>
                </a:lnTo>
                <a:lnTo>
                  <a:pt x="141732" y="560069"/>
                </a:lnTo>
                <a:lnTo>
                  <a:pt x="103489" y="508115"/>
                </a:lnTo>
                <a:lnTo>
                  <a:pt x="67818" y="454151"/>
                </a:lnTo>
                <a:lnTo>
                  <a:pt x="49202" y="420902"/>
                </a:lnTo>
                <a:lnTo>
                  <a:pt x="32289" y="385567"/>
                </a:lnTo>
                <a:lnTo>
                  <a:pt x="19044" y="348901"/>
                </a:lnTo>
                <a:lnTo>
                  <a:pt x="10021" y="279178"/>
                </a:lnTo>
                <a:lnTo>
                  <a:pt x="10021" y="348820"/>
                </a:lnTo>
                <a:lnTo>
                  <a:pt x="39917" y="423872"/>
                </a:lnTo>
                <a:lnTo>
                  <a:pt x="65392" y="468312"/>
                </a:lnTo>
                <a:lnTo>
                  <a:pt x="94250" y="511770"/>
                </a:lnTo>
                <a:lnTo>
                  <a:pt x="124869" y="553604"/>
                </a:lnTo>
                <a:lnTo>
                  <a:pt x="155626" y="593172"/>
                </a:lnTo>
                <a:lnTo>
                  <a:pt x="211074" y="662939"/>
                </a:lnTo>
                <a:lnTo>
                  <a:pt x="214122" y="665226"/>
                </a:lnTo>
                <a:lnTo>
                  <a:pt x="217932" y="663701"/>
                </a:lnTo>
                <a:lnTo>
                  <a:pt x="219456" y="660653"/>
                </a:lnTo>
                <a:close/>
              </a:path>
              <a:path w="219710" h="665479">
                <a:moveTo>
                  <a:pt x="205740" y="0"/>
                </a:moveTo>
                <a:lnTo>
                  <a:pt x="124206" y="22098"/>
                </a:lnTo>
                <a:lnTo>
                  <a:pt x="163369" y="32226"/>
                </a:lnTo>
                <a:lnTo>
                  <a:pt x="165354" y="30479"/>
                </a:lnTo>
                <a:lnTo>
                  <a:pt x="168402" y="28955"/>
                </a:lnTo>
                <a:lnTo>
                  <a:pt x="171450" y="30479"/>
                </a:lnTo>
                <a:lnTo>
                  <a:pt x="172974" y="34289"/>
                </a:lnTo>
                <a:lnTo>
                  <a:pt x="172974" y="67817"/>
                </a:lnTo>
                <a:lnTo>
                  <a:pt x="174498" y="79248"/>
                </a:lnTo>
                <a:lnTo>
                  <a:pt x="205740" y="0"/>
                </a:lnTo>
                <a:close/>
              </a:path>
              <a:path w="219710" h="665479">
                <a:moveTo>
                  <a:pt x="172974" y="34289"/>
                </a:moveTo>
                <a:lnTo>
                  <a:pt x="171450" y="30479"/>
                </a:lnTo>
                <a:lnTo>
                  <a:pt x="168402" y="28955"/>
                </a:lnTo>
                <a:lnTo>
                  <a:pt x="165354" y="30479"/>
                </a:lnTo>
                <a:lnTo>
                  <a:pt x="163369" y="32226"/>
                </a:lnTo>
                <a:lnTo>
                  <a:pt x="168402" y="33527"/>
                </a:lnTo>
                <a:lnTo>
                  <a:pt x="169186" y="39412"/>
                </a:lnTo>
                <a:lnTo>
                  <a:pt x="171450" y="37337"/>
                </a:lnTo>
                <a:lnTo>
                  <a:pt x="172974" y="34289"/>
                </a:lnTo>
                <a:close/>
              </a:path>
              <a:path w="219710" h="665479">
                <a:moveTo>
                  <a:pt x="172974" y="67817"/>
                </a:moveTo>
                <a:lnTo>
                  <a:pt x="172974" y="34289"/>
                </a:lnTo>
                <a:lnTo>
                  <a:pt x="171450" y="37337"/>
                </a:lnTo>
                <a:lnTo>
                  <a:pt x="169186" y="39412"/>
                </a:lnTo>
                <a:lnTo>
                  <a:pt x="172974" y="67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29912" y="4491417"/>
            <a:ext cx="238152" cy="666715"/>
          </a:xfrm>
          <a:custGeom>
            <a:avLst/>
            <a:gdLst/>
            <a:ahLst/>
            <a:cxnLst/>
            <a:rect l="l" t="t" r="r" b="b"/>
            <a:pathLst>
              <a:path w="237489" h="665479">
                <a:moveTo>
                  <a:pt x="79248" y="31241"/>
                </a:moveTo>
                <a:lnTo>
                  <a:pt x="0" y="0"/>
                </a:lnTo>
                <a:lnTo>
                  <a:pt x="22098" y="82296"/>
                </a:lnTo>
                <a:lnTo>
                  <a:pt x="28956" y="57435"/>
                </a:lnTo>
                <a:lnTo>
                  <a:pt x="28956" y="37337"/>
                </a:lnTo>
                <a:lnTo>
                  <a:pt x="30480" y="34289"/>
                </a:lnTo>
                <a:lnTo>
                  <a:pt x="34289" y="32765"/>
                </a:lnTo>
                <a:lnTo>
                  <a:pt x="37337" y="34289"/>
                </a:lnTo>
                <a:lnTo>
                  <a:pt x="39892" y="37245"/>
                </a:lnTo>
                <a:lnTo>
                  <a:pt x="79248" y="31241"/>
                </a:lnTo>
                <a:close/>
              </a:path>
              <a:path w="237489" h="665479">
                <a:moveTo>
                  <a:pt x="227075" y="425960"/>
                </a:moveTo>
                <a:lnTo>
                  <a:pt x="227075" y="368808"/>
                </a:lnTo>
                <a:lnTo>
                  <a:pt x="223089" y="407843"/>
                </a:lnTo>
                <a:lnTo>
                  <a:pt x="210197" y="444650"/>
                </a:lnTo>
                <a:lnTo>
                  <a:pt x="190885" y="478969"/>
                </a:lnTo>
                <a:lnTo>
                  <a:pt x="167639" y="510539"/>
                </a:lnTo>
                <a:lnTo>
                  <a:pt x="129744" y="551030"/>
                </a:lnTo>
                <a:lnTo>
                  <a:pt x="89154" y="589026"/>
                </a:lnTo>
                <a:lnTo>
                  <a:pt x="28194" y="639317"/>
                </a:lnTo>
                <a:lnTo>
                  <a:pt x="6858" y="656082"/>
                </a:lnTo>
                <a:lnTo>
                  <a:pt x="5334" y="659891"/>
                </a:lnTo>
                <a:lnTo>
                  <a:pt x="6096" y="662939"/>
                </a:lnTo>
                <a:lnTo>
                  <a:pt x="9144" y="665226"/>
                </a:lnTo>
                <a:lnTo>
                  <a:pt x="12954" y="663701"/>
                </a:lnTo>
                <a:lnTo>
                  <a:pt x="54863" y="630174"/>
                </a:lnTo>
                <a:lnTo>
                  <a:pt x="95250" y="595884"/>
                </a:lnTo>
                <a:lnTo>
                  <a:pt x="133350" y="560832"/>
                </a:lnTo>
                <a:lnTo>
                  <a:pt x="171083" y="520382"/>
                </a:lnTo>
                <a:lnTo>
                  <a:pt x="202347" y="478786"/>
                </a:lnTo>
                <a:lnTo>
                  <a:pt x="219422" y="447174"/>
                </a:lnTo>
                <a:lnTo>
                  <a:pt x="227075" y="425960"/>
                </a:lnTo>
                <a:close/>
              </a:path>
              <a:path w="237489" h="665479">
                <a:moveTo>
                  <a:pt x="39892" y="37245"/>
                </a:moveTo>
                <a:lnTo>
                  <a:pt x="37337" y="34289"/>
                </a:lnTo>
                <a:lnTo>
                  <a:pt x="34289" y="32765"/>
                </a:lnTo>
                <a:lnTo>
                  <a:pt x="30480" y="34289"/>
                </a:lnTo>
                <a:lnTo>
                  <a:pt x="28956" y="37337"/>
                </a:lnTo>
                <a:lnTo>
                  <a:pt x="30480" y="41148"/>
                </a:lnTo>
                <a:lnTo>
                  <a:pt x="32726" y="43768"/>
                </a:lnTo>
                <a:lnTo>
                  <a:pt x="34289" y="38100"/>
                </a:lnTo>
                <a:lnTo>
                  <a:pt x="39892" y="37245"/>
                </a:lnTo>
                <a:close/>
              </a:path>
              <a:path w="237489" h="665479">
                <a:moveTo>
                  <a:pt x="32726" y="43768"/>
                </a:moveTo>
                <a:lnTo>
                  <a:pt x="30480" y="41148"/>
                </a:lnTo>
                <a:lnTo>
                  <a:pt x="28956" y="37337"/>
                </a:lnTo>
                <a:lnTo>
                  <a:pt x="28956" y="57435"/>
                </a:lnTo>
                <a:lnTo>
                  <a:pt x="32726" y="43768"/>
                </a:lnTo>
                <a:close/>
              </a:path>
              <a:path w="237489" h="665479">
                <a:moveTo>
                  <a:pt x="236982" y="379475"/>
                </a:moveTo>
                <a:lnTo>
                  <a:pt x="233077" y="333526"/>
                </a:lnTo>
                <a:lnTo>
                  <a:pt x="218333" y="286475"/>
                </a:lnTo>
                <a:lnTo>
                  <a:pt x="195163" y="239273"/>
                </a:lnTo>
                <a:lnTo>
                  <a:pt x="165977" y="192871"/>
                </a:lnTo>
                <a:lnTo>
                  <a:pt x="133190" y="148221"/>
                </a:lnTo>
                <a:lnTo>
                  <a:pt x="99212" y="106273"/>
                </a:lnTo>
                <a:lnTo>
                  <a:pt x="39892" y="37245"/>
                </a:lnTo>
                <a:lnTo>
                  <a:pt x="34289" y="38100"/>
                </a:lnTo>
                <a:lnTo>
                  <a:pt x="32726" y="43768"/>
                </a:lnTo>
                <a:lnTo>
                  <a:pt x="39624" y="51815"/>
                </a:lnTo>
                <a:lnTo>
                  <a:pt x="81534" y="99822"/>
                </a:lnTo>
                <a:lnTo>
                  <a:pt x="119949" y="147058"/>
                </a:lnTo>
                <a:lnTo>
                  <a:pt x="154370" y="193436"/>
                </a:lnTo>
                <a:lnTo>
                  <a:pt x="191032" y="251954"/>
                </a:lnTo>
                <a:lnTo>
                  <a:pt x="209349" y="289912"/>
                </a:lnTo>
                <a:lnTo>
                  <a:pt x="222433" y="329599"/>
                </a:lnTo>
                <a:lnTo>
                  <a:pt x="227075" y="368808"/>
                </a:lnTo>
                <a:lnTo>
                  <a:pt x="227075" y="425960"/>
                </a:lnTo>
                <a:lnTo>
                  <a:pt x="231561" y="413527"/>
                </a:lnTo>
                <a:lnTo>
                  <a:pt x="236982" y="379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700046" y="1159370"/>
            <a:ext cx="1095242" cy="57510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 marR="5092" indent="145749">
              <a:spcBef>
                <a:spcPts val="100"/>
              </a:spcBef>
            </a:pPr>
            <a:r>
              <a:rPr b="1" spc="-10" dirty="0">
                <a:latin typeface="Arial"/>
                <a:cs typeface="Arial"/>
              </a:rPr>
              <a:t>Stream  </a:t>
            </a:r>
            <a:r>
              <a:rPr b="1" spc="-5" dirty="0">
                <a:latin typeface="Arial"/>
                <a:cs typeface="Arial"/>
              </a:rPr>
              <a:t>(e.g.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TCP)</a:t>
            </a:r>
            <a:endParaRPr dirty="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887722" y="1871382"/>
            <a:ext cx="1339125" cy="232841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86958" y="1871382"/>
            <a:ext cx="1339762" cy="232841"/>
          </a:xfrm>
          <a:custGeom>
            <a:avLst/>
            <a:gdLst/>
            <a:ahLst/>
            <a:cxnLst/>
            <a:rect l="l" t="t" r="r" b="b"/>
            <a:pathLst>
              <a:path w="1336039" h="232410">
                <a:moveTo>
                  <a:pt x="0" y="0"/>
                </a:moveTo>
                <a:lnTo>
                  <a:pt x="0" y="232410"/>
                </a:lnTo>
                <a:lnTo>
                  <a:pt x="1335786" y="232410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228000" y="1862474"/>
            <a:ext cx="657782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525764" y="2108803"/>
            <a:ext cx="76412" cy="340991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890779" y="2479058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890779" y="2479058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320457" y="2470151"/>
            <a:ext cx="480124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528809" y="2716480"/>
            <a:ext cx="76412" cy="1634978"/>
          </a:xfrm>
          <a:custGeom>
            <a:avLst/>
            <a:gdLst/>
            <a:ahLst/>
            <a:cxnLst/>
            <a:rect l="l" t="t" r="r" b="b"/>
            <a:pathLst>
              <a:path w="76200" h="1631950">
                <a:moveTo>
                  <a:pt x="76200" y="1555241"/>
                </a:moveTo>
                <a:lnTo>
                  <a:pt x="0" y="1555241"/>
                </a:lnTo>
                <a:lnTo>
                  <a:pt x="33540" y="1622323"/>
                </a:lnTo>
                <a:lnTo>
                  <a:pt x="33540" y="1568195"/>
                </a:lnTo>
                <a:lnTo>
                  <a:pt x="35064" y="1571243"/>
                </a:lnTo>
                <a:lnTo>
                  <a:pt x="38100" y="1572767"/>
                </a:lnTo>
                <a:lnTo>
                  <a:pt x="41922" y="1571243"/>
                </a:lnTo>
                <a:lnTo>
                  <a:pt x="42684" y="1568195"/>
                </a:lnTo>
                <a:lnTo>
                  <a:pt x="42684" y="1622272"/>
                </a:lnTo>
                <a:lnTo>
                  <a:pt x="76200" y="1555241"/>
                </a:lnTo>
                <a:close/>
              </a:path>
              <a:path w="76200" h="1631950">
                <a:moveTo>
                  <a:pt x="42684" y="1555241"/>
                </a:moveTo>
                <a:lnTo>
                  <a:pt x="42684" y="4571"/>
                </a:lnTo>
                <a:lnTo>
                  <a:pt x="41922" y="761"/>
                </a:lnTo>
                <a:lnTo>
                  <a:pt x="38100" y="0"/>
                </a:lnTo>
                <a:lnTo>
                  <a:pt x="35064" y="761"/>
                </a:lnTo>
                <a:lnTo>
                  <a:pt x="33540" y="4571"/>
                </a:lnTo>
                <a:lnTo>
                  <a:pt x="33540" y="1555241"/>
                </a:lnTo>
                <a:lnTo>
                  <a:pt x="42684" y="1555241"/>
                </a:lnTo>
                <a:close/>
              </a:path>
              <a:path w="76200" h="1631950">
                <a:moveTo>
                  <a:pt x="42684" y="1622272"/>
                </a:moveTo>
                <a:lnTo>
                  <a:pt x="42684" y="1568195"/>
                </a:lnTo>
                <a:lnTo>
                  <a:pt x="41922" y="1571243"/>
                </a:lnTo>
                <a:lnTo>
                  <a:pt x="38100" y="1572767"/>
                </a:lnTo>
                <a:lnTo>
                  <a:pt x="35064" y="1571243"/>
                </a:lnTo>
                <a:lnTo>
                  <a:pt x="33540" y="1568195"/>
                </a:lnTo>
                <a:lnTo>
                  <a:pt x="33540" y="1622323"/>
                </a:lnTo>
                <a:lnTo>
                  <a:pt x="38100" y="1631441"/>
                </a:lnTo>
                <a:lnTo>
                  <a:pt x="42684" y="162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85429" y="4394464"/>
            <a:ext cx="1339762" cy="23220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5" y="231648"/>
                </a:lnTo>
                <a:lnTo>
                  <a:pt x="1335785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885430" y="4394464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137081" y="4384793"/>
            <a:ext cx="834167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524236" y="4631122"/>
            <a:ext cx="76412" cy="340991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15" y="330682"/>
                </a:lnTo>
                <a:lnTo>
                  <a:pt x="33515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3515" y="4571"/>
                </a:lnTo>
                <a:lnTo>
                  <a:pt x="33515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15" y="275843"/>
                </a:lnTo>
                <a:lnTo>
                  <a:pt x="33515" y="330682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89251" y="5001377"/>
            <a:ext cx="1339125" cy="232841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89251" y="5001377"/>
            <a:ext cx="1339125" cy="232841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220359" y="4992471"/>
            <a:ext cx="676885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527281" y="5238799"/>
            <a:ext cx="76412" cy="540751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3540" y="530377"/>
                </a:lnTo>
                <a:lnTo>
                  <a:pt x="33540" y="476250"/>
                </a:lnTo>
                <a:lnTo>
                  <a:pt x="35064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5064" y="479298"/>
                </a:lnTo>
                <a:lnTo>
                  <a:pt x="33540" y="476250"/>
                </a:lnTo>
                <a:lnTo>
                  <a:pt x="33540" y="53037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93835" y="5809832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93835" y="5809832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283780" y="5800162"/>
            <a:ext cx="559083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33347" y="1557109"/>
            <a:ext cx="659692" cy="25907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536159" y="1879780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36159" y="1879780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877213" y="1870872"/>
            <a:ext cx="657782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174977" y="2706557"/>
            <a:ext cx="76412" cy="1635614"/>
          </a:xfrm>
          <a:custGeom>
            <a:avLst/>
            <a:gdLst/>
            <a:ahLst/>
            <a:cxnLst/>
            <a:rect l="l" t="t" r="r" b="b"/>
            <a:pathLst>
              <a:path w="76200" h="1632585">
                <a:moveTo>
                  <a:pt x="76200" y="1556004"/>
                </a:moveTo>
                <a:lnTo>
                  <a:pt x="0" y="1556004"/>
                </a:lnTo>
                <a:lnTo>
                  <a:pt x="32753" y="1621510"/>
                </a:lnTo>
                <a:lnTo>
                  <a:pt x="32753" y="1568196"/>
                </a:lnTo>
                <a:lnTo>
                  <a:pt x="34277" y="1572006"/>
                </a:lnTo>
                <a:lnTo>
                  <a:pt x="38100" y="1573530"/>
                </a:lnTo>
                <a:lnTo>
                  <a:pt x="41148" y="1572006"/>
                </a:lnTo>
                <a:lnTo>
                  <a:pt x="42672" y="1568196"/>
                </a:lnTo>
                <a:lnTo>
                  <a:pt x="42672" y="1623060"/>
                </a:lnTo>
                <a:lnTo>
                  <a:pt x="76200" y="1556004"/>
                </a:lnTo>
                <a:close/>
              </a:path>
              <a:path w="76200" h="1632585">
                <a:moveTo>
                  <a:pt x="42672" y="1556004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1556004"/>
                </a:lnTo>
                <a:lnTo>
                  <a:pt x="42672" y="1556004"/>
                </a:lnTo>
                <a:close/>
              </a:path>
              <a:path w="76200" h="1632585">
                <a:moveTo>
                  <a:pt x="42672" y="1623060"/>
                </a:moveTo>
                <a:lnTo>
                  <a:pt x="42672" y="1568196"/>
                </a:lnTo>
                <a:lnTo>
                  <a:pt x="41148" y="1572006"/>
                </a:lnTo>
                <a:lnTo>
                  <a:pt x="38100" y="1573530"/>
                </a:lnTo>
                <a:lnTo>
                  <a:pt x="34277" y="1572006"/>
                </a:lnTo>
                <a:lnTo>
                  <a:pt x="32753" y="1568196"/>
                </a:lnTo>
                <a:lnTo>
                  <a:pt x="32753" y="1621510"/>
                </a:lnTo>
                <a:lnTo>
                  <a:pt x="38100" y="1632204"/>
                </a:lnTo>
                <a:lnTo>
                  <a:pt x="42672" y="1623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534631" y="4402099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534631" y="4402099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865751" y="4393191"/>
            <a:ext cx="676885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8172672" y="4638756"/>
            <a:ext cx="76412" cy="340991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6"/>
                </a:lnTo>
                <a:lnTo>
                  <a:pt x="35051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3446" y="276606"/>
                </a:lnTo>
                <a:lnTo>
                  <a:pt x="43446" y="329158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46" y="263651"/>
                </a:moveTo>
                <a:lnTo>
                  <a:pt x="43446" y="5334"/>
                </a:lnTo>
                <a:lnTo>
                  <a:pt x="41922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63651"/>
                </a:lnTo>
                <a:lnTo>
                  <a:pt x="43446" y="263651"/>
                </a:lnTo>
                <a:close/>
              </a:path>
              <a:path w="76200" h="340360">
                <a:moveTo>
                  <a:pt x="43446" y="329158"/>
                </a:moveTo>
                <a:lnTo>
                  <a:pt x="43446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51" y="279654"/>
                </a:lnTo>
                <a:lnTo>
                  <a:pt x="33527" y="276606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46" y="329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537686" y="5009775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537686" y="5009775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789338" y="5000869"/>
            <a:ext cx="834167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8176506" y="5246433"/>
            <a:ext cx="76412" cy="541388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2753" y="529564"/>
                </a:lnTo>
                <a:lnTo>
                  <a:pt x="32753" y="476250"/>
                </a:lnTo>
                <a:lnTo>
                  <a:pt x="34277" y="480060"/>
                </a:lnTo>
                <a:lnTo>
                  <a:pt x="38100" y="480822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0822"/>
                </a:lnTo>
                <a:lnTo>
                  <a:pt x="34277" y="480060"/>
                </a:lnTo>
                <a:lnTo>
                  <a:pt x="32753" y="476250"/>
                </a:lnTo>
                <a:lnTo>
                  <a:pt x="32753" y="52956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543048" y="5817468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42284" y="5817468"/>
            <a:ext cx="1339762" cy="23220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7932992" y="5808560"/>
            <a:ext cx="559083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906248" y="1563217"/>
            <a:ext cx="591558" cy="25907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226465" y="4454773"/>
            <a:ext cx="1321295" cy="76341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2765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4289"/>
                </a:lnTo>
                <a:lnTo>
                  <a:pt x="63246" y="32765"/>
                </a:lnTo>
                <a:lnTo>
                  <a:pt x="76200" y="32765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315974" y="34289"/>
                </a:lnTo>
                <a:lnTo>
                  <a:pt x="1312164" y="32765"/>
                </a:lnTo>
                <a:lnTo>
                  <a:pt x="63246" y="32765"/>
                </a:lnTo>
                <a:lnTo>
                  <a:pt x="59436" y="34289"/>
                </a:lnTo>
                <a:lnTo>
                  <a:pt x="58674" y="38100"/>
                </a:lnTo>
                <a:lnTo>
                  <a:pt x="59436" y="41148"/>
                </a:lnTo>
                <a:lnTo>
                  <a:pt x="63246" y="42672"/>
                </a:lnTo>
                <a:lnTo>
                  <a:pt x="1312164" y="42672"/>
                </a:lnTo>
                <a:lnTo>
                  <a:pt x="1315974" y="41148"/>
                </a:lnTo>
                <a:lnTo>
                  <a:pt x="1317498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59436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214991" y="5081536"/>
            <a:ext cx="1321295" cy="76341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56" y="38100"/>
                </a:moveTo>
                <a:lnTo>
                  <a:pt x="1262934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1263437" y="42672"/>
                </a:lnTo>
                <a:lnTo>
                  <a:pt x="1266456" y="38100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241298" y="0"/>
                </a:lnTo>
                <a:lnTo>
                  <a:pt x="1262934" y="32765"/>
                </a:lnTo>
                <a:lnTo>
                  <a:pt x="1266456" y="32765"/>
                </a:lnTo>
                <a:lnTo>
                  <a:pt x="1270266" y="34289"/>
                </a:lnTo>
                <a:lnTo>
                  <a:pt x="1271790" y="38100"/>
                </a:lnTo>
                <a:lnTo>
                  <a:pt x="1271790" y="60953"/>
                </a:lnTo>
                <a:lnTo>
                  <a:pt x="1317498" y="38100"/>
                </a:lnTo>
                <a:close/>
              </a:path>
              <a:path w="1317625" h="76200">
                <a:moveTo>
                  <a:pt x="1271790" y="60953"/>
                </a:moveTo>
                <a:lnTo>
                  <a:pt x="1271790" y="38100"/>
                </a:lnTo>
                <a:lnTo>
                  <a:pt x="1270266" y="41148"/>
                </a:lnTo>
                <a:lnTo>
                  <a:pt x="1266456" y="42672"/>
                </a:lnTo>
                <a:lnTo>
                  <a:pt x="1263437" y="42672"/>
                </a:lnTo>
                <a:lnTo>
                  <a:pt x="1241298" y="76200"/>
                </a:lnTo>
                <a:lnTo>
                  <a:pt x="1271790" y="60953"/>
                </a:lnTo>
                <a:close/>
              </a:path>
              <a:path w="1317625" h="76200">
                <a:moveTo>
                  <a:pt x="1271790" y="38100"/>
                </a:moveTo>
                <a:lnTo>
                  <a:pt x="1270266" y="34289"/>
                </a:lnTo>
                <a:lnTo>
                  <a:pt x="1266456" y="32765"/>
                </a:lnTo>
                <a:lnTo>
                  <a:pt x="1262934" y="32765"/>
                </a:lnTo>
                <a:lnTo>
                  <a:pt x="1266456" y="38100"/>
                </a:lnTo>
                <a:lnTo>
                  <a:pt x="1266456" y="42672"/>
                </a:lnTo>
                <a:lnTo>
                  <a:pt x="1270266" y="41148"/>
                </a:lnTo>
                <a:lnTo>
                  <a:pt x="1271790" y="38100"/>
                </a:lnTo>
                <a:close/>
              </a:path>
              <a:path w="1317625" h="76200">
                <a:moveTo>
                  <a:pt x="1266456" y="42672"/>
                </a:moveTo>
                <a:lnTo>
                  <a:pt x="1266456" y="38100"/>
                </a:lnTo>
                <a:lnTo>
                  <a:pt x="1263437" y="42672"/>
                </a:lnTo>
                <a:lnTo>
                  <a:pt x="1266456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605761" y="4483019"/>
            <a:ext cx="219685" cy="666715"/>
          </a:xfrm>
          <a:custGeom>
            <a:avLst/>
            <a:gdLst/>
            <a:ahLst/>
            <a:cxnLst/>
            <a:rect l="l" t="t" r="r" b="b"/>
            <a:pathLst>
              <a:path w="219075" h="665479">
                <a:moveTo>
                  <a:pt x="168344" y="39486"/>
                </a:moveTo>
                <a:lnTo>
                  <a:pt x="167639" y="34290"/>
                </a:lnTo>
                <a:lnTo>
                  <a:pt x="161938" y="32815"/>
                </a:lnTo>
                <a:lnTo>
                  <a:pt x="145541" y="47244"/>
                </a:lnTo>
                <a:lnTo>
                  <a:pt x="110489" y="82296"/>
                </a:lnTo>
                <a:lnTo>
                  <a:pt x="77724" y="117348"/>
                </a:lnTo>
                <a:lnTo>
                  <a:pt x="49444" y="153066"/>
                </a:lnTo>
                <a:lnTo>
                  <a:pt x="16859" y="209638"/>
                </a:lnTo>
                <a:lnTo>
                  <a:pt x="481" y="270774"/>
                </a:lnTo>
                <a:lnTo>
                  <a:pt x="0" y="302514"/>
                </a:lnTo>
                <a:lnTo>
                  <a:pt x="7214" y="344435"/>
                </a:lnTo>
                <a:lnTo>
                  <a:pt x="9143" y="350051"/>
                </a:lnTo>
                <a:lnTo>
                  <a:pt x="9143" y="301752"/>
                </a:lnTo>
                <a:lnTo>
                  <a:pt x="10822" y="264344"/>
                </a:lnTo>
                <a:lnTo>
                  <a:pt x="31925" y="200017"/>
                </a:lnTo>
                <a:lnTo>
                  <a:pt x="66236" y="146265"/>
                </a:lnTo>
                <a:lnTo>
                  <a:pt x="98396" y="107973"/>
                </a:lnTo>
                <a:lnTo>
                  <a:pt x="134112" y="71628"/>
                </a:lnTo>
                <a:lnTo>
                  <a:pt x="152400" y="54102"/>
                </a:lnTo>
                <a:lnTo>
                  <a:pt x="168344" y="39486"/>
                </a:lnTo>
                <a:close/>
              </a:path>
              <a:path w="219075" h="665479">
                <a:moveTo>
                  <a:pt x="218693" y="661416"/>
                </a:moveTo>
                <a:lnTo>
                  <a:pt x="217931" y="657606"/>
                </a:lnTo>
                <a:lnTo>
                  <a:pt x="198119" y="633222"/>
                </a:lnTo>
                <a:lnTo>
                  <a:pt x="160019" y="584454"/>
                </a:lnTo>
                <a:lnTo>
                  <a:pt x="135155" y="553062"/>
                </a:lnTo>
                <a:lnTo>
                  <a:pt x="111294" y="520879"/>
                </a:lnTo>
                <a:lnTo>
                  <a:pt x="88555" y="487908"/>
                </a:lnTo>
                <a:lnTo>
                  <a:pt x="67055" y="454152"/>
                </a:lnTo>
                <a:lnTo>
                  <a:pt x="46750" y="417832"/>
                </a:lnTo>
                <a:lnTo>
                  <a:pt x="29532" y="381061"/>
                </a:lnTo>
                <a:lnTo>
                  <a:pt x="16597" y="342736"/>
                </a:lnTo>
                <a:lnTo>
                  <a:pt x="9143" y="301752"/>
                </a:lnTo>
                <a:lnTo>
                  <a:pt x="9143" y="350051"/>
                </a:lnTo>
                <a:lnTo>
                  <a:pt x="21986" y="387434"/>
                </a:lnTo>
                <a:lnTo>
                  <a:pt x="42807" y="430857"/>
                </a:lnTo>
                <a:lnTo>
                  <a:pt x="68169" y="474050"/>
                </a:lnTo>
                <a:lnTo>
                  <a:pt x="96563" y="516361"/>
                </a:lnTo>
                <a:lnTo>
                  <a:pt x="126483" y="557134"/>
                </a:lnTo>
                <a:lnTo>
                  <a:pt x="156420" y="595718"/>
                </a:lnTo>
                <a:lnTo>
                  <a:pt x="210312" y="663702"/>
                </a:lnTo>
                <a:lnTo>
                  <a:pt x="213360" y="665226"/>
                </a:lnTo>
                <a:lnTo>
                  <a:pt x="217169" y="664464"/>
                </a:lnTo>
                <a:lnTo>
                  <a:pt x="218693" y="661416"/>
                </a:lnTo>
                <a:close/>
              </a:path>
              <a:path w="219075" h="665479">
                <a:moveTo>
                  <a:pt x="204977" y="0"/>
                </a:moveTo>
                <a:lnTo>
                  <a:pt x="123443" y="22860"/>
                </a:lnTo>
                <a:lnTo>
                  <a:pt x="161938" y="32815"/>
                </a:lnTo>
                <a:lnTo>
                  <a:pt x="164591" y="30480"/>
                </a:lnTo>
                <a:lnTo>
                  <a:pt x="167639" y="28956"/>
                </a:lnTo>
                <a:lnTo>
                  <a:pt x="170687" y="30480"/>
                </a:lnTo>
                <a:lnTo>
                  <a:pt x="172212" y="34290"/>
                </a:lnTo>
                <a:lnTo>
                  <a:pt x="172212" y="68008"/>
                </a:lnTo>
                <a:lnTo>
                  <a:pt x="173736" y="79248"/>
                </a:lnTo>
                <a:lnTo>
                  <a:pt x="204977" y="0"/>
                </a:lnTo>
                <a:close/>
              </a:path>
              <a:path w="219075" h="665479">
                <a:moveTo>
                  <a:pt x="172212" y="34290"/>
                </a:moveTo>
                <a:lnTo>
                  <a:pt x="170687" y="30480"/>
                </a:lnTo>
                <a:lnTo>
                  <a:pt x="167639" y="28956"/>
                </a:lnTo>
                <a:lnTo>
                  <a:pt x="164591" y="30480"/>
                </a:lnTo>
                <a:lnTo>
                  <a:pt x="161938" y="32815"/>
                </a:lnTo>
                <a:lnTo>
                  <a:pt x="167639" y="34290"/>
                </a:lnTo>
                <a:lnTo>
                  <a:pt x="168344" y="39486"/>
                </a:lnTo>
                <a:lnTo>
                  <a:pt x="170687" y="37337"/>
                </a:lnTo>
                <a:lnTo>
                  <a:pt x="172212" y="34290"/>
                </a:lnTo>
                <a:close/>
              </a:path>
              <a:path w="219075" h="665479">
                <a:moveTo>
                  <a:pt x="172212" y="68008"/>
                </a:moveTo>
                <a:lnTo>
                  <a:pt x="172212" y="34290"/>
                </a:lnTo>
                <a:lnTo>
                  <a:pt x="170687" y="37337"/>
                </a:lnTo>
                <a:lnTo>
                  <a:pt x="168344" y="39486"/>
                </a:lnTo>
                <a:lnTo>
                  <a:pt x="172212" y="6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895532" y="4499051"/>
            <a:ext cx="237514" cy="666715"/>
          </a:xfrm>
          <a:custGeom>
            <a:avLst/>
            <a:gdLst/>
            <a:ahLst/>
            <a:cxnLst/>
            <a:rect l="l" t="t" r="r" b="b"/>
            <a:pathLst>
              <a:path w="236854" h="665479">
                <a:moveTo>
                  <a:pt x="79248" y="32003"/>
                </a:moveTo>
                <a:lnTo>
                  <a:pt x="0" y="0"/>
                </a:lnTo>
                <a:lnTo>
                  <a:pt x="22098" y="82295"/>
                </a:lnTo>
                <a:lnTo>
                  <a:pt x="28968" y="57415"/>
                </a:lnTo>
                <a:lnTo>
                  <a:pt x="28968" y="38100"/>
                </a:lnTo>
                <a:lnTo>
                  <a:pt x="30492" y="34289"/>
                </a:lnTo>
                <a:lnTo>
                  <a:pt x="34302" y="33527"/>
                </a:lnTo>
                <a:lnTo>
                  <a:pt x="37350" y="35051"/>
                </a:lnTo>
                <a:lnTo>
                  <a:pt x="39400" y="37408"/>
                </a:lnTo>
                <a:lnTo>
                  <a:pt x="79248" y="32003"/>
                </a:lnTo>
                <a:close/>
              </a:path>
              <a:path w="236854" h="665479">
                <a:moveTo>
                  <a:pt x="227075" y="427697"/>
                </a:moveTo>
                <a:lnTo>
                  <a:pt x="227075" y="369569"/>
                </a:lnTo>
                <a:lnTo>
                  <a:pt x="223702" y="405332"/>
                </a:lnTo>
                <a:lnTo>
                  <a:pt x="212450" y="439821"/>
                </a:lnTo>
                <a:lnTo>
                  <a:pt x="174498" y="501395"/>
                </a:lnTo>
                <a:lnTo>
                  <a:pt x="143122" y="538110"/>
                </a:lnTo>
                <a:lnTo>
                  <a:pt x="89153" y="589026"/>
                </a:lnTo>
                <a:lnTo>
                  <a:pt x="48780" y="623315"/>
                </a:lnTo>
                <a:lnTo>
                  <a:pt x="6870" y="656843"/>
                </a:lnTo>
                <a:lnTo>
                  <a:pt x="5346" y="659891"/>
                </a:lnTo>
                <a:lnTo>
                  <a:pt x="6108" y="663701"/>
                </a:lnTo>
                <a:lnTo>
                  <a:pt x="9156" y="665226"/>
                </a:lnTo>
                <a:lnTo>
                  <a:pt x="12953" y="664463"/>
                </a:lnTo>
                <a:lnTo>
                  <a:pt x="75450" y="613409"/>
                </a:lnTo>
                <a:lnTo>
                  <a:pt x="116436" y="577275"/>
                </a:lnTo>
                <a:lnTo>
                  <a:pt x="156400" y="537558"/>
                </a:lnTo>
                <a:lnTo>
                  <a:pt x="196445" y="488125"/>
                </a:lnTo>
                <a:lnTo>
                  <a:pt x="214572" y="457490"/>
                </a:lnTo>
                <a:lnTo>
                  <a:pt x="227075" y="427697"/>
                </a:lnTo>
                <a:close/>
              </a:path>
              <a:path w="236854" h="665479">
                <a:moveTo>
                  <a:pt x="39400" y="37408"/>
                </a:moveTo>
                <a:lnTo>
                  <a:pt x="37350" y="35051"/>
                </a:lnTo>
                <a:lnTo>
                  <a:pt x="34302" y="33527"/>
                </a:lnTo>
                <a:lnTo>
                  <a:pt x="30492" y="34289"/>
                </a:lnTo>
                <a:lnTo>
                  <a:pt x="28968" y="38100"/>
                </a:lnTo>
                <a:lnTo>
                  <a:pt x="30492" y="41147"/>
                </a:lnTo>
                <a:lnTo>
                  <a:pt x="32736" y="43769"/>
                </a:lnTo>
                <a:lnTo>
                  <a:pt x="34302" y="38100"/>
                </a:lnTo>
                <a:lnTo>
                  <a:pt x="39400" y="37408"/>
                </a:lnTo>
                <a:close/>
              </a:path>
              <a:path w="236854" h="665479">
                <a:moveTo>
                  <a:pt x="32736" y="43769"/>
                </a:moveTo>
                <a:lnTo>
                  <a:pt x="30492" y="41147"/>
                </a:lnTo>
                <a:lnTo>
                  <a:pt x="28968" y="38100"/>
                </a:lnTo>
                <a:lnTo>
                  <a:pt x="28968" y="57415"/>
                </a:lnTo>
                <a:lnTo>
                  <a:pt x="32736" y="43769"/>
                </a:lnTo>
                <a:close/>
              </a:path>
              <a:path w="236854" h="665479">
                <a:moveTo>
                  <a:pt x="236232" y="390143"/>
                </a:moveTo>
                <a:lnTo>
                  <a:pt x="235599" y="348397"/>
                </a:lnTo>
                <a:lnTo>
                  <a:pt x="225243" y="305446"/>
                </a:lnTo>
                <a:lnTo>
                  <a:pt x="207031" y="262051"/>
                </a:lnTo>
                <a:lnTo>
                  <a:pt x="182829" y="218976"/>
                </a:lnTo>
                <a:lnTo>
                  <a:pt x="154507" y="176981"/>
                </a:lnTo>
                <a:lnTo>
                  <a:pt x="123930" y="136829"/>
                </a:lnTo>
                <a:lnTo>
                  <a:pt x="92967" y="99282"/>
                </a:lnTo>
                <a:lnTo>
                  <a:pt x="39400" y="37408"/>
                </a:lnTo>
                <a:lnTo>
                  <a:pt x="34302" y="38100"/>
                </a:lnTo>
                <a:lnTo>
                  <a:pt x="32736" y="43769"/>
                </a:lnTo>
                <a:lnTo>
                  <a:pt x="39624" y="51815"/>
                </a:lnTo>
                <a:lnTo>
                  <a:pt x="60972" y="76200"/>
                </a:lnTo>
                <a:lnTo>
                  <a:pt x="101358" y="124205"/>
                </a:lnTo>
                <a:lnTo>
                  <a:pt x="135724" y="167836"/>
                </a:lnTo>
                <a:lnTo>
                  <a:pt x="164398" y="208381"/>
                </a:lnTo>
                <a:lnTo>
                  <a:pt x="196179" y="262136"/>
                </a:lnTo>
                <a:lnTo>
                  <a:pt x="223019" y="332473"/>
                </a:lnTo>
                <a:lnTo>
                  <a:pt x="227075" y="369569"/>
                </a:lnTo>
                <a:lnTo>
                  <a:pt x="227075" y="427697"/>
                </a:lnTo>
                <a:lnTo>
                  <a:pt x="228290" y="424804"/>
                </a:lnTo>
                <a:lnTo>
                  <a:pt x="236232" y="390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6252700" y="1167005"/>
            <a:ext cx="1121350" cy="57510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 marR="5092" indent="19094"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Datagram  (e.g.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UDP)</a:t>
            </a:r>
            <a:endParaRPr dirty="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543048" y="2456920"/>
            <a:ext cx="1339125" cy="23220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542284" y="2456920"/>
            <a:ext cx="1339762" cy="23220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7972727" y="2448013"/>
            <a:ext cx="480124" cy="227655"/>
          </a:xfrm>
          <a:prstGeom prst="rect">
            <a:avLst/>
          </a:prstGeom>
        </p:spPr>
        <p:txBody>
          <a:bodyPr vert="horz" wrap="square" lIns="0" tIns="12093" rIns="0" bIns="0" rtlCol="0">
            <a:spAutoFit/>
          </a:bodyPr>
          <a:lstStyle/>
          <a:p>
            <a:pPr marL="12729"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8165032" y="2113384"/>
            <a:ext cx="76412" cy="340991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2"/>
                </a:moveTo>
                <a:lnTo>
                  <a:pt x="0" y="263652"/>
                </a:lnTo>
                <a:lnTo>
                  <a:pt x="33540" y="330733"/>
                </a:lnTo>
                <a:lnTo>
                  <a:pt x="33540" y="276606"/>
                </a:lnTo>
                <a:lnTo>
                  <a:pt x="35064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2672" y="276606"/>
                </a:lnTo>
                <a:lnTo>
                  <a:pt x="42672" y="330708"/>
                </a:lnTo>
                <a:lnTo>
                  <a:pt x="76200" y="263652"/>
                </a:lnTo>
                <a:close/>
              </a:path>
              <a:path w="76200" h="340360">
                <a:moveTo>
                  <a:pt x="42672" y="263652"/>
                </a:moveTo>
                <a:lnTo>
                  <a:pt x="42672" y="4572"/>
                </a:lnTo>
                <a:lnTo>
                  <a:pt x="41922" y="1524"/>
                </a:lnTo>
                <a:lnTo>
                  <a:pt x="38100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263652"/>
                </a:lnTo>
                <a:lnTo>
                  <a:pt x="42672" y="263652"/>
                </a:lnTo>
                <a:close/>
              </a:path>
              <a:path w="76200" h="340360">
                <a:moveTo>
                  <a:pt x="42672" y="330708"/>
                </a:moveTo>
                <a:lnTo>
                  <a:pt x="42672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64" y="279654"/>
                </a:lnTo>
                <a:lnTo>
                  <a:pt x="33540" y="276606"/>
                </a:lnTo>
                <a:lnTo>
                  <a:pt x="33540" y="330733"/>
                </a:lnTo>
                <a:lnTo>
                  <a:pt x="38100" y="339852"/>
                </a:lnTo>
                <a:lnTo>
                  <a:pt x="42672" y="330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0808" y="262359"/>
            <a:ext cx="6663786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41" dirty="0"/>
              <a:t>Socket </a:t>
            </a:r>
            <a:r>
              <a:rPr sz="4200" spc="-271" dirty="0"/>
              <a:t>creation </a:t>
            </a:r>
            <a:r>
              <a:rPr sz="4200" spc="-311" dirty="0"/>
              <a:t>in </a:t>
            </a:r>
            <a:r>
              <a:rPr sz="4200" spc="-215" dirty="0"/>
              <a:t>C:</a:t>
            </a:r>
            <a:r>
              <a:rPr sz="4200" spc="-526" dirty="0"/>
              <a:t> </a:t>
            </a:r>
            <a:r>
              <a:rPr sz="3600" spc="-5" dirty="0">
                <a:latin typeface="Courier New"/>
                <a:cs typeface="Courier New"/>
              </a:rPr>
              <a:t>socket()</a:t>
            </a:r>
            <a:endParaRPr sz="36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2756" y="1273628"/>
            <a:ext cx="7652687" cy="337811"/>
          </a:xfrm>
          <a:custGeom>
            <a:avLst/>
            <a:gdLst/>
            <a:ahLst/>
            <a:cxnLst/>
            <a:rect l="l" t="t" r="r" b="b"/>
            <a:pathLst>
              <a:path w="7631430" h="337184">
                <a:moveTo>
                  <a:pt x="7631417" y="280416"/>
                </a:moveTo>
                <a:lnTo>
                  <a:pt x="7631417" y="56388"/>
                </a:lnTo>
                <a:lnTo>
                  <a:pt x="7627001" y="34397"/>
                </a:lnTo>
                <a:lnTo>
                  <a:pt x="7614943" y="16478"/>
                </a:lnTo>
                <a:lnTo>
                  <a:pt x="7597025" y="4417"/>
                </a:lnTo>
                <a:lnTo>
                  <a:pt x="7575029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7575029" y="336804"/>
                </a:lnTo>
                <a:lnTo>
                  <a:pt x="7597025" y="332386"/>
                </a:lnTo>
                <a:lnTo>
                  <a:pt x="7614943" y="320325"/>
                </a:lnTo>
                <a:lnTo>
                  <a:pt x="7627001" y="302406"/>
                </a:lnTo>
                <a:lnTo>
                  <a:pt x="7631417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6503" y="990600"/>
            <a:ext cx="8787409" cy="6127449"/>
          </a:xfrm>
          <a:prstGeom prst="rect">
            <a:avLst/>
          </a:prstGeom>
        </p:spPr>
        <p:txBody>
          <a:bodyPr vert="horz" wrap="square" lIns="0" tIns="56009" rIns="0" bIns="0" rtlCol="0">
            <a:spAutoFit/>
          </a:bodyPr>
          <a:lstStyle/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b="1" u="sng" dirty="0" err="1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 err="1" smtClean="0">
                <a:solidFill>
                  <a:srgbClr val="3B822F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 smtClean="0">
                <a:solidFill>
                  <a:srgbClr val="3B822F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= socket(</a:t>
            </a:r>
            <a:r>
              <a:rPr sz="2800" b="1" u="sng" dirty="0" smtClean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family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</a:t>
            </a:r>
            <a:r>
              <a:rPr sz="2800" b="1" u="sng" dirty="0" smtClean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type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-25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 smtClean="0">
                <a:solidFill>
                  <a:srgbClr val="CA68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protocol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 smtClean="0">
              <a:latin typeface="Courier New"/>
              <a:cs typeface="Courier New"/>
            </a:endParaRPr>
          </a:p>
          <a:p>
            <a:pPr marL="683559" lvl="1" indent="-325868">
              <a:spcBef>
                <a:spcPts val="311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60" dirty="0" err="1" smtClean="0">
                <a:solidFill>
                  <a:srgbClr val="3B822F"/>
                </a:solidFill>
                <a:latin typeface="Arial"/>
                <a:cs typeface="Arial"/>
              </a:rPr>
              <a:t>sockid</a:t>
            </a:r>
            <a:r>
              <a:rPr sz="2800" spc="-160" dirty="0" smtClean="0">
                <a:latin typeface="Arial"/>
                <a:cs typeface="Arial"/>
              </a:rPr>
              <a:t>: </a:t>
            </a:r>
            <a:r>
              <a:rPr sz="2800" spc="-90" dirty="0" smtClean="0">
                <a:latin typeface="Arial"/>
                <a:cs typeface="Arial"/>
              </a:rPr>
              <a:t>socket </a:t>
            </a:r>
            <a:r>
              <a:rPr sz="2800" spc="-45" dirty="0" smtClean="0">
                <a:latin typeface="Arial"/>
                <a:cs typeface="Arial"/>
              </a:rPr>
              <a:t>descriptor, </a:t>
            </a:r>
            <a:r>
              <a:rPr sz="2800" spc="-105" dirty="0" smtClean="0">
                <a:latin typeface="Arial"/>
                <a:cs typeface="Arial"/>
              </a:rPr>
              <a:t>an </a:t>
            </a:r>
            <a:r>
              <a:rPr sz="2800" spc="-35" dirty="0" smtClean="0">
                <a:latin typeface="Arial"/>
                <a:cs typeface="Arial"/>
              </a:rPr>
              <a:t>integer </a:t>
            </a:r>
            <a:r>
              <a:rPr sz="2800" spc="15" dirty="0" smtClean="0">
                <a:latin typeface="Arial"/>
                <a:cs typeface="Arial"/>
              </a:rPr>
              <a:t>(like </a:t>
            </a:r>
            <a:r>
              <a:rPr sz="2800" spc="-230" dirty="0" smtClean="0">
                <a:latin typeface="Arial"/>
                <a:cs typeface="Arial"/>
              </a:rPr>
              <a:t>a</a:t>
            </a:r>
            <a:r>
              <a:rPr sz="2800" spc="25" dirty="0" smtClean="0">
                <a:latin typeface="Arial"/>
                <a:cs typeface="Arial"/>
              </a:rPr>
              <a:t> </a:t>
            </a:r>
            <a:r>
              <a:rPr sz="2800" spc="-10" dirty="0" smtClean="0">
                <a:latin typeface="Arial"/>
                <a:cs typeface="Arial"/>
              </a:rPr>
              <a:t>file-handle)</a:t>
            </a:r>
            <a:endParaRPr sz="2800" dirty="0" smtClean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70" dirty="0" smtClean="0">
                <a:solidFill>
                  <a:srgbClr val="9A6500"/>
                </a:solidFill>
                <a:latin typeface="Arial"/>
                <a:cs typeface="Arial"/>
              </a:rPr>
              <a:t>family</a:t>
            </a:r>
            <a:r>
              <a:rPr sz="2800" spc="-70" dirty="0" smtClean="0">
                <a:latin typeface="Arial"/>
                <a:cs typeface="Arial"/>
              </a:rPr>
              <a:t>: </a:t>
            </a:r>
            <a:r>
              <a:rPr sz="2800" spc="-35" dirty="0" smtClean="0">
                <a:latin typeface="Arial"/>
                <a:cs typeface="Arial"/>
              </a:rPr>
              <a:t>integer, </a:t>
            </a:r>
            <a:r>
              <a:rPr sz="2800" spc="-30" dirty="0" smtClean="0">
                <a:latin typeface="Arial"/>
                <a:cs typeface="Arial"/>
              </a:rPr>
              <a:t>communication </a:t>
            </a:r>
            <a:r>
              <a:rPr sz="2800" spc="-50" dirty="0" smtClean="0">
                <a:latin typeface="Arial"/>
                <a:cs typeface="Arial"/>
              </a:rPr>
              <a:t>domain,</a:t>
            </a:r>
            <a:r>
              <a:rPr sz="2800" spc="-105" dirty="0" smtClean="0">
                <a:latin typeface="Arial"/>
                <a:cs typeface="Arial"/>
              </a:rPr>
              <a:t> e.g.,</a:t>
            </a:r>
            <a:endParaRPr sz="2800" dirty="0" smtClean="0">
              <a:latin typeface="Arial"/>
              <a:cs typeface="Arial"/>
            </a:endParaRPr>
          </a:p>
          <a:p>
            <a:pPr marL="1037431" lvl="2" indent="-351963">
              <a:lnSpc>
                <a:spcPct val="150000"/>
              </a:lnSpc>
              <a:buClr>
                <a:srgbClr val="9A6500"/>
              </a:buClr>
              <a:buSzPct val="66666"/>
              <a:buFont typeface="Wingdings"/>
              <a:buChar char=""/>
              <a:tabLst>
                <a:tab pos="1037431" algn="l"/>
                <a:tab pos="1038067" algn="l"/>
              </a:tabLst>
            </a:pPr>
            <a:r>
              <a:rPr sz="2800" spc="-60" dirty="0" smtClean="0">
                <a:latin typeface="Arial"/>
                <a:cs typeface="Arial"/>
              </a:rPr>
              <a:t>PF_INET, </a:t>
            </a:r>
            <a:r>
              <a:rPr sz="2800" spc="-25" dirty="0" smtClean="0">
                <a:latin typeface="Arial"/>
                <a:cs typeface="Arial"/>
              </a:rPr>
              <a:t>IPv4 </a:t>
            </a:r>
            <a:r>
              <a:rPr sz="2800" spc="-45" dirty="0" smtClean="0">
                <a:latin typeface="Arial"/>
                <a:cs typeface="Arial"/>
              </a:rPr>
              <a:t>protocols, </a:t>
            </a:r>
            <a:r>
              <a:rPr sz="2800" spc="10" dirty="0" smtClean="0">
                <a:latin typeface="Arial"/>
                <a:cs typeface="Arial"/>
              </a:rPr>
              <a:t>Internet </a:t>
            </a:r>
            <a:r>
              <a:rPr sz="2800" spc="-150" dirty="0" smtClean="0">
                <a:latin typeface="Arial"/>
                <a:cs typeface="Arial"/>
              </a:rPr>
              <a:t>addresses </a:t>
            </a:r>
            <a:r>
              <a:rPr sz="2800" spc="-40" dirty="0" smtClean="0">
                <a:latin typeface="Arial"/>
                <a:cs typeface="Arial"/>
              </a:rPr>
              <a:t>PF_UNIX, </a:t>
            </a:r>
            <a:r>
              <a:rPr sz="2800" spc="-60" dirty="0" smtClean="0">
                <a:latin typeface="Arial"/>
                <a:cs typeface="Arial"/>
              </a:rPr>
              <a:t>Local </a:t>
            </a:r>
            <a:r>
              <a:rPr sz="2800" spc="-25" dirty="0" smtClean="0">
                <a:latin typeface="Arial"/>
                <a:cs typeface="Arial"/>
              </a:rPr>
              <a:t>communication, File</a:t>
            </a:r>
            <a:r>
              <a:rPr sz="2800" spc="-85" dirty="0" smtClean="0">
                <a:latin typeface="Arial"/>
                <a:cs typeface="Arial"/>
              </a:rPr>
              <a:t> </a:t>
            </a:r>
            <a:r>
              <a:rPr sz="2800" spc="-155" dirty="0" smtClean="0">
                <a:latin typeface="Arial"/>
                <a:cs typeface="Arial"/>
              </a:rPr>
              <a:t>addresses</a:t>
            </a:r>
            <a:endParaRPr sz="2800" dirty="0" smtClean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00" dirty="0" smtClean="0">
                <a:solidFill>
                  <a:srgbClr val="CC9A00"/>
                </a:solidFill>
                <a:latin typeface="Arial"/>
                <a:cs typeface="Arial"/>
              </a:rPr>
              <a:t>type</a:t>
            </a:r>
            <a:r>
              <a:rPr sz="2800" spc="-100" dirty="0" smtClean="0">
                <a:latin typeface="Arial"/>
                <a:cs typeface="Arial"/>
              </a:rPr>
              <a:t>: </a:t>
            </a:r>
            <a:r>
              <a:rPr sz="2800" spc="-30" dirty="0" smtClean="0">
                <a:latin typeface="Arial"/>
                <a:cs typeface="Arial"/>
              </a:rPr>
              <a:t>communication</a:t>
            </a:r>
            <a:r>
              <a:rPr sz="2800" spc="-25" dirty="0" smtClean="0">
                <a:latin typeface="Arial"/>
                <a:cs typeface="Arial"/>
              </a:rPr>
              <a:t> </a:t>
            </a:r>
            <a:r>
              <a:rPr sz="2800" spc="-35" dirty="0" smtClean="0">
                <a:latin typeface="Arial"/>
                <a:cs typeface="Arial"/>
              </a:rPr>
              <a:t>type</a:t>
            </a:r>
            <a:endParaRPr sz="2800" dirty="0" smtClean="0">
              <a:latin typeface="Arial"/>
              <a:cs typeface="Arial"/>
            </a:endParaRPr>
          </a:p>
          <a:p>
            <a:pPr marL="1037431" lvl="2" indent="-351963">
              <a:lnSpc>
                <a:spcPct val="150000"/>
              </a:lnSpc>
              <a:buClr>
                <a:srgbClr val="9A6500"/>
              </a:buClr>
              <a:buSzPct val="66666"/>
              <a:buFont typeface="Wingdings"/>
              <a:buChar char=""/>
              <a:tabLst>
                <a:tab pos="1037431" algn="l"/>
                <a:tab pos="1038067" algn="l"/>
              </a:tabLst>
            </a:pPr>
            <a:r>
              <a:rPr sz="2800" spc="-95" dirty="0" smtClean="0">
                <a:latin typeface="Arial"/>
                <a:cs typeface="Arial"/>
              </a:rPr>
              <a:t>SOCK_STREAM </a:t>
            </a:r>
            <a:r>
              <a:rPr sz="2800" spc="80" dirty="0" smtClean="0">
                <a:latin typeface="Arial"/>
                <a:cs typeface="Arial"/>
              </a:rPr>
              <a:t>- </a:t>
            </a:r>
            <a:r>
              <a:rPr sz="2800" spc="-30" dirty="0" smtClean="0">
                <a:latin typeface="Arial"/>
                <a:cs typeface="Arial"/>
              </a:rPr>
              <a:t>reliable, 2-way, </a:t>
            </a:r>
            <a:r>
              <a:rPr sz="2800" spc="-60" dirty="0" smtClean="0">
                <a:latin typeface="Arial"/>
                <a:cs typeface="Arial"/>
              </a:rPr>
              <a:t>connection-based</a:t>
            </a:r>
            <a:r>
              <a:rPr sz="2800" spc="-180" dirty="0" smtClean="0">
                <a:latin typeface="Arial"/>
                <a:cs typeface="Arial"/>
              </a:rPr>
              <a:t> </a:t>
            </a:r>
            <a:r>
              <a:rPr sz="2800" spc="-70" dirty="0" smtClean="0">
                <a:latin typeface="Arial"/>
                <a:cs typeface="Arial"/>
              </a:rPr>
              <a:t>service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0808" y="0"/>
            <a:ext cx="6663786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41" dirty="0"/>
              <a:t>Socket </a:t>
            </a:r>
            <a:r>
              <a:rPr sz="4200" spc="-271" dirty="0"/>
              <a:t>creation </a:t>
            </a:r>
            <a:r>
              <a:rPr sz="4200" spc="-311" dirty="0"/>
              <a:t>in </a:t>
            </a:r>
            <a:r>
              <a:rPr sz="4200" spc="-215" dirty="0"/>
              <a:t>C:</a:t>
            </a:r>
            <a:r>
              <a:rPr sz="4200" spc="-526" dirty="0"/>
              <a:t> </a:t>
            </a:r>
            <a:r>
              <a:rPr sz="3600" spc="-5" dirty="0">
                <a:latin typeface="Courier New"/>
                <a:cs typeface="Courier New"/>
              </a:rPr>
              <a:t>socket()</a:t>
            </a:r>
            <a:endParaRPr sz="36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2756" y="1273628"/>
            <a:ext cx="7652687" cy="337811"/>
          </a:xfrm>
          <a:custGeom>
            <a:avLst/>
            <a:gdLst/>
            <a:ahLst/>
            <a:cxnLst/>
            <a:rect l="l" t="t" r="r" b="b"/>
            <a:pathLst>
              <a:path w="7631430" h="337184">
                <a:moveTo>
                  <a:pt x="7631417" y="280416"/>
                </a:moveTo>
                <a:lnTo>
                  <a:pt x="7631417" y="56388"/>
                </a:lnTo>
                <a:lnTo>
                  <a:pt x="7627001" y="34397"/>
                </a:lnTo>
                <a:lnTo>
                  <a:pt x="7614943" y="16478"/>
                </a:lnTo>
                <a:lnTo>
                  <a:pt x="7597025" y="4417"/>
                </a:lnTo>
                <a:lnTo>
                  <a:pt x="7575029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7575029" y="336804"/>
                </a:lnTo>
                <a:lnTo>
                  <a:pt x="7597025" y="332386"/>
                </a:lnTo>
                <a:lnTo>
                  <a:pt x="7614943" y="320325"/>
                </a:lnTo>
                <a:lnTo>
                  <a:pt x="7627001" y="302406"/>
                </a:lnTo>
                <a:lnTo>
                  <a:pt x="7631417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2572" y="606205"/>
            <a:ext cx="8436628" cy="5873533"/>
          </a:xfrm>
          <a:prstGeom prst="rect">
            <a:avLst/>
          </a:prstGeom>
        </p:spPr>
        <p:txBody>
          <a:bodyPr vert="horz" wrap="square" lIns="0" tIns="56009" rIns="0" bIns="0" rtlCol="0">
            <a:spAutoFit/>
          </a:bodyPr>
          <a:lstStyle/>
          <a:p>
            <a:pPr marL="1037431" lvl="2" indent="-351963">
              <a:lnSpc>
                <a:spcPct val="150000"/>
              </a:lnSpc>
              <a:buClr>
                <a:srgbClr val="9A6500"/>
              </a:buClr>
              <a:buSzPct val="66666"/>
              <a:buFont typeface="Wingdings"/>
              <a:buChar char=""/>
              <a:tabLst>
                <a:tab pos="1037431" algn="l"/>
                <a:tab pos="1038067" algn="l"/>
              </a:tabLst>
            </a:pPr>
            <a:r>
              <a:rPr sz="2800" spc="-70" dirty="0" smtClean="0">
                <a:latin typeface="Arial"/>
                <a:cs typeface="Arial"/>
              </a:rPr>
              <a:t>SOCK_DGRAM </a:t>
            </a:r>
            <a:r>
              <a:rPr sz="2800" spc="80" dirty="0">
                <a:latin typeface="Arial"/>
                <a:cs typeface="Arial"/>
              </a:rPr>
              <a:t>- </a:t>
            </a:r>
            <a:r>
              <a:rPr sz="2800" spc="-30" dirty="0">
                <a:latin typeface="Arial"/>
                <a:cs typeface="Arial"/>
              </a:rPr>
              <a:t>unreliable, </a:t>
            </a:r>
            <a:r>
              <a:rPr sz="2800" spc="-65" dirty="0">
                <a:latin typeface="Arial"/>
                <a:cs typeface="Arial"/>
              </a:rPr>
              <a:t>connectionless, </a:t>
            </a:r>
            <a:r>
              <a:rPr sz="2800" spc="-190" dirty="0">
                <a:latin typeface="Arial"/>
                <a:cs typeface="Arial"/>
              </a:rPr>
              <a:t>messages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30" dirty="0">
                <a:latin typeface="Arial"/>
                <a:cs typeface="Arial"/>
              </a:rPr>
              <a:t>maximum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5" dirty="0" smtClean="0">
                <a:latin typeface="Arial"/>
                <a:cs typeface="Arial"/>
              </a:rPr>
              <a:t>length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25" dirty="0">
                <a:solidFill>
                  <a:srgbClr val="CA6800"/>
                </a:solidFill>
                <a:latin typeface="Arial"/>
                <a:cs typeface="Arial"/>
              </a:rPr>
              <a:t>protocol</a:t>
            </a:r>
            <a:r>
              <a:rPr sz="2800" spc="-125" dirty="0">
                <a:latin typeface="Arial"/>
                <a:cs typeface="Arial"/>
              </a:rPr>
              <a:t>: </a:t>
            </a:r>
            <a:r>
              <a:rPr sz="2800" spc="-90" dirty="0">
                <a:latin typeface="Arial"/>
                <a:cs typeface="Arial"/>
              </a:rPr>
              <a:t>specifies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protocol</a:t>
            </a:r>
            <a:endParaRPr sz="2800" dirty="0">
              <a:latin typeface="Arial"/>
              <a:cs typeface="Arial"/>
            </a:endParaRPr>
          </a:p>
          <a:p>
            <a:pPr marL="1037431" lvl="2" indent="-351963">
              <a:lnSpc>
                <a:spcPct val="150000"/>
              </a:lnSpc>
              <a:buClr>
                <a:srgbClr val="9A6500"/>
              </a:buClr>
              <a:buSzPct val="66666"/>
              <a:buFont typeface="Wingdings"/>
              <a:buChar char=""/>
              <a:tabLst>
                <a:tab pos="1037431" algn="l"/>
                <a:tab pos="1038067" algn="l"/>
              </a:tabLst>
            </a:pPr>
            <a:r>
              <a:rPr sz="2800" spc="-70" dirty="0">
                <a:latin typeface="Arial"/>
                <a:cs typeface="Arial"/>
              </a:rPr>
              <a:t>IPPROTO_TCP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IPPROTO_UDP</a:t>
            </a:r>
            <a:endParaRPr sz="2800" dirty="0">
              <a:latin typeface="Arial"/>
              <a:cs typeface="Arial"/>
            </a:endParaRPr>
          </a:p>
          <a:p>
            <a:pPr marL="1037431" lvl="2" indent="-351963">
              <a:lnSpc>
                <a:spcPct val="150000"/>
              </a:lnSpc>
              <a:buClr>
                <a:srgbClr val="9A6500"/>
              </a:buClr>
              <a:buSzPct val="66666"/>
              <a:buFont typeface="Wingdings"/>
              <a:buChar char=""/>
              <a:tabLst>
                <a:tab pos="1037431" algn="l"/>
                <a:tab pos="1038067" algn="l"/>
              </a:tabLst>
            </a:pPr>
            <a:r>
              <a:rPr sz="2800" spc="-40" dirty="0">
                <a:latin typeface="Arial"/>
                <a:cs typeface="Arial"/>
              </a:rPr>
              <a:t>usually </a:t>
            </a:r>
            <a:r>
              <a:rPr sz="2800" spc="-114" dirty="0">
                <a:latin typeface="Arial"/>
                <a:cs typeface="Arial"/>
              </a:rPr>
              <a:t>set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105" dirty="0">
                <a:latin typeface="Arial"/>
                <a:cs typeface="Arial"/>
              </a:rPr>
              <a:t>0 </a:t>
            </a:r>
            <a:r>
              <a:rPr sz="2800" spc="-45" dirty="0">
                <a:latin typeface="Arial"/>
                <a:cs typeface="Arial"/>
              </a:rPr>
              <a:t>(i.e., </a:t>
            </a:r>
            <a:r>
              <a:rPr sz="2800" spc="-155" dirty="0">
                <a:latin typeface="Arial"/>
                <a:cs typeface="Arial"/>
              </a:rPr>
              <a:t>use </a:t>
            </a:r>
            <a:r>
              <a:rPr sz="2800" spc="-30" dirty="0">
                <a:latin typeface="Arial"/>
                <a:cs typeface="Arial"/>
              </a:rPr>
              <a:t>default</a:t>
            </a:r>
            <a:r>
              <a:rPr sz="2800" spc="-236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protocol)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45" dirty="0">
                <a:latin typeface="Arial"/>
                <a:cs typeface="Arial"/>
              </a:rPr>
              <a:t>upon </a:t>
            </a:r>
            <a:r>
              <a:rPr sz="2800" spc="-5" dirty="0">
                <a:latin typeface="Arial"/>
                <a:cs typeface="Arial"/>
              </a:rPr>
              <a:t>failure </a:t>
            </a:r>
            <a:r>
              <a:rPr sz="2800" spc="-30" dirty="0">
                <a:latin typeface="Arial"/>
                <a:cs typeface="Arial"/>
              </a:rPr>
              <a:t>returns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-</a:t>
            </a:r>
            <a:r>
              <a:rPr sz="2800" spc="-15" dirty="0" smtClean="0">
                <a:latin typeface="Arial"/>
                <a:cs typeface="Arial"/>
              </a:rPr>
              <a:t>1</a:t>
            </a:r>
            <a:endParaRPr sz="2800" dirty="0" smtClean="0">
              <a:latin typeface="Arial"/>
              <a:cs typeface="Arial"/>
            </a:endParaRPr>
          </a:p>
          <a:p>
            <a:pPr marL="356418" marR="5092" indent="-343689">
              <a:lnSpc>
                <a:spcPct val="150000"/>
              </a:lnSpc>
            </a:pPr>
            <a:r>
              <a:rPr sz="2800" spc="672" dirty="0" smtClean="0">
                <a:solidFill>
                  <a:srgbClr val="9A6500"/>
                </a:solidFill>
                <a:latin typeface="Wingdings"/>
                <a:cs typeface="Wingdings"/>
              </a:rPr>
              <a:t></a:t>
            </a:r>
            <a:r>
              <a:rPr sz="2800" spc="672" dirty="0">
                <a:latin typeface="Arial"/>
                <a:cs typeface="Arial"/>
              </a:rPr>
              <a:t>NOTE: </a:t>
            </a:r>
            <a:r>
              <a:rPr sz="2800" spc="-100" dirty="0">
                <a:latin typeface="Arial"/>
                <a:cs typeface="Arial"/>
              </a:rPr>
              <a:t>socket </a:t>
            </a:r>
            <a:r>
              <a:rPr sz="2800" spc="-25" dirty="0">
                <a:latin typeface="Arial"/>
                <a:cs typeface="Arial"/>
              </a:rPr>
              <a:t>call </a:t>
            </a:r>
            <a:r>
              <a:rPr sz="2800" spc="-180" dirty="0">
                <a:latin typeface="Arial"/>
                <a:cs typeface="Arial"/>
              </a:rPr>
              <a:t>does </a:t>
            </a:r>
            <a:r>
              <a:rPr sz="2800" spc="5" dirty="0">
                <a:latin typeface="Arial"/>
                <a:cs typeface="Arial"/>
              </a:rPr>
              <a:t>not </a:t>
            </a:r>
            <a:r>
              <a:rPr sz="2800" spc="-70" dirty="0">
                <a:latin typeface="Arial"/>
                <a:cs typeface="Arial"/>
              </a:rPr>
              <a:t>specify </a:t>
            </a:r>
            <a:r>
              <a:rPr sz="2800" spc="-40" dirty="0">
                <a:latin typeface="Arial"/>
                <a:cs typeface="Arial"/>
              </a:rPr>
              <a:t>where </a:t>
            </a:r>
            <a:r>
              <a:rPr sz="2800" spc="-114" dirty="0">
                <a:latin typeface="Arial"/>
                <a:cs typeface="Arial"/>
              </a:rPr>
              <a:t>data </a:t>
            </a:r>
            <a:r>
              <a:rPr sz="2800" spc="125" dirty="0">
                <a:latin typeface="Arial"/>
                <a:cs typeface="Arial"/>
              </a:rPr>
              <a:t>will </a:t>
            </a:r>
            <a:r>
              <a:rPr sz="2800" spc="-145" dirty="0">
                <a:latin typeface="Arial"/>
                <a:cs typeface="Arial"/>
              </a:rPr>
              <a:t>be </a:t>
            </a:r>
            <a:r>
              <a:rPr sz="2800" spc="-50" dirty="0" smtClean="0">
                <a:latin typeface="Arial"/>
                <a:cs typeface="Arial"/>
              </a:rPr>
              <a:t>coming</a:t>
            </a:r>
            <a:r>
              <a:rPr lang="en-GB" sz="2800" spc="-50" dirty="0" smtClean="0">
                <a:latin typeface="Arial"/>
                <a:cs typeface="Arial"/>
              </a:rPr>
              <a:t> from </a:t>
            </a:r>
            <a:r>
              <a:rPr sz="2800" spc="-40" dirty="0" smtClean="0">
                <a:latin typeface="Arial"/>
                <a:cs typeface="Arial"/>
              </a:rPr>
              <a:t>where</a:t>
            </a:r>
            <a:r>
              <a:rPr sz="2800" spc="-65" dirty="0" smtClean="0">
                <a:latin typeface="Arial"/>
                <a:cs typeface="Arial"/>
              </a:rPr>
              <a:t> </a:t>
            </a:r>
            <a:r>
              <a:rPr sz="2800" spc="120" dirty="0">
                <a:latin typeface="Arial"/>
                <a:cs typeface="Arial"/>
              </a:rPr>
              <a:t>it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125" dirty="0">
                <a:latin typeface="Arial"/>
                <a:cs typeface="Arial"/>
              </a:rPr>
              <a:t>will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be</a:t>
            </a:r>
            <a:r>
              <a:rPr sz="2800" spc="-65" dirty="0">
                <a:latin typeface="Arial"/>
                <a:cs typeface="Arial"/>
              </a:rPr>
              <a:t> going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–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125" dirty="0">
                <a:latin typeface="Arial"/>
                <a:cs typeface="Arial"/>
              </a:rPr>
              <a:t>it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just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creates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interface!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2756" y="2097351"/>
            <a:ext cx="4026288" cy="337811"/>
          </a:xfrm>
          <a:custGeom>
            <a:avLst/>
            <a:gdLst/>
            <a:ahLst/>
            <a:cxnLst/>
            <a:rect l="l" t="t" r="r" b="b"/>
            <a:pathLst>
              <a:path w="4015104" h="337185">
                <a:moveTo>
                  <a:pt x="4014978" y="280415"/>
                </a:moveTo>
                <a:lnTo>
                  <a:pt x="4014978" y="56387"/>
                </a:lnTo>
                <a:lnTo>
                  <a:pt x="4010572" y="34397"/>
                </a:lnTo>
                <a:lnTo>
                  <a:pt x="3998594" y="16478"/>
                </a:lnTo>
                <a:lnTo>
                  <a:pt x="3980902" y="4417"/>
                </a:lnTo>
                <a:lnTo>
                  <a:pt x="3959352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3959352" y="336804"/>
                </a:lnTo>
                <a:lnTo>
                  <a:pt x="3980902" y="332386"/>
                </a:lnTo>
                <a:lnTo>
                  <a:pt x="3998594" y="320325"/>
                </a:lnTo>
                <a:lnTo>
                  <a:pt x="4010572" y="302406"/>
                </a:lnTo>
                <a:lnTo>
                  <a:pt x="4014978" y="280415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93180" y="262359"/>
            <a:ext cx="5757664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41" dirty="0"/>
              <a:t>Socket </a:t>
            </a:r>
            <a:r>
              <a:rPr sz="4200" spc="-221" dirty="0"/>
              <a:t>close </a:t>
            </a:r>
            <a:r>
              <a:rPr sz="4200" spc="-311" dirty="0"/>
              <a:t>in </a:t>
            </a:r>
            <a:r>
              <a:rPr sz="4200" spc="-215" dirty="0"/>
              <a:t>C:</a:t>
            </a:r>
            <a:r>
              <a:rPr sz="4200" spc="155" dirty="0"/>
              <a:t> </a:t>
            </a:r>
            <a:r>
              <a:rPr sz="3600" spc="-5" dirty="0">
                <a:latin typeface="Courier New"/>
                <a:cs typeface="Courier New"/>
              </a:rPr>
              <a:t>close()</a:t>
            </a:r>
            <a:endParaRPr sz="3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572" y="1253270"/>
            <a:ext cx="8372103" cy="4599518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356418" indent="-343689"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5" dirty="0">
                <a:latin typeface="Arial"/>
                <a:cs typeface="Arial"/>
              </a:rPr>
              <a:t>When </a:t>
            </a:r>
            <a:r>
              <a:rPr sz="2800" spc="-25" dirty="0">
                <a:latin typeface="Arial"/>
                <a:cs typeface="Arial"/>
              </a:rPr>
              <a:t>finished </a:t>
            </a:r>
            <a:r>
              <a:rPr sz="2800" spc="-80" dirty="0">
                <a:latin typeface="Arial"/>
                <a:cs typeface="Arial"/>
              </a:rPr>
              <a:t>using </a:t>
            </a:r>
            <a:r>
              <a:rPr sz="2800" spc="-251" dirty="0">
                <a:latin typeface="Arial"/>
                <a:cs typeface="Arial"/>
              </a:rPr>
              <a:t>a </a:t>
            </a:r>
            <a:r>
              <a:rPr sz="2800" spc="-95" dirty="0">
                <a:latin typeface="Arial"/>
                <a:cs typeface="Arial"/>
              </a:rPr>
              <a:t>socket,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100" dirty="0">
                <a:latin typeface="Arial"/>
                <a:cs typeface="Arial"/>
              </a:rPr>
              <a:t>socket </a:t>
            </a:r>
            <a:r>
              <a:rPr sz="2800" spc="-60" dirty="0">
                <a:latin typeface="Arial"/>
                <a:cs typeface="Arial"/>
              </a:rPr>
              <a:t>should </a:t>
            </a:r>
            <a:r>
              <a:rPr sz="2800" spc="-145" dirty="0">
                <a:latin typeface="Arial"/>
                <a:cs typeface="Arial"/>
              </a:rPr>
              <a:t>be</a:t>
            </a:r>
            <a:r>
              <a:rPr sz="2800" spc="-351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closed</a:t>
            </a:r>
            <a:endParaRPr sz="2800" dirty="0">
              <a:latin typeface="Arial"/>
              <a:cs typeface="Arial"/>
            </a:endParaRPr>
          </a:p>
          <a:p>
            <a:pPr>
              <a:spcBef>
                <a:spcPts val="40"/>
              </a:spcBef>
              <a:buClr>
                <a:srgbClr val="9A6500"/>
              </a:buClr>
              <a:buFont typeface="Wingdings"/>
              <a:buChar char=""/>
            </a:pPr>
            <a:endParaRPr sz="2800" dirty="0">
              <a:latin typeface="Times New Roman"/>
              <a:cs typeface="Times New Roman"/>
            </a:endParaRPr>
          </a:p>
          <a:p>
            <a:pPr marL="356418" indent="-343689"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status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=</a:t>
            </a: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close(</a:t>
            </a:r>
            <a:r>
              <a:rPr sz="28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3559" lvl="1" indent="-325868">
              <a:spcBef>
                <a:spcPts val="576"/>
              </a:spcBef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30" dirty="0">
                <a:latin typeface="Arial"/>
                <a:cs typeface="Arial"/>
              </a:rPr>
              <a:t>file </a:t>
            </a:r>
            <a:r>
              <a:rPr sz="2800" spc="-40" dirty="0">
                <a:latin typeface="Arial"/>
                <a:cs typeface="Arial"/>
              </a:rPr>
              <a:t>descriptor </a:t>
            </a:r>
            <a:r>
              <a:rPr sz="2800" spc="-85" dirty="0">
                <a:latin typeface="Arial"/>
                <a:cs typeface="Arial"/>
              </a:rPr>
              <a:t>(socket </a:t>
            </a:r>
            <a:r>
              <a:rPr sz="2800" spc="-60" dirty="0">
                <a:latin typeface="Arial"/>
                <a:cs typeface="Arial"/>
              </a:rPr>
              <a:t>being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closed)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spcBef>
                <a:spcPts val="476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75" dirty="0">
                <a:solidFill>
                  <a:srgbClr val="CC9A00"/>
                </a:solidFill>
                <a:latin typeface="Arial"/>
                <a:cs typeface="Arial"/>
              </a:rPr>
              <a:t>status</a:t>
            </a:r>
            <a:r>
              <a:rPr sz="2800" spc="-175" dirty="0">
                <a:latin typeface="Arial"/>
                <a:cs typeface="Arial"/>
              </a:rPr>
              <a:t>: </a:t>
            </a:r>
            <a:r>
              <a:rPr sz="2800" spc="-114" dirty="0">
                <a:latin typeface="Arial"/>
                <a:cs typeface="Arial"/>
              </a:rPr>
              <a:t>0 </a:t>
            </a:r>
            <a:r>
              <a:rPr sz="2800" spc="95" dirty="0">
                <a:latin typeface="Arial"/>
                <a:cs typeface="Arial"/>
              </a:rPr>
              <a:t>if </a:t>
            </a:r>
            <a:r>
              <a:rPr sz="2800" spc="-110" dirty="0">
                <a:latin typeface="Arial"/>
                <a:cs typeface="Arial"/>
              </a:rPr>
              <a:t>successful, </a:t>
            </a:r>
            <a:r>
              <a:rPr sz="2800" spc="-15" dirty="0">
                <a:latin typeface="Arial"/>
                <a:cs typeface="Arial"/>
              </a:rPr>
              <a:t>-1 </a:t>
            </a:r>
            <a:r>
              <a:rPr sz="2800" spc="95" dirty="0">
                <a:latin typeface="Arial"/>
                <a:cs typeface="Arial"/>
              </a:rPr>
              <a:t>if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error</a:t>
            </a:r>
          </a:p>
          <a:p>
            <a:pPr lvl="1">
              <a:spcBef>
                <a:spcPts val="40"/>
              </a:spcBef>
              <a:buClr>
                <a:srgbClr val="9A6500"/>
              </a:buClr>
              <a:buFont typeface="Wingdings"/>
              <a:buChar char=""/>
            </a:pPr>
            <a:endParaRPr sz="2800" dirty="0">
              <a:latin typeface="Times New Roman"/>
              <a:cs typeface="Times New Roman"/>
            </a:endParaRPr>
          </a:p>
          <a:p>
            <a:pPr marL="356418" indent="-343689"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-70" dirty="0">
                <a:latin typeface="Arial"/>
                <a:cs typeface="Arial"/>
              </a:rPr>
              <a:t>Closing </a:t>
            </a:r>
            <a:r>
              <a:rPr sz="2800" spc="-251" dirty="0">
                <a:latin typeface="Arial"/>
                <a:cs typeface="Arial"/>
              </a:rPr>
              <a:t>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socket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spcBef>
                <a:spcPts val="496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145" dirty="0">
                <a:latin typeface="Arial"/>
                <a:cs typeface="Arial"/>
              </a:rPr>
              <a:t>closes </a:t>
            </a:r>
            <a:r>
              <a:rPr sz="2800" spc="-230" dirty="0">
                <a:latin typeface="Arial"/>
                <a:cs typeface="Arial"/>
              </a:rPr>
              <a:t>a </a:t>
            </a:r>
            <a:r>
              <a:rPr sz="2800" spc="-40" dirty="0">
                <a:latin typeface="Arial"/>
                <a:cs typeface="Arial"/>
              </a:rPr>
              <a:t>connection </a:t>
            </a:r>
            <a:r>
              <a:rPr sz="2800" spc="10" dirty="0">
                <a:latin typeface="Arial"/>
                <a:cs typeface="Arial"/>
              </a:rPr>
              <a:t>(for </a:t>
            </a:r>
            <a:r>
              <a:rPr sz="2800" spc="-95" dirty="0">
                <a:latin typeface="Arial"/>
                <a:cs typeface="Arial"/>
              </a:rPr>
              <a:t>stream</a:t>
            </a:r>
            <a:r>
              <a:rPr sz="2800" spc="-221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socket)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spcBef>
                <a:spcPts val="481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100" dirty="0">
                <a:latin typeface="Arial"/>
                <a:cs typeface="Arial"/>
              </a:rPr>
              <a:t>frees </a:t>
            </a:r>
            <a:r>
              <a:rPr sz="2800" spc="-55" dirty="0">
                <a:latin typeface="Arial"/>
                <a:cs typeface="Arial"/>
              </a:rPr>
              <a:t>up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5" dirty="0">
                <a:latin typeface="Arial"/>
                <a:cs typeface="Arial"/>
              </a:rPr>
              <a:t>port </a:t>
            </a:r>
            <a:r>
              <a:rPr sz="2800" spc="-145" dirty="0">
                <a:latin typeface="Arial"/>
                <a:cs typeface="Arial"/>
              </a:rPr>
              <a:t>used </a:t>
            </a:r>
            <a:r>
              <a:rPr sz="2800" spc="-15" dirty="0">
                <a:latin typeface="Arial"/>
                <a:cs typeface="Arial"/>
              </a:rPr>
              <a:t>by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spc="-90" dirty="0">
                <a:latin typeface="Arial"/>
                <a:cs typeface="Arial"/>
              </a:rPr>
              <a:t> socket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75529" y="0"/>
            <a:ext cx="4391158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55" dirty="0"/>
              <a:t>Specifying</a:t>
            </a:r>
            <a:r>
              <a:rPr sz="4200" spc="-5" dirty="0"/>
              <a:t> </a:t>
            </a:r>
            <a:r>
              <a:rPr sz="4200" spc="-266" dirty="0"/>
              <a:t>Addresses</a:t>
            </a:r>
            <a:endParaRPr sz="4200" dirty="0"/>
          </a:p>
        </p:txBody>
      </p:sp>
      <p:sp>
        <p:nvSpPr>
          <p:cNvPr id="4" name="object 4"/>
          <p:cNvSpPr txBox="1"/>
          <p:nvPr/>
        </p:nvSpPr>
        <p:spPr>
          <a:xfrm>
            <a:off x="402572" y="814507"/>
            <a:ext cx="8512828" cy="6025847"/>
          </a:xfrm>
          <a:prstGeom prst="rect">
            <a:avLst/>
          </a:prstGeom>
        </p:spPr>
        <p:txBody>
          <a:bodyPr vert="horz" wrap="square" lIns="0" tIns="206850" rIns="0" bIns="0" rtlCol="0">
            <a:spAutoFit/>
          </a:bodyPr>
          <a:lstStyle/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-114" dirty="0">
                <a:latin typeface="Arial"/>
                <a:cs typeface="Arial"/>
              </a:rPr>
              <a:t>Socket </a:t>
            </a:r>
            <a:r>
              <a:rPr sz="2800" spc="30" dirty="0">
                <a:latin typeface="Arial"/>
                <a:cs typeface="Arial"/>
              </a:rPr>
              <a:t>API </a:t>
            </a:r>
            <a:r>
              <a:rPr sz="2800" spc="-80" dirty="0">
                <a:latin typeface="Arial"/>
                <a:cs typeface="Arial"/>
              </a:rPr>
              <a:t>defines </a:t>
            </a:r>
            <a:r>
              <a:rPr sz="2800" spc="-251" dirty="0">
                <a:latin typeface="Arial"/>
                <a:cs typeface="Arial"/>
              </a:rPr>
              <a:t>a </a:t>
            </a:r>
            <a:r>
              <a:rPr sz="2800" b="1" spc="-155" dirty="0">
                <a:solidFill>
                  <a:srgbClr val="9A6500"/>
                </a:solidFill>
                <a:latin typeface="Arial"/>
                <a:cs typeface="Arial"/>
              </a:rPr>
              <a:t>generic </a:t>
            </a:r>
            <a:r>
              <a:rPr sz="2800" spc="-114" dirty="0">
                <a:latin typeface="Arial"/>
                <a:cs typeface="Arial"/>
              </a:rPr>
              <a:t>data </a:t>
            </a:r>
            <a:r>
              <a:rPr sz="2800" spc="-40" dirty="0">
                <a:latin typeface="Arial"/>
                <a:cs typeface="Arial"/>
              </a:rPr>
              <a:t>type </a:t>
            </a:r>
            <a:r>
              <a:rPr sz="2800" spc="25" dirty="0">
                <a:latin typeface="Arial"/>
                <a:cs typeface="Arial"/>
              </a:rPr>
              <a:t>for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addresses:</a:t>
            </a:r>
            <a:endParaRPr sz="2800" dirty="0">
              <a:latin typeface="Arial"/>
              <a:cs typeface="Arial"/>
            </a:endParaRPr>
          </a:p>
          <a:p>
            <a:pPr marL="878315">
              <a:lnSpc>
                <a:spcPct val="150000"/>
              </a:lnSpc>
            </a:pPr>
            <a:r>
              <a:rPr sz="2800" b="1" dirty="0">
                <a:latin typeface="Courier New"/>
                <a:cs typeface="Courier New"/>
              </a:rPr>
              <a:t>struct </a:t>
            </a:r>
            <a:r>
              <a:rPr sz="2800" b="1" dirty="0">
                <a:solidFill>
                  <a:srgbClr val="9A6500"/>
                </a:solidFill>
                <a:latin typeface="Courier New"/>
                <a:cs typeface="Courier New"/>
              </a:rPr>
              <a:t>sockaddr </a:t>
            </a:r>
            <a:r>
              <a:rPr sz="2800" b="1" dirty="0">
                <a:latin typeface="Courier New"/>
                <a:cs typeface="Courier New"/>
              </a:rPr>
              <a:t>{</a:t>
            </a:r>
            <a:endParaRPr sz="2800" dirty="0">
              <a:latin typeface="Courier New"/>
              <a:cs typeface="Courier New"/>
            </a:endParaRPr>
          </a:p>
          <a:p>
            <a:pPr marL="1236643">
              <a:lnSpc>
                <a:spcPct val="150000"/>
              </a:lnSpc>
            </a:pPr>
            <a:r>
              <a:rPr sz="2800" b="1" dirty="0">
                <a:latin typeface="Courier New"/>
                <a:cs typeface="Courier New"/>
              </a:rPr>
              <a:t>unsigned short sa_family; </a:t>
            </a:r>
            <a:r>
              <a:rPr sz="2800" spc="-40" dirty="0">
                <a:latin typeface="Arial"/>
                <a:cs typeface="Arial"/>
              </a:rPr>
              <a:t>/* </a:t>
            </a:r>
            <a:r>
              <a:rPr sz="2800" spc="-80" dirty="0">
                <a:latin typeface="Arial"/>
                <a:cs typeface="Arial"/>
              </a:rPr>
              <a:t>Address </a:t>
            </a:r>
            <a:r>
              <a:rPr sz="2800" spc="15" dirty="0">
                <a:latin typeface="Arial"/>
                <a:cs typeface="Arial"/>
              </a:rPr>
              <a:t>family </a:t>
            </a:r>
            <a:r>
              <a:rPr sz="2800" spc="-80" dirty="0">
                <a:latin typeface="Arial"/>
                <a:cs typeface="Arial"/>
              </a:rPr>
              <a:t>(e.g. </a:t>
            </a:r>
            <a:r>
              <a:rPr sz="2800" spc="-25" dirty="0">
                <a:latin typeface="Arial"/>
                <a:cs typeface="Arial"/>
              </a:rPr>
              <a:t>AF_INET)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1236643">
              <a:lnSpc>
                <a:spcPct val="150000"/>
              </a:lnSpc>
              <a:tabLst>
                <a:tab pos="4422764" algn="l"/>
              </a:tabLst>
            </a:pPr>
            <a:r>
              <a:rPr sz="2800" b="1" dirty="0">
                <a:latin typeface="Courier New"/>
                <a:cs typeface="Courier New"/>
              </a:rPr>
              <a:t>char</a:t>
            </a:r>
            <a:r>
              <a:rPr sz="2800" b="1" spc="1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sa_data[14];	</a:t>
            </a:r>
            <a:r>
              <a:rPr sz="2800" spc="-40" dirty="0">
                <a:latin typeface="Arial"/>
                <a:cs typeface="Arial"/>
              </a:rPr>
              <a:t>/* </a:t>
            </a:r>
            <a:r>
              <a:rPr sz="2800" spc="-25" dirty="0">
                <a:latin typeface="Arial"/>
                <a:cs typeface="Arial"/>
              </a:rPr>
              <a:t>Family-specific </a:t>
            </a:r>
            <a:r>
              <a:rPr sz="2800" spc="-114" dirty="0">
                <a:latin typeface="Arial"/>
                <a:cs typeface="Arial"/>
              </a:rPr>
              <a:t>address </a:t>
            </a:r>
            <a:r>
              <a:rPr sz="2800" spc="10" dirty="0">
                <a:latin typeface="Arial"/>
                <a:cs typeface="Arial"/>
              </a:rPr>
              <a:t>information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878315">
              <a:lnSpc>
                <a:spcPct val="150000"/>
              </a:lnSpc>
            </a:pPr>
            <a:r>
              <a:rPr sz="2800" b="1" dirty="0">
                <a:latin typeface="Courier New"/>
                <a:cs typeface="Courier New"/>
              </a:rPr>
              <a:t>}</a:t>
            </a:r>
            <a:endParaRPr sz="2800" dirty="0">
              <a:latin typeface="Courier New"/>
              <a:cs typeface="Courier New"/>
            </a:endParaRPr>
          </a:p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-25" dirty="0">
                <a:latin typeface="Arial"/>
                <a:cs typeface="Arial"/>
              </a:rPr>
              <a:t>Particular </a:t>
            </a:r>
            <a:r>
              <a:rPr sz="2800" spc="10" dirty="0">
                <a:latin typeface="Arial"/>
                <a:cs typeface="Arial"/>
              </a:rPr>
              <a:t>form </a:t>
            </a:r>
            <a:r>
              <a:rPr sz="2800" spc="-15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100" dirty="0">
                <a:latin typeface="Arial"/>
                <a:cs typeface="Arial"/>
              </a:rPr>
              <a:t>sockaddr </a:t>
            </a:r>
            <a:r>
              <a:rPr sz="2800" spc="-160" dirty="0">
                <a:latin typeface="Arial"/>
                <a:cs typeface="Arial"/>
              </a:rPr>
              <a:t>used </a:t>
            </a:r>
            <a:r>
              <a:rPr sz="2800" spc="25" dirty="0">
                <a:latin typeface="Arial"/>
                <a:cs typeface="Arial"/>
              </a:rPr>
              <a:t>for </a:t>
            </a:r>
            <a:r>
              <a:rPr sz="2800" b="1" spc="-50" dirty="0">
                <a:solidFill>
                  <a:srgbClr val="A50021"/>
                </a:solidFill>
                <a:latin typeface="Arial"/>
                <a:cs typeface="Arial"/>
              </a:rPr>
              <a:t>TCP/IP</a:t>
            </a:r>
            <a:r>
              <a:rPr sz="2800" b="1" spc="-246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addresses</a:t>
            </a:r>
            <a:r>
              <a:rPr sz="2800" spc="-175" dirty="0" smtClean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677" y="76200"/>
            <a:ext cx="9080323" cy="6342267"/>
          </a:xfrm>
          <a:prstGeom prst="rect">
            <a:avLst/>
          </a:prstGeom>
        </p:spPr>
        <p:txBody>
          <a:bodyPr vert="horz" wrap="square" lIns="0" tIns="63010" rIns="0" bIns="0" rtlCol="0">
            <a:spAutoFit/>
          </a:bodyPr>
          <a:lstStyle/>
          <a:p>
            <a:pPr marL="875133">
              <a:lnSpc>
                <a:spcPct val="150000"/>
              </a:lnSpc>
            </a:pPr>
            <a:r>
              <a:rPr lang="en-GB" sz="2800" b="1" dirty="0" err="1" smtClean="0">
                <a:latin typeface="Courier New"/>
                <a:cs typeface="Courier New"/>
              </a:rPr>
              <a:t>struct</a:t>
            </a:r>
            <a:r>
              <a:rPr lang="en-GB" sz="2800" b="1" dirty="0" smtClean="0">
                <a:latin typeface="Courier New"/>
                <a:cs typeface="Courier New"/>
              </a:rPr>
              <a:t> </a:t>
            </a:r>
            <a:r>
              <a:rPr lang="en-GB" sz="2800" b="1" dirty="0" err="1" smtClean="0">
                <a:latin typeface="Courier New"/>
                <a:cs typeface="Courier New"/>
              </a:rPr>
              <a:t>in_addr</a:t>
            </a:r>
            <a:r>
              <a:rPr lang="en-GB" sz="2800" b="1" spc="-5" dirty="0" smtClean="0">
                <a:latin typeface="Courier New"/>
                <a:cs typeface="Courier New"/>
              </a:rPr>
              <a:t> </a:t>
            </a:r>
            <a:r>
              <a:rPr lang="en-GB" sz="2800" b="1" dirty="0" smtClean="0">
                <a:latin typeface="Courier New"/>
                <a:cs typeface="Courier New"/>
              </a:rPr>
              <a:t>{</a:t>
            </a:r>
            <a:endParaRPr lang="en-GB" sz="2800" dirty="0" smtClean="0">
              <a:latin typeface="Courier New"/>
              <a:cs typeface="Courier New"/>
            </a:endParaRPr>
          </a:p>
          <a:p>
            <a:pPr marL="875133">
              <a:lnSpc>
                <a:spcPct val="150000"/>
              </a:lnSpc>
            </a:pPr>
            <a:r>
              <a:rPr lang="en-GB" sz="2800" b="1" dirty="0" smtClean="0">
                <a:latin typeface="Courier New"/>
                <a:cs typeface="Courier New"/>
              </a:rPr>
              <a:t>unsigned</a:t>
            </a:r>
            <a:r>
              <a:rPr lang="en-GB" sz="2800" b="1" spc="5" dirty="0" smtClean="0">
                <a:latin typeface="Courier New"/>
                <a:cs typeface="Courier New"/>
              </a:rPr>
              <a:t> </a:t>
            </a:r>
            <a:r>
              <a:rPr lang="en-GB" sz="2800" b="1" dirty="0" smtClean="0">
                <a:latin typeface="Courier New"/>
                <a:cs typeface="Courier New"/>
              </a:rPr>
              <a:t>long</a:t>
            </a:r>
            <a:r>
              <a:rPr lang="en-GB" sz="2800" b="1" spc="5" dirty="0" smtClean="0">
                <a:latin typeface="Courier New"/>
                <a:cs typeface="Courier New"/>
              </a:rPr>
              <a:t> </a:t>
            </a:r>
            <a:r>
              <a:rPr lang="en-GB" sz="2800" b="1" dirty="0" err="1" smtClean="0">
                <a:latin typeface="Courier New"/>
                <a:cs typeface="Courier New"/>
              </a:rPr>
              <a:t>s_addr</a:t>
            </a:r>
            <a:r>
              <a:rPr lang="en-GB" sz="2800" b="1" dirty="0" smtClean="0">
                <a:latin typeface="Courier New"/>
                <a:cs typeface="Courier New"/>
              </a:rPr>
              <a:t>;</a:t>
            </a:r>
            <a:r>
              <a:rPr lang="en-GB" sz="2800" spc="-40" dirty="0" smtClean="0">
                <a:latin typeface="Arial"/>
                <a:cs typeface="Arial"/>
              </a:rPr>
              <a:t>/* </a:t>
            </a:r>
            <a:r>
              <a:rPr lang="en-GB" sz="2800" spc="5" dirty="0" smtClean="0">
                <a:latin typeface="Arial"/>
                <a:cs typeface="Arial"/>
              </a:rPr>
              <a:t>Internet </a:t>
            </a:r>
            <a:r>
              <a:rPr lang="en-GB" sz="2800" spc="-114" dirty="0" smtClean="0">
                <a:latin typeface="Arial"/>
                <a:cs typeface="Arial"/>
              </a:rPr>
              <a:t>address </a:t>
            </a:r>
            <a:r>
              <a:rPr lang="en-GB" sz="2800" spc="-70" dirty="0" smtClean="0">
                <a:latin typeface="Arial"/>
                <a:cs typeface="Arial"/>
              </a:rPr>
              <a:t>(32 </a:t>
            </a:r>
            <a:r>
              <a:rPr lang="en-GB" sz="2800" spc="-20" dirty="0" smtClean="0">
                <a:latin typeface="Arial"/>
                <a:cs typeface="Arial"/>
              </a:rPr>
              <a:t>bits)</a:t>
            </a:r>
            <a:r>
              <a:rPr lang="en-GB" sz="2800" spc="-15" dirty="0" smtClean="0">
                <a:latin typeface="Arial"/>
                <a:cs typeface="Arial"/>
              </a:rPr>
              <a:t> </a:t>
            </a:r>
            <a:r>
              <a:rPr lang="en-GB" sz="2800" spc="-40" dirty="0" smtClean="0">
                <a:latin typeface="Arial"/>
                <a:cs typeface="Arial"/>
              </a:rPr>
              <a:t>*/</a:t>
            </a:r>
          </a:p>
          <a:p>
            <a:pPr marL="1233460">
              <a:lnSpc>
                <a:spcPct val="150000"/>
              </a:lnSpc>
              <a:tabLst>
                <a:tab pos="4787456" algn="l"/>
              </a:tabLst>
            </a:pPr>
            <a:r>
              <a:rPr lang="en-GB" sz="2800" spc="-40" dirty="0" smtClean="0">
                <a:latin typeface="Arial"/>
                <a:cs typeface="Arial"/>
              </a:rPr>
              <a:t>}</a:t>
            </a:r>
            <a:endParaRPr lang="en-GB" sz="2800" b="1" dirty="0" smtClean="0">
              <a:latin typeface="Courier New"/>
              <a:cs typeface="Courier New"/>
            </a:endParaRPr>
          </a:p>
          <a:p>
            <a:pPr marL="12729">
              <a:lnSpc>
                <a:spcPct val="150000"/>
              </a:lnSpc>
            </a:pPr>
            <a:r>
              <a:rPr sz="2800" b="1" dirty="0" err="1" smtClean="0">
                <a:latin typeface="Courier New"/>
                <a:cs typeface="Courier New"/>
              </a:rPr>
              <a:t>struct</a:t>
            </a:r>
            <a:r>
              <a:rPr sz="2800" b="1" dirty="0" smtClean="0"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A50021"/>
                </a:solidFill>
                <a:latin typeface="Courier New"/>
                <a:cs typeface="Courier New"/>
              </a:rPr>
              <a:t>sockaddr_in</a:t>
            </a:r>
            <a:r>
              <a:rPr sz="2800" b="1" spc="-85" dirty="0">
                <a:solidFill>
                  <a:srgbClr val="A50021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{</a:t>
            </a:r>
            <a:endParaRPr sz="2800" dirty="0">
              <a:latin typeface="Courier New"/>
              <a:cs typeface="Courier New"/>
            </a:endParaRPr>
          </a:p>
          <a:p>
            <a:pPr marL="370420" marR="5092">
              <a:lnSpc>
                <a:spcPct val="150000"/>
              </a:lnSpc>
            </a:pPr>
            <a:r>
              <a:rPr sz="2800" b="1" dirty="0">
                <a:latin typeface="Courier New"/>
                <a:cs typeface="Courier New"/>
              </a:rPr>
              <a:t>unsigned short</a:t>
            </a:r>
            <a:r>
              <a:rPr sz="2800" b="1" spc="-75" dirty="0">
                <a:latin typeface="Courier New"/>
                <a:cs typeface="Courier New"/>
              </a:rPr>
              <a:t> </a:t>
            </a:r>
            <a:r>
              <a:rPr sz="2800" b="1" dirty="0" err="1">
                <a:latin typeface="Courier New"/>
                <a:cs typeface="Courier New"/>
              </a:rPr>
              <a:t>sin_family</a:t>
            </a:r>
            <a:r>
              <a:rPr sz="2800" b="1" dirty="0" smtClean="0">
                <a:latin typeface="Courier New"/>
                <a:cs typeface="Courier New"/>
              </a:rPr>
              <a:t>;</a:t>
            </a:r>
            <a:r>
              <a:rPr lang="en-GB" sz="2800" spc="-35" dirty="0" smtClean="0">
                <a:latin typeface="Arial"/>
                <a:cs typeface="Arial"/>
              </a:rPr>
              <a:t> </a:t>
            </a:r>
            <a:r>
              <a:rPr lang="en-GB" sz="2000" spc="-35" dirty="0" smtClean="0">
                <a:latin typeface="Arial"/>
                <a:cs typeface="Arial"/>
              </a:rPr>
              <a:t>/* </a:t>
            </a:r>
            <a:r>
              <a:rPr lang="en-GB" sz="2000" spc="5" dirty="0" smtClean="0">
                <a:latin typeface="Arial"/>
                <a:cs typeface="Arial"/>
              </a:rPr>
              <a:t>Internet </a:t>
            </a:r>
            <a:r>
              <a:rPr lang="en-GB" sz="2000" spc="-20" dirty="0" smtClean="0">
                <a:latin typeface="Arial"/>
                <a:cs typeface="Arial"/>
              </a:rPr>
              <a:t>protocol </a:t>
            </a:r>
            <a:r>
              <a:rPr lang="en-GB" sz="2000" spc="-25" dirty="0" smtClean="0">
                <a:latin typeface="Arial"/>
                <a:cs typeface="Arial"/>
              </a:rPr>
              <a:t>(AF_INET)</a:t>
            </a:r>
            <a:r>
              <a:rPr lang="en-GB" sz="2000" spc="-150" dirty="0" smtClean="0">
                <a:latin typeface="Arial"/>
                <a:cs typeface="Arial"/>
              </a:rPr>
              <a:t> </a:t>
            </a:r>
            <a:r>
              <a:rPr lang="en-GB" sz="2000" spc="-45" dirty="0" smtClean="0">
                <a:latin typeface="Arial"/>
                <a:cs typeface="Arial"/>
              </a:rPr>
              <a:t>*/</a:t>
            </a:r>
            <a:endParaRPr lang="en-GB" sz="2000" dirty="0" smtClean="0">
              <a:latin typeface="Arial"/>
              <a:cs typeface="Arial"/>
            </a:endParaRPr>
          </a:p>
          <a:p>
            <a:pPr marL="370420" marR="5092">
              <a:lnSpc>
                <a:spcPct val="150000"/>
              </a:lnSpc>
            </a:pPr>
            <a:r>
              <a:rPr sz="2800" b="1" dirty="0" smtClean="0">
                <a:latin typeface="Courier New"/>
                <a:cs typeface="Courier New"/>
              </a:rPr>
              <a:t>  </a:t>
            </a:r>
            <a:r>
              <a:rPr sz="2800" b="1" dirty="0">
                <a:latin typeface="Courier New"/>
                <a:cs typeface="Courier New"/>
              </a:rPr>
              <a:t>unsigned short </a:t>
            </a:r>
            <a:r>
              <a:rPr sz="2800" b="1" dirty="0" err="1">
                <a:latin typeface="Courier New"/>
                <a:cs typeface="Courier New"/>
              </a:rPr>
              <a:t>sin_port</a:t>
            </a:r>
            <a:r>
              <a:rPr sz="2800" b="1" dirty="0" smtClean="0">
                <a:latin typeface="Courier New"/>
                <a:cs typeface="Courier New"/>
              </a:rPr>
              <a:t>;</a:t>
            </a:r>
            <a:r>
              <a:rPr lang="en-GB" sz="2800" spc="-35" dirty="0" smtClean="0">
                <a:latin typeface="Arial"/>
                <a:cs typeface="Arial"/>
              </a:rPr>
              <a:t> </a:t>
            </a:r>
            <a:r>
              <a:rPr lang="en-GB" sz="2000" spc="-35" dirty="0" smtClean="0">
                <a:latin typeface="Arial"/>
                <a:cs typeface="Arial"/>
              </a:rPr>
              <a:t>/* </a:t>
            </a:r>
            <a:r>
              <a:rPr lang="en-GB" sz="2000" spc="-80" dirty="0" smtClean="0">
                <a:latin typeface="Arial"/>
                <a:cs typeface="Arial"/>
              </a:rPr>
              <a:t>Address </a:t>
            </a:r>
            <a:r>
              <a:rPr lang="en-GB" sz="2000" spc="5" dirty="0" smtClean="0">
                <a:latin typeface="Arial"/>
                <a:cs typeface="Arial"/>
              </a:rPr>
              <a:t>port </a:t>
            </a:r>
            <a:r>
              <a:rPr lang="en-GB" sz="2000" spc="-70" dirty="0" smtClean="0">
                <a:latin typeface="Arial"/>
                <a:cs typeface="Arial"/>
              </a:rPr>
              <a:t>(16 </a:t>
            </a:r>
            <a:r>
              <a:rPr lang="en-GB" sz="2000" spc="-20" dirty="0" smtClean="0">
                <a:latin typeface="Arial"/>
                <a:cs typeface="Arial"/>
              </a:rPr>
              <a:t>bits)</a:t>
            </a:r>
            <a:r>
              <a:rPr lang="en-GB" sz="2000" spc="-55" dirty="0" smtClean="0">
                <a:latin typeface="Arial"/>
                <a:cs typeface="Arial"/>
              </a:rPr>
              <a:t> </a:t>
            </a:r>
            <a:r>
              <a:rPr lang="en-GB" sz="2000" spc="-40" dirty="0" smtClean="0">
                <a:latin typeface="Arial"/>
                <a:cs typeface="Arial"/>
              </a:rPr>
              <a:t>*/</a:t>
            </a:r>
            <a:endParaRPr lang="en-GB" sz="2000" dirty="0" smtClean="0">
              <a:latin typeface="Arial"/>
              <a:cs typeface="Arial"/>
            </a:endParaRPr>
          </a:p>
          <a:p>
            <a:pPr marL="370420" marR="5092">
              <a:lnSpc>
                <a:spcPct val="150000"/>
              </a:lnSpc>
            </a:pPr>
            <a:r>
              <a:rPr sz="2800" b="1" dirty="0" smtClean="0">
                <a:latin typeface="Courier New"/>
                <a:cs typeface="Courier New"/>
              </a:rPr>
              <a:t>  </a:t>
            </a:r>
            <a:r>
              <a:rPr sz="2800" b="1" dirty="0">
                <a:latin typeface="Courier New"/>
                <a:cs typeface="Courier New"/>
              </a:rPr>
              <a:t>struct in_addr </a:t>
            </a:r>
            <a:r>
              <a:rPr sz="2800" b="1" dirty="0" err="1">
                <a:latin typeface="Courier New"/>
                <a:cs typeface="Courier New"/>
              </a:rPr>
              <a:t>sin_addr</a:t>
            </a:r>
            <a:r>
              <a:rPr sz="2800" b="1" dirty="0" smtClean="0">
                <a:latin typeface="Courier New"/>
                <a:cs typeface="Courier New"/>
              </a:rPr>
              <a:t>;</a:t>
            </a:r>
            <a:r>
              <a:rPr lang="en-GB" sz="2000" spc="-40" dirty="0" smtClean="0">
                <a:latin typeface="Arial"/>
                <a:cs typeface="Arial"/>
              </a:rPr>
              <a:t>/* </a:t>
            </a:r>
            <a:r>
              <a:rPr lang="en-GB" sz="2000" spc="5" dirty="0" smtClean="0">
                <a:latin typeface="Arial"/>
                <a:cs typeface="Arial"/>
              </a:rPr>
              <a:t>Internet </a:t>
            </a:r>
            <a:r>
              <a:rPr lang="en-GB" sz="2000" spc="-120" dirty="0" smtClean="0">
                <a:latin typeface="Arial"/>
                <a:cs typeface="Arial"/>
              </a:rPr>
              <a:t>address </a:t>
            </a:r>
            <a:r>
              <a:rPr lang="en-GB" sz="2000" spc="-70" dirty="0" smtClean="0">
                <a:latin typeface="Arial"/>
                <a:cs typeface="Arial"/>
              </a:rPr>
              <a:t>(32 </a:t>
            </a:r>
            <a:r>
              <a:rPr lang="en-GB" sz="2000" spc="-25" dirty="0" smtClean="0">
                <a:latin typeface="Arial"/>
                <a:cs typeface="Arial"/>
              </a:rPr>
              <a:t>bits)</a:t>
            </a:r>
            <a:r>
              <a:rPr lang="en-GB" sz="2000" spc="-10" dirty="0" smtClean="0">
                <a:latin typeface="Arial"/>
                <a:cs typeface="Arial"/>
              </a:rPr>
              <a:t> </a:t>
            </a:r>
            <a:r>
              <a:rPr lang="en-GB" sz="2000" spc="-45" dirty="0" smtClean="0">
                <a:latin typeface="Arial"/>
                <a:cs typeface="Arial"/>
              </a:rPr>
              <a:t>*/</a:t>
            </a:r>
            <a:endParaRPr lang="en-GB" sz="2000" dirty="0" smtClean="0">
              <a:latin typeface="Arial"/>
              <a:cs typeface="Arial"/>
            </a:endParaRPr>
          </a:p>
          <a:p>
            <a:pPr marL="370420" marR="5092">
              <a:lnSpc>
                <a:spcPct val="150000"/>
              </a:lnSpc>
            </a:pPr>
            <a:r>
              <a:rPr sz="2800" b="1" dirty="0" smtClean="0">
                <a:latin typeface="Courier New"/>
                <a:cs typeface="Courier New"/>
              </a:rPr>
              <a:t> char</a:t>
            </a:r>
            <a:r>
              <a:rPr sz="2800" b="1" spc="-5" dirty="0" smtClean="0">
                <a:latin typeface="Courier New"/>
                <a:cs typeface="Courier New"/>
              </a:rPr>
              <a:t> </a:t>
            </a:r>
            <a:r>
              <a:rPr sz="2800" b="1" dirty="0" err="1">
                <a:latin typeface="Courier New"/>
                <a:cs typeface="Courier New"/>
              </a:rPr>
              <a:t>sin_zero</a:t>
            </a:r>
            <a:r>
              <a:rPr sz="2800" b="1" dirty="0">
                <a:latin typeface="Courier New"/>
                <a:cs typeface="Courier New"/>
              </a:rPr>
              <a:t>[8</a:t>
            </a:r>
            <a:r>
              <a:rPr sz="2800" b="1" dirty="0" smtClean="0">
                <a:latin typeface="Courier New"/>
                <a:cs typeface="Courier New"/>
              </a:rPr>
              <a:t>];</a:t>
            </a:r>
            <a:r>
              <a:rPr lang="en-GB" sz="2800" b="1" dirty="0" smtClean="0">
                <a:latin typeface="Courier New"/>
                <a:cs typeface="Courier New"/>
              </a:rPr>
              <a:t> </a:t>
            </a:r>
            <a:r>
              <a:rPr lang="en-GB" sz="2800" spc="-40" dirty="0" smtClean="0">
                <a:latin typeface="Arial"/>
                <a:cs typeface="Arial"/>
              </a:rPr>
              <a:t>/* </a:t>
            </a:r>
            <a:r>
              <a:rPr lang="en-GB" sz="2800" dirty="0" smtClean="0">
                <a:latin typeface="Arial"/>
                <a:cs typeface="Arial"/>
              </a:rPr>
              <a:t>Not </a:t>
            </a:r>
            <a:r>
              <a:rPr lang="en-GB" sz="2800" spc="-114" dirty="0" smtClean="0">
                <a:latin typeface="Arial"/>
                <a:cs typeface="Arial"/>
              </a:rPr>
              <a:t>used</a:t>
            </a:r>
            <a:r>
              <a:rPr lang="en-GB" sz="2800" spc="-105" dirty="0" smtClean="0">
                <a:latin typeface="Arial"/>
                <a:cs typeface="Arial"/>
              </a:rPr>
              <a:t> </a:t>
            </a:r>
            <a:r>
              <a:rPr lang="en-GB" sz="2800" spc="-40" dirty="0" smtClean="0">
                <a:latin typeface="Arial"/>
                <a:cs typeface="Arial"/>
              </a:rPr>
              <a:t>*/</a:t>
            </a:r>
            <a:endParaRPr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2756" y="2097351"/>
            <a:ext cx="7379514" cy="337811"/>
          </a:xfrm>
          <a:custGeom>
            <a:avLst/>
            <a:gdLst/>
            <a:ahLst/>
            <a:cxnLst/>
            <a:rect l="l" t="t" r="r" b="b"/>
            <a:pathLst>
              <a:path w="7359015" h="337185">
                <a:moveTo>
                  <a:pt x="7358633" y="280415"/>
                </a:moveTo>
                <a:lnTo>
                  <a:pt x="7358633" y="56387"/>
                </a:lnTo>
                <a:lnTo>
                  <a:pt x="7354216" y="34397"/>
                </a:lnTo>
                <a:lnTo>
                  <a:pt x="7342155" y="16478"/>
                </a:lnTo>
                <a:lnTo>
                  <a:pt x="7324236" y="4417"/>
                </a:lnTo>
                <a:lnTo>
                  <a:pt x="7302246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7302246" y="336804"/>
                </a:lnTo>
                <a:lnTo>
                  <a:pt x="7324236" y="332386"/>
                </a:lnTo>
                <a:lnTo>
                  <a:pt x="7342155" y="320325"/>
                </a:lnTo>
                <a:lnTo>
                  <a:pt x="7354216" y="302406"/>
                </a:lnTo>
                <a:lnTo>
                  <a:pt x="7358633" y="280415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4294" y="0"/>
            <a:ext cx="7015919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b="1" spc="-241" dirty="0"/>
              <a:t>Assign </a:t>
            </a:r>
            <a:r>
              <a:rPr sz="4200" b="1" spc="-321" dirty="0"/>
              <a:t>address </a:t>
            </a:r>
            <a:r>
              <a:rPr sz="4200" b="1" spc="-175" dirty="0"/>
              <a:t>to </a:t>
            </a:r>
            <a:r>
              <a:rPr sz="4200" b="1" spc="-251" dirty="0"/>
              <a:t>socket:</a:t>
            </a:r>
            <a:r>
              <a:rPr sz="4200" b="1" spc="-616" dirty="0"/>
              <a:t> </a:t>
            </a:r>
            <a:r>
              <a:rPr sz="3600" b="1" spc="-5" dirty="0">
                <a:latin typeface="Courier New"/>
                <a:cs typeface="Courier New"/>
              </a:rPr>
              <a:t>bind()</a:t>
            </a:r>
            <a:endParaRPr sz="3600" b="1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401" y="609600"/>
            <a:ext cx="8775098" cy="6168321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700" spc="-170" dirty="0">
                <a:latin typeface="Arial"/>
                <a:cs typeface="Arial"/>
              </a:rPr>
              <a:t>associates </a:t>
            </a:r>
            <a:r>
              <a:rPr sz="2700" spc="-100" dirty="0">
                <a:latin typeface="Arial"/>
                <a:cs typeface="Arial"/>
              </a:rPr>
              <a:t>and </a:t>
            </a:r>
            <a:r>
              <a:rPr sz="2700" spc="-135" dirty="0">
                <a:latin typeface="Arial"/>
                <a:cs typeface="Arial"/>
              </a:rPr>
              <a:t>reserves </a:t>
            </a:r>
            <a:r>
              <a:rPr sz="2700" spc="-251" dirty="0">
                <a:latin typeface="Arial"/>
                <a:cs typeface="Arial"/>
              </a:rPr>
              <a:t>a </a:t>
            </a:r>
            <a:r>
              <a:rPr sz="2700" spc="5" dirty="0">
                <a:latin typeface="Arial"/>
                <a:cs typeface="Arial"/>
              </a:rPr>
              <a:t>port </a:t>
            </a:r>
            <a:r>
              <a:rPr sz="2700" spc="25" dirty="0">
                <a:latin typeface="Arial"/>
                <a:cs typeface="Arial"/>
              </a:rPr>
              <a:t>for </a:t>
            </a:r>
            <a:r>
              <a:rPr sz="2700" spc="-190" dirty="0">
                <a:latin typeface="Arial"/>
                <a:cs typeface="Arial"/>
              </a:rPr>
              <a:t>use </a:t>
            </a:r>
            <a:r>
              <a:rPr sz="2700" spc="-20" dirty="0">
                <a:latin typeface="Arial"/>
                <a:cs typeface="Arial"/>
              </a:rPr>
              <a:t>by </a:t>
            </a:r>
            <a:r>
              <a:rPr sz="2700" spc="-25" dirty="0">
                <a:latin typeface="Arial"/>
                <a:cs typeface="Arial"/>
              </a:rPr>
              <a:t>the</a:t>
            </a:r>
            <a:r>
              <a:rPr sz="2700" spc="-110" dirty="0">
                <a:latin typeface="Arial"/>
                <a:cs typeface="Arial"/>
              </a:rPr>
              <a:t> </a:t>
            </a:r>
            <a:r>
              <a:rPr sz="2700" spc="-100" dirty="0">
                <a:latin typeface="Arial"/>
                <a:cs typeface="Arial"/>
              </a:rPr>
              <a:t>socket</a:t>
            </a:r>
            <a:endParaRPr sz="2700" dirty="0">
              <a:latin typeface="Arial"/>
              <a:cs typeface="Arial"/>
            </a:endParaRPr>
          </a:p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700" b="1" u="sng" dirty="0" err="1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</a:t>
            </a:r>
            <a:r>
              <a:rPr sz="27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status = bind(</a:t>
            </a:r>
            <a:r>
              <a:rPr sz="27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&amp;</a:t>
            </a:r>
            <a:r>
              <a:rPr sz="27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addrport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700" b="1" u="sng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700" b="1" u="sng" dirty="0">
                <a:solidFill>
                  <a:srgbClr val="CA68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size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700" dirty="0">
              <a:latin typeface="Courier New"/>
              <a:cs typeface="Courier New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700" b="1" spc="-160" dirty="0">
                <a:solidFill>
                  <a:srgbClr val="CC9A00"/>
                </a:solidFill>
                <a:latin typeface="Arial"/>
                <a:cs typeface="Arial"/>
              </a:rPr>
              <a:t>sockid</a:t>
            </a:r>
            <a:r>
              <a:rPr sz="2700" spc="-160" dirty="0">
                <a:latin typeface="Arial"/>
                <a:cs typeface="Arial"/>
              </a:rPr>
              <a:t>: </a:t>
            </a:r>
            <a:r>
              <a:rPr sz="2700" spc="-40" dirty="0">
                <a:latin typeface="Arial"/>
                <a:cs typeface="Arial"/>
              </a:rPr>
              <a:t>integer, </a:t>
            </a:r>
            <a:r>
              <a:rPr sz="2700" spc="-95" dirty="0">
                <a:latin typeface="Arial"/>
                <a:cs typeface="Arial"/>
              </a:rPr>
              <a:t>socket</a:t>
            </a:r>
            <a:r>
              <a:rPr sz="2700" spc="15" dirty="0">
                <a:latin typeface="Arial"/>
                <a:cs typeface="Arial"/>
              </a:rPr>
              <a:t> </a:t>
            </a:r>
            <a:r>
              <a:rPr sz="2700" spc="-45" dirty="0">
                <a:latin typeface="Arial"/>
                <a:cs typeface="Arial"/>
              </a:rPr>
              <a:t>descriptor</a:t>
            </a:r>
            <a:endParaRPr sz="27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700" b="1" spc="-120" dirty="0">
                <a:solidFill>
                  <a:srgbClr val="9A6500"/>
                </a:solidFill>
                <a:latin typeface="Arial"/>
                <a:cs typeface="Arial"/>
              </a:rPr>
              <a:t>addrport</a:t>
            </a:r>
            <a:r>
              <a:rPr sz="2700" spc="-120" dirty="0">
                <a:latin typeface="Arial"/>
                <a:cs typeface="Arial"/>
              </a:rPr>
              <a:t>: </a:t>
            </a:r>
            <a:r>
              <a:rPr sz="2700" spc="-25" dirty="0">
                <a:latin typeface="Arial"/>
                <a:cs typeface="Arial"/>
              </a:rPr>
              <a:t>struct </a:t>
            </a:r>
            <a:r>
              <a:rPr sz="2700" spc="-90" dirty="0">
                <a:latin typeface="Arial"/>
                <a:cs typeface="Arial"/>
              </a:rPr>
              <a:t>sockaddr, </a:t>
            </a:r>
            <a:r>
              <a:rPr sz="2700" spc="-25" dirty="0">
                <a:latin typeface="Arial"/>
                <a:cs typeface="Arial"/>
              </a:rPr>
              <a:t>the </a:t>
            </a:r>
            <a:r>
              <a:rPr sz="2700" spc="-15" dirty="0">
                <a:latin typeface="Arial"/>
                <a:cs typeface="Arial"/>
              </a:rPr>
              <a:t>(IP) </a:t>
            </a:r>
            <a:r>
              <a:rPr sz="2700" spc="-150" dirty="0">
                <a:latin typeface="Arial"/>
                <a:cs typeface="Arial"/>
              </a:rPr>
              <a:t>address </a:t>
            </a:r>
            <a:r>
              <a:rPr sz="2700" spc="-95" dirty="0">
                <a:latin typeface="Arial"/>
                <a:cs typeface="Arial"/>
              </a:rPr>
              <a:t>and </a:t>
            </a:r>
            <a:r>
              <a:rPr sz="2700" spc="5" dirty="0">
                <a:latin typeface="Arial"/>
                <a:cs typeface="Arial"/>
              </a:rPr>
              <a:t>port </a:t>
            </a:r>
            <a:r>
              <a:rPr sz="2700" spc="-10" dirty="0">
                <a:latin typeface="Arial"/>
                <a:cs typeface="Arial"/>
              </a:rPr>
              <a:t>of </a:t>
            </a:r>
            <a:r>
              <a:rPr sz="2700" spc="-25" dirty="0">
                <a:latin typeface="Arial"/>
                <a:cs typeface="Arial"/>
              </a:rPr>
              <a:t>the </a:t>
            </a:r>
            <a:r>
              <a:rPr sz="2700" spc="-65" dirty="0">
                <a:latin typeface="Arial"/>
                <a:cs typeface="Arial"/>
              </a:rPr>
              <a:t>machine</a:t>
            </a:r>
            <a:endParaRPr sz="2700" dirty="0">
              <a:latin typeface="Arial"/>
              <a:cs typeface="Arial"/>
            </a:endParaRPr>
          </a:p>
          <a:p>
            <a:pPr marL="1037431" marR="5092" lvl="2" indent="-351963">
              <a:lnSpc>
                <a:spcPct val="150000"/>
              </a:lnSpc>
              <a:buClr>
                <a:srgbClr val="9A6500"/>
              </a:buClr>
              <a:buSzPct val="66666"/>
              <a:buFont typeface="Wingdings"/>
              <a:buChar char=""/>
              <a:tabLst>
                <a:tab pos="1037431" algn="l"/>
                <a:tab pos="1038067" algn="l"/>
              </a:tabLst>
            </a:pPr>
            <a:r>
              <a:rPr sz="2700" spc="20" dirty="0">
                <a:latin typeface="Arial"/>
                <a:cs typeface="Arial"/>
              </a:rPr>
              <a:t>for </a:t>
            </a:r>
            <a:r>
              <a:rPr sz="2700" spc="-40" dirty="0">
                <a:latin typeface="Arial"/>
                <a:cs typeface="Arial"/>
              </a:rPr>
              <a:t>TCP/IP </a:t>
            </a:r>
            <a:r>
              <a:rPr sz="2700" spc="-70" dirty="0">
                <a:latin typeface="Arial"/>
                <a:cs typeface="Arial"/>
              </a:rPr>
              <a:t>server, </a:t>
            </a:r>
            <a:r>
              <a:rPr sz="2700" spc="5" dirty="0">
                <a:latin typeface="Arial"/>
                <a:cs typeface="Arial"/>
              </a:rPr>
              <a:t>internet </a:t>
            </a:r>
            <a:r>
              <a:rPr sz="2700" spc="-130" dirty="0">
                <a:latin typeface="Arial"/>
                <a:cs typeface="Arial"/>
              </a:rPr>
              <a:t>address </a:t>
            </a:r>
            <a:r>
              <a:rPr sz="2700" spc="-75" dirty="0">
                <a:latin typeface="Arial"/>
                <a:cs typeface="Arial"/>
              </a:rPr>
              <a:t>is </a:t>
            </a:r>
            <a:r>
              <a:rPr sz="2700" spc="-40" dirty="0">
                <a:latin typeface="Arial"/>
                <a:cs typeface="Arial"/>
              </a:rPr>
              <a:t>usually </a:t>
            </a:r>
            <a:r>
              <a:rPr sz="2700" spc="-114" dirty="0">
                <a:latin typeface="Arial"/>
                <a:cs typeface="Arial"/>
              </a:rPr>
              <a:t>set </a:t>
            </a:r>
            <a:r>
              <a:rPr sz="2700" dirty="0">
                <a:latin typeface="Arial"/>
                <a:cs typeface="Arial"/>
              </a:rPr>
              <a:t>to INADDR_ANY, </a:t>
            </a:r>
            <a:r>
              <a:rPr sz="2700" spc="-45" dirty="0" err="1">
                <a:latin typeface="Arial"/>
                <a:cs typeface="Arial"/>
              </a:rPr>
              <a:t>i.e</a:t>
            </a:r>
            <a:r>
              <a:rPr sz="2700" spc="-45" dirty="0" err="1" smtClean="0">
                <a:latin typeface="Arial"/>
                <a:cs typeface="Arial"/>
              </a:rPr>
              <a:t>.,</a:t>
            </a:r>
            <a:r>
              <a:rPr sz="2700" spc="-135" dirty="0" err="1" smtClean="0">
                <a:latin typeface="Arial"/>
                <a:cs typeface="Arial"/>
              </a:rPr>
              <a:t>chooses</a:t>
            </a:r>
            <a:r>
              <a:rPr sz="2700" spc="-135" dirty="0" smtClean="0">
                <a:latin typeface="Arial"/>
                <a:cs typeface="Arial"/>
              </a:rPr>
              <a:t> </a:t>
            </a:r>
            <a:r>
              <a:rPr sz="2700" spc="-55" dirty="0">
                <a:latin typeface="Arial"/>
                <a:cs typeface="Arial"/>
              </a:rPr>
              <a:t>any </a:t>
            </a:r>
            <a:r>
              <a:rPr sz="2700" spc="-20" dirty="0">
                <a:latin typeface="Arial"/>
                <a:cs typeface="Arial"/>
              </a:rPr>
              <a:t>incoming</a:t>
            </a:r>
            <a:r>
              <a:rPr sz="2700" spc="30" dirty="0">
                <a:latin typeface="Arial"/>
                <a:cs typeface="Arial"/>
              </a:rPr>
              <a:t> </a:t>
            </a:r>
            <a:r>
              <a:rPr sz="2700" spc="-35" dirty="0">
                <a:latin typeface="Arial"/>
                <a:cs typeface="Arial"/>
              </a:rPr>
              <a:t>interface</a:t>
            </a:r>
            <a:endParaRPr sz="27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700" b="1" spc="-145" dirty="0">
                <a:solidFill>
                  <a:srgbClr val="CA6800"/>
                </a:solidFill>
                <a:latin typeface="Arial"/>
                <a:cs typeface="Arial"/>
              </a:rPr>
              <a:t>size</a:t>
            </a:r>
            <a:r>
              <a:rPr sz="2700" spc="-145" dirty="0">
                <a:latin typeface="Arial"/>
                <a:cs typeface="Arial"/>
              </a:rPr>
              <a:t>: </a:t>
            </a:r>
            <a:r>
              <a:rPr sz="2700" spc="-25" dirty="0">
                <a:latin typeface="Arial"/>
                <a:cs typeface="Arial"/>
              </a:rPr>
              <a:t>the </a:t>
            </a:r>
            <a:r>
              <a:rPr sz="2700" spc="-114" dirty="0">
                <a:latin typeface="Arial"/>
                <a:cs typeface="Arial"/>
              </a:rPr>
              <a:t>size </a:t>
            </a:r>
            <a:r>
              <a:rPr sz="2700" spc="40" dirty="0">
                <a:latin typeface="Arial"/>
                <a:cs typeface="Arial"/>
              </a:rPr>
              <a:t>(in </a:t>
            </a:r>
            <a:r>
              <a:rPr sz="2700" spc="-70" dirty="0">
                <a:latin typeface="Arial"/>
                <a:cs typeface="Arial"/>
              </a:rPr>
              <a:t>bytes) </a:t>
            </a:r>
            <a:r>
              <a:rPr sz="2700" spc="-10" dirty="0">
                <a:latin typeface="Arial"/>
                <a:cs typeface="Arial"/>
              </a:rPr>
              <a:t>of </a:t>
            </a:r>
            <a:r>
              <a:rPr sz="2700" spc="-25" dirty="0">
                <a:latin typeface="Arial"/>
                <a:cs typeface="Arial"/>
              </a:rPr>
              <a:t>the </a:t>
            </a:r>
            <a:r>
              <a:rPr sz="2700" spc="-30" dirty="0">
                <a:latin typeface="Arial"/>
                <a:cs typeface="Arial"/>
              </a:rPr>
              <a:t>addrport</a:t>
            </a:r>
            <a:r>
              <a:rPr sz="2700" spc="-135" dirty="0">
                <a:latin typeface="Arial"/>
                <a:cs typeface="Arial"/>
              </a:rPr>
              <a:t> </a:t>
            </a:r>
            <a:r>
              <a:rPr sz="2700" spc="-30" dirty="0">
                <a:latin typeface="Arial"/>
                <a:cs typeface="Arial"/>
              </a:rPr>
              <a:t>structure</a:t>
            </a:r>
            <a:endParaRPr sz="27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700" b="1" spc="-175" dirty="0">
                <a:latin typeface="Arial"/>
                <a:cs typeface="Arial"/>
              </a:rPr>
              <a:t>status</a:t>
            </a:r>
            <a:r>
              <a:rPr sz="2700" spc="-175" dirty="0">
                <a:latin typeface="Arial"/>
                <a:cs typeface="Arial"/>
              </a:rPr>
              <a:t>: </a:t>
            </a:r>
            <a:r>
              <a:rPr sz="2700" spc="-45" dirty="0">
                <a:latin typeface="Arial"/>
                <a:cs typeface="Arial"/>
              </a:rPr>
              <a:t>upon </a:t>
            </a:r>
            <a:r>
              <a:rPr sz="2700" spc="-5" dirty="0">
                <a:latin typeface="Arial"/>
                <a:cs typeface="Arial"/>
              </a:rPr>
              <a:t>failure </a:t>
            </a:r>
            <a:r>
              <a:rPr sz="2700" spc="-15" dirty="0">
                <a:latin typeface="Arial"/>
                <a:cs typeface="Arial"/>
              </a:rPr>
              <a:t>-1 </a:t>
            </a:r>
            <a:r>
              <a:rPr sz="2700" spc="-80" dirty="0">
                <a:latin typeface="Arial"/>
                <a:cs typeface="Arial"/>
              </a:rPr>
              <a:t>is</a:t>
            </a:r>
            <a:r>
              <a:rPr sz="2700" spc="-65" dirty="0">
                <a:latin typeface="Arial"/>
                <a:cs typeface="Arial"/>
              </a:rPr>
              <a:t> </a:t>
            </a:r>
            <a:r>
              <a:rPr sz="2700" spc="-20" dirty="0">
                <a:latin typeface="Arial"/>
                <a:cs typeface="Arial"/>
              </a:rPr>
              <a:t>returned</a:t>
            </a:r>
            <a:endParaRPr sz="2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8513" y="76200"/>
            <a:ext cx="6754887" cy="566851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3600" b="1" spc="20" dirty="0">
                <a:latin typeface="Courier New"/>
                <a:cs typeface="Courier New"/>
              </a:rPr>
              <a:t>bind()</a:t>
            </a:r>
            <a:r>
              <a:rPr sz="3600" b="1" spc="20" dirty="0">
                <a:latin typeface="Arial"/>
                <a:cs typeface="Arial"/>
              </a:rPr>
              <a:t>- </a:t>
            </a:r>
            <a:r>
              <a:rPr sz="3600" b="1" spc="-155" dirty="0">
                <a:latin typeface="Arial"/>
                <a:cs typeface="Arial"/>
              </a:rPr>
              <a:t>Example </a:t>
            </a:r>
            <a:r>
              <a:rPr sz="3600" b="1" spc="155" dirty="0">
                <a:latin typeface="Arial"/>
                <a:cs typeface="Arial"/>
              </a:rPr>
              <a:t>with</a:t>
            </a:r>
            <a:r>
              <a:rPr sz="3600" b="1" spc="-210" dirty="0">
                <a:latin typeface="Arial"/>
                <a:cs typeface="Arial"/>
              </a:rPr>
              <a:t> </a:t>
            </a:r>
            <a:r>
              <a:rPr sz="3600" b="1" spc="-200" dirty="0">
                <a:latin typeface="Arial"/>
                <a:cs typeface="Arial"/>
              </a:rPr>
              <a:t>TCP</a:t>
            </a:r>
            <a:endParaRPr sz="3600" b="1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6502" y="838200"/>
            <a:ext cx="8775098" cy="5434898"/>
          </a:xfrm>
          <a:prstGeom prst="rect">
            <a:avLst/>
          </a:prstGeom>
          <a:ln w="19050">
            <a:solidFill>
              <a:srgbClr val="996600"/>
            </a:solidFill>
          </a:ln>
        </p:spPr>
        <p:txBody>
          <a:bodyPr vert="horz" wrap="square" lIns="0" tIns="33096" rIns="0" bIns="0" rtlCol="0">
            <a:spAutoFit/>
          </a:bodyPr>
          <a:lstStyle/>
          <a:p>
            <a:pPr marL="101197">
              <a:lnSpc>
                <a:spcPct val="150000"/>
              </a:lnSpc>
            </a:pPr>
            <a:r>
              <a:rPr sz="2600" b="1" spc="-5" dirty="0">
                <a:latin typeface="Courier New"/>
                <a:cs typeface="Courier New"/>
              </a:rPr>
              <a:t>int</a:t>
            </a:r>
            <a:r>
              <a:rPr sz="2600" b="1" spc="-10" dirty="0">
                <a:latin typeface="Courier New"/>
                <a:cs typeface="Courier New"/>
              </a:rPr>
              <a:t> </a:t>
            </a:r>
            <a:r>
              <a:rPr sz="2600" b="1" spc="-10" dirty="0">
                <a:solidFill>
                  <a:srgbClr val="CC9A00"/>
                </a:solidFill>
                <a:latin typeface="Courier New"/>
                <a:cs typeface="Courier New"/>
              </a:rPr>
              <a:t>sockid</a:t>
            </a:r>
            <a:r>
              <a:rPr sz="2600" b="1" spc="-10" dirty="0">
                <a:latin typeface="Courier New"/>
                <a:cs typeface="Courier New"/>
              </a:rPr>
              <a:t>;</a:t>
            </a:r>
            <a:endParaRPr sz="2600" dirty="0">
              <a:latin typeface="Courier New"/>
              <a:cs typeface="Courier New"/>
            </a:endParaRPr>
          </a:p>
          <a:p>
            <a:pPr marL="101197">
              <a:lnSpc>
                <a:spcPct val="150000"/>
              </a:lnSpc>
            </a:pPr>
            <a:r>
              <a:rPr sz="2600" b="1" spc="-10" dirty="0">
                <a:latin typeface="Courier New"/>
                <a:cs typeface="Courier New"/>
              </a:rPr>
              <a:t>struct sockaddr_in</a:t>
            </a:r>
            <a:r>
              <a:rPr sz="2600" b="1" dirty="0">
                <a:latin typeface="Courier New"/>
                <a:cs typeface="Courier New"/>
              </a:rPr>
              <a:t> </a:t>
            </a:r>
            <a:r>
              <a:rPr sz="2600" b="1" spc="-10" dirty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>
                <a:latin typeface="Courier New"/>
                <a:cs typeface="Courier New"/>
              </a:rPr>
              <a:t>;</a:t>
            </a:r>
            <a:endParaRPr sz="2600" dirty="0">
              <a:latin typeface="Courier New"/>
              <a:cs typeface="Courier New"/>
            </a:endParaRPr>
          </a:p>
          <a:p>
            <a:pPr marL="101197">
              <a:lnSpc>
                <a:spcPct val="150000"/>
              </a:lnSpc>
            </a:pPr>
            <a:r>
              <a:rPr sz="2600" b="1" spc="-5" dirty="0">
                <a:solidFill>
                  <a:srgbClr val="CC9A00"/>
                </a:solidFill>
                <a:latin typeface="Courier New"/>
                <a:cs typeface="Courier New"/>
              </a:rPr>
              <a:t>sockid </a:t>
            </a:r>
            <a:r>
              <a:rPr sz="2600" b="1" spc="-5" dirty="0">
                <a:latin typeface="Courier New"/>
                <a:cs typeface="Courier New"/>
              </a:rPr>
              <a:t>= </a:t>
            </a:r>
            <a:r>
              <a:rPr sz="2600" b="1" spc="-10" dirty="0">
                <a:solidFill>
                  <a:srgbClr val="006533"/>
                </a:solidFill>
                <a:latin typeface="Courier New"/>
                <a:cs typeface="Courier New"/>
              </a:rPr>
              <a:t>socket</a:t>
            </a:r>
            <a:r>
              <a:rPr sz="2600" b="1" spc="-10" dirty="0">
                <a:latin typeface="Courier New"/>
                <a:cs typeface="Courier New"/>
              </a:rPr>
              <a:t>(PF_INET, SOCK_STREAM,</a:t>
            </a:r>
            <a:r>
              <a:rPr sz="2600" b="1" dirty="0">
                <a:latin typeface="Courier New"/>
                <a:cs typeface="Courier New"/>
              </a:rPr>
              <a:t> </a:t>
            </a:r>
            <a:r>
              <a:rPr sz="2600" b="1" spc="-10" dirty="0">
                <a:latin typeface="Courier New"/>
                <a:cs typeface="Courier New"/>
              </a:rPr>
              <a:t>0</a:t>
            </a:r>
            <a:r>
              <a:rPr sz="2600" b="1" spc="-10" dirty="0" smtClean="0">
                <a:latin typeface="Courier New"/>
                <a:cs typeface="Courier New"/>
              </a:rPr>
              <a:t>);</a:t>
            </a:r>
            <a:endParaRPr lang="en-GB" sz="2600" b="1" spc="-10" dirty="0" smtClean="0">
              <a:latin typeface="Courier New"/>
              <a:cs typeface="Courier New"/>
            </a:endParaRPr>
          </a:p>
          <a:p>
            <a:pPr marL="101197">
              <a:lnSpc>
                <a:spcPct val="150000"/>
              </a:lnSpc>
            </a:pPr>
            <a:r>
              <a:rPr lang="en-GB" sz="2600" b="1" spc="-10" dirty="0" err="1" smtClean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lang="en-GB" sz="2600" b="1" spc="-10" dirty="0" err="1" smtClean="0">
                <a:latin typeface="Courier New"/>
                <a:cs typeface="Courier New"/>
              </a:rPr>
              <a:t>.sin_family</a:t>
            </a:r>
            <a:r>
              <a:rPr lang="en-GB" sz="2600" b="1" spc="-10" dirty="0" smtClean="0">
                <a:latin typeface="Courier New"/>
                <a:cs typeface="Courier New"/>
              </a:rPr>
              <a:t> </a:t>
            </a:r>
            <a:r>
              <a:rPr lang="en-GB" sz="2600" b="1" spc="-5" dirty="0" smtClean="0">
                <a:latin typeface="Courier New"/>
                <a:cs typeface="Courier New"/>
              </a:rPr>
              <a:t>= </a:t>
            </a:r>
            <a:r>
              <a:rPr sz="2600" b="1" spc="-10" dirty="0" smtClean="0">
                <a:latin typeface="Courier New"/>
                <a:cs typeface="Courier New"/>
              </a:rPr>
              <a:t>AF_INET</a:t>
            </a:r>
            <a:r>
              <a:rPr sz="2600" b="1" spc="-10" dirty="0">
                <a:latin typeface="Courier New"/>
                <a:cs typeface="Courier New"/>
              </a:rPr>
              <a:t>;  </a:t>
            </a:r>
            <a:r>
              <a:rPr sz="2600" b="1" spc="-10" dirty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>
                <a:latin typeface="Courier New"/>
                <a:cs typeface="Courier New"/>
              </a:rPr>
              <a:t>.sin_port </a:t>
            </a:r>
            <a:r>
              <a:rPr sz="2600" b="1" spc="-5" dirty="0">
                <a:latin typeface="Courier New"/>
                <a:cs typeface="Courier New"/>
              </a:rPr>
              <a:t>= </a:t>
            </a:r>
            <a:r>
              <a:rPr sz="2600" b="1" spc="-10" dirty="0">
                <a:latin typeface="Courier New"/>
                <a:cs typeface="Courier New"/>
              </a:rPr>
              <a:t>htons(5100);  </a:t>
            </a:r>
            <a:r>
              <a:rPr sz="2600" b="1" spc="-10" dirty="0" err="1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 err="1">
                <a:latin typeface="Courier New"/>
                <a:cs typeface="Courier New"/>
              </a:rPr>
              <a:t>.sin_addr.s_addr</a:t>
            </a:r>
            <a:r>
              <a:rPr sz="2600" b="1" spc="-10" dirty="0">
                <a:latin typeface="Courier New"/>
                <a:cs typeface="Courier New"/>
              </a:rPr>
              <a:t> </a:t>
            </a:r>
            <a:r>
              <a:rPr sz="2600" b="1" spc="-5" dirty="0" smtClean="0">
                <a:latin typeface="Courier New"/>
                <a:cs typeface="Courier New"/>
              </a:rPr>
              <a:t>=</a:t>
            </a:r>
            <a:r>
              <a:rPr lang="en-GB" sz="2600" b="1" spc="-5" dirty="0" smtClean="0">
                <a:latin typeface="Courier New"/>
                <a:cs typeface="Courier New"/>
              </a:rPr>
              <a:t> </a:t>
            </a:r>
            <a:r>
              <a:rPr sz="2600" b="1" spc="-10" dirty="0" err="1" smtClean="0">
                <a:latin typeface="Courier New"/>
                <a:cs typeface="Courier New"/>
              </a:rPr>
              <a:t>htonl</a:t>
            </a:r>
            <a:r>
              <a:rPr sz="2600" b="1" spc="-10" dirty="0" smtClean="0">
                <a:latin typeface="Courier New"/>
                <a:cs typeface="Courier New"/>
              </a:rPr>
              <a:t>(INADDR_ANY</a:t>
            </a:r>
            <a:r>
              <a:rPr sz="2600" b="1" spc="-10" dirty="0">
                <a:latin typeface="Courier New"/>
                <a:cs typeface="Courier New"/>
              </a:rPr>
              <a:t>);</a:t>
            </a:r>
            <a:endParaRPr sz="2600" dirty="0">
              <a:latin typeface="Courier New"/>
              <a:cs typeface="Courier New"/>
            </a:endParaRPr>
          </a:p>
          <a:p>
            <a:pPr marL="101197">
              <a:lnSpc>
                <a:spcPct val="150000"/>
              </a:lnSpc>
            </a:pPr>
            <a:r>
              <a:rPr sz="2600" b="1" spc="-5" dirty="0">
                <a:latin typeface="Courier New"/>
                <a:cs typeface="Courier New"/>
              </a:rPr>
              <a:t>if(</a:t>
            </a:r>
            <a:r>
              <a:rPr sz="2600" b="1" spc="-5" dirty="0">
                <a:solidFill>
                  <a:srgbClr val="006533"/>
                </a:solidFill>
                <a:latin typeface="Courier New"/>
                <a:cs typeface="Courier New"/>
              </a:rPr>
              <a:t>bind</a:t>
            </a:r>
            <a:r>
              <a:rPr sz="2600" b="1" spc="-5" dirty="0">
                <a:latin typeface="Courier New"/>
                <a:cs typeface="Courier New"/>
              </a:rPr>
              <a:t>(</a:t>
            </a:r>
            <a:r>
              <a:rPr sz="2600" b="1" spc="-5" dirty="0">
                <a:solidFill>
                  <a:srgbClr val="CC9A00"/>
                </a:solidFill>
                <a:latin typeface="Courier New"/>
                <a:cs typeface="Courier New"/>
              </a:rPr>
              <a:t>sockid</a:t>
            </a:r>
            <a:r>
              <a:rPr sz="2600" b="1" spc="-5" dirty="0">
                <a:latin typeface="Courier New"/>
                <a:cs typeface="Courier New"/>
              </a:rPr>
              <a:t>, </a:t>
            </a:r>
            <a:r>
              <a:rPr sz="2600" b="1" spc="-10" dirty="0">
                <a:latin typeface="Courier New"/>
                <a:cs typeface="Courier New"/>
              </a:rPr>
              <a:t>(struct sockaddr </a:t>
            </a:r>
            <a:r>
              <a:rPr sz="2600" b="1" spc="-5" dirty="0">
                <a:latin typeface="Courier New"/>
                <a:cs typeface="Courier New"/>
              </a:rPr>
              <a:t>*) </a:t>
            </a:r>
            <a:r>
              <a:rPr sz="2600" b="1" spc="-10" dirty="0">
                <a:latin typeface="Courier New"/>
                <a:cs typeface="Courier New"/>
              </a:rPr>
              <a:t>&amp;</a:t>
            </a:r>
            <a:r>
              <a:rPr sz="2600" b="1" spc="-10" dirty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>
                <a:latin typeface="Courier New"/>
                <a:cs typeface="Courier New"/>
              </a:rPr>
              <a:t>, sizeof(</a:t>
            </a:r>
            <a:r>
              <a:rPr sz="2600" b="1" spc="-10" dirty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>
                <a:latin typeface="Courier New"/>
                <a:cs typeface="Courier New"/>
              </a:rPr>
              <a:t>))!= </a:t>
            </a:r>
            <a:r>
              <a:rPr sz="2600" b="1" spc="-5" dirty="0">
                <a:latin typeface="Courier New"/>
                <a:cs typeface="Courier New"/>
              </a:rPr>
              <a:t>-1)</a:t>
            </a:r>
            <a:r>
              <a:rPr sz="2600" b="1" spc="80" dirty="0">
                <a:latin typeface="Courier New"/>
                <a:cs typeface="Courier New"/>
              </a:rPr>
              <a:t> </a:t>
            </a:r>
            <a:r>
              <a:rPr sz="2600" b="1" spc="-5" dirty="0" smtClean="0">
                <a:latin typeface="Courier New"/>
                <a:cs typeface="Courier New"/>
              </a:rPr>
              <a:t>{</a:t>
            </a:r>
            <a:r>
              <a:rPr lang="en-GB" sz="2600" b="1" spc="-5" dirty="0" smtClean="0">
                <a:latin typeface="Courier New"/>
                <a:cs typeface="Courier New"/>
              </a:rPr>
              <a:t>......</a:t>
            </a:r>
            <a:r>
              <a:rPr sz="2600" b="1" spc="-5" dirty="0" smtClean="0">
                <a:latin typeface="Courier New"/>
                <a:cs typeface="Courier New"/>
              </a:rPr>
              <a:t>}</a:t>
            </a:r>
            <a:endParaRPr sz="2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-268792"/>
            <a:ext cx="5326159" cy="982349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lnSpc>
                <a:spcPct val="150000"/>
              </a:lnSpc>
              <a:spcBef>
                <a:spcPts val="0"/>
              </a:spcBef>
            </a:pPr>
            <a:r>
              <a:rPr sz="4200" b="1" spc="-291" dirty="0"/>
              <a:t>Skipping </a:t>
            </a:r>
            <a:r>
              <a:rPr sz="4200" b="1" spc="-271" dirty="0"/>
              <a:t>the</a:t>
            </a:r>
            <a:r>
              <a:rPr sz="4200" b="1" spc="-435" dirty="0"/>
              <a:t> </a:t>
            </a:r>
            <a:r>
              <a:rPr sz="3600" b="1" spc="-5" dirty="0">
                <a:latin typeface="Courier New"/>
                <a:cs typeface="Courier New"/>
              </a:rPr>
              <a:t>bind()</a:t>
            </a:r>
            <a:endParaRPr sz="3600" b="1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457200"/>
            <a:ext cx="8766529" cy="6624932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356418" indent="-343689">
              <a:lnSpc>
                <a:spcPct val="150000"/>
              </a:lnSpc>
              <a:buClr>
                <a:srgbClr val="CC9A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5" dirty="0">
                <a:latin typeface="Arial"/>
                <a:cs typeface="Arial"/>
              </a:rPr>
              <a:t>bind </a:t>
            </a:r>
            <a:r>
              <a:rPr sz="2800" spc="-120" dirty="0">
                <a:latin typeface="Arial"/>
                <a:cs typeface="Arial"/>
              </a:rPr>
              <a:t>can </a:t>
            </a:r>
            <a:r>
              <a:rPr sz="2800" spc="-145" dirty="0">
                <a:latin typeface="Arial"/>
                <a:cs typeface="Arial"/>
              </a:rPr>
              <a:t>be </a:t>
            </a:r>
            <a:r>
              <a:rPr sz="2800" spc="-80" dirty="0">
                <a:latin typeface="Arial"/>
                <a:cs typeface="Arial"/>
              </a:rPr>
              <a:t>skipped </a:t>
            </a:r>
            <a:r>
              <a:rPr sz="2800" spc="30" dirty="0">
                <a:latin typeface="Arial"/>
                <a:cs typeface="Arial"/>
              </a:rPr>
              <a:t>for </a:t>
            </a:r>
            <a:r>
              <a:rPr sz="2800" spc="-10" dirty="0">
                <a:latin typeface="Arial"/>
                <a:cs typeface="Arial"/>
              </a:rPr>
              <a:t>both </a:t>
            </a:r>
            <a:r>
              <a:rPr sz="2800" spc="-95" dirty="0">
                <a:latin typeface="Arial"/>
                <a:cs typeface="Arial"/>
              </a:rPr>
              <a:t>types </a:t>
            </a:r>
            <a:r>
              <a:rPr sz="2800" spc="-15" dirty="0">
                <a:latin typeface="Arial"/>
                <a:cs typeface="Arial"/>
              </a:rPr>
              <a:t>of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 smtClean="0">
                <a:latin typeface="Arial"/>
                <a:cs typeface="Arial"/>
              </a:rPr>
              <a:t>sockets</a:t>
            </a:r>
            <a:endParaRPr sz="2800" dirty="0">
              <a:latin typeface="Times New Roman"/>
              <a:cs typeface="Times New Roman"/>
            </a:endParaRPr>
          </a:p>
          <a:p>
            <a:pPr marL="356418" indent="-343689">
              <a:lnSpc>
                <a:spcPct val="150000"/>
              </a:lnSpc>
              <a:buClr>
                <a:srgbClr val="CC9A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-95" dirty="0">
                <a:latin typeface="Arial"/>
                <a:cs typeface="Arial"/>
              </a:rPr>
              <a:t>Datagram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socket:</a:t>
            </a:r>
            <a:endParaRPr sz="2800" dirty="0">
              <a:latin typeface="Arial"/>
              <a:cs typeface="Arial"/>
            </a:endParaRPr>
          </a:p>
          <a:p>
            <a:pPr marL="683559" marR="17821" lvl="1" indent="-325868">
              <a:lnSpc>
                <a:spcPct val="150000"/>
              </a:lnSpc>
              <a:buClr>
                <a:srgbClr val="3B822F"/>
              </a:buClr>
              <a:buSzPct val="60000"/>
              <a:buFont typeface="Wingdings"/>
              <a:buChar char=""/>
              <a:tabLst>
                <a:tab pos="684195" algn="l"/>
                <a:tab pos="4262376" algn="l"/>
              </a:tabLst>
            </a:pPr>
            <a:r>
              <a:rPr sz="2800" spc="100" dirty="0">
                <a:latin typeface="Arial"/>
                <a:cs typeface="Arial"/>
              </a:rPr>
              <a:t>if </a:t>
            </a:r>
            <a:r>
              <a:rPr sz="2800" spc="20" dirty="0">
                <a:latin typeface="Arial"/>
                <a:cs typeface="Arial"/>
              </a:rPr>
              <a:t>only </a:t>
            </a:r>
            <a:r>
              <a:rPr sz="2800" spc="-75" dirty="0">
                <a:latin typeface="Arial"/>
                <a:cs typeface="Arial"/>
              </a:rPr>
              <a:t>sending, </a:t>
            </a:r>
            <a:r>
              <a:rPr sz="2800" spc="-40" dirty="0">
                <a:latin typeface="Arial"/>
                <a:cs typeface="Arial"/>
              </a:rPr>
              <a:t>no </a:t>
            </a:r>
            <a:r>
              <a:rPr sz="2800" spc="-110" dirty="0">
                <a:latin typeface="Arial"/>
                <a:cs typeface="Arial"/>
              </a:rPr>
              <a:t>need</a:t>
            </a:r>
            <a:r>
              <a:rPr sz="2800" spc="-241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bind</a:t>
            </a:r>
            <a:r>
              <a:rPr sz="2800" spc="-10" dirty="0" smtClean="0">
                <a:latin typeface="Arial"/>
                <a:cs typeface="Arial"/>
              </a:rPr>
              <a:t>.</a:t>
            </a:r>
            <a:endParaRPr lang="en-GB" sz="2800" spc="-10" dirty="0" smtClean="0">
              <a:latin typeface="Arial"/>
              <a:cs typeface="Arial"/>
            </a:endParaRPr>
          </a:p>
          <a:p>
            <a:pPr marL="683559" marR="17821" lvl="1" indent="-325868">
              <a:lnSpc>
                <a:spcPct val="150000"/>
              </a:lnSpc>
              <a:buClr>
                <a:srgbClr val="3B822F"/>
              </a:buClr>
              <a:buSzPct val="60000"/>
              <a:buFont typeface="Wingdings"/>
              <a:buChar char=""/>
              <a:tabLst>
                <a:tab pos="684195" algn="l"/>
                <a:tab pos="4262376" algn="l"/>
              </a:tabLst>
            </a:pPr>
            <a:r>
              <a:rPr sz="2800" spc="-10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The </a:t>
            </a:r>
            <a:r>
              <a:rPr sz="2800" spc="-210" dirty="0">
                <a:latin typeface="Arial"/>
                <a:cs typeface="Arial"/>
              </a:rPr>
              <a:t>OS </a:t>
            </a:r>
            <a:r>
              <a:rPr sz="2800" spc="-25" dirty="0">
                <a:latin typeface="Arial"/>
                <a:cs typeface="Arial"/>
              </a:rPr>
              <a:t>finds </a:t>
            </a:r>
            <a:r>
              <a:rPr sz="2800" spc="-230" dirty="0">
                <a:latin typeface="Arial"/>
                <a:cs typeface="Arial"/>
              </a:rPr>
              <a:t>a </a:t>
            </a:r>
            <a:r>
              <a:rPr sz="2800" spc="5" dirty="0">
                <a:latin typeface="Arial"/>
                <a:cs typeface="Arial"/>
              </a:rPr>
              <a:t>port </a:t>
            </a:r>
            <a:r>
              <a:rPr sz="2800" spc="-130" dirty="0">
                <a:latin typeface="Arial"/>
                <a:cs typeface="Arial"/>
              </a:rPr>
              <a:t>each </a:t>
            </a:r>
            <a:r>
              <a:rPr sz="2800" spc="-5" dirty="0">
                <a:latin typeface="Arial"/>
                <a:cs typeface="Arial"/>
              </a:rPr>
              <a:t>time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socket  </a:t>
            </a:r>
            <a:r>
              <a:rPr sz="2800" spc="-165" dirty="0">
                <a:latin typeface="Arial"/>
                <a:cs typeface="Arial"/>
              </a:rPr>
              <a:t>sends </a:t>
            </a:r>
            <a:r>
              <a:rPr sz="2800" spc="-230" dirty="0">
                <a:latin typeface="Arial"/>
                <a:cs typeface="Arial"/>
              </a:rPr>
              <a:t>a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packet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3B822F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95" dirty="0">
                <a:latin typeface="Arial"/>
                <a:cs typeface="Arial"/>
              </a:rPr>
              <a:t>if </a:t>
            </a:r>
            <a:r>
              <a:rPr sz="2800" spc="-35" dirty="0">
                <a:latin typeface="Arial"/>
                <a:cs typeface="Arial"/>
              </a:rPr>
              <a:t>receiving, </a:t>
            </a:r>
            <a:r>
              <a:rPr sz="2800" spc="-110" dirty="0">
                <a:latin typeface="Arial"/>
                <a:cs typeface="Arial"/>
              </a:rPr>
              <a:t>need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bind</a:t>
            </a:r>
            <a:endParaRPr sz="2800" dirty="0">
              <a:latin typeface="Arial"/>
              <a:cs typeface="Arial"/>
            </a:endParaRPr>
          </a:p>
          <a:p>
            <a:pPr marL="356418" indent="-343689">
              <a:lnSpc>
                <a:spcPct val="150000"/>
              </a:lnSpc>
              <a:buClr>
                <a:srgbClr val="CC9A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-120" dirty="0">
                <a:latin typeface="Arial"/>
                <a:cs typeface="Arial"/>
              </a:rPr>
              <a:t>Stream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socket: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3B822F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35" dirty="0">
                <a:latin typeface="Arial"/>
                <a:cs typeface="Arial"/>
              </a:rPr>
              <a:t>destination </a:t>
            </a:r>
            <a:r>
              <a:rPr sz="2800" spc="-40" dirty="0">
                <a:latin typeface="Arial"/>
                <a:cs typeface="Arial"/>
              </a:rPr>
              <a:t>determined </a:t>
            </a:r>
            <a:r>
              <a:rPr sz="2800" spc="-5" dirty="0">
                <a:latin typeface="Arial"/>
                <a:cs typeface="Arial"/>
              </a:rPr>
              <a:t>during </a:t>
            </a:r>
            <a:r>
              <a:rPr sz="2800" spc="-35" dirty="0">
                <a:latin typeface="Arial"/>
                <a:cs typeface="Arial"/>
              </a:rPr>
              <a:t>connection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setup</a:t>
            </a:r>
            <a:endParaRPr sz="2800" dirty="0">
              <a:latin typeface="Arial"/>
              <a:cs typeface="Arial"/>
            </a:endParaRPr>
          </a:p>
          <a:p>
            <a:pPr marL="683559" marR="5092" lvl="1" indent="-325868">
              <a:lnSpc>
                <a:spcPct val="150000"/>
              </a:lnSpc>
              <a:buClr>
                <a:srgbClr val="3B822F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10" dirty="0">
                <a:latin typeface="Arial"/>
                <a:cs typeface="Arial"/>
              </a:rPr>
              <a:t>don’t </a:t>
            </a:r>
            <a:r>
              <a:rPr sz="2800" spc="-110" dirty="0">
                <a:latin typeface="Arial"/>
                <a:cs typeface="Arial"/>
              </a:rPr>
              <a:t>need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15" dirty="0">
                <a:latin typeface="Arial"/>
                <a:cs typeface="Arial"/>
              </a:rPr>
              <a:t>know </a:t>
            </a:r>
            <a:r>
              <a:rPr sz="2800" spc="5" dirty="0">
                <a:latin typeface="Arial"/>
                <a:cs typeface="Arial"/>
              </a:rPr>
              <a:t>port </a:t>
            </a:r>
            <a:r>
              <a:rPr sz="2800" spc="-80" dirty="0">
                <a:latin typeface="Arial"/>
                <a:cs typeface="Arial"/>
              </a:rPr>
              <a:t>sending </a:t>
            </a:r>
            <a:r>
              <a:rPr sz="2800" spc="10" dirty="0">
                <a:latin typeface="Arial"/>
                <a:cs typeface="Arial"/>
              </a:rPr>
              <a:t>from </a:t>
            </a:r>
            <a:r>
              <a:rPr sz="2800" spc="-5" dirty="0">
                <a:latin typeface="Arial"/>
                <a:cs typeface="Arial"/>
              </a:rPr>
              <a:t>(during </a:t>
            </a:r>
            <a:r>
              <a:rPr sz="2800" spc="-35" dirty="0">
                <a:latin typeface="Arial"/>
                <a:cs typeface="Arial"/>
              </a:rPr>
              <a:t>connection </a:t>
            </a:r>
            <a:r>
              <a:rPr sz="2800" spc="-90" dirty="0">
                <a:latin typeface="Arial"/>
                <a:cs typeface="Arial"/>
              </a:rPr>
              <a:t>setup,</a:t>
            </a:r>
            <a:r>
              <a:rPr sz="2800" spc="-321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receiving  </a:t>
            </a:r>
            <a:r>
              <a:rPr sz="2800" spc="-80" dirty="0">
                <a:latin typeface="Arial"/>
                <a:cs typeface="Arial"/>
              </a:rPr>
              <a:t>end </a:t>
            </a:r>
            <a:r>
              <a:rPr sz="2800" spc="-85" dirty="0">
                <a:latin typeface="Arial"/>
                <a:cs typeface="Arial"/>
              </a:rPr>
              <a:t>is </a:t>
            </a:r>
            <a:r>
              <a:rPr sz="2800" spc="-15" dirty="0">
                <a:latin typeface="Arial"/>
                <a:cs typeface="Arial"/>
              </a:rPr>
              <a:t>informed </a:t>
            </a:r>
            <a:r>
              <a:rPr sz="2800" spc="-10" dirty="0">
                <a:latin typeface="Arial"/>
                <a:cs typeface="Arial"/>
              </a:rPr>
              <a:t>of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port)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2058" y="2409588"/>
            <a:ext cx="8104793" cy="337174"/>
          </a:xfrm>
          <a:custGeom>
            <a:avLst/>
            <a:gdLst/>
            <a:ahLst/>
            <a:cxnLst/>
            <a:rect l="l" t="t" r="r" b="b"/>
            <a:pathLst>
              <a:path w="8082280" h="336550">
                <a:moveTo>
                  <a:pt x="8081759" y="280416"/>
                </a:moveTo>
                <a:lnTo>
                  <a:pt x="8081759" y="55625"/>
                </a:lnTo>
                <a:lnTo>
                  <a:pt x="8077344" y="34075"/>
                </a:lnTo>
                <a:lnTo>
                  <a:pt x="8065287" y="16383"/>
                </a:lnTo>
                <a:lnTo>
                  <a:pt x="8047372" y="4405"/>
                </a:lnTo>
                <a:lnTo>
                  <a:pt x="8025384" y="0"/>
                </a:lnTo>
                <a:lnTo>
                  <a:pt x="55625" y="0"/>
                </a:lnTo>
                <a:lnTo>
                  <a:pt x="34075" y="4405"/>
                </a:lnTo>
                <a:lnTo>
                  <a:pt x="16382" y="16383"/>
                </a:lnTo>
                <a:lnTo>
                  <a:pt x="4405" y="34075"/>
                </a:lnTo>
                <a:lnTo>
                  <a:pt x="0" y="55626"/>
                </a:lnTo>
                <a:lnTo>
                  <a:pt x="0" y="280416"/>
                </a:lnTo>
                <a:lnTo>
                  <a:pt x="4405" y="301966"/>
                </a:lnTo>
                <a:lnTo>
                  <a:pt x="16382" y="319659"/>
                </a:lnTo>
                <a:lnTo>
                  <a:pt x="34075" y="331636"/>
                </a:lnTo>
                <a:lnTo>
                  <a:pt x="55625" y="336042"/>
                </a:lnTo>
                <a:lnTo>
                  <a:pt x="8025384" y="336042"/>
                </a:lnTo>
                <a:lnTo>
                  <a:pt x="8047372" y="331636"/>
                </a:lnTo>
                <a:lnTo>
                  <a:pt x="8065287" y="319658"/>
                </a:lnTo>
                <a:lnTo>
                  <a:pt x="8077344" y="301966"/>
                </a:lnTo>
                <a:lnTo>
                  <a:pt x="8081759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1139" y="0"/>
            <a:ext cx="7222232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51" dirty="0"/>
              <a:t>Establish </a:t>
            </a:r>
            <a:r>
              <a:rPr sz="4200" spc="-246" dirty="0"/>
              <a:t>Connection:</a:t>
            </a:r>
            <a:r>
              <a:rPr sz="4200" spc="-426" dirty="0"/>
              <a:t> </a:t>
            </a:r>
            <a:r>
              <a:rPr sz="3600" spc="-5" dirty="0">
                <a:latin typeface="Courier New"/>
                <a:cs typeface="Courier New"/>
              </a:rPr>
              <a:t>connect()</a:t>
            </a:r>
            <a:endParaRPr sz="3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571" y="668512"/>
            <a:ext cx="8512829" cy="6476161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-70" dirty="0">
                <a:latin typeface="Arial"/>
                <a:cs typeface="Arial"/>
              </a:rPr>
              <a:t>The </a:t>
            </a:r>
            <a:r>
              <a:rPr sz="2800" spc="10" dirty="0">
                <a:latin typeface="Arial"/>
                <a:cs typeface="Arial"/>
              </a:rPr>
              <a:t>client </a:t>
            </a:r>
            <a:r>
              <a:rPr sz="2800" spc="-120" dirty="0">
                <a:latin typeface="Arial"/>
                <a:cs typeface="Arial"/>
              </a:rPr>
              <a:t>establishes </a:t>
            </a:r>
            <a:r>
              <a:rPr sz="2800" spc="-251" dirty="0">
                <a:latin typeface="Arial"/>
                <a:cs typeface="Arial"/>
              </a:rPr>
              <a:t>a </a:t>
            </a:r>
            <a:r>
              <a:rPr sz="2800" spc="-40" dirty="0">
                <a:latin typeface="Arial"/>
                <a:cs typeface="Arial"/>
              </a:rPr>
              <a:t>connection </a:t>
            </a:r>
            <a:r>
              <a:rPr sz="2800" spc="95" dirty="0">
                <a:latin typeface="Arial"/>
                <a:cs typeface="Arial"/>
              </a:rPr>
              <a:t>with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server </a:t>
            </a:r>
            <a:r>
              <a:rPr sz="2800" spc="-20" dirty="0">
                <a:latin typeface="Arial"/>
                <a:cs typeface="Arial"/>
              </a:rPr>
              <a:t>by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0" dirty="0" smtClean="0">
                <a:latin typeface="Arial"/>
                <a:cs typeface="Arial"/>
              </a:rPr>
              <a:t>calling</a:t>
            </a:r>
            <a:r>
              <a:rPr lang="en-GB" sz="2800" spc="-20" dirty="0" smtClean="0">
                <a:latin typeface="Arial"/>
                <a:cs typeface="Arial"/>
              </a:rPr>
              <a:t> </a:t>
            </a:r>
            <a:r>
              <a:rPr sz="2800" dirty="0" smtClean="0">
                <a:latin typeface="Courier New"/>
                <a:cs typeface="Courier New"/>
              </a:rPr>
              <a:t>connect()</a:t>
            </a:r>
            <a:endParaRPr sz="2800" dirty="0">
              <a:latin typeface="Times New Roman"/>
              <a:cs typeface="Times New Roman"/>
            </a:endParaRPr>
          </a:p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5000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status = connect(</a:t>
            </a:r>
            <a:r>
              <a:rPr sz="2800" b="1" u="sng" spc="-5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&amp;</a:t>
            </a:r>
            <a:r>
              <a:rPr sz="2800" b="1" u="sng" spc="-5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foreignAddr</a:t>
            </a: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9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spc="-5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addrlen</a:t>
            </a: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3559" lvl="1" indent="-325868">
              <a:lnSpc>
                <a:spcPct val="150000"/>
              </a:lnSpc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130" dirty="0">
                <a:latin typeface="Arial"/>
                <a:cs typeface="Arial"/>
              </a:rPr>
              <a:t>be </a:t>
            </a:r>
            <a:r>
              <a:rPr sz="2800" spc="-145" dirty="0">
                <a:latin typeface="Arial"/>
                <a:cs typeface="Arial"/>
              </a:rPr>
              <a:t>used </a:t>
            </a:r>
            <a:r>
              <a:rPr sz="2800" spc="65" dirty="0">
                <a:latin typeface="Arial"/>
                <a:cs typeface="Arial"/>
              </a:rPr>
              <a:t>in</a:t>
            </a:r>
            <a:r>
              <a:rPr sz="2800" spc="14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connection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05" dirty="0">
                <a:solidFill>
                  <a:srgbClr val="CC9A00"/>
                </a:solidFill>
                <a:latin typeface="Arial"/>
                <a:cs typeface="Arial"/>
              </a:rPr>
              <a:t>foreignAddr</a:t>
            </a:r>
            <a:r>
              <a:rPr sz="2800" spc="-105" dirty="0">
                <a:latin typeface="Arial"/>
                <a:cs typeface="Arial"/>
              </a:rPr>
              <a:t>: </a:t>
            </a:r>
            <a:r>
              <a:rPr sz="2800" spc="-20" dirty="0">
                <a:latin typeface="Arial"/>
                <a:cs typeface="Arial"/>
              </a:rPr>
              <a:t>struct </a:t>
            </a:r>
            <a:r>
              <a:rPr sz="2800" spc="-85" dirty="0">
                <a:latin typeface="Arial"/>
                <a:cs typeface="Arial"/>
              </a:rPr>
              <a:t>sockaddr: </a:t>
            </a:r>
            <a:r>
              <a:rPr sz="2800" spc="-145" dirty="0">
                <a:latin typeface="Arial"/>
                <a:cs typeface="Arial"/>
              </a:rPr>
              <a:t>address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135" dirty="0">
                <a:latin typeface="Arial"/>
                <a:cs typeface="Arial"/>
              </a:rPr>
              <a:t>passive</a:t>
            </a:r>
            <a:r>
              <a:rPr sz="2800" spc="-15" dirty="0">
                <a:latin typeface="Arial"/>
                <a:cs typeface="Arial"/>
              </a:rPr>
              <a:t> participant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14" dirty="0">
                <a:solidFill>
                  <a:srgbClr val="A50021"/>
                </a:solidFill>
                <a:latin typeface="Arial"/>
                <a:cs typeface="Arial"/>
              </a:rPr>
              <a:t>addrlen</a:t>
            </a:r>
            <a:r>
              <a:rPr sz="2800" spc="-114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sizeof(name)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100" dirty="0">
                <a:latin typeface="Arial"/>
                <a:cs typeface="Arial"/>
              </a:rPr>
              <a:t>status: </a:t>
            </a:r>
            <a:r>
              <a:rPr sz="2800" spc="-114" dirty="0">
                <a:latin typeface="Arial"/>
                <a:cs typeface="Arial"/>
              </a:rPr>
              <a:t>0 </a:t>
            </a:r>
            <a:r>
              <a:rPr sz="2800" spc="95" dirty="0">
                <a:latin typeface="Arial"/>
                <a:cs typeface="Arial"/>
              </a:rPr>
              <a:t>if </a:t>
            </a:r>
            <a:r>
              <a:rPr sz="2800" spc="-114" dirty="0">
                <a:latin typeface="Arial"/>
                <a:cs typeface="Arial"/>
              </a:rPr>
              <a:t>successful </a:t>
            </a:r>
            <a:r>
              <a:rPr sz="2800" spc="-55" dirty="0">
                <a:latin typeface="Arial"/>
                <a:cs typeface="Arial"/>
              </a:rPr>
              <a:t>connect, </a:t>
            </a:r>
            <a:r>
              <a:rPr sz="2800" spc="-15" dirty="0">
                <a:latin typeface="Arial"/>
                <a:cs typeface="Arial"/>
              </a:rPr>
              <a:t>-1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40" dirty="0" smtClean="0">
                <a:latin typeface="Arial"/>
                <a:cs typeface="Arial"/>
              </a:rPr>
              <a:t>otherwise</a:t>
            </a:r>
            <a:r>
              <a:rPr lang="en-GB" sz="2800" spc="-40" dirty="0" smtClean="0">
                <a:latin typeface="Arial"/>
                <a:cs typeface="Arial"/>
              </a:rPr>
              <a:t> </a:t>
            </a:r>
            <a:r>
              <a:rPr sz="2800" dirty="0" smtClean="0">
                <a:latin typeface="Courier New"/>
                <a:cs typeface="Courier New"/>
              </a:rPr>
              <a:t>connect</a:t>
            </a:r>
            <a:r>
              <a:rPr sz="2800" dirty="0">
                <a:latin typeface="Courier New"/>
                <a:cs typeface="Courier New"/>
              </a:rPr>
              <a:t>()</a:t>
            </a:r>
            <a:r>
              <a:rPr sz="2800" spc="-757" dirty="0">
                <a:latin typeface="Courier New"/>
                <a:cs typeface="Courier New"/>
              </a:rPr>
              <a:t> </a:t>
            </a:r>
            <a:r>
              <a:rPr sz="2800" spc="-90" dirty="0">
                <a:latin typeface="Arial"/>
                <a:cs typeface="Arial"/>
              </a:rPr>
              <a:t>is </a:t>
            </a:r>
            <a:r>
              <a:rPr sz="2800" b="1" spc="-140" dirty="0">
                <a:latin typeface="Arial"/>
                <a:cs typeface="Arial"/>
              </a:rPr>
              <a:t>blocking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2756" y="2041623"/>
            <a:ext cx="7967888" cy="337811"/>
          </a:xfrm>
          <a:custGeom>
            <a:avLst/>
            <a:gdLst/>
            <a:ahLst/>
            <a:cxnLst/>
            <a:rect l="l" t="t" r="r" b="b"/>
            <a:pathLst>
              <a:path w="7945755" h="337185">
                <a:moveTo>
                  <a:pt x="7945361" y="280416"/>
                </a:moveTo>
                <a:lnTo>
                  <a:pt x="7945361" y="56388"/>
                </a:lnTo>
                <a:lnTo>
                  <a:pt x="7941065" y="34397"/>
                </a:lnTo>
                <a:lnTo>
                  <a:pt x="7929270" y="16478"/>
                </a:lnTo>
                <a:lnTo>
                  <a:pt x="7911617" y="4417"/>
                </a:lnTo>
                <a:lnTo>
                  <a:pt x="7889748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7889748" y="336804"/>
                </a:lnTo>
                <a:lnTo>
                  <a:pt x="7911617" y="332386"/>
                </a:lnTo>
                <a:lnTo>
                  <a:pt x="7929270" y="320325"/>
                </a:lnTo>
                <a:lnTo>
                  <a:pt x="7941065" y="302406"/>
                </a:lnTo>
                <a:lnTo>
                  <a:pt x="7945361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51318" y="76200"/>
            <a:ext cx="7040753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71" dirty="0"/>
              <a:t>Incoming </a:t>
            </a:r>
            <a:r>
              <a:rPr sz="4200" spc="-246" dirty="0"/>
              <a:t>Connection:</a:t>
            </a:r>
            <a:r>
              <a:rPr sz="4200" spc="-391" dirty="0"/>
              <a:t> </a:t>
            </a:r>
            <a:r>
              <a:rPr sz="3600" spc="-5" dirty="0">
                <a:latin typeface="Courier New"/>
                <a:cs typeface="Courier New"/>
              </a:rPr>
              <a:t>accept()</a:t>
            </a:r>
            <a:endParaRPr sz="3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571" y="838200"/>
            <a:ext cx="8401528" cy="5829830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-70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server </a:t>
            </a:r>
            <a:r>
              <a:rPr sz="2800" spc="-150" dirty="0">
                <a:latin typeface="Arial"/>
                <a:cs typeface="Arial"/>
              </a:rPr>
              <a:t>gets </a:t>
            </a:r>
            <a:r>
              <a:rPr sz="2800" spc="-251" dirty="0">
                <a:latin typeface="Arial"/>
                <a:cs typeface="Arial"/>
              </a:rPr>
              <a:t>a </a:t>
            </a:r>
            <a:r>
              <a:rPr sz="2800" spc="-100" dirty="0">
                <a:latin typeface="Arial"/>
                <a:cs typeface="Arial"/>
              </a:rPr>
              <a:t>socket </a:t>
            </a:r>
            <a:r>
              <a:rPr sz="2800" spc="25" dirty="0">
                <a:latin typeface="Arial"/>
                <a:cs typeface="Arial"/>
              </a:rPr>
              <a:t>for </a:t>
            </a:r>
            <a:r>
              <a:rPr sz="2800" spc="-120" dirty="0">
                <a:latin typeface="Arial"/>
                <a:cs typeface="Arial"/>
              </a:rPr>
              <a:t>an </a:t>
            </a:r>
            <a:r>
              <a:rPr sz="2800" spc="-20" dirty="0">
                <a:latin typeface="Arial"/>
                <a:cs typeface="Arial"/>
              </a:rPr>
              <a:t>incoming </a:t>
            </a:r>
            <a:r>
              <a:rPr sz="2800" spc="10" dirty="0">
                <a:latin typeface="Arial"/>
                <a:cs typeface="Arial"/>
              </a:rPr>
              <a:t>client </a:t>
            </a:r>
            <a:r>
              <a:rPr sz="2800" spc="-40" dirty="0">
                <a:latin typeface="Arial"/>
                <a:cs typeface="Arial"/>
              </a:rPr>
              <a:t>connection </a:t>
            </a:r>
            <a:r>
              <a:rPr sz="2800" spc="-20" dirty="0">
                <a:latin typeface="Arial"/>
                <a:cs typeface="Arial"/>
              </a:rPr>
              <a:t>by</a:t>
            </a:r>
            <a:r>
              <a:rPr sz="2800" spc="-271" dirty="0">
                <a:latin typeface="Arial"/>
                <a:cs typeface="Arial"/>
              </a:rPr>
              <a:t> </a:t>
            </a:r>
            <a:r>
              <a:rPr sz="2800" spc="-20" dirty="0" smtClean="0">
                <a:latin typeface="Arial"/>
                <a:cs typeface="Arial"/>
              </a:rPr>
              <a:t>calling</a:t>
            </a:r>
            <a:r>
              <a:rPr lang="en-GB" sz="2800" spc="-20" dirty="0" smtClean="0">
                <a:latin typeface="Arial"/>
                <a:cs typeface="Arial"/>
              </a:rPr>
              <a:t> </a:t>
            </a:r>
            <a:r>
              <a:rPr sz="2800" dirty="0" smtClean="0">
                <a:latin typeface="Courier New"/>
                <a:cs typeface="Courier New"/>
              </a:rPr>
              <a:t>accept</a:t>
            </a:r>
            <a:r>
              <a:rPr sz="2800" dirty="0">
                <a:latin typeface="Courier New"/>
                <a:cs typeface="Courier New"/>
              </a:rPr>
              <a:t>()</a:t>
            </a:r>
          </a:p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</a:t>
            </a:r>
            <a:r>
              <a:rPr sz="2800" b="1" u="sng" dirty="0">
                <a:solidFill>
                  <a:srgbClr val="3B822F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= accept(</a:t>
            </a:r>
            <a:r>
              <a:rPr sz="28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&amp;</a:t>
            </a:r>
            <a:r>
              <a:rPr sz="2800" b="1" u="sng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clientAddr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&amp;</a:t>
            </a:r>
            <a:r>
              <a:rPr sz="28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addrLen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226" dirty="0">
                <a:solidFill>
                  <a:srgbClr val="3B822F"/>
                </a:solidFill>
                <a:latin typeface="Arial"/>
                <a:cs typeface="Arial"/>
              </a:rPr>
              <a:t>s</a:t>
            </a:r>
            <a:r>
              <a:rPr sz="2800" spc="-226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30" dirty="0">
                <a:latin typeface="Arial"/>
                <a:cs typeface="Arial"/>
              </a:rPr>
              <a:t>new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spc="-120" dirty="0">
                <a:latin typeface="Arial"/>
                <a:cs typeface="Arial"/>
              </a:rPr>
              <a:t>(used </a:t>
            </a:r>
            <a:r>
              <a:rPr sz="2800" spc="25" dirty="0">
                <a:latin typeface="Arial"/>
                <a:cs typeface="Arial"/>
              </a:rPr>
              <a:t>for</a:t>
            </a:r>
            <a:r>
              <a:rPr sz="2800" spc="-221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data-transfer)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20" dirty="0">
                <a:latin typeface="Arial"/>
                <a:cs typeface="Arial"/>
              </a:rPr>
              <a:t>orig.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spc="-55" dirty="0">
                <a:latin typeface="Arial"/>
                <a:cs typeface="Arial"/>
              </a:rPr>
              <a:t>(being </a:t>
            </a:r>
            <a:r>
              <a:rPr sz="2800" spc="-50" dirty="0">
                <a:latin typeface="Arial"/>
                <a:cs typeface="Arial"/>
              </a:rPr>
              <a:t>listened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on)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80" dirty="0">
                <a:solidFill>
                  <a:srgbClr val="A50021"/>
                </a:solidFill>
                <a:latin typeface="Arial"/>
                <a:cs typeface="Arial"/>
              </a:rPr>
              <a:t>clientAddr</a:t>
            </a:r>
            <a:r>
              <a:rPr sz="2800" spc="-80" dirty="0">
                <a:latin typeface="Arial"/>
                <a:cs typeface="Arial"/>
              </a:rPr>
              <a:t>: </a:t>
            </a:r>
            <a:r>
              <a:rPr sz="2800" spc="-20" dirty="0">
                <a:latin typeface="Arial"/>
                <a:cs typeface="Arial"/>
              </a:rPr>
              <a:t>struct </a:t>
            </a:r>
            <a:r>
              <a:rPr sz="2800" spc="-85" dirty="0">
                <a:latin typeface="Arial"/>
                <a:cs typeface="Arial"/>
              </a:rPr>
              <a:t>sockaddr, </a:t>
            </a:r>
            <a:r>
              <a:rPr sz="2800" spc="-145" dirty="0">
                <a:latin typeface="Arial"/>
                <a:cs typeface="Arial"/>
              </a:rPr>
              <a:t>address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50" dirty="0">
                <a:latin typeface="Arial"/>
                <a:cs typeface="Arial"/>
              </a:rPr>
              <a:t>active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participant</a:t>
            </a:r>
            <a:endParaRPr sz="2800" dirty="0">
              <a:latin typeface="Arial"/>
              <a:cs typeface="Arial"/>
            </a:endParaRPr>
          </a:p>
          <a:p>
            <a:pPr marL="1037431" lvl="2" indent="-351963">
              <a:lnSpc>
                <a:spcPct val="150000"/>
              </a:lnSpc>
              <a:buClr>
                <a:srgbClr val="9A6500"/>
              </a:buClr>
              <a:buSzPct val="66666"/>
              <a:buFont typeface="Wingdings"/>
              <a:buChar char=""/>
              <a:tabLst>
                <a:tab pos="1037431" algn="l"/>
                <a:tab pos="1038067" algn="l"/>
              </a:tabLst>
            </a:pPr>
            <a:r>
              <a:rPr sz="2800" spc="25" dirty="0">
                <a:latin typeface="Arial"/>
                <a:cs typeface="Arial"/>
              </a:rPr>
              <a:t>filled </a:t>
            </a:r>
            <a:r>
              <a:rPr sz="2800" spc="60" dirty="0">
                <a:latin typeface="Arial"/>
                <a:cs typeface="Arial"/>
              </a:rPr>
              <a:t>in </a:t>
            </a:r>
            <a:r>
              <a:rPr sz="2800" spc="-45" dirty="0">
                <a:latin typeface="Arial"/>
                <a:cs typeface="Arial"/>
              </a:rPr>
              <a:t>upon</a:t>
            </a:r>
            <a:r>
              <a:rPr sz="2800" spc="-261" dirty="0">
                <a:latin typeface="Arial"/>
                <a:cs typeface="Arial"/>
              </a:rPr>
              <a:t> </a:t>
            </a:r>
            <a:r>
              <a:rPr sz="2800" spc="5" dirty="0" smtClean="0">
                <a:latin typeface="Arial"/>
                <a:cs typeface="Arial"/>
              </a:rPr>
              <a:t>return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2756" y="2041623"/>
            <a:ext cx="7967888" cy="337811"/>
          </a:xfrm>
          <a:custGeom>
            <a:avLst/>
            <a:gdLst/>
            <a:ahLst/>
            <a:cxnLst/>
            <a:rect l="l" t="t" r="r" b="b"/>
            <a:pathLst>
              <a:path w="7945755" h="337185">
                <a:moveTo>
                  <a:pt x="7945361" y="280416"/>
                </a:moveTo>
                <a:lnTo>
                  <a:pt x="7945361" y="56388"/>
                </a:lnTo>
                <a:lnTo>
                  <a:pt x="7941065" y="34397"/>
                </a:lnTo>
                <a:lnTo>
                  <a:pt x="7929270" y="16478"/>
                </a:lnTo>
                <a:lnTo>
                  <a:pt x="7911617" y="4417"/>
                </a:lnTo>
                <a:lnTo>
                  <a:pt x="7889748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7889748" y="336804"/>
                </a:lnTo>
                <a:lnTo>
                  <a:pt x="7911617" y="332386"/>
                </a:lnTo>
                <a:lnTo>
                  <a:pt x="7929270" y="320325"/>
                </a:lnTo>
                <a:lnTo>
                  <a:pt x="7941065" y="302406"/>
                </a:lnTo>
                <a:lnTo>
                  <a:pt x="7945361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51318" y="76200"/>
            <a:ext cx="7040753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71" dirty="0"/>
              <a:t>Incoming </a:t>
            </a:r>
            <a:r>
              <a:rPr sz="4200" spc="-246" dirty="0"/>
              <a:t>Connection:</a:t>
            </a:r>
            <a:r>
              <a:rPr sz="4200" spc="-391" dirty="0"/>
              <a:t> </a:t>
            </a:r>
            <a:r>
              <a:rPr sz="3600" spc="-5" dirty="0">
                <a:latin typeface="Courier New"/>
                <a:cs typeface="Courier New"/>
              </a:rPr>
              <a:t>accept()</a:t>
            </a:r>
            <a:endParaRPr sz="3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571" y="951970"/>
            <a:ext cx="8401528" cy="5829830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-70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server </a:t>
            </a:r>
            <a:r>
              <a:rPr sz="2800" spc="-150" dirty="0">
                <a:latin typeface="Arial"/>
                <a:cs typeface="Arial"/>
              </a:rPr>
              <a:t>gets </a:t>
            </a:r>
            <a:r>
              <a:rPr sz="2800" spc="-251" dirty="0">
                <a:latin typeface="Arial"/>
                <a:cs typeface="Arial"/>
              </a:rPr>
              <a:t>a </a:t>
            </a:r>
            <a:r>
              <a:rPr sz="2800" spc="-100" dirty="0">
                <a:latin typeface="Arial"/>
                <a:cs typeface="Arial"/>
              </a:rPr>
              <a:t>socket </a:t>
            </a:r>
            <a:r>
              <a:rPr sz="2800" spc="25" dirty="0">
                <a:latin typeface="Arial"/>
                <a:cs typeface="Arial"/>
              </a:rPr>
              <a:t>for </a:t>
            </a:r>
            <a:r>
              <a:rPr sz="2800" spc="-120" dirty="0">
                <a:latin typeface="Arial"/>
                <a:cs typeface="Arial"/>
              </a:rPr>
              <a:t>an </a:t>
            </a:r>
            <a:r>
              <a:rPr sz="2800" spc="-20" dirty="0">
                <a:latin typeface="Arial"/>
                <a:cs typeface="Arial"/>
              </a:rPr>
              <a:t>incoming </a:t>
            </a:r>
            <a:r>
              <a:rPr sz="2800" spc="10" dirty="0">
                <a:latin typeface="Arial"/>
                <a:cs typeface="Arial"/>
              </a:rPr>
              <a:t>client </a:t>
            </a:r>
            <a:r>
              <a:rPr sz="2800" spc="-40" dirty="0">
                <a:latin typeface="Arial"/>
                <a:cs typeface="Arial"/>
              </a:rPr>
              <a:t>connection </a:t>
            </a:r>
            <a:r>
              <a:rPr sz="2800" spc="-20" dirty="0">
                <a:latin typeface="Arial"/>
                <a:cs typeface="Arial"/>
              </a:rPr>
              <a:t>by</a:t>
            </a:r>
            <a:r>
              <a:rPr sz="2800" spc="-271" dirty="0">
                <a:latin typeface="Arial"/>
                <a:cs typeface="Arial"/>
              </a:rPr>
              <a:t> </a:t>
            </a:r>
            <a:r>
              <a:rPr sz="2800" spc="-20" dirty="0" smtClean="0">
                <a:latin typeface="Arial"/>
                <a:cs typeface="Arial"/>
              </a:rPr>
              <a:t>calling</a:t>
            </a:r>
            <a:r>
              <a:rPr lang="en-GB" sz="2800" spc="-20" dirty="0" smtClean="0">
                <a:latin typeface="Arial"/>
                <a:cs typeface="Arial"/>
              </a:rPr>
              <a:t> </a:t>
            </a:r>
            <a:r>
              <a:rPr sz="2800" dirty="0" smtClean="0">
                <a:latin typeface="Courier New"/>
                <a:cs typeface="Courier New"/>
              </a:rPr>
              <a:t>accept</a:t>
            </a:r>
            <a:r>
              <a:rPr sz="2800" dirty="0">
                <a:latin typeface="Courier New"/>
                <a:cs typeface="Courier New"/>
              </a:rPr>
              <a:t>()</a:t>
            </a:r>
          </a:p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</a:t>
            </a:r>
            <a:r>
              <a:rPr sz="2800" b="1" u="sng" dirty="0">
                <a:solidFill>
                  <a:srgbClr val="3B822F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= accept(</a:t>
            </a:r>
            <a:r>
              <a:rPr sz="28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&amp;</a:t>
            </a:r>
            <a:r>
              <a:rPr sz="2800" b="1" u="sng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clientAddr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&amp;</a:t>
            </a:r>
            <a:r>
              <a:rPr sz="28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addrLen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226" dirty="0">
                <a:solidFill>
                  <a:srgbClr val="3B822F"/>
                </a:solidFill>
                <a:latin typeface="Arial"/>
                <a:cs typeface="Arial"/>
              </a:rPr>
              <a:t>s</a:t>
            </a:r>
            <a:r>
              <a:rPr sz="2800" spc="-226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30" dirty="0">
                <a:latin typeface="Arial"/>
                <a:cs typeface="Arial"/>
              </a:rPr>
              <a:t>new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spc="-120" dirty="0">
                <a:latin typeface="Arial"/>
                <a:cs typeface="Arial"/>
              </a:rPr>
              <a:t>(used </a:t>
            </a:r>
            <a:r>
              <a:rPr sz="2800" spc="25" dirty="0">
                <a:latin typeface="Arial"/>
                <a:cs typeface="Arial"/>
              </a:rPr>
              <a:t>for</a:t>
            </a:r>
            <a:r>
              <a:rPr sz="2800" spc="-221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data-transfer)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20" dirty="0">
                <a:latin typeface="Arial"/>
                <a:cs typeface="Arial"/>
              </a:rPr>
              <a:t>orig.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spc="-55" dirty="0">
                <a:latin typeface="Arial"/>
                <a:cs typeface="Arial"/>
              </a:rPr>
              <a:t>(being </a:t>
            </a:r>
            <a:r>
              <a:rPr sz="2800" spc="-50" dirty="0">
                <a:latin typeface="Arial"/>
                <a:cs typeface="Arial"/>
              </a:rPr>
              <a:t>listened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on)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80" dirty="0">
                <a:solidFill>
                  <a:srgbClr val="A50021"/>
                </a:solidFill>
                <a:latin typeface="Arial"/>
                <a:cs typeface="Arial"/>
              </a:rPr>
              <a:t>clientAddr</a:t>
            </a:r>
            <a:r>
              <a:rPr sz="2800" spc="-80" dirty="0">
                <a:latin typeface="Arial"/>
                <a:cs typeface="Arial"/>
              </a:rPr>
              <a:t>: </a:t>
            </a:r>
            <a:r>
              <a:rPr sz="2800" spc="-20" dirty="0">
                <a:latin typeface="Arial"/>
                <a:cs typeface="Arial"/>
              </a:rPr>
              <a:t>struct </a:t>
            </a:r>
            <a:r>
              <a:rPr sz="2800" spc="-85" dirty="0">
                <a:latin typeface="Arial"/>
                <a:cs typeface="Arial"/>
              </a:rPr>
              <a:t>sockaddr, </a:t>
            </a:r>
            <a:r>
              <a:rPr sz="2800" spc="-145" dirty="0">
                <a:latin typeface="Arial"/>
                <a:cs typeface="Arial"/>
              </a:rPr>
              <a:t>address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50" dirty="0">
                <a:latin typeface="Arial"/>
                <a:cs typeface="Arial"/>
              </a:rPr>
              <a:t>active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participant</a:t>
            </a:r>
            <a:endParaRPr sz="2800" dirty="0">
              <a:latin typeface="Arial"/>
              <a:cs typeface="Arial"/>
            </a:endParaRPr>
          </a:p>
          <a:p>
            <a:pPr marL="1037431" lvl="2" indent="-351963">
              <a:lnSpc>
                <a:spcPct val="150000"/>
              </a:lnSpc>
              <a:buClr>
                <a:srgbClr val="9A6500"/>
              </a:buClr>
              <a:buSzPct val="66666"/>
              <a:buFont typeface="Wingdings"/>
              <a:buChar char=""/>
              <a:tabLst>
                <a:tab pos="1037431" algn="l"/>
                <a:tab pos="1038067" algn="l"/>
              </a:tabLst>
            </a:pPr>
            <a:r>
              <a:rPr sz="2800" spc="25" dirty="0">
                <a:latin typeface="Arial"/>
                <a:cs typeface="Arial"/>
              </a:rPr>
              <a:t>filled </a:t>
            </a:r>
            <a:r>
              <a:rPr sz="2800" spc="60" dirty="0">
                <a:latin typeface="Arial"/>
                <a:cs typeface="Arial"/>
              </a:rPr>
              <a:t>in </a:t>
            </a:r>
            <a:r>
              <a:rPr sz="2800" spc="-45" dirty="0">
                <a:latin typeface="Arial"/>
                <a:cs typeface="Arial"/>
              </a:rPr>
              <a:t>upon</a:t>
            </a:r>
            <a:r>
              <a:rPr sz="2800" spc="-261" dirty="0">
                <a:latin typeface="Arial"/>
                <a:cs typeface="Arial"/>
              </a:rPr>
              <a:t> </a:t>
            </a:r>
            <a:r>
              <a:rPr sz="2800" spc="5" dirty="0" smtClean="0">
                <a:latin typeface="Arial"/>
                <a:cs typeface="Arial"/>
              </a:rPr>
              <a:t>return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2059" y="1295767"/>
            <a:ext cx="7746292" cy="337811"/>
          </a:xfrm>
          <a:custGeom>
            <a:avLst/>
            <a:gdLst/>
            <a:ahLst/>
            <a:cxnLst/>
            <a:rect l="l" t="t" r="r" b="b"/>
            <a:pathLst>
              <a:path w="7724775" h="337185">
                <a:moveTo>
                  <a:pt x="7724381" y="280416"/>
                </a:moveTo>
                <a:lnTo>
                  <a:pt x="7724381" y="56388"/>
                </a:lnTo>
                <a:lnTo>
                  <a:pt x="7719975" y="34397"/>
                </a:lnTo>
                <a:lnTo>
                  <a:pt x="7707998" y="16478"/>
                </a:lnTo>
                <a:lnTo>
                  <a:pt x="7690305" y="4417"/>
                </a:lnTo>
                <a:lnTo>
                  <a:pt x="7668755" y="0"/>
                </a:lnTo>
                <a:lnTo>
                  <a:pt x="55625" y="0"/>
                </a:lnTo>
                <a:lnTo>
                  <a:pt x="34075" y="4417"/>
                </a:lnTo>
                <a:lnTo>
                  <a:pt x="16382" y="16478"/>
                </a:lnTo>
                <a:lnTo>
                  <a:pt x="4405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05" y="302406"/>
                </a:lnTo>
                <a:lnTo>
                  <a:pt x="16382" y="320325"/>
                </a:lnTo>
                <a:lnTo>
                  <a:pt x="34075" y="332386"/>
                </a:lnTo>
                <a:lnTo>
                  <a:pt x="55625" y="336804"/>
                </a:lnTo>
                <a:lnTo>
                  <a:pt x="7668755" y="336804"/>
                </a:lnTo>
                <a:lnTo>
                  <a:pt x="7690305" y="332386"/>
                </a:lnTo>
                <a:lnTo>
                  <a:pt x="7707998" y="320325"/>
                </a:lnTo>
                <a:lnTo>
                  <a:pt x="7719975" y="302406"/>
                </a:lnTo>
                <a:lnTo>
                  <a:pt x="7724381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8945" y="246327"/>
            <a:ext cx="7488401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61" dirty="0"/>
              <a:t>Exchanging </a:t>
            </a:r>
            <a:r>
              <a:rPr sz="4200" spc="-341" dirty="0"/>
              <a:t>data </a:t>
            </a:r>
            <a:r>
              <a:rPr sz="4200" spc="-276" dirty="0"/>
              <a:t>with </a:t>
            </a:r>
            <a:r>
              <a:rPr sz="4200" spc="-336" dirty="0"/>
              <a:t>stream</a:t>
            </a:r>
            <a:r>
              <a:rPr sz="4200" spc="326" dirty="0"/>
              <a:t> </a:t>
            </a:r>
            <a:r>
              <a:rPr sz="4200" spc="-226" dirty="0"/>
              <a:t>socket</a:t>
            </a:r>
            <a:endParaRPr sz="4200" dirty="0"/>
          </a:p>
        </p:txBody>
      </p:sp>
      <p:sp>
        <p:nvSpPr>
          <p:cNvPr id="4" name="object 4"/>
          <p:cNvSpPr/>
          <p:nvPr/>
        </p:nvSpPr>
        <p:spPr>
          <a:xfrm>
            <a:off x="675115" y="3366908"/>
            <a:ext cx="8400891" cy="337174"/>
          </a:xfrm>
          <a:custGeom>
            <a:avLst/>
            <a:gdLst/>
            <a:ahLst/>
            <a:cxnLst/>
            <a:rect l="l" t="t" r="r" b="b"/>
            <a:pathLst>
              <a:path w="8377555" h="336550">
                <a:moveTo>
                  <a:pt x="8377428" y="280415"/>
                </a:moveTo>
                <a:lnTo>
                  <a:pt x="8377428" y="55625"/>
                </a:lnTo>
                <a:lnTo>
                  <a:pt x="8373010" y="34075"/>
                </a:lnTo>
                <a:lnTo>
                  <a:pt x="8360949" y="16383"/>
                </a:lnTo>
                <a:lnTo>
                  <a:pt x="8343030" y="4405"/>
                </a:lnTo>
                <a:lnTo>
                  <a:pt x="8321040" y="0"/>
                </a:lnTo>
                <a:lnTo>
                  <a:pt x="56387" y="0"/>
                </a:lnTo>
                <a:lnTo>
                  <a:pt x="34397" y="4405"/>
                </a:lnTo>
                <a:lnTo>
                  <a:pt x="16478" y="16383"/>
                </a:lnTo>
                <a:lnTo>
                  <a:pt x="4417" y="34075"/>
                </a:lnTo>
                <a:lnTo>
                  <a:pt x="0" y="55626"/>
                </a:lnTo>
                <a:lnTo>
                  <a:pt x="0" y="280416"/>
                </a:lnTo>
                <a:lnTo>
                  <a:pt x="4417" y="301966"/>
                </a:lnTo>
                <a:lnTo>
                  <a:pt x="16478" y="319659"/>
                </a:lnTo>
                <a:lnTo>
                  <a:pt x="34397" y="331636"/>
                </a:lnTo>
                <a:lnTo>
                  <a:pt x="56387" y="336042"/>
                </a:lnTo>
                <a:lnTo>
                  <a:pt x="8321040" y="336041"/>
                </a:lnTo>
                <a:lnTo>
                  <a:pt x="8343030" y="331636"/>
                </a:lnTo>
                <a:lnTo>
                  <a:pt x="8360949" y="319658"/>
                </a:lnTo>
                <a:lnTo>
                  <a:pt x="8373010" y="301966"/>
                </a:lnTo>
                <a:lnTo>
                  <a:pt x="8377428" y="280415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2572" y="1162912"/>
            <a:ext cx="8635222" cy="4538960"/>
          </a:xfrm>
          <a:prstGeom prst="rect">
            <a:avLst/>
          </a:prstGeom>
        </p:spPr>
        <p:txBody>
          <a:bodyPr vert="horz" wrap="square" lIns="0" tIns="93560" rIns="0" bIns="0" rtlCol="0">
            <a:spAutoFit/>
          </a:bodyPr>
          <a:lstStyle/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count = send(</a:t>
            </a:r>
            <a:r>
              <a:rPr sz="28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</a:t>
            </a:r>
            <a:r>
              <a:rPr sz="28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msg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</a:t>
            </a:r>
            <a:r>
              <a:rPr sz="2800" b="1" u="sng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msgLen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solidFill>
                  <a:srgbClr val="CA68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flags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135" dirty="0">
                <a:solidFill>
                  <a:srgbClr val="CC9A00"/>
                </a:solidFill>
                <a:latin typeface="Arial"/>
                <a:cs typeface="Arial"/>
              </a:rPr>
              <a:t>msg</a:t>
            </a:r>
            <a:r>
              <a:rPr sz="2800" spc="-135" dirty="0">
                <a:latin typeface="Arial"/>
                <a:cs typeface="Arial"/>
              </a:rPr>
              <a:t>: </a:t>
            </a:r>
            <a:r>
              <a:rPr sz="2800" spc="-75" dirty="0">
                <a:latin typeface="Arial"/>
                <a:cs typeface="Arial"/>
              </a:rPr>
              <a:t>const </a:t>
            </a:r>
            <a:r>
              <a:rPr sz="2800" spc="15" dirty="0">
                <a:latin typeface="Arial"/>
                <a:cs typeface="Arial"/>
              </a:rPr>
              <a:t>void[], </a:t>
            </a:r>
            <a:r>
              <a:rPr sz="2800" spc="-200" dirty="0">
                <a:latin typeface="Arial"/>
                <a:cs typeface="Arial"/>
              </a:rPr>
              <a:t>message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130" dirty="0">
                <a:latin typeface="Arial"/>
                <a:cs typeface="Arial"/>
              </a:rPr>
              <a:t>be</a:t>
            </a:r>
            <a:r>
              <a:rPr sz="2800" spc="-321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transmitted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110" dirty="0">
                <a:solidFill>
                  <a:srgbClr val="A50021"/>
                </a:solidFill>
                <a:latin typeface="Arial"/>
                <a:cs typeface="Arial"/>
              </a:rPr>
              <a:t>msgLen</a:t>
            </a:r>
            <a:r>
              <a:rPr sz="2800" spc="-11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0" dirty="0">
                <a:latin typeface="Arial"/>
                <a:cs typeface="Arial"/>
              </a:rPr>
              <a:t>length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00" dirty="0">
                <a:latin typeface="Arial"/>
                <a:cs typeface="Arial"/>
              </a:rPr>
              <a:t>message </a:t>
            </a:r>
            <a:r>
              <a:rPr sz="2800" spc="40" dirty="0">
                <a:latin typeface="Arial"/>
                <a:cs typeface="Arial"/>
              </a:rPr>
              <a:t>(in </a:t>
            </a:r>
            <a:r>
              <a:rPr sz="2800" spc="-70" dirty="0">
                <a:latin typeface="Arial"/>
                <a:cs typeface="Arial"/>
              </a:rPr>
              <a:t>bytes)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transmit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90" dirty="0">
                <a:solidFill>
                  <a:srgbClr val="CA6800"/>
                </a:solidFill>
                <a:latin typeface="Arial"/>
                <a:cs typeface="Arial"/>
              </a:rPr>
              <a:t>flags</a:t>
            </a:r>
            <a:r>
              <a:rPr sz="2800" spc="-90" dirty="0">
                <a:latin typeface="Arial"/>
                <a:cs typeface="Arial"/>
              </a:rPr>
              <a:t>: </a:t>
            </a:r>
            <a:r>
              <a:rPr sz="2800" spc="-35" dirty="0">
                <a:latin typeface="Arial"/>
                <a:cs typeface="Arial"/>
              </a:rPr>
              <a:t>integer, </a:t>
            </a:r>
            <a:r>
              <a:rPr sz="2800" spc="-95" dirty="0">
                <a:latin typeface="Arial"/>
                <a:cs typeface="Arial"/>
              </a:rPr>
              <a:t>special </a:t>
            </a:r>
            <a:r>
              <a:rPr sz="2800" spc="-45" dirty="0">
                <a:latin typeface="Arial"/>
                <a:cs typeface="Arial"/>
              </a:rPr>
              <a:t>options, usually </a:t>
            </a:r>
            <a:r>
              <a:rPr sz="2800" spc="-35" dirty="0">
                <a:latin typeface="Arial"/>
                <a:cs typeface="Arial"/>
              </a:rPr>
              <a:t>just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0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30" dirty="0">
                <a:latin typeface="Arial"/>
                <a:cs typeface="Arial"/>
              </a:rPr>
              <a:t>count: </a:t>
            </a:r>
            <a:r>
              <a:rPr sz="2800" spc="-114" dirty="0">
                <a:latin typeface="Arial"/>
                <a:cs typeface="Arial"/>
              </a:rPr>
              <a:t># </a:t>
            </a:r>
            <a:r>
              <a:rPr sz="2800" spc="-85" dirty="0">
                <a:latin typeface="Arial"/>
                <a:cs typeface="Arial"/>
              </a:rPr>
              <a:t>bytes </a:t>
            </a:r>
            <a:r>
              <a:rPr sz="2800" spc="-25" dirty="0">
                <a:latin typeface="Arial"/>
                <a:cs typeface="Arial"/>
              </a:rPr>
              <a:t>transmitted </a:t>
            </a:r>
            <a:r>
              <a:rPr sz="2800" spc="-15" dirty="0">
                <a:latin typeface="Arial"/>
                <a:cs typeface="Arial"/>
              </a:rPr>
              <a:t>(-1 </a:t>
            </a:r>
            <a:r>
              <a:rPr sz="2800" spc="100" dirty="0">
                <a:latin typeface="Arial"/>
                <a:cs typeface="Arial"/>
              </a:rPr>
              <a:t>if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error</a:t>
            </a:r>
            <a:r>
              <a:rPr sz="2800" spc="-5" dirty="0" smtClean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2059" y="1295767"/>
            <a:ext cx="7746292" cy="337811"/>
          </a:xfrm>
          <a:custGeom>
            <a:avLst/>
            <a:gdLst/>
            <a:ahLst/>
            <a:cxnLst/>
            <a:rect l="l" t="t" r="r" b="b"/>
            <a:pathLst>
              <a:path w="7724775" h="337185">
                <a:moveTo>
                  <a:pt x="7724381" y="280416"/>
                </a:moveTo>
                <a:lnTo>
                  <a:pt x="7724381" y="56388"/>
                </a:lnTo>
                <a:lnTo>
                  <a:pt x="7719975" y="34397"/>
                </a:lnTo>
                <a:lnTo>
                  <a:pt x="7707998" y="16478"/>
                </a:lnTo>
                <a:lnTo>
                  <a:pt x="7690305" y="4417"/>
                </a:lnTo>
                <a:lnTo>
                  <a:pt x="7668755" y="0"/>
                </a:lnTo>
                <a:lnTo>
                  <a:pt x="55625" y="0"/>
                </a:lnTo>
                <a:lnTo>
                  <a:pt x="34075" y="4417"/>
                </a:lnTo>
                <a:lnTo>
                  <a:pt x="16382" y="16478"/>
                </a:lnTo>
                <a:lnTo>
                  <a:pt x="4405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05" y="302406"/>
                </a:lnTo>
                <a:lnTo>
                  <a:pt x="16382" y="320325"/>
                </a:lnTo>
                <a:lnTo>
                  <a:pt x="34075" y="332386"/>
                </a:lnTo>
                <a:lnTo>
                  <a:pt x="55625" y="336804"/>
                </a:lnTo>
                <a:lnTo>
                  <a:pt x="7668755" y="336804"/>
                </a:lnTo>
                <a:lnTo>
                  <a:pt x="7690305" y="332386"/>
                </a:lnTo>
                <a:lnTo>
                  <a:pt x="7707998" y="320325"/>
                </a:lnTo>
                <a:lnTo>
                  <a:pt x="7719975" y="302406"/>
                </a:lnTo>
                <a:lnTo>
                  <a:pt x="7724381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8945" y="76200"/>
            <a:ext cx="7488401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61" dirty="0"/>
              <a:t>Exchanging </a:t>
            </a:r>
            <a:r>
              <a:rPr sz="4200" spc="-341" dirty="0"/>
              <a:t>data </a:t>
            </a:r>
            <a:r>
              <a:rPr sz="4200" spc="-276" dirty="0"/>
              <a:t>with </a:t>
            </a:r>
            <a:r>
              <a:rPr sz="4200" spc="-336" dirty="0"/>
              <a:t>stream</a:t>
            </a:r>
            <a:r>
              <a:rPr sz="4200" spc="326" dirty="0"/>
              <a:t> </a:t>
            </a:r>
            <a:r>
              <a:rPr sz="4200" spc="-226" dirty="0"/>
              <a:t>socket</a:t>
            </a:r>
            <a:endParaRPr sz="4200" dirty="0"/>
          </a:p>
        </p:txBody>
      </p:sp>
      <p:sp>
        <p:nvSpPr>
          <p:cNvPr id="4" name="object 4"/>
          <p:cNvSpPr/>
          <p:nvPr/>
        </p:nvSpPr>
        <p:spPr>
          <a:xfrm>
            <a:off x="675115" y="3366908"/>
            <a:ext cx="8400891" cy="337174"/>
          </a:xfrm>
          <a:custGeom>
            <a:avLst/>
            <a:gdLst/>
            <a:ahLst/>
            <a:cxnLst/>
            <a:rect l="l" t="t" r="r" b="b"/>
            <a:pathLst>
              <a:path w="8377555" h="336550">
                <a:moveTo>
                  <a:pt x="8377428" y="280415"/>
                </a:moveTo>
                <a:lnTo>
                  <a:pt x="8377428" y="55625"/>
                </a:lnTo>
                <a:lnTo>
                  <a:pt x="8373010" y="34075"/>
                </a:lnTo>
                <a:lnTo>
                  <a:pt x="8360949" y="16383"/>
                </a:lnTo>
                <a:lnTo>
                  <a:pt x="8343030" y="4405"/>
                </a:lnTo>
                <a:lnTo>
                  <a:pt x="8321040" y="0"/>
                </a:lnTo>
                <a:lnTo>
                  <a:pt x="56387" y="0"/>
                </a:lnTo>
                <a:lnTo>
                  <a:pt x="34397" y="4405"/>
                </a:lnTo>
                <a:lnTo>
                  <a:pt x="16478" y="16383"/>
                </a:lnTo>
                <a:lnTo>
                  <a:pt x="4417" y="34075"/>
                </a:lnTo>
                <a:lnTo>
                  <a:pt x="0" y="55626"/>
                </a:lnTo>
                <a:lnTo>
                  <a:pt x="0" y="280416"/>
                </a:lnTo>
                <a:lnTo>
                  <a:pt x="4417" y="301966"/>
                </a:lnTo>
                <a:lnTo>
                  <a:pt x="16478" y="319659"/>
                </a:lnTo>
                <a:lnTo>
                  <a:pt x="34397" y="331636"/>
                </a:lnTo>
                <a:lnTo>
                  <a:pt x="56387" y="336042"/>
                </a:lnTo>
                <a:lnTo>
                  <a:pt x="8321040" y="336041"/>
                </a:lnTo>
                <a:lnTo>
                  <a:pt x="8343030" y="331636"/>
                </a:lnTo>
                <a:lnTo>
                  <a:pt x="8360949" y="319658"/>
                </a:lnTo>
                <a:lnTo>
                  <a:pt x="8373010" y="301966"/>
                </a:lnTo>
                <a:lnTo>
                  <a:pt x="8377428" y="280415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2572" y="838200"/>
            <a:ext cx="8635222" cy="5833545"/>
          </a:xfrm>
          <a:prstGeom prst="rect">
            <a:avLst/>
          </a:prstGeom>
        </p:spPr>
        <p:txBody>
          <a:bodyPr vert="horz" wrap="square" lIns="0" tIns="93560" rIns="0" bIns="0" rtlCol="0">
            <a:spAutoFit/>
          </a:bodyPr>
          <a:lstStyle/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count = </a:t>
            </a:r>
            <a:r>
              <a:rPr sz="2800" b="1" u="sng" dirty="0" err="1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recv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(</a:t>
            </a:r>
            <a:r>
              <a:rPr sz="2800" b="1" u="sng" dirty="0" err="1" smtClean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</a:t>
            </a:r>
            <a:r>
              <a:rPr sz="2800" b="1" u="sng" dirty="0" err="1" smtClean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recvBuf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</a:t>
            </a:r>
            <a:r>
              <a:rPr sz="2800" b="1" u="sng" dirty="0" err="1" smtClean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bufLen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-10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 smtClean="0">
                <a:solidFill>
                  <a:srgbClr val="CA68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flags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 smtClean="0">
              <a:latin typeface="Courier New"/>
              <a:cs typeface="Courier New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50" dirty="0" err="1" smtClean="0">
                <a:solidFill>
                  <a:srgbClr val="CC9A00"/>
                </a:solidFill>
                <a:latin typeface="Arial"/>
                <a:cs typeface="Arial"/>
              </a:rPr>
              <a:t>recvBuf</a:t>
            </a:r>
            <a:r>
              <a:rPr sz="2800" spc="-50" dirty="0" smtClean="0">
                <a:latin typeface="Arial"/>
                <a:cs typeface="Arial"/>
              </a:rPr>
              <a:t>: </a:t>
            </a:r>
            <a:r>
              <a:rPr sz="2800" spc="10" dirty="0" smtClean="0">
                <a:latin typeface="Arial"/>
                <a:cs typeface="Arial"/>
              </a:rPr>
              <a:t>void[], </a:t>
            </a:r>
            <a:r>
              <a:rPr sz="2800" spc="-114" dirty="0" smtClean="0">
                <a:latin typeface="Arial"/>
                <a:cs typeface="Arial"/>
              </a:rPr>
              <a:t>stores </a:t>
            </a:r>
            <a:r>
              <a:rPr sz="2800" spc="-70" dirty="0" smtClean="0">
                <a:latin typeface="Arial"/>
                <a:cs typeface="Arial"/>
              </a:rPr>
              <a:t>received</a:t>
            </a:r>
            <a:r>
              <a:rPr sz="2800" spc="-85" dirty="0" smtClean="0">
                <a:latin typeface="Arial"/>
                <a:cs typeface="Arial"/>
              </a:rPr>
              <a:t> </a:t>
            </a:r>
            <a:r>
              <a:rPr sz="2800" spc="-90" dirty="0" smtClean="0">
                <a:latin typeface="Arial"/>
                <a:cs typeface="Arial"/>
              </a:rPr>
              <a:t>bytes</a:t>
            </a:r>
            <a:endParaRPr sz="2800" dirty="0" smtClean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40" dirty="0" err="1" smtClean="0">
                <a:solidFill>
                  <a:srgbClr val="A50021"/>
                </a:solidFill>
                <a:latin typeface="Arial"/>
                <a:cs typeface="Arial"/>
              </a:rPr>
              <a:t>bufLen</a:t>
            </a:r>
            <a:r>
              <a:rPr sz="2800" spc="-40" dirty="0" smtClean="0">
                <a:latin typeface="Arial"/>
                <a:cs typeface="Arial"/>
              </a:rPr>
              <a:t>: </a:t>
            </a:r>
            <a:r>
              <a:rPr sz="2800" spc="-114" dirty="0" smtClean="0">
                <a:latin typeface="Arial"/>
                <a:cs typeface="Arial"/>
              </a:rPr>
              <a:t># </a:t>
            </a:r>
            <a:r>
              <a:rPr sz="2800" spc="-85" dirty="0" smtClean="0">
                <a:latin typeface="Arial"/>
                <a:cs typeface="Arial"/>
              </a:rPr>
              <a:t>bytes</a:t>
            </a:r>
            <a:r>
              <a:rPr sz="2800" spc="-30" dirty="0" smtClean="0">
                <a:latin typeface="Arial"/>
                <a:cs typeface="Arial"/>
              </a:rPr>
              <a:t> </a:t>
            </a:r>
            <a:r>
              <a:rPr sz="2800" spc="-70" dirty="0" smtClean="0">
                <a:latin typeface="Arial"/>
                <a:cs typeface="Arial"/>
              </a:rPr>
              <a:t>received</a:t>
            </a:r>
            <a:endParaRPr sz="2800" dirty="0" smtClean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90" dirty="0" smtClean="0">
                <a:solidFill>
                  <a:srgbClr val="CA6800"/>
                </a:solidFill>
                <a:latin typeface="Arial"/>
                <a:cs typeface="Arial"/>
              </a:rPr>
              <a:t>flags</a:t>
            </a:r>
            <a:r>
              <a:rPr sz="2800" spc="-90" dirty="0" smtClean="0">
                <a:latin typeface="Arial"/>
                <a:cs typeface="Arial"/>
              </a:rPr>
              <a:t>: </a:t>
            </a:r>
            <a:r>
              <a:rPr sz="2800" spc="-35" dirty="0" smtClean="0">
                <a:latin typeface="Arial"/>
                <a:cs typeface="Arial"/>
              </a:rPr>
              <a:t>integer, </a:t>
            </a:r>
            <a:r>
              <a:rPr sz="2800" spc="-95" dirty="0" smtClean="0">
                <a:latin typeface="Arial"/>
                <a:cs typeface="Arial"/>
              </a:rPr>
              <a:t>special </a:t>
            </a:r>
            <a:r>
              <a:rPr sz="2800" spc="-45" dirty="0" smtClean="0">
                <a:latin typeface="Arial"/>
                <a:cs typeface="Arial"/>
              </a:rPr>
              <a:t>options, usually </a:t>
            </a:r>
            <a:r>
              <a:rPr sz="2800" spc="-35" dirty="0" smtClean="0">
                <a:latin typeface="Arial"/>
                <a:cs typeface="Arial"/>
              </a:rPr>
              <a:t>just</a:t>
            </a:r>
            <a:r>
              <a:rPr sz="2800" spc="-60" dirty="0" smtClean="0">
                <a:latin typeface="Arial"/>
                <a:cs typeface="Arial"/>
              </a:rPr>
              <a:t> </a:t>
            </a:r>
            <a:r>
              <a:rPr sz="2800" spc="-114" dirty="0" smtClean="0">
                <a:latin typeface="Arial"/>
                <a:cs typeface="Arial"/>
              </a:rPr>
              <a:t>0</a:t>
            </a:r>
            <a:endParaRPr sz="2800" dirty="0" smtClean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30" dirty="0" smtClean="0">
                <a:latin typeface="Arial"/>
                <a:cs typeface="Arial"/>
              </a:rPr>
              <a:t>count: </a:t>
            </a:r>
            <a:r>
              <a:rPr sz="2800" spc="-114" dirty="0" smtClean="0">
                <a:latin typeface="Arial"/>
                <a:cs typeface="Arial"/>
              </a:rPr>
              <a:t># </a:t>
            </a:r>
            <a:r>
              <a:rPr sz="2800" spc="-85" dirty="0" smtClean="0">
                <a:latin typeface="Arial"/>
                <a:cs typeface="Arial"/>
              </a:rPr>
              <a:t>bytes </a:t>
            </a:r>
            <a:r>
              <a:rPr sz="2800" spc="-65" dirty="0" smtClean="0">
                <a:latin typeface="Arial"/>
                <a:cs typeface="Arial"/>
              </a:rPr>
              <a:t>received </a:t>
            </a:r>
            <a:r>
              <a:rPr sz="2800" spc="-15" dirty="0" smtClean="0">
                <a:latin typeface="Arial"/>
                <a:cs typeface="Arial"/>
              </a:rPr>
              <a:t>(-1 </a:t>
            </a:r>
            <a:r>
              <a:rPr sz="2800" spc="95" dirty="0" smtClean="0">
                <a:latin typeface="Arial"/>
                <a:cs typeface="Arial"/>
              </a:rPr>
              <a:t>if</a:t>
            </a:r>
            <a:r>
              <a:rPr sz="2800" spc="-55" dirty="0" smtClean="0">
                <a:latin typeface="Arial"/>
                <a:cs typeface="Arial"/>
              </a:rPr>
              <a:t> </a:t>
            </a:r>
            <a:r>
              <a:rPr sz="2800" spc="-5" dirty="0" smtClean="0">
                <a:latin typeface="Arial"/>
                <a:cs typeface="Arial"/>
              </a:rPr>
              <a:t>error)</a:t>
            </a:r>
            <a:endParaRPr sz="2800" dirty="0" smtClean="0">
              <a:latin typeface="Arial"/>
              <a:cs typeface="Arial"/>
            </a:endParaRPr>
          </a:p>
          <a:p>
            <a:pPr lvl="1">
              <a:lnSpc>
                <a:spcPct val="150000"/>
              </a:lnSpc>
              <a:buClr>
                <a:srgbClr val="9A6500"/>
              </a:buClr>
              <a:buFont typeface="Wingdings"/>
              <a:buChar char=""/>
            </a:pPr>
            <a:endParaRPr sz="2800" dirty="0" smtClean="0">
              <a:latin typeface="Times New Roman"/>
              <a:cs typeface="Times New Roman"/>
            </a:endParaRPr>
          </a:p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-95" dirty="0" smtClean="0">
                <a:latin typeface="Arial"/>
                <a:cs typeface="Arial"/>
              </a:rPr>
              <a:t>Calls </a:t>
            </a:r>
            <a:r>
              <a:rPr sz="2800" spc="-125" dirty="0" smtClean="0">
                <a:latin typeface="Arial"/>
                <a:cs typeface="Arial"/>
              </a:rPr>
              <a:t>are</a:t>
            </a:r>
            <a:r>
              <a:rPr sz="2800" spc="-45" dirty="0" smtClean="0">
                <a:latin typeface="Arial"/>
                <a:cs typeface="Arial"/>
              </a:rPr>
              <a:t> </a:t>
            </a:r>
            <a:r>
              <a:rPr sz="2800" b="1" spc="-140" dirty="0" smtClean="0">
                <a:latin typeface="Arial"/>
                <a:cs typeface="Arial"/>
              </a:rPr>
              <a:t>blocking</a:t>
            </a:r>
            <a:endParaRPr sz="2800" dirty="0" smtClean="0">
              <a:latin typeface="Arial"/>
              <a:cs typeface="Arial"/>
            </a:endParaRPr>
          </a:p>
          <a:p>
            <a:pPr marL="43279">
              <a:lnSpc>
                <a:spcPct val="150000"/>
              </a:lnSpc>
              <a:tabLst>
                <a:tab pos="357691" algn="l"/>
                <a:tab pos="683559" algn="l"/>
                <a:tab pos="8291171" algn="l"/>
              </a:tabLst>
            </a:pPr>
            <a:r>
              <a:rPr sz="2800" u="heavy" dirty="0" smtClean="0">
                <a:solidFill>
                  <a:srgbClr val="9A65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800" u="heavy" dirty="0" smtClean="0">
                <a:solidFill>
                  <a:srgbClr val="9A6500"/>
                </a:solidFill>
                <a:uFill>
                  <a:solidFill>
                    <a:srgbClr val="CC9900"/>
                  </a:solidFill>
                </a:uFill>
                <a:latin typeface="Wingdings"/>
                <a:cs typeface="Wingdings"/>
              </a:rPr>
              <a:t></a:t>
            </a:r>
            <a:r>
              <a:rPr sz="2800" u="heavy" dirty="0" smtClean="0">
                <a:solidFill>
                  <a:srgbClr val="9A65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u="heavy" spc="-3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returns </a:t>
            </a:r>
            <a:r>
              <a:rPr sz="2800" u="heavy" spc="2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only </a:t>
            </a:r>
            <a:r>
              <a:rPr sz="2800" u="heavy" spc="-3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after </a:t>
            </a:r>
            <a:r>
              <a:rPr sz="2800" u="heavy" spc="-105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data </a:t>
            </a:r>
            <a:r>
              <a:rPr sz="2800" u="heavy" spc="-8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is </a:t>
            </a:r>
            <a:r>
              <a:rPr sz="2800" u="heavy" spc="-9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sent </a:t>
            </a:r>
            <a:r>
              <a:rPr sz="2800" u="heavy" spc="6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/</a:t>
            </a:r>
            <a:r>
              <a:rPr sz="2800" u="heavy" spc="-114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heavy" spc="-65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received	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2058" y="1295767"/>
            <a:ext cx="7913763" cy="717609"/>
          </a:xfrm>
          <a:custGeom>
            <a:avLst/>
            <a:gdLst/>
            <a:ahLst/>
            <a:cxnLst/>
            <a:rect l="l" t="t" r="r" b="b"/>
            <a:pathLst>
              <a:path w="7891780" h="716280">
                <a:moveTo>
                  <a:pt x="7891259" y="596646"/>
                </a:moveTo>
                <a:lnTo>
                  <a:pt x="7891259" y="119634"/>
                </a:lnTo>
                <a:lnTo>
                  <a:pt x="7881891" y="72973"/>
                </a:lnTo>
                <a:lnTo>
                  <a:pt x="7856308" y="34956"/>
                </a:lnTo>
                <a:lnTo>
                  <a:pt x="7818296" y="9370"/>
                </a:lnTo>
                <a:lnTo>
                  <a:pt x="7771638" y="0"/>
                </a:lnTo>
                <a:lnTo>
                  <a:pt x="118872" y="0"/>
                </a:lnTo>
                <a:lnTo>
                  <a:pt x="72651" y="9370"/>
                </a:lnTo>
                <a:lnTo>
                  <a:pt x="34861" y="34956"/>
                </a:lnTo>
                <a:lnTo>
                  <a:pt x="9358" y="72973"/>
                </a:lnTo>
                <a:lnTo>
                  <a:pt x="0" y="119634"/>
                </a:lnTo>
                <a:lnTo>
                  <a:pt x="0" y="596646"/>
                </a:lnTo>
                <a:lnTo>
                  <a:pt x="9358" y="643306"/>
                </a:lnTo>
                <a:lnTo>
                  <a:pt x="34861" y="681323"/>
                </a:lnTo>
                <a:lnTo>
                  <a:pt x="72651" y="706909"/>
                </a:lnTo>
                <a:lnTo>
                  <a:pt x="118872" y="716280"/>
                </a:lnTo>
                <a:lnTo>
                  <a:pt x="7771638" y="716280"/>
                </a:lnTo>
                <a:lnTo>
                  <a:pt x="7818296" y="706909"/>
                </a:lnTo>
                <a:lnTo>
                  <a:pt x="7856308" y="681323"/>
                </a:lnTo>
                <a:lnTo>
                  <a:pt x="7881891" y="643306"/>
                </a:lnTo>
                <a:lnTo>
                  <a:pt x="7891259" y="59664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2058" y="1295767"/>
            <a:ext cx="7913763" cy="717609"/>
          </a:xfrm>
          <a:custGeom>
            <a:avLst/>
            <a:gdLst/>
            <a:ahLst/>
            <a:cxnLst/>
            <a:rect l="l" t="t" r="r" b="b"/>
            <a:pathLst>
              <a:path w="7891780" h="716280">
                <a:moveTo>
                  <a:pt x="118872" y="0"/>
                </a:moveTo>
                <a:lnTo>
                  <a:pt x="72651" y="9370"/>
                </a:lnTo>
                <a:lnTo>
                  <a:pt x="34861" y="34956"/>
                </a:lnTo>
                <a:lnTo>
                  <a:pt x="9358" y="72973"/>
                </a:lnTo>
                <a:lnTo>
                  <a:pt x="0" y="119634"/>
                </a:lnTo>
                <a:lnTo>
                  <a:pt x="0" y="596646"/>
                </a:lnTo>
                <a:lnTo>
                  <a:pt x="9358" y="643306"/>
                </a:lnTo>
                <a:lnTo>
                  <a:pt x="34861" y="681323"/>
                </a:lnTo>
                <a:lnTo>
                  <a:pt x="72651" y="706909"/>
                </a:lnTo>
                <a:lnTo>
                  <a:pt x="118872" y="716280"/>
                </a:lnTo>
                <a:lnTo>
                  <a:pt x="7771638" y="716280"/>
                </a:lnTo>
                <a:lnTo>
                  <a:pt x="7818296" y="706909"/>
                </a:lnTo>
                <a:lnTo>
                  <a:pt x="7856308" y="681323"/>
                </a:lnTo>
                <a:lnTo>
                  <a:pt x="7881891" y="643306"/>
                </a:lnTo>
                <a:lnTo>
                  <a:pt x="7891259" y="596646"/>
                </a:lnTo>
                <a:lnTo>
                  <a:pt x="7891259" y="119634"/>
                </a:lnTo>
                <a:lnTo>
                  <a:pt x="7881891" y="72973"/>
                </a:lnTo>
                <a:lnTo>
                  <a:pt x="7856308" y="34956"/>
                </a:lnTo>
                <a:lnTo>
                  <a:pt x="7818296" y="9370"/>
                </a:lnTo>
                <a:lnTo>
                  <a:pt x="7771638" y="0"/>
                </a:lnTo>
                <a:lnTo>
                  <a:pt x="11887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6863" y="246327"/>
            <a:ext cx="8010552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61" dirty="0"/>
              <a:t>Exchanging </a:t>
            </a:r>
            <a:r>
              <a:rPr sz="4200" spc="-341" dirty="0"/>
              <a:t>data </a:t>
            </a:r>
            <a:r>
              <a:rPr sz="4200" spc="-276" dirty="0"/>
              <a:t>with </a:t>
            </a:r>
            <a:r>
              <a:rPr sz="4200" spc="-356" dirty="0"/>
              <a:t>datagram</a:t>
            </a:r>
            <a:r>
              <a:rPr sz="4200" spc="-331" dirty="0"/>
              <a:t> </a:t>
            </a:r>
            <a:r>
              <a:rPr sz="4200" spc="-226" dirty="0"/>
              <a:t>socket</a:t>
            </a:r>
            <a:endParaRPr sz="4200" dirty="0"/>
          </a:p>
        </p:txBody>
      </p:sp>
      <p:sp>
        <p:nvSpPr>
          <p:cNvPr id="6" name="object 6"/>
          <p:cNvSpPr/>
          <p:nvPr/>
        </p:nvSpPr>
        <p:spPr>
          <a:xfrm>
            <a:off x="675115" y="3366908"/>
            <a:ext cx="7820794" cy="674349"/>
          </a:xfrm>
          <a:custGeom>
            <a:avLst/>
            <a:gdLst/>
            <a:ahLst/>
            <a:cxnLst/>
            <a:rect l="l" t="t" r="r" b="b"/>
            <a:pathLst>
              <a:path w="7799070" h="673100">
                <a:moveTo>
                  <a:pt x="7799057" y="560831"/>
                </a:moveTo>
                <a:lnTo>
                  <a:pt x="7799057" y="112013"/>
                </a:lnTo>
                <a:lnTo>
                  <a:pt x="7790236" y="68472"/>
                </a:lnTo>
                <a:lnTo>
                  <a:pt x="7766202" y="32861"/>
                </a:lnTo>
                <a:lnTo>
                  <a:pt x="7730595" y="8822"/>
                </a:lnTo>
                <a:lnTo>
                  <a:pt x="7687056" y="0"/>
                </a:lnTo>
                <a:lnTo>
                  <a:pt x="112014" y="0"/>
                </a:lnTo>
                <a:lnTo>
                  <a:pt x="68472" y="8822"/>
                </a:lnTo>
                <a:lnTo>
                  <a:pt x="32861" y="32861"/>
                </a:lnTo>
                <a:lnTo>
                  <a:pt x="8822" y="68472"/>
                </a:lnTo>
                <a:lnTo>
                  <a:pt x="0" y="112014"/>
                </a:lnTo>
                <a:lnTo>
                  <a:pt x="0" y="560832"/>
                </a:lnTo>
                <a:lnTo>
                  <a:pt x="8822" y="604373"/>
                </a:lnTo>
                <a:lnTo>
                  <a:pt x="32861" y="639984"/>
                </a:lnTo>
                <a:lnTo>
                  <a:pt x="68472" y="664023"/>
                </a:lnTo>
                <a:lnTo>
                  <a:pt x="112014" y="672846"/>
                </a:lnTo>
                <a:lnTo>
                  <a:pt x="7687056" y="672846"/>
                </a:lnTo>
                <a:lnTo>
                  <a:pt x="7730595" y="664023"/>
                </a:lnTo>
                <a:lnTo>
                  <a:pt x="7766202" y="639984"/>
                </a:lnTo>
                <a:lnTo>
                  <a:pt x="7790236" y="604373"/>
                </a:lnTo>
                <a:lnTo>
                  <a:pt x="7799057" y="560831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2572" y="1243346"/>
            <a:ext cx="8128354" cy="4457340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356418" marR="5092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b="1" dirty="0">
                <a:latin typeface="Courier New"/>
                <a:cs typeface="Courier New"/>
              </a:rPr>
              <a:t>int count = sendto(</a:t>
            </a:r>
            <a:r>
              <a:rPr sz="2800" b="1" dirty="0">
                <a:solidFill>
                  <a:srgbClr val="9A6500"/>
                </a:solidFill>
                <a:latin typeface="Courier New"/>
                <a:cs typeface="Courier New"/>
              </a:rPr>
              <a:t>sockid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C9A00"/>
                </a:solidFill>
                <a:latin typeface="Courier New"/>
                <a:cs typeface="Courier New"/>
              </a:rPr>
              <a:t>msg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A50021"/>
                </a:solidFill>
                <a:latin typeface="Courier New"/>
                <a:cs typeface="Courier New"/>
              </a:rPr>
              <a:t>msgLen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A6800"/>
                </a:solidFill>
                <a:latin typeface="Courier New"/>
                <a:cs typeface="Courier New"/>
              </a:rPr>
              <a:t>flags</a:t>
            </a:r>
            <a:r>
              <a:rPr sz="2800" b="1" dirty="0">
                <a:latin typeface="Courier New"/>
                <a:cs typeface="Courier New"/>
              </a:rPr>
              <a:t>,  &amp;</a:t>
            </a:r>
            <a:r>
              <a:rPr sz="2800" b="1" dirty="0">
                <a:solidFill>
                  <a:srgbClr val="006533"/>
                </a:solidFill>
                <a:latin typeface="Courier New"/>
                <a:cs typeface="Courier New"/>
              </a:rPr>
              <a:t>foreignAddr</a:t>
            </a:r>
            <a:r>
              <a:rPr sz="2800" b="1" dirty="0">
                <a:latin typeface="Courier New"/>
                <a:cs typeface="Courier New"/>
              </a:rPr>
              <a:t>,</a:t>
            </a:r>
            <a:r>
              <a:rPr sz="2800" b="1" spc="5" dirty="0"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AFBF39"/>
                </a:solidFill>
                <a:latin typeface="Courier New"/>
                <a:cs typeface="Courier New"/>
              </a:rPr>
              <a:t>addrlen</a:t>
            </a:r>
            <a:r>
              <a:rPr sz="2800" b="1" dirty="0"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135" dirty="0">
                <a:solidFill>
                  <a:srgbClr val="CC9A00"/>
                </a:solidFill>
                <a:latin typeface="Arial"/>
                <a:cs typeface="Arial"/>
              </a:rPr>
              <a:t>msg</a:t>
            </a:r>
            <a:r>
              <a:rPr sz="2800" spc="-135" dirty="0">
                <a:latin typeface="Arial"/>
                <a:cs typeface="Arial"/>
              </a:rPr>
              <a:t>, </a:t>
            </a:r>
            <a:r>
              <a:rPr sz="2800" spc="-110" dirty="0">
                <a:solidFill>
                  <a:srgbClr val="A50021"/>
                </a:solidFill>
                <a:latin typeface="Arial"/>
                <a:cs typeface="Arial"/>
              </a:rPr>
              <a:t>msgLen, </a:t>
            </a:r>
            <a:r>
              <a:rPr sz="2800" spc="-90" dirty="0">
                <a:solidFill>
                  <a:srgbClr val="CA6800"/>
                </a:solidFill>
                <a:latin typeface="Arial"/>
                <a:cs typeface="Arial"/>
              </a:rPr>
              <a:t>flags</a:t>
            </a:r>
            <a:r>
              <a:rPr sz="2800" spc="-90" dirty="0">
                <a:latin typeface="Arial"/>
                <a:cs typeface="Arial"/>
              </a:rPr>
              <a:t>, </a:t>
            </a:r>
            <a:r>
              <a:rPr sz="2800" spc="-30" dirty="0">
                <a:latin typeface="Arial"/>
                <a:cs typeface="Arial"/>
              </a:rPr>
              <a:t>count: </a:t>
            </a:r>
            <a:r>
              <a:rPr sz="2800" spc="-185" dirty="0">
                <a:latin typeface="Arial"/>
                <a:cs typeface="Arial"/>
              </a:rPr>
              <a:t>same </a:t>
            </a:r>
            <a:r>
              <a:rPr sz="2800" spc="85" dirty="0">
                <a:latin typeface="Arial"/>
                <a:cs typeface="Arial"/>
              </a:rPr>
              <a:t>with</a:t>
            </a:r>
            <a:r>
              <a:rPr sz="2800" spc="-190" dirty="0">
                <a:latin typeface="Arial"/>
                <a:cs typeface="Arial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send()</a:t>
            </a:r>
            <a:endParaRPr sz="2800" dirty="0">
              <a:latin typeface="Courier New"/>
              <a:cs typeface="Courier New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05" dirty="0">
                <a:solidFill>
                  <a:srgbClr val="006533"/>
                </a:solidFill>
                <a:latin typeface="Arial"/>
                <a:cs typeface="Arial"/>
              </a:rPr>
              <a:t>foreignAddr</a:t>
            </a:r>
            <a:r>
              <a:rPr sz="2800" spc="-105" dirty="0">
                <a:latin typeface="Arial"/>
                <a:cs typeface="Arial"/>
              </a:rPr>
              <a:t>: </a:t>
            </a:r>
            <a:r>
              <a:rPr sz="2800" spc="-20" dirty="0">
                <a:latin typeface="Arial"/>
                <a:cs typeface="Arial"/>
              </a:rPr>
              <a:t>struct </a:t>
            </a:r>
            <a:r>
              <a:rPr sz="2800" spc="-85" dirty="0">
                <a:latin typeface="Arial"/>
                <a:cs typeface="Arial"/>
              </a:rPr>
              <a:t>sockaddr, </a:t>
            </a:r>
            <a:r>
              <a:rPr sz="2800" spc="-145" dirty="0">
                <a:latin typeface="Arial"/>
                <a:cs typeface="Arial"/>
              </a:rPr>
              <a:t>address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destination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30" dirty="0">
                <a:solidFill>
                  <a:srgbClr val="AFBF39"/>
                </a:solidFill>
                <a:latin typeface="Arial"/>
                <a:cs typeface="Arial"/>
              </a:rPr>
              <a:t>addrLen</a:t>
            </a:r>
            <a:r>
              <a:rPr sz="2800" spc="-130" dirty="0">
                <a:latin typeface="Arial"/>
                <a:cs typeface="Arial"/>
              </a:rPr>
              <a:t>: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30" dirty="0" err="1">
                <a:latin typeface="Arial"/>
                <a:cs typeface="Arial"/>
              </a:rPr>
              <a:t>sizeof</a:t>
            </a:r>
            <a:r>
              <a:rPr sz="2800" spc="-30" dirty="0">
                <a:latin typeface="Arial"/>
                <a:cs typeface="Arial"/>
              </a:rPr>
              <a:t>(</a:t>
            </a:r>
            <a:r>
              <a:rPr sz="2800" spc="-30" dirty="0" err="1">
                <a:latin typeface="Arial"/>
                <a:cs typeface="Arial"/>
              </a:rPr>
              <a:t>foreignAddr</a:t>
            </a:r>
            <a:r>
              <a:rPr sz="2800" spc="-30" dirty="0" smtClean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877" y="6177035"/>
            <a:ext cx="8252524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2058" y="1295767"/>
            <a:ext cx="7913763" cy="717609"/>
          </a:xfrm>
          <a:custGeom>
            <a:avLst/>
            <a:gdLst/>
            <a:ahLst/>
            <a:cxnLst/>
            <a:rect l="l" t="t" r="r" b="b"/>
            <a:pathLst>
              <a:path w="7891780" h="716280">
                <a:moveTo>
                  <a:pt x="7891259" y="596646"/>
                </a:moveTo>
                <a:lnTo>
                  <a:pt x="7891259" y="119634"/>
                </a:lnTo>
                <a:lnTo>
                  <a:pt x="7881891" y="72973"/>
                </a:lnTo>
                <a:lnTo>
                  <a:pt x="7856308" y="34956"/>
                </a:lnTo>
                <a:lnTo>
                  <a:pt x="7818296" y="9370"/>
                </a:lnTo>
                <a:lnTo>
                  <a:pt x="7771638" y="0"/>
                </a:lnTo>
                <a:lnTo>
                  <a:pt x="118872" y="0"/>
                </a:lnTo>
                <a:lnTo>
                  <a:pt x="72651" y="9370"/>
                </a:lnTo>
                <a:lnTo>
                  <a:pt x="34861" y="34956"/>
                </a:lnTo>
                <a:lnTo>
                  <a:pt x="9358" y="72973"/>
                </a:lnTo>
                <a:lnTo>
                  <a:pt x="0" y="119634"/>
                </a:lnTo>
                <a:lnTo>
                  <a:pt x="0" y="596646"/>
                </a:lnTo>
                <a:lnTo>
                  <a:pt x="9358" y="643306"/>
                </a:lnTo>
                <a:lnTo>
                  <a:pt x="34861" y="681323"/>
                </a:lnTo>
                <a:lnTo>
                  <a:pt x="72651" y="706909"/>
                </a:lnTo>
                <a:lnTo>
                  <a:pt x="118872" y="716280"/>
                </a:lnTo>
                <a:lnTo>
                  <a:pt x="7771638" y="716280"/>
                </a:lnTo>
                <a:lnTo>
                  <a:pt x="7818296" y="706909"/>
                </a:lnTo>
                <a:lnTo>
                  <a:pt x="7856308" y="681323"/>
                </a:lnTo>
                <a:lnTo>
                  <a:pt x="7881891" y="643306"/>
                </a:lnTo>
                <a:lnTo>
                  <a:pt x="7891259" y="59664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2058" y="1295767"/>
            <a:ext cx="7913763" cy="717609"/>
          </a:xfrm>
          <a:custGeom>
            <a:avLst/>
            <a:gdLst/>
            <a:ahLst/>
            <a:cxnLst/>
            <a:rect l="l" t="t" r="r" b="b"/>
            <a:pathLst>
              <a:path w="7891780" h="716280">
                <a:moveTo>
                  <a:pt x="118872" y="0"/>
                </a:moveTo>
                <a:lnTo>
                  <a:pt x="72651" y="9370"/>
                </a:lnTo>
                <a:lnTo>
                  <a:pt x="34861" y="34956"/>
                </a:lnTo>
                <a:lnTo>
                  <a:pt x="9358" y="72973"/>
                </a:lnTo>
                <a:lnTo>
                  <a:pt x="0" y="119634"/>
                </a:lnTo>
                <a:lnTo>
                  <a:pt x="0" y="596646"/>
                </a:lnTo>
                <a:lnTo>
                  <a:pt x="9358" y="643306"/>
                </a:lnTo>
                <a:lnTo>
                  <a:pt x="34861" y="681323"/>
                </a:lnTo>
                <a:lnTo>
                  <a:pt x="72651" y="706909"/>
                </a:lnTo>
                <a:lnTo>
                  <a:pt x="118872" y="716280"/>
                </a:lnTo>
                <a:lnTo>
                  <a:pt x="7771638" y="716280"/>
                </a:lnTo>
                <a:lnTo>
                  <a:pt x="7818296" y="706909"/>
                </a:lnTo>
                <a:lnTo>
                  <a:pt x="7856308" y="681323"/>
                </a:lnTo>
                <a:lnTo>
                  <a:pt x="7881891" y="643306"/>
                </a:lnTo>
                <a:lnTo>
                  <a:pt x="7891259" y="596646"/>
                </a:lnTo>
                <a:lnTo>
                  <a:pt x="7891259" y="119634"/>
                </a:lnTo>
                <a:lnTo>
                  <a:pt x="7881891" y="72973"/>
                </a:lnTo>
                <a:lnTo>
                  <a:pt x="7856308" y="34956"/>
                </a:lnTo>
                <a:lnTo>
                  <a:pt x="7818296" y="9370"/>
                </a:lnTo>
                <a:lnTo>
                  <a:pt x="7771638" y="0"/>
                </a:lnTo>
                <a:lnTo>
                  <a:pt x="11887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6863" y="19085"/>
            <a:ext cx="8010552" cy="666715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12729">
              <a:spcBef>
                <a:spcPts val="100"/>
              </a:spcBef>
            </a:pPr>
            <a:r>
              <a:rPr sz="4200" spc="-261" dirty="0"/>
              <a:t>Exchanging </a:t>
            </a:r>
            <a:r>
              <a:rPr sz="4200" spc="-341" dirty="0"/>
              <a:t>data </a:t>
            </a:r>
            <a:r>
              <a:rPr sz="4200" spc="-276" dirty="0"/>
              <a:t>with </a:t>
            </a:r>
            <a:r>
              <a:rPr sz="4200" spc="-356" dirty="0"/>
              <a:t>datagram</a:t>
            </a:r>
            <a:r>
              <a:rPr sz="4200" spc="-331" dirty="0"/>
              <a:t> </a:t>
            </a:r>
            <a:r>
              <a:rPr sz="4200" spc="-226" dirty="0"/>
              <a:t>socket</a:t>
            </a:r>
            <a:endParaRPr sz="4200" dirty="0"/>
          </a:p>
        </p:txBody>
      </p:sp>
      <p:sp>
        <p:nvSpPr>
          <p:cNvPr id="6" name="object 6"/>
          <p:cNvSpPr/>
          <p:nvPr/>
        </p:nvSpPr>
        <p:spPr>
          <a:xfrm>
            <a:off x="675115" y="3366908"/>
            <a:ext cx="7820794" cy="674349"/>
          </a:xfrm>
          <a:custGeom>
            <a:avLst/>
            <a:gdLst/>
            <a:ahLst/>
            <a:cxnLst/>
            <a:rect l="l" t="t" r="r" b="b"/>
            <a:pathLst>
              <a:path w="7799070" h="673100">
                <a:moveTo>
                  <a:pt x="7799057" y="560831"/>
                </a:moveTo>
                <a:lnTo>
                  <a:pt x="7799057" y="112013"/>
                </a:lnTo>
                <a:lnTo>
                  <a:pt x="7790236" y="68472"/>
                </a:lnTo>
                <a:lnTo>
                  <a:pt x="7766202" y="32861"/>
                </a:lnTo>
                <a:lnTo>
                  <a:pt x="7730595" y="8822"/>
                </a:lnTo>
                <a:lnTo>
                  <a:pt x="7687056" y="0"/>
                </a:lnTo>
                <a:lnTo>
                  <a:pt x="112014" y="0"/>
                </a:lnTo>
                <a:lnTo>
                  <a:pt x="68472" y="8822"/>
                </a:lnTo>
                <a:lnTo>
                  <a:pt x="32861" y="32861"/>
                </a:lnTo>
                <a:lnTo>
                  <a:pt x="8822" y="68472"/>
                </a:lnTo>
                <a:lnTo>
                  <a:pt x="0" y="112014"/>
                </a:lnTo>
                <a:lnTo>
                  <a:pt x="0" y="560832"/>
                </a:lnTo>
                <a:lnTo>
                  <a:pt x="8822" y="604373"/>
                </a:lnTo>
                <a:lnTo>
                  <a:pt x="32861" y="639984"/>
                </a:lnTo>
                <a:lnTo>
                  <a:pt x="68472" y="664023"/>
                </a:lnTo>
                <a:lnTo>
                  <a:pt x="112014" y="672846"/>
                </a:lnTo>
                <a:lnTo>
                  <a:pt x="7687056" y="672846"/>
                </a:lnTo>
                <a:lnTo>
                  <a:pt x="7730595" y="664023"/>
                </a:lnTo>
                <a:lnTo>
                  <a:pt x="7766202" y="639984"/>
                </a:lnTo>
                <a:lnTo>
                  <a:pt x="7790236" y="604373"/>
                </a:lnTo>
                <a:lnTo>
                  <a:pt x="7799057" y="560831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2572" y="838200"/>
            <a:ext cx="8128354" cy="5750001"/>
          </a:xfrm>
          <a:prstGeom prst="rect">
            <a:avLst/>
          </a:prstGeom>
        </p:spPr>
        <p:txBody>
          <a:bodyPr vert="horz" wrap="square" lIns="0" tIns="12729" rIns="0" bIns="0" rtlCol="0">
            <a:spAutoFit/>
          </a:bodyPr>
          <a:lstStyle/>
          <a:p>
            <a:pPr marL="356418" marR="95469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  <a:tab pos="8020675" algn="l"/>
              </a:tabLst>
            </a:pPr>
            <a:r>
              <a:rPr sz="2800" b="1" dirty="0" smtClean="0">
                <a:latin typeface="Courier New"/>
                <a:cs typeface="Courier New"/>
              </a:rPr>
              <a:t>int </a:t>
            </a:r>
            <a:r>
              <a:rPr sz="2800" b="1" dirty="0">
                <a:latin typeface="Courier New"/>
                <a:cs typeface="Courier New"/>
              </a:rPr>
              <a:t>count = recvfrom(</a:t>
            </a:r>
            <a:r>
              <a:rPr sz="2800" b="1" dirty="0">
                <a:solidFill>
                  <a:srgbClr val="9A6500"/>
                </a:solidFill>
                <a:latin typeface="Courier New"/>
                <a:cs typeface="Courier New"/>
              </a:rPr>
              <a:t>sockid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C9A00"/>
                </a:solidFill>
                <a:latin typeface="Courier New"/>
                <a:cs typeface="Courier New"/>
              </a:rPr>
              <a:t>recvBuf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A50021"/>
                </a:solidFill>
                <a:latin typeface="Courier New"/>
                <a:cs typeface="Courier New"/>
              </a:rPr>
              <a:t>bufLen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u="sng" dirty="0">
                <a:solidFill>
                  <a:srgbClr val="CA68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flags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&amp;</a:t>
            </a:r>
            <a:r>
              <a:rPr sz="2800" b="1" u="sng" dirty="0">
                <a:solidFill>
                  <a:srgbClr val="006533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clientAddr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-7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solidFill>
                  <a:srgbClr val="AFBF39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addrlen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	</a:t>
            </a:r>
            <a:endParaRPr sz="2800" dirty="0">
              <a:latin typeface="Courier New"/>
              <a:cs typeface="Courier New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50" dirty="0">
                <a:solidFill>
                  <a:srgbClr val="CC9A00"/>
                </a:solidFill>
                <a:latin typeface="Arial"/>
                <a:cs typeface="Arial"/>
              </a:rPr>
              <a:t>recvBuf</a:t>
            </a:r>
            <a:r>
              <a:rPr sz="2800" spc="-50" dirty="0">
                <a:latin typeface="Arial"/>
                <a:cs typeface="Arial"/>
              </a:rPr>
              <a:t>, </a:t>
            </a:r>
            <a:r>
              <a:rPr sz="2800" spc="-40" dirty="0">
                <a:solidFill>
                  <a:srgbClr val="A50021"/>
                </a:solidFill>
                <a:latin typeface="Arial"/>
                <a:cs typeface="Arial"/>
              </a:rPr>
              <a:t>bufLen</a:t>
            </a:r>
            <a:r>
              <a:rPr sz="2800" spc="-40" dirty="0">
                <a:latin typeface="Arial"/>
                <a:cs typeface="Arial"/>
              </a:rPr>
              <a:t>, </a:t>
            </a:r>
            <a:r>
              <a:rPr sz="2800" spc="-90" dirty="0">
                <a:solidFill>
                  <a:srgbClr val="CA6800"/>
                </a:solidFill>
                <a:latin typeface="Arial"/>
                <a:cs typeface="Arial"/>
              </a:rPr>
              <a:t>flags</a:t>
            </a:r>
            <a:r>
              <a:rPr sz="2800" spc="-90" dirty="0">
                <a:latin typeface="Arial"/>
                <a:cs typeface="Arial"/>
              </a:rPr>
              <a:t>, </a:t>
            </a:r>
            <a:r>
              <a:rPr sz="2800" spc="-30" dirty="0">
                <a:latin typeface="Arial"/>
                <a:cs typeface="Arial"/>
              </a:rPr>
              <a:t>count: </a:t>
            </a:r>
            <a:r>
              <a:rPr sz="2800" spc="-185" dirty="0">
                <a:latin typeface="Arial"/>
                <a:cs typeface="Arial"/>
              </a:rPr>
              <a:t>same  </a:t>
            </a:r>
            <a:r>
              <a:rPr sz="2800" spc="85" dirty="0">
                <a:latin typeface="Arial"/>
                <a:cs typeface="Arial"/>
              </a:rPr>
              <a:t>with</a:t>
            </a:r>
            <a:r>
              <a:rPr sz="2800" spc="-316" dirty="0">
                <a:latin typeface="Arial"/>
                <a:cs typeface="Arial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recv()</a:t>
            </a:r>
            <a:endParaRPr sz="2800" dirty="0">
              <a:latin typeface="Courier New"/>
              <a:cs typeface="Courier New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80" dirty="0">
                <a:solidFill>
                  <a:srgbClr val="006533"/>
                </a:solidFill>
                <a:latin typeface="Arial"/>
                <a:cs typeface="Arial"/>
              </a:rPr>
              <a:t>clientAddr</a:t>
            </a:r>
            <a:r>
              <a:rPr sz="2800" spc="-80" dirty="0">
                <a:latin typeface="Arial"/>
                <a:cs typeface="Arial"/>
              </a:rPr>
              <a:t>: </a:t>
            </a:r>
            <a:r>
              <a:rPr sz="2800" spc="-25" dirty="0">
                <a:latin typeface="Arial"/>
                <a:cs typeface="Arial"/>
              </a:rPr>
              <a:t>struct </a:t>
            </a:r>
            <a:r>
              <a:rPr sz="2800" spc="-90" dirty="0">
                <a:latin typeface="Arial"/>
                <a:cs typeface="Arial"/>
              </a:rPr>
              <a:t>sockaddr, </a:t>
            </a:r>
            <a:r>
              <a:rPr sz="2800" spc="-150" dirty="0">
                <a:latin typeface="Arial"/>
                <a:cs typeface="Arial"/>
              </a:rPr>
              <a:t>address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client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b="1" spc="-130" dirty="0">
                <a:solidFill>
                  <a:srgbClr val="AFBF39"/>
                </a:solidFill>
                <a:latin typeface="Arial"/>
                <a:cs typeface="Arial"/>
              </a:rPr>
              <a:t>addrLen</a:t>
            </a:r>
            <a:r>
              <a:rPr sz="2800" spc="-130" dirty="0">
                <a:latin typeface="Arial"/>
                <a:cs typeface="Arial"/>
              </a:rPr>
              <a:t>: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sizeof(clientAddr)</a:t>
            </a:r>
            <a:endParaRPr sz="2800" dirty="0">
              <a:latin typeface="Arial"/>
              <a:cs typeface="Arial"/>
            </a:endParaRPr>
          </a:p>
          <a:p>
            <a:pPr lvl="1">
              <a:lnSpc>
                <a:spcPct val="150000"/>
              </a:lnSpc>
              <a:buClr>
                <a:srgbClr val="9A6500"/>
              </a:buClr>
              <a:buFont typeface="Wingdings"/>
              <a:buChar char=""/>
            </a:pPr>
            <a:endParaRPr sz="2800" dirty="0">
              <a:latin typeface="Times New Roman"/>
              <a:cs typeface="Times New Roman"/>
            </a:endParaRPr>
          </a:p>
          <a:p>
            <a:pPr marL="356418" indent="-343689">
              <a:lnSpc>
                <a:spcPct val="15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5781" algn="l"/>
                <a:tab pos="357054" algn="l"/>
              </a:tabLst>
            </a:pPr>
            <a:r>
              <a:rPr sz="2800" spc="-95" dirty="0">
                <a:latin typeface="Arial"/>
                <a:cs typeface="Arial"/>
              </a:rPr>
              <a:t>Calls </a:t>
            </a:r>
            <a:r>
              <a:rPr sz="2800" spc="-125" dirty="0">
                <a:latin typeface="Arial"/>
                <a:cs typeface="Arial"/>
              </a:rPr>
              <a:t>are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blocking</a:t>
            </a:r>
            <a:endParaRPr sz="2800" dirty="0">
              <a:latin typeface="Arial"/>
              <a:cs typeface="Arial"/>
            </a:endParaRPr>
          </a:p>
          <a:p>
            <a:pPr marL="683559" lvl="1" indent="-325868">
              <a:lnSpc>
                <a:spcPct val="150000"/>
              </a:lnSpc>
              <a:buClr>
                <a:srgbClr val="9A6500"/>
              </a:buClr>
              <a:buSzPct val="60000"/>
              <a:buFont typeface="Wingdings"/>
              <a:buChar char=""/>
              <a:tabLst>
                <a:tab pos="684195" algn="l"/>
              </a:tabLst>
            </a:pPr>
            <a:r>
              <a:rPr sz="2800" spc="-30" dirty="0">
                <a:latin typeface="Arial"/>
                <a:cs typeface="Arial"/>
              </a:rPr>
              <a:t>returns </a:t>
            </a:r>
            <a:r>
              <a:rPr sz="2800" spc="20" dirty="0">
                <a:latin typeface="Arial"/>
                <a:cs typeface="Arial"/>
              </a:rPr>
              <a:t>only </a:t>
            </a:r>
            <a:r>
              <a:rPr sz="2800" spc="-30" dirty="0">
                <a:latin typeface="Arial"/>
                <a:cs typeface="Arial"/>
              </a:rPr>
              <a:t>after </a:t>
            </a:r>
            <a:r>
              <a:rPr sz="2800" spc="-105" dirty="0">
                <a:latin typeface="Arial"/>
                <a:cs typeface="Arial"/>
              </a:rPr>
              <a:t>data </a:t>
            </a:r>
            <a:r>
              <a:rPr sz="2800" spc="-80" dirty="0">
                <a:latin typeface="Arial"/>
                <a:cs typeface="Arial"/>
              </a:rPr>
              <a:t>is </a:t>
            </a:r>
            <a:r>
              <a:rPr sz="2800" spc="-90" dirty="0">
                <a:latin typeface="Arial"/>
                <a:cs typeface="Arial"/>
              </a:rPr>
              <a:t>sent </a:t>
            </a:r>
            <a:r>
              <a:rPr sz="2800" spc="60" dirty="0">
                <a:latin typeface="Arial"/>
                <a:cs typeface="Arial"/>
              </a:rPr>
              <a:t>/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received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382000" cy="6248400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endParaRPr lang="en-GB" sz="3600" dirty="0" smtClean="0">
              <a:solidFill>
                <a:srgbClr val="FF0000"/>
              </a:solidFill>
            </a:endParaRPr>
          </a:p>
          <a:p>
            <a:pPr algn="l">
              <a:spcBef>
                <a:spcPts val="0"/>
              </a:spcBef>
            </a:pPr>
            <a:endParaRPr lang="en-GB" sz="3600" dirty="0" smtClean="0">
              <a:solidFill>
                <a:srgbClr val="FF0000"/>
              </a:solidFill>
            </a:endParaRPr>
          </a:p>
          <a:p>
            <a:pPr algn="l">
              <a:spcBef>
                <a:spcPts val="0"/>
              </a:spcBef>
            </a:pPr>
            <a:endParaRPr lang="en-GB" sz="3600" dirty="0" smtClean="0">
              <a:solidFill>
                <a:srgbClr val="FF0000"/>
              </a:solidFill>
            </a:endParaRPr>
          </a:p>
          <a:p>
            <a:pPr algn="l">
              <a:spcBef>
                <a:spcPts val="0"/>
              </a:spcBef>
            </a:pPr>
            <a:endParaRPr lang="en-GB" sz="3600" dirty="0" smtClean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Unix Socket - Server Examples</a:t>
            </a:r>
          </a:p>
          <a:p>
            <a:pPr algn="l">
              <a:spcBef>
                <a:spcPts val="0"/>
              </a:spcBef>
            </a:pPr>
            <a:endParaRPr lang="en-GB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AE018C-4F07-4DFA-88C4-43DE2607CF7E}" type="slidenum">
              <a:rPr lang="en-GB" smtClean="0">
                <a:latin typeface="Arial" pitchFamily="34" charset="0"/>
              </a:rPr>
              <a:pPr/>
              <a:t>18</a:t>
            </a:fld>
            <a:endParaRPr lang="en-GB" smtClean="0">
              <a:latin typeface="Arial" pitchFamily="34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152400"/>
            <a:ext cx="8204200" cy="609600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itchFamily="2" charset="-122"/>
              </a:rPr>
              <a:t>Iterative TCP Server Algorithm </a:t>
            </a:r>
            <a:endParaRPr lang="en-US" b="1" dirty="0" smtClean="0">
              <a:ea typeface="SimSun" pitchFamily="2" charset="-122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839200" cy="4686300"/>
          </a:xfrm>
        </p:spPr>
        <p:txBody>
          <a:bodyPr>
            <a:noAutofit/>
          </a:bodyPr>
          <a:lstStyle/>
          <a:p>
            <a:pPr marL="533400" indent="-5334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TW" sz="2800" dirty="0" smtClean="0">
                <a:latin typeface="Times New Roman" pitchFamily="18" charset="0"/>
                <a:ea typeface="新細明體"/>
                <a:cs typeface="新細明體"/>
              </a:rPr>
              <a:t>Create a socket and bind to the well-known address for the service being offered.</a:t>
            </a:r>
            <a:endParaRPr lang="en-US" altLang="zh-CN" sz="2800" dirty="0" smtClean="0">
              <a:latin typeface="Times New Roman" pitchFamily="18" charset="0"/>
              <a:ea typeface="新細明體"/>
              <a:cs typeface="新細明體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dirty="0" smtClean="0">
                <a:latin typeface="Times New Roman" pitchFamily="18" charset="0"/>
                <a:ea typeface="新細明體"/>
                <a:cs typeface="新細明體"/>
              </a:rPr>
              <a:t>socket() and bind()</a:t>
            </a:r>
            <a:endParaRPr lang="en-US" altLang="zh-TW" dirty="0" smtClean="0">
              <a:latin typeface="Times New Roman" pitchFamily="18" charset="0"/>
              <a:ea typeface="新細明體"/>
              <a:cs typeface="新細明體"/>
            </a:endParaRP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TW" sz="2800" dirty="0" smtClean="0">
                <a:latin typeface="Times New Roman" pitchFamily="18" charset="0"/>
                <a:ea typeface="新細明體"/>
                <a:cs typeface="新細明體"/>
              </a:rPr>
              <a:t>Place the socket in </a:t>
            </a:r>
            <a:r>
              <a:rPr lang="en-US" altLang="zh-TW" sz="2800" b="1" dirty="0" smtClean="0">
                <a:solidFill>
                  <a:srgbClr val="FF0000"/>
                </a:solidFill>
                <a:latin typeface="Times New Roman" pitchFamily="18" charset="0"/>
                <a:ea typeface="新細明體"/>
                <a:cs typeface="新細明體"/>
              </a:rPr>
              <a:t>passive mode</a:t>
            </a:r>
            <a:r>
              <a:rPr lang="en-US" altLang="zh-TW" sz="2800" dirty="0" smtClean="0">
                <a:latin typeface="Times New Roman" pitchFamily="18" charset="0"/>
                <a:ea typeface="新細明體"/>
                <a:cs typeface="新細明體"/>
              </a:rPr>
              <a:t>, making it ready for use by a server.</a:t>
            </a:r>
            <a:endParaRPr lang="en-US" altLang="zh-CN" sz="2800" dirty="0" smtClean="0">
              <a:latin typeface="Times New Roman" pitchFamily="18" charset="0"/>
              <a:ea typeface="新細明體"/>
              <a:cs typeface="新細明體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dirty="0" smtClean="0">
                <a:latin typeface="Times New Roman" pitchFamily="18" charset="0"/>
                <a:ea typeface="新細明體"/>
                <a:cs typeface="新細明體"/>
              </a:rPr>
              <a:t>listen()</a:t>
            </a:r>
            <a:endParaRPr lang="en-US" altLang="zh-TW" dirty="0" smtClean="0">
              <a:latin typeface="Times New Roman" pitchFamily="18" charset="0"/>
              <a:ea typeface="新細明體"/>
              <a:cs typeface="新細明體"/>
            </a:endParaRP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TW" sz="2800" dirty="0" smtClean="0">
                <a:latin typeface="Times New Roman" pitchFamily="18" charset="0"/>
                <a:ea typeface="新細明體"/>
                <a:cs typeface="新細明體"/>
              </a:rPr>
              <a:t>Accept the next connection request from the socket, and obtain a new socket for the connection.</a:t>
            </a:r>
            <a:endParaRPr lang="en-US" altLang="zh-CN" sz="2800" dirty="0" smtClean="0">
              <a:latin typeface="Times New Roman" pitchFamily="18" charset="0"/>
              <a:ea typeface="新細明體"/>
              <a:cs typeface="新細明體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dirty="0" smtClean="0">
                <a:latin typeface="Times New Roman" pitchFamily="18" charset="0"/>
                <a:ea typeface="新細明體"/>
                <a:cs typeface="新細明體"/>
              </a:rPr>
              <a:t>accept</a:t>
            </a:r>
            <a:r>
              <a:rPr lang="en-US" altLang="zh-CN" dirty="0" smtClean="0">
                <a:latin typeface="Times New Roman" pitchFamily="18" charset="0"/>
                <a:ea typeface="新細明體"/>
                <a:cs typeface="新細明體"/>
              </a:rPr>
              <a:t>()</a:t>
            </a:r>
            <a:endParaRPr 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AE018C-4F07-4DFA-88C4-43DE2607CF7E}" type="slidenum">
              <a:rPr lang="en-GB" smtClean="0">
                <a:latin typeface="Arial" pitchFamily="34" charset="0"/>
              </a:rPr>
              <a:pPr/>
              <a:t>19</a:t>
            </a:fld>
            <a:endParaRPr lang="en-GB" smtClean="0">
              <a:latin typeface="Arial" pitchFamily="34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152400"/>
            <a:ext cx="8204200" cy="609600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itchFamily="2" charset="-122"/>
              </a:rPr>
              <a:t>Iterative TCP Server Algorithm </a:t>
            </a:r>
            <a:endParaRPr lang="en-US" b="1" dirty="0" smtClean="0">
              <a:ea typeface="SimSun" pitchFamily="2" charset="-122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371600"/>
            <a:ext cx="8839200" cy="4686300"/>
          </a:xfrm>
        </p:spPr>
        <p:txBody>
          <a:bodyPr>
            <a:noAutofit/>
          </a:bodyPr>
          <a:lstStyle/>
          <a:p>
            <a:pPr marL="533400" indent="-5334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4"/>
            </a:pPr>
            <a:r>
              <a:rPr lang="en-US" altLang="zh-TW" sz="2800" dirty="0" smtClean="0">
                <a:latin typeface="Times New Roman" pitchFamily="18" charset="0"/>
                <a:ea typeface="新細明體"/>
                <a:cs typeface="新細明體"/>
              </a:rPr>
              <a:t>Repeatedly </a:t>
            </a:r>
            <a:r>
              <a:rPr lang="en-US" altLang="zh-TW" sz="2800" dirty="0" smtClean="0">
                <a:latin typeface="Times New Roman" pitchFamily="18" charset="0"/>
                <a:ea typeface="新細明體"/>
                <a:cs typeface="新細明體"/>
              </a:rPr>
              <a:t>receive a request from the client, formulate a response, and send a reply back to the client according to the application protocol.</a:t>
            </a:r>
            <a:endParaRPr lang="en-US" altLang="zh-CN" sz="2800" dirty="0" smtClean="0">
              <a:latin typeface="Times New Roman" pitchFamily="18" charset="0"/>
              <a:ea typeface="新細明體"/>
              <a:cs typeface="新細明體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dirty="0" err="1" smtClean="0">
                <a:latin typeface="Times New Roman" pitchFamily="18" charset="0"/>
                <a:ea typeface="新細明體"/>
                <a:cs typeface="新細明體"/>
              </a:rPr>
              <a:t>recv</a:t>
            </a:r>
            <a:r>
              <a:rPr lang="en-US" altLang="zh-CN" dirty="0" smtClean="0">
                <a:latin typeface="Times New Roman" pitchFamily="18" charset="0"/>
                <a:ea typeface="新細明體"/>
                <a:cs typeface="新細明體"/>
              </a:rPr>
              <a:t>() and send()</a:t>
            </a:r>
            <a:endParaRPr lang="en-US" altLang="zh-TW" dirty="0" smtClean="0">
              <a:latin typeface="Times New Roman" pitchFamily="18" charset="0"/>
              <a:ea typeface="新細明體"/>
              <a:cs typeface="新細明體"/>
            </a:endParaRP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FontTx/>
              <a:buAutoNum type="arabicPeriod" startAt="4"/>
            </a:pPr>
            <a:r>
              <a:rPr lang="en-US" altLang="zh-TW" sz="2800" dirty="0" smtClean="0">
                <a:latin typeface="Times New Roman" pitchFamily="18" charset="0"/>
                <a:ea typeface="新細明體"/>
                <a:cs typeface="新細明體"/>
              </a:rPr>
              <a:t>When finished with a particular client, close the connection and return to step 3 to accept a new connection.</a:t>
            </a:r>
            <a:endParaRPr lang="en-US" altLang="zh-CN" sz="2800" dirty="0" smtClean="0">
              <a:latin typeface="Times New Roman" pitchFamily="18" charset="0"/>
              <a:ea typeface="新細明體"/>
              <a:cs typeface="新細明體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dirty="0" err="1" smtClean="0">
                <a:latin typeface="Times New Roman" pitchFamily="18" charset="0"/>
                <a:ea typeface="SimSun" pitchFamily="2" charset="-122"/>
              </a:rPr>
              <a:t>closesocket</a:t>
            </a:r>
            <a:r>
              <a:rPr lang="en-US" altLang="zh-CN" dirty="0" smtClean="0">
                <a:latin typeface="Times New Roman" pitchFamily="18" charset="0"/>
                <a:ea typeface="SimSun" pitchFamily="2" charset="-122"/>
              </a:rPr>
              <a:t>()</a:t>
            </a:r>
            <a:endParaRPr 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28600"/>
            <a:ext cx="8001000" cy="6248400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lang="en-GB" b="1" dirty="0" smtClean="0">
                <a:solidFill>
                  <a:schemeClr val="tx1"/>
                </a:solidFill>
              </a:rPr>
              <a:t>To make a process a TCP server, you need to follow the steps given below −</a:t>
            </a:r>
            <a:endParaRPr lang="en-GB" dirty="0" smtClean="0">
              <a:solidFill>
                <a:schemeClr val="tx1"/>
              </a:solidFill>
            </a:endParaRPr>
          </a:p>
          <a:p>
            <a:pPr algn="l">
              <a:lnSpc>
                <a:spcPct val="17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Create a socket with the </a:t>
            </a:r>
            <a:r>
              <a:rPr lang="en-GB" sz="2800" b="1" dirty="0" smtClean="0">
                <a:solidFill>
                  <a:srgbClr val="FF0000"/>
                </a:solidFill>
              </a:rPr>
              <a:t>socket()</a:t>
            </a:r>
            <a:r>
              <a:rPr lang="en-GB" sz="2800" dirty="0" smtClean="0">
                <a:solidFill>
                  <a:schemeClr val="tx1"/>
                </a:solidFill>
              </a:rPr>
              <a:t> system call.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Bind the socket to an address using the </a:t>
            </a:r>
            <a:r>
              <a:rPr lang="en-GB" sz="2800" b="1" dirty="0" smtClean="0">
                <a:solidFill>
                  <a:srgbClr val="FF0000"/>
                </a:solidFill>
              </a:rPr>
              <a:t> bind()</a:t>
            </a:r>
            <a:r>
              <a:rPr lang="en-GB" sz="2800" dirty="0" smtClean="0">
                <a:solidFill>
                  <a:schemeClr val="tx1"/>
                </a:solidFill>
              </a:rPr>
              <a:t> system call. For a server socket on the Internet, an address consists of a port number on the host machine.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Listen for connections with the </a:t>
            </a:r>
            <a:r>
              <a:rPr lang="en-GB" sz="2800" b="1" dirty="0" smtClean="0">
                <a:solidFill>
                  <a:srgbClr val="FF0000"/>
                </a:solidFill>
              </a:rPr>
              <a:t>listen() </a:t>
            </a:r>
            <a:r>
              <a:rPr lang="en-GB" sz="2800" dirty="0" smtClean="0">
                <a:solidFill>
                  <a:schemeClr val="tx1"/>
                </a:solidFill>
              </a:rPr>
              <a:t>system call.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28600"/>
            <a:ext cx="7924800" cy="6248400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Accept a connection with the </a:t>
            </a:r>
            <a:r>
              <a:rPr lang="en-GB" sz="2800" b="1" dirty="0" smtClean="0">
                <a:solidFill>
                  <a:srgbClr val="FF0000"/>
                </a:solidFill>
              </a:rPr>
              <a:t>accept()</a:t>
            </a:r>
            <a:r>
              <a:rPr lang="en-GB" sz="2800" dirty="0" smtClean="0">
                <a:solidFill>
                  <a:schemeClr val="tx1"/>
                </a:solidFill>
              </a:rPr>
              <a:t> system call. This call typically blocks until a client connects with the server.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Send and receive data using the </a:t>
            </a:r>
            <a:r>
              <a:rPr lang="en-GB" sz="2800" dirty="0" smtClean="0">
                <a:solidFill>
                  <a:srgbClr val="FF0000"/>
                </a:solidFill>
              </a:rPr>
              <a:t>read()</a:t>
            </a:r>
            <a:r>
              <a:rPr lang="en-GB" sz="2800" dirty="0" smtClean="0">
                <a:solidFill>
                  <a:schemeClr val="tx1"/>
                </a:solidFill>
              </a:rPr>
              <a:t> and </a:t>
            </a:r>
            <a:r>
              <a:rPr lang="en-GB" sz="2800" dirty="0" smtClean="0">
                <a:solidFill>
                  <a:srgbClr val="FF0000"/>
                </a:solidFill>
              </a:rPr>
              <a:t>write()</a:t>
            </a:r>
            <a:r>
              <a:rPr lang="en-GB" sz="2800" dirty="0" smtClean="0">
                <a:solidFill>
                  <a:schemeClr val="tx1"/>
                </a:solidFill>
              </a:rPr>
              <a:t> system calls.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Now let us put these steps in the form of source code. 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Put this code into the file </a:t>
            </a:r>
            <a:r>
              <a:rPr lang="en-GB" sz="2800" dirty="0" err="1" smtClean="0">
                <a:solidFill>
                  <a:schemeClr val="tx1"/>
                </a:solidFill>
              </a:rPr>
              <a:t>server.c</a:t>
            </a:r>
            <a:r>
              <a:rPr lang="en-GB" sz="2800" dirty="0" smtClean="0">
                <a:solidFill>
                  <a:schemeClr val="tx1"/>
                </a:solidFill>
              </a:rPr>
              <a:t> and compile it with </a:t>
            </a:r>
            <a:r>
              <a:rPr lang="en-GB" sz="2800" dirty="0" err="1" smtClean="0">
                <a:solidFill>
                  <a:schemeClr val="tx1"/>
                </a:solidFill>
              </a:rPr>
              <a:t>gcc</a:t>
            </a:r>
            <a:r>
              <a:rPr lang="en-GB" sz="2800" dirty="0" smtClean="0">
                <a:solidFill>
                  <a:schemeClr val="tx1"/>
                </a:solidFill>
              </a:rPr>
              <a:t> compiler.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stdio.h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stdlib.h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netdb.h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netinet</a:t>
            </a:r>
            <a:r>
              <a:rPr lang="en-GB" sz="2800" dirty="0" smtClean="0">
                <a:solidFill>
                  <a:schemeClr val="tx1"/>
                </a:solidFill>
              </a:rPr>
              <a:t>/</a:t>
            </a:r>
            <a:r>
              <a:rPr lang="en-GB" sz="2800" dirty="0" err="1" smtClean="0">
                <a:solidFill>
                  <a:schemeClr val="tx1"/>
                </a:solidFill>
              </a:rPr>
              <a:t>in.h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string.h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int main( int </a:t>
            </a:r>
            <a:r>
              <a:rPr lang="en-GB" sz="2800" dirty="0" err="1" smtClean="0">
                <a:solidFill>
                  <a:schemeClr val="tx1"/>
                </a:solidFill>
              </a:rPr>
              <a:t>argc</a:t>
            </a:r>
            <a:r>
              <a:rPr lang="en-GB" sz="2800" dirty="0" smtClean="0">
                <a:solidFill>
                  <a:schemeClr val="tx1"/>
                </a:solidFill>
              </a:rPr>
              <a:t>, char *</a:t>
            </a:r>
            <a:r>
              <a:rPr lang="en-GB" sz="2800" dirty="0" err="1" smtClean="0">
                <a:solidFill>
                  <a:schemeClr val="tx1"/>
                </a:solidFill>
              </a:rPr>
              <a:t>argv</a:t>
            </a:r>
            <a:r>
              <a:rPr lang="en-GB" sz="2800" dirty="0" smtClean="0">
                <a:solidFill>
                  <a:schemeClr val="tx1"/>
                </a:solidFill>
              </a:rPr>
              <a:t>[] )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int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newsockfd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portno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clilen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char buffer[256]; int  n;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sockaddr_in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cli_addr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048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rgbClr val="FF0000"/>
                </a:solidFill>
              </a:rPr>
              <a:t> /* First call to socket() function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= socket(AF_INET, SOCK_STREAM, 0);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&lt; 0) {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opening socket");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exit(1);    }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rgbClr val="FF0000"/>
                </a:solidFill>
              </a:rPr>
              <a:t> /* Initialize socket structure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bzero</a:t>
            </a:r>
            <a:r>
              <a:rPr lang="en-GB" sz="2800" dirty="0" smtClean="0">
                <a:solidFill>
                  <a:schemeClr val="tx1"/>
                </a:solidFill>
              </a:rPr>
              <a:t>((char *) &amp;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));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portno</a:t>
            </a:r>
            <a:r>
              <a:rPr lang="en-GB" sz="2800" dirty="0" smtClean="0">
                <a:solidFill>
                  <a:schemeClr val="tx1"/>
                </a:solidFill>
              </a:rPr>
              <a:t> = 5001;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serv_addr.sin_family</a:t>
            </a:r>
            <a:r>
              <a:rPr lang="en-GB" sz="2800" dirty="0" smtClean="0">
                <a:solidFill>
                  <a:schemeClr val="tx1"/>
                </a:solidFill>
              </a:rPr>
              <a:t> = AF_INET;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serv_addr.sin_addr.s_addr</a:t>
            </a:r>
            <a:r>
              <a:rPr lang="en-GB" sz="2800" dirty="0" smtClean="0">
                <a:solidFill>
                  <a:schemeClr val="tx1"/>
                </a:solidFill>
              </a:rPr>
              <a:t> = INADDR_ANY;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serv_addr.sin_port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htons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portno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763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rgbClr val="FF0000"/>
                </a:solidFill>
              </a:rPr>
              <a:t>/* Now bind the host address using bind() call.*/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(bind(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 *) &amp;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)) &lt; 0)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{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on binding");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exit(1);    }  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rgbClr val="FF0000"/>
                </a:solidFill>
              </a:rPr>
              <a:t>/* Now start listening for the clients, here process will go in sleep mode &amp; will wait for the incoming connection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listen(sockfd,5);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clilen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cli_addr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6868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rgbClr val="FF0000"/>
                </a:solidFill>
              </a:rPr>
              <a:t> /* Accept actual connection from the client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newsockfd</a:t>
            </a:r>
            <a:r>
              <a:rPr lang="en-GB" sz="2800" dirty="0" smtClean="0">
                <a:solidFill>
                  <a:schemeClr val="tx1"/>
                </a:solidFill>
              </a:rPr>
              <a:t> = accept(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 *)&amp;</a:t>
            </a:r>
            <a:r>
              <a:rPr lang="en-GB" sz="2800" dirty="0" err="1" smtClean="0">
                <a:solidFill>
                  <a:schemeClr val="tx1"/>
                </a:solidFill>
              </a:rPr>
              <a:t>cli_addr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clilen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</a:t>
            </a:r>
            <a:r>
              <a:rPr lang="en-GB" sz="2800" dirty="0" err="1" smtClean="0">
                <a:solidFill>
                  <a:schemeClr val="tx1"/>
                </a:solidFill>
              </a:rPr>
              <a:t>newsockfd</a:t>
            </a:r>
            <a:r>
              <a:rPr lang="en-GB" sz="2800" dirty="0" smtClean="0">
                <a:solidFill>
                  <a:schemeClr val="tx1"/>
                </a:solidFill>
              </a:rPr>
              <a:t> &lt; 0) {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on accept");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exit(1);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rgbClr val="FF0000"/>
                </a:solidFill>
              </a:rPr>
              <a:t>/* If connection established then start communicating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bzero</a:t>
            </a:r>
            <a:r>
              <a:rPr lang="en-GB" sz="2800" dirty="0" smtClean="0">
                <a:solidFill>
                  <a:schemeClr val="tx1"/>
                </a:solidFill>
              </a:rPr>
              <a:t>(buffer,256);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n = read( newsockfd,buffer,255 );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048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(n &lt; 0) {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reading from socket");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exit(1);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("Here is the message: %s\</a:t>
            </a:r>
            <a:r>
              <a:rPr lang="en-GB" sz="2800" dirty="0" err="1" smtClean="0">
                <a:solidFill>
                  <a:schemeClr val="tx1"/>
                </a:solidFill>
              </a:rPr>
              <a:t>n",buffer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</a:t>
            </a:r>
            <a:r>
              <a:rPr lang="en-GB" sz="2800" dirty="0" smtClean="0">
                <a:solidFill>
                  <a:srgbClr val="FF0000"/>
                </a:solidFill>
              </a:rPr>
              <a:t> /* Write a response to the client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n = write(</a:t>
            </a:r>
            <a:r>
              <a:rPr lang="en-GB" sz="2800" dirty="0" err="1" smtClean="0">
                <a:solidFill>
                  <a:schemeClr val="tx1"/>
                </a:solidFill>
              </a:rPr>
              <a:t>newsockfd,"I</a:t>
            </a:r>
            <a:r>
              <a:rPr lang="en-GB" sz="2800" dirty="0" smtClean="0">
                <a:solidFill>
                  <a:schemeClr val="tx1"/>
                </a:solidFill>
              </a:rPr>
              <a:t> got your message",18);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if (n &lt; 0)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writing to socket");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exit(1);    }     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return 0;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}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"/>
            <a:ext cx="83820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Handle Multiple Connections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To allow the server to handle multiple simultaneous connections, make the following changes in the code −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Put the accept statement and the following code in an infinite loop.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After a connection is established, call fork() to create a new process.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The child process will close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and call </a:t>
            </a:r>
            <a:r>
              <a:rPr lang="en-GB" sz="2800" dirty="0" err="1" smtClean="0">
                <a:solidFill>
                  <a:schemeClr val="tx1"/>
                </a:solidFill>
              </a:rPr>
              <a:t>doprocessing</a:t>
            </a:r>
            <a:r>
              <a:rPr lang="en-GB" sz="2800" dirty="0" smtClean="0">
                <a:solidFill>
                  <a:schemeClr val="tx1"/>
                </a:solidFill>
              </a:rPr>
              <a:t> function, passing the new socket file descriptor as an argument.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10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When the two processes have completed their conversation, as indicated by </a:t>
            </a:r>
            <a:r>
              <a:rPr lang="en-GB" sz="2800" dirty="0" err="1" smtClean="0">
                <a:solidFill>
                  <a:schemeClr val="tx1"/>
                </a:solidFill>
              </a:rPr>
              <a:t>doprocessing</a:t>
            </a:r>
            <a:r>
              <a:rPr lang="en-GB" sz="2800" dirty="0" smtClean="0">
                <a:solidFill>
                  <a:schemeClr val="tx1"/>
                </a:solidFill>
              </a:rPr>
              <a:t>() returning, this process simply exits.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The parent process closes </a:t>
            </a:r>
            <a:r>
              <a:rPr lang="en-GB" sz="2800" dirty="0" err="1" smtClean="0">
                <a:solidFill>
                  <a:schemeClr val="tx1"/>
                </a:solidFill>
              </a:rPr>
              <a:t>newsockfd</a:t>
            </a:r>
            <a:r>
              <a:rPr lang="en-GB" sz="2800" dirty="0" smtClean="0">
                <a:solidFill>
                  <a:schemeClr val="tx1"/>
                </a:solidFill>
              </a:rPr>
              <a:t>. As all of this code is in an infinite loop, it will return to the accept statement to wait for the next connection.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286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stdio.h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stdlib.h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netdb.h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netinet</a:t>
            </a:r>
            <a:r>
              <a:rPr lang="en-GB" sz="2800" dirty="0" smtClean="0">
                <a:solidFill>
                  <a:schemeClr val="tx1"/>
                </a:solidFill>
              </a:rPr>
              <a:t>/</a:t>
            </a:r>
            <a:r>
              <a:rPr lang="en-GB" sz="2800" dirty="0" err="1" smtClean="0">
                <a:solidFill>
                  <a:schemeClr val="tx1"/>
                </a:solidFill>
              </a:rPr>
              <a:t>in.h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string.h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rgbClr val="FF0000"/>
                </a:solidFill>
              </a:rPr>
              <a:t>void </a:t>
            </a:r>
            <a:r>
              <a:rPr lang="en-GB" sz="2800" dirty="0" err="1" smtClean="0">
                <a:solidFill>
                  <a:srgbClr val="FF0000"/>
                </a:solidFill>
              </a:rPr>
              <a:t>doprocessing</a:t>
            </a:r>
            <a:r>
              <a:rPr lang="en-GB" sz="2800" dirty="0" smtClean="0">
                <a:solidFill>
                  <a:srgbClr val="FF0000"/>
                </a:solidFill>
              </a:rPr>
              <a:t> (int sock);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int main( int </a:t>
            </a:r>
            <a:r>
              <a:rPr lang="en-GB" sz="2800" dirty="0" err="1" smtClean="0">
                <a:solidFill>
                  <a:schemeClr val="tx1"/>
                </a:solidFill>
              </a:rPr>
              <a:t>argc</a:t>
            </a:r>
            <a:r>
              <a:rPr lang="en-GB" sz="2800" dirty="0" smtClean="0">
                <a:solidFill>
                  <a:schemeClr val="tx1"/>
                </a:solidFill>
              </a:rPr>
              <a:t>, char *</a:t>
            </a:r>
            <a:r>
              <a:rPr lang="en-GB" sz="2800" dirty="0" err="1" smtClean="0">
                <a:solidFill>
                  <a:schemeClr val="tx1"/>
                </a:solidFill>
              </a:rPr>
              <a:t>argv</a:t>
            </a:r>
            <a:r>
              <a:rPr lang="en-GB" sz="2800" dirty="0" smtClean="0">
                <a:solidFill>
                  <a:schemeClr val="tx1"/>
                </a:solidFill>
              </a:rPr>
              <a:t>[] 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int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newsockfd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portno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clilen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char buffer[256]; int n, </a:t>
            </a:r>
            <a:r>
              <a:rPr lang="en-GB" sz="2800" dirty="0" err="1" smtClean="0">
                <a:solidFill>
                  <a:schemeClr val="tx1"/>
                </a:solidFill>
              </a:rPr>
              <a:t>pid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sockaddr_in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cli_addr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rgbClr val="FF0000"/>
                </a:solidFill>
              </a:rPr>
              <a:t>  /* First call to socket() function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= socket(AF_INET, SOCK_STREAM, 0);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if 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&lt; 0)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opening socket");      exit(1);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smtClean="0">
                <a:solidFill>
                  <a:srgbClr val="FF0000"/>
                </a:solidFill>
              </a:rPr>
              <a:t>/* Initialize socket structure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bzero</a:t>
            </a:r>
            <a:r>
              <a:rPr lang="en-GB" sz="2800" dirty="0" smtClean="0">
                <a:solidFill>
                  <a:schemeClr val="tx1"/>
                </a:solidFill>
              </a:rPr>
              <a:t>((char *) &amp;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));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portno</a:t>
            </a:r>
            <a:r>
              <a:rPr lang="en-GB" sz="2800" dirty="0" smtClean="0">
                <a:solidFill>
                  <a:schemeClr val="tx1"/>
                </a:solidFill>
              </a:rPr>
              <a:t> = 5001;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serv_addr.sin_family</a:t>
            </a:r>
            <a:r>
              <a:rPr lang="en-GB" sz="2800" dirty="0" smtClean="0">
                <a:solidFill>
                  <a:schemeClr val="tx1"/>
                </a:solidFill>
              </a:rPr>
              <a:t> = AF_INET;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serv_addr.sin_addr.s_addr</a:t>
            </a:r>
            <a:r>
              <a:rPr lang="en-GB" sz="2800" dirty="0" smtClean="0">
                <a:solidFill>
                  <a:schemeClr val="tx1"/>
                </a:solidFill>
              </a:rPr>
              <a:t> = INADDR_ANY;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serv_addr.sin_port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htons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portno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6106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rgbClr val="FF0000"/>
                </a:solidFill>
              </a:rPr>
              <a:t> /* Now bind the host address using bind() call.*/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(bind(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 *) &amp;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)) &lt; 0)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on binding");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exit(1);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}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rgbClr val="FF0000"/>
                </a:solidFill>
              </a:rPr>
              <a:t>/* Now start listening for the clients, here process will    go in sleep mode &amp; will wait for incoming connection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listen(sockfd,5);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clilen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cli_addr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048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while (1)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</a:t>
            </a:r>
            <a:r>
              <a:rPr lang="en-GB" sz="2800" b="1" i="1" dirty="0" err="1" smtClean="0">
                <a:solidFill>
                  <a:srgbClr val="FF0000"/>
                </a:solidFill>
              </a:rPr>
              <a:t>newsockfd</a:t>
            </a:r>
            <a:r>
              <a:rPr lang="en-GB" sz="2800" b="1" i="1" dirty="0" smtClean="0">
                <a:solidFill>
                  <a:srgbClr val="FF0000"/>
                </a:solidFill>
              </a:rPr>
              <a:t> = accept(</a:t>
            </a:r>
            <a:r>
              <a:rPr lang="en-GB" sz="2800" b="1" i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i="1" dirty="0" smtClean="0">
                <a:solidFill>
                  <a:srgbClr val="FF0000"/>
                </a:solidFill>
              </a:rPr>
              <a:t>, (</a:t>
            </a:r>
            <a:r>
              <a:rPr lang="en-GB" sz="2800" b="1" i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i="1" dirty="0" smtClean="0">
                <a:solidFill>
                  <a:srgbClr val="FF0000"/>
                </a:solidFill>
              </a:rPr>
              <a:t> </a:t>
            </a:r>
            <a:r>
              <a:rPr lang="en-GB" sz="2800" b="1" i="1" dirty="0" err="1" smtClean="0">
                <a:solidFill>
                  <a:srgbClr val="FF0000"/>
                </a:solidFill>
              </a:rPr>
              <a:t>sockaddr</a:t>
            </a:r>
            <a:r>
              <a:rPr lang="en-GB" sz="2800" b="1" i="1" dirty="0" smtClean="0">
                <a:solidFill>
                  <a:srgbClr val="FF0000"/>
                </a:solidFill>
              </a:rPr>
              <a:t> *) &amp;</a:t>
            </a:r>
            <a:r>
              <a:rPr lang="en-GB" sz="2800" b="1" i="1" dirty="0" err="1" smtClean="0">
                <a:solidFill>
                  <a:srgbClr val="FF0000"/>
                </a:solidFill>
              </a:rPr>
              <a:t>cli_addr</a:t>
            </a:r>
            <a:r>
              <a:rPr lang="en-GB" sz="2800" b="1" i="1" dirty="0" smtClean="0">
                <a:solidFill>
                  <a:srgbClr val="FF0000"/>
                </a:solidFill>
              </a:rPr>
              <a:t>, &amp;</a:t>
            </a:r>
            <a:r>
              <a:rPr lang="en-GB" sz="2800" b="1" i="1" dirty="0" err="1" smtClean="0">
                <a:solidFill>
                  <a:srgbClr val="FF0000"/>
                </a:solidFill>
              </a:rPr>
              <a:t>clilen</a:t>
            </a:r>
            <a:r>
              <a:rPr lang="en-GB" sz="2800" b="1" i="1" dirty="0" smtClean="0">
                <a:solidFill>
                  <a:srgbClr val="FF0000"/>
                </a:solidFill>
              </a:rPr>
              <a:t>);	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if (</a:t>
            </a:r>
            <a:r>
              <a:rPr lang="en-GB" sz="2800" b="1" i="1" dirty="0" err="1" smtClean="0">
                <a:solidFill>
                  <a:srgbClr val="FF0000"/>
                </a:solidFill>
              </a:rPr>
              <a:t>newsockfd</a:t>
            </a:r>
            <a:r>
              <a:rPr lang="en-GB" sz="2800" b="1" i="1" dirty="0" smtClean="0">
                <a:solidFill>
                  <a:srgbClr val="FF0000"/>
                </a:solidFill>
              </a:rPr>
              <a:t> &lt; 0) {         </a:t>
            </a:r>
            <a:r>
              <a:rPr lang="en-GB" sz="2800" b="1" i="1" dirty="0" err="1" smtClean="0">
                <a:solidFill>
                  <a:srgbClr val="FF0000"/>
                </a:solidFill>
              </a:rPr>
              <a:t>perror</a:t>
            </a:r>
            <a:r>
              <a:rPr lang="en-GB" sz="2800" b="1" i="1" dirty="0" smtClean="0">
                <a:solidFill>
                  <a:srgbClr val="FF0000"/>
                </a:solidFill>
              </a:rPr>
              <a:t>("ERROR on accept");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   exit(1);   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/* Create child process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</a:t>
            </a:r>
            <a:r>
              <a:rPr lang="en-GB" sz="2800" b="1" i="1" dirty="0" err="1" smtClean="0">
                <a:solidFill>
                  <a:srgbClr val="FF0000"/>
                </a:solidFill>
              </a:rPr>
              <a:t>pid</a:t>
            </a:r>
            <a:r>
              <a:rPr lang="en-GB" sz="2800" b="1" i="1" dirty="0" smtClean="0">
                <a:solidFill>
                  <a:srgbClr val="FF0000"/>
                </a:solidFill>
              </a:rPr>
              <a:t> = fork();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if (</a:t>
            </a:r>
            <a:r>
              <a:rPr lang="en-GB" sz="2800" b="1" i="1" dirty="0" err="1" smtClean="0">
                <a:solidFill>
                  <a:srgbClr val="FF0000"/>
                </a:solidFill>
              </a:rPr>
              <a:t>pid</a:t>
            </a:r>
            <a:r>
              <a:rPr lang="en-GB" sz="2800" b="1" i="1" dirty="0" smtClean="0">
                <a:solidFill>
                  <a:srgbClr val="FF0000"/>
                </a:solidFill>
              </a:rPr>
              <a:t> &lt; 0) {          </a:t>
            </a:r>
            <a:r>
              <a:rPr lang="en-GB" sz="2800" b="1" i="1" dirty="0" err="1" smtClean="0">
                <a:solidFill>
                  <a:srgbClr val="FF0000"/>
                </a:solidFill>
              </a:rPr>
              <a:t>perror</a:t>
            </a:r>
            <a:r>
              <a:rPr lang="en-GB" sz="2800" b="1" i="1" dirty="0" smtClean="0">
                <a:solidFill>
                  <a:srgbClr val="FF0000"/>
                </a:solidFill>
              </a:rPr>
              <a:t>("ERROR on fork");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   exit(1);      }</a:t>
            </a:r>
            <a:endParaRPr lang="en-GB" sz="28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if (</a:t>
            </a:r>
            <a:r>
              <a:rPr lang="en-GB" sz="2800" b="1" i="1" dirty="0" err="1" smtClean="0">
                <a:solidFill>
                  <a:srgbClr val="FF0000"/>
                </a:solidFill>
              </a:rPr>
              <a:t>pid</a:t>
            </a:r>
            <a:r>
              <a:rPr lang="en-GB" sz="2800" b="1" i="1" dirty="0" smtClean="0">
                <a:solidFill>
                  <a:srgbClr val="FF0000"/>
                </a:solidFill>
              </a:rPr>
              <a:t> == 0)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   /* This is the client process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   close(</a:t>
            </a:r>
            <a:r>
              <a:rPr lang="en-GB" sz="2800" b="1" i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i="1" dirty="0" smtClean="0">
                <a:solidFill>
                  <a:srgbClr val="FF0000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   </a:t>
            </a:r>
            <a:r>
              <a:rPr lang="en-GB" sz="2800" b="1" i="1" dirty="0" err="1" smtClean="0">
                <a:solidFill>
                  <a:srgbClr val="FF0000"/>
                </a:solidFill>
              </a:rPr>
              <a:t>doprocessing</a:t>
            </a:r>
            <a:r>
              <a:rPr lang="en-GB" sz="2800" b="1" i="1" dirty="0" smtClean="0">
                <a:solidFill>
                  <a:srgbClr val="FF0000"/>
                </a:solidFill>
              </a:rPr>
              <a:t>(</a:t>
            </a:r>
            <a:r>
              <a:rPr lang="en-GB" sz="2800" b="1" i="1" dirty="0" err="1" smtClean="0">
                <a:solidFill>
                  <a:srgbClr val="FF0000"/>
                </a:solidFill>
              </a:rPr>
              <a:t>newsockfd</a:t>
            </a:r>
            <a:r>
              <a:rPr lang="en-GB" sz="2800" b="1" i="1" dirty="0" smtClean="0">
                <a:solidFill>
                  <a:srgbClr val="FF0000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   exit(0);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else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      close(</a:t>
            </a:r>
            <a:r>
              <a:rPr lang="en-GB" sz="2800" b="1" i="1" dirty="0" err="1" smtClean="0">
                <a:solidFill>
                  <a:srgbClr val="FF0000"/>
                </a:solidFill>
              </a:rPr>
              <a:t>newsockfd</a:t>
            </a:r>
            <a:r>
              <a:rPr lang="en-GB" sz="2800" b="1" i="1" dirty="0" smtClean="0">
                <a:solidFill>
                  <a:srgbClr val="FF0000"/>
                </a:solidFill>
              </a:rPr>
              <a:t>);       }	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   } /* end of while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i="1" dirty="0" smtClean="0">
                <a:solidFill>
                  <a:srgbClr val="FF0000"/>
                </a:solidFill>
              </a:rPr>
              <a:t>}</a:t>
            </a:r>
            <a:endParaRPr lang="en-GB" sz="28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9154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A simple implementation of </a:t>
            </a:r>
            <a:r>
              <a:rPr lang="en-GB" sz="2800" b="1" dirty="0" err="1" smtClean="0">
                <a:solidFill>
                  <a:srgbClr val="FF0000"/>
                </a:solidFill>
              </a:rPr>
              <a:t>doprocessing</a:t>
            </a:r>
            <a:r>
              <a:rPr lang="en-GB" sz="2800" b="1" dirty="0" smtClean="0">
                <a:solidFill>
                  <a:srgbClr val="FF0000"/>
                </a:solidFill>
              </a:rPr>
              <a:t> function.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void </a:t>
            </a:r>
            <a:r>
              <a:rPr lang="en-GB" sz="2800" dirty="0" err="1" smtClean="0">
                <a:solidFill>
                  <a:schemeClr val="tx1"/>
                </a:solidFill>
              </a:rPr>
              <a:t>doprocessing</a:t>
            </a:r>
            <a:r>
              <a:rPr lang="en-GB" sz="2800" dirty="0" smtClean="0">
                <a:solidFill>
                  <a:schemeClr val="tx1"/>
                </a:solidFill>
              </a:rPr>
              <a:t> (int sock)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int n;    char buffer[256];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bzero</a:t>
            </a:r>
            <a:r>
              <a:rPr lang="en-GB" sz="2800" dirty="0" smtClean="0">
                <a:solidFill>
                  <a:schemeClr val="tx1"/>
                </a:solidFill>
              </a:rPr>
              <a:t>(buffer,256);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b="1" i="1" dirty="0" smtClean="0">
                <a:solidFill>
                  <a:srgbClr val="FF0000"/>
                </a:solidFill>
              </a:rPr>
              <a:t> n = read(sock,buffer,255);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(n &lt; 0) {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reading from socket");  exit(1);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("Here is the message: %s\</a:t>
            </a:r>
            <a:r>
              <a:rPr lang="en-GB" sz="2800" dirty="0" err="1" smtClean="0">
                <a:solidFill>
                  <a:schemeClr val="tx1"/>
                </a:solidFill>
              </a:rPr>
              <a:t>n",buffer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b="1" i="1" dirty="0" smtClean="0">
                <a:solidFill>
                  <a:srgbClr val="FF0000"/>
                </a:solidFill>
              </a:rPr>
              <a:t>n = write(</a:t>
            </a:r>
            <a:r>
              <a:rPr lang="en-GB" sz="2800" b="1" i="1" dirty="0" err="1" smtClean="0">
                <a:solidFill>
                  <a:srgbClr val="FF0000"/>
                </a:solidFill>
              </a:rPr>
              <a:t>sock,"I</a:t>
            </a:r>
            <a:r>
              <a:rPr lang="en-GB" sz="2800" b="1" i="1" dirty="0" smtClean="0">
                <a:solidFill>
                  <a:srgbClr val="FF0000"/>
                </a:solidFill>
              </a:rPr>
              <a:t> got your message",18);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(n &lt; 0)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writing to socket");    exit(1);   } 	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382000" cy="6248400"/>
          </a:xfrm>
        </p:spPr>
        <p:txBody>
          <a:bodyPr>
            <a:noAutofit/>
          </a:bodyPr>
          <a:lstStyle/>
          <a:p>
            <a:endParaRPr lang="en-GB" sz="3600" b="1" dirty="0" smtClean="0">
              <a:solidFill>
                <a:srgbClr val="FF0000"/>
              </a:solidFill>
            </a:endParaRPr>
          </a:p>
          <a:p>
            <a:endParaRPr lang="en-GB" sz="3600" b="1" dirty="0" smtClean="0">
              <a:solidFill>
                <a:srgbClr val="FF0000"/>
              </a:solidFill>
            </a:endParaRPr>
          </a:p>
          <a:p>
            <a:endParaRPr lang="en-GB" sz="3600" b="1" dirty="0" smtClean="0">
              <a:solidFill>
                <a:srgbClr val="FF0000"/>
              </a:solidFill>
            </a:endParaRPr>
          </a:p>
          <a:p>
            <a:r>
              <a:rPr lang="en-GB" sz="3600" b="1" dirty="0" smtClean="0">
                <a:solidFill>
                  <a:srgbClr val="FF0000"/>
                </a:solidFill>
              </a:rPr>
              <a:t>Unix Socket - Client Examples</a:t>
            </a:r>
          </a:p>
          <a:p>
            <a:r>
              <a:rPr lang="en-GB" sz="3600" b="1" dirty="0" smtClean="0">
                <a:solidFill>
                  <a:srgbClr val="FF0000"/>
                </a:solidFill>
              </a:rPr>
              <a:t/>
            </a:r>
            <a:br>
              <a:rPr lang="en-GB" sz="3600" b="1" dirty="0" smtClean="0">
                <a:solidFill>
                  <a:srgbClr val="FF0000"/>
                </a:solidFill>
              </a:rPr>
            </a:br>
            <a:endParaRPr lang="en-GB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905664-5E60-4614-B5BA-5ADEEE7A016B}" type="slidenum">
              <a:rPr lang="en-GB" smtClean="0">
                <a:latin typeface="Arial" pitchFamily="34" charset="0"/>
              </a:rPr>
              <a:pPr/>
              <a:t>36</a:t>
            </a:fld>
            <a:endParaRPr lang="en-GB" smtClean="0">
              <a:latin typeface="Arial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itchFamily="2" charset="-122"/>
              </a:rPr>
              <a:t>TCP Client Algorithm</a:t>
            </a:r>
            <a:endParaRPr lang="en-US" altLang="zh-TW" b="1" dirty="0" smtClean="0">
              <a:ea typeface="新細明體"/>
              <a:cs typeface="新細明體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Find the IP address and protocol port number of the server with which communication is desired;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Allocate a socket;</a:t>
            </a:r>
          </a:p>
          <a:p>
            <a:pPr marL="838200" lvl="1" indent="-3810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dirty="0" smtClean="0">
                <a:latin typeface="Times New Roman" pitchFamily="18" charset="0"/>
                <a:ea typeface="SimSun" pitchFamily="2" charset="-122"/>
              </a:rPr>
              <a:t>socket()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Specify that the connection needs an arbitrary, unused protocol port on the local machine, and allow TCP to choose one;</a:t>
            </a:r>
          </a:p>
          <a:p>
            <a:pPr marL="838200" lvl="1" indent="-3810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dirty="0" smtClean="0">
                <a:latin typeface="Times New Roman" pitchFamily="18" charset="0"/>
                <a:ea typeface="SimSun" pitchFamily="2" charset="-122"/>
              </a:rPr>
              <a:t>A side-effect of connect()</a:t>
            </a:r>
            <a:endParaRPr lang="en-US" altLang="zh-TW" dirty="0" smtClean="0">
              <a:latin typeface="Times New Roman" pitchFamily="18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905664-5E60-4614-B5BA-5ADEEE7A016B}" type="slidenum">
              <a:rPr lang="en-GB" smtClean="0">
                <a:latin typeface="Arial" pitchFamily="34" charset="0"/>
              </a:rPr>
              <a:pPr/>
              <a:t>37</a:t>
            </a:fld>
            <a:endParaRPr lang="en-GB" smtClean="0">
              <a:latin typeface="Arial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>
                <a:ea typeface="SimSun" pitchFamily="2" charset="-122"/>
              </a:rPr>
              <a:t>TCP Client Algorithm</a:t>
            </a:r>
            <a:endParaRPr lang="en-US" altLang="zh-TW" b="1" dirty="0" smtClean="0">
              <a:ea typeface="新細明體"/>
              <a:cs typeface="新細明體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498316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4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Connect the socket to the server;</a:t>
            </a:r>
          </a:p>
          <a:p>
            <a:pPr marL="838200" lvl="1" indent="-3810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dirty="0" smtClean="0">
                <a:latin typeface="Times New Roman" pitchFamily="18" charset="0"/>
                <a:ea typeface="SimSun" pitchFamily="2" charset="-122"/>
              </a:rPr>
              <a:t>connect()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Tx/>
              <a:buAutoNum type="arabicPeriod" startAt="4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Communicate with the server using the application-level protocol;</a:t>
            </a:r>
          </a:p>
          <a:p>
            <a:pPr marL="838200" lvl="1" indent="-3810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dirty="0" smtClean="0">
                <a:latin typeface="Times New Roman" pitchFamily="18" charset="0"/>
                <a:ea typeface="SimSun" pitchFamily="2" charset="-122"/>
              </a:rPr>
              <a:t>send() and </a:t>
            </a:r>
            <a:r>
              <a:rPr lang="en-US" altLang="zh-CN" dirty="0" err="1" smtClean="0">
                <a:latin typeface="Times New Roman" pitchFamily="18" charset="0"/>
                <a:ea typeface="SimSun" pitchFamily="2" charset="-122"/>
              </a:rPr>
              <a:t>recv</a:t>
            </a:r>
            <a:r>
              <a:rPr lang="en-US" altLang="zh-CN" dirty="0" smtClean="0">
                <a:latin typeface="Times New Roman" pitchFamily="18" charset="0"/>
                <a:ea typeface="SimSun" pitchFamily="2" charset="-122"/>
              </a:rPr>
              <a:t>()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Tx/>
              <a:buAutoNum type="arabicPeriod" startAt="4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Close the connection.</a:t>
            </a:r>
          </a:p>
          <a:p>
            <a:pPr marL="838200" lvl="1" indent="-3810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dirty="0" err="1" smtClean="0">
                <a:latin typeface="Times New Roman" pitchFamily="18" charset="0"/>
                <a:ea typeface="SimSun" pitchFamily="2" charset="-122"/>
              </a:rPr>
              <a:t>closesocket</a:t>
            </a:r>
            <a:r>
              <a:rPr lang="en-US" altLang="zh-CN" dirty="0" smtClean="0">
                <a:latin typeface="Times New Roman" pitchFamily="18" charset="0"/>
                <a:ea typeface="SimSun" pitchFamily="2" charset="-122"/>
              </a:rPr>
              <a:t>()</a:t>
            </a:r>
            <a:endParaRPr lang="en-US" altLang="zh-TW" dirty="0" smtClean="0">
              <a:latin typeface="Times New Roman" pitchFamily="18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3600" b="1" dirty="0" smtClean="0">
                <a:solidFill>
                  <a:schemeClr val="tx1"/>
                </a:solidFill>
              </a:rPr>
              <a:t>To make a process a TCP client, you need to follow the steps given below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Create a socket with the </a:t>
            </a:r>
            <a:r>
              <a:rPr lang="en-GB" sz="2800" b="1" dirty="0" smtClean="0">
                <a:solidFill>
                  <a:srgbClr val="FF0000"/>
                </a:solidFill>
              </a:rPr>
              <a:t>socket()</a:t>
            </a:r>
            <a:r>
              <a:rPr lang="en-GB" sz="2800" dirty="0" smtClean="0">
                <a:solidFill>
                  <a:schemeClr val="tx1"/>
                </a:solidFill>
              </a:rPr>
              <a:t> system call.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Connect the socket to the address of the server using the </a:t>
            </a:r>
            <a:r>
              <a:rPr lang="en-GB" sz="2800" b="1" dirty="0" smtClean="0">
                <a:solidFill>
                  <a:srgbClr val="FF0000"/>
                </a:solidFill>
              </a:rPr>
              <a:t>connect()</a:t>
            </a:r>
            <a:r>
              <a:rPr lang="en-GB" sz="2800" dirty="0" smtClean="0">
                <a:solidFill>
                  <a:schemeClr val="tx1"/>
                </a:solidFill>
              </a:rPr>
              <a:t> system call.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Send and receive data. 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There are a number of ways to do this, but the simplest way is to use the </a:t>
            </a:r>
            <a:r>
              <a:rPr lang="en-GB" sz="2800" b="1" dirty="0" smtClean="0">
                <a:solidFill>
                  <a:srgbClr val="FF0000"/>
                </a:solidFill>
              </a:rPr>
              <a:t>read()</a:t>
            </a:r>
            <a:r>
              <a:rPr lang="en-GB" sz="2800" dirty="0" smtClean="0">
                <a:solidFill>
                  <a:schemeClr val="tx1"/>
                </a:solidFill>
              </a:rPr>
              <a:t> and </a:t>
            </a:r>
            <a:r>
              <a:rPr lang="en-GB" sz="2800" b="1" dirty="0" smtClean="0">
                <a:solidFill>
                  <a:srgbClr val="FF0000"/>
                </a:solidFill>
              </a:rPr>
              <a:t>write()</a:t>
            </a:r>
            <a:r>
              <a:rPr lang="en-GB" sz="2800" dirty="0" smtClean="0">
                <a:solidFill>
                  <a:schemeClr val="tx1"/>
                </a:solidFill>
              </a:rPr>
              <a:t> system calls.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Now let us put these steps in the form of source code. Put this code into the file </a:t>
            </a:r>
            <a:r>
              <a:rPr lang="en-GB" sz="2800" b="1" dirty="0" err="1" smtClean="0">
                <a:solidFill>
                  <a:srgbClr val="FF0000"/>
                </a:solidFill>
              </a:rPr>
              <a:t>client.c</a:t>
            </a:r>
            <a:r>
              <a:rPr lang="en-GB" sz="2800" dirty="0" smtClean="0">
                <a:solidFill>
                  <a:schemeClr val="tx1"/>
                </a:solidFill>
              </a:rPr>
              <a:t> and compile it with </a:t>
            </a:r>
            <a:r>
              <a:rPr lang="en-GB" sz="2800" dirty="0" err="1" smtClean="0">
                <a:solidFill>
                  <a:schemeClr val="tx1"/>
                </a:solidFill>
              </a:rPr>
              <a:t>gcc</a:t>
            </a:r>
            <a:r>
              <a:rPr lang="en-GB" sz="2800" dirty="0" smtClean="0">
                <a:solidFill>
                  <a:schemeClr val="tx1"/>
                </a:solidFill>
              </a:rPr>
              <a:t> compiler.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Run this program and pass hostname and port number of the server, to connect to the server, which you already must have run in another Unix window.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stdio.h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stdlib.h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netdb.h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netinet</a:t>
            </a:r>
            <a:r>
              <a:rPr lang="en-GB" sz="2800" dirty="0" smtClean="0">
                <a:solidFill>
                  <a:schemeClr val="tx1"/>
                </a:solidFill>
              </a:rPr>
              <a:t>/</a:t>
            </a:r>
            <a:r>
              <a:rPr lang="en-GB" sz="2800" dirty="0" err="1" smtClean="0">
                <a:solidFill>
                  <a:schemeClr val="tx1"/>
                </a:solidFill>
              </a:rPr>
              <a:t>in.h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string.h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int main(int </a:t>
            </a:r>
            <a:r>
              <a:rPr lang="en-GB" sz="2800" dirty="0" err="1" smtClean="0">
                <a:solidFill>
                  <a:schemeClr val="tx1"/>
                </a:solidFill>
              </a:rPr>
              <a:t>argc</a:t>
            </a:r>
            <a:r>
              <a:rPr lang="en-GB" sz="2800" dirty="0" smtClean="0">
                <a:solidFill>
                  <a:schemeClr val="tx1"/>
                </a:solidFill>
              </a:rPr>
              <a:t>, char *</a:t>
            </a:r>
            <a:r>
              <a:rPr lang="en-GB" sz="2800" dirty="0" err="1" smtClean="0">
                <a:solidFill>
                  <a:schemeClr val="tx1"/>
                </a:solidFill>
              </a:rPr>
              <a:t>argv</a:t>
            </a:r>
            <a:r>
              <a:rPr lang="en-GB" sz="2800" dirty="0" smtClean="0">
                <a:solidFill>
                  <a:schemeClr val="tx1"/>
                </a:solidFill>
              </a:rPr>
              <a:t>[])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int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portno</a:t>
            </a:r>
            <a:r>
              <a:rPr lang="en-GB" sz="2800" dirty="0" smtClean="0">
                <a:solidFill>
                  <a:schemeClr val="tx1"/>
                </a:solidFill>
              </a:rPr>
              <a:t>, n;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sockaddr_in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hostent</a:t>
            </a:r>
            <a:r>
              <a:rPr lang="en-GB" sz="2800" dirty="0" smtClean="0">
                <a:solidFill>
                  <a:schemeClr val="tx1"/>
                </a:solidFill>
              </a:rPr>
              <a:t> *server;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char buffer[256];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382000" cy="6248400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</a:t>
            </a:r>
            <a:r>
              <a:rPr lang="en-GB" sz="2800" dirty="0" err="1" smtClean="0">
                <a:solidFill>
                  <a:schemeClr val="tx1"/>
                </a:solidFill>
              </a:rPr>
              <a:t>argc</a:t>
            </a:r>
            <a:r>
              <a:rPr lang="en-GB" sz="2800" dirty="0" smtClean="0">
                <a:solidFill>
                  <a:schemeClr val="tx1"/>
                </a:solidFill>
              </a:rPr>
              <a:t> &lt; 3) {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fprintf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stderr,"usage</a:t>
            </a:r>
            <a:r>
              <a:rPr lang="en-GB" sz="2800" dirty="0" smtClean="0">
                <a:solidFill>
                  <a:schemeClr val="tx1"/>
                </a:solidFill>
              </a:rPr>
              <a:t> %s hostname port\n", </a:t>
            </a:r>
            <a:r>
              <a:rPr lang="en-GB" sz="2800" dirty="0" err="1" smtClean="0">
                <a:solidFill>
                  <a:schemeClr val="tx1"/>
                </a:solidFill>
              </a:rPr>
              <a:t>argv</a:t>
            </a:r>
            <a:r>
              <a:rPr lang="en-GB" sz="2800" dirty="0" smtClean="0">
                <a:solidFill>
                  <a:schemeClr val="tx1"/>
                </a:solidFill>
              </a:rPr>
              <a:t>[0]);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exit(0);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}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portno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atoi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argv</a:t>
            </a:r>
            <a:r>
              <a:rPr lang="en-GB" sz="2800" dirty="0" smtClean="0">
                <a:solidFill>
                  <a:schemeClr val="tx1"/>
                </a:solidFill>
              </a:rPr>
              <a:t>[2]);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rgbClr val="FF0000"/>
                </a:solidFill>
              </a:rPr>
              <a:t>/* Create a socket point */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= socket(AF_INET, SOCK_STREAM, 0);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&lt; 0) {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opening socket");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exit(1);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}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382000" cy="6248400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server = </a:t>
            </a:r>
            <a:r>
              <a:rPr lang="en-GB" sz="2800" dirty="0" err="1" smtClean="0">
                <a:solidFill>
                  <a:schemeClr val="tx1"/>
                </a:solidFill>
              </a:rPr>
              <a:t>gethostbyname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argv</a:t>
            </a:r>
            <a:r>
              <a:rPr lang="en-GB" sz="2800" dirty="0" smtClean="0">
                <a:solidFill>
                  <a:schemeClr val="tx1"/>
                </a:solidFill>
              </a:rPr>
              <a:t>[1]);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(server == NULL) {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fprintf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stderr,"ERROR</a:t>
            </a:r>
            <a:r>
              <a:rPr lang="en-GB" sz="2800" dirty="0" smtClean="0">
                <a:solidFill>
                  <a:schemeClr val="tx1"/>
                </a:solidFill>
              </a:rPr>
              <a:t>, no such host\n");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exit(0);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}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bzero</a:t>
            </a:r>
            <a:r>
              <a:rPr lang="en-GB" sz="2800" dirty="0" smtClean="0">
                <a:solidFill>
                  <a:schemeClr val="tx1"/>
                </a:solidFill>
              </a:rPr>
              <a:t>((char *) &amp;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));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serv_addr.sin_family</a:t>
            </a:r>
            <a:r>
              <a:rPr lang="en-GB" sz="2800" dirty="0" smtClean="0">
                <a:solidFill>
                  <a:schemeClr val="tx1"/>
                </a:solidFill>
              </a:rPr>
              <a:t> = AF_INET;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bcopy</a:t>
            </a:r>
            <a:r>
              <a:rPr lang="en-GB" sz="2800" dirty="0" smtClean="0">
                <a:solidFill>
                  <a:schemeClr val="tx1"/>
                </a:solidFill>
              </a:rPr>
              <a:t>((char *)server-&gt;</a:t>
            </a:r>
            <a:r>
              <a:rPr lang="en-GB" sz="2800" dirty="0" err="1" smtClean="0">
                <a:solidFill>
                  <a:schemeClr val="tx1"/>
                </a:solidFill>
              </a:rPr>
              <a:t>h_addr</a:t>
            </a:r>
            <a:r>
              <a:rPr lang="en-GB" sz="2800" dirty="0" smtClean="0">
                <a:solidFill>
                  <a:schemeClr val="tx1"/>
                </a:solidFill>
              </a:rPr>
              <a:t>, (char *)&amp;</a:t>
            </a:r>
            <a:r>
              <a:rPr lang="en-GB" sz="2800" dirty="0" err="1" smtClean="0">
                <a:solidFill>
                  <a:schemeClr val="tx1"/>
                </a:solidFill>
              </a:rPr>
              <a:t>serv_addr.sin_addr.s_addr</a:t>
            </a:r>
            <a:r>
              <a:rPr lang="en-GB" sz="2800" dirty="0" smtClean="0">
                <a:solidFill>
                  <a:schemeClr val="tx1"/>
                </a:solidFill>
              </a:rPr>
              <a:t>, server-&gt;</a:t>
            </a:r>
            <a:r>
              <a:rPr lang="en-GB" sz="2800" dirty="0" err="1" smtClean="0">
                <a:solidFill>
                  <a:schemeClr val="tx1"/>
                </a:solidFill>
              </a:rPr>
              <a:t>h_length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serv_addr.sin_port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htons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portno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2860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rgbClr val="FF0000"/>
                </a:solidFill>
              </a:rPr>
              <a:t>/* Now connect to the server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(connect(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*)&amp;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serv_addr</a:t>
            </a:r>
            <a:r>
              <a:rPr lang="en-GB" sz="2800" dirty="0" smtClean="0">
                <a:solidFill>
                  <a:schemeClr val="tx1"/>
                </a:solidFill>
              </a:rPr>
              <a:t>)) &lt; 0)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connecting");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exit(1);    }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rgbClr val="FF0000"/>
                </a:solidFill>
              </a:rPr>
              <a:t>/* Now ask for a message from the user, this message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rgbClr val="FF0000"/>
                </a:solidFill>
              </a:rPr>
              <a:t>      * will be read by server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("Please enter the message: 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bzero</a:t>
            </a:r>
            <a:r>
              <a:rPr lang="en-GB" sz="2800" dirty="0" smtClean="0">
                <a:solidFill>
                  <a:schemeClr val="tx1"/>
                </a:solidFill>
              </a:rPr>
              <a:t>(buffer,256);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fgets</a:t>
            </a:r>
            <a:r>
              <a:rPr lang="en-GB" sz="2800" dirty="0" smtClean="0">
                <a:solidFill>
                  <a:schemeClr val="tx1"/>
                </a:solidFill>
              </a:rPr>
              <a:t>(buffer,255,stdin);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0"/>
            <a:ext cx="83820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rgbClr val="FF0000"/>
                </a:solidFill>
              </a:rPr>
              <a:t>/* Send message to the server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n = write(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buffer, </a:t>
            </a:r>
            <a:r>
              <a:rPr lang="en-GB" sz="2800" dirty="0" err="1" smtClean="0">
                <a:solidFill>
                  <a:schemeClr val="tx1"/>
                </a:solidFill>
              </a:rPr>
              <a:t>strlen</a:t>
            </a:r>
            <a:r>
              <a:rPr lang="en-GB" sz="2800" dirty="0" smtClean="0">
                <a:solidFill>
                  <a:schemeClr val="tx1"/>
                </a:solidFill>
              </a:rPr>
              <a:t>(buffer));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if (n &lt; 0)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writing to socket");      exit(1);    }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rgbClr val="FF0000"/>
                </a:solidFill>
              </a:rPr>
              <a:t>/* Now read server response */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bzero</a:t>
            </a:r>
            <a:r>
              <a:rPr lang="en-GB" sz="2800" dirty="0" smtClean="0">
                <a:solidFill>
                  <a:schemeClr val="tx1"/>
                </a:solidFill>
              </a:rPr>
              <a:t>(buffer,256);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n = read(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buffer, 255);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if (n &lt; 0)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("ERROR reading from socket");       exit(1);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("%s\</a:t>
            </a:r>
            <a:r>
              <a:rPr lang="en-GB" sz="2800" dirty="0" err="1" smtClean="0">
                <a:solidFill>
                  <a:schemeClr val="tx1"/>
                </a:solidFill>
              </a:rPr>
              <a:t>n",buffer</a:t>
            </a:r>
            <a:r>
              <a:rPr lang="en-GB" sz="2800" dirty="0" smtClean="0">
                <a:solidFill>
                  <a:schemeClr val="tx1"/>
                </a:solidFill>
              </a:rPr>
              <a:t>);    return 0; 	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A427BB-4034-4B28-9338-970DC48DCDCC}" type="slidenum">
              <a:rPr lang="en-GB" smtClean="0">
                <a:latin typeface="Arial" pitchFamily="34" charset="0"/>
              </a:rPr>
              <a:pPr/>
              <a:t>45</a:t>
            </a:fld>
            <a:endParaRPr lang="en-GB" smtClean="0">
              <a:latin typeface="Arial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152400"/>
            <a:ext cx="8204200" cy="60960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ea typeface="SimSun" pitchFamily="2" charset="-122"/>
              </a:rPr>
              <a:t>UDP Client Algorithm</a:t>
            </a:r>
            <a:endParaRPr lang="en-US" altLang="zh-TW" dirty="0" smtClean="0">
              <a:ea typeface="新細明體"/>
              <a:cs typeface="新細明體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76300"/>
            <a:ext cx="8178800" cy="4686300"/>
          </a:xfrm>
        </p:spPr>
        <p:txBody>
          <a:bodyPr>
            <a:noAutofit/>
          </a:bodyPr>
          <a:lstStyle/>
          <a:p>
            <a:pPr marL="533400" indent="-5334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Find the IP address and protocol port number of the server with which communication is desired;</a:t>
            </a: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Allocate a socket;</a:t>
            </a: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Specify that the communication needs an arbitrary, unused protocol port on the local machine, and allow UDP to choose one;</a:t>
            </a: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Specify the server to which messages must be sent;</a:t>
            </a: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FontTx/>
              <a:buAutoNum type="arabicPeriod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Communicate with the server using the application-level protocol</a:t>
            </a: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;</a:t>
            </a:r>
            <a:endParaRPr lang="en-US" altLang="zh-TW" sz="2800" dirty="0" smtClean="0">
              <a:latin typeface="Times New Roman" pitchFamily="18" charset="0"/>
              <a:ea typeface="新細明體"/>
              <a:cs typeface="新細明體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A427BB-4034-4B28-9338-970DC48DCDCC}" type="slidenum">
              <a:rPr lang="en-GB" smtClean="0">
                <a:latin typeface="Arial" pitchFamily="34" charset="0"/>
              </a:rPr>
              <a:pPr/>
              <a:t>46</a:t>
            </a:fld>
            <a:endParaRPr lang="en-GB" smtClean="0">
              <a:latin typeface="Arial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152400"/>
            <a:ext cx="8204200" cy="60960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ea typeface="SimSun" pitchFamily="2" charset="-122"/>
              </a:rPr>
              <a:t>UDP Client Algorithm</a:t>
            </a:r>
            <a:endParaRPr lang="en-US" altLang="zh-TW" dirty="0" smtClean="0">
              <a:ea typeface="新細明體"/>
              <a:cs typeface="新細明體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33500"/>
            <a:ext cx="8178800" cy="4686300"/>
          </a:xfrm>
        </p:spPr>
        <p:txBody>
          <a:bodyPr/>
          <a:lstStyle/>
          <a:p>
            <a:pPr marL="914400" lvl="1" indent="-457200">
              <a:lnSpc>
                <a:spcPct val="150000"/>
              </a:lnSpc>
              <a:spcBef>
                <a:spcPts val="0"/>
              </a:spcBef>
              <a:buFontTx/>
              <a:buChar char="•"/>
            </a:pP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This </a:t>
            </a: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usually involves sending requests and awaiting </a:t>
            </a:r>
            <a:r>
              <a:rPr lang="en-US" altLang="zh-CN" sz="2800" dirty="0" smtClean="0">
                <a:latin typeface="Times New Roman" pitchFamily="18" charset="0"/>
                <a:ea typeface="SimSun" pitchFamily="2" charset="-122"/>
              </a:rPr>
              <a:t>replies</a:t>
            </a:r>
          </a:p>
          <a:p>
            <a:pPr marL="533400" indent="-5334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 smtClean="0">
                <a:solidFill>
                  <a:srgbClr val="0000FF"/>
                </a:solidFill>
                <a:latin typeface="Times New Roman" pitchFamily="18" charset="0"/>
                <a:ea typeface="SimSun" pitchFamily="2" charset="-122"/>
              </a:rPr>
              <a:t>6.</a:t>
            </a:r>
            <a:r>
              <a:rPr lang="en-US" altLang="zh-CN" dirty="0" smtClean="0">
                <a:latin typeface="Times New Roman" pitchFamily="18" charset="0"/>
                <a:ea typeface="SimSun" pitchFamily="2" charset="-122"/>
              </a:rPr>
              <a:t>      Close the socket.</a:t>
            </a:r>
            <a:endParaRPr lang="en-US" altLang="zh-TW" dirty="0" smtClean="0">
              <a:latin typeface="Times New Roman" pitchFamily="18" charset="0"/>
              <a:ea typeface="新細明體"/>
              <a:cs typeface="新細明體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0"/>
            <a:ext cx="8610600" cy="62484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3600" b="1" dirty="0" smtClean="0">
                <a:solidFill>
                  <a:schemeClr val="tx1"/>
                </a:solidFill>
              </a:rPr>
              <a:t>Functions related to socket programming.</a:t>
            </a:r>
            <a:endParaRPr lang="en-GB" sz="28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Port and Service Functions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Unix provides the following functions to fetch service name from the /etc/services file.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servent</a:t>
            </a:r>
            <a:r>
              <a:rPr lang="en-GB" sz="2800" b="1" dirty="0" smtClean="0">
                <a:solidFill>
                  <a:srgbClr val="FF0000"/>
                </a:solidFill>
              </a:rPr>
              <a:t> *</a:t>
            </a:r>
            <a:r>
              <a:rPr lang="en-GB" sz="2800" b="1" dirty="0" err="1" smtClean="0">
                <a:solidFill>
                  <a:srgbClr val="FF0000"/>
                </a:solidFill>
              </a:rPr>
              <a:t>getservbyname</a:t>
            </a:r>
            <a:r>
              <a:rPr lang="en-GB" sz="2800" b="1" dirty="0" smtClean="0">
                <a:solidFill>
                  <a:srgbClr val="FF0000"/>
                </a:solidFill>
              </a:rPr>
              <a:t>(char *name, char *proto)</a:t>
            </a:r>
            <a:r>
              <a:rPr lang="en-GB" sz="2800" dirty="0" smtClean="0">
                <a:solidFill>
                  <a:schemeClr val="tx1"/>
                </a:solidFill>
              </a:rPr>
              <a:t> − takes a service name and a protocol name and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-  returns the corresponding port number for that service.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servent</a:t>
            </a:r>
            <a:r>
              <a:rPr lang="en-GB" sz="2800" b="1" dirty="0" smtClean="0">
                <a:solidFill>
                  <a:srgbClr val="FF0000"/>
                </a:solidFill>
              </a:rPr>
              <a:t> *</a:t>
            </a:r>
            <a:r>
              <a:rPr lang="en-GB" sz="2800" b="1" dirty="0" err="1" smtClean="0">
                <a:solidFill>
                  <a:srgbClr val="FF0000"/>
                </a:solidFill>
              </a:rPr>
              <a:t>getservbyport</a:t>
            </a:r>
            <a:r>
              <a:rPr lang="en-GB" sz="2800" b="1" dirty="0" smtClean="0">
                <a:solidFill>
                  <a:srgbClr val="FF0000"/>
                </a:solidFill>
              </a:rPr>
              <a:t>(</a:t>
            </a:r>
            <a:r>
              <a:rPr lang="en-GB" sz="2800" b="1" dirty="0" err="1" smtClean="0">
                <a:solidFill>
                  <a:srgbClr val="FF0000"/>
                </a:solidFill>
              </a:rPr>
              <a:t>int</a:t>
            </a:r>
            <a:r>
              <a:rPr lang="en-GB" sz="2800" b="1" dirty="0" smtClean="0">
                <a:solidFill>
                  <a:srgbClr val="FF0000"/>
                </a:solidFill>
              </a:rPr>
              <a:t> port, char *proto)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− </a:t>
            </a:r>
            <a:r>
              <a:rPr lang="en-GB" sz="2800" dirty="0" smtClean="0">
                <a:solidFill>
                  <a:schemeClr val="tx1"/>
                </a:solidFill>
              </a:rPr>
              <a:t>takes a port number and a protocol name and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-  returns the corresponding service name.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04800"/>
            <a:ext cx="9144000" cy="6705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GB" sz="2600" b="1" dirty="0" smtClean="0">
                <a:solidFill>
                  <a:srgbClr val="FF0000"/>
                </a:solidFill>
              </a:rPr>
              <a:t>Byte Ordering Functions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b="1" dirty="0" smtClean="0">
                <a:solidFill>
                  <a:srgbClr val="FF0000"/>
                </a:solidFill>
              </a:rPr>
              <a:t>unsigned short </a:t>
            </a:r>
            <a:r>
              <a:rPr lang="en-GB" sz="2600" b="1" dirty="0" err="1" smtClean="0">
                <a:solidFill>
                  <a:srgbClr val="FF0000"/>
                </a:solidFill>
              </a:rPr>
              <a:t>htons</a:t>
            </a:r>
            <a:r>
              <a:rPr lang="en-GB" sz="2600" b="1" dirty="0" smtClean="0">
                <a:solidFill>
                  <a:srgbClr val="FF0000"/>
                </a:solidFill>
              </a:rPr>
              <a:t> (unsigned short </a:t>
            </a:r>
            <a:r>
              <a:rPr lang="en-GB" sz="2600" b="1" dirty="0" err="1" smtClean="0">
                <a:solidFill>
                  <a:srgbClr val="FF0000"/>
                </a:solidFill>
              </a:rPr>
              <a:t>hostshort</a:t>
            </a:r>
            <a:r>
              <a:rPr lang="en-GB" sz="2600" b="1" dirty="0" smtClean="0">
                <a:solidFill>
                  <a:srgbClr val="FF0000"/>
                </a:solidFill>
              </a:rPr>
              <a:t>)</a:t>
            </a:r>
            <a:r>
              <a:rPr lang="en-GB" sz="2600" dirty="0" smtClean="0">
                <a:solidFill>
                  <a:schemeClr val="tx1"/>
                </a:solidFill>
              </a:rPr>
              <a:t> −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converts 16-bit quantities from host byte order to n/w byte order.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b="1" dirty="0" smtClean="0">
                <a:solidFill>
                  <a:srgbClr val="FF0000"/>
                </a:solidFill>
              </a:rPr>
              <a:t>unsigned long </a:t>
            </a:r>
            <a:r>
              <a:rPr lang="en-GB" sz="2600" b="1" dirty="0" err="1" smtClean="0">
                <a:solidFill>
                  <a:srgbClr val="FF0000"/>
                </a:solidFill>
              </a:rPr>
              <a:t>htonl</a:t>
            </a:r>
            <a:r>
              <a:rPr lang="en-GB" sz="2600" b="1" dirty="0" smtClean="0">
                <a:solidFill>
                  <a:srgbClr val="FF0000"/>
                </a:solidFill>
              </a:rPr>
              <a:t> (unsigned long </a:t>
            </a:r>
            <a:r>
              <a:rPr lang="en-GB" sz="2600" b="1" dirty="0" err="1" smtClean="0">
                <a:solidFill>
                  <a:srgbClr val="FF0000"/>
                </a:solidFill>
              </a:rPr>
              <a:t>hostlong</a:t>
            </a:r>
            <a:r>
              <a:rPr lang="en-GB" sz="2600" b="1" dirty="0" smtClean="0">
                <a:solidFill>
                  <a:srgbClr val="FF0000"/>
                </a:solidFill>
              </a:rPr>
              <a:t>)</a:t>
            </a:r>
            <a:r>
              <a:rPr lang="en-GB" sz="2600" dirty="0" smtClean="0">
                <a:solidFill>
                  <a:schemeClr val="tx1"/>
                </a:solidFill>
              </a:rPr>
              <a:t> −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converts 32-bit quantities from host byte order to n/w  byte order.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b="1" dirty="0" smtClean="0">
                <a:solidFill>
                  <a:srgbClr val="FF0000"/>
                </a:solidFill>
              </a:rPr>
              <a:t>unsigned short </a:t>
            </a:r>
            <a:r>
              <a:rPr lang="en-GB" sz="2600" b="1" dirty="0" err="1" smtClean="0">
                <a:solidFill>
                  <a:srgbClr val="FF0000"/>
                </a:solidFill>
              </a:rPr>
              <a:t>ntohs</a:t>
            </a:r>
            <a:r>
              <a:rPr lang="en-GB" sz="2600" b="1" dirty="0" smtClean="0">
                <a:solidFill>
                  <a:srgbClr val="FF0000"/>
                </a:solidFill>
              </a:rPr>
              <a:t> (unsigned short </a:t>
            </a:r>
            <a:r>
              <a:rPr lang="en-GB" sz="2600" b="1" dirty="0" err="1" smtClean="0">
                <a:solidFill>
                  <a:srgbClr val="FF0000"/>
                </a:solidFill>
              </a:rPr>
              <a:t>netshort</a:t>
            </a:r>
            <a:r>
              <a:rPr lang="en-GB" sz="2600" b="1" dirty="0" smtClean="0">
                <a:solidFill>
                  <a:srgbClr val="FF0000"/>
                </a:solidFill>
              </a:rPr>
              <a:t>)</a:t>
            </a:r>
            <a:r>
              <a:rPr lang="en-GB" sz="2600" dirty="0" smtClean="0">
                <a:solidFill>
                  <a:schemeClr val="tx1"/>
                </a:solidFill>
              </a:rPr>
              <a:t> −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 converts 16-bit quantities from n/w byte order to host byte order.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b="1" dirty="0" smtClean="0">
                <a:solidFill>
                  <a:srgbClr val="FF0000"/>
                </a:solidFill>
              </a:rPr>
              <a:t>unsigned long </a:t>
            </a:r>
            <a:r>
              <a:rPr lang="en-GB" sz="2600" b="1" dirty="0" err="1" smtClean="0">
                <a:solidFill>
                  <a:srgbClr val="FF0000"/>
                </a:solidFill>
              </a:rPr>
              <a:t>ntohl</a:t>
            </a:r>
            <a:r>
              <a:rPr lang="en-GB" sz="2600" b="1" dirty="0" smtClean="0">
                <a:solidFill>
                  <a:srgbClr val="FF0000"/>
                </a:solidFill>
              </a:rPr>
              <a:t> (unsigned long </a:t>
            </a:r>
            <a:r>
              <a:rPr lang="en-GB" sz="2600" b="1" dirty="0" err="1" smtClean="0">
                <a:solidFill>
                  <a:srgbClr val="FF0000"/>
                </a:solidFill>
              </a:rPr>
              <a:t>netlong</a:t>
            </a:r>
            <a:r>
              <a:rPr lang="en-GB" sz="2600" b="1" dirty="0" smtClean="0">
                <a:solidFill>
                  <a:srgbClr val="FF0000"/>
                </a:solidFill>
              </a:rPr>
              <a:t>)</a:t>
            </a:r>
            <a:r>
              <a:rPr lang="en-GB" sz="2600" dirty="0" smtClean="0">
                <a:solidFill>
                  <a:schemeClr val="tx1"/>
                </a:solidFill>
              </a:rPr>
              <a:t> −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 converts 32-bit quantities from n/w  byte order to host byte order.</a:t>
            </a:r>
            <a:endParaRPr lang="en-GB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76200"/>
            <a:ext cx="86868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IP Address Functions</a:t>
            </a: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</a:t>
            </a:r>
            <a:r>
              <a:rPr lang="en-GB" sz="2800" b="1" dirty="0" err="1" smtClean="0">
                <a:solidFill>
                  <a:srgbClr val="FF0000"/>
                </a:solidFill>
              </a:rPr>
              <a:t>inet_aton</a:t>
            </a:r>
            <a:r>
              <a:rPr lang="en-GB" sz="2800" b="1" dirty="0" smtClean="0">
                <a:solidFill>
                  <a:srgbClr val="FF0000"/>
                </a:solidFill>
              </a:rPr>
              <a:t> (const char *</a:t>
            </a:r>
            <a:r>
              <a:rPr lang="en-GB" sz="2800" b="1" dirty="0" err="1" smtClean="0">
                <a:solidFill>
                  <a:srgbClr val="FF0000"/>
                </a:solidFill>
              </a:rPr>
              <a:t>strptr</a:t>
            </a:r>
            <a:r>
              <a:rPr lang="en-GB" sz="2800" b="1" dirty="0" smtClean="0">
                <a:solidFill>
                  <a:srgbClr val="FF0000"/>
                </a:solidFill>
              </a:rPr>
              <a:t>, 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in_addr</a:t>
            </a:r>
            <a:r>
              <a:rPr lang="en-GB" sz="2800" b="1" dirty="0" smtClean="0">
                <a:solidFill>
                  <a:srgbClr val="FF0000"/>
                </a:solidFill>
              </a:rPr>
              <a:t> *</a:t>
            </a:r>
            <a:r>
              <a:rPr lang="en-GB" sz="2800" b="1" dirty="0" err="1" smtClean="0">
                <a:solidFill>
                  <a:srgbClr val="FF0000"/>
                </a:solidFill>
              </a:rPr>
              <a:t>addrptr</a:t>
            </a:r>
            <a:r>
              <a:rPr lang="en-GB" sz="2800" b="1" dirty="0" smtClean="0">
                <a:solidFill>
                  <a:srgbClr val="FF0000"/>
                </a:solidFill>
              </a:rPr>
              <a:t>)</a:t>
            </a:r>
            <a:r>
              <a:rPr lang="en-GB" sz="2800" dirty="0" smtClean="0">
                <a:solidFill>
                  <a:schemeClr val="tx1"/>
                </a:solidFill>
              </a:rPr>
              <a:t> − converts the specified string, in the Internet standard dot notation, to a network address, and stores the address in the structure provided. 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It returns 1 if the string is valid and 0 on error.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err="1" smtClean="0">
                <a:solidFill>
                  <a:srgbClr val="FF0000"/>
                </a:solidFill>
              </a:rPr>
              <a:t>in_addr_t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inet_addr</a:t>
            </a:r>
            <a:r>
              <a:rPr lang="en-GB" sz="2800" b="1" dirty="0" smtClean="0">
                <a:solidFill>
                  <a:srgbClr val="FF0000"/>
                </a:solidFill>
              </a:rPr>
              <a:t> (const char *</a:t>
            </a:r>
            <a:r>
              <a:rPr lang="en-GB" sz="2800" b="1" dirty="0" err="1" smtClean="0">
                <a:solidFill>
                  <a:srgbClr val="FF0000"/>
                </a:solidFill>
              </a:rPr>
              <a:t>strptr</a:t>
            </a:r>
            <a:r>
              <a:rPr lang="en-GB" sz="2800" b="1" dirty="0" smtClean="0">
                <a:solidFill>
                  <a:srgbClr val="FF0000"/>
                </a:solidFill>
              </a:rPr>
              <a:t>)</a:t>
            </a:r>
            <a:r>
              <a:rPr lang="en-GB" sz="2800" dirty="0" smtClean="0">
                <a:solidFill>
                  <a:schemeClr val="tx1"/>
                </a:solidFill>
              </a:rPr>
              <a:t> − </a:t>
            </a:r>
          </a:p>
          <a:p>
            <a:pPr algn="l"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converts the specified string, in the Internet standard dot notation, to an integer value suitable for use as an Internet address. It returns a 32-bit binary network byte ordered IPv4 address and INADDR_NONE on error.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char *</a:t>
            </a:r>
            <a:r>
              <a:rPr lang="en-GB" sz="2800" b="1" dirty="0" err="1" smtClean="0">
                <a:solidFill>
                  <a:srgbClr val="FF0000"/>
                </a:solidFill>
              </a:rPr>
              <a:t>inet_ntoa</a:t>
            </a:r>
            <a:r>
              <a:rPr lang="en-GB" sz="2800" b="1" dirty="0" smtClean="0">
                <a:solidFill>
                  <a:srgbClr val="FF0000"/>
                </a:solidFill>
              </a:rPr>
              <a:t> (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in_addr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inaddr</a:t>
            </a:r>
            <a:r>
              <a:rPr lang="en-GB" sz="2800" b="1" dirty="0" smtClean="0">
                <a:solidFill>
                  <a:srgbClr val="FF0000"/>
                </a:solidFill>
              </a:rPr>
              <a:t>)</a:t>
            </a:r>
            <a:r>
              <a:rPr lang="en-GB" sz="2800" dirty="0" smtClean="0">
                <a:solidFill>
                  <a:schemeClr val="tx1"/>
                </a:solidFill>
              </a:rPr>
              <a:t> − This function call converts the specified Internet host address to a string in the Internet standard dot notation.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7630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Socket Core Functions</a:t>
            </a: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socket (int family, int type, int protocol)</a:t>
            </a:r>
            <a:r>
              <a:rPr lang="en-GB" sz="2800" dirty="0" smtClean="0">
                <a:solidFill>
                  <a:schemeClr val="tx1"/>
                </a:solidFill>
              </a:rPr>
              <a:t> −  returns a socket descriptor that you can use in later system calls or it gives you -1 on error.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connect (int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sockaddr</a:t>
            </a:r>
            <a:r>
              <a:rPr lang="en-GB" sz="2800" b="1" dirty="0" smtClean="0">
                <a:solidFill>
                  <a:srgbClr val="FF0000"/>
                </a:solidFill>
              </a:rPr>
              <a:t> *</a:t>
            </a:r>
            <a:r>
              <a:rPr lang="en-GB" sz="2800" b="1" dirty="0" err="1" smtClean="0">
                <a:solidFill>
                  <a:srgbClr val="FF0000"/>
                </a:solidFill>
              </a:rPr>
              <a:t>serv_addr</a:t>
            </a:r>
            <a:r>
              <a:rPr lang="en-GB" sz="2800" b="1" dirty="0" smtClean="0">
                <a:solidFill>
                  <a:srgbClr val="FF0000"/>
                </a:solidFill>
              </a:rPr>
              <a:t>, int </a:t>
            </a:r>
            <a:r>
              <a:rPr lang="en-GB" sz="2800" b="1" dirty="0" err="1" smtClean="0">
                <a:solidFill>
                  <a:srgbClr val="FF0000"/>
                </a:solidFill>
              </a:rPr>
              <a:t>addrlen</a:t>
            </a:r>
            <a:r>
              <a:rPr lang="en-GB" sz="2800" b="1" dirty="0" smtClean="0">
                <a:solidFill>
                  <a:srgbClr val="FF0000"/>
                </a:solidFill>
              </a:rPr>
              <a:t>)</a:t>
            </a:r>
            <a:r>
              <a:rPr lang="en-GB" sz="2800" dirty="0" smtClean="0">
                <a:solidFill>
                  <a:schemeClr val="tx1"/>
                </a:solidFill>
              </a:rPr>
              <a:t> −  is used by a TCP client to establish a connection with a TCP server. This call returns 0 if it successfully connects to the server, otherwise it returns -1.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bind(int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sockaddr</a:t>
            </a:r>
            <a:r>
              <a:rPr lang="en-GB" sz="2800" b="1" dirty="0" smtClean="0">
                <a:solidFill>
                  <a:srgbClr val="FF0000"/>
                </a:solidFill>
              </a:rPr>
              <a:t> *</a:t>
            </a:r>
            <a:r>
              <a:rPr lang="en-GB" sz="2800" b="1" dirty="0" err="1" smtClean="0">
                <a:solidFill>
                  <a:srgbClr val="FF0000"/>
                </a:solidFill>
              </a:rPr>
              <a:t>my_addr,int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addrlen</a:t>
            </a:r>
            <a:r>
              <a:rPr lang="en-GB" sz="2800" b="1" dirty="0" smtClean="0">
                <a:solidFill>
                  <a:srgbClr val="FF0000"/>
                </a:solidFill>
              </a:rPr>
              <a:t>) </a:t>
            </a:r>
            <a:r>
              <a:rPr lang="en-GB" sz="2800" dirty="0" smtClean="0">
                <a:solidFill>
                  <a:schemeClr val="tx1"/>
                </a:solidFill>
              </a:rPr>
              <a:t>−  assigns a local protocol address to a socket. This call returns 0 if it successfully binds to the address, otherwise it returns -1.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7630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Socket Core Functions</a:t>
            </a: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listen(int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int backlog) </a:t>
            </a:r>
            <a:r>
              <a:rPr lang="en-GB" sz="2800" dirty="0" smtClean="0">
                <a:solidFill>
                  <a:schemeClr val="tx1"/>
                </a:solidFill>
              </a:rPr>
              <a:t>−  is called only by a TCP server to listen for the client request. It returns 0 on success, otherwise it returns -1.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accept (int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sockaddr</a:t>
            </a:r>
            <a:r>
              <a:rPr lang="en-GB" sz="2800" b="1" dirty="0" smtClean="0">
                <a:solidFill>
                  <a:srgbClr val="FF0000"/>
                </a:solidFill>
              </a:rPr>
              <a:t> *</a:t>
            </a:r>
            <a:r>
              <a:rPr lang="en-GB" sz="2800" b="1" dirty="0" err="1" smtClean="0">
                <a:solidFill>
                  <a:srgbClr val="FF0000"/>
                </a:solidFill>
              </a:rPr>
              <a:t>cliaddr</a:t>
            </a:r>
            <a:r>
              <a:rPr lang="en-GB" sz="2800" b="1" dirty="0" smtClean="0">
                <a:solidFill>
                  <a:srgbClr val="FF0000"/>
                </a:solidFill>
              </a:rPr>
              <a:t>, </a:t>
            </a:r>
            <a:r>
              <a:rPr lang="en-GB" sz="2800" b="1" dirty="0" err="1" smtClean="0">
                <a:solidFill>
                  <a:srgbClr val="FF0000"/>
                </a:solidFill>
              </a:rPr>
              <a:t>socklen_t</a:t>
            </a:r>
            <a:r>
              <a:rPr lang="en-GB" sz="2800" b="1" dirty="0" smtClean="0">
                <a:solidFill>
                  <a:srgbClr val="FF0000"/>
                </a:solidFill>
              </a:rPr>
              <a:t> *</a:t>
            </a:r>
            <a:r>
              <a:rPr lang="en-GB" sz="2800" b="1" dirty="0" err="1" smtClean="0">
                <a:solidFill>
                  <a:srgbClr val="FF0000"/>
                </a:solidFill>
              </a:rPr>
              <a:t>addrlen</a:t>
            </a:r>
            <a:r>
              <a:rPr lang="en-GB" sz="2800" b="1" dirty="0" smtClean="0">
                <a:solidFill>
                  <a:srgbClr val="FF0000"/>
                </a:solidFill>
              </a:rPr>
              <a:t>)</a:t>
            </a:r>
            <a:r>
              <a:rPr lang="en-GB" sz="2800" dirty="0" smtClean="0">
                <a:solidFill>
                  <a:schemeClr val="tx1"/>
                </a:solidFill>
              </a:rPr>
              <a:t> − is called by a TCP server to accept client requests and to establish actual connection. It returns a non-negative descriptor on success, otherwise it returns -1.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send(int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const void *</a:t>
            </a:r>
            <a:r>
              <a:rPr lang="en-GB" sz="2800" b="1" dirty="0" err="1" smtClean="0">
                <a:solidFill>
                  <a:srgbClr val="FF0000"/>
                </a:solidFill>
              </a:rPr>
              <a:t>msg</a:t>
            </a:r>
            <a:r>
              <a:rPr lang="en-GB" sz="2800" b="1" dirty="0" smtClean="0">
                <a:solidFill>
                  <a:srgbClr val="FF0000"/>
                </a:solidFill>
              </a:rPr>
              <a:t>, int </a:t>
            </a:r>
            <a:r>
              <a:rPr lang="en-GB" sz="2800" b="1" dirty="0" err="1" smtClean="0">
                <a:solidFill>
                  <a:srgbClr val="FF0000"/>
                </a:solidFill>
              </a:rPr>
              <a:t>len</a:t>
            </a:r>
            <a:r>
              <a:rPr lang="en-GB" sz="2800" b="1" dirty="0" smtClean="0">
                <a:solidFill>
                  <a:srgbClr val="FF0000"/>
                </a:solidFill>
              </a:rPr>
              <a:t>, int flags) − </a:t>
            </a:r>
            <a:r>
              <a:rPr lang="en-GB" sz="2800" dirty="0" smtClean="0">
                <a:solidFill>
                  <a:schemeClr val="tx1"/>
                </a:solidFill>
              </a:rPr>
              <a:t> is used to send data over stream sockets or CONNECTED datagram sockets. It returns the number of bytes sent out, otherwise it returns -1.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6106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Socket Core Functions</a:t>
            </a:r>
          </a:p>
          <a:p>
            <a:pPr algn="l">
              <a:spcBef>
                <a:spcPts val="0"/>
              </a:spcBef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</a:t>
            </a:r>
            <a:r>
              <a:rPr lang="en-GB" sz="2800" b="1" dirty="0" err="1" smtClean="0">
                <a:solidFill>
                  <a:srgbClr val="FF0000"/>
                </a:solidFill>
              </a:rPr>
              <a:t>recv</a:t>
            </a:r>
            <a:r>
              <a:rPr lang="en-GB" sz="2800" b="1" dirty="0" smtClean="0">
                <a:solidFill>
                  <a:srgbClr val="FF0000"/>
                </a:solidFill>
              </a:rPr>
              <a:t> (int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void *</a:t>
            </a:r>
            <a:r>
              <a:rPr lang="en-GB" sz="2800" b="1" dirty="0" err="1" smtClean="0">
                <a:solidFill>
                  <a:srgbClr val="FF0000"/>
                </a:solidFill>
              </a:rPr>
              <a:t>buf</a:t>
            </a:r>
            <a:r>
              <a:rPr lang="en-GB" sz="2800" b="1" dirty="0" smtClean="0">
                <a:solidFill>
                  <a:srgbClr val="FF0000"/>
                </a:solidFill>
              </a:rPr>
              <a:t>, int </a:t>
            </a:r>
            <a:r>
              <a:rPr lang="en-GB" sz="2800" b="1" dirty="0" err="1" smtClean="0">
                <a:solidFill>
                  <a:srgbClr val="FF0000"/>
                </a:solidFill>
              </a:rPr>
              <a:t>len</a:t>
            </a:r>
            <a:r>
              <a:rPr lang="en-GB" sz="2800" b="1" dirty="0" smtClean="0">
                <a:solidFill>
                  <a:srgbClr val="FF0000"/>
                </a:solidFill>
              </a:rPr>
              <a:t>, unsigned int flags) − </a:t>
            </a:r>
            <a:r>
              <a:rPr lang="en-GB" sz="2800" dirty="0" smtClean="0">
                <a:solidFill>
                  <a:schemeClr val="tx1"/>
                </a:solidFill>
              </a:rPr>
              <a:t> is used to receive data over stream sockets or CONNECTED datagram sockets. It returns the number of bytes read into the buffer, otherwise it returns -1 on error.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</a:t>
            </a:r>
            <a:r>
              <a:rPr lang="en-GB" sz="2800" b="1" dirty="0" err="1" smtClean="0">
                <a:solidFill>
                  <a:srgbClr val="FF0000"/>
                </a:solidFill>
              </a:rPr>
              <a:t>sendto</a:t>
            </a:r>
            <a:r>
              <a:rPr lang="en-GB" sz="2800" b="1" dirty="0" smtClean="0">
                <a:solidFill>
                  <a:srgbClr val="FF0000"/>
                </a:solidFill>
              </a:rPr>
              <a:t> (int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const void *</a:t>
            </a:r>
            <a:r>
              <a:rPr lang="en-GB" sz="2800" b="1" dirty="0" err="1" smtClean="0">
                <a:solidFill>
                  <a:srgbClr val="FF0000"/>
                </a:solidFill>
              </a:rPr>
              <a:t>msg</a:t>
            </a:r>
            <a:r>
              <a:rPr lang="en-GB" sz="2800" b="1" dirty="0" smtClean="0">
                <a:solidFill>
                  <a:srgbClr val="FF0000"/>
                </a:solidFill>
              </a:rPr>
              <a:t>, int </a:t>
            </a:r>
            <a:r>
              <a:rPr lang="en-GB" sz="2800" b="1" dirty="0" err="1" smtClean="0">
                <a:solidFill>
                  <a:srgbClr val="FF0000"/>
                </a:solidFill>
              </a:rPr>
              <a:t>len</a:t>
            </a:r>
            <a:r>
              <a:rPr lang="en-GB" sz="2800" b="1" dirty="0" smtClean="0">
                <a:solidFill>
                  <a:srgbClr val="FF0000"/>
                </a:solidFill>
              </a:rPr>
              <a:t>, unsigned int flags, const 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sockaddr</a:t>
            </a:r>
            <a:r>
              <a:rPr lang="en-GB" sz="2800" b="1" dirty="0" smtClean="0">
                <a:solidFill>
                  <a:srgbClr val="FF0000"/>
                </a:solidFill>
              </a:rPr>
              <a:t> *to, int </a:t>
            </a:r>
            <a:r>
              <a:rPr lang="en-GB" sz="2800" b="1" dirty="0" err="1" smtClean="0">
                <a:solidFill>
                  <a:srgbClr val="FF0000"/>
                </a:solidFill>
              </a:rPr>
              <a:t>tolen</a:t>
            </a:r>
            <a:r>
              <a:rPr lang="en-GB" sz="2800" b="1" dirty="0" smtClean="0">
                <a:solidFill>
                  <a:srgbClr val="FF0000"/>
                </a:solidFill>
              </a:rPr>
              <a:t>) </a:t>
            </a:r>
            <a:r>
              <a:rPr lang="en-GB" sz="2800" dirty="0" smtClean="0">
                <a:solidFill>
                  <a:schemeClr val="tx1"/>
                </a:solidFill>
              </a:rPr>
              <a:t>−  is used to send data over UNCONNECTED datagram sockets. This call returns the number of bytes sent, otherwise it returns -1 on error.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6106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Socket Core Functions</a:t>
            </a:r>
          </a:p>
          <a:p>
            <a:pPr algn="l">
              <a:spcBef>
                <a:spcPts val="0"/>
              </a:spcBef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</a:t>
            </a:r>
            <a:r>
              <a:rPr lang="en-GB" sz="2800" b="1" dirty="0" err="1" smtClean="0">
                <a:solidFill>
                  <a:srgbClr val="FF0000"/>
                </a:solidFill>
              </a:rPr>
              <a:t>recvfrom</a:t>
            </a:r>
            <a:r>
              <a:rPr lang="en-GB" sz="2800" b="1" dirty="0" smtClean="0">
                <a:solidFill>
                  <a:srgbClr val="FF0000"/>
                </a:solidFill>
              </a:rPr>
              <a:t> (int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void *</a:t>
            </a:r>
            <a:r>
              <a:rPr lang="en-GB" sz="2800" b="1" dirty="0" err="1" smtClean="0">
                <a:solidFill>
                  <a:srgbClr val="FF0000"/>
                </a:solidFill>
              </a:rPr>
              <a:t>buf</a:t>
            </a:r>
            <a:r>
              <a:rPr lang="en-GB" sz="2800" b="1" dirty="0" smtClean="0">
                <a:solidFill>
                  <a:srgbClr val="FF0000"/>
                </a:solidFill>
              </a:rPr>
              <a:t>, int </a:t>
            </a:r>
            <a:r>
              <a:rPr lang="en-GB" sz="2800" b="1" dirty="0" err="1" smtClean="0">
                <a:solidFill>
                  <a:srgbClr val="FF0000"/>
                </a:solidFill>
              </a:rPr>
              <a:t>len</a:t>
            </a:r>
            <a:r>
              <a:rPr lang="en-GB" sz="2800" b="1" dirty="0" smtClean="0">
                <a:solidFill>
                  <a:srgbClr val="FF0000"/>
                </a:solidFill>
              </a:rPr>
              <a:t>, unsigned int flags 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sockaddr</a:t>
            </a:r>
            <a:r>
              <a:rPr lang="en-GB" sz="2800" b="1" dirty="0" smtClean="0">
                <a:solidFill>
                  <a:srgbClr val="FF0000"/>
                </a:solidFill>
              </a:rPr>
              <a:t> *from, int *</a:t>
            </a:r>
            <a:r>
              <a:rPr lang="en-GB" sz="2800" b="1" dirty="0" err="1" smtClean="0">
                <a:solidFill>
                  <a:srgbClr val="FF0000"/>
                </a:solidFill>
              </a:rPr>
              <a:t>fromlen</a:t>
            </a:r>
            <a:r>
              <a:rPr lang="en-GB" sz="2800" b="1" dirty="0" smtClean="0">
                <a:solidFill>
                  <a:srgbClr val="FF0000"/>
                </a:solidFill>
              </a:rPr>
              <a:t>) </a:t>
            </a:r>
            <a:r>
              <a:rPr lang="en-GB" sz="2800" dirty="0" smtClean="0">
                <a:solidFill>
                  <a:schemeClr val="tx1"/>
                </a:solidFill>
              </a:rPr>
              <a:t>−  is used to receive data from UNCONNECTED datagram sockets. returns the number of bytes read into the buffer, otherwise it returns -1 on error.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close (int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) </a:t>
            </a:r>
            <a:r>
              <a:rPr lang="en-GB" sz="2800" dirty="0" smtClean="0">
                <a:solidFill>
                  <a:schemeClr val="tx1"/>
                </a:solidFill>
              </a:rPr>
              <a:t>−  is used to close a communication between the client and the server. returns 0 on success, otherwise it returns -1.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6106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Socket Core Functions</a:t>
            </a:r>
          </a:p>
          <a:p>
            <a:pPr algn="l">
              <a:spcBef>
                <a:spcPts val="0"/>
              </a:spcBef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shutdown (int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int how) </a:t>
            </a:r>
            <a:r>
              <a:rPr lang="en-GB" sz="2800" dirty="0" smtClean="0">
                <a:solidFill>
                  <a:schemeClr val="tx1"/>
                </a:solidFill>
              </a:rPr>
              <a:t>− is used to gracefully close a communication between the client and the server. gives more control in comparison to close function. It returns 0 on success, -1 otherwise.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spcBef>
                <a:spcPts val="0"/>
              </a:spcBef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select (int </a:t>
            </a:r>
            <a:r>
              <a:rPr lang="en-GB" sz="2800" b="1" dirty="0" err="1" smtClean="0">
                <a:solidFill>
                  <a:srgbClr val="FF0000"/>
                </a:solidFill>
              </a:rPr>
              <a:t>nfds</a:t>
            </a:r>
            <a:r>
              <a:rPr lang="en-GB" sz="2800" b="1" dirty="0" smtClean="0">
                <a:solidFill>
                  <a:srgbClr val="FF0000"/>
                </a:solidFill>
              </a:rPr>
              <a:t>, </a:t>
            </a:r>
            <a:r>
              <a:rPr lang="en-GB" sz="2800" b="1" dirty="0" err="1" smtClean="0">
                <a:solidFill>
                  <a:srgbClr val="FF0000"/>
                </a:solidFill>
              </a:rPr>
              <a:t>fd_set</a:t>
            </a:r>
            <a:r>
              <a:rPr lang="en-GB" sz="2800" b="1" dirty="0" smtClean="0">
                <a:solidFill>
                  <a:srgbClr val="FF0000"/>
                </a:solidFill>
              </a:rPr>
              <a:t> *</a:t>
            </a:r>
            <a:r>
              <a:rPr lang="en-GB" sz="2800" b="1" dirty="0" err="1" smtClean="0">
                <a:solidFill>
                  <a:srgbClr val="FF0000"/>
                </a:solidFill>
              </a:rPr>
              <a:t>readfds</a:t>
            </a:r>
            <a:r>
              <a:rPr lang="en-GB" sz="2800" b="1" dirty="0" smtClean="0">
                <a:solidFill>
                  <a:srgbClr val="FF0000"/>
                </a:solidFill>
              </a:rPr>
              <a:t>, </a:t>
            </a:r>
            <a:r>
              <a:rPr lang="en-GB" sz="2800" b="1" dirty="0" err="1" smtClean="0">
                <a:solidFill>
                  <a:srgbClr val="FF0000"/>
                </a:solidFill>
              </a:rPr>
              <a:t>fd_set</a:t>
            </a:r>
            <a:r>
              <a:rPr lang="en-GB" sz="2800" b="1" dirty="0" smtClean="0">
                <a:solidFill>
                  <a:srgbClr val="FF0000"/>
                </a:solidFill>
              </a:rPr>
              <a:t> *</a:t>
            </a:r>
            <a:r>
              <a:rPr lang="en-GB" sz="2800" b="1" dirty="0" err="1" smtClean="0">
                <a:solidFill>
                  <a:srgbClr val="FF0000"/>
                </a:solidFill>
              </a:rPr>
              <a:t>writefds</a:t>
            </a:r>
            <a:r>
              <a:rPr lang="en-GB" sz="2800" b="1" dirty="0" smtClean="0">
                <a:solidFill>
                  <a:srgbClr val="FF0000"/>
                </a:solidFill>
              </a:rPr>
              <a:t>, </a:t>
            </a:r>
            <a:r>
              <a:rPr lang="en-GB" sz="2800" b="1" dirty="0" err="1" smtClean="0">
                <a:solidFill>
                  <a:srgbClr val="FF0000"/>
                </a:solidFill>
              </a:rPr>
              <a:t>fd_set</a:t>
            </a:r>
            <a:r>
              <a:rPr lang="en-GB" sz="2800" b="1" dirty="0" smtClean="0">
                <a:solidFill>
                  <a:srgbClr val="FF0000"/>
                </a:solidFill>
              </a:rPr>
              <a:t> *</a:t>
            </a:r>
            <a:r>
              <a:rPr lang="en-GB" sz="2800" b="1" dirty="0" err="1" smtClean="0">
                <a:solidFill>
                  <a:srgbClr val="FF0000"/>
                </a:solidFill>
              </a:rPr>
              <a:t>errorfds</a:t>
            </a:r>
            <a:r>
              <a:rPr lang="en-GB" sz="2800" b="1" dirty="0" smtClean="0">
                <a:solidFill>
                  <a:srgbClr val="FF0000"/>
                </a:solidFill>
              </a:rPr>
              <a:t>, 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timeval</a:t>
            </a:r>
            <a:r>
              <a:rPr lang="en-GB" sz="2800" b="1" dirty="0" smtClean="0">
                <a:solidFill>
                  <a:srgbClr val="FF0000"/>
                </a:solidFill>
              </a:rPr>
              <a:t> *timeout)</a:t>
            </a:r>
            <a:r>
              <a:rPr lang="en-GB" sz="2800" dirty="0" smtClean="0">
                <a:solidFill>
                  <a:schemeClr val="tx1"/>
                </a:solidFill>
              </a:rPr>
              <a:t> − This function is used to read or write multiple sockets.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6106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Socket Helper Functions</a:t>
            </a: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write (int </a:t>
            </a:r>
            <a:r>
              <a:rPr lang="en-GB" sz="2800" b="1" dirty="0" err="1" smtClean="0">
                <a:solidFill>
                  <a:srgbClr val="FF0000"/>
                </a:solidFill>
              </a:rPr>
              <a:t>fildes</a:t>
            </a:r>
            <a:r>
              <a:rPr lang="en-GB" sz="2800" b="1" dirty="0" smtClean="0">
                <a:solidFill>
                  <a:srgbClr val="FF0000"/>
                </a:solidFill>
              </a:rPr>
              <a:t>, const void *</a:t>
            </a:r>
            <a:r>
              <a:rPr lang="en-GB" sz="2800" b="1" dirty="0" err="1" smtClean="0">
                <a:solidFill>
                  <a:srgbClr val="FF0000"/>
                </a:solidFill>
              </a:rPr>
              <a:t>buf</a:t>
            </a:r>
            <a:r>
              <a:rPr lang="en-GB" sz="2800" b="1" dirty="0" smtClean="0">
                <a:solidFill>
                  <a:srgbClr val="FF0000"/>
                </a:solidFill>
              </a:rPr>
              <a:t>, int </a:t>
            </a:r>
            <a:r>
              <a:rPr lang="en-GB" sz="2800" b="1" dirty="0" err="1" smtClean="0">
                <a:solidFill>
                  <a:srgbClr val="FF0000"/>
                </a:solidFill>
              </a:rPr>
              <a:t>nbyte</a:t>
            </a:r>
            <a:r>
              <a:rPr lang="en-GB" sz="2800" b="1" dirty="0" smtClean="0">
                <a:solidFill>
                  <a:srgbClr val="FF0000"/>
                </a:solidFill>
              </a:rPr>
              <a:t>)</a:t>
            </a:r>
            <a:r>
              <a:rPr lang="en-GB" sz="2800" dirty="0" smtClean="0">
                <a:solidFill>
                  <a:schemeClr val="tx1"/>
                </a:solidFill>
              </a:rPr>
              <a:t> −  attempts to write </a:t>
            </a:r>
            <a:r>
              <a:rPr lang="en-GB" sz="2800" dirty="0" err="1" smtClean="0">
                <a:solidFill>
                  <a:schemeClr val="tx1"/>
                </a:solidFill>
              </a:rPr>
              <a:t>nbyte</a:t>
            </a:r>
            <a:r>
              <a:rPr lang="en-GB" sz="2800" dirty="0" smtClean="0">
                <a:solidFill>
                  <a:schemeClr val="tx1"/>
                </a:solidFill>
              </a:rPr>
              <a:t> bytes from the buffer pointed to by </a:t>
            </a:r>
            <a:r>
              <a:rPr lang="en-GB" sz="2800" dirty="0" err="1" smtClean="0">
                <a:solidFill>
                  <a:schemeClr val="tx1"/>
                </a:solidFill>
              </a:rPr>
              <a:t>buf</a:t>
            </a:r>
            <a:r>
              <a:rPr lang="en-GB" sz="2800" dirty="0" smtClean="0">
                <a:solidFill>
                  <a:schemeClr val="tx1"/>
                </a:solidFill>
              </a:rPr>
              <a:t> to the file associated with the open file descriptor, </a:t>
            </a:r>
            <a:r>
              <a:rPr lang="en-GB" sz="2800" dirty="0" err="1" smtClean="0">
                <a:solidFill>
                  <a:schemeClr val="tx1"/>
                </a:solidFill>
              </a:rPr>
              <a:t>fildes</a:t>
            </a:r>
            <a:r>
              <a:rPr lang="en-GB" sz="2800" dirty="0" smtClean="0">
                <a:solidFill>
                  <a:schemeClr val="tx1"/>
                </a:solidFill>
              </a:rPr>
              <a:t>. Upon successful completion, write() returns the number of bytes actually written to the file associated with </a:t>
            </a:r>
            <a:r>
              <a:rPr lang="en-GB" sz="2800" dirty="0" err="1" smtClean="0">
                <a:solidFill>
                  <a:schemeClr val="tx1"/>
                </a:solidFill>
              </a:rPr>
              <a:t>fildes</a:t>
            </a:r>
            <a:r>
              <a:rPr lang="en-GB" sz="2800" dirty="0" smtClean="0">
                <a:solidFill>
                  <a:schemeClr val="tx1"/>
                </a:solidFill>
              </a:rPr>
              <a:t>. This number is never greater than </a:t>
            </a:r>
            <a:r>
              <a:rPr lang="en-GB" sz="2800" dirty="0" err="1" smtClean="0">
                <a:solidFill>
                  <a:schemeClr val="tx1"/>
                </a:solidFill>
              </a:rPr>
              <a:t>nbyte</a:t>
            </a:r>
            <a:r>
              <a:rPr lang="en-GB" sz="2800" dirty="0" smtClean="0">
                <a:solidFill>
                  <a:schemeClr val="tx1"/>
                </a:solidFill>
              </a:rPr>
              <a:t>. Otherwise, -1 is returned.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read (int </a:t>
            </a:r>
            <a:r>
              <a:rPr lang="en-GB" sz="2800" b="1" dirty="0" err="1" smtClean="0">
                <a:solidFill>
                  <a:srgbClr val="FF0000"/>
                </a:solidFill>
              </a:rPr>
              <a:t>fildes</a:t>
            </a:r>
            <a:r>
              <a:rPr lang="en-GB" sz="2800" b="1" dirty="0" smtClean="0">
                <a:solidFill>
                  <a:srgbClr val="FF0000"/>
                </a:solidFill>
              </a:rPr>
              <a:t>, const void *</a:t>
            </a:r>
            <a:r>
              <a:rPr lang="en-GB" sz="2800" b="1" dirty="0" err="1" smtClean="0">
                <a:solidFill>
                  <a:srgbClr val="FF0000"/>
                </a:solidFill>
              </a:rPr>
              <a:t>buf</a:t>
            </a:r>
            <a:r>
              <a:rPr lang="en-GB" sz="2800" b="1" dirty="0" smtClean="0">
                <a:solidFill>
                  <a:srgbClr val="FF0000"/>
                </a:solidFill>
              </a:rPr>
              <a:t>, int </a:t>
            </a:r>
            <a:r>
              <a:rPr lang="en-GB" sz="2800" b="1" dirty="0" err="1" smtClean="0">
                <a:solidFill>
                  <a:srgbClr val="FF0000"/>
                </a:solidFill>
              </a:rPr>
              <a:t>nbyte</a:t>
            </a:r>
            <a:r>
              <a:rPr lang="en-GB" sz="2800" b="1" dirty="0" smtClean="0">
                <a:solidFill>
                  <a:srgbClr val="FF0000"/>
                </a:solidFill>
              </a:rPr>
              <a:t>)</a:t>
            </a:r>
            <a:r>
              <a:rPr lang="en-GB" sz="2800" dirty="0" smtClean="0">
                <a:solidFill>
                  <a:schemeClr val="tx1"/>
                </a:solidFill>
              </a:rPr>
              <a:t> −  attempts to read </a:t>
            </a:r>
            <a:r>
              <a:rPr lang="en-GB" sz="2800" dirty="0" err="1" smtClean="0">
                <a:solidFill>
                  <a:schemeClr val="tx1"/>
                </a:solidFill>
              </a:rPr>
              <a:t>nbyte</a:t>
            </a:r>
            <a:r>
              <a:rPr lang="en-GB" sz="2800" dirty="0" smtClean="0">
                <a:solidFill>
                  <a:schemeClr val="tx1"/>
                </a:solidFill>
              </a:rPr>
              <a:t> bytes from the file associated with the open file descriptor, </a:t>
            </a:r>
            <a:r>
              <a:rPr lang="en-GB" sz="2800" dirty="0" err="1" smtClean="0">
                <a:solidFill>
                  <a:schemeClr val="tx1"/>
                </a:solidFill>
              </a:rPr>
              <a:t>fildes</a:t>
            </a:r>
            <a:r>
              <a:rPr lang="en-GB" sz="2800" dirty="0" smtClean="0">
                <a:solidFill>
                  <a:schemeClr val="tx1"/>
                </a:solidFill>
              </a:rPr>
              <a:t>, into the buffer pointed to by </a:t>
            </a:r>
            <a:r>
              <a:rPr lang="en-GB" sz="2800" dirty="0" err="1" smtClean="0">
                <a:solidFill>
                  <a:schemeClr val="tx1"/>
                </a:solidFill>
              </a:rPr>
              <a:t>buf</a:t>
            </a:r>
            <a:r>
              <a:rPr lang="en-GB" sz="2800" dirty="0" smtClean="0">
                <a:solidFill>
                  <a:schemeClr val="tx1"/>
                </a:solidFill>
              </a:rPr>
              <a:t>. Upon successful completion, write() returns the number of bytes actually written to the file associated with </a:t>
            </a:r>
            <a:r>
              <a:rPr lang="en-GB" sz="2800" dirty="0" err="1" smtClean="0">
                <a:solidFill>
                  <a:schemeClr val="tx1"/>
                </a:solidFill>
              </a:rPr>
              <a:t>fildes</a:t>
            </a:r>
            <a:r>
              <a:rPr lang="en-GB" sz="2800" dirty="0" smtClean="0">
                <a:solidFill>
                  <a:schemeClr val="tx1"/>
                </a:solidFill>
              </a:rPr>
              <a:t>. This number is never greater than </a:t>
            </a:r>
            <a:r>
              <a:rPr lang="en-GB" sz="2800" dirty="0" err="1" smtClean="0">
                <a:solidFill>
                  <a:schemeClr val="tx1"/>
                </a:solidFill>
              </a:rPr>
              <a:t>nbyte</a:t>
            </a:r>
            <a:r>
              <a:rPr lang="en-GB" sz="2800" dirty="0" smtClean="0">
                <a:solidFill>
                  <a:schemeClr val="tx1"/>
                </a:solidFill>
              </a:rPr>
              <a:t>. Otherwise, -1 is returned.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6106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Socket Helper Functions</a:t>
            </a: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fork (void) </a:t>
            </a:r>
            <a:r>
              <a:rPr lang="en-GB" sz="2800" dirty="0" smtClean="0">
                <a:solidFill>
                  <a:schemeClr val="tx1"/>
                </a:solidFill>
              </a:rPr>
              <a:t>− The fork function creates a new process. The new process, called the child process, will be an exact copy of the calling process (parent process).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void </a:t>
            </a:r>
            <a:r>
              <a:rPr lang="en-GB" sz="2800" b="1" dirty="0" err="1" smtClean="0">
                <a:solidFill>
                  <a:srgbClr val="FF0000"/>
                </a:solidFill>
              </a:rPr>
              <a:t>bzero</a:t>
            </a:r>
            <a:r>
              <a:rPr lang="en-GB" sz="2800" b="1" dirty="0" smtClean="0">
                <a:solidFill>
                  <a:srgbClr val="FF0000"/>
                </a:solidFill>
              </a:rPr>
              <a:t> (void *s, int </a:t>
            </a:r>
            <a:r>
              <a:rPr lang="en-GB" sz="2800" b="1" dirty="0" err="1" smtClean="0">
                <a:solidFill>
                  <a:srgbClr val="FF0000"/>
                </a:solidFill>
              </a:rPr>
              <a:t>nbyte</a:t>
            </a:r>
            <a:r>
              <a:rPr lang="en-GB" sz="2800" b="1" dirty="0" smtClean="0">
                <a:solidFill>
                  <a:srgbClr val="FF0000"/>
                </a:solidFill>
              </a:rPr>
              <a:t>)</a:t>
            </a:r>
            <a:r>
              <a:rPr lang="en-GB" sz="2800" dirty="0" smtClean="0">
                <a:solidFill>
                  <a:schemeClr val="tx1"/>
                </a:solidFill>
              </a:rPr>
              <a:t> − The </a:t>
            </a:r>
            <a:r>
              <a:rPr lang="en-GB" sz="2800" dirty="0" err="1" smtClean="0">
                <a:solidFill>
                  <a:schemeClr val="tx1"/>
                </a:solidFill>
              </a:rPr>
              <a:t>bzero</a:t>
            </a:r>
            <a:r>
              <a:rPr lang="en-GB" sz="2800" dirty="0" smtClean="0">
                <a:solidFill>
                  <a:schemeClr val="tx1"/>
                </a:solidFill>
              </a:rPr>
              <a:t> function places </a:t>
            </a:r>
            <a:r>
              <a:rPr lang="en-GB" sz="2800" dirty="0" err="1" smtClean="0">
                <a:solidFill>
                  <a:schemeClr val="tx1"/>
                </a:solidFill>
              </a:rPr>
              <a:t>nbyte</a:t>
            </a:r>
            <a:r>
              <a:rPr lang="en-GB" sz="2800" dirty="0" smtClean="0">
                <a:solidFill>
                  <a:schemeClr val="tx1"/>
                </a:solidFill>
              </a:rPr>
              <a:t> null bytes in the string s. This function will be used to set all the socket structures with null values.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int </a:t>
            </a:r>
            <a:r>
              <a:rPr lang="en-GB" sz="2800" b="1" dirty="0" err="1" smtClean="0">
                <a:solidFill>
                  <a:srgbClr val="FF0000"/>
                </a:solidFill>
              </a:rPr>
              <a:t>bcmp</a:t>
            </a:r>
            <a:r>
              <a:rPr lang="en-GB" sz="2800" b="1" dirty="0" smtClean="0">
                <a:solidFill>
                  <a:srgbClr val="FF0000"/>
                </a:solidFill>
              </a:rPr>
              <a:t> (const void *s1, const void *s2, int </a:t>
            </a:r>
            <a:r>
              <a:rPr lang="en-GB" sz="2800" b="1" dirty="0" err="1" smtClean="0">
                <a:solidFill>
                  <a:srgbClr val="FF0000"/>
                </a:solidFill>
              </a:rPr>
              <a:t>nbyte</a:t>
            </a:r>
            <a:r>
              <a:rPr lang="en-GB" sz="2800" b="1" dirty="0" smtClean="0">
                <a:solidFill>
                  <a:srgbClr val="FF0000"/>
                </a:solidFill>
              </a:rPr>
              <a:t>)</a:t>
            </a:r>
            <a:r>
              <a:rPr lang="en-GB" sz="2800" dirty="0" smtClean="0">
                <a:solidFill>
                  <a:schemeClr val="tx1"/>
                </a:solidFill>
              </a:rPr>
              <a:t> − The </a:t>
            </a:r>
            <a:r>
              <a:rPr lang="en-GB" sz="2800" dirty="0" err="1" smtClean="0">
                <a:solidFill>
                  <a:schemeClr val="tx1"/>
                </a:solidFill>
              </a:rPr>
              <a:t>bcmp</a:t>
            </a:r>
            <a:r>
              <a:rPr lang="en-GB" sz="2800" dirty="0" smtClean="0">
                <a:solidFill>
                  <a:schemeClr val="tx1"/>
                </a:solidFill>
              </a:rPr>
              <a:t> function compares the byte string s1 against the byte string s2. Both the strings are assumed to be </a:t>
            </a:r>
            <a:r>
              <a:rPr lang="en-GB" sz="2800" dirty="0" err="1" smtClean="0">
                <a:solidFill>
                  <a:schemeClr val="tx1"/>
                </a:solidFill>
              </a:rPr>
              <a:t>nbyte</a:t>
            </a:r>
            <a:r>
              <a:rPr lang="en-GB" sz="2800" dirty="0" smtClean="0">
                <a:solidFill>
                  <a:schemeClr val="tx1"/>
                </a:solidFill>
              </a:rPr>
              <a:t> bytes long.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610600" cy="62484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Socket Helper Functions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void </a:t>
            </a:r>
            <a:r>
              <a:rPr lang="en-GB" sz="2800" b="1" dirty="0" err="1" smtClean="0">
                <a:solidFill>
                  <a:srgbClr val="FF0000"/>
                </a:solidFill>
              </a:rPr>
              <a:t>bcopy</a:t>
            </a:r>
            <a:r>
              <a:rPr lang="en-GB" sz="2800" b="1" dirty="0" smtClean="0">
                <a:solidFill>
                  <a:srgbClr val="FF0000"/>
                </a:solidFill>
              </a:rPr>
              <a:t> (const void *s1, void *s2, int </a:t>
            </a:r>
            <a:r>
              <a:rPr lang="en-GB" sz="2800" b="1" dirty="0" err="1" smtClean="0">
                <a:solidFill>
                  <a:srgbClr val="FF0000"/>
                </a:solidFill>
              </a:rPr>
              <a:t>nbyte</a:t>
            </a:r>
            <a:r>
              <a:rPr lang="en-GB" sz="2800" b="1" dirty="0" smtClean="0">
                <a:solidFill>
                  <a:srgbClr val="FF0000"/>
                </a:solidFill>
              </a:rPr>
              <a:t>)</a:t>
            </a:r>
            <a:r>
              <a:rPr lang="en-GB" sz="2800" dirty="0" smtClean="0">
                <a:solidFill>
                  <a:schemeClr val="tx1"/>
                </a:solidFill>
              </a:rPr>
              <a:t> − The </a:t>
            </a:r>
            <a:r>
              <a:rPr lang="en-GB" sz="2800" dirty="0" err="1" smtClean="0">
                <a:solidFill>
                  <a:schemeClr val="tx1"/>
                </a:solidFill>
              </a:rPr>
              <a:t>bcopy</a:t>
            </a:r>
            <a:r>
              <a:rPr lang="en-GB" sz="2800" dirty="0" smtClean="0">
                <a:solidFill>
                  <a:schemeClr val="tx1"/>
                </a:solidFill>
              </a:rPr>
              <a:t> function copies </a:t>
            </a:r>
            <a:r>
              <a:rPr lang="en-GB" sz="2800" dirty="0" err="1" smtClean="0">
                <a:solidFill>
                  <a:schemeClr val="tx1"/>
                </a:solidFill>
              </a:rPr>
              <a:t>nbyte</a:t>
            </a:r>
            <a:r>
              <a:rPr lang="en-GB" sz="2800" dirty="0" smtClean="0">
                <a:solidFill>
                  <a:schemeClr val="tx1"/>
                </a:solidFill>
              </a:rPr>
              <a:t> bytes from the string s1 to the string s2. Overlapping strings are handled correctly.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void *</a:t>
            </a:r>
            <a:r>
              <a:rPr lang="en-GB" sz="2800" b="1" dirty="0" err="1" smtClean="0">
                <a:solidFill>
                  <a:srgbClr val="FF0000"/>
                </a:solidFill>
              </a:rPr>
              <a:t>memset</a:t>
            </a:r>
            <a:r>
              <a:rPr lang="en-GB" sz="2800" b="1" dirty="0" smtClean="0">
                <a:solidFill>
                  <a:srgbClr val="FF0000"/>
                </a:solidFill>
              </a:rPr>
              <a:t>(void *s, int c, int </a:t>
            </a:r>
            <a:r>
              <a:rPr lang="en-GB" sz="2800" b="1" dirty="0" err="1" smtClean="0">
                <a:solidFill>
                  <a:srgbClr val="FF0000"/>
                </a:solidFill>
              </a:rPr>
              <a:t>nbyte</a:t>
            </a:r>
            <a:r>
              <a:rPr lang="en-GB" sz="2800" b="1" dirty="0" smtClean="0">
                <a:solidFill>
                  <a:srgbClr val="FF0000"/>
                </a:solidFill>
              </a:rPr>
              <a:t>) </a:t>
            </a:r>
            <a:r>
              <a:rPr lang="en-GB" sz="2800" dirty="0" smtClean="0">
                <a:solidFill>
                  <a:schemeClr val="tx1"/>
                </a:solidFill>
              </a:rPr>
              <a:t>− The </a:t>
            </a:r>
            <a:r>
              <a:rPr lang="en-GB" sz="2800" dirty="0" err="1" smtClean="0">
                <a:solidFill>
                  <a:schemeClr val="tx1"/>
                </a:solidFill>
              </a:rPr>
              <a:t>memset</a:t>
            </a:r>
            <a:r>
              <a:rPr lang="en-GB" sz="2800" dirty="0" smtClean="0">
                <a:solidFill>
                  <a:schemeClr val="tx1"/>
                </a:solidFill>
              </a:rPr>
              <a:t> function is also used to set structure variables in the same way as </a:t>
            </a:r>
            <a:r>
              <a:rPr lang="en-GB" sz="2800" dirty="0" err="1" smtClean="0">
                <a:solidFill>
                  <a:schemeClr val="tx1"/>
                </a:solidFill>
              </a:rPr>
              <a:t>bzero</a:t>
            </a:r>
            <a:r>
              <a:rPr lang="en-GB" sz="2800" dirty="0" smtClean="0">
                <a:solidFill>
                  <a:schemeClr val="tx1"/>
                </a:solidFill>
              </a:rPr>
              <a:t>.</a:t>
            </a:r>
          </a:p>
          <a:p>
            <a:pPr algn="l"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3730</Words>
  <Application>Microsoft Office PowerPoint</Application>
  <PresentationFormat>On-screen Show (4:3)</PresentationFormat>
  <Paragraphs>455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Office Theme</vt:lpstr>
      <vt:lpstr>Client - Server Communication - Unix</vt:lpstr>
      <vt:lpstr>Socket creation in C: socket()</vt:lpstr>
      <vt:lpstr>Socket creation in C: socket()</vt:lpstr>
      <vt:lpstr>Socket close in C: close()</vt:lpstr>
      <vt:lpstr>Specifying Addresses</vt:lpstr>
      <vt:lpstr>Slide 6</vt:lpstr>
      <vt:lpstr>Assign address to socket: bind()</vt:lpstr>
      <vt:lpstr>bind()- Example with TCP</vt:lpstr>
      <vt:lpstr>Skipping the bind()</vt:lpstr>
      <vt:lpstr>Establish Connection: connect()</vt:lpstr>
      <vt:lpstr>Incoming Connection: accept()</vt:lpstr>
      <vt:lpstr>Incoming Connection: accept()</vt:lpstr>
      <vt:lpstr>Exchanging data with stream socket</vt:lpstr>
      <vt:lpstr>Exchanging data with stream socket</vt:lpstr>
      <vt:lpstr>Exchanging data with datagram socket</vt:lpstr>
      <vt:lpstr>Exchanging data with datagram socket</vt:lpstr>
      <vt:lpstr>Slide 17</vt:lpstr>
      <vt:lpstr>Iterative TCP Server Algorithm </vt:lpstr>
      <vt:lpstr>Iterative TCP Server Algorithm 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TCP Client Algorithm</vt:lpstr>
      <vt:lpstr>TCP Client Algorithm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UDP Client Algorithm</vt:lpstr>
      <vt:lpstr>UDP Client Algorithm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Windows User</cp:lastModifiedBy>
  <cp:revision>28</cp:revision>
  <dcterms:created xsi:type="dcterms:W3CDTF">2006-08-16T00:00:00Z</dcterms:created>
  <dcterms:modified xsi:type="dcterms:W3CDTF">2020-01-31T17:06:03Z</dcterms:modified>
</cp:coreProperties>
</file>