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ink/ink6.xml" ContentType="application/inkml+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ink/ink14.xml" ContentType="application/inkml+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Default Extension="emf" ContentType="image/x-emf"/>
  <Default Extension="jpeg" ContentType="image/jpeg"/>
  <Override PartName="/ppt/ink/ink17.xml" ContentType="application/inkml+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ink/ink3.xml" ContentType="application/inkml+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ink/ink11.xml" ContentType="application/inkml+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115"/>
  </p:notesMasterIdLst>
  <p:handoutMasterIdLst>
    <p:handoutMasterId r:id="rId116"/>
  </p:handoutMasterIdLst>
  <p:sldIdLst>
    <p:sldId id="390" r:id="rId2"/>
    <p:sldId id="392" r:id="rId3"/>
    <p:sldId id="393" r:id="rId4"/>
    <p:sldId id="394" r:id="rId5"/>
    <p:sldId id="395" r:id="rId6"/>
    <p:sldId id="397" r:id="rId7"/>
    <p:sldId id="398" r:id="rId8"/>
    <p:sldId id="399" r:id="rId9"/>
    <p:sldId id="400" r:id="rId10"/>
    <p:sldId id="401" r:id="rId11"/>
    <p:sldId id="402" r:id="rId12"/>
    <p:sldId id="403" r:id="rId13"/>
    <p:sldId id="404" r:id="rId14"/>
    <p:sldId id="405" r:id="rId15"/>
    <p:sldId id="406" r:id="rId16"/>
    <p:sldId id="408" r:id="rId17"/>
    <p:sldId id="409" r:id="rId18"/>
    <p:sldId id="410" r:id="rId19"/>
    <p:sldId id="411" r:id="rId20"/>
    <p:sldId id="412" r:id="rId21"/>
    <p:sldId id="413" r:id="rId22"/>
    <p:sldId id="414" r:id="rId23"/>
    <p:sldId id="415" r:id="rId24"/>
    <p:sldId id="416" r:id="rId25"/>
    <p:sldId id="419" r:id="rId26"/>
    <p:sldId id="420" r:id="rId27"/>
    <p:sldId id="421" r:id="rId28"/>
    <p:sldId id="422" r:id="rId29"/>
    <p:sldId id="423" r:id="rId30"/>
    <p:sldId id="424" r:id="rId31"/>
    <p:sldId id="427" r:id="rId32"/>
    <p:sldId id="428" r:id="rId33"/>
    <p:sldId id="429" r:id="rId34"/>
    <p:sldId id="430" r:id="rId35"/>
    <p:sldId id="431" r:id="rId36"/>
    <p:sldId id="432" r:id="rId37"/>
    <p:sldId id="475" r:id="rId38"/>
    <p:sldId id="433" r:id="rId39"/>
    <p:sldId id="434" r:id="rId40"/>
    <p:sldId id="435" r:id="rId41"/>
    <p:sldId id="436" r:id="rId42"/>
    <p:sldId id="437" r:id="rId43"/>
    <p:sldId id="438" r:id="rId44"/>
    <p:sldId id="441" r:id="rId45"/>
    <p:sldId id="442" r:id="rId46"/>
    <p:sldId id="443" r:id="rId47"/>
    <p:sldId id="444" r:id="rId48"/>
    <p:sldId id="445" r:id="rId49"/>
    <p:sldId id="446" r:id="rId50"/>
    <p:sldId id="447" r:id="rId51"/>
    <p:sldId id="448" r:id="rId52"/>
    <p:sldId id="449" r:id="rId53"/>
    <p:sldId id="450" r:id="rId54"/>
    <p:sldId id="451" r:id="rId55"/>
    <p:sldId id="452" r:id="rId56"/>
    <p:sldId id="453" r:id="rId57"/>
    <p:sldId id="456" r:id="rId58"/>
    <p:sldId id="457" r:id="rId59"/>
    <p:sldId id="458" r:id="rId60"/>
    <p:sldId id="459" r:id="rId61"/>
    <p:sldId id="460" r:id="rId62"/>
    <p:sldId id="461" r:id="rId63"/>
    <p:sldId id="462" r:id="rId64"/>
    <p:sldId id="463" r:id="rId65"/>
    <p:sldId id="464" r:id="rId66"/>
    <p:sldId id="465" r:id="rId67"/>
    <p:sldId id="466" r:id="rId68"/>
    <p:sldId id="467" r:id="rId69"/>
    <p:sldId id="468" r:id="rId70"/>
    <p:sldId id="469" r:id="rId71"/>
    <p:sldId id="470" r:id="rId72"/>
    <p:sldId id="471" r:id="rId73"/>
    <p:sldId id="472" r:id="rId74"/>
    <p:sldId id="473" r:id="rId75"/>
    <p:sldId id="477" r:id="rId76"/>
    <p:sldId id="478" r:id="rId77"/>
    <p:sldId id="479" r:id="rId78"/>
    <p:sldId id="480" r:id="rId79"/>
    <p:sldId id="481" r:id="rId80"/>
    <p:sldId id="482" r:id="rId81"/>
    <p:sldId id="483" r:id="rId82"/>
    <p:sldId id="484" r:id="rId83"/>
    <p:sldId id="485" r:id="rId84"/>
    <p:sldId id="486" r:id="rId85"/>
    <p:sldId id="487" r:id="rId86"/>
    <p:sldId id="488" r:id="rId87"/>
    <p:sldId id="490" r:id="rId88"/>
    <p:sldId id="491" r:id="rId89"/>
    <p:sldId id="492" r:id="rId90"/>
    <p:sldId id="493" r:id="rId91"/>
    <p:sldId id="494" r:id="rId92"/>
    <p:sldId id="495" r:id="rId93"/>
    <p:sldId id="496" r:id="rId94"/>
    <p:sldId id="497" r:id="rId95"/>
    <p:sldId id="498" r:id="rId96"/>
    <p:sldId id="499" r:id="rId97"/>
    <p:sldId id="500" r:id="rId98"/>
    <p:sldId id="501" r:id="rId99"/>
    <p:sldId id="502" r:id="rId100"/>
    <p:sldId id="503" r:id="rId101"/>
    <p:sldId id="504" r:id="rId102"/>
    <p:sldId id="505" r:id="rId103"/>
    <p:sldId id="507" r:id="rId104"/>
    <p:sldId id="508" r:id="rId105"/>
    <p:sldId id="509" r:id="rId106"/>
    <p:sldId id="510" r:id="rId107"/>
    <p:sldId id="511" r:id="rId108"/>
    <p:sldId id="512" r:id="rId109"/>
    <p:sldId id="513" r:id="rId110"/>
    <p:sldId id="514" r:id="rId111"/>
    <p:sldId id="515" r:id="rId112"/>
    <p:sldId id="516" r:id="rId113"/>
    <p:sldId id="517" r:id="rId114"/>
  </p:sldIdLst>
  <p:sldSz cx="9144000" cy="5143500" type="screen16x9"/>
  <p:notesSz cx="6858000" cy="9144000"/>
  <p:custDataLst>
    <p:tags r:id="rId1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4434" autoAdjust="0"/>
  </p:normalViewPr>
  <p:slideViewPr>
    <p:cSldViewPr snapToGrid="0">
      <p:cViewPr varScale="1">
        <p:scale>
          <a:sx n="111" d="100"/>
          <a:sy n="111" d="100"/>
        </p:scale>
        <p:origin x="-619" y="-77"/>
      </p:cViewPr>
      <p:guideLst>
        <p:guide orient="horz" pos="2160"/>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55" d="100"/>
          <a:sy n="55" d="100"/>
        </p:scale>
        <p:origin x="-2844"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gs" Target="tags/tag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394F4B-DBDD-4BF7-B613-78EDB047F2F9}" type="datetimeFigureOut">
              <a:rPr lang="en-US" smtClean="0"/>
              <a:pPr/>
              <a:t>1/19/2020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01AD7E-7F9D-4576-9772-0B1B702F1F55}" type="slidenum">
              <a:rPr lang="en-US" smtClean="0"/>
              <a:pPr/>
              <a:t>‹#›</a:t>
            </a:fld>
            <a:endParaRPr lang="en-US"/>
          </a:p>
        </p:txBody>
      </p:sp>
    </p:spTree>
    <p:extLst>
      <p:ext uri="{BB962C8B-B14F-4D97-AF65-F5344CB8AC3E}">
        <p14:creationId xmlns:p14="http://schemas.microsoft.com/office/powerpoint/2010/main" xmlns="" val="1635507823"/>
      </p:ext>
    </p:extLst>
  </p:cSld>
  <p:clrMap bg1="lt1" tx1="dk1" bg2="lt2" tx2="dk2" accent1="accent1" accent2="accent2" accent3="accent3" accent4="accent4" accent5="accent5" accent6="accent6" hlink="hlink" folHlink="folHlink"/>
  <p:hf hdr="0" ftr="0" dt="0"/>
</p:handoutMaster>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traceFormat>
        <inkml:channelProperties>
          <inkml:channelProperty channel="X" name="resolution" value="946.47601" units="1/cm"/>
          <inkml:channelProperty channel="Y" name="resolution" value="1676.0614" units="1/cm"/>
          <inkml:channelProperty channel="F" name="resolution" value="1.41944" units="1/deg"/>
        </inkml:channelProperties>
      </inkml:inkSource>
      <inkml:timestamp xml:id="ts0" timeString="2018-03-05T06:11:37.718"/>
    </inkml:context>
    <inkml:brush xml:id="br0">
      <inkml:brushProperty name="width" value="0.05292" units="cm"/>
      <inkml:brushProperty name="height" value="0.05292" units="cm"/>
      <inkml:brushProperty name="color" value="#FF0000"/>
    </inkml:brush>
  </inkml:definitions>
  <inkml:trace contextRef="#ctx0" brushRef="#br0">7982 9548 41,'0'0'1,"0"0"0,0 0 0,0 0-1,0 0 1,0 0-1,0 0 1,0 0-1,0 0 2,0 0-1,0 0 0,0 0 1,0 0 1,0 0-1,0 0 0,0 0 0,0 0-1,0 0 0,0 0 0,0 0 0,0 0-1,0 0 0,0 0 0,0 0 2,0 0-2,0 0 1,0 0 0,0 0 0,0 0 0,0 0 2,0 0 0,0 0 1,0 0-1,0 0 1,0 0-2,0 0-5,0 0-16,0 0-24</inkml:trace>
  <inkml:trace contextRef="#ctx0" brushRef="#br0" timeOffset="2203.049">6326 11973 120,'0'0'4,"0"0"3,0 0 4,0 0 2,0 0-1,0 0 5,-6 0-3,6 0 3,0 0-2,0 0-4,0 0-1,0 0-2,0 0 1,0 0-2,0 0 0,0 0-1,0 0-1,0 0 1,0 0-2,0 0-1,0 0-1,0 0 0,0 0 0,0 0-1,0 0-1,0 0 1,0 0-1,0 0-2,0 0-4,0 4-17,0-4-29,0 0-21</inkml:trace>
  <inkml:trace contextRef="#ctx0" brushRef="#br0" timeOffset="3484.426">8028 11332 45,'0'0'4,"0"0"3,0 0 2,0 0 4,0 0 3,0 0 1,0 0 1,0 0 0,8 6-4,-8-6-3,0 0-12,3 9-41,-3-9-13</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traceFormat>
        <inkml:channelProperties>
          <inkml:channelProperty channel="X" name="resolution" value="946.47601" units="1/cm"/>
          <inkml:channelProperty channel="Y" name="resolution" value="1676.0614" units="1/cm"/>
          <inkml:channelProperty channel="F" name="resolution" value="1.41944" units="1/deg"/>
        </inkml:channelProperties>
      </inkml:inkSource>
      <inkml:timestamp xml:id="ts0" timeString="2018-03-05T05:44:54.022"/>
    </inkml:context>
    <inkml:brush xml:id="br0">
      <inkml:brushProperty name="width" value="0.05292" units="cm"/>
      <inkml:brushProperty name="height" value="0.05292" units="cm"/>
      <inkml:brushProperty name="color" value="#FF0000"/>
    </inkml:brush>
  </inkml:definitions>
  <inkml:trace contextRef="#ctx0" brushRef="#br0">13632 10941 219,'0'0'5,"0"0"4,0 0 1,0 0 3,-9-4 1,9 4 0,0 0 0,-7-4-2,7 4-4,0 0-2,-7 5-2,7 5-3,0 0 0,0 4-1,0 1 1,0 3 0,3-4 1,1-1 1,2-1 3,0-5 0,1-2 3,1-5 3,-1 0 1,0-6 0,-3 0-1,0-5 0,1 1-2,-3-3-1,-2 3-3,0-2-1,-1 2-2,-2 1-2,3 9 0,-6-9-2,6 9-2,0 0-4,-8 2-10,8-2-37,0 16-30,0-5-4</inkml:trace>
  <inkml:trace contextRef="#ctx0" brushRef="#br0" timeOffset="609.3812">13540 11587 170,'0'0'4,"0"0"4,7 5 4,-7-5 0,0 0 2,0 0-1,8 10 0,-8-10 1,0 0-4,2 15-3,-2-7-3,2 1-1,0-1 1,1 2 1,1-3 3,5 2 0,-9-9 2,16 0 2,-8 0 0,1-7 2,-1-1 0,1-2 0,-4-1-2,-1 0-1,-3-1 0,-1 1-2,0 1-2,-4 1-1,-3 2-2,-1 3-1,-1 2-2,-2 1-2,4 2-5,-4 1-12,-2 7-64,13-1-3</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traceFormat>
        <inkml:channelProperties>
          <inkml:channelProperty channel="X" name="resolution" value="946.47601" units="1/cm"/>
          <inkml:channelProperty channel="Y" name="resolution" value="1676.0614" units="1/cm"/>
          <inkml:channelProperty channel="F" name="resolution" value="1.41944" units="1/deg"/>
        </inkml:channelProperties>
      </inkml:inkSource>
      <inkml:timestamp xml:id="ts0" timeString="2018-03-06T05:45:17.420"/>
    </inkml:context>
    <inkml:brush xml:id="br0">
      <inkml:brushProperty name="width" value="0.05292" units="cm"/>
      <inkml:brushProperty name="height" value="0.05292" units="cm"/>
      <inkml:brushProperty name="color" value="#FF0000"/>
    </inkml:brush>
  </inkml:definitions>
  <inkml:trace contextRef="#ctx0" brushRef="#br0">17487 3367 1,'0'0'5,"0"0"0,0 0 3,0 0 4,0 0 3,0 0 4,0 0 3,0 0 4,0 0-5,-5-6 3,5 6-3,0 0-3,0 0-1,0 0-1,0 0-3,0 0-1,0 0-1,0 0-3,0 0 2,0 0-2,0 0-1,0 0-2,-7-4-1,7 4-1,0 0 0,0 0-1,0 0-1,0 0 1,0 0-2,0 0 3,0 0-1,0 0 1,0 0-1,0 0 0,0 0 0,0 0 1,0 0 0,0 0 0,-1 4 0,1-4 0,0 0 1,0 0 0,0 0 0,0 0-1,0 0 2,0 0-2,0 0-1,0 0 0,0 0 0,0 0 0,0 0-1,0 0 3,0 0-3,0 0 1,0 0 0,0 0 0,0 0-1,0 0 1,0 0-1,0 0-1,0 0 1,1 8-2,-1-8 2,6 15-1,-2-8 1,0 3-1,1 2 1,0 0 0,2 0 0,-1-2 1,-1-2 2,-5-8 1,14 8 0,-5-8 2,5-8-2,6-9 1,5-9-6,12-8-17,11-6-61,6-5-4</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traceFormat>
        <inkml:channelProperties>
          <inkml:channelProperty channel="X" name="resolution" value="946.47601" units="1/cm"/>
          <inkml:channelProperty channel="Y" name="resolution" value="1676.0614" units="1/cm"/>
          <inkml:channelProperty channel="F" name="resolution" value="1.41944" units="1/deg"/>
        </inkml:channelProperties>
      </inkml:inkSource>
      <inkml:timestamp xml:id="ts0" timeString="2018-03-05T05:53:48.288"/>
    </inkml:context>
    <inkml:brush xml:id="br0">
      <inkml:brushProperty name="width" value="0.05292" units="cm"/>
      <inkml:brushProperty name="height" value="0.05292" units="cm"/>
      <inkml:brushProperty name="color" value="#FF0000"/>
    </inkml:brush>
  </inkml:definitions>
  <inkml:trace contextRef="#ctx0" brushRef="#br0">19061 613 35,'0'0'4,"0"0"2,0 0 6,0 0 1,0 0 1,0 0 4,0 0 2,0 0 1,0-6-3,0 4-3,0-2-2,0 0-1,0 1-2,0 0-1,0-2-2,1 2-2,-1 3-1,0 0 1,0 0-3,0 0-1,0 0-1,0 0-1,0 0 0,0 0 0,0 0-1,0 0-1,0 0 1,23 0 1,-18 9 1,1-2 0,-1 7 0,0-8 0,2 6 2,-3-3 2,3 3 1,-1-4 5,1 5 2,0-7 3,-7-6 0,0 0 0,0 0 1,0 0-3,10 1-2,-1 2-2,0-3-4,18-11 0,-9-7-2,-18 18 0,18-21-1,1 1-1,-6 3-4,1 2-12,-1-3-23,0 0-38,3 5-5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traceFormat>
        <inkml:channelProperties>
          <inkml:channelProperty channel="X" name="resolution" value="946.47601" units="1/cm"/>
          <inkml:channelProperty channel="Y" name="resolution" value="1676.0614" units="1/cm"/>
          <inkml:channelProperty channel="F" name="resolution" value="1.41944" units="1/deg"/>
        </inkml:channelProperties>
      </inkml:inkSource>
      <inkml:timestamp xml:id="ts0" timeString="2018-03-05T09:55:53.968"/>
    </inkml:context>
    <inkml:brush xml:id="br0">
      <inkml:brushProperty name="width" value="0.05292" units="cm"/>
      <inkml:brushProperty name="height" value="0.05292" units="cm"/>
      <inkml:brushProperty name="color" value="#FF0000"/>
    </inkml:brush>
  </inkml:definitions>
  <inkml:trace contextRef="#ctx0" brushRef="#br0">5385 2727 69,'0'0'2,"0"0"0,0 0-1,0 0 1,5-2 0,-5 2 3,12-2 2,-5 2 3,6-3 3,-2 3 1,7-2 1,-1 2 2,7-2 1,4 2 0,1-3 0,5 3-1,0 0-2,4-2-1,-2 1 0,5 0 0,-1-1-1,-4 0-2,4 0 0,-4 0-2,0-3 0,0 3-1,-2-3 0,-2 1-2,-5 0 2,-2 1-2,-5-2-1,0 3 1,-7 0-2,-5-1 1,-1 0-1,-7 3 1,7 0 0,-7 0 0,0 0 0,0 0 0,0 0 0,0 0-1,0 0 0,0 0-2,0 0-2,0 0-4,0 0-13,0 0-31,0 0-34,1 3-4</inkml:trace>
  <inkml:trace contextRef="#ctx0" brushRef="#br0" timeOffset="1390.6511">11537 2275 138,'0'0'4,"0"0"2,0-8 2,0 8 2,10-14 4,0 3 0,2-5 2,6 0 1,2-6-2,6 0-3,4-3 0,1 0-3,4-3-1,-4 2-2,5-1 2,-6 2-3,0 6 0,-8 0 2,-3 2 0,-4 4 1,-5 4 0,-3 1-1,-7 8-3,6-8-5,-6 8-4,0 0-9,-5-2-14,5 2-23,-8 0-25</inkml:trace>
  <inkml:trace contextRef="#ctx0" brushRef="#br0" timeOffset="2140.6451">11606 2043 156,'0'0'7,"0"0"4,-4-8 3,4 8 2,-3-7 2,3 7 2,-5-9 0,5 9 1,0 0-7,-3-7-5,3 7-3,0 0-5,0 0-2,0 0-2,0 0-1,-6 12 0,4-3 0,-1 6-1,0-1 2,0 6 3,-1 1-1,-2-2 2,2 1 0,0-4-1,-1 0 0,1-5 0,3 1 2,1-12-1,-4 11 2,4-11-1,0 0 2,-1 7 0,1-7 1,0 0 0,0 0 1,0 0-1,0 0-1,0 0 0,0 0-1,0 0-1,0 0-1,0 0 0,0 0 0,0 0-1,0 0 0,0 0 0,0 0-1,0 0 1,0 0 0,4-2 0,-4 2 0,0 0 1,8 0 1,-8 0-1,14 0 1,-4 0 1,1 0 0,2 0-1,1 0 1,1 0 0,2 0 0,1-1-2,0 1 2,-3-1-1,2 0-2,-1 1-9,-1 0-17,-4 1-45,6 3-7</inkml:trace>
  <inkml:trace contextRef="#ctx0" brushRef="#br0" timeOffset="9000.23">11646 3000 113,'0'0'4,"0"0"3,7 3 2,-7-3 1,0 0 1,0 0 0,7 6 1,-7-6-2,0 0-8,0 0-14,0 0-27,0 0-19</inkml:trace>
  <inkml:trace contextRef="#ctx0" brushRef="#br0" timeOffset="9531.3881">11626 3720 178,'0'0'6,"0"0"2,0 0 2,0 0 2,0 0 3,0 0 0,-4-1 1,4 1 2,0 0-6,0 0-1,0 0-4,0 0-2,0 0-1,0 0-3,0 0-9,0 0-23,4 0-39,-4 0-5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2289B-64AB-40F4-866F-7386DC470D15}" type="datetimeFigureOut">
              <a:rPr lang="en-US" smtClean="0"/>
              <a:pPr/>
              <a:t>1/19/2020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38DE6F-CB63-4507-A312-B89798DB40FF}" type="slidenum">
              <a:rPr lang="en-US" smtClean="0"/>
              <a:pPr/>
              <a:t>‹#›</a:t>
            </a:fld>
            <a:endParaRPr lang="en-US"/>
          </a:p>
        </p:txBody>
      </p:sp>
    </p:spTree>
    <p:extLst>
      <p:ext uri="{BB962C8B-B14F-4D97-AF65-F5344CB8AC3E}">
        <p14:creationId xmlns:p14="http://schemas.microsoft.com/office/powerpoint/2010/main" xmlns="" val="20625682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Content Placeholder 16"/>
          <p:cNvSpPr>
            <a:spLocks noGrp="1"/>
          </p:cNvSpPr>
          <p:nvPr>
            <p:ph sz="quarter" idx="10" hasCustomPrompt="1"/>
          </p:nvPr>
        </p:nvSpPr>
        <p:spPr>
          <a:xfrm>
            <a:off x="245444" y="116706"/>
            <a:ext cx="6537960" cy="582930"/>
          </a:xfrm>
          <a:prstGeom prst="rect">
            <a:avLst/>
          </a:prstGeom>
        </p:spPr>
        <p:txBody>
          <a:bodyPr lIns="0" tIns="0" rIns="0" bIns="0" anchor="ctr">
            <a:noAutofit/>
          </a:bodyPr>
          <a:lstStyle>
            <a:lvl1pPr marL="0" indent="0" algn="l">
              <a:lnSpc>
                <a:spcPct val="100000"/>
              </a:lnSpc>
              <a:spcBef>
                <a:spcPts val="0"/>
              </a:spcBef>
              <a:buNone/>
              <a:defRPr sz="2200" b="1" spc="225" baseline="0">
                <a:solidFill>
                  <a:srgbClr val="FF0000"/>
                </a:solidFill>
                <a:effectLst/>
                <a:latin typeface="Arial" pitchFamily="34" charset="0"/>
                <a:cs typeface="Arial" pitchFamily="34" charset="0"/>
              </a:defRPr>
            </a:lvl1pPr>
          </a:lstStyle>
          <a:p>
            <a:pPr lvl="0"/>
            <a:r>
              <a:rPr lang="en-US" dirty="0" smtClean="0"/>
              <a:t>Topic name here</a:t>
            </a:r>
          </a:p>
        </p:txBody>
      </p:sp>
      <p:sp>
        <p:nvSpPr>
          <p:cNvPr id="4" name="Content Placeholder 2"/>
          <p:cNvSpPr>
            <a:spLocks noGrp="1"/>
          </p:cNvSpPr>
          <p:nvPr>
            <p:ph idx="1"/>
          </p:nvPr>
        </p:nvSpPr>
        <p:spPr>
          <a:xfrm>
            <a:off x="274320" y="754380"/>
            <a:ext cx="8503920" cy="4114800"/>
          </a:xfrm>
          <a:prstGeom prst="rect">
            <a:avLst/>
          </a:prstGeom>
        </p:spPr>
        <p:txBody>
          <a:bodyPr lIns="0" rIns="0"/>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dirty="0" smtClean="0"/>
              <a:t>Click to edit Master text styles</a:t>
            </a:r>
          </a:p>
        </p:txBody>
      </p:sp>
      <p:grpSp>
        <p:nvGrpSpPr>
          <p:cNvPr id="5" name="Group 4"/>
          <p:cNvGrpSpPr/>
          <p:nvPr userDrawn="1"/>
        </p:nvGrpSpPr>
        <p:grpSpPr>
          <a:xfrm>
            <a:off x="0" y="685801"/>
            <a:ext cx="7010400" cy="34289"/>
            <a:chOff x="1905000" y="6553200"/>
            <a:chExt cx="7010400" cy="45719"/>
          </a:xfrm>
        </p:grpSpPr>
        <p:sp>
          <p:nvSpPr>
            <p:cNvPr id="6" name="Rectangle 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sp>
          <p:nvSpPr>
            <p:cNvPr id="8" name="Rectangle 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dirty="0" smtClean="0"/>
              <a:t>Click to edit Master title style</a:t>
            </a:r>
            <a:endParaRPr lang="en-IN" dirty="0"/>
          </a:p>
        </p:txBody>
      </p:sp>
    </p:spTree>
    <p:extLst>
      <p:ext uri="{BB962C8B-B14F-4D97-AF65-F5344CB8AC3E}">
        <p14:creationId xmlns:p14="http://schemas.microsoft.com/office/powerpoint/2010/main" xmlns="" val="3118195196"/>
      </p:ext>
    </p:extLst>
  </p:cSld>
  <p:clrMap bg1="lt1" tx1="dk1" bg2="lt2" tx2="dk2" accent1="accent1" accent2="accent2" accent3="accent3" accent4="accent4" accent5="accent5" accent6="accent6" hlink="hlink" folHlink="folHlink"/>
  <p:sldLayoutIdLst>
    <p:sldLayoutId id="2147483682" r:id="rId1"/>
    <p:sldLayoutId id="2147483683" r:id="rId2"/>
  </p:sldLayoutIdLst>
  <p:hf hdr="0" dt="0"/>
  <p:txStyles>
    <p:titleStyle>
      <a:lvl1pPr algn="ctr" rtl="0" eaLnBrk="1" fontAlgn="base" hangingPunct="1">
        <a:spcBef>
          <a:spcPct val="0"/>
        </a:spcBef>
        <a:spcAft>
          <a:spcPct val="0"/>
        </a:spcAft>
        <a:defRPr sz="3300" kern="1200">
          <a:solidFill>
            <a:schemeClr val="tx1"/>
          </a:solidFill>
          <a:latin typeface="Arial" pitchFamily="34" charset="0"/>
          <a:ea typeface="+mj-ea"/>
          <a:cs typeface="Arial" pitchFamily="34" charset="0"/>
        </a:defRPr>
      </a:lvl1pPr>
      <a:lvl2pPr algn="ctr" rtl="0" eaLnBrk="1" fontAlgn="base" hangingPunct="1">
        <a:spcBef>
          <a:spcPct val="0"/>
        </a:spcBef>
        <a:spcAft>
          <a:spcPct val="0"/>
        </a:spcAft>
        <a:defRPr sz="3300">
          <a:solidFill>
            <a:schemeClr val="tx1"/>
          </a:solidFill>
          <a:latin typeface="Calibri" pitchFamily="34" charset="0"/>
        </a:defRPr>
      </a:lvl2pPr>
      <a:lvl3pPr algn="ctr" rtl="0" eaLnBrk="1" fontAlgn="base" hangingPunct="1">
        <a:spcBef>
          <a:spcPct val="0"/>
        </a:spcBef>
        <a:spcAft>
          <a:spcPct val="0"/>
        </a:spcAft>
        <a:defRPr sz="3300">
          <a:solidFill>
            <a:schemeClr val="tx1"/>
          </a:solidFill>
          <a:latin typeface="Calibri" pitchFamily="34" charset="0"/>
        </a:defRPr>
      </a:lvl3pPr>
      <a:lvl4pPr algn="ctr" rtl="0" eaLnBrk="1" fontAlgn="base" hangingPunct="1">
        <a:spcBef>
          <a:spcPct val="0"/>
        </a:spcBef>
        <a:spcAft>
          <a:spcPct val="0"/>
        </a:spcAft>
        <a:defRPr sz="3300">
          <a:solidFill>
            <a:schemeClr val="tx1"/>
          </a:solidFill>
          <a:latin typeface="Calibri" pitchFamily="34" charset="0"/>
        </a:defRPr>
      </a:lvl4pPr>
      <a:lvl5pPr algn="ctr" rtl="0" eaLnBrk="1" fontAlgn="base" hangingPunct="1">
        <a:spcBef>
          <a:spcPct val="0"/>
        </a:spcBef>
        <a:spcAft>
          <a:spcPct val="0"/>
        </a:spcAft>
        <a:defRPr sz="3300">
          <a:solidFill>
            <a:schemeClr val="tx1"/>
          </a:solidFill>
          <a:latin typeface="Calibri" pitchFamily="34" charset="0"/>
        </a:defRPr>
      </a:lvl5pPr>
      <a:lvl6pPr marL="342900" algn="ctr" rtl="0" eaLnBrk="1" fontAlgn="base" hangingPunct="1">
        <a:spcBef>
          <a:spcPct val="0"/>
        </a:spcBef>
        <a:spcAft>
          <a:spcPct val="0"/>
        </a:spcAft>
        <a:defRPr sz="3300">
          <a:solidFill>
            <a:schemeClr val="tx1"/>
          </a:solidFill>
          <a:latin typeface="Calibri" pitchFamily="34" charset="0"/>
        </a:defRPr>
      </a:lvl6pPr>
      <a:lvl7pPr marL="685800" algn="ctr" rtl="0" eaLnBrk="1" fontAlgn="base" hangingPunct="1">
        <a:spcBef>
          <a:spcPct val="0"/>
        </a:spcBef>
        <a:spcAft>
          <a:spcPct val="0"/>
        </a:spcAft>
        <a:defRPr sz="3300">
          <a:solidFill>
            <a:schemeClr val="tx1"/>
          </a:solidFill>
          <a:latin typeface="Calibri" pitchFamily="34" charset="0"/>
        </a:defRPr>
      </a:lvl7pPr>
      <a:lvl8pPr marL="1028700" algn="ctr" rtl="0" eaLnBrk="1" fontAlgn="base" hangingPunct="1">
        <a:spcBef>
          <a:spcPct val="0"/>
        </a:spcBef>
        <a:spcAft>
          <a:spcPct val="0"/>
        </a:spcAft>
        <a:defRPr sz="3300">
          <a:solidFill>
            <a:schemeClr val="tx1"/>
          </a:solidFill>
          <a:latin typeface="Calibri" pitchFamily="34" charset="0"/>
        </a:defRPr>
      </a:lvl8pPr>
      <a:lvl9pPr marL="1371600" algn="ctr" rtl="0" eaLnBrk="1" fontAlgn="base" hangingPunct="1">
        <a:spcBef>
          <a:spcPct val="0"/>
        </a:spcBef>
        <a:spcAft>
          <a:spcPct val="0"/>
        </a:spcAft>
        <a:defRPr sz="3300">
          <a:solidFill>
            <a:schemeClr val="tx1"/>
          </a:solidFill>
          <a:latin typeface="Calibri" pitchFamily="34" charset="0"/>
        </a:defRPr>
      </a:lvl9pPr>
    </p:titleStyle>
    <p:bodyStyle>
      <a:lvl1pPr marL="257175" indent="-257175" algn="l" rtl="0" eaLnBrk="1" fontAlgn="base" hangingPunct="1">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Font typeface="Arial" panose="020B0604020202020204" pitchFamily="34" charset="0"/>
        <a:buChar char="–"/>
        <a:defRPr sz="2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8.emf"/></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53.png"/><Relationship Id="rId1" Type="http://schemas.openxmlformats.org/officeDocument/2006/relationships/slideLayout" Target="../slideLayouts/slideLayout1.xml"/><Relationship Id="rId4" Type="http://schemas.openxmlformats.org/officeDocument/2006/relationships/image" Target="../media/image54.e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7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9.png"/><Relationship Id="rId1" Type="http://schemas.openxmlformats.org/officeDocument/2006/relationships/slideLayout" Target="../slideLayouts/slideLayout1.xml"/><Relationship Id="rId4" Type="http://schemas.openxmlformats.org/officeDocument/2006/relationships/image" Target="../media/image60.emf"/></Relationships>
</file>

<file path=ppt/slides/_rels/slide7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customXml" Target="../ink/ink6.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customXml" Target="../ink/ink11.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In this segment</a:t>
            </a:r>
            <a:endParaRPr lang="en-US" dirty="0"/>
          </a:p>
        </p:txBody>
      </p:sp>
      <p:sp>
        <p:nvSpPr>
          <p:cNvPr id="3" name="Content Placeholder 2"/>
          <p:cNvSpPr>
            <a:spLocks noGrp="1"/>
          </p:cNvSpPr>
          <p:nvPr>
            <p:ph idx="1"/>
          </p:nvPr>
        </p:nvSpPr>
        <p:spPr/>
        <p:txBody>
          <a:bodyPr/>
          <a:lstStyle/>
          <a:p>
            <a:r>
              <a:rPr lang="en-US" dirty="0"/>
              <a:t>Networks</a:t>
            </a:r>
          </a:p>
          <a:p>
            <a:r>
              <a:rPr lang="en-US" dirty="0"/>
              <a:t>Introduction to UDP</a:t>
            </a:r>
          </a:p>
          <a:p>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PROCESS-TO-PROCESS </a:t>
            </a:r>
            <a:r>
              <a:rPr lang="en-US" dirty="0" smtClean="0"/>
              <a:t>DELIVERY</a:t>
            </a:r>
            <a:endParaRPr lang="en-IN" dirty="0"/>
          </a:p>
        </p:txBody>
      </p:sp>
      <p:sp>
        <p:nvSpPr>
          <p:cNvPr id="3" name="Content Placeholder 2"/>
          <p:cNvSpPr>
            <a:spLocks noGrp="1"/>
          </p:cNvSpPr>
          <p:nvPr>
            <p:ph idx="1"/>
          </p:nvPr>
        </p:nvSpPr>
        <p:spPr/>
        <p:txBody>
          <a:bodyPr/>
          <a:lstStyle/>
          <a:p>
            <a:r>
              <a:rPr lang="en-US" dirty="0"/>
              <a:t>The transport layer is responsible for process-to-process delivery— the delivery of a packet, part of a message, from one process to another</a:t>
            </a:r>
          </a:p>
          <a:p>
            <a:r>
              <a:rPr lang="en-US" dirty="0"/>
              <a:t>Two processes communicate in a client/server relationship, </a:t>
            </a:r>
            <a:endParaRPr lang="en-IN" dirty="0"/>
          </a:p>
          <a:p>
            <a:endParaRPr lang="en-IN" dirty="0"/>
          </a:p>
        </p:txBody>
      </p:sp>
    </p:spTree>
    <p:extLst>
      <p:ext uri="{BB962C8B-B14F-4D97-AF65-F5344CB8AC3E}">
        <p14:creationId xmlns:p14="http://schemas.microsoft.com/office/powerpoint/2010/main" xmlns="" val="52202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Types of data </a:t>
            </a:r>
            <a:r>
              <a:rPr lang="en-US" dirty="0" smtClean="0"/>
              <a:t>deliveries</a:t>
            </a:r>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8169" y="783771"/>
            <a:ext cx="9027662" cy="35759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869914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Port </a:t>
            </a:r>
            <a:r>
              <a:rPr lang="en-US" dirty="0" smtClean="0"/>
              <a:t>numbers</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4638" y="825024"/>
            <a:ext cx="8504237" cy="39728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734427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IP addresses versus port </a:t>
            </a:r>
            <a:r>
              <a:rPr lang="en-US" dirty="0" smtClean="0"/>
              <a:t>numbers</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82878" y="754063"/>
            <a:ext cx="5087757"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298995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Socket </a:t>
            </a:r>
            <a:r>
              <a:rPr lang="en-US" dirty="0" smtClean="0"/>
              <a:t>address</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02509" y="1471290"/>
            <a:ext cx="8448496" cy="26803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xmlns="" Requires="p14">
          <p:contentPart p14:bwMode="auto" r:id="rId3">
            <p14:nvContentPartPr>
              <p14:cNvPr id="3" name="Ink 2"/>
              <p14:cNvContentPartPr/>
              <p14:nvPr/>
            </p14:nvContentPartPr>
            <p14:xfrm>
              <a:off x="4874400" y="3935880"/>
              <a:ext cx="47880" cy="264960"/>
            </p14:xfrm>
          </p:contentPart>
        </mc:Choice>
        <mc:Fallback>
          <p:pic>
            <p:nvPicPr>
              <p:cNvPr id="3" name="Ink 2"/>
              <p:cNvPicPr/>
              <p:nvPr/>
            </p:nvPicPr>
            <p:blipFill>
              <a:blip r:embed="rId4" cstate="print"/>
              <a:stretch>
                <a:fillRect/>
              </a:stretch>
            </p:blipFill>
            <p:spPr>
              <a:xfrm>
                <a:off x="4866840" y="3924360"/>
                <a:ext cx="70560" cy="288360"/>
              </a:xfrm>
              <a:prstGeom prst="rect">
                <a:avLst/>
              </a:prstGeom>
            </p:spPr>
          </p:pic>
        </mc:Fallback>
      </mc:AlternateContent>
    </p:spTree>
    <p:extLst>
      <p:ext uri="{BB962C8B-B14F-4D97-AF65-F5344CB8AC3E}">
        <p14:creationId xmlns:p14="http://schemas.microsoft.com/office/powerpoint/2010/main" xmlns="" val="22107933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Multiplexing and </a:t>
            </a:r>
            <a:r>
              <a:rPr lang="en-US" dirty="0" err="1" smtClean="0"/>
              <a:t>demultiplexing</a:t>
            </a:r>
            <a:endParaRPr lang="en-US"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00623" y="754063"/>
            <a:ext cx="7452266"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912011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Position of UDP, TCP, and SCTP in TCP/IP </a:t>
            </a:r>
            <a:r>
              <a:rPr lang="en-US" dirty="0" smtClean="0"/>
              <a:t>suite</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322666" y="492337"/>
            <a:ext cx="6333182" cy="44457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863060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effectLst>
                  <a:outerShdw blurRad="38100" dist="38100" dir="2700000" algn="tl">
                    <a:srgbClr val="C0C0C0"/>
                  </a:outerShdw>
                </a:effectLst>
              </a:rPr>
              <a:t>USER </a:t>
            </a:r>
            <a:r>
              <a:rPr lang="en-US" dirty="0"/>
              <a:t>DATAGRAM</a:t>
            </a:r>
            <a:r>
              <a:rPr lang="en-US" dirty="0">
                <a:effectLst>
                  <a:outerShdw blurRad="38100" dist="38100" dir="2700000" algn="tl">
                    <a:srgbClr val="C0C0C0"/>
                  </a:outerShdw>
                </a:effectLst>
              </a:rPr>
              <a:t> PROTOCOL (UDP</a:t>
            </a:r>
            <a:r>
              <a:rPr lang="en-US" dirty="0" smtClean="0">
                <a:effectLst>
                  <a:outerShdw blurRad="38100" dist="38100" dir="2700000" algn="tl">
                    <a:srgbClr val="C0C0C0"/>
                  </a:outerShdw>
                </a:effectLst>
              </a:rPr>
              <a:t>)</a:t>
            </a:r>
            <a:endParaRPr lang="en-IN" dirty="0"/>
          </a:p>
        </p:txBody>
      </p:sp>
      <p:sp>
        <p:nvSpPr>
          <p:cNvPr id="3" name="Content Placeholder 2"/>
          <p:cNvSpPr>
            <a:spLocks noGrp="1"/>
          </p:cNvSpPr>
          <p:nvPr>
            <p:ph idx="1"/>
          </p:nvPr>
        </p:nvSpPr>
        <p:spPr/>
        <p:txBody>
          <a:bodyPr/>
          <a:lstStyle/>
          <a:p>
            <a:pPr marL="285750" indent="-285750"/>
            <a:r>
              <a:rPr lang="en-US" dirty="0">
                <a:solidFill>
                  <a:prstClr val="black"/>
                </a:solidFill>
              </a:rPr>
              <a:t>The User Datagram Protocol (UDP) is called a connectionless, unreliable transport protocol</a:t>
            </a:r>
          </a:p>
          <a:p>
            <a:pPr marL="285750" indent="-285750"/>
            <a:r>
              <a:rPr lang="en-US" dirty="0">
                <a:solidFill>
                  <a:prstClr val="black"/>
                </a:solidFill>
              </a:rPr>
              <a:t>It does not add anything to the services of IP except to provide process-to-process communication instead of host-to-host communication</a:t>
            </a:r>
          </a:p>
          <a:p>
            <a:endParaRPr lang="en-IN" dirty="0"/>
          </a:p>
        </p:txBody>
      </p:sp>
    </p:spTree>
    <p:extLst>
      <p:ext uri="{BB962C8B-B14F-4D97-AF65-F5344CB8AC3E}">
        <p14:creationId xmlns:p14="http://schemas.microsoft.com/office/powerpoint/2010/main" xmlns="" val="10488713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Well-known ports used with </a:t>
            </a:r>
            <a:r>
              <a:rPr lang="en-US" dirty="0" smtClean="0"/>
              <a:t>UDP</a:t>
            </a:r>
            <a:endParaRPr lang="en-US" dirty="0"/>
          </a:p>
        </p:txBody>
      </p:sp>
      <p:grpSp>
        <p:nvGrpSpPr>
          <p:cNvPr id="4" name="Group 3"/>
          <p:cNvGrpSpPr>
            <a:grpSpLocks/>
          </p:cNvGrpSpPr>
          <p:nvPr/>
        </p:nvGrpSpPr>
        <p:grpSpPr bwMode="auto">
          <a:xfrm>
            <a:off x="537072" y="625643"/>
            <a:ext cx="8139706" cy="4474278"/>
            <a:chOff x="184" y="978"/>
            <a:chExt cx="5391" cy="4328"/>
          </a:xfrm>
        </p:grpSpPr>
        <p:pic>
          <p:nvPicPr>
            <p:cNvPr id="5"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4" y="978"/>
              <a:ext cx="5391" cy="1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95" y="2160"/>
              <a:ext cx="5369" cy="31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xmlns="" val="13694051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In UNIX, the well-known ports are stored in a file called /</a:t>
            </a:r>
            <a:r>
              <a:rPr lang="en-US" dirty="0" err="1"/>
              <a:t>etc</a:t>
            </a:r>
            <a:r>
              <a:rPr lang="en-US" dirty="0"/>
              <a:t>/services. </a:t>
            </a:r>
          </a:p>
          <a:p>
            <a:r>
              <a:rPr lang="en-US" dirty="0"/>
              <a:t>Each line in this file gives the name of the server and the well-known port number. </a:t>
            </a:r>
          </a:p>
          <a:p>
            <a:r>
              <a:rPr lang="en-US" dirty="0"/>
              <a:t>We can use the </a:t>
            </a:r>
            <a:r>
              <a:rPr lang="en-US" dirty="0" err="1"/>
              <a:t>grep</a:t>
            </a:r>
            <a:r>
              <a:rPr lang="en-US" dirty="0"/>
              <a:t> utility to extract the line corresponding to the desired application. </a:t>
            </a:r>
          </a:p>
          <a:p>
            <a:r>
              <a:rPr lang="en-US" dirty="0"/>
              <a:t>The following shows the port for FTP. </a:t>
            </a:r>
          </a:p>
          <a:p>
            <a:r>
              <a:rPr lang="en-US" dirty="0"/>
              <a:t>Note that FTP can use port 21 with either UDP or TCP.</a:t>
            </a:r>
          </a:p>
          <a:p>
            <a:endParaRPr lang="en-IN" dirty="0"/>
          </a:p>
          <a:p>
            <a:endParaRPr lang="en-IN" dirty="0"/>
          </a:p>
        </p:txBody>
      </p:sp>
      <p:pic>
        <p:nvPicPr>
          <p:cNvPr id="5" name="Picture 1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362200" y="3756422"/>
            <a:ext cx="4059238" cy="929879"/>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311693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User datagram </a:t>
            </a:r>
            <a:r>
              <a:rPr lang="en-US" dirty="0" smtClean="0"/>
              <a:t>format</a:t>
            </a:r>
            <a:endParaRPr lang="en-IN" dirty="0"/>
          </a:p>
        </p:txBody>
      </p:sp>
      <p:pic>
        <p:nvPicPr>
          <p:cNvPr id="5" name="Content Placeholder 4"/>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4638" y="953867"/>
            <a:ext cx="8504237" cy="37151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374175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err="1"/>
              <a:t>Pseudoheader</a:t>
            </a:r>
            <a:r>
              <a:rPr lang="en-US" dirty="0"/>
              <a:t> for checksum </a:t>
            </a:r>
            <a:r>
              <a:rPr lang="en-US" dirty="0" smtClean="0"/>
              <a:t>calculation</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63427" y="754063"/>
            <a:ext cx="6326659"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2783324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65906"/>
            <a:ext cx="6537960" cy="582930"/>
          </a:xfrm>
        </p:spPr>
        <p:txBody>
          <a:bodyPr/>
          <a:lstStyle/>
          <a:p>
            <a:r>
              <a:rPr lang="en-US" dirty="0"/>
              <a:t>Checksum calculation of a simple UDP user </a:t>
            </a:r>
            <a:r>
              <a:rPr lang="en-US" dirty="0" smtClean="0"/>
              <a:t>datagram</a:t>
            </a:r>
            <a:endParaRPr lang="en-US"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4638" y="859671"/>
            <a:ext cx="8504237" cy="39035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xmlns="" Requires="p14">
          <p:contentPart p14:bwMode="auto" r:id="rId3">
            <p14:nvContentPartPr>
              <p14:cNvPr id="3" name="Ink 2"/>
              <p14:cNvContentPartPr/>
              <p14:nvPr/>
            </p14:nvContentPartPr>
            <p14:xfrm>
              <a:off x="6861960" y="191520"/>
              <a:ext cx="94680" cy="54720"/>
            </p14:xfrm>
          </p:contentPart>
        </mc:Choice>
        <mc:Fallback>
          <p:pic>
            <p:nvPicPr>
              <p:cNvPr id="3" name="Ink 2"/>
              <p:cNvPicPr/>
              <p:nvPr/>
            </p:nvPicPr>
            <p:blipFill>
              <a:blip r:embed="rId4" cstate="print"/>
              <a:stretch>
                <a:fillRect/>
              </a:stretch>
            </p:blipFill>
            <p:spPr>
              <a:xfrm>
                <a:off x="6852960" y="184320"/>
                <a:ext cx="110880" cy="74520"/>
              </a:xfrm>
              <a:prstGeom prst="rect">
                <a:avLst/>
              </a:prstGeom>
            </p:spPr>
          </p:pic>
        </mc:Fallback>
      </mc:AlternateContent>
    </p:spTree>
    <p:extLst>
      <p:ext uri="{BB962C8B-B14F-4D97-AF65-F5344CB8AC3E}">
        <p14:creationId xmlns:p14="http://schemas.microsoft.com/office/powerpoint/2010/main" xmlns="" val="39001889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Queues in </a:t>
            </a:r>
            <a:r>
              <a:rPr lang="en-US" dirty="0" smtClean="0"/>
              <a:t>UDP</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4638" y="849221"/>
            <a:ext cx="8504237" cy="39244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17808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In this segment</a:t>
            </a:r>
            <a:endParaRPr lang="en-US" dirty="0"/>
          </a:p>
        </p:txBody>
      </p:sp>
      <p:sp>
        <p:nvSpPr>
          <p:cNvPr id="3" name="Content Placeholder 2"/>
          <p:cNvSpPr>
            <a:spLocks noGrp="1"/>
          </p:cNvSpPr>
          <p:nvPr>
            <p:ph idx="1"/>
          </p:nvPr>
        </p:nvSpPr>
        <p:spPr/>
        <p:txBody>
          <a:bodyPr/>
          <a:lstStyle/>
          <a:p>
            <a:r>
              <a:rPr lang="en-US" dirty="0"/>
              <a:t>Connection oriented protocols</a:t>
            </a:r>
            <a:endParaRPr lang="en-IN" dirty="0"/>
          </a:p>
          <a:p>
            <a:r>
              <a:rPr lang="en-US" dirty="0"/>
              <a:t>Transport Control Protocol</a:t>
            </a:r>
          </a:p>
          <a:p>
            <a:endParaRPr lang="en-US" dirty="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TCP</a:t>
            </a:r>
            <a:endParaRPr lang="en-IN" dirty="0"/>
          </a:p>
        </p:txBody>
      </p:sp>
      <p:sp>
        <p:nvSpPr>
          <p:cNvPr id="3" name="Content Placeholder 2"/>
          <p:cNvSpPr>
            <a:spLocks noGrp="1"/>
          </p:cNvSpPr>
          <p:nvPr>
            <p:ph idx="1"/>
          </p:nvPr>
        </p:nvSpPr>
        <p:spPr/>
        <p:txBody>
          <a:bodyPr/>
          <a:lstStyle/>
          <a:p>
            <a:r>
              <a:rPr lang="en-US" dirty="0"/>
              <a:t>TCP is a connection-oriented protocol</a:t>
            </a:r>
          </a:p>
          <a:p>
            <a:r>
              <a:rPr lang="en-US" dirty="0"/>
              <a:t>It creates a virtual connection between two TCPs to send data</a:t>
            </a:r>
          </a:p>
          <a:p>
            <a:r>
              <a:rPr lang="en-US" dirty="0"/>
              <a:t>In addition, TCP uses flow and error control mechanisms at the transport level </a:t>
            </a:r>
          </a:p>
          <a:p>
            <a:endParaRPr lang="en-IN" dirty="0"/>
          </a:p>
          <a:p>
            <a:endParaRPr lang="en-IN" dirty="0"/>
          </a:p>
        </p:txBody>
      </p:sp>
    </p:spTree>
    <p:extLst>
      <p:ext uri="{BB962C8B-B14F-4D97-AF65-F5344CB8AC3E}">
        <p14:creationId xmlns:p14="http://schemas.microsoft.com/office/powerpoint/2010/main" xmlns="" val="35016661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Stream </a:t>
            </a:r>
            <a:r>
              <a:rPr lang="en-US" dirty="0" smtClean="0"/>
              <a:t>delivery</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4638" y="1230097"/>
            <a:ext cx="8504237" cy="31627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455345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Sending and receiving </a:t>
            </a:r>
            <a:r>
              <a:rPr lang="en-US" dirty="0" smtClean="0"/>
              <a:t>buffers</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989288" y="754063"/>
            <a:ext cx="7074936"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xmlns="" Requires="p14">
          <p:contentPart p14:bwMode="auto" r:id="rId3">
            <p14:nvContentPartPr>
              <p14:cNvPr id="3" name="Ink 2"/>
              <p14:cNvContentPartPr/>
              <p14:nvPr/>
            </p14:nvContentPartPr>
            <p14:xfrm>
              <a:off x="2275200" y="3437280"/>
              <a:ext cx="619200" cy="874800"/>
            </p14:xfrm>
          </p:contentPart>
        </mc:Choice>
        <mc:Fallback>
          <p:pic>
            <p:nvPicPr>
              <p:cNvPr id="3" name="Ink 2"/>
              <p:cNvPicPr/>
              <p:nvPr/>
            </p:nvPicPr>
            <p:blipFill>
              <a:blip r:embed="rId4" cstate="print"/>
              <a:stretch>
                <a:fillRect/>
              </a:stretch>
            </p:blipFill>
            <p:spPr>
              <a:xfrm>
                <a:off x="2264040" y="3432240"/>
                <a:ext cx="636480" cy="890280"/>
              </a:xfrm>
              <a:prstGeom prst="rect">
                <a:avLst/>
              </a:prstGeom>
            </p:spPr>
          </p:pic>
        </mc:Fallback>
      </mc:AlternateContent>
    </p:spTree>
    <p:extLst>
      <p:ext uri="{BB962C8B-B14F-4D97-AF65-F5344CB8AC3E}">
        <p14:creationId xmlns:p14="http://schemas.microsoft.com/office/powerpoint/2010/main" xmlns="" val="6988997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TCP segment </a:t>
            </a:r>
            <a:r>
              <a:rPr lang="en-US" dirty="0" smtClean="0"/>
              <a:t>format</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83191" y="754063"/>
            <a:ext cx="7287131"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6223500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Control </a:t>
            </a:r>
            <a:r>
              <a:rPr lang="en-US" dirty="0" smtClean="0"/>
              <a:t>field</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4638" y="1911187"/>
            <a:ext cx="8504237" cy="18005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981777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Connection establishment using three-way </a:t>
            </a:r>
            <a:r>
              <a:rPr lang="en-US" dirty="0" smtClean="0"/>
              <a:t>handshaking</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40325" y="754063"/>
            <a:ext cx="5772863"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330274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Data </a:t>
            </a:r>
            <a:r>
              <a:rPr lang="en-US" dirty="0" smtClean="0"/>
              <a:t>transfer</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4" y="75770"/>
            <a:ext cx="4353104" cy="50451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7149138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Connection termination using three-way </a:t>
            </a:r>
            <a:r>
              <a:rPr lang="en-US" dirty="0" smtClean="0"/>
              <a:t>handshaking</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22192" y="754063"/>
            <a:ext cx="5809129"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0770604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In this segment</a:t>
            </a:r>
            <a:endParaRPr lang="en-US" dirty="0"/>
          </a:p>
        </p:txBody>
      </p:sp>
      <p:sp>
        <p:nvSpPr>
          <p:cNvPr id="3" name="Content Placeholder 2"/>
          <p:cNvSpPr>
            <a:spLocks noGrp="1"/>
          </p:cNvSpPr>
          <p:nvPr>
            <p:ph idx="1"/>
          </p:nvPr>
        </p:nvSpPr>
        <p:spPr/>
        <p:txBody>
          <a:bodyPr/>
          <a:lstStyle/>
          <a:p>
            <a:r>
              <a:rPr lang="en-US" dirty="0"/>
              <a:t>Client-Sever</a:t>
            </a:r>
            <a:endParaRPr lang="en-IN" dirty="0"/>
          </a:p>
          <a:p>
            <a:r>
              <a:rPr lang="en-US" dirty="0"/>
              <a:t>Network applications</a:t>
            </a:r>
          </a:p>
          <a:p>
            <a:r>
              <a:rPr lang="en-US" dirty="0"/>
              <a:t>TCP/IP sockets</a:t>
            </a:r>
          </a:p>
          <a:p>
            <a:r>
              <a:rPr lang="en-US" dirty="0"/>
              <a:t>Server</a:t>
            </a:r>
          </a:p>
          <a:p>
            <a:endParaRPr lang="en-US" dirty="0"/>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A Client-Server Exchange</a:t>
            </a:r>
            <a:endParaRPr lang="en-IN" dirty="0"/>
          </a:p>
        </p:txBody>
      </p:sp>
      <p:sp>
        <p:nvSpPr>
          <p:cNvPr id="3" name="Content Placeholder 2"/>
          <p:cNvSpPr>
            <a:spLocks noGrp="1"/>
          </p:cNvSpPr>
          <p:nvPr>
            <p:ph idx="1"/>
          </p:nvPr>
        </p:nvSpPr>
        <p:spPr/>
        <p:txBody>
          <a:bodyPr/>
          <a:lstStyle/>
          <a:p>
            <a:r>
              <a:rPr lang="en-US" dirty="0"/>
              <a:t>A </a:t>
            </a:r>
            <a:r>
              <a:rPr lang="en-US" i="1" dirty="0">
                <a:solidFill>
                  <a:srgbClr val="FF0000"/>
                </a:solidFill>
              </a:rPr>
              <a:t>server</a:t>
            </a:r>
            <a:r>
              <a:rPr lang="en-US" dirty="0"/>
              <a:t> process </a:t>
            </a:r>
            <a:r>
              <a:rPr lang="en-US" dirty="0" smtClean="0"/>
              <a:t>one </a:t>
            </a:r>
            <a:r>
              <a:rPr lang="en-US" dirty="0"/>
              <a:t>or more </a:t>
            </a:r>
            <a:r>
              <a:rPr lang="en-US" i="1" dirty="0">
                <a:solidFill>
                  <a:srgbClr val="FF0000"/>
                </a:solidFill>
              </a:rPr>
              <a:t>client</a:t>
            </a:r>
            <a:r>
              <a:rPr lang="en-US" i="1" dirty="0"/>
              <a:t> </a:t>
            </a:r>
            <a:r>
              <a:rPr lang="en-US" dirty="0"/>
              <a:t>processes</a:t>
            </a:r>
          </a:p>
          <a:p>
            <a:r>
              <a:rPr lang="en-US" dirty="0"/>
              <a:t>Server manages some </a:t>
            </a:r>
            <a:r>
              <a:rPr lang="en-US" i="1" dirty="0">
                <a:solidFill>
                  <a:srgbClr val="FF0000"/>
                </a:solidFill>
              </a:rPr>
              <a:t>resource</a:t>
            </a:r>
            <a:r>
              <a:rPr lang="en-US" dirty="0"/>
              <a:t>.</a:t>
            </a:r>
          </a:p>
          <a:p>
            <a:r>
              <a:rPr lang="en-US" dirty="0"/>
              <a:t>Server provides</a:t>
            </a:r>
            <a:r>
              <a:rPr lang="en-US" i="1" dirty="0"/>
              <a:t> </a:t>
            </a:r>
            <a:r>
              <a:rPr lang="en-US" i="1" dirty="0">
                <a:solidFill>
                  <a:srgbClr val="FF0000"/>
                </a:solidFill>
              </a:rPr>
              <a:t>service</a:t>
            </a:r>
            <a:r>
              <a:rPr lang="en-US" dirty="0"/>
              <a:t> by manipulating resource for clients.</a:t>
            </a:r>
          </a:p>
          <a:p>
            <a:endParaRPr lang="en-IN" dirty="0"/>
          </a:p>
        </p:txBody>
      </p:sp>
      <p:grpSp>
        <p:nvGrpSpPr>
          <p:cNvPr id="5" name="Group 15"/>
          <p:cNvGrpSpPr/>
          <p:nvPr/>
        </p:nvGrpSpPr>
        <p:grpSpPr>
          <a:xfrm>
            <a:off x="793727" y="2000634"/>
            <a:ext cx="7465105" cy="2107436"/>
            <a:chOff x="848633" y="3614461"/>
            <a:chExt cx="7465105" cy="2809913"/>
          </a:xfrm>
        </p:grpSpPr>
        <p:sp>
          <p:nvSpPr>
            <p:cNvPr id="17" name="Oval 16"/>
            <p:cNvSpPr>
              <a:spLocks noChangeArrowheads="1"/>
            </p:cNvSpPr>
            <p:nvPr/>
          </p:nvSpPr>
          <p:spPr bwMode="auto">
            <a:xfrm>
              <a:off x="1600200" y="3840163"/>
              <a:ext cx="1203325" cy="796925"/>
            </a:xfrm>
            <a:prstGeom prst="ellipse">
              <a:avLst/>
            </a:prstGeom>
            <a:solidFill>
              <a:srgbClr val="CCFFFF"/>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tx1"/>
                    </a:outerShdw>
                  </a:effectLst>
                </a14:hiddenEffects>
              </a:ext>
            </a:extLst>
          </p:spPr>
          <p:txBody>
            <a:bodyPr wrap="none" lIns="91430" tIns="45716" rIns="91430" bIns="457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2813" eaLnBrk="0" hangingPunct="0"/>
              <a:r>
                <a:rPr lang="en-US" sz="1600">
                  <a:solidFill>
                    <a:prstClr val="black"/>
                  </a:solidFill>
                </a:rPr>
                <a:t>Client</a:t>
              </a:r>
            </a:p>
            <a:p>
              <a:pPr algn="ctr" defTabSz="912813" eaLnBrk="0" hangingPunct="0"/>
              <a:r>
                <a:rPr lang="en-US" sz="1600">
                  <a:solidFill>
                    <a:prstClr val="black"/>
                  </a:solidFill>
                </a:rPr>
                <a:t>process</a:t>
              </a:r>
            </a:p>
          </p:txBody>
        </p:sp>
        <p:sp>
          <p:nvSpPr>
            <p:cNvPr id="18" name="Line 4"/>
            <p:cNvSpPr>
              <a:spLocks noChangeShapeType="1"/>
            </p:cNvSpPr>
            <p:nvPr/>
          </p:nvSpPr>
          <p:spPr bwMode="auto">
            <a:xfrm flipH="1">
              <a:off x="2697163" y="4025900"/>
              <a:ext cx="2560637" cy="0"/>
            </a:xfrm>
            <a:prstGeom prst="line">
              <a:avLst/>
            </a:prstGeom>
            <a:noFill/>
            <a:ln w="12700">
              <a:solidFill>
                <a:schemeClr val="tx1"/>
              </a:solidFill>
              <a:prstDash val="dash"/>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tx1"/>
                    </a:outerShdw>
                  </a:effectLst>
                </a14:hiddenEffects>
              </a:ext>
            </a:extLst>
          </p:spPr>
          <p:txBody>
            <a:bodyPr lIns="91577" tIns="45789" rIns="91577" bIns="45789"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19" name="Oval 18"/>
            <p:cNvSpPr>
              <a:spLocks noChangeArrowheads="1"/>
            </p:cNvSpPr>
            <p:nvPr/>
          </p:nvSpPr>
          <p:spPr bwMode="auto">
            <a:xfrm>
              <a:off x="5181600" y="3840163"/>
              <a:ext cx="1203325" cy="796925"/>
            </a:xfrm>
            <a:prstGeom prst="ellipse">
              <a:avLst/>
            </a:prstGeom>
            <a:solidFill>
              <a:srgbClr val="CCFFFF"/>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tx1"/>
                    </a:outerShdw>
                  </a:effectLst>
                </a14:hiddenEffects>
              </a:ext>
            </a:extLst>
          </p:spPr>
          <p:txBody>
            <a:bodyPr wrap="none" lIns="91430" tIns="45716" rIns="91430" bIns="457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2813" eaLnBrk="0" hangingPunct="0"/>
              <a:r>
                <a:rPr lang="en-US" sz="1600">
                  <a:solidFill>
                    <a:prstClr val="black"/>
                  </a:solidFill>
                </a:rPr>
                <a:t>Server</a:t>
              </a:r>
            </a:p>
            <a:p>
              <a:pPr algn="ctr" defTabSz="912813" eaLnBrk="0" hangingPunct="0"/>
              <a:r>
                <a:rPr lang="en-US" sz="1600">
                  <a:solidFill>
                    <a:prstClr val="black"/>
                  </a:solidFill>
                </a:rPr>
                <a:t>process</a:t>
              </a:r>
            </a:p>
          </p:txBody>
        </p:sp>
        <p:sp>
          <p:nvSpPr>
            <p:cNvPr id="20" name="Text Box 6"/>
            <p:cNvSpPr txBox="1">
              <a:spLocks noChangeArrowheads="1"/>
            </p:cNvSpPr>
            <p:nvPr/>
          </p:nvSpPr>
          <p:spPr bwMode="auto">
            <a:xfrm>
              <a:off x="2851169" y="3614461"/>
              <a:ext cx="2044662" cy="45140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i="1">
                  <a:solidFill>
                    <a:prstClr val="black"/>
                  </a:solidFill>
                </a:rPr>
                <a:t>1. Client sends request</a:t>
              </a:r>
            </a:p>
          </p:txBody>
        </p:sp>
        <p:sp>
          <p:nvSpPr>
            <p:cNvPr id="21" name="Text Box 7"/>
            <p:cNvSpPr txBox="1">
              <a:spLocks noChangeArrowheads="1"/>
            </p:cNvSpPr>
            <p:nvPr/>
          </p:nvSpPr>
          <p:spPr bwMode="auto">
            <a:xfrm>
              <a:off x="6299816" y="4291053"/>
              <a:ext cx="956031" cy="110799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i="1">
                  <a:solidFill>
                    <a:prstClr val="black"/>
                  </a:solidFill>
                </a:rPr>
                <a:t>2. Server </a:t>
              </a:r>
            </a:p>
            <a:p>
              <a:pPr algn="ctr" eaLnBrk="0" hangingPunct="0"/>
              <a:r>
                <a:rPr lang="en-US" sz="1600" i="1">
                  <a:solidFill>
                    <a:prstClr val="black"/>
                  </a:solidFill>
                </a:rPr>
                <a:t>handles</a:t>
              </a:r>
            </a:p>
            <a:p>
              <a:pPr algn="ctr" eaLnBrk="0" hangingPunct="0"/>
              <a:r>
                <a:rPr lang="en-US" sz="1600" i="1">
                  <a:solidFill>
                    <a:prstClr val="black"/>
                  </a:solidFill>
                </a:rPr>
                <a:t>request</a:t>
              </a:r>
            </a:p>
          </p:txBody>
        </p:sp>
        <p:sp>
          <p:nvSpPr>
            <p:cNvPr id="22" name="Line 8"/>
            <p:cNvSpPr>
              <a:spLocks noChangeShapeType="1"/>
            </p:cNvSpPr>
            <p:nvPr/>
          </p:nvSpPr>
          <p:spPr bwMode="auto">
            <a:xfrm flipH="1">
              <a:off x="2709863" y="4470400"/>
              <a:ext cx="2560637" cy="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tx1"/>
                    </a:outerShdw>
                  </a:effectLst>
                </a14:hiddenEffects>
              </a:ext>
            </a:extLst>
          </p:spPr>
          <p:txBody>
            <a:bodyPr lIns="91577" tIns="45789" rIns="91577" bIns="45789"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23" name="Text Box 9"/>
            <p:cNvSpPr txBox="1">
              <a:spLocks noChangeArrowheads="1"/>
            </p:cNvSpPr>
            <p:nvPr/>
          </p:nvSpPr>
          <p:spPr bwMode="auto">
            <a:xfrm>
              <a:off x="2876630" y="4425673"/>
              <a:ext cx="2215991" cy="45140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i="1">
                  <a:solidFill>
                    <a:prstClr val="black"/>
                  </a:solidFill>
                </a:rPr>
                <a:t>3. Server sends response</a:t>
              </a:r>
            </a:p>
          </p:txBody>
        </p:sp>
        <p:sp>
          <p:nvSpPr>
            <p:cNvPr id="24" name="Text Box 10"/>
            <p:cNvSpPr txBox="1">
              <a:spLocks noChangeArrowheads="1"/>
            </p:cNvSpPr>
            <p:nvPr/>
          </p:nvSpPr>
          <p:spPr bwMode="auto">
            <a:xfrm>
              <a:off x="848633" y="4281529"/>
              <a:ext cx="928459" cy="110799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i="1">
                  <a:solidFill>
                    <a:prstClr val="black"/>
                  </a:solidFill>
                </a:rPr>
                <a:t>4. Client </a:t>
              </a:r>
            </a:p>
            <a:p>
              <a:pPr algn="ctr" eaLnBrk="0" hangingPunct="0"/>
              <a:r>
                <a:rPr lang="en-US" sz="1600" i="1">
                  <a:solidFill>
                    <a:prstClr val="black"/>
                  </a:solidFill>
                </a:rPr>
                <a:t>handles</a:t>
              </a:r>
            </a:p>
            <a:p>
              <a:pPr algn="ctr" eaLnBrk="0" hangingPunct="0"/>
              <a:r>
                <a:rPr lang="en-US" sz="1600" i="1">
                  <a:solidFill>
                    <a:prstClr val="black"/>
                  </a:solidFill>
                </a:rPr>
                <a:t>response</a:t>
              </a:r>
            </a:p>
          </p:txBody>
        </p:sp>
        <p:sp>
          <p:nvSpPr>
            <p:cNvPr id="25" name="Line 11"/>
            <p:cNvSpPr>
              <a:spLocks noChangeShapeType="1"/>
            </p:cNvSpPr>
            <p:nvPr/>
          </p:nvSpPr>
          <p:spPr bwMode="auto">
            <a:xfrm>
              <a:off x="6388100" y="4244975"/>
              <a:ext cx="836613"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26" name="AutoShape 12"/>
            <p:cNvSpPr>
              <a:spLocks noChangeArrowheads="1"/>
            </p:cNvSpPr>
            <p:nvPr/>
          </p:nvSpPr>
          <p:spPr bwMode="auto">
            <a:xfrm>
              <a:off x="7224713" y="3941763"/>
              <a:ext cx="1089025" cy="569912"/>
            </a:xfrm>
            <a:prstGeom prst="flowChartMagneticDisk">
              <a:avLst/>
            </a:prstGeom>
            <a:solidFill>
              <a:srgbClr val="CCFFFF"/>
            </a:solidFill>
            <a:ln w="1270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a:solidFill>
                    <a:prstClr val="black"/>
                  </a:solidFill>
                </a:rPr>
                <a:t>Resource</a:t>
              </a:r>
            </a:p>
          </p:txBody>
        </p:sp>
        <p:sp>
          <p:nvSpPr>
            <p:cNvPr id="27" name="Text Box 14"/>
            <p:cNvSpPr txBox="1">
              <a:spLocks noChangeArrowheads="1"/>
            </p:cNvSpPr>
            <p:nvPr/>
          </p:nvSpPr>
          <p:spPr bwMode="auto">
            <a:xfrm>
              <a:off x="1279525" y="5562599"/>
              <a:ext cx="5451877" cy="8617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i="1" dirty="0">
                  <a:solidFill>
                    <a:prstClr val="black"/>
                  </a:solidFill>
                </a:rPr>
                <a:t>Note: clients and servers are processes running on hosts </a:t>
              </a:r>
            </a:p>
            <a:p>
              <a:pPr eaLnBrk="0" hangingPunct="0"/>
              <a:r>
                <a:rPr lang="en-US" i="1" dirty="0">
                  <a:solidFill>
                    <a:prstClr val="black"/>
                  </a:solidFill>
                </a:rPr>
                <a:t>(can be the same or different hosts).</a:t>
              </a:r>
            </a:p>
          </p:txBody>
        </p:sp>
      </p:grpSp>
    </p:spTree>
    <p:extLst>
      <p:ext uri="{BB962C8B-B14F-4D97-AF65-F5344CB8AC3E}">
        <p14:creationId xmlns:p14="http://schemas.microsoft.com/office/powerpoint/2010/main" xmlns="" val="35016661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Internet Connections (TCP/IP</a:t>
            </a:r>
            <a:r>
              <a:rPr lang="en-US" dirty="0" smtClean="0"/>
              <a:t>)</a:t>
            </a:r>
            <a:endParaRPr lang="en-IN" dirty="0"/>
          </a:p>
        </p:txBody>
      </p:sp>
      <p:sp>
        <p:nvSpPr>
          <p:cNvPr id="3" name="Content Placeholder 2"/>
          <p:cNvSpPr>
            <a:spLocks noGrp="1"/>
          </p:cNvSpPr>
          <p:nvPr>
            <p:ph idx="1"/>
          </p:nvPr>
        </p:nvSpPr>
        <p:spPr/>
        <p:txBody>
          <a:bodyPr/>
          <a:lstStyle/>
          <a:p>
            <a:pPr marL="0" indent="0">
              <a:lnSpc>
                <a:spcPct val="85000"/>
              </a:lnSpc>
              <a:buNone/>
            </a:pPr>
            <a:r>
              <a:rPr lang="en-US" dirty="0"/>
              <a:t>Two common paradigms for clients and servers communication</a:t>
            </a:r>
          </a:p>
          <a:p>
            <a:pPr>
              <a:lnSpc>
                <a:spcPct val="85000"/>
              </a:lnSpc>
            </a:pPr>
            <a:r>
              <a:rPr lang="en-US" dirty="0"/>
              <a:t>Datagrams (UDP protocol SOCK_DGRAM)</a:t>
            </a:r>
          </a:p>
          <a:p>
            <a:pPr>
              <a:lnSpc>
                <a:spcPct val="85000"/>
              </a:lnSpc>
            </a:pPr>
            <a:r>
              <a:rPr lang="en-US" dirty="0"/>
              <a:t>Connections (TCP protocol, SOCK_STREAM) </a:t>
            </a:r>
          </a:p>
          <a:p>
            <a:pPr marL="0" indent="0">
              <a:lnSpc>
                <a:spcPct val="85000"/>
              </a:lnSpc>
              <a:buNone/>
            </a:pPr>
            <a:r>
              <a:rPr lang="en-US" dirty="0"/>
              <a:t>Connections are point-to-point, full-duplex (2-way communication), and reliable. </a:t>
            </a:r>
            <a:endParaRPr lang="en-IN" dirty="0"/>
          </a:p>
          <a:p>
            <a:endParaRPr lang="en-IN" dirty="0"/>
          </a:p>
        </p:txBody>
      </p:sp>
      <p:grpSp>
        <p:nvGrpSpPr>
          <p:cNvPr id="5" name="Group 20"/>
          <p:cNvGrpSpPr/>
          <p:nvPr/>
        </p:nvGrpSpPr>
        <p:grpSpPr>
          <a:xfrm>
            <a:off x="522234" y="2087471"/>
            <a:ext cx="8099532" cy="2873553"/>
            <a:chOff x="684255" y="3129637"/>
            <a:chExt cx="8099532" cy="3831408"/>
          </a:xfrm>
        </p:grpSpPr>
        <p:sp>
          <p:nvSpPr>
            <p:cNvPr id="22" name="Rectangle 21"/>
            <p:cNvSpPr>
              <a:spLocks noChangeArrowheads="1"/>
            </p:cNvSpPr>
            <p:nvPr/>
          </p:nvSpPr>
          <p:spPr bwMode="auto">
            <a:xfrm>
              <a:off x="6740525" y="3990975"/>
              <a:ext cx="1465263" cy="1035050"/>
            </a:xfrm>
            <a:prstGeom prst="rect">
              <a:avLst/>
            </a:prstGeom>
            <a:solidFill>
              <a:srgbClr val="FFFF99"/>
            </a:solidFill>
            <a:ln w="12700">
              <a:solidFill>
                <a:schemeClr val="tx1"/>
              </a:solidFill>
              <a:prstDash val="dash"/>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23" name="Rectangle 22"/>
            <p:cNvSpPr>
              <a:spLocks noChangeArrowheads="1"/>
            </p:cNvSpPr>
            <p:nvPr/>
          </p:nvSpPr>
          <p:spPr bwMode="auto">
            <a:xfrm>
              <a:off x="796925" y="3990975"/>
              <a:ext cx="1465263" cy="1035050"/>
            </a:xfrm>
            <a:prstGeom prst="rect">
              <a:avLst/>
            </a:prstGeom>
            <a:solidFill>
              <a:srgbClr val="FFFF99"/>
            </a:solidFill>
            <a:ln w="12700">
              <a:solidFill>
                <a:schemeClr val="tx1"/>
              </a:solidFill>
              <a:prstDash val="dash"/>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24" name="Text Box 5"/>
            <p:cNvSpPr txBox="1">
              <a:spLocks noChangeArrowheads="1"/>
            </p:cNvSpPr>
            <p:nvPr/>
          </p:nvSpPr>
          <p:spPr bwMode="auto">
            <a:xfrm>
              <a:off x="2723864" y="4371063"/>
              <a:ext cx="3637534" cy="7797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a:solidFill>
                    <a:prstClr val="black"/>
                  </a:solidFill>
                </a:rPr>
                <a:t>Connection socket pair</a:t>
              </a:r>
            </a:p>
            <a:p>
              <a:pPr algn="ctr" eaLnBrk="0" hangingPunct="0"/>
              <a:r>
                <a:rPr lang="en-US" sz="1600">
                  <a:solidFill>
                    <a:prstClr val="black"/>
                  </a:solidFill>
                </a:rPr>
                <a:t>(</a:t>
              </a:r>
              <a:r>
                <a:rPr lang="en-US" sz="1600">
                  <a:solidFill>
                    <a:srgbClr val="FF0000"/>
                  </a:solidFill>
                </a:rPr>
                <a:t>128.2.194.242</a:t>
              </a:r>
              <a:r>
                <a:rPr lang="en-US" sz="1600">
                  <a:solidFill>
                    <a:prstClr val="black"/>
                  </a:solidFill>
                </a:rPr>
                <a:t>:</a:t>
              </a:r>
              <a:r>
                <a:rPr lang="en-US" sz="1600">
                  <a:solidFill>
                    <a:srgbClr val="00FF00"/>
                  </a:solidFill>
                </a:rPr>
                <a:t>3479</a:t>
              </a:r>
              <a:r>
                <a:rPr lang="en-US" sz="1600">
                  <a:solidFill>
                    <a:prstClr val="black"/>
                  </a:solidFill>
                </a:rPr>
                <a:t>, </a:t>
              </a:r>
              <a:r>
                <a:rPr lang="en-US" sz="1600">
                  <a:solidFill>
                    <a:srgbClr val="9966FF"/>
                  </a:solidFill>
                </a:rPr>
                <a:t>208.216.181.15</a:t>
              </a:r>
              <a:r>
                <a:rPr lang="en-US" sz="1600">
                  <a:solidFill>
                    <a:prstClr val="black"/>
                  </a:solidFill>
                </a:rPr>
                <a:t>:</a:t>
              </a:r>
              <a:r>
                <a:rPr lang="en-US" sz="1600">
                  <a:solidFill>
                    <a:srgbClr val="00FFFF"/>
                  </a:solidFill>
                </a:rPr>
                <a:t>80</a:t>
              </a:r>
              <a:r>
                <a:rPr lang="en-US" sz="1600">
                  <a:solidFill>
                    <a:prstClr val="black"/>
                  </a:solidFill>
                </a:rPr>
                <a:t>)</a:t>
              </a:r>
            </a:p>
          </p:txBody>
        </p:sp>
        <p:sp>
          <p:nvSpPr>
            <p:cNvPr id="25" name="Oval 24"/>
            <p:cNvSpPr>
              <a:spLocks noChangeArrowheads="1"/>
            </p:cNvSpPr>
            <p:nvPr/>
          </p:nvSpPr>
          <p:spPr bwMode="auto">
            <a:xfrm>
              <a:off x="6788150" y="4098925"/>
              <a:ext cx="1287463" cy="796925"/>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tx1"/>
                    </a:outerShdw>
                  </a:effectLst>
                </a14:hiddenEffects>
              </a:ext>
            </a:extLst>
          </p:spPr>
          <p:txBody>
            <a:bodyPr wrap="none" lIns="91430" tIns="45716" rIns="91430" bIns="457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2813" eaLnBrk="0" hangingPunct="0"/>
              <a:r>
                <a:rPr lang="en-US" sz="1600">
                  <a:solidFill>
                    <a:prstClr val="black"/>
                  </a:solidFill>
                </a:rPr>
                <a:t>Server</a:t>
              </a:r>
            </a:p>
            <a:p>
              <a:pPr algn="ctr" defTabSz="912813" eaLnBrk="0" hangingPunct="0"/>
              <a:r>
                <a:rPr lang="en-US" sz="1600">
                  <a:solidFill>
                    <a:prstClr val="black"/>
                  </a:solidFill>
                </a:rPr>
                <a:t>(port 80)</a:t>
              </a:r>
            </a:p>
          </p:txBody>
        </p:sp>
        <p:sp>
          <p:nvSpPr>
            <p:cNvPr id="26" name="Oval 25"/>
            <p:cNvSpPr>
              <a:spLocks noChangeArrowheads="1"/>
            </p:cNvSpPr>
            <p:nvPr/>
          </p:nvSpPr>
          <p:spPr bwMode="auto">
            <a:xfrm>
              <a:off x="933450" y="4098925"/>
              <a:ext cx="1287463" cy="796925"/>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tx1"/>
                    </a:outerShdw>
                  </a:effectLst>
                </a14:hiddenEffects>
              </a:ext>
            </a:extLst>
          </p:spPr>
          <p:txBody>
            <a:bodyPr wrap="none" lIns="91430" tIns="45716" rIns="91430" bIns="457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2813" eaLnBrk="0" hangingPunct="0"/>
              <a:r>
                <a:rPr lang="en-US" sz="1600">
                  <a:solidFill>
                    <a:prstClr val="black"/>
                  </a:solidFill>
                </a:rPr>
                <a:t>Client</a:t>
              </a:r>
            </a:p>
          </p:txBody>
        </p:sp>
        <p:sp>
          <p:nvSpPr>
            <p:cNvPr id="27" name="Line 8"/>
            <p:cNvSpPr>
              <a:spLocks noChangeShapeType="1"/>
            </p:cNvSpPr>
            <p:nvPr/>
          </p:nvSpPr>
          <p:spPr bwMode="auto">
            <a:xfrm>
              <a:off x="2278063" y="4502150"/>
              <a:ext cx="4451350"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28" name="Oval 27"/>
            <p:cNvSpPr>
              <a:spLocks noChangeAspect="1" noChangeArrowheads="1"/>
            </p:cNvSpPr>
            <p:nvPr/>
          </p:nvSpPr>
          <p:spPr bwMode="auto">
            <a:xfrm>
              <a:off x="2149475" y="4437063"/>
              <a:ext cx="128588" cy="128587"/>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29" name="Oval 28"/>
            <p:cNvSpPr>
              <a:spLocks noChangeAspect="1" noChangeArrowheads="1"/>
            </p:cNvSpPr>
            <p:nvPr/>
          </p:nvSpPr>
          <p:spPr bwMode="auto">
            <a:xfrm>
              <a:off x="6729413" y="4437063"/>
              <a:ext cx="128587" cy="128587"/>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30" name="Text Box 11"/>
            <p:cNvSpPr txBox="1">
              <a:spLocks noChangeArrowheads="1"/>
            </p:cNvSpPr>
            <p:nvPr/>
          </p:nvSpPr>
          <p:spPr bwMode="auto">
            <a:xfrm>
              <a:off x="1656779" y="3129637"/>
              <a:ext cx="1917255" cy="7797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i="1">
                  <a:solidFill>
                    <a:prstClr val="black"/>
                  </a:solidFill>
                </a:rPr>
                <a:t>Client socket address</a:t>
              </a:r>
            </a:p>
            <a:p>
              <a:pPr algn="ctr" eaLnBrk="0" hangingPunct="0"/>
              <a:r>
                <a:rPr lang="en-US" sz="1600">
                  <a:solidFill>
                    <a:srgbClr val="FF0000"/>
                  </a:solidFill>
                </a:rPr>
                <a:t>128.2.194.242</a:t>
              </a:r>
              <a:r>
                <a:rPr lang="en-US" sz="1600">
                  <a:solidFill>
                    <a:prstClr val="black"/>
                  </a:solidFill>
                </a:rPr>
                <a:t>:</a:t>
              </a:r>
              <a:r>
                <a:rPr lang="en-US" sz="1600">
                  <a:solidFill>
                    <a:srgbClr val="00FF00"/>
                  </a:solidFill>
                </a:rPr>
                <a:t>3479</a:t>
              </a:r>
            </a:p>
          </p:txBody>
        </p:sp>
        <p:sp>
          <p:nvSpPr>
            <p:cNvPr id="31" name="Text Box 12"/>
            <p:cNvSpPr txBox="1">
              <a:spLocks noChangeArrowheads="1"/>
            </p:cNvSpPr>
            <p:nvPr/>
          </p:nvSpPr>
          <p:spPr bwMode="auto">
            <a:xfrm>
              <a:off x="5157788" y="3129637"/>
              <a:ext cx="2589212" cy="7797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i="1">
                  <a:solidFill>
                    <a:prstClr val="black"/>
                  </a:solidFill>
                </a:rPr>
                <a:t>Server socket address</a:t>
              </a:r>
            </a:p>
            <a:p>
              <a:pPr algn="ctr" eaLnBrk="0" hangingPunct="0"/>
              <a:r>
                <a:rPr lang="en-US" sz="1600">
                  <a:solidFill>
                    <a:srgbClr val="9966FF"/>
                  </a:solidFill>
                </a:rPr>
                <a:t>208.216.181.15</a:t>
              </a:r>
              <a:r>
                <a:rPr lang="en-US" sz="1600">
                  <a:solidFill>
                    <a:prstClr val="black"/>
                  </a:solidFill>
                </a:rPr>
                <a:t>:</a:t>
              </a:r>
              <a:r>
                <a:rPr lang="en-US" sz="1600">
                  <a:solidFill>
                    <a:srgbClr val="00FFFF"/>
                  </a:solidFill>
                </a:rPr>
                <a:t>80</a:t>
              </a:r>
            </a:p>
          </p:txBody>
        </p:sp>
        <p:sp>
          <p:nvSpPr>
            <p:cNvPr id="32" name="Line 13"/>
            <p:cNvSpPr>
              <a:spLocks noChangeShapeType="1"/>
            </p:cNvSpPr>
            <p:nvPr/>
          </p:nvSpPr>
          <p:spPr bwMode="auto">
            <a:xfrm flipH="1">
              <a:off x="2278063" y="3810000"/>
              <a:ext cx="303212" cy="627063"/>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33" name="Line 14"/>
            <p:cNvSpPr>
              <a:spLocks noChangeShapeType="1"/>
            </p:cNvSpPr>
            <p:nvPr/>
          </p:nvSpPr>
          <p:spPr bwMode="auto">
            <a:xfrm>
              <a:off x="6445250" y="3810000"/>
              <a:ext cx="303213" cy="627063"/>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34" name="Text Box 15"/>
            <p:cNvSpPr txBox="1">
              <a:spLocks noChangeArrowheads="1"/>
            </p:cNvSpPr>
            <p:nvPr/>
          </p:nvSpPr>
          <p:spPr bwMode="auto">
            <a:xfrm>
              <a:off x="746418" y="5034637"/>
              <a:ext cx="1764714" cy="7797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a:solidFill>
                    <a:prstClr val="black"/>
                  </a:solidFill>
                </a:rPr>
                <a:t>Client host address</a:t>
              </a:r>
            </a:p>
            <a:p>
              <a:pPr algn="ctr" eaLnBrk="0" hangingPunct="0"/>
              <a:r>
                <a:rPr lang="en-US" sz="1600">
                  <a:solidFill>
                    <a:srgbClr val="FF0000"/>
                  </a:solidFill>
                </a:rPr>
                <a:t>128.2.194.242</a:t>
              </a:r>
              <a:r>
                <a:rPr lang="en-US" sz="1600">
                  <a:solidFill>
                    <a:prstClr val="black"/>
                  </a:solidFill>
                </a:rPr>
                <a:t> </a:t>
              </a:r>
              <a:endParaRPr lang="en-US" sz="2400">
                <a:solidFill>
                  <a:prstClr val="black"/>
                </a:solidFill>
                <a:latin typeface="Times" pitchFamily="18" charset="0"/>
              </a:endParaRPr>
            </a:p>
          </p:txBody>
        </p:sp>
        <p:sp>
          <p:nvSpPr>
            <p:cNvPr id="35" name="Text Box 16"/>
            <p:cNvSpPr txBox="1">
              <a:spLocks noChangeArrowheads="1"/>
            </p:cNvSpPr>
            <p:nvPr/>
          </p:nvSpPr>
          <p:spPr bwMode="auto">
            <a:xfrm>
              <a:off x="6608649" y="5034637"/>
              <a:ext cx="1822678" cy="7797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a:solidFill>
                    <a:prstClr val="black"/>
                  </a:solidFill>
                </a:rPr>
                <a:t>Server host address</a:t>
              </a:r>
            </a:p>
            <a:p>
              <a:pPr algn="ctr" eaLnBrk="0" hangingPunct="0"/>
              <a:r>
                <a:rPr lang="en-US" sz="1600">
                  <a:solidFill>
                    <a:srgbClr val="9966FF"/>
                  </a:solidFill>
                </a:rPr>
                <a:t>208.216.181.15</a:t>
              </a:r>
            </a:p>
          </p:txBody>
        </p:sp>
        <p:sp>
          <p:nvSpPr>
            <p:cNvPr id="36" name="Text Box 21"/>
            <p:cNvSpPr txBox="1">
              <a:spLocks noChangeArrowheads="1"/>
            </p:cNvSpPr>
            <p:nvPr/>
          </p:nvSpPr>
          <p:spPr bwMode="auto">
            <a:xfrm>
              <a:off x="684255" y="5951538"/>
              <a:ext cx="2282741" cy="10095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sz="1600" i="1">
                  <a:solidFill>
                    <a:prstClr val="black"/>
                  </a:solidFill>
                </a:rPr>
                <a:t>Note: </a:t>
              </a:r>
              <a:r>
                <a:rPr lang="en-US" sz="1600" i="1">
                  <a:solidFill>
                    <a:srgbClr val="00FF00"/>
                  </a:solidFill>
                </a:rPr>
                <a:t>3479</a:t>
              </a:r>
              <a:r>
                <a:rPr lang="en-US" sz="1600" i="1">
                  <a:solidFill>
                    <a:prstClr val="black"/>
                  </a:solidFill>
                </a:rPr>
                <a:t> is an</a:t>
              </a:r>
            </a:p>
            <a:p>
              <a:pPr algn="ctr" eaLnBrk="0" hangingPunct="0">
                <a:lnSpc>
                  <a:spcPct val="90000"/>
                </a:lnSpc>
              </a:pPr>
              <a:r>
                <a:rPr lang="en-US" sz="1600" i="1">
                  <a:solidFill>
                    <a:prstClr val="black"/>
                  </a:solidFill>
                </a:rPr>
                <a:t>ephemeral port allocated</a:t>
              </a:r>
            </a:p>
            <a:p>
              <a:pPr algn="ctr" eaLnBrk="0" hangingPunct="0">
                <a:lnSpc>
                  <a:spcPct val="90000"/>
                </a:lnSpc>
              </a:pPr>
              <a:r>
                <a:rPr lang="en-US" sz="1600" i="1">
                  <a:solidFill>
                    <a:prstClr val="black"/>
                  </a:solidFill>
                </a:rPr>
                <a:t>by the kernel </a:t>
              </a:r>
            </a:p>
          </p:txBody>
        </p:sp>
        <p:sp>
          <p:nvSpPr>
            <p:cNvPr id="37" name="Text Box 23"/>
            <p:cNvSpPr txBox="1">
              <a:spLocks noChangeArrowheads="1"/>
            </p:cNvSpPr>
            <p:nvPr/>
          </p:nvSpPr>
          <p:spPr bwMode="auto">
            <a:xfrm>
              <a:off x="6159351" y="5943601"/>
              <a:ext cx="2624436" cy="7140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sz="1600" i="1">
                  <a:solidFill>
                    <a:prstClr val="black"/>
                  </a:solidFill>
                </a:rPr>
                <a:t>Note: </a:t>
              </a:r>
              <a:r>
                <a:rPr lang="en-US" sz="1600" i="1">
                  <a:solidFill>
                    <a:srgbClr val="00FFFF"/>
                  </a:solidFill>
                </a:rPr>
                <a:t>80</a:t>
              </a:r>
              <a:r>
                <a:rPr lang="en-US" sz="1600" i="1">
                  <a:solidFill>
                    <a:prstClr val="black"/>
                  </a:solidFill>
                </a:rPr>
                <a:t> is a well-known port</a:t>
              </a:r>
            </a:p>
            <a:p>
              <a:pPr algn="ctr" eaLnBrk="0" hangingPunct="0">
                <a:lnSpc>
                  <a:spcPct val="90000"/>
                </a:lnSpc>
              </a:pPr>
              <a:r>
                <a:rPr lang="en-US" sz="1600" i="1">
                  <a:solidFill>
                    <a:prstClr val="black"/>
                  </a:solidFill>
                </a:rPr>
                <a:t>associated with Web servers</a:t>
              </a:r>
            </a:p>
          </p:txBody>
        </p:sp>
      </p:grpSp>
    </p:spTree>
    <p:extLst>
      <p:ext uri="{BB962C8B-B14F-4D97-AF65-F5344CB8AC3E}">
        <p14:creationId xmlns:p14="http://schemas.microsoft.com/office/powerpoint/2010/main" xmlns="" val="12112043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Clients</a:t>
            </a:r>
            <a:endParaRPr lang="en-IN" dirty="0"/>
          </a:p>
        </p:txBody>
      </p:sp>
      <p:sp>
        <p:nvSpPr>
          <p:cNvPr id="3" name="Content Placeholder 2"/>
          <p:cNvSpPr>
            <a:spLocks noGrp="1"/>
          </p:cNvSpPr>
          <p:nvPr>
            <p:ph idx="1"/>
          </p:nvPr>
        </p:nvSpPr>
        <p:spPr>
          <a:xfrm>
            <a:off x="0" y="-22495"/>
            <a:ext cx="9144000" cy="4114800"/>
          </a:xfrm>
        </p:spPr>
        <p:txBody>
          <a:bodyPr/>
          <a:lstStyle/>
          <a:p>
            <a:pPr>
              <a:lnSpc>
                <a:spcPct val="150000"/>
              </a:lnSpc>
              <a:spcBef>
                <a:spcPts val="0"/>
              </a:spcBef>
            </a:pPr>
            <a:endParaRPr lang="en-US" sz="2000" dirty="0" smtClean="0"/>
          </a:p>
          <a:p>
            <a:pPr>
              <a:lnSpc>
                <a:spcPct val="150000"/>
              </a:lnSpc>
              <a:spcBef>
                <a:spcPts val="0"/>
              </a:spcBef>
            </a:pPr>
            <a:r>
              <a:rPr lang="en-US" sz="2000" dirty="0" smtClean="0"/>
              <a:t>Examples </a:t>
            </a:r>
            <a:r>
              <a:rPr lang="en-US" sz="2000" dirty="0"/>
              <a:t>of client programs</a:t>
            </a:r>
          </a:p>
          <a:p>
            <a:pPr lvl="1">
              <a:lnSpc>
                <a:spcPct val="150000"/>
              </a:lnSpc>
              <a:spcBef>
                <a:spcPts val="0"/>
              </a:spcBef>
            </a:pPr>
            <a:r>
              <a:rPr lang="en-US" sz="2000" dirty="0"/>
              <a:t>Web browsers, </a:t>
            </a:r>
            <a:r>
              <a:rPr lang="en-US" sz="2000" dirty="0">
                <a:latin typeface="Courier New" pitchFamily="49" charset="0"/>
              </a:rPr>
              <a:t>ftp</a:t>
            </a:r>
            <a:r>
              <a:rPr lang="en-US" sz="2000" dirty="0"/>
              <a:t>, </a:t>
            </a:r>
            <a:r>
              <a:rPr lang="en-US" sz="2000" dirty="0">
                <a:latin typeface="Courier New" pitchFamily="49" charset="0"/>
              </a:rPr>
              <a:t>telnet</a:t>
            </a:r>
            <a:r>
              <a:rPr lang="en-US" sz="2000" dirty="0"/>
              <a:t>, </a:t>
            </a:r>
            <a:r>
              <a:rPr lang="en-US" sz="2000" dirty="0" err="1">
                <a:latin typeface="Courier New" pitchFamily="49" charset="0"/>
              </a:rPr>
              <a:t>ssh</a:t>
            </a:r>
            <a:endParaRPr lang="en-US" sz="2000" dirty="0">
              <a:latin typeface="Courier New" pitchFamily="49" charset="0"/>
            </a:endParaRPr>
          </a:p>
          <a:p>
            <a:pPr>
              <a:lnSpc>
                <a:spcPct val="150000"/>
              </a:lnSpc>
              <a:spcBef>
                <a:spcPts val="0"/>
              </a:spcBef>
            </a:pPr>
            <a:r>
              <a:rPr lang="en-US" sz="2000" dirty="0"/>
              <a:t>How does a client find the server?</a:t>
            </a:r>
          </a:p>
          <a:p>
            <a:pPr lvl="1">
              <a:lnSpc>
                <a:spcPct val="150000"/>
              </a:lnSpc>
              <a:spcBef>
                <a:spcPts val="0"/>
              </a:spcBef>
            </a:pPr>
            <a:r>
              <a:rPr lang="en-US" sz="2000" dirty="0"/>
              <a:t>The IP address in the server socket address identifies the host</a:t>
            </a:r>
            <a:r>
              <a:rPr lang="en-US" sz="2000" i="1" dirty="0"/>
              <a:t>  </a:t>
            </a:r>
            <a:endParaRPr lang="en-US" sz="2000" i="1" dirty="0" smtClean="0"/>
          </a:p>
          <a:p>
            <a:pPr lvl="1">
              <a:lnSpc>
                <a:spcPct val="150000"/>
              </a:lnSpc>
              <a:spcBef>
                <a:spcPts val="0"/>
              </a:spcBef>
            </a:pPr>
            <a:r>
              <a:rPr lang="en-US" sz="2000" dirty="0" smtClean="0"/>
              <a:t>The </a:t>
            </a:r>
            <a:r>
              <a:rPr lang="en-US" sz="2000" dirty="0"/>
              <a:t>(well-known) port in the server socket address identifies the service, and thus implicitly identifies the server process that performs that service.</a:t>
            </a:r>
          </a:p>
          <a:p>
            <a:pPr lvl="1">
              <a:lnSpc>
                <a:spcPct val="150000"/>
              </a:lnSpc>
              <a:spcBef>
                <a:spcPts val="0"/>
              </a:spcBef>
            </a:pPr>
            <a:r>
              <a:rPr lang="en-US" sz="2000" dirty="0"/>
              <a:t>Examples of well known ports</a:t>
            </a:r>
          </a:p>
          <a:p>
            <a:pPr lvl="2">
              <a:lnSpc>
                <a:spcPct val="150000"/>
              </a:lnSpc>
              <a:spcBef>
                <a:spcPts val="0"/>
              </a:spcBef>
              <a:spcAft>
                <a:spcPts val="0"/>
              </a:spcAft>
            </a:pPr>
            <a:r>
              <a:rPr lang="en-US" sz="2000" dirty="0"/>
              <a:t>Port 7: Echo </a:t>
            </a:r>
            <a:r>
              <a:rPr lang="en-US" sz="2000" dirty="0" smtClean="0"/>
              <a:t>server 	Port </a:t>
            </a:r>
            <a:r>
              <a:rPr lang="en-US" sz="2000" dirty="0"/>
              <a:t>23: Telnet server</a:t>
            </a:r>
          </a:p>
          <a:p>
            <a:pPr lvl="2">
              <a:lnSpc>
                <a:spcPct val="150000"/>
              </a:lnSpc>
              <a:spcBef>
                <a:spcPts val="0"/>
              </a:spcBef>
              <a:spcAft>
                <a:spcPts val="0"/>
              </a:spcAft>
            </a:pPr>
            <a:r>
              <a:rPr lang="en-US" sz="2000" dirty="0"/>
              <a:t>Port 25: Mail </a:t>
            </a:r>
            <a:r>
              <a:rPr lang="en-US" sz="2000" dirty="0" smtClean="0"/>
              <a:t>server	Port </a:t>
            </a:r>
            <a:r>
              <a:rPr lang="en-US" sz="2000" dirty="0"/>
              <a:t>80: Web </a:t>
            </a:r>
            <a:r>
              <a:rPr lang="en-US" sz="2000" dirty="0" smtClean="0"/>
              <a:t>server</a:t>
            </a:r>
            <a:endParaRPr lang="en-IN" sz="2000" dirty="0"/>
          </a:p>
        </p:txBody>
      </p:sp>
    </p:spTree>
    <p:extLst>
      <p:ext uri="{BB962C8B-B14F-4D97-AF65-F5344CB8AC3E}">
        <p14:creationId xmlns:p14="http://schemas.microsoft.com/office/powerpoint/2010/main" xmlns="" val="10937113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Using Ports to Identify </a:t>
            </a:r>
            <a:r>
              <a:rPr lang="en-US" dirty="0" smtClean="0"/>
              <a:t>Services</a:t>
            </a:r>
            <a:endParaRPr lang="en-IN" dirty="0"/>
          </a:p>
        </p:txBody>
      </p:sp>
      <p:sp>
        <p:nvSpPr>
          <p:cNvPr id="4" name="Footer Placeholder 4"/>
          <p:cNvSpPr>
            <a:spLocks noGrp="1"/>
          </p:cNvSpPr>
          <p:nvPr/>
        </p:nvSpPr>
        <p:spPr>
          <a:xfrm>
            <a:off x="3360734" y="4704160"/>
            <a:ext cx="2895600" cy="27384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prstClr val="black">
                  <a:tint val="75000"/>
                </a:prstClr>
              </a:solidFill>
            </a:endParaRPr>
          </a:p>
        </p:txBody>
      </p:sp>
      <p:grpSp>
        <p:nvGrpSpPr>
          <p:cNvPr id="5" name="Group 4"/>
          <p:cNvGrpSpPr/>
          <p:nvPr/>
        </p:nvGrpSpPr>
        <p:grpSpPr>
          <a:xfrm>
            <a:off x="601662" y="851298"/>
            <a:ext cx="7940675" cy="3943351"/>
            <a:chOff x="365125" y="1143000"/>
            <a:chExt cx="7940675" cy="5257800"/>
          </a:xfrm>
        </p:grpSpPr>
        <p:sp>
          <p:nvSpPr>
            <p:cNvPr id="6" name="Rectangle 5"/>
            <p:cNvSpPr>
              <a:spLocks noChangeArrowheads="1"/>
            </p:cNvSpPr>
            <p:nvPr/>
          </p:nvSpPr>
          <p:spPr bwMode="auto">
            <a:xfrm>
              <a:off x="381000" y="1968500"/>
              <a:ext cx="1295400" cy="1143000"/>
            </a:xfrm>
            <a:prstGeom prst="rect">
              <a:avLst/>
            </a:prstGeom>
            <a:solidFill>
              <a:srgbClr val="FFFF99"/>
            </a:solidFill>
            <a:ln w="25400">
              <a:solidFill>
                <a:schemeClr val="tx1"/>
              </a:solidFill>
              <a:prstDash val="sysDot"/>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7" name="Rectangle 6"/>
            <p:cNvSpPr>
              <a:spLocks noChangeArrowheads="1"/>
            </p:cNvSpPr>
            <p:nvPr/>
          </p:nvSpPr>
          <p:spPr bwMode="auto">
            <a:xfrm>
              <a:off x="4800600" y="1492250"/>
              <a:ext cx="3505200" cy="1981200"/>
            </a:xfrm>
            <a:prstGeom prst="rect">
              <a:avLst/>
            </a:prstGeom>
            <a:solidFill>
              <a:srgbClr val="FFFF99"/>
            </a:solidFill>
            <a:ln w="25400">
              <a:solidFill>
                <a:schemeClr val="tx1"/>
              </a:solidFill>
              <a:prstDash val="sysDot"/>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8" name="Rectangle 7"/>
            <p:cNvSpPr>
              <a:spLocks noChangeArrowheads="1"/>
            </p:cNvSpPr>
            <p:nvPr/>
          </p:nvSpPr>
          <p:spPr bwMode="auto">
            <a:xfrm>
              <a:off x="381000" y="4895850"/>
              <a:ext cx="1295400" cy="1143000"/>
            </a:xfrm>
            <a:prstGeom prst="rect">
              <a:avLst/>
            </a:prstGeom>
            <a:solidFill>
              <a:srgbClr val="FFFF99"/>
            </a:solidFill>
            <a:ln w="25400">
              <a:solidFill>
                <a:schemeClr val="tx1"/>
              </a:solidFill>
              <a:prstDash val="sysDot"/>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9" name="Rectangle 8"/>
            <p:cNvSpPr>
              <a:spLocks noChangeArrowheads="1"/>
            </p:cNvSpPr>
            <p:nvPr/>
          </p:nvSpPr>
          <p:spPr bwMode="auto">
            <a:xfrm>
              <a:off x="4800600" y="4419600"/>
              <a:ext cx="3505200" cy="1981200"/>
            </a:xfrm>
            <a:prstGeom prst="rect">
              <a:avLst/>
            </a:prstGeom>
            <a:solidFill>
              <a:srgbClr val="FFFF99"/>
            </a:solidFill>
            <a:ln w="25400">
              <a:solidFill>
                <a:schemeClr val="tx1"/>
              </a:solidFill>
              <a:prstDash val="sysDot"/>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10" name="Oval 9"/>
            <p:cNvSpPr>
              <a:spLocks noChangeArrowheads="1"/>
            </p:cNvSpPr>
            <p:nvPr/>
          </p:nvSpPr>
          <p:spPr bwMode="auto">
            <a:xfrm>
              <a:off x="6310313" y="1611313"/>
              <a:ext cx="1746250" cy="796925"/>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tx1"/>
                    </a:outerShdw>
                  </a:effectLst>
                </a14:hiddenEffects>
              </a:ext>
            </a:extLst>
          </p:spPr>
          <p:txBody>
            <a:bodyPr wrap="none" lIns="91430" tIns="45716" rIns="91430" bIns="457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2813" eaLnBrk="0" hangingPunct="0"/>
              <a:r>
                <a:rPr lang="en-US" sz="1600">
                  <a:solidFill>
                    <a:prstClr val="black"/>
                  </a:solidFill>
                </a:rPr>
                <a:t>Web server</a:t>
              </a:r>
            </a:p>
            <a:p>
              <a:pPr algn="ctr" defTabSz="912813" eaLnBrk="0" hangingPunct="0"/>
              <a:r>
                <a:rPr lang="en-US" sz="1600">
                  <a:solidFill>
                    <a:prstClr val="black"/>
                  </a:solidFill>
                </a:rPr>
                <a:t>(port 80)</a:t>
              </a:r>
            </a:p>
          </p:txBody>
        </p:sp>
        <p:sp>
          <p:nvSpPr>
            <p:cNvPr id="11" name="Text Box 6"/>
            <p:cNvSpPr txBox="1">
              <a:spLocks noChangeArrowheads="1"/>
            </p:cNvSpPr>
            <p:nvPr/>
          </p:nvSpPr>
          <p:spPr bwMode="auto">
            <a:xfrm>
              <a:off x="365125" y="1600200"/>
              <a:ext cx="1073307" cy="45140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sz="1600" dirty="0">
                  <a:solidFill>
                    <a:prstClr val="black"/>
                  </a:solidFill>
                </a:rPr>
                <a:t>Client host</a:t>
              </a:r>
            </a:p>
          </p:txBody>
        </p:sp>
        <p:sp>
          <p:nvSpPr>
            <p:cNvPr id="12" name="Text Box 8"/>
            <p:cNvSpPr txBox="1">
              <a:spLocks noChangeArrowheads="1"/>
            </p:cNvSpPr>
            <p:nvPr/>
          </p:nvSpPr>
          <p:spPr bwMode="auto">
            <a:xfrm>
              <a:off x="5029200" y="1143000"/>
              <a:ext cx="2373598" cy="45140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sz="1600">
                  <a:solidFill>
                    <a:prstClr val="black"/>
                  </a:solidFill>
                </a:rPr>
                <a:t>Server host 128.2.194.242</a:t>
              </a:r>
            </a:p>
          </p:txBody>
        </p:sp>
        <p:sp>
          <p:nvSpPr>
            <p:cNvPr id="13" name="Line 9"/>
            <p:cNvSpPr>
              <a:spLocks noChangeShapeType="1"/>
            </p:cNvSpPr>
            <p:nvPr/>
          </p:nvSpPr>
          <p:spPr bwMode="auto">
            <a:xfrm flipV="1">
              <a:off x="1524000" y="2482850"/>
              <a:ext cx="34290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14" name="Oval 13"/>
            <p:cNvSpPr>
              <a:spLocks noChangeArrowheads="1"/>
            </p:cNvSpPr>
            <p:nvPr/>
          </p:nvSpPr>
          <p:spPr bwMode="auto">
            <a:xfrm>
              <a:off x="6324600" y="2559050"/>
              <a:ext cx="1746250" cy="796925"/>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tx1"/>
                    </a:outerShdw>
                  </a:effectLst>
                </a14:hiddenEffects>
              </a:ext>
            </a:extLst>
          </p:spPr>
          <p:txBody>
            <a:bodyPr wrap="none" lIns="91430" tIns="45716" rIns="91430" bIns="457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2813" eaLnBrk="0" hangingPunct="0"/>
              <a:r>
                <a:rPr lang="en-US" sz="1600">
                  <a:solidFill>
                    <a:prstClr val="black"/>
                  </a:solidFill>
                </a:rPr>
                <a:t>Echo server</a:t>
              </a:r>
            </a:p>
            <a:p>
              <a:pPr algn="ctr" defTabSz="912813" eaLnBrk="0" hangingPunct="0"/>
              <a:r>
                <a:rPr lang="en-US" sz="1600">
                  <a:solidFill>
                    <a:prstClr val="black"/>
                  </a:solidFill>
                </a:rPr>
                <a:t>(port 7)</a:t>
              </a:r>
            </a:p>
          </p:txBody>
        </p:sp>
        <p:sp>
          <p:nvSpPr>
            <p:cNvPr id="15" name="Text Box 12"/>
            <p:cNvSpPr txBox="1">
              <a:spLocks noChangeArrowheads="1"/>
            </p:cNvSpPr>
            <p:nvPr/>
          </p:nvSpPr>
          <p:spPr bwMode="auto">
            <a:xfrm>
              <a:off x="1981200" y="1657351"/>
              <a:ext cx="2654300" cy="110799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a:solidFill>
                    <a:prstClr val="black"/>
                  </a:solidFill>
                </a:rPr>
                <a:t>Service request for</a:t>
              </a:r>
            </a:p>
            <a:p>
              <a:pPr algn="ctr" eaLnBrk="0" hangingPunct="0"/>
              <a:r>
                <a:rPr lang="en-US" sz="1600">
                  <a:solidFill>
                    <a:prstClr val="black"/>
                  </a:solidFill>
                </a:rPr>
                <a:t>128.2.194.242:80</a:t>
              </a:r>
            </a:p>
            <a:p>
              <a:pPr algn="ctr" eaLnBrk="0" hangingPunct="0"/>
              <a:r>
                <a:rPr lang="en-US" sz="1600">
                  <a:solidFill>
                    <a:prstClr val="black"/>
                  </a:solidFill>
                </a:rPr>
                <a:t>(i.e., the Web server)</a:t>
              </a:r>
            </a:p>
          </p:txBody>
        </p:sp>
        <p:sp>
          <p:nvSpPr>
            <p:cNvPr id="16" name="Line 13"/>
            <p:cNvSpPr>
              <a:spLocks noChangeShapeType="1"/>
            </p:cNvSpPr>
            <p:nvPr/>
          </p:nvSpPr>
          <p:spPr bwMode="auto">
            <a:xfrm flipV="1">
              <a:off x="5943600" y="2178050"/>
              <a:ext cx="457200" cy="2286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17" name="Oval 16"/>
            <p:cNvSpPr>
              <a:spLocks noChangeArrowheads="1"/>
            </p:cNvSpPr>
            <p:nvPr/>
          </p:nvSpPr>
          <p:spPr bwMode="auto">
            <a:xfrm>
              <a:off x="6310313" y="4538663"/>
              <a:ext cx="1746250" cy="796925"/>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tx1"/>
                    </a:outerShdw>
                  </a:effectLst>
                </a14:hiddenEffects>
              </a:ext>
            </a:extLst>
          </p:spPr>
          <p:txBody>
            <a:bodyPr wrap="none" lIns="91430" tIns="45716" rIns="91430" bIns="457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2813" eaLnBrk="0" hangingPunct="0"/>
              <a:r>
                <a:rPr lang="en-US" sz="1600">
                  <a:solidFill>
                    <a:prstClr val="black"/>
                  </a:solidFill>
                </a:rPr>
                <a:t>Web server</a:t>
              </a:r>
            </a:p>
            <a:p>
              <a:pPr algn="ctr" defTabSz="912813" eaLnBrk="0" hangingPunct="0"/>
              <a:r>
                <a:rPr lang="en-US" sz="1600">
                  <a:solidFill>
                    <a:prstClr val="black"/>
                  </a:solidFill>
                </a:rPr>
                <a:t>(port 80)</a:t>
              </a:r>
            </a:p>
          </p:txBody>
        </p:sp>
        <p:sp>
          <p:nvSpPr>
            <p:cNvPr id="18" name="Line 18"/>
            <p:cNvSpPr>
              <a:spLocks noChangeShapeType="1"/>
            </p:cNvSpPr>
            <p:nvPr/>
          </p:nvSpPr>
          <p:spPr bwMode="auto">
            <a:xfrm flipV="1">
              <a:off x="1524000" y="5410200"/>
              <a:ext cx="34290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19" name="Oval 18"/>
            <p:cNvSpPr>
              <a:spLocks noChangeArrowheads="1"/>
            </p:cNvSpPr>
            <p:nvPr/>
          </p:nvSpPr>
          <p:spPr bwMode="auto">
            <a:xfrm>
              <a:off x="6324600" y="5486400"/>
              <a:ext cx="1746250" cy="796925"/>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tx1"/>
                    </a:outerShdw>
                  </a:effectLst>
                </a14:hiddenEffects>
              </a:ext>
            </a:extLst>
          </p:spPr>
          <p:txBody>
            <a:bodyPr wrap="none" lIns="91430" tIns="45716" rIns="91430" bIns="457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2813" eaLnBrk="0" hangingPunct="0"/>
              <a:r>
                <a:rPr lang="en-US" sz="1600">
                  <a:solidFill>
                    <a:prstClr val="black"/>
                  </a:solidFill>
                </a:rPr>
                <a:t>Echo server</a:t>
              </a:r>
            </a:p>
            <a:p>
              <a:pPr algn="ctr" defTabSz="912813" eaLnBrk="0" hangingPunct="0"/>
              <a:r>
                <a:rPr lang="en-US" sz="1600">
                  <a:solidFill>
                    <a:prstClr val="black"/>
                  </a:solidFill>
                </a:rPr>
                <a:t>(port 7)</a:t>
              </a:r>
            </a:p>
          </p:txBody>
        </p:sp>
        <p:sp>
          <p:nvSpPr>
            <p:cNvPr id="20" name="Text Box 21"/>
            <p:cNvSpPr txBox="1">
              <a:spLocks noChangeArrowheads="1"/>
            </p:cNvSpPr>
            <p:nvPr/>
          </p:nvSpPr>
          <p:spPr bwMode="auto">
            <a:xfrm>
              <a:off x="2286718" y="4603751"/>
              <a:ext cx="1959126" cy="110799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dirty="0">
                  <a:solidFill>
                    <a:prstClr val="black"/>
                  </a:solidFill>
                </a:rPr>
                <a:t>Service request for</a:t>
              </a:r>
            </a:p>
            <a:p>
              <a:pPr algn="ctr" eaLnBrk="0" hangingPunct="0"/>
              <a:r>
                <a:rPr lang="en-US" sz="1600" dirty="0">
                  <a:solidFill>
                    <a:prstClr val="black"/>
                  </a:solidFill>
                </a:rPr>
                <a:t>128.2.194.242:7</a:t>
              </a:r>
            </a:p>
            <a:p>
              <a:pPr algn="ctr" eaLnBrk="0" hangingPunct="0"/>
              <a:r>
                <a:rPr lang="en-US" sz="1600" dirty="0">
                  <a:solidFill>
                    <a:prstClr val="black"/>
                  </a:solidFill>
                </a:rPr>
                <a:t>(i.e., the echo server)</a:t>
              </a:r>
            </a:p>
          </p:txBody>
        </p:sp>
        <p:sp>
          <p:nvSpPr>
            <p:cNvPr id="21" name="Line 22"/>
            <p:cNvSpPr>
              <a:spLocks noChangeShapeType="1"/>
            </p:cNvSpPr>
            <p:nvPr/>
          </p:nvSpPr>
          <p:spPr bwMode="auto">
            <a:xfrm>
              <a:off x="5943600" y="5486400"/>
              <a:ext cx="457200" cy="2286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22" name="AutoShape 25"/>
            <p:cNvSpPr>
              <a:spLocks noChangeArrowheads="1"/>
            </p:cNvSpPr>
            <p:nvPr/>
          </p:nvSpPr>
          <p:spPr bwMode="auto">
            <a:xfrm>
              <a:off x="2895600" y="3306605"/>
              <a:ext cx="366960" cy="611505"/>
            </a:xfrm>
            <a:prstGeom prst="downArrow">
              <a:avLst>
                <a:gd name="adj1" fmla="val 50000"/>
                <a:gd name="adj2" fmla="val 50245"/>
              </a:avLst>
            </a:prstGeom>
            <a:noFill/>
            <a:ln w="381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prstClr val="black"/>
                </a:solidFill>
              </a:endParaRPr>
            </a:p>
          </p:txBody>
        </p:sp>
        <p:sp>
          <p:nvSpPr>
            <p:cNvPr id="23" name="Oval 22"/>
            <p:cNvSpPr>
              <a:spLocks noChangeArrowheads="1"/>
            </p:cNvSpPr>
            <p:nvPr/>
          </p:nvSpPr>
          <p:spPr bwMode="auto">
            <a:xfrm>
              <a:off x="4953000" y="2254250"/>
              <a:ext cx="1066800" cy="457200"/>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a:solidFill>
                    <a:prstClr val="black"/>
                  </a:solidFill>
                </a:rPr>
                <a:t>Kernel</a:t>
              </a:r>
            </a:p>
          </p:txBody>
        </p:sp>
        <p:sp>
          <p:nvSpPr>
            <p:cNvPr id="24" name="Oval 23"/>
            <p:cNvSpPr>
              <a:spLocks noChangeArrowheads="1"/>
            </p:cNvSpPr>
            <p:nvPr/>
          </p:nvSpPr>
          <p:spPr bwMode="auto">
            <a:xfrm>
              <a:off x="4953000" y="5181600"/>
              <a:ext cx="1066800" cy="457200"/>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sz="1600">
                  <a:solidFill>
                    <a:prstClr val="black"/>
                  </a:solidFill>
                </a:rPr>
                <a:t>Kernel</a:t>
              </a:r>
            </a:p>
          </p:txBody>
        </p:sp>
        <p:sp>
          <p:nvSpPr>
            <p:cNvPr id="25" name="Oval 24"/>
            <p:cNvSpPr>
              <a:spLocks noChangeArrowheads="1"/>
            </p:cNvSpPr>
            <p:nvPr/>
          </p:nvSpPr>
          <p:spPr bwMode="auto">
            <a:xfrm>
              <a:off x="587510" y="2201992"/>
              <a:ext cx="933180" cy="634747"/>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tx1"/>
                    </a:outerShdw>
                  </a:effectLst>
                </a14:hiddenEffects>
              </a:ext>
            </a:extLst>
          </p:spPr>
          <p:txBody>
            <a:bodyPr wrap="none" lIns="91430" tIns="45716" rIns="91430" bIns="45716"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2813" eaLnBrk="0" hangingPunct="0"/>
              <a:r>
                <a:rPr lang="en-US" sz="1600" dirty="0">
                  <a:solidFill>
                    <a:prstClr val="black"/>
                  </a:solidFill>
                </a:rPr>
                <a:t>Client</a:t>
              </a:r>
            </a:p>
          </p:txBody>
        </p:sp>
        <p:sp>
          <p:nvSpPr>
            <p:cNvPr id="26" name="Oval 25"/>
            <p:cNvSpPr>
              <a:spLocks noChangeArrowheads="1"/>
            </p:cNvSpPr>
            <p:nvPr/>
          </p:nvSpPr>
          <p:spPr bwMode="auto">
            <a:xfrm>
              <a:off x="587510" y="5129340"/>
              <a:ext cx="933180" cy="634747"/>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tx1"/>
                    </a:outerShdw>
                  </a:effectLst>
                </a14:hiddenEffects>
              </a:ext>
            </a:extLst>
          </p:spPr>
          <p:txBody>
            <a:bodyPr wrap="none" lIns="91430" tIns="45716" rIns="91430" bIns="45716"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2813" eaLnBrk="0" hangingPunct="0"/>
              <a:r>
                <a:rPr lang="en-US" sz="1600">
                  <a:solidFill>
                    <a:prstClr val="black"/>
                  </a:solidFill>
                </a:rPr>
                <a:t>Client</a:t>
              </a:r>
            </a:p>
          </p:txBody>
        </p:sp>
      </p:grpSp>
    </p:spTree>
    <p:extLst>
      <p:ext uri="{BB962C8B-B14F-4D97-AF65-F5344CB8AC3E}">
        <p14:creationId xmlns:p14="http://schemas.microsoft.com/office/powerpoint/2010/main" xmlns="" val="9158427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Servers</a:t>
            </a:r>
            <a:endParaRPr lang="en-IN" dirty="0"/>
          </a:p>
        </p:txBody>
      </p:sp>
      <p:sp>
        <p:nvSpPr>
          <p:cNvPr id="3" name="Content Placeholder 2"/>
          <p:cNvSpPr>
            <a:spLocks noGrp="1"/>
          </p:cNvSpPr>
          <p:nvPr>
            <p:ph idx="1"/>
          </p:nvPr>
        </p:nvSpPr>
        <p:spPr/>
        <p:txBody>
          <a:bodyPr/>
          <a:lstStyle/>
          <a:p>
            <a:pPr>
              <a:lnSpc>
                <a:spcPct val="150000"/>
              </a:lnSpc>
              <a:spcBef>
                <a:spcPts val="0"/>
              </a:spcBef>
            </a:pPr>
            <a:r>
              <a:rPr lang="en-US" dirty="0"/>
              <a:t>Servers are long-running processes (daemons).</a:t>
            </a:r>
          </a:p>
          <a:p>
            <a:pPr lvl="1">
              <a:lnSpc>
                <a:spcPct val="150000"/>
              </a:lnSpc>
              <a:spcBef>
                <a:spcPts val="0"/>
              </a:spcBef>
            </a:pPr>
            <a:r>
              <a:rPr lang="en-US" sz="1800" dirty="0"/>
              <a:t>Created at boot-time (typically) by the </a:t>
            </a:r>
            <a:r>
              <a:rPr lang="en-US" sz="1800" dirty="0" err="1"/>
              <a:t>init</a:t>
            </a:r>
            <a:r>
              <a:rPr lang="en-US" sz="1800" dirty="0"/>
              <a:t> process (process 1)</a:t>
            </a:r>
          </a:p>
          <a:p>
            <a:pPr lvl="1">
              <a:lnSpc>
                <a:spcPct val="150000"/>
              </a:lnSpc>
              <a:spcBef>
                <a:spcPts val="0"/>
              </a:spcBef>
            </a:pPr>
            <a:r>
              <a:rPr lang="en-US" sz="1800" dirty="0"/>
              <a:t>Run continuously until the machine is turned off.</a:t>
            </a:r>
          </a:p>
          <a:p>
            <a:pPr>
              <a:lnSpc>
                <a:spcPct val="150000"/>
              </a:lnSpc>
              <a:spcBef>
                <a:spcPts val="0"/>
              </a:spcBef>
            </a:pPr>
            <a:r>
              <a:rPr lang="en-US" dirty="0"/>
              <a:t>Each server waits for requests to arrive on a well-known port associated with a particular service.</a:t>
            </a:r>
          </a:p>
          <a:p>
            <a:pPr lvl="1">
              <a:lnSpc>
                <a:spcPct val="150000"/>
              </a:lnSpc>
              <a:spcBef>
                <a:spcPts val="0"/>
              </a:spcBef>
            </a:pPr>
            <a:r>
              <a:rPr lang="en-US" sz="1800" dirty="0"/>
              <a:t>Port 7: echo server</a:t>
            </a:r>
          </a:p>
          <a:p>
            <a:pPr lvl="1">
              <a:lnSpc>
                <a:spcPct val="150000"/>
              </a:lnSpc>
              <a:spcBef>
                <a:spcPts val="0"/>
              </a:spcBef>
            </a:pPr>
            <a:r>
              <a:rPr lang="en-US" sz="1800" dirty="0"/>
              <a:t>Port 23: telnet server</a:t>
            </a:r>
          </a:p>
          <a:p>
            <a:pPr lvl="1">
              <a:lnSpc>
                <a:spcPct val="150000"/>
              </a:lnSpc>
              <a:spcBef>
                <a:spcPts val="0"/>
              </a:spcBef>
            </a:pPr>
            <a:r>
              <a:rPr lang="en-US" sz="1800" dirty="0"/>
              <a:t>Port 25: mail server</a:t>
            </a:r>
          </a:p>
          <a:p>
            <a:pPr lvl="1">
              <a:lnSpc>
                <a:spcPct val="150000"/>
              </a:lnSpc>
              <a:spcBef>
                <a:spcPts val="0"/>
              </a:spcBef>
            </a:pPr>
            <a:r>
              <a:rPr lang="en-US" sz="1800" dirty="0"/>
              <a:t>Port 80: HTTP server</a:t>
            </a:r>
          </a:p>
          <a:p>
            <a:pPr>
              <a:lnSpc>
                <a:spcPct val="150000"/>
              </a:lnSpc>
              <a:spcBef>
                <a:spcPts val="0"/>
              </a:spcBef>
            </a:pPr>
            <a:r>
              <a:rPr lang="en-US" dirty="0"/>
              <a:t>A machine that runs a server process is also often  referred to as a “server.”</a:t>
            </a:r>
          </a:p>
          <a:p>
            <a:pPr>
              <a:lnSpc>
                <a:spcPct val="150000"/>
              </a:lnSpc>
              <a:spcBef>
                <a:spcPts val="0"/>
              </a:spcBef>
            </a:pPr>
            <a:endParaRPr lang="en-IN" dirty="0"/>
          </a:p>
          <a:p>
            <a:pPr>
              <a:lnSpc>
                <a:spcPct val="150000"/>
              </a:lnSpc>
              <a:spcBef>
                <a:spcPts val="0"/>
              </a:spcBef>
            </a:pPr>
            <a:endParaRPr lang="en-IN" dirty="0"/>
          </a:p>
        </p:txBody>
      </p:sp>
      <p:sp>
        <p:nvSpPr>
          <p:cNvPr id="4" name="Rectangle 3"/>
          <p:cNvSpPr>
            <a:spLocks noChangeArrowheads="1"/>
          </p:cNvSpPr>
          <p:nvPr/>
        </p:nvSpPr>
        <p:spPr bwMode="auto">
          <a:xfrm>
            <a:off x="5092700" y="2708736"/>
            <a:ext cx="3124200" cy="1200329"/>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dirty="0">
                <a:solidFill>
                  <a:prstClr val="black"/>
                </a:solidFill>
              </a:rPr>
              <a:t>See </a:t>
            </a:r>
            <a:r>
              <a:rPr lang="en-US" dirty="0">
                <a:solidFill>
                  <a:prstClr val="black"/>
                </a:solidFill>
                <a:latin typeface="Courier New" pitchFamily="49" charset="0"/>
              </a:rPr>
              <a:t>/</a:t>
            </a:r>
            <a:r>
              <a:rPr lang="en-US" dirty="0" err="1">
                <a:solidFill>
                  <a:prstClr val="black"/>
                </a:solidFill>
                <a:latin typeface="Courier New" pitchFamily="49" charset="0"/>
              </a:rPr>
              <a:t>etc</a:t>
            </a:r>
            <a:r>
              <a:rPr lang="en-US" dirty="0">
                <a:solidFill>
                  <a:prstClr val="black"/>
                </a:solidFill>
                <a:latin typeface="Courier New" pitchFamily="49" charset="0"/>
              </a:rPr>
              <a:t>/services</a:t>
            </a:r>
            <a:r>
              <a:rPr lang="en-US" dirty="0">
                <a:solidFill>
                  <a:prstClr val="black"/>
                </a:solidFill>
              </a:rPr>
              <a:t> for a comprehensive list of the services available on a Linux machine.</a:t>
            </a:r>
          </a:p>
        </p:txBody>
      </p:sp>
    </p:spTree>
    <p:extLst>
      <p:ext uri="{BB962C8B-B14F-4D97-AF65-F5344CB8AC3E}">
        <p14:creationId xmlns:p14="http://schemas.microsoft.com/office/powerpoint/2010/main" xmlns="" val="5249491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In this segment</a:t>
            </a:r>
            <a:endParaRPr lang="en-US" dirty="0"/>
          </a:p>
        </p:txBody>
      </p:sp>
      <p:sp>
        <p:nvSpPr>
          <p:cNvPr id="3" name="Content Placeholder 2"/>
          <p:cNvSpPr>
            <a:spLocks noGrp="1"/>
          </p:cNvSpPr>
          <p:nvPr>
            <p:ph idx="1"/>
          </p:nvPr>
        </p:nvSpPr>
        <p:spPr/>
        <p:txBody>
          <a:bodyPr/>
          <a:lstStyle/>
          <a:p>
            <a:r>
              <a:rPr lang="en-US" dirty="0"/>
              <a:t>Sockets</a:t>
            </a:r>
          </a:p>
          <a:p>
            <a:r>
              <a:rPr lang="en-US" dirty="0"/>
              <a:t>Socket addresses</a:t>
            </a:r>
          </a:p>
          <a:p>
            <a:r>
              <a:rPr lang="en-IN" dirty="0"/>
              <a:t>Socket Address Structure</a:t>
            </a:r>
          </a:p>
          <a:p>
            <a:endParaRPr lang="en-IN" dirty="0"/>
          </a:p>
          <a:p>
            <a:endParaRPr lang="en-US" dirty="0"/>
          </a:p>
          <a:p>
            <a:endParaRPr lang="en-IN" dirty="0"/>
          </a:p>
          <a:p>
            <a:endParaRPr lang="en-US" dirty="0"/>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Socket Address </a:t>
            </a:r>
            <a:r>
              <a:rPr lang="en-IN" dirty="0" smtClean="0"/>
              <a:t>Structures</a:t>
            </a:r>
            <a:endParaRPr lang="en-IN" dirty="0"/>
          </a:p>
        </p:txBody>
      </p:sp>
      <p:sp>
        <p:nvSpPr>
          <p:cNvPr id="3" name="Content Placeholder 2"/>
          <p:cNvSpPr>
            <a:spLocks noGrp="1"/>
          </p:cNvSpPr>
          <p:nvPr>
            <p:ph idx="1"/>
          </p:nvPr>
        </p:nvSpPr>
        <p:spPr/>
        <p:txBody>
          <a:bodyPr/>
          <a:lstStyle/>
          <a:p>
            <a:r>
              <a:rPr lang="en-IN" dirty="0"/>
              <a:t>An IPv4 socket address structure, commonly called an "Internet socket address structure," </a:t>
            </a:r>
          </a:p>
          <a:p>
            <a:r>
              <a:rPr lang="en-IN" dirty="0"/>
              <a:t>It is named </a:t>
            </a:r>
            <a:r>
              <a:rPr lang="en-IN" dirty="0" err="1">
                <a:solidFill>
                  <a:schemeClr val="tx2">
                    <a:lumMod val="60000"/>
                    <a:lumOff val="40000"/>
                  </a:schemeClr>
                </a:solidFill>
              </a:rPr>
              <a:t>sockaddr_in</a:t>
            </a:r>
            <a:r>
              <a:rPr lang="en-IN" dirty="0"/>
              <a:t> and is defined by including the </a:t>
            </a:r>
            <a:r>
              <a:rPr lang="en-IN" dirty="0">
                <a:solidFill>
                  <a:schemeClr val="tx2">
                    <a:lumMod val="60000"/>
                    <a:lumOff val="40000"/>
                  </a:schemeClr>
                </a:solidFill>
              </a:rPr>
              <a:t>&lt;</a:t>
            </a:r>
            <a:r>
              <a:rPr lang="en-IN" dirty="0" err="1">
                <a:solidFill>
                  <a:schemeClr val="tx2">
                    <a:lumMod val="60000"/>
                    <a:lumOff val="40000"/>
                  </a:schemeClr>
                </a:solidFill>
              </a:rPr>
              <a:t>netinet</a:t>
            </a:r>
            <a:r>
              <a:rPr lang="en-IN" dirty="0">
                <a:solidFill>
                  <a:schemeClr val="tx2">
                    <a:lumMod val="60000"/>
                    <a:lumOff val="40000"/>
                  </a:schemeClr>
                </a:solidFill>
              </a:rPr>
              <a:t>/</a:t>
            </a:r>
            <a:r>
              <a:rPr lang="en-IN" dirty="0" err="1">
                <a:solidFill>
                  <a:schemeClr val="tx2">
                    <a:lumMod val="60000"/>
                    <a:lumOff val="40000"/>
                  </a:schemeClr>
                </a:solidFill>
              </a:rPr>
              <a:t>in.h</a:t>
            </a:r>
            <a:r>
              <a:rPr lang="en-IN" dirty="0">
                <a:solidFill>
                  <a:schemeClr val="tx2">
                    <a:lumMod val="60000"/>
                    <a:lumOff val="40000"/>
                  </a:schemeClr>
                </a:solidFill>
              </a:rPr>
              <a:t>&gt;</a:t>
            </a:r>
            <a:r>
              <a:rPr lang="en-IN" dirty="0"/>
              <a:t> header</a:t>
            </a:r>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1532" y="1870147"/>
            <a:ext cx="8689496" cy="28256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852060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65906"/>
            <a:ext cx="6537960" cy="582930"/>
          </a:xfrm>
        </p:spPr>
        <p:txBody>
          <a:bodyPr/>
          <a:lstStyle/>
          <a:p>
            <a:r>
              <a:rPr lang="en-IN" dirty="0" err="1"/>
              <a:t>Datatypes</a:t>
            </a:r>
            <a:r>
              <a:rPr lang="en-IN" dirty="0"/>
              <a:t> required by the POSIX </a:t>
            </a:r>
            <a:r>
              <a:rPr lang="en-IN" dirty="0" smtClean="0"/>
              <a:t>specification</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6790" y="1057273"/>
            <a:ext cx="8922982" cy="37209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932618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Generic Socket Address </a:t>
            </a:r>
            <a:r>
              <a:rPr lang="en-IN" dirty="0" smtClean="0"/>
              <a:t>Structure</a:t>
            </a:r>
            <a:endParaRPr lang="en-IN" dirty="0"/>
          </a:p>
        </p:txBody>
      </p:sp>
      <p:sp>
        <p:nvSpPr>
          <p:cNvPr id="3" name="Content Placeholder 2"/>
          <p:cNvSpPr>
            <a:spLocks noGrp="1"/>
          </p:cNvSpPr>
          <p:nvPr>
            <p:ph idx="1"/>
          </p:nvPr>
        </p:nvSpPr>
        <p:spPr/>
        <p:txBody>
          <a:bodyPr/>
          <a:lstStyle/>
          <a:p>
            <a:r>
              <a:rPr lang="en-IN" dirty="0"/>
              <a:t>How to declare the type of pointer that may accept any type of pointer?</a:t>
            </a:r>
          </a:p>
          <a:p>
            <a:r>
              <a:rPr lang="en-IN" dirty="0"/>
              <a:t>With ANSI C, the solution is simple: void * is the generic pointer type</a:t>
            </a:r>
          </a:p>
          <a:p>
            <a:r>
              <a:rPr lang="en-IN" dirty="0"/>
              <a:t>The socket functions when take an argument it is defining a variable of </a:t>
            </a:r>
            <a:r>
              <a:rPr lang="en-IN" i="1" dirty="0"/>
              <a:t>generic </a:t>
            </a:r>
            <a:r>
              <a:rPr lang="en-IN" dirty="0"/>
              <a:t>socket address structure define in the &lt;sys/</a:t>
            </a:r>
            <a:r>
              <a:rPr lang="en-IN" dirty="0" err="1"/>
              <a:t>socket.h</a:t>
            </a:r>
            <a:r>
              <a:rPr lang="en-IN" dirty="0"/>
              <a:t>&gt;</a:t>
            </a:r>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5742" y="2225730"/>
            <a:ext cx="8761076" cy="27793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186818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IPv6 Socket Address Structure</a:t>
            </a:r>
          </a:p>
        </p:txBody>
      </p:sp>
      <p:sp>
        <p:nvSpPr>
          <p:cNvPr id="3" name="Content Placeholder 2"/>
          <p:cNvSpPr>
            <a:spLocks noGrp="1"/>
          </p:cNvSpPr>
          <p:nvPr>
            <p:ph idx="1"/>
          </p:nvPr>
        </p:nvSpPr>
        <p:spPr/>
        <p:txBody>
          <a:bodyPr/>
          <a:lstStyle/>
          <a:p>
            <a:r>
              <a:rPr lang="en-IN" dirty="0"/>
              <a:t>The IPv6 socket address is defined by including the &lt;</a:t>
            </a:r>
            <a:r>
              <a:rPr lang="en-IN" dirty="0" err="1"/>
              <a:t>netinet</a:t>
            </a:r>
            <a:r>
              <a:rPr lang="en-IN" dirty="0"/>
              <a:t>/</a:t>
            </a:r>
            <a:r>
              <a:rPr lang="en-IN" dirty="0" err="1"/>
              <a:t>in.h</a:t>
            </a:r>
            <a:r>
              <a:rPr lang="en-IN" dirty="0"/>
              <a:t>&gt; header</a:t>
            </a: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754" y="1209684"/>
            <a:ext cx="9026052" cy="35066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093553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New Generic Socket Address </a:t>
            </a:r>
            <a:r>
              <a:rPr lang="en-IN" dirty="0" smtClean="0"/>
              <a:t>Structure</a:t>
            </a:r>
            <a:endParaRPr lang="en-IN" dirty="0"/>
          </a:p>
        </p:txBody>
      </p:sp>
      <p:sp>
        <p:nvSpPr>
          <p:cNvPr id="3" name="Content Placeholder 2"/>
          <p:cNvSpPr>
            <a:spLocks noGrp="1"/>
          </p:cNvSpPr>
          <p:nvPr>
            <p:ph idx="1"/>
          </p:nvPr>
        </p:nvSpPr>
        <p:spPr/>
        <p:txBody>
          <a:bodyPr/>
          <a:lstStyle/>
          <a:p>
            <a:r>
              <a:rPr lang="en-IN" dirty="0"/>
              <a:t>A new generic socket address structure was defined as part of the IPv6 sockets API</a:t>
            </a:r>
          </a:p>
          <a:p>
            <a:r>
              <a:rPr lang="en-IN" dirty="0"/>
              <a:t>This is to overcome some of the shortcomings of the existing </a:t>
            </a:r>
            <a:r>
              <a:rPr lang="en-IN" dirty="0" err="1">
                <a:solidFill>
                  <a:schemeClr val="tx2">
                    <a:lumMod val="60000"/>
                    <a:lumOff val="40000"/>
                  </a:schemeClr>
                </a:solidFill>
              </a:rPr>
              <a:t>struct</a:t>
            </a:r>
            <a:r>
              <a:rPr lang="en-IN" dirty="0">
                <a:solidFill>
                  <a:schemeClr val="tx2">
                    <a:lumMod val="60000"/>
                    <a:lumOff val="40000"/>
                  </a:schemeClr>
                </a:solidFill>
              </a:rPr>
              <a:t> </a:t>
            </a:r>
            <a:r>
              <a:rPr lang="en-IN" dirty="0" err="1">
                <a:solidFill>
                  <a:schemeClr val="tx2">
                    <a:lumMod val="60000"/>
                    <a:lumOff val="40000"/>
                  </a:schemeClr>
                </a:solidFill>
              </a:rPr>
              <a:t>sockaddr</a:t>
            </a:r>
            <a:endParaRPr lang="en-IN" dirty="0">
              <a:solidFill>
                <a:schemeClr val="tx2">
                  <a:lumMod val="60000"/>
                  <a:lumOff val="40000"/>
                </a:schemeClr>
              </a:solidFill>
            </a:endParaRPr>
          </a:p>
          <a:p>
            <a:r>
              <a:rPr lang="en-IN" dirty="0"/>
              <a:t>The new </a:t>
            </a:r>
            <a:r>
              <a:rPr lang="en-IN" dirty="0" err="1">
                <a:solidFill>
                  <a:schemeClr val="tx2">
                    <a:lumMod val="60000"/>
                    <a:lumOff val="40000"/>
                  </a:schemeClr>
                </a:solidFill>
              </a:rPr>
              <a:t>struct</a:t>
            </a:r>
            <a:r>
              <a:rPr lang="en-IN" dirty="0">
                <a:solidFill>
                  <a:schemeClr val="tx2">
                    <a:lumMod val="60000"/>
                    <a:lumOff val="40000"/>
                  </a:schemeClr>
                </a:solidFill>
              </a:rPr>
              <a:t> </a:t>
            </a:r>
            <a:r>
              <a:rPr lang="en-IN" dirty="0" err="1">
                <a:solidFill>
                  <a:schemeClr val="tx2">
                    <a:lumMod val="60000"/>
                    <a:lumOff val="40000"/>
                  </a:schemeClr>
                </a:solidFill>
              </a:rPr>
              <a:t>sockaddr_storage</a:t>
            </a:r>
            <a:r>
              <a:rPr lang="en-IN" dirty="0"/>
              <a:t> is large enough to hold any socket address type supported by the system</a:t>
            </a:r>
          </a:p>
          <a:p>
            <a:endParaRPr lang="en-IN" dirty="0"/>
          </a:p>
        </p:txBody>
      </p:sp>
    </p:spTree>
    <p:extLst>
      <p:ext uri="{BB962C8B-B14F-4D97-AF65-F5344CB8AC3E}">
        <p14:creationId xmlns:p14="http://schemas.microsoft.com/office/powerpoint/2010/main" xmlns="" val="23655808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New Generic Socket Address </a:t>
            </a:r>
            <a:r>
              <a:rPr lang="en-IN" dirty="0" smtClean="0"/>
              <a:t>Structure</a:t>
            </a:r>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2927" y="1093168"/>
            <a:ext cx="8806706" cy="38605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6558083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Value-Result </a:t>
            </a:r>
            <a:r>
              <a:rPr lang="en-IN" dirty="0" smtClean="0"/>
              <a:t>Arguments</a:t>
            </a:r>
            <a:endParaRPr lang="en-IN" dirty="0"/>
          </a:p>
        </p:txBody>
      </p:sp>
      <p:sp>
        <p:nvSpPr>
          <p:cNvPr id="3" name="Content Placeholder 2"/>
          <p:cNvSpPr>
            <a:spLocks noGrp="1"/>
          </p:cNvSpPr>
          <p:nvPr>
            <p:ph idx="1"/>
          </p:nvPr>
        </p:nvSpPr>
        <p:spPr/>
        <p:txBody>
          <a:bodyPr/>
          <a:lstStyle/>
          <a:p>
            <a:r>
              <a:rPr lang="en-IN" sz="2000" dirty="0" smtClean="0"/>
              <a:t>when </a:t>
            </a:r>
            <a:r>
              <a:rPr lang="en-IN" sz="2000" dirty="0"/>
              <a:t>a socket address structure is passed to any socket function, it is always passed by reference</a:t>
            </a:r>
          </a:p>
          <a:p>
            <a:pPr lvl="1">
              <a:buFont typeface="Arial" pitchFamily="34" charset="0"/>
              <a:buChar char="•"/>
            </a:pPr>
            <a:r>
              <a:rPr lang="en-IN" sz="2000" dirty="0"/>
              <a:t>That is, a pointer to the structure is passed</a:t>
            </a:r>
          </a:p>
          <a:p>
            <a:r>
              <a:rPr lang="en-IN" sz="2000" dirty="0"/>
              <a:t>The length of the structure is also passed as an argument</a:t>
            </a:r>
          </a:p>
          <a:p>
            <a:pPr lvl="1">
              <a:buFont typeface="Arial" pitchFamily="34" charset="0"/>
              <a:buChar char="•"/>
            </a:pPr>
            <a:r>
              <a:rPr lang="en-IN" sz="2000" dirty="0"/>
              <a:t>But the way in which the length is passed depends on which direction the structure is being passed: </a:t>
            </a:r>
          </a:p>
          <a:p>
            <a:pPr lvl="2"/>
            <a:r>
              <a:rPr lang="en-IN" sz="2000" dirty="0"/>
              <a:t>from the process to the kernel</a:t>
            </a:r>
          </a:p>
          <a:p>
            <a:pPr lvl="3"/>
            <a:r>
              <a:rPr lang="en-IN" sz="2000" dirty="0"/>
              <a:t>bind, connect, and </a:t>
            </a:r>
            <a:r>
              <a:rPr lang="en-IN" sz="2000" dirty="0" err="1"/>
              <a:t>sendto</a:t>
            </a:r>
            <a:r>
              <a:rPr lang="en-IN" sz="2000" dirty="0"/>
              <a:t>, pass a socket address structure from the process to the kernel</a:t>
            </a:r>
          </a:p>
          <a:p>
            <a:pPr lvl="2"/>
            <a:r>
              <a:rPr lang="en-IN" sz="2000" dirty="0"/>
              <a:t>or vice versa</a:t>
            </a:r>
          </a:p>
          <a:p>
            <a:pPr lvl="3"/>
            <a:r>
              <a:rPr lang="en-IN" sz="2000" dirty="0"/>
              <a:t>accept, </a:t>
            </a:r>
            <a:r>
              <a:rPr lang="en-IN" sz="2000" dirty="0" err="1"/>
              <a:t>recvfrom</a:t>
            </a:r>
            <a:r>
              <a:rPr lang="en-IN" sz="2000" dirty="0"/>
              <a:t>, </a:t>
            </a:r>
            <a:r>
              <a:rPr lang="en-IN" sz="2000" dirty="0" err="1"/>
              <a:t>getsockname</a:t>
            </a:r>
            <a:r>
              <a:rPr lang="en-IN" sz="2000" dirty="0"/>
              <a:t>, and </a:t>
            </a:r>
            <a:r>
              <a:rPr lang="en-IN" sz="2000" dirty="0" err="1"/>
              <a:t>getpeername</a:t>
            </a:r>
            <a:r>
              <a:rPr lang="en-IN" sz="2000" dirty="0"/>
              <a:t>, pass a socket address structure from the kernel to the process</a:t>
            </a:r>
          </a:p>
          <a:p>
            <a:endParaRPr lang="en-IN" sz="2000" dirty="0"/>
          </a:p>
        </p:txBody>
      </p:sp>
    </p:spTree>
    <p:extLst>
      <p:ext uri="{BB962C8B-B14F-4D97-AF65-F5344CB8AC3E}">
        <p14:creationId xmlns:p14="http://schemas.microsoft.com/office/powerpoint/2010/main" xmlns="" val="36363270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65906"/>
            <a:ext cx="6537960" cy="582930"/>
          </a:xfrm>
        </p:spPr>
        <p:txBody>
          <a:bodyPr/>
          <a:lstStyle/>
          <a:p>
            <a:r>
              <a:rPr lang="en-IN" dirty="0"/>
              <a:t>Socket address structure passed </a:t>
            </a:r>
          </a:p>
          <a:p>
            <a:r>
              <a:rPr lang="en-IN" dirty="0"/>
              <a:t>from process to </a:t>
            </a:r>
            <a:r>
              <a:rPr lang="en-IN" dirty="0" smtClean="0"/>
              <a:t>kernel</a:t>
            </a:r>
            <a:endParaRPr lang="en-IN" dirty="0"/>
          </a:p>
        </p:txBody>
      </p:sp>
      <p:sp>
        <p:nvSpPr>
          <p:cNvPr id="3" name="Content Placeholder 2"/>
          <p:cNvSpPr>
            <a:spLocks noGrp="1"/>
          </p:cNvSpPr>
          <p:nvPr>
            <p:ph idx="1"/>
          </p:nvPr>
        </p:nvSpPr>
        <p:spPr/>
        <p:txBody>
          <a:bodyPr/>
          <a:lstStyle/>
          <a:p>
            <a:pPr marL="0" indent="0">
              <a:buNone/>
            </a:pPr>
            <a:r>
              <a:rPr lang="en-US" dirty="0">
                <a:solidFill>
                  <a:prstClr val="black"/>
                </a:solidFill>
              </a:rPr>
              <a:t>#define	SA	</a:t>
            </a:r>
            <a:r>
              <a:rPr lang="en-US" dirty="0" err="1">
                <a:solidFill>
                  <a:prstClr val="black"/>
                </a:solidFill>
              </a:rPr>
              <a:t>struct</a:t>
            </a:r>
            <a:r>
              <a:rPr lang="en-US" dirty="0">
                <a:solidFill>
                  <a:prstClr val="black"/>
                </a:solidFill>
              </a:rPr>
              <a:t> </a:t>
            </a:r>
            <a:r>
              <a:rPr lang="en-US" dirty="0" err="1">
                <a:solidFill>
                  <a:prstClr val="black"/>
                </a:solidFill>
              </a:rPr>
              <a:t>sockaddr</a:t>
            </a:r>
            <a:endParaRPr lang="en-IN" dirty="0">
              <a:solidFill>
                <a:prstClr val="black"/>
              </a:solidFill>
            </a:endParaRPr>
          </a:p>
          <a:p>
            <a:pPr marL="0" indent="0">
              <a:buNone/>
            </a:pPr>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6274" y="1088075"/>
            <a:ext cx="7459851" cy="1085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4"/>
          <p:cNvPicPr>
            <a:picLocks noGrp="1"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919539" y="2108749"/>
            <a:ext cx="3142206" cy="31568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10427141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65906"/>
            <a:ext cx="7793656" cy="582930"/>
          </a:xfrm>
        </p:spPr>
        <p:txBody>
          <a:bodyPr/>
          <a:lstStyle/>
          <a:p>
            <a:r>
              <a:rPr lang="en-IN" dirty="0"/>
              <a:t>Socket address structure passed from kernel to</a:t>
            </a:r>
          </a:p>
          <a:p>
            <a:r>
              <a:rPr lang="en-IN" dirty="0" smtClean="0"/>
              <a:t>process</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8860" y="1132758"/>
            <a:ext cx="5514016" cy="31848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4"/>
          <p:cNvPicPr>
            <a:picLocks noGrp="1"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017287" y="931074"/>
            <a:ext cx="3002936" cy="4105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909663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address structure</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82949" y="754063"/>
            <a:ext cx="6887614"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0489644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Structure</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3107" y="804863"/>
            <a:ext cx="7598098"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2928347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Types</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40099" y="792163"/>
            <a:ext cx="5849514"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397478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In this segment</a:t>
            </a:r>
            <a:endParaRPr lang="en-US" dirty="0"/>
          </a:p>
        </p:txBody>
      </p:sp>
      <p:sp>
        <p:nvSpPr>
          <p:cNvPr id="3" name="Content Placeholder 2"/>
          <p:cNvSpPr>
            <a:spLocks noGrp="1"/>
          </p:cNvSpPr>
          <p:nvPr>
            <p:ph idx="1"/>
          </p:nvPr>
        </p:nvSpPr>
        <p:spPr/>
        <p:txBody>
          <a:bodyPr/>
          <a:lstStyle/>
          <a:p>
            <a:r>
              <a:rPr lang="en-US" dirty="0"/>
              <a:t>Byte ordering</a:t>
            </a:r>
          </a:p>
          <a:p>
            <a:r>
              <a:rPr lang="en-US" dirty="0"/>
              <a:t>Byte manipulation</a:t>
            </a:r>
          </a:p>
          <a:p>
            <a:r>
              <a:rPr lang="en-IN" dirty="0" err="1"/>
              <a:t>inet_aton</a:t>
            </a:r>
            <a:r>
              <a:rPr lang="en-IN" dirty="0"/>
              <a:t>, </a:t>
            </a:r>
            <a:r>
              <a:rPr lang="en-IN" dirty="0" err="1"/>
              <a:t>inet_addr</a:t>
            </a:r>
            <a:r>
              <a:rPr lang="en-IN" dirty="0"/>
              <a:t>, and </a:t>
            </a:r>
            <a:r>
              <a:rPr lang="en-IN" dirty="0" err="1"/>
              <a:t>inet_ntoa</a:t>
            </a:r>
            <a:r>
              <a:rPr lang="en-IN" dirty="0"/>
              <a:t> Functions</a:t>
            </a:r>
          </a:p>
          <a:p>
            <a:endParaRPr lang="en-IN" dirty="0"/>
          </a:p>
          <a:p>
            <a:endParaRPr lang="en-US" dirty="0"/>
          </a:p>
          <a:p>
            <a:endParaRPr lang="en-IN" dirty="0"/>
          </a:p>
          <a:p>
            <a:endParaRPr lang="en-US" dirty="0"/>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Byte Ordering </a:t>
            </a:r>
            <a:r>
              <a:rPr lang="en-IN" dirty="0" smtClean="0"/>
              <a:t>Functions</a:t>
            </a:r>
            <a:endParaRPr lang="en-IN" dirty="0"/>
          </a:p>
        </p:txBody>
      </p:sp>
      <p:sp>
        <p:nvSpPr>
          <p:cNvPr id="3" name="Content Placeholder 2"/>
          <p:cNvSpPr>
            <a:spLocks noGrp="1"/>
          </p:cNvSpPr>
          <p:nvPr>
            <p:ph idx="1"/>
          </p:nvPr>
        </p:nvSpPr>
        <p:spPr/>
        <p:txBody>
          <a:bodyPr/>
          <a:lstStyle/>
          <a:p>
            <a:pPr>
              <a:lnSpc>
                <a:spcPct val="150000"/>
              </a:lnSpc>
              <a:spcBef>
                <a:spcPts val="0"/>
              </a:spcBef>
            </a:pPr>
            <a:r>
              <a:rPr lang="en-IN" sz="2000" dirty="0"/>
              <a:t>Consider a 16-bit integer that is made up of 2 bytes</a:t>
            </a:r>
          </a:p>
          <a:p>
            <a:pPr>
              <a:lnSpc>
                <a:spcPct val="150000"/>
              </a:lnSpc>
              <a:spcBef>
                <a:spcPts val="0"/>
              </a:spcBef>
            </a:pPr>
            <a:r>
              <a:rPr lang="en-IN" sz="2000" dirty="0"/>
              <a:t>There are two ways to store the two bytes in memory: </a:t>
            </a:r>
          </a:p>
          <a:p>
            <a:pPr lvl="1">
              <a:lnSpc>
                <a:spcPct val="150000"/>
              </a:lnSpc>
              <a:spcBef>
                <a:spcPts val="0"/>
              </a:spcBef>
              <a:buFont typeface="Arial" pitchFamily="34" charset="0"/>
              <a:buChar char="•"/>
            </a:pPr>
            <a:r>
              <a:rPr lang="en-IN" sz="2000" dirty="0"/>
              <a:t>with the low-order byte at the starting address, known as </a:t>
            </a:r>
            <a:r>
              <a:rPr lang="en-IN" sz="2000" i="1" dirty="0"/>
              <a:t>little-endian </a:t>
            </a:r>
            <a:r>
              <a:rPr lang="en-IN" sz="2000" dirty="0" err="1"/>
              <a:t>byteorder</a:t>
            </a:r>
            <a:endParaRPr lang="en-IN" sz="2000" dirty="0"/>
          </a:p>
          <a:p>
            <a:pPr lvl="1">
              <a:lnSpc>
                <a:spcPct val="150000"/>
              </a:lnSpc>
              <a:spcBef>
                <a:spcPts val="0"/>
              </a:spcBef>
              <a:buFont typeface="Arial" pitchFamily="34" charset="0"/>
              <a:buChar char="•"/>
            </a:pPr>
            <a:r>
              <a:rPr lang="en-IN" sz="2000" dirty="0"/>
              <a:t>with the high-order byte at the starting address, known as </a:t>
            </a:r>
            <a:r>
              <a:rPr lang="en-IN" sz="2000" i="1" dirty="0"/>
              <a:t>big-endian </a:t>
            </a:r>
            <a:r>
              <a:rPr lang="en-IN" sz="2000" dirty="0"/>
              <a:t>byte order</a:t>
            </a:r>
          </a:p>
          <a:p>
            <a:pPr>
              <a:lnSpc>
                <a:spcPct val="150000"/>
              </a:lnSpc>
              <a:spcBef>
                <a:spcPts val="0"/>
              </a:spcBef>
            </a:pPr>
            <a:endParaRPr lang="en-IN" sz="2000" dirty="0"/>
          </a:p>
        </p:txBody>
      </p:sp>
    </p:spTree>
    <p:extLst>
      <p:ext uri="{BB962C8B-B14F-4D97-AF65-F5344CB8AC3E}">
        <p14:creationId xmlns:p14="http://schemas.microsoft.com/office/powerpoint/2010/main" xmlns="" val="146161637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Byte Ordering </a:t>
            </a:r>
            <a:r>
              <a:rPr lang="en-IN" dirty="0" smtClean="0"/>
              <a:t>Functions</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24974" y="715021"/>
            <a:ext cx="6920122" cy="42604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7457521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Byte ordering</a:t>
            </a:r>
            <a:endParaRPr lang="en-IN" dirty="0"/>
          </a:p>
        </p:txBody>
      </p:sp>
      <p:sp>
        <p:nvSpPr>
          <p:cNvPr id="3" name="Content Placeholder 2"/>
          <p:cNvSpPr>
            <a:spLocks noGrp="1"/>
          </p:cNvSpPr>
          <p:nvPr>
            <p:ph idx="1"/>
          </p:nvPr>
        </p:nvSpPr>
        <p:spPr/>
        <p:txBody>
          <a:bodyPr/>
          <a:lstStyle/>
          <a:p>
            <a:pPr algn="l">
              <a:lnSpc>
                <a:spcPct val="90000"/>
              </a:lnSpc>
            </a:pPr>
            <a:r>
              <a:rPr lang="en-US" altLang="en-US" dirty="0"/>
              <a:t>Big Endian byte-order</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43681" y="1197140"/>
            <a:ext cx="8656638" cy="28867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06006997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Byte-Order Transformation</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32922" y="771299"/>
            <a:ext cx="4650482" cy="2586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945150" y="3428999"/>
            <a:ext cx="5457825" cy="15597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9909618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Address Transformation</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2238" y="824918"/>
            <a:ext cx="8504237" cy="9758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4"/>
          <p:cNvPicPr>
            <a:picLocks noGrp="1"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219200" y="1926090"/>
            <a:ext cx="6858000" cy="25276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0217716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Byte-Manipulation Functions</a:t>
            </a:r>
            <a:endParaRPr lang="en-IN" dirty="0"/>
          </a:p>
        </p:txBody>
      </p:sp>
      <p:sp>
        <p:nvSpPr>
          <p:cNvPr id="3" name="Content Placeholder 2"/>
          <p:cNvSpPr>
            <a:spLocks noGrp="1"/>
          </p:cNvSpPr>
          <p:nvPr>
            <p:ph idx="1"/>
          </p:nvPr>
        </p:nvSpPr>
        <p:spPr/>
        <p:txBody>
          <a:bodyPr/>
          <a:lstStyle/>
          <a:p>
            <a:r>
              <a:rPr lang="en-US" altLang="en-US" dirty="0"/>
              <a:t>In network programming, we often need to initialize a field, copy the contents of one field to another, or compare the contents of two fields.</a:t>
            </a:r>
          </a:p>
          <a:p>
            <a:pPr lvl="1"/>
            <a:r>
              <a:rPr lang="en-US" altLang="en-US" sz="1800" dirty="0"/>
              <a:t>Cannot use string functions (</a:t>
            </a:r>
            <a:r>
              <a:rPr lang="en-US" altLang="en-US" sz="1800" dirty="0" err="1"/>
              <a:t>strcpy</a:t>
            </a:r>
            <a:r>
              <a:rPr lang="en-US" altLang="en-US" sz="1800" dirty="0"/>
              <a:t>, </a:t>
            </a:r>
            <a:r>
              <a:rPr lang="en-US" altLang="en-US" sz="1800" dirty="0" err="1"/>
              <a:t>strcmp</a:t>
            </a:r>
            <a:r>
              <a:rPr lang="en-US" altLang="en-US" sz="1800" dirty="0"/>
              <a:t>, …) which assume null character termination.</a:t>
            </a:r>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3224" y="2544658"/>
            <a:ext cx="8977552" cy="15529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1517136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Byte Manipulation </a:t>
            </a:r>
            <a:r>
              <a:rPr lang="en-IN" dirty="0" smtClean="0"/>
              <a:t>Functions</a:t>
            </a:r>
            <a:endParaRPr lang="en-IN" dirty="0"/>
          </a:p>
        </p:txBody>
      </p:sp>
      <p:sp>
        <p:nvSpPr>
          <p:cNvPr id="3" name="Content Placeholder 2"/>
          <p:cNvSpPr>
            <a:spLocks noGrp="1"/>
          </p:cNvSpPr>
          <p:nvPr>
            <p:ph idx="1"/>
          </p:nvPr>
        </p:nvSpPr>
        <p:spPr/>
        <p:txBody>
          <a:bodyPr/>
          <a:lstStyle/>
          <a:p>
            <a:r>
              <a:rPr lang="en-IN" dirty="0"/>
              <a:t>There are two groups of functions that operate on </a:t>
            </a:r>
            <a:r>
              <a:rPr lang="en-IN" dirty="0" err="1"/>
              <a:t>multibyte</a:t>
            </a:r>
            <a:r>
              <a:rPr lang="en-IN" dirty="0"/>
              <a:t> fields, without interpreting the data, and without assuming that the data is a null-terminated C string</a:t>
            </a:r>
          </a:p>
          <a:p>
            <a:r>
              <a:rPr lang="en-IN" dirty="0"/>
              <a:t>We need these types of functions when dealing with socket address structures because we need to manipulate fields such as IP addresses</a:t>
            </a:r>
          </a:p>
          <a:p>
            <a:r>
              <a:rPr lang="en-IN" dirty="0"/>
              <a:t>The first group of functions, whose names begin with b (for byte), are from 4.2BSD and are still provided by almost any system that supports the socket functions</a:t>
            </a:r>
          </a:p>
          <a:p>
            <a:r>
              <a:rPr lang="en-IN" dirty="0"/>
              <a:t>The second group of functions, whose names begin with </a:t>
            </a:r>
            <a:r>
              <a:rPr lang="en-IN" dirty="0" err="1"/>
              <a:t>mem</a:t>
            </a:r>
            <a:r>
              <a:rPr lang="en-IN" dirty="0"/>
              <a:t> (for memory), are from the ANSI C standard and are provided with any system that supports an ANSI C library</a:t>
            </a:r>
          </a:p>
          <a:p>
            <a:endParaRPr lang="en-IN" dirty="0"/>
          </a:p>
        </p:txBody>
      </p:sp>
    </p:spTree>
    <p:extLst>
      <p:ext uri="{BB962C8B-B14F-4D97-AF65-F5344CB8AC3E}">
        <p14:creationId xmlns:p14="http://schemas.microsoft.com/office/powerpoint/2010/main" xmlns="" val="71198580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Byte Manipulation </a:t>
            </a:r>
            <a:r>
              <a:rPr lang="en-IN" dirty="0" smtClean="0"/>
              <a:t>Functions</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02407" y="832339"/>
            <a:ext cx="8412025" cy="19603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6805" y="3065066"/>
            <a:ext cx="8983228" cy="1578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3008814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91306"/>
            <a:ext cx="6537960" cy="582930"/>
          </a:xfrm>
        </p:spPr>
        <p:txBody>
          <a:bodyPr/>
          <a:lstStyle/>
          <a:p>
            <a:r>
              <a:rPr lang="en-IN" dirty="0" err="1"/>
              <a:t>inet_aton</a:t>
            </a:r>
            <a:r>
              <a:rPr lang="en-IN" dirty="0"/>
              <a:t>, </a:t>
            </a:r>
            <a:r>
              <a:rPr lang="en-IN" dirty="0" err="1"/>
              <a:t>inet_addr</a:t>
            </a:r>
            <a:r>
              <a:rPr lang="en-IN" dirty="0"/>
              <a:t>, and </a:t>
            </a:r>
            <a:r>
              <a:rPr lang="en-IN" dirty="0" err="1"/>
              <a:t>inet_ntoa</a:t>
            </a:r>
            <a:r>
              <a:rPr lang="en-IN" dirty="0"/>
              <a:t> </a:t>
            </a:r>
            <a:r>
              <a:rPr lang="en-IN" dirty="0" smtClean="0"/>
              <a:t>Functions</a:t>
            </a:r>
            <a:endParaRPr lang="en-IN" dirty="0"/>
          </a:p>
        </p:txBody>
      </p:sp>
      <p:sp>
        <p:nvSpPr>
          <p:cNvPr id="3" name="Content Placeholder 2"/>
          <p:cNvSpPr>
            <a:spLocks noGrp="1"/>
          </p:cNvSpPr>
          <p:nvPr>
            <p:ph idx="1"/>
          </p:nvPr>
        </p:nvSpPr>
        <p:spPr/>
        <p:txBody>
          <a:bodyPr/>
          <a:lstStyle/>
          <a:p>
            <a:r>
              <a:rPr lang="en-IN" dirty="0" err="1"/>
              <a:t>inet_aton</a:t>
            </a:r>
            <a:r>
              <a:rPr lang="en-IN" dirty="0"/>
              <a:t>, </a:t>
            </a:r>
            <a:r>
              <a:rPr lang="en-IN" dirty="0" err="1"/>
              <a:t>inet_ntoa</a:t>
            </a:r>
            <a:r>
              <a:rPr lang="en-IN" dirty="0"/>
              <a:t>, and </a:t>
            </a:r>
            <a:r>
              <a:rPr lang="en-IN" dirty="0" err="1"/>
              <a:t>inet_addr</a:t>
            </a:r>
            <a:r>
              <a:rPr lang="en-IN" dirty="0"/>
              <a:t> convert an IPv4 address from a dotted-decimal string (e.g., "206.168.112.96") to its 32-bit network byte ordered binary value</a:t>
            </a:r>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47870" y="1890236"/>
            <a:ext cx="7575259" cy="1843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4971179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91306"/>
            <a:ext cx="6537960" cy="582930"/>
          </a:xfrm>
        </p:spPr>
        <p:txBody>
          <a:bodyPr/>
          <a:lstStyle/>
          <a:p>
            <a:r>
              <a:rPr lang="en-IN" dirty="0" err="1"/>
              <a:t>inet_aton</a:t>
            </a:r>
            <a:r>
              <a:rPr lang="en-IN" dirty="0"/>
              <a:t>, </a:t>
            </a:r>
            <a:r>
              <a:rPr lang="en-IN" dirty="0" err="1"/>
              <a:t>inet_addr</a:t>
            </a:r>
            <a:r>
              <a:rPr lang="en-IN" dirty="0"/>
              <a:t>, and </a:t>
            </a:r>
            <a:r>
              <a:rPr lang="en-IN" dirty="0" err="1"/>
              <a:t>inet_ntoa</a:t>
            </a:r>
            <a:r>
              <a:rPr lang="en-IN" dirty="0"/>
              <a:t> </a:t>
            </a:r>
            <a:r>
              <a:rPr lang="en-IN" dirty="0" smtClean="0"/>
              <a:t>Functions</a:t>
            </a:r>
            <a:endParaRPr lang="en-IN" dirty="0"/>
          </a:p>
        </p:txBody>
      </p:sp>
      <p:sp>
        <p:nvSpPr>
          <p:cNvPr id="3" name="Content Placeholder 2"/>
          <p:cNvSpPr>
            <a:spLocks noGrp="1"/>
          </p:cNvSpPr>
          <p:nvPr>
            <p:ph idx="1"/>
          </p:nvPr>
        </p:nvSpPr>
        <p:spPr/>
        <p:txBody>
          <a:bodyPr/>
          <a:lstStyle/>
          <a:p>
            <a:pPr marL="0" indent="0">
              <a:buNone/>
            </a:pPr>
            <a:r>
              <a:rPr lang="en-IN" dirty="0" err="1">
                <a:solidFill>
                  <a:srgbClr val="00B0F0"/>
                </a:solidFill>
              </a:rPr>
              <a:t>int</a:t>
            </a:r>
            <a:r>
              <a:rPr lang="en-IN" dirty="0">
                <a:solidFill>
                  <a:srgbClr val="00B0F0"/>
                </a:solidFill>
              </a:rPr>
              <a:t> </a:t>
            </a:r>
            <a:r>
              <a:rPr lang="en-IN" dirty="0" err="1">
                <a:solidFill>
                  <a:srgbClr val="00B0F0"/>
                </a:solidFill>
              </a:rPr>
              <a:t>inet_aton</a:t>
            </a:r>
            <a:r>
              <a:rPr lang="en-IN" dirty="0">
                <a:solidFill>
                  <a:srgbClr val="00B0F0"/>
                </a:solidFill>
              </a:rPr>
              <a:t>(</a:t>
            </a:r>
            <a:r>
              <a:rPr lang="en-IN" dirty="0" err="1">
                <a:solidFill>
                  <a:srgbClr val="00B0F0"/>
                </a:solidFill>
              </a:rPr>
              <a:t>const</a:t>
            </a:r>
            <a:r>
              <a:rPr lang="en-IN" dirty="0">
                <a:solidFill>
                  <a:srgbClr val="00B0F0"/>
                </a:solidFill>
              </a:rPr>
              <a:t> char *</a:t>
            </a:r>
            <a:r>
              <a:rPr lang="en-IN" i="1" dirty="0" err="1">
                <a:solidFill>
                  <a:srgbClr val="00B0F0"/>
                </a:solidFill>
              </a:rPr>
              <a:t>strptr</a:t>
            </a:r>
            <a:r>
              <a:rPr lang="en-IN" dirty="0">
                <a:solidFill>
                  <a:srgbClr val="00B0F0"/>
                </a:solidFill>
              </a:rPr>
              <a:t>, </a:t>
            </a:r>
            <a:r>
              <a:rPr lang="en-IN" dirty="0" err="1">
                <a:solidFill>
                  <a:srgbClr val="00B0F0"/>
                </a:solidFill>
              </a:rPr>
              <a:t>struct</a:t>
            </a:r>
            <a:r>
              <a:rPr lang="en-IN" dirty="0">
                <a:solidFill>
                  <a:srgbClr val="00B0F0"/>
                </a:solidFill>
              </a:rPr>
              <a:t> </a:t>
            </a:r>
            <a:r>
              <a:rPr lang="en-IN" dirty="0" err="1">
                <a:solidFill>
                  <a:srgbClr val="00B0F0"/>
                </a:solidFill>
              </a:rPr>
              <a:t>in_addr</a:t>
            </a:r>
            <a:r>
              <a:rPr lang="en-IN" dirty="0">
                <a:solidFill>
                  <a:srgbClr val="00B0F0"/>
                </a:solidFill>
              </a:rPr>
              <a:t> *</a:t>
            </a:r>
            <a:r>
              <a:rPr lang="en-IN" i="1" dirty="0" err="1">
                <a:solidFill>
                  <a:srgbClr val="00B0F0"/>
                </a:solidFill>
              </a:rPr>
              <a:t>addrptr</a:t>
            </a:r>
            <a:r>
              <a:rPr lang="en-IN" dirty="0">
                <a:solidFill>
                  <a:srgbClr val="00B0F0"/>
                </a:solidFill>
              </a:rPr>
              <a:t>);</a:t>
            </a:r>
            <a:r>
              <a:rPr lang="en-IN" dirty="0"/>
              <a:t> </a:t>
            </a:r>
          </a:p>
          <a:p>
            <a:r>
              <a:rPr lang="en-IN" dirty="0" err="1"/>
              <a:t>inet_aton</a:t>
            </a:r>
            <a:r>
              <a:rPr lang="en-IN" dirty="0"/>
              <a:t>, converts the C character string pointed to by </a:t>
            </a:r>
            <a:r>
              <a:rPr lang="en-IN" i="1" dirty="0" err="1"/>
              <a:t>strptr</a:t>
            </a:r>
            <a:r>
              <a:rPr lang="en-IN" i="1" dirty="0"/>
              <a:t> </a:t>
            </a:r>
            <a:r>
              <a:rPr lang="en-IN" dirty="0"/>
              <a:t>into its 32- bit binary network byte ordered value, which is stored through the pointer </a:t>
            </a:r>
            <a:r>
              <a:rPr lang="en-IN" i="1" dirty="0" err="1"/>
              <a:t>addrptr</a:t>
            </a:r>
            <a:endParaRPr lang="en-IN" i="1" dirty="0"/>
          </a:p>
          <a:p>
            <a:r>
              <a:rPr lang="en-IN" dirty="0"/>
              <a:t>If successful, 1 is returned; otherwise, 0 is returned</a:t>
            </a:r>
          </a:p>
          <a:p>
            <a:pPr marL="0" indent="0">
              <a:buNone/>
            </a:pPr>
            <a:r>
              <a:rPr lang="en-IN" dirty="0" err="1">
                <a:solidFill>
                  <a:srgbClr val="00B0F0"/>
                </a:solidFill>
              </a:rPr>
              <a:t>in_addr_t</a:t>
            </a:r>
            <a:r>
              <a:rPr lang="en-IN" dirty="0">
                <a:solidFill>
                  <a:srgbClr val="00B0F0"/>
                </a:solidFill>
              </a:rPr>
              <a:t> </a:t>
            </a:r>
            <a:r>
              <a:rPr lang="en-IN" dirty="0" err="1">
                <a:solidFill>
                  <a:srgbClr val="00B0F0"/>
                </a:solidFill>
              </a:rPr>
              <a:t>inet_addr</a:t>
            </a:r>
            <a:r>
              <a:rPr lang="en-IN" dirty="0">
                <a:solidFill>
                  <a:srgbClr val="00B0F0"/>
                </a:solidFill>
              </a:rPr>
              <a:t>(</a:t>
            </a:r>
            <a:r>
              <a:rPr lang="en-IN" dirty="0" err="1">
                <a:solidFill>
                  <a:srgbClr val="00B0F0"/>
                </a:solidFill>
              </a:rPr>
              <a:t>const</a:t>
            </a:r>
            <a:r>
              <a:rPr lang="en-IN" dirty="0">
                <a:solidFill>
                  <a:srgbClr val="00B0F0"/>
                </a:solidFill>
              </a:rPr>
              <a:t> char *</a:t>
            </a:r>
            <a:r>
              <a:rPr lang="en-IN" i="1" dirty="0" err="1">
                <a:solidFill>
                  <a:srgbClr val="00B0F0"/>
                </a:solidFill>
              </a:rPr>
              <a:t>strptr</a:t>
            </a:r>
            <a:r>
              <a:rPr lang="en-IN" dirty="0">
                <a:solidFill>
                  <a:srgbClr val="00B0F0"/>
                </a:solidFill>
              </a:rPr>
              <a:t>);</a:t>
            </a:r>
          </a:p>
          <a:p>
            <a:r>
              <a:rPr lang="en-IN" dirty="0" err="1"/>
              <a:t>inet_addr</a:t>
            </a:r>
            <a:r>
              <a:rPr lang="en-IN" dirty="0"/>
              <a:t> does the same conversion, returning the 32-bit binary network byte ordered value as the return value</a:t>
            </a:r>
          </a:p>
          <a:p>
            <a:pPr marL="0" indent="0">
              <a:buNone/>
            </a:pPr>
            <a:r>
              <a:rPr lang="en-IN" dirty="0">
                <a:solidFill>
                  <a:srgbClr val="00B0F0"/>
                </a:solidFill>
              </a:rPr>
              <a:t>char *</a:t>
            </a:r>
            <a:r>
              <a:rPr lang="en-IN" dirty="0" err="1">
                <a:solidFill>
                  <a:srgbClr val="00B0F0"/>
                </a:solidFill>
              </a:rPr>
              <a:t>inet_ntoa</a:t>
            </a:r>
            <a:r>
              <a:rPr lang="en-IN" dirty="0">
                <a:solidFill>
                  <a:srgbClr val="00B0F0"/>
                </a:solidFill>
              </a:rPr>
              <a:t>(</a:t>
            </a:r>
            <a:r>
              <a:rPr lang="en-IN" dirty="0" err="1">
                <a:solidFill>
                  <a:srgbClr val="00B0F0"/>
                </a:solidFill>
              </a:rPr>
              <a:t>struct</a:t>
            </a:r>
            <a:r>
              <a:rPr lang="en-IN" dirty="0">
                <a:solidFill>
                  <a:srgbClr val="00B0F0"/>
                </a:solidFill>
              </a:rPr>
              <a:t> </a:t>
            </a:r>
            <a:r>
              <a:rPr lang="en-IN" dirty="0" err="1">
                <a:solidFill>
                  <a:srgbClr val="00B0F0"/>
                </a:solidFill>
              </a:rPr>
              <a:t>in_addr</a:t>
            </a:r>
            <a:r>
              <a:rPr lang="en-IN" dirty="0">
                <a:solidFill>
                  <a:srgbClr val="00B0F0"/>
                </a:solidFill>
              </a:rPr>
              <a:t> </a:t>
            </a:r>
            <a:r>
              <a:rPr lang="en-IN" i="1" dirty="0" err="1">
                <a:solidFill>
                  <a:srgbClr val="00B0F0"/>
                </a:solidFill>
              </a:rPr>
              <a:t>inaddr</a:t>
            </a:r>
            <a:r>
              <a:rPr lang="en-IN" dirty="0">
                <a:solidFill>
                  <a:srgbClr val="00B0F0"/>
                </a:solidFill>
              </a:rPr>
              <a:t>);</a:t>
            </a:r>
          </a:p>
          <a:p>
            <a:r>
              <a:rPr lang="en-IN" dirty="0"/>
              <a:t>The </a:t>
            </a:r>
            <a:r>
              <a:rPr lang="en-IN" dirty="0" err="1"/>
              <a:t>inet_ntoa</a:t>
            </a:r>
            <a:r>
              <a:rPr lang="en-IN" dirty="0"/>
              <a:t> function converts a 32-bit binary network byte ordered IPv4 address into its corresponding dotted-decimal string</a:t>
            </a:r>
            <a:endParaRPr lang="en-IN" dirty="0">
              <a:solidFill>
                <a:srgbClr val="00B0F0"/>
              </a:solidFill>
            </a:endParaRPr>
          </a:p>
        </p:txBody>
      </p:sp>
    </p:spTree>
    <p:extLst>
      <p:ext uri="{BB962C8B-B14F-4D97-AF65-F5344CB8AC3E}">
        <p14:creationId xmlns:p14="http://schemas.microsoft.com/office/powerpoint/2010/main" xmlns="" val="180237462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err="1"/>
              <a:t>inet_pton</a:t>
            </a:r>
            <a:r>
              <a:rPr lang="en-IN" dirty="0"/>
              <a:t> and </a:t>
            </a:r>
            <a:r>
              <a:rPr lang="en-IN" dirty="0" err="1"/>
              <a:t>inet_ntop</a:t>
            </a:r>
            <a:r>
              <a:rPr lang="en-IN" dirty="0"/>
              <a:t> </a:t>
            </a:r>
            <a:r>
              <a:rPr lang="en-IN" dirty="0" smtClean="0"/>
              <a:t>Functions</a:t>
            </a:r>
            <a:endParaRPr lang="en-IN" dirty="0"/>
          </a:p>
        </p:txBody>
      </p:sp>
      <p:sp>
        <p:nvSpPr>
          <p:cNvPr id="3" name="Content Placeholder 2"/>
          <p:cNvSpPr>
            <a:spLocks noGrp="1"/>
          </p:cNvSpPr>
          <p:nvPr>
            <p:ph idx="1"/>
          </p:nvPr>
        </p:nvSpPr>
        <p:spPr/>
        <p:txBody>
          <a:bodyPr/>
          <a:lstStyle/>
          <a:p>
            <a:r>
              <a:rPr lang="en-IN" dirty="0"/>
              <a:t>These two functions work with both IPv4 and IPv6 addresses</a:t>
            </a:r>
          </a:p>
          <a:p>
            <a:r>
              <a:rPr lang="en-IN" dirty="0"/>
              <a:t>The letters "p" and "n" stand for </a:t>
            </a:r>
            <a:r>
              <a:rPr lang="en-IN" i="1" dirty="0"/>
              <a:t>presentation (</a:t>
            </a:r>
            <a:r>
              <a:rPr lang="en-IN" dirty="0"/>
              <a:t>ASCII string)</a:t>
            </a:r>
            <a:r>
              <a:rPr lang="en-IN" i="1" dirty="0"/>
              <a:t> </a:t>
            </a:r>
            <a:r>
              <a:rPr lang="en-IN" dirty="0"/>
              <a:t>and </a:t>
            </a:r>
            <a:r>
              <a:rPr lang="en-IN" i="1" dirty="0"/>
              <a:t>numeric (</a:t>
            </a:r>
            <a:r>
              <a:rPr lang="en-IN" dirty="0"/>
              <a:t>binary value)</a:t>
            </a:r>
          </a:p>
          <a:p>
            <a:endParaRPr lang="en-US" dirty="0"/>
          </a:p>
          <a:p>
            <a:endParaRPr lang="en-US" dirty="0"/>
          </a:p>
          <a:p>
            <a:endParaRPr lang="en-US" dirty="0"/>
          </a:p>
          <a:p>
            <a:endParaRPr lang="en-US" dirty="0"/>
          </a:p>
          <a:p>
            <a:endParaRPr lang="en-US" dirty="0"/>
          </a:p>
          <a:p>
            <a:endParaRPr lang="en-US" dirty="0"/>
          </a:p>
          <a:p>
            <a:r>
              <a:rPr lang="en-IN" dirty="0"/>
              <a:t>The </a:t>
            </a:r>
            <a:r>
              <a:rPr lang="en-IN" i="1" dirty="0"/>
              <a:t>family </a:t>
            </a:r>
            <a:r>
              <a:rPr lang="en-IN" dirty="0"/>
              <a:t>argument for both functions is either AF_INET or AF_INET6</a:t>
            </a:r>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49436" y="1864519"/>
            <a:ext cx="8045128" cy="14144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4458560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91306"/>
            <a:ext cx="6537960" cy="582930"/>
          </a:xfrm>
        </p:spPr>
        <p:txBody>
          <a:bodyPr/>
          <a:lstStyle/>
          <a:p>
            <a:r>
              <a:rPr lang="en-IN" dirty="0"/>
              <a:t>Summary of address conversion </a:t>
            </a:r>
            <a:r>
              <a:rPr lang="en-IN" dirty="0" smtClean="0"/>
              <a:t>functions</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939800" y="847624"/>
            <a:ext cx="6730206" cy="42958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1620213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In this segment</a:t>
            </a:r>
            <a:endParaRPr lang="en-US" dirty="0"/>
          </a:p>
        </p:txBody>
      </p:sp>
      <p:sp>
        <p:nvSpPr>
          <p:cNvPr id="3" name="Content Placeholder 2"/>
          <p:cNvSpPr>
            <a:spLocks noGrp="1"/>
          </p:cNvSpPr>
          <p:nvPr>
            <p:ph idx="1"/>
          </p:nvPr>
        </p:nvSpPr>
        <p:spPr/>
        <p:txBody>
          <a:bodyPr/>
          <a:lstStyle/>
          <a:p>
            <a:r>
              <a:rPr lang="en-US" dirty="0"/>
              <a:t>DNS Servers</a:t>
            </a:r>
            <a:endParaRPr lang="en-IN" dirty="0"/>
          </a:p>
          <a:p>
            <a:r>
              <a:rPr lang="en-US" dirty="0"/>
              <a:t>Iterated queries</a:t>
            </a:r>
          </a:p>
          <a:p>
            <a:r>
              <a:rPr lang="en-US" dirty="0"/>
              <a:t>Caching and updating records</a:t>
            </a:r>
          </a:p>
          <a:p>
            <a:endParaRPr lang="en-US" dirty="0"/>
          </a:p>
          <a:p>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DNS: Domain Name </a:t>
            </a:r>
            <a:r>
              <a:rPr lang="en-US" dirty="0" smtClean="0"/>
              <a:t>System</a:t>
            </a:r>
            <a:endParaRPr lang="en-US" dirty="0"/>
          </a:p>
        </p:txBody>
      </p:sp>
      <p:sp>
        <p:nvSpPr>
          <p:cNvPr id="3" name="Content Placeholder 2"/>
          <p:cNvSpPr>
            <a:spLocks noGrp="1"/>
          </p:cNvSpPr>
          <p:nvPr>
            <p:ph idx="1"/>
          </p:nvPr>
        </p:nvSpPr>
        <p:spPr/>
        <p:txBody>
          <a:bodyPr/>
          <a:lstStyle/>
          <a:p>
            <a:pPr fontAlgn="base">
              <a:spcAft>
                <a:spcPct val="0"/>
              </a:spcAft>
            </a:pPr>
            <a:r>
              <a:rPr lang="en-US" altLang="en-US" dirty="0"/>
              <a:t>People use many identifiers:</a:t>
            </a:r>
          </a:p>
          <a:p>
            <a:pPr lvl="1" fontAlgn="base">
              <a:spcAft>
                <a:spcPct val="0"/>
              </a:spcAft>
            </a:pPr>
            <a:r>
              <a:rPr lang="en-US" altLang="en-US" dirty="0"/>
              <a:t>ID No, PAN no. name, passport no.</a:t>
            </a:r>
          </a:p>
          <a:p>
            <a:pPr lvl="1" fontAlgn="base">
              <a:spcAft>
                <a:spcPct val="0"/>
              </a:spcAft>
            </a:pPr>
            <a:endParaRPr lang="en-US" altLang="en-US" dirty="0"/>
          </a:p>
          <a:p>
            <a:pPr fontAlgn="base">
              <a:spcAft>
                <a:spcPct val="0"/>
              </a:spcAft>
            </a:pPr>
            <a:r>
              <a:rPr lang="en-US" altLang="en-US" dirty="0"/>
              <a:t>Internet hosts, routers:</a:t>
            </a:r>
          </a:p>
          <a:p>
            <a:pPr lvl="1" fontAlgn="base">
              <a:spcAft>
                <a:spcPct val="0"/>
              </a:spcAft>
            </a:pPr>
            <a:r>
              <a:rPr lang="en-US" altLang="en-US" dirty="0"/>
              <a:t>IP address (32 bit) - used for addressing datagrams</a:t>
            </a:r>
          </a:p>
          <a:p>
            <a:pPr lvl="1" fontAlgn="base">
              <a:spcAft>
                <a:spcPct val="0"/>
              </a:spcAft>
            </a:pPr>
            <a:r>
              <a:rPr lang="en-US" altLang="en-US" dirty="0"/>
              <a:t>“name”, e.g., www.yahoo.com - used by humans</a:t>
            </a:r>
          </a:p>
          <a:p>
            <a:pPr lvl="1" fontAlgn="base">
              <a:spcAft>
                <a:spcPct val="0"/>
              </a:spcAft>
            </a:pPr>
            <a:endParaRPr lang="en-US" altLang="en-US" dirty="0"/>
          </a:p>
          <a:p>
            <a:pPr fontAlgn="base">
              <a:spcAft>
                <a:spcPct val="0"/>
              </a:spcAft>
            </a:pPr>
            <a:r>
              <a:rPr lang="en-US" altLang="en-US" u="sng" dirty="0"/>
              <a:t>Q:</a:t>
            </a:r>
            <a:r>
              <a:rPr lang="en-US" altLang="en-US" dirty="0"/>
              <a:t> map between IP addresses and name ?</a:t>
            </a:r>
          </a:p>
          <a:p>
            <a:endParaRPr lang="en-IN" dirty="0"/>
          </a:p>
        </p:txBody>
      </p:sp>
    </p:spTree>
    <p:extLst>
      <p:ext uri="{BB962C8B-B14F-4D97-AF65-F5344CB8AC3E}">
        <p14:creationId xmlns:p14="http://schemas.microsoft.com/office/powerpoint/2010/main" xmlns="" val="395934037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DNS</a:t>
            </a:r>
            <a:endParaRPr lang="en-US" dirty="0"/>
          </a:p>
        </p:txBody>
      </p:sp>
      <p:sp>
        <p:nvSpPr>
          <p:cNvPr id="3" name="Content Placeholder 2"/>
          <p:cNvSpPr>
            <a:spLocks noGrp="1"/>
          </p:cNvSpPr>
          <p:nvPr>
            <p:ph idx="1"/>
          </p:nvPr>
        </p:nvSpPr>
        <p:spPr/>
        <p:txBody>
          <a:bodyPr/>
          <a:lstStyle/>
          <a:p>
            <a:pPr fontAlgn="base">
              <a:spcAft>
                <a:spcPct val="0"/>
              </a:spcAft>
            </a:pPr>
            <a:r>
              <a:rPr lang="en-US" altLang="en-US" sz="2000" dirty="0"/>
              <a:t>Two functions which we use to convert a domain name to IP address:</a:t>
            </a:r>
          </a:p>
          <a:p>
            <a:pPr lvl="1" fontAlgn="base">
              <a:spcAft>
                <a:spcPct val="0"/>
              </a:spcAft>
            </a:pPr>
            <a:r>
              <a:rPr lang="en-US" altLang="en-US" sz="2000" dirty="0" err="1"/>
              <a:t>gethostbyname</a:t>
            </a:r>
            <a:r>
              <a:rPr lang="en-US" altLang="en-US" sz="2000" dirty="0"/>
              <a:t>()  - obsolete</a:t>
            </a:r>
          </a:p>
          <a:p>
            <a:pPr lvl="1" fontAlgn="base">
              <a:spcAft>
                <a:spcPct val="0"/>
              </a:spcAft>
            </a:pPr>
            <a:r>
              <a:rPr lang="en-US" altLang="en-US" sz="2000" dirty="0" err="1"/>
              <a:t>getaddrinfo</a:t>
            </a:r>
            <a:r>
              <a:rPr lang="en-US" altLang="en-US" sz="2000" dirty="0"/>
              <a:t>()  - supports both IPv6 and IPv4</a:t>
            </a:r>
          </a:p>
          <a:p>
            <a:pPr fontAlgn="base">
              <a:spcAft>
                <a:spcPct val="0"/>
              </a:spcAft>
            </a:pPr>
            <a:r>
              <a:rPr lang="en-US" altLang="en-US" sz="2000" dirty="0"/>
              <a:t>Before DNS,  mappings  between  hostnames  and  IP  addresses were defined in a manually maintained local file,  /</a:t>
            </a:r>
            <a:r>
              <a:rPr lang="en-US" altLang="en-US" sz="2000" dirty="0" err="1"/>
              <a:t>etc</a:t>
            </a:r>
            <a:r>
              <a:rPr lang="en-US" altLang="en-US" sz="2000" dirty="0"/>
              <a:t>/hosts</a:t>
            </a:r>
          </a:p>
          <a:p>
            <a:pPr fontAlgn="base">
              <a:spcAft>
                <a:spcPct val="0"/>
              </a:spcAft>
            </a:pPr>
            <a:endParaRPr lang="en-US" altLang="en-US" sz="2000" dirty="0"/>
          </a:p>
          <a:p>
            <a:pPr marL="0" indent="0">
              <a:buNone/>
            </a:pPr>
            <a:endParaRPr lang="en-IN" sz="2000" dirty="0"/>
          </a:p>
        </p:txBody>
      </p:sp>
      <p:pic>
        <p:nvPicPr>
          <p:cNvPr id="4" name="Picture 3"/>
          <p:cNvPicPr>
            <a:picLocks noChangeAspect="1" noChangeArrowheads="1"/>
          </p:cNvPicPr>
          <p:nvPr/>
        </p:nvPicPr>
        <p:blipFill>
          <a:blip r:embed="rId2" cstate="print"/>
          <a:srcRect/>
          <a:stretch>
            <a:fillRect/>
          </a:stretch>
        </p:blipFill>
        <p:spPr bwMode="auto">
          <a:xfrm>
            <a:off x="693132" y="2959928"/>
            <a:ext cx="6850668" cy="1357678"/>
          </a:xfrm>
          <a:prstGeom prst="rect">
            <a:avLst/>
          </a:prstGeom>
          <a:noFill/>
          <a:ln w="9525">
            <a:noFill/>
            <a:miter lim="800000"/>
            <a:headEnd/>
            <a:tailEnd/>
          </a:ln>
        </p:spPr>
      </p:pic>
    </p:spTree>
    <p:extLst>
      <p:ext uri="{BB962C8B-B14F-4D97-AF65-F5344CB8AC3E}">
        <p14:creationId xmlns:p14="http://schemas.microsoft.com/office/powerpoint/2010/main" xmlns="" val="228834219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DNS</a:t>
            </a:r>
            <a:endParaRPr lang="en-US" dirty="0"/>
          </a:p>
        </p:txBody>
      </p:sp>
      <p:sp>
        <p:nvSpPr>
          <p:cNvPr id="3" name="Content Placeholder 2"/>
          <p:cNvSpPr>
            <a:spLocks noGrp="1"/>
          </p:cNvSpPr>
          <p:nvPr>
            <p:ph idx="1"/>
          </p:nvPr>
        </p:nvSpPr>
        <p:spPr/>
        <p:txBody>
          <a:bodyPr/>
          <a:lstStyle/>
          <a:p>
            <a:pPr fontAlgn="base">
              <a:spcAft>
                <a:spcPct val="0"/>
              </a:spcAft>
            </a:pPr>
            <a:r>
              <a:rPr lang="en-US" altLang="en-US" sz="2000" dirty="0"/>
              <a:t>The  /</a:t>
            </a:r>
            <a:r>
              <a:rPr lang="en-US" altLang="en-US" sz="2000" dirty="0" err="1"/>
              <a:t>etc</a:t>
            </a:r>
            <a:r>
              <a:rPr lang="en-US" altLang="en-US" sz="2000" dirty="0"/>
              <a:t>/hosts  scheme scales poorly.</a:t>
            </a:r>
          </a:p>
          <a:p>
            <a:pPr fontAlgn="base">
              <a:spcAft>
                <a:spcPct val="0"/>
              </a:spcAft>
            </a:pPr>
            <a:r>
              <a:rPr lang="en-US" altLang="en-US" sz="2000" dirty="0"/>
              <a:t>DNS was devised to address this problem.</a:t>
            </a:r>
          </a:p>
          <a:p>
            <a:pPr lvl="1" fontAlgn="base">
              <a:spcAft>
                <a:spcPct val="0"/>
              </a:spcAft>
            </a:pPr>
            <a:r>
              <a:rPr lang="en-US" altLang="en-US" sz="2000" dirty="0"/>
              <a:t>Hostnames  are  organized  into  a  hierarchical  namespace.</a:t>
            </a:r>
          </a:p>
          <a:p>
            <a:pPr lvl="2"/>
            <a:r>
              <a:rPr lang="en-US" altLang="en-US" sz="2000" dirty="0"/>
              <a:t>Node in the DNS hierarchy has a label (name), which may be up to 63 characters. </a:t>
            </a:r>
          </a:p>
          <a:p>
            <a:pPr lvl="2"/>
            <a:r>
              <a:rPr lang="en-US" altLang="en-US" sz="2000" dirty="0"/>
              <a:t>At the root of the hierarchy is an unnamed node, the “anonymous root.”</a:t>
            </a:r>
          </a:p>
          <a:p>
            <a:pPr lvl="1" fontAlgn="base">
              <a:spcAft>
                <a:spcPct val="0"/>
              </a:spcAft>
            </a:pPr>
            <a:r>
              <a:rPr lang="en-US" altLang="en-US" sz="2000" dirty="0"/>
              <a:t>A node’s domain name consists of all of the names from that node up to the root  concatenated  together,  with  each  name  separated  by  a  period  ( . )</a:t>
            </a:r>
          </a:p>
          <a:p>
            <a:pPr lvl="1" fontAlgn="base">
              <a:spcAft>
                <a:spcPct val="0"/>
              </a:spcAft>
            </a:pPr>
            <a:endParaRPr lang="en-US" altLang="en-US" sz="2000" dirty="0"/>
          </a:p>
        </p:txBody>
      </p:sp>
    </p:spTree>
    <p:extLst>
      <p:ext uri="{BB962C8B-B14F-4D97-AF65-F5344CB8AC3E}">
        <p14:creationId xmlns:p14="http://schemas.microsoft.com/office/powerpoint/2010/main" xmlns="" val="6032655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DNS</a:t>
            </a:r>
            <a:endParaRPr lang="en-US" dirty="0"/>
          </a:p>
        </p:txBody>
      </p:sp>
      <p:sp>
        <p:nvSpPr>
          <p:cNvPr id="3" name="Content Placeholder 2"/>
          <p:cNvSpPr>
            <a:spLocks noGrp="1"/>
          </p:cNvSpPr>
          <p:nvPr>
            <p:ph idx="1"/>
          </p:nvPr>
        </p:nvSpPr>
        <p:spPr/>
        <p:txBody>
          <a:bodyPr/>
          <a:lstStyle/>
          <a:p>
            <a:pPr lvl="1" fontAlgn="base">
              <a:spcAft>
                <a:spcPct val="0"/>
              </a:spcAft>
              <a:buClr>
                <a:srgbClr val="FF0000"/>
              </a:buClr>
              <a:buFont typeface="Arial" panose="020B0604020202020204" pitchFamily="34" charset="0"/>
              <a:buChar char="•"/>
            </a:pPr>
            <a:r>
              <a:rPr lang="en-US" altLang="en-US" sz="2400" dirty="0"/>
              <a:t>No single organization or system manages the entire hierarchy.</a:t>
            </a:r>
          </a:p>
          <a:p>
            <a:pPr lvl="2">
              <a:buClr>
                <a:srgbClr val="FF0000"/>
              </a:buClr>
            </a:pPr>
            <a:r>
              <a:rPr lang="en-US" altLang="en-US" sz="2400" dirty="0"/>
              <a:t>Instead, there is a hierarchy of DNS servers, each of which manages a branch (a zone) of the tree.</a:t>
            </a:r>
          </a:p>
          <a:p>
            <a:pPr lvl="2">
              <a:buClr>
                <a:srgbClr val="FF0000"/>
              </a:buClr>
            </a:pPr>
            <a:r>
              <a:rPr lang="en-US" altLang="en-US" sz="2400" dirty="0"/>
              <a:t>For adding a host, admin has to add it to local name server.</a:t>
            </a:r>
          </a:p>
          <a:p>
            <a:pPr lvl="1" fontAlgn="base">
              <a:spcAft>
                <a:spcPct val="0"/>
              </a:spcAft>
              <a:buClr>
                <a:srgbClr val="FF0000"/>
              </a:buClr>
              <a:buFont typeface="Arial" panose="020B0604020202020204" pitchFamily="34" charset="0"/>
              <a:buChar char="•"/>
            </a:pPr>
            <a:r>
              <a:rPr lang="en-US" altLang="en-US" sz="2400" dirty="0"/>
              <a:t>DNS servers employ caching techniques to avoid unnecessary communication for frequently queried domain names.</a:t>
            </a:r>
          </a:p>
        </p:txBody>
      </p:sp>
    </p:spTree>
    <p:extLst>
      <p:ext uri="{BB962C8B-B14F-4D97-AF65-F5344CB8AC3E}">
        <p14:creationId xmlns:p14="http://schemas.microsoft.com/office/powerpoint/2010/main" xmlns="" val="340076551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latin typeface="Arial" charset="0"/>
                <a:cs typeface="Arial" charset="0"/>
              </a:rPr>
              <a:t>Resolvers and Name Servers </a:t>
            </a:r>
            <a:endParaRPr lang="en-US" dirty="0"/>
          </a:p>
        </p:txBody>
      </p:sp>
      <p:pic>
        <p:nvPicPr>
          <p:cNvPr id="4" name="Picture 3"/>
          <p:cNvPicPr>
            <a:picLocks noGrp="1" noChangeAspect="1" noChangeArrowheads="1"/>
          </p:cNvPicPr>
          <p:nvPr/>
        </p:nvPicPr>
        <p:blipFill>
          <a:blip r:embed="rId2" cstate="print"/>
          <a:srcRect/>
          <a:stretch>
            <a:fillRect/>
          </a:stretch>
        </p:blipFill>
        <p:spPr bwMode="auto">
          <a:xfrm>
            <a:off x="25305" y="976278"/>
            <a:ext cx="9093390" cy="31909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4098929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DNS - Domain Name </a:t>
            </a:r>
            <a:r>
              <a:rPr lang="en-US" dirty="0" smtClean="0"/>
              <a:t>System</a:t>
            </a:r>
            <a:endParaRPr lang="en-US" dirty="0"/>
          </a:p>
        </p:txBody>
      </p:sp>
      <p:sp>
        <p:nvSpPr>
          <p:cNvPr id="3" name="Content Placeholder 2"/>
          <p:cNvSpPr>
            <a:spLocks noGrp="1"/>
          </p:cNvSpPr>
          <p:nvPr>
            <p:ph idx="1"/>
          </p:nvPr>
        </p:nvSpPr>
        <p:spPr/>
        <p:txBody>
          <a:bodyPr/>
          <a:lstStyle/>
          <a:p>
            <a:pPr marL="0" indent="0" fontAlgn="base">
              <a:lnSpc>
                <a:spcPct val="90000"/>
              </a:lnSpc>
              <a:spcAft>
                <a:spcPct val="0"/>
              </a:spcAft>
              <a:buNone/>
            </a:pPr>
            <a:r>
              <a:rPr lang="en-US" altLang="en-US" sz="2800" u="sng" dirty="0"/>
              <a:t>Why not centralize DNS?</a:t>
            </a:r>
          </a:p>
          <a:p>
            <a:pPr fontAlgn="base">
              <a:lnSpc>
                <a:spcPct val="90000"/>
              </a:lnSpc>
              <a:spcAft>
                <a:spcPct val="0"/>
              </a:spcAft>
            </a:pPr>
            <a:r>
              <a:rPr lang="en-US" altLang="en-US" sz="2800" dirty="0"/>
              <a:t>single point of failure</a:t>
            </a:r>
          </a:p>
          <a:p>
            <a:pPr fontAlgn="base">
              <a:lnSpc>
                <a:spcPct val="90000"/>
              </a:lnSpc>
              <a:spcAft>
                <a:spcPct val="0"/>
              </a:spcAft>
            </a:pPr>
            <a:r>
              <a:rPr lang="en-US" altLang="en-US" sz="2800" dirty="0"/>
              <a:t>traffic volume</a:t>
            </a:r>
          </a:p>
          <a:p>
            <a:pPr fontAlgn="base">
              <a:lnSpc>
                <a:spcPct val="90000"/>
              </a:lnSpc>
              <a:spcAft>
                <a:spcPct val="0"/>
              </a:spcAft>
            </a:pPr>
            <a:r>
              <a:rPr lang="en-US" altLang="en-US" sz="2800" dirty="0"/>
              <a:t>distant centralized database</a:t>
            </a:r>
          </a:p>
          <a:p>
            <a:pPr fontAlgn="base">
              <a:lnSpc>
                <a:spcPct val="90000"/>
              </a:lnSpc>
              <a:spcAft>
                <a:spcPct val="0"/>
              </a:spcAft>
            </a:pPr>
            <a:r>
              <a:rPr lang="en-US" altLang="en-US" sz="2800" dirty="0"/>
              <a:t>Maintenance</a:t>
            </a:r>
          </a:p>
          <a:p>
            <a:pPr fontAlgn="base">
              <a:lnSpc>
                <a:spcPct val="90000"/>
              </a:lnSpc>
              <a:spcAft>
                <a:spcPct val="0"/>
              </a:spcAft>
            </a:pPr>
            <a:r>
              <a:rPr lang="en-US" altLang="en-US" sz="2800" dirty="0"/>
              <a:t>doesn’t </a:t>
            </a:r>
            <a:r>
              <a:rPr lang="en-US" altLang="en-US" sz="2800" b="1" dirty="0"/>
              <a:t>scale!</a:t>
            </a:r>
          </a:p>
          <a:p>
            <a:endParaRPr lang="en-IN" sz="2800" dirty="0"/>
          </a:p>
        </p:txBody>
      </p:sp>
    </p:spTree>
    <p:extLst>
      <p:ext uri="{BB962C8B-B14F-4D97-AF65-F5344CB8AC3E}">
        <p14:creationId xmlns:p14="http://schemas.microsoft.com/office/powerpoint/2010/main" xmlns="" val="308366890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Distributed, Hierarchical </a:t>
            </a:r>
            <a:r>
              <a:rPr lang="en-US" dirty="0" smtClean="0"/>
              <a:t>Database</a:t>
            </a:r>
            <a:endParaRPr lang="en-US" dirty="0"/>
          </a:p>
        </p:txBody>
      </p:sp>
      <p:sp>
        <p:nvSpPr>
          <p:cNvPr id="3" name="Content Placeholder 2"/>
          <p:cNvSpPr>
            <a:spLocks noGrp="1"/>
          </p:cNvSpPr>
          <p:nvPr>
            <p:ph idx="1"/>
          </p:nvPr>
        </p:nvSpPr>
        <p:spPr/>
        <p:txBody>
          <a:bodyPr/>
          <a:lstStyle/>
          <a:p>
            <a:pPr marL="342900" indent="-342900">
              <a:lnSpc>
                <a:spcPct val="90000"/>
              </a:lnSpc>
              <a:spcBef>
                <a:spcPct val="20000"/>
              </a:spcBef>
            </a:pPr>
            <a:endParaRPr lang="en-US" altLang="en-US" u="sng" dirty="0" smtClean="0"/>
          </a:p>
          <a:p>
            <a:pPr marL="342900" indent="-342900">
              <a:lnSpc>
                <a:spcPct val="90000"/>
              </a:lnSpc>
              <a:spcBef>
                <a:spcPct val="20000"/>
              </a:spcBef>
            </a:pPr>
            <a:endParaRPr lang="en-US" altLang="en-US" u="sng" dirty="0"/>
          </a:p>
          <a:p>
            <a:pPr marL="342900" indent="-342900">
              <a:lnSpc>
                <a:spcPct val="90000"/>
              </a:lnSpc>
              <a:spcBef>
                <a:spcPct val="20000"/>
              </a:spcBef>
            </a:pPr>
            <a:endParaRPr lang="en-US" altLang="en-US" u="sng" dirty="0" smtClean="0"/>
          </a:p>
          <a:p>
            <a:pPr marL="342900" indent="-342900">
              <a:lnSpc>
                <a:spcPct val="90000"/>
              </a:lnSpc>
              <a:spcBef>
                <a:spcPct val="20000"/>
              </a:spcBef>
            </a:pPr>
            <a:endParaRPr lang="en-US" altLang="en-US" u="sng" dirty="0"/>
          </a:p>
          <a:p>
            <a:pPr marL="342900" indent="-342900">
              <a:lnSpc>
                <a:spcPct val="90000"/>
              </a:lnSpc>
              <a:spcBef>
                <a:spcPct val="20000"/>
              </a:spcBef>
            </a:pPr>
            <a:endParaRPr lang="en-US" altLang="en-US" u="sng" dirty="0" smtClean="0"/>
          </a:p>
          <a:p>
            <a:pPr marL="342900" indent="-342900">
              <a:lnSpc>
                <a:spcPct val="90000"/>
              </a:lnSpc>
              <a:spcBef>
                <a:spcPct val="20000"/>
              </a:spcBef>
            </a:pPr>
            <a:endParaRPr lang="en-US" altLang="en-US" u="sng" dirty="0"/>
          </a:p>
          <a:p>
            <a:pPr marL="342900" indent="-342900">
              <a:lnSpc>
                <a:spcPct val="90000"/>
              </a:lnSpc>
              <a:spcBef>
                <a:spcPct val="20000"/>
              </a:spcBef>
            </a:pPr>
            <a:endParaRPr lang="en-US" altLang="en-US" u="sng" dirty="0" smtClean="0"/>
          </a:p>
          <a:p>
            <a:pPr marL="342900" indent="-342900">
              <a:lnSpc>
                <a:spcPct val="90000"/>
              </a:lnSpc>
              <a:spcBef>
                <a:spcPct val="20000"/>
              </a:spcBef>
            </a:pPr>
            <a:endParaRPr lang="en-US" altLang="en-US" u="sng" dirty="0"/>
          </a:p>
          <a:p>
            <a:pPr marL="0" indent="0">
              <a:lnSpc>
                <a:spcPct val="90000"/>
              </a:lnSpc>
              <a:spcBef>
                <a:spcPct val="20000"/>
              </a:spcBef>
              <a:buNone/>
            </a:pPr>
            <a:r>
              <a:rPr lang="en-US" altLang="en-US" u="sng" dirty="0" smtClean="0"/>
              <a:t>Client </a:t>
            </a:r>
            <a:r>
              <a:rPr lang="en-US" altLang="en-US" u="sng" dirty="0"/>
              <a:t>wants IP for www.amazon.com</a:t>
            </a:r>
          </a:p>
          <a:p>
            <a:pPr marL="342900" indent="-342900">
              <a:lnSpc>
                <a:spcPct val="90000"/>
              </a:lnSpc>
              <a:spcBef>
                <a:spcPct val="20000"/>
              </a:spcBef>
            </a:pPr>
            <a:r>
              <a:rPr lang="en-US" altLang="en-US" dirty="0"/>
              <a:t>Client queries a root server to find com DNS server</a:t>
            </a:r>
          </a:p>
          <a:p>
            <a:pPr marL="342900" indent="-342900">
              <a:lnSpc>
                <a:spcPct val="90000"/>
              </a:lnSpc>
              <a:spcBef>
                <a:spcPct val="20000"/>
              </a:spcBef>
            </a:pPr>
            <a:r>
              <a:rPr lang="en-US" altLang="en-US" dirty="0"/>
              <a:t>Client queries com DNS server to get amazon.com DNS server</a:t>
            </a:r>
          </a:p>
          <a:p>
            <a:pPr marL="342900" indent="-342900">
              <a:lnSpc>
                <a:spcPct val="90000"/>
              </a:lnSpc>
              <a:spcBef>
                <a:spcPct val="20000"/>
              </a:spcBef>
            </a:pPr>
            <a:r>
              <a:rPr lang="en-US" altLang="en-US" dirty="0"/>
              <a:t>Client queries amazon.com DNS server to get  IP address for www.amazon.com</a:t>
            </a:r>
          </a:p>
          <a:p>
            <a:endParaRPr lang="en-IN" dirty="0"/>
          </a:p>
        </p:txBody>
      </p:sp>
      <p:grpSp>
        <p:nvGrpSpPr>
          <p:cNvPr id="4" name="Group 3"/>
          <p:cNvGrpSpPr>
            <a:grpSpLocks/>
          </p:cNvGrpSpPr>
          <p:nvPr/>
        </p:nvGrpSpPr>
        <p:grpSpPr bwMode="auto">
          <a:xfrm>
            <a:off x="510603" y="813331"/>
            <a:ext cx="8031353" cy="1998449"/>
            <a:chOff x="230" y="576"/>
            <a:chExt cx="5387" cy="1915"/>
          </a:xfrm>
        </p:grpSpPr>
        <p:sp>
          <p:nvSpPr>
            <p:cNvPr id="5" name="Text Box 2"/>
            <p:cNvSpPr txBox="1">
              <a:spLocks noChangeArrowheads="1"/>
            </p:cNvSpPr>
            <p:nvPr/>
          </p:nvSpPr>
          <p:spPr bwMode="auto">
            <a:xfrm>
              <a:off x="2256" y="576"/>
              <a:ext cx="1218" cy="354"/>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Root DNS Servers</a:t>
              </a:r>
            </a:p>
          </p:txBody>
        </p:sp>
        <p:sp>
          <p:nvSpPr>
            <p:cNvPr id="6" name="Text Box 4"/>
            <p:cNvSpPr txBox="1">
              <a:spLocks noChangeArrowheads="1"/>
            </p:cNvSpPr>
            <p:nvPr/>
          </p:nvSpPr>
          <p:spPr bwMode="auto">
            <a:xfrm>
              <a:off x="528" y="1344"/>
              <a:ext cx="1181" cy="354"/>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com DNS servers</a:t>
              </a:r>
            </a:p>
          </p:txBody>
        </p:sp>
        <p:sp>
          <p:nvSpPr>
            <p:cNvPr id="7" name="Text Box 5"/>
            <p:cNvSpPr txBox="1">
              <a:spLocks noChangeArrowheads="1"/>
            </p:cNvSpPr>
            <p:nvPr/>
          </p:nvSpPr>
          <p:spPr bwMode="auto">
            <a:xfrm>
              <a:off x="2304" y="1296"/>
              <a:ext cx="1118" cy="354"/>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org DNS servers</a:t>
              </a:r>
            </a:p>
          </p:txBody>
        </p:sp>
        <p:sp>
          <p:nvSpPr>
            <p:cNvPr id="8" name="Text Box 6"/>
            <p:cNvSpPr txBox="1">
              <a:spLocks noChangeArrowheads="1"/>
            </p:cNvSpPr>
            <p:nvPr/>
          </p:nvSpPr>
          <p:spPr bwMode="auto">
            <a:xfrm>
              <a:off x="4032" y="1296"/>
              <a:ext cx="1152" cy="354"/>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edu DNS servers</a:t>
              </a:r>
            </a:p>
          </p:txBody>
        </p:sp>
        <p:sp>
          <p:nvSpPr>
            <p:cNvPr id="9" name="Line 7"/>
            <p:cNvSpPr>
              <a:spLocks noChangeShapeType="1"/>
            </p:cNvSpPr>
            <p:nvPr/>
          </p:nvSpPr>
          <p:spPr bwMode="auto">
            <a:xfrm flipH="1">
              <a:off x="1344" y="864"/>
              <a:ext cx="1392" cy="432"/>
            </a:xfrm>
            <a:prstGeom prst="line">
              <a:avLst/>
            </a:prstGeom>
            <a:noFill/>
            <a:ln w="31750">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Line 8"/>
            <p:cNvSpPr>
              <a:spLocks noChangeShapeType="1"/>
            </p:cNvSpPr>
            <p:nvPr/>
          </p:nvSpPr>
          <p:spPr bwMode="auto">
            <a:xfrm>
              <a:off x="2928" y="816"/>
              <a:ext cx="0" cy="480"/>
            </a:xfrm>
            <a:prstGeom prst="line">
              <a:avLst/>
            </a:prstGeom>
            <a:noFill/>
            <a:ln w="25400">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Line 9"/>
            <p:cNvSpPr>
              <a:spLocks noChangeShapeType="1"/>
            </p:cNvSpPr>
            <p:nvPr/>
          </p:nvSpPr>
          <p:spPr bwMode="auto">
            <a:xfrm>
              <a:off x="3168" y="864"/>
              <a:ext cx="1440" cy="432"/>
            </a:xfrm>
            <a:prstGeom prst="line">
              <a:avLst/>
            </a:prstGeom>
            <a:noFill/>
            <a:ln w="25400">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Text Box 10"/>
            <p:cNvSpPr txBox="1">
              <a:spLocks noChangeArrowheads="1"/>
            </p:cNvSpPr>
            <p:nvPr/>
          </p:nvSpPr>
          <p:spPr bwMode="auto">
            <a:xfrm>
              <a:off x="3878" y="1752"/>
              <a:ext cx="876" cy="619"/>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mit.edu</a:t>
              </a:r>
            </a:p>
            <a:p>
              <a:r>
                <a:rPr lang="en-US" altLang="en-US"/>
                <a:t>DNS servers</a:t>
              </a:r>
            </a:p>
          </p:txBody>
        </p:sp>
        <p:sp>
          <p:nvSpPr>
            <p:cNvPr id="13" name="Text Box 11"/>
            <p:cNvSpPr txBox="1">
              <a:spLocks noChangeArrowheads="1"/>
            </p:cNvSpPr>
            <p:nvPr/>
          </p:nvSpPr>
          <p:spPr bwMode="auto">
            <a:xfrm>
              <a:off x="4741" y="1752"/>
              <a:ext cx="876" cy="619"/>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cmu.edu</a:t>
              </a:r>
            </a:p>
            <a:p>
              <a:r>
                <a:rPr lang="en-US" altLang="en-US"/>
                <a:t>DNS servers</a:t>
              </a:r>
            </a:p>
          </p:txBody>
        </p:sp>
        <p:sp>
          <p:nvSpPr>
            <p:cNvPr id="14" name="Line 12"/>
            <p:cNvSpPr>
              <a:spLocks noChangeShapeType="1"/>
            </p:cNvSpPr>
            <p:nvPr/>
          </p:nvSpPr>
          <p:spPr bwMode="auto">
            <a:xfrm flipH="1">
              <a:off x="4224" y="1536"/>
              <a:ext cx="336" cy="240"/>
            </a:xfrm>
            <a:prstGeom prst="line">
              <a:avLst/>
            </a:prstGeom>
            <a:noFill/>
            <a:ln w="25400">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Line 13"/>
            <p:cNvSpPr>
              <a:spLocks noChangeShapeType="1"/>
            </p:cNvSpPr>
            <p:nvPr/>
          </p:nvSpPr>
          <p:spPr bwMode="auto">
            <a:xfrm>
              <a:off x="4848" y="1536"/>
              <a:ext cx="288" cy="240"/>
            </a:xfrm>
            <a:prstGeom prst="line">
              <a:avLst/>
            </a:prstGeom>
            <a:noFill/>
            <a:ln w="25400">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Text Box 14"/>
            <p:cNvSpPr txBox="1">
              <a:spLocks noChangeArrowheads="1"/>
            </p:cNvSpPr>
            <p:nvPr/>
          </p:nvSpPr>
          <p:spPr bwMode="auto">
            <a:xfrm>
              <a:off x="230" y="1848"/>
              <a:ext cx="876" cy="619"/>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yahoo.com</a:t>
              </a:r>
            </a:p>
            <a:p>
              <a:r>
                <a:rPr lang="en-US" altLang="en-US"/>
                <a:t>DNS servers</a:t>
              </a:r>
            </a:p>
          </p:txBody>
        </p:sp>
        <p:sp>
          <p:nvSpPr>
            <p:cNvPr id="17" name="Text Box 15"/>
            <p:cNvSpPr txBox="1">
              <a:spLocks noChangeArrowheads="1"/>
            </p:cNvSpPr>
            <p:nvPr/>
          </p:nvSpPr>
          <p:spPr bwMode="auto">
            <a:xfrm>
              <a:off x="1248" y="1872"/>
              <a:ext cx="926" cy="619"/>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amazon.com</a:t>
              </a:r>
            </a:p>
            <a:p>
              <a:r>
                <a:rPr lang="en-US" altLang="en-US"/>
                <a:t>DNS servers</a:t>
              </a:r>
            </a:p>
          </p:txBody>
        </p:sp>
        <p:sp>
          <p:nvSpPr>
            <p:cNvPr id="18" name="Line 16"/>
            <p:cNvSpPr>
              <a:spLocks noChangeShapeType="1"/>
            </p:cNvSpPr>
            <p:nvPr/>
          </p:nvSpPr>
          <p:spPr bwMode="auto">
            <a:xfrm flipH="1">
              <a:off x="768" y="1584"/>
              <a:ext cx="192" cy="288"/>
            </a:xfrm>
            <a:prstGeom prst="line">
              <a:avLst/>
            </a:prstGeom>
            <a:noFill/>
            <a:ln w="25400">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Line 17"/>
            <p:cNvSpPr>
              <a:spLocks noChangeShapeType="1"/>
            </p:cNvSpPr>
            <p:nvPr/>
          </p:nvSpPr>
          <p:spPr bwMode="auto">
            <a:xfrm>
              <a:off x="1392" y="1584"/>
              <a:ext cx="240" cy="288"/>
            </a:xfrm>
            <a:prstGeom prst="line">
              <a:avLst/>
            </a:prstGeom>
            <a:noFill/>
            <a:ln w="25400">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Text Box 18"/>
            <p:cNvSpPr txBox="1">
              <a:spLocks noChangeArrowheads="1"/>
            </p:cNvSpPr>
            <p:nvPr/>
          </p:nvSpPr>
          <p:spPr bwMode="auto">
            <a:xfrm>
              <a:off x="2534" y="1799"/>
              <a:ext cx="876" cy="619"/>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pbs.org</a:t>
              </a:r>
            </a:p>
            <a:p>
              <a:r>
                <a:rPr lang="en-US" altLang="en-US"/>
                <a:t>DNS servers</a:t>
              </a:r>
            </a:p>
          </p:txBody>
        </p:sp>
        <p:sp>
          <p:nvSpPr>
            <p:cNvPr id="21" name="Line 19"/>
            <p:cNvSpPr>
              <a:spLocks noChangeShapeType="1"/>
            </p:cNvSpPr>
            <p:nvPr/>
          </p:nvSpPr>
          <p:spPr bwMode="auto">
            <a:xfrm>
              <a:off x="2928" y="1536"/>
              <a:ext cx="0" cy="288"/>
            </a:xfrm>
            <a:prstGeom prst="line">
              <a:avLst/>
            </a:prstGeom>
            <a:noFill/>
            <a:ln w="25400">
              <a:solidFill>
                <a:schemeClr val="tx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Tree>
    <p:extLst>
      <p:ext uri="{BB962C8B-B14F-4D97-AF65-F5344CB8AC3E}">
        <p14:creationId xmlns:p14="http://schemas.microsoft.com/office/powerpoint/2010/main" xmlns="" val="361985444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Distributed, Hierarchical </a:t>
            </a:r>
            <a:r>
              <a:rPr lang="en-US" dirty="0" smtClean="0"/>
              <a:t>Database</a:t>
            </a:r>
            <a:endParaRPr lang="en-US" dirty="0"/>
          </a:p>
        </p:txBody>
      </p:sp>
      <p:pic>
        <p:nvPicPr>
          <p:cNvPr id="23" name="Picture 22"/>
          <p:cNvPicPr>
            <a:picLocks noChangeAspect="1" noChangeArrowheads="1"/>
          </p:cNvPicPr>
          <p:nvPr/>
        </p:nvPicPr>
        <p:blipFill>
          <a:blip r:embed="rId2" cstate="print"/>
          <a:srcRect/>
          <a:stretch>
            <a:fillRect/>
          </a:stretch>
        </p:blipFill>
        <p:spPr bwMode="auto">
          <a:xfrm>
            <a:off x="584200" y="984250"/>
            <a:ext cx="7543800" cy="3733800"/>
          </a:xfrm>
          <a:prstGeom prst="rect">
            <a:avLst/>
          </a:prstGeom>
          <a:noFill/>
          <a:ln w="9525">
            <a:noFill/>
            <a:miter lim="800000"/>
            <a:headEnd/>
            <a:tailEnd/>
          </a:ln>
        </p:spPr>
      </p:pic>
    </p:spTree>
    <p:extLst>
      <p:ext uri="{BB962C8B-B14F-4D97-AF65-F5344CB8AC3E}">
        <p14:creationId xmlns:p14="http://schemas.microsoft.com/office/powerpoint/2010/main" xmlns="" val="422736217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DNS: Root name </a:t>
            </a:r>
            <a:r>
              <a:rPr lang="en-US" dirty="0" smtClean="0"/>
              <a:t>servers</a:t>
            </a:r>
            <a:endParaRPr lang="en-US" dirty="0"/>
          </a:p>
        </p:txBody>
      </p:sp>
      <p:sp>
        <p:nvSpPr>
          <p:cNvPr id="3" name="Content Placeholder 2"/>
          <p:cNvSpPr>
            <a:spLocks noGrp="1"/>
          </p:cNvSpPr>
          <p:nvPr>
            <p:ph idx="1"/>
          </p:nvPr>
        </p:nvSpPr>
        <p:spPr/>
        <p:txBody>
          <a:bodyPr/>
          <a:lstStyle/>
          <a:p>
            <a:pPr marL="342900" indent="-342900">
              <a:spcBef>
                <a:spcPct val="20000"/>
              </a:spcBef>
              <a:buClr>
                <a:srgbClr val="101141"/>
              </a:buClr>
              <a:buNone/>
            </a:pPr>
            <a:r>
              <a:rPr lang="en-US" altLang="en-US" dirty="0"/>
              <a:t>contacted by local name server that can not resolve name</a:t>
            </a:r>
          </a:p>
          <a:p>
            <a:pPr marL="342900" indent="-342900">
              <a:spcBef>
                <a:spcPct val="20000"/>
              </a:spcBef>
              <a:buClr>
                <a:srgbClr val="101141"/>
              </a:buClr>
              <a:buNone/>
            </a:pPr>
            <a:r>
              <a:rPr lang="en-US" altLang="en-US" dirty="0"/>
              <a:t>root name server</a:t>
            </a:r>
          </a:p>
          <a:p>
            <a:pPr marL="742950" lvl="1" indent="-285750"/>
            <a:r>
              <a:rPr lang="en-US" altLang="en-US" dirty="0"/>
              <a:t>contacts authoritative name server if name mapping not known</a:t>
            </a:r>
          </a:p>
          <a:p>
            <a:pPr marL="742950" lvl="1" indent="-285750"/>
            <a:r>
              <a:rPr lang="en-US" altLang="en-US" dirty="0"/>
              <a:t>gets mapping</a:t>
            </a:r>
          </a:p>
          <a:p>
            <a:pPr marL="742950" lvl="1" indent="-285750"/>
            <a:r>
              <a:rPr lang="en-US" altLang="en-US" dirty="0"/>
              <a:t>returns mapping to local name server</a:t>
            </a:r>
          </a:p>
          <a:p>
            <a:endParaRPr lang="en-IN" dirty="0"/>
          </a:p>
        </p:txBody>
      </p:sp>
      <p:sp>
        <p:nvSpPr>
          <p:cNvPr id="4" name="Rectangle 3"/>
          <p:cNvSpPr>
            <a:spLocks noChangeArrowheads="1"/>
          </p:cNvSpPr>
          <p:nvPr/>
        </p:nvSpPr>
        <p:spPr bwMode="auto">
          <a:xfrm>
            <a:off x="6462712" y="3536354"/>
            <a:ext cx="2681288" cy="608409"/>
          </a:xfrm>
          <a:prstGeom prst="rect">
            <a:avLst/>
          </a:prstGeom>
          <a:noFill/>
          <a:ln w="9525">
            <a:no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Bef>
                <a:spcPct val="20000"/>
              </a:spcBef>
            </a:pPr>
            <a:r>
              <a:rPr lang="en-US" altLang="en-US" sz="2400"/>
              <a:t>    13 root name servers worldwide</a:t>
            </a:r>
            <a:endParaRPr lang="en-US" altLang="en-US" sz="2800"/>
          </a:p>
        </p:txBody>
      </p:sp>
      <p:sp>
        <p:nvSpPr>
          <p:cNvPr id="5" name="AutoShape 22"/>
          <p:cNvSpPr>
            <a:spLocks noChangeAspect="1" noChangeArrowheads="1"/>
          </p:cNvSpPr>
          <p:nvPr/>
        </p:nvSpPr>
        <p:spPr bwMode="auto">
          <a:xfrm>
            <a:off x="822325" y="2387402"/>
            <a:ext cx="5784850" cy="2231231"/>
          </a:xfrm>
          <a:prstGeom prst="rect">
            <a:avLst/>
          </a:prstGeom>
          <a:noFill/>
          <a:ln w="9525">
            <a:no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pic>
        <p:nvPicPr>
          <p:cNvPr id="6" name="Picture 5" descr="worldf"/>
          <p:cNvPicPr>
            <a:picLocks noChangeAspect="1" noChangeArrowheads="1"/>
          </p:cNvPicPr>
          <p:nvPr/>
        </p:nvPicPr>
        <p:blipFill>
          <a:blip r:embed="rId2" cstate="print"/>
          <a:srcRect/>
          <a:stretch>
            <a:fillRect/>
          </a:stretch>
        </p:blipFill>
        <p:spPr bwMode="auto">
          <a:xfrm>
            <a:off x="2143128" y="2985094"/>
            <a:ext cx="4319587" cy="1633538"/>
          </a:xfrm>
          <a:prstGeom prst="rect">
            <a:avLst/>
          </a:prstGeom>
          <a:noFill/>
          <a:ln w="9525">
            <a:noFill/>
            <a:miter lim="800000"/>
            <a:headEnd/>
            <a:tailEnd/>
          </a:ln>
        </p:spPr>
      </p:pic>
      <p:sp>
        <p:nvSpPr>
          <p:cNvPr id="7" name="Freeform 6"/>
          <p:cNvSpPr>
            <a:spLocks/>
          </p:cNvSpPr>
          <p:nvPr/>
        </p:nvSpPr>
        <p:spPr bwMode="auto">
          <a:xfrm>
            <a:off x="2520953" y="2495749"/>
            <a:ext cx="642937" cy="926306"/>
          </a:xfrm>
          <a:custGeom>
            <a:avLst/>
            <a:gdLst>
              <a:gd name="T0" fmla="*/ 0 w 963"/>
              <a:gd name="T1" fmla="*/ 0 h 1893"/>
              <a:gd name="T2" fmla="*/ 0 w 963"/>
              <a:gd name="T3" fmla="*/ 395884273 h 1893"/>
              <a:gd name="T4" fmla="*/ 429250245 w 963"/>
              <a:gd name="T5" fmla="*/ 805816300 h 1893"/>
              <a:gd name="T6" fmla="*/ 0 60000 65536"/>
              <a:gd name="T7" fmla="*/ 0 60000 65536"/>
              <a:gd name="T8" fmla="*/ 0 60000 65536"/>
              <a:gd name="T9" fmla="*/ 0 w 963"/>
              <a:gd name="T10" fmla="*/ 0 h 1893"/>
              <a:gd name="T11" fmla="*/ 963 w 963"/>
              <a:gd name="T12" fmla="*/ 1893 h 1893"/>
            </a:gdLst>
            <a:ahLst/>
            <a:cxnLst>
              <a:cxn ang="T6">
                <a:pos x="T0" y="T1"/>
              </a:cxn>
              <a:cxn ang="T7">
                <a:pos x="T2" y="T3"/>
              </a:cxn>
              <a:cxn ang="T8">
                <a:pos x="T4" y="T5"/>
              </a:cxn>
            </a:cxnLst>
            <a:rect l="T9" t="T10" r="T11" b="T12"/>
            <a:pathLst>
              <a:path w="963" h="1893">
                <a:moveTo>
                  <a:pt x="0" y="0"/>
                </a:moveTo>
                <a:lnTo>
                  <a:pt x="0" y="930"/>
                </a:lnTo>
                <a:lnTo>
                  <a:pt x="963" y="1893"/>
                </a:lnTo>
              </a:path>
            </a:pathLst>
          </a:custGeom>
          <a:noFill/>
          <a:ln w="19050">
            <a:solidFill>
              <a:srgbClr val="000000"/>
            </a:solidFill>
            <a:round/>
            <a:headEnd/>
            <a:tailEnd type="triangle" w="med" len="me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Text Box 25"/>
          <p:cNvSpPr txBox="1">
            <a:spLocks noChangeArrowheads="1"/>
          </p:cNvSpPr>
          <p:nvPr/>
        </p:nvSpPr>
        <p:spPr bwMode="auto">
          <a:xfrm>
            <a:off x="1042990" y="3942358"/>
            <a:ext cx="2024063" cy="276225"/>
          </a:xfrm>
          <a:prstGeom prst="rect">
            <a:avLst/>
          </a:prstGeom>
          <a:noFill/>
          <a:ln w="9525">
            <a:noFill/>
            <a:miter lim="800000"/>
            <a:headEnd/>
            <a:tailEnd/>
          </a:ln>
        </p:spPr>
        <p:txBody>
          <a:bodyPr lIns="71323" tIns="35662" rIns="71323" bIns="35662"/>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altLang="en-US" sz="1000">
                <a:solidFill>
                  <a:srgbClr val="000000"/>
                </a:solidFill>
              </a:rPr>
              <a:t>b USC-ISI Marina del Rey, CA</a:t>
            </a:r>
          </a:p>
          <a:p>
            <a:pPr eaLnBrk="0" hangingPunct="0"/>
            <a:r>
              <a:rPr lang="en-US" altLang="en-US" sz="1000">
                <a:solidFill>
                  <a:srgbClr val="000000"/>
                </a:solidFill>
              </a:rPr>
              <a:t>l  ICANN Los Angeles, CA</a:t>
            </a:r>
          </a:p>
          <a:p>
            <a:pPr algn="ctr" eaLnBrk="0" hangingPunct="0"/>
            <a:endParaRPr lang="en-US" altLang="en-US" sz="2400">
              <a:latin typeface="Times New Roman" pitchFamily="18" charset="0"/>
            </a:endParaRPr>
          </a:p>
        </p:txBody>
      </p:sp>
      <p:sp>
        <p:nvSpPr>
          <p:cNvPr id="9" name="Freeform 8"/>
          <p:cNvSpPr>
            <a:spLocks/>
          </p:cNvSpPr>
          <p:nvPr/>
        </p:nvSpPr>
        <p:spPr bwMode="auto">
          <a:xfrm>
            <a:off x="1868487" y="3536354"/>
            <a:ext cx="762000" cy="409575"/>
          </a:xfrm>
          <a:custGeom>
            <a:avLst/>
            <a:gdLst>
              <a:gd name="T0" fmla="*/ 0 w 582"/>
              <a:gd name="T1" fmla="*/ 700059178 h 426"/>
              <a:gd name="T2" fmla="*/ 997670103 w 582"/>
              <a:gd name="T3" fmla="*/ 0 h 426"/>
              <a:gd name="T4" fmla="*/ 0 60000 65536"/>
              <a:gd name="T5" fmla="*/ 0 60000 65536"/>
              <a:gd name="T6" fmla="*/ 0 w 582"/>
              <a:gd name="T7" fmla="*/ 0 h 426"/>
              <a:gd name="T8" fmla="*/ 582 w 582"/>
              <a:gd name="T9" fmla="*/ 426 h 426"/>
            </a:gdLst>
            <a:ahLst/>
            <a:cxnLst>
              <a:cxn ang="T4">
                <a:pos x="T0" y="T1"/>
              </a:cxn>
              <a:cxn ang="T5">
                <a:pos x="T2" y="T3"/>
              </a:cxn>
            </a:cxnLst>
            <a:rect l="T6" t="T7" r="T8" b="T9"/>
            <a:pathLst>
              <a:path w="582" h="426">
                <a:moveTo>
                  <a:pt x="0" y="426"/>
                </a:moveTo>
                <a:lnTo>
                  <a:pt x="582" y="0"/>
                </a:lnTo>
              </a:path>
            </a:pathLst>
          </a:custGeom>
          <a:noFill/>
          <a:ln w="19050">
            <a:solidFill>
              <a:srgbClr val="000000"/>
            </a:solidFill>
            <a:round/>
            <a:headEnd/>
            <a:tailEnd type="triangle" w="med" len="me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Text Box 27"/>
          <p:cNvSpPr txBox="1">
            <a:spLocks noChangeArrowheads="1"/>
          </p:cNvSpPr>
          <p:nvPr/>
        </p:nvSpPr>
        <p:spPr bwMode="auto">
          <a:xfrm>
            <a:off x="822325" y="3101777"/>
            <a:ext cx="1949450" cy="276225"/>
          </a:xfrm>
          <a:prstGeom prst="rect">
            <a:avLst/>
          </a:prstGeom>
          <a:noFill/>
          <a:ln w="9525">
            <a:noFill/>
            <a:miter lim="800000"/>
            <a:headEnd/>
            <a:tailEnd/>
          </a:ln>
        </p:spPr>
        <p:txBody>
          <a:bodyPr lIns="71323" tIns="35662" rIns="71323" bIns="35662"/>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altLang="en-US" sz="1000">
                <a:solidFill>
                  <a:srgbClr val="000000"/>
                </a:solidFill>
              </a:rPr>
              <a:t>e NASA Mt View, CA</a:t>
            </a:r>
          </a:p>
          <a:p>
            <a:pPr eaLnBrk="0" hangingPunct="0"/>
            <a:r>
              <a:rPr lang="en-US" altLang="en-US" sz="1000">
                <a:solidFill>
                  <a:srgbClr val="000000"/>
                </a:solidFill>
              </a:rPr>
              <a:t>f  Internet Software C. Palo</a:t>
            </a:r>
            <a:r>
              <a:rPr lang="en-US" altLang="en-US" sz="900">
                <a:solidFill>
                  <a:srgbClr val="000000"/>
                </a:solidFill>
              </a:rPr>
              <a:t> Alto, CA (and 17 other locations)</a:t>
            </a:r>
          </a:p>
          <a:p>
            <a:pPr algn="ctr" eaLnBrk="0" hangingPunct="0"/>
            <a:endParaRPr lang="en-US" altLang="en-US" sz="2400">
              <a:latin typeface="Times New Roman" pitchFamily="18" charset="0"/>
            </a:endParaRPr>
          </a:p>
        </p:txBody>
      </p:sp>
      <p:sp>
        <p:nvSpPr>
          <p:cNvPr id="11" name="Freeform 10"/>
          <p:cNvSpPr>
            <a:spLocks/>
          </p:cNvSpPr>
          <p:nvPr/>
        </p:nvSpPr>
        <p:spPr bwMode="auto">
          <a:xfrm flipV="1">
            <a:off x="1765300" y="3352999"/>
            <a:ext cx="817562" cy="138113"/>
          </a:xfrm>
          <a:custGeom>
            <a:avLst/>
            <a:gdLst>
              <a:gd name="T0" fmla="*/ 0 w 582"/>
              <a:gd name="T1" fmla="*/ 79603809 h 426"/>
              <a:gd name="T2" fmla="*/ 1148466708 w 582"/>
              <a:gd name="T3" fmla="*/ 0 h 426"/>
              <a:gd name="T4" fmla="*/ 0 60000 65536"/>
              <a:gd name="T5" fmla="*/ 0 60000 65536"/>
              <a:gd name="T6" fmla="*/ 0 w 582"/>
              <a:gd name="T7" fmla="*/ 0 h 426"/>
              <a:gd name="T8" fmla="*/ 582 w 582"/>
              <a:gd name="T9" fmla="*/ 426 h 426"/>
            </a:gdLst>
            <a:ahLst/>
            <a:cxnLst>
              <a:cxn ang="T4">
                <a:pos x="T0" y="T1"/>
              </a:cxn>
              <a:cxn ang="T5">
                <a:pos x="T2" y="T3"/>
              </a:cxn>
            </a:cxnLst>
            <a:rect l="T6" t="T7" r="T8" b="T9"/>
            <a:pathLst>
              <a:path w="582" h="426">
                <a:moveTo>
                  <a:pt x="0" y="426"/>
                </a:moveTo>
                <a:lnTo>
                  <a:pt x="582" y="0"/>
                </a:lnTo>
              </a:path>
            </a:pathLst>
          </a:custGeom>
          <a:noFill/>
          <a:ln w="19050">
            <a:solidFill>
              <a:srgbClr val="000000"/>
            </a:solidFill>
            <a:round/>
            <a:headEnd/>
            <a:tailEnd type="triangle" w="med" len="me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Text Box 29"/>
          <p:cNvSpPr txBox="1">
            <a:spLocks noChangeArrowheads="1"/>
          </p:cNvSpPr>
          <p:nvPr/>
        </p:nvSpPr>
        <p:spPr bwMode="auto">
          <a:xfrm>
            <a:off x="4549778" y="2777926"/>
            <a:ext cx="2924175" cy="120254"/>
          </a:xfrm>
          <a:prstGeom prst="rect">
            <a:avLst/>
          </a:prstGeom>
          <a:noFill/>
          <a:ln w="9525">
            <a:noFill/>
            <a:miter lim="800000"/>
            <a:headEnd/>
            <a:tailEnd/>
          </a:ln>
        </p:spPr>
        <p:txBody>
          <a:bodyPr lIns="71323" tIns="35662" rIns="71323" bIns="35662"/>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0" hangingPunct="0"/>
            <a:r>
              <a:rPr lang="en-US" altLang="en-US" sz="1000">
                <a:solidFill>
                  <a:srgbClr val="000000"/>
                </a:solidFill>
              </a:rPr>
              <a:t>i </a:t>
            </a:r>
            <a:r>
              <a:rPr lang="en-US" altLang="en-US" sz="1000"/>
              <a:t>Autonomica,</a:t>
            </a:r>
            <a:r>
              <a:rPr lang="en-US" altLang="en-US" sz="1000">
                <a:solidFill>
                  <a:srgbClr val="000000"/>
                </a:solidFill>
              </a:rPr>
              <a:t> Stockholm (plus 3 other locations)</a:t>
            </a:r>
          </a:p>
        </p:txBody>
      </p:sp>
      <p:sp>
        <p:nvSpPr>
          <p:cNvPr id="13" name="Freeform 12"/>
          <p:cNvSpPr>
            <a:spLocks/>
          </p:cNvSpPr>
          <p:nvPr/>
        </p:nvSpPr>
        <p:spPr bwMode="auto">
          <a:xfrm>
            <a:off x="4273553" y="2857699"/>
            <a:ext cx="573087" cy="385763"/>
          </a:xfrm>
          <a:custGeom>
            <a:avLst/>
            <a:gdLst>
              <a:gd name="T0" fmla="*/ 493136201 w 666"/>
              <a:gd name="T1" fmla="*/ 0 h 1005"/>
              <a:gd name="T2" fmla="*/ 0 w 666"/>
              <a:gd name="T3" fmla="*/ 263239724 h 1005"/>
              <a:gd name="T4" fmla="*/ 0 60000 65536"/>
              <a:gd name="T5" fmla="*/ 0 60000 65536"/>
              <a:gd name="T6" fmla="*/ 0 w 666"/>
              <a:gd name="T7" fmla="*/ 0 h 1005"/>
              <a:gd name="T8" fmla="*/ 666 w 666"/>
              <a:gd name="T9" fmla="*/ 1005 h 1005"/>
            </a:gdLst>
            <a:ahLst/>
            <a:cxnLst>
              <a:cxn ang="T4">
                <a:pos x="T0" y="T1"/>
              </a:cxn>
              <a:cxn ang="T5">
                <a:pos x="T2" y="T3"/>
              </a:cxn>
            </a:cxnLst>
            <a:rect l="T6" t="T7" r="T8" b="T9"/>
            <a:pathLst>
              <a:path w="666" h="1005">
                <a:moveTo>
                  <a:pt x="666" y="0"/>
                </a:moveTo>
                <a:lnTo>
                  <a:pt x="0" y="1005"/>
                </a:lnTo>
              </a:path>
            </a:pathLst>
          </a:custGeom>
          <a:noFill/>
          <a:ln w="19050">
            <a:solidFill>
              <a:srgbClr val="000000"/>
            </a:solidFill>
            <a:round/>
            <a:headEnd/>
            <a:tailEnd type="triangle" w="med" len="me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 name="Text Box 31"/>
          <p:cNvSpPr txBox="1">
            <a:spLocks noChangeArrowheads="1"/>
          </p:cNvSpPr>
          <p:nvPr/>
        </p:nvSpPr>
        <p:spPr bwMode="auto">
          <a:xfrm>
            <a:off x="4662490" y="2502892"/>
            <a:ext cx="2519363" cy="160734"/>
          </a:xfrm>
          <a:prstGeom prst="rect">
            <a:avLst/>
          </a:prstGeom>
          <a:noFill/>
          <a:ln w="9525">
            <a:noFill/>
            <a:miter lim="800000"/>
            <a:headEnd/>
            <a:tailEnd/>
          </a:ln>
        </p:spPr>
        <p:txBody>
          <a:bodyPr lIns="71323" tIns="35662" rIns="71323" bIns="35662"/>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altLang="en-US" sz="1000">
                <a:solidFill>
                  <a:srgbClr val="000000"/>
                </a:solidFill>
              </a:rPr>
              <a:t>k RIPE London (also Amsterdam, Frankfurt)</a:t>
            </a:r>
            <a:endParaRPr lang="en-US" altLang="en-US" sz="2400">
              <a:latin typeface="Times New Roman" pitchFamily="18" charset="0"/>
            </a:endParaRPr>
          </a:p>
        </p:txBody>
      </p:sp>
      <p:sp>
        <p:nvSpPr>
          <p:cNvPr id="15" name="Freeform 14"/>
          <p:cNvSpPr>
            <a:spLocks/>
          </p:cNvSpPr>
          <p:nvPr/>
        </p:nvSpPr>
        <p:spPr bwMode="auto">
          <a:xfrm>
            <a:off x="4092575" y="2598143"/>
            <a:ext cx="615950" cy="709613"/>
          </a:xfrm>
          <a:custGeom>
            <a:avLst/>
            <a:gdLst>
              <a:gd name="T0" fmla="*/ 411490675 w 922"/>
              <a:gd name="T1" fmla="*/ 0 h 1448"/>
              <a:gd name="T2" fmla="*/ 0 w 922"/>
              <a:gd name="T3" fmla="*/ 618231922 h 1448"/>
              <a:gd name="T4" fmla="*/ 0 60000 65536"/>
              <a:gd name="T5" fmla="*/ 0 60000 65536"/>
              <a:gd name="T6" fmla="*/ 0 w 922"/>
              <a:gd name="T7" fmla="*/ 0 h 1448"/>
              <a:gd name="T8" fmla="*/ 922 w 922"/>
              <a:gd name="T9" fmla="*/ 1448 h 1448"/>
            </a:gdLst>
            <a:ahLst/>
            <a:cxnLst>
              <a:cxn ang="T4">
                <a:pos x="T0" y="T1"/>
              </a:cxn>
              <a:cxn ang="T5">
                <a:pos x="T2" y="T3"/>
              </a:cxn>
            </a:cxnLst>
            <a:rect l="T6" t="T7" r="T8" b="T9"/>
            <a:pathLst>
              <a:path w="922" h="1448">
                <a:moveTo>
                  <a:pt x="922" y="0"/>
                </a:moveTo>
                <a:lnTo>
                  <a:pt x="0" y="1448"/>
                </a:lnTo>
              </a:path>
            </a:pathLst>
          </a:custGeom>
          <a:noFill/>
          <a:ln w="19050">
            <a:solidFill>
              <a:srgbClr val="000000"/>
            </a:solidFill>
            <a:round/>
            <a:headEnd/>
            <a:tailEnd type="triangle" w="med" len="me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Text Box 33"/>
          <p:cNvSpPr txBox="1">
            <a:spLocks noChangeArrowheads="1"/>
          </p:cNvSpPr>
          <p:nvPr/>
        </p:nvSpPr>
        <p:spPr bwMode="auto">
          <a:xfrm>
            <a:off x="5792787" y="2975571"/>
            <a:ext cx="1252538" cy="175022"/>
          </a:xfrm>
          <a:prstGeom prst="rect">
            <a:avLst/>
          </a:prstGeom>
          <a:noFill/>
          <a:ln w="9525">
            <a:noFill/>
            <a:miter lim="800000"/>
            <a:headEnd/>
            <a:tailEnd/>
          </a:ln>
        </p:spPr>
        <p:txBody>
          <a:bodyPr lIns="71323" tIns="35662" rIns="71323" bIns="35662"/>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altLang="en-US" sz="1000">
                <a:solidFill>
                  <a:srgbClr val="000000"/>
                </a:solidFill>
              </a:rPr>
              <a:t>m WIDE Tokyo</a:t>
            </a:r>
            <a:endParaRPr lang="en-US" altLang="en-US" sz="2400">
              <a:latin typeface="Times New Roman" pitchFamily="18" charset="0"/>
            </a:endParaRPr>
          </a:p>
        </p:txBody>
      </p:sp>
      <p:sp>
        <p:nvSpPr>
          <p:cNvPr id="17" name="Freeform 16"/>
          <p:cNvSpPr>
            <a:spLocks/>
          </p:cNvSpPr>
          <p:nvPr/>
        </p:nvSpPr>
        <p:spPr bwMode="auto">
          <a:xfrm>
            <a:off x="5916615" y="3136305"/>
            <a:ext cx="314325" cy="338138"/>
          </a:xfrm>
          <a:custGeom>
            <a:avLst/>
            <a:gdLst>
              <a:gd name="T0" fmla="*/ 392064308 w 252"/>
              <a:gd name="T1" fmla="*/ 0 h 462"/>
              <a:gd name="T2" fmla="*/ 0 w 252"/>
              <a:gd name="T3" fmla="*/ 439969096 h 462"/>
              <a:gd name="T4" fmla="*/ 0 60000 65536"/>
              <a:gd name="T5" fmla="*/ 0 60000 65536"/>
              <a:gd name="T6" fmla="*/ 0 w 252"/>
              <a:gd name="T7" fmla="*/ 0 h 462"/>
              <a:gd name="T8" fmla="*/ 252 w 252"/>
              <a:gd name="T9" fmla="*/ 462 h 462"/>
            </a:gdLst>
            <a:ahLst/>
            <a:cxnLst>
              <a:cxn ang="T4">
                <a:pos x="T0" y="T1"/>
              </a:cxn>
              <a:cxn ang="T5">
                <a:pos x="T2" y="T3"/>
              </a:cxn>
            </a:cxnLst>
            <a:rect l="T6" t="T7" r="T8" b="T9"/>
            <a:pathLst>
              <a:path w="252" h="462">
                <a:moveTo>
                  <a:pt x="252" y="0"/>
                </a:moveTo>
                <a:lnTo>
                  <a:pt x="0" y="462"/>
                </a:lnTo>
              </a:path>
            </a:pathLst>
          </a:custGeom>
          <a:noFill/>
          <a:ln w="19050">
            <a:solidFill>
              <a:srgbClr val="000000"/>
            </a:solidFill>
            <a:round/>
            <a:headEnd/>
            <a:tailEnd type="triangle" w="med" len="me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Text Box 35"/>
          <p:cNvSpPr txBox="1">
            <a:spLocks noChangeArrowheads="1"/>
          </p:cNvSpPr>
          <p:nvPr/>
        </p:nvSpPr>
        <p:spPr bwMode="auto">
          <a:xfrm>
            <a:off x="2503487" y="2226668"/>
            <a:ext cx="2598738" cy="597694"/>
          </a:xfrm>
          <a:prstGeom prst="rect">
            <a:avLst/>
          </a:prstGeom>
          <a:noFill/>
          <a:ln w="9525">
            <a:noFill/>
            <a:miter lim="800000"/>
            <a:headEnd/>
            <a:tailEnd/>
          </a:ln>
        </p:spPr>
        <p:txBody>
          <a:bodyPr lIns="71323" tIns="35662" rIns="71323" bIns="35662"/>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altLang="en-US" sz="1000">
                <a:solidFill>
                  <a:srgbClr val="000000"/>
                </a:solidFill>
              </a:rPr>
              <a:t>a Verisign, Dulles, VA</a:t>
            </a:r>
          </a:p>
          <a:p>
            <a:pPr eaLnBrk="0" hangingPunct="0"/>
            <a:r>
              <a:rPr lang="en-US" altLang="en-US" sz="1000">
                <a:solidFill>
                  <a:srgbClr val="000000"/>
                </a:solidFill>
              </a:rPr>
              <a:t>c Cogent, Herndon, VA (also Los Angeles)</a:t>
            </a:r>
          </a:p>
          <a:p>
            <a:pPr eaLnBrk="0" hangingPunct="0"/>
            <a:r>
              <a:rPr lang="en-US" altLang="en-US" sz="1000">
                <a:solidFill>
                  <a:srgbClr val="000000"/>
                </a:solidFill>
              </a:rPr>
              <a:t>d U Maryland College Park, MD</a:t>
            </a:r>
          </a:p>
          <a:p>
            <a:pPr eaLnBrk="0" hangingPunct="0"/>
            <a:r>
              <a:rPr lang="en-US" altLang="en-US" sz="1000">
                <a:solidFill>
                  <a:srgbClr val="000000"/>
                </a:solidFill>
              </a:rPr>
              <a:t>g US DoD Vienna, VA</a:t>
            </a:r>
          </a:p>
          <a:p>
            <a:pPr eaLnBrk="0" hangingPunct="0"/>
            <a:r>
              <a:rPr lang="en-US" altLang="en-US" sz="1000">
                <a:solidFill>
                  <a:srgbClr val="000000"/>
                </a:solidFill>
              </a:rPr>
              <a:t>h ARL Aberdeen, MD</a:t>
            </a:r>
          </a:p>
          <a:p>
            <a:pPr eaLnBrk="0" hangingPunct="0"/>
            <a:r>
              <a:rPr lang="en-US" altLang="en-US" sz="900">
                <a:solidFill>
                  <a:srgbClr val="000000"/>
                </a:solidFill>
              </a:rPr>
              <a:t>j  Verisign, ( 11 locations)</a:t>
            </a:r>
          </a:p>
          <a:p>
            <a:pPr algn="ctr" eaLnBrk="0" hangingPunct="0"/>
            <a:endParaRPr lang="en-US" altLang="en-US" sz="2400">
              <a:latin typeface="Times New Roman" pitchFamily="18" charset="0"/>
            </a:endParaRPr>
          </a:p>
        </p:txBody>
      </p:sp>
    </p:spTree>
    <p:extLst>
      <p:ext uri="{BB962C8B-B14F-4D97-AF65-F5344CB8AC3E}">
        <p14:creationId xmlns:p14="http://schemas.microsoft.com/office/powerpoint/2010/main" xmlns="" val="389777196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TLD and Authoritative </a:t>
            </a:r>
            <a:r>
              <a:rPr lang="en-US" dirty="0" smtClean="0"/>
              <a:t>Servers</a:t>
            </a:r>
            <a:endParaRPr lang="en-US" dirty="0"/>
          </a:p>
        </p:txBody>
      </p:sp>
      <p:sp>
        <p:nvSpPr>
          <p:cNvPr id="3" name="Content Placeholder 2"/>
          <p:cNvSpPr>
            <a:spLocks noGrp="1"/>
          </p:cNvSpPr>
          <p:nvPr>
            <p:ph idx="1"/>
          </p:nvPr>
        </p:nvSpPr>
        <p:spPr/>
        <p:txBody>
          <a:bodyPr/>
          <a:lstStyle/>
          <a:p>
            <a:pPr fontAlgn="base">
              <a:lnSpc>
                <a:spcPct val="150000"/>
              </a:lnSpc>
              <a:spcAft>
                <a:spcPct val="0"/>
              </a:spcAft>
            </a:pPr>
            <a:r>
              <a:rPr lang="en-US" altLang="en-US" sz="2000" dirty="0"/>
              <a:t>Top-level domain (TLD) servers: responsible for com, org, net, </a:t>
            </a:r>
            <a:r>
              <a:rPr lang="en-US" altLang="en-US" sz="2000" dirty="0" err="1"/>
              <a:t>edu</a:t>
            </a:r>
            <a:r>
              <a:rPr lang="en-US" altLang="en-US" sz="2000" dirty="0"/>
              <a:t>, </a:t>
            </a:r>
            <a:r>
              <a:rPr lang="en-US" altLang="en-US" sz="2000" dirty="0" err="1"/>
              <a:t>gov</a:t>
            </a:r>
            <a:r>
              <a:rPr lang="en-US" altLang="en-US" sz="2000" dirty="0"/>
              <a:t> , </a:t>
            </a:r>
            <a:r>
              <a:rPr lang="en-US" altLang="en-US" sz="2000" dirty="0" err="1"/>
              <a:t>int</a:t>
            </a:r>
            <a:r>
              <a:rPr lang="en-US" altLang="en-US" sz="2000" dirty="0"/>
              <a:t>  and all top-level country domains </a:t>
            </a:r>
            <a:r>
              <a:rPr lang="en-US" altLang="en-US" sz="2000" dirty="0" err="1"/>
              <a:t>uk</a:t>
            </a:r>
            <a:r>
              <a:rPr lang="en-US" altLang="en-US" sz="2000" dirty="0"/>
              <a:t>, </a:t>
            </a:r>
            <a:r>
              <a:rPr lang="en-US" altLang="en-US" sz="2000" dirty="0" err="1"/>
              <a:t>fr</a:t>
            </a:r>
            <a:r>
              <a:rPr lang="en-US" altLang="en-US" sz="2000" dirty="0"/>
              <a:t>, ca, </a:t>
            </a:r>
            <a:r>
              <a:rPr lang="en-US" altLang="en-US" sz="2000" dirty="0" err="1"/>
              <a:t>jp</a:t>
            </a:r>
            <a:r>
              <a:rPr lang="en-US" altLang="en-US" sz="2000" dirty="0"/>
              <a:t>.</a:t>
            </a:r>
          </a:p>
          <a:p>
            <a:pPr lvl="1" fontAlgn="base">
              <a:lnSpc>
                <a:spcPct val="150000"/>
              </a:lnSpc>
              <a:spcAft>
                <a:spcPct val="0"/>
              </a:spcAft>
            </a:pPr>
            <a:r>
              <a:rPr lang="en-US" altLang="en-US" sz="2000" dirty="0"/>
              <a:t>Network solutions maintains servers for com TLD</a:t>
            </a:r>
          </a:p>
          <a:p>
            <a:pPr lvl="1" fontAlgn="base">
              <a:lnSpc>
                <a:spcPct val="150000"/>
              </a:lnSpc>
              <a:spcAft>
                <a:spcPct val="0"/>
              </a:spcAft>
            </a:pPr>
            <a:r>
              <a:rPr lang="en-US" altLang="en-US" sz="2000" dirty="0"/>
              <a:t>Educational use for </a:t>
            </a:r>
            <a:r>
              <a:rPr lang="en-US" altLang="en-US" sz="2000" dirty="0" err="1"/>
              <a:t>edu</a:t>
            </a:r>
            <a:r>
              <a:rPr lang="en-US" altLang="en-US" sz="2000" dirty="0"/>
              <a:t> TLD</a:t>
            </a:r>
          </a:p>
          <a:p>
            <a:pPr fontAlgn="base">
              <a:lnSpc>
                <a:spcPct val="150000"/>
              </a:lnSpc>
              <a:spcAft>
                <a:spcPct val="0"/>
              </a:spcAft>
            </a:pPr>
            <a:r>
              <a:rPr lang="en-US" altLang="en-US" sz="2000" dirty="0" smtClean="0"/>
              <a:t>Authoritative </a:t>
            </a:r>
            <a:r>
              <a:rPr lang="en-US" altLang="en-US" sz="2000" dirty="0"/>
              <a:t>DNS servers: organization’s DNS servers, providing authoritative hostname to IP mappings for organization’s servers (e.g., Web and mail).</a:t>
            </a:r>
          </a:p>
          <a:p>
            <a:pPr lvl="1" fontAlgn="base">
              <a:lnSpc>
                <a:spcPct val="150000"/>
              </a:lnSpc>
              <a:spcAft>
                <a:spcPct val="0"/>
              </a:spcAft>
            </a:pPr>
            <a:r>
              <a:rPr lang="en-US" altLang="en-US" sz="2000" dirty="0"/>
              <a:t>Can be maintained by organization or service provider</a:t>
            </a:r>
          </a:p>
          <a:p>
            <a:pPr lvl="1" fontAlgn="base">
              <a:lnSpc>
                <a:spcPct val="150000"/>
              </a:lnSpc>
              <a:spcAft>
                <a:spcPct val="0"/>
              </a:spcAft>
            </a:pPr>
            <a:endParaRPr lang="en-US" altLang="en-US" sz="2000" dirty="0"/>
          </a:p>
          <a:p>
            <a:pPr fontAlgn="base">
              <a:lnSpc>
                <a:spcPct val="150000"/>
              </a:lnSpc>
              <a:spcAft>
                <a:spcPct val="0"/>
              </a:spcAft>
            </a:pPr>
            <a:endParaRPr lang="en-US" altLang="en-US" sz="2000" dirty="0"/>
          </a:p>
          <a:p>
            <a:pPr>
              <a:lnSpc>
                <a:spcPct val="150000"/>
              </a:lnSpc>
            </a:pPr>
            <a:endParaRPr lang="en-IN" sz="2000" dirty="0"/>
          </a:p>
        </p:txBody>
      </p:sp>
    </p:spTree>
    <p:extLst>
      <p:ext uri="{BB962C8B-B14F-4D97-AF65-F5344CB8AC3E}">
        <p14:creationId xmlns:p14="http://schemas.microsoft.com/office/powerpoint/2010/main" xmlns="" val="17661159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Local Name Server</a:t>
            </a:r>
            <a:endParaRPr lang="en-US" dirty="0"/>
          </a:p>
        </p:txBody>
      </p:sp>
      <p:sp>
        <p:nvSpPr>
          <p:cNvPr id="3" name="Content Placeholder 2"/>
          <p:cNvSpPr>
            <a:spLocks noGrp="1"/>
          </p:cNvSpPr>
          <p:nvPr>
            <p:ph idx="1"/>
          </p:nvPr>
        </p:nvSpPr>
        <p:spPr/>
        <p:txBody>
          <a:bodyPr/>
          <a:lstStyle/>
          <a:p>
            <a:pPr fontAlgn="base">
              <a:spcAft>
                <a:spcPct val="0"/>
              </a:spcAft>
            </a:pPr>
            <a:r>
              <a:rPr lang="en-US" altLang="en-US" sz="2400" dirty="0"/>
              <a:t>Does not strictly belong to hierarchy</a:t>
            </a:r>
          </a:p>
          <a:p>
            <a:pPr fontAlgn="base">
              <a:spcAft>
                <a:spcPct val="0"/>
              </a:spcAft>
            </a:pPr>
            <a:r>
              <a:rPr lang="en-US" altLang="en-US" sz="2400" dirty="0"/>
              <a:t>Each ISP (residential ISP, company, university) has one</a:t>
            </a:r>
          </a:p>
          <a:p>
            <a:pPr lvl="1" fontAlgn="base">
              <a:spcAft>
                <a:spcPct val="0"/>
              </a:spcAft>
            </a:pPr>
            <a:r>
              <a:rPr lang="en-US" altLang="en-US" sz="2400" dirty="0"/>
              <a:t>Also called “default name server”</a:t>
            </a:r>
          </a:p>
          <a:p>
            <a:pPr lvl="1" fontAlgn="base">
              <a:spcAft>
                <a:spcPct val="0"/>
              </a:spcAft>
            </a:pPr>
            <a:endParaRPr lang="en-US" altLang="en-US" sz="2400" dirty="0"/>
          </a:p>
          <a:p>
            <a:pPr fontAlgn="base">
              <a:spcAft>
                <a:spcPct val="0"/>
              </a:spcAft>
            </a:pPr>
            <a:r>
              <a:rPr lang="en-US" altLang="en-US" sz="2400" dirty="0"/>
              <a:t>When a host makes a DNS query, query is sent to its local DNS server</a:t>
            </a:r>
          </a:p>
          <a:p>
            <a:pPr lvl="1" fontAlgn="base">
              <a:spcAft>
                <a:spcPct val="0"/>
              </a:spcAft>
            </a:pPr>
            <a:r>
              <a:rPr lang="en-US" altLang="en-US" sz="2400" dirty="0"/>
              <a:t>Acts as a proxy, forwards query into hierarchy</a:t>
            </a:r>
          </a:p>
          <a:p>
            <a:pPr fontAlgn="base">
              <a:spcAft>
                <a:spcPct val="0"/>
              </a:spcAft>
            </a:pPr>
            <a:endParaRPr lang="en-US" altLang="en-US" sz="2400" dirty="0"/>
          </a:p>
          <a:p>
            <a:endParaRPr lang="en-IN" sz="2400" dirty="0"/>
          </a:p>
        </p:txBody>
      </p:sp>
    </p:spTree>
    <p:extLst>
      <p:ext uri="{BB962C8B-B14F-4D97-AF65-F5344CB8AC3E}">
        <p14:creationId xmlns:p14="http://schemas.microsoft.com/office/powerpoint/2010/main" xmlns="" val="323098350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DNS </a:t>
            </a:r>
            <a:r>
              <a:rPr lang="en-US" dirty="0" smtClean="0"/>
              <a:t>Lookup</a:t>
            </a:r>
            <a:endParaRPr lang="en-US" dirty="0"/>
          </a:p>
        </p:txBody>
      </p:sp>
      <p:sp>
        <p:nvSpPr>
          <p:cNvPr id="3" name="Content Placeholder 2"/>
          <p:cNvSpPr>
            <a:spLocks noGrp="1"/>
          </p:cNvSpPr>
          <p:nvPr>
            <p:ph idx="1"/>
          </p:nvPr>
        </p:nvSpPr>
        <p:spPr/>
        <p:txBody>
          <a:bodyPr/>
          <a:lstStyle/>
          <a:p>
            <a:pPr fontAlgn="base">
              <a:spcAft>
                <a:spcPct val="0"/>
              </a:spcAft>
            </a:pPr>
            <a:r>
              <a:rPr lang="en-US" altLang="en-US" sz="2400" dirty="0"/>
              <a:t>Not every name server knows about every other name server.</a:t>
            </a:r>
          </a:p>
          <a:p>
            <a:pPr fontAlgn="base">
              <a:spcAft>
                <a:spcPct val="0"/>
              </a:spcAft>
            </a:pPr>
            <a:r>
              <a:rPr lang="en-US" altLang="en-US" sz="2400" dirty="0"/>
              <a:t>Name server must know the IP address of root servers.</a:t>
            </a:r>
          </a:p>
          <a:p>
            <a:pPr fontAlgn="base">
              <a:spcAft>
                <a:spcPct val="0"/>
              </a:spcAft>
            </a:pPr>
            <a:r>
              <a:rPr lang="en-US" altLang="en-US" sz="2400" dirty="0"/>
              <a:t>Root servers know the name and location for all second-level domains.</a:t>
            </a:r>
          </a:p>
          <a:p>
            <a:endParaRPr lang="en-IN" sz="2400" dirty="0"/>
          </a:p>
        </p:txBody>
      </p:sp>
    </p:spTree>
    <p:extLst>
      <p:ext uri="{BB962C8B-B14F-4D97-AF65-F5344CB8AC3E}">
        <p14:creationId xmlns:p14="http://schemas.microsoft.com/office/powerpoint/2010/main" xmlns="" val="320210571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Recursive and Iterative </a:t>
            </a:r>
            <a:r>
              <a:rPr lang="en-US" dirty="0" smtClean="0"/>
              <a:t>Lookups</a:t>
            </a:r>
            <a:endParaRPr lang="en-US" dirty="0"/>
          </a:p>
        </p:txBody>
      </p:sp>
      <p:sp>
        <p:nvSpPr>
          <p:cNvPr id="3" name="Content Placeholder 2"/>
          <p:cNvSpPr>
            <a:spLocks noGrp="1"/>
          </p:cNvSpPr>
          <p:nvPr>
            <p:ph idx="1"/>
          </p:nvPr>
        </p:nvSpPr>
        <p:spPr/>
        <p:txBody>
          <a:bodyPr/>
          <a:lstStyle/>
          <a:p>
            <a:pPr fontAlgn="base">
              <a:spcAft>
                <a:spcPct val="0"/>
              </a:spcAft>
            </a:pPr>
            <a:r>
              <a:rPr lang="en-US" altLang="en-US" sz="2000" dirty="0"/>
              <a:t>DNS resolution requests fall into two categories: recursive and iterative. </a:t>
            </a:r>
          </a:p>
          <a:p>
            <a:pPr lvl="1" fontAlgn="base">
              <a:spcAft>
                <a:spcPct val="0"/>
              </a:spcAft>
            </a:pPr>
            <a:r>
              <a:rPr lang="en-US" altLang="en-US" sz="2000" dirty="0"/>
              <a:t>In a recursive request, the requester asks the server to handle the entire task of resolution.</a:t>
            </a:r>
          </a:p>
          <a:p>
            <a:pPr fontAlgn="base">
              <a:spcAft>
                <a:spcPct val="0"/>
              </a:spcAft>
            </a:pPr>
            <a:r>
              <a:rPr lang="en-US" altLang="en-US" sz="2000" dirty="0"/>
              <a:t>When  an  application  on  the  local  host  calls  </a:t>
            </a:r>
            <a:r>
              <a:rPr lang="en-US" altLang="en-US" sz="2000" i="1" dirty="0" err="1"/>
              <a:t>getaddrinfo</a:t>
            </a:r>
            <a:r>
              <a:rPr lang="en-US" altLang="en-US" sz="2000" dirty="0"/>
              <a:t>(),  that  function  makes  a recursive request to the local DNS server. </a:t>
            </a:r>
          </a:p>
          <a:p>
            <a:pPr fontAlgn="base">
              <a:spcAft>
                <a:spcPct val="0"/>
              </a:spcAft>
            </a:pPr>
            <a:r>
              <a:rPr lang="en-US" altLang="en-US" sz="2000" dirty="0"/>
              <a:t>If the local DNS server does not itself have the information to perform the resolution, it resolves the domain name iteratively.</a:t>
            </a:r>
          </a:p>
          <a:p>
            <a:pPr marL="0" indent="0">
              <a:buNone/>
            </a:pPr>
            <a:endParaRPr lang="en-IN" sz="2000" dirty="0"/>
          </a:p>
        </p:txBody>
      </p:sp>
    </p:spTree>
    <p:extLst>
      <p:ext uri="{BB962C8B-B14F-4D97-AF65-F5344CB8AC3E}">
        <p14:creationId xmlns:p14="http://schemas.microsoft.com/office/powerpoint/2010/main" xmlns="" val="108853464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pPr marL="0" indent="0">
              <a:buNone/>
            </a:pPr>
            <a:r>
              <a:rPr lang="en-US" altLang="en-US" dirty="0"/>
              <a:t>Host at cis.poly.edu wants IP address for gaia.cs.umass.edu</a:t>
            </a:r>
          </a:p>
          <a:p>
            <a:pPr marL="0" indent="0">
              <a:buNone/>
            </a:pPr>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299968" y="3674777"/>
            <a:ext cx="833438" cy="478631"/>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ext Box 5"/>
          <p:cNvSpPr txBox="1">
            <a:spLocks noChangeArrowheads="1"/>
          </p:cNvSpPr>
          <p:nvPr/>
        </p:nvSpPr>
        <p:spPr bwMode="auto">
          <a:xfrm>
            <a:off x="4459755" y="4108164"/>
            <a:ext cx="1861407" cy="615553"/>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latin typeface="Comic Sans MS" pitchFamily="66" charset="0"/>
              </a:rPr>
              <a:t>requesting host</a:t>
            </a:r>
            <a:endParaRPr lang="en-US" altLang="en-US" sz="2400">
              <a:latin typeface="Times New Roman" pitchFamily="18" charset="0"/>
            </a:endParaRPr>
          </a:p>
          <a:p>
            <a:pPr algn="ctr" eaLnBrk="0" hangingPunct="0"/>
            <a:r>
              <a:rPr lang="en-US" altLang="en-US" sz="1600" b="1">
                <a:latin typeface="Courier New" pitchFamily="49" charset="0"/>
              </a:rPr>
              <a:t>cis.poly.edu</a:t>
            </a:r>
            <a:endParaRPr lang="en-US" altLang="en-US" sz="1600">
              <a:latin typeface="Times New Roman" pitchFamily="18" charset="0"/>
            </a:endParaRPr>
          </a:p>
        </p:txBody>
      </p:sp>
      <p:sp>
        <p:nvSpPr>
          <p:cNvPr id="6" name="Text Box 6"/>
          <p:cNvSpPr txBox="1">
            <a:spLocks noChangeArrowheads="1"/>
          </p:cNvSpPr>
          <p:nvPr/>
        </p:nvSpPr>
        <p:spPr bwMode="auto">
          <a:xfrm>
            <a:off x="6783404" y="4699903"/>
            <a:ext cx="2282997" cy="338554"/>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sz="1600" b="1">
                <a:latin typeface="Courier New" pitchFamily="49" charset="0"/>
              </a:rPr>
              <a:t>gaia.cs.umass.edu</a:t>
            </a:r>
            <a:endParaRPr lang="en-US" altLang="en-US" sz="1600">
              <a:latin typeface="Times New Roman" pitchFamily="18" charset="0"/>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24043" y="4274852"/>
            <a:ext cx="833438" cy="47863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a:grpSpLocks/>
          </p:cNvGrpSpPr>
          <p:nvPr/>
        </p:nvGrpSpPr>
        <p:grpSpPr bwMode="auto">
          <a:xfrm>
            <a:off x="5547618" y="2118635"/>
            <a:ext cx="369888" cy="492921"/>
            <a:chOff x="4180" y="783"/>
            <a:chExt cx="150" cy="307"/>
          </a:xfrm>
        </p:grpSpPr>
        <p:sp>
          <p:nvSpPr>
            <p:cNvPr id="58" name="AutoShape 9"/>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59" name="Rectangle 58"/>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60" name="Rectangle 5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61" name="AutoShape 1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62" name="Line 13"/>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3" name="Line 14"/>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4" name="Rectangle 6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65" name="Rectangle 64"/>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grpSp>
      <p:sp>
        <p:nvSpPr>
          <p:cNvPr id="9" name="Text Box 17"/>
          <p:cNvSpPr txBox="1">
            <a:spLocks noChangeArrowheads="1"/>
          </p:cNvSpPr>
          <p:nvPr/>
        </p:nvSpPr>
        <p:spPr bwMode="auto">
          <a:xfrm>
            <a:off x="7044631" y="1057782"/>
            <a:ext cx="2011362" cy="369332"/>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latin typeface="Comic Sans MS" pitchFamily="66" charset="0"/>
              </a:rPr>
              <a:t>root DNS server</a:t>
            </a:r>
            <a:endParaRPr lang="en-US" altLang="en-US" sz="1600">
              <a:latin typeface="Times New Roman" pitchFamily="18" charset="0"/>
            </a:endParaRPr>
          </a:p>
        </p:txBody>
      </p:sp>
      <p:sp>
        <p:nvSpPr>
          <p:cNvPr id="10" name="Line 18"/>
          <p:cNvSpPr>
            <a:spLocks noChangeShapeType="1"/>
          </p:cNvSpPr>
          <p:nvPr/>
        </p:nvSpPr>
        <p:spPr bwMode="auto">
          <a:xfrm flipH="1" flipV="1">
            <a:off x="5596831" y="2634169"/>
            <a:ext cx="0" cy="985838"/>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Line 19"/>
          <p:cNvSpPr>
            <a:spLocks noChangeShapeType="1"/>
          </p:cNvSpPr>
          <p:nvPr/>
        </p:nvSpPr>
        <p:spPr bwMode="auto">
          <a:xfrm flipV="1">
            <a:off x="5711131" y="1362583"/>
            <a:ext cx="914400" cy="728663"/>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Line 20"/>
          <p:cNvSpPr>
            <a:spLocks noChangeShapeType="1"/>
          </p:cNvSpPr>
          <p:nvPr/>
        </p:nvSpPr>
        <p:spPr bwMode="auto">
          <a:xfrm flipV="1">
            <a:off x="5996881" y="2234121"/>
            <a:ext cx="1485900" cy="7144"/>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Line 21"/>
          <p:cNvSpPr>
            <a:spLocks noChangeShapeType="1"/>
          </p:cNvSpPr>
          <p:nvPr/>
        </p:nvSpPr>
        <p:spPr bwMode="auto">
          <a:xfrm flipH="1" flipV="1">
            <a:off x="5996881" y="2362707"/>
            <a:ext cx="1419225" cy="0"/>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 name="Line 22"/>
          <p:cNvSpPr>
            <a:spLocks noChangeShapeType="1"/>
          </p:cNvSpPr>
          <p:nvPr/>
        </p:nvSpPr>
        <p:spPr bwMode="auto">
          <a:xfrm flipH="1">
            <a:off x="5920684" y="1534032"/>
            <a:ext cx="733425" cy="571500"/>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Line 23"/>
          <p:cNvSpPr>
            <a:spLocks noChangeShapeType="1"/>
          </p:cNvSpPr>
          <p:nvPr/>
        </p:nvSpPr>
        <p:spPr bwMode="auto">
          <a:xfrm>
            <a:off x="5787334" y="2655602"/>
            <a:ext cx="9525" cy="992981"/>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16" name="Group 15"/>
          <p:cNvGrpSpPr>
            <a:grpSpLocks/>
          </p:cNvGrpSpPr>
          <p:nvPr/>
        </p:nvGrpSpPr>
        <p:grpSpPr bwMode="auto">
          <a:xfrm>
            <a:off x="4431605" y="2743708"/>
            <a:ext cx="2016124" cy="615552"/>
            <a:chOff x="2794" y="2132"/>
            <a:chExt cx="1270" cy="517"/>
          </a:xfrm>
        </p:grpSpPr>
        <p:sp>
          <p:nvSpPr>
            <p:cNvPr id="56" name="Rectangle 55"/>
            <p:cNvSpPr>
              <a:spLocks noChangeArrowheads="1"/>
            </p:cNvSpPr>
            <p:nvPr/>
          </p:nvSpPr>
          <p:spPr bwMode="auto">
            <a:xfrm>
              <a:off x="2838" y="2178"/>
              <a:ext cx="1182" cy="300"/>
            </a:xfrm>
            <a:prstGeom prst="rect">
              <a:avLst/>
            </a:prstGeom>
            <a:solidFill>
              <a:schemeClr val="bg1"/>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57" name="Text Box 26"/>
            <p:cNvSpPr txBox="1">
              <a:spLocks noChangeArrowheads="1"/>
            </p:cNvSpPr>
            <p:nvPr/>
          </p:nvSpPr>
          <p:spPr bwMode="auto">
            <a:xfrm>
              <a:off x="2794" y="2132"/>
              <a:ext cx="1270" cy="517"/>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dirty="0">
                  <a:latin typeface="Comic Sans MS" pitchFamily="66" charset="0"/>
                </a:rPr>
                <a:t>local DNS server</a:t>
              </a:r>
              <a:endParaRPr lang="en-US" altLang="en-US" sz="2400" dirty="0">
                <a:latin typeface="Times New Roman" pitchFamily="18" charset="0"/>
              </a:endParaRPr>
            </a:p>
            <a:p>
              <a:pPr algn="ctr" eaLnBrk="0" hangingPunct="0"/>
              <a:r>
                <a:rPr lang="en-US" altLang="en-US" sz="1600" b="1" dirty="0">
                  <a:latin typeface="Courier New" pitchFamily="49" charset="0"/>
                </a:rPr>
                <a:t>dns.poly.edu</a:t>
              </a:r>
              <a:endParaRPr lang="en-US" altLang="en-US" sz="1600" dirty="0">
                <a:latin typeface="Times New Roman" pitchFamily="18" charset="0"/>
              </a:endParaRPr>
            </a:p>
          </p:txBody>
        </p:sp>
      </p:grpSp>
      <p:sp>
        <p:nvSpPr>
          <p:cNvPr id="17" name="Text Box 27"/>
          <p:cNvSpPr txBox="1">
            <a:spLocks noChangeArrowheads="1"/>
          </p:cNvSpPr>
          <p:nvPr/>
        </p:nvSpPr>
        <p:spPr bwMode="auto">
          <a:xfrm>
            <a:off x="5312638" y="3275917"/>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1</a:t>
            </a:r>
            <a:endParaRPr lang="en-US" altLang="en-US" sz="2400">
              <a:latin typeface="Times New Roman" pitchFamily="18" charset="0"/>
            </a:endParaRPr>
          </a:p>
        </p:txBody>
      </p:sp>
      <p:sp>
        <p:nvSpPr>
          <p:cNvPr id="18" name="Text Box 28"/>
          <p:cNvSpPr txBox="1">
            <a:spLocks noChangeArrowheads="1"/>
          </p:cNvSpPr>
          <p:nvPr/>
        </p:nvSpPr>
        <p:spPr bwMode="auto">
          <a:xfrm>
            <a:off x="5855563" y="1525699"/>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2</a:t>
            </a:r>
            <a:endParaRPr lang="en-US" altLang="en-US" sz="2400">
              <a:latin typeface="Times New Roman" pitchFamily="18" charset="0"/>
            </a:endParaRPr>
          </a:p>
        </p:txBody>
      </p:sp>
      <p:sp>
        <p:nvSpPr>
          <p:cNvPr id="19" name="Text Box 29"/>
          <p:cNvSpPr txBox="1">
            <a:spLocks noChangeArrowheads="1"/>
          </p:cNvSpPr>
          <p:nvPr/>
        </p:nvSpPr>
        <p:spPr bwMode="auto">
          <a:xfrm>
            <a:off x="6293713" y="1704292"/>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3</a:t>
            </a:r>
            <a:endParaRPr lang="en-US" altLang="en-US" sz="2400">
              <a:latin typeface="Times New Roman" pitchFamily="18" charset="0"/>
            </a:endParaRPr>
          </a:p>
        </p:txBody>
      </p:sp>
      <p:sp>
        <p:nvSpPr>
          <p:cNvPr id="20" name="Text Box 30"/>
          <p:cNvSpPr txBox="1">
            <a:spLocks noChangeArrowheads="1"/>
          </p:cNvSpPr>
          <p:nvPr/>
        </p:nvSpPr>
        <p:spPr bwMode="auto">
          <a:xfrm>
            <a:off x="6608038" y="2011474"/>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4</a:t>
            </a:r>
            <a:endParaRPr lang="en-US" altLang="en-US" sz="2400">
              <a:latin typeface="Times New Roman" pitchFamily="18" charset="0"/>
            </a:endParaRPr>
          </a:p>
        </p:txBody>
      </p:sp>
      <p:sp>
        <p:nvSpPr>
          <p:cNvPr id="21" name="Text Box 31"/>
          <p:cNvSpPr txBox="1">
            <a:spLocks noChangeArrowheads="1"/>
          </p:cNvSpPr>
          <p:nvPr/>
        </p:nvSpPr>
        <p:spPr bwMode="auto">
          <a:xfrm>
            <a:off x="6638200" y="2376996"/>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5</a:t>
            </a:r>
            <a:endParaRPr lang="en-US" altLang="en-US" sz="2400">
              <a:latin typeface="Times New Roman" pitchFamily="18" charset="0"/>
            </a:endParaRPr>
          </a:p>
        </p:txBody>
      </p:sp>
      <p:sp>
        <p:nvSpPr>
          <p:cNvPr id="22" name="Text Box 32"/>
          <p:cNvSpPr txBox="1">
            <a:spLocks noChangeArrowheads="1"/>
          </p:cNvSpPr>
          <p:nvPr/>
        </p:nvSpPr>
        <p:spPr bwMode="auto">
          <a:xfrm>
            <a:off x="7235100" y="3156855"/>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6</a:t>
            </a:r>
            <a:endParaRPr lang="en-US" altLang="en-US" sz="2400">
              <a:latin typeface="Times New Roman" pitchFamily="18" charset="0"/>
            </a:endParaRPr>
          </a:p>
        </p:txBody>
      </p:sp>
      <p:grpSp>
        <p:nvGrpSpPr>
          <p:cNvPr id="23" name="Group 22"/>
          <p:cNvGrpSpPr>
            <a:grpSpLocks/>
          </p:cNvGrpSpPr>
          <p:nvPr/>
        </p:nvGrpSpPr>
        <p:grpSpPr bwMode="auto">
          <a:xfrm>
            <a:off x="6662043" y="1054216"/>
            <a:ext cx="369888" cy="492921"/>
            <a:chOff x="4180" y="783"/>
            <a:chExt cx="150" cy="307"/>
          </a:xfrm>
        </p:grpSpPr>
        <p:sp>
          <p:nvSpPr>
            <p:cNvPr id="48" name="AutoShape 3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49" name="Rectangle 48"/>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50" name="Rectangle 4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51" name="AutoShape 3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52" name="Line 38"/>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Line 39"/>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 name="Rectangle 5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55" name="Rectangle 54"/>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grpSp>
      <p:grpSp>
        <p:nvGrpSpPr>
          <p:cNvPr id="24" name="Group 23"/>
          <p:cNvGrpSpPr>
            <a:grpSpLocks/>
          </p:cNvGrpSpPr>
          <p:nvPr/>
        </p:nvGrpSpPr>
        <p:grpSpPr bwMode="auto">
          <a:xfrm>
            <a:off x="7490718" y="2125779"/>
            <a:ext cx="369888" cy="492921"/>
            <a:chOff x="4180" y="783"/>
            <a:chExt cx="150" cy="307"/>
          </a:xfrm>
        </p:grpSpPr>
        <p:sp>
          <p:nvSpPr>
            <p:cNvPr id="40" name="AutoShape 43"/>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41" name="Rectangle 40"/>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42" name="Rectangle 4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43" name="AutoShape 4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44" name="Line 47"/>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Line 48"/>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Rectangle 4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47" name="Rectangle 46"/>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grpSp>
      <p:grpSp>
        <p:nvGrpSpPr>
          <p:cNvPr id="25" name="Group 24"/>
          <p:cNvGrpSpPr>
            <a:grpSpLocks/>
          </p:cNvGrpSpPr>
          <p:nvPr/>
        </p:nvGrpSpPr>
        <p:grpSpPr bwMode="auto">
          <a:xfrm>
            <a:off x="7471668" y="3340216"/>
            <a:ext cx="369888" cy="492921"/>
            <a:chOff x="4180" y="783"/>
            <a:chExt cx="150" cy="307"/>
          </a:xfrm>
        </p:grpSpPr>
        <p:sp>
          <p:nvSpPr>
            <p:cNvPr id="32" name="AutoShape 52"/>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33" name="Rectangle 32"/>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34" name="Rectangle 3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35" name="AutoShape 5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36" name="Line 56"/>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Line 57"/>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Rectangle 3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39" name="Rectangle 38"/>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grpSp>
      <p:sp>
        <p:nvSpPr>
          <p:cNvPr id="26" name="Text Box 60"/>
          <p:cNvSpPr txBox="1">
            <a:spLocks noChangeArrowheads="1"/>
          </p:cNvSpPr>
          <p:nvPr/>
        </p:nvSpPr>
        <p:spPr bwMode="auto">
          <a:xfrm>
            <a:off x="6541952" y="3768836"/>
            <a:ext cx="2642070" cy="584775"/>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sz="1600">
                <a:latin typeface="Comic Sans MS" pitchFamily="66" charset="0"/>
              </a:rPr>
              <a:t>authoritative DNS server</a:t>
            </a:r>
            <a:endParaRPr lang="en-US" altLang="en-US" sz="2400">
              <a:latin typeface="Times New Roman" pitchFamily="18" charset="0"/>
            </a:endParaRPr>
          </a:p>
          <a:p>
            <a:pPr algn="ctr" eaLnBrk="0" hangingPunct="0"/>
            <a:r>
              <a:rPr lang="en-US" altLang="en-US" sz="1600" b="1">
                <a:latin typeface="Courier New" pitchFamily="49" charset="0"/>
              </a:rPr>
              <a:t>dns.cs.umass.edu</a:t>
            </a:r>
            <a:endParaRPr lang="en-US" altLang="en-US" sz="1600">
              <a:latin typeface="Times New Roman" pitchFamily="18" charset="0"/>
            </a:endParaRPr>
          </a:p>
        </p:txBody>
      </p:sp>
      <p:sp>
        <p:nvSpPr>
          <p:cNvPr id="27" name="Text Box 61"/>
          <p:cNvSpPr txBox="1">
            <a:spLocks noChangeArrowheads="1"/>
          </p:cNvSpPr>
          <p:nvPr/>
        </p:nvSpPr>
        <p:spPr bwMode="auto">
          <a:xfrm>
            <a:off x="6608038" y="3179477"/>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7</a:t>
            </a:r>
            <a:endParaRPr lang="en-US" altLang="en-US" sz="2400">
              <a:latin typeface="Times New Roman" pitchFamily="18" charset="0"/>
            </a:endParaRPr>
          </a:p>
        </p:txBody>
      </p:sp>
      <p:sp>
        <p:nvSpPr>
          <p:cNvPr id="28" name="Text Box 62"/>
          <p:cNvSpPr txBox="1">
            <a:spLocks noChangeArrowheads="1"/>
          </p:cNvSpPr>
          <p:nvPr/>
        </p:nvSpPr>
        <p:spPr bwMode="auto">
          <a:xfrm>
            <a:off x="5865088" y="3290205"/>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8</a:t>
            </a:r>
            <a:endParaRPr lang="en-US" altLang="en-US" sz="2400">
              <a:latin typeface="Times New Roman" pitchFamily="18" charset="0"/>
            </a:endParaRPr>
          </a:p>
        </p:txBody>
      </p:sp>
      <p:sp>
        <p:nvSpPr>
          <p:cNvPr id="29" name="Line 63"/>
          <p:cNvSpPr>
            <a:spLocks noChangeShapeType="1"/>
          </p:cNvSpPr>
          <p:nvPr/>
        </p:nvSpPr>
        <p:spPr bwMode="auto">
          <a:xfrm>
            <a:off x="5930208" y="2482960"/>
            <a:ext cx="1493837" cy="985838"/>
          </a:xfrm>
          <a:prstGeom prst="line">
            <a:avLst/>
          </a:prstGeom>
          <a:noFill/>
          <a:ln w="25400">
            <a:solidFill>
              <a:srgbClr val="FF0000"/>
            </a:solidFill>
            <a:round/>
            <a:headEnd/>
            <a:tailEnd type="triangle" w="med" len="me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Line 64"/>
          <p:cNvSpPr>
            <a:spLocks noChangeShapeType="1"/>
          </p:cNvSpPr>
          <p:nvPr/>
        </p:nvSpPr>
        <p:spPr bwMode="auto">
          <a:xfrm flipH="1" flipV="1">
            <a:off x="5890518" y="2569877"/>
            <a:ext cx="1493838" cy="976313"/>
          </a:xfrm>
          <a:prstGeom prst="line">
            <a:avLst/>
          </a:prstGeom>
          <a:noFill/>
          <a:ln w="25400">
            <a:solidFill>
              <a:srgbClr val="FF0000"/>
            </a:solidFill>
            <a:round/>
            <a:headEnd/>
            <a:tailEnd type="triangle" w="med" len="me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Rectangle 30"/>
          <p:cNvSpPr>
            <a:spLocks noChangeArrowheads="1"/>
          </p:cNvSpPr>
          <p:nvPr/>
        </p:nvSpPr>
        <p:spPr bwMode="auto">
          <a:xfrm>
            <a:off x="7509771" y="2591307"/>
            <a:ext cx="1614545" cy="369332"/>
          </a:xfrm>
          <a:prstGeom prst="rect">
            <a:avLst/>
          </a:prstGeom>
          <a:noFill/>
          <a:ln w="9525" algn="ctr">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altLang="en-US" b="1"/>
              <a:t>dns.umass.edu</a:t>
            </a:r>
          </a:p>
        </p:txBody>
      </p:sp>
    </p:spTree>
    <p:extLst>
      <p:ext uri="{BB962C8B-B14F-4D97-AF65-F5344CB8AC3E}">
        <p14:creationId xmlns:p14="http://schemas.microsoft.com/office/powerpoint/2010/main" xmlns="" val="279863099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a:defRPr/>
            </a:pPr>
            <a:r>
              <a:rPr lang="en-US" dirty="0"/>
              <a:t>Recursive queries</a:t>
            </a:r>
          </a:p>
        </p:txBody>
      </p:sp>
      <p:sp>
        <p:nvSpPr>
          <p:cNvPr id="3" name="Content Placeholder 2"/>
          <p:cNvSpPr>
            <a:spLocks noGrp="1"/>
          </p:cNvSpPr>
          <p:nvPr>
            <p:ph idx="1"/>
          </p:nvPr>
        </p:nvSpPr>
        <p:spPr>
          <a:xfrm>
            <a:off x="274321" y="754380"/>
            <a:ext cx="3519352" cy="4114800"/>
          </a:xfrm>
        </p:spPr>
        <p:txBody>
          <a:bodyPr/>
          <a:lstStyle/>
          <a:p>
            <a:pPr marL="0" indent="0">
              <a:spcBef>
                <a:spcPct val="20000"/>
              </a:spcBef>
              <a:buNone/>
            </a:pPr>
            <a:r>
              <a:rPr lang="en-US" altLang="en-US" u="sng" dirty="0"/>
              <a:t>recursive query:</a:t>
            </a:r>
            <a:endParaRPr lang="en-US" altLang="en-US" dirty="0"/>
          </a:p>
          <a:p>
            <a:pPr marL="342900" indent="-342900">
              <a:spcBef>
                <a:spcPct val="20000"/>
              </a:spcBef>
              <a:buFontTx/>
              <a:buChar char="•"/>
            </a:pPr>
            <a:r>
              <a:rPr lang="en-US" altLang="en-US" dirty="0"/>
              <a:t>puts burden of name resolution on contacted name server</a:t>
            </a:r>
          </a:p>
          <a:p>
            <a:pPr marL="342900" indent="-342900">
              <a:spcBef>
                <a:spcPct val="20000"/>
              </a:spcBef>
              <a:buFontTx/>
              <a:buChar char="•"/>
            </a:pPr>
            <a:r>
              <a:rPr lang="en-US" altLang="en-US" dirty="0"/>
              <a:t>heavy load?</a:t>
            </a:r>
          </a:p>
          <a:p>
            <a:pPr marL="0" indent="0">
              <a:spcBef>
                <a:spcPct val="50000"/>
              </a:spcBef>
              <a:buNone/>
            </a:pPr>
            <a:r>
              <a:rPr lang="en-US" altLang="en-US" u="sng" dirty="0"/>
              <a:t>iterated query:</a:t>
            </a:r>
            <a:endParaRPr lang="en-US" altLang="en-US" dirty="0"/>
          </a:p>
          <a:p>
            <a:pPr marL="342900" indent="-342900">
              <a:spcBef>
                <a:spcPct val="20000"/>
              </a:spcBef>
              <a:buFontTx/>
              <a:buChar char="•"/>
            </a:pPr>
            <a:r>
              <a:rPr lang="en-US" altLang="en-US" dirty="0"/>
              <a:t>contacted server replies with name of server to contact</a:t>
            </a:r>
          </a:p>
          <a:p>
            <a:pPr marL="342900" indent="-342900">
              <a:spcBef>
                <a:spcPct val="20000"/>
              </a:spcBef>
              <a:buFontTx/>
              <a:buChar char="•"/>
            </a:pPr>
            <a:r>
              <a:rPr lang="en-US" altLang="en-US" dirty="0"/>
              <a:t>“I don’t know this name, but ask this server”</a:t>
            </a:r>
          </a:p>
        </p:txBody>
      </p:sp>
      <p:pic>
        <p:nvPicPr>
          <p:cNvPr id="66" name="Picture 6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14840" y="3779819"/>
            <a:ext cx="833438" cy="478631"/>
          </a:xfrm>
          <a:prstGeom prst="rect">
            <a:avLst/>
          </a:prstGeom>
          <a:noFill/>
          <a:extLst>
            <a:ext uri="{909E8E84-426E-40DD-AFC4-6F175D3DCCD1}">
              <a14:hiddenFill xmlns:a14="http://schemas.microsoft.com/office/drawing/2010/main" xmlns="">
                <a:solidFill>
                  <a:srgbClr val="FFFFFF"/>
                </a:solidFill>
              </a14:hiddenFill>
            </a:ext>
          </a:extLst>
        </p:spPr>
      </p:pic>
      <p:sp>
        <p:nvSpPr>
          <p:cNvPr id="67" name="Text Box 3"/>
          <p:cNvSpPr txBox="1">
            <a:spLocks noChangeArrowheads="1"/>
          </p:cNvSpPr>
          <p:nvPr/>
        </p:nvSpPr>
        <p:spPr bwMode="auto">
          <a:xfrm>
            <a:off x="4074627" y="4213205"/>
            <a:ext cx="1861407" cy="615553"/>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latin typeface="Comic Sans MS" pitchFamily="66" charset="0"/>
              </a:rPr>
              <a:t>requesting host</a:t>
            </a:r>
            <a:endParaRPr lang="en-US" altLang="en-US" sz="2400">
              <a:latin typeface="Times New Roman" pitchFamily="18" charset="0"/>
            </a:endParaRPr>
          </a:p>
          <a:p>
            <a:pPr algn="ctr" eaLnBrk="0" hangingPunct="0"/>
            <a:r>
              <a:rPr lang="en-US" altLang="en-US" sz="1600" b="1">
                <a:latin typeface="Courier New" pitchFamily="49" charset="0"/>
              </a:rPr>
              <a:t>cis.poly.edu</a:t>
            </a:r>
            <a:endParaRPr lang="en-US" altLang="en-US" sz="1600">
              <a:latin typeface="Times New Roman" pitchFamily="18" charset="0"/>
            </a:endParaRPr>
          </a:p>
        </p:txBody>
      </p:sp>
      <p:sp>
        <p:nvSpPr>
          <p:cNvPr id="68" name="Text Box 4"/>
          <p:cNvSpPr txBox="1">
            <a:spLocks noChangeArrowheads="1"/>
          </p:cNvSpPr>
          <p:nvPr/>
        </p:nvSpPr>
        <p:spPr bwMode="auto">
          <a:xfrm>
            <a:off x="6398276" y="4804946"/>
            <a:ext cx="2282997" cy="338554"/>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sz="1600" b="1">
                <a:latin typeface="Courier New" pitchFamily="49" charset="0"/>
              </a:rPr>
              <a:t>gaia.cs.umass.edu</a:t>
            </a:r>
            <a:endParaRPr lang="en-US" altLang="en-US" sz="1600">
              <a:latin typeface="Times New Roman" pitchFamily="18" charset="0"/>
            </a:endParaRPr>
          </a:p>
        </p:txBody>
      </p:sp>
      <p:pic>
        <p:nvPicPr>
          <p:cNvPr id="69" name="Picture 68"/>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038915" y="4379894"/>
            <a:ext cx="833438" cy="47863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5" name="Group 69"/>
          <p:cNvGrpSpPr>
            <a:grpSpLocks/>
          </p:cNvGrpSpPr>
          <p:nvPr/>
        </p:nvGrpSpPr>
        <p:grpSpPr bwMode="auto">
          <a:xfrm>
            <a:off x="5162490" y="2223677"/>
            <a:ext cx="369888" cy="492921"/>
            <a:chOff x="4180" y="783"/>
            <a:chExt cx="150" cy="307"/>
          </a:xfrm>
        </p:grpSpPr>
        <p:sp>
          <p:nvSpPr>
            <p:cNvPr id="120" name="AutoShape 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21" name="Rectangle 120"/>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22" name="Rectangle 12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23"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24" name="Line 11"/>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5" name="Line 12"/>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6" name="Rectangle 12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27" name="Rectangle 126"/>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grpSp>
      <p:sp>
        <p:nvSpPr>
          <p:cNvPr id="71" name="Text Box 15"/>
          <p:cNvSpPr txBox="1">
            <a:spLocks noChangeArrowheads="1"/>
          </p:cNvSpPr>
          <p:nvPr/>
        </p:nvSpPr>
        <p:spPr bwMode="auto">
          <a:xfrm>
            <a:off x="5716528" y="912792"/>
            <a:ext cx="2011362" cy="369332"/>
          </a:xfrm>
          <a:prstGeom prst="rect">
            <a:avLst/>
          </a:prstGeom>
          <a:noFill/>
          <a:ln w="9525">
            <a:no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latin typeface="Comic Sans MS" pitchFamily="66" charset="0"/>
              </a:rPr>
              <a:t>root DNS server</a:t>
            </a:r>
            <a:endParaRPr lang="en-US" altLang="en-US" sz="1600">
              <a:latin typeface="Times New Roman" pitchFamily="18" charset="0"/>
            </a:endParaRPr>
          </a:p>
        </p:txBody>
      </p:sp>
      <p:sp>
        <p:nvSpPr>
          <p:cNvPr id="72" name="Line 16"/>
          <p:cNvSpPr>
            <a:spLocks noChangeShapeType="1"/>
          </p:cNvSpPr>
          <p:nvPr/>
        </p:nvSpPr>
        <p:spPr bwMode="auto">
          <a:xfrm flipH="1" flipV="1">
            <a:off x="5211703" y="2739212"/>
            <a:ext cx="0" cy="985838"/>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3" name="Line 17"/>
          <p:cNvSpPr>
            <a:spLocks noChangeShapeType="1"/>
          </p:cNvSpPr>
          <p:nvPr/>
        </p:nvSpPr>
        <p:spPr bwMode="auto">
          <a:xfrm flipV="1">
            <a:off x="5326003" y="1467624"/>
            <a:ext cx="914400" cy="728663"/>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4" name="Line 18"/>
          <p:cNvSpPr>
            <a:spLocks noChangeShapeType="1"/>
          </p:cNvSpPr>
          <p:nvPr/>
        </p:nvSpPr>
        <p:spPr bwMode="auto">
          <a:xfrm>
            <a:off x="5402206" y="2760644"/>
            <a:ext cx="9525" cy="992981"/>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6" name="Group 74"/>
          <p:cNvGrpSpPr>
            <a:grpSpLocks/>
          </p:cNvGrpSpPr>
          <p:nvPr/>
        </p:nvGrpSpPr>
        <p:grpSpPr bwMode="auto">
          <a:xfrm>
            <a:off x="4046477" y="2848740"/>
            <a:ext cx="2016124" cy="615552"/>
            <a:chOff x="2794" y="2132"/>
            <a:chExt cx="1270" cy="517"/>
          </a:xfrm>
        </p:grpSpPr>
        <p:sp>
          <p:nvSpPr>
            <p:cNvPr id="118" name="Rectangle 117"/>
            <p:cNvSpPr>
              <a:spLocks noChangeArrowheads="1"/>
            </p:cNvSpPr>
            <p:nvPr/>
          </p:nvSpPr>
          <p:spPr bwMode="auto">
            <a:xfrm>
              <a:off x="2838" y="2178"/>
              <a:ext cx="1182" cy="300"/>
            </a:xfrm>
            <a:prstGeom prst="rect">
              <a:avLst/>
            </a:prstGeom>
            <a:solidFill>
              <a:schemeClr val="bg1"/>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19" name="Text Box 21"/>
            <p:cNvSpPr txBox="1">
              <a:spLocks noChangeArrowheads="1"/>
            </p:cNvSpPr>
            <p:nvPr/>
          </p:nvSpPr>
          <p:spPr bwMode="auto">
            <a:xfrm>
              <a:off x="2794" y="2132"/>
              <a:ext cx="1270" cy="517"/>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latin typeface="Comic Sans MS" pitchFamily="66" charset="0"/>
                </a:rPr>
                <a:t>local DNS server</a:t>
              </a:r>
              <a:endParaRPr lang="en-US" altLang="en-US" sz="2400">
                <a:latin typeface="Times New Roman" pitchFamily="18" charset="0"/>
              </a:endParaRPr>
            </a:p>
            <a:p>
              <a:pPr algn="ctr" eaLnBrk="0" hangingPunct="0"/>
              <a:r>
                <a:rPr lang="en-US" altLang="en-US" sz="1600" b="1">
                  <a:latin typeface="Courier New" pitchFamily="49" charset="0"/>
                </a:rPr>
                <a:t>dns.poly.edu</a:t>
              </a:r>
              <a:endParaRPr lang="en-US" altLang="en-US" sz="1600">
                <a:latin typeface="Times New Roman" pitchFamily="18" charset="0"/>
              </a:endParaRPr>
            </a:p>
          </p:txBody>
        </p:sp>
      </p:grpSp>
      <p:sp>
        <p:nvSpPr>
          <p:cNvPr id="76" name="Text Box 22"/>
          <p:cNvSpPr txBox="1">
            <a:spLocks noChangeArrowheads="1"/>
          </p:cNvSpPr>
          <p:nvPr/>
        </p:nvSpPr>
        <p:spPr bwMode="auto">
          <a:xfrm>
            <a:off x="4927510" y="3380959"/>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1</a:t>
            </a:r>
            <a:endParaRPr lang="en-US" altLang="en-US" sz="2400">
              <a:latin typeface="Times New Roman" pitchFamily="18" charset="0"/>
            </a:endParaRPr>
          </a:p>
        </p:txBody>
      </p:sp>
      <p:sp>
        <p:nvSpPr>
          <p:cNvPr id="77" name="Text Box 23"/>
          <p:cNvSpPr txBox="1">
            <a:spLocks noChangeArrowheads="1"/>
          </p:cNvSpPr>
          <p:nvPr/>
        </p:nvSpPr>
        <p:spPr bwMode="auto">
          <a:xfrm>
            <a:off x="5470435" y="1630741"/>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2</a:t>
            </a:r>
            <a:endParaRPr lang="en-US" altLang="en-US" sz="2400">
              <a:latin typeface="Times New Roman" pitchFamily="18" charset="0"/>
            </a:endParaRPr>
          </a:p>
        </p:txBody>
      </p:sp>
      <p:sp>
        <p:nvSpPr>
          <p:cNvPr id="78" name="Text Box 24"/>
          <p:cNvSpPr txBox="1">
            <a:spLocks noChangeArrowheads="1"/>
          </p:cNvSpPr>
          <p:nvPr/>
        </p:nvSpPr>
        <p:spPr bwMode="auto">
          <a:xfrm>
            <a:off x="7396072" y="2970192"/>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4</a:t>
            </a:r>
            <a:endParaRPr lang="en-US" altLang="en-US" sz="2400">
              <a:latin typeface="Times New Roman" pitchFamily="18" charset="0"/>
            </a:endParaRPr>
          </a:p>
        </p:txBody>
      </p:sp>
      <p:sp>
        <p:nvSpPr>
          <p:cNvPr id="79" name="Text Box 25"/>
          <p:cNvSpPr txBox="1">
            <a:spLocks noChangeArrowheads="1"/>
          </p:cNvSpPr>
          <p:nvPr/>
        </p:nvSpPr>
        <p:spPr bwMode="auto">
          <a:xfrm>
            <a:off x="6938872" y="3027344"/>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5</a:t>
            </a:r>
            <a:endParaRPr lang="en-US" altLang="en-US" sz="2400">
              <a:latin typeface="Times New Roman" pitchFamily="18" charset="0"/>
            </a:endParaRPr>
          </a:p>
        </p:txBody>
      </p:sp>
      <p:sp>
        <p:nvSpPr>
          <p:cNvPr id="80" name="Text Box 26"/>
          <p:cNvSpPr txBox="1">
            <a:spLocks noChangeArrowheads="1"/>
          </p:cNvSpPr>
          <p:nvPr/>
        </p:nvSpPr>
        <p:spPr bwMode="auto">
          <a:xfrm>
            <a:off x="6634072" y="1998644"/>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6</a:t>
            </a:r>
            <a:endParaRPr lang="en-US" altLang="en-US" sz="2400">
              <a:latin typeface="Times New Roman" pitchFamily="18" charset="0"/>
            </a:endParaRPr>
          </a:p>
        </p:txBody>
      </p:sp>
      <p:grpSp>
        <p:nvGrpSpPr>
          <p:cNvPr id="7" name="Group 80"/>
          <p:cNvGrpSpPr>
            <a:grpSpLocks/>
          </p:cNvGrpSpPr>
          <p:nvPr/>
        </p:nvGrpSpPr>
        <p:grpSpPr bwMode="auto">
          <a:xfrm>
            <a:off x="6276915" y="1159258"/>
            <a:ext cx="369888" cy="492921"/>
            <a:chOff x="4180" y="783"/>
            <a:chExt cx="150" cy="307"/>
          </a:xfrm>
        </p:grpSpPr>
        <p:sp>
          <p:nvSpPr>
            <p:cNvPr id="110" name="AutoShape 28"/>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11" name="Rectangle 110"/>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12" name="Rectangle 11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13" name="AutoShape 31"/>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14" name="Line 32"/>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5" name="Line 33"/>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6" name="Rectangle 11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17" name="Rectangle 116"/>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grpSp>
      <p:grpSp>
        <p:nvGrpSpPr>
          <p:cNvPr id="8" name="Group 81"/>
          <p:cNvGrpSpPr>
            <a:grpSpLocks/>
          </p:cNvGrpSpPr>
          <p:nvPr/>
        </p:nvGrpSpPr>
        <p:grpSpPr bwMode="auto">
          <a:xfrm>
            <a:off x="7105590" y="2230821"/>
            <a:ext cx="369888" cy="492921"/>
            <a:chOff x="4180" y="783"/>
            <a:chExt cx="150" cy="307"/>
          </a:xfrm>
        </p:grpSpPr>
        <p:sp>
          <p:nvSpPr>
            <p:cNvPr id="102" name="AutoShape 3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03" name="Rectangle 102"/>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04" name="Rectangle 10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05" name="AutoShape 4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06" name="Line 41"/>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7" name="Line 42"/>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8" name="Rectangle 10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09" name="Rectangle 108"/>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grpSp>
      <p:grpSp>
        <p:nvGrpSpPr>
          <p:cNvPr id="9" name="Group 82"/>
          <p:cNvGrpSpPr>
            <a:grpSpLocks/>
          </p:cNvGrpSpPr>
          <p:nvPr/>
        </p:nvGrpSpPr>
        <p:grpSpPr bwMode="auto">
          <a:xfrm>
            <a:off x="7086540" y="3445258"/>
            <a:ext cx="369888" cy="492921"/>
            <a:chOff x="4180" y="783"/>
            <a:chExt cx="150" cy="307"/>
          </a:xfrm>
        </p:grpSpPr>
        <p:sp>
          <p:nvSpPr>
            <p:cNvPr id="94" name="AutoShape 4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95" name="Rectangle 94"/>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96" name="Rectangle 95"/>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97" name="AutoShape 4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98" name="Line 50"/>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9" name="Line 51"/>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0" name="Rectangle 99"/>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sp>
          <p:nvSpPr>
            <p:cNvPr id="101" name="Rectangle 100"/>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a:p>
          </p:txBody>
        </p:sp>
      </p:grpSp>
      <p:sp>
        <p:nvSpPr>
          <p:cNvPr id="84" name="Text Box 54"/>
          <p:cNvSpPr txBox="1">
            <a:spLocks noChangeArrowheads="1"/>
          </p:cNvSpPr>
          <p:nvPr/>
        </p:nvSpPr>
        <p:spPr bwMode="auto">
          <a:xfrm>
            <a:off x="6156824" y="3873878"/>
            <a:ext cx="2642070" cy="584775"/>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sz="1600">
                <a:latin typeface="Comic Sans MS" pitchFamily="66" charset="0"/>
              </a:rPr>
              <a:t>authoritative DNS server</a:t>
            </a:r>
            <a:endParaRPr lang="en-US" altLang="en-US" sz="2400">
              <a:latin typeface="Times New Roman" pitchFamily="18" charset="0"/>
            </a:endParaRPr>
          </a:p>
          <a:p>
            <a:pPr algn="ctr" eaLnBrk="0" hangingPunct="0"/>
            <a:r>
              <a:rPr lang="en-US" altLang="en-US" sz="1600" b="1">
                <a:latin typeface="Courier New" pitchFamily="49" charset="0"/>
              </a:rPr>
              <a:t>dns.cs.umass.edu</a:t>
            </a:r>
            <a:endParaRPr lang="en-US" altLang="en-US" sz="1600">
              <a:latin typeface="Times New Roman" pitchFamily="18" charset="0"/>
            </a:endParaRPr>
          </a:p>
        </p:txBody>
      </p:sp>
      <p:sp>
        <p:nvSpPr>
          <p:cNvPr id="85" name="Text Box 55"/>
          <p:cNvSpPr txBox="1">
            <a:spLocks noChangeArrowheads="1"/>
          </p:cNvSpPr>
          <p:nvPr/>
        </p:nvSpPr>
        <p:spPr bwMode="auto">
          <a:xfrm>
            <a:off x="5795872" y="2055793"/>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7</a:t>
            </a:r>
            <a:endParaRPr lang="en-US" altLang="en-US" sz="2400">
              <a:latin typeface="Times New Roman" pitchFamily="18" charset="0"/>
            </a:endParaRPr>
          </a:p>
        </p:txBody>
      </p:sp>
      <p:sp>
        <p:nvSpPr>
          <p:cNvPr id="86" name="Text Box 56"/>
          <p:cNvSpPr txBox="1">
            <a:spLocks noChangeArrowheads="1"/>
          </p:cNvSpPr>
          <p:nvPr/>
        </p:nvSpPr>
        <p:spPr bwMode="auto">
          <a:xfrm>
            <a:off x="5479960" y="3395247"/>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8</a:t>
            </a:r>
            <a:endParaRPr lang="en-US" altLang="en-US" sz="2400">
              <a:latin typeface="Times New Roman" pitchFamily="18" charset="0"/>
            </a:endParaRPr>
          </a:p>
        </p:txBody>
      </p:sp>
      <p:sp>
        <p:nvSpPr>
          <p:cNvPr id="87" name="Line 57"/>
          <p:cNvSpPr>
            <a:spLocks noChangeShapeType="1"/>
          </p:cNvSpPr>
          <p:nvPr/>
        </p:nvSpPr>
        <p:spPr bwMode="auto">
          <a:xfrm>
            <a:off x="6629340" y="1369992"/>
            <a:ext cx="685800" cy="857250"/>
          </a:xfrm>
          <a:prstGeom prst="line">
            <a:avLst/>
          </a:prstGeom>
          <a:noFill/>
          <a:ln w="25400">
            <a:solidFill>
              <a:srgbClr val="FF0000"/>
            </a:solidFill>
            <a:round/>
            <a:headEnd/>
            <a:tailEnd type="triangle" w="med" len="me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8" name="Line 60"/>
          <p:cNvSpPr>
            <a:spLocks noChangeShapeType="1"/>
          </p:cNvSpPr>
          <p:nvPr/>
        </p:nvSpPr>
        <p:spPr bwMode="auto">
          <a:xfrm>
            <a:off x="7391340" y="2684442"/>
            <a:ext cx="0" cy="742950"/>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9" name="Line 61"/>
          <p:cNvSpPr>
            <a:spLocks noChangeShapeType="1"/>
          </p:cNvSpPr>
          <p:nvPr/>
        </p:nvSpPr>
        <p:spPr bwMode="auto">
          <a:xfrm flipH="1" flipV="1">
            <a:off x="7238940" y="2741592"/>
            <a:ext cx="0" cy="685800"/>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0" name="Line 62"/>
          <p:cNvSpPr>
            <a:spLocks noChangeShapeType="1"/>
          </p:cNvSpPr>
          <p:nvPr/>
        </p:nvSpPr>
        <p:spPr bwMode="auto">
          <a:xfrm flipH="1" flipV="1">
            <a:off x="6553140" y="1655742"/>
            <a:ext cx="533400" cy="685800"/>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Text Box 63"/>
          <p:cNvSpPr txBox="1">
            <a:spLocks noChangeArrowheads="1"/>
          </p:cNvSpPr>
          <p:nvPr/>
        </p:nvSpPr>
        <p:spPr bwMode="auto">
          <a:xfrm>
            <a:off x="7091272" y="1655743"/>
            <a:ext cx="301686" cy="369332"/>
          </a:xfrm>
          <a:prstGeom prst="rect">
            <a:avLst/>
          </a:prstGeom>
          <a:noFill/>
          <a:ln w="9525">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a:solidFill>
                  <a:srgbClr val="FF0000"/>
                </a:solidFill>
              </a:rPr>
              <a:t>3</a:t>
            </a:r>
            <a:endParaRPr lang="en-US" altLang="en-US" sz="2400">
              <a:latin typeface="Times New Roman" pitchFamily="18" charset="0"/>
            </a:endParaRPr>
          </a:p>
        </p:txBody>
      </p:sp>
      <p:sp>
        <p:nvSpPr>
          <p:cNvPr id="92" name="Line 64"/>
          <p:cNvSpPr>
            <a:spLocks noChangeShapeType="1"/>
          </p:cNvSpPr>
          <p:nvPr/>
        </p:nvSpPr>
        <p:spPr bwMode="auto">
          <a:xfrm flipH="1">
            <a:off x="5562540" y="1655742"/>
            <a:ext cx="762000" cy="628650"/>
          </a:xfrm>
          <a:prstGeom prst="line">
            <a:avLst/>
          </a:prstGeom>
          <a:noFill/>
          <a:ln w="28575">
            <a:solidFill>
              <a:srgbClr val="FF0000"/>
            </a:solidFill>
            <a:round/>
            <a:headEnd/>
            <a:tailEnd type="triangle" w="med" len="me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3" name="Rectangle 92"/>
          <p:cNvSpPr>
            <a:spLocks noChangeArrowheads="1"/>
          </p:cNvSpPr>
          <p:nvPr/>
        </p:nvSpPr>
        <p:spPr bwMode="auto">
          <a:xfrm>
            <a:off x="7529455" y="2464177"/>
            <a:ext cx="1614545" cy="369332"/>
          </a:xfrm>
          <a:prstGeom prst="rect">
            <a:avLst/>
          </a:prstGeom>
          <a:noFill/>
          <a:ln w="9525" algn="ctr">
            <a:no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r>
              <a:rPr lang="en-US" altLang="en-US" b="1"/>
              <a:t>dns.umass.edu</a:t>
            </a:r>
          </a:p>
        </p:txBody>
      </p:sp>
    </p:spTree>
    <p:extLst>
      <p:ext uri="{BB962C8B-B14F-4D97-AF65-F5344CB8AC3E}">
        <p14:creationId xmlns:p14="http://schemas.microsoft.com/office/powerpoint/2010/main" xmlns="" val="321811928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The /</a:t>
            </a:r>
            <a:r>
              <a:rPr lang="en-US" dirty="0" err="1"/>
              <a:t>etc</a:t>
            </a:r>
            <a:r>
              <a:rPr lang="en-US" dirty="0"/>
              <a:t>/services </a:t>
            </a:r>
            <a:r>
              <a:rPr lang="en-US" dirty="0" smtClean="0"/>
              <a:t>File</a:t>
            </a:r>
            <a:endParaRPr lang="en-US" dirty="0"/>
          </a:p>
        </p:txBody>
      </p:sp>
      <p:sp>
        <p:nvSpPr>
          <p:cNvPr id="3" name="Content Placeholder 2"/>
          <p:cNvSpPr>
            <a:spLocks noGrp="1"/>
          </p:cNvSpPr>
          <p:nvPr>
            <p:ph idx="1"/>
          </p:nvPr>
        </p:nvSpPr>
        <p:spPr/>
        <p:txBody>
          <a:bodyPr/>
          <a:lstStyle/>
          <a:p>
            <a:pPr fontAlgn="base">
              <a:spcAft>
                <a:spcPct val="0"/>
              </a:spcAft>
            </a:pPr>
            <a:r>
              <a:rPr lang="en-US" altLang="en-US" sz="2000" dirty="0"/>
              <a:t>Well-known port numbers are centrally registered by IANA. </a:t>
            </a:r>
          </a:p>
          <a:p>
            <a:pPr lvl="1" fontAlgn="base">
              <a:spcAft>
                <a:spcPct val="0"/>
              </a:spcAft>
            </a:pPr>
            <a:r>
              <a:rPr lang="en-US" altLang="en-US" sz="2000" dirty="0"/>
              <a:t>Each of these ports has a corresponding service name. </a:t>
            </a:r>
          </a:p>
          <a:p>
            <a:pPr lvl="2"/>
            <a:r>
              <a:rPr lang="en-US" altLang="en-US" sz="2000" dirty="0"/>
              <a:t>Because service numbers are centrally managed and are less volatile than IP addresses, an equivalent of the  DNS  server  is  usually  not  necessary.  Instead,  the  port  numbers  and  service names  are  recorded  in  the  file  /</a:t>
            </a:r>
            <a:r>
              <a:rPr lang="en-US" altLang="en-US" sz="2000" dirty="0" err="1"/>
              <a:t>etc</a:t>
            </a:r>
            <a:r>
              <a:rPr lang="en-US" altLang="en-US" sz="2000" dirty="0"/>
              <a:t>/services .  </a:t>
            </a:r>
          </a:p>
          <a:p>
            <a:pPr lvl="1" fontAlgn="base">
              <a:spcAft>
                <a:spcPct val="0"/>
              </a:spcAft>
            </a:pPr>
            <a:r>
              <a:rPr lang="en-US" altLang="en-US" sz="2000" dirty="0"/>
              <a:t>The  </a:t>
            </a:r>
            <a:r>
              <a:rPr lang="en-US" altLang="en-US" sz="2000" dirty="0" err="1"/>
              <a:t>getaddrinfo</a:t>
            </a:r>
            <a:r>
              <a:rPr lang="en-US" altLang="en-US" sz="2000" dirty="0"/>
              <a:t>()  and </a:t>
            </a:r>
            <a:r>
              <a:rPr lang="en-US" altLang="en-US" sz="2000" dirty="0" smtClean="0"/>
              <a:t> </a:t>
            </a:r>
            <a:r>
              <a:rPr lang="en-US" altLang="en-US" sz="2000" dirty="0" err="1" smtClean="0"/>
              <a:t>getnameinfo</a:t>
            </a:r>
            <a:r>
              <a:rPr lang="en-US" altLang="en-US" sz="2000" dirty="0"/>
              <a:t>() functions use the information in this file to convert service names to port numbers and vice versa.</a:t>
            </a:r>
          </a:p>
          <a:p>
            <a:pPr lvl="1" fontAlgn="base">
              <a:spcAft>
                <a:spcPct val="0"/>
              </a:spcAft>
            </a:pPr>
            <a:endParaRPr lang="en-US" altLang="en-US" sz="2000" dirty="0"/>
          </a:p>
          <a:p>
            <a:pPr fontAlgn="base">
              <a:spcAft>
                <a:spcPct val="0"/>
              </a:spcAft>
            </a:pPr>
            <a:endParaRPr lang="en-US" altLang="en-US" sz="2000" dirty="0"/>
          </a:p>
          <a:p>
            <a:pPr marL="0" indent="0">
              <a:buNone/>
            </a:pPr>
            <a:endParaRPr lang="en-IN" sz="2000" dirty="0"/>
          </a:p>
        </p:txBody>
      </p:sp>
    </p:spTree>
    <p:extLst>
      <p:ext uri="{BB962C8B-B14F-4D97-AF65-F5344CB8AC3E}">
        <p14:creationId xmlns:p14="http://schemas.microsoft.com/office/powerpoint/2010/main" xmlns="" val="143330317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The /</a:t>
            </a:r>
            <a:r>
              <a:rPr lang="en-US" dirty="0" err="1"/>
              <a:t>etc</a:t>
            </a:r>
            <a:r>
              <a:rPr lang="en-US" dirty="0"/>
              <a:t>/services </a:t>
            </a:r>
            <a:r>
              <a:rPr lang="en-US" dirty="0" smtClean="0"/>
              <a:t>File</a:t>
            </a:r>
            <a:endParaRPr lang="en-US" dirty="0"/>
          </a:p>
        </p:txBody>
      </p:sp>
      <p:pic>
        <p:nvPicPr>
          <p:cNvPr id="4" name="Content Placeholder 3"/>
          <p:cNvPicPr>
            <a:picLocks noGrp="1" noChangeAspect="1" noChangeArrowheads="1"/>
          </p:cNvPicPr>
          <p:nvPr>
            <p:ph idx="1"/>
          </p:nvPr>
        </p:nvPicPr>
        <p:blipFill>
          <a:blip r:embed="rId2" cstate="print"/>
          <a:srcRect/>
          <a:stretch>
            <a:fillRect/>
          </a:stretch>
        </p:blipFill>
        <p:spPr bwMode="auto">
          <a:xfrm>
            <a:off x="784085" y="754063"/>
            <a:ext cx="7485343" cy="4114800"/>
          </a:xfrm>
          <a:prstGeom prst="rect">
            <a:avLst/>
          </a:prstGeom>
          <a:noFill/>
          <a:ln w="9525">
            <a:noFill/>
            <a:miter lim="800000"/>
            <a:headEnd/>
            <a:tailEnd/>
          </a:ln>
        </p:spPr>
      </p:pic>
      <mc:AlternateContent xmlns:mc="http://schemas.openxmlformats.org/markup-compatibility/2006">
        <mc:Choice xmlns:p14="http://schemas.microsoft.com/office/powerpoint/2010/main" xmlns="" Requires="p14">
          <p:contentPart p14:bwMode="auto" r:id="rId3">
            <p14:nvContentPartPr>
              <p14:cNvPr id="3" name="Ink 2"/>
              <p14:cNvContentPartPr/>
              <p14:nvPr/>
            </p14:nvContentPartPr>
            <p14:xfrm>
              <a:off x="1938600" y="689400"/>
              <a:ext cx="2358360" cy="650160"/>
            </p14:xfrm>
          </p:contentPart>
        </mc:Choice>
        <mc:Fallback>
          <p:pic>
            <p:nvPicPr>
              <p:cNvPr id="3" name="Ink 2"/>
              <p:cNvPicPr/>
              <p:nvPr/>
            </p:nvPicPr>
            <p:blipFill>
              <a:blip r:embed="rId4" cstate="print"/>
              <a:stretch>
                <a:fillRect/>
              </a:stretch>
            </p:blipFill>
            <p:spPr>
              <a:xfrm>
                <a:off x="1933920" y="677880"/>
                <a:ext cx="2375280" cy="672480"/>
              </a:xfrm>
              <a:prstGeom prst="rect">
                <a:avLst/>
              </a:prstGeom>
            </p:spPr>
          </p:pic>
        </mc:Fallback>
      </mc:AlternateContent>
    </p:spTree>
    <p:extLst>
      <p:ext uri="{BB962C8B-B14F-4D97-AF65-F5344CB8AC3E}">
        <p14:creationId xmlns:p14="http://schemas.microsoft.com/office/powerpoint/2010/main" xmlns="" val="139442104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In this segment</a:t>
            </a:r>
            <a:endParaRPr lang="en-US" dirty="0"/>
          </a:p>
        </p:txBody>
      </p:sp>
      <p:sp>
        <p:nvSpPr>
          <p:cNvPr id="3" name="Content Placeholder 2"/>
          <p:cNvSpPr>
            <a:spLocks noGrp="1"/>
          </p:cNvSpPr>
          <p:nvPr>
            <p:ph idx="1"/>
          </p:nvPr>
        </p:nvSpPr>
        <p:spPr/>
        <p:txBody>
          <a:bodyPr/>
          <a:lstStyle/>
          <a:p>
            <a:r>
              <a:rPr lang="en-US" dirty="0"/>
              <a:t>Elementary sockets</a:t>
            </a:r>
            <a:endParaRPr lang="en-IN" dirty="0"/>
          </a:p>
          <a:p>
            <a:r>
              <a:rPr lang="en-US" dirty="0"/>
              <a:t>Socket function</a:t>
            </a:r>
          </a:p>
          <a:p>
            <a:r>
              <a:rPr lang="en-US" dirty="0"/>
              <a:t>Bind function</a:t>
            </a:r>
          </a:p>
          <a:p>
            <a:r>
              <a:rPr lang="en-US" dirty="0"/>
              <a:t>Connect function</a:t>
            </a:r>
          </a:p>
          <a:p>
            <a:r>
              <a:rPr lang="en-US" dirty="0"/>
              <a:t>Listen function</a:t>
            </a:r>
          </a:p>
          <a:p>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116706"/>
            <a:ext cx="3233401" cy="2440864"/>
          </a:xfrm>
        </p:spPr>
        <p:txBody>
          <a:bodyPr/>
          <a:lstStyle/>
          <a:p>
            <a:r>
              <a:rPr lang="en-IN" dirty="0"/>
              <a:t>Socket functions </a:t>
            </a:r>
            <a:endParaRPr lang="en-IN" dirty="0" smtClean="0"/>
          </a:p>
          <a:p>
            <a:r>
              <a:rPr lang="en-IN" dirty="0" smtClean="0"/>
              <a:t>for </a:t>
            </a:r>
            <a:r>
              <a:rPr lang="en-IN" dirty="0"/>
              <a:t>elementary </a:t>
            </a:r>
            <a:endParaRPr lang="en-IN" dirty="0" smtClean="0"/>
          </a:p>
          <a:p>
            <a:r>
              <a:rPr lang="en-IN" dirty="0" smtClean="0"/>
              <a:t>TCP client/server</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13097" y="-75615"/>
            <a:ext cx="4527320" cy="5252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9722195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S</a:t>
            </a:r>
            <a:r>
              <a:rPr lang="en-IN" dirty="0" smtClean="0"/>
              <a:t>ocket Function</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426244" y="842963"/>
            <a:ext cx="8201025"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Rectangle 4"/>
          <p:cNvSpPr/>
          <p:nvPr/>
        </p:nvSpPr>
        <p:spPr>
          <a:xfrm>
            <a:off x="426243" y="832813"/>
            <a:ext cx="8201025" cy="3200876"/>
          </a:xfrm>
          <a:prstGeom prst="rect">
            <a:avLst/>
          </a:prstGeom>
        </p:spPr>
        <p:txBody>
          <a:bodyPr wrap="square">
            <a:spAutoFit/>
          </a:bodyPr>
          <a:lstStyle/>
          <a:p>
            <a:pPr>
              <a:buFont typeface="Arial" pitchFamily="34" charset="0"/>
              <a:buChar char="•"/>
            </a:pPr>
            <a:endParaRPr lang="en-IN" i="1" dirty="0">
              <a:latin typeface="Arial" panose="020B0604020202020204" pitchFamily="34" charset="0"/>
              <a:cs typeface="Arial" panose="020B0604020202020204" pitchFamily="34" charset="0"/>
            </a:endParaRPr>
          </a:p>
          <a:p>
            <a:pPr>
              <a:buFont typeface="Arial" pitchFamily="34" charset="0"/>
              <a:buChar char="•"/>
            </a:pPr>
            <a:endParaRPr lang="en-IN" i="1" dirty="0">
              <a:latin typeface="Arial" panose="020B0604020202020204" pitchFamily="34" charset="0"/>
              <a:cs typeface="Arial" panose="020B0604020202020204" pitchFamily="34" charset="0"/>
            </a:endParaRPr>
          </a:p>
          <a:p>
            <a:endParaRPr lang="en-IN" sz="2000" i="1" dirty="0">
              <a:latin typeface="Arial" panose="020B0604020202020204" pitchFamily="34" charset="0"/>
              <a:cs typeface="Arial" panose="020B0604020202020204" pitchFamily="34" charset="0"/>
            </a:endParaRPr>
          </a:p>
          <a:p>
            <a:endParaRPr lang="en-IN" sz="2000" i="1" dirty="0">
              <a:latin typeface="Arial" panose="020B0604020202020204" pitchFamily="34" charset="0"/>
              <a:cs typeface="Arial" panose="020B0604020202020204" pitchFamily="34" charset="0"/>
            </a:endParaRPr>
          </a:p>
          <a:p>
            <a:r>
              <a:rPr lang="en-IN" b="1" i="1" dirty="0">
                <a:latin typeface="Arial" panose="020B0604020202020204" pitchFamily="34" charset="0"/>
                <a:cs typeface="Arial" panose="020B0604020202020204" pitchFamily="34" charset="0"/>
              </a:rPr>
              <a:t>family</a:t>
            </a:r>
            <a:r>
              <a:rPr lang="en-IN" i="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specifies the protocol family and is one of the constants shown in Figure</a:t>
            </a:r>
          </a:p>
          <a:p>
            <a:pPr>
              <a:buFont typeface="Arial" pitchFamily="34" charset="0"/>
              <a:buChar char="•"/>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a:buFont typeface="Arial" pitchFamily="34" charset="0"/>
              <a:buChar char="•"/>
            </a:pPr>
            <a:endParaRPr lang="en-US" dirty="0">
              <a:latin typeface="Arial" panose="020B0604020202020204" pitchFamily="34" charset="0"/>
              <a:cs typeface="Arial" panose="020B0604020202020204" pitchFamily="34" charset="0"/>
            </a:endParaRPr>
          </a:p>
          <a:p>
            <a:pPr>
              <a:buFont typeface="Arial" pitchFamily="34" charset="0"/>
              <a:buChar char="•"/>
            </a:pPr>
            <a:endParaRPr lang="en-US" dirty="0">
              <a:latin typeface="Arial" panose="020B0604020202020204" pitchFamily="34" charset="0"/>
              <a:cs typeface="Arial" panose="020B0604020202020204" pitchFamily="34" charset="0"/>
            </a:endParaRPr>
          </a:p>
        </p:txBody>
      </p:sp>
      <p:pic>
        <p:nvPicPr>
          <p:cNvPr id="6"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1480" y="2450910"/>
            <a:ext cx="4105275" cy="1791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614066" y="2530069"/>
            <a:ext cx="3886200" cy="18279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7779650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S</a:t>
            </a:r>
            <a:r>
              <a:rPr lang="en-IN" dirty="0" smtClean="0"/>
              <a:t>ocket Function</a:t>
            </a:r>
            <a:endParaRPr lang="en-IN" dirty="0"/>
          </a:p>
        </p:txBody>
      </p:sp>
      <p:sp>
        <p:nvSpPr>
          <p:cNvPr id="3" name="Content Placeholder 2"/>
          <p:cNvSpPr>
            <a:spLocks noGrp="1"/>
          </p:cNvSpPr>
          <p:nvPr>
            <p:ph idx="1"/>
          </p:nvPr>
        </p:nvSpPr>
        <p:spPr>
          <a:xfrm>
            <a:off x="245444" y="754380"/>
            <a:ext cx="7628556" cy="4114800"/>
          </a:xfrm>
        </p:spPr>
        <p:txBody>
          <a:bodyPr/>
          <a:lstStyle/>
          <a:p>
            <a:endParaRPr lang="en-IN" i="1" dirty="0"/>
          </a:p>
          <a:p>
            <a:endParaRPr lang="en-IN" i="1" dirty="0"/>
          </a:p>
          <a:p>
            <a:pPr marL="0" indent="0"/>
            <a:endParaRPr lang="en-IN" sz="2000" i="1" dirty="0"/>
          </a:p>
          <a:p>
            <a:pPr marL="0" indent="0"/>
            <a:endParaRPr lang="en-US" dirty="0"/>
          </a:p>
          <a:p>
            <a:endParaRPr lang="en-US" dirty="0"/>
          </a:p>
          <a:p>
            <a:r>
              <a:rPr lang="en-IN" dirty="0"/>
              <a:t>The socket </a:t>
            </a:r>
            <a:r>
              <a:rPr lang="en-IN" b="1" i="1" dirty="0"/>
              <a:t>type</a:t>
            </a:r>
            <a:r>
              <a:rPr lang="en-IN" i="1" dirty="0"/>
              <a:t> </a:t>
            </a:r>
            <a:r>
              <a:rPr lang="en-IN" dirty="0"/>
              <a:t>is one of the constants shown in Figure</a:t>
            </a:r>
          </a:p>
          <a:p>
            <a:r>
              <a:rPr lang="en-IN" dirty="0"/>
              <a:t>The </a:t>
            </a:r>
            <a:r>
              <a:rPr lang="en-IN" b="1" i="1" dirty="0"/>
              <a:t>protocol</a:t>
            </a:r>
            <a:r>
              <a:rPr lang="en-IN" i="1" dirty="0"/>
              <a:t> </a:t>
            </a:r>
            <a:r>
              <a:rPr lang="en-IN" dirty="0"/>
              <a:t>argument to the socket function should be set to the specific protocol type found in Figure, or 0 to select the system's default for the given combination of </a:t>
            </a:r>
            <a:r>
              <a:rPr lang="en-IN" i="1" dirty="0"/>
              <a:t>family </a:t>
            </a:r>
            <a:r>
              <a:rPr lang="en-IN" dirty="0"/>
              <a:t>and </a:t>
            </a:r>
            <a:r>
              <a:rPr lang="en-IN" i="1" dirty="0"/>
              <a:t>type</a:t>
            </a:r>
            <a:endParaRPr lang="en-IN" dirty="0"/>
          </a:p>
          <a:p>
            <a:endParaRPr lang="en-IN" dirty="0"/>
          </a:p>
        </p:txBody>
      </p:sp>
      <p:pic>
        <p:nvPicPr>
          <p:cNvPr id="8" name="Picture 7"/>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34555" y="1256926"/>
            <a:ext cx="4250334" cy="9278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xmlns="" Requires="p14">
          <p:contentPart p14:bwMode="auto" r:id="rId3">
            <p14:nvContentPartPr>
              <p14:cNvPr id="4" name="Ink 3"/>
              <p14:cNvContentPartPr/>
              <p14:nvPr/>
            </p14:nvContentPartPr>
            <p14:xfrm>
              <a:off x="6364440" y="1603440"/>
              <a:ext cx="128520" cy="502560"/>
            </p14:xfrm>
          </p:contentPart>
        </mc:Choice>
        <mc:Fallback>
          <p:pic>
            <p:nvPicPr>
              <p:cNvPr id="4" name="Ink 3"/>
              <p:cNvPicPr/>
              <p:nvPr/>
            </p:nvPicPr>
            <p:blipFill>
              <a:blip r:embed="rId4" cstate="print"/>
              <a:stretch>
                <a:fillRect/>
              </a:stretch>
            </p:blipFill>
            <p:spPr>
              <a:xfrm>
                <a:off x="6355440" y="1594080"/>
                <a:ext cx="146880" cy="525960"/>
              </a:xfrm>
              <a:prstGeom prst="rect">
                <a:avLst/>
              </a:prstGeom>
            </p:spPr>
          </p:pic>
        </mc:Fallback>
      </mc:AlternateContent>
    </p:spTree>
    <p:extLst>
      <p:ext uri="{BB962C8B-B14F-4D97-AF65-F5344CB8AC3E}">
        <p14:creationId xmlns:p14="http://schemas.microsoft.com/office/powerpoint/2010/main" xmlns="" val="399213353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smtClean="0"/>
              <a:t>Connect Function</a:t>
            </a:r>
            <a:endParaRPr lang="en-IN" dirty="0"/>
          </a:p>
        </p:txBody>
      </p:sp>
      <p:sp>
        <p:nvSpPr>
          <p:cNvPr id="3" name="Content Placeholder 2"/>
          <p:cNvSpPr>
            <a:spLocks noGrp="1"/>
          </p:cNvSpPr>
          <p:nvPr>
            <p:ph idx="1"/>
          </p:nvPr>
        </p:nvSpPr>
        <p:spPr/>
        <p:txBody>
          <a:bodyPr/>
          <a:lstStyle/>
          <a:p>
            <a:r>
              <a:rPr lang="en-IN" dirty="0"/>
              <a:t>The connect function is used by a TCP client to establish a connection with a TCP server</a:t>
            </a:r>
          </a:p>
          <a:p>
            <a:r>
              <a:rPr lang="en-IN" i="1" dirty="0" err="1"/>
              <a:t>sockfd</a:t>
            </a:r>
            <a:r>
              <a:rPr lang="en-IN" i="1" dirty="0"/>
              <a:t> </a:t>
            </a:r>
            <a:r>
              <a:rPr lang="en-IN" dirty="0"/>
              <a:t>is a socket descriptor returned by the socket function</a:t>
            </a:r>
          </a:p>
          <a:p>
            <a:r>
              <a:rPr lang="en-IN" dirty="0"/>
              <a:t>The second and third arguments are a pointer to a socket address structure and its size</a:t>
            </a:r>
          </a:p>
          <a:p>
            <a:r>
              <a:rPr lang="en-IN" dirty="0"/>
              <a:t>The socket address structure must contain the IP address and port number of the server</a:t>
            </a:r>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35292" y="3380581"/>
            <a:ext cx="8181975" cy="8715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2630418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B</a:t>
            </a:r>
            <a:r>
              <a:rPr lang="en-IN" dirty="0" smtClean="0"/>
              <a:t>ind Function</a:t>
            </a:r>
            <a:endParaRPr lang="en-IN" dirty="0"/>
          </a:p>
        </p:txBody>
      </p:sp>
      <p:sp>
        <p:nvSpPr>
          <p:cNvPr id="3" name="Content Placeholder 2"/>
          <p:cNvSpPr>
            <a:spLocks noGrp="1"/>
          </p:cNvSpPr>
          <p:nvPr>
            <p:ph idx="1"/>
          </p:nvPr>
        </p:nvSpPr>
        <p:spPr/>
        <p:txBody>
          <a:bodyPr/>
          <a:lstStyle/>
          <a:p>
            <a:r>
              <a:rPr lang="en-IN" dirty="0"/>
              <a:t>The bind function assigns a local protocol address to a socket (</a:t>
            </a:r>
            <a:r>
              <a:rPr lang="en-IN" i="1" dirty="0" err="1"/>
              <a:t>sockfd</a:t>
            </a:r>
            <a:r>
              <a:rPr lang="en-IN" i="1" dirty="0"/>
              <a:t>)</a:t>
            </a:r>
            <a:endParaRPr lang="en-IN" dirty="0"/>
          </a:p>
          <a:p>
            <a:r>
              <a:rPr lang="en-IN" dirty="0"/>
              <a:t>With the Internet protocols, the protocol address is the combination of either a 32-bit IPv4 address or a 128-bit IPv6 address, along with a 16-bit TCP or UDP port number </a:t>
            </a:r>
          </a:p>
          <a:p>
            <a:r>
              <a:rPr lang="en-IN" dirty="0"/>
              <a:t>The second argument is a pointer to a protocol-specific address</a:t>
            </a:r>
          </a:p>
          <a:p>
            <a:r>
              <a:rPr lang="en-IN" dirty="0"/>
              <a:t>The third argument is the size of this address structure</a:t>
            </a:r>
          </a:p>
          <a:p>
            <a:endParaRPr lang="en-IN" dirty="0"/>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49580" y="2955925"/>
            <a:ext cx="8153400" cy="857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7430681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smtClean="0"/>
              <a:t>Listen Function</a:t>
            </a:r>
            <a:endParaRPr lang="en-IN" dirty="0"/>
          </a:p>
        </p:txBody>
      </p:sp>
      <p:sp>
        <p:nvSpPr>
          <p:cNvPr id="3" name="Content Placeholder 2"/>
          <p:cNvSpPr>
            <a:spLocks noGrp="1"/>
          </p:cNvSpPr>
          <p:nvPr>
            <p:ph idx="1"/>
          </p:nvPr>
        </p:nvSpPr>
        <p:spPr/>
        <p:txBody>
          <a:bodyPr/>
          <a:lstStyle/>
          <a:p>
            <a:r>
              <a:rPr lang="en-IN" dirty="0"/>
              <a:t>The listen function is called only by a TCP server and it performs two actions:</a:t>
            </a:r>
          </a:p>
          <a:p>
            <a:r>
              <a:rPr lang="en-IN" dirty="0"/>
              <a:t>When a socket is created by the socket function, it is assumed to be an active socket, that is, a client socket that will issue a connect</a:t>
            </a:r>
          </a:p>
          <a:p>
            <a:r>
              <a:rPr lang="en-IN" dirty="0"/>
              <a:t>The listen function converts an unconnected socket into a passive socket, indicating that the kernel should accept incoming connection requests directed to this socket</a:t>
            </a:r>
          </a:p>
          <a:p>
            <a:r>
              <a:rPr lang="en-IN" dirty="0"/>
              <a:t>The second argument to this function specifies the maximum number of connections the kernel should queue for this socket</a:t>
            </a:r>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40055" y="3356092"/>
            <a:ext cx="8172450" cy="8786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2531310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The two queues maintained by TCP for a listening </a:t>
            </a:r>
            <a:r>
              <a:rPr lang="en-IN" dirty="0" smtClean="0"/>
              <a:t>socket</a:t>
            </a:r>
            <a:endParaRPr lang="en-IN" dirty="0"/>
          </a:p>
        </p:txBody>
      </p:sp>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85963" y="857391"/>
            <a:ext cx="4537682" cy="24590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985963" y="3474150"/>
            <a:ext cx="5100637" cy="14366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4630276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smtClean="0"/>
              <a:t>Accept Function</a:t>
            </a:r>
            <a:endParaRPr lang="en-IN" dirty="0"/>
          </a:p>
        </p:txBody>
      </p:sp>
      <p:sp>
        <p:nvSpPr>
          <p:cNvPr id="3" name="Content Placeholder 2"/>
          <p:cNvSpPr>
            <a:spLocks noGrp="1"/>
          </p:cNvSpPr>
          <p:nvPr>
            <p:ph idx="1"/>
          </p:nvPr>
        </p:nvSpPr>
        <p:spPr/>
        <p:txBody>
          <a:bodyPr/>
          <a:lstStyle/>
          <a:p>
            <a:r>
              <a:rPr lang="en-IN" dirty="0"/>
              <a:t>accept is called by a TCP server to return the next completed connection from the front of the completed connection queue</a:t>
            </a:r>
          </a:p>
          <a:p>
            <a:r>
              <a:rPr lang="en-IN" dirty="0"/>
              <a:t>If the completed connection queue is empty, the process is put to sleep (assuming the default of a blocking socket)</a:t>
            </a:r>
          </a:p>
          <a:p>
            <a:endParaRPr lang="en-US" dirty="0"/>
          </a:p>
          <a:p>
            <a:endParaRPr lang="en-US" dirty="0"/>
          </a:p>
          <a:p>
            <a:endParaRPr lang="en-US" dirty="0"/>
          </a:p>
          <a:p>
            <a:r>
              <a:rPr lang="en-IN" dirty="0"/>
              <a:t>The </a:t>
            </a:r>
            <a:r>
              <a:rPr lang="en-IN" i="1" dirty="0" err="1"/>
              <a:t>cliaddr</a:t>
            </a:r>
            <a:r>
              <a:rPr lang="en-IN" i="1" dirty="0"/>
              <a:t> </a:t>
            </a:r>
            <a:r>
              <a:rPr lang="en-IN" dirty="0"/>
              <a:t>and </a:t>
            </a:r>
            <a:r>
              <a:rPr lang="en-IN" i="1" dirty="0" err="1"/>
              <a:t>addrlen</a:t>
            </a:r>
            <a:r>
              <a:rPr lang="en-IN" i="1" dirty="0"/>
              <a:t> </a:t>
            </a:r>
            <a:r>
              <a:rPr lang="en-IN" dirty="0"/>
              <a:t>arguments are used to return the protocol address of the connected peer process (the client)</a:t>
            </a:r>
          </a:p>
          <a:p>
            <a:r>
              <a:rPr lang="en-IN" i="1" dirty="0" err="1"/>
              <a:t>addrlen</a:t>
            </a:r>
            <a:r>
              <a:rPr lang="en-IN" i="1" dirty="0"/>
              <a:t> </a:t>
            </a:r>
            <a:r>
              <a:rPr lang="en-IN" dirty="0"/>
              <a:t>is referred by the integer value to the size of the socket address structure pointed to by </a:t>
            </a:r>
            <a:r>
              <a:rPr lang="en-IN" i="1" dirty="0" err="1"/>
              <a:t>cliaddr</a:t>
            </a:r>
            <a:endParaRPr lang="en-IN" i="1" dirty="0"/>
          </a:p>
          <a:p>
            <a:r>
              <a:rPr lang="en-IN" dirty="0"/>
              <a:t>If accept is successful, its return value is a brand-new descriptor automatically created by the kernel that refers to the TCP connection with the client</a:t>
            </a:r>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77215" y="2038279"/>
            <a:ext cx="8201025" cy="8786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7484866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smtClean="0"/>
              <a:t>Close </a:t>
            </a:r>
            <a:r>
              <a:rPr lang="en-IN" dirty="0"/>
              <a:t>Function</a:t>
            </a:r>
          </a:p>
        </p:txBody>
      </p:sp>
      <p:sp>
        <p:nvSpPr>
          <p:cNvPr id="3" name="Content Placeholder 2"/>
          <p:cNvSpPr>
            <a:spLocks noGrp="1"/>
          </p:cNvSpPr>
          <p:nvPr>
            <p:ph idx="1"/>
          </p:nvPr>
        </p:nvSpPr>
        <p:spPr/>
        <p:txBody>
          <a:bodyPr/>
          <a:lstStyle/>
          <a:p>
            <a:r>
              <a:rPr lang="en-IN" dirty="0"/>
              <a:t>The normal Unix close function is also used to close a socket and terminate a TCP connection</a:t>
            </a:r>
          </a:p>
          <a:p>
            <a:endParaRPr lang="en-IN"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44817" y="1591795"/>
            <a:ext cx="8162925" cy="857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74826625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zh-TW" dirty="0">
                <a:latin typeface="Arial" charset="0"/>
                <a:cs typeface="Arial" charset="0"/>
              </a:rPr>
              <a:t>TCP </a:t>
            </a:r>
            <a:r>
              <a:rPr lang="en-US" altLang="zh-TW" dirty="0" smtClean="0">
                <a:latin typeface="Arial" charset="0"/>
                <a:cs typeface="Arial" charset="0"/>
              </a:rPr>
              <a:t>Client</a:t>
            </a:r>
            <a:endParaRPr lang="en-IN" dirty="0"/>
          </a:p>
        </p:txBody>
      </p:sp>
      <p:sp>
        <p:nvSpPr>
          <p:cNvPr id="4" name="Line 2"/>
          <p:cNvSpPr>
            <a:spLocks noChangeShapeType="1"/>
          </p:cNvSpPr>
          <p:nvPr/>
        </p:nvSpPr>
        <p:spPr bwMode="auto">
          <a:xfrm>
            <a:off x="4046217" y="1686312"/>
            <a:ext cx="88900" cy="2431256"/>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xmlns="">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sp>
        <p:nvSpPr>
          <p:cNvPr id="5" name="Content Placeholder 25"/>
          <p:cNvSpPr>
            <a:spLocks noGrp="1"/>
          </p:cNvSpPr>
          <p:nvPr/>
        </p:nvSpPr>
        <p:spPr bwMode="auto">
          <a:xfrm>
            <a:off x="417192" y="954076"/>
            <a:ext cx="8229600" cy="33944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18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z="1800" smtClean="0"/>
          </a:p>
          <a:p>
            <a:pPr fontAlgn="base">
              <a:spcAft>
                <a:spcPct val="0"/>
              </a:spcAft>
            </a:pPr>
            <a:endParaRPr lang="en-IN" altLang="en-US" smtClean="0"/>
          </a:p>
          <a:p>
            <a:pPr fontAlgn="base">
              <a:spcAft>
                <a:spcPct val="0"/>
              </a:spcAft>
            </a:pPr>
            <a:endParaRPr lang="en-IN" altLang="en-US" smtClean="0"/>
          </a:p>
        </p:txBody>
      </p:sp>
      <p:grpSp>
        <p:nvGrpSpPr>
          <p:cNvPr id="6" name="Group 5"/>
          <p:cNvGrpSpPr>
            <a:grpSpLocks/>
          </p:cNvGrpSpPr>
          <p:nvPr/>
        </p:nvGrpSpPr>
        <p:grpSpPr bwMode="auto">
          <a:xfrm>
            <a:off x="2242819" y="1108858"/>
            <a:ext cx="4410075" cy="1070372"/>
            <a:chOff x="806" y="495"/>
            <a:chExt cx="2778" cy="899"/>
          </a:xfrm>
        </p:grpSpPr>
        <p:sp>
          <p:nvSpPr>
            <p:cNvPr id="24" name="Rectangle 23"/>
            <p:cNvSpPr>
              <a:spLocks noChangeArrowheads="1"/>
            </p:cNvSpPr>
            <p:nvPr/>
          </p:nvSpPr>
          <p:spPr bwMode="auto">
            <a:xfrm>
              <a:off x="806" y="1058"/>
              <a:ext cx="2518" cy="336"/>
            </a:xfrm>
            <a:prstGeom prst="rect">
              <a:avLst/>
            </a:prstGeom>
            <a:solidFill>
              <a:srgbClr val="FFCCFF"/>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sd = socket </a:t>
              </a:r>
              <a:r>
                <a:rPr lang="en-US" altLang="zh-TW" smtClean="0">
                  <a:solidFill>
                    <a:prstClr val="black"/>
                  </a:solidFill>
                  <a:latin typeface="Tahoma" pitchFamily="34" charset="0"/>
                </a:rPr>
                <a:t>(</a:t>
              </a:r>
              <a:r>
                <a:rPr lang="en-US" altLang="zh-TW" i="1" smtClean="0">
                  <a:solidFill>
                    <a:prstClr val="black"/>
                  </a:solidFill>
                  <a:latin typeface="Tahoma" pitchFamily="34" charset="0"/>
                </a:rPr>
                <a:t>family</a:t>
              </a:r>
              <a:r>
                <a:rPr lang="en-US" altLang="zh-TW" smtClean="0">
                  <a:solidFill>
                    <a:prstClr val="black"/>
                  </a:solidFill>
                  <a:latin typeface="Tahoma" pitchFamily="34" charset="0"/>
                </a:rPr>
                <a:t>, </a:t>
              </a:r>
              <a:r>
                <a:rPr lang="en-US" altLang="zh-TW" i="1" smtClean="0">
                  <a:solidFill>
                    <a:prstClr val="black"/>
                  </a:solidFill>
                  <a:latin typeface="Tahoma" pitchFamily="34" charset="0"/>
                </a:rPr>
                <a:t>type</a:t>
              </a:r>
              <a:r>
                <a:rPr lang="en-US" altLang="zh-TW" smtClean="0">
                  <a:solidFill>
                    <a:prstClr val="black"/>
                  </a:solidFill>
                  <a:latin typeface="Tahoma" pitchFamily="34" charset="0"/>
                </a:rPr>
                <a:t>, </a:t>
              </a:r>
              <a:r>
                <a:rPr lang="en-US" altLang="zh-TW" i="1" smtClean="0">
                  <a:solidFill>
                    <a:prstClr val="black"/>
                  </a:solidFill>
                  <a:latin typeface="Tahoma" pitchFamily="34" charset="0"/>
                </a:rPr>
                <a:t>protocol</a:t>
              </a:r>
              <a:r>
                <a:rPr lang="en-US" altLang="zh-TW" smtClean="0">
                  <a:solidFill>
                    <a:prstClr val="black"/>
                  </a:solidFill>
                  <a:latin typeface="Tahoma" pitchFamily="34" charset="0"/>
                </a:rPr>
                <a:t>);</a:t>
              </a:r>
            </a:p>
          </p:txBody>
        </p:sp>
        <p:sp>
          <p:nvSpPr>
            <p:cNvPr id="25" name="AutoShape 6"/>
            <p:cNvSpPr>
              <a:spLocks noChangeArrowheads="1"/>
            </p:cNvSpPr>
            <p:nvPr/>
          </p:nvSpPr>
          <p:spPr bwMode="auto">
            <a:xfrm>
              <a:off x="2280" y="568"/>
              <a:ext cx="552" cy="392"/>
            </a:xfrm>
            <a:prstGeom prst="wedgeRoundRectCallout">
              <a:avLst>
                <a:gd name="adj1" fmla="val -48009"/>
                <a:gd name="adj2" fmla="val 83162"/>
                <a:gd name="adj3" fmla="val 16667"/>
              </a:avLst>
            </a:prstGeom>
            <a:solidFill>
              <a:srgbClr val="CCFFFF"/>
            </a:solidFill>
            <a:ln w="9525">
              <a:solidFill>
                <a:schemeClr val="tx1"/>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000" smtClean="0">
                  <a:solidFill>
                    <a:prstClr val="black"/>
                  </a:solidFill>
                  <a:latin typeface="Tahoma" pitchFamily="34" charset="0"/>
                </a:rPr>
                <a:t>STREAM</a:t>
              </a:r>
              <a:br>
                <a:rPr lang="en-US" altLang="zh-TW" sz="1000" smtClean="0">
                  <a:solidFill>
                    <a:prstClr val="black"/>
                  </a:solidFill>
                  <a:latin typeface="Tahoma" pitchFamily="34" charset="0"/>
                </a:rPr>
              </a:br>
              <a:r>
                <a:rPr lang="en-US" altLang="zh-TW" sz="1000" smtClean="0">
                  <a:solidFill>
                    <a:prstClr val="black"/>
                  </a:solidFill>
                  <a:latin typeface="Tahoma" pitchFamily="34" charset="0"/>
                </a:rPr>
                <a:t>DGRAM</a:t>
              </a:r>
              <a:br>
                <a:rPr lang="en-US" altLang="zh-TW" sz="1000" smtClean="0">
                  <a:solidFill>
                    <a:prstClr val="black"/>
                  </a:solidFill>
                  <a:latin typeface="Tahoma" pitchFamily="34" charset="0"/>
                </a:rPr>
              </a:br>
              <a:r>
                <a:rPr lang="en-US" altLang="zh-TW" sz="1000" smtClean="0">
                  <a:solidFill>
                    <a:prstClr val="black"/>
                  </a:solidFill>
                  <a:latin typeface="Tahoma" pitchFamily="34" charset="0"/>
                </a:rPr>
                <a:t>RAW</a:t>
              </a:r>
            </a:p>
          </p:txBody>
        </p:sp>
        <p:sp>
          <p:nvSpPr>
            <p:cNvPr id="26" name="AutoShape 7"/>
            <p:cNvSpPr>
              <a:spLocks noChangeArrowheads="1"/>
            </p:cNvSpPr>
            <p:nvPr/>
          </p:nvSpPr>
          <p:spPr bwMode="auto">
            <a:xfrm>
              <a:off x="1574" y="495"/>
              <a:ext cx="639" cy="438"/>
            </a:xfrm>
            <a:prstGeom prst="wedgeRoundRectCallout">
              <a:avLst>
                <a:gd name="adj1" fmla="val -17449"/>
                <a:gd name="adj2" fmla="val 87213"/>
                <a:gd name="adj3" fmla="val 16667"/>
              </a:avLst>
            </a:prstGeom>
            <a:solidFill>
              <a:srgbClr val="CCFFFF"/>
            </a:solidFill>
            <a:ln w="9525">
              <a:solidFill>
                <a:schemeClr val="tx1"/>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000" smtClean="0">
                  <a:solidFill>
                    <a:prstClr val="black"/>
                  </a:solidFill>
                  <a:latin typeface="Comic Sans MS" pitchFamily="66" charset="0"/>
                </a:rPr>
                <a:t>PF_INET</a:t>
              </a:r>
              <a:br>
                <a:rPr lang="en-US" altLang="zh-TW" sz="1000" smtClean="0">
                  <a:solidFill>
                    <a:prstClr val="black"/>
                  </a:solidFill>
                  <a:latin typeface="Comic Sans MS" pitchFamily="66" charset="0"/>
                </a:rPr>
              </a:br>
              <a:r>
                <a:rPr lang="en-US" altLang="zh-TW" sz="1000" smtClean="0">
                  <a:solidFill>
                    <a:prstClr val="black"/>
                  </a:solidFill>
                  <a:latin typeface="Comic Sans MS" pitchFamily="66" charset="0"/>
                </a:rPr>
                <a:t>PF_INET6</a:t>
              </a:r>
              <a:br>
                <a:rPr lang="en-US" altLang="zh-TW" sz="1000" smtClean="0">
                  <a:solidFill>
                    <a:prstClr val="black"/>
                  </a:solidFill>
                  <a:latin typeface="Comic Sans MS" pitchFamily="66" charset="0"/>
                </a:rPr>
              </a:br>
              <a:r>
                <a:rPr lang="en-US" altLang="zh-TW" sz="1000" smtClean="0">
                  <a:solidFill>
                    <a:prstClr val="black"/>
                  </a:solidFill>
                  <a:latin typeface="Comic Sans MS" pitchFamily="66" charset="0"/>
                </a:rPr>
                <a:t>PF_UNIX</a:t>
              </a:r>
              <a:br>
                <a:rPr lang="en-US" altLang="zh-TW" sz="1000" smtClean="0">
                  <a:solidFill>
                    <a:prstClr val="black"/>
                  </a:solidFill>
                  <a:latin typeface="Comic Sans MS" pitchFamily="66" charset="0"/>
                </a:rPr>
              </a:br>
              <a:r>
                <a:rPr lang="en-US" altLang="zh-TW" sz="1000" smtClean="0">
                  <a:solidFill>
                    <a:prstClr val="black"/>
                  </a:solidFill>
                  <a:latin typeface="Comic Sans MS" pitchFamily="66" charset="0"/>
                </a:rPr>
                <a:t>PF_X25</a:t>
              </a:r>
            </a:p>
          </p:txBody>
        </p:sp>
        <p:sp>
          <p:nvSpPr>
            <p:cNvPr id="27" name="AutoShape 8"/>
            <p:cNvSpPr>
              <a:spLocks noChangeArrowheads="1"/>
            </p:cNvSpPr>
            <p:nvPr/>
          </p:nvSpPr>
          <p:spPr bwMode="auto">
            <a:xfrm>
              <a:off x="2920" y="600"/>
              <a:ext cx="664" cy="304"/>
            </a:xfrm>
            <a:prstGeom prst="wedgeRoundRectCallout">
              <a:avLst>
                <a:gd name="adj1" fmla="val -44727"/>
                <a:gd name="adj2" fmla="val 90130"/>
                <a:gd name="adj3" fmla="val 16667"/>
              </a:avLst>
            </a:prstGeom>
            <a:solidFill>
              <a:srgbClr val="CCFFFF"/>
            </a:solidFill>
            <a:ln w="9525">
              <a:solidFill>
                <a:schemeClr val="tx1"/>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000" smtClean="0">
                  <a:solidFill>
                    <a:prstClr val="black"/>
                  </a:solidFill>
                  <a:latin typeface="Tahoma" pitchFamily="34" charset="0"/>
                </a:rPr>
                <a:t>0, used by RAW socket</a:t>
              </a:r>
            </a:p>
          </p:txBody>
        </p:sp>
      </p:grpSp>
      <p:sp>
        <p:nvSpPr>
          <p:cNvPr id="7" name="Rectangle 6"/>
          <p:cNvSpPr>
            <a:spLocks noChangeArrowheads="1"/>
          </p:cNvSpPr>
          <p:nvPr/>
        </p:nvSpPr>
        <p:spPr bwMode="auto">
          <a:xfrm>
            <a:off x="2212655" y="2369729"/>
            <a:ext cx="4648200" cy="400110"/>
          </a:xfrm>
          <a:prstGeom prst="rect">
            <a:avLst/>
          </a:prstGeom>
          <a:solidFill>
            <a:srgbClr val="FFCCFF"/>
          </a:solidFill>
          <a:ln w="9525">
            <a:solidFill>
              <a:schemeClr val="tx1"/>
            </a:solidFill>
            <a:miter lim="800000"/>
            <a:headEnd/>
            <a:tailEnd/>
          </a:ln>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sd = connect </a:t>
            </a:r>
            <a:r>
              <a:rPr lang="en-US" altLang="zh-TW" smtClean="0">
                <a:solidFill>
                  <a:prstClr val="black"/>
                </a:solidFill>
                <a:latin typeface="Tahoma" pitchFamily="34" charset="0"/>
              </a:rPr>
              <a:t>(</a:t>
            </a:r>
            <a:r>
              <a:rPr lang="en-US" altLang="zh-TW" i="1" smtClean="0">
                <a:solidFill>
                  <a:prstClr val="black"/>
                </a:solidFill>
                <a:latin typeface="Tahoma" pitchFamily="34" charset="0"/>
              </a:rPr>
              <a:t>sd</a:t>
            </a:r>
            <a:r>
              <a:rPr lang="en-US" altLang="zh-TW" smtClean="0">
                <a:solidFill>
                  <a:prstClr val="black"/>
                </a:solidFill>
                <a:latin typeface="Tahoma" pitchFamily="34" charset="0"/>
              </a:rPr>
              <a:t>, </a:t>
            </a:r>
            <a:r>
              <a:rPr lang="en-US" altLang="zh-TW" i="1" smtClean="0">
                <a:solidFill>
                  <a:prstClr val="black"/>
                </a:solidFill>
                <a:latin typeface="Tahoma" pitchFamily="34" charset="0"/>
              </a:rPr>
              <a:t>server_addr</a:t>
            </a:r>
            <a:r>
              <a:rPr lang="en-US" altLang="zh-TW" smtClean="0">
                <a:solidFill>
                  <a:prstClr val="black"/>
                </a:solidFill>
                <a:latin typeface="Tahoma" pitchFamily="34" charset="0"/>
              </a:rPr>
              <a:t>, </a:t>
            </a:r>
            <a:r>
              <a:rPr lang="en-US" altLang="zh-TW" i="1" smtClean="0">
                <a:solidFill>
                  <a:prstClr val="black"/>
                </a:solidFill>
                <a:latin typeface="Tahoma" pitchFamily="34" charset="0"/>
              </a:rPr>
              <a:t>addr_len</a:t>
            </a:r>
            <a:r>
              <a:rPr lang="en-US" altLang="zh-TW" smtClean="0">
                <a:solidFill>
                  <a:prstClr val="black"/>
                </a:solidFill>
                <a:latin typeface="Tahoma" pitchFamily="34" charset="0"/>
              </a:rPr>
              <a:t>);</a:t>
            </a:r>
          </a:p>
        </p:txBody>
      </p:sp>
      <p:sp>
        <p:nvSpPr>
          <p:cNvPr id="8" name="AutoShape 10"/>
          <p:cNvSpPr>
            <a:spLocks noChangeArrowheads="1"/>
          </p:cNvSpPr>
          <p:nvPr/>
        </p:nvSpPr>
        <p:spPr bwMode="auto">
          <a:xfrm>
            <a:off x="6598920" y="2966234"/>
            <a:ext cx="823913" cy="397669"/>
          </a:xfrm>
          <a:prstGeom prst="wedgeRoundRectCallout">
            <a:avLst>
              <a:gd name="adj1" fmla="val -218014"/>
              <a:gd name="adj2" fmla="val -138324"/>
              <a:gd name="adj3" fmla="val 16667"/>
            </a:avLst>
          </a:prstGeom>
          <a:solidFill>
            <a:srgbClr val="CCFFFF"/>
          </a:solidFill>
          <a:ln w="9525">
            <a:solidFill>
              <a:schemeClr val="tx1"/>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000" smtClean="0">
                <a:solidFill>
                  <a:prstClr val="black"/>
                </a:solidFill>
                <a:latin typeface="Comic Sans MS" pitchFamily="66" charset="0"/>
              </a:rPr>
              <a:t>Server PORT#</a:t>
            </a:r>
            <a:br>
              <a:rPr lang="en-US" altLang="zh-TW" sz="1000" smtClean="0">
                <a:solidFill>
                  <a:prstClr val="black"/>
                </a:solidFill>
                <a:latin typeface="Comic Sans MS" pitchFamily="66" charset="0"/>
              </a:rPr>
            </a:br>
            <a:r>
              <a:rPr lang="en-US" altLang="zh-TW" sz="1000" smtClean="0">
                <a:solidFill>
                  <a:prstClr val="black"/>
                </a:solidFill>
                <a:latin typeface="Comic Sans MS" pitchFamily="66" charset="0"/>
              </a:rPr>
              <a:t>IP-ADDR</a:t>
            </a:r>
          </a:p>
        </p:txBody>
      </p:sp>
      <p:grpSp>
        <p:nvGrpSpPr>
          <p:cNvPr id="9" name="Group 8"/>
          <p:cNvGrpSpPr>
            <a:grpSpLocks/>
          </p:cNvGrpSpPr>
          <p:nvPr/>
        </p:nvGrpSpPr>
        <p:grpSpPr bwMode="auto">
          <a:xfrm>
            <a:off x="467992" y="1986348"/>
            <a:ext cx="685800" cy="704850"/>
            <a:chOff x="928" y="2512"/>
            <a:chExt cx="432" cy="592"/>
          </a:xfrm>
        </p:grpSpPr>
        <p:sp>
          <p:nvSpPr>
            <p:cNvPr id="21" name="Rectangle 20"/>
            <p:cNvSpPr>
              <a:spLocks noChangeArrowheads="1"/>
            </p:cNvSpPr>
            <p:nvPr/>
          </p:nvSpPr>
          <p:spPr bwMode="auto">
            <a:xfrm>
              <a:off x="928" y="2912"/>
              <a:ext cx="432" cy="192"/>
            </a:xfrm>
            <a:prstGeom prst="rect">
              <a:avLst/>
            </a:prstGeom>
            <a:solidFill>
              <a:srgbClr val="FFFF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200" smtClean="0">
                  <a:solidFill>
                    <a:prstClr val="black"/>
                  </a:solidFill>
                  <a:latin typeface="Tahoma" pitchFamily="34" charset="0"/>
                </a:rPr>
                <a:t>addr</a:t>
              </a:r>
            </a:p>
          </p:txBody>
        </p:sp>
        <p:sp>
          <p:nvSpPr>
            <p:cNvPr id="22" name="Rectangle 21"/>
            <p:cNvSpPr>
              <a:spLocks noChangeArrowheads="1"/>
            </p:cNvSpPr>
            <p:nvPr/>
          </p:nvSpPr>
          <p:spPr bwMode="auto">
            <a:xfrm>
              <a:off x="928" y="2512"/>
              <a:ext cx="432" cy="192"/>
            </a:xfrm>
            <a:prstGeom prst="rect">
              <a:avLst/>
            </a:prstGeom>
            <a:solidFill>
              <a:srgbClr val="FFFF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200" smtClean="0">
                  <a:solidFill>
                    <a:prstClr val="black"/>
                  </a:solidFill>
                  <a:latin typeface="Tahoma" pitchFamily="34" charset="0"/>
                </a:rPr>
                <a:t>family</a:t>
              </a:r>
            </a:p>
          </p:txBody>
        </p:sp>
        <p:sp>
          <p:nvSpPr>
            <p:cNvPr id="23" name="Rectangle 22"/>
            <p:cNvSpPr>
              <a:spLocks noChangeArrowheads="1"/>
            </p:cNvSpPr>
            <p:nvPr/>
          </p:nvSpPr>
          <p:spPr bwMode="auto">
            <a:xfrm>
              <a:off x="928" y="2712"/>
              <a:ext cx="432" cy="192"/>
            </a:xfrm>
            <a:prstGeom prst="rect">
              <a:avLst/>
            </a:prstGeom>
            <a:solidFill>
              <a:srgbClr val="FFFF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200" smtClean="0">
                  <a:solidFill>
                    <a:prstClr val="black"/>
                  </a:solidFill>
                  <a:latin typeface="Tahoma" pitchFamily="34" charset="0"/>
                </a:rPr>
                <a:t>port</a:t>
              </a:r>
            </a:p>
          </p:txBody>
        </p:sp>
      </p:grpSp>
      <p:sp>
        <p:nvSpPr>
          <p:cNvPr id="10" name="Rectangle 9"/>
          <p:cNvSpPr>
            <a:spLocks noChangeArrowheads="1"/>
          </p:cNvSpPr>
          <p:nvPr/>
        </p:nvSpPr>
        <p:spPr bwMode="auto">
          <a:xfrm>
            <a:off x="2863350" y="3455579"/>
            <a:ext cx="2808653" cy="400110"/>
          </a:xfrm>
          <a:prstGeom prst="rect">
            <a:avLst/>
          </a:prstGeom>
          <a:solidFill>
            <a:schemeClr val="bg1"/>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read </a:t>
            </a:r>
            <a:r>
              <a:rPr lang="en-US" altLang="zh-TW" smtClean="0">
                <a:solidFill>
                  <a:prstClr val="black"/>
                </a:solidFill>
                <a:latin typeface="Tahoma" pitchFamily="34" charset="0"/>
              </a:rPr>
              <a:t>(</a:t>
            </a:r>
            <a:r>
              <a:rPr lang="en-US" altLang="zh-TW" i="1" smtClean="0">
                <a:solidFill>
                  <a:prstClr val="black"/>
                </a:solidFill>
                <a:latin typeface="Tahoma" pitchFamily="34" charset="0"/>
              </a:rPr>
              <a:t>sd</a:t>
            </a:r>
            <a:r>
              <a:rPr lang="en-US" altLang="zh-TW" smtClean="0">
                <a:solidFill>
                  <a:prstClr val="black"/>
                </a:solidFill>
                <a:latin typeface="Tahoma" pitchFamily="34" charset="0"/>
              </a:rPr>
              <a:t>, </a:t>
            </a:r>
            <a:r>
              <a:rPr lang="en-US" altLang="zh-TW" i="1" smtClean="0">
                <a:solidFill>
                  <a:prstClr val="black"/>
                </a:solidFill>
                <a:latin typeface="Tahoma" pitchFamily="34" charset="0"/>
              </a:rPr>
              <a:t>*buff</a:t>
            </a:r>
            <a:r>
              <a:rPr lang="en-US" altLang="zh-TW" smtClean="0">
                <a:solidFill>
                  <a:prstClr val="black"/>
                </a:solidFill>
                <a:latin typeface="Tahoma" pitchFamily="34" charset="0"/>
              </a:rPr>
              <a:t>, </a:t>
            </a:r>
            <a:r>
              <a:rPr lang="en-US" altLang="zh-TW" i="1" smtClean="0">
                <a:solidFill>
                  <a:prstClr val="black"/>
                </a:solidFill>
                <a:latin typeface="Tahoma" pitchFamily="34" charset="0"/>
              </a:rPr>
              <a:t>mbytes</a:t>
            </a:r>
            <a:r>
              <a:rPr lang="en-US" altLang="zh-TW" smtClean="0">
                <a:solidFill>
                  <a:prstClr val="black"/>
                </a:solidFill>
                <a:latin typeface="Tahoma" pitchFamily="34" charset="0"/>
              </a:rPr>
              <a:t>);</a:t>
            </a:r>
          </a:p>
        </p:txBody>
      </p:sp>
      <p:sp>
        <p:nvSpPr>
          <p:cNvPr id="11" name="Rectangle 10"/>
          <p:cNvSpPr>
            <a:spLocks noChangeArrowheads="1"/>
          </p:cNvSpPr>
          <p:nvPr/>
        </p:nvSpPr>
        <p:spPr bwMode="auto">
          <a:xfrm>
            <a:off x="2793895" y="3007904"/>
            <a:ext cx="2871363" cy="400110"/>
          </a:xfrm>
          <a:prstGeom prst="rect">
            <a:avLst/>
          </a:prstGeom>
          <a:solidFill>
            <a:schemeClr val="bg1"/>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write </a:t>
            </a:r>
            <a:r>
              <a:rPr lang="en-US" altLang="zh-TW" smtClean="0">
                <a:solidFill>
                  <a:prstClr val="black"/>
                </a:solidFill>
                <a:latin typeface="Tahoma" pitchFamily="34" charset="0"/>
              </a:rPr>
              <a:t>(</a:t>
            </a:r>
            <a:r>
              <a:rPr lang="en-US" altLang="zh-TW" i="1" smtClean="0">
                <a:solidFill>
                  <a:prstClr val="black"/>
                </a:solidFill>
                <a:latin typeface="Tahoma" pitchFamily="34" charset="0"/>
              </a:rPr>
              <a:t>sd</a:t>
            </a:r>
            <a:r>
              <a:rPr lang="en-US" altLang="zh-TW" smtClean="0">
                <a:solidFill>
                  <a:prstClr val="black"/>
                </a:solidFill>
                <a:latin typeface="Tahoma" pitchFamily="34" charset="0"/>
              </a:rPr>
              <a:t>, </a:t>
            </a:r>
            <a:r>
              <a:rPr lang="en-US" altLang="zh-TW" i="1" smtClean="0">
                <a:solidFill>
                  <a:prstClr val="black"/>
                </a:solidFill>
                <a:latin typeface="Tahoma" pitchFamily="34" charset="0"/>
              </a:rPr>
              <a:t>*buff</a:t>
            </a:r>
            <a:r>
              <a:rPr lang="en-US" altLang="zh-TW" smtClean="0">
                <a:solidFill>
                  <a:prstClr val="black"/>
                </a:solidFill>
                <a:latin typeface="Tahoma" pitchFamily="34" charset="0"/>
              </a:rPr>
              <a:t>, </a:t>
            </a:r>
            <a:r>
              <a:rPr lang="en-US" altLang="zh-TW" i="1" smtClean="0">
                <a:solidFill>
                  <a:prstClr val="black"/>
                </a:solidFill>
                <a:latin typeface="Tahoma" pitchFamily="34" charset="0"/>
              </a:rPr>
              <a:t>mbytes</a:t>
            </a:r>
            <a:r>
              <a:rPr lang="en-US" altLang="zh-TW" smtClean="0">
                <a:solidFill>
                  <a:prstClr val="black"/>
                </a:solidFill>
                <a:latin typeface="Tahoma" pitchFamily="34" charset="0"/>
              </a:rPr>
              <a:t>);</a:t>
            </a:r>
          </a:p>
        </p:txBody>
      </p:sp>
      <p:sp>
        <p:nvSpPr>
          <p:cNvPr id="12" name="Rectangle 11"/>
          <p:cNvSpPr>
            <a:spLocks noChangeArrowheads="1"/>
          </p:cNvSpPr>
          <p:nvPr/>
        </p:nvSpPr>
        <p:spPr bwMode="auto">
          <a:xfrm>
            <a:off x="3572160" y="4131854"/>
            <a:ext cx="1319592" cy="400110"/>
          </a:xfrm>
          <a:prstGeom prst="rect">
            <a:avLst/>
          </a:prstGeom>
          <a:solidFill>
            <a:srgbClr val="FFCCFF"/>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close </a:t>
            </a:r>
            <a:r>
              <a:rPr lang="en-US" altLang="zh-TW" smtClean="0">
                <a:solidFill>
                  <a:prstClr val="black"/>
                </a:solidFill>
                <a:latin typeface="Tahoma" pitchFamily="34" charset="0"/>
              </a:rPr>
              <a:t>(</a:t>
            </a:r>
            <a:r>
              <a:rPr lang="en-US" altLang="zh-TW" i="1" smtClean="0">
                <a:solidFill>
                  <a:prstClr val="black"/>
                </a:solidFill>
                <a:latin typeface="Tahoma" pitchFamily="34" charset="0"/>
              </a:rPr>
              <a:t>sd</a:t>
            </a:r>
            <a:r>
              <a:rPr lang="en-US" altLang="zh-TW" smtClean="0">
                <a:solidFill>
                  <a:prstClr val="black"/>
                </a:solidFill>
                <a:latin typeface="Tahoma" pitchFamily="34" charset="0"/>
              </a:rPr>
              <a:t>);</a:t>
            </a:r>
          </a:p>
        </p:txBody>
      </p:sp>
      <p:grpSp>
        <p:nvGrpSpPr>
          <p:cNvPr id="13" name="Group 12"/>
          <p:cNvGrpSpPr>
            <a:grpSpLocks/>
          </p:cNvGrpSpPr>
          <p:nvPr/>
        </p:nvGrpSpPr>
        <p:grpSpPr bwMode="auto">
          <a:xfrm>
            <a:off x="5697220" y="917119"/>
            <a:ext cx="422275" cy="672"/>
            <a:chOff x="4800" y="2928"/>
            <a:chExt cx="288" cy="672"/>
          </a:xfrm>
        </p:grpSpPr>
        <p:sp>
          <p:nvSpPr>
            <p:cNvPr id="18" name="Line 19"/>
            <p:cNvSpPr>
              <a:spLocks noChangeShapeType="1"/>
            </p:cNvSpPr>
            <p:nvPr/>
          </p:nvSpPr>
          <p:spPr bwMode="auto">
            <a:xfrm>
              <a:off x="4800" y="3600"/>
              <a:ext cx="288" cy="0"/>
            </a:xfrm>
            <a:prstGeom prst="line">
              <a:avLst/>
            </a:prstGeom>
            <a:noFill/>
            <a:ln w="38100">
              <a:solidFill>
                <a:schemeClr val="tx1"/>
              </a:solidFill>
              <a:round/>
              <a:headEnd type="none" w="sm" len="sm"/>
              <a:tailEnd/>
            </a:ln>
            <a:extLst>
              <a:ext uri="{909E8E84-426E-40DD-AFC4-6F175D3DCCD1}">
                <a14:hiddenFill xmlns:a14="http://schemas.microsoft.com/office/drawing/2010/main" xmlns="">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sp>
          <p:nvSpPr>
            <p:cNvPr id="19" name="Line 20"/>
            <p:cNvSpPr>
              <a:spLocks noChangeShapeType="1"/>
            </p:cNvSpPr>
            <p:nvPr/>
          </p:nvSpPr>
          <p:spPr bwMode="auto">
            <a:xfrm>
              <a:off x="4800" y="2928"/>
              <a:ext cx="288" cy="0"/>
            </a:xfrm>
            <a:prstGeom prst="line">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sp>
          <p:nvSpPr>
            <p:cNvPr id="20" name="Line 21"/>
            <p:cNvSpPr>
              <a:spLocks noChangeShapeType="1"/>
            </p:cNvSpPr>
            <p:nvPr/>
          </p:nvSpPr>
          <p:spPr bwMode="auto">
            <a:xfrm flipV="1">
              <a:off x="5088" y="2928"/>
              <a:ext cx="0" cy="672"/>
            </a:xfrm>
            <a:prstGeom prst="line">
              <a:avLst/>
            </a:prstGeom>
            <a:noFill/>
            <a:ln w="38100">
              <a:solidFill>
                <a:schemeClr val="tx1"/>
              </a:solidFill>
              <a:round/>
              <a:headEnd type="none" w="sm" len="sm"/>
              <a:tailEnd/>
            </a:ln>
            <a:extLst>
              <a:ext uri="{909E8E84-426E-40DD-AFC4-6F175D3DCCD1}">
                <a14:hiddenFill xmlns:a14="http://schemas.microsoft.com/office/drawing/2010/main" xmlns="">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grpSp>
      <p:sp>
        <p:nvSpPr>
          <p:cNvPr id="14" name="AutoShape 22"/>
          <p:cNvSpPr>
            <a:spLocks noChangeArrowheads="1"/>
          </p:cNvSpPr>
          <p:nvPr/>
        </p:nvSpPr>
        <p:spPr bwMode="auto">
          <a:xfrm>
            <a:off x="1229992" y="2253048"/>
            <a:ext cx="939800" cy="552450"/>
          </a:xfrm>
          <a:prstGeom prst="leftArrow">
            <a:avLst>
              <a:gd name="adj1" fmla="val 76926"/>
              <a:gd name="adj2" fmla="val 31897"/>
            </a:avLst>
          </a:prstGeom>
          <a:solidFill>
            <a:srgbClr val="CCFFFF"/>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000" smtClean="0">
                <a:solidFill>
                  <a:prstClr val="black"/>
                </a:solidFill>
                <a:latin typeface="Tahoma" pitchFamily="34" charset="0"/>
              </a:rPr>
              <a:t>ephemeral port</a:t>
            </a:r>
            <a:br>
              <a:rPr lang="en-US" altLang="zh-TW" sz="1000" smtClean="0">
                <a:solidFill>
                  <a:prstClr val="black"/>
                </a:solidFill>
                <a:latin typeface="Tahoma" pitchFamily="34" charset="0"/>
              </a:rPr>
            </a:br>
            <a:r>
              <a:rPr lang="en-US" altLang="zh-TW" sz="1000" smtClean="0">
                <a:solidFill>
                  <a:prstClr val="black"/>
                </a:solidFill>
                <a:latin typeface="Tahoma" pitchFamily="34" charset="0"/>
              </a:rPr>
              <a:t>ip addr </a:t>
            </a:r>
            <a:br>
              <a:rPr lang="en-US" altLang="zh-TW" sz="1000" smtClean="0">
                <a:solidFill>
                  <a:prstClr val="black"/>
                </a:solidFill>
                <a:latin typeface="Tahoma" pitchFamily="34" charset="0"/>
              </a:rPr>
            </a:br>
            <a:r>
              <a:rPr lang="en-US" altLang="zh-TW" sz="1000" smtClean="0">
                <a:solidFill>
                  <a:prstClr val="black"/>
                </a:solidFill>
                <a:latin typeface="Tahoma" pitchFamily="34" charset="0"/>
              </a:rPr>
              <a:t>(routing)</a:t>
            </a:r>
          </a:p>
        </p:txBody>
      </p:sp>
      <p:sp>
        <p:nvSpPr>
          <p:cNvPr id="15" name="AutoShape 23"/>
          <p:cNvSpPr>
            <a:spLocks noChangeArrowheads="1"/>
          </p:cNvSpPr>
          <p:nvPr/>
        </p:nvSpPr>
        <p:spPr bwMode="auto">
          <a:xfrm>
            <a:off x="6906892" y="2157799"/>
            <a:ext cx="1752600" cy="676275"/>
          </a:xfrm>
          <a:prstGeom prst="leftRightArrow">
            <a:avLst>
              <a:gd name="adj1" fmla="val 69019"/>
              <a:gd name="adj2" fmla="val 24296"/>
            </a:avLst>
          </a:prstGeom>
          <a:solidFill>
            <a:srgbClr val="DDDDDD"/>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400" smtClean="0">
                <a:solidFill>
                  <a:prstClr val="black"/>
                </a:solidFill>
                <a:latin typeface="Tahoma" pitchFamily="34" charset="0"/>
              </a:rPr>
              <a:t>three way </a:t>
            </a:r>
            <a:br>
              <a:rPr lang="en-US" altLang="zh-TW" sz="1400" smtClean="0">
                <a:solidFill>
                  <a:prstClr val="black"/>
                </a:solidFill>
                <a:latin typeface="Tahoma" pitchFamily="34" charset="0"/>
              </a:rPr>
            </a:br>
            <a:r>
              <a:rPr lang="en-US" altLang="zh-TW" sz="1400" smtClean="0">
                <a:solidFill>
                  <a:prstClr val="black"/>
                </a:solidFill>
                <a:latin typeface="Tahoma" pitchFamily="34" charset="0"/>
              </a:rPr>
              <a:t>handshaking</a:t>
            </a:r>
          </a:p>
        </p:txBody>
      </p:sp>
      <p:sp>
        <p:nvSpPr>
          <p:cNvPr id="16" name="AutoShape 24"/>
          <p:cNvSpPr>
            <a:spLocks noChangeArrowheads="1"/>
          </p:cNvSpPr>
          <p:nvPr/>
        </p:nvSpPr>
        <p:spPr bwMode="auto">
          <a:xfrm>
            <a:off x="7021192" y="3929448"/>
            <a:ext cx="1549400" cy="609600"/>
          </a:xfrm>
          <a:prstGeom prst="leftRightArrow">
            <a:avLst>
              <a:gd name="adj1" fmla="val 69019"/>
              <a:gd name="adj2" fmla="val 23828"/>
            </a:avLst>
          </a:prstGeom>
          <a:solidFill>
            <a:srgbClr val="DDDDDD"/>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400" smtClean="0">
                <a:solidFill>
                  <a:prstClr val="black"/>
                </a:solidFill>
                <a:latin typeface="Tahoma" pitchFamily="34" charset="0"/>
              </a:rPr>
              <a:t>disconnect </a:t>
            </a:r>
            <a:br>
              <a:rPr lang="en-US" altLang="zh-TW" sz="1400" smtClean="0">
                <a:solidFill>
                  <a:prstClr val="black"/>
                </a:solidFill>
                <a:latin typeface="Tahoma" pitchFamily="34" charset="0"/>
              </a:rPr>
            </a:br>
            <a:r>
              <a:rPr lang="en-US" altLang="zh-TW" sz="1400" smtClean="0">
                <a:solidFill>
                  <a:prstClr val="black"/>
                </a:solidFill>
                <a:latin typeface="Tahoma" pitchFamily="34" charset="0"/>
              </a:rPr>
              <a:t>sequence</a:t>
            </a:r>
          </a:p>
        </p:txBody>
      </p:sp>
      <p:sp>
        <p:nvSpPr>
          <p:cNvPr id="17" name="AutoShape 25"/>
          <p:cNvSpPr>
            <a:spLocks noChangeArrowheads="1"/>
          </p:cNvSpPr>
          <p:nvPr/>
        </p:nvSpPr>
        <p:spPr bwMode="auto">
          <a:xfrm>
            <a:off x="274320" y="3156734"/>
            <a:ext cx="2309813" cy="975120"/>
          </a:xfrm>
          <a:prstGeom prst="wedgeRoundRectCallout">
            <a:avLst>
              <a:gd name="adj1" fmla="val 36875"/>
              <a:gd name="adj2" fmla="val -101903"/>
              <a:gd name="adj3" fmla="val 16667"/>
            </a:avLst>
          </a:prstGeom>
          <a:solidFill>
            <a:srgbClr val="CCFFCC"/>
          </a:solidFill>
          <a:ln w="9525">
            <a:solidFill>
              <a:schemeClr val="tx1"/>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en-US" altLang="zh-TW" sz="1000" smtClean="0">
                <a:solidFill>
                  <a:prstClr val="black"/>
                </a:solidFill>
                <a:latin typeface="Tahoma" pitchFamily="34" charset="0"/>
              </a:rPr>
              <a:t>CONNECT actions</a:t>
            </a:r>
          </a:p>
          <a:p>
            <a:pPr fontAlgn="base">
              <a:spcBef>
                <a:spcPct val="0"/>
              </a:spcBef>
              <a:spcAft>
                <a:spcPct val="0"/>
              </a:spcAft>
            </a:pPr>
            <a:r>
              <a:rPr lang="en-US" altLang="zh-TW" sz="1000" smtClean="0">
                <a:solidFill>
                  <a:prstClr val="black"/>
                </a:solidFill>
                <a:latin typeface="Tahoma" pitchFamily="34" charset="0"/>
              </a:rPr>
              <a:t>1. socket is valid</a:t>
            </a:r>
            <a:br>
              <a:rPr lang="en-US" altLang="zh-TW" sz="1000" smtClean="0">
                <a:solidFill>
                  <a:prstClr val="black"/>
                </a:solidFill>
                <a:latin typeface="Tahoma" pitchFamily="34" charset="0"/>
              </a:rPr>
            </a:br>
            <a:r>
              <a:rPr lang="en-US" altLang="zh-TW" sz="1000" smtClean="0">
                <a:solidFill>
                  <a:prstClr val="black"/>
                </a:solidFill>
                <a:latin typeface="Tahoma" pitchFamily="34" charset="0"/>
              </a:rPr>
              <a:t>2. fill remote endpoint addr/port</a:t>
            </a:r>
            <a:br>
              <a:rPr lang="en-US" altLang="zh-TW" sz="1000" smtClean="0">
                <a:solidFill>
                  <a:prstClr val="black"/>
                </a:solidFill>
                <a:latin typeface="Tahoma" pitchFamily="34" charset="0"/>
              </a:rPr>
            </a:br>
            <a:r>
              <a:rPr lang="en-US" altLang="zh-TW" sz="1000" smtClean="0">
                <a:solidFill>
                  <a:prstClr val="black"/>
                </a:solidFill>
                <a:latin typeface="Tahoma" pitchFamily="34" charset="0"/>
              </a:rPr>
              <a:t>3. choose local endpoint add/port</a:t>
            </a:r>
            <a:br>
              <a:rPr lang="en-US" altLang="zh-TW" sz="1000" smtClean="0">
                <a:solidFill>
                  <a:prstClr val="black"/>
                </a:solidFill>
                <a:latin typeface="Tahoma" pitchFamily="34" charset="0"/>
              </a:rPr>
            </a:br>
            <a:r>
              <a:rPr lang="en-US" altLang="zh-TW" sz="1000" smtClean="0">
                <a:solidFill>
                  <a:prstClr val="black"/>
                </a:solidFill>
                <a:latin typeface="Tahoma" pitchFamily="34" charset="0"/>
              </a:rPr>
              <a:t>4. initiate 3-way handshaking</a:t>
            </a:r>
          </a:p>
        </p:txBody>
      </p:sp>
    </p:spTree>
    <p:extLst>
      <p:ext uri="{BB962C8B-B14F-4D97-AF65-F5344CB8AC3E}">
        <p14:creationId xmlns:p14="http://schemas.microsoft.com/office/powerpoint/2010/main" xmlns="" val="299350988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zh-TW" dirty="0">
                <a:latin typeface="Arial" charset="0"/>
                <a:cs typeface="Arial" charset="0"/>
              </a:rPr>
              <a:t>TCP </a:t>
            </a:r>
            <a:r>
              <a:rPr lang="en-US" altLang="zh-TW" dirty="0" smtClean="0">
                <a:latin typeface="Arial" charset="0"/>
                <a:cs typeface="Arial" charset="0"/>
              </a:rPr>
              <a:t>Server</a:t>
            </a:r>
            <a:endParaRPr lang="en-IN" dirty="0"/>
          </a:p>
        </p:txBody>
      </p:sp>
      <p:grpSp>
        <p:nvGrpSpPr>
          <p:cNvPr id="4" name="Group 3"/>
          <p:cNvGrpSpPr>
            <a:grpSpLocks/>
          </p:cNvGrpSpPr>
          <p:nvPr/>
        </p:nvGrpSpPr>
        <p:grpSpPr bwMode="auto">
          <a:xfrm>
            <a:off x="5634881" y="1372036"/>
            <a:ext cx="511175" cy="672"/>
            <a:chOff x="4800" y="2928"/>
            <a:chExt cx="288" cy="672"/>
          </a:xfrm>
        </p:grpSpPr>
        <p:sp>
          <p:nvSpPr>
            <p:cNvPr id="30" name="Line 3"/>
            <p:cNvSpPr>
              <a:spLocks noChangeShapeType="1"/>
            </p:cNvSpPr>
            <p:nvPr/>
          </p:nvSpPr>
          <p:spPr bwMode="auto">
            <a:xfrm>
              <a:off x="4800" y="3600"/>
              <a:ext cx="288" cy="0"/>
            </a:xfrm>
            <a:prstGeom prst="line">
              <a:avLst/>
            </a:prstGeom>
            <a:noFill/>
            <a:ln w="38100">
              <a:solidFill>
                <a:schemeClr val="tx1"/>
              </a:solidFill>
              <a:round/>
              <a:headEnd type="none" w="sm" len="sm"/>
              <a:tailEnd/>
            </a:ln>
            <a:extLst>
              <a:ext uri="{909E8E84-426E-40DD-AFC4-6F175D3DCCD1}">
                <a14:hiddenFill xmlns:a14="http://schemas.microsoft.com/office/drawing/2010/main" xmlns="">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sp>
          <p:nvSpPr>
            <p:cNvPr id="31" name="Line 4"/>
            <p:cNvSpPr>
              <a:spLocks noChangeShapeType="1"/>
            </p:cNvSpPr>
            <p:nvPr/>
          </p:nvSpPr>
          <p:spPr bwMode="auto">
            <a:xfrm>
              <a:off x="4800" y="2928"/>
              <a:ext cx="288" cy="0"/>
            </a:xfrm>
            <a:prstGeom prst="line">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sp>
          <p:nvSpPr>
            <p:cNvPr id="32" name="Line 5"/>
            <p:cNvSpPr>
              <a:spLocks noChangeShapeType="1"/>
            </p:cNvSpPr>
            <p:nvPr/>
          </p:nvSpPr>
          <p:spPr bwMode="auto">
            <a:xfrm flipV="1">
              <a:off x="5088" y="2928"/>
              <a:ext cx="0" cy="672"/>
            </a:xfrm>
            <a:prstGeom prst="line">
              <a:avLst/>
            </a:prstGeom>
            <a:noFill/>
            <a:ln w="38100">
              <a:solidFill>
                <a:schemeClr val="tx1"/>
              </a:solidFill>
              <a:round/>
              <a:headEnd type="none" w="sm" len="sm"/>
              <a:tailEnd/>
            </a:ln>
            <a:extLst>
              <a:ext uri="{909E8E84-426E-40DD-AFC4-6F175D3DCCD1}">
                <a14:hiddenFill xmlns:a14="http://schemas.microsoft.com/office/drawing/2010/main" xmlns="">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grpSp>
      <p:sp>
        <p:nvSpPr>
          <p:cNvPr id="5" name="Line 6"/>
          <p:cNvSpPr>
            <a:spLocks noChangeShapeType="1"/>
          </p:cNvSpPr>
          <p:nvPr/>
        </p:nvSpPr>
        <p:spPr bwMode="auto">
          <a:xfrm>
            <a:off x="4072778" y="1194853"/>
            <a:ext cx="101600" cy="3250406"/>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xmlns="">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en-US" smtClean="0">
              <a:solidFill>
                <a:prstClr val="black"/>
              </a:solidFill>
              <a:latin typeface="Arial" pitchFamily="34" charset="0"/>
              <a:cs typeface="Arial" pitchFamily="34" charset="0"/>
            </a:endParaRPr>
          </a:p>
        </p:txBody>
      </p:sp>
      <p:sp>
        <p:nvSpPr>
          <p:cNvPr id="6" name="Content Placeholder 30"/>
          <p:cNvSpPr>
            <a:spLocks noGrp="1"/>
          </p:cNvSpPr>
          <p:nvPr/>
        </p:nvSpPr>
        <p:spPr bwMode="auto">
          <a:xfrm>
            <a:off x="443753" y="919817"/>
            <a:ext cx="8229600" cy="33944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18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a:p>
            <a:pPr fontAlgn="base">
              <a:spcAft>
                <a:spcPct val="0"/>
              </a:spcAft>
            </a:pPr>
            <a:endParaRPr lang="en-IN" altLang="en-US" smtClean="0"/>
          </a:p>
        </p:txBody>
      </p:sp>
      <p:sp>
        <p:nvSpPr>
          <p:cNvPr id="7" name="Rectangle 6"/>
          <p:cNvSpPr>
            <a:spLocks noChangeArrowheads="1"/>
          </p:cNvSpPr>
          <p:nvPr/>
        </p:nvSpPr>
        <p:spPr bwMode="auto">
          <a:xfrm>
            <a:off x="2294433" y="916245"/>
            <a:ext cx="3998018" cy="400110"/>
          </a:xfrm>
          <a:prstGeom prst="rect">
            <a:avLst/>
          </a:prstGeom>
          <a:solidFill>
            <a:srgbClr val="FFCCFF"/>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sd = socket </a:t>
            </a:r>
            <a:r>
              <a:rPr lang="en-US" altLang="zh-TW" smtClean="0">
                <a:solidFill>
                  <a:prstClr val="black"/>
                </a:solidFill>
                <a:latin typeface="Tahoma" pitchFamily="34" charset="0"/>
              </a:rPr>
              <a:t>(</a:t>
            </a:r>
            <a:r>
              <a:rPr lang="en-US" altLang="zh-TW" i="1" smtClean="0">
                <a:solidFill>
                  <a:prstClr val="black"/>
                </a:solidFill>
                <a:latin typeface="Tahoma" pitchFamily="34" charset="0"/>
              </a:rPr>
              <a:t>family</a:t>
            </a:r>
            <a:r>
              <a:rPr lang="en-US" altLang="zh-TW" smtClean="0">
                <a:solidFill>
                  <a:prstClr val="black"/>
                </a:solidFill>
                <a:latin typeface="Tahoma" pitchFamily="34" charset="0"/>
              </a:rPr>
              <a:t>, </a:t>
            </a:r>
            <a:r>
              <a:rPr lang="en-US" altLang="zh-TW" i="1" smtClean="0">
                <a:solidFill>
                  <a:prstClr val="black"/>
                </a:solidFill>
                <a:latin typeface="Tahoma" pitchFamily="34" charset="0"/>
              </a:rPr>
              <a:t>type</a:t>
            </a:r>
            <a:r>
              <a:rPr lang="en-US" altLang="zh-TW" smtClean="0">
                <a:solidFill>
                  <a:prstClr val="black"/>
                </a:solidFill>
                <a:latin typeface="Tahoma" pitchFamily="34" charset="0"/>
              </a:rPr>
              <a:t>, </a:t>
            </a:r>
            <a:r>
              <a:rPr lang="en-US" altLang="zh-TW" i="1" smtClean="0">
                <a:solidFill>
                  <a:prstClr val="black"/>
                </a:solidFill>
                <a:latin typeface="Tahoma" pitchFamily="34" charset="0"/>
              </a:rPr>
              <a:t>protocol</a:t>
            </a:r>
            <a:r>
              <a:rPr lang="en-US" altLang="zh-TW" smtClean="0">
                <a:solidFill>
                  <a:prstClr val="black"/>
                </a:solidFill>
                <a:latin typeface="Tahoma" pitchFamily="34" charset="0"/>
              </a:rPr>
              <a:t>);</a:t>
            </a:r>
          </a:p>
        </p:txBody>
      </p:sp>
      <p:sp>
        <p:nvSpPr>
          <p:cNvPr id="8" name="Rectangle 7"/>
          <p:cNvSpPr>
            <a:spLocks noChangeArrowheads="1"/>
          </p:cNvSpPr>
          <p:nvPr/>
        </p:nvSpPr>
        <p:spPr bwMode="auto">
          <a:xfrm>
            <a:off x="2814385" y="1506795"/>
            <a:ext cx="3167662" cy="400110"/>
          </a:xfrm>
          <a:prstGeom prst="rect">
            <a:avLst/>
          </a:prstGeom>
          <a:solidFill>
            <a:srgbClr val="FFCCFF"/>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bind </a:t>
            </a:r>
            <a:r>
              <a:rPr lang="en-US" altLang="zh-TW" smtClean="0">
                <a:solidFill>
                  <a:prstClr val="black"/>
                </a:solidFill>
                <a:latin typeface="Tahoma" pitchFamily="34" charset="0"/>
              </a:rPr>
              <a:t>(</a:t>
            </a:r>
            <a:r>
              <a:rPr lang="en-US" altLang="zh-TW" i="1" smtClean="0">
                <a:solidFill>
                  <a:prstClr val="black"/>
                </a:solidFill>
                <a:latin typeface="Tahoma" pitchFamily="34" charset="0"/>
              </a:rPr>
              <a:t>sd</a:t>
            </a:r>
            <a:r>
              <a:rPr lang="en-US" altLang="zh-TW" smtClean="0">
                <a:solidFill>
                  <a:prstClr val="black"/>
                </a:solidFill>
                <a:latin typeface="Tahoma" pitchFamily="34" charset="0"/>
              </a:rPr>
              <a:t>, *</a:t>
            </a:r>
            <a:r>
              <a:rPr lang="en-US" altLang="zh-TW" i="1" smtClean="0">
                <a:solidFill>
                  <a:prstClr val="black"/>
                </a:solidFill>
                <a:latin typeface="Tahoma" pitchFamily="34" charset="0"/>
              </a:rPr>
              <a:t>server_addr</a:t>
            </a:r>
            <a:r>
              <a:rPr lang="en-US" altLang="zh-TW" smtClean="0">
                <a:solidFill>
                  <a:prstClr val="black"/>
                </a:solidFill>
                <a:latin typeface="Tahoma" pitchFamily="34" charset="0"/>
              </a:rPr>
              <a:t>, </a:t>
            </a:r>
            <a:r>
              <a:rPr lang="en-US" altLang="zh-TW" i="1" smtClean="0">
                <a:solidFill>
                  <a:prstClr val="black"/>
                </a:solidFill>
                <a:latin typeface="Tahoma" pitchFamily="34" charset="0"/>
              </a:rPr>
              <a:t>len</a:t>
            </a:r>
            <a:r>
              <a:rPr lang="en-US" altLang="zh-TW" smtClean="0">
                <a:solidFill>
                  <a:prstClr val="black"/>
                </a:solidFill>
                <a:latin typeface="Tahoma" pitchFamily="34" charset="0"/>
              </a:rPr>
              <a:t>);</a:t>
            </a:r>
          </a:p>
        </p:txBody>
      </p:sp>
      <p:sp>
        <p:nvSpPr>
          <p:cNvPr id="9" name="AutoShape 10"/>
          <p:cNvSpPr>
            <a:spLocks noChangeArrowheads="1"/>
          </p:cNvSpPr>
          <p:nvPr/>
        </p:nvSpPr>
        <p:spPr bwMode="auto">
          <a:xfrm>
            <a:off x="6206381" y="1379399"/>
            <a:ext cx="1520822" cy="439339"/>
          </a:xfrm>
          <a:prstGeom prst="wedgeRoundRectCallout">
            <a:avLst>
              <a:gd name="adj1" fmla="val -71870"/>
              <a:gd name="adj2" fmla="val 20611"/>
              <a:gd name="adj3" fmla="val 16667"/>
            </a:avLst>
          </a:prstGeom>
          <a:solidFill>
            <a:srgbClr val="CCFFCC"/>
          </a:solidFill>
          <a:ln w="9525">
            <a:solidFill>
              <a:schemeClr val="tx1"/>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000" b="1" smtClean="0">
                <a:solidFill>
                  <a:prstClr val="black"/>
                </a:solidFill>
                <a:latin typeface="Comic Sans MS" pitchFamily="66" charset="0"/>
              </a:rPr>
              <a:t>well-known port #</a:t>
            </a:r>
            <a:br>
              <a:rPr lang="en-US" altLang="zh-TW" sz="1000" b="1" smtClean="0">
                <a:solidFill>
                  <a:prstClr val="black"/>
                </a:solidFill>
                <a:latin typeface="Comic Sans MS" pitchFamily="66" charset="0"/>
              </a:rPr>
            </a:br>
            <a:r>
              <a:rPr lang="en-US" altLang="zh-TW" sz="1000" b="1" smtClean="0">
                <a:solidFill>
                  <a:prstClr val="black"/>
                </a:solidFill>
                <a:latin typeface="Comic Sans MS" pitchFamily="66" charset="0"/>
              </a:rPr>
              <a:t>INADDR_ANY</a:t>
            </a:r>
          </a:p>
        </p:txBody>
      </p:sp>
      <p:grpSp>
        <p:nvGrpSpPr>
          <p:cNvPr id="10" name="Group 9"/>
          <p:cNvGrpSpPr>
            <a:grpSpLocks/>
          </p:cNvGrpSpPr>
          <p:nvPr/>
        </p:nvGrpSpPr>
        <p:grpSpPr bwMode="auto">
          <a:xfrm>
            <a:off x="583453" y="1113889"/>
            <a:ext cx="685800" cy="704850"/>
            <a:chOff x="928" y="2512"/>
            <a:chExt cx="432" cy="592"/>
          </a:xfrm>
        </p:grpSpPr>
        <p:sp>
          <p:nvSpPr>
            <p:cNvPr id="27" name="Rectangle 26"/>
            <p:cNvSpPr>
              <a:spLocks noChangeArrowheads="1"/>
            </p:cNvSpPr>
            <p:nvPr/>
          </p:nvSpPr>
          <p:spPr bwMode="auto">
            <a:xfrm>
              <a:off x="928" y="2912"/>
              <a:ext cx="432" cy="192"/>
            </a:xfrm>
            <a:prstGeom prst="rect">
              <a:avLst/>
            </a:prstGeom>
            <a:solidFill>
              <a:srgbClr val="FFFF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200" smtClean="0">
                  <a:solidFill>
                    <a:prstClr val="black"/>
                  </a:solidFill>
                  <a:latin typeface="Tahoma" pitchFamily="34" charset="0"/>
                </a:rPr>
                <a:t>addr</a:t>
              </a:r>
            </a:p>
          </p:txBody>
        </p:sp>
        <p:sp>
          <p:nvSpPr>
            <p:cNvPr id="28" name="Rectangle 27"/>
            <p:cNvSpPr>
              <a:spLocks noChangeArrowheads="1"/>
            </p:cNvSpPr>
            <p:nvPr/>
          </p:nvSpPr>
          <p:spPr bwMode="auto">
            <a:xfrm>
              <a:off x="928" y="2512"/>
              <a:ext cx="432" cy="192"/>
            </a:xfrm>
            <a:prstGeom prst="rect">
              <a:avLst/>
            </a:prstGeom>
            <a:solidFill>
              <a:srgbClr val="FFFF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200" smtClean="0">
                  <a:solidFill>
                    <a:prstClr val="black"/>
                  </a:solidFill>
                  <a:latin typeface="Tahoma" pitchFamily="34" charset="0"/>
                </a:rPr>
                <a:t>family</a:t>
              </a:r>
            </a:p>
          </p:txBody>
        </p:sp>
        <p:sp>
          <p:nvSpPr>
            <p:cNvPr id="29" name="Rectangle 28"/>
            <p:cNvSpPr>
              <a:spLocks noChangeArrowheads="1"/>
            </p:cNvSpPr>
            <p:nvPr/>
          </p:nvSpPr>
          <p:spPr bwMode="auto">
            <a:xfrm>
              <a:off x="928" y="2712"/>
              <a:ext cx="432" cy="192"/>
            </a:xfrm>
            <a:prstGeom prst="rect">
              <a:avLst/>
            </a:prstGeom>
            <a:solidFill>
              <a:srgbClr val="FFFF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200" smtClean="0">
                  <a:solidFill>
                    <a:prstClr val="black"/>
                  </a:solidFill>
                  <a:latin typeface="Tahoma" pitchFamily="34" charset="0"/>
                </a:rPr>
                <a:t>port</a:t>
              </a:r>
            </a:p>
          </p:txBody>
        </p:sp>
      </p:grpSp>
      <p:sp>
        <p:nvSpPr>
          <p:cNvPr id="11" name="Rectangle 10"/>
          <p:cNvSpPr>
            <a:spLocks noChangeArrowheads="1"/>
          </p:cNvSpPr>
          <p:nvPr/>
        </p:nvSpPr>
        <p:spPr bwMode="auto">
          <a:xfrm>
            <a:off x="2787815" y="3383220"/>
            <a:ext cx="2911245" cy="400110"/>
          </a:xfrm>
          <a:prstGeom prst="rect">
            <a:avLst/>
          </a:prstGeom>
          <a:solidFill>
            <a:schemeClr val="bg1"/>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read </a:t>
            </a:r>
            <a:r>
              <a:rPr lang="en-US" altLang="zh-TW" smtClean="0">
                <a:solidFill>
                  <a:prstClr val="black"/>
                </a:solidFill>
                <a:latin typeface="Tahoma" pitchFamily="34" charset="0"/>
              </a:rPr>
              <a:t>(</a:t>
            </a:r>
            <a:r>
              <a:rPr lang="en-US" altLang="zh-TW" i="1" smtClean="0">
                <a:solidFill>
                  <a:prstClr val="black"/>
                </a:solidFill>
                <a:latin typeface="Tahoma" pitchFamily="34" charset="0"/>
              </a:rPr>
              <a:t>ssd</a:t>
            </a:r>
            <a:r>
              <a:rPr lang="en-US" altLang="zh-TW" smtClean="0">
                <a:solidFill>
                  <a:prstClr val="black"/>
                </a:solidFill>
                <a:latin typeface="Tahoma" pitchFamily="34" charset="0"/>
              </a:rPr>
              <a:t>, </a:t>
            </a:r>
            <a:r>
              <a:rPr lang="en-US" altLang="zh-TW" i="1" smtClean="0">
                <a:solidFill>
                  <a:prstClr val="black"/>
                </a:solidFill>
                <a:latin typeface="Tahoma" pitchFamily="34" charset="0"/>
              </a:rPr>
              <a:t>*buff</a:t>
            </a:r>
            <a:r>
              <a:rPr lang="en-US" altLang="zh-TW" smtClean="0">
                <a:solidFill>
                  <a:prstClr val="black"/>
                </a:solidFill>
                <a:latin typeface="Tahoma" pitchFamily="34" charset="0"/>
              </a:rPr>
              <a:t>, </a:t>
            </a:r>
            <a:r>
              <a:rPr lang="en-US" altLang="zh-TW" i="1" smtClean="0">
                <a:solidFill>
                  <a:prstClr val="black"/>
                </a:solidFill>
                <a:latin typeface="Tahoma" pitchFamily="34" charset="0"/>
              </a:rPr>
              <a:t>mbytes</a:t>
            </a:r>
            <a:r>
              <a:rPr lang="en-US" altLang="zh-TW" smtClean="0">
                <a:solidFill>
                  <a:prstClr val="black"/>
                </a:solidFill>
                <a:latin typeface="Tahoma" pitchFamily="34" charset="0"/>
              </a:rPr>
              <a:t>);</a:t>
            </a:r>
          </a:p>
        </p:txBody>
      </p:sp>
      <p:sp>
        <p:nvSpPr>
          <p:cNvPr id="12" name="Rectangle 11"/>
          <p:cNvSpPr>
            <a:spLocks noChangeArrowheads="1"/>
          </p:cNvSpPr>
          <p:nvPr/>
        </p:nvSpPr>
        <p:spPr bwMode="auto">
          <a:xfrm>
            <a:off x="2769159" y="3888045"/>
            <a:ext cx="2973956" cy="400110"/>
          </a:xfrm>
          <a:prstGeom prst="rect">
            <a:avLst/>
          </a:prstGeom>
          <a:solidFill>
            <a:schemeClr val="bg1"/>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write </a:t>
            </a:r>
            <a:r>
              <a:rPr lang="en-US" altLang="zh-TW" smtClean="0">
                <a:solidFill>
                  <a:prstClr val="black"/>
                </a:solidFill>
                <a:latin typeface="Tahoma" pitchFamily="34" charset="0"/>
              </a:rPr>
              <a:t>(</a:t>
            </a:r>
            <a:r>
              <a:rPr lang="en-US" altLang="zh-TW" i="1" smtClean="0">
                <a:solidFill>
                  <a:prstClr val="black"/>
                </a:solidFill>
                <a:latin typeface="Tahoma" pitchFamily="34" charset="0"/>
              </a:rPr>
              <a:t>ssd</a:t>
            </a:r>
            <a:r>
              <a:rPr lang="en-US" altLang="zh-TW" smtClean="0">
                <a:solidFill>
                  <a:prstClr val="black"/>
                </a:solidFill>
                <a:latin typeface="Tahoma" pitchFamily="34" charset="0"/>
              </a:rPr>
              <a:t>, </a:t>
            </a:r>
            <a:r>
              <a:rPr lang="en-US" altLang="zh-TW" i="1" smtClean="0">
                <a:solidFill>
                  <a:prstClr val="black"/>
                </a:solidFill>
                <a:latin typeface="Tahoma" pitchFamily="34" charset="0"/>
              </a:rPr>
              <a:t>*buff</a:t>
            </a:r>
            <a:r>
              <a:rPr lang="en-US" altLang="zh-TW" smtClean="0">
                <a:solidFill>
                  <a:prstClr val="black"/>
                </a:solidFill>
                <a:latin typeface="Tahoma" pitchFamily="34" charset="0"/>
              </a:rPr>
              <a:t>, </a:t>
            </a:r>
            <a:r>
              <a:rPr lang="en-US" altLang="zh-TW" i="1" smtClean="0">
                <a:solidFill>
                  <a:prstClr val="black"/>
                </a:solidFill>
                <a:latin typeface="Tahoma" pitchFamily="34" charset="0"/>
              </a:rPr>
              <a:t>mbytes</a:t>
            </a:r>
            <a:r>
              <a:rPr lang="en-US" altLang="zh-TW" smtClean="0">
                <a:solidFill>
                  <a:prstClr val="black"/>
                </a:solidFill>
                <a:latin typeface="Tahoma" pitchFamily="34" charset="0"/>
              </a:rPr>
              <a:t>);</a:t>
            </a:r>
          </a:p>
        </p:txBody>
      </p:sp>
      <p:sp>
        <p:nvSpPr>
          <p:cNvPr id="13" name="Rectangle 12"/>
          <p:cNvSpPr>
            <a:spLocks noChangeArrowheads="1"/>
          </p:cNvSpPr>
          <p:nvPr/>
        </p:nvSpPr>
        <p:spPr bwMode="auto">
          <a:xfrm>
            <a:off x="3547425" y="4469070"/>
            <a:ext cx="1422184" cy="400110"/>
          </a:xfrm>
          <a:prstGeom prst="rect">
            <a:avLst/>
          </a:prstGeom>
          <a:solidFill>
            <a:srgbClr val="FFCCFF"/>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close </a:t>
            </a:r>
            <a:r>
              <a:rPr lang="en-US" altLang="zh-TW" smtClean="0">
                <a:solidFill>
                  <a:prstClr val="black"/>
                </a:solidFill>
                <a:latin typeface="Tahoma" pitchFamily="34" charset="0"/>
              </a:rPr>
              <a:t>(</a:t>
            </a:r>
            <a:r>
              <a:rPr lang="en-US" altLang="zh-TW" i="1" smtClean="0">
                <a:solidFill>
                  <a:prstClr val="black"/>
                </a:solidFill>
                <a:latin typeface="Tahoma" pitchFamily="34" charset="0"/>
              </a:rPr>
              <a:t>ssd</a:t>
            </a:r>
            <a:r>
              <a:rPr lang="en-US" altLang="zh-TW" smtClean="0">
                <a:solidFill>
                  <a:prstClr val="black"/>
                </a:solidFill>
                <a:latin typeface="Tahoma" pitchFamily="34" charset="0"/>
              </a:rPr>
              <a:t>);</a:t>
            </a:r>
          </a:p>
        </p:txBody>
      </p:sp>
      <p:sp>
        <p:nvSpPr>
          <p:cNvPr id="14" name="AutoShape 18"/>
          <p:cNvSpPr>
            <a:spLocks noChangeArrowheads="1"/>
          </p:cNvSpPr>
          <p:nvPr/>
        </p:nvSpPr>
        <p:spPr bwMode="auto">
          <a:xfrm>
            <a:off x="6781053" y="2514065"/>
            <a:ext cx="1866900" cy="676275"/>
          </a:xfrm>
          <a:prstGeom prst="leftRightArrow">
            <a:avLst>
              <a:gd name="adj1" fmla="val 69019"/>
              <a:gd name="adj2" fmla="val 25880"/>
            </a:avLst>
          </a:prstGeom>
          <a:solidFill>
            <a:srgbClr val="DDDDDD"/>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400" smtClean="0">
                <a:solidFill>
                  <a:prstClr val="black"/>
                </a:solidFill>
                <a:latin typeface="Tahoma" pitchFamily="34" charset="0"/>
              </a:rPr>
              <a:t>three way </a:t>
            </a:r>
            <a:br>
              <a:rPr lang="en-US" altLang="zh-TW" sz="1400" smtClean="0">
                <a:solidFill>
                  <a:prstClr val="black"/>
                </a:solidFill>
                <a:latin typeface="Tahoma" pitchFamily="34" charset="0"/>
              </a:rPr>
            </a:br>
            <a:r>
              <a:rPr lang="en-US" altLang="zh-TW" sz="1400" smtClean="0">
                <a:solidFill>
                  <a:prstClr val="black"/>
                </a:solidFill>
                <a:latin typeface="Tahoma" pitchFamily="34" charset="0"/>
              </a:rPr>
              <a:t>handshaking</a:t>
            </a:r>
          </a:p>
        </p:txBody>
      </p:sp>
      <p:sp>
        <p:nvSpPr>
          <p:cNvPr id="15" name="AutoShape 19"/>
          <p:cNvSpPr>
            <a:spLocks noChangeArrowheads="1"/>
          </p:cNvSpPr>
          <p:nvPr/>
        </p:nvSpPr>
        <p:spPr bwMode="auto">
          <a:xfrm>
            <a:off x="6857253" y="3895189"/>
            <a:ext cx="1739900" cy="609600"/>
          </a:xfrm>
          <a:prstGeom prst="leftRightArrow">
            <a:avLst>
              <a:gd name="adj1" fmla="val 69019"/>
              <a:gd name="adj2" fmla="val 26758"/>
            </a:avLst>
          </a:prstGeom>
          <a:solidFill>
            <a:srgbClr val="DDDDDD"/>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400" smtClean="0">
                <a:solidFill>
                  <a:prstClr val="black"/>
                </a:solidFill>
                <a:latin typeface="Tahoma" pitchFamily="34" charset="0"/>
              </a:rPr>
              <a:t>disconnect </a:t>
            </a:r>
            <a:br>
              <a:rPr lang="en-US" altLang="zh-TW" sz="1400" smtClean="0">
                <a:solidFill>
                  <a:prstClr val="black"/>
                </a:solidFill>
                <a:latin typeface="Tahoma" pitchFamily="34" charset="0"/>
              </a:rPr>
            </a:br>
            <a:r>
              <a:rPr lang="en-US" altLang="zh-TW" sz="1400" smtClean="0">
                <a:solidFill>
                  <a:prstClr val="black"/>
                </a:solidFill>
                <a:latin typeface="Tahoma" pitchFamily="34" charset="0"/>
              </a:rPr>
              <a:t>sequence</a:t>
            </a:r>
          </a:p>
        </p:txBody>
      </p:sp>
      <p:sp>
        <p:nvSpPr>
          <p:cNvPr id="16" name="Rectangle 15"/>
          <p:cNvSpPr>
            <a:spLocks noChangeArrowheads="1"/>
          </p:cNvSpPr>
          <p:nvPr/>
        </p:nvSpPr>
        <p:spPr bwMode="auto">
          <a:xfrm>
            <a:off x="3162197" y="2049720"/>
            <a:ext cx="2270430" cy="400110"/>
          </a:xfrm>
          <a:prstGeom prst="rect">
            <a:avLst/>
          </a:prstGeom>
          <a:solidFill>
            <a:srgbClr val="FFCCFF"/>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listen </a:t>
            </a:r>
            <a:r>
              <a:rPr lang="en-US" altLang="zh-TW" smtClean="0">
                <a:solidFill>
                  <a:prstClr val="black"/>
                </a:solidFill>
                <a:latin typeface="Tahoma" pitchFamily="34" charset="0"/>
              </a:rPr>
              <a:t>(</a:t>
            </a:r>
            <a:r>
              <a:rPr lang="en-US" altLang="zh-TW" i="1" smtClean="0">
                <a:solidFill>
                  <a:prstClr val="black"/>
                </a:solidFill>
                <a:latin typeface="Tahoma" pitchFamily="34" charset="0"/>
              </a:rPr>
              <a:t>sd</a:t>
            </a:r>
            <a:r>
              <a:rPr lang="en-US" altLang="zh-TW" smtClean="0">
                <a:solidFill>
                  <a:prstClr val="black"/>
                </a:solidFill>
                <a:latin typeface="Tahoma" pitchFamily="34" charset="0"/>
              </a:rPr>
              <a:t>, </a:t>
            </a:r>
            <a:r>
              <a:rPr lang="en-US" altLang="zh-TW" i="1" smtClean="0">
                <a:solidFill>
                  <a:prstClr val="black"/>
                </a:solidFill>
                <a:latin typeface="Tahoma" pitchFamily="34" charset="0"/>
              </a:rPr>
              <a:t>backlog</a:t>
            </a:r>
            <a:r>
              <a:rPr lang="en-US" altLang="zh-TW" smtClean="0">
                <a:solidFill>
                  <a:prstClr val="black"/>
                </a:solidFill>
                <a:latin typeface="Tahoma" pitchFamily="34" charset="0"/>
              </a:rPr>
              <a:t>);</a:t>
            </a:r>
          </a:p>
        </p:txBody>
      </p:sp>
      <p:sp>
        <p:nvSpPr>
          <p:cNvPr id="17" name="Rectangle 16"/>
          <p:cNvSpPr>
            <a:spLocks noChangeArrowheads="1"/>
          </p:cNvSpPr>
          <p:nvPr/>
        </p:nvSpPr>
        <p:spPr bwMode="auto">
          <a:xfrm>
            <a:off x="2383732" y="2640270"/>
            <a:ext cx="3686073" cy="400110"/>
          </a:xfrm>
          <a:prstGeom prst="rect">
            <a:avLst/>
          </a:prstGeom>
          <a:solidFill>
            <a:srgbClr val="FFCCFF"/>
          </a:solidFill>
          <a:ln w="9525">
            <a:solidFill>
              <a:schemeClr val="tx1"/>
            </a:solidFill>
            <a:miter lim="800000"/>
            <a:headEnd/>
            <a:tailEnd/>
          </a:ln>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20000"/>
              </a:spcBef>
              <a:spcAft>
                <a:spcPct val="0"/>
              </a:spcAft>
              <a:buClr>
                <a:srgbClr val="C0504D"/>
              </a:buClr>
              <a:buSzPct val="85000"/>
              <a:buFont typeface="ZapfDingbats"/>
              <a:buNone/>
            </a:pPr>
            <a:r>
              <a:rPr lang="en-US" altLang="zh-TW" sz="2000" smtClean="0">
                <a:solidFill>
                  <a:prstClr val="black"/>
                </a:solidFill>
                <a:latin typeface="Tahoma" pitchFamily="34" charset="0"/>
              </a:rPr>
              <a:t>ssd = accept </a:t>
            </a:r>
            <a:r>
              <a:rPr lang="en-US" altLang="zh-TW" smtClean="0">
                <a:solidFill>
                  <a:prstClr val="black"/>
                </a:solidFill>
                <a:latin typeface="Tahoma" pitchFamily="34" charset="0"/>
              </a:rPr>
              <a:t>(</a:t>
            </a:r>
            <a:r>
              <a:rPr lang="en-US" altLang="zh-TW" i="1" smtClean="0">
                <a:solidFill>
                  <a:prstClr val="black"/>
                </a:solidFill>
                <a:latin typeface="Tahoma" pitchFamily="34" charset="0"/>
              </a:rPr>
              <a:t>sd</a:t>
            </a:r>
            <a:r>
              <a:rPr lang="en-US" altLang="zh-TW" smtClean="0">
                <a:solidFill>
                  <a:prstClr val="black"/>
                </a:solidFill>
                <a:latin typeface="Tahoma" pitchFamily="34" charset="0"/>
              </a:rPr>
              <a:t>, </a:t>
            </a:r>
            <a:r>
              <a:rPr lang="en-US" altLang="zh-TW" i="1" smtClean="0">
                <a:solidFill>
                  <a:prstClr val="black"/>
                </a:solidFill>
                <a:latin typeface="Tahoma" pitchFamily="34" charset="0"/>
              </a:rPr>
              <a:t>*cliaddr, *len</a:t>
            </a:r>
            <a:r>
              <a:rPr lang="en-US" altLang="zh-TW" smtClean="0">
                <a:solidFill>
                  <a:prstClr val="black"/>
                </a:solidFill>
                <a:latin typeface="Tahoma" pitchFamily="34" charset="0"/>
              </a:rPr>
              <a:t>);</a:t>
            </a:r>
          </a:p>
        </p:txBody>
      </p:sp>
      <p:sp>
        <p:nvSpPr>
          <p:cNvPr id="18" name="AutoShape 22"/>
          <p:cNvSpPr>
            <a:spLocks noChangeArrowheads="1"/>
          </p:cNvSpPr>
          <p:nvPr/>
        </p:nvSpPr>
        <p:spPr bwMode="auto">
          <a:xfrm>
            <a:off x="1320053" y="942439"/>
            <a:ext cx="863600" cy="419100"/>
          </a:xfrm>
          <a:prstGeom prst="leftArrow">
            <a:avLst>
              <a:gd name="adj1" fmla="val 76926"/>
              <a:gd name="adj2" fmla="val 38636"/>
            </a:avLst>
          </a:prstGeom>
          <a:solidFill>
            <a:srgbClr val="CCFFFF"/>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000" smtClean="0">
                <a:solidFill>
                  <a:prstClr val="black"/>
                </a:solidFill>
                <a:latin typeface="Tahoma" pitchFamily="34" charset="0"/>
              </a:rPr>
              <a:t>LISTEN</a:t>
            </a:r>
            <a:br>
              <a:rPr lang="en-US" altLang="zh-TW" sz="1000" smtClean="0">
                <a:solidFill>
                  <a:prstClr val="black"/>
                </a:solidFill>
                <a:latin typeface="Tahoma" pitchFamily="34" charset="0"/>
              </a:rPr>
            </a:br>
            <a:r>
              <a:rPr lang="en-US" altLang="zh-TW" sz="1000" smtClean="0">
                <a:solidFill>
                  <a:prstClr val="black"/>
                </a:solidFill>
                <a:latin typeface="Tahoma" pitchFamily="34" charset="0"/>
              </a:rPr>
              <a:t>SOCKET</a:t>
            </a:r>
          </a:p>
        </p:txBody>
      </p:sp>
      <p:grpSp>
        <p:nvGrpSpPr>
          <p:cNvPr id="19" name="Group 18"/>
          <p:cNvGrpSpPr>
            <a:grpSpLocks/>
          </p:cNvGrpSpPr>
          <p:nvPr/>
        </p:nvGrpSpPr>
        <p:grpSpPr bwMode="auto">
          <a:xfrm>
            <a:off x="672353" y="2561689"/>
            <a:ext cx="685800" cy="704850"/>
            <a:chOff x="928" y="2512"/>
            <a:chExt cx="432" cy="592"/>
          </a:xfrm>
        </p:grpSpPr>
        <p:sp>
          <p:nvSpPr>
            <p:cNvPr id="24" name="Rectangle 23"/>
            <p:cNvSpPr>
              <a:spLocks noChangeArrowheads="1"/>
            </p:cNvSpPr>
            <p:nvPr/>
          </p:nvSpPr>
          <p:spPr bwMode="auto">
            <a:xfrm>
              <a:off x="928" y="2912"/>
              <a:ext cx="432" cy="192"/>
            </a:xfrm>
            <a:prstGeom prst="rect">
              <a:avLst/>
            </a:prstGeom>
            <a:solidFill>
              <a:srgbClr val="FFFF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200" smtClean="0">
                  <a:solidFill>
                    <a:prstClr val="black"/>
                  </a:solidFill>
                  <a:latin typeface="Tahoma" pitchFamily="34" charset="0"/>
                </a:rPr>
                <a:t>addr</a:t>
              </a:r>
            </a:p>
          </p:txBody>
        </p:sp>
        <p:sp>
          <p:nvSpPr>
            <p:cNvPr id="25" name="Rectangle 24"/>
            <p:cNvSpPr>
              <a:spLocks noChangeArrowheads="1"/>
            </p:cNvSpPr>
            <p:nvPr/>
          </p:nvSpPr>
          <p:spPr bwMode="auto">
            <a:xfrm>
              <a:off x="928" y="2512"/>
              <a:ext cx="432" cy="192"/>
            </a:xfrm>
            <a:prstGeom prst="rect">
              <a:avLst/>
            </a:prstGeom>
            <a:solidFill>
              <a:srgbClr val="FFFF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200" smtClean="0">
                  <a:solidFill>
                    <a:prstClr val="black"/>
                  </a:solidFill>
                  <a:latin typeface="Tahoma" pitchFamily="34" charset="0"/>
                </a:rPr>
                <a:t>family</a:t>
              </a:r>
            </a:p>
          </p:txBody>
        </p:sp>
        <p:sp>
          <p:nvSpPr>
            <p:cNvPr id="26" name="Rectangle 25"/>
            <p:cNvSpPr>
              <a:spLocks noChangeArrowheads="1"/>
            </p:cNvSpPr>
            <p:nvPr/>
          </p:nvSpPr>
          <p:spPr bwMode="auto">
            <a:xfrm>
              <a:off x="928" y="2712"/>
              <a:ext cx="432" cy="192"/>
            </a:xfrm>
            <a:prstGeom prst="rect">
              <a:avLst/>
            </a:prstGeom>
            <a:solidFill>
              <a:srgbClr val="FFFFCC"/>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200" smtClean="0">
                  <a:solidFill>
                    <a:prstClr val="black"/>
                  </a:solidFill>
                  <a:latin typeface="Tahoma" pitchFamily="34" charset="0"/>
                </a:rPr>
                <a:t>port</a:t>
              </a:r>
            </a:p>
          </p:txBody>
        </p:sp>
      </p:grpSp>
      <p:sp>
        <p:nvSpPr>
          <p:cNvPr id="20" name="AutoShape 27"/>
          <p:cNvSpPr>
            <a:spLocks noChangeArrowheads="1"/>
          </p:cNvSpPr>
          <p:nvPr/>
        </p:nvSpPr>
        <p:spPr bwMode="auto">
          <a:xfrm>
            <a:off x="1358153" y="2599789"/>
            <a:ext cx="863600" cy="419100"/>
          </a:xfrm>
          <a:prstGeom prst="leftArrow">
            <a:avLst>
              <a:gd name="adj1" fmla="val 76926"/>
              <a:gd name="adj2" fmla="val 38636"/>
            </a:avLst>
          </a:prstGeom>
          <a:solidFill>
            <a:srgbClr val="CCFFFF"/>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000" smtClean="0">
                <a:solidFill>
                  <a:prstClr val="black"/>
                </a:solidFill>
                <a:latin typeface="Tahoma" pitchFamily="34" charset="0"/>
              </a:rPr>
              <a:t>CONNECT</a:t>
            </a:r>
            <a:br>
              <a:rPr lang="en-US" altLang="zh-TW" sz="1000" smtClean="0">
                <a:solidFill>
                  <a:prstClr val="black"/>
                </a:solidFill>
                <a:latin typeface="Tahoma" pitchFamily="34" charset="0"/>
              </a:rPr>
            </a:br>
            <a:r>
              <a:rPr lang="en-US" altLang="zh-TW" sz="1000" smtClean="0">
                <a:solidFill>
                  <a:prstClr val="black"/>
                </a:solidFill>
                <a:latin typeface="Tahoma" pitchFamily="34" charset="0"/>
              </a:rPr>
              <a:t>SOCKET</a:t>
            </a:r>
          </a:p>
        </p:txBody>
      </p:sp>
      <p:sp>
        <p:nvSpPr>
          <p:cNvPr id="21" name="AutoShape 28"/>
          <p:cNvSpPr>
            <a:spLocks noChangeArrowheads="1"/>
          </p:cNvSpPr>
          <p:nvPr/>
        </p:nvSpPr>
        <p:spPr bwMode="auto">
          <a:xfrm>
            <a:off x="5507881" y="1977093"/>
            <a:ext cx="1457325" cy="536972"/>
          </a:xfrm>
          <a:prstGeom prst="wedgeRoundRectCallout">
            <a:avLst>
              <a:gd name="adj1" fmla="val -54356"/>
              <a:gd name="adj2" fmla="val 3676"/>
              <a:gd name="adj3" fmla="val 16667"/>
            </a:avLst>
          </a:prstGeom>
          <a:solidFill>
            <a:srgbClr val="CCFFCC"/>
          </a:solidFill>
          <a:ln w="9525">
            <a:solidFill>
              <a:schemeClr val="tx1"/>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000" b="1" smtClean="0">
                <a:solidFill>
                  <a:prstClr val="black"/>
                </a:solidFill>
                <a:latin typeface="Comic Sans MS" pitchFamily="66" charset="0"/>
              </a:rPr>
              <a:t>1. Turn sd from active to passive</a:t>
            </a:r>
          </a:p>
          <a:p>
            <a:pPr algn="ctr" fontAlgn="base">
              <a:spcBef>
                <a:spcPct val="0"/>
              </a:spcBef>
              <a:spcAft>
                <a:spcPct val="0"/>
              </a:spcAft>
            </a:pPr>
            <a:r>
              <a:rPr lang="en-US" altLang="zh-TW" sz="1000" b="1" smtClean="0">
                <a:solidFill>
                  <a:prstClr val="black"/>
                </a:solidFill>
                <a:latin typeface="Comic Sans MS" pitchFamily="66" charset="0"/>
              </a:rPr>
              <a:t>2. Queue length</a:t>
            </a:r>
          </a:p>
        </p:txBody>
      </p:sp>
      <p:sp>
        <p:nvSpPr>
          <p:cNvPr id="22" name="AutoShape 29"/>
          <p:cNvSpPr>
            <a:spLocks noChangeArrowheads="1"/>
          </p:cNvSpPr>
          <p:nvPr/>
        </p:nvSpPr>
        <p:spPr bwMode="auto">
          <a:xfrm>
            <a:off x="1408956" y="1513939"/>
            <a:ext cx="1057275" cy="323850"/>
          </a:xfrm>
          <a:prstGeom prst="leftArrow">
            <a:avLst>
              <a:gd name="adj1" fmla="val 76926"/>
              <a:gd name="adj2" fmla="val 61213"/>
            </a:avLst>
          </a:prstGeom>
          <a:solidFill>
            <a:srgbClr val="CCFFFF"/>
          </a:solidFill>
          <a:ln w="9525">
            <a:solidFill>
              <a:schemeClr val="tx1"/>
            </a:solidFill>
            <a:miter lim="800000"/>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TW" sz="1000" b="1" smtClean="0">
                <a:solidFill>
                  <a:prstClr val="black"/>
                </a:solidFill>
                <a:latin typeface="Tahoma" pitchFamily="34" charset="0"/>
              </a:rPr>
              <a:t>bind port #</a:t>
            </a:r>
          </a:p>
        </p:txBody>
      </p:sp>
      <p:sp>
        <p:nvSpPr>
          <p:cNvPr id="23" name="AutoShape 30"/>
          <p:cNvSpPr>
            <a:spLocks noChangeArrowheads="1"/>
          </p:cNvSpPr>
          <p:nvPr/>
        </p:nvSpPr>
        <p:spPr bwMode="auto">
          <a:xfrm>
            <a:off x="465981" y="3799940"/>
            <a:ext cx="2170113" cy="1069240"/>
          </a:xfrm>
          <a:prstGeom prst="wedgeRoundRectCallout">
            <a:avLst>
              <a:gd name="adj1" fmla="val 61778"/>
              <a:gd name="adj2" fmla="val 32338"/>
              <a:gd name="adj3" fmla="val 16667"/>
            </a:avLst>
          </a:prstGeom>
          <a:solidFill>
            <a:srgbClr val="CCFFCC"/>
          </a:solidFill>
          <a:ln w="9525">
            <a:solidFill>
              <a:schemeClr val="tx1"/>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en-US" altLang="zh-TW" sz="1000" b="1" dirty="0" smtClean="0">
                <a:solidFill>
                  <a:prstClr val="black"/>
                </a:solidFill>
                <a:latin typeface="Tahoma" pitchFamily="34" charset="0"/>
              </a:rPr>
              <a:t>closes socket for R/W</a:t>
            </a:r>
            <a:br>
              <a:rPr lang="en-US" altLang="zh-TW" sz="1000" b="1" dirty="0" smtClean="0">
                <a:solidFill>
                  <a:prstClr val="black"/>
                </a:solidFill>
                <a:latin typeface="Tahoma" pitchFamily="34" charset="0"/>
              </a:rPr>
            </a:br>
            <a:r>
              <a:rPr lang="en-US" altLang="zh-TW" sz="1000" b="1" dirty="0" smtClean="0">
                <a:solidFill>
                  <a:prstClr val="black"/>
                </a:solidFill>
                <a:latin typeface="Tahoma" pitchFamily="34" charset="0"/>
              </a:rPr>
              <a:t>non-blocking</a:t>
            </a:r>
            <a:br>
              <a:rPr lang="en-US" altLang="zh-TW" sz="1000" b="1" dirty="0" smtClean="0">
                <a:solidFill>
                  <a:prstClr val="black"/>
                </a:solidFill>
                <a:latin typeface="Tahoma" pitchFamily="34" charset="0"/>
              </a:rPr>
            </a:br>
            <a:r>
              <a:rPr lang="en-US" altLang="zh-TW" sz="1000" b="1" dirty="0" smtClean="0">
                <a:solidFill>
                  <a:prstClr val="black"/>
                </a:solidFill>
                <a:latin typeface="Tahoma" pitchFamily="34" charset="0"/>
              </a:rPr>
              <a:t>attempts to send unsent data</a:t>
            </a:r>
            <a:br>
              <a:rPr lang="en-US" altLang="zh-TW" sz="1000" b="1" dirty="0" smtClean="0">
                <a:solidFill>
                  <a:prstClr val="black"/>
                </a:solidFill>
                <a:latin typeface="Tahoma" pitchFamily="34" charset="0"/>
              </a:rPr>
            </a:br>
            <a:r>
              <a:rPr lang="en-US" altLang="zh-TW" sz="1000" b="1" dirty="0" smtClean="0">
                <a:solidFill>
                  <a:prstClr val="black"/>
                </a:solidFill>
                <a:latin typeface="Tahoma" pitchFamily="34" charset="0"/>
              </a:rPr>
              <a:t/>
            </a:r>
            <a:br>
              <a:rPr lang="en-US" altLang="zh-TW" sz="1000" b="1" dirty="0" smtClean="0">
                <a:solidFill>
                  <a:prstClr val="black"/>
                </a:solidFill>
                <a:latin typeface="Tahoma" pitchFamily="34" charset="0"/>
              </a:rPr>
            </a:br>
            <a:r>
              <a:rPr lang="en-US" altLang="zh-TW" sz="1000" b="1" dirty="0" smtClean="0">
                <a:solidFill>
                  <a:prstClr val="black"/>
                </a:solidFill>
                <a:latin typeface="Tahoma" pitchFamily="34" charset="0"/>
              </a:rPr>
              <a:t>socket option SO_LINGER</a:t>
            </a:r>
            <a:br>
              <a:rPr lang="en-US" altLang="zh-TW" sz="1000" b="1" dirty="0" smtClean="0">
                <a:solidFill>
                  <a:prstClr val="black"/>
                </a:solidFill>
                <a:latin typeface="Tahoma" pitchFamily="34" charset="0"/>
              </a:rPr>
            </a:br>
            <a:r>
              <a:rPr lang="en-US" altLang="zh-TW" sz="1000" b="1" dirty="0" smtClean="0">
                <a:solidFill>
                  <a:prstClr val="black"/>
                </a:solidFill>
                <a:latin typeface="Tahoma" pitchFamily="34" charset="0"/>
              </a:rPr>
              <a:t>block until data sent</a:t>
            </a:r>
          </a:p>
        </p:txBody>
      </p:sp>
    </p:spTree>
    <p:extLst>
      <p:ext uri="{BB962C8B-B14F-4D97-AF65-F5344CB8AC3E}">
        <p14:creationId xmlns:p14="http://schemas.microsoft.com/office/powerpoint/2010/main" xmlns="" val="84162699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In this segment</a:t>
            </a:r>
            <a:endParaRPr lang="en-US" dirty="0"/>
          </a:p>
        </p:txBody>
      </p:sp>
      <p:sp>
        <p:nvSpPr>
          <p:cNvPr id="3" name="Content Placeholder 2"/>
          <p:cNvSpPr>
            <a:spLocks noGrp="1"/>
          </p:cNvSpPr>
          <p:nvPr>
            <p:ph idx="1"/>
          </p:nvPr>
        </p:nvSpPr>
        <p:spPr/>
        <p:txBody>
          <a:bodyPr/>
          <a:lstStyle/>
          <a:p>
            <a:r>
              <a:rPr lang="en-US" dirty="0"/>
              <a:t>TCP client-server interaction</a:t>
            </a:r>
          </a:p>
          <a:p>
            <a:r>
              <a:rPr lang="en-US" dirty="0"/>
              <a:t>TCP Web server</a:t>
            </a:r>
            <a:endParaRPr lang="en-IN" dirty="0"/>
          </a:p>
          <a:p>
            <a:r>
              <a:rPr lang="en-US" dirty="0"/>
              <a:t>TCP Web client</a:t>
            </a:r>
          </a:p>
          <a:p>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Review: TCP Client-Server Interaction</a:t>
            </a:r>
            <a:endParaRPr lang="en-IN" dirty="0"/>
          </a:p>
        </p:txBody>
      </p:sp>
      <p:sp>
        <p:nvSpPr>
          <p:cNvPr id="4" name="Footer Placeholder 39"/>
          <p:cNvSpPr>
            <a:spLocks noGrp="1"/>
          </p:cNvSpPr>
          <p:nvPr/>
        </p:nvSpPr>
        <p:spPr>
          <a:xfrm>
            <a:off x="2619104" y="4723423"/>
            <a:ext cx="2895600"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dirty="0"/>
          </a:p>
        </p:txBody>
      </p:sp>
      <p:sp>
        <p:nvSpPr>
          <p:cNvPr id="5" name="Slide Number Placeholder 40"/>
          <p:cNvSpPr>
            <a:spLocks noGrp="1"/>
          </p:cNvSpPr>
          <p:nvPr/>
        </p:nvSpPr>
        <p:spPr>
          <a:xfrm>
            <a:off x="6048104" y="4723423"/>
            <a:ext cx="2133600"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844C7CE-B4CB-4893-B005-D0B3965B0390}" type="slidenum">
              <a:rPr lang="en-US" altLang="en-US"/>
              <a:pPr/>
              <a:t>88</a:t>
            </a:fld>
            <a:endParaRPr lang="en-US" altLang="en-US"/>
          </a:p>
        </p:txBody>
      </p:sp>
      <p:sp>
        <p:nvSpPr>
          <p:cNvPr id="6" name="Text Box 4"/>
          <p:cNvSpPr txBox="1">
            <a:spLocks noChangeArrowheads="1"/>
          </p:cNvSpPr>
          <p:nvPr/>
        </p:nvSpPr>
        <p:spPr bwMode="auto">
          <a:xfrm>
            <a:off x="5413105" y="1327761"/>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socket()</a:t>
            </a:r>
          </a:p>
        </p:txBody>
      </p:sp>
      <p:sp>
        <p:nvSpPr>
          <p:cNvPr id="7" name="Text Box 6"/>
          <p:cNvSpPr txBox="1">
            <a:spLocks noChangeArrowheads="1"/>
          </p:cNvSpPr>
          <p:nvPr/>
        </p:nvSpPr>
        <p:spPr bwMode="auto">
          <a:xfrm>
            <a:off x="5413105" y="1694473"/>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bind()</a:t>
            </a:r>
          </a:p>
        </p:txBody>
      </p:sp>
      <p:sp>
        <p:nvSpPr>
          <p:cNvPr id="8" name="Text Box 7"/>
          <p:cNvSpPr txBox="1">
            <a:spLocks noChangeArrowheads="1"/>
          </p:cNvSpPr>
          <p:nvPr/>
        </p:nvSpPr>
        <p:spPr bwMode="auto">
          <a:xfrm>
            <a:off x="5413105" y="2070711"/>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listen()</a:t>
            </a:r>
          </a:p>
        </p:txBody>
      </p:sp>
      <p:sp>
        <p:nvSpPr>
          <p:cNvPr id="9" name="Text Box 8"/>
          <p:cNvSpPr txBox="1">
            <a:spLocks noChangeArrowheads="1"/>
          </p:cNvSpPr>
          <p:nvPr/>
        </p:nvSpPr>
        <p:spPr bwMode="auto">
          <a:xfrm>
            <a:off x="5413105" y="2470761"/>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accept()</a:t>
            </a:r>
          </a:p>
        </p:txBody>
      </p:sp>
      <p:sp>
        <p:nvSpPr>
          <p:cNvPr id="10" name="Text Box 9"/>
          <p:cNvSpPr txBox="1">
            <a:spLocks noChangeArrowheads="1"/>
          </p:cNvSpPr>
          <p:nvPr/>
        </p:nvSpPr>
        <p:spPr bwMode="auto">
          <a:xfrm>
            <a:off x="5413105" y="3670911"/>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write()</a:t>
            </a:r>
          </a:p>
        </p:txBody>
      </p:sp>
      <p:sp>
        <p:nvSpPr>
          <p:cNvPr id="11" name="Text Box 10"/>
          <p:cNvSpPr txBox="1">
            <a:spLocks noChangeArrowheads="1"/>
          </p:cNvSpPr>
          <p:nvPr/>
        </p:nvSpPr>
        <p:spPr bwMode="auto">
          <a:xfrm>
            <a:off x="5413105" y="3156561"/>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read()</a:t>
            </a:r>
          </a:p>
        </p:txBody>
      </p:sp>
      <p:sp>
        <p:nvSpPr>
          <p:cNvPr id="12" name="Text Box 11"/>
          <p:cNvSpPr txBox="1">
            <a:spLocks noChangeArrowheads="1"/>
          </p:cNvSpPr>
          <p:nvPr/>
        </p:nvSpPr>
        <p:spPr bwMode="auto">
          <a:xfrm>
            <a:off x="5413105" y="4185261"/>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read()</a:t>
            </a:r>
          </a:p>
        </p:txBody>
      </p:sp>
      <p:sp>
        <p:nvSpPr>
          <p:cNvPr id="13" name="Text Box 12"/>
          <p:cNvSpPr txBox="1">
            <a:spLocks noChangeArrowheads="1"/>
          </p:cNvSpPr>
          <p:nvPr/>
        </p:nvSpPr>
        <p:spPr bwMode="auto">
          <a:xfrm>
            <a:off x="5367191" y="933634"/>
            <a:ext cx="1563441"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sz="2000" b="1">
                <a:solidFill>
                  <a:srgbClr val="CC0000"/>
                </a:solidFill>
                <a:latin typeface="Arial" charset="0"/>
              </a:rPr>
              <a:t>TCP Server</a:t>
            </a:r>
          </a:p>
        </p:txBody>
      </p:sp>
      <p:sp>
        <p:nvSpPr>
          <p:cNvPr id="14" name="Text Box 16"/>
          <p:cNvSpPr txBox="1">
            <a:spLocks noChangeArrowheads="1"/>
          </p:cNvSpPr>
          <p:nvPr/>
        </p:nvSpPr>
        <p:spPr bwMode="auto">
          <a:xfrm>
            <a:off x="5438505" y="4553163"/>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close()</a:t>
            </a:r>
          </a:p>
        </p:txBody>
      </p:sp>
      <p:sp>
        <p:nvSpPr>
          <p:cNvPr id="15" name="Text Box 17"/>
          <p:cNvSpPr txBox="1">
            <a:spLocks noChangeArrowheads="1"/>
          </p:cNvSpPr>
          <p:nvPr/>
        </p:nvSpPr>
        <p:spPr bwMode="auto">
          <a:xfrm>
            <a:off x="990330" y="2413611"/>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socket()</a:t>
            </a:r>
          </a:p>
        </p:txBody>
      </p:sp>
      <p:sp>
        <p:nvSpPr>
          <p:cNvPr id="16" name="Line 18"/>
          <p:cNvSpPr>
            <a:spLocks noChangeShapeType="1"/>
          </p:cNvSpPr>
          <p:nvPr/>
        </p:nvSpPr>
        <p:spPr bwMode="auto">
          <a:xfrm>
            <a:off x="1676129" y="2642210"/>
            <a:ext cx="0" cy="17145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Text Box 19"/>
          <p:cNvSpPr txBox="1">
            <a:spLocks noChangeArrowheads="1"/>
          </p:cNvSpPr>
          <p:nvPr/>
        </p:nvSpPr>
        <p:spPr bwMode="auto">
          <a:xfrm>
            <a:off x="962297" y="2019484"/>
            <a:ext cx="1476879"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sz="2000" b="1">
                <a:solidFill>
                  <a:srgbClr val="CC0000"/>
                </a:solidFill>
                <a:latin typeface="Arial" charset="0"/>
              </a:rPr>
              <a:t>TCP Client</a:t>
            </a:r>
          </a:p>
        </p:txBody>
      </p:sp>
      <p:sp>
        <p:nvSpPr>
          <p:cNvPr id="18" name="Text Box 20"/>
          <p:cNvSpPr txBox="1">
            <a:spLocks noChangeArrowheads="1"/>
          </p:cNvSpPr>
          <p:nvPr/>
        </p:nvSpPr>
        <p:spPr bwMode="auto">
          <a:xfrm>
            <a:off x="990330" y="2780323"/>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connect()</a:t>
            </a:r>
          </a:p>
        </p:txBody>
      </p:sp>
      <p:sp>
        <p:nvSpPr>
          <p:cNvPr id="19" name="Text Box 21"/>
          <p:cNvSpPr txBox="1">
            <a:spLocks noChangeArrowheads="1"/>
          </p:cNvSpPr>
          <p:nvPr/>
        </p:nvSpPr>
        <p:spPr bwMode="auto">
          <a:xfrm>
            <a:off x="990330" y="3237523"/>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write()</a:t>
            </a:r>
          </a:p>
        </p:txBody>
      </p:sp>
      <p:sp>
        <p:nvSpPr>
          <p:cNvPr id="20" name="Text Box 22"/>
          <p:cNvSpPr txBox="1">
            <a:spLocks noChangeArrowheads="1"/>
          </p:cNvSpPr>
          <p:nvPr/>
        </p:nvSpPr>
        <p:spPr bwMode="auto">
          <a:xfrm>
            <a:off x="990330" y="3866173"/>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read()</a:t>
            </a:r>
          </a:p>
        </p:txBody>
      </p:sp>
      <p:sp>
        <p:nvSpPr>
          <p:cNvPr id="21" name="Text Box 23"/>
          <p:cNvSpPr txBox="1">
            <a:spLocks noChangeArrowheads="1"/>
          </p:cNvSpPr>
          <p:nvPr/>
        </p:nvSpPr>
        <p:spPr bwMode="auto">
          <a:xfrm>
            <a:off x="990330" y="4267413"/>
            <a:ext cx="1425575" cy="260747"/>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90000"/>
              </a:lnSpc>
            </a:pPr>
            <a:r>
              <a:rPr lang="en-US" altLang="en-US" sz="1800">
                <a:latin typeface="Courier New" pitchFamily="49" charset="0"/>
              </a:rPr>
              <a:t>close()</a:t>
            </a:r>
          </a:p>
        </p:txBody>
      </p:sp>
      <p:sp>
        <p:nvSpPr>
          <p:cNvPr id="22" name="Line 24"/>
          <p:cNvSpPr>
            <a:spLocks noChangeShapeType="1"/>
          </p:cNvSpPr>
          <p:nvPr/>
        </p:nvSpPr>
        <p:spPr bwMode="auto">
          <a:xfrm>
            <a:off x="2514329" y="2927960"/>
            <a:ext cx="3352800" cy="0"/>
          </a:xfrm>
          <a:prstGeom prst="line">
            <a:avLst/>
          </a:prstGeom>
          <a:noFill/>
          <a:ln w="28575">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Line 25"/>
          <p:cNvSpPr>
            <a:spLocks noChangeShapeType="1"/>
          </p:cNvSpPr>
          <p:nvPr/>
        </p:nvSpPr>
        <p:spPr bwMode="auto">
          <a:xfrm flipV="1">
            <a:off x="2361930" y="3328010"/>
            <a:ext cx="3076575" cy="5715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Line 26"/>
          <p:cNvSpPr>
            <a:spLocks noChangeShapeType="1"/>
          </p:cNvSpPr>
          <p:nvPr/>
        </p:nvSpPr>
        <p:spPr bwMode="auto">
          <a:xfrm flipH="1">
            <a:off x="2361930" y="3842360"/>
            <a:ext cx="3076575" cy="17145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Line 27"/>
          <p:cNvSpPr>
            <a:spLocks noChangeShapeType="1"/>
          </p:cNvSpPr>
          <p:nvPr/>
        </p:nvSpPr>
        <p:spPr bwMode="auto">
          <a:xfrm>
            <a:off x="2390504" y="4413860"/>
            <a:ext cx="3048000" cy="171450"/>
          </a:xfrm>
          <a:prstGeom prst="line">
            <a:avLst/>
          </a:prstGeom>
          <a:noFill/>
          <a:ln w="2857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 name="Text Box 28"/>
          <p:cNvSpPr txBox="1">
            <a:spLocks noChangeArrowheads="1"/>
          </p:cNvSpPr>
          <p:nvPr/>
        </p:nvSpPr>
        <p:spPr bwMode="auto">
          <a:xfrm>
            <a:off x="2708239" y="2595062"/>
            <a:ext cx="257128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sz="1800" i="1"/>
              <a:t>connection establishment</a:t>
            </a:r>
          </a:p>
        </p:txBody>
      </p:sp>
      <p:sp>
        <p:nvSpPr>
          <p:cNvPr id="27" name="Text Box 29"/>
          <p:cNvSpPr txBox="1">
            <a:spLocks noChangeArrowheads="1"/>
          </p:cNvSpPr>
          <p:nvPr/>
        </p:nvSpPr>
        <p:spPr bwMode="auto">
          <a:xfrm>
            <a:off x="2709610" y="3052262"/>
            <a:ext cx="1368388"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sz="1800" i="1"/>
              <a:t>data request</a:t>
            </a:r>
          </a:p>
        </p:txBody>
      </p:sp>
      <p:sp>
        <p:nvSpPr>
          <p:cNvPr id="28" name="Line 30"/>
          <p:cNvSpPr>
            <a:spLocks noChangeShapeType="1"/>
          </p:cNvSpPr>
          <p:nvPr/>
        </p:nvSpPr>
        <p:spPr bwMode="auto">
          <a:xfrm>
            <a:off x="3657329" y="3556610"/>
            <a:ext cx="0" cy="342900"/>
          </a:xfrm>
          <a:prstGeom prst="line">
            <a:avLst/>
          </a:prstGeom>
          <a:noFill/>
          <a:ln w="28575">
            <a:solidFill>
              <a:schemeClr val="tx1"/>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Text Box 31"/>
          <p:cNvSpPr txBox="1">
            <a:spLocks noChangeArrowheads="1"/>
          </p:cNvSpPr>
          <p:nvPr/>
        </p:nvSpPr>
        <p:spPr bwMode="auto">
          <a:xfrm>
            <a:off x="3866778" y="3566612"/>
            <a:ext cx="1130502"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sz="1800" i="1"/>
              <a:t>data reply</a:t>
            </a:r>
          </a:p>
        </p:txBody>
      </p:sp>
      <p:sp>
        <p:nvSpPr>
          <p:cNvPr id="30" name="Line 32"/>
          <p:cNvSpPr>
            <a:spLocks noChangeShapeType="1"/>
          </p:cNvSpPr>
          <p:nvPr/>
        </p:nvSpPr>
        <p:spPr bwMode="auto">
          <a:xfrm>
            <a:off x="6171929" y="1613510"/>
            <a:ext cx="0" cy="17145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Line 33"/>
          <p:cNvSpPr>
            <a:spLocks noChangeShapeType="1"/>
          </p:cNvSpPr>
          <p:nvPr/>
        </p:nvSpPr>
        <p:spPr bwMode="auto">
          <a:xfrm>
            <a:off x="6171929" y="1956410"/>
            <a:ext cx="0" cy="17145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Line 34"/>
          <p:cNvSpPr>
            <a:spLocks noChangeShapeType="1"/>
          </p:cNvSpPr>
          <p:nvPr/>
        </p:nvSpPr>
        <p:spPr bwMode="auto">
          <a:xfrm>
            <a:off x="6171929" y="2356460"/>
            <a:ext cx="0" cy="17145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Line 35"/>
          <p:cNvSpPr>
            <a:spLocks noChangeShapeType="1"/>
          </p:cNvSpPr>
          <p:nvPr/>
        </p:nvSpPr>
        <p:spPr bwMode="auto">
          <a:xfrm>
            <a:off x="6171929" y="2756510"/>
            <a:ext cx="0" cy="28575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Line 36"/>
          <p:cNvSpPr>
            <a:spLocks noChangeShapeType="1"/>
          </p:cNvSpPr>
          <p:nvPr/>
        </p:nvSpPr>
        <p:spPr bwMode="auto">
          <a:xfrm>
            <a:off x="6171929" y="3956660"/>
            <a:ext cx="0" cy="22860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Line 37"/>
          <p:cNvSpPr>
            <a:spLocks noChangeShapeType="1"/>
          </p:cNvSpPr>
          <p:nvPr/>
        </p:nvSpPr>
        <p:spPr bwMode="auto">
          <a:xfrm>
            <a:off x="6171929" y="4413860"/>
            <a:ext cx="0" cy="17145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6" name="Line 38"/>
          <p:cNvSpPr>
            <a:spLocks noChangeShapeType="1"/>
          </p:cNvSpPr>
          <p:nvPr/>
        </p:nvSpPr>
        <p:spPr bwMode="auto">
          <a:xfrm>
            <a:off x="6171929" y="3442310"/>
            <a:ext cx="0" cy="22860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Line 39"/>
          <p:cNvSpPr>
            <a:spLocks noChangeShapeType="1"/>
          </p:cNvSpPr>
          <p:nvPr/>
        </p:nvSpPr>
        <p:spPr bwMode="auto">
          <a:xfrm>
            <a:off x="1676129" y="3042260"/>
            <a:ext cx="0" cy="17145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Line 40"/>
          <p:cNvSpPr>
            <a:spLocks noChangeShapeType="1"/>
          </p:cNvSpPr>
          <p:nvPr/>
        </p:nvSpPr>
        <p:spPr bwMode="auto">
          <a:xfrm>
            <a:off x="1676129" y="4128110"/>
            <a:ext cx="0" cy="17145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9" name="Line 41"/>
          <p:cNvSpPr>
            <a:spLocks noChangeShapeType="1"/>
          </p:cNvSpPr>
          <p:nvPr/>
        </p:nvSpPr>
        <p:spPr bwMode="auto">
          <a:xfrm>
            <a:off x="1676129" y="3499460"/>
            <a:ext cx="0" cy="400050"/>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0" name="Text Box 42"/>
          <p:cNvSpPr txBox="1">
            <a:spLocks noChangeArrowheads="1"/>
          </p:cNvSpPr>
          <p:nvPr/>
        </p:nvSpPr>
        <p:spPr bwMode="auto">
          <a:xfrm>
            <a:off x="2949200" y="4138112"/>
            <a:ext cx="2273508"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r>
              <a:rPr lang="en-US" altLang="en-US" sz="1800" i="1"/>
              <a:t>end-of-file notification</a:t>
            </a:r>
          </a:p>
        </p:txBody>
      </p:sp>
    </p:spTree>
    <p:extLst>
      <p:ext uri="{BB962C8B-B14F-4D97-AF65-F5344CB8AC3E}">
        <p14:creationId xmlns="" xmlns:p14="http://schemas.microsoft.com/office/powerpoint/2010/main" val="175991996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TCP </a:t>
            </a:r>
            <a:r>
              <a:rPr lang="en-US" altLang="en-US" dirty="0" smtClean="0"/>
              <a:t>Server</a:t>
            </a:r>
            <a:endParaRPr lang="en-US" altLang="en-US" dirty="0"/>
          </a:p>
        </p:txBody>
      </p:sp>
      <p:sp>
        <p:nvSpPr>
          <p:cNvPr id="18" name="Footer Placeholder 15"/>
          <p:cNvSpPr>
            <a:spLocks noGrp="1"/>
          </p:cNvSpPr>
          <p:nvPr/>
        </p:nvSpPr>
        <p:spPr>
          <a:xfrm>
            <a:off x="2832100" y="4650080"/>
            <a:ext cx="2895600" cy="27384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en-US" dirty="0"/>
          </a:p>
        </p:txBody>
      </p:sp>
      <p:sp>
        <p:nvSpPr>
          <p:cNvPr id="19" name="Slide Number Placeholder 16"/>
          <p:cNvSpPr>
            <a:spLocks noGrp="1"/>
          </p:cNvSpPr>
          <p:nvPr/>
        </p:nvSpPr>
        <p:spPr>
          <a:xfrm>
            <a:off x="6261100" y="4650080"/>
            <a:ext cx="2133600" cy="27384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2B4FC8-91D8-4318-B687-B5A848CE2A30}" type="slidenum">
              <a:rPr lang="en-US" altLang="en-US"/>
              <a:pPr/>
              <a:t>89</a:t>
            </a:fld>
            <a:endParaRPr lang="en-US" altLang="en-US" dirty="0"/>
          </a:p>
        </p:txBody>
      </p:sp>
      <p:sp>
        <p:nvSpPr>
          <p:cNvPr id="20" name="Text Box 2"/>
          <p:cNvSpPr txBox="1">
            <a:spLocks noChangeArrowheads="1"/>
          </p:cNvSpPr>
          <p:nvPr/>
        </p:nvSpPr>
        <p:spPr bwMode="auto">
          <a:xfrm>
            <a:off x="1144589" y="2515289"/>
            <a:ext cx="1495425" cy="390525"/>
          </a:xfrm>
          <a:prstGeom prst="rect">
            <a:avLst/>
          </a:prstGeom>
          <a:noFill/>
          <a:ln w="12700">
            <a:solidFill>
              <a:schemeClr val="tx1"/>
            </a:solidFill>
            <a:miter lim="800000"/>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2058" tIns="123087" rIns="82058" bIns="123087"/>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800">
                <a:latin typeface="Helvetica" pitchFamily="34" charset="0"/>
              </a:rPr>
              <a:t>TCP</a:t>
            </a:r>
          </a:p>
        </p:txBody>
      </p:sp>
      <p:sp>
        <p:nvSpPr>
          <p:cNvPr id="21" name="Text Box 3"/>
          <p:cNvSpPr txBox="1">
            <a:spLocks noChangeArrowheads="1"/>
          </p:cNvSpPr>
          <p:nvPr/>
        </p:nvSpPr>
        <p:spPr bwMode="auto">
          <a:xfrm>
            <a:off x="1144589" y="3134415"/>
            <a:ext cx="1495425" cy="391715"/>
          </a:xfrm>
          <a:prstGeom prst="rect">
            <a:avLst/>
          </a:prstGeom>
          <a:noFill/>
          <a:ln w="12700">
            <a:solidFill>
              <a:schemeClr val="tx1"/>
            </a:solidFill>
            <a:miter lim="800000"/>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2058" tIns="123087" rIns="82058" bIns="123087"/>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800">
                <a:latin typeface="Helvetica" pitchFamily="34" charset="0"/>
              </a:rPr>
              <a:t>IP</a:t>
            </a:r>
          </a:p>
        </p:txBody>
      </p:sp>
      <p:sp>
        <p:nvSpPr>
          <p:cNvPr id="22" name="Text Box 5"/>
          <p:cNvSpPr txBox="1">
            <a:spLocks noChangeArrowheads="1"/>
          </p:cNvSpPr>
          <p:nvPr/>
        </p:nvSpPr>
        <p:spPr bwMode="auto">
          <a:xfrm>
            <a:off x="958075" y="3736871"/>
            <a:ext cx="1897025" cy="525577"/>
          </a:xfrm>
          <a:prstGeom prst="rect">
            <a:avLst/>
          </a:prstGeom>
          <a:noFill/>
          <a:ln w="12700">
            <a:solidFill>
              <a:schemeClr val="tx1"/>
            </a:solidFill>
            <a:miter lim="800000"/>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2058" tIns="123087" rIns="82058" bIns="12308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800">
                <a:latin typeface="Helvetica" pitchFamily="34" charset="0"/>
              </a:rPr>
              <a:t>Ethernet Adapter</a:t>
            </a:r>
          </a:p>
        </p:txBody>
      </p:sp>
      <p:sp>
        <p:nvSpPr>
          <p:cNvPr id="23" name="Line 6"/>
          <p:cNvSpPr>
            <a:spLocks noChangeShapeType="1"/>
          </p:cNvSpPr>
          <p:nvPr/>
        </p:nvSpPr>
        <p:spPr bwMode="auto">
          <a:xfrm>
            <a:off x="1892300" y="2903433"/>
            <a:ext cx="0" cy="232172"/>
          </a:xfrm>
          <a:prstGeom prst="line">
            <a:avLst/>
          </a:prstGeom>
          <a:noFill/>
          <a:ln w="9525">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Line 7"/>
          <p:cNvSpPr>
            <a:spLocks noChangeShapeType="1"/>
          </p:cNvSpPr>
          <p:nvPr/>
        </p:nvSpPr>
        <p:spPr bwMode="auto">
          <a:xfrm>
            <a:off x="1892300" y="3528511"/>
            <a:ext cx="0" cy="232172"/>
          </a:xfrm>
          <a:prstGeom prst="line">
            <a:avLst/>
          </a:prstGeom>
          <a:noFill/>
          <a:ln w="9525">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Oval 24"/>
          <p:cNvSpPr>
            <a:spLocks noChangeArrowheads="1"/>
          </p:cNvSpPr>
          <p:nvPr/>
        </p:nvSpPr>
        <p:spPr bwMode="auto">
          <a:xfrm>
            <a:off x="904875" y="1254417"/>
            <a:ext cx="1993900" cy="766763"/>
          </a:xfrm>
          <a:prstGeom prst="ellipse">
            <a:avLst/>
          </a:prstGeom>
          <a:noFill/>
          <a:ln w="25400">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1176" tIns="45588" rIns="91176" bIns="45588"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1800">
                <a:solidFill>
                  <a:srgbClr val="CC0000"/>
                </a:solidFill>
                <a:latin typeface="Helvetica" pitchFamily="34" charset="0"/>
              </a:rPr>
              <a:t>Web Server</a:t>
            </a:r>
          </a:p>
        </p:txBody>
      </p:sp>
      <p:sp>
        <p:nvSpPr>
          <p:cNvPr id="26" name="Line 10"/>
          <p:cNvSpPr>
            <a:spLocks noChangeShapeType="1"/>
          </p:cNvSpPr>
          <p:nvPr/>
        </p:nvSpPr>
        <p:spPr bwMode="auto">
          <a:xfrm>
            <a:off x="977900" y="2312883"/>
            <a:ext cx="1879600"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 name="Rectangle 26"/>
          <p:cNvSpPr>
            <a:spLocks noChangeArrowheads="1"/>
          </p:cNvSpPr>
          <p:nvPr/>
        </p:nvSpPr>
        <p:spPr bwMode="auto">
          <a:xfrm>
            <a:off x="698501" y="1082967"/>
            <a:ext cx="2411413" cy="3237310"/>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Oval 27"/>
          <p:cNvSpPr>
            <a:spLocks noChangeArrowheads="1"/>
          </p:cNvSpPr>
          <p:nvPr/>
        </p:nvSpPr>
        <p:spPr bwMode="auto">
          <a:xfrm>
            <a:off x="1758951" y="1893784"/>
            <a:ext cx="227013" cy="164306"/>
          </a:xfrm>
          <a:prstGeom prst="ellipse">
            <a:avLst/>
          </a:prstGeom>
          <a:solidFill>
            <a:srgbClr val="FF6600"/>
          </a:solidFill>
          <a:ln w="9525">
            <a:solidFill>
              <a:srgbClr val="FF6600"/>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Line 15"/>
          <p:cNvSpPr>
            <a:spLocks noChangeShapeType="1"/>
          </p:cNvSpPr>
          <p:nvPr/>
        </p:nvSpPr>
        <p:spPr bwMode="auto">
          <a:xfrm flipH="1">
            <a:off x="1884363" y="2008084"/>
            <a:ext cx="0" cy="507206"/>
          </a:xfrm>
          <a:prstGeom prst="line">
            <a:avLst/>
          </a:prstGeom>
          <a:noFill/>
          <a:ln w="25400">
            <a:solidFill>
              <a:srgbClr val="FF66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Text Box 18"/>
          <p:cNvSpPr txBox="1">
            <a:spLocks noChangeArrowheads="1"/>
          </p:cNvSpPr>
          <p:nvPr/>
        </p:nvSpPr>
        <p:spPr bwMode="auto">
          <a:xfrm>
            <a:off x="1909764" y="2008083"/>
            <a:ext cx="966398" cy="3690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1176" tIns="45588" rIns="91176" bIns="4558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1800" b="1" i="1">
                <a:latin typeface="Helvetica" pitchFamily="34" charset="0"/>
              </a:rPr>
              <a:t>Port 80</a:t>
            </a:r>
          </a:p>
        </p:txBody>
      </p:sp>
      <p:sp>
        <p:nvSpPr>
          <p:cNvPr id="31" name="Rectangle 30"/>
          <p:cNvSpPr>
            <a:spLocks noGrp="1" noChangeArrowheads="1"/>
          </p:cNvSpPr>
          <p:nvPr/>
        </p:nvSpPr>
        <p:spPr>
          <a:xfrm>
            <a:off x="3365500" y="1082967"/>
            <a:ext cx="4724400" cy="3600450"/>
          </a:xfrm>
          <a:prstGeom prst="rect">
            <a:avLst/>
          </a:prstGeom>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dirty="0"/>
              <a:t>For example: web server</a:t>
            </a:r>
          </a:p>
          <a:p>
            <a:pPr lvl="1"/>
            <a:endParaRPr lang="en-US" altLang="en-US" dirty="0"/>
          </a:p>
          <a:p>
            <a:r>
              <a:rPr lang="en-US" altLang="en-US" sz="2400" b="1" dirty="0">
                <a:solidFill>
                  <a:srgbClr val="CC0000"/>
                </a:solidFill>
              </a:rPr>
              <a:t>What does a </a:t>
            </a:r>
            <a:r>
              <a:rPr lang="en-US" altLang="en-US" sz="2400" b="1" i="1" dirty="0">
                <a:solidFill>
                  <a:srgbClr val="CC0000"/>
                </a:solidFill>
              </a:rPr>
              <a:t>web server</a:t>
            </a:r>
            <a:r>
              <a:rPr lang="en-US" altLang="en-US" sz="2400" b="1" dirty="0">
                <a:solidFill>
                  <a:srgbClr val="CC0000"/>
                </a:solidFill>
              </a:rPr>
              <a:t> need to do so that a </a:t>
            </a:r>
            <a:r>
              <a:rPr lang="en-US" altLang="en-US" sz="2400" b="1" i="1" dirty="0">
                <a:solidFill>
                  <a:srgbClr val="CC0000"/>
                </a:solidFill>
              </a:rPr>
              <a:t>web client</a:t>
            </a:r>
            <a:r>
              <a:rPr lang="en-US" altLang="en-US" sz="2400" b="1" dirty="0">
                <a:solidFill>
                  <a:srgbClr val="CC0000"/>
                </a:solidFill>
              </a:rPr>
              <a:t> can connect to it?</a:t>
            </a:r>
          </a:p>
        </p:txBody>
      </p:sp>
    </p:spTree>
    <p:extLst>
      <p:ext uri="{BB962C8B-B14F-4D97-AF65-F5344CB8AC3E}">
        <p14:creationId xmlns="" xmlns:p14="http://schemas.microsoft.com/office/powerpoint/2010/main" val="8352077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I/O: socket</a:t>
            </a:r>
            <a:r>
              <a:rPr lang="en-US" altLang="en-US" dirty="0" smtClean="0"/>
              <a:t>()</a:t>
            </a:r>
            <a:endParaRPr lang="en-US" altLang="en-US" dirty="0"/>
          </a:p>
        </p:txBody>
      </p:sp>
      <p:sp>
        <p:nvSpPr>
          <p:cNvPr id="3" name="Content Placeholder 2"/>
          <p:cNvSpPr>
            <a:spLocks noGrp="1"/>
          </p:cNvSpPr>
          <p:nvPr>
            <p:ph idx="1"/>
          </p:nvPr>
        </p:nvSpPr>
        <p:spPr/>
        <p:txBody>
          <a:bodyPr/>
          <a:lstStyle/>
          <a:p>
            <a:r>
              <a:rPr lang="en-US" altLang="en-US" dirty="0"/>
              <a:t>Since web traffic uses TCP, the web server must create a socket of type SOCK_STREAM</a:t>
            </a:r>
          </a:p>
          <a:p>
            <a:endParaRPr lang="en-US" altLang="en-US" sz="2000" b="1" i="1" dirty="0" smtClean="0"/>
          </a:p>
          <a:p>
            <a:endParaRPr lang="en-US" altLang="en-US" sz="2000" b="1" i="1" dirty="0"/>
          </a:p>
          <a:p>
            <a:endParaRPr lang="en-US" altLang="en-US" sz="2000" b="1" i="1" dirty="0" smtClean="0"/>
          </a:p>
          <a:p>
            <a:endParaRPr lang="en-US" altLang="en-US" sz="2000" b="1" i="1" dirty="0" smtClean="0"/>
          </a:p>
          <a:p>
            <a:endParaRPr lang="en-US" altLang="en-US" sz="2000" b="1" i="1" dirty="0"/>
          </a:p>
          <a:p>
            <a:endParaRPr lang="en-US" altLang="en-US" sz="2000" b="1" i="1" dirty="0"/>
          </a:p>
          <a:p>
            <a:r>
              <a:rPr lang="en-US" altLang="en-US" sz="2000" b="1" i="1" dirty="0" smtClean="0"/>
              <a:t>socket</a:t>
            </a:r>
            <a:r>
              <a:rPr lang="en-US" altLang="en-US" sz="2000" dirty="0" smtClean="0"/>
              <a:t> </a:t>
            </a:r>
            <a:r>
              <a:rPr lang="en-US" altLang="en-US" sz="2000" dirty="0"/>
              <a:t>returns an integer (</a:t>
            </a:r>
            <a:r>
              <a:rPr lang="en-US" altLang="en-US" sz="2000" b="1" dirty="0"/>
              <a:t>socket descriptor</a:t>
            </a:r>
            <a:r>
              <a:rPr lang="en-US" altLang="en-US" sz="2000" dirty="0"/>
              <a:t>)</a:t>
            </a:r>
          </a:p>
          <a:p>
            <a:pPr lvl="1"/>
            <a:r>
              <a:rPr lang="en-US" altLang="en-US" sz="2000" i="1" dirty="0" err="1"/>
              <a:t>fd</a:t>
            </a:r>
            <a:r>
              <a:rPr lang="en-US" altLang="en-US" sz="2000" i="1" dirty="0"/>
              <a:t> </a:t>
            </a:r>
            <a:r>
              <a:rPr lang="en-US" altLang="en-US" sz="2000" dirty="0"/>
              <a:t>&lt; 0 indicates that an error occurred</a:t>
            </a:r>
          </a:p>
          <a:p>
            <a:r>
              <a:rPr lang="en-US" altLang="en-US" sz="2000" b="1" dirty="0">
                <a:solidFill>
                  <a:srgbClr val="CC0000"/>
                </a:solidFill>
              </a:rPr>
              <a:t>AF_INET</a:t>
            </a:r>
            <a:r>
              <a:rPr lang="en-US" altLang="en-US" sz="2000" dirty="0"/>
              <a:t> associates a socket with the Internet protocol family</a:t>
            </a:r>
          </a:p>
          <a:p>
            <a:r>
              <a:rPr lang="en-US" altLang="en-US" sz="2000" b="1" dirty="0">
                <a:solidFill>
                  <a:srgbClr val="CC0000"/>
                </a:solidFill>
              </a:rPr>
              <a:t>SOCK_STREAM </a:t>
            </a:r>
            <a:r>
              <a:rPr lang="en-US" altLang="en-US" sz="2000" b="1" dirty="0"/>
              <a:t>selects the TCP protocol</a:t>
            </a:r>
          </a:p>
          <a:p>
            <a:endParaRPr lang="en-IN" dirty="0"/>
          </a:p>
        </p:txBody>
      </p:sp>
      <p:sp>
        <p:nvSpPr>
          <p:cNvPr id="4" name="Text Box 3"/>
          <p:cNvSpPr txBox="1">
            <a:spLocks noChangeArrowheads="1"/>
          </p:cNvSpPr>
          <p:nvPr/>
        </p:nvSpPr>
        <p:spPr bwMode="auto">
          <a:xfrm>
            <a:off x="754380" y="1538887"/>
            <a:ext cx="7543800" cy="1938726"/>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2000" dirty="0" err="1">
                <a:latin typeface="Courier New" pitchFamily="49" charset="0"/>
              </a:rPr>
              <a:t>int</a:t>
            </a:r>
            <a:r>
              <a:rPr lang="en-US" altLang="en-US" sz="2000" dirty="0">
                <a:latin typeface="Courier New" pitchFamily="49" charset="0"/>
              </a:rPr>
              <a:t> </a:t>
            </a:r>
            <a:r>
              <a:rPr lang="en-US" altLang="en-US" sz="2000" dirty="0" err="1">
                <a:latin typeface="Courier New" pitchFamily="49" charset="0"/>
              </a:rPr>
              <a:t>fd</a:t>
            </a:r>
            <a:r>
              <a:rPr lang="en-US" altLang="en-US" sz="2000" dirty="0">
                <a:latin typeface="Courier New" pitchFamily="49" charset="0"/>
              </a:rPr>
              <a:t>;		/* socket descriptor */</a:t>
            </a:r>
          </a:p>
          <a:p>
            <a:endParaRPr lang="en-US" altLang="en-US" sz="2000" dirty="0">
              <a:latin typeface="Courier New" pitchFamily="49" charset="0"/>
            </a:endParaRPr>
          </a:p>
          <a:p>
            <a:r>
              <a:rPr lang="en-US" altLang="en-US" sz="2000" dirty="0">
                <a:latin typeface="Courier New" pitchFamily="49" charset="0"/>
              </a:rPr>
              <a:t>if((</a:t>
            </a:r>
            <a:r>
              <a:rPr lang="en-US" altLang="en-US" sz="2000" dirty="0" err="1">
                <a:latin typeface="Courier New" pitchFamily="49" charset="0"/>
              </a:rPr>
              <a:t>fd</a:t>
            </a:r>
            <a:r>
              <a:rPr lang="en-US" altLang="en-US" sz="2000" dirty="0">
                <a:latin typeface="Courier New" pitchFamily="49" charset="0"/>
              </a:rPr>
              <a:t> = </a:t>
            </a:r>
            <a:r>
              <a:rPr lang="en-US" altLang="en-US" sz="2000" b="1" dirty="0">
                <a:solidFill>
                  <a:srgbClr val="CC0000"/>
                </a:solidFill>
                <a:latin typeface="Courier New" pitchFamily="49" charset="0"/>
              </a:rPr>
              <a:t>socket</a:t>
            </a:r>
            <a:r>
              <a:rPr lang="en-US" altLang="en-US" sz="2000" dirty="0">
                <a:latin typeface="Courier New" pitchFamily="49" charset="0"/>
              </a:rPr>
              <a:t>(</a:t>
            </a:r>
            <a:r>
              <a:rPr lang="en-US" altLang="en-US" sz="2000" b="1" dirty="0">
                <a:solidFill>
                  <a:srgbClr val="CC0000"/>
                </a:solidFill>
                <a:latin typeface="Courier New" pitchFamily="49" charset="0"/>
              </a:rPr>
              <a:t>AF_INET</a:t>
            </a:r>
            <a:r>
              <a:rPr lang="en-US" altLang="en-US" sz="2000" dirty="0">
                <a:latin typeface="Courier New" pitchFamily="49" charset="0"/>
              </a:rPr>
              <a:t>, </a:t>
            </a:r>
            <a:r>
              <a:rPr lang="en-US" altLang="en-US" sz="2000" b="1" dirty="0">
                <a:solidFill>
                  <a:srgbClr val="CC0000"/>
                </a:solidFill>
                <a:latin typeface="Courier New" pitchFamily="49" charset="0"/>
              </a:rPr>
              <a:t>SOCK_STREAM</a:t>
            </a:r>
            <a:r>
              <a:rPr lang="en-US" altLang="en-US" sz="2000" dirty="0">
                <a:latin typeface="Courier New" pitchFamily="49" charset="0"/>
              </a:rPr>
              <a:t>, 0)) &lt; 0) {</a:t>
            </a:r>
          </a:p>
          <a:p>
            <a:r>
              <a:rPr lang="en-US" altLang="en-US" sz="2000" dirty="0">
                <a:latin typeface="Courier New" pitchFamily="49" charset="0"/>
              </a:rPr>
              <a:t>	</a:t>
            </a:r>
            <a:r>
              <a:rPr lang="en-US" altLang="en-US" sz="2000" dirty="0" err="1">
                <a:latin typeface="Courier New" pitchFamily="49" charset="0"/>
              </a:rPr>
              <a:t>perror</a:t>
            </a:r>
            <a:r>
              <a:rPr lang="en-US" altLang="en-US" sz="2000" dirty="0">
                <a:latin typeface="Courier New" pitchFamily="49" charset="0"/>
              </a:rPr>
              <a:t>(“socket”);</a:t>
            </a:r>
          </a:p>
          <a:p>
            <a:r>
              <a:rPr lang="en-US" altLang="en-US" sz="2000" dirty="0">
                <a:latin typeface="Courier New" pitchFamily="49" charset="0"/>
              </a:rPr>
              <a:t>	exit(1);</a:t>
            </a:r>
          </a:p>
          <a:p>
            <a:r>
              <a:rPr lang="en-US" altLang="en-US" sz="2000" dirty="0">
                <a:latin typeface="Courier New" pitchFamily="49" charset="0"/>
              </a:rPr>
              <a:t>}</a:t>
            </a:r>
          </a:p>
        </p:txBody>
      </p:sp>
    </p:spTree>
    <p:extLst>
      <p:ext uri="{BB962C8B-B14F-4D97-AF65-F5344CB8AC3E}">
        <p14:creationId xmlns="" xmlns:p14="http://schemas.microsoft.com/office/powerpoint/2010/main" val="51238152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I/O: connect()</a:t>
            </a:r>
            <a:endParaRPr lang="en-IN" dirty="0"/>
          </a:p>
        </p:txBody>
      </p:sp>
      <p:sp>
        <p:nvSpPr>
          <p:cNvPr id="3" name="Content Placeholder 2"/>
          <p:cNvSpPr>
            <a:spLocks noGrp="1"/>
          </p:cNvSpPr>
          <p:nvPr>
            <p:ph idx="1"/>
          </p:nvPr>
        </p:nvSpPr>
        <p:spPr/>
        <p:txBody>
          <a:bodyPr/>
          <a:lstStyle/>
          <a:p>
            <a:r>
              <a:rPr lang="en-US" altLang="en-US" b="1" i="1" dirty="0"/>
              <a:t>connect</a:t>
            </a:r>
            <a:r>
              <a:rPr lang="en-US" altLang="en-US" dirty="0"/>
              <a:t> allows a client to connect to a Webserver...</a:t>
            </a:r>
          </a:p>
          <a:p>
            <a:endParaRPr lang="en-IN" dirty="0"/>
          </a:p>
        </p:txBody>
      </p:sp>
      <p:sp>
        <p:nvSpPr>
          <p:cNvPr id="4" name="Text Box 4"/>
          <p:cNvSpPr txBox="1">
            <a:spLocks noChangeArrowheads="1"/>
          </p:cNvSpPr>
          <p:nvPr/>
        </p:nvSpPr>
        <p:spPr bwMode="auto">
          <a:xfrm>
            <a:off x="833120" y="958977"/>
            <a:ext cx="8310880" cy="4277828"/>
          </a:xfrm>
          <a:prstGeom prst="rect">
            <a:avLst/>
          </a:prstGeom>
          <a:noFill/>
          <a:ln w="9525">
            <a:no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91176" tIns="45588" rIns="91176" bIns="4558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1600" dirty="0" err="1">
                <a:latin typeface="Courier New" pitchFamily="49" charset="0"/>
              </a:rPr>
              <a:t>int</a:t>
            </a:r>
            <a:r>
              <a:rPr lang="en-US" altLang="en-US" sz="1600" dirty="0">
                <a:latin typeface="Courier New" pitchFamily="49" charset="0"/>
              </a:rPr>
              <a:t> </a:t>
            </a:r>
            <a:r>
              <a:rPr lang="en-US" altLang="en-US" sz="1600" dirty="0" err="1">
                <a:latin typeface="Courier New" pitchFamily="49" charset="0"/>
              </a:rPr>
              <a:t>fd</a:t>
            </a:r>
            <a:r>
              <a:rPr lang="en-US" altLang="en-US" sz="1600" dirty="0">
                <a:latin typeface="Courier New" pitchFamily="49" charset="0"/>
              </a:rPr>
              <a:t>;				/* socket descriptor */</a:t>
            </a:r>
          </a:p>
          <a:p>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sockaddr_in</a:t>
            </a:r>
            <a:r>
              <a:rPr lang="en-US" altLang="en-US" sz="1600" dirty="0">
                <a:latin typeface="Courier New" pitchFamily="49" charset="0"/>
              </a:rPr>
              <a:t> </a:t>
            </a:r>
            <a:r>
              <a:rPr lang="en-US" altLang="en-US" sz="1600" dirty="0" err="1">
                <a:latin typeface="Courier New" pitchFamily="49" charset="0"/>
              </a:rPr>
              <a:t>srv</a:t>
            </a:r>
            <a:r>
              <a:rPr lang="en-US" altLang="en-US" sz="1600" dirty="0">
                <a:latin typeface="Courier New" pitchFamily="49" charset="0"/>
              </a:rPr>
              <a:t>;		/* used by connect() */</a:t>
            </a:r>
          </a:p>
          <a:p>
            <a:endParaRPr lang="en-US" altLang="en-US" sz="1600" dirty="0">
              <a:latin typeface="Courier New" pitchFamily="49" charset="0"/>
            </a:endParaRPr>
          </a:p>
          <a:p>
            <a:r>
              <a:rPr lang="en-US" altLang="en-US" sz="1600" dirty="0">
                <a:latin typeface="Courier New" pitchFamily="49" charset="0"/>
              </a:rPr>
              <a:t>/* create the socket */</a:t>
            </a:r>
          </a:p>
          <a:p>
            <a:endParaRPr lang="en-US" altLang="en-US" sz="1600" dirty="0">
              <a:latin typeface="Courier New" pitchFamily="49" charset="0"/>
            </a:endParaRPr>
          </a:p>
          <a:p>
            <a:r>
              <a:rPr lang="en-US" altLang="en-US" sz="1600" dirty="0">
                <a:latin typeface="Courier New" pitchFamily="49" charset="0"/>
              </a:rPr>
              <a:t>/* connect: use the Internet address family */</a:t>
            </a:r>
          </a:p>
          <a:p>
            <a:r>
              <a:rPr lang="en-US" altLang="en-US" sz="1600" dirty="0" err="1">
                <a:latin typeface="Courier New" pitchFamily="49" charset="0"/>
              </a:rPr>
              <a:t>srv.sin_family</a:t>
            </a:r>
            <a:r>
              <a:rPr lang="en-US" altLang="en-US" sz="1600" dirty="0">
                <a:latin typeface="Courier New" pitchFamily="49" charset="0"/>
              </a:rPr>
              <a:t> = </a:t>
            </a:r>
            <a:r>
              <a:rPr lang="en-US" altLang="en-US" sz="1600" b="1" dirty="0">
                <a:solidFill>
                  <a:srgbClr val="CC0000"/>
                </a:solidFill>
                <a:latin typeface="Courier New" pitchFamily="49" charset="0"/>
              </a:rPr>
              <a:t>AF_INET</a:t>
            </a:r>
            <a:r>
              <a:rPr lang="en-US" altLang="en-US" sz="1600" dirty="0">
                <a:latin typeface="Courier New" pitchFamily="49" charset="0"/>
              </a:rPr>
              <a:t>;</a:t>
            </a:r>
          </a:p>
          <a:p>
            <a:endParaRPr lang="en-US" altLang="en-US" sz="1600" dirty="0">
              <a:latin typeface="Courier New" pitchFamily="49" charset="0"/>
            </a:endParaRPr>
          </a:p>
          <a:p>
            <a:r>
              <a:rPr lang="en-US" altLang="en-US" sz="1600" dirty="0">
                <a:latin typeface="Courier New" pitchFamily="49" charset="0"/>
              </a:rPr>
              <a:t>/* connect: socket ‘</a:t>
            </a:r>
            <a:r>
              <a:rPr lang="en-US" altLang="en-US" sz="1600" dirty="0" err="1">
                <a:latin typeface="Courier New" pitchFamily="49" charset="0"/>
              </a:rPr>
              <a:t>fd</a:t>
            </a:r>
            <a:r>
              <a:rPr lang="en-US" altLang="en-US" sz="1600" dirty="0">
                <a:latin typeface="Courier New" pitchFamily="49" charset="0"/>
              </a:rPr>
              <a:t>’ to port 80 */</a:t>
            </a:r>
          </a:p>
          <a:p>
            <a:r>
              <a:rPr lang="en-US" altLang="en-US" sz="1600" dirty="0" err="1">
                <a:latin typeface="Courier New" pitchFamily="49" charset="0"/>
              </a:rPr>
              <a:t>srv.sin_port</a:t>
            </a:r>
            <a:r>
              <a:rPr lang="en-US" altLang="en-US" sz="1600" dirty="0">
                <a:latin typeface="Courier New" pitchFamily="49" charset="0"/>
              </a:rPr>
              <a:t> = </a:t>
            </a:r>
            <a:r>
              <a:rPr lang="en-US" altLang="en-US" sz="1600" dirty="0" err="1">
                <a:latin typeface="Courier New" pitchFamily="49" charset="0"/>
              </a:rPr>
              <a:t>htons</a:t>
            </a:r>
            <a:r>
              <a:rPr lang="en-US" altLang="en-US" sz="1600" dirty="0">
                <a:latin typeface="Courier New" pitchFamily="49" charset="0"/>
              </a:rPr>
              <a:t>(</a:t>
            </a:r>
            <a:r>
              <a:rPr lang="en-US" altLang="en-US" sz="1600" b="1" dirty="0">
                <a:solidFill>
                  <a:srgbClr val="CC0000"/>
                </a:solidFill>
                <a:latin typeface="Courier New" pitchFamily="49" charset="0"/>
              </a:rPr>
              <a:t>80</a:t>
            </a:r>
            <a:r>
              <a:rPr lang="en-US" altLang="en-US" sz="1600" dirty="0">
                <a:latin typeface="Courier New" pitchFamily="49" charset="0"/>
              </a:rPr>
              <a:t>);</a:t>
            </a:r>
          </a:p>
          <a:p>
            <a:endParaRPr lang="en-US" altLang="en-US" sz="1600" dirty="0">
              <a:latin typeface="Courier New" pitchFamily="49" charset="0"/>
            </a:endParaRPr>
          </a:p>
          <a:p>
            <a:r>
              <a:rPr lang="en-US" altLang="en-US" sz="1600" dirty="0">
                <a:latin typeface="Courier New" pitchFamily="49" charset="0"/>
              </a:rPr>
              <a:t>/* connect: connect to IP Address “128.2.35.50” */</a:t>
            </a:r>
          </a:p>
          <a:p>
            <a:r>
              <a:rPr lang="en-US" altLang="en-US" sz="1600" dirty="0" err="1">
                <a:latin typeface="Courier New" pitchFamily="49" charset="0"/>
              </a:rPr>
              <a:t>srv.sin_addr.s_addr</a:t>
            </a:r>
            <a:r>
              <a:rPr lang="en-US" altLang="en-US" sz="1600" dirty="0">
                <a:latin typeface="Courier New" pitchFamily="49" charset="0"/>
              </a:rPr>
              <a:t> = </a:t>
            </a:r>
            <a:r>
              <a:rPr lang="en-US" altLang="en-US" sz="1600" b="1" dirty="0" err="1">
                <a:solidFill>
                  <a:srgbClr val="CC0000"/>
                </a:solidFill>
                <a:latin typeface="Courier New" pitchFamily="49" charset="0"/>
              </a:rPr>
              <a:t>inet_addr</a:t>
            </a:r>
            <a:r>
              <a:rPr lang="en-US" altLang="en-US" sz="1600" dirty="0">
                <a:latin typeface="Courier New" pitchFamily="49" charset="0"/>
              </a:rPr>
              <a:t>(“</a:t>
            </a:r>
            <a:r>
              <a:rPr lang="en-US" altLang="en-US" sz="1600" b="1" dirty="0">
                <a:solidFill>
                  <a:srgbClr val="CC0000"/>
                </a:solidFill>
                <a:latin typeface="Courier New" pitchFamily="49" charset="0"/>
              </a:rPr>
              <a:t>128.2.35.50</a:t>
            </a:r>
            <a:r>
              <a:rPr lang="en-US" altLang="en-US" sz="1600" dirty="0">
                <a:latin typeface="Courier New" pitchFamily="49" charset="0"/>
              </a:rPr>
              <a:t>”);</a:t>
            </a:r>
          </a:p>
          <a:p>
            <a:endParaRPr lang="en-US" altLang="en-US" sz="1600" dirty="0">
              <a:latin typeface="Courier New" pitchFamily="49" charset="0"/>
            </a:endParaRPr>
          </a:p>
          <a:p>
            <a:r>
              <a:rPr lang="en-US" altLang="en-US" sz="1600" dirty="0">
                <a:latin typeface="Courier New" pitchFamily="49" charset="0"/>
              </a:rPr>
              <a:t>if(</a:t>
            </a:r>
            <a:r>
              <a:rPr lang="en-US" altLang="en-US" sz="1600" b="1" dirty="0">
                <a:solidFill>
                  <a:srgbClr val="CC0000"/>
                </a:solidFill>
                <a:latin typeface="Courier New" pitchFamily="49" charset="0"/>
              </a:rPr>
              <a:t>connect</a:t>
            </a:r>
            <a:r>
              <a:rPr lang="en-US" altLang="en-US" sz="1600" dirty="0">
                <a:latin typeface="Courier New" pitchFamily="49" charset="0"/>
              </a:rPr>
              <a:t>(</a:t>
            </a:r>
            <a:r>
              <a:rPr lang="en-US" altLang="en-US" sz="1600" dirty="0" err="1">
                <a:latin typeface="Courier New" pitchFamily="49" charset="0"/>
              </a:rPr>
              <a:t>fd</a:t>
            </a:r>
            <a:r>
              <a:rPr lang="en-US" altLang="en-US" sz="1600" dirty="0">
                <a:latin typeface="Courier New" pitchFamily="49" charset="0"/>
              </a:rPr>
              <a:t>, (</a:t>
            </a:r>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sockaddr</a:t>
            </a:r>
            <a:r>
              <a:rPr lang="en-US" altLang="en-US" sz="1600" dirty="0">
                <a:latin typeface="Courier New" pitchFamily="49" charset="0"/>
              </a:rPr>
              <a:t>*) &amp;</a:t>
            </a:r>
            <a:r>
              <a:rPr lang="en-US" altLang="en-US" sz="1600" dirty="0" err="1">
                <a:latin typeface="Courier New" pitchFamily="49" charset="0"/>
              </a:rPr>
              <a:t>srv</a:t>
            </a:r>
            <a:r>
              <a:rPr lang="en-US" altLang="en-US" sz="1600" dirty="0">
                <a:latin typeface="Courier New" pitchFamily="49" charset="0"/>
              </a:rPr>
              <a:t>, </a:t>
            </a:r>
            <a:r>
              <a:rPr lang="en-US" altLang="en-US" sz="1600" dirty="0" err="1">
                <a:latin typeface="Courier New" pitchFamily="49" charset="0"/>
              </a:rPr>
              <a:t>sizeof</a:t>
            </a:r>
            <a:r>
              <a:rPr lang="en-US" altLang="en-US" sz="1600" dirty="0">
                <a:latin typeface="Courier New" pitchFamily="49" charset="0"/>
              </a:rPr>
              <a:t>(</a:t>
            </a:r>
            <a:r>
              <a:rPr lang="en-US" altLang="en-US" sz="1600" dirty="0" err="1">
                <a:latin typeface="Courier New" pitchFamily="49" charset="0"/>
              </a:rPr>
              <a:t>srv</a:t>
            </a:r>
            <a:r>
              <a:rPr lang="en-US" altLang="en-US" sz="1600" dirty="0">
                <a:latin typeface="Courier New" pitchFamily="49" charset="0"/>
              </a:rPr>
              <a:t>)) &lt; 0) {</a:t>
            </a:r>
          </a:p>
          <a:p>
            <a:r>
              <a:rPr lang="en-US" altLang="en-US" sz="1600" dirty="0">
                <a:latin typeface="Courier New" pitchFamily="49" charset="0"/>
              </a:rPr>
              <a:t>	</a:t>
            </a:r>
            <a:r>
              <a:rPr lang="en-US" altLang="en-US" sz="1600" dirty="0" err="1">
                <a:latin typeface="Courier New" pitchFamily="49" charset="0"/>
              </a:rPr>
              <a:t>perror</a:t>
            </a:r>
            <a:r>
              <a:rPr lang="en-US" altLang="en-US" sz="1600" dirty="0">
                <a:latin typeface="Courier New" pitchFamily="49" charset="0"/>
              </a:rPr>
              <a:t>(”connect"); exit(1);</a:t>
            </a:r>
          </a:p>
          <a:p>
            <a:r>
              <a:rPr lang="en-US" altLang="en-US" sz="1600" dirty="0">
                <a:latin typeface="Courier New" pitchFamily="49" charset="0"/>
              </a:rPr>
              <a:t>}</a:t>
            </a:r>
          </a:p>
        </p:txBody>
      </p:sp>
    </p:spTree>
    <p:extLst>
      <p:ext uri="{BB962C8B-B14F-4D97-AF65-F5344CB8AC3E}">
        <p14:creationId xmlns="" xmlns:p14="http://schemas.microsoft.com/office/powerpoint/2010/main" val="193670203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I/O: bind</a:t>
            </a:r>
            <a:r>
              <a:rPr lang="en-US" altLang="en-US" dirty="0" smtClean="0"/>
              <a:t>()</a:t>
            </a:r>
            <a:endParaRPr lang="en-US" altLang="en-US" dirty="0"/>
          </a:p>
        </p:txBody>
      </p:sp>
      <p:sp>
        <p:nvSpPr>
          <p:cNvPr id="3" name="Content Placeholder 2"/>
          <p:cNvSpPr>
            <a:spLocks noGrp="1"/>
          </p:cNvSpPr>
          <p:nvPr>
            <p:ph idx="1"/>
          </p:nvPr>
        </p:nvSpPr>
        <p:spPr/>
        <p:txBody>
          <a:bodyPr/>
          <a:lstStyle/>
          <a:p>
            <a:pPr>
              <a:lnSpc>
                <a:spcPct val="90000"/>
              </a:lnSpc>
            </a:pPr>
            <a:r>
              <a:rPr lang="en-US" altLang="en-US" dirty="0"/>
              <a:t>A </a:t>
            </a:r>
            <a:r>
              <a:rPr lang="en-US" altLang="en-US" b="1" i="1" dirty="0"/>
              <a:t>socket</a:t>
            </a:r>
            <a:r>
              <a:rPr lang="en-US" altLang="en-US" dirty="0"/>
              <a:t> can be bound to a </a:t>
            </a:r>
            <a:r>
              <a:rPr lang="en-US" altLang="en-US" b="1" i="1" dirty="0"/>
              <a:t>port</a:t>
            </a:r>
            <a:endParaRPr lang="en-US" altLang="en-US" dirty="0"/>
          </a:p>
        </p:txBody>
      </p:sp>
      <p:sp>
        <p:nvSpPr>
          <p:cNvPr id="4" name="Text Box 4"/>
          <p:cNvSpPr txBox="1">
            <a:spLocks noChangeArrowheads="1"/>
          </p:cNvSpPr>
          <p:nvPr/>
        </p:nvSpPr>
        <p:spPr bwMode="auto">
          <a:xfrm>
            <a:off x="563880" y="1083795"/>
            <a:ext cx="7924800" cy="378538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1600" dirty="0" err="1">
                <a:latin typeface="Courier New" pitchFamily="49" charset="0"/>
              </a:rPr>
              <a:t>int</a:t>
            </a:r>
            <a:r>
              <a:rPr lang="en-US" altLang="en-US" sz="1600" dirty="0">
                <a:latin typeface="Courier New" pitchFamily="49" charset="0"/>
              </a:rPr>
              <a:t> </a:t>
            </a:r>
            <a:r>
              <a:rPr lang="en-US" altLang="en-US" sz="1600" dirty="0" err="1">
                <a:latin typeface="Courier New" pitchFamily="49" charset="0"/>
              </a:rPr>
              <a:t>fd</a:t>
            </a:r>
            <a:r>
              <a:rPr lang="en-US" altLang="en-US" sz="1600" dirty="0">
                <a:latin typeface="Courier New" pitchFamily="49" charset="0"/>
              </a:rPr>
              <a:t>;				/* socket descriptor */</a:t>
            </a:r>
          </a:p>
          <a:p>
            <a:r>
              <a:rPr lang="en-US" altLang="en-US" sz="1600" b="1" dirty="0" err="1">
                <a:solidFill>
                  <a:srgbClr val="CC0000"/>
                </a:solidFill>
                <a:latin typeface="Courier New" pitchFamily="49" charset="0"/>
              </a:rPr>
              <a:t>struct</a:t>
            </a:r>
            <a:r>
              <a:rPr lang="en-US" altLang="en-US" sz="1600" b="1" dirty="0">
                <a:solidFill>
                  <a:srgbClr val="CC0000"/>
                </a:solidFill>
                <a:latin typeface="Courier New" pitchFamily="49" charset="0"/>
              </a:rPr>
              <a:t> </a:t>
            </a:r>
            <a:r>
              <a:rPr lang="en-US" altLang="en-US" sz="1600" b="1" dirty="0" err="1">
                <a:solidFill>
                  <a:srgbClr val="CC0000"/>
                </a:solidFill>
                <a:latin typeface="Courier New" pitchFamily="49" charset="0"/>
              </a:rPr>
              <a:t>sockaddr_in</a:t>
            </a:r>
            <a:r>
              <a:rPr lang="en-US" altLang="en-US" sz="1600" dirty="0">
                <a:latin typeface="Courier New" pitchFamily="49" charset="0"/>
              </a:rPr>
              <a:t> </a:t>
            </a:r>
            <a:r>
              <a:rPr lang="en-US" altLang="en-US" sz="1600" dirty="0" err="1">
                <a:latin typeface="Courier New" pitchFamily="49" charset="0"/>
              </a:rPr>
              <a:t>srv</a:t>
            </a:r>
            <a:r>
              <a:rPr lang="en-US" altLang="en-US" sz="1600" dirty="0">
                <a:latin typeface="Courier New" pitchFamily="49" charset="0"/>
              </a:rPr>
              <a:t>;	/* used by bind() */</a:t>
            </a:r>
          </a:p>
          <a:p>
            <a:endParaRPr lang="en-US" altLang="en-US" sz="1600" dirty="0">
              <a:latin typeface="Courier New" pitchFamily="49" charset="0"/>
            </a:endParaRPr>
          </a:p>
          <a:p>
            <a:r>
              <a:rPr lang="en-US" altLang="en-US" sz="1600" dirty="0">
                <a:latin typeface="Courier New" pitchFamily="49" charset="0"/>
              </a:rPr>
              <a:t>/* create the socket */</a:t>
            </a:r>
          </a:p>
          <a:p>
            <a:endParaRPr lang="en-US" altLang="en-US" sz="1600" dirty="0">
              <a:latin typeface="Courier New" pitchFamily="49" charset="0"/>
            </a:endParaRPr>
          </a:p>
          <a:p>
            <a:r>
              <a:rPr lang="en-US" altLang="en-US" sz="1600" dirty="0" err="1">
                <a:latin typeface="Courier New" pitchFamily="49" charset="0"/>
              </a:rPr>
              <a:t>srv.sin_family</a:t>
            </a:r>
            <a:r>
              <a:rPr lang="en-US" altLang="en-US" sz="1600" dirty="0">
                <a:latin typeface="Courier New" pitchFamily="49" charset="0"/>
              </a:rPr>
              <a:t> = </a:t>
            </a:r>
            <a:r>
              <a:rPr lang="en-US" altLang="en-US" sz="1600" b="1" dirty="0">
                <a:solidFill>
                  <a:srgbClr val="CC0000"/>
                </a:solidFill>
                <a:latin typeface="Courier New" pitchFamily="49" charset="0"/>
              </a:rPr>
              <a:t>AF_INET</a:t>
            </a:r>
            <a:r>
              <a:rPr lang="en-US" altLang="en-US" sz="1600" dirty="0">
                <a:latin typeface="Courier New" pitchFamily="49" charset="0"/>
              </a:rPr>
              <a:t>; /* use the Internet </a:t>
            </a:r>
            <a:r>
              <a:rPr lang="en-US" altLang="en-US" sz="1600" dirty="0" err="1">
                <a:latin typeface="Courier New" pitchFamily="49" charset="0"/>
              </a:rPr>
              <a:t>addr</a:t>
            </a:r>
            <a:r>
              <a:rPr lang="en-US" altLang="en-US" sz="1600" dirty="0">
                <a:latin typeface="Courier New" pitchFamily="49" charset="0"/>
              </a:rPr>
              <a:t> family */</a:t>
            </a:r>
          </a:p>
          <a:p>
            <a:endParaRPr lang="en-US" altLang="en-US" sz="1600" dirty="0">
              <a:latin typeface="Courier New" pitchFamily="49" charset="0"/>
            </a:endParaRPr>
          </a:p>
          <a:p>
            <a:r>
              <a:rPr lang="en-US" altLang="en-US" sz="1600" dirty="0" err="1">
                <a:latin typeface="Courier New" pitchFamily="49" charset="0"/>
              </a:rPr>
              <a:t>srv.sin_port</a:t>
            </a:r>
            <a:r>
              <a:rPr lang="en-US" altLang="en-US" sz="1600" dirty="0">
                <a:latin typeface="Courier New" pitchFamily="49" charset="0"/>
              </a:rPr>
              <a:t> = </a:t>
            </a:r>
            <a:r>
              <a:rPr lang="en-US" altLang="en-US" sz="1600" b="1" dirty="0" err="1">
                <a:solidFill>
                  <a:srgbClr val="CC0000"/>
                </a:solidFill>
                <a:latin typeface="Courier New" pitchFamily="49" charset="0"/>
              </a:rPr>
              <a:t>htons</a:t>
            </a:r>
            <a:r>
              <a:rPr lang="en-US" altLang="en-US" sz="1600" dirty="0">
                <a:latin typeface="Courier New" pitchFamily="49" charset="0"/>
              </a:rPr>
              <a:t>(</a:t>
            </a:r>
            <a:r>
              <a:rPr lang="en-US" altLang="en-US" sz="1600" b="1" dirty="0">
                <a:solidFill>
                  <a:srgbClr val="CC0000"/>
                </a:solidFill>
                <a:latin typeface="Courier New" pitchFamily="49" charset="0"/>
              </a:rPr>
              <a:t>80</a:t>
            </a:r>
            <a:r>
              <a:rPr lang="en-US" altLang="en-US" sz="1600" dirty="0">
                <a:latin typeface="Courier New" pitchFamily="49" charset="0"/>
              </a:rPr>
              <a:t>); /* bind socket ‘</a:t>
            </a:r>
            <a:r>
              <a:rPr lang="en-US" altLang="en-US" sz="1600" dirty="0" err="1">
                <a:latin typeface="Courier New" pitchFamily="49" charset="0"/>
              </a:rPr>
              <a:t>fd</a:t>
            </a:r>
            <a:r>
              <a:rPr lang="en-US" altLang="en-US" sz="1600" dirty="0">
                <a:latin typeface="Courier New" pitchFamily="49" charset="0"/>
              </a:rPr>
              <a:t>’ to port 80*/</a:t>
            </a:r>
          </a:p>
          <a:p>
            <a:endParaRPr lang="en-US" altLang="en-US" sz="1600" dirty="0">
              <a:latin typeface="Courier New" pitchFamily="49" charset="0"/>
            </a:endParaRPr>
          </a:p>
          <a:p>
            <a:r>
              <a:rPr lang="en-US" altLang="en-US" sz="1600" dirty="0">
                <a:latin typeface="Courier New" pitchFamily="49" charset="0"/>
              </a:rPr>
              <a:t>/* bind: a client may connect to any of my addresses */</a:t>
            </a:r>
          </a:p>
          <a:p>
            <a:r>
              <a:rPr lang="en-US" altLang="en-US" sz="1600" dirty="0" err="1">
                <a:latin typeface="Courier New" pitchFamily="49" charset="0"/>
              </a:rPr>
              <a:t>srv.sin_addr.s_addr</a:t>
            </a:r>
            <a:r>
              <a:rPr lang="en-US" altLang="en-US" sz="1600" dirty="0">
                <a:latin typeface="Courier New" pitchFamily="49" charset="0"/>
              </a:rPr>
              <a:t> = </a:t>
            </a:r>
            <a:r>
              <a:rPr lang="en-US" altLang="en-US" sz="1600" b="1" dirty="0" err="1">
                <a:solidFill>
                  <a:srgbClr val="CC0000"/>
                </a:solidFill>
                <a:latin typeface="Courier New" pitchFamily="49" charset="0"/>
              </a:rPr>
              <a:t>htonl</a:t>
            </a:r>
            <a:r>
              <a:rPr lang="en-US" altLang="en-US" sz="1600" dirty="0">
                <a:latin typeface="Courier New" pitchFamily="49" charset="0"/>
              </a:rPr>
              <a:t>(</a:t>
            </a:r>
            <a:r>
              <a:rPr lang="en-US" altLang="en-US" sz="1600" b="1" dirty="0">
                <a:solidFill>
                  <a:srgbClr val="CC0000"/>
                </a:solidFill>
                <a:latin typeface="Courier New" pitchFamily="49" charset="0"/>
              </a:rPr>
              <a:t>INADDR_ANY</a:t>
            </a:r>
            <a:r>
              <a:rPr lang="en-US" altLang="en-US" sz="1600" dirty="0">
                <a:latin typeface="Courier New" pitchFamily="49" charset="0"/>
              </a:rPr>
              <a:t>);</a:t>
            </a:r>
          </a:p>
          <a:p>
            <a:endParaRPr lang="en-US" altLang="en-US" sz="1600" dirty="0">
              <a:latin typeface="Courier New" pitchFamily="49" charset="0"/>
            </a:endParaRPr>
          </a:p>
          <a:p>
            <a:r>
              <a:rPr lang="en-US" altLang="en-US" sz="1600" dirty="0">
                <a:latin typeface="Courier New" pitchFamily="49" charset="0"/>
              </a:rPr>
              <a:t>if(</a:t>
            </a:r>
            <a:r>
              <a:rPr lang="en-US" altLang="en-US" sz="1600" b="1" dirty="0">
                <a:solidFill>
                  <a:srgbClr val="CC0000"/>
                </a:solidFill>
                <a:latin typeface="Courier New" pitchFamily="49" charset="0"/>
              </a:rPr>
              <a:t>bind</a:t>
            </a:r>
            <a:r>
              <a:rPr lang="en-US" altLang="en-US" sz="1600" dirty="0">
                <a:latin typeface="Courier New" pitchFamily="49" charset="0"/>
              </a:rPr>
              <a:t>(</a:t>
            </a:r>
            <a:r>
              <a:rPr lang="en-US" altLang="en-US" sz="1600" dirty="0" err="1">
                <a:latin typeface="Courier New" pitchFamily="49" charset="0"/>
              </a:rPr>
              <a:t>fd</a:t>
            </a:r>
            <a:r>
              <a:rPr lang="en-US" altLang="en-US" sz="1600" dirty="0">
                <a:latin typeface="Courier New" pitchFamily="49" charset="0"/>
              </a:rPr>
              <a:t>, (</a:t>
            </a:r>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sockaddr</a:t>
            </a:r>
            <a:r>
              <a:rPr lang="en-US" altLang="en-US" sz="1600" dirty="0">
                <a:latin typeface="Courier New" pitchFamily="49" charset="0"/>
              </a:rPr>
              <a:t>*) &amp;</a:t>
            </a:r>
            <a:r>
              <a:rPr lang="en-US" altLang="en-US" sz="1600" dirty="0" err="1">
                <a:latin typeface="Courier New" pitchFamily="49" charset="0"/>
              </a:rPr>
              <a:t>srv</a:t>
            </a:r>
            <a:r>
              <a:rPr lang="en-US" altLang="en-US" sz="1600" dirty="0">
                <a:latin typeface="Courier New" pitchFamily="49" charset="0"/>
              </a:rPr>
              <a:t>, </a:t>
            </a:r>
            <a:r>
              <a:rPr lang="en-US" altLang="en-US" sz="1600" dirty="0" err="1">
                <a:latin typeface="Courier New" pitchFamily="49" charset="0"/>
              </a:rPr>
              <a:t>sizeof</a:t>
            </a:r>
            <a:r>
              <a:rPr lang="en-US" altLang="en-US" sz="1600" dirty="0">
                <a:latin typeface="Courier New" pitchFamily="49" charset="0"/>
              </a:rPr>
              <a:t>(</a:t>
            </a:r>
            <a:r>
              <a:rPr lang="en-US" altLang="en-US" sz="1600" dirty="0" err="1">
                <a:latin typeface="Courier New" pitchFamily="49" charset="0"/>
              </a:rPr>
              <a:t>srv</a:t>
            </a:r>
            <a:r>
              <a:rPr lang="en-US" altLang="en-US" sz="1600" dirty="0">
                <a:latin typeface="Courier New" pitchFamily="49" charset="0"/>
              </a:rPr>
              <a:t>)) &lt; 0) {</a:t>
            </a:r>
          </a:p>
          <a:p>
            <a:r>
              <a:rPr lang="en-US" altLang="en-US" sz="1600" dirty="0">
                <a:latin typeface="Courier New" pitchFamily="49" charset="0"/>
              </a:rPr>
              <a:t>	</a:t>
            </a:r>
            <a:r>
              <a:rPr lang="en-US" altLang="en-US" sz="1600" dirty="0" err="1">
                <a:latin typeface="Courier New" pitchFamily="49" charset="0"/>
              </a:rPr>
              <a:t>perror</a:t>
            </a:r>
            <a:r>
              <a:rPr lang="en-US" altLang="en-US" sz="1600" dirty="0">
                <a:latin typeface="Courier New" pitchFamily="49" charset="0"/>
              </a:rPr>
              <a:t>("bind"); exit(1);</a:t>
            </a:r>
          </a:p>
          <a:p>
            <a:r>
              <a:rPr lang="en-US" altLang="en-US" sz="1600" dirty="0">
                <a:latin typeface="Courier New" pitchFamily="49" charset="0"/>
              </a:rPr>
              <a:t>}</a:t>
            </a:r>
          </a:p>
        </p:txBody>
      </p:sp>
      <p:sp>
        <p:nvSpPr>
          <p:cNvPr id="5" name="Rectangle 4"/>
          <p:cNvSpPr/>
          <p:nvPr/>
        </p:nvSpPr>
        <p:spPr>
          <a:xfrm>
            <a:off x="850900" y="4491092"/>
            <a:ext cx="6184900" cy="369332"/>
          </a:xfrm>
          <a:prstGeom prst="rect">
            <a:avLst/>
          </a:prstGeom>
        </p:spPr>
        <p:txBody>
          <a:bodyPr wrap="square">
            <a:spAutoFit/>
          </a:bodyPr>
          <a:lstStyle/>
          <a:p>
            <a:r>
              <a:rPr lang="en-US" altLang="en-US" b="1" dirty="0">
                <a:solidFill>
                  <a:srgbClr val="CC0000"/>
                </a:solidFill>
              </a:rPr>
              <a:t>Still not quite ready to communicate with a client...</a:t>
            </a:r>
          </a:p>
        </p:txBody>
      </p:sp>
    </p:spTree>
    <p:extLst>
      <p:ext uri="{BB962C8B-B14F-4D97-AF65-F5344CB8AC3E}">
        <p14:creationId xmlns="" xmlns:p14="http://schemas.microsoft.com/office/powerpoint/2010/main" val="113702104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I/O: listen()</a:t>
            </a:r>
            <a:endParaRPr lang="en-IN" dirty="0"/>
          </a:p>
        </p:txBody>
      </p:sp>
      <p:sp>
        <p:nvSpPr>
          <p:cNvPr id="3" name="Content Placeholder 2"/>
          <p:cNvSpPr>
            <a:spLocks noGrp="1"/>
          </p:cNvSpPr>
          <p:nvPr>
            <p:ph idx="1"/>
          </p:nvPr>
        </p:nvSpPr>
        <p:spPr/>
        <p:txBody>
          <a:bodyPr/>
          <a:lstStyle/>
          <a:p>
            <a:r>
              <a:rPr lang="en-US" altLang="en-US" b="1" i="1" dirty="0"/>
              <a:t>listen</a:t>
            </a:r>
            <a:r>
              <a:rPr lang="en-US" altLang="en-US" dirty="0"/>
              <a:t> indicates that the server will accept a connection</a:t>
            </a:r>
          </a:p>
          <a:p>
            <a:endParaRPr lang="en-US" altLang="en-US" b="1" dirty="0" smtClean="0">
              <a:solidFill>
                <a:srgbClr val="CC0000"/>
              </a:solidFill>
            </a:endParaRPr>
          </a:p>
          <a:p>
            <a:endParaRPr lang="en-US" altLang="en-US" b="1" dirty="0">
              <a:solidFill>
                <a:srgbClr val="CC0000"/>
              </a:solidFill>
            </a:endParaRPr>
          </a:p>
          <a:p>
            <a:endParaRPr lang="en-US" altLang="en-US" b="1" dirty="0" smtClean="0">
              <a:solidFill>
                <a:srgbClr val="CC0000"/>
              </a:solidFill>
            </a:endParaRPr>
          </a:p>
          <a:p>
            <a:endParaRPr lang="en-US" altLang="en-US" b="1" dirty="0">
              <a:solidFill>
                <a:srgbClr val="CC0000"/>
              </a:solidFill>
            </a:endParaRPr>
          </a:p>
          <a:p>
            <a:endParaRPr lang="en-US" altLang="en-US" b="1" dirty="0" smtClean="0">
              <a:solidFill>
                <a:srgbClr val="CC0000"/>
              </a:solidFill>
            </a:endParaRPr>
          </a:p>
          <a:p>
            <a:endParaRPr lang="en-US" altLang="en-US" b="1" dirty="0">
              <a:solidFill>
                <a:srgbClr val="CC0000"/>
              </a:solidFill>
            </a:endParaRPr>
          </a:p>
          <a:p>
            <a:endParaRPr lang="en-US" altLang="en-US" b="1" dirty="0" smtClean="0">
              <a:solidFill>
                <a:srgbClr val="CC0000"/>
              </a:solidFill>
            </a:endParaRPr>
          </a:p>
          <a:p>
            <a:endParaRPr lang="en-US" altLang="en-US" b="1" dirty="0">
              <a:solidFill>
                <a:srgbClr val="CC0000"/>
              </a:solidFill>
            </a:endParaRPr>
          </a:p>
          <a:p>
            <a:endParaRPr lang="en-US" altLang="en-US" b="1" dirty="0" smtClean="0">
              <a:solidFill>
                <a:srgbClr val="CC0000"/>
              </a:solidFill>
            </a:endParaRPr>
          </a:p>
          <a:p>
            <a:r>
              <a:rPr lang="en-US" altLang="en-US" b="1" dirty="0" smtClean="0">
                <a:solidFill>
                  <a:srgbClr val="CC0000"/>
                </a:solidFill>
              </a:rPr>
              <a:t>Still </a:t>
            </a:r>
            <a:r>
              <a:rPr lang="en-US" altLang="en-US" b="1" dirty="0">
                <a:solidFill>
                  <a:srgbClr val="CC0000"/>
                </a:solidFill>
              </a:rPr>
              <a:t>not quite ready to communicate with a client...</a:t>
            </a:r>
          </a:p>
          <a:p>
            <a:endParaRPr lang="en-IN" dirty="0"/>
          </a:p>
        </p:txBody>
      </p:sp>
      <p:sp>
        <p:nvSpPr>
          <p:cNvPr id="4" name="Text Box 4"/>
          <p:cNvSpPr txBox="1">
            <a:spLocks noChangeArrowheads="1"/>
          </p:cNvSpPr>
          <p:nvPr/>
        </p:nvSpPr>
        <p:spPr bwMode="auto">
          <a:xfrm>
            <a:off x="817086" y="1191523"/>
            <a:ext cx="7418387" cy="2862055"/>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1800" dirty="0" err="1">
                <a:latin typeface="Courier New" pitchFamily="49" charset="0"/>
              </a:rPr>
              <a:t>int</a:t>
            </a:r>
            <a:r>
              <a:rPr lang="en-US" altLang="en-US" sz="1800" dirty="0">
                <a:latin typeface="Courier New" pitchFamily="49" charset="0"/>
              </a:rPr>
              <a:t> </a:t>
            </a:r>
            <a:r>
              <a:rPr lang="en-US" altLang="en-US" sz="1800" dirty="0" err="1">
                <a:latin typeface="Courier New" pitchFamily="49" charset="0"/>
              </a:rPr>
              <a:t>fd</a:t>
            </a:r>
            <a:r>
              <a:rPr lang="en-US" altLang="en-US" sz="1800" dirty="0">
                <a:latin typeface="Courier New" pitchFamily="49" charset="0"/>
              </a:rPr>
              <a:t>;			   /* socket descriptor */</a:t>
            </a:r>
          </a:p>
          <a:p>
            <a:r>
              <a:rPr lang="en-US" altLang="en-US" sz="1800" dirty="0" err="1">
                <a:latin typeface="Courier New" pitchFamily="49" charset="0"/>
              </a:rPr>
              <a:t>struct</a:t>
            </a:r>
            <a:r>
              <a:rPr lang="en-US" altLang="en-US" sz="1800" dirty="0">
                <a:latin typeface="Courier New" pitchFamily="49" charset="0"/>
              </a:rPr>
              <a:t> </a:t>
            </a:r>
            <a:r>
              <a:rPr lang="en-US" altLang="en-US" sz="1800" dirty="0" err="1">
                <a:latin typeface="Courier New" pitchFamily="49" charset="0"/>
              </a:rPr>
              <a:t>sockaddr_in</a:t>
            </a:r>
            <a:r>
              <a:rPr lang="en-US" altLang="en-US" sz="1800" dirty="0">
                <a:latin typeface="Courier New" pitchFamily="49" charset="0"/>
              </a:rPr>
              <a:t> </a:t>
            </a:r>
            <a:r>
              <a:rPr lang="en-US" altLang="en-US" sz="1800" dirty="0" err="1">
                <a:latin typeface="Courier New" pitchFamily="49" charset="0"/>
              </a:rPr>
              <a:t>srv</a:t>
            </a:r>
            <a:r>
              <a:rPr lang="en-US" altLang="en-US" sz="1800" dirty="0">
                <a:latin typeface="Courier New" pitchFamily="49" charset="0"/>
              </a:rPr>
              <a:t>;	   /* used by bind() */</a:t>
            </a:r>
          </a:p>
          <a:p>
            <a:endParaRPr lang="en-US" altLang="en-US" sz="1800" dirty="0">
              <a:latin typeface="Courier New" pitchFamily="49" charset="0"/>
            </a:endParaRPr>
          </a:p>
          <a:p>
            <a:r>
              <a:rPr lang="en-US" altLang="en-US" sz="1800" dirty="0">
                <a:latin typeface="Courier New" pitchFamily="49" charset="0"/>
              </a:rPr>
              <a:t>/* 1) create the socket */</a:t>
            </a:r>
          </a:p>
          <a:p>
            <a:r>
              <a:rPr lang="en-US" altLang="en-US" sz="1800" dirty="0">
                <a:latin typeface="Courier New" pitchFamily="49" charset="0"/>
              </a:rPr>
              <a:t>/* 2) bind the socket to a port */</a:t>
            </a:r>
          </a:p>
          <a:p>
            <a:endParaRPr lang="en-US" altLang="en-US" sz="1800" dirty="0">
              <a:latin typeface="Courier New" pitchFamily="49" charset="0"/>
            </a:endParaRPr>
          </a:p>
          <a:p>
            <a:r>
              <a:rPr lang="en-US" altLang="en-US" sz="1800" dirty="0">
                <a:latin typeface="Courier New" pitchFamily="49" charset="0"/>
              </a:rPr>
              <a:t>if(</a:t>
            </a:r>
            <a:r>
              <a:rPr lang="en-US" altLang="en-US" sz="1800" b="1" dirty="0">
                <a:solidFill>
                  <a:srgbClr val="CC0000"/>
                </a:solidFill>
                <a:latin typeface="Courier New" pitchFamily="49" charset="0"/>
              </a:rPr>
              <a:t>listen</a:t>
            </a:r>
            <a:r>
              <a:rPr lang="en-US" altLang="en-US" sz="1800" dirty="0">
                <a:latin typeface="Courier New" pitchFamily="49" charset="0"/>
              </a:rPr>
              <a:t>(</a:t>
            </a:r>
            <a:r>
              <a:rPr lang="en-US" altLang="en-US" sz="1800" dirty="0" err="1">
                <a:latin typeface="Courier New" pitchFamily="49" charset="0"/>
              </a:rPr>
              <a:t>fd</a:t>
            </a:r>
            <a:r>
              <a:rPr lang="en-US" altLang="en-US" sz="1800" dirty="0">
                <a:latin typeface="Courier New" pitchFamily="49" charset="0"/>
              </a:rPr>
              <a:t>, 5) &lt; 0) {</a:t>
            </a:r>
          </a:p>
          <a:p>
            <a:r>
              <a:rPr lang="en-US" altLang="en-US" sz="1800" dirty="0">
                <a:latin typeface="Courier New" pitchFamily="49" charset="0"/>
              </a:rPr>
              <a:t>	</a:t>
            </a:r>
            <a:r>
              <a:rPr lang="en-US" altLang="en-US" sz="1800" dirty="0" err="1">
                <a:latin typeface="Courier New" pitchFamily="49" charset="0"/>
              </a:rPr>
              <a:t>perror</a:t>
            </a:r>
            <a:r>
              <a:rPr lang="en-US" altLang="en-US" sz="1800" dirty="0">
                <a:latin typeface="Courier New" pitchFamily="49" charset="0"/>
              </a:rPr>
              <a:t>(“listen”);</a:t>
            </a:r>
          </a:p>
          <a:p>
            <a:r>
              <a:rPr lang="en-US" altLang="en-US" sz="1800" dirty="0">
                <a:latin typeface="Courier New" pitchFamily="49" charset="0"/>
              </a:rPr>
              <a:t>	exit(1);</a:t>
            </a:r>
          </a:p>
          <a:p>
            <a:r>
              <a:rPr lang="en-US" altLang="en-US" sz="1800" dirty="0">
                <a:latin typeface="Courier New" pitchFamily="49" charset="0"/>
              </a:rPr>
              <a:t>}</a:t>
            </a:r>
          </a:p>
        </p:txBody>
      </p:sp>
      <mc:AlternateContent xmlns:mc="http://schemas.openxmlformats.org/markup-compatibility/2006">
        <mc:Choice xmlns="" xmlns:p14="http://schemas.microsoft.com/office/powerpoint/2010/main" Requires="p14">
          <p:contentPart p14:bwMode="auto" r:id="rId2">
            <p14:nvContentPartPr>
              <p14:cNvPr id="5" name="Ink 4"/>
              <p14:cNvContentPartPr/>
              <p14:nvPr/>
            </p14:nvContentPartPr>
            <p14:xfrm>
              <a:off x="2404800" y="2778120"/>
              <a:ext cx="68400" cy="118440"/>
            </p14:xfrm>
          </p:contentPart>
        </mc:Choice>
        <mc:Fallback>
          <p:pic>
            <p:nvPicPr>
              <p:cNvPr id="5" name="Ink 4"/>
              <p:cNvPicPr/>
              <p:nvPr/>
            </p:nvPicPr>
            <p:blipFill>
              <a:blip r:embed="rId3" cstate="print"/>
              <a:stretch>
                <a:fillRect/>
              </a:stretch>
            </p:blipFill>
            <p:spPr>
              <a:xfrm>
                <a:off x="2395440" y="2768040"/>
                <a:ext cx="86760" cy="139320"/>
              </a:xfrm>
              <a:prstGeom prst="rect">
                <a:avLst/>
              </a:prstGeom>
            </p:spPr>
          </p:pic>
        </mc:Fallback>
      </mc:AlternateContent>
    </p:spTree>
    <p:extLst>
      <p:ext uri="{BB962C8B-B14F-4D97-AF65-F5344CB8AC3E}">
        <p14:creationId xmlns="" xmlns:p14="http://schemas.microsoft.com/office/powerpoint/2010/main" val="373909753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I/O: accept()</a:t>
            </a:r>
            <a:endParaRPr lang="en-IN" dirty="0"/>
          </a:p>
        </p:txBody>
      </p:sp>
      <p:sp>
        <p:nvSpPr>
          <p:cNvPr id="3" name="Content Placeholder 2"/>
          <p:cNvSpPr>
            <a:spLocks noGrp="1"/>
          </p:cNvSpPr>
          <p:nvPr>
            <p:ph idx="1"/>
          </p:nvPr>
        </p:nvSpPr>
        <p:spPr/>
        <p:txBody>
          <a:bodyPr/>
          <a:lstStyle/>
          <a:p>
            <a:pPr>
              <a:lnSpc>
                <a:spcPct val="90000"/>
              </a:lnSpc>
            </a:pPr>
            <a:r>
              <a:rPr lang="en-US" altLang="en-US" b="1" i="1" dirty="0"/>
              <a:t>accept</a:t>
            </a:r>
            <a:r>
              <a:rPr lang="en-US" altLang="en-US" dirty="0"/>
              <a:t> blocks waiting for a </a:t>
            </a:r>
            <a:r>
              <a:rPr lang="en-US" altLang="en-US" dirty="0" smtClean="0"/>
              <a:t>connection</a:t>
            </a:r>
          </a:p>
          <a:p>
            <a:pPr>
              <a:lnSpc>
                <a:spcPct val="90000"/>
              </a:lnSpc>
            </a:pPr>
            <a:endParaRPr lang="en-US" altLang="en-US" b="1" i="1" dirty="0" smtClean="0"/>
          </a:p>
          <a:p>
            <a:pPr>
              <a:lnSpc>
                <a:spcPct val="90000"/>
              </a:lnSpc>
            </a:pPr>
            <a:endParaRPr lang="en-US" altLang="en-US" b="1" i="1" dirty="0"/>
          </a:p>
          <a:p>
            <a:pPr>
              <a:lnSpc>
                <a:spcPct val="90000"/>
              </a:lnSpc>
            </a:pPr>
            <a:endParaRPr lang="en-US" altLang="en-US" b="1" i="1" dirty="0" smtClean="0"/>
          </a:p>
          <a:p>
            <a:pPr>
              <a:lnSpc>
                <a:spcPct val="90000"/>
              </a:lnSpc>
            </a:pPr>
            <a:endParaRPr lang="en-US" altLang="en-US" b="1" i="1" dirty="0"/>
          </a:p>
          <a:p>
            <a:pPr>
              <a:lnSpc>
                <a:spcPct val="90000"/>
              </a:lnSpc>
            </a:pPr>
            <a:endParaRPr lang="en-US" altLang="en-US" b="1" i="1" dirty="0" smtClean="0"/>
          </a:p>
          <a:p>
            <a:pPr>
              <a:lnSpc>
                <a:spcPct val="90000"/>
              </a:lnSpc>
            </a:pPr>
            <a:endParaRPr lang="en-US" altLang="en-US" b="1" i="1" dirty="0"/>
          </a:p>
          <a:p>
            <a:pPr>
              <a:lnSpc>
                <a:spcPct val="90000"/>
              </a:lnSpc>
            </a:pPr>
            <a:endParaRPr lang="en-US" altLang="en-US" b="1" i="1" dirty="0" smtClean="0"/>
          </a:p>
          <a:p>
            <a:pPr>
              <a:lnSpc>
                <a:spcPct val="90000"/>
              </a:lnSpc>
            </a:pPr>
            <a:endParaRPr lang="en-US" altLang="en-US" b="1" i="1" dirty="0"/>
          </a:p>
          <a:p>
            <a:pPr>
              <a:lnSpc>
                <a:spcPct val="90000"/>
              </a:lnSpc>
            </a:pPr>
            <a:endParaRPr lang="en-US" altLang="en-US" b="1" i="1" dirty="0" smtClean="0"/>
          </a:p>
          <a:p>
            <a:pPr>
              <a:lnSpc>
                <a:spcPct val="90000"/>
              </a:lnSpc>
            </a:pPr>
            <a:endParaRPr lang="en-US" altLang="en-US" b="1" i="1" dirty="0"/>
          </a:p>
          <a:p>
            <a:pPr>
              <a:lnSpc>
                <a:spcPct val="90000"/>
              </a:lnSpc>
            </a:pPr>
            <a:endParaRPr lang="en-US" altLang="en-US" b="1" i="1" dirty="0" smtClean="0"/>
          </a:p>
          <a:p>
            <a:pPr>
              <a:lnSpc>
                <a:spcPct val="90000"/>
              </a:lnSpc>
            </a:pPr>
            <a:r>
              <a:rPr lang="en-US" altLang="en-US" b="1" i="1" dirty="0" smtClean="0"/>
              <a:t>accept</a:t>
            </a:r>
            <a:r>
              <a:rPr lang="en-US" altLang="en-US" dirty="0" smtClean="0"/>
              <a:t> </a:t>
            </a:r>
            <a:r>
              <a:rPr lang="en-US" altLang="en-US" dirty="0"/>
              <a:t>returns a new socket (</a:t>
            </a:r>
            <a:r>
              <a:rPr lang="en-US" altLang="en-US" b="1" i="1" dirty="0" err="1"/>
              <a:t>newfd</a:t>
            </a:r>
            <a:r>
              <a:rPr lang="en-US" altLang="en-US" dirty="0"/>
              <a:t>) with the same properties as the original socket (</a:t>
            </a:r>
            <a:r>
              <a:rPr lang="en-US" altLang="en-US" b="1" i="1" dirty="0" err="1"/>
              <a:t>fd</a:t>
            </a:r>
            <a:r>
              <a:rPr lang="en-US" altLang="en-US" dirty="0"/>
              <a:t>). </a:t>
            </a:r>
            <a:r>
              <a:rPr lang="en-US" altLang="en-US" sz="1600" b="1" i="1" dirty="0" err="1"/>
              <a:t>newfd</a:t>
            </a:r>
            <a:r>
              <a:rPr lang="en-US" altLang="en-US" sz="1600" dirty="0"/>
              <a:t> &lt; 0 indicates that an error occurred</a:t>
            </a:r>
          </a:p>
          <a:p>
            <a:pPr>
              <a:lnSpc>
                <a:spcPct val="90000"/>
              </a:lnSpc>
            </a:pPr>
            <a:endParaRPr lang="en-US" altLang="en-US" dirty="0"/>
          </a:p>
        </p:txBody>
      </p:sp>
      <p:sp>
        <p:nvSpPr>
          <p:cNvPr id="4" name="Text Box 4"/>
          <p:cNvSpPr txBox="1">
            <a:spLocks noChangeArrowheads="1"/>
          </p:cNvSpPr>
          <p:nvPr/>
        </p:nvSpPr>
        <p:spPr bwMode="auto">
          <a:xfrm>
            <a:off x="571500" y="1030768"/>
            <a:ext cx="8001000" cy="3539164"/>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1600" dirty="0" err="1">
                <a:latin typeface="Courier New" pitchFamily="49" charset="0"/>
              </a:rPr>
              <a:t>int</a:t>
            </a:r>
            <a:r>
              <a:rPr lang="en-US" altLang="en-US" sz="1600" dirty="0">
                <a:latin typeface="Courier New" pitchFamily="49" charset="0"/>
              </a:rPr>
              <a:t> </a:t>
            </a:r>
            <a:r>
              <a:rPr lang="en-US" altLang="en-US" sz="1600" dirty="0" err="1">
                <a:latin typeface="Courier New" pitchFamily="49" charset="0"/>
              </a:rPr>
              <a:t>fd</a:t>
            </a:r>
            <a:r>
              <a:rPr lang="en-US" altLang="en-US" sz="1600" dirty="0">
                <a:latin typeface="Courier New" pitchFamily="49" charset="0"/>
              </a:rPr>
              <a:t>;				/* socket descriptor */</a:t>
            </a:r>
          </a:p>
          <a:p>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sockaddr_in</a:t>
            </a:r>
            <a:r>
              <a:rPr lang="en-US" altLang="en-US" sz="1600" dirty="0">
                <a:latin typeface="Courier New" pitchFamily="49" charset="0"/>
              </a:rPr>
              <a:t> </a:t>
            </a:r>
            <a:r>
              <a:rPr lang="en-US" altLang="en-US" sz="1600" dirty="0" err="1">
                <a:latin typeface="Courier New" pitchFamily="49" charset="0"/>
              </a:rPr>
              <a:t>srv</a:t>
            </a:r>
            <a:r>
              <a:rPr lang="en-US" altLang="en-US" sz="1600" dirty="0">
                <a:latin typeface="Courier New" pitchFamily="49" charset="0"/>
              </a:rPr>
              <a:t>;	      /* used by bind() */</a:t>
            </a:r>
          </a:p>
          <a:p>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sockaddr_in</a:t>
            </a:r>
            <a:r>
              <a:rPr lang="en-US" altLang="en-US" sz="1600" dirty="0">
                <a:latin typeface="Courier New" pitchFamily="49" charset="0"/>
              </a:rPr>
              <a:t> cli;	      /* used by accept() */</a:t>
            </a:r>
          </a:p>
          <a:p>
            <a:r>
              <a:rPr lang="en-US" altLang="en-US" sz="1600" dirty="0" err="1">
                <a:latin typeface="Courier New" pitchFamily="49" charset="0"/>
              </a:rPr>
              <a:t>int</a:t>
            </a:r>
            <a:r>
              <a:rPr lang="en-US" altLang="en-US" sz="1600" dirty="0">
                <a:latin typeface="Courier New" pitchFamily="49" charset="0"/>
              </a:rPr>
              <a:t> </a:t>
            </a:r>
            <a:r>
              <a:rPr lang="en-US" altLang="en-US" sz="1600" dirty="0" err="1">
                <a:latin typeface="Courier New" pitchFamily="49" charset="0"/>
              </a:rPr>
              <a:t>newfd</a:t>
            </a:r>
            <a:r>
              <a:rPr lang="en-US" altLang="en-US" sz="1600" dirty="0">
                <a:latin typeface="Courier New" pitchFamily="49" charset="0"/>
              </a:rPr>
              <a:t>;			      /* returned by accept() */</a:t>
            </a:r>
          </a:p>
          <a:p>
            <a:r>
              <a:rPr lang="en-US" altLang="en-US" sz="1600" dirty="0" err="1">
                <a:latin typeface="Courier New" pitchFamily="49" charset="0"/>
              </a:rPr>
              <a:t>int</a:t>
            </a:r>
            <a:r>
              <a:rPr lang="en-US" altLang="en-US" sz="1600" dirty="0">
                <a:latin typeface="Courier New" pitchFamily="49" charset="0"/>
              </a:rPr>
              <a:t> </a:t>
            </a:r>
            <a:r>
              <a:rPr lang="en-US" altLang="en-US" sz="1600" dirty="0" err="1">
                <a:latin typeface="Courier New" pitchFamily="49" charset="0"/>
              </a:rPr>
              <a:t>cli_len</a:t>
            </a:r>
            <a:r>
              <a:rPr lang="en-US" altLang="en-US" sz="1600" dirty="0">
                <a:latin typeface="Courier New" pitchFamily="49" charset="0"/>
              </a:rPr>
              <a:t> = </a:t>
            </a:r>
            <a:r>
              <a:rPr lang="en-US" altLang="en-US" sz="1600" dirty="0" err="1">
                <a:latin typeface="Courier New" pitchFamily="49" charset="0"/>
              </a:rPr>
              <a:t>sizeof</a:t>
            </a:r>
            <a:r>
              <a:rPr lang="en-US" altLang="en-US" sz="1600" dirty="0">
                <a:latin typeface="Courier New" pitchFamily="49" charset="0"/>
              </a:rPr>
              <a:t>(cli);	/* used by accept() */</a:t>
            </a:r>
          </a:p>
          <a:p>
            <a:endParaRPr lang="en-US" altLang="en-US" sz="1600" dirty="0">
              <a:latin typeface="Courier New" pitchFamily="49" charset="0"/>
            </a:endParaRPr>
          </a:p>
          <a:p>
            <a:r>
              <a:rPr lang="en-US" altLang="en-US" sz="1600" dirty="0">
                <a:latin typeface="Courier New" pitchFamily="49" charset="0"/>
              </a:rPr>
              <a:t>/* 1) create the socket */</a:t>
            </a:r>
          </a:p>
          <a:p>
            <a:r>
              <a:rPr lang="en-US" altLang="en-US" sz="1600" dirty="0">
                <a:latin typeface="Courier New" pitchFamily="49" charset="0"/>
              </a:rPr>
              <a:t>/* 2) bind the socket to a port */</a:t>
            </a:r>
          </a:p>
          <a:p>
            <a:r>
              <a:rPr lang="en-US" altLang="en-US" sz="1600" dirty="0">
                <a:latin typeface="Courier New" pitchFamily="49" charset="0"/>
              </a:rPr>
              <a:t>/* 3) listen on the socket */</a:t>
            </a:r>
          </a:p>
          <a:p>
            <a:endParaRPr lang="en-US" altLang="en-US" sz="1600" dirty="0">
              <a:latin typeface="Courier New" pitchFamily="49" charset="0"/>
            </a:endParaRPr>
          </a:p>
          <a:p>
            <a:r>
              <a:rPr lang="en-US" altLang="en-US" sz="1600" dirty="0" err="1">
                <a:latin typeface="Courier New" pitchFamily="49" charset="0"/>
              </a:rPr>
              <a:t>newfd</a:t>
            </a:r>
            <a:r>
              <a:rPr lang="en-US" altLang="en-US" sz="1600" dirty="0">
                <a:latin typeface="Courier New" pitchFamily="49" charset="0"/>
              </a:rPr>
              <a:t> = </a:t>
            </a:r>
            <a:r>
              <a:rPr lang="en-US" altLang="en-US" sz="1600" b="1" dirty="0">
                <a:solidFill>
                  <a:srgbClr val="CC0000"/>
                </a:solidFill>
                <a:latin typeface="Courier New" pitchFamily="49" charset="0"/>
              </a:rPr>
              <a:t>accept</a:t>
            </a:r>
            <a:r>
              <a:rPr lang="en-US" altLang="en-US" sz="1600" dirty="0">
                <a:latin typeface="Courier New" pitchFamily="49" charset="0"/>
              </a:rPr>
              <a:t>(</a:t>
            </a:r>
            <a:r>
              <a:rPr lang="en-US" altLang="en-US" sz="1600" dirty="0" err="1">
                <a:latin typeface="Courier New" pitchFamily="49" charset="0"/>
              </a:rPr>
              <a:t>fd</a:t>
            </a:r>
            <a:r>
              <a:rPr lang="en-US" altLang="en-US" sz="1600" dirty="0">
                <a:latin typeface="Courier New" pitchFamily="49" charset="0"/>
              </a:rPr>
              <a:t>, (</a:t>
            </a:r>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sockaddr</a:t>
            </a:r>
            <a:r>
              <a:rPr lang="en-US" altLang="en-US" sz="1600" dirty="0">
                <a:latin typeface="Courier New" pitchFamily="49" charset="0"/>
              </a:rPr>
              <a:t>*) &amp;cli, &amp;</a:t>
            </a:r>
            <a:r>
              <a:rPr lang="en-US" altLang="en-US" sz="1600" dirty="0" err="1">
                <a:latin typeface="Courier New" pitchFamily="49" charset="0"/>
              </a:rPr>
              <a:t>cli_len</a:t>
            </a:r>
            <a:r>
              <a:rPr lang="en-US" altLang="en-US" sz="1600" dirty="0">
                <a:latin typeface="Courier New" pitchFamily="49" charset="0"/>
              </a:rPr>
              <a:t>);</a:t>
            </a:r>
          </a:p>
          <a:p>
            <a:r>
              <a:rPr lang="en-US" altLang="en-US" sz="1600" dirty="0">
                <a:latin typeface="Courier New" pitchFamily="49" charset="0"/>
              </a:rPr>
              <a:t>if(</a:t>
            </a:r>
            <a:r>
              <a:rPr lang="en-US" altLang="en-US" sz="1600" dirty="0" err="1">
                <a:latin typeface="Courier New" pitchFamily="49" charset="0"/>
              </a:rPr>
              <a:t>newfd</a:t>
            </a:r>
            <a:r>
              <a:rPr lang="en-US" altLang="en-US" sz="1600" dirty="0">
                <a:latin typeface="Courier New" pitchFamily="49" charset="0"/>
              </a:rPr>
              <a:t> &lt; 0) {</a:t>
            </a:r>
          </a:p>
          <a:p>
            <a:r>
              <a:rPr lang="en-US" altLang="en-US" sz="1600" dirty="0">
                <a:latin typeface="Courier New" pitchFamily="49" charset="0"/>
              </a:rPr>
              <a:t>	</a:t>
            </a:r>
            <a:r>
              <a:rPr lang="en-US" altLang="en-US" sz="1600" dirty="0" err="1">
                <a:latin typeface="Courier New" pitchFamily="49" charset="0"/>
              </a:rPr>
              <a:t>perror</a:t>
            </a:r>
            <a:r>
              <a:rPr lang="en-US" altLang="en-US" sz="1600" dirty="0">
                <a:latin typeface="Courier New" pitchFamily="49" charset="0"/>
              </a:rPr>
              <a:t>("accept");	exit(1);</a:t>
            </a:r>
          </a:p>
          <a:p>
            <a:r>
              <a:rPr lang="en-US" altLang="en-US" sz="1600" dirty="0">
                <a:latin typeface="Courier New" pitchFamily="49" charset="0"/>
              </a:rPr>
              <a:t>}</a:t>
            </a:r>
          </a:p>
        </p:txBody>
      </p:sp>
    </p:spTree>
    <p:extLst>
      <p:ext uri="{BB962C8B-B14F-4D97-AF65-F5344CB8AC3E}">
        <p14:creationId xmlns="" xmlns:p14="http://schemas.microsoft.com/office/powerpoint/2010/main" val="172599220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I/O: accept() continued...</a:t>
            </a:r>
            <a:endParaRPr lang="en-IN" dirty="0"/>
          </a:p>
        </p:txBody>
      </p:sp>
      <p:sp>
        <p:nvSpPr>
          <p:cNvPr id="3" name="Content Placeholder 2"/>
          <p:cNvSpPr>
            <a:spLocks noGrp="1"/>
          </p:cNvSpPr>
          <p:nvPr>
            <p:ph idx="1"/>
          </p:nvPr>
        </p:nvSpPr>
        <p:spPr/>
        <p:txBody>
          <a:bodyPr/>
          <a:lstStyle/>
          <a:p>
            <a:endParaRPr lang="en-US" altLang="en-US" dirty="0" smtClean="0"/>
          </a:p>
          <a:p>
            <a:endParaRPr lang="en-US" altLang="en-US" dirty="0"/>
          </a:p>
          <a:p>
            <a:endParaRPr lang="en-US" altLang="en-US" dirty="0" smtClean="0"/>
          </a:p>
          <a:p>
            <a:endParaRPr lang="en-US" altLang="en-US" dirty="0"/>
          </a:p>
          <a:p>
            <a:endParaRPr lang="en-US" altLang="en-US" dirty="0" smtClean="0"/>
          </a:p>
          <a:p>
            <a:endParaRPr lang="en-US" altLang="en-US" dirty="0"/>
          </a:p>
          <a:p>
            <a:endParaRPr lang="en-US" altLang="en-US" dirty="0" smtClean="0"/>
          </a:p>
          <a:p>
            <a:r>
              <a:rPr lang="en-US" altLang="en-US" dirty="0" smtClean="0"/>
              <a:t>How </a:t>
            </a:r>
            <a:r>
              <a:rPr lang="en-US" altLang="en-US" dirty="0"/>
              <a:t>does the server know which client it is?</a:t>
            </a:r>
            <a:endParaRPr lang="en-US" altLang="en-US" b="1" dirty="0"/>
          </a:p>
          <a:p>
            <a:pPr lvl="1"/>
            <a:r>
              <a:rPr lang="en-US" altLang="en-US" sz="1800" dirty="0" err="1">
                <a:solidFill>
                  <a:srgbClr val="CC0000"/>
                </a:solidFill>
              </a:rPr>
              <a:t>cli.sin_addr.s_addr</a:t>
            </a:r>
            <a:r>
              <a:rPr lang="en-US" altLang="en-US" sz="1800" i="1" dirty="0"/>
              <a:t> </a:t>
            </a:r>
            <a:r>
              <a:rPr lang="en-US" altLang="en-US" sz="1800" dirty="0"/>
              <a:t>contains the client’s </a:t>
            </a:r>
            <a:r>
              <a:rPr lang="en-US" altLang="en-US" sz="1800" i="1" dirty="0"/>
              <a:t>IP address</a:t>
            </a:r>
            <a:endParaRPr lang="en-US" altLang="en-US" sz="1800" dirty="0"/>
          </a:p>
          <a:p>
            <a:pPr lvl="1"/>
            <a:r>
              <a:rPr lang="en-US" altLang="en-US" sz="1800" dirty="0" err="1">
                <a:solidFill>
                  <a:srgbClr val="CC0000"/>
                </a:solidFill>
              </a:rPr>
              <a:t>cli.sin_port</a:t>
            </a:r>
            <a:r>
              <a:rPr lang="en-US" altLang="en-US" sz="1800" dirty="0"/>
              <a:t> contains the client’s </a:t>
            </a:r>
            <a:r>
              <a:rPr lang="en-US" altLang="en-US" sz="1800" i="1" dirty="0"/>
              <a:t>port number</a:t>
            </a:r>
            <a:endParaRPr lang="en-US" altLang="en-US" sz="1800" dirty="0"/>
          </a:p>
          <a:p>
            <a:r>
              <a:rPr lang="en-US" altLang="en-US" dirty="0"/>
              <a:t>Now the server can exchange data with the client by using </a:t>
            </a:r>
            <a:r>
              <a:rPr lang="en-US" altLang="en-US" b="1" i="1" dirty="0"/>
              <a:t>read</a:t>
            </a:r>
            <a:r>
              <a:rPr lang="en-US" altLang="en-US" dirty="0"/>
              <a:t> and </a:t>
            </a:r>
            <a:r>
              <a:rPr lang="en-US" altLang="en-US" b="1" i="1" dirty="0"/>
              <a:t>write</a:t>
            </a:r>
            <a:r>
              <a:rPr lang="en-US" altLang="en-US" dirty="0"/>
              <a:t> on the descriptor </a:t>
            </a:r>
            <a:r>
              <a:rPr lang="en-US" altLang="en-US" b="1" i="1" dirty="0" err="1"/>
              <a:t>newfd</a:t>
            </a:r>
            <a:r>
              <a:rPr lang="en-US" altLang="en-US" i="1" dirty="0"/>
              <a:t>.</a:t>
            </a:r>
            <a:endParaRPr lang="en-US" altLang="en-US" dirty="0"/>
          </a:p>
          <a:p>
            <a:r>
              <a:rPr lang="en-US" altLang="en-US" dirty="0"/>
              <a:t>Why does </a:t>
            </a:r>
            <a:r>
              <a:rPr lang="en-US" altLang="en-US" b="1" i="1" dirty="0"/>
              <a:t>accept</a:t>
            </a:r>
            <a:r>
              <a:rPr lang="en-US" altLang="en-US" dirty="0"/>
              <a:t> need to return a new descriptor?</a:t>
            </a:r>
          </a:p>
          <a:p>
            <a:endParaRPr lang="en-IN" dirty="0"/>
          </a:p>
        </p:txBody>
      </p:sp>
      <p:sp>
        <p:nvSpPr>
          <p:cNvPr id="6" name="Text Box 3"/>
          <p:cNvSpPr txBox="1">
            <a:spLocks noChangeArrowheads="1"/>
          </p:cNvSpPr>
          <p:nvPr/>
        </p:nvSpPr>
        <p:spPr bwMode="auto">
          <a:xfrm>
            <a:off x="274320" y="790274"/>
            <a:ext cx="8229600" cy="2308058"/>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r>
              <a:rPr lang="en-US" altLang="en-US" sz="1800" dirty="0" err="1" smtClean="0">
                <a:latin typeface="Courier New" pitchFamily="49" charset="0"/>
              </a:rPr>
              <a:t>struct</a:t>
            </a:r>
            <a:r>
              <a:rPr lang="en-US" altLang="en-US" sz="1800" dirty="0" smtClean="0">
                <a:latin typeface="Courier New" pitchFamily="49" charset="0"/>
              </a:rPr>
              <a:t> </a:t>
            </a:r>
            <a:r>
              <a:rPr lang="en-US" altLang="en-US" sz="1800" dirty="0" err="1" smtClean="0">
                <a:latin typeface="Courier New" pitchFamily="49" charset="0"/>
              </a:rPr>
              <a:t>sockaddr_in</a:t>
            </a:r>
            <a:r>
              <a:rPr lang="en-US" altLang="en-US" sz="1800" dirty="0" smtClean="0">
                <a:latin typeface="Courier New" pitchFamily="49" charset="0"/>
              </a:rPr>
              <a:t> cli;		/* used by accept() */</a:t>
            </a:r>
          </a:p>
          <a:p>
            <a:r>
              <a:rPr lang="en-US" altLang="en-US" sz="1800" dirty="0" err="1" smtClean="0">
                <a:latin typeface="Courier New" pitchFamily="49" charset="0"/>
              </a:rPr>
              <a:t>int</a:t>
            </a:r>
            <a:r>
              <a:rPr lang="en-US" altLang="en-US" sz="1800" dirty="0" smtClean="0">
                <a:latin typeface="Courier New" pitchFamily="49" charset="0"/>
              </a:rPr>
              <a:t> </a:t>
            </a:r>
            <a:r>
              <a:rPr lang="en-US" altLang="en-US" sz="1800" dirty="0" err="1" smtClean="0">
                <a:latin typeface="Courier New" pitchFamily="49" charset="0"/>
              </a:rPr>
              <a:t>newfd</a:t>
            </a:r>
            <a:r>
              <a:rPr lang="en-US" altLang="en-US" sz="1800" dirty="0" smtClean="0">
                <a:latin typeface="Courier New" pitchFamily="49" charset="0"/>
              </a:rPr>
              <a:t>;				/* returned by accept() */</a:t>
            </a:r>
          </a:p>
          <a:p>
            <a:r>
              <a:rPr lang="en-US" altLang="en-US" sz="1800" dirty="0" err="1" smtClean="0">
                <a:latin typeface="Courier New" pitchFamily="49" charset="0"/>
              </a:rPr>
              <a:t>int</a:t>
            </a:r>
            <a:r>
              <a:rPr lang="en-US" altLang="en-US" sz="1800" dirty="0" smtClean="0">
                <a:latin typeface="Courier New" pitchFamily="49" charset="0"/>
              </a:rPr>
              <a:t> </a:t>
            </a:r>
            <a:r>
              <a:rPr lang="en-US" altLang="en-US" sz="1800" dirty="0" err="1" smtClean="0">
                <a:latin typeface="Courier New" pitchFamily="49" charset="0"/>
              </a:rPr>
              <a:t>cli_len</a:t>
            </a:r>
            <a:r>
              <a:rPr lang="en-US" altLang="en-US" sz="1800" dirty="0" smtClean="0">
                <a:latin typeface="Courier New" pitchFamily="49" charset="0"/>
              </a:rPr>
              <a:t> = </a:t>
            </a:r>
            <a:r>
              <a:rPr lang="en-US" altLang="en-US" sz="1800" dirty="0" err="1" smtClean="0">
                <a:latin typeface="Courier New" pitchFamily="49" charset="0"/>
              </a:rPr>
              <a:t>sizeof</a:t>
            </a:r>
            <a:r>
              <a:rPr lang="en-US" altLang="en-US" sz="1800" dirty="0" smtClean="0">
                <a:latin typeface="Courier New" pitchFamily="49" charset="0"/>
              </a:rPr>
              <a:t>(cli);	/* used by accept() */</a:t>
            </a:r>
          </a:p>
          <a:p>
            <a:endParaRPr lang="en-US" altLang="en-US" sz="1800" dirty="0" smtClean="0">
              <a:latin typeface="Courier New" pitchFamily="49" charset="0"/>
            </a:endParaRPr>
          </a:p>
          <a:p>
            <a:r>
              <a:rPr lang="en-US" altLang="en-US" sz="1800" dirty="0" err="1" smtClean="0">
                <a:latin typeface="Courier New" pitchFamily="49" charset="0"/>
              </a:rPr>
              <a:t>newfd</a:t>
            </a:r>
            <a:r>
              <a:rPr lang="en-US" altLang="en-US" sz="1800" dirty="0" smtClean="0">
                <a:latin typeface="Courier New" pitchFamily="49" charset="0"/>
              </a:rPr>
              <a:t> = </a:t>
            </a:r>
            <a:r>
              <a:rPr lang="en-US" altLang="en-US" sz="1800" b="1" dirty="0" smtClean="0">
                <a:solidFill>
                  <a:srgbClr val="CC0000"/>
                </a:solidFill>
                <a:latin typeface="Courier New" pitchFamily="49" charset="0"/>
              </a:rPr>
              <a:t>accept</a:t>
            </a:r>
            <a:r>
              <a:rPr lang="en-US" altLang="en-US" sz="1800" dirty="0" smtClean="0">
                <a:latin typeface="Courier New" pitchFamily="49" charset="0"/>
              </a:rPr>
              <a:t>(</a:t>
            </a:r>
            <a:r>
              <a:rPr lang="en-US" altLang="en-US" sz="1800" dirty="0" err="1" smtClean="0">
                <a:latin typeface="Courier New" pitchFamily="49" charset="0"/>
              </a:rPr>
              <a:t>fd</a:t>
            </a:r>
            <a:r>
              <a:rPr lang="en-US" altLang="en-US" sz="1800" dirty="0" smtClean="0">
                <a:latin typeface="Courier New" pitchFamily="49" charset="0"/>
              </a:rPr>
              <a:t>, (</a:t>
            </a:r>
            <a:r>
              <a:rPr lang="en-US" altLang="en-US" sz="1800" dirty="0" err="1" smtClean="0">
                <a:latin typeface="Courier New" pitchFamily="49" charset="0"/>
              </a:rPr>
              <a:t>struct</a:t>
            </a:r>
            <a:r>
              <a:rPr lang="en-US" altLang="en-US" sz="1800" dirty="0" smtClean="0">
                <a:latin typeface="Courier New" pitchFamily="49" charset="0"/>
              </a:rPr>
              <a:t> </a:t>
            </a:r>
            <a:r>
              <a:rPr lang="en-US" altLang="en-US" sz="1800" dirty="0" err="1" smtClean="0">
                <a:latin typeface="Courier New" pitchFamily="49" charset="0"/>
              </a:rPr>
              <a:t>sockaddr</a:t>
            </a:r>
            <a:r>
              <a:rPr lang="en-US" altLang="en-US" sz="1800" dirty="0" smtClean="0">
                <a:latin typeface="Courier New" pitchFamily="49" charset="0"/>
              </a:rPr>
              <a:t>*) &amp;cli, &amp;</a:t>
            </a:r>
            <a:r>
              <a:rPr lang="en-US" altLang="en-US" sz="1800" dirty="0" err="1" smtClean="0">
                <a:latin typeface="Courier New" pitchFamily="49" charset="0"/>
              </a:rPr>
              <a:t>cli_len</a:t>
            </a:r>
            <a:r>
              <a:rPr lang="en-US" altLang="en-US" sz="1800" dirty="0" smtClean="0">
                <a:latin typeface="Courier New" pitchFamily="49" charset="0"/>
              </a:rPr>
              <a:t>);</a:t>
            </a:r>
          </a:p>
          <a:p>
            <a:r>
              <a:rPr lang="en-US" altLang="en-US" sz="1800" dirty="0" smtClean="0">
                <a:latin typeface="Courier New" pitchFamily="49" charset="0"/>
              </a:rPr>
              <a:t>if(</a:t>
            </a:r>
            <a:r>
              <a:rPr lang="en-US" altLang="en-US" sz="1800" dirty="0" err="1" smtClean="0">
                <a:latin typeface="Courier New" pitchFamily="49" charset="0"/>
              </a:rPr>
              <a:t>newfd</a:t>
            </a:r>
            <a:r>
              <a:rPr lang="en-US" altLang="en-US" sz="1800" dirty="0" smtClean="0">
                <a:latin typeface="Courier New" pitchFamily="49" charset="0"/>
              </a:rPr>
              <a:t> &lt; 0) {</a:t>
            </a:r>
          </a:p>
          <a:p>
            <a:r>
              <a:rPr lang="en-US" altLang="en-US" sz="1800" dirty="0" smtClean="0">
                <a:latin typeface="Courier New" pitchFamily="49" charset="0"/>
              </a:rPr>
              <a:t>	</a:t>
            </a:r>
            <a:r>
              <a:rPr lang="en-US" altLang="en-US" sz="1800" dirty="0" err="1" smtClean="0">
                <a:latin typeface="Courier New" pitchFamily="49" charset="0"/>
              </a:rPr>
              <a:t>perror</a:t>
            </a:r>
            <a:r>
              <a:rPr lang="en-US" altLang="en-US" sz="1800" dirty="0" smtClean="0">
                <a:latin typeface="Courier New" pitchFamily="49" charset="0"/>
              </a:rPr>
              <a:t>("accept");</a:t>
            </a:r>
          </a:p>
          <a:p>
            <a:r>
              <a:rPr lang="en-US" altLang="en-US" sz="1800" dirty="0" smtClean="0">
                <a:latin typeface="Courier New" pitchFamily="49" charset="0"/>
              </a:rPr>
              <a:t>	exit(1);}</a:t>
            </a:r>
            <a:endParaRPr lang="en-US" altLang="en-US" sz="1800" dirty="0">
              <a:latin typeface="Courier New" pitchFamily="49" charset="0"/>
            </a:endParaRPr>
          </a:p>
        </p:txBody>
      </p:sp>
    </p:spTree>
    <p:extLst>
      <p:ext uri="{BB962C8B-B14F-4D97-AF65-F5344CB8AC3E}">
        <p14:creationId xmlns="" xmlns:p14="http://schemas.microsoft.com/office/powerpoint/2010/main" val="28122011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I/O: read()</a:t>
            </a:r>
            <a:endParaRPr lang="en-IN" dirty="0"/>
          </a:p>
        </p:txBody>
      </p:sp>
      <p:sp>
        <p:nvSpPr>
          <p:cNvPr id="3" name="Content Placeholder 2"/>
          <p:cNvSpPr>
            <a:spLocks noGrp="1"/>
          </p:cNvSpPr>
          <p:nvPr>
            <p:ph idx="1"/>
          </p:nvPr>
        </p:nvSpPr>
        <p:spPr/>
        <p:txBody>
          <a:bodyPr/>
          <a:lstStyle/>
          <a:p>
            <a:r>
              <a:rPr lang="en-US" altLang="en-US" b="1" i="1" dirty="0"/>
              <a:t>read</a:t>
            </a:r>
            <a:r>
              <a:rPr lang="en-US" altLang="en-US" dirty="0"/>
              <a:t> can be used with a socket</a:t>
            </a:r>
            <a:endParaRPr lang="en-US" altLang="en-US" b="1" i="1" dirty="0"/>
          </a:p>
          <a:p>
            <a:r>
              <a:rPr lang="en-US" altLang="en-US" b="1" i="1" dirty="0">
                <a:solidFill>
                  <a:srgbClr val="CC0000"/>
                </a:solidFill>
              </a:rPr>
              <a:t>read</a:t>
            </a:r>
            <a:r>
              <a:rPr lang="en-US" altLang="en-US" b="1" dirty="0">
                <a:solidFill>
                  <a:srgbClr val="CC0000"/>
                </a:solidFill>
              </a:rPr>
              <a:t> </a:t>
            </a:r>
            <a:r>
              <a:rPr lang="en-US" altLang="en-US" b="1" u="sng" dirty="0">
                <a:solidFill>
                  <a:srgbClr val="CC0000"/>
                </a:solidFill>
              </a:rPr>
              <a:t>blocks</a:t>
            </a:r>
            <a:r>
              <a:rPr lang="en-US" altLang="en-US" b="1" dirty="0">
                <a:solidFill>
                  <a:srgbClr val="CC0000"/>
                </a:solidFill>
              </a:rPr>
              <a:t> waiting for data from the client but does not guarantee that </a:t>
            </a:r>
            <a:r>
              <a:rPr lang="en-US" altLang="en-US" b="1" dirty="0" err="1">
                <a:solidFill>
                  <a:srgbClr val="CC0000"/>
                </a:solidFill>
              </a:rPr>
              <a:t>sizeof</a:t>
            </a:r>
            <a:r>
              <a:rPr lang="en-US" altLang="en-US" b="1" dirty="0">
                <a:solidFill>
                  <a:srgbClr val="CC0000"/>
                </a:solidFill>
              </a:rPr>
              <a:t>(</a:t>
            </a:r>
            <a:r>
              <a:rPr lang="en-US" altLang="en-US" b="1" dirty="0" err="1">
                <a:solidFill>
                  <a:srgbClr val="CC0000"/>
                </a:solidFill>
              </a:rPr>
              <a:t>buf</a:t>
            </a:r>
            <a:r>
              <a:rPr lang="en-US" altLang="en-US" b="1" dirty="0">
                <a:solidFill>
                  <a:srgbClr val="CC0000"/>
                </a:solidFill>
              </a:rPr>
              <a:t>) is read</a:t>
            </a:r>
            <a:endParaRPr lang="en-US" altLang="en-US" dirty="0"/>
          </a:p>
          <a:p>
            <a:endParaRPr lang="en-IN" dirty="0"/>
          </a:p>
        </p:txBody>
      </p:sp>
      <p:sp>
        <p:nvSpPr>
          <p:cNvPr id="4" name="Text Box 4"/>
          <p:cNvSpPr txBox="1">
            <a:spLocks noChangeArrowheads="1"/>
          </p:cNvSpPr>
          <p:nvPr/>
        </p:nvSpPr>
        <p:spPr bwMode="auto">
          <a:xfrm>
            <a:off x="373380" y="1822459"/>
            <a:ext cx="8305800" cy="3046721"/>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r>
              <a:rPr lang="en-US" altLang="en-US" sz="1600" dirty="0" err="1">
                <a:latin typeface="Courier New" pitchFamily="49" charset="0"/>
              </a:rPr>
              <a:t>int</a:t>
            </a:r>
            <a:r>
              <a:rPr lang="en-US" altLang="en-US" sz="1600" dirty="0">
                <a:latin typeface="Courier New" pitchFamily="49" charset="0"/>
              </a:rPr>
              <a:t> </a:t>
            </a:r>
            <a:r>
              <a:rPr lang="en-US" altLang="en-US" sz="1600" dirty="0" err="1">
                <a:latin typeface="Courier New" pitchFamily="49" charset="0"/>
              </a:rPr>
              <a:t>fd</a:t>
            </a:r>
            <a:r>
              <a:rPr lang="en-US" altLang="en-US" sz="1600" dirty="0">
                <a:latin typeface="Courier New" pitchFamily="49" charset="0"/>
              </a:rPr>
              <a:t>;				/* socket descriptor */</a:t>
            </a:r>
          </a:p>
          <a:p>
            <a:r>
              <a:rPr lang="en-US" altLang="en-US" sz="1600" dirty="0">
                <a:latin typeface="Courier New" pitchFamily="49" charset="0"/>
              </a:rPr>
              <a:t>char </a:t>
            </a:r>
            <a:r>
              <a:rPr lang="en-US" altLang="en-US" sz="1600" dirty="0" err="1">
                <a:latin typeface="Courier New" pitchFamily="49" charset="0"/>
              </a:rPr>
              <a:t>buf</a:t>
            </a:r>
            <a:r>
              <a:rPr lang="en-US" altLang="en-US" sz="1600" dirty="0">
                <a:latin typeface="Courier New" pitchFamily="49" charset="0"/>
              </a:rPr>
              <a:t>[512];			/* used by read() */</a:t>
            </a:r>
          </a:p>
          <a:p>
            <a:r>
              <a:rPr lang="en-US" altLang="en-US" sz="1600" dirty="0" err="1">
                <a:latin typeface="Courier New" pitchFamily="49" charset="0"/>
              </a:rPr>
              <a:t>int</a:t>
            </a:r>
            <a:r>
              <a:rPr lang="en-US" altLang="en-US" sz="1600" dirty="0">
                <a:latin typeface="Courier New" pitchFamily="49" charset="0"/>
              </a:rPr>
              <a:t> </a:t>
            </a:r>
            <a:r>
              <a:rPr lang="en-US" altLang="en-US" sz="1600" dirty="0" err="1">
                <a:latin typeface="Courier New" pitchFamily="49" charset="0"/>
              </a:rPr>
              <a:t>nbytes</a:t>
            </a:r>
            <a:r>
              <a:rPr lang="en-US" altLang="en-US" sz="1600" dirty="0">
                <a:latin typeface="Courier New" pitchFamily="49" charset="0"/>
              </a:rPr>
              <a:t>;			      /* used by read() */</a:t>
            </a:r>
          </a:p>
          <a:p>
            <a:endParaRPr lang="en-US" altLang="en-US" sz="1600" dirty="0">
              <a:latin typeface="Courier New" pitchFamily="49" charset="0"/>
            </a:endParaRPr>
          </a:p>
          <a:p>
            <a:r>
              <a:rPr lang="en-US" altLang="en-US" sz="1600" dirty="0">
                <a:latin typeface="Courier New" pitchFamily="49" charset="0"/>
              </a:rPr>
              <a:t>/* 1) create the socket */</a:t>
            </a:r>
          </a:p>
          <a:p>
            <a:r>
              <a:rPr lang="en-US" altLang="en-US" sz="1600" dirty="0">
                <a:latin typeface="Courier New" pitchFamily="49" charset="0"/>
              </a:rPr>
              <a:t>/* 2) bind the socket to a port */</a:t>
            </a:r>
          </a:p>
          <a:p>
            <a:r>
              <a:rPr lang="en-US" altLang="en-US" sz="1600" dirty="0">
                <a:latin typeface="Courier New" pitchFamily="49" charset="0"/>
              </a:rPr>
              <a:t>/* 3) listen on the socket */</a:t>
            </a:r>
          </a:p>
          <a:p>
            <a:r>
              <a:rPr lang="en-US" altLang="en-US" sz="1600" dirty="0">
                <a:latin typeface="Courier New" pitchFamily="49" charset="0"/>
              </a:rPr>
              <a:t>/* 4) accept the incoming connection */</a:t>
            </a:r>
          </a:p>
          <a:p>
            <a:endParaRPr lang="en-US" altLang="en-US" sz="1600" dirty="0">
              <a:latin typeface="Courier New" pitchFamily="49" charset="0"/>
            </a:endParaRPr>
          </a:p>
          <a:p>
            <a:r>
              <a:rPr lang="en-US" altLang="en-US" sz="1600" dirty="0">
                <a:latin typeface="Courier New" pitchFamily="49" charset="0"/>
              </a:rPr>
              <a:t>if((</a:t>
            </a:r>
            <a:r>
              <a:rPr lang="en-US" altLang="en-US" sz="1600" dirty="0" err="1">
                <a:latin typeface="Courier New" pitchFamily="49" charset="0"/>
              </a:rPr>
              <a:t>nbytes</a:t>
            </a:r>
            <a:r>
              <a:rPr lang="en-US" altLang="en-US" sz="1600" dirty="0">
                <a:latin typeface="Courier New" pitchFamily="49" charset="0"/>
              </a:rPr>
              <a:t> = </a:t>
            </a:r>
            <a:r>
              <a:rPr lang="en-US" altLang="en-US" sz="1600" b="1" dirty="0">
                <a:solidFill>
                  <a:srgbClr val="CC0000"/>
                </a:solidFill>
                <a:latin typeface="Courier New" pitchFamily="49" charset="0"/>
              </a:rPr>
              <a:t>read</a:t>
            </a:r>
            <a:r>
              <a:rPr lang="en-US" altLang="en-US" sz="1600" dirty="0">
                <a:latin typeface="Courier New" pitchFamily="49" charset="0"/>
              </a:rPr>
              <a:t>(</a:t>
            </a:r>
            <a:r>
              <a:rPr lang="en-US" altLang="en-US" sz="1600" dirty="0" err="1">
                <a:latin typeface="Courier New" pitchFamily="49" charset="0"/>
              </a:rPr>
              <a:t>newfd</a:t>
            </a:r>
            <a:r>
              <a:rPr lang="en-US" altLang="en-US" sz="1600" dirty="0">
                <a:latin typeface="Courier New" pitchFamily="49" charset="0"/>
              </a:rPr>
              <a:t>, </a:t>
            </a:r>
            <a:r>
              <a:rPr lang="en-US" altLang="en-US" sz="1600" dirty="0" err="1">
                <a:latin typeface="Courier New" pitchFamily="49" charset="0"/>
              </a:rPr>
              <a:t>buf</a:t>
            </a:r>
            <a:r>
              <a:rPr lang="en-US" altLang="en-US" sz="1600" dirty="0">
                <a:latin typeface="Courier New" pitchFamily="49" charset="0"/>
              </a:rPr>
              <a:t>, </a:t>
            </a:r>
            <a:r>
              <a:rPr lang="en-US" altLang="en-US" sz="1600" dirty="0" err="1">
                <a:latin typeface="Courier New" pitchFamily="49" charset="0"/>
              </a:rPr>
              <a:t>sizeof</a:t>
            </a:r>
            <a:r>
              <a:rPr lang="en-US" altLang="en-US" sz="1600" dirty="0">
                <a:latin typeface="Courier New" pitchFamily="49" charset="0"/>
              </a:rPr>
              <a:t>(</a:t>
            </a:r>
            <a:r>
              <a:rPr lang="en-US" altLang="en-US" sz="1600" dirty="0" err="1">
                <a:latin typeface="Courier New" pitchFamily="49" charset="0"/>
              </a:rPr>
              <a:t>buf</a:t>
            </a:r>
            <a:r>
              <a:rPr lang="en-US" altLang="en-US" sz="1600" dirty="0">
                <a:latin typeface="Courier New" pitchFamily="49" charset="0"/>
              </a:rPr>
              <a:t>))) &lt; 0) {</a:t>
            </a:r>
          </a:p>
          <a:p>
            <a:r>
              <a:rPr lang="en-US" altLang="en-US" sz="1600" dirty="0">
                <a:latin typeface="Courier New" pitchFamily="49" charset="0"/>
              </a:rPr>
              <a:t>	</a:t>
            </a:r>
            <a:r>
              <a:rPr lang="en-US" altLang="en-US" sz="1600" dirty="0" err="1">
                <a:latin typeface="Courier New" pitchFamily="49" charset="0"/>
              </a:rPr>
              <a:t>perror</a:t>
            </a:r>
            <a:r>
              <a:rPr lang="en-US" altLang="en-US" sz="1600" dirty="0">
                <a:latin typeface="Courier New" pitchFamily="49" charset="0"/>
              </a:rPr>
              <a:t>(“read”); exit(1);</a:t>
            </a:r>
          </a:p>
          <a:p>
            <a:r>
              <a:rPr lang="en-US" altLang="en-US" sz="1600" dirty="0">
                <a:latin typeface="Courier New" pitchFamily="49" charset="0"/>
              </a:rPr>
              <a:t>}</a:t>
            </a:r>
          </a:p>
        </p:txBody>
      </p:sp>
    </p:spTree>
    <p:extLst>
      <p:ext uri="{BB962C8B-B14F-4D97-AF65-F5344CB8AC3E}">
        <p14:creationId xmlns="" xmlns:p14="http://schemas.microsoft.com/office/powerpoint/2010/main" val="858201079"/>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TCP Client</a:t>
            </a:r>
            <a:endParaRPr lang="en-IN" dirty="0"/>
          </a:p>
        </p:txBody>
      </p:sp>
      <p:sp>
        <p:nvSpPr>
          <p:cNvPr id="3" name="Content Placeholder 2"/>
          <p:cNvSpPr>
            <a:spLocks noGrp="1"/>
          </p:cNvSpPr>
          <p:nvPr>
            <p:ph idx="1"/>
          </p:nvPr>
        </p:nvSpPr>
        <p:spPr>
          <a:xfrm>
            <a:off x="274320" y="754380"/>
            <a:ext cx="4196080" cy="4114800"/>
          </a:xfrm>
        </p:spPr>
        <p:txBody>
          <a:bodyPr/>
          <a:lstStyle/>
          <a:p>
            <a:r>
              <a:rPr lang="en-US" altLang="en-US" dirty="0"/>
              <a:t>For example: web client</a:t>
            </a:r>
          </a:p>
          <a:p>
            <a:pPr lvl="1"/>
            <a:endParaRPr lang="en-US" altLang="en-US" dirty="0"/>
          </a:p>
          <a:p>
            <a:r>
              <a:rPr lang="en-US" altLang="en-US" sz="2400" b="1" dirty="0">
                <a:solidFill>
                  <a:srgbClr val="CC0000"/>
                </a:solidFill>
              </a:rPr>
              <a:t>How does a </a:t>
            </a:r>
            <a:r>
              <a:rPr lang="en-US" altLang="en-US" sz="2400" b="1" i="1" dirty="0">
                <a:solidFill>
                  <a:srgbClr val="CC0000"/>
                </a:solidFill>
              </a:rPr>
              <a:t>web client</a:t>
            </a:r>
            <a:r>
              <a:rPr lang="en-US" altLang="en-US" sz="2400" b="1" dirty="0">
                <a:solidFill>
                  <a:srgbClr val="CC0000"/>
                </a:solidFill>
              </a:rPr>
              <a:t> connect to a </a:t>
            </a:r>
            <a:r>
              <a:rPr lang="en-US" altLang="en-US" sz="2400" b="1" i="1" dirty="0">
                <a:solidFill>
                  <a:srgbClr val="CC0000"/>
                </a:solidFill>
              </a:rPr>
              <a:t>web server</a:t>
            </a:r>
            <a:r>
              <a:rPr lang="en-US" altLang="en-US" sz="2400" b="1" dirty="0">
                <a:solidFill>
                  <a:srgbClr val="CC0000"/>
                </a:solidFill>
              </a:rPr>
              <a:t>? </a:t>
            </a:r>
          </a:p>
          <a:p>
            <a:endParaRPr lang="en-US" altLang="en-US" sz="2400" b="1" dirty="0">
              <a:solidFill>
                <a:srgbClr val="CC0000"/>
              </a:solidFill>
            </a:endParaRPr>
          </a:p>
          <a:p>
            <a:endParaRPr lang="en-IN" dirty="0"/>
          </a:p>
        </p:txBody>
      </p:sp>
      <p:sp>
        <p:nvSpPr>
          <p:cNvPr id="18" name="Text Box 2"/>
          <p:cNvSpPr txBox="1">
            <a:spLocks noChangeArrowheads="1"/>
          </p:cNvSpPr>
          <p:nvPr/>
        </p:nvSpPr>
        <p:spPr bwMode="auto">
          <a:xfrm>
            <a:off x="6118226" y="2588816"/>
            <a:ext cx="1495425" cy="391715"/>
          </a:xfrm>
          <a:prstGeom prst="rect">
            <a:avLst/>
          </a:prstGeom>
          <a:noFill/>
          <a:ln w="12700">
            <a:solidFill>
              <a:schemeClr val="tx1"/>
            </a:solidFill>
            <a:miter lim="800000"/>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2058" tIns="123087" rIns="82058" bIns="123087"/>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pPr algn="ctr"/>
            <a:r>
              <a:rPr lang="en-US" altLang="en-US" sz="1800">
                <a:latin typeface="Helvetica" pitchFamily="34" charset="0"/>
              </a:rPr>
              <a:t>TCP</a:t>
            </a:r>
          </a:p>
        </p:txBody>
      </p:sp>
      <p:sp>
        <p:nvSpPr>
          <p:cNvPr id="19" name="Text Box 3"/>
          <p:cNvSpPr txBox="1">
            <a:spLocks noChangeArrowheads="1"/>
          </p:cNvSpPr>
          <p:nvPr/>
        </p:nvSpPr>
        <p:spPr bwMode="auto">
          <a:xfrm>
            <a:off x="6118226" y="3209131"/>
            <a:ext cx="1495425" cy="390525"/>
          </a:xfrm>
          <a:prstGeom prst="rect">
            <a:avLst/>
          </a:prstGeom>
          <a:noFill/>
          <a:ln w="12700">
            <a:solidFill>
              <a:schemeClr val="tx1"/>
            </a:solidFill>
            <a:miter lim="800000"/>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2058" tIns="123087" rIns="82058" bIns="123087"/>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pPr algn="ctr"/>
            <a:r>
              <a:rPr lang="en-US" altLang="en-US" sz="1800">
                <a:latin typeface="Helvetica" pitchFamily="34" charset="0"/>
              </a:rPr>
              <a:t>IP</a:t>
            </a:r>
          </a:p>
        </p:txBody>
      </p:sp>
      <p:sp>
        <p:nvSpPr>
          <p:cNvPr id="20" name="Text Box 5"/>
          <p:cNvSpPr txBox="1">
            <a:spLocks noChangeArrowheads="1"/>
          </p:cNvSpPr>
          <p:nvPr/>
        </p:nvSpPr>
        <p:spPr bwMode="auto">
          <a:xfrm>
            <a:off x="5932506" y="3865166"/>
            <a:ext cx="1897025" cy="525577"/>
          </a:xfrm>
          <a:prstGeom prst="rect">
            <a:avLst/>
          </a:prstGeom>
          <a:noFill/>
          <a:ln w="12700">
            <a:solidFill>
              <a:schemeClr val="tx1"/>
            </a:solidFill>
            <a:miter lim="800000"/>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2058" tIns="123087" rIns="82058" bIns="123087">
            <a:spAutoFit/>
          </a:bodyPr>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pPr algn="ctr"/>
            <a:r>
              <a:rPr lang="en-US" altLang="en-US" sz="1800">
                <a:latin typeface="Helvetica" pitchFamily="34" charset="0"/>
              </a:rPr>
              <a:t>Ethernet Adapter</a:t>
            </a:r>
          </a:p>
        </p:txBody>
      </p:sp>
      <p:sp>
        <p:nvSpPr>
          <p:cNvPr id="21" name="Line 6"/>
          <p:cNvSpPr>
            <a:spLocks noChangeShapeType="1"/>
          </p:cNvSpPr>
          <p:nvPr/>
        </p:nvSpPr>
        <p:spPr bwMode="auto">
          <a:xfrm>
            <a:off x="6865938" y="2978151"/>
            <a:ext cx="0" cy="232172"/>
          </a:xfrm>
          <a:prstGeom prst="line">
            <a:avLst/>
          </a:prstGeom>
          <a:noFill/>
          <a:ln w="9525">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p>
            <a:endParaRPr lang="en-US"/>
          </a:p>
        </p:txBody>
      </p:sp>
      <p:sp>
        <p:nvSpPr>
          <p:cNvPr id="22" name="Line 7"/>
          <p:cNvSpPr>
            <a:spLocks noChangeShapeType="1"/>
          </p:cNvSpPr>
          <p:nvPr/>
        </p:nvSpPr>
        <p:spPr bwMode="auto">
          <a:xfrm>
            <a:off x="6865938" y="3603228"/>
            <a:ext cx="0" cy="232172"/>
          </a:xfrm>
          <a:prstGeom prst="line">
            <a:avLst/>
          </a:prstGeom>
          <a:noFill/>
          <a:ln w="9525">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p>
            <a:endParaRPr lang="en-US"/>
          </a:p>
        </p:txBody>
      </p:sp>
      <p:sp>
        <p:nvSpPr>
          <p:cNvPr id="23" name="Line 9"/>
          <p:cNvSpPr>
            <a:spLocks noChangeShapeType="1"/>
          </p:cNvSpPr>
          <p:nvPr/>
        </p:nvSpPr>
        <p:spPr bwMode="auto">
          <a:xfrm>
            <a:off x="5953126" y="2386410"/>
            <a:ext cx="1878013"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p>
            <a:endParaRPr lang="en-US"/>
          </a:p>
        </p:txBody>
      </p:sp>
      <p:sp>
        <p:nvSpPr>
          <p:cNvPr id="24" name="Rectangle 10"/>
          <p:cNvSpPr>
            <a:spLocks noChangeArrowheads="1"/>
          </p:cNvSpPr>
          <p:nvPr/>
        </p:nvSpPr>
        <p:spPr bwMode="auto">
          <a:xfrm>
            <a:off x="5672138" y="1206501"/>
            <a:ext cx="2411412" cy="3242072"/>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p>
            <a:endParaRPr lang="en-US"/>
          </a:p>
        </p:txBody>
      </p:sp>
      <p:sp>
        <p:nvSpPr>
          <p:cNvPr id="25" name="Oval 11"/>
          <p:cNvSpPr>
            <a:spLocks noChangeArrowheads="1"/>
          </p:cNvSpPr>
          <p:nvPr/>
        </p:nvSpPr>
        <p:spPr bwMode="auto">
          <a:xfrm>
            <a:off x="6232526" y="1804194"/>
            <a:ext cx="227013" cy="165497"/>
          </a:xfrm>
          <a:prstGeom prst="ellipse">
            <a:avLst/>
          </a:prstGeom>
          <a:solidFill>
            <a:srgbClr val="0000FF"/>
          </a:solidFill>
          <a:ln w="9525">
            <a:solidFill>
              <a:srgbClr val="0000FF"/>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p>
            <a:endParaRPr lang="en-US"/>
          </a:p>
        </p:txBody>
      </p:sp>
      <p:sp>
        <p:nvSpPr>
          <p:cNvPr id="26" name="Line 12"/>
          <p:cNvSpPr>
            <a:spLocks noChangeShapeType="1"/>
          </p:cNvSpPr>
          <p:nvPr/>
        </p:nvSpPr>
        <p:spPr bwMode="auto">
          <a:xfrm>
            <a:off x="6375400" y="1964929"/>
            <a:ext cx="323850" cy="625078"/>
          </a:xfrm>
          <a:prstGeom prst="line">
            <a:avLst/>
          </a:prstGeom>
          <a:noFill/>
          <a:ln w="25400">
            <a:solidFill>
              <a:srgbClr val="0000FF"/>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p>
            <a:endParaRPr lang="en-US"/>
          </a:p>
        </p:txBody>
      </p:sp>
      <p:sp>
        <p:nvSpPr>
          <p:cNvPr id="27" name="Oval 13"/>
          <p:cNvSpPr>
            <a:spLocks noChangeArrowheads="1"/>
          </p:cNvSpPr>
          <p:nvPr/>
        </p:nvSpPr>
        <p:spPr bwMode="auto">
          <a:xfrm>
            <a:off x="7388226" y="1804194"/>
            <a:ext cx="227013" cy="165497"/>
          </a:xfrm>
          <a:prstGeom prst="ellipse">
            <a:avLst/>
          </a:prstGeom>
          <a:solidFill>
            <a:srgbClr val="FF6600"/>
          </a:solidFill>
          <a:ln w="9525">
            <a:solidFill>
              <a:srgbClr val="FF6600"/>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p>
            <a:endParaRPr lang="en-US"/>
          </a:p>
        </p:txBody>
      </p:sp>
      <p:sp>
        <p:nvSpPr>
          <p:cNvPr id="28" name="Line 14"/>
          <p:cNvSpPr>
            <a:spLocks noChangeShapeType="1"/>
          </p:cNvSpPr>
          <p:nvPr/>
        </p:nvSpPr>
        <p:spPr bwMode="auto">
          <a:xfrm flipH="1">
            <a:off x="7053263" y="1964928"/>
            <a:ext cx="400050" cy="622697"/>
          </a:xfrm>
          <a:prstGeom prst="line">
            <a:avLst/>
          </a:prstGeom>
          <a:noFill/>
          <a:ln w="25400">
            <a:solidFill>
              <a:srgbClr val="FF66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p>
            <a:endParaRPr lang="en-US"/>
          </a:p>
        </p:txBody>
      </p:sp>
      <p:sp>
        <p:nvSpPr>
          <p:cNvPr id="29" name="Oval 15"/>
          <p:cNvSpPr>
            <a:spLocks noChangeArrowheads="1"/>
          </p:cNvSpPr>
          <p:nvPr/>
        </p:nvSpPr>
        <p:spPr bwMode="auto">
          <a:xfrm>
            <a:off x="5919788" y="1587500"/>
            <a:ext cx="825500" cy="601266"/>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p>
            <a:endParaRPr lang="en-US"/>
          </a:p>
        </p:txBody>
      </p:sp>
      <p:sp>
        <p:nvSpPr>
          <p:cNvPr id="30" name="Oval 16"/>
          <p:cNvSpPr>
            <a:spLocks noChangeArrowheads="1"/>
          </p:cNvSpPr>
          <p:nvPr/>
        </p:nvSpPr>
        <p:spPr bwMode="auto">
          <a:xfrm>
            <a:off x="7070725" y="1587500"/>
            <a:ext cx="825500" cy="601266"/>
          </a:xfrm>
          <a:prstGeom prst="ellipse">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p>
            <a:endParaRPr lang="en-US"/>
          </a:p>
        </p:txBody>
      </p:sp>
      <p:sp>
        <p:nvSpPr>
          <p:cNvPr id="31" name="Text Box 17"/>
          <p:cNvSpPr txBox="1">
            <a:spLocks noChangeArrowheads="1"/>
          </p:cNvSpPr>
          <p:nvPr/>
        </p:nvSpPr>
        <p:spPr bwMode="auto">
          <a:xfrm>
            <a:off x="6146801" y="1263650"/>
            <a:ext cx="1616256" cy="3690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1176" tIns="45588" rIns="91176" bIns="45588">
            <a:spAutoFit/>
          </a:bodyPr>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r>
              <a:rPr lang="en-US" altLang="en-US" sz="1800">
                <a:latin typeface="Helvetica" pitchFamily="34" charset="0"/>
              </a:rPr>
              <a:t>2 Web Clients</a:t>
            </a:r>
          </a:p>
        </p:txBody>
      </p:sp>
    </p:spTree>
    <p:extLst>
      <p:ext uri="{BB962C8B-B14F-4D97-AF65-F5344CB8AC3E}">
        <p14:creationId xmlns="" xmlns:p14="http://schemas.microsoft.com/office/powerpoint/2010/main" val="145896845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Dealing with IP Addresses</a:t>
            </a:r>
            <a:endParaRPr lang="en-IN" dirty="0"/>
          </a:p>
        </p:txBody>
      </p:sp>
      <p:sp>
        <p:nvSpPr>
          <p:cNvPr id="3" name="Content Placeholder 2"/>
          <p:cNvSpPr>
            <a:spLocks noGrp="1"/>
          </p:cNvSpPr>
          <p:nvPr>
            <p:ph idx="1"/>
          </p:nvPr>
        </p:nvSpPr>
        <p:spPr/>
        <p:txBody>
          <a:bodyPr/>
          <a:lstStyle/>
          <a:p>
            <a:r>
              <a:rPr lang="en-US" altLang="en-US" dirty="0"/>
              <a:t>IP Addresses are commonly written as strings (“128.2.35.50”), but programs deal with IP addresses as integers.</a:t>
            </a:r>
          </a:p>
          <a:p>
            <a:endParaRPr lang="en-IN" dirty="0"/>
          </a:p>
        </p:txBody>
      </p:sp>
      <p:sp>
        <p:nvSpPr>
          <p:cNvPr id="4" name="Text Box 1026"/>
          <p:cNvSpPr txBox="1">
            <a:spLocks noChangeArrowheads="1"/>
          </p:cNvSpPr>
          <p:nvPr/>
        </p:nvSpPr>
        <p:spPr bwMode="auto">
          <a:xfrm>
            <a:off x="580464" y="1888565"/>
            <a:ext cx="7696200" cy="1754060"/>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r>
              <a:rPr lang="en-US" altLang="en-US" sz="1800" dirty="0" err="1">
                <a:latin typeface="Courier New" pitchFamily="49" charset="0"/>
              </a:rPr>
              <a:t>struct</a:t>
            </a:r>
            <a:r>
              <a:rPr lang="en-US" altLang="en-US" sz="1800" dirty="0">
                <a:latin typeface="Courier New" pitchFamily="49" charset="0"/>
              </a:rPr>
              <a:t> </a:t>
            </a:r>
            <a:r>
              <a:rPr lang="en-US" altLang="en-US" sz="1800" dirty="0" err="1">
                <a:latin typeface="Courier New" pitchFamily="49" charset="0"/>
              </a:rPr>
              <a:t>sockaddr_in</a:t>
            </a:r>
            <a:r>
              <a:rPr lang="en-US" altLang="en-US" sz="1800" dirty="0">
                <a:latin typeface="Courier New" pitchFamily="49" charset="0"/>
              </a:rPr>
              <a:t> </a:t>
            </a:r>
            <a:r>
              <a:rPr lang="en-US" altLang="en-US" sz="1800" dirty="0" err="1">
                <a:latin typeface="Courier New" pitchFamily="49" charset="0"/>
              </a:rPr>
              <a:t>srv</a:t>
            </a:r>
            <a:r>
              <a:rPr lang="en-US" altLang="en-US" sz="1800" dirty="0">
                <a:latin typeface="Courier New" pitchFamily="49" charset="0"/>
              </a:rPr>
              <a:t>;</a:t>
            </a:r>
          </a:p>
          <a:p>
            <a:endParaRPr lang="en-US" altLang="en-US" sz="1800" dirty="0">
              <a:latin typeface="Courier New" pitchFamily="49" charset="0"/>
            </a:endParaRPr>
          </a:p>
          <a:p>
            <a:r>
              <a:rPr lang="en-US" altLang="en-US" sz="1800" dirty="0" err="1">
                <a:latin typeface="Courier New" pitchFamily="49" charset="0"/>
              </a:rPr>
              <a:t>srv.sin_addr.s_addr</a:t>
            </a:r>
            <a:r>
              <a:rPr lang="en-US" altLang="en-US" sz="1800" dirty="0">
                <a:latin typeface="Courier New" pitchFamily="49" charset="0"/>
              </a:rPr>
              <a:t> = </a:t>
            </a:r>
            <a:r>
              <a:rPr lang="en-US" altLang="en-US" sz="1800" b="1" dirty="0" err="1">
                <a:solidFill>
                  <a:srgbClr val="CC0000"/>
                </a:solidFill>
                <a:latin typeface="Courier New" pitchFamily="49" charset="0"/>
              </a:rPr>
              <a:t>inet_addr</a:t>
            </a:r>
            <a:r>
              <a:rPr lang="en-US" altLang="en-US" sz="1800" b="1" dirty="0">
                <a:solidFill>
                  <a:srgbClr val="CC0000"/>
                </a:solidFill>
                <a:latin typeface="Courier New" pitchFamily="49" charset="0"/>
              </a:rPr>
              <a:t>(“128.2.35.50”);</a:t>
            </a:r>
            <a:endParaRPr lang="en-US" altLang="en-US" sz="1800" dirty="0">
              <a:latin typeface="Courier New" pitchFamily="49" charset="0"/>
            </a:endParaRPr>
          </a:p>
          <a:p>
            <a:r>
              <a:rPr lang="en-US" altLang="en-US" sz="1800" dirty="0">
                <a:latin typeface="Courier New" pitchFamily="49" charset="0"/>
              </a:rPr>
              <a:t>if(</a:t>
            </a:r>
            <a:r>
              <a:rPr lang="en-US" altLang="en-US" sz="1800" dirty="0" err="1">
                <a:latin typeface="Courier New" pitchFamily="49" charset="0"/>
              </a:rPr>
              <a:t>srv.sin_addr.s_addr</a:t>
            </a:r>
            <a:r>
              <a:rPr lang="en-US" altLang="en-US" sz="1800" dirty="0">
                <a:latin typeface="Courier New" pitchFamily="49" charset="0"/>
              </a:rPr>
              <a:t> == (</a:t>
            </a:r>
            <a:r>
              <a:rPr lang="en-US" altLang="en-US" sz="1800" dirty="0" err="1">
                <a:latin typeface="Courier New" pitchFamily="49" charset="0"/>
              </a:rPr>
              <a:t>in_addr_t</a:t>
            </a:r>
            <a:r>
              <a:rPr lang="en-US" altLang="en-US" sz="1800" dirty="0">
                <a:latin typeface="Courier New" pitchFamily="49" charset="0"/>
              </a:rPr>
              <a:t>) -1) {</a:t>
            </a:r>
          </a:p>
          <a:p>
            <a:r>
              <a:rPr lang="en-US" altLang="en-US" sz="1800" dirty="0">
                <a:latin typeface="Courier New" pitchFamily="49" charset="0"/>
              </a:rPr>
              <a:t>	</a:t>
            </a:r>
            <a:r>
              <a:rPr lang="en-US" altLang="en-US" sz="1800" dirty="0" err="1">
                <a:latin typeface="Courier New" pitchFamily="49" charset="0"/>
              </a:rPr>
              <a:t>fprintf</a:t>
            </a:r>
            <a:r>
              <a:rPr lang="en-US" altLang="en-US" sz="1800" dirty="0">
                <a:latin typeface="Courier New" pitchFamily="49" charset="0"/>
              </a:rPr>
              <a:t>(</a:t>
            </a:r>
            <a:r>
              <a:rPr lang="en-US" altLang="en-US" sz="1800" dirty="0" err="1">
                <a:latin typeface="Courier New" pitchFamily="49" charset="0"/>
              </a:rPr>
              <a:t>stderr</a:t>
            </a:r>
            <a:r>
              <a:rPr lang="en-US" altLang="en-US" sz="1800" dirty="0">
                <a:latin typeface="Courier New" pitchFamily="49" charset="0"/>
              </a:rPr>
              <a:t>, "</a:t>
            </a:r>
            <a:r>
              <a:rPr lang="en-US" altLang="en-US" sz="1800" dirty="0" err="1">
                <a:latin typeface="Courier New" pitchFamily="49" charset="0"/>
              </a:rPr>
              <a:t>inet_addr</a:t>
            </a:r>
            <a:r>
              <a:rPr lang="en-US" altLang="en-US" sz="1800" dirty="0">
                <a:latin typeface="Courier New" pitchFamily="49" charset="0"/>
              </a:rPr>
              <a:t> failed!\n"); exit(1);</a:t>
            </a:r>
          </a:p>
          <a:p>
            <a:r>
              <a:rPr lang="en-US" altLang="en-US" sz="1800" dirty="0">
                <a:latin typeface="Courier New" pitchFamily="49" charset="0"/>
              </a:rPr>
              <a:t>}</a:t>
            </a:r>
          </a:p>
        </p:txBody>
      </p:sp>
      <p:sp>
        <p:nvSpPr>
          <p:cNvPr id="5" name="Rectangle 1031"/>
          <p:cNvSpPr>
            <a:spLocks noChangeArrowheads="1"/>
          </p:cNvSpPr>
          <p:nvPr/>
        </p:nvSpPr>
        <p:spPr bwMode="auto">
          <a:xfrm>
            <a:off x="580464" y="1478196"/>
            <a:ext cx="7391400" cy="41036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101600" tIns="50800" rIns="101600" bIns="50800">
            <a:spAutoFit/>
          </a:bodyPr>
          <a:lstStyle/>
          <a:p>
            <a:pPr algn="ctr" eaLnBrk="0" hangingPunct="0"/>
            <a:r>
              <a:rPr lang="en-US" altLang="en-US" sz="2000" b="1" dirty="0">
                <a:latin typeface="Arial" charset="0"/>
              </a:rPr>
              <a:t>Converting strings to numerical address:</a:t>
            </a:r>
            <a:endParaRPr lang="en-US" altLang="en-US" sz="2000" b="1" dirty="0">
              <a:solidFill>
                <a:srgbClr val="CC0000"/>
              </a:solidFill>
              <a:latin typeface="Arial" charset="0"/>
            </a:endParaRPr>
          </a:p>
        </p:txBody>
      </p:sp>
    </p:spTree>
    <p:extLst>
      <p:ext uri="{BB962C8B-B14F-4D97-AF65-F5344CB8AC3E}">
        <p14:creationId xmlns="" xmlns:p14="http://schemas.microsoft.com/office/powerpoint/2010/main" val="278339210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Dealing with IP Addresses</a:t>
            </a:r>
            <a:endParaRPr lang="en-IN" dirty="0"/>
          </a:p>
        </p:txBody>
      </p:sp>
      <p:sp>
        <p:nvSpPr>
          <p:cNvPr id="3" name="Content Placeholder 2"/>
          <p:cNvSpPr>
            <a:spLocks noGrp="1"/>
          </p:cNvSpPr>
          <p:nvPr>
            <p:ph idx="1"/>
          </p:nvPr>
        </p:nvSpPr>
        <p:spPr/>
        <p:txBody>
          <a:bodyPr/>
          <a:lstStyle/>
          <a:p>
            <a:r>
              <a:rPr lang="en-US" altLang="en-US" dirty="0"/>
              <a:t>IP Addresses are commonly written as strings (“128.2.35.50”), but programs deal with IP addresses as integers.</a:t>
            </a:r>
          </a:p>
          <a:p>
            <a:endParaRPr lang="en-IN" dirty="0"/>
          </a:p>
        </p:txBody>
      </p:sp>
      <p:sp>
        <p:nvSpPr>
          <p:cNvPr id="6" name="Rectangle 1027"/>
          <p:cNvSpPr>
            <a:spLocks noChangeArrowheads="1"/>
          </p:cNvSpPr>
          <p:nvPr/>
        </p:nvSpPr>
        <p:spPr bwMode="auto">
          <a:xfrm>
            <a:off x="398929" y="1815353"/>
            <a:ext cx="7391400" cy="2643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lstStyle>
            <a:lvl1pPr marL="307975" indent="-307975" defTabSz="820738">
              <a:spcBef>
                <a:spcPct val="20000"/>
              </a:spcBef>
              <a:buClr>
                <a:schemeClr val="accent2"/>
              </a:buClr>
              <a:buChar char="•"/>
              <a:defRPr sz="3200">
                <a:solidFill>
                  <a:schemeClr val="tx1"/>
                </a:solidFill>
                <a:latin typeface="Arial" charset="0"/>
              </a:defRPr>
            </a:lvl1pPr>
            <a:lvl2pPr marL="666750" indent="-257175" defTabSz="820738">
              <a:spcBef>
                <a:spcPct val="20000"/>
              </a:spcBef>
              <a:buClr>
                <a:schemeClr val="accent2"/>
              </a:buClr>
              <a:buChar char="•"/>
              <a:defRPr sz="2800">
                <a:solidFill>
                  <a:schemeClr val="tx1"/>
                </a:solidFill>
                <a:latin typeface="Arial" charset="0"/>
              </a:defRPr>
            </a:lvl2pPr>
            <a:lvl3pPr marL="1025525" indent="-204788" defTabSz="820738">
              <a:spcBef>
                <a:spcPct val="20000"/>
              </a:spcBef>
              <a:buClr>
                <a:schemeClr val="accent2"/>
              </a:buClr>
              <a:buChar char="•"/>
              <a:defRPr sz="2400">
                <a:solidFill>
                  <a:schemeClr val="tx1"/>
                </a:solidFill>
                <a:latin typeface="Arial" charset="0"/>
              </a:defRPr>
            </a:lvl3pPr>
            <a:lvl4pPr marL="1436688" indent="-206375" defTabSz="820738">
              <a:spcBef>
                <a:spcPct val="20000"/>
              </a:spcBef>
              <a:buClr>
                <a:schemeClr val="accent2"/>
              </a:buClr>
              <a:buChar char="•"/>
              <a:defRPr sz="2000">
                <a:solidFill>
                  <a:schemeClr val="tx1"/>
                </a:solidFill>
                <a:latin typeface="Arial" charset="0"/>
              </a:defRPr>
            </a:lvl4pPr>
            <a:lvl5pPr marL="1846263" indent="-204788" defTabSz="820738">
              <a:spcBef>
                <a:spcPct val="20000"/>
              </a:spcBef>
              <a:buClr>
                <a:schemeClr val="accent2"/>
              </a:buClr>
              <a:buChar char="•"/>
              <a:defRPr>
                <a:solidFill>
                  <a:schemeClr val="tx1"/>
                </a:solidFill>
                <a:latin typeface="Arial" charset="0"/>
              </a:defRPr>
            </a:lvl5pPr>
            <a:lvl6pPr marL="2303463" indent="-204788" defTabSz="820738" fontAlgn="base">
              <a:spcBef>
                <a:spcPct val="20000"/>
              </a:spcBef>
              <a:spcAft>
                <a:spcPct val="0"/>
              </a:spcAft>
              <a:buClr>
                <a:schemeClr val="accent2"/>
              </a:buClr>
              <a:buChar char="•"/>
              <a:defRPr>
                <a:solidFill>
                  <a:schemeClr val="tx1"/>
                </a:solidFill>
                <a:latin typeface="Arial" charset="0"/>
              </a:defRPr>
            </a:lvl6pPr>
            <a:lvl7pPr marL="2760663" indent="-204788" defTabSz="820738" fontAlgn="base">
              <a:spcBef>
                <a:spcPct val="20000"/>
              </a:spcBef>
              <a:spcAft>
                <a:spcPct val="0"/>
              </a:spcAft>
              <a:buClr>
                <a:schemeClr val="accent2"/>
              </a:buClr>
              <a:buChar char="•"/>
              <a:defRPr>
                <a:solidFill>
                  <a:schemeClr val="tx1"/>
                </a:solidFill>
                <a:latin typeface="Arial" charset="0"/>
              </a:defRPr>
            </a:lvl7pPr>
            <a:lvl8pPr marL="3217863" indent="-204788" defTabSz="820738" fontAlgn="base">
              <a:spcBef>
                <a:spcPct val="20000"/>
              </a:spcBef>
              <a:spcAft>
                <a:spcPct val="0"/>
              </a:spcAft>
              <a:buClr>
                <a:schemeClr val="accent2"/>
              </a:buClr>
              <a:buChar char="•"/>
              <a:defRPr>
                <a:solidFill>
                  <a:schemeClr val="tx1"/>
                </a:solidFill>
                <a:latin typeface="Arial" charset="0"/>
              </a:defRPr>
            </a:lvl8pPr>
            <a:lvl9pPr marL="3675063" indent="-204788" defTabSz="820738" fontAlgn="base">
              <a:spcBef>
                <a:spcPct val="20000"/>
              </a:spcBef>
              <a:spcAft>
                <a:spcPct val="0"/>
              </a:spcAft>
              <a:buClr>
                <a:schemeClr val="accent2"/>
              </a:buClr>
              <a:buChar char="•"/>
              <a:defRPr>
                <a:solidFill>
                  <a:schemeClr val="tx1"/>
                </a:solidFill>
                <a:latin typeface="Arial" charset="0"/>
              </a:defRPr>
            </a:lvl9pPr>
          </a:lstStyle>
          <a:p>
            <a:pPr algn="ctr">
              <a:buFontTx/>
              <a:buNone/>
            </a:pPr>
            <a:r>
              <a:rPr lang="en-US" altLang="en-US" sz="2000" b="1" dirty="0"/>
              <a:t>Converting a numerical address to a string:</a:t>
            </a:r>
          </a:p>
        </p:txBody>
      </p:sp>
      <p:sp>
        <p:nvSpPr>
          <p:cNvPr id="7" name="Text Box 1030"/>
          <p:cNvSpPr txBox="1">
            <a:spLocks noChangeArrowheads="1"/>
          </p:cNvSpPr>
          <p:nvPr/>
        </p:nvSpPr>
        <p:spPr bwMode="auto">
          <a:xfrm>
            <a:off x="577477" y="2261652"/>
            <a:ext cx="7696200" cy="1477061"/>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r>
              <a:rPr lang="en-US" altLang="en-US" sz="1800" dirty="0" err="1">
                <a:latin typeface="Courier New" pitchFamily="49" charset="0"/>
              </a:rPr>
              <a:t>struct</a:t>
            </a:r>
            <a:r>
              <a:rPr lang="en-US" altLang="en-US" sz="1800" dirty="0">
                <a:latin typeface="Courier New" pitchFamily="49" charset="0"/>
              </a:rPr>
              <a:t> </a:t>
            </a:r>
            <a:r>
              <a:rPr lang="en-US" altLang="en-US" sz="1800" dirty="0" err="1">
                <a:latin typeface="Courier New" pitchFamily="49" charset="0"/>
              </a:rPr>
              <a:t>sockaddr_in</a:t>
            </a:r>
            <a:r>
              <a:rPr lang="en-US" altLang="en-US" sz="1800" dirty="0">
                <a:latin typeface="Courier New" pitchFamily="49" charset="0"/>
              </a:rPr>
              <a:t> </a:t>
            </a:r>
            <a:r>
              <a:rPr lang="en-US" altLang="en-US" sz="1800" dirty="0" err="1">
                <a:latin typeface="Courier New" pitchFamily="49" charset="0"/>
              </a:rPr>
              <a:t>srv</a:t>
            </a:r>
            <a:r>
              <a:rPr lang="en-US" altLang="en-US" sz="1800" dirty="0">
                <a:latin typeface="Courier New" pitchFamily="49" charset="0"/>
              </a:rPr>
              <a:t>;</a:t>
            </a:r>
          </a:p>
          <a:p>
            <a:r>
              <a:rPr lang="en-US" altLang="en-US" sz="1800" dirty="0">
                <a:latin typeface="Courier New" pitchFamily="49" charset="0"/>
              </a:rPr>
              <a:t>char *t = </a:t>
            </a:r>
            <a:r>
              <a:rPr lang="en-US" altLang="en-US" sz="1800" b="1" dirty="0" err="1">
                <a:solidFill>
                  <a:srgbClr val="CC0000"/>
                </a:solidFill>
                <a:latin typeface="Courier New" pitchFamily="49" charset="0"/>
              </a:rPr>
              <a:t>inet_ntoa</a:t>
            </a:r>
            <a:r>
              <a:rPr lang="en-US" altLang="en-US" sz="1800" b="1" dirty="0">
                <a:solidFill>
                  <a:srgbClr val="CC0000"/>
                </a:solidFill>
                <a:latin typeface="Courier New" pitchFamily="49" charset="0"/>
              </a:rPr>
              <a:t>(</a:t>
            </a:r>
            <a:r>
              <a:rPr lang="en-US" altLang="en-US" sz="1800" b="1" dirty="0" err="1">
                <a:solidFill>
                  <a:srgbClr val="CC0000"/>
                </a:solidFill>
                <a:latin typeface="Courier New" pitchFamily="49" charset="0"/>
              </a:rPr>
              <a:t>srv.sin_addr</a:t>
            </a:r>
            <a:r>
              <a:rPr lang="en-US" altLang="en-US" sz="1800" b="1" dirty="0">
                <a:solidFill>
                  <a:srgbClr val="CC0000"/>
                </a:solidFill>
                <a:latin typeface="Courier New" pitchFamily="49" charset="0"/>
              </a:rPr>
              <a:t>);</a:t>
            </a:r>
            <a:endParaRPr lang="en-US" altLang="en-US" sz="1800" dirty="0">
              <a:latin typeface="Courier New" pitchFamily="49" charset="0"/>
            </a:endParaRPr>
          </a:p>
          <a:p>
            <a:r>
              <a:rPr lang="en-US" altLang="en-US" sz="1800" dirty="0">
                <a:latin typeface="Courier New" pitchFamily="49" charset="0"/>
              </a:rPr>
              <a:t>if(t == 0) {</a:t>
            </a:r>
          </a:p>
          <a:p>
            <a:r>
              <a:rPr lang="en-US" altLang="en-US" sz="1800" dirty="0">
                <a:latin typeface="Courier New" pitchFamily="49" charset="0"/>
              </a:rPr>
              <a:t>	</a:t>
            </a:r>
            <a:r>
              <a:rPr lang="en-US" altLang="en-US" sz="1800" dirty="0" err="1">
                <a:latin typeface="Courier New" pitchFamily="49" charset="0"/>
              </a:rPr>
              <a:t>fprintf</a:t>
            </a:r>
            <a:r>
              <a:rPr lang="en-US" altLang="en-US" sz="1800" dirty="0">
                <a:latin typeface="Courier New" pitchFamily="49" charset="0"/>
              </a:rPr>
              <a:t>(</a:t>
            </a:r>
            <a:r>
              <a:rPr lang="en-US" altLang="en-US" sz="1800" dirty="0" err="1">
                <a:latin typeface="Courier New" pitchFamily="49" charset="0"/>
              </a:rPr>
              <a:t>stderr</a:t>
            </a:r>
            <a:r>
              <a:rPr lang="en-US" altLang="en-US" sz="1800" dirty="0">
                <a:latin typeface="Courier New" pitchFamily="49" charset="0"/>
              </a:rPr>
              <a:t>, “</a:t>
            </a:r>
            <a:r>
              <a:rPr lang="en-US" altLang="en-US" sz="1800" dirty="0" err="1">
                <a:latin typeface="Courier New" pitchFamily="49" charset="0"/>
              </a:rPr>
              <a:t>inet_ntoa</a:t>
            </a:r>
            <a:r>
              <a:rPr lang="en-US" altLang="en-US" sz="1800" dirty="0">
                <a:latin typeface="Courier New" pitchFamily="49" charset="0"/>
              </a:rPr>
              <a:t> failed!\n”); exit(1);</a:t>
            </a:r>
          </a:p>
          <a:p>
            <a:r>
              <a:rPr lang="en-US" altLang="en-US" sz="1800" dirty="0">
                <a:latin typeface="Courier New" pitchFamily="49" charset="0"/>
              </a:rPr>
              <a:t>}</a:t>
            </a:r>
          </a:p>
        </p:txBody>
      </p:sp>
      <mc:AlternateContent xmlns:mc="http://schemas.openxmlformats.org/markup-compatibility/2006">
        <mc:Choice xmlns="" xmlns:p14="http://schemas.microsoft.com/office/powerpoint/2010/main" Requires="p14">
          <p:contentPart p14:bwMode="auto" r:id="rId2">
            <p14:nvContentPartPr>
              <p14:cNvPr id="4" name="Ink 3"/>
              <p14:cNvContentPartPr/>
              <p14:nvPr/>
            </p14:nvContentPartPr>
            <p14:xfrm>
              <a:off x="6290640" y="1185480"/>
              <a:ext cx="95400" cy="61560"/>
            </p14:xfrm>
          </p:contentPart>
        </mc:Choice>
        <mc:Fallback>
          <p:pic>
            <p:nvPicPr>
              <p:cNvPr id="4" name="Ink 3"/>
              <p:cNvPicPr/>
              <p:nvPr/>
            </p:nvPicPr>
            <p:blipFill>
              <a:blip r:embed="rId3" cstate="print"/>
              <a:stretch>
                <a:fillRect/>
              </a:stretch>
            </p:blipFill>
            <p:spPr>
              <a:xfrm>
                <a:off x="6277320" y="1175760"/>
                <a:ext cx="118440" cy="85680"/>
              </a:xfrm>
              <a:prstGeom prst="rect">
                <a:avLst/>
              </a:prstGeom>
            </p:spPr>
          </p:pic>
        </mc:Fallback>
      </mc:AlternateContent>
    </p:spTree>
    <p:extLst>
      <p:ext uri="{BB962C8B-B14F-4D97-AF65-F5344CB8AC3E}">
        <p14:creationId xmlns="" xmlns:p14="http://schemas.microsoft.com/office/powerpoint/2010/main" val="238356641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Translating Names to Addresses</a:t>
            </a:r>
            <a:endParaRPr lang="en-IN" dirty="0"/>
          </a:p>
        </p:txBody>
      </p:sp>
      <p:sp>
        <p:nvSpPr>
          <p:cNvPr id="3" name="Content Placeholder 2"/>
          <p:cNvSpPr>
            <a:spLocks noGrp="1"/>
          </p:cNvSpPr>
          <p:nvPr>
            <p:ph idx="1"/>
          </p:nvPr>
        </p:nvSpPr>
        <p:spPr/>
        <p:txBody>
          <a:bodyPr/>
          <a:lstStyle/>
          <a:p>
            <a:pPr>
              <a:lnSpc>
                <a:spcPct val="90000"/>
              </a:lnSpc>
            </a:pPr>
            <a:r>
              <a:rPr lang="en-US" altLang="en-US" dirty="0" err="1"/>
              <a:t>Gethostbyname</a:t>
            </a:r>
            <a:r>
              <a:rPr lang="en-US" altLang="en-US" dirty="0"/>
              <a:t> provides interface to DNS</a:t>
            </a:r>
          </a:p>
          <a:p>
            <a:pPr>
              <a:lnSpc>
                <a:spcPct val="90000"/>
              </a:lnSpc>
            </a:pPr>
            <a:r>
              <a:rPr lang="en-US" altLang="en-US" dirty="0"/>
              <a:t>Additional useful calls</a:t>
            </a:r>
          </a:p>
          <a:p>
            <a:pPr lvl="1">
              <a:lnSpc>
                <a:spcPct val="90000"/>
              </a:lnSpc>
            </a:pPr>
            <a:r>
              <a:rPr lang="en-US" altLang="en-US" sz="1600" dirty="0" err="1"/>
              <a:t>Gethostbyaddr</a:t>
            </a:r>
            <a:r>
              <a:rPr lang="en-US" altLang="en-US" sz="1600" dirty="0"/>
              <a:t> – returns </a:t>
            </a:r>
            <a:r>
              <a:rPr lang="en-US" altLang="en-US" sz="1600" dirty="0" err="1"/>
              <a:t>hostent</a:t>
            </a:r>
            <a:r>
              <a:rPr lang="en-US" altLang="en-US" sz="1600" dirty="0"/>
              <a:t> given </a:t>
            </a:r>
            <a:r>
              <a:rPr lang="en-US" altLang="en-US" sz="1600" dirty="0" err="1"/>
              <a:t>sockaddr_in</a:t>
            </a:r>
            <a:endParaRPr lang="en-US" altLang="en-US" sz="1600" dirty="0"/>
          </a:p>
          <a:p>
            <a:pPr lvl="1">
              <a:lnSpc>
                <a:spcPct val="90000"/>
              </a:lnSpc>
            </a:pPr>
            <a:r>
              <a:rPr lang="en-US" altLang="en-US" sz="1600" dirty="0" err="1"/>
              <a:t>Getservbyname</a:t>
            </a:r>
            <a:endParaRPr lang="en-US" altLang="en-US" sz="1600" dirty="0"/>
          </a:p>
          <a:p>
            <a:pPr lvl="2">
              <a:lnSpc>
                <a:spcPct val="90000"/>
              </a:lnSpc>
            </a:pPr>
            <a:r>
              <a:rPr lang="en-US" altLang="en-US" dirty="0"/>
              <a:t>Used to get service description (typically port number)</a:t>
            </a:r>
          </a:p>
          <a:p>
            <a:pPr lvl="2">
              <a:lnSpc>
                <a:spcPct val="90000"/>
              </a:lnSpc>
            </a:pPr>
            <a:r>
              <a:rPr lang="en-US" altLang="en-US" dirty="0"/>
              <a:t>Returns </a:t>
            </a:r>
            <a:r>
              <a:rPr lang="en-US" altLang="en-US" dirty="0" err="1"/>
              <a:t>servent</a:t>
            </a:r>
            <a:r>
              <a:rPr lang="en-US" altLang="en-US" dirty="0"/>
              <a:t> based on name</a:t>
            </a:r>
          </a:p>
          <a:p>
            <a:endParaRPr lang="en-IN" dirty="0"/>
          </a:p>
        </p:txBody>
      </p:sp>
      <p:sp>
        <p:nvSpPr>
          <p:cNvPr id="4" name="Text Box 1028"/>
          <p:cNvSpPr txBox="1">
            <a:spLocks noChangeArrowheads="1"/>
          </p:cNvSpPr>
          <p:nvPr/>
        </p:nvSpPr>
        <p:spPr bwMode="auto">
          <a:xfrm>
            <a:off x="396240" y="2561122"/>
            <a:ext cx="8382000" cy="2308058"/>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r>
              <a:rPr lang="en-US" altLang="en-US" sz="1600" dirty="0">
                <a:latin typeface="Courier New" pitchFamily="49" charset="0"/>
              </a:rPr>
              <a:t>#include &lt;</a:t>
            </a:r>
            <a:r>
              <a:rPr lang="en-US" altLang="en-US" sz="1600" dirty="0" err="1">
                <a:latin typeface="Courier New" pitchFamily="49" charset="0"/>
              </a:rPr>
              <a:t>netdb.h</a:t>
            </a:r>
            <a:r>
              <a:rPr lang="en-US" altLang="en-US" sz="1600" dirty="0">
                <a:latin typeface="Courier New" pitchFamily="49" charset="0"/>
              </a:rPr>
              <a:t>&gt;</a:t>
            </a:r>
          </a:p>
          <a:p>
            <a:endParaRPr lang="en-US" altLang="en-US" sz="1600" dirty="0">
              <a:latin typeface="Courier New" pitchFamily="49" charset="0"/>
            </a:endParaRPr>
          </a:p>
          <a:p>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hostent</a:t>
            </a:r>
            <a:r>
              <a:rPr lang="en-US" altLang="en-US" sz="1600" dirty="0">
                <a:latin typeface="Courier New" pitchFamily="49" charset="0"/>
              </a:rPr>
              <a:t> *</a:t>
            </a:r>
            <a:r>
              <a:rPr lang="en-US" altLang="en-US" sz="1600" dirty="0" err="1">
                <a:latin typeface="Courier New" pitchFamily="49" charset="0"/>
              </a:rPr>
              <a:t>hp</a:t>
            </a:r>
            <a:r>
              <a:rPr lang="en-US" altLang="en-US" sz="1600" dirty="0">
                <a:latin typeface="Courier New" pitchFamily="49" charset="0"/>
              </a:rPr>
              <a:t>; /*</a:t>
            </a:r>
            <a:r>
              <a:rPr lang="en-US" altLang="en-US" sz="1600" dirty="0" err="1">
                <a:latin typeface="Courier New" pitchFamily="49" charset="0"/>
              </a:rPr>
              <a:t>ptr</a:t>
            </a:r>
            <a:r>
              <a:rPr lang="en-US" altLang="en-US" sz="1600" dirty="0">
                <a:latin typeface="Courier New" pitchFamily="49" charset="0"/>
              </a:rPr>
              <a:t> to host info for remote*/ </a:t>
            </a:r>
          </a:p>
          <a:p>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sockaddr_in</a:t>
            </a:r>
            <a:r>
              <a:rPr lang="en-US" altLang="en-US" sz="1600" dirty="0">
                <a:latin typeface="Courier New" pitchFamily="49" charset="0"/>
              </a:rPr>
              <a:t> </a:t>
            </a:r>
            <a:r>
              <a:rPr lang="en-US" altLang="en-US" sz="1600" dirty="0" err="1">
                <a:latin typeface="Courier New" pitchFamily="49" charset="0"/>
              </a:rPr>
              <a:t>peeraddr</a:t>
            </a:r>
            <a:r>
              <a:rPr lang="en-US" altLang="en-US" sz="1600" dirty="0">
                <a:latin typeface="Courier New" pitchFamily="49" charset="0"/>
              </a:rPr>
              <a:t>;</a:t>
            </a:r>
          </a:p>
          <a:p>
            <a:r>
              <a:rPr lang="en-US" altLang="en-US" sz="1600" dirty="0">
                <a:latin typeface="Courier New" pitchFamily="49" charset="0"/>
              </a:rPr>
              <a:t>char *name = “www.cs.cmu.edu”;</a:t>
            </a:r>
          </a:p>
          <a:p>
            <a:endParaRPr lang="en-US" altLang="en-US" sz="1600" dirty="0">
              <a:latin typeface="Courier New" pitchFamily="49" charset="0"/>
            </a:endParaRPr>
          </a:p>
          <a:p>
            <a:r>
              <a:rPr lang="en-US" altLang="en-US" sz="1600" dirty="0" err="1">
                <a:latin typeface="Courier New" pitchFamily="49" charset="0"/>
              </a:rPr>
              <a:t>peeraddr.sin_family</a:t>
            </a:r>
            <a:r>
              <a:rPr lang="en-US" altLang="en-US" sz="1600" dirty="0">
                <a:latin typeface="Courier New" pitchFamily="49" charset="0"/>
              </a:rPr>
              <a:t> = AF_INET; </a:t>
            </a:r>
          </a:p>
          <a:p>
            <a:r>
              <a:rPr lang="en-US" altLang="en-US" sz="1600" dirty="0" err="1">
                <a:latin typeface="Courier New" pitchFamily="49" charset="0"/>
              </a:rPr>
              <a:t>hp</a:t>
            </a:r>
            <a:r>
              <a:rPr lang="en-US" altLang="en-US" sz="1600" dirty="0">
                <a:latin typeface="Courier New" pitchFamily="49" charset="0"/>
              </a:rPr>
              <a:t> = </a:t>
            </a:r>
            <a:r>
              <a:rPr lang="en-US" altLang="en-US" sz="1600" dirty="0" err="1">
                <a:latin typeface="Courier New" pitchFamily="49" charset="0"/>
              </a:rPr>
              <a:t>gethostbyname</a:t>
            </a:r>
            <a:r>
              <a:rPr lang="en-US" altLang="en-US" sz="1600" dirty="0">
                <a:latin typeface="Courier New" pitchFamily="49" charset="0"/>
              </a:rPr>
              <a:t>(name) </a:t>
            </a:r>
          </a:p>
          <a:p>
            <a:r>
              <a:rPr lang="en-US" altLang="en-US" sz="1600" dirty="0" err="1">
                <a:latin typeface="Courier New" pitchFamily="49" charset="0"/>
              </a:rPr>
              <a:t>peeraddr.sin_addr.s_addr</a:t>
            </a:r>
            <a:r>
              <a:rPr lang="en-US" altLang="en-US" sz="1600" dirty="0">
                <a:latin typeface="Courier New" pitchFamily="49" charset="0"/>
              </a:rPr>
              <a:t> = ((</a:t>
            </a:r>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in_addr</a:t>
            </a:r>
            <a:r>
              <a:rPr lang="en-US" altLang="en-US" sz="1600" dirty="0">
                <a:latin typeface="Courier New" pitchFamily="49" charset="0"/>
              </a:rPr>
              <a:t>*)(</a:t>
            </a:r>
            <a:r>
              <a:rPr lang="en-US" altLang="en-US" sz="1600" dirty="0" err="1">
                <a:latin typeface="Courier New" pitchFamily="49" charset="0"/>
              </a:rPr>
              <a:t>hp</a:t>
            </a:r>
            <a:r>
              <a:rPr lang="en-US" altLang="en-US" sz="1600" dirty="0">
                <a:latin typeface="Courier New" pitchFamily="49" charset="0"/>
              </a:rPr>
              <a:t>-&gt;</a:t>
            </a:r>
            <a:r>
              <a:rPr lang="en-US" altLang="en-US" sz="1600" dirty="0" err="1">
                <a:latin typeface="Courier New" pitchFamily="49" charset="0"/>
              </a:rPr>
              <a:t>h_addr</a:t>
            </a:r>
            <a:r>
              <a:rPr lang="en-US" altLang="en-US" sz="1600" dirty="0">
                <a:latin typeface="Courier New" pitchFamily="49" charset="0"/>
              </a:rPr>
              <a:t>))-&gt;</a:t>
            </a:r>
            <a:r>
              <a:rPr lang="en-US" altLang="en-US" sz="1600" dirty="0" err="1">
                <a:latin typeface="Courier New" pitchFamily="49" charset="0"/>
              </a:rPr>
              <a:t>s_addr</a:t>
            </a:r>
            <a:r>
              <a:rPr lang="en-US" altLang="en-US" sz="1600" dirty="0">
                <a:latin typeface="Courier New" pitchFamily="49" charset="0"/>
              </a:rPr>
              <a:t>;</a:t>
            </a:r>
          </a:p>
        </p:txBody>
      </p:sp>
    </p:spTree>
    <p:extLst>
      <p:ext uri="{BB962C8B-B14F-4D97-AF65-F5344CB8AC3E}">
        <p14:creationId xmlns="" xmlns:p14="http://schemas.microsoft.com/office/powerpoint/2010/main" val="36630354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I/O: connect()</a:t>
            </a:r>
            <a:endParaRPr lang="en-IN" dirty="0"/>
          </a:p>
        </p:txBody>
      </p:sp>
      <p:sp>
        <p:nvSpPr>
          <p:cNvPr id="3" name="Content Placeholder 2"/>
          <p:cNvSpPr>
            <a:spLocks noGrp="1"/>
          </p:cNvSpPr>
          <p:nvPr>
            <p:ph idx="1"/>
          </p:nvPr>
        </p:nvSpPr>
        <p:spPr/>
        <p:txBody>
          <a:bodyPr/>
          <a:lstStyle/>
          <a:p>
            <a:r>
              <a:rPr lang="en-US" altLang="en-US" b="1" i="1" dirty="0"/>
              <a:t>connect</a:t>
            </a:r>
            <a:r>
              <a:rPr lang="en-US" altLang="en-US" dirty="0"/>
              <a:t> allows a client to connect to a server...</a:t>
            </a:r>
          </a:p>
          <a:p>
            <a:endParaRPr lang="en-IN" dirty="0"/>
          </a:p>
        </p:txBody>
      </p:sp>
      <p:sp>
        <p:nvSpPr>
          <p:cNvPr id="5" name="Text Box 4"/>
          <p:cNvSpPr txBox="1">
            <a:spLocks noChangeArrowheads="1"/>
          </p:cNvSpPr>
          <p:nvPr/>
        </p:nvSpPr>
        <p:spPr bwMode="auto">
          <a:xfrm>
            <a:off x="829644" y="979972"/>
            <a:ext cx="8382000" cy="4277828"/>
          </a:xfrm>
          <a:prstGeom prst="rect">
            <a:avLst/>
          </a:prstGeom>
          <a:noFill/>
          <a:ln w="9525">
            <a:no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r>
              <a:rPr lang="en-US" altLang="en-US" sz="1600" dirty="0" err="1">
                <a:latin typeface="Courier New" pitchFamily="49" charset="0"/>
              </a:rPr>
              <a:t>int</a:t>
            </a:r>
            <a:r>
              <a:rPr lang="en-US" altLang="en-US" sz="1600" dirty="0">
                <a:latin typeface="Courier New" pitchFamily="49" charset="0"/>
              </a:rPr>
              <a:t> </a:t>
            </a:r>
            <a:r>
              <a:rPr lang="en-US" altLang="en-US" sz="1600" dirty="0" err="1">
                <a:latin typeface="Courier New" pitchFamily="49" charset="0"/>
              </a:rPr>
              <a:t>fd</a:t>
            </a:r>
            <a:r>
              <a:rPr lang="en-US" altLang="en-US" sz="1600" dirty="0">
                <a:latin typeface="Courier New" pitchFamily="49" charset="0"/>
              </a:rPr>
              <a:t>;				/* socket descriptor */</a:t>
            </a:r>
          </a:p>
          <a:p>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sockaddr_in</a:t>
            </a:r>
            <a:r>
              <a:rPr lang="en-US" altLang="en-US" sz="1600" dirty="0">
                <a:latin typeface="Courier New" pitchFamily="49" charset="0"/>
              </a:rPr>
              <a:t> </a:t>
            </a:r>
            <a:r>
              <a:rPr lang="en-US" altLang="en-US" sz="1600" dirty="0" err="1">
                <a:latin typeface="Courier New" pitchFamily="49" charset="0"/>
              </a:rPr>
              <a:t>srv</a:t>
            </a:r>
            <a:r>
              <a:rPr lang="en-US" altLang="en-US" sz="1600" dirty="0">
                <a:latin typeface="Courier New" pitchFamily="49" charset="0"/>
              </a:rPr>
              <a:t>;		/* used by connect() */</a:t>
            </a:r>
          </a:p>
          <a:p>
            <a:endParaRPr lang="en-US" altLang="en-US" sz="1600" dirty="0">
              <a:latin typeface="Courier New" pitchFamily="49" charset="0"/>
            </a:endParaRPr>
          </a:p>
          <a:p>
            <a:r>
              <a:rPr lang="en-US" altLang="en-US" sz="1600" dirty="0">
                <a:latin typeface="Courier New" pitchFamily="49" charset="0"/>
              </a:rPr>
              <a:t>/* create the socket */</a:t>
            </a:r>
          </a:p>
          <a:p>
            <a:endParaRPr lang="en-US" altLang="en-US" sz="1600" dirty="0">
              <a:latin typeface="Courier New" pitchFamily="49" charset="0"/>
            </a:endParaRPr>
          </a:p>
          <a:p>
            <a:r>
              <a:rPr lang="en-US" altLang="en-US" sz="1600" dirty="0">
                <a:latin typeface="Courier New" pitchFamily="49" charset="0"/>
              </a:rPr>
              <a:t>/* connect: use the Internet address family */</a:t>
            </a:r>
          </a:p>
          <a:p>
            <a:r>
              <a:rPr lang="en-US" altLang="en-US" sz="1600" dirty="0" err="1">
                <a:latin typeface="Courier New" pitchFamily="49" charset="0"/>
              </a:rPr>
              <a:t>srv.sin_family</a:t>
            </a:r>
            <a:r>
              <a:rPr lang="en-US" altLang="en-US" sz="1600" dirty="0">
                <a:latin typeface="Courier New" pitchFamily="49" charset="0"/>
              </a:rPr>
              <a:t> = </a:t>
            </a:r>
            <a:r>
              <a:rPr lang="en-US" altLang="en-US" sz="1600" b="1" dirty="0">
                <a:solidFill>
                  <a:srgbClr val="CC0000"/>
                </a:solidFill>
                <a:latin typeface="Courier New" pitchFamily="49" charset="0"/>
              </a:rPr>
              <a:t>AF_INET</a:t>
            </a:r>
            <a:r>
              <a:rPr lang="en-US" altLang="en-US" sz="1600" dirty="0">
                <a:latin typeface="Courier New" pitchFamily="49" charset="0"/>
              </a:rPr>
              <a:t>;</a:t>
            </a:r>
          </a:p>
          <a:p>
            <a:endParaRPr lang="en-US" altLang="en-US" sz="1600" dirty="0">
              <a:latin typeface="Courier New" pitchFamily="49" charset="0"/>
            </a:endParaRPr>
          </a:p>
          <a:p>
            <a:r>
              <a:rPr lang="en-US" altLang="en-US" sz="1600" dirty="0">
                <a:latin typeface="Courier New" pitchFamily="49" charset="0"/>
              </a:rPr>
              <a:t>/* connect: socket ‘</a:t>
            </a:r>
            <a:r>
              <a:rPr lang="en-US" altLang="en-US" sz="1600" dirty="0" err="1">
                <a:latin typeface="Courier New" pitchFamily="49" charset="0"/>
              </a:rPr>
              <a:t>fd</a:t>
            </a:r>
            <a:r>
              <a:rPr lang="en-US" altLang="en-US" sz="1600" dirty="0">
                <a:latin typeface="Courier New" pitchFamily="49" charset="0"/>
              </a:rPr>
              <a:t>’ to port 80 */</a:t>
            </a:r>
          </a:p>
          <a:p>
            <a:r>
              <a:rPr lang="en-US" altLang="en-US" sz="1600" dirty="0" err="1">
                <a:latin typeface="Courier New" pitchFamily="49" charset="0"/>
              </a:rPr>
              <a:t>srv.sin_port</a:t>
            </a:r>
            <a:r>
              <a:rPr lang="en-US" altLang="en-US" sz="1600" dirty="0">
                <a:latin typeface="Courier New" pitchFamily="49" charset="0"/>
              </a:rPr>
              <a:t> = </a:t>
            </a:r>
            <a:r>
              <a:rPr lang="en-US" altLang="en-US" sz="1600" dirty="0" err="1">
                <a:latin typeface="Courier New" pitchFamily="49" charset="0"/>
              </a:rPr>
              <a:t>htons</a:t>
            </a:r>
            <a:r>
              <a:rPr lang="en-US" altLang="en-US" sz="1600" dirty="0">
                <a:latin typeface="Courier New" pitchFamily="49" charset="0"/>
              </a:rPr>
              <a:t>(</a:t>
            </a:r>
            <a:r>
              <a:rPr lang="en-US" altLang="en-US" sz="1600" b="1" dirty="0">
                <a:solidFill>
                  <a:srgbClr val="CC0000"/>
                </a:solidFill>
                <a:latin typeface="Courier New" pitchFamily="49" charset="0"/>
              </a:rPr>
              <a:t>80</a:t>
            </a:r>
            <a:r>
              <a:rPr lang="en-US" altLang="en-US" sz="1600" dirty="0">
                <a:latin typeface="Courier New" pitchFamily="49" charset="0"/>
              </a:rPr>
              <a:t>);</a:t>
            </a:r>
          </a:p>
          <a:p>
            <a:endParaRPr lang="en-US" altLang="en-US" sz="1600" dirty="0">
              <a:latin typeface="Courier New" pitchFamily="49" charset="0"/>
            </a:endParaRPr>
          </a:p>
          <a:p>
            <a:r>
              <a:rPr lang="en-US" altLang="en-US" sz="1600" dirty="0">
                <a:latin typeface="Courier New" pitchFamily="49" charset="0"/>
              </a:rPr>
              <a:t>/* connect: connect to IP Address “128.2.35.50” */</a:t>
            </a:r>
          </a:p>
          <a:p>
            <a:r>
              <a:rPr lang="en-US" altLang="en-US" sz="1600" dirty="0" err="1">
                <a:latin typeface="Courier New" pitchFamily="49" charset="0"/>
              </a:rPr>
              <a:t>srv.sin_addr.s_addr</a:t>
            </a:r>
            <a:r>
              <a:rPr lang="en-US" altLang="en-US" sz="1600" dirty="0">
                <a:latin typeface="Courier New" pitchFamily="49" charset="0"/>
              </a:rPr>
              <a:t> = </a:t>
            </a:r>
            <a:r>
              <a:rPr lang="en-US" altLang="en-US" sz="1600" b="1" dirty="0" err="1">
                <a:solidFill>
                  <a:srgbClr val="CC0000"/>
                </a:solidFill>
                <a:latin typeface="Courier New" pitchFamily="49" charset="0"/>
              </a:rPr>
              <a:t>inet_addr</a:t>
            </a:r>
            <a:r>
              <a:rPr lang="en-US" altLang="en-US" sz="1600" dirty="0">
                <a:latin typeface="Courier New" pitchFamily="49" charset="0"/>
              </a:rPr>
              <a:t>(“</a:t>
            </a:r>
            <a:r>
              <a:rPr lang="en-US" altLang="en-US" sz="1600" b="1" dirty="0">
                <a:solidFill>
                  <a:srgbClr val="CC0000"/>
                </a:solidFill>
                <a:latin typeface="Courier New" pitchFamily="49" charset="0"/>
              </a:rPr>
              <a:t>128.2.35.50</a:t>
            </a:r>
            <a:r>
              <a:rPr lang="en-US" altLang="en-US" sz="1600" dirty="0">
                <a:latin typeface="Courier New" pitchFamily="49" charset="0"/>
              </a:rPr>
              <a:t>”);</a:t>
            </a:r>
          </a:p>
          <a:p>
            <a:endParaRPr lang="en-US" altLang="en-US" sz="1600" dirty="0">
              <a:latin typeface="Courier New" pitchFamily="49" charset="0"/>
            </a:endParaRPr>
          </a:p>
          <a:p>
            <a:r>
              <a:rPr lang="en-US" altLang="en-US" sz="1600" dirty="0">
                <a:latin typeface="Courier New" pitchFamily="49" charset="0"/>
              </a:rPr>
              <a:t>if(</a:t>
            </a:r>
            <a:r>
              <a:rPr lang="en-US" altLang="en-US" sz="1600" b="1" dirty="0">
                <a:solidFill>
                  <a:srgbClr val="CC0000"/>
                </a:solidFill>
                <a:latin typeface="Courier New" pitchFamily="49" charset="0"/>
              </a:rPr>
              <a:t>connect</a:t>
            </a:r>
            <a:r>
              <a:rPr lang="en-US" altLang="en-US" sz="1600" dirty="0">
                <a:latin typeface="Courier New" pitchFamily="49" charset="0"/>
              </a:rPr>
              <a:t>(</a:t>
            </a:r>
            <a:r>
              <a:rPr lang="en-US" altLang="en-US" sz="1600" dirty="0" err="1">
                <a:latin typeface="Courier New" pitchFamily="49" charset="0"/>
              </a:rPr>
              <a:t>fd</a:t>
            </a:r>
            <a:r>
              <a:rPr lang="en-US" altLang="en-US" sz="1600" dirty="0">
                <a:latin typeface="Courier New" pitchFamily="49" charset="0"/>
              </a:rPr>
              <a:t>, (</a:t>
            </a:r>
            <a:r>
              <a:rPr lang="en-US" altLang="en-US" sz="1600" dirty="0" err="1">
                <a:latin typeface="Courier New" pitchFamily="49" charset="0"/>
              </a:rPr>
              <a:t>struct</a:t>
            </a:r>
            <a:r>
              <a:rPr lang="en-US" altLang="en-US" sz="1600" dirty="0">
                <a:latin typeface="Courier New" pitchFamily="49" charset="0"/>
              </a:rPr>
              <a:t> </a:t>
            </a:r>
            <a:r>
              <a:rPr lang="en-US" altLang="en-US" sz="1600" dirty="0" err="1">
                <a:latin typeface="Courier New" pitchFamily="49" charset="0"/>
              </a:rPr>
              <a:t>sockaddr</a:t>
            </a:r>
            <a:r>
              <a:rPr lang="en-US" altLang="en-US" sz="1600" dirty="0">
                <a:latin typeface="Courier New" pitchFamily="49" charset="0"/>
              </a:rPr>
              <a:t>*) &amp;</a:t>
            </a:r>
            <a:r>
              <a:rPr lang="en-US" altLang="en-US" sz="1600" dirty="0" err="1">
                <a:latin typeface="Courier New" pitchFamily="49" charset="0"/>
              </a:rPr>
              <a:t>srv</a:t>
            </a:r>
            <a:r>
              <a:rPr lang="en-US" altLang="en-US" sz="1600" dirty="0">
                <a:latin typeface="Courier New" pitchFamily="49" charset="0"/>
              </a:rPr>
              <a:t>, </a:t>
            </a:r>
            <a:r>
              <a:rPr lang="en-US" altLang="en-US" sz="1600" dirty="0" err="1">
                <a:latin typeface="Courier New" pitchFamily="49" charset="0"/>
              </a:rPr>
              <a:t>sizeof</a:t>
            </a:r>
            <a:r>
              <a:rPr lang="en-US" altLang="en-US" sz="1600" dirty="0">
                <a:latin typeface="Courier New" pitchFamily="49" charset="0"/>
              </a:rPr>
              <a:t>(</a:t>
            </a:r>
            <a:r>
              <a:rPr lang="en-US" altLang="en-US" sz="1600" dirty="0" err="1">
                <a:latin typeface="Courier New" pitchFamily="49" charset="0"/>
              </a:rPr>
              <a:t>srv</a:t>
            </a:r>
            <a:r>
              <a:rPr lang="en-US" altLang="en-US" sz="1600" dirty="0">
                <a:latin typeface="Courier New" pitchFamily="49" charset="0"/>
              </a:rPr>
              <a:t>)) &lt; 0) {</a:t>
            </a:r>
          </a:p>
          <a:p>
            <a:r>
              <a:rPr lang="en-US" altLang="en-US" sz="1600" dirty="0">
                <a:latin typeface="Courier New" pitchFamily="49" charset="0"/>
              </a:rPr>
              <a:t>	</a:t>
            </a:r>
            <a:r>
              <a:rPr lang="en-US" altLang="en-US" sz="1600" dirty="0" err="1">
                <a:latin typeface="Courier New" pitchFamily="49" charset="0"/>
              </a:rPr>
              <a:t>perror</a:t>
            </a:r>
            <a:r>
              <a:rPr lang="en-US" altLang="en-US" sz="1600" dirty="0">
                <a:latin typeface="Courier New" pitchFamily="49" charset="0"/>
              </a:rPr>
              <a:t>(”connect"); exit(1);</a:t>
            </a:r>
          </a:p>
          <a:p>
            <a:r>
              <a:rPr lang="en-US" altLang="en-US" sz="1600" dirty="0">
                <a:latin typeface="Courier New" pitchFamily="49" charset="0"/>
              </a:rPr>
              <a:t>}</a:t>
            </a:r>
          </a:p>
        </p:txBody>
      </p:sp>
    </p:spTree>
    <p:extLst>
      <p:ext uri="{BB962C8B-B14F-4D97-AF65-F5344CB8AC3E}">
        <p14:creationId xmlns="" xmlns:p14="http://schemas.microsoft.com/office/powerpoint/2010/main" val="114141789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altLang="en-US" dirty="0"/>
              <a:t>Socket I/O: write()</a:t>
            </a:r>
            <a:endParaRPr lang="en-IN" dirty="0"/>
          </a:p>
        </p:txBody>
      </p:sp>
      <p:sp>
        <p:nvSpPr>
          <p:cNvPr id="3" name="Content Placeholder 2"/>
          <p:cNvSpPr>
            <a:spLocks noGrp="1"/>
          </p:cNvSpPr>
          <p:nvPr>
            <p:ph idx="1"/>
          </p:nvPr>
        </p:nvSpPr>
        <p:spPr/>
        <p:txBody>
          <a:bodyPr/>
          <a:lstStyle/>
          <a:p>
            <a:r>
              <a:rPr lang="en-US" altLang="en-US" b="1" i="1" dirty="0"/>
              <a:t>write</a:t>
            </a:r>
            <a:r>
              <a:rPr lang="en-US" altLang="en-US" dirty="0"/>
              <a:t> can be used with a socket</a:t>
            </a:r>
          </a:p>
          <a:p>
            <a:endParaRPr lang="en-IN" dirty="0"/>
          </a:p>
        </p:txBody>
      </p:sp>
      <p:sp>
        <p:nvSpPr>
          <p:cNvPr id="4" name="Text Box 4"/>
          <p:cNvSpPr txBox="1">
            <a:spLocks noChangeArrowheads="1"/>
          </p:cNvSpPr>
          <p:nvPr/>
        </p:nvSpPr>
        <p:spPr bwMode="auto">
          <a:xfrm>
            <a:off x="490220" y="1114998"/>
            <a:ext cx="8229600" cy="3970051"/>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1176" tIns="45588" rIns="91176" bIns="45588">
            <a:spAutoFit/>
          </a:bodyPr>
          <a:lstStyle>
            <a:lvl1pPr defTabSz="820738" eaLnBrk="0" hangingPunct="0">
              <a:defRPr sz="2400">
                <a:solidFill>
                  <a:schemeClr val="tx1"/>
                </a:solidFill>
                <a:latin typeface="Times New Roman" charset="0"/>
              </a:defRPr>
            </a:lvl1pPr>
            <a:lvl2pPr marL="409575" defTabSz="820738" eaLnBrk="0" hangingPunct="0">
              <a:defRPr sz="2400">
                <a:solidFill>
                  <a:schemeClr val="tx1"/>
                </a:solidFill>
                <a:latin typeface="Times New Roman" charset="0"/>
              </a:defRPr>
            </a:lvl2pPr>
            <a:lvl3pPr marL="820738" defTabSz="820738" eaLnBrk="0" hangingPunct="0">
              <a:defRPr sz="2400">
                <a:solidFill>
                  <a:schemeClr val="tx1"/>
                </a:solidFill>
                <a:latin typeface="Times New Roman" charset="0"/>
              </a:defRPr>
            </a:lvl3pPr>
            <a:lvl4pPr marL="1230313" defTabSz="820738" eaLnBrk="0" hangingPunct="0">
              <a:defRPr sz="2400">
                <a:solidFill>
                  <a:schemeClr val="tx1"/>
                </a:solidFill>
                <a:latin typeface="Times New Roman" charset="0"/>
              </a:defRPr>
            </a:lvl4pPr>
            <a:lvl5pPr marL="1641475" defTabSz="820738" eaLnBrk="0" hangingPunct="0">
              <a:defRPr sz="2400">
                <a:solidFill>
                  <a:schemeClr val="tx1"/>
                </a:solidFill>
                <a:latin typeface="Times New Roman" charset="0"/>
              </a:defRPr>
            </a:lvl5pPr>
            <a:lvl6pPr marL="2098675" defTabSz="820738" eaLnBrk="0" fontAlgn="base" hangingPunct="0">
              <a:spcBef>
                <a:spcPct val="0"/>
              </a:spcBef>
              <a:spcAft>
                <a:spcPct val="0"/>
              </a:spcAft>
              <a:defRPr sz="2400">
                <a:solidFill>
                  <a:schemeClr val="tx1"/>
                </a:solidFill>
                <a:latin typeface="Times New Roman" charset="0"/>
              </a:defRPr>
            </a:lvl6pPr>
            <a:lvl7pPr marL="2555875" defTabSz="820738" eaLnBrk="0" fontAlgn="base" hangingPunct="0">
              <a:spcBef>
                <a:spcPct val="0"/>
              </a:spcBef>
              <a:spcAft>
                <a:spcPct val="0"/>
              </a:spcAft>
              <a:defRPr sz="2400">
                <a:solidFill>
                  <a:schemeClr val="tx1"/>
                </a:solidFill>
                <a:latin typeface="Times New Roman" charset="0"/>
              </a:defRPr>
            </a:lvl7pPr>
            <a:lvl8pPr marL="3013075" defTabSz="820738" eaLnBrk="0" fontAlgn="base" hangingPunct="0">
              <a:spcBef>
                <a:spcPct val="0"/>
              </a:spcBef>
              <a:spcAft>
                <a:spcPct val="0"/>
              </a:spcAft>
              <a:defRPr sz="2400">
                <a:solidFill>
                  <a:schemeClr val="tx1"/>
                </a:solidFill>
                <a:latin typeface="Times New Roman" charset="0"/>
              </a:defRPr>
            </a:lvl8pPr>
            <a:lvl9pPr marL="3470275" defTabSz="820738" eaLnBrk="0" fontAlgn="base" hangingPunct="0">
              <a:spcBef>
                <a:spcPct val="0"/>
              </a:spcBef>
              <a:spcAft>
                <a:spcPct val="0"/>
              </a:spcAft>
              <a:defRPr sz="2400">
                <a:solidFill>
                  <a:schemeClr val="tx1"/>
                </a:solidFill>
                <a:latin typeface="Times New Roman" charset="0"/>
              </a:defRPr>
            </a:lvl9pPr>
          </a:lstStyle>
          <a:p>
            <a:r>
              <a:rPr lang="en-US" altLang="en-US" sz="1800" dirty="0" err="1">
                <a:latin typeface="Courier New" pitchFamily="49" charset="0"/>
              </a:rPr>
              <a:t>int</a:t>
            </a:r>
            <a:r>
              <a:rPr lang="en-US" altLang="en-US" sz="1800" dirty="0">
                <a:latin typeface="Courier New" pitchFamily="49" charset="0"/>
              </a:rPr>
              <a:t> </a:t>
            </a:r>
            <a:r>
              <a:rPr lang="en-US" altLang="en-US" sz="1800" dirty="0" err="1">
                <a:latin typeface="Courier New" pitchFamily="49" charset="0"/>
              </a:rPr>
              <a:t>fd</a:t>
            </a:r>
            <a:r>
              <a:rPr lang="en-US" altLang="en-US" sz="1800" dirty="0">
                <a:latin typeface="Courier New" pitchFamily="49" charset="0"/>
              </a:rPr>
              <a:t>;				/* socket descriptor */</a:t>
            </a:r>
          </a:p>
          <a:p>
            <a:r>
              <a:rPr lang="en-US" altLang="en-US" sz="1800" dirty="0" err="1">
                <a:latin typeface="Courier New" pitchFamily="49" charset="0"/>
              </a:rPr>
              <a:t>struct</a:t>
            </a:r>
            <a:r>
              <a:rPr lang="en-US" altLang="en-US" sz="1800" dirty="0">
                <a:latin typeface="Courier New" pitchFamily="49" charset="0"/>
              </a:rPr>
              <a:t> </a:t>
            </a:r>
            <a:r>
              <a:rPr lang="en-US" altLang="en-US" sz="1800" dirty="0" err="1">
                <a:latin typeface="Courier New" pitchFamily="49" charset="0"/>
              </a:rPr>
              <a:t>sockaddr_in</a:t>
            </a:r>
            <a:r>
              <a:rPr lang="en-US" altLang="en-US" sz="1800" dirty="0">
                <a:latin typeface="Courier New" pitchFamily="49" charset="0"/>
              </a:rPr>
              <a:t> </a:t>
            </a:r>
            <a:r>
              <a:rPr lang="en-US" altLang="en-US" sz="1800" dirty="0" err="1">
                <a:latin typeface="Courier New" pitchFamily="49" charset="0"/>
              </a:rPr>
              <a:t>srv</a:t>
            </a:r>
            <a:r>
              <a:rPr lang="en-US" altLang="en-US" sz="1800" dirty="0">
                <a:latin typeface="Courier New" pitchFamily="49" charset="0"/>
              </a:rPr>
              <a:t>;		/* used by connect() */</a:t>
            </a:r>
          </a:p>
          <a:p>
            <a:r>
              <a:rPr lang="en-US" altLang="en-US" sz="1800" dirty="0">
                <a:latin typeface="Courier New" pitchFamily="49" charset="0"/>
              </a:rPr>
              <a:t>char </a:t>
            </a:r>
            <a:r>
              <a:rPr lang="en-US" altLang="en-US" sz="1800" dirty="0" err="1">
                <a:latin typeface="Courier New" pitchFamily="49" charset="0"/>
              </a:rPr>
              <a:t>buf</a:t>
            </a:r>
            <a:r>
              <a:rPr lang="en-US" altLang="en-US" sz="1800" dirty="0">
                <a:latin typeface="Courier New" pitchFamily="49" charset="0"/>
              </a:rPr>
              <a:t>[512];			/* used by write() */</a:t>
            </a:r>
          </a:p>
          <a:p>
            <a:r>
              <a:rPr lang="en-US" altLang="en-US" sz="1800" dirty="0" err="1">
                <a:latin typeface="Courier New" pitchFamily="49" charset="0"/>
              </a:rPr>
              <a:t>int</a:t>
            </a:r>
            <a:r>
              <a:rPr lang="en-US" altLang="en-US" sz="1800" dirty="0">
                <a:latin typeface="Courier New" pitchFamily="49" charset="0"/>
              </a:rPr>
              <a:t> </a:t>
            </a:r>
            <a:r>
              <a:rPr lang="en-US" altLang="en-US" sz="1800" dirty="0" err="1">
                <a:latin typeface="Courier New" pitchFamily="49" charset="0"/>
              </a:rPr>
              <a:t>nbytes</a:t>
            </a:r>
            <a:r>
              <a:rPr lang="en-US" altLang="en-US" sz="1800" dirty="0">
                <a:latin typeface="Courier New" pitchFamily="49" charset="0"/>
              </a:rPr>
              <a:t>;				/* used by write() */</a:t>
            </a:r>
          </a:p>
          <a:p>
            <a:endParaRPr lang="en-US" altLang="en-US" sz="1800" dirty="0">
              <a:latin typeface="Courier New" pitchFamily="49" charset="0"/>
            </a:endParaRPr>
          </a:p>
          <a:p>
            <a:r>
              <a:rPr lang="en-US" altLang="en-US" sz="1800" dirty="0">
                <a:latin typeface="Courier New" pitchFamily="49" charset="0"/>
              </a:rPr>
              <a:t>/* 1) create the socket */</a:t>
            </a:r>
          </a:p>
          <a:p>
            <a:r>
              <a:rPr lang="en-US" altLang="en-US" sz="1800" dirty="0">
                <a:latin typeface="Courier New" pitchFamily="49" charset="0"/>
              </a:rPr>
              <a:t>/* 2) connect() to the server */</a:t>
            </a:r>
          </a:p>
          <a:p>
            <a:endParaRPr lang="en-US" altLang="en-US" sz="1800" dirty="0">
              <a:latin typeface="Courier New" pitchFamily="49" charset="0"/>
            </a:endParaRPr>
          </a:p>
          <a:p>
            <a:r>
              <a:rPr lang="en-US" altLang="en-US" sz="1800" dirty="0">
                <a:latin typeface="Courier New" pitchFamily="49" charset="0"/>
              </a:rPr>
              <a:t>/* Example: A client could “write” a request to a server */</a:t>
            </a:r>
          </a:p>
          <a:p>
            <a:r>
              <a:rPr lang="en-US" altLang="en-US" sz="1800" dirty="0">
                <a:latin typeface="Courier New" pitchFamily="49" charset="0"/>
              </a:rPr>
              <a:t>if((</a:t>
            </a:r>
            <a:r>
              <a:rPr lang="en-US" altLang="en-US" sz="1800" dirty="0" err="1">
                <a:latin typeface="Courier New" pitchFamily="49" charset="0"/>
              </a:rPr>
              <a:t>nbytes</a:t>
            </a:r>
            <a:r>
              <a:rPr lang="en-US" altLang="en-US" sz="1800" dirty="0">
                <a:latin typeface="Courier New" pitchFamily="49" charset="0"/>
              </a:rPr>
              <a:t> = </a:t>
            </a:r>
            <a:r>
              <a:rPr lang="en-US" altLang="en-US" sz="1800" b="1" dirty="0">
                <a:solidFill>
                  <a:srgbClr val="CC0000"/>
                </a:solidFill>
                <a:latin typeface="Courier New" pitchFamily="49" charset="0"/>
              </a:rPr>
              <a:t>write</a:t>
            </a:r>
            <a:r>
              <a:rPr lang="en-US" altLang="en-US" sz="1800" dirty="0">
                <a:latin typeface="Courier New" pitchFamily="49" charset="0"/>
              </a:rPr>
              <a:t>(</a:t>
            </a:r>
            <a:r>
              <a:rPr lang="en-US" altLang="en-US" sz="1800" dirty="0" err="1">
                <a:latin typeface="Courier New" pitchFamily="49" charset="0"/>
              </a:rPr>
              <a:t>fd</a:t>
            </a:r>
            <a:r>
              <a:rPr lang="en-US" altLang="en-US" sz="1800" dirty="0">
                <a:latin typeface="Courier New" pitchFamily="49" charset="0"/>
              </a:rPr>
              <a:t>, </a:t>
            </a:r>
            <a:r>
              <a:rPr lang="en-US" altLang="en-US" sz="1800" dirty="0" err="1">
                <a:latin typeface="Courier New" pitchFamily="49" charset="0"/>
              </a:rPr>
              <a:t>buf</a:t>
            </a:r>
            <a:r>
              <a:rPr lang="en-US" altLang="en-US" sz="1800" dirty="0">
                <a:latin typeface="Courier New" pitchFamily="49" charset="0"/>
              </a:rPr>
              <a:t>, </a:t>
            </a:r>
            <a:r>
              <a:rPr lang="en-US" altLang="en-US" sz="1800" dirty="0" err="1">
                <a:latin typeface="Courier New" pitchFamily="49" charset="0"/>
              </a:rPr>
              <a:t>sizeof</a:t>
            </a:r>
            <a:r>
              <a:rPr lang="en-US" altLang="en-US" sz="1800" dirty="0">
                <a:latin typeface="Courier New" pitchFamily="49" charset="0"/>
              </a:rPr>
              <a:t>(</a:t>
            </a:r>
            <a:r>
              <a:rPr lang="en-US" altLang="en-US" sz="1800" dirty="0" err="1">
                <a:latin typeface="Courier New" pitchFamily="49" charset="0"/>
              </a:rPr>
              <a:t>buf</a:t>
            </a:r>
            <a:r>
              <a:rPr lang="en-US" altLang="en-US" sz="1800" dirty="0">
                <a:latin typeface="Courier New" pitchFamily="49" charset="0"/>
              </a:rPr>
              <a:t>))) &lt; 0) {</a:t>
            </a:r>
          </a:p>
          <a:p>
            <a:r>
              <a:rPr lang="en-US" altLang="en-US" sz="1800" dirty="0">
                <a:latin typeface="Courier New" pitchFamily="49" charset="0"/>
              </a:rPr>
              <a:t>	</a:t>
            </a:r>
            <a:r>
              <a:rPr lang="en-US" altLang="en-US" sz="1800" dirty="0" err="1">
                <a:latin typeface="Courier New" pitchFamily="49" charset="0"/>
              </a:rPr>
              <a:t>perror</a:t>
            </a:r>
            <a:r>
              <a:rPr lang="en-US" altLang="en-US" sz="1800" dirty="0">
                <a:latin typeface="Courier New" pitchFamily="49" charset="0"/>
              </a:rPr>
              <a:t>(“write”);</a:t>
            </a:r>
          </a:p>
          <a:p>
            <a:r>
              <a:rPr lang="en-US" altLang="en-US" sz="1800" dirty="0">
                <a:latin typeface="Courier New" pitchFamily="49" charset="0"/>
              </a:rPr>
              <a:t>	exit(1);</a:t>
            </a:r>
          </a:p>
          <a:p>
            <a:r>
              <a:rPr lang="en-US" altLang="en-US" sz="1800" dirty="0">
                <a:latin typeface="Courier New" pitchFamily="49" charset="0"/>
              </a:rPr>
              <a:t>}</a:t>
            </a:r>
          </a:p>
        </p:txBody>
      </p:sp>
    </p:spTree>
    <p:extLst>
      <p:ext uri="{BB962C8B-B14F-4D97-AF65-F5344CB8AC3E}">
        <p14:creationId xmlns="" xmlns:p14="http://schemas.microsoft.com/office/powerpoint/2010/main" val="367603498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smtClean="0"/>
              <a:t>In this segment</a:t>
            </a:r>
            <a:endParaRPr lang="en-US" dirty="0"/>
          </a:p>
        </p:txBody>
      </p:sp>
      <p:sp>
        <p:nvSpPr>
          <p:cNvPr id="3" name="Content Placeholder 2"/>
          <p:cNvSpPr>
            <a:spLocks noGrp="1"/>
          </p:cNvSpPr>
          <p:nvPr>
            <p:ph idx="1"/>
          </p:nvPr>
        </p:nvSpPr>
        <p:spPr/>
        <p:txBody>
          <a:bodyPr/>
          <a:lstStyle/>
          <a:p>
            <a:r>
              <a:rPr lang="en-US" dirty="0"/>
              <a:t>Elementary UDP sockets</a:t>
            </a:r>
            <a:endParaRPr lang="en-IN" dirty="0"/>
          </a:p>
          <a:p>
            <a:r>
              <a:rPr lang="en-US" dirty="0" err="1"/>
              <a:t>recvfrom</a:t>
            </a:r>
            <a:r>
              <a:rPr lang="en-US" dirty="0"/>
              <a:t>, </a:t>
            </a:r>
            <a:r>
              <a:rPr lang="en-US" dirty="0" err="1"/>
              <a:t>sendto</a:t>
            </a:r>
            <a:r>
              <a:rPr lang="en-US" dirty="0"/>
              <a:t> functions</a:t>
            </a:r>
          </a:p>
          <a:p>
            <a:r>
              <a:rPr lang="en-US" dirty="0"/>
              <a:t>echo client-server</a:t>
            </a:r>
          </a:p>
          <a:p>
            <a:endParaRPr 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dirty="0"/>
              <a:t>Socket functions for UDP </a:t>
            </a:r>
            <a:r>
              <a:rPr lang="en-IN" dirty="0" smtClean="0"/>
              <a:t>client/server</a:t>
            </a:r>
            <a:endParaRPr lang="en-IN" dirty="0"/>
          </a:p>
        </p:txBody>
      </p:sp>
      <p:pic>
        <p:nvPicPr>
          <p:cNvPr id="4" name="Picture 3"/>
          <p:cNvPicPr>
            <a:picLocks noGrp="1"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087155" y="646266"/>
            <a:ext cx="6933250" cy="44410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09328670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i="1" dirty="0" err="1"/>
              <a:t>recvfrom</a:t>
            </a:r>
            <a:r>
              <a:rPr lang="en-IN" dirty="0"/>
              <a:t> and </a:t>
            </a:r>
            <a:r>
              <a:rPr lang="en-IN" i="1" dirty="0" err="1"/>
              <a:t>sendto</a:t>
            </a:r>
            <a:r>
              <a:rPr lang="en-IN" dirty="0"/>
              <a:t> </a:t>
            </a:r>
            <a:r>
              <a:rPr lang="en-IN" dirty="0" smtClean="0"/>
              <a:t>Functions</a:t>
            </a:r>
            <a:endParaRPr lang="en-IN" dirty="0"/>
          </a:p>
        </p:txBody>
      </p:sp>
      <p:sp>
        <p:nvSpPr>
          <p:cNvPr id="3" name="Content Placeholder 2"/>
          <p:cNvSpPr>
            <a:spLocks noGrp="1"/>
          </p:cNvSpPr>
          <p:nvPr>
            <p:ph idx="1"/>
          </p:nvPr>
        </p:nvSpPr>
        <p:spPr/>
        <p:txBody>
          <a:bodyPr/>
          <a:lstStyle/>
          <a:p>
            <a:r>
              <a:rPr lang="en-IN" dirty="0"/>
              <a:t>These two functions are similar to the standard read and write functions, but three additional arguments are required</a:t>
            </a:r>
          </a:p>
          <a:p>
            <a:endParaRPr lang="en-US" dirty="0"/>
          </a:p>
          <a:p>
            <a:endParaRPr lang="en-US" dirty="0"/>
          </a:p>
          <a:p>
            <a:endParaRPr lang="en-US" dirty="0"/>
          </a:p>
          <a:p>
            <a:endParaRPr lang="en-US" dirty="0"/>
          </a:p>
          <a:p>
            <a:endParaRPr lang="en-US" dirty="0"/>
          </a:p>
          <a:p>
            <a:r>
              <a:rPr lang="en-IN" dirty="0"/>
              <a:t>The first three arguments, </a:t>
            </a:r>
            <a:r>
              <a:rPr lang="en-IN" i="1" dirty="0" err="1"/>
              <a:t>sockfd</a:t>
            </a:r>
            <a:r>
              <a:rPr lang="en-IN" i="1" dirty="0"/>
              <a:t>, buff</a:t>
            </a:r>
            <a:r>
              <a:rPr lang="en-IN" dirty="0"/>
              <a:t>, and </a:t>
            </a:r>
            <a:r>
              <a:rPr lang="en-IN" i="1" dirty="0" err="1"/>
              <a:t>nbytes</a:t>
            </a:r>
            <a:r>
              <a:rPr lang="en-IN" dirty="0"/>
              <a:t>, are identical to the first three arguments for read and write: descriptor, pointer to buffer to read into or write from, and number of bytes to read or write</a:t>
            </a:r>
          </a:p>
          <a:p>
            <a:endParaRPr lang="en-IN" dirty="0"/>
          </a:p>
          <a:p>
            <a:endParaRPr lang="en-IN" dirty="0"/>
          </a:p>
        </p:txBody>
      </p:sp>
      <p:pic>
        <p:nvPicPr>
          <p:cNvPr id="4"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75496" y="1484114"/>
            <a:ext cx="8301568" cy="148947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4535535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IN" i="1" dirty="0" err="1"/>
              <a:t>recvfrom</a:t>
            </a:r>
            <a:r>
              <a:rPr lang="en-IN" dirty="0"/>
              <a:t> and </a:t>
            </a:r>
            <a:r>
              <a:rPr lang="en-IN" i="1" dirty="0" err="1"/>
              <a:t>sendto</a:t>
            </a:r>
            <a:r>
              <a:rPr lang="en-IN" dirty="0"/>
              <a:t> </a:t>
            </a:r>
            <a:r>
              <a:rPr lang="en-IN" dirty="0" smtClean="0"/>
              <a:t>Functions</a:t>
            </a:r>
            <a:endParaRPr lang="en-IN" dirty="0"/>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a:p>
            <a:r>
              <a:rPr lang="en-IN" dirty="0"/>
              <a:t>For </a:t>
            </a:r>
            <a:r>
              <a:rPr lang="en-IN" dirty="0" err="1">
                <a:solidFill>
                  <a:srgbClr val="FF0000"/>
                </a:solidFill>
              </a:rPr>
              <a:t>sendto</a:t>
            </a:r>
            <a:r>
              <a:rPr lang="en-IN" dirty="0"/>
              <a:t>: a </a:t>
            </a:r>
            <a:r>
              <a:rPr lang="en-IN" u="sng" dirty="0"/>
              <a:t>socket address structure</a:t>
            </a:r>
            <a:r>
              <a:rPr lang="en-IN" dirty="0"/>
              <a:t> containing the protocol address (e.g., IP address and port number) of where the data is to be sent</a:t>
            </a:r>
          </a:p>
          <a:p>
            <a:r>
              <a:rPr lang="en-IN" dirty="0"/>
              <a:t>The </a:t>
            </a:r>
            <a:r>
              <a:rPr lang="en-IN" u="sng" dirty="0"/>
              <a:t>size</a:t>
            </a:r>
            <a:r>
              <a:rPr lang="en-IN" dirty="0"/>
              <a:t> of this socket address structure is specified by </a:t>
            </a:r>
            <a:r>
              <a:rPr lang="en-IN" i="1" dirty="0" err="1"/>
              <a:t>addrlen</a:t>
            </a:r>
            <a:endParaRPr lang="en-IN" i="1" dirty="0"/>
          </a:p>
          <a:p>
            <a:r>
              <a:rPr lang="en-IN" dirty="0"/>
              <a:t>For </a:t>
            </a:r>
            <a:r>
              <a:rPr lang="en-IN" dirty="0" err="1">
                <a:solidFill>
                  <a:srgbClr val="FF0000"/>
                </a:solidFill>
              </a:rPr>
              <a:t>recvfrom</a:t>
            </a:r>
            <a:r>
              <a:rPr lang="en-IN" dirty="0"/>
              <a:t>: function fills in the </a:t>
            </a:r>
            <a:r>
              <a:rPr lang="en-IN" u="sng" dirty="0"/>
              <a:t>socket address structure</a:t>
            </a:r>
            <a:r>
              <a:rPr lang="en-IN" dirty="0"/>
              <a:t> pointed to by </a:t>
            </a:r>
            <a:r>
              <a:rPr lang="en-IN" i="1" dirty="0"/>
              <a:t>from </a:t>
            </a:r>
            <a:r>
              <a:rPr lang="en-IN" dirty="0"/>
              <a:t>with the protocol address of who sent the datagram</a:t>
            </a:r>
          </a:p>
          <a:p>
            <a:r>
              <a:rPr lang="en-IN" dirty="0"/>
              <a:t>The </a:t>
            </a:r>
            <a:r>
              <a:rPr lang="en-IN" u="sng" dirty="0"/>
              <a:t>number of bytes</a:t>
            </a:r>
            <a:r>
              <a:rPr lang="en-IN" dirty="0"/>
              <a:t> stored in this socket address structure is also returned to the caller in the integer pointed to by </a:t>
            </a:r>
            <a:r>
              <a:rPr lang="en-IN" i="1" dirty="0" err="1"/>
              <a:t>addrlen</a:t>
            </a:r>
            <a:endParaRPr lang="en-IN" i="1" dirty="0"/>
          </a:p>
          <a:p>
            <a:r>
              <a:rPr lang="en-IN" dirty="0"/>
              <a:t>For now, we will always set the </a:t>
            </a:r>
            <a:r>
              <a:rPr lang="en-IN" i="1" u="sng" dirty="0"/>
              <a:t>flags</a:t>
            </a:r>
            <a:r>
              <a:rPr lang="en-IN" i="1" dirty="0"/>
              <a:t> </a:t>
            </a:r>
            <a:r>
              <a:rPr lang="en-IN" dirty="0"/>
              <a:t>to 0</a:t>
            </a:r>
          </a:p>
          <a:p>
            <a:endParaRPr lang="en-IN" dirty="0"/>
          </a:p>
        </p:txBody>
      </p:sp>
      <p:pic>
        <p:nvPicPr>
          <p:cNvPr id="4"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70796" y="976081"/>
            <a:ext cx="7310968" cy="13117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14397337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UDP </a:t>
            </a:r>
            <a:r>
              <a:rPr lang="en-US" dirty="0" smtClean="0"/>
              <a:t>Client-Server</a:t>
            </a:r>
            <a:endParaRPr lang="en-US" dirty="0"/>
          </a:p>
        </p:txBody>
      </p:sp>
      <p:sp>
        <p:nvSpPr>
          <p:cNvPr id="3" name="Content Placeholder 2"/>
          <p:cNvSpPr>
            <a:spLocks noGrp="1"/>
          </p:cNvSpPr>
          <p:nvPr>
            <p:ph idx="1"/>
          </p:nvPr>
        </p:nvSpPr>
        <p:spPr/>
        <p:txBody>
          <a:bodyPr/>
          <a:lstStyle/>
          <a:p>
            <a:pPr fontAlgn="base">
              <a:spcAft>
                <a:spcPct val="0"/>
              </a:spcAft>
            </a:pPr>
            <a:r>
              <a:rPr lang="en-US" altLang="en-US" dirty="0"/>
              <a:t>We will use echo protocol. </a:t>
            </a:r>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r>
              <a:rPr lang="en-US" altLang="en-US" dirty="0"/>
              <a:t>Server </a:t>
            </a:r>
          </a:p>
          <a:p>
            <a:pPr lvl="1" fontAlgn="base">
              <a:spcAft>
                <a:spcPct val="0"/>
              </a:spcAft>
            </a:pPr>
            <a:r>
              <a:rPr lang="en-US" altLang="en-US" dirty="0"/>
              <a:t>Create UDP socket &amp; bind at well-known port number.</a:t>
            </a:r>
          </a:p>
          <a:p>
            <a:pPr lvl="1" fontAlgn="base">
              <a:spcAft>
                <a:spcPct val="0"/>
              </a:spcAft>
            </a:pPr>
            <a:r>
              <a:rPr lang="en-US" altLang="en-US" dirty="0"/>
              <a:t>Read datagram and echo back to sender</a:t>
            </a:r>
          </a:p>
          <a:p>
            <a:pPr fontAlgn="base">
              <a:spcAft>
                <a:spcPct val="0"/>
              </a:spcAft>
            </a:pPr>
            <a:r>
              <a:rPr lang="en-US" altLang="en-US" dirty="0"/>
              <a:t>Client</a:t>
            </a:r>
          </a:p>
          <a:p>
            <a:pPr lvl="1" fontAlgn="base">
              <a:spcAft>
                <a:spcPct val="0"/>
              </a:spcAft>
            </a:pPr>
            <a:r>
              <a:rPr lang="en-US" altLang="en-US" dirty="0"/>
              <a:t>Create UDP Socket</a:t>
            </a:r>
          </a:p>
          <a:p>
            <a:pPr lvl="1" fontAlgn="base">
              <a:spcAft>
                <a:spcPct val="0"/>
              </a:spcAft>
            </a:pPr>
            <a:r>
              <a:rPr lang="en-US" altLang="en-US" dirty="0"/>
              <a:t>Read from </a:t>
            </a:r>
            <a:r>
              <a:rPr lang="en-US" altLang="en-US" i="1" dirty="0" err="1"/>
              <a:t>stdin</a:t>
            </a:r>
            <a:r>
              <a:rPr lang="en-US" altLang="en-US" dirty="0"/>
              <a:t> and send datagram to server</a:t>
            </a:r>
          </a:p>
          <a:p>
            <a:pPr lvl="1" fontAlgn="base">
              <a:spcAft>
                <a:spcPct val="0"/>
              </a:spcAft>
            </a:pPr>
            <a:r>
              <a:rPr lang="en-US" altLang="en-US" dirty="0"/>
              <a:t>Read from UDP socket and write to </a:t>
            </a:r>
            <a:r>
              <a:rPr lang="en-US" altLang="en-US" i="1" dirty="0" err="1"/>
              <a:t>stdout</a:t>
            </a:r>
            <a:r>
              <a:rPr lang="en-US" altLang="en-US" dirty="0"/>
              <a:t>.</a:t>
            </a:r>
          </a:p>
          <a:p>
            <a:endParaRPr lang="en-IN" dirty="0"/>
          </a:p>
        </p:txBody>
      </p:sp>
      <p:pic>
        <p:nvPicPr>
          <p:cNvPr id="4" name="Picture 3" descr="E:\CONTENT\NETWORK PROGRAMMING\SLIDES\132\udpclient.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460500" y="1320800"/>
            <a:ext cx="5715000" cy="571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75995875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UDP </a:t>
            </a:r>
            <a:r>
              <a:rPr lang="en-US" dirty="0" smtClean="0"/>
              <a:t>Server</a:t>
            </a:r>
            <a:endParaRPr lang="en-US" dirty="0"/>
          </a:p>
        </p:txBody>
      </p:sp>
      <p:sp>
        <p:nvSpPr>
          <p:cNvPr id="3" name="Content Placeholder 2"/>
          <p:cNvSpPr>
            <a:spLocks noGrp="1"/>
          </p:cNvSpPr>
          <p:nvPr>
            <p:ph idx="1"/>
          </p:nvPr>
        </p:nvSpPr>
        <p:spPr/>
        <p:txBody>
          <a:bodyPr/>
          <a:lstStyle/>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lvl="1" fontAlgn="base">
              <a:spcAft>
                <a:spcPct val="0"/>
              </a:spcAft>
            </a:pPr>
            <a:endParaRPr lang="en-US" altLang="en-US" dirty="0"/>
          </a:p>
          <a:p>
            <a:pPr lvl="1" fontAlgn="base">
              <a:spcAft>
                <a:spcPct val="0"/>
              </a:spcAft>
            </a:pPr>
            <a:r>
              <a:rPr lang="en-US" altLang="en-US" sz="1800" b="0" dirty="0"/>
              <a:t>UDP socket is created by specifying the second </a:t>
            </a:r>
            <a:r>
              <a:rPr lang="en-US" altLang="en-US" sz="1800" b="0" dirty="0" smtClean="0"/>
              <a:t>argument </a:t>
            </a:r>
            <a:r>
              <a:rPr lang="en-US" altLang="en-US" sz="1800" b="0" dirty="0"/>
              <a:t>as </a:t>
            </a:r>
            <a:r>
              <a:rPr lang="en-US" altLang="en-US" sz="1800" b="0" dirty="0" smtClean="0"/>
              <a:t>SOCK_DGRAM</a:t>
            </a:r>
            <a:r>
              <a:rPr lang="en-US" altLang="en-US" sz="1800" b="0" dirty="0"/>
              <a:t>.</a:t>
            </a:r>
          </a:p>
          <a:p>
            <a:pPr lvl="1" fontAlgn="base">
              <a:spcAft>
                <a:spcPct val="0"/>
              </a:spcAft>
            </a:pPr>
            <a:endParaRPr lang="en-US" altLang="en-US" dirty="0"/>
          </a:p>
          <a:p>
            <a:pPr lvl="1" fontAlgn="base">
              <a:spcAft>
                <a:spcPct val="0"/>
              </a:spcAft>
            </a:pPr>
            <a:endParaRPr lang="en-US" altLang="en-US" dirty="0"/>
          </a:p>
          <a:p>
            <a:endParaRPr lang="en-IN" dirty="0"/>
          </a:p>
        </p:txBody>
      </p:sp>
      <p:pic>
        <p:nvPicPr>
          <p:cNvPr id="4" name="Picture 3"/>
          <p:cNvPicPr>
            <a:picLocks noChangeAspect="1" noChangeArrowheads="1"/>
          </p:cNvPicPr>
          <p:nvPr/>
        </p:nvPicPr>
        <p:blipFill>
          <a:blip r:embed="rId2" cstate="print"/>
          <a:srcRect/>
          <a:stretch>
            <a:fillRect/>
          </a:stretch>
        </p:blipFill>
        <p:spPr bwMode="auto">
          <a:xfrm>
            <a:off x="1230630" y="892175"/>
            <a:ext cx="6591300" cy="2343150"/>
          </a:xfrm>
          <a:prstGeom prst="rect">
            <a:avLst/>
          </a:prstGeom>
          <a:noFill/>
          <a:ln w="9525">
            <a:solidFill>
              <a:schemeClr val="bg1">
                <a:lumMod val="50000"/>
              </a:schemeClr>
            </a:solidFill>
            <a:miter lim="800000"/>
            <a:headEnd/>
            <a:tailEnd/>
          </a:ln>
        </p:spPr>
      </p:pic>
    </p:spTree>
    <p:extLst>
      <p:ext uri="{BB962C8B-B14F-4D97-AF65-F5344CB8AC3E}">
        <p14:creationId xmlns="" xmlns:p14="http://schemas.microsoft.com/office/powerpoint/2010/main" val="423079491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a:defRPr/>
            </a:pPr>
            <a:r>
              <a:rPr lang="en-US" dirty="0"/>
              <a:t>UDP </a:t>
            </a:r>
            <a:r>
              <a:rPr lang="en-US" dirty="0" smtClean="0"/>
              <a:t>Server</a:t>
            </a:r>
            <a:endParaRPr lang="en-US" dirty="0"/>
          </a:p>
        </p:txBody>
      </p:sp>
      <p:pic>
        <p:nvPicPr>
          <p:cNvPr id="4" name="Content Placeholder 3"/>
          <p:cNvPicPr>
            <a:picLocks noGrp="1" noChangeAspect="1" noChangeArrowheads="1"/>
          </p:cNvPicPr>
          <p:nvPr>
            <p:ph idx="1"/>
          </p:nvPr>
        </p:nvPicPr>
        <p:blipFill>
          <a:blip r:embed="rId2" cstate="print"/>
          <a:srcRect/>
          <a:stretch>
            <a:fillRect/>
          </a:stretch>
        </p:blipFill>
        <p:spPr bwMode="auto">
          <a:xfrm>
            <a:off x="678656" y="811213"/>
            <a:ext cx="7391400" cy="2857500"/>
          </a:xfrm>
          <a:prstGeom prst="rect">
            <a:avLst/>
          </a:prstGeom>
          <a:noFill/>
          <a:ln w="9525">
            <a:solidFill>
              <a:schemeClr val="bg1">
                <a:lumMod val="50000"/>
              </a:schemeClr>
            </a:solidFill>
            <a:miter lim="800000"/>
            <a:headEnd/>
            <a:tailEnd/>
          </a:ln>
        </p:spPr>
      </p:pic>
      <p:sp>
        <p:nvSpPr>
          <p:cNvPr id="5" name="Rectangle 4"/>
          <p:cNvSpPr/>
          <p:nvPr/>
        </p:nvSpPr>
        <p:spPr>
          <a:xfrm>
            <a:off x="245444" y="1902589"/>
            <a:ext cx="8657256" cy="2862322"/>
          </a:xfrm>
          <a:prstGeom prst="rect">
            <a:avLst/>
          </a:prstGeom>
        </p:spPr>
        <p:txBody>
          <a:bodyPr wrap="square">
            <a:spAutoFit/>
          </a:bodyPr>
          <a:lstStyle/>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marL="742950" lvl="1" indent="-285750" fontAlgn="base">
              <a:spcAft>
                <a:spcPct val="0"/>
              </a:spcAft>
              <a:buClr>
                <a:srgbClr val="FF0000"/>
              </a:buClr>
              <a:buFont typeface="Arial" panose="020B0604020202020204" pitchFamily="34" charset="0"/>
              <a:buChar char="•"/>
            </a:pPr>
            <a:r>
              <a:rPr lang="en-US" altLang="en-US" dirty="0">
                <a:latin typeface="Arial" panose="020B0604020202020204" pitchFamily="34" charset="0"/>
                <a:cs typeface="Arial" panose="020B0604020202020204" pitchFamily="34" charset="0"/>
              </a:rPr>
              <a:t>This function never terminates.</a:t>
            </a:r>
          </a:p>
          <a:p>
            <a:pPr marL="742950" lvl="1" indent="-285750" fontAlgn="base">
              <a:spcAft>
                <a:spcPct val="0"/>
              </a:spcAft>
              <a:buClr>
                <a:srgbClr val="FF0000"/>
              </a:buClr>
              <a:buFont typeface="Arial" panose="020B0604020202020204" pitchFamily="34" charset="0"/>
              <a:buChar char="•"/>
            </a:pPr>
            <a:r>
              <a:rPr lang="en-US" altLang="en-US" dirty="0">
                <a:latin typeface="Arial" panose="020B0604020202020204" pitchFamily="34" charset="0"/>
                <a:cs typeface="Arial" panose="020B0604020202020204" pitchFamily="34" charset="0"/>
              </a:rPr>
              <a:t>Since UDP is connectionless protocol, there is nothing like an EOF as in TCP.</a:t>
            </a:r>
          </a:p>
        </p:txBody>
      </p:sp>
    </p:spTree>
    <p:extLst>
      <p:ext uri="{BB962C8B-B14F-4D97-AF65-F5344CB8AC3E}">
        <p14:creationId xmlns="" xmlns:p14="http://schemas.microsoft.com/office/powerpoint/2010/main" val="1552688739"/>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UDP </a:t>
            </a:r>
            <a:r>
              <a:rPr lang="en-US" dirty="0" smtClean="0"/>
              <a:t>Server</a:t>
            </a:r>
            <a:endParaRPr lang="en-US" dirty="0"/>
          </a:p>
        </p:txBody>
      </p:sp>
      <p:sp>
        <p:nvSpPr>
          <p:cNvPr id="3" name="Content Placeholder 2"/>
          <p:cNvSpPr>
            <a:spLocks noGrp="1"/>
          </p:cNvSpPr>
          <p:nvPr>
            <p:ph idx="1"/>
          </p:nvPr>
        </p:nvSpPr>
        <p:spPr/>
        <p:txBody>
          <a:bodyPr/>
          <a:lstStyle/>
          <a:p>
            <a:pPr fontAlgn="base">
              <a:spcAft>
                <a:spcPct val="0"/>
              </a:spcAft>
            </a:pPr>
            <a:r>
              <a:rPr lang="en-US" altLang="en-US" sz="2400" dirty="0" smtClean="0"/>
              <a:t>UDP </a:t>
            </a:r>
            <a:r>
              <a:rPr lang="en-US" altLang="en-US" sz="2400" dirty="0"/>
              <a:t>is an iterative server.</a:t>
            </a:r>
          </a:p>
          <a:p>
            <a:pPr lvl="1" fontAlgn="base">
              <a:spcAft>
                <a:spcPct val="0"/>
              </a:spcAft>
            </a:pPr>
            <a:r>
              <a:rPr lang="en-US" altLang="en-US" sz="2400" dirty="0"/>
              <a:t>Client requests are handled one after another. There is no call to fork().</a:t>
            </a:r>
          </a:p>
          <a:p>
            <a:pPr lvl="1" fontAlgn="base">
              <a:spcAft>
                <a:spcPct val="0"/>
              </a:spcAft>
            </a:pPr>
            <a:r>
              <a:rPr lang="en-US" altLang="en-US" sz="2400" dirty="0"/>
              <a:t>In general most TCP servers are concurrent, and most UDP servers are iterative.</a:t>
            </a:r>
          </a:p>
          <a:p>
            <a:pPr fontAlgn="base">
              <a:spcAft>
                <a:spcPct val="0"/>
              </a:spcAft>
            </a:pPr>
            <a:r>
              <a:rPr lang="en-US" altLang="en-US" sz="2400" dirty="0"/>
              <a:t>UDP socket has a receive buffer. Incoming datagrams are queued there. </a:t>
            </a:r>
          </a:p>
          <a:p>
            <a:pPr lvl="1" fontAlgn="base">
              <a:spcAft>
                <a:spcPct val="0"/>
              </a:spcAft>
            </a:pPr>
            <a:r>
              <a:rPr lang="en-US" altLang="en-US" sz="2400" dirty="0"/>
              <a:t>When server calls </a:t>
            </a:r>
            <a:r>
              <a:rPr lang="en-US" altLang="en-US" sz="2400" dirty="0" err="1"/>
              <a:t>recvfrom</a:t>
            </a:r>
            <a:r>
              <a:rPr lang="en-US" altLang="en-US" sz="2400" dirty="0"/>
              <a:t>(), a datagram is returned in FIFO order.</a:t>
            </a:r>
          </a:p>
          <a:p>
            <a:pPr lvl="1" fontAlgn="base">
              <a:spcAft>
                <a:spcPct val="0"/>
              </a:spcAft>
            </a:pPr>
            <a:r>
              <a:rPr lang="en-US" altLang="en-US" sz="2400" dirty="0"/>
              <a:t>Buffer has a limited size (default 40000bytes).</a:t>
            </a:r>
          </a:p>
          <a:p>
            <a:pPr lvl="1" fontAlgn="base">
              <a:spcAft>
                <a:spcPct val="0"/>
              </a:spcAft>
            </a:pPr>
            <a:endParaRPr lang="en-US" altLang="en-US" sz="2400" dirty="0"/>
          </a:p>
          <a:p>
            <a:endParaRPr lang="en-IN" sz="2400" dirty="0"/>
          </a:p>
        </p:txBody>
      </p:sp>
    </p:spTree>
    <p:extLst>
      <p:ext uri="{BB962C8B-B14F-4D97-AF65-F5344CB8AC3E}">
        <p14:creationId xmlns="" xmlns:p14="http://schemas.microsoft.com/office/powerpoint/2010/main" val="193183925"/>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TCP Server vs UDP </a:t>
            </a:r>
            <a:r>
              <a:rPr lang="en-US" dirty="0" smtClean="0"/>
              <a:t>Server</a:t>
            </a:r>
            <a:endParaRPr lang="en-US" dirty="0"/>
          </a:p>
        </p:txBody>
      </p:sp>
      <p:sp>
        <p:nvSpPr>
          <p:cNvPr id="3" name="Content Placeholder 2"/>
          <p:cNvSpPr>
            <a:spLocks noGrp="1"/>
          </p:cNvSpPr>
          <p:nvPr>
            <p:ph idx="1"/>
          </p:nvPr>
        </p:nvSpPr>
        <p:spPr>
          <a:xfrm>
            <a:off x="144379" y="754380"/>
            <a:ext cx="8633861" cy="4114800"/>
          </a:xfrm>
        </p:spPr>
        <p:txBody>
          <a:bodyPr/>
          <a:lstStyle/>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lvl="1" fontAlgn="base">
              <a:spcAft>
                <a:spcPct val="0"/>
              </a:spcAft>
            </a:pPr>
            <a:r>
              <a:rPr lang="en-US" altLang="en-US" sz="2000" b="0" dirty="0"/>
              <a:t>In TCP server, there is connected socket for each client and there is separate buffer in each socket.</a:t>
            </a:r>
          </a:p>
          <a:p>
            <a:pPr lvl="1" fontAlgn="base">
              <a:spcAft>
                <a:spcPct val="0"/>
              </a:spcAft>
            </a:pPr>
            <a:r>
              <a:rPr lang="en-US" altLang="en-US" sz="2000" b="0" dirty="0"/>
              <a:t>In UDP server, datagrams from all clients are placed in a single buffer. No separate socket for each client.</a:t>
            </a:r>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a:p>
            <a:pPr fontAlgn="base">
              <a:spcAft>
                <a:spcPct val="0"/>
              </a:spcAft>
            </a:pPr>
            <a:endParaRPr lang="en-US" altLang="en-US" dirty="0"/>
          </a:p>
        </p:txBody>
      </p:sp>
      <p:pic>
        <p:nvPicPr>
          <p:cNvPr id="6" name="Picture 5"/>
          <p:cNvPicPr>
            <a:picLocks noChangeAspect="1"/>
          </p:cNvPicPr>
          <p:nvPr/>
        </p:nvPicPr>
        <p:blipFill rotWithShape="1">
          <a:blip r:embed="rId2" cstate="print">
            <a:extLst>
              <a:ext uri="{28A0092B-C50C-407E-A947-70E740481C1C}">
                <a14:useLocalDpi xmlns="" xmlns:a14="http://schemas.microsoft.com/office/drawing/2010/main" val="0"/>
              </a:ext>
            </a:extLst>
          </a:blip>
          <a:srcRect r="30509" b="61563"/>
          <a:stretch/>
        </p:blipFill>
        <p:spPr>
          <a:xfrm>
            <a:off x="274320" y="754381"/>
            <a:ext cx="5510031" cy="1711786"/>
          </a:xfrm>
          <a:prstGeom prst="rect">
            <a:avLst/>
          </a:prstGeom>
        </p:spPr>
      </p:pic>
      <p:pic>
        <p:nvPicPr>
          <p:cNvPr id="4" name="Picture 3" descr="E:\CONTENT\NETWORK PROGRAMMING\SLIDES\UDp client server summary.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155044" y="2411345"/>
            <a:ext cx="3505200" cy="13037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396985533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4" y="34206"/>
            <a:ext cx="6537960" cy="582930"/>
          </a:xfrm>
        </p:spPr>
        <p:txBody>
          <a:bodyPr/>
          <a:lstStyle/>
          <a:p>
            <a:r>
              <a:rPr lang="en-US" dirty="0"/>
              <a:t>UDP </a:t>
            </a:r>
            <a:r>
              <a:rPr lang="en-US" dirty="0" smtClean="0"/>
              <a:t>Client</a:t>
            </a:r>
            <a:endParaRPr lang="en-US" dirty="0"/>
          </a:p>
        </p:txBody>
      </p:sp>
      <p:pic>
        <p:nvPicPr>
          <p:cNvPr id="4" name="Content Placeholder 3"/>
          <p:cNvPicPr>
            <a:picLocks noGrp="1" noChangeAspect="1" noChangeArrowheads="1"/>
          </p:cNvPicPr>
          <p:nvPr>
            <p:ph idx="1"/>
          </p:nvPr>
        </p:nvPicPr>
        <p:blipFill>
          <a:blip r:embed="rId2" cstate="print"/>
          <a:srcRect/>
          <a:stretch>
            <a:fillRect/>
          </a:stretch>
        </p:blipFill>
        <p:spPr bwMode="auto">
          <a:xfrm>
            <a:off x="628891" y="495014"/>
            <a:ext cx="8480930" cy="4023298"/>
          </a:xfrm>
          <a:prstGeom prst="rect">
            <a:avLst/>
          </a:prstGeom>
          <a:noFill/>
          <a:ln w="9525">
            <a:solidFill>
              <a:schemeClr val="bg1">
                <a:lumMod val="50000"/>
              </a:schemeClr>
            </a:solidFill>
            <a:miter lim="800000"/>
            <a:headEnd/>
            <a:tailEnd/>
          </a:ln>
        </p:spPr>
      </p:pic>
      <p:sp>
        <p:nvSpPr>
          <p:cNvPr id="5" name="Rectangle 4"/>
          <p:cNvSpPr/>
          <p:nvPr/>
        </p:nvSpPr>
        <p:spPr>
          <a:xfrm>
            <a:off x="482600" y="4503185"/>
            <a:ext cx="8559800" cy="646331"/>
          </a:xfrm>
          <a:prstGeom prst="rect">
            <a:avLst/>
          </a:prstGeom>
        </p:spPr>
        <p:txBody>
          <a:bodyPr wrap="square">
            <a:spAutoFit/>
          </a:bodyPr>
          <a:lstStyle/>
          <a:p>
            <a:pPr fontAlgn="base">
              <a:spcAft>
                <a:spcPct val="0"/>
              </a:spcAft>
            </a:pPr>
            <a:r>
              <a:rPr lang="en-US" altLang="en-US" dirty="0" smtClean="0">
                <a:latin typeface="Arial" panose="020B0604020202020204" pitchFamily="34" charset="0"/>
                <a:cs typeface="Arial" panose="020B0604020202020204" pitchFamily="34" charset="0"/>
              </a:rPr>
              <a:t>When </a:t>
            </a:r>
            <a:r>
              <a:rPr lang="en-US" altLang="en-US" dirty="0">
                <a:latin typeface="Arial" panose="020B0604020202020204" pitchFamily="34" charset="0"/>
                <a:cs typeface="Arial" panose="020B0604020202020204" pitchFamily="34" charset="0"/>
              </a:rPr>
              <a:t>client uses </a:t>
            </a:r>
            <a:r>
              <a:rPr lang="en-US" altLang="en-US" i="1" dirty="0" err="1">
                <a:latin typeface="Arial" panose="020B0604020202020204" pitchFamily="34" charset="0"/>
                <a:cs typeface="Arial" panose="020B0604020202020204" pitchFamily="34" charset="0"/>
              </a:rPr>
              <a:t>sendto</a:t>
            </a:r>
            <a:r>
              <a:rPr lang="en-US" altLang="en-US" i="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at that kernel allocates an ephemeral port to the socket local endpoint</a:t>
            </a:r>
            <a:r>
              <a:rPr lang="en-US" altLang="en-US" dirty="0" smtClean="0">
                <a:latin typeface="Arial" panose="020B0604020202020204" pitchFamily="34" charset="0"/>
                <a:cs typeface="Arial" panose="020B0604020202020204" pitchFamily="34" charset="0"/>
              </a:rPr>
              <a:t>.</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172105475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UDP </a:t>
            </a:r>
            <a:r>
              <a:rPr lang="en-US" dirty="0" smtClean="0"/>
              <a:t>Client</a:t>
            </a:r>
            <a:endParaRPr lang="en-US" dirty="0"/>
          </a:p>
        </p:txBody>
      </p:sp>
      <p:sp>
        <p:nvSpPr>
          <p:cNvPr id="3" name="Content Placeholder 2"/>
          <p:cNvSpPr>
            <a:spLocks noGrp="1"/>
          </p:cNvSpPr>
          <p:nvPr>
            <p:ph idx="1"/>
          </p:nvPr>
        </p:nvSpPr>
        <p:spPr>
          <a:xfrm>
            <a:off x="274320" y="4411880"/>
            <a:ext cx="8503920" cy="4114800"/>
          </a:xfrm>
        </p:spPr>
        <p:txBody>
          <a:bodyPr/>
          <a:lstStyle/>
          <a:p>
            <a:pPr fontAlgn="base">
              <a:spcAft>
                <a:spcPct val="0"/>
              </a:spcAft>
            </a:pPr>
            <a:r>
              <a:rPr lang="en-US" altLang="en-US" dirty="0" smtClean="0"/>
              <a:t>n </a:t>
            </a:r>
            <a:r>
              <a:rPr lang="en-US" altLang="en-US" i="1" dirty="0" err="1"/>
              <a:t>recvfrom</a:t>
            </a:r>
            <a:r>
              <a:rPr lang="en-US" altLang="en-US" i="1" dirty="0"/>
              <a:t>()</a:t>
            </a:r>
            <a:r>
              <a:rPr lang="en-US" altLang="en-US" dirty="0"/>
              <a:t> last two arguments are specified as NULL. This tells the kernel that we are not interested in knowing who sent the reply</a:t>
            </a:r>
            <a:r>
              <a:rPr lang="en-US" altLang="en-US" dirty="0" smtClean="0"/>
              <a:t>.</a:t>
            </a:r>
          </a:p>
          <a:p>
            <a:pPr fontAlgn="base">
              <a:spcAft>
                <a:spcPct val="0"/>
              </a:spcAft>
            </a:pPr>
            <a:endParaRPr lang="en-IN" dirty="0"/>
          </a:p>
        </p:txBody>
      </p:sp>
      <p:pic>
        <p:nvPicPr>
          <p:cNvPr id="4" name="Picture 3"/>
          <p:cNvPicPr>
            <a:picLocks noChangeAspect="1" noChangeArrowheads="1"/>
          </p:cNvPicPr>
          <p:nvPr/>
        </p:nvPicPr>
        <p:blipFill>
          <a:blip r:embed="rId2" cstate="print"/>
          <a:srcRect/>
          <a:stretch>
            <a:fillRect/>
          </a:stretch>
        </p:blipFill>
        <p:spPr bwMode="auto">
          <a:xfrm>
            <a:off x="131171" y="586185"/>
            <a:ext cx="8790218" cy="3841430"/>
          </a:xfrm>
          <a:prstGeom prst="rect">
            <a:avLst/>
          </a:prstGeom>
          <a:noFill/>
          <a:ln w="9525">
            <a:solidFill>
              <a:schemeClr val="bg1">
                <a:lumMod val="50000"/>
              </a:schemeClr>
            </a:solidFill>
            <a:miter lim="800000"/>
            <a:headEnd/>
            <a:tailEnd/>
          </a:ln>
        </p:spPr>
      </p:pic>
    </p:spTree>
    <p:extLst>
      <p:ext uri="{BB962C8B-B14F-4D97-AF65-F5344CB8AC3E}">
        <p14:creationId xmlns="" xmlns:p14="http://schemas.microsoft.com/office/powerpoint/2010/main" val="421574874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16&quot;&gt;&lt;object type=&quot;3&quot; unique_id=&quot;10017&quot;&gt;&lt;property id=&quot;20148&quot; value=&quot;5&quot;/&gt;&lt;property id=&quot;20300&quot; value=&quot;Slide 1&quot;/&gt;&lt;property id=&quot;20307&quot; value=&quot;381&quot;/&gt;&lt;/object&gt;&lt;object type=&quot;3&quot; unique_id=&quot;10051&quot;&gt;&lt;property id=&quot;20148&quot; value=&quot;5&quot;/&gt;&lt;property id=&quot;20300&quot; value=&quot;Slide 2&quot;/&gt;&lt;property id=&quot;20307&quot; value=&quot;386&quot;/&gt;&lt;/object&gt;&lt;object type=&quot;3&quot; unique_id=&quot;10052&quot;&gt;&lt;property id=&quot;20148&quot; value=&quot;5&quot;/&gt;&lt;property id=&quot;20300&quot; value=&quot;Slide 3&quot;/&gt;&lt;property id=&quot;20307&quot; value=&quot;387&quot;/&gt;&lt;/object&gt;&lt;/object&gt;&lt;object type=&quot;8&quot; unique_id=&quot;10026&quot;&gt;&lt;/object&gt;&lt;/object&gt;&lt;/database&gt;"/>
  <p:tag name="SECTOMILLISECCONVERTED" val="1"/>
</p:tagLst>
</file>

<file path=ppt/theme/theme1.xml><?xml version="1.0" encoding="utf-8"?>
<a:theme xmlns:a="http://schemas.openxmlformats.org/drawingml/2006/main" name="BITS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bits.thmx</Template>
  <TotalTime>3599</TotalTime>
  <Words>3981</Words>
  <Application>Microsoft Office PowerPoint</Application>
  <PresentationFormat>On-screen Show (16:9)</PresentationFormat>
  <Paragraphs>833</Paragraphs>
  <Slides>113</Slides>
  <Notes>0</Notes>
  <HiddenSlides>0</HiddenSlides>
  <MMClips>0</MMClips>
  <ScaleCrop>false</ScaleCrop>
  <HeadingPairs>
    <vt:vector size="4" baseType="variant">
      <vt:variant>
        <vt:lpstr>Theme</vt:lpstr>
      </vt:variant>
      <vt:variant>
        <vt:i4>1</vt:i4>
      </vt:variant>
      <vt:variant>
        <vt:lpstr>Slide Titles</vt:lpstr>
      </vt:variant>
      <vt:variant>
        <vt:i4>113</vt:i4>
      </vt:variant>
    </vt:vector>
  </HeadingPairs>
  <TitlesOfParts>
    <vt:vector size="114" baseType="lpstr">
      <vt:lpstr>BITS_PPT_template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Anil</dc:creator>
  <cp:lastModifiedBy>Windows User</cp:lastModifiedBy>
  <cp:revision>228</cp:revision>
  <dcterms:created xsi:type="dcterms:W3CDTF">2015-06-09T08:31:04Z</dcterms:created>
  <dcterms:modified xsi:type="dcterms:W3CDTF">2020-01-19T04:05:17Z</dcterms:modified>
</cp:coreProperties>
</file>