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0" r:id="rId3"/>
    <p:sldId id="301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280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0E07-F7C1-48B5-8A3E-6F5A3EF70B37}" type="datetimeFigureOut">
              <a:rPr lang="en-GB" smtClean="0"/>
              <a:pPr/>
              <a:t>15/02/2020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5984-999C-40B4-BAFC-489B0B50354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0E07-F7C1-48B5-8A3E-6F5A3EF70B37}" type="datetimeFigureOut">
              <a:rPr lang="en-GB" smtClean="0"/>
              <a:pPr/>
              <a:t>15/02/2020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5984-999C-40B4-BAFC-489B0B50354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0E07-F7C1-48B5-8A3E-6F5A3EF70B37}" type="datetimeFigureOut">
              <a:rPr lang="en-GB" smtClean="0"/>
              <a:pPr/>
              <a:t>15/02/2020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5984-999C-40B4-BAFC-489B0B50354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0E07-F7C1-48B5-8A3E-6F5A3EF70B37}" type="datetimeFigureOut">
              <a:rPr lang="en-GB" smtClean="0"/>
              <a:pPr/>
              <a:t>15/02/2020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5984-999C-40B4-BAFC-489B0B50354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0E07-F7C1-48B5-8A3E-6F5A3EF70B37}" type="datetimeFigureOut">
              <a:rPr lang="en-GB" smtClean="0"/>
              <a:pPr/>
              <a:t>15/02/2020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5984-999C-40B4-BAFC-489B0B50354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0E07-F7C1-48B5-8A3E-6F5A3EF70B37}" type="datetimeFigureOut">
              <a:rPr lang="en-GB" smtClean="0"/>
              <a:pPr/>
              <a:t>15/02/2020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5984-999C-40B4-BAFC-489B0B50354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0E07-F7C1-48B5-8A3E-6F5A3EF70B37}" type="datetimeFigureOut">
              <a:rPr lang="en-GB" smtClean="0"/>
              <a:pPr/>
              <a:t>15/02/2020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5984-999C-40B4-BAFC-489B0B50354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0E07-F7C1-48B5-8A3E-6F5A3EF70B37}" type="datetimeFigureOut">
              <a:rPr lang="en-GB" smtClean="0"/>
              <a:pPr/>
              <a:t>15/02/2020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5984-999C-40B4-BAFC-489B0B50354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0E07-F7C1-48B5-8A3E-6F5A3EF70B37}" type="datetimeFigureOut">
              <a:rPr lang="en-GB" smtClean="0"/>
              <a:pPr/>
              <a:t>15/02/2020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5984-999C-40B4-BAFC-489B0B50354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0E07-F7C1-48B5-8A3E-6F5A3EF70B37}" type="datetimeFigureOut">
              <a:rPr lang="en-GB" smtClean="0"/>
              <a:pPr/>
              <a:t>15/02/2020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5984-999C-40B4-BAFC-489B0B50354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10E07-F7C1-48B5-8A3E-6F5A3EF70B37}" type="datetimeFigureOut">
              <a:rPr lang="en-GB" smtClean="0"/>
              <a:pPr/>
              <a:t>15/02/2020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85984-999C-40B4-BAFC-489B0B50354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10E07-F7C1-48B5-8A3E-6F5A3EF70B37}" type="datetimeFigureOut">
              <a:rPr lang="en-GB" smtClean="0"/>
              <a:pPr/>
              <a:t>15/02/2020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85984-999C-40B4-BAFC-489B0B50354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600" y="908720"/>
            <a:ext cx="7200800" cy="5400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3600" b="1" dirty="0" smtClean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Handling </a:t>
            </a:r>
            <a:r>
              <a:rPr lang="en-GB" sz="3600" b="1" dirty="0" smtClean="0">
                <a:solidFill>
                  <a:srgbClr val="FF0000"/>
                </a:solidFill>
              </a:rPr>
              <a:t>multiple clients on server without multi </a:t>
            </a:r>
            <a:r>
              <a:rPr lang="en-GB" sz="3600" b="1" dirty="0" smtClean="0">
                <a:solidFill>
                  <a:srgbClr val="FF0000"/>
                </a:solidFill>
              </a:rPr>
              <a:t>threading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3600" b="1" dirty="0" smtClean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3600" b="1" dirty="0" smtClean="0">
                <a:solidFill>
                  <a:srgbClr val="FF0000"/>
                </a:solidFill>
              </a:rPr>
              <a:t>Select()</a:t>
            </a:r>
            <a:endParaRPr lang="en-GB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88640"/>
            <a:ext cx="7776864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 A </a:t>
            </a:r>
            <a:r>
              <a:rPr lang="en-GB" sz="2800" dirty="0" smtClean="0">
                <a:solidFill>
                  <a:schemeClr val="tx1"/>
                </a:solidFill>
              </a:rPr>
              <a:t>better way to handle multiple clients is by using select() </a:t>
            </a:r>
            <a:r>
              <a:rPr lang="en-GB" sz="2800" dirty="0" err="1" smtClean="0">
                <a:solidFill>
                  <a:schemeClr val="tx1"/>
                </a:solidFill>
              </a:rPr>
              <a:t>linux</a:t>
            </a:r>
            <a:r>
              <a:rPr lang="en-GB" sz="2800" dirty="0" smtClean="0">
                <a:solidFill>
                  <a:schemeClr val="tx1"/>
                </a:solidFill>
              </a:rPr>
              <a:t> command</a:t>
            </a:r>
            <a:r>
              <a:rPr lang="en-GB" sz="2800" dirty="0" smtClean="0">
                <a:solidFill>
                  <a:schemeClr val="tx1"/>
                </a:solidFill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chemeClr val="tx1"/>
                </a:solidFill>
              </a:rPr>
              <a:t>Select </a:t>
            </a:r>
            <a:r>
              <a:rPr lang="en-GB" sz="2800" dirty="0" smtClean="0">
                <a:solidFill>
                  <a:schemeClr val="tx1"/>
                </a:solidFill>
              </a:rPr>
              <a:t>command allows to monitor multiple file descriptors, waiting until one of the file descriptors become active</a:t>
            </a:r>
            <a:r>
              <a:rPr lang="en-GB" sz="2800" dirty="0" smtClean="0">
                <a:solidFill>
                  <a:schemeClr val="tx1"/>
                </a:solidFill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chemeClr val="tx1"/>
                </a:solidFill>
              </a:rPr>
              <a:t>There </a:t>
            </a:r>
            <a:r>
              <a:rPr lang="en-GB" sz="2800" dirty="0" smtClean="0">
                <a:solidFill>
                  <a:schemeClr val="tx1"/>
                </a:solidFill>
              </a:rPr>
              <a:t>are four functions associated with </a:t>
            </a:r>
            <a:r>
              <a:rPr lang="en-GB" sz="2800" dirty="0" err="1" smtClean="0">
                <a:solidFill>
                  <a:schemeClr val="tx1"/>
                </a:solidFill>
              </a:rPr>
              <a:t>fd_set</a:t>
            </a:r>
            <a:r>
              <a:rPr lang="en-GB" sz="2800" dirty="0" smtClean="0">
                <a:solidFill>
                  <a:schemeClr val="tx1"/>
                </a:solidFill>
              </a:rPr>
              <a:t>: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188640"/>
            <a:ext cx="7920880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fd_set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// </a:t>
            </a:r>
            <a:r>
              <a:rPr lang="en-GB" sz="2800" dirty="0" smtClean="0">
                <a:solidFill>
                  <a:schemeClr val="tx1"/>
                </a:solidFill>
              </a:rPr>
              <a:t>Clear an </a:t>
            </a:r>
            <a:r>
              <a:rPr lang="en-GB" sz="2800" dirty="0" err="1" smtClean="0">
                <a:solidFill>
                  <a:schemeClr val="tx1"/>
                </a:solidFill>
              </a:rPr>
              <a:t>fd_set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 FD_ZERO</a:t>
            </a:r>
            <a:r>
              <a:rPr lang="en-GB" sz="2800" dirty="0" smtClean="0">
                <a:solidFill>
                  <a:schemeClr val="tx1"/>
                </a:solidFill>
              </a:rPr>
              <a:t>(&amp;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);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// </a:t>
            </a:r>
            <a:r>
              <a:rPr lang="en-GB" sz="2800" dirty="0" smtClean="0">
                <a:solidFill>
                  <a:schemeClr val="tx1"/>
                </a:solidFill>
              </a:rPr>
              <a:t>Add a descriptor to an </a:t>
            </a:r>
            <a:r>
              <a:rPr lang="en-GB" sz="2800" dirty="0" err="1" smtClean="0">
                <a:solidFill>
                  <a:schemeClr val="tx1"/>
                </a:solidFill>
              </a:rPr>
              <a:t>fd_set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 FD_SET(</a:t>
            </a:r>
            <a:r>
              <a:rPr lang="en-GB" sz="2800" dirty="0" err="1" smtClean="0">
                <a:solidFill>
                  <a:schemeClr val="tx1"/>
                </a:solidFill>
              </a:rPr>
              <a:t>master_sock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// </a:t>
            </a:r>
            <a:r>
              <a:rPr lang="en-GB" sz="2800" dirty="0" smtClean="0">
                <a:solidFill>
                  <a:schemeClr val="tx1"/>
                </a:solidFill>
              </a:rPr>
              <a:t>Remove a descriptor from an </a:t>
            </a:r>
            <a:r>
              <a:rPr lang="en-GB" sz="2800" dirty="0" err="1" smtClean="0">
                <a:solidFill>
                  <a:schemeClr val="tx1"/>
                </a:solidFill>
              </a:rPr>
              <a:t>fd_set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 FD_CLR(</a:t>
            </a:r>
            <a:r>
              <a:rPr lang="en-GB" sz="2800" dirty="0" err="1" smtClean="0">
                <a:solidFill>
                  <a:schemeClr val="tx1"/>
                </a:solidFill>
              </a:rPr>
              <a:t>master_sock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//</a:t>
            </a:r>
            <a:r>
              <a:rPr lang="en-GB" sz="2800" dirty="0" smtClean="0">
                <a:solidFill>
                  <a:schemeClr val="tx1"/>
                </a:solidFill>
              </a:rPr>
              <a:t>If something happened on the master socket , then its an incoming connection  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GB" sz="2800" dirty="0" smtClean="0">
                <a:solidFill>
                  <a:schemeClr val="tx1"/>
                </a:solidFill>
              </a:rPr>
              <a:t> FD_ISSET(</a:t>
            </a:r>
            <a:r>
              <a:rPr lang="en-GB" sz="2800" dirty="0" err="1" smtClean="0">
                <a:solidFill>
                  <a:schemeClr val="tx1"/>
                </a:solidFill>
              </a:rPr>
              <a:t>master_sock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836712"/>
            <a:ext cx="7848872" cy="5472608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activity </a:t>
            </a:r>
            <a:r>
              <a:rPr lang="en-GB" sz="2800" dirty="0" smtClean="0">
                <a:solidFill>
                  <a:schemeClr val="tx1"/>
                </a:solidFill>
              </a:rPr>
              <a:t>= select( </a:t>
            </a:r>
            <a:r>
              <a:rPr lang="en-GB" sz="2800" dirty="0" err="1" smtClean="0">
                <a:solidFill>
                  <a:schemeClr val="tx1"/>
                </a:solidFill>
              </a:rPr>
              <a:t>max_fd</a:t>
            </a:r>
            <a:r>
              <a:rPr lang="en-GB" sz="2800" dirty="0" smtClean="0">
                <a:solidFill>
                  <a:schemeClr val="tx1"/>
                </a:solidFill>
              </a:rPr>
              <a:t> + 1 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 , NULL , NULL , NULL);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//</a:t>
            </a:r>
            <a:r>
              <a:rPr lang="en-GB" sz="2800" dirty="0" smtClean="0">
                <a:solidFill>
                  <a:schemeClr val="tx1"/>
                </a:solidFill>
              </a:rPr>
              <a:t>Example code: A simple server side code, which </a:t>
            </a:r>
            <a:r>
              <a:rPr lang="en-GB" sz="2800" dirty="0" err="1" smtClean="0">
                <a:solidFill>
                  <a:schemeClr val="tx1"/>
                </a:solidFill>
              </a:rPr>
              <a:t>echos</a:t>
            </a:r>
            <a:r>
              <a:rPr lang="en-GB" sz="2800" dirty="0" smtClean="0">
                <a:solidFill>
                  <a:schemeClr val="tx1"/>
                </a:solidFill>
              </a:rPr>
              <a:t> back the received message.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//Handle multiple socket connections with select and </a:t>
            </a:r>
            <a:r>
              <a:rPr lang="en-GB" sz="2800" dirty="0" err="1" smtClean="0">
                <a:solidFill>
                  <a:schemeClr val="tx1"/>
                </a:solidFill>
              </a:rPr>
              <a:t>fd_set</a:t>
            </a:r>
            <a:r>
              <a:rPr lang="en-GB" sz="2800" dirty="0" smtClean="0">
                <a:solidFill>
                  <a:schemeClr val="tx1"/>
                </a:solidFill>
              </a:rPr>
              <a:t> on Linux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964488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stdio.h</a:t>
            </a:r>
            <a:r>
              <a:rPr lang="en-GB" sz="2800" dirty="0" smtClean="0">
                <a:solidFill>
                  <a:schemeClr val="tx1"/>
                </a:solidFill>
              </a:rPr>
              <a:t>&gt;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string.h</a:t>
            </a:r>
            <a:r>
              <a:rPr lang="en-GB" sz="2800" dirty="0" smtClean="0">
                <a:solidFill>
                  <a:schemeClr val="tx1"/>
                </a:solidFill>
              </a:rPr>
              <a:t>&gt;   //</a:t>
            </a:r>
            <a:r>
              <a:rPr lang="en-GB" sz="2800" dirty="0" err="1" smtClean="0">
                <a:solidFill>
                  <a:schemeClr val="tx1"/>
                </a:solidFill>
              </a:rPr>
              <a:t>strlen</a:t>
            </a:r>
            <a:r>
              <a:rPr lang="en-GB" sz="2800" dirty="0" smtClean="0">
                <a:solidFill>
                  <a:schemeClr val="tx1"/>
                </a:solidFill>
              </a:rPr>
              <a:t>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stdlib.h</a:t>
            </a:r>
            <a:r>
              <a:rPr lang="en-GB" sz="2800" dirty="0" smtClean="0">
                <a:solidFill>
                  <a:schemeClr val="tx1"/>
                </a:solidFill>
              </a:rPr>
              <a:t>&gt;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errno.h</a:t>
            </a:r>
            <a:r>
              <a:rPr lang="en-GB" sz="2800" dirty="0" smtClean="0">
                <a:solidFill>
                  <a:schemeClr val="tx1"/>
                </a:solidFill>
              </a:rPr>
              <a:t>&gt;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unistd.h</a:t>
            </a:r>
            <a:r>
              <a:rPr lang="en-GB" sz="2800" dirty="0" smtClean="0">
                <a:solidFill>
                  <a:schemeClr val="tx1"/>
                </a:solidFill>
              </a:rPr>
              <a:t>&gt;   //close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arpa</a:t>
            </a:r>
            <a:r>
              <a:rPr lang="en-GB" sz="2800" dirty="0" smtClean="0">
                <a:solidFill>
                  <a:schemeClr val="tx1"/>
                </a:solidFill>
              </a:rPr>
              <a:t>/</a:t>
            </a:r>
            <a:r>
              <a:rPr lang="en-GB" sz="2800" dirty="0" err="1" smtClean="0">
                <a:solidFill>
                  <a:schemeClr val="tx1"/>
                </a:solidFill>
              </a:rPr>
              <a:t>inet.h</a:t>
            </a:r>
            <a:r>
              <a:rPr lang="en-GB" sz="2800" dirty="0" smtClean="0">
                <a:solidFill>
                  <a:schemeClr val="tx1"/>
                </a:solidFill>
              </a:rPr>
              <a:t>&gt;    //close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&lt;sys/</a:t>
            </a:r>
            <a:r>
              <a:rPr lang="en-GB" sz="2800" dirty="0" err="1" smtClean="0">
                <a:solidFill>
                  <a:schemeClr val="tx1"/>
                </a:solidFill>
              </a:rPr>
              <a:t>types.h</a:t>
            </a:r>
            <a:r>
              <a:rPr lang="en-GB" sz="2800" dirty="0" smtClean="0">
                <a:solidFill>
                  <a:schemeClr val="tx1"/>
                </a:solidFill>
              </a:rPr>
              <a:t>&gt;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&lt;sys/</a:t>
            </a:r>
            <a:r>
              <a:rPr lang="en-GB" sz="2800" dirty="0" err="1" smtClean="0">
                <a:solidFill>
                  <a:schemeClr val="tx1"/>
                </a:solidFill>
              </a:rPr>
              <a:t>socket.h</a:t>
            </a:r>
            <a:r>
              <a:rPr lang="en-GB" sz="2800" dirty="0" smtClean="0">
                <a:solidFill>
                  <a:schemeClr val="tx1"/>
                </a:solidFill>
              </a:rPr>
              <a:t>&gt;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netinet</a:t>
            </a:r>
            <a:r>
              <a:rPr lang="en-GB" sz="2800" dirty="0" smtClean="0">
                <a:solidFill>
                  <a:schemeClr val="tx1"/>
                </a:solidFill>
              </a:rPr>
              <a:t>/</a:t>
            </a:r>
            <a:r>
              <a:rPr lang="en-GB" sz="2800" dirty="0" err="1" smtClean="0">
                <a:solidFill>
                  <a:schemeClr val="tx1"/>
                </a:solidFill>
              </a:rPr>
              <a:t>in.h</a:t>
            </a:r>
            <a:r>
              <a:rPr lang="en-GB" sz="2800" dirty="0" smtClean="0">
                <a:solidFill>
                  <a:schemeClr val="tx1"/>
                </a:solidFill>
              </a:rPr>
              <a:t>&gt;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&lt;sys/</a:t>
            </a:r>
            <a:r>
              <a:rPr lang="en-GB" sz="2800" dirty="0" err="1" smtClean="0">
                <a:solidFill>
                  <a:schemeClr val="tx1"/>
                </a:solidFill>
              </a:rPr>
              <a:t>time.h</a:t>
            </a:r>
            <a:r>
              <a:rPr lang="en-GB" sz="2800" dirty="0" smtClean="0">
                <a:solidFill>
                  <a:schemeClr val="tx1"/>
                </a:solidFill>
              </a:rPr>
              <a:t>&gt; //FD_SET, FD_ISSET, FD_ZERO macros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88640"/>
            <a:ext cx="9144000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#define TRUE   1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#define FALSE  0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#define PORT 8888  </a:t>
            </a:r>
            <a:r>
              <a:rPr lang="en-GB" sz="2800" dirty="0" smtClean="0">
                <a:solidFill>
                  <a:schemeClr val="tx1"/>
                </a:solidFill>
              </a:rPr>
              <a:t>     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int main(int </a:t>
            </a:r>
            <a:r>
              <a:rPr lang="en-GB" sz="2800" dirty="0" err="1" smtClean="0">
                <a:solidFill>
                  <a:schemeClr val="tx1"/>
                </a:solidFill>
              </a:rPr>
              <a:t>argc</a:t>
            </a:r>
            <a:r>
              <a:rPr lang="en-GB" sz="2800" dirty="0" smtClean="0">
                <a:solidFill>
                  <a:schemeClr val="tx1"/>
                </a:solidFill>
              </a:rPr>
              <a:t> , char *</a:t>
            </a:r>
            <a:r>
              <a:rPr lang="en-GB" sz="2800" dirty="0" err="1" smtClean="0">
                <a:solidFill>
                  <a:schemeClr val="tx1"/>
                </a:solidFill>
              </a:rPr>
              <a:t>argv</a:t>
            </a:r>
            <a:r>
              <a:rPr lang="en-GB" sz="2800" dirty="0" smtClean="0">
                <a:solidFill>
                  <a:schemeClr val="tx1"/>
                </a:solidFill>
              </a:rPr>
              <a:t>[])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int opt = TRUE;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int </a:t>
            </a:r>
            <a:r>
              <a:rPr lang="en-GB" sz="2800" dirty="0" err="1" smtClean="0">
                <a:solidFill>
                  <a:schemeClr val="tx1"/>
                </a:solidFill>
              </a:rPr>
              <a:t>master_socket</a:t>
            </a:r>
            <a:r>
              <a:rPr lang="en-GB" sz="2800" dirty="0" smtClean="0">
                <a:solidFill>
                  <a:schemeClr val="tx1"/>
                </a:solidFill>
              </a:rPr>
              <a:t> , </a:t>
            </a:r>
            <a:r>
              <a:rPr lang="en-GB" sz="2800" dirty="0" err="1" smtClean="0">
                <a:solidFill>
                  <a:schemeClr val="tx1"/>
                </a:solidFill>
              </a:rPr>
              <a:t>addrlen</a:t>
            </a:r>
            <a:r>
              <a:rPr lang="en-GB" sz="2800" dirty="0" smtClean="0">
                <a:solidFill>
                  <a:schemeClr val="tx1"/>
                </a:solidFill>
              </a:rPr>
              <a:t> , </a:t>
            </a:r>
            <a:r>
              <a:rPr lang="en-GB" sz="2800" dirty="0" err="1" smtClean="0">
                <a:solidFill>
                  <a:schemeClr val="tx1"/>
                </a:solidFill>
              </a:rPr>
              <a:t>new_socket</a:t>
            </a:r>
            <a:r>
              <a:rPr lang="en-GB" sz="2800" dirty="0" smtClean="0">
                <a:solidFill>
                  <a:schemeClr val="tx1"/>
                </a:solidFill>
              </a:rPr>
              <a:t> , </a:t>
            </a:r>
            <a:r>
              <a:rPr lang="en-GB" sz="2800" dirty="0" err="1" smtClean="0">
                <a:solidFill>
                  <a:schemeClr val="tx1"/>
                </a:solidFill>
              </a:rPr>
              <a:t>client_socket</a:t>
            </a:r>
            <a:r>
              <a:rPr lang="en-GB" sz="2800" dirty="0" smtClean="0">
                <a:solidFill>
                  <a:schemeClr val="tx1"/>
                </a:solidFill>
              </a:rPr>
              <a:t>[30</a:t>
            </a:r>
            <a:r>
              <a:rPr lang="en-GB" sz="2800" dirty="0" smtClean="0">
                <a:solidFill>
                  <a:schemeClr val="tx1"/>
                </a:solidFill>
              </a:rPr>
              <a:t>] ,  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max_clients</a:t>
            </a:r>
            <a:r>
              <a:rPr lang="en-GB" sz="2800" dirty="0" smtClean="0">
                <a:solidFill>
                  <a:schemeClr val="tx1"/>
                </a:solidFill>
              </a:rPr>
              <a:t> = 30 , activity, 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 , </a:t>
            </a:r>
            <a:r>
              <a:rPr lang="en-GB" sz="2800" dirty="0" err="1" smtClean="0">
                <a:solidFill>
                  <a:schemeClr val="tx1"/>
                </a:solidFill>
              </a:rPr>
              <a:t>valread</a:t>
            </a:r>
            <a:r>
              <a:rPr lang="en-GB" sz="2800" dirty="0" smtClean="0">
                <a:solidFill>
                  <a:schemeClr val="tx1"/>
                </a:solidFill>
              </a:rPr>
              <a:t> , </a:t>
            </a:r>
            <a:r>
              <a:rPr lang="en-GB" sz="2800" dirty="0" err="1" smtClean="0">
                <a:solidFill>
                  <a:schemeClr val="tx1"/>
                </a:solidFill>
              </a:rPr>
              <a:t>sd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max_sd</a:t>
            </a:r>
            <a:r>
              <a:rPr lang="en-GB" sz="2800" dirty="0" smtClean="0">
                <a:solidFill>
                  <a:schemeClr val="tx1"/>
                </a:solidFill>
              </a:rPr>
              <a:t>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sockaddr_in</a:t>
            </a:r>
            <a:r>
              <a:rPr lang="en-GB" sz="2800" dirty="0" smtClean="0">
                <a:solidFill>
                  <a:schemeClr val="tx1"/>
                </a:solidFill>
              </a:rPr>
              <a:t> address;   </a:t>
            </a:r>
            <a:r>
              <a:rPr lang="en-GB" sz="2800" dirty="0" smtClean="0">
                <a:solidFill>
                  <a:schemeClr val="tx1"/>
                </a:solidFill>
              </a:rPr>
              <a:t>         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char buffer[1025];  //data buffer of 1K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188640"/>
            <a:ext cx="8712968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//set of socket descriptors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err="1" smtClean="0">
                <a:solidFill>
                  <a:schemeClr val="tx1"/>
                </a:solidFill>
              </a:rPr>
              <a:t>fd_set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//a message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char *message = "ECHO Daemon v1.0 \r\n";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//initialise all </a:t>
            </a:r>
            <a:r>
              <a:rPr lang="en-GB" sz="2800" dirty="0" err="1" smtClean="0">
                <a:solidFill>
                  <a:schemeClr val="tx1"/>
                </a:solidFill>
              </a:rPr>
              <a:t>client_socket</a:t>
            </a:r>
            <a:r>
              <a:rPr lang="en-GB" sz="2800" dirty="0" smtClean="0">
                <a:solidFill>
                  <a:schemeClr val="tx1"/>
                </a:solidFill>
              </a:rPr>
              <a:t>[] to 0 so not checked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for (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 = 0; 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 &lt; </a:t>
            </a:r>
            <a:r>
              <a:rPr lang="en-GB" sz="2800" dirty="0" err="1" smtClean="0">
                <a:solidFill>
                  <a:schemeClr val="tx1"/>
                </a:solidFill>
              </a:rPr>
              <a:t>max_clients</a:t>
            </a:r>
            <a:r>
              <a:rPr lang="en-GB" sz="2800" dirty="0" smtClean="0">
                <a:solidFill>
                  <a:schemeClr val="tx1"/>
                </a:solidFill>
              </a:rPr>
              <a:t>; 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++)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err="1" smtClean="0">
                <a:solidFill>
                  <a:schemeClr val="tx1"/>
                </a:solidFill>
              </a:rPr>
              <a:t>client_socket</a:t>
            </a:r>
            <a:r>
              <a:rPr lang="en-GB" sz="2800" dirty="0" smtClean="0">
                <a:solidFill>
                  <a:schemeClr val="tx1"/>
                </a:solidFill>
              </a:rPr>
              <a:t>[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] = 0;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}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188640"/>
            <a:ext cx="8136904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</a:t>
            </a:r>
            <a:r>
              <a:rPr lang="en-GB" sz="2800" dirty="0" smtClean="0">
                <a:solidFill>
                  <a:schemeClr val="tx1"/>
                </a:solidFill>
              </a:rPr>
              <a:t>//create a master socket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if( (</a:t>
            </a:r>
            <a:r>
              <a:rPr lang="en-GB" sz="2800" dirty="0" err="1" smtClean="0">
                <a:solidFill>
                  <a:schemeClr val="tx1"/>
                </a:solidFill>
              </a:rPr>
              <a:t>master_socket</a:t>
            </a:r>
            <a:r>
              <a:rPr lang="en-GB" sz="2800" dirty="0" smtClean="0">
                <a:solidFill>
                  <a:schemeClr val="tx1"/>
                </a:solidFill>
              </a:rPr>
              <a:t> = socket(AF_INET , SOCK_STREAM , 0)) == 0)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{   </a:t>
            </a:r>
            <a:r>
              <a:rPr lang="en-GB" sz="2800" dirty="0" smtClean="0">
                <a:solidFill>
                  <a:schemeClr val="tx1"/>
                </a:solidFill>
              </a:rPr>
              <a:t>    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</a:t>
            </a:r>
            <a:r>
              <a:rPr lang="en-GB" sz="2800" dirty="0" smtClean="0">
                <a:solidFill>
                  <a:schemeClr val="tx1"/>
                </a:solidFill>
              </a:rPr>
              <a:t>	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("socket failed");  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		 </a:t>
            </a:r>
            <a:r>
              <a:rPr lang="en-GB" sz="2800" dirty="0" smtClean="0">
                <a:solidFill>
                  <a:schemeClr val="tx1"/>
                </a:solidFill>
              </a:rPr>
              <a:t>exit(EXIT_FAILURE); </a:t>
            </a:r>
            <a:r>
              <a:rPr lang="en-GB" sz="2800" dirty="0" smtClean="0">
                <a:solidFill>
                  <a:schemeClr val="tx1"/>
                </a:solidFill>
              </a:rPr>
              <a:t>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</a:t>
            </a:r>
            <a:r>
              <a:rPr lang="en-GB" sz="2800" dirty="0" smtClean="0">
                <a:solidFill>
                  <a:schemeClr val="tx1"/>
                </a:solidFill>
              </a:rPr>
              <a:t>}        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//set master socket to allow multiple connections ,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//this is just a good habit, it will work without this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188640"/>
            <a:ext cx="8712968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if</a:t>
            </a:r>
            <a:r>
              <a:rPr lang="en-GB" sz="2800" dirty="0" smtClean="0">
                <a:solidFill>
                  <a:schemeClr val="tx1"/>
                </a:solidFill>
              </a:rPr>
              <a:t>( </a:t>
            </a:r>
            <a:r>
              <a:rPr lang="en-GB" sz="2800" dirty="0" err="1" smtClean="0">
                <a:solidFill>
                  <a:schemeClr val="tx1"/>
                </a:solidFill>
              </a:rPr>
              <a:t>setsockopt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master_socket</a:t>
            </a:r>
            <a:r>
              <a:rPr lang="en-GB" sz="2800" dirty="0" smtClean="0">
                <a:solidFill>
                  <a:schemeClr val="tx1"/>
                </a:solidFill>
              </a:rPr>
              <a:t>, SOL_SOCKET, SO_REUSEADDR, (char *)&amp;opt,  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(opt)) &lt; 0 )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</a:t>
            </a:r>
            <a:r>
              <a:rPr lang="en-GB" sz="2800" dirty="0" err="1" smtClean="0">
                <a:solidFill>
                  <a:schemeClr val="tx1"/>
                </a:solidFill>
              </a:rPr>
              <a:t>setsockopt</a:t>
            </a:r>
            <a:r>
              <a:rPr lang="en-GB" sz="2800" dirty="0" smtClean="0">
                <a:solidFill>
                  <a:schemeClr val="tx1"/>
                </a:solidFill>
              </a:rPr>
              <a:t>");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exit(EXIT_FAILURE);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}   </a:t>
            </a:r>
            <a:r>
              <a:rPr lang="en-GB" sz="2800" dirty="0" smtClean="0">
                <a:solidFill>
                  <a:schemeClr val="tx1"/>
                </a:solidFill>
              </a:rPr>
              <a:t>     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//type of socket created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err="1" smtClean="0">
                <a:solidFill>
                  <a:schemeClr val="tx1"/>
                </a:solidFill>
              </a:rPr>
              <a:t>address.sin_family</a:t>
            </a:r>
            <a:r>
              <a:rPr lang="en-GB" sz="2800" dirty="0" smtClean="0">
                <a:solidFill>
                  <a:schemeClr val="tx1"/>
                </a:solidFill>
              </a:rPr>
              <a:t> = AF_INET;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err="1" smtClean="0">
                <a:solidFill>
                  <a:schemeClr val="tx1"/>
                </a:solidFill>
              </a:rPr>
              <a:t>address.sin_addr.s_addr</a:t>
            </a:r>
            <a:r>
              <a:rPr lang="en-GB" sz="2800" dirty="0" smtClean="0">
                <a:solidFill>
                  <a:schemeClr val="tx1"/>
                </a:solidFill>
              </a:rPr>
              <a:t> = INADDR_ANY;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err="1" smtClean="0">
                <a:solidFill>
                  <a:schemeClr val="tx1"/>
                </a:solidFill>
              </a:rPr>
              <a:t>address.sin_port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htons</a:t>
            </a:r>
            <a:r>
              <a:rPr lang="en-GB" sz="2800" dirty="0" smtClean="0">
                <a:solidFill>
                  <a:schemeClr val="tx1"/>
                </a:solidFill>
              </a:rPr>
              <a:t>( PORT );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188640"/>
            <a:ext cx="8712968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smtClean="0">
                <a:solidFill>
                  <a:schemeClr val="tx1"/>
                </a:solidFill>
              </a:rPr>
              <a:t>//bind the socket to </a:t>
            </a:r>
            <a:r>
              <a:rPr lang="en-GB" sz="2800" dirty="0" err="1" smtClean="0">
                <a:solidFill>
                  <a:schemeClr val="tx1"/>
                </a:solidFill>
              </a:rPr>
              <a:t>localhost</a:t>
            </a:r>
            <a:r>
              <a:rPr lang="en-GB" sz="2800" dirty="0" smtClean="0">
                <a:solidFill>
                  <a:schemeClr val="tx1"/>
                </a:solidFill>
              </a:rPr>
              <a:t> port 8888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if (bind(</a:t>
            </a:r>
            <a:r>
              <a:rPr lang="en-GB" sz="2800" dirty="0" err="1" smtClean="0">
                <a:solidFill>
                  <a:schemeClr val="tx1"/>
                </a:solidFill>
              </a:rPr>
              <a:t>master_socket</a:t>
            </a:r>
            <a:r>
              <a:rPr lang="en-GB" sz="2800" dirty="0" smtClean="0">
                <a:solidFill>
                  <a:schemeClr val="tx1"/>
                </a:solidFill>
              </a:rPr>
              <a:t>, 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 *)&amp;address,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(address))&lt;0)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("bind failed");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exit(EXIT_FAILURE);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}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("Listener on port %d \n", PORT);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188640"/>
            <a:ext cx="8712968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smtClean="0">
                <a:solidFill>
                  <a:schemeClr val="tx1"/>
                </a:solidFill>
              </a:rPr>
              <a:t>//try to specify maximum of 3 pending connections for the master socket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if (listen(</a:t>
            </a:r>
            <a:r>
              <a:rPr lang="en-GB" sz="2800" dirty="0" err="1" smtClean="0">
                <a:solidFill>
                  <a:schemeClr val="tx1"/>
                </a:solidFill>
              </a:rPr>
              <a:t>master_socket</a:t>
            </a:r>
            <a:r>
              <a:rPr lang="en-GB" sz="2800" dirty="0" smtClean="0">
                <a:solidFill>
                  <a:schemeClr val="tx1"/>
                </a:solidFill>
              </a:rPr>
              <a:t>, 3) &lt; 0)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("listen");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exit(EXIT_FAILURE);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}   </a:t>
            </a:r>
            <a:r>
              <a:rPr lang="en-GB" sz="2800" dirty="0" smtClean="0">
                <a:solidFill>
                  <a:schemeClr val="tx1"/>
                </a:solidFill>
              </a:rPr>
              <a:t>         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//accept the incoming connection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err="1" smtClean="0">
                <a:solidFill>
                  <a:schemeClr val="tx1"/>
                </a:solidFill>
              </a:rPr>
              <a:t>addrlen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(address);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puts("Waiting for connections ...");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188640"/>
            <a:ext cx="8712968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smtClean="0">
                <a:solidFill>
                  <a:schemeClr val="tx1"/>
                </a:solidFill>
              </a:rPr>
              <a:t>while(TRUE)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//clear the socket set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b="1" dirty="0" smtClean="0">
                <a:solidFill>
                  <a:srgbClr val="FF0000"/>
                </a:solidFill>
              </a:rPr>
              <a:t>     FD_ZERO(&amp;</a:t>
            </a:r>
            <a:r>
              <a:rPr lang="en-GB" sz="2800" b="1" dirty="0" err="1" smtClean="0">
                <a:solidFill>
                  <a:srgbClr val="FF0000"/>
                </a:solidFill>
              </a:rPr>
              <a:t>readfds</a:t>
            </a:r>
            <a:r>
              <a:rPr lang="en-GB" sz="2800" b="1" dirty="0" smtClean="0">
                <a:solidFill>
                  <a:srgbClr val="FF0000"/>
                </a:solidFill>
              </a:rPr>
              <a:t>);  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   </a:t>
            </a: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smtClean="0">
                <a:solidFill>
                  <a:schemeClr val="tx1"/>
                </a:solidFill>
              </a:rPr>
              <a:t>//add master socket to set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</a:t>
            </a:r>
            <a:r>
              <a:rPr lang="en-GB" sz="2800" b="1" dirty="0" smtClean="0">
                <a:solidFill>
                  <a:srgbClr val="FF0000"/>
                </a:solidFill>
              </a:rPr>
              <a:t> FD_SET(</a:t>
            </a:r>
            <a:r>
              <a:rPr lang="en-GB" sz="2800" b="1" dirty="0" err="1" smtClean="0">
                <a:solidFill>
                  <a:srgbClr val="FF0000"/>
                </a:solidFill>
              </a:rPr>
              <a:t>master_socket</a:t>
            </a:r>
            <a:r>
              <a:rPr lang="en-GB" sz="2800" b="1" dirty="0" smtClean="0">
                <a:solidFill>
                  <a:srgbClr val="FF0000"/>
                </a:solidFill>
              </a:rPr>
              <a:t>, &amp;</a:t>
            </a:r>
            <a:r>
              <a:rPr lang="en-GB" sz="2800" b="1" dirty="0" err="1" smtClean="0">
                <a:solidFill>
                  <a:srgbClr val="FF0000"/>
                </a:solidFill>
              </a:rPr>
              <a:t>readfds</a:t>
            </a:r>
            <a:r>
              <a:rPr lang="en-GB" sz="2800" b="1" dirty="0" smtClean="0">
                <a:solidFill>
                  <a:srgbClr val="FF0000"/>
                </a:solidFill>
              </a:rPr>
              <a:t>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        </a:t>
            </a:r>
            <a:r>
              <a:rPr lang="en-GB" sz="2800" b="1" dirty="0" err="1" smtClean="0">
                <a:solidFill>
                  <a:srgbClr val="FF0000"/>
                </a:solidFill>
              </a:rPr>
              <a:t>max_sd</a:t>
            </a:r>
            <a:r>
              <a:rPr lang="en-GB" sz="2800" b="1" dirty="0" smtClean="0">
                <a:solidFill>
                  <a:srgbClr val="FF0000"/>
                </a:solidFill>
              </a:rPr>
              <a:t> = </a:t>
            </a:r>
            <a:r>
              <a:rPr lang="en-GB" sz="2800" b="1" dirty="0" err="1" smtClean="0">
                <a:solidFill>
                  <a:srgbClr val="FF0000"/>
                </a:solidFill>
              </a:rPr>
              <a:t>master_socket</a:t>
            </a:r>
            <a:r>
              <a:rPr lang="en-GB" sz="2800" b="1" dirty="0" smtClean="0">
                <a:solidFill>
                  <a:srgbClr val="FF0000"/>
                </a:solidFill>
              </a:rPr>
              <a:t>;  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       </a:t>
            </a: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chemeClr val="tx1"/>
                </a:solidFill>
              </a:rPr>
              <a:t>//add child sockets to set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188640"/>
            <a:ext cx="8712968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</a:t>
            </a:r>
            <a:r>
              <a:rPr lang="en-GB" sz="2800" dirty="0" smtClean="0">
                <a:solidFill>
                  <a:schemeClr val="tx1"/>
                </a:solidFill>
              </a:rPr>
              <a:t>for ( 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 = 0 ; 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 &lt; </a:t>
            </a:r>
            <a:r>
              <a:rPr lang="en-GB" sz="2800" dirty="0" err="1" smtClean="0">
                <a:solidFill>
                  <a:schemeClr val="tx1"/>
                </a:solidFill>
              </a:rPr>
              <a:t>max_clients</a:t>
            </a:r>
            <a:r>
              <a:rPr lang="en-GB" sz="2800" dirty="0" smtClean="0">
                <a:solidFill>
                  <a:schemeClr val="tx1"/>
                </a:solidFill>
              </a:rPr>
              <a:t> ; 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++)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//socket descriptor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</a:t>
            </a:r>
            <a:r>
              <a:rPr lang="en-GB" sz="2800" dirty="0" err="1" smtClean="0">
                <a:solidFill>
                  <a:schemeClr val="tx1"/>
                </a:solidFill>
              </a:rPr>
              <a:t>sd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client_socket</a:t>
            </a:r>
            <a:r>
              <a:rPr lang="en-GB" sz="2800" dirty="0" smtClean="0">
                <a:solidFill>
                  <a:schemeClr val="tx1"/>
                </a:solidFill>
              </a:rPr>
              <a:t>[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];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</a:t>
            </a:r>
            <a:r>
              <a:rPr lang="en-GB" sz="2800" dirty="0" smtClean="0">
                <a:solidFill>
                  <a:schemeClr val="tx1"/>
                </a:solidFill>
              </a:rPr>
              <a:t>//</a:t>
            </a:r>
            <a:r>
              <a:rPr lang="en-GB" sz="2800" dirty="0" smtClean="0">
                <a:solidFill>
                  <a:schemeClr val="tx1"/>
                </a:solidFill>
              </a:rPr>
              <a:t>if valid socket descriptor then add to read list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if(</a:t>
            </a:r>
            <a:r>
              <a:rPr lang="en-GB" sz="2800" dirty="0" err="1" smtClean="0">
                <a:solidFill>
                  <a:schemeClr val="tx1"/>
                </a:solidFill>
              </a:rPr>
              <a:t>sd</a:t>
            </a:r>
            <a:r>
              <a:rPr lang="en-GB" sz="2800" dirty="0" smtClean="0">
                <a:solidFill>
                  <a:schemeClr val="tx1"/>
                </a:solidFill>
              </a:rPr>
              <a:t> &gt; 0)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</a:t>
            </a:r>
            <a:r>
              <a:rPr lang="en-GB" sz="2800" dirty="0" smtClean="0">
                <a:solidFill>
                  <a:schemeClr val="tx1"/>
                </a:solidFill>
              </a:rPr>
              <a:t>FD_SET( </a:t>
            </a:r>
            <a:r>
              <a:rPr lang="en-GB" sz="2800" dirty="0" err="1" smtClean="0">
                <a:solidFill>
                  <a:schemeClr val="tx1"/>
                </a:solidFill>
              </a:rPr>
              <a:t>sd</a:t>
            </a:r>
            <a:r>
              <a:rPr lang="en-GB" sz="2800" dirty="0" smtClean="0">
                <a:solidFill>
                  <a:schemeClr val="tx1"/>
                </a:solidFill>
              </a:rPr>
              <a:t> 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chemeClr val="tx1"/>
                </a:solidFill>
              </a:rPr>
              <a:t>//highest file descriptor </a:t>
            </a:r>
            <a:r>
              <a:rPr lang="en-GB" sz="2800" dirty="0" smtClean="0">
                <a:solidFill>
                  <a:schemeClr val="tx1"/>
                </a:solidFill>
              </a:rPr>
              <a:t>num, </a:t>
            </a:r>
            <a:r>
              <a:rPr lang="en-GB" sz="2800" dirty="0" smtClean="0">
                <a:solidFill>
                  <a:schemeClr val="tx1"/>
                </a:solidFill>
              </a:rPr>
              <a:t>need it for </a:t>
            </a:r>
            <a:r>
              <a:rPr lang="en-GB" sz="2800" dirty="0" smtClean="0">
                <a:solidFill>
                  <a:schemeClr val="tx1"/>
                </a:solidFill>
              </a:rPr>
              <a:t>select </a:t>
            </a:r>
            <a:r>
              <a:rPr lang="en-GB" sz="2800" dirty="0" smtClean="0">
                <a:solidFill>
                  <a:schemeClr val="tx1"/>
                </a:solidFill>
              </a:rPr>
              <a:t>function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if(</a:t>
            </a:r>
            <a:r>
              <a:rPr lang="en-GB" sz="2800" dirty="0" err="1" smtClean="0">
                <a:solidFill>
                  <a:schemeClr val="tx1"/>
                </a:solidFill>
              </a:rPr>
              <a:t>sd</a:t>
            </a:r>
            <a:r>
              <a:rPr lang="en-GB" sz="2800" dirty="0" smtClean="0">
                <a:solidFill>
                  <a:schemeClr val="tx1"/>
                </a:solidFill>
              </a:rPr>
              <a:t> &gt; </a:t>
            </a:r>
            <a:r>
              <a:rPr lang="en-GB" sz="2800" dirty="0" err="1" smtClean="0">
                <a:solidFill>
                  <a:schemeClr val="tx1"/>
                </a:solidFill>
              </a:rPr>
              <a:t>max_sd</a:t>
            </a:r>
            <a:r>
              <a:rPr lang="en-GB" sz="2800" dirty="0" smtClean="0">
                <a:solidFill>
                  <a:schemeClr val="tx1"/>
                </a:solidFill>
              </a:rPr>
              <a:t>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</a:t>
            </a:r>
            <a:r>
              <a:rPr lang="en-GB" sz="2800" dirty="0" err="1" smtClean="0">
                <a:solidFill>
                  <a:schemeClr val="tx1"/>
                </a:solidFill>
              </a:rPr>
              <a:t>max_sd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sd</a:t>
            </a:r>
            <a:r>
              <a:rPr lang="en-GB" sz="2800" dirty="0" smtClean="0">
                <a:solidFill>
                  <a:schemeClr val="tx1"/>
                </a:solidFill>
              </a:rPr>
              <a:t>;   </a:t>
            </a:r>
            <a:r>
              <a:rPr lang="en-GB" sz="2800" dirty="0" smtClean="0">
                <a:solidFill>
                  <a:schemeClr val="tx1"/>
                </a:solidFill>
              </a:rPr>
              <a:t>        }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88640"/>
            <a:ext cx="9144000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</a:t>
            </a:r>
            <a:r>
              <a:rPr lang="en-GB" sz="2800" dirty="0" smtClean="0">
                <a:solidFill>
                  <a:schemeClr val="tx1"/>
                </a:solidFill>
              </a:rPr>
              <a:t>//wait for an activity on one of </a:t>
            </a:r>
            <a:r>
              <a:rPr lang="en-GB" sz="2800" dirty="0" smtClean="0">
                <a:solidFill>
                  <a:schemeClr val="tx1"/>
                </a:solidFill>
              </a:rPr>
              <a:t>the sockets </a:t>
            </a:r>
            <a:r>
              <a:rPr lang="en-GB" sz="2800" dirty="0" smtClean="0">
                <a:solidFill>
                  <a:schemeClr val="tx1"/>
                </a:solidFill>
              </a:rPr>
              <a:t>, timeout is </a:t>
            </a:r>
            <a:r>
              <a:rPr lang="en-GB" sz="2800" dirty="0" smtClean="0">
                <a:solidFill>
                  <a:schemeClr val="tx1"/>
                </a:solidFill>
              </a:rPr>
              <a:t> //    NULL </a:t>
            </a:r>
            <a:r>
              <a:rPr lang="en-GB" sz="2800" dirty="0" smtClean="0">
                <a:solidFill>
                  <a:schemeClr val="tx1"/>
                </a:solidFill>
              </a:rPr>
              <a:t>,  </a:t>
            </a:r>
            <a:r>
              <a:rPr lang="en-GB" sz="2800" dirty="0" smtClean="0">
                <a:solidFill>
                  <a:schemeClr val="tx1"/>
                </a:solidFill>
              </a:rPr>
              <a:t>So </a:t>
            </a:r>
            <a:r>
              <a:rPr lang="en-GB" sz="2800" dirty="0" smtClean="0">
                <a:solidFill>
                  <a:schemeClr val="tx1"/>
                </a:solidFill>
              </a:rPr>
              <a:t>wait indefinitely  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activity </a:t>
            </a:r>
            <a:r>
              <a:rPr lang="en-GB" sz="2800" dirty="0" smtClean="0">
                <a:solidFill>
                  <a:schemeClr val="tx1"/>
                </a:solidFill>
              </a:rPr>
              <a:t>= select( </a:t>
            </a:r>
            <a:r>
              <a:rPr lang="en-GB" sz="2800" dirty="0" err="1" smtClean="0">
                <a:solidFill>
                  <a:schemeClr val="tx1"/>
                </a:solidFill>
              </a:rPr>
              <a:t>max_sd</a:t>
            </a:r>
            <a:r>
              <a:rPr lang="en-GB" sz="2800" dirty="0" smtClean="0">
                <a:solidFill>
                  <a:schemeClr val="tx1"/>
                </a:solidFill>
              </a:rPr>
              <a:t> + 1 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 , NULL , NULL , NULL);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</a:t>
            </a: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smtClean="0">
                <a:solidFill>
                  <a:schemeClr val="tx1"/>
                </a:solidFill>
              </a:rPr>
              <a:t>if ((activity &lt; 0) &amp;&amp; (</a:t>
            </a:r>
            <a:r>
              <a:rPr lang="en-GB" sz="2800" dirty="0" err="1" smtClean="0">
                <a:solidFill>
                  <a:schemeClr val="tx1"/>
                </a:solidFill>
              </a:rPr>
              <a:t>errno</a:t>
            </a:r>
            <a:r>
              <a:rPr lang="en-GB" sz="2800" dirty="0" smtClean="0">
                <a:solidFill>
                  <a:schemeClr val="tx1"/>
                </a:solidFill>
              </a:rPr>
              <a:t>!=EINTR))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("select error");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}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chemeClr val="tx1"/>
                </a:solidFill>
              </a:rPr>
              <a:t>//If something happened on the master socket ,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//then its an incoming connection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496944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if </a:t>
            </a:r>
            <a:r>
              <a:rPr lang="en-GB" sz="2800" dirty="0" smtClean="0">
                <a:solidFill>
                  <a:schemeClr val="tx1"/>
                </a:solidFill>
              </a:rPr>
              <a:t>(FD_ISSET(</a:t>
            </a:r>
            <a:r>
              <a:rPr lang="en-GB" sz="2800" dirty="0" err="1" smtClean="0">
                <a:solidFill>
                  <a:schemeClr val="tx1"/>
                </a:solidFill>
              </a:rPr>
              <a:t>master_socket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if ((</a:t>
            </a:r>
            <a:r>
              <a:rPr lang="en-GB" sz="2800" dirty="0" err="1" smtClean="0">
                <a:solidFill>
                  <a:schemeClr val="tx1"/>
                </a:solidFill>
              </a:rPr>
              <a:t>new_socket</a:t>
            </a:r>
            <a:r>
              <a:rPr lang="en-GB" sz="2800" dirty="0" smtClean="0">
                <a:solidFill>
                  <a:schemeClr val="tx1"/>
                </a:solidFill>
              </a:rPr>
              <a:t> = accept(</a:t>
            </a:r>
            <a:r>
              <a:rPr lang="en-GB" sz="2800" dirty="0" err="1" smtClean="0">
                <a:solidFill>
                  <a:schemeClr val="tx1"/>
                </a:solidFill>
              </a:rPr>
              <a:t>master_socket</a:t>
            </a:r>
            <a:r>
              <a:rPr lang="en-GB" sz="2800" dirty="0" smtClean="0">
                <a:solidFill>
                  <a:schemeClr val="tx1"/>
                </a:solidFill>
              </a:rPr>
              <a:t>,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 *)&amp;address, (</a:t>
            </a:r>
            <a:r>
              <a:rPr lang="en-GB" sz="2800" dirty="0" err="1" smtClean="0">
                <a:solidFill>
                  <a:schemeClr val="tx1"/>
                </a:solidFill>
              </a:rPr>
              <a:t>socklen_t</a:t>
            </a:r>
            <a:r>
              <a:rPr lang="en-GB" sz="2800" dirty="0" smtClean="0">
                <a:solidFill>
                  <a:schemeClr val="tx1"/>
                </a:solidFill>
              </a:rPr>
              <a:t>*)&amp;</a:t>
            </a:r>
            <a:r>
              <a:rPr lang="en-GB" sz="2800" dirty="0" err="1" smtClean="0">
                <a:solidFill>
                  <a:schemeClr val="tx1"/>
                </a:solidFill>
              </a:rPr>
              <a:t>addrlen</a:t>
            </a:r>
            <a:r>
              <a:rPr lang="en-GB" sz="2800" dirty="0" smtClean="0">
                <a:solidFill>
                  <a:schemeClr val="tx1"/>
                </a:solidFill>
              </a:rPr>
              <a:t>))&lt;0)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("accept");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exit(EXIT_FAILURE);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}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496944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//</a:t>
            </a:r>
            <a:r>
              <a:rPr lang="en-GB" sz="2800" dirty="0" smtClean="0">
                <a:solidFill>
                  <a:schemeClr val="tx1"/>
                </a:solidFill>
              </a:rPr>
              <a:t>inform user of socket number - used in send and receive commands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("New connection , socket </a:t>
            </a:r>
            <a:r>
              <a:rPr lang="en-GB" sz="2800" dirty="0" err="1" smtClean="0">
                <a:solidFill>
                  <a:schemeClr val="tx1"/>
                </a:solidFill>
              </a:rPr>
              <a:t>fd</a:t>
            </a:r>
            <a:r>
              <a:rPr lang="en-GB" sz="2800" dirty="0" smtClean="0">
                <a:solidFill>
                  <a:schemeClr val="tx1"/>
                </a:solidFill>
              </a:rPr>
              <a:t> is %d , </a:t>
            </a:r>
            <a:r>
              <a:rPr lang="en-GB" sz="2800" dirty="0" err="1" smtClean="0">
                <a:solidFill>
                  <a:schemeClr val="tx1"/>
                </a:solidFill>
              </a:rPr>
              <a:t>ip</a:t>
            </a:r>
            <a:r>
              <a:rPr lang="en-GB" sz="2800" dirty="0" smtClean="0">
                <a:solidFill>
                  <a:schemeClr val="tx1"/>
                </a:solidFill>
              </a:rPr>
              <a:t> is : %s , port : %d  </a:t>
            </a:r>
            <a:r>
              <a:rPr lang="en-GB" sz="2800" dirty="0" smtClean="0">
                <a:solidFill>
                  <a:schemeClr val="tx1"/>
                </a:solidFill>
              </a:rPr>
              <a:t>\</a:t>
            </a:r>
            <a:r>
              <a:rPr lang="en-GB" sz="2800" dirty="0" smtClean="0">
                <a:solidFill>
                  <a:schemeClr val="tx1"/>
                </a:solidFill>
              </a:rPr>
              <a:t>n" , </a:t>
            </a:r>
            <a:r>
              <a:rPr lang="en-GB" sz="2800" dirty="0" err="1" smtClean="0">
                <a:solidFill>
                  <a:schemeClr val="tx1"/>
                </a:solidFill>
              </a:rPr>
              <a:t>new_socket</a:t>
            </a:r>
            <a:r>
              <a:rPr lang="en-GB" sz="2800" dirty="0" smtClean="0">
                <a:solidFill>
                  <a:schemeClr val="tx1"/>
                </a:solidFill>
              </a:rPr>
              <a:t> , </a:t>
            </a:r>
            <a:r>
              <a:rPr lang="en-GB" sz="2800" dirty="0" err="1" smtClean="0">
                <a:solidFill>
                  <a:schemeClr val="tx1"/>
                </a:solidFill>
              </a:rPr>
              <a:t>inet_ntoa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address.sin_addr</a:t>
            </a:r>
            <a:r>
              <a:rPr lang="en-GB" sz="2800" dirty="0" smtClean="0">
                <a:solidFill>
                  <a:schemeClr val="tx1"/>
                </a:solidFill>
              </a:rPr>
              <a:t>) , </a:t>
            </a:r>
            <a:r>
              <a:rPr lang="en-GB" sz="2800" dirty="0" err="1" smtClean="0">
                <a:solidFill>
                  <a:schemeClr val="tx1"/>
                </a:solidFill>
              </a:rPr>
              <a:t>ntohs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address.sin_port</a:t>
            </a:r>
            <a:r>
              <a:rPr lang="en-GB" sz="2800" dirty="0" smtClean="0">
                <a:solidFill>
                  <a:schemeClr val="tx1"/>
                </a:solidFill>
              </a:rPr>
              <a:t>));   </a:t>
            </a:r>
            <a:r>
              <a:rPr lang="en-GB" sz="2800" dirty="0" smtClean="0">
                <a:solidFill>
                  <a:schemeClr val="tx1"/>
                </a:solidFill>
              </a:rPr>
              <a:t>           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chemeClr val="tx1"/>
                </a:solidFill>
              </a:rPr>
              <a:t>//send new connection greeting message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if( send(</a:t>
            </a:r>
            <a:r>
              <a:rPr lang="en-GB" sz="2800" dirty="0" err="1" smtClean="0">
                <a:solidFill>
                  <a:schemeClr val="tx1"/>
                </a:solidFill>
              </a:rPr>
              <a:t>new_socket</a:t>
            </a:r>
            <a:r>
              <a:rPr lang="en-GB" sz="2800" dirty="0" smtClean="0">
                <a:solidFill>
                  <a:schemeClr val="tx1"/>
                </a:solidFill>
              </a:rPr>
              <a:t>, message, </a:t>
            </a:r>
            <a:r>
              <a:rPr lang="en-GB" sz="2800" dirty="0" err="1" smtClean="0">
                <a:solidFill>
                  <a:schemeClr val="tx1"/>
                </a:solidFill>
              </a:rPr>
              <a:t>strlen</a:t>
            </a:r>
            <a:r>
              <a:rPr lang="en-GB" sz="2800" dirty="0" smtClean="0">
                <a:solidFill>
                  <a:schemeClr val="tx1"/>
                </a:solidFill>
              </a:rPr>
              <a:t>(message), 0) != </a:t>
            </a:r>
            <a:r>
              <a:rPr lang="en-GB" sz="2800" dirty="0" err="1" smtClean="0">
                <a:solidFill>
                  <a:schemeClr val="tx1"/>
                </a:solidFill>
              </a:rPr>
              <a:t>strlen</a:t>
            </a:r>
            <a:r>
              <a:rPr lang="en-GB" sz="2800" dirty="0" smtClean="0">
                <a:solidFill>
                  <a:schemeClr val="tx1"/>
                </a:solidFill>
              </a:rPr>
              <a:t>(message) 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("send");  </a:t>
            </a:r>
            <a:r>
              <a:rPr lang="en-GB" sz="2800" dirty="0" smtClean="0">
                <a:solidFill>
                  <a:schemeClr val="tx1"/>
                </a:solidFill>
              </a:rPr>
              <a:t>           }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496944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</a:t>
            </a:r>
            <a:r>
              <a:rPr lang="en-GB" sz="2800" dirty="0" smtClean="0">
                <a:solidFill>
                  <a:schemeClr val="tx1"/>
                </a:solidFill>
              </a:rPr>
              <a:t>puts("Welcome message sent successfully");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//</a:t>
            </a:r>
            <a:r>
              <a:rPr lang="en-GB" sz="2800" dirty="0" smtClean="0">
                <a:solidFill>
                  <a:schemeClr val="tx1"/>
                </a:solidFill>
              </a:rPr>
              <a:t>add new socket to array of sockets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for (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 = 0; 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 &lt; </a:t>
            </a:r>
            <a:r>
              <a:rPr lang="en-GB" sz="2800" dirty="0" err="1" smtClean="0">
                <a:solidFill>
                  <a:schemeClr val="tx1"/>
                </a:solidFill>
              </a:rPr>
              <a:t>max_clients</a:t>
            </a:r>
            <a:r>
              <a:rPr lang="en-GB" sz="2800" dirty="0" smtClean="0">
                <a:solidFill>
                  <a:schemeClr val="tx1"/>
                </a:solidFill>
              </a:rPr>
              <a:t>; 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++)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//if position is empty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if( </a:t>
            </a:r>
            <a:r>
              <a:rPr lang="en-GB" sz="2800" dirty="0" err="1" smtClean="0">
                <a:solidFill>
                  <a:schemeClr val="tx1"/>
                </a:solidFill>
              </a:rPr>
              <a:t>client_socket</a:t>
            </a:r>
            <a:r>
              <a:rPr lang="en-GB" sz="2800" dirty="0" smtClean="0">
                <a:solidFill>
                  <a:schemeClr val="tx1"/>
                </a:solidFill>
              </a:rPr>
              <a:t>[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] == 0 )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    </a:t>
            </a:r>
            <a:r>
              <a:rPr lang="en-GB" sz="2800" dirty="0" err="1" smtClean="0">
                <a:solidFill>
                  <a:schemeClr val="tx1"/>
                </a:solidFill>
              </a:rPr>
              <a:t>client_socket</a:t>
            </a:r>
            <a:r>
              <a:rPr lang="en-GB" sz="2800" dirty="0" smtClean="0">
                <a:solidFill>
                  <a:schemeClr val="tx1"/>
                </a:solidFill>
              </a:rPr>
              <a:t>[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] = </a:t>
            </a:r>
            <a:r>
              <a:rPr lang="en-GB" sz="2800" dirty="0" err="1" smtClean="0">
                <a:solidFill>
                  <a:schemeClr val="tx1"/>
                </a:solidFill>
              </a:rPr>
              <a:t>new_socket</a:t>
            </a:r>
            <a:r>
              <a:rPr lang="en-GB" sz="2800" dirty="0" smtClean="0">
                <a:solidFill>
                  <a:schemeClr val="tx1"/>
                </a:solidFill>
              </a:rPr>
              <a:t>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   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("Adding to list of sockets as %d\n" , 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    </a:t>
            </a:r>
            <a:r>
              <a:rPr lang="en-GB" sz="2800" dirty="0" smtClean="0">
                <a:solidFill>
                  <a:schemeClr val="tx1"/>
                </a:solidFill>
              </a:rPr>
              <a:t>     </a:t>
            </a:r>
            <a:r>
              <a:rPr lang="en-GB" sz="2800" dirty="0" smtClean="0">
                <a:solidFill>
                  <a:schemeClr val="tx1"/>
                </a:solidFill>
              </a:rPr>
              <a:t>break;   </a:t>
            </a:r>
            <a:r>
              <a:rPr lang="en-GB" sz="2800" dirty="0" smtClean="0">
                <a:solidFill>
                  <a:schemeClr val="tx1"/>
                </a:solidFill>
              </a:rPr>
              <a:t>                </a:t>
            </a:r>
            <a:r>
              <a:rPr lang="en-GB" sz="2800" dirty="0" smtClean="0">
                <a:solidFill>
                  <a:schemeClr val="tx1"/>
                </a:solidFill>
              </a:rPr>
              <a:t>} </a:t>
            </a:r>
            <a:r>
              <a:rPr lang="en-GB" sz="2800" dirty="0" smtClean="0">
                <a:solidFill>
                  <a:schemeClr val="tx1"/>
                </a:solidFill>
              </a:rPr>
              <a:t>            </a:t>
            </a:r>
            <a:r>
              <a:rPr lang="en-GB" sz="2800" dirty="0" smtClean="0">
                <a:solidFill>
                  <a:schemeClr val="tx1"/>
                </a:solidFill>
              </a:rPr>
              <a:t>}   </a:t>
            </a:r>
            <a:r>
              <a:rPr lang="en-GB" sz="2800" dirty="0" smtClean="0">
                <a:solidFill>
                  <a:schemeClr val="tx1"/>
                </a:solidFill>
              </a:rPr>
              <a:t>        }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496944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smtClean="0">
                <a:solidFill>
                  <a:schemeClr val="tx1"/>
                </a:solidFill>
              </a:rPr>
              <a:t>//else its some IO operation on some other socket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for (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 = 0; 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 &lt; </a:t>
            </a:r>
            <a:r>
              <a:rPr lang="en-GB" sz="2800" dirty="0" err="1" smtClean="0">
                <a:solidFill>
                  <a:schemeClr val="tx1"/>
                </a:solidFill>
              </a:rPr>
              <a:t>max_clients</a:t>
            </a:r>
            <a:r>
              <a:rPr lang="en-GB" sz="2800" dirty="0" smtClean="0">
                <a:solidFill>
                  <a:schemeClr val="tx1"/>
                </a:solidFill>
              </a:rPr>
              <a:t>; 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++)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</a:t>
            </a:r>
            <a:r>
              <a:rPr lang="en-GB" sz="2800" dirty="0" err="1" smtClean="0">
                <a:solidFill>
                  <a:schemeClr val="tx1"/>
                </a:solidFill>
              </a:rPr>
              <a:t>sd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client_socket</a:t>
            </a:r>
            <a:r>
              <a:rPr lang="en-GB" sz="2800" dirty="0" smtClean="0">
                <a:solidFill>
                  <a:schemeClr val="tx1"/>
                </a:solidFill>
              </a:rPr>
              <a:t>[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];   </a:t>
            </a:r>
            <a:r>
              <a:rPr lang="en-GB" sz="2800" dirty="0" smtClean="0">
                <a:solidFill>
                  <a:schemeClr val="tx1"/>
                </a:solidFill>
              </a:rPr>
              <a:t>                 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if (FD_ISSET( </a:t>
            </a:r>
            <a:r>
              <a:rPr lang="en-GB" sz="2800" dirty="0" err="1" smtClean="0">
                <a:solidFill>
                  <a:schemeClr val="tx1"/>
                </a:solidFill>
              </a:rPr>
              <a:t>sd</a:t>
            </a:r>
            <a:r>
              <a:rPr lang="en-GB" sz="2800" dirty="0" smtClean="0">
                <a:solidFill>
                  <a:schemeClr val="tx1"/>
                </a:solidFill>
              </a:rPr>
              <a:t> 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smtClean="0">
                <a:solidFill>
                  <a:schemeClr val="tx1"/>
                </a:solidFill>
              </a:rPr>
              <a:t>//Check if it was for closing , and also read the  </a:t>
            </a:r>
            <a:r>
              <a:rPr lang="en-GB" sz="2800" dirty="0" smtClean="0">
                <a:solidFill>
                  <a:schemeClr val="tx1"/>
                </a:solidFill>
              </a:rPr>
              <a:t>               </a:t>
            </a:r>
            <a:r>
              <a:rPr lang="en-GB" sz="2800" dirty="0" smtClean="0">
                <a:solidFill>
                  <a:schemeClr val="tx1"/>
                </a:solidFill>
              </a:rPr>
              <a:t>//incoming message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496944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</a:t>
            </a:r>
            <a:r>
              <a:rPr lang="en-GB" sz="2800" dirty="0" smtClean="0">
                <a:solidFill>
                  <a:schemeClr val="tx1"/>
                </a:solidFill>
              </a:rPr>
              <a:t>if ((</a:t>
            </a:r>
            <a:r>
              <a:rPr lang="en-GB" sz="2800" dirty="0" err="1" smtClean="0">
                <a:solidFill>
                  <a:schemeClr val="tx1"/>
                </a:solidFill>
              </a:rPr>
              <a:t>valread</a:t>
            </a:r>
            <a:r>
              <a:rPr lang="en-GB" sz="2800" dirty="0" smtClean="0">
                <a:solidFill>
                  <a:schemeClr val="tx1"/>
                </a:solidFill>
              </a:rPr>
              <a:t> = read( </a:t>
            </a:r>
            <a:r>
              <a:rPr lang="en-GB" sz="2800" dirty="0" err="1" smtClean="0">
                <a:solidFill>
                  <a:schemeClr val="tx1"/>
                </a:solidFill>
              </a:rPr>
              <a:t>sd</a:t>
            </a:r>
            <a:r>
              <a:rPr lang="en-GB" sz="2800" dirty="0" smtClean="0">
                <a:solidFill>
                  <a:schemeClr val="tx1"/>
                </a:solidFill>
              </a:rPr>
              <a:t> , buffer, 1024)) == 0)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{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smtClean="0">
                <a:solidFill>
                  <a:schemeClr val="tx1"/>
                </a:solidFill>
              </a:rPr>
              <a:t>//</a:t>
            </a:r>
            <a:r>
              <a:rPr lang="en-GB" sz="2800" dirty="0" smtClean="0">
                <a:solidFill>
                  <a:schemeClr val="tx1"/>
                </a:solidFill>
              </a:rPr>
              <a:t>Somebody disconnected , get his details and print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getpeername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sd</a:t>
            </a:r>
            <a:r>
              <a:rPr lang="en-GB" sz="2800" dirty="0" smtClean="0">
                <a:solidFill>
                  <a:schemeClr val="tx1"/>
                </a:solidFill>
              </a:rPr>
              <a:t> , 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*)&amp;address , \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socklen_t</a:t>
            </a:r>
            <a:r>
              <a:rPr lang="en-GB" sz="2800" dirty="0" smtClean="0">
                <a:solidFill>
                  <a:schemeClr val="tx1"/>
                </a:solidFill>
              </a:rPr>
              <a:t>*)&amp;</a:t>
            </a:r>
            <a:r>
              <a:rPr lang="en-GB" sz="2800" dirty="0" err="1" smtClean="0">
                <a:solidFill>
                  <a:schemeClr val="tx1"/>
                </a:solidFill>
              </a:rPr>
              <a:t>addrlen</a:t>
            </a:r>
            <a:r>
              <a:rPr lang="en-GB" sz="2800" dirty="0" smtClean="0">
                <a:solidFill>
                  <a:schemeClr val="tx1"/>
                </a:solidFill>
              </a:rPr>
              <a:t>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("Host disconnected , </a:t>
            </a:r>
            <a:r>
              <a:rPr lang="en-GB" sz="2800" dirty="0" err="1" smtClean="0">
                <a:solidFill>
                  <a:schemeClr val="tx1"/>
                </a:solidFill>
              </a:rPr>
              <a:t>ip</a:t>
            </a:r>
            <a:r>
              <a:rPr lang="en-GB" sz="2800" dirty="0" smtClean="0">
                <a:solidFill>
                  <a:schemeClr val="tx1"/>
                </a:solidFill>
              </a:rPr>
              <a:t> %s , port %d \n" ,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inet_ntoa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address.sin_addr</a:t>
            </a:r>
            <a:r>
              <a:rPr lang="en-GB" sz="2800" dirty="0" smtClean="0">
                <a:solidFill>
                  <a:schemeClr val="tx1"/>
                </a:solidFill>
              </a:rPr>
              <a:t>) , </a:t>
            </a:r>
            <a:r>
              <a:rPr lang="en-GB" sz="2800" dirty="0" err="1" smtClean="0">
                <a:solidFill>
                  <a:schemeClr val="tx1"/>
                </a:solidFill>
              </a:rPr>
              <a:t>ntohs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address.sin_port</a:t>
            </a:r>
            <a:r>
              <a:rPr lang="en-GB" sz="2800" dirty="0" smtClean="0">
                <a:solidFill>
                  <a:schemeClr val="tx1"/>
                </a:solidFill>
              </a:rPr>
              <a:t>));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496944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//</a:t>
            </a:r>
            <a:r>
              <a:rPr lang="en-GB" sz="2800" dirty="0" smtClean="0">
                <a:solidFill>
                  <a:schemeClr val="tx1"/>
                </a:solidFill>
              </a:rPr>
              <a:t>Close the socket and mark as 0 in list for reuse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    close( </a:t>
            </a:r>
            <a:r>
              <a:rPr lang="en-GB" sz="2800" dirty="0" err="1" smtClean="0">
                <a:solidFill>
                  <a:schemeClr val="tx1"/>
                </a:solidFill>
              </a:rPr>
              <a:t>sd</a:t>
            </a:r>
            <a:r>
              <a:rPr lang="en-GB" sz="2800" dirty="0" smtClean="0">
                <a:solidFill>
                  <a:schemeClr val="tx1"/>
                </a:solidFill>
              </a:rPr>
              <a:t> );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    </a:t>
            </a:r>
            <a:r>
              <a:rPr lang="en-GB" sz="2800" dirty="0" err="1" smtClean="0">
                <a:solidFill>
                  <a:schemeClr val="tx1"/>
                </a:solidFill>
              </a:rPr>
              <a:t>client_socket</a:t>
            </a:r>
            <a:r>
              <a:rPr lang="en-GB" sz="2800" dirty="0" smtClean="0">
                <a:solidFill>
                  <a:schemeClr val="tx1"/>
                </a:solidFill>
              </a:rPr>
              <a:t>[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] = 0;   </a:t>
            </a:r>
            <a:r>
              <a:rPr lang="en-GB" sz="2800" dirty="0" smtClean="0">
                <a:solidFill>
                  <a:schemeClr val="tx1"/>
                </a:solidFill>
              </a:rPr>
              <a:t>                </a:t>
            </a:r>
            <a:r>
              <a:rPr lang="en-GB" sz="2800" dirty="0" smtClean="0">
                <a:solidFill>
                  <a:schemeClr val="tx1"/>
                </a:solidFill>
              </a:rPr>
              <a:t>}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//</a:t>
            </a:r>
            <a:r>
              <a:rPr lang="en-GB" sz="2800" dirty="0" smtClean="0">
                <a:solidFill>
                  <a:schemeClr val="tx1"/>
                </a:solidFill>
              </a:rPr>
              <a:t>Echo back the message that came in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</a:t>
            </a:r>
            <a:r>
              <a:rPr lang="en-GB" sz="2800" dirty="0" smtClean="0">
                <a:solidFill>
                  <a:schemeClr val="tx1"/>
                </a:solidFill>
              </a:rPr>
              <a:t>else       {   </a:t>
            </a: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smtClean="0">
                <a:solidFill>
                  <a:schemeClr val="tx1"/>
                </a:solidFill>
              </a:rPr>
              <a:t>//</a:t>
            </a:r>
            <a:r>
              <a:rPr lang="en-GB" sz="2800" dirty="0" smtClean="0">
                <a:solidFill>
                  <a:schemeClr val="tx1"/>
                </a:solidFill>
              </a:rPr>
              <a:t>set the string terminating NULL byte on the end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smtClean="0">
                <a:solidFill>
                  <a:schemeClr val="tx1"/>
                </a:solidFill>
              </a:rPr>
              <a:t>//of the data read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    buffer[</a:t>
            </a:r>
            <a:r>
              <a:rPr lang="en-GB" sz="2800" dirty="0" err="1" smtClean="0">
                <a:solidFill>
                  <a:schemeClr val="tx1"/>
                </a:solidFill>
              </a:rPr>
              <a:t>valread</a:t>
            </a:r>
            <a:r>
              <a:rPr lang="en-GB" sz="2800" dirty="0" smtClean="0">
                <a:solidFill>
                  <a:schemeClr val="tx1"/>
                </a:solidFill>
              </a:rPr>
              <a:t>] = '\0';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    send(</a:t>
            </a:r>
            <a:r>
              <a:rPr lang="en-GB" sz="2800" dirty="0" err="1" smtClean="0">
                <a:solidFill>
                  <a:schemeClr val="tx1"/>
                </a:solidFill>
              </a:rPr>
              <a:t>sd</a:t>
            </a:r>
            <a:r>
              <a:rPr lang="en-GB" sz="2800" dirty="0" smtClean="0">
                <a:solidFill>
                  <a:schemeClr val="tx1"/>
                </a:solidFill>
              </a:rPr>
              <a:t> , buffer , </a:t>
            </a:r>
            <a:r>
              <a:rPr lang="en-GB" sz="2800" dirty="0" err="1" smtClean="0">
                <a:solidFill>
                  <a:schemeClr val="tx1"/>
                </a:solidFill>
              </a:rPr>
              <a:t>strlen</a:t>
            </a:r>
            <a:r>
              <a:rPr lang="en-GB" sz="2800" dirty="0" smtClean="0">
                <a:solidFill>
                  <a:schemeClr val="tx1"/>
                </a:solidFill>
              </a:rPr>
              <a:t>(buffer) , 0 );   </a:t>
            </a:r>
            <a:r>
              <a:rPr lang="en-GB" sz="2800" dirty="0" smtClean="0">
                <a:solidFill>
                  <a:schemeClr val="tx1"/>
                </a:solidFill>
              </a:rPr>
              <a:t>      </a:t>
            </a:r>
            <a:r>
              <a:rPr lang="en-GB" sz="2800" dirty="0" smtClean="0">
                <a:solidFill>
                  <a:schemeClr val="tx1"/>
                </a:solidFill>
              </a:rPr>
              <a:t>} </a:t>
            </a:r>
            <a:r>
              <a:rPr lang="en-GB" sz="2800" dirty="0" smtClean="0">
                <a:solidFill>
                  <a:schemeClr val="tx1"/>
                </a:solidFill>
              </a:rPr>
              <a:t>            </a:t>
            </a:r>
            <a:r>
              <a:rPr lang="en-GB" sz="2800" dirty="0" smtClean="0">
                <a:solidFill>
                  <a:schemeClr val="tx1"/>
                </a:solidFill>
              </a:rPr>
              <a:t>}   </a:t>
            </a: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smtClean="0">
                <a:solidFill>
                  <a:schemeClr val="tx1"/>
                </a:solidFill>
              </a:rPr>
              <a:t>}   </a:t>
            </a: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800" dirty="0" smtClean="0">
                <a:solidFill>
                  <a:schemeClr val="tx1"/>
                </a:solidFill>
              </a:rPr>
              <a:t>}   </a:t>
            </a: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smtClean="0">
                <a:solidFill>
                  <a:schemeClr val="tx1"/>
                </a:solidFill>
              </a:rPr>
              <a:t>return 0;   </a:t>
            </a:r>
            <a:r>
              <a:rPr lang="en-GB" sz="2800" dirty="0" smtClean="0">
                <a:solidFill>
                  <a:schemeClr val="tx1"/>
                </a:solidFill>
              </a:rPr>
              <a:t>}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600" y="908720"/>
            <a:ext cx="7200800" cy="54006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b="1" dirty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4400" b="1" dirty="0" smtClean="0">
                <a:solidFill>
                  <a:srgbClr val="FF0000"/>
                </a:solidFill>
              </a:rPr>
              <a:t>Non Blocking Server Example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/* This program uses Select function to control sockets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/* First, the vectors of file descriptors (</a:t>
            </a:r>
            <a:r>
              <a:rPr lang="en-GB" sz="2800" dirty="0" err="1" smtClean="0">
                <a:solidFill>
                  <a:schemeClr val="tx1"/>
                </a:solidFill>
              </a:rPr>
              <a:t>fd</a:t>
            </a:r>
            <a:r>
              <a:rPr lang="en-GB" sz="2800" dirty="0" smtClean="0">
                <a:solidFill>
                  <a:schemeClr val="tx1"/>
                </a:solidFill>
              </a:rPr>
              <a:t>) will be set in order to load the select function with the appropriate </a:t>
            </a:r>
            <a:r>
              <a:rPr lang="en-GB" sz="2800" dirty="0" err="1" smtClean="0">
                <a:solidFill>
                  <a:schemeClr val="tx1"/>
                </a:solidFill>
              </a:rPr>
              <a:t>fds</a:t>
            </a:r>
            <a:r>
              <a:rPr lang="en-GB" sz="2800" dirty="0" smtClean="0">
                <a:solidFill>
                  <a:schemeClr val="tx1"/>
                </a:solidFill>
              </a:rPr>
              <a:t>. 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The select command accepts 4 parameters:                         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- </a:t>
            </a:r>
            <a:r>
              <a:rPr lang="en-GB" sz="2800" dirty="0" err="1" smtClean="0">
                <a:solidFill>
                  <a:schemeClr val="tx1"/>
                </a:solidFill>
              </a:rPr>
              <a:t>fds</a:t>
            </a:r>
            <a:r>
              <a:rPr lang="en-GB" sz="2800" dirty="0" smtClean="0">
                <a:solidFill>
                  <a:schemeClr val="tx1"/>
                </a:solidFill>
              </a:rPr>
              <a:t> that are load for reading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- </a:t>
            </a:r>
            <a:r>
              <a:rPr lang="en-GB" sz="2800" dirty="0" err="1" smtClean="0">
                <a:solidFill>
                  <a:schemeClr val="tx1"/>
                </a:solidFill>
              </a:rPr>
              <a:t>fds</a:t>
            </a:r>
            <a:r>
              <a:rPr lang="en-GB" sz="2800" dirty="0" smtClean="0">
                <a:solidFill>
                  <a:schemeClr val="tx1"/>
                </a:solidFill>
              </a:rPr>
              <a:t> that are load for writing                              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- </a:t>
            </a:r>
            <a:r>
              <a:rPr lang="en-GB" sz="2800" dirty="0" err="1" smtClean="0">
                <a:solidFill>
                  <a:schemeClr val="tx1"/>
                </a:solidFill>
              </a:rPr>
              <a:t>fds</a:t>
            </a:r>
            <a:r>
              <a:rPr lang="en-GB" sz="2800" dirty="0" smtClean="0">
                <a:solidFill>
                  <a:schemeClr val="tx1"/>
                </a:solidFill>
              </a:rPr>
              <a:t> that are load for exception handling                   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/* after the connection is established an </a:t>
            </a:r>
            <a:r>
              <a:rPr lang="en-GB" sz="2800" dirty="0" err="1" smtClean="0">
                <a:solidFill>
                  <a:schemeClr val="tx1"/>
                </a:solidFill>
              </a:rPr>
              <a:t>iinfinite</a:t>
            </a:r>
            <a:r>
              <a:rPr lang="en-GB" sz="2800" dirty="0" smtClean="0">
                <a:solidFill>
                  <a:schemeClr val="tx1"/>
                </a:solidFill>
              </a:rPr>
              <a:t> loop with the     client work permanently.                                            */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stdio.h</a:t>
            </a:r>
            <a:r>
              <a:rPr lang="en-GB" sz="28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stdlib.h</a:t>
            </a:r>
            <a:r>
              <a:rPr lang="en-GB" sz="28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#include &lt;</a:t>
            </a:r>
            <a:r>
              <a:rPr lang="en-GB" sz="2800" dirty="0" err="1" smtClean="0">
                <a:solidFill>
                  <a:schemeClr val="tx1"/>
                </a:solidFill>
              </a:rPr>
              <a:t>errno.h</a:t>
            </a:r>
            <a:r>
              <a:rPr lang="en-GB" sz="28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#include &lt;</a:t>
            </a:r>
            <a:r>
              <a:rPr lang="en-GB" sz="2800" dirty="0" err="1" smtClean="0">
                <a:solidFill>
                  <a:schemeClr val="tx1"/>
                </a:solidFill>
              </a:rPr>
              <a:t>string.h</a:t>
            </a:r>
            <a:r>
              <a:rPr lang="en-GB" sz="28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#include &lt;sys/</a:t>
            </a:r>
            <a:r>
              <a:rPr lang="en-GB" sz="2800" dirty="0" err="1" smtClean="0">
                <a:solidFill>
                  <a:schemeClr val="tx1"/>
                </a:solidFill>
              </a:rPr>
              <a:t>types.h</a:t>
            </a:r>
            <a:r>
              <a:rPr lang="en-GB" sz="28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#include &lt;</a:t>
            </a:r>
            <a:r>
              <a:rPr lang="en-GB" sz="2800" dirty="0" err="1" smtClean="0">
                <a:solidFill>
                  <a:schemeClr val="tx1"/>
                </a:solidFill>
              </a:rPr>
              <a:t>netinet</a:t>
            </a:r>
            <a:r>
              <a:rPr lang="en-GB" sz="2800" dirty="0" smtClean="0">
                <a:solidFill>
                  <a:schemeClr val="tx1"/>
                </a:solidFill>
              </a:rPr>
              <a:t>/</a:t>
            </a:r>
            <a:r>
              <a:rPr lang="en-GB" sz="2800" dirty="0" err="1" smtClean="0">
                <a:solidFill>
                  <a:schemeClr val="tx1"/>
                </a:solidFill>
              </a:rPr>
              <a:t>in.h</a:t>
            </a:r>
            <a:r>
              <a:rPr lang="en-GB" sz="28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#include &lt;sys/</a:t>
            </a:r>
            <a:r>
              <a:rPr lang="en-GB" sz="2800" dirty="0" err="1" smtClean="0">
                <a:solidFill>
                  <a:schemeClr val="tx1"/>
                </a:solidFill>
              </a:rPr>
              <a:t>socket.h</a:t>
            </a:r>
            <a:r>
              <a:rPr lang="en-GB" sz="28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#include &lt;sys/</a:t>
            </a:r>
            <a:r>
              <a:rPr lang="en-GB" sz="2800" dirty="0" err="1" smtClean="0">
                <a:solidFill>
                  <a:schemeClr val="tx1"/>
                </a:solidFill>
              </a:rPr>
              <a:t>wait.h</a:t>
            </a:r>
            <a:r>
              <a:rPr lang="en-GB" sz="28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#include &lt;sys/</a:t>
            </a:r>
            <a:r>
              <a:rPr lang="en-GB" sz="2800" dirty="0" err="1" smtClean="0">
                <a:solidFill>
                  <a:schemeClr val="tx1"/>
                </a:solidFill>
              </a:rPr>
              <a:t>time.h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#include &lt;</a:t>
            </a:r>
            <a:r>
              <a:rPr lang="en-GB" sz="2800" dirty="0" err="1" smtClean="0">
                <a:solidFill>
                  <a:schemeClr val="tx1"/>
                </a:solidFill>
              </a:rPr>
              <a:t>unistd.h</a:t>
            </a:r>
            <a:r>
              <a:rPr lang="en-GB" sz="2800" dirty="0" smtClean="0">
                <a:solidFill>
                  <a:schemeClr val="tx1"/>
                </a:solidFill>
              </a:rPr>
              <a:t>&gt;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#define MYPORT 3490 /* port users will be connecting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#define MAXDATASIZE 100/*maximum message passed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#define BACKLOG 10   /* how many pending connections queue will hold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main()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sockaddr_in</a:t>
            </a: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err="1" smtClean="0">
                <a:solidFill>
                  <a:schemeClr val="tx1"/>
                </a:solidFill>
              </a:rPr>
              <a:t>my_addr</a:t>
            </a:r>
            <a:r>
              <a:rPr lang="en-GB" sz="2800" dirty="0" smtClean="0">
                <a:solidFill>
                  <a:schemeClr val="tx1"/>
                </a:solidFill>
              </a:rPr>
              <a:t>;    	/*My address info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sockaddr_in</a:t>
            </a: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err="1" smtClean="0">
                <a:solidFill>
                  <a:schemeClr val="tx1"/>
                </a:solidFill>
              </a:rPr>
              <a:t>their_addr</a:t>
            </a:r>
            <a:r>
              <a:rPr lang="en-GB" sz="2800" dirty="0" smtClean="0">
                <a:solidFill>
                  <a:schemeClr val="tx1"/>
                </a:solidFill>
              </a:rPr>
              <a:t>; 	/*Connector's info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</a:t>
            </a: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 </a:t>
            </a:r>
            <a:r>
              <a:rPr lang="en-GB" sz="2800" b="1" dirty="0" err="1" smtClean="0">
                <a:solidFill>
                  <a:srgbClr val="FF0000"/>
                </a:solidFill>
              </a:rPr>
              <a:t>timeval</a:t>
            </a:r>
            <a:r>
              <a:rPr lang="en-GB" sz="2800" b="1" dirty="0" smtClean="0">
                <a:solidFill>
                  <a:srgbClr val="FF0000"/>
                </a:solidFill>
              </a:rPr>
              <a:t> 	</a:t>
            </a:r>
            <a:r>
              <a:rPr lang="en-GB" sz="2800" b="1" dirty="0" err="1" smtClean="0">
                <a:solidFill>
                  <a:srgbClr val="FF0000"/>
                </a:solidFill>
              </a:rPr>
              <a:t>tv</a:t>
            </a:r>
            <a:r>
              <a:rPr lang="en-GB" sz="2800" b="1" dirty="0" smtClean="0">
                <a:solidFill>
                  <a:srgbClr val="FF0000"/>
                </a:solidFill>
              </a:rPr>
              <a:t>;</a:t>
            </a:r>
            <a:r>
              <a:rPr lang="en-GB" sz="2800" b="1" dirty="0">
                <a:solidFill>
                  <a:srgbClr val="FF0000"/>
                </a:solidFill>
              </a:rPr>
              <a:t>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/*time wait for socket to be changed</a:t>
            </a:r>
            <a:r>
              <a:rPr lang="en-GB" sz="2800" dirty="0" smtClean="0">
                <a:solidFill>
                  <a:schemeClr val="tx1"/>
                </a:solidFill>
              </a:rPr>
              <a:t>	   </a:t>
            </a:r>
            <a:r>
              <a:rPr lang="en-GB" sz="2800" b="1" dirty="0" smtClean="0">
                <a:solidFill>
                  <a:srgbClr val="FF0000"/>
                </a:solidFill>
              </a:rPr>
              <a:t>*/</a:t>
            </a:r>
            <a:endParaRPr lang="en-GB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timezone</a:t>
            </a:r>
            <a:r>
              <a:rPr lang="en-GB" sz="2800" dirty="0" smtClean="0">
                <a:solidFill>
                  <a:schemeClr val="tx1"/>
                </a:solidFill>
              </a:rPr>
              <a:t>	</a:t>
            </a:r>
            <a:r>
              <a:rPr lang="en-GB" sz="2800" dirty="0" err="1" smtClean="0">
                <a:solidFill>
                  <a:schemeClr val="tx1"/>
                </a:solidFill>
              </a:rPr>
              <a:t>tz</a:t>
            </a:r>
            <a:r>
              <a:rPr lang="en-GB" sz="2800" dirty="0" smtClean="0">
                <a:solidFill>
                  <a:schemeClr val="tx1"/>
                </a:solidFill>
              </a:rPr>
              <a:t>; /* time zone we are using 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timeval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measure_tv_before</a:t>
            </a:r>
            <a:r>
              <a:rPr lang="en-GB" sz="2800" dirty="0" smtClean="0">
                <a:solidFill>
                  <a:schemeClr val="tx1"/>
                </a:solidFill>
              </a:rPr>
              <a:t>;		/*The time wait for socket to be changed	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timezone</a:t>
            </a:r>
            <a:r>
              <a:rPr lang="en-GB" sz="2800" dirty="0" smtClean="0">
                <a:solidFill>
                  <a:schemeClr val="tx1"/>
                </a:solidFill>
              </a:rPr>
              <a:t>	</a:t>
            </a:r>
            <a:r>
              <a:rPr lang="en-GB" sz="2800" dirty="0" err="1" smtClean="0">
                <a:solidFill>
                  <a:schemeClr val="tx1"/>
                </a:solidFill>
              </a:rPr>
              <a:t>measure_tz_before</a:t>
            </a:r>
            <a:r>
              <a:rPr lang="en-GB" sz="2800" dirty="0" smtClean="0">
                <a:solidFill>
                  <a:schemeClr val="tx1"/>
                </a:solidFill>
              </a:rPr>
              <a:t>;		/*The time zone we are using 			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timeval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measure_tv_after</a:t>
            </a:r>
            <a:r>
              <a:rPr lang="en-GB" sz="2800" dirty="0" smtClean="0">
                <a:solidFill>
                  <a:schemeClr val="tx1"/>
                </a:solidFill>
              </a:rPr>
              <a:t>;		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/*The time wait for socket to be changed	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timezone</a:t>
            </a:r>
            <a:r>
              <a:rPr lang="en-GB" sz="2800" dirty="0" smtClean="0">
                <a:solidFill>
                  <a:schemeClr val="tx1"/>
                </a:solidFill>
              </a:rPr>
              <a:t>	</a:t>
            </a:r>
            <a:r>
              <a:rPr lang="en-GB" sz="2800" dirty="0" err="1" smtClean="0">
                <a:solidFill>
                  <a:schemeClr val="tx1"/>
                </a:solidFill>
              </a:rPr>
              <a:t>measure_tz_after</a:t>
            </a:r>
            <a:r>
              <a:rPr lang="en-GB" sz="2800" dirty="0" smtClean="0">
                <a:solidFill>
                  <a:schemeClr val="tx1"/>
                </a:solidFill>
              </a:rPr>
              <a:t>;		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/*The time zone we are using 			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</a:t>
            </a: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err="1" smtClean="0">
                <a:solidFill>
                  <a:schemeClr val="tx1"/>
                </a:solidFill>
              </a:rPr>
              <a:t>fd_set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writefds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exceptfds</a:t>
            </a:r>
            <a:r>
              <a:rPr lang="en-GB" sz="2800" dirty="0" smtClean="0">
                <a:solidFill>
                  <a:schemeClr val="tx1"/>
                </a:solidFill>
              </a:rPr>
              <a:t>; 	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int  </a:t>
            </a:r>
            <a:r>
              <a:rPr lang="en-GB" sz="2800" dirty="0" err="1" smtClean="0">
                <a:solidFill>
                  <a:schemeClr val="tx1"/>
                </a:solidFill>
              </a:rPr>
              <a:t>new_fd</a:t>
            </a:r>
            <a:r>
              <a:rPr lang="en-GB" sz="2800" dirty="0" smtClean="0">
                <a:solidFill>
                  <a:schemeClr val="tx1"/>
                </a:solidFill>
              </a:rPr>
              <a:t>;  	/*new file des returned from accept	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int 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;  	/*first file des for communication*/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chemeClr val="tx1"/>
                </a:solidFill>
              </a:rPr>
              <a:t>       int	j;	/*Index used for </a:t>
            </a:r>
            <a:r>
              <a:rPr lang="en-GB" sz="2800" dirty="0" err="1" smtClean="0">
                <a:solidFill>
                  <a:schemeClr val="tx1"/>
                </a:solidFill>
              </a:rPr>
              <a:t>fd</a:t>
            </a:r>
            <a:r>
              <a:rPr lang="en-GB" sz="2800" dirty="0" smtClean="0">
                <a:solidFill>
                  <a:schemeClr val="tx1"/>
                </a:solidFill>
              </a:rPr>
              <a:t> counter   */	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int 	</a:t>
            </a:r>
            <a:r>
              <a:rPr lang="en-GB" sz="2800" dirty="0" err="1" smtClean="0">
                <a:solidFill>
                  <a:schemeClr val="tx1"/>
                </a:solidFill>
              </a:rPr>
              <a:t>sin_size</a:t>
            </a:r>
            <a:r>
              <a:rPr lang="en-GB" sz="2800" dirty="0" smtClean="0">
                <a:solidFill>
                  <a:schemeClr val="tx1"/>
                </a:solidFill>
              </a:rPr>
              <a:t>;       /*Size of 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inet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i</a:t>
            </a:r>
            <a:r>
              <a:rPr lang="en-GB" sz="2800" dirty="0" smtClean="0">
                <a:solidFill>
                  <a:schemeClr val="tx1"/>
                </a:solidFill>
              </a:rPr>
              <a:t>/p address	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int	</a:t>
            </a:r>
            <a:r>
              <a:rPr lang="en-GB" sz="2800" dirty="0" err="1" smtClean="0">
                <a:solidFill>
                  <a:schemeClr val="tx1"/>
                </a:solidFill>
              </a:rPr>
              <a:t>numbytes</a:t>
            </a:r>
            <a:r>
              <a:rPr lang="en-GB" sz="2800" dirty="0" smtClean="0">
                <a:solidFill>
                  <a:schemeClr val="tx1"/>
                </a:solidFill>
              </a:rPr>
              <a:t>;  /* bytes received in each packet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int	sock;				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int	</a:t>
            </a:r>
            <a:r>
              <a:rPr lang="en-GB" sz="2800" dirty="0" err="1" smtClean="0">
                <a:solidFill>
                  <a:schemeClr val="tx1"/>
                </a:solidFill>
              </a:rPr>
              <a:t>sock_to_read</a:t>
            </a:r>
            <a:r>
              <a:rPr lang="en-GB" sz="2800" dirty="0" smtClean="0">
                <a:solidFill>
                  <a:schemeClr val="tx1"/>
                </a:solidFill>
              </a:rPr>
              <a:t>; /* File des ready for reading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int	</a:t>
            </a:r>
            <a:r>
              <a:rPr lang="en-GB" sz="2800" dirty="0" err="1" smtClean="0">
                <a:solidFill>
                  <a:schemeClr val="tx1"/>
                </a:solidFill>
              </a:rPr>
              <a:t>max_fd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dirty="0" smtClean="0">
                <a:solidFill>
                  <a:schemeClr val="tx1"/>
                </a:solidFill>
              </a:rPr>
              <a:t>/* No of socket </a:t>
            </a:r>
            <a:r>
              <a:rPr lang="en-GB" sz="2800" dirty="0" err="1" smtClean="0">
                <a:solidFill>
                  <a:schemeClr val="tx1"/>
                </a:solidFill>
              </a:rPr>
              <a:t>fd</a:t>
            </a:r>
            <a:r>
              <a:rPr lang="en-GB" sz="2800" dirty="0" smtClean="0">
                <a:solidFill>
                  <a:schemeClr val="tx1"/>
                </a:solidFill>
              </a:rPr>
              <a:t> that are in use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char       </a:t>
            </a:r>
            <a:r>
              <a:rPr lang="en-GB" sz="2800" dirty="0" err="1" smtClean="0">
                <a:solidFill>
                  <a:schemeClr val="tx1"/>
                </a:solidFill>
              </a:rPr>
              <a:t>buf</a:t>
            </a:r>
            <a:r>
              <a:rPr lang="en-GB" sz="2800" dirty="0" smtClean="0">
                <a:solidFill>
                  <a:schemeClr val="tx1"/>
                </a:solidFill>
              </a:rPr>
              <a:t>[MAXDATASIZE];   /*string to be passed   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/*Initiate the read, write, except </a:t>
            </a:r>
            <a:r>
              <a:rPr lang="en-GB" sz="2800" dirty="0" err="1" smtClean="0">
                <a:solidFill>
                  <a:schemeClr val="tx1"/>
                </a:solidFill>
              </a:rPr>
              <a:t>structs</a:t>
            </a:r>
            <a:r>
              <a:rPr lang="en-GB" sz="2800" dirty="0" smtClean="0">
                <a:solidFill>
                  <a:schemeClr val="tx1"/>
                </a:solidFill>
              </a:rPr>
              <a:t>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FD_ZERO(&amp;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FD_ZERO(&amp;</a:t>
            </a:r>
            <a:r>
              <a:rPr lang="en-GB" sz="2800" dirty="0" err="1" smtClean="0">
                <a:solidFill>
                  <a:schemeClr val="tx1"/>
                </a:solidFill>
              </a:rPr>
              <a:t>writefds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FD_ZERO(&amp;</a:t>
            </a:r>
            <a:r>
              <a:rPr lang="en-GB" sz="2800" dirty="0" err="1" smtClean="0">
                <a:solidFill>
                  <a:schemeClr val="tx1"/>
                </a:solidFill>
              </a:rPr>
              <a:t>exceptfds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if ((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 = socket(AF_INET, SOCK_STREAM, 0)) == -1)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("socket");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exit(1);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err="1" smtClean="0">
                <a:solidFill>
                  <a:schemeClr val="tx1"/>
                </a:solidFill>
              </a:rPr>
              <a:t>my_addr.sin_family</a:t>
            </a:r>
            <a:r>
              <a:rPr lang="en-GB" sz="2800" dirty="0" smtClean="0">
                <a:solidFill>
                  <a:schemeClr val="tx1"/>
                </a:solidFill>
              </a:rPr>
              <a:t> = AF_INET;         /* host byte order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my_addr.sin_port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htons</a:t>
            </a:r>
            <a:r>
              <a:rPr lang="en-GB" sz="2800" dirty="0" smtClean="0">
                <a:solidFill>
                  <a:schemeClr val="tx1"/>
                </a:solidFill>
              </a:rPr>
              <a:t>(MYPORT); 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/* short, network byte order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err="1" smtClean="0">
                <a:solidFill>
                  <a:schemeClr val="tx1"/>
                </a:solidFill>
              </a:rPr>
              <a:t>my_addr.sin_addr.s_addr</a:t>
            </a:r>
            <a:r>
              <a:rPr lang="en-GB" sz="2800" dirty="0" smtClean="0">
                <a:solidFill>
                  <a:schemeClr val="tx1"/>
                </a:solidFill>
              </a:rPr>
              <a:t> = INADDR_ANY;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/* auto-fill with my IP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b="1" dirty="0" smtClean="0">
                <a:solidFill>
                  <a:srgbClr val="FF0000"/>
                </a:solidFill>
              </a:rPr>
              <a:t>     </a:t>
            </a:r>
            <a:r>
              <a:rPr lang="en-GB" sz="2800" b="1" dirty="0" err="1" smtClean="0">
                <a:solidFill>
                  <a:srgbClr val="FF0000"/>
                </a:solidFill>
              </a:rPr>
              <a:t>bzero</a:t>
            </a:r>
            <a:r>
              <a:rPr lang="en-GB" sz="2800" b="1" dirty="0" smtClean="0">
                <a:solidFill>
                  <a:srgbClr val="FF0000"/>
                </a:solidFill>
              </a:rPr>
              <a:t>(&amp;(</a:t>
            </a:r>
            <a:r>
              <a:rPr lang="en-GB" sz="2800" b="1" dirty="0" err="1" smtClean="0">
                <a:solidFill>
                  <a:srgbClr val="FF0000"/>
                </a:solidFill>
              </a:rPr>
              <a:t>my_addr.sin_zero</a:t>
            </a:r>
            <a:r>
              <a:rPr lang="en-GB" sz="2800" b="1" dirty="0" smtClean="0">
                <a:solidFill>
                  <a:srgbClr val="FF0000"/>
                </a:solidFill>
              </a:rPr>
              <a:t>), 8);        /* zero the rest of the </a:t>
            </a: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if (bind(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 *)&amp;</a:t>
            </a:r>
            <a:r>
              <a:rPr lang="en-GB" sz="2800" dirty="0" err="1" smtClean="0">
                <a:solidFill>
                  <a:schemeClr val="tx1"/>
                </a:solidFill>
              </a:rPr>
              <a:t>my_addr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))   == -1) 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("bind");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exit(1);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if (listen(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BACKLOG) == -1)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("listen");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exit(1);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err="1" smtClean="0">
                <a:solidFill>
                  <a:schemeClr val="tx1"/>
                </a:solidFill>
              </a:rPr>
              <a:t>max_fd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FD_SET(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); /*Add </a:t>
            </a:r>
            <a:r>
              <a:rPr lang="en-GB" sz="2800" dirty="0" err="1" smtClean="0">
                <a:solidFill>
                  <a:schemeClr val="tx1"/>
                </a:solidFill>
              </a:rPr>
              <a:t>sock_fd</a:t>
            </a:r>
            <a:r>
              <a:rPr lang="en-GB" sz="2800" dirty="0" smtClean="0">
                <a:solidFill>
                  <a:schemeClr val="tx1"/>
                </a:solidFill>
              </a:rPr>
              <a:t> to the set of file descriptors to read from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    	FD_ZERO(&amp;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    	FD_ZERO(&amp;</a:t>
            </a:r>
            <a:r>
              <a:rPr lang="en-GB" sz="2800" dirty="0" err="1" smtClean="0">
                <a:solidFill>
                  <a:schemeClr val="tx1"/>
                </a:solidFill>
              </a:rPr>
              <a:t>writefds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    	FD_ZERO(&amp;</a:t>
            </a:r>
            <a:r>
              <a:rPr lang="en-GB" sz="2800" dirty="0" err="1" smtClean="0">
                <a:solidFill>
                  <a:schemeClr val="tx1"/>
                </a:solidFill>
              </a:rPr>
              <a:t>exceptfds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   for(j=</a:t>
            </a:r>
            <a:r>
              <a:rPr lang="en-GB" sz="2800" dirty="0" err="1" smtClean="0">
                <a:solidFill>
                  <a:schemeClr val="tx1"/>
                </a:solidFill>
              </a:rPr>
              <a:t>sockfd;j</a:t>
            </a:r>
            <a:r>
              <a:rPr lang="en-GB" sz="2800" dirty="0" smtClean="0">
                <a:solidFill>
                  <a:schemeClr val="tx1"/>
                </a:solidFill>
              </a:rPr>
              <a:t>&lt;=</a:t>
            </a:r>
            <a:r>
              <a:rPr lang="en-GB" sz="2800" dirty="0" err="1" smtClean="0">
                <a:solidFill>
                  <a:schemeClr val="tx1"/>
                </a:solidFill>
              </a:rPr>
              <a:t>max_fd;j</a:t>
            </a:r>
            <a:r>
              <a:rPr lang="en-GB" sz="2800" dirty="0" smtClean="0">
                <a:solidFill>
                  <a:schemeClr val="tx1"/>
                </a:solidFill>
              </a:rPr>
              <a:t>++){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	FD_SET(</a:t>
            </a:r>
            <a:r>
              <a:rPr lang="en-GB" sz="2800" dirty="0" err="1" smtClean="0">
                <a:solidFill>
                  <a:schemeClr val="tx1"/>
                </a:solidFill>
              </a:rPr>
              <a:t>j,&amp;readfds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	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 ("Setup </a:t>
            </a:r>
            <a:r>
              <a:rPr lang="en-GB" sz="2800" dirty="0" err="1" smtClean="0">
                <a:solidFill>
                  <a:schemeClr val="tx1"/>
                </a:solidFill>
              </a:rPr>
              <a:t>fd</a:t>
            </a:r>
            <a:r>
              <a:rPr lang="en-GB" sz="2800" dirty="0" smtClean="0">
                <a:solidFill>
                  <a:schemeClr val="tx1"/>
                </a:solidFill>
              </a:rPr>
              <a:t> number %d \</a:t>
            </a:r>
            <a:r>
              <a:rPr lang="en-GB" sz="2800" dirty="0" err="1" smtClean="0">
                <a:solidFill>
                  <a:schemeClr val="tx1"/>
                </a:solidFill>
              </a:rPr>
              <a:t>n",j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    		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while(1) {  /* main accept() loop */	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/* Initiate the FD vector &amp; set values	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</a:t>
            </a:r>
            <a:r>
              <a:rPr lang="en-GB" sz="2800" dirty="0" err="1" smtClean="0">
                <a:solidFill>
                  <a:schemeClr val="tx1"/>
                </a:solidFill>
              </a:rPr>
              <a:t>gettimeofday</a:t>
            </a:r>
            <a:r>
              <a:rPr lang="en-GB" sz="2800" dirty="0" smtClean="0">
                <a:solidFill>
                  <a:schemeClr val="tx1"/>
                </a:solidFill>
              </a:rPr>
              <a:t>(&amp;</a:t>
            </a:r>
            <a:r>
              <a:rPr lang="en-GB" sz="2800" dirty="0" err="1" smtClean="0">
                <a:solidFill>
                  <a:schemeClr val="tx1"/>
                </a:solidFill>
              </a:rPr>
              <a:t>measure_tv_before,&amp;measure_tz_before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("Before select ...time is: %ld, %ld\</a:t>
            </a:r>
            <a:r>
              <a:rPr lang="en-GB" sz="2800" dirty="0" err="1" smtClean="0">
                <a:solidFill>
                  <a:schemeClr val="tx1"/>
                </a:solidFill>
              </a:rPr>
              <a:t>n",tv.tv_sec,tv.tv_usec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</a:t>
            </a:r>
            <a:r>
              <a:rPr lang="en-GB" sz="2800" dirty="0" err="1" smtClean="0">
                <a:solidFill>
                  <a:schemeClr val="tx1"/>
                </a:solidFill>
              </a:rPr>
              <a:t>tv.tv_sec</a:t>
            </a:r>
            <a:r>
              <a:rPr lang="en-GB" sz="2800" dirty="0" smtClean="0">
                <a:solidFill>
                  <a:schemeClr val="tx1"/>
                </a:solidFill>
              </a:rPr>
              <a:t> = 5;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	/*Initiate time to wait for </a:t>
            </a:r>
            <a:r>
              <a:rPr lang="en-GB" sz="2800" dirty="0" err="1" smtClean="0">
                <a:solidFill>
                  <a:schemeClr val="tx1"/>
                </a:solidFill>
              </a:rPr>
              <a:t>fd</a:t>
            </a:r>
            <a:r>
              <a:rPr lang="en-GB" sz="2800" dirty="0" smtClean="0">
                <a:solidFill>
                  <a:schemeClr val="tx1"/>
                </a:solidFill>
              </a:rPr>
              <a:t> to change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if ((sock = select(max_fd+1 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writefds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exceptfds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tv</a:t>
            </a:r>
            <a:r>
              <a:rPr lang="en-GB" sz="2800" dirty="0" smtClean="0">
                <a:solidFill>
                  <a:schemeClr val="tx1"/>
                </a:solidFill>
              </a:rPr>
              <a:t>)) &lt; 0) { 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("select");               continue;        	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gettimeofday</a:t>
            </a:r>
            <a:r>
              <a:rPr lang="en-GB" sz="2800" dirty="0" smtClean="0">
                <a:solidFill>
                  <a:schemeClr val="tx1"/>
                </a:solidFill>
              </a:rPr>
              <a:t>(&amp;</a:t>
            </a:r>
            <a:r>
              <a:rPr lang="en-GB" sz="2800" dirty="0" err="1" smtClean="0">
                <a:solidFill>
                  <a:schemeClr val="tx1"/>
                </a:solidFill>
              </a:rPr>
              <a:t>measure_tv_after,&amp;measure_tz_after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   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("After select again...time in select:  %ld sec and %ld </a:t>
            </a:r>
            <a:r>
              <a:rPr lang="en-GB" sz="2800" dirty="0" err="1" smtClean="0">
                <a:solidFill>
                  <a:schemeClr val="tx1"/>
                </a:solidFill>
              </a:rPr>
              <a:t>usec</a:t>
            </a:r>
            <a:r>
              <a:rPr lang="en-GB" sz="2800" dirty="0" smtClean="0">
                <a:solidFill>
                  <a:schemeClr val="tx1"/>
                </a:solidFill>
              </a:rPr>
              <a:t>\n", \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		</a:t>
            </a:r>
            <a:r>
              <a:rPr lang="en-GB" sz="2800" dirty="0" err="1" smtClean="0">
                <a:solidFill>
                  <a:schemeClr val="tx1"/>
                </a:solidFill>
              </a:rPr>
              <a:t>measure_tv_after.tv_sec</a:t>
            </a:r>
            <a:r>
              <a:rPr lang="en-GB" sz="2800" dirty="0" smtClean="0">
                <a:solidFill>
                  <a:schemeClr val="tx1"/>
                </a:solidFill>
              </a:rPr>
              <a:t> - </a:t>
            </a:r>
            <a:r>
              <a:rPr lang="en-GB" sz="2800" dirty="0" err="1" smtClean="0">
                <a:solidFill>
                  <a:schemeClr val="tx1"/>
                </a:solidFill>
              </a:rPr>
              <a:t>measure_tv_before.tv_sec</a:t>
            </a:r>
            <a:r>
              <a:rPr lang="en-GB" sz="2800" dirty="0" smtClean="0">
                <a:solidFill>
                  <a:schemeClr val="tx1"/>
                </a:solidFill>
              </a:rPr>
              <a:t> ,</a:t>
            </a:r>
            <a:r>
              <a:rPr lang="en-GB" sz="2800" dirty="0" err="1" smtClean="0">
                <a:solidFill>
                  <a:schemeClr val="tx1"/>
                </a:solidFill>
              </a:rPr>
              <a:t>measure_tv_after.tv_usec</a:t>
            </a:r>
            <a:r>
              <a:rPr lang="en-GB" sz="2800" dirty="0" smtClean="0">
                <a:solidFill>
                  <a:schemeClr val="tx1"/>
                </a:solidFill>
              </a:rPr>
              <a:t> - </a:t>
            </a:r>
            <a:r>
              <a:rPr lang="en-GB" sz="2800" dirty="0" err="1" smtClean="0">
                <a:solidFill>
                  <a:schemeClr val="tx1"/>
                </a:solidFill>
              </a:rPr>
              <a:t>measure_tv_before.tv_usec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   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("Sock value is (after select) :%d \</a:t>
            </a:r>
            <a:r>
              <a:rPr lang="en-GB" sz="2800" dirty="0" err="1" smtClean="0">
                <a:solidFill>
                  <a:schemeClr val="tx1"/>
                </a:solidFill>
              </a:rPr>
              <a:t>n",sock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/*Checking which FD are set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   </a:t>
            </a:r>
            <a:r>
              <a:rPr lang="en-GB" sz="2800" b="1" dirty="0" smtClean="0">
                <a:solidFill>
                  <a:srgbClr val="FF0000"/>
                </a:solidFill>
              </a:rPr>
              <a:t> if(FD_ISSET(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, &amp;</a:t>
            </a:r>
            <a:r>
              <a:rPr lang="en-GB" sz="2800" b="1" dirty="0" err="1" smtClean="0">
                <a:solidFill>
                  <a:srgbClr val="FF0000"/>
                </a:solidFill>
              </a:rPr>
              <a:t>readfds</a:t>
            </a:r>
            <a:r>
              <a:rPr lang="en-GB" sz="2800" b="1" dirty="0" smtClean="0">
                <a:solidFill>
                  <a:srgbClr val="FF0000"/>
                </a:solidFill>
              </a:rPr>
              <a:t>))</a:t>
            </a:r>
            <a:r>
              <a:rPr lang="en-GB" sz="2800" dirty="0" smtClean="0">
                <a:solidFill>
                  <a:schemeClr val="tx1"/>
                </a:solidFill>
              </a:rPr>
              <a:t>{ /* If 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 is changed, new </a:t>
            </a:r>
            <a:r>
              <a:rPr lang="en-GB" sz="2800" dirty="0" err="1" smtClean="0">
                <a:solidFill>
                  <a:schemeClr val="tx1"/>
                </a:solidFill>
              </a:rPr>
              <a:t>conenciton</a:t>
            </a:r>
            <a:r>
              <a:rPr lang="en-GB" sz="2800" dirty="0" smtClean="0">
                <a:solidFill>
                  <a:schemeClr val="tx1"/>
                </a:solidFill>
              </a:rPr>
              <a:t> is requested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/* Reading and writing is done to other </a:t>
            </a:r>
            <a:r>
              <a:rPr lang="en-GB" sz="2800" dirty="0" err="1" smtClean="0">
                <a:solidFill>
                  <a:schemeClr val="tx1"/>
                </a:solidFill>
              </a:rPr>
              <a:t>fds</a:t>
            </a:r>
            <a:r>
              <a:rPr lang="en-GB" sz="2800" dirty="0" smtClean="0">
                <a:solidFill>
                  <a:schemeClr val="tx1"/>
                </a:solidFill>
              </a:rPr>
              <a:t>		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if ((</a:t>
            </a:r>
            <a:r>
              <a:rPr lang="en-GB" sz="2800" dirty="0" err="1" smtClean="0">
                <a:solidFill>
                  <a:schemeClr val="tx1"/>
                </a:solidFill>
              </a:rPr>
              <a:t>new_fd</a:t>
            </a:r>
            <a:r>
              <a:rPr lang="en-GB" sz="2800" dirty="0" smtClean="0">
                <a:solidFill>
                  <a:schemeClr val="tx1"/>
                </a:solidFill>
              </a:rPr>
              <a:t> = accept(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 *)&amp;</a:t>
            </a:r>
            <a:r>
              <a:rPr lang="en-GB" sz="2800" dirty="0" err="1" smtClean="0">
                <a:solidFill>
                  <a:schemeClr val="tx1"/>
                </a:solidFill>
              </a:rPr>
              <a:t>their_addr</a:t>
            </a:r>
            <a:r>
              <a:rPr lang="en-GB" sz="2800" dirty="0" smtClean="0">
                <a:solidFill>
                  <a:schemeClr val="tx1"/>
                </a:solidFill>
              </a:rPr>
              <a:t>,  &amp;</a:t>
            </a:r>
            <a:r>
              <a:rPr lang="en-GB" sz="2800" dirty="0" err="1" smtClean="0">
                <a:solidFill>
                  <a:schemeClr val="tx1"/>
                </a:solidFill>
              </a:rPr>
              <a:t>sin_size</a:t>
            </a:r>
            <a:r>
              <a:rPr lang="en-GB" sz="2800" dirty="0" smtClean="0">
                <a:solidFill>
                  <a:schemeClr val="tx1"/>
                </a:solidFill>
              </a:rPr>
              <a:t>)) == -1)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	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("accept");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	continue;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	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err="1" smtClean="0">
                <a:solidFill>
                  <a:schemeClr val="tx1"/>
                </a:solidFill>
              </a:rPr>
              <a:t>max_fd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new_fd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("server: got connection from %s\n", \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                      </a:t>
            </a:r>
            <a:r>
              <a:rPr lang="en-GB" sz="2800" dirty="0" err="1" smtClean="0">
                <a:solidFill>
                  <a:schemeClr val="tx1"/>
                </a:solidFill>
              </a:rPr>
              <a:t>inet_ntoa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their_addr.sin_addr</a:t>
            </a:r>
            <a:r>
              <a:rPr lang="en-GB" sz="2800" dirty="0" smtClean="0">
                <a:solidFill>
                  <a:schemeClr val="tx1"/>
                </a:solidFill>
              </a:rPr>
              <a:t>));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	FD_SET(</a:t>
            </a:r>
            <a:r>
              <a:rPr lang="en-GB" sz="2800" dirty="0" err="1" smtClean="0">
                <a:solidFill>
                  <a:schemeClr val="tx1"/>
                </a:solidFill>
              </a:rPr>
              <a:t>new_fd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); /*Add </a:t>
            </a:r>
            <a:r>
              <a:rPr lang="en-GB" sz="2800" dirty="0" err="1" smtClean="0">
                <a:solidFill>
                  <a:schemeClr val="tx1"/>
                </a:solidFill>
              </a:rPr>
              <a:t>sock_fd</a:t>
            </a:r>
            <a:r>
              <a:rPr lang="en-GB" sz="2800" dirty="0" smtClean="0">
                <a:solidFill>
                  <a:schemeClr val="tx1"/>
                </a:solidFill>
              </a:rPr>
              <a:t> to the set of file descriptors to read from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	FD_CLR(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); /*Add </a:t>
            </a:r>
            <a:r>
              <a:rPr lang="en-GB" sz="2800" dirty="0" err="1" smtClean="0">
                <a:solidFill>
                  <a:schemeClr val="tx1"/>
                </a:solidFill>
              </a:rPr>
              <a:t>sock_fd</a:t>
            </a:r>
            <a:r>
              <a:rPr lang="en-GB" sz="2800" dirty="0" smtClean="0">
                <a:solidFill>
                  <a:schemeClr val="tx1"/>
                </a:solidFill>
              </a:rPr>
              <a:t> to the set of file descriptors to read from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	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("Ending the connect function %ld, %ld\</a:t>
            </a:r>
            <a:r>
              <a:rPr lang="en-GB" sz="2800" dirty="0" err="1" smtClean="0">
                <a:solidFill>
                  <a:schemeClr val="tx1"/>
                </a:solidFill>
              </a:rPr>
              <a:t>n",tv.tv_sec,tv.tv_usec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else {	    /*Check which FD are set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for (j=</a:t>
            </a:r>
            <a:r>
              <a:rPr lang="en-GB" sz="2800" dirty="0" err="1" smtClean="0">
                <a:solidFill>
                  <a:schemeClr val="tx1"/>
                </a:solidFill>
              </a:rPr>
              <a:t>sockfd;j</a:t>
            </a:r>
            <a:r>
              <a:rPr lang="en-GB" sz="2800" dirty="0" smtClean="0">
                <a:solidFill>
                  <a:schemeClr val="tx1"/>
                </a:solidFill>
              </a:rPr>
              <a:t>&lt;=</a:t>
            </a:r>
            <a:r>
              <a:rPr lang="en-GB" sz="2800" dirty="0" err="1" smtClean="0">
                <a:solidFill>
                  <a:schemeClr val="tx1"/>
                </a:solidFill>
              </a:rPr>
              <a:t>max_fd</a:t>
            </a:r>
            <a:r>
              <a:rPr lang="en-GB" sz="2800" dirty="0" smtClean="0">
                <a:solidFill>
                  <a:schemeClr val="tx1"/>
                </a:solidFill>
              </a:rPr>
              <a:t> &amp;&amp; sock &gt; 0;j++){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/*The loop starts from the first </a:t>
            </a:r>
            <a:r>
              <a:rPr lang="en-GB" sz="2800" dirty="0" err="1" smtClean="0">
                <a:solidFill>
                  <a:schemeClr val="tx1"/>
                </a:solidFill>
              </a:rPr>
              <a:t>comm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fd</a:t>
            </a:r>
            <a:r>
              <a:rPr lang="en-GB" sz="2800" dirty="0" smtClean="0">
                <a:solidFill>
                  <a:schemeClr val="tx1"/>
                </a:solidFill>
              </a:rPr>
              <a:t>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("Checking now j=%d, </a:t>
            </a:r>
            <a:r>
              <a:rPr lang="en-GB" sz="2800" dirty="0" err="1" smtClean="0">
                <a:solidFill>
                  <a:schemeClr val="tx1"/>
                </a:solidFill>
              </a:rPr>
              <a:t>readfs</a:t>
            </a:r>
            <a:r>
              <a:rPr lang="en-GB" sz="2800" dirty="0" smtClean="0">
                <a:solidFill>
                  <a:schemeClr val="tx1"/>
                </a:solidFill>
              </a:rPr>
              <a:t>(j) status =%d \n", j, FD_ISSET(j,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	if (FD_ISSET(j,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 == 1 )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			</a:t>
            </a:r>
            <a:r>
              <a:rPr lang="en-GB" sz="2800" dirty="0" err="1" smtClean="0">
                <a:solidFill>
                  <a:schemeClr val="tx1"/>
                </a:solidFill>
              </a:rPr>
              <a:t>sock_to_read</a:t>
            </a:r>
            <a:r>
              <a:rPr lang="en-GB" sz="2800" dirty="0" smtClean="0">
                <a:solidFill>
                  <a:schemeClr val="tx1"/>
                </a:solidFill>
              </a:rPr>
              <a:t> = j;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if ((</a:t>
            </a:r>
            <a:r>
              <a:rPr lang="en-GB" sz="2800" dirty="0" err="1" smtClean="0">
                <a:solidFill>
                  <a:schemeClr val="tx1"/>
                </a:solidFill>
              </a:rPr>
              <a:t>numbytes</a:t>
            </a:r>
            <a:r>
              <a:rPr lang="en-GB" sz="2800" dirty="0" smtClean="0">
                <a:solidFill>
                  <a:schemeClr val="tx1"/>
                </a:solidFill>
              </a:rPr>
              <a:t>=</a:t>
            </a:r>
            <a:r>
              <a:rPr lang="en-GB" sz="2800" dirty="0" err="1" smtClean="0">
                <a:solidFill>
                  <a:schemeClr val="tx1"/>
                </a:solidFill>
              </a:rPr>
              <a:t>recv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sock_to_read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buf</a:t>
            </a:r>
            <a:r>
              <a:rPr lang="en-GB" sz="2800" dirty="0" smtClean="0">
                <a:solidFill>
                  <a:schemeClr val="tx1"/>
                </a:solidFill>
              </a:rPr>
              <a:t>, MAXDATASIZE, 0)) == -1) {/*Receive info from the server*/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	    	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</a:t>
            </a:r>
            <a:r>
              <a:rPr lang="en-GB" sz="2800" dirty="0" err="1" smtClean="0">
                <a:solidFill>
                  <a:schemeClr val="tx1"/>
                </a:solidFill>
              </a:rPr>
              <a:t>recv</a:t>
            </a:r>
            <a:r>
              <a:rPr lang="en-GB" sz="2800" dirty="0" smtClean="0">
                <a:solidFill>
                  <a:schemeClr val="tx1"/>
                </a:solidFill>
              </a:rPr>
              <a:t>"); 	exit(1);                 	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err="1" smtClean="0">
                <a:solidFill>
                  <a:schemeClr val="tx1"/>
                </a:solidFill>
              </a:rPr>
              <a:t>buf</a:t>
            </a:r>
            <a:r>
              <a:rPr lang="en-GB" sz="2800" dirty="0" smtClean="0">
                <a:solidFill>
                  <a:schemeClr val="tx1"/>
                </a:solidFill>
              </a:rPr>
              <a:t>[</a:t>
            </a:r>
            <a:r>
              <a:rPr lang="en-GB" sz="2800" dirty="0" err="1" smtClean="0">
                <a:solidFill>
                  <a:schemeClr val="tx1"/>
                </a:solidFill>
              </a:rPr>
              <a:t>numbytes</a:t>
            </a:r>
            <a:r>
              <a:rPr lang="en-GB" sz="2800" dirty="0" smtClean="0">
                <a:solidFill>
                  <a:schemeClr val="tx1"/>
                </a:solidFill>
              </a:rPr>
              <a:t>] = '\0';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</a:t>
            </a:r>
            <a:r>
              <a:rPr lang="en-GB" sz="2800" dirty="0" err="1" smtClean="0">
                <a:solidFill>
                  <a:schemeClr val="tx1"/>
                </a:solidFill>
              </a:rPr>
              <a:t>printf</a:t>
            </a:r>
            <a:r>
              <a:rPr lang="en-GB" sz="2800" dirty="0" smtClean="0">
                <a:solidFill>
                  <a:schemeClr val="tx1"/>
                </a:solidFill>
              </a:rPr>
              <a:t>("</a:t>
            </a:r>
            <a:r>
              <a:rPr lang="en-GB" sz="2800" dirty="0" err="1" smtClean="0">
                <a:solidFill>
                  <a:schemeClr val="tx1"/>
                </a:solidFill>
              </a:rPr>
              <a:t>recv</a:t>
            </a:r>
            <a:r>
              <a:rPr lang="en-GB" sz="2800" dirty="0" smtClean="0">
                <a:solidFill>
                  <a:schemeClr val="tx1"/>
                </a:solidFill>
              </a:rPr>
              <a:t>: sock=%d, </a:t>
            </a:r>
            <a:r>
              <a:rPr lang="en-GB" sz="2800" dirty="0" err="1" smtClean="0">
                <a:solidFill>
                  <a:schemeClr val="tx1"/>
                </a:solidFill>
              </a:rPr>
              <a:t>buf</a:t>
            </a:r>
            <a:r>
              <a:rPr lang="en-GB" sz="2800" dirty="0" smtClean="0">
                <a:solidFill>
                  <a:schemeClr val="tx1"/>
                </a:solidFill>
              </a:rPr>
              <a:t>=%s \n", </a:t>
            </a:r>
            <a:r>
              <a:rPr lang="en-GB" sz="2800" dirty="0" err="1" smtClean="0">
                <a:solidFill>
                  <a:schemeClr val="tx1"/>
                </a:solidFill>
              </a:rPr>
              <a:t>sock,buf</a:t>
            </a:r>
            <a:r>
              <a:rPr lang="en-GB" sz="2800" dirty="0" smtClean="0">
                <a:solidFill>
                  <a:schemeClr val="tx1"/>
                </a:solidFill>
              </a:rPr>
              <a:t>);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if (send(</a:t>
            </a:r>
            <a:r>
              <a:rPr lang="en-GB" sz="2800" dirty="0" err="1" smtClean="0">
                <a:solidFill>
                  <a:schemeClr val="tx1"/>
                </a:solidFill>
              </a:rPr>
              <a:t>sock_to_read</a:t>
            </a:r>
            <a:r>
              <a:rPr lang="en-GB" sz="2800" dirty="0" smtClean="0">
                <a:solidFill>
                  <a:schemeClr val="tx1"/>
                </a:solidFill>
              </a:rPr>
              <a:t> , "Hello, world!\n", 14, 0) == -1)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("send in loop");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FD_CLR(</a:t>
            </a:r>
            <a:r>
              <a:rPr lang="en-GB" sz="2800" dirty="0" err="1" smtClean="0">
                <a:solidFill>
                  <a:schemeClr val="tx1"/>
                </a:solidFill>
              </a:rPr>
              <a:t>sock_to_read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readfds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rgbClr val="FF0000"/>
                </a:solidFill>
              </a:rPr>
              <a:t>sock--; /* We found one </a:t>
            </a:r>
            <a:r>
              <a:rPr lang="en-GB" sz="2800" dirty="0" err="1" smtClean="0">
                <a:solidFill>
                  <a:srgbClr val="FF0000"/>
                </a:solidFill>
              </a:rPr>
              <a:t>fd</a:t>
            </a:r>
            <a:r>
              <a:rPr lang="en-GB" sz="2800" dirty="0" smtClean="0">
                <a:solidFill>
                  <a:srgbClr val="FF0000"/>
                </a:solidFill>
              </a:rPr>
              <a:t> that was changed form select	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for(j=</a:t>
            </a:r>
            <a:r>
              <a:rPr lang="en-GB" sz="2800" dirty="0" err="1" smtClean="0">
                <a:solidFill>
                  <a:schemeClr val="tx1"/>
                </a:solidFill>
              </a:rPr>
              <a:t>sockfd;j</a:t>
            </a:r>
            <a:r>
              <a:rPr lang="en-GB" sz="2800" dirty="0" smtClean="0">
                <a:solidFill>
                  <a:schemeClr val="tx1"/>
                </a:solidFill>
              </a:rPr>
              <a:t>&lt;=</a:t>
            </a:r>
            <a:r>
              <a:rPr lang="en-GB" sz="2800" dirty="0" err="1" smtClean="0">
                <a:solidFill>
                  <a:schemeClr val="tx1"/>
                </a:solidFill>
              </a:rPr>
              <a:t>max_fd;j</a:t>
            </a:r>
            <a:r>
              <a:rPr lang="en-GB" sz="2800" dirty="0" smtClean="0">
                <a:solidFill>
                  <a:schemeClr val="tx1"/>
                </a:solidFill>
              </a:rPr>
              <a:t>++)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	FD_SET(</a:t>
            </a:r>
            <a:r>
              <a:rPr lang="en-GB" sz="2800" dirty="0" err="1" smtClean="0">
                <a:solidFill>
                  <a:schemeClr val="tx1"/>
                </a:solidFill>
              </a:rPr>
              <a:t>j,&amp;readfds</a:t>
            </a:r>
            <a:r>
              <a:rPr lang="en-GB" sz="2800" dirty="0" smtClean="0">
                <a:solidFill>
                  <a:schemeClr val="tx1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		} 		    } 		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}            close(</a:t>
            </a:r>
            <a:r>
              <a:rPr lang="en-GB" sz="2800" dirty="0" err="1" smtClean="0">
                <a:solidFill>
                  <a:schemeClr val="tx1"/>
                </a:solidFill>
              </a:rPr>
              <a:t>new_fd</a:t>
            </a:r>
            <a:r>
              <a:rPr lang="en-GB" sz="2800" dirty="0" smtClean="0">
                <a:solidFill>
                  <a:schemeClr val="tx1"/>
                </a:solidFill>
              </a:rPr>
              <a:t>); 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/* Server program which wait for the client to connect and reads the data  using non-blocking socket. */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</a:t>
            </a:r>
            <a:r>
              <a:rPr lang="en-GB" sz="2600" dirty="0" smtClean="0">
                <a:solidFill>
                  <a:schemeClr val="tx1"/>
                </a:solidFill>
              </a:rPr>
              <a:t>#include &lt;</a:t>
            </a:r>
            <a:r>
              <a:rPr lang="en-GB" sz="2600" dirty="0" err="1" smtClean="0">
                <a:solidFill>
                  <a:schemeClr val="tx1"/>
                </a:solidFill>
              </a:rPr>
              <a:t>stdio.h</a:t>
            </a:r>
            <a:r>
              <a:rPr lang="en-GB" sz="26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dirty="0" smtClean="0">
                <a:solidFill>
                  <a:schemeClr val="tx1"/>
                </a:solidFill>
              </a:rPr>
              <a:t>    #include &lt;</a:t>
            </a:r>
            <a:r>
              <a:rPr lang="en-GB" sz="2600" dirty="0" err="1" smtClean="0">
                <a:solidFill>
                  <a:schemeClr val="tx1"/>
                </a:solidFill>
              </a:rPr>
              <a:t>stdlib.h</a:t>
            </a:r>
            <a:r>
              <a:rPr lang="en-GB" sz="26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dirty="0" smtClean="0">
                <a:solidFill>
                  <a:schemeClr val="tx1"/>
                </a:solidFill>
              </a:rPr>
              <a:t>    #include &lt;</a:t>
            </a:r>
            <a:r>
              <a:rPr lang="en-GB" sz="2600" dirty="0" err="1" smtClean="0">
                <a:solidFill>
                  <a:schemeClr val="tx1"/>
                </a:solidFill>
              </a:rPr>
              <a:t>errno.h</a:t>
            </a:r>
            <a:r>
              <a:rPr lang="en-GB" sz="26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dirty="0" smtClean="0">
                <a:solidFill>
                  <a:schemeClr val="tx1"/>
                </a:solidFill>
              </a:rPr>
              <a:t>    #include &lt;</a:t>
            </a:r>
            <a:r>
              <a:rPr lang="en-GB" sz="2600" dirty="0" err="1" smtClean="0">
                <a:solidFill>
                  <a:schemeClr val="tx1"/>
                </a:solidFill>
              </a:rPr>
              <a:t>string.h</a:t>
            </a:r>
            <a:r>
              <a:rPr lang="en-GB" sz="26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dirty="0" smtClean="0">
                <a:solidFill>
                  <a:schemeClr val="tx1"/>
                </a:solidFill>
              </a:rPr>
              <a:t>    #include &lt;sys/</a:t>
            </a:r>
            <a:r>
              <a:rPr lang="en-GB" sz="2600" dirty="0" err="1" smtClean="0">
                <a:solidFill>
                  <a:schemeClr val="tx1"/>
                </a:solidFill>
              </a:rPr>
              <a:t>types.h</a:t>
            </a:r>
            <a:r>
              <a:rPr lang="en-GB" sz="26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dirty="0" smtClean="0">
                <a:solidFill>
                  <a:schemeClr val="tx1"/>
                </a:solidFill>
              </a:rPr>
              <a:t>    #include &lt;</a:t>
            </a:r>
            <a:r>
              <a:rPr lang="en-GB" sz="2600" dirty="0" err="1" smtClean="0">
                <a:solidFill>
                  <a:schemeClr val="tx1"/>
                </a:solidFill>
              </a:rPr>
              <a:t>netinet</a:t>
            </a:r>
            <a:r>
              <a:rPr lang="en-GB" sz="2600" dirty="0" smtClean="0">
                <a:solidFill>
                  <a:schemeClr val="tx1"/>
                </a:solidFill>
              </a:rPr>
              <a:t>/</a:t>
            </a:r>
            <a:r>
              <a:rPr lang="en-GB" sz="2600" dirty="0" err="1" smtClean="0">
                <a:solidFill>
                  <a:schemeClr val="tx1"/>
                </a:solidFill>
              </a:rPr>
              <a:t>in.h</a:t>
            </a:r>
            <a:r>
              <a:rPr lang="en-GB" sz="26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dirty="0" smtClean="0">
                <a:solidFill>
                  <a:schemeClr val="tx1"/>
                </a:solidFill>
              </a:rPr>
              <a:t>    #include &lt;sys/</a:t>
            </a:r>
            <a:r>
              <a:rPr lang="en-GB" sz="2600" dirty="0" err="1" smtClean="0">
                <a:solidFill>
                  <a:schemeClr val="tx1"/>
                </a:solidFill>
              </a:rPr>
              <a:t>socket.h</a:t>
            </a:r>
            <a:r>
              <a:rPr lang="en-GB" sz="26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dirty="0" smtClean="0">
                <a:solidFill>
                  <a:schemeClr val="tx1"/>
                </a:solidFill>
              </a:rPr>
              <a:t>    #include &lt;sys/</a:t>
            </a:r>
            <a:r>
              <a:rPr lang="en-GB" sz="2600" dirty="0" err="1" smtClean="0">
                <a:solidFill>
                  <a:schemeClr val="tx1"/>
                </a:solidFill>
              </a:rPr>
              <a:t>wait.h</a:t>
            </a:r>
            <a:r>
              <a:rPr lang="en-GB" sz="2600" dirty="0" smtClean="0">
                <a:solidFill>
                  <a:schemeClr val="tx1"/>
                </a:solidFill>
              </a:rPr>
              <a:t>&gt;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600" dirty="0" smtClean="0">
                <a:solidFill>
                  <a:schemeClr val="tx1"/>
                </a:solidFill>
              </a:rPr>
              <a:t>    #include &lt;</a:t>
            </a:r>
            <a:r>
              <a:rPr lang="en-GB" sz="2600" dirty="0" err="1" smtClean="0">
                <a:solidFill>
                  <a:schemeClr val="tx1"/>
                </a:solidFill>
              </a:rPr>
              <a:t>fcntl.h</a:t>
            </a:r>
            <a:r>
              <a:rPr lang="en-GB" sz="2600" dirty="0" smtClean="0">
                <a:solidFill>
                  <a:schemeClr val="tx1"/>
                </a:solidFill>
              </a:rPr>
              <a:t>&gt; /* Added for the </a:t>
            </a:r>
            <a:r>
              <a:rPr lang="en-GB" sz="2600" dirty="0" err="1" smtClean="0">
                <a:solidFill>
                  <a:schemeClr val="tx1"/>
                </a:solidFill>
              </a:rPr>
              <a:t>nonblocking</a:t>
            </a:r>
            <a:r>
              <a:rPr lang="en-GB" sz="2600" dirty="0" smtClean="0">
                <a:solidFill>
                  <a:schemeClr val="tx1"/>
                </a:solidFill>
              </a:rPr>
              <a:t> socket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#define MYPORT 3456    /*port users will be connecting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#define BACKLOG 10     /*connections queue will hold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main()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int 	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new_fd</a:t>
            </a:r>
            <a:r>
              <a:rPr lang="en-GB" sz="2800" dirty="0" smtClean="0">
                <a:solidFill>
                  <a:schemeClr val="tx1"/>
                </a:solidFill>
              </a:rPr>
              <a:t>;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/* listen on </a:t>
            </a:r>
            <a:r>
              <a:rPr lang="en-GB" sz="2800" dirty="0" err="1" smtClean="0">
                <a:solidFill>
                  <a:schemeClr val="tx1"/>
                </a:solidFill>
              </a:rPr>
              <a:t>sock_fd</a:t>
            </a:r>
            <a:r>
              <a:rPr lang="en-GB" sz="2800" dirty="0" smtClean="0">
                <a:solidFill>
                  <a:schemeClr val="tx1"/>
                </a:solidFill>
              </a:rPr>
              <a:t>, new connection on </a:t>
            </a:r>
            <a:r>
              <a:rPr lang="en-GB" sz="2800" dirty="0" err="1" smtClean="0">
                <a:solidFill>
                  <a:schemeClr val="tx1"/>
                </a:solidFill>
              </a:rPr>
              <a:t>new_fd</a:t>
            </a:r>
            <a:r>
              <a:rPr lang="en-GB" sz="2800" dirty="0" smtClean="0">
                <a:solidFill>
                  <a:schemeClr val="tx1"/>
                </a:solidFill>
              </a:rPr>
              <a:t>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sockaddr_in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my_addr</a:t>
            </a:r>
            <a:r>
              <a:rPr lang="en-GB" sz="2800" dirty="0" smtClean="0">
                <a:solidFill>
                  <a:schemeClr val="tx1"/>
                </a:solidFill>
              </a:rPr>
              <a:t>;   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/* my address information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sockaddr_in</a:t>
            </a:r>
            <a:r>
              <a:rPr lang="en-GB" sz="2800" dirty="0" smtClean="0">
                <a:solidFill>
                  <a:schemeClr val="tx1"/>
                </a:solidFill>
              </a:rPr>
              <a:t> 	</a:t>
            </a:r>
            <a:r>
              <a:rPr lang="en-GB" sz="2800" dirty="0" err="1" smtClean="0">
                <a:solidFill>
                  <a:schemeClr val="tx1"/>
                </a:solidFill>
              </a:rPr>
              <a:t>their_addr</a:t>
            </a:r>
            <a:r>
              <a:rPr lang="en-GB" sz="2800" dirty="0" smtClean="0">
                <a:solidFill>
                  <a:schemeClr val="tx1"/>
                </a:solidFill>
              </a:rPr>
              <a:t>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/* connector's address information */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int 	</a:t>
            </a:r>
            <a:r>
              <a:rPr lang="en-GB" sz="2800" dirty="0" err="1" smtClean="0">
                <a:solidFill>
                  <a:schemeClr val="tx1"/>
                </a:solidFill>
              </a:rPr>
              <a:t>sin_size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char	</a:t>
            </a:r>
            <a:r>
              <a:rPr lang="en-GB" sz="2800" dirty="0" err="1" smtClean="0">
                <a:solidFill>
                  <a:schemeClr val="tx1"/>
                </a:solidFill>
              </a:rPr>
              <a:t>string_read</a:t>
            </a:r>
            <a:r>
              <a:rPr lang="en-GB" sz="2800" dirty="0" smtClean="0">
                <a:solidFill>
                  <a:schemeClr val="tx1"/>
                </a:solidFill>
              </a:rPr>
              <a:t>[255];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int 	</a:t>
            </a:r>
            <a:r>
              <a:rPr lang="en-GB" sz="2800" dirty="0" err="1" smtClean="0">
                <a:solidFill>
                  <a:schemeClr val="tx1"/>
                </a:solidFill>
              </a:rPr>
              <a:t>n,i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	int	</a:t>
            </a:r>
            <a:r>
              <a:rPr lang="en-GB" sz="2800" dirty="0" err="1" smtClean="0">
                <a:solidFill>
                  <a:schemeClr val="tx1"/>
                </a:solidFill>
              </a:rPr>
              <a:t>last_fd</a:t>
            </a:r>
            <a:r>
              <a:rPr lang="en-GB" sz="2800" dirty="0" smtClean="0">
                <a:solidFill>
                  <a:schemeClr val="tx1"/>
                </a:solidFill>
              </a:rPr>
              <a:t>;     /* last 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 that is connected	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if ((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 = socket(AF_INET, SOCK_STREAM, 0)) == -1)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("socket");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exit(1);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err="1" smtClean="0">
                <a:solidFill>
                  <a:schemeClr val="tx1"/>
                </a:solidFill>
              </a:rPr>
              <a:t>last_fd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err="1" smtClean="0">
                <a:solidFill>
                  <a:schemeClr val="tx1"/>
                </a:solidFill>
              </a:rPr>
              <a:t>my_addr.sin_family</a:t>
            </a:r>
            <a:r>
              <a:rPr lang="en-GB" sz="2800" dirty="0" smtClean="0">
                <a:solidFill>
                  <a:schemeClr val="tx1"/>
                </a:solidFill>
              </a:rPr>
              <a:t> = AF_INET;      /* host byte order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err="1" smtClean="0">
                <a:solidFill>
                  <a:schemeClr val="tx1"/>
                </a:solidFill>
              </a:rPr>
              <a:t>my_addr.sin_port</a:t>
            </a:r>
            <a:r>
              <a:rPr lang="en-GB" sz="2800" dirty="0" smtClean="0">
                <a:solidFill>
                  <a:schemeClr val="tx1"/>
                </a:solidFill>
              </a:rPr>
              <a:t> = </a:t>
            </a:r>
            <a:r>
              <a:rPr lang="en-GB" sz="2800" dirty="0" err="1" smtClean="0">
                <a:solidFill>
                  <a:schemeClr val="tx1"/>
                </a:solidFill>
              </a:rPr>
              <a:t>htons</a:t>
            </a:r>
            <a:r>
              <a:rPr lang="en-GB" sz="2800" dirty="0" smtClean="0">
                <a:solidFill>
                  <a:schemeClr val="tx1"/>
                </a:solidFill>
              </a:rPr>
              <a:t>(MYPORT);     /* short, network byte order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</a:t>
            </a:r>
            <a:r>
              <a:rPr lang="en-GB" sz="2800" dirty="0" err="1" smtClean="0">
                <a:solidFill>
                  <a:schemeClr val="tx1"/>
                </a:solidFill>
              </a:rPr>
              <a:t>my_addr.sin_addr.s_addr</a:t>
            </a:r>
            <a:r>
              <a:rPr lang="en-GB" sz="2800" dirty="0" smtClean="0">
                <a:solidFill>
                  <a:schemeClr val="tx1"/>
                </a:solidFill>
              </a:rPr>
              <a:t> = INADDR_ANY; /* auto-fill with my IP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</a:t>
            </a:r>
            <a:r>
              <a:rPr lang="en-GB" sz="2800" dirty="0" err="1" smtClean="0">
                <a:solidFill>
                  <a:schemeClr val="tx1"/>
                </a:solidFill>
              </a:rPr>
              <a:t>bzero</a:t>
            </a:r>
            <a:r>
              <a:rPr lang="en-GB" sz="2800" dirty="0" smtClean="0">
                <a:solidFill>
                  <a:schemeClr val="tx1"/>
                </a:solidFill>
              </a:rPr>
              <a:t>(&amp;(</a:t>
            </a:r>
            <a:r>
              <a:rPr lang="en-GB" sz="2800" dirty="0" err="1" smtClean="0">
                <a:solidFill>
                  <a:schemeClr val="tx1"/>
                </a:solidFill>
              </a:rPr>
              <a:t>my_addr.sin_zero</a:t>
            </a:r>
            <a:r>
              <a:rPr lang="en-GB" sz="2800" dirty="0" smtClean="0">
                <a:solidFill>
                  <a:schemeClr val="tx1"/>
                </a:solidFill>
              </a:rPr>
              <a:t>), 8);       /* zero rest of 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if (bind(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 *)&amp;</a:t>
            </a:r>
            <a:r>
              <a:rPr lang="en-GB" sz="2800" dirty="0" err="1" smtClean="0">
                <a:solidFill>
                  <a:schemeClr val="tx1"/>
                </a:solidFill>
              </a:rPr>
              <a:t>my_addr</a:t>
            </a:r>
            <a:r>
              <a:rPr lang="en-GB" sz="2800" dirty="0" smtClean="0">
                <a:solidFill>
                  <a:schemeClr val="tx1"/>
                </a:solidFill>
              </a:rPr>
              <a:t>, </a:t>
            </a:r>
            <a:r>
              <a:rPr lang="en-GB" sz="2800" dirty="0" err="1" smtClean="0">
                <a:solidFill>
                  <a:schemeClr val="tx1"/>
                </a:solidFill>
              </a:rPr>
              <a:t>sizeof</a:t>
            </a:r>
            <a:r>
              <a:rPr lang="en-GB" sz="2800" dirty="0" smtClean="0">
                <a:solidFill>
                  <a:schemeClr val="tx1"/>
                </a:solidFill>
              </a:rPr>
              <a:t>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))   == -1)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("bind");             exit(1);     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if (listen(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BACKLOG) == -1)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("listen");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    exit(1);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	if ((</a:t>
            </a:r>
            <a:r>
              <a:rPr lang="en-GB" sz="2800" dirty="0" err="1" smtClean="0">
                <a:solidFill>
                  <a:schemeClr val="tx1"/>
                </a:solidFill>
              </a:rPr>
              <a:t>new_fd</a:t>
            </a:r>
            <a:r>
              <a:rPr lang="en-GB" sz="2800" dirty="0" smtClean="0">
                <a:solidFill>
                  <a:schemeClr val="tx1"/>
                </a:solidFill>
              </a:rPr>
              <a:t> = accept(</a:t>
            </a:r>
            <a:r>
              <a:rPr lang="en-GB" sz="2800" dirty="0" err="1" smtClean="0">
                <a:solidFill>
                  <a:schemeClr val="tx1"/>
                </a:solidFill>
              </a:rPr>
              <a:t>sockfd</a:t>
            </a:r>
            <a:r>
              <a:rPr lang="en-GB" sz="2800" dirty="0" smtClean="0">
                <a:solidFill>
                  <a:schemeClr val="tx1"/>
                </a:solidFill>
              </a:rPr>
              <a:t>, (</a:t>
            </a:r>
            <a:r>
              <a:rPr lang="en-GB" sz="2800" dirty="0" err="1" smtClean="0">
                <a:solidFill>
                  <a:schemeClr val="tx1"/>
                </a:solidFill>
              </a:rPr>
              <a:t>struct</a:t>
            </a:r>
            <a:r>
              <a:rPr lang="en-GB" sz="2800" dirty="0" smtClean="0">
                <a:solidFill>
                  <a:schemeClr val="tx1"/>
                </a:solidFill>
              </a:rPr>
              <a:t> </a:t>
            </a:r>
            <a:r>
              <a:rPr lang="en-GB" sz="2800" dirty="0" err="1" smtClean="0">
                <a:solidFill>
                  <a:schemeClr val="tx1"/>
                </a:solidFill>
              </a:rPr>
              <a:t>sockaddr</a:t>
            </a:r>
            <a:r>
              <a:rPr lang="en-GB" sz="2800" dirty="0" smtClean="0">
                <a:solidFill>
                  <a:schemeClr val="tx1"/>
                </a:solidFill>
              </a:rPr>
              <a:t> *)&amp;</a:t>
            </a:r>
            <a:r>
              <a:rPr lang="en-GB" sz="2800" dirty="0" err="1" smtClean="0">
                <a:solidFill>
                  <a:schemeClr val="tx1"/>
                </a:solidFill>
              </a:rPr>
              <a:t>their_addr</a:t>
            </a:r>
            <a:r>
              <a:rPr lang="en-GB" sz="2800" dirty="0" smtClean="0">
                <a:solidFill>
                  <a:schemeClr val="tx1"/>
                </a:solidFill>
              </a:rPr>
              <a:t>, &amp;</a:t>
            </a:r>
            <a:r>
              <a:rPr lang="en-GB" sz="2800" dirty="0" err="1" smtClean="0">
                <a:solidFill>
                  <a:schemeClr val="tx1"/>
                </a:solidFill>
              </a:rPr>
              <a:t>sin_size</a:t>
            </a:r>
            <a:r>
              <a:rPr lang="en-GB" sz="2800" dirty="0" smtClean="0">
                <a:solidFill>
                  <a:schemeClr val="tx1"/>
                </a:solidFill>
              </a:rPr>
              <a:t>)) == -1)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		</a:t>
            </a:r>
            <a:r>
              <a:rPr lang="en-GB" sz="2800" dirty="0" err="1" smtClean="0">
                <a:solidFill>
                  <a:schemeClr val="tx1"/>
                </a:solidFill>
              </a:rPr>
              <a:t>perror</a:t>
            </a:r>
            <a:r>
              <a:rPr lang="en-GB" sz="2800" dirty="0" smtClean="0">
                <a:solidFill>
                  <a:schemeClr val="tx1"/>
                </a:solidFill>
              </a:rPr>
              <a:t>("accept");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dirty="0" smtClean="0">
                <a:solidFill>
                  <a:schemeClr val="tx1"/>
                </a:solidFill>
              </a:rPr>
              <a:t>        			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err="1" smtClean="0">
                <a:solidFill>
                  <a:srgbClr val="FF0000"/>
                </a:solidFill>
              </a:rPr>
              <a:t>fcntl</a:t>
            </a:r>
            <a:r>
              <a:rPr lang="en-GB" sz="2800" b="1" dirty="0" smtClean="0">
                <a:solidFill>
                  <a:srgbClr val="FF0000"/>
                </a:solidFill>
              </a:rPr>
              <a:t>(</a:t>
            </a:r>
            <a:r>
              <a:rPr lang="en-GB" sz="2800" b="1" dirty="0" err="1" smtClean="0">
                <a:solidFill>
                  <a:srgbClr val="FF0000"/>
                </a:solidFill>
              </a:rPr>
              <a:t>last_fd</a:t>
            </a:r>
            <a:r>
              <a:rPr lang="en-GB" sz="2800" b="1" dirty="0" smtClean="0">
                <a:solidFill>
                  <a:srgbClr val="FF0000"/>
                </a:solidFill>
              </a:rPr>
              <a:t>, F_SETFL, O_NONBLOCK); /* Change the socket into non-blocking state	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        </a:t>
            </a:r>
            <a:r>
              <a:rPr lang="en-GB" sz="2800" b="1" dirty="0" err="1" smtClean="0">
                <a:solidFill>
                  <a:srgbClr val="FF0000"/>
                </a:solidFill>
              </a:rPr>
              <a:t>fcntl</a:t>
            </a:r>
            <a:r>
              <a:rPr lang="en-GB" sz="2800" b="1" dirty="0" smtClean="0">
                <a:solidFill>
                  <a:srgbClr val="FF0000"/>
                </a:solidFill>
              </a:rPr>
              <a:t>(</a:t>
            </a:r>
            <a:r>
              <a:rPr lang="en-GB" sz="2800" b="1" dirty="0" err="1" smtClean="0">
                <a:solidFill>
                  <a:srgbClr val="FF0000"/>
                </a:solidFill>
              </a:rPr>
              <a:t>new_fd</a:t>
            </a:r>
            <a:r>
              <a:rPr lang="en-GB" sz="2800" b="1" dirty="0" smtClean="0">
                <a:solidFill>
                  <a:srgbClr val="FF0000"/>
                </a:solidFill>
              </a:rPr>
              <a:t>, F_SETFL, O_NONBLOCK); /* Change the socket into non-blocking state	*/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while(1){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	for (</a:t>
            </a:r>
            <a:r>
              <a:rPr lang="en-GB" sz="2800" b="1" dirty="0" err="1" smtClean="0">
                <a:solidFill>
                  <a:srgbClr val="FF0000"/>
                </a:solidFill>
              </a:rPr>
              <a:t>i</a:t>
            </a:r>
            <a:r>
              <a:rPr lang="en-GB" sz="2800" b="1" dirty="0" smtClean="0">
                <a:solidFill>
                  <a:srgbClr val="FF0000"/>
                </a:solidFill>
              </a:rPr>
              <a:t>=</a:t>
            </a:r>
            <a:r>
              <a:rPr lang="en-GB" sz="2800" b="1" dirty="0" err="1" smtClean="0">
                <a:solidFill>
                  <a:srgbClr val="FF0000"/>
                </a:solidFill>
              </a:rPr>
              <a:t>sockfd;i</a:t>
            </a:r>
            <a:r>
              <a:rPr lang="en-GB" sz="2800" b="1" dirty="0" smtClean="0">
                <a:solidFill>
                  <a:srgbClr val="FF0000"/>
                </a:solidFill>
              </a:rPr>
              <a:t>&lt;=</a:t>
            </a:r>
            <a:r>
              <a:rPr lang="en-GB" sz="2800" b="1" dirty="0" err="1" smtClean="0">
                <a:solidFill>
                  <a:srgbClr val="FF0000"/>
                </a:solidFill>
              </a:rPr>
              <a:t>last_fd;i</a:t>
            </a:r>
            <a:r>
              <a:rPr lang="en-GB" sz="2800" b="1" dirty="0" smtClean="0">
                <a:solidFill>
                  <a:srgbClr val="FF0000"/>
                </a:solidFill>
              </a:rPr>
              <a:t>++){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		</a:t>
            </a:r>
            <a:r>
              <a:rPr lang="en-GB" sz="2800" b="1" dirty="0" err="1" smtClean="0">
                <a:solidFill>
                  <a:srgbClr val="FF0000"/>
                </a:solidFill>
              </a:rPr>
              <a:t>printf</a:t>
            </a:r>
            <a:r>
              <a:rPr lang="en-GB" sz="2800" b="1" dirty="0" smtClean="0">
                <a:solidFill>
                  <a:srgbClr val="FF0000"/>
                </a:solidFill>
              </a:rPr>
              <a:t>("Round number %d\</a:t>
            </a:r>
            <a:r>
              <a:rPr lang="en-GB" sz="2800" b="1" dirty="0" err="1" smtClean="0">
                <a:solidFill>
                  <a:srgbClr val="FF0000"/>
                </a:solidFill>
              </a:rPr>
              <a:t>n",i</a:t>
            </a:r>
            <a:r>
              <a:rPr lang="en-GB" sz="2800" b="1" dirty="0" smtClean="0">
                <a:solidFill>
                  <a:srgbClr val="FF0000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       	if (</a:t>
            </a:r>
            <a:r>
              <a:rPr lang="en-GB" sz="2800" b="1" dirty="0" err="1" smtClean="0">
                <a:solidFill>
                  <a:srgbClr val="FF0000"/>
                </a:solidFill>
              </a:rPr>
              <a:t>i</a:t>
            </a:r>
            <a:r>
              <a:rPr lang="en-GB" sz="2800" b="1" dirty="0" smtClean="0">
                <a:solidFill>
                  <a:srgbClr val="FF0000"/>
                </a:solidFill>
              </a:rPr>
              <a:t> = 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){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</a:t>
            </a:r>
            <a:r>
              <a:rPr lang="en-GB" sz="2800" b="1" dirty="0" err="1" smtClean="0">
                <a:solidFill>
                  <a:srgbClr val="FF0000"/>
                </a:solidFill>
              </a:rPr>
              <a:t>sin_size</a:t>
            </a:r>
            <a:r>
              <a:rPr lang="en-GB" sz="2800" b="1" dirty="0" smtClean="0">
                <a:solidFill>
                  <a:srgbClr val="FF0000"/>
                </a:solidFill>
              </a:rPr>
              <a:t> = </a:t>
            </a:r>
            <a:r>
              <a:rPr lang="en-GB" sz="2800" b="1" dirty="0" err="1" smtClean="0">
                <a:solidFill>
                  <a:srgbClr val="FF0000"/>
                </a:solidFill>
              </a:rPr>
              <a:t>sizeof</a:t>
            </a:r>
            <a:r>
              <a:rPr lang="en-GB" sz="2800" b="1" dirty="0" smtClean="0">
                <a:solidFill>
                  <a:srgbClr val="FF0000"/>
                </a:solidFill>
              </a:rPr>
              <a:t>(</a:t>
            </a: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sockaddr_in</a:t>
            </a:r>
            <a:r>
              <a:rPr lang="en-GB" sz="2800" b="1" dirty="0" smtClean="0">
                <a:solidFill>
                  <a:srgbClr val="FF0000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      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if ((</a:t>
            </a:r>
            <a:r>
              <a:rPr lang="en-GB" sz="2800" b="1" dirty="0" err="1" smtClean="0">
                <a:solidFill>
                  <a:srgbClr val="FF0000"/>
                </a:solidFill>
              </a:rPr>
              <a:t>new_fd</a:t>
            </a:r>
            <a:r>
              <a:rPr lang="en-GB" sz="2800" b="1" dirty="0" smtClean="0">
                <a:solidFill>
                  <a:srgbClr val="FF0000"/>
                </a:solidFill>
              </a:rPr>
              <a:t> = accept(</a:t>
            </a:r>
            <a:r>
              <a:rPr lang="en-GB" sz="2800" b="1" dirty="0" err="1" smtClean="0">
                <a:solidFill>
                  <a:srgbClr val="FF0000"/>
                </a:solidFill>
              </a:rPr>
              <a:t>sockfd</a:t>
            </a:r>
            <a:r>
              <a:rPr lang="en-GB" sz="2800" b="1" dirty="0" smtClean="0">
                <a:solidFill>
                  <a:srgbClr val="FF0000"/>
                </a:solidFill>
              </a:rPr>
              <a:t>, (</a:t>
            </a:r>
            <a:r>
              <a:rPr lang="en-GB" sz="2800" b="1" dirty="0" err="1" smtClean="0">
                <a:solidFill>
                  <a:srgbClr val="FF0000"/>
                </a:solidFill>
              </a:rPr>
              <a:t>struct</a:t>
            </a:r>
            <a:r>
              <a:rPr lang="en-GB" sz="2800" b="1" dirty="0" smtClean="0">
                <a:solidFill>
                  <a:srgbClr val="FF0000"/>
                </a:solidFill>
              </a:rPr>
              <a:t> </a:t>
            </a:r>
            <a:r>
              <a:rPr lang="en-GB" sz="2800" b="1" dirty="0" err="1" smtClean="0">
                <a:solidFill>
                  <a:srgbClr val="FF0000"/>
                </a:solidFill>
              </a:rPr>
              <a:t>sockaddr</a:t>
            </a:r>
            <a:r>
              <a:rPr lang="en-GB" sz="2800" b="1" dirty="0" smtClean="0">
                <a:solidFill>
                  <a:srgbClr val="FF0000"/>
                </a:solidFill>
              </a:rPr>
              <a:t> *)&amp;</a:t>
            </a:r>
            <a:r>
              <a:rPr lang="en-GB" sz="2800" b="1" dirty="0" err="1" smtClean="0">
                <a:solidFill>
                  <a:srgbClr val="FF0000"/>
                </a:solidFill>
              </a:rPr>
              <a:t>their_addr</a:t>
            </a:r>
            <a:r>
              <a:rPr lang="en-GB" sz="2800" b="1" dirty="0" smtClean="0">
                <a:solidFill>
                  <a:srgbClr val="FF0000"/>
                </a:solidFill>
              </a:rPr>
              <a:t>, &amp;</a:t>
            </a:r>
            <a:r>
              <a:rPr lang="en-GB" sz="2800" b="1" dirty="0" err="1" smtClean="0">
                <a:solidFill>
                  <a:srgbClr val="FF0000"/>
                </a:solidFill>
              </a:rPr>
              <a:t>sin_size</a:t>
            </a:r>
            <a:r>
              <a:rPr lang="en-GB" sz="2800" b="1" dirty="0" smtClean="0">
                <a:solidFill>
                  <a:srgbClr val="FF0000"/>
                </a:solidFill>
              </a:rPr>
              <a:t>)) == -1) 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        			</a:t>
            </a:r>
            <a:r>
              <a:rPr lang="en-GB" sz="2800" b="1" dirty="0" err="1" smtClean="0">
                <a:solidFill>
                  <a:srgbClr val="FF0000"/>
                </a:solidFill>
              </a:rPr>
              <a:t>perror</a:t>
            </a:r>
            <a:r>
              <a:rPr lang="en-GB" sz="2800" b="1" dirty="0" smtClean="0">
                <a:solidFill>
                  <a:srgbClr val="FF0000"/>
                </a:solidFill>
              </a:rPr>
              <a:t>("accept");       			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         </a:t>
            </a:r>
            <a:r>
              <a:rPr lang="en-GB" sz="2800" b="1" dirty="0" err="1" smtClean="0">
                <a:solidFill>
                  <a:srgbClr val="FF0000"/>
                </a:solidFill>
              </a:rPr>
              <a:t>printf</a:t>
            </a:r>
            <a:r>
              <a:rPr lang="en-GB" sz="2800" b="1" dirty="0" smtClean="0">
                <a:solidFill>
                  <a:srgbClr val="FF0000"/>
                </a:solidFill>
              </a:rPr>
              <a:t>("server: got connection from %s\n", 		 </a:t>
            </a:r>
            <a:r>
              <a:rPr lang="en-GB" sz="2800" b="1" dirty="0" err="1" smtClean="0">
                <a:solidFill>
                  <a:srgbClr val="FF0000"/>
                </a:solidFill>
              </a:rPr>
              <a:t>inet_ntoa</a:t>
            </a:r>
            <a:r>
              <a:rPr lang="en-GB" sz="2800" b="1" dirty="0" smtClean="0">
                <a:solidFill>
                  <a:srgbClr val="FF0000"/>
                </a:solidFill>
              </a:rPr>
              <a:t>(</a:t>
            </a:r>
            <a:r>
              <a:rPr lang="en-GB" sz="2800" b="1" dirty="0" err="1" smtClean="0">
                <a:solidFill>
                  <a:srgbClr val="FF0000"/>
                </a:solidFill>
              </a:rPr>
              <a:t>their_addr.sin_addr</a:t>
            </a:r>
            <a:r>
              <a:rPr lang="en-GB" sz="2800" b="1" dirty="0" smtClean="0">
                <a:solidFill>
                  <a:srgbClr val="FF0000"/>
                </a:solidFill>
              </a:rPr>
              <a:t>));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    	    </a:t>
            </a:r>
            <a:r>
              <a:rPr lang="en-GB" sz="2800" b="1" dirty="0" err="1" smtClean="0">
                <a:solidFill>
                  <a:srgbClr val="FF0000"/>
                </a:solidFill>
              </a:rPr>
              <a:t>fcntl</a:t>
            </a:r>
            <a:r>
              <a:rPr lang="en-GB" sz="2800" b="1" dirty="0" smtClean="0">
                <a:solidFill>
                  <a:srgbClr val="FF0000"/>
                </a:solidFill>
              </a:rPr>
              <a:t>(</a:t>
            </a:r>
            <a:r>
              <a:rPr lang="en-GB" sz="2800" b="1" dirty="0" err="1" smtClean="0">
                <a:solidFill>
                  <a:srgbClr val="FF0000"/>
                </a:solidFill>
              </a:rPr>
              <a:t>new_fd</a:t>
            </a:r>
            <a:r>
              <a:rPr lang="en-GB" sz="2800" b="1" dirty="0" smtClean="0">
                <a:solidFill>
                  <a:srgbClr val="FF0000"/>
                </a:solidFill>
              </a:rPr>
              <a:t>, F_SETFL, O_NONBLOCK);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	</a:t>
            </a:r>
            <a:r>
              <a:rPr lang="en-GB" sz="2800" b="1" dirty="0" err="1" smtClean="0">
                <a:solidFill>
                  <a:srgbClr val="FF0000"/>
                </a:solidFill>
              </a:rPr>
              <a:t>last_fd</a:t>
            </a:r>
            <a:r>
              <a:rPr lang="en-GB" sz="2800" b="1" dirty="0" smtClean="0">
                <a:solidFill>
                  <a:srgbClr val="FF0000"/>
                </a:solidFill>
              </a:rPr>
              <a:t> = </a:t>
            </a:r>
            <a:r>
              <a:rPr lang="en-GB" sz="2800" b="1" dirty="0" err="1" smtClean="0">
                <a:solidFill>
                  <a:srgbClr val="FF0000"/>
                </a:solidFill>
              </a:rPr>
              <a:t>new_fd</a:t>
            </a:r>
            <a:r>
              <a:rPr lang="en-GB" sz="2800" b="1" dirty="0" smtClean="0">
                <a:solidFill>
                  <a:srgbClr val="FF0000"/>
                </a:solidFill>
              </a:rPr>
              <a:t>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	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		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88640"/>
            <a:ext cx="9144000" cy="612068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else{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n=</a:t>
            </a:r>
            <a:r>
              <a:rPr lang="en-GB" sz="2800" b="1" dirty="0" err="1" smtClean="0">
                <a:solidFill>
                  <a:srgbClr val="FF0000"/>
                </a:solidFill>
              </a:rPr>
              <a:t>recv</a:t>
            </a:r>
            <a:r>
              <a:rPr lang="en-GB" sz="2800" b="1" dirty="0" smtClean="0">
                <a:solidFill>
                  <a:srgbClr val="FF0000"/>
                </a:solidFill>
              </a:rPr>
              <a:t>(</a:t>
            </a:r>
            <a:r>
              <a:rPr lang="en-GB" sz="2800" b="1" dirty="0" err="1" smtClean="0">
                <a:solidFill>
                  <a:srgbClr val="FF0000"/>
                </a:solidFill>
              </a:rPr>
              <a:t>new_fd,string_read,sizeof</a:t>
            </a:r>
            <a:r>
              <a:rPr lang="en-GB" sz="2800" b="1" dirty="0" smtClean="0">
                <a:solidFill>
                  <a:srgbClr val="FF0000"/>
                </a:solidFill>
              </a:rPr>
              <a:t>(</a:t>
            </a:r>
            <a:r>
              <a:rPr lang="en-GB" sz="2800" b="1" dirty="0" err="1" smtClean="0">
                <a:solidFill>
                  <a:srgbClr val="FF0000"/>
                </a:solidFill>
              </a:rPr>
              <a:t>string_read</a:t>
            </a:r>
            <a:r>
              <a:rPr lang="en-GB" sz="2800" b="1" dirty="0" smtClean="0">
                <a:solidFill>
                  <a:srgbClr val="FF0000"/>
                </a:solidFill>
              </a:rPr>
              <a:t>),0);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			if (n &lt; 1){ 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	</a:t>
            </a:r>
            <a:r>
              <a:rPr lang="en-GB" sz="2800" b="1" dirty="0" err="1" smtClean="0">
                <a:solidFill>
                  <a:srgbClr val="FF0000"/>
                </a:solidFill>
              </a:rPr>
              <a:t>perror</a:t>
            </a:r>
            <a:r>
              <a:rPr lang="en-GB" sz="2800" b="1" dirty="0" smtClean="0">
                <a:solidFill>
                  <a:srgbClr val="FF0000"/>
                </a:solidFill>
              </a:rPr>
              <a:t>("</a:t>
            </a:r>
            <a:r>
              <a:rPr lang="en-GB" sz="2800" b="1" dirty="0" err="1" smtClean="0">
                <a:solidFill>
                  <a:srgbClr val="FF0000"/>
                </a:solidFill>
              </a:rPr>
              <a:t>recv</a:t>
            </a:r>
            <a:r>
              <a:rPr lang="en-GB" sz="2800" b="1" dirty="0" smtClean="0">
                <a:solidFill>
                  <a:srgbClr val="FF0000"/>
                </a:solidFill>
              </a:rPr>
              <a:t> - non blocking \n");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err="1" smtClean="0">
                <a:solidFill>
                  <a:srgbClr val="FF0000"/>
                </a:solidFill>
              </a:rPr>
              <a:t>printf</a:t>
            </a:r>
            <a:r>
              <a:rPr lang="en-GB" sz="2800" b="1" dirty="0" smtClean="0">
                <a:solidFill>
                  <a:srgbClr val="FF0000"/>
                </a:solidFill>
              </a:rPr>
              <a:t>("Round %d, and the data read size is: n=%d \</a:t>
            </a:r>
            <a:r>
              <a:rPr lang="en-GB" sz="2800" b="1" dirty="0" err="1" smtClean="0">
                <a:solidFill>
                  <a:srgbClr val="FF0000"/>
                </a:solidFill>
              </a:rPr>
              <a:t>n",i,n</a:t>
            </a:r>
            <a:r>
              <a:rPr lang="en-GB" sz="2800" b="1" dirty="0" smtClean="0">
                <a:solidFill>
                  <a:srgbClr val="FF0000"/>
                </a:solidFill>
              </a:rPr>
              <a:t>);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	else{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		  </a:t>
            </a:r>
            <a:r>
              <a:rPr lang="en-GB" sz="2800" b="1" dirty="0" err="1" smtClean="0">
                <a:solidFill>
                  <a:srgbClr val="FF0000"/>
                </a:solidFill>
              </a:rPr>
              <a:t>string_read</a:t>
            </a:r>
            <a:r>
              <a:rPr lang="en-GB" sz="2800" b="1" dirty="0" smtClean="0">
                <a:solidFill>
                  <a:srgbClr val="FF0000"/>
                </a:solidFill>
              </a:rPr>
              <a:t>[n] = '\0';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	</a:t>
            </a:r>
            <a:r>
              <a:rPr lang="en-GB" sz="2800" b="1" dirty="0" err="1" smtClean="0">
                <a:solidFill>
                  <a:srgbClr val="FF0000"/>
                </a:solidFill>
              </a:rPr>
              <a:t>printf</a:t>
            </a:r>
            <a:r>
              <a:rPr lang="en-GB" sz="2800" b="1" dirty="0" smtClean="0">
                <a:solidFill>
                  <a:srgbClr val="FF0000"/>
                </a:solidFill>
              </a:rPr>
              <a:t>("The string is: %s \</a:t>
            </a:r>
            <a:r>
              <a:rPr lang="en-GB" sz="2800" b="1" dirty="0" err="1" smtClean="0">
                <a:solidFill>
                  <a:srgbClr val="FF0000"/>
                </a:solidFill>
              </a:rPr>
              <a:t>n",string_read</a:t>
            </a:r>
            <a:r>
              <a:rPr lang="en-GB" sz="2800" b="1" dirty="0" smtClean="0">
                <a:solidFill>
                  <a:srgbClr val="FF0000"/>
                </a:solidFill>
              </a:rPr>
              <a:t>);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           if (send(</a:t>
            </a:r>
            <a:r>
              <a:rPr lang="en-GB" sz="2800" b="1" dirty="0" err="1" smtClean="0">
                <a:solidFill>
                  <a:srgbClr val="FF0000"/>
                </a:solidFill>
              </a:rPr>
              <a:t>new_fd</a:t>
            </a:r>
            <a:r>
              <a:rPr lang="en-GB" sz="2800" b="1" dirty="0" smtClean="0">
                <a:solidFill>
                  <a:srgbClr val="FF0000"/>
                </a:solidFill>
              </a:rPr>
              <a:t>, "Hello, world!\n", 14, 0) == -1)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GB" sz="2800" b="1" dirty="0" smtClean="0">
                <a:solidFill>
                  <a:srgbClr val="FF0000"/>
                </a:solidFill>
              </a:rPr>
              <a:t>                	</a:t>
            </a:r>
            <a:r>
              <a:rPr lang="en-GB" sz="2800" b="1" dirty="0" err="1" smtClean="0">
                <a:solidFill>
                  <a:srgbClr val="FF0000"/>
                </a:solidFill>
              </a:rPr>
              <a:t>perror</a:t>
            </a:r>
            <a:r>
              <a:rPr lang="en-GB" sz="2800" b="1" dirty="0" smtClean="0">
                <a:solidFill>
                  <a:srgbClr val="FF0000"/>
                </a:solidFill>
              </a:rPr>
              <a:t>("send"); 	} 	} 	} 	}      }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en-GB" sz="28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1654</Words>
  <Application>Microsoft Office PowerPoint</Application>
  <PresentationFormat>On-screen Show (4:3)</PresentationFormat>
  <Paragraphs>359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16</cp:revision>
  <dcterms:created xsi:type="dcterms:W3CDTF">2020-02-14T10:01:13Z</dcterms:created>
  <dcterms:modified xsi:type="dcterms:W3CDTF">2020-02-15T14:13:56Z</dcterms:modified>
</cp:coreProperties>
</file>