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2"/>
  </p:notesMasterIdLst>
  <p:handoutMasterIdLst>
    <p:handoutMasterId r:id="rId53"/>
  </p:handoutMasterIdLst>
  <p:sldIdLst>
    <p:sldId id="256" r:id="rId5"/>
    <p:sldId id="257" r:id="rId6"/>
    <p:sldId id="365" r:id="rId7"/>
    <p:sldId id="366" r:id="rId8"/>
    <p:sldId id="367" r:id="rId9"/>
    <p:sldId id="369" r:id="rId10"/>
    <p:sldId id="370" r:id="rId11"/>
    <p:sldId id="371" r:id="rId12"/>
    <p:sldId id="323" r:id="rId13"/>
    <p:sldId id="372" r:id="rId14"/>
    <p:sldId id="373" r:id="rId15"/>
    <p:sldId id="393" r:id="rId16"/>
    <p:sldId id="374" r:id="rId17"/>
    <p:sldId id="375" r:id="rId18"/>
    <p:sldId id="382" r:id="rId19"/>
    <p:sldId id="376" r:id="rId20"/>
    <p:sldId id="377" r:id="rId21"/>
    <p:sldId id="379" r:id="rId22"/>
    <p:sldId id="378" r:id="rId23"/>
    <p:sldId id="380" r:id="rId24"/>
    <p:sldId id="381" r:id="rId25"/>
    <p:sldId id="383" r:id="rId26"/>
    <p:sldId id="384" r:id="rId27"/>
    <p:sldId id="385" r:id="rId28"/>
    <p:sldId id="386" r:id="rId29"/>
    <p:sldId id="387" r:id="rId30"/>
    <p:sldId id="396" r:id="rId31"/>
    <p:sldId id="397" r:id="rId32"/>
    <p:sldId id="414" r:id="rId33"/>
    <p:sldId id="413" r:id="rId34"/>
    <p:sldId id="398" r:id="rId35"/>
    <p:sldId id="399" r:id="rId36"/>
    <p:sldId id="400" r:id="rId37"/>
    <p:sldId id="401" r:id="rId38"/>
    <p:sldId id="402" r:id="rId39"/>
    <p:sldId id="403" r:id="rId40"/>
    <p:sldId id="404" r:id="rId41"/>
    <p:sldId id="405" r:id="rId42"/>
    <p:sldId id="406" r:id="rId43"/>
    <p:sldId id="407" r:id="rId44"/>
    <p:sldId id="408" r:id="rId45"/>
    <p:sldId id="409" r:id="rId46"/>
    <p:sldId id="410" r:id="rId47"/>
    <p:sldId id="411" r:id="rId48"/>
    <p:sldId id="412" r:id="rId49"/>
    <p:sldId id="415" r:id="rId50"/>
    <p:sldId id="29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2153" autoAdjust="0"/>
  </p:normalViewPr>
  <p:slideViewPr>
    <p:cSldViewPr snapToGrid="0" showGuides="1">
      <p:cViewPr varScale="1">
        <p:scale>
          <a:sx n="80" d="100"/>
          <a:sy n="80" d="100"/>
        </p:scale>
        <p:origin x="782" y="48"/>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Vadekkedhil" userId="42e6ed11-22d2-49de-94d6-fd78e15c9969" providerId="ADAL" clId="{57E6F8BE-BD1B-44CA-99C3-55F7528BDAD3}"/>
    <pc:docChg chg="custSel addSld delSld modSld sldOrd">
      <pc:chgData name="Arun Vadekkedhil" userId="42e6ed11-22d2-49de-94d6-fd78e15c9969" providerId="ADAL" clId="{57E6F8BE-BD1B-44CA-99C3-55F7528BDAD3}" dt="2018-10-14T01:21:01.419" v="310" actId="115"/>
      <pc:docMkLst>
        <pc:docMk/>
      </pc:docMkLst>
      <pc:sldChg chg="modSp">
        <pc:chgData name="Arun Vadekkedhil" userId="42e6ed11-22d2-49de-94d6-fd78e15c9969" providerId="ADAL" clId="{57E6F8BE-BD1B-44CA-99C3-55F7528BDAD3}" dt="2018-10-04T10:15:16.843" v="5" actId="20577"/>
        <pc:sldMkLst>
          <pc:docMk/>
          <pc:sldMk cId="1652133998" sldId="256"/>
        </pc:sldMkLst>
        <pc:spChg chg="mod">
          <ac:chgData name="Arun Vadekkedhil" userId="42e6ed11-22d2-49de-94d6-fd78e15c9969" providerId="ADAL" clId="{57E6F8BE-BD1B-44CA-99C3-55F7528BDAD3}" dt="2018-10-04T10:15:16.843" v="5" actId="20577"/>
          <ac:spMkLst>
            <pc:docMk/>
            <pc:sldMk cId="1652133998" sldId="256"/>
            <ac:spMk id="7" creationId="{00000000-0000-0000-0000-000000000000}"/>
          </ac:spMkLst>
        </pc:spChg>
      </pc:sldChg>
      <pc:sldChg chg="modSp">
        <pc:chgData name="Arun Vadekkedhil" userId="42e6ed11-22d2-49de-94d6-fd78e15c9969" providerId="ADAL" clId="{57E6F8BE-BD1B-44CA-99C3-55F7528BDAD3}" dt="2018-10-04T10:16:20.407" v="42" actId="6549"/>
        <pc:sldMkLst>
          <pc:docMk/>
          <pc:sldMk cId="1654255301" sldId="257"/>
        </pc:sldMkLst>
        <pc:spChg chg="mod">
          <ac:chgData name="Arun Vadekkedhil" userId="42e6ed11-22d2-49de-94d6-fd78e15c9969" providerId="ADAL" clId="{57E6F8BE-BD1B-44CA-99C3-55F7528BDAD3}" dt="2018-10-04T10:16:20.407" v="42" actId="6549"/>
          <ac:spMkLst>
            <pc:docMk/>
            <pc:sldMk cId="1654255301" sldId="257"/>
            <ac:spMk id="14" creationId="{00000000-0000-0000-0000-000000000000}"/>
          </ac:spMkLst>
        </pc:spChg>
      </pc:sldChg>
      <pc:sldChg chg="addSp delSp modSp">
        <pc:chgData name="Arun Vadekkedhil" userId="42e6ed11-22d2-49de-94d6-fd78e15c9969" providerId="ADAL" clId="{57E6F8BE-BD1B-44CA-99C3-55F7528BDAD3}" dt="2018-10-04T10:17:15.104" v="46" actId="1076"/>
        <pc:sldMkLst>
          <pc:docMk/>
          <pc:sldMk cId="1936288470" sldId="323"/>
        </pc:sldMkLst>
        <pc:picChg chg="add mod">
          <ac:chgData name="Arun Vadekkedhil" userId="42e6ed11-22d2-49de-94d6-fd78e15c9969" providerId="ADAL" clId="{57E6F8BE-BD1B-44CA-99C3-55F7528BDAD3}" dt="2018-10-04T10:17:15.104" v="46" actId="1076"/>
          <ac:picMkLst>
            <pc:docMk/>
            <pc:sldMk cId="1936288470" sldId="323"/>
            <ac:picMk id="5" creationId="{9D414B8D-E299-4B77-B1CE-36463A3867B7}"/>
          </ac:picMkLst>
        </pc:picChg>
        <pc:picChg chg="del">
          <ac:chgData name="Arun Vadekkedhil" userId="42e6ed11-22d2-49de-94d6-fd78e15c9969" providerId="ADAL" clId="{57E6F8BE-BD1B-44CA-99C3-55F7528BDAD3}" dt="2018-10-04T10:17:05.309" v="43" actId="478"/>
          <ac:picMkLst>
            <pc:docMk/>
            <pc:sldMk cId="1936288470" sldId="323"/>
            <ac:picMk id="2050" creationId="{00000000-0000-0000-0000-000000000000}"/>
          </ac:picMkLst>
        </pc:picChg>
      </pc:sldChg>
      <pc:sldChg chg="modSp">
        <pc:chgData name="Arun Vadekkedhil" userId="42e6ed11-22d2-49de-94d6-fd78e15c9969" providerId="ADAL" clId="{57E6F8BE-BD1B-44CA-99C3-55F7528BDAD3}" dt="2018-10-04T13:22:39.745" v="55" actId="313"/>
        <pc:sldMkLst>
          <pc:docMk/>
          <pc:sldMk cId="4286667126" sldId="369"/>
        </pc:sldMkLst>
        <pc:spChg chg="mod">
          <ac:chgData name="Arun Vadekkedhil" userId="42e6ed11-22d2-49de-94d6-fd78e15c9969" providerId="ADAL" clId="{57E6F8BE-BD1B-44CA-99C3-55F7528BDAD3}" dt="2018-10-04T13:22:39.745" v="55" actId="313"/>
          <ac:spMkLst>
            <pc:docMk/>
            <pc:sldMk cId="4286667126" sldId="369"/>
            <ac:spMk id="5" creationId="{00000000-0000-0000-0000-000000000000}"/>
          </ac:spMkLst>
        </pc:spChg>
      </pc:sldChg>
      <pc:sldChg chg="delSp modSp">
        <pc:chgData name="Arun Vadekkedhil" userId="42e6ed11-22d2-49de-94d6-fd78e15c9969" providerId="ADAL" clId="{57E6F8BE-BD1B-44CA-99C3-55F7528BDAD3}" dt="2018-10-13T04:46:30.309" v="205" actId="115"/>
        <pc:sldMkLst>
          <pc:docMk/>
          <pc:sldMk cId="1010403896" sldId="373"/>
        </pc:sldMkLst>
        <pc:spChg chg="mod">
          <ac:chgData name="Arun Vadekkedhil" userId="42e6ed11-22d2-49de-94d6-fd78e15c9969" providerId="ADAL" clId="{57E6F8BE-BD1B-44CA-99C3-55F7528BDAD3}" dt="2018-10-13T04:46:30.309" v="205" actId="115"/>
          <ac:spMkLst>
            <pc:docMk/>
            <pc:sldMk cId="1010403896" sldId="373"/>
            <ac:spMk id="3" creationId="{00000000-0000-0000-0000-000000000000}"/>
          </ac:spMkLst>
        </pc:spChg>
        <pc:spChg chg="del">
          <ac:chgData name="Arun Vadekkedhil" userId="42e6ed11-22d2-49de-94d6-fd78e15c9969" providerId="ADAL" clId="{57E6F8BE-BD1B-44CA-99C3-55F7528BDAD3}" dt="2018-10-13T04:45:46.195" v="197" actId="478"/>
          <ac:spMkLst>
            <pc:docMk/>
            <pc:sldMk cId="1010403896" sldId="373"/>
            <ac:spMk id="5" creationId="{00000000-0000-0000-0000-000000000000}"/>
          </ac:spMkLst>
        </pc:spChg>
      </pc:sldChg>
      <pc:sldChg chg="ord">
        <pc:chgData name="Arun Vadekkedhil" userId="42e6ed11-22d2-49de-94d6-fd78e15c9969" providerId="ADAL" clId="{57E6F8BE-BD1B-44CA-99C3-55F7528BDAD3}" dt="2018-10-08T15:38:57.501" v="57"/>
        <pc:sldMkLst>
          <pc:docMk/>
          <pc:sldMk cId="2359992143" sldId="382"/>
        </pc:sldMkLst>
      </pc:sldChg>
      <pc:sldChg chg="modSp">
        <pc:chgData name="Arun Vadekkedhil" userId="42e6ed11-22d2-49de-94d6-fd78e15c9969" providerId="ADAL" clId="{57E6F8BE-BD1B-44CA-99C3-55F7528BDAD3}" dt="2018-10-08T15:39:54.703" v="91" actId="20577"/>
        <pc:sldMkLst>
          <pc:docMk/>
          <pc:sldMk cId="1829108108" sldId="387"/>
        </pc:sldMkLst>
        <pc:spChg chg="mod">
          <ac:chgData name="Arun Vadekkedhil" userId="42e6ed11-22d2-49de-94d6-fd78e15c9969" providerId="ADAL" clId="{57E6F8BE-BD1B-44CA-99C3-55F7528BDAD3}" dt="2018-10-08T15:39:54.703" v="91" actId="20577"/>
          <ac:spMkLst>
            <pc:docMk/>
            <pc:sldMk cId="1829108108" sldId="387"/>
            <ac:spMk id="2" creationId="{00000000-0000-0000-0000-000000000000}"/>
          </ac:spMkLst>
        </pc:spChg>
      </pc:sldChg>
      <pc:sldChg chg="addSp delSp modSp">
        <pc:chgData name="Arun Vadekkedhil" userId="42e6ed11-22d2-49de-94d6-fd78e15c9969" providerId="ADAL" clId="{57E6F8BE-BD1B-44CA-99C3-55F7528BDAD3}" dt="2018-10-04T10:19:57.729" v="49" actId="1076"/>
        <pc:sldMkLst>
          <pc:docMk/>
          <pc:sldMk cId="1337895209" sldId="396"/>
        </pc:sldMkLst>
        <pc:picChg chg="add mod">
          <ac:chgData name="Arun Vadekkedhil" userId="42e6ed11-22d2-49de-94d6-fd78e15c9969" providerId="ADAL" clId="{57E6F8BE-BD1B-44CA-99C3-55F7528BDAD3}" dt="2018-10-04T10:19:57.729" v="49" actId="1076"/>
          <ac:picMkLst>
            <pc:docMk/>
            <pc:sldMk cId="1337895209" sldId="396"/>
            <ac:picMk id="5" creationId="{9C65BB71-0500-47C2-BA0E-C0669FF1BAD5}"/>
          </ac:picMkLst>
        </pc:picChg>
        <pc:picChg chg="del">
          <ac:chgData name="Arun Vadekkedhil" userId="42e6ed11-22d2-49de-94d6-fd78e15c9969" providerId="ADAL" clId="{57E6F8BE-BD1B-44CA-99C3-55F7528BDAD3}" dt="2018-10-04T10:18:19.542" v="47" actId="478"/>
          <ac:picMkLst>
            <pc:docMk/>
            <pc:sldMk cId="1337895209" sldId="396"/>
            <ac:picMk id="2050" creationId="{00000000-0000-0000-0000-000000000000}"/>
          </ac:picMkLst>
        </pc:picChg>
      </pc:sldChg>
      <pc:sldChg chg="addSp delSp modSp">
        <pc:chgData name="Arun Vadekkedhil" userId="42e6ed11-22d2-49de-94d6-fd78e15c9969" providerId="ADAL" clId="{57E6F8BE-BD1B-44CA-99C3-55F7528BDAD3}" dt="2018-10-08T15:44:19.056" v="129" actId="14100"/>
        <pc:sldMkLst>
          <pc:docMk/>
          <pc:sldMk cId="587468815" sldId="397"/>
        </pc:sldMkLst>
        <pc:spChg chg="del">
          <ac:chgData name="Arun Vadekkedhil" userId="42e6ed11-22d2-49de-94d6-fd78e15c9969" providerId="ADAL" clId="{57E6F8BE-BD1B-44CA-99C3-55F7528BDAD3}" dt="2018-10-08T15:43:34.242" v="100" actId="478"/>
          <ac:spMkLst>
            <pc:docMk/>
            <pc:sldMk cId="587468815" sldId="397"/>
            <ac:spMk id="2" creationId="{00000000-0000-0000-0000-000000000000}"/>
          </ac:spMkLst>
        </pc:spChg>
        <pc:spChg chg="mod">
          <ac:chgData name="Arun Vadekkedhil" userId="42e6ed11-22d2-49de-94d6-fd78e15c9969" providerId="ADAL" clId="{57E6F8BE-BD1B-44CA-99C3-55F7528BDAD3}" dt="2018-10-08T15:44:07.388" v="126" actId="20577"/>
          <ac:spMkLst>
            <pc:docMk/>
            <pc:sldMk cId="587468815" sldId="397"/>
            <ac:spMk id="3" creationId="{00000000-0000-0000-0000-000000000000}"/>
          </ac:spMkLst>
        </pc:spChg>
        <pc:spChg chg="del">
          <ac:chgData name="Arun Vadekkedhil" userId="42e6ed11-22d2-49de-94d6-fd78e15c9969" providerId="ADAL" clId="{57E6F8BE-BD1B-44CA-99C3-55F7528BDAD3}" dt="2018-10-08T15:43:44.029" v="103" actId="478"/>
          <ac:spMkLst>
            <pc:docMk/>
            <pc:sldMk cId="587468815" sldId="397"/>
            <ac:spMk id="6" creationId="{00000000-0000-0000-0000-000000000000}"/>
          </ac:spMkLst>
        </pc:spChg>
        <pc:picChg chg="del">
          <ac:chgData name="Arun Vadekkedhil" userId="42e6ed11-22d2-49de-94d6-fd78e15c9969" providerId="ADAL" clId="{57E6F8BE-BD1B-44CA-99C3-55F7528BDAD3}" dt="2018-10-08T15:43:42.350" v="102" actId="478"/>
          <ac:picMkLst>
            <pc:docMk/>
            <pc:sldMk cId="587468815" sldId="397"/>
            <ac:picMk id="5" creationId="{00000000-0000-0000-0000-000000000000}"/>
          </ac:picMkLst>
        </pc:picChg>
        <pc:picChg chg="add mod">
          <ac:chgData name="Arun Vadekkedhil" userId="42e6ed11-22d2-49de-94d6-fd78e15c9969" providerId="ADAL" clId="{57E6F8BE-BD1B-44CA-99C3-55F7528BDAD3}" dt="2018-10-08T15:44:19.056" v="129" actId="14100"/>
          <ac:picMkLst>
            <pc:docMk/>
            <pc:sldMk cId="587468815" sldId="397"/>
            <ac:picMk id="7" creationId="{2CA1625A-6B68-4659-87EF-C302A15D21A6}"/>
          </ac:picMkLst>
        </pc:picChg>
      </pc:sldChg>
      <pc:sldChg chg="modSp">
        <pc:chgData name="Arun Vadekkedhil" userId="42e6ed11-22d2-49de-94d6-fd78e15c9969" providerId="ADAL" clId="{57E6F8BE-BD1B-44CA-99C3-55F7528BDAD3}" dt="2018-10-08T15:49:43.524" v="196" actId="313"/>
        <pc:sldMkLst>
          <pc:docMk/>
          <pc:sldMk cId="3339548269" sldId="400"/>
        </pc:sldMkLst>
        <pc:spChg chg="mod">
          <ac:chgData name="Arun Vadekkedhil" userId="42e6ed11-22d2-49de-94d6-fd78e15c9969" providerId="ADAL" clId="{57E6F8BE-BD1B-44CA-99C3-55F7528BDAD3}" dt="2018-10-08T15:49:43.524" v="196" actId="313"/>
          <ac:spMkLst>
            <pc:docMk/>
            <pc:sldMk cId="3339548269" sldId="400"/>
            <ac:spMk id="3" creationId="{00000000-0000-0000-0000-000000000000}"/>
          </ac:spMkLst>
        </pc:spChg>
      </pc:sldChg>
      <pc:sldChg chg="add ord">
        <pc:chgData name="Arun Vadekkedhil" userId="42e6ed11-22d2-49de-94d6-fd78e15c9969" providerId="ADAL" clId="{57E6F8BE-BD1B-44CA-99C3-55F7528BDAD3}" dt="2018-10-08T15:48:50.681" v="195"/>
        <pc:sldMkLst>
          <pc:docMk/>
          <pc:sldMk cId="3213238973" sldId="413"/>
        </pc:sldMkLst>
      </pc:sldChg>
      <pc:sldChg chg="modSp add">
        <pc:chgData name="Arun Vadekkedhil" userId="42e6ed11-22d2-49de-94d6-fd78e15c9969" providerId="ADAL" clId="{57E6F8BE-BD1B-44CA-99C3-55F7528BDAD3}" dt="2018-10-14T01:16:03.437" v="209" actId="115"/>
        <pc:sldMkLst>
          <pc:docMk/>
          <pc:sldMk cId="771578206" sldId="414"/>
        </pc:sldMkLst>
        <pc:spChg chg="mod">
          <ac:chgData name="Arun Vadekkedhil" userId="42e6ed11-22d2-49de-94d6-fd78e15c9969" providerId="ADAL" clId="{57E6F8BE-BD1B-44CA-99C3-55F7528BDAD3}" dt="2018-10-14T01:16:03.437" v="209" actId="115"/>
          <ac:spMkLst>
            <pc:docMk/>
            <pc:sldMk cId="771578206" sldId="414"/>
            <ac:spMk id="2" creationId="{00000000-0000-0000-0000-000000000000}"/>
          </ac:spMkLst>
        </pc:spChg>
        <pc:spChg chg="mod">
          <ac:chgData name="Arun Vadekkedhil" userId="42e6ed11-22d2-49de-94d6-fd78e15c9969" providerId="ADAL" clId="{57E6F8BE-BD1B-44CA-99C3-55F7528BDAD3}" dt="2018-10-08T15:46:23.227" v="169" actId="20577"/>
          <ac:spMkLst>
            <pc:docMk/>
            <pc:sldMk cId="771578206" sldId="414"/>
            <ac:spMk id="3" creationId="{00000000-0000-0000-0000-000000000000}"/>
          </ac:spMkLst>
        </pc:spChg>
      </pc:sldChg>
      <pc:sldChg chg="addSp delSp modSp add">
        <pc:chgData name="Arun Vadekkedhil" userId="42e6ed11-22d2-49de-94d6-fd78e15c9969" providerId="ADAL" clId="{57E6F8BE-BD1B-44CA-99C3-55F7528BDAD3}" dt="2018-10-14T01:21:01.419" v="310" actId="115"/>
        <pc:sldMkLst>
          <pc:docMk/>
          <pc:sldMk cId="2147225342" sldId="415"/>
        </pc:sldMkLst>
        <pc:spChg chg="mod">
          <ac:chgData name="Arun Vadekkedhil" userId="42e6ed11-22d2-49de-94d6-fd78e15c9969" providerId="ADAL" clId="{57E6F8BE-BD1B-44CA-99C3-55F7528BDAD3}" dt="2018-10-14T01:20:04.681" v="292" actId="20577"/>
          <ac:spMkLst>
            <pc:docMk/>
            <pc:sldMk cId="2147225342" sldId="415"/>
            <ac:spMk id="2" creationId="{3D008735-0653-44DF-9B44-EBC170DD0D66}"/>
          </ac:spMkLst>
        </pc:spChg>
        <pc:spChg chg="del">
          <ac:chgData name="Arun Vadekkedhil" userId="42e6ed11-22d2-49de-94d6-fd78e15c9969" providerId="ADAL" clId="{57E6F8BE-BD1B-44CA-99C3-55F7528BDAD3}" dt="2018-10-14T01:17:28.485" v="211" actId="1032"/>
          <ac:spMkLst>
            <pc:docMk/>
            <pc:sldMk cId="2147225342" sldId="415"/>
            <ac:spMk id="3" creationId="{3D2C1126-BFC3-460E-B528-1C9E37E83EF5}"/>
          </ac:spMkLst>
        </pc:spChg>
        <pc:graphicFrameChg chg="add mod">
          <ac:chgData name="Arun Vadekkedhil" userId="42e6ed11-22d2-49de-94d6-fd78e15c9969" providerId="ADAL" clId="{57E6F8BE-BD1B-44CA-99C3-55F7528BDAD3}" dt="2018-10-14T01:21:01.419" v="310" actId="115"/>
          <ac:graphicFrameMkLst>
            <pc:docMk/>
            <pc:sldMk cId="2147225342" sldId="415"/>
            <ac:graphicFrameMk id="4" creationId="{E6AEBD0E-2902-452A-A2A4-9A56A380731A}"/>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810289-335E-472F-A8F9-9E1337E05F9E}" type="doc">
      <dgm:prSet loTypeId="urn:microsoft.com/office/officeart/2005/8/layout/chevron2" loCatId="list" qsTypeId="urn:microsoft.com/office/officeart/2005/8/quickstyle/simple1" qsCatId="simple" csTypeId="urn:microsoft.com/office/officeart/2005/8/colors/colorful2" csCatId="colorful" phldr="1"/>
      <dgm:spPr/>
      <dgm:t>
        <a:bodyPr/>
        <a:lstStyle/>
        <a:p>
          <a:endParaRPr lang="en-IN"/>
        </a:p>
      </dgm:t>
    </dgm:pt>
    <dgm:pt modelId="{8ADC3E1C-F7D6-4848-A576-51ABDD734E8C}">
      <dgm:prSet phldrT="[Text]"/>
      <dgm:spPr/>
      <dgm:t>
        <a:bodyPr/>
        <a:lstStyle/>
        <a:p>
          <a:r>
            <a:rPr lang="en-IN" dirty="0"/>
            <a:t>String</a:t>
          </a:r>
        </a:p>
      </dgm:t>
    </dgm:pt>
    <dgm:pt modelId="{0B292E3F-5962-4DBD-B140-EE48838EADF7}" type="parTrans" cxnId="{157E9239-2E85-4D4B-B057-27472EB14D1B}">
      <dgm:prSet/>
      <dgm:spPr/>
      <dgm:t>
        <a:bodyPr/>
        <a:lstStyle/>
        <a:p>
          <a:endParaRPr lang="en-IN"/>
        </a:p>
      </dgm:t>
    </dgm:pt>
    <dgm:pt modelId="{55861E07-E0D8-4ECE-8DC5-E16BCFFF1FA7}" type="sibTrans" cxnId="{157E9239-2E85-4D4B-B057-27472EB14D1B}">
      <dgm:prSet/>
      <dgm:spPr/>
      <dgm:t>
        <a:bodyPr/>
        <a:lstStyle/>
        <a:p>
          <a:endParaRPr lang="en-IN"/>
        </a:p>
      </dgm:t>
    </dgm:pt>
    <dgm:pt modelId="{DC2EA892-141E-42EE-8516-200BC1E82007}">
      <dgm:prSet phldrT="[Text]"/>
      <dgm:spPr/>
      <dgm:t>
        <a:bodyPr/>
        <a:lstStyle/>
        <a:p>
          <a:r>
            <a:rPr lang="en-US" dirty="0"/>
            <a:t>String is </a:t>
          </a:r>
          <a:r>
            <a:rPr lang="en-US" b="1" u="sng" dirty="0"/>
            <a:t>immutable</a:t>
          </a:r>
          <a:r>
            <a:rPr lang="en-US" dirty="0"/>
            <a:t>  ( once created can not be changed )object  . The object created as a String is stored in the  </a:t>
          </a:r>
          <a:r>
            <a:rPr lang="en-US" b="1" u="sng" dirty="0"/>
            <a:t>Constant String Pool</a:t>
          </a:r>
          <a:r>
            <a:rPr lang="en-US" dirty="0"/>
            <a:t>.  Every </a:t>
          </a:r>
          <a:r>
            <a:rPr lang="en-US" b="1" u="sng" dirty="0"/>
            <a:t>immutable object </a:t>
          </a:r>
          <a:r>
            <a:rPr lang="en-US" dirty="0"/>
            <a:t>in Java is </a:t>
          </a:r>
          <a:r>
            <a:rPr lang="en-US" b="1" u="sng" dirty="0"/>
            <a:t>thread safe </a:t>
          </a:r>
          <a:r>
            <a:rPr lang="en-US" dirty="0"/>
            <a:t>,that implies String is also thread safe . String can not be used by two threads simultaneously. String  once assigned can not be changed</a:t>
          </a:r>
          <a:endParaRPr lang="en-IN" dirty="0"/>
        </a:p>
      </dgm:t>
    </dgm:pt>
    <dgm:pt modelId="{E8E97D52-CCB6-4766-8A5C-95898A55FEF9}" type="parTrans" cxnId="{8807B699-6998-4C32-B5E5-1FC12F47A979}">
      <dgm:prSet/>
      <dgm:spPr/>
      <dgm:t>
        <a:bodyPr/>
        <a:lstStyle/>
        <a:p>
          <a:endParaRPr lang="en-IN"/>
        </a:p>
      </dgm:t>
    </dgm:pt>
    <dgm:pt modelId="{45CB4ABA-6399-44D2-9BAD-8CD385EC75AB}" type="sibTrans" cxnId="{8807B699-6998-4C32-B5E5-1FC12F47A979}">
      <dgm:prSet/>
      <dgm:spPr/>
      <dgm:t>
        <a:bodyPr/>
        <a:lstStyle/>
        <a:p>
          <a:endParaRPr lang="en-IN"/>
        </a:p>
      </dgm:t>
    </dgm:pt>
    <dgm:pt modelId="{B8DC68B4-80E9-4AB7-AFDC-3816555C3D9A}">
      <dgm:prSet phldrT="[Text]"/>
      <dgm:spPr/>
      <dgm:t>
        <a:bodyPr/>
        <a:lstStyle/>
        <a:p>
          <a:r>
            <a:rPr lang="en-IN" dirty="0"/>
            <a:t>StringBuilder</a:t>
          </a:r>
        </a:p>
      </dgm:t>
    </dgm:pt>
    <dgm:pt modelId="{DF7DB0F9-9D28-4415-991C-FB480472E5C9}" type="parTrans" cxnId="{E418C82E-1BE4-458D-9769-A7557F2BB5E6}">
      <dgm:prSet/>
      <dgm:spPr/>
      <dgm:t>
        <a:bodyPr/>
        <a:lstStyle/>
        <a:p>
          <a:endParaRPr lang="en-IN"/>
        </a:p>
      </dgm:t>
    </dgm:pt>
    <dgm:pt modelId="{B7F7C71B-6A00-4B80-A89F-1E90E4AA8DD0}" type="sibTrans" cxnId="{E418C82E-1BE4-458D-9769-A7557F2BB5E6}">
      <dgm:prSet/>
      <dgm:spPr/>
      <dgm:t>
        <a:bodyPr/>
        <a:lstStyle/>
        <a:p>
          <a:endParaRPr lang="en-IN"/>
        </a:p>
      </dgm:t>
    </dgm:pt>
    <dgm:pt modelId="{5E4B567E-99FB-4B82-A750-282010CC51A5}">
      <dgm:prSet phldrT="[Text]"/>
      <dgm:spPr/>
      <dgm:t>
        <a:bodyPr/>
        <a:lstStyle/>
        <a:p>
          <a:r>
            <a:rPr lang="en-US" dirty="0"/>
            <a:t>StringBuilder  is same as the </a:t>
          </a:r>
          <a:r>
            <a:rPr lang="en-US" dirty="0" err="1"/>
            <a:t>StringBuffer</a:t>
          </a:r>
          <a:r>
            <a:rPr lang="en-US" dirty="0"/>
            <a:t> , that is it stores the object in heap and it can also be modified . The main difference between the </a:t>
          </a:r>
          <a:r>
            <a:rPr lang="en-US" dirty="0" err="1"/>
            <a:t>StringBuffer</a:t>
          </a:r>
          <a:r>
            <a:rPr lang="en-US" dirty="0"/>
            <a:t> and StringBuilder is that StringBuilder is also not thread safe.  </a:t>
          </a:r>
          <a:r>
            <a:rPr lang="en-US" b="1" u="sng" dirty="0"/>
            <a:t>StringBuilder is fast as it is not thread safe</a:t>
          </a:r>
          <a:r>
            <a:rPr lang="en-US" dirty="0"/>
            <a:t> . </a:t>
          </a:r>
          <a:endParaRPr lang="en-IN" dirty="0"/>
        </a:p>
      </dgm:t>
    </dgm:pt>
    <dgm:pt modelId="{0BCA2411-72C9-408A-8659-1E374BBED278}" type="parTrans" cxnId="{F05142A4-F3CB-41CB-90C9-3E139D5021B7}">
      <dgm:prSet/>
      <dgm:spPr/>
      <dgm:t>
        <a:bodyPr/>
        <a:lstStyle/>
        <a:p>
          <a:endParaRPr lang="en-IN"/>
        </a:p>
      </dgm:t>
    </dgm:pt>
    <dgm:pt modelId="{F0557F25-9AA1-42DA-B1DF-4E39FDEFC512}" type="sibTrans" cxnId="{F05142A4-F3CB-41CB-90C9-3E139D5021B7}">
      <dgm:prSet/>
      <dgm:spPr/>
      <dgm:t>
        <a:bodyPr/>
        <a:lstStyle/>
        <a:p>
          <a:endParaRPr lang="en-IN"/>
        </a:p>
      </dgm:t>
    </dgm:pt>
    <dgm:pt modelId="{C0C0D782-E5E9-427A-905C-47682BBA908D}">
      <dgm:prSet phldrT="[Text]"/>
      <dgm:spPr/>
      <dgm:t>
        <a:bodyPr/>
        <a:lstStyle/>
        <a:p>
          <a:r>
            <a:rPr lang="en-IN" dirty="0" err="1"/>
            <a:t>StringBuffer</a:t>
          </a:r>
          <a:endParaRPr lang="en-IN" dirty="0"/>
        </a:p>
      </dgm:t>
    </dgm:pt>
    <dgm:pt modelId="{A1008D19-8D0F-408E-8FDA-5C97A740135F}" type="parTrans" cxnId="{3E06CE91-9AC4-4F62-A290-14F43A8C02D5}">
      <dgm:prSet/>
      <dgm:spPr/>
      <dgm:t>
        <a:bodyPr/>
        <a:lstStyle/>
        <a:p>
          <a:endParaRPr lang="en-IN"/>
        </a:p>
      </dgm:t>
    </dgm:pt>
    <dgm:pt modelId="{78F6CBD8-14B5-4518-B8A9-AD101890CCE1}" type="sibTrans" cxnId="{3E06CE91-9AC4-4F62-A290-14F43A8C02D5}">
      <dgm:prSet/>
      <dgm:spPr/>
      <dgm:t>
        <a:bodyPr/>
        <a:lstStyle/>
        <a:p>
          <a:endParaRPr lang="en-IN"/>
        </a:p>
      </dgm:t>
    </dgm:pt>
    <dgm:pt modelId="{CD9C432C-F6FF-4FFF-B0E2-AE56E11A194E}">
      <dgm:prSet phldrT="[Text]"/>
      <dgm:spPr/>
      <dgm:t>
        <a:bodyPr/>
        <a:lstStyle/>
        <a:p>
          <a:r>
            <a:rPr lang="en-US" b="1" u="sng" dirty="0" err="1"/>
            <a:t>StringBuffer</a:t>
          </a:r>
          <a:r>
            <a:rPr lang="en-US" b="1" u="sng" dirty="0"/>
            <a:t> is mutable </a:t>
          </a:r>
          <a:r>
            <a:rPr lang="en-US" dirty="0"/>
            <a:t>means one can change the value of the object . The object created through </a:t>
          </a:r>
          <a:r>
            <a:rPr lang="en-US" dirty="0" err="1"/>
            <a:t>StringBuffer</a:t>
          </a:r>
          <a:r>
            <a:rPr lang="en-US" dirty="0"/>
            <a:t> is </a:t>
          </a:r>
          <a:r>
            <a:rPr lang="en-US" b="1" u="sng" dirty="0"/>
            <a:t>stored in the heap</a:t>
          </a:r>
          <a:r>
            <a:rPr lang="en-US" dirty="0"/>
            <a:t>. each method in </a:t>
          </a:r>
          <a:r>
            <a:rPr lang="en-US" b="1" u="sng" dirty="0" err="1"/>
            <a:t>StringBuffer</a:t>
          </a:r>
          <a:r>
            <a:rPr lang="en-US" b="1" u="sng" dirty="0"/>
            <a:t> is synchronized</a:t>
          </a:r>
          <a:r>
            <a:rPr lang="en-US" dirty="0"/>
            <a:t> that is </a:t>
          </a:r>
          <a:r>
            <a:rPr lang="en-US" b="1" u="sng" dirty="0" err="1"/>
            <a:t>StringBuffer</a:t>
          </a:r>
          <a:r>
            <a:rPr lang="en-US" b="1" u="sng" dirty="0"/>
            <a:t> is thread safe </a:t>
          </a:r>
          <a:r>
            <a:rPr lang="en-IN" b="1" u="sng" dirty="0"/>
            <a:t> </a:t>
          </a:r>
        </a:p>
      </dgm:t>
    </dgm:pt>
    <dgm:pt modelId="{10AA89E3-088F-4458-B0AB-F1517E944799}" type="parTrans" cxnId="{097FE40F-5225-44BF-803B-DADF984697B5}">
      <dgm:prSet/>
      <dgm:spPr/>
      <dgm:t>
        <a:bodyPr/>
        <a:lstStyle/>
        <a:p>
          <a:endParaRPr lang="en-IN"/>
        </a:p>
      </dgm:t>
    </dgm:pt>
    <dgm:pt modelId="{0563BE38-35F6-437E-A159-9869A0D1309A}" type="sibTrans" cxnId="{097FE40F-5225-44BF-803B-DADF984697B5}">
      <dgm:prSet/>
      <dgm:spPr/>
      <dgm:t>
        <a:bodyPr/>
        <a:lstStyle/>
        <a:p>
          <a:endParaRPr lang="en-IN"/>
        </a:p>
      </dgm:t>
    </dgm:pt>
    <dgm:pt modelId="{1A00E92D-950A-477D-95CC-07930EEDEE43}" type="pres">
      <dgm:prSet presAssocID="{2F810289-335E-472F-A8F9-9E1337E05F9E}" presName="linearFlow" presStyleCnt="0">
        <dgm:presLayoutVars>
          <dgm:dir/>
          <dgm:animLvl val="lvl"/>
          <dgm:resizeHandles val="exact"/>
        </dgm:presLayoutVars>
      </dgm:prSet>
      <dgm:spPr/>
    </dgm:pt>
    <dgm:pt modelId="{96626C4B-E5EF-43EC-A710-213C6C97ECB6}" type="pres">
      <dgm:prSet presAssocID="{8ADC3E1C-F7D6-4848-A576-51ABDD734E8C}" presName="composite" presStyleCnt="0"/>
      <dgm:spPr/>
    </dgm:pt>
    <dgm:pt modelId="{DF970536-8900-4C5B-B5AB-0AAE7D4F2410}" type="pres">
      <dgm:prSet presAssocID="{8ADC3E1C-F7D6-4848-A576-51ABDD734E8C}" presName="parentText" presStyleLbl="alignNode1" presStyleIdx="0" presStyleCnt="3">
        <dgm:presLayoutVars>
          <dgm:chMax val="1"/>
          <dgm:bulletEnabled val="1"/>
        </dgm:presLayoutVars>
      </dgm:prSet>
      <dgm:spPr/>
    </dgm:pt>
    <dgm:pt modelId="{C920E90A-F6D2-40BE-9A52-38DF0C7278E6}" type="pres">
      <dgm:prSet presAssocID="{8ADC3E1C-F7D6-4848-A576-51ABDD734E8C}" presName="descendantText" presStyleLbl="alignAcc1" presStyleIdx="0" presStyleCnt="3">
        <dgm:presLayoutVars>
          <dgm:bulletEnabled val="1"/>
        </dgm:presLayoutVars>
      </dgm:prSet>
      <dgm:spPr/>
    </dgm:pt>
    <dgm:pt modelId="{C3C0D71D-2D35-4189-B1C6-B565923A9F68}" type="pres">
      <dgm:prSet presAssocID="{55861E07-E0D8-4ECE-8DC5-E16BCFFF1FA7}" presName="sp" presStyleCnt="0"/>
      <dgm:spPr/>
    </dgm:pt>
    <dgm:pt modelId="{CF719CE2-F7B8-4CEC-BCB9-3D00A533C73A}" type="pres">
      <dgm:prSet presAssocID="{B8DC68B4-80E9-4AB7-AFDC-3816555C3D9A}" presName="composite" presStyleCnt="0"/>
      <dgm:spPr/>
    </dgm:pt>
    <dgm:pt modelId="{285C86E9-B4E4-475F-9233-667D046D93D2}" type="pres">
      <dgm:prSet presAssocID="{B8DC68B4-80E9-4AB7-AFDC-3816555C3D9A}" presName="parentText" presStyleLbl="alignNode1" presStyleIdx="1" presStyleCnt="3">
        <dgm:presLayoutVars>
          <dgm:chMax val="1"/>
          <dgm:bulletEnabled val="1"/>
        </dgm:presLayoutVars>
      </dgm:prSet>
      <dgm:spPr/>
    </dgm:pt>
    <dgm:pt modelId="{2459E11E-5E83-4432-90CC-5795C73AB660}" type="pres">
      <dgm:prSet presAssocID="{B8DC68B4-80E9-4AB7-AFDC-3816555C3D9A}" presName="descendantText" presStyleLbl="alignAcc1" presStyleIdx="1" presStyleCnt="3">
        <dgm:presLayoutVars>
          <dgm:bulletEnabled val="1"/>
        </dgm:presLayoutVars>
      </dgm:prSet>
      <dgm:spPr/>
    </dgm:pt>
    <dgm:pt modelId="{8A122D82-3D33-42DF-985A-77A216FD82A8}" type="pres">
      <dgm:prSet presAssocID="{B7F7C71B-6A00-4B80-A89F-1E90E4AA8DD0}" presName="sp" presStyleCnt="0"/>
      <dgm:spPr/>
    </dgm:pt>
    <dgm:pt modelId="{B04BBA35-A6DE-49C7-B677-0C1D84CC4098}" type="pres">
      <dgm:prSet presAssocID="{C0C0D782-E5E9-427A-905C-47682BBA908D}" presName="composite" presStyleCnt="0"/>
      <dgm:spPr/>
    </dgm:pt>
    <dgm:pt modelId="{0B9BE283-374C-4D91-A456-033C5DBA936A}" type="pres">
      <dgm:prSet presAssocID="{C0C0D782-E5E9-427A-905C-47682BBA908D}" presName="parentText" presStyleLbl="alignNode1" presStyleIdx="2" presStyleCnt="3">
        <dgm:presLayoutVars>
          <dgm:chMax val="1"/>
          <dgm:bulletEnabled val="1"/>
        </dgm:presLayoutVars>
      </dgm:prSet>
      <dgm:spPr/>
    </dgm:pt>
    <dgm:pt modelId="{D3B4C075-D8BB-4D23-B56D-CF5A96B47B32}" type="pres">
      <dgm:prSet presAssocID="{C0C0D782-E5E9-427A-905C-47682BBA908D}" presName="descendantText" presStyleLbl="alignAcc1" presStyleIdx="2" presStyleCnt="3">
        <dgm:presLayoutVars>
          <dgm:bulletEnabled val="1"/>
        </dgm:presLayoutVars>
      </dgm:prSet>
      <dgm:spPr/>
    </dgm:pt>
  </dgm:ptLst>
  <dgm:cxnLst>
    <dgm:cxn modelId="{097FE40F-5225-44BF-803B-DADF984697B5}" srcId="{C0C0D782-E5E9-427A-905C-47682BBA908D}" destId="{CD9C432C-F6FF-4FFF-B0E2-AE56E11A194E}" srcOrd="0" destOrd="0" parTransId="{10AA89E3-088F-4458-B0AB-F1517E944799}" sibTransId="{0563BE38-35F6-437E-A159-9869A0D1309A}"/>
    <dgm:cxn modelId="{E418C82E-1BE4-458D-9769-A7557F2BB5E6}" srcId="{2F810289-335E-472F-A8F9-9E1337E05F9E}" destId="{B8DC68B4-80E9-4AB7-AFDC-3816555C3D9A}" srcOrd="1" destOrd="0" parTransId="{DF7DB0F9-9D28-4415-991C-FB480472E5C9}" sibTransId="{B7F7C71B-6A00-4B80-A89F-1E90E4AA8DD0}"/>
    <dgm:cxn modelId="{157E9239-2E85-4D4B-B057-27472EB14D1B}" srcId="{2F810289-335E-472F-A8F9-9E1337E05F9E}" destId="{8ADC3E1C-F7D6-4848-A576-51ABDD734E8C}" srcOrd="0" destOrd="0" parTransId="{0B292E3F-5962-4DBD-B140-EE48838EADF7}" sibTransId="{55861E07-E0D8-4ECE-8DC5-E16BCFFF1FA7}"/>
    <dgm:cxn modelId="{29B4696F-5BC1-423A-99B9-6AA5A54C5268}" type="presOf" srcId="{8ADC3E1C-F7D6-4848-A576-51ABDD734E8C}" destId="{DF970536-8900-4C5B-B5AB-0AAE7D4F2410}" srcOrd="0" destOrd="0" presId="urn:microsoft.com/office/officeart/2005/8/layout/chevron2"/>
    <dgm:cxn modelId="{21EB367A-131C-4513-A89B-60068966C6C3}" type="presOf" srcId="{CD9C432C-F6FF-4FFF-B0E2-AE56E11A194E}" destId="{D3B4C075-D8BB-4D23-B56D-CF5A96B47B32}" srcOrd="0" destOrd="0" presId="urn:microsoft.com/office/officeart/2005/8/layout/chevron2"/>
    <dgm:cxn modelId="{3E06CE91-9AC4-4F62-A290-14F43A8C02D5}" srcId="{2F810289-335E-472F-A8F9-9E1337E05F9E}" destId="{C0C0D782-E5E9-427A-905C-47682BBA908D}" srcOrd="2" destOrd="0" parTransId="{A1008D19-8D0F-408E-8FDA-5C97A740135F}" sibTransId="{78F6CBD8-14B5-4518-B8A9-AD101890CCE1}"/>
    <dgm:cxn modelId="{8807B699-6998-4C32-B5E5-1FC12F47A979}" srcId="{8ADC3E1C-F7D6-4848-A576-51ABDD734E8C}" destId="{DC2EA892-141E-42EE-8516-200BC1E82007}" srcOrd="0" destOrd="0" parTransId="{E8E97D52-CCB6-4766-8A5C-95898A55FEF9}" sibTransId="{45CB4ABA-6399-44D2-9BAD-8CD385EC75AB}"/>
    <dgm:cxn modelId="{78FA8CA1-282A-4563-8059-5EF7615EF561}" type="presOf" srcId="{C0C0D782-E5E9-427A-905C-47682BBA908D}" destId="{0B9BE283-374C-4D91-A456-033C5DBA936A}" srcOrd="0" destOrd="0" presId="urn:microsoft.com/office/officeart/2005/8/layout/chevron2"/>
    <dgm:cxn modelId="{F05142A4-F3CB-41CB-90C9-3E139D5021B7}" srcId="{B8DC68B4-80E9-4AB7-AFDC-3816555C3D9A}" destId="{5E4B567E-99FB-4B82-A750-282010CC51A5}" srcOrd="0" destOrd="0" parTransId="{0BCA2411-72C9-408A-8659-1E374BBED278}" sibTransId="{F0557F25-9AA1-42DA-B1DF-4E39FDEFC512}"/>
    <dgm:cxn modelId="{AB2261A7-2394-4494-8F8F-41BD6E61C574}" type="presOf" srcId="{5E4B567E-99FB-4B82-A750-282010CC51A5}" destId="{2459E11E-5E83-4432-90CC-5795C73AB660}" srcOrd="0" destOrd="0" presId="urn:microsoft.com/office/officeart/2005/8/layout/chevron2"/>
    <dgm:cxn modelId="{706B30AB-C8B8-46A6-9C6C-BFF092705299}" type="presOf" srcId="{DC2EA892-141E-42EE-8516-200BC1E82007}" destId="{C920E90A-F6D2-40BE-9A52-38DF0C7278E6}" srcOrd="0" destOrd="0" presId="urn:microsoft.com/office/officeart/2005/8/layout/chevron2"/>
    <dgm:cxn modelId="{E328FBC4-3CCA-4BF9-972F-77A8BA897AA3}" type="presOf" srcId="{B8DC68B4-80E9-4AB7-AFDC-3816555C3D9A}" destId="{285C86E9-B4E4-475F-9233-667D046D93D2}" srcOrd="0" destOrd="0" presId="urn:microsoft.com/office/officeart/2005/8/layout/chevron2"/>
    <dgm:cxn modelId="{84D005E4-5EA2-4E70-B40E-DB8073E9F46D}" type="presOf" srcId="{2F810289-335E-472F-A8F9-9E1337E05F9E}" destId="{1A00E92D-950A-477D-95CC-07930EEDEE43}" srcOrd="0" destOrd="0" presId="urn:microsoft.com/office/officeart/2005/8/layout/chevron2"/>
    <dgm:cxn modelId="{2448C817-5E1D-4AD8-B578-A358F4219373}" type="presParOf" srcId="{1A00E92D-950A-477D-95CC-07930EEDEE43}" destId="{96626C4B-E5EF-43EC-A710-213C6C97ECB6}" srcOrd="0" destOrd="0" presId="urn:microsoft.com/office/officeart/2005/8/layout/chevron2"/>
    <dgm:cxn modelId="{54483615-0ABD-41A1-BD59-E8913C992C12}" type="presParOf" srcId="{96626C4B-E5EF-43EC-A710-213C6C97ECB6}" destId="{DF970536-8900-4C5B-B5AB-0AAE7D4F2410}" srcOrd="0" destOrd="0" presId="urn:microsoft.com/office/officeart/2005/8/layout/chevron2"/>
    <dgm:cxn modelId="{CD024EC1-AB01-4FD9-A1B8-15523A8B65EA}" type="presParOf" srcId="{96626C4B-E5EF-43EC-A710-213C6C97ECB6}" destId="{C920E90A-F6D2-40BE-9A52-38DF0C7278E6}" srcOrd="1" destOrd="0" presId="urn:microsoft.com/office/officeart/2005/8/layout/chevron2"/>
    <dgm:cxn modelId="{339676DA-82A4-4872-8855-812C7ECCB6D0}" type="presParOf" srcId="{1A00E92D-950A-477D-95CC-07930EEDEE43}" destId="{C3C0D71D-2D35-4189-B1C6-B565923A9F68}" srcOrd="1" destOrd="0" presId="urn:microsoft.com/office/officeart/2005/8/layout/chevron2"/>
    <dgm:cxn modelId="{6082E43E-135B-450D-A156-4051DEB505C6}" type="presParOf" srcId="{1A00E92D-950A-477D-95CC-07930EEDEE43}" destId="{CF719CE2-F7B8-4CEC-BCB9-3D00A533C73A}" srcOrd="2" destOrd="0" presId="urn:microsoft.com/office/officeart/2005/8/layout/chevron2"/>
    <dgm:cxn modelId="{700BCD3E-0EA7-428D-96E8-E09C5A0ED70F}" type="presParOf" srcId="{CF719CE2-F7B8-4CEC-BCB9-3D00A533C73A}" destId="{285C86E9-B4E4-475F-9233-667D046D93D2}" srcOrd="0" destOrd="0" presId="urn:microsoft.com/office/officeart/2005/8/layout/chevron2"/>
    <dgm:cxn modelId="{7C61527B-042B-440E-A1DC-B15A8DF12BF4}" type="presParOf" srcId="{CF719CE2-F7B8-4CEC-BCB9-3D00A533C73A}" destId="{2459E11E-5E83-4432-90CC-5795C73AB660}" srcOrd="1" destOrd="0" presId="urn:microsoft.com/office/officeart/2005/8/layout/chevron2"/>
    <dgm:cxn modelId="{779E0911-0E21-4996-B44A-8F4722444788}" type="presParOf" srcId="{1A00E92D-950A-477D-95CC-07930EEDEE43}" destId="{8A122D82-3D33-42DF-985A-77A216FD82A8}" srcOrd="3" destOrd="0" presId="urn:microsoft.com/office/officeart/2005/8/layout/chevron2"/>
    <dgm:cxn modelId="{549F30D1-081F-46F4-9136-0DD882E1B204}" type="presParOf" srcId="{1A00E92D-950A-477D-95CC-07930EEDEE43}" destId="{B04BBA35-A6DE-49C7-B677-0C1D84CC4098}" srcOrd="4" destOrd="0" presId="urn:microsoft.com/office/officeart/2005/8/layout/chevron2"/>
    <dgm:cxn modelId="{0241D30F-BCA4-4750-B230-00D557465A42}" type="presParOf" srcId="{B04BBA35-A6DE-49C7-B677-0C1D84CC4098}" destId="{0B9BE283-374C-4D91-A456-033C5DBA936A}" srcOrd="0" destOrd="0" presId="urn:microsoft.com/office/officeart/2005/8/layout/chevron2"/>
    <dgm:cxn modelId="{EF088C52-7D00-488E-8FEC-908F2A7ACD45}" type="presParOf" srcId="{B04BBA35-A6DE-49C7-B677-0C1D84CC4098}" destId="{D3B4C075-D8BB-4D23-B56D-CF5A96B47B32}"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970536-8900-4C5B-B5AB-0AAE7D4F2410}">
      <dsp:nvSpPr>
        <dsp:cNvPr id="0" name=""/>
        <dsp:cNvSpPr/>
      </dsp:nvSpPr>
      <dsp:spPr>
        <a:xfrm rot="5400000">
          <a:off x="-247798" y="249366"/>
          <a:ext cx="1651992" cy="1156394"/>
        </a:xfrm>
        <a:prstGeom prst="chevron">
          <a:avLst/>
        </a:prstGeom>
        <a:solidFill>
          <a:schemeClr val="accent2">
            <a:hueOff val="0"/>
            <a:satOff val="0"/>
            <a:lumOff val="0"/>
            <a:alphaOff val="0"/>
          </a:schemeClr>
        </a:solidFill>
        <a:ln w="48000" cap="flat" cmpd="thickThin"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IN" sz="1500" kern="1200" dirty="0"/>
            <a:t>String</a:t>
          </a:r>
        </a:p>
      </dsp:txBody>
      <dsp:txXfrm rot="-5400000">
        <a:off x="1" y="579764"/>
        <a:ext cx="1156394" cy="495598"/>
      </dsp:txXfrm>
    </dsp:sp>
    <dsp:sp modelId="{C920E90A-F6D2-40BE-9A52-38DF0C7278E6}">
      <dsp:nvSpPr>
        <dsp:cNvPr id="0" name=""/>
        <dsp:cNvSpPr/>
      </dsp:nvSpPr>
      <dsp:spPr>
        <a:xfrm rot="5400000">
          <a:off x="5032399" y="-3874437"/>
          <a:ext cx="1073794" cy="8825805"/>
        </a:xfrm>
        <a:prstGeom prst="round2SameRect">
          <a:avLst/>
        </a:prstGeom>
        <a:solidFill>
          <a:schemeClr val="lt1">
            <a:alpha val="90000"/>
            <a:hueOff val="0"/>
            <a:satOff val="0"/>
            <a:lumOff val="0"/>
            <a:alphaOff val="0"/>
          </a:schemeClr>
        </a:solidFill>
        <a:ln w="48000" cap="flat" cmpd="thickThin"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String is </a:t>
          </a:r>
          <a:r>
            <a:rPr lang="en-US" sz="1500" b="1" u="sng" kern="1200" dirty="0"/>
            <a:t>immutable</a:t>
          </a:r>
          <a:r>
            <a:rPr lang="en-US" sz="1500" kern="1200" dirty="0"/>
            <a:t>  ( once created can not be changed )object  . The object created as a String is stored in the  </a:t>
          </a:r>
          <a:r>
            <a:rPr lang="en-US" sz="1500" b="1" u="sng" kern="1200" dirty="0"/>
            <a:t>Constant String Pool</a:t>
          </a:r>
          <a:r>
            <a:rPr lang="en-US" sz="1500" kern="1200" dirty="0"/>
            <a:t>.  Every </a:t>
          </a:r>
          <a:r>
            <a:rPr lang="en-US" sz="1500" b="1" u="sng" kern="1200" dirty="0"/>
            <a:t>immutable object </a:t>
          </a:r>
          <a:r>
            <a:rPr lang="en-US" sz="1500" kern="1200" dirty="0"/>
            <a:t>in Java is </a:t>
          </a:r>
          <a:r>
            <a:rPr lang="en-US" sz="1500" b="1" u="sng" kern="1200" dirty="0"/>
            <a:t>thread safe </a:t>
          </a:r>
          <a:r>
            <a:rPr lang="en-US" sz="1500" kern="1200" dirty="0"/>
            <a:t>,that implies String is also thread safe . String can not be used by two threads simultaneously. String  once assigned can not be changed</a:t>
          </a:r>
          <a:endParaRPr lang="en-IN" sz="1500" kern="1200" dirty="0"/>
        </a:p>
      </dsp:txBody>
      <dsp:txXfrm rot="-5400000">
        <a:off x="1156394" y="53986"/>
        <a:ext cx="8773387" cy="968958"/>
      </dsp:txXfrm>
    </dsp:sp>
    <dsp:sp modelId="{285C86E9-B4E4-475F-9233-667D046D93D2}">
      <dsp:nvSpPr>
        <dsp:cNvPr id="0" name=""/>
        <dsp:cNvSpPr/>
      </dsp:nvSpPr>
      <dsp:spPr>
        <a:xfrm rot="5400000">
          <a:off x="-247798" y="1707802"/>
          <a:ext cx="1651992" cy="1156394"/>
        </a:xfrm>
        <a:prstGeom prst="chevron">
          <a:avLst/>
        </a:prstGeom>
        <a:solidFill>
          <a:schemeClr val="accent2">
            <a:hueOff val="3548044"/>
            <a:satOff val="1316"/>
            <a:lumOff val="-3824"/>
            <a:alphaOff val="0"/>
          </a:schemeClr>
        </a:solidFill>
        <a:ln w="48000" cap="flat" cmpd="thickThin" algn="ctr">
          <a:solidFill>
            <a:schemeClr val="accent2">
              <a:hueOff val="3548044"/>
              <a:satOff val="1316"/>
              <a:lumOff val="-382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IN" sz="1500" kern="1200" dirty="0"/>
            <a:t>StringBuilder</a:t>
          </a:r>
        </a:p>
      </dsp:txBody>
      <dsp:txXfrm rot="-5400000">
        <a:off x="1" y="2038200"/>
        <a:ext cx="1156394" cy="495598"/>
      </dsp:txXfrm>
    </dsp:sp>
    <dsp:sp modelId="{2459E11E-5E83-4432-90CC-5795C73AB660}">
      <dsp:nvSpPr>
        <dsp:cNvPr id="0" name=""/>
        <dsp:cNvSpPr/>
      </dsp:nvSpPr>
      <dsp:spPr>
        <a:xfrm rot="5400000">
          <a:off x="5032399" y="-2416001"/>
          <a:ext cx="1073794" cy="8825805"/>
        </a:xfrm>
        <a:prstGeom prst="round2SameRect">
          <a:avLst/>
        </a:prstGeom>
        <a:solidFill>
          <a:schemeClr val="lt1">
            <a:alpha val="90000"/>
            <a:hueOff val="0"/>
            <a:satOff val="0"/>
            <a:lumOff val="0"/>
            <a:alphaOff val="0"/>
          </a:schemeClr>
        </a:solidFill>
        <a:ln w="48000" cap="flat" cmpd="thickThin" algn="ctr">
          <a:solidFill>
            <a:schemeClr val="accent2">
              <a:hueOff val="3548044"/>
              <a:satOff val="1316"/>
              <a:lumOff val="-382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t>StringBuilder  is same as the </a:t>
          </a:r>
          <a:r>
            <a:rPr lang="en-US" sz="1500" kern="1200" dirty="0" err="1"/>
            <a:t>StringBuffer</a:t>
          </a:r>
          <a:r>
            <a:rPr lang="en-US" sz="1500" kern="1200" dirty="0"/>
            <a:t> , that is it stores the object in heap and it can also be modified . The main difference between the </a:t>
          </a:r>
          <a:r>
            <a:rPr lang="en-US" sz="1500" kern="1200" dirty="0" err="1"/>
            <a:t>StringBuffer</a:t>
          </a:r>
          <a:r>
            <a:rPr lang="en-US" sz="1500" kern="1200" dirty="0"/>
            <a:t> and StringBuilder is that StringBuilder is also not thread safe.  </a:t>
          </a:r>
          <a:r>
            <a:rPr lang="en-US" sz="1500" b="1" u="sng" kern="1200" dirty="0"/>
            <a:t>StringBuilder is fast as it is not thread safe</a:t>
          </a:r>
          <a:r>
            <a:rPr lang="en-US" sz="1500" kern="1200" dirty="0"/>
            <a:t> . </a:t>
          </a:r>
          <a:endParaRPr lang="en-IN" sz="1500" kern="1200" dirty="0"/>
        </a:p>
      </dsp:txBody>
      <dsp:txXfrm rot="-5400000">
        <a:off x="1156394" y="1512422"/>
        <a:ext cx="8773387" cy="968958"/>
      </dsp:txXfrm>
    </dsp:sp>
    <dsp:sp modelId="{0B9BE283-374C-4D91-A456-033C5DBA936A}">
      <dsp:nvSpPr>
        <dsp:cNvPr id="0" name=""/>
        <dsp:cNvSpPr/>
      </dsp:nvSpPr>
      <dsp:spPr>
        <a:xfrm rot="5400000">
          <a:off x="-247798" y="3166238"/>
          <a:ext cx="1651992" cy="1156394"/>
        </a:xfrm>
        <a:prstGeom prst="chevron">
          <a:avLst/>
        </a:prstGeom>
        <a:solidFill>
          <a:schemeClr val="accent2">
            <a:hueOff val="7096088"/>
            <a:satOff val="2633"/>
            <a:lumOff val="-7647"/>
            <a:alphaOff val="0"/>
          </a:schemeClr>
        </a:solidFill>
        <a:ln w="48000" cap="flat" cmpd="thickThin" algn="ctr">
          <a:solidFill>
            <a:schemeClr val="accent2">
              <a:hueOff val="7096088"/>
              <a:satOff val="2633"/>
              <a:lumOff val="-764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IN" sz="1500" kern="1200" dirty="0" err="1"/>
            <a:t>StringBuffer</a:t>
          </a:r>
          <a:endParaRPr lang="en-IN" sz="1500" kern="1200" dirty="0"/>
        </a:p>
      </dsp:txBody>
      <dsp:txXfrm rot="-5400000">
        <a:off x="1" y="3496636"/>
        <a:ext cx="1156394" cy="495598"/>
      </dsp:txXfrm>
    </dsp:sp>
    <dsp:sp modelId="{D3B4C075-D8BB-4D23-B56D-CF5A96B47B32}">
      <dsp:nvSpPr>
        <dsp:cNvPr id="0" name=""/>
        <dsp:cNvSpPr/>
      </dsp:nvSpPr>
      <dsp:spPr>
        <a:xfrm rot="5400000">
          <a:off x="5032399" y="-957565"/>
          <a:ext cx="1073794" cy="8825805"/>
        </a:xfrm>
        <a:prstGeom prst="round2SameRect">
          <a:avLst/>
        </a:prstGeom>
        <a:solidFill>
          <a:schemeClr val="lt1">
            <a:alpha val="90000"/>
            <a:hueOff val="0"/>
            <a:satOff val="0"/>
            <a:lumOff val="0"/>
            <a:alphaOff val="0"/>
          </a:schemeClr>
        </a:solidFill>
        <a:ln w="48000" cap="flat" cmpd="thickThin" algn="ctr">
          <a:solidFill>
            <a:schemeClr val="accent2">
              <a:hueOff val="7096088"/>
              <a:satOff val="2633"/>
              <a:lumOff val="-764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90000"/>
            </a:lnSpc>
            <a:spcBef>
              <a:spcPct val="0"/>
            </a:spcBef>
            <a:spcAft>
              <a:spcPct val="15000"/>
            </a:spcAft>
            <a:buChar char="•"/>
          </a:pPr>
          <a:r>
            <a:rPr lang="en-US" sz="1500" b="1" u="sng" kern="1200" dirty="0" err="1"/>
            <a:t>StringBuffer</a:t>
          </a:r>
          <a:r>
            <a:rPr lang="en-US" sz="1500" b="1" u="sng" kern="1200" dirty="0"/>
            <a:t> is mutable </a:t>
          </a:r>
          <a:r>
            <a:rPr lang="en-US" sz="1500" kern="1200" dirty="0"/>
            <a:t>means one can change the value of the object . The object created through </a:t>
          </a:r>
          <a:r>
            <a:rPr lang="en-US" sz="1500" kern="1200" dirty="0" err="1"/>
            <a:t>StringBuffer</a:t>
          </a:r>
          <a:r>
            <a:rPr lang="en-US" sz="1500" kern="1200" dirty="0"/>
            <a:t> is </a:t>
          </a:r>
          <a:r>
            <a:rPr lang="en-US" sz="1500" b="1" u="sng" kern="1200" dirty="0"/>
            <a:t>stored in the heap</a:t>
          </a:r>
          <a:r>
            <a:rPr lang="en-US" sz="1500" kern="1200" dirty="0"/>
            <a:t>. each method in </a:t>
          </a:r>
          <a:r>
            <a:rPr lang="en-US" sz="1500" b="1" u="sng" kern="1200" dirty="0" err="1"/>
            <a:t>StringBuffer</a:t>
          </a:r>
          <a:r>
            <a:rPr lang="en-US" sz="1500" b="1" u="sng" kern="1200" dirty="0"/>
            <a:t> is synchronized</a:t>
          </a:r>
          <a:r>
            <a:rPr lang="en-US" sz="1500" kern="1200" dirty="0"/>
            <a:t> that is </a:t>
          </a:r>
          <a:r>
            <a:rPr lang="en-US" sz="1500" b="1" u="sng" kern="1200" dirty="0" err="1"/>
            <a:t>StringBuffer</a:t>
          </a:r>
          <a:r>
            <a:rPr lang="en-US" sz="1500" b="1" u="sng" kern="1200" dirty="0"/>
            <a:t> is thread safe </a:t>
          </a:r>
          <a:r>
            <a:rPr lang="en-IN" sz="1500" b="1" u="sng" kern="1200" dirty="0"/>
            <a:t> </a:t>
          </a:r>
        </a:p>
      </dsp:txBody>
      <dsp:txXfrm rot="-5400000">
        <a:off x="1156394" y="2970858"/>
        <a:ext cx="8773387" cy="96895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10/14/2018</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dirty="0"/>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10/14/2018</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dirty="0"/>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10</a:t>
            </a:fld>
            <a:endParaRPr lang="en-US" dirty="0"/>
          </a:p>
        </p:txBody>
      </p:sp>
    </p:spTree>
    <p:extLst>
      <p:ext uri="{BB962C8B-B14F-4D97-AF65-F5344CB8AC3E}">
        <p14:creationId xmlns:p14="http://schemas.microsoft.com/office/powerpoint/2010/main" val="2356528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11</a:t>
            </a:fld>
            <a:endParaRPr lang="en-US" dirty="0"/>
          </a:p>
        </p:txBody>
      </p:sp>
    </p:spTree>
    <p:extLst>
      <p:ext uri="{BB962C8B-B14F-4D97-AF65-F5344CB8AC3E}">
        <p14:creationId xmlns:p14="http://schemas.microsoft.com/office/powerpoint/2010/main" val="3204007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12</a:t>
            </a:fld>
            <a:endParaRPr lang="en-US" dirty="0"/>
          </a:p>
        </p:txBody>
      </p:sp>
    </p:spTree>
    <p:extLst>
      <p:ext uri="{BB962C8B-B14F-4D97-AF65-F5344CB8AC3E}">
        <p14:creationId xmlns:p14="http://schemas.microsoft.com/office/powerpoint/2010/main" val="486205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13</a:t>
            </a:fld>
            <a:endParaRPr lang="en-US" dirty="0"/>
          </a:p>
        </p:txBody>
      </p:sp>
    </p:spTree>
    <p:extLst>
      <p:ext uri="{BB962C8B-B14F-4D97-AF65-F5344CB8AC3E}">
        <p14:creationId xmlns:p14="http://schemas.microsoft.com/office/powerpoint/2010/main" val="7426576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14</a:t>
            </a:fld>
            <a:endParaRPr lang="en-US" dirty="0"/>
          </a:p>
        </p:txBody>
      </p:sp>
    </p:spTree>
    <p:extLst>
      <p:ext uri="{BB962C8B-B14F-4D97-AF65-F5344CB8AC3E}">
        <p14:creationId xmlns:p14="http://schemas.microsoft.com/office/powerpoint/2010/main" val="922262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15</a:t>
            </a:fld>
            <a:endParaRPr lang="en-US" dirty="0"/>
          </a:p>
        </p:txBody>
      </p:sp>
    </p:spTree>
    <p:extLst>
      <p:ext uri="{BB962C8B-B14F-4D97-AF65-F5344CB8AC3E}">
        <p14:creationId xmlns:p14="http://schemas.microsoft.com/office/powerpoint/2010/main" val="2732719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16</a:t>
            </a:fld>
            <a:endParaRPr lang="en-US" dirty="0"/>
          </a:p>
        </p:txBody>
      </p:sp>
    </p:spTree>
    <p:extLst>
      <p:ext uri="{BB962C8B-B14F-4D97-AF65-F5344CB8AC3E}">
        <p14:creationId xmlns:p14="http://schemas.microsoft.com/office/powerpoint/2010/main" val="2381303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17</a:t>
            </a:fld>
            <a:endParaRPr lang="en-US" dirty="0"/>
          </a:p>
        </p:txBody>
      </p:sp>
    </p:spTree>
    <p:extLst>
      <p:ext uri="{BB962C8B-B14F-4D97-AF65-F5344CB8AC3E}">
        <p14:creationId xmlns:p14="http://schemas.microsoft.com/office/powerpoint/2010/main" val="2033349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18</a:t>
            </a:fld>
            <a:endParaRPr lang="en-US" dirty="0"/>
          </a:p>
        </p:txBody>
      </p:sp>
    </p:spTree>
    <p:extLst>
      <p:ext uri="{BB962C8B-B14F-4D97-AF65-F5344CB8AC3E}">
        <p14:creationId xmlns:p14="http://schemas.microsoft.com/office/powerpoint/2010/main" val="2426009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19</a:t>
            </a:fld>
            <a:endParaRPr lang="en-US" dirty="0"/>
          </a:p>
        </p:txBody>
      </p:sp>
    </p:spTree>
    <p:extLst>
      <p:ext uri="{BB962C8B-B14F-4D97-AF65-F5344CB8AC3E}">
        <p14:creationId xmlns:p14="http://schemas.microsoft.com/office/powerpoint/2010/main" val="20007200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20</a:t>
            </a:fld>
            <a:endParaRPr lang="en-US" dirty="0"/>
          </a:p>
        </p:txBody>
      </p:sp>
    </p:spTree>
    <p:extLst>
      <p:ext uri="{BB962C8B-B14F-4D97-AF65-F5344CB8AC3E}">
        <p14:creationId xmlns:p14="http://schemas.microsoft.com/office/powerpoint/2010/main" val="9893779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21</a:t>
            </a:fld>
            <a:endParaRPr lang="en-US" dirty="0"/>
          </a:p>
        </p:txBody>
      </p:sp>
    </p:spTree>
    <p:extLst>
      <p:ext uri="{BB962C8B-B14F-4D97-AF65-F5344CB8AC3E}">
        <p14:creationId xmlns:p14="http://schemas.microsoft.com/office/powerpoint/2010/main" val="12820159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22</a:t>
            </a:fld>
            <a:endParaRPr lang="en-US" dirty="0"/>
          </a:p>
        </p:txBody>
      </p:sp>
    </p:spTree>
    <p:extLst>
      <p:ext uri="{BB962C8B-B14F-4D97-AF65-F5344CB8AC3E}">
        <p14:creationId xmlns:p14="http://schemas.microsoft.com/office/powerpoint/2010/main" val="8318452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23</a:t>
            </a:fld>
            <a:endParaRPr lang="en-US" dirty="0"/>
          </a:p>
        </p:txBody>
      </p:sp>
    </p:spTree>
    <p:extLst>
      <p:ext uri="{BB962C8B-B14F-4D97-AF65-F5344CB8AC3E}">
        <p14:creationId xmlns:p14="http://schemas.microsoft.com/office/powerpoint/2010/main" val="1397125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24</a:t>
            </a:fld>
            <a:endParaRPr lang="en-US" dirty="0"/>
          </a:p>
        </p:txBody>
      </p:sp>
    </p:spTree>
    <p:extLst>
      <p:ext uri="{BB962C8B-B14F-4D97-AF65-F5344CB8AC3E}">
        <p14:creationId xmlns:p14="http://schemas.microsoft.com/office/powerpoint/2010/main" val="36476547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25</a:t>
            </a:fld>
            <a:endParaRPr lang="en-US" dirty="0"/>
          </a:p>
        </p:txBody>
      </p:sp>
    </p:spTree>
    <p:extLst>
      <p:ext uri="{BB962C8B-B14F-4D97-AF65-F5344CB8AC3E}">
        <p14:creationId xmlns:p14="http://schemas.microsoft.com/office/powerpoint/2010/main" val="38831155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26</a:t>
            </a:fld>
            <a:endParaRPr lang="en-US" dirty="0"/>
          </a:p>
        </p:txBody>
      </p:sp>
    </p:spTree>
    <p:extLst>
      <p:ext uri="{BB962C8B-B14F-4D97-AF65-F5344CB8AC3E}">
        <p14:creationId xmlns:p14="http://schemas.microsoft.com/office/powerpoint/2010/main" val="39819905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pool of strings, initially empty, is maintained privately by the class String.</a:t>
            </a:r>
          </a:p>
          <a:p>
            <a:r>
              <a:rPr lang="en-US" sz="1200" b="0" i="0" kern="1200" dirty="0">
                <a:solidFill>
                  <a:schemeClr val="tx1"/>
                </a:solidFill>
                <a:effectLst/>
                <a:latin typeface="+mn-lt"/>
                <a:ea typeface="+mn-ea"/>
                <a:cs typeface="+mn-cs"/>
              </a:rPr>
              <a:t>When the intern method is invoked, if the pool already contains a string equal to this String object as determined by the equals(Object) method, then the string from the pool is returned. Otherwise, this String object is added to the pool and a reference to this String object is returned.</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38</a:t>
            </a:fld>
            <a:endParaRPr lang="en-US" dirty="0"/>
          </a:p>
        </p:txBody>
      </p:sp>
    </p:spTree>
    <p:extLst>
      <p:ext uri="{BB962C8B-B14F-4D97-AF65-F5344CB8AC3E}">
        <p14:creationId xmlns:p14="http://schemas.microsoft.com/office/powerpoint/2010/main" val="26776161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A3C37BE-C303-496D-B5CD-85F2937540FC}" type="slidenum">
              <a:rPr lang="en-IN" smtClean="0"/>
              <a:t>47</a:t>
            </a:fld>
            <a:endParaRPr lang="en-IN" dirty="0"/>
          </a:p>
        </p:txBody>
      </p:sp>
    </p:spTree>
    <p:extLst>
      <p:ext uri="{BB962C8B-B14F-4D97-AF65-F5344CB8AC3E}">
        <p14:creationId xmlns:p14="http://schemas.microsoft.com/office/powerpoint/2010/main" val="43950035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10/14/2018</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10/14/2018</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dirty="0"/>
              <a:t>Click icon to add picture</a:t>
            </a:r>
            <a:endParaRPr dirty="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10/14/2018</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10/14/2018</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10/14/2018</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10/14/2018</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10/14/2018</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10/14/2018</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402B9795-92DC-40DC-A1CA-9A4B349D7824}" type="datetimeFigureOut">
              <a:rPr lang="en-US"/>
              <a:t>10/14/2018</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10/14/2018</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10/14/2018</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10/14/2018</a:t>
            </a:fld>
            <a:endParaRPr lang="en-US" dirty="0"/>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dirty="0"/>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dirty="0"/>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www.journaldev.com/4098/java-heap-space-vs-stack-memory"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7.xml.rels><?xml version="1.0" encoding="UTF-8" standalone="yes"?>
<Relationships xmlns="http://schemas.openxmlformats.org/package/2006/relationships"><Relationship Id="rId3" Type="http://schemas.openxmlformats.org/officeDocument/2006/relationships/hyperlink" Target="mailto:avadekkedhil@wilp.bits-pilani.ac.in"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normAutofit/>
          </a:bodyPr>
          <a:lstStyle/>
          <a:p>
            <a:r>
              <a:rPr lang="en-US" dirty="0"/>
              <a:t>Object Oriented Programming &amp; Design</a:t>
            </a:r>
          </a:p>
        </p:txBody>
      </p:sp>
      <p:sp>
        <p:nvSpPr>
          <p:cNvPr id="7" name="Subtitle 6"/>
          <p:cNvSpPr>
            <a:spLocks noGrp="1"/>
          </p:cNvSpPr>
          <p:nvPr>
            <p:ph type="subTitle" idx="1"/>
          </p:nvPr>
        </p:nvSpPr>
        <p:spPr>
          <a:xfrm>
            <a:off x="1104900" y="4511785"/>
            <a:ext cx="5734050" cy="846298"/>
          </a:xfrm>
        </p:spPr>
        <p:txBody>
          <a:bodyPr/>
          <a:lstStyle/>
          <a:p>
            <a:r>
              <a:rPr lang="en-IN" b="1" dirty="0"/>
              <a:t>Session – 3: 14-Oct-2018</a:t>
            </a:r>
            <a:endParaRPr lang="en-US" b="1" dirty="0"/>
          </a:p>
        </p:txBody>
      </p:sp>
      <p:pic>
        <p:nvPicPr>
          <p:cNvPr id="4" name="Picture Placeholder 3"/>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6671780" y="1445796"/>
            <a:ext cx="5269208" cy="3912286"/>
          </a:xfrm>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Agenda</a:t>
            </a:r>
          </a:p>
        </p:txBody>
      </p:sp>
      <p:sp>
        <p:nvSpPr>
          <p:cNvPr id="14" name="Content Placeholder 13"/>
          <p:cNvSpPr>
            <a:spLocks noGrp="1"/>
          </p:cNvSpPr>
          <p:nvPr>
            <p:ph idx="1"/>
          </p:nvPr>
        </p:nvSpPr>
        <p:spPr/>
        <p:txBody>
          <a:bodyPr/>
          <a:lstStyle/>
          <a:p>
            <a:r>
              <a:rPr lang="en-US" dirty="0"/>
              <a:t>Sample Java Exercises</a:t>
            </a:r>
          </a:p>
          <a:p>
            <a:pPr lvl="1"/>
            <a:r>
              <a:rPr lang="en-US" dirty="0"/>
              <a:t>Variables</a:t>
            </a:r>
          </a:p>
          <a:p>
            <a:pPr lvl="1"/>
            <a:r>
              <a:rPr lang="en-US" dirty="0"/>
              <a:t>Methods</a:t>
            </a:r>
          </a:p>
          <a:p>
            <a:r>
              <a:rPr lang="en-US" dirty="0"/>
              <a:t>Arrays Revisited</a:t>
            </a:r>
          </a:p>
          <a:p>
            <a:r>
              <a:rPr lang="en-US" dirty="0"/>
              <a:t>Strings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3307" y="1466118"/>
            <a:ext cx="4706082" cy="4706082"/>
          </a:xfrm>
          <a:prstGeom prst="rect">
            <a:avLst/>
          </a:prstGeom>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83559-F103-46FC-B981-ABE4F53C1FD1}"/>
              </a:ext>
            </a:extLst>
          </p:cNvPr>
          <p:cNvSpPr>
            <a:spLocks noGrp="1"/>
          </p:cNvSpPr>
          <p:nvPr>
            <p:ph type="ctrTitle"/>
          </p:nvPr>
        </p:nvSpPr>
        <p:spPr/>
        <p:txBody>
          <a:bodyPr/>
          <a:lstStyle/>
          <a:p>
            <a:r>
              <a:rPr lang="en-IN" dirty="0"/>
              <a:t>EXERCISES</a:t>
            </a:r>
          </a:p>
        </p:txBody>
      </p:sp>
      <p:sp>
        <p:nvSpPr>
          <p:cNvPr id="3" name="Subtitle 2">
            <a:extLst>
              <a:ext uri="{FF2B5EF4-FFF2-40B4-BE49-F238E27FC236}">
                <a16:creationId xmlns:a16="http://schemas.microsoft.com/office/drawing/2014/main" id="{6FFC387C-23DA-4DB3-BCEA-8EE08B6782FC}"/>
              </a:ext>
            </a:extLst>
          </p:cNvPr>
          <p:cNvSpPr>
            <a:spLocks noGrp="1"/>
          </p:cNvSpPr>
          <p:nvPr>
            <p:ph type="subTitle" idx="1"/>
          </p:nvPr>
        </p:nvSpPr>
        <p:spPr/>
        <p:txBody>
          <a:bodyPr/>
          <a:lstStyle/>
          <a:p>
            <a:r>
              <a:rPr lang="en-IN" dirty="0"/>
              <a:t>Sample Exercises on Classes &amp; Methods</a:t>
            </a:r>
          </a:p>
        </p:txBody>
      </p:sp>
      <p:pic>
        <p:nvPicPr>
          <p:cNvPr id="6" name="Picture Placeholder 5">
            <a:extLst>
              <a:ext uri="{FF2B5EF4-FFF2-40B4-BE49-F238E27FC236}">
                <a16:creationId xmlns:a16="http://schemas.microsoft.com/office/drawing/2014/main" id="{B146E506-12EF-48FE-8DB4-DA633D4C2D9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574" r="3574"/>
          <a:stretch>
            <a:fillRect/>
          </a:stretch>
        </p:blipFill>
        <p:spPr/>
      </p:pic>
    </p:spTree>
    <p:extLst>
      <p:ext uri="{BB962C8B-B14F-4D97-AF65-F5344CB8AC3E}">
        <p14:creationId xmlns:p14="http://schemas.microsoft.com/office/powerpoint/2010/main" val="1839384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idx="1"/>
          </p:nvPr>
        </p:nvSpPr>
        <p:spPr>
          <a:xfrm>
            <a:off x="1104900" y="1600200"/>
            <a:ext cx="4381500" cy="2786063"/>
          </a:xfrm>
        </p:spPr>
        <p:txBody>
          <a:bodyPr>
            <a:normAutofit/>
          </a:bodyPr>
          <a:lstStyle/>
          <a:p>
            <a:pPr marL="0" indent="0">
              <a:buNone/>
            </a:pPr>
            <a:r>
              <a:rPr lang="en-US" dirty="0">
                <a:latin typeface="Corbel" panose="020B0503020204020204" pitchFamily="34" charset="0"/>
              </a:rPr>
              <a:t>1. What is stored in the object </a:t>
            </a:r>
            <a:r>
              <a:rPr lang="en-US" dirty="0" err="1">
                <a:latin typeface="Corbel" panose="020B0503020204020204" pitchFamily="34" charset="0"/>
              </a:rPr>
              <a:t>obj</a:t>
            </a:r>
            <a:r>
              <a:rPr lang="en-US" dirty="0">
                <a:latin typeface="Corbel" panose="020B0503020204020204" pitchFamily="34" charset="0"/>
              </a:rPr>
              <a:t> in following lines of code?</a:t>
            </a:r>
            <a:br>
              <a:rPr lang="en-US" dirty="0">
                <a:latin typeface="Corbel" panose="020B0503020204020204" pitchFamily="34" charset="0"/>
              </a:rPr>
            </a:br>
            <a:r>
              <a:rPr lang="en-US" dirty="0">
                <a:latin typeface="Corbel" panose="020B0503020204020204" pitchFamily="34" charset="0"/>
              </a:rPr>
              <a:t>	</a:t>
            </a:r>
            <a:r>
              <a:rPr lang="en-US" b="1" i="1" dirty="0">
                <a:latin typeface="Corbel" panose="020B0503020204020204" pitchFamily="34" charset="0"/>
              </a:rPr>
              <a:t>box </a:t>
            </a:r>
            <a:r>
              <a:rPr lang="en-US" b="1" i="1" dirty="0" err="1">
                <a:latin typeface="Corbel" panose="020B0503020204020204" pitchFamily="34" charset="0"/>
              </a:rPr>
              <a:t>obj</a:t>
            </a:r>
            <a:r>
              <a:rPr lang="en-US" b="1" i="1" dirty="0">
                <a:latin typeface="Corbel" panose="020B0503020204020204" pitchFamily="34" charset="0"/>
              </a:rPr>
              <a:t>;</a:t>
            </a:r>
            <a:br>
              <a:rPr lang="en-US" dirty="0">
                <a:latin typeface="Corbel" panose="020B0503020204020204" pitchFamily="34" charset="0"/>
              </a:rPr>
            </a:br>
            <a:r>
              <a:rPr lang="en-US" dirty="0">
                <a:latin typeface="Corbel" panose="020B0503020204020204" pitchFamily="34" charset="0"/>
              </a:rPr>
              <a:t>a) Memory address of allocated memory of object.</a:t>
            </a:r>
            <a:br>
              <a:rPr lang="en-US" dirty="0">
                <a:latin typeface="Corbel" panose="020B0503020204020204" pitchFamily="34" charset="0"/>
              </a:rPr>
            </a:br>
            <a:r>
              <a:rPr lang="en-US" dirty="0">
                <a:latin typeface="Corbel" panose="020B0503020204020204" pitchFamily="34" charset="0"/>
              </a:rPr>
              <a:t>b) NULL</a:t>
            </a:r>
            <a:br>
              <a:rPr lang="en-US" dirty="0">
                <a:latin typeface="Corbel" panose="020B0503020204020204" pitchFamily="34" charset="0"/>
              </a:rPr>
            </a:br>
            <a:r>
              <a:rPr lang="en-US" dirty="0">
                <a:latin typeface="Corbel" panose="020B0503020204020204" pitchFamily="34" charset="0"/>
              </a:rPr>
              <a:t>c) Any arbitrary pointer</a:t>
            </a:r>
            <a:br>
              <a:rPr lang="en-US" dirty="0">
                <a:latin typeface="Corbel" panose="020B0503020204020204" pitchFamily="34" charset="0"/>
              </a:rPr>
            </a:br>
            <a:r>
              <a:rPr lang="en-US" dirty="0">
                <a:latin typeface="Corbel" panose="020B0503020204020204" pitchFamily="34" charset="0"/>
              </a:rPr>
              <a:t>d) Garbage</a:t>
            </a:r>
          </a:p>
        </p:txBody>
      </p:sp>
      <p:sp>
        <p:nvSpPr>
          <p:cNvPr id="4" name="Rectangle 3"/>
          <p:cNvSpPr/>
          <p:nvPr/>
        </p:nvSpPr>
        <p:spPr>
          <a:xfrm>
            <a:off x="904875" y="4871949"/>
            <a:ext cx="3695700" cy="1754326"/>
          </a:xfrm>
          <a:prstGeom prst="rect">
            <a:avLst/>
          </a:prstGeom>
        </p:spPr>
        <p:txBody>
          <a:bodyPr wrap="square">
            <a:spAutoFit/>
          </a:bodyPr>
          <a:lstStyle/>
          <a:p>
            <a:r>
              <a:rPr lang="en-US" dirty="0">
                <a:solidFill>
                  <a:srgbClr val="555555"/>
                </a:solidFill>
                <a:latin typeface="Arial" panose="020B0604020202020204" pitchFamily="34" charset="0"/>
              </a:rPr>
              <a:t>Answer: b</a:t>
            </a:r>
            <a:br>
              <a:rPr lang="en-US" dirty="0"/>
            </a:br>
            <a:r>
              <a:rPr lang="en-US" dirty="0">
                <a:solidFill>
                  <a:srgbClr val="555555"/>
                </a:solidFill>
                <a:latin typeface="Arial" panose="020B0604020202020204" pitchFamily="34" charset="0"/>
              </a:rPr>
              <a:t>Explanation: Memory is allocated to an object using new operator. box </a:t>
            </a:r>
            <a:r>
              <a:rPr lang="en-US" dirty="0" err="1">
                <a:solidFill>
                  <a:srgbClr val="555555"/>
                </a:solidFill>
                <a:latin typeface="Arial" panose="020B0604020202020204" pitchFamily="34" charset="0"/>
              </a:rPr>
              <a:t>obj</a:t>
            </a:r>
            <a:r>
              <a:rPr lang="en-US" dirty="0">
                <a:solidFill>
                  <a:srgbClr val="555555"/>
                </a:solidFill>
                <a:latin typeface="Arial" panose="020B0604020202020204" pitchFamily="34" charset="0"/>
              </a:rPr>
              <a:t>; just declares a reference to object, no memory is allocated to it hence it points to NULL.</a:t>
            </a:r>
            <a:endParaRPr lang="en-US" dirty="0"/>
          </a:p>
        </p:txBody>
      </p:sp>
      <p:sp>
        <p:nvSpPr>
          <p:cNvPr id="5" name="Content Placeholder 2"/>
          <p:cNvSpPr txBox="1">
            <a:spLocks/>
          </p:cNvSpPr>
          <p:nvPr/>
        </p:nvSpPr>
        <p:spPr>
          <a:xfrm>
            <a:off x="6848475" y="1628775"/>
            <a:ext cx="4667250" cy="2757488"/>
          </a:xfrm>
          <a:prstGeom prst="rect">
            <a:avLst/>
          </a:prstGeom>
        </p:spPr>
        <p:txBody>
          <a:bodyPr vert="horz" lIns="0" tIns="45720" rIns="0" bIns="45720" rtlCol="0">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buNone/>
            </a:pPr>
            <a:r>
              <a:rPr lang="en-US" dirty="0">
                <a:latin typeface="Corbel" panose="020B0503020204020204" pitchFamily="34" charset="0"/>
              </a:rPr>
              <a:t>2. Which of the following is a valid declaration of an object of class Box?</a:t>
            </a:r>
          </a:p>
          <a:p>
            <a:pPr marL="457200" lvl="1" indent="0">
              <a:buFont typeface="Wingdings" panose="05000000000000000000" pitchFamily="2" charset="2"/>
              <a:buNone/>
            </a:pPr>
            <a:br>
              <a:rPr lang="en-US" sz="2000" dirty="0">
                <a:latin typeface="Corbel" panose="020B0503020204020204" pitchFamily="34" charset="0"/>
              </a:rPr>
            </a:br>
            <a:r>
              <a:rPr lang="en-US" sz="2000" dirty="0">
                <a:latin typeface="Corbel" panose="020B0503020204020204" pitchFamily="34" charset="0"/>
              </a:rPr>
              <a:t>a) Box </a:t>
            </a:r>
            <a:r>
              <a:rPr lang="en-US" sz="2000" dirty="0" err="1">
                <a:latin typeface="Corbel" panose="020B0503020204020204" pitchFamily="34" charset="0"/>
              </a:rPr>
              <a:t>obj</a:t>
            </a:r>
            <a:r>
              <a:rPr lang="en-US" sz="2000" dirty="0">
                <a:latin typeface="Corbel" panose="020B0503020204020204" pitchFamily="34" charset="0"/>
              </a:rPr>
              <a:t> = new Box();</a:t>
            </a:r>
            <a:br>
              <a:rPr lang="en-US" sz="2000" dirty="0">
                <a:latin typeface="Corbel" panose="020B0503020204020204" pitchFamily="34" charset="0"/>
              </a:rPr>
            </a:br>
            <a:r>
              <a:rPr lang="en-US" sz="2000" dirty="0">
                <a:latin typeface="Corbel" panose="020B0503020204020204" pitchFamily="34" charset="0"/>
              </a:rPr>
              <a:t>b) Box </a:t>
            </a:r>
            <a:r>
              <a:rPr lang="en-US" sz="2000" dirty="0" err="1">
                <a:latin typeface="Corbel" panose="020B0503020204020204" pitchFamily="34" charset="0"/>
              </a:rPr>
              <a:t>obj</a:t>
            </a:r>
            <a:r>
              <a:rPr lang="en-US" sz="2000" dirty="0">
                <a:latin typeface="Corbel" panose="020B0503020204020204" pitchFamily="34" charset="0"/>
              </a:rPr>
              <a:t> = new Box;</a:t>
            </a:r>
            <a:br>
              <a:rPr lang="en-US" sz="2000" dirty="0">
                <a:latin typeface="Corbel" panose="020B0503020204020204" pitchFamily="34" charset="0"/>
              </a:rPr>
            </a:br>
            <a:r>
              <a:rPr lang="en-US" sz="2000" dirty="0">
                <a:latin typeface="Corbel" panose="020B0503020204020204" pitchFamily="34" charset="0"/>
              </a:rPr>
              <a:t>c) </a:t>
            </a:r>
            <a:r>
              <a:rPr lang="en-US" sz="2000" dirty="0" err="1">
                <a:latin typeface="Corbel" panose="020B0503020204020204" pitchFamily="34" charset="0"/>
              </a:rPr>
              <a:t>obj</a:t>
            </a:r>
            <a:r>
              <a:rPr lang="en-US" sz="2000" dirty="0">
                <a:latin typeface="Corbel" panose="020B0503020204020204" pitchFamily="34" charset="0"/>
              </a:rPr>
              <a:t> = new Box();</a:t>
            </a:r>
            <a:br>
              <a:rPr lang="en-US" sz="2000" dirty="0">
                <a:latin typeface="Corbel" panose="020B0503020204020204" pitchFamily="34" charset="0"/>
              </a:rPr>
            </a:br>
            <a:r>
              <a:rPr lang="en-US" sz="2000" dirty="0">
                <a:latin typeface="Corbel" panose="020B0503020204020204" pitchFamily="34" charset="0"/>
              </a:rPr>
              <a:t>d) new Box </a:t>
            </a:r>
            <a:r>
              <a:rPr lang="en-US" sz="2000" dirty="0" err="1">
                <a:latin typeface="Corbel" panose="020B0503020204020204" pitchFamily="34" charset="0"/>
              </a:rPr>
              <a:t>obj</a:t>
            </a:r>
            <a:r>
              <a:rPr lang="en-US" sz="2000" dirty="0">
                <a:latin typeface="Corbel" panose="020B0503020204020204" pitchFamily="34" charset="0"/>
              </a:rPr>
              <a:t>;</a:t>
            </a:r>
          </a:p>
        </p:txBody>
      </p:sp>
      <p:sp>
        <p:nvSpPr>
          <p:cNvPr id="6" name="Rectangle 5"/>
          <p:cNvSpPr/>
          <p:nvPr/>
        </p:nvSpPr>
        <p:spPr>
          <a:xfrm>
            <a:off x="6848475" y="4871949"/>
            <a:ext cx="4667250" cy="646331"/>
          </a:xfrm>
          <a:prstGeom prst="rect">
            <a:avLst/>
          </a:prstGeom>
        </p:spPr>
        <p:txBody>
          <a:bodyPr wrap="square">
            <a:spAutoFit/>
          </a:bodyPr>
          <a:lstStyle/>
          <a:p>
            <a:r>
              <a:rPr lang="en-US" dirty="0">
                <a:solidFill>
                  <a:srgbClr val="555555"/>
                </a:solidFill>
                <a:latin typeface="Arial" panose="020B0604020202020204" pitchFamily="34" charset="0"/>
              </a:rPr>
              <a:t>Answer: a</a:t>
            </a:r>
            <a:br>
              <a:rPr lang="en-US" dirty="0"/>
            </a:br>
            <a:r>
              <a:rPr lang="en-US" dirty="0">
                <a:solidFill>
                  <a:srgbClr val="555555"/>
                </a:solidFill>
                <a:latin typeface="Arial" panose="020B0604020202020204" pitchFamily="34" charset="0"/>
              </a:rPr>
              <a:t>Explanation: Not Required (-: </a:t>
            </a:r>
            <a:endParaRPr lang="en-US" dirty="0"/>
          </a:p>
        </p:txBody>
      </p:sp>
    </p:spTree>
    <p:extLst>
      <p:ext uri="{BB962C8B-B14F-4D97-AF65-F5344CB8AC3E}">
        <p14:creationId xmlns:p14="http://schemas.microsoft.com/office/powerpoint/2010/main" val="6979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 What is the O/P?</a:t>
            </a:r>
          </a:p>
        </p:txBody>
      </p:sp>
      <p:sp>
        <p:nvSpPr>
          <p:cNvPr id="4" name="Rectangle 3"/>
          <p:cNvSpPr/>
          <p:nvPr/>
        </p:nvSpPr>
        <p:spPr>
          <a:xfrm>
            <a:off x="904875" y="4871949"/>
            <a:ext cx="4795838" cy="2031325"/>
          </a:xfrm>
          <a:prstGeom prst="rect">
            <a:avLst/>
          </a:prstGeom>
        </p:spPr>
        <p:txBody>
          <a:bodyPr wrap="square">
            <a:spAutoFit/>
          </a:bodyPr>
          <a:lstStyle/>
          <a:p>
            <a:r>
              <a:rPr lang="en-US" dirty="0"/>
              <a:t>Explanation: Two variables with the same name can’t be created in a class.</a:t>
            </a:r>
            <a:br>
              <a:rPr lang="en-US" dirty="0"/>
            </a:br>
            <a:r>
              <a:rPr lang="en-US" dirty="0"/>
              <a:t>output:</a:t>
            </a:r>
            <a:br>
              <a:rPr lang="en-US" dirty="0"/>
            </a:br>
            <a:r>
              <a:rPr lang="en-US" dirty="0"/>
              <a:t>$ </a:t>
            </a:r>
            <a:r>
              <a:rPr lang="en-US" dirty="0" err="1"/>
              <a:t>javac</a:t>
            </a:r>
            <a:r>
              <a:rPr lang="en-US" dirty="0"/>
              <a:t> main_class.java</a:t>
            </a:r>
            <a:br>
              <a:rPr lang="en-US" dirty="0"/>
            </a:br>
            <a:r>
              <a:rPr lang="en-US" dirty="0"/>
              <a:t>Exception in thread “main” </a:t>
            </a:r>
            <a:r>
              <a:rPr lang="en-US" dirty="0" err="1"/>
              <a:t>java.lang.Error</a:t>
            </a:r>
            <a:r>
              <a:rPr lang="en-US" dirty="0"/>
              <a:t>: Unresolved compilation problem:</a:t>
            </a:r>
            <a:br>
              <a:rPr lang="en-US" dirty="0"/>
            </a:br>
            <a:r>
              <a:rPr lang="en-US" dirty="0"/>
              <a:t>Duplicate local variable x</a:t>
            </a:r>
          </a:p>
        </p:txBody>
      </p:sp>
      <p:sp>
        <p:nvSpPr>
          <p:cNvPr id="6" name="Rectangle 5"/>
          <p:cNvSpPr/>
          <p:nvPr/>
        </p:nvSpPr>
        <p:spPr>
          <a:xfrm>
            <a:off x="6781799" y="5887611"/>
            <a:ext cx="4667250" cy="646331"/>
          </a:xfrm>
          <a:prstGeom prst="rect">
            <a:avLst/>
          </a:prstGeom>
        </p:spPr>
        <p:txBody>
          <a:bodyPr wrap="square">
            <a:spAutoFit/>
          </a:bodyPr>
          <a:lstStyle/>
          <a:p>
            <a:r>
              <a:rPr lang="en-US" dirty="0">
                <a:solidFill>
                  <a:srgbClr val="555555"/>
                </a:solidFill>
                <a:latin typeface="Arial" panose="020B0604020202020204" pitchFamily="34" charset="0"/>
              </a:rPr>
              <a:t>Answer: 200</a:t>
            </a:r>
            <a:br>
              <a:rPr lang="en-US" dirty="0"/>
            </a:br>
            <a:r>
              <a:rPr lang="en-US" dirty="0">
                <a:solidFill>
                  <a:srgbClr val="555555"/>
                </a:solidFill>
                <a:latin typeface="Arial" panose="020B0604020202020204" pitchFamily="34" charset="0"/>
              </a:rPr>
              <a:t>Explanation: Not Required (-: </a:t>
            </a:r>
            <a:endParaRPr lang="en-US" dirty="0"/>
          </a:p>
        </p:txBody>
      </p:sp>
      <p:pic>
        <p:nvPicPr>
          <p:cNvPr id="11" name="Content Placeholder 10"/>
          <p:cNvPicPr>
            <a:picLocks noGrp="1" noChangeAspect="1"/>
          </p:cNvPicPr>
          <p:nvPr>
            <p:ph idx="1"/>
          </p:nvPr>
        </p:nvPicPr>
        <p:blipFill>
          <a:blip r:embed="rId2"/>
          <a:stretch>
            <a:fillRect/>
          </a:stretch>
        </p:blipFill>
        <p:spPr>
          <a:xfrm>
            <a:off x="1104900" y="1419224"/>
            <a:ext cx="4095750" cy="2977622"/>
          </a:xfrm>
          <a:prstGeom prst="rect">
            <a:avLst/>
          </a:prstGeom>
        </p:spPr>
      </p:pic>
      <p:pic>
        <p:nvPicPr>
          <p:cNvPr id="12" name="Picture 11"/>
          <p:cNvPicPr>
            <a:picLocks noChangeAspect="1"/>
          </p:cNvPicPr>
          <p:nvPr/>
        </p:nvPicPr>
        <p:blipFill>
          <a:blip r:embed="rId3"/>
          <a:stretch>
            <a:fillRect/>
          </a:stretch>
        </p:blipFill>
        <p:spPr>
          <a:xfrm>
            <a:off x="6877050" y="1376274"/>
            <a:ext cx="4571999" cy="4082539"/>
          </a:xfrm>
          <a:prstGeom prst="rect">
            <a:avLst/>
          </a:prstGeom>
        </p:spPr>
      </p:pic>
    </p:spTree>
    <p:extLst>
      <p:ext uri="{BB962C8B-B14F-4D97-AF65-F5344CB8AC3E}">
        <p14:creationId xmlns:p14="http://schemas.microsoft.com/office/powerpoint/2010/main" val="3043389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idx="1"/>
          </p:nvPr>
        </p:nvSpPr>
        <p:spPr>
          <a:xfrm>
            <a:off x="1104900" y="1600200"/>
            <a:ext cx="4381500" cy="2786063"/>
          </a:xfrm>
        </p:spPr>
        <p:txBody>
          <a:bodyPr>
            <a:normAutofit/>
          </a:bodyPr>
          <a:lstStyle/>
          <a:p>
            <a:pPr marL="0" indent="0">
              <a:buNone/>
            </a:pPr>
            <a:r>
              <a:rPr lang="en-US" dirty="0"/>
              <a:t>Which of the following is a method having same name as that of it’s class?</a:t>
            </a:r>
            <a:br>
              <a:rPr lang="en-US" dirty="0"/>
            </a:br>
            <a:r>
              <a:rPr lang="en-US" dirty="0"/>
              <a:t>a) finalize</a:t>
            </a:r>
            <a:br>
              <a:rPr lang="en-US" dirty="0"/>
            </a:br>
            <a:r>
              <a:rPr lang="en-US" dirty="0"/>
              <a:t>b) delete</a:t>
            </a:r>
            <a:br>
              <a:rPr lang="en-US" dirty="0"/>
            </a:br>
            <a:r>
              <a:rPr lang="en-US" dirty="0"/>
              <a:t>c) class</a:t>
            </a:r>
            <a:br>
              <a:rPr lang="en-US" dirty="0"/>
            </a:br>
            <a:r>
              <a:rPr lang="en-US" dirty="0"/>
              <a:t>d) constructor</a:t>
            </a:r>
            <a:endParaRPr lang="en-US" dirty="0">
              <a:latin typeface="Corbel" panose="020B0503020204020204" pitchFamily="34" charset="0"/>
            </a:endParaRPr>
          </a:p>
        </p:txBody>
      </p:sp>
      <p:sp>
        <p:nvSpPr>
          <p:cNvPr id="4" name="Rectangle 3"/>
          <p:cNvSpPr/>
          <p:nvPr/>
        </p:nvSpPr>
        <p:spPr>
          <a:xfrm>
            <a:off x="904875" y="4871949"/>
            <a:ext cx="3695700" cy="646331"/>
          </a:xfrm>
          <a:prstGeom prst="rect">
            <a:avLst/>
          </a:prstGeom>
        </p:spPr>
        <p:txBody>
          <a:bodyPr wrap="square">
            <a:spAutoFit/>
          </a:bodyPr>
          <a:lstStyle/>
          <a:p>
            <a:r>
              <a:rPr lang="en-US" dirty="0">
                <a:solidFill>
                  <a:srgbClr val="555555"/>
                </a:solidFill>
                <a:latin typeface="Arial" panose="020B0604020202020204" pitchFamily="34" charset="0"/>
              </a:rPr>
              <a:t>Answer: d</a:t>
            </a:r>
            <a:br>
              <a:rPr lang="en-US" dirty="0"/>
            </a:br>
            <a:r>
              <a:rPr lang="en-US" dirty="0">
                <a:solidFill>
                  <a:srgbClr val="555555"/>
                </a:solidFill>
                <a:latin typeface="Arial" panose="020B0604020202020204" pitchFamily="34" charset="0"/>
              </a:rPr>
              <a:t>Explanation: Not Required (-: </a:t>
            </a:r>
            <a:endParaRPr lang="en-US" dirty="0"/>
          </a:p>
        </p:txBody>
      </p:sp>
      <p:sp>
        <p:nvSpPr>
          <p:cNvPr id="5" name="Content Placeholder 2"/>
          <p:cNvSpPr txBox="1">
            <a:spLocks/>
          </p:cNvSpPr>
          <p:nvPr/>
        </p:nvSpPr>
        <p:spPr>
          <a:xfrm>
            <a:off x="5757863" y="1371600"/>
            <a:ext cx="6157911" cy="2757488"/>
          </a:xfrm>
          <a:prstGeom prst="rect">
            <a:avLst/>
          </a:prstGeom>
        </p:spPr>
        <p:txBody>
          <a:bodyPr vert="horz" lIns="0" tIns="45720" rIns="0" bIns="45720" rtlCol="0">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spcBef>
                <a:spcPts val="0"/>
              </a:spcBef>
              <a:buNone/>
            </a:pPr>
            <a:r>
              <a:rPr lang="en-US" sz="1800" dirty="0">
                <a:latin typeface="Corbel" panose="020B0503020204020204" pitchFamily="34" charset="0"/>
              </a:rPr>
              <a:t> Which of these statement is incorrect?</a:t>
            </a:r>
          </a:p>
          <a:p>
            <a:pPr marL="0" indent="0">
              <a:lnSpc>
                <a:spcPct val="100000"/>
              </a:lnSpc>
              <a:spcBef>
                <a:spcPts val="0"/>
              </a:spcBef>
              <a:buNone/>
            </a:pPr>
            <a:br>
              <a:rPr lang="en-US" sz="1800" dirty="0">
                <a:latin typeface="Corbel" panose="020B0503020204020204" pitchFamily="34" charset="0"/>
              </a:rPr>
            </a:br>
            <a:r>
              <a:rPr lang="en-US" sz="1800" dirty="0">
                <a:latin typeface="Corbel" panose="020B0503020204020204" pitchFamily="34" charset="0"/>
              </a:rPr>
              <a:t>a) All object of a class are allotted memory for the all the variables defined in the class.</a:t>
            </a:r>
          </a:p>
          <a:p>
            <a:pPr marL="0" indent="0">
              <a:lnSpc>
                <a:spcPct val="100000"/>
              </a:lnSpc>
              <a:spcBef>
                <a:spcPts val="0"/>
              </a:spcBef>
              <a:buNone/>
            </a:pPr>
            <a:br>
              <a:rPr lang="en-US" sz="1800" dirty="0">
                <a:latin typeface="Corbel" panose="020B0503020204020204" pitchFamily="34" charset="0"/>
              </a:rPr>
            </a:br>
            <a:r>
              <a:rPr lang="en-US" sz="1800" dirty="0">
                <a:latin typeface="Corbel" panose="020B0503020204020204" pitchFamily="34" charset="0"/>
              </a:rPr>
              <a:t>b) If a function is defined public it can be accessed by object of other class </a:t>
            </a:r>
            <a:r>
              <a:rPr lang="en-US" sz="1800">
                <a:latin typeface="Corbel" panose="020B0503020204020204" pitchFamily="34" charset="0"/>
              </a:rPr>
              <a:t>by inheriting.</a:t>
            </a:r>
            <a:endParaRPr lang="en-US" sz="1800" dirty="0">
              <a:latin typeface="Corbel" panose="020B0503020204020204" pitchFamily="34" charset="0"/>
            </a:endParaRPr>
          </a:p>
          <a:p>
            <a:pPr marL="0" indent="0">
              <a:lnSpc>
                <a:spcPct val="100000"/>
              </a:lnSpc>
              <a:spcBef>
                <a:spcPts val="0"/>
              </a:spcBef>
              <a:buNone/>
            </a:pPr>
            <a:br>
              <a:rPr lang="en-US" sz="1800" dirty="0">
                <a:latin typeface="Corbel" panose="020B0503020204020204" pitchFamily="34" charset="0"/>
              </a:rPr>
            </a:br>
            <a:r>
              <a:rPr lang="en-US" sz="1800" dirty="0">
                <a:latin typeface="Corbel" panose="020B0503020204020204" pitchFamily="34" charset="0"/>
              </a:rPr>
              <a:t>c) main() method must be made public.</a:t>
            </a:r>
          </a:p>
          <a:p>
            <a:pPr marL="0" indent="0">
              <a:lnSpc>
                <a:spcPct val="100000"/>
              </a:lnSpc>
              <a:spcBef>
                <a:spcPts val="0"/>
              </a:spcBef>
              <a:buNone/>
            </a:pPr>
            <a:br>
              <a:rPr lang="en-US" sz="1800" dirty="0">
                <a:latin typeface="Corbel" panose="020B0503020204020204" pitchFamily="34" charset="0"/>
              </a:rPr>
            </a:br>
            <a:r>
              <a:rPr lang="en-US" sz="1800" dirty="0">
                <a:latin typeface="Corbel" panose="020B0503020204020204" pitchFamily="34" charset="0"/>
              </a:rPr>
              <a:t>d) All object of a class are allotted memory for the methods defined in the class.</a:t>
            </a:r>
          </a:p>
        </p:txBody>
      </p:sp>
      <p:sp>
        <p:nvSpPr>
          <p:cNvPr id="6" name="Rectangle 5"/>
          <p:cNvSpPr/>
          <p:nvPr/>
        </p:nvSpPr>
        <p:spPr>
          <a:xfrm>
            <a:off x="5605462" y="4871949"/>
            <a:ext cx="4667250" cy="646331"/>
          </a:xfrm>
          <a:prstGeom prst="rect">
            <a:avLst/>
          </a:prstGeom>
        </p:spPr>
        <p:txBody>
          <a:bodyPr wrap="square">
            <a:spAutoFit/>
          </a:bodyPr>
          <a:lstStyle/>
          <a:p>
            <a:r>
              <a:rPr lang="en-US" dirty="0">
                <a:solidFill>
                  <a:srgbClr val="555555"/>
                </a:solidFill>
                <a:latin typeface="Arial" panose="020B0604020202020204" pitchFamily="34" charset="0"/>
              </a:rPr>
              <a:t>Answer: d</a:t>
            </a:r>
            <a:br>
              <a:rPr lang="en-US" dirty="0"/>
            </a:br>
            <a:r>
              <a:rPr lang="en-US" dirty="0">
                <a:solidFill>
                  <a:srgbClr val="555555"/>
                </a:solidFill>
                <a:latin typeface="Arial" panose="020B0604020202020204" pitchFamily="34" charset="0"/>
              </a:rPr>
              <a:t>Explanation: Not Required (-: </a:t>
            </a:r>
            <a:endParaRPr lang="en-US" dirty="0"/>
          </a:p>
        </p:txBody>
      </p:sp>
    </p:spTree>
    <p:extLst>
      <p:ext uri="{BB962C8B-B14F-4D97-AF65-F5344CB8AC3E}">
        <p14:creationId xmlns:p14="http://schemas.microsoft.com/office/powerpoint/2010/main" val="4286667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a:t>
            </a:r>
          </a:p>
        </p:txBody>
      </p:sp>
      <p:sp>
        <p:nvSpPr>
          <p:cNvPr id="3" name="Content Placeholder 2"/>
          <p:cNvSpPr>
            <a:spLocks noGrp="1"/>
          </p:cNvSpPr>
          <p:nvPr>
            <p:ph idx="1"/>
          </p:nvPr>
        </p:nvSpPr>
        <p:spPr>
          <a:xfrm>
            <a:off x="219074" y="1371600"/>
            <a:ext cx="5267325" cy="2786063"/>
          </a:xfrm>
        </p:spPr>
        <p:txBody>
          <a:bodyPr>
            <a:normAutofit/>
          </a:bodyPr>
          <a:lstStyle/>
          <a:p>
            <a:pPr marL="0" indent="0">
              <a:buNone/>
            </a:pPr>
            <a:r>
              <a:rPr lang="en-US" dirty="0">
                <a:latin typeface="Corbel" panose="020B0503020204020204" pitchFamily="34" charset="0"/>
              </a:rPr>
              <a:t>Which function is used to perform some action when the object is to be destroyed?</a:t>
            </a:r>
          </a:p>
          <a:p>
            <a:pPr marL="0" indent="0">
              <a:buNone/>
            </a:pPr>
            <a:br>
              <a:rPr lang="en-US" dirty="0">
                <a:latin typeface="Corbel" panose="020B0503020204020204" pitchFamily="34" charset="0"/>
              </a:rPr>
            </a:br>
            <a:r>
              <a:rPr lang="en-US" dirty="0">
                <a:latin typeface="Corbel" panose="020B0503020204020204" pitchFamily="34" charset="0"/>
              </a:rPr>
              <a:t>a) finalize()</a:t>
            </a:r>
            <a:br>
              <a:rPr lang="en-US" dirty="0">
                <a:latin typeface="Corbel" panose="020B0503020204020204" pitchFamily="34" charset="0"/>
              </a:rPr>
            </a:br>
            <a:r>
              <a:rPr lang="en-US" dirty="0">
                <a:latin typeface="Corbel" panose="020B0503020204020204" pitchFamily="34" charset="0"/>
              </a:rPr>
              <a:t>b) delete()</a:t>
            </a:r>
            <a:br>
              <a:rPr lang="en-US" dirty="0">
                <a:latin typeface="Corbel" panose="020B0503020204020204" pitchFamily="34" charset="0"/>
              </a:rPr>
            </a:br>
            <a:r>
              <a:rPr lang="en-US" dirty="0">
                <a:latin typeface="Corbel" panose="020B0503020204020204" pitchFamily="34" charset="0"/>
              </a:rPr>
              <a:t>c) main()</a:t>
            </a:r>
            <a:br>
              <a:rPr lang="en-US" dirty="0">
                <a:latin typeface="Corbel" panose="020B0503020204020204" pitchFamily="34" charset="0"/>
              </a:rPr>
            </a:br>
            <a:r>
              <a:rPr lang="en-US" dirty="0">
                <a:latin typeface="Corbel" panose="020B0503020204020204" pitchFamily="34" charset="0"/>
              </a:rPr>
              <a:t>d) None of the mentioned</a:t>
            </a:r>
          </a:p>
        </p:txBody>
      </p:sp>
      <p:sp>
        <p:nvSpPr>
          <p:cNvPr id="4" name="Rectangle 3"/>
          <p:cNvSpPr/>
          <p:nvPr/>
        </p:nvSpPr>
        <p:spPr>
          <a:xfrm>
            <a:off x="904875" y="4871949"/>
            <a:ext cx="3695700" cy="646331"/>
          </a:xfrm>
          <a:prstGeom prst="rect">
            <a:avLst/>
          </a:prstGeom>
        </p:spPr>
        <p:txBody>
          <a:bodyPr wrap="square">
            <a:spAutoFit/>
          </a:bodyPr>
          <a:lstStyle/>
          <a:p>
            <a:r>
              <a:rPr lang="en-US" dirty="0">
                <a:solidFill>
                  <a:srgbClr val="555555"/>
                </a:solidFill>
                <a:latin typeface="Arial" panose="020B0604020202020204" pitchFamily="34" charset="0"/>
              </a:rPr>
              <a:t>Answer: a</a:t>
            </a:r>
            <a:br>
              <a:rPr lang="en-US" dirty="0"/>
            </a:br>
            <a:r>
              <a:rPr lang="en-US" dirty="0">
                <a:solidFill>
                  <a:srgbClr val="555555"/>
                </a:solidFill>
                <a:latin typeface="Arial" panose="020B0604020202020204" pitchFamily="34" charset="0"/>
              </a:rPr>
              <a:t>Explanation: Not Required (-: </a:t>
            </a:r>
            <a:endParaRPr lang="en-US" dirty="0"/>
          </a:p>
        </p:txBody>
      </p:sp>
      <p:sp>
        <p:nvSpPr>
          <p:cNvPr id="5" name="Content Placeholder 2"/>
          <p:cNvSpPr txBox="1">
            <a:spLocks/>
          </p:cNvSpPr>
          <p:nvPr/>
        </p:nvSpPr>
        <p:spPr>
          <a:xfrm>
            <a:off x="5757863" y="1371600"/>
            <a:ext cx="6157911" cy="2757488"/>
          </a:xfrm>
          <a:prstGeom prst="rect">
            <a:avLst/>
          </a:prstGeom>
        </p:spPr>
        <p:txBody>
          <a:bodyPr vert="horz" lIns="0" tIns="45720" rIns="0" bIns="45720" rtlCol="0">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spcBef>
                <a:spcPts val="0"/>
              </a:spcBef>
              <a:buNone/>
            </a:pPr>
            <a:r>
              <a:rPr lang="en-US" sz="1800" dirty="0"/>
              <a:t> Which keyword is used by method to refer to the object that invoked it?</a:t>
            </a:r>
          </a:p>
          <a:p>
            <a:pPr marL="0" indent="0">
              <a:lnSpc>
                <a:spcPct val="100000"/>
              </a:lnSpc>
              <a:spcBef>
                <a:spcPts val="0"/>
              </a:spcBef>
              <a:buNone/>
            </a:pPr>
            <a:br>
              <a:rPr lang="en-US" sz="1800" dirty="0"/>
            </a:br>
            <a:r>
              <a:rPr lang="en-US" sz="1800" dirty="0"/>
              <a:t>a) import</a:t>
            </a:r>
            <a:br>
              <a:rPr lang="en-US" sz="1800" dirty="0"/>
            </a:br>
            <a:r>
              <a:rPr lang="en-US" sz="1800" dirty="0"/>
              <a:t>b) catch</a:t>
            </a:r>
            <a:br>
              <a:rPr lang="en-US" sz="1800" dirty="0"/>
            </a:br>
            <a:r>
              <a:rPr lang="en-US" sz="1800" dirty="0"/>
              <a:t>c) abstract</a:t>
            </a:r>
            <a:br>
              <a:rPr lang="en-US" sz="1800" dirty="0"/>
            </a:br>
            <a:r>
              <a:rPr lang="en-US" sz="1800" dirty="0"/>
              <a:t>d) this</a:t>
            </a:r>
            <a:endParaRPr lang="en-US" sz="1800" dirty="0">
              <a:latin typeface="Corbel" panose="020B0503020204020204" pitchFamily="34" charset="0"/>
            </a:endParaRPr>
          </a:p>
        </p:txBody>
      </p:sp>
      <p:sp>
        <p:nvSpPr>
          <p:cNvPr id="6" name="Rectangle 5"/>
          <p:cNvSpPr/>
          <p:nvPr/>
        </p:nvSpPr>
        <p:spPr>
          <a:xfrm>
            <a:off x="5605462" y="4871949"/>
            <a:ext cx="4667250" cy="646331"/>
          </a:xfrm>
          <a:prstGeom prst="rect">
            <a:avLst/>
          </a:prstGeom>
        </p:spPr>
        <p:txBody>
          <a:bodyPr wrap="square">
            <a:spAutoFit/>
          </a:bodyPr>
          <a:lstStyle/>
          <a:p>
            <a:r>
              <a:rPr lang="en-US" dirty="0">
                <a:solidFill>
                  <a:srgbClr val="555555"/>
                </a:solidFill>
                <a:latin typeface="Arial" panose="020B0604020202020204" pitchFamily="34" charset="0"/>
              </a:rPr>
              <a:t>Answer: d</a:t>
            </a:r>
            <a:br>
              <a:rPr lang="en-US" dirty="0"/>
            </a:br>
            <a:r>
              <a:rPr lang="en-US" dirty="0">
                <a:solidFill>
                  <a:srgbClr val="555555"/>
                </a:solidFill>
                <a:latin typeface="Arial" panose="020B0604020202020204" pitchFamily="34" charset="0"/>
              </a:rPr>
              <a:t>Explanation: Not Required (-: </a:t>
            </a:r>
            <a:endParaRPr lang="en-US" dirty="0"/>
          </a:p>
        </p:txBody>
      </p:sp>
    </p:spTree>
    <p:extLst>
      <p:ext uri="{BB962C8B-B14F-4D97-AF65-F5344CB8AC3E}">
        <p14:creationId xmlns:p14="http://schemas.microsoft.com/office/powerpoint/2010/main" val="525082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 What is the O/P?</a:t>
            </a:r>
          </a:p>
        </p:txBody>
      </p:sp>
      <p:sp>
        <p:nvSpPr>
          <p:cNvPr id="4" name="Rectangle 3"/>
          <p:cNvSpPr/>
          <p:nvPr/>
        </p:nvSpPr>
        <p:spPr>
          <a:xfrm>
            <a:off x="904875" y="6000662"/>
            <a:ext cx="5181600" cy="923330"/>
          </a:xfrm>
          <a:prstGeom prst="rect">
            <a:avLst/>
          </a:prstGeom>
        </p:spPr>
        <p:txBody>
          <a:bodyPr wrap="square">
            <a:spAutoFit/>
          </a:bodyPr>
          <a:lstStyle/>
          <a:p>
            <a:r>
              <a:rPr lang="en-US" dirty="0"/>
              <a:t>Answer: Compile time error</a:t>
            </a:r>
            <a:br>
              <a:rPr lang="en-US" dirty="0"/>
            </a:br>
            <a:r>
              <a:rPr lang="en-US" dirty="0"/>
              <a:t>Explanation: Automatic promotion is confusing here..</a:t>
            </a:r>
          </a:p>
        </p:txBody>
      </p:sp>
      <p:sp>
        <p:nvSpPr>
          <p:cNvPr id="6" name="Rectangle 5"/>
          <p:cNvSpPr/>
          <p:nvPr/>
        </p:nvSpPr>
        <p:spPr>
          <a:xfrm>
            <a:off x="6781798" y="5887611"/>
            <a:ext cx="5219701" cy="646331"/>
          </a:xfrm>
          <a:prstGeom prst="rect">
            <a:avLst/>
          </a:prstGeom>
        </p:spPr>
        <p:txBody>
          <a:bodyPr wrap="square">
            <a:spAutoFit/>
          </a:bodyPr>
          <a:lstStyle/>
          <a:p>
            <a:r>
              <a:rPr lang="en-US" dirty="0">
                <a:solidFill>
                  <a:srgbClr val="555555"/>
                </a:solidFill>
                <a:latin typeface="Arial" panose="020B0604020202020204" pitchFamily="34" charset="0"/>
              </a:rPr>
              <a:t>Answer: </a:t>
            </a:r>
            <a:r>
              <a:rPr lang="en-US" dirty="0"/>
              <a:t>d</a:t>
            </a:r>
            <a:br>
              <a:rPr lang="en-US" dirty="0"/>
            </a:br>
            <a:r>
              <a:rPr lang="en-US" dirty="0">
                <a:solidFill>
                  <a:srgbClr val="555555"/>
                </a:solidFill>
                <a:latin typeface="Arial" panose="020B0604020202020204" pitchFamily="34" charset="0"/>
              </a:rPr>
              <a:t>Explanation: GC is called internally by the JVM</a:t>
            </a:r>
            <a:endParaRPr lang="en-US" dirty="0"/>
          </a:p>
        </p:txBody>
      </p:sp>
      <p:pic>
        <p:nvPicPr>
          <p:cNvPr id="9" name="Content Placeholder 8"/>
          <p:cNvPicPr>
            <a:picLocks noGrp="1" noChangeAspect="1"/>
          </p:cNvPicPr>
          <p:nvPr>
            <p:ph idx="1"/>
          </p:nvPr>
        </p:nvPicPr>
        <p:blipFill>
          <a:blip r:embed="rId2"/>
          <a:stretch>
            <a:fillRect/>
          </a:stretch>
        </p:blipFill>
        <p:spPr>
          <a:xfrm>
            <a:off x="904875" y="1385885"/>
            <a:ext cx="4267200" cy="4329953"/>
          </a:xfrm>
          <a:prstGeom prst="rect">
            <a:avLst/>
          </a:prstGeom>
        </p:spPr>
      </p:pic>
      <p:sp>
        <p:nvSpPr>
          <p:cNvPr id="10" name="Rectangle 9"/>
          <p:cNvSpPr/>
          <p:nvPr/>
        </p:nvSpPr>
        <p:spPr>
          <a:xfrm>
            <a:off x="5548313" y="1457986"/>
            <a:ext cx="6096000" cy="2308324"/>
          </a:xfrm>
          <a:prstGeom prst="rect">
            <a:avLst/>
          </a:prstGeom>
        </p:spPr>
        <p:txBody>
          <a:bodyPr>
            <a:spAutoFit/>
          </a:bodyPr>
          <a:lstStyle/>
          <a:p>
            <a:r>
              <a:rPr lang="en-US" dirty="0">
                <a:solidFill>
                  <a:srgbClr val="555555"/>
                </a:solidFill>
                <a:latin typeface="Arial" panose="020B0604020202020204" pitchFamily="34" charset="0"/>
              </a:rPr>
              <a:t>Which operator is used by Java run time implementations to free the memory of an object when it is no longer needed?</a:t>
            </a:r>
          </a:p>
          <a:p>
            <a:br>
              <a:rPr lang="en-US" dirty="0"/>
            </a:br>
            <a:r>
              <a:rPr lang="en-US" dirty="0">
                <a:solidFill>
                  <a:srgbClr val="555555"/>
                </a:solidFill>
                <a:latin typeface="Arial" panose="020B0604020202020204" pitchFamily="34" charset="0"/>
              </a:rPr>
              <a:t>a) delete</a:t>
            </a:r>
            <a:br>
              <a:rPr lang="en-US" dirty="0"/>
            </a:br>
            <a:r>
              <a:rPr lang="en-US" dirty="0">
                <a:solidFill>
                  <a:srgbClr val="555555"/>
                </a:solidFill>
                <a:latin typeface="Arial" panose="020B0604020202020204" pitchFamily="34" charset="0"/>
              </a:rPr>
              <a:t>b) free</a:t>
            </a:r>
            <a:br>
              <a:rPr lang="en-US" dirty="0"/>
            </a:br>
            <a:r>
              <a:rPr lang="en-US" dirty="0">
                <a:solidFill>
                  <a:srgbClr val="555555"/>
                </a:solidFill>
                <a:latin typeface="Arial" panose="020B0604020202020204" pitchFamily="34" charset="0"/>
              </a:rPr>
              <a:t>c) new</a:t>
            </a:r>
            <a:br>
              <a:rPr lang="en-US" dirty="0"/>
            </a:br>
            <a:r>
              <a:rPr lang="en-US" dirty="0">
                <a:solidFill>
                  <a:srgbClr val="555555"/>
                </a:solidFill>
                <a:latin typeface="Arial" panose="020B0604020202020204" pitchFamily="34" charset="0"/>
              </a:rPr>
              <a:t>d) None of the mentioned</a:t>
            </a:r>
            <a:endParaRPr lang="en-US" dirty="0"/>
          </a:p>
        </p:txBody>
      </p:sp>
    </p:spTree>
    <p:extLst>
      <p:ext uri="{BB962C8B-B14F-4D97-AF65-F5344CB8AC3E}">
        <p14:creationId xmlns:p14="http://schemas.microsoft.com/office/powerpoint/2010/main" val="3771064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899" y="2971806"/>
            <a:ext cx="6099465" cy="1684150"/>
          </a:xfrm>
        </p:spPr>
        <p:txBody>
          <a:bodyPr/>
          <a:lstStyle/>
          <a:p>
            <a:r>
              <a:rPr lang="en-US" dirty="0"/>
              <a:t>Java-Arrays</a:t>
            </a:r>
          </a:p>
        </p:txBody>
      </p:sp>
      <p:sp>
        <p:nvSpPr>
          <p:cNvPr id="3" name="Text Placeholder 2"/>
          <p:cNvSpPr>
            <a:spLocks noGrp="1"/>
          </p:cNvSpPr>
          <p:nvPr>
            <p:ph type="body" idx="1"/>
          </p:nvPr>
        </p:nvSpPr>
        <p:spPr/>
        <p:txBody>
          <a:bodyPr/>
          <a:lstStyle/>
          <a:p>
            <a:r>
              <a:rPr lang="en-US" dirty="0"/>
              <a:t>Birds of a feather flock together!</a:t>
            </a:r>
          </a:p>
        </p:txBody>
      </p:sp>
      <p:pic>
        <p:nvPicPr>
          <p:cNvPr id="5" name="Picture 4">
            <a:extLst>
              <a:ext uri="{FF2B5EF4-FFF2-40B4-BE49-F238E27FC236}">
                <a16:creationId xmlns:a16="http://schemas.microsoft.com/office/drawing/2014/main" id="{9D414B8D-E299-4B77-B1CE-36463A3867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5574" y="1393030"/>
            <a:ext cx="5610225" cy="4207669"/>
          </a:xfrm>
          <a:prstGeom prst="rect">
            <a:avLst/>
          </a:prstGeom>
        </p:spPr>
      </p:pic>
    </p:spTree>
    <p:extLst>
      <p:ext uri="{BB962C8B-B14F-4D97-AF65-F5344CB8AC3E}">
        <p14:creationId xmlns:p14="http://schemas.microsoft.com/office/powerpoint/2010/main" val="1936288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Revisited - Introduction.</a:t>
            </a:r>
          </a:p>
        </p:txBody>
      </p:sp>
      <p:sp>
        <p:nvSpPr>
          <p:cNvPr id="3" name="Content Placeholder 2"/>
          <p:cNvSpPr>
            <a:spLocks noGrp="1"/>
          </p:cNvSpPr>
          <p:nvPr>
            <p:ph idx="1"/>
          </p:nvPr>
        </p:nvSpPr>
        <p:spPr/>
        <p:txBody>
          <a:bodyPr>
            <a:noAutofit/>
          </a:bodyPr>
          <a:lstStyle/>
          <a:p>
            <a:r>
              <a:rPr lang="en-US" dirty="0">
                <a:latin typeface="Corbel" panose="020B0503020204020204" pitchFamily="34" charset="0"/>
              </a:rPr>
              <a:t>Java provides a data structure, the </a:t>
            </a:r>
            <a:r>
              <a:rPr lang="en-US" b="1" dirty="0">
                <a:latin typeface="Corbel" panose="020B0503020204020204" pitchFamily="34" charset="0"/>
              </a:rPr>
              <a:t>array</a:t>
            </a:r>
            <a:r>
              <a:rPr lang="en-US" dirty="0">
                <a:latin typeface="Corbel" panose="020B0503020204020204" pitchFamily="34" charset="0"/>
              </a:rPr>
              <a:t>, which stores a fixed-size sequential collection of elements of the same type. </a:t>
            </a:r>
          </a:p>
          <a:p>
            <a:r>
              <a:rPr lang="en-US" dirty="0">
                <a:latin typeface="Corbel" panose="020B0503020204020204" pitchFamily="34" charset="0"/>
              </a:rPr>
              <a:t>An </a:t>
            </a:r>
            <a:r>
              <a:rPr lang="en-US" i="1" dirty="0">
                <a:latin typeface="Corbel" panose="020B0503020204020204" pitchFamily="34" charset="0"/>
              </a:rPr>
              <a:t>array </a:t>
            </a:r>
            <a:r>
              <a:rPr lang="en-US" dirty="0">
                <a:latin typeface="Corbel" panose="020B0503020204020204" pitchFamily="34" charset="0"/>
              </a:rPr>
              <a:t>is a group of like-typed variables that are referred to by a common name. </a:t>
            </a:r>
          </a:p>
          <a:p>
            <a:r>
              <a:rPr lang="en-US" dirty="0">
                <a:latin typeface="Corbel" panose="020B0503020204020204" pitchFamily="34" charset="0"/>
              </a:rPr>
              <a:t>Arrays of any type can be created and may have one or more dimensions. </a:t>
            </a:r>
          </a:p>
          <a:p>
            <a:r>
              <a:rPr lang="en-US" dirty="0">
                <a:latin typeface="Corbel" panose="020B0503020204020204" pitchFamily="34" charset="0"/>
              </a:rPr>
              <a:t>A specific element in an array is accessed by its index. </a:t>
            </a:r>
          </a:p>
          <a:p>
            <a:r>
              <a:rPr lang="en-US" dirty="0">
                <a:latin typeface="Corbel" panose="020B0503020204020204" pitchFamily="34" charset="0"/>
              </a:rPr>
              <a:t>Arrays offer a convenient means of grouping related information.</a:t>
            </a:r>
          </a:p>
          <a:p>
            <a:r>
              <a:rPr lang="en-US" dirty="0">
                <a:latin typeface="Corbel" panose="020B0503020204020204" pitchFamily="34" charset="0"/>
              </a:rPr>
              <a:t>A </a:t>
            </a:r>
            <a:r>
              <a:rPr lang="en-US" i="1" dirty="0">
                <a:latin typeface="Corbel" panose="020B0503020204020204" pitchFamily="34" charset="0"/>
              </a:rPr>
              <a:t>one-dimensional array </a:t>
            </a:r>
            <a:r>
              <a:rPr lang="en-US" dirty="0">
                <a:latin typeface="Corbel" panose="020B0503020204020204" pitchFamily="34" charset="0"/>
              </a:rPr>
              <a:t>is, essentially, a list of like-typed variables. To create an array, you first must create an array variable of the desired type. The general form of a one-dimensional array declaration is</a:t>
            </a:r>
          </a:p>
          <a:p>
            <a:pPr lvl="1"/>
            <a:r>
              <a:rPr lang="en-US" sz="2000" b="1" i="1" u="sng" dirty="0">
                <a:latin typeface="Corbel" panose="020B0503020204020204" pitchFamily="34" charset="0"/>
              </a:rPr>
              <a:t>type </a:t>
            </a:r>
            <a:r>
              <a:rPr lang="en-US" sz="2000" b="1" i="1" u="sng" dirty="0" err="1">
                <a:latin typeface="Corbel" panose="020B0503020204020204" pitchFamily="34" charset="0"/>
              </a:rPr>
              <a:t>var</a:t>
            </a:r>
            <a:r>
              <a:rPr lang="en-US" sz="2000" b="1" i="1" u="sng" dirty="0">
                <a:latin typeface="Corbel" panose="020B0503020204020204" pitchFamily="34" charset="0"/>
              </a:rPr>
              <a:t>-name</a:t>
            </a:r>
            <a:r>
              <a:rPr lang="en-US" sz="2000" b="1" u="sng" dirty="0">
                <a:latin typeface="Corbel" panose="020B0503020204020204" pitchFamily="34" charset="0"/>
              </a:rPr>
              <a:t>[ ]; (OR)</a:t>
            </a:r>
          </a:p>
          <a:p>
            <a:pPr lvl="1"/>
            <a:r>
              <a:rPr lang="en-US" sz="2000" b="1" u="sng" dirty="0">
                <a:latin typeface="Corbel" panose="020B0503020204020204" pitchFamily="34" charset="0"/>
              </a:rPr>
              <a:t>Type[] </a:t>
            </a:r>
            <a:r>
              <a:rPr lang="en-US" sz="2000" b="1" u="sng" dirty="0" err="1">
                <a:latin typeface="Corbel" panose="020B0503020204020204" pitchFamily="34" charset="0"/>
              </a:rPr>
              <a:t>var</a:t>
            </a:r>
            <a:r>
              <a:rPr lang="en-US" sz="2000" b="1" u="sng" dirty="0">
                <a:latin typeface="Corbel" panose="020B0503020204020204" pitchFamily="34" charset="0"/>
              </a:rPr>
              <a:t>-name;</a:t>
            </a:r>
          </a:p>
        </p:txBody>
      </p:sp>
    </p:spTree>
    <p:extLst>
      <p:ext uri="{BB962C8B-B14F-4D97-AF65-F5344CB8AC3E}">
        <p14:creationId xmlns:p14="http://schemas.microsoft.com/office/powerpoint/2010/main" val="449391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Revisited – Assigning &amp; Instantiation.</a:t>
            </a:r>
          </a:p>
        </p:txBody>
      </p:sp>
      <p:sp>
        <p:nvSpPr>
          <p:cNvPr id="3" name="Content Placeholder 2"/>
          <p:cNvSpPr>
            <a:spLocks noGrp="1"/>
          </p:cNvSpPr>
          <p:nvPr>
            <p:ph idx="1"/>
          </p:nvPr>
        </p:nvSpPr>
        <p:spPr>
          <a:xfrm>
            <a:off x="390525" y="1358784"/>
            <a:ext cx="6053138" cy="5499216"/>
          </a:xfrm>
        </p:spPr>
        <p:txBody>
          <a:bodyPr>
            <a:noAutofit/>
          </a:bodyPr>
          <a:lstStyle/>
          <a:p>
            <a:r>
              <a:rPr lang="en-US" sz="1800" b="1" dirty="0">
                <a:solidFill>
                  <a:srgbClr val="7030A0"/>
                </a:solidFill>
                <a:latin typeface="Corbel" panose="020B0503020204020204" pitchFamily="34" charset="0"/>
              </a:rPr>
              <a:t>Although the above first declaration establishes the fact that </a:t>
            </a:r>
            <a:r>
              <a:rPr lang="en-US" sz="1800" b="1" dirty="0" err="1">
                <a:solidFill>
                  <a:srgbClr val="7030A0"/>
                </a:solidFill>
                <a:latin typeface="Corbel" panose="020B0503020204020204" pitchFamily="34" charset="0"/>
              </a:rPr>
              <a:t>intArray</a:t>
            </a:r>
            <a:r>
              <a:rPr lang="en-US" sz="1800" b="1" dirty="0">
                <a:solidFill>
                  <a:srgbClr val="7030A0"/>
                </a:solidFill>
                <a:latin typeface="Corbel" panose="020B0503020204020204" pitchFamily="34" charset="0"/>
              </a:rPr>
              <a:t> is an array variable, no array actually exists</a:t>
            </a:r>
            <a:r>
              <a:rPr lang="en-US" sz="1800" dirty="0">
                <a:latin typeface="Corbel" panose="020B0503020204020204" pitchFamily="34" charset="0"/>
              </a:rPr>
              <a:t>. </a:t>
            </a:r>
          </a:p>
          <a:p>
            <a:r>
              <a:rPr lang="en-US" sz="1800" dirty="0">
                <a:latin typeface="Corbel" panose="020B0503020204020204" pitchFamily="34" charset="0"/>
              </a:rPr>
              <a:t>It simply tells to the compiler that </a:t>
            </a:r>
            <a:r>
              <a:rPr lang="en-US" sz="1800" b="1" u="sng" dirty="0">
                <a:latin typeface="Corbel" panose="020B0503020204020204" pitchFamily="34" charset="0"/>
              </a:rPr>
              <a:t>this(</a:t>
            </a:r>
            <a:r>
              <a:rPr lang="en-US" sz="1800" b="1" u="sng" dirty="0" err="1">
                <a:latin typeface="Corbel" panose="020B0503020204020204" pitchFamily="34" charset="0"/>
              </a:rPr>
              <a:t>intArray</a:t>
            </a:r>
            <a:r>
              <a:rPr lang="en-US" sz="1800" b="1" u="sng" dirty="0">
                <a:latin typeface="Corbel" panose="020B0503020204020204" pitchFamily="34" charset="0"/>
              </a:rPr>
              <a:t>) variable </a:t>
            </a:r>
            <a:r>
              <a:rPr lang="en-US" sz="1800" dirty="0">
                <a:latin typeface="Corbel" panose="020B0503020204020204" pitchFamily="34" charset="0"/>
              </a:rPr>
              <a:t>will </a:t>
            </a:r>
            <a:r>
              <a:rPr lang="en-US" sz="1800" b="1" u="sng" dirty="0">
                <a:latin typeface="Corbel" panose="020B0503020204020204" pitchFamily="34" charset="0"/>
              </a:rPr>
              <a:t>hold an array of the integer type</a:t>
            </a:r>
            <a:r>
              <a:rPr lang="en-US" sz="1800" dirty="0">
                <a:latin typeface="Corbel" panose="020B0503020204020204" pitchFamily="34" charset="0"/>
              </a:rPr>
              <a:t>. </a:t>
            </a:r>
          </a:p>
          <a:p>
            <a:r>
              <a:rPr lang="en-US" sz="1800" dirty="0">
                <a:latin typeface="Corbel" panose="020B0503020204020204" pitchFamily="34" charset="0"/>
              </a:rPr>
              <a:t>To link </a:t>
            </a:r>
            <a:r>
              <a:rPr lang="en-US" sz="1800" dirty="0" err="1">
                <a:latin typeface="Corbel" panose="020B0503020204020204" pitchFamily="34" charset="0"/>
              </a:rPr>
              <a:t>intArray</a:t>
            </a:r>
            <a:r>
              <a:rPr lang="en-US" sz="1800" dirty="0">
                <a:latin typeface="Corbel" panose="020B0503020204020204" pitchFamily="34" charset="0"/>
              </a:rPr>
              <a:t> with an actual, physical array of integers, you must </a:t>
            </a:r>
            <a:r>
              <a:rPr lang="en-US" sz="1800" b="1" u="sng" dirty="0">
                <a:latin typeface="Corbel" panose="020B0503020204020204" pitchFamily="34" charset="0"/>
              </a:rPr>
              <a:t>allocate one using new and assign it to </a:t>
            </a:r>
            <a:r>
              <a:rPr lang="en-US" sz="1800" b="1" u="sng" dirty="0" err="1">
                <a:latin typeface="Corbel" panose="020B0503020204020204" pitchFamily="34" charset="0"/>
              </a:rPr>
              <a:t>intArray</a:t>
            </a:r>
            <a:r>
              <a:rPr lang="en-US" sz="1800" dirty="0">
                <a:latin typeface="Corbel" panose="020B0503020204020204" pitchFamily="34" charset="0"/>
              </a:rPr>
              <a:t>.</a:t>
            </a:r>
          </a:p>
          <a:p>
            <a:r>
              <a:rPr lang="en-US" sz="1800" dirty="0">
                <a:latin typeface="Corbel" panose="020B0503020204020204" pitchFamily="34" charset="0"/>
              </a:rPr>
              <a:t>When an array is declared, only a reference of array is created. </a:t>
            </a:r>
          </a:p>
          <a:p>
            <a:r>
              <a:rPr lang="en-US" sz="1800" dirty="0">
                <a:latin typeface="Corbel" panose="020B0503020204020204" pitchFamily="34" charset="0"/>
              </a:rPr>
              <a:t>To actually create or give memory to array, you create an array like this: </a:t>
            </a:r>
            <a:r>
              <a:rPr lang="en-US" sz="1800" b="1" i="1" dirty="0" err="1">
                <a:latin typeface="Corbel" panose="020B0503020204020204" pitchFamily="34" charset="0"/>
              </a:rPr>
              <a:t>var</a:t>
            </a:r>
            <a:r>
              <a:rPr lang="en-US" sz="1800" b="1" i="1" dirty="0">
                <a:latin typeface="Corbel" panose="020B0503020204020204" pitchFamily="34" charset="0"/>
              </a:rPr>
              <a:t>-name = new type [size];</a:t>
            </a:r>
          </a:p>
          <a:p>
            <a:pPr marL="0">
              <a:lnSpc>
                <a:spcPct val="100000"/>
              </a:lnSpc>
              <a:spcBef>
                <a:spcPts val="0"/>
              </a:spcBef>
            </a:pPr>
            <a:endParaRPr lang="en-US" sz="1800" dirty="0">
              <a:latin typeface="Corbel" panose="020B0503020204020204" pitchFamily="34" charset="0"/>
            </a:endParaRPr>
          </a:p>
          <a:p>
            <a:pPr marL="0">
              <a:lnSpc>
                <a:spcPct val="100000"/>
              </a:lnSpc>
              <a:spcBef>
                <a:spcPts val="0"/>
              </a:spcBef>
            </a:pPr>
            <a:r>
              <a:rPr lang="en-US" sz="1800" dirty="0" err="1">
                <a:latin typeface="Corbel" panose="020B0503020204020204" pitchFamily="34" charset="0"/>
              </a:rPr>
              <a:t>int</a:t>
            </a:r>
            <a:r>
              <a:rPr lang="en-US" sz="1800" dirty="0">
                <a:latin typeface="Corbel" panose="020B0503020204020204" pitchFamily="34" charset="0"/>
              </a:rPr>
              <a:t> </a:t>
            </a:r>
            <a:r>
              <a:rPr lang="en-US" sz="1800" dirty="0" err="1">
                <a:latin typeface="Corbel" panose="020B0503020204020204" pitchFamily="34" charset="0"/>
              </a:rPr>
              <a:t>intArray</a:t>
            </a:r>
            <a:r>
              <a:rPr lang="en-US" sz="1800" dirty="0">
                <a:latin typeface="Corbel" panose="020B0503020204020204" pitchFamily="34" charset="0"/>
              </a:rPr>
              <a:t>[]; //declaring array </a:t>
            </a:r>
          </a:p>
          <a:p>
            <a:pPr marL="0">
              <a:lnSpc>
                <a:spcPct val="100000"/>
              </a:lnSpc>
              <a:spcBef>
                <a:spcPts val="0"/>
              </a:spcBef>
            </a:pPr>
            <a:r>
              <a:rPr lang="en-US" sz="1800" dirty="0" err="1">
                <a:latin typeface="Corbel" panose="020B0503020204020204" pitchFamily="34" charset="0"/>
              </a:rPr>
              <a:t>intArray</a:t>
            </a:r>
            <a:r>
              <a:rPr lang="en-US" sz="1800" dirty="0">
                <a:latin typeface="Corbel" panose="020B0503020204020204" pitchFamily="34" charset="0"/>
              </a:rPr>
              <a:t> = new </a:t>
            </a:r>
            <a:r>
              <a:rPr lang="en-US" sz="1800" dirty="0" err="1">
                <a:latin typeface="Corbel" panose="020B0503020204020204" pitchFamily="34" charset="0"/>
              </a:rPr>
              <a:t>int</a:t>
            </a:r>
            <a:r>
              <a:rPr lang="en-US" sz="1800" dirty="0">
                <a:latin typeface="Corbel" panose="020B0503020204020204" pitchFamily="34" charset="0"/>
              </a:rPr>
              <a:t>[20]; // allocating memory to array </a:t>
            </a:r>
          </a:p>
          <a:p>
            <a:pPr marL="1371600" lvl="3" indent="0">
              <a:buNone/>
            </a:pPr>
            <a:r>
              <a:rPr lang="en-US" sz="1200" dirty="0">
                <a:latin typeface="Corbel" panose="020B0503020204020204" pitchFamily="34" charset="0"/>
              </a:rPr>
              <a:t>	</a:t>
            </a:r>
            <a:r>
              <a:rPr lang="en-US" sz="1800" b="1" dirty="0">
                <a:latin typeface="Corbel" panose="020B0503020204020204" pitchFamily="34" charset="0"/>
              </a:rPr>
              <a:t>(OR)</a:t>
            </a:r>
          </a:p>
          <a:p>
            <a:pPr marL="0" indent="0">
              <a:buNone/>
            </a:pPr>
            <a:r>
              <a:rPr lang="en-US" sz="2400" b="1" dirty="0" err="1">
                <a:latin typeface="Corbel" panose="020B0503020204020204" pitchFamily="34" charset="0"/>
              </a:rPr>
              <a:t>Int</a:t>
            </a:r>
            <a:r>
              <a:rPr lang="en-US" sz="2400" b="1" dirty="0">
                <a:latin typeface="Corbel" panose="020B0503020204020204" pitchFamily="34" charset="0"/>
              </a:rPr>
              <a:t>[] </a:t>
            </a:r>
            <a:r>
              <a:rPr lang="en-US" sz="2400" b="1" dirty="0" err="1">
                <a:latin typeface="Corbel" panose="020B0503020204020204" pitchFamily="34" charset="0"/>
              </a:rPr>
              <a:t>intarray</a:t>
            </a:r>
            <a:r>
              <a:rPr lang="en-US" sz="2400" b="1" dirty="0">
                <a:latin typeface="Corbel" panose="020B0503020204020204" pitchFamily="34" charset="0"/>
              </a:rPr>
              <a:t> = new </a:t>
            </a:r>
            <a:r>
              <a:rPr lang="en-US" sz="2400" b="1" dirty="0" err="1">
                <a:latin typeface="Corbel" panose="020B0503020204020204" pitchFamily="34" charset="0"/>
              </a:rPr>
              <a:t>int</a:t>
            </a:r>
            <a:r>
              <a:rPr lang="en-US" sz="2400" b="1" dirty="0">
                <a:latin typeface="Corbel" panose="020B0503020204020204" pitchFamily="34" charset="0"/>
              </a:rPr>
              <a:t>[20]</a:t>
            </a:r>
          </a:p>
          <a:p>
            <a:pPr marL="0" indent="0">
              <a:buNone/>
            </a:pPr>
            <a:endParaRPr lang="en-US" sz="2400" b="1" dirty="0">
              <a:latin typeface="Corbel" panose="020B0503020204020204" pitchFamily="34" charset="0"/>
            </a:endParaRPr>
          </a:p>
          <a:p>
            <a:endParaRPr lang="en-US" sz="1800" dirty="0">
              <a:latin typeface="Corbel" panose="020B0503020204020204" pitchFamily="34" charset="0"/>
            </a:endParaRPr>
          </a:p>
        </p:txBody>
      </p:sp>
      <p:pic>
        <p:nvPicPr>
          <p:cNvPr id="4" name="Picture 3"/>
          <p:cNvPicPr>
            <a:picLocks noChangeAspect="1"/>
          </p:cNvPicPr>
          <p:nvPr/>
        </p:nvPicPr>
        <p:blipFill>
          <a:blip r:embed="rId3"/>
          <a:stretch>
            <a:fillRect/>
          </a:stretch>
        </p:blipFill>
        <p:spPr>
          <a:xfrm>
            <a:off x="7005637" y="1358783"/>
            <a:ext cx="4953001" cy="5397385"/>
          </a:xfrm>
          <a:prstGeom prst="rect">
            <a:avLst/>
          </a:prstGeom>
        </p:spPr>
      </p:pic>
    </p:spTree>
    <p:extLst>
      <p:ext uri="{BB962C8B-B14F-4D97-AF65-F5344CB8AC3E}">
        <p14:creationId xmlns:p14="http://schemas.microsoft.com/office/powerpoint/2010/main" val="1010403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Revisited – Assigning &amp; Instantiation.</a:t>
            </a:r>
          </a:p>
        </p:txBody>
      </p:sp>
      <p:sp>
        <p:nvSpPr>
          <p:cNvPr id="3" name="Content Placeholder 2"/>
          <p:cNvSpPr>
            <a:spLocks noGrp="1"/>
          </p:cNvSpPr>
          <p:nvPr>
            <p:ph idx="1"/>
          </p:nvPr>
        </p:nvSpPr>
        <p:spPr>
          <a:xfrm>
            <a:off x="390525" y="1358784"/>
            <a:ext cx="7181850" cy="5499216"/>
          </a:xfrm>
        </p:spPr>
        <p:txBody>
          <a:bodyPr>
            <a:noAutofit/>
          </a:bodyPr>
          <a:lstStyle/>
          <a:p>
            <a:pPr>
              <a:lnSpc>
                <a:spcPct val="150000"/>
              </a:lnSpc>
            </a:pPr>
            <a:r>
              <a:rPr lang="en-US" sz="1800" dirty="0">
                <a:latin typeface="Corbel" panose="020B0503020204020204" pitchFamily="34" charset="0"/>
              </a:rPr>
              <a:t>When </a:t>
            </a:r>
            <a:r>
              <a:rPr lang="en-US" sz="1800" b="1" dirty="0">
                <a:latin typeface="Corbel" panose="020B0503020204020204" pitchFamily="34" charset="0"/>
              </a:rPr>
              <a:t>space for an array is allocated</a:t>
            </a:r>
            <a:r>
              <a:rPr lang="en-US" sz="1800" dirty="0">
                <a:latin typeface="Corbel" panose="020B0503020204020204" pitchFamily="34" charset="0"/>
              </a:rPr>
              <a:t>, the </a:t>
            </a:r>
            <a:r>
              <a:rPr lang="en-US" sz="1800" b="1" dirty="0">
                <a:latin typeface="Corbel" panose="020B0503020204020204" pitchFamily="34" charset="0"/>
              </a:rPr>
              <a:t>array size must be given</a:t>
            </a:r>
            <a:r>
              <a:rPr lang="en-US" sz="1800" dirty="0">
                <a:latin typeface="Corbel" panose="020B0503020204020204" pitchFamily="34" charset="0"/>
              </a:rPr>
              <a:t>, to specify the number of </a:t>
            </a:r>
            <a:r>
              <a:rPr lang="en-US" sz="1800" b="1" dirty="0">
                <a:latin typeface="Corbel" panose="020B0503020204020204" pitchFamily="34" charset="0"/>
              </a:rPr>
              <a:t>elements </a:t>
            </a:r>
            <a:r>
              <a:rPr lang="en-US" sz="1800" dirty="0">
                <a:latin typeface="Corbel" panose="020B0503020204020204" pitchFamily="34" charset="0"/>
              </a:rPr>
              <a:t>that can be stored in it. </a:t>
            </a:r>
          </a:p>
          <a:p>
            <a:pPr>
              <a:lnSpc>
                <a:spcPct val="150000"/>
              </a:lnSpc>
            </a:pPr>
            <a:r>
              <a:rPr lang="en-US" sz="1800" dirty="0">
                <a:latin typeface="Corbel" panose="020B0503020204020204" pitchFamily="34" charset="0"/>
              </a:rPr>
              <a:t>The </a:t>
            </a:r>
            <a:r>
              <a:rPr lang="en-US" sz="1800" b="1" dirty="0">
                <a:latin typeface="Corbel" panose="020B0503020204020204" pitchFamily="34" charset="0"/>
              </a:rPr>
              <a:t>size of an array cannot be changed </a:t>
            </a:r>
            <a:r>
              <a:rPr lang="en-US" sz="1800" dirty="0">
                <a:latin typeface="Corbel" panose="020B0503020204020204" pitchFamily="34" charset="0"/>
              </a:rPr>
              <a:t>after the </a:t>
            </a:r>
            <a:r>
              <a:rPr lang="en-US" sz="1800" b="1" dirty="0">
                <a:latin typeface="Corbel" panose="020B0503020204020204" pitchFamily="34" charset="0"/>
              </a:rPr>
              <a:t>array is created</a:t>
            </a:r>
            <a:r>
              <a:rPr lang="en-US" sz="1800" dirty="0">
                <a:latin typeface="Corbel" panose="020B0503020204020204" pitchFamily="34" charset="0"/>
              </a:rPr>
              <a:t>. Size can be obtained using </a:t>
            </a:r>
            <a:r>
              <a:rPr lang="en-US" sz="1800" b="1" dirty="0" err="1">
                <a:latin typeface="Corbel" panose="020B0503020204020204" pitchFamily="34" charset="0"/>
              </a:rPr>
              <a:t>arrayRefVar.length</a:t>
            </a:r>
            <a:r>
              <a:rPr lang="en-US" sz="1800" dirty="0">
                <a:latin typeface="Corbel" panose="020B0503020204020204" pitchFamily="34" charset="0"/>
              </a:rPr>
              <a:t>. For example, </a:t>
            </a:r>
            <a:r>
              <a:rPr lang="en-US" sz="1800" b="1" u="sng" dirty="0" err="1">
                <a:solidFill>
                  <a:srgbClr val="7030A0"/>
                </a:solidFill>
                <a:latin typeface="Corbel" panose="020B0503020204020204" pitchFamily="34" charset="0"/>
              </a:rPr>
              <a:t>intarray.length</a:t>
            </a:r>
            <a:r>
              <a:rPr lang="en-US" sz="1800" b="1" u="sng" dirty="0">
                <a:solidFill>
                  <a:srgbClr val="7030A0"/>
                </a:solidFill>
                <a:latin typeface="Corbel" panose="020B0503020204020204" pitchFamily="34" charset="0"/>
              </a:rPr>
              <a:t> </a:t>
            </a:r>
            <a:r>
              <a:rPr lang="en-US" sz="1800" dirty="0">
                <a:latin typeface="Corbel" panose="020B0503020204020204" pitchFamily="34" charset="0"/>
              </a:rPr>
              <a:t>is 20.</a:t>
            </a:r>
          </a:p>
          <a:p>
            <a:pPr>
              <a:lnSpc>
                <a:spcPct val="150000"/>
              </a:lnSpc>
            </a:pPr>
            <a:r>
              <a:rPr lang="en-US" sz="1800" dirty="0">
                <a:latin typeface="Corbel" panose="020B0503020204020204" pitchFamily="34" charset="0"/>
              </a:rPr>
              <a:t>When an array is created, its elements are assigned the </a:t>
            </a:r>
            <a:r>
              <a:rPr lang="en-US" sz="1800" b="1" dirty="0">
                <a:latin typeface="Corbel" panose="020B0503020204020204" pitchFamily="34" charset="0"/>
              </a:rPr>
              <a:t>default value of 0 for the numeric </a:t>
            </a:r>
            <a:r>
              <a:rPr lang="en-US" sz="1800" dirty="0">
                <a:latin typeface="Corbel" panose="020B0503020204020204" pitchFamily="34" charset="0"/>
              </a:rPr>
              <a:t>primitive data types, '</a:t>
            </a:r>
            <a:r>
              <a:rPr lang="en-US" sz="1800" b="1" dirty="0">
                <a:latin typeface="Corbel" panose="020B0503020204020204" pitchFamily="34" charset="0"/>
              </a:rPr>
              <a:t>\u0000' for char types</a:t>
            </a:r>
            <a:r>
              <a:rPr lang="en-US" sz="1800" dirty="0">
                <a:latin typeface="Corbel" panose="020B0503020204020204" pitchFamily="34" charset="0"/>
              </a:rPr>
              <a:t>, and </a:t>
            </a:r>
            <a:r>
              <a:rPr lang="en-US" sz="1800" b="1" dirty="0">
                <a:latin typeface="Corbel" panose="020B0503020204020204" pitchFamily="34" charset="0"/>
              </a:rPr>
              <a:t>false for Boolean types</a:t>
            </a:r>
            <a:r>
              <a:rPr lang="en-US" sz="1800" dirty="0">
                <a:latin typeface="Corbel" panose="020B0503020204020204" pitchFamily="34" charset="0"/>
              </a:rPr>
              <a:t>.</a:t>
            </a:r>
          </a:p>
          <a:p>
            <a:r>
              <a:rPr lang="en-US" sz="1800" dirty="0">
                <a:latin typeface="Corbel" panose="020B0503020204020204" pitchFamily="34" charset="0"/>
              </a:rPr>
              <a:t>The </a:t>
            </a:r>
            <a:r>
              <a:rPr lang="en-US" sz="1800" b="1" dirty="0">
                <a:latin typeface="Corbel" panose="020B0503020204020204" pitchFamily="34" charset="0"/>
              </a:rPr>
              <a:t>array elements </a:t>
            </a:r>
            <a:r>
              <a:rPr lang="en-US" sz="1800" dirty="0">
                <a:latin typeface="Corbel" panose="020B0503020204020204" pitchFamily="34" charset="0"/>
              </a:rPr>
              <a:t>are </a:t>
            </a:r>
            <a:r>
              <a:rPr lang="en-US" sz="1800" b="1" dirty="0">
                <a:latin typeface="Corbel" panose="020B0503020204020204" pitchFamily="34" charset="0"/>
              </a:rPr>
              <a:t>accessed through the index</a:t>
            </a:r>
            <a:r>
              <a:rPr lang="en-US" sz="1800" dirty="0">
                <a:latin typeface="Corbel" panose="020B0503020204020204" pitchFamily="34" charset="0"/>
              </a:rPr>
              <a:t>. Array indices are </a:t>
            </a:r>
            <a:r>
              <a:rPr lang="en-US" sz="1800" b="1" dirty="0">
                <a:latin typeface="Corbel" panose="020B0503020204020204" pitchFamily="34" charset="0"/>
              </a:rPr>
              <a:t>0-based</a:t>
            </a:r>
            <a:r>
              <a:rPr lang="en-US" sz="1800" dirty="0">
                <a:latin typeface="Corbel" panose="020B0503020204020204" pitchFamily="34" charset="0"/>
              </a:rPr>
              <a:t>; that is, they start </a:t>
            </a:r>
            <a:r>
              <a:rPr lang="en-US" sz="1800" b="1" dirty="0">
                <a:latin typeface="Corbel" panose="020B0503020204020204" pitchFamily="34" charset="0"/>
              </a:rPr>
              <a:t>from 0 to arrayRefVar.length-1</a:t>
            </a:r>
            <a:r>
              <a:rPr lang="en-US" sz="1800" dirty="0">
                <a:latin typeface="Corbel" panose="020B0503020204020204" pitchFamily="34" charset="0"/>
              </a:rPr>
              <a:t>.</a:t>
            </a:r>
          </a:p>
          <a:p>
            <a:r>
              <a:rPr lang="en-US" sz="1800" dirty="0">
                <a:latin typeface="Corbel" panose="020B0503020204020204" pitchFamily="34" charset="0"/>
              </a:rPr>
              <a:t>Each element in the array is represented using the following syntax, known as an indexed variable:</a:t>
            </a:r>
          </a:p>
          <a:p>
            <a:pPr marL="0" indent="0">
              <a:buNone/>
            </a:pPr>
            <a:endParaRPr lang="en-US" sz="1800" dirty="0">
              <a:latin typeface="Corbel" panose="020B0503020204020204" pitchFamily="34" charset="0"/>
            </a:endParaRPr>
          </a:p>
        </p:txBody>
      </p:sp>
      <p:pic>
        <p:nvPicPr>
          <p:cNvPr id="5" name="Picture 4"/>
          <p:cNvPicPr>
            <a:picLocks noChangeAspect="1"/>
          </p:cNvPicPr>
          <p:nvPr/>
        </p:nvPicPr>
        <p:blipFill>
          <a:blip r:embed="rId3"/>
          <a:stretch>
            <a:fillRect/>
          </a:stretch>
        </p:blipFill>
        <p:spPr>
          <a:xfrm>
            <a:off x="7912766" y="2628899"/>
            <a:ext cx="4279234" cy="2514601"/>
          </a:xfrm>
          <a:prstGeom prst="rect">
            <a:avLst/>
          </a:prstGeom>
        </p:spPr>
      </p:pic>
    </p:spTree>
    <p:extLst>
      <p:ext uri="{BB962C8B-B14F-4D97-AF65-F5344CB8AC3E}">
        <p14:creationId xmlns:p14="http://schemas.microsoft.com/office/powerpoint/2010/main" val="4225653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Revisited - Representation.</a:t>
            </a:r>
          </a:p>
        </p:txBody>
      </p:sp>
      <p:pic>
        <p:nvPicPr>
          <p:cNvPr id="5" name="Content Placeholder 4"/>
          <p:cNvPicPr>
            <a:picLocks noGrp="1" noChangeAspect="1"/>
          </p:cNvPicPr>
          <p:nvPr>
            <p:ph idx="1"/>
          </p:nvPr>
        </p:nvPicPr>
        <p:blipFill>
          <a:blip r:embed="rId3"/>
          <a:stretch>
            <a:fillRect/>
          </a:stretch>
        </p:blipFill>
        <p:spPr>
          <a:xfrm>
            <a:off x="1104901" y="1381660"/>
            <a:ext cx="9635652" cy="5290162"/>
          </a:xfrm>
          <a:prstGeom prst="rect">
            <a:avLst/>
          </a:prstGeom>
        </p:spPr>
      </p:pic>
    </p:spTree>
    <p:extLst>
      <p:ext uri="{BB962C8B-B14F-4D97-AF65-F5344CB8AC3E}">
        <p14:creationId xmlns:p14="http://schemas.microsoft.com/office/powerpoint/2010/main" val="2953337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Initializer.</a:t>
            </a:r>
          </a:p>
        </p:txBody>
      </p:sp>
      <p:sp>
        <p:nvSpPr>
          <p:cNvPr id="3" name="Content Placeholder 2"/>
          <p:cNvSpPr>
            <a:spLocks noGrp="1"/>
          </p:cNvSpPr>
          <p:nvPr>
            <p:ph idx="1"/>
          </p:nvPr>
        </p:nvSpPr>
        <p:spPr>
          <a:xfrm>
            <a:off x="1104900" y="1458797"/>
            <a:ext cx="10735166" cy="4572000"/>
          </a:xfrm>
        </p:spPr>
        <p:txBody>
          <a:bodyPr>
            <a:noAutofit/>
          </a:bodyPr>
          <a:lstStyle/>
          <a:p>
            <a:r>
              <a:rPr lang="en-US" sz="1800" dirty="0"/>
              <a:t>Java has a shorthand notation, known as the </a:t>
            </a:r>
            <a:r>
              <a:rPr lang="en-US" sz="1800" b="1" i="1" u="sng" dirty="0">
                <a:solidFill>
                  <a:srgbClr val="7030A0"/>
                </a:solidFill>
              </a:rPr>
              <a:t>array initializer</a:t>
            </a:r>
            <a:r>
              <a:rPr lang="en-US" sz="1800" dirty="0"/>
              <a:t>, which combines </a:t>
            </a:r>
          </a:p>
          <a:p>
            <a:pPr lvl="1"/>
            <a:r>
              <a:rPr lang="en-US" sz="1800" dirty="0"/>
              <a:t>declaring an array, </a:t>
            </a:r>
          </a:p>
          <a:p>
            <a:pPr lvl="1"/>
            <a:r>
              <a:rPr lang="en-US" sz="1800" dirty="0"/>
              <a:t>creating an array, and </a:t>
            </a:r>
          </a:p>
          <a:p>
            <a:pPr lvl="1"/>
            <a:r>
              <a:rPr lang="en-US" sz="1800" dirty="0"/>
              <a:t>initializing in one statement </a:t>
            </a:r>
          </a:p>
          <a:p>
            <a:r>
              <a:rPr lang="en-US" sz="1800" dirty="0"/>
              <a:t>using the following syntax: </a:t>
            </a:r>
            <a:r>
              <a:rPr lang="en-US" sz="1800" b="1" dirty="0" err="1">
                <a:solidFill>
                  <a:srgbClr val="0070C0"/>
                </a:solidFill>
              </a:rPr>
              <a:t>dataType</a:t>
            </a:r>
            <a:r>
              <a:rPr lang="en-US" sz="1800" b="1" dirty="0">
                <a:solidFill>
                  <a:srgbClr val="0070C0"/>
                </a:solidFill>
              </a:rPr>
              <a:t>[] </a:t>
            </a:r>
            <a:r>
              <a:rPr lang="en-US" sz="1800" b="1" dirty="0" err="1">
                <a:solidFill>
                  <a:srgbClr val="0070C0"/>
                </a:solidFill>
              </a:rPr>
              <a:t>arrayRefVar</a:t>
            </a:r>
            <a:r>
              <a:rPr lang="en-US" sz="1800" b="1" dirty="0">
                <a:solidFill>
                  <a:srgbClr val="0070C0"/>
                </a:solidFill>
              </a:rPr>
              <a:t>= {value0, value1, ..., </a:t>
            </a:r>
            <a:r>
              <a:rPr lang="en-US" sz="1800" b="1" dirty="0" err="1">
                <a:solidFill>
                  <a:srgbClr val="0070C0"/>
                </a:solidFill>
              </a:rPr>
              <a:t>valuek</a:t>
            </a:r>
            <a:r>
              <a:rPr lang="en-US" sz="1800" b="1" dirty="0">
                <a:solidFill>
                  <a:srgbClr val="0070C0"/>
                </a:solidFill>
              </a:rPr>
              <a:t>}; </a:t>
            </a:r>
          </a:p>
          <a:p>
            <a:r>
              <a:rPr lang="en-IN" sz="1800" dirty="0"/>
              <a:t>For example: double[] </a:t>
            </a:r>
            <a:r>
              <a:rPr lang="en-IN" sz="1800" dirty="0" err="1"/>
              <a:t>myList</a:t>
            </a:r>
            <a:r>
              <a:rPr lang="en-IN" sz="1800" dirty="0"/>
              <a:t> = {1.9, 2.9, 3.4, 3.5}; </a:t>
            </a:r>
          </a:p>
          <a:p>
            <a:r>
              <a:rPr lang="en-US" sz="1800" dirty="0"/>
              <a:t>This statement declares, creates, and initializes the array </a:t>
            </a:r>
            <a:r>
              <a:rPr lang="en-US" sz="1800" dirty="0" err="1"/>
              <a:t>myList</a:t>
            </a:r>
            <a:r>
              <a:rPr lang="en-US" sz="1800" dirty="0"/>
              <a:t> with four elements, which is equivalent to the statements shown below:</a:t>
            </a:r>
          </a:p>
          <a:p>
            <a:pPr lvl="1">
              <a:lnSpc>
                <a:spcPct val="100000"/>
              </a:lnSpc>
              <a:spcBef>
                <a:spcPts val="0"/>
              </a:spcBef>
            </a:pPr>
            <a:r>
              <a:rPr lang="en-IN" sz="1800" dirty="0"/>
              <a:t>double[] </a:t>
            </a:r>
            <a:r>
              <a:rPr lang="en-IN" sz="1800" dirty="0" err="1"/>
              <a:t>myList</a:t>
            </a:r>
            <a:r>
              <a:rPr lang="en-IN" sz="1800" dirty="0"/>
              <a:t>= new double[4];</a:t>
            </a:r>
          </a:p>
          <a:p>
            <a:pPr lvl="1">
              <a:lnSpc>
                <a:spcPct val="100000"/>
              </a:lnSpc>
              <a:spcBef>
                <a:spcPts val="0"/>
              </a:spcBef>
            </a:pPr>
            <a:r>
              <a:rPr lang="en-IN" sz="1800" dirty="0" err="1"/>
              <a:t>myList</a:t>
            </a:r>
            <a:r>
              <a:rPr lang="en-IN" sz="1800" dirty="0"/>
              <a:t>[0] = 1.9;</a:t>
            </a:r>
          </a:p>
          <a:p>
            <a:pPr lvl="1">
              <a:lnSpc>
                <a:spcPct val="100000"/>
              </a:lnSpc>
              <a:spcBef>
                <a:spcPts val="0"/>
              </a:spcBef>
            </a:pPr>
            <a:r>
              <a:rPr lang="en-IN" sz="1800" dirty="0" err="1"/>
              <a:t>myList</a:t>
            </a:r>
            <a:r>
              <a:rPr lang="en-IN" sz="1800" dirty="0"/>
              <a:t>[1] = 2.9; </a:t>
            </a:r>
          </a:p>
          <a:p>
            <a:pPr lvl="1">
              <a:lnSpc>
                <a:spcPct val="100000"/>
              </a:lnSpc>
              <a:spcBef>
                <a:spcPts val="0"/>
              </a:spcBef>
            </a:pPr>
            <a:r>
              <a:rPr lang="en-IN" sz="1800" dirty="0" err="1"/>
              <a:t>myList</a:t>
            </a:r>
            <a:r>
              <a:rPr lang="en-IN" sz="1800" dirty="0"/>
              <a:t>[2] = 3.4;</a:t>
            </a:r>
          </a:p>
          <a:p>
            <a:pPr lvl="1">
              <a:lnSpc>
                <a:spcPct val="100000"/>
              </a:lnSpc>
              <a:spcBef>
                <a:spcPts val="0"/>
              </a:spcBef>
            </a:pPr>
            <a:r>
              <a:rPr lang="en-IN" sz="1800" dirty="0" err="1"/>
              <a:t>myList</a:t>
            </a:r>
            <a:r>
              <a:rPr lang="en-IN" sz="1800" dirty="0"/>
              <a:t>[3] = 3.5; </a:t>
            </a:r>
            <a:endParaRPr lang="en-US" sz="1800" dirty="0"/>
          </a:p>
        </p:txBody>
      </p:sp>
    </p:spTree>
    <p:extLst>
      <p:ext uri="{BB962C8B-B14F-4D97-AF65-F5344CB8AC3E}">
        <p14:creationId xmlns:p14="http://schemas.microsoft.com/office/powerpoint/2010/main" val="1371295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Processing: Array Class</a:t>
            </a:r>
          </a:p>
        </p:txBody>
      </p:sp>
      <p:sp>
        <p:nvSpPr>
          <p:cNvPr id="3" name="Content Placeholder 2"/>
          <p:cNvSpPr>
            <a:spLocks noGrp="1"/>
          </p:cNvSpPr>
          <p:nvPr>
            <p:ph idx="1"/>
          </p:nvPr>
        </p:nvSpPr>
        <p:spPr/>
        <p:txBody>
          <a:bodyPr>
            <a:normAutofit/>
          </a:bodyPr>
          <a:lstStyle/>
          <a:p>
            <a:r>
              <a:rPr lang="en-US" dirty="0"/>
              <a:t>The </a:t>
            </a:r>
            <a:r>
              <a:rPr lang="en-US" dirty="0" err="1"/>
              <a:t>java.util.Arrays</a:t>
            </a:r>
            <a:r>
              <a:rPr lang="en-US" dirty="0"/>
              <a:t> class contains various static methods for sorting and searching arrays, comparing arrays, and filling array elements. These methods are overloaded for all primitive types.</a:t>
            </a:r>
          </a:p>
          <a:p>
            <a:r>
              <a:rPr lang="en-US" dirty="0"/>
              <a:t>»You can use the sort method to sort a whole array or a partial array. For example, the following code sorts an array of numbers and an array of characters:</a:t>
            </a:r>
          </a:p>
          <a:p>
            <a:endParaRPr lang="en-IN" dirty="0"/>
          </a:p>
        </p:txBody>
      </p:sp>
      <p:pic>
        <p:nvPicPr>
          <p:cNvPr id="4" name="Picture 3"/>
          <p:cNvPicPr>
            <a:picLocks noChangeAspect="1"/>
          </p:cNvPicPr>
          <p:nvPr/>
        </p:nvPicPr>
        <p:blipFill>
          <a:blip r:embed="rId3"/>
          <a:stretch>
            <a:fillRect/>
          </a:stretch>
        </p:blipFill>
        <p:spPr>
          <a:xfrm>
            <a:off x="1946978" y="3307826"/>
            <a:ext cx="8467725" cy="3390900"/>
          </a:xfrm>
          <a:prstGeom prst="rect">
            <a:avLst/>
          </a:prstGeom>
        </p:spPr>
      </p:pic>
    </p:spTree>
    <p:extLst>
      <p:ext uri="{BB962C8B-B14F-4D97-AF65-F5344CB8AC3E}">
        <p14:creationId xmlns:p14="http://schemas.microsoft.com/office/powerpoint/2010/main" val="2359992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Processing.</a:t>
            </a:r>
          </a:p>
        </p:txBody>
      </p:sp>
      <p:sp>
        <p:nvSpPr>
          <p:cNvPr id="3" name="Content Placeholder 2"/>
          <p:cNvSpPr>
            <a:spLocks noGrp="1"/>
          </p:cNvSpPr>
          <p:nvPr>
            <p:ph idx="1"/>
          </p:nvPr>
        </p:nvSpPr>
        <p:spPr>
          <a:xfrm>
            <a:off x="1104900" y="1458797"/>
            <a:ext cx="10735166" cy="4572000"/>
          </a:xfrm>
        </p:spPr>
        <p:txBody>
          <a:bodyPr>
            <a:noAutofit/>
          </a:bodyPr>
          <a:lstStyle/>
          <a:p>
            <a:r>
              <a:rPr lang="en-US" sz="1800" dirty="0"/>
              <a:t>When processing array elements, you will often use a for loop. Here are the reasons why:</a:t>
            </a:r>
          </a:p>
          <a:p>
            <a:r>
              <a:rPr lang="en-US" sz="1800" dirty="0"/>
              <a:t>Since the size of the array is known, it is natural to use a for loop.</a:t>
            </a:r>
          </a:p>
          <a:p>
            <a:r>
              <a:rPr lang="en-US" sz="1800" dirty="0"/>
              <a:t>Here are some examples of processing arrays:</a:t>
            </a:r>
          </a:p>
          <a:p>
            <a:r>
              <a:rPr lang="en-US" sz="1800" dirty="0"/>
              <a:t>(Initializing arrays with random values) </a:t>
            </a:r>
          </a:p>
          <a:p>
            <a:r>
              <a:rPr lang="en-US" sz="1800" dirty="0"/>
              <a:t>The following loop initializes the array </a:t>
            </a:r>
            <a:r>
              <a:rPr lang="en-US" sz="1800" dirty="0" err="1"/>
              <a:t>myList</a:t>
            </a:r>
            <a:r>
              <a:rPr lang="en-US" sz="1800" dirty="0"/>
              <a:t> with random values between 0.0 and 99.0: </a:t>
            </a:r>
          </a:p>
          <a:p>
            <a:r>
              <a:rPr lang="en-US" sz="1800" dirty="0"/>
              <a:t>double[] </a:t>
            </a:r>
            <a:r>
              <a:rPr lang="en-US" sz="1800" dirty="0" err="1"/>
              <a:t>myList</a:t>
            </a:r>
            <a:r>
              <a:rPr lang="en-US" sz="1800" dirty="0"/>
              <a:t>= new double[10];</a:t>
            </a:r>
          </a:p>
          <a:p>
            <a:endParaRPr lang="en-US" sz="1800" dirty="0"/>
          </a:p>
        </p:txBody>
      </p:sp>
      <p:pic>
        <p:nvPicPr>
          <p:cNvPr id="5" name="Picture 4"/>
          <p:cNvPicPr>
            <a:picLocks noChangeAspect="1"/>
          </p:cNvPicPr>
          <p:nvPr/>
        </p:nvPicPr>
        <p:blipFill>
          <a:blip r:embed="rId3"/>
          <a:stretch>
            <a:fillRect/>
          </a:stretch>
        </p:blipFill>
        <p:spPr>
          <a:xfrm>
            <a:off x="1395167" y="4150400"/>
            <a:ext cx="6038654" cy="1493603"/>
          </a:xfrm>
          <a:prstGeom prst="rect">
            <a:avLst/>
          </a:prstGeom>
        </p:spPr>
      </p:pic>
    </p:spTree>
    <p:extLst>
      <p:ext uri="{BB962C8B-B14F-4D97-AF65-F5344CB8AC3E}">
        <p14:creationId xmlns:p14="http://schemas.microsoft.com/office/powerpoint/2010/main" val="533843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Processing: Enhanced For</a:t>
            </a:r>
          </a:p>
        </p:txBody>
      </p:sp>
      <p:sp>
        <p:nvSpPr>
          <p:cNvPr id="3" name="Content Placeholder 2"/>
          <p:cNvSpPr>
            <a:spLocks noGrp="1"/>
          </p:cNvSpPr>
          <p:nvPr>
            <p:ph idx="1"/>
          </p:nvPr>
        </p:nvSpPr>
        <p:spPr>
          <a:xfrm>
            <a:off x="1104900" y="1458797"/>
            <a:ext cx="10735166" cy="4572000"/>
          </a:xfrm>
        </p:spPr>
        <p:txBody>
          <a:bodyPr>
            <a:noAutofit/>
          </a:bodyPr>
          <a:lstStyle/>
          <a:p>
            <a:r>
              <a:rPr lang="en-US" sz="1800" dirty="0"/>
              <a:t>JDK 1.5 introduced a new for loop, known as </a:t>
            </a:r>
            <a:r>
              <a:rPr lang="en-US" sz="1800" b="1" u="sng" dirty="0" err="1"/>
              <a:t>foreach</a:t>
            </a:r>
            <a:r>
              <a:rPr lang="en-US" sz="1800" b="1" u="sng" dirty="0"/>
              <a:t> loop </a:t>
            </a:r>
            <a:r>
              <a:rPr lang="en-US" sz="1800" dirty="0"/>
              <a:t>or </a:t>
            </a:r>
            <a:r>
              <a:rPr lang="en-US" sz="1800" b="1" u="sng" dirty="0"/>
              <a:t>enhanced for loop</a:t>
            </a:r>
          </a:p>
          <a:p>
            <a:r>
              <a:rPr lang="en-US" sz="1800" dirty="0"/>
              <a:t>This enables you to traverse the </a:t>
            </a:r>
            <a:r>
              <a:rPr lang="en-US" sz="1800" b="1" u="sng" dirty="0"/>
              <a:t>complete array </a:t>
            </a:r>
            <a:r>
              <a:rPr lang="en-US" sz="1800" dirty="0"/>
              <a:t>sequentially </a:t>
            </a:r>
            <a:r>
              <a:rPr lang="en-US" sz="1800" b="1" u="sng" dirty="0"/>
              <a:t>without using an index variable</a:t>
            </a:r>
            <a:r>
              <a:rPr lang="en-US" sz="1800" dirty="0"/>
              <a:t>. </a:t>
            </a:r>
          </a:p>
          <a:p>
            <a:r>
              <a:rPr lang="en-US" sz="1800" dirty="0"/>
              <a:t>For example, the following code displays all the elements in the array </a:t>
            </a:r>
            <a:r>
              <a:rPr lang="en-US" sz="1800" dirty="0" err="1"/>
              <a:t>myList</a:t>
            </a:r>
            <a:r>
              <a:rPr lang="en-US" sz="1800" dirty="0"/>
              <a:t>:</a:t>
            </a:r>
          </a:p>
          <a:p>
            <a:r>
              <a:rPr lang="fr-FR" sz="1800" dirty="0"/>
              <a:t>double[] </a:t>
            </a:r>
            <a:r>
              <a:rPr lang="fr-FR" sz="1800" dirty="0" err="1"/>
              <a:t>myList</a:t>
            </a:r>
            <a:r>
              <a:rPr lang="fr-FR" sz="1800" dirty="0"/>
              <a:t>= {1.9, 2.9, 3.4, 3.5}; </a:t>
            </a:r>
          </a:p>
          <a:p>
            <a:endParaRPr lang="en-US" sz="1800" dirty="0"/>
          </a:p>
        </p:txBody>
      </p:sp>
      <p:pic>
        <p:nvPicPr>
          <p:cNvPr id="4" name="Picture 3"/>
          <p:cNvPicPr>
            <a:picLocks noChangeAspect="1"/>
          </p:cNvPicPr>
          <p:nvPr/>
        </p:nvPicPr>
        <p:blipFill>
          <a:blip r:embed="rId3"/>
          <a:stretch>
            <a:fillRect/>
          </a:stretch>
        </p:blipFill>
        <p:spPr>
          <a:xfrm>
            <a:off x="1259804" y="3505396"/>
            <a:ext cx="6448425" cy="1638300"/>
          </a:xfrm>
          <a:prstGeom prst="rect">
            <a:avLst/>
          </a:prstGeom>
        </p:spPr>
      </p:pic>
    </p:spTree>
    <p:extLst>
      <p:ext uri="{BB962C8B-B14F-4D97-AF65-F5344CB8AC3E}">
        <p14:creationId xmlns:p14="http://schemas.microsoft.com/office/powerpoint/2010/main" val="2537465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Processing: Copying Arrays</a:t>
            </a:r>
          </a:p>
        </p:txBody>
      </p:sp>
      <p:sp>
        <p:nvSpPr>
          <p:cNvPr id="3" name="Content Placeholder 2"/>
          <p:cNvSpPr>
            <a:spLocks noGrp="1"/>
          </p:cNvSpPr>
          <p:nvPr>
            <p:ph idx="1"/>
          </p:nvPr>
        </p:nvSpPr>
        <p:spPr/>
        <p:txBody>
          <a:bodyPr>
            <a:normAutofit/>
          </a:bodyPr>
          <a:lstStyle/>
          <a:p>
            <a:r>
              <a:rPr lang="en-US" dirty="0">
                <a:latin typeface="Corbel" panose="020B0503020204020204" pitchFamily="34" charset="0"/>
              </a:rPr>
              <a:t>In Java, you can use </a:t>
            </a:r>
            <a:r>
              <a:rPr lang="en-US" u="sng" dirty="0">
                <a:latin typeface="Corbel" panose="020B0503020204020204" pitchFamily="34" charset="0"/>
              </a:rPr>
              <a:t>assignment statements to copy primitive data type variables, but not arrays</a:t>
            </a:r>
            <a:r>
              <a:rPr lang="en-US" dirty="0">
                <a:latin typeface="Corbel" panose="020B0503020204020204" pitchFamily="34" charset="0"/>
              </a:rPr>
              <a:t>. </a:t>
            </a:r>
          </a:p>
          <a:p>
            <a:r>
              <a:rPr lang="en-US" dirty="0">
                <a:latin typeface="Corbel" panose="020B0503020204020204" pitchFamily="34" charset="0"/>
              </a:rPr>
              <a:t>Assigning one array variable to another array variable </a:t>
            </a:r>
            <a:r>
              <a:rPr lang="en-US" b="1" u="sng" dirty="0">
                <a:latin typeface="Corbel" panose="020B0503020204020204" pitchFamily="34" charset="0"/>
              </a:rPr>
              <a:t>actually copies one reference to another and makes both variables point to the same memory location.</a:t>
            </a:r>
          </a:p>
          <a:p>
            <a:r>
              <a:rPr lang="en-US" dirty="0">
                <a:latin typeface="Corbel" panose="020B0503020204020204" pitchFamily="34" charset="0"/>
              </a:rPr>
              <a:t>There are three ways to copy arrays:</a:t>
            </a:r>
          </a:p>
          <a:p>
            <a:pPr marL="457200" indent="-457200">
              <a:buFont typeface="+mj-lt"/>
              <a:buAutoNum type="arabicPeriod"/>
            </a:pPr>
            <a:r>
              <a:rPr lang="en-US" dirty="0">
                <a:latin typeface="Corbel" panose="020B0503020204020204" pitchFamily="34" charset="0"/>
              </a:rPr>
              <a:t>Use a loop to copy individual elements one by one.</a:t>
            </a:r>
          </a:p>
          <a:p>
            <a:pPr marL="457200" indent="-457200">
              <a:buFont typeface="+mj-lt"/>
              <a:buAutoNum type="arabicPeriod"/>
            </a:pPr>
            <a:r>
              <a:rPr lang="en-US" dirty="0">
                <a:latin typeface="Corbel" panose="020B0503020204020204" pitchFamily="34" charset="0"/>
              </a:rPr>
              <a:t>Use the static </a:t>
            </a:r>
            <a:r>
              <a:rPr lang="en-US" dirty="0" err="1">
                <a:latin typeface="Corbel" panose="020B0503020204020204" pitchFamily="34" charset="0"/>
              </a:rPr>
              <a:t>arraycopy</a:t>
            </a:r>
            <a:r>
              <a:rPr lang="en-US" dirty="0">
                <a:latin typeface="Corbel" panose="020B0503020204020204" pitchFamily="34" charset="0"/>
              </a:rPr>
              <a:t> method in the System class.</a:t>
            </a:r>
          </a:p>
          <a:p>
            <a:pPr marL="457200" indent="-457200">
              <a:buFont typeface="+mj-lt"/>
              <a:buAutoNum type="arabicPeriod"/>
            </a:pPr>
            <a:r>
              <a:rPr lang="en-US" dirty="0">
                <a:latin typeface="Corbel" panose="020B0503020204020204" pitchFamily="34" charset="0"/>
              </a:rPr>
              <a:t>Use the clone method to copy arrays; this will be introduced in "Inheritance and Polymorphism.</a:t>
            </a:r>
          </a:p>
          <a:p>
            <a:endParaRPr lang="en-IN" dirty="0">
              <a:latin typeface="Corbel" panose="020B0503020204020204" pitchFamily="34" charset="0"/>
            </a:endParaRPr>
          </a:p>
        </p:txBody>
      </p:sp>
    </p:spTree>
    <p:extLst>
      <p:ext uri="{BB962C8B-B14F-4D97-AF65-F5344CB8AC3E}">
        <p14:creationId xmlns:p14="http://schemas.microsoft.com/office/powerpoint/2010/main" val="395063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Processing: Copying Arrays</a:t>
            </a:r>
          </a:p>
        </p:txBody>
      </p:sp>
      <p:pic>
        <p:nvPicPr>
          <p:cNvPr id="5" name="Content Placeholder 4"/>
          <p:cNvPicPr>
            <a:picLocks noGrp="1" noChangeAspect="1"/>
          </p:cNvPicPr>
          <p:nvPr>
            <p:ph idx="1"/>
          </p:nvPr>
        </p:nvPicPr>
        <p:blipFill>
          <a:blip r:embed="rId3"/>
          <a:stretch>
            <a:fillRect/>
          </a:stretch>
        </p:blipFill>
        <p:spPr>
          <a:xfrm>
            <a:off x="771525" y="1451728"/>
            <a:ext cx="10314057" cy="5248488"/>
          </a:xfrm>
          <a:prstGeom prst="rect">
            <a:avLst/>
          </a:prstGeom>
        </p:spPr>
      </p:pic>
    </p:spTree>
    <p:extLst>
      <p:ext uri="{BB962C8B-B14F-4D97-AF65-F5344CB8AC3E}">
        <p14:creationId xmlns:p14="http://schemas.microsoft.com/office/powerpoint/2010/main" val="2836462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Processing: Copying Arrays</a:t>
            </a:r>
          </a:p>
        </p:txBody>
      </p:sp>
      <p:pic>
        <p:nvPicPr>
          <p:cNvPr id="4" name="Content Placeholder 3"/>
          <p:cNvPicPr>
            <a:picLocks noGrp="1" noChangeAspect="1"/>
          </p:cNvPicPr>
          <p:nvPr>
            <p:ph idx="1"/>
          </p:nvPr>
        </p:nvPicPr>
        <p:blipFill>
          <a:blip r:embed="rId3"/>
          <a:stretch>
            <a:fillRect/>
          </a:stretch>
        </p:blipFill>
        <p:spPr>
          <a:xfrm>
            <a:off x="1104900" y="1487078"/>
            <a:ext cx="9825038" cy="4742271"/>
          </a:xfrm>
          <a:prstGeom prst="rect">
            <a:avLst/>
          </a:prstGeom>
        </p:spPr>
      </p:pic>
    </p:spTree>
    <p:extLst>
      <p:ext uri="{BB962C8B-B14F-4D97-AF65-F5344CB8AC3E}">
        <p14:creationId xmlns:p14="http://schemas.microsoft.com/office/powerpoint/2010/main" val="1591880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Processing: Copying Arrays</a:t>
            </a:r>
          </a:p>
        </p:txBody>
      </p:sp>
      <p:sp>
        <p:nvSpPr>
          <p:cNvPr id="3" name="Content Placeholder 2"/>
          <p:cNvSpPr>
            <a:spLocks noGrp="1"/>
          </p:cNvSpPr>
          <p:nvPr>
            <p:ph idx="1"/>
          </p:nvPr>
        </p:nvSpPr>
        <p:spPr/>
        <p:txBody>
          <a:bodyPr>
            <a:normAutofit lnSpcReduction="10000"/>
          </a:bodyPr>
          <a:lstStyle/>
          <a:p>
            <a:pPr>
              <a:lnSpc>
                <a:spcPct val="150000"/>
              </a:lnSpc>
            </a:pPr>
            <a:r>
              <a:rPr lang="en-US" dirty="0">
                <a:latin typeface="Corbel" panose="020B0503020204020204" pitchFamily="34" charset="0"/>
              </a:rPr>
              <a:t>Another approach is to use the </a:t>
            </a:r>
            <a:r>
              <a:rPr lang="en-US" dirty="0" err="1">
                <a:latin typeface="Corbel" panose="020B0503020204020204" pitchFamily="34" charset="0"/>
              </a:rPr>
              <a:t>arraycopy</a:t>
            </a:r>
            <a:r>
              <a:rPr lang="en-US" dirty="0">
                <a:latin typeface="Corbel" panose="020B0503020204020204" pitchFamily="34" charset="0"/>
              </a:rPr>
              <a:t> method in the </a:t>
            </a:r>
            <a:r>
              <a:rPr lang="en-US" dirty="0" err="1">
                <a:latin typeface="Corbel" panose="020B0503020204020204" pitchFamily="34" charset="0"/>
              </a:rPr>
              <a:t>java.lang.System</a:t>
            </a:r>
            <a:r>
              <a:rPr lang="en-US" dirty="0">
                <a:latin typeface="Corbel" panose="020B0503020204020204" pitchFamily="34" charset="0"/>
              </a:rPr>
              <a:t> class to copy arrays instead of using a loop. The syntax for </a:t>
            </a:r>
            <a:r>
              <a:rPr lang="en-US" dirty="0" err="1">
                <a:latin typeface="Corbel" panose="020B0503020204020204" pitchFamily="34" charset="0"/>
              </a:rPr>
              <a:t>arraycopy</a:t>
            </a:r>
            <a:r>
              <a:rPr lang="en-US" dirty="0">
                <a:latin typeface="Corbel" panose="020B0503020204020204" pitchFamily="34" charset="0"/>
              </a:rPr>
              <a:t> is shown below:</a:t>
            </a:r>
          </a:p>
          <a:p>
            <a:pPr>
              <a:lnSpc>
                <a:spcPct val="150000"/>
              </a:lnSpc>
            </a:pPr>
            <a:r>
              <a:rPr lang="en-US" b="1" dirty="0" err="1">
                <a:latin typeface="Corbel" panose="020B0503020204020204" pitchFamily="34" charset="0"/>
              </a:rPr>
              <a:t>arraycopy</a:t>
            </a:r>
            <a:r>
              <a:rPr lang="en-US" b="1" dirty="0">
                <a:latin typeface="Corbel" panose="020B0503020204020204" pitchFamily="34" charset="0"/>
              </a:rPr>
              <a:t>(</a:t>
            </a:r>
            <a:r>
              <a:rPr lang="en-US" b="1" dirty="0" err="1">
                <a:latin typeface="Corbel" panose="020B0503020204020204" pitchFamily="34" charset="0"/>
              </a:rPr>
              <a:t>sourceArray</a:t>
            </a:r>
            <a:r>
              <a:rPr lang="en-US" b="1" dirty="0">
                <a:latin typeface="Corbel" panose="020B0503020204020204" pitchFamily="34" charset="0"/>
              </a:rPr>
              <a:t>, </a:t>
            </a:r>
            <a:r>
              <a:rPr lang="en-US" b="1" dirty="0" err="1">
                <a:latin typeface="Corbel" panose="020B0503020204020204" pitchFamily="34" charset="0"/>
              </a:rPr>
              <a:t>srcPos</a:t>
            </a:r>
            <a:r>
              <a:rPr lang="en-US" b="1" dirty="0">
                <a:latin typeface="Corbel" panose="020B0503020204020204" pitchFamily="34" charset="0"/>
              </a:rPr>
              <a:t>, </a:t>
            </a:r>
            <a:r>
              <a:rPr lang="en-US" b="1" dirty="0" err="1">
                <a:latin typeface="Corbel" panose="020B0503020204020204" pitchFamily="34" charset="0"/>
              </a:rPr>
              <a:t>targetArray</a:t>
            </a:r>
            <a:r>
              <a:rPr lang="en-US" b="1" dirty="0">
                <a:latin typeface="Corbel" panose="020B0503020204020204" pitchFamily="34" charset="0"/>
              </a:rPr>
              <a:t>, </a:t>
            </a:r>
            <a:r>
              <a:rPr lang="en-US" b="1" dirty="0" err="1">
                <a:latin typeface="Corbel" panose="020B0503020204020204" pitchFamily="34" charset="0"/>
              </a:rPr>
              <a:t>tarPos</a:t>
            </a:r>
            <a:r>
              <a:rPr lang="en-US" b="1" dirty="0">
                <a:latin typeface="Corbel" panose="020B0503020204020204" pitchFamily="34" charset="0"/>
              </a:rPr>
              <a:t>, length);</a:t>
            </a:r>
            <a:r>
              <a:rPr lang="en-US" dirty="0">
                <a:latin typeface="Corbel" panose="020B0503020204020204" pitchFamily="34" charset="0"/>
              </a:rPr>
              <a:t> </a:t>
            </a:r>
          </a:p>
          <a:p>
            <a:pPr>
              <a:lnSpc>
                <a:spcPct val="150000"/>
              </a:lnSpc>
            </a:pPr>
            <a:r>
              <a:rPr lang="en-US" dirty="0">
                <a:latin typeface="Corbel" panose="020B0503020204020204" pitchFamily="34" charset="0"/>
              </a:rPr>
              <a:t>The parameters </a:t>
            </a:r>
            <a:r>
              <a:rPr lang="en-US" b="1" dirty="0" err="1">
                <a:solidFill>
                  <a:srgbClr val="0070C0"/>
                </a:solidFill>
                <a:latin typeface="Corbel" panose="020B0503020204020204" pitchFamily="34" charset="0"/>
              </a:rPr>
              <a:t>srcPos</a:t>
            </a:r>
            <a:r>
              <a:rPr lang="en-US" dirty="0">
                <a:latin typeface="Corbel" panose="020B0503020204020204" pitchFamily="34" charset="0"/>
              </a:rPr>
              <a:t> and </a:t>
            </a:r>
            <a:r>
              <a:rPr lang="en-US" b="1" dirty="0" err="1">
                <a:solidFill>
                  <a:srgbClr val="00B050"/>
                </a:solidFill>
                <a:latin typeface="Corbel" panose="020B0503020204020204" pitchFamily="34" charset="0"/>
              </a:rPr>
              <a:t>tarPos</a:t>
            </a:r>
            <a:r>
              <a:rPr lang="en-US" dirty="0">
                <a:latin typeface="Corbel" panose="020B0503020204020204" pitchFamily="34" charset="0"/>
              </a:rPr>
              <a:t> indicate the </a:t>
            </a:r>
            <a:r>
              <a:rPr lang="en-US" b="1" u="sng" dirty="0">
                <a:latin typeface="Corbel" panose="020B0503020204020204" pitchFamily="34" charset="0"/>
              </a:rPr>
              <a:t>starting positions </a:t>
            </a:r>
            <a:r>
              <a:rPr lang="en-US" dirty="0">
                <a:latin typeface="Corbel" panose="020B0503020204020204" pitchFamily="34" charset="0"/>
              </a:rPr>
              <a:t>in source Array and target Array, respectively. The number of elements copied from source Array to target Array is indicated by length. </a:t>
            </a:r>
          </a:p>
          <a:p>
            <a:pPr>
              <a:lnSpc>
                <a:spcPct val="150000"/>
              </a:lnSpc>
            </a:pPr>
            <a:r>
              <a:rPr lang="en-US" dirty="0">
                <a:latin typeface="Corbel" panose="020B0503020204020204" pitchFamily="34" charset="0"/>
              </a:rPr>
              <a:t>For example, you can rewrite the loop using the following statement:</a:t>
            </a:r>
          </a:p>
          <a:p>
            <a:pPr>
              <a:lnSpc>
                <a:spcPct val="150000"/>
              </a:lnSpc>
            </a:pPr>
            <a:r>
              <a:rPr lang="en-US" b="1" dirty="0" err="1">
                <a:solidFill>
                  <a:srgbClr val="7030A0"/>
                </a:solidFill>
                <a:latin typeface="Corbel" panose="020B0503020204020204" pitchFamily="34" charset="0"/>
              </a:rPr>
              <a:t>System.arraycopy</a:t>
            </a:r>
            <a:r>
              <a:rPr lang="en-US" b="1" dirty="0">
                <a:solidFill>
                  <a:srgbClr val="7030A0"/>
                </a:solidFill>
                <a:latin typeface="Corbel" panose="020B0503020204020204" pitchFamily="34" charset="0"/>
              </a:rPr>
              <a:t>(</a:t>
            </a:r>
            <a:r>
              <a:rPr lang="en-US" b="1" dirty="0" err="1">
                <a:solidFill>
                  <a:srgbClr val="7030A0"/>
                </a:solidFill>
                <a:latin typeface="Corbel" panose="020B0503020204020204" pitchFamily="34" charset="0"/>
              </a:rPr>
              <a:t>sourceArray</a:t>
            </a:r>
            <a:r>
              <a:rPr lang="en-US" b="1" dirty="0">
                <a:solidFill>
                  <a:srgbClr val="7030A0"/>
                </a:solidFill>
                <a:latin typeface="Corbel" panose="020B0503020204020204" pitchFamily="34" charset="0"/>
              </a:rPr>
              <a:t>, 0, </a:t>
            </a:r>
            <a:r>
              <a:rPr lang="en-US" b="1" dirty="0" err="1">
                <a:solidFill>
                  <a:srgbClr val="7030A0"/>
                </a:solidFill>
                <a:latin typeface="Corbel" panose="020B0503020204020204" pitchFamily="34" charset="0"/>
              </a:rPr>
              <a:t>targetArray</a:t>
            </a:r>
            <a:r>
              <a:rPr lang="en-US" b="1" dirty="0">
                <a:solidFill>
                  <a:srgbClr val="7030A0"/>
                </a:solidFill>
                <a:latin typeface="Corbel" panose="020B0503020204020204" pitchFamily="34" charset="0"/>
              </a:rPr>
              <a:t>, 0, </a:t>
            </a:r>
            <a:r>
              <a:rPr lang="en-US" b="1" dirty="0" err="1">
                <a:solidFill>
                  <a:srgbClr val="7030A0"/>
                </a:solidFill>
                <a:latin typeface="Corbel" panose="020B0503020204020204" pitchFamily="34" charset="0"/>
              </a:rPr>
              <a:t>sourceArray.length</a:t>
            </a:r>
            <a:r>
              <a:rPr lang="en-US" b="1" dirty="0">
                <a:solidFill>
                  <a:srgbClr val="7030A0"/>
                </a:solidFill>
                <a:latin typeface="Corbel" panose="020B0503020204020204" pitchFamily="34" charset="0"/>
              </a:rPr>
              <a:t>); </a:t>
            </a:r>
            <a:endParaRPr lang="en-IN" b="1" dirty="0">
              <a:solidFill>
                <a:srgbClr val="7030A0"/>
              </a:solidFill>
              <a:latin typeface="Corbel" panose="020B0503020204020204" pitchFamily="34" charset="0"/>
            </a:endParaRPr>
          </a:p>
        </p:txBody>
      </p:sp>
    </p:spTree>
    <p:extLst>
      <p:ext uri="{BB962C8B-B14F-4D97-AF65-F5344CB8AC3E}">
        <p14:creationId xmlns:p14="http://schemas.microsoft.com/office/powerpoint/2010/main" val="2952157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Processing: Two Dimensional Arrays</a:t>
            </a:r>
          </a:p>
        </p:txBody>
      </p:sp>
      <p:pic>
        <p:nvPicPr>
          <p:cNvPr id="5" name="Content Placeholder 4"/>
          <p:cNvPicPr>
            <a:picLocks noGrp="1" noChangeAspect="1"/>
          </p:cNvPicPr>
          <p:nvPr>
            <p:ph idx="1"/>
          </p:nvPr>
        </p:nvPicPr>
        <p:blipFill>
          <a:blip r:embed="rId3"/>
          <a:stretch>
            <a:fillRect/>
          </a:stretch>
        </p:blipFill>
        <p:spPr>
          <a:xfrm>
            <a:off x="661987" y="1306791"/>
            <a:ext cx="9980682" cy="5353392"/>
          </a:xfrm>
          <a:prstGeom prst="rect">
            <a:avLst/>
          </a:prstGeom>
        </p:spPr>
      </p:pic>
    </p:spTree>
    <p:extLst>
      <p:ext uri="{BB962C8B-B14F-4D97-AF65-F5344CB8AC3E}">
        <p14:creationId xmlns:p14="http://schemas.microsoft.com/office/powerpoint/2010/main" val="1161098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Processing: Two Dimensional Arrays</a:t>
            </a:r>
          </a:p>
        </p:txBody>
      </p:sp>
      <p:pic>
        <p:nvPicPr>
          <p:cNvPr id="4" name="Content Placeholder 3"/>
          <p:cNvPicPr>
            <a:picLocks noGrp="1" noChangeAspect="1"/>
          </p:cNvPicPr>
          <p:nvPr>
            <p:ph idx="1"/>
          </p:nvPr>
        </p:nvPicPr>
        <p:blipFill>
          <a:blip r:embed="rId3"/>
          <a:stretch>
            <a:fillRect/>
          </a:stretch>
        </p:blipFill>
        <p:spPr>
          <a:xfrm>
            <a:off x="1104900" y="1439944"/>
            <a:ext cx="10452362" cy="5282864"/>
          </a:xfrm>
          <a:prstGeom prst="rect">
            <a:avLst/>
          </a:prstGeom>
        </p:spPr>
      </p:pic>
    </p:spTree>
    <p:extLst>
      <p:ext uri="{BB962C8B-B14F-4D97-AF65-F5344CB8AC3E}">
        <p14:creationId xmlns:p14="http://schemas.microsoft.com/office/powerpoint/2010/main" val="4267581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Processing: Two Dimensional Arrays</a:t>
            </a:r>
          </a:p>
        </p:txBody>
      </p:sp>
      <p:pic>
        <p:nvPicPr>
          <p:cNvPr id="5" name="Content Placeholder 4"/>
          <p:cNvPicPr>
            <a:picLocks noGrp="1" noChangeAspect="1"/>
          </p:cNvPicPr>
          <p:nvPr>
            <p:ph idx="1"/>
          </p:nvPr>
        </p:nvPicPr>
        <p:blipFill>
          <a:blip r:embed="rId3"/>
          <a:stretch>
            <a:fillRect/>
          </a:stretch>
        </p:blipFill>
        <p:spPr>
          <a:xfrm>
            <a:off x="793307" y="1496505"/>
            <a:ext cx="10820516" cy="5190726"/>
          </a:xfrm>
          <a:prstGeom prst="rect">
            <a:avLst/>
          </a:prstGeom>
        </p:spPr>
      </p:pic>
    </p:spTree>
    <p:extLst>
      <p:ext uri="{BB962C8B-B14F-4D97-AF65-F5344CB8AC3E}">
        <p14:creationId xmlns:p14="http://schemas.microsoft.com/office/powerpoint/2010/main" val="1333708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Processing: Two Dimensional Arrays</a:t>
            </a:r>
          </a:p>
        </p:txBody>
      </p:sp>
      <p:pic>
        <p:nvPicPr>
          <p:cNvPr id="4" name="Content Placeholder 3"/>
          <p:cNvPicPr>
            <a:picLocks noGrp="1" noChangeAspect="1"/>
          </p:cNvPicPr>
          <p:nvPr>
            <p:ph idx="1"/>
          </p:nvPr>
        </p:nvPicPr>
        <p:blipFill>
          <a:blip r:embed="rId3"/>
          <a:stretch>
            <a:fillRect/>
          </a:stretch>
        </p:blipFill>
        <p:spPr>
          <a:xfrm>
            <a:off x="830668" y="1411664"/>
            <a:ext cx="10622899" cy="5330238"/>
          </a:xfrm>
          <a:prstGeom prst="rect">
            <a:avLst/>
          </a:prstGeom>
        </p:spPr>
      </p:pic>
    </p:spTree>
    <p:extLst>
      <p:ext uri="{BB962C8B-B14F-4D97-AF65-F5344CB8AC3E}">
        <p14:creationId xmlns:p14="http://schemas.microsoft.com/office/powerpoint/2010/main" val="13318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Processing: Array List – </a:t>
            </a:r>
            <a:r>
              <a:rPr lang="en-US" dirty="0" err="1"/>
              <a:t>Revist</a:t>
            </a:r>
            <a:r>
              <a:rPr lang="en-US" dirty="0"/>
              <a:t> while Doing Collections</a:t>
            </a:r>
          </a:p>
        </p:txBody>
      </p:sp>
      <p:sp>
        <p:nvSpPr>
          <p:cNvPr id="3" name="Content Placeholder 2"/>
          <p:cNvSpPr>
            <a:spLocks noGrp="1"/>
          </p:cNvSpPr>
          <p:nvPr>
            <p:ph idx="1"/>
          </p:nvPr>
        </p:nvSpPr>
        <p:spPr>
          <a:xfrm>
            <a:off x="1103382" y="1471611"/>
            <a:ext cx="9982200" cy="5186363"/>
          </a:xfrm>
        </p:spPr>
        <p:txBody>
          <a:bodyPr>
            <a:noAutofit/>
          </a:bodyPr>
          <a:lstStyle/>
          <a:p>
            <a:r>
              <a:rPr lang="en-US" sz="2400" dirty="0">
                <a:latin typeface="Corbel" panose="020B0503020204020204" pitchFamily="34" charset="0"/>
              </a:rPr>
              <a:t>Standard </a:t>
            </a:r>
            <a:r>
              <a:rPr lang="en-US" sz="2400" b="1" u="sng" dirty="0">
                <a:latin typeface="Corbel" panose="020B0503020204020204" pitchFamily="34" charset="0"/>
              </a:rPr>
              <a:t>Java arrays </a:t>
            </a:r>
            <a:r>
              <a:rPr lang="en-US" sz="2400" dirty="0">
                <a:latin typeface="Corbel" panose="020B0503020204020204" pitchFamily="34" charset="0"/>
              </a:rPr>
              <a:t>are of a </a:t>
            </a:r>
            <a:r>
              <a:rPr lang="en-US" sz="2400" b="1" u="sng" dirty="0">
                <a:latin typeface="Corbel" panose="020B0503020204020204" pitchFamily="34" charset="0"/>
              </a:rPr>
              <a:t>fixed length</a:t>
            </a:r>
            <a:r>
              <a:rPr lang="en-US" sz="2400" dirty="0">
                <a:latin typeface="Corbel" panose="020B0503020204020204" pitchFamily="34" charset="0"/>
              </a:rPr>
              <a:t>.</a:t>
            </a:r>
          </a:p>
          <a:p>
            <a:r>
              <a:rPr lang="en-US" sz="2400" dirty="0">
                <a:latin typeface="Corbel" panose="020B0503020204020204" pitchFamily="34" charset="0"/>
              </a:rPr>
              <a:t>After </a:t>
            </a:r>
            <a:r>
              <a:rPr lang="en-US" sz="2400" b="1" u="sng" dirty="0">
                <a:latin typeface="Corbel" panose="020B0503020204020204" pitchFamily="34" charset="0"/>
              </a:rPr>
              <a:t>arrays are created</a:t>
            </a:r>
            <a:r>
              <a:rPr lang="en-US" sz="2400" dirty="0">
                <a:latin typeface="Corbel" panose="020B0503020204020204" pitchFamily="34" charset="0"/>
              </a:rPr>
              <a:t>, they cannot </a:t>
            </a:r>
            <a:r>
              <a:rPr lang="en-US" sz="2400" b="1" u="sng" dirty="0">
                <a:latin typeface="Corbel" panose="020B0503020204020204" pitchFamily="34" charset="0"/>
              </a:rPr>
              <a:t>grow or shrink</a:t>
            </a:r>
            <a:r>
              <a:rPr lang="en-US" sz="2400" dirty="0">
                <a:latin typeface="Corbel" panose="020B0503020204020204" pitchFamily="34" charset="0"/>
              </a:rPr>
              <a:t>, which means we can </a:t>
            </a:r>
            <a:r>
              <a:rPr lang="en-US" sz="2400" b="1" u="sng" dirty="0">
                <a:latin typeface="Corbel" panose="020B0503020204020204" pitchFamily="34" charset="0"/>
              </a:rPr>
              <a:t>not resize Arrays</a:t>
            </a:r>
            <a:r>
              <a:rPr lang="en-US" sz="2400" dirty="0">
                <a:latin typeface="Corbel" panose="020B0503020204020204" pitchFamily="34" charset="0"/>
              </a:rPr>
              <a:t>.</a:t>
            </a:r>
          </a:p>
          <a:p>
            <a:r>
              <a:rPr lang="en-US" sz="2400" dirty="0">
                <a:latin typeface="Corbel" panose="020B0503020204020204" pitchFamily="34" charset="0"/>
              </a:rPr>
              <a:t>Arrays are useful when we know in </a:t>
            </a:r>
            <a:r>
              <a:rPr lang="en-US" sz="2400" b="1" u="sng" dirty="0">
                <a:latin typeface="Corbel" panose="020B0503020204020204" pitchFamily="34" charset="0"/>
              </a:rPr>
              <a:t>advance how many elements </a:t>
            </a:r>
            <a:r>
              <a:rPr lang="en-US" sz="2400" dirty="0">
                <a:latin typeface="Corbel" panose="020B0503020204020204" pitchFamily="34" charset="0"/>
              </a:rPr>
              <a:t>the array is to hold.</a:t>
            </a:r>
          </a:p>
          <a:p>
            <a:r>
              <a:rPr lang="en-US" sz="2400" b="1" i="1" u="sng" dirty="0" err="1">
                <a:solidFill>
                  <a:srgbClr val="7030A0"/>
                </a:solidFill>
                <a:latin typeface="Corbel" panose="020B0503020204020204" pitchFamily="34" charset="0"/>
              </a:rPr>
              <a:t>ArrayList</a:t>
            </a:r>
            <a:r>
              <a:rPr lang="en-US" sz="2400" b="1" i="1" u="sng" dirty="0">
                <a:solidFill>
                  <a:srgbClr val="7030A0"/>
                </a:solidFill>
                <a:latin typeface="Corbel" panose="020B0503020204020204" pitchFamily="34" charset="0"/>
              </a:rPr>
              <a:t> </a:t>
            </a:r>
            <a:r>
              <a:rPr lang="en-US" sz="2400" dirty="0">
                <a:latin typeface="Corbel" panose="020B0503020204020204" pitchFamily="34" charset="0"/>
              </a:rPr>
              <a:t>is a collection which provides the implementation of </a:t>
            </a:r>
            <a:r>
              <a:rPr lang="en-IN" sz="2400" b="1" u="sng" dirty="0">
                <a:latin typeface="Corbel" panose="020B0503020204020204" pitchFamily="34" charset="0"/>
              </a:rPr>
              <a:t>resizable array</a:t>
            </a:r>
            <a:r>
              <a:rPr lang="en-IN" sz="2400" dirty="0">
                <a:latin typeface="Corbel" panose="020B0503020204020204" pitchFamily="34" charset="0"/>
              </a:rPr>
              <a:t>.</a:t>
            </a:r>
          </a:p>
          <a:p>
            <a:r>
              <a:rPr lang="en-US" sz="2400" b="1" i="1" dirty="0" err="1">
                <a:solidFill>
                  <a:srgbClr val="7030A0"/>
                </a:solidFill>
                <a:latin typeface="Corbel" panose="020B0503020204020204" pitchFamily="34" charset="0"/>
              </a:rPr>
              <a:t>ArrayList</a:t>
            </a:r>
            <a:r>
              <a:rPr lang="en-US" sz="2400" dirty="0">
                <a:latin typeface="Corbel" panose="020B0503020204020204" pitchFamily="34" charset="0"/>
              </a:rPr>
              <a:t> supports </a:t>
            </a:r>
            <a:r>
              <a:rPr lang="en-US" sz="2400" b="1" u="sng" dirty="0">
                <a:latin typeface="Corbel" panose="020B0503020204020204" pitchFamily="34" charset="0"/>
              </a:rPr>
              <a:t>dynamic arrays </a:t>
            </a:r>
            <a:r>
              <a:rPr lang="en-US" sz="2400" dirty="0">
                <a:latin typeface="Corbel" panose="020B0503020204020204" pitchFamily="34" charset="0"/>
              </a:rPr>
              <a:t>that can </a:t>
            </a:r>
            <a:r>
              <a:rPr lang="en-US" sz="2400" b="1" u="sng" dirty="0">
                <a:latin typeface="Corbel" panose="020B0503020204020204" pitchFamily="34" charset="0"/>
              </a:rPr>
              <a:t>grow as needed</a:t>
            </a:r>
            <a:r>
              <a:rPr lang="en-US" sz="2400" dirty="0">
                <a:latin typeface="Corbel" panose="020B0503020204020204" pitchFamily="34" charset="0"/>
              </a:rPr>
              <a:t>.</a:t>
            </a:r>
          </a:p>
          <a:p>
            <a:r>
              <a:rPr lang="en-US" sz="2400" u="sng" dirty="0">
                <a:latin typeface="Corbel" panose="020B0503020204020204" pitchFamily="34" charset="0"/>
              </a:rPr>
              <a:t>Array lists are created with an initial size</a:t>
            </a:r>
            <a:r>
              <a:rPr lang="en-US" sz="2400" dirty="0">
                <a:latin typeface="Corbel" panose="020B0503020204020204" pitchFamily="34" charset="0"/>
              </a:rPr>
              <a:t>.</a:t>
            </a:r>
          </a:p>
          <a:p>
            <a:r>
              <a:rPr lang="en-US" sz="2400" dirty="0">
                <a:latin typeface="Corbel" panose="020B0503020204020204" pitchFamily="34" charset="0"/>
              </a:rPr>
              <a:t>When this </a:t>
            </a:r>
            <a:r>
              <a:rPr lang="en-US" sz="2400" u="sng" dirty="0">
                <a:latin typeface="Corbel" panose="020B0503020204020204" pitchFamily="34" charset="0"/>
              </a:rPr>
              <a:t>size is exceeded</a:t>
            </a:r>
            <a:r>
              <a:rPr lang="en-US" sz="2400" dirty="0">
                <a:latin typeface="Corbel" panose="020B0503020204020204" pitchFamily="34" charset="0"/>
              </a:rPr>
              <a:t>, the collection is </a:t>
            </a:r>
            <a:r>
              <a:rPr lang="en-US" sz="2400" u="sng" dirty="0">
                <a:latin typeface="Corbel" panose="020B0503020204020204" pitchFamily="34" charset="0"/>
              </a:rPr>
              <a:t>automatically enlarged</a:t>
            </a:r>
            <a:r>
              <a:rPr lang="en-US" sz="2400" dirty="0">
                <a:latin typeface="Corbel" panose="020B0503020204020204" pitchFamily="34" charset="0"/>
              </a:rPr>
              <a:t>.</a:t>
            </a:r>
          </a:p>
          <a:p>
            <a:r>
              <a:rPr lang="en-US" sz="2400" dirty="0">
                <a:latin typeface="Corbel" panose="020B0503020204020204" pitchFamily="34" charset="0"/>
              </a:rPr>
              <a:t>When objects are removed, the </a:t>
            </a:r>
            <a:r>
              <a:rPr lang="en-US" sz="2400" b="1" u="sng" dirty="0">
                <a:latin typeface="Corbel" panose="020B0503020204020204" pitchFamily="34" charset="0"/>
              </a:rPr>
              <a:t>array may be shrunk</a:t>
            </a:r>
            <a:endParaRPr lang="en-IN" sz="2400" b="1" u="sng" dirty="0">
              <a:latin typeface="Corbel" panose="020B0503020204020204" pitchFamily="34" charset="0"/>
            </a:endParaRPr>
          </a:p>
        </p:txBody>
      </p:sp>
    </p:spTree>
    <p:extLst>
      <p:ext uri="{BB962C8B-B14F-4D97-AF65-F5344CB8AC3E}">
        <p14:creationId xmlns:p14="http://schemas.microsoft.com/office/powerpoint/2010/main" val="1829108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899" y="2971806"/>
            <a:ext cx="6099465" cy="1684150"/>
          </a:xfrm>
        </p:spPr>
        <p:txBody>
          <a:bodyPr/>
          <a:lstStyle/>
          <a:p>
            <a:r>
              <a:rPr lang="en-US" dirty="0"/>
              <a:t>Java-STRING</a:t>
            </a:r>
          </a:p>
        </p:txBody>
      </p:sp>
      <p:sp>
        <p:nvSpPr>
          <p:cNvPr id="3" name="Text Placeholder 2"/>
          <p:cNvSpPr>
            <a:spLocks noGrp="1"/>
          </p:cNvSpPr>
          <p:nvPr>
            <p:ph type="body" idx="1"/>
          </p:nvPr>
        </p:nvSpPr>
        <p:spPr/>
        <p:txBody>
          <a:bodyPr/>
          <a:lstStyle/>
          <a:p>
            <a:r>
              <a:rPr lang="en-US" dirty="0"/>
              <a:t>The one which threads an object path!</a:t>
            </a:r>
          </a:p>
        </p:txBody>
      </p:sp>
      <p:pic>
        <p:nvPicPr>
          <p:cNvPr id="5" name="Picture 4">
            <a:extLst>
              <a:ext uri="{FF2B5EF4-FFF2-40B4-BE49-F238E27FC236}">
                <a16:creationId xmlns:a16="http://schemas.microsoft.com/office/drawing/2014/main" id="{9C65BB71-0500-47C2-BA0E-C0669FF1BA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2550" y="371481"/>
            <a:ext cx="6934200" cy="5200650"/>
          </a:xfrm>
          <a:prstGeom prst="rect">
            <a:avLst/>
          </a:prstGeom>
        </p:spPr>
      </p:pic>
    </p:spTree>
    <p:extLst>
      <p:ext uri="{BB962C8B-B14F-4D97-AF65-F5344CB8AC3E}">
        <p14:creationId xmlns:p14="http://schemas.microsoft.com/office/powerpoint/2010/main" val="1337895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a:t>Strings in Java – Guess The Output</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28</a:t>
            </a:fld>
            <a:endParaRPr lang="en-US"/>
          </a:p>
        </p:txBody>
      </p:sp>
      <p:pic>
        <p:nvPicPr>
          <p:cNvPr id="7" name="Picture 6">
            <a:extLst>
              <a:ext uri="{FF2B5EF4-FFF2-40B4-BE49-F238E27FC236}">
                <a16:creationId xmlns:a16="http://schemas.microsoft.com/office/drawing/2014/main" id="{2CA1625A-6B68-4659-87EF-C302A15D21A6}"/>
              </a:ext>
            </a:extLst>
          </p:cNvPr>
          <p:cNvPicPr>
            <a:picLocks noChangeAspect="1"/>
          </p:cNvPicPr>
          <p:nvPr/>
        </p:nvPicPr>
        <p:blipFill>
          <a:blip r:embed="rId2"/>
          <a:stretch>
            <a:fillRect/>
          </a:stretch>
        </p:blipFill>
        <p:spPr>
          <a:xfrm>
            <a:off x="2019678" y="1371898"/>
            <a:ext cx="8381622" cy="5375626"/>
          </a:xfrm>
          <a:prstGeom prst="rect">
            <a:avLst/>
          </a:prstGeom>
        </p:spPr>
      </p:pic>
    </p:spTree>
    <p:extLst>
      <p:ext uri="{BB962C8B-B14F-4D97-AF65-F5344CB8AC3E}">
        <p14:creationId xmlns:p14="http://schemas.microsoft.com/office/powerpoint/2010/main" val="587468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a:t>Dive in – String Pool – Huh??</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29</a:t>
            </a:fld>
            <a:endParaRPr lang="en-US"/>
          </a:p>
        </p:txBody>
      </p:sp>
      <p:sp>
        <p:nvSpPr>
          <p:cNvPr id="2" name="Rectangle 1"/>
          <p:cNvSpPr/>
          <p:nvPr/>
        </p:nvSpPr>
        <p:spPr>
          <a:xfrm>
            <a:off x="311979" y="1460600"/>
            <a:ext cx="6331709" cy="5035353"/>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latin typeface="Corbel" panose="020B0503020204020204" pitchFamily="34" charset="0"/>
              </a:rPr>
              <a:t>As the name suggests, </a:t>
            </a:r>
            <a:r>
              <a:rPr lang="en-US" b="1" dirty="0">
                <a:latin typeface="Corbel" panose="020B0503020204020204" pitchFamily="34" charset="0"/>
              </a:rPr>
              <a:t>String Pool in java</a:t>
            </a:r>
            <a:r>
              <a:rPr lang="en-US" dirty="0">
                <a:latin typeface="Corbel" panose="020B0503020204020204" pitchFamily="34" charset="0"/>
              </a:rPr>
              <a:t> is a pool of Strings stored in </a:t>
            </a:r>
            <a:r>
              <a:rPr lang="en-US" b="1" dirty="0">
                <a:latin typeface="Corbel" panose="020B0503020204020204" pitchFamily="34" charset="0"/>
                <a:hlinkClick r:id="rId2" tooltip="Java Heap Memory vs Stack Memory Difference"/>
              </a:rPr>
              <a:t>Java Heap Memory</a:t>
            </a:r>
            <a:r>
              <a:rPr lang="en-US" dirty="0">
                <a:latin typeface="Corbel" panose="020B0503020204020204" pitchFamily="34" charset="0"/>
              </a:rPr>
              <a:t>. We know that String is special class in java and we can </a:t>
            </a:r>
            <a:r>
              <a:rPr lang="en-US" b="1" u="sng" dirty="0">
                <a:latin typeface="Corbel" panose="020B0503020204020204" pitchFamily="34" charset="0"/>
              </a:rPr>
              <a:t>create String object using new</a:t>
            </a:r>
            <a:r>
              <a:rPr lang="en-US" dirty="0">
                <a:latin typeface="Corbel" panose="020B0503020204020204" pitchFamily="34" charset="0"/>
              </a:rPr>
              <a:t> operator as well as providing values in </a:t>
            </a:r>
            <a:r>
              <a:rPr lang="en-US" b="1" u="sng" dirty="0">
                <a:latin typeface="Corbel" panose="020B0503020204020204" pitchFamily="34" charset="0"/>
              </a:rPr>
              <a:t>double quotes</a:t>
            </a:r>
            <a:r>
              <a:rPr lang="en-US" dirty="0">
                <a:latin typeface="Corbel" panose="020B0503020204020204" pitchFamily="34" charset="0"/>
              </a:rPr>
              <a:t>.</a:t>
            </a:r>
          </a:p>
          <a:p>
            <a:pPr marL="285750" indent="-285750">
              <a:lnSpc>
                <a:spcPct val="150000"/>
              </a:lnSpc>
              <a:buFont typeface="Arial" panose="020B0604020202020204" pitchFamily="34" charset="0"/>
              <a:buChar char="•"/>
            </a:pPr>
            <a:r>
              <a:rPr lang="en-US" dirty="0">
                <a:latin typeface="Corbel" panose="020B0503020204020204" pitchFamily="34" charset="0"/>
              </a:rPr>
              <a:t>String Pool is possible only because String is </a:t>
            </a:r>
            <a:r>
              <a:rPr lang="en-US" b="1" u="sng" dirty="0">
                <a:latin typeface="Corbel" panose="020B0503020204020204" pitchFamily="34" charset="0"/>
              </a:rPr>
              <a:t>immutable</a:t>
            </a:r>
            <a:r>
              <a:rPr lang="en-US" dirty="0">
                <a:latin typeface="Corbel" panose="020B0503020204020204" pitchFamily="34" charset="0"/>
              </a:rPr>
              <a:t> in Java and it’s implementation of </a:t>
            </a:r>
            <a:r>
              <a:rPr lang="en-US" b="1" u="sng" dirty="0">
                <a:latin typeface="Corbel" panose="020B0503020204020204" pitchFamily="34" charset="0"/>
              </a:rPr>
              <a:t>String interning concept</a:t>
            </a:r>
            <a:r>
              <a:rPr lang="en-US" dirty="0">
                <a:latin typeface="Corbel" panose="020B0503020204020204" pitchFamily="34" charset="0"/>
              </a:rPr>
              <a:t>. </a:t>
            </a:r>
          </a:p>
          <a:p>
            <a:pPr marL="285750" indent="-285750">
              <a:lnSpc>
                <a:spcPct val="150000"/>
              </a:lnSpc>
              <a:buFont typeface="Arial" panose="020B0604020202020204" pitchFamily="34" charset="0"/>
              <a:buChar char="•"/>
            </a:pPr>
            <a:r>
              <a:rPr lang="en-US" dirty="0">
                <a:latin typeface="Corbel" panose="020B0503020204020204" pitchFamily="34" charset="0"/>
              </a:rPr>
              <a:t>String pool helps in saving a lot of space for Java Runtime although it takes more time to create the String.</a:t>
            </a:r>
          </a:p>
          <a:p>
            <a:pPr marL="285750" indent="-285750">
              <a:lnSpc>
                <a:spcPct val="150000"/>
              </a:lnSpc>
              <a:buFont typeface="Arial" panose="020B0604020202020204" pitchFamily="34" charset="0"/>
              <a:buChar char="•"/>
            </a:pPr>
            <a:r>
              <a:rPr lang="en-US" dirty="0">
                <a:latin typeface="Corbel" panose="020B0503020204020204" pitchFamily="34" charset="0"/>
              </a:rPr>
              <a:t>When we use </a:t>
            </a:r>
            <a:r>
              <a:rPr lang="en-US" b="1" u="sng" dirty="0">
                <a:latin typeface="Corbel" panose="020B0503020204020204" pitchFamily="34" charset="0"/>
              </a:rPr>
              <a:t>double quotes to create a String</a:t>
            </a:r>
            <a:r>
              <a:rPr lang="en-US" dirty="0">
                <a:latin typeface="Corbel" panose="020B0503020204020204" pitchFamily="34" charset="0"/>
              </a:rPr>
              <a:t>, it </a:t>
            </a:r>
            <a:r>
              <a:rPr lang="en-US" b="1" u="sng" dirty="0">
                <a:latin typeface="Corbel" panose="020B0503020204020204" pitchFamily="34" charset="0"/>
              </a:rPr>
              <a:t>first looks for String </a:t>
            </a:r>
            <a:r>
              <a:rPr lang="en-US" dirty="0">
                <a:latin typeface="Corbel" panose="020B0503020204020204" pitchFamily="34" charset="0"/>
              </a:rPr>
              <a:t>with </a:t>
            </a:r>
            <a:r>
              <a:rPr lang="en-US" b="1" u="sng" dirty="0">
                <a:latin typeface="Corbel" panose="020B0503020204020204" pitchFamily="34" charset="0"/>
              </a:rPr>
              <a:t>same value in the String pool</a:t>
            </a:r>
            <a:r>
              <a:rPr lang="en-US" dirty="0">
                <a:latin typeface="Corbel" panose="020B0503020204020204" pitchFamily="34" charset="0"/>
              </a:rPr>
              <a:t>, if found it just </a:t>
            </a:r>
            <a:r>
              <a:rPr lang="en-US" b="1" u="sng" dirty="0">
                <a:latin typeface="Corbel" panose="020B0503020204020204" pitchFamily="34" charset="0"/>
              </a:rPr>
              <a:t>returns the reference</a:t>
            </a:r>
            <a:r>
              <a:rPr lang="en-US" dirty="0">
                <a:latin typeface="Corbel" panose="020B0503020204020204" pitchFamily="34" charset="0"/>
              </a:rPr>
              <a:t> else it </a:t>
            </a:r>
            <a:r>
              <a:rPr lang="en-US" b="1" u="sng" dirty="0">
                <a:latin typeface="Corbel" panose="020B0503020204020204" pitchFamily="34" charset="0"/>
              </a:rPr>
              <a:t>creates a new String </a:t>
            </a:r>
            <a:r>
              <a:rPr lang="en-US" dirty="0">
                <a:latin typeface="Corbel" panose="020B0503020204020204" pitchFamily="34" charset="0"/>
              </a:rPr>
              <a:t>in the pool and then returns the reference.</a:t>
            </a:r>
          </a:p>
        </p:txBody>
      </p:sp>
      <p:pic>
        <p:nvPicPr>
          <p:cNvPr id="5" name="Picture 4"/>
          <p:cNvPicPr>
            <a:picLocks noChangeAspect="1"/>
          </p:cNvPicPr>
          <p:nvPr/>
        </p:nvPicPr>
        <p:blipFill>
          <a:blip r:embed="rId3"/>
          <a:stretch>
            <a:fillRect/>
          </a:stretch>
        </p:blipFill>
        <p:spPr>
          <a:xfrm>
            <a:off x="7258050" y="1460600"/>
            <a:ext cx="4324350" cy="3819525"/>
          </a:xfrm>
          <a:prstGeom prst="rect">
            <a:avLst/>
          </a:prstGeom>
        </p:spPr>
      </p:pic>
      <p:sp>
        <p:nvSpPr>
          <p:cNvPr id="6" name="Rectangle 5"/>
          <p:cNvSpPr/>
          <p:nvPr/>
        </p:nvSpPr>
        <p:spPr>
          <a:xfrm>
            <a:off x="6772275" y="5151816"/>
            <a:ext cx="5295900" cy="1569660"/>
          </a:xfrm>
          <a:prstGeom prst="rect">
            <a:avLst/>
          </a:prstGeom>
        </p:spPr>
        <p:txBody>
          <a:bodyPr wrap="square">
            <a:spAutoFit/>
          </a:bodyPr>
          <a:lstStyle/>
          <a:p>
            <a:r>
              <a:rPr lang="en-US" sz="1600" dirty="0">
                <a:solidFill>
                  <a:srgbClr val="000000"/>
                </a:solidFill>
                <a:latin typeface="Corbel" panose="020B0503020204020204" pitchFamily="34" charset="0"/>
                <a:ea typeface="SimSun" panose="02010600030101010101" pitchFamily="2" charset="-122"/>
              </a:rPr>
              <a:t>In the above example, only one object will be created. Firstly, JVM will not find any string object with the value "Welcome" in string constant pool, that is why it will create a new object. After that it will find the string with the value "Welcome" in the pool, it will not create a new object but will return the reference to the same instance.</a:t>
            </a:r>
            <a:endParaRPr lang="en-US" sz="1600" dirty="0">
              <a:latin typeface="Corbel" panose="020B0503020204020204" pitchFamily="34" charset="0"/>
              <a:ea typeface="SimSun" panose="02010600030101010101" pitchFamily="2" charset="-122"/>
            </a:endParaRPr>
          </a:p>
        </p:txBody>
      </p:sp>
    </p:spTree>
    <p:extLst>
      <p:ext uri="{BB962C8B-B14F-4D97-AF65-F5344CB8AC3E}">
        <p14:creationId xmlns:p14="http://schemas.microsoft.com/office/powerpoint/2010/main" val="771578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a:t>Strings in Java</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30</a:t>
            </a:fld>
            <a:endParaRPr lang="en-US"/>
          </a:p>
        </p:txBody>
      </p:sp>
      <p:sp>
        <p:nvSpPr>
          <p:cNvPr id="2" name="Rectangle 1"/>
          <p:cNvSpPr/>
          <p:nvPr/>
        </p:nvSpPr>
        <p:spPr>
          <a:xfrm>
            <a:off x="311979" y="1460600"/>
            <a:ext cx="6331709" cy="5493812"/>
          </a:xfrm>
          <a:prstGeom prst="rect">
            <a:avLst/>
          </a:prstGeom>
        </p:spPr>
        <p:txBody>
          <a:bodyPr wrap="square">
            <a:spAutoFit/>
          </a:bodyPr>
          <a:lstStyle/>
          <a:p>
            <a:pPr marL="285750" indent="-285750">
              <a:lnSpc>
                <a:spcPct val="150000"/>
              </a:lnSpc>
              <a:buFont typeface="Arial" panose="020B0604020202020204" pitchFamily="34" charset="0"/>
              <a:buChar char="•"/>
            </a:pPr>
            <a:r>
              <a:rPr lang="en-US" b="1" u="sng" dirty="0">
                <a:latin typeface="Corbel" panose="020B0503020204020204" pitchFamily="34" charset="0"/>
              </a:rPr>
              <a:t>Strings</a:t>
            </a:r>
            <a:r>
              <a:rPr lang="en-US" dirty="0">
                <a:latin typeface="Corbel" panose="020B0503020204020204" pitchFamily="34" charset="0"/>
              </a:rPr>
              <a:t>, which are widely used in Java programming, are a </a:t>
            </a:r>
            <a:r>
              <a:rPr lang="en-US" b="1" u="sng" dirty="0">
                <a:latin typeface="Corbel" panose="020B0503020204020204" pitchFamily="34" charset="0"/>
              </a:rPr>
              <a:t>sequence of characters</a:t>
            </a:r>
            <a:r>
              <a:rPr lang="en-US" dirty="0">
                <a:latin typeface="Corbel" panose="020B0503020204020204" pitchFamily="34" charset="0"/>
              </a:rPr>
              <a:t>.</a:t>
            </a:r>
          </a:p>
          <a:p>
            <a:pPr marL="285750" indent="-285750">
              <a:lnSpc>
                <a:spcPct val="150000"/>
              </a:lnSpc>
              <a:buFont typeface="Arial" panose="020B0604020202020204" pitchFamily="34" charset="0"/>
              <a:buChar char="•"/>
            </a:pPr>
            <a:r>
              <a:rPr lang="en-US" dirty="0">
                <a:latin typeface="Corbel" panose="020B0503020204020204" pitchFamily="34" charset="0"/>
              </a:rPr>
              <a:t>In </a:t>
            </a:r>
            <a:r>
              <a:rPr lang="en-US" b="1" u="sng" dirty="0">
                <a:latin typeface="Corbel" panose="020B0503020204020204" pitchFamily="34" charset="0"/>
              </a:rPr>
              <a:t>Java </a:t>
            </a:r>
            <a:r>
              <a:rPr lang="en-US" dirty="0">
                <a:latin typeface="Corbel" panose="020B0503020204020204" pitchFamily="34" charset="0"/>
              </a:rPr>
              <a:t>programming language, </a:t>
            </a:r>
            <a:r>
              <a:rPr lang="en-US" b="1" dirty="0">
                <a:solidFill>
                  <a:srgbClr val="7030A0"/>
                </a:solidFill>
                <a:latin typeface="Corbel" panose="020B0503020204020204" pitchFamily="34" charset="0"/>
              </a:rPr>
              <a:t>strings are treated as objects</a:t>
            </a:r>
            <a:r>
              <a:rPr lang="en-US" dirty="0">
                <a:latin typeface="Corbel" panose="020B0503020204020204" pitchFamily="34" charset="0"/>
              </a:rPr>
              <a:t>.</a:t>
            </a:r>
          </a:p>
          <a:p>
            <a:pPr marL="285750" indent="-285750">
              <a:lnSpc>
                <a:spcPct val="150000"/>
              </a:lnSpc>
              <a:buFont typeface="Arial" panose="020B0604020202020204" pitchFamily="34" charset="0"/>
              <a:buChar char="•"/>
            </a:pPr>
            <a:r>
              <a:rPr lang="en-US" dirty="0">
                <a:latin typeface="Corbel" panose="020B0503020204020204" pitchFamily="34" charset="0"/>
              </a:rPr>
              <a:t>The </a:t>
            </a:r>
            <a:r>
              <a:rPr lang="en-US" b="1" u="sng" dirty="0">
                <a:latin typeface="Corbel" panose="020B0503020204020204" pitchFamily="34" charset="0"/>
              </a:rPr>
              <a:t>Java platform </a:t>
            </a:r>
            <a:r>
              <a:rPr lang="en-US" dirty="0">
                <a:latin typeface="Corbel" panose="020B0503020204020204" pitchFamily="34" charset="0"/>
              </a:rPr>
              <a:t>provides the </a:t>
            </a:r>
            <a:r>
              <a:rPr lang="en-US" b="1" u="sng" dirty="0">
                <a:latin typeface="Corbel" panose="020B0503020204020204" pitchFamily="34" charset="0"/>
              </a:rPr>
              <a:t>String class </a:t>
            </a:r>
            <a:r>
              <a:rPr lang="en-US" dirty="0">
                <a:latin typeface="Corbel" panose="020B0503020204020204" pitchFamily="34" charset="0"/>
              </a:rPr>
              <a:t>to create and manipulate strings.</a:t>
            </a:r>
          </a:p>
          <a:p>
            <a:pPr marL="285750" indent="-285750">
              <a:lnSpc>
                <a:spcPct val="150000"/>
              </a:lnSpc>
              <a:buFont typeface="Arial" panose="020B0604020202020204" pitchFamily="34" charset="0"/>
              <a:buChar char="•"/>
            </a:pPr>
            <a:r>
              <a:rPr lang="en-US" dirty="0">
                <a:latin typeface="Corbel" panose="020B0503020204020204" pitchFamily="34" charset="0"/>
              </a:rPr>
              <a:t>There are two ways to create String object:</a:t>
            </a:r>
          </a:p>
          <a:p>
            <a:pPr marL="285750" indent="-285750">
              <a:lnSpc>
                <a:spcPct val="150000"/>
              </a:lnSpc>
              <a:buFont typeface="Arial" panose="020B0604020202020204" pitchFamily="34" charset="0"/>
              <a:buChar char="•"/>
            </a:pPr>
            <a:r>
              <a:rPr lang="en-US" dirty="0">
                <a:latin typeface="Corbel" panose="020B0503020204020204" pitchFamily="34" charset="0"/>
              </a:rPr>
              <a:t>By string literal</a:t>
            </a:r>
          </a:p>
          <a:p>
            <a:pPr marL="285750" indent="-285750">
              <a:lnSpc>
                <a:spcPct val="150000"/>
              </a:lnSpc>
              <a:buFont typeface="Arial" panose="020B0604020202020204" pitchFamily="34" charset="0"/>
              <a:buChar char="•"/>
            </a:pPr>
            <a:r>
              <a:rPr lang="en-US" dirty="0">
                <a:latin typeface="Corbel" panose="020B0503020204020204" pitchFamily="34" charset="0"/>
              </a:rPr>
              <a:t>By new keyword</a:t>
            </a:r>
          </a:p>
          <a:p>
            <a:pPr marL="285750" indent="-285750">
              <a:lnSpc>
                <a:spcPct val="150000"/>
              </a:lnSpc>
              <a:buFont typeface="Arial" panose="020B0604020202020204" pitchFamily="34" charset="0"/>
              <a:buChar char="•"/>
            </a:pPr>
            <a:r>
              <a:rPr lang="en-US" b="1" i="1" dirty="0">
                <a:latin typeface="Corbel" panose="020B0503020204020204" pitchFamily="34" charset="0"/>
              </a:rPr>
              <a:t>String </a:t>
            </a:r>
            <a:r>
              <a:rPr lang="en-US" b="1" i="1" dirty="0" err="1">
                <a:latin typeface="Corbel" panose="020B0503020204020204" pitchFamily="34" charset="0"/>
              </a:rPr>
              <a:t>mystring</a:t>
            </a:r>
            <a:r>
              <a:rPr lang="en-US" b="1" i="1" dirty="0">
                <a:latin typeface="Corbel" panose="020B0503020204020204" pitchFamily="34" charset="0"/>
              </a:rPr>
              <a:t> ="welcome";</a:t>
            </a:r>
            <a:endParaRPr lang="en-US" b="1" i="1" dirty="0">
              <a:latin typeface="Corbel" panose="020B0503020204020204" pitchFamily="34" charset="0"/>
              <a:sym typeface="Wingdings" panose="05000000000000000000" pitchFamily="2" charset="2"/>
            </a:endParaRPr>
          </a:p>
          <a:p>
            <a:pPr marL="285750" indent="-285750">
              <a:lnSpc>
                <a:spcPct val="150000"/>
              </a:lnSpc>
              <a:buFont typeface="Arial" panose="020B0604020202020204" pitchFamily="34" charset="0"/>
              <a:buChar char="•"/>
            </a:pPr>
            <a:r>
              <a:rPr lang="en-US" b="1" i="1" dirty="0">
                <a:latin typeface="Corbel" panose="020B0503020204020204" pitchFamily="34" charset="0"/>
              </a:rPr>
              <a:t>String s1="Welcome";  </a:t>
            </a:r>
          </a:p>
          <a:p>
            <a:pPr marL="285750" indent="-285750">
              <a:lnSpc>
                <a:spcPct val="150000"/>
              </a:lnSpc>
              <a:buFont typeface="Arial" panose="020B0604020202020204" pitchFamily="34" charset="0"/>
              <a:buChar char="•"/>
            </a:pPr>
            <a:r>
              <a:rPr lang="en-US" b="1" i="1" dirty="0">
                <a:latin typeface="Corbel" panose="020B0503020204020204" pitchFamily="34" charset="0"/>
              </a:rPr>
              <a:t>String s2="Welcome";//It doesn't create a new instance</a:t>
            </a:r>
            <a:r>
              <a:rPr lang="en-US" dirty="0">
                <a:latin typeface="Corbel" panose="020B0503020204020204" pitchFamily="34" charset="0"/>
              </a:rPr>
              <a:t> </a:t>
            </a:r>
          </a:p>
          <a:p>
            <a:pPr marL="285750" indent="-285750">
              <a:lnSpc>
                <a:spcPct val="150000"/>
              </a:lnSpc>
              <a:buFont typeface="Arial" panose="020B0604020202020204" pitchFamily="34" charset="0"/>
              <a:buChar char="•"/>
            </a:pPr>
            <a:endParaRPr lang="en-US" dirty="0">
              <a:latin typeface="Corbel" panose="020B0503020204020204" pitchFamily="34" charset="0"/>
            </a:endParaRPr>
          </a:p>
        </p:txBody>
      </p:sp>
      <p:pic>
        <p:nvPicPr>
          <p:cNvPr id="5" name="Picture 4"/>
          <p:cNvPicPr>
            <a:picLocks noChangeAspect="1"/>
          </p:cNvPicPr>
          <p:nvPr/>
        </p:nvPicPr>
        <p:blipFill>
          <a:blip r:embed="rId2"/>
          <a:stretch>
            <a:fillRect/>
          </a:stretch>
        </p:blipFill>
        <p:spPr>
          <a:xfrm>
            <a:off x="7258050" y="1460600"/>
            <a:ext cx="4324350" cy="3819525"/>
          </a:xfrm>
          <a:prstGeom prst="rect">
            <a:avLst/>
          </a:prstGeom>
        </p:spPr>
      </p:pic>
      <p:sp>
        <p:nvSpPr>
          <p:cNvPr id="6" name="Rectangle 5"/>
          <p:cNvSpPr/>
          <p:nvPr/>
        </p:nvSpPr>
        <p:spPr>
          <a:xfrm>
            <a:off x="6772275" y="5151816"/>
            <a:ext cx="5295900" cy="1569660"/>
          </a:xfrm>
          <a:prstGeom prst="rect">
            <a:avLst/>
          </a:prstGeom>
        </p:spPr>
        <p:txBody>
          <a:bodyPr wrap="square">
            <a:spAutoFit/>
          </a:bodyPr>
          <a:lstStyle/>
          <a:p>
            <a:r>
              <a:rPr lang="en-US" sz="1600" dirty="0">
                <a:solidFill>
                  <a:srgbClr val="000000"/>
                </a:solidFill>
                <a:latin typeface="Corbel" panose="020B0503020204020204" pitchFamily="34" charset="0"/>
                <a:ea typeface="SimSun" panose="02010600030101010101" pitchFamily="2" charset="-122"/>
              </a:rPr>
              <a:t>In the above example, only one object will be created. Firstly, JVM will not find any string object with the value "Welcome" in string constant pool, that is why it will create a new object. After that it will find the string with the value "Welcome" in the pool, it will not create a new object but will return the reference to the same instance.</a:t>
            </a:r>
            <a:endParaRPr lang="en-US" sz="1600" dirty="0">
              <a:latin typeface="Corbel" panose="020B0503020204020204" pitchFamily="34" charset="0"/>
              <a:ea typeface="SimSun" panose="02010600030101010101" pitchFamily="2" charset="-122"/>
            </a:endParaRPr>
          </a:p>
        </p:txBody>
      </p:sp>
    </p:spTree>
    <p:extLst>
      <p:ext uri="{BB962C8B-B14F-4D97-AF65-F5344CB8AC3E}">
        <p14:creationId xmlns:p14="http://schemas.microsoft.com/office/powerpoint/2010/main" val="3213238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a:t>Immutability of Strings</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31</a:t>
            </a:fld>
            <a:endParaRPr lang="en-US"/>
          </a:p>
        </p:txBody>
      </p:sp>
      <p:sp>
        <p:nvSpPr>
          <p:cNvPr id="2" name="Rectangle 1"/>
          <p:cNvSpPr/>
          <p:nvPr/>
        </p:nvSpPr>
        <p:spPr>
          <a:xfrm>
            <a:off x="311980" y="1460600"/>
            <a:ext cx="5845934" cy="3785652"/>
          </a:xfrm>
          <a:prstGeom prst="rect">
            <a:avLst/>
          </a:prstGeom>
        </p:spPr>
        <p:txBody>
          <a:bodyPr wrap="square">
            <a:spAutoFit/>
          </a:bodyPr>
          <a:lstStyle/>
          <a:p>
            <a:pPr marL="285750" indent="-285750">
              <a:lnSpc>
                <a:spcPct val="200000"/>
              </a:lnSpc>
              <a:buFont typeface="Arial" panose="020B0604020202020204" pitchFamily="34" charset="0"/>
              <a:buChar char="•"/>
            </a:pPr>
            <a:r>
              <a:rPr lang="en-US" sz="2000" dirty="0">
                <a:latin typeface="Corbel" panose="020B0503020204020204" pitchFamily="34" charset="0"/>
              </a:rPr>
              <a:t>In java, </a:t>
            </a:r>
            <a:r>
              <a:rPr lang="en-US" sz="2000" b="1" dirty="0">
                <a:latin typeface="Corbel" panose="020B0503020204020204" pitchFamily="34" charset="0"/>
              </a:rPr>
              <a:t>string objects are immutable</a:t>
            </a:r>
            <a:r>
              <a:rPr lang="en-US" sz="2000" dirty="0">
                <a:latin typeface="Corbel" panose="020B0503020204020204" pitchFamily="34" charset="0"/>
              </a:rPr>
              <a:t>. Immutable simply means unmodifiable or unchangeable.</a:t>
            </a:r>
          </a:p>
          <a:p>
            <a:pPr marL="285750" indent="-285750">
              <a:lnSpc>
                <a:spcPct val="200000"/>
              </a:lnSpc>
              <a:buFont typeface="Arial" panose="020B0604020202020204" pitchFamily="34" charset="0"/>
              <a:buChar char="•"/>
            </a:pPr>
            <a:r>
              <a:rPr lang="en-US" sz="2000" dirty="0">
                <a:latin typeface="Corbel" panose="020B0503020204020204" pitchFamily="34" charset="0"/>
              </a:rPr>
              <a:t>Once string object is created its data or state can't be changed but a new string object is created.</a:t>
            </a:r>
          </a:p>
          <a:p>
            <a:pPr marL="285750" indent="-285750">
              <a:lnSpc>
                <a:spcPct val="200000"/>
              </a:lnSpc>
              <a:buFont typeface="Arial" panose="020B0604020202020204" pitchFamily="34" charset="0"/>
              <a:buChar char="•"/>
            </a:pPr>
            <a:r>
              <a:rPr lang="en-US" sz="2000" dirty="0">
                <a:latin typeface="Corbel" panose="020B0503020204020204" pitchFamily="34" charset="0"/>
              </a:rPr>
              <a:t>Let's try to understand the immutability concept by the example given below:</a:t>
            </a:r>
          </a:p>
        </p:txBody>
      </p:sp>
      <p:pic>
        <p:nvPicPr>
          <p:cNvPr id="7" name="Picture 6"/>
          <p:cNvPicPr>
            <a:picLocks noChangeAspect="1"/>
          </p:cNvPicPr>
          <p:nvPr/>
        </p:nvPicPr>
        <p:blipFill>
          <a:blip r:embed="rId2"/>
          <a:stretch>
            <a:fillRect/>
          </a:stretch>
        </p:blipFill>
        <p:spPr>
          <a:xfrm>
            <a:off x="6357938" y="1460600"/>
            <a:ext cx="5505450" cy="1800225"/>
          </a:xfrm>
          <a:prstGeom prst="rect">
            <a:avLst/>
          </a:prstGeom>
        </p:spPr>
      </p:pic>
      <p:pic>
        <p:nvPicPr>
          <p:cNvPr id="8" name="Picture 7"/>
          <p:cNvPicPr>
            <a:picLocks noChangeAspect="1"/>
          </p:cNvPicPr>
          <p:nvPr/>
        </p:nvPicPr>
        <p:blipFill>
          <a:blip r:embed="rId3"/>
          <a:stretch>
            <a:fillRect/>
          </a:stretch>
        </p:blipFill>
        <p:spPr>
          <a:xfrm>
            <a:off x="7058025" y="3582473"/>
            <a:ext cx="3548062" cy="3066760"/>
          </a:xfrm>
          <a:prstGeom prst="rect">
            <a:avLst/>
          </a:prstGeom>
        </p:spPr>
      </p:pic>
      <p:sp>
        <p:nvSpPr>
          <p:cNvPr id="9" name="Rectangle 8"/>
          <p:cNvSpPr/>
          <p:nvPr/>
        </p:nvSpPr>
        <p:spPr>
          <a:xfrm>
            <a:off x="511970" y="5339636"/>
            <a:ext cx="6096000" cy="923330"/>
          </a:xfrm>
          <a:prstGeom prst="rect">
            <a:avLst/>
          </a:prstGeom>
        </p:spPr>
        <p:txBody>
          <a:bodyPr>
            <a:spAutoFit/>
          </a:bodyPr>
          <a:lstStyle/>
          <a:p>
            <a:r>
              <a:rPr lang="en-US" dirty="0">
                <a:solidFill>
                  <a:srgbClr val="000000"/>
                </a:solidFill>
                <a:latin typeface="verdana" panose="020B0604030504040204" pitchFamily="34" charset="0"/>
              </a:rPr>
              <a:t>As you can see in the above figure that two objects are created but s reference variable still refers to "Sachin" not to "Sachin Tendulkar".</a:t>
            </a:r>
            <a:endParaRPr lang="en-US" dirty="0"/>
          </a:p>
        </p:txBody>
      </p:sp>
    </p:spTree>
    <p:extLst>
      <p:ext uri="{BB962C8B-B14F-4D97-AF65-F5344CB8AC3E}">
        <p14:creationId xmlns:p14="http://schemas.microsoft.com/office/powerpoint/2010/main" val="1311073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a:t>Immutability of Strings – Why?</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32</a:t>
            </a:fld>
            <a:endParaRPr lang="en-US"/>
          </a:p>
        </p:txBody>
      </p:sp>
      <p:sp>
        <p:nvSpPr>
          <p:cNvPr id="2" name="Rectangle 1"/>
          <p:cNvSpPr/>
          <p:nvPr/>
        </p:nvSpPr>
        <p:spPr>
          <a:xfrm>
            <a:off x="311980" y="1460600"/>
            <a:ext cx="5845934" cy="3889719"/>
          </a:xfrm>
          <a:prstGeom prst="rect">
            <a:avLst/>
          </a:prstGeom>
        </p:spPr>
        <p:txBody>
          <a:bodyPr wrap="square">
            <a:spAutoFit/>
          </a:bodyPr>
          <a:lstStyle/>
          <a:p>
            <a:pPr marL="285750" indent="-285750">
              <a:lnSpc>
                <a:spcPct val="200000"/>
              </a:lnSpc>
              <a:buFont typeface="Arial" panose="020B0604020202020204" pitchFamily="34" charset="0"/>
              <a:buChar char="•"/>
            </a:pPr>
            <a:r>
              <a:rPr lang="en-US" dirty="0"/>
              <a:t>Because java uses the concept of string literal.</a:t>
            </a:r>
          </a:p>
          <a:p>
            <a:pPr marL="285750" indent="-285750">
              <a:lnSpc>
                <a:spcPct val="200000"/>
              </a:lnSpc>
              <a:buFont typeface="Arial" panose="020B0604020202020204" pitchFamily="34" charset="0"/>
              <a:buChar char="•"/>
            </a:pPr>
            <a:r>
              <a:rPr lang="en-US" dirty="0"/>
              <a:t>Suppose there are 5 reference variables, all refers to one object "</a:t>
            </a:r>
            <a:r>
              <a:rPr lang="en-US" dirty="0" err="1"/>
              <a:t>sachin</a:t>
            </a:r>
            <a:r>
              <a:rPr lang="en-US" dirty="0"/>
              <a:t>".</a:t>
            </a:r>
          </a:p>
          <a:p>
            <a:pPr marL="285750" indent="-285750">
              <a:lnSpc>
                <a:spcPct val="200000"/>
              </a:lnSpc>
              <a:buFont typeface="Arial" panose="020B0604020202020204" pitchFamily="34" charset="0"/>
              <a:buChar char="•"/>
            </a:pPr>
            <a:r>
              <a:rPr lang="en-US" dirty="0"/>
              <a:t>If one reference variable changes the value of the object, it will be affected to all the reference variables. </a:t>
            </a:r>
          </a:p>
          <a:p>
            <a:pPr marL="285750" indent="-285750">
              <a:lnSpc>
                <a:spcPct val="200000"/>
              </a:lnSpc>
              <a:buFont typeface="Arial" panose="020B0604020202020204" pitchFamily="34" charset="0"/>
              <a:buChar char="•"/>
            </a:pPr>
            <a:r>
              <a:rPr lang="en-US" dirty="0"/>
              <a:t>That is why string objects are immutable in java.</a:t>
            </a:r>
            <a:endParaRPr lang="en-US" sz="2000" dirty="0">
              <a:latin typeface="Corbel" panose="020B0503020204020204" pitchFamily="34" charset="0"/>
            </a:endParaRPr>
          </a:p>
        </p:txBody>
      </p:sp>
      <p:pic>
        <p:nvPicPr>
          <p:cNvPr id="7" name="Picture 6"/>
          <p:cNvPicPr>
            <a:picLocks noChangeAspect="1"/>
          </p:cNvPicPr>
          <p:nvPr/>
        </p:nvPicPr>
        <p:blipFill>
          <a:blip r:embed="rId2"/>
          <a:stretch>
            <a:fillRect/>
          </a:stretch>
        </p:blipFill>
        <p:spPr>
          <a:xfrm>
            <a:off x="6357938" y="1460600"/>
            <a:ext cx="5505450" cy="1800225"/>
          </a:xfrm>
          <a:prstGeom prst="rect">
            <a:avLst/>
          </a:prstGeom>
        </p:spPr>
      </p:pic>
      <p:pic>
        <p:nvPicPr>
          <p:cNvPr id="5" name="Picture 4"/>
          <p:cNvPicPr>
            <a:picLocks noChangeAspect="1"/>
          </p:cNvPicPr>
          <p:nvPr/>
        </p:nvPicPr>
        <p:blipFill>
          <a:blip r:embed="rId3"/>
          <a:stretch>
            <a:fillRect/>
          </a:stretch>
        </p:blipFill>
        <p:spPr>
          <a:xfrm>
            <a:off x="6357938" y="3582472"/>
            <a:ext cx="5700966" cy="2646877"/>
          </a:xfrm>
          <a:prstGeom prst="rect">
            <a:avLst/>
          </a:prstGeom>
        </p:spPr>
      </p:pic>
    </p:spTree>
    <p:extLst>
      <p:ext uri="{BB962C8B-B14F-4D97-AF65-F5344CB8AC3E}">
        <p14:creationId xmlns:p14="http://schemas.microsoft.com/office/powerpoint/2010/main" val="3529282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a:t>String Comparison</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33</a:t>
            </a:fld>
            <a:endParaRPr lang="en-US"/>
          </a:p>
        </p:txBody>
      </p:sp>
      <p:sp>
        <p:nvSpPr>
          <p:cNvPr id="2" name="Rectangle 1"/>
          <p:cNvSpPr/>
          <p:nvPr/>
        </p:nvSpPr>
        <p:spPr>
          <a:xfrm>
            <a:off x="311980" y="1460600"/>
            <a:ext cx="10732258" cy="3323987"/>
          </a:xfrm>
          <a:prstGeom prst="rect">
            <a:avLst/>
          </a:prstGeom>
        </p:spPr>
        <p:txBody>
          <a:bodyPr wrap="square">
            <a:spAutoFit/>
          </a:bodyPr>
          <a:lstStyle/>
          <a:p>
            <a:pPr marL="342900" indent="-342900">
              <a:lnSpc>
                <a:spcPct val="150000"/>
              </a:lnSpc>
              <a:buFont typeface="Arial" panose="020B0604020202020204" pitchFamily="34" charset="0"/>
              <a:buChar char="•"/>
            </a:pPr>
            <a:r>
              <a:rPr lang="en-US" sz="2000" dirty="0">
                <a:latin typeface="Corbel" panose="020B0503020204020204" pitchFamily="34" charset="0"/>
              </a:rPr>
              <a:t>We can compare string in java on the basis of content and reference.</a:t>
            </a:r>
          </a:p>
          <a:p>
            <a:pPr marL="342900" indent="-342900">
              <a:lnSpc>
                <a:spcPct val="150000"/>
              </a:lnSpc>
              <a:buFont typeface="Arial" panose="020B0604020202020204" pitchFamily="34" charset="0"/>
              <a:buChar char="•"/>
            </a:pPr>
            <a:r>
              <a:rPr lang="en-US" sz="2000" dirty="0">
                <a:latin typeface="Corbel" panose="020B0503020204020204" pitchFamily="34" charset="0"/>
              </a:rPr>
              <a:t>It is used in </a:t>
            </a:r>
            <a:r>
              <a:rPr lang="en-US" sz="2000" b="1" dirty="0">
                <a:latin typeface="Corbel" panose="020B0503020204020204" pitchFamily="34" charset="0"/>
              </a:rPr>
              <a:t>authentication</a:t>
            </a:r>
            <a:r>
              <a:rPr lang="en-US" sz="2000" dirty="0">
                <a:latin typeface="Corbel" panose="020B0503020204020204" pitchFamily="34" charset="0"/>
              </a:rPr>
              <a:t> (by equals() method), </a:t>
            </a:r>
            <a:r>
              <a:rPr lang="en-US" sz="2000" b="1" dirty="0">
                <a:latin typeface="Corbel" panose="020B0503020204020204" pitchFamily="34" charset="0"/>
              </a:rPr>
              <a:t>sorting</a:t>
            </a:r>
            <a:r>
              <a:rPr lang="en-US" sz="2000" dirty="0">
                <a:latin typeface="Corbel" panose="020B0503020204020204" pitchFamily="34" charset="0"/>
              </a:rPr>
              <a:t> (by </a:t>
            </a:r>
            <a:r>
              <a:rPr lang="en-US" sz="2000" dirty="0" err="1">
                <a:latin typeface="Corbel" panose="020B0503020204020204" pitchFamily="34" charset="0"/>
              </a:rPr>
              <a:t>compareTo</a:t>
            </a:r>
            <a:r>
              <a:rPr lang="en-US" sz="2000" dirty="0">
                <a:latin typeface="Corbel" panose="020B0503020204020204" pitchFamily="34" charset="0"/>
              </a:rPr>
              <a:t>() method), </a:t>
            </a:r>
            <a:r>
              <a:rPr lang="en-US" sz="2000" b="1" dirty="0">
                <a:latin typeface="Corbel" panose="020B0503020204020204" pitchFamily="34" charset="0"/>
              </a:rPr>
              <a:t>reference matching</a:t>
            </a:r>
            <a:r>
              <a:rPr lang="en-US" sz="2000" dirty="0">
                <a:latin typeface="Corbel" panose="020B0503020204020204" pitchFamily="34" charset="0"/>
              </a:rPr>
              <a:t> (by == operator) etc.</a:t>
            </a:r>
          </a:p>
          <a:p>
            <a:pPr marL="342900" indent="-342900">
              <a:lnSpc>
                <a:spcPct val="150000"/>
              </a:lnSpc>
              <a:buFont typeface="Arial" panose="020B0604020202020204" pitchFamily="34" charset="0"/>
              <a:buChar char="•"/>
            </a:pPr>
            <a:r>
              <a:rPr lang="en-US" sz="2000" dirty="0">
                <a:latin typeface="Corbel" panose="020B0503020204020204" pitchFamily="34" charset="0"/>
              </a:rPr>
              <a:t>There are three ways to compare string in java:</a:t>
            </a:r>
          </a:p>
          <a:p>
            <a:pPr marL="342900" indent="-342900">
              <a:lnSpc>
                <a:spcPct val="150000"/>
              </a:lnSpc>
              <a:buFont typeface="Arial" panose="020B0604020202020204" pitchFamily="34" charset="0"/>
              <a:buChar char="•"/>
            </a:pPr>
            <a:r>
              <a:rPr lang="en-US" sz="2000" dirty="0">
                <a:latin typeface="Corbel" panose="020B0503020204020204" pitchFamily="34" charset="0"/>
              </a:rPr>
              <a:t>By equals() method</a:t>
            </a:r>
          </a:p>
          <a:p>
            <a:pPr marL="342900" indent="-342900">
              <a:lnSpc>
                <a:spcPct val="150000"/>
              </a:lnSpc>
              <a:buFont typeface="Arial" panose="020B0604020202020204" pitchFamily="34" charset="0"/>
              <a:buChar char="•"/>
            </a:pPr>
            <a:r>
              <a:rPr lang="en-US" sz="2000" dirty="0">
                <a:latin typeface="Corbel" panose="020B0503020204020204" pitchFamily="34" charset="0"/>
              </a:rPr>
              <a:t>By = = operator</a:t>
            </a:r>
          </a:p>
          <a:p>
            <a:pPr marL="342900" indent="-342900">
              <a:lnSpc>
                <a:spcPct val="150000"/>
              </a:lnSpc>
              <a:buFont typeface="Arial" panose="020B0604020202020204" pitchFamily="34" charset="0"/>
              <a:buChar char="•"/>
            </a:pPr>
            <a:r>
              <a:rPr lang="en-US" sz="2000" dirty="0">
                <a:latin typeface="Corbel" panose="020B0503020204020204" pitchFamily="34" charset="0"/>
              </a:rPr>
              <a:t>By </a:t>
            </a:r>
            <a:r>
              <a:rPr lang="en-US" sz="2000" dirty="0" err="1">
                <a:latin typeface="Corbel" panose="020B0503020204020204" pitchFamily="34" charset="0"/>
              </a:rPr>
              <a:t>compareTo</a:t>
            </a:r>
            <a:r>
              <a:rPr lang="en-US" sz="2000" dirty="0">
                <a:latin typeface="Corbel" panose="020B0503020204020204" pitchFamily="34" charset="0"/>
              </a:rPr>
              <a:t>() method</a:t>
            </a:r>
          </a:p>
        </p:txBody>
      </p:sp>
    </p:spTree>
    <p:extLst>
      <p:ext uri="{BB962C8B-B14F-4D97-AF65-F5344CB8AC3E}">
        <p14:creationId xmlns:p14="http://schemas.microsoft.com/office/powerpoint/2010/main" val="3339548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a:t>1. String compare by equals() method</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34</a:t>
            </a:fld>
            <a:endParaRPr lang="en-US"/>
          </a:p>
        </p:txBody>
      </p:sp>
      <p:sp>
        <p:nvSpPr>
          <p:cNvPr id="2" name="Rectangle 1"/>
          <p:cNvSpPr/>
          <p:nvPr/>
        </p:nvSpPr>
        <p:spPr>
          <a:xfrm>
            <a:off x="311979" y="1460600"/>
            <a:ext cx="6117395" cy="3785652"/>
          </a:xfrm>
          <a:prstGeom prst="rect">
            <a:avLst/>
          </a:prstGeom>
        </p:spPr>
        <p:txBody>
          <a:bodyPr wrap="square">
            <a:spAutoFit/>
          </a:bodyPr>
          <a:lstStyle/>
          <a:p>
            <a:pPr marL="285750" indent="-285750">
              <a:lnSpc>
                <a:spcPct val="150000"/>
              </a:lnSpc>
              <a:buFont typeface="Arial" panose="020B0604020202020204" pitchFamily="34" charset="0"/>
              <a:buChar char="•"/>
            </a:pPr>
            <a:r>
              <a:rPr lang="en-US" sz="2000" dirty="0">
                <a:latin typeface="Corbel" panose="020B0503020204020204" pitchFamily="34" charset="0"/>
              </a:rPr>
              <a:t>The String equals() method compares the original content of the string. It compares values of string for equality. String class provides two methods:</a:t>
            </a:r>
          </a:p>
          <a:p>
            <a:pPr marL="285750" indent="-285750">
              <a:lnSpc>
                <a:spcPct val="150000"/>
              </a:lnSpc>
              <a:buFont typeface="Arial" panose="020B0604020202020204" pitchFamily="34" charset="0"/>
              <a:buChar char="•"/>
            </a:pPr>
            <a:r>
              <a:rPr lang="en-US" sz="2000" b="1" dirty="0">
                <a:latin typeface="Corbel" panose="020B0503020204020204" pitchFamily="34" charset="0"/>
              </a:rPr>
              <a:t>public </a:t>
            </a:r>
            <a:r>
              <a:rPr lang="en-US" sz="2000" b="1" dirty="0" err="1">
                <a:latin typeface="Corbel" panose="020B0503020204020204" pitchFamily="34" charset="0"/>
              </a:rPr>
              <a:t>boolean</a:t>
            </a:r>
            <a:r>
              <a:rPr lang="en-US" sz="2000" b="1" dirty="0">
                <a:latin typeface="Corbel" panose="020B0503020204020204" pitchFamily="34" charset="0"/>
              </a:rPr>
              <a:t> equals(Object another)</a:t>
            </a:r>
            <a:r>
              <a:rPr lang="en-US" sz="2000" dirty="0">
                <a:latin typeface="Corbel" panose="020B0503020204020204" pitchFamily="34" charset="0"/>
              </a:rPr>
              <a:t> compares this string to the specified object.</a:t>
            </a:r>
          </a:p>
          <a:p>
            <a:pPr marL="285750" indent="-285750">
              <a:lnSpc>
                <a:spcPct val="150000"/>
              </a:lnSpc>
              <a:buFont typeface="Arial" panose="020B0604020202020204" pitchFamily="34" charset="0"/>
              <a:buChar char="•"/>
            </a:pPr>
            <a:r>
              <a:rPr lang="en-US" sz="2000" b="1" dirty="0">
                <a:latin typeface="Corbel" panose="020B0503020204020204" pitchFamily="34" charset="0"/>
              </a:rPr>
              <a:t>public </a:t>
            </a:r>
            <a:r>
              <a:rPr lang="en-US" sz="2000" b="1" dirty="0" err="1">
                <a:latin typeface="Corbel" panose="020B0503020204020204" pitchFamily="34" charset="0"/>
              </a:rPr>
              <a:t>boolean</a:t>
            </a:r>
            <a:r>
              <a:rPr lang="en-US" sz="2000" b="1" dirty="0">
                <a:latin typeface="Corbel" panose="020B0503020204020204" pitchFamily="34" charset="0"/>
              </a:rPr>
              <a:t> </a:t>
            </a:r>
            <a:r>
              <a:rPr lang="en-US" sz="2000" b="1" dirty="0" err="1">
                <a:latin typeface="Corbel" panose="020B0503020204020204" pitchFamily="34" charset="0"/>
              </a:rPr>
              <a:t>equalsIgnoreCase</a:t>
            </a:r>
            <a:r>
              <a:rPr lang="en-US" sz="2000" b="1" dirty="0">
                <a:latin typeface="Corbel" panose="020B0503020204020204" pitchFamily="34" charset="0"/>
              </a:rPr>
              <a:t>(String another)</a:t>
            </a:r>
            <a:r>
              <a:rPr lang="en-US" sz="2000" dirty="0">
                <a:latin typeface="Corbel" panose="020B0503020204020204" pitchFamily="34" charset="0"/>
              </a:rPr>
              <a:t> compares this String to another string, ignoring case.</a:t>
            </a:r>
          </a:p>
        </p:txBody>
      </p:sp>
      <p:pic>
        <p:nvPicPr>
          <p:cNvPr id="5" name="Picture 4"/>
          <p:cNvPicPr>
            <a:picLocks noChangeAspect="1"/>
          </p:cNvPicPr>
          <p:nvPr/>
        </p:nvPicPr>
        <p:blipFill>
          <a:blip r:embed="rId2"/>
          <a:stretch>
            <a:fillRect/>
          </a:stretch>
        </p:blipFill>
        <p:spPr>
          <a:xfrm>
            <a:off x="6653211" y="1460600"/>
            <a:ext cx="5395339" cy="5260876"/>
          </a:xfrm>
          <a:prstGeom prst="rect">
            <a:avLst/>
          </a:prstGeom>
        </p:spPr>
      </p:pic>
    </p:spTree>
    <p:extLst>
      <p:ext uri="{BB962C8B-B14F-4D97-AF65-F5344CB8AC3E}">
        <p14:creationId xmlns:p14="http://schemas.microsoft.com/office/powerpoint/2010/main" val="1422088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a:t>2. String compare by == operator</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35</a:t>
            </a:fld>
            <a:endParaRPr lang="en-US"/>
          </a:p>
        </p:txBody>
      </p:sp>
      <p:sp>
        <p:nvSpPr>
          <p:cNvPr id="2" name="Rectangle 1"/>
          <p:cNvSpPr/>
          <p:nvPr/>
        </p:nvSpPr>
        <p:spPr>
          <a:xfrm>
            <a:off x="311979" y="1460600"/>
            <a:ext cx="6117395" cy="461858"/>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t>The = = operator compares references not values.</a:t>
            </a:r>
            <a:endParaRPr lang="en-US" sz="2000" dirty="0">
              <a:latin typeface="Corbel" panose="020B0503020204020204" pitchFamily="34" charset="0"/>
            </a:endParaRPr>
          </a:p>
        </p:txBody>
      </p:sp>
      <p:pic>
        <p:nvPicPr>
          <p:cNvPr id="6" name="Picture 5"/>
          <p:cNvPicPr>
            <a:picLocks noChangeAspect="1"/>
          </p:cNvPicPr>
          <p:nvPr/>
        </p:nvPicPr>
        <p:blipFill>
          <a:blip r:embed="rId2"/>
          <a:stretch>
            <a:fillRect/>
          </a:stretch>
        </p:blipFill>
        <p:spPr>
          <a:xfrm>
            <a:off x="609600" y="2072656"/>
            <a:ext cx="9696450" cy="4114612"/>
          </a:xfrm>
          <a:prstGeom prst="rect">
            <a:avLst/>
          </a:prstGeom>
        </p:spPr>
      </p:pic>
    </p:spTree>
    <p:extLst>
      <p:ext uri="{BB962C8B-B14F-4D97-AF65-F5344CB8AC3E}">
        <p14:creationId xmlns:p14="http://schemas.microsoft.com/office/powerpoint/2010/main" val="441092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a:t>3. String compare by </a:t>
            </a:r>
            <a:r>
              <a:rPr lang="en-US" dirty="0" err="1"/>
              <a:t>compareTo</a:t>
            </a:r>
            <a:r>
              <a:rPr lang="en-US" dirty="0"/>
              <a:t>() method</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36</a:t>
            </a:fld>
            <a:endParaRPr lang="en-US"/>
          </a:p>
        </p:txBody>
      </p:sp>
      <p:sp>
        <p:nvSpPr>
          <p:cNvPr id="2" name="Rectangle 1"/>
          <p:cNvSpPr/>
          <p:nvPr/>
        </p:nvSpPr>
        <p:spPr>
          <a:xfrm>
            <a:off x="311979" y="1460600"/>
            <a:ext cx="5474459" cy="4247317"/>
          </a:xfrm>
          <a:prstGeom prst="rect">
            <a:avLst/>
          </a:prstGeom>
        </p:spPr>
        <p:txBody>
          <a:bodyPr wrap="square">
            <a:spAutoFit/>
          </a:bodyPr>
          <a:lstStyle/>
          <a:p>
            <a:pPr marL="285750" indent="-285750">
              <a:lnSpc>
                <a:spcPct val="150000"/>
              </a:lnSpc>
              <a:buFont typeface="Arial" panose="020B0604020202020204" pitchFamily="34" charset="0"/>
              <a:buChar char="•"/>
            </a:pPr>
            <a:r>
              <a:rPr lang="en-US" dirty="0"/>
              <a:t>The String </a:t>
            </a:r>
            <a:r>
              <a:rPr lang="en-US" dirty="0" err="1"/>
              <a:t>compareTo</a:t>
            </a:r>
            <a:r>
              <a:rPr lang="en-US" dirty="0"/>
              <a:t>() method compares values lexicographically and returns an integer value that describes if first string is less than, equal to or greater than second string.</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Suppose s1 and s2 are two string variables. If:</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s1 == s2 :0</a:t>
            </a:r>
          </a:p>
          <a:p>
            <a:pPr marL="285750" indent="-285750">
              <a:lnSpc>
                <a:spcPct val="150000"/>
              </a:lnSpc>
              <a:buFont typeface="Arial" panose="020B0604020202020204" pitchFamily="34" charset="0"/>
              <a:buChar char="•"/>
            </a:pPr>
            <a:r>
              <a:rPr lang="en-US" dirty="0"/>
              <a:t>s1 &gt; s2   :positive value</a:t>
            </a:r>
          </a:p>
          <a:p>
            <a:pPr marL="285750" indent="-285750">
              <a:lnSpc>
                <a:spcPct val="150000"/>
              </a:lnSpc>
              <a:buFont typeface="Arial" panose="020B0604020202020204" pitchFamily="34" charset="0"/>
              <a:buChar char="•"/>
            </a:pPr>
            <a:r>
              <a:rPr lang="en-US" dirty="0"/>
              <a:t>s1 &lt; s2   :negative value</a:t>
            </a:r>
            <a:endParaRPr lang="en-US" sz="2000" dirty="0">
              <a:latin typeface="Corbel" panose="020B0503020204020204" pitchFamily="34" charset="0"/>
            </a:endParaRPr>
          </a:p>
        </p:txBody>
      </p:sp>
      <p:pic>
        <p:nvPicPr>
          <p:cNvPr id="5" name="Picture 4"/>
          <p:cNvPicPr>
            <a:picLocks noChangeAspect="1"/>
          </p:cNvPicPr>
          <p:nvPr/>
        </p:nvPicPr>
        <p:blipFill>
          <a:blip r:embed="rId2"/>
          <a:stretch>
            <a:fillRect/>
          </a:stretch>
        </p:blipFill>
        <p:spPr>
          <a:xfrm>
            <a:off x="5976937" y="1460600"/>
            <a:ext cx="5678960" cy="3640038"/>
          </a:xfrm>
          <a:prstGeom prst="rect">
            <a:avLst/>
          </a:prstGeom>
        </p:spPr>
      </p:pic>
    </p:spTree>
    <p:extLst>
      <p:ext uri="{BB962C8B-B14F-4D97-AF65-F5344CB8AC3E}">
        <p14:creationId xmlns:p14="http://schemas.microsoft.com/office/powerpoint/2010/main" val="425690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a:t>String Manipulations</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37</a:t>
            </a:fld>
            <a:endParaRPr lang="en-US"/>
          </a:p>
        </p:txBody>
      </p:sp>
      <p:sp>
        <p:nvSpPr>
          <p:cNvPr id="2" name="Rectangle 1"/>
          <p:cNvSpPr/>
          <p:nvPr/>
        </p:nvSpPr>
        <p:spPr>
          <a:xfrm>
            <a:off x="311979" y="1460600"/>
            <a:ext cx="10889421" cy="4662815"/>
          </a:xfrm>
          <a:prstGeom prst="rect">
            <a:avLst/>
          </a:prstGeom>
        </p:spPr>
        <p:txBody>
          <a:bodyPr wrap="square">
            <a:spAutoFit/>
          </a:bodyPr>
          <a:lstStyle/>
          <a:p>
            <a:pPr>
              <a:lnSpc>
                <a:spcPct val="150000"/>
              </a:lnSpc>
            </a:pPr>
            <a:r>
              <a:rPr lang="en-US" b="1" dirty="0">
                <a:latin typeface="Corbel" panose="020B0503020204020204" pitchFamily="34" charset="0"/>
              </a:rPr>
              <a:t>Concatenation</a:t>
            </a:r>
            <a:r>
              <a:rPr lang="en-US" dirty="0">
                <a:latin typeface="Corbel" panose="020B0503020204020204" pitchFamily="34" charset="0"/>
              </a:rPr>
              <a:t>:</a:t>
            </a:r>
          </a:p>
          <a:p>
            <a:pPr>
              <a:lnSpc>
                <a:spcPct val="150000"/>
              </a:lnSpc>
            </a:pPr>
            <a:r>
              <a:rPr lang="en-US" dirty="0">
                <a:latin typeface="Corbel" panose="020B0503020204020204" pitchFamily="34" charset="0"/>
              </a:rPr>
              <a:t>In java, string concatenation forms a new string </a:t>
            </a:r>
            <a:r>
              <a:rPr lang="en-US" i="1" dirty="0">
                <a:latin typeface="Corbel" panose="020B0503020204020204" pitchFamily="34" charset="0"/>
              </a:rPr>
              <a:t>that is</a:t>
            </a:r>
            <a:r>
              <a:rPr lang="en-US" dirty="0">
                <a:latin typeface="Corbel" panose="020B0503020204020204" pitchFamily="34" charset="0"/>
              </a:rPr>
              <a:t> the combination of multiple strings. There are two ways to </a:t>
            </a:r>
            <a:r>
              <a:rPr lang="en-US" dirty="0" err="1">
                <a:latin typeface="Corbel" panose="020B0503020204020204" pitchFamily="34" charset="0"/>
              </a:rPr>
              <a:t>concat</a:t>
            </a:r>
            <a:r>
              <a:rPr lang="en-US" dirty="0">
                <a:latin typeface="Corbel" panose="020B0503020204020204" pitchFamily="34" charset="0"/>
              </a:rPr>
              <a:t> string in java:</a:t>
            </a:r>
          </a:p>
          <a:p>
            <a:pPr>
              <a:lnSpc>
                <a:spcPct val="150000"/>
              </a:lnSpc>
            </a:pPr>
            <a:r>
              <a:rPr lang="en-US" dirty="0">
                <a:latin typeface="Corbel" panose="020B0503020204020204" pitchFamily="34" charset="0"/>
              </a:rPr>
              <a:t>	By + (string concatenation) operator</a:t>
            </a:r>
          </a:p>
          <a:p>
            <a:pPr>
              <a:lnSpc>
                <a:spcPct val="150000"/>
              </a:lnSpc>
            </a:pPr>
            <a:r>
              <a:rPr lang="en-US" dirty="0">
                <a:latin typeface="Corbel" panose="020B0503020204020204" pitchFamily="34" charset="0"/>
              </a:rPr>
              <a:t>	By </a:t>
            </a:r>
            <a:r>
              <a:rPr lang="en-US" dirty="0" err="1">
                <a:latin typeface="Corbel" panose="020B0503020204020204" pitchFamily="34" charset="0"/>
              </a:rPr>
              <a:t>concat</a:t>
            </a:r>
            <a:r>
              <a:rPr lang="en-US" dirty="0">
                <a:latin typeface="Corbel" panose="020B0503020204020204" pitchFamily="34" charset="0"/>
              </a:rPr>
              <a:t>() method</a:t>
            </a:r>
          </a:p>
          <a:p>
            <a:pPr>
              <a:lnSpc>
                <a:spcPct val="150000"/>
              </a:lnSpc>
            </a:pPr>
            <a:r>
              <a:rPr lang="en-US" b="1" dirty="0">
                <a:latin typeface="Corbel" panose="020B0503020204020204" pitchFamily="34" charset="0"/>
              </a:rPr>
              <a:t>Substring</a:t>
            </a:r>
          </a:p>
          <a:p>
            <a:pPr>
              <a:lnSpc>
                <a:spcPct val="150000"/>
              </a:lnSpc>
            </a:pPr>
            <a:r>
              <a:rPr lang="en-US" dirty="0">
                <a:latin typeface="Corbel" panose="020B0503020204020204" pitchFamily="34" charset="0"/>
              </a:rPr>
              <a:t>You can get substring from the given string object by one of the two methods:</a:t>
            </a:r>
          </a:p>
          <a:p>
            <a:pPr>
              <a:lnSpc>
                <a:spcPct val="150000"/>
              </a:lnSpc>
            </a:pPr>
            <a:r>
              <a:rPr lang="en-US" dirty="0">
                <a:latin typeface="Corbel" panose="020B0503020204020204" pitchFamily="34" charset="0"/>
              </a:rPr>
              <a:t>	</a:t>
            </a:r>
            <a:r>
              <a:rPr lang="en-US" b="1" i="1" dirty="0">
                <a:latin typeface="Corbel" panose="020B0503020204020204" pitchFamily="34" charset="0"/>
              </a:rPr>
              <a:t>public String substring(</a:t>
            </a:r>
            <a:r>
              <a:rPr lang="en-US" b="1" i="1" dirty="0" err="1">
                <a:latin typeface="Corbel" panose="020B0503020204020204" pitchFamily="34" charset="0"/>
              </a:rPr>
              <a:t>int</a:t>
            </a:r>
            <a:r>
              <a:rPr lang="en-US" b="1" i="1" dirty="0">
                <a:latin typeface="Corbel" panose="020B0503020204020204" pitchFamily="34" charset="0"/>
              </a:rPr>
              <a:t> </a:t>
            </a:r>
            <a:r>
              <a:rPr lang="en-US" b="1" i="1" dirty="0" err="1">
                <a:latin typeface="Corbel" panose="020B0503020204020204" pitchFamily="34" charset="0"/>
              </a:rPr>
              <a:t>startIndex</a:t>
            </a:r>
            <a:r>
              <a:rPr lang="en-US" b="1" i="1" dirty="0">
                <a:latin typeface="Corbel" panose="020B0503020204020204" pitchFamily="34" charset="0"/>
              </a:rPr>
              <a:t>)</a:t>
            </a:r>
            <a:r>
              <a:rPr lang="en-US" dirty="0">
                <a:latin typeface="Corbel" panose="020B0503020204020204" pitchFamily="34" charset="0"/>
              </a:rPr>
              <a:t>: This method returns new String object containing the substring of the given string from specified </a:t>
            </a:r>
            <a:r>
              <a:rPr lang="en-US" dirty="0" err="1">
                <a:latin typeface="Corbel" panose="020B0503020204020204" pitchFamily="34" charset="0"/>
              </a:rPr>
              <a:t>startIndex</a:t>
            </a:r>
            <a:r>
              <a:rPr lang="en-US" dirty="0">
                <a:latin typeface="Corbel" panose="020B0503020204020204" pitchFamily="34" charset="0"/>
              </a:rPr>
              <a:t> (inclusive).</a:t>
            </a:r>
          </a:p>
          <a:p>
            <a:pPr>
              <a:lnSpc>
                <a:spcPct val="150000"/>
              </a:lnSpc>
            </a:pPr>
            <a:r>
              <a:rPr lang="en-US" dirty="0">
                <a:latin typeface="Corbel" panose="020B0503020204020204" pitchFamily="34" charset="0"/>
              </a:rPr>
              <a:t>	</a:t>
            </a:r>
            <a:r>
              <a:rPr lang="en-US" b="1" i="1" dirty="0">
                <a:latin typeface="Corbel" panose="020B0503020204020204" pitchFamily="34" charset="0"/>
              </a:rPr>
              <a:t>public String substring(</a:t>
            </a:r>
            <a:r>
              <a:rPr lang="en-US" b="1" i="1" dirty="0" err="1">
                <a:latin typeface="Corbel" panose="020B0503020204020204" pitchFamily="34" charset="0"/>
              </a:rPr>
              <a:t>int</a:t>
            </a:r>
            <a:r>
              <a:rPr lang="en-US" b="1" i="1" dirty="0">
                <a:latin typeface="Corbel" panose="020B0503020204020204" pitchFamily="34" charset="0"/>
              </a:rPr>
              <a:t> </a:t>
            </a:r>
            <a:r>
              <a:rPr lang="en-US" b="1" i="1" dirty="0" err="1">
                <a:latin typeface="Corbel" panose="020B0503020204020204" pitchFamily="34" charset="0"/>
              </a:rPr>
              <a:t>startIndex</a:t>
            </a:r>
            <a:r>
              <a:rPr lang="en-US" b="1" i="1" dirty="0">
                <a:latin typeface="Corbel" panose="020B0503020204020204" pitchFamily="34" charset="0"/>
              </a:rPr>
              <a:t>, </a:t>
            </a:r>
            <a:r>
              <a:rPr lang="en-US" b="1" i="1" dirty="0" err="1">
                <a:latin typeface="Corbel" panose="020B0503020204020204" pitchFamily="34" charset="0"/>
              </a:rPr>
              <a:t>int</a:t>
            </a:r>
            <a:r>
              <a:rPr lang="en-US" b="1" i="1" dirty="0">
                <a:latin typeface="Corbel" panose="020B0503020204020204" pitchFamily="34" charset="0"/>
              </a:rPr>
              <a:t> </a:t>
            </a:r>
            <a:r>
              <a:rPr lang="en-US" b="1" i="1" dirty="0" err="1">
                <a:latin typeface="Corbel" panose="020B0503020204020204" pitchFamily="34" charset="0"/>
              </a:rPr>
              <a:t>endIndex</a:t>
            </a:r>
            <a:r>
              <a:rPr lang="en-US" b="1" i="1" dirty="0">
                <a:latin typeface="Corbel" panose="020B0503020204020204" pitchFamily="34" charset="0"/>
              </a:rPr>
              <a:t>)</a:t>
            </a:r>
            <a:r>
              <a:rPr lang="en-US" dirty="0">
                <a:latin typeface="Corbel" panose="020B0503020204020204" pitchFamily="34" charset="0"/>
              </a:rPr>
              <a:t>: This method returns new String object containing the substring of the given string from specified </a:t>
            </a:r>
            <a:r>
              <a:rPr lang="en-US" dirty="0" err="1">
                <a:latin typeface="Corbel" panose="020B0503020204020204" pitchFamily="34" charset="0"/>
              </a:rPr>
              <a:t>startIndex</a:t>
            </a:r>
            <a:r>
              <a:rPr lang="en-US" dirty="0">
                <a:latin typeface="Corbel" panose="020B0503020204020204" pitchFamily="34" charset="0"/>
              </a:rPr>
              <a:t> to </a:t>
            </a:r>
            <a:r>
              <a:rPr lang="en-US" dirty="0" err="1">
                <a:latin typeface="Corbel" panose="020B0503020204020204" pitchFamily="34" charset="0"/>
              </a:rPr>
              <a:t>endIndex</a:t>
            </a:r>
            <a:r>
              <a:rPr lang="en-US" dirty="0">
                <a:latin typeface="Corbel" panose="020B0503020204020204" pitchFamily="34" charset="0"/>
              </a:rPr>
              <a:t>.</a:t>
            </a:r>
          </a:p>
        </p:txBody>
      </p:sp>
    </p:spTree>
    <p:extLst>
      <p:ext uri="{BB962C8B-B14F-4D97-AF65-F5344CB8AC3E}">
        <p14:creationId xmlns:p14="http://schemas.microsoft.com/office/powerpoint/2010/main" val="1878851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Class - Methods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455312225"/>
              </p:ext>
            </p:extLst>
          </p:nvPr>
        </p:nvGraphicFramePr>
        <p:xfrm>
          <a:off x="233363" y="1357313"/>
          <a:ext cx="11410951" cy="5386388"/>
        </p:xfrm>
        <a:graphic>
          <a:graphicData uri="http://schemas.openxmlformats.org/drawingml/2006/table">
            <a:tbl>
              <a:tblPr firstRow="1" bandRow="1">
                <a:tableStyleId>{FABFCF23-3B69-468F-B69F-88F6DE6A72F2}</a:tableStyleId>
              </a:tblPr>
              <a:tblGrid>
                <a:gridCol w="4195762">
                  <a:extLst>
                    <a:ext uri="{9D8B030D-6E8A-4147-A177-3AD203B41FA5}">
                      <a16:colId xmlns:a16="http://schemas.microsoft.com/office/drawing/2014/main" val="1905114033"/>
                    </a:ext>
                  </a:extLst>
                </a:gridCol>
                <a:gridCol w="7215189">
                  <a:extLst>
                    <a:ext uri="{9D8B030D-6E8A-4147-A177-3AD203B41FA5}">
                      <a16:colId xmlns:a16="http://schemas.microsoft.com/office/drawing/2014/main" val="3460049388"/>
                    </a:ext>
                  </a:extLst>
                </a:gridCol>
              </a:tblGrid>
              <a:tr h="330227">
                <a:tc>
                  <a:txBody>
                    <a:bodyPr/>
                    <a:lstStyle/>
                    <a:p>
                      <a:r>
                        <a:rPr lang="en-US" sz="1400" dirty="0">
                          <a:latin typeface="Corbel" panose="020B0503020204020204" pitchFamily="34" charset="0"/>
                        </a:rPr>
                        <a:t>Method</a:t>
                      </a:r>
                    </a:p>
                  </a:txBody>
                  <a:tcPr/>
                </a:tc>
                <a:tc>
                  <a:txBody>
                    <a:bodyPr/>
                    <a:lstStyle/>
                    <a:p>
                      <a:r>
                        <a:rPr lang="en-US" sz="1400" dirty="0">
                          <a:latin typeface="Corbel" panose="020B0503020204020204" pitchFamily="34" charset="0"/>
                        </a:rPr>
                        <a:t>Description</a:t>
                      </a:r>
                    </a:p>
                  </a:txBody>
                  <a:tcPr/>
                </a:tc>
                <a:extLst>
                  <a:ext uri="{0D108BD9-81ED-4DB2-BD59-A6C34878D82A}">
                    <a16:rowId xmlns:a16="http://schemas.microsoft.com/office/drawing/2014/main" val="3010429015"/>
                  </a:ext>
                </a:extLst>
              </a:tr>
              <a:tr h="977711">
                <a:tc>
                  <a:txBody>
                    <a:bodyPr/>
                    <a:lstStyle/>
                    <a:p>
                      <a:r>
                        <a:rPr lang="en-US" sz="1400" kern="1200" dirty="0">
                          <a:effectLst/>
                          <a:latin typeface="Corbel" panose="020B0503020204020204" pitchFamily="34" charset="0"/>
                        </a:rPr>
                        <a:t>Java String </a:t>
                      </a:r>
                      <a:r>
                        <a:rPr lang="en-US" sz="1400" kern="1200" dirty="0" err="1">
                          <a:effectLst/>
                          <a:latin typeface="Corbel" panose="020B0503020204020204" pitchFamily="34" charset="0"/>
                        </a:rPr>
                        <a:t>toUpperCase</a:t>
                      </a:r>
                      <a:r>
                        <a:rPr lang="en-US" sz="1400" kern="1200" dirty="0">
                          <a:effectLst/>
                          <a:latin typeface="Corbel" panose="020B0503020204020204" pitchFamily="34" charset="0"/>
                        </a:rPr>
                        <a:t>() and </a:t>
                      </a:r>
                      <a:r>
                        <a:rPr lang="en-US" sz="1400" kern="1200" dirty="0" err="1">
                          <a:effectLst/>
                          <a:latin typeface="Corbel" panose="020B0503020204020204" pitchFamily="34" charset="0"/>
                        </a:rPr>
                        <a:t>toLowerCase</a:t>
                      </a:r>
                      <a:r>
                        <a:rPr lang="en-US" sz="1400" kern="1200" dirty="0">
                          <a:effectLst/>
                          <a:latin typeface="Corbel" panose="020B0503020204020204" pitchFamily="34" charset="0"/>
                        </a:rPr>
                        <a:t>() method</a:t>
                      </a:r>
                      <a:endParaRPr lang="en-US" sz="1400" dirty="0">
                        <a:latin typeface="Corbel" panose="020B0503020204020204" pitchFamily="34" charset="0"/>
                      </a:endParaRPr>
                    </a:p>
                  </a:txBody>
                  <a:tcPr/>
                </a:tc>
                <a:tc>
                  <a:txBody>
                    <a:bodyPr/>
                    <a:lstStyle/>
                    <a:p>
                      <a:pPr marL="0" indent="0">
                        <a:buFont typeface="Arial" panose="020B0604020202020204" pitchFamily="34" charset="0"/>
                        <a:buNone/>
                      </a:pPr>
                      <a:r>
                        <a:rPr lang="en-US" sz="1400" dirty="0">
                          <a:latin typeface="Corbel" panose="020B0503020204020204" pitchFamily="34" charset="0"/>
                        </a:rPr>
                        <a:t>String s="Sachin";  </a:t>
                      </a:r>
                    </a:p>
                    <a:p>
                      <a:pPr marL="0" indent="0">
                        <a:buFont typeface="Arial" panose="020B0604020202020204" pitchFamily="34" charset="0"/>
                        <a:buNone/>
                      </a:pPr>
                      <a:r>
                        <a:rPr lang="en-US" sz="1400" dirty="0" err="1">
                          <a:latin typeface="Corbel" panose="020B0503020204020204" pitchFamily="34" charset="0"/>
                        </a:rPr>
                        <a:t>System.out.println</a:t>
                      </a:r>
                      <a:r>
                        <a:rPr lang="en-US" sz="1400" dirty="0">
                          <a:latin typeface="Corbel" panose="020B0503020204020204" pitchFamily="34" charset="0"/>
                        </a:rPr>
                        <a:t>(</a:t>
                      </a:r>
                      <a:r>
                        <a:rPr lang="en-US" sz="1400" dirty="0" err="1">
                          <a:latin typeface="Corbel" panose="020B0503020204020204" pitchFamily="34" charset="0"/>
                        </a:rPr>
                        <a:t>s.toUpperCase</a:t>
                      </a:r>
                      <a:r>
                        <a:rPr lang="en-US" sz="1400" dirty="0">
                          <a:latin typeface="Corbel" panose="020B0503020204020204" pitchFamily="34" charset="0"/>
                        </a:rPr>
                        <a:t>());//SACHIN  </a:t>
                      </a:r>
                    </a:p>
                    <a:p>
                      <a:pPr marL="0" indent="0">
                        <a:buFont typeface="Arial" panose="020B0604020202020204" pitchFamily="34" charset="0"/>
                        <a:buNone/>
                      </a:pPr>
                      <a:r>
                        <a:rPr lang="en-US" sz="1400" dirty="0" err="1">
                          <a:latin typeface="Corbel" panose="020B0503020204020204" pitchFamily="34" charset="0"/>
                        </a:rPr>
                        <a:t>System.out.println</a:t>
                      </a:r>
                      <a:r>
                        <a:rPr lang="en-US" sz="1400" dirty="0">
                          <a:latin typeface="Corbel" panose="020B0503020204020204" pitchFamily="34" charset="0"/>
                        </a:rPr>
                        <a:t>(</a:t>
                      </a:r>
                      <a:r>
                        <a:rPr lang="en-US" sz="1400" dirty="0" err="1">
                          <a:latin typeface="Corbel" panose="020B0503020204020204" pitchFamily="34" charset="0"/>
                        </a:rPr>
                        <a:t>s.toLowerCase</a:t>
                      </a:r>
                      <a:r>
                        <a:rPr lang="en-US" sz="1400" dirty="0">
                          <a:latin typeface="Corbel" panose="020B0503020204020204" pitchFamily="34" charset="0"/>
                        </a:rPr>
                        <a:t>());//</a:t>
                      </a:r>
                      <a:r>
                        <a:rPr lang="en-US" sz="1400" dirty="0" err="1">
                          <a:latin typeface="Corbel" panose="020B0503020204020204" pitchFamily="34" charset="0"/>
                        </a:rPr>
                        <a:t>sachin</a:t>
                      </a:r>
                      <a:r>
                        <a:rPr lang="en-US" sz="1400" dirty="0">
                          <a:latin typeface="Corbel" panose="020B0503020204020204" pitchFamily="34" charset="0"/>
                        </a:rPr>
                        <a:t>  </a:t>
                      </a:r>
                    </a:p>
                    <a:p>
                      <a:pPr marL="0" indent="0">
                        <a:buFont typeface="Arial" panose="020B0604020202020204" pitchFamily="34" charset="0"/>
                        <a:buNone/>
                      </a:pPr>
                      <a:r>
                        <a:rPr lang="en-US" sz="1400" dirty="0" err="1">
                          <a:latin typeface="Corbel" panose="020B0503020204020204" pitchFamily="34" charset="0"/>
                        </a:rPr>
                        <a:t>System.out.println</a:t>
                      </a:r>
                      <a:r>
                        <a:rPr lang="en-US" sz="1400" dirty="0">
                          <a:latin typeface="Corbel" panose="020B0503020204020204" pitchFamily="34" charset="0"/>
                        </a:rPr>
                        <a:t>(s);//Sachin(no change in original) .</a:t>
                      </a:r>
                    </a:p>
                  </a:txBody>
                  <a:tcPr/>
                </a:tc>
                <a:extLst>
                  <a:ext uri="{0D108BD9-81ED-4DB2-BD59-A6C34878D82A}">
                    <a16:rowId xmlns:a16="http://schemas.microsoft.com/office/drawing/2014/main" val="3530627234"/>
                  </a:ext>
                </a:extLst>
              </a:tr>
              <a:tr h="754234">
                <a:tc>
                  <a:txBody>
                    <a:bodyPr/>
                    <a:lstStyle/>
                    <a:p>
                      <a:r>
                        <a:rPr lang="en-US" sz="1400" kern="1200" dirty="0">
                          <a:effectLst/>
                          <a:latin typeface="Corbel" panose="020B0503020204020204" pitchFamily="34" charset="0"/>
                        </a:rPr>
                        <a:t>Java String trim() method</a:t>
                      </a:r>
                      <a:endParaRPr lang="en-US" sz="1400" dirty="0">
                        <a:latin typeface="Corbel" panose="020B0503020204020204" pitchFamily="34" charset="0"/>
                      </a:endParaRPr>
                    </a:p>
                  </a:txBody>
                  <a:tcPr/>
                </a:tc>
                <a:tc>
                  <a:txBody>
                    <a:bodyPr/>
                    <a:lstStyle/>
                    <a:p>
                      <a:pPr marL="0" indent="0">
                        <a:buFont typeface="Arial" panose="020B0604020202020204" pitchFamily="34" charset="0"/>
                        <a:buNone/>
                      </a:pPr>
                      <a:r>
                        <a:rPr lang="en-US" sz="1400" dirty="0">
                          <a:latin typeface="Corbel" panose="020B0503020204020204" pitchFamily="34" charset="0"/>
                        </a:rPr>
                        <a:t>String s="  Sachin  ";  </a:t>
                      </a:r>
                    </a:p>
                    <a:p>
                      <a:pPr marL="0" indent="0">
                        <a:buFont typeface="Arial" panose="020B0604020202020204" pitchFamily="34" charset="0"/>
                        <a:buNone/>
                      </a:pPr>
                      <a:r>
                        <a:rPr lang="en-US" sz="1400" dirty="0" err="1">
                          <a:latin typeface="Corbel" panose="020B0503020204020204" pitchFamily="34" charset="0"/>
                        </a:rPr>
                        <a:t>System.out.println</a:t>
                      </a:r>
                      <a:r>
                        <a:rPr lang="en-US" sz="1400" dirty="0">
                          <a:latin typeface="Corbel" panose="020B0503020204020204" pitchFamily="34" charset="0"/>
                        </a:rPr>
                        <a:t>(s);//  Sachin    </a:t>
                      </a:r>
                    </a:p>
                    <a:p>
                      <a:pPr marL="0" indent="0">
                        <a:buFont typeface="Arial" panose="020B0604020202020204" pitchFamily="34" charset="0"/>
                        <a:buNone/>
                      </a:pPr>
                      <a:r>
                        <a:rPr lang="en-US" sz="1400" dirty="0" err="1">
                          <a:latin typeface="Corbel" panose="020B0503020204020204" pitchFamily="34" charset="0"/>
                        </a:rPr>
                        <a:t>System.out.println</a:t>
                      </a:r>
                      <a:r>
                        <a:rPr lang="en-US" sz="1400" dirty="0">
                          <a:latin typeface="Corbel" panose="020B0503020204020204" pitchFamily="34" charset="0"/>
                        </a:rPr>
                        <a:t>(</a:t>
                      </a:r>
                      <a:r>
                        <a:rPr lang="en-US" sz="1400" dirty="0" err="1">
                          <a:latin typeface="Corbel" panose="020B0503020204020204" pitchFamily="34" charset="0"/>
                        </a:rPr>
                        <a:t>s.trim</a:t>
                      </a:r>
                      <a:r>
                        <a:rPr lang="en-US" sz="1400" dirty="0">
                          <a:latin typeface="Corbel" panose="020B0503020204020204" pitchFamily="34" charset="0"/>
                        </a:rPr>
                        <a:t>());//Sachin .</a:t>
                      </a:r>
                    </a:p>
                  </a:txBody>
                  <a:tcPr/>
                </a:tc>
                <a:extLst>
                  <a:ext uri="{0D108BD9-81ED-4DB2-BD59-A6C34878D82A}">
                    <a16:rowId xmlns:a16="http://schemas.microsoft.com/office/drawing/2014/main" val="97800993"/>
                  </a:ext>
                </a:extLst>
              </a:tr>
              <a:tr h="530757">
                <a:tc>
                  <a:txBody>
                    <a:bodyPr/>
                    <a:lstStyle/>
                    <a:p>
                      <a:r>
                        <a:rPr lang="en-US" sz="1400" kern="1200" dirty="0">
                          <a:effectLst/>
                          <a:latin typeface="Corbel" panose="020B0503020204020204" pitchFamily="34" charset="0"/>
                        </a:rPr>
                        <a:t>Java String </a:t>
                      </a:r>
                      <a:r>
                        <a:rPr lang="en-US" sz="1400" kern="1200" dirty="0" err="1">
                          <a:effectLst/>
                          <a:latin typeface="Corbel" panose="020B0503020204020204" pitchFamily="34" charset="0"/>
                        </a:rPr>
                        <a:t>startsWith</a:t>
                      </a:r>
                      <a:r>
                        <a:rPr lang="en-US" sz="1400" kern="1200" dirty="0">
                          <a:effectLst/>
                          <a:latin typeface="Corbel" panose="020B0503020204020204" pitchFamily="34" charset="0"/>
                        </a:rPr>
                        <a:t>() and </a:t>
                      </a:r>
                      <a:r>
                        <a:rPr lang="en-US" sz="1400" kern="1200" dirty="0" err="1">
                          <a:effectLst/>
                          <a:latin typeface="Corbel" panose="020B0503020204020204" pitchFamily="34" charset="0"/>
                        </a:rPr>
                        <a:t>endsWith</a:t>
                      </a:r>
                      <a:r>
                        <a:rPr lang="en-US" sz="1400" kern="1200" dirty="0">
                          <a:effectLst/>
                          <a:latin typeface="Corbel" panose="020B0503020204020204" pitchFamily="34" charset="0"/>
                        </a:rPr>
                        <a:t>() method</a:t>
                      </a:r>
                      <a:endParaRPr lang="en-US" sz="1400" dirty="0">
                        <a:latin typeface="Corbel" panose="020B0503020204020204" pitchFamily="34" charset="0"/>
                      </a:endParaRPr>
                    </a:p>
                  </a:txBody>
                  <a:tcPr/>
                </a:tc>
                <a:tc>
                  <a:txBody>
                    <a:bodyPr/>
                    <a:lstStyle/>
                    <a:p>
                      <a:pPr marL="0" indent="0">
                        <a:buFont typeface="Arial" panose="020B0604020202020204" pitchFamily="34" charset="0"/>
                        <a:buNone/>
                      </a:pPr>
                      <a:r>
                        <a:rPr lang="en-US" sz="1400" dirty="0">
                          <a:latin typeface="Corbel" panose="020B0503020204020204" pitchFamily="34" charset="0"/>
                        </a:rPr>
                        <a:t>String s="Sachin";  </a:t>
                      </a:r>
                    </a:p>
                    <a:p>
                      <a:pPr marL="0" indent="0">
                        <a:buFont typeface="Arial" panose="020B0604020202020204" pitchFamily="34" charset="0"/>
                        <a:buNone/>
                      </a:pPr>
                      <a:r>
                        <a:rPr lang="en-US" sz="1400" dirty="0">
                          <a:latin typeface="Corbel" panose="020B0503020204020204" pitchFamily="34" charset="0"/>
                        </a:rPr>
                        <a:t> </a:t>
                      </a:r>
                      <a:r>
                        <a:rPr lang="en-US" sz="1400" dirty="0" err="1">
                          <a:latin typeface="Corbel" panose="020B0503020204020204" pitchFamily="34" charset="0"/>
                        </a:rPr>
                        <a:t>System.out.println</a:t>
                      </a:r>
                      <a:r>
                        <a:rPr lang="en-US" sz="1400" dirty="0">
                          <a:latin typeface="Corbel" panose="020B0503020204020204" pitchFamily="34" charset="0"/>
                        </a:rPr>
                        <a:t>(</a:t>
                      </a:r>
                      <a:r>
                        <a:rPr lang="en-US" sz="1400" dirty="0" err="1">
                          <a:latin typeface="Corbel" panose="020B0503020204020204" pitchFamily="34" charset="0"/>
                        </a:rPr>
                        <a:t>s.startsWith</a:t>
                      </a:r>
                      <a:r>
                        <a:rPr lang="en-US" sz="1400" dirty="0">
                          <a:latin typeface="Corbel" panose="020B0503020204020204" pitchFamily="34" charset="0"/>
                        </a:rPr>
                        <a:t>("Sa"));//true   </a:t>
                      </a:r>
                      <a:r>
                        <a:rPr lang="en-US" sz="1400" dirty="0" err="1">
                          <a:latin typeface="Corbel" panose="020B0503020204020204" pitchFamily="34" charset="0"/>
                        </a:rPr>
                        <a:t>System.out.println</a:t>
                      </a:r>
                      <a:r>
                        <a:rPr lang="en-US" sz="1400" dirty="0">
                          <a:latin typeface="Corbel" panose="020B0503020204020204" pitchFamily="34" charset="0"/>
                        </a:rPr>
                        <a:t>(</a:t>
                      </a:r>
                      <a:r>
                        <a:rPr lang="en-US" sz="1400" dirty="0" err="1">
                          <a:latin typeface="Corbel" panose="020B0503020204020204" pitchFamily="34" charset="0"/>
                        </a:rPr>
                        <a:t>s.endsWith</a:t>
                      </a:r>
                      <a:r>
                        <a:rPr lang="en-US" sz="1400" dirty="0">
                          <a:latin typeface="Corbel" panose="020B0503020204020204" pitchFamily="34" charset="0"/>
                        </a:rPr>
                        <a:t>("n"));//true </a:t>
                      </a:r>
                    </a:p>
                  </a:txBody>
                  <a:tcPr/>
                </a:tc>
                <a:extLst>
                  <a:ext uri="{0D108BD9-81ED-4DB2-BD59-A6C34878D82A}">
                    <a16:rowId xmlns:a16="http://schemas.microsoft.com/office/drawing/2014/main" val="3282450957"/>
                  </a:ext>
                </a:extLst>
              </a:tr>
              <a:tr h="754234">
                <a:tc>
                  <a:txBody>
                    <a:bodyPr/>
                    <a:lstStyle/>
                    <a:p>
                      <a:r>
                        <a:rPr lang="en-US" sz="1400" dirty="0">
                          <a:latin typeface="Corbel" panose="020B0503020204020204" pitchFamily="34" charset="0"/>
                        </a:rPr>
                        <a:t>Java String </a:t>
                      </a:r>
                      <a:r>
                        <a:rPr lang="en-US" sz="1400" dirty="0" err="1">
                          <a:latin typeface="Corbel" panose="020B0503020204020204" pitchFamily="34" charset="0"/>
                        </a:rPr>
                        <a:t>charAt</a:t>
                      </a:r>
                      <a:r>
                        <a:rPr lang="en-US" sz="1400" dirty="0">
                          <a:latin typeface="Corbel" panose="020B0503020204020204" pitchFamily="34" charset="0"/>
                        </a:rPr>
                        <a:t>() method</a:t>
                      </a:r>
                    </a:p>
                  </a:txBody>
                  <a:tcPr/>
                </a:tc>
                <a:tc>
                  <a:txBody>
                    <a:bodyPr/>
                    <a:lstStyle/>
                    <a:p>
                      <a:pPr marL="0" indent="0">
                        <a:buFont typeface="Arial" panose="020B0604020202020204" pitchFamily="34" charset="0"/>
                        <a:buNone/>
                      </a:pPr>
                      <a:r>
                        <a:rPr lang="en-US" sz="1400" dirty="0">
                          <a:latin typeface="Corbel" panose="020B0503020204020204" pitchFamily="34" charset="0"/>
                        </a:rPr>
                        <a:t>String s="Sachin";  </a:t>
                      </a:r>
                    </a:p>
                    <a:p>
                      <a:pPr marL="0" indent="0">
                        <a:buFont typeface="Arial" panose="020B0604020202020204" pitchFamily="34" charset="0"/>
                        <a:buNone/>
                      </a:pPr>
                      <a:r>
                        <a:rPr lang="en-US" sz="1400" dirty="0" err="1">
                          <a:latin typeface="Corbel" panose="020B0503020204020204" pitchFamily="34" charset="0"/>
                        </a:rPr>
                        <a:t>System.out.println</a:t>
                      </a:r>
                      <a:r>
                        <a:rPr lang="en-US" sz="1400" dirty="0">
                          <a:latin typeface="Corbel" panose="020B0503020204020204" pitchFamily="34" charset="0"/>
                        </a:rPr>
                        <a:t>(</a:t>
                      </a:r>
                      <a:r>
                        <a:rPr lang="en-US" sz="1400" dirty="0" err="1">
                          <a:latin typeface="Corbel" panose="020B0503020204020204" pitchFamily="34" charset="0"/>
                        </a:rPr>
                        <a:t>s.charAt</a:t>
                      </a:r>
                      <a:r>
                        <a:rPr lang="en-US" sz="1400" dirty="0">
                          <a:latin typeface="Corbel" panose="020B0503020204020204" pitchFamily="34" charset="0"/>
                        </a:rPr>
                        <a:t>(0));//S  </a:t>
                      </a:r>
                    </a:p>
                    <a:p>
                      <a:pPr marL="0" indent="0">
                        <a:buFont typeface="Arial" panose="020B0604020202020204" pitchFamily="34" charset="0"/>
                        <a:buNone/>
                      </a:pPr>
                      <a:r>
                        <a:rPr lang="en-US" sz="1400" dirty="0" err="1">
                          <a:latin typeface="Corbel" panose="020B0503020204020204" pitchFamily="34" charset="0"/>
                        </a:rPr>
                        <a:t>System.out.println</a:t>
                      </a:r>
                      <a:r>
                        <a:rPr lang="en-US" sz="1400" dirty="0">
                          <a:latin typeface="Corbel" panose="020B0503020204020204" pitchFamily="34" charset="0"/>
                        </a:rPr>
                        <a:t>(</a:t>
                      </a:r>
                      <a:r>
                        <a:rPr lang="en-US" sz="1400" dirty="0" err="1">
                          <a:latin typeface="Corbel" panose="020B0503020204020204" pitchFamily="34" charset="0"/>
                        </a:rPr>
                        <a:t>s.charAt</a:t>
                      </a:r>
                      <a:r>
                        <a:rPr lang="en-US" sz="1400" dirty="0">
                          <a:latin typeface="Corbel" panose="020B0503020204020204" pitchFamily="34" charset="0"/>
                        </a:rPr>
                        <a:t>(3));//h </a:t>
                      </a:r>
                    </a:p>
                  </a:txBody>
                  <a:tcPr/>
                </a:tc>
                <a:extLst>
                  <a:ext uri="{0D108BD9-81ED-4DB2-BD59-A6C34878D82A}">
                    <a16:rowId xmlns:a16="http://schemas.microsoft.com/office/drawing/2014/main" val="805981587"/>
                  </a:ext>
                </a:extLst>
              </a:tr>
              <a:tr h="530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Corbel" panose="020B0503020204020204" pitchFamily="34" charset="0"/>
                          <a:ea typeface="+mn-ea"/>
                          <a:cs typeface="+mn-cs"/>
                        </a:rPr>
                        <a:t>Java String length() method</a:t>
                      </a:r>
                    </a:p>
                    <a:p>
                      <a:endParaRPr lang="en-US" sz="1400" dirty="0">
                        <a:latin typeface="Corbel" panose="020B0503020204020204" pitchFamily="34" charset="0"/>
                      </a:endParaRPr>
                    </a:p>
                  </a:txBody>
                  <a:tcPr/>
                </a:tc>
                <a:tc>
                  <a:txBody>
                    <a:bodyPr/>
                    <a:lstStyle/>
                    <a:p>
                      <a:pPr marL="0" indent="0">
                        <a:buFont typeface="Arial" panose="020B0604020202020204" pitchFamily="34" charset="0"/>
                        <a:buNone/>
                      </a:pPr>
                      <a:r>
                        <a:rPr lang="en-US" sz="1400" dirty="0">
                          <a:latin typeface="Corbel" panose="020B0503020204020204" pitchFamily="34" charset="0"/>
                        </a:rPr>
                        <a:t>String s="Sachin";  </a:t>
                      </a:r>
                    </a:p>
                    <a:p>
                      <a:pPr marL="0" indent="0">
                        <a:buFont typeface="Arial" panose="020B0604020202020204" pitchFamily="34" charset="0"/>
                        <a:buNone/>
                      </a:pPr>
                      <a:r>
                        <a:rPr lang="en-US" sz="1400" dirty="0" err="1">
                          <a:latin typeface="Corbel" panose="020B0503020204020204" pitchFamily="34" charset="0"/>
                        </a:rPr>
                        <a:t>System.out.println</a:t>
                      </a:r>
                      <a:r>
                        <a:rPr lang="en-US" sz="1400" dirty="0">
                          <a:latin typeface="Corbel" panose="020B0503020204020204" pitchFamily="34" charset="0"/>
                        </a:rPr>
                        <a:t>(</a:t>
                      </a:r>
                      <a:r>
                        <a:rPr lang="en-US" sz="1400" dirty="0" err="1">
                          <a:latin typeface="Corbel" panose="020B0503020204020204" pitchFamily="34" charset="0"/>
                        </a:rPr>
                        <a:t>s.length</a:t>
                      </a:r>
                      <a:r>
                        <a:rPr lang="en-US" sz="1400" dirty="0">
                          <a:latin typeface="Corbel" panose="020B0503020204020204" pitchFamily="34" charset="0"/>
                        </a:rPr>
                        <a:t>());//6</a:t>
                      </a:r>
                    </a:p>
                  </a:txBody>
                  <a:tcPr/>
                </a:tc>
                <a:extLst>
                  <a:ext uri="{0D108BD9-81ED-4DB2-BD59-A6C34878D82A}">
                    <a16:rowId xmlns:a16="http://schemas.microsoft.com/office/drawing/2014/main" val="4063310052"/>
                  </a:ext>
                </a:extLst>
              </a:tr>
              <a:tr h="754234">
                <a:tc>
                  <a:txBody>
                    <a:bodyPr/>
                    <a:lstStyle/>
                    <a:p>
                      <a:r>
                        <a:rPr lang="en-US" sz="1400" dirty="0">
                          <a:latin typeface="Corbel" panose="020B0503020204020204" pitchFamily="34" charset="0"/>
                        </a:rPr>
                        <a:t>Java String intern() method</a:t>
                      </a:r>
                    </a:p>
                  </a:txBody>
                  <a:tcPr/>
                </a:tc>
                <a:tc>
                  <a:txBody>
                    <a:bodyPr/>
                    <a:lstStyle/>
                    <a:p>
                      <a:pPr marL="0" indent="0">
                        <a:buFont typeface="Arial" panose="020B0604020202020204" pitchFamily="34" charset="0"/>
                        <a:buNone/>
                      </a:pPr>
                      <a:r>
                        <a:rPr lang="en-US" sz="1400" dirty="0">
                          <a:latin typeface="Corbel" panose="020B0503020204020204" pitchFamily="34" charset="0"/>
                        </a:rPr>
                        <a:t>String s=new String("Sachin");  </a:t>
                      </a:r>
                    </a:p>
                    <a:p>
                      <a:pPr marL="0" indent="0">
                        <a:buFont typeface="Arial" panose="020B0604020202020204" pitchFamily="34" charset="0"/>
                        <a:buNone/>
                      </a:pPr>
                      <a:r>
                        <a:rPr lang="en-US" sz="1400" dirty="0">
                          <a:latin typeface="Corbel" panose="020B0503020204020204" pitchFamily="34" charset="0"/>
                        </a:rPr>
                        <a:t>String s2=</a:t>
                      </a:r>
                      <a:r>
                        <a:rPr lang="en-US" sz="1400" dirty="0" err="1">
                          <a:latin typeface="Corbel" panose="020B0503020204020204" pitchFamily="34" charset="0"/>
                        </a:rPr>
                        <a:t>s.intern</a:t>
                      </a:r>
                      <a:r>
                        <a:rPr lang="en-US" sz="1400" dirty="0">
                          <a:latin typeface="Corbel" panose="020B0503020204020204" pitchFamily="34" charset="0"/>
                        </a:rPr>
                        <a:t>();  </a:t>
                      </a:r>
                    </a:p>
                    <a:p>
                      <a:pPr marL="0" indent="0">
                        <a:buFont typeface="Arial" panose="020B0604020202020204" pitchFamily="34" charset="0"/>
                        <a:buNone/>
                      </a:pPr>
                      <a:r>
                        <a:rPr lang="en-US" sz="1400" dirty="0" err="1">
                          <a:latin typeface="Corbel" panose="020B0503020204020204" pitchFamily="34" charset="0"/>
                        </a:rPr>
                        <a:t>System.out.println</a:t>
                      </a:r>
                      <a:r>
                        <a:rPr lang="en-US" sz="1400" dirty="0">
                          <a:latin typeface="Corbel" panose="020B0503020204020204" pitchFamily="34" charset="0"/>
                        </a:rPr>
                        <a:t>(s2);//Sachin </a:t>
                      </a:r>
                    </a:p>
                  </a:txBody>
                  <a:tcPr/>
                </a:tc>
                <a:extLst>
                  <a:ext uri="{0D108BD9-81ED-4DB2-BD59-A6C34878D82A}">
                    <a16:rowId xmlns:a16="http://schemas.microsoft.com/office/drawing/2014/main" val="578327415"/>
                  </a:ext>
                </a:extLst>
              </a:tr>
              <a:tr h="754234">
                <a:tc>
                  <a:txBody>
                    <a:bodyPr/>
                    <a:lstStyle/>
                    <a:p>
                      <a:r>
                        <a:rPr lang="en-US" sz="1400" dirty="0">
                          <a:latin typeface="Corbel" panose="020B0503020204020204" pitchFamily="34" charset="0"/>
                        </a:rPr>
                        <a:t>Java String replace() method</a:t>
                      </a:r>
                    </a:p>
                  </a:txBody>
                  <a:tcPr/>
                </a:tc>
                <a:tc>
                  <a:txBody>
                    <a:bodyPr/>
                    <a:lstStyle/>
                    <a:p>
                      <a:pPr marL="0" indent="0">
                        <a:buFont typeface="Arial" panose="020B0604020202020204" pitchFamily="34" charset="0"/>
                        <a:buNone/>
                      </a:pPr>
                      <a:r>
                        <a:rPr lang="en-US" sz="1400" dirty="0">
                          <a:latin typeface="Corbel" panose="020B0503020204020204" pitchFamily="34" charset="0"/>
                        </a:rPr>
                        <a:t>String s1="Java is a programming language. Java is a platform. Java is an Island.";    </a:t>
                      </a:r>
                    </a:p>
                    <a:p>
                      <a:pPr marL="0" indent="0">
                        <a:buFont typeface="Arial" panose="020B0604020202020204" pitchFamily="34" charset="0"/>
                        <a:buNone/>
                      </a:pPr>
                      <a:r>
                        <a:rPr lang="en-US" sz="1400" dirty="0">
                          <a:latin typeface="Corbel" panose="020B0503020204020204" pitchFamily="34" charset="0"/>
                        </a:rPr>
                        <a:t>String </a:t>
                      </a:r>
                      <a:r>
                        <a:rPr lang="en-US" sz="1400" dirty="0" err="1">
                          <a:latin typeface="Corbel" panose="020B0503020204020204" pitchFamily="34" charset="0"/>
                        </a:rPr>
                        <a:t>replaceString</a:t>
                      </a:r>
                      <a:r>
                        <a:rPr lang="en-US" sz="1400" dirty="0">
                          <a:latin typeface="Corbel" panose="020B0503020204020204" pitchFamily="34" charset="0"/>
                        </a:rPr>
                        <a:t>=s1.replace("</a:t>
                      </a:r>
                      <a:r>
                        <a:rPr lang="en-US" sz="1400" dirty="0" err="1">
                          <a:latin typeface="Corbel" panose="020B0503020204020204" pitchFamily="34" charset="0"/>
                        </a:rPr>
                        <a:t>Java","Kava</a:t>
                      </a:r>
                      <a:r>
                        <a:rPr lang="en-US" sz="1400" dirty="0">
                          <a:latin typeface="Corbel" panose="020B0503020204020204" pitchFamily="34" charset="0"/>
                        </a:rPr>
                        <a:t>");//replaces all occurrences of "Java" to "Kava"    </a:t>
                      </a:r>
                    </a:p>
                    <a:p>
                      <a:pPr marL="0" indent="0">
                        <a:buFont typeface="Arial" panose="020B0604020202020204" pitchFamily="34" charset="0"/>
                        <a:buNone/>
                      </a:pPr>
                      <a:r>
                        <a:rPr lang="en-US" sz="1400" dirty="0" err="1">
                          <a:latin typeface="Corbel" panose="020B0503020204020204" pitchFamily="34" charset="0"/>
                        </a:rPr>
                        <a:t>System.out.println</a:t>
                      </a:r>
                      <a:r>
                        <a:rPr lang="en-US" sz="1400" dirty="0">
                          <a:latin typeface="Corbel" panose="020B0503020204020204" pitchFamily="34" charset="0"/>
                        </a:rPr>
                        <a:t>(</a:t>
                      </a:r>
                      <a:r>
                        <a:rPr lang="en-US" sz="1400" dirty="0" err="1">
                          <a:latin typeface="Corbel" panose="020B0503020204020204" pitchFamily="34" charset="0"/>
                        </a:rPr>
                        <a:t>replaceString</a:t>
                      </a:r>
                      <a:r>
                        <a:rPr lang="en-US" sz="1400" dirty="0">
                          <a:latin typeface="Corbel" panose="020B0503020204020204" pitchFamily="34" charset="0"/>
                        </a:rPr>
                        <a:t>);</a:t>
                      </a:r>
                    </a:p>
                  </a:txBody>
                  <a:tcPr/>
                </a:tc>
                <a:extLst>
                  <a:ext uri="{0D108BD9-81ED-4DB2-BD59-A6C34878D82A}">
                    <a16:rowId xmlns:a16="http://schemas.microsoft.com/office/drawing/2014/main" val="1184929255"/>
                  </a:ext>
                </a:extLst>
              </a:tr>
            </a:tbl>
          </a:graphicData>
        </a:graphic>
      </p:graphicFrame>
    </p:spTree>
    <p:extLst>
      <p:ext uri="{BB962C8B-B14F-4D97-AF65-F5344CB8AC3E}">
        <p14:creationId xmlns:p14="http://schemas.microsoft.com/office/powerpoint/2010/main" val="1412257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err="1"/>
              <a:t>StringBuffer</a:t>
            </a:r>
            <a:r>
              <a:rPr lang="en-US" dirty="0"/>
              <a:t> Class</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39</a:t>
            </a:fld>
            <a:endParaRPr lang="en-US"/>
          </a:p>
        </p:txBody>
      </p:sp>
      <p:sp>
        <p:nvSpPr>
          <p:cNvPr id="2" name="Rectangle 1"/>
          <p:cNvSpPr/>
          <p:nvPr/>
        </p:nvSpPr>
        <p:spPr>
          <a:xfrm>
            <a:off x="311979" y="1460600"/>
            <a:ext cx="10889421" cy="2585323"/>
          </a:xfrm>
          <a:prstGeom prst="rect">
            <a:avLst/>
          </a:prstGeom>
        </p:spPr>
        <p:txBody>
          <a:bodyPr wrap="square">
            <a:spAutoFit/>
          </a:bodyPr>
          <a:lstStyle/>
          <a:p>
            <a:pPr>
              <a:lnSpc>
                <a:spcPct val="150000"/>
              </a:lnSpc>
            </a:pPr>
            <a:r>
              <a:rPr lang="en-US" dirty="0"/>
              <a:t>Java </a:t>
            </a:r>
            <a:r>
              <a:rPr lang="en-US" dirty="0" err="1"/>
              <a:t>StringBuffer</a:t>
            </a:r>
            <a:r>
              <a:rPr lang="en-US" dirty="0"/>
              <a:t> class is used to create mutable (modifiable) string. The </a:t>
            </a:r>
            <a:r>
              <a:rPr lang="en-US" dirty="0" err="1"/>
              <a:t>StringBuffer</a:t>
            </a:r>
            <a:r>
              <a:rPr lang="en-US" dirty="0"/>
              <a:t> class in java is same as String class except it is mutable i.e. it can be changed.</a:t>
            </a:r>
          </a:p>
          <a:p>
            <a:pPr>
              <a:lnSpc>
                <a:spcPct val="150000"/>
              </a:lnSpc>
            </a:pPr>
            <a:endParaRPr lang="en-US" dirty="0">
              <a:latin typeface="Corbel" panose="020B0503020204020204" pitchFamily="34" charset="0"/>
            </a:endParaRPr>
          </a:p>
          <a:p>
            <a:pPr>
              <a:lnSpc>
                <a:spcPct val="150000"/>
              </a:lnSpc>
            </a:pPr>
            <a:r>
              <a:rPr lang="en-US" dirty="0"/>
              <a:t>Note: Java </a:t>
            </a:r>
            <a:r>
              <a:rPr lang="en-US" dirty="0" err="1"/>
              <a:t>StringBuffer</a:t>
            </a:r>
            <a:r>
              <a:rPr lang="en-US" dirty="0"/>
              <a:t> class is thread-safe i.e. multiple threads cannot access it simultaneously. So it is safe and will result in an order.</a:t>
            </a:r>
          </a:p>
          <a:p>
            <a:pPr>
              <a:lnSpc>
                <a:spcPct val="150000"/>
              </a:lnSpc>
            </a:pPr>
            <a:endParaRPr lang="en-US" dirty="0">
              <a:latin typeface="Corbel" panose="020B0503020204020204" pitchFamily="34" charset="0"/>
            </a:endParaRPr>
          </a:p>
        </p:txBody>
      </p:sp>
      <p:pic>
        <p:nvPicPr>
          <p:cNvPr id="5" name="Picture 4"/>
          <p:cNvPicPr>
            <a:picLocks noChangeAspect="1"/>
          </p:cNvPicPr>
          <p:nvPr/>
        </p:nvPicPr>
        <p:blipFill>
          <a:blip r:embed="rId2"/>
          <a:stretch>
            <a:fillRect/>
          </a:stretch>
        </p:blipFill>
        <p:spPr>
          <a:xfrm>
            <a:off x="466725" y="3762374"/>
            <a:ext cx="11115675" cy="2959102"/>
          </a:xfrm>
          <a:prstGeom prst="rect">
            <a:avLst/>
          </a:prstGeom>
        </p:spPr>
      </p:pic>
    </p:spTree>
    <p:extLst>
      <p:ext uri="{BB962C8B-B14F-4D97-AF65-F5344CB8AC3E}">
        <p14:creationId xmlns:p14="http://schemas.microsoft.com/office/powerpoint/2010/main" val="2141695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err="1"/>
              <a:t>StringBuffer</a:t>
            </a:r>
            <a:r>
              <a:rPr lang="en-US" dirty="0"/>
              <a:t> Class</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40</a:t>
            </a:fld>
            <a:endParaRPr lang="en-US"/>
          </a:p>
        </p:txBody>
      </p:sp>
      <p:pic>
        <p:nvPicPr>
          <p:cNvPr id="6" name="Picture 5"/>
          <p:cNvPicPr>
            <a:picLocks noChangeAspect="1"/>
          </p:cNvPicPr>
          <p:nvPr/>
        </p:nvPicPr>
        <p:blipFill>
          <a:blip r:embed="rId2"/>
          <a:stretch>
            <a:fillRect/>
          </a:stretch>
        </p:blipFill>
        <p:spPr>
          <a:xfrm>
            <a:off x="766762" y="1377951"/>
            <a:ext cx="10815638" cy="5343525"/>
          </a:xfrm>
          <a:prstGeom prst="rect">
            <a:avLst/>
          </a:prstGeom>
        </p:spPr>
      </p:pic>
    </p:spTree>
    <p:extLst>
      <p:ext uri="{BB962C8B-B14F-4D97-AF65-F5344CB8AC3E}">
        <p14:creationId xmlns:p14="http://schemas.microsoft.com/office/powerpoint/2010/main" val="3285214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err="1"/>
              <a:t>StringBuilder</a:t>
            </a:r>
            <a:r>
              <a:rPr lang="en-US" dirty="0"/>
              <a:t> Class</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41</a:t>
            </a:fld>
            <a:endParaRPr lang="en-US"/>
          </a:p>
        </p:txBody>
      </p:sp>
      <p:sp>
        <p:nvSpPr>
          <p:cNvPr id="2" name="Rectangle 1"/>
          <p:cNvSpPr/>
          <p:nvPr/>
        </p:nvSpPr>
        <p:spPr>
          <a:xfrm>
            <a:off x="311979" y="1460600"/>
            <a:ext cx="10889421" cy="877356"/>
          </a:xfrm>
          <a:prstGeom prst="rect">
            <a:avLst/>
          </a:prstGeom>
        </p:spPr>
        <p:txBody>
          <a:bodyPr wrap="square">
            <a:spAutoFit/>
          </a:bodyPr>
          <a:lstStyle/>
          <a:p>
            <a:pPr>
              <a:lnSpc>
                <a:spcPct val="150000"/>
              </a:lnSpc>
            </a:pPr>
            <a:r>
              <a:rPr lang="en-US" dirty="0"/>
              <a:t>Java </a:t>
            </a:r>
            <a:r>
              <a:rPr lang="en-US" dirty="0" err="1"/>
              <a:t>StringBuilder</a:t>
            </a:r>
            <a:r>
              <a:rPr lang="en-US" dirty="0"/>
              <a:t> class is used to create mutable (modifiable) string. The Java </a:t>
            </a:r>
            <a:r>
              <a:rPr lang="en-US" dirty="0" err="1"/>
              <a:t>StringBuilder</a:t>
            </a:r>
            <a:r>
              <a:rPr lang="en-US" dirty="0"/>
              <a:t> class is same as </a:t>
            </a:r>
            <a:r>
              <a:rPr lang="en-US" dirty="0" err="1"/>
              <a:t>StringBuffer</a:t>
            </a:r>
            <a:r>
              <a:rPr lang="en-US" dirty="0"/>
              <a:t> class except that it is non-synchronized. It is available since JDK 1.5.</a:t>
            </a:r>
            <a:endParaRPr lang="en-US" dirty="0">
              <a:latin typeface="Corbel" panose="020B0503020204020204" pitchFamily="34" charset="0"/>
            </a:endParaRPr>
          </a:p>
        </p:txBody>
      </p:sp>
      <p:pic>
        <p:nvPicPr>
          <p:cNvPr id="6" name="Picture 5"/>
          <p:cNvPicPr>
            <a:picLocks noChangeAspect="1"/>
          </p:cNvPicPr>
          <p:nvPr/>
        </p:nvPicPr>
        <p:blipFill>
          <a:blip r:embed="rId2"/>
          <a:stretch>
            <a:fillRect/>
          </a:stretch>
        </p:blipFill>
        <p:spPr>
          <a:xfrm>
            <a:off x="609600" y="2500312"/>
            <a:ext cx="11544234" cy="3243263"/>
          </a:xfrm>
          <a:prstGeom prst="rect">
            <a:avLst/>
          </a:prstGeom>
        </p:spPr>
      </p:pic>
    </p:spTree>
    <p:extLst>
      <p:ext uri="{BB962C8B-B14F-4D97-AF65-F5344CB8AC3E}">
        <p14:creationId xmlns:p14="http://schemas.microsoft.com/office/powerpoint/2010/main" val="3973334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err="1"/>
              <a:t>StringBuilder</a:t>
            </a:r>
            <a:r>
              <a:rPr lang="en-US" dirty="0"/>
              <a:t> Class</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42</a:t>
            </a:fld>
            <a:endParaRPr lang="en-US"/>
          </a:p>
        </p:txBody>
      </p:sp>
      <p:pic>
        <p:nvPicPr>
          <p:cNvPr id="2" name="Picture 1"/>
          <p:cNvPicPr>
            <a:picLocks noChangeAspect="1"/>
          </p:cNvPicPr>
          <p:nvPr/>
        </p:nvPicPr>
        <p:blipFill>
          <a:blip r:embed="rId2"/>
          <a:stretch>
            <a:fillRect/>
          </a:stretch>
        </p:blipFill>
        <p:spPr>
          <a:xfrm>
            <a:off x="404813" y="1388471"/>
            <a:ext cx="10825162" cy="5333005"/>
          </a:xfrm>
          <a:prstGeom prst="rect">
            <a:avLst/>
          </a:prstGeom>
        </p:spPr>
      </p:pic>
    </p:spTree>
    <p:extLst>
      <p:ext uri="{BB962C8B-B14F-4D97-AF65-F5344CB8AC3E}">
        <p14:creationId xmlns:p14="http://schemas.microsoft.com/office/powerpoint/2010/main" val="373263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a:t>String Conversions</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43</a:t>
            </a:fld>
            <a:endParaRPr lang="en-US"/>
          </a:p>
        </p:txBody>
      </p:sp>
      <p:pic>
        <p:nvPicPr>
          <p:cNvPr id="5" name="Picture 4"/>
          <p:cNvPicPr>
            <a:picLocks noChangeAspect="1"/>
          </p:cNvPicPr>
          <p:nvPr/>
        </p:nvPicPr>
        <p:blipFill>
          <a:blip r:embed="rId2"/>
          <a:stretch>
            <a:fillRect/>
          </a:stretch>
        </p:blipFill>
        <p:spPr>
          <a:xfrm>
            <a:off x="295275" y="1253252"/>
            <a:ext cx="10991850" cy="5353050"/>
          </a:xfrm>
          <a:prstGeom prst="rect">
            <a:avLst/>
          </a:prstGeom>
        </p:spPr>
      </p:pic>
    </p:spTree>
    <p:extLst>
      <p:ext uri="{BB962C8B-B14F-4D97-AF65-F5344CB8AC3E}">
        <p14:creationId xmlns:p14="http://schemas.microsoft.com/office/powerpoint/2010/main" val="1526812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a:t>String Conversions</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44</a:t>
            </a:fld>
            <a:endParaRPr lang="en-US"/>
          </a:p>
        </p:txBody>
      </p:sp>
      <p:pic>
        <p:nvPicPr>
          <p:cNvPr id="2" name="Picture 1"/>
          <p:cNvPicPr>
            <a:picLocks noChangeAspect="1"/>
          </p:cNvPicPr>
          <p:nvPr/>
        </p:nvPicPr>
        <p:blipFill>
          <a:blip r:embed="rId2"/>
          <a:stretch>
            <a:fillRect/>
          </a:stretch>
        </p:blipFill>
        <p:spPr>
          <a:xfrm>
            <a:off x="319087" y="1347788"/>
            <a:ext cx="10868026" cy="5191125"/>
          </a:xfrm>
          <a:prstGeom prst="rect">
            <a:avLst/>
          </a:prstGeom>
        </p:spPr>
      </p:pic>
    </p:spTree>
    <p:extLst>
      <p:ext uri="{BB962C8B-B14F-4D97-AF65-F5344CB8AC3E}">
        <p14:creationId xmlns:p14="http://schemas.microsoft.com/office/powerpoint/2010/main" val="1919786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30710"/>
            <a:ext cx="10972800" cy="708242"/>
          </a:xfrm>
        </p:spPr>
        <p:txBody>
          <a:bodyPr>
            <a:normAutofit/>
          </a:bodyPr>
          <a:lstStyle/>
          <a:p>
            <a:r>
              <a:rPr lang="en-US" dirty="0"/>
              <a:t>String Conversions</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45</a:t>
            </a:fld>
            <a:endParaRPr lang="en-US"/>
          </a:p>
        </p:txBody>
      </p:sp>
      <p:pic>
        <p:nvPicPr>
          <p:cNvPr id="5" name="Picture 4"/>
          <p:cNvPicPr>
            <a:picLocks noChangeAspect="1"/>
          </p:cNvPicPr>
          <p:nvPr/>
        </p:nvPicPr>
        <p:blipFill>
          <a:blip r:embed="rId2"/>
          <a:stretch>
            <a:fillRect/>
          </a:stretch>
        </p:blipFill>
        <p:spPr>
          <a:xfrm>
            <a:off x="419100" y="1462086"/>
            <a:ext cx="11163300" cy="4939067"/>
          </a:xfrm>
          <a:prstGeom prst="rect">
            <a:avLst/>
          </a:prstGeom>
        </p:spPr>
      </p:pic>
    </p:spTree>
    <p:extLst>
      <p:ext uri="{BB962C8B-B14F-4D97-AF65-F5344CB8AC3E}">
        <p14:creationId xmlns:p14="http://schemas.microsoft.com/office/powerpoint/2010/main" val="706397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08735-0653-44DF-9B44-EBC170DD0D66}"/>
              </a:ext>
            </a:extLst>
          </p:cNvPr>
          <p:cNvSpPr>
            <a:spLocks noGrp="1"/>
          </p:cNvSpPr>
          <p:nvPr>
            <p:ph type="title"/>
          </p:nvPr>
        </p:nvSpPr>
        <p:spPr/>
        <p:txBody>
          <a:bodyPr/>
          <a:lstStyle/>
          <a:p>
            <a:r>
              <a:rPr lang="en-IN" dirty="0"/>
              <a:t>String vs </a:t>
            </a:r>
            <a:r>
              <a:rPr lang="en-IN" dirty="0" err="1"/>
              <a:t>StringBuffer</a:t>
            </a:r>
            <a:r>
              <a:rPr lang="en-IN" dirty="0"/>
              <a:t> vs StringBuilder</a:t>
            </a:r>
          </a:p>
        </p:txBody>
      </p:sp>
      <p:graphicFrame>
        <p:nvGraphicFramePr>
          <p:cNvPr id="4" name="Content Placeholder 3">
            <a:extLst>
              <a:ext uri="{FF2B5EF4-FFF2-40B4-BE49-F238E27FC236}">
                <a16:creationId xmlns:a16="http://schemas.microsoft.com/office/drawing/2014/main" id="{E6AEBD0E-2902-452A-A2A4-9A56A380731A}"/>
              </a:ext>
            </a:extLst>
          </p:cNvPr>
          <p:cNvGraphicFramePr>
            <a:graphicFrameLocks noGrp="1"/>
          </p:cNvGraphicFramePr>
          <p:nvPr>
            <p:ph idx="1"/>
            <p:extLst>
              <p:ext uri="{D42A27DB-BD31-4B8C-83A1-F6EECF244321}">
                <p14:modId xmlns:p14="http://schemas.microsoft.com/office/powerpoint/2010/main" val="1386350476"/>
              </p:ext>
            </p:extLst>
          </p:nvPr>
        </p:nvGraphicFramePr>
        <p:xfrm>
          <a:off x="1104900" y="1600200"/>
          <a:ext cx="99822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7225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Questions ?</a:t>
            </a:r>
          </a:p>
        </p:txBody>
      </p:sp>
      <p:sp>
        <p:nvSpPr>
          <p:cNvPr id="3" name="Subtitle 2"/>
          <p:cNvSpPr>
            <a:spLocks noGrp="1"/>
          </p:cNvSpPr>
          <p:nvPr>
            <p:ph type="subTitle" idx="1"/>
          </p:nvPr>
        </p:nvSpPr>
        <p:spPr/>
        <p:txBody>
          <a:bodyPr/>
          <a:lstStyle/>
          <a:p>
            <a:r>
              <a:rPr lang="en-US" dirty="0"/>
              <a:t>You can contact me @</a:t>
            </a:r>
          </a:p>
          <a:p>
            <a:r>
              <a:rPr lang="en-US" dirty="0">
                <a:hlinkClick r:id="rId3"/>
              </a:rPr>
              <a:t>avadekkedhil@wilp.bits-pilani.ac.in</a:t>
            </a:r>
            <a:endParaRPr lang="en-US" dirty="0"/>
          </a:p>
          <a:p>
            <a:r>
              <a:rPr lang="en-US" dirty="0"/>
              <a:t>9881300394</a:t>
            </a:r>
          </a:p>
        </p:txBody>
      </p:sp>
      <p:pic>
        <p:nvPicPr>
          <p:cNvPr id="5" name="Picture Placeholder 4"/>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l="14527" r="14527"/>
          <a:stretch>
            <a:fillRect/>
          </a:stretch>
        </p:blipFill>
        <p:spPr/>
      </p:pic>
    </p:spTree>
    <p:extLst>
      <p:ext uri="{BB962C8B-B14F-4D97-AF65-F5344CB8AC3E}">
        <p14:creationId xmlns:p14="http://schemas.microsoft.com/office/powerpoint/2010/main" val="4110760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http://schemas.openxmlformats.org/package/2006/metadata/core-properties"/>
    <ds:schemaRef ds:uri="http://schemas.microsoft.com/office/2006/documentManagement/types"/>
    <ds:schemaRef ds:uri="http://purl.org/dc/terms/"/>
    <ds:schemaRef ds:uri="http://www.w3.org/XML/1998/namespace"/>
    <ds:schemaRef ds:uri="http://purl.org/dc/dcmitype/"/>
    <ds:schemaRef ds:uri="http://schemas.microsoft.com/office/infopath/2007/PartnerControls"/>
    <ds:schemaRef ds:uri="4873beb7-5857-4685-be1f-d57550cc96cc"/>
  </ds:schemaRefs>
</ds:datastoreItem>
</file>

<file path=customXml/itemProps3.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6008</TotalTime>
  <Words>2483</Words>
  <Application>Microsoft Office PowerPoint</Application>
  <PresentationFormat>Widescreen</PresentationFormat>
  <Paragraphs>278</Paragraphs>
  <Slides>47</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SimSun</vt:lpstr>
      <vt:lpstr>Arial</vt:lpstr>
      <vt:lpstr>Corbel</vt:lpstr>
      <vt:lpstr>Euphemia</vt:lpstr>
      <vt:lpstr>Plantagenet Cherokee</vt:lpstr>
      <vt:lpstr>verdana</vt:lpstr>
      <vt:lpstr>Wingdings</vt:lpstr>
      <vt:lpstr>Academic Literature 16x9</vt:lpstr>
      <vt:lpstr>Object Oriented Programming &amp; Design</vt:lpstr>
      <vt:lpstr>Agenda</vt:lpstr>
      <vt:lpstr>EXERCISES</vt:lpstr>
      <vt:lpstr>Recap</vt:lpstr>
      <vt:lpstr>Recap: What is the O/P?</vt:lpstr>
      <vt:lpstr>Recap</vt:lpstr>
      <vt:lpstr>Recap</vt:lpstr>
      <vt:lpstr>Recap: What is the O/P?</vt:lpstr>
      <vt:lpstr>Java-Arrays</vt:lpstr>
      <vt:lpstr>Array Revisited - Introduction.</vt:lpstr>
      <vt:lpstr>Array Revisited – Assigning &amp; Instantiation.</vt:lpstr>
      <vt:lpstr>Array Revisited – Assigning &amp; Instantiation.</vt:lpstr>
      <vt:lpstr>Array Revisited - Representation.</vt:lpstr>
      <vt:lpstr>Array Initializer.</vt:lpstr>
      <vt:lpstr>Array Processing: Array Class</vt:lpstr>
      <vt:lpstr>Array Processing.</vt:lpstr>
      <vt:lpstr>Array Processing: Enhanced For</vt:lpstr>
      <vt:lpstr>Array Processing: Copying Arrays</vt:lpstr>
      <vt:lpstr>Array Processing: Copying Arrays</vt:lpstr>
      <vt:lpstr>Array Processing: Copying Arrays</vt:lpstr>
      <vt:lpstr>Array Processing: Copying Arrays</vt:lpstr>
      <vt:lpstr>Array Processing: Two Dimensional Arrays</vt:lpstr>
      <vt:lpstr>Array Processing: Two Dimensional Arrays</vt:lpstr>
      <vt:lpstr>Array Processing: Two Dimensional Arrays</vt:lpstr>
      <vt:lpstr>Array Processing: Two Dimensional Arrays</vt:lpstr>
      <vt:lpstr>Array Processing: Array List – Revist while Doing Collections</vt:lpstr>
      <vt:lpstr>Java-STRING</vt:lpstr>
      <vt:lpstr>Strings in Java – Guess The Output</vt:lpstr>
      <vt:lpstr>Dive in – String Pool – Huh??</vt:lpstr>
      <vt:lpstr>Strings in Java</vt:lpstr>
      <vt:lpstr>Immutability of Strings</vt:lpstr>
      <vt:lpstr>Immutability of Strings – Why?</vt:lpstr>
      <vt:lpstr>String Comparison</vt:lpstr>
      <vt:lpstr>1. String compare by equals() method</vt:lpstr>
      <vt:lpstr>2. String compare by == operator</vt:lpstr>
      <vt:lpstr>3. String compare by compareTo() method</vt:lpstr>
      <vt:lpstr>String Manipulations</vt:lpstr>
      <vt:lpstr>String Class - Methods</vt:lpstr>
      <vt:lpstr>StringBuffer Class</vt:lpstr>
      <vt:lpstr>StringBuffer Class</vt:lpstr>
      <vt:lpstr>StringBuilder Class</vt:lpstr>
      <vt:lpstr>StringBuilder Class</vt:lpstr>
      <vt:lpstr>String Conversions</vt:lpstr>
      <vt:lpstr>String Conversions</vt:lpstr>
      <vt:lpstr>String Conversions</vt:lpstr>
      <vt:lpstr>String vs StringBuffer vs StringBuilder</vt:lpstr>
      <vt:lpstr>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&amp; Design</dc:title>
  <dc:creator>Arun Vadekkedhil</dc:creator>
  <cp:lastModifiedBy>Arun Vadekkedhil</cp:lastModifiedBy>
  <cp:revision>136</cp:revision>
  <dcterms:created xsi:type="dcterms:W3CDTF">2017-10-13T04:49:25Z</dcterms:created>
  <dcterms:modified xsi:type="dcterms:W3CDTF">2018-10-14T02:16:57Z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