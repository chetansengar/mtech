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4"/>
  </p:sldMasterIdLst>
  <p:notesMasterIdLst>
    <p:notesMasterId r:id="rId63"/>
  </p:notesMasterIdLst>
  <p:handoutMasterIdLst>
    <p:handoutMasterId r:id="rId64"/>
  </p:handoutMasterIdLst>
  <p:sldIdLst>
    <p:sldId id="256" r:id="rId5"/>
    <p:sldId id="257" r:id="rId6"/>
    <p:sldId id="323" r:id="rId7"/>
    <p:sldId id="354" r:id="rId8"/>
    <p:sldId id="425" r:id="rId9"/>
    <p:sldId id="426" r:id="rId10"/>
    <p:sldId id="427" r:id="rId11"/>
    <p:sldId id="428" r:id="rId12"/>
    <p:sldId id="429" r:id="rId13"/>
    <p:sldId id="430" r:id="rId14"/>
    <p:sldId id="431" r:id="rId15"/>
    <p:sldId id="433" r:id="rId16"/>
    <p:sldId id="434" r:id="rId17"/>
    <p:sldId id="423" r:id="rId18"/>
    <p:sldId id="424" r:id="rId19"/>
    <p:sldId id="436" r:id="rId20"/>
    <p:sldId id="440" r:id="rId21"/>
    <p:sldId id="435" r:id="rId22"/>
    <p:sldId id="438" r:id="rId23"/>
    <p:sldId id="439" r:id="rId24"/>
    <p:sldId id="412" r:id="rId25"/>
    <p:sldId id="467" r:id="rId26"/>
    <p:sldId id="413" r:id="rId27"/>
    <p:sldId id="414" r:id="rId28"/>
    <p:sldId id="415" r:id="rId29"/>
    <p:sldId id="416" r:id="rId30"/>
    <p:sldId id="417" r:id="rId31"/>
    <p:sldId id="418" r:id="rId32"/>
    <p:sldId id="419" r:id="rId33"/>
    <p:sldId id="420" r:id="rId34"/>
    <p:sldId id="421" r:id="rId35"/>
    <p:sldId id="422" r:id="rId36"/>
    <p:sldId id="441" r:id="rId37"/>
    <p:sldId id="442" r:id="rId38"/>
    <p:sldId id="443" r:id="rId39"/>
    <p:sldId id="444" r:id="rId40"/>
    <p:sldId id="445" r:id="rId41"/>
    <p:sldId id="446" r:id="rId42"/>
    <p:sldId id="437" r:id="rId43"/>
    <p:sldId id="455" r:id="rId44"/>
    <p:sldId id="456" r:id="rId45"/>
    <p:sldId id="457" r:id="rId46"/>
    <p:sldId id="458" r:id="rId47"/>
    <p:sldId id="459" r:id="rId48"/>
    <p:sldId id="460" r:id="rId49"/>
    <p:sldId id="461" r:id="rId50"/>
    <p:sldId id="462" r:id="rId51"/>
    <p:sldId id="463" r:id="rId52"/>
    <p:sldId id="464" r:id="rId53"/>
    <p:sldId id="465" r:id="rId54"/>
    <p:sldId id="447" r:id="rId55"/>
    <p:sldId id="448" r:id="rId56"/>
    <p:sldId id="449" r:id="rId57"/>
    <p:sldId id="450" r:id="rId58"/>
    <p:sldId id="451" r:id="rId59"/>
    <p:sldId id="452" r:id="rId60"/>
    <p:sldId id="453" r:id="rId61"/>
    <p:sldId id="466"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showGuides="1">
      <p:cViewPr varScale="1">
        <p:scale>
          <a:sx n="48" d="100"/>
          <a:sy n="48" d="100"/>
        </p:scale>
        <p:origin x="245" y="48"/>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Vadekkedhil" userId="42e6ed11-22d2-49de-94d6-fd78e15c9969" providerId="ADAL" clId="{75B401B2-8A4C-445C-9AFB-56094A7F0E08}"/>
    <pc:docChg chg="custSel addSld delSld modSld">
      <pc:chgData name="Arun Vadekkedhil" userId="42e6ed11-22d2-49de-94d6-fd78e15c9969" providerId="ADAL" clId="{75B401B2-8A4C-445C-9AFB-56094A7F0E08}" dt="2019-01-13T02:02:01.749" v="138" actId="14100"/>
      <pc:docMkLst>
        <pc:docMk/>
      </pc:docMkLst>
      <pc:sldChg chg="modSp">
        <pc:chgData name="Arun Vadekkedhil" userId="42e6ed11-22d2-49de-94d6-fd78e15c9969" providerId="ADAL" clId="{75B401B2-8A4C-445C-9AFB-56094A7F0E08}" dt="2019-01-12T04:12:51.832" v="78" actId="20577"/>
        <pc:sldMkLst>
          <pc:docMk/>
          <pc:sldMk cId="1654255301" sldId="257"/>
        </pc:sldMkLst>
        <pc:spChg chg="mod">
          <ac:chgData name="Arun Vadekkedhil" userId="42e6ed11-22d2-49de-94d6-fd78e15c9969" providerId="ADAL" clId="{75B401B2-8A4C-445C-9AFB-56094A7F0E08}" dt="2019-01-12T04:12:51.832" v="78" actId="20577"/>
          <ac:spMkLst>
            <pc:docMk/>
            <pc:sldMk cId="1654255301" sldId="257"/>
            <ac:spMk id="14" creationId="{00000000-0000-0000-0000-000000000000}"/>
          </ac:spMkLst>
        </pc:spChg>
      </pc:sldChg>
      <pc:sldChg chg="addSp delSp modSp">
        <pc:chgData name="Arun Vadekkedhil" userId="42e6ed11-22d2-49de-94d6-fd78e15c9969" providerId="ADAL" clId="{75B401B2-8A4C-445C-9AFB-56094A7F0E08}" dt="2019-01-12T02:02:29.271" v="3"/>
        <pc:sldMkLst>
          <pc:docMk/>
          <pc:sldMk cId="1665254518" sldId="413"/>
        </pc:sldMkLst>
        <pc:spChg chg="add del mod">
          <ac:chgData name="Arun Vadekkedhil" userId="42e6ed11-22d2-49de-94d6-fd78e15c9969" providerId="ADAL" clId="{75B401B2-8A4C-445C-9AFB-56094A7F0E08}" dt="2019-01-12T02:02:29.271" v="3"/>
          <ac:spMkLst>
            <pc:docMk/>
            <pc:sldMk cId="1665254518" sldId="413"/>
            <ac:spMk id="4" creationId="{EB409B2D-AD8B-4220-84B2-BDDFB4E46232}"/>
          </ac:spMkLst>
        </pc:spChg>
        <pc:picChg chg="add">
          <ac:chgData name="Arun Vadekkedhil" userId="42e6ed11-22d2-49de-94d6-fd78e15c9969" providerId="ADAL" clId="{75B401B2-8A4C-445C-9AFB-56094A7F0E08}" dt="2019-01-12T02:02:29.271" v="3"/>
          <ac:picMkLst>
            <pc:docMk/>
            <pc:sldMk cId="1665254518" sldId="413"/>
            <ac:picMk id="6" creationId="{7D0E93F1-D20E-441E-BC37-772018368F1B}"/>
          </ac:picMkLst>
        </pc:picChg>
        <pc:picChg chg="del">
          <ac:chgData name="Arun Vadekkedhil" userId="42e6ed11-22d2-49de-94d6-fd78e15c9969" providerId="ADAL" clId="{75B401B2-8A4C-445C-9AFB-56094A7F0E08}" dt="2019-01-12T02:02:26.762" v="2" actId="478"/>
          <ac:picMkLst>
            <pc:docMk/>
            <pc:sldMk cId="1665254518" sldId="413"/>
            <ac:picMk id="6148" creationId="{00000000-0000-0000-0000-000000000000}"/>
          </ac:picMkLst>
        </pc:picChg>
      </pc:sldChg>
      <pc:sldChg chg="add del">
        <pc:chgData name="Arun Vadekkedhil" userId="42e6ed11-22d2-49de-94d6-fd78e15c9969" providerId="ADAL" clId="{75B401B2-8A4C-445C-9AFB-56094A7F0E08}" dt="2019-01-12T02:03:45.243" v="13"/>
        <pc:sldMkLst>
          <pc:docMk/>
          <pc:sldMk cId="3949434588" sldId="414"/>
        </pc:sldMkLst>
      </pc:sldChg>
      <pc:sldChg chg="add del">
        <pc:chgData name="Arun Vadekkedhil" userId="42e6ed11-22d2-49de-94d6-fd78e15c9969" providerId="ADAL" clId="{75B401B2-8A4C-445C-9AFB-56094A7F0E08}" dt="2019-01-12T02:03:45.243" v="13"/>
        <pc:sldMkLst>
          <pc:docMk/>
          <pc:sldMk cId="470786829" sldId="415"/>
        </pc:sldMkLst>
      </pc:sldChg>
      <pc:sldChg chg="modSp add del">
        <pc:chgData name="Arun Vadekkedhil" userId="42e6ed11-22d2-49de-94d6-fd78e15c9969" providerId="ADAL" clId="{75B401B2-8A4C-445C-9AFB-56094A7F0E08}" dt="2019-01-13T01:49:32.897" v="134" actId="1076"/>
        <pc:sldMkLst>
          <pc:docMk/>
          <pc:sldMk cId="2077929195" sldId="416"/>
        </pc:sldMkLst>
        <pc:spChg chg="mod">
          <ac:chgData name="Arun Vadekkedhil" userId="42e6ed11-22d2-49de-94d6-fd78e15c9969" providerId="ADAL" clId="{75B401B2-8A4C-445C-9AFB-56094A7F0E08}" dt="2019-01-13T01:49:32.897" v="134" actId="1076"/>
          <ac:spMkLst>
            <pc:docMk/>
            <pc:sldMk cId="2077929195" sldId="416"/>
            <ac:spMk id="7" creationId="{00000000-0000-0000-0000-000000000000}"/>
          </ac:spMkLst>
        </pc:spChg>
      </pc:sldChg>
      <pc:sldChg chg="modSp add del">
        <pc:chgData name="Arun Vadekkedhil" userId="42e6ed11-22d2-49de-94d6-fd78e15c9969" providerId="ADAL" clId="{75B401B2-8A4C-445C-9AFB-56094A7F0E08}" dt="2019-01-13T01:52:59.755" v="135" actId="14100"/>
        <pc:sldMkLst>
          <pc:docMk/>
          <pc:sldMk cId="2609827817" sldId="417"/>
        </pc:sldMkLst>
        <pc:spChg chg="mod">
          <ac:chgData name="Arun Vadekkedhil" userId="42e6ed11-22d2-49de-94d6-fd78e15c9969" providerId="ADAL" clId="{75B401B2-8A4C-445C-9AFB-56094A7F0E08}" dt="2019-01-13T01:52:59.755" v="135" actId="14100"/>
          <ac:spMkLst>
            <pc:docMk/>
            <pc:sldMk cId="2609827817" sldId="417"/>
            <ac:spMk id="7" creationId="{00000000-0000-0000-0000-000000000000}"/>
          </ac:spMkLst>
        </pc:spChg>
      </pc:sldChg>
      <pc:sldChg chg="add del">
        <pc:chgData name="Arun Vadekkedhil" userId="42e6ed11-22d2-49de-94d6-fd78e15c9969" providerId="ADAL" clId="{75B401B2-8A4C-445C-9AFB-56094A7F0E08}" dt="2019-01-12T02:03:45.243" v="13"/>
        <pc:sldMkLst>
          <pc:docMk/>
          <pc:sldMk cId="3462225086" sldId="418"/>
        </pc:sldMkLst>
      </pc:sldChg>
      <pc:sldChg chg="add del">
        <pc:chgData name="Arun Vadekkedhil" userId="42e6ed11-22d2-49de-94d6-fd78e15c9969" providerId="ADAL" clId="{75B401B2-8A4C-445C-9AFB-56094A7F0E08}" dt="2019-01-12T02:03:45.243" v="13"/>
        <pc:sldMkLst>
          <pc:docMk/>
          <pc:sldMk cId="4238642116" sldId="419"/>
        </pc:sldMkLst>
      </pc:sldChg>
      <pc:sldChg chg="add del">
        <pc:chgData name="Arun Vadekkedhil" userId="42e6ed11-22d2-49de-94d6-fd78e15c9969" providerId="ADAL" clId="{75B401B2-8A4C-445C-9AFB-56094A7F0E08}" dt="2019-01-12T02:03:45.243" v="13"/>
        <pc:sldMkLst>
          <pc:docMk/>
          <pc:sldMk cId="994328279" sldId="420"/>
        </pc:sldMkLst>
      </pc:sldChg>
      <pc:sldChg chg="modSp add del">
        <pc:chgData name="Arun Vadekkedhil" userId="42e6ed11-22d2-49de-94d6-fd78e15c9969" providerId="ADAL" clId="{75B401B2-8A4C-445C-9AFB-56094A7F0E08}" dt="2019-01-13T02:02:01.749" v="138" actId="14100"/>
        <pc:sldMkLst>
          <pc:docMk/>
          <pc:sldMk cId="168678124" sldId="421"/>
        </pc:sldMkLst>
        <pc:spChg chg="mod">
          <ac:chgData name="Arun Vadekkedhil" userId="42e6ed11-22d2-49de-94d6-fd78e15c9969" providerId="ADAL" clId="{75B401B2-8A4C-445C-9AFB-56094A7F0E08}" dt="2019-01-13T02:02:01.749" v="138" actId="14100"/>
          <ac:spMkLst>
            <pc:docMk/>
            <pc:sldMk cId="168678124" sldId="421"/>
            <ac:spMk id="5" creationId="{00000000-0000-0000-0000-000000000000}"/>
          </ac:spMkLst>
        </pc:spChg>
      </pc:sldChg>
      <pc:sldChg chg="add del">
        <pc:chgData name="Arun Vadekkedhil" userId="42e6ed11-22d2-49de-94d6-fd78e15c9969" providerId="ADAL" clId="{75B401B2-8A4C-445C-9AFB-56094A7F0E08}" dt="2019-01-12T02:03:45.243" v="13"/>
        <pc:sldMkLst>
          <pc:docMk/>
          <pc:sldMk cId="3304533247" sldId="422"/>
        </pc:sldMkLst>
      </pc:sldChg>
      <pc:sldChg chg="modSp">
        <pc:chgData name="Arun Vadekkedhil" userId="42e6ed11-22d2-49de-94d6-fd78e15c9969" providerId="ADAL" clId="{75B401B2-8A4C-445C-9AFB-56094A7F0E08}" dt="2019-01-12T04:19:17.917" v="98" actId="115"/>
        <pc:sldMkLst>
          <pc:docMk/>
          <pc:sldMk cId="942754942" sldId="428"/>
        </pc:sldMkLst>
        <pc:spChg chg="mod">
          <ac:chgData name="Arun Vadekkedhil" userId="42e6ed11-22d2-49de-94d6-fd78e15c9969" providerId="ADAL" clId="{75B401B2-8A4C-445C-9AFB-56094A7F0E08}" dt="2019-01-12T04:19:17.917" v="98" actId="115"/>
          <ac:spMkLst>
            <pc:docMk/>
            <pc:sldMk cId="942754942" sldId="428"/>
            <ac:spMk id="5" creationId="{00000000-0000-0000-0000-000000000000}"/>
          </ac:spMkLst>
        </pc:spChg>
      </pc:sldChg>
      <pc:sldChg chg="add">
        <pc:chgData name="Arun Vadekkedhil" userId="42e6ed11-22d2-49de-94d6-fd78e15c9969" providerId="ADAL" clId="{75B401B2-8A4C-445C-9AFB-56094A7F0E08}" dt="2019-01-12T02:03:45.243" v="13"/>
        <pc:sldMkLst>
          <pc:docMk/>
          <pc:sldMk cId="3231827274" sldId="437"/>
        </pc:sldMkLst>
      </pc:sldChg>
      <pc:sldChg chg="add">
        <pc:chgData name="Arun Vadekkedhil" userId="42e6ed11-22d2-49de-94d6-fd78e15c9969" providerId="ADAL" clId="{75B401B2-8A4C-445C-9AFB-56094A7F0E08}" dt="2019-01-12T02:01:57.211" v="0"/>
        <pc:sldMkLst>
          <pc:docMk/>
          <pc:sldMk cId="359548785" sldId="440"/>
        </pc:sldMkLst>
      </pc:sldChg>
      <pc:sldChg chg="add">
        <pc:chgData name="Arun Vadekkedhil" userId="42e6ed11-22d2-49de-94d6-fd78e15c9969" providerId="ADAL" clId="{75B401B2-8A4C-445C-9AFB-56094A7F0E08}" dt="2019-01-12T02:03:45.243" v="13"/>
        <pc:sldMkLst>
          <pc:docMk/>
          <pc:sldMk cId="1714580660" sldId="441"/>
        </pc:sldMkLst>
      </pc:sldChg>
      <pc:sldChg chg="add">
        <pc:chgData name="Arun Vadekkedhil" userId="42e6ed11-22d2-49de-94d6-fd78e15c9969" providerId="ADAL" clId="{75B401B2-8A4C-445C-9AFB-56094A7F0E08}" dt="2019-01-12T02:03:45.243" v="13"/>
        <pc:sldMkLst>
          <pc:docMk/>
          <pc:sldMk cId="3148270396" sldId="442"/>
        </pc:sldMkLst>
      </pc:sldChg>
      <pc:sldChg chg="add">
        <pc:chgData name="Arun Vadekkedhil" userId="42e6ed11-22d2-49de-94d6-fd78e15c9969" providerId="ADAL" clId="{75B401B2-8A4C-445C-9AFB-56094A7F0E08}" dt="2019-01-12T02:03:45.243" v="13"/>
        <pc:sldMkLst>
          <pc:docMk/>
          <pc:sldMk cId="2971538295" sldId="443"/>
        </pc:sldMkLst>
      </pc:sldChg>
      <pc:sldChg chg="add">
        <pc:chgData name="Arun Vadekkedhil" userId="42e6ed11-22d2-49de-94d6-fd78e15c9969" providerId="ADAL" clId="{75B401B2-8A4C-445C-9AFB-56094A7F0E08}" dt="2019-01-12T02:03:45.243" v="13"/>
        <pc:sldMkLst>
          <pc:docMk/>
          <pc:sldMk cId="4045116369" sldId="444"/>
        </pc:sldMkLst>
      </pc:sldChg>
      <pc:sldChg chg="add">
        <pc:chgData name="Arun Vadekkedhil" userId="42e6ed11-22d2-49de-94d6-fd78e15c9969" providerId="ADAL" clId="{75B401B2-8A4C-445C-9AFB-56094A7F0E08}" dt="2019-01-12T02:03:45.243" v="13"/>
        <pc:sldMkLst>
          <pc:docMk/>
          <pc:sldMk cId="590696033" sldId="445"/>
        </pc:sldMkLst>
      </pc:sldChg>
      <pc:sldChg chg="add">
        <pc:chgData name="Arun Vadekkedhil" userId="42e6ed11-22d2-49de-94d6-fd78e15c9969" providerId="ADAL" clId="{75B401B2-8A4C-445C-9AFB-56094A7F0E08}" dt="2019-01-12T02:03:45.243" v="13"/>
        <pc:sldMkLst>
          <pc:docMk/>
          <pc:sldMk cId="1826892147" sldId="446"/>
        </pc:sldMkLst>
      </pc:sldChg>
      <pc:sldChg chg="modSp add">
        <pc:chgData name="Arun Vadekkedhil" userId="42e6ed11-22d2-49de-94d6-fd78e15c9969" providerId="ADAL" clId="{75B401B2-8A4C-445C-9AFB-56094A7F0E08}" dt="2019-01-12T02:03:45.572" v="14" actId="27636"/>
        <pc:sldMkLst>
          <pc:docMk/>
          <pc:sldMk cId="2355234372" sldId="447"/>
        </pc:sldMkLst>
        <pc:spChg chg="mod">
          <ac:chgData name="Arun Vadekkedhil" userId="42e6ed11-22d2-49de-94d6-fd78e15c9969" providerId="ADAL" clId="{75B401B2-8A4C-445C-9AFB-56094A7F0E08}" dt="2019-01-12T02:03:45.572" v="14" actId="27636"/>
          <ac:spMkLst>
            <pc:docMk/>
            <pc:sldMk cId="2355234372" sldId="447"/>
            <ac:spMk id="3" creationId="{00000000-0000-0000-0000-000000000000}"/>
          </ac:spMkLst>
        </pc:spChg>
      </pc:sldChg>
      <pc:sldChg chg="add">
        <pc:chgData name="Arun Vadekkedhil" userId="42e6ed11-22d2-49de-94d6-fd78e15c9969" providerId="ADAL" clId="{75B401B2-8A4C-445C-9AFB-56094A7F0E08}" dt="2019-01-12T02:03:45.243" v="13"/>
        <pc:sldMkLst>
          <pc:docMk/>
          <pc:sldMk cId="2178176267" sldId="448"/>
        </pc:sldMkLst>
      </pc:sldChg>
      <pc:sldChg chg="add">
        <pc:chgData name="Arun Vadekkedhil" userId="42e6ed11-22d2-49de-94d6-fd78e15c9969" providerId="ADAL" clId="{75B401B2-8A4C-445C-9AFB-56094A7F0E08}" dt="2019-01-12T02:03:45.243" v="13"/>
        <pc:sldMkLst>
          <pc:docMk/>
          <pc:sldMk cId="634383981" sldId="449"/>
        </pc:sldMkLst>
      </pc:sldChg>
      <pc:sldChg chg="add">
        <pc:chgData name="Arun Vadekkedhil" userId="42e6ed11-22d2-49de-94d6-fd78e15c9969" providerId="ADAL" clId="{75B401B2-8A4C-445C-9AFB-56094A7F0E08}" dt="2019-01-12T02:03:45.243" v="13"/>
        <pc:sldMkLst>
          <pc:docMk/>
          <pc:sldMk cId="2661809232" sldId="450"/>
        </pc:sldMkLst>
      </pc:sldChg>
      <pc:sldChg chg="add">
        <pc:chgData name="Arun Vadekkedhil" userId="42e6ed11-22d2-49de-94d6-fd78e15c9969" providerId="ADAL" clId="{75B401B2-8A4C-445C-9AFB-56094A7F0E08}" dt="2019-01-12T02:03:45.243" v="13"/>
        <pc:sldMkLst>
          <pc:docMk/>
          <pc:sldMk cId="3626180781" sldId="451"/>
        </pc:sldMkLst>
      </pc:sldChg>
      <pc:sldChg chg="add">
        <pc:chgData name="Arun Vadekkedhil" userId="42e6ed11-22d2-49de-94d6-fd78e15c9969" providerId="ADAL" clId="{75B401B2-8A4C-445C-9AFB-56094A7F0E08}" dt="2019-01-12T02:03:45.243" v="13"/>
        <pc:sldMkLst>
          <pc:docMk/>
          <pc:sldMk cId="3278193747" sldId="452"/>
        </pc:sldMkLst>
      </pc:sldChg>
      <pc:sldChg chg="add">
        <pc:chgData name="Arun Vadekkedhil" userId="42e6ed11-22d2-49de-94d6-fd78e15c9969" providerId="ADAL" clId="{75B401B2-8A4C-445C-9AFB-56094A7F0E08}" dt="2019-01-12T02:03:45.243" v="13"/>
        <pc:sldMkLst>
          <pc:docMk/>
          <pc:sldMk cId="1963716106" sldId="453"/>
        </pc:sldMkLst>
      </pc:sldChg>
      <pc:sldChg chg="add">
        <pc:chgData name="Arun Vadekkedhil" userId="42e6ed11-22d2-49de-94d6-fd78e15c9969" providerId="ADAL" clId="{75B401B2-8A4C-445C-9AFB-56094A7F0E08}" dt="2019-01-12T02:03:45.243" v="13"/>
        <pc:sldMkLst>
          <pc:docMk/>
          <pc:sldMk cId="853428623" sldId="455"/>
        </pc:sldMkLst>
      </pc:sldChg>
      <pc:sldChg chg="add">
        <pc:chgData name="Arun Vadekkedhil" userId="42e6ed11-22d2-49de-94d6-fd78e15c9969" providerId="ADAL" clId="{75B401B2-8A4C-445C-9AFB-56094A7F0E08}" dt="2019-01-12T02:03:45.243" v="13"/>
        <pc:sldMkLst>
          <pc:docMk/>
          <pc:sldMk cId="3731670029" sldId="456"/>
        </pc:sldMkLst>
      </pc:sldChg>
      <pc:sldChg chg="add">
        <pc:chgData name="Arun Vadekkedhil" userId="42e6ed11-22d2-49de-94d6-fd78e15c9969" providerId="ADAL" clId="{75B401B2-8A4C-445C-9AFB-56094A7F0E08}" dt="2019-01-12T02:03:45.243" v="13"/>
        <pc:sldMkLst>
          <pc:docMk/>
          <pc:sldMk cId="2127980992" sldId="457"/>
        </pc:sldMkLst>
      </pc:sldChg>
      <pc:sldChg chg="add">
        <pc:chgData name="Arun Vadekkedhil" userId="42e6ed11-22d2-49de-94d6-fd78e15c9969" providerId="ADAL" clId="{75B401B2-8A4C-445C-9AFB-56094A7F0E08}" dt="2019-01-12T02:03:45.243" v="13"/>
        <pc:sldMkLst>
          <pc:docMk/>
          <pc:sldMk cId="214069076" sldId="458"/>
        </pc:sldMkLst>
      </pc:sldChg>
      <pc:sldChg chg="add">
        <pc:chgData name="Arun Vadekkedhil" userId="42e6ed11-22d2-49de-94d6-fd78e15c9969" providerId="ADAL" clId="{75B401B2-8A4C-445C-9AFB-56094A7F0E08}" dt="2019-01-12T02:03:45.243" v="13"/>
        <pc:sldMkLst>
          <pc:docMk/>
          <pc:sldMk cId="941981336" sldId="459"/>
        </pc:sldMkLst>
      </pc:sldChg>
      <pc:sldChg chg="add">
        <pc:chgData name="Arun Vadekkedhil" userId="42e6ed11-22d2-49de-94d6-fd78e15c9969" providerId="ADAL" clId="{75B401B2-8A4C-445C-9AFB-56094A7F0E08}" dt="2019-01-12T02:03:45.243" v="13"/>
        <pc:sldMkLst>
          <pc:docMk/>
          <pc:sldMk cId="1247372113" sldId="460"/>
        </pc:sldMkLst>
      </pc:sldChg>
      <pc:sldChg chg="add">
        <pc:chgData name="Arun Vadekkedhil" userId="42e6ed11-22d2-49de-94d6-fd78e15c9969" providerId="ADAL" clId="{75B401B2-8A4C-445C-9AFB-56094A7F0E08}" dt="2019-01-12T02:03:45.243" v="13"/>
        <pc:sldMkLst>
          <pc:docMk/>
          <pc:sldMk cId="1765114632" sldId="461"/>
        </pc:sldMkLst>
      </pc:sldChg>
      <pc:sldChg chg="add">
        <pc:chgData name="Arun Vadekkedhil" userId="42e6ed11-22d2-49de-94d6-fd78e15c9969" providerId="ADAL" clId="{75B401B2-8A4C-445C-9AFB-56094A7F0E08}" dt="2019-01-12T02:03:45.243" v="13"/>
        <pc:sldMkLst>
          <pc:docMk/>
          <pc:sldMk cId="955052890" sldId="462"/>
        </pc:sldMkLst>
      </pc:sldChg>
      <pc:sldChg chg="add">
        <pc:chgData name="Arun Vadekkedhil" userId="42e6ed11-22d2-49de-94d6-fd78e15c9969" providerId="ADAL" clId="{75B401B2-8A4C-445C-9AFB-56094A7F0E08}" dt="2019-01-12T02:03:45.243" v="13"/>
        <pc:sldMkLst>
          <pc:docMk/>
          <pc:sldMk cId="1569876503" sldId="463"/>
        </pc:sldMkLst>
      </pc:sldChg>
      <pc:sldChg chg="add">
        <pc:chgData name="Arun Vadekkedhil" userId="42e6ed11-22d2-49de-94d6-fd78e15c9969" providerId="ADAL" clId="{75B401B2-8A4C-445C-9AFB-56094A7F0E08}" dt="2019-01-12T02:03:45.243" v="13"/>
        <pc:sldMkLst>
          <pc:docMk/>
          <pc:sldMk cId="2609372324" sldId="464"/>
        </pc:sldMkLst>
      </pc:sldChg>
      <pc:sldChg chg="add">
        <pc:chgData name="Arun Vadekkedhil" userId="42e6ed11-22d2-49de-94d6-fd78e15c9969" providerId="ADAL" clId="{75B401B2-8A4C-445C-9AFB-56094A7F0E08}" dt="2019-01-12T02:03:45.243" v="13"/>
        <pc:sldMkLst>
          <pc:docMk/>
          <pc:sldMk cId="1017911793" sldId="465"/>
        </pc:sldMkLst>
      </pc:sldChg>
      <pc:sldChg chg="add">
        <pc:chgData name="Arun Vadekkedhil" userId="42e6ed11-22d2-49de-94d6-fd78e15c9969" providerId="ADAL" clId="{75B401B2-8A4C-445C-9AFB-56094A7F0E08}" dt="2019-01-12T02:03:45.243" v="13"/>
        <pc:sldMkLst>
          <pc:docMk/>
          <pc:sldMk cId="3095872398" sldId="466"/>
        </pc:sldMkLst>
      </pc:sldChg>
      <pc:sldChg chg="addSp delSp modSp add">
        <pc:chgData name="Arun Vadekkedhil" userId="42e6ed11-22d2-49de-94d6-fd78e15c9969" providerId="ADAL" clId="{75B401B2-8A4C-445C-9AFB-56094A7F0E08}" dt="2019-01-13T01:35:37.032" v="133" actId="20577"/>
        <pc:sldMkLst>
          <pc:docMk/>
          <pc:sldMk cId="662849770" sldId="467"/>
        </pc:sldMkLst>
        <pc:spChg chg="mod">
          <ac:chgData name="Arun Vadekkedhil" userId="42e6ed11-22d2-49de-94d6-fd78e15c9969" providerId="ADAL" clId="{75B401B2-8A4C-445C-9AFB-56094A7F0E08}" dt="2019-01-13T01:35:37.032" v="133" actId="20577"/>
          <ac:spMkLst>
            <pc:docMk/>
            <pc:sldMk cId="662849770" sldId="467"/>
            <ac:spMk id="2" creationId="{00000000-0000-0000-0000-000000000000}"/>
          </ac:spMkLst>
        </pc:spChg>
        <pc:spChg chg="del mod">
          <ac:chgData name="Arun Vadekkedhil" userId="42e6ed11-22d2-49de-94d6-fd78e15c9969" providerId="ADAL" clId="{75B401B2-8A4C-445C-9AFB-56094A7F0E08}" dt="2019-01-13T01:34:53.939" v="102" actId="478"/>
          <ac:spMkLst>
            <pc:docMk/>
            <pc:sldMk cId="662849770" sldId="467"/>
            <ac:spMk id="3" creationId="{00000000-0000-0000-0000-000000000000}"/>
          </ac:spMkLst>
        </pc:spChg>
        <pc:spChg chg="del">
          <ac:chgData name="Arun Vadekkedhil" userId="42e6ed11-22d2-49de-94d6-fd78e15c9969" providerId="ADAL" clId="{75B401B2-8A4C-445C-9AFB-56094A7F0E08}" dt="2019-01-13T01:35:00.297" v="104" actId="478"/>
          <ac:spMkLst>
            <pc:docMk/>
            <pc:sldMk cId="662849770" sldId="467"/>
            <ac:spMk id="6" creationId="{00000000-0000-0000-0000-000000000000}"/>
          </ac:spMkLst>
        </pc:spChg>
        <pc:spChg chg="del mod">
          <ac:chgData name="Arun Vadekkedhil" userId="42e6ed11-22d2-49de-94d6-fd78e15c9969" providerId="ADAL" clId="{75B401B2-8A4C-445C-9AFB-56094A7F0E08}" dt="2019-01-13T01:35:08.610" v="106" actId="478"/>
          <ac:spMkLst>
            <pc:docMk/>
            <pc:sldMk cId="662849770" sldId="467"/>
            <ac:spMk id="8" creationId="{00000000-0000-0000-0000-000000000000}"/>
          </ac:spMkLst>
        </pc:spChg>
        <pc:spChg chg="add mod">
          <ac:chgData name="Arun Vadekkedhil" userId="42e6ed11-22d2-49de-94d6-fd78e15c9969" providerId="ADAL" clId="{75B401B2-8A4C-445C-9AFB-56094A7F0E08}" dt="2019-01-13T01:35:26.826" v="112" actId="5793"/>
          <ac:spMkLst>
            <pc:docMk/>
            <pc:sldMk cId="662849770" sldId="467"/>
            <ac:spMk id="10" creationId="{F56CD622-0CCA-41B6-8156-7F92F19C6874}"/>
          </ac:spMkLst>
        </pc:spChg>
        <pc:spChg chg="del">
          <ac:chgData name="Arun Vadekkedhil" userId="42e6ed11-22d2-49de-94d6-fd78e15c9969" providerId="ADAL" clId="{75B401B2-8A4C-445C-9AFB-56094A7F0E08}" dt="2019-01-13T01:34:56.800" v="103" actId="478"/>
          <ac:spMkLst>
            <pc:docMk/>
            <pc:sldMk cId="662849770" sldId="467"/>
            <ac:spMk id="11" creationId="{00000000-0000-0000-0000-000000000000}"/>
          </ac:spMkLst>
        </pc:spChg>
        <pc:picChg chg="del">
          <ac:chgData name="Arun Vadekkedhil" userId="42e6ed11-22d2-49de-94d6-fd78e15c9969" providerId="ADAL" clId="{75B401B2-8A4C-445C-9AFB-56094A7F0E08}" dt="2019-01-13T01:35:15.861" v="108" actId="478"/>
          <ac:picMkLst>
            <pc:docMk/>
            <pc:sldMk cId="662849770" sldId="467"/>
            <ac:picMk id="5" creationId="{00000000-0000-0000-0000-000000000000}"/>
          </ac:picMkLst>
        </pc:picChg>
        <pc:picChg chg="del">
          <ac:chgData name="Arun Vadekkedhil" userId="42e6ed11-22d2-49de-94d6-fd78e15c9969" providerId="ADAL" clId="{75B401B2-8A4C-445C-9AFB-56094A7F0E08}" dt="2019-01-13T01:35:15.861" v="108" actId="478"/>
          <ac:picMkLst>
            <pc:docMk/>
            <pc:sldMk cId="662849770" sldId="467"/>
            <ac:picMk id="7"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1/13/2019</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dirty="0"/>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1/13/2019</a:t>
            </a:fld>
            <a:endParaRPr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dirty="0"/>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Use of </a:t>
            </a:r>
            <a:r>
              <a:rPr lang="en-US" sz="1200" b="1" i="0" kern="1200" dirty="0" err="1">
                <a:solidFill>
                  <a:schemeClr val="tx1"/>
                </a:solidFill>
                <a:effectLst/>
                <a:latin typeface="+mn-lt"/>
                <a:ea typeface="+mn-ea"/>
                <a:cs typeface="+mn-cs"/>
              </a:rPr>
              <a:t>hashCode</a:t>
            </a:r>
            <a:r>
              <a:rPr lang="en-US" sz="1200" b="1" i="0" kern="1200" dirty="0">
                <a:solidFill>
                  <a:schemeClr val="tx1"/>
                </a:solidFill>
                <a:effectLst/>
                <a:latin typeface="+mn-lt"/>
                <a:ea typeface="+mn-ea"/>
                <a:cs typeface="+mn-cs"/>
              </a:rPr>
              <a:t>() method :</a:t>
            </a:r>
            <a:r>
              <a:rPr lang="en-US" sz="1200" b="0" i="0" kern="1200" dirty="0">
                <a:solidFill>
                  <a:schemeClr val="tx1"/>
                </a:solidFill>
                <a:effectLst/>
                <a:latin typeface="+mn-lt"/>
                <a:ea typeface="+mn-ea"/>
                <a:cs typeface="+mn-cs"/>
              </a:rPr>
              <a:t> Returns a hash value that is used to search object in a collection. JVM(Java Virtual Machine) uses </a:t>
            </a:r>
            <a:r>
              <a:rPr lang="en-US" sz="1200" b="0" i="0" kern="1200" dirty="0" err="1">
                <a:solidFill>
                  <a:schemeClr val="tx1"/>
                </a:solidFill>
                <a:effectLst/>
                <a:latin typeface="+mn-lt"/>
                <a:ea typeface="+mn-ea"/>
                <a:cs typeface="+mn-cs"/>
              </a:rPr>
              <a:t>hashcode</a:t>
            </a:r>
            <a:r>
              <a:rPr lang="en-US" sz="1200" b="0" i="0" kern="1200" dirty="0">
                <a:solidFill>
                  <a:schemeClr val="tx1"/>
                </a:solidFill>
                <a:effectLst/>
                <a:latin typeface="+mn-lt"/>
                <a:ea typeface="+mn-ea"/>
                <a:cs typeface="+mn-cs"/>
              </a:rPr>
              <a:t> method while saving objects into hashing related data structures like </a:t>
            </a:r>
            <a:r>
              <a:rPr lang="en-US" sz="1200" b="0" i="0" kern="1200" dirty="0" err="1">
                <a:solidFill>
                  <a:schemeClr val="tx1"/>
                </a:solidFill>
                <a:effectLst/>
                <a:latin typeface="+mn-lt"/>
                <a:ea typeface="+mn-ea"/>
                <a:cs typeface="+mn-cs"/>
              </a:rPr>
              <a:t>HashSet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HashMap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Hashtable</a:t>
            </a:r>
            <a:r>
              <a:rPr lang="en-US" sz="1200" b="0" i="0" kern="1200" dirty="0">
                <a:solidFill>
                  <a:schemeClr val="tx1"/>
                </a:solidFill>
                <a:effectLst/>
                <a:latin typeface="+mn-lt"/>
                <a:ea typeface="+mn-ea"/>
                <a:cs typeface="+mn-cs"/>
              </a:rPr>
              <a:t> etc. The main advantage of saving objects based on hash code is that searching becomes easy.</a:t>
            </a:r>
            <a:br>
              <a:rPr lang="en-US" dirty="0"/>
            </a:br>
            <a:r>
              <a:rPr lang="en-US" sz="1200" b="1" i="0" kern="1200" dirty="0">
                <a:solidFill>
                  <a:schemeClr val="tx1"/>
                </a:solidFill>
                <a:effectLst/>
                <a:latin typeface="+mn-lt"/>
                <a:ea typeface="+mn-ea"/>
                <a:cs typeface="+mn-cs"/>
              </a:rPr>
              <a:t>Note :</a:t>
            </a:r>
            <a:r>
              <a:rPr lang="en-US" sz="1200" b="0" i="0" kern="1200" dirty="0">
                <a:solidFill>
                  <a:schemeClr val="tx1"/>
                </a:solidFill>
                <a:effectLst/>
                <a:latin typeface="+mn-lt"/>
                <a:ea typeface="+mn-ea"/>
                <a:cs typeface="+mn-cs"/>
              </a:rPr>
              <a:t> Override of </a:t>
            </a:r>
            <a:r>
              <a:rPr lang="en-US" sz="1200" b="1" i="0" kern="1200" dirty="0" err="1">
                <a:solidFill>
                  <a:schemeClr val="tx1"/>
                </a:solidFill>
                <a:effectLst/>
                <a:latin typeface="+mn-lt"/>
                <a:ea typeface="+mn-ea"/>
                <a:cs typeface="+mn-cs"/>
              </a:rPr>
              <a:t>hashCode</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method needs to be done such that for every object we generate a unique number. For </a:t>
            </a:r>
            <a:r>
              <a:rPr lang="en-US" sz="1200" b="0" i="0" kern="1200" dirty="0" err="1">
                <a:solidFill>
                  <a:schemeClr val="tx1"/>
                </a:solidFill>
                <a:effectLst/>
                <a:latin typeface="+mn-lt"/>
                <a:ea typeface="+mn-ea"/>
                <a:cs typeface="+mn-cs"/>
              </a:rPr>
              <a:t>example,for</a:t>
            </a:r>
            <a:r>
              <a:rPr lang="en-US" sz="1200" b="0" i="0" kern="1200" dirty="0">
                <a:solidFill>
                  <a:schemeClr val="tx1"/>
                </a:solidFill>
                <a:effectLst/>
                <a:latin typeface="+mn-lt"/>
                <a:ea typeface="+mn-ea"/>
                <a:cs typeface="+mn-cs"/>
              </a:rPr>
              <a:t> a Student class we can return roll no. of student from </a:t>
            </a:r>
            <a:r>
              <a:rPr lang="en-US" sz="1200" b="0" i="0" kern="1200" dirty="0" err="1">
                <a:solidFill>
                  <a:schemeClr val="tx1"/>
                </a:solidFill>
                <a:effectLst/>
                <a:latin typeface="+mn-lt"/>
                <a:ea typeface="+mn-ea"/>
                <a:cs typeface="+mn-cs"/>
              </a:rPr>
              <a:t>hashCode</a:t>
            </a:r>
            <a:r>
              <a:rPr lang="en-US" sz="1200" b="0" i="0" kern="1200" dirty="0">
                <a:solidFill>
                  <a:schemeClr val="tx1"/>
                </a:solidFill>
                <a:effectLst/>
                <a:latin typeface="+mn-lt"/>
                <a:ea typeface="+mn-ea"/>
                <a:cs typeface="+mn-cs"/>
              </a:rPr>
              <a:t>() method as it is unique.</a:t>
            </a:r>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19</a:t>
            </a:fld>
            <a:endParaRPr lang="en-US" dirty="0"/>
          </a:p>
        </p:txBody>
      </p:sp>
    </p:spTree>
    <p:extLst>
      <p:ext uri="{BB962C8B-B14F-4D97-AF65-F5344CB8AC3E}">
        <p14:creationId xmlns:p14="http://schemas.microsoft.com/office/powerpoint/2010/main" val="1750046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20</a:t>
            </a:fld>
            <a:endParaRPr lang="en-US" dirty="0"/>
          </a:p>
        </p:txBody>
      </p:sp>
    </p:spTree>
    <p:extLst>
      <p:ext uri="{BB962C8B-B14F-4D97-AF65-F5344CB8AC3E}">
        <p14:creationId xmlns:p14="http://schemas.microsoft.com/office/powerpoint/2010/main" val="610325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A3C37BE-C303-496D-B5CD-85F2937540FC}" type="slidenum">
              <a:rPr lang="en-IN" smtClean="0"/>
              <a:t>25</a:t>
            </a:fld>
            <a:endParaRPr lang="en-IN" dirty="0"/>
          </a:p>
        </p:txBody>
      </p:sp>
    </p:spTree>
    <p:extLst>
      <p:ext uri="{BB962C8B-B14F-4D97-AF65-F5344CB8AC3E}">
        <p14:creationId xmlns:p14="http://schemas.microsoft.com/office/powerpoint/2010/main" val="77978855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1/13/2019</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dirty="0"/>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1/13/2019</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dirty="0"/>
              <a:t>Click icon to add picture</a:t>
            </a:r>
            <a:endParaRPr dirty="0"/>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1/13/2019</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1/13/2019</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1/13/2019</a:t>
            </a:fld>
            <a:endParaRPr dirty="0"/>
          </a:p>
        </p:txBody>
      </p:sp>
      <p:sp>
        <p:nvSpPr>
          <p:cNvPr id="8" name="Footer Placeholder 7"/>
          <p:cNvSpPr>
            <a:spLocks noGrp="1"/>
          </p:cNvSpPr>
          <p:nvPr>
            <p:ph type="ftr" sz="quarter" idx="11"/>
          </p:nvPr>
        </p:nvSpPr>
        <p:spPr/>
        <p:txBody>
          <a:bodyPr/>
          <a:lstStyle/>
          <a:p>
            <a:endParaRPr dirty="0"/>
          </a:p>
        </p:txBody>
      </p:sp>
      <p:sp>
        <p:nvSpPr>
          <p:cNvPr id="9" name="Slide Number Placeholder 8"/>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1/13/2019</a:t>
            </a:fld>
            <a:endParaRPr dirty="0"/>
          </a:p>
        </p:txBody>
      </p:sp>
      <p:sp>
        <p:nvSpPr>
          <p:cNvPr id="4" name="Footer Placeholder 3"/>
          <p:cNvSpPr>
            <a:spLocks noGrp="1"/>
          </p:cNvSpPr>
          <p:nvPr>
            <p:ph type="ftr" sz="quarter" idx="11"/>
          </p:nvPr>
        </p:nvSpPr>
        <p:spPr/>
        <p:txBody>
          <a:bodyPr/>
          <a:lstStyle/>
          <a:p>
            <a:endParaRPr dirty="0"/>
          </a:p>
        </p:txBody>
      </p:sp>
      <p:sp>
        <p:nvSpPr>
          <p:cNvPr id="5" name="Slide Number Placeholder 4"/>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1/13/2019</a:t>
            </a:fld>
            <a:endParaRPr dirty="0"/>
          </a:p>
        </p:txBody>
      </p:sp>
      <p:sp>
        <p:nvSpPr>
          <p:cNvPr id="3" name="Footer Placeholder 2"/>
          <p:cNvSpPr>
            <a:spLocks noGrp="1"/>
          </p:cNvSpPr>
          <p:nvPr>
            <p:ph type="ftr" sz="quarter" idx="11"/>
          </p:nvPr>
        </p:nvSpPr>
        <p:spPr/>
        <p:txBody>
          <a:bodyPr/>
          <a:lstStyle/>
          <a:p>
            <a:endParaRPr dirty="0"/>
          </a:p>
        </p:txBody>
      </p:sp>
      <p:sp>
        <p:nvSpPr>
          <p:cNvPr id="4" name="Slide Number Placeholder 3"/>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1/13/2019</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5" name="Date Placeholder 4"/>
          <p:cNvSpPr>
            <a:spLocks noGrp="1"/>
          </p:cNvSpPr>
          <p:nvPr>
            <p:ph type="dt" sz="half" idx="10"/>
          </p:nvPr>
        </p:nvSpPr>
        <p:spPr/>
        <p:txBody>
          <a:bodyPr/>
          <a:lstStyle/>
          <a:p>
            <a:fld id="{402B9795-92DC-40DC-A1CA-9A4B349D7824}" type="datetimeFigureOut">
              <a:rPr lang="en-US"/>
              <a:t>1/13/2019</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1/13/2019</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1/13/2019</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1/13/2019</a:t>
            </a:fld>
            <a:endParaRPr lang="en-US" dirty="0"/>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dirty="0"/>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dirty="0"/>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docs.oracle.com/javase/tutorial/java/nutsandbolts/variables.html#naming"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docs.oracle.com/javase/tutorial/java/data/autoboxing.html"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hyperlink" Target="mailto:avadekkedhil@wilp.bits-pilani.ac.in"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4"/>
            <a:ext cx="5734050" cy="2219691"/>
          </a:xfrm>
        </p:spPr>
        <p:txBody>
          <a:bodyPr anchor="ctr">
            <a:normAutofit/>
          </a:bodyPr>
          <a:lstStyle/>
          <a:p>
            <a:r>
              <a:rPr lang="en-US" dirty="0"/>
              <a:t>Object Oriented Programming &amp; Design</a:t>
            </a:r>
          </a:p>
        </p:txBody>
      </p:sp>
      <p:sp>
        <p:nvSpPr>
          <p:cNvPr id="7" name="Subtitle 6"/>
          <p:cNvSpPr>
            <a:spLocks noGrp="1"/>
          </p:cNvSpPr>
          <p:nvPr>
            <p:ph type="subTitle" idx="1"/>
          </p:nvPr>
        </p:nvSpPr>
        <p:spPr>
          <a:xfrm>
            <a:off x="1104900" y="4511785"/>
            <a:ext cx="5734050" cy="846298"/>
          </a:xfrm>
        </p:spPr>
        <p:txBody>
          <a:bodyPr/>
          <a:lstStyle/>
          <a:p>
            <a:r>
              <a:rPr lang="en-IN" b="1" dirty="0"/>
              <a:t>Session – 10: 13-Jan-2019</a:t>
            </a:r>
            <a:endParaRPr lang="en-US" b="1" dirty="0"/>
          </a:p>
        </p:txBody>
      </p:sp>
      <p:pic>
        <p:nvPicPr>
          <p:cNvPr id="4" name="Picture Placeholder 3"/>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6671780" y="1445796"/>
            <a:ext cx="5269208" cy="3912286"/>
          </a:xfrm>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Agenda</a:t>
            </a:r>
          </a:p>
        </p:txBody>
      </p:sp>
      <p:sp>
        <p:nvSpPr>
          <p:cNvPr id="14" name="Content Placeholder 13"/>
          <p:cNvSpPr>
            <a:spLocks noGrp="1"/>
          </p:cNvSpPr>
          <p:nvPr>
            <p:ph idx="1"/>
          </p:nvPr>
        </p:nvSpPr>
        <p:spPr/>
        <p:txBody>
          <a:bodyPr/>
          <a:lstStyle/>
          <a:p>
            <a:r>
              <a:rPr lang="en-US" dirty="0"/>
              <a:t>Java Type System</a:t>
            </a:r>
          </a:p>
          <a:p>
            <a:r>
              <a:rPr lang="en-US" dirty="0"/>
              <a:t>The Class </a:t>
            </a:r>
            <a:r>
              <a:rPr lang="en-US" dirty="0" err="1"/>
              <a:t>class</a:t>
            </a:r>
            <a:endParaRPr lang="en-US" dirty="0"/>
          </a:p>
          <a:p>
            <a:r>
              <a:rPr lang="en-US" dirty="0"/>
              <a:t>Java Object Model</a:t>
            </a:r>
          </a:p>
          <a:p>
            <a:r>
              <a:rPr lang="en-US" dirty="0"/>
              <a:t>Java Generics</a:t>
            </a:r>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3307" y="1466118"/>
            <a:ext cx="4706082" cy="4706082"/>
          </a:xfrm>
          <a:prstGeom prst="rect">
            <a:avLst/>
          </a:prstGeom>
        </p:spPr>
      </p:pic>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83559-F103-46FC-B981-ABE4F53C1FD1}"/>
              </a:ext>
            </a:extLst>
          </p:cNvPr>
          <p:cNvSpPr>
            <a:spLocks noGrp="1"/>
          </p:cNvSpPr>
          <p:nvPr>
            <p:ph type="ctrTitle"/>
          </p:nvPr>
        </p:nvSpPr>
        <p:spPr/>
        <p:txBody>
          <a:bodyPr/>
          <a:lstStyle/>
          <a:p>
            <a:r>
              <a:rPr lang="en-IN" dirty="0"/>
              <a:t>Type System Java</a:t>
            </a:r>
          </a:p>
        </p:txBody>
      </p:sp>
      <p:sp>
        <p:nvSpPr>
          <p:cNvPr id="3" name="Picture Placeholder 2"/>
          <p:cNvSpPr>
            <a:spLocks noGrp="1"/>
          </p:cNvSpPr>
          <p:nvPr>
            <p:ph type="pic" sz="quarter" idx="13"/>
          </p:nvPr>
        </p:nvSpPr>
        <p:spPr/>
      </p:sp>
      <p:pic>
        <p:nvPicPr>
          <p:cNvPr id="8" name="Picture 7"/>
          <p:cNvPicPr>
            <a:picLocks noChangeAspect="1"/>
          </p:cNvPicPr>
          <p:nvPr/>
        </p:nvPicPr>
        <p:blipFill>
          <a:blip r:embed="rId2"/>
          <a:stretch>
            <a:fillRect/>
          </a:stretch>
        </p:blipFill>
        <p:spPr>
          <a:xfrm>
            <a:off x="6966185" y="1828800"/>
            <a:ext cx="5137755" cy="2814743"/>
          </a:xfrm>
          <a:prstGeom prst="rect">
            <a:avLst/>
          </a:prstGeom>
        </p:spPr>
      </p:pic>
    </p:spTree>
    <p:extLst>
      <p:ext uri="{BB962C8B-B14F-4D97-AF65-F5344CB8AC3E}">
        <p14:creationId xmlns:p14="http://schemas.microsoft.com/office/powerpoint/2010/main" val="2184301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Types</a:t>
            </a:r>
          </a:p>
        </p:txBody>
      </p:sp>
      <p:sp>
        <p:nvSpPr>
          <p:cNvPr id="3" name="Content Placeholder 2"/>
          <p:cNvSpPr>
            <a:spLocks noGrp="1"/>
          </p:cNvSpPr>
          <p:nvPr>
            <p:ph idx="1"/>
          </p:nvPr>
        </p:nvSpPr>
        <p:spPr>
          <a:xfrm>
            <a:off x="133350" y="1343024"/>
            <a:ext cx="11825288" cy="5400675"/>
          </a:xfrm>
        </p:spPr>
        <p:txBody>
          <a:bodyPr>
            <a:noAutofit/>
          </a:bodyPr>
          <a:lstStyle/>
          <a:p>
            <a:r>
              <a:rPr lang="en-US" sz="1800" dirty="0">
                <a:latin typeface="Corbel" panose="020B0503020204020204" pitchFamily="34" charset="0"/>
              </a:rPr>
              <a:t>A </a:t>
            </a:r>
            <a:r>
              <a:rPr lang="en-US" sz="1800" u="sng" dirty="0">
                <a:latin typeface="Corbel" panose="020B0503020204020204" pitchFamily="34" charset="0"/>
              </a:rPr>
              <a:t>statically </a:t>
            </a:r>
            <a:r>
              <a:rPr lang="en-US" sz="1800" dirty="0">
                <a:latin typeface="Corbel" panose="020B0503020204020204" pitchFamily="34" charset="0"/>
              </a:rPr>
              <a:t>typed language is one in which variables have definite types, and where it is a </a:t>
            </a:r>
            <a:r>
              <a:rPr lang="en-US" sz="1800" u="sng" dirty="0">
                <a:latin typeface="Corbel" panose="020B0503020204020204" pitchFamily="34" charset="0"/>
              </a:rPr>
              <a:t>compile-time error </a:t>
            </a:r>
            <a:r>
              <a:rPr lang="en-US" sz="1800" dirty="0">
                <a:latin typeface="Corbel" panose="020B0503020204020204" pitchFamily="34" charset="0"/>
              </a:rPr>
              <a:t>to assign a value of an </a:t>
            </a:r>
            <a:r>
              <a:rPr lang="en-US" sz="1800" u="sng" dirty="0">
                <a:latin typeface="Corbel" panose="020B0503020204020204" pitchFamily="34" charset="0"/>
              </a:rPr>
              <a:t>incompatible type </a:t>
            </a:r>
            <a:r>
              <a:rPr lang="en-US" sz="1800" dirty="0">
                <a:latin typeface="Corbel" panose="020B0503020204020204" pitchFamily="34" charset="0"/>
              </a:rPr>
              <a:t>to a </a:t>
            </a:r>
            <a:r>
              <a:rPr lang="en-US" sz="1800" u="sng" dirty="0">
                <a:latin typeface="Corbel" panose="020B0503020204020204" pitchFamily="34" charset="0"/>
              </a:rPr>
              <a:t>variable</a:t>
            </a:r>
            <a:r>
              <a:rPr lang="en-US" sz="1800" dirty="0">
                <a:latin typeface="Corbel" panose="020B0503020204020204" pitchFamily="34" charset="0"/>
              </a:rPr>
              <a:t>. </a:t>
            </a:r>
          </a:p>
          <a:p>
            <a:r>
              <a:rPr lang="en-US" sz="1800" dirty="0">
                <a:latin typeface="Corbel" panose="020B0503020204020204" pitchFamily="34" charset="0"/>
              </a:rPr>
              <a:t>Java is an example of a </a:t>
            </a:r>
            <a:r>
              <a:rPr lang="en-US" sz="1800" u="sng" dirty="0">
                <a:latin typeface="Corbel" panose="020B0503020204020204" pitchFamily="34" charset="0"/>
              </a:rPr>
              <a:t>statically typed language</a:t>
            </a:r>
            <a:r>
              <a:rPr lang="en-US" sz="1800" dirty="0">
                <a:latin typeface="Corbel" panose="020B0503020204020204" pitchFamily="34" charset="0"/>
              </a:rPr>
              <a:t>. Languages that only </a:t>
            </a:r>
            <a:r>
              <a:rPr lang="en-US" sz="1800" u="sng" dirty="0">
                <a:latin typeface="Corbel" panose="020B0503020204020204" pitchFamily="34" charset="0"/>
              </a:rPr>
              <a:t>check type compatibility at runtime </a:t>
            </a:r>
            <a:r>
              <a:rPr lang="en-US" sz="1800" dirty="0">
                <a:latin typeface="Corbel" panose="020B0503020204020204" pitchFamily="34" charset="0"/>
              </a:rPr>
              <a:t>are called </a:t>
            </a:r>
            <a:r>
              <a:rPr lang="en-US" sz="1800" u="sng" dirty="0">
                <a:latin typeface="Corbel" panose="020B0503020204020204" pitchFamily="34" charset="0"/>
              </a:rPr>
              <a:t>dynamically typed</a:t>
            </a:r>
            <a:r>
              <a:rPr lang="en-US" sz="1800" dirty="0">
                <a:latin typeface="Corbel" panose="020B0503020204020204" pitchFamily="34" charset="0"/>
              </a:rPr>
              <a:t>—JavaScript is an example of a dynamically typed language.</a:t>
            </a:r>
          </a:p>
          <a:p>
            <a:r>
              <a:rPr lang="en-US" sz="1800" dirty="0">
                <a:latin typeface="Corbel" panose="020B0503020204020204" pitchFamily="34" charset="0"/>
              </a:rPr>
              <a:t>In Java a </a:t>
            </a:r>
            <a:r>
              <a:rPr lang="en-US" sz="1800" b="1" u="sng" dirty="0">
                <a:latin typeface="Corbel" panose="020B0503020204020204" pitchFamily="34" charset="0"/>
              </a:rPr>
              <a:t>type</a:t>
            </a:r>
            <a:r>
              <a:rPr lang="en-US" sz="1800" dirty="0">
                <a:latin typeface="Corbel" panose="020B0503020204020204" pitchFamily="34" charset="0"/>
              </a:rPr>
              <a:t> is a set of  </a:t>
            </a:r>
            <a:r>
              <a:rPr lang="en-US" sz="1800" b="1" u="sng" dirty="0">
                <a:latin typeface="Corbel" panose="020B0503020204020204" pitchFamily="34" charset="0"/>
              </a:rPr>
              <a:t>values</a:t>
            </a:r>
            <a:r>
              <a:rPr lang="en-US" sz="1800" dirty="0">
                <a:latin typeface="Corbel" panose="020B0503020204020204" pitchFamily="34" charset="0"/>
              </a:rPr>
              <a:t> with a set of </a:t>
            </a:r>
            <a:r>
              <a:rPr lang="en-US" sz="1800" b="1" u="sng" dirty="0">
                <a:latin typeface="Corbel" panose="020B0503020204020204" pitchFamily="34" charset="0"/>
              </a:rPr>
              <a:t>Operations</a:t>
            </a:r>
            <a:r>
              <a:rPr lang="en-US" sz="1800" dirty="0">
                <a:latin typeface="Corbel" panose="020B0503020204020204" pitchFamily="34" charset="0"/>
              </a:rPr>
              <a:t> that can be applied to the values.</a:t>
            </a:r>
          </a:p>
          <a:p>
            <a:r>
              <a:rPr lang="en-US" sz="1800" dirty="0">
                <a:latin typeface="Corbel" panose="020B0503020204020204" pitchFamily="34" charset="0"/>
              </a:rPr>
              <a:t>Example :</a:t>
            </a:r>
          </a:p>
          <a:p>
            <a:pPr lvl="1"/>
            <a:r>
              <a:rPr lang="en-US" sz="1800" dirty="0" err="1">
                <a:latin typeface="Corbel" panose="020B0503020204020204" pitchFamily="34" charset="0"/>
              </a:rPr>
              <a:t>int</a:t>
            </a:r>
            <a:r>
              <a:rPr lang="en-US" sz="1800" dirty="0">
                <a:latin typeface="Corbel" panose="020B0503020204020204" pitchFamily="34" charset="0"/>
              </a:rPr>
              <a:t> type -Set of values { [-2^31] to [+2^31-1])}</a:t>
            </a:r>
          </a:p>
          <a:p>
            <a:pPr lvl="1"/>
            <a:r>
              <a:rPr lang="en-US" sz="1800" dirty="0">
                <a:latin typeface="Corbel" panose="020B0503020204020204" pitchFamily="34" charset="0"/>
              </a:rPr>
              <a:t>Operations : All Arithmetic Operations</a:t>
            </a:r>
          </a:p>
          <a:p>
            <a:pPr lvl="1"/>
            <a:r>
              <a:rPr lang="en-US" sz="1800" dirty="0">
                <a:latin typeface="Corbel" panose="020B0503020204020204" pitchFamily="34" charset="0"/>
              </a:rPr>
              <a:t>BOX type - Set of all BOX object references</a:t>
            </a:r>
          </a:p>
          <a:p>
            <a:pPr lvl="1"/>
            <a:r>
              <a:rPr lang="en-US" sz="1800" dirty="0">
                <a:latin typeface="Corbel" panose="020B0503020204020204" pitchFamily="34" charset="0"/>
              </a:rPr>
              <a:t>Operations : area() , volume() , </a:t>
            </a:r>
            <a:r>
              <a:rPr lang="en-US" sz="1800" dirty="0" err="1">
                <a:latin typeface="Corbel" panose="020B0503020204020204" pitchFamily="34" charset="0"/>
              </a:rPr>
              <a:t>toString</a:t>
            </a:r>
            <a:r>
              <a:rPr lang="en-US" sz="1800" dirty="0">
                <a:latin typeface="Corbel" panose="020B0503020204020204" pitchFamily="34" charset="0"/>
              </a:rPr>
              <a:t>()</a:t>
            </a:r>
          </a:p>
          <a:p>
            <a:r>
              <a:rPr lang="en-US" sz="1800" dirty="0">
                <a:latin typeface="Corbel" panose="020B0503020204020204" pitchFamily="34" charset="0"/>
              </a:rPr>
              <a:t>Java is Strongly Typed Language. Type checking is done both at Compile and Run Time.  If a Type Check Fails at Compile Time - Compile Time Error If a Type Check Fails at Run Time - </a:t>
            </a:r>
            <a:r>
              <a:rPr lang="en-US" sz="1800" dirty="0" err="1">
                <a:latin typeface="Corbel" panose="020B0503020204020204" pitchFamily="34" charset="0"/>
              </a:rPr>
              <a:t>RunTime</a:t>
            </a:r>
            <a:r>
              <a:rPr lang="en-US" sz="1800" dirty="0">
                <a:latin typeface="Corbel" panose="020B0503020204020204" pitchFamily="34" charset="0"/>
              </a:rPr>
              <a:t> Exception</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0929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Types – Sub Types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Content Placeholder 5"/>
          <p:cNvPicPr>
            <a:picLocks noGrp="1" noChangeAspect="1"/>
          </p:cNvPicPr>
          <p:nvPr>
            <p:ph idx="1"/>
          </p:nvPr>
        </p:nvPicPr>
        <p:blipFill>
          <a:blip r:embed="rId2"/>
          <a:stretch>
            <a:fillRect/>
          </a:stretch>
        </p:blipFill>
        <p:spPr>
          <a:xfrm>
            <a:off x="332723" y="2008909"/>
            <a:ext cx="5507931" cy="4094018"/>
          </a:xfrm>
          <a:prstGeom prst="rect">
            <a:avLst/>
          </a:prstGeom>
        </p:spPr>
      </p:pic>
      <p:pic>
        <p:nvPicPr>
          <p:cNvPr id="7" name="Picture 6"/>
          <p:cNvPicPr>
            <a:picLocks noChangeAspect="1"/>
          </p:cNvPicPr>
          <p:nvPr/>
        </p:nvPicPr>
        <p:blipFill>
          <a:blip r:embed="rId3"/>
          <a:stretch>
            <a:fillRect/>
          </a:stretch>
        </p:blipFill>
        <p:spPr>
          <a:xfrm>
            <a:off x="5900162" y="1627911"/>
            <a:ext cx="6268341" cy="4475015"/>
          </a:xfrm>
          <a:prstGeom prst="rect">
            <a:avLst/>
          </a:prstGeom>
        </p:spPr>
      </p:pic>
    </p:spTree>
    <p:extLst>
      <p:ext uri="{BB962C8B-B14F-4D97-AF65-F5344CB8AC3E}">
        <p14:creationId xmlns:p14="http://schemas.microsoft.com/office/powerpoint/2010/main" val="361044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Checking</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Content Placeholder 4"/>
          <p:cNvPicPr>
            <a:picLocks noGrp="1" noChangeAspect="1"/>
          </p:cNvPicPr>
          <p:nvPr>
            <p:ph idx="1"/>
          </p:nvPr>
        </p:nvPicPr>
        <p:blipFill>
          <a:blip r:embed="rId2"/>
          <a:stretch>
            <a:fillRect/>
          </a:stretch>
        </p:blipFill>
        <p:spPr>
          <a:xfrm>
            <a:off x="624968" y="1485088"/>
            <a:ext cx="10757332" cy="5095821"/>
          </a:xfrm>
          <a:prstGeom prst="rect">
            <a:avLst/>
          </a:prstGeom>
        </p:spPr>
      </p:pic>
    </p:spTree>
    <p:extLst>
      <p:ext uri="{BB962C8B-B14F-4D97-AF65-F5344CB8AC3E}">
        <p14:creationId xmlns:p14="http://schemas.microsoft.com/office/powerpoint/2010/main" val="1286803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Checking</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Content Placeholder 5"/>
          <p:cNvPicPr>
            <a:picLocks noGrp="1" noChangeAspect="1"/>
          </p:cNvPicPr>
          <p:nvPr>
            <p:ph idx="1"/>
          </p:nvPr>
        </p:nvPicPr>
        <p:blipFill>
          <a:blip r:embed="rId2"/>
          <a:stretch>
            <a:fillRect/>
          </a:stretch>
        </p:blipFill>
        <p:spPr>
          <a:xfrm>
            <a:off x="617004" y="1378527"/>
            <a:ext cx="10868413" cy="5255692"/>
          </a:xfrm>
          <a:prstGeom prst="rect">
            <a:avLst/>
          </a:prstGeom>
        </p:spPr>
      </p:pic>
    </p:spTree>
    <p:extLst>
      <p:ext uri="{BB962C8B-B14F-4D97-AF65-F5344CB8AC3E}">
        <p14:creationId xmlns:p14="http://schemas.microsoft.com/office/powerpoint/2010/main" val="109108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Checking  - Class Cast Exception</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Grp="1" noChangeArrowheads="1"/>
          </p:cNvSpPr>
          <p:nvPr>
            <p:ph idx="1"/>
          </p:nvPr>
        </p:nvSpPr>
        <p:spPr bwMode="auto">
          <a:xfrm>
            <a:off x="165967" y="1366599"/>
            <a:ext cx="5140324" cy="549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50000"/>
              </a:lnSpc>
            </a:pPr>
            <a:r>
              <a:rPr kumimoji="0" lang="en-US" altLang="en-US" sz="1800" b="1" i="0" u="sng" strike="noStrike" cap="none" normalizeH="0" baseline="0" dirty="0" err="1">
                <a:ln>
                  <a:noFill/>
                </a:ln>
                <a:solidFill>
                  <a:srgbClr val="444444"/>
                </a:solidFill>
                <a:effectLst/>
                <a:latin typeface="Corbel" panose="020B0503020204020204" pitchFamily="34" charset="0"/>
              </a:rPr>
              <a:t>ClassCastException</a:t>
            </a:r>
            <a:r>
              <a:rPr kumimoji="0" lang="en-US" altLang="en-US" sz="1800" b="0" i="0" u="none" strike="noStrike" cap="none" normalizeH="0" baseline="0" dirty="0">
                <a:ln>
                  <a:noFill/>
                </a:ln>
                <a:solidFill>
                  <a:srgbClr val="444444"/>
                </a:solidFill>
                <a:effectLst/>
                <a:latin typeface="Corbel" panose="020B0503020204020204" pitchFamily="34" charset="0"/>
              </a:rPr>
              <a:t> in java is </a:t>
            </a:r>
            <a:r>
              <a:rPr kumimoji="0" lang="en-US" altLang="en-US" sz="1800" b="1" i="0" u="sng" strike="noStrike" cap="none" normalizeH="0" baseline="0" dirty="0">
                <a:ln>
                  <a:noFill/>
                </a:ln>
                <a:solidFill>
                  <a:srgbClr val="444444"/>
                </a:solidFill>
                <a:effectLst/>
                <a:latin typeface="Corbel" panose="020B0503020204020204" pitchFamily="34" charset="0"/>
              </a:rPr>
              <a:t>a run time error </a:t>
            </a:r>
            <a:r>
              <a:rPr kumimoji="0" lang="en-US" altLang="en-US" sz="1800" b="0" i="0" u="none" strike="noStrike" cap="none" normalizeH="0" baseline="0" dirty="0">
                <a:ln>
                  <a:noFill/>
                </a:ln>
                <a:solidFill>
                  <a:srgbClr val="444444"/>
                </a:solidFill>
                <a:effectLst/>
                <a:latin typeface="Corbel" panose="020B0503020204020204" pitchFamily="34" charset="0"/>
              </a:rPr>
              <a:t>it occurs when an </a:t>
            </a:r>
            <a:r>
              <a:rPr kumimoji="0" lang="en-US" altLang="en-US" sz="1800" b="1" i="0" u="sng" strike="noStrike" cap="none" normalizeH="0" baseline="0" dirty="0">
                <a:ln>
                  <a:noFill/>
                </a:ln>
                <a:solidFill>
                  <a:srgbClr val="444444"/>
                </a:solidFill>
                <a:effectLst/>
                <a:latin typeface="Corbel" panose="020B0503020204020204" pitchFamily="34" charset="0"/>
              </a:rPr>
              <a:t>object can not </a:t>
            </a:r>
            <a:r>
              <a:rPr kumimoji="0" lang="en-US" altLang="en-US" sz="1800" b="0" i="0" u="none" strike="noStrike" cap="none" normalizeH="0" baseline="0" dirty="0">
                <a:ln>
                  <a:noFill/>
                </a:ln>
                <a:solidFill>
                  <a:srgbClr val="444444"/>
                </a:solidFill>
                <a:effectLst/>
                <a:latin typeface="Corbel" panose="020B0503020204020204" pitchFamily="34" charset="0"/>
              </a:rPr>
              <a:t>be </a:t>
            </a:r>
            <a:r>
              <a:rPr kumimoji="0" lang="en-US" altLang="en-US" sz="1800" b="1" i="0" u="sng" strike="noStrike" cap="none" normalizeH="0" baseline="0" dirty="0">
                <a:ln>
                  <a:noFill/>
                </a:ln>
                <a:solidFill>
                  <a:srgbClr val="444444"/>
                </a:solidFill>
                <a:effectLst/>
                <a:latin typeface="Corbel" panose="020B0503020204020204" pitchFamily="34" charset="0"/>
              </a:rPr>
              <a:t>casted </a:t>
            </a:r>
            <a:r>
              <a:rPr kumimoji="0" lang="en-US" altLang="en-US" sz="1800" b="0" i="0" u="none" strike="noStrike" cap="none" normalizeH="0" baseline="0" dirty="0">
                <a:ln>
                  <a:noFill/>
                </a:ln>
                <a:solidFill>
                  <a:srgbClr val="444444"/>
                </a:solidFill>
                <a:effectLst/>
                <a:latin typeface="Corbel" panose="020B0503020204020204" pitchFamily="34" charset="0"/>
              </a:rPr>
              <a:t>to </a:t>
            </a:r>
            <a:r>
              <a:rPr kumimoji="0" lang="en-US" altLang="en-US" sz="1800" b="1" i="0" u="sng" strike="noStrike" cap="none" normalizeH="0" baseline="0" dirty="0">
                <a:ln>
                  <a:noFill/>
                </a:ln>
                <a:solidFill>
                  <a:srgbClr val="444444"/>
                </a:solidFill>
                <a:effectLst/>
                <a:latin typeface="Corbel" panose="020B0503020204020204" pitchFamily="34" charset="0"/>
              </a:rPr>
              <a:t>another type</a:t>
            </a:r>
            <a:r>
              <a:rPr kumimoji="0" lang="en-US" altLang="en-US" sz="1800" b="0" i="0" u="none" strike="noStrike" cap="none" normalizeH="0" baseline="0" dirty="0">
                <a:ln>
                  <a:noFill/>
                </a:ln>
                <a:solidFill>
                  <a:srgbClr val="444444"/>
                </a:solidFill>
                <a:effectLst/>
                <a:latin typeface="Corbel" panose="020B0503020204020204" pitchFamily="34" charset="0"/>
              </a:rPr>
              <a:t>.</a:t>
            </a:r>
            <a:endParaRPr kumimoji="0" lang="en-US" altLang="en-US" sz="1800" b="0" i="0" u="none" strike="noStrike" cap="none" normalizeH="0" baseline="0" dirty="0">
              <a:ln>
                <a:noFill/>
              </a:ln>
              <a:solidFill>
                <a:schemeClr val="tx1"/>
              </a:solidFill>
              <a:effectLst/>
              <a:latin typeface="Corbel" panose="020B0503020204020204" pitchFamily="34" charset="0"/>
            </a:endParaRPr>
          </a:p>
          <a:p>
            <a:pPr>
              <a:lnSpc>
                <a:spcPct val="150000"/>
              </a:lnSpc>
            </a:pPr>
            <a:r>
              <a:rPr kumimoji="0" lang="en-US" altLang="en-US" sz="1800" b="0" i="0" u="none" strike="noStrike" cap="none" normalizeH="0" baseline="0" dirty="0">
                <a:ln>
                  <a:noFill/>
                </a:ln>
                <a:solidFill>
                  <a:srgbClr val="444444"/>
                </a:solidFill>
                <a:effectLst/>
                <a:latin typeface="Corbel" panose="020B0503020204020204" pitchFamily="34" charset="0"/>
              </a:rPr>
              <a:t>An object is </a:t>
            </a:r>
            <a:r>
              <a:rPr kumimoji="0" lang="en-US" altLang="en-US" sz="1800" b="1" i="0" u="sng" strike="noStrike" cap="none" normalizeH="0" baseline="0" dirty="0">
                <a:ln>
                  <a:noFill/>
                </a:ln>
                <a:solidFill>
                  <a:srgbClr val="444444"/>
                </a:solidFill>
                <a:effectLst/>
                <a:latin typeface="Corbel" panose="020B0503020204020204" pitchFamily="34" charset="0"/>
              </a:rPr>
              <a:t>automatically </a:t>
            </a:r>
            <a:r>
              <a:rPr kumimoji="0" lang="en-US" altLang="en-US" sz="1800" b="1" i="0" u="sng" strike="noStrike" cap="none" normalizeH="0" baseline="0" dirty="0" err="1">
                <a:ln>
                  <a:noFill/>
                </a:ln>
                <a:solidFill>
                  <a:srgbClr val="444444"/>
                </a:solidFill>
                <a:effectLst/>
                <a:latin typeface="Corbel" panose="020B0503020204020204" pitchFamily="34" charset="0"/>
              </a:rPr>
              <a:t>upcasted</a:t>
            </a:r>
            <a:r>
              <a:rPr kumimoji="0" lang="en-US" altLang="en-US" sz="1800" b="1" i="0" u="sng" strike="noStrike" cap="none" normalizeH="0" baseline="0" dirty="0">
                <a:ln>
                  <a:noFill/>
                </a:ln>
                <a:solidFill>
                  <a:srgbClr val="444444"/>
                </a:solidFill>
                <a:effectLst/>
                <a:latin typeface="Corbel" panose="020B0503020204020204" pitchFamily="34" charset="0"/>
              </a:rPr>
              <a:t> </a:t>
            </a:r>
            <a:r>
              <a:rPr kumimoji="0" lang="en-US" altLang="en-US" sz="1800" b="0" i="0" u="none" strike="noStrike" cap="none" normalizeH="0" baseline="0" dirty="0">
                <a:ln>
                  <a:noFill/>
                </a:ln>
                <a:solidFill>
                  <a:srgbClr val="444444"/>
                </a:solidFill>
                <a:effectLst/>
                <a:latin typeface="Corbel" panose="020B0503020204020204" pitchFamily="34" charset="0"/>
              </a:rPr>
              <a:t>to its </a:t>
            </a:r>
            <a:r>
              <a:rPr kumimoji="0" lang="en-US" altLang="en-US" sz="1800" b="1" i="0" u="sng" strike="noStrike" cap="none" normalizeH="0" baseline="0" dirty="0">
                <a:ln>
                  <a:noFill/>
                </a:ln>
                <a:solidFill>
                  <a:srgbClr val="444444"/>
                </a:solidFill>
                <a:effectLst/>
                <a:latin typeface="Corbel" panose="020B0503020204020204" pitchFamily="34" charset="0"/>
              </a:rPr>
              <a:t>super class type</a:t>
            </a:r>
            <a:r>
              <a:rPr kumimoji="0" lang="en-US" altLang="en-US" sz="1800" b="0" i="0" u="none" strike="noStrike" cap="none" normalizeH="0" baseline="0" dirty="0">
                <a:ln>
                  <a:noFill/>
                </a:ln>
                <a:solidFill>
                  <a:srgbClr val="444444"/>
                </a:solidFill>
                <a:effectLst/>
                <a:latin typeface="Corbel" panose="020B0503020204020204" pitchFamily="34" charset="0"/>
              </a:rPr>
              <a:t>. You need not to mention class type explicitly. </a:t>
            </a:r>
          </a:p>
          <a:p>
            <a:pPr>
              <a:lnSpc>
                <a:spcPct val="150000"/>
              </a:lnSpc>
            </a:pPr>
            <a:r>
              <a:rPr kumimoji="0" lang="en-US" altLang="en-US" sz="1800" b="0" i="0" u="none" strike="noStrike" cap="none" normalizeH="0" baseline="0" dirty="0">
                <a:ln>
                  <a:noFill/>
                </a:ln>
                <a:solidFill>
                  <a:srgbClr val="444444"/>
                </a:solidFill>
                <a:effectLst/>
                <a:latin typeface="Corbel" panose="020B0503020204020204" pitchFamily="34" charset="0"/>
              </a:rPr>
              <a:t>But, when an object is supposed to be </a:t>
            </a:r>
            <a:r>
              <a:rPr kumimoji="0" lang="en-US" altLang="en-US" sz="1800" b="1" i="0" u="sng" strike="noStrike" cap="none" normalizeH="0" baseline="0" dirty="0" err="1">
                <a:ln>
                  <a:noFill/>
                </a:ln>
                <a:solidFill>
                  <a:srgbClr val="444444"/>
                </a:solidFill>
                <a:effectLst/>
                <a:latin typeface="Corbel" panose="020B0503020204020204" pitchFamily="34" charset="0"/>
              </a:rPr>
              <a:t>downcasted</a:t>
            </a:r>
            <a:r>
              <a:rPr kumimoji="0" lang="en-US" altLang="en-US" sz="1800" b="1" i="0" u="sng" strike="noStrike" cap="none" normalizeH="0" baseline="0" dirty="0">
                <a:ln>
                  <a:noFill/>
                </a:ln>
                <a:solidFill>
                  <a:srgbClr val="444444"/>
                </a:solidFill>
                <a:effectLst/>
                <a:latin typeface="Corbel" panose="020B0503020204020204" pitchFamily="34" charset="0"/>
              </a:rPr>
              <a:t> </a:t>
            </a:r>
            <a:r>
              <a:rPr kumimoji="0" lang="en-US" altLang="en-US" sz="1800" b="0" i="0" u="none" strike="noStrike" cap="none" normalizeH="0" baseline="0" dirty="0">
                <a:ln>
                  <a:noFill/>
                </a:ln>
                <a:solidFill>
                  <a:srgbClr val="444444"/>
                </a:solidFill>
                <a:effectLst/>
                <a:latin typeface="Corbel" panose="020B0503020204020204" pitchFamily="34" charset="0"/>
              </a:rPr>
              <a:t>to its </a:t>
            </a:r>
            <a:r>
              <a:rPr kumimoji="0" lang="en-US" altLang="en-US" sz="1800" b="1" i="0" u="sng" strike="noStrike" cap="none" normalizeH="0" baseline="0" dirty="0">
                <a:ln>
                  <a:noFill/>
                </a:ln>
                <a:solidFill>
                  <a:srgbClr val="444444"/>
                </a:solidFill>
                <a:effectLst/>
                <a:latin typeface="Corbel" panose="020B0503020204020204" pitchFamily="34" charset="0"/>
              </a:rPr>
              <a:t>sub class type</a:t>
            </a:r>
            <a:r>
              <a:rPr kumimoji="0" lang="en-US" altLang="en-US" sz="1800" b="0" i="0" u="none" strike="noStrike" cap="none" normalizeH="0" baseline="0" dirty="0">
                <a:ln>
                  <a:noFill/>
                </a:ln>
                <a:solidFill>
                  <a:srgbClr val="444444"/>
                </a:solidFill>
                <a:effectLst/>
                <a:latin typeface="Corbel" panose="020B0503020204020204" pitchFamily="34" charset="0"/>
              </a:rPr>
              <a:t>, then you have to </a:t>
            </a:r>
            <a:r>
              <a:rPr kumimoji="0" lang="en-US" altLang="en-US" sz="1800" b="1" i="0" u="sng" strike="noStrike" cap="none" normalizeH="0" baseline="0" dirty="0">
                <a:ln>
                  <a:noFill/>
                </a:ln>
                <a:solidFill>
                  <a:srgbClr val="444444"/>
                </a:solidFill>
                <a:effectLst/>
                <a:latin typeface="Corbel" panose="020B0503020204020204" pitchFamily="34" charset="0"/>
              </a:rPr>
              <a:t>mention class type </a:t>
            </a:r>
            <a:r>
              <a:rPr kumimoji="0" lang="en-US" altLang="en-US" sz="1800" b="0" i="0" u="none" strike="noStrike" cap="none" normalizeH="0" baseline="0" dirty="0">
                <a:ln>
                  <a:noFill/>
                </a:ln>
                <a:solidFill>
                  <a:srgbClr val="444444"/>
                </a:solidFill>
                <a:effectLst/>
                <a:latin typeface="Corbel" panose="020B0503020204020204" pitchFamily="34" charset="0"/>
              </a:rPr>
              <a:t>explicitly. </a:t>
            </a:r>
          </a:p>
          <a:p>
            <a:pPr>
              <a:lnSpc>
                <a:spcPct val="150000"/>
              </a:lnSpc>
            </a:pPr>
            <a:r>
              <a:rPr kumimoji="0" lang="en-US" altLang="en-US" sz="1800" b="0" i="0" u="none" strike="noStrike" cap="none" normalizeH="0" baseline="0" dirty="0">
                <a:ln>
                  <a:noFill/>
                </a:ln>
                <a:solidFill>
                  <a:srgbClr val="444444"/>
                </a:solidFill>
                <a:effectLst/>
                <a:latin typeface="Corbel" panose="020B0503020204020204" pitchFamily="34" charset="0"/>
              </a:rPr>
              <a:t>In such case, there is a possibility of occurring class cast exception. In most of time, it occurs when you are trying to downcast an object explicitly to its sub class type.</a:t>
            </a:r>
            <a:endParaRPr kumimoji="0" lang="en-US" altLang="en-US" sz="1800" b="0" i="0" u="none" strike="noStrike" cap="none" normalizeH="0" baseline="0" dirty="0">
              <a:ln>
                <a:noFill/>
              </a:ln>
              <a:solidFill>
                <a:schemeClr val="tx1"/>
              </a:solidFill>
              <a:effectLst/>
              <a:latin typeface="Corbel" panose="020B0503020204020204" pitchFamily="34" charset="0"/>
            </a:endParaRPr>
          </a:p>
        </p:txBody>
      </p:sp>
      <p:pic>
        <p:nvPicPr>
          <p:cNvPr id="7" name="Picture 6"/>
          <p:cNvPicPr>
            <a:picLocks noChangeAspect="1"/>
          </p:cNvPicPr>
          <p:nvPr/>
        </p:nvPicPr>
        <p:blipFill>
          <a:blip r:embed="rId2"/>
          <a:stretch>
            <a:fillRect/>
          </a:stretch>
        </p:blipFill>
        <p:spPr>
          <a:xfrm>
            <a:off x="5187228" y="1531360"/>
            <a:ext cx="6589136" cy="5035695"/>
          </a:xfrm>
          <a:prstGeom prst="rect">
            <a:avLst/>
          </a:prstGeom>
        </p:spPr>
      </p:pic>
    </p:spTree>
    <p:extLst>
      <p:ext uri="{BB962C8B-B14F-4D97-AF65-F5344CB8AC3E}">
        <p14:creationId xmlns:p14="http://schemas.microsoft.com/office/powerpoint/2010/main" val="942754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Checking - Class Cast Exception</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Grp="1" noChangeArrowheads="1"/>
          </p:cNvSpPr>
          <p:nvPr>
            <p:ph idx="1"/>
          </p:nvPr>
        </p:nvSpPr>
        <p:spPr bwMode="auto">
          <a:xfrm>
            <a:off x="124403" y="1274700"/>
            <a:ext cx="6678178"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lnSpc>
                <a:spcPct val="150000"/>
              </a:lnSpc>
            </a:pPr>
            <a:r>
              <a:rPr lang="en-US" sz="1600" dirty="0">
                <a:latin typeface="Corbel" panose="020B0503020204020204" pitchFamily="34" charset="0"/>
              </a:rPr>
              <a:t>In the above example, </a:t>
            </a:r>
            <a:r>
              <a:rPr lang="en-US" sz="1600" b="1" u="sng" dirty="0">
                <a:latin typeface="Corbel" panose="020B0503020204020204" pitchFamily="34" charset="0"/>
              </a:rPr>
              <a:t>Class B</a:t>
            </a:r>
            <a:r>
              <a:rPr lang="en-US" sz="1600" dirty="0">
                <a:latin typeface="Corbel" panose="020B0503020204020204" pitchFamily="34" charset="0"/>
              </a:rPr>
              <a:t> extends </a:t>
            </a:r>
            <a:r>
              <a:rPr lang="en-US" sz="1600" b="1" u="sng" dirty="0">
                <a:latin typeface="Corbel" panose="020B0503020204020204" pitchFamily="34" charset="0"/>
              </a:rPr>
              <a:t>Class A </a:t>
            </a:r>
            <a:r>
              <a:rPr lang="en-US" sz="1600" dirty="0">
                <a:latin typeface="Corbel" panose="020B0503020204020204" pitchFamily="34" charset="0"/>
              </a:rPr>
              <a:t>and </a:t>
            </a:r>
            <a:r>
              <a:rPr lang="en-US" sz="1600" b="1" u="sng" dirty="0">
                <a:latin typeface="Corbel" panose="020B0503020204020204" pitchFamily="34" charset="0"/>
              </a:rPr>
              <a:t>Class C </a:t>
            </a:r>
            <a:r>
              <a:rPr lang="en-US" sz="1600" dirty="0">
                <a:latin typeface="Corbel" panose="020B0503020204020204" pitchFamily="34" charset="0"/>
              </a:rPr>
              <a:t>extends Class B. </a:t>
            </a:r>
          </a:p>
          <a:p>
            <a:pPr algn="just">
              <a:lnSpc>
                <a:spcPct val="150000"/>
              </a:lnSpc>
            </a:pPr>
            <a:r>
              <a:rPr lang="en-US" sz="1600" dirty="0">
                <a:latin typeface="Corbel" panose="020B0503020204020204" pitchFamily="34" charset="0"/>
              </a:rPr>
              <a:t>In the main method, Class B-type object is created (Line 21). </a:t>
            </a:r>
          </a:p>
          <a:p>
            <a:pPr algn="just">
              <a:lnSpc>
                <a:spcPct val="150000"/>
              </a:lnSpc>
            </a:pPr>
            <a:r>
              <a:rPr lang="en-US" sz="1600" dirty="0">
                <a:latin typeface="Corbel" panose="020B0503020204020204" pitchFamily="34" charset="0"/>
              </a:rPr>
              <a:t>It will be having </a:t>
            </a:r>
            <a:r>
              <a:rPr lang="en-US" sz="1600" b="1" u="sng" dirty="0">
                <a:latin typeface="Corbel" panose="020B0503020204020204" pitchFamily="34" charset="0"/>
              </a:rPr>
              <a:t>two non-static fields</a:t>
            </a:r>
            <a:r>
              <a:rPr lang="en-US" sz="1600" dirty="0">
                <a:latin typeface="Corbel" panose="020B0503020204020204" pitchFamily="34" charset="0"/>
              </a:rPr>
              <a:t>. one field (</a:t>
            </a:r>
            <a:r>
              <a:rPr lang="en-US" sz="1600" b="1" dirty="0" err="1">
                <a:latin typeface="Corbel" panose="020B0503020204020204" pitchFamily="34" charset="0"/>
              </a:rPr>
              <a:t>int</a:t>
            </a:r>
            <a:r>
              <a:rPr lang="en-US" sz="1600" b="1" dirty="0">
                <a:latin typeface="Corbel" panose="020B0503020204020204" pitchFamily="34" charset="0"/>
              </a:rPr>
              <a:t> </a:t>
            </a:r>
            <a:r>
              <a:rPr lang="en-US" sz="1600" b="1" dirty="0" err="1">
                <a:latin typeface="Corbel" panose="020B0503020204020204" pitchFamily="34" charset="0"/>
              </a:rPr>
              <a:t>i</a:t>
            </a:r>
            <a:r>
              <a:rPr lang="en-US" sz="1600" dirty="0">
                <a:latin typeface="Corbel" panose="020B0503020204020204" pitchFamily="34" charset="0"/>
              </a:rPr>
              <a:t>) is inherited from </a:t>
            </a:r>
            <a:r>
              <a:rPr lang="en-US" sz="1600" b="1" dirty="0">
                <a:latin typeface="Corbel" panose="020B0503020204020204" pitchFamily="34" charset="0"/>
              </a:rPr>
              <a:t>class A </a:t>
            </a:r>
            <a:r>
              <a:rPr lang="en-US" sz="1600" dirty="0">
                <a:latin typeface="Corbel" panose="020B0503020204020204" pitchFamily="34" charset="0"/>
              </a:rPr>
              <a:t>and another one is its own field (</a:t>
            </a:r>
            <a:r>
              <a:rPr lang="en-US" sz="1600" b="1" dirty="0" err="1">
                <a:latin typeface="Corbel" panose="020B0503020204020204" pitchFamily="34" charset="0"/>
              </a:rPr>
              <a:t>int</a:t>
            </a:r>
            <a:r>
              <a:rPr lang="en-US" sz="1600" b="1" dirty="0">
                <a:latin typeface="Corbel" panose="020B0503020204020204" pitchFamily="34" charset="0"/>
              </a:rPr>
              <a:t> j</a:t>
            </a:r>
            <a:r>
              <a:rPr lang="en-US" sz="1600" dirty="0">
                <a:latin typeface="Corbel" panose="020B0503020204020204" pitchFamily="34" charset="0"/>
              </a:rPr>
              <a:t>). ‘</a:t>
            </a:r>
            <a:r>
              <a:rPr lang="en-US" sz="1600" b="1" i="1" dirty="0">
                <a:latin typeface="Corbel" panose="020B0503020204020204" pitchFamily="34" charset="0"/>
              </a:rPr>
              <a:t>a’ is Class A-type reference variable which will be pointing to this newly created object</a:t>
            </a:r>
            <a:r>
              <a:rPr lang="en-US" sz="1600" dirty="0">
                <a:latin typeface="Corbel" panose="020B0503020204020204" pitchFamily="34" charset="0"/>
              </a:rPr>
              <a:t>. </a:t>
            </a:r>
          </a:p>
          <a:p>
            <a:pPr algn="just">
              <a:lnSpc>
                <a:spcPct val="150000"/>
              </a:lnSpc>
            </a:pPr>
            <a:r>
              <a:rPr lang="en-US" sz="1600" dirty="0">
                <a:latin typeface="Corbel" panose="020B0503020204020204" pitchFamily="34" charset="0"/>
              </a:rPr>
              <a:t>In the next statement (Line 22), </a:t>
            </a:r>
            <a:r>
              <a:rPr lang="en-US" sz="1600" b="1" i="1" dirty="0">
                <a:latin typeface="Corbel" panose="020B0503020204020204" pitchFamily="34" charset="0"/>
              </a:rPr>
              <a:t>reference variable ‘a’ is assigned to ‘b’ which is Class B-type reference variable. </a:t>
            </a:r>
          </a:p>
          <a:p>
            <a:pPr algn="just">
              <a:lnSpc>
                <a:spcPct val="150000"/>
              </a:lnSpc>
            </a:pPr>
            <a:r>
              <a:rPr lang="en-US" sz="1600" dirty="0">
                <a:latin typeface="Corbel" panose="020B0503020204020204" pitchFamily="34" charset="0"/>
              </a:rPr>
              <a:t>After execution of this statement, ‘b’ will also be pointing to the same object to which ‘a’ is pointing. In the </a:t>
            </a:r>
            <a:r>
              <a:rPr lang="en-US" sz="1600" b="1" i="1" dirty="0">
                <a:latin typeface="Corbel" panose="020B0503020204020204" pitchFamily="34" charset="0"/>
              </a:rPr>
              <a:t>third statement, ‘b’ is assigned to ‘c’ which is Class C-type reference variable</a:t>
            </a:r>
            <a:r>
              <a:rPr lang="en-US" sz="1600" dirty="0">
                <a:latin typeface="Corbel" panose="020B0503020204020204" pitchFamily="34" charset="0"/>
              </a:rPr>
              <a:t>. </a:t>
            </a:r>
          </a:p>
          <a:p>
            <a:pPr algn="just">
              <a:lnSpc>
                <a:spcPct val="150000"/>
              </a:lnSpc>
            </a:pPr>
            <a:r>
              <a:rPr lang="en-US" sz="1600" dirty="0">
                <a:latin typeface="Corbel" panose="020B0503020204020204" pitchFamily="34" charset="0"/>
              </a:rPr>
              <a:t>So, ‘c’ will also be pointing to same object to which ‘a’ and ‘b’ are pointing. While executing this statement, you will get run time exception called </a:t>
            </a:r>
            <a:r>
              <a:rPr lang="en-US" sz="1600" b="1" dirty="0">
                <a:latin typeface="Corbel" panose="020B0503020204020204" pitchFamily="34" charset="0"/>
              </a:rPr>
              <a:t>Class Cast Exception.</a:t>
            </a:r>
            <a:endParaRPr kumimoji="0" lang="en-US" altLang="en-US" sz="1600" b="1" i="0" u="none" strike="noStrike" cap="none" normalizeH="0" baseline="0" dirty="0">
              <a:ln>
                <a:noFill/>
              </a:ln>
              <a:solidFill>
                <a:schemeClr val="tx1"/>
              </a:solidFill>
              <a:effectLst/>
              <a:latin typeface="Corbel" panose="020B0503020204020204" pitchFamily="34" charset="0"/>
            </a:endParaRPr>
          </a:p>
        </p:txBody>
      </p:sp>
      <p:pic>
        <p:nvPicPr>
          <p:cNvPr id="7" name="Picture 6"/>
          <p:cNvPicPr>
            <a:picLocks noChangeAspect="1"/>
          </p:cNvPicPr>
          <p:nvPr/>
        </p:nvPicPr>
        <p:blipFill>
          <a:blip r:embed="rId2"/>
          <a:stretch>
            <a:fillRect/>
          </a:stretch>
        </p:blipFill>
        <p:spPr>
          <a:xfrm>
            <a:off x="7009468" y="1496292"/>
            <a:ext cx="5057847" cy="4073236"/>
          </a:xfrm>
          <a:prstGeom prst="rect">
            <a:avLst/>
          </a:prstGeom>
        </p:spPr>
      </p:pic>
    </p:spTree>
    <p:extLst>
      <p:ext uri="{BB962C8B-B14F-4D97-AF65-F5344CB8AC3E}">
        <p14:creationId xmlns:p14="http://schemas.microsoft.com/office/powerpoint/2010/main" val="159459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Checking</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Grp="1" noChangeArrowheads="1"/>
          </p:cNvSpPr>
          <p:nvPr>
            <p:ph idx="1"/>
          </p:nvPr>
        </p:nvSpPr>
        <p:spPr bwMode="auto">
          <a:xfrm>
            <a:off x="184581" y="1307133"/>
            <a:ext cx="11577928" cy="549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50000"/>
              </a:lnSpc>
            </a:pPr>
            <a:r>
              <a:rPr lang="en-US" sz="1800" dirty="0">
                <a:latin typeface="Corbel" panose="020B0503020204020204" pitchFamily="34" charset="0"/>
              </a:rPr>
              <a:t>Every sub class extends its super class. </a:t>
            </a:r>
            <a:r>
              <a:rPr lang="en-US" sz="1800" dirty="0" err="1">
                <a:latin typeface="Corbel" panose="020B0503020204020204" pitchFamily="34" charset="0"/>
              </a:rPr>
              <a:t>i.e</a:t>
            </a:r>
            <a:r>
              <a:rPr lang="en-US" sz="1800" dirty="0">
                <a:latin typeface="Corbel" panose="020B0503020204020204" pitchFamily="34" charset="0"/>
              </a:rPr>
              <a:t> every child class will have some additional properties along with some inherited properties from its parent class. </a:t>
            </a:r>
          </a:p>
          <a:p>
            <a:pPr>
              <a:lnSpc>
                <a:spcPct val="150000"/>
              </a:lnSpc>
            </a:pPr>
            <a:r>
              <a:rPr lang="en-US" sz="1800" dirty="0">
                <a:latin typeface="Corbel" panose="020B0503020204020204" pitchFamily="34" charset="0"/>
              </a:rPr>
              <a:t>In the above example, Class A has one property (</a:t>
            </a:r>
            <a:r>
              <a:rPr lang="en-US" sz="1800" dirty="0" err="1">
                <a:latin typeface="Corbel" panose="020B0503020204020204" pitchFamily="34" charset="0"/>
              </a:rPr>
              <a:t>int</a:t>
            </a:r>
            <a:r>
              <a:rPr lang="en-US" sz="1800" dirty="0">
                <a:latin typeface="Corbel" panose="020B0503020204020204" pitchFamily="34" charset="0"/>
              </a:rPr>
              <a:t> </a:t>
            </a:r>
            <a:r>
              <a:rPr lang="en-US" sz="1800" dirty="0" err="1">
                <a:latin typeface="Corbel" panose="020B0503020204020204" pitchFamily="34" charset="0"/>
              </a:rPr>
              <a:t>i</a:t>
            </a:r>
            <a:r>
              <a:rPr lang="en-US" sz="1800" dirty="0">
                <a:latin typeface="Corbel" panose="020B0503020204020204" pitchFamily="34" charset="0"/>
              </a:rPr>
              <a:t>). </a:t>
            </a:r>
          </a:p>
          <a:p>
            <a:pPr>
              <a:lnSpc>
                <a:spcPct val="150000"/>
              </a:lnSpc>
            </a:pPr>
            <a:r>
              <a:rPr lang="en-US" sz="1800" dirty="0">
                <a:latin typeface="Corbel" panose="020B0503020204020204" pitchFamily="34" charset="0"/>
              </a:rPr>
              <a:t>Class B has two properties, one is it’s own and another one is inherited. </a:t>
            </a:r>
          </a:p>
          <a:p>
            <a:pPr>
              <a:lnSpc>
                <a:spcPct val="150000"/>
              </a:lnSpc>
            </a:pPr>
            <a:r>
              <a:rPr lang="en-US" sz="1800" dirty="0">
                <a:latin typeface="Corbel" panose="020B0503020204020204" pitchFamily="34" charset="0"/>
              </a:rPr>
              <a:t>Class C has three properties. one is it’s own and two are inherited. </a:t>
            </a:r>
          </a:p>
          <a:p>
            <a:pPr>
              <a:lnSpc>
                <a:spcPct val="150000"/>
              </a:lnSpc>
            </a:pPr>
            <a:r>
              <a:rPr lang="en-US" sz="1800" dirty="0">
                <a:latin typeface="Corbel" panose="020B0503020204020204" pitchFamily="34" charset="0"/>
              </a:rPr>
              <a:t>In this example, Class C-type reference variable is referring to Class B-type object. </a:t>
            </a:r>
          </a:p>
          <a:p>
            <a:pPr>
              <a:lnSpc>
                <a:spcPct val="150000"/>
              </a:lnSpc>
            </a:pPr>
            <a:r>
              <a:rPr lang="en-US" sz="1800" dirty="0">
                <a:latin typeface="Corbel" panose="020B0503020204020204" pitchFamily="34" charset="0"/>
              </a:rPr>
              <a:t>Class B-type object will be having only two properties. But, through Class C-type reference variable, you can access Class C’s own property (</a:t>
            </a:r>
            <a:r>
              <a:rPr lang="en-US" sz="1800" dirty="0" err="1">
                <a:latin typeface="Corbel" panose="020B0503020204020204" pitchFamily="34" charset="0"/>
              </a:rPr>
              <a:t>int</a:t>
            </a:r>
            <a:r>
              <a:rPr lang="en-US" sz="1800" dirty="0">
                <a:latin typeface="Corbel" panose="020B0503020204020204" pitchFamily="34" charset="0"/>
              </a:rPr>
              <a:t> k) like in the line 24. </a:t>
            </a:r>
          </a:p>
          <a:p>
            <a:pPr>
              <a:lnSpc>
                <a:spcPct val="150000"/>
              </a:lnSpc>
            </a:pPr>
            <a:r>
              <a:rPr lang="en-US" sz="1800" dirty="0">
                <a:latin typeface="Corbel" panose="020B0503020204020204" pitchFamily="34" charset="0"/>
              </a:rPr>
              <a:t>But, actually this property does not exist in Class B-type object. This creates the confusion. Class B-type can not be casted to Class C-type. That’s why, you will get class cast exception.</a:t>
            </a:r>
          </a:p>
          <a:p>
            <a:pPr>
              <a:lnSpc>
                <a:spcPct val="150000"/>
              </a:lnSpc>
            </a:pPr>
            <a:r>
              <a:rPr lang="en-US" sz="1800" b="1" i="1" dirty="0">
                <a:latin typeface="Corbel" panose="020B0503020204020204" pitchFamily="34" charset="0"/>
              </a:rPr>
              <a:t>Put </a:t>
            </a:r>
            <a:r>
              <a:rPr lang="en-US" sz="1800" b="1" i="1" dirty="0" err="1">
                <a:latin typeface="Corbel" panose="020B0503020204020204" pitchFamily="34" charset="0"/>
              </a:rPr>
              <a:t>ClassCastException</a:t>
            </a:r>
            <a:r>
              <a:rPr lang="en-US" sz="1800" b="1" i="1" dirty="0">
                <a:latin typeface="Corbel" panose="020B0503020204020204" pitchFamily="34" charset="0"/>
              </a:rPr>
              <a:t> in simple terms. </a:t>
            </a:r>
            <a:r>
              <a:rPr lang="en-US" sz="1800" b="1" i="1" dirty="0" err="1">
                <a:latin typeface="Corbel" panose="020B0503020204020204" pitchFamily="34" charset="0"/>
              </a:rPr>
              <a:t>ClassCastException</a:t>
            </a:r>
            <a:r>
              <a:rPr lang="en-US" sz="1800" b="1" i="1" dirty="0">
                <a:latin typeface="Corbel" panose="020B0503020204020204" pitchFamily="34" charset="0"/>
              </a:rPr>
              <a:t> occurs when code has attempted to cast an object to a type of which it is not an object. In the above example, Class B is a Class A type but Class B is not a Class C type. Therefore, you are getting </a:t>
            </a:r>
            <a:r>
              <a:rPr lang="en-US" sz="1800" b="1" i="1" dirty="0" err="1">
                <a:latin typeface="Corbel" panose="020B0503020204020204" pitchFamily="34" charset="0"/>
              </a:rPr>
              <a:t>ClassCastException</a:t>
            </a:r>
            <a:r>
              <a:rPr lang="en-US" sz="1800" b="1" i="1" dirty="0">
                <a:latin typeface="Corbel" panose="020B0503020204020204" pitchFamily="34" charset="0"/>
              </a:rPr>
              <a:t>.</a:t>
            </a:r>
          </a:p>
        </p:txBody>
      </p:sp>
    </p:spTree>
    <p:extLst>
      <p:ext uri="{BB962C8B-B14F-4D97-AF65-F5344CB8AC3E}">
        <p14:creationId xmlns:p14="http://schemas.microsoft.com/office/powerpoint/2010/main" val="4080878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Wrappers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Grp="1" noChangeArrowheads="1"/>
          </p:cNvSpPr>
          <p:nvPr>
            <p:ph idx="1"/>
          </p:nvPr>
        </p:nvSpPr>
        <p:spPr bwMode="auto">
          <a:xfrm>
            <a:off x="399401" y="1410912"/>
            <a:ext cx="11577928"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50000"/>
              </a:lnSpc>
            </a:pPr>
            <a:r>
              <a:rPr lang="en-US" dirty="0">
                <a:latin typeface="Corbel" panose="020B0503020204020204" pitchFamily="34" charset="0"/>
              </a:rPr>
              <a:t>Primitive types aren't Objects in Java.</a:t>
            </a:r>
          </a:p>
          <a:p>
            <a:pPr>
              <a:lnSpc>
                <a:spcPct val="150000"/>
              </a:lnSpc>
            </a:pPr>
            <a:r>
              <a:rPr lang="en-US" dirty="0">
                <a:latin typeface="Corbel" panose="020B0503020204020204" pitchFamily="34" charset="0"/>
              </a:rPr>
              <a:t>We Can wrap primitive types in Objects using wrapper classes.</a:t>
            </a:r>
          </a:p>
          <a:p>
            <a:pPr>
              <a:lnSpc>
                <a:spcPct val="150000"/>
              </a:lnSpc>
            </a:pPr>
            <a:r>
              <a:rPr lang="en-US" dirty="0">
                <a:latin typeface="Corbel" panose="020B0503020204020204" pitchFamily="34" charset="0"/>
              </a:rPr>
              <a:t>Wrapper class for each type are:</a:t>
            </a:r>
          </a:p>
          <a:p>
            <a:pPr>
              <a:lnSpc>
                <a:spcPct val="150000"/>
              </a:lnSpc>
            </a:pPr>
            <a:r>
              <a:rPr lang="en-US" dirty="0">
                <a:latin typeface="Corbel" panose="020B0503020204020204" pitchFamily="34" charset="0"/>
              </a:rPr>
              <a:t>Integer Short Long Byte Character Float Double Boolean</a:t>
            </a:r>
          </a:p>
          <a:p>
            <a:pPr>
              <a:lnSpc>
                <a:spcPct val="150000"/>
              </a:lnSpc>
            </a:pPr>
            <a:r>
              <a:rPr lang="en-US" dirty="0">
                <a:latin typeface="Corbel" panose="020B0503020204020204" pitchFamily="34" charset="0"/>
              </a:rPr>
              <a:t>Auto-boxing and auto-unboxing</a:t>
            </a:r>
          </a:p>
          <a:p>
            <a:pPr lvl="1">
              <a:lnSpc>
                <a:spcPct val="150000"/>
              </a:lnSpc>
            </a:pPr>
            <a:r>
              <a:rPr lang="en-US" dirty="0" err="1">
                <a:latin typeface="Corbel" panose="020B0503020204020204" pitchFamily="34" charset="0"/>
              </a:rPr>
              <a:t>ArrayList</a:t>
            </a:r>
            <a:r>
              <a:rPr lang="en-US" dirty="0">
                <a:latin typeface="Corbel" panose="020B0503020204020204" pitchFamily="34" charset="0"/>
              </a:rPr>
              <a:t>&lt;Integer&gt; numbers = new </a:t>
            </a:r>
            <a:r>
              <a:rPr lang="en-US" dirty="0" err="1">
                <a:latin typeface="Corbel" panose="020B0503020204020204" pitchFamily="34" charset="0"/>
              </a:rPr>
              <a:t>ArrayList</a:t>
            </a:r>
            <a:r>
              <a:rPr lang="en-US" dirty="0">
                <a:latin typeface="Corbel" panose="020B0503020204020204" pitchFamily="34" charset="0"/>
              </a:rPr>
              <a:t>&lt;Integer&gt;();</a:t>
            </a:r>
          </a:p>
          <a:p>
            <a:pPr lvl="1">
              <a:lnSpc>
                <a:spcPct val="150000"/>
              </a:lnSpc>
            </a:pPr>
            <a:r>
              <a:rPr lang="en-US" dirty="0" err="1">
                <a:latin typeface="Corbel" panose="020B0503020204020204" pitchFamily="34" charset="0"/>
              </a:rPr>
              <a:t>numbers.add</a:t>
            </a:r>
            <a:r>
              <a:rPr lang="en-US" dirty="0">
                <a:latin typeface="Corbel" panose="020B0503020204020204" pitchFamily="34" charset="0"/>
              </a:rPr>
              <a:t>(13); // calls new Integer(13)</a:t>
            </a:r>
          </a:p>
          <a:p>
            <a:pPr lvl="1">
              <a:lnSpc>
                <a:spcPct val="150000"/>
              </a:lnSpc>
            </a:pPr>
            <a:r>
              <a:rPr lang="en-US" dirty="0" err="1">
                <a:latin typeface="Corbel" panose="020B0503020204020204" pitchFamily="34" charset="0"/>
              </a:rPr>
              <a:t>int</a:t>
            </a:r>
            <a:r>
              <a:rPr lang="en-US" dirty="0">
                <a:latin typeface="Corbel" panose="020B0503020204020204" pitchFamily="34" charset="0"/>
              </a:rPr>
              <a:t> n = </a:t>
            </a:r>
            <a:r>
              <a:rPr lang="en-US" dirty="0" err="1">
                <a:latin typeface="Corbel" panose="020B0503020204020204" pitchFamily="34" charset="0"/>
              </a:rPr>
              <a:t>numbers.get</a:t>
            </a:r>
            <a:r>
              <a:rPr lang="en-US" dirty="0">
                <a:latin typeface="Corbel" panose="020B0503020204020204" pitchFamily="34" charset="0"/>
              </a:rPr>
              <a:t>(0); // calls </a:t>
            </a:r>
            <a:r>
              <a:rPr lang="en-US" dirty="0" err="1">
                <a:latin typeface="Corbel" panose="020B0503020204020204" pitchFamily="34" charset="0"/>
              </a:rPr>
              <a:t>intValue</a:t>
            </a:r>
            <a:r>
              <a:rPr lang="en-US" dirty="0">
                <a:latin typeface="Corbel" panose="020B0503020204020204" pitchFamily="34" charset="0"/>
              </a:rPr>
              <a:t>();</a:t>
            </a:r>
          </a:p>
          <a:p>
            <a:pPr marL="0" indent="0">
              <a:lnSpc>
                <a:spcPct val="150000"/>
              </a:lnSpc>
              <a:buNone/>
            </a:pPr>
            <a:r>
              <a:rPr lang="en-US" dirty="0">
                <a:latin typeface="Corbel" panose="020B0503020204020204" pitchFamily="34" charset="0"/>
              </a:rPr>
              <a:t>Wrapper classes are immutable.</a:t>
            </a:r>
            <a:endParaRPr lang="en-US" sz="1800" i="1" dirty="0">
              <a:latin typeface="Corbel" panose="020B0503020204020204" pitchFamily="34" charset="0"/>
            </a:endParaRPr>
          </a:p>
        </p:txBody>
      </p:sp>
    </p:spTree>
    <p:extLst>
      <p:ext uri="{BB962C8B-B14F-4D97-AF65-F5344CB8AC3E}">
        <p14:creationId xmlns:p14="http://schemas.microsoft.com/office/powerpoint/2010/main" val="1627683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Enumerated Type</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Content Placeholder 5"/>
          <p:cNvPicPr>
            <a:picLocks noGrp="1" noChangeAspect="1"/>
          </p:cNvPicPr>
          <p:nvPr>
            <p:ph idx="1"/>
          </p:nvPr>
        </p:nvPicPr>
        <p:blipFill>
          <a:blip r:embed="rId2"/>
          <a:stretch>
            <a:fillRect/>
          </a:stretch>
        </p:blipFill>
        <p:spPr>
          <a:xfrm>
            <a:off x="617484" y="1503218"/>
            <a:ext cx="10701680" cy="4932692"/>
          </a:xfrm>
          <a:prstGeom prst="rect">
            <a:avLst/>
          </a:prstGeom>
        </p:spPr>
      </p:pic>
    </p:spTree>
    <p:extLst>
      <p:ext uri="{BB962C8B-B14F-4D97-AF65-F5344CB8AC3E}">
        <p14:creationId xmlns:p14="http://schemas.microsoft.com/office/powerpoint/2010/main" val="2556053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Inquiry</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074" name="Picture 2" descr="Image result for type inquiry in jav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4899" y="1452562"/>
            <a:ext cx="10172701" cy="5286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3932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83559-F103-46FC-B981-ABE4F53C1FD1}"/>
              </a:ext>
            </a:extLst>
          </p:cNvPr>
          <p:cNvSpPr>
            <a:spLocks noGrp="1"/>
          </p:cNvSpPr>
          <p:nvPr>
            <p:ph type="ctrTitle"/>
          </p:nvPr>
        </p:nvSpPr>
        <p:spPr/>
        <p:txBody>
          <a:bodyPr/>
          <a:lstStyle/>
          <a:p>
            <a:r>
              <a:rPr lang="en-IN" dirty="0"/>
              <a:t>Class </a:t>
            </a:r>
            <a:r>
              <a:rPr lang="en-IN" dirty="0" err="1"/>
              <a:t>CLASS</a:t>
            </a:r>
            <a:endParaRPr lang="en-IN" dirty="0"/>
          </a:p>
        </p:txBody>
      </p:sp>
      <p:pic>
        <p:nvPicPr>
          <p:cNvPr id="6148" name="Picture 4" descr="Image result for abstraction"/>
          <p:cNvPicPr>
            <a:picLocks noGrp="1" noChangeAspect="1" noChangeArrowheads="1"/>
          </p:cNvPicPr>
          <p:nvPr>
            <p:ph type="pic" sz="quarter" idx="13"/>
          </p:nvPr>
        </p:nvPicPr>
        <p:blipFill>
          <a:blip r:embed="rId2">
            <a:extLst>
              <a:ext uri="{28A0092B-C50C-407E-A947-70E740481C1C}">
                <a14:useLocalDpi xmlns:a14="http://schemas.microsoft.com/office/drawing/2010/main" val="0"/>
              </a:ext>
            </a:extLst>
          </a:blip>
          <a:srcRect l="2336" r="2336"/>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914400" y="4511785"/>
            <a:ext cx="5444836" cy="369332"/>
          </a:xfrm>
          <a:prstGeom prst="rect">
            <a:avLst/>
          </a:prstGeom>
          <a:noFill/>
        </p:spPr>
        <p:txBody>
          <a:bodyPr wrap="square" rtlCol="0">
            <a:spAutoFit/>
          </a:bodyPr>
          <a:lstStyle/>
          <a:p>
            <a:r>
              <a:rPr lang="en-US" dirty="0"/>
              <a:t>No You are Not seeing Double</a:t>
            </a:r>
          </a:p>
        </p:txBody>
      </p:sp>
    </p:spTree>
    <p:extLst>
      <p:ext uri="{BB962C8B-B14F-4D97-AF65-F5344CB8AC3E}">
        <p14:creationId xmlns:p14="http://schemas.microsoft.com/office/powerpoint/2010/main" val="2269118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err="1"/>
              <a:t>class</a:t>
            </a:r>
            <a:endParaRPr lang="en-US" dirty="0"/>
          </a:p>
        </p:txBody>
      </p:sp>
      <p:sp>
        <p:nvSpPr>
          <p:cNvPr id="3" name="Content Placeholder 2"/>
          <p:cNvSpPr>
            <a:spLocks noGrp="1"/>
          </p:cNvSpPr>
          <p:nvPr>
            <p:ph idx="1"/>
          </p:nvPr>
        </p:nvSpPr>
        <p:spPr>
          <a:xfrm>
            <a:off x="133350" y="1343024"/>
            <a:ext cx="11825288" cy="5400675"/>
          </a:xfrm>
        </p:spPr>
        <p:txBody>
          <a:bodyPr>
            <a:noAutofit/>
          </a:bodyPr>
          <a:lstStyle/>
          <a:p>
            <a:r>
              <a:rPr lang="en-US" sz="1800" dirty="0">
                <a:latin typeface="Corbel" panose="020B0503020204020204" pitchFamily="34" charset="0"/>
              </a:rPr>
              <a:t>Java provides a class with name Class in </a:t>
            </a:r>
            <a:r>
              <a:rPr lang="en-US" sz="1800" dirty="0" err="1">
                <a:latin typeface="Corbel" panose="020B0503020204020204" pitchFamily="34" charset="0"/>
              </a:rPr>
              <a:t>java.lang</a:t>
            </a:r>
            <a:r>
              <a:rPr lang="en-US" sz="1800" dirty="0">
                <a:latin typeface="Corbel" panose="020B0503020204020204" pitchFamily="34" charset="0"/>
              </a:rPr>
              <a:t> package. </a:t>
            </a:r>
          </a:p>
          <a:p>
            <a:r>
              <a:rPr lang="en-US" sz="1800" dirty="0">
                <a:latin typeface="Corbel" panose="020B0503020204020204" pitchFamily="34" charset="0"/>
              </a:rPr>
              <a:t>Instances of the class </a:t>
            </a:r>
            <a:r>
              <a:rPr lang="en-US" sz="1800" dirty="0" err="1">
                <a:latin typeface="Corbel" panose="020B0503020204020204" pitchFamily="34" charset="0"/>
              </a:rPr>
              <a:t>Class</a:t>
            </a:r>
            <a:r>
              <a:rPr lang="en-US" sz="1800" dirty="0">
                <a:latin typeface="Corbel" panose="020B0503020204020204" pitchFamily="34" charset="0"/>
              </a:rPr>
              <a:t> represent classes and interfaces in a running Java application. </a:t>
            </a:r>
          </a:p>
          <a:p>
            <a:r>
              <a:rPr lang="en-US" sz="1800" dirty="0">
                <a:latin typeface="Corbel" panose="020B0503020204020204" pitchFamily="34" charset="0"/>
              </a:rPr>
              <a:t>The primitive Java types (</a:t>
            </a:r>
            <a:r>
              <a:rPr lang="en-US" sz="1800" dirty="0" err="1">
                <a:latin typeface="Corbel" panose="020B0503020204020204" pitchFamily="34" charset="0"/>
              </a:rPr>
              <a:t>boolean</a:t>
            </a:r>
            <a:r>
              <a:rPr lang="en-US" sz="1800" dirty="0">
                <a:latin typeface="Corbel" panose="020B0503020204020204" pitchFamily="34" charset="0"/>
              </a:rPr>
              <a:t>, byte, char, short, </a:t>
            </a:r>
            <a:r>
              <a:rPr lang="en-US" sz="1800" dirty="0" err="1">
                <a:latin typeface="Corbel" panose="020B0503020204020204" pitchFamily="34" charset="0"/>
              </a:rPr>
              <a:t>int</a:t>
            </a:r>
            <a:r>
              <a:rPr lang="en-US" sz="1800" dirty="0">
                <a:latin typeface="Corbel" panose="020B0503020204020204" pitchFamily="34" charset="0"/>
              </a:rPr>
              <a:t>, long, float, and double), and the keyword void are also represented as Class objects. It has no public constructor. </a:t>
            </a:r>
          </a:p>
          <a:p>
            <a:r>
              <a:rPr lang="en-US" sz="1800" dirty="0">
                <a:latin typeface="Corbel" panose="020B0503020204020204" pitchFamily="34" charset="0"/>
              </a:rPr>
              <a:t>Class objects are constructed automatically by the Java Virtual Machine(JVM). It is a final class, so we cannot extend it.</a:t>
            </a:r>
          </a:p>
          <a:p>
            <a:r>
              <a:rPr lang="en-US" sz="1800" dirty="0">
                <a:latin typeface="Corbel" panose="020B0503020204020204" pitchFamily="34" charset="0"/>
              </a:rPr>
              <a:t>Given a object reference we can know the exact type of the object by using </a:t>
            </a:r>
            <a:r>
              <a:rPr lang="en-US" sz="1800" dirty="0" err="1">
                <a:latin typeface="Corbel" panose="020B0503020204020204" pitchFamily="34" charset="0"/>
              </a:rPr>
              <a:t>getClass</a:t>
            </a:r>
            <a:r>
              <a:rPr lang="en-US" sz="1800" dirty="0">
                <a:latin typeface="Corbel" panose="020B0503020204020204" pitchFamily="34" charset="0"/>
              </a:rPr>
              <a:t>() method</a:t>
            </a:r>
          </a:p>
          <a:p>
            <a:pPr lvl="1"/>
            <a:r>
              <a:rPr lang="en-US" sz="1400" dirty="0">
                <a:latin typeface="Corbel" panose="020B0503020204020204" pitchFamily="34" charset="0"/>
              </a:rPr>
              <a:t>Class c = </a:t>
            </a:r>
            <a:r>
              <a:rPr lang="en-US" sz="1400" dirty="0" err="1">
                <a:latin typeface="Corbel" panose="020B0503020204020204" pitchFamily="34" charset="0"/>
              </a:rPr>
              <a:t>e.getClass</a:t>
            </a:r>
            <a:r>
              <a:rPr lang="en-US" sz="1400" dirty="0">
                <a:latin typeface="Corbel" panose="020B0503020204020204" pitchFamily="34" charset="0"/>
              </a:rPr>
              <a:t>();</a:t>
            </a:r>
          </a:p>
          <a:p>
            <a:r>
              <a:rPr lang="en-US" sz="1800" dirty="0" err="1">
                <a:latin typeface="Corbel" panose="020B0503020204020204" pitchFamily="34" charset="0"/>
              </a:rPr>
              <a:t>getClass</a:t>
            </a:r>
            <a:r>
              <a:rPr lang="en-US" sz="1800" dirty="0">
                <a:latin typeface="Corbel" panose="020B0503020204020204" pitchFamily="34" charset="0"/>
              </a:rPr>
              <a:t>() method returns a Class Object. Once you have a class object its name can be printed as follows</a:t>
            </a:r>
          </a:p>
          <a:p>
            <a:pPr lvl="1"/>
            <a:r>
              <a:rPr lang="en-US" sz="1400" dirty="0" err="1">
                <a:latin typeface="Corbel" panose="020B0503020204020204" pitchFamily="34" charset="0"/>
              </a:rPr>
              <a:t>System.out.println</a:t>
            </a:r>
            <a:r>
              <a:rPr lang="en-US" sz="1400" dirty="0">
                <a:latin typeface="Corbel" panose="020B0503020204020204" pitchFamily="34" charset="0"/>
              </a:rPr>
              <a:t>(</a:t>
            </a:r>
            <a:r>
              <a:rPr lang="en-US" sz="1400" dirty="0" err="1">
                <a:latin typeface="Corbel" panose="020B0503020204020204" pitchFamily="34" charset="0"/>
              </a:rPr>
              <a:t>e.getClass</a:t>
            </a:r>
            <a:r>
              <a:rPr lang="en-US" sz="1400" dirty="0">
                <a:latin typeface="Corbel" panose="020B0503020204020204" pitchFamily="34" charset="0"/>
              </a:rPr>
              <a:t>().</a:t>
            </a:r>
            <a:r>
              <a:rPr lang="en-US" sz="1400" dirty="0" err="1">
                <a:latin typeface="Corbel" panose="020B0503020204020204" pitchFamily="34" charset="0"/>
              </a:rPr>
              <a:t>getName</a:t>
            </a:r>
            <a:r>
              <a:rPr lang="en-US" sz="1400" dirty="0">
                <a:latin typeface="Corbel" panose="020B0503020204020204" pitchFamily="34" charset="0"/>
              </a:rPr>
              <a:t>());</a:t>
            </a:r>
          </a:p>
          <a:p>
            <a:r>
              <a:rPr lang="en-US" sz="1800" dirty="0">
                <a:latin typeface="Corbel" panose="020B0503020204020204" pitchFamily="34" charset="0"/>
              </a:rPr>
              <a:t>Adding the suffix .class to a type also yields the Class object.</a:t>
            </a:r>
          </a:p>
          <a:p>
            <a:r>
              <a:rPr lang="en-US" sz="1800" dirty="0" err="1">
                <a:latin typeface="Corbel" panose="020B0503020204020204" pitchFamily="34" charset="0"/>
              </a:rPr>
              <a:t>Rectangle.class</a:t>
            </a:r>
            <a:r>
              <a:rPr lang="en-US" sz="1800" dirty="0">
                <a:latin typeface="Corbel" panose="020B0503020204020204" pitchFamily="34" charset="0"/>
              </a:rPr>
              <a:t>, </a:t>
            </a:r>
            <a:r>
              <a:rPr lang="en-US" sz="1800" dirty="0" err="1">
                <a:latin typeface="Corbel" panose="020B0503020204020204" pitchFamily="34" charset="0"/>
              </a:rPr>
              <a:t>Employee.class</a:t>
            </a:r>
            <a:r>
              <a:rPr lang="en-US" sz="1800" dirty="0">
                <a:latin typeface="Corbel" panose="020B0503020204020204" pitchFamily="34" charset="0"/>
              </a:rPr>
              <a:t> , </a:t>
            </a:r>
            <a:r>
              <a:rPr lang="en-US" sz="1800" dirty="0" err="1">
                <a:latin typeface="Corbel" panose="020B0503020204020204" pitchFamily="34" charset="0"/>
              </a:rPr>
              <a:t>Student.class</a:t>
            </a:r>
            <a:endParaRPr lang="en-US" sz="1800" dirty="0">
              <a:latin typeface="Corbel" panose="020B0503020204020204" pitchFamily="34" charset="0"/>
            </a:endParaRP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67565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Exact Reference of a Class</a:t>
            </a:r>
          </a:p>
        </p:txBody>
      </p:sp>
      <p:sp>
        <p:nvSpPr>
          <p:cNvPr id="3" name="Content Placeholder 2"/>
          <p:cNvSpPr>
            <a:spLocks noGrp="1"/>
          </p:cNvSpPr>
          <p:nvPr>
            <p:ph idx="1"/>
          </p:nvPr>
        </p:nvSpPr>
        <p:spPr>
          <a:xfrm>
            <a:off x="133350" y="1343024"/>
            <a:ext cx="11825288" cy="5400675"/>
          </a:xfrm>
        </p:spPr>
        <p:txBody>
          <a:bodyPr>
            <a:noAutofit/>
          </a:bodyPr>
          <a:lstStyle/>
          <a:p>
            <a:r>
              <a:rPr lang="en-US" dirty="0">
                <a:latin typeface="Corbel" panose="020B0503020204020204" pitchFamily="34" charset="0"/>
              </a:rPr>
              <a:t>Adding a suffix .class to a class name always yields a Class Object.</a:t>
            </a:r>
          </a:p>
          <a:p>
            <a:r>
              <a:rPr lang="en-US" dirty="0">
                <a:latin typeface="Corbel" panose="020B0503020204020204" pitchFamily="34" charset="0"/>
              </a:rPr>
              <a:t>To test whether </a:t>
            </a:r>
            <a:r>
              <a:rPr lang="en-US" dirty="0" err="1">
                <a:latin typeface="Corbel" panose="020B0503020204020204" pitchFamily="34" charset="0"/>
              </a:rPr>
              <a:t>std</a:t>
            </a:r>
            <a:r>
              <a:rPr lang="en-US" dirty="0">
                <a:latin typeface="Corbel" panose="020B0503020204020204" pitchFamily="34" charset="0"/>
              </a:rPr>
              <a:t> is a reference belonging to class Student or not use</a:t>
            </a:r>
          </a:p>
          <a:p>
            <a:pPr lvl="1"/>
            <a:r>
              <a:rPr lang="en-US" sz="2000" dirty="0">
                <a:latin typeface="Corbel" panose="020B0503020204020204" pitchFamily="34" charset="0"/>
              </a:rPr>
              <a:t>if (</a:t>
            </a:r>
            <a:r>
              <a:rPr lang="en-US" sz="2000" dirty="0" err="1">
                <a:latin typeface="Corbel" panose="020B0503020204020204" pitchFamily="34" charset="0"/>
              </a:rPr>
              <a:t>std.getClass</a:t>
            </a:r>
            <a:r>
              <a:rPr lang="en-US" sz="2000" dirty="0">
                <a:latin typeface="Corbel" panose="020B0503020204020204" pitchFamily="34" charset="0"/>
              </a:rPr>
              <a:t>() == </a:t>
            </a:r>
            <a:r>
              <a:rPr lang="en-US" sz="2000" dirty="0" err="1">
                <a:latin typeface="Corbel" panose="020B0503020204020204" pitchFamily="34" charset="0"/>
              </a:rPr>
              <a:t>Student.class</a:t>
            </a:r>
            <a:r>
              <a:rPr lang="en-US" sz="2000" dirty="0">
                <a:latin typeface="Corbel" panose="020B0503020204020204" pitchFamily="34" charset="0"/>
              </a:rPr>
              <a:t>)</a:t>
            </a:r>
          </a:p>
          <a:p>
            <a:r>
              <a:rPr lang="en-US" dirty="0">
                <a:latin typeface="Corbel" panose="020B0503020204020204" pitchFamily="34" charset="0"/>
              </a:rPr>
              <a:t>To test whether </a:t>
            </a:r>
            <a:r>
              <a:rPr lang="en-US" dirty="0" err="1">
                <a:latin typeface="Corbel" panose="020B0503020204020204" pitchFamily="34" charset="0"/>
              </a:rPr>
              <a:t>emp</a:t>
            </a:r>
            <a:r>
              <a:rPr lang="en-US" dirty="0">
                <a:latin typeface="Corbel" panose="020B0503020204020204" pitchFamily="34" charset="0"/>
              </a:rPr>
              <a:t> is a reference for Employee class object or not</a:t>
            </a:r>
          </a:p>
          <a:p>
            <a:pPr lvl="1"/>
            <a:r>
              <a:rPr lang="en-US" sz="2000" dirty="0">
                <a:latin typeface="Corbel" panose="020B0503020204020204" pitchFamily="34" charset="0"/>
              </a:rPr>
              <a:t>if(</a:t>
            </a:r>
            <a:r>
              <a:rPr lang="en-US" sz="2000" dirty="0" err="1">
                <a:latin typeface="Corbel" panose="020B0503020204020204" pitchFamily="34" charset="0"/>
              </a:rPr>
              <a:t>emp.getClass</a:t>
            </a:r>
            <a:r>
              <a:rPr lang="en-US" sz="2000" dirty="0">
                <a:latin typeface="Corbel" panose="020B0503020204020204" pitchFamily="34" charset="0"/>
              </a:rPr>
              <a:t>() == </a:t>
            </a:r>
            <a:r>
              <a:rPr lang="en-US" sz="2000" dirty="0" err="1">
                <a:latin typeface="Corbel" panose="020B0503020204020204" pitchFamily="34" charset="0"/>
              </a:rPr>
              <a:t>Employee.class</a:t>
            </a:r>
            <a:r>
              <a:rPr lang="en-US" sz="2000" dirty="0">
                <a:latin typeface="Corbel" panose="020B0503020204020204" pitchFamily="34" charset="0"/>
              </a:rPr>
              <a:t>)</a:t>
            </a:r>
          </a:p>
          <a:p>
            <a:r>
              <a:rPr lang="en-US" dirty="0">
                <a:latin typeface="Corbel" panose="020B0503020204020204" pitchFamily="34" charset="0"/>
              </a:rPr>
              <a:t>What about Arrays ?</a:t>
            </a:r>
          </a:p>
          <a:p>
            <a:pPr lvl="1"/>
            <a:r>
              <a:rPr lang="en-US" sz="2000" dirty="0">
                <a:latin typeface="Corbel" panose="020B0503020204020204" pitchFamily="34" charset="0"/>
              </a:rPr>
              <a:t>BOX[ ] box = new BOX[5];</a:t>
            </a:r>
          </a:p>
          <a:p>
            <a:pPr lvl="1"/>
            <a:r>
              <a:rPr lang="en-US" sz="2000" dirty="0">
                <a:latin typeface="Corbel" panose="020B0503020204020204" pitchFamily="34" charset="0"/>
              </a:rPr>
              <a:t>Class c = </a:t>
            </a:r>
            <a:r>
              <a:rPr lang="en-US" sz="2000" dirty="0" err="1">
                <a:latin typeface="Corbel" panose="020B0503020204020204" pitchFamily="34" charset="0"/>
              </a:rPr>
              <a:t>box.getClass</a:t>
            </a:r>
            <a:r>
              <a:rPr lang="en-US" sz="2000" dirty="0">
                <a:latin typeface="Corbel" panose="020B0503020204020204" pitchFamily="34" charset="0"/>
              </a:rPr>
              <a:t>();</a:t>
            </a:r>
          </a:p>
          <a:p>
            <a:pPr lvl="1"/>
            <a:r>
              <a:rPr lang="en-US" sz="2000" dirty="0">
                <a:latin typeface="Corbel" panose="020B0503020204020204" pitchFamily="34" charset="0"/>
              </a:rPr>
              <a:t>if( </a:t>
            </a:r>
            <a:r>
              <a:rPr lang="en-US" sz="2000" dirty="0" err="1">
                <a:latin typeface="Corbel" panose="020B0503020204020204" pitchFamily="34" charset="0"/>
              </a:rPr>
              <a:t>c.isArray</a:t>
            </a:r>
            <a:r>
              <a:rPr lang="en-US" sz="2000" dirty="0">
                <a:latin typeface="Corbel" panose="020B0503020204020204" pitchFamily="34" charset="0"/>
              </a:rPr>
              <a:t>())</a:t>
            </a:r>
          </a:p>
          <a:p>
            <a:pPr lvl="2"/>
            <a:r>
              <a:rPr lang="en-US" sz="2000" dirty="0">
                <a:latin typeface="Corbel" panose="020B0503020204020204" pitchFamily="34" charset="0"/>
              </a:rPr>
              <a:t>S.O.P (“ Component Type :”+ </a:t>
            </a:r>
            <a:r>
              <a:rPr lang="en-US" sz="2000" dirty="0" err="1">
                <a:latin typeface="Corbel" panose="020B0503020204020204" pitchFamily="34" charset="0"/>
              </a:rPr>
              <a:t>c.getComponentType</a:t>
            </a:r>
            <a:r>
              <a:rPr lang="en-US" sz="2000" dirty="0">
                <a:latin typeface="Corbel" panose="020B0503020204020204" pitchFamily="34" charset="0"/>
              </a:rPr>
              <a:t>());</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22157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83559-F103-46FC-B981-ABE4F53C1FD1}"/>
              </a:ext>
            </a:extLst>
          </p:cNvPr>
          <p:cNvSpPr>
            <a:spLocks noGrp="1"/>
          </p:cNvSpPr>
          <p:nvPr>
            <p:ph type="ctrTitle"/>
          </p:nvPr>
        </p:nvSpPr>
        <p:spPr/>
        <p:txBody>
          <a:bodyPr/>
          <a:lstStyle/>
          <a:p>
            <a:r>
              <a:rPr lang="en-IN" dirty="0"/>
              <a:t>OBJECT CLASS</a:t>
            </a:r>
          </a:p>
        </p:txBody>
      </p:sp>
      <p:pic>
        <p:nvPicPr>
          <p:cNvPr id="1026" name="Picture 2" descr="Image result for object class"/>
          <p:cNvPicPr>
            <a:picLocks noGrp="1" noChangeAspect="1" noChangeArrowheads="1"/>
          </p:cNvPicPr>
          <p:nvPr>
            <p:ph type="pic" sz="quarter" idx="13"/>
          </p:nvPr>
        </p:nvPicPr>
        <p:blipFill>
          <a:blip r:embed="rId2">
            <a:extLst>
              <a:ext uri="{28A0092B-C50C-407E-A947-70E740481C1C}">
                <a14:useLocalDpi xmlns:a14="http://schemas.microsoft.com/office/drawing/2010/main" val="0"/>
              </a:ext>
            </a:extLst>
          </a:blip>
          <a:srcRect l="7665" r="7665"/>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548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Class</a:t>
            </a:r>
          </a:p>
        </p:txBody>
      </p:sp>
      <p:sp>
        <p:nvSpPr>
          <p:cNvPr id="3" name="Content Placeholder 2"/>
          <p:cNvSpPr>
            <a:spLocks noGrp="1"/>
          </p:cNvSpPr>
          <p:nvPr>
            <p:ph idx="1"/>
          </p:nvPr>
        </p:nvSpPr>
        <p:spPr>
          <a:xfrm>
            <a:off x="133350" y="1343024"/>
            <a:ext cx="11825288" cy="5400675"/>
          </a:xfrm>
        </p:spPr>
        <p:txBody>
          <a:bodyPr>
            <a:noAutofit/>
          </a:bodyPr>
          <a:lstStyle/>
          <a:p>
            <a:r>
              <a:rPr lang="en-US" sz="2400" dirty="0">
                <a:latin typeface="Corbel" panose="020B0503020204020204" pitchFamily="34" charset="0"/>
              </a:rPr>
              <a:t>The </a:t>
            </a:r>
            <a:r>
              <a:rPr lang="en-US" sz="2400" b="1" dirty="0">
                <a:latin typeface="Corbel" panose="020B0503020204020204" pitchFamily="34" charset="0"/>
              </a:rPr>
              <a:t>Object class</a:t>
            </a:r>
            <a:r>
              <a:rPr lang="en-US" sz="2400" dirty="0">
                <a:latin typeface="Corbel" panose="020B0503020204020204" pitchFamily="34" charset="0"/>
              </a:rPr>
              <a:t> is the parent class of all the classes in java by default. In other words, it is the topmost class of java.</a:t>
            </a:r>
          </a:p>
          <a:p>
            <a:r>
              <a:rPr lang="en-US" sz="2400" dirty="0">
                <a:latin typeface="Corbel" panose="020B0503020204020204" pitchFamily="34" charset="0"/>
              </a:rPr>
              <a:t>The Object class is beneficial if you want to refer any object whose type you don't know. </a:t>
            </a:r>
          </a:p>
          <a:p>
            <a:r>
              <a:rPr lang="en-US" sz="2400" dirty="0">
                <a:latin typeface="Corbel" panose="020B0503020204020204" pitchFamily="34" charset="0"/>
              </a:rPr>
              <a:t>Notice that parent class reference variable can refer the child class object, know as casting.</a:t>
            </a:r>
          </a:p>
          <a:p>
            <a:r>
              <a:rPr lang="en-US" sz="2400" dirty="0">
                <a:latin typeface="Corbel" panose="020B0503020204020204" pitchFamily="34" charset="0"/>
              </a:rPr>
              <a:t>Let's take an example, there is </a:t>
            </a:r>
            <a:r>
              <a:rPr lang="en-US" sz="2400" dirty="0" err="1">
                <a:latin typeface="Corbel" panose="020B0503020204020204" pitchFamily="34" charset="0"/>
              </a:rPr>
              <a:t>getObject</a:t>
            </a:r>
            <a:r>
              <a:rPr lang="en-US" sz="2400" dirty="0">
                <a:latin typeface="Corbel" panose="020B0503020204020204" pitchFamily="34" charset="0"/>
              </a:rPr>
              <a:t>() method that returns an object but it can be of any type like </a:t>
            </a:r>
            <a:r>
              <a:rPr lang="en-US" sz="2400" dirty="0" err="1">
                <a:latin typeface="Corbel" panose="020B0503020204020204" pitchFamily="34" charset="0"/>
              </a:rPr>
              <a:t>Employee,Student</a:t>
            </a:r>
            <a:r>
              <a:rPr lang="en-US" sz="2400" dirty="0">
                <a:latin typeface="Corbel" panose="020B0503020204020204" pitchFamily="34" charset="0"/>
              </a:rPr>
              <a:t> </a:t>
            </a:r>
            <a:r>
              <a:rPr lang="en-US" sz="2400" dirty="0" err="1">
                <a:latin typeface="Corbel" panose="020B0503020204020204" pitchFamily="34" charset="0"/>
              </a:rPr>
              <a:t>etc</a:t>
            </a:r>
            <a:r>
              <a:rPr lang="en-US" sz="2400" dirty="0">
                <a:latin typeface="Corbel" panose="020B0503020204020204" pitchFamily="34" charset="0"/>
              </a:rPr>
              <a:t>, we can use Object class reference to refer that object. </a:t>
            </a:r>
          </a:p>
          <a:p>
            <a:r>
              <a:rPr lang="en-US" sz="2400" dirty="0">
                <a:latin typeface="Corbel" panose="020B0503020204020204" pitchFamily="34" charset="0"/>
              </a:rPr>
              <a:t>For example:</a:t>
            </a:r>
          </a:p>
          <a:p>
            <a:r>
              <a:rPr lang="en-US" sz="2400" dirty="0">
                <a:latin typeface="Corbel" panose="020B0503020204020204" pitchFamily="34" charset="0"/>
              </a:rPr>
              <a:t>Object </a:t>
            </a:r>
            <a:r>
              <a:rPr lang="en-US" sz="2400" dirty="0" err="1">
                <a:latin typeface="Corbel" panose="020B0503020204020204" pitchFamily="34" charset="0"/>
              </a:rPr>
              <a:t>obj</a:t>
            </a:r>
            <a:r>
              <a:rPr lang="en-US" sz="2400" dirty="0">
                <a:latin typeface="Corbel" panose="020B0503020204020204" pitchFamily="34" charset="0"/>
              </a:rPr>
              <a:t>=</a:t>
            </a:r>
            <a:r>
              <a:rPr lang="en-US" sz="2400" dirty="0" err="1">
                <a:latin typeface="Corbel" panose="020B0503020204020204" pitchFamily="34" charset="0"/>
              </a:rPr>
              <a:t>getObject</a:t>
            </a:r>
            <a:r>
              <a:rPr lang="en-US" sz="2400" dirty="0">
                <a:latin typeface="Corbel" panose="020B0503020204020204" pitchFamily="34" charset="0"/>
              </a:rPr>
              <a:t>();//</a:t>
            </a:r>
            <a:r>
              <a:rPr lang="en-US" sz="2400" b="1" i="1" dirty="0">
                <a:latin typeface="Corbel" panose="020B0503020204020204" pitchFamily="34" charset="0"/>
              </a:rPr>
              <a:t>we don't know what object will be returned from this method</a:t>
            </a:r>
            <a:r>
              <a:rPr lang="en-US" sz="2400" dirty="0">
                <a:latin typeface="Corbel" panose="020B0503020204020204" pitchFamily="34" charset="0"/>
              </a:rPr>
              <a:t>  </a:t>
            </a:r>
          </a:p>
          <a:p>
            <a:r>
              <a:rPr lang="en-US" sz="2400" dirty="0">
                <a:latin typeface="Corbel" panose="020B0503020204020204" pitchFamily="34" charset="0"/>
              </a:rPr>
              <a:t>The Object class provides some common behaviors to all the objects such as </a:t>
            </a:r>
            <a:r>
              <a:rPr lang="en-US" sz="2400" b="1" dirty="0">
                <a:latin typeface="Corbel" panose="020B0503020204020204" pitchFamily="34" charset="0"/>
              </a:rPr>
              <a:t>object can be compared</a:t>
            </a:r>
            <a:r>
              <a:rPr lang="en-US" sz="2400" dirty="0">
                <a:latin typeface="Corbel" panose="020B0503020204020204" pitchFamily="34" charset="0"/>
              </a:rPr>
              <a:t>, </a:t>
            </a:r>
            <a:r>
              <a:rPr lang="en-US" sz="2400" b="1" dirty="0">
                <a:latin typeface="Corbel" panose="020B0503020204020204" pitchFamily="34" charset="0"/>
              </a:rPr>
              <a:t>object can be cloned</a:t>
            </a:r>
            <a:r>
              <a:rPr lang="en-US" sz="2400" dirty="0">
                <a:latin typeface="Corbel" panose="020B0503020204020204" pitchFamily="34" charset="0"/>
              </a:rPr>
              <a:t>, </a:t>
            </a:r>
            <a:r>
              <a:rPr lang="en-US" sz="2400" b="1" dirty="0">
                <a:latin typeface="Corbel" panose="020B0503020204020204" pitchFamily="34" charset="0"/>
              </a:rPr>
              <a:t>object can be notified </a:t>
            </a:r>
            <a:r>
              <a:rPr lang="en-US" sz="2400" dirty="0">
                <a:latin typeface="Corbel" panose="020B0503020204020204" pitchFamily="34" charset="0"/>
              </a:rPr>
              <a:t>etc.</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35318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 of Object Class</a:t>
            </a:r>
          </a:p>
        </p:txBody>
      </p:sp>
      <p:sp>
        <p:nvSpPr>
          <p:cNvPr id="3" name="Content Placeholder 2"/>
          <p:cNvSpPr>
            <a:spLocks noGrp="1"/>
          </p:cNvSpPr>
          <p:nvPr>
            <p:ph idx="1"/>
          </p:nvPr>
        </p:nvSpPr>
        <p:spPr>
          <a:xfrm>
            <a:off x="133350" y="1343024"/>
            <a:ext cx="11825288" cy="5400675"/>
          </a:xfrm>
        </p:spPr>
        <p:txBody>
          <a:bodyPr>
            <a:noAutofit/>
          </a:bodyPr>
          <a:lstStyle/>
          <a:p>
            <a:pPr algn="just">
              <a:lnSpc>
                <a:spcPct val="150000"/>
              </a:lnSpc>
            </a:pPr>
            <a:r>
              <a:rPr lang="en-US" sz="1600" b="1" u="sng" dirty="0" err="1">
                <a:latin typeface="Corbel" panose="020B0503020204020204" pitchFamily="34" charset="0"/>
              </a:rPr>
              <a:t>toString</a:t>
            </a:r>
            <a:r>
              <a:rPr lang="en-US" sz="1600" b="1" u="sng" dirty="0">
                <a:latin typeface="Corbel" panose="020B0503020204020204" pitchFamily="34" charset="0"/>
              </a:rPr>
              <a:t>() </a:t>
            </a:r>
            <a:r>
              <a:rPr lang="en-US" sz="1600" dirty="0">
                <a:latin typeface="Corbel" panose="020B0503020204020204" pitchFamily="34" charset="0"/>
              </a:rPr>
              <a:t>: </a:t>
            </a:r>
            <a:r>
              <a:rPr lang="en-US" sz="1600" dirty="0" err="1">
                <a:latin typeface="Corbel" panose="020B0503020204020204" pitchFamily="34" charset="0"/>
              </a:rPr>
              <a:t>toString</a:t>
            </a:r>
            <a:r>
              <a:rPr lang="en-US" sz="1600" dirty="0">
                <a:latin typeface="Corbel" panose="020B0503020204020204" pitchFamily="34" charset="0"/>
              </a:rPr>
              <a:t>() provides String representation of an Object and used to convert an object to String. The default </a:t>
            </a:r>
            <a:r>
              <a:rPr lang="en-US" sz="1600" dirty="0" err="1">
                <a:latin typeface="Corbel" panose="020B0503020204020204" pitchFamily="34" charset="0"/>
              </a:rPr>
              <a:t>toString</a:t>
            </a:r>
            <a:r>
              <a:rPr lang="en-US" sz="1600" dirty="0">
                <a:latin typeface="Corbel" panose="020B0503020204020204" pitchFamily="34" charset="0"/>
              </a:rPr>
              <a:t>() method for class Object returns a string consisting of the name of the class of which the object is an instance, the at-sign character `@’, and the unsigned hexadecimal representation of the hash code of the object. </a:t>
            </a:r>
          </a:p>
          <a:p>
            <a:pPr algn="just">
              <a:lnSpc>
                <a:spcPct val="150000"/>
              </a:lnSpc>
            </a:pPr>
            <a:r>
              <a:rPr lang="en-US" sz="1600" b="1" u="sng" dirty="0" err="1">
                <a:latin typeface="Corbel" panose="020B0503020204020204" pitchFamily="34" charset="0"/>
              </a:rPr>
              <a:t>hashCode</a:t>
            </a:r>
            <a:r>
              <a:rPr lang="en-US" sz="1600" b="1" u="sng" dirty="0">
                <a:latin typeface="Corbel" panose="020B0503020204020204" pitchFamily="34" charset="0"/>
              </a:rPr>
              <a:t>() </a:t>
            </a:r>
            <a:r>
              <a:rPr lang="en-US" sz="1600" dirty="0">
                <a:latin typeface="Corbel" panose="020B0503020204020204" pitchFamily="34" charset="0"/>
              </a:rPr>
              <a:t>: For every object, JVM generates a unique number which is </a:t>
            </a:r>
            <a:r>
              <a:rPr lang="en-US" sz="1600" dirty="0" err="1">
                <a:latin typeface="Corbel" panose="020B0503020204020204" pitchFamily="34" charset="0"/>
              </a:rPr>
              <a:t>hashcode</a:t>
            </a:r>
            <a:r>
              <a:rPr lang="en-US" sz="1600" dirty="0">
                <a:latin typeface="Corbel" panose="020B0503020204020204" pitchFamily="34" charset="0"/>
              </a:rPr>
              <a:t>. It returns distinct integers for distinct objects. A common misconception about this method is that </a:t>
            </a:r>
            <a:r>
              <a:rPr lang="en-US" sz="1600" dirty="0" err="1">
                <a:latin typeface="Corbel" panose="020B0503020204020204" pitchFamily="34" charset="0"/>
              </a:rPr>
              <a:t>hashCode</a:t>
            </a:r>
            <a:r>
              <a:rPr lang="en-US" sz="1600" dirty="0">
                <a:latin typeface="Corbel" panose="020B0503020204020204" pitchFamily="34" charset="0"/>
              </a:rPr>
              <a:t>() method returns the address of object, which is not correct. It convert the internal address of object to an integer by using an algorithm. </a:t>
            </a:r>
          </a:p>
          <a:p>
            <a:pPr algn="just">
              <a:lnSpc>
                <a:spcPct val="150000"/>
              </a:lnSpc>
            </a:pPr>
            <a:r>
              <a:rPr lang="en-US" sz="1600" b="1" u="sng" dirty="0">
                <a:latin typeface="Corbel" panose="020B0503020204020204" pitchFamily="34" charset="0"/>
              </a:rPr>
              <a:t>equals(Object </a:t>
            </a:r>
            <a:r>
              <a:rPr lang="en-US" sz="1600" b="1" u="sng" dirty="0" err="1">
                <a:latin typeface="Corbel" panose="020B0503020204020204" pitchFamily="34" charset="0"/>
              </a:rPr>
              <a:t>obj</a:t>
            </a:r>
            <a:r>
              <a:rPr lang="en-US" sz="1600" b="1" u="sng" dirty="0">
                <a:latin typeface="Corbel" panose="020B0503020204020204" pitchFamily="34" charset="0"/>
              </a:rPr>
              <a:t>) </a:t>
            </a:r>
            <a:r>
              <a:rPr lang="en-US" sz="1600" dirty="0">
                <a:latin typeface="Corbel" panose="020B0503020204020204" pitchFamily="34" charset="0"/>
              </a:rPr>
              <a:t>: Compares the given object to “this” object (the object on which the method is called). It gives a generic way to compare objects for equality. It is recommended to override equals(Object </a:t>
            </a:r>
            <a:r>
              <a:rPr lang="en-US" sz="1600" dirty="0" err="1">
                <a:latin typeface="Corbel" panose="020B0503020204020204" pitchFamily="34" charset="0"/>
              </a:rPr>
              <a:t>obj</a:t>
            </a:r>
            <a:r>
              <a:rPr lang="en-US" sz="1600" dirty="0">
                <a:latin typeface="Corbel" panose="020B0503020204020204" pitchFamily="34" charset="0"/>
              </a:rPr>
              <a:t>) method to get our own equality condition on Objects. </a:t>
            </a:r>
            <a:r>
              <a:rPr lang="en-US" sz="1600" b="1" u="sng" dirty="0" err="1">
                <a:latin typeface="Corbel" panose="020B0503020204020204" pitchFamily="34" charset="0"/>
              </a:rPr>
              <a:t>getClass</a:t>
            </a:r>
            <a:r>
              <a:rPr lang="en-US" sz="1600" b="1" u="sng" dirty="0">
                <a:latin typeface="Corbel" panose="020B0503020204020204" pitchFamily="34" charset="0"/>
              </a:rPr>
              <a:t>() </a:t>
            </a:r>
            <a:r>
              <a:rPr lang="en-US" sz="1600" dirty="0">
                <a:latin typeface="Corbel" panose="020B0503020204020204" pitchFamily="34" charset="0"/>
              </a:rPr>
              <a:t>: Returns the class object of “this” object and used to get actual runtime class of the object. It can also be used to get metadata of this class. The returned Class object is the object that is locked by static synchronized methods of the represented class. As it is final so we don’t override it.</a:t>
            </a:r>
          </a:p>
          <a:p>
            <a:pPr algn="just">
              <a:lnSpc>
                <a:spcPct val="150000"/>
              </a:lnSpc>
            </a:pPr>
            <a:r>
              <a:rPr lang="en-US" sz="1600" b="1" u="sng" dirty="0">
                <a:latin typeface="Corbel" panose="020B0503020204020204" pitchFamily="34" charset="0"/>
              </a:rPr>
              <a:t>clone()</a:t>
            </a:r>
            <a:r>
              <a:rPr lang="en-US" sz="1600" dirty="0">
                <a:latin typeface="Corbel" panose="020B0503020204020204" pitchFamily="34" charset="0"/>
              </a:rPr>
              <a:t> : It returns a new object that is exactly the same as this object. For clone() method refer Clone()</a:t>
            </a:r>
          </a:p>
          <a:p>
            <a:pPr algn="just">
              <a:lnSpc>
                <a:spcPct val="150000"/>
              </a:lnSpc>
            </a:pPr>
            <a:endParaRPr lang="en-US" sz="1600" dirty="0">
              <a:latin typeface="Corbel" panose="020B0503020204020204" pitchFamily="34" charset="0"/>
            </a:endParaRP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45405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Cloning</a:t>
            </a:r>
          </a:p>
        </p:txBody>
      </p:sp>
      <p:sp>
        <p:nvSpPr>
          <p:cNvPr id="3" name="Content Placeholder 2"/>
          <p:cNvSpPr>
            <a:spLocks noGrp="1"/>
          </p:cNvSpPr>
          <p:nvPr>
            <p:ph idx="1"/>
          </p:nvPr>
        </p:nvSpPr>
        <p:spPr>
          <a:xfrm>
            <a:off x="133350" y="1343024"/>
            <a:ext cx="11825288" cy="5400675"/>
          </a:xfrm>
        </p:spPr>
        <p:txBody>
          <a:bodyPr>
            <a:noAutofit/>
          </a:bodyPr>
          <a:lstStyle/>
          <a:p>
            <a:pPr algn="just">
              <a:lnSpc>
                <a:spcPct val="150000"/>
              </a:lnSpc>
            </a:pPr>
            <a:r>
              <a:rPr lang="en-US" sz="1800" dirty="0">
                <a:latin typeface="Corbel" panose="020B0503020204020204" pitchFamily="34" charset="0"/>
              </a:rPr>
              <a:t>While not recommended, cloning is a viable way to copy an object. Let's dive into Shallow Cloning, Deep Cloning, how to use them both, and when to avoid them.</a:t>
            </a:r>
          </a:p>
          <a:p>
            <a:pPr algn="just">
              <a:lnSpc>
                <a:spcPct val="150000"/>
              </a:lnSpc>
            </a:pPr>
            <a:r>
              <a:rPr lang="en-US" sz="1800" dirty="0">
                <a:latin typeface="Corbel" panose="020B0503020204020204" pitchFamily="34" charset="0"/>
              </a:rPr>
              <a:t>Cloning is also a way of creating an object, but in general, cloning is not just about creating a new object. Cloning means creating a new object from an already present object and copying all data of the given object to that new object.</a:t>
            </a:r>
          </a:p>
          <a:p>
            <a:pPr algn="just">
              <a:lnSpc>
                <a:spcPct val="150000"/>
              </a:lnSpc>
            </a:pPr>
            <a:r>
              <a:rPr lang="en-US" sz="1800" dirty="0">
                <a:latin typeface="Corbel" panose="020B0503020204020204" pitchFamily="34" charset="0"/>
              </a:rPr>
              <a:t>In order to create a clone of an object, we generally design our class in such a way that:</a:t>
            </a:r>
          </a:p>
          <a:p>
            <a:pPr lvl="1" algn="just">
              <a:lnSpc>
                <a:spcPct val="150000"/>
              </a:lnSpc>
            </a:pPr>
            <a:r>
              <a:rPr lang="en-US" sz="1800" dirty="0">
                <a:latin typeface="Corbel" panose="020B0503020204020204" pitchFamily="34" charset="0"/>
              </a:rPr>
              <a:t>Our class should implement the </a:t>
            </a:r>
            <a:r>
              <a:rPr lang="en-US" sz="1800" dirty="0" err="1">
                <a:latin typeface="Corbel" panose="020B0503020204020204" pitchFamily="34" charset="0"/>
              </a:rPr>
              <a:t>Cloneable</a:t>
            </a:r>
            <a:r>
              <a:rPr lang="en-US" sz="1800" dirty="0">
                <a:latin typeface="Corbel" panose="020B0503020204020204" pitchFamily="34" charset="0"/>
              </a:rPr>
              <a:t> interface. Otherwise, the JVM will throw </a:t>
            </a:r>
            <a:r>
              <a:rPr lang="en-US" sz="1800" dirty="0" err="1">
                <a:latin typeface="Corbel" panose="020B0503020204020204" pitchFamily="34" charset="0"/>
              </a:rPr>
              <a:t>CloneNotSupportedException</a:t>
            </a:r>
            <a:r>
              <a:rPr lang="en-US" sz="1800" dirty="0">
                <a:latin typeface="Corbel" panose="020B0503020204020204" pitchFamily="34" charset="0"/>
              </a:rPr>
              <a:t> if we will call clone() on our object.</a:t>
            </a:r>
          </a:p>
          <a:p>
            <a:pPr lvl="1" algn="just">
              <a:lnSpc>
                <a:spcPct val="150000"/>
              </a:lnSpc>
            </a:pPr>
            <a:r>
              <a:rPr lang="en-US" sz="1800" dirty="0">
                <a:latin typeface="Corbel" panose="020B0503020204020204" pitchFamily="34" charset="0"/>
              </a:rPr>
              <a:t>Our class should have a clone method, which should handle </a:t>
            </a:r>
            <a:r>
              <a:rPr lang="en-US" sz="1800" dirty="0" err="1">
                <a:latin typeface="Corbel" panose="020B0503020204020204" pitchFamily="34" charset="0"/>
              </a:rPr>
              <a:t>CloneNotSupportedException</a:t>
            </a:r>
            <a:r>
              <a:rPr lang="en-US" sz="1800" dirty="0">
                <a:latin typeface="Corbel" panose="020B0503020204020204" pitchFamily="34" charset="0"/>
              </a:rPr>
              <a:t>.</a:t>
            </a:r>
          </a:p>
          <a:p>
            <a:pPr algn="just">
              <a:lnSpc>
                <a:spcPct val="150000"/>
              </a:lnSpc>
            </a:pPr>
            <a:r>
              <a:rPr lang="en-US" sz="1800" dirty="0">
                <a:latin typeface="Corbel" panose="020B0503020204020204" pitchFamily="34" charset="0"/>
              </a:rPr>
              <a:t>And finally, we need to call the clone() method of the superclass, which will call its super’s clone(). This chain will continue until it reaches the clone() method of the Object class. The </a:t>
            </a:r>
            <a:r>
              <a:rPr lang="en-US" sz="1800" dirty="0" err="1">
                <a:latin typeface="Corbel" panose="020B0503020204020204" pitchFamily="34" charset="0"/>
              </a:rPr>
              <a:t>Object.clone</a:t>
            </a:r>
            <a:r>
              <a:rPr lang="en-US" sz="1800" dirty="0">
                <a:latin typeface="Corbel" panose="020B0503020204020204" pitchFamily="34" charset="0"/>
              </a:rPr>
              <a:t>() method is the actual worker that creates the clone of your object, and another clone() method just delegates the call to its parent’s clone().</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00262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Shallow vs Deep Copy</a:t>
            </a:r>
          </a:p>
        </p:txBody>
      </p:sp>
      <p:sp>
        <p:nvSpPr>
          <p:cNvPr id="3" name="Content Placeholder 2"/>
          <p:cNvSpPr>
            <a:spLocks noGrp="1"/>
          </p:cNvSpPr>
          <p:nvPr>
            <p:ph idx="1"/>
          </p:nvPr>
        </p:nvSpPr>
        <p:spPr>
          <a:xfrm>
            <a:off x="133350" y="1343024"/>
            <a:ext cx="5467350" cy="3327445"/>
          </a:xfrm>
        </p:spPr>
        <p:txBody>
          <a:bodyPr>
            <a:noAutofit/>
          </a:bodyPr>
          <a:lstStyle/>
          <a:p>
            <a:pPr>
              <a:lnSpc>
                <a:spcPct val="150000"/>
              </a:lnSpc>
            </a:pPr>
            <a:r>
              <a:rPr lang="en-US" sz="1800" b="1" u="sng" dirty="0">
                <a:solidFill>
                  <a:srgbClr val="000000"/>
                </a:solidFill>
                <a:latin typeface="Corbel" panose="020B0503020204020204" pitchFamily="34" charset="0"/>
              </a:rPr>
              <a:t>Shallow copy</a:t>
            </a:r>
            <a:r>
              <a:rPr lang="en-US" sz="1800" dirty="0">
                <a:solidFill>
                  <a:srgbClr val="000000"/>
                </a:solidFill>
                <a:latin typeface="Corbel" panose="020B0503020204020204" pitchFamily="34" charset="0"/>
              </a:rPr>
              <a:t> A new object is created that has an exact copy of the values in the original object. If any of the fields of the object are references to other objects, just the reference addresses are copied i.e., only the memory address is copied.</a:t>
            </a:r>
            <a:endParaRPr lang="en-US" sz="1800" dirty="0">
              <a:latin typeface="Corbel" panose="020B0503020204020204" pitchFamily="34" charset="0"/>
            </a:endParaRPr>
          </a:p>
          <a:p>
            <a:pPr>
              <a:lnSpc>
                <a:spcPct val="150000"/>
              </a:lnSpc>
            </a:pPr>
            <a:endParaRPr lang="en-US" sz="1800" dirty="0">
              <a:latin typeface="Corbel" panose="020B0503020204020204" pitchFamily="34" charset="0"/>
            </a:endParaRPr>
          </a:p>
          <a:p>
            <a:pPr>
              <a:lnSpc>
                <a:spcPct val="150000"/>
              </a:lnSpc>
            </a:pPr>
            <a:endParaRPr lang="en-US" sz="1800" dirty="0">
              <a:latin typeface="Corbel" panose="020B0503020204020204" pitchFamily="34" charset="0"/>
            </a:endParaRP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a:stretch>
            <a:fillRect/>
          </a:stretch>
        </p:blipFill>
        <p:spPr>
          <a:xfrm>
            <a:off x="1514475" y="3470428"/>
            <a:ext cx="3357562" cy="1200041"/>
          </a:xfrm>
          <a:prstGeom prst="rect">
            <a:avLst/>
          </a:prstGeom>
        </p:spPr>
      </p:pic>
      <p:sp>
        <p:nvSpPr>
          <p:cNvPr id="6" name="Rectangle 5"/>
          <p:cNvSpPr/>
          <p:nvPr/>
        </p:nvSpPr>
        <p:spPr>
          <a:xfrm>
            <a:off x="5776912" y="1343024"/>
            <a:ext cx="6096000" cy="1711366"/>
          </a:xfrm>
          <a:prstGeom prst="rect">
            <a:avLst/>
          </a:prstGeom>
        </p:spPr>
        <p:txBody>
          <a:bodyPr>
            <a:spAutoFit/>
          </a:bodyPr>
          <a:lstStyle/>
          <a:p>
            <a:pPr>
              <a:lnSpc>
                <a:spcPct val="150000"/>
              </a:lnSpc>
            </a:pPr>
            <a:r>
              <a:rPr lang="en-US" b="1" dirty="0">
                <a:latin typeface="Corbel" panose="020B0503020204020204" pitchFamily="34" charset="0"/>
              </a:rPr>
              <a:t>A deep copy </a:t>
            </a:r>
            <a:r>
              <a:rPr lang="en-US" dirty="0">
                <a:latin typeface="Corbel" panose="020B0503020204020204" pitchFamily="34" charset="0"/>
              </a:rPr>
              <a:t>copies all fields, and makes copies of dynamically allocated memory pointed to by the fields. A deep copy occurs when an object is copied along with the objects to which it refers.</a:t>
            </a:r>
          </a:p>
        </p:txBody>
      </p:sp>
      <p:pic>
        <p:nvPicPr>
          <p:cNvPr id="7" name="Picture 6"/>
          <p:cNvPicPr>
            <a:picLocks noChangeAspect="1"/>
          </p:cNvPicPr>
          <p:nvPr/>
        </p:nvPicPr>
        <p:blipFill>
          <a:blip r:embed="rId3"/>
          <a:stretch>
            <a:fillRect/>
          </a:stretch>
        </p:blipFill>
        <p:spPr>
          <a:xfrm>
            <a:off x="6858000" y="2766625"/>
            <a:ext cx="4051951" cy="1407606"/>
          </a:xfrm>
          <a:prstGeom prst="rect">
            <a:avLst/>
          </a:prstGeom>
        </p:spPr>
      </p:pic>
      <p:sp>
        <p:nvSpPr>
          <p:cNvPr id="8" name="Rectangle 7"/>
          <p:cNvSpPr/>
          <p:nvPr/>
        </p:nvSpPr>
        <p:spPr>
          <a:xfrm>
            <a:off x="6253162" y="4531428"/>
            <a:ext cx="5800730" cy="235449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1400" dirty="0">
                <a:latin typeface="Corbel" panose="020B0503020204020204" pitchFamily="34" charset="0"/>
              </a:rPr>
              <a:t>In this figure, the </a:t>
            </a:r>
            <a:r>
              <a:rPr lang="en-US" sz="1400" b="1" dirty="0">
                <a:latin typeface="Corbel" panose="020B0503020204020204" pitchFamily="34" charset="0"/>
              </a:rPr>
              <a:t>MainObject1 </a:t>
            </a:r>
            <a:r>
              <a:rPr lang="en-US" sz="1400" dirty="0">
                <a:latin typeface="Corbel" panose="020B0503020204020204" pitchFamily="34" charset="0"/>
              </a:rPr>
              <a:t>have fields "</a:t>
            </a:r>
            <a:r>
              <a:rPr lang="en-US" sz="1400" b="1" dirty="0">
                <a:latin typeface="Corbel" panose="020B0503020204020204" pitchFamily="34" charset="0"/>
              </a:rPr>
              <a:t>field1</a:t>
            </a:r>
            <a:r>
              <a:rPr lang="en-US" sz="1400" dirty="0">
                <a:latin typeface="Corbel" panose="020B0503020204020204" pitchFamily="34" charset="0"/>
              </a:rPr>
              <a:t>" of </a:t>
            </a:r>
            <a:r>
              <a:rPr lang="en-US" sz="1400" dirty="0" err="1">
                <a:latin typeface="Corbel" panose="020B0503020204020204" pitchFamily="34" charset="0"/>
              </a:rPr>
              <a:t>int</a:t>
            </a:r>
            <a:r>
              <a:rPr lang="en-US" sz="1400" dirty="0">
                <a:latin typeface="Corbel" panose="020B0503020204020204" pitchFamily="34" charset="0"/>
              </a:rPr>
              <a:t> type, and "</a:t>
            </a:r>
            <a:r>
              <a:rPr lang="en-US" sz="1400" b="1" dirty="0">
                <a:latin typeface="Corbel" panose="020B0503020204020204" pitchFamily="34" charset="0"/>
              </a:rPr>
              <a:t>ContainObject1</a:t>
            </a:r>
            <a:r>
              <a:rPr lang="en-US" sz="1400" dirty="0">
                <a:latin typeface="Corbel" panose="020B0503020204020204" pitchFamily="34" charset="0"/>
              </a:rPr>
              <a:t>" of </a:t>
            </a:r>
            <a:r>
              <a:rPr lang="en-US" sz="1400" dirty="0" err="1">
                <a:latin typeface="Corbel" panose="020B0503020204020204" pitchFamily="34" charset="0"/>
              </a:rPr>
              <a:t>ContainObject</a:t>
            </a:r>
            <a:r>
              <a:rPr lang="en-US" sz="1400" dirty="0">
                <a:latin typeface="Corbel" panose="020B0503020204020204" pitchFamily="34" charset="0"/>
              </a:rPr>
              <a:t> type. </a:t>
            </a:r>
          </a:p>
          <a:p>
            <a:pPr marL="285750" indent="-285750" algn="just">
              <a:lnSpc>
                <a:spcPct val="150000"/>
              </a:lnSpc>
              <a:buFont typeface="Arial" panose="020B0604020202020204" pitchFamily="34" charset="0"/>
              <a:buChar char="•"/>
            </a:pPr>
            <a:r>
              <a:rPr lang="en-US" sz="1400" dirty="0">
                <a:latin typeface="Corbel" panose="020B0503020204020204" pitchFamily="34" charset="0"/>
              </a:rPr>
              <a:t>When you do a </a:t>
            </a:r>
            <a:r>
              <a:rPr lang="en-US" sz="1400" b="1" dirty="0">
                <a:latin typeface="Corbel" panose="020B0503020204020204" pitchFamily="34" charset="0"/>
              </a:rPr>
              <a:t>deep copy </a:t>
            </a:r>
            <a:r>
              <a:rPr lang="en-US" sz="1400" dirty="0">
                <a:latin typeface="Corbel" panose="020B0503020204020204" pitchFamily="34" charset="0"/>
              </a:rPr>
              <a:t>of MainObject1, </a:t>
            </a:r>
            <a:r>
              <a:rPr lang="en-US" sz="1400" b="1" dirty="0">
                <a:latin typeface="Corbel" panose="020B0503020204020204" pitchFamily="34" charset="0"/>
              </a:rPr>
              <a:t>MainObject2 </a:t>
            </a:r>
            <a:r>
              <a:rPr lang="en-US" sz="1400" dirty="0">
                <a:latin typeface="Corbel" panose="020B0503020204020204" pitchFamily="34" charset="0"/>
              </a:rPr>
              <a:t>is created with </a:t>
            </a:r>
            <a:r>
              <a:rPr lang="en-US" sz="1400" b="1" dirty="0">
                <a:latin typeface="Corbel" panose="020B0503020204020204" pitchFamily="34" charset="0"/>
              </a:rPr>
              <a:t>"field2" </a:t>
            </a:r>
            <a:r>
              <a:rPr lang="en-US" sz="1400" dirty="0">
                <a:latin typeface="Corbel" panose="020B0503020204020204" pitchFamily="34" charset="0"/>
              </a:rPr>
              <a:t>containing the </a:t>
            </a:r>
            <a:r>
              <a:rPr lang="en-US" sz="1400" b="1" dirty="0">
                <a:latin typeface="Corbel" panose="020B0503020204020204" pitchFamily="34" charset="0"/>
              </a:rPr>
              <a:t>copied value of "field1" </a:t>
            </a:r>
            <a:r>
              <a:rPr lang="en-US" sz="1400" dirty="0">
                <a:latin typeface="Corbel" panose="020B0503020204020204" pitchFamily="34" charset="0"/>
              </a:rPr>
              <a:t>and </a:t>
            </a:r>
            <a:r>
              <a:rPr lang="en-US" sz="1400" b="1" dirty="0">
                <a:latin typeface="Corbel" panose="020B0503020204020204" pitchFamily="34" charset="0"/>
              </a:rPr>
              <a:t>"ContainObject2" containing the copied value of ContainObject1</a:t>
            </a:r>
            <a:r>
              <a:rPr lang="en-US" sz="1400" dirty="0">
                <a:latin typeface="Corbel" panose="020B0503020204020204" pitchFamily="34" charset="0"/>
              </a:rPr>
              <a:t>. </a:t>
            </a:r>
          </a:p>
          <a:p>
            <a:pPr marL="285750" indent="-285750" algn="just">
              <a:lnSpc>
                <a:spcPct val="150000"/>
              </a:lnSpc>
              <a:buFont typeface="Arial" panose="020B0604020202020204" pitchFamily="34" charset="0"/>
              <a:buChar char="•"/>
            </a:pPr>
            <a:r>
              <a:rPr lang="en-US" sz="1400" dirty="0">
                <a:latin typeface="Corbel" panose="020B0503020204020204" pitchFamily="34" charset="0"/>
              </a:rPr>
              <a:t>So any changes made to </a:t>
            </a:r>
            <a:r>
              <a:rPr lang="en-US" sz="1400" b="1" dirty="0">
                <a:latin typeface="Corbel" panose="020B0503020204020204" pitchFamily="34" charset="0"/>
              </a:rPr>
              <a:t>ContainObject1</a:t>
            </a:r>
            <a:r>
              <a:rPr lang="en-US" sz="1400" dirty="0">
                <a:latin typeface="Corbel" panose="020B0503020204020204" pitchFamily="34" charset="0"/>
              </a:rPr>
              <a:t> in </a:t>
            </a:r>
            <a:r>
              <a:rPr lang="en-US" sz="1400" b="1" dirty="0">
                <a:latin typeface="Corbel" panose="020B0503020204020204" pitchFamily="34" charset="0"/>
              </a:rPr>
              <a:t>MainObject1 will not reflect </a:t>
            </a:r>
            <a:r>
              <a:rPr lang="en-US" sz="1400" dirty="0">
                <a:latin typeface="Corbel" panose="020B0503020204020204" pitchFamily="34" charset="0"/>
              </a:rPr>
              <a:t>in </a:t>
            </a:r>
            <a:r>
              <a:rPr lang="en-US" sz="1400" b="1" dirty="0">
                <a:latin typeface="Corbel" panose="020B0503020204020204" pitchFamily="34" charset="0"/>
              </a:rPr>
              <a:t>MainObject2</a:t>
            </a:r>
            <a:r>
              <a:rPr lang="en-US" sz="1400" dirty="0">
                <a:latin typeface="Corbel" panose="020B0503020204020204" pitchFamily="34" charset="0"/>
              </a:rPr>
              <a:t>.</a:t>
            </a:r>
          </a:p>
        </p:txBody>
      </p:sp>
      <p:sp>
        <p:nvSpPr>
          <p:cNvPr id="11" name="Rectangle 10"/>
          <p:cNvSpPr/>
          <p:nvPr/>
        </p:nvSpPr>
        <p:spPr>
          <a:xfrm>
            <a:off x="92365" y="4670469"/>
            <a:ext cx="6096000" cy="2354491"/>
          </a:xfrm>
          <a:prstGeom prst="rect">
            <a:avLst/>
          </a:prstGeom>
        </p:spPr>
        <p:txBody>
          <a:bodyPr>
            <a:spAutoFit/>
          </a:bodyPr>
          <a:lstStyle/>
          <a:p>
            <a:pPr marL="285750" indent="-285750" algn="just">
              <a:lnSpc>
                <a:spcPct val="150000"/>
              </a:lnSpc>
              <a:buFont typeface="Arial" panose="020B0604020202020204" pitchFamily="34" charset="0"/>
              <a:buChar char="•"/>
            </a:pPr>
            <a:r>
              <a:rPr lang="en-US" sz="1400" dirty="0">
                <a:latin typeface="Corbel" panose="020B0503020204020204" pitchFamily="34" charset="0"/>
              </a:rPr>
              <a:t>In this figure, the </a:t>
            </a:r>
            <a:r>
              <a:rPr lang="en-US" sz="1400" b="1" dirty="0">
                <a:latin typeface="Corbel" panose="020B0503020204020204" pitchFamily="34" charset="0"/>
              </a:rPr>
              <a:t>MainObject1 </a:t>
            </a:r>
            <a:r>
              <a:rPr lang="en-US" sz="1400" dirty="0">
                <a:latin typeface="Corbel" panose="020B0503020204020204" pitchFamily="34" charset="0"/>
              </a:rPr>
              <a:t>have fields "</a:t>
            </a:r>
            <a:r>
              <a:rPr lang="en-US" sz="1400" b="1" dirty="0">
                <a:latin typeface="Corbel" panose="020B0503020204020204" pitchFamily="34" charset="0"/>
              </a:rPr>
              <a:t>field1</a:t>
            </a:r>
            <a:r>
              <a:rPr lang="en-US" sz="1400" dirty="0">
                <a:latin typeface="Corbel" panose="020B0503020204020204" pitchFamily="34" charset="0"/>
              </a:rPr>
              <a:t>" of </a:t>
            </a:r>
            <a:r>
              <a:rPr lang="en-US" sz="1400" dirty="0" err="1">
                <a:latin typeface="Corbel" panose="020B0503020204020204" pitchFamily="34" charset="0"/>
              </a:rPr>
              <a:t>int</a:t>
            </a:r>
            <a:r>
              <a:rPr lang="en-US" sz="1400" dirty="0">
                <a:latin typeface="Corbel" panose="020B0503020204020204" pitchFamily="34" charset="0"/>
              </a:rPr>
              <a:t> type, and "</a:t>
            </a:r>
            <a:r>
              <a:rPr lang="en-US" sz="1400" b="1" dirty="0">
                <a:latin typeface="Corbel" panose="020B0503020204020204" pitchFamily="34" charset="0"/>
              </a:rPr>
              <a:t>ContainObject1</a:t>
            </a:r>
            <a:r>
              <a:rPr lang="en-US" sz="1400" dirty="0">
                <a:latin typeface="Corbel" panose="020B0503020204020204" pitchFamily="34" charset="0"/>
              </a:rPr>
              <a:t>" of </a:t>
            </a:r>
            <a:r>
              <a:rPr lang="en-US" sz="1400" dirty="0" err="1">
                <a:latin typeface="Corbel" panose="020B0503020204020204" pitchFamily="34" charset="0"/>
              </a:rPr>
              <a:t>ContainObject</a:t>
            </a:r>
            <a:r>
              <a:rPr lang="en-US" sz="1400" dirty="0">
                <a:latin typeface="Corbel" panose="020B0503020204020204" pitchFamily="34" charset="0"/>
              </a:rPr>
              <a:t> type. </a:t>
            </a:r>
          </a:p>
          <a:p>
            <a:pPr marL="285750" indent="-285750" algn="just">
              <a:lnSpc>
                <a:spcPct val="150000"/>
              </a:lnSpc>
              <a:buFont typeface="Arial" panose="020B0604020202020204" pitchFamily="34" charset="0"/>
              <a:buChar char="•"/>
            </a:pPr>
            <a:r>
              <a:rPr lang="en-US" sz="1400" dirty="0">
                <a:latin typeface="Corbel" panose="020B0503020204020204" pitchFamily="34" charset="0"/>
              </a:rPr>
              <a:t>When you do a </a:t>
            </a:r>
            <a:r>
              <a:rPr lang="en-US" sz="1400" b="1" dirty="0">
                <a:latin typeface="Corbel" panose="020B0503020204020204" pitchFamily="34" charset="0"/>
              </a:rPr>
              <a:t>shallow copy </a:t>
            </a:r>
            <a:r>
              <a:rPr lang="en-US" sz="1400" dirty="0">
                <a:latin typeface="Corbel" panose="020B0503020204020204" pitchFamily="34" charset="0"/>
              </a:rPr>
              <a:t>of MainObject1, </a:t>
            </a:r>
            <a:r>
              <a:rPr lang="en-US" sz="1400" b="1" dirty="0">
                <a:latin typeface="Corbel" panose="020B0503020204020204" pitchFamily="34" charset="0"/>
              </a:rPr>
              <a:t>MainObject2 </a:t>
            </a:r>
            <a:r>
              <a:rPr lang="en-US" sz="1400" dirty="0">
                <a:latin typeface="Corbel" panose="020B0503020204020204" pitchFamily="34" charset="0"/>
              </a:rPr>
              <a:t>is created with </a:t>
            </a:r>
            <a:r>
              <a:rPr lang="en-US" sz="1400" b="1" dirty="0">
                <a:latin typeface="Corbel" panose="020B0503020204020204" pitchFamily="34" charset="0"/>
              </a:rPr>
              <a:t>"field2" </a:t>
            </a:r>
            <a:r>
              <a:rPr lang="en-US" sz="1400" dirty="0">
                <a:latin typeface="Corbel" panose="020B0503020204020204" pitchFamily="34" charset="0"/>
              </a:rPr>
              <a:t>containing the </a:t>
            </a:r>
            <a:r>
              <a:rPr lang="en-US" sz="1400" b="1" dirty="0">
                <a:latin typeface="Corbel" panose="020B0503020204020204" pitchFamily="34" charset="0"/>
              </a:rPr>
              <a:t>copied value of "field1" </a:t>
            </a:r>
            <a:r>
              <a:rPr lang="en-US" sz="1400" dirty="0">
                <a:latin typeface="Corbel" panose="020B0503020204020204" pitchFamily="34" charset="0"/>
              </a:rPr>
              <a:t>and </a:t>
            </a:r>
            <a:r>
              <a:rPr lang="en-US" sz="1400" b="1" dirty="0">
                <a:latin typeface="Corbel" panose="020B0503020204020204" pitchFamily="34" charset="0"/>
              </a:rPr>
              <a:t>"ContainObject2" containing reference of ContainObject1</a:t>
            </a:r>
            <a:r>
              <a:rPr lang="en-US" sz="1400" dirty="0">
                <a:latin typeface="Corbel" panose="020B0503020204020204" pitchFamily="34" charset="0"/>
              </a:rPr>
              <a:t>. </a:t>
            </a:r>
          </a:p>
          <a:p>
            <a:pPr marL="285750" indent="-285750" algn="just">
              <a:lnSpc>
                <a:spcPct val="150000"/>
              </a:lnSpc>
              <a:buFont typeface="Arial" panose="020B0604020202020204" pitchFamily="34" charset="0"/>
              <a:buChar char="•"/>
            </a:pPr>
            <a:r>
              <a:rPr lang="en-US" sz="1400" dirty="0">
                <a:latin typeface="Corbel" panose="020B0503020204020204" pitchFamily="34" charset="0"/>
              </a:rPr>
              <a:t>So any changes made to </a:t>
            </a:r>
            <a:r>
              <a:rPr lang="en-US" sz="1400" b="1" dirty="0">
                <a:latin typeface="Corbel" panose="020B0503020204020204" pitchFamily="34" charset="0"/>
              </a:rPr>
              <a:t>ContainObject1</a:t>
            </a:r>
            <a:r>
              <a:rPr lang="en-US" sz="1400" dirty="0">
                <a:latin typeface="Corbel" panose="020B0503020204020204" pitchFamily="34" charset="0"/>
              </a:rPr>
              <a:t> in </a:t>
            </a:r>
            <a:r>
              <a:rPr lang="en-US" sz="1400" b="1" dirty="0">
                <a:latin typeface="Corbel" panose="020B0503020204020204" pitchFamily="34" charset="0"/>
              </a:rPr>
              <a:t>MainObject1 will reflect </a:t>
            </a:r>
            <a:r>
              <a:rPr lang="en-US" sz="1400" dirty="0">
                <a:latin typeface="Corbel" panose="020B0503020204020204" pitchFamily="34" charset="0"/>
              </a:rPr>
              <a:t>in </a:t>
            </a:r>
            <a:r>
              <a:rPr lang="en-US" sz="1400" b="1" dirty="0">
                <a:latin typeface="Corbel" panose="020B0503020204020204" pitchFamily="34" charset="0"/>
              </a:rPr>
              <a:t>MainObject2</a:t>
            </a:r>
            <a:r>
              <a:rPr lang="en-US" sz="1400" dirty="0">
                <a:latin typeface="Corbel" panose="020B0503020204020204" pitchFamily="34" charset="0"/>
              </a:rPr>
              <a:t>.</a:t>
            </a:r>
          </a:p>
        </p:txBody>
      </p:sp>
    </p:spTree>
    <p:extLst>
      <p:ext uri="{BB962C8B-B14F-4D97-AF65-F5344CB8AC3E}">
        <p14:creationId xmlns:p14="http://schemas.microsoft.com/office/powerpoint/2010/main" val="3588733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Cloning Disadvantages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Content Placeholder 9">
            <a:extLst>
              <a:ext uri="{FF2B5EF4-FFF2-40B4-BE49-F238E27FC236}">
                <a16:creationId xmlns:a16="http://schemas.microsoft.com/office/drawing/2014/main" id="{F56CD622-0CCA-41B6-8156-7F92F19C6874}"/>
              </a:ext>
            </a:extLst>
          </p:cNvPr>
          <p:cNvSpPr>
            <a:spLocks noGrp="1"/>
          </p:cNvSpPr>
          <p:nvPr>
            <p:ph idx="1"/>
          </p:nvPr>
        </p:nvSpPr>
        <p:spPr>
          <a:xfrm>
            <a:off x="446138" y="1382507"/>
            <a:ext cx="9982200" cy="4572000"/>
          </a:xfrm>
        </p:spPr>
        <p:txBody>
          <a:bodyPr>
            <a:normAutofit fontScale="77500" lnSpcReduction="20000"/>
          </a:bodyPr>
          <a:lstStyle/>
          <a:p>
            <a:pPr marL="0" indent="0">
              <a:buNone/>
            </a:pPr>
            <a:r>
              <a:rPr lang="en-US" dirty="0"/>
              <a:t>Disadvantage of Object cloning</a:t>
            </a:r>
          </a:p>
          <a:p>
            <a:r>
              <a:rPr lang="en-US" dirty="0"/>
              <a:t>Following is a list of some disadvantages of clone() method:</a:t>
            </a:r>
          </a:p>
          <a:p>
            <a:r>
              <a:rPr lang="en-US" dirty="0"/>
              <a:t>To use the </a:t>
            </a:r>
            <a:r>
              <a:rPr lang="en-US" dirty="0" err="1"/>
              <a:t>Object.clone</a:t>
            </a:r>
            <a:r>
              <a:rPr lang="en-US" dirty="0"/>
              <a:t>() method, we have to change a lot of syntaxes to our code, like implementing a Cloneable interface, defining the clone() method and handling </a:t>
            </a:r>
            <a:r>
              <a:rPr lang="en-US" dirty="0" err="1"/>
              <a:t>CloneNotSupportedException</a:t>
            </a:r>
            <a:r>
              <a:rPr lang="en-US" dirty="0"/>
              <a:t>, and finally, calling </a:t>
            </a:r>
            <a:r>
              <a:rPr lang="en-US" dirty="0" err="1"/>
              <a:t>Object.clone</a:t>
            </a:r>
            <a:r>
              <a:rPr lang="en-US" dirty="0"/>
              <a:t>() etc.</a:t>
            </a:r>
          </a:p>
          <a:p>
            <a:r>
              <a:rPr lang="en-US" dirty="0"/>
              <a:t>We have to implement cloneable interface while it </a:t>
            </a:r>
            <a:r>
              <a:rPr lang="en-US" dirty="0" err="1"/>
              <a:t>doesn?t</a:t>
            </a:r>
            <a:r>
              <a:rPr lang="en-US" dirty="0"/>
              <a:t> have any methods in it. We just have to use it to tell the JVM that we can perform clone() on our object.</a:t>
            </a:r>
          </a:p>
          <a:p>
            <a:r>
              <a:rPr lang="en-US" dirty="0" err="1"/>
              <a:t>Object.clone</a:t>
            </a:r>
            <a:r>
              <a:rPr lang="en-US" dirty="0"/>
              <a:t>() is protected, so we have to provide our own clone() and indirectly call </a:t>
            </a:r>
            <a:r>
              <a:rPr lang="en-US" dirty="0" err="1"/>
              <a:t>Object.clone</a:t>
            </a:r>
            <a:r>
              <a:rPr lang="en-US" dirty="0"/>
              <a:t>() from it.</a:t>
            </a:r>
          </a:p>
          <a:p>
            <a:r>
              <a:rPr lang="en-US" dirty="0" err="1"/>
              <a:t>Object.clone</a:t>
            </a:r>
            <a:r>
              <a:rPr lang="en-US" dirty="0"/>
              <a:t>() </a:t>
            </a:r>
            <a:r>
              <a:rPr lang="en-US" dirty="0" err="1"/>
              <a:t>doesn?t</a:t>
            </a:r>
            <a:r>
              <a:rPr lang="en-US" dirty="0"/>
              <a:t> invoke any constructor so we </a:t>
            </a:r>
            <a:r>
              <a:rPr lang="en-US" dirty="0" err="1"/>
              <a:t>don?t</a:t>
            </a:r>
            <a:r>
              <a:rPr lang="en-US" dirty="0"/>
              <a:t> have any control over object construction.</a:t>
            </a:r>
          </a:p>
          <a:p>
            <a:r>
              <a:rPr lang="en-US" dirty="0"/>
              <a:t>If you want to write a clone method in a child class then all of its </a:t>
            </a:r>
            <a:r>
              <a:rPr lang="en-US" dirty="0" err="1"/>
              <a:t>superclasses</a:t>
            </a:r>
            <a:r>
              <a:rPr lang="en-US" dirty="0"/>
              <a:t> should define the clone() method in them or inherit it from another parent class. Otherwise, the </a:t>
            </a:r>
            <a:r>
              <a:rPr lang="en-US" dirty="0" err="1"/>
              <a:t>super.clone</a:t>
            </a:r>
            <a:r>
              <a:rPr lang="en-US" dirty="0"/>
              <a:t>() chain will fail.</a:t>
            </a:r>
          </a:p>
          <a:p>
            <a:r>
              <a:rPr lang="en-US" dirty="0" err="1"/>
              <a:t>Object.clone</a:t>
            </a:r>
            <a:r>
              <a:rPr lang="en-US" dirty="0"/>
              <a:t>() supports only shallow copying but we will need to override it if we need deep cloning.</a:t>
            </a:r>
          </a:p>
          <a:p>
            <a:endParaRPr lang="en-IN" dirty="0"/>
          </a:p>
        </p:txBody>
      </p:sp>
    </p:spTree>
    <p:extLst>
      <p:ext uri="{BB962C8B-B14F-4D97-AF65-F5344CB8AC3E}">
        <p14:creationId xmlns:p14="http://schemas.microsoft.com/office/powerpoint/2010/main" val="662849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83559-F103-46FC-B981-ABE4F53C1FD1}"/>
              </a:ext>
            </a:extLst>
          </p:cNvPr>
          <p:cNvSpPr>
            <a:spLocks noGrp="1"/>
          </p:cNvSpPr>
          <p:nvPr>
            <p:ph type="ctrTitle"/>
          </p:nvPr>
        </p:nvSpPr>
        <p:spPr/>
        <p:txBody>
          <a:bodyPr/>
          <a:lstStyle/>
          <a:p>
            <a:r>
              <a:rPr lang="en-IN" dirty="0"/>
              <a:t>GENERICS</a:t>
            </a:r>
          </a:p>
        </p:txBody>
      </p:sp>
      <p:pic>
        <p:nvPicPr>
          <p:cNvPr id="6" name="Picture 2" descr="Related image">
            <a:extLst>
              <a:ext uri="{FF2B5EF4-FFF2-40B4-BE49-F238E27FC236}">
                <a16:creationId xmlns:a16="http://schemas.microsoft.com/office/drawing/2014/main" id="{7D0E93F1-D20E-441E-BC37-772018368F1B}"/>
              </a:ext>
            </a:extLst>
          </p:cNvPr>
          <p:cNvPicPr>
            <a:picLocks noGrp="1" noChangeAspect="1" noChangeArrowheads="1"/>
          </p:cNvPicPr>
          <p:nvPr>
            <p:ph type="pic" sz="quarter" idx="13"/>
          </p:nvPr>
        </p:nvPicPr>
        <p:blipFill>
          <a:blip r:embed="rId2">
            <a:extLst>
              <a:ext uri="{28A0092B-C50C-407E-A947-70E740481C1C}">
                <a14:useLocalDpi xmlns:a14="http://schemas.microsoft.com/office/drawing/2010/main" val="0"/>
              </a:ext>
            </a:extLst>
          </a:blip>
          <a:srcRect t="9613" b="9613"/>
          <a:stretch>
            <a:fillRect/>
          </a:stretch>
        </p:blipFill>
        <p:spPr bwMode="auto">
          <a:xfrm>
            <a:off x="6981825" y="1311275"/>
            <a:ext cx="5210175" cy="4208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5254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a:t>
            </a:r>
          </a:p>
        </p:txBody>
      </p:sp>
      <p:sp>
        <p:nvSpPr>
          <p:cNvPr id="3" name="Content Placeholder 2"/>
          <p:cNvSpPr>
            <a:spLocks noGrp="1"/>
          </p:cNvSpPr>
          <p:nvPr>
            <p:ph idx="1"/>
          </p:nvPr>
        </p:nvSpPr>
        <p:spPr>
          <a:xfrm>
            <a:off x="133350" y="1343024"/>
            <a:ext cx="10952232" cy="5400675"/>
          </a:xfrm>
        </p:spPr>
        <p:txBody>
          <a:bodyPr>
            <a:noAutofit/>
          </a:bodyPr>
          <a:lstStyle/>
          <a:p>
            <a:r>
              <a:rPr lang="en-US" sz="2800" dirty="0">
                <a:latin typeface="Corbel" panose="020B0503020204020204" pitchFamily="34" charset="0"/>
              </a:rPr>
              <a:t>Prior to 1.5, Collections enabled programmers to store any type of objects.</a:t>
            </a:r>
          </a:p>
          <a:p>
            <a:r>
              <a:rPr lang="en-US" sz="2800" dirty="0">
                <a:latin typeface="Corbel" panose="020B0503020204020204" pitchFamily="34" charset="0"/>
              </a:rPr>
              <a:t>As a result, code had to depend on type casting, failing which, errors were aplenty.</a:t>
            </a:r>
          </a:p>
          <a:p>
            <a:r>
              <a:rPr lang="en-US" sz="2800" dirty="0">
                <a:latin typeface="Corbel" panose="020B0503020204020204" pitchFamily="34" charset="0"/>
              </a:rPr>
              <a:t>In a nutshell, generics enable </a:t>
            </a:r>
            <a:r>
              <a:rPr lang="en-US" sz="2800" i="1" dirty="0">
                <a:latin typeface="Corbel" panose="020B0503020204020204" pitchFamily="34" charset="0"/>
              </a:rPr>
              <a:t>types</a:t>
            </a:r>
            <a:r>
              <a:rPr lang="en-US" sz="2800" dirty="0">
                <a:latin typeface="Corbel" panose="020B0503020204020204" pitchFamily="34" charset="0"/>
              </a:rPr>
              <a:t> (classes and interfaces) to be parameters when defining classes, interfaces and methods. </a:t>
            </a:r>
          </a:p>
          <a:p>
            <a:r>
              <a:rPr lang="en-US" sz="2800" dirty="0">
                <a:latin typeface="Corbel" panose="020B0503020204020204" pitchFamily="34" charset="0"/>
              </a:rPr>
              <a:t>Much like the more familiar </a:t>
            </a:r>
            <a:r>
              <a:rPr lang="en-US" sz="2800" i="1" dirty="0">
                <a:latin typeface="Corbel" panose="020B0503020204020204" pitchFamily="34" charset="0"/>
              </a:rPr>
              <a:t>formal parameters</a:t>
            </a:r>
            <a:r>
              <a:rPr lang="en-US" sz="2800" dirty="0">
                <a:latin typeface="Corbel" panose="020B0503020204020204" pitchFamily="34" charset="0"/>
              </a:rPr>
              <a:t> used in method declarations, type parameters provide a way for you to re-use the same code with different inputs. </a:t>
            </a:r>
          </a:p>
          <a:p>
            <a:r>
              <a:rPr lang="en-US" sz="2800" dirty="0">
                <a:latin typeface="Corbel" panose="020B0503020204020204" pitchFamily="34" charset="0"/>
              </a:rPr>
              <a:t>The difference is that the inputs to formal parameters are values, while the inputs to type parameters are types.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49434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Benefits</a:t>
            </a:r>
          </a:p>
        </p:txBody>
      </p:sp>
      <p:sp>
        <p:nvSpPr>
          <p:cNvPr id="3" name="Content Placeholder 2"/>
          <p:cNvSpPr>
            <a:spLocks noGrp="1"/>
          </p:cNvSpPr>
          <p:nvPr>
            <p:ph idx="1"/>
          </p:nvPr>
        </p:nvSpPr>
        <p:spPr>
          <a:xfrm>
            <a:off x="133350" y="1343024"/>
            <a:ext cx="10952232" cy="5400675"/>
          </a:xfrm>
        </p:spPr>
        <p:txBody>
          <a:bodyPr>
            <a:noAutofit/>
          </a:bodyPr>
          <a:lstStyle/>
          <a:p>
            <a:pPr marL="0" lvl="0" indent="0" eaLnBrk="0" fontAlgn="base" hangingPunct="0">
              <a:lnSpc>
                <a:spcPct val="100000"/>
              </a:lnSpc>
              <a:spcBef>
                <a:spcPct val="0"/>
              </a:spcBef>
              <a:spcAft>
                <a:spcPct val="0"/>
              </a:spcAft>
              <a:buNone/>
            </a:pPr>
            <a:r>
              <a:rPr lang="en-US" altLang="en-US" b="1" dirty="0">
                <a:solidFill>
                  <a:srgbClr val="000000"/>
                </a:solidFill>
                <a:latin typeface="Corbel" panose="020B0503020204020204" pitchFamily="34" charset="0"/>
                <a:cs typeface="Arial" panose="020B0604020202020204" pitchFamily="34" charset="0"/>
              </a:rPr>
              <a:t>Stronger type checks at compile time</a:t>
            </a:r>
            <a:r>
              <a:rPr lang="en-US" altLang="en-US" dirty="0">
                <a:solidFill>
                  <a:srgbClr val="000000"/>
                </a:solidFill>
                <a:latin typeface="Corbel" panose="020B0503020204020204" pitchFamily="34" charset="0"/>
                <a:cs typeface="Arial" panose="020B0604020202020204" pitchFamily="34" charset="0"/>
              </a:rPr>
              <a:t>: A Java compiler applies </a:t>
            </a:r>
            <a:r>
              <a:rPr lang="en-US" altLang="en-US" b="1" dirty="0">
                <a:solidFill>
                  <a:srgbClr val="000000"/>
                </a:solidFill>
                <a:latin typeface="Corbel" panose="020B0503020204020204" pitchFamily="34" charset="0"/>
                <a:cs typeface="Arial" panose="020B0604020202020204" pitchFamily="34" charset="0"/>
              </a:rPr>
              <a:t>strong type checking </a:t>
            </a:r>
            <a:r>
              <a:rPr lang="en-US" altLang="en-US" dirty="0">
                <a:solidFill>
                  <a:srgbClr val="000000"/>
                </a:solidFill>
                <a:latin typeface="Corbel" panose="020B0503020204020204" pitchFamily="34" charset="0"/>
                <a:cs typeface="Arial" panose="020B0604020202020204" pitchFamily="34" charset="0"/>
              </a:rPr>
              <a:t>to </a:t>
            </a:r>
            <a:r>
              <a:rPr lang="en-US" altLang="en-US" b="1" dirty="0">
                <a:solidFill>
                  <a:srgbClr val="000000"/>
                </a:solidFill>
                <a:latin typeface="Corbel" panose="020B0503020204020204" pitchFamily="34" charset="0"/>
                <a:cs typeface="Arial" panose="020B0604020202020204" pitchFamily="34" charset="0"/>
              </a:rPr>
              <a:t>generic code </a:t>
            </a:r>
            <a:r>
              <a:rPr lang="en-US" altLang="en-US" dirty="0">
                <a:solidFill>
                  <a:srgbClr val="000000"/>
                </a:solidFill>
                <a:latin typeface="Corbel" panose="020B0503020204020204" pitchFamily="34" charset="0"/>
                <a:cs typeface="Arial" panose="020B0604020202020204" pitchFamily="34" charset="0"/>
              </a:rPr>
              <a:t>and issues errors if the code violates type safety. </a:t>
            </a:r>
            <a:r>
              <a:rPr lang="en-US" altLang="en-US" b="1" dirty="0">
                <a:solidFill>
                  <a:srgbClr val="000000"/>
                </a:solidFill>
                <a:latin typeface="Corbel" panose="020B0503020204020204" pitchFamily="34" charset="0"/>
                <a:cs typeface="Arial" panose="020B0604020202020204" pitchFamily="34" charset="0"/>
              </a:rPr>
              <a:t>Fixing compile-time errors is easier</a:t>
            </a:r>
            <a:r>
              <a:rPr lang="en-US" altLang="en-US" dirty="0">
                <a:solidFill>
                  <a:srgbClr val="000000"/>
                </a:solidFill>
                <a:latin typeface="Corbel" panose="020B0503020204020204" pitchFamily="34" charset="0"/>
                <a:cs typeface="Arial" panose="020B0604020202020204" pitchFamily="34" charset="0"/>
              </a:rPr>
              <a:t> than fixing runtime errors, which can be difficult to find.</a:t>
            </a:r>
            <a:br>
              <a:rPr lang="en-US" altLang="en-US" dirty="0">
                <a:solidFill>
                  <a:srgbClr val="000000"/>
                </a:solidFill>
                <a:latin typeface="Corbel" panose="020B0503020204020204" pitchFamily="34" charset="0"/>
                <a:cs typeface="Arial" panose="020B0604020202020204" pitchFamily="34" charset="0"/>
              </a:rPr>
            </a:br>
            <a:endParaRPr lang="en-US" altLang="en-US" dirty="0">
              <a:solidFill>
                <a:srgbClr val="000000"/>
              </a:solidFill>
              <a:latin typeface="Corbel" panose="020B0503020204020204" pitchFamily="34" charset="0"/>
              <a:cs typeface="Arial" panose="020B0604020202020204" pitchFamily="34" charset="0"/>
            </a:endParaRPr>
          </a:p>
          <a:p>
            <a:pPr marL="0" lvl="0" indent="0" eaLnBrk="0" fontAlgn="base" hangingPunct="0">
              <a:lnSpc>
                <a:spcPct val="100000"/>
              </a:lnSpc>
              <a:spcBef>
                <a:spcPct val="0"/>
              </a:spcBef>
              <a:spcAft>
                <a:spcPct val="0"/>
              </a:spcAft>
              <a:buNone/>
            </a:pPr>
            <a:r>
              <a:rPr lang="en-US" altLang="en-US" b="1" dirty="0">
                <a:solidFill>
                  <a:srgbClr val="000000"/>
                </a:solidFill>
                <a:latin typeface="Corbel" panose="020B0503020204020204" pitchFamily="34" charset="0"/>
                <a:cs typeface="Arial" panose="020B0604020202020204" pitchFamily="34" charset="0"/>
              </a:rPr>
              <a:t>Elimination of casts:</a:t>
            </a:r>
            <a:r>
              <a:rPr lang="en-US" altLang="en-US" dirty="0">
                <a:solidFill>
                  <a:srgbClr val="000000"/>
                </a:solidFill>
                <a:latin typeface="Corbel" panose="020B0503020204020204" pitchFamily="34" charset="0"/>
                <a:cs typeface="Arial" panose="020B0604020202020204" pitchFamily="34" charset="0"/>
              </a:rPr>
              <a:t> The following code snippet without generics requires casting:</a:t>
            </a:r>
          </a:p>
          <a:p>
            <a:pPr marL="0" lvl="0" indent="0" eaLnBrk="0" fontAlgn="base" hangingPunct="0">
              <a:lnSpc>
                <a:spcPct val="100000"/>
              </a:lnSpc>
              <a:spcBef>
                <a:spcPct val="0"/>
              </a:spcBef>
              <a:spcAft>
                <a:spcPct val="0"/>
              </a:spcAft>
              <a:buNone/>
            </a:pPr>
            <a:r>
              <a:rPr lang="en-US" altLang="en-US" dirty="0">
                <a:solidFill>
                  <a:srgbClr val="000000"/>
                </a:solidFill>
                <a:latin typeface="Corbel" panose="020B0503020204020204" pitchFamily="34" charset="0"/>
                <a:cs typeface="Arial" panose="020B0604020202020204" pitchFamily="34" charset="0"/>
              </a:rPr>
              <a:t>	List </a:t>
            </a:r>
            <a:r>
              <a:rPr lang="en-US" altLang="en-US" dirty="0" err="1">
                <a:solidFill>
                  <a:srgbClr val="000000"/>
                </a:solidFill>
                <a:latin typeface="Corbel" panose="020B0503020204020204" pitchFamily="34" charset="0"/>
                <a:cs typeface="Arial" panose="020B0604020202020204" pitchFamily="34" charset="0"/>
              </a:rPr>
              <a:t>list</a:t>
            </a:r>
            <a:r>
              <a:rPr lang="en-US" altLang="en-US" dirty="0">
                <a:solidFill>
                  <a:srgbClr val="000000"/>
                </a:solidFill>
                <a:latin typeface="Corbel" panose="020B0503020204020204" pitchFamily="34" charset="0"/>
                <a:cs typeface="Arial" panose="020B0604020202020204" pitchFamily="34" charset="0"/>
              </a:rPr>
              <a:t> = new </a:t>
            </a:r>
            <a:r>
              <a:rPr lang="en-US" altLang="en-US" dirty="0" err="1">
                <a:solidFill>
                  <a:srgbClr val="000000"/>
                </a:solidFill>
                <a:latin typeface="Corbel" panose="020B0503020204020204" pitchFamily="34" charset="0"/>
                <a:cs typeface="Arial" panose="020B0604020202020204" pitchFamily="34" charset="0"/>
              </a:rPr>
              <a:t>ArrayList</a:t>
            </a:r>
            <a:r>
              <a:rPr lang="en-US" altLang="en-US" dirty="0">
                <a:solidFill>
                  <a:srgbClr val="000000"/>
                </a:solidFill>
                <a:latin typeface="Corbel" panose="020B0503020204020204" pitchFamily="34" charset="0"/>
                <a:cs typeface="Arial" panose="020B0604020202020204" pitchFamily="34" charset="0"/>
              </a:rPr>
              <a:t>(); </a:t>
            </a:r>
          </a:p>
          <a:p>
            <a:pPr marL="0" lvl="0" indent="0" eaLnBrk="0" fontAlgn="base" hangingPunct="0">
              <a:lnSpc>
                <a:spcPct val="100000"/>
              </a:lnSpc>
              <a:spcBef>
                <a:spcPct val="0"/>
              </a:spcBef>
              <a:spcAft>
                <a:spcPct val="0"/>
              </a:spcAft>
              <a:buNone/>
            </a:pPr>
            <a:r>
              <a:rPr lang="en-US" altLang="en-US" dirty="0">
                <a:solidFill>
                  <a:srgbClr val="000000"/>
                </a:solidFill>
                <a:latin typeface="Corbel" panose="020B0503020204020204" pitchFamily="34" charset="0"/>
                <a:cs typeface="Arial" panose="020B0604020202020204" pitchFamily="34" charset="0"/>
              </a:rPr>
              <a:t>	</a:t>
            </a:r>
            <a:r>
              <a:rPr lang="en-US" altLang="en-US" dirty="0" err="1">
                <a:solidFill>
                  <a:srgbClr val="000000"/>
                </a:solidFill>
                <a:latin typeface="Corbel" panose="020B0503020204020204" pitchFamily="34" charset="0"/>
                <a:cs typeface="Arial" panose="020B0604020202020204" pitchFamily="34" charset="0"/>
              </a:rPr>
              <a:t>list.add</a:t>
            </a:r>
            <a:r>
              <a:rPr lang="en-US" altLang="en-US" dirty="0">
                <a:solidFill>
                  <a:srgbClr val="000000"/>
                </a:solidFill>
                <a:latin typeface="Corbel" panose="020B0503020204020204" pitchFamily="34" charset="0"/>
                <a:cs typeface="Arial" panose="020B0604020202020204" pitchFamily="34" charset="0"/>
              </a:rPr>
              <a:t>("hello"); </a:t>
            </a:r>
          </a:p>
          <a:p>
            <a:pPr marL="0" lvl="0" indent="0" eaLnBrk="0" fontAlgn="base" hangingPunct="0">
              <a:lnSpc>
                <a:spcPct val="100000"/>
              </a:lnSpc>
              <a:spcBef>
                <a:spcPct val="0"/>
              </a:spcBef>
              <a:spcAft>
                <a:spcPct val="0"/>
              </a:spcAft>
              <a:buNone/>
            </a:pPr>
            <a:r>
              <a:rPr lang="en-US" altLang="en-US" dirty="0">
                <a:solidFill>
                  <a:srgbClr val="000000"/>
                </a:solidFill>
                <a:latin typeface="Corbel" panose="020B0503020204020204" pitchFamily="34" charset="0"/>
                <a:cs typeface="Arial" panose="020B0604020202020204" pitchFamily="34" charset="0"/>
              </a:rPr>
              <a:t>	String s = </a:t>
            </a:r>
            <a:r>
              <a:rPr lang="en-US" altLang="en-US" b="1" dirty="0">
                <a:solidFill>
                  <a:srgbClr val="000000"/>
                </a:solidFill>
                <a:latin typeface="Corbel" panose="020B0503020204020204" pitchFamily="34" charset="0"/>
                <a:cs typeface="Arial" panose="020B0604020202020204" pitchFamily="34" charset="0"/>
              </a:rPr>
              <a:t>(String)</a:t>
            </a:r>
            <a:r>
              <a:rPr lang="en-US" altLang="en-US" dirty="0">
                <a:solidFill>
                  <a:srgbClr val="000000"/>
                </a:solidFill>
                <a:latin typeface="Corbel" panose="020B0503020204020204" pitchFamily="34" charset="0"/>
                <a:cs typeface="Arial" panose="020B0604020202020204" pitchFamily="34" charset="0"/>
              </a:rPr>
              <a:t> </a:t>
            </a:r>
            <a:r>
              <a:rPr lang="en-US" altLang="en-US" dirty="0" err="1">
                <a:solidFill>
                  <a:srgbClr val="000000"/>
                </a:solidFill>
                <a:latin typeface="Corbel" panose="020B0503020204020204" pitchFamily="34" charset="0"/>
                <a:cs typeface="Arial" panose="020B0604020202020204" pitchFamily="34" charset="0"/>
              </a:rPr>
              <a:t>list.get</a:t>
            </a:r>
            <a:r>
              <a:rPr lang="en-US" altLang="en-US" dirty="0">
                <a:solidFill>
                  <a:srgbClr val="000000"/>
                </a:solidFill>
                <a:latin typeface="Corbel" panose="020B0503020204020204" pitchFamily="34" charset="0"/>
                <a:cs typeface="Arial" panose="020B0604020202020204" pitchFamily="34" charset="0"/>
              </a:rPr>
              <a:t>(0); </a:t>
            </a:r>
          </a:p>
          <a:p>
            <a:pPr marL="0" lvl="0" indent="0" eaLnBrk="0" fontAlgn="base" hangingPunct="0">
              <a:lnSpc>
                <a:spcPct val="100000"/>
              </a:lnSpc>
              <a:spcBef>
                <a:spcPct val="0"/>
              </a:spcBef>
              <a:spcAft>
                <a:spcPct val="0"/>
              </a:spcAft>
              <a:buNone/>
            </a:pPr>
            <a:r>
              <a:rPr lang="en-US" altLang="en-US" dirty="0">
                <a:solidFill>
                  <a:srgbClr val="000000"/>
                </a:solidFill>
                <a:latin typeface="Corbel" panose="020B0503020204020204" pitchFamily="34" charset="0"/>
                <a:cs typeface="Arial" panose="020B0604020202020204" pitchFamily="34" charset="0"/>
              </a:rPr>
              <a:t>When re-written to use generics, the code does not require casting:</a:t>
            </a:r>
          </a:p>
          <a:p>
            <a:pPr marL="0" lvl="0" indent="0" eaLnBrk="0" fontAlgn="base" hangingPunct="0">
              <a:lnSpc>
                <a:spcPct val="100000"/>
              </a:lnSpc>
              <a:spcBef>
                <a:spcPct val="0"/>
              </a:spcBef>
              <a:spcAft>
                <a:spcPct val="0"/>
              </a:spcAft>
              <a:buNone/>
            </a:pPr>
            <a:endParaRPr lang="en-US" altLang="en-US" dirty="0">
              <a:solidFill>
                <a:srgbClr val="000000"/>
              </a:solidFill>
              <a:latin typeface="Corbel" panose="020B0503020204020204" pitchFamily="34" charset="0"/>
              <a:cs typeface="Arial" panose="020B0604020202020204" pitchFamily="34" charset="0"/>
            </a:endParaRPr>
          </a:p>
          <a:p>
            <a:pPr marL="0" lvl="0" indent="0" eaLnBrk="0" fontAlgn="base" hangingPunct="0">
              <a:lnSpc>
                <a:spcPct val="100000"/>
              </a:lnSpc>
              <a:spcBef>
                <a:spcPct val="0"/>
              </a:spcBef>
              <a:spcAft>
                <a:spcPct val="0"/>
              </a:spcAft>
              <a:buNone/>
            </a:pPr>
            <a:r>
              <a:rPr lang="en-US" altLang="en-US" dirty="0">
                <a:solidFill>
                  <a:srgbClr val="000000"/>
                </a:solidFill>
                <a:latin typeface="Corbel" panose="020B0503020204020204" pitchFamily="34" charset="0"/>
                <a:cs typeface="Arial" panose="020B0604020202020204" pitchFamily="34" charset="0"/>
              </a:rPr>
              <a:t>	List&lt;String&gt; list = new </a:t>
            </a:r>
            <a:r>
              <a:rPr lang="en-US" altLang="en-US" dirty="0" err="1">
                <a:solidFill>
                  <a:srgbClr val="000000"/>
                </a:solidFill>
                <a:latin typeface="Corbel" panose="020B0503020204020204" pitchFamily="34" charset="0"/>
                <a:cs typeface="Arial" panose="020B0604020202020204" pitchFamily="34" charset="0"/>
              </a:rPr>
              <a:t>ArrayList</a:t>
            </a:r>
            <a:r>
              <a:rPr lang="en-US" altLang="en-US" dirty="0">
                <a:solidFill>
                  <a:srgbClr val="000000"/>
                </a:solidFill>
                <a:latin typeface="Corbel" panose="020B0503020204020204" pitchFamily="34" charset="0"/>
                <a:cs typeface="Arial" panose="020B0604020202020204" pitchFamily="34" charset="0"/>
              </a:rPr>
              <a:t>&lt;String&gt;(); </a:t>
            </a:r>
          </a:p>
          <a:p>
            <a:pPr marL="0" lvl="0" indent="0" eaLnBrk="0" fontAlgn="base" hangingPunct="0">
              <a:lnSpc>
                <a:spcPct val="100000"/>
              </a:lnSpc>
              <a:spcBef>
                <a:spcPct val="0"/>
              </a:spcBef>
              <a:spcAft>
                <a:spcPct val="0"/>
              </a:spcAft>
              <a:buNone/>
            </a:pPr>
            <a:r>
              <a:rPr lang="en-US" altLang="en-US" dirty="0">
                <a:solidFill>
                  <a:srgbClr val="000000"/>
                </a:solidFill>
                <a:latin typeface="Corbel" panose="020B0503020204020204" pitchFamily="34" charset="0"/>
                <a:cs typeface="Arial" panose="020B0604020202020204" pitchFamily="34" charset="0"/>
              </a:rPr>
              <a:t>	</a:t>
            </a:r>
            <a:r>
              <a:rPr lang="en-US" altLang="en-US" dirty="0" err="1">
                <a:solidFill>
                  <a:srgbClr val="000000"/>
                </a:solidFill>
                <a:latin typeface="Corbel" panose="020B0503020204020204" pitchFamily="34" charset="0"/>
                <a:cs typeface="Arial" panose="020B0604020202020204" pitchFamily="34" charset="0"/>
              </a:rPr>
              <a:t>list.add</a:t>
            </a:r>
            <a:r>
              <a:rPr lang="en-US" altLang="en-US" dirty="0">
                <a:solidFill>
                  <a:srgbClr val="000000"/>
                </a:solidFill>
                <a:latin typeface="Corbel" panose="020B0503020204020204" pitchFamily="34" charset="0"/>
                <a:cs typeface="Arial" panose="020B0604020202020204" pitchFamily="34" charset="0"/>
              </a:rPr>
              <a:t>("hello"); </a:t>
            </a:r>
          </a:p>
          <a:p>
            <a:pPr marL="0" lvl="0" indent="0" eaLnBrk="0" fontAlgn="base" hangingPunct="0">
              <a:lnSpc>
                <a:spcPct val="100000"/>
              </a:lnSpc>
              <a:spcBef>
                <a:spcPct val="0"/>
              </a:spcBef>
              <a:spcAft>
                <a:spcPct val="0"/>
              </a:spcAft>
              <a:buNone/>
            </a:pPr>
            <a:r>
              <a:rPr lang="en-US" altLang="en-US" dirty="0">
                <a:solidFill>
                  <a:srgbClr val="000000"/>
                </a:solidFill>
                <a:latin typeface="Corbel" panose="020B0503020204020204" pitchFamily="34" charset="0"/>
                <a:cs typeface="Arial" panose="020B0604020202020204" pitchFamily="34" charset="0"/>
              </a:rPr>
              <a:t>	String s = </a:t>
            </a:r>
            <a:r>
              <a:rPr lang="en-US" altLang="en-US" dirty="0" err="1">
                <a:solidFill>
                  <a:srgbClr val="000000"/>
                </a:solidFill>
                <a:latin typeface="Corbel" panose="020B0503020204020204" pitchFamily="34" charset="0"/>
                <a:cs typeface="Arial" panose="020B0604020202020204" pitchFamily="34" charset="0"/>
              </a:rPr>
              <a:t>list.get</a:t>
            </a:r>
            <a:r>
              <a:rPr lang="en-US" altLang="en-US" dirty="0">
                <a:solidFill>
                  <a:srgbClr val="000000"/>
                </a:solidFill>
                <a:latin typeface="Corbel" panose="020B0503020204020204" pitchFamily="34" charset="0"/>
                <a:cs typeface="Arial" panose="020B0604020202020204" pitchFamily="34" charset="0"/>
              </a:rPr>
              <a:t>(0); // no cast </a:t>
            </a:r>
          </a:p>
          <a:p>
            <a:pPr marL="0" lvl="0" indent="0" eaLnBrk="0" fontAlgn="base" hangingPunct="0">
              <a:lnSpc>
                <a:spcPct val="100000"/>
              </a:lnSpc>
              <a:spcBef>
                <a:spcPct val="0"/>
              </a:spcBef>
              <a:spcAft>
                <a:spcPct val="0"/>
              </a:spcAft>
              <a:buNone/>
            </a:pPr>
            <a:endParaRPr lang="en-US" altLang="en-US" dirty="0">
              <a:solidFill>
                <a:srgbClr val="000000"/>
              </a:solidFill>
              <a:latin typeface="Corbel" panose="020B0503020204020204" pitchFamily="34" charset="0"/>
              <a:cs typeface="Arial" panose="020B0604020202020204" pitchFamily="34" charset="0"/>
            </a:endParaRPr>
          </a:p>
          <a:p>
            <a:pPr marL="0" lvl="0" indent="0" eaLnBrk="0" fontAlgn="base" hangingPunct="0">
              <a:lnSpc>
                <a:spcPct val="100000"/>
              </a:lnSpc>
              <a:spcBef>
                <a:spcPct val="0"/>
              </a:spcBef>
              <a:spcAft>
                <a:spcPct val="0"/>
              </a:spcAft>
              <a:buNone/>
            </a:pPr>
            <a:r>
              <a:rPr lang="en-US" altLang="en-US" b="1" dirty="0">
                <a:solidFill>
                  <a:srgbClr val="000000"/>
                </a:solidFill>
                <a:latin typeface="Corbel" panose="020B0503020204020204" pitchFamily="34" charset="0"/>
                <a:cs typeface="Arial" panose="020B0604020202020204" pitchFamily="34" charset="0"/>
              </a:rPr>
              <a:t>Enabling programmers to implement generic </a:t>
            </a:r>
            <a:r>
              <a:rPr lang="en-US" altLang="en-US" b="1" dirty="0" err="1">
                <a:solidFill>
                  <a:srgbClr val="000000"/>
                </a:solidFill>
                <a:latin typeface="Corbel" panose="020B0503020204020204" pitchFamily="34" charset="0"/>
                <a:cs typeface="Arial" panose="020B0604020202020204" pitchFamily="34" charset="0"/>
              </a:rPr>
              <a:t>algorithms:</a:t>
            </a:r>
            <a:r>
              <a:rPr lang="en-US" altLang="en-US" dirty="0" err="1">
                <a:solidFill>
                  <a:srgbClr val="000000"/>
                </a:solidFill>
                <a:latin typeface="Corbel" panose="020B0503020204020204" pitchFamily="34" charset="0"/>
                <a:cs typeface="Arial" panose="020B0604020202020204" pitchFamily="34" charset="0"/>
              </a:rPr>
              <a:t>By</a:t>
            </a:r>
            <a:r>
              <a:rPr lang="en-US" altLang="en-US" dirty="0">
                <a:solidFill>
                  <a:srgbClr val="000000"/>
                </a:solidFill>
                <a:latin typeface="Corbel" panose="020B0503020204020204" pitchFamily="34" charset="0"/>
                <a:cs typeface="Arial" panose="020B0604020202020204" pitchFamily="34" charset="0"/>
              </a:rPr>
              <a:t> using generics, </a:t>
            </a:r>
            <a:r>
              <a:rPr lang="en-US" altLang="en-US" b="1" dirty="0">
                <a:solidFill>
                  <a:srgbClr val="000000"/>
                </a:solidFill>
                <a:latin typeface="Corbel" panose="020B0503020204020204" pitchFamily="34" charset="0"/>
                <a:cs typeface="Arial" panose="020B0604020202020204" pitchFamily="34" charset="0"/>
              </a:rPr>
              <a:t>programmers can implement generic algorithms </a:t>
            </a:r>
            <a:r>
              <a:rPr lang="en-US" altLang="en-US" dirty="0">
                <a:solidFill>
                  <a:srgbClr val="000000"/>
                </a:solidFill>
                <a:latin typeface="Corbel" panose="020B0503020204020204" pitchFamily="34" charset="0"/>
                <a:cs typeface="Arial" panose="020B0604020202020204" pitchFamily="34" charset="0"/>
              </a:rPr>
              <a:t>that work on </a:t>
            </a:r>
            <a:r>
              <a:rPr lang="en-US" altLang="en-US" b="1" dirty="0">
                <a:solidFill>
                  <a:srgbClr val="000000"/>
                </a:solidFill>
                <a:latin typeface="Corbel" panose="020B0503020204020204" pitchFamily="34" charset="0"/>
                <a:cs typeface="Arial" panose="020B0604020202020204" pitchFamily="34" charset="0"/>
              </a:rPr>
              <a:t>collections of different types</a:t>
            </a:r>
            <a:r>
              <a:rPr lang="en-US" altLang="en-US" dirty="0">
                <a:solidFill>
                  <a:srgbClr val="000000"/>
                </a:solidFill>
                <a:latin typeface="Corbel" panose="020B0503020204020204" pitchFamily="34" charset="0"/>
                <a:cs typeface="Arial" panose="020B0604020202020204" pitchFamily="34" charset="0"/>
              </a:rPr>
              <a:t>, can </a:t>
            </a:r>
            <a:r>
              <a:rPr lang="en-US" altLang="en-US" b="1" dirty="0">
                <a:solidFill>
                  <a:srgbClr val="000000"/>
                </a:solidFill>
                <a:latin typeface="Corbel" panose="020B0503020204020204" pitchFamily="34" charset="0"/>
                <a:cs typeface="Arial" panose="020B0604020202020204" pitchFamily="34" charset="0"/>
              </a:rPr>
              <a:t>be customized</a:t>
            </a:r>
            <a:r>
              <a:rPr lang="en-US" altLang="en-US" dirty="0">
                <a:solidFill>
                  <a:srgbClr val="000000"/>
                </a:solidFill>
                <a:latin typeface="Corbel" panose="020B0503020204020204" pitchFamily="34" charset="0"/>
                <a:cs typeface="Arial" panose="020B0604020202020204" pitchFamily="34" charset="0"/>
              </a:rPr>
              <a:t>, and are </a:t>
            </a:r>
            <a:r>
              <a:rPr lang="en-US" altLang="en-US" b="1" dirty="0">
                <a:solidFill>
                  <a:srgbClr val="000000"/>
                </a:solidFill>
                <a:latin typeface="Corbel" panose="020B0503020204020204" pitchFamily="34" charset="0"/>
                <a:cs typeface="Arial" panose="020B0604020202020204" pitchFamily="34" charset="0"/>
              </a:rPr>
              <a:t>type safe </a:t>
            </a:r>
            <a:r>
              <a:rPr lang="en-US" altLang="en-US" dirty="0">
                <a:solidFill>
                  <a:srgbClr val="000000"/>
                </a:solidFill>
                <a:latin typeface="Corbel" panose="020B0503020204020204" pitchFamily="34" charset="0"/>
                <a:cs typeface="Arial" panose="020B0604020202020204" pitchFamily="34" charset="0"/>
              </a:rPr>
              <a:t>and </a:t>
            </a:r>
            <a:r>
              <a:rPr lang="en-US" altLang="en-US" b="1" dirty="0">
                <a:solidFill>
                  <a:srgbClr val="000000"/>
                </a:solidFill>
                <a:latin typeface="Corbel" panose="020B0503020204020204" pitchFamily="34" charset="0"/>
                <a:cs typeface="Arial" panose="020B0604020202020204" pitchFamily="34" charset="0"/>
              </a:rPr>
              <a:t>easier to read</a:t>
            </a:r>
            <a:r>
              <a:rPr lang="en-US" altLang="en-US" dirty="0">
                <a:solidFill>
                  <a:srgbClr val="000000"/>
                </a:solidFill>
                <a:latin typeface="Corbel" panose="020B0503020204020204" pitchFamily="34" charset="0"/>
                <a:cs typeface="Arial" panose="020B0604020202020204" pitchFamily="34" charset="0"/>
              </a:rPr>
              <a:t>.</a:t>
            </a:r>
          </a:p>
          <a:p>
            <a:pPr marL="0" lvl="0" indent="0" eaLnBrk="0" fontAlgn="base" hangingPunct="0">
              <a:lnSpc>
                <a:spcPct val="100000"/>
              </a:lnSpc>
              <a:spcBef>
                <a:spcPct val="0"/>
              </a:spcBef>
              <a:spcAft>
                <a:spcPct val="0"/>
              </a:spcAft>
              <a:buNone/>
            </a:pPr>
            <a:endParaRPr lang="en-US" altLang="en-US" dirty="0">
              <a:latin typeface="Corbel" panose="020B0503020204020204" pitchFamily="34" charset="0"/>
            </a:endParaRP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70786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Types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Grp="1" noChangeArrowheads="1"/>
          </p:cNvSpPr>
          <p:nvPr>
            <p:ph idx="1"/>
          </p:nvPr>
        </p:nvSpPr>
        <p:spPr bwMode="auto">
          <a:xfrm>
            <a:off x="273358" y="1415107"/>
            <a:ext cx="7770504" cy="5122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nSpc>
                <a:spcPct val="150000"/>
              </a:lnSpc>
              <a:buFont typeface="Arial" panose="020B0604020202020204" pitchFamily="34" charset="0"/>
              <a:buChar char="•"/>
            </a:pPr>
            <a:r>
              <a:rPr lang="en-US" altLang="en-US" b="1" dirty="0">
                <a:solidFill>
                  <a:srgbClr val="000000"/>
                </a:solidFill>
                <a:latin typeface="Corbel" panose="020B0503020204020204" pitchFamily="34" charset="0"/>
                <a:cs typeface="Arial" panose="020B0604020202020204" pitchFamily="34" charset="0"/>
              </a:rPr>
              <a:t>A </a:t>
            </a:r>
            <a:r>
              <a:rPr lang="en-US" altLang="en-US" b="1" i="1" dirty="0">
                <a:solidFill>
                  <a:srgbClr val="000000"/>
                </a:solidFill>
                <a:latin typeface="Corbel" panose="020B0503020204020204" pitchFamily="34" charset="0"/>
                <a:cs typeface="Arial" panose="020B0604020202020204" pitchFamily="34" charset="0"/>
              </a:rPr>
              <a:t>generic type</a:t>
            </a:r>
            <a:r>
              <a:rPr lang="en-US" altLang="en-US" dirty="0">
                <a:solidFill>
                  <a:srgbClr val="000000"/>
                </a:solidFill>
                <a:latin typeface="Corbel" panose="020B0503020204020204" pitchFamily="34" charset="0"/>
                <a:cs typeface="Arial" panose="020B0604020202020204" pitchFamily="34" charset="0"/>
              </a:rPr>
              <a:t> is a </a:t>
            </a:r>
            <a:r>
              <a:rPr lang="en-US" altLang="en-US" b="1" dirty="0">
                <a:solidFill>
                  <a:srgbClr val="000000"/>
                </a:solidFill>
                <a:latin typeface="Corbel" panose="020B0503020204020204" pitchFamily="34" charset="0"/>
                <a:cs typeface="Arial" panose="020B0604020202020204" pitchFamily="34" charset="0"/>
              </a:rPr>
              <a:t>generic class or interface </a:t>
            </a:r>
            <a:r>
              <a:rPr lang="en-US" altLang="en-US" dirty="0">
                <a:solidFill>
                  <a:srgbClr val="000000"/>
                </a:solidFill>
                <a:latin typeface="Corbel" panose="020B0503020204020204" pitchFamily="34" charset="0"/>
                <a:cs typeface="Arial" panose="020B0604020202020204" pitchFamily="34" charset="0"/>
              </a:rPr>
              <a:t>that is </a:t>
            </a:r>
            <a:r>
              <a:rPr lang="en-US" altLang="en-US" b="1" dirty="0">
                <a:solidFill>
                  <a:srgbClr val="000000"/>
                </a:solidFill>
                <a:latin typeface="Corbel" panose="020B0503020204020204" pitchFamily="34" charset="0"/>
                <a:cs typeface="Arial" panose="020B0604020202020204" pitchFamily="34" charset="0"/>
              </a:rPr>
              <a:t>parameterized over types</a:t>
            </a:r>
            <a:r>
              <a:rPr lang="en-US" altLang="en-US" dirty="0">
                <a:solidFill>
                  <a:srgbClr val="000000"/>
                </a:solidFill>
                <a:latin typeface="Corbel" panose="020B0503020204020204" pitchFamily="34" charset="0"/>
                <a:cs typeface="Arial" panose="020B0604020202020204" pitchFamily="34" charset="0"/>
              </a:rPr>
              <a:t>. Begin by examining a non-generic Box class that operates on objects of any type. </a:t>
            </a:r>
          </a:p>
          <a:p>
            <a:pPr lvl="0">
              <a:lnSpc>
                <a:spcPct val="150000"/>
              </a:lnSpc>
              <a:buFont typeface="Arial" panose="020B0604020202020204" pitchFamily="34" charset="0"/>
              <a:buChar char="•"/>
            </a:pPr>
            <a:r>
              <a:rPr lang="en-US" altLang="en-US" dirty="0">
                <a:solidFill>
                  <a:srgbClr val="000000"/>
                </a:solidFill>
                <a:latin typeface="Corbel" panose="020B0503020204020204" pitchFamily="34" charset="0"/>
                <a:cs typeface="Arial" panose="020B0604020202020204" pitchFamily="34" charset="0"/>
              </a:rPr>
              <a:t>It needs only to </a:t>
            </a:r>
            <a:r>
              <a:rPr lang="en-US" altLang="en-US" b="1" dirty="0">
                <a:solidFill>
                  <a:srgbClr val="000000"/>
                </a:solidFill>
                <a:latin typeface="Corbel" panose="020B0503020204020204" pitchFamily="34" charset="0"/>
                <a:cs typeface="Arial" panose="020B0604020202020204" pitchFamily="34" charset="0"/>
              </a:rPr>
              <a:t>provide two methods: set</a:t>
            </a:r>
            <a:r>
              <a:rPr lang="en-US" altLang="en-US" dirty="0">
                <a:solidFill>
                  <a:srgbClr val="000000"/>
                </a:solidFill>
                <a:latin typeface="Corbel" panose="020B0503020204020204" pitchFamily="34" charset="0"/>
                <a:cs typeface="Arial" panose="020B0604020202020204" pitchFamily="34" charset="0"/>
              </a:rPr>
              <a:t>, which adds an object to the box, </a:t>
            </a:r>
            <a:r>
              <a:rPr lang="en-US" altLang="en-US" b="1" dirty="0">
                <a:solidFill>
                  <a:srgbClr val="000000"/>
                </a:solidFill>
                <a:latin typeface="Corbel" panose="020B0503020204020204" pitchFamily="34" charset="0"/>
                <a:cs typeface="Arial" panose="020B0604020202020204" pitchFamily="34" charset="0"/>
              </a:rPr>
              <a:t>and get, which retrieves it</a:t>
            </a:r>
            <a:r>
              <a:rPr lang="en-US" altLang="en-US" dirty="0">
                <a:solidFill>
                  <a:srgbClr val="000000"/>
                </a:solidFill>
                <a:latin typeface="Corbel" panose="020B0503020204020204" pitchFamily="34" charset="0"/>
                <a:cs typeface="Arial" panose="020B0604020202020204" pitchFamily="34" charset="0"/>
              </a:rPr>
              <a:t>:</a:t>
            </a:r>
            <a:endParaRPr lang="en-US" altLang="en-US" dirty="0">
              <a:latin typeface="Corbel" panose="020B0503020204020204" pitchFamily="34" charset="0"/>
            </a:endParaRPr>
          </a:p>
          <a:p>
            <a:pPr lvl="0">
              <a:lnSpc>
                <a:spcPct val="150000"/>
              </a:lnSpc>
              <a:buFont typeface="Arial" panose="020B0604020202020204" pitchFamily="34" charset="0"/>
              <a:buChar char="•"/>
            </a:pPr>
            <a:r>
              <a:rPr lang="en-US" altLang="en-US" dirty="0">
                <a:solidFill>
                  <a:srgbClr val="000000"/>
                </a:solidFill>
                <a:latin typeface="Corbel" panose="020B0503020204020204" pitchFamily="34" charset="0"/>
                <a:cs typeface="Arial" panose="020B0604020202020204" pitchFamily="34" charset="0"/>
              </a:rPr>
              <a:t>Since its methods accept or return an Object, you are free to pass in whatever you want, provided that it is not one of the primitive types. There is no way to verify, at compile time, how the class is used. One part of the code may place an Integer in the box and expect to get Integers out of it, while another part of the code may mistakenly pass in a String, resulting in a runtime error.</a:t>
            </a:r>
            <a:endParaRPr kumimoji="0" lang="en-US" altLang="en-US" b="0" i="0" u="none" strike="noStrike" cap="none" normalizeH="0" baseline="0" dirty="0">
              <a:ln>
                <a:noFill/>
              </a:ln>
              <a:solidFill>
                <a:schemeClr val="tx1"/>
              </a:solidFill>
              <a:effectLst/>
              <a:latin typeface="Corbel" panose="020B0503020204020204" pitchFamily="34" charset="0"/>
            </a:endParaRPr>
          </a:p>
        </p:txBody>
      </p:sp>
      <p:sp>
        <p:nvSpPr>
          <p:cNvPr id="7" name="Rectangle 6"/>
          <p:cNvSpPr/>
          <p:nvPr/>
        </p:nvSpPr>
        <p:spPr>
          <a:xfrm>
            <a:off x="8043862" y="1443866"/>
            <a:ext cx="4238625" cy="4247317"/>
          </a:xfrm>
          <a:prstGeom prst="rect">
            <a:avLst/>
          </a:prstGeom>
        </p:spPr>
        <p:txBody>
          <a:bodyPr wrap="square">
            <a:spAutoFit/>
          </a:bodyPr>
          <a:lstStyle/>
          <a:p>
            <a:pPr lvl="0">
              <a:lnSpc>
                <a:spcPct val="150000"/>
              </a:lnSpc>
            </a:pPr>
            <a:r>
              <a:rPr lang="en-US" altLang="en-US" b="1" dirty="0">
                <a:solidFill>
                  <a:srgbClr val="000000"/>
                </a:solidFill>
                <a:latin typeface="Corbel" panose="020B0503020204020204" pitchFamily="34" charset="0"/>
              </a:rPr>
              <a:t>Simple Box Class</a:t>
            </a:r>
          </a:p>
          <a:p>
            <a:pPr lvl="0">
              <a:lnSpc>
                <a:spcPct val="150000"/>
              </a:lnSpc>
            </a:pPr>
            <a:r>
              <a:rPr lang="en-US" altLang="en-US" b="1" dirty="0">
                <a:solidFill>
                  <a:srgbClr val="000000"/>
                </a:solidFill>
                <a:latin typeface="Corbel" panose="020B0503020204020204" pitchFamily="34" charset="0"/>
              </a:rPr>
              <a:t>public class Box { </a:t>
            </a:r>
          </a:p>
          <a:p>
            <a:pPr lvl="0">
              <a:lnSpc>
                <a:spcPct val="150000"/>
              </a:lnSpc>
            </a:pPr>
            <a:r>
              <a:rPr lang="en-US" altLang="en-US" b="1" dirty="0">
                <a:solidFill>
                  <a:srgbClr val="000000"/>
                </a:solidFill>
                <a:latin typeface="Corbel" panose="020B0503020204020204" pitchFamily="34" charset="0"/>
              </a:rPr>
              <a:t>	private Object </a:t>
            </a:r>
            <a:r>
              <a:rPr lang="en-US" altLang="en-US" b="1" dirty="0" err="1">
                <a:solidFill>
                  <a:srgbClr val="000000"/>
                </a:solidFill>
                <a:latin typeface="Corbel" panose="020B0503020204020204" pitchFamily="34" charset="0"/>
              </a:rPr>
              <a:t>object</a:t>
            </a:r>
            <a:r>
              <a:rPr lang="en-US" altLang="en-US" b="1" dirty="0">
                <a:solidFill>
                  <a:srgbClr val="000000"/>
                </a:solidFill>
                <a:latin typeface="Corbel" panose="020B0503020204020204" pitchFamily="34" charset="0"/>
              </a:rPr>
              <a:t>; </a:t>
            </a:r>
          </a:p>
          <a:p>
            <a:pPr lvl="0">
              <a:lnSpc>
                <a:spcPct val="150000"/>
              </a:lnSpc>
            </a:pPr>
            <a:r>
              <a:rPr lang="en-US" altLang="en-US" b="1" dirty="0">
                <a:solidFill>
                  <a:srgbClr val="000000"/>
                </a:solidFill>
                <a:latin typeface="Corbel" panose="020B0503020204020204" pitchFamily="34" charset="0"/>
              </a:rPr>
              <a:t>	public void set(Object object) { </a:t>
            </a:r>
          </a:p>
          <a:p>
            <a:pPr lvl="0">
              <a:lnSpc>
                <a:spcPct val="150000"/>
              </a:lnSpc>
            </a:pPr>
            <a:r>
              <a:rPr lang="en-US" altLang="en-US" b="1" dirty="0">
                <a:solidFill>
                  <a:srgbClr val="000000"/>
                </a:solidFill>
                <a:latin typeface="Corbel" panose="020B0503020204020204" pitchFamily="34" charset="0"/>
              </a:rPr>
              <a:t>		</a:t>
            </a:r>
            <a:r>
              <a:rPr lang="en-US" altLang="en-US" b="1" dirty="0" err="1">
                <a:solidFill>
                  <a:srgbClr val="000000"/>
                </a:solidFill>
                <a:latin typeface="Corbel" panose="020B0503020204020204" pitchFamily="34" charset="0"/>
              </a:rPr>
              <a:t>this.object</a:t>
            </a:r>
            <a:r>
              <a:rPr lang="en-US" altLang="en-US" b="1" dirty="0">
                <a:solidFill>
                  <a:srgbClr val="000000"/>
                </a:solidFill>
                <a:latin typeface="Corbel" panose="020B0503020204020204" pitchFamily="34" charset="0"/>
              </a:rPr>
              <a:t> = object; </a:t>
            </a:r>
          </a:p>
          <a:p>
            <a:pPr lvl="0">
              <a:lnSpc>
                <a:spcPct val="150000"/>
              </a:lnSpc>
            </a:pPr>
            <a:r>
              <a:rPr lang="en-US" altLang="en-US" b="1" dirty="0">
                <a:solidFill>
                  <a:srgbClr val="000000"/>
                </a:solidFill>
                <a:latin typeface="Corbel" panose="020B0503020204020204" pitchFamily="34" charset="0"/>
              </a:rPr>
              <a:t>	} </a:t>
            </a:r>
          </a:p>
          <a:p>
            <a:pPr lvl="0">
              <a:lnSpc>
                <a:spcPct val="150000"/>
              </a:lnSpc>
            </a:pPr>
            <a:r>
              <a:rPr lang="en-US" altLang="en-US" b="1" dirty="0">
                <a:solidFill>
                  <a:srgbClr val="000000"/>
                </a:solidFill>
                <a:latin typeface="Corbel" panose="020B0503020204020204" pitchFamily="34" charset="0"/>
              </a:rPr>
              <a:t>	public Object get() { </a:t>
            </a:r>
          </a:p>
          <a:p>
            <a:pPr lvl="0">
              <a:lnSpc>
                <a:spcPct val="150000"/>
              </a:lnSpc>
            </a:pPr>
            <a:r>
              <a:rPr lang="en-US" altLang="en-US" b="1" dirty="0">
                <a:solidFill>
                  <a:srgbClr val="000000"/>
                </a:solidFill>
                <a:latin typeface="Corbel" panose="020B0503020204020204" pitchFamily="34" charset="0"/>
              </a:rPr>
              <a:t>		return object; </a:t>
            </a:r>
          </a:p>
          <a:p>
            <a:pPr lvl="0">
              <a:lnSpc>
                <a:spcPct val="150000"/>
              </a:lnSpc>
            </a:pPr>
            <a:r>
              <a:rPr lang="en-US" altLang="en-US" b="1" dirty="0">
                <a:solidFill>
                  <a:srgbClr val="000000"/>
                </a:solidFill>
                <a:latin typeface="Corbel" panose="020B0503020204020204" pitchFamily="34" charset="0"/>
              </a:rPr>
              <a:t>	} </a:t>
            </a:r>
          </a:p>
          <a:p>
            <a:pPr lvl="0">
              <a:lnSpc>
                <a:spcPct val="150000"/>
              </a:lnSpc>
            </a:pPr>
            <a:r>
              <a:rPr lang="en-US" altLang="en-US" b="1" dirty="0">
                <a:solidFill>
                  <a:srgbClr val="000000"/>
                </a:solidFill>
                <a:latin typeface="Corbel" panose="020B0503020204020204" pitchFamily="34" charset="0"/>
              </a:rPr>
              <a:t>} </a:t>
            </a:r>
            <a:endParaRPr lang="en-US" altLang="en-US" b="1" dirty="0">
              <a:latin typeface="Corbel" panose="020B0503020204020204" pitchFamily="34" charset="0"/>
            </a:endParaRPr>
          </a:p>
        </p:txBody>
      </p:sp>
    </p:spTree>
    <p:extLst>
      <p:ext uri="{BB962C8B-B14F-4D97-AF65-F5344CB8AC3E}">
        <p14:creationId xmlns:p14="http://schemas.microsoft.com/office/powerpoint/2010/main" val="2077929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Generic Form of a Class </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Grp="1" noChangeArrowheads="1"/>
          </p:cNvSpPr>
          <p:nvPr>
            <p:ph idx="1"/>
          </p:nvPr>
        </p:nvSpPr>
        <p:spPr bwMode="auto">
          <a:xfrm>
            <a:off x="330508" y="1357955"/>
            <a:ext cx="7256155" cy="549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50000"/>
              </a:lnSpc>
            </a:pPr>
            <a:r>
              <a:rPr lang="en-US" altLang="en-US" sz="1800" dirty="0">
                <a:solidFill>
                  <a:srgbClr val="000000"/>
                </a:solidFill>
                <a:latin typeface="Corbel" panose="020B0503020204020204" pitchFamily="34" charset="0"/>
                <a:cs typeface="Arial" panose="020B0604020202020204" pitchFamily="34" charset="0"/>
              </a:rPr>
              <a:t>A </a:t>
            </a:r>
            <a:r>
              <a:rPr lang="en-US" altLang="en-US" sz="1800" b="1" i="1" dirty="0">
                <a:solidFill>
                  <a:srgbClr val="000000"/>
                </a:solidFill>
                <a:latin typeface="Corbel" panose="020B0503020204020204" pitchFamily="34" charset="0"/>
                <a:cs typeface="Arial" panose="020B0604020202020204" pitchFamily="34" charset="0"/>
              </a:rPr>
              <a:t>generic class</a:t>
            </a:r>
            <a:r>
              <a:rPr lang="en-US" altLang="en-US" sz="1800" dirty="0">
                <a:solidFill>
                  <a:srgbClr val="000000"/>
                </a:solidFill>
                <a:latin typeface="Corbel" panose="020B0503020204020204" pitchFamily="34" charset="0"/>
                <a:cs typeface="Arial" panose="020B0604020202020204" pitchFamily="34" charset="0"/>
              </a:rPr>
              <a:t> is defined with the following format:</a:t>
            </a:r>
            <a:endParaRPr lang="en-US" altLang="en-US" sz="1800" dirty="0">
              <a:latin typeface="Corbel" panose="020B0503020204020204" pitchFamily="34" charset="0"/>
            </a:endParaRPr>
          </a:p>
          <a:p>
            <a:pPr marL="0" indent="0">
              <a:lnSpc>
                <a:spcPct val="150000"/>
              </a:lnSpc>
              <a:buNone/>
            </a:pPr>
            <a:r>
              <a:rPr lang="en-US" altLang="en-US" sz="1800" dirty="0">
                <a:solidFill>
                  <a:srgbClr val="000000"/>
                </a:solidFill>
                <a:latin typeface="Corbel" panose="020B0503020204020204" pitchFamily="34" charset="0"/>
              </a:rPr>
              <a:t>	</a:t>
            </a:r>
            <a:r>
              <a:rPr lang="en-US" altLang="en-US" sz="1800" b="1" dirty="0">
                <a:solidFill>
                  <a:srgbClr val="000000"/>
                </a:solidFill>
                <a:latin typeface="Corbel" panose="020B0503020204020204" pitchFamily="34" charset="0"/>
              </a:rPr>
              <a:t>class name&lt;T1, T2, ..., </a:t>
            </a:r>
            <a:r>
              <a:rPr lang="en-US" altLang="en-US" sz="1800" b="1" dirty="0" err="1">
                <a:solidFill>
                  <a:srgbClr val="000000"/>
                </a:solidFill>
                <a:latin typeface="Corbel" panose="020B0503020204020204" pitchFamily="34" charset="0"/>
              </a:rPr>
              <a:t>Tn</a:t>
            </a:r>
            <a:r>
              <a:rPr lang="en-US" altLang="en-US" sz="1800" b="1" dirty="0">
                <a:solidFill>
                  <a:srgbClr val="000000"/>
                </a:solidFill>
                <a:latin typeface="Corbel" panose="020B0503020204020204" pitchFamily="34" charset="0"/>
              </a:rPr>
              <a:t>&gt; { /* ... */ } </a:t>
            </a:r>
            <a:endParaRPr lang="en-US" altLang="en-US" sz="1800" b="1" dirty="0">
              <a:latin typeface="Corbel" panose="020B0503020204020204" pitchFamily="34" charset="0"/>
            </a:endParaRPr>
          </a:p>
          <a:p>
            <a:pPr>
              <a:lnSpc>
                <a:spcPct val="150000"/>
              </a:lnSpc>
            </a:pPr>
            <a:r>
              <a:rPr lang="en-US" altLang="en-US" sz="1800" dirty="0">
                <a:solidFill>
                  <a:srgbClr val="000000"/>
                </a:solidFill>
                <a:latin typeface="Corbel" panose="020B0503020204020204" pitchFamily="34" charset="0"/>
                <a:cs typeface="Arial" panose="020B0604020202020204" pitchFamily="34" charset="0"/>
              </a:rPr>
              <a:t>The </a:t>
            </a:r>
            <a:r>
              <a:rPr lang="en-US" altLang="en-US" sz="1800" b="1" dirty="0">
                <a:solidFill>
                  <a:srgbClr val="000000"/>
                </a:solidFill>
                <a:latin typeface="Corbel" panose="020B0503020204020204" pitchFamily="34" charset="0"/>
                <a:cs typeface="Arial" panose="020B0604020202020204" pitchFamily="34" charset="0"/>
              </a:rPr>
              <a:t>type parameter section</a:t>
            </a:r>
            <a:r>
              <a:rPr lang="en-US" altLang="en-US" sz="1800" dirty="0">
                <a:solidFill>
                  <a:srgbClr val="000000"/>
                </a:solidFill>
                <a:latin typeface="Corbel" panose="020B0503020204020204" pitchFamily="34" charset="0"/>
                <a:cs typeface="Arial" panose="020B0604020202020204" pitchFamily="34" charset="0"/>
              </a:rPr>
              <a:t>, delimited by </a:t>
            </a:r>
            <a:r>
              <a:rPr lang="en-US" altLang="en-US" sz="1800" b="1" dirty="0">
                <a:solidFill>
                  <a:srgbClr val="000000"/>
                </a:solidFill>
                <a:latin typeface="Corbel" panose="020B0503020204020204" pitchFamily="34" charset="0"/>
                <a:cs typeface="Arial" panose="020B0604020202020204" pitchFamily="34" charset="0"/>
              </a:rPr>
              <a:t>angle brackets </a:t>
            </a:r>
            <a:r>
              <a:rPr lang="en-US" altLang="en-US" sz="1800" dirty="0">
                <a:solidFill>
                  <a:srgbClr val="000000"/>
                </a:solidFill>
                <a:latin typeface="Corbel" panose="020B0503020204020204" pitchFamily="34" charset="0"/>
                <a:cs typeface="Arial" panose="020B0604020202020204" pitchFamily="34" charset="0"/>
              </a:rPr>
              <a:t>(&lt;&gt;), follows </a:t>
            </a:r>
            <a:r>
              <a:rPr lang="en-US" altLang="en-US" sz="1800" b="1" dirty="0">
                <a:solidFill>
                  <a:srgbClr val="000000"/>
                </a:solidFill>
                <a:latin typeface="Corbel" panose="020B0503020204020204" pitchFamily="34" charset="0"/>
                <a:cs typeface="Arial" panose="020B0604020202020204" pitchFamily="34" charset="0"/>
              </a:rPr>
              <a:t>the class name</a:t>
            </a:r>
            <a:r>
              <a:rPr lang="en-US" altLang="en-US" sz="1800" dirty="0">
                <a:solidFill>
                  <a:srgbClr val="000000"/>
                </a:solidFill>
                <a:latin typeface="Corbel" panose="020B0503020204020204" pitchFamily="34" charset="0"/>
                <a:cs typeface="Arial" panose="020B0604020202020204" pitchFamily="34" charset="0"/>
              </a:rPr>
              <a:t>.  It specifies the </a:t>
            </a:r>
            <a:r>
              <a:rPr lang="en-US" altLang="en-US" sz="1800" b="1" i="1" dirty="0">
                <a:solidFill>
                  <a:srgbClr val="000000"/>
                </a:solidFill>
                <a:latin typeface="Corbel" panose="020B0503020204020204" pitchFamily="34" charset="0"/>
                <a:cs typeface="Arial" panose="020B0604020202020204" pitchFamily="34" charset="0"/>
              </a:rPr>
              <a:t>type parameters</a:t>
            </a:r>
            <a:r>
              <a:rPr lang="en-US" altLang="en-US" sz="1800" dirty="0">
                <a:solidFill>
                  <a:srgbClr val="000000"/>
                </a:solidFill>
                <a:latin typeface="Corbel" panose="020B0503020204020204" pitchFamily="34" charset="0"/>
                <a:cs typeface="Arial" panose="020B0604020202020204" pitchFamily="34" charset="0"/>
              </a:rPr>
              <a:t> (also called </a:t>
            </a:r>
            <a:r>
              <a:rPr lang="en-US" altLang="en-US" sz="1800" i="1" dirty="0">
                <a:solidFill>
                  <a:srgbClr val="000000"/>
                </a:solidFill>
                <a:latin typeface="Corbel" panose="020B0503020204020204" pitchFamily="34" charset="0"/>
                <a:cs typeface="Arial" panose="020B0604020202020204" pitchFamily="34" charset="0"/>
              </a:rPr>
              <a:t>type variables</a:t>
            </a:r>
            <a:r>
              <a:rPr lang="en-US" altLang="en-US" sz="1800" dirty="0">
                <a:solidFill>
                  <a:srgbClr val="000000"/>
                </a:solidFill>
                <a:latin typeface="Corbel" panose="020B0503020204020204" pitchFamily="34" charset="0"/>
                <a:cs typeface="Arial" panose="020B0604020202020204" pitchFamily="34" charset="0"/>
              </a:rPr>
              <a:t>) T1, T2, ..., and Tn.</a:t>
            </a:r>
            <a:endParaRPr lang="en-US" altLang="en-US" sz="1800" dirty="0">
              <a:latin typeface="Corbel" panose="020B0503020204020204" pitchFamily="34" charset="0"/>
            </a:endParaRPr>
          </a:p>
          <a:p>
            <a:pPr>
              <a:lnSpc>
                <a:spcPct val="150000"/>
              </a:lnSpc>
            </a:pPr>
            <a:r>
              <a:rPr lang="en-US" altLang="en-US" sz="1800" dirty="0">
                <a:solidFill>
                  <a:srgbClr val="000000"/>
                </a:solidFill>
                <a:latin typeface="Corbel" panose="020B0503020204020204" pitchFamily="34" charset="0"/>
                <a:cs typeface="Arial" panose="020B0604020202020204" pitchFamily="34" charset="0"/>
              </a:rPr>
              <a:t>To </a:t>
            </a:r>
            <a:r>
              <a:rPr lang="en-US" altLang="en-US" sz="1800" b="1" dirty="0">
                <a:solidFill>
                  <a:srgbClr val="000000"/>
                </a:solidFill>
                <a:latin typeface="Corbel" panose="020B0503020204020204" pitchFamily="34" charset="0"/>
                <a:cs typeface="Arial" panose="020B0604020202020204" pitchFamily="34" charset="0"/>
              </a:rPr>
              <a:t>update the Box class to use generics</a:t>
            </a:r>
            <a:r>
              <a:rPr lang="en-US" altLang="en-US" sz="1800" dirty="0">
                <a:solidFill>
                  <a:srgbClr val="000000"/>
                </a:solidFill>
                <a:latin typeface="Corbel" panose="020B0503020204020204" pitchFamily="34" charset="0"/>
                <a:cs typeface="Arial" panose="020B0604020202020204" pitchFamily="34" charset="0"/>
              </a:rPr>
              <a:t>, you create a</a:t>
            </a:r>
            <a:r>
              <a:rPr lang="en-US" altLang="en-US" sz="1800" b="1" dirty="0">
                <a:solidFill>
                  <a:srgbClr val="000000"/>
                </a:solidFill>
                <a:latin typeface="Corbel" panose="020B0503020204020204" pitchFamily="34" charset="0"/>
                <a:cs typeface="Arial" panose="020B0604020202020204" pitchFamily="34" charset="0"/>
              </a:rPr>
              <a:t> </a:t>
            </a:r>
            <a:r>
              <a:rPr lang="en-US" altLang="en-US" sz="1800" b="1" i="1" dirty="0">
                <a:solidFill>
                  <a:srgbClr val="000000"/>
                </a:solidFill>
                <a:latin typeface="Corbel" panose="020B0503020204020204" pitchFamily="34" charset="0"/>
                <a:cs typeface="Arial" panose="020B0604020202020204" pitchFamily="34" charset="0"/>
              </a:rPr>
              <a:t>generic type declaration</a:t>
            </a:r>
            <a:r>
              <a:rPr lang="en-US" altLang="en-US" sz="1800" dirty="0">
                <a:solidFill>
                  <a:srgbClr val="000000"/>
                </a:solidFill>
                <a:latin typeface="Corbel" panose="020B0503020204020204" pitchFamily="34" charset="0"/>
                <a:cs typeface="Arial" panose="020B0604020202020204" pitchFamily="34" charset="0"/>
              </a:rPr>
              <a:t> by changing the code "public class Box" to "</a:t>
            </a:r>
            <a:r>
              <a:rPr lang="en-US" altLang="en-US" sz="1800" b="1" dirty="0">
                <a:solidFill>
                  <a:srgbClr val="000000"/>
                </a:solidFill>
                <a:latin typeface="Corbel" panose="020B0503020204020204" pitchFamily="34" charset="0"/>
                <a:cs typeface="Arial" panose="020B0604020202020204" pitchFamily="34" charset="0"/>
              </a:rPr>
              <a:t>public class Box&lt;T&gt;</a:t>
            </a:r>
            <a:r>
              <a:rPr lang="en-US" altLang="en-US" sz="1800" dirty="0">
                <a:solidFill>
                  <a:srgbClr val="000000"/>
                </a:solidFill>
                <a:latin typeface="Corbel" panose="020B0503020204020204" pitchFamily="34" charset="0"/>
                <a:cs typeface="Arial" panose="020B0604020202020204" pitchFamily="34" charset="0"/>
              </a:rPr>
              <a:t>". </a:t>
            </a:r>
          </a:p>
          <a:p>
            <a:pPr>
              <a:lnSpc>
                <a:spcPct val="150000"/>
              </a:lnSpc>
            </a:pPr>
            <a:r>
              <a:rPr lang="en-US" altLang="en-US" sz="1800" dirty="0">
                <a:solidFill>
                  <a:srgbClr val="000000"/>
                </a:solidFill>
                <a:latin typeface="Corbel" panose="020B0503020204020204" pitchFamily="34" charset="0"/>
                <a:cs typeface="Arial" panose="020B0604020202020204" pitchFamily="34" charset="0"/>
              </a:rPr>
              <a:t>This introduces the </a:t>
            </a:r>
            <a:r>
              <a:rPr lang="en-US" altLang="en-US" sz="1800" b="1" dirty="0">
                <a:solidFill>
                  <a:srgbClr val="000000"/>
                </a:solidFill>
                <a:latin typeface="Corbel" panose="020B0503020204020204" pitchFamily="34" charset="0"/>
                <a:cs typeface="Arial" panose="020B0604020202020204" pitchFamily="34" charset="0"/>
              </a:rPr>
              <a:t>type variable, T</a:t>
            </a:r>
            <a:r>
              <a:rPr lang="en-US" altLang="en-US" sz="1800" dirty="0">
                <a:solidFill>
                  <a:srgbClr val="000000"/>
                </a:solidFill>
                <a:latin typeface="Corbel" panose="020B0503020204020204" pitchFamily="34" charset="0"/>
                <a:cs typeface="Arial" panose="020B0604020202020204" pitchFamily="34" charset="0"/>
              </a:rPr>
              <a:t>, that can be </a:t>
            </a:r>
            <a:r>
              <a:rPr lang="en-US" altLang="en-US" sz="1800" b="1" dirty="0">
                <a:solidFill>
                  <a:srgbClr val="000000"/>
                </a:solidFill>
                <a:latin typeface="Corbel" panose="020B0503020204020204" pitchFamily="34" charset="0"/>
                <a:cs typeface="Arial" panose="020B0604020202020204" pitchFamily="34" charset="0"/>
              </a:rPr>
              <a:t>used anywhere inside the class</a:t>
            </a:r>
            <a:r>
              <a:rPr lang="en-US" altLang="en-US" sz="1800" dirty="0">
                <a:solidFill>
                  <a:srgbClr val="000000"/>
                </a:solidFill>
                <a:latin typeface="Corbel" panose="020B0503020204020204" pitchFamily="34" charset="0"/>
                <a:cs typeface="Arial" panose="020B0604020202020204" pitchFamily="34" charset="0"/>
              </a:rPr>
              <a:t>. As you can see, all </a:t>
            </a:r>
            <a:r>
              <a:rPr lang="en-US" altLang="en-US" sz="1800" b="1" dirty="0">
                <a:solidFill>
                  <a:srgbClr val="000000"/>
                </a:solidFill>
                <a:latin typeface="Corbel" panose="020B0503020204020204" pitchFamily="34" charset="0"/>
                <a:cs typeface="Arial" panose="020B0604020202020204" pitchFamily="34" charset="0"/>
              </a:rPr>
              <a:t>occurrences of Object are replaced by T</a:t>
            </a:r>
            <a:r>
              <a:rPr lang="en-US" altLang="en-US" sz="1800" dirty="0">
                <a:solidFill>
                  <a:srgbClr val="000000"/>
                </a:solidFill>
                <a:latin typeface="Corbel" panose="020B0503020204020204" pitchFamily="34" charset="0"/>
                <a:cs typeface="Arial" panose="020B0604020202020204" pitchFamily="34" charset="0"/>
              </a:rPr>
              <a:t>. </a:t>
            </a:r>
          </a:p>
          <a:p>
            <a:pPr>
              <a:lnSpc>
                <a:spcPct val="150000"/>
              </a:lnSpc>
            </a:pPr>
            <a:r>
              <a:rPr lang="en-US" altLang="en-US" sz="1800" dirty="0">
                <a:solidFill>
                  <a:srgbClr val="000000"/>
                </a:solidFill>
                <a:latin typeface="Corbel" panose="020B0503020204020204" pitchFamily="34" charset="0"/>
                <a:cs typeface="Arial" panose="020B0604020202020204" pitchFamily="34" charset="0"/>
              </a:rPr>
              <a:t>A type variable can be any </a:t>
            </a:r>
            <a:r>
              <a:rPr lang="en-US" altLang="en-US" sz="1800" b="1" dirty="0">
                <a:solidFill>
                  <a:srgbClr val="000000"/>
                </a:solidFill>
                <a:latin typeface="Corbel" panose="020B0503020204020204" pitchFamily="34" charset="0"/>
                <a:cs typeface="Arial" panose="020B0604020202020204" pitchFamily="34" charset="0"/>
              </a:rPr>
              <a:t>non-primitive</a:t>
            </a:r>
            <a:r>
              <a:rPr lang="en-US" altLang="en-US" sz="1800" dirty="0">
                <a:solidFill>
                  <a:srgbClr val="000000"/>
                </a:solidFill>
                <a:latin typeface="Corbel" panose="020B0503020204020204" pitchFamily="34" charset="0"/>
                <a:cs typeface="Arial" panose="020B0604020202020204" pitchFamily="34" charset="0"/>
              </a:rPr>
              <a:t> </a:t>
            </a:r>
            <a:r>
              <a:rPr lang="en-US" altLang="en-US" sz="1800" b="1" dirty="0">
                <a:solidFill>
                  <a:srgbClr val="000000"/>
                </a:solidFill>
                <a:latin typeface="Corbel" panose="020B0503020204020204" pitchFamily="34" charset="0"/>
                <a:cs typeface="Arial" panose="020B0604020202020204" pitchFamily="34" charset="0"/>
              </a:rPr>
              <a:t>type </a:t>
            </a:r>
            <a:r>
              <a:rPr lang="en-US" altLang="en-US" sz="1800" dirty="0">
                <a:solidFill>
                  <a:srgbClr val="000000"/>
                </a:solidFill>
                <a:latin typeface="Corbel" panose="020B0503020204020204" pitchFamily="34" charset="0"/>
                <a:cs typeface="Arial" panose="020B0604020202020204" pitchFamily="34" charset="0"/>
              </a:rPr>
              <a:t>you specify: any </a:t>
            </a:r>
            <a:r>
              <a:rPr lang="en-US" altLang="en-US" sz="1800" u="sng" dirty="0">
                <a:solidFill>
                  <a:srgbClr val="000000"/>
                </a:solidFill>
                <a:latin typeface="Corbel" panose="020B0503020204020204" pitchFamily="34" charset="0"/>
                <a:cs typeface="Arial" panose="020B0604020202020204" pitchFamily="34" charset="0"/>
              </a:rPr>
              <a:t>class </a:t>
            </a:r>
            <a:r>
              <a:rPr lang="en-US" altLang="en-US" sz="1800" dirty="0">
                <a:solidFill>
                  <a:srgbClr val="000000"/>
                </a:solidFill>
                <a:latin typeface="Corbel" panose="020B0503020204020204" pitchFamily="34" charset="0"/>
                <a:cs typeface="Arial" panose="020B0604020202020204" pitchFamily="34" charset="0"/>
              </a:rPr>
              <a:t>type, any </a:t>
            </a:r>
            <a:r>
              <a:rPr lang="en-US" altLang="en-US" sz="1800" u="sng" dirty="0">
                <a:solidFill>
                  <a:srgbClr val="000000"/>
                </a:solidFill>
                <a:latin typeface="Corbel" panose="020B0503020204020204" pitchFamily="34" charset="0"/>
                <a:cs typeface="Arial" panose="020B0604020202020204" pitchFamily="34" charset="0"/>
              </a:rPr>
              <a:t>interface </a:t>
            </a:r>
            <a:r>
              <a:rPr lang="en-US" altLang="en-US" sz="1800" dirty="0">
                <a:solidFill>
                  <a:srgbClr val="000000"/>
                </a:solidFill>
                <a:latin typeface="Corbel" panose="020B0503020204020204" pitchFamily="34" charset="0"/>
                <a:cs typeface="Arial" panose="020B0604020202020204" pitchFamily="34" charset="0"/>
              </a:rPr>
              <a:t>type, any </a:t>
            </a:r>
            <a:r>
              <a:rPr lang="en-US" altLang="en-US" sz="1800" u="sng" dirty="0">
                <a:solidFill>
                  <a:srgbClr val="000000"/>
                </a:solidFill>
                <a:latin typeface="Corbel" panose="020B0503020204020204" pitchFamily="34" charset="0"/>
                <a:cs typeface="Arial" panose="020B0604020202020204" pitchFamily="34" charset="0"/>
              </a:rPr>
              <a:t>array </a:t>
            </a:r>
            <a:r>
              <a:rPr lang="en-US" altLang="en-US" sz="1800" dirty="0">
                <a:solidFill>
                  <a:srgbClr val="000000"/>
                </a:solidFill>
                <a:latin typeface="Corbel" panose="020B0503020204020204" pitchFamily="34" charset="0"/>
                <a:cs typeface="Arial" panose="020B0604020202020204" pitchFamily="34" charset="0"/>
              </a:rPr>
              <a:t>type, or even </a:t>
            </a:r>
            <a:r>
              <a:rPr lang="en-US" altLang="en-US" sz="1800" u="sng" dirty="0">
                <a:solidFill>
                  <a:srgbClr val="000000"/>
                </a:solidFill>
                <a:latin typeface="Corbel" panose="020B0503020204020204" pitchFamily="34" charset="0"/>
                <a:cs typeface="Arial" panose="020B0604020202020204" pitchFamily="34" charset="0"/>
              </a:rPr>
              <a:t>another type variable</a:t>
            </a:r>
            <a:r>
              <a:rPr lang="en-US" altLang="en-US" sz="1800" dirty="0">
                <a:solidFill>
                  <a:srgbClr val="000000"/>
                </a:solidFill>
                <a:latin typeface="Corbel" panose="020B0503020204020204" pitchFamily="34" charset="0"/>
                <a:cs typeface="Arial" panose="020B0604020202020204" pitchFamily="34" charset="0"/>
              </a:rPr>
              <a:t>.</a:t>
            </a:r>
            <a:endParaRPr lang="en-US" altLang="en-US" sz="1800" dirty="0">
              <a:latin typeface="Corbel" panose="020B0503020204020204" pitchFamily="34" charset="0"/>
            </a:endParaRPr>
          </a:p>
          <a:p>
            <a:pPr>
              <a:lnSpc>
                <a:spcPct val="150000"/>
              </a:lnSpc>
            </a:pPr>
            <a:r>
              <a:rPr lang="en-US" altLang="en-US" sz="1800" b="1" u="sng" dirty="0">
                <a:solidFill>
                  <a:srgbClr val="000000"/>
                </a:solidFill>
                <a:latin typeface="Corbel" panose="020B0503020204020204" pitchFamily="34" charset="0"/>
                <a:cs typeface="Arial" panose="020B0604020202020204" pitchFamily="34" charset="0"/>
              </a:rPr>
              <a:t>This same technique can be applied to create generic interfaces</a:t>
            </a:r>
            <a:r>
              <a:rPr lang="en-US" altLang="en-US" sz="1800" dirty="0">
                <a:solidFill>
                  <a:srgbClr val="000000"/>
                </a:solidFill>
                <a:latin typeface="Corbel" panose="020B0503020204020204" pitchFamily="34" charset="0"/>
                <a:cs typeface="Arial" panose="020B0604020202020204" pitchFamily="34" charset="0"/>
              </a:rPr>
              <a:t>.</a:t>
            </a:r>
            <a:endParaRPr lang="en-US" altLang="en-US" sz="1800" dirty="0">
              <a:latin typeface="Corbel" panose="020B0503020204020204" pitchFamily="34" charset="0"/>
            </a:endParaRPr>
          </a:p>
        </p:txBody>
      </p:sp>
      <p:sp>
        <p:nvSpPr>
          <p:cNvPr id="7" name="Rectangle 6"/>
          <p:cNvSpPr/>
          <p:nvPr/>
        </p:nvSpPr>
        <p:spPr>
          <a:xfrm>
            <a:off x="7586663" y="1415107"/>
            <a:ext cx="4274829" cy="3570208"/>
          </a:xfrm>
          <a:prstGeom prst="rect">
            <a:avLst/>
          </a:prstGeom>
        </p:spPr>
        <p:txBody>
          <a:bodyPr wrap="square">
            <a:spAutoFit/>
          </a:bodyPr>
          <a:lstStyle/>
          <a:p>
            <a:pPr lvl="0" eaLnBrk="0" fontAlgn="base" hangingPunct="0">
              <a:spcBef>
                <a:spcPct val="0"/>
              </a:spcBef>
              <a:spcAft>
                <a:spcPct val="0"/>
              </a:spcAft>
            </a:pPr>
            <a:r>
              <a:rPr lang="en-US" altLang="en-US" dirty="0">
                <a:solidFill>
                  <a:srgbClr val="000000"/>
                </a:solidFill>
                <a:latin typeface="Corbel" panose="020B0503020204020204" pitchFamily="34" charset="0"/>
              </a:rPr>
              <a:t>/** * Generic version of the Box class. </a:t>
            </a:r>
          </a:p>
          <a:p>
            <a:pPr lvl="0" eaLnBrk="0" fontAlgn="base" hangingPunct="0">
              <a:spcBef>
                <a:spcPct val="0"/>
              </a:spcBef>
              <a:spcAft>
                <a:spcPct val="0"/>
              </a:spcAft>
            </a:pPr>
            <a:r>
              <a:rPr lang="en-US" altLang="en-US" dirty="0">
                <a:solidFill>
                  <a:srgbClr val="000000"/>
                </a:solidFill>
                <a:latin typeface="Corbel" panose="020B0503020204020204" pitchFamily="34" charset="0"/>
              </a:rPr>
              <a:t>@</a:t>
            </a:r>
            <a:r>
              <a:rPr lang="en-US" altLang="en-US" dirty="0" err="1">
                <a:solidFill>
                  <a:srgbClr val="000000"/>
                </a:solidFill>
                <a:latin typeface="Corbel" panose="020B0503020204020204" pitchFamily="34" charset="0"/>
              </a:rPr>
              <a:t>param</a:t>
            </a:r>
            <a:r>
              <a:rPr lang="en-US" altLang="en-US" dirty="0">
                <a:solidFill>
                  <a:srgbClr val="000000"/>
                </a:solidFill>
                <a:latin typeface="Corbel" panose="020B0503020204020204" pitchFamily="34" charset="0"/>
              </a:rPr>
              <a:t> &lt;T&gt; the type of the value being boxed </a:t>
            </a:r>
          </a:p>
          <a:p>
            <a:pPr lvl="0" eaLnBrk="0" fontAlgn="base" hangingPunct="0">
              <a:spcBef>
                <a:spcPct val="0"/>
              </a:spcBef>
              <a:spcAft>
                <a:spcPct val="0"/>
              </a:spcAft>
            </a:pPr>
            <a:r>
              <a:rPr lang="en-US" altLang="en-US" dirty="0">
                <a:solidFill>
                  <a:srgbClr val="000000"/>
                </a:solidFill>
                <a:latin typeface="Corbel" panose="020B0503020204020204" pitchFamily="34" charset="0"/>
              </a:rPr>
              <a:t>*/ </a:t>
            </a:r>
          </a:p>
          <a:p>
            <a:pPr lvl="0" eaLnBrk="0" fontAlgn="base" hangingPunct="0">
              <a:spcBef>
                <a:spcPct val="0"/>
              </a:spcBef>
              <a:spcAft>
                <a:spcPct val="0"/>
              </a:spcAft>
            </a:pPr>
            <a:r>
              <a:rPr lang="en-US" altLang="en-US" dirty="0">
                <a:solidFill>
                  <a:srgbClr val="000000"/>
                </a:solidFill>
                <a:latin typeface="Corbel" panose="020B0503020204020204" pitchFamily="34" charset="0"/>
              </a:rPr>
              <a:t>public class Box&lt;T&gt; { </a:t>
            </a:r>
          </a:p>
          <a:p>
            <a:pPr lvl="0" eaLnBrk="0" fontAlgn="base" hangingPunct="0">
              <a:spcBef>
                <a:spcPct val="0"/>
              </a:spcBef>
              <a:spcAft>
                <a:spcPct val="0"/>
              </a:spcAft>
            </a:pPr>
            <a:r>
              <a:rPr lang="en-US" altLang="en-US" dirty="0">
                <a:solidFill>
                  <a:srgbClr val="000000"/>
                </a:solidFill>
                <a:latin typeface="Corbel" panose="020B0503020204020204" pitchFamily="34" charset="0"/>
              </a:rPr>
              <a:t>	// T stands for "Type" </a:t>
            </a:r>
          </a:p>
          <a:p>
            <a:pPr lvl="0" eaLnBrk="0" fontAlgn="base" hangingPunct="0">
              <a:spcBef>
                <a:spcPct val="0"/>
              </a:spcBef>
              <a:spcAft>
                <a:spcPct val="0"/>
              </a:spcAft>
            </a:pPr>
            <a:r>
              <a:rPr lang="en-US" altLang="en-US" dirty="0">
                <a:solidFill>
                  <a:srgbClr val="000000"/>
                </a:solidFill>
                <a:latin typeface="Corbel" panose="020B0503020204020204" pitchFamily="34" charset="0"/>
              </a:rPr>
              <a:t>	private T </a:t>
            </a:r>
            <a:r>
              <a:rPr lang="en-US" altLang="en-US" dirty="0" err="1">
                <a:solidFill>
                  <a:srgbClr val="000000"/>
                </a:solidFill>
                <a:latin typeface="Corbel" panose="020B0503020204020204" pitchFamily="34" charset="0"/>
              </a:rPr>
              <a:t>t</a:t>
            </a:r>
            <a:r>
              <a:rPr lang="en-US" altLang="en-US" dirty="0">
                <a:solidFill>
                  <a:srgbClr val="000000"/>
                </a:solidFill>
                <a:latin typeface="Corbel" panose="020B0503020204020204" pitchFamily="34" charset="0"/>
              </a:rPr>
              <a:t>; </a:t>
            </a:r>
          </a:p>
          <a:p>
            <a:pPr lvl="0" eaLnBrk="0" fontAlgn="base" hangingPunct="0">
              <a:spcBef>
                <a:spcPct val="0"/>
              </a:spcBef>
              <a:spcAft>
                <a:spcPct val="0"/>
              </a:spcAft>
            </a:pPr>
            <a:r>
              <a:rPr lang="en-US" altLang="en-US" dirty="0">
                <a:solidFill>
                  <a:srgbClr val="000000"/>
                </a:solidFill>
                <a:latin typeface="Corbel" panose="020B0503020204020204" pitchFamily="34" charset="0"/>
              </a:rPr>
              <a:t>	public void set(T t) { </a:t>
            </a:r>
          </a:p>
          <a:p>
            <a:pPr lvl="0" eaLnBrk="0" fontAlgn="base" hangingPunct="0">
              <a:spcBef>
                <a:spcPct val="0"/>
              </a:spcBef>
              <a:spcAft>
                <a:spcPct val="0"/>
              </a:spcAft>
            </a:pPr>
            <a:r>
              <a:rPr lang="en-US" altLang="en-US" dirty="0">
                <a:solidFill>
                  <a:srgbClr val="000000"/>
                </a:solidFill>
                <a:latin typeface="Corbel" panose="020B0503020204020204" pitchFamily="34" charset="0"/>
              </a:rPr>
              <a:t>		this.t = t; </a:t>
            </a:r>
          </a:p>
          <a:p>
            <a:pPr lvl="0" eaLnBrk="0" fontAlgn="base" hangingPunct="0">
              <a:spcBef>
                <a:spcPct val="0"/>
              </a:spcBef>
              <a:spcAft>
                <a:spcPct val="0"/>
              </a:spcAft>
            </a:pPr>
            <a:r>
              <a:rPr lang="en-US" altLang="en-US" dirty="0">
                <a:solidFill>
                  <a:srgbClr val="000000"/>
                </a:solidFill>
                <a:latin typeface="Corbel" panose="020B0503020204020204" pitchFamily="34" charset="0"/>
              </a:rPr>
              <a:t>	} </a:t>
            </a:r>
          </a:p>
          <a:p>
            <a:pPr lvl="0" eaLnBrk="0" fontAlgn="base" hangingPunct="0">
              <a:spcBef>
                <a:spcPct val="0"/>
              </a:spcBef>
              <a:spcAft>
                <a:spcPct val="0"/>
              </a:spcAft>
            </a:pPr>
            <a:r>
              <a:rPr lang="en-US" altLang="en-US" dirty="0">
                <a:solidFill>
                  <a:srgbClr val="000000"/>
                </a:solidFill>
                <a:latin typeface="Corbel" panose="020B0503020204020204" pitchFamily="34" charset="0"/>
              </a:rPr>
              <a:t>	public T get() { return t; } </a:t>
            </a:r>
          </a:p>
          <a:p>
            <a:pPr lvl="0" eaLnBrk="0" fontAlgn="base" hangingPunct="0">
              <a:spcBef>
                <a:spcPct val="0"/>
              </a:spcBef>
              <a:spcAft>
                <a:spcPct val="0"/>
              </a:spcAft>
            </a:pPr>
            <a:r>
              <a:rPr lang="en-US" altLang="en-US" dirty="0">
                <a:solidFill>
                  <a:srgbClr val="000000"/>
                </a:solidFill>
                <a:latin typeface="Corbel" panose="020B0503020204020204" pitchFamily="34" charset="0"/>
              </a:rPr>
              <a:t>}</a:t>
            </a:r>
            <a:r>
              <a:rPr lang="en-US" altLang="en-US" sz="2800" dirty="0">
                <a:latin typeface="Corbel" panose="020B0503020204020204" pitchFamily="34" charset="0"/>
              </a:rPr>
              <a:t> </a:t>
            </a:r>
            <a:endParaRPr lang="en-US" altLang="en-US" sz="4400" dirty="0">
              <a:latin typeface="Corbel" panose="020B0503020204020204" pitchFamily="34" charset="0"/>
            </a:endParaRPr>
          </a:p>
        </p:txBody>
      </p:sp>
    </p:spTree>
    <p:extLst>
      <p:ext uri="{BB962C8B-B14F-4D97-AF65-F5344CB8AC3E}">
        <p14:creationId xmlns:p14="http://schemas.microsoft.com/office/powerpoint/2010/main" val="2609827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Type Naming conventions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p:cNvSpPr/>
          <p:nvPr/>
        </p:nvSpPr>
        <p:spPr>
          <a:xfrm>
            <a:off x="364761" y="1362274"/>
            <a:ext cx="11462478" cy="5170646"/>
          </a:xfrm>
          <a:prstGeom prst="rect">
            <a:avLst/>
          </a:prstGeom>
        </p:spPr>
        <p:txBody>
          <a:bodyPr wrap="square">
            <a:spAutoFit/>
          </a:bodyPr>
          <a:lstStyle/>
          <a:p>
            <a:pPr lvl="0" eaLnBrk="0" fontAlgn="base" hangingPunct="0">
              <a:lnSpc>
                <a:spcPct val="150000"/>
              </a:lnSpc>
              <a:spcBef>
                <a:spcPct val="0"/>
              </a:spcBef>
              <a:spcAft>
                <a:spcPct val="0"/>
              </a:spcAft>
            </a:pPr>
            <a:r>
              <a:rPr lang="en-US" altLang="en-US" sz="2000" dirty="0">
                <a:solidFill>
                  <a:srgbClr val="000000"/>
                </a:solidFill>
                <a:latin typeface="Corbel" panose="020B0503020204020204" pitchFamily="34" charset="0"/>
                <a:cs typeface="Arial" panose="020B0604020202020204" pitchFamily="34" charset="0"/>
              </a:rPr>
              <a:t>By convention, type parameter names are single, uppercase letters. </a:t>
            </a:r>
          </a:p>
          <a:p>
            <a:pPr lvl="0" eaLnBrk="0" fontAlgn="base" hangingPunct="0">
              <a:lnSpc>
                <a:spcPct val="150000"/>
              </a:lnSpc>
              <a:spcBef>
                <a:spcPct val="0"/>
              </a:spcBef>
              <a:spcAft>
                <a:spcPct val="0"/>
              </a:spcAft>
            </a:pPr>
            <a:r>
              <a:rPr lang="en-US" altLang="en-US" sz="2000" dirty="0">
                <a:solidFill>
                  <a:srgbClr val="000000"/>
                </a:solidFill>
                <a:latin typeface="Corbel" panose="020B0503020204020204" pitchFamily="34" charset="0"/>
                <a:cs typeface="Arial" panose="020B0604020202020204" pitchFamily="34" charset="0"/>
              </a:rPr>
              <a:t>This stands in sharp contrast to the variable </a:t>
            </a:r>
            <a:r>
              <a:rPr lang="en-US" altLang="en-US" sz="2000" dirty="0">
                <a:solidFill>
                  <a:srgbClr val="3A87CF"/>
                </a:solidFill>
                <a:latin typeface="Corbel" panose="020B0503020204020204" pitchFamily="34" charset="0"/>
                <a:cs typeface="Arial" panose="020B0604020202020204" pitchFamily="34" charset="0"/>
                <a:hlinkClick r:id="rId2"/>
              </a:rPr>
              <a:t>naming</a:t>
            </a:r>
            <a:r>
              <a:rPr lang="en-US" altLang="en-US" sz="2000" dirty="0">
                <a:solidFill>
                  <a:srgbClr val="000000"/>
                </a:solidFill>
                <a:latin typeface="Corbel" panose="020B0503020204020204" pitchFamily="34" charset="0"/>
                <a:cs typeface="Arial" panose="020B0604020202020204" pitchFamily="34" charset="0"/>
              </a:rPr>
              <a:t> conventions that you already know about, and with good reason: Without this convention, it would be difficult to tell the difference between a type variable and an ordinary class or interface name.</a:t>
            </a:r>
            <a:endParaRPr lang="en-US" altLang="en-US" sz="2000" dirty="0">
              <a:latin typeface="Corbel" panose="020B0503020204020204" pitchFamily="34" charset="0"/>
            </a:endParaRPr>
          </a:p>
          <a:p>
            <a:pPr lvl="0" eaLnBrk="0" fontAlgn="base" hangingPunct="0">
              <a:lnSpc>
                <a:spcPct val="150000"/>
              </a:lnSpc>
              <a:spcBef>
                <a:spcPct val="0"/>
              </a:spcBef>
              <a:spcAft>
                <a:spcPct val="0"/>
              </a:spcAft>
            </a:pPr>
            <a:r>
              <a:rPr lang="en-US" altLang="en-US" sz="2000" dirty="0">
                <a:solidFill>
                  <a:srgbClr val="000000"/>
                </a:solidFill>
                <a:latin typeface="Corbel" panose="020B0503020204020204" pitchFamily="34" charset="0"/>
                <a:cs typeface="Arial" panose="020B0604020202020204" pitchFamily="34" charset="0"/>
              </a:rPr>
              <a:t>The most commonly used type parameter names are:</a:t>
            </a:r>
            <a:endParaRPr lang="en-US" altLang="en-US" sz="2000" dirty="0">
              <a:latin typeface="Corbel" panose="020B0503020204020204" pitchFamily="34" charset="0"/>
            </a:endParaRPr>
          </a:p>
          <a:p>
            <a:pPr lvl="0" eaLnBrk="0" fontAlgn="base" hangingPunct="0">
              <a:lnSpc>
                <a:spcPct val="150000"/>
              </a:lnSpc>
              <a:spcBef>
                <a:spcPct val="0"/>
              </a:spcBef>
              <a:spcAft>
                <a:spcPct val="0"/>
              </a:spcAft>
              <a:buFontTx/>
              <a:buChar char="•"/>
            </a:pPr>
            <a:r>
              <a:rPr lang="en-US" altLang="en-US" sz="2000" dirty="0">
                <a:solidFill>
                  <a:srgbClr val="000000"/>
                </a:solidFill>
                <a:latin typeface="Corbel" panose="020B0503020204020204" pitchFamily="34" charset="0"/>
                <a:cs typeface="Arial" panose="020B0604020202020204" pitchFamily="34" charset="0"/>
              </a:rPr>
              <a:t>E - Element (used extensively by the Java Collections Framework)</a:t>
            </a:r>
          </a:p>
          <a:p>
            <a:pPr lvl="0" eaLnBrk="0" fontAlgn="base" hangingPunct="0">
              <a:lnSpc>
                <a:spcPct val="150000"/>
              </a:lnSpc>
              <a:spcBef>
                <a:spcPct val="0"/>
              </a:spcBef>
              <a:spcAft>
                <a:spcPct val="0"/>
              </a:spcAft>
              <a:buFontTx/>
              <a:buChar char="•"/>
            </a:pPr>
            <a:r>
              <a:rPr lang="en-US" altLang="en-US" sz="2000" dirty="0">
                <a:solidFill>
                  <a:srgbClr val="000000"/>
                </a:solidFill>
                <a:latin typeface="Corbel" panose="020B0503020204020204" pitchFamily="34" charset="0"/>
                <a:cs typeface="Arial" panose="020B0604020202020204" pitchFamily="34" charset="0"/>
              </a:rPr>
              <a:t>K - Key</a:t>
            </a:r>
          </a:p>
          <a:p>
            <a:pPr lvl="0" eaLnBrk="0" fontAlgn="base" hangingPunct="0">
              <a:lnSpc>
                <a:spcPct val="150000"/>
              </a:lnSpc>
              <a:spcBef>
                <a:spcPct val="0"/>
              </a:spcBef>
              <a:spcAft>
                <a:spcPct val="0"/>
              </a:spcAft>
              <a:buFontTx/>
              <a:buChar char="•"/>
            </a:pPr>
            <a:r>
              <a:rPr lang="en-US" altLang="en-US" sz="2000" dirty="0">
                <a:solidFill>
                  <a:srgbClr val="000000"/>
                </a:solidFill>
                <a:latin typeface="Corbel" panose="020B0503020204020204" pitchFamily="34" charset="0"/>
                <a:cs typeface="Arial" panose="020B0604020202020204" pitchFamily="34" charset="0"/>
              </a:rPr>
              <a:t>N - Number</a:t>
            </a:r>
          </a:p>
          <a:p>
            <a:pPr lvl="0" eaLnBrk="0" fontAlgn="base" hangingPunct="0">
              <a:lnSpc>
                <a:spcPct val="150000"/>
              </a:lnSpc>
              <a:spcBef>
                <a:spcPct val="0"/>
              </a:spcBef>
              <a:spcAft>
                <a:spcPct val="0"/>
              </a:spcAft>
              <a:buFontTx/>
              <a:buChar char="•"/>
            </a:pPr>
            <a:r>
              <a:rPr lang="en-US" altLang="en-US" sz="2000" dirty="0">
                <a:solidFill>
                  <a:srgbClr val="000000"/>
                </a:solidFill>
                <a:latin typeface="Corbel" panose="020B0503020204020204" pitchFamily="34" charset="0"/>
                <a:cs typeface="Arial" panose="020B0604020202020204" pitchFamily="34" charset="0"/>
              </a:rPr>
              <a:t>T - Type</a:t>
            </a:r>
          </a:p>
          <a:p>
            <a:pPr lvl="0" eaLnBrk="0" fontAlgn="base" hangingPunct="0">
              <a:lnSpc>
                <a:spcPct val="150000"/>
              </a:lnSpc>
              <a:spcBef>
                <a:spcPct val="0"/>
              </a:spcBef>
              <a:spcAft>
                <a:spcPct val="0"/>
              </a:spcAft>
              <a:buFontTx/>
              <a:buChar char="•"/>
            </a:pPr>
            <a:r>
              <a:rPr lang="en-US" altLang="en-US" sz="2000" dirty="0">
                <a:solidFill>
                  <a:srgbClr val="000000"/>
                </a:solidFill>
                <a:latin typeface="Corbel" panose="020B0503020204020204" pitchFamily="34" charset="0"/>
                <a:cs typeface="Arial" panose="020B0604020202020204" pitchFamily="34" charset="0"/>
              </a:rPr>
              <a:t>V - Value</a:t>
            </a:r>
          </a:p>
          <a:p>
            <a:pPr lvl="0" eaLnBrk="0" fontAlgn="base" hangingPunct="0">
              <a:lnSpc>
                <a:spcPct val="150000"/>
              </a:lnSpc>
              <a:spcBef>
                <a:spcPct val="0"/>
              </a:spcBef>
              <a:spcAft>
                <a:spcPct val="0"/>
              </a:spcAft>
              <a:buFontTx/>
              <a:buChar char="•"/>
            </a:pPr>
            <a:r>
              <a:rPr lang="en-US" altLang="en-US" sz="2000" dirty="0">
                <a:solidFill>
                  <a:srgbClr val="000000"/>
                </a:solidFill>
                <a:latin typeface="Corbel" panose="020B0503020204020204" pitchFamily="34" charset="0"/>
                <a:cs typeface="Arial" panose="020B0604020202020204" pitchFamily="34" charset="0"/>
              </a:rPr>
              <a:t>S,U,V etc. - 2nd, 3rd, 4th types</a:t>
            </a:r>
          </a:p>
        </p:txBody>
      </p:sp>
    </p:spTree>
    <p:extLst>
      <p:ext uri="{BB962C8B-B14F-4D97-AF65-F5344CB8AC3E}">
        <p14:creationId xmlns:p14="http://schemas.microsoft.com/office/powerpoint/2010/main" val="3462225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Invoking &amp; Instantiating Generic Type</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p:cNvSpPr/>
          <p:nvPr/>
        </p:nvSpPr>
        <p:spPr>
          <a:xfrm>
            <a:off x="364761" y="1362274"/>
            <a:ext cx="11462478" cy="5262979"/>
          </a:xfrm>
          <a:prstGeom prst="rect">
            <a:avLst/>
          </a:prstGeom>
        </p:spPr>
        <p:txBody>
          <a:bodyPr wrap="square">
            <a:spAutoFit/>
          </a:bodyPr>
          <a:lstStyle/>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rgbClr val="000000"/>
                </a:solidFill>
                <a:latin typeface="Corbel" panose="020B0503020204020204" pitchFamily="34" charset="0"/>
                <a:cs typeface="Arial" panose="020B0604020202020204" pitchFamily="34" charset="0"/>
              </a:rPr>
              <a:t>To </a:t>
            </a:r>
            <a:r>
              <a:rPr lang="en-US" altLang="en-US" sz="1600" b="1" dirty="0">
                <a:solidFill>
                  <a:srgbClr val="000000"/>
                </a:solidFill>
                <a:latin typeface="Corbel" panose="020B0503020204020204" pitchFamily="34" charset="0"/>
                <a:cs typeface="Arial" panose="020B0604020202020204" pitchFamily="34" charset="0"/>
              </a:rPr>
              <a:t>reference the generic Box class </a:t>
            </a:r>
            <a:r>
              <a:rPr lang="en-US" altLang="en-US" sz="1600" dirty="0">
                <a:solidFill>
                  <a:srgbClr val="000000"/>
                </a:solidFill>
                <a:latin typeface="Corbel" panose="020B0503020204020204" pitchFamily="34" charset="0"/>
                <a:cs typeface="Arial" panose="020B0604020202020204" pitchFamily="34" charset="0"/>
              </a:rPr>
              <a:t>from within your code, you must </a:t>
            </a:r>
            <a:r>
              <a:rPr lang="en-US" altLang="en-US" sz="1600" b="1" dirty="0">
                <a:solidFill>
                  <a:srgbClr val="000000"/>
                </a:solidFill>
                <a:latin typeface="Corbel" panose="020B0503020204020204" pitchFamily="34" charset="0"/>
                <a:cs typeface="Arial" panose="020B0604020202020204" pitchFamily="34" charset="0"/>
              </a:rPr>
              <a:t>perform a </a:t>
            </a:r>
            <a:r>
              <a:rPr lang="en-US" altLang="en-US" sz="1600" b="1" i="1" dirty="0">
                <a:solidFill>
                  <a:srgbClr val="000000"/>
                </a:solidFill>
                <a:latin typeface="Corbel" panose="020B0503020204020204" pitchFamily="34" charset="0"/>
                <a:cs typeface="Arial" panose="020B0604020202020204" pitchFamily="34" charset="0"/>
              </a:rPr>
              <a:t>generic type invocation</a:t>
            </a:r>
            <a:r>
              <a:rPr lang="en-US" altLang="en-US" sz="1600" dirty="0">
                <a:solidFill>
                  <a:srgbClr val="000000"/>
                </a:solidFill>
                <a:latin typeface="Corbel" panose="020B0503020204020204" pitchFamily="34" charset="0"/>
                <a:cs typeface="Arial" panose="020B0604020202020204" pitchFamily="34" charset="0"/>
              </a:rPr>
              <a:t>, which replaces </a:t>
            </a:r>
            <a:r>
              <a:rPr lang="en-US" altLang="en-US" sz="1600" b="1" dirty="0">
                <a:solidFill>
                  <a:srgbClr val="000000"/>
                </a:solidFill>
                <a:latin typeface="Corbel" panose="020B0503020204020204" pitchFamily="34" charset="0"/>
                <a:cs typeface="Arial" panose="020B0604020202020204" pitchFamily="34" charset="0"/>
              </a:rPr>
              <a:t>T</a:t>
            </a:r>
            <a:r>
              <a:rPr lang="en-US" altLang="en-US" sz="1600" dirty="0">
                <a:solidFill>
                  <a:srgbClr val="000000"/>
                </a:solidFill>
                <a:latin typeface="Corbel" panose="020B0503020204020204" pitchFamily="34" charset="0"/>
                <a:cs typeface="Arial" panose="020B0604020202020204" pitchFamily="34" charset="0"/>
              </a:rPr>
              <a:t> with some </a:t>
            </a:r>
            <a:r>
              <a:rPr lang="en-US" altLang="en-US" sz="1600" b="1" dirty="0">
                <a:solidFill>
                  <a:srgbClr val="000000"/>
                </a:solidFill>
                <a:latin typeface="Corbel" panose="020B0503020204020204" pitchFamily="34" charset="0"/>
                <a:cs typeface="Arial" panose="020B0604020202020204" pitchFamily="34" charset="0"/>
              </a:rPr>
              <a:t>concrete value</a:t>
            </a:r>
            <a:r>
              <a:rPr lang="en-US" altLang="en-US" sz="1600" dirty="0">
                <a:solidFill>
                  <a:srgbClr val="000000"/>
                </a:solidFill>
                <a:latin typeface="Corbel" panose="020B0503020204020204" pitchFamily="34" charset="0"/>
                <a:cs typeface="Arial" panose="020B0604020202020204" pitchFamily="34" charset="0"/>
              </a:rPr>
              <a:t>, such as Integer: </a:t>
            </a:r>
            <a:r>
              <a:rPr lang="en-US" altLang="en-US" sz="1600" b="1" i="1" dirty="0">
                <a:solidFill>
                  <a:srgbClr val="000000"/>
                </a:solidFill>
                <a:latin typeface="Corbel" panose="020B0503020204020204" pitchFamily="34" charset="0"/>
              </a:rPr>
              <a:t>Box&lt;Integer&gt; </a:t>
            </a:r>
            <a:r>
              <a:rPr lang="en-US" altLang="en-US" sz="1600" b="1" i="1" dirty="0" err="1">
                <a:solidFill>
                  <a:srgbClr val="000000"/>
                </a:solidFill>
                <a:latin typeface="Corbel" panose="020B0503020204020204" pitchFamily="34" charset="0"/>
              </a:rPr>
              <a:t>integerBox</a:t>
            </a:r>
            <a:r>
              <a:rPr lang="en-US" altLang="en-US" sz="1600" dirty="0">
                <a:solidFill>
                  <a:srgbClr val="000000"/>
                </a:solidFill>
                <a:latin typeface="Corbel" panose="020B0503020204020204" pitchFamily="34" charset="0"/>
              </a:rPr>
              <a:t>; </a:t>
            </a:r>
            <a:endParaRPr lang="en-US" altLang="en-US" sz="1600" dirty="0">
              <a:latin typeface="Corbel" panose="020B0503020204020204" pitchFamily="34" charset="0"/>
            </a:endParaRP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rgbClr val="000000"/>
                </a:solidFill>
                <a:latin typeface="Corbel" panose="020B0503020204020204" pitchFamily="34" charset="0"/>
                <a:cs typeface="Arial" panose="020B0604020202020204" pitchFamily="34" charset="0"/>
              </a:rPr>
              <a:t>You can think of </a:t>
            </a:r>
            <a:r>
              <a:rPr lang="en-US" altLang="en-US" sz="1600" b="1" dirty="0">
                <a:solidFill>
                  <a:srgbClr val="000000"/>
                </a:solidFill>
                <a:latin typeface="Corbel" panose="020B0503020204020204" pitchFamily="34" charset="0"/>
                <a:cs typeface="Arial" panose="020B0604020202020204" pitchFamily="34" charset="0"/>
              </a:rPr>
              <a:t>a generic type invocation </a:t>
            </a:r>
            <a:r>
              <a:rPr lang="en-US" altLang="en-US" sz="1600" dirty="0">
                <a:solidFill>
                  <a:srgbClr val="000000"/>
                </a:solidFill>
                <a:latin typeface="Corbel" panose="020B0503020204020204" pitchFamily="34" charset="0"/>
                <a:cs typeface="Arial" panose="020B0604020202020204" pitchFamily="34" charset="0"/>
              </a:rPr>
              <a:t>as </a:t>
            </a:r>
            <a:r>
              <a:rPr lang="en-US" altLang="en-US" sz="1600" b="1" dirty="0">
                <a:solidFill>
                  <a:srgbClr val="000000"/>
                </a:solidFill>
                <a:latin typeface="Corbel" panose="020B0503020204020204" pitchFamily="34" charset="0"/>
                <a:cs typeface="Arial" panose="020B0604020202020204" pitchFamily="34" charset="0"/>
              </a:rPr>
              <a:t>being similar to an ordinary method invocation</a:t>
            </a:r>
            <a:r>
              <a:rPr lang="en-US" altLang="en-US" sz="1600" dirty="0">
                <a:solidFill>
                  <a:srgbClr val="000000"/>
                </a:solidFill>
                <a:latin typeface="Corbel" panose="020B0503020204020204" pitchFamily="34" charset="0"/>
                <a:cs typeface="Arial" panose="020B0604020202020204" pitchFamily="34" charset="0"/>
              </a:rPr>
              <a:t>, but </a:t>
            </a:r>
            <a:r>
              <a:rPr lang="en-US" altLang="en-US" sz="1600" b="1" dirty="0">
                <a:solidFill>
                  <a:srgbClr val="000000"/>
                </a:solidFill>
                <a:latin typeface="Corbel" panose="020B0503020204020204" pitchFamily="34" charset="0"/>
                <a:cs typeface="Arial" panose="020B0604020202020204" pitchFamily="34" charset="0"/>
              </a:rPr>
              <a:t>instead of passing an argument </a:t>
            </a:r>
            <a:r>
              <a:rPr lang="en-US" altLang="en-US" sz="1600" dirty="0">
                <a:solidFill>
                  <a:srgbClr val="000000"/>
                </a:solidFill>
                <a:latin typeface="Corbel" panose="020B0503020204020204" pitchFamily="34" charset="0"/>
                <a:cs typeface="Arial" panose="020B0604020202020204" pitchFamily="34" charset="0"/>
              </a:rPr>
              <a:t>to a method, you are </a:t>
            </a:r>
            <a:r>
              <a:rPr lang="en-US" altLang="en-US" sz="1600" b="1" dirty="0">
                <a:solidFill>
                  <a:srgbClr val="000000"/>
                </a:solidFill>
                <a:latin typeface="Corbel" panose="020B0503020204020204" pitchFamily="34" charset="0"/>
                <a:cs typeface="Arial" panose="020B0604020202020204" pitchFamily="34" charset="0"/>
              </a:rPr>
              <a:t>passing a </a:t>
            </a:r>
            <a:r>
              <a:rPr lang="en-US" altLang="en-US" sz="1600" b="1" i="1" dirty="0">
                <a:solidFill>
                  <a:srgbClr val="000000"/>
                </a:solidFill>
                <a:latin typeface="Corbel" panose="020B0503020204020204" pitchFamily="34" charset="0"/>
                <a:cs typeface="Arial" panose="020B0604020202020204" pitchFamily="34" charset="0"/>
              </a:rPr>
              <a:t>type argument</a:t>
            </a:r>
            <a:r>
              <a:rPr lang="en-US" altLang="en-US" sz="1600" dirty="0">
                <a:solidFill>
                  <a:srgbClr val="000000"/>
                </a:solidFill>
                <a:latin typeface="Corbel" panose="020B0503020204020204" pitchFamily="34" charset="0"/>
                <a:cs typeface="Arial" panose="020B0604020202020204" pitchFamily="34" charset="0"/>
              </a:rPr>
              <a:t> — Integer in this case — to the Box class itself.</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rgbClr val="000000"/>
                </a:solidFill>
                <a:latin typeface="Corbel" panose="020B0503020204020204" pitchFamily="34" charset="0"/>
                <a:cs typeface="Arial" panose="020B0604020202020204" pitchFamily="34" charset="0"/>
              </a:rPr>
              <a:t>Like any </a:t>
            </a:r>
            <a:r>
              <a:rPr lang="en-US" altLang="en-US" sz="1600" b="1" dirty="0">
                <a:solidFill>
                  <a:srgbClr val="000000"/>
                </a:solidFill>
                <a:latin typeface="Corbel" panose="020B0503020204020204" pitchFamily="34" charset="0"/>
                <a:cs typeface="Arial" panose="020B0604020202020204" pitchFamily="34" charset="0"/>
              </a:rPr>
              <a:t>other variable declaration</a:t>
            </a:r>
            <a:r>
              <a:rPr lang="en-US" altLang="en-US" sz="1600" dirty="0">
                <a:solidFill>
                  <a:srgbClr val="000000"/>
                </a:solidFill>
                <a:latin typeface="Corbel" panose="020B0503020204020204" pitchFamily="34" charset="0"/>
                <a:cs typeface="Arial" panose="020B0604020202020204" pitchFamily="34" charset="0"/>
              </a:rPr>
              <a:t>, this </a:t>
            </a:r>
            <a:r>
              <a:rPr lang="en-US" altLang="en-US" sz="1600" b="1" dirty="0">
                <a:solidFill>
                  <a:srgbClr val="000000"/>
                </a:solidFill>
                <a:latin typeface="Corbel" panose="020B0503020204020204" pitchFamily="34" charset="0"/>
                <a:cs typeface="Arial" panose="020B0604020202020204" pitchFamily="34" charset="0"/>
              </a:rPr>
              <a:t>code does not actually create a new Box object</a:t>
            </a:r>
            <a:r>
              <a:rPr lang="en-US" altLang="en-US" sz="1600" dirty="0">
                <a:solidFill>
                  <a:srgbClr val="000000"/>
                </a:solidFill>
                <a:latin typeface="Corbel" panose="020B0503020204020204" pitchFamily="34" charset="0"/>
                <a:cs typeface="Arial" panose="020B0604020202020204" pitchFamily="34" charset="0"/>
              </a:rPr>
              <a:t>. It </a:t>
            </a:r>
            <a:r>
              <a:rPr lang="en-US" altLang="en-US" sz="1600" b="1" dirty="0">
                <a:solidFill>
                  <a:srgbClr val="000000"/>
                </a:solidFill>
                <a:latin typeface="Corbel" panose="020B0503020204020204" pitchFamily="34" charset="0"/>
                <a:cs typeface="Arial" panose="020B0604020202020204" pitchFamily="34" charset="0"/>
              </a:rPr>
              <a:t>simply declares that </a:t>
            </a:r>
            <a:r>
              <a:rPr lang="en-US" altLang="en-US" sz="1600" b="1" dirty="0" err="1">
                <a:solidFill>
                  <a:srgbClr val="000000"/>
                </a:solidFill>
                <a:latin typeface="Corbel" panose="020B0503020204020204" pitchFamily="34" charset="0"/>
                <a:cs typeface="Arial" panose="020B0604020202020204" pitchFamily="34" charset="0"/>
              </a:rPr>
              <a:t>integerBox</a:t>
            </a:r>
            <a:r>
              <a:rPr lang="en-US" altLang="en-US" sz="1600" dirty="0">
                <a:solidFill>
                  <a:srgbClr val="000000"/>
                </a:solidFill>
                <a:latin typeface="Corbel" panose="020B0503020204020204" pitchFamily="34" charset="0"/>
                <a:cs typeface="Arial" panose="020B0604020202020204" pitchFamily="34" charset="0"/>
              </a:rPr>
              <a:t> will </a:t>
            </a:r>
            <a:r>
              <a:rPr lang="en-US" altLang="en-US" sz="1600" b="1" dirty="0">
                <a:solidFill>
                  <a:srgbClr val="000000"/>
                </a:solidFill>
                <a:latin typeface="Corbel" panose="020B0503020204020204" pitchFamily="34" charset="0"/>
                <a:cs typeface="Arial" panose="020B0604020202020204" pitchFamily="34" charset="0"/>
              </a:rPr>
              <a:t>hold a reference to a "Box of Integer"</a:t>
            </a:r>
            <a:r>
              <a:rPr lang="en-US" altLang="en-US" sz="1600" dirty="0">
                <a:solidFill>
                  <a:srgbClr val="000000"/>
                </a:solidFill>
                <a:latin typeface="Corbel" panose="020B0503020204020204" pitchFamily="34" charset="0"/>
                <a:cs typeface="Arial" panose="020B0604020202020204" pitchFamily="34" charset="0"/>
              </a:rPr>
              <a:t>, which is how Box&lt;Integer&gt; is read.</a:t>
            </a:r>
            <a:endParaRPr lang="en-US" altLang="en-US" sz="1600" dirty="0">
              <a:latin typeface="Corbel" panose="020B0503020204020204" pitchFamily="34" charset="0"/>
            </a:endParaRP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rgbClr val="000000"/>
                </a:solidFill>
                <a:latin typeface="Corbel" panose="020B0503020204020204" pitchFamily="34" charset="0"/>
                <a:cs typeface="Arial" panose="020B0604020202020204" pitchFamily="34" charset="0"/>
              </a:rPr>
              <a:t>To </a:t>
            </a:r>
            <a:r>
              <a:rPr lang="en-US" altLang="en-US" sz="1600" b="1" dirty="0">
                <a:solidFill>
                  <a:srgbClr val="000000"/>
                </a:solidFill>
                <a:latin typeface="Corbel" panose="020B0503020204020204" pitchFamily="34" charset="0"/>
                <a:cs typeface="Arial" panose="020B0604020202020204" pitchFamily="34" charset="0"/>
              </a:rPr>
              <a:t>instantiate this class</a:t>
            </a:r>
            <a:r>
              <a:rPr lang="en-US" altLang="en-US" sz="1600" dirty="0">
                <a:solidFill>
                  <a:srgbClr val="000000"/>
                </a:solidFill>
                <a:latin typeface="Corbel" panose="020B0503020204020204" pitchFamily="34" charset="0"/>
                <a:cs typeface="Arial" panose="020B0604020202020204" pitchFamily="34" charset="0"/>
              </a:rPr>
              <a:t>, use the </a:t>
            </a:r>
            <a:r>
              <a:rPr lang="en-US" altLang="en-US" sz="1600" b="1" dirty="0">
                <a:solidFill>
                  <a:srgbClr val="000000"/>
                </a:solidFill>
                <a:latin typeface="Corbel" panose="020B0503020204020204" pitchFamily="34" charset="0"/>
                <a:cs typeface="Arial" panose="020B0604020202020204" pitchFamily="34" charset="0"/>
              </a:rPr>
              <a:t>new keyword, as usual</a:t>
            </a:r>
            <a:r>
              <a:rPr lang="en-US" altLang="en-US" sz="1600" dirty="0">
                <a:solidFill>
                  <a:srgbClr val="000000"/>
                </a:solidFill>
                <a:latin typeface="Corbel" panose="020B0503020204020204" pitchFamily="34" charset="0"/>
                <a:cs typeface="Arial" panose="020B0604020202020204" pitchFamily="34" charset="0"/>
              </a:rPr>
              <a:t>, but </a:t>
            </a:r>
            <a:r>
              <a:rPr lang="en-US" altLang="en-US" sz="1600" b="1" dirty="0">
                <a:solidFill>
                  <a:srgbClr val="000000"/>
                </a:solidFill>
                <a:latin typeface="Corbel" panose="020B0503020204020204" pitchFamily="34" charset="0"/>
                <a:cs typeface="Arial" panose="020B0604020202020204" pitchFamily="34" charset="0"/>
              </a:rPr>
              <a:t>place &lt;Integer&gt;</a:t>
            </a:r>
            <a:r>
              <a:rPr lang="en-US" altLang="en-US" sz="1600" dirty="0">
                <a:solidFill>
                  <a:srgbClr val="000000"/>
                </a:solidFill>
                <a:latin typeface="Corbel" panose="020B0503020204020204" pitchFamily="34" charset="0"/>
                <a:cs typeface="Arial" panose="020B0604020202020204" pitchFamily="34" charset="0"/>
              </a:rPr>
              <a:t> between the </a:t>
            </a:r>
            <a:r>
              <a:rPr lang="en-US" altLang="en-US" sz="1600" b="1" dirty="0">
                <a:solidFill>
                  <a:srgbClr val="000000"/>
                </a:solidFill>
                <a:latin typeface="Corbel" panose="020B0503020204020204" pitchFamily="34" charset="0"/>
                <a:cs typeface="Arial" panose="020B0604020202020204" pitchFamily="34" charset="0"/>
              </a:rPr>
              <a:t>class name and the parenthesis</a:t>
            </a:r>
            <a:r>
              <a:rPr lang="en-US" altLang="en-US" sz="1600" dirty="0">
                <a:solidFill>
                  <a:srgbClr val="000000"/>
                </a:solidFill>
                <a:latin typeface="Corbel" panose="020B0503020204020204" pitchFamily="34" charset="0"/>
                <a:cs typeface="Arial" panose="020B0604020202020204" pitchFamily="34" charset="0"/>
              </a:rPr>
              <a:t>:</a:t>
            </a:r>
            <a:endParaRPr lang="en-US" altLang="en-US" sz="1600" dirty="0">
              <a:latin typeface="Corbel" panose="020B0503020204020204" pitchFamily="34" charset="0"/>
            </a:endParaRP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b="1" i="1" dirty="0">
                <a:solidFill>
                  <a:srgbClr val="FF0000"/>
                </a:solidFill>
                <a:latin typeface="Corbel" panose="020B0503020204020204" pitchFamily="34" charset="0"/>
              </a:rPr>
              <a:t>Box&lt;Integer&gt; </a:t>
            </a:r>
            <a:r>
              <a:rPr lang="en-US" altLang="en-US" sz="1600" b="1" i="1" dirty="0" err="1">
                <a:solidFill>
                  <a:srgbClr val="FF0000"/>
                </a:solidFill>
                <a:latin typeface="Corbel" panose="020B0503020204020204" pitchFamily="34" charset="0"/>
              </a:rPr>
              <a:t>integerBox</a:t>
            </a:r>
            <a:r>
              <a:rPr lang="en-US" altLang="en-US" sz="1600" b="1" i="1" dirty="0">
                <a:solidFill>
                  <a:srgbClr val="FF0000"/>
                </a:solidFill>
                <a:latin typeface="Corbel" panose="020B0503020204020204" pitchFamily="34" charset="0"/>
              </a:rPr>
              <a:t> = new Box&lt;Integer&gt;(); </a:t>
            </a:r>
            <a:endParaRPr lang="en-US" altLang="en-US" sz="1600" b="1" i="1" dirty="0">
              <a:solidFill>
                <a:srgbClr val="FF0000"/>
              </a:solidFill>
              <a:latin typeface="Corbel" panose="020B0503020204020204" pitchFamily="34" charset="0"/>
              <a:cs typeface="Arial" panose="020B0604020202020204" pitchFamily="34" charset="0"/>
            </a:endParaRP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b="1" dirty="0">
                <a:solidFill>
                  <a:srgbClr val="333333"/>
                </a:solidFill>
                <a:latin typeface="Corbel" panose="020B0503020204020204" pitchFamily="34" charset="0"/>
                <a:cs typeface="Arial" panose="020B0604020202020204" pitchFamily="34" charset="0"/>
              </a:rPr>
              <a:t>T</a:t>
            </a:r>
            <a:r>
              <a:rPr lang="en-US" altLang="en-US" sz="1600" b="1" dirty="0" bmk="">
                <a:solidFill>
                  <a:srgbClr val="333333"/>
                </a:solidFill>
                <a:latin typeface="Corbel" panose="020B0503020204020204" pitchFamily="34" charset="0"/>
                <a:cs typeface="Arial" panose="020B0604020202020204" pitchFamily="34" charset="0"/>
              </a:rPr>
              <a:t>he Diamond</a:t>
            </a:r>
            <a:endParaRPr lang="en-US" altLang="en-US" sz="1600" b="1" dirty="0">
              <a:solidFill>
                <a:srgbClr val="333333"/>
              </a:solidFill>
              <a:latin typeface="Corbel" panose="020B0503020204020204" pitchFamily="34" charset="0"/>
              <a:cs typeface="Arial" panose="020B0604020202020204" pitchFamily="34" charset="0"/>
            </a:endParaRP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rgbClr val="000000"/>
                </a:solidFill>
                <a:latin typeface="Corbel" panose="020B0503020204020204" pitchFamily="34" charset="0"/>
                <a:cs typeface="Arial" panose="020B0604020202020204" pitchFamily="34" charset="0"/>
              </a:rPr>
              <a:t>In </a:t>
            </a:r>
            <a:r>
              <a:rPr lang="en-US" altLang="en-US" sz="1600" b="1" dirty="0">
                <a:solidFill>
                  <a:srgbClr val="000000"/>
                </a:solidFill>
                <a:latin typeface="Corbel" panose="020B0503020204020204" pitchFamily="34" charset="0"/>
                <a:cs typeface="Arial" panose="020B0604020202020204" pitchFamily="34" charset="0"/>
              </a:rPr>
              <a:t>Java SE 7 and later</a:t>
            </a:r>
            <a:r>
              <a:rPr lang="en-US" altLang="en-US" sz="1600" dirty="0">
                <a:solidFill>
                  <a:srgbClr val="000000"/>
                </a:solidFill>
                <a:latin typeface="Corbel" panose="020B0503020204020204" pitchFamily="34" charset="0"/>
                <a:cs typeface="Arial" panose="020B0604020202020204" pitchFamily="34" charset="0"/>
              </a:rPr>
              <a:t>, you </a:t>
            </a:r>
            <a:r>
              <a:rPr lang="en-US" altLang="en-US" sz="1600" b="1" u="sng" dirty="0">
                <a:solidFill>
                  <a:srgbClr val="000000"/>
                </a:solidFill>
                <a:latin typeface="Corbel" panose="020B0503020204020204" pitchFamily="34" charset="0"/>
                <a:cs typeface="Arial" panose="020B0604020202020204" pitchFamily="34" charset="0"/>
              </a:rPr>
              <a:t>can replace the type arguments required to invoke the constructor of a generic class with an empty set of type arguments (&lt;&gt;) as long as the compiler can determine, or infer, the type arguments from the context</a:t>
            </a:r>
            <a:r>
              <a:rPr lang="en-US" altLang="en-US" sz="1600" dirty="0">
                <a:solidFill>
                  <a:srgbClr val="000000"/>
                </a:solidFill>
                <a:latin typeface="Corbel" panose="020B0503020204020204" pitchFamily="34" charset="0"/>
                <a:cs typeface="Arial" panose="020B0604020202020204" pitchFamily="34" charset="0"/>
              </a:rPr>
              <a:t>. This pair of angle brackets, &lt;&gt;, is informally called </a:t>
            </a:r>
            <a:r>
              <a:rPr lang="en-US" altLang="en-US" sz="1600" i="1" dirty="0">
                <a:solidFill>
                  <a:srgbClr val="000000"/>
                </a:solidFill>
                <a:latin typeface="Corbel" panose="020B0503020204020204" pitchFamily="34" charset="0"/>
                <a:cs typeface="Arial" panose="020B0604020202020204" pitchFamily="34" charset="0"/>
              </a:rPr>
              <a:t>the diamond</a:t>
            </a:r>
            <a:r>
              <a:rPr lang="en-US" altLang="en-US" sz="1600" dirty="0">
                <a:solidFill>
                  <a:srgbClr val="000000"/>
                </a:solidFill>
                <a:latin typeface="Corbel" panose="020B0503020204020204" pitchFamily="34" charset="0"/>
                <a:cs typeface="Arial" panose="020B0604020202020204" pitchFamily="34" charset="0"/>
              </a:rPr>
              <a:t>. For example, you can create an instance of Box&lt;Integer&gt; with the following statement:</a:t>
            </a:r>
            <a:endParaRPr lang="en-US" altLang="en-US" sz="1600" dirty="0">
              <a:latin typeface="Corbel" panose="020B0503020204020204" pitchFamily="34" charset="0"/>
            </a:endParaRP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b="1" i="1" dirty="0">
                <a:solidFill>
                  <a:srgbClr val="FF0000"/>
                </a:solidFill>
                <a:latin typeface="Corbel" panose="020B0503020204020204" pitchFamily="34" charset="0"/>
              </a:rPr>
              <a:t>Box&lt;Integer&gt; </a:t>
            </a:r>
            <a:r>
              <a:rPr lang="en-US" altLang="en-US" sz="1600" b="1" i="1" dirty="0" err="1">
                <a:solidFill>
                  <a:srgbClr val="FF0000"/>
                </a:solidFill>
                <a:latin typeface="Corbel" panose="020B0503020204020204" pitchFamily="34" charset="0"/>
              </a:rPr>
              <a:t>integerBox</a:t>
            </a:r>
            <a:r>
              <a:rPr lang="en-US" altLang="en-US" sz="1600" b="1" i="1" dirty="0">
                <a:solidFill>
                  <a:srgbClr val="FF0000"/>
                </a:solidFill>
                <a:latin typeface="Corbel" panose="020B0503020204020204" pitchFamily="34" charset="0"/>
              </a:rPr>
              <a:t> = new Box&lt;&gt;()</a:t>
            </a:r>
            <a:r>
              <a:rPr lang="en-US" altLang="en-US" sz="1600" dirty="0">
                <a:solidFill>
                  <a:srgbClr val="000000"/>
                </a:solidFill>
                <a:latin typeface="Corbel" panose="020B0503020204020204" pitchFamily="34" charset="0"/>
              </a:rPr>
              <a:t>; </a:t>
            </a:r>
            <a:endParaRPr lang="en-US" altLang="en-US" sz="1600" dirty="0">
              <a:latin typeface="Corbel" panose="020B0503020204020204" pitchFamily="34" charset="0"/>
            </a:endParaRPr>
          </a:p>
        </p:txBody>
      </p:sp>
    </p:spTree>
    <p:extLst>
      <p:ext uri="{BB962C8B-B14F-4D97-AF65-F5344CB8AC3E}">
        <p14:creationId xmlns:p14="http://schemas.microsoft.com/office/powerpoint/2010/main" val="4238642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Multiple Parameter Type</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p:cNvSpPr/>
          <p:nvPr/>
        </p:nvSpPr>
        <p:spPr>
          <a:xfrm>
            <a:off x="364761" y="1362274"/>
            <a:ext cx="5221652" cy="5632311"/>
          </a:xfrm>
          <a:prstGeom prst="rect">
            <a:avLst/>
          </a:prstGeom>
        </p:spPr>
        <p:txBody>
          <a:bodyPr wrap="square">
            <a:spAutoFit/>
          </a:bodyPr>
          <a:lstStyle/>
          <a:p>
            <a:pPr lvl="0" eaLnBrk="0" fontAlgn="base" hangingPunct="0">
              <a:spcBef>
                <a:spcPct val="0"/>
              </a:spcBef>
              <a:spcAft>
                <a:spcPct val="0"/>
              </a:spcAft>
            </a:pPr>
            <a:r>
              <a:rPr lang="en-US" altLang="en-US" dirty="0">
                <a:solidFill>
                  <a:srgbClr val="000000"/>
                </a:solidFill>
                <a:latin typeface="Corbel" panose="020B0503020204020204" pitchFamily="34" charset="0"/>
              </a:rPr>
              <a:t>public interface Pair&lt;K, V&gt; { </a:t>
            </a:r>
          </a:p>
          <a:p>
            <a:pPr lvl="0" eaLnBrk="0" fontAlgn="base" hangingPunct="0">
              <a:spcBef>
                <a:spcPct val="0"/>
              </a:spcBef>
              <a:spcAft>
                <a:spcPct val="0"/>
              </a:spcAft>
            </a:pPr>
            <a:r>
              <a:rPr lang="en-US" altLang="en-US" dirty="0">
                <a:solidFill>
                  <a:srgbClr val="000000"/>
                </a:solidFill>
                <a:latin typeface="Corbel" panose="020B0503020204020204" pitchFamily="34" charset="0"/>
              </a:rPr>
              <a:t>	public K </a:t>
            </a:r>
            <a:r>
              <a:rPr lang="en-US" altLang="en-US" dirty="0" err="1">
                <a:solidFill>
                  <a:srgbClr val="000000"/>
                </a:solidFill>
                <a:latin typeface="Corbel" panose="020B0503020204020204" pitchFamily="34" charset="0"/>
              </a:rPr>
              <a:t>getKey</a:t>
            </a:r>
            <a:r>
              <a:rPr lang="en-US" altLang="en-US" dirty="0">
                <a:solidFill>
                  <a:srgbClr val="000000"/>
                </a:solidFill>
                <a:latin typeface="Corbel" panose="020B0503020204020204" pitchFamily="34" charset="0"/>
              </a:rPr>
              <a:t>(); </a:t>
            </a:r>
          </a:p>
          <a:p>
            <a:pPr lvl="0" eaLnBrk="0" fontAlgn="base" hangingPunct="0">
              <a:spcBef>
                <a:spcPct val="0"/>
              </a:spcBef>
              <a:spcAft>
                <a:spcPct val="0"/>
              </a:spcAft>
            </a:pPr>
            <a:r>
              <a:rPr lang="en-US" altLang="en-US" dirty="0">
                <a:solidFill>
                  <a:srgbClr val="000000"/>
                </a:solidFill>
                <a:latin typeface="Corbel" panose="020B0503020204020204" pitchFamily="34" charset="0"/>
              </a:rPr>
              <a:t>	public V </a:t>
            </a:r>
            <a:r>
              <a:rPr lang="en-US" altLang="en-US" dirty="0" err="1">
                <a:solidFill>
                  <a:srgbClr val="000000"/>
                </a:solidFill>
                <a:latin typeface="Corbel" panose="020B0503020204020204" pitchFamily="34" charset="0"/>
              </a:rPr>
              <a:t>getValue</a:t>
            </a:r>
            <a:r>
              <a:rPr lang="en-US" altLang="en-US" dirty="0">
                <a:solidFill>
                  <a:srgbClr val="000000"/>
                </a:solidFill>
                <a:latin typeface="Corbel" panose="020B0503020204020204" pitchFamily="34" charset="0"/>
              </a:rPr>
              <a:t>(); </a:t>
            </a:r>
          </a:p>
          <a:p>
            <a:pPr lvl="0" eaLnBrk="0" fontAlgn="base" hangingPunct="0">
              <a:spcBef>
                <a:spcPct val="0"/>
              </a:spcBef>
              <a:spcAft>
                <a:spcPct val="0"/>
              </a:spcAft>
            </a:pPr>
            <a:r>
              <a:rPr lang="en-US" altLang="en-US" dirty="0">
                <a:solidFill>
                  <a:srgbClr val="000000"/>
                </a:solidFill>
                <a:latin typeface="Corbel" panose="020B0503020204020204" pitchFamily="34" charset="0"/>
              </a:rPr>
              <a:t>} </a:t>
            </a:r>
          </a:p>
          <a:p>
            <a:pPr lvl="0" eaLnBrk="0" fontAlgn="base" hangingPunct="0">
              <a:spcBef>
                <a:spcPct val="0"/>
              </a:spcBef>
              <a:spcAft>
                <a:spcPct val="0"/>
              </a:spcAft>
            </a:pPr>
            <a:endParaRPr lang="en-US" altLang="en-US" dirty="0">
              <a:solidFill>
                <a:srgbClr val="000000"/>
              </a:solidFill>
              <a:latin typeface="Corbel" panose="020B0503020204020204" pitchFamily="34" charset="0"/>
            </a:endParaRPr>
          </a:p>
          <a:p>
            <a:pPr lvl="0" eaLnBrk="0" fontAlgn="base" hangingPunct="0">
              <a:spcBef>
                <a:spcPct val="0"/>
              </a:spcBef>
              <a:spcAft>
                <a:spcPct val="0"/>
              </a:spcAft>
            </a:pPr>
            <a:r>
              <a:rPr lang="en-US" altLang="en-US" dirty="0">
                <a:solidFill>
                  <a:srgbClr val="000000"/>
                </a:solidFill>
                <a:latin typeface="Corbel" panose="020B0503020204020204" pitchFamily="34" charset="0"/>
              </a:rPr>
              <a:t>public class </a:t>
            </a:r>
            <a:r>
              <a:rPr lang="en-US" altLang="en-US" dirty="0" err="1">
                <a:solidFill>
                  <a:srgbClr val="000000"/>
                </a:solidFill>
                <a:latin typeface="Corbel" panose="020B0503020204020204" pitchFamily="34" charset="0"/>
              </a:rPr>
              <a:t>OrderedPair</a:t>
            </a:r>
            <a:r>
              <a:rPr lang="en-US" altLang="en-US" dirty="0">
                <a:solidFill>
                  <a:srgbClr val="000000"/>
                </a:solidFill>
                <a:latin typeface="Corbel" panose="020B0503020204020204" pitchFamily="34" charset="0"/>
              </a:rPr>
              <a:t>&lt;K, V&gt; implements Pair&lt;K, V&gt; { </a:t>
            </a:r>
          </a:p>
          <a:p>
            <a:pPr lvl="0" eaLnBrk="0" fontAlgn="base" hangingPunct="0">
              <a:spcBef>
                <a:spcPct val="0"/>
              </a:spcBef>
              <a:spcAft>
                <a:spcPct val="0"/>
              </a:spcAft>
            </a:pPr>
            <a:r>
              <a:rPr lang="en-US" altLang="en-US" dirty="0">
                <a:solidFill>
                  <a:srgbClr val="000000"/>
                </a:solidFill>
                <a:latin typeface="Corbel" panose="020B0503020204020204" pitchFamily="34" charset="0"/>
              </a:rPr>
              <a:t>	private K key; </a:t>
            </a:r>
          </a:p>
          <a:p>
            <a:pPr lvl="0" eaLnBrk="0" fontAlgn="base" hangingPunct="0">
              <a:spcBef>
                <a:spcPct val="0"/>
              </a:spcBef>
              <a:spcAft>
                <a:spcPct val="0"/>
              </a:spcAft>
            </a:pPr>
            <a:r>
              <a:rPr lang="en-US" altLang="en-US" dirty="0">
                <a:solidFill>
                  <a:srgbClr val="000000"/>
                </a:solidFill>
                <a:latin typeface="Corbel" panose="020B0503020204020204" pitchFamily="34" charset="0"/>
              </a:rPr>
              <a:t>	private V value; </a:t>
            </a:r>
          </a:p>
          <a:p>
            <a:pPr lvl="0" eaLnBrk="0" fontAlgn="base" hangingPunct="0">
              <a:spcBef>
                <a:spcPct val="0"/>
              </a:spcBef>
              <a:spcAft>
                <a:spcPct val="0"/>
              </a:spcAft>
            </a:pPr>
            <a:r>
              <a:rPr lang="en-US" altLang="en-US" dirty="0">
                <a:solidFill>
                  <a:srgbClr val="000000"/>
                </a:solidFill>
                <a:latin typeface="Corbel" panose="020B0503020204020204" pitchFamily="34" charset="0"/>
              </a:rPr>
              <a:t>	public </a:t>
            </a:r>
            <a:r>
              <a:rPr lang="en-US" altLang="en-US" dirty="0" err="1">
                <a:solidFill>
                  <a:srgbClr val="000000"/>
                </a:solidFill>
                <a:latin typeface="Corbel" panose="020B0503020204020204" pitchFamily="34" charset="0"/>
              </a:rPr>
              <a:t>OrderedPair</a:t>
            </a:r>
            <a:r>
              <a:rPr lang="en-US" altLang="en-US" dirty="0">
                <a:solidFill>
                  <a:srgbClr val="000000"/>
                </a:solidFill>
                <a:latin typeface="Corbel" panose="020B0503020204020204" pitchFamily="34" charset="0"/>
              </a:rPr>
              <a:t>(K key, V value) { </a:t>
            </a:r>
          </a:p>
          <a:p>
            <a:pPr lvl="0" eaLnBrk="0" fontAlgn="base" hangingPunct="0">
              <a:spcBef>
                <a:spcPct val="0"/>
              </a:spcBef>
              <a:spcAft>
                <a:spcPct val="0"/>
              </a:spcAft>
            </a:pPr>
            <a:r>
              <a:rPr lang="en-US" altLang="en-US" dirty="0">
                <a:solidFill>
                  <a:srgbClr val="000000"/>
                </a:solidFill>
                <a:latin typeface="Corbel" panose="020B0503020204020204" pitchFamily="34" charset="0"/>
              </a:rPr>
              <a:t>		</a:t>
            </a:r>
            <a:r>
              <a:rPr lang="en-US" altLang="en-US" dirty="0" err="1">
                <a:solidFill>
                  <a:srgbClr val="000000"/>
                </a:solidFill>
                <a:latin typeface="Corbel" panose="020B0503020204020204" pitchFamily="34" charset="0"/>
              </a:rPr>
              <a:t>this.key</a:t>
            </a:r>
            <a:r>
              <a:rPr lang="en-US" altLang="en-US" dirty="0">
                <a:solidFill>
                  <a:srgbClr val="000000"/>
                </a:solidFill>
                <a:latin typeface="Corbel" panose="020B0503020204020204" pitchFamily="34" charset="0"/>
              </a:rPr>
              <a:t> = key; </a:t>
            </a:r>
          </a:p>
          <a:p>
            <a:pPr lvl="0" eaLnBrk="0" fontAlgn="base" hangingPunct="0">
              <a:spcBef>
                <a:spcPct val="0"/>
              </a:spcBef>
              <a:spcAft>
                <a:spcPct val="0"/>
              </a:spcAft>
            </a:pPr>
            <a:r>
              <a:rPr lang="en-US" altLang="en-US" dirty="0">
                <a:solidFill>
                  <a:srgbClr val="000000"/>
                </a:solidFill>
                <a:latin typeface="Corbel" panose="020B0503020204020204" pitchFamily="34" charset="0"/>
              </a:rPr>
              <a:t>		</a:t>
            </a:r>
            <a:r>
              <a:rPr lang="en-US" altLang="en-US" dirty="0" err="1">
                <a:solidFill>
                  <a:srgbClr val="000000"/>
                </a:solidFill>
                <a:latin typeface="Corbel" panose="020B0503020204020204" pitchFamily="34" charset="0"/>
              </a:rPr>
              <a:t>this.value</a:t>
            </a:r>
            <a:r>
              <a:rPr lang="en-US" altLang="en-US" dirty="0">
                <a:solidFill>
                  <a:srgbClr val="000000"/>
                </a:solidFill>
                <a:latin typeface="Corbel" panose="020B0503020204020204" pitchFamily="34" charset="0"/>
              </a:rPr>
              <a:t> = value; </a:t>
            </a:r>
          </a:p>
          <a:p>
            <a:pPr lvl="0" eaLnBrk="0" fontAlgn="base" hangingPunct="0">
              <a:spcBef>
                <a:spcPct val="0"/>
              </a:spcBef>
              <a:spcAft>
                <a:spcPct val="0"/>
              </a:spcAft>
            </a:pPr>
            <a:r>
              <a:rPr lang="en-US" altLang="en-US" dirty="0">
                <a:solidFill>
                  <a:srgbClr val="000000"/>
                </a:solidFill>
                <a:latin typeface="Corbel" panose="020B0503020204020204" pitchFamily="34" charset="0"/>
              </a:rPr>
              <a:t>	} </a:t>
            </a:r>
          </a:p>
          <a:p>
            <a:pPr lvl="0" eaLnBrk="0" fontAlgn="base" hangingPunct="0">
              <a:spcBef>
                <a:spcPct val="0"/>
              </a:spcBef>
              <a:spcAft>
                <a:spcPct val="0"/>
              </a:spcAft>
            </a:pPr>
            <a:r>
              <a:rPr lang="en-US" altLang="en-US" dirty="0">
                <a:solidFill>
                  <a:srgbClr val="000000"/>
                </a:solidFill>
                <a:latin typeface="Corbel" panose="020B0503020204020204" pitchFamily="34" charset="0"/>
              </a:rPr>
              <a:t>	public K </a:t>
            </a:r>
            <a:r>
              <a:rPr lang="en-US" altLang="en-US" dirty="0" err="1">
                <a:solidFill>
                  <a:srgbClr val="000000"/>
                </a:solidFill>
                <a:latin typeface="Corbel" panose="020B0503020204020204" pitchFamily="34" charset="0"/>
              </a:rPr>
              <a:t>getKey</a:t>
            </a:r>
            <a:r>
              <a:rPr lang="en-US" altLang="en-US" dirty="0">
                <a:solidFill>
                  <a:srgbClr val="000000"/>
                </a:solidFill>
                <a:latin typeface="Corbel" panose="020B0503020204020204" pitchFamily="34" charset="0"/>
              </a:rPr>
              <a:t>() { </a:t>
            </a:r>
          </a:p>
          <a:p>
            <a:pPr lvl="0" eaLnBrk="0" fontAlgn="base" hangingPunct="0">
              <a:spcBef>
                <a:spcPct val="0"/>
              </a:spcBef>
              <a:spcAft>
                <a:spcPct val="0"/>
              </a:spcAft>
            </a:pPr>
            <a:r>
              <a:rPr lang="en-US" altLang="en-US" dirty="0">
                <a:solidFill>
                  <a:srgbClr val="000000"/>
                </a:solidFill>
                <a:latin typeface="Corbel" panose="020B0503020204020204" pitchFamily="34" charset="0"/>
              </a:rPr>
              <a:t>		return key; </a:t>
            </a:r>
          </a:p>
          <a:p>
            <a:pPr lvl="0" eaLnBrk="0" fontAlgn="base" hangingPunct="0">
              <a:spcBef>
                <a:spcPct val="0"/>
              </a:spcBef>
              <a:spcAft>
                <a:spcPct val="0"/>
              </a:spcAft>
            </a:pPr>
            <a:r>
              <a:rPr lang="en-US" altLang="en-US" dirty="0">
                <a:solidFill>
                  <a:srgbClr val="000000"/>
                </a:solidFill>
                <a:latin typeface="Corbel" panose="020B0503020204020204" pitchFamily="34" charset="0"/>
              </a:rPr>
              <a:t>	} </a:t>
            </a:r>
          </a:p>
          <a:p>
            <a:pPr lvl="0" eaLnBrk="0" fontAlgn="base" hangingPunct="0">
              <a:spcBef>
                <a:spcPct val="0"/>
              </a:spcBef>
              <a:spcAft>
                <a:spcPct val="0"/>
              </a:spcAft>
            </a:pPr>
            <a:r>
              <a:rPr lang="en-US" altLang="en-US" dirty="0">
                <a:solidFill>
                  <a:srgbClr val="000000"/>
                </a:solidFill>
                <a:latin typeface="Corbel" panose="020B0503020204020204" pitchFamily="34" charset="0"/>
              </a:rPr>
              <a:t>	public V </a:t>
            </a:r>
            <a:r>
              <a:rPr lang="en-US" altLang="en-US" dirty="0" err="1">
                <a:solidFill>
                  <a:srgbClr val="000000"/>
                </a:solidFill>
                <a:latin typeface="Corbel" panose="020B0503020204020204" pitchFamily="34" charset="0"/>
              </a:rPr>
              <a:t>getValue</a:t>
            </a:r>
            <a:r>
              <a:rPr lang="en-US" altLang="en-US" dirty="0">
                <a:solidFill>
                  <a:srgbClr val="000000"/>
                </a:solidFill>
                <a:latin typeface="Corbel" panose="020B0503020204020204" pitchFamily="34" charset="0"/>
              </a:rPr>
              <a:t>() { </a:t>
            </a:r>
          </a:p>
          <a:p>
            <a:pPr lvl="0" eaLnBrk="0" fontAlgn="base" hangingPunct="0">
              <a:spcBef>
                <a:spcPct val="0"/>
              </a:spcBef>
              <a:spcAft>
                <a:spcPct val="0"/>
              </a:spcAft>
            </a:pPr>
            <a:r>
              <a:rPr lang="en-US" altLang="en-US" dirty="0">
                <a:solidFill>
                  <a:srgbClr val="000000"/>
                </a:solidFill>
                <a:latin typeface="Corbel" panose="020B0503020204020204" pitchFamily="34" charset="0"/>
              </a:rPr>
              <a:t>		return value; </a:t>
            </a:r>
          </a:p>
          <a:p>
            <a:pPr lvl="0" eaLnBrk="0" fontAlgn="base" hangingPunct="0">
              <a:spcBef>
                <a:spcPct val="0"/>
              </a:spcBef>
              <a:spcAft>
                <a:spcPct val="0"/>
              </a:spcAft>
            </a:pPr>
            <a:r>
              <a:rPr lang="en-US" altLang="en-US" dirty="0">
                <a:solidFill>
                  <a:srgbClr val="000000"/>
                </a:solidFill>
                <a:latin typeface="Corbel" panose="020B0503020204020204" pitchFamily="34" charset="0"/>
              </a:rPr>
              <a:t>	} </a:t>
            </a:r>
          </a:p>
          <a:p>
            <a:pPr lvl="0" eaLnBrk="0" fontAlgn="base" hangingPunct="0">
              <a:spcBef>
                <a:spcPct val="0"/>
              </a:spcBef>
              <a:spcAft>
                <a:spcPct val="0"/>
              </a:spcAft>
            </a:pPr>
            <a:r>
              <a:rPr lang="en-US" altLang="en-US" dirty="0">
                <a:solidFill>
                  <a:srgbClr val="000000"/>
                </a:solidFill>
                <a:latin typeface="Corbel" panose="020B0503020204020204" pitchFamily="34" charset="0"/>
              </a:rPr>
              <a:t>} </a:t>
            </a:r>
            <a:endParaRPr lang="en-US" altLang="en-US" dirty="0">
              <a:latin typeface="Corbel" panose="020B0503020204020204" pitchFamily="34" charset="0"/>
            </a:endParaRPr>
          </a:p>
        </p:txBody>
      </p:sp>
      <p:sp>
        <p:nvSpPr>
          <p:cNvPr id="6" name="Rectangle 5"/>
          <p:cNvSpPr/>
          <p:nvPr/>
        </p:nvSpPr>
        <p:spPr>
          <a:xfrm>
            <a:off x="5772150" y="1367235"/>
            <a:ext cx="6529387" cy="3785652"/>
          </a:xfrm>
          <a:prstGeom prst="rect">
            <a:avLst/>
          </a:prstGeom>
        </p:spPr>
        <p:txBody>
          <a:bodyPr wrap="square">
            <a:spAutoFit/>
          </a:bodyPr>
          <a:lstStyle/>
          <a:p>
            <a:pPr lvl="0" eaLnBrk="0" fontAlgn="base" hangingPunct="0">
              <a:lnSpc>
                <a:spcPct val="150000"/>
              </a:lnSpc>
              <a:spcBef>
                <a:spcPct val="0"/>
              </a:spcBef>
              <a:spcAft>
                <a:spcPct val="0"/>
              </a:spcAft>
            </a:pPr>
            <a:r>
              <a:rPr lang="en-US" altLang="en-US" sz="1600" dirty="0">
                <a:solidFill>
                  <a:srgbClr val="000000"/>
                </a:solidFill>
                <a:latin typeface="Corbel" panose="020B0503020204020204" pitchFamily="34" charset="0"/>
                <a:cs typeface="Arial" panose="020B0604020202020204" pitchFamily="34" charset="0"/>
              </a:rPr>
              <a:t>The following statements create two instantiations of  the </a:t>
            </a:r>
            <a:r>
              <a:rPr lang="en-US" altLang="en-US" sz="1600" dirty="0" err="1">
                <a:solidFill>
                  <a:srgbClr val="000000"/>
                </a:solidFill>
                <a:latin typeface="Corbel" panose="020B0503020204020204" pitchFamily="34" charset="0"/>
                <a:cs typeface="Arial" panose="020B0604020202020204" pitchFamily="34" charset="0"/>
              </a:rPr>
              <a:t>OrderedPair</a:t>
            </a:r>
            <a:r>
              <a:rPr lang="en-US" altLang="en-US" sz="1600" dirty="0">
                <a:solidFill>
                  <a:srgbClr val="000000"/>
                </a:solidFill>
                <a:latin typeface="Corbel" panose="020B0503020204020204" pitchFamily="34" charset="0"/>
                <a:cs typeface="Arial" panose="020B0604020202020204" pitchFamily="34" charset="0"/>
              </a:rPr>
              <a:t> class:</a:t>
            </a:r>
          </a:p>
          <a:p>
            <a:pPr lvl="0" eaLnBrk="0" fontAlgn="base" hangingPunct="0">
              <a:lnSpc>
                <a:spcPct val="150000"/>
              </a:lnSpc>
              <a:spcBef>
                <a:spcPct val="0"/>
              </a:spcBef>
              <a:spcAft>
                <a:spcPct val="0"/>
              </a:spcAft>
            </a:pPr>
            <a:r>
              <a:rPr lang="en-US" altLang="en-US" sz="1600" b="1" u="sng" dirty="0">
                <a:solidFill>
                  <a:srgbClr val="000000"/>
                </a:solidFill>
                <a:latin typeface="Corbel" panose="020B0503020204020204" pitchFamily="34" charset="0"/>
              </a:rPr>
              <a:t>Pair&lt;String, Integer&gt; p1 = new </a:t>
            </a:r>
            <a:r>
              <a:rPr lang="en-US" altLang="en-US" sz="1600" b="1" u="sng" dirty="0" err="1">
                <a:solidFill>
                  <a:srgbClr val="000000"/>
                </a:solidFill>
                <a:latin typeface="Corbel" panose="020B0503020204020204" pitchFamily="34" charset="0"/>
              </a:rPr>
              <a:t>OrderedPair</a:t>
            </a:r>
            <a:r>
              <a:rPr lang="en-US" altLang="en-US" sz="1600" b="1" u="sng" dirty="0">
                <a:solidFill>
                  <a:srgbClr val="000000"/>
                </a:solidFill>
                <a:latin typeface="Corbel" panose="020B0503020204020204" pitchFamily="34" charset="0"/>
              </a:rPr>
              <a:t>&lt;String, Integer&gt;("Even", 8); </a:t>
            </a:r>
          </a:p>
          <a:p>
            <a:pPr lvl="0" eaLnBrk="0" fontAlgn="base" hangingPunct="0">
              <a:lnSpc>
                <a:spcPct val="150000"/>
              </a:lnSpc>
              <a:spcBef>
                <a:spcPct val="0"/>
              </a:spcBef>
              <a:spcAft>
                <a:spcPct val="0"/>
              </a:spcAft>
            </a:pPr>
            <a:r>
              <a:rPr lang="en-US" altLang="en-US" sz="1600" b="1" u="sng" dirty="0">
                <a:solidFill>
                  <a:srgbClr val="000000"/>
                </a:solidFill>
                <a:latin typeface="Corbel" panose="020B0503020204020204" pitchFamily="34" charset="0"/>
              </a:rPr>
              <a:t>Pair&lt;String, String&gt; p2 = new </a:t>
            </a:r>
            <a:r>
              <a:rPr lang="en-US" altLang="en-US" sz="1600" b="1" u="sng" dirty="0" err="1">
                <a:solidFill>
                  <a:srgbClr val="000000"/>
                </a:solidFill>
                <a:latin typeface="Corbel" panose="020B0503020204020204" pitchFamily="34" charset="0"/>
              </a:rPr>
              <a:t>OrderedPair</a:t>
            </a:r>
            <a:r>
              <a:rPr lang="en-US" altLang="en-US" sz="1600" b="1" u="sng" dirty="0">
                <a:solidFill>
                  <a:srgbClr val="000000"/>
                </a:solidFill>
                <a:latin typeface="Corbel" panose="020B0503020204020204" pitchFamily="34" charset="0"/>
              </a:rPr>
              <a:t>&lt;String, String&gt;("hello", "world"); </a:t>
            </a:r>
            <a:endParaRPr lang="en-US" altLang="en-US" sz="1600" b="1" u="sng" dirty="0">
              <a:latin typeface="Corbel" panose="020B0503020204020204" pitchFamily="34" charset="0"/>
            </a:endParaRPr>
          </a:p>
          <a:p>
            <a:pPr lvl="0" eaLnBrk="0" fontAlgn="base" hangingPunct="0">
              <a:lnSpc>
                <a:spcPct val="150000"/>
              </a:lnSpc>
              <a:spcBef>
                <a:spcPct val="0"/>
              </a:spcBef>
              <a:spcAft>
                <a:spcPct val="0"/>
              </a:spcAft>
            </a:pPr>
            <a:r>
              <a:rPr lang="en-US" altLang="en-US" sz="1600" dirty="0">
                <a:solidFill>
                  <a:srgbClr val="000000"/>
                </a:solidFill>
                <a:latin typeface="Corbel" panose="020B0503020204020204" pitchFamily="34" charset="0"/>
                <a:cs typeface="Arial" panose="020B0604020202020204" pitchFamily="34" charset="0"/>
              </a:rPr>
              <a:t>The code, </a:t>
            </a:r>
            <a:r>
              <a:rPr lang="en-US" altLang="en-US" sz="1600" u="sng" dirty="0">
                <a:solidFill>
                  <a:srgbClr val="000000"/>
                </a:solidFill>
                <a:latin typeface="Corbel" panose="020B0503020204020204" pitchFamily="34" charset="0"/>
                <a:cs typeface="Arial" panose="020B0604020202020204" pitchFamily="34" charset="0"/>
              </a:rPr>
              <a:t>new </a:t>
            </a:r>
            <a:r>
              <a:rPr lang="en-US" altLang="en-US" sz="1600" u="sng" dirty="0" err="1">
                <a:solidFill>
                  <a:srgbClr val="000000"/>
                </a:solidFill>
                <a:latin typeface="Corbel" panose="020B0503020204020204" pitchFamily="34" charset="0"/>
                <a:cs typeface="Arial" panose="020B0604020202020204" pitchFamily="34" charset="0"/>
              </a:rPr>
              <a:t>OrderedPair</a:t>
            </a:r>
            <a:r>
              <a:rPr lang="en-US" altLang="en-US" sz="1600" u="sng" dirty="0">
                <a:solidFill>
                  <a:srgbClr val="000000"/>
                </a:solidFill>
                <a:latin typeface="Corbel" panose="020B0503020204020204" pitchFamily="34" charset="0"/>
                <a:cs typeface="Arial" panose="020B0604020202020204" pitchFamily="34" charset="0"/>
              </a:rPr>
              <a:t>&lt;String, Integer&gt;, instantiates K as a String and V as an Integer</a:t>
            </a:r>
            <a:r>
              <a:rPr lang="en-US" altLang="en-US" sz="1600" dirty="0">
                <a:solidFill>
                  <a:srgbClr val="000000"/>
                </a:solidFill>
                <a:latin typeface="Corbel" panose="020B0503020204020204" pitchFamily="34" charset="0"/>
                <a:cs typeface="Arial" panose="020B0604020202020204" pitchFamily="34" charset="0"/>
              </a:rPr>
              <a:t>. </a:t>
            </a:r>
          </a:p>
          <a:p>
            <a:pPr lvl="0" eaLnBrk="0" fontAlgn="base" hangingPunct="0">
              <a:lnSpc>
                <a:spcPct val="150000"/>
              </a:lnSpc>
              <a:spcBef>
                <a:spcPct val="0"/>
              </a:spcBef>
              <a:spcAft>
                <a:spcPct val="0"/>
              </a:spcAft>
            </a:pPr>
            <a:r>
              <a:rPr lang="en-US" altLang="en-US" sz="1600" dirty="0">
                <a:solidFill>
                  <a:srgbClr val="000000"/>
                </a:solidFill>
                <a:latin typeface="Corbel" panose="020B0503020204020204" pitchFamily="34" charset="0"/>
                <a:cs typeface="Arial" panose="020B0604020202020204" pitchFamily="34" charset="0"/>
              </a:rPr>
              <a:t>Therefore, the parameter types of </a:t>
            </a:r>
            <a:r>
              <a:rPr lang="en-US" altLang="en-US" sz="1600" dirty="0" err="1">
                <a:solidFill>
                  <a:srgbClr val="000000"/>
                </a:solidFill>
                <a:latin typeface="Corbel" panose="020B0503020204020204" pitchFamily="34" charset="0"/>
                <a:cs typeface="Arial" panose="020B0604020202020204" pitchFamily="34" charset="0"/>
              </a:rPr>
              <a:t>OrderedPair's</a:t>
            </a:r>
            <a:r>
              <a:rPr lang="en-US" altLang="en-US" sz="1600" dirty="0">
                <a:solidFill>
                  <a:srgbClr val="000000"/>
                </a:solidFill>
                <a:latin typeface="Corbel" panose="020B0503020204020204" pitchFamily="34" charset="0"/>
                <a:cs typeface="Arial" panose="020B0604020202020204" pitchFamily="34" charset="0"/>
              </a:rPr>
              <a:t> constructor are String and Integer, respectively. Due to </a:t>
            </a:r>
            <a:r>
              <a:rPr lang="en-US" altLang="en-US" sz="1600" dirty="0" err="1">
                <a:solidFill>
                  <a:srgbClr val="3A87CF"/>
                </a:solidFill>
                <a:latin typeface="Corbel" panose="020B0503020204020204" pitchFamily="34" charset="0"/>
                <a:cs typeface="Arial" panose="020B0604020202020204" pitchFamily="34" charset="0"/>
                <a:hlinkClick r:id="rId2"/>
              </a:rPr>
              <a:t>autoboxing</a:t>
            </a:r>
            <a:r>
              <a:rPr lang="en-US" altLang="en-US" sz="1600" dirty="0">
                <a:solidFill>
                  <a:srgbClr val="000000"/>
                </a:solidFill>
                <a:latin typeface="Corbel" panose="020B0503020204020204" pitchFamily="34" charset="0"/>
                <a:cs typeface="Arial" panose="020B0604020202020204" pitchFamily="34" charset="0"/>
              </a:rPr>
              <a:t>, it is valid to pass a String and an </a:t>
            </a:r>
            <a:r>
              <a:rPr lang="en-US" altLang="en-US" sz="1600" dirty="0" err="1">
                <a:solidFill>
                  <a:srgbClr val="000000"/>
                </a:solidFill>
                <a:latin typeface="Corbel" panose="020B0503020204020204" pitchFamily="34" charset="0"/>
                <a:cs typeface="Arial" panose="020B0604020202020204" pitchFamily="34" charset="0"/>
              </a:rPr>
              <a:t>int</a:t>
            </a:r>
            <a:r>
              <a:rPr lang="en-US" altLang="en-US" sz="1600" dirty="0">
                <a:solidFill>
                  <a:srgbClr val="000000"/>
                </a:solidFill>
                <a:latin typeface="Corbel" panose="020B0503020204020204" pitchFamily="34" charset="0"/>
                <a:cs typeface="Arial" panose="020B0604020202020204" pitchFamily="34" charset="0"/>
              </a:rPr>
              <a:t> to the class.</a:t>
            </a:r>
            <a:endParaRPr lang="en-US" altLang="en-US" sz="1600" dirty="0">
              <a:latin typeface="Corbel" panose="020B0503020204020204" pitchFamily="34" charset="0"/>
            </a:endParaRPr>
          </a:p>
        </p:txBody>
      </p:sp>
    </p:spTree>
    <p:extLst>
      <p:ext uri="{BB962C8B-B14F-4D97-AF65-F5344CB8AC3E}">
        <p14:creationId xmlns:p14="http://schemas.microsoft.com/office/powerpoint/2010/main" val="994328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Raw Type</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p:cNvSpPr/>
          <p:nvPr/>
        </p:nvSpPr>
        <p:spPr>
          <a:xfrm>
            <a:off x="216034" y="1205428"/>
            <a:ext cx="11828482" cy="5866350"/>
          </a:xfrm>
          <a:prstGeom prst="rect">
            <a:avLst/>
          </a:prstGeom>
        </p:spPr>
        <p:txBody>
          <a:bodyPr wrap="square">
            <a:spAutoFit/>
          </a:bodyPr>
          <a:lstStyle/>
          <a:p>
            <a:pPr lvl="0"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A </a:t>
            </a:r>
            <a:r>
              <a:rPr lang="en-US" altLang="en-US" b="1" i="1" dirty="0">
                <a:solidFill>
                  <a:srgbClr val="000000"/>
                </a:solidFill>
                <a:latin typeface="Corbel" panose="020B0503020204020204" pitchFamily="34" charset="0"/>
                <a:cs typeface="Arial" panose="020B0604020202020204" pitchFamily="34" charset="0"/>
              </a:rPr>
              <a:t>raw type</a:t>
            </a:r>
            <a:r>
              <a:rPr lang="en-US" altLang="en-US" dirty="0">
                <a:solidFill>
                  <a:srgbClr val="000000"/>
                </a:solidFill>
                <a:latin typeface="Corbel" panose="020B0503020204020204" pitchFamily="34" charset="0"/>
                <a:cs typeface="Arial" panose="020B0604020202020204" pitchFamily="34" charset="0"/>
              </a:rPr>
              <a:t> is the name of a </a:t>
            </a:r>
            <a:r>
              <a:rPr lang="en-US" altLang="en-US" b="1" dirty="0">
                <a:solidFill>
                  <a:srgbClr val="000000"/>
                </a:solidFill>
                <a:latin typeface="Corbel" panose="020B0503020204020204" pitchFamily="34" charset="0"/>
                <a:cs typeface="Arial" panose="020B0604020202020204" pitchFamily="34" charset="0"/>
              </a:rPr>
              <a:t>generic class or interface without any type arguments</a:t>
            </a:r>
            <a:r>
              <a:rPr lang="en-US" altLang="en-US" dirty="0">
                <a:solidFill>
                  <a:srgbClr val="000000"/>
                </a:solidFill>
                <a:latin typeface="Corbel" panose="020B0503020204020204" pitchFamily="34" charset="0"/>
                <a:cs typeface="Arial" panose="020B0604020202020204" pitchFamily="34" charset="0"/>
              </a:rPr>
              <a:t>. </a:t>
            </a:r>
          </a:p>
          <a:p>
            <a:pPr lvl="0"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For example, </a:t>
            </a:r>
            <a:r>
              <a:rPr lang="en-US" altLang="en-US" b="1" dirty="0">
                <a:solidFill>
                  <a:srgbClr val="000000"/>
                </a:solidFill>
                <a:latin typeface="Corbel" panose="020B0503020204020204" pitchFamily="34" charset="0"/>
                <a:cs typeface="Arial" panose="020B0604020202020204" pitchFamily="34" charset="0"/>
              </a:rPr>
              <a:t>given the generic Box class</a:t>
            </a:r>
            <a:r>
              <a:rPr lang="en-US" altLang="en-US" dirty="0">
                <a:solidFill>
                  <a:srgbClr val="000000"/>
                </a:solidFill>
                <a:latin typeface="Corbel" panose="020B0503020204020204" pitchFamily="34" charset="0"/>
                <a:cs typeface="Arial" panose="020B0604020202020204" pitchFamily="34" charset="0"/>
              </a:rPr>
              <a:t>: </a:t>
            </a:r>
          </a:p>
          <a:p>
            <a:pPr lvl="0"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	</a:t>
            </a:r>
            <a:r>
              <a:rPr lang="en-US" altLang="en-US" dirty="0">
                <a:solidFill>
                  <a:srgbClr val="000000"/>
                </a:solidFill>
                <a:latin typeface="Corbel" panose="020B0503020204020204" pitchFamily="34" charset="0"/>
              </a:rPr>
              <a:t>public class Box&lt;T&gt; { </a:t>
            </a:r>
          </a:p>
          <a:p>
            <a:pPr lvl="0"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rPr>
              <a:t>		public void set(T t) { /* ... */ } // ... </a:t>
            </a:r>
          </a:p>
          <a:p>
            <a:pPr lvl="0"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rPr>
              <a:t>	}</a:t>
            </a:r>
          </a:p>
          <a:p>
            <a:pPr lvl="0"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To create a </a:t>
            </a:r>
            <a:r>
              <a:rPr lang="en-US" altLang="en-US" b="1" dirty="0">
                <a:solidFill>
                  <a:srgbClr val="000000"/>
                </a:solidFill>
                <a:latin typeface="Corbel" panose="020B0503020204020204" pitchFamily="34" charset="0"/>
                <a:cs typeface="Arial" panose="020B0604020202020204" pitchFamily="34" charset="0"/>
              </a:rPr>
              <a:t>parameterized type of Box&lt;T&gt;,</a:t>
            </a:r>
            <a:r>
              <a:rPr lang="en-US" altLang="en-US" dirty="0">
                <a:solidFill>
                  <a:srgbClr val="000000"/>
                </a:solidFill>
                <a:latin typeface="Corbel" panose="020B0503020204020204" pitchFamily="34" charset="0"/>
                <a:cs typeface="Arial" panose="020B0604020202020204" pitchFamily="34" charset="0"/>
              </a:rPr>
              <a:t> you supply an </a:t>
            </a:r>
            <a:r>
              <a:rPr lang="en-US" altLang="en-US" b="1" dirty="0">
                <a:solidFill>
                  <a:srgbClr val="000000"/>
                </a:solidFill>
                <a:latin typeface="Corbel" panose="020B0503020204020204" pitchFamily="34" charset="0"/>
                <a:cs typeface="Arial" panose="020B0604020202020204" pitchFamily="34" charset="0"/>
              </a:rPr>
              <a:t>actual type argument </a:t>
            </a:r>
            <a:r>
              <a:rPr lang="en-US" altLang="en-US" dirty="0">
                <a:solidFill>
                  <a:srgbClr val="000000"/>
                </a:solidFill>
                <a:latin typeface="Corbel" panose="020B0503020204020204" pitchFamily="34" charset="0"/>
                <a:cs typeface="Arial" panose="020B0604020202020204" pitchFamily="34" charset="0"/>
              </a:rPr>
              <a:t>for the </a:t>
            </a:r>
            <a:r>
              <a:rPr lang="en-US" altLang="en-US" b="1" dirty="0">
                <a:solidFill>
                  <a:srgbClr val="000000"/>
                </a:solidFill>
                <a:latin typeface="Corbel" panose="020B0503020204020204" pitchFamily="34" charset="0"/>
                <a:cs typeface="Arial" panose="020B0604020202020204" pitchFamily="34" charset="0"/>
              </a:rPr>
              <a:t>formal type parameter T</a:t>
            </a:r>
            <a:r>
              <a:rPr lang="en-US" altLang="en-US" dirty="0">
                <a:solidFill>
                  <a:srgbClr val="000000"/>
                </a:solidFill>
                <a:latin typeface="Corbel" panose="020B0503020204020204" pitchFamily="34" charset="0"/>
                <a:cs typeface="Arial" panose="020B0604020202020204" pitchFamily="34" charset="0"/>
              </a:rPr>
              <a:t>:</a:t>
            </a:r>
            <a:endParaRPr lang="en-US" altLang="en-US" dirty="0">
              <a:latin typeface="Corbel" panose="020B0503020204020204" pitchFamily="34" charset="0"/>
            </a:endParaRPr>
          </a:p>
          <a:p>
            <a:pPr lvl="0"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rPr>
              <a:t>	</a:t>
            </a:r>
            <a:r>
              <a:rPr lang="en-US" altLang="en-US" b="1" i="1" dirty="0">
                <a:solidFill>
                  <a:srgbClr val="FF0000"/>
                </a:solidFill>
                <a:latin typeface="Corbel" panose="020B0503020204020204" pitchFamily="34" charset="0"/>
              </a:rPr>
              <a:t>Box&lt;Integer&gt; </a:t>
            </a:r>
            <a:r>
              <a:rPr lang="en-US" altLang="en-US" b="1" i="1" dirty="0" err="1">
                <a:solidFill>
                  <a:srgbClr val="FF0000"/>
                </a:solidFill>
                <a:latin typeface="Corbel" panose="020B0503020204020204" pitchFamily="34" charset="0"/>
              </a:rPr>
              <a:t>intBox</a:t>
            </a:r>
            <a:r>
              <a:rPr lang="en-US" altLang="en-US" b="1" i="1" dirty="0">
                <a:solidFill>
                  <a:srgbClr val="FF0000"/>
                </a:solidFill>
                <a:latin typeface="Corbel" panose="020B0503020204020204" pitchFamily="34" charset="0"/>
              </a:rPr>
              <a:t> = new Box&lt;&gt;(); </a:t>
            </a:r>
          </a:p>
          <a:p>
            <a:pPr lvl="0" eaLnBrk="0" fontAlgn="base" hangingPunct="0">
              <a:lnSpc>
                <a:spcPct val="150000"/>
              </a:lnSpc>
              <a:spcBef>
                <a:spcPct val="0"/>
              </a:spcBef>
              <a:spcAft>
                <a:spcPct val="0"/>
              </a:spcAft>
            </a:pPr>
            <a:r>
              <a:rPr lang="en-US" altLang="en-US" b="1" dirty="0">
                <a:solidFill>
                  <a:srgbClr val="000000"/>
                </a:solidFill>
                <a:latin typeface="Corbel" panose="020B0503020204020204" pitchFamily="34" charset="0"/>
                <a:cs typeface="Arial" panose="020B0604020202020204" pitchFamily="34" charset="0"/>
              </a:rPr>
              <a:t>If the actual type argument is omitted</a:t>
            </a:r>
            <a:r>
              <a:rPr lang="en-US" altLang="en-US" dirty="0">
                <a:solidFill>
                  <a:srgbClr val="000000"/>
                </a:solidFill>
                <a:latin typeface="Corbel" panose="020B0503020204020204" pitchFamily="34" charset="0"/>
                <a:cs typeface="Arial" panose="020B0604020202020204" pitchFamily="34" charset="0"/>
              </a:rPr>
              <a:t>, you create a </a:t>
            </a:r>
            <a:r>
              <a:rPr lang="en-US" altLang="en-US" b="1" dirty="0">
                <a:solidFill>
                  <a:srgbClr val="000000"/>
                </a:solidFill>
                <a:latin typeface="Corbel" panose="020B0503020204020204" pitchFamily="34" charset="0"/>
                <a:cs typeface="Arial" panose="020B0604020202020204" pitchFamily="34" charset="0"/>
              </a:rPr>
              <a:t>raw type of Box&lt;T&gt;:</a:t>
            </a:r>
            <a:endParaRPr lang="en-US" altLang="en-US" b="1" dirty="0">
              <a:latin typeface="Corbel" panose="020B0503020204020204" pitchFamily="34" charset="0"/>
            </a:endParaRPr>
          </a:p>
          <a:p>
            <a:pPr lvl="0"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rPr>
              <a:t>	</a:t>
            </a:r>
            <a:r>
              <a:rPr lang="en-US" altLang="en-US" b="1" i="1" dirty="0">
                <a:solidFill>
                  <a:srgbClr val="FF0000"/>
                </a:solidFill>
                <a:latin typeface="Corbel" panose="020B0503020204020204" pitchFamily="34" charset="0"/>
              </a:rPr>
              <a:t>Box </a:t>
            </a:r>
            <a:r>
              <a:rPr lang="en-US" altLang="en-US" b="1" i="1" dirty="0" err="1">
                <a:solidFill>
                  <a:srgbClr val="FF0000"/>
                </a:solidFill>
                <a:latin typeface="Corbel" panose="020B0503020204020204" pitchFamily="34" charset="0"/>
              </a:rPr>
              <a:t>rawBox</a:t>
            </a:r>
            <a:r>
              <a:rPr lang="en-US" altLang="en-US" b="1" i="1" dirty="0">
                <a:solidFill>
                  <a:srgbClr val="FF0000"/>
                </a:solidFill>
                <a:latin typeface="Corbel" panose="020B0503020204020204" pitchFamily="34" charset="0"/>
              </a:rPr>
              <a:t> = new Box(); </a:t>
            </a:r>
          </a:p>
          <a:p>
            <a:pPr lvl="0" eaLnBrk="0" fontAlgn="base" hangingPunct="0">
              <a:lnSpc>
                <a:spcPct val="150000"/>
              </a:lnSpc>
              <a:spcBef>
                <a:spcPct val="0"/>
              </a:spcBef>
              <a:spcAft>
                <a:spcPct val="0"/>
              </a:spcAft>
            </a:pPr>
            <a:r>
              <a:rPr lang="en-US" altLang="en-US" b="1" dirty="0">
                <a:solidFill>
                  <a:srgbClr val="000000"/>
                </a:solidFill>
                <a:latin typeface="Corbel" panose="020B0503020204020204" pitchFamily="34" charset="0"/>
                <a:cs typeface="Arial" panose="020B0604020202020204" pitchFamily="34" charset="0"/>
              </a:rPr>
              <a:t>Therefore, Box is the raw type of the generic type Box&lt;T&gt;.</a:t>
            </a:r>
            <a:r>
              <a:rPr lang="en-US" altLang="en-US" dirty="0">
                <a:solidFill>
                  <a:srgbClr val="000000"/>
                </a:solidFill>
                <a:latin typeface="Corbel" panose="020B0503020204020204" pitchFamily="34" charset="0"/>
                <a:cs typeface="Arial" panose="020B0604020202020204" pitchFamily="34" charset="0"/>
              </a:rPr>
              <a:t> </a:t>
            </a:r>
            <a:r>
              <a:rPr lang="en-US" altLang="en-US" b="1" dirty="0">
                <a:solidFill>
                  <a:srgbClr val="000000"/>
                </a:solidFill>
                <a:latin typeface="Corbel" panose="020B0503020204020204" pitchFamily="34" charset="0"/>
                <a:cs typeface="Arial" panose="020B0604020202020204" pitchFamily="34" charset="0"/>
              </a:rPr>
              <a:t>However, a non-generic class or interface type is </a:t>
            </a:r>
            <a:r>
              <a:rPr lang="en-US" altLang="en-US" b="1" i="1" dirty="0">
                <a:solidFill>
                  <a:srgbClr val="000000"/>
                </a:solidFill>
                <a:latin typeface="Corbel" panose="020B0503020204020204" pitchFamily="34" charset="0"/>
                <a:cs typeface="Arial" panose="020B0604020202020204" pitchFamily="34" charset="0"/>
              </a:rPr>
              <a:t>not</a:t>
            </a:r>
            <a:r>
              <a:rPr lang="en-US" altLang="en-US" b="1" dirty="0">
                <a:solidFill>
                  <a:srgbClr val="000000"/>
                </a:solidFill>
                <a:latin typeface="Corbel" panose="020B0503020204020204" pitchFamily="34" charset="0"/>
                <a:cs typeface="Arial" panose="020B0604020202020204" pitchFamily="34" charset="0"/>
              </a:rPr>
              <a:t> a raw type</a:t>
            </a:r>
            <a:r>
              <a:rPr lang="en-US" altLang="en-US" dirty="0">
                <a:solidFill>
                  <a:srgbClr val="000000"/>
                </a:solidFill>
                <a:latin typeface="Corbel" panose="020B0503020204020204" pitchFamily="34" charset="0"/>
                <a:cs typeface="Arial" panose="020B0604020202020204" pitchFamily="34" charset="0"/>
              </a:rPr>
              <a:t>.</a:t>
            </a:r>
            <a:endParaRPr lang="en-US" altLang="en-US" dirty="0">
              <a:latin typeface="Corbel" panose="020B0503020204020204" pitchFamily="34" charset="0"/>
            </a:endParaRPr>
          </a:p>
          <a:p>
            <a:pPr lvl="0"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Raw types show up in legacy code because lots of API classes (such as the Collections classes) were not generic prior to JDK 5.0. When using raw types, you essentially get pre-generics behavior — a Box gives you Objects. For backward compatibility, assigning a parameterized type to its raw type is allowed:</a:t>
            </a:r>
            <a:endParaRPr lang="en-US" altLang="en-US" dirty="0">
              <a:latin typeface="Corbel" panose="020B0503020204020204" pitchFamily="34" charset="0"/>
            </a:endParaRPr>
          </a:p>
        </p:txBody>
      </p:sp>
    </p:spTree>
    <p:extLst>
      <p:ext uri="{BB962C8B-B14F-4D97-AF65-F5344CB8AC3E}">
        <p14:creationId xmlns:p14="http://schemas.microsoft.com/office/powerpoint/2010/main" val="168678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Raw Type</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p:cNvSpPr/>
          <p:nvPr/>
        </p:nvSpPr>
        <p:spPr>
          <a:xfrm>
            <a:off x="364761" y="1362274"/>
            <a:ext cx="11462478" cy="4662815"/>
          </a:xfrm>
          <a:prstGeom prst="rect">
            <a:avLst/>
          </a:prstGeom>
        </p:spPr>
        <p:txBody>
          <a:bodyPr wrap="square">
            <a:spAutoFit/>
          </a:bodyPr>
          <a:lstStyle/>
          <a:p>
            <a:pPr lvl="0" eaLnBrk="0" fontAlgn="base" hangingPunct="0">
              <a:lnSpc>
                <a:spcPct val="150000"/>
              </a:lnSpc>
              <a:spcBef>
                <a:spcPct val="0"/>
              </a:spcBef>
              <a:spcAft>
                <a:spcPct val="0"/>
              </a:spcAft>
            </a:pPr>
            <a:r>
              <a:rPr lang="en-US" altLang="en-US" b="1" i="1" dirty="0">
                <a:solidFill>
                  <a:srgbClr val="FF0000"/>
                </a:solidFill>
                <a:latin typeface="Corbel" panose="020B0503020204020204" pitchFamily="34" charset="0"/>
              </a:rPr>
              <a:t>Box&lt;String&gt; </a:t>
            </a:r>
            <a:r>
              <a:rPr lang="en-US" altLang="en-US" b="1" i="1" dirty="0" err="1">
                <a:solidFill>
                  <a:srgbClr val="FF0000"/>
                </a:solidFill>
                <a:latin typeface="Corbel" panose="020B0503020204020204" pitchFamily="34" charset="0"/>
              </a:rPr>
              <a:t>stringBox</a:t>
            </a:r>
            <a:r>
              <a:rPr lang="en-US" altLang="en-US" b="1" i="1" dirty="0">
                <a:solidFill>
                  <a:srgbClr val="FF0000"/>
                </a:solidFill>
                <a:latin typeface="Corbel" panose="020B0503020204020204" pitchFamily="34" charset="0"/>
              </a:rPr>
              <a:t> = new Box&lt;&gt;(); </a:t>
            </a:r>
          </a:p>
          <a:p>
            <a:pPr lvl="0" eaLnBrk="0" fontAlgn="base" hangingPunct="0">
              <a:lnSpc>
                <a:spcPct val="150000"/>
              </a:lnSpc>
              <a:spcBef>
                <a:spcPct val="0"/>
              </a:spcBef>
              <a:spcAft>
                <a:spcPct val="0"/>
              </a:spcAft>
            </a:pPr>
            <a:r>
              <a:rPr lang="en-US" altLang="en-US" b="1" i="1" dirty="0">
                <a:solidFill>
                  <a:srgbClr val="FF0000"/>
                </a:solidFill>
                <a:latin typeface="Corbel" panose="020B0503020204020204" pitchFamily="34" charset="0"/>
              </a:rPr>
              <a:t>Box </a:t>
            </a:r>
            <a:r>
              <a:rPr lang="en-US" altLang="en-US" b="1" i="1" dirty="0" err="1">
                <a:solidFill>
                  <a:srgbClr val="FF0000"/>
                </a:solidFill>
                <a:latin typeface="Corbel" panose="020B0503020204020204" pitchFamily="34" charset="0"/>
              </a:rPr>
              <a:t>rawBox</a:t>
            </a:r>
            <a:r>
              <a:rPr lang="en-US" altLang="en-US" b="1" i="1" dirty="0">
                <a:solidFill>
                  <a:srgbClr val="FF0000"/>
                </a:solidFill>
                <a:latin typeface="Corbel" panose="020B0503020204020204" pitchFamily="34" charset="0"/>
              </a:rPr>
              <a:t> = </a:t>
            </a:r>
            <a:r>
              <a:rPr lang="en-US" altLang="en-US" b="1" i="1" dirty="0" err="1">
                <a:solidFill>
                  <a:srgbClr val="FF0000"/>
                </a:solidFill>
                <a:latin typeface="Corbel" panose="020B0503020204020204" pitchFamily="34" charset="0"/>
              </a:rPr>
              <a:t>stringBox</a:t>
            </a:r>
            <a:r>
              <a:rPr lang="en-US" altLang="en-US" b="1" i="1" dirty="0">
                <a:solidFill>
                  <a:srgbClr val="FF0000"/>
                </a:solidFill>
                <a:latin typeface="Corbel" panose="020B0503020204020204" pitchFamily="34" charset="0"/>
              </a:rPr>
              <a:t>; // OK </a:t>
            </a:r>
          </a:p>
          <a:p>
            <a:pPr lvl="0"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But if you assign a raw type to a parameterized type, you get a warning:</a:t>
            </a:r>
            <a:endParaRPr lang="en-US" altLang="en-US" dirty="0">
              <a:latin typeface="Corbel" panose="020B0503020204020204" pitchFamily="34" charset="0"/>
            </a:endParaRPr>
          </a:p>
          <a:p>
            <a:pPr lvl="0" eaLnBrk="0" fontAlgn="base" hangingPunct="0">
              <a:lnSpc>
                <a:spcPct val="150000"/>
              </a:lnSpc>
              <a:spcBef>
                <a:spcPct val="0"/>
              </a:spcBef>
              <a:spcAft>
                <a:spcPct val="0"/>
              </a:spcAft>
            </a:pPr>
            <a:endParaRPr lang="en-US" altLang="en-US" dirty="0">
              <a:solidFill>
                <a:srgbClr val="000000"/>
              </a:solidFill>
              <a:latin typeface="Corbel" panose="020B0503020204020204" pitchFamily="34" charset="0"/>
            </a:endParaRPr>
          </a:p>
          <a:p>
            <a:pPr lvl="0" eaLnBrk="0" fontAlgn="base" hangingPunct="0">
              <a:lnSpc>
                <a:spcPct val="150000"/>
              </a:lnSpc>
              <a:spcBef>
                <a:spcPct val="0"/>
              </a:spcBef>
              <a:spcAft>
                <a:spcPct val="0"/>
              </a:spcAft>
            </a:pPr>
            <a:r>
              <a:rPr lang="en-US" altLang="en-US" b="1" i="1" dirty="0">
                <a:solidFill>
                  <a:srgbClr val="7030A0"/>
                </a:solidFill>
                <a:latin typeface="Corbel" panose="020B0503020204020204" pitchFamily="34" charset="0"/>
              </a:rPr>
              <a:t>Box </a:t>
            </a:r>
            <a:r>
              <a:rPr lang="en-US" altLang="en-US" b="1" i="1" dirty="0" err="1">
                <a:solidFill>
                  <a:srgbClr val="7030A0"/>
                </a:solidFill>
                <a:latin typeface="Corbel" panose="020B0503020204020204" pitchFamily="34" charset="0"/>
              </a:rPr>
              <a:t>rawBox</a:t>
            </a:r>
            <a:r>
              <a:rPr lang="en-US" altLang="en-US" b="1" i="1" dirty="0">
                <a:solidFill>
                  <a:srgbClr val="7030A0"/>
                </a:solidFill>
                <a:latin typeface="Corbel" panose="020B0503020204020204" pitchFamily="34" charset="0"/>
              </a:rPr>
              <a:t> = new Box(); // </a:t>
            </a:r>
            <a:r>
              <a:rPr lang="en-US" altLang="en-US" b="1" i="1" dirty="0" err="1">
                <a:solidFill>
                  <a:srgbClr val="7030A0"/>
                </a:solidFill>
                <a:latin typeface="Corbel" panose="020B0503020204020204" pitchFamily="34" charset="0"/>
              </a:rPr>
              <a:t>rawBox</a:t>
            </a:r>
            <a:r>
              <a:rPr lang="en-US" altLang="en-US" b="1" i="1" dirty="0">
                <a:solidFill>
                  <a:srgbClr val="7030A0"/>
                </a:solidFill>
                <a:latin typeface="Corbel" panose="020B0503020204020204" pitchFamily="34" charset="0"/>
              </a:rPr>
              <a:t> is a raw type of Box&lt;T&gt; </a:t>
            </a:r>
          </a:p>
          <a:p>
            <a:pPr lvl="0" eaLnBrk="0" fontAlgn="base" hangingPunct="0">
              <a:lnSpc>
                <a:spcPct val="150000"/>
              </a:lnSpc>
              <a:spcBef>
                <a:spcPct val="0"/>
              </a:spcBef>
              <a:spcAft>
                <a:spcPct val="0"/>
              </a:spcAft>
            </a:pPr>
            <a:r>
              <a:rPr lang="en-US" altLang="en-US" b="1" i="1" dirty="0">
                <a:solidFill>
                  <a:srgbClr val="7030A0"/>
                </a:solidFill>
                <a:latin typeface="Corbel" panose="020B0503020204020204" pitchFamily="34" charset="0"/>
              </a:rPr>
              <a:t>Box&lt;Integer&gt; </a:t>
            </a:r>
            <a:r>
              <a:rPr lang="en-US" altLang="en-US" b="1" i="1" dirty="0" err="1">
                <a:solidFill>
                  <a:srgbClr val="7030A0"/>
                </a:solidFill>
                <a:latin typeface="Corbel" panose="020B0503020204020204" pitchFamily="34" charset="0"/>
              </a:rPr>
              <a:t>intBox</a:t>
            </a:r>
            <a:r>
              <a:rPr lang="en-US" altLang="en-US" b="1" i="1" dirty="0">
                <a:solidFill>
                  <a:srgbClr val="7030A0"/>
                </a:solidFill>
                <a:latin typeface="Corbel" panose="020B0503020204020204" pitchFamily="34" charset="0"/>
              </a:rPr>
              <a:t> = </a:t>
            </a:r>
            <a:r>
              <a:rPr lang="en-US" altLang="en-US" b="1" i="1" dirty="0" err="1">
                <a:solidFill>
                  <a:srgbClr val="7030A0"/>
                </a:solidFill>
                <a:latin typeface="Corbel" panose="020B0503020204020204" pitchFamily="34" charset="0"/>
              </a:rPr>
              <a:t>rawBox</a:t>
            </a:r>
            <a:r>
              <a:rPr lang="en-US" altLang="en-US" b="1" i="1" dirty="0">
                <a:solidFill>
                  <a:srgbClr val="7030A0"/>
                </a:solidFill>
                <a:latin typeface="Corbel" panose="020B0503020204020204" pitchFamily="34" charset="0"/>
              </a:rPr>
              <a:t>; // warning: unchecked conversion </a:t>
            </a:r>
          </a:p>
          <a:p>
            <a:pPr lvl="0" eaLnBrk="0" fontAlgn="base" hangingPunct="0">
              <a:lnSpc>
                <a:spcPct val="150000"/>
              </a:lnSpc>
              <a:spcBef>
                <a:spcPct val="0"/>
              </a:spcBef>
              <a:spcAft>
                <a:spcPct val="0"/>
              </a:spcAft>
            </a:pPr>
            <a:endParaRPr lang="en-US" altLang="en-US" dirty="0">
              <a:solidFill>
                <a:srgbClr val="000000"/>
              </a:solidFill>
              <a:latin typeface="Corbel" panose="020B0503020204020204" pitchFamily="34" charset="0"/>
              <a:cs typeface="Arial" panose="020B0604020202020204" pitchFamily="34" charset="0"/>
            </a:endParaRPr>
          </a:p>
          <a:p>
            <a:pPr lvl="0"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You also </a:t>
            </a:r>
            <a:r>
              <a:rPr lang="en-US" altLang="en-US" b="1" dirty="0">
                <a:solidFill>
                  <a:srgbClr val="000000"/>
                </a:solidFill>
                <a:latin typeface="Corbel" panose="020B0503020204020204" pitchFamily="34" charset="0"/>
                <a:cs typeface="Arial" panose="020B0604020202020204" pitchFamily="34" charset="0"/>
              </a:rPr>
              <a:t>get a warning if you use a raw type to invoke generic methods defined in the corresponding generic type</a:t>
            </a:r>
            <a:r>
              <a:rPr lang="en-US" altLang="en-US" dirty="0">
                <a:solidFill>
                  <a:srgbClr val="000000"/>
                </a:solidFill>
                <a:latin typeface="Corbel" panose="020B0503020204020204" pitchFamily="34" charset="0"/>
                <a:cs typeface="Arial" panose="020B0604020202020204" pitchFamily="34" charset="0"/>
              </a:rPr>
              <a:t>:</a:t>
            </a:r>
            <a:endParaRPr lang="en-US" altLang="en-US" dirty="0">
              <a:latin typeface="Corbel" panose="020B0503020204020204" pitchFamily="34" charset="0"/>
            </a:endParaRPr>
          </a:p>
          <a:p>
            <a:pPr lvl="0" eaLnBrk="0" fontAlgn="base" hangingPunct="0">
              <a:lnSpc>
                <a:spcPct val="150000"/>
              </a:lnSpc>
              <a:spcBef>
                <a:spcPct val="0"/>
              </a:spcBef>
              <a:spcAft>
                <a:spcPct val="0"/>
              </a:spcAft>
            </a:pPr>
            <a:r>
              <a:rPr lang="en-US" altLang="en-US" b="1" i="1" dirty="0">
                <a:solidFill>
                  <a:srgbClr val="C00000"/>
                </a:solidFill>
                <a:latin typeface="Corbel" panose="020B0503020204020204" pitchFamily="34" charset="0"/>
              </a:rPr>
              <a:t>Box&lt;String&gt; </a:t>
            </a:r>
            <a:r>
              <a:rPr lang="en-US" altLang="en-US" b="1" i="1" dirty="0" err="1">
                <a:solidFill>
                  <a:srgbClr val="C00000"/>
                </a:solidFill>
                <a:latin typeface="Corbel" panose="020B0503020204020204" pitchFamily="34" charset="0"/>
              </a:rPr>
              <a:t>stringBox</a:t>
            </a:r>
            <a:r>
              <a:rPr lang="en-US" altLang="en-US" b="1" i="1" dirty="0">
                <a:solidFill>
                  <a:srgbClr val="C00000"/>
                </a:solidFill>
                <a:latin typeface="Corbel" panose="020B0503020204020204" pitchFamily="34" charset="0"/>
              </a:rPr>
              <a:t> = new Box&lt;&gt;(); </a:t>
            </a:r>
          </a:p>
          <a:p>
            <a:pPr lvl="0" eaLnBrk="0" fontAlgn="base" hangingPunct="0">
              <a:lnSpc>
                <a:spcPct val="150000"/>
              </a:lnSpc>
              <a:spcBef>
                <a:spcPct val="0"/>
              </a:spcBef>
              <a:spcAft>
                <a:spcPct val="0"/>
              </a:spcAft>
            </a:pPr>
            <a:r>
              <a:rPr lang="en-US" altLang="en-US" b="1" i="1" dirty="0">
                <a:solidFill>
                  <a:srgbClr val="C00000"/>
                </a:solidFill>
                <a:latin typeface="Corbel" panose="020B0503020204020204" pitchFamily="34" charset="0"/>
              </a:rPr>
              <a:t>Box </a:t>
            </a:r>
            <a:r>
              <a:rPr lang="en-US" altLang="en-US" b="1" i="1" dirty="0" err="1">
                <a:solidFill>
                  <a:srgbClr val="C00000"/>
                </a:solidFill>
                <a:latin typeface="Corbel" panose="020B0503020204020204" pitchFamily="34" charset="0"/>
              </a:rPr>
              <a:t>rawBox</a:t>
            </a:r>
            <a:r>
              <a:rPr lang="en-US" altLang="en-US" b="1" i="1" dirty="0">
                <a:solidFill>
                  <a:srgbClr val="C00000"/>
                </a:solidFill>
                <a:latin typeface="Corbel" panose="020B0503020204020204" pitchFamily="34" charset="0"/>
              </a:rPr>
              <a:t> = </a:t>
            </a:r>
            <a:r>
              <a:rPr lang="en-US" altLang="en-US" b="1" i="1" dirty="0" err="1">
                <a:solidFill>
                  <a:srgbClr val="C00000"/>
                </a:solidFill>
                <a:latin typeface="Corbel" panose="020B0503020204020204" pitchFamily="34" charset="0"/>
              </a:rPr>
              <a:t>stringBox</a:t>
            </a:r>
            <a:r>
              <a:rPr lang="en-US" altLang="en-US" b="1" i="1" dirty="0">
                <a:solidFill>
                  <a:srgbClr val="C00000"/>
                </a:solidFill>
                <a:latin typeface="Corbel" panose="020B0503020204020204" pitchFamily="34" charset="0"/>
              </a:rPr>
              <a:t>; </a:t>
            </a:r>
            <a:r>
              <a:rPr lang="en-US" altLang="en-US" b="1" i="1" dirty="0" err="1">
                <a:solidFill>
                  <a:srgbClr val="C00000"/>
                </a:solidFill>
                <a:latin typeface="Corbel" panose="020B0503020204020204" pitchFamily="34" charset="0"/>
              </a:rPr>
              <a:t>rawBox.set</a:t>
            </a:r>
            <a:r>
              <a:rPr lang="en-US" altLang="en-US" b="1" i="1" dirty="0">
                <a:solidFill>
                  <a:srgbClr val="C00000"/>
                </a:solidFill>
                <a:latin typeface="Corbel" panose="020B0503020204020204" pitchFamily="34" charset="0"/>
              </a:rPr>
              <a:t>(8); // warning: unchecked invocation to set(T)</a:t>
            </a:r>
          </a:p>
          <a:p>
            <a:pPr lvl="0" eaLnBrk="0" fontAlgn="base" hangingPunct="0">
              <a:lnSpc>
                <a:spcPct val="150000"/>
              </a:lnSpc>
              <a:spcBef>
                <a:spcPct val="0"/>
              </a:spcBef>
              <a:spcAft>
                <a:spcPct val="0"/>
              </a:spcAft>
            </a:pPr>
            <a:endParaRPr lang="en-US" altLang="en-US" dirty="0">
              <a:latin typeface="Corbel" panose="020B0503020204020204" pitchFamily="34" charset="0"/>
            </a:endParaRPr>
          </a:p>
        </p:txBody>
      </p:sp>
    </p:spTree>
    <p:extLst>
      <p:ext uri="{BB962C8B-B14F-4D97-AF65-F5344CB8AC3E}">
        <p14:creationId xmlns:p14="http://schemas.microsoft.com/office/powerpoint/2010/main" val="3304533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Methods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p:cNvSpPr/>
          <p:nvPr/>
        </p:nvSpPr>
        <p:spPr>
          <a:xfrm>
            <a:off x="364761" y="1362274"/>
            <a:ext cx="5338455" cy="5493812"/>
          </a:xfrm>
          <a:prstGeom prst="rect">
            <a:avLst/>
          </a:prstGeom>
        </p:spPr>
        <p:txBody>
          <a:bodyPr wrap="square">
            <a:spAutoFit/>
          </a:bodyPr>
          <a:lstStyle/>
          <a:p>
            <a:pPr marL="285750" indent="-285750">
              <a:lnSpc>
                <a:spcPct val="150000"/>
              </a:lnSpc>
              <a:buFont typeface="Arial" panose="020B0604020202020204" pitchFamily="34" charset="0"/>
              <a:buChar char="•"/>
            </a:pPr>
            <a:r>
              <a:rPr lang="en-US" b="1" i="1" dirty="0">
                <a:latin typeface="Corbel" panose="020B0503020204020204" pitchFamily="34" charset="0"/>
              </a:rPr>
              <a:t>Generic methods</a:t>
            </a:r>
            <a:r>
              <a:rPr lang="en-US" dirty="0">
                <a:latin typeface="Corbel" panose="020B0503020204020204" pitchFamily="34" charset="0"/>
              </a:rPr>
              <a:t> are </a:t>
            </a:r>
            <a:r>
              <a:rPr lang="en-US" b="1" dirty="0">
                <a:latin typeface="Corbel" panose="020B0503020204020204" pitchFamily="34" charset="0"/>
              </a:rPr>
              <a:t>methods </a:t>
            </a:r>
            <a:r>
              <a:rPr lang="en-US" dirty="0">
                <a:latin typeface="Corbel" panose="020B0503020204020204" pitchFamily="34" charset="0"/>
              </a:rPr>
              <a:t>that </a:t>
            </a:r>
            <a:r>
              <a:rPr lang="en-US" b="1" dirty="0">
                <a:latin typeface="Corbel" panose="020B0503020204020204" pitchFamily="34" charset="0"/>
              </a:rPr>
              <a:t>introduce their own type parameters</a:t>
            </a:r>
            <a:r>
              <a:rPr lang="en-US" dirty="0">
                <a:latin typeface="Corbel" panose="020B0503020204020204" pitchFamily="34" charset="0"/>
              </a:rPr>
              <a:t>. </a:t>
            </a:r>
          </a:p>
          <a:p>
            <a:pPr marL="285750" indent="-285750">
              <a:lnSpc>
                <a:spcPct val="150000"/>
              </a:lnSpc>
              <a:buFont typeface="Arial" panose="020B0604020202020204" pitchFamily="34" charset="0"/>
              <a:buChar char="•"/>
            </a:pPr>
            <a:r>
              <a:rPr lang="en-US" dirty="0">
                <a:latin typeface="Corbel" panose="020B0503020204020204" pitchFamily="34" charset="0"/>
              </a:rPr>
              <a:t>This is </a:t>
            </a:r>
            <a:r>
              <a:rPr lang="en-US" b="1" dirty="0">
                <a:latin typeface="Corbel" panose="020B0503020204020204" pitchFamily="34" charset="0"/>
              </a:rPr>
              <a:t>similar to declaring a generic type</a:t>
            </a:r>
            <a:r>
              <a:rPr lang="en-US" dirty="0">
                <a:latin typeface="Corbel" panose="020B0503020204020204" pitchFamily="34" charset="0"/>
              </a:rPr>
              <a:t>, but the </a:t>
            </a:r>
            <a:r>
              <a:rPr lang="en-US" b="1" dirty="0">
                <a:latin typeface="Corbel" panose="020B0503020204020204" pitchFamily="34" charset="0"/>
              </a:rPr>
              <a:t>type parameter's scope is limited to the method where it is declared</a:t>
            </a:r>
            <a:r>
              <a:rPr lang="en-US" dirty="0">
                <a:latin typeface="Corbel" panose="020B0503020204020204" pitchFamily="34" charset="0"/>
              </a:rPr>
              <a:t>. </a:t>
            </a:r>
          </a:p>
          <a:p>
            <a:pPr marL="285750" indent="-285750">
              <a:lnSpc>
                <a:spcPct val="150000"/>
              </a:lnSpc>
              <a:buFont typeface="Arial" panose="020B0604020202020204" pitchFamily="34" charset="0"/>
              <a:buChar char="•"/>
            </a:pPr>
            <a:r>
              <a:rPr lang="en-US" b="1" dirty="0">
                <a:latin typeface="Corbel" panose="020B0503020204020204" pitchFamily="34" charset="0"/>
              </a:rPr>
              <a:t>Static and non-static generic methods are allowed</a:t>
            </a:r>
            <a:r>
              <a:rPr lang="en-US" dirty="0">
                <a:latin typeface="Corbel" panose="020B0503020204020204" pitchFamily="34" charset="0"/>
              </a:rPr>
              <a:t>, as well as generic class constructors.</a:t>
            </a:r>
          </a:p>
          <a:p>
            <a:pPr marL="285750" indent="-285750">
              <a:lnSpc>
                <a:spcPct val="150000"/>
              </a:lnSpc>
              <a:buFont typeface="Arial" panose="020B0604020202020204" pitchFamily="34" charset="0"/>
              <a:buChar char="•"/>
            </a:pPr>
            <a:r>
              <a:rPr lang="en-US" dirty="0">
                <a:latin typeface="Corbel" panose="020B0503020204020204" pitchFamily="34" charset="0"/>
              </a:rPr>
              <a:t>The </a:t>
            </a:r>
            <a:r>
              <a:rPr lang="en-US" b="1" dirty="0">
                <a:latin typeface="Corbel" panose="020B0503020204020204" pitchFamily="34" charset="0"/>
              </a:rPr>
              <a:t>syntax </a:t>
            </a:r>
            <a:r>
              <a:rPr lang="en-US" dirty="0">
                <a:latin typeface="Corbel" panose="020B0503020204020204" pitchFamily="34" charset="0"/>
              </a:rPr>
              <a:t>for a </a:t>
            </a:r>
            <a:r>
              <a:rPr lang="en-US" b="1" dirty="0">
                <a:latin typeface="Corbel" panose="020B0503020204020204" pitchFamily="34" charset="0"/>
              </a:rPr>
              <a:t>generic method </a:t>
            </a:r>
            <a:r>
              <a:rPr lang="en-US" dirty="0">
                <a:latin typeface="Corbel" panose="020B0503020204020204" pitchFamily="34" charset="0"/>
              </a:rPr>
              <a:t>includes a </a:t>
            </a:r>
            <a:r>
              <a:rPr lang="en-US" b="1" dirty="0">
                <a:latin typeface="Corbel" panose="020B0503020204020204" pitchFamily="34" charset="0"/>
              </a:rPr>
              <a:t>list of type parameters</a:t>
            </a:r>
            <a:r>
              <a:rPr lang="en-US" dirty="0">
                <a:latin typeface="Corbel" panose="020B0503020204020204" pitchFamily="34" charset="0"/>
              </a:rPr>
              <a:t>, inside </a:t>
            </a:r>
            <a:r>
              <a:rPr lang="en-US" b="1" dirty="0">
                <a:latin typeface="Corbel" panose="020B0503020204020204" pitchFamily="34" charset="0"/>
              </a:rPr>
              <a:t>angle brackets</a:t>
            </a:r>
            <a:r>
              <a:rPr lang="en-US" dirty="0">
                <a:latin typeface="Corbel" panose="020B0503020204020204" pitchFamily="34" charset="0"/>
              </a:rPr>
              <a:t>, which </a:t>
            </a:r>
            <a:r>
              <a:rPr lang="en-US" b="1" dirty="0">
                <a:latin typeface="Corbel" panose="020B0503020204020204" pitchFamily="34" charset="0"/>
              </a:rPr>
              <a:t>appears before the method's return type</a:t>
            </a:r>
            <a:r>
              <a:rPr lang="en-US" dirty="0">
                <a:latin typeface="Corbel" panose="020B0503020204020204" pitchFamily="34" charset="0"/>
              </a:rPr>
              <a:t>. </a:t>
            </a:r>
          </a:p>
          <a:p>
            <a:pPr marL="285750" indent="-285750">
              <a:lnSpc>
                <a:spcPct val="150000"/>
              </a:lnSpc>
              <a:buFont typeface="Arial" panose="020B0604020202020204" pitchFamily="34" charset="0"/>
              <a:buChar char="•"/>
            </a:pPr>
            <a:r>
              <a:rPr lang="en-US" dirty="0">
                <a:latin typeface="Corbel" panose="020B0503020204020204" pitchFamily="34" charset="0"/>
              </a:rPr>
              <a:t>For </a:t>
            </a:r>
            <a:r>
              <a:rPr lang="en-US" b="1" dirty="0">
                <a:latin typeface="Corbel" panose="020B0503020204020204" pitchFamily="34" charset="0"/>
              </a:rPr>
              <a:t>static generic methods</a:t>
            </a:r>
            <a:r>
              <a:rPr lang="en-US" dirty="0">
                <a:latin typeface="Corbel" panose="020B0503020204020204" pitchFamily="34" charset="0"/>
              </a:rPr>
              <a:t>, the </a:t>
            </a:r>
            <a:r>
              <a:rPr lang="en-US" b="1" dirty="0">
                <a:latin typeface="Corbel" panose="020B0503020204020204" pitchFamily="34" charset="0"/>
              </a:rPr>
              <a:t>type parameter section must appear before the method's return type</a:t>
            </a:r>
            <a:r>
              <a:rPr lang="en-US" dirty="0">
                <a:latin typeface="Corbel" panose="020B0503020204020204" pitchFamily="34" charset="0"/>
              </a:rPr>
              <a:t>.</a:t>
            </a:r>
          </a:p>
        </p:txBody>
      </p:sp>
      <p:pic>
        <p:nvPicPr>
          <p:cNvPr id="3" name="Picture 2"/>
          <p:cNvPicPr>
            <a:picLocks noChangeAspect="1"/>
          </p:cNvPicPr>
          <p:nvPr/>
        </p:nvPicPr>
        <p:blipFill>
          <a:blip r:embed="rId2"/>
          <a:stretch>
            <a:fillRect/>
          </a:stretch>
        </p:blipFill>
        <p:spPr>
          <a:xfrm>
            <a:off x="5844274" y="1480793"/>
            <a:ext cx="5857875" cy="4876800"/>
          </a:xfrm>
          <a:prstGeom prst="rect">
            <a:avLst/>
          </a:prstGeom>
        </p:spPr>
      </p:pic>
    </p:spTree>
    <p:extLst>
      <p:ext uri="{BB962C8B-B14F-4D97-AF65-F5344CB8AC3E}">
        <p14:creationId xmlns:p14="http://schemas.microsoft.com/office/powerpoint/2010/main" val="1714580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Methods – </a:t>
            </a:r>
            <a:r>
              <a:rPr lang="en-US"/>
              <a:t>Type Inference</a:t>
            </a:r>
            <a:endParaRPr lang="en-US" dirty="0"/>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p:cNvSpPr/>
          <p:nvPr/>
        </p:nvSpPr>
        <p:spPr>
          <a:xfrm>
            <a:off x="364761" y="1362274"/>
            <a:ext cx="5338455" cy="4855432"/>
          </a:xfrm>
          <a:prstGeom prst="rect">
            <a:avLst/>
          </a:prstGeom>
        </p:spPr>
        <p:txBody>
          <a:bodyPr wrap="square">
            <a:spAutoFit/>
          </a:bodyPr>
          <a:lstStyle/>
          <a:p>
            <a:pPr lvl="0" eaLnBrk="0" fontAlgn="base" hangingPunct="0">
              <a:lnSpc>
                <a:spcPct val="150000"/>
              </a:lnSpc>
              <a:spcBef>
                <a:spcPct val="0"/>
              </a:spcBef>
              <a:spcAft>
                <a:spcPct val="0"/>
              </a:spcAft>
            </a:pPr>
            <a:r>
              <a:rPr lang="en-US" altLang="en-US" sz="1600" dirty="0">
                <a:solidFill>
                  <a:srgbClr val="000000"/>
                </a:solidFill>
                <a:latin typeface="Corbel" panose="020B0503020204020204" pitchFamily="34" charset="0"/>
                <a:cs typeface="Arial" panose="020B0604020202020204" pitchFamily="34" charset="0"/>
              </a:rPr>
              <a:t>The complete syntax for invoking this method would be:</a:t>
            </a:r>
            <a:endParaRPr lang="en-US" altLang="en-US" sz="1600" dirty="0">
              <a:latin typeface="Corbel" panose="020B0503020204020204" pitchFamily="34" charset="0"/>
            </a:endParaRPr>
          </a:p>
          <a:p>
            <a:pPr lvl="0" eaLnBrk="0" fontAlgn="base" hangingPunct="0">
              <a:lnSpc>
                <a:spcPct val="150000"/>
              </a:lnSpc>
              <a:spcBef>
                <a:spcPct val="0"/>
              </a:spcBef>
              <a:spcAft>
                <a:spcPct val="0"/>
              </a:spcAft>
            </a:pPr>
            <a:r>
              <a:rPr lang="en-US" altLang="en-US" sz="1600" i="1" dirty="0">
                <a:solidFill>
                  <a:srgbClr val="000000"/>
                </a:solidFill>
                <a:latin typeface="Corbel" panose="020B0503020204020204" pitchFamily="34" charset="0"/>
              </a:rPr>
              <a:t>Pair&lt;Integer, String&gt; p1 = new Pair&lt;&gt;(1, "apple"); Pair&lt;Integer, String&gt; p2 = new Pair&lt;&gt;(2, "pear"); </a:t>
            </a:r>
          </a:p>
          <a:p>
            <a:pPr lvl="0" eaLnBrk="0" fontAlgn="base" hangingPunct="0">
              <a:lnSpc>
                <a:spcPct val="150000"/>
              </a:lnSpc>
              <a:spcBef>
                <a:spcPct val="0"/>
              </a:spcBef>
              <a:spcAft>
                <a:spcPct val="0"/>
              </a:spcAft>
            </a:pPr>
            <a:r>
              <a:rPr lang="en-US" altLang="en-US" sz="1600" i="1" dirty="0" err="1">
                <a:solidFill>
                  <a:srgbClr val="000000"/>
                </a:solidFill>
                <a:latin typeface="Corbel" panose="020B0503020204020204" pitchFamily="34" charset="0"/>
              </a:rPr>
              <a:t>boolean</a:t>
            </a:r>
            <a:r>
              <a:rPr lang="en-US" altLang="en-US" sz="1600" i="1" dirty="0">
                <a:solidFill>
                  <a:srgbClr val="000000"/>
                </a:solidFill>
                <a:latin typeface="Corbel" panose="020B0503020204020204" pitchFamily="34" charset="0"/>
              </a:rPr>
              <a:t> same = Util.</a:t>
            </a:r>
            <a:r>
              <a:rPr lang="en-US" altLang="en-US" sz="1600" b="1" i="1" dirty="0">
                <a:solidFill>
                  <a:srgbClr val="000000"/>
                </a:solidFill>
                <a:latin typeface="Corbel" panose="020B0503020204020204" pitchFamily="34" charset="0"/>
              </a:rPr>
              <a:t>&lt;Integer, String&gt;</a:t>
            </a:r>
            <a:r>
              <a:rPr lang="en-US" altLang="en-US" sz="1600" i="1" dirty="0">
                <a:solidFill>
                  <a:srgbClr val="000000"/>
                </a:solidFill>
                <a:latin typeface="Corbel" panose="020B0503020204020204" pitchFamily="34" charset="0"/>
              </a:rPr>
              <a:t>compare(p1, p2); </a:t>
            </a:r>
            <a:endParaRPr lang="en-US" altLang="en-US" sz="1600" i="1" dirty="0">
              <a:latin typeface="Corbel" panose="020B0503020204020204" pitchFamily="34" charset="0"/>
            </a:endParaRPr>
          </a:p>
          <a:p>
            <a:pPr lvl="0" eaLnBrk="0" fontAlgn="base" hangingPunct="0">
              <a:lnSpc>
                <a:spcPct val="150000"/>
              </a:lnSpc>
              <a:spcBef>
                <a:spcPct val="0"/>
              </a:spcBef>
              <a:spcAft>
                <a:spcPct val="0"/>
              </a:spcAft>
            </a:pPr>
            <a:r>
              <a:rPr lang="en-US" altLang="en-US" sz="1600" dirty="0">
                <a:solidFill>
                  <a:srgbClr val="000000"/>
                </a:solidFill>
                <a:latin typeface="Corbel" panose="020B0503020204020204" pitchFamily="34" charset="0"/>
                <a:cs typeface="Arial" panose="020B0604020202020204" pitchFamily="34" charset="0"/>
              </a:rPr>
              <a:t>The </a:t>
            </a:r>
            <a:r>
              <a:rPr lang="en-US" altLang="en-US" sz="1600" u="sng" dirty="0">
                <a:solidFill>
                  <a:srgbClr val="000000"/>
                </a:solidFill>
                <a:latin typeface="Corbel" panose="020B0503020204020204" pitchFamily="34" charset="0"/>
                <a:cs typeface="Arial" panose="020B0604020202020204" pitchFamily="34" charset="0"/>
              </a:rPr>
              <a:t>type has been explicitly provided</a:t>
            </a:r>
            <a:r>
              <a:rPr lang="en-US" altLang="en-US" sz="1600" dirty="0">
                <a:solidFill>
                  <a:srgbClr val="000000"/>
                </a:solidFill>
                <a:latin typeface="Corbel" panose="020B0503020204020204" pitchFamily="34" charset="0"/>
                <a:cs typeface="Arial" panose="020B0604020202020204" pitchFamily="34" charset="0"/>
              </a:rPr>
              <a:t>, as shown in </a:t>
            </a:r>
            <a:r>
              <a:rPr lang="en-US" altLang="en-US" sz="1600" u="sng" dirty="0">
                <a:solidFill>
                  <a:srgbClr val="000000"/>
                </a:solidFill>
                <a:latin typeface="Corbel" panose="020B0503020204020204" pitchFamily="34" charset="0"/>
                <a:cs typeface="Arial" panose="020B0604020202020204" pitchFamily="34" charset="0"/>
              </a:rPr>
              <a:t>bold</a:t>
            </a:r>
            <a:r>
              <a:rPr lang="en-US" altLang="en-US" sz="1600" dirty="0">
                <a:solidFill>
                  <a:srgbClr val="000000"/>
                </a:solidFill>
                <a:latin typeface="Corbel" panose="020B0503020204020204" pitchFamily="34" charset="0"/>
                <a:cs typeface="Arial" panose="020B0604020202020204" pitchFamily="34" charset="0"/>
              </a:rPr>
              <a:t>. Generally, </a:t>
            </a:r>
            <a:r>
              <a:rPr lang="en-US" altLang="en-US" sz="1600" u="sng" dirty="0">
                <a:solidFill>
                  <a:srgbClr val="000000"/>
                </a:solidFill>
                <a:latin typeface="Corbel" panose="020B0503020204020204" pitchFamily="34" charset="0"/>
                <a:cs typeface="Arial" panose="020B0604020202020204" pitchFamily="34" charset="0"/>
              </a:rPr>
              <a:t>this can be left out and the compiler will infer the type that is needed</a:t>
            </a:r>
            <a:r>
              <a:rPr lang="en-US" altLang="en-US" sz="1600" dirty="0">
                <a:solidFill>
                  <a:srgbClr val="000000"/>
                </a:solidFill>
                <a:latin typeface="Corbel" panose="020B0503020204020204" pitchFamily="34" charset="0"/>
                <a:cs typeface="Arial" panose="020B0604020202020204" pitchFamily="34" charset="0"/>
              </a:rPr>
              <a:t>:</a:t>
            </a:r>
            <a:endParaRPr lang="en-US" altLang="en-US" sz="1600" dirty="0">
              <a:latin typeface="Corbel" panose="020B0503020204020204" pitchFamily="34" charset="0"/>
            </a:endParaRPr>
          </a:p>
          <a:p>
            <a:pPr lvl="0" eaLnBrk="0" fontAlgn="base" hangingPunct="0">
              <a:lnSpc>
                <a:spcPct val="150000"/>
              </a:lnSpc>
              <a:spcBef>
                <a:spcPct val="0"/>
              </a:spcBef>
              <a:spcAft>
                <a:spcPct val="0"/>
              </a:spcAft>
            </a:pPr>
            <a:r>
              <a:rPr lang="en-US" altLang="en-US" sz="1600" i="1" dirty="0">
                <a:solidFill>
                  <a:srgbClr val="000000"/>
                </a:solidFill>
                <a:latin typeface="Corbel" panose="020B0503020204020204" pitchFamily="34" charset="0"/>
              </a:rPr>
              <a:t>Pair&lt;Integer, String&gt; p1 = new Pair&lt;&gt;(1, "apple"); Pair&lt;Integer, String&gt; p2 = new Pair&lt;&gt;(2, "pear"); </a:t>
            </a:r>
          </a:p>
          <a:p>
            <a:pPr lvl="0" eaLnBrk="0" fontAlgn="base" hangingPunct="0">
              <a:lnSpc>
                <a:spcPct val="150000"/>
              </a:lnSpc>
              <a:spcBef>
                <a:spcPct val="0"/>
              </a:spcBef>
              <a:spcAft>
                <a:spcPct val="0"/>
              </a:spcAft>
            </a:pPr>
            <a:r>
              <a:rPr lang="en-US" altLang="en-US" sz="1600" i="1" dirty="0" err="1">
                <a:solidFill>
                  <a:srgbClr val="000000"/>
                </a:solidFill>
                <a:latin typeface="Corbel" panose="020B0503020204020204" pitchFamily="34" charset="0"/>
              </a:rPr>
              <a:t>boolean</a:t>
            </a:r>
            <a:r>
              <a:rPr lang="en-US" altLang="en-US" sz="1600" i="1" dirty="0">
                <a:solidFill>
                  <a:srgbClr val="000000"/>
                </a:solidFill>
                <a:latin typeface="Corbel" panose="020B0503020204020204" pitchFamily="34" charset="0"/>
              </a:rPr>
              <a:t> same = </a:t>
            </a:r>
            <a:r>
              <a:rPr lang="en-US" altLang="en-US" sz="1600" i="1" dirty="0" err="1">
                <a:solidFill>
                  <a:srgbClr val="000000"/>
                </a:solidFill>
                <a:latin typeface="Corbel" panose="020B0503020204020204" pitchFamily="34" charset="0"/>
              </a:rPr>
              <a:t>Util.compare</a:t>
            </a:r>
            <a:r>
              <a:rPr lang="en-US" altLang="en-US" sz="1600" i="1" dirty="0">
                <a:solidFill>
                  <a:srgbClr val="000000"/>
                </a:solidFill>
                <a:latin typeface="Corbel" panose="020B0503020204020204" pitchFamily="34" charset="0"/>
              </a:rPr>
              <a:t>(p1, p2); </a:t>
            </a:r>
            <a:endParaRPr lang="en-US" altLang="en-US" sz="1600" i="1" dirty="0">
              <a:latin typeface="Corbel" panose="020B0503020204020204" pitchFamily="34" charset="0"/>
            </a:endParaRPr>
          </a:p>
          <a:p>
            <a:pPr lvl="0" eaLnBrk="0" fontAlgn="base" hangingPunct="0">
              <a:lnSpc>
                <a:spcPct val="150000"/>
              </a:lnSpc>
              <a:spcBef>
                <a:spcPct val="0"/>
              </a:spcBef>
              <a:spcAft>
                <a:spcPct val="0"/>
              </a:spcAft>
            </a:pPr>
            <a:r>
              <a:rPr lang="en-US" altLang="en-US" sz="1600" dirty="0">
                <a:solidFill>
                  <a:srgbClr val="000000"/>
                </a:solidFill>
                <a:latin typeface="Corbel" panose="020B0503020204020204" pitchFamily="34" charset="0"/>
                <a:cs typeface="Arial" panose="020B0604020202020204" pitchFamily="34" charset="0"/>
              </a:rPr>
              <a:t>This feature, known as </a:t>
            </a:r>
            <a:r>
              <a:rPr lang="en-US" altLang="en-US" sz="1600" b="1" i="1" u="sng" dirty="0">
                <a:solidFill>
                  <a:srgbClr val="000000"/>
                </a:solidFill>
                <a:latin typeface="Corbel" panose="020B0503020204020204" pitchFamily="34" charset="0"/>
                <a:cs typeface="Arial" panose="020B0604020202020204" pitchFamily="34" charset="0"/>
              </a:rPr>
              <a:t>type inference</a:t>
            </a:r>
            <a:r>
              <a:rPr lang="en-US" altLang="en-US" sz="1600" dirty="0">
                <a:solidFill>
                  <a:srgbClr val="000000"/>
                </a:solidFill>
                <a:latin typeface="Corbel" panose="020B0503020204020204" pitchFamily="34" charset="0"/>
                <a:cs typeface="Arial" panose="020B0604020202020204" pitchFamily="34" charset="0"/>
              </a:rPr>
              <a:t>, allows you to </a:t>
            </a:r>
            <a:r>
              <a:rPr lang="en-US" altLang="en-US" sz="1600" b="1" dirty="0">
                <a:solidFill>
                  <a:srgbClr val="000000"/>
                </a:solidFill>
                <a:latin typeface="Corbel" panose="020B0503020204020204" pitchFamily="34" charset="0"/>
                <a:cs typeface="Arial" panose="020B0604020202020204" pitchFamily="34" charset="0"/>
              </a:rPr>
              <a:t>invoke a generic method </a:t>
            </a:r>
            <a:r>
              <a:rPr lang="en-US" altLang="en-US" sz="1600" dirty="0">
                <a:solidFill>
                  <a:srgbClr val="000000"/>
                </a:solidFill>
                <a:latin typeface="Corbel" panose="020B0503020204020204" pitchFamily="34" charset="0"/>
                <a:cs typeface="Arial" panose="020B0604020202020204" pitchFamily="34" charset="0"/>
              </a:rPr>
              <a:t>as </a:t>
            </a:r>
            <a:r>
              <a:rPr lang="en-US" altLang="en-US" sz="1600" b="1" dirty="0">
                <a:solidFill>
                  <a:srgbClr val="000000"/>
                </a:solidFill>
                <a:latin typeface="Corbel" panose="020B0503020204020204" pitchFamily="34" charset="0"/>
                <a:cs typeface="Arial" panose="020B0604020202020204" pitchFamily="34" charset="0"/>
              </a:rPr>
              <a:t>an ordinary method</a:t>
            </a:r>
            <a:r>
              <a:rPr lang="en-US" altLang="en-US" sz="1600" dirty="0">
                <a:solidFill>
                  <a:srgbClr val="000000"/>
                </a:solidFill>
                <a:latin typeface="Corbel" panose="020B0503020204020204" pitchFamily="34" charset="0"/>
                <a:cs typeface="Arial" panose="020B0604020202020204" pitchFamily="34" charset="0"/>
              </a:rPr>
              <a:t>, without </a:t>
            </a:r>
            <a:r>
              <a:rPr lang="en-US" altLang="en-US" sz="1600" b="1" dirty="0">
                <a:solidFill>
                  <a:srgbClr val="000000"/>
                </a:solidFill>
                <a:latin typeface="Corbel" panose="020B0503020204020204" pitchFamily="34" charset="0"/>
                <a:cs typeface="Arial" panose="020B0604020202020204" pitchFamily="34" charset="0"/>
              </a:rPr>
              <a:t>specifying a type between angle brackets</a:t>
            </a:r>
            <a:endParaRPr lang="en-US" altLang="en-US" sz="1600" b="1" dirty="0">
              <a:latin typeface="Corbel" panose="020B0503020204020204" pitchFamily="34" charset="0"/>
            </a:endParaRPr>
          </a:p>
        </p:txBody>
      </p:sp>
      <p:pic>
        <p:nvPicPr>
          <p:cNvPr id="3" name="Picture 2"/>
          <p:cNvPicPr>
            <a:picLocks noChangeAspect="1"/>
          </p:cNvPicPr>
          <p:nvPr/>
        </p:nvPicPr>
        <p:blipFill>
          <a:blip r:embed="rId2"/>
          <a:stretch>
            <a:fillRect/>
          </a:stretch>
        </p:blipFill>
        <p:spPr>
          <a:xfrm>
            <a:off x="5825421" y="1433659"/>
            <a:ext cx="5857875" cy="4876800"/>
          </a:xfrm>
          <a:prstGeom prst="rect">
            <a:avLst/>
          </a:prstGeom>
        </p:spPr>
      </p:pic>
    </p:spTree>
    <p:extLst>
      <p:ext uri="{BB962C8B-B14F-4D97-AF65-F5344CB8AC3E}">
        <p14:creationId xmlns:p14="http://schemas.microsoft.com/office/powerpoint/2010/main" val="3148270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Bounded Types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p:cNvSpPr/>
          <p:nvPr/>
        </p:nvSpPr>
        <p:spPr>
          <a:xfrm>
            <a:off x="364761" y="1362274"/>
            <a:ext cx="5338455" cy="5262979"/>
          </a:xfrm>
          <a:prstGeom prst="rect">
            <a:avLst/>
          </a:prstGeom>
        </p:spPr>
        <p:txBody>
          <a:bodyPr wrap="square">
            <a:spAutoFit/>
          </a:bodyPr>
          <a:lstStyle/>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rgbClr val="000000"/>
                </a:solidFill>
                <a:latin typeface="Arial" panose="020B0604020202020204" pitchFamily="34" charset="0"/>
                <a:cs typeface="Arial" panose="020B0604020202020204" pitchFamily="34" charset="0"/>
              </a:rPr>
              <a:t>There </a:t>
            </a:r>
            <a:r>
              <a:rPr lang="en-US" altLang="en-US" sz="1600" b="1" dirty="0">
                <a:solidFill>
                  <a:srgbClr val="000000"/>
                </a:solidFill>
                <a:latin typeface="Arial" panose="020B0604020202020204" pitchFamily="34" charset="0"/>
                <a:cs typeface="Arial" panose="020B0604020202020204" pitchFamily="34" charset="0"/>
              </a:rPr>
              <a:t>may be times </a:t>
            </a:r>
            <a:r>
              <a:rPr lang="en-US" altLang="en-US" sz="1600" dirty="0">
                <a:solidFill>
                  <a:srgbClr val="000000"/>
                </a:solidFill>
                <a:latin typeface="Arial" panose="020B0604020202020204" pitchFamily="34" charset="0"/>
                <a:cs typeface="Arial" panose="020B0604020202020204" pitchFamily="34" charset="0"/>
              </a:rPr>
              <a:t>when you want to </a:t>
            </a:r>
            <a:r>
              <a:rPr lang="en-US" altLang="en-US" sz="1600" b="1" dirty="0">
                <a:solidFill>
                  <a:srgbClr val="000000"/>
                </a:solidFill>
                <a:latin typeface="Arial" panose="020B0604020202020204" pitchFamily="34" charset="0"/>
                <a:cs typeface="Arial" panose="020B0604020202020204" pitchFamily="34" charset="0"/>
              </a:rPr>
              <a:t>restrict the types </a:t>
            </a:r>
            <a:r>
              <a:rPr lang="en-US" altLang="en-US" sz="1600" dirty="0">
                <a:solidFill>
                  <a:srgbClr val="000000"/>
                </a:solidFill>
                <a:latin typeface="Arial" panose="020B0604020202020204" pitchFamily="34" charset="0"/>
                <a:cs typeface="Arial" panose="020B0604020202020204" pitchFamily="34" charset="0"/>
              </a:rPr>
              <a:t>that can be used as </a:t>
            </a:r>
            <a:r>
              <a:rPr lang="en-US" altLang="en-US" sz="1600" b="1" dirty="0">
                <a:solidFill>
                  <a:srgbClr val="000000"/>
                </a:solidFill>
                <a:latin typeface="Arial" panose="020B0604020202020204" pitchFamily="34" charset="0"/>
                <a:cs typeface="Arial" panose="020B0604020202020204" pitchFamily="34" charset="0"/>
              </a:rPr>
              <a:t>type arguments </a:t>
            </a:r>
            <a:r>
              <a:rPr lang="en-US" altLang="en-US" sz="1600" dirty="0">
                <a:solidFill>
                  <a:srgbClr val="000000"/>
                </a:solidFill>
                <a:latin typeface="Arial" panose="020B0604020202020204" pitchFamily="34" charset="0"/>
                <a:cs typeface="Arial" panose="020B0604020202020204" pitchFamily="34" charset="0"/>
              </a:rPr>
              <a:t>in a </a:t>
            </a:r>
            <a:r>
              <a:rPr lang="en-US" altLang="en-US" sz="1600" b="1" dirty="0">
                <a:solidFill>
                  <a:srgbClr val="000000"/>
                </a:solidFill>
                <a:latin typeface="Arial" panose="020B0604020202020204" pitchFamily="34" charset="0"/>
                <a:cs typeface="Arial" panose="020B0604020202020204" pitchFamily="34" charset="0"/>
              </a:rPr>
              <a:t>parameterized type</a:t>
            </a:r>
            <a:r>
              <a:rPr lang="en-US" altLang="en-US" sz="1600" dirty="0">
                <a:solidFill>
                  <a:srgbClr val="000000"/>
                </a:solidFill>
                <a:latin typeface="Arial" panose="020B0604020202020204" pitchFamily="34" charset="0"/>
                <a:cs typeface="Arial" panose="020B0604020202020204" pitchFamily="34" charset="0"/>
              </a:rPr>
              <a:t>.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rgbClr val="000000"/>
                </a:solidFill>
                <a:latin typeface="Arial" panose="020B0604020202020204" pitchFamily="34" charset="0"/>
                <a:cs typeface="Arial" panose="020B0604020202020204" pitchFamily="34" charset="0"/>
              </a:rPr>
              <a:t>For example, </a:t>
            </a:r>
            <a:r>
              <a:rPr lang="en-US" altLang="en-US" sz="1600" b="1" dirty="0">
                <a:solidFill>
                  <a:srgbClr val="000000"/>
                </a:solidFill>
                <a:latin typeface="Arial" panose="020B0604020202020204" pitchFamily="34" charset="0"/>
                <a:cs typeface="Arial" panose="020B0604020202020204" pitchFamily="34" charset="0"/>
              </a:rPr>
              <a:t>a method that operates on numbers </a:t>
            </a:r>
            <a:r>
              <a:rPr lang="en-US" altLang="en-US" sz="1600" dirty="0">
                <a:solidFill>
                  <a:srgbClr val="000000"/>
                </a:solidFill>
                <a:latin typeface="Arial" panose="020B0604020202020204" pitchFamily="34" charset="0"/>
                <a:cs typeface="Arial" panose="020B0604020202020204" pitchFamily="34" charset="0"/>
              </a:rPr>
              <a:t>might only want to </a:t>
            </a:r>
            <a:r>
              <a:rPr lang="en-US" altLang="en-US" sz="1600" b="1" dirty="0">
                <a:solidFill>
                  <a:srgbClr val="000000"/>
                </a:solidFill>
                <a:latin typeface="Arial" panose="020B0604020202020204" pitchFamily="34" charset="0"/>
                <a:cs typeface="Arial" panose="020B0604020202020204" pitchFamily="34" charset="0"/>
              </a:rPr>
              <a:t>accept instances of </a:t>
            </a:r>
            <a:r>
              <a:rPr lang="en-US" altLang="en-US" sz="1600" b="1" dirty="0">
                <a:solidFill>
                  <a:srgbClr val="000000"/>
                </a:solidFill>
                <a:latin typeface="Monaco"/>
                <a:cs typeface="Arial" panose="020B0604020202020204" pitchFamily="34" charset="0"/>
              </a:rPr>
              <a:t>Number</a:t>
            </a:r>
            <a:r>
              <a:rPr lang="en-US" altLang="en-US" sz="1600" dirty="0">
                <a:solidFill>
                  <a:srgbClr val="000000"/>
                </a:solidFill>
                <a:latin typeface="Arial" panose="020B0604020202020204" pitchFamily="34" charset="0"/>
                <a:cs typeface="Arial" panose="020B0604020202020204" pitchFamily="34" charset="0"/>
              </a:rPr>
              <a:t> or its </a:t>
            </a:r>
            <a:r>
              <a:rPr lang="en-US" altLang="en-US" sz="1600" b="1" dirty="0">
                <a:solidFill>
                  <a:srgbClr val="000000"/>
                </a:solidFill>
                <a:latin typeface="Arial" panose="020B0604020202020204" pitchFamily="34" charset="0"/>
                <a:cs typeface="Arial" panose="020B0604020202020204" pitchFamily="34" charset="0"/>
              </a:rPr>
              <a:t>subclasses</a:t>
            </a:r>
            <a:r>
              <a:rPr lang="en-US" altLang="en-US" sz="1600" dirty="0">
                <a:solidFill>
                  <a:srgbClr val="000000"/>
                </a:solidFill>
                <a:latin typeface="Arial" panose="020B0604020202020204" pitchFamily="34" charset="0"/>
                <a:cs typeface="Arial" panose="020B0604020202020204" pitchFamily="34" charset="0"/>
              </a:rPr>
              <a:t>.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rgbClr val="000000"/>
                </a:solidFill>
                <a:latin typeface="Arial" panose="020B0604020202020204" pitchFamily="34" charset="0"/>
                <a:cs typeface="Arial" panose="020B0604020202020204" pitchFamily="34" charset="0"/>
              </a:rPr>
              <a:t>This is </a:t>
            </a:r>
            <a:r>
              <a:rPr lang="en-US" altLang="en-US" sz="1600" b="1" dirty="0">
                <a:solidFill>
                  <a:srgbClr val="000000"/>
                </a:solidFill>
                <a:latin typeface="Arial" panose="020B0604020202020204" pitchFamily="34" charset="0"/>
                <a:cs typeface="Arial" panose="020B0604020202020204" pitchFamily="34" charset="0"/>
              </a:rPr>
              <a:t>what </a:t>
            </a:r>
            <a:r>
              <a:rPr lang="en-US" altLang="en-US" sz="1600" b="1" i="1" dirty="0">
                <a:solidFill>
                  <a:srgbClr val="000000"/>
                </a:solidFill>
                <a:latin typeface="Arial" panose="020B0604020202020204" pitchFamily="34" charset="0"/>
                <a:cs typeface="Arial" panose="020B0604020202020204" pitchFamily="34" charset="0"/>
              </a:rPr>
              <a:t>bounded type parameters</a:t>
            </a:r>
            <a:r>
              <a:rPr lang="en-US" altLang="en-US" sz="1600" dirty="0">
                <a:solidFill>
                  <a:srgbClr val="000000"/>
                </a:solidFill>
                <a:latin typeface="Arial" panose="020B0604020202020204" pitchFamily="34" charset="0"/>
                <a:cs typeface="Arial" panose="020B0604020202020204" pitchFamily="34" charset="0"/>
              </a:rPr>
              <a:t> are for.</a:t>
            </a:r>
            <a:endParaRPr lang="en-US" altLang="en-US" sz="1400" dirty="0"/>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rgbClr val="000000"/>
                </a:solidFill>
                <a:latin typeface="Arial" panose="020B0604020202020204" pitchFamily="34" charset="0"/>
                <a:cs typeface="Arial" panose="020B0604020202020204" pitchFamily="34" charset="0"/>
              </a:rPr>
              <a:t>To </a:t>
            </a:r>
            <a:r>
              <a:rPr lang="en-US" altLang="en-US" sz="1600" b="1" dirty="0">
                <a:solidFill>
                  <a:srgbClr val="000000"/>
                </a:solidFill>
                <a:latin typeface="Arial" panose="020B0604020202020204" pitchFamily="34" charset="0"/>
                <a:cs typeface="Arial" panose="020B0604020202020204" pitchFamily="34" charset="0"/>
              </a:rPr>
              <a:t>declare a bounded type parameter</a:t>
            </a:r>
            <a:r>
              <a:rPr lang="en-US" altLang="en-US" sz="1600" dirty="0">
                <a:solidFill>
                  <a:srgbClr val="000000"/>
                </a:solidFill>
                <a:latin typeface="Arial" panose="020B0604020202020204" pitchFamily="34" charset="0"/>
                <a:cs typeface="Arial" panose="020B0604020202020204" pitchFamily="34" charset="0"/>
              </a:rPr>
              <a:t>, list </a:t>
            </a:r>
            <a:r>
              <a:rPr lang="en-US" altLang="en-US" sz="1600" b="1" dirty="0">
                <a:solidFill>
                  <a:srgbClr val="000000"/>
                </a:solidFill>
                <a:latin typeface="Arial" panose="020B0604020202020204" pitchFamily="34" charset="0"/>
                <a:cs typeface="Arial" panose="020B0604020202020204" pitchFamily="34" charset="0"/>
              </a:rPr>
              <a:t>the type parameter's name</a:t>
            </a:r>
            <a:r>
              <a:rPr lang="en-US" altLang="en-US" sz="1600" dirty="0">
                <a:solidFill>
                  <a:srgbClr val="000000"/>
                </a:solidFill>
                <a:latin typeface="Arial" panose="020B0604020202020204" pitchFamily="34" charset="0"/>
                <a:cs typeface="Arial" panose="020B0604020202020204" pitchFamily="34" charset="0"/>
              </a:rPr>
              <a:t>, followed </a:t>
            </a:r>
            <a:r>
              <a:rPr lang="en-US" altLang="en-US" sz="1600" b="1" dirty="0">
                <a:solidFill>
                  <a:srgbClr val="000000"/>
                </a:solidFill>
                <a:latin typeface="Arial" panose="020B0604020202020204" pitchFamily="34" charset="0"/>
                <a:cs typeface="Arial" panose="020B0604020202020204" pitchFamily="34" charset="0"/>
              </a:rPr>
              <a:t>by the </a:t>
            </a:r>
            <a:r>
              <a:rPr lang="en-US" altLang="en-US" sz="1600" b="1" dirty="0">
                <a:solidFill>
                  <a:srgbClr val="000000"/>
                </a:solidFill>
                <a:latin typeface="Monaco"/>
                <a:cs typeface="Arial" panose="020B0604020202020204" pitchFamily="34" charset="0"/>
              </a:rPr>
              <a:t>extends</a:t>
            </a:r>
            <a:r>
              <a:rPr lang="en-US" altLang="en-US" sz="1600" b="1" dirty="0">
                <a:solidFill>
                  <a:srgbClr val="000000"/>
                </a:solidFill>
                <a:latin typeface="Arial" panose="020B0604020202020204" pitchFamily="34" charset="0"/>
                <a:cs typeface="Arial" panose="020B0604020202020204" pitchFamily="34" charset="0"/>
              </a:rPr>
              <a:t> keyword</a:t>
            </a:r>
            <a:r>
              <a:rPr lang="en-US" altLang="en-US" sz="1600" dirty="0">
                <a:solidFill>
                  <a:srgbClr val="000000"/>
                </a:solidFill>
                <a:latin typeface="Arial" panose="020B0604020202020204" pitchFamily="34" charset="0"/>
                <a:cs typeface="Arial" panose="020B0604020202020204" pitchFamily="34" charset="0"/>
              </a:rPr>
              <a:t>, followed </a:t>
            </a:r>
            <a:r>
              <a:rPr lang="en-US" altLang="en-US" sz="1600" b="1" dirty="0">
                <a:solidFill>
                  <a:srgbClr val="000000"/>
                </a:solidFill>
                <a:latin typeface="Arial" panose="020B0604020202020204" pitchFamily="34" charset="0"/>
                <a:cs typeface="Arial" panose="020B0604020202020204" pitchFamily="34" charset="0"/>
              </a:rPr>
              <a:t>by its </a:t>
            </a:r>
            <a:r>
              <a:rPr lang="en-US" altLang="en-US" sz="1600" b="1" i="1" dirty="0">
                <a:solidFill>
                  <a:srgbClr val="000000"/>
                </a:solidFill>
                <a:latin typeface="Arial" panose="020B0604020202020204" pitchFamily="34" charset="0"/>
                <a:cs typeface="Arial" panose="020B0604020202020204" pitchFamily="34" charset="0"/>
              </a:rPr>
              <a:t>upper bound</a:t>
            </a:r>
            <a:r>
              <a:rPr lang="en-US" altLang="en-US" sz="1600" dirty="0">
                <a:solidFill>
                  <a:srgbClr val="000000"/>
                </a:solidFill>
                <a:latin typeface="Arial" panose="020B0604020202020204" pitchFamily="34" charset="0"/>
                <a:cs typeface="Arial" panose="020B0604020202020204" pitchFamily="34" charset="0"/>
              </a:rPr>
              <a:t>, which in this example is </a:t>
            </a:r>
            <a:r>
              <a:rPr lang="en-US" altLang="en-US" sz="1600" dirty="0">
                <a:solidFill>
                  <a:srgbClr val="000000"/>
                </a:solidFill>
                <a:latin typeface="Monaco"/>
                <a:cs typeface="Arial" panose="020B0604020202020204" pitchFamily="34" charset="0"/>
              </a:rPr>
              <a:t>Number</a:t>
            </a:r>
            <a:r>
              <a:rPr lang="en-US" altLang="en-US" sz="1600" dirty="0">
                <a:solidFill>
                  <a:srgbClr val="000000"/>
                </a:solidFill>
                <a:latin typeface="Arial" panose="020B0604020202020204" pitchFamily="34" charset="0"/>
                <a:cs typeface="Arial" panose="020B0604020202020204" pitchFamily="34" charset="0"/>
              </a:rPr>
              <a:t>.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rgbClr val="000000"/>
                </a:solidFill>
                <a:latin typeface="Arial" panose="020B0604020202020204" pitchFamily="34" charset="0"/>
                <a:cs typeface="Arial" panose="020B0604020202020204" pitchFamily="34" charset="0"/>
              </a:rPr>
              <a:t>Note that, </a:t>
            </a:r>
            <a:r>
              <a:rPr lang="en-US" altLang="en-US" sz="1600" b="1" dirty="0">
                <a:solidFill>
                  <a:srgbClr val="000000"/>
                </a:solidFill>
                <a:latin typeface="Arial" panose="020B0604020202020204" pitchFamily="34" charset="0"/>
                <a:cs typeface="Arial" panose="020B0604020202020204" pitchFamily="34" charset="0"/>
              </a:rPr>
              <a:t>in this context</a:t>
            </a:r>
            <a:r>
              <a:rPr lang="en-US" altLang="en-US" sz="1600" dirty="0">
                <a:solidFill>
                  <a:srgbClr val="000000"/>
                </a:solidFill>
                <a:latin typeface="Arial" panose="020B0604020202020204" pitchFamily="34" charset="0"/>
                <a:cs typeface="Arial" panose="020B0604020202020204" pitchFamily="34" charset="0"/>
              </a:rPr>
              <a:t>, </a:t>
            </a:r>
            <a:r>
              <a:rPr lang="en-US" altLang="en-US" sz="1600" b="1" dirty="0">
                <a:solidFill>
                  <a:srgbClr val="000000"/>
                </a:solidFill>
                <a:latin typeface="Monaco"/>
                <a:cs typeface="Arial" panose="020B0604020202020204" pitchFamily="34" charset="0"/>
              </a:rPr>
              <a:t>extends</a:t>
            </a:r>
            <a:r>
              <a:rPr lang="en-US" altLang="en-US" sz="1600" b="1" dirty="0">
                <a:solidFill>
                  <a:srgbClr val="000000"/>
                </a:solidFill>
                <a:latin typeface="Arial" panose="020B0604020202020204" pitchFamily="34" charset="0"/>
                <a:cs typeface="Arial" panose="020B0604020202020204" pitchFamily="34" charset="0"/>
              </a:rPr>
              <a:t> is used in a general sense to mean either </a:t>
            </a:r>
            <a:r>
              <a:rPr lang="en-US" altLang="en-US" sz="1600" dirty="0">
                <a:solidFill>
                  <a:srgbClr val="000000"/>
                </a:solidFill>
                <a:latin typeface="Arial" panose="020B0604020202020204" pitchFamily="34" charset="0"/>
                <a:cs typeface="Arial" panose="020B0604020202020204" pitchFamily="34" charset="0"/>
              </a:rPr>
              <a:t>"extends" (as in classes) or "implements" (as in interfaces).</a:t>
            </a:r>
            <a:endParaRPr lang="en-US" altLang="en-US" sz="4000" dirty="0">
              <a:latin typeface="Arial" panose="020B0604020202020204" pitchFamily="34" charset="0"/>
            </a:endParaRPr>
          </a:p>
        </p:txBody>
      </p:sp>
      <p:sp>
        <p:nvSpPr>
          <p:cNvPr id="6"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p:cNvPicPr>
            <a:picLocks noChangeAspect="1"/>
          </p:cNvPicPr>
          <p:nvPr/>
        </p:nvPicPr>
        <p:blipFill>
          <a:blip r:embed="rId2"/>
          <a:stretch>
            <a:fillRect/>
          </a:stretch>
        </p:blipFill>
        <p:spPr>
          <a:xfrm>
            <a:off x="5688744" y="1470581"/>
            <a:ext cx="6118972" cy="5005633"/>
          </a:xfrm>
          <a:prstGeom prst="rect">
            <a:avLst/>
          </a:prstGeom>
        </p:spPr>
      </p:pic>
    </p:spTree>
    <p:extLst>
      <p:ext uri="{BB962C8B-B14F-4D97-AF65-F5344CB8AC3E}">
        <p14:creationId xmlns:p14="http://schemas.microsoft.com/office/powerpoint/2010/main" val="2971538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Bounded Types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p:cNvSpPr/>
          <p:nvPr/>
        </p:nvSpPr>
        <p:spPr>
          <a:xfrm>
            <a:off x="364761" y="1362274"/>
            <a:ext cx="5338455" cy="5262979"/>
          </a:xfrm>
          <a:prstGeom prst="rect">
            <a:avLst/>
          </a:prstGeom>
        </p:spPr>
        <p:txBody>
          <a:bodyPr wrap="square">
            <a:spAutoFit/>
          </a:bodyPr>
          <a:lstStyle/>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rgbClr val="000000"/>
                </a:solidFill>
                <a:latin typeface="Arial" panose="020B0604020202020204" pitchFamily="34" charset="0"/>
                <a:cs typeface="Arial" panose="020B0604020202020204" pitchFamily="34" charset="0"/>
              </a:rPr>
              <a:t>There </a:t>
            </a:r>
            <a:r>
              <a:rPr lang="en-US" altLang="en-US" sz="1600" b="1" dirty="0">
                <a:solidFill>
                  <a:srgbClr val="000000"/>
                </a:solidFill>
                <a:latin typeface="Arial" panose="020B0604020202020204" pitchFamily="34" charset="0"/>
                <a:cs typeface="Arial" panose="020B0604020202020204" pitchFamily="34" charset="0"/>
              </a:rPr>
              <a:t>may be times </a:t>
            </a:r>
            <a:r>
              <a:rPr lang="en-US" altLang="en-US" sz="1600" dirty="0">
                <a:solidFill>
                  <a:srgbClr val="000000"/>
                </a:solidFill>
                <a:latin typeface="Arial" panose="020B0604020202020204" pitchFamily="34" charset="0"/>
                <a:cs typeface="Arial" panose="020B0604020202020204" pitchFamily="34" charset="0"/>
              </a:rPr>
              <a:t>when you want to </a:t>
            </a:r>
            <a:r>
              <a:rPr lang="en-US" altLang="en-US" sz="1600" b="1" dirty="0">
                <a:solidFill>
                  <a:srgbClr val="000000"/>
                </a:solidFill>
                <a:latin typeface="Arial" panose="020B0604020202020204" pitchFamily="34" charset="0"/>
                <a:cs typeface="Arial" panose="020B0604020202020204" pitchFamily="34" charset="0"/>
              </a:rPr>
              <a:t>restrict the types </a:t>
            </a:r>
            <a:r>
              <a:rPr lang="en-US" altLang="en-US" sz="1600" dirty="0">
                <a:solidFill>
                  <a:srgbClr val="000000"/>
                </a:solidFill>
                <a:latin typeface="Arial" panose="020B0604020202020204" pitchFamily="34" charset="0"/>
                <a:cs typeface="Arial" panose="020B0604020202020204" pitchFamily="34" charset="0"/>
              </a:rPr>
              <a:t>that can be used as </a:t>
            </a:r>
            <a:r>
              <a:rPr lang="en-US" altLang="en-US" sz="1600" b="1" dirty="0">
                <a:solidFill>
                  <a:srgbClr val="000000"/>
                </a:solidFill>
                <a:latin typeface="Arial" panose="020B0604020202020204" pitchFamily="34" charset="0"/>
                <a:cs typeface="Arial" panose="020B0604020202020204" pitchFamily="34" charset="0"/>
              </a:rPr>
              <a:t>type arguments </a:t>
            </a:r>
            <a:r>
              <a:rPr lang="en-US" altLang="en-US" sz="1600" dirty="0">
                <a:solidFill>
                  <a:srgbClr val="000000"/>
                </a:solidFill>
                <a:latin typeface="Arial" panose="020B0604020202020204" pitchFamily="34" charset="0"/>
                <a:cs typeface="Arial" panose="020B0604020202020204" pitchFamily="34" charset="0"/>
              </a:rPr>
              <a:t>in a </a:t>
            </a:r>
            <a:r>
              <a:rPr lang="en-US" altLang="en-US" sz="1600" b="1" dirty="0">
                <a:solidFill>
                  <a:srgbClr val="000000"/>
                </a:solidFill>
                <a:latin typeface="Arial" panose="020B0604020202020204" pitchFamily="34" charset="0"/>
                <a:cs typeface="Arial" panose="020B0604020202020204" pitchFamily="34" charset="0"/>
              </a:rPr>
              <a:t>parameterized type</a:t>
            </a:r>
            <a:r>
              <a:rPr lang="en-US" altLang="en-US" sz="1600" dirty="0">
                <a:solidFill>
                  <a:srgbClr val="000000"/>
                </a:solidFill>
                <a:latin typeface="Arial" panose="020B0604020202020204" pitchFamily="34" charset="0"/>
                <a:cs typeface="Arial" panose="020B0604020202020204" pitchFamily="34" charset="0"/>
              </a:rPr>
              <a:t>.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rgbClr val="000000"/>
                </a:solidFill>
                <a:latin typeface="Arial" panose="020B0604020202020204" pitchFamily="34" charset="0"/>
                <a:cs typeface="Arial" panose="020B0604020202020204" pitchFamily="34" charset="0"/>
              </a:rPr>
              <a:t>For example, </a:t>
            </a:r>
            <a:r>
              <a:rPr lang="en-US" altLang="en-US" sz="1600" b="1" dirty="0">
                <a:solidFill>
                  <a:srgbClr val="000000"/>
                </a:solidFill>
                <a:latin typeface="Arial" panose="020B0604020202020204" pitchFamily="34" charset="0"/>
                <a:cs typeface="Arial" panose="020B0604020202020204" pitchFamily="34" charset="0"/>
              </a:rPr>
              <a:t>a method that operates on numbers </a:t>
            </a:r>
            <a:r>
              <a:rPr lang="en-US" altLang="en-US" sz="1600" dirty="0">
                <a:solidFill>
                  <a:srgbClr val="000000"/>
                </a:solidFill>
                <a:latin typeface="Arial" panose="020B0604020202020204" pitchFamily="34" charset="0"/>
                <a:cs typeface="Arial" panose="020B0604020202020204" pitchFamily="34" charset="0"/>
              </a:rPr>
              <a:t>might only want to </a:t>
            </a:r>
            <a:r>
              <a:rPr lang="en-US" altLang="en-US" sz="1600" b="1" dirty="0">
                <a:solidFill>
                  <a:srgbClr val="000000"/>
                </a:solidFill>
                <a:latin typeface="Arial" panose="020B0604020202020204" pitchFamily="34" charset="0"/>
                <a:cs typeface="Arial" panose="020B0604020202020204" pitchFamily="34" charset="0"/>
              </a:rPr>
              <a:t>accept instances of </a:t>
            </a:r>
            <a:r>
              <a:rPr lang="en-US" altLang="en-US" sz="1600" b="1" dirty="0">
                <a:solidFill>
                  <a:srgbClr val="000000"/>
                </a:solidFill>
                <a:latin typeface="Monaco"/>
                <a:cs typeface="Arial" panose="020B0604020202020204" pitchFamily="34" charset="0"/>
              </a:rPr>
              <a:t>Number</a:t>
            </a:r>
            <a:r>
              <a:rPr lang="en-US" altLang="en-US" sz="1600" dirty="0">
                <a:solidFill>
                  <a:srgbClr val="000000"/>
                </a:solidFill>
                <a:latin typeface="Arial" panose="020B0604020202020204" pitchFamily="34" charset="0"/>
                <a:cs typeface="Arial" panose="020B0604020202020204" pitchFamily="34" charset="0"/>
              </a:rPr>
              <a:t> or its </a:t>
            </a:r>
            <a:r>
              <a:rPr lang="en-US" altLang="en-US" sz="1600" b="1" dirty="0">
                <a:solidFill>
                  <a:srgbClr val="000000"/>
                </a:solidFill>
                <a:latin typeface="Arial" panose="020B0604020202020204" pitchFamily="34" charset="0"/>
                <a:cs typeface="Arial" panose="020B0604020202020204" pitchFamily="34" charset="0"/>
              </a:rPr>
              <a:t>subclasses</a:t>
            </a:r>
            <a:r>
              <a:rPr lang="en-US" altLang="en-US" sz="1600" dirty="0">
                <a:solidFill>
                  <a:srgbClr val="000000"/>
                </a:solidFill>
                <a:latin typeface="Arial" panose="020B0604020202020204" pitchFamily="34" charset="0"/>
                <a:cs typeface="Arial" panose="020B0604020202020204" pitchFamily="34" charset="0"/>
              </a:rPr>
              <a:t>.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rgbClr val="000000"/>
                </a:solidFill>
                <a:latin typeface="Arial" panose="020B0604020202020204" pitchFamily="34" charset="0"/>
                <a:cs typeface="Arial" panose="020B0604020202020204" pitchFamily="34" charset="0"/>
              </a:rPr>
              <a:t>This is </a:t>
            </a:r>
            <a:r>
              <a:rPr lang="en-US" altLang="en-US" sz="1600" b="1" dirty="0">
                <a:solidFill>
                  <a:srgbClr val="000000"/>
                </a:solidFill>
                <a:latin typeface="Arial" panose="020B0604020202020204" pitchFamily="34" charset="0"/>
                <a:cs typeface="Arial" panose="020B0604020202020204" pitchFamily="34" charset="0"/>
              </a:rPr>
              <a:t>what </a:t>
            </a:r>
            <a:r>
              <a:rPr lang="en-US" altLang="en-US" sz="1600" b="1" i="1" dirty="0">
                <a:solidFill>
                  <a:srgbClr val="000000"/>
                </a:solidFill>
                <a:latin typeface="Arial" panose="020B0604020202020204" pitchFamily="34" charset="0"/>
                <a:cs typeface="Arial" panose="020B0604020202020204" pitchFamily="34" charset="0"/>
              </a:rPr>
              <a:t>bounded type parameters</a:t>
            </a:r>
            <a:r>
              <a:rPr lang="en-US" altLang="en-US" sz="1600" dirty="0">
                <a:solidFill>
                  <a:srgbClr val="000000"/>
                </a:solidFill>
                <a:latin typeface="Arial" panose="020B0604020202020204" pitchFamily="34" charset="0"/>
                <a:cs typeface="Arial" panose="020B0604020202020204" pitchFamily="34" charset="0"/>
              </a:rPr>
              <a:t> are for.</a:t>
            </a:r>
            <a:endParaRPr lang="en-US" altLang="en-US" sz="1400" dirty="0"/>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rgbClr val="000000"/>
                </a:solidFill>
                <a:latin typeface="Arial" panose="020B0604020202020204" pitchFamily="34" charset="0"/>
                <a:cs typeface="Arial" panose="020B0604020202020204" pitchFamily="34" charset="0"/>
              </a:rPr>
              <a:t>To </a:t>
            </a:r>
            <a:r>
              <a:rPr lang="en-US" altLang="en-US" sz="1600" b="1" dirty="0">
                <a:solidFill>
                  <a:srgbClr val="000000"/>
                </a:solidFill>
                <a:latin typeface="Arial" panose="020B0604020202020204" pitchFamily="34" charset="0"/>
                <a:cs typeface="Arial" panose="020B0604020202020204" pitchFamily="34" charset="0"/>
              </a:rPr>
              <a:t>declare a bounded type parameter</a:t>
            </a:r>
            <a:r>
              <a:rPr lang="en-US" altLang="en-US" sz="1600" dirty="0">
                <a:solidFill>
                  <a:srgbClr val="000000"/>
                </a:solidFill>
                <a:latin typeface="Arial" panose="020B0604020202020204" pitchFamily="34" charset="0"/>
                <a:cs typeface="Arial" panose="020B0604020202020204" pitchFamily="34" charset="0"/>
              </a:rPr>
              <a:t>, list </a:t>
            </a:r>
            <a:r>
              <a:rPr lang="en-US" altLang="en-US" sz="1600" b="1" dirty="0">
                <a:solidFill>
                  <a:srgbClr val="000000"/>
                </a:solidFill>
                <a:latin typeface="Arial" panose="020B0604020202020204" pitchFamily="34" charset="0"/>
                <a:cs typeface="Arial" panose="020B0604020202020204" pitchFamily="34" charset="0"/>
              </a:rPr>
              <a:t>the type parameter's name</a:t>
            </a:r>
            <a:r>
              <a:rPr lang="en-US" altLang="en-US" sz="1600" dirty="0">
                <a:solidFill>
                  <a:srgbClr val="000000"/>
                </a:solidFill>
                <a:latin typeface="Arial" panose="020B0604020202020204" pitchFamily="34" charset="0"/>
                <a:cs typeface="Arial" panose="020B0604020202020204" pitchFamily="34" charset="0"/>
              </a:rPr>
              <a:t>, followed </a:t>
            </a:r>
            <a:r>
              <a:rPr lang="en-US" altLang="en-US" sz="1600" b="1" dirty="0">
                <a:solidFill>
                  <a:srgbClr val="000000"/>
                </a:solidFill>
                <a:latin typeface="Arial" panose="020B0604020202020204" pitchFamily="34" charset="0"/>
                <a:cs typeface="Arial" panose="020B0604020202020204" pitchFamily="34" charset="0"/>
              </a:rPr>
              <a:t>by the </a:t>
            </a:r>
            <a:r>
              <a:rPr lang="en-US" altLang="en-US" sz="1600" b="1" dirty="0">
                <a:solidFill>
                  <a:srgbClr val="000000"/>
                </a:solidFill>
                <a:latin typeface="Monaco"/>
                <a:cs typeface="Arial" panose="020B0604020202020204" pitchFamily="34" charset="0"/>
              </a:rPr>
              <a:t>extends</a:t>
            </a:r>
            <a:r>
              <a:rPr lang="en-US" altLang="en-US" sz="1600" b="1" dirty="0">
                <a:solidFill>
                  <a:srgbClr val="000000"/>
                </a:solidFill>
                <a:latin typeface="Arial" panose="020B0604020202020204" pitchFamily="34" charset="0"/>
                <a:cs typeface="Arial" panose="020B0604020202020204" pitchFamily="34" charset="0"/>
              </a:rPr>
              <a:t> keyword</a:t>
            </a:r>
            <a:r>
              <a:rPr lang="en-US" altLang="en-US" sz="1600" dirty="0">
                <a:solidFill>
                  <a:srgbClr val="000000"/>
                </a:solidFill>
                <a:latin typeface="Arial" panose="020B0604020202020204" pitchFamily="34" charset="0"/>
                <a:cs typeface="Arial" panose="020B0604020202020204" pitchFamily="34" charset="0"/>
              </a:rPr>
              <a:t>, followed </a:t>
            </a:r>
            <a:r>
              <a:rPr lang="en-US" altLang="en-US" sz="1600" b="1" dirty="0">
                <a:solidFill>
                  <a:srgbClr val="000000"/>
                </a:solidFill>
                <a:latin typeface="Arial" panose="020B0604020202020204" pitchFamily="34" charset="0"/>
                <a:cs typeface="Arial" panose="020B0604020202020204" pitchFamily="34" charset="0"/>
              </a:rPr>
              <a:t>by its </a:t>
            </a:r>
            <a:r>
              <a:rPr lang="en-US" altLang="en-US" sz="1600" b="1" i="1" dirty="0">
                <a:solidFill>
                  <a:srgbClr val="000000"/>
                </a:solidFill>
                <a:latin typeface="Arial" panose="020B0604020202020204" pitchFamily="34" charset="0"/>
                <a:cs typeface="Arial" panose="020B0604020202020204" pitchFamily="34" charset="0"/>
              </a:rPr>
              <a:t>upper bound</a:t>
            </a:r>
            <a:r>
              <a:rPr lang="en-US" altLang="en-US" sz="1600" dirty="0">
                <a:solidFill>
                  <a:srgbClr val="000000"/>
                </a:solidFill>
                <a:latin typeface="Arial" panose="020B0604020202020204" pitchFamily="34" charset="0"/>
                <a:cs typeface="Arial" panose="020B0604020202020204" pitchFamily="34" charset="0"/>
              </a:rPr>
              <a:t>, which in this example is </a:t>
            </a:r>
            <a:r>
              <a:rPr lang="en-US" altLang="en-US" sz="1600" dirty="0">
                <a:solidFill>
                  <a:srgbClr val="000000"/>
                </a:solidFill>
                <a:latin typeface="Monaco"/>
                <a:cs typeface="Arial" panose="020B0604020202020204" pitchFamily="34" charset="0"/>
              </a:rPr>
              <a:t>Number</a:t>
            </a:r>
            <a:r>
              <a:rPr lang="en-US" altLang="en-US" sz="1600" dirty="0">
                <a:solidFill>
                  <a:srgbClr val="000000"/>
                </a:solidFill>
                <a:latin typeface="Arial" panose="020B0604020202020204" pitchFamily="34" charset="0"/>
                <a:cs typeface="Arial" panose="020B0604020202020204" pitchFamily="34" charset="0"/>
              </a:rPr>
              <a:t>.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rgbClr val="000000"/>
                </a:solidFill>
                <a:latin typeface="Arial" panose="020B0604020202020204" pitchFamily="34" charset="0"/>
                <a:cs typeface="Arial" panose="020B0604020202020204" pitchFamily="34" charset="0"/>
              </a:rPr>
              <a:t>Note that, </a:t>
            </a:r>
            <a:r>
              <a:rPr lang="en-US" altLang="en-US" sz="1600" b="1" dirty="0">
                <a:solidFill>
                  <a:srgbClr val="000000"/>
                </a:solidFill>
                <a:latin typeface="Arial" panose="020B0604020202020204" pitchFamily="34" charset="0"/>
                <a:cs typeface="Arial" panose="020B0604020202020204" pitchFamily="34" charset="0"/>
              </a:rPr>
              <a:t>in this context</a:t>
            </a:r>
            <a:r>
              <a:rPr lang="en-US" altLang="en-US" sz="1600" dirty="0">
                <a:solidFill>
                  <a:srgbClr val="000000"/>
                </a:solidFill>
                <a:latin typeface="Arial" panose="020B0604020202020204" pitchFamily="34" charset="0"/>
                <a:cs typeface="Arial" panose="020B0604020202020204" pitchFamily="34" charset="0"/>
              </a:rPr>
              <a:t>, </a:t>
            </a:r>
            <a:r>
              <a:rPr lang="en-US" altLang="en-US" sz="1600" b="1" dirty="0">
                <a:solidFill>
                  <a:srgbClr val="000000"/>
                </a:solidFill>
                <a:latin typeface="Monaco"/>
                <a:cs typeface="Arial" panose="020B0604020202020204" pitchFamily="34" charset="0"/>
              </a:rPr>
              <a:t>extends</a:t>
            </a:r>
            <a:r>
              <a:rPr lang="en-US" altLang="en-US" sz="1600" b="1" dirty="0">
                <a:solidFill>
                  <a:srgbClr val="000000"/>
                </a:solidFill>
                <a:latin typeface="Arial" panose="020B0604020202020204" pitchFamily="34" charset="0"/>
                <a:cs typeface="Arial" panose="020B0604020202020204" pitchFamily="34" charset="0"/>
              </a:rPr>
              <a:t> is used in a general sense to mean either </a:t>
            </a:r>
            <a:r>
              <a:rPr lang="en-US" altLang="en-US" sz="1600" dirty="0">
                <a:solidFill>
                  <a:srgbClr val="000000"/>
                </a:solidFill>
                <a:latin typeface="Arial" panose="020B0604020202020204" pitchFamily="34" charset="0"/>
                <a:cs typeface="Arial" panose="020B0604020202020204" pitchFamily="34" charset="0"/>
              </a:rPr>
              <a:t>"extends" (as in classes) or "implements" (as in interfaces).</a:t>
            </a:r>
            <a:endParaRPr lang="en-US" altLang="en-US" sz="4000" dirty="0">
              <a:latin typeface="Arial" panose="020B0604020202020204" pitchFamily="34" charset="0"/>
            </a:endParaRPr>
          </a:p>
        </p:txBody>
      </p:sp>
      <p:sp>
        <p:nvSpPr>
          <p:cNvPr id="6"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p:cNvPicPr>
            <a:picLocks noChangeAspect="1"/>
          </p:cNvPicPr>
          <p:nvPr/>
        </p:nvPicPr>
        <p:blipFill>
          <a:blip r:embed="rId2"/>
          <a:stretch>
            <a:fillRect/>
          </a:stretch>
        </p:blipFill>
        <p:spPr>
          <a:xfrm>
            <a:off x="5688744" y="1470581"/>
            <a:ext cx="6118972" cy="5005633"/>
          </a:xfrm>
          <a:prstGeom prst="rect">
            <a:avLst/>
          </a:prstGeom>
        </p:spPr>
      </p:pic>
    </p:spTree>
    <p:extLst>
      <p:ext uri="{BB962C8B-B14F-4D97-AF65-F5344CB8AC3E}">
        <p14:creationId xmlns:p14="http://schemas.microsoft.com/office/powerpoint/2010/main" val="4045116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Multiple Bounded Types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350907" y="1432382"/>
            <a:ext cx="11362535" cy="4893004"/>
          </a:xfrm>
          <a:prstGeom prst="rect">
            <a:avLst/>
          </a:prstGeom>
        </p:spPr>
      </p:pic>
    </p:spTree>
    <p:extLst>
      <p:ext uri="{BB962C8B-B14F-4D97-AF65-F5344CB8AC3E}">
        <p14:creationId xmlns:p14="http://schemas.microsoft.com/office/powerpoint/2010/main" val="590696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a:t>
            </a:r>
            <a:r>
              <a:rPr lang="en-US" dirty="0" err="1"/>
              <a:t>WildCard</a:t>
            </a:r>
            <a:endParaRPr lang="en-US" dirty="0"/>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p:cNvSpPr/>
          <p:nvPr/>
        </p:nvSpPr>
        <p:spPr>
          <a:xfrm>
            <a:off x="364761" y="1362274"/>
            <a:ext cx="11550719" cy="4662815"/>
          </a:xfrm>
          <a:prstGeom prst="rect">
            <a:avLst/>
          </a:prstGeom>
        </p:spPr>
        <p:txBody>
          <a:bodyPr wrap="square">
            <a:spAutoFit/>
          </a:bodyPr>
          <a:lstStyle/>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2200" dirty="0">
                <a:solidFill>
                  <a:srgbClr val="000000"/>
                </a:solidFill>
                <a:latin typeface="Corbel" panose="020B0503020204020204" pitchFamily="34" charset="0"/>
                <a:cs typeface="Arial" panose="020B0604020202020204" pitchFamily="34" charset="0"/>
              </a:rPr>
              <a:t>In generic code, the </a:t>
            </a:r>
            <a:r>
              <a:rPr lang="en-US" altLang="en-US" sz="2200" b="1" dirty="0">
                <a:solidFill>
                  <a:srgbClr val="000000"/>
                </a:solidFill>
                <a:latin typeface="Corbel" panose="020B0503020204020204" pitchFamily="34" charset="0"/>
                <a:cs typeface="Arial" panose="020B0604020202020204" pitchFamily="34" charset="0"/>
              </a:rPr>
              <a:t>question mark (</a:t>
            </a:r>
            <a:r>
              <a:rPr lang="en-US" altLang="en-US" sz="2200" b="1" dirty="0">
                <a:solidFill>
                  <a:srgbClr val="000000"/>
                </a:solidFill>
                <a:latin typeface="Corbel" panose="020B0503020204020204" pitchFamily="34" charset="0"/>
              </a:rPr>
              <a:t>?</a:t>
            </a:r>
            <a:r>
              <a:rPr lang="en-US" altLang="en-US" sz="2200" b="1" dirty="0">
                <a:solidFill>
                  <a:srgbClr val="000000"/>
                </a:solidFill>
                <a:latin typeface="Corbel" panose="020B0503020204020204" pitchFamily="34" charset="0"/>
                <a:cs typeface="Arial" panose="020B0604020202020204" pitchFamily="34" charset="0"/>
              </a:rPr>
              <a:t>)</a:t>
            </a:r>
            <a:r>
              <a:rPr lang="en-US" altLang="en-US" sz="2200" dirty="0">
                <a:solidFill>
                  <a:srgbClr val="000000"/>
                </a:solidFill>
                <a:latin typeface="Corbel" panose="020B0503020204020204" pitchFamily="34" charset="0"/>
                <a:cs typeface="Arial" panose="020B0604020202020204" pitchFamily="34" charset="0"/>
              </a:rPr>
              <a:t>, called the </a:t>
            </a:r>
            <a:r>
              <a:rPr lang="en-US" altLang="en-US" sz="2200" b="1" i="1" dirty="0">
                <a:solidFill>
                  <a:srgbClr val="000000"/>
                </a:solidFill>
                <a:latin typeface="Corbel" panose="020B0503020204020204" pitchFamily="34" charset="0"/>
                <a:cs typeface="Arial" panose="020B0604020202020204" pitchFamily="34" charset="0"/>
              </a:rPr>
              <a:t>wildcard</a:t>
            </a:r>
            <a:r>
              <a:rPr lang="en-US" altLang="en-US" sz="2200" dirty="0">
                <a:solidFill>
                  <a:srgbClr val="000000"/>
                </a:solidFill>
                <a:latin typeface="Corbel" panose="020B0503020204020204" pitchFamily="34" charset="0"/>
                <a:cs typeface="Arial" panose="020B0604020202020204" pitchFamily="34" charset="0"/>
              </a:rPr>
              <a:t>, represents an </a:t>
            </a:r>
            <a:r>
              <a:rPr lang="en-US" altLang="en-US" sz="2200" b="1" dirty="0">
                <a:solidFill>
                  <a:srgbClr val="000000"/>
                </a:solidFill>
                <a:latin typeface="Corbel" panose="020B0503020204020204" pitchFamily="34" charset="0"/>
                <a:cs typeface="Arial" panose="020B0604020202020204" pitchFamily="34" charset="0"/>
              </a:rPr>
              <a:t>unknown type</a:t>
            </a:r>
            <a:r>
              <a:rPr lang="en-US" altLang="en-US" sz="2200" dirty="0">
                <a:solidFill>
                  <a:srgbClr val="000000"/>
                </a:solidFill>
                <a:latin typeface="Corbel" panose="020B0503020204020204" pitchFamily="34" charset="0"/>
                <a:cs typeface="Arial" panose="020B0604020202020204" pitchFamily="34" charset="0"/>
              </a:rPr>
              <a:t>.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2200" dirty="0">
                <a:solidFill>
                  <a:srgbClr val="000000"/>
                </a:solidFill>
                <a:latin typeface="Corbel" panose="020B0503020204020204" pitchFamily="34" charset="0"/>
                <a:cs typeface="Arial" panose="020B0604020202020204" pitchFamily="34" charset="0"/>
              </a:rPr>
              <a:t>The wildcard can be used in a variety of situations: as the type of a parameter, field, or local variable; sometimes as a return type (though it is better programming practice to be more specific).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2200" dirty="0">
                <a:solidFill>
                  <a:srgbClr val="000000"/>
                </a:solidFill>
                <a:latin typeface="Corbel" panose="020B0503020204020204" pitchFamily="34" charset="0"/>
                <a:cs typeface="Arial" panose="020B0604020202020204" pitchFamily="34" charset="0"/>
              </a:rPr>
              <a:t>The wildcard is </a:t>
            </a:r>
            <a:r>
              <a:rPr lang="en-US" altLang="en-US" sz="2200" b="1" dirty="0">
                <a:solidFill>
                  <a:srgbClr val="000000"/>
                </a:solidFill>
                <a:latin typeface="Corbel" panose="020B0503020204020204" pitchFamily="34" charset="0"/>
                <a:cs typeface="Arial" panose="020B0604020202020204" pitchFamily="34" charset="0"/>
              </a:rPr>
              <a:t>never used as a type argument </a:t>
            </a:r>
            <a:r>
              <a:rPr lang="en-US" altLang="en-US" sz="2200" dirty="0">
                <a:solidFill>
                  <a:srgbClr val="000000"/>
                </a:solidFill>
                <a:latin typeface="Corbel" panose="020B0503020204020204" pitchFamily="34" charset="0"/>
                <a:cs typeface="Arial" panose="020B0604020202020204" pitchFamily="34" charset="0"/>
              </a:rPr>
              <a:t>for a </a:t>
            </a:r>
            <a:r>
              <a:rPr lang="en-US" altLang="en-US" sz="2200" b="1" dirty="0">
                <a:solidFill>
                  <a:srgbClr val="000000"/>
                </a:solidFill>
                <a:latin typeface="Corbel" panose="020B0503020204020204" pitchFamily="34" charset="0"/>
                <a:cs typeface="Arial" panose="020B0604020202020204" pitchFamily="34" charset="0"/>
              </a:rPr>
              <a:t>generic method invocation</a:t>
            </a:r>
            <a:r>
              <a:rPr lang="en-US" altLang="en-US" sz="2200" dirty="0">
                <a:solidFill>
                  <a:srgbClr val="000000"/>
                </a:solidFill>
                <a:latin typeface="Corbel" panose="020B0503020204020204" pitchFamily="34" charset="0"/>
                <a:cs typeface="Arial" panose="020B0604020202020204" pitchFamily="34" charset="0"/>
              </a:rPr>
              <a:t>, a generic class instance creation, or a </a:t>
            </a:r>
            <a:r>
              <a:rPr lang="en-US" altLang="en-US" sz="2200" dirty="0" err="1">
                <a:solidFill>
                  <a:srgbClr val="000000"/>
                </a:solidFill>
                <a:latin typeface="Corbel" panose="020B0503020204020204" pitchFamily="34" charset="0"/>
                <a:cs typeface="Arial" panose="020B0604020202020204" pitchFamily="34" charset="0"/>
              </a:rPr>
              <a:t>supertype</a:t>
            </a:r>
            <a:r>
              <a:rPr lang="en-US" altLang="en-US" sz="2200" dirty="0">
                <a:solidFill>
                  <a:srgbClr val="000000"/>
                </a:solidFill>
                <a:latin typeface="Corbel" panose="020B0503020204020204" pitchFamily="34" charset="0"/>
                <a:cs typeface="Arial" panose="020B0604020202020204" pitchFamily="34" charset="0"/>
              </a:rPr>
              <a:t>.</a:t>
            </a:r>
            <a:r>
              <a:rPr lang="en-US" altLang="en-US" sz="2200" dirty="0">
                <a:latin typeface="Corbel" panose="020B0503020204020204" pitchFamily="34" charset="0"/>
              </a:rPr>
              <a:t>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2200" dirty="0">
                <a:solidFill>
                  <a:srgbClr val="000000"/>
                </a:solidFill>
                <a:latin typeface="Corbel" panose="020B0503020204020204" pitchFamily="34" charset="0"/>
                <a:cs typeface="Arial" panose="020B0604020202020204" pitchFamily="34" charset="0"/>
              </a:rPr>
              <a:t>You can use an </a:t>
            </a:r>
            <a:r>
              <a:rPr lang="en-US" altLang="en-US" sz="2200" b="1" dirty="0">
                <a:solidFill>
                  <a:srgbClr val="000000"/>
                </a:solidFill>
                <a:latin typeface="Corbel" panose="020B0503020204020204" pitchFamily="34" charset="0"/>
                <a:cs typeface="Arial" panose="020B0604020202020204" pitchFamily="34" charset="0"/>
              </a:rPr>
              <a:t>upper bounded wildcard </a:t>
            </a:r>
            <a:r>
              <a:rPr lang="en-US" altLang="en-US" sz="2200" dirty="0">
                <a:solidFill>
                  <a:srgbClr val="000000"/>
                </a:solidFill>
                <a:latin typeface="Corbel" panose="020B0503020204020204" pitchFamily="34" charset="0"/>
                <a:cs typeface="Arial" panose="020B0604020202020204" pitchFamily="34" charset="0"/>
              </a:rPr>
              <a:t>to </a:t>
            </a:r>
            <a:r>
              <a:rPr lang="en-US" altLang="en-US" sz="2200" b="1" dirty="0">
                <a:solidFill>
                  <a:srgbClr val="000000"/>
                </a:solidFill>
                <a:latin typeface="Corbel" panose="020B0503020204020204" pitchFamily="34" charset="0"/>
                <a:cs typeface="Arial" panose="020B0604020202020204" pitchFamily="34" charset="0"/>
              </a:rPr>
              <a:t>relax the restrictions on a variable</a:t>
            </a:r>
            <a:r>
              <a:rPr lang="en-US" altLang="en-US" sz="2200" dirty="0">
                <a:solidFill>
                  <a:srgbClr val="000000"/>
                </a:solidFill>
                <a:latin typeface="Corbel" panose="020B0503020204020204" pitchFamily="34" charset="0"/>
                <a:cs typeface="Arial" panose="020B0604020202020204" pitchFamily="34" charset="0"/>
              </a:rPr>
              <a:t>. For example, say you want to write a method that works on List&lt;Integer&gt;, List&lt;Double&gt;, </a:t>
            </a:r>
            <a:r>
              <a:rPr lang="en-US" altLang="en-US" sz="2200" i="1" dirty="0">
                <a:solidFill>
                  <a:srgbClr val="000000"/>
                </a:solidFill>
                <a:latin typeface="Corbel" panose="020B0503020204020204" pitchFamily="34" charset="0"/>
                <a:cs typeface="Arial" panose="020B0604020202020204" pitchFamily="34" charset="0"/>
              </a:rPr>
              <a:t>and</a:t>
            </a:r>
            <a:r>
              <a:rPr lang="en-US" altLang="en-US" sz="2200" dirty="0">
                <a:solidFill>
                  <a:srgbClr val="000000"/>
                </a:solidFill>
                <a:latin typeface="Corbel" panose="020B0503020204020204" pitchFamily="34" charset="0"/>
                <a:cs typeface="Arial" panose="020B0604020202020204" pitchFamily="34" charset="0"/>
              </a:rPr>
              <a:t> List&lt;Number&gt;; you can achieve this by using an upper bounded wildcard.</a:t>
            </a:r>
            <a:endParaRPr lang="en-US" altLang="en-US" sz="2200" dirty="0">
              <a:latin typeface="Corbel" panose="020B0503020204020204" pitchFamily="34" charset="0"/>
            </a:endParaRPr>
          </a:p>
        </p:txBody>
      </p:sp>
      <p:sp>
        <p:nvSpPr>
          <p:cNvPr id="6"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26892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a:t>
            </a:r>
            <a:r>
              <a:rPr lang="en-US" dirty="0" err="1"/>
              <a:t>WildCard</a:t>
            </a:r>
            <a:endParaRPr lang="en-US" dirty="0"/>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p:cNvSpPr/>
          <p:nvPr/>
        </p:nvSpPr>
        <p:spPr>
          <a:xfrm>
            <a:off x="364761" y="1362274"/>
            <a:ext cx="11550719" cy="5632311"/>
          </a:xfrm>
          <a:prstGeom prst="rect">
            <a:avLst/>
          </a:prstGeom>
        </p:spPr>
        <p:txBody>
          <a:bodyPr wrap="square">
            <a:spAutoFit/>
          </a:bodyPr>
          <a:lstStyle/>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2400" dirty="0">
                <a:solidFill>
                  <a:srgbClr val="000000"/>
                </a:solidFill>
                <a:latin typeface="Corbel" panose="020B0503020204020204" pitchFamily="34" charset="0"/>
                <a:cs typeface="Arial" panose="020B0604020202020204" pitchFamily="34" charset="0"/>
              </a:rPr>
              <a:t>To </a:t>
            </a:r>
            <a:r>
              <a:rPr lang="en-US" altLang="en-US" sz="2400" b="1" dirty="0">
                <a:solidFill>
                  <a:srgbClr val="000000"/>
                </a:solidFill>
                <a:latin typeface="Corbel" panose="020B0503020204020204" pitchFamily="34" charset="0"/>
                <a:cs typeface="Arial" panose="020B0604020202020204" pitchFamily="34" charset="0"/>
              </a:rPr>
              <a:t>declare an upper-bounded wildcard</a:t>
            </a:r>
            <a:r>
              <a:rPr lang="en-US" altLang="en-US" sz="2400" dirty="0">
                <a:solidFill>
                  <a:srgbClr val="000000"/>
                </a:solidFill>
                <a:latin typeface="Corbel" panose="020B0503020204020204" pitchFamily="34" charset="0"/>
                <a:cs typeface="Arial" panose="020B0604020202020204" pitchFamily="34" charset="0"/>
              </a:rPr>
              <a:t>, use the </a:t>
            </a:r>
            <a:r>
              <a:rPr lang="en-US" altLang="en-US" sz="2400" b="1" dirty="0">
                <a:solidFill>
                  <a:srgbClr val="000000"/>
                </a:solidFill>
                <a:latin typeface="Corbel" panose="020B0503020204020204" pitchFamily="34" charset="0"/>
                <a:cs typeface="Arial" panose="020B0604020202020204" pitchFamily="34" charset="0"/>
              </a:rPr>
              <a:t>wildcard character ('?'), followed by the extends keyword, followed by its </a:t>
            </a:r>
            <a:r>
              <a:rPr lang="en-US" altLang="en-US" sz="2400" b="1" i="1" dirty="0">
                <a:solidFill>
                  <a:srgbClr val="000000"/>
                </a:solidFill>
                <a:latin typeface="Corbel" panose="020B0503020204020204" pitchFamily="34" charset="0"/>
                <a:cs typeface="Arial" panose="020B0604020202020204" pitchFamily="34" charset="0"/>
              </a:rPr>
              <a:t>upper bound</a:t>
            </a:r>
            <a:r>
              <a:rPr lang="en-US" altLang="en-US" sz="2400" dirty="0">
                <a:solidFill>
                  <a:srgbClr val="000000"/>
                </a:solidFill>
                <a:latin typeface="Corbel" panose="020B0503020204020204" pitchFamily="34" charset="0"/>
                <a:cs typeface="Arial" panose="020B0604020202020204" pitchFamily="34" charset="0"/>
              </a:rPr>
              <a:t>. Note that, in this context, extends is used in a general sense to mean either "extends" (as in classes) or "implements" (as in interfaces).</a:t>
            </a:r>
            <a:endParaRPr lang="en-US" altLang="en-US" sz="2400" dirty="0">
              <a:latin typeface="Corbel" panose="020B0503020204020204" pitchFamily="34" charset="0"/>
            </a:endParaRP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2400" dirty="0">
                <a:solidFill>
                  <a:srgbClr val="000000"/>
                </a:solidFill>
                <a:latin typeface="Corbel" panose="020B0503020204020204" pitchFamily="34" charset="0"/>
                <a:cs typeface="Arial" panose="020B0604020202020204" pitchFamily="34" charset="0"/>
              </a:rPr>
              <a:t>To write the method that works on lists of Number and the subtypes of Number, such as Integer, Double, and Float, you would specify </a:t>
            </a:r>
            <a:r>
              <a:rPr lang="en-US" altLang="en-US" sz="2400" b="1" dirty="0">
                <a:solidFill>
                  <a:srgbClr val="000000"/>
                </a:solidFill>
                <a:latin typeface="Corbel" panose="020B0503020204020204" pitchFamily="34" charset="0"/>
                <a:cs typeface="Arial" panose="020B0604020202020204" pitchFamily="34" charset="0"/>
              </a:rPr>
              <a:t>List&lt;? extends Number&gt;.</a:t>
            </a:r>
            <a:r>
              <a:rPr lang="en-US" altLang="en-US" sz="2400" dirty="0">
                <a:solidFill>
                  <a:srgbClr val="000000"/>
                </a:solidFill>
                <a:latin typeface="Corbel" panose="020B0503020204020204" pitchFamily="34" charset="0"/>
                <a:cs typeface="Arial" panose="020B0604020202020204" pitchFamily="34" charset="0"/>
              </a:rPr>
              <a:t> The term </a:t>
            </a:r>
            <a:r>
              <a:rPr lang="en-US" altLang="en-US" sz="2400" b="1" dirty="0">
                <a:solidFill>
                  <a:srgbClr val="000000"/>
                </a:solidFill>
                <a:latin typeface="Corbel" panose="020B0503020204020204" pitchFamily="34" charset="0"/>
                <a:cs typeface="Arial" panose="020B0604020202020204" pitchFamily="34" charset="0"/>
              </a:rPr>
              <a:t>List&lt;Number&gt; is more restrictive </a:t>
            </a:r>
            <a:r>
              <a:rPr lang="en-US" altLang="en-US" sz="2400" dirty="0">
                <a:solidFill>
                  <a:srgbClr val="000000"/>
                </a:solidFill>
                <a:latin typeface="Corbel" panose="020B0503020204020204" pitchFamily="34" charset="0"/>
                <a:cs typeface="Arial" panose="020B0604020202020204" pitchFamily="34" charset="0"/>
              </a:rPr>
              <a:t>than </a:t>
            </a:r>
            <a:r>
              <a:rPr lang="en-US" altLang="en-US" sz="2400" b="1" dirty="0">
                <a:solidFill>
                  <a:srgbClr val="000000"/>
                </a:solidFill>
                <a:latin typeface="Corbel" panose="020B0503020204020204" pitchFamily="34" charset="0"/>
                <a:cs typeface="Arial" panose="020B0604020202020204" pitchFamily="34" charset="0"/>
              </a:rPr>
              <a:t>List&lt;? extends Number&gt;</a:t>
            </a:r>
            <a:r>
              <a:rPr lang="en-US" altLang="en-US" sz="2400" dirty="0">
                <a:solidFill>
                  <a:srgbClr val="000000"/>
                </a:solidFill>
                <a:latin typeface="Corbel" panose="020B0503020204020204" pitchFamily="34" charset="0"/>
                <a:cs typeface="Arial" panose="020B0604020202020204" pitchFamily="34" charset="0"/>
              </a:rPr>
              <a:t>because the former matches a list of type Number only, whereas the latter matches a list of type Number or any of its subclasses.</a:t>
            </a:r>
            <a:endParaRPr lang="en-US" altLang="en-US" sz="2400" dirty="0">
              <a:latin typeface="Corbel" panose="020B0503020204020204" pitchFamily="34" charset="0"/>
            </a:endParaRPr>
          </a:p>
          <a:p>
            <a:pPr marL="285750" lvl="0" indent="-285750" eaLnBrk="0" fontAlgn="base" hangingPunct="0">
              <a:lnSpc>
                <a:spcPct val="150000"/>
              </a:lnSpc>
              <a:spcBef>
                <a:spcPct val="0"/>
              </a:spcBef>
              <a:spcAft>
                <a:spcPct val="0"/>
              </a:spcAft>
              <a:buFont typeface="Arial" panose="020B0604020202020204" pitchFamily="34" charset="0"/>
              <a:buChar char="•"/>
            </a:pPr>
            <a:endParaRPr lang="en-US" altLang="en-US" sz="2400" dirty="0">
              <a:latin typeface="Corbel" panose="020B0503020204020204" pitchFamily="34" charset="0"/>
            </a:endParaRPr>
          </a:p>
        </p:txBody>
      </p:sp>
      <p:sp>
        <p:nvSpPr>
          <p:cNvPr id="6"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31827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Type Erasure</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328167" y="1173162"/>
            <a:ext cx="10985293"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Corbel" panose="020B0503020204020204" pitchFamily="34" charset="0"/>
                <a:cs typeface="Arial" panose="020B0604020202020204" pitchFamily="34" charset="0"/>
              </a:rPr>
              <a:t>Generics were introduced to the Java language to provide tighter type checks at compile time and to support generic programming. To </a:t>
            </a:r>
            <a:r>
              <a:rPr kumimoji="0" lang="en-US" altLang="en-US" sz="2000" b="1" i="0" u="none" strike="noStrike" cap="none" normalizeH="0" baseline="0" dirty="0">
                <a:ln>
                  <a:noFill/>
                </a:ln>
                <a:solidFill>
                  <a:srgbClr val="000000"/>
                </a:solidFill>
                <a:effectLst/>
                <a:latin typeface="Corbel" panose="020B0503020204020204" pitchFamily="34" charset="0"/>
                <a:cs typeface="Arial" panose="020B0604020202020204" pitchFamily="34" charset="0"/>
              </a:rPr>
              <a:t>implement generics</a:t>
            </a:r>
            <a:r>
              <a:rPr kumimoji="0" lang="en-US" altLang="en-US" sz="2000" b="0" i="0" u="none" strike="noStrike" cap="none" normalizeH="0" baseline="0" dirty="0">
                <a:ln>
                  <a:noFill/>
                </a:ln>
                <a:solidFill>
                  <a:srgbClr val="000000"/>
                </a:solidFill>
                <a:effectLst/>
                <a:latin typeface="Corbel" panose="020B0503020204020204" pitchFamily="34" charset="0"/>
                <a:cs typeface="Arial" panose="020B0604020202020204" pitchFamily="34" charset="0"/>
              </a:rPr>
              <a:t>, the </a:t>
            </a:r>
            <a:r>
              <a:rPr kumimoji="0" lang="en-US" altLang="en-US" sz="2000" b="1" i="0" u="none" strike="noStrike" cap="none" normalizeH="0" baseline="0" dirty="0">
                <a:ln>
                  <a:noFill/>
                </a:ln>
                <a:solidFill>
                  <a:srgbClr val="000000"/>
                </a:solidFill>
                <a:effectLst/>
                <a:latin typeface="Corbel" panose="020B0503020204020204" pitchFamily="34" charset="0"/>
                <a:cs typeface="Arial" panose="020B0604020202020204" pitchFamily="34" charset="0"/>
              </a:rPr>
              <a:t>Java compiler applies type erasure </a:t>
            </a:r>
            <a:r>
              <a:rPr kumimoji="0" lang="en-US" altLang="en-US" sz="2000" b="0" i="0" u="none" strike="noStrike" cap="none" normalizeH="0" baseline="0" dirty="0">
                <a:ln>
                  <a:noFill/>
                </a:ln>
                <a:solidFill>
                  <a:srgbClr val="000000"/>
                </a:solidFill>
                <a:effectLst/>
                <a:latin typeface="Corbel" panose="020B0503020204020204" pitchFamily="34" charset="0"/>
                <a:cs typeface="Arial" panose="020B0604020202020204" pitchFamily="34" charset="0"/>
              </a:rPr>
              <a:t>to:</a:t>
            </a:r>
            <a:endParaRPr kumimoji="0" lang="en-US" altLang="en-US" sz="2000" b="0" i="0" u="none" strike="noStrike" cap="none" normalizeH="0" baseline="0" dirty="0">
              <a:ln>
                <a:noFill/>
              </a:ln>
              <a:solidFill>
                <a:schemeClr val="tx1"/>
              </a:solidFill>
              <a:effectLst/>
              <a:latin typeface="Corbel" panose="020B0503020204020204" pitchFamily="34" charset="0"/>
            </a:endParaRPr>
          </a:p>
          <a:p>
            <a:pPr marL="800100" lvl="1" indent="-342900">
              <a:lnSpc>
                <a:spcPct val="150000"/>
              </a:lnSpc>
              <a:buFont typeface="Arial" panose="020B0604020202020204" pitchFamily="34" charset="0"/>
              <a:buChar char="•"/>
            </a:pPr>
            <a:r>
              <a:rPr kumimoji="0" lang="en-US" altLang="en-US" sz="2000" b="1" i="0" u="none" strike="noStrike" cap="none" normalizeH="0" baseline="0" dirty="0">
                <a:ln>
                  <a:noFill/>
                </a:ln>
                <a:solidFill>
                  <a:srgbClr val="000000"/>
                </a:solidFill>
                <a:effectLst/>
                <a:latin typeface="Corbel" panose="020B0503020204020204" pitchFamily="34" charset="0"/>
                <a:cs typeface="Arial" panose="020B0604020202020204" pitchFamily="34" charset="0"/>
              </a:rPr>
              <a:t>Replace all type parameters </a:t>
            </a:r>
            <a:r>
              <a:rPr kumimoji="0" lang="en-US" altLang="en-US" sz="2000" b="0" i="0" u="none" strike="noStrike" cap="none" normalizeH="0" baseline="0" dirty="0">
                <a:ln>
                  <a:noFill/>
                </a:ln>
                <a:solidFill>
                  <a:srgbClr val="000000"/>
                </a:solidFill>
                <a:effectLst/>
                <a:latin typeface="Corbel" panose="020B0503020204020204" pitchFamily="34" charset="0"/>
                <a:cs typeface="Arial" panose="020B0604020202020204" pitchFamily="34" charset="0"/>
              </a:rPr>
              <a:t>in generic types with their bounds or Object if the type parameters are unbounded. The produced bytecode, therefore, contains only ordinary classes, interfaces, and methods.</a:t>
            </a:r>
          </a:p>
          <a:p>
            <a:pPr marL="800100" lvl="1" indent="-342900">
              <a:lnSpc>
                <a:spcPct val="150000"/>
              </a:lnSpc>
              <a:buFont typeface="Arial" panose="020B0604020202020204" pitchFamily="34" charset="0"/>
              <a:buChar char="•"/>
            </a:pPr>
            <a:r>
              <a:rPr kumimoji="0" lang="en-US" altLang="en-US" sz="2000" b="1" i="0" u="none" strike="noStrike" cap="none" normalizeH="0" baseline="0" dirty="0">
                <a:ln>
                  <a:noFill/>
                </a:ln>
                <a:solidFill>
                  <a:srgbClr val="000000"/>
                </a:solidFill>
                <a:effectLst/>
                <a:latin typeface="Corbel" panose="020B0503020204020204" pitchFamily="34" charset="0"/>
                <a:cs typeface="Arial" panose="020B0604020202020204" pitchFamily="34" charset="0"/>
              </a:rPr>
              <a:t>Insert type casts </a:t>
            </a:r>
            <a:r>
              <a:rPr kumimoji="0" lang="en-US" altLang="en-US" sz="2000" b="0" i="0" u="none" strike="noStrike" cap="none" normalizeH="0" baseline="0" dirty="0">
                <a:ln>
                  <a:noFill/>
                </a:ln>
                <a:solidFill>
                  <a:srgbClr val="000000"/>
                </a:solidFill>
                <a:effectLst/>
                <a:latin typeface="Corbel" panose="020B0503020204020204" pitchFamily="34" charset="0"/>
                <a:cs typeface="Arial" panose="020B0604020202020204" pitchFamily="34" charset="0"/>
              </a:rPr>
              <a:t>if necessary to preserve type safety.</a:t>
            </a:r>
          </a:p>
          <a:p>
            <a:pPr marL="800100" lvl="1" indent="-342900">
              <a:lnSpc>
                <a:spcPct val="150000"/>
              </a:lnSpc>
              <a:buFont typeface="Arial" panose="020B0604020202020204" pitchFamily="34" charset="0"/>
              <a:buChar char="•"/>
            </a:pPr>
            <a:r>
              <a:rPr kumimoji="0" lang="en-US" altLang="en-US" sz="2000" b="1" i="0" u="none" strike="noStrike" cap="none" normalizeH="0" baseline="0" dirty="0">
                <a:ln>
                  <a:noFill/>
                </a:ln>
                <a:solidFill>
                  <a:srgbClr val="000000"/>
                </a:solidFill>
                <a:effectLst/>
                <a:latin typeface="Corbel" panose="020B0503020204020204" pitchFamily="34" charset="0"/>
                <a:cs typeface="Arial" panose="020B0604020202020204" pitchFamily="34" charset="0"/>
              </a:rPr>
              <a:t>Generate bridge methods </a:t>
            </a:r>
            <a:r>
              <a:rPr kumimoji="0" lang="en-US" altLang="en-US" sz="2000" b="0" i="0" u="none" strike="noStrike" cap="none" normalizeH="0" baseline="0" dirty="0">
                <a:ln>
                  <a:noFill/>
                </a:ln>
                <a:solidFill>
                  <a:srgbClr val="000000"/>
                </a:solidFill>
                <a:effectLst/>
                <a:latin typeface="Corbel" panose="020B0503020204020204" pitchFamily="34" charset="0"/>
                <a:cs typeface="Arial" panose="020B0604020202020204" pitchFamily="34" charset="0"/>
              </a:rPr>
              <a:t>to preserve polymorphism in extended generic types.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Corbel" panose="020B0503020204020204" pitchFamily="34" charset="0"/>
                <a:cs typeface="Arial" panose="020B0604020202020204" pitchFamily="34" charset="0"/>
              </a:rPr>
              <a:t>Type erasure ensures that </a:t>
            </a:r>
            <a:r>
              <a:rPr kumimoji="0" lang="en-US" altLang="en-US" sz="2000" b="1" i="0" u="none" strike="noStrike" cap="none" normalizeH="0" baseline="0" dirty="0">
                <a:ln>
                  <a:noFill/>
                </a:ln>
                <a:solidFill>
                  <a:srgbClr val="000000"/>
                </a:solidFill>
                <a:effectLst/>
                <a:latin typeface="Corbel" panose="020B0503020204020204" pitchFamily="34" charset="0"/>
                <a:cs typeface="Arial" panose="020B0604020202020204" pitchFamily="34" charset="0"/>
              </a:rPr>
              <a:t>no new classes are created for parameterized types</a:t>
            </a:r>
            <a:r>
              <a:rPr kumimoji="0" lang="en-US" altLang="en-US" sz="2000" b="0" i="0" u="none" strike="noStrike" cap="none" normalizeH="0" baseline="0" dirty="0">
                <a:ln>
                  <a:noFill/>
                </a:ln>
                <a:solidFill>
                  <a:srgbClr val="000000"/>
                </a:solidFill>
                <a:effectLst/>
                <a:latin typeface="Corbel" panose="020B0503020204020204" pitchFamily="34" charset="0"/>
                <a:cs typeface="Arial" panose="020B0604020202020204" pitchFamily="34" charset="0"/>
              </a:rPr>
              <a:t>; consequently, </a:t>
            </a:r>
            <a:r>
              <a:rPr kumimoji="0" lang="en-US" altLang="en-US" sz="2000" b="1" i="0" u="none" strike="noStrike" cap="none" normalizeH="0" baseline="0" dirty="0">
                <a:ln>
                  <a:noFill/>
                </a:ln>
                <a:solidFill>
                  <a:srgbClr val="000000"/>
                </a:solidFill>
                <a:effectLst/>
                <a:latin typeface="Corbel" panose="020B0503020204020204" pitchFamily="34" charset="0"/>
                <a:cs typeface="Arial" panose="020B0604020202020204" pitchFamily="34" charset="0"/>
              </a:rPr>
              <a:t>generics incur no runtime overhead</a:t>
            </a:r>
            <a:r>
              <a:rPr kumimoji="0" lang="en-US" altLang="en-US" sz="2000" b="0" i="0" u="none" strike="noStrike" cap="none" normalizeH="0" baseline="0" dirty="0">
                <a:ln>
                  <a:noFill/>
                </a:ln>
                <a:solidFill>
                  <a:srgbClr val="000000"/>
                </a:solidFill>
                <a:effectLst/>
                <a:latin typeface="Corbel" panose="020B0503020204020204" pitchFamily="34" charset="0"/>
                <a:cs typeface="Arial" panose="020B0604020202020204" pitchFamily="34" charset="0"/>
              </a:rPr>
              <a: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2000" dirty="0">
                <a:solidFill>
                  <a:srgbClr val="000000"/>
                </a:solidFill>
                <a:latin typeface="Corbel" panose="020B0503020204020204" pitchFamily="34" charset="0"/>
                <a:cs typeface="Arial" panose="020B0604020202020204" pitchFamily="34" charset="0"/>
              </a:rPr>
              <a:t>During </a:t>
            </a:r>
            <a:r>
              <a:rPr lang="en-US" altLang="en-US" sz="2000" b="1" dirty="0">
                <a:solidFill>
                  <a:srgbClr val="000000"/>
                </a:solidFill>
                <a:latin typeface="Corbel" panose="020B0503020204020204" pitchFamily="34" charset="0"/>
                <a:cs typeface="Arial" panose="020B0604020202020204" pitchFamily="34" charset="0"/>
              </a:rPr>
              <a:t>type erasure process</a:t>
            </a:r>
            <a:r>
              <a:rPr lang="en-US" altLang="en-US" sz="2000" dirty="0">
                <a:solidFill>
                  <a:srgbClr val="000000"/>
                </a:solidFill>
                <a:latin typeface="Corbel" panose="020B0503020204020204" pitchFamily="34" charset="0"/>
                <a:cs typeface="Arial" panose="020B0604020202020204" pitchFamily="34" charset="0"/>
              </a:rPr>
              <a:t>, the </a:t>
            </a:r>
            <a:r>
              <a:rPr lang="en-US" altLang="en-US" sz="2000" b="1" dirty="0">
                <a:solidFill>
                  <a:srgbClr val="000000"/>
                </a:solidFill>
                <a:latin typeface="Corbel" panose="020B0503020204020204" pitchFamily="34" charset="0"/>
                <a:cs typeface="Arial" panose="020B0604020202020204" pitchFamily="34" charset="0"/>
              </a:rPr>
              <a:t>compiler erases all type parameters </a:t>
            </a:r>
            <a:r>
              <a:rPr lang="en-US" altLang="en-US" sz="2000" dirty="0">
                <a:solidFill>
                  <a:srgbClr val="000000"/>
                </a:solidFill>
                <a:latin typeface="Corbel" panose="020B0503020204020204" pitchFamily="34" charset="0"/>
                <a:cs typeface="Arial" panose="020B0604020202020204" pitchFamily="34" charset="0"/>
              </a:rPr>
              <a:t>and </a:t>
            </a:r>
            <a:r>
              <a:rPr lang="en-US" altLang="en-US" sz="2000" b="1" dirty="0">
                <a:solidFill>
                  <a:srgbClr val="000000"/>
                </a:solidFill>
                <a:latin typeface="Corbel" panose="020B0503020204020204" pitchFamily="34" charset="0"/>
                <a:cs typeface="Arial" panose="020B0604020202020204" pitchFamily="34" charset="0"/>
              </a:rPr>
              <a:t>replaces each with its first bound or type parameter</a:t>
            </a:r>
            <a:r>
              <a:rPr lang="en-US" altLang="en-US" sz="2000" dirty="0">
                <a:solidFill>
                  <a:srgbClr val="000000"/>
                </a:solidFill>
                <a:latin typeface="Corbel" panose="020B0503020204020204" pitchFamily="34" charset="0"/>
                <a:cs typeface="Arial" panose="020B0604020202020204" pitchFamily="34" charset="0"/>
              </a:rPr>
              <a:t>, depending on whether it is bounded or unbounded</a:t>
            </a:r>
            <a:endParaRPr kumimoji="0" lang="en-US" altLang="en-US" sz="2000" b="0" i="0" u="none" strike="noStrike" cap="none" normalizeH="0" baseline="0" dirty="0">
              <a:ln>
                <a:noFill/>
              </a:ln>
              <a:solidFill>
                <a:schemeClr val="tx1"/>
              </a:solidFill>
              <a:effectLst/>
              <a:latin typeface="Corbel" panose="020B0503020204020204" pitchFamily="34" charset="0"/>
            </a:endParaRPr>
          </a:p>
        </p:txBody>
      </p:sp>
    </p:spTree>
    <p:extLst>
      <p:ext uri="{BB962C8B-B14F-4D97-AF65-F5344CB8AC3E}">
        <p14:creationId xmlns:p14="http://schemas.microsoft.com/office/powerpoint/2010/main" val="853428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Restrictions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p:cNvPicPr>
            <a:picLocks noChangeAspect="1"/>
          </p:cNvPicPr>
          <p:nvPr/>
        </p:nvPicPr>
        <p:blipFill>
          <a:blip r:embed="rId2"/>
          <a:stretch>
            <a:fillRect/>
          </a:stretch>
        </p:blipFill>
        <p:spPr>
          <a:xfrm>
            <a:off x="725864" y="1385740"/>
            <a:ext cx="11147912" cy="5285802"/>
          </a:xfrm>
          <a:prstGeom prst="rect">
            <a:avLst/>
          </a:prstGeom>
        </p:spPr>
      </p:pic>
    </p:spTree>
    <p:extLst>
      <p:ext uri="{BB962C8B-B14F-4D97-AF65-F5344CB8AC3E}">
        <p14:creationId xmlns:p14="http://schemas.microsoft.com/office/powerpoint/2010/main" val="3731670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Restrictions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a:stretch>
            <a:fillRect/>
          </a:stretch>
        </p:blipFill>
        <p:spPr>
          <a:xfrm>
            <a:off x="1104900" y="1465670"/>
            <a:ext cx="9707644" cy="5251281"/>
          </a:xfrm>
          <a:prstGeom prst="rect">
            <a:avLst/>
          </a:prstGeom>
        </p:spPr>
      </p:pic>
    </p:spTree>
    <p:extLst>
      <p:ext uri="{BB962C8B-B14F-4D97-AF65-F5344CB8AC3E}">
        <p14:creationId xmlns:p14="http://schemas.microsoft.com/office/powerpoint/2010/main" val="2127980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Restrictions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p:cNvPicPr>
            <a:picLocks noChangeAspect="1"/>
          </p:cNvPicPr>
          <p:nvPr/>
        </p:nvPicPr>
        <p:blipFill>
          <a:blip r:embed="rId2"/>
          <a:stretch>
            <a:fillRect/>
          </a:stretch>
        </p:blipFill>
        <p:spPr>
          <a:xfrm>
            <a:off x="184731" y="1389629"/>
            <a:ext cx="11796737" cy="5133718"/>
          </a:xfrm>
          <a:prstGeom prst="rect">
            <a:avLst/>
          </a:prstGeom>
        </p:spPr>
      </p:pic>
    </p:spTree>
    <p:extLst>
      <p:ext uri="{BB962C8B-B14F-4D97-AF65-F5344CB8AC3E}">
        <p14:creationId xmlns:p14="http://schemas.microsoft.com/office/powerpoint/2010/main" val="21406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Restrictions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a:stretch>
            <a:fillRect/>
          </a:stretch>
        </p:blipFill>
        <p:spPr>
          <a:xfrm>
            <a:off x="141463" y="1338607"/>
            <a:ext cx="11626176" cy="5088301"/>
          </a:xfrm>
          <a:prstGeom prst="rect">
            <a:avLst/>
          </a:prstGeom>
        </p:spPr>
      </p:pic>
    </p:spTree>
    <p:extLst>
      <p:ext uri="{BB962C8B-B14F-4D97-AF65-F5344CB8AC3E}">
        <p14:creationId xmlns:p14="http://schemas.microsoft.com/office/powerpoint/2010/main" val="941981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Restrictions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p:cNvPicPr>
            <a:picLocks noChangeAspect="1"/>
          </p:cNvPicPr>
          <p:nvPr/>
        </p:nvPicPr>
        <p:blipFill>
          <a:blip r:embed="rId2"/>
          <a:stretch>
            <a:fillRect/>
          </a:stretch>
        </p:blipFill>
        <p:spPr>
          <a:xfrm>
            <a:off x="598955" y="1495145"/>
            <a:ext cx="10185586" cy="5141412"/>
          </a:xfrm>
          <a:prstGeom prst="rect">
            <a:avLst/>
          </a:prstGeom>
        </p:spPr>
      </p:pic>
    </p:spTree>
    <p:extLst>
      <p:ext uri="{BB962C8B-B14F-4D97-AF65-F5344CB8AC3E}">
        <p14:creationId xmlns:p14="http://schemas.microsoft.com/office/powerpoint/2010/main" val="1247372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Generics – Restrictions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a:stretch>
            <a:fillRect/>
          </a:stretch>
        </p:blipFill>
        <p:spPr>
          <a:xfrm>
            <a:off x="1104900" y="1491296"/>
            <a:ext cx="9980682" cy="4804448"/>
          </a:xfrm>
          <a:prstGeom prst="rect">
            <a:avLst/>
          </a:prstGeom>
        </p:spPr>
      </p:pic>
    </p:spTree>
    <p:extLst>
      <p:ext uri="{BB962C8B-B14F-4D97-AF65-F5344CB8AC3E}">
        <p14:creationId xmlns:p14="http://schemas.microsoft.com/office/powerpoint/2010/main" val="1765114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83559-F103-46FC-B981-ABE4F53C1FD1}"/>
              </a:ext>
            </a:extLst>
          </p:cNvPr>
          <p:cNvSpPr>
            <a:spLocks noGrp="1"/>
          </p:cNvSpPr>
          <p:nvPr>
            <p:ph type="ctrTitle"/>
          </p:nvPr>
        </p:nvSpPr>
        <p:spPr/>
        <p:txBody>
          <a:bodyPr/>
          <a:lstStyle/>
          <a:p>
            <a:r>
              <a:rPr lang="en-IN" dirty="0"/>
              <a:t>EXERCISES</a:t>
            </a:r>
          </a:p>
        </p:txBody>
      </p:sp>
      <p:sp>
        <p:nvSpPr>
          <p:cNvPr id="3" name="Subtitle 2">
            <a:extLst>
              <a:ext uri="{FF2B5EF4-FFF2-40B4-BE49-F238E27FC236}">
                <a16:creationId xmlns:a16="http://schemas.microsoft.com/office/drawing/2014/main" id="{6FFC387C-23DA-4DB3-BCEA-8EE08B6782FC}"/>
              </a:ext>
            </a:extLst>
          </p:cNvPr>
          <p:cNvSpPr>
            <a:spLocks noGrp="1"/>
          </p:cNvSpPr>
          <p:nvPr>
            <p:ph type="subTitle" idx="1"/>
          </p:nvPr>
        </p:nvSpPr>
        <p:spPr/>
        <p:txBody>
          <a:bodyPr/>
          <a:lstStyle/>
          <a:p>
            <a:r>
              <a:rPr lang="en-IN" dirty="0"/>
              <a:t>Recap</a:t>
            </a:r>
          </a:p>
        </p:txBody>
      </p:sp>
      <p:pic>
        <p:nvPicPr>
          <p:cNvPr id="6" name="Picture Placeholder 5">
            <a:extLst>
              <a:ext uri="{FF2B5EF4-FFF2-40B4-BE49-F238E27FC236}">
                <a16:creationId xmlns:a16="http://schemas.microsoft.com/office/drawing/2014/main" id="{B146E506-12EF-48FE-8DB4-DA633D4C2D99}"/>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3574" r="3574"/>
          <a:stretch>
            <a:fillRect/>
          </a:stretch>
        </p:blipFill>
        <p:spPr/>
      </p:pic>
    </p:spTree>
    <p:extLst>
      <p:ext uri="{BB962C8B-B14F-4D97-AF65-F5344CB8AC3E}">
        <p14:creationId xmlns:p14="http://schemas.microsoft.com/office/powerpoint/2010/main" val="95505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a:t>
            </a:r>
          </a:p>
        </p:txBody>
      </p:sp>
      <p:sp>
        <p:nvSpPr>
          <p:cNvPr id="3" name="Content Placeholder 2"/>
          <p:cNvSpPr>
            <a:spLocks noGrp="1"/>
          </p:cNvSpPr>
          <p:nvPr>
            <p:ph idx="1"/>
          </p:nvPr>
        </p:nvSpPr>
        <p:spPr>
          <a:xfrm>
            <a:off x="1104900" y="1600200"/>
            <a:ext cx="9980682" cy="748553"/>
          </a:xfrm>
        </p:spPr>
        <p:txBody>
          <a:bodyPr>
            <a:normAutofit/>
          </a:bodyPr>
          <a:lstStyle/>
          <a:p>
            <a:pPr marL="0" indent="0">
              <a:buNone/>
            </a:pPr>
            <a:r>
              <a:rPr lang="en-US" dirty="0"/>
              <a:t>1. Write a Java program to create a new array list, add some colors (string) and print out the collection</a:t>
            </a:r>
            <a:endParaRPr lang="en-US" dirty="0">
              <a:latin typeface="Corbel" panose="020B0503020204020204" pitchFamily="34" charset="0"/>
            </a:endParaRPr>
          </a:p>
        </p:txBody>
      </p:sp>
      <p:pic>
        <p:nvPicPr>
          <p:cNvPr id="7" name="Picture 6"/>
          <p:cNvPicPr>
            <a:picLocks noChangeAspect="1"/>
          </p:cNvPicPr>
          <p:nvPr/>
        </p:nvPicPr>
        <p:blipFill>
          <a:blip r:embed="rId2"/>
          <a:stretch>
            <a:fillRect/>
          </a:stretch>
        </p:blipFill>
        <p:spPr>
          <a:xfrm>
            <a:off x="1885670" y="2456330"/>
            <a:ext cx="8186775" cy="4249271"/>
          </a:xfrm>
          <a:prstGeom prst="rect">
            <a:avLst/>
          </a:prstGeom>
        </p:spPr>
      </p:pic>
    </p:spTree>
    <p:extLst>
      <p:ext uri="{BB962C8B-B14F-4D97-AF65-F5344CB8AC3E}">
        <p14:creationId xmlns:p14="http://schemas.microsoft.com/office/powerpoint/2010/main" val="1569876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a:t>
            </a:r>
          </a:p>
        </p:txBody>
      </p:sp>
      <p:sp>
        <p:nvSpPr>
          <p:cNvPr id="3" name="Content Placeholder 2"/>
          <p:cNvSpPr>
            <a:spLocks noGrp="1"/>
          </p:cNvSpPr>
          <p:nvPr>
            <p:ph idx="1"/>
          </p:nvPr>
        </p:nvSpPr>
        <p:spPr>
          <a:xfrm>
            <a:off x="1104900" y="1600200"/>
            <a:ext cx="9980682" cy="748553"/>
          </a:xfrm>
        </p:spPr>
        <p:txBody>
          <a:bodyPr>
            <a:normAutofit/>
          </a:bodyPr>
          <a:lstStyle/>
          <a:p>
            <a:pPr marL="0" indent="0">
              <a:buNone/>
            </a:pPr>
            <a:r>
              <a:rPr lang="en-US" dirty="0"/>
              <a:t>2. Write a Java program to iterate through all elements in a array list</a:t>
            </a:r>
            <a:endParaRPr lang="en-US" dirty="0">
              <a:latin typeface="Corbel" panose="020B0503020204020204" pitchFamily="34" charset="0"/>
            </a:endParaRPr>
          </a:p>
        </p:txBody>
      </p:sp>
      <p:pic>
        <p:nvPicPr>
          <p:cNvPr id="4" name="Picture 3"/>
          <p:cNvPicPr>
            <a:picLocks noChangeAspect="1"/>
          </p:cNvPicPr>
          <p:nvPr/>
        </p:nvPicPr>
        <p:blipFill>
          <a:blip r:embed="rId2"/>
          <a:stretch>
            <a:fillRect/>
          </a:stretch>
        </p:blipFill>
        <p:spPr>
          <a:xfrm>
            <a:off x="2643467" y="1972235"/>
            <a:ext cx="6977214" cy="4779589"/>
          </a:xfrm>
          <a:prstGeom prst="rect">
            <a:avLst/>
          </a:prstGeom>
        </p:spPr>
      </p:pic>
    </p:spTree>
    <p:extLst>
      <p:ext uri="{BB962C8B-B14F-4D97-AF65-F5344CB8AC3E}">
        <p14:creationId xmlns:p14="http://schemas.microsoft.com/office/powerpoint/2010/main" val="2609372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a:t>
            </a:r>
          </a:p>
        </p:txBody>
      </p:sp>
      <p:sp>
        <p:nvSpPr>
          <p:cNvPr id="3" name="Content Placeholder 2"/>
          <p:cNvSpPr>
            <a:spLocks noGrp="1"/>
          </p:cNvSpPr>
          <p:nvPr>
            <p:ph idx="1"/>
          </p:nvPr>
        </p:nvSpPr>
        <p:spPr>
          <a:xfrm>
            <a:off x="1104900" y="1600200"/>
            <a:ext cx="9980682" cy="748553"/>
          </a:xfrm>
        </p:spPr>
        <p:txBody>
          <a:bodyPr>
            <a:normAutofit/>
          </a:bodyPr>
          <a:lstStyle/>
          <a:p>
            <a:pPr marL="0" indent="0">
              <a:buNone/>
            </a:pPr>
            <a:r>
              <a:rPr lang="en-US" dirty="0"/>
              <a:t>3. Write a Java program to search an element in a array list.</a:t>
            </a:r>
            <a:endParaRPr lang="en-US" dirty="0">
              <a:latin typeface="Corbel" panose="020B0503020204020204" pitchFamily="34" charset="0"/>
            </a:endParaRPr>
          </a:p>
        </p:txBody>
      </p:sp>
      <p:pic>
        <p:nvPicPr>
          <p:cNvPr id="5" name="Picture 4"/>
          <p:cNvPicPr>
            <a:picLocks noChangeAspect="1"/>
          </p:cNvPicPr>
          <p:nvPr/>
        </p:nvPicPr>
        <p:blipFill>
          <a:blip r:embed="rId2"/>
          <a:stretch>
            <a:fillRect/>
          </a:stretch>
        </p:blipFill>
        <p:spPr>
          <a:xfrm>
            <a:off x="2115671" y="2042211"/>
            <a:ext cx="6185647" cy="4620091"/>
          </a:xfrm>
          <a:prstGeom prst="rect">
            <a:avLst/>
          </a:prstGeom>
        </p:spPr>
      </p:pic>
    </p:spTree>
    <p:extLst>
      <p:ext uri="{BB962C8B-B14F-4D97-AF65-F5344CB8AC3E}">
        <p14:creationId xmlns:p14="http://schemas.microsoft.com/office/powerpoint/2010/main" val="1017911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a:t>
            </a:r>
          </a:p>
        </p:txBody>
      </p:sp>
      <p:sp>
        <p:nvSpPr>
          <p:cNvPr id="3" name="Content Placeholder 2"/>
          <p:cNvSpPr>
            <a:spLocks noGrp="1"/>
          </p:cNvSpPr>
          <p:nvPr>
            <p:ph idx="1"/>
          </p:nvPr>
        </p:nvSpPr>
        <p:spPr>
          <a:xfrm>
            <a:off x="1104900" y="1394013"/>
            <a:ext cx="9980682" cy="381000"/>
          </a:xfrm>
        </p:spPr>
        <p:txBody>
          <a:bodyPr>
            <a:normAutofit fontScale="85000" lnSpcReduction="10000"/>
          </a:bodyPr>
          <a:lstStyle/>
          <a:p>
            <a:pPr marL="0" indent="0">
              <a:buNone/>
            </a:pPr>
            <a:r>
              <a:rPr lang="en-US" dirty="0"/>
              <a:t>4. Write a Java program to retrieve an element (at a specified index) from a given array list.</a:t>
            </a:r>
            <a:endParaRPr lang="en-US" dirty="0">
              <a:latin typeface="Corbel" panose="020B0503020204020204" pitchFamily="34" charset="0"/>
            </a:endParaRPr>
          </a:p>
        </p:txBody>
      </p:sp>
      <p:pic>
        <p:nvPicPr>
          <p:cNvPr id="7" name="Picture 6"/>
          <p:cNvPicPr>
            <a:picLocks noChangeAspect="1"/>
          </p:cNvPicPr>
          <p:nvPr/>
        </p:nvPicPr>
        <p:blipFill>
          <a:blip r:embed="rId2"/>
          <a:stretch>
            <a:fillRect/>
          </a:stretch>
        </p:blipFill>
        <p:spPr>
          <a:xfrm>
            <a:off x="2805392" y="1995864"/>
            <a:ext cx="5903196" cy="4799482"/>
          </a:xfrm>
          <a:prstGeom prst="rect">
            <a:avLst/>
          </a:prstGeom>
        </p:spPr>
      </p:pic>
    </p:spTree>
    <p:extLst>
      <p:ext uri="{BB962C8B-B14F-4D97-AF65-F5344CB8AC3E}">
        <p14:creationId xmlns:p14="http://schemas.microsoft.com/office/powerpoint/2010/main" val="2355234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anim calcmode="lin" valueType="num">
                                      <p:cBhvr>
                                        <p:cTn id="12" dur="1000" fill="hold"/>
                                        <p:tgtEl>
                                          <p:spTgt spid="7"/>
                                        </p:tgtEl>
                                        <p:attrNameLst>
                                          <p:attrName>ppt_x</p:attrName>
                                        </p:attrNameLst>
                                      </p:cBhvr>
                                      <p:tavLst>
                                        <p:tav tm="0">
                                          <p:val>
                                            <p:strVal val="#ppt_x"/>
                                          </p:val>
                                        </p:tav>
                                        <p:tav tm="100000">
                                          <p:val>
                                            <p:strVal val="#ppt_x"/>
                                          </p:val>
                                        </p:tav>
                                      </p:tavLst>
                                    </p:anim>
                                    <p:anim calcmode="lin" valueType="num">
                                      <p:cBhvr>
                                        <p:cTn id="1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a:t>
            </a:r>
          </a:p>
        </p:txBody>
      </p:sp>
      <p:sp>
        <p:nvSpPr>
          <p:cNvPr id="3" name="Content Placeholder 2"/>
          <p:cNvSpPr>
            <a:spLocks noGrp="1"/>
          </p:cNvSpPr>
          <p:nvPr>
            <p:ph idx="1"/>
          </p:nvPr>
        </p:nvSpPr>
        <p:spPr>
          <a:xfrm>
            <a:off x="1104900" y="1394013"/>
            <a:ext cx="9980682" cy="381000"/>
          </a:xfrm>
        </p:spPr>
        <p:txBody>
          <a:bodyPr>
            <a:normAutofit/>
          </a:bodyPr>
          <a:lstStyle/>
          <a:p>
            <a:pPr marL="0" indent="0">
              <a:buNone/>
            </a:pPr>
            <a:r>
              <a:rPr lang="en-US" dirty="0"/>
              <a:t>5. Write a Java program to remove the third element from a array list.</a:t>
            </a:r>
            <a:endParaRPr lang="en-US" dirty="0">
              <a:latin typeface="Corbel" panose="020B0503020204020204" pitchFamily="34" charset="0"/>
            </a:endParaRPr>
          </a:p>
        </p:txBody>
      </p:sp>
      <p:pic>
        <p:nvPicPr>
          <p:cNvPr id="5" name="Picture 4"/>
          <p:cNvPicPr>
            <a:picLocks noChangeAspect="1"/>
          </p:cNvPicPr>
          <p:nvPr/>
        </p:nvPicPr>
        <p:blipFill>
          <a:blip r:embed="rId2"/>
          <a:stretch>
            <a:fillRect/>
          </a:stretch>
        </p:blipFill>
        <p:spPr>
          <a:xfrm>
            <a:off x="1104900" y="1775013"/>
            <a:ext cx="9168653" cy="4953075"/>
          </a:xfrm>
          <a:prstGeom prst="rect">
            <a:avLst/>
          </a:prstGeom>
        </p:spPr>
      </p:pic>
    </p:spTree>
    <p:extLst>
      <p:ext uri="{BB962C8B-B14F-4D97-AF65-F5344CB8AC3E}">
        <p14:creationId xmlns:p14="http://schemas.microsoft.com/office/powerpoint/2010/main" val="217817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a:t>
            </a:r>
          </a:p>
        </p:txBody>
      </p:sp>
      <p:sp>
        <p:nvSpPr>
          <p:cNvPr id="3" name="Content Placeholder 2"/>
          <p:cNvSpPr>
            <a:spLocks noGrp="1"/>
          </p:cNvSpPr>
          <p:nvPr>
            <p:ph idx="1"/>
          </p:nvPr>
        </p:nvSpPr>
        <p:spPr>
          <a:xfrm>
            <a:off x="1104900" y="1394013"/>
            <a:ext cx="9980682" cy="381000"/>
          </a:xfrm>
        </p:spPr>
        <p:txBody>
          <a:bodyPr>
            <a:normAutofit/>
          </a:bodyPr>
          <a:lstStyle/>
          <a:p>
            <a:pPr marL="0" indent="0">
              <a:buNone/>
            </a:pPr>
            <a:r>
              <a:rPr lang="en-US" dirty="0"/>
              <a:t>6. Write a Java program to sort a given array list.</a:t>
            </a:r>
            <a:endParaRPr lang="en-US" dirty="0">
              <a:latin typeface="Corbel" panose="020B0503020204020204" pitchFamily="34" charset="0"/>
            </a:endParaRPr>
          </a:p>
        </p:txBody>
      </p:sp>
      <p:pic>
        <p:nvPicPr>
          <p:cNvPr id="4" name="Picture 3"/>
          <p:cNvPicPr>
            <a:picLocks noChangeAspect="1"/>
          </p:cNvPicPr>
          <p:nvPr/>
        </p:nvPicPr>
        <p:blipFill>
          <a:blip r:embed="rId2"/>
          <a:stretch>
            <a:fillRect/>
          </a:stretch>
        </p:blipFill>
        <p:spPr>
          <a:xfrm>
            <a:off x="1174935" y="1775013"/>
            <a:ext cx="8112499" cy="4984655"/>
          </a:xfrm>
          <a:prstGeom prst="rect">
            <a:avLst/>
          </a:prstGeom>
        </p:spPr>
      </p:pic>
    </p:spTree>
    <p:extLst>
      <p:ext uri="{BB962C8B-B14F-4D97-AF65-F5344CB8AC3E}">
        <p14:creationId xmlns:p14="http://schemas.microsoft.com/office/powerpoint/2010/main" val="634383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a:t>
            </a:r>
          </a:p>
        </p:txBody>
      </p:sp>
      <p:sp>
        <p:nvSpPr>
          <p:cNvPr id="3" name="Content Placeholder 2"/>
          <p:cNvSpPr>
            <a:spLocks noGrp="1"/>
          </p:cNvSpPr>
          <p:nvPr>
            <p:ph idx="1"/>
          </p:nvPr>
        </p:nvSpPr>
        <p:spPr>
          <a:xfrm>
            <a:off x="1104900" y="1394013"/>
            <a:ext cx="9980682" cy="381000"/>
          </a:xfrm>
        </p:spPr>
        <p:txBody>
          <a:bodyPr>
            <a:normAutofit/>
          </a:bodyPr>
          <a:lstStyle/>
          <a:p>
            <a:pPr marL="0" indent="0">
              <a:buNone/>
            </a:pPr>
            <a:r>
              <a:rPr lang="en-US" dirty="0"/>
              <a:t>7. Write a Java program to iterate a linked list in reverse order.</a:t>
            </a:r>
            <a:endParaRPr lang="en-US" dirty="0">
              <a:latin typeface="Corbel" panose="020B0503020204020204" pitchFamily="34" charset="0"/>
            </a:endParaRPr>
          </a:p>
        </p:txBody>
      </p:sp>
      <p:pic>
        <p:nvPicPr>
          <p:cNvPr id="5" name="Picture 4"/>
          <p:cNvPicPr>
            <a:picLocks noChangeAspect="1"/>
          </p:cNvPicPr>
          <p:nvPr/>
        </p:nvPicPr>
        <p:blipFill>
          <a:blip r:embed="rId2"/>
          <a:stretch>
            <a:fillRect/>
          </a:stretch>
        </p:blipFill>
        <p:spPr>
          <a:xfrm>
            <a:off x="1389529" y="1918448"/>
            <a:ext cx="8884024" cy="4670611"/>
          </a:xfrm>
          <a:prstGeom prst="rect">
            <a:avLst/>
          </a:prstGeom>
        </p:spPr>
      </p:pic>
    </p:spTree>
    <p:extLst>
      <p:ext uri="{BB962C8B-B14F-4D97-AF65-F5344CB8AC3E}">
        <p14:creationId xmlns:p14="http://schemas.microsoft.com/office/powerpoint/2010/main" val="2661809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a:t>
            </a:r>
          </a:p>
        </p:txBody>
      </p:sp>
      <p:sp>
        <p:nvSpPr>
          <p:cNvPr id="3" name="Content Placeholder 2"/>
          <p:cNvSpPr>
            <a:spLocks noGrp="1"/>
          </p:cNvSpPr>
          <p:nvPr>
            <p:ph idx="1"/>
          </p:nvPr>
        </p:nvSpPr>
        <p:spPr>
          <a:xfrm>
            <a:off x="1104900" y="1394013"/>
            <a:ext cx="9980682" cy="381000"/>
          </a:xfrm>
        </p:spPr>
        <p:txBody>
          <a:bodyPr>
            <a:normAutofit/>
          </a:bodyPr>
          <a:lstStyle/>
          <a:p>
            <a:pPr marL="0" indent="0">
              <a:buNone/>
            </a:pPr>
            <a:r>
              <a:rPr lang="en-US" dirty="0"/>
              <a:t>8. Write a Java program to join two linked lists.</a:t>
            </a:r>
            <a:endParaRPr lang="en-US" dirty="0">
              <a:latin typeface="Corbel" panose="020B0503020204020204" pitchFamily="34" charset="0"/>
            </a:endParaRPr>
          </a:p>
        </p:txBody>
      </p:sp>
      <p:pic>
        <p:nvPicPr>
          <p:cNvPr id="4" name="Picture 3"/>
          <p:cNvPicPr>
            <a:picLocks noChangeAspect="1"/>
          </p:cNvPicPr>
          <p:nvPr/>
        </p:nvPicPr>
        <p:blipFill>
          <a:blip r:embed="rId2"/>
          <a:stretch>
            <a:fillRect/>
          </a:stretch>
        </p:blipFill>
        <p:spPr>
          <a:xfrm>
            <a:off x="1264024" y="1686091"/>
            <a:ext cx="9350188" cy="5035178"/>
          </a:xfrm>
          <a:prstGeom prst="rect">
            <a:avLst/>
          </a:prstGeom>
        </p:spPr>
      </p:pic>
    </p:spTree>
    <p:extLst>
      <p:ext uri="{BB962C8B-B14F-4D97-AF65-F5344CB8AC3E}">
        <p14:creationId xmlns:p14="http://schemas.microsoft.com/office/powerpoint/2010/main" val="3626180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a:t>
            </a:r>
          </a:p>
        </p:txBody>
      </p:sp>
      <p:sp>
        <p:nvSpPr>
          <p:cNvPr id="3" name="Content Placeholder 2"/>
          <p:cNvSpPr>
            <a:spLocks noGrp="1"/>
          </p:cNvSpPr>
          <p:nvPr>
            <p:ph idx="1"/>
          </p:nvPr>
        </p:nvSpPr>
        <p:spPr>
          <a:xfrm>
            <a:off x="1104900" y="1394013"/>
            <a:ext cx="9980682" cy="381000"/>
          </a:xfrm>
        </p:spPr>
        <p:txBody>
          <a:bodyPr>
            <a:normAutofit/>
          </a:bodyPr>
          <a:lstStyle/>
          <a:p>
            <a:pPr marL="0" indent="0">
              <a:buNone/>
            </a:pPr>
            <a:r>
              <a:rPr lang="en-US" dirty="0"/>
              <a:t>9. Write a Java thread class and a </a:t>
            </a:r>
            <a:r>
              <a:rPr lang="en-US" dirty="0" err="1"/>
              <a:t>runclass</a:t>
            </a:r>
            <a:r>
              <a:rPr lang="en-US" dirty="0"/>
              <a:t> which invokes the thread class.</a:t>
            </a:r>
            <a:endParaRPr lang="en-US" dirty="0">
              <a:latin typeface="Corbel" panose="020B0503020204020204" pitchFamily="34" charset="0"/>
            </a:endParaRPr>
          </a:p>
        </p:txBody>
      </p:sp>
      <p:pic>
        <p:nvPicPr>
          <p:cNvPr id="5" name="Picture 4"/>
          <p:cNvPicPr>
            <a:picLocks noChangeAspect="1"/>
          </p:cNvPicPr>
          <p:nvPr/>
        </p:nvPicPr>
        <p:blipFill>
          <a:blip r:embed="rId2"/>
          <a:stretch>
            <a:fillRect/>
          </a:stretch>
        </p:blipFill>
        <p:spPr>
          <a:xfrm>
            <a:off x="1104900" y="1775013"/>
            <a:ext cx="6987428" cy="5106197"/>
          </a:xfrm>
          <a:prstGeom prst="rect">
            <a:avLst/>
          </a:prstGeom>
        </p:spPr>
      </p:pic>
    </p:spTree>
    <p:extLst>
      <p:ext uri="{BB962C8B-B14F-4D97-AF65-F5344CB8AC3E}">
        <p14:creationId xmlns:p14="http://schemas.microsoft.com/office/powerpoint/2010/main" val="3278193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a:t>
            </a:r>
          </a:p>
        </p:txBody>
      </p:sp>
      <p:sp>
        <p:nvSpPr>
          <p:cNvPr id="3" name="Content Placeholder 2"/>
          <p:cNvSpPr>
            <a:spLocks noGrp="1"/>
          </p:cNvSpPr>
          <p:nvPr>
            <p:ph idx="1"/>
          </p:nvPr>
        </p:nvSpPr>
        <p:spPr>
          <a:xfrm>
            <a:off x="1104900" y="1394013"/>
            <a:ext cx="9980682" cy="381000"/>
          </a:xfrm>
        </p:spPr>
        <p:txBody>
          <a:bodyPr>
            <a:normAutofit/>
          </a:bodyPr>
          <a:lstStyle/>
          <a:p>
            <a:pPr marL="0" indent="0">
              <a:buNone/>
            </a:pPr>
            <a:r>
              <a:rPr lang="en-US" dirty="0"/>
              <a:t>10. Write a Java thread class to run threads in order.</a:t>
            </a:r>
            <a:endParaRPr lang="en-US" dirty="0">
              <a:latin typeface="Corbel" panose="020B0503020204020204" pitchFamily="34" charset="0"/>
            </a:endParaRPr>
          </a:p>
        </p:txBody>
      </p:sp>
      <p:pic>
        <p:nvPicPr>
          <p:cNvPr id="4" name="Picture 3"/>
          <p:cNvPicPr>
            <a:picLocks noChangeAspect="1"/>
          </p:cNvPicPr>
          <p:nvPr/>
        </p:nvPicPr>
        <p:blipFill>
          <a:blip r:embed="rId2"/>
          <a:stretch>
            <a:fillRect/>
          </a:stretch>
        </p:blipFill>
        <p:spPr>
          <a:xfrm>
            <a:off x="1104900" y="1937901"/>
            <a:ext cx="4682378" cy="4920099"/>
          </a:xfrm>
          <a:prstGeom prst="rect">
            <a:avLst/>
          </a:prstGeom>
        </p:spPr>
      </p:pic>
      <p:pic>
        <p:nvPicPr>
          <p:cNvPr id="6" name="Picture 5"/>
          <p:cNvPicPr>
            <a:picLocks noChangeAspect="1"/>
          </p:cNvPicPr>
          <p:nvPr/>
        </p:nvPicPr>
        <p:blipFill>
          <a:blip r:embed="rId3"/>
          <a:stretch>
            <a:fillRect/>
          </a:stretch>
        </p:blipFill>
        <p:spPr>
          <a:xfrm>
            <a:off x="6515380" y="1937901"/>
            <a:ext cx="4791075" cy="4552950"/>
          </a:xfrm>
          <a:prstGeom prst="rect">
            <a:avLst/>
          </a:prstGeom>
        </p:spPr>
      </p:pic>
    </p:spTree>
    <p:extLst>
      <p:ext uri="{BB962C8B-B14F-4D97-AF65-F5344CB8AC3E}">
        <p14:creationId xmlns:p14="http://schemas.microsoft.com/office/powerpoint/2010/main" val="19637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anim calcmode="lin" valueType="num">
                                      <p:cBhvr>
                                        <p:cTn id="17" dur="1000" fill="hold"/>
                                        <p:tgtEl>
                                          <p:spTgt spid="4"/>
                                        </p:tgtEl>
                                        <p:attrNameLst>
                                          <p:attrName>ppt_x</p:attrName>
                                        </p:attrNameLst>
                                      </p:cBhvr>
                                      <p:tavLst>
                                        <p:tav tm="0">
                                          <p:val>
                                            <p:strVal val="#ppt_x"/>
                                          </p:val>
                                        </p:tav>
                                        <p:tav tm="100000">
                                          <p:val>
                                            <p:strVal val="#ppt_x"/>
                                          </p:val>
                                        </p:tav>
                                      </p:tavLst>
                                    </p:anim>
                                    <p:anim calcmode="lin" valueType="num">
                                      <p:cBhvr>
                                        <p:cTn id="1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END OF SESSION.</a:t>
            </a:r>
          </a:p>
        </p:txBody>
      </p:sp>
      <p:sp>
        <p:nvSpPr>
          <p:cNvPr id="3" name="Subtitle 2"/>
          <p:cNvSpPr>
            <a:spLocks noGrp="1"/>
          </p:cNvSpPr>
          <p:nvPr>
            <p:ph type="subTitle" idx="1"/>
          </p:nvPr>
        </p:nvSpPr>
        <p:spPr/>
        <p:txBody>
          <a:bodyPr/>
          <a:lstStyle/>
          <a:p>
            <a:r>
              <a:rPr lang="en-US" dirty="0"/>
              <a:t>You can contact me @</a:t>
            </a:r>
          </a:p>
          <a:p>
            <a:r>
              <a:rPr lang="en-US" dirty="0">
                <a:hlinkClick r:id="rId2"/>
              </a:rPr>
              <a:t>avadekkedhil@wilp.bits-pilani.ac.in</a:t>
            </a:r>
            <a:endParaRPr lang="en-US" dirty="0"/>
          </a:p>
          <a:p>
            <a:r>
              <a:rPr lang="en-US" dirty="0"/>
              <a:t>7798833492</a:t>
            </a:r>
          </a:p>
        </p:txBody>
      </p:sp>
      <p:pic>
        <p:nvPicPr>
          <p:cNvPr id="1028" name="Picture 4" descr="Image result for best of luck"/>
          <p:cNvPicPr>
            <a:picLocks noGrp="1" noChangeAspect="1" noChangeArrowheads="1"/>
          </p:cNvPicPr>
          <p:nvPr>
            <p:ph type="pic" sz="quarter" idx="13"/>
          </p:nvPr>
        </p:nvPicPr>
        <p:blipFill>
          <a:blip r:embed="rId3" cstate="print">
            <a:extLst>
              <a:ext uri="{28A0092B-C50C-407E-A947-70E740481C1C}">
                <a14:useLocalDpi xmlns:a14="http://schemas.microsoft.com/office/drawing/2010/main" val="0"/>
              </a:ext>
            </a:extLst>
          </a:blip>
          <a:srcRect l="6213" r="6213"/>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5872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2.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DDBB83-77C1-4099-A0AA-289882E745E2}">
  <ds:schemaRefs>
    <ds:schemaRef ds:uri="http://purl.org/dc/terms/"/>
    <ds:schemaRef ds:uri="http://purl.org/dc/dcmitype/"/>
    <ds:schemaRef ds:uri="http://www.w3.org/XML/1998/namespace"/>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4873beb7-5857-4685-be1f-d57550cc96cc"/>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9690</TotalTime>
  <Words>2509</Words>
  <Application>Microsoft Office PowerPoint</Application>
  <PresentationFormat>Widescreen</PresentationFormat>
  <Paragraphs>318</Paragraphs>
  <Slides>58</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Arial</vt:lpstr>
      <vt:lpstr>Corbel</vt:lpstr>
      <vt:lpstr>Euphemia</vt:lpstr>
      <vt:lpstr>Monaco</vt:lpstr>
      <vt:lpstr>Plantagenet Cherokee</vt:lpstr>
      <vt:lpstr>Wingdings</vt:lpstr>
      <vt:lpstr>Academic Literature 16x9</vt:lpstr>
      <vt:lpstr>Object Oriented Programming &amp; Design</vt:lpstr>
      <vt:lpstr>Agenda</vt:lpstr>
      <vt:lpstr>Type System Java</vt:lpstr>
      <vt:lpstr>Java Types</vt:lpstr>
      <vt:lpstr>Java Types – Sub Types</vt:lpstr>
      <vt:lpstr>Type Checking</vt:lpstr>
      <vt:lpstr>Type Checking</vt:lpstr>
      <vt:lpstr>Type Checking  - Class Cast Exception</vt:lpstr>
      <vt:lpstr>Type Checking - Class Cast Exception</vt:lpstr>
      <vt:lpstr>Type Checking</vt:lpstr>
      <vt:lpstr>Wrappers</vt:lpstr>
      <vt:lpstr>Enumerated Type</vt:lpstr>
      <vt:lpstr>Type Inquiry</vt:lpstr>
      <vt:lpstr>Class CLASS</vt:lpstr>
      <vt:lpstr>Class  class</vt:lpstr>
      <vt:lpstr>Exact Reference of a Class</vt:lpstr>
      <vt:lpstr>OBJECT CLASS</vt:lpstr>
      <vt:lpstr>Object Class</vt:lpstr>
      <vt:lpstr>Methods of Object Class</vt:lpstr>
      <vt:lpstr>Cloning</vt:lpstr>
      <vt:lpstr>Shallow vs Deep Copy</vt:lpstr>
      <vt:lpstr>Cloning Disadvantages</vt:lpstr>
      <vt:lpstr>GENERICS</vt:lpstr>
      <vt:lpstr>Generics</vt:lpstr>
      <vt:lpstr>Generics - Benefits</vt:lpstr>
      <vt:lpstr>Generics - Types</vt:lpstr>
      <vt:lpstr>Generics – Generic Form of a Class </vt:lpstr>
      <vt:lpstr>Generics – Type Naming conventions</vt:lpstr>
      <vt:lpstr>Generics – Invoking &amp; Instantiating Generic Type</vt:lpstr>
      <vt:lpstr>Generics – Multiple Parameter Type</vt:lpstr>
      <vt:lpstr>Generics – Raw Type</vt:lpstr>
      <vt:lpstr>Generics – Raw Type</vt:lpstr>
      <vt:lpstr>Generics – Methods</vt:lpstr>
      <vt:lpstr>Generics – Methods – Type Inference</vt:lpstr>
      <vt:lpstr>Generics – Bounded Types</vt:lpstr>
      <vt:lpstr>Generics – Bounded Types</vt:lpstr>
      <vt:lpstr>Generics – Multiple Bounded Types</vt:lpstr>
      <vt:lpstr>Generics – WildCard</vt:lpstr>
      <vt:lpstr>Generics – WildCard</vt:lpstr>
      <vt:lpstr>Generics – Type Erasure</vt:lpstr>
      <vt:lpstr>Generics – Restrictions</vt:lpstr>
      <vt:lpstr>Generics – Restrictions</vt:lpstr>
      <vt:lpstr>Generics – Restrictions</vt:lpstr>
      <vt:lpstr>Generics – Restrictions</vt:lpstr>
      <vt:lpstr>Generics – Restrictions</vt:lpstr>
      <vt:lpstr>Generics – Restrictions</vt:lpstr>
      <vt:lpstr>EXERCISES</vt:lpstr>
      <vt:lpstr>Recap</vt:lpstr>
      <vt:lpstr>Recap</vt:lpstr>
      <vt:lpstr>Recap</vt:lpstr>
      <vt:lpstr>Recap</vt:lpstr>
      <vt:lpstr>Recap</vt:lpstr>
      <vt:lpstr>Recap</vt:lpstr>
      <vt:lpstr>Recap</vt:lpstr>
      <vt:lpstr>Recap</vt:lpstr>
      <vt:lpstr>Recap</vt:lpstr>
      <vt:lpstr>Recap</vt:lpstr>
      <vt:lpstr>END OF SESSION.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 &amp; Design</dc:title>
  <dc:creator>Arun Vadekkedhil</dc:creator>
  <cp:lastModifiedBy>Arun Vadekkedhil</cp:lastModifiedBy>
  <cp:revision>144</cp:revision>
  <dcterms:created xsi:type="dcterms:W3CDTF">2017-10-13T04:49:25Z</dcterms:created>
  <dcterms:modified xsi:type="dcterms:W3CDTF">2019-01-14T14:21:42Z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