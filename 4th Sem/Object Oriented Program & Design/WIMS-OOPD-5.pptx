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handoutMasterIdLst>
    <p:handoutMasterId r:id="rId41"/>
  </p:handoutMasterIdLst>
  <p:sldIdLst>
    <p:sldId id="256" r:id="rId5"/>
    <p:sldId id="257" r:id="rId6"/>
    <p:sldId id="323" r:id="rId7"/>
    <p:sldId id="400" r:id="rId8"/>
    <p:sldId id="372" r:id="rId9"/>
    <p:sldId id="373" r:id="rId10"/>
    <p:sldId id="401" r:id="rId11"/>
    <p:sldId id="374" r:id="rId12"/>
    <p:sldId id="375" r:id="rId13"/>
    <p:sldId id="376" r:id="rId14"/>
    <p:sldId id="377" r:id="rId15"/>
    <p:sldId id="378" r:id="rId16"/>
    <p:sldId id="379" r:id="rId17"/>
    <p:sldId id="380" r:id="rId18"/>
    <p:sldId id="381" r:id="rId19"/>
    <p:sldId id="382" r:id="rId20"/>
    <p:sldId id="383" r:id="rId21"/>
    <p:sldId id="388" r:id="rId22"/>
    <p:sldId id="396" r:id="rId23"/>
    <p:sldId id="385" r:id="rId24"/>
    <p:sldId id="386" r:id="rId25"/>
    <p:sldId id="397" r:id="rId26"/>
    <p:sldId id="398" r:id="rId27"/>
    <p:sldId id="399" r:id="rId28"/>
    <p:sldId id="389" r:id="rId29"/>
    <p:sldId id="387" r:id="rId30"/>
    <p:sldId id="390" r:id="rId31"/>
    <p:sldId id="391" r:id="rId32"/>
    <p:sldId id="392" r:id="rId33"/>
    <p:sldId id="393" r:id="rId34"/>
    <p:sldId id="354" r:id="rId35"/>
    <p:sldId id="402" r:id="rId36"/>
    <p:sldId id="394" r:id="rId37"/>
    <p:sldId id="395" r:id="rId38"/>
    <p:sldId id="29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5066FF-DD81-48E6-8AC6-CF4F4F7E741E}" v="2" dt="2019-11-23T10:37:38.4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657" autoAdjust="0"/>
  </p:normalViewPr>
  <p:slideViewPr>
    <p:cSldViewPr snapToGrid="0" showGuides="1">
      <p:cViewPr varScale="1">
        <p:scale>
          <a:sx n="80" d="100"/>
          <a:sy n="80" d="100"/>
        </p:scale>
        <p:origin x="782" y="58"/>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Vadekkedhil" userId="42e6ed11-22d2-49de-94d6-fd78e15c9969" providerId="ADAL" clId="{A793563A-BE0A-4836-9BD1-9EF3CCE5E796}"/>
    <pc:docChg chg="undo custSel addSld delSld modSld">
      <pc:chgData name="Arun Vadekkedhil" userId="42e6ed11-22d2-49de-94d6-fd78e15c9969" providerId="ADAL" clId="{A793563A-BE0A-4836-9BD1-9EF3CCE5E796}" dt="2018-10-28T01:16:49.291" v="829"/>
      <pc:docMkLst>
        <pc:docMk/>
      </pc:docMkLst>
      <pc:sldChg chg="add">
        <pc:chgData name="Arun Vadekkedhil" userId="42e6ed11-22d2-49de-94d6-fd78e15c9969" providerId="ADAL" clId="{A793563A-BE0A-4836-9BD1-9EF3CCE5E796}" dt="2018-10-27T04:03:48.457" v="2"/>
        <pc:sldMkLst>
          <pc:docMk/>
          <pc:sldMk cId="170929812" sldId="354"/>
        </pc:sldMkLst>
      </pc:sldChg>
      <pc:sldChg chg="modSp">
        <pc:chgData name="Arun Vadekkedhil" userId="42e6ed11-22d2-49de-94d6-fd78e15c9969" providerId="ADAL" clId="{A793563A-BE0A-4836-9BD1-9EF3CCE5E796}" dt="2018-10-27T15:26:14.708" v="735" actId="6549"/>
        <pc:sldMkLst>
          <pc:docMk/>
          <pc:sldMk cId="449391457" sldId="372"/>
        </pc:sldMkLst>
        <pc:spChg chg="mod">
          <ac:chgData name="Arun Vadekkedhil" userId="42e6ed11-22d2-49de-94d6-fd78e15c9969" providerId="ADAL" clId="{A793563A-BE0A-4836-9BD1-9EF3CCE5E796}" dt="2018-10-27T15:26:14.708" v="735" actId="6549"/>
          <ac:spMkLst>
            <pc:docMk/>
            <pc:sldMk cId="449391457" sldId="372"/>
            <ac:spMk id="3" creationId="{00000000-0000-0000-0000-000000000000}"/>
          </ac:spMkLst>
        </pc:spChg>
      </pc:sldChg>
      <pc:sldChg chg="delSp modSp">
        <pc:chgData name="Arun Vadekkedhil" userId="42e6ed11-22d2-49de-94d6-fd78e15c9969" providerId="ADAL" clId="{A793563A-BE0A-4836-9BD1-9EF3CCE5E796}" dt="2018-10-27T15:36:53.643" v="801" actId="20577"/>
        <pc:sldMkLst>
          <pc:docMk/>
          <pc:sldMk cId="260364204" sldId="373"/>
        </pc:sldMkLst>
        <pc:spChg chg="mod">
          <ac:chgData name="Arun Vadekkedhil" userId="42e6ed11-22d2-49de-94d6-fd78e15c9969" providerId="ADAL" clId="{A793563A-BE0A-4836-9BD1-9EF3CCE5E796}" dt="2018-10-27T15:36:53.643" v="801" actId="20577"/>
          <ac:spMkLst>
            <pc:docMk/>
            <pc:sldMk cId="260364204" sldId="373"/>
            <ac:spMk id="2" creationId="{00000000-0000-0000-0000-000000000000}"/>
          </ac:spMkLst>
        </pc:spChg>
        <pc:spChg chg="mod">
          <ac:chgData name="Arun Vadekkedhil" userId="42e6ed11-22d2-49de-94d6-fd78e15c9969" providerId="ADAL" clId="{A793563A-BE0A-4836-9BD1-9EF3CCE5E796}" dt="2018-10-27T15:35:54.157" v="781" actId="6549"/>
          <ac:spMkLst>
            <pc:docMk/>
            <pc:sldMk cId="260364204" sldId="373"/>
            <ac:spMk id="3" creationId="{00000000-0000-0000-0000-000000000000}"/>
          </ac:spMkLst>
        </pc:spChg>
        <pc:picChg chg="del">
          <ac:chgData name="Arun Vadekkedhil" userId="42e6ed11-22d2-49de-94d6-fd78e15c9969" providerId="ADAL" clId="{A793563A-BE0A-4836-9BD1-9EF3CCE5E796}" dt="2018-10-27T15:34:34.144" v="739" actId="478"/>
          <ac:picMkLst>
            <pc:docMk/>
            <pc:sldMk cId="260364204" sldId="373"/>
            <ac:picMk id="4" creationId="{00000000-0000-0000-0000-000000000000}"/>
          </ac:picMkLst>
        </pc:picChg>
      </pc:sldChg>
      <pc:sldChg chg="modSp">
        <pc:chgData name="Arun Vadekkedhil" userId="42e6ed11-22d2-49de-94d6-fd78e15c9969" providerId="ADAL" clId="{A793563A-BE0A-4836-9BD1-9EF3CCE5E796}" dt="2018-10-23T15:47:39.500" v="0" actId="1076"/>
        <pc:sldMkLst>
          <pc:docMk/>
          <pc:sldMk cId="3265699516" sldId="378"/>
        </pc:sldMkLst>
        <pc:picChg chg="mod">
          <ac:chgData name="Arun Vadekkedhil" userId="42e6ed11-22d2-49de-94d6-fd78e15c9969" providerId="ADAL" clId="{A793563A-BE0A-4836-9BD1-9EF3CCE5E796}" dt="2018-10-23T15:47:39.500" v="0" actId="1076"/>
          <ac:picMkLst>
            <pc:docMk/>
            <pc:sldMk cId="3265699516" sldId="378"/>
            <ac:picMk id="5" creationId="{00000000-0000-0000-0000-000000000000}"/>
          </ac:picMkLst>
        </pc:picChg>
      </pc:sldChg>
      <pc:sldChg chg="addSp modSp">
        <pc:chgData name="Arun Vadekkedhil" userId="42e6ed11-22d2-49de-94d6-fd78e15c9969" providerId="ADAL" clId="{A793563A-BE0A-4836-9BD1-9EF3CCE5E796}" dt="2018-10-27T15:57:43.299" v="825" actId="1076"/>
        <pc:sldMkLst>
          <pc:docMk/>
          <pc:sldMk cId="1213443591" sldId="382"/>
        </pc:sldMkLst>
        <pc:spChg chg="mod">
          <ac:chgData name="Arun Vadekkedhil" userId="42e6ed11-22d2-49de-94d6-fd78e15c9969" providerId="ADAL" clId="{A793563A-BE0A-4836-9BD1-9EF3CCE5E796}" dt="2018-10-27T15:57:36.363" v="823" actId="404"/>
          <ac:spMkLst>
            <pc:docMk/>
            <pc:sldMk cId="1213443591" sldId="382"/>
            <ac:spMk id="3" creationId="{00000000-0000-0000-0000-000000000000}"/>
          </ac:spMkLst>
        </pc:spChg>
        <pc:picChg chg="add mod">
          <ac:chgData name="Arun Vadekkedhil" userId="42e6ed11-22d2-49de-94d6-fd78e15c9969" providerId="ADAL" clId="{A793563A-BE0A-4836-9BD1-9EF3CCE5E796}" dt="2018-10-27T15:53:40.687" v="816" actId="1076"/>
          <ac:picMkLst>
            <pc:docMk/>
            <pc:sldMk cId="1213443591" sldId="382"/>
            <ac:picMk id="4" creationId="{D884E5A1-E66A-49B5-BD7D-C5AD685B8A9F}"/>
          </ac:picMkLst>
        </pc:picChg>
        <pc:picChg chg="add mod">
          <ac:chgData name="Arun Vadekkedhil" userId="42e6ed11-22d2-49de-94d6-fd78e15c9969" providerId="ADAL" clId="{A793563A-BE0A-4836-9BD1-9EF3CCE5E796}" dt="2018-10-27T15:57:43.299" v="825" actId="1076"/>
          <ac:picMkLst>
            <pc:docMk/>
            <pc:sldMk cId="1213443591" sldId="382"/>
            <ac:picMk id="5" creationId="{163341B0-967E-4E15-BF6B-7433C8BF28CA}"/>
          </ac:picMkLst>
        </pc:picChg>
      </pc:sldChg>
      <pc:sldChg chg="addSp delSp modSp del">
        <pc:chgData name="Arun Vadekkedhil" userId="42e6ed11-22d2-49de-94d6-fd78e15c9969" providerId="ADAL" clId="{A793563A-BE0A-4836-9BD1-9EF3CCE5E796}" dt="2018-10-27T15:58:55.047" v="826" actId="2696"/>
        <pc:sldMkLst>
          <pc:docMk/>
          <pc:sldMk cId="938346448" sldId="384"/>
        </pc:sldMkLst>
        <pc:spChg chg="mod">
          <ac:chgData name="Arun Vadekkedhil" userId="42e6ed11-22d2-49de-94d6-fd78e15c9969" providerId="ADAL" clId="{A793563A-BE0A-4836-9BD1-9EF3CCE5E796}" dt="2018-10-27T04:49:50.682" v="24" actId="20577"/>
          <ac:spMkLst>
            <pc:docMk/>
            <pc:sldMk cId="938346448" sldId="384"/>
            <ac:spMk id="2" creationId="{00000000-0000-0000-0000-000000000000}"/>
          </ac:spMkLst>
        </pc:spChg>
        <pc:spChg chg="del">
          <ac:chgData name="Arun Vadekkedhil" userId="42e6ed11-22d2-49de-94d6-fd78e15c9969" providerId="ADAL" clId="{A793563A-BE0A-4836-9BD1-9EF3CCE5E796}" dt="2018-10-27T04:51:57.021" v="25" actId="478"/>
          <ac:spMkLst>
            <pc:docMk/>
            <pc:sldMk cId="938346448" sldId="384"/>
            <ac:spMk id="3" creationId="{00000000-0000-0000-0000-000000000000}"/>
          </ac:spMkLst>
        </pc:spChg>
        <pc:spChg chg="add mod">
          <ac:chgData name="Arun Vadekkedhil" userId="42e6ed11-22d2-49de-94d6-fd78e15c9969" providerId="ADAL" clId="{A793563A-BE0A-4836-9BD1-9EF3CCE5E796}" dt="2018-10-27T04:57:26.199" v="453" actId="20577"/>
          <ac:spMkLst>
            <pc:docMk/>
            <pc:sldMk cId="938346448" sldId="384"/>
            <ac:spMk id="5" creationId="{3A61249F-E017-4B88-94B2-716FE16CB374}"/>
          </ac:spMkLst>
        </pc:spChg>
        <pc:spChg chg="mod">
          <ac:chgData name="Arun Vadekkedhil" userId="42e6ed11-22d2-49de-94d6-fd78e15c9969" providerId="ADAL" clId="{A793563A-BE0A-4836-9BD1-9EF3CCE5E796}" dt="2018-10-27T04:52:02.242" v="26"/>
          <ac:spMkLst>
            <pc:docMk/>
            <pc:sldMk cId="938346448" sldId="384"/>
            <ac:spMk id="9" creationId="{00000000-0000-0000-0000-000000000000}"/>
          </ac:spMkLst>
        </pc:spChg>
      </pc:sldChg>
      <pc:sldChg chg="modSp">
        <pc:chgData name="Arun Vadekkedhil" userId="42e6ed11-22d2-49de-94d6-fd78e15c9969" providerId="ADAL" clId="{A793563A-BE0A-4836-9BD1-9EF3CCE5E796}" dt="2018-10-23T15:51:16.919" v="1" actId="14100"/>
        <pc:sldMkLst>
          <pc:docMk/>
          <pc:sldMk cId="746875389" sldId="391"/>
        </pc:sldMkLst>
        <pc:picChg chg="mod">
          <ac:chgData name="Arun Vadekkedhil" userId="42e6ed11-22d2-49de-94d6-fd78e15c9969" providerId="ADAL" clId="{A793563A-BE0A-4836-9BD1-9EF3CCE5E796}" dt="2018-10-23T15:51:16.919" v="1" actId="14100"/>
          <ac:picMkLst>
            <pc:docMk/>
            <pc:sldMk cId="746875389" sldId="391"/>
            <ac:picMk id="3" creationId="{00000000-0000-0000-0000-000000000000}"/>
          </ac:picMkLst>
        </pc:picChg>
      </pc:sldChg>
      <pc:sldChg chg="modSp add">
        <pc:chgData name="Arun Vadekkedhil" userId="42e6ed11-22d2-49de-94d6-fd78e15c9969" providerId="ADAL" clId="{A793563A-BE0A-4836-9BD1-9EF3CCE5E796}" dt="2018-10-27T05:01:50.219" v="455" actId="114"/>
        <pc:sldMkLst>
          <pc:docMk/>
          <pc:sldMk cId="1252649165" sldId="396"/>
        </pc:sldMkLst>
        <pc:spChg chg="mod">
          <ac:chgData name="Arun Vadekkedhil" userId="42e6ed11-22d2-49de-94d6-fd78e15c9969" providerId="ADAL" clId="{A793563A-BE0A-4836-9BD1-9EF3CCE5E796}" dt="2018-10-27T05:01:50.219" v="455" actId="114"/>
          <ac:spMkLst>
            <pc:docMk/>
            <pc:sldMk cId="1252649165" sldId="396"/>
            <ac:spMk id="3" creationId="{00000000-0000-0000-0000-000000000000}"/>
          </ac:spMkLst>
        </pc:spChg>
      </pc:sldChg>
      <pc:sldChg chg="addSp modSp add">
        <pc:chgData name="Arun Vadekkedhil" userId="42e6ed11-22d2-49de-94d6-fd78e15c9969" providerId="ADAL" clId="{A793563A-BE0A-4836-9BD1-9EF3CCE5E796}" dt="2018-10-27T05:29:13.219" v="518" actId="1076"/>
        <pc:sldMkLst>
          <pc:docMk/>
          <pc:sldMk cId="1680665466" sldId="397"/>
        </pc:sldMkLst>
        <pc:spChg chg="mod">
          <ac:chgData name="Arun Vadekkedhil" userId="42e6ed11-22d2-49de-94d6-fd78e15c9969" providerId="ADAL" clId="{A793563A-BE0A-4836-9BD1-9EF3CCE5E796}" dt="2018-10-27T05:29:13.219" v="518" actId="1076"/>
          <ac:spMkLst>
            <pc:docMk/>
            <pc:sldMk cId="1680665466" sldId="397"/>
            <ac:spMk id="3" creationId="{00000000-0000-0000-0000-000000000000}"/>
          </ac:spMkLst>
        </pc:spChg>
        <pc:spChg chg="add mod">
          <ac:chgData name="Arun Vadekkedhil" userId="42e6ed11-22d2-49de-94d6-fd78e15c9969" providerId="ADAL" clId="{A793563A-BE0A-4836-9BD1-9EF3CCE5E796}" dt="2018-10-27T05:23:00.592" v="467"/>
          <ac:spMkLst>
            <pc:docMk/>
            <pc:sldMk cId="1680665466" sldId="397"/>
            <ac:spMk id="5" creationId="{2E7D0903-448C-4777-8B76-BED0362BEB0F}"/>
          </ac:spMkLst>
        </pc:spChg>
        <pc:spChg chg="add mod">
          <ac:chgData name="Arun Vadekkedhil" userId="42e6ed11-22d2-49de-94d6-fd78e15c9969" providerId="ADAL" clId="{A793563A-BE0A-4836-9BD1-9EF3CCE5E796}" dt="2018-10-27T05:24:13.650" v="494" actId="6549"/>
          <ac:spMkLst>
            <pc:docMk/>
            <pc:sldMk cId="1680665466" sldId="397"/>
            <ac:spMk id="6" creationId="{FA0DC9CE-B34B-4276-917F-28FD79EE252B}"/>
          </ac:spMkLst>
        </pc:spChg>
        <pc:picChg chg="add mod">
          <ac:chgData name="Arun Vadekkedhil" userId="42e6ed11-22d2-49de-94d6-fd78e15c9969" providerId="ADAL" clId="{A793563A-BE0A-4836-9BD1-9EF3CCE5E796}" dt="2018-10-27T05:22:30.454" v="464" actId="14100"/>
          <ac:picMkLst>
            <pc:docMk/>
            <pc:sldMk cId="1680665466" sldId="397"/>
            <ac:picMk id="4" creationId="{48971F9D-9DC7-46A0-9FF8-56B0A9E172DD}"/>
          </ac:picMkLst>
        </pc:picChg>
      </pc:sldChg>
      <pc:sldChg chg="addSp delSp modSp add">
        <pc:chgData name="Arun Vadekkedhil" userId="42e6ed11-22d2-49de-94d6-fd78e15c9969" providerId="ADAL" clId="{A793563A-BE0A-4836-9BD1-9EF3CCE5E796}" dt="2018-10-27T06:20:08.392" v="570" actId="12"/>
        <pc:sldMkLst>
          <pc:docMk/>
          <pc:sldMk cId="854319321" sldId="398"/>
        </pc:sldMkLst>
        <pc:spChg chg="mod">
          <ac:chgData name="Arun Vadekkedhil" userId="42e6ed11-22d2-49de-94d6-fd78e15c9969" providerId="ADAL" clId="{A793563A-BE0A-4836-9BD1-9EF3CCE5E796}" dt="2018-10-27T05:25:11.536" v="509" actId="20577"/>
          <ac:spMkLst>
            <pc:docMk/>
            <pc:sldMk cId="854319321" sldId="398"/>
            <ac:spMk id="2" creationId="{00000000-0000-0000-0000-000000000000}"/>
          </ac:spMkLst>
        </pc:spChg>
        <pc:spChg chg="mod">
          <ac:chgData name="Arun Vadekkedhil" userId="42e6ed11-22d2-49de-94d6-fd78e15c9969" providerId="ADAL" clId="{A793563A-BE0A-4836-9BD1-9EF3CCE5E796}" dt="2018-10-27T06:20:08.392" v="570" actId="12"/>
          <ac:spMkLst>
            <pc:docMk/>
            <pc:sldMk cId="854319321" sldId="398"/>
            <ac:spMk id="3" creationId="{00000000-0000-0000-0000-000000000000}"/>
          </ac:spMkLst>
        </pc:spChg>
        <pc:spChg chg="del">
          <ac:chgData name="Arun Vadekkedhil" userId="42e6ed11-22d2-49de-94d6-fd78e15c9969" providerId="ADAL" clId="{A793563A-BE0A-4836-9BD1-9EF3CCE5E796}" dt="2018-10-27T05:24:43.119" v="500" actId="478"/>
          <ac:spMkLst>
            <pc:docMk/>
            <pc:sldMk cId="854319321" sldId="398"/>
            <ac:spMk id="6" creationId="{FA0DC9CE-B34B-4276-917F-28FD79EE252B}"/>
          </ac:spMkLst>
        </pc:spChg>
        <pc:spChg chg="add mod">
          <ac:chgData name="Arun Vadekkedhil" userId="42e6ed11-22d2-49de-94d6-fd78e15c9969" providerId="ADAL" clId="{A793563A-BE0A-4836-9BD1-9EF3CCE5E796}" dt="2018-10-27T05:24:38.285" v="497"/>
          <ac:spMkLst>
            <pc:docMk/>
            <pc:sldMk cId="854319321" sldId="398"/>
            <ac:spMk id="7" creationId="{5E8DBB43-887E-4585-8930-5B01476C9241}"/>
          </ac:spMkLst>
        </pc:spChg>
        <pc:picChg chg="mod">
          <ac:chgData name="Arun Vadekkedhil" userId="42e6ed11-22d2-49de-94d6-fd78e15c9969" providerId="ADAL" clId="{A793563A-BE0A-4836-9BD1-9EF3CCE5E796}" dt="2018-10-27T05:24:58.002" v="503" actId="14100"/>
          <ac:picMkLst>
            <pc:docMk/>
            <pc:sldMk cId="854319321" sldId="398"/>
            <ac:picMk id="4" creationId="{48971F9D-9DC7-46A0-9FF8-56B0A9E172DD}"/>
          </ac:picMkLst>
        </pc:picChg>
      </pc:sldChg>
      <pc:sldChg chg="modSp add">
        <pc:chgData name="Arun Vadekkedhil" userId="42e6ed11-22d2-49de-94d6-fd78e15c9969" providerId="ADAL" clId="{A793563A-BE0A-4836-9BD1-9EF3CCE5E796}" dt="2018-10-27T06:20:59.389" v="581" actId="115"/>
        <pc:sldMkLst>
          <pc:docMk/>
          <pc:sldMk cId="255091378" sldId="399"/>
        </pc:sldMkLst>
        <pc:spChg chg="mod">
          <ac:chgData name="Arun Vadekkedhil" userId="42e6ed11-22d2-49de-94d6-fd78e15c9969" providerId="ADAL" clId="{A793563A-BE0A-4836-9BD1-9EF3CCE5E796}" dt="2018-10-27T06:20:59.389" v="581" actId="115"/>
          <ac:spMkLst>
            <pc:docMk/>
            <pc:sldMk cId="255091378" sldId="399"/>
            <ac:spMk id="3" creationId="{00000000-0000-0000-0000-000000000000}"/>
          </ac:spMkLst>
        </pc:spChg>
      </pc:sldChg>
      <pc:sldChg chg="add">
        <pc:chgData name="Arun Vadekkedhil" userId="42e6ed11-22d2-49de-94d6-fd78e15c9969" providerId="ADAL" clId="{A793563A-BE0A-4836-9BD1-9EF3CCE5E796}" dt="2018-10-27T15:05:02.542" v="582"/>
        <pc:sldMkLst>
          <pc:docMk/>
          <pc:sldMk cId="4192039780" sldId="400"/>
        </pc:sldMkLst>
      </pc:sldChg>
      <pc:sldChg chg="add">
        <pc:chgData name="Arun Vadekkedhil" userId="42e6ed11-22d2-49de-94d6-fd78e15c9969" providerId="ADAL" clId="{A793563A-BE0A-4836-9BD1-9EF3CCE5E796}" dt="2018-10-27T15:34:00.893" v="736"/>
        <pc:sldMkLst>
          <pc:docMk/>
          <pc:sldMk cId="1075017930" sldId="401"/>
        </pc:sldMkLst>
      </pc:sldChg>
      <pc:sldChg chg="addSp delSp modSp add">
        <pc:chgData name="Arun Vadekkedhil" userId="42e6ed11-22d2-49de-94d6-fd78e15c9969" providerId="ADAL" clId="{A793563A-BE0A-4836-9BD1-9EF3CCE5E796}" dt="2018-10-28T01:16:49.291" v="829"/>
        <pc:sldMkLst>
          <pc:docMk/>
          <pc:sldMk cId="1083808076" sldId="402"/>
        </pc:sldMkLst>
        <pc:spChg chg="del mod">
          <ac:chgData name="Arun Vadekkedhil" userId="42e6ed11-22d2-49de-94d6-fd78e15c9969" providerId="ADAL" clId="{A793563A-BE0A-4836-9BD1-9EF3CCE5E796}" dt="2018-10-28T01:16:49.291" v="829"/>
          <ac:spMkLst>
            <pc:docMk/>
            <pc:sldMk cId="1083808076" sldId="402"/>
            <ac:spMk id="3" creationId="{00000000-0000-0000-0000-000000000000}"/>
          </ac:spMkLst>
        </pc:spChg>
        <pc:picChg chg="add mod">
          <ac:chgData name="Arun Vadekkedhil" userId="42e6ed11-22d2-49de-94d6-fd78e15c9969" providerId="ADAL" clId="{A793563A-BE0A-4836-9BD1-9EF3CCE5E796}" dt="2018-10-28T01:16:49.291" v="829"/>
          <ac:picMkLst>
            <pc:docMk/>
            <pc:sldMk cId="1083808076" sldId="402"/>
            <ac:picMk id="5" creationId="{0D3EAAD9-5746-403A-8E44-63C378302824}"/>
          </ac:picMkLst>
        </pc:picChg>
      </pc:sldChg>
    </pc:docChg>
  </pc:docChgLst>
  <pc:docChgLst>
    <pc:chgData name="Arun Vadekkedhil" userId="42e6ed11-22d2-49de-94d6-fd78e15c9969" providerId="ADAL" clId="{7C5066FF-DD81-48E6-8AC6-CF4F4F7E741E}"/>
    <pc:docChg chg="custSel modSld sldOrd">
      <pc:chgData name="Arun Vadekkedhil" userId="42e6ed11-22d2-49de-94d6-fd78e15c9969" providerId="ADAL" clId="{7C5066FF-DD81-48E6-8AC6-CF4F4F7E741E}" dt="2019-11-23T11:07:01.224" v="70" actId="20577"/>
      <pc:docMkLst>
        <pc:docMk/>
      </pc:docMkLst>
      <pc:sldChg chg="modSp">
        <pc:chgData name="Arun Vadekkedhil" userId="42e6ed11-22d2-49de-94d6-fd78e15c9969" providerId="ADAL" clId="{7C5066FF-DD81-48E6-8AC6-CF4F4F7E741E}" dt="2019-11-23T10:19:18.493" v="50" actId="20577"/>
        <pc:sldMkLst>
          <pc:docMk/>
          <pc:sldMk cId="1936288470" sldId="323"/>
        </pc:sldMkLst>
        <pc:spChg chg="mod">
          <ac:chgData name="Arun Vadekkedhil" userId="42e6ed11-22d2-49de-94d6-fd78e15c9969" providerId="ADAL" clId="{7C5066FF-DD81-48E6-8AC6-CF4F4F7E741E}" dt="2019-11-23T10:19:18.493" v="50" actId="20577"/>
          <ac:spMkLst>
            <pc:docMk/>
            <pc:sldMk cId="1936288470" sldId="323"/>
            <ac:spMk id="3" creationId="{00000000-0000-0000-0000-000000000000}"/>
          </ac:spMkLst>
        </pc:spChg>
      </pc:sldChg>
      <pc:sldChg chg="modSp">
        <pc:chgData name="Arun Vadekkedhil" userId="42e6ed11-22d2-49de-94d6-fd78e15c9969" providerId="ADAL" clId="{7C5066FF-DD81-48E6-8AC6-CF4F4F7E741E}" dt="2019-11-23T10:23:25.993" v="52" actId="6549"/>
        <pc:sldMkLst>
          <pc:docMk/>
          <pc:sldMk cId="449391457" sldId="372"/>
        </pc:sldMkLst>
        <pc:spChg chg="mod">
          <ac:chgData name="Arun Vadekkedhil" userId="42e6ed11-22d2-49de-94d6-fd78e15c9969" providerId="ADAL" clId="{7C5066FF-DD81-48E6-8AC6-CF4F4F7E741E}" dt="2019-11-23T10:23:25.993" v="52" actId="6549"/>
          <ac:spMkLst>
            <pc:docMk/>
            <pc:sldMk cId="449391457" sldId="372"/>
            <ac:spMk id="3" creationId="{00000000-0000-0000-0000-000000000000}"/>
          </ac:spMkLst>
        </pc:spChg>
      </pc:sldChg>
      <pc:sldChg chg="modSp">
        <pc:chgData name="Arun Vadekkedhil" userId="42e6ed11-22d2-49de-94d6-fd78e15c9969" providerId="ADAL" clId="{7C5066FF-DD81-48E6-8AC6-CF4F4F7E741E}" dt="2019-11-23T10:37:49.148" v="58" actId="115"/>
        <pc:sldMkLst>
          <pc:docMk/>
          <pc:sldMk cId="260364204" sldId="373"/>
        </pc:sldMkLst>
        <pc:spChg chg="mod">
          <ac:chgData name="Arun Vadekkedhil" userId="42e6ed11-22d2-49de-94d6-fd78e15c9969" providerId="ADAL" clId="{7C5066FF-DD81-48E6-8AC6-CF4F4F7E741E}" dt="2019-11-23T10:37:49.148" v="58" actId="115"/>
          <ac:spMkLst>
            <pc:docMk/>
            <pc:sldMk cId="260364204" sldId="373"/>
            <ac:spMk id="3" creationId="{00000000-0000-0000-0000-000000000000}"/>
          </ac:spMkLst>
        </pc:spChg>
      </pc:sldChg>
      <pc:sldChg chg="modSp">
        <pc:chgData name="Arun Vadekkedhil" userId="42e6ed11-22d2-49de-94d6-fd78e15c9969" providerId="ADAL" clId="{7C5066FF-DD81-48E6-8AC6-CF4F4F7E741E}" dt="2019-11-23T11:07:01.224" v="70" actId="20577"/>
        <pc:sldMkLst>
          <pc:docMk/>
          <pc:sldMk cId="3326471948" sldId="386"/>
        </pc:sldMkLst>
        <pc:spChg chg="mod">
          <ac:chgData name="Arun Vadekkedhil" userId="42e6ed11-22d2-49de-94d6-fd78e15c9969" providerId="ADAL" clId="{7C5066FF-DD81-48E6-8AC6-CF4F4F7E741E}" dt="2019-11-23T11:07:01.224" v="70" actId="20577"/>
          <ac:spMkLst>
            <pc:docMk/>
            <pc:sldMk cId="3326471948" sldId="386"/>
            <ac:spMk id="3" creationId="{00000000-0000-0000-0000-000000000000}"/>
          </ac:spMkLst>
        </pc:spChg>
      </pc:sldChg>
      <pc:sldChg chg="ord">
        <pc:chgData name="Arun Vadekkedhil" userId="42e6ed11-22d2-49de-94d6-fd78e15c9969" providerId="ADAL" clId="{7C5066FF-DD81-48E6-8AC6-CF4F4F7E741E}" dt="2019-11-23T10:22:33.072" v="51"/>
        <pc:sldMkLst>
          <pc:docMk/>
          <pc:sldMk cId="4192039780" sldId="400"/>
        </pc:sldMkLst>
      </pc:sldChg>
      <pc:sldChg chg="modSp">
        <pc:chgData name="Arun Vadekkedhil" userId="42e6ed11-22d2-49de-94d6-fd78e15c9969" providerId="ADAL" clId="{7C5066FF-DD81-48E6-8AC6-CF4F4F7E741E}" dt="2019-11-23T10:39:09.001" v="68" actId="115"/>
        <pc:sldMkLst>
          <pc:docMk/>
          <pc:sldMk cId="1075017930" sldId="401"/>
        </pc:sldMkLst>
        <pc:spChg chg="mod">
          <ac:chgData name="Arun Vadekkedhil" userId="42e6ed11-22d2-49de-94d6-fd78e15c9969" providerId="ADAL" clId="{7C5066FF-DD81-48E6-8AC6-CF4F4F7E741E}" dt="2019-11-23T10:39:09.001" v="68" actId="115"/>
          <ac:spMkLst>
            <pc:docMk/>
            <pc:sldMk cId="1075017930" sldId="401"/>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11/23/2019</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11/23/2019</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4</a:t>
            </a:fld>
            <a:endParaRPr lang="en-US" dirty="0"/>
          </a:p>
        </p:txBody>
      </p:sp>
    </p:spTree>
    <p:extLst>
      <p:ext uri="{BB962C8B-B14F-4D97-AF65-F5344CB8AC3E}">
        <p14:creationId xmlns:p14="http://schemas.microsoft.com/office/powerpoint/2010/main" val="3581356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5</a:t>
            </a:fld>
            <a:endParaRPr lang="en-US" dirty="0"/>
          </a:p>
        </p:txBody>
      </p:sp>
    </p:spTree>
    <p:extLst>
      <p:ext uri="{BB962C8B-B14F-4D97-AF65-F5344CB8AC3E}">
        <p14:creationId xmlns:p14="http://schemas.microsoft.com/office/powerpoint/2010/main" val="2356528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6</a:t>
            </a:fld>
            <a:endParaRPr lang="en-US" dirty="0"/>
          </a:p>
        </p:txBody>
      </p:sp>
    </p:spTree>
    <p:extLst>
      <p:ext uri="{BB962C8B-B14F-4D97-AF65-F5344CB8AC3E}">
        <p14:creationId xmlns:p14="http://schemas.microsoft.com/office/powerpoint/2010/main" val="4111894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7</a:t>
            </a:fld>
            <a:endParaRPr lang="en-US" dirty="0"/>
          </a:p>
        </p:txBody>
      </p:sp>
    </p:spTree>
    <p:extLst>
      <p:ext uri="{BB962C8B-B14F-4D97-AF65-F5344CB8AC3E}">
        <p14:creationId xmlns:p14="http://schemas.microsoft.com/office/powerpoint/2010/main" val="3537012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important point to note in the above example is that the child class is able to access the private members of parent class through </a:t>
            </a:r>
            <a:r>
              <a:rPr lang="en-US" sz="1200" b="1" i="0" kern="1200" dirty="0">
                <a:solidFill>
                  <a:schemeClr val="tx1"/>
                </a:solidFill>
                <a:effectLst/>
                <a:latin typeface="+mn-lt"/>
                <a:ea typeface="+mn-ea"/>
                <a:cs typeface="+mn-cs"/>
              </a:rPr>
              <a:t>protected methods</a:t>
            </a:r>
            <a:r>
              <a:rPr lang="en-US" sz="1200" b="0" i="0" kern="1200" dirty="0">
                <a:solidFill>
                  <a:schemeClr val="tx1"/>
                </a:solidFill>
                <a:effectLst/>
                <a:latin typeface="+mn-lt"/>
                <a:ea typeface="+mn-ea"/>
                <a:cs typeface="+mn-cs"/>
              </a:rPr>
              <a:t> of parent class. When we make a instance variable(data member) or method </a:t>
            </a:r>
            <a:r>
              <a:rPr lang="en-US" sz="1200" b="1" i="0" kern="1200" dirty="0">
                <a:solidFill>
                  <a:schemeClr val="tx1"/>
                </a:solidFill>
                <a:effectLst/>
                <a:latin typeface="+mn-lt"/>
                <a:ea typeface="+mn-ea"/>
                <a:cs typeface="+mn-cs"/>
              </a:rPr>
              <a:t>protected</a:t>
            </a:r>
            <a:r>
              <a:rPr lang="en-US" sz="1200" b="0" i="0" kern="1200" dirty="0">
                <a:solidFill>
                  <a:schemeClr val="tx1"/>
                </a:solidFill>
                <a:effectLst/>
                <a:latin typeface="+mn-lt"/>
                <a:ea typeface="+mn-ea"/>
                <a:cs typeface="+mn-cs"/>
              </a:rPr>
              <a:t>, this means that they are accessible only in the class itself and in child class.</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8</a:t>
            </a:fld>
            <a:endParaRPr lang="en-US" dirty="0"/>
          </a:p>
        </p:txBody>
      </p:sp>
    </p:spTree>
    <p:extLst>
      <p:ext uri="{BB962C8B-B14F-4D97-AF65-F5344CB8AC3E}">
        <p14:creationId xmlns:p14="http://schemas.microsoft.com/office/powerpoint/2010/main" val="2437929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9</a:t>
            </a:fld>
            <a:endParaRPr lang="en-US" dirty="0"/>
          </a:p>
        </p:txBody>
      </p:sp>
    </p:spTree>
    <p:extLst>
      <p:ext uri="{BB962C8B-B14F-4D97-AF65-F5344CB8AC3E}">
        <p14:creationId xmlns:p14="http://schemas.microsoft.com/office/powerpoint/2010/main" val="3711899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10</a:t>
            </a:fld>
            <a:endParaRPr lang="en-US" dirty="0"/>
          </a:p>
        </p:txBody>
      </p:sp>
    </p:spTree>
    <p:extLst>
      <p:ext uri="{BB962C8B-B14F-4D97-AF65-F5344CB8AC3E}">
        <p14:creationId xmlns:p14="http://schemas.microsoft.com/office/powerpoint/2010/main" val="3674141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11</a:t>
            </a:fld>
            <a:endParaRPr lang="en-US" dirty="0"/>
          </a:p>
        </p:txBody>
      </p:sp>
    </p:spTree>
    <p:extLst>
      <p:ext uri="{BB962C8B-B14F-4D97-AF65-F5344CB8AC3E}">
        <p14:creationId xmlns:p14="http://schemas.microsoft.com/office/powerpoint/2010/main" val="1852237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12</a:t>
            </a:fld>
            <a:endParaRPr lang="en-US" dirty="0"/>
          </a:p>
        </p:txBody>
      </p:sp>
    </p:spTree>
    <p:extLst>
      <p:ext uri="{BB962C8B-B14F-4D97-AF65-F5344CB8AC3E}">
        <p14:creationId xmlns:p14="http://schemas.microsoft.com/office/powerpoint/2010/main" val="2717965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13</a:t>
            </a:fld>
            <a:endParaRPr lang="en-US" dirty="0"/>
          </a:p>
        </p:txBody>
      </p:sp>
    </p:spTree>
    <p:extLst>
      <p:ext uri="{BB962C8B-B14F-4D97-AF65-F5344CB8AC3E}">
        <p14:creationId xmlns:p14="http://schemas.microsoft.com/office/powerpoint/2010/main" val="1818192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14</a:t>
            </a:fld>
            <a:endParaRPr lang="en-US" dirty="0"/>
          </a:p>
        </p:txBody>
      </p:sp>
    </p:spTree>
    <p:extLst>
      <p:ext uri="{BB962C8B-B14F-4D97-AF65-F5344CB8AC3E}">
        <p14:creationId xmlns:p14="http://schemas.microsoft.com/office/powerpoint/2010/main" val="433843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16</a:t>
            </a:fld>
            <a:endParaRPr lang="en-US" dirty="0"/>
          </a:p>
        </p:txBody>
      </p:sp>
    </p:spTree>
    <p:extLst>
      <p:ext uri="{BB962C8B-B14F-4D97-AF65-F5344CB8AC3E}">
        <p14:creationId xmlns:p14="http://schemas.microsoft.com/office/powerpoint/2010/main" val="11832277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While a sub class is created, the java compiler implicitly calls the default</a:t>
            </a:r>
            <a:r>
              <a:rPr lang="en-US" baseline="0" dirty="0"/>
              <a:t> </a:t>
            </a:r>
            <a:r>
              <a:rPr lang="en-US" dirty="0"/>
              <a:t>super call constructor. This is to ensure that all properties and methods are made available in the sub class.</a:t>
            </a:r>
          </a:p>
          <a:p>
            <a:r>
              <a:rPr lang="en-US" dirty="0"/>
              <a:t>However,</a:t>
            </a:r>
            <a:r>
              <a:rPr lang="en-US" baseline="0" dirty="0"/>
              <a:t> In case the super class has explicit constructors, then the first line in the sub class definition must be a call to invoke the upper class else will result in a compile time error.</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17</a:t>
            </a:fld>
            <a:endParaRPr lang="en-US" dirty="0"/>
          </a:p>
        </p:txBody>
      </p:sp>
    </p:spTree>
    <p:extLst>
      <p:ext uri="{BB962C8B-B14F-4D97-AF65-F5344CB8AC3E}">
        <p14:creationId xmlns:p14="http://schemas.microsoft.com/office/powerpoint/2010/main" val="3829662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18</a:t>
            </a:fld>
            <a:endParaRPr lang="en-US" dirty="0"/>
          </a:p>
        </p:txBody>
      </p:sp>
    </p:spTree>
    <p:extLst>
      <p:ext uri="{BB962C8B-B14F-4D97-AF65-F5344CB8AC3E}">
        <p14:creationId xmlns:p14="http://schemas.microsoft.com/office/powerpoint/2010/main" val="5875504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19</a:t>
            </a:fld>
            <a:endParaRPr lang="en-US" dirty="0"/>
          </a:p>
        </p:txBody>
      </p:sp>
    </p:spTree>
    <p:extLst>
      <p:ext uri="{BB962C8B-B14F-4D97-AF65-F5344CB8AC3E}">
        <p14:creationId xmlns:p14="http://schemas.microsoft.com/office/powerpoint/2010/main" val="3432340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20</a:t>
            </a:fld>
            <a:endParaRPr lang="en-US" dirty="0"/>
          </a:p>
        </p:txBody>
      </p:sp>
    </p:spTree>
    <p:extLst>
      <p:ext uri="{BB962C8B-B14F-4D97-AF65-F5344CB8AC3E}">
        <p14:creationId xmlns:p14="http://schemas.microsoft.com/office/powerpoint/2010/main" val="356842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21</a:t>
            </a:fld>
            <a:endParaRPr lang="en-US" dirty="0"/>
          </a:p>
        </p:txBody>
      </p:sp>
    </p:spTree>
    <p:extLst>
      <p:ext uri="{BB962C8B-B14F-4D97-AF65-F5344CB8AC3E}">
        <p14:creationId xmlns:p14="http://schemas.microsoft.com/office/powerpoint/2010/main" val="924245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22</a:t>
            </a:fld>
            <a:endParaRPr lang="en-US" dirty="0"/>
          </a:p>
        </p:txBody>
      </p:sp>
    </p:spTree>
    <p:extLst>
      <p:ext uri="{BB962C8B-B14F-4D97-AF65-F5344CB8AC3E}">
        <p14:creationId xmlns:p14="http://schemas.microsoft.com/office/powerpoint/2010/main" val="3108612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23</a:t>
            </a:fld>
            <a:endParaRPr lang="en-US" dirty="0"/>
          </a:p>
        </p:txBody>
      </p:sp>
    </p:spTree>
    <p:extLst>
      <p:ext uri="{BB962C8B-B14F-4D97-AF65-F5344CB8AC3E}">
        <p14:creationId xmlns:p14="http://schemas.microsoft.com/office/powerpoint/2010/main" val="4087642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24</a:t>
            </a:fld>
            <a:endParaRPr lang="en-US" dirty="0"/>
          </a:p>
        </p:txBody>
      </p:sp>
    </p:spTree>
    <p:extLst>
      <p:ext uri="{BB962C8B-B14F-4D97-AF65-F5344CB8AC3E}">
        <p14:creationId xmlns:p14="http://schemas.microsoft.com/office/powerpoint/2010/main" val="11227584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25</a:t>
            </a:fld>
            <a:endParaRPr lang="en-US" dirty="0"/>
          </a:p>
        </p:txBody>
      </p:sp>
    </p:spTree>
    <p:extLst>
      <p:ext uri="{BB962C8B-B14F-4D97-AF65-F5344CB8AC3E}">
        <p14:creationId xmlns:p14="http://schemas.microsoft.com/office/powerpoint/2010/main" val="4192252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27</a:t>
            </a:fld>
            <a:endParaRPr lang="en-US" dirty="0"/>
          </a:p>
        </p:txBody>
      </p:sp>
    </p:spTree>
    <p:extLst>
      <p:ext uri="{BB962C8B-B14F-4D97-AF65-F5344CB8AC3E}">
        <p14:creationId xmlns:p14="http://schemas.microsoft.com/office/powerpoint/2010/main" val="176564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28</a:t>
            </a:fld>
            <a:endParaRPr lang="en-US" dirty="0"/>
          </a:p>
        </p:txBody>
      </p:sp>
    </p:spTree>
    <p:extLst>
      <p:ext uri="{BB962C8B-B14F-4D97-AF65-F5344CB8AC3E}">
        <p14:creationId xmlns:p14="http://schemas.microsoft.com/office/powerpoint/2010/main" val="30181618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29</a:t>
            </a:fld>
            <a:endParaRPr lang="en-US" dirty="0"/>
          </a:p>
        </p:txBody>
      </p:sp>
    </p:spTree>
    <p:extLst>
      <p:ext uri="{BB962C8B-B14F-4D97-AF65-F5344CB8AC3E}">
        <p14:creationId xmlns:p14="http://schemas.microsoft.com/office/powerpoint/2010/main" val="16638899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33</a:t>
            </a:fld>
            <a:endParaRPr lang="en-US" dirty="0"/>
          </a:p>
        </p:txBody>
      </p:sp>
    </p:spTree>
    <p:extLst>
      <p:ext uri="{BB962C8B-B14F-4D97-AF65-F5344CB8AC3E}">
        <p14:creationId xmlns:p14="http://schemas.microsoft.com/office/powerpoint/2010/main" val="25542422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34</a:t>
            </a:fld>
            <a:endParaRPr lang="en-US" dirty="0"/>
          </a:p>
        </p:txBody>
      </p:sp>
    </p:spTree>
    <p:extLst>
      <p:ext uri="{BB962C8B-B14F-4D97-AF65-F5344CB8AC3E}">
        <p14:creationId xmlns:p14="http://schemas.microsoft.com/office/powerpoint/2010/main" val="293236824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11/23/2019</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11/23/2019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11/23/2019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11/23/2019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11/23/2019</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11/23/2019</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11/23/2019</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11/23/2019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11/23/2019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11/23/2019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11/23/2019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11/23/2019</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hyperlink" Target="https://beginnersbook.com/2013/05/java-inheritance-types/"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beginnersbook.com/2014/01/method-overriding-in-java-with-example/"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www.geeksforgeeks.org/access-and-non-access-modifiers-in-java/"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hyperlink" Target="mailto:avadekkedhil@wilp.bits-pilani.ac.in"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normAutofit/>
          </a:bodyPr>
          <a:lstStyle/>
          <a:p>
            <a:r>
              <a:rPr lang="en-US" dirty="0"/>
              <a:t>Object Oriented Programming &amp; Design</a:t>
            </a:r>
          </a:p>
        </p:txBody>
      </p:sp>
      <p:sp>
        <p:nvSpPr>
          <p:cNvPr id="7" name="Subtitle 6"/>
          <p:cNvSpPr>
            <a:spLocks noGrp="1"/>
          </p:cNvSpPr>
          <p:nvPr>
            <p:ph type="subTitle" idx="1"/>
          </p:nvPr>
        </p:nvSpPr>
        <p:spPr>
          <a:xfrm>
            <a:off x="1104900" y="4511785"/>
            <a:ext cx="5734050" cy="846298"/>
          </a:xfrm>
        </p:spPr>
        <p:txBody>
          <a:bodyPr/>
          <a:lstStyle/>
          <a:p>
            <a:r>
              <a:rPr lang="en-IN" b="1" dirty="0"/>
              <a:t>Session – 5: 28-Oct-2018</a:t>
            </a:r>
            <a:endParaRPr lang="en-US" b="1" dirty="0"/>
          </a:p>
        </p:txBody>
      </p:sp>
      <p:pic>
        <p:nvPicPr>
          <p:cNvPr id="4" name="Picture Placeholder 3"/>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6671780" y="1445796"/>
            <a:ext cx="5269208" cy="3912286"/>
          </a:xfr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Agenda</a:t>
            </a:r>
          </a:p>
        </p:txBody>
      </p:sp>
      <p:sp>
        <p:nvSpPr>
          <p:cNvPr id="14" name="Content Placeholder 13"/>
          <p:cNvSpPr>
            <a:spLocks noGrp="1"/>
          </p:cNvSpPr>
          <p:nvPr>
            <p:ph idx="1"/>
          </p:nvPr>
        </p:nvSpPr>
        <p:spPr/>
        <p:txBody>
          <a:bodyPr>
            <a:normAutofit/>
          </a:bodyPr>
          <a:lstStyle/>
          <a:p>
            <a:r>
              <a:rPr lang="en-US" sz="2400" dirty="0"/>
              <a:t>Inheritance</a:t>
            </a:r>
          </a:p>
          <a:p>
            <a:pPr lvl="1"/>
            <a:r>
              <a:rPr lang="en-US" sz="2400" dirty="0"/>
              <a:t>What is Inheritance</a:t>
            </a:r>
          </a:p>
          <a:p>
            <a:pPr lvl="1"/>
            <a:r>
              <a:rPr lang="en-US" sz="2400" dirty="0"/>
              <a:t>Types of Inheritance</a:t>
            </a:r>
          </a:p>
          <a:p>
            <a:pPr lvl="1"/>
            <a:r>
              <a:rPr lang="en-US" sz="2400" dirty="0"/>
              <a:t>Sub &amp; Super Classes</a:t>
            </a:r>
          </a:p>
          <a:p>
            <a:pPr lvl="1"/>
            <a:r>
              <a:rPr lang="en-US" sz="2400" dirty="0"/>
              <a:t>Accessing Inherited members</a:t>
            </a:r>
          </a:p>
          <a:p>
            <a:pPr lvl="1"/>
            <a:r>
              <a:rPr lang="en-US" sz="2400" dirty="0"/>
              <a:t>Hiding Fields</a:t>
            </a:r>
          </a:p>
          <a:p>
            <a:r>
              <a:rPr lang="en-US" sz="2800" dirty="0"/>
              <a:t>Accessibility &amp; Overriding</a:t>
            </a:r>
          </a:p>
          <a:p>
            <a:r>
              <a:rPr lang="en-US" sz="2400" dirty="0"/>
              <a:t>Final Classes</a:t>
            </a:r>
          </a:p>
          <a:p>
            <a:r>
              <a:rPr lang="en-US" sz="2400" dirty="0"/>
              <a:t>Abstract Classes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3307" y="1466118"/>
            <a:ext cx="4706082" cy="4706082"/>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139" y="2971806"/>
            <a:ext cx="4280312" cy="1684150"/>
          </a:xfrm>
        </p:spPr>
        <p:txBody>
          <a:bodyPr/>
          <a:lstStyle/>
          <a:p>
            <a:r>
              <a:rPr lang="en-US" dirty="0"/>
              <a:t>Inheritance</a:t>
            </a:r>
          </a:p>
        </p:txBody>
      </p:sp>
      <p:sp>
        <p:nvSpPr>
          <p:cNvPr id="3" name="Text Placeholder 2"/>
          <p:cNvSpPr>
            <a:spLocks noGrp="1"/>
          </p:cNvSpPr>
          <p:nvPr>
            <p:ph type="body" idx="1"/>
          </p:nvPr>
        </p:nvSpPr>
        <p:spPr>
          <a:xfrm>
            <a:off x="1104899" y="4655956"/>
            <a:ext cx="3752851" cy="509750"/>
          </a:xfrm>
        </p:spPr>
        <p:txBody>
          <a:bodyPr>
            <a:normAutofit/>
          </a:bodyPr>
          <a:lstStyle/>
          <a:p>
            <a:r>
              <a:rPr lang="en-US" dirty="0"/>
              <a:t>The easiest way of getting rich in OOP</a:t>
            </a:r>
          </a:p>
        </p:txBody>
      </p:sp>
      <p:pic>
        <p:nvPicPr>
          <p:cNvPr id="5" name="Picture 4"/>
          <p:cNvPicPr>
            <a:picLocks noChangeAspect="1"/>
          </p:cNvPicPr>
          <p:nvPr/>
        </p:nvPicPr>
        <p:blipFill>
          <a:blip r:embed="rId2"/>
          <a:stretch>
            <a:fillRect/>
          </a:stretch>
        </p:blipFill>
        <p:spPr>
          <a:xfrm>
            <a:off x="5037117" y="1277092"/>
            <a:ext cx="7010400" cy="3733800"/>
          </a:xfrm>
          <a:prstGeom prst="rect">
            <a:avLst/>
          </a:prstGeom>
        </p:spPr>
      </p:pic>
    </p:spTree>
    <p:extLst>
      <p:ext uri="{BB962C8B-B14F-4D97-AF65-F5344CB8AC3E}">
        <p14:creationId xmlns:p14="http://schemas.microsoft.com/office/powerpoint/2010/main" val="1936288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a:t>
            </a:r>
          </a:p>
        </p:txBody>
      </p:sp>
      <p:sp>
        <p:nvSpPr>
          <p:cNvPr id="3" name="Content Placeholder 2"/>
          <p:cNvSpPr>
            <a:spLocks noGrp="1"/>
          </p:cNvSpPr>
          <p:nvPr>
            <p:ph idx="1"/>
          </p:nvPr>
        </p:nvSpPr>
        <p:spPr>
          <a:xfrm>
            <a:off x="317569" y="1414462"/>
            <a:ext cx="11583919" cy="5329237"/>
          </a:xfrm>
        </p:spPr>
        <p:txBody>
          <a:bodyPr>
            <a:noAutofit/>
          </a:bodyPr>
          <a:lstStyle/>
          <a:p>
            <a:pPr>
              <a:lnSpc>
                <a:spcPct val="100000"/>
              </a:lnSpc>
            </a:pPr>
            <a:r>
              <a:rPr lang="en-US" sz="1800" dirty="0">
                <a:latin typeface="Corbel" panose="020B0503020204020204" pitchFamily="34" charset="0"/>
              </a:rPr>
              <a:t>The </a:t>
            </a:r>
            <a:r>
              <a:rPr lang="en-US" sz="1800" b="1" u="sng" dirty="0">
                <a:latin typeface="Corbel" panose="020B0503020204020204" pitchFamily="34" charset="0"/>
              </a:rPr>
              <a:t>process</a:t>
            </a:r>
            <a:r>
              <a:rPr lang="en-US" sz="1800" dirty="0">
                <a:latin typeface="Corbel" panose="020B0503020204020204" pitchFamily="34" charset="0"/>
              </a:rPr>
              <a:t> by which one </a:t>
            </a:r>
            <a:r>
              <a:rPr lang="en-US" sz="1800" b="1" u="sng" dirty="0">
                <a:solidFill>
                  <a:srgbClr val="00B050"/>
                </a:solidFill>
                <a:latin typeface="Corbel" panose="020B0503020204020204" pitchFamily="34" charset="0"/>
              </a:rPr>
              <a:t>class acquires </a:t>
            </a:r>
            <a:r>
              <a:rPr lang="en-US" sz="1800" dirty="0">
                <a:latin typeface="Corbel" panose="020B0503020204020204" pitchFamily="34" charset="0"/>
              </a:rPr>
              <a:t>the </a:t>
            </a:r>
            <a:r>
              <a:rPr lang="en-US" sz="1800" b="1" u="sng" dirty="0">
                <a:solidFill>
                  <a:srgbClr val="FF0000"/>
                </a:solidFill>
                <a:latin typeface="Corbel" panose="020B0503020204020204" pitchFamily="34" charset="0"/>
              </a:rPr>
              <a:t>properties(data members) </a:t>
            </a:r>
            <a:r>
              <a:rPr lang="en-US" sz="1800" dirty="0">
                <a:latin typeface="Corbel" panose="020B0503020204020204" pitchFamily="34" charset="0"/>
              </a:rPr>
              <a:t>and </a:t>
            </a:r>
            <a:r>
              <a:rPr lang="en-US" sz="1800" b="1" u="sng" dirty="0">
                <a:solidFill>
                  <a:srgbClr val="0070C0"/>
                </a:solidFill>
                <a:latin typeface="Corbel" panose="020B0503020204020204" pitchFamily="34" charset="0"/>
              </a:rPr>
              <a:t>functionalities(methods</a:t>
            </a:r>
            <a:r>
              <a:rPr lang="en-US" sz="1800" b="1" u="sng" dirty="0">
                <a:latin typeface="Corbel" panose="020B0503020204020204" pitchFamily="34" charset="0"/>
              </a:rPr>
              <a:t>) </a:t>
            </a:r>
            <a:r>
              <a:rPr lang="en-US" sz="1800" dirty="0">
                <a:latin typeface="Corbel" panose="020B0503020204020204" pitchFamily="34" charset="0"/>
              </a:rPr>
              <a:t>of </a:t>
            </a:r>
            <a:r>
              <a:rPr lang="en-US" sz="1800" b="1" u="sng" dirty="0">
                <a:solidFill>
                  <a:srgbClr val="7030A0"/>
                </a:solidFill>
                <a:latin typeface="Corbel" panose="020B0503020204020204" pitchFamily="34" charset="0"/>
              </a:rPr>
              <a:t>another class </a:t>
            </a:r>
            <a:r>
              <a:rPr lang="en-US" sz="1800" dirty="0">
                <a:latin typeface="Corbel" panose="020B0503020204020204" pitchFamily="34" charset="0"/>
              </a:rPr>
              <a:t>is called inheritance. </a:t>
            </a:r>
          </a:p>
          <a:p>
            <a:pPr>
              <a:lnSpc>
                <a:spcPct val="100000"/>
              </a:lnSpc>
            </a:pPr>
            <a:r>
              <a:rPr lang="en-US" sz="1800" dirty="0">
                <a:latin typeface="Corbel" panose="020B0503020204020204" pitchFamily="34" charset="0"/>
              </a:rPr>
              <a:t>The </a:t>
            </a:r>
            <a:r>
              <a:rPr lang="en-US" sz="1800" b="1" dirty="0">
                <a:latin typeface="Corbel" panose="020B0503020204020204" pitchFamily="34" charset="0"/>
              </a:rPr>
              <a:t>aim</a:t>
            </a:r>
            <a:r>
              <a:rPr lang="en-US" sz="1800" dirty="0">
                <a:latin typeface="Corbel" panose="020B0503020204020204" pitchFamily="34" charset="0"/>
              </a:rPr>
              <a:t> of inheritance is to provide the </a:t>
            </a:r>
            <a:r>
              <a:rPr lang="en-US" sz="1800" b="1" dirty="0">
                <a:latin typeface="Corbel" panose="020B0503020204020204" pitchFamily="34" charset="0"/>
              </a:rPr>
              <a:t>reusability</a:t>
            </a:r>
            <a:r>
              <a:rPr lang="en-US" sz="1800" dirty="0">
                <a:latin typeface="Corbel" panose="020B0503020204020204" pitchFamily="34" charset="0"/>
              </a:rPr>
              <a:t> of code so that a class has to write only the </a:t>
            </a:r>
            <a:r>
              <a:rPr lang="en-US" sz="1800" u="sng" dirty="0">
                <a:latin typeface="Corbel" panose="020B0503020204020204" pitchFamily="34" charset="0"/>
              </a:rPr>
              <a:t>unique features </a:t>
            </a:r>
            <a:r>
              <a:rPr lang="en-US" sz="1800" dirty="0">
                <a:latin typeface="Corbel" panose="020B0503020204020204" pitchFamily="34" charset="0"/>
              </a:rPr>
              <a:t>and rest of the </a:t>
            </a:r>
            <a:r>
              <a:rPr lang="en-US" sz="1800" u="sng" dirty="0">
                <a:latin typeface="Corbel" panose="020B0503020204020204" pitchFamily="34" charset="0"/>
              </a:rPr>
              <a:t>common properties and functionalities </a:t>
            </a:r>
            <a:r>
              <a:rPr lang="en-US" sz="1800" dirty="0">
                <a:latin typeface="Corbel" panose="020B0503020204020204" pitchFamily="34" charset="0"/>
              </a:rPr>
              <a:t>can be </a:t>
            </a:r>
            <a:r>
              <a:rPr lang="en-US" sz="1800" u="sng" dirty="0">
                <a:latin typeface="Corbel" panose="020B0503020204020204" pitchFamily="34" charset="0"/>
              </a:rPr>
              <a:t>extended </a:t>
            </a:r>
            <a:r>
              <a:rPr lang="en-US" sz="1800" dirty="0">
                <a:latin typeface="Corbel" panose="020B0503020204020204" pitchFamily="34" charset="0"/>
              </a:rPr>
              <a:t>from the another class.</a:t>
            </a:r>
          </a:p>
          <a:p>
            <a:pPr marL="0" indent="0">
              <a:lnSpc>
                <a:spcPct val="100000"/>
              </a:lnSpc>
              <a:buNone/>
            </a:pPr>
            <a:r>
              <a:rPr lang="en-US" sz="1800" b="1" u="sng" dirty="0">
                <a:latin typeface="Corbel" panose="020B0503020204020204" pitchFamily="34" charset="0"/>
              </a:rPr>
              <a:t>Child Class</a:t>
            </a:r>
            <a:r>
              <a:rPr lang="en-US" sz="1800" dirty="0">
                <a:latin typeface="Corbel" panose="020B0503020204020204" pitchFamily="34" charset="0"/>
              </a:rPr>
              <a:t>:</a:t>
            </a:r>
          </a:p>
          <a:p>
            <a:pPr>
              <a:lnSpc>
                <a:spcPct val="100000"/>
              </a:lnSpc>
            </a:pPr>
            <a:r>
              <a:rPr lang="en-US" sz="1800" dirty="0">
                <a:latin typeface="Corbel" panose="020B0503020204020204" pitchFamily="34" charset="0"/>
              </a:rPr>
              <a:t>The </a:t>
            </a:r>
            <a:r>
              <a:rPr lang="en-US" sz="1800" b="1" u="sng" dirty="0">
                <a:latin typeface="Corbel" panose="020B0503020204020204" pitchFamily="34" charset="0"/>
              </a:rPr>
              <a:t>class that extends </a:t>
            </a:r>
            <a:r>
              <a:rPr lang="en-US" sz="1800" dirty="0">
                <a:latin typeface="Corbel" panose="020B0503020204020204" pitchFamily="34" charset="0"/>
              </a:rPr>
              <a:t>the features of another class is known as child class, sub class or derived class.</a:t>
            </a:r>
          </a:p>
          <a:p>
            <a:pPr marL="0" indent="0">
              <a:lnSpc>
                <a:spcPct val="100000"/>
              </a:lnSpc>
              <a:buNone/>
            </a:pPr>
            <a:r>
              <a:rPr lang="en-US" sz="1800" b="1" dirty="0">
                <a:latin typeface="Corbel" panose="020B0503020204020204" pitchFamily="34" charset="0"/>
              </a:rPr>
              <a:t>Parent Class:</a:t>
            </a:r>
          </a:p>
          <a:p>
            <a:pPr>
              <a:lnSpc>
                <a:spcPct val="100000"/>
              </a:lnSpc>
            </a:pPr>
            <a:r>
              <a:rPr lang="en-US" sz="1800" dirty="0">
                <a:latin typeface="Corbel" panose="020B0503020204020204" pitchFamily="34" charset="0"/>
              </a:rPr>
              <a:t>The class whose </a:t>
            </a:r>
            <a:r>
              <a:rPr lang="en-US" sz="1800" b="1" u="sng" dirty="0">
                <a:latin typeface="Corbel" panose="020B0503020204020204" pitchFamily="34" charset="0"/>
              </a:rPr>
              <a:t>properties and functionalities are used(inherited) by another class </a:t>
            </a:r>
            <a:r>
              <a:rPr lang="en-US" sz="1800" dirty="0">
                <a:latin typeface="Corbel" panose="020B0503020204020204" pitchFamily="34" charset="0"/>
              </a:rPr>
              <a:t>is known as parent class, super class or Base class.</a:t>
            </a:r>
          </a:p>
          <a:p>
            <a:pPr>
              <a:lnSpc>
                <a:spcPct val="100000"/>
              </a:lnSpc>
            </a:pPr>
            <a:r>
              <a:rPr lang="en-US" sz="1800" dirty="0">
                <a:latin typeface="Corbel" panose="020B0503020204020204" pitchFamily="34" charset="0"/>
              </a:rPr>
              <a:t>Inheritance is a process of defining a new class based on an existing class by extending its common data members and methods. Inheritance allows us to reuse of code, it improves reusability in your java application.</a:t>
            </a:r>
          </a:p>
          <a:p>
            <a:pPr>
              <a:lnSpc>
                <a:spcPct val="100000"/>
              </a:lnSpc>
            </a:pPr>
            <a:r>
              <a:rPr lang="en-US" sz="1800" b="1" i="1" u="sng" dirty="0">
                <a:latin typeface="Corbel" panose="020B0503020204020204" pitchFamily="34" charset="0"/>
              </a:rPr>
              <a:t>Note: The biggest advantage of Inheritance is that the code that is already present in base class need not be rewritten in the child class</a:t>
            </a:r>
            <a:r>
              <a:rPr lang="en-US" sz="1800" dirty="0">
                <a:latin typeface="Corbel" panose="020B0503020204020204" pitchFamily="34" charset="0"/>
              </a:rPr>
              <a:t>.</a:t>
            </a:r>
          </a:p>
        </p:txBody>
      </p:sp>
    </p:spTree>
    <p:extLst>
      <p:ext uri="{BB962C8B-B14F-4D97-AF65-F5344CB8AC3E}">
        <p14:creationId xmlns:p14="http://schemas.microsoft.com/office/powerpoint/2010/main" val="4192039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a:t>
            </a:r>
          </a:p>
        </p:txBody>
      </p:sp>
      <p:sp>
        <p:nvSpPr>
          <p:cNvPr id="3" name="Content Placeholder 2"/>
          <p:cNvSpPr>
            <a:spLocks noGrp="1"/>
          </p:cNvSpPr>
          <p:nvPr>
            <p:ph idx="1"/>
          </p:nvPr>
        </p:nvSpPr>
        <p:spPr>
          <a:xfrm>
            <a:off x="317569" y="1414462"/>
            <a:ext cx="11583919" cy="5329237"/>
          </a:xfrm>
        </p:spPr>
        <p:txBody>
          <a:bodyPr>
            <a:noAutofit/>
          </a:bodyPr>
          <a:lstStyle/>
          <a:p>
            <a:r>
              <a:rPr lang="en-US" dirty="0">
                <a:latin typeface="Corbel" panose="020B0503020204020204" pitchFamily="34" charset="0"/>
              </a:rPr>
              <a:t>Let us see an Example =- Employee Class . To avoid such problems as discussed in the program Inheritance is best used.</a:t>
            </a:r>
          </a:p>
          <a:p>
            <a:r>
              <a:rPr lang="en-US" dirty="0">
                <a:latin typeface="Corbel" panose="020B0503020204020204" pitchFamily="34" charset="0"/>
              </a:rPr>
              <a:t>The common features of employees appear in a parent class. Each different type of employee is represented by a child class. </a:t>
            </a:r>
          </a:p>
          <a:p>
            <a:r>
              <a:rPr lang="en-US" dirty="0">
                <a:latin typeface="Corbel" panose="020B0503020204020204" pitchFamily="34" charset="0"/>
              </a:rPr>
              <a:t>When a new type of employee such as a contractor comes along, a new child class is written that extends the parent class. None of the existing code needs to be touched.</a:t>
            </a:r>
          </a:p>
        </p:txBody>
      </p:sp>
    </p:spTree>
    <p:extLst>
      <p:ext uri="{BB962C8B-B14F-4D97-AF65-F5344CB8AC3E}">
        <p14:creationId xmlns:p14="http://schemas.microsoft.com/office/powerpoint/2010/main" val="449391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 – When to Use it</a:t>
            </a:r>
          </a:p>
        </p:txBody>
      </p:sp>
      <p:sp>
        <p:nvSpPr>
          <p:cNvPr id="3" name="Content Placeholder 2"/>
          <p:cNvSpPr>
            <a:spLocks noGrp="1"/>
          </p:cNvSpPr>
          <p:nvPr>
            <p:ph idx="1"/>
          </p:nvPr>
        </p:nvSpPr>
        <p:spPr>
          <a:xfrm>
            <a:off x="317570" y="1414462"/>
            <a:ext cx="11343488" cy="5329237"/>
          </a:xfrm>
        </p:spPr>
        <p:txBody>
          <a:bodyPr>
            <a:noAutofit/>
          </a:bodyPr>
          <a:lstStyle/>
          <a:p>
            <a:r>
              <a:rPr lang="en-US" dirty="0">
                <a:latin typeface="Corbel" panose="020B0503020204020204" pitchFamily="34" charset="0"/>
              </a:rPr>
              <a:t>The </a:t>
            </a:r>
            <a:r>
              <a:rPr lang="en-US" b="1" i="1" dirty="0">
                <a:solidFill>
                  <a:srgbClr val="002060"/>
                </a:solidFill>
                <a:latin typeface="Corbel" panose="020B0503020204020204" pitchFamily="34" charset="0"/>
              </a:rPr>
              <a:t>is a </a:t>
            </a:r>
            <a:r>
              <a:rPr lang="en-US" dirty="0">
                <a:latin typeface="Corbel" panose="020B0503020204020204" pitchFamily="34" charset="0"/>
              </a:rPr>
              <a:t>relationship is a simple but powerful rule for </a:t>
            </a:r>
            <a:r>
              <a:rPr lang="en-US" b="1" u="sng" dirty="0">
                <a:latin typeface="Corbel" panose="020B0503020204020204" pitchFamily="34" charset="0"/>
              </a:rPr>
              <a:t>testing</a:t>
            </a:r>
            <a:r>
              <a:rPr lang="en-US" dirty="0">
                <a:latin typeface="Corbel" panose="020B0503020204020204" pitchFamily="34" charset="0"/>
              </a:rPr>
              <a:t> if your </a:t>
            </a:r>
            <a:r>
              <a:rPr lang="en-US" b="1" u="sng" dirty="0">
                <a:latin typeface="Corbel" panose="020B0503020204020204" pitchFamily="34" charset="0"/>
              </a:rPr>
              <a:t>inheritance is a good design</a:t>
            </a:r>
            <a:r>
              <a:rPr lang="en-US" dirty="0">
                <a:latin typeface="Corbel" panose="020B0503020204020204" pitchFamily="34" charset="0"/>
              </a:rPr>
              <a:t>. Whenever you use inheritance, you should be able to say that a child </a:t>
            </a:r>
            <a:r>
              <a:rPr lang="en-US" i="1" dirty="0">
                <a:latin typeface="Corbel" panose="020B0503020204020204" pitchFamily="34" charset="0"/>
              </a:rPr>
              <a:t>is a </a:t>
            </a:r>
            <a:r>
              <a:rPr lang="en-US" dirty="0">
                <a:latin typeface="Corbel" panose="020B0503020204020204" pitchFamily="34" charset="0"/>
              </a:rPr>
              <a:t>parent. </a:t>
            </a:r>
          </a:p>
          <a:p>
            <a:r>
              <a:rPr lang="en-US" dirty="0">
                <a:latin typeface="Corbel" panose="020B0503020204020204" pitchFamily="34" charset="0"/>
              </a:rPr>
              <a:t>If this statement is true, your inheritance is likely a </a:t>
            </a:r>
            <a:r>
              <a:rPr lang="en-IN" dirty="0">
                <a:latin typeface="Corbel" panose="020B0503020204020204" pitchFamily="34" charset="0"/>
              </a:rPr>
              <a:t>good design. </a:t>
            </a:r>
            <a:r>
              <a:rPr lang="en-US" dirty="0">
                <a:latin typeface="Corbel" panose="020B0503020204020204" pitchFamily="34" charset="0"/>
              </a:rPr>
              <a:t>For example, it is true that a salaried employee is an employee. Similarly, an hourly employee is an employee; therefore, it is reasonable that the Salary and Hourly classes extend the Employee class.</a:t>
            </a:r>
          </a:p>
          <a:p>
            <a:r>
              <a:rPr lang="en-US" dirty="0">
                <a:latin typeface="Corbel" panose="020B0503020204020204" pitchFamily="34" charset="0"/>
              </a:rPr>
              <a:t>Let’s look at an example where inheritance is not a good idea. Suppose that you have a Date class that represents a calendar date, and you want to use that class to keep track of the date when an employee was hired.</a:t>
            </a:r>
          </a:p>
          <a:p>
            <a:r>
              <a:rPr lang="en-US" dirty="0">
                <a:latin typeface="Corbel" panose="020B0503020204020204" pitchFamily="34" charset="0"/>
              </a:rPr>
              <a:t>Because inheritance has so many benefits, you decide to have the Employee class extend the Date class. </a:t>
            </a:r>
          </a:p>
          <a:p>
            <a:r>
              <a:rPr lang="en-US" dirty="0">
                <a:latin typeface="Corbel" panose="020B0503020204020204" pitchFamily="34" charset="0"/>
              </a:rPr>
              <a:t>When you instantiate an Employee object, you will also get a Date object for storing the employee’s hire date; however, is it true that an employee </a:t>
            </a:r>
            <a:r>
              <a:rPr lang="en-US" i="1" dirty="0">
                <a:latin typeface="Corbel" panose="020B0503020204020204" pitchFamily="34" charset="0"/>
              </a:rPr>
              <a:t>is a </a:t>
            </a:r>
            <a:r>
              <a:rPr lang="en-US" dirty="0">
                <a:latin typeface="Corbel" panose="020B0503020204020204" pitchFamily="34" charset="0"/>
              </a:rPr>
              <a:t>date? The </a:t>
            </a:r>
            <a:r>
              <a:rPr lang="en-US" i="1" dirty="0">
                <a:latin typeface="Corbel" panose="020B0503020204020204" pitchFamily="34" charset="0"/>
              </a:rPr>
              <a:t>is a </a:t>
            </a:r>
            <a:r>
              <a:rPr lang="en-US" dirty="0">
                <a:latin typeface="Corbel" panose="020B0503020204020204" pitchFamily="34" charset="0"/>
              </a:rPr>
              <a:t>relationship clearly fails here. Although the result might work for us, an Employee class inheriting from a Date class is not a good design and should not be used.</a:t>
            </a:r>
            <a:endParaRPr lang="en-US" sz="1800" dirty="0">
              <a:latin typeface="Corbel" panose="020B0503020204020204" pitchFamily="34" charset="0"/>
            </a:endParaRPr>
          </a:p>
        </p:txBody>
      </p:sp>
    </p:spTree>
    <p:extLst>
      <p:ext uri="{BB962C8B-B14F-4D97-AF65-F5344CB8AC3E}">
        <p14:creationId xmlns:p14="http://schemas.microsoft.com/office/powerpoint/2010/main" val="260364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a:t>
            </a:r>
          </a:p>
        </p:txBody>
      </p:sp>
      <p:sp>
        <p:nvSpPr>
          <p:cNvPr id="3" name="Content Placeholder 2"/>
          <p:cNvSpPr>
            <a:spLocks noGrp="1"/>
          </p:cNvSpPr>
          <p:nvPr>
            <p:ph idx="1"/>
          </p:nvPr>
        </p:nvSpPr>
        <p:spPr>
          <a:xfrm>
            <a:off x="317570" y="1414462"/>
            <a:ext cx="6688872" cy="5329237"/>
          </a:xfrm>
        </p:spPr>
        <p:txBody>
          <a:bodyPr>
            <a:noAutofit/>
          </a:bodyPr>
          <a:lstStyle/>
          <a:p>
            <a:pPr>
              <a:lnSpc>
                <a:spcPct val="100000"/>
              </a:lnSpc>
            </a:pPr>
            <a:r>
              <a:rPr lang="en-US" sz="1800" dirty="0">
                <a:latin typeface="Corbel" panose="020B0503020204020204" pitchFamily="34" charset="0"/>
              </a:rPr>
              <a:t>To inherit a class we use </a:t>
            </a:r>
            <a:r>
              <a:rPr lang="en-US" sz="1800" b="1" u="sng" dirty="0">
                <a:latin typeface="Corbel" panose="020B0503020204020204" pitchFamily="34" charset="0"/>
              </a:rPr>
              <a:t>extends keyword</a:t>
            </a:r>
            <a:r>
              <a:rPr lang="en-US" sz="1800" dirty="0">
                <a:latin typeface="Corbel" panose="020B0503020204020204" pitchFamily="34" charset="0"/>
              </a:rPr>
              <a:t>. </a:t>
            </a:r>
          </a:p>
          <a:p>
            <a:pPr>
              <a:lnSpc>
                <a:spcPct val="100000"/>
              </a:lnSpc>
            </a:pPr>
            <a:r>
              <a:rPr lang="en-US" sz="1800" dirty="0">
                <a:latin typeface="Corbel" panose="020B0503020204020204" pitchFamily="34" charset="0"/>
              </a:rPr>
              <a:t>Here class PhysicsTeacher is sub class and class Teacher is parent or base class. The class PhysicsTeacher is inheriting the properties and methods of Teacher class.</a:t>
            </a:r>
          </a:p>
          <a:p>
            <a:pPr>
              <a:lnSpc>
                <a:spcPct val="150000"/>
              </a:lnSpc>
            </a:pPr>
            <a:r>
              <a:rPr lang="en-US" sz="1800" dirty="0">
                <a:latin typeface="Corbel" panose="020B0503020204020204" pitchFamily="34" charset="0"/>
              </a:rPr>
              <a:t> Since </a:t>
            </a:r>
            <a:r>
              <a:rPr lang="en-US" sz="1800" b="1" u="sng" dirty="0">
                <a:latin typeface="Corbel" panose="020B0503020204020204" pitchFamily="34" charset="0"/>
              </a:rPr>
              <a:t>class PhysicsTeacher</a:t>
            </a:r>
            <a:r>
              <a:rPr lang="en-US" sz="1800" dirty="0">
                <a:latin typeface="Corbel" panose="020B0503020204020204" pitchFamily="34" charset="0"/>
              </a:rPr>
              <a:t> extends the designation and college properties and work() method from base class, we need not to declare these properties and method in sub class.</a:t>
            </a:r>
          </a:p>
          <a:p>
            <a:pPr>
              <a:lnSpc>
                <a:spcPct val="150000"/>
              </a:lnSpc>
            </a:pPr>
            <a:r>
              <a:rPr lang="en-US" sz="1800" dirty="0">
                <a:latin typeface="Corbel" panose="020B0503020204020204" pitchFamily="34" charset="0"/>
              </a:rPr>
              <a:t>Here we have </a:t>
            </a:r>
            <a:r>
              <a:rPr lang="en-US" sz="1800" b="1" u="sng" dirty="0">
                <a:latin typeface="Corbel" panose="020B0503020204020204" pitchFamily="34" charset="0"/>
              </a:rPr>
              <a:t>collegeName</a:t>
            </a:r>
            <a:r>
              <a:rPr lang="en-US" sz="1800" dirty="0">
                <a:latin typeface="Corbel" panose="020B0503020204020204" pitchFamily="34" charset="0"/>
              </a:rPr>
              <a:t>, </a:t>
            </a:r>
            <a:r>
              <a:rPr lang="en-US" sz="1800" b="1" u="sng" dirty="0">
                <a:latin typeface="Corbel" panose="020B0503020204020204" pitchFamily="34" charset="0"/>
              </a:rPr>
              <a:t>designation </a:t>
            </a:r>
            <a:r>
              <a:rPr lang="en-US" sz="1800" dirty="0">
                <a:latin typeface="Corbel" panose="020B0503020204020204" pitchFamily="34" charset="0"/>
              </a:rPr>
              <a:t>and </a:t>
            </a:r>
            <a:r>
              <a:rPr lang="en-US" sz="1800" b="1" u="sng" dirty="0">
                <a:latin typeface="Corbel" panose="020B0503020204020204" pitchFamily="34" charset="0"/>
              </a:rPr>
              <a:t>does() method </a:t>
            </a:r>
            <a:r>
              <a:rPr lang="en-US" sz="1800" dirty="0">
                <a:latin typeface="Corbel" panose="020B0503020204020204" pitchFamily="34" charset="0"/>
              </a:rPr>
              <a:t>which are common to all the teachers so we have declared them in the base class, this way the child classes  like MathTeacher, MusicTeacher and PhysicsTeacher do not need to write this code and can be used directly from base class. </a:t>
            </a:r>
          </a:p>
          <a:p>
            <a:pPr>
              <a:lnSpc>
                <a:spcPct val="150000"/>
              </a:lnSpc>
            </a:pPr>
            <a:endParaRPr lang="en-US" sz="1800" dirty="0">
              <a:latin typeface="Corbel" panose="020B0503020204020204" pitchFamily="34" charset="0"/>
            </a:endParaRPr>
          </a:p>
          <a:p>
            <a:pPr>
              <a:lnSpc>
                <a:spcPct val="100000"/>
              </a:lnSpc>
            </a:pPr>
            <a:endParaRPr lang="en-US" sz="1800" dirty="0">
              <a:latin typeface="Corbel" panose="020B0503020204020204" pitchFamily="34" charset="0"/>
            </a:endParaRPr>
          </a:p>
        </p:txBody>
      </p:sp>
      <p:pic>
        <p:nvPicPr>
          <p:cNvPr id="4" name="Picture 3"/>
          <p:cNvPicPr>
            <a:picLocks noChangeAspect="1"/>
          </p:cNvPicPr>
          <p:nvPr/>
        </p:nvPicPr>
        <p:blipFill>
          <a:blip r:embed="rId3"/>
          <a:stretch>
            <a:fillRect/>
          </a:stretch>
        </p:blipFill>
        <p:spPr>
          <a:xfrm>
            <a:off x="7357381" y="1414462"/>
            <a:ext cx="4768317" cy="4950712"/>
          </a:xfrm>
          <a:prstGeom prst="rect">
            <a:avLst/>
          </a:prstGeom>
        </p:spPr>
      </p:pic>
    </p:spTree>
    <p:extLst>
      <p:ext uri="{BB962C8B-B14F-4D97-AF65-F5344CB8AC3E}">
        <p14:creationId xmlns:p14="http://schemas.microsoft.com/office/powerpoint/2010/main" val="107501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a:t>
            </a:r>
          </a:p>
        </p:txBody>
      </p:sp>
      <p:sp>
        <p:nvSpPr>
          <p:cNvPr id="3" name="Content Placeholder 2"/>
          <p:cNvSpPr>
            <a:spLocks noGrp="1"/>
          </p:cNvSpPr>
          <p:nvPr>
            <p:ph idx="1"/>
          </p:nvPr>
        </p:nvSpPr>
        <p:spPr>
          <a:xfrm>
            <a:off x="317570" y="1414462"/>
            <a:ext cx="4586939" cy="5329237"/>
          </a:xfrm>
        </p:spPr>
        <p:txBody>
          <a:bodyPr>
            <a:noAutofit/>
          </a:bodyPr>
          <a:lstStyle/>
          <a:p>
            <a:pPr algn="just">
              <a:lnSpc>
                <a:spcPct val="100000"/>
              </a:lnSpc>
            </a:pPr>
            <a:r>
              <a:rPr lang="en-US" sz="1600" dirty="0">
                <a:latin typeface="Corbel" panose="020B0503020204020204" pitchFamily="34" charset="0"/>
              </a:rPr>
              <a:t>Based on the above example we can say that </a:t>
            </a:r>
            <a:r>
              <a:rPr lang="en-US" sz="1600" b="1" dirty="0">
                <a:latin typeface="Corbel" panose="020B0503020204020204" pitchFamily="34" charset="0"/>
              </a:rPr>
              <a:t>PhysicsTeacher</a:t>
            </a:r>
            <a:r>
              <a:rPr lang="en-US" sz="1600" dirty="0">
                <a:latin typeface="Corbel" panose="020B0503020204020204" pitchFamily="34" charset="0"/>
              </a:rPr>
              <a:t> </a:t>
            </a:r>
            <a:r>
              <a:rPr lang="en-US" sz="1600" b="1" dirty="0">
                <a:solidFill>
                  <a:srgbClr val="0070C0"/>
                </a:solidFill>
                <a:latin typeface="Corbel" panose="020B0503020204020204" pitchFamily="34" charset="0"/>
              </a:rPr>
              <a:t>IS-A </a:t>
            </a:r>
            <a:r>
              <a:rPr lang="en-US" sz="1600" b="1" dirty="0">
                <a:latin typeface="Corbel" panose="020B0503020204020204" pitchFamily="34" charset="0"/>
              </a:rPr>
              <a:t>Teacher</a:t>
            </a:r>
            <a:r>
              <a:rPr lang="en-US" sz="1600" dirty="0">
                <a:latin typeface="Corbel" panose="020B0503020204020204" pitchFamily="34" charset="0"/>
              </a:rPr>
              <a:t>. </a:t>
            </a:r>
          </a:p>
          <a:p>
            <a:pPr algn="just">
              <a:lnSpc>
                <a:spcPct val="100000"/>
              </a:lnSpc>
            </a:pPr>
            <a:r>
              <a:rPr lang="en-US" sz="1600" dirty="0">
                <a:latin typeface="Corbel" panose="020B0503020204020204" pitchFamily="34" charset="0"/>
              </a:rPr>
              <a:t>This means that a child class has </a:t>
            </a:r>
            <a:r>
              <a:rPr lang="en-US" sz="1600" b="1" u="sng" dirty="0">
                <a:latin typeface="Corbel" panose="020B0503020204020204" pitchFamily="34" charset="0"/>
              </a:rPr>
              <a:t>IS-A </a:t>
            </a:r>
            <a:r>
              <a:rPr lang="en-US" sz="1600" dirty="0">
                <a:latin typeface="Corbel" panose="020B0503020204020204" pitchFamily="34" charset="0"/>
              </a:rPr>
              <a:t>relationship with the parent class. This is inheritance is known as IS-A relationship between child and parent class </a:t>
            </a:r>
          </a:p>
          <a:p>
            <a:pPr algn="just">
              <a:lnSpc>
                <a:spcPct val="100000"/>
              </a:lnSpc>
            </a:pPr>
            <a:r>
              <a:rPr lang="en-US" sz="1600" dirty="0">
                <a:latin typeface="Corbel" panose="020B0503020204020204" pitchFamily="34" charset="0"/>
              </a:rPr>
              <a:t>The </a:t>
            </a:r>
            <a:r>
              <a:rPr lang="en-US" sz="1600" b="1" dirty="0">
                <a:latin typeface="Corbel" panose="020B0503020204020204" pitchFamily="34" charset="0"/>
              </a:rPr>
              <a:t>derived class</a:t>
            </a:r>
            <a:r>
              <a:rPr lang="en-US" sz="1600" dirty="0">
                <a:latin typeface="Corbel" panose="020B0503020204020204" pitchFamily="34" charset="0"/>
              </a:rPr>
              <a:t> </a:t>
            </a:r>
            <a:r>
              <a:rPr lang="en-US" sz="1600" b="1" dirty="0">
                <a:latin typeface="Corbel" panose="020B0503020204020204" pitchFamily="34" charset="0"/>
              </a:rPr>
              <a:t>inherits </a:t>
            </a:r>
            <a:r>
              <a:rPr lang="en-US" sz="1600" dirty="0">
                <a:latin typeface="Corbel" panose="020B0503020204020204" pitchFamily="34" charset="0"/>
              </a:rPr>
              <a:t>all the </a:t>
            </a:r>
            <a:r>
              <a:rPr lang="en-US" sz="1600" b="1" dirty="0">
                <a:solidFill>
                  <a:srgbClr val="FF0000"/>
                </a:solidFill>
                <a:latin typeface="Corbel" panose="020B0503020204020204" pitchFamily="34" charset="0"/>
              </a:rPr>
              <a:t>members </a:t>
            </a:r>
            <a:r>
              <a:rPr lang="en-US" sz="1600" dirty="0">
                <a:latin typeface="Corbel" panose="020B0503020204020204" pitchFamily="34" charset="0"/>
              </a:rPr>
              <a:t>and </a:t>
            </a:r>
            <a:r>
              <a:rPr lang="en-US" sz="1600" b="1" dirty="0">
                <a:solidFill>
                  <a:srgbClr val="0070C0"/>
                </a:solidFill>
                <a:latin typeface="Corbel" panose="020B0503020204020204" pitchFamily="34" charset="0"/>
              </a:rPr>
              <a:t>methods</a:t>
            </a:r>
            <a:r>
              <a:rPr lang="en-US" sz="1600" dirty="0">
                <a:latin typeface="Corbel" panose="020B0503020204020204" pitchFamily="34" charset="0"/>
              </a:rPr>
              <a:t> that are declared as </a:t>
            </a:r>
            <a:r>
              <a:rPr lang="en-US" sz="1600" b="1" dirty="0">
                <a:latin typeface="Corbel" panose="020B0503020204020204" pitchFamily="34" charset="0"/>
              </a:rPr>
              <a:t>public or protected</a:t>
            </a:r>
            <a:r>
              <a:rPr lang="en-US" sz="1600" dirty="0">
                <a:latin typeface="Corbel" panose="020B0503020204020204" pitchFamily="34" charset="0"/>
              </a:rPr>
              <a:t>. </a:t>
            </a:r>
          </a:p>
          <a:p>
            <a:pPr algn="just">
              <a:lnSpc>
                <a:spcPct val="100000"/>
              </a:lnSpc>
            </a:pPr>
            <a:r>
              <a:rPr lang="en-US" sz="1600" dirty="0">
                <a:latin typeface="Corbel" panose="020B0503020204020204" pitchFamily="34" charset="0"/>
              </a:rPr>
              <a:t>If the </a:t>
            </a:r>
            <a:r>
              <a:rPr lang="en-US" sz="1600" b="1" dirty="0">
                <a:latin typeface="Corbel" panose="020B0503020204020204" pitchFamily="34" charset="0"/>
              </a:rPr>
              <a:t>members or methods</a:t>
            </a:r>
            <a:r>
              <a:rPr lang="en-US" sz="1600" dirty="0">
                <a:latin typeface="Corbel" panose="020B0503020204020204" pitchFamily="34" charset="0"/>
              </a:rPr>
              <a:t> of </a:t>
            </a:r>
            <a:r>
              <a:rPr lang="en-US" sz="1600" b="1" dirty="0">
                <a:latin typeface="Corbel" panose="020B0503020204020204" pitchFamily="34" charset="0"/>
              </a:rPr>
              <a:t>super class </a:t>
            </a:r>
            <a:r>
              <a:rPr lang="en-US" sz="1600" dirty="0">
                <a:latin typeface="Corbel" panose="020B0503020204020204" pitchFamily="34" charset="0"/>
              </a:rPr>
              <a:t>are declared as </a:t>
            </a:r>
            <a:r>
              <a:rPr lang="en-US" sz="1600" b="1" u="sng" dirty="0">
                <a:latin typeface="Corbel" panose="020B0503020204020204" pitchFamily="34" charset="0"/>
              </a:rPr>
              <a:t>private </a:t>
            </a:r>
            <a:r>
              <a:rPr lang="en-US" sz="1600" dirty="0">
                <a:latin typeface="Corbel" panose="020B0503020204020204" pitchFamily="34" charset="0"/>
              </a:rPr>
              <a:t>then the derived class cannot use them directly. </a:t>
            </a:r>
          </a:p>
          <a:p>
            <a:pPr algn="just">
              <a:lnSpc>
                <a:spcPct val="100000"/>
              </a:lnSpc>
            </a:pPr>
            <a:r>
              <a:rPr lang="en-US" sz="1600" dirty="0">
                <a:latin typeface="Corbel" panose="020B0503020204020204" pitchFamily="34" charset="0"/>
              </a:rPr>
              <a:t>The private members can be accessed only in its own class. </a:t>
            </a:r>
          </a:p>
          <a:p>
            <a:pPr algn="just">
              <a:lnSpc>
                <a:spcPct val="100000"/>
              </a:lnSpc>
            </a:pPr>
            <a:r>
              <a:rPr lang="en-US" sz="1600" dirty="0">
                <a:latin typeface="Corbel" panose="020B0503020204020204" pitchFamily="34" charset="0"/>
              </a:rPr>
              <a:t>Such </a:t>
            </a:r>
            <a:r>
              <a:rPr lang="en-US" sz="1600" b="1" u="sng" dirty="0">
                <a:latin typeface="Corbel" panose="020B0503020204020204" pitchFamily="34" charset="0"/>
              </a:rPr>
              <a:t>private members </a:t>
            </a:r>
            <a:r>
              <a:rPr lang="en-US" sz="1600" dirty="0">
                <a:latin typeface="Corbel" panose="020B0503020204020204" pitchFamily="34" charset="0"/>
              </a:rPr>
              <a:t>can only be </a:t>
            </a:r>
            <a:r>
              <a:rPr lang="en-US" sz="1600" b="1" i="1" u="sng" dirty="0">
                <a:solidFill>
                  <a:srgbClr val="002060"/>
                </a:solidFill>
                <a:latin typeface="Corbel" panose="020B0503020204020204" pitchFamily="34" charset="0"/>
              </a:rPr>
              <a:t>accessed using public or protected getter and setter methods of super class as shown in the example </a:t>
            </a:r>
            <a:r>
              <a:rPr lang="en-US" sz="1600" dirty="0">
                <a:latin typeface="Corbel" panose="020B0503020204020204" pitchFamily="34" charset="0"/>
              </a:rPr>
              <a:t>below.</a:t>
            </a:r>
          </a:p>
        </p:txBody>
      </p:sp>
      <p:pic>
        <p:nvPicPr>
          <p:cNvPr id="5" name="Picture 4"/>
          <p:cNvPicPr>
            <a:picLocks noChangeAspect="1"/>
          </p:cNvPicPr>
          <p:nvPr/>
        </p:nvPicPr>
        <p:blipFill>
          <a:blip r:embed="rId3"/>
          <a:stretch>
            <a:fillRect/>
          </a:stretch>
        </p:blipFill>
        <p:spPr>
          <a:xfrm>
            <a:off x="5124325" y="76200"/>
            <a:ext cx="4732193" cy="4673915"/>
          </a:xfrm>
          <a:prstGeom prst="rect">
            <a:avLst/>
          </a:prstGeom>
        </p:spPr>
      </p:pic>
      <p:pic>
        <p:nvPicPr>
          <p:cNvPr id="6" name="Picture 5"/>
          <p:cNvPicPr>
            <a:picLocks noChangeAspect="1"/>
          </p:cNvPicPr>
          <p:nvPr/>
        </p:nvPicPr>
        <p:blipFill>
          <a:blip r:embed="rId4"/>
          <a:stretch>
            <a:fillRect/>
          </a:stretch>
        </p:blipFill>
        <p:spPr>
          <a:xfrm>
            <a:off x="8555191" y="4358214"/>
            <a:ext cx="3446804" cy="2499786"/>
          </a:xfrm>
          <a:prstGeom prst="rect">
            <a:avLst/>
          </a:prstGeom>
        </p:spPr>
      </p:pic>
    </p:spTree>
    <p:extLst>
      <p:ext uri="{BB962C8B-B14F-4D97-AF65-F5344CB8AC3E}">
        <p14:creationId xmlns:p14="http://schemas.microsoft.com/office/powerpoint/2010/main" val="3151465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 – Remember the Access Modifiers</a:t>
            </a:r>
          </a:p>
        </p:txBody>
      </p:sp>
      <p:pic>
        <p:nvPicPr>
          <p:cNvPr id="7" name="Content Placeholder 6"/>
          <p:cNvPicPr>
            <a:picLocks noGrp="1" noChangeAspect="1"/>
          </p:cNvPicPr>
          <p:nvPr>
            <p:ph idx="1"/>
          </p:nvPr>
        </p:nvPicPr>
        <p:blipFill>
          <a:blip r:embed="rId3"/>
          <a:stretch>
            <a:fillRect/>
          </a:stretch>
        </p:blipFill>
        <p:spPr>
          <a:xfrm>
            <a:off x="558016" y="1424730"/>
            <a:ext cx="10527566" cy="5344454"/>
          </a:xfrm>
          <a:prstGeom prst="rect">
            <a:avLst/>
          </a:prstGeom>
        </p:spPr>
      </p:pic>
    </p:spTree>
    <p:extLst>
      <p:ext uri="{BB962C8B-B14F-4D97-AF65-F5344CB8AC3E}">
        <p14:creationId xmlns:p14="http://schemas.microsoft.com/office/powerpoint/2010/main" val="50322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 - Types</a:t>
            </a:r>
          </a:p>
        </p:txBody>
      </p:sp>
      <p:sp>
        <p:nvSpPr>
          <p:cNvPr id="3" name="Content Placeholder 2"/>
          <p:cNvSpPr>
            <a:spLocks noGrp="1"/>
          </p:cNvSpPr>
          <p:nvPr>
            <p:ph idx="1"/>
          </p:nvPr>
        </p:nvSpPr>
        <p:spPr>
          <a:xfrm>
            <a:off x="317570" y="1414462"/>
            <a:ext cx="6688872" cy="5329237"/>
          </a:xfrm>
        </p:spPr>
        <p:txBody>
          <a:bodyPr>
            <a:noAutofit/>
          </a:bodyPr>
          <a:lstStyle/>
          <a:p>
            <a:pPr marL="0" indent="0">
              <a:lnSpc>
                <a:spcPct val="150000"/>
              </a:lnSpc>
              <a:buNone/>
            </a:pPr>
            <a:r>
              <a:rPr lang="en-US" b="1" u="sng" dirty="0">
                <a:latin typeface="Corbel" panose="020B0503020204020204" pitchFamily="34" charset="0"/>
              </a:rPr>
              <a:t>Single Inheritance </a:t>
            </a:r>
          </a:p>
          <a:p>
            <a:pPr marL="0" indent="0">
              <a:lnSpc>
                <a:spcPct val="150000"/>
              </a:lnSpc>
              <a:buNone/>
            </a:pPr>
            <a:r>
              <a:rPr lang="en-US" dirty="0">
                <a:latin typeface="Corbel" panose="020B0503020204020204" pitchFamily="34" charset="0"/>
              </a:rPr>
              <a:t>When a </a:t>
            </a:r>
            <a:r>
              <a:rPr lang="en-US" b="1" u="sng" dirty="0">
                <a:latin typeface="Corbel" panose="020B0503020204020204" pitchFamily="34" charset="0"/>
              </a:rPr>
              <a:t>class extends </a:t>
            </a:r>
            <a:r>
              <a:rPr lang="en-US" dirty="0">
                <a:latin typeface="Corbel" panose="020B0503020204020204" pitchFamily="34" charset="0"/>
              </a:rPr>
              <a:t>another </a:t>
            </a:r>
            <a:r>
              <a:rPr lang="en-US" b="1" u="sng" dirty="0">
                <a:latin typeface="Corbel" panose="020B0503020204020204" pitchFamily="34" charset="0"/>
              </a:rPr>
              <a:t>one class only </a:t>
            </a:r>
            <a:r>
              <a:rPr lang="en-US" dirty="0">
                <a:latin typeface="Corbel" panose="020B0503020204020204" pitchFamily="34" charset="0"/>
              </a:rPr>
              <a:t>then we  call it a </a:t>
            </a:r>
            <a:r>
              <a:rPr lang="en-US" b="1" u="sng" dirty="0">
                <a:latin typeface="Corbel" panose="020B0503020204020204" pitchFamily="34" charset="0"/>
              </a:rPr>
              <a:t>single inheritance</a:t>
            </a:r>
            <a:r>
              <a:rPr lang="en-US" dirty="0">
                <a:latin typeface="Corbel" panose="020B0503020204020204" pitchFamily="34" charset="0"/>
              </a:rPr>
              <a:t>. </a:t>
            </a:r>
          </a:p>
          <a:p>
            <a:pPr marL="0" indent="0">
              <a:lnSpc>
                <a:spcPct val="150000"/>
              </a:lnSpc>
              <a:buNone/>
            </a:pPr>
            <a:r>
              <a:rPr lang="en-US" dirty="0">
                <a:latin typeface="Corbel" panose="020B0503020204020204" pitchFamily="34" charset="0"/>
              </a:rPr>
              <a:t>The below flow diagram shows that </a:t>
            </a:r>
            <a:r>
              <a:rPr lang="en-US" b="1" u="sng" dirty="0">
                <a:solidFill>
                  <a:srgbClr val="7030A0"/>
                </a:solidFill>
                <a:latin typeface="Corbel" panose="020B0503020204020204" pitchFamily="34" charset="0"/>
              </a:rPr>
              <a:t>class B extends </a:t>
            </a:r>
            <a:r>
              <a:rPr lang="en-US" dirty="0">
                <a:latin typeface="Corbel" panose="020B0503020204020204" pitchFamily="34" charset="0"/>
              </a:rPr>
              <a:t>only one </a:t>
            </a:r>
            <a:r>
              <a:rPr lang="en-US" b="1" u="sng" dirty="0">
                <a:solidFill>
                  <a:srgbClr val="00B0F0"/>
                </a:solidFill>
                <a:latin typeface="Corbel" panose="020B0503020204020204" pitchFamily="34" charset="0"/>
              </a:rPr>
              <a:t>class which is A</a:t>
            </a:r>
            <a:r>
              <a:rPr lang="en-US" dirty="0">
                <a:latin typeface="Corbel" panose="020B0503020204020204" pitchFamily="34" charset="0"/>
              </a:rPr>
              <a:t>. Here A is a parent class of B and B would be  a child class of A.</a:t>
            </a:r>
          </a:p>
        </p:txBody>
      </p:sp>
      <p:pic>
        <p:nvPicPr>
          <p:cNvPr id="5" name="Picture 4"/>
          <p:cNvPicPr>
            <a:picLocks noChangeAspect="1"/>
          </p:cNvPicPr>
          <p:nvPr/>
        </p:nvPicPr>
        <p:blipFill>
          <a:blip r:embed="rId3"/>
          <a:stretch>
            <a:fillRect/>
          </a:stretch>
        </p:blipFill>
        <p:spPr>
          <a:xfrm>
            <a:off x="3301365" y="4313713"/>
            <a:ext cx="2291715" cy="2223812"/>
          </a:xfrm>
          <a:prstGeom prst="rect">
            <a:avLst/>
          </a:prstGeom>
        </p:spPr>
      </p:pic>
      <p:pic>
        <p:nvPicPr>
          <p:cNvPr id="6" name="Picture 5"/>
          <p:cNvPicPr>
            <a:picLocks noChangeAspect="1"/>
          </p:cNvPicPr>
          <p:nvPr/>
        </p:nvPicPr>
        <p:blipFill>
          <a:blip r:embed="rId4"/>
          <a:stretch>
            <a:fillRect/>
          </a:stretch>
        </p:blipFill>
        <p:spPr>
          <a:xfrm>
            <a:off x="7113270" y="1414462"/>
            <a:ext cx="4926330" cy="5408038"/>
          </a:xfrm>
          <a:prstGeom prst="rect">
            <a:avLst/>
          </a:prstGeom>
        </p:spPr>
      </p:pic>
    </p:spTree>
    <p:extLst>
      <p:ext uri="{BB962C8B-B14F-4D97-AF65-F5344CB8AC3E}">
        <p14:creationId xmlns:p14="http://schemas.microsoft.com/office/powerpoint/2010/main" val="912456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 - Types</a:t>
            </a:r>
          </a:p>
        </p:txBody>
      </p:sp>
      <p:sp>
        <p:nvSpPr>
          <p:cNvPr id="3" name="Content Placeholder 2"/>
          <p:cNvSpPr>
            <a:spLocks noGrp="1"/>
          </p:cNvSpPr>
          <p:nvPr>
            <p:ph idx="1"/>
          </p:nvPr>
        </p:nvSpPr>
        <p:spPr>
          <a:xfrm>
            <a:off x="317570" y="1414462"/>
            <a:ext cx="6281350" cy="5329237"/>
          </a:xfrm>
        </p:spPr>
        <p:txBody>
          <a:bodyPr>
            <a:noAutofit/>
          </a:bodyPr>
          <a:lstStyle/>
          <a:p>
            <a:pPr marL="0" indent="0">
              <a:lnSpc>
                <a:spcPct val="150000"/>
              </a:lnSpc>
              <a:buNone/>
            </a:pPr>
            <a:r>
              <a:rPr lang="en-US" b="1" u="sng" dirty="0">
                <a:latin typeface="Corbel" panose="020B0503020204020204" pitchFamily="34" charset="0"/>
              </a:rPr>
              <a:t>Multi Level Inheritance </a:t>
            </a:r>
          </a:p>
          <a:p>
            <a:pPr marL="0" indent="0">
              <a:lnSpc>
                <a:spcPct val="150000"/>
              </a:lnSpc>
              <a:buNone/>
            </a:pPr>
            <a:r>
              <a:rPr lang="en-US" b="1" dirty="0"/>
              <a:t>Multilevel inheritance</a:t>
            </a:r>
            <a:r>
              <a:rPr lang="en-US" dirty="0"/>
              <a:t> refers to a mechanism in OO technology where one can inherit from a derived class, thereby making this derived class the base class for the new class. </a:t>
            </a:r>
          </a:p>
          <a:p>
            <a:pPr marL="0" indent="0">
              <a:lnSpc>
                <a:spcPct val="150000"/>
              </a:lnSpc>
              <a:buNone/>
            </a:pPr>
            <a:endParaRPr lang="en-US" dirty="0"/>
          </a:p>
          <a:p>
            <a:pPr marL="0" indent="0">
              <a:lnSpc>
                <a:spcPct val="150000"/>
              </a:lnSpc>
              <a:buNone/>
            </a:pPr>
            <a:endParaRPr lang="en-US" dirty="0"/>
          </a:p>
          <a:p>
            <a:pPr marL="0" indent="0">
              <a:lnSpc>
                <a:spcPct val="150000"/>
              </a:lnSpc>
              <a:buNone/>
            </a:pPr>
            <a:r>
              <a:rPr lang="en-US" dirty="0"/>
              <a:t>As you can see in below flow diagram C is subclass or child class of B and B is a child class of A.</a:t>
            </a:r>
            <a:endParaRPr lang="en-US" b="1" u="sng" dirty="0">
              <a:latin typeface="Corbel" panose="020B0503020204020204" pitchFamily="34" charset="0"/>
            </a:endParaRPr>
          </a:p>
        </p:txBody>
      </p:sp>
      <p:pic>
        <p:nvPicPr>
          <p:cNvPr id="4" name="Picture 3"/>
          <p:cNvPicPr>
            <a:picLocks noChangeAspect="1"/>
          </p:cNvPicPr>
          <p:nvPr/>
        </p:nvPicPr>
        <p:blipFill>
          <a:blip r:embed="rId3"/>
          <a:stretch>
            <a:fillRect/>
          </a:stretch>
        </p:blipFill>
        <p:spPr>
          <a:xfrm>
            <a:off x="2814280" y="3592829"/>
            <a:ext cx="1879639" cy="2069715"/>
          </a:xfrm>
          <a:prstGeom prst="rect">
            <a:avLst/>
          </a:prstGeom>
        </p:spPr>
      </p:pic>
      <p:pic>
        <p:nvPicPr>
          <p:cNvPr id="7" name="Picture 6"/>
          <p:cNvPicPr>
            <a:picLocks noChangeAspect="1"/>
          </p:cNvPicPr>
          <p:nvPr/>
        </p:nvPicPr>
        <p:blipFill>
          <a:blip r:embed="rId4"/>
          <a:stretch>
            <a:fillRect/>
          </a:stretch>
        </p:blipFill>
        <p:spPr>
          <a:xfrm>
            <a:off x="6799332" y="76200"/>
            <a:ext cx="5392668" cy="6724762"/>
          </a:xfrm>
          <a:prstGeom prst="rect">
            <a:avLst/>
          </a:prstGeom>
        </p:spPr>
      </p:pic>
    </p:spTree>
    <p:extLst>
      <p:ext uri="{BB962C8B-B14F-4D97-AF65-F5344CB8AC3E}">
        <p14:creationId xmlns:p14="http://schemas.microsoft.com/office/powerpoint/2010/main" val="3237283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 - Types</a:t>
            </a:r>
          </a:p>
        </p:txBody>
      </p:sp>
      <p:sp>
        <p:nvSpPr>
          <p:cNvPr id="3" name="Content Placeholder 2"/>
          <p:cNvSpPr>
            <a:spLocks noGrp="1"/>
          </p:cNvSpPr>
          <p:nvPr>
            <p:ph idx="1"/>
          </p:nvPr>
        </p:nvSpPr>
        <p:spPr>
          <a:xfrm>
            <a:off x="317570" y="1414462"/>
            <a:ext cx="4985950" cy="5329237"/>
          </a:xfrm>
        </p:spPr>
        <p:txBody>
          <a:bodyPr>
            <a:noAutofit/>
          </a:bodyPr>
          <a:lstStyle/>
          <a:p>
            <a:pPr marL="0" indent="0">
              <a:lnSpc>
                <a:spcPct val="150000"/>
              </a:lnSpc>
              <a:buNone/>
            </a:pPr>
            <a:r>
              <a:rPr lang="en-US" b="1" u="sng" dirty="0">
                <a:latin typeface="Corbel" panose="020B0503020204020204" pitchFamily="34" charset="0"/>
              </a:rPr>
              <a:t>Hierarchical Inheritance </a:t>
            </a:r>
          </a:p>
          <a:p>
            <a:pPr marL="0" indent="0">
              <a:lnSpc>
                <a:spcPct val="150000"/>
              </a:lnSpc>
              <a:buNone/>
            </a:pPr>
            <a:r>
              <a:rPr lang="en-US" dirty="0"/>
              <a:t>When more than one classes inherit a same class then this is called hierarchical inheritance. For example class B, C and D extends a same class A. </a:t>
            </a:r>
          </a:p>
          <a:p>
            <a:pPr marL="0" indent="0">
              <a:lnSpc>
                <a:spcPct val="150000"/>
              </a:lnSpc>
              <a:buNone/>
            </a:pPr>
            <a:endParaRPr lang="en-US" dirty="0"/>
          </a:p>
          <a:p>
            <a:pPr marL="0" indent="0">
              <a:lnSpc>
                <a:spcPct val="150000"/>
              </a:lnSpc>
              <a:buNone/>
            </a:pPr>
            <a:endParaRPr lang="en-US" dirty="0"/>
          </a:p>
          <a:p>
            <a:pPr marL="0" indent="0">
              <a:lnSpc>
                <a:spcPct val="150000"/>
              </a:lnSpc>
              <a:buNone/>
            </a:pPr>
            <a:endParaRPr lang="en-US" b="1" u="sng" dirty="0">
              <a:latin typeface="Corbel" panose="020B0503020204020204" pitchFamily="34" charset="0"/>
            </a:endParaRPr>
          </a:p>
        </p:txBody>
      </p:sp>
      <p:pic>
        <p:nvPicPr>
          <p:cNvPr id="5" name="Picture 4"/>
          <p:cNvPicPr>
            <a:picLocks noChangeAspect="1"/>
          </p:cNvPicPr>
          <p:nvPr/>
        </p:nvPicPr>
        <p:blipFill>
          <a:blip r:embed="rId3"/>
          <a:stretch>
            <a:fillRect/>
          </a:stretch>
        </p:blipFill>
        <p:spPr>
          <a:xfrm>
            <a:off x="1626200" y="4079080"/>
            <a:ext cx="2609850" cy="2457450"/>
          </a:xfrm>
          <a:prstGeom prst="rect">
            <a:avLst/>
          </a:prstGeom>
        </p:spPr>
      </p:pic>
      <p:pic>
        <p:nvPicPr>
          <p:cNvPr id="6" name="Picture 5"/>
          <p:cNvPicPr>
            <a:picLocks noChangeAspect="1"/>
          </p:cNvPicPr>
          <p:nvPr/>
        </p:nvPicPr>
        <p:blipFill>
          <a:blip r:embed="rId4"/>
          <a:stretch>
            <a:fillRect/>
          </a:stretch>
        </p:blipFill>
        <p:spPr>
          <a:xfrm>
            <a:off x="5778430" y="76200"/>
            <a:ext cx="6230690" cy="6781800"/>
          </a:xfrm>
          <a:prstGeom prst="rect">
            <a:avLst/>
          </a:prstGeom>
        </p:spPr>
      </p:pic>
    </p:spTree>
    <p:extLst>
      <p:ext uri="{BB962C8B-B14F-4D97-AF65-F5344CB8AC3E}">
        <p14:creationId xmlns:p14="http://schemas.microsoft.com/office/powerpoint/2010/main" val="3265699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 - Types</a:t>
            </a:r>
          </a:p>
        </p:txBody>
      </p:sp>
      <p:sp>
        <p:nvSpPr>
          <p:cNvPr id="3" name="Content Placeholder 2"/>
          <p:cNvSpPr>
            <a:spLocks noGrp="1"/>
          </p:cNvSpPr>
          <p:nvPr>
            <p:ph idx="1"/>
          </p:nvPr>
        </p:nvSpPr>
        <p:spPr>
          <a:xfrm>
            <a:off x="317570" y="1414462"/>
            <a:ext cx="8247310" cy="5329237"/>
          </a:xfrm>
        </p:spPr>
        <p:txBody>
          <a:bodyPr>
            <a:noAutofit/>
          </a:bodyPr>
          <a:lstStyle/>
          <a:p>
            <a:pPr marL="0" indent="0">
              <a:lnSpc>
                <a:spcPct val="150000"/>
              </a:lnSpc>
              <a:buNone/>
            </a:pPr>
            <a:r>
              <a:rPr lang="en-US" dirty="0">
                <a:latin typeface="Corbel" panose="020B0503020204020204" pitchFamily="34" charset="0"/>
              </a:rPr>
              <a:t>In simple terms you can say that </a:t>
            </a:r>
            <a:r>
              <a:rPr lang="en-US" b="1" u="sng" dirty="0">
                <a:latin typeface="Corbel" panose="020B0503020204020204" pitchFamily="34" charset="0"/>
              </a:rPr>
              <a:t>Hybrid inheritance </a:t>
            </a:r>
            <a:r>
              <a:rPr lang="en-US" dirty="0">
                <a:latin typeface="Corbel" panose="020B0503020204020204" pitchFamily="34" charset="0"/>
              </a:rPr>
              <a:t>is a combination of Single and Multiple inheritance. </a:t>
            </a:r>
          </a:p>
          <a:p>
            <a:pPr marL="0" indent="0">
              <a:lnSpc>
                <a:spcPct val="150000"/>
              </a:lnSpc>
              <a:buNone/>
            </a:pPr>
            <a:r>
              <a:rPr lang="en-US" dirty="0">
                <a:latin typeface="Corbel" panose="020B0503020204020204" pitchFamily="34" charset="0"/>
              </a:rPr>
              <a:t>A typical flow diagram would look like below. </a:t>
            </a:r>
          </a:p>
          <a:p>
            <a:pPr marL="0" indent="0">
              <a:lnSpc>
                <a:spcPct val="150000"/>
              </a:lnSpc>
              <a:buNone/>
            </a:pPr>
            <a:r>
              <a:rPr lang="en-US" dirty="0">
                <a:latin typeface="Corbel" panose="020B0503020204020204" pitchFamily="34" charset="0"/>
              </a:rPr>
              <a:t>A hybrid inheritance can be achieved in the java in a same way as multiple inheritance can be!! Using interfaces. </a:t>
            </a:r>
          </a:p>
          <a:p>
            <a:pPr marL="0" indent="0">
              <a:lnSpc>
                <a:spcPct val="150000"/>
              </a:lnSpc>
              <a:buNone/>
            </a:pPr>
            <a:r>
              <a:rPr lang="en-US" dirty="0">
                <a:latin typeface="Corbel" panose="020B0503020204020204" pitchFamily="34" charset="0"/>
              </a:rPr>
              <a:t>A hybrid inheritance is a combination of more than one </a:t>
            </a:r>
            <a:r>
              <a:rPr lang="en-US" dirty="0">
                <a:latin typeface="Corbel" panose="020B0503020204020204" pitchFamily="34" charset="0"/>
                <a:hlinkClick r:id="rId3"/>
              </a:rPr>
              <a:t>types of inheritance</a:t>
            </a:r>
            <a:r>
              <a:rPr lang="en-US" dirty="0">
                <a:latin typeface="Corbel" panose="020B0503020204020204" pitchFamily="34" charset="0"/>
              </a:rPr>
              <a:t>. For example when class A and B extends class C &amp; another class D extends class A then this is a hybrid inheritance, because it is a combination of single and hierarchical inheritance. Let me show you this diagrammatically:</a:t>
            </a:r>
          </a:p>
        </p:txBody>
      </p:sp>
      <p:pic>
        <p:nvPicPr>
          <p:cNvPr id="4" name="Picture 3"/>
          <p:cNvPicPr>
            <a:picLocks noChangeAspect="1"/>
          </p:cNvPicPr>
          <p:nvPr/>
        </p:nvPicPr>
        <p:blipFill>
          <a:blip r:embed="rId4"/>
          <a:stretch>
            <a:fillRect/>
          </a:stretch>
        </p:blipFill>
        <p:spPr>
          <a:xfrm>
            <a:off x="9007792" y="1653540"/>
            <a:ext cx="2769911" cy="2613660"/>
          </a:xfrm>
          <a:prstGeom prst="rect">
            <a:avLst/>
          </a:prstGeom>
        </p:spPr>
      </p:pic>
    </p:spTree>
    <p:extLst>
      <p:ext uri="{BB962C8B-B14F-4D97-AF65-F5344CB8AC3E}">
        <p14:creationId xmlns:p14="http://schemas.microsoft.com/office/powerpoint/2010/main" val="2823468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 - Types</a:t>
            </a:r>
          </a:p>
        </p:txBody>
      </p:sp>
      <p:pic>
        <p:nvPicPr>
          <p:cNvPr id="8" name="Content Placeholder 7"/>
          <p:cNvPicPr>
            <a:picLocks noGrp="1" noChangeAspect="1"/>
          </p:cNvPicPr>
          <p:nvPr>
            <p:ph idx="1"/>
          </p:nvPr>
        </p:nvPicPr>
        <p:blipFill>
          <a:blip r:embed="rId3"/>
          <a:stretch>
            <a:fillRect/>
          </a:stretch>
        </p:blipFill>
        <p:spPr>
          <a:xfrm>
            <a:off x="212943" y="1385109"/>
            <a:ext cx="5711868" cy="5291123"/>
          </a:xfrm>
          <a:prstGeom prst="rect">
            <a:avLst/>
          </a:prstGeom>
        </p:spPr>
      </p:pic>
    </p:spTree>
    <p:extLst>
      <p:ext uri="{BB962C8B-B14F-4D97-AF65-F5344CB8AC3E}">
        <p14:creationId xmlns:p14="http://schemas.microsoft.com/office/powerpoint/2010/main" val="2465469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139" y="2971806"/>
            <a:ext cx="4280312" cy="1684150"/>
          </a:xfrm>
        </p:spPr>
        <p:txBody>
          <a:bodyPr/>
          <a:lstStyle/>
          <a:p>
            <a:r>
              <a:rPr lang="en-US" dirty="0"/>
              <a:t>Creating Sub Classes</a:t>
            </a:r>
          </a:p>
        </p:txBody>
      </p:sp>
      <p:sp>
        <p:nvSpPr>
          <p:cNvPr id="3" name="Text Placeholder 2"/>
          <p:cNvSpPr>
            <a:spLocks noGrp="1"/>
          </p:cNvSpPr>
          <p:nvPr>
            <p:ph type="body" idx="1"/>
          </p:nvPr>
        </p:nvSpPr>
        <p:spPr>
          <a:xfrm>
            <a:off x="1104899" y="4655956"/>
            <a:ext cx="3752851" cy="509750"/>
          </a:xfrm>
        </p:spPr>
        <p:txBody>
          <a:bodyPr>
            <a:normAutofit lnSpcReduction="10000"/>
          </a:bodyPr>
          <a:lstStyle/>
          <a:p>
            <a:r>
              <a:rPr lang="en-US" dirty="0"/>
              <a:t>Where there is a will there is an inheritance tax !!!</a:t>
            </a:r>
          </a:p>
        </p:txBody>
      </p:sp>
      <p:pic>
        <p:nvPicPr>
          <p:cNvPr id="5" name="Picture 4"/>
          <p:cNvPicPr>
            <a:picLocks noChangeAspect="1"/>
          </p:cNvPicPr>
          <p:nvPr/>
        </p:nvPicPr>
        <p:blipFill>
          <a:blip r:embed="rId2"/>
          <a:stretch>
            <a:fillRect/>
          </a:stretch>
        </p:blipFill>
        <p:spPr>
          <a:xfrm>
            <a:off x="5037117" y="1277092"/>
            <a:ext cx="7010400" cy="3733800"/>
          </a:xfrm>
          <a:prstGeom prst="rect">
            <a:avLst/>
          </a:prstGeom>
        </p:spPr>
      </p:pic>
    </p:spTree>
    <p:extLst>
      <p:ext uri="{BB962C8B-B14F-4D97-AF65-F5344CB8AC3E}">
        <p14:creationId xmlns:p14="http://schemas.microsoft.com/office/powerpoint/2010/main" val="152920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Classes - Creation</a:t>
            </a:r>
          </a:p>
        </p:txBody>
      </p:sp>
      <p:sp>
        <p:nvSpPr>
          <p:cNvPr id="3" name="Content Placeholder 2"/>
          <p:cNvSpPr>
            <a:spLocks noGrp="1"/>
          </p:cNvSpPr>
          <p:nvPr>
            <p:ph idx="1"/>
          </p:nvPr>
        </p:nvSpPr>
        <p:spPr>
          <a:xfrm>
            <a:off x="317570" y="1414462"/>
            <a:ext cx="5109836" cy="2227061"/>
          </a:xfrm>
        </p:spPr>
        <p:txBody>
          <a:bodyPr>
            <a:noAutofit/>
          </a:bodyPr>
          <a:lstStyle/>
          <a:p>
            <a:r>
              <a:rPr lang="en-US" sz="1800" dirty="0">
                <a:latin typeface="Corbel" panose="020B0503020204020204" pitchFamily="34" charset="0"/>
              </a:rPr>
              <a:t>Now that we have defined the Employee, Salary, and Hourly classes, let’s look at a program that instantiates and uses these classes. </a:t>
            </a:r>
          </a:p>
          <a:p>
            <a:r>
              <a:rPr lang="en-US" sz="1800" dirty="0">
                <a:latin typeface="Corbel" panose="020B0503020204020204" pitchFamily="34" charset="0"/>
              </a:rPr>
              <a:t>The following Inherit-Demo program creates an Employee, Salary, and Hourly object. </a:t>
            </a:r>
          </a:p>
          <a:p>
            <a:r>
              <a:rPr lang="en-US" sz="1800" dirty="0">
                <a:latin typeface="Corbel" panose="020B0503020204020204" pitchFamily="34" charset="0"/>
              </a:rPr>
              <a:t>Study the program carefully and try to determine its output.</a:t>
            </a:r>
          </a:p>
        </p:txBody>
      </p:sp>
      <p:pic>
        <p:nvPicPr>
          <p:cNvPr id="4" name="Picture 3">
            <a:extLst>
              <a:ext uri="{FF2B5EF4-FFF2-40B4-BE49-F238E27FC236}">
                <a16:creationId xmlns:a16="http://schemas.microsoft.com/office/drawing/2014/main" id="{D884E5A1-E66A-49B5-BD7D-C5AD685B8A9F}"/>
              </a:ext>
            </a:extLst>
          </p:cNvPr>
          <p:cNvPicPr>
            <a:picLocks noChangeAspect="1"/>
          </p:cNvPicPr>
          <p:nvPr/>
        </p:nvPicPr>
        <p:blipFill>
          <a:blip r:embed="rId3"/>
          <a:stretch>
            <a:fillRect/>
          </a:stretch>
        </p:blipFill>
        <p:spPr>
          <a:xfrm>
            <a:off x="5875007" y="1316138"/>
            <a:ext cx="5786052" cy="5329237"/>
          </a:xfrm>
          <a:prstGeom prst="rect">
            <a:avLst/>
          </a:prstGeom>
        </p:spPr>
      </p:pic>
      <p:pic>
        <p:nvPicPr>
          <p:cNvPr id="5" name="Picture 4">
            <a:extLst>
              <a:ext uri="{FF2B5EF4-FFF2-40B4-BE49-F238E27FC236}">
                <a16:creationId xmlns:a16="http://schemas.microsoft.com/office/drawing/2014/main" id="{163341B0-967E-4E15-BF6B-7433C8BF28CA}"/>
              </a:ext>
            </a:extLst>
          </p:cNvPr>
          <p:cNvPicPr>
            <a:picLocks noChangeAspect="1"/>
          </p:cNvPicPr>
          <p:nvPr/>
        </p:nvPicPr>
        <p:blipFill>
          <a:blip r:embed="rId4"/>
          <a:stretch>
            <a:fillRect/>
          </a:stretch>
        </p:blipFill>
        <p:spPr>
          <a:xfrm>
            <a:off x="186813" y="3789105"/>
            <a:ext cx="5571765" cy="2992695"/>
          </a:xfrm>
          <a:prstGeom prst="rect">
            <a:avLst/>
          </a:prstGeom>
        </p:spPr>
      </p:pic>
    </p:spTree>
    <p:extLst>
      <p:ext uri="{BB962C8B-B14F-4D97-AF65-F5344CB8AC3E}">
        <p14:creationId xmlns:p14="http://schemas.microsoft.com/office/powerpoint/2010/main" val="121344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Classes - Creation</a:t>
            </a:r>
          </a:p>
        </p:txBody>
      </p:sp>
      <p:pic>
        <p:nvPicPr>
          <p:cNvPr id="6" name="Content Placeholder 5"/>
          <p:cNvPicPr>
            <a:picLocks noGrp="1" noChangeAspect="1"/>
          </p:cNvPicPr>
          <p:nvPr>
            <p:ph idx="1"/>
          </p:nvPr>
        </p:nvPicPr>
        <p:blipFill>
          <a:blip r:embed="rId3"/>
          <a:stretch>
            <a:fillRect/>
          </a:stretch>
        </p:blipFill>
        <p:spPr>
          <a:xfrm>
            <a:off x="318233" y="1362693"/>
            <a:ext cx="5263170" cy="5464029"/>
          </a:xfrm>
          <a:prstGeom prst="rect">
            <a:avLst/>
          </a:prstGeom>
        </p:spPr>
      </p:pic>
      <p:pic>
        <p:nvPicPr>
          <p:cNvPr id="7" name="Picture 6"/>
          <p:cNvPicPr>
            <a:picLocks noChangeAspect="1"/>
          </p:cNvPicPr>
          <p:nvPr/>
        </p:nvPicPr>
        <p:blipFill>
          <a:blip r:embed="rId4"/>
          <a:stretch>
            <a:fillRect/>
          </a:stretch>
        </p:blipFill>
        <p:spPr>
          <a:xfrm>
            <a:off x="6828311" y="1362693"/>
            <a:ext cx="4631377" cy="2790895"/>
          </a:xfrm>
          <a:prstGeom prst="rect">
            <a:avLst/>
          </a:prstGeom>
        </p:spPr>
      </p:pic>
      <p:sp>
        <p:nvSpPr>
          <p:cNvPr id="8" name="Rectangle 7"/>
          <p:cNvSpPr/>
          <p:nvPr/>
        </p:nvSpPr>
        <p:spPr>
          <a:xfrm>
            <a:off x="5993081" y="4776389"/>
            <a:ext cx="6096000" cy="1477328"/>
          </a:xfrm>
          <a:prstGeom prst="rect">
            <a:avLst/>
          </a:prstGeom>
        </p:spPr>
        <p:txBody>
          <a:bodyPr>
            <a:spAutoFit/>
          </a:bodyPr>
          <a:lstStyle/>
          <a:p>
            <a:r>
              <a:rPr lang="en-US" dirty="0">
                <a:solidFill>
                  <a:srgbClr val="333333"/>
                </a:solidFill>
                <a:latin typeface="Corbel" panose="020B0503020204020204" pitchFamily="34" charset="0"/>
              </a:rPr>
              <a:t>When sub class object is created, super class object will NOT be created. </a:t>
            </a:r>
          </a:p>
          <a:p>
            <a:r>
              <a:rPr lang="en-US" dirty="0">
                <a:solidFill>
                  <a:srgbClr val="333333"/>
                </a:solidFill>
                <a:latin typeface="Corbel" panose="020B0503020204020204" pitchFamily="34" charset="0"/>
              </a:rPr>
              <a:t>But if you try creating a sub class object, you will notice that super class constructor is also called. </a:t>
            </a:r>
          </a:p>
          <a:p>
            <a:r>
              <a:rPr lang="en-US" dirty="0">
                <a:solidFill>
                  <a:srgbClr val="333333"/>
                </a:solidFill>
                <a:latin typeface="Corbel" panose="020B0503020204020204" pitchFamily="34" charset="0"/>
              </a:rPr>
              <a:t>But this doesn’t mean that super class object is created.</a:t>
            </a:r>
            <a:endParaRPr lang="en-US" dirty="0">
              <a:latin typeface="Corbel" panose="020B0503020204020204" pitchFamily="34" charset="0"/>
            </a:endParaRPr>
          </a:p>
        </p:txBody>
      </p:sp>
    </p:spTree>
    <p:extLst>
      <p:ext uri="{BB962C8B-B14F-4D97-AF65-F5344CB8AC3E}">
        <p14:creationId xmlns:p14="http://schemas.microsoft.com/office/powerpoint/2010/main" val="35564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Classes – Fields &amp; Methods Access</a:t>
            </a:r>
          </a:p>
        </p:txBody>
      </p:sp>
      <p:sp>
        <p:nvSpPr>
          <p:cNvPr id="5" name="Content Placeholder 4"/>
          <p:cNvSpPr>
            <a:spLocks noGrp="1"/>
          </p:cNvSpPr>
          <p:nvPr>
            <p:ph idx="1"/>
          </p:nvPr>
        </p:nvSpPr>
        <p:spPr>
          <a:xfrm>
            <a:off x="570509" y="1576449"/>
            <a:ext cx="10806051" cy="4572000"/>
          </a:xfrm>
        </p:spPr>
        <p:txBody>
          <a:bodyPr>
            <a:normAutofit/>
          </a:bodyPr>
          <a:lstStyle/>
          <a:p>
            <a:pPr algn="just"/>
            <a:r>
              <a:rPr lang="en-US" dirty="0">
                <a:latin typeface="Corbel" panose="020B0503020204020204" pitchFamily="34" charset="0"/>
              </a:rPr>
              <a:t>The </a:t>
            </a:r>
            <a:r>
              <a:rPr lang="en-US" b="1" u="sng" dirty="0">
                <a:latin typeface="Corbel" panose="020B0503020204020204" pitchFamily="34" charset="0"/>
              </a:rPr>
              <a:t>inherited fields </a:t>
            </a:r>
            <a:r>
              <a:rPr lang="en-US" dirty="0">
                <a:latin typeface="Corbel" panose="020B0503020204020204" pitchFamily="34" charset="0"/>
              </a:rPr>
              <a:t>can be </a:t>
            </a:r>
            <a:r>
              <a:rPr lang="en-US" b="1" u="sng" dirty="0">
                <a:latin typeface="Corbel" panose="020B0503020204020204" pitchFamily="34" charset="0"/>
              </a:rPr>
              <a:t>used directly</a:t>
            </a:r>
            <a:r>
              <a:rPr lang="en-US" dirty="0">
                <a:latin typeface="Corbel" panose="020B0503020204020204" pitchFamily="34" charset="0"/>
              </a:rPr>
              <a:t>, just like </a:t>
            </a:r>
            <a:r>
              <a:rPr lang="en-US" b="1" u="sng" dirty="0">
                <a:latin typeface="Corbel" panose="020B0503020204020204" pitchFamily="34" charset="0"/>
              </a:rPr>
              <a:t>any other fields</a:t>
            </a:r>
            <a:r>
              <a:rPr lang="en-US" dirty="0">
                <a:latin typeface="Corbel" panose="020B0503020204020204" pitchFamily="34" charset="0"/>
              </a:rPr>
              <a:t>. You </a:t>
            </a:r>
            <a:r>
              <a:rPr lang="en-US" b="1" u="sng" dirty="0">
                <a:latin typeface="Corbel" panose="020B0503020204020204" pitchFamily="34" charset="0"/>
              </a:rPr>
              <a:t>can declare new fields in the subclass </a:t>
            </a:r>
            <a:r>
              <a:rPr lang="en-US" dirty="0">
                <a:latin typeface="Corbel" panose="020B0503020204020204" pitchFamily="34" charset="0"/>
              </a:rPr>
              <a:t>that are </a:t>
            </a:r>
            <a:r>
              <a:rPr lang="en-US" b="1" u="sng" dirty="0">
                <a:latin typeface="Corbel" panose="020B0503020204020204" pitchFamily="34" charset="0"/>
              </a:rPr>
              <a:t>not in the super class</a:t>
            </a:r>
          </a:p>
          <a:p>
            <a:pPr algn="just"/>
            <a:r>
              <a:rPr lang="en-US" dirty="0">
                <a:latin typeface="Corbel" panose="020B0503020204020204" pitchFamily="34" charset="0"/>
              </a:rPr>
              <a:t>You </a:t>
            </a:r>
            <a:r>
              <a:rPr lang="en-US" b="1" u="sng" dirty="0">
                <a:latin typeface="Corbel" panose="020B0503020204020204" pitchFamily="34" charset="0"/>
              </a:rPr>
              <a:t>can declare </a:t>
            </a:r>
            <a:r>
              <a:rPr lang="en-US" dirty="0">
                <a:latin typeface="Corbel" panose="020B0503020204020204" pitchFamily="34" charset="0"/>
              </a:rPr>
              <a:t>a </a:t>
            </a:r>
            <a:r>
              <a:rPr lang="en-US" b="1" u="sng" dirty="0">
                <a:latin typeface="Corbel" panose="020B0503020204020204" pitchFamily="34" charset="0"/>
              </a:rPr>
              <a:t>field in the subclass </a:t>
            </a:r>
            <a:r>
              <a:rPr lang="en-US" dirty="0">
                <a:latin typeface="Corbel" panose="020B0503020204020204" pitchFamily="34" charset="0"/>
              </a:rPr>
              <a:t>with the </a:t>
            </a:r>
            <a:r>
              <a:rPr lang="en-US" b="1" u="sng" dirty="0">
                <a:latin typeface="Corbel" panose="020B0503020204020204" pitchFamily="34" charset="0"/>
              </a:rPr>
              <a:t>same name</a:t>
            </a:r>
            <a:r>
              <a:rPr lang="en-US" dirty="0">
                <a:latin typeface="Corbel" panose="020B0503020204020204" pitchFamily="34" charset="0"/>
              </a:rPr>
              <a:t> as the </a:t>
            </a:r>
            <a:r>
              <a:rPr lang="en-US" b="1" u="sng" dirty="0">
                <a:latin typeface="Corbel" panose="020B0503020204020204" pitchFamily="34" charset="0"/>
              </a:rPr>
              <a:t>one in the super class</a:t>
            </a:r>
            <a:r>
              <a:rPr lang="en-US" dirty="0">
                <a:latin typeface="Corbel" panose="020B0503020204020204" pitchFamily="34" charset="0"/>
              </a:rPr>
              <a:t>, thus </a:t>
            </a:r>
            <a:r>
              <a:rPr lang="en-US" b="1" u="sng" dirty="0">
                <a:latin typeface="Corbel" panose="020B0503020204020204" pitchFamily="34" charset="0"/>
              </a:rPr>
              <a:t>hiding </a:t>
            </a:r>
            <a:r>
              <a:rPr lang="en-US" dirty="0">
                <a:latin typeface="Corbel" panose="020B0503020204020204" pitchFamily="34" charset="0"/>
              </a:rPr>
              <a:t>it (not recommended).</a:t>
            </a:r>
          </a:p>
          <a:p>
            <a:pPr algn="just"/>
            <a:r>
              <a:rPr lang="en-US" dirty="0">
                <a:latin typeface="Corbel" panose="020B0503020204020204" pitchFamily="34" charset="0"/>
              </a:rPr>
              <a:t>A </a:t>
            </a:r>
            <a:r>
              <a:rPr lang="en-US" b="1" u="sng" dirty="0">
                <a:latin typeface="Corbel" panose="020B0503020204020204" pitchFamily="34" charset="0"/>
              </a:rPr>
              <a:t>subclass does not inherit </a:t>
            </a:r>
            <a:r>
              <a:rPr lang="en-US" dirty="0">
                <a:latin typeface="Corbel" panose="020B0503020204020204" pitchFamily="34" charset="0"/>
              </a:rPr>
              <a:t>the </a:t>
            </a:r>
            <a:r>
              <a:rPr lang="en-US" b="1" u="sng" dirty="0">
                <a:latin typeface="Corbel" panose="020B0503020204020204" pitchFamily="34" charset="0"/>
              </a:rPr>
              <a:t>private members of its parent class</a:t>
            </a:r>
            <a:r>
              <a:rPr lang="en-US" dirty="0">
                <a:latin typeface="Corbel" panose="020B0503020204020204" pitchFamily="34" charset="0"/>
              </a:rPr>
              <a:t>. However, if the </a:t>
            </a:r>
            <a:r>
              <a:rPr lang="en-US" b="1" u="sng" dirty="0">
                <a:latin typeface="Corbel" panose="020B0503020204020204" pitchFamily="34" charset="0"/>
              </a:rPr>
              <a:t>super class </a:t>
            </a:r>
            <a:r>
              <a:rPr lang="en-US" dirty="0">
                <a:latin typeface="Corbel" panose="020B0503020204020204" pitchFamily="34" charset="0"/>
              </a:rPr>
              <a:t>has </a:t>
            </a:r>
            <a:r>
              <a:rPr lang="en-US" b="1" u="sng" dirty="0">
                <a:latin typeface="Corbel" panose="020B0503020204020204" pitchFamily="34" charset="0"/>
              </a:rPr>
              <a:t>public or protected methods </a:t>
            </a:r>
            <a:r>
              <a:rPr lang="en-US" dirty="0">
                <a:latin typeface="Corbel" panose="020B0503020204020204" pitchFamily="34" charset="0"/>
              </a:rPr>
              <a:t>for </a:t>
            </a:r>
            <a:r>
              <a:rPr lang="en-US" b="1" u="sng" dirty="0">
                <a:latin typeface="Corbel" panose="020B0503020204020204" pitchFamily="34" charset="0"/>
              </a:rPr>
              <a:t>accessing its private fields</a:t>
            </a:r>
            <a:r>
              <a:rPr lang="en-US" dirty="0">
                <a:latin typeface="Corbel" panose="020B0503020204020204" pitchFamily="34" charset="0"/>
              </a:rPr>
              <a:t>, these can also be used by the </a:t>
            </a:r>
            <a:r>
              <a:rPr lang="en-US" b="1" u="sng" dirty="0">
                <a:latin typeface="Corbel" panose="020B0503020204020204" pitchFamily="34" charset="0"/>
              </a:rPr>
              <a:t>subclass</a:t>
            </a:r>
            <a:r>
              <a:rPr lang="en-US" dirty="0">
                <a:latin typeface="Corbel" panose="020B0503020204020204" pitchFamily="34" charset="0"/>
              </a:rPr>
              <a:t>.</a:t>
            </a:r>
          </a:p>
          <a:p>
            <a:pPr algn="just"/>
            <a:r>
              <a:rPr lang="en-US" dirty="0">
                <a:latin typeface="Corbel" panose="020B0503020204020204" pitchFamily="34" charset="0"/>
              </a:rPr>
              <a:t>The </a:t>
            </a:r>
            <a:r>
              <a:rPr lang="en-US" b="1" u="sng" dirty="0">
                <a:latin typeface="Corbel" panose="020B0503020204020204" pitchFamily="34" charset="0"/>
              </a:rPr>
              <a:t>inherited methods </a:t>
            </a:r>
            <a:r>
              <a:rPr lang="en-US" dirty="0">
                <a:latin typeface="Corbel" panose="020B0503020204020204" pitchFamily="34" charset="0"/>
              </a:rPr>
              <a:t>can be used </a:t>
            </a:r>
            <a:r>
              <a:rPr lang="en-US" b="1" u="sng" dirty="0">
                <a:latin typeface="Corbel" panose="020B0503020204020204" pitchFamily="34" charset="0"/>
              </a:rPr>
              <a:t>directly as they are</a:t>
            </a:r>
            <a:r>
              <a:rPr lang="en-US" dirty="0">
                <a:latin typeface="Corbel" panose="020B0503020204020204" pitchFamily="34" charset="0"/>
              </a:rPr>
              <a:t>. You can write a </a:t>
            </a:r>
            <a:r>
              <a:rPr lang="en-US" b="1" u="sng" dirty="0">
                <a:latin typeface="Corbel" panose="020B0503020204020204" pitchFamily="34" charset="0"/>
              </a:rPr>
              <a:t>new instance method </a:t>
            </a:r>
            <a:r>
              <a:rPr lang="en-US" dirty="0">
                <a:latin typeface="Corbel" panose="020B0503020204020204" pitchFamily="34" charset="0"/>
              </a:rPr>
              <a:t>in the subclass that has the same signature as the one in the super class, thus </a:t>
            </a:r>
            <a:r>
              <a:rPr lang="en-US" b="1" u="sng" dirty="0">
                <a:latin typeface="Corbel" panose="020B0503020204020204" pitchFamily="34" charset="0"/>
              </a:rPr>
              <a:t>overriding </a:t>
            </a:r>
            <a:r>
              <a:rPr lang="en-US" dirty="0">
                <a:latin typeface="Corbel" panose="020B0503020204020204" pitchFamily="34" charset="0"/>
              </a:rPr>
              <a:t>it.</a:t>
            </a:r>
          </a:p>
          <a:p>
            <a:pPr algn="just"/>
            <a:r>
              <a:rPr lang="en-US" dirty="0">
                <a:latin typeface="Corbel" panose="020B0503020204020204" pitchFamily="34" charset="0"/>
              </a:rPr>
              <a:t>You can write a </a:t>
            </a:r>
            <a:r>
              <a:rPr lang="en-US" b="1" u="sng" dirty="0">
                <a:latin typeface="Corbel" panose="020B0503020204020204" pitchFamily="34" charset="0"/>
              </a:rPr>
              <a:t>new static method </a:t>
            </a:r>
            <a:r>
              <a:rPr lang="en-US" dirty="0">
                <a:latin typeface="Corbel" panose="020B0503020204020204" pitchFamily="34" charset="0"/>
              </a:rPr>
              <a:t>in the </a:t>
            </a:r>
            <a:r>
              <a:rPr lang="en-US" b="1" u="sng" dirty="0">
                <a:latin typeface="Corbel" panose="020B0503020204020204" pitchFamily="34" charset="0"/>
              </a:rPr>
              <a:t>subclass</a:t>
            </a:r>
            <a:r>
              <a:rPr lang="en-US" dirty="0">
                <a:latin typeface="Corbel" panose="020B0503020204020204" pitchFamily="34" charset="0"/>
              </a:rPr>
              <a:t> that has the </a:t>
            </a:r>
            <a:r>
              <a:rPr lang="en-US" b="1" u="sng" dirty="0">
                <a:latin typeface="Corbel" panose="020B0503020204020204" pitchFamily="34" charset="0"/>
              </a:rPr>
              <a:t>same signature </a:t>
            </a:r>
            <a:r>
              <a:rPr lang="en-US" dirty="0">
                <a:latin typeface="Corbel" panose="020B0503020204020204" pitchFamily="34" charset="0"/>
              </a:rPr>
              <a:t>as the one in the super class, thus </a:t>
            </a:r>
            <a:r>
              <a:rPr lang="en-US" b="1" u="sng" dirty="0">
                <a:latin typeface="Corbel" panose="020B0503020204020204" pitchFamily="34" charset="0"/>
              </a:rPr>
              <a:t>hiding </a:t>
            </a:r>
            <a:r>
              <a:rPr lang="en-US" dirty="0">
                <a:latin typeface="Corbel" panose="020B0503020204020204" pitchFamily="34" charset="0"/>
              </a:rPr>
              <a:t>it.</a:t>
            </a:r>
          </a:p>
          <a:p>
            <a:pPr algn="just"/>
            <a:r>
              <a:rPr lang="en-US" dirty="0">
                <a:latin typeface="Corbel" panose="020B0503020204020204" pitchFamily="34" charset="0"/>
              </a:rPr>
              <a:t> You can declare </a:t>
            </a:r>
            <a:r>
              <a:rPr lang="en-US" b="1" u="sng" dirty="0">
                <a:latin typeface="Corbel" panose="020B0503020204020204" pitchFamily="34" charset="0"/>
              </a:rPr>
              <a:t>new methods </a:t>
            </a:r>
            <a:r>
              <a:rPr lang="en-US" dirty="0">
                <a:latin typeface="Corbel" panose="020B0503020204020204" pitchFamily="34" charset="0"/>
              </a:rPr>
              <a:t>in the subclass that are </a:t>
            </a:r>
            <a:r>
              <a:rPr lang="en-US" b="1" u="sng" dirty="0">
                <a:latin typeface="Corbel" panose="020B0503020204020204" pitchFamily="34" charset="0"/>
              </a:rPr>
              <a:t>not in the super class</a:t>
            </a:r>
            <a:r>
              <a:rPr lang="en-US" dirty="0">
                <a:latin typeface="Corbel" panose="020B0503020204020204" pitchFamily="34" charset="0"/>
              </a:rPr>
              <a:t>.</a:t>
            </a:r>
          </a:p>
        </p:txBody>
      </p:sp>
    </p:spTree>
    <p:extLst>
      <p:ext uri="{BB962C8B-B14F-4D97-AF65-F5344CB8AC3E}">
        <p14:creationId xmlns:p14="http://schemas.microsoft.com/office/powerpoint/2010/main" val="2090826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Classes – Hiding</a:t>
            </a:r>
          </a:p>
        </p:txBody>
      </p:sp>
      <p:sp>
        <p:nvSpPr>
          <p:cNvPr id="3" name="Content Placeholder 2"/>
          <p:cNvSpPr>
            <a:spLocks noGrp="1"/>
          </p:cNvSpPr>
          <p:nvPr>
            <p:ph idx="1"/>
          </p:nvPr>
        </p:nvSpPr>
        <p:spPr>
          <a:xfrm>
            <a:off x="261752" y="1469571"/>
            <a:ext cx="5058393" cy="4572000"/>
          </a:xfrm>
        </p:spPr>
        <p:txBody>
          <a:bodyPr/>
          <a:lstStyle/>
          <a:p>
            <a:r>
              <a:rPr lang="en-US" dirty="0">
                <a:latin typeface="Corbel" panose="020B0503020204020204" pitchFamily="34" charset="0"/>
              </a:rPr>
              <a:t>A </a:t>
            </a:r>
            <a:r>
              <a:rPr lang="en-US" b="1" u="sng" dirty="0">
                <a:latin typeface="Corbel" panose="020B0503020204020204" pitchFamily="34" charset="0"/>
              </a:rPr>
              <a:t>class inherits </a:t>
            </a:r>
            <a:r>
              <a:rPr lang="en-US" dirty="0">
                <a:latin typeface="Corbel" panose="020B0503020204020204" pitchFamily="34" charset="0"/>
              </a:rPr>
              <a:t>all </a:t>
            </a:r>
            <a:r>
              <a:rPr lang="en-US" b="1" u="sng" dirty="0">
                <a:latin typeface="Corbel" panose="020B0503020204020204" pitchFamily="34" charset="0"/>
              </a:rPr>
              <a:t>non-private static methods from its superclass</a:t>
            </a:r>
            <a:r>
              <a:rPr lang="en-US" dirty="0">
                <a:latin typeface="Corbel" panose="020B0503020204020204" pitchFamily="34" charset="0"/>
              </a:rPr>
              <a:t>.</a:t>
            </a:r>
          </a:p>
          <a:p>
            <a:r>
              <a:rPr lang="en-US" b="1" i="1" u="sng" dirty="0">
                <a:solidFill>
                  <a:srgbClr val="00B050"/>
                </a:solidFill>
                <a:latin typeface="Corbel" panose="020B0503020204020204" pitchFamily="34" charset="0"/>
              </a:rPr>
              <a:t>Redefining an inherited static method in a class is known as method hiding</a:t>
            </a:r>
            <a:r>
              <a:rPr lang="en-US" dirty="0">
                <a:latin typeface="Corbel" panose="020B0503020204020204" pitchFamily="34" charset="0"/>
              </a:rPr>
              <a:t>.</a:t>
            </a:r>
          </a:p>
          <a:p>
            <a:r>
              <a:rPr lang="en-US" dirty="0">
                <a:latin typeface="Corbel" panose="020B0503020204020204" pitchFamily="34" charset="0"/>
              </a:rPr>
              <a:t>The </a:t>
            </a:r>
            <a:r>
              <a:rPr lang="en-US" b="1" u="sng" dirty="0">
                <a:solidFill>
                  <a:srgbClr val="00B050"/>
                </a:solidFill>
                <a:latin typeface="Corbel" panose="020B0503020204020204" pitchFamily="34" charset="0"/>
              </a:rPr>
              <a:t>redefined static method</a:t>
            </a:r>
            <a:r>
              <a:rPr lang="en-US" dirty="0">
                <a:solidFill>
                  <a:srgbClr val="00B050"/>
                </a:solidFill>
                <a:latin typeface="Corbel" panose="020B0503020204020204" pitchFamily="34" charset="0"/>
              </a:rPr>
              <a:t> </a:t>
            </a:r>
            <a:r>
              <a:rPr lang="en-US" dirty="0">
                <a:latin typeface="Corbel" panose="020B0503020204020204" pitchFamily="34" charset="0"/>
              </a:rPr>
              <a:t>in a subclass </a:t>
            </a:r>
            <a:r>
              <a:rPr lang="en-US" b="1" u="sng" dirty="0">
                <a:solidFill>
                  <a:srgbClr val="0070C0"/>
                </a:solidFill>
                <a:latin typeface="Corbel" panose="020B0503020204020204" pitchFamily="34" charset="0"/>
              </a:rPr>
              <a:t>hides the static method of its superclass</a:t>
            </a:r>
            <a:r>
              <a:rPr lang="en-US" dirty="0">
                <a:solidFill>
                  <a:srgbClr val="0070C0"/>
                </a:solidFill>
                <a:latin typeface="Corbel" panose="020B0503020204020204" pitchFamily="34" charset="0"/>
              </a:rPr>
              <a:t>.</a:t>
            </a:r>
          </a:p>
          <a:p>
            <a:r>
              <a:rPr lang="en-US" dirty="0">
                <a:latin typeface="Corbel" panose="020B0503020204020204" pitchFamily="34" charset="0"/>
              </a:rPr>
              <a:t>Redefining a </a:t>
            </a:r>
            <a:r>
              <a:rPr lang="en-US" b="1" u="sng" dirty="0">
                <a:solidFill>
                  <a:srgbClr val="002060"/>
                </a:solidFill>
                <a:latin typeface="Corbel" panose="020B0503020204020204" pitchFamily="34" charset="0"/>
              </a:rPr>
              <a:t>non-static method</a:t>
            </a:r>
            <a:r>
              <a:rPr lang="en-US" dirty="0">
                <a:solidFill>
                  <a:srgbClr val="002060"/>
                </a:solidFill>
                <a:latin typeface="Corbel" panose="020B0503020204020204" pitchFamily="34" charset="0"/>
              </a:rPr>
              <a:t> </a:t>
            </a:r>
            <a:r>
              <a:rPr lang="en-US" dirty="0">
                <a:latin typeface="Corbel" panose="020B0503020204020204" pitchFamily="34" charset="0"/>
              </a:rPr>
              <a:t>in a class is called </a:t>
            </a:r>
            <a:r>
              <a:rPr lang="en-US" b="1" u="sng" dirty="0">
                <a:solidFill>
                  <a:srgbClr val="7030A0"/>
                </a:solidFill>
                <a:latin typeface="Corbel" panose="020B0503020204020204" pitchFamily="34" charset="0"/>
              </a:rPr>
              <a:t>method overriding</a:t>
            </a:r>
            <a:r>
              <a:rPr lang="en-US" dirty="0">
                <a:latin typeface="Corbel" panose="020B0503020204020204" pitchFamily="34" charset="0"/>
              </a:rPr>
              <a:t>.</a:t>
            </a:r>
          </a:p>
          <a:p>
            <a:r>
              <a:rPr lang="en-US" b="1" i="1" dirty="0">
                <a:latin typeface="Corbel" panose="020B0503020204020204" pitchFamily="34" charset="0"/>
              </a:rPr>
              <a:t>All rules about the redefined method (name, access level, return types, and exception) for method hiding are the same as for method overriding</a:t>
            </a:r>
            <a:r>
              <a:rPr lang="en-US" dirty="0">
                <a:latin typeface="Corbel" panose="020B0503020204020204" pitchFamily="34" charset="0"/>
              </a:rPr>
              <a:t>.</a:t>
            </a:r>
          </a:p>
          <a:p>
            <a:endParaRPr lang="en-US" dirty="0">
              <a:latin typeface="Corbel" panose="020B0503020204020204" pitchFamily="34" charset="0"/>
            </a:endParaRPr>
          </a:p>
        </p:txBody>
      </p:sp>
      <p:sp>
        <p:nvSpPr>
          <p:cNvPr id="9" name="Rectangle 8"/>
          <p:cNvSpPr/>
          <p:nvPr/>
        </p:nvSpPr>
        <p:spPr>
          <a:xfrm>
            <a:off x="5589320" y="1469571"/>
            <a:ext cx="6096000" cy="3970318"/>
          </a:xfrm>
          <a:prstGeom prst="rect">
            <a:avLst/>
          </a:prstGeom>
        </p:spPr>
        <p:txBody>
          <a:bodyPr>
            <a:spAutoFit/>
          </a:bodyPr>
          <a:lstStyle/>
          <a:p>
            <a:r>
              <a:rPr lang="en-US" b="1" u="sng" dirty="0">
                <a:latin typeface="Corbel" panose="020B0503020204020204" pitchFamily="34" charset="0"/>
              </a:rPr>
              <a:t>Variable hiding </a:t>
            </a:r>
            <a:r>
              <a:rPr lang="en-US" dirty="0">
                <a:latin typeface="Corbel" panose="020B0503020204020204" pitchFamily="34" charset="0"/>
              </a:rPr>
              <a:t>happens when we declare a </a:t>
            </a:r>
            <a:r>
              <a:rPr lang="en-US" b="1" u="sng" dirty="0">
                <a:latin typeface="Corbel" panose="020B0503020204020204" pitchFamily="34" charset="0"/>
              </a:rPr>
              <a:t>property </a:t>
            </a:r>
            <a:r>
              <a:rPr lang="en-US" dirty="0">
                <a:latin typeface="Corbel" panose="020B0503020204020204" pitchFamily="34" charset="0"/>
              </a:rPr>
              <a:t>in a </a:t>
            </a:r>
            <a:r>
              <a:rPr lang="en-US" b="1" u="sng" dirty="0">
                <a:latin typeface="Corbel" panose="020B0503020204020204" pitchFamily="34" charset="0"/>
              </a:rPr>
              <a:t>local scope </a:t>
            </a:r>
            <a:r>
              <a:rPr lang="en-US" dirty="0">
                <a:latin typeface="Corbel" panose="020B0503020204020204" pitchFamily="34" charset="0"/>
              </a:rPr>
              <a:t>that has the </a:t>
            </a:r>
            <a:r>
              <a:rPr lang="en-US" b="1" u="sng" dirty="0">
                <a:latin typeface="Corbel" panose="020B0503020204020204" pitchFamily="34" charset="0"/>
              </a:rPr>
              <a:t>same name </a:t>
            </a:r>
            <a:r>
              <a:rPr lang="en-US" dirty="0">
                <a:latin typeface="Corbel" panose="020B0503020204020204" pitchFamily="34" charset="0"/>
              </a:rPr>
              <a:t>as the one we already have in the </a:t>
            </a:r>
            <a:r>
              <a:rPr lang="en-US" b="1" u="sng" dirty="0">
                <a:latin typeface="Corbel" panose="020B0503020204020204" pitchFamily="34" charset="0"/>
              </a:rPr>
              <a:t>outer scope</a:t>
            </a:r>
            <a:r>
              <a:rPr lang="en-US" dirty="0">
                <a:latin typeface="Corbel" panose="020B0503020204020204" pitchFamily="34" charset="0"/>
              </a:rPr>
              <a:t>.</a:t>
            </a:r>
          </a:p>
          <a:p>
            <a:endParaRPr lang="en-US" dirty="0">
              <a:latin typeface="Corbel" panose="020B0503020204020204" pitchFamily="34" charset="0"/>
            </a:endParaRPr>
          </a:p>
          <a:p>
            <a:r>
              <a:rPr lang="en-US" dirty="0">
                <a:latin typeface="Corbel" panose="020B0503020204020204" pitchFamily="34" charset="0"/>
              </a:rPr>
              <a:t>Before jumping to the examples, let’s briefly recap the possible variable scopes in Java. We can define them with the following categories:</a:t>
            </a:r>
          </a:p>
          <a:p>
            <a:endParaRPr lang="en-US" dirty="0">
              <a:latin typeface="Corbel" panose="020B0503020204020204" pitchFamily="34" charset="0"/>
            </a:endParaRPr>
          </a:p>
          <a:p>
            <a:r>
              <a:rPr lang="en-US" b="1" u="sng" dirty="0">
                <a:latin typeface="Corbel" panose="020B0503020204020204" pitchFamily="34" charset="0"/>
              </a:rPr>
              <a:t>local variables </a:t>
            </a:r>
            <a:r>
              <a:rPr lang="en-US" dirty="0">
                <a:latin typeface="Corbel" panose="020B0503020204020204" pitchFamily="34" charset="0"/>
              </a:rPr>
              <a:t>– declared in a piece of code such as methods, constructors, in any block of code with curly braces</a:t>
            </a:r>
          </a:p>
          <a:p>
            <a:r>
              <a:rPr lang="en-US" b="1" u="sng" dirty="0">
                <a:latin typeface="Corbel" panose="020B0503020204020204" pitchFamily="34" charset="0"/>
              </a:rPr>
              <a:t>instance variables </a:t>
            </a:r>
            <a:r>
              <a:rPr lang="en-US" dirty="0">
                <a:latin typeface="Corbel" panose="020B0503020204020204" pitchFamily="34" charset="0"/>
              </a:rPr>
              <a:t>– defined inside of a class and belong to the instance of the object</a:t>
            </a:r>
          </a:p>
          <a:p>
            <a:r>
              <a:rPr lang="en-US" b="1" u="sng" dirty="0">
                <a:latin typeface="Corbel" panose="020B0503020204020204" pitchFamily="34" charset="0"/>
              </a:rPr>
              <a:t>class or static variables </a:t>
            </a:r>
            <a:r>
              <a:rPr lang="en-US" dirty="0">
                <a:latin typeface="Corbel" panose="020B0503020204020204" pitchFamily="34" charset="0"/>
              </a:rPr>
              <a:t>– are declared in the class with the static keyword. They have a class level scope.</a:t>
            </a:r>
          </a:p>
        </p:txBody>
      </p:sp>
    </p:spTree>
    <p:extLst>
      <p:ext uri="{BB962C8B-B14F-4D97-AF65-F5344CB8AC3E}">
        <p14:creationId xmlns:p14="http://schemas.microsoft.com/office/powerpoint/2010/main" val="1252649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Classes –Overriding</a:t>
            </a:r>
          </a:p>
        </p:txBody>
      </p:sp>
      <p:sp>
        <p:nvSpPr>
          <p:cNvPr id="3" name="Content Placeholder 2"/>
          <p:cNvSpPr>
            <a:spLocks noGrp="1"/>
          </p:cNvSpPr>
          <p:nvPr>
            <p:ph idx="1"/>
          </p:nvPr>
        </p:nvSpPr>
        <p:spPr>
          <a:xfrm>
            <a:off x="261752" y="1469571"/>
            <a:ext cx="11482944" cy="5156860"/>
          </a:xfrm>
        </p:spPr>
        <p:txBody>
          <a:bodyPr>
            <a:normAutofit/>
          </a:bodyPr>
          <a:lstStyle/>
          <a:p>
            <a:pPr marL="0" lvl="0" indent="0" eaLnBrk="0" fontAlgn="base" hangingPunct="0">
              <a:lnSpc>
                <a:spcPct val="150000"/>
              </a:lnSpc>
              <a:spcBef>
                <a:spcPct val="0"/>
              </a:spcBef>
              <a:spcAft>
                <a:spcPct val="0"/>
              </a:spcAft>
              <a:buNone/>
            </a:pPr>
            <a:r>
              <a:rPr lang="en-US" altLang="en-US" sz="1800" b="1" i="1" u="sng" dirty="0">
                <a:solidFill>
                  <a:srgbClr val="000000"/>
                </a:solidFill>
                <a:latin typeface="Corbel" panose="020B0503020204020204" pitchFamily="34" charset="0"/>
                <a:cs typeface="Times New Roman" panose="02020603050405020304" pitchFamily="18" charset="0"/>
              </a:rPr>
              <a:t>The ability of a subclass to override a method in its superclass allows a class to inherit from a superclass that is "close enough" in functionality and then supplement or modify the </a:t>
            </a:r>
            <a:r>
              <a:rPr lang="en-US" altLang="en-US" sz="1800" b="1" i="1" u="sng" dirty="0" err="1">
                <a:solidFill>
                  <a:srgbClr val="000000"/>
                </a:solidFill>
                <a:latin typeface="Corbel" panose="020B0503020204020204" pitchFamily="34" charset="0"/>
                <a:cs typeface="Times New Roman" panose="02020603050405020304" pitchFamily="18" charset="0"/>
              </a:rPr>
              <a:t>behaviour</a:t>
            </a:r>
            <a:r>
              <a:rPr lang="en-US" altLang="en-US" sz="1800" b="1" i="1" u="sng" dirty="0">
                <a:solidFill>
                  <a:srgbClr val="000000"/>
                </a:solidFill>
                <a:latin typeface="Corbel" panose="020B0503020204020204" pitchFamily="34" charset="0"/>
                <a:cs typeface="Times New Roman" panose="02020603050405020304" pitchFamily="18" charset="0"/>
              </a:rPr>
              <a:t> of that superclass.</a:t>
            </a:r>
          </a:p>
          <a:p>
            <a:pPr marL="0" lvl="0" indent="0" eaLnBrk="0" fontAlgn="base" hangingPunct="0">
              <a:lnSpc>
                <a:spcPct val="150000"/>
              </a:lnSpc>
              <a:spcBef>
                <a:spcPct val="0"/>
              </a:spcBef>
              <a:spcAft>
                <a:spcPct val="0"/>
              </a:spcAft>
              <a:buNone/>
            </a:pPr>
            <a:endParaRPr lang="en-US" altLang="en-US" sz="1800" b="1" i="1" u="sng" dirty="0">
              <a:solidFill>
                <a:srgbClr val="000000"/>
              </a:solidFill>
              <a:latin typeface="Corbel" panose="020B0503020204020204" pitchFamily="34" charset="0"/>
              <a:cs typeface="Times New Roman" panose="02020603050405020304" pitchFamily="18" charset="0"/>
            </a:endParaRPr>
          </a:p>
          <a:p>
            <a:pPr marL="0" lvl="0" indent="0" eaLnBrk="0" fontAlgn="base" hangingPunct="0">
              <a:lnSpc>
                <a:spcPct val="150000"/>
              </a:lnSpc>
              <a:spcBef>
                <a:spcPct val="0"/>
              </a:spcBef>
              <a:spcAft>
                <a:spcPct val="0"/>
              </a:spcAft>
              <a:buNone/>
            </a:pPr>
            <a:r>
              <a:rPr lang="en-US" altLang="en-US" sz="1800" b="1" dirty="0">
                <a:solidFill>
                  <a:srgbClr val="000000"/>
                </a:solidFill>
                <a:latin typeface="Corbel" panose="020B0503020204020204" pitchFamily="34" charset="0"/>
                <a:cs typeface="Times New Roman" panose="02020603050405020304" pitchFamily="18" charset="0"/>
              </a:rPr>
              <a:t>Replacing a Superclass's Method Implementation</a:t>
            </a:r>
          </a:p>
          <a:p>
            <a:pPr marL="0" lvl="0" indent="0" eaLnBrk="0" fontAlgn="base" hangingPunct="0">
              <a:lnSpc>
                <a:spcPct val="150000"/>
              </a:lnSpc>
              <a:spcBef>
                <a:spcPct val="0"/>
              </a:spcBef>
              <a:spcAft>
                <a:spcPct val="0"/>
              </a:spcAft>
              <a:buNone/>
            </a:pPr>
            <a:r>
              <a:rPr lang="en-US" altLang="en-US" sz="1800" dirty="0">
                <a:latin typeface="Corbel" panose="020B0503020204020204" pitchFamily="34" charset="0"/>
              </a:rPr>
              <a:t>Sometimes, a </a:t>
            </a:r>
            <a:r>
              <a:rPr lang="en-US" altLang="en-US" sz="1800" b="1" u="sng" dirty="0">
                <a:latin typeface="Corbel" panose="020B0503020204020204" pitchFamily="34" charset="0"/>
              </a:rPr>
              <a:t>subclass </a:t>
            </a:r>
            <a:r>
              <a:rPr lang="en-US" altLang="en-US" sz="1800" dirty="0">
                <a:latin typeface="Corbel" panose="020B0503020204020204" pitchFamily="34" charset="0"/>
              </a:rPr>
              <a:t>will want to </a:t>
            </a:r>
            <a:r>
              <a:rPr lang="en-US" altLang="en-US" sz="1800" b="1" u="sng" dirty="0">
                <a:solidFill>
                  <a:srgbClr val="00B0F0"/>
                </a:solidFill>
                <a:latin typeface="Corbel" panose="020B0503020204020204" pitchFamily="34" charset="0"/>
              </a:rPr>
              <a:t>replace entirely </a:t>
            </a:r>
            <a:r>
              <a:rPr lang="en-US" altLang="en-US" sz="1800" dirty="0">
                <a:latin typeface="Corbel" panose="020B0503020204020204" pitchFamily="34" charset="0"/>
              </a:rPr>
              <a:t>its </a:t>
            </a:r>
            <a:r>
              <a:rPr lang="en-US" altLang="en-US" sz="1800" b="1" i="1" u="sng" dirty="0">
                <a:solidFill>
                  <a:srgbClr val="7030A0"/>
                </a:solidFill>
                <a:latin typeface="Corbel" panose="020B0503020204020204" pitchFamily="34" charset="0"/>
              </a:rPr>
              <a:t>superclass's implementation of a method</a:t>
            </a:r>
            <a:r>
              <a:rPr lang="en-US" altLang="en-US" sz="1800" dirty="0">
                <a:latin typeface="Corbel" panose="020B0503020204020204" pitchFamily="34" charset="0"/>
              </a:rPr>
              <a:t>. </a:t>
            </a:r>
          </a:p>
          <a:p>
            <a:pPr marL="0" lvl="0" indent="0" eaLnBrk="0" fontAlgn="base" hangingPunct="0">
              <a:lnSpc>
                <a:spcPct val="150000"/>
              </a:lnSpc>
              <a:spcBef>
                <a:spcPct val="0"/>
              </a:spcBef>
              <a:spcAft>
                <a:spcPct val="0"/>
              </a:spcAft>
              <a:buNone/>
            </a:pPr>
            <a:r>
              <a:rPr lang="en-US" altLang="en-US" sz="1800" dirty="0">
                <a:latin typeface="Corbel" panose="020B0503020204020204" pitchFamily="34" charset="0"/>
              </a:rPr>
              <a:t>Indeed, </a:t>
            </a:r>
            <a:r>
              <a:rPr lang="en-US" altLang="en-US" sz="1800" b="1" u="sng" dirty="0">
                <a:latin typeface="Corbel" panose="020B0503020204020204" pitchFamily="34" charset="0"/>
              </a:rPr>
              <a:t>many super classes </a:t>
            </a:r>
            <a:r>
              <a:rPr lang="en-US" altLang="en-US" sz="1800" dirty="0">
                <a:latin typeface="Corbel" panose="020B0503020204020204" pitchFamily="34" charset="0"/>
              </a:rPr>
              <a:t>provide </a:t>
            </a:r>
            <a:r>
              <a:rPr lang="en-US" altLang="en-US" sz="1800" b="1" u="sng" dirty="0">
                <a:solidFill>
                  <a:srgbClr val="FF0000"/>
                </a:solidFill>
                <a:latin typeface="Corbel" panose="020B0503020204020204" pitchFamily="34" charset="0"/>
              </a:rPr>
              <a:t>empty method </a:t>
            </a:r>
            <a:r>
              <a:rPr lang="en-US" altLang="en-US" sz="1800" dirty="0">
                <a:latin typeface="Corbel" panose="020B0503020204020204" pitchFamily="34" charset="0"/>
              </a:rPr>
              <a:t>implementation with the </a:t>
            </a:r>
            <a:r>
              <a:rPr lang="en-US" altLang="en-US" sz="1800" b="1" u="sng" dirty="0">
                <a:solidFill>
                  <a:srgbClr val="0070C0"/>
                </a:solidFill>
                <a:latin typeface="Corbel" panose="020B0503020204020204" pitchFamily="34" charset="0"/>
              </a:rPr>
              <a:t>expectation that most</a:t>
            </a:r>
            <a:r>
              <a:rPr lang="en-US" altLang="en-US" sz="1800" dirty="0">
                <a:latin typeface="Corbel" panose="020B0503020204020204" pitchFamily="34" charset="0"/>
              </a:rPr>
              <a:t>, if not all, all </a:t>
            </a:r>
            <a:r>
              <a:rPr lang="en-US" altLang="en-US" sz="1800" b="1" u="sng" dirty="0">
                <a:latin typeface="Corbel" panose="020B0503020204020204" pitchFamily="34" charset="0"/>
              </a:rPr>
              <a:t>subclasses </a:t>
            </a:r>
            <a:r>
              <a:rPr lang="en-US" altLang="en-US" sz="1800" dirty="0">
                <a:latin typeface="Corbel" panose="020B0503020204020204" pitchFamily="34" charset="0"/>
              </a:rPr>
              <a:t>will </a:t>
            </a:r>
            <a:r>
              <a:rPr lang="en-US" altLang="en-US" sz="1800" b="1" u="sng" dirty="0">
                <a:solidFill>
                  <a:srgbClr val="00B0F0"/>
                </a:solidFill>
                <a:latin typeface="Corbel" panose="020B0503020204020204" pitchFamily="34" charset="0"/>
              </a:rPr>
              <a:t>completely replace the superclass's implementation of the method</a:t>
            </a:r>
            <a:r>
              <a:rPr lang="en-US" altLang="en-US" sz="1800" dirty="0">
                <a:latin typeface="Corbel" panose="020B0503020204020204" pitchFamily="34" charset="0"/>
              </a:rPr>
              <a:t>.</a:t>
            </a:r>
          </a:p>
          <a:p>
            <a:pPr marL="0" lvl="0" indent="0" eaLnBrk="0" fontAlgn="base" hangingPunct="0">
              <a:lnSpc>
                <a:spcPct val="150000"/>
              </a:lnSpc>
              <a:spcBef>
                <a:spcPct val="0"/>
              </a:spcBef>
              <a:spcAft>
                <a:spcPct val="0"/>
              </a:spcAft>
              <a:buNone/>
            </a:pPr>
            <a:r>
              <a:rPr lang="en-US" altLang="en-US" sz="1800" dirty="0">
                <a:latin typeface="Corbel" panose="020B0503020204020204" pitchFamily="34" charset="0"/>
              </a:rPr>
              <a:t>One example of this is the run() method in the </a:t>
            </a:r>
            <a:r>
              <a:rPr lang="en-US" altLang="en-US" sz="1800" b="1" i="1" u="sng" dirty="0">
                <a:latin typeface="Corbel" panose="020B0503020204020204" pitchFamily="34" charset="0"/>
              </a:rPr>
              <a:t>Thread class</a:t>
            </a:r>
            <a:r>
              <a:rPr lang="en-US" altLang="en-US" sz="1800" dirty="0">
                <a:latin typeface="Corbel" panose="020B0503020204020204" pitchFamily="34" charset="0"/>
              </a:rPr>
              <a:t>. The Thread class provides an empty implementation (the method does nothing) of the </a:t>
            </a:r>
            <a:r>
              <a:rPr lang="en-US" altLang="en-US" sz="1800" b="1" u="sng" dirty="0">
                <a:latin typeface="Corbel" panose="020B0503020204020204" pitchFamily="34" charset="0"/>
              </a:rPr>
              <a:t>run() method </a:t>
            </a:r>
            <a:r>
              <a:rPr lang="en-US" altLang="en-US" sz="1800" dirty="0">
                <a:latin typeface="Corbel" panose="020B0503020204020204" pitchFamily="34" charset="0"/>
              </a:rPr>
              <a:t>because by definition the run() method is </a:t>
            </a:r>
            <a:r>
              <a:rPr lang="en-US" altLang="en-US" sz="1800" b="1" u="sng" dirty="0">
                <a:latin typeface="Corbel" panose="020B0503020204020204" pitchFamily="34" charset="0"/>
              </a:rPr>
              <a:t>subclass dependent</a:t>
            </a:r>
            <a:r>
              <a:rPr lang="en-US" altLang="en-US" sz="1800" dirty="0">
                <a:latin typeface="Corbel" panose="020B0503020204020204" pitchFamily="34" charset="0"/>
              </a:rPr>
              <a:t>. </a:t>
            </a:r>
          </a:p>
          <a:p>
            <a:pPr marL="0" lvl="0" indent="0" eaLnBrk="0" fontAlgn="base" hangingPunct="0">
              <a:lnSpc>
                <a:spcPct val="150000"/>
              </a:lnSpc>
              <a:spcBef>
                <a:spcPct val="0"/>
              </a:spcBef>
              <a:spcAft>
                <a:spcPct val="0"/>
              </a:spcAft>
              <a:buNone/>
            </a:pPr>
            <a:r>
              <a:rPr lang="en-US" altLang="en-US" sz="1800" b="1" i="1" u="sng" dirty="0">
                <a:latin typeface="Corbel" panose="020B0503020204020204" pitchFamily="34" charset="0"/>
              </a:rPr>
              <a:t>To completely replace a superclass's method implementation, simply name your method the same as the superclass method and provide the overriding method with the same signature as the </a:t>
            </a:r>
            <a:r>
              <a:rPr lang="en-US" altLang="en-US" sz="1800" b="1" i="1" u="sng" dirty="0" err="1">
                <a:latin typeface="Corbel" panose="020B0503020204020204" pitchFamily="34" charset="0"/>
              </a:rPr>
              <a:t>overriden</a:t>
            </a:r>
            <a:r>
              <a:rPr lang="en-US" altLang="en-US" sz="1800" b="1" i="1" u="sng" dirty="0">
                <a:latin typeface="Corbel" panose="020B0503020204020204" pitchFamily="34" charset="0"/>
              </a:rPr>
              <a:t> method</a:t>
            </a:r>
            <a:r>
              <a:rPr lang="en-US" altLang="en-US" sz="1800" dirty="0">
                <a:latin typeface="Corbel" panose="020B0503020204020204" pitchFamily="34" charset="0"/>
              </a:rPr>
              <a:t>.</a:t>
            </a:r>
          </a:p>
        </p:txBody>
      </p:sp>
    </p:spTree>
    <p:extLst>
      <p:ext uri="{BB962C8B-B14F-4D97-AF65-F5344CB8AC3E}">
        <p14:creationId xmlns:p14="http://schemas.microsoft.com/office/powerpoint/2010/main" val="4064779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Classes –Overriding</a:t>
            </a:r>
          </a:p>
        </p:txBody>
      </p:sp>
      <p:sp>
        <p:nvSpPr>
          <p:cNvPr id="3" name="Content Placeholder 2"/>
          <p:cNvSpPr>
            <a:spLocks noGrp="1"/>
          </p:cNvSpPr>
          <p:nvPr>
            <p:ph idx="1"/>
          </p:nvPr>
        </p:nvSpPr>
        <p:spPr>
          <a:xfrm>
            <a:off x="261752" y="1469571"/>
            <a:ext cx="11482944" cy="5156860"/>
          </a:xfrm>
        </p:spPr>
        <p:txBody>
          <a:bodyPr>
            <a:normAutofit lnSpcReduction="10000"/>
          </a:bodyPr>
          <a:lstStyle/>
          <a:p>
            <a:pPr marL="0" lvl="0" indent="0" eaLnBrk="0" fontAlgn="base" hangingPunct="0">
              <a:lnSpc>
                <a:spcPct val="150000"/>
              </a:lnSpc>
              <a:spcBef>
                <a:spcPct val="0"/>
              </a:spcBef>
              <a:spcAft>
                <a:spcPct val="0"/>
              </a:spcAft>
              <a:buNone/>
            </a:pPr>
            <a:r>
              <a:rPr lang="en-US" altLang="en-US" sz="1800" b="1" u="sng" dirty="0">
                <a:latin typeface="Corbel" panose="020B0503020204020204" pitchFamily="34" charset="0"/>
              </a:rPr>
              <a:t>Methods a Subclass Cannot Override</a:t>
            </a:r>
          </a:p>
          <a:p>
            <a:pPr marL="0" lvl="0" indent="0" eaLnBrk="0" fontAlgn="base" hangingPunct="0">
              <a:lnSpc>
                <a:spcPct val="150000"/>
              </a:lnSpc>
              <a:spcBef>
                <a:spcPct val="0"/>
              </a:spcBef>
              <a:spcAft>
                <a:spcPct val="0"/>
              </a:spcAft>
              <a:buNone/>
            </a:pPr>
            <a:r>
              <a:rPr lang="en-US" altLang="en-US" sz="1800" dirty="0">
                <a:latin typeface="Corbel" panose="020B0503020204020204" pitchFamily="34" charset="0"/>
              </a:rPr>
              <a:t>A subclass </a:t>
            </a:r>
            <a:r>
              <a:rPr lang="en-US" altLang="en-US" sz="1800" b="1" u="sng" dirty="0">
                <a:latin typeface="Corbel" panose="020B0503020204020204" pitchFamily="34" charset="0"/>
              </a:rPr>
              <a:t>cannot override methods </a:t>
            </a:r>
            <a:r>
              <a:rPr lang="en-US" altLang="en-US" sz="1800" dirty="0">
                <a:latin typeface="Corbel" panose="020B0503020204020204" pitchFamily="34" charset="0"/>
              </a:rPr>
              <a:t>that are </a:t>
            </a:r>
            <a:r>
              <a:rPr lang="en-US" altLang="en-US" sz="1800" b="1" u="sng" dirty="0">
                <a:latin typeface="Corbel" panose="020B0503020204020204" pitchFamily="34" charset="0"/>
              </a:rPr>
              <a:t>declared final in the superclass </a:t>
            </a:r>
            <a:r>
              <a:rPr lang="en-US" altLang="en-US" sz="1800" dirty="0">
                <a:latin typeface="Corbel" panose="020B0503020204020204" pitchFamily="34" charset="0"/>
              </a:rPr>
              <a:t>(by definition, final methods cannot be </a:t>
            </a:r>
            <a:r>
              <a:rPr lang="en-US" altLang="en-US" sz="1800" dirty="0" err="1">
                <a:latin typeface="Corbel" panose="020B0503020204020204" pitchFamily="34" charset="0"/>
              </a:rPr>
              <a:t>overriden</a:t>
            </a:r>
            <a:r>
              <a:rPr lang="en-US" altLang="en-US" sz="1800" dirty="0">
                <a:latin typeface="Corbel" panose="020B0503020204020204" pitchFamily="34" charset="0"/>
              </a:rPr>
              <a:t>).</a:t>
            </a:r>
          </a:p>
          <a:p>
            <a:pPr marL="0" lvl="0" indent="0" eaLnBrk="0" fontAlgn="base" hangingPunct="0">
              <a:lnSpc>
                <a:spcPct val="150000"/>
              </a:lnSpc>
              <a:spcBef>
                <a:spcPct val="0"/>
              </a:spcBef>
              <a:spcAft>
                <a:spcPct val="0"/>
              </a:spcAft>
              <a:buNone/>
            </a:pPr>
            <a:r>
              <a:rPr lang="en-US" altLang="en-US" sz="1800" dirty="0">
                <a:latin typeface="Corbel" panose="020B0503020204020204" pitchFamily="34" charset="0"/>
              </a:rPr>
              <a:t> If you </a:t>
            </a:r>
            <a:r>
              <a:rPr lang="en-US" altLang="en-US" sz="1800" b="1" u="sng" dirty="0">
                <a:latin typeface="Corbel" panose="020B0503020204020204" pitchFamily="34" charset="0"/>
              </a:rPr>
              <a:t>attempt to override a final method</a:t>
            </a:r>
            <a:r>
              <a:rPr lang="en-US" altLang="en-US" sz="1800" dirty="0">
                <a:latin typeface="Corbel" panose="020B0503020204020204" pitchFamily="34" charset="0"/>
              </a:rPr>
              <a:t>, the </a:t>
            </a:r>
            <a:r>
              <a:rPr lang="en-US" altLang="en-US" sz="1800" b="1" u="sng" dirty="0">
                <a:latin typeface="Corbel" panose="020B0503020204020204" pitchFamily="34" charset="0"/>
              </a:rPr>
              <a:t>compiler will display an error message </a:t>
            </a:r>
            <a:r>
              <a:rPr lang="en-US" altLang="en-US" sz="1800" dirty="0">
                <a:latin typeface="Corbel" panose="020B0503020204020204" pitchFamily="34" charset="0"/>
              </a:rPr>
              <a:t>similar to this one and refuse to compile the program:</a:t>
            </a:r>
          </a:p>
          <a:p>
            <a:pPr marL="0" lvl="0" indent="0" eaLnBrk="0" fontAlgn="base" hangingPunct="0">
              <a:lnSpc>
                <a:spcPct val="150000"/>
              </a:lnSpc>
              <a:spcBef>
                <a:spcPct val="0"/>
              </a:spcBef>
              <a:spcAft>
                <a:spcPct val="0"/>
              </a:spcAft>
              <a:buNone/>
            </a:pPr>
            <a:r>
              <a:rPr lang="en-US" altLang="en-US" sz="1800" dirty="0">
                <a:latin typeface="Corbel" panose="020B0503020204020204" pitchFamily="34" charset="0"/>
              </a:rPr>
              <a:t>FinalTest.java:7: Final methods can't be over ridden. Method void </a:t>
            </a:r>
            <a:r>
              <a:rPr lang="en-US" altLang="en-US" sz="1800" dirty="0" err="1">
                <a:latin typeface="Corbel" panose="020B0503020204020204" pitchFamily="34" charset="0"/>
              </a:rPr>
              <a:t>iamfinal</a:t>
            </a:r>
            <a:r>
              <a:rPr lang="en-US" altLang="en-US" sz="1800" dirty="0">
                <a:latin typeface="Corbel" panose="020B0503020204020204" pitchFamily="34" charset="0"/>
              </a:rPr>
              <a:t>() is final in class </a:t>
            </a:r>
            <a:r>
              <a:rPr lang="en-US" altLang="en-US" sz="1800" dirty="0" err="1">
                <a:latin typeface="Corbel" panose="020B0503020204020204" pitchFamily="34" charset="0"/>
              </a:rPr>
              <a:t>ClassWithFinalMethod</a:t>
            </a:r>
            <a:r>
              <a:rPr lang="en-US" altLang="en-US" sz="1800" dirty="0">
                <a:latin typeface="Corbel" panose="020B0503020204020204" pitchFamily="34" charset="0"/>
              </a:rPr>
              <a:t>.</a:t>
            </a:r>
          </a:p>
          <a:p>
            <a:pPr marL="0" lvl="0" indent="0" eaLnBrk="0" fontAlgn="base" hangingPunct="0">
              <a:lnSpc>
                <a:spcPct val="150000"/>
              </a:lnSpc>
              <a:spcBef>
                <a:spcPct val="0"/>
              </a:spcBef>
              <a:spcAft>
                <a:spcPct val="0"/>
              </a:spcAft>
              <a:buNone/>
            </a:pPr>
            <a:r>
              <a:rPr lang="en-US" altLang="en-US" sz="1800" dirty="0">
                <a:latin typeface="Corbel" panose="020B0503020204020204" pitchFamily="34" charset="0"/>
              </a:rPr>
              <a:t>    void </a:t>
            </a:r>
            <a:r>
              <a:rPr lang="en-US" altLang="en-US" sz="1800" dirty="0" err="1">
                <a:latin typeface="Corbel" panose="020B0503020204020204" pitchFamily="34" charset="0"/>
              </a:rPr>
              <a:t>iamfinal</a:t>
            </a:r>
            <a:r>
              <a:rPr lang="en-US" altLang="en-US" sz="1800" dirty="0">
                <a:latin typeface="Corbel" panose="020B0503020204020204" pitchFamily="34" charset="0"/>
              </a:rPr>
              <a:t>() {</a:t>
            </a:r>
          </a:p>
          <a:p>
            <a:pPr marL="0" lvl="0" indent="0" eaLnBrk="0" fontAlgn="base" hangingPunct="0">
              <a:lnSpc>
                <a:spcPct val="150000"/>
              </a:lnSpc>
              <a:spcBef>
                <a:spcPct val="0"/>
              </a:spcBef>
              <a:spcAft>
                <a:spcPct val="0"/>
              </a:spcAft>
              <a:buNone/>
            </a:pPr>
            <a:r>
              <a:rPr lang="en-US" altLang="en-US" sz="1800" dirty="0">
                <a:latin typeface="Corbel" panose="020B0503020204020204" pitchFamily="34" charset="0"/>
              </a:rPr>
              <a:t>         ^</a:t>
            </a:r>
          </a:p>
          <a:p>
            <a:pPr marL="0" lvl="0" indent="0" eaLnBrk="0" fontAlgn="base" hangingPunct="0">
              <a:lnSpc>
                <a:spcPct val="150000"/>
              </a:lnSpc>
              <a:spcBef>
                <a:spcPct val="0"/>
              </a:spcBef>
              <a:spcAft>
                <a:spcPct val="0"/>
              </a:spcAft>
              <a:buNone/>
            </a:pPr>
            <a:r>
              <a:rPr lang="en-US" altLang="en-US" sz="1800" dirty="0">
                <a:latin typeface="Corbel" panose="020B0503020204020204" pitchFamily="34" charset="0"/>
              </a:rPr>
              <a:t>1 error</a:t>
            </a:r>
          </a:p>
          <a:p>
            <a:pPr marL="0" lvl="0" indent="0" eaLnBrk="0" fontAlgn="base" hangingPunct="0">
              <a:lnSpc>
                <a:spcPct val="150000"/>
              </a:lnSpc>
              <a:spcBef>
                <a:spcPct val="0"/>
              </a:spcBef>
              <a:spcAft>
                <a:spcPct val="0"/>
              </a:spcAft>
              <a:buNone/>
            </a:pPr>
            <a:r>
              <a:rPr lang="en-US" altLang="en-US" sz="1800" b="1" i="1" u="sng" dirty="0">
                <a:latin typeface="Corbel" panose="020B0503020204020204" pitchFamily="34" charset="0"/>
              </a:rPr>
              <a:t>A subclass cannot override methods that are declared static in the superclass. In other words, a subclass cannot override a class method.</a:t>
            </a:r>
          </a:p>
          <a:p>
            <a:pPr marL="0" lvl="0" indent="0" eaLnBrk="0" fontAlgn="base" hangingPunct="0">
              <a:lnSpc>
                <a:spcPct val="150000"/>
              </a:lnSpc>
              <a:spcBef>
                <a:spcPct val="0"/>
              </a:spcBef>
              <a:spcAft>
                <a:spcPct val="0"/>
              </a:spcAft>
              <a:buNone/>
            </a:pPr>
            <a:r>
              <a:rPr lang="en-US" altLang="en-US" sz="1800" b="1" u="sng" dirty="0">
                <a:latin typeface="Corbel" panose="020B0503020204020204" pitchFamily="34" charset="0"/>
              </a:rPr>
              <a:t>Methods a Subclass Must Override</a:t>
            </a:r>
          </a:p>
          <a:p>
            <a:pPr marL="0" lvl="0" indent="0" eaLnBrk="0" fontAlgn="base" hangingPunct="0">
              <a:lnSpc>
                <a:spcPct val="150000"/>
              </a:lnSpc>
              <a:spcBef>
                <a:spcPct val="0"/>
              </a:spcBef>
              <a:spcAft>
                <a:spcPct val="0"/>
              </a:spcAft>
              <a:buNone/>
            </a:pPr>
            <a:r>
              <a:rPr lang="en-US" altLang="en-US" sz="1800" dirty="0">
                <a:latin typeface="Corbel" panose="020B0503020204020204" pitchFamily="34" charset="0"/>
              </a:rPr>
              <a:t>Subclass </a:t>
            </a:r>
            <a:r>
              <a:rPr lang="en-US" altLang="en-US" sz="1800" b="1" u="sng" dirty="0">
                <a:latin typeface="Corbel" panose="020B0503020204020204" pitchFamily="34" charset="0"/>
              </a:rPr>
              <a:t>must override methods </a:t>
            </a:r>
            <a:r>
              <a:rPr lang="en-US" altLang="en-US" sz="1800" dirty="0">
                <a:latin typeface="Corbel" panose="020B0503020204020204" pitchFamily="34" charset="0"/>
              </a:rPr>
              <a:t>that are </a:t>
            </a:r>
            <a:r>
              <a:rPr lang="en-US" altLang="en-US" sz="1800" b="1" u="sng" dirty="0">
                <a:latin typeface="Corbel" panose="020B0503020204020204" pitchFamily="34" charset="0"/>
              </a:rPr>
              <a:t>declared abstract in the superclass</a:t>
            </a:r>
            <a:r>
              <a:rPr lang="en-US" altLang="en-US" sz="1800" dirty="0">
                <a:latin typeface="Corbel" panose="020B0503020204020204" pitchFamily="34" charset="0"/>
              </a:rPr>
              <a:t>, or the </a:t>
            </a:r>
            <a:r>
              <a:rPr lang="en-US" altLang="en-US" sz="1800" b="1" u="sng" dirty="0">
                <a:latin typeface="Corbel" panose="020B0503020204020204" pitchFamily="34" charset="0"/>
              </a:rPr>
              <a:t>subclass must be abstract</a:t>
            </a:r>
            <a:r>
              <a:rPr lang="en-US" altLang="en-US" sz="1800" dirty="0">
                <a:latin typeface="Corbel" panose="020B0503020204020204" pitchFamily="34" charset="0"/>
              </a:rPr>
              <a:t>. </a:t>
            </a:r>
          </a:p>
        </p:txBody>
      </p:sp>
    </p:spTree>
    <p:extLst>
      <p:ext uri="{BB962C8B-B14F-4D97-AF65-F5344CB8AC3E}">
        <p14:creationId xmlns:p14="http://schemas.microsoft.com/office/powerpoint/2010/main" val="3326471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Classes –Overriding</a:t>
            </a:r>
          </a:p>
        </p:txBody>
      </p:sp>
      <p:sp>
        <p:nvSpPr>
          <p:cNvPr id="3" name="Content Placeholder 2"/>
          <p:cNvSpPr>
            <a:spLocks noGrp="1"/>
          </p:cNvSpPr>
          <p:nvPr>
            <p:ph idx="1"/>
          </p:nvPr>
        </p:nvSpPr>
        <p:spPr>
          <a:xfrm>
            <a:off x="261752" y="1469571"/>
            <a:ext cx="6178377" cy="5156860"/>
          </a:xfrm>
        </p:spPr>
        <p:txBody>
          <a:bodyPr>
            <a:normAutofit/>
          </a:bodyPr>
          <a:lstStyle/>
          <a:p>
            <a:pPr marL="0" lvl="0" indent="0" algn="just" eaLnBrk="0" fontAlgn="base" hangingPunct="0">
              <a:lnSpc>
                <a:spcPct val="150000"/>
              </a:lnSpc>
              <a:spcBef>
                <a:spcPct val="0"/>
              </a:spcBef>
              <a:spcAft>
                <a:spcPct val="0"/>
              </a:spcAft>
              <a:buNone/>
            </a:pPr>
            <a:r>
              <a:rPr lang="en-US" dirty="0">
                <a:latin typeface="Corbel" panose="020B0503020204020204" pitchFamily="34" charset="0"/>
              </a:rPr>
              <a:t>@Override annotation is used when we </a:t>
            </a:r>
            <a:r>
              <a:rPr lang="en-US" b="1" dirty="0">
                <a:latin typeface="Corbel" panose="020B0503020204020204" pitchFamily="34" charset="0"/>
                <a:hlinkClick r:id="rId3" tooltip="Method overriding in java with example"/>
              </a:rPr>
              <a:t>override a method</a:t>
            </a:r>
            <a:r>
              <a:rPr lang="en-US" dirty="0">
                <a:latin typeface="Corbel" panose="020B0503020204020204" pitchFamily="34" charset="0"/>
              </a:rPr>
              <a:t> in sub class. </a:t>
            </a:r>
          </a:p>
          <a:p>
            <a:pPr marL="0" lvl="0" indent="0" algn="just" eaLnBrk="0" fontAlgn="base" hangingPunct="0">
              <a:lnSpc>
                <a:spcPct val="150000"/>
              </a:lnSpc>
              <a:spcBef>
                <a:spcPct val="0"/>
              </a:spcBef>
              <a:spcAft>
                <a:spcPct val="0"/>
              </a:spcAft>
              <a:buNone/>
            </a:pPr>
            <a:r>
              <a:rPr lang="en-US" dirty="0">
                <a:latin typeface="Corbel" panose="020B0503020204020204" pitchFamily="34" charset="0"/>
              </a:rPr>
              <a:t>Generally novice developers overlook this feature as it is not mandatory to use this annotation while overriding the method. </a:t>
            </a:r>
          </a:p>
          <a:p>
            <a:pPr marL="0" indent="0" algn="just" eaLnBrk="0" fontAlgn="base" hangingPunct="0">
              <a:lnSpc>
                <a:spcPct val="150000"/>
              </a:lnSpc>
              <a:spcBef>
                <a:spcPct val="0"/>
              </a:spcBef>
              <a:spcAft>
                <a:spcPct val="0"/>
              </a:spcAft>
              <a:buNone/>
            </a:pPr>
            <a:r>
              <a:rPr lang="en-US" altLang="en-US" dirty="0">
                <a:latin typeface="Corbel" panose="020B0503020204020204" pitchFamily="34" charset="0"/>
              </a:rPr>
              <a:t>The above example we are overriding a method </a:t>
            </a:r>
            <a:r>
              <a:rPr lang="en-US" altLang="en-US" dirty="0" err="1">
                <a:latin typeface="Corbel" panose="020B0503020204020204" pitchFamily="34" charset="0"/>
              </a:rPr>
              <a:t>displaymethod</a:t>
            </a:r>
            <a:r>
              <a:rPr lang="en-US" altLang="en-US" dirty="0">
                <a:latin typeface="Corbel" panose="020B0503020204020204" pitchFamily="34" charset="0"/>
              </a:rPr>
              <a:t>() in the child class</a:t>
            </a:r>
            <a:r>
              <a:rPr lang="en-US" altLang="en-US" dirty="0">
                <a:solidFill>
                  <a:srgbClr val="222426"/>
                </a:solidFill>
                <a:latin typeface="Corbel" panose="020B0503020204020204" pitchFamily="34" charset="0"/>
              </a:rPr>
              <a:t>. </a:t>
            </a:r>
            <a:endParaRPr lang="en-US" altLang="en-US" sz="1800" dirty="0">
              <a:latin typeface="Corbel" panose="020B0503020204020204" pitchFamily="34" charset="0"/>
            </a:endParaRPr>
          </a:p>
        </p:txBody>
      </p:sp>
      <p:pic>
        <p:nvPicPr>
          <p:cNvPr id="4" name="Picture 3">
            <a:extLst>
              <a:ext uri="{FF2B5EF4-FFF2-40B4-BE49-F238E27FC236}">
                <a16:creationId xmlns:a16="http://schemas.microsoft.com/office/drawing/2014/main" id="{48971F9D-9DC7-46A0-9FF8-56B0A9E172DD}"/>
              </a:ext>
            </a:extLst>
          </p:cNvPr>
          <p:cNvPicPr>
            <a:picLocks noChangeAspect="1"/>
          </p:cNvPicPr>
          <p:nvPr/>
        </p:nvPicPr>
        <p:blipFill>
          <a:blip r:embed="rId4"/>
          <a:stretch>
            <a:fillRect/>
          </a:stretch>
        </p:blipFill>
        <p:spPr>
          <a:xfrm>
            <a:off x="6615003" y="1266824"/>
            <a:ext cx="5315245" cy="4435885"/>
          </a:xfrm>
          <a:prstGeom prst="rect">
            <a:avLst/>
          </a:prstGeom>
        </p:spPr>
      </p:pic>
      <p:sp>
        <p:nvSpPr>
          <p:cNvPr id="5" name="Rectangle 1">
            <a:extLst>
              <a:ext uri="{FF2B5EF4-FFF2-40B4-BE49-F238E27FC236}">
                <a16:creationId xmlns:a16="http://schemas.microsoft.com/office/drawing/2014/main" id="{2E7D0903-448C-4777-8B76-BED0362BEB0F}"/>
              </a:ext>
            </a:extLst>
          </p:cNvPr>
          <p:cNvSpPr>
            <a:spLocks noChangeArrowheads="1"/>
          </p:cNvSpPr>
          <p:nvPr/>
        </p:nvSpPr>
        <p:spPr bwMode="auto">
          <a:xfrm>
            <a:off x="0" y="-184666"/>
            <a:ext cx="184731" cy="36933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FA0DC9CE-B34B-4276-917F-28FD79EE252B}"/>
              </a:ext>
            </a:extLst>
          </p:cNvPr>
          <p:cNvSpPr/>
          <p:nvPr/>
        </p:nvSpPr>
        <p:spPr>
          <a:xfrm>
            <a:off x="6615003" y="5591176"/>
            <a:ext cx="5390184" cy="1295868"/>
          </a:xfrm>
          <a:prstGeom prst="rect">
            <a:avLst/>
          </a:prstGeom>
        </p:spPr>
        <p:txBody>
          <a:bodyPr wrap="square">
            <a:spAutoFit/>
          </a:bodyPr>
          <a:lstStyle/>
          <a:p>
            <a:pPr algn="just" eaLnBrk="0" fontAlgn="base" hangingPunct="0">
              <a:lnSpc>
                <a:spcPct val="150000"/>
              </a:lnSpc>
              <a:spcBef>
                <a:spcPct val="0"/>
              </a:spcBef>
              <a:spcAft>
                <a:spcPct val="0"/>
              </a:spcAft>
            </a:pPr>
            <a:r>
              <a:rPr lang="en-US" altLang="en-US" dirty="0">
                <a:solidFill>
                  <a:srgbClr val="222426"/>
                </a:solidFill>
                <a:latin typeface="Corbel" panose="020B0503020204020204" pitchFamily="34" charset="0"/>
              </a:rPr>
              <a:t>Even if we don’t use the @Override annotation, the program would still run fine without any issues, You would be wondering the why do we use this annotation</a:t>
            </a:r>
            <a:endParaRPr lang="en-US" dirty="0">
              <a:latin typeface="Corbel" panose="020B0503020204020204" pitchFamily="34" charset="0"/>
            </a:endParaRPr>
          </a:p>
        </p:txBody>
      </p:sp>
    </p:spTree>
    <p:extLst>
      <p:ext uri="{BB962C8B-B14F-4D97-AF65-F5344CB8AC3E}">
        <p14:creationId xmlns:p14="http://schemas.microsoft.com/office/powerpoint/2010/main" val="1680665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Classes –</a:t>
            </a:r>
            <a:r>
              <a:rPr lang="en-US" altLang="en-US" b="1" dirty="0">
                <a:solidFill>
                  <a:srgbClr val="444542"/>
                </a:solidFill>
                <a:latin typeface="Corbel" panose="020B0503020204020204" pitchFamily="34" charset="0"/>
              </a:rPr>
              <a:t>Why we use @Override annotation</a:t>
            </a:r>
            <a:endParaRPr lang="en-US" dirty="0"/>
          </a:p>
        </p:txBody>
      </p:sp>
      <p:sp>
        <p:nvSpPr>
          <p:cNvPr id="3" name="Content Placeholder 2"/>
          <p:cNvSpPr>
            <a:spLocks noGrp="1"/>
          </p:cNvSpPr>
          <p:nvPr>
            <p:ph idx="1"/>
          </p:nvPr>
        </p:nvSpPr>
        <p:spPr>
          <a:xfrm>
            <a:off x="184731" y="1359970"/>
            <a:ext cx="7210764" cy="5156860"/>
          </a:xfrm>
        </p:spPr>
        <p:txBody>
          <a:bodyPr>
            <a:normAutofit fontScale="92500"/>
          </a:bodyPr>
          <a:lstStyle/>
          <a:p>
            <a:pPr marL="0" lvl="0" indent="0" algn="just" eaLnBrk="0" fontAlgn="base" hangingPunct="0">
              <a:lnSpc>
                <a:spcPct val="150000"/>
              </a:lnSpc>
              <a:spcBef>
                <a:spcPct val="0"/>
              </a:spcBef>
              <a:spcAft>
                <a:spcPct val="0"/>
              </a:spcAft>
              <a:buNone/>
            </a:pPr>
            <a:r>
              <a:rPr lang="en-US" altLang="en-US" dirty="0">
                <a:latin typeface="Corbel" panose="020B0503020204020204" pitchFamily="34" charset="0"/>
              </a:rPr>
              <a:t>Using @Override annotation while overriding a method is considered as a best practice for coding in java because of the following two advantages:</a:t>
            </a:r>
          </a:p>
          <a:p>
            <a:pPr marL="0" lvl="0" indent="0" algn="just" eaLnBrk="0" fontAlgn="base" hangingPunct="0">
              <a:lnSpc>
                <a:spcPct val="150000"/>
              </a:lnSpc>
              <a:spcBef>
                <a:spcPct val="0"/>
              </a:spcBef>
              <a:spcAft>
                <a:spcPct val="0"/>
              </a:spcAft>
              <a:buNone/>
            </a:pPr>
            <a:endParaRPr lang="en-US" altLang="en-US" dirty="0">
              <a:latin typeface="Corbel" panose="020B0503020204020204" pitchFamily="34" charset="0"/>
            </a:endParaRPr>
          </a:p>
          <a:p>
            <a:pPr marL="457200" lvl="0" indent="-457200" algn="just" eaLnBrk="0" fontAlgn="base" hangingPunct="0">
              <a:lnSpc>
                <a:spcPct val="150000"/>
              </a:lnSpc>
              <a:spcBef>
                <a:spcPct val="0"/>
              </a:spcBef>
              <a:spcAft>
                <a:spcPct val="0"/>
              </a:spcAft>
              <a:buAutoNum type="arabicParenR"/>
            </a:pPr>
            <a:r>
              <a:rPr lang="en-US" altLang="en-US" b="1" u="sng" dirty="0">
                <a:latin typeface="Corbel" panose="020B0503020204020204" pitchFamily="34" charset="0"/>
              </a:rPr>
              <a:t>If programmer makes any mistake </a:t>
            </a:r>
            <a:r>
              <a:rPr lang="en-US" altLang="en-US" dirty="0">
                <a:latin typeface="Corbel" panose="020B0503020204020204" pitchFamily="34" charset="0"/>
              </a:rPr>
              <a:t>such as </a:t>
            </a:r>
            <a:r>
              <a:rPr lang="en-US" altLang="en-US" b="1" u="sng" dirty="0">
                <a:latin typeface="Corbel" panose="020B0503020204020204" pitchFamily="34" charset="0"/>
              </a:rPr>
              <a:t>wrong method name</a:t>
            </a:r>
            <a:r>
              <a:rPr lang="en-US" altLang="en-US" dirty="0">
                <a:latin typeface="Corbel" panose="020B0503020204020204" pitchFamily="34" charset="0"/>
              </a:rPr>
              <a:t>, </a:t>
            </a:r>
            <a:r>
              <a:rPr lang="en-US" altLang="en-US" b="1" u="sng" dirty="0">
                <a:latin typeface="Corbel" panose="020B0503020204020204" pitchFamily="34" charset="0"/>
              </a:rPr>
              <a:t>wrong parameter types </a:t>
            </a:r>
            <a:r>
              <a:rPr lang="en-US" altLang="en-US" dirty="0">
                <a:latin typeface="Corbel" panose="020B0503020204020204" pitchFamily="34" charset="0"/>
              </a:rPr>
              <a:t>while overriding, you would get a compile time error. </a:t>
            </a:r>
          </a:p>
          <a:p>
            <a:pPr lvl="1" algn="just" eaLnBrk="0" fontAlgn="base" hangingPunct="0">
              <a:lnSpc>
                <a:spcPct val="150000"/>
              </a:lnSpc>
              <a:spcBef>
                <a:spcPct val="0"/>
              </a:spcBef>
              <a:spcAft>
                <a:spcPct val="0"/>
              </a:spcAft>
              <a:buFont typeface="Wingdings" panose="05000000000000000000" pitchFamily="2" charset="2"/>
              <a:buChar char="v"/>
            </a:pPr>
            <a:r>
              <a:rPr lang="en-US" altLang="en-US" sz="2000" dirty="0">
                <a:latin typeface="Corbel" panose="020B0503020204020204" pitchFamily="34" charset="0"/>
              </a:rPr>
              <a:t>As by using this annotation you instruct compiler that you are overriding this method. </a:t>
            </a:r>
          </a:p>
          <a:p>
            <a:pPr lvl="1" algn="just" eaLnBrk="0" fontAlgn="base" hangingPunct="0">
              <a:lnSpc>
                <a:spcPct val="150000"/>
              </a:lnSpc>
              <a:spcBef>
                <a:spcPct val="0"/>
              </a:spcBef>
              <a:spcAft>
                <a:spcPct val="0"/>
              </a:spcAft>
              <a:buFont typeface="Wingdings" panose="05000000000000000000" pitchFamily="2" charset="2"/>
              <a:buChar char="v"/>
            </a:pPr>
            <a:r>
              <a:rPr lang="en-US" altLang="en-US" sz="2000" dirty="0">
                <a:latin typeface="Corbel" panose="020B0503020204020204" pitchFamily="34" charset="0"/>
              </a:rPr>
              <a:t>If you don’t use the annotation then the sub class method would behave as a new method (not the overriding method) in sub class.</a:t>
            </a:r>
          </a:p>
        </p:txBody>
      </p:sp>
      <p:pic>
        <p:nvPicPr>
          <p:cNvPr id="4" name="Picture 3">
            <a:extLst>
              <a:ext uri="{FF2B5EF4-FFF2-40B4-BE49-F238E27FC236}">
                <a16:creationId xmlns:a16="http://schemas.microsoft.com/office/drawing/2014/main" id="{48971F9D-9DC7-46A0-9FF8-56B0A9E172DD}"/>
              </a:ext>
            </a:extLst>
          </p:cNvPr>
          <p:cNvPicPr>
            <a:picLocks noChangeAspect="1"/>
          </p:cNvPicPr>
          <p:nvPr/>
        </p:nvPicPr>
        <p:blipFill>
          <a:blip r:embed="rId3"/>
          <a:stretch>
            <a:fillRect/>
          </a:stretch>
        </p:blipFill>
        <p:spPr>
          <a:xfrm>
            <a:off x="7606481" y="2094271"/>
            <a:ext cx="4323767" cy="3608438"/>
          </a:xfrm>
          <a:prstGeom prst="rect">
            <a:avLst/>
          </a:prstGeom>
        </p:spPr>
      </p:pic>
      <p:sp>
        <p:nvSpPr>
          <p:cNvPr id="5" name="Rectangle 1">
            <a:extLst>
              <a:ext uri="{FF2B5EF4-FFF2-40B4-BE49-F238E27FC236}">
                <a16:creationId xmlns:a16="http://schemas.microsoft.com/office/drawing/2014/main" id="{2E7D0903-448C-4777-8B76-BED0362BEB0F}"/>
              </a:ext>
            </a:extLst>
          </p:cNvPr>
          <p:cNvSpPr>
            <a:spLocks noChangeArrowheads="1"/>
          </p:cNvSpPr>
          <p:nvPr/>
        </p:nvSpPr>
        <p:spPr bwMode="auto">
          <a:xfrm>
            <a:off x="0" y="-184666"/>
            <a:ext cx="184731" cy="36933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5E8DBB43-887E-4585-8930-5B01476C9241}"/>
              </a:ext>
            </a:extLst>
          </p:cNvPr>
          <p:cNvSpPr>
            <a:spLocks noChangeArrowheads="1"/>
          </p:cNvSpPr>
          <p:nvPr/>
        </p:nvSpPr>
        <p:spPr bwMode="auto">
          <a:xfrm>
            <a:off x="0" y="38820"/>
            <a:ext cx="65" cy="3795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431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Classes –</a:t>
            </a:r>
            <a:r>
              <a:rPr lang="en-US" altLang="en-US" b="1" dirty="0">
                <a:solidFill>
                  <a:srgbClr val="444542"/>
                </a:solidFill>
                <a:latin typeface="Corbel" panose="020B0503020204020204" pitchFamily="34" charset="0"/>
              </a:rPr>
              <a:t>Why we use @Override annotation</a:t>
            </a:r>
            <a:endParaRPr lang="en-US" dirty="0"/>
          </a:p>
        </p:txBody>
      </p:sp>
      <p:sp>
        <p:nvSpPr>
          <p:cNvPr id="3" name="Content Placeholder 2"/>
          <p:cNvSpPr>
            <a:spLocks noGrp="1"/>
          </p:cNvSpPr>
          <p:nvPr>
            <p:ph idx="1"/>
          </p:nvPr>
        </p:nvSpPr>
        <p:spPr>
          <a:xfrm>
            <a:off x="184731" y="1359970"/>
            <a:ext cx="7210764" cy="5156860"/>
          </a:xfrm>
        </p:spPr>
        <p:txBody>
          <a:bodyPr>
            <a:normAutofit fontScale="92500" lnSpcReduction="10000"/>
          </a:bodyPr>
          <a:lstStyle/>
          <a:p>
            <a:pPr marL="0" lvl="0" indent="0" algn="just" eaLnBrk="0" fontAlgn="base" hangingPunct="0">
              <a:lnSpc>
                <a:spcPct val="150000"/>
              </a:lnSpc>
              <a:spcBef>
                <a:spcPct val="0"/>
              </a:spcBef>
              <a:spcAft>
                <a:spcPct val="0"/>
              </a:spcAft>
              <a:buNone/>
            </a:pPr>
            <a:r>
              <a:rPr lang="en-US" altLang="en-US" dirty="0">
                <a:latin typeface="Corbel" panose="020B0503020204020204" pitchFamily="34" charset="0"/>
              </a:rPr>
              <a:t>Using @Override annotation while overriding a method is considered as a best practice for coding in java because of the following two advantages:</a:t>
            </a:r>
          </a:p>
          <a:p>
            <a:pPr marL="0" lvl="0" indent="0" algn="just" eaLnBrk="0" fontAlgn="base" hangingPunct="0">
              <a:lnSpc>
                <a:spcPct val="150000"/>
              </a:lnSpc>
              <a:spcBef>
                <a:spcPct val="0"/>
              </a:spcBef>
              <a:spcAft>
                <a:spcPct val="0"/>
              </a:spcAft>
              <a:buNone/>
            </a:pPr>
            <a:endParaRPr lang="en-US" altLang="en-US" dirty="0">
              <a:latin typeface="Corbel" panose="020B0503020204020204" pitchFamily="34" charset="0"/>
            </a:endParaRPr>
          </a:p>
          <a:p>
            <a:pPr marL="0" lvl="0" indent="0" algn="just" eaLnBrk="0" fontAlgn="base" hangingPunct="0">
              <a:lnSpc>
                <a:spcPct val="150000"/>
              </a:lnSpc>
              <a:spcBef>
                <a:spcPct val="0"/>
              </a:spcBef>
              <a:spcAft>
                <a:spcPct val="0"/>
              </a:spcAft>
              <a:buNone/>
            </a:pPr>
            <a:r>
              <a:rPr lang="en-US" altLang="en-US" dirty="0">
                <a:latin typeface="Corbel" panose="020B0503020204020204" pitchFamily="34" charset="0"/>
              </a:rPr>
              <a:t>2) </a:t>
            </a:r>
            <a:r>
              <a:rPr lang="en-US" altLang="en-US" b="1" u="sng" dirty="0">
                <a:latin typeface="Corbel" panose="020B0503020204020204" pitchFamily="34" charset="0"/>
              </a:rPr>
              <a:t>It improves the readability of the code</a:t>
            </a:r>
            <a:r>
              <a:rPr lang="en-US" altLang="en-US" dirty="0">
                <a:latin typeface="Corbel" panose="020B0503020204020204" pitchFamily="34" charset="0"/>
              </a:rPr>
              <a:t>. </a:t>
            </a:r>
          </a:p>
          <a:p>
            <a:pPr lvl="0" algn="just" eaLnBrk="0" fontAlgn="base" hangingPunct="0">
              <a:lnSpc>
                <a:spcPct val="150000"/>
              </a:lnSpc>
              <a:spcBef>
                <a:spcPct val="0"/>
              </a:spcBef>
              <a:spcAft>
                <a:spcPct val="0"/>
              </a:spcAft>
              <a:buFont typeface="Wingdings" panose="05000000000000000000" pitchFamily="2" charset="2"/>
              <a:buChar char="v"/>
            </a:pPr>
            <a:r>
              <a:rPr lang="en-US" altLang="en-US" dirty="0">
                <a:latin typeface="Corbel" panose="020B0503020204020204" pitchFamily="34" charset="0"/>
              </a:rPr>
              <a:t>So if you change the signature of overridden method then all the sub classes that overrides the particular method would throw a compilation error, which would eventually help you to change the signature in the sub classes. </a:t>
            </a:r>
          </a:p>
          <a:p>
            <a:pPr lvl="0" algn="just" eaLnBrk="0" fontAlgn="base" hangingPunct="0">
              <a:lnSpc>
                <a:spcPct val="150000"/>
              </a:lnSpc>
              <a:spcBef>
                <a:spcPct val="0"/>
              </a:spcBef>
              <a:spcAft>
                <a:spcPct val="0"/>
              </a:spcAft>
              <a:buFont typeface="Wingdings" panose="05000000000000000000" pitchFamily="2" charset="2"/>
              <a:buChar char="v"/>
            </a:pPr>
            <a:r>
              <a:rPr lang="en-US" altLang="en-US" dirty="0">
                <a:latin typeface="Corbel" panose="020B0503020204020204" pitchFamily="34" charset="0"/>
              </a:rPr>
              <a:t>If you have lots of classes in your application then this annotation would really help you to identify the classes that require changes when you change the signature of a method</a:t>
            </a:r>
            <a:r>
              <a:rPr lang="en-US" altLang="en-US" dirty="0">
                <a:solidFill>
                  <a:srgbClr val="222426"/>
                </a:solidFill>
                <a:latin typeface="Corbel" panose="020B0503020204020204" pitchFamily="34" charset="0"/>
              </a:rPr>
              <a:t>.</a:t>
            </a:r>
            <a:endParaRPr lang="en-US" altLang="en-US" sz="3200" dirty="0">
              <a:latin typeface="Corbel" panose="020B0503020204020204" pitchFamily="34" charset="0"/>
            </a:endParaRPr>
          </a:p>
        </p:txBody>
      </p:sp>
      <p:pic>
        <p:nvPicPr>
          <p:cNvPr id="4" name="Picture 3">
            <a:extLst>
              <a:ext uri="{FF2B5EF4-FFF2-40B4-BE49-F238E27FC236}">
                <a16:creationId xmlns:a16="http://schemas.microsoft.com/office/drawing/2014/main" id="{48971F9D-9DC7-46A0-9FF8-56B0A9E172DD}"/>
              </a:ext>
            </a:extLst>
          </p:cNvPr>
          <p:cNvPicPr>
            <a:picLocks noChangeAspect="1"/>
          </p:cNvPicPr>
          <p:nvPr/>
        </p:nvPicPr>
        <p:blipFill>
          <a:blip r:embed="rId3"/>
          <a:stretch>
            <a:fillRect/>
          </a:stretch>
        </p:blipFill>
        <p:spPr>
          <a:xfrm>
            <a:off x="7606481" y="2094271"/>
            <a:ext cx="4323767" cy="3608438"/>
          </a:xfrm>
          <a:prstGeom prst="rect">
            <a:avLst/>
          </a:prstGeom>
        </p:spPr>
      </p:pic>
      <p:sp>
        <p:nvSpPr>
          <p:cNvPr id="5" name="Rectangle 1">
            <a:extLst>
              <a:ext uri="{FF2B5EF4-FFF2-40B4-BE49-F238E27FC236}">
                <a16:creationId xmlns:a16="http://schemas.microsoft.com/office/drawing/2014/main" id="{2E7D0903-448C-4777-8B76-BED0362BEB0F}"/>
              </a:ext>
            </a:extLst>
          </p:cNvPr>
          <p:cNvSpPr>
            <a:spLocks noChangeArrowheads="1"/>
          </p:cNvSpPr>
          <p:nvPr/>
        </p:nvSpPr>
        <p:spPr bwMode="auto">
          <a:xfrm>
            <a:off x="0" y="-184666"/>
            <a:ext cx="184731" cy="36933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5E8DBB43-887E-4585-8930-5B01476C9241}"/>
              </a:ext>
            </a:extLst>
          </p:cNvPr>
          <p:cNvSpPr>
            <a:spLocks noChangeArrowheads="1"/>
          </p:cNvSpPr>
          <p:nvPr/>
        </p:nvSpPr>
        <p:spPr bwMode="auto">
          <a:xfrm>
            <a:off x="0" y="38820"/>
            <a:ext cx="65" cy="3795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091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Classes – Using Super()</a:t>
            </a:r>
          </a:p>
        </p:txBody>
      </p:sp>
      <p:sp>
        <p:nvSpPr>
          <p:cNvPr id="5" name="Content Placeholder 4"/>
          <p:cNvSpPr>
            <a:spLocks noGrp="1"/>
          </p:cNvSpPr>
          <p:nvPr>
            <p:ph idx="1"/>
          </p:nvPr>
        </p:nvSpPr>
        <p:spPr>
          <a:xfrm>
            <a:off x="570509" y="1576448"/>
            <a:ext cx="6245927" cy="5072987"/>
          </a:xfrm>
        </p:spPr>
        <p:txBody>
          <a:bodyPr>
            <a:normAutofit/>
          </a:bodyPr>
          <a:lstStyle/>
          <a:p>
            <a:pPr algn="just"/>
            <a:r>
              <a:rPr lang="en-US" dirty="0">
                <a:latin typeface="Corbel" panose="020B0503020204020204" pitchFamily="34" charset="0"/>
              </a:rPr>
              <a:t>A </a:t>
            </a:r>
            <a:r>
              <a:rPr lang="en-US" b="1" u="sng" dirty="0">
                <a:latin typeface="Corbel" panose="020B0503020204020204" pitchFamily="34" charset="0"/>
              </a:rPr>
              <a:t>subclass</a:t>
            </a:r>
            <a:r>
              <a:rPr lang="en-US" dirty="0">
                <a:latin typeface="Corbel" panose="020B0503020204020204" pitchFamily="34" charset="0"/>
              </a:rPr>
              <a:t> can also explicitly call a </a:t>
            </a:r>
            <a:r>
              <a:rPr lang="en-US" b="1" u="sng" dirty="0">
                <a:latin typeface="Corbel" panose="020B0503020204020204" pitchFamily="34" charset="0"/>
              </a:rPr>
              <a:t>constructor</a:t>
            </a:r>
            <a:r>
              <a:rPr lang="en-US" dirty="0">
                <a:latin typeface="Corbel" panose="020B0503020204020204" pitchFamily="34" charset="0"/>
              </a:rPr>
              <a:t> of its </a:t>
            </a:r>
            <a:r>
              <a:rPr lang="en-US" b="1" u="sng" dirty="0">
                <a:latin typeface="Corbel" panose="020B0503020204020204" pitchFamily="34" charset="0"/>
              </a:rPr>
              <a:t>immediate super class</a:t>
            </a:r>
            <a:r>
              <a:rPr lang="en-US" dirty="0">
                <a:latin typeface="Corbel" panose="020B0503020204020204" pitchFamily="34" charset="0"/>
              </a:rPr>
              <a:t>.</a:t>
            </a:r>
          </a:p>
          <a:p>
            <a:pPr algn="just"/>
            <a:r>
              <a:rPr lang="en-US" dirty="0">
                <a:latin typeface="Corbel" panose="020B0503020204020204" pitchFamily="34" charset="0"/>
              </a:rPr>
              <a:t>This is done by using the </a:t>
            </a:r>
            <a:r>
              <a:rPr lang="en-US" b="1" u="sng" dirty="0">
                <a:latin typeface="Corbel" panose="020B0503020204020204" pitchFamily="34" charset="0"/>
              </a:rPr>
              <a:t>super constructor call</a:t>
            </a:r>
            <a:r>
              <a:rPr lang="en-US" dirty="0">
                <a:latin typeface="Corbel" panose="020B0503020204020204" pitchFamily="34" charset="0"/>
              </a:rPr>
              <a:t>.  </a:t>
            </a:r>
          </a:p>
          <a:p>
            <a:pPr algn="just"/>
            <a:r>
              <a:rPr lang="en-US" dirty="0">
                <a:latin typeface="Corbel" panose="020B0503020204020204" pitchFamily="34" charset="0"/>
              </a:rPr>
              <a:t>A </a:t>
            </a:r>
            <a:r>
              <a:rPr lang="en-US" b="1" u="sng" dirty="0">
                <a:latin typeface="Corbel" panose="020B0503020204020204" pitchFamily="34" charset="0"/>
              </a:rPr>
              <a:t>super constructor</a:t>
            </a:r>
            <a:r>
              <a:rPr lang="en-US" dirty="0">
                <a:latin typeface="Corbel" panose="020B0503020204020204" pitchFamily="34" charset="0"/>
              </a:rPr>
              <a:t> call in the constructor of a subclass will result in the execution of relevant constructor from the super class, based on the arguments passed.</a:t>
            </a:r>
          </a:p>
          <a:p>
            <a:r>
              <a:rPr lang="en-US" dirty="0">
                <a:latin typeface="Corbel" panose="020B0503020204020204" pitchFamily="34" charset="0"/>
              </a:rPr>
              <a:t>Few things to remember when using the super constructor call:</a:t>
            </a:r>
          </a:p>
          <a:p>
            <a:r>
              <a:rPr lang="en-US" dirty="0">
                <a:latin typeface="Corbel" panose="020B0503020204020204" pitchFamily="34" charset="0"/>
              </a:rPr>
              <a:t>– </a:t>
            </a:r>
            <a:r>
              <a:rPr lang="en-US" b="1" u="sng" dirty="0">
                <a:latin typeface="Corbel" panose="020B0503020204020204" pitchFamily="34" charset="0"/>
              </a:rPr>
              <a:t>The super() call </a:t>
            </a:r>
            <a:r>
              <a:rPr lang="en-US" dirty="0">
                <a:latin typeface="Corbel" panose="020B0503020204020204" pitchFamily="34" charset="0"/>
              </a:rPr>
              <a:t>must occur as the </a:t>
            </a:r>
            <a:r>
              <a:rPr lang="en-US" b="1" u="sng" dirty="0">
                <a:latin typeface="Corbel" panose="020B0503020204020204" pitchFamily="34" charset="0"/>
              </a:rPr>
              <a:t>first statement </a:t>
            </a:r>
            <a:r>
              <a:rPr lang="en-US" dirty="0">
                <a:latin typeface="Corbel" panose="020B0503020204020204" pitchFamily="34" charset="0"/>
              </a:rPr>
              <a:t>in a </a:t>
            </a:r>
            <a:r>
              <a:rPr lang="en-US" b="1" u="sng" dirty="0">
                <a:latin typeface="Corbel" panose="020B0503020204020204" pitchFamily="34" charset="0"/>
              </a:rPr>
              <a:t>Constructor </a:t>
            </a:r>
          </a:p>
          <a:p>
            <a:r>
              <a:rPr lang="en-US" dirty="0">
                <a:latin typeface="Corbel" panose="020B0503020204020204" pitchFamily="34" charset="0"/>
              </a:rPr>
              <a:t>– The </a:t>
            </a:r>
            <a:r>
              <a:rPr lang="en-US" b="1" u="sng" dirty="0">
                <a:latin typeface="Corbel" panose="020B0503020204020204" pitchFamily="34" charset="0"/>
              </a:rPr>
              <a:t>super() </a:t>
            </a:r>
            <a:r>
              <a:rPr lang="en-US" dirty="0">
                <a:latin typeface="Corbel" panose="020B0503020204020204" pitchFamily="34" charset="0"/>
              </a:rPr>
              <a:t>call can only be used in a </a:t>
            </a:r>
            <a:r>
              <a:rPr lang="en-US" b="1" u="sng" dirty="0">
                <a:latin typeface="Corbel" panose="020B0503020204020204" pitchFamily="34" charset="0"/>
              </a:rPr>
              <a:t>constructor</a:t>
            </a:r>
            <a:r>
              <a:rPr lang="en-US" dirty="0">
                <a:latin typeface="Corbel" panose="020B0503020204020204" pitchFamily="34" charset="0"/>
              </a:rPr>
              <a:t> (not in </a:t>
            </a:r>
            <a:r>
              <a:rPr lang="en-US" b="1" u="sng" dirty="0">
                <a:latin typeface="Corbel" panose="020B0503020204020204" pitchFamily="34" charset="0"/>
              </a:rPr>
              <a:t>ordinary methods</a:t>
            </a:r>
            <a:r>
              <a:rPr lang="en-US" dirty="0">
                <a:latin typeface="Corbel" panose="020B0503020204020204" pitchFamily="34" charset="0"/>
              </a:rPr>
              <a:t>)</a:t>
            </a:r>
          </a:p>
        </p:txBody>
      </p:sp>
      <p:pic>
        <p:nvPicPr>
          <p:cNvPr id="3" name="Picture 2"/>
          <p:cNvPicPr>
            <a:picLocks noChangeAspect="1"/>
          </p:cNvPicPr>
          <p:nvPr/>
        </p:nvPicPr>
        <p:blipFill>
          <a:blip r:embed="rId3"/>
          <a:stretch>
            <a:fillRect/>
          </a:stretch>
        </p:blipFill>
        <p:spPr>
          <a:xfrm>
            <a:off x="6903435" y="1502228"/>
            <a:ext cx="5169130" cy="2360221"/>
          </a:xfrm>
          <a:prstGeom prst="rect">
            <a:avLst/>
          </a:prstGeom>
        </p:spPr>
      </p:pic>
      <p:pic>
        <p:nvPicPr>
          <p:cNvPr id="4" name="Picture 3"/>
          <p:cNvPicPr>
            <a:picLocks noChangeAspect="1"/>
          </p:cNvPicPr>
          <p:nvPr/>
        </p:nvPicPr>
        <p:blipFill>
          <a:blip r:embed="rId4"/>
          <a:stretch>
            <a:fillRect/>
          </a:stretch>
        </p:blipFill>
        <p:spPr>
          <a:xfrm>
            <a:off x="6903435" y="4048988"/>
            <a:ext cx="5169130" cy="1042310"/>
          </a:xfrm>
          <a:prstGeom prst="rect">
            <a:avLst/>
          </a:prstGeom>
        </p:spPr>
      </p:pic>
      <p:pic>
        <p:nvPicPr>
          <p:cNvPr id="6" name="Picture 5"/>
          <p:cNvPicPr>
            <a:picLocks noChangeAspect="1"/>
          </p:cNvPicPr>
          <p:nvPr/>
        </p:nvPicPr>
        <p:blipFill>
          <a:blip r:embed="rId5"/>
          <a:stretch>
            <a:fillRect/>
          </a:stretch>
        </p:blipFill>
        <p:spPr>
          <a:xfrm>
            <a:off x="6903435" y="5723905"/>
            <a:ext cx="5244676" cy="925531"/>
          </a:xfrm>
          <a:prstGeom prst="rect">
            <a:avLst/>
          </a:prstGeom>
        </p:spPr>
      </p:pic>
    </p:spTree>
    <p:extLst>
      <p:ext uri="{BB962C8B-B14F-4D97-AF65-F5344CB8AC3E}">
        <p14:creationId xmlns:p14="http://schemas.microsoft.com/office/powerpoint/2010/main" val="1047769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4365" y="2971806"/>
            <a:ext cx="1579086" cy="505099"/>
          </a:xfrm>
        </p:spPr>
        <p:txBody>
          <a:bodyPr>
            <a:normAutofit fontScale="90000"/>
          </a:bodyPr>
          <a:lstStyle/>
          <a:p>
            <a:r>
              <a:rPr lang="en-US" dirty="0"/>
              <a:t>FINAL</a:t>
            </a:r>
          </a:p>
        </p:txBody>
      </p:sp>
      <p:sp>
        <p:nvSpPr>
          <p:cNvPr id="3" name="Text Placeholder 2"/>
          <p:cNvSpPr>
            <a:spLocks noGrp="1"/>
          </p:cNvSpPr>
          <p:nvPr>
            <p:ph type="body" idx="1"/>
          </p:nvPr>
        </p:nvSpPr>
        <p:spPr>
          <a:xfrm>
            <a:off x="1104899" y="4655956"/>
            <a:ext cx="3752851" cy="509750"/>
          </a:xfrm>
        </p:spPr>
        <p:txBody>
          <a:bodyPr>
            <a:normAutofit lnSpcReduction="10000"/>
          </a:bodyPr>
          <a:lstStyle/>
          <a:p>
            <a:r>
              <a:rPr lang="en-US" dirty="0"/>
              <a:t>Not any tournament, but a non access modifier</a:t>
            </a:r>
          </a:p>
        </p:txBody>
      </p:sp>
      <p:pic>
        <p:nvPicPr>
          <p:cNvPr id="3074" name="Picture 2" descr="Image result for final classes in jav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2665" y="575953"/>
            <a:ext cx="5891357" cy="3682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910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Finally – Using final keyword</a:t>
            </a:r>
          </a:p>
        </p:txBody>
      </p:sp>
      <p:sp>
        <p:nvSpPr>
          <p:cNvPr id="5" name="Content Placeholder 4"/>
          <p:cNvSpPr>
            <a:spLocks noGrp="1"/>
          </p:cNvSpPr>
          <p:nvPr>
            <p:ph idx="1"/>
          </p:nvPr>
        </p:nvSpPr>
        <p:spPr>
          <a:xfrm>
            <a:off x="570509" y="1576448"/>
            <a:ext cx="5414655" cy="5072987"/>
          </a:xfrm>
        </p:spPr>
        <p:txBody>
          <a:bodyPr>
            <a:normAutofit fontScale="92500" lnSpcReduction="10000"/>
          </a:bodyPr>
          <a:lstStyle/>
          <a:p>
            <a:pPr algn="just"/>
            <a:r>
              <a:rPr lang="en-US" i="1" dirty="0">
                <a:latin typeface="Corbel" panose="020B0503020204020204" pitchFamily="34" charset="0"/>
              </a:rPr>
              <a:t>final</a:t>
            </a:r>
            <a:r>
              <a:rPr lang="en-US" dirty="0">
                <a:latin typeface="Corbel" panose="020B0503020204020204" pitchFamily="34" charset="0"/>
              </a:rPr>
              <a:t> keyword is used in different contexts.</a:t>
            </a:r>
          </a:p>
          <a:p>
            <a:pPr algn="just"/>
            <a:r>
              <a:rPr lang="en-US" dirty="0">
                <a:latin typeface="Corbel" panose="020B0503020204020204" pitchFamily="34" charset="0"/>
              </a:rPr>
              <a:t> First of all, </a:t>
            </a:r>
            <a:r>
              <a:rPr lang="en-US" i="1" dirty="0">
                <a:latin typeface="Corbel" panose="020B0503020204020204" pitchFamily="34" charset="0"/>
              </a:rPr>
              <a:t>final</a:t>
            </a:r>
            <a:r>
              <a:rPr lang="en-US" dirty="0">
                <a:latin typeface="Corbel" panose="020B0503020204020204" pitchFamily="34" charset="0"/>
              </a:rPr>
              <a:t> is a </a:t>
            </a:r>
            <a:r>
              <a:rPr lang="en-US" dirty="0">
                <a:latin typeface="Corbel" panose="020B0503020204020204" pitchFamily="34" charset="0"/>
                <a:hlinkClick r:id="rId3"/>
              </a:rPr>
              <a:t>non-access modifier</a:t>
            </a:r>
            <a:r>
              <a:rPr lang="en-US" dirty="0">
                <a:latin typeface="Corbel" panose="020B0503020204020204" pitchFamily="34" charset="0"/>
              </a:rPr>
              <a:t> applicable </a:t>
            </a:r>
            <a:r>
              <a:rPr lang="en-US" b="1" dirty="0">
                <a:latin typeface="Corbel" panose="020B0503020204020204" pitchFamily="34" charset="0"/>
              </a:rPr>
              <a:t>only to a variable, a method or a class</a:t>
            </a:r>
            <a:r>
              <a:rPr lang="en-US" dirty="0">
                <a:latin typeface="Corbel" panose="020B0503020204020204" pitchFamily="34" charset="0"/>
              </a:rPr>
              <a:t>. </a:t>
            </a:r>
          </a:p>
          <a:p>
            <a:pPr algn="just"/>
            <a:r>
              <a:rPr lang="en-US" dirty="0">
                <a:latin typeface="Corbel" panose="020B0503020204020204" pitchFamily="34" charset="0"/>
              </a:rPr>
              <a:t>When a variable is declared with final keyword, its value can’t be modified, essentially, a constant. </a:t>
            </a:r>
          </a:p>
          <a:p>
            <a:pPr algn="just"/>
            <a:r>
              <a:rPr lang="en-US" dirty="0">
                <a:latin typeface="Corbel" panose="020B0503020204020204" pitchFamily="34" charset="0"/>
              </a:rPr>
              <a:t>This also means that you must initialize a final variable. </a:t>
            </a:r>
          </a:p>
          <a:p>
            <a:pPr algn="just"/>
            <a:r>
              <a:rPr lang="en-US" dirty="0">
                <a:latin typeface="Corbel" panose="020B0503020204020204" pitchFamily="34" charset="0"/>
              </a:rPr>
              <a:t>If the final variable is a reference, this means that the variable cannot be re-bound to reference another object, but internal state of the object pointed by that reference variable can be changed i.e. you can add or remove elements from final array or final collection. </a:t>
            </a:r>
          </a:p>
          <a:p>
            <a:pPr algn="just"/>
            <a:r>
              <a:rPr lang="en-US" dirty="0">
                <a:latin typeface="Corbel" panose="020B0503020204020204" pitchFamily="34" charset="0"/>
              </a:rPr>
              <a:t>It is good practice to represent final variables in all uppercase, using underscore to separate words.</a:t>
            </a:r>
          </a:p>
        </p:txBody>
      </p:sp>
      <p:pic>
        <p:nvPicPr>
          <p:cNvPr id="7" name="Picture 6"/>
          <p:cNvPicPr>
            <a:picLocks noChangeAspect="1"/>
          </p:cNvPicPr>
          <p:nvPr/>
        </p:nvPicPr>
        <p:blipFill>
          <a:blip r:embed="rId4"/>
          <a:stretch>
            <a:fillRect/>
          </a:stretch>
        </p:blipFill>
        <p:spPr>
          <a:xfrm>
            <a:off x="5985164" y="1487979"/>
            <a:ext cx="5934075" cy="1771650"/>
          </a:xfrm>
          <a:prstGeom prst="rect">
            <a:avLst/>
          </a:prstGeom>
        </p:spPr>
      </p:pic>
      <p:pic>
        <p:nvPicPr>
          <p:cNvPr id="8" name="Picture 7"/>
          <p:cNvPicPr>
            <a:picLocks noChangeAspect="1"/>
          </p:cNvPicPr>
          <p:nvPr/>
        </p:nvPicPr>
        <p:blipFill>
          <a:blip r:embed="rId5"/>
          <a:stretch>
            <a:fillRect/>
          </a:stretch>
        </p:blipFill>
        <p:spPr>
          <a:xfrm>
            <a:off x="6095241" y="3702379"/>
            <a:ext cx="5823998" cy="3044765"/>
          </a:xfrm>
          <a:prstGeom prst="rect">
            <a:avLst/>
          </a:prstGeom>
        </p:spPr>
      </p:pic>
    </p:spTree>
    <p:extLst>
      <p:ext uri="{BB962C8B-B14F-4D97-AF65-F5344CB8AC3E}">
        <p14:creationId xmlns:p14="http://schemas.microsoft.com/office/powerpoint/2010/main" val="57561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Finally – Using final keyword</a:t>
            </a:r>
          </a:p>
        </p:txBody>
      </p:sp>
      <p:sp>
        <p:nvSpPr>
          <p:cNvPr id="5" name="Content Placeholder 4"/>
          <p:cNvSpPr>
            <a:spLocks noGrp="1"/>
          </p:cNvSpPr>
          <p:nvPr>
            <p:ph idx="1"/>
          </p:nvPr>
        </p:nvSpPr>
        <p:spPr>
          <a:xfrm>
            <a:off x="131122" y="1487979"/>
            <a:ext cx="5414655" cy="5072987"/>
          </a:xfrm>
        </p:spPr>
        <p:txBody>
          <a:bodyPr>
            <a:normAutofit fontScale="92500" lnSpcReduction="20000"/>
          </a:bodyPr>
          <a:lstStyle/>
          <a:p>
            <a:pPr algn="just"/>
            <a:r>
              <a:rPr lang="en-US" dirty="0">
                <a:latin typeface="Corbel" panose="020B0503020204020204" pitchFamily="34" charset="0"/>
              </a:rPr>
              <a:t>Initializing a final variable :</a:t>
            </a:r>
          </a:p>
          <a:p>
            <a:pPr algn="just"/>
            <a:r>
              <a:rPr lang="en-US" dirty="0">
                <a:latin typeface="Corbel" panose="020B0503020204020204" pitchFamily="34" charset="0"/>
              </a:rPr>
              <a:t>We must initialize a final variable, otherwise compiler will throw compile-time error.</a:t>
            </a:r>
          </a:p>
          <a:p>
            <a:pPr algn="just"/>
            <a:r>
              <a:rPr lang="en-US" dirty="0">
                <a:latin typeface="Corbel" panose="020B0503020204020204" pitchFamily="34" charset="0"/>
              </a:rPr>
              <a:t>A final variable can only be initialized once, either via an initializer or an assignment statement. There are three ways to initialize a final variable :</a:t>
            </a:r>
          </a:p>
          <a:p>
            <a:pPr lvl="1" algn="just"/>
            <a:r>
              <a:rPr lang="en-US" dirty="0">
                <a:latin typeface="Corbel" panose="020B0503020204020204" pitchFamily="34" charset="0"/>
              </a:rPr>
              <a:t>You can initialize a final variable when it is declared.</a:t>
            </a:r>
          </a:p>
          <a:p>
            <a:pPr lvl="1" algn="just"/>
            <a:r>
              <a:rPr lang="en-US" dirty="0">
                <a:latin typeface="Corbel" panose="020B0503020204020204" pitchFamily="34" charset="0"/>
              </a:rPr>
              <a:t>This approach is the most common. </a:t>
            </a:r>
          </a:p>
          <a:p>
            <a:pPr lvl="1" algn="just"/>
            <a:r>
              <a:rPr lang="en-US" dirty="0">
                <a:latin typeface="Corbel" panose="020B0503020204020204" pitchFamily="34" charset="0"/>
              </a:rPr>
              <a:t>A final variable is called blank final variable, if it is not initialized while declaration. </a:t>
            </a:r>
          </a:p>
          <a:p>
            <a:pPr algn="just"/>
            <a:r>
              <a:rPr lang="en-US" dirty="0">
                <a:latin typeface="Corbel" panose="020B0503020204020204" pitchFamily="34" charset="0"/>
              </a:rPr>
              <a:t>Below are the two ways to initialize a blank final variable.</a:t>
            </a:r>
          </a:p>
          <a:p>
            <a:pPr lvl="1" algn="just"/>
            <a:r>
              <a:rPr lang="en-US" dirty="0">
                <a:latin typeface="Corbel" panose="020B0503020204020204" pitchFamily="34" charset="0"/>
              </a:rPr>
              <a:t>A blank final variable can be initialized inside instance-initializer block or inside constructor. </a:t>
            </a:r>
          </a:p>
          <a:p>
            <a:pPr lvl="1" algn="just"/>
            <a:r>
              <a:rPr lang="en-US" dirty="0">
                <a:latin typeface="Corbel" panose="020B0503020204020204" pitchFamily="34" charset="0"/>
              </a:rPr>
              <a:t>If you have more than one constructor in your class then it must be initialized in all of them, otherwise compile time error will be thrown.</a:t>
            </a:r>
          </a:p>
          <a:p>
            <a:pPr algn="just"/>
            <a:r>
              <a:rPr lang="en-US" dirty="0">
                <a:latin typeface="Corbel" panose="020B0503020204020204" pitchFamily="34" charset="0"/>
              </a:rPr>
              <a:t>A blank final static variable can be initialized inside static block.</a:t>
            </a:r>
          </a:p>
        </p:txBody>
      </p:sp>
      <p:pic>
        <p:nvPicPr>
          <p:cNvPr id="3" name="Picture 2"/>
          <p:cNvPicPr>
            <a:picLocks noChangeAspect="1"/>
          </p:cNvPicPr>
          <p:nvPr/>
        </p:nvPicPr>
        <p:blipFill>
          <a:blip r:embed="rId3"/>
          <a:stretch>
            <a:fillRect/>
          </a:stretch>
        </p:blipFill>
        <p:spPr>
          <a:xfrm>
            <a:off x="6941574" y="1350456"/>
            <a:ext cx="5123755" cy="5464851"/>
          </a:xfrm>
          <a:prstGeom prst="rect">
            <a:avLst/>
          </a:prstGeom>
        </p:spPr>
      </p:pic>
    </p:spTree>
    <p:extLst>
      <p:ext uri="{BB962C8B-B14F-4D97-AF65-F5344CB8AC3E}">
        <p14:creationId xmlns:p14="http://schemas.microsoft.com/office/powerpoint/2010/main" val="746875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Finally – Using final keyword</a:t>
            </a:r>
          </a:p>
        </p:txBody>
      </p:sp>
      <p:sp>
        <p:nvSpPr>
          <p:cNvPr id="5" name="Content Placeholder 4"/>
          <p:cNvSpPr>
            <a:spLocks noGrp="1"/>
          </p:cNvSpPr>
          <p:nvPr>
            <p:ph idx="1"/>
          </p:nvPr>
        </p:nvSpPr>
        <p:spPr>
          <a:xfrm>
            <a:off x="131122" y="1487979"/>
            <a:ext cx="11304816" cy="5072987"/>
          </a:xfrm>
        </p:spPr>
        <p:txBody>
          <a:bodyPr>
            <a:normAutofit/>
          </a:bodyPr>
          <a:lstStyle/>
          <a:p>
            <a:pPr algn="just"/>
            <a:r>
              <a:rPr lang="en-US" dirty="0">
                <a:latin typeface="Corbel" panose="020B0503020204020204" pitchFamily="34" charset="0"/>
              </a:rPr>
              <a:t>When to use a final variable :</a:t>
            </a:r>
          </a:p>
          <a:p>
            <a:pPr algn="just"/>
            <a:r>
              <a:rPr lang="en-US" dirty="0">
                <a:latin typeface="Corbel" panose="020B0503020204020204" pitchFamily="34" charset="0"/>
              </a:rPr>
              <a:t>The only difference between a normal variable and a final variable is that we can re-assign value to a normal variable but we cannot change the value of a final variable once assigned. Hence final variables must be used only for the values that we want to remain constant throughout the execution of program.</a:t>
            </a:r>
          </a:p>
          <a:p>
            <a:pPr algn="just"/>
            <a:r>
              <a:rPr lang="en-US" dirty="0">
                <a:latin typeface="Corbel" panose="020B0503020204020204" pitchFamily="34" charset="0"/>
              </a:rPr>
              <a:t>Reference final variable : </a:t>
            </a:r>
          </a:p>
          <a:p>
            <a:pPr algn="just"/>
            <a:r>
              <a:rPr lang="en-US" dirty="0">
                <a:latin typeface="Corbel" panose="020B0503020204020204" pitchFamily="34" charset="0"/>
              </a:rPr>
              <a:t>When a final variable is a reference to an object, then this final variable is called reference final variable. For example, a final </a:t>
            </a:r>
            <a:r>
              <a:rPr lang="en-US" dirty="0" err="1">
                <a:latin typeface="Corbel" panose="020B0503020204020204" pitchFamily="34" charset="0"/>
              </a:rPr>
              <a:t>StringBuffer</a:t>
            </a:r>
            <a:r>
              <a:rPr lang="en-US" dirty="0">
                <a:latin typeface="Corbel" panose="020B0503020204020204" pitchFamily="34" charset="0"/>
              </a:rPr>
              <a:t> variable looks like</a:t>
            </a:r>
          </a:p>
          <a:p>
            <a:pPr algn="just"/>
            <a:endParaRPr lang="en-US" dirty="0">
              <a:latin typeface="Corbel" panose="020B0503020204020204" pitchFamily="34" charset="0"/>
            </a:endParaRPr>
          </a:p>
          <a:p>
            <a:pPr algn="just"/>
            <a:r>
              <a:rPr lang="en-US" dirty="0"/>
              <a:t>As you know that a final variable cannot be re-assign. But in case of a reference final variable, internal state of the object pointed by that reference variable can be changed. Note that this is not re-assigning. This property of </a:t>
            </a:r>
            <a:r>
              <a:rPr lang="en-US" i="1" dirty="0"/>
              <a:t>final</a:t>
            </a:r>
            <a:r>
              <a:rPr lang="en-US" dirty="0"/>
              <a:t> is called </a:t>
            </a:r>
            <a:r>
              <a:rPr lang="en-US" i="1" dirty="0"/>
              <a:t>non-transitivity</a:t>
            </a:r>
            <a:r>
              <a:rPr lang="en-US" dirty="0"/>
              <a:t>.</a:t>
            </a:r>
            <a:endParaRPr lang="en-US" dirty="0">
              <a:latin typeface="Corbel" panose="020B0503020204020204" pitchFamily="34" charset="0"/>
            </a:endParaRPr>
          </a:p>
        </p:txBody>
      </p:sp>
      <p:pic>
        <p:nvPicPr>
          <p:cNvPr id="4" name="Picture 3"/>
          <p:cNvPicPr>
            <a:picLocks noChangeAspect="1"/>
          </p:cNvPicPr>
          <p:nvPr/>
        </p:nvPicPr>
        <p:blipFill>
          <a:blip r:embed="rId3"/>
          <a:stretch>
            <a:fillRect/>
          </a:stretch>
        </p:blipFill>
        <p:spPr>
          <a:xfrm>
            <a:off x="6003718" y="3976970"/>
            <a:ext cx="3029283" cy="701907"/>
          </a:xfrm>
          <a:prstGeom prst="rect">
            <a:avLst/>
          </a:prstGeom>
        </p:spPr>
      </p:pic>
    </p:spTree>
    <p:extLst>
      <p:ext uri="{BB962C8B-B14F-4D97-AF65-F5344CB8AC3E}">
        <p14:creationId xmlns:p14="http://schemas.microsoft.com/office/powerpoint/2010/main" val="360950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522" y="2971806"/>
            <a:ext cx="5082639" cy="505099"/>
          </a:xfrm>
        </p:spPr>
        <p:txBody>
          <a:bodyPr>
            <a:normAutofit fontScale="90000"/>
          </a:bodyPr>
          <a:lstStyle/>
          <a:p>
            <a:r>
              <a:rPr lang="en-US" dirty="0"/>
              <a:t>Abstract Classes</a:t>
            </a:r>
          </a:p>
        </p:txBody>
      </p:sp>
      <p:sp>
        <p:nvSpPr>
          <p:cNvPr id="3" name="Text Placeholder 2"/>
          <p:cNvSpPr>
            <a:spLocks noGrp="1"/>
          </p:cNvSpPr>
          <p:nvPr>
            <p:ph type="body" idx="1"/>
          </p:nvPr>
        </p:nvSpPr>
        <p:spPr>
          <a:xfrm>
            <a:off x="1104899" y="4655956"/>
            <a:ext cx="3752851" cy="509750"/>
          </a:xfrm>
        </p:spPr>
        <p:txBody>
          <a:bodyPr>
            <a:normAutofit/>
          </a:bodyPr>
          <a:lstStyle/>
          <a:p>
            <a:r>
              <a:rPr lang="en-US" dirty="0"/>
              <a:t>It’s Different</a:t>
            </a:r>
          </a:p>
        </p:txBody>
      </p:sp>
      <p:pic>
        <p:nvPicPr>
          <p:cNvPr id="4098" name="Picture 2" descr="Image result for abstract class in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2514" y="1408731"/>
            <a:ext cx="5829301" cy="2320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9796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Abstraction</a:t>
            </a:r>
          </a:p>
        </p:txBody>
      </p:sp>
      <p:sp>
        <p:nvSpPr>
          <p:cNvPr id="3" name="Content Placeholder 2"/>
          <p:cNvSpPr>
            <a:spLocks noGrp="1"/>
          </p:cNvSpPr>
          <p:nvPr>
            <p:ph idx="1"/>
          </p:nvPr>
        </p:nvSpPr>
        <p:spPr>
          <a:xfrm>
            <a:off x="133350" y="1343024"/>
            <a:ext cx="11825288" cy="5400675"/>
          </a:xfrm>
        </p:spPr>
        <p:txBody>
          <a:bodyPr>
            <a:normAutofit/>
          </a:bodyPr>
          <a:lstStyle/>
          <a:p>
            <a:pPr eaLnBrk="0" fontAlgn="base" hangingPunct="0">
              <a:lnSpc>
                <a:spcPct val="150000"/>
              </a:lnSpc>
              <a:spcBef>
                <a:spcPct val="0"/>
              </a:spcBef>
              <a:spcAft>
                <a:spcPct val="0"/>
              </a:spcAft>
            </a:pPr>
            <a:r>
              <a:rPr lang="en-US" altLang="en-US" dirty="0">
                <a:solidFill>
                  <a:srgbClr val="222426"/>
                </a:solidFill>
                <a:latin typeface="Corbel" panose="020B0503020204020204" pitchFamily="34" charset="0"/>
              </a:rPr>
              <a:t>One of the most fundamental concept of OOPs is </a:t>
            </a:r>
            <a:r>
              <a:rPr lang="en-US" altLang="en-US" b="1" dirty="0">
                <a:solidFill>
                  <a:srgbClr val="222426"/>
                </a:solidFill>
                <a:latin typeface="Corbel" panose="020B0503020204020204" pitchFamily="34" charset="0"/>
              </a:rPr>
              <a:t>Abstraction</a:t>
            </a:r>
            <a:r>
              <a:rPr lang="en-US" altLang="en-US" dirty="0">
                <a:solidFill>
                  <a:srgbClr val="222426"/>
                </a:solidFill>
                <a:latin typeface="Corbel" panose="020B0503020204020204" pitchFamily="34" charset="0"/>
              </a:rPr>
              <a:t>. </a:t>
            </a:r>
          </a:p>
          <a:p>
            <a:pPr eaLnBrk="0" fontAlgn="base" hangingPunct="0">
              <a:lnSpc>
                <a:spcPct val="150000"/>
              </a:lnSpc>
              <a:spcBef>
                <a:spcPct val="0"/>
              </a:spcBef>
              <a:spcAft>
                <a:spcPct val="0"/>
              </a:spcAft>
            </a:pPr>
            <a:r>
              <a:rPr lang="en-US" altLang="en-US" dirty="0">
                <a:solidFill>
                  <a:srgbClr val="222426"/>
                </a:solidFill>
                <a:latin typeface="Corbel" panose="020B0503020204020204" pitchFamily="34" charset="0"/>
              </a:rPr>
              <a:t>Abstraction is a process where you show only “</a:t>
            </a:r>
            <a:r>
              <a:rPr lang="en-US" altLang="en-US" b="1" dirty="0">
                <a:solidFill>
                  <a:srgbClr val="222426"/>
                </a:solidFill>
                <a:latin typeface="Corbel" panose="020B0503020204020204" pitchFamily="34" charset="0"/>
              </a:rPr>
              <a:t>relevant” data and “hide” unnecessary details </a:t>
            </a:r>
            <a:r>
              <a:rPr lang="en-US" altLang="en-US" dirty="0">
                <a:solidFill>
                  <a:srgbClr val="222426"/>
                </a:solidFill>
                <a:latin typeface="Corbel" panose="020B0503020204020204" pitchFamily="34" charset="0"/>
              </a:rPr>
              <a:t>of an object from the user. </a:t>
            </a:r>
          </a:p>
          <a:p>
            <a:pPr eaLnBrk="0" fontAlgn="base" hangingPunct="0">
              <a:lnSpc>
                <a:spcPct val="150000"/>
              </a:lnSpc>
              <a:spcBef>
                <a:spcPct val="0"/>
              </a:spcBef>
              <a:spcAft>
                <a:spcPct val="0"/>
              </a:spcAft>
            </a:pPr>
            <a:r>
              <a:rPr lang="en-US" altLang="en-US" dirty="0">
                <a:solidFill>
                  <a:srgbClr val="222426"/>
                </a:solidFill>
                <a:latin typeface="Corbel" panose="020B0503020204020204" pitchFamily="34" charset="0"/>
              </a:rPr>
              <a:t>For example, when you login to your Amazon account online, you enter your </a:t>
            </a:r>
            <a:r>
              <a:rPr lang="en-US" altLang="en-US" dirty="0" err="1">
                <a:solidFill>
                  <a:srgbClr val="222426"/>
                </a:solidFill>
                <a:latin typeface="Corbel" panose="020B0503020204020204" pitchFamily="34" charset="0"/>
              </a:rPr>
              <a:t>user_id</a:t>
            </a:r>
            <a:r>
              <a:rPr lang="en-US" altLang="en-US" dirty="0">
                <a:solidFill>
                  <a:srgbClr val="222426"/>
                </a:solidFill>
                <a:latin typeface="Corbel" panose="020B0503020204020204" pitchFamily="34" charset="0"/>
              </a:rPr>
              <a:t> and password and press login, what happens when you press login, how the input data sent to amazon server, how it gets verified is all abstracted away from the you.</a:t>
            </a:r>
          </a:p>
          <a:p>
            <a:pPr eaLnBrk="0" fontAlgn="base" hangingPunct="0">
              <a:lnSpc>
                <a:spcPct val="150000"/>
              </a:lnSpc>
              <a:spcBef>
                <a:spcPct val="0"/>
              </a:spcBef>
              <a:spcAft>
                <a:spcPct val="0"/>
              </a:spcAft>
            </a:pPr>
            <a:r>
              <a:rPr lang="en-US" dirty="0">
                <a:latin typeface="Corbel" panose="020B0503020204020204" pitchFamily="34" charset="0"/>
              </a:rPr>
              <a:t>Another example of abstraction: </a:t>
            </a:r>
          </a:p>
          <a:p>
            <a:pPr eaLnBrk="0" fontAlgn="base" hangingPunct="0">
              <a:lnSpc>
                <a:spcPct val="150000"/>
              </a:lnSpc>
              <a:spcBef>
                <a:spcPct val="0"/>
              </a:spcBef>
              <a:spcAft>
                <a:spcPct val="0"/>
              </a:spcAft>
            </a:pPr>
            <a:r>
              <a:rPr lang="en-US" b="1" dirty="0">
                <a:latin typeface="Corbel" panose="020B0503020204020204" pitchFamily="34" charset="0"/>
              </a:rPr>
              <a:t>A car in itself is a well-defined object</a:t>
            </a:r>
            <a:r>
              <a:rPr lang="en-US" dirty="0">
                <a:latin typeface="Corbel" panose="020B0503020204020204" pitchFamily="34" charset="0"/>
              </a:rPr>
              <a:t>, which is composed of several other </a:t>
            </a:r>
            <a:r>
              <a:rPr lang="en-US" b="1" dirty="0">
                <a:latin typeface="Corbel" panose="020B0503020204020204" pitchFamily="34" charset="0"/>
              </a:rPr>
              <a:t>smaller objects </a:t>
            </a:r>
            <a:r>
              <a:rPr lang="en-US" dirty="0">
                <a:latin typeface="Corbel" panose="020B0503020204020204" pitchFamily="34" charset="0"/>
              </a:rPr>
              <a:t>like a </a:t>
            </a:r>
            <a:r>
              <a:rPr lang="en-US" b="1" dirty="0">
                <a:latin typeface="Corbel" panose="020B0503020204020204" pitchFamily="34" charset="0"/>
              </a:rPr>
              <a:t>gearing system</a:t>
            </a:r>
            <a:r>
              <a:rPr lang="en-US" dirty="0">
                <a:latin typeface="Corbel" panose="020B0503020204020204" pitchFamily="34" charset="0"/>
              </a:rPr>
              <a:t>, </a:t>
            </a:r>
            <a:r>
              <a:rPr lang="en-US" b="1" dirty="0">
                <a:latin typeface="Corbel" panose="020B0503020204020204" pitchFamily="34" charset="0"/>
              </a:rPr>
              <a:t>steering mechanism</a:t>
            </a:r>
            <a:r>
              <a:rPr lang="en-US" dirty="0">
                <a:latin typeface="Corbel" panose="020B0503020204020204" pitchFamily="34" charset="0"/>
              </a:rPr>
              <a:t>, </a:t>
            </a:r>
            <a:r>
              <a:rPr lang="en-US" b="1" dirty="0">
                <a:latin typeface="Corbel" panose="020B0503020204020204" pitchFamily="34" charset="0"/>
              </a:rPr>
              <a:t>engine</a:t>
            </a:r>
            <a:r>
              <a:rPr lang="en-US" dirty="0">
                <a:latin typeface="Corbel" panose="020B0503020204020204" pitchFamily="34" charset="0"/>
              </a:rPr>
              <a:t>, which are again have their own subsystems. </a:t>
            </a:r>
          </a:p>
          <a:p>
            <a:pPr eaLnBrk="0" fontAlgn="base" hangingPunct="0">
              <a:lnSpc>
                <a:spcPct val="150000"/>
              </a:lnSpc>
              <a:spcBef>
                <a:spcPct val="0"/>
              </a:spcBef>
              <a:spcAft>
                <a:spcPct val="0"/>
              </a:spcAft>
            </a:pPr>
            <a:r>
              <a:rPr lang="en-US" dirty="0">
                <a:latin typeface="Corbel" panose="020B0503020204020204" pitchFamily="34" charset="0"/>
              </a:rPr>
              <a:t>But for humans car is a </a:t>
            </a:r>
            <a:r>
              <a:rPr lang="en-US" b="1" dirty="0">
                <a:latin typeface="Corbel" panose="020B0503020204020204" pitchFamily="34" charset="0"/>
              </a:rPr>
              <a:t>one single object</a:t>
            </a:r>
            <a:r>
              <a:rPr lang="en-US" dirty="0">
                <a:latin typeface="Corbel" panose="020B0503020204020204" pitchFamily="34" charset="0"/>
              </a:rPr>
              <a:t>, which can be managed by the help of its subsystems, even if their inner details are unknown.</a:t>
            </a:r>
            <a:endParaRPr lang="en-US" altLang="en-US" dirty="0">
              <a:latin typeface="Corbel" panose="020B0503020204020204" pitchFamily="34" charset="0"/>
            </a:endParaRP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929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Abstraction</a:t>
            </a:r>
          </a:p>
        </p:txBody>
      </p:sp>
      <p:pic>
        <p:nvPicPr>
          <p:cNvPr id="5" name="Content Placeholder 4">
            <a:extLst>
              <a:ext uri="{FF2B5EF4-FFF2-40B4-BE49-F238E27FC236}">
                <a16:creationId xmlns:a16="http://schemas.microsoft.com/office/drawing/2014/main" id="{0D3EAAD9-5746-403A-8E44-63C378302824}"/>
              </a:ext>
            </a:extLst>
          </p:cNvPr>
          <p:cNvPicPr>
            <a:picLocks noGrp="1" noChangeAspect="1"/>
          </p:cNvPicPr>
          <p:nvPr>
            <p:ph idx="1"/>
          </p:nvPr>
        </p:nvPicPr>
        <p:blipFill>
          <a:blip r:embed="rId2"/>
          <a:stretch>
            <a:fillRect/>
          </a:stretch>
        </p:blipFill>
        <p:spPr>
          <a:xfrm>
            <a:off x="2595083" y="1343025"/>
            <a:ext cx="6901821" cy="5400675"/>
          </a:xfrm>
          <a:prstGeom prst="rect">
            <a:avLst/>
          </a:prstGeom>
        </p:spPr>
      </p:pic>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83808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Classes</a:t>
            </a:r>
          </a:p>
        </p:txBody>
      </p:sp>
      <p:sp>
        <p:nvSpPr>
          <p:cNvPr id="5" name="Content Placeholder 4"/>
          <p:cNvSpPr>
            <a:spLocks noGrp="1"/>
          </p:cNvSpPr>
          <p:nvPr>
            <p:ph idx="1"/>
          </p:nvPr>
        </p:nvSpPr>
        <p:spPr>
          <a:xfrm>
            <a:off x="131122" y="1487979"/>
            <a:ext cx="6934696" cy="5072987"/>
          </a:xfrm>
        </p:spPr>
        <p:txBody>
          <a:bodyPr>
            <a:normAutofit fontScale="85000" lnSpcReduction="10000"/>
          </a:bodyPr>
          <a:lstStyle/>
          <a:p>
            <a:pPr algn="just"/>
            <a:r>
              <a:rPr lang="en-US" dirty="0">
                <a:latin typeface="Corbel" panose="020B0503020204020204" pitchFamily="34" charset="0"/>
              </a:rPr>
              <a:t>A class that is declared using “</a:t>
            </a:r>
            <a:r>
              <a:rPr lang="en-US" b="1" dirty="0">
                <a:latin typeface="Corbel" panose="020B0503020204020204" pitchFamily="34" charset="0"/>
              </a:rPr>
              <a:t>abstract</a:t>
            </a:r>
            <a:r>
              <a:rPr lang="en-US" dirty="0">
                <a:latin typeface="Corbel" panose="020B0503020204020204" pitchFamily="34" charset="0"/>
              </a:rPr>
              <a:t>” keyword is known as abstract class. </a:t>
            </a:r>
          </a:p>
          <a:p>
            <a:pPr algn="just"/>
            <a:r>
              <a:rPr lang="en-US" dirty="0">
                <a:latin typeface="Corbel" panose="020B0503020204020204" pitchFamily="34" charset="0"/>
              </a:rPr>
              <a:t>It can have abstract methods(methods without body) as well as concrete methods (regular methods with body). </a:t>
            </a:r>
          </a:p>
          <a:p>
            <a:pPr algn="just"/>
            <a:r>
              <a:rPr lang="en-US" dirty="0">
                <a:latin typeface="Corbel" panose="020B0503020204020204" pitchFamily="34" charset="0"/>
              </a:rPr>
              <a:t>A normal class(non-abstract class) cannot have abstract methods. </a:t>
            </a:r>
          </a:p>
          <a:p>
            <a:pPr algn="just"/>
            <a:r>
              <a:rPr lang="en-US" dirty="0">
                <a:latin typeface="Corbel" panose="020B0503020204020204" pitchFamily="34" charset="0"/>
              </a:rPr>
              <a:t>In this section we will learn what is a abstract class, why we use it and what are the rules that we must remember while working with it in Java.</a:t>
            </a:r>
          </a:p>
          <a:p>
            <a:pPr algn="just"/>
            <a:r>
              <a:rPr lang="en-US" dirty="0"/>
              <a:t>An abstract class can not be </a:t>
            </a:r>
            <a:r>
              <a:rPr lang="en-US" b="1" dirty="0"/>
              <a:t>instantiated</a:t>
            </a:r>
            <a:r>
              <a:rPr lang="en-US" dirty="0"/>
              <a:t>, which means you are not allowed to create an </a:t>
            </a:r>
            <a:r>
              <a:rPr lang="en-US" b="1" dirty="0"/>
              <a:t>object </a:t>
            </a:r>
            <a:r>
              <a:rPr lang="en-US" dirty="0"/>
              <a:t>of it. </a:t>
            </a:r>
          </a:p>
          <a:p>
            <a:pPr algn="just"/>
            <a:r>
              <a:rPr lang="en-US" dirty="0">
                <a:latin typeface="Corbel" panose="020B0503020204020204" pitchFamily="34" charset="0"/>
              </a:rPr>
              <a:t>The purpose of an abstract class is to leave the implementation of details to the deriving classes.</a:t>
            </a:r>
          </a:p>
          <a:p>
            <a:pPr algn="just"/>
            <a:r>
              <a:rPr lang="en-US" dirty="0">
                <a:latin typeface="Corbel" panose="020B0503020204020204" pitchFamily="34" charset="0"/>
              </a:rPr>
              <a:t>The above approach will provide more flexibility when the sub classes inherit base class.</a:t>
            </a:r>
            <a:r>
              <a:rPr lang="en-US" b="1" dirty="0"/>
              <a:t> </a:t>
            </a:r>
          </a:p>
          <a:p>
            <a:pPr algn="just"/>
            <a:r>
              <a:rPr lang="en-US" b="1" i="1" dirty="0">
                <a:latin typeface="Corbel" panose="020B0503020204020204" pitchFamily="34" charset="0"/>
              </a:rPr>
              <a:t>Do you know? Since abstract class allows concrete methods as well, it does not provide 100% abstraction. You can say that it provides partial abstraction</a:t>
            </a:r>
            <a:r>
              <a:rPr lang="en-US" b="1" i="1" dirty="0"/>
              <a:t>. </a:t>
            </a:r>
            <a:endParaRPr lang="en-US" b="1" i="1" dirty="0">
              <a:latin typeface="Corbel" panose="020B0503020204020204" pitchFamily="34" charset="0"/>
            </a:endParaRPr>
          </a:p>
        </p:txBody>
      </p:sp>
      <p:pic>
        <p:nvPicPr>
          <p:cNvPr id="3" name="Picture 2"/>
          <p:cNvPicPr>
            <a:picLocks noChangeAspect="1"/>
          </p:cNvPicPr>
          <p:nvPr/>
        </p:nvPicPr>
        <p:blipFill>
          <a:blip r:embed="rId3"/>
          <a:stretch>
            <a:fillRect/>
          </a:stretch>
        </p:blipFill>
        <p:spPr>
          <a:xfrm>
            <a:off x="7505390" y="1487979"/>
            <a:ext cx="4524314" cy="5147334"/>
          </a:xfrm>
          <a:prstGeom prst="rect">
            <a:avLst/>
          </a:prstGeom>
        </p:spPr>
      </p:pic>
    </p:spTree>
    <p:extLst>
      <p:ext uri="{BB962C8B-B14F-4D97-AF65-F5344CB8AC3E}">
        <p14:creationId xmlns:p14="http://schemas.microsoft.com/office/powerpoint/2010/main" val="3259054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Classes</a:t>
            </a:r>
          </a:p>
        </p:txBody>
      </p:sp>
      <p:sp>
        <p:nvSpPr>
          <p:cNvPr id="5" name="Content Placeholder 4"/>
          <p:cNvSpPr>
            <a:spLocks noGrp="1"/>
          </p:cNvSpPr>
          <p:nvPr>
            <p:ph idx="1"/>
          </p:nvPr>
        </p:nvSpPr>
        <p:spPr>
          <a:xfrm>
            <a:off x="131122" y="1487979"/>
            <a:ext cx="6934696" cy="5072987"/>
          </a:xfrm>
        </p:spPr>
        <p:txBody>
          <a:bodyPr>
            <a:normAutofit fontScale="92500" lnSpcReduction="20000"/>
          </a:bodyPr>
          <a:lstStyle/>
          <a:p>
            <a:pPr algn="just"/>
            <a:r>
              <a:rPr lang="en-US" b="1" u="sng" dirty="0">
                <a:latin typeface="Corbel" panose="020B0503020204020204" pitchFamily="34" charset="0"/>
              </a:rPr>
              <a:t>Note 1</a:t>
            </a:r>
            <a:r>
              <a:rPr lang="en-US" dirty="0">
                <a:latin typeface="Corbel" panose="020B0503020204020204" pitchFamily="34" charset="0"/>
              </a:rPr>
              <a:t>: As we seen in the above example, there are </a:t>
            </a:r>
            <a:r>
              <a:rPr lang="en-US" b="1" u="sng" dirty="0">
                <a:latin typeface="Corbel" panose="020B0503020204020204" pitchFamily="34" charset="0"/>
              </a:rPr>
              <a:t>cases </a:t>
            </a:r>
            <a:r>
              <a:rPr lang="en-US" dirty="0">
                <a:latin typeface="Corbel" panose="020B0503020204020204" pitchFamily="34" charset="0"/>
              </a:rPr>
              <a:t>when it is </a:t>
            </a:r>
            <a:r>
              <a:rPr lang="en-US" b="1" u="sng" dirty="0">
                <a:latin typeface="Corbel" panose="020B0503020204020204" pitchFamily="34" charset="0"/>
              </a:rPr>
              <a:t>difficult or often unnecessary to implement </a:t>
            </a:r>
            <a:r>
              <a:rPr lang="en-US" dirty="0">
                <a:latin typeface="Corbel" panose="020B0503020204020204" pitchFamily="34" charset="0"/>
              </a:rPr>
              <a:t>all the methods in </a:t>
            </a:r>
            <a:r>
              <a:rPr lang="en-US" b="1" u="sng" dirty="0">
                <a:latin typeface="Corbel" panose="020B0503020204020204" pitchFamily="34" charset="0"/>
              </a:rPr>
              <a:t>parent class</a:t>
            </a:r>
            <a:r>
              <a:rPr lang="en-US" dirty="0">
                <a:latin typeface="Corbel" panose="020B0503020204020204" pitchFamily="34" charset="0"/>
              </a:rPr>
              <a:t>. </a:t>
            </a:r>
          </a:p>
          <a:p>
            <a:pPr algn="just"/>
            <a:r>
              <a:rPr lang="en-US" dirty="0">
                <a:latin typeface="Corbel" panose="020B0503020204020204" pitchFamily="34" charset="0"/>
              </a:rPr>
              <a:t>In these cases, we </a:t>
            </a:r>
            <a:r>
              <a:rPr lang="en-US" b="1" u="sng" dirty="0">
                <a:latin typeface="Corbel" panose="020B0503020204020204" pitchFamily="34" charset="0"/>
              </a:rPr>
              <a:t>can declare the parent class as abstract</a:t>
            </a:r>
            <a:r>
              <a:rPr lang="en-US" dirty="0">
                <a:latin typeface="Corbel" panose="020B0503020204020204" pitchFamily="34" charset="0"/>
              </a:rPr>
              <a:t>, which makes it a </a:t>
            </a:r>
            <a:r>
              <a:rPr lang="en-US" b="1" u="sng" dirty="0">
                <a:latin typeface="Corbel" panose="020B0503020204020204" pitchFamily="34" charset="0"/>
              </a:rPr>
              <a:t>special class</a:t>
            </a:r>
            <a:r>
              <a:rPr lang="en-US" dirty="0">
                <a:latin typeface="Corbel" panose="020B0503020204020204" pitchFamily="34" charset="0"/>
              </a:rPr>
              <a:t> which is </a:t>
            </a:r>
            <a:r>
              <a:rPr lang="en-US" b="1" u="sng" dirty="0">
                <a:latin typeface="Corbel" panose="020B0503020204020204" pitchFamily="34" charset="0"/>
              </a:rPr>
              <a:t>not complete on its own</a:t>
            </a:r>
            <a:r>
              <a:rPr lang="en-US" dirty="0">
                <a:latin typeface="Corbel" panose="020B0503020204020204" pitchFamily="34" charset="0"/>
              </a:rPr>
              <a:t>.</a:t>
            </a:r>
          </a:p>
          <a:p>
            <a:pPr algn="just"/>
            <a:r>
              <a:rPr lang="en-US" dirty="0">
                <a:latin typeface="Corbel" panose="020B0503020204020204" pitchFamily="34" charset="0"/>
              </a:rPr>
              <a:t>A </a:t>
            </a:r>
            <a:r>
              <a:rPr lang="en-US" b="1" u="sng" dirty="0">
                <a:latin typeface="Corbel" panose="020B0503020204020204" pitchFamily="34" charset="0"/>
              </a:rPr>
              <a:t>class derived from the abstract class </a:t>
            </a:r>
            <a:r>
              <a:rPr lang="en-US" dirty="0">
                <a:latin typeface="Corbel" panose="020B0503020204020204" pitchFamily="34" charset="0"/>
              </a:rPr>
              <a:t>must </a:t>
            </a:r>
            <a:r>
              <a:rPr lang="en-US" b="1" u="sng" dirty="0">
                <a:latin typeface="Corbel" panose="020B0503020204020204" pitchFamily="34" charset="0"/>
              </a:rPr>
              <a:t>implement all those methods </a:t>
            </a:r>
            <a:r>
              <a:rPr lang="en-US" dirty="0">
                <a:latin typeface="Corbel" panose="020B0503020204020204" pitchFamily="34" charset="0"/>
              </a:rPr>
              <a:t>that are declared as abstract in the parent class.</a:t>
            </a:r>
          </a:p>
          <a:p>
            <a:pPr algn="just"/>
            <a:r>
              <a:rPr lang="en-US" b="1" u="sng" dirty="0">
                <a:latin typeface="Corbel" panose="020B0503020204020204" pitchFamily="34" charset="0"/>
              </a:rPr>
              <a:t>Note 2</a:t>
            </a:r>
            <a:r>
              <a:rPr lang="en-US" dirty="0">
                <a:latin typeface="Corbel" panose="020B0503020204020204" pitchFamily="34" charset="0"/>
              </a:rPr>
              <a:t>: </a:t>
            </a:r>
            <a:r>
              <a:rPr lang="en-US" b="1" u="sng" dirty="0">
                <a:latin typeface="Corbel" panose="020B0503020204020204" pitchFamily="34" charset="0"/>
              </a:rPr>
              <a:t>Abstract class</a:t>
            </a:r>
            <a:r>
              <a:rPr lang="en-US" dirty="0">
                <a:latin typeface="Corbel" panose="020B0503020204020204" pitchFamily="34" charset="0"/>
              </a:rPr>
              <a:t> cannot be </a:t>
            </a:r>
            <a:r>
              <a:rPr lang="en-US" b="1" u="sng" dirty="0">
                <a:latin typeface="Corbel" panose="020B0503020204020204" pitchFamily="34" charset="0"/>
              </a:rPr>
              <a:t>instantiated </a:t>
            </a:r>
            <a:r>
              <a:rPr lang="en-US" dirty="0">
                <a:latin typeface="Corbel" panose="020B0503020204020204" pitchFamily="34" charset="0"/>
              </a:rPr>
              <a:t>which means you cannot </a:t>
            </a:r>
            <a:r>
              <a:rPr lang="en-US" b="1" u="sng" dirty="0">
                <a:latin typeface="Corbel" panose="020B0503020204020204" pitchFamily="34" charset="0"/>
              </a:rPr>
              <a:t>create the object of it</a:t>
            </a:r>
            <a:r>
              <a:rPr lang="en-US" dirty="0">
                <a:latin typeface="Corbel" panose="020B0503020204020204" pitchFamily="34" charset="0"/>
              </a:rPr>
              <a:t>. </a:t>
            </a:r>
          </a:p>
          <a:p>
            <a:pPr algn="just"/>
            <a:r>
              <a:rPr lang="en-US" dirty="0">
                <a:latin typeface="Corbel" panose="020B0503020204020204" pitchFamily="34" charset="0"/>
              </a:rPr>
              <a:t>To </a:t>
            </a:r>
            <a:r>
              <a:rPr lang="en-US" b="1" u="sng" dirty="0">
                <a:latin typeface="Corbel" panose="020B0503020204020204" pitchFamily="34" charset="0"/>
              </a:rPr>
              <a:t>use this class</a:t>
            </a:r>
            <a:r>
              <a:rPr lang="en-US" dirty="0">
                <a:latin typeface="Corbel" panose="020B0503020204020204" pitchFamily="34" charset="0"/>
              </a:rPr>
              <a:t>, you need to </a:t>
            </a:r>
            <a:r>
              <a:rPr lang="en-US" b="1" u="sng" dirty="0">
                <a:latin typeface="Corbel" panose="020B0503020204020204" pitchFamily="34" charset="0"/>
              </a:rPr>
              <a:t>create another class </a:t>
            </a:r>
            <a:r>
              <a:rPr lang="en-US" dirty="0">
                <a:latin typeface="Corbel" panose="020B0503020204020204" pitchFamily="34" charset="0"/>
              </a:rPr>
              <a:t>that </a:t>
            </a:r>
            <a:r>
              <a:rPr lang="en-US" b="1" u="sng" dirty="0">
                <a:latin typeface="Corbel" panose="020B0503020204020204" pitchFamily="34" charset="0"/>
              </a:rPr>
              <a:t>extends this </a:t>
            </a:r>
            <a:r>
              <a:rPr lang="en-US" dirty="0">
                <a:latin typeface="Corbel" panose="020B0503020204020204" pitchFamily="34" charset="0"/>
              </a:rPr>
              <a:t>this class and provides the </a:t>
            </a:r>
            <a:r>
              <a:rPr lang="en-US" b="1" u="sng" dirty="0">
                <a:latin typeface="Corbel" panose="020B0503020204020204" pitchFamily="34" charset="0"/>
              </a:rPr>
              <a:t>implementation of abstract methods</a:t>
            </a:r>
            <a:r>
              <a:rPr lang="en-US" dirty="0">
                <a:latin typeface="Corbel" panose="020B0503020204020204" pitchFamily="34" charset="0"/>
              </a:rPr>
              <a:t>, then you can use the object of that child class to call non-abstract methods of parent class as well as implemented methods(those that were abstract in parent but implemented in child class).</a:t>
            </a:r>
          </a:p>
          <a:p>
            <a:pPr algn="just"/>
            <a:r>
              <a:rPr lang="en-US" b="1" u="sng" dirty="0">
                <a:latin typeface="Corbel" panose="020B0503020204020204" pitchFamily="34" charset="0"/>
              </a:rPr>
              <a:t>Note 3</a:t>
            </a:r>
            <a:r>
              <a:rPr lang="en-US" dirty="0">
                <a:latin typeface="Corbel" panose="020B0503020204020204" pitchFamily="34" charset="0"/>
              </a:rPr>
              <a:t>: If a </a:t>
            </a:r>
            <a:r>
              <a:rPr lang="en-US" b="1" u="sng" dirty="0">
                <a:latin typeface="Corbel" panose="020B0503020204020204" pitchFamily="34" charset="0"/>
              </a:rPr>
              <a:t>child </a:t>
            </a:r>
            <a:r>
              <a:rPr lang="en-US" dirty="0">
                <a:latin typeface="Corbel" panose="020B0503020204020204" pitchFamily="34" charset="0"/>
              </a:rPr>
              <a:t>does </a:t>
            </a:r>
            <a:r>
              <a:rPr lang="en-US" b="1" u="sng" dirty="0">
                <a:latin typeface="Corbel" panose="020B0503020204020204" pitchFamily="34" charset="0"/>
              </a:rPr>
              <a:t>not implement</a:t>
            </a:r>
            <a:r>
              <a:rPr lang="en-US" dirty="0">
                <a:latin typeface="Corbel" panose="020B0503020204020204" pitchFamily="34" charset="0"/>
              </a:rPr>
              <a:t> all the </a:t>
            </a:r>
            <a:r>
              <a:rPr lang="en-US" b="1" u="sng" dirty="0">
                <a:latin typeface="Corbel" panose="020B0503020204020204" pitchFamily="34" charset="0"/>
              </a:rPr>
              <a:t>abstract methods</a:t>
            </a:r>
            <a:r>
              <a:rPr lang="en-US" dirty="0">
                <a:latin typeface="Corbel" panose="020B0503020204020204" pitchFamily="34" charset="0"/>
              </a:rPr>
              <a:t> of abstract parent class, then the </a:t>
            </a:r>
            <a:r>
              <a:rPr lang="en-US" b="1" u="sng" dirty="0">
                <a:latin typeface="Corbel" panose="020B0503020204020204" pitchFamily="34" charset="0"/>
              </a:rPr>
              <a:t>child class </a:t>
            </a:r>
            <a:r>
              <a:rPr lang="en-US" dirty="0">
                <a:latin typeface="Corbel" panose="020B0503020204020204" pitchFamily="34" charset="0"/>
              </a:rPr>
              <a:t>must need to be </a:t>
            </a:r>
            <a:r>
              <a:rPr lang="en-US" b="1" u="sng" dirty="0">
                <a:latin typeface="Corbel" panose="020B0503020204020204" pitchFamily="34" charset="0"/>
              </a:rPr>
              <a:t>declared abstract </a:t>
            </a:r>
            <a:r>
              <a:rPr lang="en-US" dirty="0">
                <a:latin typeface="Corbel" panose="020B0503020204020204" pitchFamily="34" charset="0"/>
              </a:rPr>
              <a:t>as well.</a:t>
            </a:r>
          </a:p>
        </p:txBody>
      </p:sp>
      <p:pic>
        <p:nvPicPr>
          <p:cNvPr id="3" name="Picture 2"/>
          <p:cNvPicPr>
            <a:picLocks noChangeAspect="1"/>
          </p:cNvPicPr>
          <p:nvPr/>
        </p:nvPicPr>
        <p:blipFill>
          <a:blip r:embed="rId3"/>
          <a:stretch>
            <a:fillRect/>
          </a:stretch>
        </p:blipFill>
        <p:spPr>
          <a:xfrm>
            <a:off x="7505390" y="1487979"/>
            <a:ext cx="4524314" cy="5147334"/>
          </a:xfrm>
          <a:prstGeom prst="rect">
            <a:avLst/>
          </a:prstGeom>
        </p:spPr>
      </p:pic>
    </p:spTree>
    <p:extLst>
      <p:ext uri="{BB962C8B-B14F-4D97-AF65-F5344CB8AC3E}">
        <p14:creationId xmlns:p14="http://schemas.microsoft.com/office/powerpoint/2010/main" val="158154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Questions ?</a:t>
            </a:r>
          </a:p>
        </p:txBody>
      </p:sp>
      <p:sp>
        <p:nvSpPr>
          <p:cNvPr id="3" name="Subtitle 2"/>
          <p:cNvSpPr>
            <a:spLocks noGrp="1"/>
          </p:cNvSpPr>
          <p:nvPr>
            <p:ph type="subTitle" idx="1"/>
          </p:nvPr>
        </p:nvSpPr>
        <p:spPr/>
        <p:txBody>
          <a:bodyPr/>
          <a:lstStyle/>
          <a:p>
            <a:r>
              <a:rPr lang="en-US" dirty="0"/>
              <a:t>You can contact me @</a:t>
            </a:r>
          </a:p>
          <a:p>
            <a:r>
              <a:rPr lang="en-US" dirty="0">
                <a:hlinkClick r:id="rId2"/>
              </a:rPr>
              <a:t>avadekkedhil@wilp.bits-pilani.ac.in</a:t>
            </a:r>
            <a:endParaRPr lang="en-US" dirty="0"/>
          </a:p>
          <a:p>
            <a:r>
              <a:rPr lang="en-US" dirty="0"/>
              <a:t>9881300394</a:t>
            </a:r>
          </a:p>
        </p:txBody>
      </p:sp>
      <p:pic>
        <p:nvPicPr>
          <p:cNvPr id="5" name="Picture Placeholder 4"/>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4527" r="14527"/>
          <a:stretch>
            <a:fillRect/>
          </a:stretch>
        </p:blipFill>
        <p:spPr/>
      </p:pic>
    </p:spTree>
    <p:extLst>
      <p:ext uri="{BB962C8B-B14F-4D97-AF65-F5344CB8AC3E}">
        <p14:creationId xmlns:p14="http://schemas.microsoft.com/office/powerpoint/2010/main" val="411076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 xsi:nil="tru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 xsi:nil="true"/>
    <LocLastLocAttemptVersionLookup xmlns="4873beb7-5857-4685-be1f-d57550cc96cc" xsi:nil="true"/>
    <PolicheckWords xmlns="4873beb7-5857-4685-be1f-d57550cc96cc" xsi:nil="true"/>
    <SubmitterId xmlns="4873beb7-5857-4685-be1f-d57550cc96cc" xsi:nil="true"/>
    <AcquiredFrom xmlns="4873beb7-5857-4685-be1f-d57550cc96cc" xsi:nil="true"/>
    <EditorialStatus xmlns="4873beb7-5857-4685-be1f-d57550cc96cc" xsi:nil="true"/>
    <Markets xmlns="4873beb7-5857-4685-be1f-d57550cc96cc"/>
    <OriginAsset xmlns="4873beb7-5857-4685-be1f-d57550cc96cc" xsi:nil="true"/>
    <AssetStart xmlns="4873beb7-5857-4685-be1f-d57550cc96cc" xsi:nil="true"/>
    <FriendlyTitle xmlns="4873beb7-5857-4685-be1f-d57550cc96cc" xsi:nil="true"/>
    <MarketSpecific xmlns="4873beb7-5857-4685-be1f-d57550cc96cc" xsi:nil="true"/>
    <TPNamespace xmlns="4873beb7-5857-4685-be1f-d57550cc96cc" xsi:nil="true"/>
    <PublishStatusLookup xmlns="4873beb7-5857-4685-be1f-d57550cc96cc"/>
    <APAuthor xmlns="4873beb7-5857-4685-be1f-d57550cc96cc">
      <UserInfo>
        <DisplayName/>
        <AccountId xsi:nil="true"/>
        <AccountType/>
      </UserInfo>
    </APAuthor>
    <TPCommandLine xmlns="4873beb7-5857-4685-be1f-d57550cc96cc" xsi:nil="true"/>
    <IntlLangReviewer xmlns="4873beb7-5857-4685-be1f-d57550cc96cc" xsi:nil="true"/>
    <OpenTemplate xmlns="4873beb7-5857-4685-be1f-d57550cc96cc" xsi:nil="tru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 xsi:nil="true"/>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 xsi:nil="true"/>
    <IntlLocPriority xmlns="4873beb7-5857-4685-be1f-d57550cc96cc" xsi:nil="true"/>
    <UAProjectedTotalWords xmlns="4873beb7-5857-4685-be1f-d57550cc96cc" xsi:nil="true"/>
    <AssetType xmlns="4873beb7-5857-4685-be1f-d57550cc96cc" xsi:nil="true"/>
    <MachineTranslated xmlns="4873beb7-5857-4685-be1f-d57550cc96cc" xsi:nil="true"/>
    <OutputCachingOn xmlns="4873beb7-5857-4685-be1f-d57550cc96cc" xsi:nil="true"/>
    <TemplateStatus xmlns="4873beb7-5857-4685-be1f-d57550cc96cc" xsi:nil="true"/>
    <IsSearchable xmlns="4873beb7-5857-4685-be1f-d57550cc96cc" xsi:nil="true"/>
    <ContentItem xmlns="4873beb7-5857-4685-be1f-d57550cc96cc" xsi:nil="true"/>
    <HandoffToMSDN xmlns="4873beb7-5857-4685-be1f-d57550cc96cc" xsi:nil="true"/>
    <ShowIn xmlns="4873beb7-5857-4685-be1f-d57550cc96cc" xsi:nil="true"/>
    <ThumbnailAssetId xmlns="4873beb7-5857-4685-be1f-d57550cc96cc" xsi:nil="true"/>
    <UALocComments xmlns="4873beb7-5857-4685-be1f-d57550cc96cc" xsi:nil="true"/>
    <UALocRecommendation xmlns="4873beb7-5857-4685-be1f-d57550cc96cc" xsi:nil="true"/>
    <LastModifiedDateTime xmlns="4873beb7-5857-4685-be1f-d57550cc96cc" xsi:nil="true"/>
    <LegacyData xmlns="4873beb7-5857-4685-be1f-d57550cc96cc" xsi:nil="true"/>
    <LocManualTestRequired xmlns="4873beb7-5857-4685-be1f-d57550cc96cc" xsi:nil="true"/>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 xsi:nil="true"/>
    <PlannedPubDate xmlns="4873beb7-5857-4685-be1f-d57550cc96cc" xsi:nil="true"/>
    <CSXSubmissionMarket xmlns="4873beb7-5857-4685-be1f-d57550cc96cc" xsi:nil="true"/>
    <Downloads xmlns="4873beb7-5857-4685-be1f-d57550cc96cc" xsi:nil="true"/>
    <ArtSampleDocs xmlns="4873beb7-5857-4685-be1f-d57550cc96cc" xsi:nil="true"/>
    <TrustLevel xmlns="4873beb7-5857-4685-be1f-d57550cc96cc" xsi:nil="true"/>
    <BlockPublish xmlns="4873beb7-5857-4685-be1f-d57550cc96cc" xsi:nil="true"/>
    <TPLaunchHelpLinkType xmlns="4873beb7-5857-4685-be1f-d57550cc96cc" xsi:nil="tru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 xsi:nil="tru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 xsi:nil="true"/>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 xsi:nil="true"/>
    <PublishTargets xmlns="4873beb7-5857-4685-be1f-d57550cc96cc" xsi:nil="true"/>
    <ApprovalLog xmlns="4873beb7-5857-4685-be1f-d57550cc96cc" xsi:nil="true"/>
    <BugNumber xmlns="4873beb7-5857-4685-be1f-d57550cc96cc" xsi:nil="true"/>
    <CrawlForDependencies xmlns="4873beb7-5857-4685-be1f-d57550cc96cc" xsi:nil="true"/>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 xsi:nil="tru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8CDDBB83-77C1-4099-A0AA-289882E745E2}">
  <ds:schemaRefs>
    <ds:schemaRef ds:uri="http://schemas.microsoft.com/office/2006/metadata/properties"/>
    <ds:schemaRef ds:uri="http://schemas.microsoft.com/office/infopath/2007/PartnerControls"/>
    <ds:schemaRef ds:uri="4873beb7-5857-4685-be1f-d57550cc96cc"/>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7016</TotalTime>
  <Words>3440</Words>
  <Application>Microsoft Office PowerPoint</Application>
  <PresentationFormat>Widescreen</PresentationFormat>
  <Paragraphs>228</Paragraphs>
  <Slides>35</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Corbel</vt:lpstr>
      <vt:lpstr>Euphemia</vt:lpstr>
      <vt:lpstr>Plantagenet Cherokee</vt:lpstr>
      <vt:lpstr>Wingdings</vt:lpstr>
      <vt:lpstr>Academic Literature 16x9</vt:lpstr>
      <vt:lpstr>Object Oriented Programming &amp; Design</vt:lpstr>
      <vt:lpstr>Agenda</vt:lpstr>
      <vt:lpstr>Inheritance</vt:lpstr>
      <vt:lpstr>Inheritance</vt:lpstr>
      <vt:lpstr>Inheritance</vt:lpstr>
      <vt:lpstr>Inheritance – When to Use it</vt:lpstr>
      <vt:lpstr>Inheritance</vt:lpstr>
      <vt:lpstr>Inheritance</vt:lpstr>
      <vt:lpstr>Inheritance – Remember the Access Modifiers</vt:lpstr>
      <vt:lpstr>Inheritance - Types</vt:lpstr>
      <vt:lpstr>Inheritance - Types</vt:lpstr>
      <vt:lpstr>Inheritance - Types</vt:lpstr>
      <vt:lpstr>Inheritance - Types</vt:lpstr>
      <vt:lpstr>Inheritance - Types</vt:lpstr>
      <vt:lpstr>Creating Sub Classes</vt:lpstr>
      <vt:lpstr>Sub Classes - Creation</vt:lpstr>
      <vt:lpstr>Sub Classes - Creation</vt:lpstr>
      <vt:lpstr>Sub Classes – Fields &amp; Methods Access</vt:lpstr>
      <vt:lpstr>Sub Classes – Hiding</vt:lpstr>
      <vt:lpstr>Sub Classes –Overriding</vt:lpstr>
      <vt:lpstr>Sub Classes –Overriding</vt:lpstr>
      <vt:lpstr>Sub Classes –Overriding</vt:lpstr>
      <vt:lpstr>Sub Classes –Why we use @Override annotation</vt:lpstr>
      <vt:lpstr>Sub Classes –Why we use @Override annotation</vt:lpstr>
      <vt:lpstr>Sub Classes – Using Super()</vt:lpstr>
      <vt:lpstr>FINAL</vt:lpstr>
      <vt:lpstr>Finally – Using final keyword</vt:lpstr>
      <vt:lpstr>Finally – Using final keyword</vt:lpstr>
      <vt:lpstr>Finally – Using final keyword</vt:lpstr>
      <vt:lpstr>Abstract Classes</vt:lpstr>
      <vt:lpstr>Abstraction</vt:lpstr>
      <vt:lpstr>Abstraction</vt:lpstr>
      <vt:lpstr>Abstract Classes</vt:lpstr>
      <vt:lpstr>Abstract Classes</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&amp; Design</dc:title>
  <dc:creator>Arun Vadekkedhil</dc:creator>
  <cp:lastModifiedBy>Arun Vadekkedhil</cp:lastModifiedBy>
  <cp:revision>218</cp:revision>
  <dcterms:created xsi:type="dcterms:W3CDTF">2017-10-13T04:49:25Z</dcterms:created>
  <dcterms:modified xsi:type="dcterms:W3CDTF">2019-11-23T11:07:10Z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