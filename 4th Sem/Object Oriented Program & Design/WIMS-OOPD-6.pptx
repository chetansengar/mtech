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8"/>
  </p:notesMasterIdLst>
  <p:handoutMasterIdLst>
    <p:handoutMasterId r:id="rId79"/>
  </p:handoutMasterIdLst>
  <p:sldIdLst>
    <p:sldId id="256" r:id="rId5"/>
    <p:sldId id="257" r:id="rId6"/>
    <p:sldId id="323" r:id="rId7"/>
    <p:sldId id="373" r:id="rId8"/>
    <p:sldId id="421" r:id="rId9"/>
    <p:sldId id="419" r:id="rId10"/>
    <p:sldId id="420" r:id="rId11"/>
    <p:sldId id="374" r:id="rId12"/>
    <p:sldId id="375" r:id="rId13"/>
    <p:sldId id="376" r:id="rId14"/>
    <p:sldId id="377" r:id="rId15"/>
    <p:sldId id="378" r:id="rId16"/>
    <p:sldId id="379" r:id="rId17"/>
    <p:sldId id="380" r:id="rId18"/>
    <p:sldId id="381" r:id="rId19"/>
    <p:sldId id="382" r:id="rId20"/>
    <p:sldId id="383" r:id="rId21"/>
    <p:sldId id="384" r:id="rId22"/>
    <p:sldId id="385" r:id="rId23"/>
    <p:sldId id="386" r:id="rId24"/>
    <p:sldId id="387" r:id="rId25"/>
    <p:sldId id="388" r:id="rId26"/>
    <p:sldId id="389" r:id="rId27"/>
    <p:sldId id="390" r:id="rId28"/>
    <p:sldId id="391" r:id="rId29"/>
    <p:sldId id="392" r:id="rId30"/>
    <p:sldId id="393" r:id="rId31"/>
    <p:sldId id="422" r:id="rId32"/>
    <p:sldId id="438" r:id="rId33"/>
    <p:sldId id="424" r:id="rId34"/>
    <p:sldId id="431" r:id="rId35"/>
    <p:sldId id="432" r:id="rId36"/>
    <p:sldId id="425" r:id="rId37"/>
    <p:sldId id="433" r:id="rId38"/>
    <p:sldId id="434" r:id="rId39"/>
    <p:sldId id="427" r:id="rId40"/>
    <p:sldId id="429" r:id="rId41"/>
    <p:sldId id="430" r:id="rId42"/>
    <p:sldId id="423" r:id="rId43"/>
    <p:sldId id="394" r:id="rId44"/>
    <p:sldId id="395" r:id="rId45"/>
    <p:sldId id="396" r:id="rId46"/>
    <p:sldId id="397" r:id="rId47"/>
    <p:sldId id="440" r:id="rId48"/>
    <p:sldId id="398" r:id="rId49"/>
    <p:sldId id="399" r:id="rId50"/>
    <p:sldId id="400" r:id="rId51"/>
    <p:sldId id="401" r:id="rId52"/>
    <p:sldId id="402" r:id="rId53"/>
    <p:sldId id="439" r:id="rId54"/>
    <p:sldId id="403" r:id="rId55"/>
    <p:sldId id="404" r:id="rId56"/>
    <p:sldId id="405" r:id="rId57"/>
    <p:sldId id="406" r:id="rId58"/>
    <p:sldId id="407" r:id="rId59"/>
    <p:sldId id="435" r:id="rId60"/>
    <p:sldId id="408" r:id="rId61"/>
    <p:sldId id="409" r:id="rId62"/>
    <p:sldId id="436" r:id="rId63"/>
    <p:sldId id="437" r:id="rId64"/>
    <p:sldId id="410" r:id="rId65"/>
    <p:sldId id="411" r:id="rId66"/>
    <p:sldId id="412" r:id="rId67"/>
    <p:sldId id="413" r:id="rId68"/>
    <p:sldId id="414" r:id="rId69"/>
    <p:sldId id="441" r:id="rId70"/>
    <p:sldId id="442" r:id="rId71"/>
    <p:sldId id="443" r:id="rId72"/>
    <p:sldId id="444" r:id="rId73"/>
    <p:sldId id="415" r:id="rId74"/>
    <p:sldId id="416" r:id="rId75"/>
    <p:sldId id="417" r:id="rId76"/>
    <p:sldId id="296"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657" autoAdjust="0"/>
  </p:normalViewPr>
  <p:slideViewPr>
    <p:cSldViewPr snapToGrid="0" showGuides="1">
      <p:cViewPr varScale="1">
        <p:scale>
          <a:sx n="77" d="100"/>
          <a:sy n="77" d="100"/>
        </p:scale>
        <p:origin x="835" y="7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microsoft.com/office/2016/11/relationships/changesInfo" Target="changesInfos/changesInfo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un Vadekkedhil" userId="42e6ed11-22d2-49de-94d6-fd78e15c9969" providerId="ADAL" clId="{FDEF5AA5-D6AB-4600-A4A7-4D9946DECAA0}"/>
    <pc:docChg chg="undo redo custSel addSld delSld modSld sldOrd">
      <pc:chgData name="Arun Vadekkedhil" userId="42e6ed11-22d2-49de-94d6-fd78e15c9969" providerId="ADAL" clId="{FDEF5AA5-D6AB-4600-A4A7-4D9946DECAA0}" dt="2018-12-16T02:17:19.225" v="989" actId="20577"/>
      <pc:docMkLst>
        <pc:docMk/>
      </pc:docMkLst>
      <pc:sldChg chg="modSp">
        <pc:chgData name="Arun Vadekkedhil" userId="42e6ed11-22d2-49de-94d6-fd78e15c9969" providerId="ADAL" clId="{FDEF5AA5-D6AB-4600-A4A7-4D9946DECAA0}" dt="2018-12-01T03:49:20.987" v="144" actId="313"/>
        <pc:sldMkLst>
          <pc:docMk/>
          <pc:sldMk cId="1654255301" sldId="257"/>
        </pc:sldMkLst>
        <pc:spChg chg="mod">
          <ac:chgData name="Arun Vadekkedhil" userId="42e6ed11-22d2-49de-94d6-fd78e15c9969" providerId="ADAL" clId="{FDEF5AA5-D6AB-4600-A4A7-4D9946DECAA0}" dt="2018-12-01T03:49:20.987" v="144" actId="313"/>
          <ac:spMkLst>
            <pc:docMk/>
            <pc:sldMk cId="1654255301" sldId="257"/>
            <ac:spMk id="14" creationId="{00000000-0000-0000-0000-000000000000}"/>
          </ac:spMkLst>
        </pc:spChg>
      </pc:sldChg>
      <pc:sldChg chg="addSp delSp modSp">
        <pc:chgData name="Arun Vadekkedhil" userId="42e6ed11-22d2-49de-94d6-fd78e15c9969" providerId="ADAL" clId="{FDEF5AA5-D6AB-4600-A4A7-4D9946DECAA0}" dt="2018-12-01T03:43:12.655" v="59" actId="1076"/>
        <pc:sldMkLst>
          <pc:docMk/>
          <pc:sldMk cId="1936288470" sldId="323"/>
        </pc:sldMkLst>
        <pc:spChg chg="mod">
          <ac:chgData name="Arun Vadekkedhil" userId="42e6ed11-22d2-49de-94d6-fd78e15c9969" providerId="ADAL" clId="{FDEF5AA5-D6AB-4600-A4A7-4D9946DECAA0}" dt="2018-12-01T03:41:42.799" v="33" actId="20577"/>
          <ac:spMkLst>
            <pc:docMk/>
            <pc:sldMk cId="1936288470" sldId="323"/>
            <ac:spMk id="2" creationId="{00000000-0000-0000-0000-000000000000}"/>
          </ac:spMkLst>
        </pc:spChg>
        <pc:spChg chg="mod">
          <ac:chgData name="Arun Vadekkedhil" userId="42e6ed11-22d2-49de-94d6-fd78e15c9969" providerId="ADAL" clId="{FDEF5AA5-D6AB-4600-A4A7-4D9946DECAA0}" dt="2018-12-01T03:41:53.357" v="51" actId="20577"/>
          <ac:spMkLst>
            <pc:docMk/>
            <pc:sldMk cId="1936288470" sldId="323"/>
            <ac:spMk id="3" creationId="{00000000-0000-0000-0000-000000000000}"/>
          </ac:spMkLst>
        </pc:spChg>
        <pc:picChg chg="add mod">
          <ac:chgData name="Arun Vadekkedhil" userId="42e6ed11-22d2-49de-94d6-fd78e15c9969" providerId="ADAL" clId="{FDEF5AA5-D6AB-4600-A4A7-4D9946DECAA0}" dt="2018-12-01T03:43:12.655" v="59" actId="1076"/>
          <ac:picMkLst>
            <pc:docMk/>
            <pc:sldMk cId="1936288470" sldId="323"/>
            <ac:picMk id="5" creationId="{1261DC42-1528-4A9B-BBBE-EE64A66906CE}"/>
          </ac:picMkLst>
        </pc:picChg>
        <pc:picChg chg="del">
          <ac:chgData name="Arun Vadekkedhil" userId="42e6ed11-22d2-49de-94d6-fd78e15c9969" providerId="ADAL" clId="{FDEF5AA5-D6AB-4600-A4A7-4D9946DECAA0}" dt="2018-12-01T03:41:59.075" v="52" actId="478"/>
          <ac:picMkLst>
            <pc:docMk/>
            <pc:sldMk cId="1936288470" sldId="323"/>
            <ac:picMk id="7" creationId="{00000000-0000-0000-0000-000000000000}"/>
          </ac:picMkLst>
        </pc:picChg>
      </pc:sldChg>
      <pc:sldChg chg="addSp delSp modSp add del ord">
        <pc:chgData name="Arun Vadekkedhil" userId="42e6ed11-22d2-49de-94d6-fd78e15c9969" providerId="ADAL" clId="{FDEF5AA5-D6AB-4600-A4A7-4D9946DECAA0}" dt="2018-12-01T03:49:04.897" v="143" actId="20577"/>
        <pc:sldMkLst>
          <pc:docMk/>
          <pc:sldMk cId="3464147230" sldId="373"/>
        </pc:sldMkLst>
        <pc:spChg chg="mod">
          <ac:chgData name="Arun Vadekkedhil" userId="42e6ed11-22d2-49de-94d6-fd78e15c9969" providerId="ADAL" clId="{FDEF5AA5-D6AB-4600-A4A7-4D9946DECAA0}" dt="2018-12-01T03:49:04.897" v="143" actId="20577"/>
          <ac:spMkLst>
            <pc:docMk/>
            <pc:sldMk cId="3464147230" sldId="373"/>
            <ac:spMk id="2" creationId="{00000000-0000-0000-0000-000000000000}"/>
          </ac:spMkLst>
        </pc:spChg>
        <pc:spChg chg="mod">
          <ac:chgData name="Arun Vadekkedhil" userId="42e6ed11-22d2-49de-94d6-fd78e15c9969" providerId="ADAL" clId="{FDEF5AA5-D6AB-4600-A4A7-4D9946DECAA0}" dt="2018-12-01T03:45:03.472" v="99" actId="20577"/>
          <ac:spMkLst>
            <pc:docMk/>
            <pc:sldMk cId="3464147230" sldId="373"/>
            <ac:spMk id="3" creationId="{00000000-0000-0000-0000-000000000000}"/>
          </ac:spMkLst>
        </pc:spChg>
        <pc:graphicFrameChg chg="add del">
          <ac:chgData name="Arun Vadekkedhil" userId="42e6ed11-22d2-49de-94d6-fd78e15c9969" providerId="ADAL" clId="{FDEF5AA5-D6AB-4600-A4A7-4D9946DECAA0}" dt="2018-12-01T03:44:11.477" v="81"/>
          <ac:graphicFrameMkLst>
            <pc:docMk/>
            <pc:sldMk cId="3464147230" sldId="373"/>
            <ac:graphicFrameMk id="4" creationId="{B905DE22-01F3-450E-B208-C64B2597591F}"/>
          </ac:graphicFrameMkLst>
        </pc:graphicFrameChg>
      </pc:sldChg>
      <pc:sldChg chg="modSp">
        <pc:chgData name="Arun Vadekkedhil" userId="42e6ed11-22d2-49de-94d6-fd78e15c9969" providerId="ADAL" clId="{FDEF5AA5-D6AB-4600-A4A7-4D9946DECAA0}" dt="2018-12-14T14:20:31.159" v="208" actId="20577"/>
        <pc:sldMkLst>
          <pc:docMk/>
          <pc:sldMk cId="12155834" sldId="394"/>
        </pc:sldMkLst>
        <pc:spChg chg="mod">
          <ac:chgData name="Arun Vadekkedhil" userId="42e6ed11-22d2-49de-94d6-fd78e15c9969" providerId="ADAL" clId="{FDEF5AA5-D6AB-4600-A4A7-4D9946DECAA0}" dt="2018-12-14T14:20:31.159" v="208" actId="20577"/>
          <ac:spMkLst>
            <pc:docMk/>
            <pc:sldMk cId="12155834" sldId="394"/>
            <ac:spMk id="5123" creationId="{00000000-0000-0000-0000-000000000000}"/>
          </ac:spMkLst>
        </pc:spChg>
      </pc:sldChg>
      <pc:sldChg chg="addSp delSp modSp">
        <pc:chgData name="Arun Vadekkedhil" userId="42e6ed11-22d2-49de-94d6-fd78e15c9969" providerId="ADAL" clId="{FDEF5AA5-D6AB-4600-A4A7-4D9946DECAA0}" dt="2018-12-16T01:54:42.427" v="854" actId="6549"/>
        <pc:sldMkLst>
          <pc:docMk/>
          <pc:sldMk cId="2968178159" sldId="395"/>
        </pc:sldMkLst>
        <pc:spChg chg="add del mod">
          <ac:chgData name="Arun Vadekkedhil" userId="42e6ed11-22d2-49de-94d6-fd78e15c9969" providerId="ADAL" clId="{FDEF5AA5-D6AB-4600-A4A7-4D9946DECAA0}" dt="2018-12-15T04:33:59.364" v="554" actId="478"/>
          <ac:spMkLst>
            <pc:docMk/>
            <pc:sldMk cId="2968178159" sldId="395"/>
            <ac:spMk id="4" creationId="{BDE053CE-5953-4618-A647-5048FC9424F8}"/>
          </ac:spMkLst>
        </pc:spChg>
        <pc:spChg chg="mod">
          <ac:chgData name="Arun Vadekkedhil" userId="42e6ed11-22d2-49de-94d6-fd78e15c9969" providerId="ADAL" clId="{FDEF5AA5-D6AB-4600-A4A7-4D9946DECAA0}" dt="2018-12-16T01:54:42.427" v="854" actId="6549"/>
          <ac:spMkLst>
            <pc:docMk/>
            <pc:sldMk cId="2968178159" sldId="395"/>
            <ac:spMk id="5123" creationId="{00000000-0000-0000-0000-000000000000}"/>
          </ac:spMkLst>
        </pc:spChg>
        <pc:picChg chg="del">
          <ac:chgData name="Arun Vadekkedhil" userId="42e6ed11-22d2-49de-94d6-fd78e15c9969" providerId="ADAL" clId="{FDEF5AA5-D6AB-4600-A4A7-4D9946DECAA0}" dt="2018-12-15T04:33:12.783" v="545" actId="478"/>
          <ac:picMkLst>
            <pc:docMk/>
            <pc:sldMk cId="2968178159" sldId="395"/>
            <ac:picMk id="2" creationId="{00000000-0000-0000-0000-000000000000}"/>
          </ac:picMkLst>
        </pc:picChg>
        <pc:picChg chg="add mod">
          <ac:chgData name="Arun Vadekkedhil" userId="42e6ed11-22d2-49de-94d6-fd78e15c9969" providerId="ADAL" clId="{FDEF5AA5-D6AB-4600-A4A7-4D9946DECAA0}" dt="2018-12-15T04:33:15.562" v="547" actId="1076"/>
          <ac:picMkLst>
            <pc:docMk/>
            <pc:sldMk cId="2968178159" sldId="395"/>
            <ac:picMk id="3" creationId="{56CCBBE2-6155-49CC-AEAB-C19D0105F942}"/>
          </ac:picMkLst>
        </pc:picChg>
      </pc:sldChg>
      <pc:sldChg chg="modSp">
        <pc:chgData name="Arun Vadekkedhil" userId="42e6ed11-22d2-49de-94d6-fd78e15c9969" providerId="ADAL" clId="{FDEF5AA5-D6AB-4600-A4A7-4D9946DECAA0}" dt="2018-12-15T04:42:27.104" v="608" actId="20577"/>
        <pc:sldMkLst>
          <pc:docMk/>
          <pc:sldMk cId="2088504105" sldId="403"/>
        </pc:sldMkLst>
        <pc:spChg chg="mod">
          <ac:chgData name="Arun Vadekkedhil" userId="42e6ed11-22d2-49de-94d6-fd78e15c9969" providerId="ADAL" clId="{FDEF5AA5-D6AB-4600-A4A7-4D9946DECAA0}" dt="2018-12-15T04:42:27.104" v="608" actId="20577"/>
          <ac:spMkLst>
            <pc:docMk/>
            <pc:sldMk cId="2088504105" sldId="403"/>
            <ac:spMk id="3" creationId="{6FFC387C-23DA-4DB3-BCEA-8EE08B6782FC}"/>
          </ac:spMkLst>
        </pc:spChg>
      </pc:sldChg>
      <pc:sldChg chg="modSp">
        <pc:chgData name="Arun Vadekkedhil" userId="42e6ed11-22d2-49de-94d6-fd78e15c9969" providerId="ADAL" clId="{FDEF5AA5-D6AB-4600-A4A7-4D9946DECAA0}" dt="2018-12-15T04:59:55.704" v="651" actId="5793"/>
        <pc:sldMkLst>
          <pc:docMk/>
          <pc:sldMk cId="1264970943" sldId="409"/>
        </pc:sldMkLst>
        <pc:spChg chg="mod">
          <ac:chgData name="Arun Vadekkedhil" userId="42e6ed11-22d2-49de-94d6-fd78e15c9969" providerId="ADAL" clId="{FDEF5AA5-D6AB-4600-A4A7-4D9946DECAA0}" dt="2018-12-15T04:59:55.704" v="651" actId="5793"/>
          <ac:spMkLst>
            <pc:docMk/>
            <pc:sldMk cId="1264970943" sldId="409"/>
            <ac:spMk id="2" creationId="{00000000-0000-0000-0000-000000000000}"/>
          </ac:spMkLst>
        </pc:spChg>
      </pc:sldChg>
      <pc:sldChg chg="modSp">
        <pc:chgData name="Arun Vadekkedhil" userId="42e6ed11-22d2-49de-94d6-fd78e15c9969" providerId="ADAL" clId="{FDEF5AA5-D6AB-4600-A4A7-4D9946DECAA0}" dt="2018-12-15T05:25:20.104" v="789" actId="20577"/>
        <pc:sldMkLst>
          <pc:docMk/>
          <pc:sldMk cId="54616032" sldId="410"/>
        </pc:sldMkLst>
        <pc:spChg chg="mod">
          <ac:chgData name="Arun Vadekkedhil" userId="42e6ed11-22d2-49de-94d6-fd78e15c9969" providerId="ADAL" clId="{FDEF5AA5-D6AB-4600-A4A7-4D9946DECAA0}" dt="2018-12-15T05:25:20.104" v="789" actId="20577"/>
          <ac:spMkLst>
            <pc:docMk/>
            <pc:sldMk cId="54616032" sldId="410"/>
            <ac:spMk id="2" creationId="{00000000-0000-0000-0000-000000000000}"/>
          </ac:spMkLst>
        </pc:spChg>
      </pc:sldChg>
      <pc:sldChg chg="add">
        <pc:chgData name="Arun Vadekkedhil" userId="42e6ed11-22d2-49de-94d6-fd78e15c9969" providerId="ADAL" clId="{FDEF5AA5-D6AB-4600-A4A7-4D9946DECAA0}" dt="2018-12-01T03:41:23.162" v="23"/>
        <pc:sldMkLst>
          <pc:docMk/>
          <pc:sldMk cId="3947280644" sldId="419"/>
        </pc:sldMkLst>
      </pc:sldChg>
      <pc:sldChg chg="add">
        <pc:chgData name="Arun Vadekkedhil" userId="42e6ed11-22d2-49de-94d6-fd78e15c9969" providerId="ADAL" clId="{FDEF5AA5-D6AB-4600-A4A7-4D9946DECAA0}" dt="2018-12-01T03:43:42.632" v="62"/>
        <pc:sldMkLst>
          <pc:docMk/>
          <pc:sldMk cId="4147410115" sldId="420"/>
        </pc:sldMkLst>
      </pc:sldChg>
      <pc:sldChg chg="modSp add">
        <pc:chgData name="Arun Vadekkedhil" userId="42e6ed11-22d2-49de-94d6-fd78e15c9969" providerId="ADAL" clId="{FDEF5AA5-D6AB-4600-A4A7-4D9946DECAA0}" dt="2018-12-01T03:48:21.003" v="140" actId="113"/>
        <pc:sldMkLst>
          <pc:docMk/>
          <pc:sldMk cId="1367857223" sldId="421"/>
        </pc:sldMkLst>
        <pc:spChg chg="mod">
          <ac:chgData name="Arun Vadekkedhil" userId="42e6ed11-22d2-49de-94d6-fd78e15c9969" providerId="ADAL" clId="{FDEF5AA5-D6AB-4600-A4A7-4D9946DECAA0}" dt="2018-12-01T03:48:21.003" v="140" actId="113"/>
          <ac:spMkLst>
            <pc:docMk/>
            <pc:sldMk cId="1367857223" sldId="421"/>
            <ac:spMk id="2" creationId="{00000000-0000-0000-0000-000000000000}"/>
          </ac:spMkLst>
        </pc:spChg>
      </pc:sldChg>
      <pc:sldChg chg="addSp delSp modSp add">
        <pc:chgData name="Arun Vadekkedhil" userId="42e6ed11-22d2-49de-94d6-fd78e15c9969" providerId="ADAL" clId="{FDEF5AA5-D6AB-4600-A4A7-4D9946DECAA0}" dt="2018-12-15T02:16:42.456" v="228" actId="14100"/>
        <pc:sldMkLst>
          <pc:docMk/>
          <pc:sldMk cId="2852001757" sldId="422"/>
        </pc:sldMkLst>
        <pc:spChg chg="mod">
          <ac:chgData name="Arun Vadekkedhil" userId="42e6ed11-22d2-49de-94d6-fd78e15c9969" providerId="ADAL" clId="{FDEF5AA5-D6AB-4600-A4A7-4D9946DECAA0}" dt="2018-12-15T02:16:20.051" v="224" actId="20577"/>
          <ac:spMkLst>
            <pc:docMk/>
            <pc:sldMk cId="2852001757" sldId="422"/>
            <ac:spMk id="2" creationId="{00000000-0000-0000-0000-000000000000}"/>
          </ac:spMkLst>
        </pc:spChg>
        <pc:spChg chg="mod">
          <ac:chgData name="Arun Vadekkedhil" userId="42e6ed11-22d2-49de-94d6-fd78e15c9969" providerId="ADAL" clId="{FDEF5AA5-D6AB-4600-A4A7-4D9946DECAA0}" dt="2018-12-14T14:18:25.943" v="175" actId="20577"/>
          <ac:spMkLst>
            <pc:docMk/>
            <pc:sldMk cId="2852001757" sldId="422"/>
            <ac:spMk id="3" creationId="{00000000-0000-0000-0000-000000000000}"/>
          </ac:spMkLst>
        </pc:spChg>
        <pc:picChg chg="add del mod">
          <ac:chgData name="Arun Vadekkedhil" userId="42e6ed11-22d2-49de-94d6-fd78e15c9969" providerId="ADAL" clId="{FDEF5AA5-D6AB-4600-A4A7-4D9946DECAA0}" dt="2018-12-15T02:16:35.812" v="225" actId="478"/>
          <ac:picMkLst>
            <pc:docMk/>
            <pc:sldMk cId="2852001757" sldId="422"/>
            <ac:picMk id="5" creationId="{7F3A359C-7AAD-4245-A023-000EF024715E}"/>
          </ac:picMkLst>
        </pc:picChg>
        <pc:picChg chg="add mod">
          <ac:chgData name="Arun Vadekkedhil" userId="42e6ed11-22d2-49de-94d6-fd78e15c9969" providerId="ADAL" clId="{FDEF5AA5-D6AB-4600-A4A7-4D9946DECAA0}" dt="2018-12-15T02:16:42.456" v="228" actId="14100"/>
          <ac:picMkLst>
            <pc:docMk/>
            <pc:sldMk cId="2852001757" sldId="422"/>
            <ac:picMk id="7" creationId="{651271DE-16BC-48A1-9D2C-69672CD89C39}"/>
          </ac:picMkLst>
        </pc:picChg>
        <pc:picChg chg="del">
          <ac:chgData name="Arun Vadekkedhil" userId="42e6ed11-22d2-49de-94d6-fd78e15c9969" providerId="ADAL" clId="{FDEF5AA5-D6AB-4600-A4A7-4D9946DECAA0}" dt="2018-12-14T14:17:06.513" v="159" actId="478"/>
          <ac:picMkLst>
            <pc:docMk/>
            <pc:sldMk cId="2852001757" sldId="422"/>
            <ac:picMk id="1026" creationId="{00000000-0000-0000-0000-000000000000}"/>
          </ac:picMkLst>
        </pc:picChg>
      </pc:sldChg>
      <pc:sldChg chg="modSp add">
        <pc:chgData name="Arun Vadekkedhil" userId="42e6ed11-22d2-49de-94d6-fd78e15c9969" providerId="ADAL" clId="{FDEF5AA5-D6AB-4600-A4A7-4D9946DECAA0}" dt="2018-12-15T04:10:07.659" v="544" actId="14100"/>
        <pc:sldMkLst>
          <pc:docMk/>
          <pc:sldMk cId="3040400261" sldId="423"/>
        </pc:sldMkLst>
        <pc:spChg chg="mod">
          <ac:chgData name="Arun Vadekkedhil" userId="42e6ed11-22d2-49de-94d6-fd78e15c9969" providerId="ADAL" clId="{FDEF5AA5-D6AB-4600-A4A7-4D9946DECAA0}" dt="2018-12-15T04:10:07.659" v="544" actId="14100"/>
          <ac:spMkLst>
            <pc:docMk/>
            <pc:sldMk cId="3040400261" sldId="423"/>
            <ac:spMk id="3" creationId="{00000000-0000-0000-0000-000000000000}"/>
          </ac:spMkLst>
        </pc:spChg>
      </pc:sldChg>
      <pc:sldChg chg="addSp delSp modSp add ord">
        <pc:chgData name="Arun Vadekkedhil" userId="42e6ed11-22d2-49de-94d6-fd78e15c9969" providerId="ADAL" clId="{FDEF5AA5-D6AB-4600-A4A7-4D9946DECAA0}" dt="2018-12-15T02:50:38.336" v="334" actId="20577"/>
        <pc:sldMkLst>
          <pc:docMk/>
          <pc:sldMk cId="558680246" sldId="424"/>
        </pc:sldMkLst>
        <pc:spChg chg="add del mod">
          <ac:chgData name="Arun Vadekkedhil" userId="42e6ed11-22d2-49de-94d6-fd78e15c9969" providerId="ADAL" clId="{FDEF5AA5-D6AB-4600-A4A7-4D9946DECAA0}" dt="2018-12-15T02:24:20.801" v="279" actId="115"/>
          <ac:spMkLst>
            <pc:docMk/>
            <pc:sldMk cId="558680246" sldId="424"/>
            <ac:spMk id="2" creationId="{00000000-0000-0000-0000-000000000000}"/>
          </ac:spMkLst>
        </pc:spChg>
        <pc:spChg chg="mod">
          <ac:chgData name="Arun Vadekkedhil" userId="42e6ed11-22d2-49de-94d6-fd78e15c9969" providerId="ADAL" clId="{FDEF5AA5-D6AB-4600-A4A7-4D9946DECAA0}" dt="2018-12-15T02:50:38.336" v="334" actId="20577"/>
          <ac:spMkLst>
            <pc:docMk/>
            <pc:sldMk cId="558680246" sldId="424"/>
            <ac:spMk id="3" creationId="{00000000-0000-0000-0000-000000000000}"/>
          </ac:spMkLst>
        </pc:spChg>
        <pc:spChg chg="add del">
          <ac:chgData name="Arun Vadekkedhil" userId="42e6ed11-22d2-49de-94d6-fd78e15c9969" providerId="ADAL" clId="{FDEF5AA5-D6AB-4600-A4A7-4D9946DECAA0}" dt="2018-12-15T02:20:39.137" v="245"/>
          <ac:spMkLst>
            <pc:docMk/>
            <pc:sldMk cId="558680246" sldId="424"/>
            <ac:spMk id="6" creationId="{367F6F24-FE4A-45A2-A7FD-2837CD9D14F2}"/>
          </ac:spMkLst>
        </pc:spChg>
        <pc:picChg chg="add mod">
          <ac:chgData name="Arun Vadekkedhil" userId="42e6ed11-22d2-49de-94d6-fd78e15c9969" providerId="ADAL" clId="{FDEF5AA5-D6AB-4600-A4A7-4D9946DECAA0}" dt="2018-12-15T02:19:45.543" v="242" actId="1076"/>
          <ac:picMkLst>
            <pc:docMk/>
            <pc:sldMk cId="558680246" sldId="424"/>
            <ac:picMk id="4" creationId="{ECBBF5E4-FC97-47ED-9ABC-192D62AFDDA7}"/>
          </ac:picMkLst>
        </pc:picChg>
      </pc:sldChg>
      <pc:sldChg chg="add">
        <pc:chgData name="Arun Vadekkedhil" userId="42e6ed11-22d2-49de-94d6-fd78e15c9969" providerId="ADAL" clId="{FDEF5AA5-D6AB-4600-A4A7-4D9946DECAA0}" dt="2018-12-15T02:24:53.606" v="280"/>
        <pc:sldMkLst>
          <pc:docMk/>
          <pc:sldMk cId="480333910" sldId="425"/>
        </pc:sldMkLst>
      </pc:sldChg>
      <pc:sldChg chg="add del">
        <pc:chgData name="Arun Vadekkedhil" userId="42e6ed11-22d2-49de-94d6-fd78e15c9969" providerId="ADAL" clId="{FDEF5AA5-D6AB-4600-A4A7-4D9946DECAA0}" dt="2018-12-15T03:33:52.914" v="445" actId="2696"/>
        <pc:sldMkLst>
          <pc:docMk/>
          <pc:sldMk cId="4275469468" sldId="426"/>
        </pc:sldMkLst>
      </pc:sldChg>
      <pc:sldChg chg="addSp delSp modSp add">
        <pc:chgData name="Arun Vadekkedhil" userId="42e6ed11-22d2-49de-94d6-fd78e15c9969" providerId="ADAL" clId="{FDEF5AA5-D6AB-4600-A4A7-4D9946DECAA0}" dt="2018-12-15T03:46:04.514" v="517" actId="115"/>
        <pc:sldMkLst>
          <pc:docMk/>
          <pc:sldMk cId="560189378" sldId="427"/>
        </pc:sldMkLst>
        <pc:spChg chg="add mod">
          <ac:chgData name="Arun Vadekkedhil" userId="42e6ed11-22d2-49de-94d6-fd78e15c9969" providerId="ADAL" clId="{FDEF5AA5-D6AB-4600-A4A7-4D9946DECAA0}" dt="2018-12-15T03:46:04.514" v="517" actId="115"/>
          <ac:spMkLst>
            <pc:docMk/>
            <pc:sldMk cId="560189378" sldId="427"/>
            <ac:spMk id="5" creationId="{753A3499-DE79-49DD-9E6E-1AA576BA2DC6}"/>
          </ac:spMkLst>
        </pc:spChg>
        <pc:spChg chg="del mod">
          <ac:chgData name="Arun Vadekkedhil" userId="42e6ed11-22d2-49de-94d6-fd78e15c9969" providerId="ADAL" clId="{FDEF5AA5-D6AB-4600-A4A7-4D9946DECAA0}" dt="2018-12-15T03:39:43.372" v="450"/>
          <ac:spMkLst>
            <pc:docMk/>
            <pc:sldMk cId="560189378" sldId="427"/>
            <ac:spMk id="14" creationId="{00000000-0000-0000-0000-000000000000}"/>
          </ac:spMkLst>
        </pc:spChg>
        <pc:spChg chg="add mod">
          <ac:chgData name="Arun Vadekkedhil" userId="42e6ed11-22d2-49de-94d6-fd78e15c9969" providerId="ADAL" clId="{FDEF5AA5-D6AB-4600-A4A7-4D9946DECAA0}" dt="2018-12-15T03:43:55.561" v="476" actId="14100"/>
          <ac:spMkLst>
            <pc:docMk/>
            <pc:sldMk cId="560189378" sldId="427"/>
            <ac:spMk id="19" creationId="{C2EA54AD-C2DB-443A-A7F5-BE29DC9D884D}"/>
          </ac:spMkLst>
        </pc:spChg>
        <pc:picChg chg="del">
          <ac:chgData name="Arun Vadekkedhil" userId="42e6ed11-22d2-49de-94d6-fd78e15c9969" providerId="ADAL" clId="{FDEF5AA5-D6AB-4600-A4A7-4D9946DECAA0}" dt="2018-12-15T03:39:34.677" v="446" actId="478"/>
          <ac:picMkLst>
            <pc:docMk/>
            <pc:sldMk cId="560189378" sldId="427"/>
            <ac:picMk id="6" creationId="{00000000-0000-0000-0000-000000000000}"/>
          </ac:picMkLst>
        </pc:picChg>
        <pc:picChg chg="add mod">
          <ac:chgData name="Arun Vadekkedhil" userId="42e6ed11-22d2-49de-94d6-fd78e15c9969" providerId="ADAL" clId="{FDEF5AA5-D6AB-4600-A4A7-4D9946DECAA0}" dt="2018-12-15T03:40:41.647" v="460" actId="1076"/>
          <ac:picMkLst>
            <pc:docMk/>
            <pc:sldMk cId="560189378" sldId="427"/>
            <ac:picMk id="7" creationId="{9AFE1379-2DA8-4175-9117-0B2637A0F55F}"/>
          </ac:picMkLst>
        </pc:picChg>
        <pc:picChg chg="add mod">
          <ac:chgData name="Arun Vadekkedhil" userId="42e6ed11-22d2-49de-94d6-fd78e15c9969" providerId="ADAL" clId="{FDEF5AA5-D6AB-4600-A4A7-4D9946DECAA0}" dt="2018-12-15T03:41:16.741" v="462" actId="1076"/>
          <ac:picMkLst>
            <pc:docMk/>
            <pc:sldMk cId="560189378" sldId="427"/>
            <ac:picMk id="8" creationId="{7AB1254D-76FD-4C0A-A35A-C2AC61B01487}"/>
          </ac:picMkLst>
        </pc:picChg>
        <pc:picChg chg="add mod">
          <ac:chgData name="Arun Vadekkedhil" userId="42e6ed11-22d2-49de-94d6-fd78e15c9969" providerId="ADAL" clId="{FDEF5AA5-D6AB-4600-A4A7-4D9946DECAA0}" dt="2018-12-15T03:41:44.801" v="464" actId="1076"/>
          <ac:picMkLst>
            <pc:docMk/>
            <pc:sldMk cId="560189378" sldId="427"/>
            <ac:picMk id="9" creationId="{A56EB00A-15A0-4FC4-8A44-2BC2686E094B}"/>
          </ac:picMkLst>
        </pc:picChg>
        <pc:cxnChg chg="add mod">
          <ac:chgData name="Arun Vadekkedhil" userId="42e6ed11-22d2-49de-94d6-fd78e15c9969" providerId="ADAL" clId="{FDEF5AA5-D6AB-4600-A4A7-4D9946DECAA0}" dt="2018-12-15T03:42:58.305" v="474" actId="13822"/>
          <ac:cxnSpMkLst>
            <pc:docMk/>
            <pc:sldMk cId="560189378" sldId="427"/>
            <ac:cxnSpMk id="11" creationId="{035FE52D-B2EE-422C-912C-49CF6892465A}"/>
          </ac:cxnSpMkLst>
        </pc:cxnChg>
      </pc:sldChg>
      <pc:sldChg chg="add del">
        <pc:chgData name="Arun Vadekkedhil" userId="42e6ed11-22d2-49de-94d6-fd78e15c9969" providerId="ADAL" clId="{FDEF5AA5-D6AB-4600-A4A7-4D9946DECAA0}" dt="2018-12-15T03:46:23.927" v="518" actId="2696"/>
        <pc:sldMkLst>
          <pc:docMk/>
          <pc:sldMk cId="3766809103" sldId="428"/>
        </pc:sldMkLst>
      </pc:sldChg>
      <pc:sldChg chg="addSp delSp modSp add">
        <pc:chgData name="Arun Vadekkedhil" userId="42e6ed11-22d2-49de-94d6-fd78e15c9969" providerId="ADAL" clId="{FDEF5AA5-D6AB-4600-A4A7-4D9946DECAA0}" dt="2018-12-15T03:49:19.399" v="524" actId="14100"/>
        <pc:sldMkLst>
          <pc:docMk/>
          <pc:sldMk cId="4142158416" sldId="429"/>
        </pc:sldMkLst>
        <pc:spChg chg="add del mod">
          <ac:chgData name="Arun Vadekkedhil" userId="42e6ed11-22d2-49de-94d6-fd78e15c9969" providerId="ADAL" clId="{FDEF5AA5-D6AB-4600-A4A7-4D9946DECAA0}" dt="2018-12-15T03:49:10.313" v="520"/>
          <ac:spMkLst>
            <pc:docMk/>
            <pc:sldMk cId="4142158416" sldId="429"/>
            <ac:spMk id="5" creationId="{91A7B03F-4CE0-4DCB-8E34-767EB0F95E64}"/>
          </ac:spMkLst>
        </pc:spChg>
        <pc:picChg chg="add mod">
          <ac:chgData name="Arun Vadekkedhil" userId="42e6ed11-22d2-49de-94d6-fd78e15c9969" providerId="ADAL" clId="{FDEF5AA5-D6AB-4600-A4A7-4D9946DECAA0}" dt="2018-12-15T03:49:19.399" v="524" actId="14100"/>
          <ac:picMkLst>
            <pc:docMk/>
            <pc:sldMk cId="4142158416" sldId="429"/>
            <ac:picMk id="6" creationId="{004819ED-D8BC-4543-8DF5-A66ED30FA727}"/>
          </ac:picMkLst>
        </pc:picChg>
        <pc:picChg chg="del">
          <ac:chgData name="Arun Vadekkedhil" userId="42e6ed11-22d2-49de-94d6-fd78e15c9969" providerId="ADAL" clId="{FDEF5AA5-D6AB-4600-A4A7-4D9946DECAA0}" dt="2018-12-15T03:49:07.521" v="519" actId="478"/>
          <ac:picMkLst>
            <pc:docMk/>
            <pc:sldMk cId="4142158416" sldId="429"/>
            <ac:picMk id="7" creationId="{00000000-0000-0000-0000-000000000000}"/>
          </ac:picMkLst>
        </pc:picChg>
      </pc:sldChg>
      <pc:sldChg chg="add">
        <pc:chgData name="Arun Vadekkedhil" userId="42e6ed11-22d2-49de-94d6-fd78e15c9969" providerId="ADAL" clId="{FDEF5AA5-D6AB-4600-A4A7-4D9946DECAA0}" dt="2018-12-15T02:24:53.606" v="280"/>
        <pc:sldMkLst>
          <pc:docMk/>
          <pc:sldMk cId="4029253827" sldId="430"/>
        </pc:sldMkLst>
      </pc:sldChg>
      <pc:sldChg chg="addSp delSp modSp add">
        <pc:chgData name="Arun Vadekkedhil" userId="42e6ed11-22d2-49de-94d6-fd78e15c9969" providerId="ADAL" clId="{FDEF5AA5-D6AB-4600-A4A7-4D9946DECAA0}" dt="2018-12-15T02:53:09.334" v="344" actId="1076"/>
        <pc:sldMkLst>
          <pc:docMk/>
          <pc:sldMk cId="3176519857" sldId="431"/>
        </pc:sldMkLst>
        <pc:spChg chg="mod">
          <ac:chgData name="Arun Vadekkedhil" userId="42e6ed11-22d2-49de-94d6-fd78e15c9969" providerId="ADAL" clId="{FDEF5AA5-D6AB-4600-A4A7-4D9946DECAA0}" dt="2018-12-15T02:51:34.168" v="340" actId="14100"/>
          <ac:spMkLst>
            <pc:docMk/>
            <pc:sldMk cId="3176519857" sldId="431"/>
            <ac:spMk id="2" creationId="{00000000-0000-0000-0000-000000000000}"/>
          </ac:spMkLst>
        </pc:spChg>
        <pc:spChg chg="mod">
          <ac:chgData name="Arun Vadekkedhil" userId="42e6ed11-22d2-49de-94d6-fd78e15c9969" providerId="ADAL" clId="{FDEF5AA5-D6AB-4600-A4A7-4D9946DECAA0}" dt="2018-12-15T02:50:45.215" v="335"/>
          <ac:spMkLst>
            <pc:docMk/>
            <pc:sldMk cId="3176519857" sldId="431"/>
            <ac:spMk id="3" creationId="{00000000-0000-0000-0000-000000000000}"/>
          </ac:spMkLst>
        </pc:spChg>
        <pc:picChg chg="del">
          <ac:chgData name="Arun Vadekkedhil" userId="42e6ed11-22d2-49de-94d6-fd78e15c9969" providerId="ADAL" clId="{FDEF5AA5-D6AB-4600-A4A7-4D9946DECAA0}" dt="2018-12-15T02:50:50.178" v="336" actId="478"/>
          <ac:picMkLst>
            <pc:docMk/>
            <pc:sldMk cId="3176519857" sldId="431"/>
            <ac:picMk id="4" creationId="{ECBBF5E4-FC97-47ED-9ABC-192D62AFDDA7}"/>
          </ac:picMkLst>
        </pc:picChg>
        <pc:picChg chg="add mod">
          <ac:chgData name="Arun Vadekkedhil" userId="42e6ed11-22d2-49de-94d6-fd78e15c9969" providerId="ADAL" clId="{FDEF5AA5-D6AB-4600-A4A7-4D9946DECAA0}" dt="2018-12-15T02:53:09.334" v="344" actId="1076"/>
          <ac:picMkLst>
            <pc:docMk/>
            <pc:sldMk cId="3176519857" sldId="431"/>
            <ac:picMk id="6" creationId="{94CBFFD7-B75F-4333-A1E8-5DA92F2FDA12}"/>
          </ac:picMkLst>
        </pc:picChg>
        <pc:picChg chg="add mod">
          <ac:chgData name="Arun Vadekkedhil" userId="42e6ed11-22d2-49de-94d6-fd78e15c9969" providerId="ADAL" clId="{FDEF5AA5-D6AB-4600-A4A7-4D9946DECAA0}" dt="2018-12-15T02:53:02.658" v="343" actId="1076"/>
          <ac:picMkLst>
            <pc:docMk/>
            <pc:sldMk cId="3176519857" sldId="431"/>
            <ac:picMk id="7" creationId="{51FD20AC-FDB8-408A-804E-89B48157CBD0}"/>
          </ac:picMkLst>
        </pc:picChg>
      </pc:sldChg>
      <pc:sldChg chg="modSp add ord">
        <pc:chgData name="Arun Vadekkedhil" userId="42e6ed11-22d2-49de-94d6-fd78e15c9969" providerId="ADAL" clId="{FDEF5AA5-D6AB-4600-A4A7-4D9946DECAA0}" dt="2018-12-15T02:53:40.621" v="362" actId="20577"/>
        <pc:sldMkLst>
          <pc:docMk/>
          <pc:sldMk cId="1663085859" sldId="432"/>
        </pc:sldMkLst>
        <pc:spChg chg="mod">
          <ac:chgData name="Arun Vadekkedhil" userId="42e6ed11-22d2-49de-94d6-fd78e15c9969" providerId="ADAL" clId="{FDEF5AA5-D6AB-4600-A4A7-4D9946DECAA0}" dt="2018-12-15T02:53:40.621" v="362" actId="20577"/>
          <ac:spMkLst>
            <pc:docMk/>
            <pc:sldMk cId="1663085859" sldId="432"/>
            <ac:spMk id="2" creationId="{00000000-0000-0000-0000-000000000000}"/>
          </ac:spMkLst>
        </pc:spChg>
      </pc:sldChg>
      <pc:sldChg chg="addSp delSp modSp add ord">
        <pc:chgData name="Arun Vadekkedhil" userId="42e6ed11-22d2-49de-94d6-fd78e15c9969" providerId="ADAL" clId="{FDEF5AA5-D6AB-4600-A4A7-4D9946DECAA0}" dt="2018-12-15T03:19:04.857" v="411" actId="14100"/>
        <pc:sldMkLst>
          <pc:docMk/>
          <pc:sldMk cId="809331313" sldId="433"/>
        </pc:sldMkLst>
        <pc:spChg chg="mod">
          <ac:chgData name="Arun Vadekkedhil" userId="42e6ed11-22d2-49de-94d6-fd78e15c9969" providerId="ADAL" clId="{FDEF5AA5-D6AB-4600-A4A7-4D9946DECAA0}" dt="2018-12-15T03:05:57.990" v="405" actId="14100"/>
          <ac:spMkLst>
            <pc:docMk/>
            <pc:sldMk cId="809331313" sldId="433"/>
            <ac:spMk id="2" creationId="{00000000-0000-0000-0000-000000000000}"/>
          </ac:spMkLst>
        </pc:spChg>
        <pc:spChg chg="mod">
          <ac:chgData name="Arun Vadekkedhil" userId="42e6ed11-22d2-49de-94d6-fd78e15c9969" providerId="ADAL" clId="{FDEF5AA5-D6AB-4600-A4A7-4D9946DECAA0}" dt="2018-12-15T03:04:20.729" v="392" actId="20577"/>
          <ac:spMkLst>
            <pc:docMk/>
            <pc:sldMk cId="809331313" sldId="433"/>
            <ac:spMk id="3" creationId="{00000000-0000-0000-0000-000000000000}"/>
          </ac:spMkLst>
        </pc:spChg>
        <pc:picChg chg="del">
          <ac:chgData name="Arun Vadekkedhil" userId="42e6ed11-22d2-49de-94d6-fd78e15c9969" providerId="ADAL" clId="{FDEF5AA5-D6AB-4600-A4A7-4D9946DECAA0}" dt="2018-12-15T03:05:15.424" v="393" actId="478"/>
          <ac:picMkLst>
            <pc:docMk/>
            <pc:sldMk cId="809331313" sldId="433"/>
            <ac:picMk id="6" creationId="{94CBFFD7-B75F-4333-A1E8-5DA92F2FDA12}"/>
          </ac:picMkLst>
        </pc:picChg>
        <pc:picChg chg="del">
          <ac:chgData name="Arun Vadekkedhil" userId="42e6ed11-22d2-49de-94d6-fd78e15c9969" providerId="ADAL" clId="{FDEF5AA5-D6AB-4600-A4A7-4D9946DECAA0}" dt="2018-12-15T03:06:04.165" v="406" actId="478"/>
          <ac:picMkLst>
            <pc:docMk/>
            <pc:sldMk cId="809331313" sldId="433"/>
            <ac:picMk id="7" creationId="{51FD20AC-FDB8-408A-804E-89B48157CBD0}"/>
          </ac:picMkLst>
        </pc:picChg>
        <pc:picChg chg="add mod">
          <ac:chgData name="Arun Vadekkedhil" userId="42e6ed11-22d2-49de-94d6-fd78e15c9969" providerId="ADAL" clId="{FDEF5AA5-D6AB-4600-A4A7-4D9946DECAA0}" dt="2018-12-15T03:19:04.857" v="411" actId="14100"/>
          <ac:picMkLst>
            <pc:docMk/>
            <pc:sldMk cId="809331313" sldId="433"/>
            <ac:picMk id="8" creationId="{2F5508BC-65E9-46CF-98D5-59869DB6BD67}"/>
          </ac:picMkLst>
        </pc:picChg>
      </pc:sldChg>
      <pc:sldChg chg="addSp delSp modSp add">
        <pc:chgData name="Arun Vadekkedhil" userId="42e6ed11-22d2-49de-94d6-fd78e15c9969" providerId="ADAL" clId="{FDEF5AA5-D6AB-4600-A4A7-4D9946DECAA0}" dt="2018-12-15T03:33:33.457" v="444" actId="14100"/>
        <pc:sldMkLst>
          <pc:docMk/>
          <pc:sldMk cId="543586604" sldId="434"/>
        </pc:sldMkLst>
        <pc:spChg chg="mod">
          <ac:chgData name="Arun Vadekkedhil" userId="42e6ed11-22d2-49de-94d6-fd78e15c9969" providerId="ADAL" clId="{FDEF5AA5-D6AB-4600-A4A7-4D9946DECAA0}" dt="2018-12-15T03:32:59.610" v="440" actId="6549"/>
          <ac:spMkLst>
            <pc:docMk/>
            <pc:sldMk cId="543586604" sldId="434"/>
            <ac:spMk id="2" creationId="{00000000-0000-0000-0000-000000000000}"/>
          </ac:spMkLst>
        </pc:spChg>
        <pc:spChg chg="mod">
          <ac:chgData name="Arun Vadekkedhil" userId="42e6ed11-22d2-49de-94d6-fd78e15c9969" providerId="ADAL" clId="{FDEF5AA5-D6AB-4600-A4A7-4D9946DECAA0}" dt="2018-12-15T03:29:58.784" v="425" actId="20577"/>
          <ac:spMkLst>
            <pc:docMk/>
            <pc:sldMk cId="543586604" sldId="434"/>
            <ac:spMk id="3" creationId="{00000000-0000-0000-0000-000000000000}"/>
          </ac:spMkLst>
        </pc:spChg>
        <pc:picChg chg="add mod">
          <ac:chgData name="Arun Vadekkedhil" userId="42e6ed11-22d2-49de-94d6-fd78e15c9969" providerId="ADAL" clId="{FDEF5AA5-D6AB-4600-A4A7-4D9946DECAA0}" dt="2018-12-15T03:33:33.457" v="444" actId="14100"/>
          <ac:picMkLst>
            <pc:docMk/>
            <pc:sldMk cId="543586604" sldId="434"/>
            <ac:picMk id="4" creationId="{FA555EC5-8E67-47D2-9F55-98FB7B03AA19}"/>
          </ac:picMkLst>
        </pc:picChg>
        <pc:picChg chg="del">
          <ac:chgData name="Arun Vadekkedhil" userId="42e6ed11-22d2-49de-94d6-fd78e15c9969" providerId="ADAL" clId="{FDEF5AA5-D6AB-4600-A4A7-4D9946DECAA0}" dt="2018-12-15T03:33:26.024" v="441" actId="478"/>
          <ac:picMkLst>
            <pc:docMk/>
            <pc:sldMk cId="543586604" sldId="434"/>
            <ac:picMk id="8" creationId="{2F5508BC-65E9-46CF-98D5-59869DB6BD67}"/>
          </ac:picMkLst>
        </pc:picChg>
      </pc:sldChg>
      <pc:sldChg chg="modSp add">
        <pc:chgData name="Arun Vadekkedhil" userId="42e6ed11-22d2-49de-94d6-fd78e15c9969" providerId="ADAL" clId="{FDEF5AA5-D6AB-4600-A4A7-4D9946DECAA0}" dt="2018-12-15T04:48:19.803" v="650" actId="5793"/>
        <pc:sldMkLst>
          <pc:docMk/>
          <pc:sldMk cId="1901973849" sldId="435"/>
        </pc:sldMkLst>
        <pc:spChg chg="mod">
          <ac:chgData name="Arun Vadekkedhil" userId="42e6ed11-22d2-49de-94d6-fd78e15c9969" providerId="ADAL" clId="{FDEF5AA5-D6AB-4600-A4A7-4D9946DECAA0}" dt="2018-12-15T04:48:19.803" v="650" actId="5793"/>
          <ac:spMkLst>
            <pc:docMk/>
            <pc:sldMk cId="1901973849" sldId="435"/>
            <ac:spMk id="6" creationId="{00000000-0000-0000-0000-000000000000}"/>
          </ac:spMkLst>
        </pc:spChg>
        <pc:picChg chg="mod">
          <ac:chgData name="Arun Vadekkedhil" userId="42e6ed11-22d2-49de-94d6-fd78e15c9969" providerId="ADAL" clId="{FDEF5AA5-D6AB-4600-A4A7-4D9946DECAA0}" dt="2018-12-15T04:47:21.504" v="647" actId="1076"/>
          <ac:picMkLst>
            <pc:docMk/>
            <pc:sldMk cId="1901973849" sldId="435"/>
            <ac:picMk id="5" creationId="{00000000-0000-0000-0000-000000000000}"/>
          </ac:picMkLst>
        </pc:picChg>
      </pc:sldChg>
      <pc:sldChg chg="modSp add">
        <pc:chgData name="Arun Vadekkedhil" userId="42e6ed11-22d2-49de-94d6-fd78e15c9969" providerId="ADAL" clId="{FDEF5AA5-D6AB-4600-A4A7-4D9946DECAA0}" dt="2018-12-15T05:16:46.834" v="712" actId="115"/>
        <pc:sldMkLst>
          <pc:docMk/>
          <pc:sldMk cId="2504304479" sldId="436"/>
        </pc:sldMkLst>
        <pc:spChg chg="mod">
          <ac:chgData name="Arun Vadekkedhil" userId="42e6ed11-22d2-49de-94d6-fd78e15c9969" providerId="ADAL" clId="{FDEF5AA5-D6AB-4600-A4A7-4D9946DECAA0}" dt="2018-12-15T05:08:41.814" v="670" actId="20577"/>
          <ac:spMkLst>
            <pc:docMk/>
            <pc:sldMk cId="2504304479" sldId="436"/>
            <ac:spMk id="2" creationId="{00000000-0000-0000-0000-000000000000}"/>
          </ac:spMkLst>
        </pc:spChg>
        <pc:spChg chg="mod">
          <ac:chgData name="Arun Vadekkedhil" userId="42e6ed11-22d2-49de-94d6-fd78e15c9969" providerId="ADAL" clId="{FDEF5AA5-D6AB-4600-A4A7-4D9946DECAA0}" dt="2018-12-15T05:16:46.834" v="712" actId="115"/>
          <ac:spMkLst>
            <pc:docMk/>
            <pc:sldMk cId="2504304479" sldId="436"/>
            <ac:spMk id="14" creationId="{00000000-0000-0000-0000-000000000000}"/>
          </ac:spMkLst>
        </pc:spChg>
      </pc:sldChg>
      <pc:sldChg chg="modSp add">
        <pc:chgData name="Arun Vadekkedhil" userId="42e6ed11-22d2-49de-94d6-fd78e15c9969" providerId="ADAL" clId="{FDEF5AA5-D6AB-4600-A4A7-4D9946DECAA0}" dt="2018-12-15T05:24:55.298" v="772" actId="2710"/>
        <pc:sldMkLst>
          <pc:docMk/>
          <pc:sldMk cId="789149336" sldId="437"/>
        </pc:sldMkLst>
        <pc:spChg chg="mod">
          <ac:chgData name="Arun Vadekkedhil" userId="42e6ed11-22d2-49de-94d6-fd78e15c9969" providerId="ADAL" clId="{FDEF5AA5-D6AB-4600-A4A7-4D9946DECAA0}" dt="2018-12-15T05:20:27.079" v="730" actId="20577"/>
          <ac:spMkLst>
            <pc:docMk/>
            <pc:sldMk cId="789149336" sldId="437"/>
            <ac:spMk id="2" creationId="{00000000-0000-0000-0000-000000000000}"/>
          </ac:spMkLst>
        </pc:spChg>
        <pc:spChg chg="mod">
          <ac:chgData name="Arun Vadekkedhil" userId="42e6ed11-22d2-49de-94d6-fd78e15c9969" providerId="ADAL" clId="{FDEF5AA5-D6AB-4600-A4A7-4D9946DECAA0}" dt="2018-12-15T05:24:55.298" v="772" actId="2710"/>
          <ac:spMkLst>
            <pc:docMk/>
            <pc:sldMk cId="789149336" sldId="437"/>
            <ac:spMk id="14" creationId="{00000000-0000-0000-0000-000000000000}"/>
          </ac:spMkLst>
        </pc:spChg>
      </pc:sldChg>
      <pc:sldChg chg="add ord">
        <pc:chgData name="Arun Vadekkedhil" userId="42e6ed11-22d2-49de-94d6-fd78e15c9969" providerId="ADAL" clId="{FDEF5AA5-D6AB-4600-A4A7-4D9946DECAA0}" dt="2018-12-16T01:45:31.023" v="791"/>
        <pc:sldMkLst>
          <pc:docMk/>
          <pc:sldMk cId="523105257" sldId="438"/>
        </pc:sldMkLst>
      </pc:sldChg>
      <pc:sldChg chg="modSp add">
        <pc:chgData name="Arun Vadekkedhil" userId="42e6ed11-22d2-49de-94d6-fd78e15c9969" providerId="ADAL" clId="{FDEF5AA5-D6AB-4600-A4A7-4D9946DECAA0}" dt="2018-12-16T01:53:07.230" v="848" actId="115"/>
        <pc:sldMkLst>
          <pc:docMk/>
          <pc:sldMk cId="380656635" sldId="439"/>
        </pc:sldMkLst>
        <pc:spChg chg="mod">
          <ac:chgData name="Arun Vadekkedhil" userId="42e6ed11-22d2-49de-94d6-fd78e15c9969" providerId="ADAL" clId="{FDEF5AA5-D6AB-4600-A4A7-4D9946DECAA0}" dt="2018-12-16T01:52:21.685" v="840" actId="14100"/>
          <ac:spMkLst>
            <pc:docMk/>
            <pc:sldMk cId="380656635" sldId="439"/>
            <ac:spMk id="5122" creationId="{00000000-0000-0000-0000-000000000000}"/>
          </ac:spMkLst>
        </pc:spChg>
        <pc:spChg chg="mod">
          <ac:chgData name="Arun Vadekkedhil" userId="42e6ed11-22d2-49de-94d6-fd78e15c9969" providerId="ADAL" clId="{FDEF5AA5-D6AB-4600-A4A7-4D9946DECAA0}" dt="2018-12-16T01:53:07.230" v="848" actId="115"/>
          <ac:spMkLst>
            <pc:docMk/>
            <pc:sldMk cId="380656635" sldId="439"/>
            <ac:spMk id="5123" creationId="{00000000-0000-0000-0000-000000000000}"/>
          </ac:spMkLst>
        </pc:spChg>
      </pc:sldChg>
      <pc:sldChg chg="addSp delSp modSp add">
        <pc:chgData name="Arun Vadekkedhil" userId="42e6ed11-22d2-49de-94d6-fd78e15c9969" providerId="ADAL" clId="{FDEF5AA5-D6AB-4600-A4A7-4D9946DECAA0}" dt="2018-12-16T01:59:42.024" v="875" actId="113"/>
        <pc:sldMkLst>
          <pc:docMk/>
          <pc:sldMk cId="311665425" sldId="440"/>
        </pc:sldMkLst>
        <pc:spChg chg="add del">
          <ac:chgData name="Arun Vadekkedhil" userId="42e6ed11-22d2-49de-94d6-fd78e15c9969" providerId="ADAL" clId="{FDEF5AA5-D6AB-4600-A4A7-4D9946DECAA0}" dt="2018-12-16T01:56:51.166" v="860" actId="478"/>
          <ac:spMkLst>
            <pc:docMk/>
            <pc:sldMk cId="311665425" sldId="440"/>
            <ac:spMk id="3" creationId="{9B52BB07-CBEC-451B-8F00-CE9DF27900C6}"/>
          </ac:spMkLst>
        </pc:spChg>
        <pc:spChg chg="mod">
          <ac:chgData name="Arun Vadekkedhil" userId="42e6ed11-22d2-49de-94d6-fd78e15c9969" providerId="ADAL" clId="{FDEF5AA5-D6AB-4600-A4A7-4D9946DECAA0}" dt="2018-12-16T01:59:42.024" v="875" actId="113"/>
          <ac:spMkLst>
            <pc:docMk/>
            <pc:sldMk cId="311665425" sldId="440"/>
            <ac:spMk id="5123" creationId="{00000000-0000-0000-0000-000000000000}"/>
          </ac:spMkLst>
        </pc:spChg>
        <pc:picChg chg="del">
          <ac:chgData name="Arun Vadekkedhil" userId="42e6ed11-22d2-49de-94d6-fd78e15c9969" providerId="ADAL" clId="{FDEF5AA5-D6AB-4600-A4A7-4D9946DECAA0}" dt="2018-12-16T01:56:31.396" v="856" actId="478"/>
          <ac:picMkLst>
            <pc:docMk/>
            <pc:sldMk cId="311665425" sldId="440"/>
            <ac:picMk id="2" creationId="{00000000-0000-0000-0000-000000000000}"/>
          </ac:picMkLst>
        </pc:picChg>
      </pc:sldChg>
      <pc:sldChg chg="addSp delSp modSp add">
        <pc:chgData name="Arun Vadekkedhil" userId="42e6ed11-22d2-49de-94d6-fd78e15c9969" providerId="ADAL" clId="{FDEF5AA5-D6AB-4600-A4A7-4D9946DECAA0}" dt="2018-12-16T02:10:18.916" v="881" actId="1076"/>
        <pc:sldMkLst>
          <pc:docMk/>
          <pc:sldMk cId="2096016200" sldId="441"/>
        </pc:sldMkLst>
        <pc:spChg chg="mod">
          <ac:chgData name="Arun Vadekkedhil" userId="42e6ed11-22d2-49de-94d6-fd78e15c9969" providerId="ADAL" clId="{FDEF5AA5-D6AB-4600-A4A7-4D9946DECAA0}" dt="2018-12-16T02:10:10.353" v="879"/>
          <ac:spMkLst>
            <pc:docMk/>
            <pc:sldMk cId="2096016200" sldId="441"/>
            <ac:spMk id="2" creationId="{43D5A277-44F2-4495-BDE2-6AFB93F381A0}"/>
          </ac:spMkLst>
        </pc:spChg>
        <pc:spChg chg="del">
          <ac:chgData name="Arun Vadekkedhil" userId="42e6ed11-22d2-49de-94d6-fd78e15c9969" providerId="ADAL" clId="{FDEF5AA5-D6AB-4600-A4A7-4D9946DECAA0}" dt="2018-12-16T02:10:01.894" v="877"/>
          <ac:spMkLst>
            <pc:docMk/>
            <pc:sldMk cId="2096016200" sldId="441"/>
            <ac:spMk id="3" creationId="{45B53F5F-CCEE-45AB-B469-6B0961301F3D}"/>
          </ac:spMkLst>
        </pc:spChg>
        <pc:picChg chg="add mod">
          <ac:chgData name="Arun Vadekkedhil" userId="42e6ed11-22d2-49de-94d6-fd78e15c9969" providerId="ADAL" clId="{FDEF5AA5-D6AB-4600-A4A7-4D9946DECAA0}" dt="2018-12-16T02:10:18.916" v="881" actId="1076"/>
          <ac:picMkLst>
            <pc:docMk/>
            <pc:sldMk cId="2096016200" sldId="441"/>
            <ac:picMk id="4" creationId="{04B0DCCA-3331-40BE-88E9-16EFCCCF0F11}"/>
          </ac:picMkLst>
        </pc:picChg>
      </pc:sldChg>
      <pc:sldChg chg="addSp delSp modSp add">
        <pc:chgData name="Arun Vadekkedhil" userId="42e6ed11-22d2-49de-94d6-fd78e15c9969" providerId="ADAL" clId="{FDEF5AA5-D6AB-4600-A4A7-4D9946DECAA0}" dt="2018-12-16T02:11:37.797" v="906" actId="14100"/>
        <pc:sldMkLst>
          <pc:docMk/>
          <pc:sldMk cId="3436031802" sldId="442"/>
        </pc:sldMkLst>
        <pc:spChg chg="mod">
          <ac:chgData name="Arun Vadekkedhil" userId="42e6ed11-22d2-49de-94d6-fd78e15c9969" providerId="ADAL" clId="{FDEF5AA5-D6AB-4600-A4A7-4D9946DECAA0}" dt="2018-12-16T02:11:19.666" v="901" actId="20577"/>
          <ac:spMkLst>
            <pc:docMk/>
            <pc:sldMk cId="3436031802" sldId="442"/>
            <ac:spMk id="2" creationId="{43D5A277-44F2-4495-BDE2-6AFB93F381A0}"/>
          </ac:spMkLst>
        </pc:spChg>
        <pc:spChg chg="add del mod">
          <ac:chgData name="Arun Vadekkedhil" userId="42e6ed11-22d2-49de-94d6-fd78e15c9969" providerId="ADAL" clId="{FDEF5AA5-D6AB-4600-A4A7-4D9946DECAA0}" dt="2018-12-16T02:11:30.897" v="903"/>
          <ac:spMkLst>
            <pc:docMk/>
            <pc:sldMk cId="3436031802" sldId="442"/>
            <ac:spMk id="5" creationId="{6AEFBCBF-E859-4B2E-B8F2-7DC43441106C}"/>
          </ac:spMkLst>
        </pc:spChg>
        <pc:picChg chg="del">
          <ac:chgData name="Arun Vadekkedhil" userId="42e6ed11-22d2-49de-94d6-fd78e15c9969" providerId="ADAL" clId="{FDEF5AA5-D6AB-4600-A4A7-4D9946DECAA0}" dt="2018-12-16T02:11:21.754" v="902" actId="478"/>
          <ac:picMkLst>
            <pc:docMk/>
            <pc:sldMk cId="3436031802" sldId="442"/>
            <ac:picMk id="4" creationId="{04B0DCCA-3331-40BE-88E9-16EFCCCF0F11}"/>
          </ac:picMkLst>
        </pc:picChg>
        <pc:picChg chg="add mod">
          <ac:chgData name="Arun Vadekkedhil" userId="42e6ed11-22d2-49de-94d6-fd78e15c9969" providerId="ADAL" clId="{FDEF5AA5-D6AB-4600-A4A7-4D9946DECAA0}" dt="2018-12-16T02:11:37.797" v="906" actId="14100"/>
          <ac:picMkLst>
            <pc:docMk/>
            <pc:sldMk cId="3436031802" sldId="442"/>
            <ac:picMk id="6" creationId="{449FBD7F-76B2-4E7B-ACC6-AAB3E04C96C0}"/>
          </ac:picMkLst>
        </pc:picChg>
      </pc:sldChg>
      <pc:sldChg chg="addSp delSp modSp add">
        <pc:chgData name="Arun Vadekkedhil" userId="42e6ed11-22d2-49de-94d6-fd78e15c9969" providerId="ADAL" clId="{FDEF5AA5-D6AB-4600-A4A7-4D9946DECAA0}" dt="2018-12-16T02:15:31.248" v="965" actId="27636"/>
        <pc:sldMkLst>
          <pc:docMk/>
          <pc:sldMk cId="3399696701" sldId="443"/>
        </pc:sldMkLst>
        <pc:spChg chg="mod">
          <ac:chgData name="Arun Vadekkedhil" userId="42e6ed11-22d2-49de-94d6-fd78e15c9969" providerId="ADAL" clId="{FDEF5AA5-D6AB-4600-A4A7-4D9946DECAA0}" dt="2018-12-16T02:14:12.231" v="934" actId="20577"/>
          <ac:spMkLst>
            <pc:docMk/>
            <pc:sldMk cId="3399696701" sldId="443"/>
            <ac:spMk id="2" creationId="{43D5A277-44F2-4495-BDE2-6AFB93F381A0}"/>
          </ac:spMkLst>
        </pc:spChg>
        <pc:spChg chg="add del mod">
          <ac:chgData name="Arun Vadekkedhil" userId="42e6ed11-22d2-49de-94d6-fd78e15c9969" providerId="ADAL" clId="{FDEF5AA5-D6AB-4600-A4A7-4D9946DECAA0}" dt="2018-12-16T02:15:31.248" v="965" actId="27636"/>
          <ac:spMkLst>
            <pc:docMk/>
            <pc:sldMk cId="3399696701" sldId="443"/>
            <ac:spMk id="4" creationId="{CAA2C30D-27A1-4233-94F0-1E8C15AEB5BF}"/>
          </ac:spMkLst>
        </pc:spChg>
        <pc:spChg chg="add del">
          <ac:chgData name="Arun Vadekkedhil" userId="42e6ed11-22d2-49de-94d6-fd78e15c9969" providerId="ADAL" clId="{FDEF5AA5-D6AB-4600-A4A7-4D9946DECAA0}" dt="2018-12-16T02:14:23.318" v="937"/>
          <ac:spMkLst>
            <pc:docMk/>
            <pc:sldMk cId="3399696701" sldId="443"/>
            <ac:spMk id="5" creationId="{7FE57370-07E2-4325-9251-CE79A27BB8CC}"/>
          </ac:spMkLst>
        </pc:spChg>
        <pc:picChg chg="del">
          <ac:chgData name="Arun Vadekkedhil" userId="42e6ed11-22d2-49de-94d6-fd78e15c9969" providerId="ADAL" clId="{FDEF5AA5-D6AB-4600-A4A7-4D9946DECAA0}" dt="2018-12-16T02:14:14.352" v="935" actId="478"/>
          <ac:picMkLst>
            <pc:docMk/>
            <pc:sldMk cId="3399696701" sldId="443"/>
            <ac:picMk id="6" creationId="{449FBD7F-76B2-4E7B-ACC6-AAB3E04C96C0}"/>
          </ac:picMkLst>
        </pc:picChg>
      </pc:sldChg>
      <pc:sldChg chg="modSp add">
        <pc:chgData name="Arun Vadekkedhil" userId="42e6ed11-22d2-49de-94d6-fd78e15c9969" providerId="ADAL" clId="{FDEF5AA5-D6AB-4600-A4A7-4D9946DECAA0}" dt="2018-12-16T02:17:19.225" v="989" actId="20577"/>
        <pc:sldMkLst>
          <pc:docMk/>
          <pc:sldMk cId="3815676333" sldId="444"/>
        </pc:sldMkLst>
        <pc:spChg chg="mod">
          <ac:chgData name="Arun Vadekkedhil" userId="42e6ed11-22d2-49de-94d6-fd78e15c9969" providerId="ADAL" clId="{FDEF5AA5-D6AB-4600-A4A7-4D9946DECAA0}" dt="2018-12-16T02:16:57.659" v="983" actId="20577"/>
          <ac:spMkLst>
            <pc:docMk/>
            <pc:sldMk cId="3815676333" sldId="444"/>
            <ac:spMk id="2" creationId="{43D5A277-44F2-4495-BDE2-6AFB93F381A0}"/>
          </ac:spMkLst>
        </pc:spChg>
        <pc:spChg chg="mod">
          <ac:chgData name="Arun Vadekkedhil" userId="42e6ed11-22d2-49de-94d6-fd78e15c9969" providerId="ADAL" clId="{FDEF5AA5-D6AB-4600-A4A7-4D9946DECAA0}" dt="2018-12-16T02:17:19.225" v="989" actId="20577"/>
          <ac:spMkLst>
            <pc:docMk/>
            <pc:sldMk cId="3815676333" sldId="444"/>
            <ac:spMk id="4" creationId="{CAA2C30D-27A1-4233-94F0-1E8C15AEB5B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12/16/2018</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dirty="0"/>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12/15/2018</a:t>
            </a:fld>
            <a:endParaRPr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dirty="0"/>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dirty="0"/>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Inner classes are classes which are contained within other classes. </a:t>
            </a:r>
          </a:p>
          <a:p>
            <a:r>
              <a:rPr lang="en-US" dirty="0"/>
              <a:t>Inner classes has access to all </a:t>
            </a:r>
            <a:r>
              <a:rPr lang="en-US" dirty="0" err="1"/>
              <a:t>memebrs</a:t>
            </a:r>
            <a:r>
              <a:rPr lang="en-US" dirty="0"/>
              <a:t> of the outer class, hence advantageous</a:t>
            </a:r>
            <a:r>
              <a:rPr lang="en-US" baseline="0" dirty="0"/>
              <a:t> where you want to have a class defined as private yet access modifies of the outer class which are private.</a:t>
            </a:r>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40</a:t>
            </a:fld>
            <a:endParaRPr lang="en-US" dirty="0"/>
          </a:p>
        </p:txBody>
      </p:sp>
    </p:spTree>
    <p:extLst>
      <p:ext uri="{BB962C8B-B14F-4D97-AF65-F5344CB8AC3E}">
        <p14:creationId xmlns:p14="http://schemas.microsoft.com/office/powerpoint/2010/main" val="33540938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41</a:t>
            </a:fld>
            <a:endParaRPr lang="en-US" dirty="0"/>
          </a:p>
        </p:txBody>
      </p:sp>
    </p:spTree>
    <p:extLst>
      <p:ext uri="{BB962C8B-B14F-4D97-AF65-F5344CB8AC3E}">
        <p14:creationId xmlns:p14="http://schemas.microsoft.com/office/powerpoint/2010/main" val="7123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defining a method in the inner class, instantiating the outer class to get access to the</a:t>
            </a:r>
            <a:r>
              <a:rPr lang="en-US" baseline="0" dirty="0"/>
              <a:t> private values of the outer class</a:t>
            </a:r>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42</a:t>
            </a:fld>
            <a:endParaRPr lang="en-US" dirty="0"/>
          </a:p>
        </p:txBody>
      </p:sp>
    </p:spTree>
    <p:extLst>
      <p:ext uri="{BB962C8B-B14F-4D97-AF65-F5344CB8AC3E}">
        <p14:creationId xmlns:p14="http://schemas.microsoft.com/office/powerpoint/2010/main" val="1410520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local IC’s are IC</a:t>
            </a:r>
            <a:r>
              <a:rPr lang="en-US" baseline="0" dirty="0"/>
              <a:t> which are defined within the method. Till 1.7 JDK, this could not access not final local variables, which has been changed from JDK 1.8 onwards</a:t>
            </a:r>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43</a:t>
            </a:fld>
            <a:endParaRPr lang="en-US" dirty="0"/>
          </a:p>
        </p:txBody>
      </p:sp>
    </p:spTree>
    <p:extLst>
      <p:ext uri="{BB962C8B-B14F-4D97-AF65-F5344CB8AC3E}">
        <p14:creationId xmlns:p14="http://schemas.microsoft.com/office/powerpoint/2010/main" val="2612928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local IC’s are IC</a:t>
            </a:r>
            <a:r>
              <a:rPr lang="en-US" baseline="0" dirty="0"/>
              <a:t> which are defined within the method. Till 1.7 JDK, this could not access not final local variables, which has been changed from JDK 1.8 onwards</a:t>
            </a:r>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44</a:t>
            </a:fld>
            <a:endParaRPr lang="en-US" dirty="0"/>
          </a:p>
        </p:txBody>
      </p:sp>
    </p:spTree>
    <p:extLst>
      <p:ext uri="{BB962C8B-B14F-4D97-AF65-F5344CB8AC3E}">
        <p14:creationId xmlns:p14="http://schemas.microsoft.com/office/powerpoint/2010/main" val="1637900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Anonymous, as the name suggests, it’s </a:t>
            </a:r>
            <a:r>
              <a:rPr lang="en-US" dirty="0" err="1"/>
              <a:t>unkown</a:t>
            </a:r>
            <a:r>
              <a:rPr lang="en-US" dirty="0"/>
              <a:t> or there is no name. What we do here is write the entire code at the time of invocation, No explicit object reference is created. Useful when you have cases where you need to use a class only once and not for anything else.</a:t>
            </a:r>
          </a:p>
        </p:txBody>
      </p:sp>
      <p:sp>
        <p:nvSpPr>
          <p:cNvPr id="4" name="Slide Number Placeholder 3"/>
          <p:cNvSpPr>
            <a:spLocks noGrp="1"/>
          </p:cNvSpPr>
          <p:nvPr>
            <p:ph type="sldNum" sz="quarter" idx="10"/>
          </p:nvPr>
        </p:nvSpPr>
        <p:spPr/>
        <p:txBody>
          <a:bodyPr/>
          <a:lstStyle/>
          <a:p>
            <a:fld id="{893B0CF2-7F87-4E02-A248-870047730F99}" type="slidenum">
              <a:rPr lang="en-US" smtClean="0"/>
              <a:t>45</a:t>
            </a:fld>
            <a:endParaRPr lang="en-US" dirty="0"/>
          </a:p>
        </p:txBody>
      </p:sp>
    </p:spTree>
    <p:extLst>
      <p:ext uri="{BB962C8B-B14F-4D97-AF65-F5344CB8AC3E}">
        <p14:creationId xmlns:p14="http://schemas.microsoft.com/office/powerpoint/2010/main" val="1125496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6FA54F-3F2C-4633-BCB0-92BDFB583C57}" type="slidenum">
              <a:rPr lang="en-US" altLang="en-US"/>
              <a:pPr/>
              <a:t>46</a:t>
            </a:fld>
            <a:endParaRPr lang="en-US" altLang="en-US"/>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a:xfrm>
            <a:off x="914400" y="4343400"/>
            <a:ext cx="5029200" cy="4114800"/>
          </a:xfrm>
        </p:spPr>
        <p:txBody>
          <a:bodyPr/>
          <a:lstStyle/>
          <a:p>
            <a:r>
              <a:rPr lang="en-US" altLang="en-US" dirty="0"/>
              <a:t>We use the AIC to impart polymorphisms.  The inner class belongs to the inner circle of the outer class, this means that this class will have all access to the both private</a:t>
            </a:r>
            <a:r>
              <a:rPr lang="en-US" altLang="en-US" baseline="0" dirty="0"/>
              <a:t> &amp; public variable of the superclass. There is no object but only a reference handle. To create object use local class.</a:t>
            </a:r>
            <a:endParaRPr lang="en-US" altLang="en-US" dirty="0"/>
          </a:p>
        </p:txBody>
      </p:sp>
    </p:spTree>
    <p:extLst>
      <p:ext uri="{BB962C8B-B14F-4D97-AF65-F5344CB8AC3E}">
        <p14:creationId xmlns:p14="http://schemas.microsoft.com/office/powerpoint/2010/main" val="2477169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47</a:t>
            </a:fld>
            <a:endParaRPr lang="en-US" dirty="0"/>
          </a:p>
        </p:txBody>
      </p:sp>
    </p:spTree>
    <p:extLst>
      <p:ext uri="{BB962C8B-B14F-4D97-AF65-F5344CB8AC3E}">
        <p14:creationId xmlns:p14="http://schemas.microsoft.com/office/powerpoint/2010/main" val="1022877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48</a:t>
            </a:fld>
            <a:endParaRPr lang="en-US" dirty="0"/>
          </a:p>
        </p:txBody>
      </p:sp>
    </p:spTree>
    <p:extLst>
      <p:ext uri="{BB962C8B-B14F-4D97-AF65-F5344CB8AC3E}">
        <p14:creationId xmlns:p14="http://schemas.microsoft.com/office/powerpoint/2010/main" val="39368130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49</a:t>
            </a:fld>
            <a:endParaRPr lang="en-US" dirty="0"/>
          </a:p>
        </p:txBody>
      </p:sp>
    </p:spTree>
    <p:extLst>
      <p:ext uri="{BB962C8B-B14F-4D97-AF65-F5344CB8AC3E}">
        <p14:creationId xmlns:p14="http://schemas.microsoft.com/office/powerpoint/2010/main" val="3333905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93B0CF2-7F87-4E02-A248-870047730F99}" type="slidenum">
              <a:rPr lang="en-US" smtClean="0"/>
              <a:t>50</a:t>
            </a:fld>
            <a:endParaRPr lang="en-US" dirty="0"/>
          </a:p>
        </p:txBody>
      </p:sp>
    </p:spTree>
    <p:extLst>
      <p:ext uri="{BB962C8B-B14F-4D97-AF65-F5344CB8AC3E}">
        <p14:creationId xmlns:p14="http://schemas.microsoft.com/office/powerpoint/2010/main" val="1457156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a:solidFill>
                  <a:schemeClr val="tx1"/>
                </a:solidFill>
                <a:latin typeface="+mn-lt"/>
                <a:ea typeface="+mn-ea"/>
                <a:cs typeface="+mn-cs"/>
              </a:rPr>
              <a:t>With multiple catch blocks, the order in which the catch blocks are listed is the order they are checked when an exception occurs </a:t>
            </a:r>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smtClean="0"/>
              <a:t>64</a:t>
            </a:fld>
            <a:endParaRPr lang="en-US" dirty="0"/>
          </a:p>
        </p:txBody>
      </p:sp>
    </p:spTree>
    <p:extLst>
      <p:ext uri="{BB962C8B-B14F-4D97-AF65-F5344CB8AC3E}">
        <p14:creationId xmlns:p14="http://schemas.microsoft.com/office/powerpoint/2010/main" val="134144028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12/15/2018</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dirty="0"/>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12/15/2018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dirty="0"/>
              <a:t>Click icon to add picture</a:t>
            </a:r>
            <a:endParaRPr dirty="0"/>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dirty="0"/>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12/15/2018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12/15/2018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12/15/2018</a:t>
            </a:fld>
            <a:endParaRPr dirty="0"/>
          </a:p>
        </p:txBody>
      </p:sp>
      <p:sp>
        <p:nvSpPr>
          <p:cNvPr id="8" name="Footer Placeholder 7"/>
          <p:cNvSpPr>
            <a:spLocks noGrp="1"/>
          </p:cNvSpPr>
          <p:nvPr>
            <p:ph type="ftr" sz="quarter" idx="11"/>
          </p:nvPr>
        </p:nvSpPr>
        <p:spPr/>
        <p:txBody>
          <a:bodyPr/>
          <a:lstStyle/>
          <a:p>
            <a:endParaRPr dirty="0"/>
          </a:p>
        </p:txBody>
      </p:sp>
      <p:sp>
        <p:nvSpPr>
          <p:cNvPr id="9" name="Slide Number Placeholder 8"/>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12/15/2018</a:t>
            </a:fld>
            <a:endParaRPr dirty="0"/>
          </a:p>
        </p:txBody>
      </p:sp>
      <p:sp>
        <p:nvSpPr>
          <p:cNvPr id="4" name="Footer Placeholder 3"/>
          <p:cNvSpPr>
            <a:spLocks noGrp="1"/>
          </p:cNvSpPr>
          <p:nvPr>
            <p:ph type="ftr" sz="quarter" idx="11"/>
          </p:nvPr>
        </p:nvSpPr>
        <p:spPr/>
        <p:txBody>
          <a:bodyPr/>
          <a:lstStyle/>
          <a:p>
            <a:endParaRPr dirty="0"/>
          </a:p>
        </p:txBody>
      </p:sp>
      <p:sp>
        <p:nvSpPr>
          <p:cNvPr id="5" name="Slide Number Placeholder 4"/>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12/15/2018</a:t>
            </a:fld>
            <a:endParaRPr dirty="0"/>
          </a:p>
        </p:txBody>
      </p:sp>
      <p:sp>
        <p:nvSpPr>
          <p:cNvPr id="3" name="Footer Placeholder 2"/>
          <p:cNvSpPr>
            <a:spLocks noGrp="1"/>
          </p:cNvSpPr>
          <p:nvPr>
            <p:ph type="ftr" sz="quarter" idx="11"/>
          </p:nvPr>
        </p:nvSpPr>
        <p:spPr/>
        <p:txBody>
          <a:bodyPr/>
          <a:lstStyle/>
          <a:p>
            <a:endParaRPr dirty="0"/>
          </a:p>
        </p:txBody>
      </p:sp>
      <p:sp>
        <p:nvSpPr>
          <p:cNvPr id="4" name="Slide Number Placeholder 3"/>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12/15/2018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402B9795-92DC-40DC-A1CA-9A4B349D7824}" type="datetimeFigureOut">
              <a:rPr lang="en-US"/>
              <a:t>12/15/2018</a:t>
            </a:fld>
            <a:endParaRPr dirty="0"/>
          </a:p>
        </p:txBody>
      </p:sp>
      <p:sp>
        <p:nvSpPr>
          <p:cNvPr id="6" name="Footer Placeholder 5"/>
          <p:cNvSpPr>
            <a:spLocks noGrp="1"/>
          </p:cNvSpPr>
          <p:nvPr>
            <p:ph type="ftr" sz="quarter" idx="11"/>
          </p:nvPr>
        </p:nvSpPr>
        <p:spPr/>
        <p:txBody>
          <a:bodyPr/>
          <a:lstStyle/>
          <a:p>
            <a:endParaRPr dirty="0"/>
          </a:p>
        </p:txBody>
      </p:sp>
      <p:sp>
        <p:nvSpPr>
          <p:cNvPr id="7" name="Slide Number Placeholder 6"/>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12/15/2018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12/15/2018</a:t>
            </a:fld>
            <a:endParaRPr dirty="0"/>
          </a:p>
        </p:txBody>
      </p:sp>
      <p:sp>
        <p:nvSpPr>
          <p:cNvPr id="5" name="Footer Placeholder 4"/>
          <p:cNvSpPr>
            <a:spLocks noGrp="1"/>
          </p:cNvSpPr>
          <p:nvPr>
            <p:ph type="ftr" sz="quarter" idx="11"/>
          </p:nvPr>
        </p:nvSpPr>
        <p:spPr/>
        <p:txBody>
          <a:bodyPr/>
          <a:lstStyle/>
          <a:p>
            <a:endParaRPr dirty="0"/>
          </a:p>
        </p:txBody>
      </p:sp>
      <p:sp>
        <p:nvSpPr>
          <p:cNvPr id="6" name="Slide Number Placeholder 5"/>
          <p:cNvSpPr>
            <a:spLocks noGrp="1"/>
          </p:cNvSpPr>
          <p:nvPr>
            <p:ph type="sldNum" sz="quarter" idx="12"/>
          </p:nvPr>
        </p:nvSpPr>
        <p:spPr/>
        <p:txBody>
          <a:bodyPr/>
          <a:lstStyle/>
          <a:p>
            <a:fld id="{0FF54DE5-C571-48E8-A5BC-B369434E2F44}" type="slidenum">
              <a:rPr/>
              <a:t>‹#›</a:t>
            </a:fld>
            <a:endParaRPr dirty="0"/>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12/15/2018</a:t>
            </a:fld>
            <a:endParaRPr lang="en-US" dirty="0"/>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dirty="0"/>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dirty="0"/>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beginnersbook.com/2013/05/java-interface/"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beginnersbook.com/2013/05/java-interfac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beginnersbook.com/2013/05/java-interfac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hyperlink" Target="mailto:avadekkedhil@wilp.bits-pilani.ac.in"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104900" y="2292094"/>
            <a:ext cx="5734050" cy="2219691"/>
          </a:xfrm>
        </p:spPr>
        <p:txBody>
          <a:bodyPr anchor="ctr">
            <a:normAutofit/>
          </a:bodyPr>
          <a:lstStyle/>
          <a:p>
            <a:r>
              <a:rPr lang="en-US" dirty="0"/>
              <a:t>Object Oriented Programming &amp; Design</a:t>
            </a:r>
          </a:p>
        </p:txBody>
      </p:sp>
      <p:sp>
        <p:nvSpPr>
          <p:cNvPr id="7" name="Subtitle 6"/>
          <p:cNvSpPr>
            <a:spLocks noGrp="1"/>
          </p:cNvSpPr>
          <p:nvPr>
            <p:ph type="subTitle" idx="1"/>
          </p:nvPr>
        </p:nvSpPr>
        <p:spPr>
          <a:xfrm>
            <a:off x="1104900" y="4511785"/>
            <a:ext cx="5734050" cy="846298"/>
          </a:xfrm>
        </p:spPr>
        <p:txBody>
          <a:bodyPr/>
          <a:lstStyle/>
          <a:p>
            <a:r>
              <a:rPr lang="en-IN" b="1" dirty="0"/>
              <a:t>Session – 6: 2-Dec-2018</a:t>
            </a:r>
            <a:endParaRPr lang="en-US" b="1" dirty="0"/>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6671780" y="1445796"/>
            <a:ext cx="5269208" cy="391228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Agenda</a:t>
            </a:r>
          </a:p>
        </p:txBody>
      </p:sp>
      <p:sp>
        <p:nvSpPr>
          <p:cNvPr id="14" name="Content Placeholder 13"/>
          <p:cNvSpPr>
            <a:spLocks noGrp="1"/>
          </p:cNvSpPr>
          <p:nvPr>
            <p:ph idx="1"/>
          </p:nvPr>
        </p:nvSpPr>
        <p:spPr/>
        <p:txBody>
          <a:bodyPr>
            <a:normAutofit fontScale="92500" lnSpcReduction="20000"/>
          </a:bodyPr>
          <a:lstStyle/>
          <a:p>
            <a:r>
              <a:rPr lang="en-US" sz="2400" dirty="0"/>
              <a:t>Assignment Discussion</a:t>
            </a:r>
          </a:p>
          <a:p>
            <a:r>
              <a:rPr lang="en-US" sz="2400" dirty="0"/>
              <a:t>Interfaces</a:t>
            </a:r>
          </a:p>
          <a:p>
            <a:pPr lvl="1"/>
            <a:r>
              <a:rPr lang="en-US" sz="2400" dirty="0"/>
              <a:t>What is an Interfaces</a:t>
            </a:r>
          </a:p>
          <a:p>
            <a:pPr lvl="1"/>
            <a:r>
              <a:rPr lang="en-US" sz="2400" dirty="0"/>
              <a:t>Designing Interfaces</a:t>
            </a:r>
          </a:p>
          <a:p>
            <a:pPr lvl="1"/>
            <a:r>
              <a:rPr lang="en-US" sz="2400" dirty="0"/>
              <a:t>Extending &amp; Implementing</a:t>
            </a:r>
          </a:p>
          <a:p>
            <a:pPr lvl="1"/>
            <a:r>
              <a:rPr lang="en-US" sz="2400" dirty="0"/>
              <a:t>Comparable &amp; Comparator</a:t>
            </a:r>
          </a:p>
          <a:p>
            <a:r>
              <a:rPr lang="en-US" sz="2800" dirty="0"/>
              <a:t>Nested Classes</a:t>
            </a:r>
          </a:p>
          <a:p>
            <a:pPr lvl="1"/>
            <a:r>
              <a:rPr lang="en-US" sz="2400" dirty="0"/>
              <a:t>What are Nested Classes</a:t>
            </a:r>
          </a:p>
          <a:p>
            <a:pPr lvl="1"/>
            <a:r>
              <a:rPr lang="en-US" sz="2400" dirty="0"/>
              <a:t>Inheriting Nested Classes &amp; Interfaces</a:t>
            </a:r>
          </a:p>
          <a:p>
            <a:pPr lvl="1"/>
            <a:r>
              <a:rPr lang="en-US" sz="2400" dirty="0"/>
              <a:t>Inner Classes</a:t>
            </a:r>
          </a:p>
          <a:p>
            <a:pPr lvl="1"/>
            <a:r>
              <a:rPr lang="en-US" sz="2400" dirty="0"/>
              <a:t>Anonymous Inner Classes</a:t>
            </a:r>
          </a:p>
          <a:p>
            <a:r>
              <a:rPr lang="en-US" sz="2400" dirty="0"/>
              <a:t>Exception Handling</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3962" y="1466118"/>
            <a:ext cx="4706082" cy="470608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a:t>Assignment</a:t>
            </a:r>
          </a:p>
        </p:txBody>
      </p:sp>
      <p:sp>
        <p:nvSpPr>
          <p:cNvPr id="3" name="Text Placeholder 2"/>
          <p:cNvSpPr>
            <a:spLocks noGrp="1"/>
          </p:cNvSpPr>
          <p:nvPr>
            <p:ph type="body" idx="1"/>
          </p:nvPr>
        </p:nvSpPr>
        <p:spPr>
          <a:xfrm>
            <a:off x="1104899" y="4655956"/>
            <a:ext cx="3752851" cy="509750"/>
          </a:xfrm>
        </p:spPr>
        <p:txBody>
          <a:bodyPr>
            <a:normAutofit/>
          </a:bodyPr>
          <a:lstStyle/>
          <a:p>
            <a:r>
              <a:rPr lang="en-US" dirty="0"/>
              <a:t>Due on 20-Jan-2019</a:t>
            </a:r>
          </a:p>
        </p:txBody>
      </p:sp>
      <p:pic>
        <p:nvPicPr>
          <p:cNvPr id="5" name="Picture 4">
            <a:extLst>
              <a:ext uri="{FF2B5EF4-FFF2-40B4-BE49-F238E27FC236}">
                <a16:creationId xmlns:a16="http://schemas.microsoft.com/office/drawing/2014/main" id="{1261DC42-1528-4A9B-BBBE-EE64A66906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620" y="0"/>
            <a:ext cx="7170380" cy="4033339"/>
          </a:xfrm>
          <a:prstGeom prst="rect">
            <a:avLst/>
          </a:prstGeom>
        </p:spPr>
      </p:pic>
    </p:spTree>
    <p:extLst>
      <p:ext uri="{BB962C8B-B14F-4D97-AF65-F5344CB8AC3E}">
        <p14:creationId xmlns:p14="http://schemas.microsoft.com/office/powerpoint/2010/main" val="1936288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24600"/>
            <a:ext cx="10972800" cy="866267"/>
          </a:xfrm>
        </p:spPr>
        <p:txBody>
          <a:bodyPr>
            <a:noAutofit/>
          </a:bodyPr>
          <a:lstStyle/>
          <a:p>
            <a:r>
              <a:rPr lang="en-US" sz="3600" dirty="0"/>
              <a:t>Assignment Instructions</a:t>
            </a:r>
          </a:p>
        </p:txBody>
      </p:sp>
      <p:sp>
        <p:nvSpPr>
          <p:cNvPr id="5" name="Slide Number Placeholder 4"/>
          <p:cNvSpPr>
            <a:spLocks noGrp="1"/>
          </p:cNvSpPr>
          <p:nvPr>
            <p:ph type="sldNum" sz="quarter" idx="12"/>
          </p:nvPr>
        </p:nvSpPr>
        <p:spPr/>
        <p:txBody>
          <a:bodyPr/>
          <a:lstStyle/>
          <a:p>
            <a:fld id="{401CF334-2D5C-4859-84A6-CA7E6E43FAEB}" type="slidenum">
              <a:rPr lang="en-US" smtClean="0"/>
              <a:t>4</a:t>
            </a:fld>
            <a:endParaRPr lang="en-US" dirty="0"/>
          </a:p>
        </p:txBody>
      </p:sp>
      <p:sp>
        <p:nvSpPr>
          <p:cNvPr id="2" name="Content Placeholder 1"/>
          <p:cNvSpPr>
            <a:spLocks noGrp="1"/>
          </p:cNvSpPr>
          <p:nvPr>
            <p:ph idx="1"/>
          </p:nvPr>
        </p:nvSpPr>
        <p:spPr>
          <a:xfrm>
            <a:off x="1104899" y="1437609"/>
            <a:ext cx="10768013" cy="4572000"/>
          </a:xfrm>
        </p:spPr>
        <p:txBody>
          <a:bodyPr>
            <a:noAutofit/>
          </a:bodyPr>
          <a:lstStyle/>
          <a:p>
            <a:pPr marL="0" indent="0" algn="just">
              <a:buNone/>
            </a:pPr>
            <a:r>
              <a:rPr lang="en-US" b="1" dirty="0">
                <a:latin typeface="Corbel" panose="020B0503020204020204" pitchFamily="34" charset="0"/>
              </a:rPr>
              <a:t>What you need to do?</a:t>
            </a:r>
          </a:p>
          <a:p>
            <a:pPr marL="0" indent="0" algn="just">
              <a:buNone/>
            </a:pPr>
            <a:r>
              <a:rPr lang="en-US" dirty="0">
                <a:latin typeface="Corbel" panose="020B0503020204020204" pitchFamily="34" charset="0"/>
              </a:rPr>
              <a:t>1.Given below are various topics and desired outputs. Each group is to choose a topic of their liking.</a:t>
            </a:r>
          </a:p>
          <a:p>
            <a:pPr marL="0" indent="0" algn="just">
              <a:buNone/>
            </a:pPr>
            <a:r>
              <a:rPr lang="en-US" dirty="0">
                <a:latin typeface="Corbel" panose="020B0503020204020204" pitchFamily="34" charset="0"/>
              </a:rPr>
              <a:t>2.Every member has to submit the assignment, mentioning the area which they had worked </a:t>
            </a:r>
          </a:p>
          <a:p>
            <a:pPr marL="0" indent="0" algn="just">
              <a:buNone/>
            </a:pPr>
            <a:r>
              <a:rPr lang="en-US" dirty="0">
                <a:latin typeface="Corbel" panose="020B0503020204020204" pitchFamily="34" charset="0"/>
              </a:rPr>
              <a:t>3.Design the solution. The solution should be designed using OOP concepts, such that your final artifacts should contain classes &amp; interfaces to execute the programs</a:t>
            </a:r>
          </a:p>
          <a:p>
            <a:pPr marL="0" indent="0" algn="just">
              <a:buNone/>
            </a:pPr>
            <a:r>
              <a:rPr lang="en-US" dirty="0">
                <a:latin typeface="Corbel" panose="020B0503020204020204" pitchFamily="34" charset="0"/>
              </a:rPr>
              <a:t>4.</a:t>
            </a:r>
            <a:r>
              <a:rPr lang="en-US" b="1" i="1" dirty="0">
                <a:latin typeface="Corbel" panose="020B0503020204020204" pitchFamily="34" charset="0"/>
              </a:rPr>
              <a:t>UI is not mandatory, do not spend too much time on designing the UI. Simple command line or console I/P O/P is acceptable.</a:t>
            </a:r>
          </a:p>
          <a:p>
            <a:pPr marL="0" indent="0" algn="just">
              <a:buNone/>
            </a:pPr>
            <a:r>
              <a:rPr lang="en-US" b="1" dirty="0">
                <a:latin typeface="Corbel" panose="020B0503020204020204" pitchFamily="34" charset="0"/>
              </a:rPr>
              <a:t>Artifacts to be submitted:</a:t>
            </a:r>
          </a:p>
          <a:p>
            <a:pPr marL="0" indent="0" algn="just">
              <a:buNone/>
            </a:pPr>
            <a:r>
              <a:rPr lang="en-US" dirty="0">
                <a:latin typeface="Corbel" panose="020B0503020204020204" pitchFamily="34" charset="0"/>
              </a:rPr>
              <a:t>1.Source Code. </a:t>
            </a:r>
          </a:p>
          <a:p>
            <a:pPr marL="0" indent="0" algn="just">
              <a:buNone/>
            </a:pPr>
            <a:r>
              <a:rPr lang="en-US" dirty="0">
                <a:latin typeface="Corbel" panose="020B0503020204020204" pitchFamily="34" charset="0"/>
              </a:rPr>
              <a:t>2.Screen Shots of All deliverables</a:t>
            </a:r>
          </a:p>
        </p:txBody>
      </p:sp>
    </p:spTree>
    <p:extLst>
      <p:ext uri="{BB962C8B-B14F-4D97-AF65-F5344CB8AC3E}">
        <p14:creationId xmlns:p14="http://schemas.microsoft.com/office/powerpoint/2010/main" val="3464147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24600"/>
            <a:ext cx="10972800" cy="866267"/>
          </a:xfrm>
        </p:spPr>
        <p:txBody>
          <a:bodyPr>
            <a:noAutofit/>
          </a:bodyPr>
          <a:lstStyle/>
          <a:p>
            <a:r>
              <a:rPr lang="en-US" sz="3600" dirty="0"/>
              <a:t>Assignment Instructions</a:t>
            </a:r>
          </a:p>
        </p:txBody>
      </p:sp>
      <p:sp>
        <p:nvSpPr>
          <p:cNvPr id="5" name="Slide Number Placeholder 4"/>
          <p:cNvSpPr>
            <a:spLocks noGrp="1"/>
          </p:cNvSpPr>
          <p:nvPr>
            <p:ph type="sldNum" sz="quarter" idx="12"/>
          </p:nvPr>
        </p:nvSpPr>
        <p:spPr/>
        <p:txBody>
          <a:bodyPr/>
          <a:lstStyle/>
          <a:p>
            <a:fld id="{401CF334-2D5C-4859-84A6-CA7E6E43FAEB}" type="slidenum">
              <a:rPr lang="en-US" smtClean="0"/>
              <a:t>5</a:t>
            </a:fld>
            <a:endParaRPr lang="en-US" dirty="0"/>
          </a:p>
        </p:txBody>
      </p:sp>
      <p:sp>
        <p:nvSpPr>
          <p:cNvPr id="2" name="Content Placeholder 1"/>
          <p:cNvSpPr>
            <a:spLocks noGrp="1"/>
          </p:cNvSpPr>
          <p:nvPr>
            <p:ph idx="1"/>
          </p:nvPr>
        </p:nvSpPr>
        <p:spPr>
          <a:xfrm>
            <a:off x="1104899" y="1437609"/>
            <a:ext cx="10768013" cy="4572000"/>
          </a:xfrm>
        </p:spPr>
        <p:txBody>
          <a:bodyPr>
            <a:noAutofit/>
          </a:bodyPr>
          <a:lstStyle/>
          <a:p>
            <a:pPr marL="0" indent="0" algn="just">
              <a:buNone/>
            </a:pPr>
            <a:r>
              <a:rPr lang="en-US" b="1" dirty="0">
                <a:latin typeface="Corbel" panose="020B0503020204020204" pitchFamily="34" charset="0"/>
              </a:rPr>
              <a:t>Submission Process</a:t>
            </a:r>
          </a:p>
          <a:p>
            <a:pPr marL="0" indent="0" algn="just">
              <a:buNone/>
            </a:pPr>
            <a:r>
              <a:rPr lang="en-US" dirty="0">
                <a:latin typeface="Corbel" panose="020B0503020204020204" pitchFamily="34" charset="0"/>
              </a:rPr>
              <a:t>1.Create a zip file of all your code artifacts and screenshots</a:t>
            </a:r>
          </a:p>
          <a:p>
            <a:pPr marL="0" indent="0" algn="just">
              <a:buNone/>
            </a:pPr>
            <a:r>
              <a:rPr lang="en-US" dirty="0">
                <a:latin typeface="Corbel" panose="020B0503020204020204" pitchFamily="34" charset="0"/>
              </a:rPr>
              <a:t>2.The zip file should be named </a:t>
            </a:r>
            <a:r>
              <a:rPr lang="en-US" b="1" dirty="0">
                <a:solidFill>
                  <a:srgbClr val="C00000"/>
                </a:solidFill>
                <a:latin typeface="Corbel" panose="020B0503020204020204" pitchFamily="34" charset="0"/>
              </a:rPr>
              <a:t>WIMS_OOPD_&lt;BITSID&gt;.zip</a:t>
            </a:r>
            <a:r>
              <a:rPr lang="en-US" dirty="0">
                <a:latin typeface="Corbel" panose="020B0503020204020204" pitchFamily="34" charset="0"/>
              </a:rPr>
              <a:t>. </a:t>
            </a:r>
          </a:p>
          <a:p>
            <a:pPr marL="0" indent="0" algn="just">
              <a:buNone/>
            </a:pPr>
            <a:r>
              <a:rPr lang="en-US" b="1" i="1" dirty="0">
                <a:latin typeface="Corbel" panose="020B0503020204020204" pitchFamily="34" charset="0"/>
              </a:rPr>
              <a:t>Any other file name will be difficult as it is not possible to track submissions, hence adhere to the naming convention.</a:t>
            </a:r>
          </a:p>
          <a:p>
            <a:pPr marL="0" indent="0" algn="just">
              <a:buNone/>
            </a:pPr>
            <a:r>
              <a:rPr lang="en-US" dirty="0">
                <a:latin typeface="Corbel" panose="020B0503020204020204" pitchFamily="34" charset="0"/>
              </a:rPr>
              <a:t>3.Email your assignment to  (avadekkedhil@wilp.bits-pilani.ac.in)</a:t>
            </a:r>
          </a:p>
          <a:p>
            <a:pPr marL="0" indent="0" algn="just">
              <a:buNone/>
            </a:pPr>
            <a:r>
              <a:rPr lang="en-US" b="1" dirty="0">
                <a:latin typeface="Corbel" panose="020B0503020204020204" pitchFamily="34" charset="0"/>
              </a:rPr>
              <a:t>Note: </a:t>
            </a:r>
          </a:p>
          <a:p>
            <a:pPr algn="just"/>
            <a:r>
              <a:rPr lang="en-US" dirty="0">
                <a:latin typeface="Corbel" panose="020B0503020204020204" pitchFamily="34" charset="0"/>
              </a:rPr>
              <a:t>Plagiarism will not be tolerated and will not be considered for evaluation &amp; grading.</a:t>
            </a:r>
          </a:p>
          <a:p>
            <a:pPr algn="just"/>
            <a:r>
              <a:rPr lang="en-US" dirty="0">
                <a:latin typeface="Corbel" panose="020B0503020204020204" pitchFamily="34" charset="0"/>
              </a:rPr>
              <a:t>My Contact Details are : (avadekkedhil@wilp.bits-pilani.ac.in/9881300394) </a:t>
            </a:r>
          </a:p>
          <a:p>
            <a:pPr algn="just"/>
            <a:endParaRPr lang="en-US" dirty="0">
              <a:latin typeface="Corbel" panose="020B0503020204020204" pitchFamily="34" charset="0"/>
            </a:endParaRPr>
          </a:p>
        </p:txBody>
      </p:sp>
    </p:spTree>
    <p:extLst>
      <p:ext uri="{BB962C8B-B14F-4D97-AF65-F5344CB8AC3E}">
        <p14:creationId xmlns:p14="http://schemas.microsoft.com/office/powerpoint/2010/main" val="1367857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err="1"/>
              <a:t>InTERFAceS</a:t>
            </a:r>
            <a:endParaRPr lang="en-US" dirty="0"/>
          </a:p>
        </p:txBody>
      </p:sp>
      <p:sp>
        <p:nvSpPr>
          <p:cNvPr id="3" name="Text Placeholder 2"/>
          <p:cNvSpPr>
            <a:spLocks noGrp="1"/>
          </p:cNvSpPr>
          <p:nvPr>
            <p:ph type="body" idx="1"/>
          </p:nvPr>
        </p:nvSpPr>
        <p:spPr>
          <a:xfrm>
            <a:off x="1104899" y="4655956"/>
            <a:ext cx="3752851" cy="509750"/>
          </a:xfrm>
        </p:spPr>
        <p:txBody>
          <a:bodyPr>
            <a:normAutofit/>
          </a:bodyPr>
          <a:lstStyle/>
          <a:p>
            <a:r>
              <a:rPr lang="en-US" dirty="0"/>
              <a:t>Your Window towards modularity</a:t>
            </a:r>
          </a:p>
        </p:txBody>
      </p:sp>
      <p:pic>
        <p:nvPicPr>
          <p:cNvPr id="7" name="Picture 6"/>
          <p:cNvPicPr>
            <a:picLocks noChangeAspect="1"/>
          </p:cNvPicPr>
          <p:nvPr/>
        </p:nvPicPr>
        <p:blipFill>
          <a:blip r:embed="rId2"/>
          <a:stretch>
            <a:fillRect/>
          </a:stretch>
        </p:blipFill>
        <p:spPr>
          <a:xfrm>
            <a:off x="5196196" y="1296823"/>
            <a:ext cx="6770087" cy="2681411"/>
          </a:xfrm>
          <a:prstGeom prst="rect">
            <a:avLst/>
          </a:prstGeom>
        </p:spPr>
      </p:pic>
    </p:spTree>
    <p:extLst>
      <p:ext uri="{BB962C8B-B14F-4D97-AF65-F5344CB8AC3E}">
        <p14:creationId xmlns:p14="http://schemas.microsoft.com/office/powerpoint/2010/main" val="3947280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24600"/>
            <a:ext cx="10972800" cy="866267"/>
          </a:xfrm>
        </p:spPr>
        <p:txBody>
          <a:bodyPr>
            <a:noAutofit/>
          </a:bodyPr>
          <a:lstStyle/>
          <a:p>
            <a:r>
              <a:rPr lang="en-US" sz="3600" dirty="0"/>
              <a:t>Interfaces in Java</a:t>
            </a:r>
          </a:p>
        </p:txBody>
      </p:sp>
      <p:sp>
        <p:nvSpPr>
          <p:cNvPr id="5" name="Slide Number Placeholder 4"/>
          <p:cNvSpPr>
            <a:spLocks noGrp="1"/>
          </p:cNvSpPr>
          <p:nvPr>
            <p:ph type="sldNum" sz="quarter" idx="12"/>
          </p:nvPr>
        </p:nvSpPr>
        <p:spPr/>
        <p:txBody>
          <a:bodyPr/>
          <a:lstStyle/>
          <a:p>
            <a:fld id="{401CF334-2D5C-4859-84A6-CA7E6E43FAEB}" type="slidenum">
              <a:rPr lang="en-US" smtClean="0"/>
              <a:t>7</a:t>
            </a:fld>
            <a:endParaRPr lang="en-US" dirty="0"/>
          </a:p>
        </p:txBody>
      </p:sp>
      <p:sp>
        <p:nvSpPr>
          <p:cNvPr id="2" name="Content Placeholder 1"/>
          <p:cNvSpPr>
            <a:spLocks noGrp="1"/>
          </p:cNvSpPr>
          <p:nvPr>
            <p:ph idx="1"/>
          </p:nvPr>
        </p:nvSpPr>
        <p:spPr>
          <a:xfrm>
            <a:off x="1104899" y="1437609"/>
            <a:ext cx="10768013" cy="4572000"/>
          </a:xfrm>
        </p:spPr>
        <p:txBody>
          <a:bodyPr>
            <a:noAutofit/>
          </a:bodyPr>
          <a:lstStyle/>
          <a:p>
            <a:pPr algn="just"/>
            <a:r>
              <a:rPr lang="en-US" sz="2400" dirty="0"/>
              <a:t>An </a:t>
            </a:r>
            <a:r>
              <a:rPr lang="en-US" sz="2400" b="1" dirty="0"/>
              <a:t>interface in java</a:t>
            </a:r>
            <a:r>
              <a:rPr lang="en-US" sz="2400" dirty="0"/>
              <a:t> is a </a:t>
            </a:r>
            <a:r>
              <a:rPr lang="en-US" sz="2400" b="1" dirty="0"/>
              <a:t>blueprint of a class</a:t>
            </a:r>
            <a:r>
              <a:rPr lang="en-US" sz="2400" dirty="0"/>
              <a:t>. It has static constants and abstract methods only.</a:t>
            </a:r>
          </a:p>
          <a:p>
            <a:r>
              <a:rPr lang="en-US" sz="2400" dirty="0"/>
              <a:t>An interface is a </a:t>
            </a:r>
            <a:r>
              <a:rPr lang="en-US" sz="2400" b="1" dirty="0"/>
              <a:t>reference type in Java</a:t>
            </a:r>
            <a:r>
              <a:rPr lang="en-US" sz="2400" dirty="0"/>
              <a:t>. It is similar to class. It is a collection of abstract methods. </a:t>
            </a:r>
            <a:r>
              <a:rPr lang="en-US" sz="2400" b="1" dirty="0"/>
              <a:t>A class implements an interface</a:t>
            </a:r>
            <a:r>
              <a:rPr lang="en-US" sz="2400" dirty="0"/>
              <a:t>, thereby </a:t>
            </a:r>
            <a:r>
              <a:rPr lang="en-US" sz="2400" b="1" dirty="0"/>
              <a:t>inheriting</a:t>
            </a:r>
            <a:r>
              <a:rPr lang="en-US" sz="2400" dirty="0"/>
              <a:t> the </a:t>
            </a:r>
            <a:r>
              <a:rPr lang="en-US" sz="2400" b="1" dirty="0"/>
              <a:t>abstract methods </a:t>
            </a:r>
            <a:r>
              <a:rPr lang="en-US" sz="2400" dirty="0"/>
              <a:t>of the interface.</a:t>
            </a:r>
          </a:p>
          <a:p>
            <a:r>
              <a:rPr lang="en-US" sz="2400" dirty="0"/>
              <a:t>Along with </a:t>
            </a:r>
            <a:r>
              <a:rPr lang="en-US" sz="2400" b="1" dirty="0"/>
              <a:t>abstract methods</a:t>
            </a:r>
            <a:r>
              <a:rPr lang="en-US" sz="2400" dirty="0"/>
              <a:t>, an interface may also contain constants, default methods, static methods, and nested types. Method bodies exist only for default methods and static methods.</a:t>
            </a:r>
          </a:p>
          <a:p>
            <a:r>
              <a:rPr lang="en-US" sz="2400" dirty="0"/>
              <a:t>Writing an interface is similar to writing a class. But a class describes the attributes and behaviors of an object. And an interface contains behaviors that a class implements.</a:t>
            </a:r>
          </a:p>
          <a:p>
            <a:pPr algn="just"/>
            <a:endParaRPr lang="en-US" sz="2400" dirty="0">
              <a:latin typeface="Corbel" panose="020B0503020204020204" pitchFamily="34" charset="0"/>
            </a:endParaRPr>
          </a:p>
        </p:txBody>
      </p:sp>
    </p:spTree>
    <p:extLst>
      <p:ext uri="{BB962C8B-B14F-4D97-AF65-F5344CB8AC3E}">
        <p14:creationId xmlns:p14="http://schemas.microsoft.com/office/powerpoint/2010/main" val="414741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08724"/>
            <a:ext cx="10972800" cy="866267"/>
          </a:xfrm>
        </p:spPr>
        <p:txBody>
          <a:bodyPr>
            <a:noAutofit/>
          </a:bodyPr>
          <a:lstStyle/>
          <a:p>
            <a:r>
              <a:rPr lang="en-US" sz="3600" dirty="0"/>
              <a:t>Interface &amp; Class Similarities</a:t>
            </a:r>
          </a:p>
        </p:txBody>
      </p:sp>
      <p:sp>
        <p:nvSpPr>
          <p:cNvPr id="5" name="Slide Number Placeholder 4"/>
          <p:cNvSpPr>
            <a:spLocks noGrp="1"/>
          </p:cNvSpPr>
          <p:nvPr>
            <p:ph type="sldNum" sz="quarter" idx="12"/>
          </p:nvPr>
        </p:nvSpPr>
        <p:spPr/>
        <p:txBody>
          <a:bodyPr/>
          <a:lstStyle/>
          <a:p>
            <a:fld id="{401CF334-2D5C-4859-84A6-CA7E6E43FAEB}" type="slidenum">
              <a:rPr lang="en-US" smtClean="0"/>
              <a:t>8</a:t>
            </a:fld>
            <a:endParaRPr lang="en-US" dirty="0"/>
          </a:p>
        </p:txBody>
      </p:sp>
      <p:sp>
        <p:nvSpPr>
          <p:cNvPr id="2" name="Content Placeholder 1"/>
          <p:cNvSpPr>
            <a:spLocks noGrp="1"/>
          </p:cNvSpPr>
          <p:nvPr>
            <p:ph idx="1"/>
          </p:nvPr>
        </p:nvSpPr>
        <p:spPr/>
        <p:txBody>
          <a:bodyPr>
            <a:noAutofit/>
          </a:bodyPr>
          <a:lstStyle/>
          <a:p>
            <a:r>
              <a:rPr lang="en-US" sz="2400" b="1" dirty="0"/>
              <a:t>An interface is not a class. Writing an interface is similar to writing a class, but they are two different concepts. A class describes the attributes and behaviors of an object. An interface contains behaviors that a class implements.</a:t>
            </a:r>
            <a:endParaRPr lang="en-US" sz="2400" dirty="0">
              <a:latin typeface="Corbel" panose="020B0503020204020204" pitchFamily="34" charset="0"/>
            </a:endParaRPr>
          </a:p>
          <a:p>
            <a:pPr algn="just"/>
            <a:r>
              <a:rPr lang="en-US" sz="2400" dirty="0">
                <a:latin typeface="Corbel" panose="020B0503020204020204" pitchFamily="34" charset="0"/>
              </a:rPr>
              <a:t>An interface is similar to a class in the following ways:</a:t>
            </a:r>
          </a:p>
          <a:p>
            <a:pPr lvl="1" algn="just"/>
            <a:r>
              <a:rPr lang="en-US" sz="2000" dirty="0">
                <a:latin typeface="Corbel" panose="020B0503020204020204" pitchFamily="34" charset="0"/>
              </a:rPr>
              <a:t>An interface can contain any number of methods.</a:t>
            </a:r>
          </a:p>
          <a:p>
            <a:pPr lvl="1" algn="just"/>
            <a:r>
              <a:rPr lang="en-US" sz="2000" dirty="0">
                <a:latin typeface="Corbel" panose="020B0503020204020204" pitchFamily="34" charset="0"/>
              </a:rPr>
              <a:t>An interface is written in a file with a .java extension, with the name of the interface matching the name of the file.</a:t>
            </a:r>
          </a:p>
          <a:p>
            <a:pPr lvl="1" algn="just"/>
            <a:r>
              <a:rPr lang="en-US" sz="2000" dirty="0">
                <a:latin typeface="Corbel" panose="020B0503020204020204" pitchFamily="34" charset="0"/>
              </a:rPr>
              <a:t>The bytecode of an interface appears in a .class file.</a:t>
            </a:r>
          </a:p>
          <a:p>
            <a:pPr lvl="1" algn="just"/>
            <a:r>
              <a:rPr lang="en-US" sz="2000" dirty="0">
                <a:latin typeface="Corbel" panose="020B0503020204020204" pitchFamily="34" charset="0"/>
              </a:rPr>
              <a:t>Interfaces appear in packages, and their corresponding bytecode file </a:t>
            </a:r>
            <a:r>
              <a:rPr lang="en-US" sz="2200" dirty="0">
                <a:latin typeface="Corbel" panose="020B0503020204020204" pitchFamily="34" charset="0"/>
              </a:rPr>
              <a:t>must be in a directory structure that matches the package name.</a:t>
            </a:r>
          </a:p>
        </p:txBody>
      </p:sp>
    </p:spTree>
    <p:extLst>
      <p:ext uri="{BB962C8B-B14F-4D97-AF65-F5344CB8AC3E}">
        <p14:creationId xmlns:p14="http://schemas.microsoft.com/office/powerpoint/2010/main" val="197367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0"/>
            <a:ext cx="10972800" cy="866267"/>
          </a:xfrm>
        </p:spPr>
        <p:txBody>
          <a:bodyPr>
            <a:noAutofit/>
          </a:bodyPr>
          <a:lstStyle/>
          <a:p>
            <a:r>
              <a:rPr lang="en-US" sz="3600" dirty="0"/>
              <a:t>Interface &amp; Class Difference</a:t>
            </a:r>
          </a:p>
        </p:txBody>
      </p:sp>
      <p:sp>
        <p:nvSpPr>
          <p:cNvPr id="5" name="Slide Number Placeholder 4"/>
          <p:cNvSpPr>
            <a:spLocks noGrp="1"/>
          </p:cNvSpPr>
          <p:nvPr>
            <p:ph type="sldNum" sz="quarter" idx="12"/>
          </p:nvPr>
        </p:nvSpPr>
        <p:spPr/>
        <p:txBody>
          <a:bodyPr/>
          <a:lstStyle/>
          <a:p>
            <a:fld id="{401CF334-2D5C-4859-84A6-CA7E6E43FAEB}" type="slidenum">
              <a:rPr lang="en-US" smtClean="0"/>
              <a:t>9</a:t>
            </a:fld>
            <a:endParaRPr lang="en-US" dirty="0"/>
          </a:p>
        </p:txBody>
      </p:sp>
      <p:sp>
        <p:nvSpPr>
          <p:cNvPr id="2" name="Content Placeholder 1"/>
          <p:cNvSpPr>
            <a:spLocks noGrp="1"/>
          </p:cNvSpPr>
          <p:nvPr>
            <p:ph idx="1"/>
          </p:nvPr>
        </p:nvSpPr>
        <p:spPr/>
        <p:txBody>
          <a:bodyPr>
            <a:noAutofit/>
          </a:bodyPr>
          <a:lstStyle/>
          <a:p>
            <a:r>
              <a:rPr lang="en-US" sz="2400" dirty="0"/>
              <a:t>However, an interface is different from a class in several ways, including:</a:t>
            </a:r>
          </a:p>
          <a:p>
            <a:pPr lvl="1"/>
            <a:r>
              <a:rPr lang="en-US" sz="2200" dirty="0"/>
              <a:t>You cannot instantiate an interface.</a:t>
            </a:r>
          </a:p>
          <a:p>
            <a:pPr lvl="1"/>
            <a:r>
              <a:rPr lang="en-US" sz="2200" dirty="0"/>
              <a:t>An interface does not contain any constructors.</a:t>
            </a:r>
          </a:p>
          <a:p>
            <a:pPr lvl="1"/>
            <a:r>
              <a:rPr lang="en-US" sz="2200" dirty="0"/>
              <a:t>All of the methods in an interface are abstract.</a:t>
            </a:r>
          </a:p>
          <a:p>
            <a:pPr lvl="1"/>
            <a:r>
              <a:rPr lang="en-US" sz="2200" dirty="0"/>
              <a:t>An interface cannot contain instance fields. The only fields that can </a:t>
            </a:r>
            <a:r>
              <a:rPr lang="en-US" sz="2400" dirty="0"/>
              <a:t>appear in an interface must be declared both static and final.</a:t>
            </a:r>
          </a:p>
          <a:p>
            <a:pPr lvl="1"/>
            <a:r>
              <a:rPr lang="en-US" sz="2200" dirty="0"/>
              <a:t>An interface is not extended by a class; it is implemented by a class.</a:t>
            </a:r>
          </a:p>
          <a:p>
            <a:pPr lvl="1"/>
            <a:r>
              <a:rPr lang="en-US" sz="2200" dirty="0"/>
              <a:t>An interface can extend multiple interfaces.</a:t>
            </a:r>
            <a:endParaRPr lang="en-US" sz="2000" dirty="0">
              <a:latin typeface="Corbel" panose="020B0503020204020204" pitchFamily="34" charset="0"/>
            </a:endParaRPr>
          </a:p>
        </p:txBody>
      </p:sp>
    </p:spTree>
    <p:extLst>
      <p:ext uri="{BB962C8B-B14F-4D97-AF65-F5344CB8AC3E}">
        <p14:creationId xmlns:p14="http://schemas.microsoft.com/office/powerpoint/2010/main" val="1782220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61837" y="160277"/>
            <a:ext cx="10972800" cy="866267"/>
          </a:xfrm>
        </p:spPr>
        <p:txBody>
          <a:bodyPr>
            <a:noAutofit/>
          </a:bodyPr>
          <a:lstStyle/>
          <a:p>
            <a:r>
              <a:rPr lang="en-US" sz="3600" dirty="0"/>
              <a:t>Interface &amp; Class Example</a:t>
            </a:r>
          </a:p>
        </p:txBody>
      </p:sp>
      <p:sp>
        <p:nvSpPr>
          <p:cNvPr id="5" name="Slide Number Placeholder 4"/>
          <p:cNvSpPr>
            <a:spLocks noGrp="1"/>
          </p:cNvSpPr>
          <p:nvPr>
            <p:ph type="sldNum" sz="quarter" idx="12"/>
          </p:nvPr>
        </p:nvSpPr>
        <p:spPr/>
        <p:txBody>
          <a:bodyPr/>
          <a:lstStyle/>
          <a:p>
            <a:fld id="{401CF334-2D5C-4859-84A6-CA7E6E43FAEB}" type="slidenum">
              <a:rPr lang="en-US" smtClean="0"/>
              <a:t>10</a:t>
            </a:fld>
            <a:endParaRPr lang="en-US" dirty="0"/>
          </a:p>
        </p:txBody>
      </p:sp>
      <p:pic>
        <p:nvPicPr>
          <p:cNvPr id="6" name="Picture 5"/>
          <p:cNvPicPr>
            <a:picLocks noChangeAspect="1"/>
          </p:cNvPicPr>
          <p:nvPr/>
        </p:nvPicPr>
        <p:blipFill>
          <a:blip r:embed="rId2"/>
          <a:stretch>
            <a:fillRect/>
          </a:stretch>
        </p:blipFill>
        <p:spPr>
          <a:xfrm>
            <a:off x="327543" y="1118854"/>
            <a:ext cx="11864457" cy="5305737"/>
          </a:xfrm>
          <a:prstGeom prst="rect">
            <a:avLst/>
          </a:prstGeom>
        </p:spPr>
      </p:pic>
    </p:spTree>
    <p:extLst>
      <p:ext uri="{BB962C8B-B14F-4D97-AF65-F5344CB8AC3E}">
        <p14:creationId xmlns:p14="http://schemas.microsoft.com/office/powerpoint/2010/main" val="1638535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24600"/>
            <a:ext cx="10972800" cy="866267"/>
          </a:xfrm>
        </p:spPr>
        <p:txBody>
          <a:bodyPr>
            <a:noAutofit/>
          </a:bodyPr>
          <a:lstStyle/>
          <a:p>
            <a:r>
              <a:rPr lang="en-US" sz="3600" dirty="0"/>
              <a:t>Interface Why do we need them?</a:t>
            </a:r>
          </a:p>
        </p:txBody>
      </p:sp>
      <p:sp>
        <p:nvSpPr>
          <p:cNvPr id="5" name="Slide Number Placeholder 4"/>
          <p:cNvSpPr>
            <a:spLocks noGrp="1"/>
          </p:cNvSpPr>
          <p:nvPr>
            <p:ph type="sldNum" sz="quarter" idx="12"/>
          </p:nvPr>
        </p:nvSpPr>
        <p:spPr/>
        <p:txBody>
          <a:bodyPr/>
          <a:lstStyle/>
          <a:p>
            <a:fld id="{401CF334-2D5C-4859-84A6-CA7E6E43FAEB}" type="slidenum">
              <a:rPr lang="en-US" smtClean="0"/>
              <a:t>11</a:t>
            </a:fld>
            <a:endParaRPr lang="en-US" dirty="0"/>
          </a:p>
        </p:txBody>
      </p:sp>
      <p:sp>
        <p:nvSpPr>
          <p:cNvPr id="2" name="Content Placeholder 1"/>
          <p:cNvSpPr>
            <a:spLocks noGrp="1"/>
          </p:cNvSpPr>
          <p:nvPr>
            <p:ph idx="1"/>
          </p:nvPr>
        </p:nvSpPr>
        <p:spPr>
          <a:xfrm>
            <a:off x="1104900" y="1437609"/>
            <a:ext cx="10839450" cy="4572000"/>
          </a:xfrm>
        </p:spPr>
        <p:txBody>
          <a:bodyPr>
            <a:noAutofit/>
          </a:bodyPr>
          <a:lstStyle/>
          <a:p>
            <a:pPr algn="just"/>
            <a:r>
              <a:rPr lang="en-US" b="1" dirty="0">
                <a:latin typeface="Corbel" panose="020B0503020204020204" pitchFamily="34" charset="0"/>
              </a:rPr>
              <a:t>Interfaces are used for abstraction</a:t>
            </a:r>
            <a:r>
              <a:rPr lang="en-US" sz="1800" dirty="0">
                <a:latin typeface="Corbel" panose="020B0503020204020204" pitchFamily="34" charset="0"/>
              </a:rPr>
              <a:t>. </a:t>
            </a:r>
          </a:p>
          <a:p>
            <a:pPr lvl="1" algn="just"/>
            <a:r>
              <a:rPr lang="en-US" sz="1800" dirty="0">
                <a:latin typeface="Corbel" panose="020B0503020204020204" pitchFamily="34" charset="0"/>
              </a:rPr>
              <a:t>Since methods in interfaces do not have body, they have to be implemented by the class before you can access them. The class that implements interface must implement all the methods of that interface. </a:t>
            </a:r>
          </a:p>
          <a:p>
            <a:pPr algn="just"/>
            <a:r>
              <a:rPr lang="en-US" sz="2000" b="1" dirty="0">
                <a:latin typeface="Corbel" panose="020B0503020204020204" pitchFamily="34" charset="0"/>
              </a:rPr>
              <a:t>Interfaces are used to derive multiple inheritance</a:t>
            </a:r>
            <a:r>
              <a:rPr lang="en-US" sz="2000" dirty="0">
                <a:latin typeface="Corbel" panose="020B0503020204020204" pitchFamily="34" charset="0"/>
              </a:rPr>
              <a:t>, </a:t>
            </a:r>
          </a:p>
          <a:p>
            <a:pPr lvl="1" algn="just"/>
            <a:r>
              <a:rPr lang="en-US" sz="1800" dirty="0">
                <a:latin typeface="Corbel" panose="020B0503020204020204" pitchFamily="34" charset="0"/>
              </a:rPr>
              <a:t>Java programing languages does not allow for multiple inheritance, however using interfaces we can achieve this as a class can implement more than one interfaces, however it cannot extend more than one classes.</a:t>
            </a:r>
          </a:p>
          <a:p>
            <a:pPr algn="just"/>
            <a:r>
              <a:rPr lang="en-US" sz="2000" b="1" dirty="0">
                <a:latin typeface="Corbel" panose="020B0503020204020204" pitchFamily="34" charset="0"/>
              </a:rPr>
              <a:t>Interface is more like a guarantee, the onus of realizing the interface is left to the class which implements it</a:t>
            </a:r>
            <a:r>
              <a:rPr lang="en-US" sz="2000" dirty="0">
                <a:latin typeface="Corbel" panose="020B0503020204020204" pitchFamily="34" charset="0"/>
              </a:rPr>
              <a:t>.</a:t>
            </a:r>
          </a:p>
          <a:p>
            <a:pPr lvl="1" algn="just"/>
            <a:r>
              <a:rPr lang="en-US" sz="1800" dirty="0">
                <a:latin typeface="Corbel" panose="020B0503020204020204" pitchFamily="34" charset="0"/>
              </a:rPr>
              <a:t>Interfaces have many uses and benefits. For example, an interface can be used to expose certain behaviors of a class, without exposing all of the behaviors of a class. Interfaces can be used to force behavior on other objects, ensuring that certain methods are implemented by an object. </a:t>
            </a:r>
          </a:p>
          <a:p>
            <a:pPr lvl="1" algn="just"/>
            <a:r>
              <a:rPr lang="en-US" sz="1800" dirty="0">
                <a:latin typeface="Corbel" panose="020B0503020204020204" pitchFamily="34" charset="0"/>
              </a:rPr>
              <a:t>Interfaces can be used for polymorphism reasons, since an object can take on the form of an interface type.</a:t>
            </a:r>
          </a:p>
        </p:txBody>
      </p:sp>
    </p:spTree>
    <p:extLst>
      <p:ext uri="{BB962C8B-B14F-4D97-AF65-F5344CB8AC3E}">
        <p14:creationId xmlns:p14="http://schemas.microsoft.com/office/powerpoint/2010/main" val="76692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24600"/>
            <a:ext cx="10972800" cy="866267"/>
          </a:xfrm>
        </p:spPr>
        <p:txBody>
          <a:bodyPr>
            <a:noAutofit/>
          </a:bodyPr>
          <a:lstStyle/>
          <a:p>
            <a:r>
              <a:rPr lang="en-US" sz="3600" dirty="0"/>
              <a:t>Declaring Interface</a:t>
            </a:r>
          </a:p>
        </p:txBody>
      </p:sp>
      <p:sp>
        <p:nvSpPr>
          <p:cNvPr id="5" name="Slide Number Placeholder 4"/>
          <p:cNvSpPr>
            <a:spLocks noGrp="1"/>
          </p:cNvSpPr>
          <p:nvPr>
            <p:ph type="sldNum" sz="quarter" idx="12"/>
          </p:nvPr>
        </p:nvSpPr>
        <p:spPr/>
        <p:txBody>
          <a:bodyPr/>
          <a:lstStyle/>
          <a:p>
            <a:fld id="{401CF334-2D5C-4859-84A6-CA7E6E43FAEB}" type="slidenum">
              <a:rPr lang="en-US" smtClean="0"/>
              <a:t>12</a:t>
            </a:fld>
            <a:endParaRPr lang="en-US" dirty="0"/>
          </a:p>
        </p:txBody>
      </p:sp>
      <p:sp>
        <p:nvSpPr>
          <p:cNvPr id="2" name="Content Placeholder 1"/>
          <p:cNvSpPr>
            <a:spLocks noGrp="1"/>
          </p:cNvSpPr>
          <p:nvPr>
            <p:ph idx="1"/>
          </p:nvPr>
        </p:nvSpPr>
        <p:spPr/>
        <p:txBody>
          <a:bodyPr>
            <a:noAutofit/>
          </a:bodyPr>
          <a:lstStyle/>
          <a:p>
            <a:r>
              <a:rPr lang="en-US" sz="1800" dirty="0"/>
              <a:t>The interface keyword is used to declare an interface. The source code file for an interface has the format shown here:</a:t>
            </a:r>
          </a:p>
          <a:p>
            <a:endParaRPr lang="en-US" sz="1800" dirty="0">
              <a:latin typeface="Corbel" panose="020B0503020204020204" pitchFamily="34" charset="0"/>
            </a:endParaRPr>
          </a:p>
          <a:p>
            <a:endParaRPr lang="en-US" sz="1800" dirty="0">
              <a:latin typeface="Corbel" panose="020B0503020204020204" pitchFamily="34" charset="0"/>
            </a:endParaRPr>
          </a:p>
        </p:txBody>
      </p:sp>
      <p:pic>
        <p:nvPicPr>
          <p:cNvPr id="7" name="Picture 6"/>
          <p:cNvPicPr>
            <a:picLocks noChangeAspect="1"/>
          </p:cNvPicPr>
          <p:nvPr/>
        </p:nvPicPr>
        <p:blipFill>
          <a:blip r:embed="rId2"/>
          <a:stretch>
            <a:fillRect/>
          </a:stretch>
        </p:blipFill>
        <p:spPr>
          <a:xfrm>
            <a:off x="1015849" y="2214564"/>
            <a:ext cx="9369812" cy="3815252"/>
          </a:xfrm>
          <a:prstGeom prst="rect">
            <a:avLst/>
          </a:prstGeom>
        </p:spPr>
      </p:pic>
    </p:spTree>
    <p:extLst>
      <p:ext uri="{BB962C8B-B14F-4D97-AF65-F5344CB8AC3E}">
        <p14:creationId xmlns:p14="http://schemas.microsoft.com/office/powerpoint/2010/main" val="3470335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067897" y="289938"/>
            <a:ext cx="10972800" cy="866267"/>
          </a:xfrm>
        </p:spPr>
        <p:txBody>
          <a:bodyPr>
            <a:noAutofit/>
          </a:bodyPr>
          <a:lstStyle/>
          <a:p>
            <a:r>
              <a:rPr lang="en-US" sz="3600" dirty="0"/>
              <a:t>Interface Properties</a:t>
            </a:r>
          </a:p>
        </p:txBody>
      </p:sp>
      <p:sp>
        <p:nvSpPr>
          <p:cNvPr id="5" name="Slide Number Placeholder 4"/>
          <p:cNvSpPr>
            <a:spLocks noGrp="1"/>
          </p:cNvSpPr>
          <p:nvPr>
            <p:ph type="sldNum" sz="quarter" idx="12"/>
          </p:nvPr>
        </p:nvSpPr>
        <p:spPr/>
        <p:txBody>
          <a:bodyPr/>
          <a:lstStyle/>
          <a:p>
            <a:fld id="{401CF334-2D5C-4859-84A6-CA7E6E43FAEB}" type="slidenum">
              <a:rPr lang="en-US" smtClean="0"/>
              <a:t>13</a:t>
            </a:fld>
            <a:endParaRPr lang="en-US" dirty="0"/>
          </a:p>
        </p:txBody>
      </p:sp>
      <p:sp>
        <p:nvSpPr>
          <p:cNvPr id="2" name="Content Placeholder 1"/>
          <p:cNvSpPr>
            <a:spLocks noGrp="1"/>
          </p:cNvSpPr>
          <p:nvPr>
            <p:ph idx="1"/>
          </p:nvPr>
        </p:nvSpPr>
        <p:spPr>
          <a:xfrm>
            <a:off x="595313" y="1458998"/>
            <a:ext cx="7360693" cy="4389120"/>
          </a:xfrm>
        </p:spPr>
        <p:txBody>
          <a:bodyPr>
            <a:noAutofit/>
          </a:bodyPr>
          <a:lstStyle/>
          <a:p>
            <a:r>
              <a:rPr lang="en-US" sz="2000" b="1" dirty="0">
                <a:latin typeface="Corbel" panose="020B0503020204020204" pitchFamily="34" charset="0"/>
              </a:rPr>
              <a:t>Interfaces have the following properties</a:t>
            </a:r>
            <a:r>
              <a:rPr lang="en-US" sz="2000" dirty="0">
                <a:latin typeface="Corbel" panose="020B0503020204020204" pitchFamily="34" charset="0"/>
              </a:rPr>
              <a:t>:</a:t>
            </a:r>
          </a:p>
          <a:p>
            <a:pPr lvl="1"/>
            <a:r>
              <a:rPr lang="en-US" sz="1800" dirty="0">
                <a:latin typeface="Corbel" panose="020B0503020204020204" pitchFamily="34" charset="0"/>
              </a:rPr>
              <a:t>An interface is </a:t>
            </a:r>
            <a:r>
              <a:rPr lang="en-US" sz="1800" b="1" dirty="0">
                <a:latin typeface="Corbel" panose="020B0503020204020204" pitchFamily="34" charset="0"/>
              </a:rPr>
              <a:t>implicitly abstract</a:t>
            </a:r>
            <a:r>
              <a:rPr lang="en-US" sz="1800" dirty="0">
                <a:latin typeface="Corbel" panose="020B0503020204020204" pitchFamily="34" charset="0"/>
              </a:rPr>
              <a:t>. You </a:t>
            </a:r>
            <a:r>
              <a:rPr lang="en-US" sz="1800" b="1" dirty="0">
                <a:latin typeface="Corbel" panose="020B0503020204020204" pitchFamily="34" charset="0"/>
              </a:rPr>
              <a:t>do not need to use the abstract </a:t>
            </a:r>
            <a:r>
              <a:rPr lang="en-US" sz="2000" b="1" dirty="0">
                <a:latin typeface="Corbel" panose="020B0503020204020204" pitchFamily="34" charset="0"/>
              </a:rPr>
              <a:t>keyword </a:t>
            </a:r>
            <a:r>
              <a:rPr lang="en-US" sz="2000" dirty="0">
                <a:latin typeface="Corbel" panose="020B0503020204020204" pitchFamily="34" charset="0"/>
              </a:rPr>
              <a:t>when declaring an interface (although it is acceptable to use it).</a:t>
            </a:r>
          </a:p>
          <a:p>
            <a:pPr lvl="1"/>
            <a:r>
              <a:rPr lang="en-US" sz="1800" dirty="0">
                <a:latin typeface="Corbel" panose="020B0503020204020204" pitchFamily="34" charset="0"/>
              </a:rPr>
              <a:t> </a:t>
            </a:r>
            <a:r>
              <a:rPr lang="en-US" sz="1800" b="1" dirty="0">
                <a:latin typeface="Corbel" panose="020B0503020204020204" pitchFamily="34" charset="0"/>
              </a:rPr>
              <a:t>Each method in an interface </a:t>
            </a:r>
            <a:r>
              <a:rPr lang="en-US" sz="1800" dirty="0">
                <a:latin typeface="Corbel" panose="020B0503020204020204" pitchFamily="34" charset="0"/>
              </a:rPr>
              <a:t>is also </a:t>
            </a:r>
            <a:r>
              <a:rPr lang="en-US" sz="1800" b="1" dirty="0">
                <a:latin typeface="Corbel" panose="020B0503020204020204" pitchFamily="34" charset="0"/>
              </a:rPr>
              <a:t>implicitly abstract</a:t>
            </a:r>
            <a:r>
              <a:rPr lang="en-US" sz="1800" dirty="0">
                <a:latin typeface="Corbel" panose="020B0503020204020204" pitchFamily="34" charset="0"/>
              </a:rPr>
              <a:t>, so the abstract </a:t>
            </a:r>
            <a:r>
              <a:rPr lang="en-US" sz="2000" dirty="0">
                <a:latin typeface="Corbel" panose="020B0503020204020204" pitchFamily="34" charset="0"/>
              </a:rPr>
              <a:t>keyword is not needed. You can explicitly declare a method in an interface as abstract, but typically the abstract keyword is left off.</a:t>
            </a:r>
          </a:p>
          <a:p>
            <a:pPr lvl="1"/>
            <a:r>
              <a:rPr lang="en-US" sz="1800" b="1" dirty="0">
                <a:latin typeface="Corbel" panose="020B0503020204020204" pitchFamily="34" charset="0"/>
              </a:rPr>
              <a:t>Methods in an interface are implicitly public</a:t>
            </a:r>
            <a:r>
              <a:rPr lang="en-US" sz="1800" dirty="0">
                <a:latin typeface="Corbel" panose="020B0503020204020204" pitchFamily="34" charset="0"/>
              </a:rPr>
              <a:t>. It is common practice to </a:t>
            </a:r>
            <a:r>
              <a:rPr lang="en-US" sz="2000" dirty="0">
                <a:latin typeface="Corbel" panose="020B0503020204020204" pitchFamily="34" charset="0"/>
              </a:rPr>
              <a:t>use the public keyword when writing an interface, but if you do not </a:t>
            </a:r>
            <a:r>
              <a:rPr lang="en-US" sz="2000" b="1" dirty="0">
                <a:latin typeface="Corbel" panose="020B0503020204020204" pitchFamily="34" charset="0"/>
              </a:rPr>
              <a:t>explicitly declare a method in an interface as public</a:t>
            </a:r>
            <a:r>
              <a:rPr lang="en-US" sz="2000" dirty="0">
                <a:latin typeface="Corbel" panose="020B0503020204020204" pitchFamily="34" charset="0"/>
              </a:rPr>
              <a:t>, it will be public anyway.</a:t>
            </a:r>
          </a:p>
          <a:p>
            <a:r>
              <a:rPr lang="en-US" sz="2000" dirty="0">
                <a:latin typeface="Corbel" panose="020B0503020204020204" pitchFamily="34" charset="0"/>
              </a:rPr>
              <a:t>The Java API contains hundreds of interfaces. For example, the following Runnable interface is defined in the </a:t>
            </a:r>
            <a:r>
              <a:rPr lang="en-US" sz="2000" dirty="0" err="1">
                <a:latin typeface="Corbel" panose="020B0503020204020204" pitchFamily="34" charset="0"/>
              </a:rPr>
              <a:t>java.lang</a:t>
            </a:r>
            <a:r>
              <a:rPr lang="en-US" sz="2000" dirty="0">
                <a:latin typeface="Corbel" panose="020B0503020204020204" pitchFamily="34" charset="0"/>
              </a:rPr>
              <a:t> package.</a:t>
            </a:r>
          </a:p>
        </p:txBody>
      </p:sp>
      <p:sp>
        <p:nvSpPr>
          <p:cNvPr id="6" name="Rectangle 5"/>
          <p:cNvSpPr/>
          <p:nvPr/>
        </p:nvSpPr>
        <p:spPr>
          <a:xfrm>
            <a:off x="8175008" y="1935480"/>
            <a:ext cx="3698543" cy="2862322"/>
          </a:xfrm>
          <a:prstGeom prst="rect">
            <a:avLst/>
          </a:prstGeom>
        </p:spPr>
        <p:txBody>
          <a:bodyPr wrap="square">
            <a:spAutoFit/>
          </a:bodyPr>
          <a:lstStyle/>
          <a:p>
            <a:pPr marL="285750" indent="-285750">
              <a:buFont typeface="Arial" panose="020B0604020202020204" pitchFamily="34" charset="0"/>
              <a:buChar char="•"/>
            </a:pPr>
            <a:r>
              <a:rPr lang="en-US" b="1" i="1" dirty="0">
                <a:latin typeface="Corbel" panose="020B0503020204020204" pitchFamily="34" charset="0"/>
              </a:rPr>
              <a:t>The Runnable interface is used when writing multithreaded applications. </a:t>
            </a:r>
          </a:p>
          <a:p>
            <a:pPr marL="285750" indent="-285750">
              <a:buFont typeface="Arial" panose="020B0604020202020204" pitchFamily="34" charset="0"/>
              <a:buChar char="•"/>
            </a:pPr>
            <a:r>
              <a:rPr lang="en-US" b="1" i="1" dirty="0">
                <a:latin typeface="Corbel" panose="020B0503020204020204" pitchFamily="34" charset="0"/>
              </a:rPr>
              <a:t>The design of threads in Java requires a class to implement Runnable to be a thread, thereby forcing the class to have a run() method. </a:t>
            </a:r>
          </a:p>
          <a:p>
            <a:pPr marL="285750" indent="-285750">
              <a:buFont typeface="Arial" panose="020B0604020202020204" pitchFamily="34" charset="0"/>
              <a:buChar char="•"/>
            </a:pPr>
            <a:r>
              <a:rPr lang="en-US" b="1" i="1" dirty="0">
                <a:latin typeface="Corbel" panose="020B0503020204020204" pitchFamily="34" charset="0"/>
              </a:rPr>
              <a:t>When the thread is started, the run() method is invoked. </a:t>
            </a:r>
          </a:p>
        </p:txBody>
      </p:sp>
    </p:spTree>
    <p:extLst>
      <p:ext uri="{BB962C8B-B14F-4D97-AF65-F5344CB8AC3E}">
        <p14:creationId xmlns:p14="http://schemas.microsoft.com/office/powerpoint/2010/main" val="3737518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Implementing an Interface</a:t>
            </a:r>
          </a:p>
        </p:txBody>
      </p:sp>
      <p:sp>
        <p:nvSpPr>
          <p:cNvPr id="5" name="Slide Number Placeholder 4"/>
          <p:cNvSpPr>
            <a:spLocks noGrp="1"/>
          </p:cNvSpPr>
          <p:nvPr>
            <p:ph type="sldNum" sz="quarter" idx="12"/>
          </p:nvPr>
        </p:nvSpPr>
        <p:spPr/>
        <p:txBody>
          <a:bodyPr/>
          <a:lstStyle/>
          <a:p>
            <a:fld id="{401CF334-2D5C-4859-84A6-CA7E6E43FAEB}" type="slidenum">
              <a:rPr lang="en-US" smtClean="0"/>
              <a:t>14</a:t>
            </a:fld>
            <a:endParaRPr lang="en-US" dirty="0"/>
          </a:p>
        </p:txBody>
      </p:sp>
      <p:sp>
        <p:nvSpPr>
          <p:cNvPr id="2" name="Content Placeholder 1"/>
          <p:cNvSpPr>
            <a:spLocks noGrp="1"/>
          </p:cNvSpPr>
          <p:nvPr>
            <p:ph idx="1"/>
          </p:nvPr>
        </p:nvSpPr>
        <p:spPr/>
        <p:txBody>
          <a:bodyPr>
            <a:noAutofit/>
          </a:bodyPr>
          <a:lstStyle/>
          <a:p>
            <a:r>
              <a:rPr lang="en-US" sz="2000" dirty="0">
                <a:latin typeface="Corbel" panose="020B0503020204020204" pitchFamily="34" charset="0"/>
              </a:rPr>
              <a:t>When a </a:t>
            </a:r>
            <a:r>
              <a:rPr lang="en-US" sz="2000" b="1" dirty="0">
                <a:latin typeface="Corbel" panose="020B0503020204020204" pitchFamily="34" charset="0"/>
              </a:rPr>
              <a:t>class implements an interface</a:t>
            </a:r>
            <a:r>
              <a:rPr lang="en-US" sz="2000" dirty="0">
                <a:latin typeface="Corbel" panose="020B0503020204020204" pitchFamily="34" charset="0"/>
              </a:rPr>
              <a:t>, you can think of the </a:t>
            </a:r>
            <a:r>
              <a:rPr lang="en-US" sz="2000" b="1" dirty="0">
                <a:latin typeface="Corbel" panose="020B0503020204020204" pitchFamily="34" charset="0"/>
              </a:rPr>
              <a:t>class as signing a contract</a:t>
            </a:r>
            <a:r>
              <a:rPr lang="en-US" sz="2000" dirty="0">
                <a:latin typeface="Corbel" panose="020B0503020204020204" pitchFamily="34" charset="0"/>
              </a:rPr>
              <a:t>, agreeing to perform the specific behaviors of the interface. If a </a:t>
            </a:r>
            <a:r>
              <a:rPr lang="en-US" sz="2000" b="1" dirty="0">
                <a:latin typeface="Corbel" panose="020B0503020204020204" pitchFamily="34" charset="0"/>
              </a:rPr>
              <a:t>class does not perform all the behaviors of the interface</a:t>
            </a:r>
            <a:r>
              <a:rPr lang="en-US" sz="2000" dirty="0">
                <a:latin typeface="Corbel" panose="020B0503020204020204" pitchFamily="34" charset="0"/>
              </a:rPr>
              <a:t>, the class must declare </a:t>
            </a:r>
            <a:r>
              <a:rPr lang="en-US" sz="2000" b="1" dirty="0">
                <a:latin typeface="Corbel" panose="020B0503020204020204" pitchFamily="34" charset="0"/>
              </a:rPr>
              <a:t>itself as abstract</a:t>
            </a:r>
            <a:r>
              <a:rPr lang="en-US" sz="2000" dirty="0">
                <a:latin typeface="Corbel" panose="020B0503020204020204" pitchFamily="34" charset="0"/>
              </a:rPr>
              <a:t>.</a:t>
            </a:r>
          </a:p>
          <a:p>
            <a:r>
              <a:rPr lang="en-US" sz="2000" dirty="0">
                <a:latin typeface="Corbel" panose="020B0503020204020204" pitchFamily="34" charset="0"/>
              </a:rPr>
              <a:t>More specifically, when a class implements an interface, the class has two options:</a:t>
            </a:r>
          </a:p>
          <a:p>
            <a:pPr lvl="1"/>
            <a:r>
              <a:rPr lang="en-US" sz="1800" dirty="0">
                <a:latin typeface="Corbel" panose="020B0503020204020204" pitchFamily="34" charset="0"/>
              </a:rPr>
              <a:t>Implement all of the methods in the interface</a:t>
            </a:r>
          </a:p>
          <a:p>
            <a:pPr lvl="1"/>
            <a:r>
              <a:rPr lang="en-US" sz="1800" dirty="0">
                <a:latin typeface="Corbel" panose="020B0503020204020204" pitchFamily="34" charset="0"/>
              </a:rPr>
              <a:t>Be declared as abstract</a:t>
            </a:r>
          </a:p>
          <a:p>
            <a:r>
              <a:rPr lang="en-US" sz="2000" dirty="0">
                <a:latin typeface="Corbel" panose="020B0503020204020204" pitchFamily="34" charset="0"/>
              </a:rPr>
              <a:t>A class uses the </a:t>
            </a:r>
            <a:r>
              <a:rPr lang="en-US" sz="2000" b="1" dirty="0">
                <a:latin typeface="Corbel" panose="020B0503020204020204" pitchFamily="34" charset="0"/>
              </a:rPr>
              <a:t>implements keyword to implement an interface</a:t>
            </a:r>
            <a:r>
              <a:rPr lang="en-US" sz="2000" dirty="0">
                <a:latin typeface="Corbel" panose="020B0503020204020204" pitchFamily="34" charset="0"/>
              </a:rPr>
              <a:t>. The implements keyword appears in the class declaration following the extends portion of the declaration. The format for implements looks similar to:</a:t>
            </a:r>
          </a:p>
          <a:p>
            <a:pPr marL="0" indent="0">
              <a:buNone/>
            </a:pPr>
            <a:r>
              <a:rPr lang="en-US" sz="2000" b="1" dirty="0">
                <a:latin typeface="Corbel" panose="020B0503020204020204" pitchFamily="34" charset="0"/>
              </a:rPr>
              <a:t>	public class </a:t>
            </a:r>
            <a:r>
              <a:rPr lang="en-US" sz="2000" b="1" i="1" dirty="0" err="1">
                <a:latin typeface="Corbel" panose="020B0503020204020204" pitchFamily="34" charset="0"/>
              </a:rPr>
              <a:t>ClassName</a:t>
            </a:r>
            <a:r>
              <a:rPr lang="en-US" sz="2000" b="1" i="1" dirty="0">
                <a:latin typeface="Corbel" panose="020B0503020204020204" pitchFamily="34" charset="0"/>
              </a:rPr>
              <a:t> </a:t>
            </a:r>
            <a:r>
              <a:rPr lang="en-US" sz="2000" b="1" dirty="0">
                <a:latin typeface="Corbel" panose="020B0503020204020204" pitchFamily="34" charset="0"/>
              </a:rPr>
              <a:t>extends </a:t>
            </a:r>
            <a:r>
              <a:rPr lang="en-US" sz="2000" b="1" i="1" dirty="0" err="1">
                <a:latin typeface="Corbel" panose="020B0503020204020204" pitchFamily="34" charset="0"/>
              </a:rPr>
              <a:t>ParentClassName</a:t>
            </a:r>
            <a:r>
              <a:rPr lang="en-US" sz="2000" b="1" i="1" dirty="0">
                <a:latin typeface="Corbel" panose="020B0503020204020204" pitchFamily="34" charset="0"/>
              </a:rPr>
              <a:t> </a:t>
            </a:r>
            <a:r>
              <a:rPr lang="en-US" sz="2000" b="1" dirty="0">
                <a:latin typeface="Corbel" panose="020B0503020204020204" pitchFamily="34" charset="0"/>
              </a:rPr>
              <a:t>implements </a:t>
            </a:r>
            <a:r>
              <a:rPr lang="en-US" sz="2000" b="1" i="1" dirty="0" err="1">
                <a:latin typeface="Corbel" panose="020B0503020204020204" pitchFamily="34" charset="0"/>
              </a:rPr>
              <a:t>InterfaceName</a:t>
            </a:r>
            <a:endParaRPr lang="en-US" sz="2000" b="1" i="1" dirty="0">
              <a:latin typeface="Corbel" panose="020B0503020204020204" pitchFamily="34" charset="0"/>
            </a:endParaRPr>
          </a:p>
        </p:txBody>
      </p:sp>
    </p:spTree>
    <p:extLst>
      <p:ext uri="{BB962C8B-B14F-4D97-AF65-F5344CB8AC3E}">
        <p14:creationId xmlns:p14="http://schemas.microsoft.com/office/powerpoint/2010/main" val="2054922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Interface Examples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7272338" y="1362073"/>
            <a:ext cx="4629149" cy="3416320"/>
          </a:xfrm>
          <a:prstGeom prst="rect">
            <a:avLst/>
          </a:prstGeom>
        </p:spPr>
        <p:txBody>
          <a:bodyPr wrap="square">
            <a:spAutoFit/>
          </a:bodyPr>
          <a:lstStyle/>
          <a:p>
            <a:pPr algn="just">
              <a:lnSpc>
                <a:spcPct val="150000"/>
              </a:lnSpc>
            </a:pPr>
            <a:r>
              <a:rPr lang="en-US" dirty="0"/>
              <a:t>This is how a class implements an interface. </a:t>
            </a:r>
          </a:p>
          <a:p>
            <a:pPr algn="just">
              <a:lnSpc>
                <a:spcPct val="150000"/>
              </a:lnSpc>
            </a:pPr>
            <a:r>
              <a:rPr lang="en-US" dirty="0"/>
              <a:t>It has to provide the body of all the methods that are declared in interface or in other words you can say that class has to implement all the methods of interface</a:t>
            </a:r>
          </a:p>
          <a:p>
            <a:pPr algn="just">
              <a:lnSpc>
                <a:spcPct val="150000"/>
              </a:lnSpc>
            </a:pPr>
            <a:endParaRPr lang="en-US" dirty="0">
              <a:latin typeface="Corbel" panose="020B0503020204020204" pitchFamily="34" charset="0"/>
            </a:endParaRPr>
          </a:p>
          <a:p>
            <a:pPr algn="just">
              <a:lnSpc>
                <a:spcPct val="150000"/>
              </a:lnSpc>
            </a:pPr>
            <a:endParaRPr lang="en-US" dirty="0">
              <a:latin typeface="Corbel" panose="020B0503020204020204" pitchFamily="34" charset="0"/>
            </a:endParaRPr>
          </a:p>
        </p:txBody>
      </p:sp>
      <p:pic>
        <p:nvPicPr>
          <p:cNvPr id="5" name="Content Placeholder 4"/>
          <p:cNvPicPr>
            <a:picLocks noGrp="1" noChangeAspect="1"/>
          </p:cNvPicPr>
          <p:nvPr>
            <p:ph idx="1"/>
          </p:nvPr>
        </p:nvPicPr>
        <p:blipFill>
          <a:blip r:embed="rId2"/>
          <a:stretch>
            <a:fillRect/>
          </a:stretch>
        </p:blipFill>
        <p:spPr>
          <a:xfrm>
            <a:off x="158791" y="1362074"/>
            <a:ext cx="6899234" cy="5441788"/>
          </a:xfrm>
          <a:prstGeom prst="rect">
            <a:avLst/>
          </a:prstGeom>
        </p:spPr>
      </p:pic>
      <p:sp>
        <p:nvSpPr>
          <p:cNvPr id="7" name="Rectangle 1"/>
          <p:cNvSpPr>
            <a:spLocks noChangeArrowheads="1"/>
          </p:cNvSpPr>
          <p:nvPr/>
        </p:nvSpPr>
        <p:spPr bwMode="auto">
          <a:xfrm>
            <a:off x="7272338" y="4417388"/>
            <a:ext cx="4629149" cy="156966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22426"/>
                </a:solidFill>
                <a:effectLst/>
                <a:latin typeface="Corbel" panose="020B0503020204020204" pitchFamily="34" charset="0"/>
              </a:rPr>
              <a:t>Do You Know </a:t>
            </a:r>
            <a:r>
              <a:rPr kumimoji="0" lang="en-US" altLang="en-US" sz="2400" b="0" i="0" u="none" strike="noStrike" cap="none" normalizeH="0" baseline="0" dirty="0">
                <a:ln>
                  <a:noFill/>
                </a:ln>
                <a:solidFill>
                  <a:srgbClr val="222426"/>
                </a:solidFill>
                <a:effectLst/>
                <a:latin typeface="Corbel" panose="020B0503020204020204" pitchFamily="34" charset="0"/>
              </a:rPr>
              <a:t>class </a:t>
            </a:r>
            <a:r>
              <a:rPr kumimoji="0" lang="en-US" altLang="en-US" sz="2400" b="1" i="0" u="sng" strike="noStrike" cap="none" normalizeH="0" baseline="0" dirty="0">
                <a:ln>
                  <a:noFill/>
                </a:ln>
                <a:solidFill>
                  <a:srgbClr val="222426"/>
                </a:solidFill>
                <a:effectLst/>
                <a:latin typeface="Corbel" panose="020B0503020204020204" pitchFamily="34" charset="0"/>
              </a:rPr>
              <a:t>implements interface</a:t>
            </a:r>
            <a:r>
              <a:rPr kumimoji="0" lang="en-US" altLang="en-US" sz="2400" b="0" i="0" u="none" strike="noStrike" cap="none" normalizeH="0" baseline="0" dirty="0">
                <a:ln>
                  <a:noFill/>
                </a:ln>
                <a:solidFill>
                  <a:srgbClr val="222426"/>
                </a:solidFill>
                <a:effectLst/>
                <a:latin typeface="Corbel" panose="020B0503020204020204" pitchFamily="34" charset="0"/>
              </a:rPr>
              <a:t> but an interface </a:t>
            </a:r>
            <a:r>
              <a:rPr kumimoji="0" lang="en-US" altLang="en-US" sz="2400" b="1" i="0" u="sng" strike="noStrike" cap="none" normalizeH="0" baseline="0" dirty="0">
                <a:ln>
                  <a:noFill/>
                </a:ln>
                <a:solidFill>
                  <a:srgbClr val="222426"/>
                </a:solidFill>
                <a:effectLst/>
                <a:latin typeface="Corbel" panose="020B0503020204020204" pitchFamily="34" charset="0"/>
              </a:rPr>
              <a:t>extends another interface</a:t>
            </a:r>
            <a:r>
              <a:rPr kumimoji="0" lang="en-US" altLang="en-US" sz="2400" b="1" i="0" u="sng" strike="noStrike" cap="none" normalizeH="0" baseline="0" dirty="0">
                <a:ln>
                  <a:noFill/>
                </a:ln>
                <a:solidFill>
                  <a:schemeClr val="tx1"/>
                </a:solidFill>
                <a:effectLst/>
                <a:latin typeface="Corbel" panose="020B0503020204020204" pitchFamily="34" charset="0"/>
              </a:rPr>
              <a:t> </a:t>
            </a:r>
          </a:p>
        </p:txBody>
      </p:sp>
    </p:spTree>
    <p:extLst>
      <p:ext uri="{BB962C8B-B14F-4D97-AF65-F5344CB8AC3E}">
        <p14:creationId xmlns:p14="http://schemas.microsoft.com/office/powerpoint/2010/main" val="1602992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 Examples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5"/>
          <p:cNvSpPr/>
          <p:nvPr/>
        </p:nvSpPr>
        <p:spPr>
          <a:xfrm>
            <a:off x="7272338" y="1362073"/>
            <a:ext cx="4629149" cy="3416320"/>
          </a:xfrm>
          <a:prstGeom prst="rect">
            <a:avLst/>
          </a:prstGeom>
        </p:spPr>
        <p:txBody>
          <a:bodyPr wrap="square">
            <a:spAutoFit/>
          </a:bodyPr>
          <a:lstStyle/>
          <a:p>
            <a:pPr algn="just">
              <a:lnSpc>
                <a:spcPct val="150000"/>
              </a:lnSpc>
            </a:pPr>
            <a:r>
              <a:rPr lang="en-US" dirty="0"/>
              <a:t>This is how a class implements an interface. </a:t>
            </a:r>
          </a:p>
          <a:p>
            <a:pPr algn="just">
              <a:lnSpc>
                <a:spcPct val="150000"/>
              </a:lnSpc>
            </a:pPr>
            <a:r>
              <a:rPr lang="en-US" dirty="0"/>
              <a:t>It has to provide the body of all the methods that are declared in interface or in other words you can say that class has to implement all the methods of interface</a:t>
            </a:r>
          </a:p>
          <a:p>
            <a:pPr algn="just">
              <a:lnSpc>
                <a:spcPct val="150000"/>
              </a:lnSpc>
            </a:pPr>
            <a:endParaRPr lang="en-US" dirty="0">
              <a:latin typeface="Corbel" panose="020B0503020204020204" pitchFamily="34" charset="0"/>
            </a:endParaRPr>
          </a:p>
          <a:p>
            <a:pPr algn="just">
              <a:lnSpc>
                <a:spcPct val="150000"/>
              </a:lnSpc>
            </a:pPr>
            <a:endParaRPr lang="en-US" dirty="0">
              <a:latin typeface="Corbel" panose="020B0503020204020204" pitchFamily="34" charset="0"/>
            </a:endParaRPr>
          </a:p>
        </p:txBody>
      </p:sp>
      <p:sp>
        <p:nvSpPr>
          <p:cNvPr id="7" name="Rectangle 1"/>
          <p:cNvSpPr>
            <a:spLocks noChangeArrowheads="1"/>
          </p:cNvSpPr>
          <p:nvPr/>
        </p:nvSpPr>
        <p:spPr bwMode="auto">
          <a:xfrm>
            <a:off x="7272337" y="4182474"/>
            <a:ext cx="4629149" cy="156966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22426"/>
                </a:solidFill>
                <a:effectLst/>
                <a:latin typeface="Corbel" panose="020B0503020204020204" pitchFamily="34" charset="0"/>
              </a:rPr>
              <a:t>Do You Know </a:t>
            </a:r>
            <a:r>
              <a:rPr kumimoji="0" lang="en-US" altLang="en-US" sz="2400" b="0" i="0" u="none" strike="noStrike" cap="none" normalizeH="0" baseline="0" dirty="0">
                <a:ln>
                  <a:noFill/>
                </a:ln>
                <a:solidFill>
                  <a:srgbClr val="222426"/>
                </a:solidFill>
                <a:effectLst/>
                <a:latin typeface="Corbel" panose="020B0503020204020204" pitchFamily="34" charset="0"/>
              </a:rPr>
              <a:t>class </a:t>
            </a:r>
            <a:r>
              <a:rPr kumimoji="0" lang="en-US" altLang="en-US" sz="2400" b="1" i="0" u="sng" strike="noStrike" cap="none" normalizeH="0" baseline="0" dirty="0">
                <a:ln>
                  <a:noFill/>
                </a:ln>
                <a:solidFill>
                  <a:srgbClr val="222426"/>
                </a:solidFill>
                <a:effectLst/>
                <a:latin typeface="Corbel" panose="020B0503020204020204" pitchFamily="34" charset="0"/>
              </a:rPr>
              <a:t>implements interface</a:t>
            </a:r>
            <a:r>
              <a:rPr kumimoji="0" lang="en-US" altLang="en-US" sz="2400" b="0" i="0" u="none" strike="noStrike" cap="none" normalizeH="0" baseline="0" dirty="0">
                <a:ln>
                  <a:noFill/>
                </a:ln>
                <a:solidFill>
                  <a:srgbClr val="222426"/>
                </a:solidFill>
                <a:effectLst/>
                <a:latin typeface="Corbel" panose="020B0503020204020204" pitchFamily="34" charset="0"/>
              </a:rPr>
              <a:t> but an interface </a:t>
            </a:r>
            <a:r>
              <a:rPr kumimoji="0" lang="en-US" altLang="en-US" sz="2400" b="1" i="0" u="sng" strike="noStrike" cap="none" normalizeH="0" baseline="0" dirty="0">
                <a:ln>
                  <a:noFill/>
                </a:ln>
                <a:solidFill>
                  <a:srgbClr val="222426"/>
                </a:solidFill>
                <a:effectLst/>
                <a:latin typeface="Corbel" panose="020B0503020204020204" pitchFamily="34" charset="0"/>
              </a:rPr>
              <a:t>extends another interface</a:t>
            </a:r>
            <a:r>
              <a:rPr kumimoji="0" lang="en-US" altLang="en-US" sz="2400" b="1" i="0" u="sng" strike="noStrike" cap="none" normalizeH="0" baseline="0" dirty="0">
                <a:ln>
                  <a:noFill/>
                </a:ln>
                <a:solidFill>
                  <a:schemeClr val="tx1"/>
                </a:solidFill>
                <a:effectLst/>
                <a:latin typeface="Corbel" panose="020B0503020204020204" pitchFamily="34" charset="0"/>
              </a:rPr>
              <a:t> </a:t>
            </a:r>
          </a:p>
        </p:txBody>
      </p:sp>
      <p:pic>
        <p:nvPicPr>
          <p:cNvPr id="8" name="Content Placeholder 7"/>
          <p:cNvPicPr>
            <a:picLocks noGrp="1" noChangeAspect="1"/>
          </p:cNvPicPr>
          <p:nvPr>
            <p:ph idx="1"/>
          </p:nvPr>
        </p:nvPicPr>
        <p:blipFill>
          <a:blip r:embed="rId2"/>
          <a:stretch>
            <a:fillRect/>
          </a:stretch>
        </p:blipFill>
        <p:spPr>
          <a:xfrm>
            <a:off x="261936" y="1362073"/>
            <a:ext cx="6581777" cy="5324024"/>
          </a:xfrm>
          <a:prstGeom prst="rect">
            <a:avLst/>
          </a:prstGeom>
        </p:spPr>
      </p:pic>
    </p:spTree>
    <p:extLst>
      <p:ext uri="{BB962C8B-B14F-4D97-AF65-F5344CB8AC3E}">
        <p14:creationId xmlns:p14="http://schemas.microsoft.com/office/powerpoint/2010/main" val="109225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Interface Examples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7286625" y="1431655"/>
            <a:ext cx="4629149"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222426"/>
                </a:solidFill>
                <a:latin typeface="Corbel" panose="020B0503020204020204" pitchFamily="34" charset="0"/>
              </a:rPr>
              <a:t>Will create a class that will implement an interface called Paintable</a:t>
            </a:r>
            <a:endParaRPr kumimoji="0" lang="en-US" altLang="en-US" sz="2400" b="1" i="0" u="sng" strike="noStrike" cap="none" normalizeH="0" baseline="0" dirty="0">
              <a:ln>
                <a:noFill/>
              </a:ln>
              <a:solidFill>
                <a:schemeClr val="tx1"/>
              </a:solidFill>
              <a:effectLst/>
              <a:latin typeface="Corbel" panose="020B0503020204020204" pitchFamily="34" charset="0"/>
            </a:endParaRPr>
          </a:p>
        </p:txBody>
      </p:sp>
      <p:pic>
        <p:nvPicPr>
          <p:cNvPr id="11" name="Content Placeholder 10"/>
          <p:cNvPicPr>
            <a:picLocks noGrp="1" noChangeAspect="1"/>
          </p:cNvPicPr>
          <p:nvPr>
            <p:ph idx="1"/>
          </p:nvPr>
        </p:nvPicPr>
        <p:blipFill>
          <a:blip r:embed="rId2"/>
          <a:stretch>
            <a:fillRect/>
          </a:stretch>
        </p:blipFill>
        <p:spPr>
          <a:xfrm>
            <a:off x="257174" y="1331641"/>
            <a:ext cx="6900863" cy="3833813"/>
          </a:xfrm>
          <a:prstGeom prst="rect">
            <a:avLst/>
          </a:prstGeom>
        </p:spPr>
      </p:pic>
      <p:pic>
        <p:nvPicPr>
          <p:cNvPr id="12" name="Picture 11"/>
          <p:cNvPicPr>
            <a:picLocks noChangeAspect="1"/>
          </p:cNvPicPr>
          <p:nvPr/>
        </p:nvPicPr>
        <p:blipFill>
          <a:blip r:embed="rId3"/>
          <a:stretch>
            <a:fillRect/>
          </a:stretch>
        </p:blipFill>
        <p:spPr>
          <a:xfrm>
            <a:off x="257174" y="4704988"/>
            <a:ext cx="4929188" cy="1800225"/>
          </a:xfrm>
          <a:prstGeom prst="rect">
            <a:avLst/>
          </a:prstGeom>
        </p:spPr>
      </p:pic>
      <p:sp>
        <p:nvSpPr>
          <p:cNvPr id="13" name="Oval Callout 12"/>
          <p:cNvSpPr/>
          <p:nvPr/>
        </p:nvSpPr>
        <p:spPr>
          <a:xfrm>
            <a:off x="7715250" y="5390788"/>
            <a:ext cx="3228975" cy="1114425"/>
          </a:xfrm>
          <a:prstGeom prst="wedgeEllipseCallout">
            <a:avLst>
              <a:gd name="adj1" fmla="val -119947"/>
              <a:gd name="adj2" fmla="val -10578"/>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a:t>Methods of Interface Paintable</a:t>
            </a:r>
          </a:p>
        </p:txBody>
      </p:sp>
      <p:sp>
        <p:nvSpPr>
          <p:cNvPr id="14" name="TextBox 13"/>
          <p:cNvSpPr txBox="1"/>
          <p:nvPr/>
        </p:nvSpPr>
        <p:spPr>
          <a:xfrm>
            <a:off x="7400925" y="3086100"/>
            <a:ext cx="4386263" cy="369332"/>
          </a:xfrm>
          <a:prstGeom prst="rect">
            <a:avLst/>
          </a:prstGeom>
          <a:noFill/>
        </p:spPr>
        <p:txBody>
          <a:bodyPr wrap="square" rtlCol="0">
            <a:spAutoFit/>
          </a:bodyPr>
          <a:lstStyle/>
          <a:p>
            <a:r>
              <a:rPr lang="en-US" b="1" dirty="0"/>
              <a:t>So What is the Problem here?</a:t>
            </a:r>
          </a:p>
        </p:txBody>
      </p:sp>
    </p:spTree>
    <p:extLst>
      <p:ext uri="{BB962C8B-B14F-4D97-AF65-F5344CB8AC3E}">
        <p14:creationId xmlns:p14="http://schemas.microsoft.com/office/powerpoint/2010/main" val="304759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Interface Examples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7286625" y="1431655"/>
            <a:ext cx="4629149"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222426"/>
                </a:solidFill>
                <a:latin typeface="Corbel" panose="020B0503020204020204" pitchFamily="34" charset="0"/>
              </a:rPr>
              <a:t>Will create a class that will implement an interface called Paintable</a:t>
            </a:r>
            <a:endParaRPr kumimoji="0" lang="en-US" altLang="en-US" sz="2400" b="1" i="0" u="sng" strike="noStrike" cap="none" normalizeH="0" baseline="0" dirty="0">
              <a:ln>
                <a:noFill/>
              </a:ln>
              <a:solidFill>
                <a:schemeClr val="tx1"/>
              </a:solidFill>
              <a:effectLst/>
              <a:latin typeface="Corbel" panose="020B0503020204020204" pitchFamily="34" charset="0"/>
            </a:endParaRPr>
          </a:p>
        </p:txBody>
      </p:sp>
      <p:pic>
        <p:nvPicPr>
          <p:cNvPr id="12" name="Picture 11"/>
          <p:cNvPicPr>
            <a:picLocks noChangeAspect="1"/>
          </p:cNvPicPr>
          <p:nvPr/>
        </p:nvPicPr>
        <p:blipFill>
          <a:blip r:embed="rId2"/>
          <a:stretch>
            <a:fillRect/>
          </a:stretch>
        </p:blipFill>
        <p:spPr>
          <a:xfrm>
            <a:off x="257174" y="4704988"/>
            <a:ext cx="4929188" cy="1800225"/>
          </a:xfrm>
          <a:prstGeom prst="rect">
            <a:avLst/>
          </a:prstGeom>
        </p:spPr>
      </p:pic>
      <p:sp>
        <p:nvSpPr>
          <p:cNvPr id="13" name="Oval Callout 12"/>
          <p:cNvSpPr/>
          <p:nvPr/>
        </p:nvSpPr>
        <p:spPr>
          <a:xfrm>
            <a:off x="7715250" y="5390788"/>
            <a:ext cx="3228975" cy="1114425"/>
          </a:xfrm>
          <a:prstGeom prst="wedgeEllipseCallout">
            <a:avLst>
              <a:gd name="adj1" fmla="val -119947"/>
              <a:gd name="adj2" fmla="val -10578"/>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dirty="0"/>
              <a:t>Methods of Interface Paintable</a:t>
            </a:r>
          </a:p>
        </p:txBody>
      </p:sp>
      <p:sp>
        <p:nvSpPr>
          <p:cNvPr id="14" name="TextBox 13"/>
          <p:cNvSpPr txBox="1"/>
          <p:nvPr/>
        </p:nvSpPr>
        <p:spPr>
          <a:xfrm>
            <a:off x="7015163" y="2890477"/>
            <a:ext cx="4772025" cy="923330"/>
          </a:xfrm>
          <a:prstGeom prst="rect">
            <a:avLst/>
          </a:prstGeom>
          <a:noFill/>
        </p:spPr>
        <p:txBody>
          <a:bodyPr wrap="square" rtlCol="0">
            <a:spAutoFit/>
          </a:bodyPr>
          <a:lstStyle/>
          <a:p>
            <a:r>
              <a:rPr lang="en-US" dirty="0"/>
              <a:t>Notice that the Rectangle class declares that it implements Paintable, but it</a:t>
            </a:r>
          </a:p>
          <a:p>
            <a:r>
              <a:rPr lang="en-US" dirty="0"/>
              <a:t>does not contain the paint() method</a:t>
            </a:r>
            <a:endParaRPr lang="en-US" b="1" dirty="0"/>
          </a:p>
        </p:txBody>
      </p:sp>
      <p:pic>
        <p:nvPicPr>
          <p:cNvPr id="5" name="Content Placeholder 4"/>
          <p:cNvPicPr>
            <a:picLocks noGrp="1" noChangeAspect="1"/>
          </p:cNvPicPr>
          <p:nvPr>
            <p:ph idx="1"/>
          </p:nvPr>
        </p:nvPicPr>
        <p:blipFill>
          <a:blip r:embed="rId3"/>
          <a:stretch>
            <a:fillRect/>
          </a:stretch>
        </p:blipFill>
        <p:spPr>
          <a:xfrm>
            <a:off x="257174" y="1398496"/>
            <a:ext cx="6582287" cy="3306491"/>
          </a:xfrm>
          <a:prstGeom prst="rect">
            <a:avLst/>
          </a:prstGeom>
        </p:spPr>
      </p:pic>
    </p:spTree>
    <p:extLst>
      <p:ext uri="{BB962C8B-B14F-4D97-AF65-F5344CB8AC3E}">
        <p14:creationId xmlns:p14="http://schemas.microsoft.com/office/powerpoint/2010/main" val="2250731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Interface Examples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7286625" y="1431655"/>
            <a:ext cx="4629149" cy="1200329"/>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solidFill>
                  <a:srgbClr val="222426"/>
                </a:solidFill>
                <a:latin typeface="Corbel" panose="020B0503020204020204" pitchFamily="34" charset="0"/>
              </a:rPr>
              <a:t>Will create a class that will implement an interface called Paintable</a:t>
            </a:r>
            <a:endParaRPr kumimoji="0" lang="en-US" altLang="en-US" sz="2400" b="1" i="0" u="sng" strike="noStrike" cap="none" normalizeH="0" baseline="0" dirty="0">
              <a:ln>
                <a:noFill/>
              </a:ln>
              <a:solidFill>
                <a:schemeClr val="tx1"/>
              </a:solidFill>
              <a:effectLst/>
              <a:latin typeface="Corbel" panose="020B0503020204020204" pitchFamily="34" charset="0"/>
            </a:endParaRPr>
          </a:p>
        </p:txBody>
      </p:sp>
      <p:sp>
        <p:nvSpPr>
          <p:cNvPr id="14" name="TextBox 13"/>
          <p:cNvSpPr txBox="1"/>
          <p:nvPr/>
        </p:nvSpPr>
        <p:spPr>
          <a:xfrm>
            <a:off x="7015163" y="2890477"/>
            <a:ext cx="4772025" cy="646331"/>
          </a:xfrm>
          <a:prstGeom prst="rect">
            <a:avLst/>
          </a:prstGeom>
          <a:noFill/>
        </p:spPr>
        <p:txBody>
          <a:bodyPr wrap="square" rtlCol="0">
            <a:spAutoFit/>
          </a:bodyPr>
          <a:lstStyle/>
          <a:p>
            <a:r>
              <a:rPr lang="en-US" dirty="0"/>
              <a:t>Correct Implementation of an interface with the paint method described.</a:t>
            </a:r>
            <a:endParaRPr lang="en-US" b="1" dirty="0"/>
          </a:p>
        </p:txBody>
      </p:sp>
      <p:pic>
        <p:nvPicPr>
          <p:cNvPr id="6" name="Content Placeholder 5"/>
          <p:cNvPicPr>
            <a:picLocks noGrp="1" noChangeAspect="1"/>
          </p:cNvPicPr>
          <p:nvPr>
            <p:ph idx="1"/>
          </p:nvPr>
        </p:nvPicPr>
        <p:blipFill>
          <a:blip r:embed="rId2"/>
          <a:stretch>
            <a:fillRect/>
          </a:stretch>
        </p:blipFill>
        <p:spPr>
          <a:xfrm>
            <a:off x="235992" y="1431655"/>
            <a:ext cx="6779171" cy="5439808"/>
          </a:xfrm>
          <a:prstGeom prst="rect">
            <a:avLst/>
          </a:prstGeom>
        </p:spPr>
      </p:pic>
    </p:spTree>
    <p:extLst>
      <p:ext uri="{BB962C8B-B14F-4D97-AF65-F5344CB8AC3E}">
        <p14:creationId xmlns:p14="http://schemas.microsoft.com/office/powerpoint/2010/main" val="368953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672264" y="1217335"/>
            <a:ext cx="5457825" cy="563231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b="1" dirty="0">
                <a:latin typeface="Corbel" panose="020B0503020204020204" pitchFamily="34" charset="0"/>
              </a:rPr>
              <a:t>An interface</a:t>
            </a:r>
            <a:r>
              <a:rPr lang="en-US" sz="2000" dirty="0">
                <a:latin typeface="Corbel" panose="020B0503020204020204" pitchFamily="34" charset="0"/>
              </a:rPr>
              <a:t> which is </a:t>
            </a:r>
            <a:r>
              <a:rPr lang="en-US" sz="2000" b="1" dirty="0">
                <a:latin typeface="Corbel" panose="020B0503020204020204" pitchFamily="34" charset="0"/>
              </a:rPr>
              <a:t>declared inside another interface </a:t>
            </a:r>
            <a:r>
              <a:rPr lang="en-US" sz="2000" dirty="0">
                <a:latin typeface="Corbel" panose="020B0503020204020204" pitchFamily="34" charset="0"/>
              </a:rPr>
              <a:t>or </a:t>
            </a:r>
            <a:r>
              <a:rPr lang="en-US" sz="2000" b="1" dirty="0">
                <a:latin typeface="Corbel" panose="020B0503020204020204" pitchFamily="34" charset="0"/>
              </a:rPr>
              <a:t>class </a:t>
            </a:r>
            <a:r>
              <a:rPr lang="en-US" sz="2000" dirty="0">
                <a:latin typeface="Corbel" panose="020B0503020204020204" pitchFamily="34" charset="0"/>
              </a:rPr>
              <a:t>is called </a:t>
            </a:r>
            <a:r>
              <a:rPr lang="en-US" sz="2000" b="1" dirty="0">
                <a:latin typeface="Corbel" panose="020B0503020204020204" pitchFamily="34" charset="0"/>
              </a:rPr>
              <a:t>nested interface</a:t>
            </a:r>
            <a:r>
              <a:rPr lang="en-US" sz="2000" dirty="0">
                <a:latin typeface="Corbel" panose="020B0503020204020204" pitchFamily="34" charset="0"/>
              </a:rPr>
              <a:t>.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They are also known as inner </a:t>
            </a:r>
            <a:r>
              <a:rPr lang="en-US" sz="2000" b="1" dirty="0">
                <a:latin typeface="Corbel" panose="020B0503020204020204" pitchFamily="34" charset="0"/>
                <a:hlinkClick r:id="rId2"/>
              </a:rPr>
              <a:t>interface</a:t>
            </a:r>
            <a:r>
              <a:rPr lang="en-US" sz="2000" dirty="0">
                <a:latin typeface="Corbel" panose="020B0503020204020204" pitchFamily="34" charset="0"/>
              </a:rPr>
              <a:t>.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Since </a:t>
            </a:r>
            <a:r>
              <a:rPr lang="en-US" sz="2000" b="1" dirty="0">
                <a:latin typeface="Corbel" panose="020B0503020204020204" pitchFamily="34" charset="0"/>
              </a:rPr>
              <a:t>nested interface cannot be accessed directly</a:t>
            </a:r>
            <a:r>
              <a:rPr lang="en-US" sz="2000" dirty="0">
                <a:latin typeface="Corbel" panose="020B0503020204020204" pitchFamily="34" charset="0"/>
              </a:rPr>
              <a:t>, the main purpose of using them is to resolve the namespace by grouping related interfaces (or related interface and class) together.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This way, we can only </a:t>
            </a:r>
            <a:r>
              <a:rPr lang="en-US" sz="2000" b="1" dirty="0">
                <a:latin typeface="Corbel" panose="020B0503020204020204" pitchFamily="34" charset="0"/>
              </a:rPr>
              <a:t>call the nested interface </a:t>
            </a:r>
            <a:r>
              <a:rPr lang="en-US" sz="2000" dirty="0">
                <a:latin typeface="Corbel" panose="020B0503020204020204" pitchFamily="34" charset="0"/>
              </a:rPr>
              <a:t>by </a:t>
            </a:r>
            <a:r>
              <a:rPr lang="en-US" sz="2000" b="1" dirty="0">
                <a:latin typeface="Corbel" panose="020B0503020204020204" pitchFamily="34" charset="0"/>
              </a:rPr>
              <a:t>using outer class or outer interface name followed by dot( . ), followed by the interface name</a:t>
            </a:r>
            <a:r>
              <a:rPr lang="en-US" sz="2000" dirty="0">
                <a:latin typeface="Corbel" panose="020B0503020204020204" pitchFamily="34" charset="0"/>
              </a:rPr>
              <a:t>.</a:t>
            </a:r>
            <a:endParaRPr lang="en-US" sz="2000" b="1" dirty="0">
              <a:latin typeface="Corbel" panose="020B0503020204020204" pitchFamily="34" charset="0"/>
            </a:endParaRPr>
          </a:p>
        </p:txBody>
      </p:sp>
      <p:pic>
        <p:nvPicPr>
          <p:cNvPr id="5" name="Content Placeholder 4"/>
          <p:cNvPicPr>
            <a:picLocks noGrp="1" noChangeAspect="1"/>
          </p:cNvPicPr>
          <p:nvPr>
            <p:ph idx="1"/>
          </p:nvPr>
        </p:nvPicPr>
        <p:blipFill>
          <a:blip r:embed="rId3"/>
          <a:stretch>
            <a:fillRect/>
          </a:stretch>
        </p:blipFill>
        <p:spPr>
          <a:xfrm>
            <a:off x="385762" y="1431655"/>
            <a:ext cx="6357937" cy="5320263"/>
          </a:xfrm>
          <a:prstGeom prst="rect">
            <a:avLst/>
          </a:prstGeom>
        </p:spPr>
      </p:pic>
    </p:spTree>
    <p:extLst>
      <p:ext uri="{BB962C8B-B14F-4D97-AF65-F5344CB8AC3E}">
        <p14:creationId xmlns:p14="http://schemas.microsoft.com/office/powerpoint/2010/main" val="18386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Interfaces - Class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672264" y="1217335"/>
            <a:ext cx="5457825" cy="563231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b="1" dirty="0">
                <a:latin typeface="Corbel" panose="020B0503020204020204" pitchFamily="34" charset="0"/>
              </a:rPr>
              <a:t>An interface</a:t>
            </a:r>
            <a:r>
              <a:rPr lang="en-US" sz="2000" dirty="0">
                <a:latin typeface="Corbel" panose="020B0503020204020204" pitchFamily="34" charset="0"/>
              </a:rPr>
              <a:t> which is </a:t>
            </a:r>
            <a:r>
              <a:rPr lang="en-US" sz="2000" b="1" dirty="0">
                <a:latin typeface="Corbel" panose="020B0503020204020204" pitchFamily="34" charset="0"/>
              </a:rPr>
              <a:t>declared inside another interface </a:t>
            </a:r>
            <a:r>
              <a:rPr lang="en-US" sz="2000" dirty="0">
                <a:latin typeface="Corbel" panose="020B0503020204020204" pitchFamily="34" charset="0"/>
              </a:rPr>
              <a:t>or </a:t>
            </a:r>
            <a:r>
              <a:rPr lang="en-US" sz="2000" b="1" dirty="0">
                <a:latin typeface="Corbel" panose="020B0503020204020204" pitchFamily="34" charset="0"/>
              </a:rPr>
              <a:t>class </a:t>
            </a:r>
            <a:r>
              <a:rPr lang="en-US" sz="2000" dirty="0">
                <a:latin typeface="Corbel" panose="020B0503020204020204" pitchFamily="34" charset="0"/>
              </a:rPr>
              <a:t>is called </a:t>
            </a:r>
            <a:r>
              <a:rPr lang="en-US" sz="2000" b="1" dirty="0">
                <a:latin typeface="Corbel" panose="020B0503020204020204" pitchFamily="34" charset="0"/>
              </a:rPr>
              <a:t>nested interface</a:t>
            </a:r>
            <a:r>
              <a:rPr lang="en-US" sz="2000" dirty="0">
                <a:latin typeface="Corbel" panose="020B0503020204020204" pitchFamily="34" charset="0"/>
              </a:rPr>
              <a:t>.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They are also known as inner </a:t>
            </a:r>
            <a:r>
              <a:rPr lang="en-US" sz="2000" b="1" dirty="0">
                <a:latin typeface="Corbel" panose="020B0503020204020204" pitchFamily="34" charset="0"/>
                <a:hlinkClick r:id="rId2"/>
              </a:rPr>
              <a:t>interface</a:t>
            </a:r>
            <a:r>
              <a:rPr lang="en-US" sz="2000" dirty="0">
                <a:latin typeface="Corbel" panose="020B0503020204020204" pitchFamily="34" charset="0"/>
              </a:rPr>
              <a:t>.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Since </a:t>
            </a:r>
            <a:r>
              <a:rPr lang="en-US" sz="2000" b="1" dirty="0">
                <a:latin typeface="Corbel" panose="020B0503020204020204" pitchFamily="34" charset="0"/>
              </a:rPr>
              <a:t>nested interface cannot be accessed directly</a:t>
            </a:r>
            <a:r>
              <a:rPr lang="en-US" sz="2000" dirty="0">
                <a:latin typeface="Corbel" panose="020B0503020204020204" pitchFamily="34" charset="0"/>
              </a:rPr>
              <a:t>, the main purpose of using them is to resolve the namespace by grouping related interfaces (or related interface and class) together.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This way, we can only </a:t>
            </a:r>
            <a:r>
              <a:rPr lang="en-US" sz="2000" b="1" dirty="0">
                <a:latin typeface="Corbel" panose="020B0503020204020204" pitchFamily="34" charset="0"/>
              </a:rPr>
              <a:t>call the nested interface </a:t>
            </a:r>
            <a:r>
              <a:rPr lang="en-US" sz="2000" dirty="0">
                <a:latin typeface="Corbel" panose="020B0503020204020204" pitchFamily="34" charset="0"/>
              </a:rPr>
              <a:t>by </a:t>
            </a:r>
            <a:r>
              <a:rPr lang="en-US" sz="2000" b="1" dirty="0">
                <a:latin typeface="Corbel" panose="020B0503020204020204" pitchFamily="34" charset="0"/>
              </a:rPr>
              <a:t>using outer class or outer interface name followed by dot( . ), followed by the interface name</a:t>
            </a:r>
            <a:r>
              <a:rPr lang="en-US" sz="2000" dirty="0">
                <a:latin typeface="Corbel" panose="020B0503020204020204" pitchFamily="34" charset="0"/>
              </a:rPr>
              <a:t>.</a:t>
            </a:r>
            <a:endParaRPr lang="en-US" sz="2000" b="1" dirty="0">
              <a:latin typeface="Corbel" panose="020B0503020204020204" pitchFamily="34" charset="0"/>
            </a:endParaRPr>
          </a:p>
        </p:txBody>
      </p:sp>
      <p:pic>
        <p:nvPicPr>
          <p:cNvPr id="6" name="Content Placeholder 5"/>
          <p:cNvPicPr>
            <a:picLocks noGrp="1" noChangeAspect="1"/>
          </p:cNvPicPr>
          <p:nvPr>
            <p:ph idx="1"/>
          </p:nvPr>
        </p:nvPicPr>
        <p:blipFill>
          <a:blip r:embed="rId3"/>
          <a:stretch>
            <a:fillRect/>
          </a:stretch>
        </p:blipFill>
        <p:spPr>
          <a:xfrm>
            <a:off x="133349" y="1390650"/>
            <a:ext cx="6538915" cy="5409108"/>
          </a:xfrm>
          <a:prstGeom prst="rect">
            <a:avLst/>
          </a:prstGeom>
        </p:spPr>
      </p:pic>
    </p:spTree>
    <p:extLst>
      <p:ext uri="{BB962C8B-B14F-4D97-AF65-F5344CB8AC3E}">
        <p14:creationId xmlns:p14="http://schemas.microsoft.com/office/powerpoint/2010/main" val="150346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672264" y="1217335"/>
            <a:ext cx="5457825" cy="47089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An </a:t>
            </a:r>
            <a:r>
              <a:rPr lang="en-US" sz="2000" b="1" dirty="0"/>
              <a:t>interface </a:t>
            </a:r>
            <a:r>
              <a:rPr lang="en-US" sz="2000" dirty="0"/>
              <a:t>can </a:t>
            </a:r>
            <a:r>
              <a:rPr lang="en-US" sz="2000" b="1" dirty="0"/>
              <a:t>extend </a:t>
            </a:r>
            <a:r>
              <a:rPr lang="en-US" sz="2000" dirty="0"/>
              <a:t>another </a:t>
            </a:r>
            <a:r>
              <a:rPr lang="en-US" sz="2000" b="1" dirty="0"/>
              <a:t>interface</a:t>
            </a:r>
            <a:r>
              <a:rPr lang="en-US" sz="2000" dirty="0"/>
              <a:t>, similarly to the way that a class can extend another class. </a:t>
            </a:r>
          </a:p>
          <a:p>
            <a:pPr marL="342900" indent="-342900">
              <a:lnSpc>
                <a:spcPct val="150000"/>
              </a:lnSpc>
              <a:buFont typeface="Arial" panose="020B0604020202020204" pitchFamily="34" charset="0"/>
              <a:buChar char="•"/>
            </a:pPr>
            <a:r>
              <a:rPr lang="en-US" sz="2000" dirty="0"/>
              <a:t>The </a:t>
            </a:r>
            <a:r>
              <a:rPr lang="en-US" sz="2000" b="1" dirty="0"/>
              <a:t>extends keyword </a:t>
            </a:r>
            <a:r>
              <a:rPr lang="en-US" sz="2000" dirty="0"/>
              <a:t>is used to </a:t>
            </a:r>
            <a:r>
              <a:rPr lang="en-US" sz="2000" b="1" dirty="0"/>
              <a:t>extend an interface</a:t>
            </a:r>
            <a:r>
              <a:rPr lang="en-US" sz="2000" dirty="0"/>
              <a:t>, and the </a:t>
            </a:r>
            <a:r>
              <a:rPr lang="en-US" sz="2000" b="1" dirty="0"/>
              <a:t>child interface </a:t>
            </a:r>
            <a:r>
              <a:rPr lang="en-US" sz="2000" dirty="0"/>
              <a:t>inherits </a:t>
            </a:r>
            <a:r>
              <a:rPr lang="en-US" sz="2000" b="1" dirty="0"/>
              <a:t>the methods of the parent interface</a:t>
            </a:r>
            <a:r>
              <a:rPr lang="en-US" sz="2000" dirty="0"/>
              <a:t>.</a:t>
            </a:r>
          </a:p>
          <a:p>
            <a:pPr marL="342900" indent="-342900">
              <a:lnSpc>
                <a:spcPct val="150000"/>
              </a:lnSpc>
              <a:buFont typeface="Arial" panose="020B0604020202020204" pitchFamily="34" charset="0"/>
              <a:buChar char="•"/>
            </a:pPr>
            <a:r>
              <a:rPr lang="en-US" sz="2000" dirty="0"/>
              <a:t>The following </a:t>
            </a:r>
            <a:r>
              <a:rPr lang="en-US" sz="2000" dirty="0" err="1"/>
              <a:t>SportsListener</a:t>
            </a:r>
            <a:r>
              <a:rPr lang="en-US" sz="2000" dirty="0"/>
              <a:t> interface is extended by </a:t>
            </a:r>
            <a:r>
              <a:rPr lang="en-US" sz="2000" dirty="0" err="1"/>
              <a:t>HockeyListener</a:t>
            </a:r>
            <a:r>
              <a:rPr lang="en-US" sz="2000" dirty="0"/>
              <a:t> and</a:t>
            </a:r>
          </a:p>
          <a:p>
            <a:pPr marL="342900" indent="-342900">
              <a:lnSpc>
                <a:spcPct val="150000"/>
              </a:lnSpc>
              <a:buFont typeface="Arial" panose="020B0604020202020204" pitchFamily="34" charset="0"/>
              <a:buChar char="•"/>
            </a:pPr>
            <a:r>
              <a:rPr lang="en-US" sz="2000" dirty="0" err="1"/>
              <a:t>FootballListener</a:t>
            </a:r>
            <a:r>
              <a:rPr lang="en-US" sz="2000" dirty="0"/>
              <a:t> interfaces.</a:t>
            </a:r>
            <a:endParaRPr lang="en-US" sz="2000" b="1" dirty="0">
              <a:latin typeface="Corbel" panose="020B0503020204020204" pitchFamily="34" charset="0"/>
            </a:endParaRPr>
          </a:p>
        </p:txBody>
      </p:sp>
      <p:pic>
        <p:nvPicPr>
          <p:cNvPr id="6" name="Content Placeholder 5"/>
          <p:cNvPicPr>
            <a:picLocks noGrp="1" noChangeAspect="1"/>
          </p:cNvPicPr>
          <p:nvPr>
            <p:ph idx="1"/>
          </p:nvPr>
        </p:nvPicPr>
        <p:blipFill>
          <a:blip r:embed="rId2"/>
          <a:stretch>
            <a:fillRect/>
          </a:stretch>
        </p:blipFill>
        <p:spPr>
          <a:xfrm>
            <a:off x="384256" y="1360210"/>
            <a:ext cx="6318549" cy="4711978"/>
          </a:xfrm>
          <a:prstGeom prst="rect">
            <a:avLst/>
          </a:prstGeom>
        </p:spPr>
      </p:pic>
    </p:spTree>
    <p:extLst>
      <p:ext uri="{BB962C8B-B14F-4D97-AF65-F5344CB8AC3E}">
        <p14:creationId xmlns:p14="http://schemas.microsoft.com/office/powerpoint/2010/main" val="999242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672264" y="1217335"/>
            <a:ext cx="5457825" cy="424731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Corbel" panose="020B0503020204020204" pitchFamily="34" charset="0"/>
              </a:rPr>
              <a:t>The </a:t>
            </a:r>
            <a:r>
              <a:rPr lang="en-US" sz="2000" b="1" dirty="0" err="1">
                <a:latin typeface="Corbel" panose="020B0503020204020204" pitchFamily="34" charset="0"/>
              </a:rPr>
              <a:t>HockeyListener</a:t>
            </a:r>
            <a:r>
              <a:rPr lang="en-US" sz="2000" b="1" dirty="0">
                <a:latin typeface="Corbel" panose="020B0503020204020204" pitchFamily="34" charset="0"/>
              </a:rPr>
              <a:t> </a:t>
            </a:r>
            <a:r>
              <a:rPr lang="en-US" sz="2000" dirty="0">
                <a:latin typeface="Corbel" panose="020B0503020204020204" pitchFamily="34" charset="0"/>
              </a:rPr>
              <a:t>interface has </a:t>
            </a:r>
            <a:r>
              <a:rPr lang="en-US" sz="2000" b="1" dirty="0">
                <a:latin typeface="Corbel" panose="020B0503020204020204" pitchFamily="34" charset="0"/>
              </a:rPr>
              <a:t>four methods</a:t>
            </a:r>
            <a:r>
              <a:rPr lang="en-US" sz="2000" dirty="0">
                <a:latin typeface="Corbel" panose="020B0503020204020204" pitchFamily="34" charset="0"/>
              </a:rPr>
              <a:t>, but it inherits two </a:t>
            </a:r>
            <a:r>
              <a:rPr lang="en-US" sz="2000" b="1" dirty="0">
                <a:latin typeface="Corbel" panose="020B0503020204020204" pitchFamily="34" charset="0"/>
              </a:rPr>
              <a:t>from </a:t>
            </a:r>
            <a:r>
              <a:rPr lang="en-US" sz="2000" b="1" dirty="0" err="1">
                <a:latin typeface="Corbel" panose="020B0503020204020204" pitchFamily="34" charset="0"/>
              </a:rPr>
              <a:t>SportsListener</a:t>
            </a:r>
            <a:r>
              <a:rPr lang="en-US" sz="2000" dirty="0">
                <a:latin typeface="Corbel" panose="020B0503020204020204" pitchFamily="34" charset="0"/>
              </a:rPr>
              <a:t>; </a:t>
            </a:r>
          </a:p>
          <a:p>
            <a:pPr marL="342900" indent="-342900">
              <a:lnSpc>
                <a:spcPct val="150000"/>
              </a:lnSpc>
              <a:buFont typeface="Arial" panose="020B0604020202020204" pitchFamily="34" charset="0"/>
              <a:buChar char="•"/>
            </a:pPr>
            <a:r>
              <a:rPr lang="en-US" sz="2000" dirty="0">
                <a:latin typeface="Corbel" panose="020B0503020204020204" pitchFamily="34" charset="0"/>
              </a:rPr>
              <a:t>thus, a class that </a:t>
            </a:r>
            <a:r>
              <a:rPr lang="en-US" sz="2000" b="1" dirty="0">
                <a:latin typeface="Corbel" panose="020B0503020204020204" pitchFamily="34" charset="0"/>
              </a:rPr>
              <a:t>implements </a:t>
            </a:r>
            <a:r>
              <a:rPr lang="en-US" sz="2000" b="1" dirty="0" err="1">
                <a:latin typeface="Corbel" panose="020B0503020204020204" pitchFamily="34" charset="0"/>
              </a:rPr>
              <a:t>HockeyListener</a:t>
            </a:r>
            <a:r>
              <a:rPr lang="en-US" sz="2000" b="1" dirty="0">
                <a:latin typeface="Corbel" panose="020B0503020204020204" pitchFamily="34" charset="0"/>
              </a:rPr>
              <a:t> needs to implement all six methods</a:t>
            </a:r>
            <a:r>
              <a:rPr lang="en-US" sz="2000" dirty="0">
                <a:latin typeface="Corbel" panose="020B0503020204020204" pitchFamily="34" charset="0"/>
              </a:rPr>
              <a:t>. </a:t>
            </a:r>
          </a:p>
          <a:p>
            <a:pPr marL="342900" indent="-342900">
              <a:lnSpc>
                <a:spcPct val="150000"/>
              </a:lnSpc>
              <a:buFont typeface="Arial" panose="020B0604020202020204" pitchFamily="34" charset="0"/>
              <a:buChar char="•"/>
            </a:pPr>
            <a:r>
              <a:rPr lang="en-US" sz="2000" dirty="0">
                <a:latin typeface="Corbel" panose="020B0503020204020204" pitchFamily="34" charset="0"/>
              </a:rPr>
              <a:t>Similarly, a class that implements </a:t>
            </a:r>
            <a:r>
              <a:rPr lang="en-US" sz="2000" b="1" dirty="0" err="1">
                <a:latin typeface="Corbel" panose="020B0503020204020204" pitchFamily="34" charset="0"/>
              </a:rPr>
              <a:t>FootballListener</a:t>
            </a:r>
            <a:r>
              <a:rPr lang="en-US" sz="2000" b="1" dirty="0">
                <a:latin typeface="Corbel" panose="020B0503020204020204" pitchFamily="34" charset="0"/>
              </a:rPr>
              <a:t> needs to define the three methods from </a:t>
            </a:r>
            <a:r>
              <a:rPr lang="en-US" sz="2000" b="1" dirty="0" err="1">
                <a:latin typeface="Corbel" panose="020B0503020204020204" pitchFamily="34" charset="0"/>
              </a:rPr>
              <a:t>FootballListener</a:t>
            </a:r>
            <a:r>
              <a:rPr lang="en-US" sz="2000" b="1" dirty="0">
                <a:latin typeface="Corbel" panose="020B0503020204020204" pitchFamily="34" charset="0"/>
              </a:rPr>
              <a:t> and the two methods from </a:t>
            </a:r>
            <a:r>
              <a:rPr lang="en-US" sz="2000" b="1" dirty="0" err="1">
                <a:latin typeface="Corbel" panose="020B0503020204020204" pitchFamily="34" charset="0"/>
              </a:rPr>
              <a:t>SportsListener</a:t>
            </a:r>
            <a:r>
              <a:rPr lang="en-US" sz="2000" dirty="0">
                <a:latin typeface="Corbel" panose="020B0503020204020204" pitchFamily="34" charset="0"/>
              </a:rPr>
              <a:t>.</a:t>
            </a:r>
          </a:p>
        </p:txBody>
      </p:sp>
      <p:pic>
        <p:nvPicPr>
          <p:cNvPr id="5" name="Content Placeholder 4"/>
          <p:cNvPicPr>
            <a:picLocks noGrp="1" noChangeAspect="1"/>
          </p:cNvPicPr>
          <p:nvPr>
            <p:ph idx="1"/>
          </p:nvPr>
        </p:nvPicPr>
        <p:blipFill>
          <a:blip r:embed="rId2"/>
          <a:stretch>
            <a:fillRect/>
          </a:stretch>
        </p:blipFill>
        <p:spPr>
          <a:xfrm>
            <a:off x="357188" y="1524000"/>
            <a:ext cx="6315076" cy="3319462"/>
          </a:xfrm>
          <a:prstGeom prst="rect">
            <a:avLst/>
          </a:prstGeom>
        </p:spPr>
      </p:pic>
    </p:spTree>
    <p:extLst>
      <p:ext uri="{BB962C8B-B14F-4D97-AF65-F5344CB8AC3E}">
        <p14:creationId xmlns:p14="http://schemas.microsoft.com/office/powerpoint/2010/main" val="3127693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8601075" y="1217335"/>
            <a:ext cx="3529014" cy="332398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Corbel" panose="020B0503020204020204" pitchFamily="34" charset="0"/>
              </a:rPr>
              <a:t>The following </a:t>
            </a:r>
            <a:r>
              <a:rPr lang="en-US" sz="2000" dirty="0" err="1">
                <a:latin typeface="Corbel" panose="020B0503020204020204" pitchFamily="34" charset="0"/>
              </a:rPr>
              <a:t>SportsTicker</a:t>
            </a:r>
            <a:r>
              <a:rPr lang="en-US" sz="2000" dirty="0">
                <a:latin typeface="Corbel" panose="020B0503020204020204" pitchFamily="34" charset="0"/>
              </a:rPr>
              <a:t> class implements the </a:t>
            </a:r>
            <a:r>
              <a:rPr lang="en-US" sz="2000" dirty="0" err="1">
                <a:latin typeface="Corbel" panose="020B0503020204020204" pitchFamily="34" charset="0"/>
              </a:rPr>
              <a:t>HockeyListener</a:t>
            </a:r>
            <a:r>
              <a:rPr lang="en-US" sz="2000" dirty="0">
                <a:latin typeface="Corbel" panose="020B0503020204020204" pitchFamily="34" charset="0"/>
              </a:rPr>
              <a:t> interface.</a:t>
            </a:r>
          </a:p>
          <a:p>
            <a:pPr marL="342900" indent="-342900">
              <a:lnSpc>
                <a:spcPct val="150000"/>
              </a:lnSpc>
              <a:buFont typeface="Arial" panose="020B0604020202020204" pitchFamily="34" charset="0"/>
              <a:buChar char="•"/>
            </a:pPr>
            <a:r>
              <a:rPr lang="en-US" sz="2000" dirty="0">
                <a:latin typeface="Corbel" panose="020B0503020204020204" pitchFamily="34" charset="0"/>
              </a:rPr>
              <a:t>Notice that the required six methods are defined to avoid declaring Sports-Ticker abstract.</a:t>
            </a:r>
          </a:p>
        </p:txBody>
      </p:sp>
      <p:pic>
        <p:nvPicPr>
          <p:cNvPr id="7" name="Content Placeholder 6"/>
          <p:cNvPicPr>
            <a:picLocks noGrp="1" noChangeAspect="1"/>
          </p:cNvPicPr>
          <p:nvPr>
            <p:ph idx="1"/>
          </p:nvPr>
        </p:nvPicPr>
        <p:blipFill>
          <a:blip r:embed="rId2"/>
          <a:stretch>
            <a:fillRect/>
          </a:stretch>
        </p:blipFill>
        <p:spPr>
          <a:xfrm>
            <a:off x="367436" y="1371600"/>
            <a:ext cx="8047901" cy="5511108"/>
          </a:xfrm>
          <a:prstGeom prst="rect">
            <a:avLst/>
          </a:prstGeom>
        </p:spPr>
      </p:pic>
    </p:spTree>
    <p:extLst>
      <p:ext uri="{BB962C8B-B14F-4D97-AF65-F5344CB8AC3E}">
        <p14:creationId xmlns:p14="http://schemas.microsoft.com/office/powerpoint/2010/main" val="557848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Extending Multiple Interface</a:t>
            </a:r>
          </a:p>
        </p:txBody>
      </p:sp>
      <p:sp>
        <p:nvSpPr>
          <p:cNvPr id="5" name="Slide Number Placeholder 4"/>
          <p:cNvSpPr>
            <a:spLocks noGrp="1"/>
          </p:cNvSpPr>
          <p:nvPr>
            <p:ph type="sldNum" sz="quarter" idx="12"/>
          </p:nvPr>
        </p:nvSpPr>
        <p:spPr/>
        <p:txBody>
          <a:bodyPr/>
          <a:lstStyle/>
          <a:p>
            <a:fld id="{401CF334-2D5C-4859-84A6-CA7E6E43FAEB}" type="slidenum">
              <a:rPr lang="en-US" smtClean="0"/>
              <a:t>25</a:t>
            </a:fld>
            <a:endParaRPr lang="en-US" dirty="0"/>
          </a:p>
        </p:txBody>
      </p:sp>
      <p:sp>
        <p:nvSpPr>
          <p:cNvPr id="2" name="Content Placeholder 1"/>
          <p:cNvSpPr>
            <a:spLocks noGrp="1"/>
          </p:cNvSpPr>
          <p:nvPr>
            <p:ph idx="1"/>
          </p:nvPr>
        </p:nvSpPr>
        <p:spPr>
          <a:xfrm>
            <a:off x="1104899" y="1600200"/>
            <a:ext cx="10596563" cy="4572000"/>
          </a:xfrm>
        </p:spPr>
        <p:txBody>
          <a:bodyPr>
            <a:noAutofit/>
          </a:bodyPr>
          <a:lstStyle/>
          <a:p>
            <a:pPr>
              <a:lnSpc>
                <a:spcPct val="150000"/>
              </a:lnSpc>
            </a:pPr>
            <a:r>
              <a:rPr lang="en-US" dirty="0">
                <a:latin typeface="Corbel" panose="020B0503020204020204" pitchFamily="34" charset="0"/>
              </a:rPr>
              <a:t>In Java, a </a:t>
            </a:r>
            <a:r>
              <a:rPr lang="en-US" b="1" dirty="0">
                <a:latin typeface="Corbel" panose="020B0503020204020204" pitchFamily="34" charset="0"/>
              </a:rPr>
              <a:t>class can only extend one parent class</a:t>
            </a:r>
            <a:r>
              <a:rPr lang="en-US" dirty="0">
                <a:latin typeface="Corbel" panose="020B0503020204020204" pitchFamily="34" charset="0"/>
              </a:rPr>
              <a:t>. (Multiple inheritance is not allowed.) </a:t>
            </a:r>
            <a:r>
              <a:rPr lang="en-US" b="1" dirty="0">
                <a:latin typeface="Corbel" panose="020B0503020204020204" pitchFamily="34" charset="0"/>
              </a:rPr>
              <a:t>Interfaces are not classes</a:t>
            </a:r>
            <a:r>
              <a:rPr lang="en-US" dirty="0">
                <a:latin typeface="Corbel" panose="020B0503020204020204" pitchFamily="34" charset="0"/>
              </a:rPr>
              <a:t>, however, and </a:t>
            </a:r>
            <a:r>
              <a:rPr lang="en-US" b="1" dirty="0">
                <a:latin typeface="Corbel" panose="020B0503020204020204" pitchFamily="34" charset="0"/>
              </a:rPr>
              <a:t>an interface can extend more than one parent interface</a:t>
            </a:r>
            <a:r>
              <a:rPr lang="en-US" dirty="0">
                <a:latin typeface="Corbel" panose="020B0503020204020204" pitchFamily="34" charset="0"/>
              </a:rPr>
              <a:t>. The </a:t>
            </a:r>
            <a:r>
              <a:rPr lang="en-US" b="1" dirty="0">
                <a:latin typeface="Corbel" panose="020B0503020204020204" pitchFamily="34" charset="0"/>
              </a:rPr>
              <a:t>extends keyword is used once</a:t>
            </a:r>
            <a:r>
              <a:rPr lang="en-US" dirty="0">
                <a:latin typeface="Corbel" panose="020B0503020204020204" pitchFamily="34" charset="0"/>
              </a:rPr>
              <a:t>, and the </a:t>
            </a:r>
            <a:r>
              <a:rPr lang="en-US" b="1" dirty="0">
                <a:latin typeface="Corbel" panose="020B0503020204020204" pitchFamily="34" charset="0"/>
              </a:rPr>
              <a:t>parent interfaces are declared in a comma-separated list</a:t>
            </a:r>
            <a:r>
              <a:rPr lang="en-US" dirty="0">
                <a:latin typeface="Corbel" panose="020B0503020204020204" pitchFamily="34" charset="0"/>
              </a:rPr>
              <a:t>.</a:t>
            </a:r>
          </a:p>
          <a:p>
            <a:pPr>
              <a:lnSpc>
                <a:spcPct val="150000"/>
              </a:lnSpc>
            </a:pPr>
            <a:r>
              <a:rPr lang="en-US" dirty="0">
                <a:latin typeface="Corbel" panose="020B0503020204020204" pitchFamily="34" charset="0"/>
              </a:rPr>
              <a:t>For example, if the </a:t>
            </a:r>
            <a:r>
              <a:rPr lang="en-US" dirty="0" err="1">
                <a:latin typeface="Corbel" panose="020B0503020204020204" pitchFamily="34" charset="0"/>
              </a:rPr>
              <a:t>HockeyListener</a:t>
            </a:r>
            <a:r>
              <a:rPr lang="en-US" dirty="0">
                <a:latin typeface="Corbel" panose="020B0503020204020204" pitchFamily="34" charset="0"/>
              </a:rPr>
              <a:t> interface extended both </a:t>
            </a:r>
            <a:r>
              <a:rPr lang="en-US" dirty="0" err="1">
                <a:latin typeface="Corbel" panose="020B0503020204020204" pitchFamily="34" charset="0"/>
              </a:rPr>
              <a:t>SportsListener</a:t>
            </a:r>
            <a:r>
              <a:rPr lang="en-US" dirty="0">
                <a:latin typeface="Corbel" panose="020B0503020204020204" pitchFamily="34" charset="0"/>
              </a:rPr>
              <a:t> and </a:t>
            </a:r>
            <a:r>
              <a:rPr lang="en-US" dirty="0" err="1">
                <a:latin typeface="Corbel" panose="020B0503020204020204" pitchFamily="34" charset="0"/>
              </a:rPr>
              <a:t>EventListener</a:t>
            </a:r>
            <a:r>
              <a:rPr lang="en-US" dirty="0">
                <a:latin typeface="Corbel" panose="020B0503020204020204" pitchFamily="34" charset="0"/>
              </a:rPr>
              <a:t>, it would be declared as:</a:t>
            </a:r>
          </a:p>
          <a:p>
            <a:pPr lvl="1">
              <a:lnSpc>
                <a:spcPct val="150000"/>
              </a:lnSpc>
            </a:pPr>
            <a:r>
              <a:rPr lang="en-US" sz="2000" b="1" dirty="0">
                <a:latin typeface="Corbel" panose="020B0503020204020204" pitchFamily="34" charset="0"/>
              </a:rPr>
              <a:t>public interface </a:t>
            </a:r>
            <a:r>
              <a:rPr lang="en-US" sz="2000" b="1" dirty="0" err="1">
                <a:latin typeface="Corbel" panose="020B0503020204020204" pitchFamily="34" charset="0"/>
              </a:rPr>
              <a:t>HockeyListener</a:t>
            </a:r>
            <a:r>
              <a:rPr lang="en-US" sz="2000" b="1" dirty="0">
                <a:latin typeface="Corbel" panose="020B0503020204020204" pitchFamily="34" charset="0"/>
              </a:rPr>
              <a:t> extends </a:t>
            </a:r>
            <a:r>
              <a:rPr lang="en-US" sz="2000" b="1" dirty="0" err="1">
                <a:latin typeface="Corbel" panose="020B0503020204020204" pitchFamily="34" charset="0"/>
              </a:rPr>
              <a:t>SportsListener</a:t>
            </a:r>
            <a:r>
              <a:rPr lang="en-US" sz="2000" b="1" dirty="0">
                <a:latin typeface="Corbel" panose="020B0503020204020204" pitchFamily="34" charset="0"/>
              </a:rPr>
              <a:t>, </a:t>
            </a:r>
            <a:r>
              <a:rPr lang="en-US" sz="2000" b="1" dirty="0" err="1">
                <a:latin typeface="Corbel" panose="020B0503020204020204" pitchFamily="34" charset="0"/>
              </a:rPr>
              <a:t>EventListener</a:t>
            </a:r>
            <a:endParaRPr lang="en-US" sz="2000" b="1" dirty="0">
              <a:latin typeface="Corbel" panose="020B0503020204020204" pitchFamily="34" charset="0"/>
            </a:endParaRPr>
          </a:p>
          <a:p>
            <a:pPr>
              <a:lnSpc>
                <a:spcPct val="150000"/>
              </a:lnSpc>
            </a:pPr>
            <a:r>
              <a:rPr lang="en-US" dirty="0">
                <a:latin typeface="Corbel" panose="020B0503020204020204" pitchFamily="34" charset="0"/>
              </a:rPr>
              <a:t>Any class that implements this </a:t>
            </a:r>
            <a:r>
              <a:rPr lang="en-US" dirty="0" err="1">
                <a:latin typeface="Corbel" panose="020B0503020204020204" pitchFamily="34" charset="0"/>
              </a:rPr>
              <a:t>HockeyListener</a:t>
            </a:r>
            <a:r>
              <a:rPr lang="en-US" dirty="0">
                <a:latin typeface="Corbel" panose="020B0503020204020204" pitchFamily="34" charset="0"/>
              </a:rPr>
              <a:t> interface must implement all the methods in </a:t>
            </a:r>
            <a:r>
              <a:rPr lang="en-US" dirty="0" err="1">
                <a:latin typeface="Corbel" panose="020B0503020204020204" pitchFamily="34" charset="0"/>
              </a:rPr>
              <a:t>HockeyListener</a:t>
            </a:r>
            <a:r>
              <a:rPr lang="en-US" dirty="0">
                <a:latin typeface="Corbel" panose="020B0503020204020204" pitchFamily="34" charset="0"/>
              </a:rPr>
              <a:t>, </a:t>
            </a:r>
            <a:r>
              <a:rPr lang="en-US" dirty="0" err="1">
                <a:latin typeface="Corbel" panose="020B0503020204020204" pitchFamily="34" charset="0"/>
              </a:rPr>
              <a:t>SportsListener</a:t>
            </a:r>
            <a:r>
              <a:rPr lang="en-US" dirty="0">
                <a:latin typeface="Corbel" panose="020B0503020204020204" pitchFamily="34" charset="0"/>
              </a:rPr>
              <a:t>, and </a:t>
            </a:r>
            <a:r>
              <a:rPr lang="en-US" dirty="0" err="1">
                <a:latin typeface="Corbel" panose="020B0503020204020204" pitchFamily="34" charset="0"/>
              </a:rPr>
              <a:t>EventListener</a:t>
            </a:r>
            <a:r>
              <a:rPr lang="en-US" dirty="0">
                <a:latin typeface="Corbel" panose="020B0503020204020204" pitchFamily="34" charset="0"/>
              </a:rPr>
              <a:t>.</a:t>
            </a:r>
            <a:endParaRPr lang="en-US" b="1" i="1" dirty="0">
              <a:latin typeface="Corbel" panose="020B0503020204020204" pitchFamily="34" charset="0"/>
            </a:endParaRPr>
          </a:p>
        </p:txBody>
      </p:sp>
    </p:spTree>
    <p:extLst>
      <p:ext uri="{BB962C8B-B14F-4D97-AF65-F5344CB8AC3E}">
        <p14:creationId xmlns:p14="http://schemas.microsoft.com/office/powerpoint/2010/main" val="396539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Tag or Marker Interface</a:t>
            </a:r>
          </a:p>
        </p:txBody>
      </p:sp>
      <p:sp>
        <p:nvSpPr>
          <p:cNvPr id="5" name="Slide Number Placeholder 4"/>
          <p:cNvSpPr>
            <a:spLocks noGrp="1"/>
          </p:cNvSpPr>
          <p:nvPr>
            <p:ph type="sldNum" sz="quarter" idx="12"/>
          </p:nvPr>
        </p:nvSpPr>
        <p:spPr/>
        <p:txBody>
          <a:bodyPr/>
          <a:lstStyle/>
          <a:p>
            <a:fld id="{401CF334-2D5C-4859-84A6-CA7E6E43FAEB}" type="slidenum">
              <a:rPr lang="en-US" smtClean="0"/>
              <a:t>26</a:t>
            </a:fld>
            <a:endParaRPr lang="en-US" dirty="0"/>
          </a:p>
        </p:txBody>
      </p:sp>
      <p:sp>
        <p:nvSpPr>
          <p:cNvPr id="2" name="Content Placeholder 1"/>
          <p:cNvSpPr>
            <a:spLocks noGrp="1"/>
          </p:cNvSpPr>
          <p:nvPr>
            <p:ph idx="1"/>
          </p:nvPr>
        </p:nvSpPr>
        <p:spPr>
          <a:xfrm>
            <a:off x="176212" y="1371600"/>
            <a:ext cx="11901488" cy="5943600"/>
          </a:xfrm>
        </p:spPr>
        <p:txBody>
          <a:bodyPr>
            <a:noAutofit/>
          </a:bodyPr>
          <a:lstStyle/>
          <a:p>
            <a:pPr>
              <a:lnSpc>
                <a:spcPct val="150000"/>
              </a:lnSpc>
            </a:pPr>
            <a:r>
              <a:rPr lang="en-US" sz="1600" dirty="0">
                <a:latin typeface="Corbel" panose="020B0503020204020204" pitchFamily="34" charset="0"/>
              </a:rPr>
              <a:t>The most common use of extending interfaces occurs when the </a:t>
            </a:r>
            <a:r>
              <a:rPr lang="en-US" sz="1600" b="1" dirty="0">
                <a:latin typeface="Corbel" panose="020B0503020204020204" pitchFamily="34" charset="0"/>
              </a:rPr>
              <a:t>parent interface does not contain any methods</a:t>
            </a:r>
            <a:r>
              <a:rPr lang="en-US" sz="1600" dirty="0">
                <a:latin typeface="Corbel" panose="020B0503020204020204" pitchFamily="34" charset="0"/>
              </a:rPr>
              <a:t>. For example, the </a:t>
            </a:r>
            <a:r>
              <a:rPr lang="en-US" sz="1600" b="1" dirty="0" err="1">
                <a:latin typeface="Corbel" panose="020B0503020204020204" pitchFamily="34" charset="0"/>
              </a:rPr>
              <a:t>MouseListener</a:t>
            </a:r>
            <a:r>
              <a:rPr lang="en-US" sz="1600" b="1" dirty="0">
                <a:latin typeface="Corbel" panose="020B0503020204020204" pitchFamily="34" charset="0"/>
              </a:rPr>
              <a:t> interface </a:t>
            </a:r>
            <a:r>
              <a:rPr lang="en-US" sz="1600" dirty="0">
                <a:latin typeface="Corbel" panose="020B0503020204020204" pitchFamily="34" charset="0"/>
              </a:rPr>
              <a:t>in the </a:t>
            </a:r>
            <a:r>
              <a:rPr lang="en-US" sz="1600" dirty="0" err="1">
                <a:latin typeface="Corbel" panose="020B0503020204020204" pitchFamily="34" charset="0"/>
              </a:rPr>
              <a:t>java.awt.event</a:t>
            </a:r>
            <a:r>
              <a:rPr lang="en-US" sz="1600" dirty="0">
                <a:latin typeface="Corbel" panose="020B0503020204020204" pitchFamily="34" charset="0"/>
              </a:rPr>
              <a:t> package </a:t>
            </a:r>
            <a:r>
              <a:rPr lang="en-US" sz="1600" b="1" dirty="0">
                <a:latin typeface="Corbel" panose="020B0503020204020204" pitchFamily="34" charset="0"/>
              </a:rPr>
              <a:t>extended </a:t>
            </a:r>
            <a:r>
              <a:rPr lang="en-US" sz="1600" b="1" dirty="0" err="1">
                <a:latin typeface="Corbel" panose="020B0503020204020204" pitchFamily="34" charset="0"/>
              </a:rPr>
              <a:t>java.util.EventListener</a:t>
            </a:r>
            <a:r>
              <a:rPr lang="en-US" sz="1600" dirty="0">
                <a:latin typeface="Corbel" panose="020B0503020204020204" pitchFamily="34" charset="0"/>
              </a:rPr>
              <a:t>, which is defined as: 	</a:t>
            </a:r>
          </a:p>
          <a:p>
            <a:pPr lvl="2">
              <a:lnSpc>
                <a:spcPct val="150000"/>
              </a:lnSpc>
            </a:pPr>
            <a:r>
              <a:rPr lang="en-US" sz="1600" dirty="0">
                <a:latin typeface="Corbel" panose="020B0503020204020204" pitchFamily="34" charset="0"/>
              </a:rPr>
              <a:t>package </a:t>
            </a:r>
            <a:r>
              <a:rPr lang="en-US" sz="1600" dirty="0" err="1">
                <a:latin typeface="Corbel" panose="020B0503020204020204" pitchFamily="34" charset="0"/>
              </a:rPr>
              <a:t>java.util</a:t>
            </a:r>
            <a:r>
              <a:rPr lang="en-US" sz="1600" dirty="0">
                <a:latin typeface="Corbel" panose="020B0503020204020204" pitchFamily="34" charset="0"/>
              </a:rPr>
              <a:t>; </a:t>
            </a:r>
          </a:p>
          <a:p>
            <a:pPr lvl="2">
              <a:lnSpc>
                <a:spcPct val="150000"/>
              </a:lnSpc>
            </a:pPr>
            <a:r>
              <a:rPr lang="en-US" sz="1600" dirty="0">
                <a:latin typeface="Corbel" panose="020B0503020204020204" pitchFamily="34" charset="0"/>
              </a:rPr>
              <a:t>public interface </a:t>
            </a:r>
            <a:r>
              <a:rPr lang="en-US" sz="1600" dirty="0" err="1">
                <a:latin typeface="Corbel" panose="020B0503020204020204" pitchFamily="34" charset="0"/>
              </a:rPr>
              <a:t>EventListener</a:t>
            </a:r>
            <a:endParaRPr lang="en-US" sz="1600" dirty="0">
              <a:latin typeface="Corbel" panose="020B0503020204020204" pitchFamily="34" charset="0"/>
            </a:endParaRPr>
          </a:p>
          <a:p>
            <a:pPr lvl="2">
              <a:lnSpc>
                <a:spcPct val="150000"/>
              </a:lnSpc>
            </a:pPr>
            <a:r>
              <a:rPr lang="en-US" sz="1600" dirty="0">
                <a:latin typeface="Corbel" panose="020B0503020204020204" pitchFamily="34" charset="0"/>
              </a:rPr>
              <a:t>{}</a:t>
            </a:r>
          </a:p>
          <a:p>
            <a:pPr>
              <a:lnSpc>
                <a:spcPct val="150000"/>
              </a:lnSpc>
            </a:pPr>
            <a:r>
              <a:rPr lang="en-US" sz="1600" dirty="0">
                <a:latin typeface="Corbel" panose="020B0503020204020204" pitchFamily="34" charset="0"/>
              </a:rPr>
              <a:t>An </a:t>
            </a:r>
            <a:r>
              <a:rPr lang="en-US" sz="1600" b="1" dirty="0">
                <a:latin typeface="Corbel" panose="020B0503020204020204" pitchFamily="34" charset="0"/>
              </a:rPr>
              <a:t>interface with no methods </a:t>
            </a:r>
            <a:r>
              <a:rPr lang="en-US" sz="1600" dirty="0">
                <a:latin typeface="Corbel" panose="020B0503020204020204" pitchFamily="34" charset="0"/>
              </a:rPr>
              <a:t>in it is referred to as </a:t>
            </a:r>
            <a:r>
              <a:rPr lang="en-US" sz="1600" b="1" dirty="0">
                <a:latin typeface="Corbel" panose="020B0503020204020204" pitchFamily="34" charset="0"/>
              </a:rPr>
              <a:t>a </a:t>
            </a:r>
            <a:r>
              <a:rPr lang="en-US" sz="1600" b="1" i="1" dirty="0">
                <a:latin typeface="Corbel" panose="020B0503020204020204" pitchFamily="34" charset="0"/>
              </a:rPr>
              <a:t>tagging interface</a:t>
            </a:r>
            <a:r>
              <a:rPr lang="en-US" sz="1600" dirty="0">
                <a:latin typeface="Corbel" panose="020B0503020204020204" pitchFamily="34" charset="0"/>
              </a:rPr>
              <a:t>. Why define an interface with no methods in it? Well, there are two basic design purposes of tagging interfaces:</a:t>
            </a:r>
          </a:p>
          <a:p>
            <a:pPr>
              <a:lnSpc>
                <a:spcPct val="150000"/>
              </a:lnSpc>
            </a:pPr>
            <a:r>
              <a:rPr lang="en-US" sz="1600" b="1" dirty="0">
                <a:latin typeface="Corbel" panose="020B0503020204020204" pitchFamily="34" charset="0"/>
              </a:rPr>
              <a:t>Creates a common parent</a:t>
            </a:r>
            <a:r>
              <a:rPr lang="en-US" sz="1600" dirty="0">
                <a:latin typeface="Corbel" panose="020B0503020204020204" pitchFamily="34" charset="0"/>
              </a:rPr>
              <a:t>. As with the </a:t>
            </a:r>
            <a:r>
              <a:rPr lang="en-US" sz="1600" dirty="0" err="1">
                <a:latin typeface="Corbel" panose="020B0503020204020204" pitchFamily="34" charset="0"/>
              </a:rPr>
              <a:t>EventListener</a:t>
            </a:r>
            <a:r>
              <a:rPr lang="en-US" sz="1600" dirty="0">
                <a:latin typeface="Corbel" panose="020B0503020204020204" pitchFamily="34" charset="0"/>
              </a:rPr>
              <a:t> interface, which is extended by dozens of other interfaces in the Java API, you can use a tagging interface to create a common parent among a group of interfaces. For example, when an interface extends </a:t>
            </a:r>
            <a:r>
              <a:rPr lang="en-US" sz="1600" dirty="0" err="1">
                <a:latin typeface="Corbel" panose="020B0503020204020204" pitchFamily="34" charset="0"/>
              </a:rPr>
              <a:t>EventListener</a:t>
            </a:r>
            <a:r>
              <a:rPr lang="en-US" sz="1600" dirty="0">
                <a:latin typeface="Corbel" panose="020B0503020204020204" pitchFamily="34" charset="0"/>
              </a:rPr>
              <a:t>, the JVM knows that this particular interface is going to be used in an event delegation scenario. </a:t>
            </a:r>
          </a:p>
          <a:p>
            <a:pPr>
              <a:lnSpc>
                <a:spcPct val="150000"/>
              </a:lnSpc>
            </a:pPr>
            <a:r>
              <a:rPr lang="en-US" sz="1600" b="1" dirty="0">
                <a:latin typeface="Corbel" panose="020B0503020204020204" pitchFamily="34" charset="0"/>
              </a:rPr>
              <a:t>Adds a data type to a class</a:t>
            </a:r>
            <a:r>
              <a:rPr lang="en-US" sz="1600" dirty="0">
                <a:latin typeface="Corbel" panose="020B0503020204020204" pitchFamily="34" charset="0"/>
              </a:rPr>
              <a:t>. This situation is where the term tagging comes from. A class that implements a tagging interface does not need to define any methods (since the interface does not have any), but the class becomes an interface type through polymorphism.</a:t>
            </a:r>
            <a:endParaRPr lang="en-US" sz="1600" b="1" i="1" dirty="0">
              <a:latin typeface="Corbel" panose="020B0503020204020204" pitchFamily="34" charset="0"/>
            </a:endParaRPr>
          </a:p>
        </p:txBody>
      </p:sp>
    </p:spTree>
    <p:extLst>
      <p:ext uri="{BB962C8B-B14F-4D97-AF65-F5344CB8AC3E}">
        <p14:creationId xmlns:p14="http://schemas.microsoft.com/office/powerpoint/2010/main" val="42354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Interface vs Abstract Class</a:t>
            </a:r>
          </a:p>
        </p:txBody>
      </p:sp>
      <p:sp>
        <p:nvSpPr>
          <p:cNvPr id="5" name="Slide Number Placeholder 4"/>
          <p:cNvSpPr>
            <a:spLocks noGrp="1"/>
          </p:cNvSpPr>
          <p:nvPr>
            <p:ph type="sldNum" sz="quarter" idx="12"/>
          </p:nvPr>
        </p:nvSpPr>
        <p:spPr/>
        <p:txBody>
          <a:bodyPr/>
          <a:lstStyle/>
          <a:p>
            <a:fld id="{401CF334-2D5C-4859-84A6-CA7E6E43FAEB}" type="slidenum">
              <a:rPr lang="en-US" smtClean="0"/>
              <a:t>27</a:t>
            </a:fld>
            <a:endParaRPr lang="en-US" dirty="0"/>
          </a:p>
        </p:txBody>
      </p:sp>
      <p:pic>
        <p:nvPicPr>
          <p:cNvPr id="6" name="Content Placeholder 5"/>
          <p:cNvPicPr>
            <a:picLocks noGrp="1" noChangeAspect="1"/>
          </p:cNvPicPr>
          <p:nvPr>
            <p:ph idx="1"/>
          </p:nvPr>
        </p:nvPicPr>
        <p:blipFill>
          <a:blip r:embed="rId2"/>
          <a:stretch>
            <a:fillRect/>
          </a:stretch>
        </p:blipFill>
        <p:spPr>
          <a:xfrm>
            <a:off x="800101" y="1505353"/>
            <a:ext cx="10285482" cy="5300819"/>
          </a:xfrm>
          <a:prstGeom prst="rect">
            <a:avLst/>
          </a:prstGeom>
        </p:spPr>
      </p:pic>
    </p:spTree>
    <p:extLst>
      <p:ext uri="{BB962C8B-B14F-4D97-AF65-F5344CB8AC3E}">
        <p14:creationId xmlns:p14="http://schemas.microsoft.com/office/powerpoint/2010/main" val="163749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a:t>Interfaces Recap</a:t>
            </a:r>
          </a:p>
        </p:txBody>
      </p:sp>
      <p:sp>
        <p:nvSpPr>
          <p:cNvPr id="3" name="Text Placeholder 2"/>
          <p:cNvSpPr>
            <a:spLocks noGrp="1"/>
          </p:cNvSpPr>
          <p:nvPr>
            <p:ph type="body" idx="1"/>
          </p:nvPr>
        </p:nvSpPr>
        <p:spPr>
          <a:xfrm>
            <a:off x="1104899" y="4655956"/>
            <a:ext cx="3752851" cy="509750"/>
          </a:xfrm>
        </p:spPr>
        <p:txBody>
          <a:bodyPr>
            <a:normAutofit/>
          </a:bodyPr>
          <a:lstStyle/>
          <a:p>
            <a:r>
              <a:rPr lang="en-US" dirty="0"/>
              <a:t>Harnessing Chi</a:t>
            </a:r>
          </a:p>
        </p:txBody>
      </p:sp>
      <p:pic>
        <p:nvPicPr>
          <p:cNvPr id="7" name="Picture 6">
            <a:extLst>
              <a:ext uri="{FF2B5EF4-FFF2-40B4-BE49-F238E27FC236}">
                <a16:creationId xmlns:a16="http://schemas.microsoft.com/office/drawing/2014/main" id="{651271DE-16BC-48A1-9D2C-69672CD89C39}"/>
              </a:ext>
            </a:extLst>
          </p:cNvPr>
          <p:cNvPicPr>
            <a:picLocks noChangeAspect="1"/>
          </p:cNvPicPr>
          <p:nvPr/>
        </p:nvPicPr>
        <p:blipFill>
          <a:blip r:embed="rId2"/>
          <a:stretch>
            <a:fillRect/>
          </a:stretch>
        </p:blipFill>
        <p:spPr>
          <a:xfrm>
            <a:off x="3985590" y="817341"/>
            <a:ext cx="7980693" cy="3160893"/>
          </a:xfrm>
          <a:prstGeom prst="rect">
            <a:avLst/>
          </a:prstGeom>
        </p:spPr>
      </p:pic>
    </p:spTree>
    <p:extLst>
      <p:ext uri="{BB962C8B-B14F-4D97-AF65-F5344CB8AC3E}">
        <p14:creationId xmlns:p14="http://schemas.microsoft.com/office/powerpoint/2010/main" val="285200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224600"/>
            <a:ext cx="10972800" cy="866267"/>
          </a:xfrm>
        </p:spPr>
        <p:txBody>
          <a:bodyPr>
            <a:noAutofit/>
          </a:bodyPr>
          <a:lstStyle/>
          <a:p>
            <a:r>
              <a:rPr lang="en-US" sz="3600" dirty="0"/>
              <a:t>Interfaces in Java</a:t>
            </a:r>
          </a:p>
        </p:txBody>
      </p:sp>
      <p:sp>
        <p:nvSpPr>
          <p:cNvPr id="5" name="Slide Number Placeholder 4"/>
          <p:cNvSpPr>
            <a:spLocks noGrp="1"/>
          </p:cNvSpPr>
          <p:nvPr>
            <p:ph type="sldNum" sz="quarter" idx="12"/>
          </p:nvPr>
        </p:nvSpPr>
        <p:spPr/>
        <p:txBody>
          <a:bodyPr/>
          <a:lstStyle/>
          <a:p>
            <a:fld id="{401CF334-2D5C-4859-84A6-CA7E6E43FAEB}" type="slidenum">
              <a:rPr lang="en-US" smtClean="0"/>
              <a:t>29</a:t>
            </a:fld>
            <a:endParaRPr lang="en-US" dirty="0"/>
          </a:p>
        </p:txBody>
      </p:sp>
      <p:sp>
        <p:nvSpPr>
          <p:cNvPr id="2" name="Content Placeholder 1"/>
          <p:cNvSpPr>
            <a:spLocks noGrp="1"/>
          </p:cNvSpPr>
          <p:nvPr>
            <p:ph idx="1"/>
          </p:nvPr>
        </p:nvSpPr>
        <p:spPr>
          <a:xfrm>
            <a:off x="1104899" y="1437609"/>
            <a:ext cx="10768013" cy="4572000"/>
          </a:xfrm>
        </p:spPr>
        <p:txBody>
          <a:bodyPr>
            <a:noAutofit/>
          </a:bodyPr>
          <a:lstStyle/>
          <a:p>
            <a:pPr algn="just"/>
            <a:r>
              <a:rPr lang="en-US" sz="2400" dirty="0"/>
              <a:t>An </a:t>
            </a:r>
            <a:r>
              <a:rPr lang="en-US" sz="2400" b="1" dirty="0"/>
              <a:t>interface in java</a:t>
            </a:r>
            <a:r>
              <a:rPr lang="en-US" sz="2400" dirty="0"/>
              <a:t> is a </a:t>
            </a:r>
            <a:r>
              <a:rPr lang="en-US" sz="2400" b="1" dirty="0"/>
              <a:t>blueprint of a class</a:t>
            </a:r>
            <a:r>
              <a:rPr lang="en-US" sz="2400" dirty="0"/>
              <a:t>. It has static constants and abstract methods only.</a:t>
            </a:r>
          </a:p>
          <a:p>
            <a:r>
              <a:rPr lang="en-US" sz="2400" dirty="0"/>
              <a:t>An interface is a </a:t>
            </a:r>
            <a:r>
              <a:rPr lang="en-US" sz="2400" b="1" dirty="0"/>
              <a:t>reference type in Java</a:t>
            </a:r>
            <a:r>
              <a:rPr lang="en-US" sz="2400" dirty="0"/>
              <a:t>. It is similar to class. It is a collection of abstract methods. </a:t>
            </a:r>
            <a:r>
              <a:rPr lang="en-US" sz="2400" b="1" dirty="0"/>
              <a:t>A class implements an interface</a:t>
            </a:r>
            <a:r>
              <a:rPr lang="en-US" sz="2400" dirty="0"/>
              <a:t>, thereby </a:t>
            </a:r>
            <a:r>
              <a:rPr lang="en-US" sz="2400" b="1" dirty="0"/>
              <a:t>inheriting</a:t>
            </a:r>
            <a:r>
              <a:rPr lang="en-US" sz="2400" dirty="0"/>
              <a:t> the </a:t>
            </a:r>
            <a:r>
              <a:rPr lang="en-US" sz="2400" b="1" dirty="0"/>
              <a:t>abstract methods </a:t>
            </a:r>
            <a:r>
              <a:rPr lang="en-US" sz="2400" dirty="0"/>
              <a:t>of the interface.</a:t>
            </a:r>
          </a:p>
          <a:p>
            <a:r>
              <a:rPr lang="en-US" sz="2400" dirty="0"/>
              <a:t>Along with </a:t>
            </a:r>
            <a:r>
              <a:rPr lang="en-US" sz="2400" b="1" dirty="0"/>
              <a:t>abstract methods</a:t>
            </a:r>
            <a:r>
              <a:rPr lang="en-US" sz="2400" dirty="0"/>
              <a:t>, an interface may also contain constants, default methods, static methods, and nested types. Method bodies exist only for default methods and static methods.</a:t>
            </a:r>
          </a:p>
          <a:p>
            <a:r>
              <a:rPr lang="en-US" sz="2400" dirty="0"/>
              <a:t>Writing an interface is similar to writing a class. But a class describes the attributes and behaviors of an object. And an interface contains behaviors that a class implements.</a:t>
            </a:r>
          </a:p>
          <a:p>
            <a:pPr algn="just"/>
            <a:endParaRPr lang="en-US" sz="2400" dirty="0">
              <a:latin typeface="Corbel" panose="020B0503020204020204" pitchFamily="34" charset="0"/>
            </a:endParaRPr>
          </a:p>
        </p:txBody>
      </p:sp>
    </p:spTree>
    <p:extLst>
      <p:ext uri="{BB962C8B-B14F-4D97-AF65-F5344CB8AC3E}">
        <p14:creationId xmlns:p14="http://schemas.microsoft.com/office/powerpoint/2010/main" val="523105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Interface Key Points to Remember</a:t>
            </a:r>
          </a:p>
        </p:txBody>
      </p:sp>
      <p:sp>
        <p:nvSpPr>
          <p:cNvPr id="5" name="Slide Number Placeholder 4"/>
          <p:cNvSpPr>
            <a:spLocks noGrp="1"/>
          </p:cNvSpPr>
          <p:nvPr>
            <p:ph type="sldNum" sz="quarter" idx="12"/>
          </p:nvPr>
        </p:nvSpPr>
        <p:spPr/>
        <p:txBody>
          <a:bodyPr/>
          <a:lstStyle/>
          <a:p>
            <a:fld id="{401CF334-2D5C-4859-84A6-CA7E6E43FAEB}" type="slidenum">
              <a:rPr lang="en-US" smtClean="0"/>
              <a:t>30</a:t>
            </a:fld>
            <a:endParaRPr lang="en-US" dirty="0"/>
          </a:p>
        </p:txBody>
      </p:sp>
      <p:sp>
        <p:nvSpPr>
          <p:cNvPr id="2" name="Content Placeholder 1"/>
          <p:cNvSpPr>
            <a:spLocks noGrp="1"/>
          </p:cNvSpPr>
          <p:nvPr>
            <p:ph idx="1"/>
          </p:nvPr>
        </p:nvSpPr>
        <p:spPr>
          <a:xfrm>
            <a:off x="176212" y="1371600"/>
            <a:ext cx="7367588" cy="5943600"/>
          </a:xfrm>
        </p:spPr>
        <p:txBody>
          <a:bodyPr>
            <a:noAutofit/>
          </a:bodyPr>
          <a:lstStyle/>
          <a:p>
            <a:pPr>
              <a:lnSpc>
                <a:spcPct val="100000"/>
              </a:lnSpc>
            </a:pPr>
            <a:r>
              <a:rPr lang="en-US" sz="1600" dirty="0">
                <a:latin typeface="Corbel" panose="020B0503020204020204" pitchFamily="34" charset="0"/>
              </a:rPr>
              <a:t>Here are the key points to remember about interfaces:</a:t>
            </a:r>
          </a:p>
          <a:p>
            <a:pPr>
              <a:lnSpc>
                <a:spcPct val="100000"/>
              </a:lnSpc>
            </a:pPr>
            <a:r>
              <a:rPr lang="en-US" sz="1600" dirty="0">
                <a:latin typeface="Corbel" panose="020B0503020204020204" pitchFamily="34" charset="0"/>
              </a:rPr>
              <a:t>1) We </a:t>
            </a:r>
            <a:r>
              <a:rPr lang="en-US" sz="1600" b="1" u="sng" dirty="0">
                <a:latin typeface="Corbel" panose="020B0503020204020204" pitchFamily="34" charset="0"/>
              </a:rPr>
              <a:t>can’t instantiate an interface</a:t>
            </a:r>
            <a:r>
              <a:rPr lang="en-US" sz="1600" dirty="0">
                <a:latin typeface="Corbel" panose="020B0503020204020204" pitchFamily="34" charset="0"/>
              </a:rPr>
              <a:t> in java. That means we cannot create the object of an interface</a:t>
            </a:r>
          </a:p>
          <a:p>
            <a:pPr>
              <a:lnSpc>
                <a:spcPct val="100000"/>
              </a:lnSpc>
            </a:pPr>
            <a:r>
              <a:rPr lang="en-US" sz="1600" dirty="0">
                <a:latin typeface="Corbel" panose="020B0503020204020204" pitchFamily="34" charset="0"/>
              </a:rPr>
              <a:t>2) Interface </a:t>
            </a:r>
            <a:r>
              <a:rPr lang="en-US" sz="1600" b="1" u="sng" dirty="0">
                <a:latin typeface="Corbel" panose="020B0503020204020204" pitchFamily="34" charset="0"/>
              </a:rPr>
              <a:t>provides full abstraction </a:t>
            </a:r>
            <a:r>
              <a:rPr lang="en-US" sz="1600" dirty="0">
                <a:latin typeface="Corbel" panose="020B0503020204020204" pitchFamily="34" charset="0"/>
              </a:rPr>
              <a:t>as none of its methods have body. On the other hand </a:t>
            </a:r>
            <a:r>
              <a:rPr lang="en-US" sz="1600" b="1" u="sng" dirty="0">
                <a:latin typeface="Corbel" panose="020B0503020204020204" pitchFamily="34" charset="0"/>
              </a:rPr>
              <a:t>abstract class </a:t>
            </a:r>
            <a:r>
              <a:rPr lang="en-US" sz="1600" dirty="0">
                <a:latin typeface="Corbel" panose="020B0503020204020204" pitchFamily="34" charset="0"/>
              </a:rPr>
              <a:t>provides </a:t>
            </a:r>
            <a:r>
              <a:rPr lang="en-US" sz="1600" b="1" u="sng" dirty="0">
                <a:latin typeface="Corbel" panose="020B0503020204020204" pitchFamily="34" charset="0"/>
              </a:rPr>
              <a:t>partial abstraction </a:t>
            </a:r>
            <a:r>
              <a:rPr lang="en-US" sz="1600" dirty="0">
                <a:latin typeface="Corbel" panose="020B0503020204020204" pitchFamily="34" charset="0"/>
              </a:rPr>
              <a:t>as it can have abstract and concrete(methods with body) methods both.</a:t>
            </a:r>
          </a:p>
          <a:p>
            <a:pPr>
              <a:lnSpc>
                <a:spcPct val="100000"/>
              </a:lnSpc>
            </a:pPr>
            <a:r>
              <a:rPr lang="en-US" sz="1600" dirty="0">
                <a:latin typeface="Corbel" panose="020B0503020204020204" pitchFamily="34" charset="0"/>
              </a:rPr>
              <a:t>3) </a:t>
            </a:r>
            <a:r>
              <a:rPr lang="en-US" sz="1600" b="1" u="sng" dirty="0">
                <a:latin typeface="Corbel" panose="020B0503020204020204" pitchFamily="34" charset="0"/>
              </a:rPr>
              <a:t>implements keyword </a:t>
            </a:r>
            <a:r>
              <a:rPr lang="en-US" sz="1600" dirty="0">
                <a:latin typeface="Corbel" panose="020B0503020204020204" pitchFamily="34" charset="0"/>
              </a:rPr>
              <a:t>is used by classes to </a:t>
            </a:r>
            <a:r>
              <a:rPr lang="en-US" sz="1600" b="1" u="sng" dirty="0">
                <a:latin typeface="Corbel" panose="020B0503020204020204" pitchFamily="34" charset="0"/>
              </a:rPr>
              <a:t>implement an interface</a:t>
            </a:r>
            <a:r>
              <a:rPr lang="en-US" sz="1600" dirty="0">
                <a:latin typeface="Corbel" panose="020B0503020204020204" pitchFamily="34" charset="0"/>
              </a:rPr>
              <a:t>.</a:t>
            </a:r>
          </a:p>
          <a:p>
            <a:pPr>
              <a:lnSpc>
                <a:spcPct val="100000"/>
              </a:lnSpc>
            </a:pPr>
            <a:r>
              <a:rPr lang="en-US" sz="1600" dirty="0">
                <a:latin typeface="Corbel" panose="020B0503020204020204" pitchFamily="34" charset="0"/>
              </a:rPr>
              <a:t>4) While </a:t>
            </a:r>
            <a:r>
              <a:rPr lang="en-US" sz="1600" b="1" u="sng" dirty="0">
                <a:latin typeface="Corbel" panose="020B0503020204020204" pitchFamily="34" charset="0"/>
              </a:rPr>
              <a:t>providing implementation </a:t>
            </a:r>
            <a:r>
              <a:rPr lang="en-US" sz="1600" dirty="0">
                <a:latin typeface="Corbel" panose="020B0503020204020204" pitchFamily="34" charset="0"/>
              </a:rPr>
              <a:t>in class of any method of an interface, it needs to be </a:t>
            </a:r>
            <a:r>
              <a:rPr lang="en-US" sz="1600" b="1" u="sng" dirty="0">
                <a:latin typeface="Corbel" panose="020B0503020204020204" pitchFamily="34" charset="0"/>
              </a:rPr>
              <a:t>mentioned as public</a:t>
            </a:r>
            <a:r>
              <a:rPr lang="en-US" sz="1600" dirty="0">
                <a:latin typeface="Corbel" panose="020B0503020204020204" pitchFamily="34" charset="0"/>
              </a:rPr>
              <a:t>.</a:t>
            </a:r>
          </a:p>
          <a:p>
            <a:pPr>
              <a:lnSpc>
                <a:spcPct val="100000"/>
              </a:lnSpc>
            </a:pPr>
            <a:r>
              <a:rPr lang="en-US" sz="1600" dirty="0">
                <a:latin typeface="Corbel" panose="020B0503020204020204" pitchFamily="34" charset="0"/>
              </a:rPr>
              <a:t>5) Class that </a:t>
            </a:r>
            <a:r>
              <a:rPr lang="en-US" sz="1600" b="1" u="sng" dirty="0">
                <a:latin typeface="Corbel" panose="020B0503020204020204" pitchFamily="34" charset="0"/>
              </a:rPr>
              <a:t>implements any interface </a:t>
            </a:r>
            <a:r>
              <a:rPr lang="en-US" sz="1600" dirty="0">
                <a:latin typeface="Corbel" panose="020B0503020204020204" pitchFamily="34" charset="0"/>
              </a:rPr>
              <a:t>must </a:t>
            </a:r>
            <a:r>
              <a:rPr lang="en-US" sz="1600" b="1" u="sng" dirty="0">
                <a:latin typeface="Corbel" panose="020B0503020204020204" pitchFamily="34" charset="0"/>
              </a:rPr>
              <a:t>implement all the methods </a:t>
            </a:r>
            <a:r>
              <a:rPr lang="en-US" sz="1600" dirty="0">
                <a:latin typeface="Corbel" panose="020B0503020204020204" pitchFamily="34" charset="0"/>
              </a:rPr>
              <a:t>of that interface, else the class should be </a:t>
            </a:r>
            <a:r>
              <a:rPr lang="en-US" sz="1600" b="1" u="sng" dirty="0">
                <a:latin typeface="Corbel" panose="020B0503020204020204" pitchFamily="34" charset="0"/>
              </a:rPr>
              <a:t>declared abstract</a:t>
            </a:r>
            <a:r>
              <a:rPr lang="en-US" sz="1600" dirty="0">
                <a:latin typeface="Corbel" panose="020B0503020204020204" pitchFamily="34" charset="0"/>
              </a:rPr>
              <a:t>.</a:t>
            </a:r>
          </a:p>
          <a:p>
            <a:pPr>
              <a:lnSpc>
                <a:spcPct val="100000"/>
              </a:lnSpc>
            </a:pPr>
            <a:r>
              <a:rPr lang="en-US" sz="1600" dirty="0">
                <a:latin typeface="Corbel" panose="020B0503020204020204" pitchFamily="34" charset="0"/>
              </a:rPr>
              <a:t>6) </a:t>
            </a:r>
            <a:r>
              <a:rPr lang="en-US" sz="1600" b="1" u="sng" dirty="0">
                <a:latin typeface="Corbel" panose="020B0503020204020204" pitchFamily="34" charset="0"/>
              </a:rPr>
              <a:t>Interface cannot be declared as private, protected or transient</a:t>
            </a:r>
            <a:r>
              <a:rPr lang="en-US" sz="1600" dirty="0">
                <a:latin typeface="Corbel" panose="020B0503020204020204" pitchFamily="34" charset="0"/>
              </a:rPr>
              <a:t>.</a:t>
            </a:r>
          </a:p>
          <a:p>
            <a:pPr>
              <a:lnSpc>
                <a:spcPct val="100000"/>
              </a:lnSpc>
            </a:pPr>
            <a:r>
              <a:rPr lang="en-US" sz="1600" dirty="0">
                <a:latin typeface="Corbel" panose="020B0503020204020204" pitchFamily="34" charset="0"/>
              </a:rPr>
              <a:t>7) All </a:t>
            </a:r>
            <a:r>
              <a:rPr lang="en-US" sz="1600" b="1" u="sng" dirty="0">
                <a:latin typeface="Corbel" panose="020B0503020204020204" pitchFamily="34" charset="0"/>
              </a:rPr>
              <a:t>the interface methods </a:t>
            </a:r>
            <a:r>
              <a:rPr lang="en-US" sz="1600" dirty="0">
                <a:latin typeface="Corbel" panose="020B0503020204020204" pitchFamily="34" charset="0"/>
              </a:rPr>
              <a:t>are by </a:t>
            </a:r>
            <a:r>
              <a:rPr lang="en-US" sz="1600" b="1" u="sng" dirty="0">
                <a:latin typeface="Corbel" panose="020B0503020204020204" pitchFamily="34" charset="0"/>
              </a:rPr>
              <a:t>default abstract and public</a:t>
            </a:r>
            <a:r>
              <a:rPr lang="en-US" sz="1600" dirty="0">
                <a:latin typeface="Corbel" panose="020B0503020204020204" pitchFamily="34" charset="0"/>
              </a:rPr>
              <a:t>.</a:t>
            </a:r>
          </a:p>
          <a:p>
            <a:pPr>
              <a:lnSpc>
                <a:spcPct val="100000"/>
              </a:lnSpc>
            </a:pPr>
            <a:r>
              <a:rPr lang="en-US" sz="1600" dirty="0">
                <a:latin typeface="Corbel" panose="020B0503020204020204" pitchFamily="34" charset="0"/>
              </a:rPr>
              <a:t>8) </a:t>
            </a:r>
            <a:r>
              <a:rPr lang="en-US" sz="1600" b="1" u="sng" dirty="0">
                <a:latin typeface="Corbel" panose="020B0503020204020204" pitchFamily="34" charset="0"/>
              </a:rPr>
              <a:t>Variables declared in interface are public, static and final by default</a:t>
            </a:r>
            <a:r>
              <a:rPr lang="en-US" sz="1600" dirty="0">
                <a:latin typeface="Corbel" panose="020B0503020204020204" pitchFamily="34" charset="0"/>
              </a:rPr>
              <a:t>.</a:t>
            </a:r>
          </a:p>
        </p:txBody>
      </p:sp>
      <p:pic>
        <p:nvPicPr>
          <p:cNvPr id="4" name="Picture 3">
            <a:extLst>
              <a:ext uri="{FF2B5EF4-FFF2-40B4-BE49-F238E27FC236}">
                <a16:creationId xmlns:a16="http://schemas.microsoft.com/office/drawing/2014/main" id="{ECBBF5E4-FC97-47ED-9ABC-192D62AFDDA7}"/>
              </a:ext>
            </a:extLst>
          </p:cNvPr>
          <p:cNvPicPr>
            <a:picLocks noChangeAspect="1"/>
          </p:cNvPicPr>
          <p:nvPr/>
        </p:nvPicPr>
        <p:blipFill>
          <a:blip r:embed="rId2"/>
          <a:stretch>
            <a:fillRect/>
          </a:stretch>
        </p:blipFill>
        <p:spPr>
          <a:xfrm>
            <a:off x="7775811" y="1371600"/>
            <a:ext cx="4239977" cy="5314199"/>
          </a:xfrm>
          <a:prstGeom prst="rect">
            <a:avLst/>
          </a:prstGeom>
        </p:spPr>
      </p:pic>
    </p:spTree>
    <p:extLst>
      <p:ext uri="{BB962C8B-B14F-4D97-AF65-F5344CB8AC3E}">
        <p14:creationId xmlns:p14="http://schemas.microsoft.com/office/powerpoint/2010/main" val="558680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Interface Key Points to Remember</a:t>
            </a:r>
          </a:p>
        </p:txBody>
      </p:sp>
      <p:sp>
        <p:nvSpPr>
          <p:cNvPr id="5" name="Slide Number Placeholder 4"/>
          <p:cNvSpPr>
            <a:spLocks noGrp="1"/>
          </p:cNvSpPr>
          <p:nvPr>
            <p:ph type="sldNum" sz="quarter" idx="12"/>
          </p:nvPr>
        </p:nvSpPr>
        <p:spPr/>
        <p:txBody>
          <a:bodyPr/>
          <a:lstStyle/>
          <a:p>
            <a:fld id="{401CF334-2D5C-4859-84A6-CA7E6E43FAEB}" type="slidenum">
              <a:rPr lang="en-US" smtClean="0"/>
              <a:t>31</a:t>
            </a:fld>
            <a:endParaRPr lang="en-US" dirty="0"/>
          </a:p>
        </p:txBody>
      </p:sp>
      <p:sp>
        <p:nvSpPr>
          <p:cNvPr id="2" name="Content Placeholder 1"/>
          <p:cNvSpPr>
            <a:spLocks noGrp="1"/>
          </p:cNvSpPr>
          <p:nvPr>
            <p:ph idx="1"/>
          </p:nvPr>
        </p:nvSpPr>
        <p:spPr>
          <a:xfrm>
            <a:off x="176212" y="1371600"/>
            <a:ext cx="3809379" cy="5943600"/>
          </a:xfrm>
        </p:spPr>
        <p:txBody>
          <a:bodyPr>
            <a:noAutofit/>
          </a:bodyPr>
          <a:lstStyle/>
          <a:p>
            <a:r>
              <a:rPr lang="en-US" sz="1600" dirty="0">
                <a:latin typeface="Corbel" panose="020B0503020204020204" pitchFamily="34" charset="0"/>
              </a:rPr>
              <a:t>Interface variables must be initialized at the time of declaration otherwise compiler will throw an error.</a:t>
            </a:r>
          </a:p>
          <a:p>
            <a:r>
              <a:rPr lang="en-US" sz="1600" dirty="0">
                <a:latin typeface="Corbel" panose="020B0503020204020204" pitchFamily="34" charset="0"/>
              </a:rPr>
              <a:t>Inside any implementation class, you cannot change the variables declared in interface because by default, they are public, static and final. </a:t>
            </a:r>
          </a:p>
          <a:p>
            <a:r>
              <a:rPr lang="en-US" sz="1600" dirty="0">
                <a:latin typeface="Corbel" panose="020B0503020204020204" pitchFamily="34" charset="0"/>
              </a:rPr>
              <a:t>If there are two or more same methods in two interfaces and a class implements both interfaces, implementation of the method </a:t>
            </a:r>
            <a:r>
              <a:rPr lang="en-IN" sz="1600" dirty="0">
                <a:latin typeface="Corbel" panose="020B0503020204020204" pitchFamily="34" charset="0"/>
              </a:rPr>
              <a:t>once is enough</a:t>
            </a:r>
            <a:r>
              <a:rPr lang="en-IN" dirty="0"/>
              <a:t>.</a:t>
            </a:r>
          </a:p>
          <a:p>
            <a:r>
              <a:rPr lang="en-US" sz="1600" dirty="0">
                <a:latin typeface="Corbel" panose="020B0503020204020204" pitchFamily="34" charset="0"/>
              </a:rPr>
              <a:t>A class cannot implement two interfaces that have methods with same name but different return type. </a:t>
            </a:r>
          </a:p>
          <a:p>
            <a:r>
              <a:rPr lang="en-US" sz="1600" dirty="0">
                <a:latin typeface="Corbel" panose="020B0503020204020204" pitchFamily="34" charset="0"/>
              </a:rPr>
              <a:t>Variable names conflicts can be resolved by interface name.</a:t>
            </a:r>
          </a:p>
        </p:txBody>
      </p:sp>
      <p:pic>
        <p:nvPicPr>
          <p:cNvPr id="6" name="Picture 5">
            <a:extLst>
              <a:ext uri="{FF2B5EF4-FFF2-40B4-BE49-F238E27FC236}">
                <a16:creationId xmlns:a16="http://schemas.microsoft.com/office/drawing/2014/main" id="{94CBFFD7-B75F-4333-A1E8-5DA92F2FDA12}"/>
              </a:ext>
            </a:extLst>
          </p:cNvPr>
          <p:cNvPicPr>
            <a:picLocks noChangeAspect="1"/>
          </p:cNvPicPr>
          <p:nvPr/>
        </p:nvPicPr>
        <p:blipFill>
          <a:blip r:embed="rId2"/>
          <a:stretch>
            <a:fillRect/>
          </a:stretch>
        </p:blipFill>
        <p:spPr>
          <a:xfrm>
            <a:off x="4234898" y="1367242"/>
            <a:ext cx="3722204" cy="2598385"/>
          </a:xfrm>
          <a:prstGeom prst="rect">
            <a:avLst/>
          </a:prstGeom>
        </p:spPr>
      </p:pic>
      <p:pic>
        <p:nvPicPr>
          <p:cNvPr id="7" name="Picture 6">
            <a:extLst>
              <a:ext uri="{FF2B5EF4-FFF2-40B4-BE49-F238E27FC236}">
                <a16:creationId xmlns:a16="http://schemas.microsoft.com/office/drawing/2014/main" id="{51FD20AC-FDB8-408A-804E-89B48157CBD0}"/>
              </a:ext>
            </a:extLst>
          </p:cNvPr>
          <p:cNvPicPr>
            <a:picLocks noChangeAspect="1"/>
          </p:cNvPicPr>
          <p:nvPr/>
        </p:nvPicPr>
        <p:blipFill>
          <a:blip r:embed="rId3"/>
          <a:stretch>
            <a:fillRect/>
          </a:stretch>
        </p:blipFill>
        <p:spPr>
          <a:xfrm>
            <a:off x="8320088" y="1367242"/>
            <a:ext cx="3695700" cy="4848225"/>
          </a:xfrm>
          <a:prstGeom prst="rect">
            <a:avLst/>
          </a:prstGeom>
        </p:spPr>
      </p:pic>
    </p:spTree>
    <p:extLst>
      <p:ext uri="{BB962C8B-B14F-4D97-AF65-F5344CB8AC3E}">
        <p14:creationId xmlns:p14="http://schemas.microsoft.com/office/powerpoint/2010/main" val="3176519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a:t>Nested Interface</a:t>
            </a:r>
          </a:p>
        </p:txBody>
      </p:sp>
      <p:sp>
        <p:nvSpPr>
          <p:cNvPr id="3" name="Text Placeholder 2"/>
          <p:cNvSpPr>
            <a:spLocks noGrp="1"/>
          </p:cNvSpPr>
          <p:nvPr>
            <p:ph type="body" idx="1"/>
          </p:nvPr>
        </p:nvSpPr>
        <p:spPr>
          <a:xfrm>
            <a:off x="1104899" y="4655956"/>
            <a:ext cx="3752851" cy="509750"/>
          </a:xfrm>
        </p:spPr>
        <p:txBody>
          <a:bodyPr>
            <a:normAutofit/>
          </a:bodyPr>
          <a:lstStyle/>
          <a:p>
            <a:r>
              <a:rPr lang="en-US" dirty="0"/>
              <a:t>Harnessing Chi</a:t>
            </a:r>
          </a:p>
        </p:txBody>
      </p:sp>
      <p:pic>
        <p:nvPicPr>
          <p:cNvPr id="7" name="Picture 6">
            <a:extLst>
              <a:ext uri="{FF2B5EF4-FFF2-40B4-BE49-F238E27FC236}">
                <a16:creationId xmlns:a16="http://schemas.microsoft.com/office/drawing/2014/main" id="{651271DE-16BC-48A1-9D2C-69672CD89C39}"/>
              </a:ext>
            </a:extLst>
          </p:cNvPr>
          <p:cNvPicPr>
            <a:picLocks noChangeAspect="1"/>
          </p:cNvPicPr>
          <p:nvPr/>
        </p:nvPicPr>
        <p:blipFill>
          <a:blip r:embed="rId2"/>
          <a:stretch>
            <a:fillRect/>
          </a:stretch>
        </p:blipFill>
        <p:spPr>
          <a:xfrm>
            <a:off x="3985590" y="817341"/>
            <a:ext cx="7980693" cy="3160893"/>
          </a:xfrm>
          <a:prstGeom prst="rect">
            <a:avLst/>
          </a:prstGeom>
        </p:spPr>
      </p:pic>
    </p:spTree>
    <p:extLst>
      <p:ext uri="{BB962C8B-B14F-4D97-AF65-F5344CB8AC3E}">
        <p14:creationId xmlns:p14="http://schemas.microsoft.com/office/powerpoint/2010/main" val="1663085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Nested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6672264" y="1217335"/>
            <a:ext cx="5457825" cy="5632311"/>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000" b="1" dirty="0">
                <a:latin typeface="Corbel" panose="020B0503020204020204" pitchFamily="34" charset="0"/>
              </a:rPr>
              <a:t>An interface</a:t>
            </a:r>
            <a:r>
              <a:rPr lang="en-US" sz="2000" dirty="0">
                <a:latin typeface="Corbel" panose="020B0503020204020204" pitchFamily="34" charset="0"/>
              </a:rPr>
              <a:t> which is </a:t>
            </a:r>
            <a:r>
              <a:rPr lang="en-US" sz="2000" b="1" dirty="0">
                <a:latin typeface="Corbel" panose="020B0503020204020204" pitchFamily="34" charset="0"/>
              </a:rPr>
              <a:t>declared inside another interface </a:t>
            </a:r>
            <a:r>
              <a:rPr lang="en-US" sz="2000" dirty="0">
                <a:latin typeface="Corbel" panose="020B0503020204020204" pitchFamily="34" charset="0"/>
              </a:rPr>
              <a:t>or </a:t>
            </a:r>
            <a:r>
              <a:rPr lang="en-US" sz="2000" b="1" dirty="0">
                <a:latin typeface="Corbel" panose="020B0503020204020204" pitchFamily="34" charset="0"/>
              </a:rPr>
              <a:t>class </a:t>
            </a:r>
            <a:r>
              <a:rPr lang="en-US" sz="2000" dirty="0">
                <a:latin typeface="Corbel" panose="020B0503020204020204" pitchFamily="34" charset="0"/>
              </a:rPr>
              <a:t>is called </a:t>
            </a:r>
            <a:r>
              <a:rPr lang="en-US" sz="2000" b="1" dirty="0">
                <a:latin typeface="Corbel" panose="020B0503020204020204" pitchFamily="34" charset="0"/>
              </a:rPr>
              <a:t>nested interface</a:t>
            </a:r>
            <a:r>
              <a:rPr lang="en-US" sz="2000" dirty="0">
                <a:latin typeface="Corbel" panose="020B0503020204020204" pitchFamily="34" charset="0"/>
              </a:rPr>
              <a:t>.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They are also known as inner </a:t>
            </a:r>
            <a:r>
              <a:rPr lang="en-US" sz="2000" b="1" dirty="0">
                <a:latin typeface="Corbel" panose="020B0503020204020204" pitchFamily="34" charset="0"/>
                <a:hlinkClick r:id="rId2"/>
              </a:rPr>
              <a:t>interface</a:t>
            </a:r>
            <a:r>
              <a:rPr lang="en-US" sz="2000" dirty="0">
                <a:latin typeface="Corbel" panose="020B0503020204020204" pitchFamily="34" charset="0"/>
              </a:rPr>
              <a:t>.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Since </a:t>
            </a:r>
            <a:r>
              <a:rPr lang="en-US" sz="2000" b="1" dirty="0">
                <a:latin typeface="Corbel" panose="020B0503020204020204" pitchFamily="34" charset="0"/>
              </a:rPr>
              <a:t>nested interface cannot be accessed directly</a:t>
            </a:r>
            <a:r>
              <a:rPr lang="en-US" sz="2000" dirty="0">
                <a:latin typeface="Corbel" panose="020B0503020204020204" pitchFamily="34" charset="0"/>
              </a:rPr>
              <a:t>, the main purpose of using them is to resolve the namespace by grouping related interfaces (or related interface and class) together. </a:t>
            </a:r>
          </a:p>
          <a:p>
            <a:pPr marL="342900" indent="-342900" algn="just">
              <a:lnSpc>
                <a:spcPct val="150000"/>
              </a:lnSpc>
              <a:buFont typeface="Arial" panose="020B0604020202020204" pitchFamily="34" charset="0"/>
              <a:buChar char="•"/>
            </a:pPr>
            <a:r>
              <a:rPr lang="en-US" sz="2000" dirty="0">
                <a:latin typeface="Corbel" panose="020B0503020204020204" pitchFamily="34" charset="0"/>
              </a:rPr>
              <a:t>This way, we can only </a:t>
            </a:r>
            <a:r>
              <a:rPr lang="en-US" sz="2000" b="1" dirty="0">
                <a:latin typeface="Corbel" panose="020B0503020204020204" pitchFamily="34" charset="0"/>
              </a:rPr>
              <a:t>call the nested interface </a:t>
            </a:r>
            <a:r>
              <a:rPr lang="en-US" sz="2000" dirty="0">
                <a:latin typeface="Corbel" panose="020B0503020204020204" pitchFamily="34" charset="0"/>
              </a:rPr>
              <a:t>by </a:t>
            </a:r>
            <a:r>
              <a:rPr lang="en-US" sz="2000" b="1" dirty="0">
                <a:latin typeface="Corbel" panose="020B0503020204020204" pitchFamily="34" charset="0"/>
              </a:rPr>
              <a:t>using outer class or outer interface name followed by dot( . ), followed by the interface name</a:t>
            </a:r>
            <a:r>
              <a:rPr lang="en-US" sz="2000" dirty="0">
                <a:latin typeface="Corbel" panose="020B0503020204020204" pitchFamily="34" charset="0"/>
              </a:rPr>
              <a:t>.</a:t>
            </a:r>
            <a:endParaRPr lang="en-US" sz="2000" b="1" dirty="0">
              <a:latin typeface="Corbel" panose="020B0503020204020204" pitchFamily="34" charset="0"/>
            </a:endParaRPr>
          </a:p>
        </p:txBody>
      </p:sp>
      <p:pic>
        <p:nvPicPr>
          <p:cNvPr id="5" name="Content Placeholder 4"/>
          <p:cNvPicPr>
            <a:picLocks noGrp="1" noChangeAspect="1"/>
          </p:cNvPicPr>
          <p:nvPr>
            <p:ph idx="1"/>
          </p:nvPr>
        </p:nvPicPr>
        <p:blipFill>
          <a:blip r:embed="rId3"/>
          <a:stretch>
            <a:fillRect/>
          </a:stretch>
        </p:blipFill>
        <p:spPr>
          <a:xfrm>
            <a:off x="385762" y="1431655"/>
            <a:ext cx="6357937" cy="5320263"/>
          </a:xfrm>
          <a:prstGeom prst="rect">
            <a:avLst/>
          </a:prstGeom>
        </p:spPr>
      </p:pic>
    </p:spTree>
    <p:extLst>
      <p:ext uri="{BB962C8B-B14F-4D97-AF65-F5344CB8AC3E}">
        <p14:creationId xmlns:p14="http://schemas.microsoft.com/office/powerpoint/2010/main" val="48033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Nested Interface – In Class</a:t>
            </a:r>
          </a:p>
        </p:txBody>
      </p:sp>
      <p:sp>
        <p:nvSpPr>
          <p:cNvPr id="5" name="Slide Number Placeholder 4"/>
          <p:cNvSpPr>
            <a:spLocks noGrp="1"/>
          </p:cNvSpPr>
          <p:nvPr>
            <p:ph type="sldNum" sz="quarter" idx="12"/>
          </p:nvPr>
        </p:nvSpPr>
        <p:spPr/>
        <p:txBody>
          <a:bodyPr/>
          <a:lstStyle/>
          <a:p>
            <a:fld id="{401CF334-2D5C-4859-84A6-CA7E6E43FAEB}" type="slidenum">
              <a:rPr lang="en-US" smtClean="0"/>
              <a:t>34</a:t>
            </a:fld>
            <a:endParaRPr lang="en-US" dirty="0"/>
          </a:p>
        </p:txBody>
      </p:sp>
      <p:sp>
        <p:nvSpPr>
          <p:cNvPr id="2" name="Content Placeholder 1"/>
          <p:cNvSpPr>
            <a:spLocks noGrp="1"/>
          </p:cNvSpPr>
          <p:nvPr>
            <p:ph idx="1"/>
          </p:nvPr>
        </p:nvSpPr>
        <p:spPr>
          <a:xfrm>
            <a:off x="176212" y="1371600"/>
            <a:ext cx="6393553" cy="5349876"/>
          </a:xfrm>
        </p:spPr>
        <p:txBody>
          <a:bodyPr>
            <a:noAutofit/>
          </a:bodyPr>
          <a:lstStyle/>
          <a:p>
            <a:r>
              <a:rPr lang="en-US" sz="1800" dirty="0">
                <a:latin typeface="Corbel" panose="020B0503020204020204" pitchFamily="34" charset="0"/>
              </a:rPr>
              <a:t>We can declare interfaces as member of a class or another interface. </a:t>
            </a:r>
          </a:p>
          <a:p>
            <a:r>
              <a:rPr lang="en-US" sz="1800" dirty="0">
                <a:latin typeface="Corbel" panose="020B0503020204020204" pitchFamily="34" charset="0"/>
              </a:rPr>
              <a:t>Such an interface is called as member interface or nested interface.</a:t>
            </a:r>
          </a:p>
          <a:p>
            <a:r>
              <a:rPr lang="en-US" sz="1800" dirty="0">
                <a:latin typeface="Corbel" panose="020B0503020204020204" pitchFamily="34" charset="0"/>
              </a:rPr>
              <a:t>Interface in a class</a:t>
            </a:r>
          </a:p>
          <a:p>
            <a:r>
              <a:rPr lang="en-US" sz="1800" dirty="0">
                <a:latin typeface="Corbel" panose="020B0503020204020204" pitchFamily="34" charset="0"/>
              </a:rPr>
              <a:t>Interfaces (or classes) can have only public and default access specifiers when declared outside any other class. </a:t>
            </a:r>
          </a:p>
          <a:p>
            <a:r>
              <a:rPr lang="en-US" sz="1800" dirty="0">
                <a:latin typeface="Corbel" panose="020B0503020204020204" pitchFamily="34" charset="0"/>
              </a:rPr>
              <a:t>This interface declared in a class can either be default, public, protected not private. </a:t>
            </a:r>
          </a:p>
          <a:p>
            <a:r>
              <a:rPr lang="en-US" sz="1800" dirty="0">
                <a:latin typeface="Corbel" panose="020B0503020204020204" pitchFamily="34" charset="0"/>
              </a:rPr>
              <a:t>While implementing the interface, we mention the interface as </a:t>
            </a:r>
            <a:r>
              <a:rPr lang="en-US" sz="1800" dirty="0" err="1">
                <a:latin typeface="Corbel" panose="020B0503020204020204" pitchFamily="34" charset="0"/>
              </a:rPr>
              <a:t>c_name.i_name</a:t>
            </a:r>
            <a:r>
              <a:rPr lang="en-US" sz="1800" dirty="0">
                <a:latin typeface="Corbel" panose="020B0503020204020204" pitchFamily="34" charset="0"/>
              </a:rPr>
              <a:t> where </a:t>
            </a:r>
            <a:r>
              <a:rPr lang="en-US" sz="1800" dirty="0" err="1">
                <a:latin typeface="Corbel" panose="020B0503020204020204" pitchFamily="34" charset="0"/>
              </a:rPr>
              <a:t>c_name</a:t>
            </a:r>
            <a:r>
              <a:rPr lang="en-US" sz="1800" dirty="0">
                <a:latin typeface="Corbel" panose="020B0503020204020204" pitchFamily="34" charset="0"/>
              </a:rPr>
              <a:t> is the name of the class in which it is nested and </a:t>
            </a:r>
            <a:r>
              <a:rPr lang="en-US" sz="1800" dirty="0" err="1">
                <a:latin typeface="Corbel" panose="020B0503020204020204" pitchFamily="34" charset="0"/>
              </a:rPr>
              <a:t>i_name</a:t>
            </a:r>
            <a:r>
              <a:rPr lang="en-US" sz="1800" dirty="0">
                <a:latin typeface="Corbel" panose="020B0503020204020204" pitchFamily="34" charset="0"/>
              </a:rPr>
              <a:t> is the name of the interface itself</a:t>
            </a:r>
          </a:p>
        </p:txBody>
      </p:sp>
      <p:pic>
        <p:nvPicPr>
          <p:cNvPr id="8" name="Content Placeholder 5">
            <a:extLst>
              <a:ext uri="{FF2B5EF4-FFF2-40B4-BE49-F238E27FC236}">
                <a16:creationId xmlns:a16="http://schemas.microsoft.com/office/drawing/2014/main" id="{2F5508BC-65E9-46CF-98D5-59869DB6BD67}"/>
              </a:ext>
            </a:extLst>
          </p:cNvPr>
          <p:cNvPicPr>
            <a:picLocks noChangeAspect="1"/>
          </p:cNvPicPr>
          <p:nvPr/>
        </p:nvPicPr>
        <p:blipFill>
          <a:blip r:embed="rId2"/>
          <a:stretch>
            <a:fillRect/>
          </a:stretch>
        </p:blipFill>
        <p:spPr>
          <a:xfrm>
            <a:off x="6650936" y="1312368"/>
            <a:ext cx="5256142" cy="5409108"/>
          </a:xfrm>
          <a:prstGeom prst="rect">
            <a:avLst/>
          </a:prstGeom>
        </p:spPr>
      </p:pic>
    </p:spTree>
    <p:extLst>
      <p:ext uri="{BB962C8B-B14F-4D97-AF65-F5344CB8AC3E}">
        <p14:creationId xmlns:p14="http://schemas.microsoft.com/office/powerpoint/2010/main" val="809331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Nested Interface – In Interface</a:t>
            </a:r>
          </a:p>
        </p:txBody>
      </p:sp>
      <p:sp>
        <p:nvSpPr>
          <p:cNvPr id="5" name="Slide Number Placeholder 4"/>
          <p:cNvSpPr>
            <a:spLocks noGrp="1"/>
          </p:cNvSpPr>
          <p:nvPr>
            <p:ph type="sldNum" sz="quarter" idx="12"/>
          </p:nvPr>
        </p:nvSpPr>
        <p:spPr/>
        <p:txBody>
          <a:bodyPr/>
          <a:lstStyle/>
          <a:p>
            <a:fld id="{401CF334-2D5C-4859-84A6-CA7E6E43FAEB}" type="slidenum">
              <a:rPr lang="en-US" smtClean="0"/>
              <a:t>35</a:t>
            </a:fld>
            <a:endParaRPr lang="en-US" dirty="0"/>
          </a:p>
        </p:txBody>
      </p:sp>
      <p:sp>
        <p:nvSpPr>
          <p:cNvPr id="2" name="Content Placeholder 1"/>
          <p:cNvSpPr>
            <a:spLocks noGrp="1"/>
          </p:cNvSpPr>
          <p:nvPr>
            <p:ph idx="1"/>
          </p:nvPr>
        </p:nvSpPr>
        <p:spPr>
          <a:xfrm>
            <a:off x="176212" y="1371600"/>
            <a:ext cx="6393553" cy="5349876"/>
          </a:xfrm>
        </p:spPr>
        <p:txBody>
          <a:bodyPr>
            <a:noAutofit/>
          </a:bodyPr>
          <a:lstStyle/>
          <a:p>
            <a:r>
              <a:rPr lang="en-US" sz="1800" dirty="0">
                <a:latin typeface="Corbel" panose="020B0503020204020204" pitchFamily="34" charset="0"/>
              </a:rPr>
              <a:t>We can declare interfaces as member of another interface. </a:t>
            </a:r>
          </a:p>
          <a:p>
            <a:r>
              <a:rPr lang="en-US" sz="1800" dirty="0">
                <a:latin typeface="Corbel" panose="020B0503020204020204" pitchFamily="34" charset="0"/>
              </a:rPr>
              <a:t>Such an interface is called as member interface or nested interface.</a:t>
            </a:r>
          </a:p>
          <a:p>
            <a:r>
              <a:rPr lang="en-US" sz="1800" dirty="0">
                <a:latin typeface="Corbel" panose="020B0503020204020204" pitchFamily="34" charset="0"/>
              </a:rPr>
              <a:t>Interface in a Interface</a:t>
            </a:r>
          </a:p>
          <a:p>
            <a:r>
              <a:rPr lang="en-US" dirty="0"/>
              <a:t>An interface can be declared inside another interface also.</a:t>
            </a:r>
          </a:p>
          <a:p>
            <a:r>
              <a:rPr lang="en-US" dirty="0"/>
              <a:t>We mention the interface as </a:t>
            </a:r>
            <a:r>
              <a:rPr lang="en-US" b="1" dirty="0"/>
              <a:t>i_name1.i_name2</a:t>
            </a:r>
            <a:r>
              <a:rPr lang="en-US" dirty="0"/>
              <a:t> where </a:t>
            </a:r>
            <a:r>
              <a:rPr lang="en-US" b="1" dirty="0"/>
              <a:t>i_name1</a:t>
            </a:r>
            <a:r>
              <a:rPr lang="en-US" dirty="0"/>
              <a:t> is the name of the interface in which it is nested and </a:t>
            </a:r>
            <a:r>
              <a:rPr lang="en-US" b="1" dirty="0"/>
              <a:t>i_name2</a:t>
            </a:r>
            <a:r>
              <a:rPr lang="en-US" dirty="0"/>
              <a:t> is the name of the interface to be implemented.</a:t>
            </a:r>
            <a:endParaRPr lang="en-US" sz="1800" dirty="0">
              <a:latin typeface="Corbel" panose="020B0503020204020204" pitchFamily="34" charset="0"/>
            </a:endParaRPr>
          </a:p>
        </p:txBody>
      </p:sp>
      <p:pic>
        <p:nvPicPr>
          <p:cNvPr id="4" name="Picture 3">
            <a:extLst>
              <a:ext uri="{FF2B5EF4-FFF2-40B4-BE49-F238E27FC236}">
                <a16:creationId xmlns:a16="http://schemas.microsoft.com/office/drawing/2014/main" id="{FA555EC5-8E67-47D2-9F55-98FB7B03AA19}"/>
              </a:ext>
            </a:extLst>
          </p:cNvPr>
          <p:cNvPicPr>
            <a:picLocks noChangeAspect="1"/>
          </p:cNvPicPr>
          <p:nvPr/>
        </p:nvPicPr>
        <p:blipFill>
          <a:blip r:embed="rId2"/>
          <a:stretch>
            <a:fillRect/>
          </a:stretch>
        </p:blipFill>
        <p:spPr>
          <a:xfrm>
            <a:off x="6851719" y="1371600"/>
            <a:ext cx="5225981" cy="5288072"/>
          </a:xfrm>
          <a:prstGeom prst="rect">
            <a:avLst/>
          </a:prstGeom>
        </p:spPr>
      </p:pic>
    </p:spTree>
    <p:extLst>
      <p:ext uri="{BB962C8B-B14F-4D97-AF65-F5344CB8AC3E}">
        <p14:creationId xmlns:p14="http://schemas.microsoft.com/office/powerpoint/2010/main" val="54358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Content Placeholder 4">
            <a:extLst>
              <a:ext uri="{FF2B5EF4-FFF2-40B4-BE49-F238E27FC236}">
                <a16:creationId xmlns:a16="http://schemas.microsoft.com/office/drawing/2014/main" id="{753A3499-DE79-49DD-9E6E-1AA576BA2DC6}"/>
              </a:ext>
            </a:extLst>
          </p:cNvPr>
          <p:cNvSpPr>
            <a:spLocks noGrp="1"/>
          </p:cNvSpPr>
          <p:nvPr>
            <p:ph idx="1"/>
          </p:nvPr>
        </p:nvSpPr>
        <p:spPr>
          <a:xfrm>
            <a:off x="250136" y="1461052"/>
            <a:ext cx="4083326" cy="5396948"/>
          </a:xfrm>
        </p:spPr>
        <p:txBody>
          <a:bodyPr>
            <a:noAutofit/>
          </a:bodyPr>
          <a:lstStyle/>
          <a:p>
            <a:pPr marL="342900" indent="-342900">
              <a:lnSpc>
                <a:spcPct val="100000"/>
              </a:lnSpc>
              <a:buFont typeface="Arial" panose="020B0604020202020204" pitchFamily="34" charset="0"/>
              <a:buChar char="•"/>
            </a:pPr>
            <a:r>
              <a:rPr lang="en-US" sz="1600" dirty="0">
                <a:latin typeface="Corbel" panose="020B0503020204020204" pitchFamily="34" charset="0"/>
              </a:rPr>
              <a:t>An interface can extend another interface, similarly to the way that a class can extend another class. </a:t>
            </a:r>
          </a:p>
          <a:p>
            <a:pPr marL="342900" indent="-342900">
              <a:lnSpc>
                <a:spcPct val="100000"/>
              </a:lnSpc>
              <a:buFont typeface="Arial" panose="020B0604020202020204" pitchFamily="34" charset="0"/>
              <a:buChar char="•"/>
            </a:pPr>
            <a:r>
              <a:rPr lang="en-US" sz="1600" dirty="0">
                <a:latin typeface="Corbel" panose="020B0503020204020204" pitchFamily="34" charset="0"/>
              </a:rPr>
              <a:t>The extends keyword is used to extend an interface, and the child interface inherits the methods of the parent interface.</a:t>
            </a:r>
          </a:p>
          <a:p>
            <a:pPr marL="342900" indent="-342900">
              <a:lnSpc>
                <a:spcPct val="100000"/>
              </a:lnSpc>
              <a:buFont typeface="Arial" panose="020B0604020202020204" pitchFamily="34" charset="0"/>
              <a:buChar char="•"/>
            </a:pPr>
            <a:r>
              <a:rPr lang="en-US" sz="1600" dirty="0">
                <a:latin typeface="Corbel" panose="020B0503020204020204" pitchFamily="34" charset="0"/>
              </a:rPr>
              <a:t>The following </a:t>
            </a:r>
            <a:r>
              <a:rPr lang="en-US" sz="1600" dirty="0" err="1">
                <a:latin typeface="Corbel" panose="020B0503020204020204" pitchFamily="34" charset="0"/>
              </a:rPr>
              <a:t>SportsListener</a:t>
            </a:r>
            <a:r>
              <a:rPr lang="en-US" sz="1600" dirty="0">
                <a:latin typeface="Corbel" panose="020B0503020204020204" pitchFamily="34" charset="0"/>
              </a:rPr>
              <a:t> interface is extended by </a:t>
            </a:r>
            <a:r>
              <a:rPr lang="en-US" sz="1600" dirty="0" err="1">
                <a:latin typeface="Corbel" panose="020B0503020204020204" pitchFamily="34" charset="0"/>
              </a:rPr>
              <a:t>HockeyListener</a:t>
            </a:r>
            <a:r>
              <a:rPr lang="en-US" sz="1600" dirty="0">
                <a:latin typeface="Corbel" panose="020B0503020204020204" pitchFamily="34" charset="0"/>
              </a:rPr>
              <a:t> and </a:t>
            </a:r>
            <a:r>
              <a:rPr lang="en-US" sz="1600" dirty="0" err="1">
                <a:latin typeface="Corbel" panose="020B0503020204020204" pitchFamily="34" charset="0"/>
              </a:rPr>
              <a:t>FootballListener</a:t>
            </a:r>
            <a:r>
              <a:rPr lang="en-US" sz="1600" dirty="0">
                <a:latin typeface="Corbel" panose="020B0503020204020204" pitchFamily="34" charset="0"/>
              </a:rPr>
              <a:t> interfaces.</a:t>
            </a:r>
          </a:p>
          <a:p>
            <a:pPr marL="342900" indent="-342900">
              <a:lnSpc>
                <a:spcPct val="100000"/>
              </a:lnSpc>
              <a:buFont typeface="Arial" panose="020B0604020202020204" pitchFamily="34" charset="0"/>
              <a:buChar char="•"/>
            </a:pPr>
            <a:r>
              <a:rPr lang="en-US" sz="1600" dirty="0">
                <a:latin typeface="Corbel" panose="020B0503020204020204" pitchFamily="34" charset="0"/>
              </a:rPr>
              <a:t>The </a:t>
            </a:r>
            <a:r>
              <a:rPr lang="en-US" sz="1600" b="1" u="sng" dirty="0" err="1">
                <a:latin typeface="Corbel" panose="020B0503020204020204" pitchFamily="34" charset="0"/>
              </a:rPr>
              <a:t>HockeyListener</a:t>
            </a:r>
            <a:r>
              <a:rPr lang="en-US" sz="1600" b="1" u="sng" dirty="0">
                <a:latin typeface="Corbel" panose="020B0503020204020204" pitchFamily="34" charset="0"/>
              </a:rPr>
              <a:t> </a:t>
            </a:r>
            <a:r>
              <a:rPr lang="en-US" sz="1600" dirty="0">
                <a:latin typeface="Corbel" panose="020B0503020204020204" pitchFamily="34" charset="0"/>
              </a:rPr>
              <a:t>interface has </a:t>
            </a:r>
            <a:r>
              <a:rPr lang="en-US" sz="1600" b="1" u="sng" dirty="0">
                <a:latin typeface="Corbel" panose="020B0503020204020204" pitchFamily="34" charset="0"/>
              </a:rPr>
              <a:t>four methods</a:t>
            </a:r>
            <a:r>
              <a:rPr lang="en-US" sz="1600" dirty="0">
                <a:latin typeface="Corbel" panose="020B0503020204020204" pitchFamily="34" charset="0"/>
              </a:rPr>
              <a:t>, but it </a:t>
            </a:r>
            <a:r>
              <a:rPr lang="en-US" sz="1600" b="1" u="sng" dirty="0">
                <a:latin typeface="Corbel" panose="020B0503020204020204" pitchFamily="34" charset="0"/>
              </a:rPr>
              <a:t>inherits two from </a:t>
            </a:r>
            <a:r>
              <a:rPr lang="en-US" sz="1600" b="1" u="sng" dirty="0" err="1">
                <a:latin typeface="Corbel" panose="020B0503020204020204" pitchFamily="34" charset="0"/>
              </a:rPr>
              <a:t>SportsListener</a:t>
            </a:r>
            <a:r>
              <a:rPr lang="en-US" sz="1600" dirty="0">
                <a:latin typeface="Corbel" panose="020B0503020204020204" pitchFamily="34" charset="0"/>
              </a:rPr>
              <a:t>; thus, a </a:t>
            </a:r>
            <a:r>
              <a:rPr lang="en-US" sz="1600" b="1" u="sng" dirty="0">
                <a:latin typeface="Corbel" panose="020B0503020204020204" pitchFamily="34" charset="0"/>
              </a:rPr>
              <a:t>class that implements </a:t>
            </a:r>
            <a:r>
              <a:rPr lang="en-US" sz="1600" dirty="0" err="1">
                <a:latin typeface="Corbel" panose="020B0503020204020204" pitchFamily="34" charset="0"/>
              </a:rPr>
              <a:t>HockeyListener</a:t>
            </a:r>
            <a:r>
              <a:rPr lang="en-US" sz="1600" dirty="0">
                <a:latin typeface="Corbel" panose="020B0503020204020204" pitchFamily="34" charset="0"/>
              </a:rPr>
              <a:t> needs to </a:t>
            </a:r>
            <a:r>
              <a:rPr lang="en-US" sz="1600" b="1" u="sng" dirty="0">
                <a:latin typeface="Corbel" panose="020B0503020204020204" pitchFamily="34" charset="0"/>
              </a:rPr>
              <a:t>implement all six methods</a:t>
            </a:r>
            <a:r>
              <a:rPr lang="en-US" sz="1600" dirty="0">
                <a:latin typeface="Corbel" panose="020B0503020204020204" pitchFamily="34" charset="0"/>
              </a:rPr>
              <a:t>. </a:t>
            </a:r>
          </a:p>
          <a:p>
            <a:pPr marL="342900" indent="-342900">
              <a:lnSpc>
                <a:spcPct val="100000"/>
              </a:lnSpc>
              <a:buFont typeface="Arial" panose="020B0604020202020204" pitchFamily="34" charset="0"/>
              <a:buChar char="•"/>
            </a:pPr>
            <a:r>
              <a:rPr lang="en-US" sz="1600" dirty="0">
                <a:latin typeface="Corbel" panose="020B0503020204020204" pitchFamily="34" charset="0"/>
              </a:rPr>
              <a:t>Similarly, a class that </a:t>
            </a:r>
            <a:r>
              <a:rPr lang="en-US" sz="1600" b="1" u="sng" dirty="0">
                <a:latin typeface="Corbel" panose="020B0503020204020204" pitchFamily="34" charset="0"/>
              </a:rPr>
              <a:t>implements</a:t>
            </a:r>
            <a:r>
              <a:rPr lang="en-US" sz="1600" dirty="0">
                <a:latin typeface="Corbel" panose="020B0503020204020204" pitchFamily="34" charset="0"/>
              </a:rPr>
              <a:t> </a:t>
            </a:r>
            <a:r>
              <a:rPr lang="en-US" sz="1600" b="1" u="sng" dirty="0" err="1">
                <a:latin typeface="Corbel" panose="020B0503020204020204" pitchFamily="34" charset="0"/>
              </a:rPr>
              <a:t>FootballListener</a:t>
            </a:r>
            <a:r>
              <a:rPr lang="en-US" sz="1600" b="1" u="sng" dirty="0">
                <a:latin typeface="Corbel" panose="020B0503020204020204" pitchFamily="34" charset="0"/>
              </a:rPr>
              <a:t> </a:t>
            </a:r>
            <a:r>
              <a:rPr lang="en-US" sz="1600" dirty="0">
                <a:latin typeface="Corbel" panose="020B0503020204020204" pitchFamily="34" charset="0"/>
              </a:rPr>
              <a:t>needs to define the three methods from </a:t>
            </a:r>
            <a:r>
              <a:rPr lang="en-US" sz="1600" b="1" u="sng" dirty="0" err="1">
                <a:latin typeface="Corbel" panose="020B0503020204020204" pitchFamily="34" charset="0"/>
              </a:rPr>
              <a:t>FootballListener</a:t>
            </a:r>
            <a:r>
              <a:rPr lang="en-US" sz="1600" b="1" u="sng" dirty="0">
                <a:latin typeface="Corbel" panose="020B0503020204020204" pitchFamily="34" charset="0"/>
              </a:rPr>
              <a:t> </a:t>
            </a:r>
            <a:r>
              <a:rPr lang="en-US" sz="1600" dirty="0">
                <a:latin typeface="Corbel" panose="020B0503020204020204" pitchFamily="34" charset="0"/>
              </a:rPr>
              <a:t>and the two methods from </a:t>
            </a:r>
            <a:r>
              <a:rPr lang="en-US" sz="1600" b="1" u="sng" dirty="0" err="1">
                <a:latin typeface="Corbel" panose="020B0503020204020204" pitchFamily="34" charset="0"/>
              </a:rPr>
              <a:t>SportsListener</a:t>
            </a:r>
            <a:endParaRPr lang="en-US" sz="1600" b="1" u="sng" dirty="0">
              <a:latin typeface="Corbel" panose="020B0503020204020204" pitchFamily="34" charset="0"/>
            </a:endParaRPr>
          </a:p>
          <a:p>
            <a:pPr>
              <a:lnSpc>
                <a:spcPct val="100000"/>
              </a:lnSpc>
            </a:pPr>
            <a:endParaRPr lang="en-IN" sz="1600" dirty="0"/>
          </a:p>
        </p:txBody>
      </p:sp>
      <p:pic>
        <p:nvPicPr>
          <p:cNvPr id="7" name="Picture 6">
            <a:extLst>
              <a:ext uri="{FF2B5EF4-FFF2-40B4-BE49-F238E27FC236}">
                <a16:creationId xmlns:a16="http://schemas.microsoft.com/office/drawing/2014/main" id="{9AFE1379-2DA8-4175-9117-0B2637A0F55F}"/>
              </a:ext>
            </a:extLst>
          </p:cNvPr>
          <p:cNvPicPr>
            <a:picLocks noChangeAspect="1"/>
          </p:cNvPicPr>
          <p:nvPr/>
        </p:nvPicPr>
        <p:blipFill>
          <a:blip r:embed="rId2"/>
          <a:stretch>
            <a:fillRect/>
          </a:stretch>
        </p:blipFill>
        <p:spPr>
          <a:xfrm>
            <a:off x="4333462" y="1362075"/>
            <a:ext cx="4610100" cy="2066925"/>
          </a:xfrm>
          <a:prstGeom prst="rect">
            <a:avLst/>
          </a:prstGeom>
        </p:spPr>
      </p:pic>
      <p:pic>
        <p:nvPicPr>
          <p:cNvPr id="8" name="Picture 7">
            <a:extLst>
              <a:ext uri="{FF2B5EF4-FFF2-40B4-BE49-F238E27FC236}">
                <a16:creationId xmlns:a16="http://schemas.microsoft.com/office/drawing/2014/main" id="{7AB1254D-76FD-4C0A-A35A-C2AC61B01487}"/>
              </a:ext>
            </a:extLst>
          </p:cNvPr>
          <p:cNvPicPr>
            <a:picLocks noChangeAspect="1"/>
          </p:cNvPicPr>
          <p:nvPr/>
        </p:nvPicPr>
        <p:blipFill>
          <a:blip r:embed="rId3"/>
          <a:stretch>
            <a:fillRect/>
          </a:stretch>
        </p:blipFill>
        <p:spPr>
          <a:xfrm>
            <a:off x="6324393" y="2798763"/>
            <a:ext cx="5705475" cy="1638300"/>
          </a:xfrm>
          <a:prstGeom prst="rect">
            <a:avLst/>
          </a:prstGeom>
        </p:spPr>
      </p:pic>
      <p:pic>
        <p:nvPicPr>
          <p:cNvPr id="9" name="Picture 8">
            <a:extLst>
              <a:ext uri="{FF2B5EF4-FFF2-40B4-BE49-F238E27FC236}">
                <a16:creationId xmlns:a16="http://schemas.microsoft.com/office/drawing/2014/main" id="{A56EB00A-15A0-4FC4-8A44-2BC2686E094B}"/>
              </a:ext>
            </a:extLst>
          </p:cNvPr>
          <p:cNvPicPr>
            <a:picLocks noChangeAspect="1"/>
          </p:cNvPicPr>
          <p:nvPr/>
        </p:nvPicPr>
        <p:blipFill>
          <a:blip r:embed="rId4"/>
          <a:stretch>
            <a:fillRect/>
          </a:stretch>
        </p:blipFill>
        <p:spPr>
          <a:xfrm>
            <a:off x="4333462" y="4673048"/>
            <a:ext cx="5591175" cy="1905000"/>
          </a:xfrm>
          <a:prstGeom prst="rect">
            <a:avLst/>
          </a:prstGeom>
        </p:spPr>
      </p:pic>
      <p:cxnSp>
        <p:nvCxnSpPr>
          <p:cNvPr id="11" name="Connector: Elbow 10">
            <a:extLst>
              <a:ext uri="{FF2B5EF4-FFF2-40B4-BE49-F238E27FC236}">
                <a16:creationId xmlns:a16="http://schemas.microsoft.com/office/drawing/2014/main" id="{035FE52D-B2EE-422C-912C-49CF6892465A}"/>
              </a:ext>
            </a:extLst>
          </p:cNvPr>
          <p:cNvCxnSpPr>
            <a:cxnSpLocks/>
          </p:cNvCxnSpPr>
          <p:nvPr/>
        </p:nvCxnSpPr>
        <p:spPr>
          <a:xfrm>
            <a:off x="5476462" y="3269973"/>
            <a:ext cx="944219" cy="785195"/>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Arrow: Left-Up 18">
            <a:extLst>
              <a:ext uri="{FF2B5EF4-FFF2-40B4-BE49-F238E27FC236}">
                <a16:creationId xmlns:a16="http://schemas.microsoft.com/office/drawing/2014/main" id="{C2EA54AD-C2DB-443A-A7F5-BE29DC9D884D}"/>
              </a:ext>
            </a:extLst>
          </p:cNvPr>
          <p:cNvSpPr/>
          <p:nvPr/>
        </p:nvSpPr>
        <p:spPr>
          <a:xfrm>
            <a:off x="9924637" y="4437063"/>
            <a:ext cx="847931" cy="1244048"/>
          </a:xfrm>
          <a:prstGeom prst="lef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6018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Extending Interfaces</a:t>
            </a:r>
          </a:p>
        </p:txBody>
      </p:sp>
      <p:sp>
        <p:nvSpPr>
          <p:cNvPr id="4" name="Rectangle 1"/>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8601075" y="1217335"/>
            <a:ext cx="3529014" cy="332398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Corbel" panose="020B0503020204020204" pitchFamily="34" charset="0"/>
              </a:rPr>
              <a:t>The following </a:t>
            </a:r>
            <a:r>
              <a:rPr lang="en-US" sz="2000" dirty="0" err="1">
                <a:latin typeface="Corbel" panose="020B0503020204020204" pitchFamily="34" charset="0"/>
              </a:rPr>
              <a:t>SportsTicker</a:t>
            </a:r>
            <a:r>
              <a:rPr lang="en-US" sz="2000" dirty="0">
                <a:latin typeface="Corbel" panose="020B0503020204020204" pitchFamily="34" charset="0"/>
              </a:rPr>
              <a:t> class implements the </a:t>
            </a:r>
            <a:r>
              <a:rPr lang="en-US" sz="2000" dirty="0" err="1">
                <a:latin typeface="Corbel" panose="020B0503020204020204" pitchFamily="34" charset="0"/>
              </a:rPr>
              <a:t>HockeyListener</a:t>
            </a:r>
            <a:r>
              <a:rPr lang="en-US" sz="2000" dirty="0">
                <a:latin typeface="Corbel" panose="020B0503020204020204" pitchFamily="34" charset="0"/>
              </a:rPr>
              <a:t> interface.</a:t>
            </a:r>
          </a:p>
          <a:p>
            <a:pPr marL="342900" indent="-342900">
              <a:lnSpc>
                <a:spcPct val="150000"/>
              </a:lnSpc>
              <a:buFont typeface="Arial" panose="020B0604020202020204" pitchFamily="34" charset="0"/>
              <a:buChar char="•"/>
            </a:pPr>
            <a:r>
              <a:rPr lang="en-US" sz="2000" dirty="0">
                <a:latin typeface="Corbel" panose="020B0503020204020204" pitchFamily="34" charset="0"/>
              </a:rPr>
              <a:t>Notice that the required six methods are defined to avoid declaring Sports-Ticker abstract.</a:t>
            </a:r>
          </a:p>
        </p:txBody>
      </p:sp>
      <p:pic>
        <p:nvPicPr>
          <p:cNvPr id="6" name="Content Placeholder 5">
            <a:extLst>
              <a:ext uri="{FF2B5EF4-FFF2-40B4-BE49-F238E27FC236}">
                <a16:creationId xmlns:a16="http://schemas.microsoft.com/office/drawing/2014/main" id="{004819ED-D8BC-4543-8DF5-A66ED30FA727}"/>
              </a:ext>
            </a:extLst>
          </p:cNvPr>
          <p:cNvPicPr>
            <a:picLocks noGrp="1" noChangeAspect="1"/>
          </p:cNvPicPr>
          <p:nvPr>
            <p:ph idx="1"/>
          </p:nvPr>
        </p:nvPicPr>
        <p:blipFill>
          <a:blip r:embed="rId2"/>
          <a:stretch>
            <a:fillRect/>
          </a:stretch>
        </p:blipFill>
        <p:spPr>
          <a:xfrm>
            <a:off x="444350" y="1331843"/>
            <a:ext cx="5250772" cy="5275406"/>
          </a:xfrm>
          <a:prstGeom prst="rect">
            <a:avLst/>
          </a:prstGeom>
        </p:spPr>
      </p:pic>
    </p:spTree>
    <p:extLst>
      <p:ext uri="{BB962C8B-B14F-4D97-AF65-F5344CB8AC3E}">
        <p14:creationId xmlns:p14="http://schemas.microsoft.com/office/powerpoint/2010/main" val="4142158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Extending Multiple Interface</a:t>
            </a:r>
          </a:p>
        </p:txBody>
      </p:sp>
      <p:sp>
        <p:nvSpPr>
          <p:cNvPr id="5" name="Slide Number Placeholder 4"/>
          <p:cNvSpPr>
            <a:spLocks noGrp="1"/>
          </p:cNvSpPr>
          <p:nvPr>
            <p:ph type="sldNum" sz="quarter" idx="12"/>
          </p:nvPr>
        </p:nvSpPr>
        <p:spPr/>
        <p:txBody>
          <a:bodyPr/>
          <a:lstStyle/>
          <a:p>
            <a:fld id="{401CF334-2D5C-4859-84A6-CA7E6E43FAEB}" type="slidenum">
              <a:rPr lang="en-US" smtClean="0"/>
              <a:t>38</a:t>
            </a:fld>
            <a:endParaRPr lang="en-US" dirty="0"/>
          </a:p>
        </p:txBody>
      </p:sp>
      <p:sp>
        <p:nvSpPr>
          <p:cNvPr id="2" name="Content Placeholder 1"/>
          <p:cNvSpPr>
            <a:spLocks noGrp="1"/>
          </p:cNvSpPr>
          <p:nvPr>
            <p:ph idx="1"/>
          </p:nvPr>
        </p:nvSpPr>
        <p:spPr>
          <a:xfrm>
            <a:off x="1104899" y="1600200"/>
            <a:ext cx="10596563" cy="4572000"/>
          </a:xfrm>
        </p:spPr>
        <p:txBody>
          <a:bodyPr>
            <a:noAutofit/>
          </a:bodyPr>
          <a:lstStyle/>
          <a:p>
            <a:pPr>
              <a:lnSpc>
                <a:spcPct val="150000"/>
              </a:lnSpc>
            </a:pPr>
            <a:r>
              <a:rPr lang="en-US" dirty="0">
                <a:latin typeface="Corbel" panose="020B0503020204020204" pitchFamily="34" charset="0"/>
              </a:rPr>
              <a:t>In Java, a </a:t>
            </a:r>
            <a:r>
              <a:rPr lang="en-US" b="1" dirty="0">
                <a:latin typeface="Corbel" panose="020B0503020204020204" pitchFamily="34" charset="0"/>
              </a:rPr>
              <a:t>class can only extend one parent class</a:t>
            </a:r>
            <a:r>
              <a:rPr lang="en-US" dirty="0">
                <a:latin typeface="Corbel" panose="020B0503020204020204" pitchFamily="34" charset="0"/>
              </a:rPr>
              <a:t>. (Multiple inheritance is not allowed.) </a:t>
            </a:r>
            <a:r>
              <a:rPr lang="en-US" b="1" dirty="0">
                <a:latin typeface="Corbel" panose="020B0503020204020204" pitchFamily="34" charset="0"/>
              </a:rPr>
              <a:t>Interfaces are not classes</a:t>
            </a:r>
            <a:r>
              <a:rPr lang="en-US" dirty="0">
                <a:latin typeface="Corbel" panose="020B0503020204020204" pitchFamily="34" charset="0"/>
              </a:rPr>
              <a:t>, however, and </a:t>
            </a:r>
            <a:r>
              <a:rPr lang="en-US" b="1" dirty="0">
                <a:latin typeface="Corbel" panose="020B0503020204020204" pitchFamily="34" charset="0"/>
              </a:rPr>
              <a:t>an interface can extend more than one parent interface</a:t>
            </a:r>
            <a:r>
              <a:rPr lang="en-US" dirty="0">
                <a:latin typeface="Corbel" panose="020B0503020204020204" pitchFamily="34" charset="0"/>
              </a:rPr>
              <a:t>. The </a:t>
            </a:r>
            <a:r>
              <a:rPr lang="en-US" b="1" dirty="0">
                <a:latin typeface="Corbel" panose="020B0503020204020204" pitchFamily="34" charset="0"/>
              </a:rPr>
              <a:t>extends keyword is used once</a:t>
            </a:r>
            <a:r>
              <a:rPr lang="en-US" dirty="0">
                <a:latin typeface="Corbel" panose="020B0503020204020204" pitchFamily="34" charset="0"/>
              </a:rPr>
              <a:t>, and the </a:t>
            </a:r>
            <a:r>
              <a:rPr lang="en-US" b="1" dirty="0">
                <a:latin typeface="Corbel" panose="020B0503020204020204" pitchFamily="34" charset="0"/>
              </a:rPr>
              <a:t>parent interfaces are declared in a comma-separated list</a:t>
            </a:r>
            <a:r>
              <a:rPr lang="en-US" dirty="0">
                <a:latin typeface="Corbel" panose="020B0503020204020204" pitchFamily="34" charset="0"/>
              </a:rPr>
              <a:t>.</a:t>
            </a:r>
          </a:p>
          <a:p>
            <a:pPr>
              <a:lnSpc>
                <a:spcPct val="150000"/>
              </a:lnSpc>
            </a:pPr>
            <a:r>
              <a:rPr lang="en-US" dirty="0">
                <a:latin typeface="Corbel" panose="020B0503020204020204" pitchFamily="34" charset="0"/>
              </a:rPr>
              <a:t>For example, if the </a:t>
            </a:r>
            <a:r>
              <a:rPr lang="en-US" dirty="0" err="1">
                <a:latin typeface="Corbel" panose="020B0503020204020204" pitchFamily="34" charset="0"/>
              </a:rPr>
              <a:t>HockeyListener</a:t>
            </a:r>
            <a:r>
              <a:rPr lang="en-US" dirty="0">
                <a:latin typeface="Corbel" panose="020B0503020204020204" pitchFamily="34" charset="0"/>
              </a:rPr>
              <a:t> interface extended both </a:t>
            </a:r>
            <a:r>
              <a:rPr lang="en-US" dirty="0" err="1">
                <a:latin typeface="Corbel" panose="020B0503020204020204" pitchFamily="34" charset="0"/>
              </a:rPr>
              <a:t>SportsListener</a:t>
            </a:r>
            <a:r>
              <a:rPr lang="en-US" dirty="0">
                <a:latin typeface="Corbel" panose="020B0503020204020204" pitchFamily="34" charset="0"/>
              </a:rPr>
              <a:t> and </a:t>
            </a:r>
            <a:r>
              <a:rPr lang="en-US" dirty="0" err="1">
                <a:latin typeface="Corbel" panose="020B0503020204020204" pitchFamily="34" charset="0"/>
              </a:rPr>
              <a:t>EventListener</a:t>
            </a:r>
            <a:r>
              <a:rPr lang="en-US" dirty="0">
                <a:latin typeface="Corbel" panose="020B0503020204020204" pitchFamily="34" charset="0"/>
              </a:rPr>
              <a:t>, it would be declared as:</a:t>
            </a:r>
          </a:p>
          <a:p>
            <a:pPr lvl="1">
              <a:lnSpc>
                <a:spcPct val="150000"/>
              </a:lnSpc>
            </a:pPr>
            <a:r>
              <a:rPr lang="en-US" sz="2000" b="1" dirty="0">
                <a:latin typeface="Corbel" panose="020B0503020204020204" pitchFamily="34" charset="0"/>
              </a:rPr>
              <a:t>public interface </a:t>
            </a:r>
            <a:r>
              <a:rPr lang="en-US" sz="2000" b="1" dirty="0" err="1">
                <a:latin typeface="Corbel" panose="020B0503020204020204" pitchFamily="34" charset="0"/>
              </a:rPr>
              <a:t>HockeyListener</a:t>
            </a:r>
            <a:r>
              <a:rPr lang="en-US" sz="2000" b="1" dirty="0">
                <a:latin typeface="Corbel" panose="020B0503020204020204" pitchFamily="34" charset="0"/>
              </a:rPr>
              <a:t> extends </a:t>
            </a:r>
            <a:r>
              <a:rPr lang="en-US" sz="2000" b="1" dirty="0" err="1">
                <a:latin typeface="Corbel" panose="020B0503020204020204" pitchFamily="34" charset="0"/>
              </a:rPr>
              <a:t>SportsListener</a:t>
            </a:r>
            <a:r>
              <a:rPr lang="en-US" sz="2000" b="1" dirty="0">
                <a:latin typeface="Corbel" panose="020B0503020204020204" pitchFamily="34" charset="0"/>
              </a:rPr>
              <a:t>, </a:t>
            </a:r>
            <a:r>
              <a:rPr lang="en-US" sz="2000" b="1" dirty="0" err="1">
                <a:latin typeface="Corbel" panose="020B0503020204020204" pitchFamily="34" charset="0"/>
              </a:rPr>
              <a:t>EventListener</a:t>
            </a:r>
            <a:endParaRPr lang="en-US" sz="2000" b="1" dirty="0">
              <a:latin typeface="Corbel" panose="020B0503020204020204" pitchFamily="34" charset="0"/>
            </a:endParaRPr>
          </a:p>
          <a:p>
            <a:pPr>
              <a:lnSpc>
                <a:spcPct val="150000"/>
              </a:lnSpc>
            </a:pPr>
            <a:r>
              <a:rPr lang="en-US" dirty="0">
                <a:latin typeface="Corbel" panose="020B0503020204020204" pitchFamily="34" charset="0"/>
              </a:rPr>
              <a:t>Any class that implements this </a:t>
            </a:r>
            <a:r>
              <a:rPr lang="en-US" dirty="0" err="1">
                <a:latin typeface="Corbel" panose="020B0503020204020204" pitchFamily="34" charset="0"/>
              </a:rPr>
              <a:t>HockeyListener</a:t>
            </a:r>
            <a:r>
              <a:rPr lang="en-US" dirty="0">
                <a:latin typeface="Corbel" panose="020B0503020204020204" pitchFamily="34" charset="0"/>
              </a:rPr>
              <a:t> interface must implement all the methods in </a:t>
            </a:r>
            <a:r>
              <a:rPr lang="en-US" dirty="0" err="1">
                <a:latin typeface="Corbel" panose="020B0503020204020204" pitchFamily="34" charset="0"/>
              </a:rPr>
              <a:t>HockeyListener</a:t>
            </a:r>
            <a:r>
              <a:rPr lang="en-US" dirty="0">
                <a:latin typeface="Corbel" panose="020B0503020204020204" pitchFamily="34" charset="0"/>
              </a:rPr>
              <a:t>, </a:t>
            </a:r>
            <a:r>
              <a:rPr lang="en-US" dirty="0" err="1">
                <a:latin typeface="Corbel" panose="020B0503020204020204" pitchFamily="34" charset="0"/>
              </a:rPr>
              <a:t>SportsListener</a:t>
            </a:r>
            <a:r>
              <a:rPr lang="en-US" dirty="0">
                <a:latin typeface="Corbel" panose="020B0503020204020204" pitchFamily="34" charset="0"/>
              </a:rPr>
              <a:t>, and </a:t>
            </a:r>
            <a:r>
              <a:rPr lang="en-US" dirty="0" err="1">
                <a:latin typeface="Corbel" panose="020B0503020204020204" pitchFamily="34" charset="0"/>
              </a:rPr>
              <a:t>EventListener</a:t>
            </a:r>
            <a:r>
              <a:rPr lang="en-US" dirty="0">
                <a:latin typeface="Corbel" panose="020B0503020204020204" pitchFamily="34" charset="0"/>
              </a:rPr>
              <a:t>.</a:t>
            </a:r>
            <a:endParaRPr lang="en-US" b="1" i="1" dirty="0">
              <a:latin typeface="Corbel" panose="020B0503020204020204" pitchFamily="34" charset="0"/>
            </a:endParaRPr>
          </a:p>
        </p:txBody>
      </p:sp>
    </p:spTree>
    <p:extLst>
      <p:ext uri="{BB962C8B-B14F-4D97-AF65-F5344CB8AC3E}">
        <p14:creationId xmlns:p14="http://schemas.microsoft.com/office/powerpoint/2010/main" val="4029253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9" y="2971806"/>
            <a:ext cx="4280312" cy="1684150"/>
          </a:xfrm>
        </p:spPr>
        <p:txBody>
          <a:bodyPr/>
          <a:lstStyle/>
          <a:p>
            <a:r>
              <a:rPr lang="en-US" dirty="0"/>
              <a:t>Inner Classes</a:t>
            </a:r>
          </a:p>
        </p:txBody>
      </p:sp>
      <p:sp>
        <p:nvSpPr>
          <p:cNvPr id="3" name="Text Placeholder 2"/>
          <p:cNvSpPr>
            <a:spLocks noGrp="1"/>
          </p:cNvSpPr>
          <p:nvPr>
            <p:ph type="body" idx="1"/>
          </p:nvPr>
        </p:nvSpPr>
        <p:spPr>
          <a:xfrm>
            <a:off x="1104900" y="4655956"/>
            <a:ext cx="3467102" cy="509750"/>
          </a:xfrm>
        </p:spPr>
        <p:txBody>
          <a:bodyPr>
            <a:normAutofit/>
          </a:bodyPr>
          <a:lstStyle/>
          <a:p>
            <a:r>
              <a:rPr lang="en-US" dirty="0"/>
              <a:t>Finding Inner Peace</a:t>
            </a:r>
          </a:p>
        </p:txBody>
      </p:sp>
      <p:pic>
        <p:nvPicPr>
          <p:cNvPr id="5" name="Picture 4">
            <a:extLst>
              <a:ext uri="{FF2B5EF4-FFF2-40B4-BE49-F238E27FC236}">
                <a16:creationId xmlns:a16="http://schemas.microsoft.com/office/drawing/2014/main" id="{7F3A359C-7AAD-4245-A023-000EF0247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1" y="964096"/>
            <a:ext cx="7255380" cy="4084154"/>
          </a:xfrm>
          <a:prstGeom prst="rect">
            <a:avLst/>
          </a:prstGeom>
        </p:spPr>
      </p:pic>
    </p:spTree>
    <p:extLst>
      <p:ext uri="{BB962C8B-B14F-4D97-AF65-F5344CB8AC3E}">
        <p14:creationId xmlns:p14="http://schemas.microsoft.com/office/powerpoint/2010/main" val="304040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Inner classes</a:t>
            </a:r>
          </a:p>
        </p:txBody>
      </p:sp>
      <p:sp>
        <p:nvSpPr>
          <p:cNvPr id="51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lnSpcReduction="10000"/>
          </a:bodyPr>
          <a:lstStyle/>
          <a:p>
            <a:r>
              <a:rPr lang="en-US" sz="2400" dirty="0">
                <a:latin typeface="Corbel" panose="020B0503020204020204" pitchFamily="34" charset="0"/>
              </a:rPr>
              <a:t>Inner class are defined inside the body of another class (known as outer class). </a:t>
            </a:r>
          </a:p>
          <a:p>
            <a:r>
              <a:rPr lang="en-US" sz="2400" dirty="0">
                <a:latin typeface="Corbel" panose="020B0503020204020204" pitchFamily="34" charset="0"/>
              </a:rPr>
              <a:t>These classes can have access modifier or even can be marked as abstract and final. </a:t>
            </a:r>
          </a:p>
          <a:p>
            <a:r>
              <a:rPr lang="en-US" sz="2400" dirty="0">
                <a:latin typeface="Corbel" panose="020B0503020204020204" pitchFamily="34" charset="0"/>
              </a:rPr>
              <a:t>Inner classes have special relationship with outer class instances. </a:t>
            </a:r>
          </a:p>
          <a:p>
            <a:r>
              <a:rPr lang="en-US" sz="2400" dirty="0">
                <a:latin typeface="Corbel" panose="020B0503020204020204" pitchFamily="34" charset="0"/>
              </a:rPr>
              <a:t>This relationship allows them to have access to outer class members including private members too.</a:t>
            </a:r>
          </a:p>
          <a:p>
            <a:r>
              <a:rPr lang="en-US" sz="2400" dirty="0">
                <a:latin typeface="Corbel" panose="020B0503020204020204" pitchFamily="34" charset="0"/>
              </a:rPr>
              <a:t>Inner classes are of four types depending on how and where you define them. They are −</a:t>
            </a:r>
          </a:p>
          <a:p>
            <a:pPr lvl="1"/>
            <a:r>
              <a:rPr lang="en-US" dirty="0">
                <a:latin typeface="Corbel" panose="020B0503020204020204" pitchFamily="34" charset="0"/>
              </a:rPr>
              <a:t>Inner Class</a:t>
            </a:r>
          </a:p>
          <a:p>
            <a:pPr lvl="1"/>
            <a:r>
              <a:rPr lang="en-US" dirty="0">
                <a:latin typeface="Corbel" panose="020B0503020204020204" pitchFamily="34" charset="0"/>
              </a:rPr>
              <a:t>Method-local Inner Class</a:t>
            </a:r>
          </a:p>
          <a:p>
            <a:pPr lvl="1"/>
            <a:r>
              <a:rPr lang="en-US" dirty="0">
                <a:latin typeface="Corbel" panose="020B0503020204020204" pitchFamily="34" charset="0"/>
              </a:rPr>
              <a:t>Anonymous Inner Class</a:t>
            </a:r>
          </a:p>
          <a:p>
            <a:pPr lvl="1"/>
            <a:r>
              <a:rPr lang="en-US" dirty="0">
                <a:latin typeface="Corbel" panose="020B0503020204020204" pitchFamily="34" charset="0"/>
              </a:rPr>
              <a:t>Static Nested Class</a:t>
            </a:r>
          </a:p>
          <a:p>
            <a:endParaRPr lang="en-US" altLang="en-US" sz="2400" dirty="0">
              <a:latin typeface="Corbel" panose="020B0503020204020204" pitchFamily="34" charset="0"/>
            </a:endParaRPr>
          </a:p>
        </p:txBody>
      </p:sp>
    </p:spTree>
    <p:extLst>
      <p:ext uri="{BB962C8B-B14F-4D97-AF65-F5344CB8AC3E}">
        <p14:creationId xmlns:p14="http://schemas.microsoft.com/office/powerpoint/2010/main" val="12155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Inner classes</a:t>
            </a:r>
          </a:p>
        </p:txBody>
      </p:sp>
      <p:sp>
        <p:nvSpPr>
          <p:cNvPr id="5123" name="Rectangle 3"/>
          <p:cNvSpPr>
            <a:spLocks noGrp="1" noChangeArrowheads="1"/>
          </p:cNvSpPr>
          <p:nvPr>
            <p:ph type="body" idx="1"/>
          </p:nvPr>
        </p:nvSpPr>
        <p:spPr>
          <a:xfrm>
            <a:off x="198783" y="1464140"/>
            <a:ext cx="6083408" cy="531766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nSpc>
                <a:spcPct val="150000"/>
              </a:lnSpc>
            </a:pPr>
            <a:r>
              <a:rPr lang="en-US" sz="1600" dirty="0">
                <a:latin typeface="Corbel" panose="020B0503020204020204" pitchFamily="34" charset="0"/>
              </a:rPr>
              <a:t>Creating an </a:t>
            </a:r>
            <a:r>
              <a:rPr lang="en-US" sz="1600" b="1" dirty="0">
                <a:latin typeface="Corbel" panose="020B0503020204020204" pitchFamily="34" charset="0"/>
              </a:rPr>
              <a:t>inner class is quite simple</a:t>
            </a:r>
            <a:r>
              <a:rPr lang="en-US" sz="1600" dirty="0">
                <a:latin typeface="Corbel" panose="020B0503020204020204" pitchFamily="34" charset="0"/>
              </a:rPr>
              <a:t>. You just need to </a:t>
            </a:r>
            <a:r>
              <a:rPr lang="en-US" sz="1600" b="1" dirty="0">
                <a:latin typeface="Corbel" panose="020B0503020204020204" pitchFamily="34" charset="0"/>
              </a:rPr>
              <a:t>write a class within a class</a:t>
            </a:r>
            <a:r>
              <a:rPr lang="en-US" sz="1600" dirty="0">
                <a:latin typeface="Corbel" panose="020B0503020204020204" pitchFamily="34" charset="0"/>
              </a:rPr>
              <a:t>. </a:t>
            </a:r>
          </a:p>
          <a:p>
            <a:pPr>
              <a:lnSpc>
                <a:spcPct val="150000"/>
              </a:lnSpc>
            </a:pPr>
            <a:r>
              <a:rPr lang="en-US" sz="1600" dirty="0">
                <a:latin typeface="Corbel" panose="020B0503020204020204" pitchFamily="34" charset="0"/>
              </a:rPr>
              <a:t>Unlike a class, </a:t>
            </a:r>
            <a:r>
              <a:rPr lang="en-US" sz="1600" b="1" dirty="0">
                <a:latin typeface="Corbel" panose="020B0503020204020204" pitchFamily="34" charset="0"/>
              </a:rPr>
              <a:t>an inner class can be private </a:t>
            </a:r>
            <a:r>
              <a:rPr lang="en-US" sz="1600" dirty="0">
                <a:latin typeface="Corbel" panose="020B0503020204020204" pitchFamily="34" charset="0"/>
              </a:rPr>
              <a:t>and once you declare an inner class private, it </a:t>
            </a:r>
            <a:r>
              <a:rPr lang="en-US" sz="1600" b="1" dirty="0">
                <a:latin typeface="Corbel" panose="020B0503020204020204" pitchFamily="34" charset="0"/>
              </a:rPr>
              <a:t>cannot be accessed from an object outside the class</a:t>
            </a:r>
            <a:r>
              <a:rPr lang="en-US" sz="1600" dirty="0">
                <a:latin typeface="Corbel" panose="020B0503020204020204" pitchFamily="34" charset="0"/>
              </a:rPr>
              <a:t>.</a:t>
            </a:r>
          </a:p>
          <a:p>
            <a:pPr>
              <a:lnSpc>
                <a:spcPct val="150000"/>
              </a:lnSpc>
            </a:pPr>
            <a:r>
              <a:rPr lang="en-US" sz="1600" dirty="0">
                <a:latin typeface="Corbel" panose="020B0503020204020204" pitchFamily="34" charset="0"/>
              </a:rPr>
              <a:t>Inner class acts as a member of the enclosing class and can have any access modifiers: abstract, final, public, protected, private, static.</a:t>
            </a:r>
          </a:p>
          <a:p>
            <a:pPr>
              <a:lnSpc>
                <a:spcPct val="150000"/>
              </a:lnSpc>
            </a:pPr>
            <a:r>
              <a:rPr lang="en-US" sz="1600" dirty="0">
                <a:latin typeface="Corbel" panose="020B0503020204020204" pitchFamily="34" charset="0"/>
              </a:rPr>
              <a:t>Inner class can access all members of the outer class including those marked private as shown in the above example where inner class is accessing the private variable "</a:t>
            </a:r>
            <a:r>
              <a:rPr lang="en-US" sz="1600" dirty="0" err="1">
                <a:latin typeface="Corbel" panose="020B0503020204020204" pitchFamily="34" charset="0"/>
              </a:rPr>
              <a:t>myVar</a:t>
            </a:r>
            <a:r>
              <a:rPr lang="en-US" sz="1600" dirty="0">
                <a:latin typeface="Corbel" panose="020B0503020204020204" pitchFamily="34" charset="0"/>
              </a:rPr>
              <a:t>" of outer class.</a:t>
            </a:r>
            <a:endParaRPr lang="en-US" altLang="en-US" sz="1600" dirty="0">
              <a:latin typeface="Corbel" panose="020B0503020204020204" pitchFamily="34" charset="0"/>
            </a:endParaRPr>
          </a:p>
        </p:txBody>
      </p:sp>
      <p:pic>
        <p:nvPicPr>
          <p:cNvPr id="3" name="Picture 2">
            <a:extLst>
              <a:ext uri="{FF2B5EF4-FFF2-40B4-BE49-F238E27FC236}">
                <a16:creationId xmlns:a16="http://schemas.microsoft.com/office/drawing/2014/main" id="{56CCBBE2-6155-49CC-AEAB-C19D0105F942}"/>
              </a:ext>
            </a:extLst>
          </p:cNvPr>
          <p:cNvPicPr>
            <a:picLocks noChangeAspect="1"/>
          </p:cNvPicPr>
          <p:nvPr/>
        </p:nvPicPr>
        <p:blipFill>
          <a:blip r:embed="rId3"/>
          <a:stretch>
            <a:fillRect/>
          </a:stretch>
        </p:blipFill>
        <p:spPr>
          <a:xfrm>
            <a:off x="6364357" y="1464140"/>
            <a:ext cx="5486400" cy="2838450"/>
          </a:xfrm>
          <a:prstGeom prst="rect">
            <a:avLst/>
          </a:prstGeom>
        </p:spPr>
      </p:pic>
    </p:spTree>
    <p:extLst>
      <p:ext uri="{BB962C8B-B14F-4D97-AF65-F5344CB8AC3E}">
        <p14:creationId xmlns:p14="http://schemas.microsoft.com/office/powerpoint/2010/main" val="2968178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38236" y="479509"/>
            <a:ext cx="8520114" cy="67106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altLang="en-US" dirty="0"/>
              <a:t>Accessing Private Values</a:t>
            </a:r>
          </a:p>
        </p:txBody>
      </p:sp>
      <p:sp>
        <p:nvSpPr>
          <p:cNvPr id="5123" name="Rectangle 3"/>
          <p:cNvSpPr>
            <a:spLocks noGrp="1" noChangeArrowheads="1"/>
          </p:cNvSpPr>
          <p:nvPr>
            <p:ph type="body" idx="1"/>
          </p:nvPr>
        </p:nvSpPr>
        <p:spPr>
          <a:xfrm>
            <a:off x="232013" y="1421130"/>
            <a:ext cx="5622032" cy="43891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gn="just"/>
            <a:r>
              <a:rPr lang="en-US" sz="2200" dirty="0">
                <a:latin typeface="Corbel" panose="020B0503020204020204" pitchFamily="34" charset="0"/>
              </a:rPr>
              <a:t>As mentioned earlier, </a:t>
            </a:r>
            <a:r>
              <a:rPr lang="en-US" sz="2200" b="1" dirty="0">
                <a:latin typeface="Corbel" panose="020B0503020204020204" pitchFamily="34" charset="0"/>
              </a:rPr>
              <a:t>inner classes </a:t>
            </a:r>
            <a:r>
              <a:rPr lang="en-US" sz="2200" dirty="0">
                <a:latin typeface="Corbel" panose="020B0503020204020204" pitchFamily="34" charset="0"/>
              </a:rPr>
              <a:t>are also used to access the </a:t>
            </a:r>
            <a:r>
              <a:rPr lang="en-US" sz="2200" b="1" dirty="0">
                <a:latin typeface="Corbel" panose="020B0503020204020204" pitchFamily="34" charset="0"/>
              </a:rPr>
              <a:t>private members of a class</a:t>
            </a:r>
            <a:r>
              <a:rPr lang="en-US" sz="2200" dirty="0">
                <a:latin typeface="Corbel" panose="020B0503020204020204" pitchFamily="34" charset="0"/>
              </a:rPr>
              <a:t>. </a:t>
            </a:r>
          </a:p>
          <a:p>
            <a:pPr algn="just"/>
            <a:r>
              <a:rPr lang="en-US" sz="2200" dirty="0">
                <a:latin typeface="Corbel" panose="020B0503020204020204" pitchFamily="34" charset="0"/>
              </a:rPr>
              <a:t>Suppose, a class is having private members to access them. Write an inner class in it, return the private members from a method within the inner class, say, </a:t>
            </a:r>
            <a:r>
              <a:rPr lang="en-US" sz="2200" b="1" dirty="0" err="1">
                <a:latin typeface="Corbel" panose="020B0503020204020204" pitchFamily="34" charset="0"/>
              </a:rPr>
              <a:t>getValue</a:t>
            </a:r>
            <a:r>
              <a:rPr lang="en-US" sz="2200" b="1" dirty="0">
                <a:latin typeface="Corbel" panose="020B0503020204020204" pitchFamily="34" charset="0"/>
              </a:rPr>
              <a:t>()</a:t>
            </a:r>
            <a:r>
              <a:rPr lang="en-US" sz="2200" dirty="0">
                <a:latin typeface="Corbel" panose="020B0503020204020204" pitchFamily="34" charset="0"/>
              </a:rPr>
              <a:t>, and finally from another class (from which you want to access the private members) call the </a:t>
            </a:r>
            <a:r>
              <a:rPr lang="en-US" sz="2200" dirty="0" err="1">
                <a:latin typeface="Corbel" panose="020B0503020204020204" pitchFamily="34" charset="0"/>
              </a:rPr>
              <a:t>getValue</a:t>
            </a:r>
            <a:r>
              <a:rPr lang="en-US" sz="2200" dirty="0">
                <a:latin typeface="Corbel" panose="020B0503020204020204" pitchFamily="34" charset="0"/>
              </a:rPr>
              <a:t>() method of the inner class.</a:t>
            </a:r>
          </a:p>
          <a:p>
            <a:pPr algn="just"/>
            <a:r>
              <a:rPr lang="en-US" sz="2200" b="1" dirty="0">
                <a:latin typeface="Corbel" panose="020B0503020204020204" pitchFamily="34" charset="0"/>
              </a:rPr>
              <a:t>To instantiate the inner class</a:t>
            </a:r>
            <a:r>
              <a:rPr lang="en-US" sz="2200" dirty="0">
                <a:latin typeface="Corbel" panose="020B0503020204020204" pitchFamily="34" charset="0"/>
              </a:rPr>
              <a:t>, initially you have to </a:t>
            </a:r>
            <a:r>
              <a:rPr lang="en-US" sz="2200" b="1" dirty="0">
                <a:latin typeface="Corbel" panose="020B0503020204020204" pitchFamily="34" charset="0"/>
              </a:rPr>
              <a:t>instantiate the outer class</a:t>
            </a:r>
            <a:r>
              <a:rPr lang="en-US" sz="2200" dirty="0">
                <a:latin typeface="Corbel" panose="020B0503020204020204" pitchFamily="34" charset="0"/>
              </a:rPr>
              <a:t>. Thereafter, using the </a:t>
            </a:r>
            <a:r>
              <a:rPr lang="en-US" sz="2200" b="1" dirty="0">
                <a:latin typeface="Corbel" panose="020B0503020204020204" pitchFamily="34" charset="0"/>
              </a:rPr>
              <a:t>object of the outer class</a:t>
            </a:r>
            <a:r>
              <a:rPr lang="en-US" sz="2200" dirty="0">
                <a:latin typeface="Corbel" panose="020B0503020204020204" pitchFamily="34" charset="0"/>
              </a:rPr>
              <a:t>, following is the way in which you can instantiate the inner class.</a:t>
            </a:r>
          </a:p>
          <a:p>
            <a:pPr algn="just"/>
            <a:endParaRPr lang="en-US" altLang="en-US" sz="2200" dirty="0">
              <a:latin typeface="Corbel" panose="020B0503020204020204" pitchFamily="34" charset="0"/>
            </a:endParaRPr>
          </a:p>
        </p:txBody>
      </p:sp>
      <p:pic>
        <p:nvPicPr>
          <p:cNvPr id="3" name="Picture 2"/>
          <p:cNvPicPr>
            <a:picLocks noChangeAspect="1"/>
          </p:cNvPicPr>
          <p:nvPr/>
        </p:nvPicPr>
        <p:blipFill>
          <a:blip r:embed="rId3"/>
          <a:stretch>
            <a:fillRect/>
          </a:stretch>
        </p:blipFill>
        <p:spPr>
          <a:xfrm>
            <a:off x="6291619" y="1176027"/>
            <a:ext cx="5800298" cy="5415842"/>
          </a:xfrm>
          <a:prstGeom prst="rect">
            <a:avLst/>
          </a:prstGeom>
        </p:spPr>
      </p:pic>
    </p:spTree>
    <p:extLst>
      <p:ext uri="{BB962C8B-B14F-4D97-AF65-F5344CB8AC3E}">
        <p14:creationId xmlns:p14="http://schemas.microsoft.com/office/powerpoint/2010/main" val="2540191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81100" y="500063"/>
            <a:ext cx="5395415" cy="618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dirty="0"/>
              <a:t>Method-local Inner Class</a:t>
            </a:r>
          </a:p>
        </p:txBody>
      </p:sp>
      <p:sp>
        <p:nvSpPr>
          <p:cNvPr id="5123" name="Rectangle 3"/>
          <p:cNvSpPr>
            <a:spLocks noGrp="1" noChangeArrowheads="1"/>
          </p:cNvSpPr>
          <p:nvPr>
            <p:ph type="body" idx="1"/>
          </p:nvPr>
        </p:nvSpPr>
        <p:spPr>
          <a:xfrm>
            <a:off x="217725" y="1449705"/>
            <a:ext cx="5363570" cy="43891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gn="just"/>
            <a:r>
              <a:rPr lang="en-US" sz="2400" dirty="0"/>
              <a:t>In Java, we can write a </a:t>
            </a:r>
            <a:r>
              <a:rPr lang="en-US" sz="2400" b="1" dirty="0"/>
              <a:t>class within a method</a:t>
            </a:r>
            <a:r>
              <a:rPr lang="en-US" sz="2400" dirty="0"/>
              <a:t> and this will be a local type. </a:t>
            </a:r>
          </a:p>
          <a:p>
            <a:pPr algn="just"/>
            <a:r>
              <a:rPr lang="en-US" sz="2400" dirty="0"/>
              <a:t>Like local variables, the </a:t>
            </a:r>
            <a:r>
              <a:rPr lang="en-US" sz="2400" b="1" dirty="0"/>
              <a:t>scope of the inner class is restricted within the method</a:t>
            </a:r>
            <a:r>
              <a:rPr lang="en-US" sz="2400" dirty="0"/>
              <a:t>.</a:t>
            </a:r>
          </a:p>
          <a:p>
            <a:pPr algn="just"/>
            <a:r>
              <a:rPr lang="en-US" sz="2400" dirty="0"/>
              <a:t>A method-local inner class can be instantiated only within the method where the inner class is defined. </a:t>
            </a:r>
          </a:p>
          <a:p>
            <a:pPr algn="just"/>
            <a:r>
              <a:rPr lang="en-US" sz="2400" dirty="0"/>
              <a:t>The following program shows how to use a method-local inner class.</a:t>
            </a:r>
          </a:p>
        </p:txBody>
      </p:sp>
      <p:pic>
        <p:nvPicPr>
          <p:cNvPr id="2" name="Picture 1"/>
          <p:cNvPicPr>
            <a:picLocks noChangeAspect="1"/>
          </p:cNvPicPr>
          <p:nvPr/>
        </p:nvPicPr>
        <p:blipFill>
          <a:blip r:embed="rId3"/>
          <a:stretch>
            <a:fillRect/>
          </a:stretch>
        </p:blipFill>
        <p:spPr>
          <a:xfrm>
            <a:off x="5700357" y="1335845"/>
            <a:ext cx="6491643" cy="4988755"/>
          </a:xfrm>
          <a:prstGeom prst="rect">
            <a:avLst/>
          </a:prstGeom>
        </p:spPr>
      </p:pic>
    </p:spTree>
    <p:extLst>
      <p:ext uri="{BB962C8B-B14F-4D97-AF65-F5344CB8AC3E}">
        <p14:creationId xmlns:p14="http://schemas.microsoft.com/office/powerpoint/2010/main" val="2399202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81100" y="500063"/>
            <a:ext cx="5395415" cy="618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dirty="0"/>
              <a:t>Method-local Inner Class</a:t>
            </a:r>
          </a:p>
        </p:txBody>
      </p:sp>
      <p:sp>
        <p:nvSpPr>
          <p:cNvPr id="5123" name="Rectangle 3"/>
          <p:cNvSpPr>
            <a:spLocks noGrp="1" noChangeArrowheads="1"/>
          </p:cNvSpPr>
          <p:nvPr>
            <p:ph type="body" idx="1"/>
          </p:nvPr>
        </p:nvSpPr>
        <p:spPr>
          <a:xfrm>
            <a:off x="217725" y="1449704"/>
            <a:ext cx="11401118" cy="540829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rPr>
              <a:t>Local inner classes are local to code blocks, such as a method body, constructor, or initialization block and can be used within the same code block they were defined in. </a:t>
            </a:r>
            <a:endParaRPr lang="en-US" altLang="en-US" sz="1800" dirty="0">
              <a:latin typeface="Corbel" panose="020B0503020204020204" pitchFamily="34" charset="0"/>
            </a:endParaRP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rPr>
              <a:t>Local inner classes also called method local inner classes are not members of the class of which the code is a part but are local to the code block they belong to, just as a local variable. </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rPr>
              <a:t>Local inner classes cannot be accessed outside the block in which they are defined. </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rPr>
              <a:t>Instances of local inner classes are normal objects that can be passed as arguments and returned from methods, and they exist within a valid scope.</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rPr>
              <a:t> For local inner classes are local to a code block, they cannot have access modifiers. Also, local inner classes cannot be declared static because they are local. </a:t>
            </a:r>
          </a:p>
          <a:p>
            <a:pPr algn="just" eaLnBrk="0" fontAlgn="base" hangingPunct="0">
              <a:lnSpc>
                <a:spcPct val="150000"/>
              </a:lnSpc>
              <a:spcBef>
                <a:spcPct val="0"/>
              </a:spcBef>
              <a:spcAft>
                <a:spcPct val="0"/>
              </a:spcAft>
            </a:pPr>
            <a:r>
              <a:rPr lang="en-US" altLang="en-US" sz="1800" dirty="0">
                <a:solidFill>
                  <a:srgbClr val="333333"/>
                </a:solidFill>
                <a:latin typeface="Corbel" panose="020B0503020204020204" pitchFamily="34" charset="0"/>
              </a:rPr>
              <a:t>Important point to note is like regular inner class objects, the method local inner class object shares a special relationship with the enclosing class object, and can access outer class's private members as regular inner classes do. But the local inner class object cannot use the local variables of the method in which the local inner class is defined</a:t>
            </a:r>
          </a:p>
        </p:txBody>
      </p:sp>
    </p:spTree>
    <p:extLst>
      <p:ext uri="{BB962C8B-B14F-4D97-AF65-F5344CB8AC3E}">
        <p14:creationId xmlns:p14="http://schemas.microsoft.com/office/powerpoint/2010/main" val="311665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23950" y="634886"/>
            <a:ext cx="5395415" cy="4326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fontScale="90000"/>
          </a:bodyPr>
          <a:lstStyle/>
          <a:p>
            <a:r>
              <a:rPr lang="en-US" dirty="0"/>
              <a:t>Anonymous Inner Class</a:t>
            </a:r>
          </a:p>
        </p:txBody>
      </p:sp>
      <p:sp>
        <p:nvSpPr>
          <p:cNvPr id="5123" name="Rectangle 3"/>
          <p:cNvSpPr>
            <a:spLocks noGrp="1" noChangeArrowheads="1"/>
          </p:cNvSpPr>
          <p:nvPr>
            <p:ph type="body" idx="1"/>
          </p:nvPr>
        </p:nvSpPr>
        <p:spPr>
          <a:xfrm>
            <a:off x="335080" y="1378268"/>
            <a:ext cx="4981433" cy="43891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en-US" sz="2400" dirty="0"/>
              <a:t>An inner class declared without a class name is known as an </a:t>
            </a:r>
            <a:r>
              <a:rPr lang="en-US" sz="2400" b="1" dirty="0"/>
              <a:t>anonymous inner class</a:t>
            </a:r>
            <a:r>
              <a:rPr lang="en-US" sz="2400" dirty="0"/>
              <a:t>. </a:t>
            </a:r>
          </a:p>
          <a:p>
            <a:r>
              <a:rPr lang="en-US" sz="2400" dirty="0"/>
              <a:t>In case of anonymous inner classes, we declare and instantiate them at the same time. </a:t>
            </a:r>
          </a:p>
          <a:p>
            <a:r>
              <a:rPr lang="en-US" sz="2400" dirty="0"/>
              <a:t>Generally, they are used whenever you need to override the method of a class or an interface. </a:t>
            </a:r>
          </a:p>
          <a:p>
            <a:r>
              <a:rPr lang="en-US" sz="2400" dirty="0"/>
              <a:t>The syntax of an anonymous inner class is as follows −</a:t>
            </a:r>
          </a:p>
        </p:txBody>
      </p:sp>
      <p:pic>
        <p:nvPicPr>
          <p:cNvPr id="3" name="Picture 2"/>
          <p:cNvPicPr>
            <a:picLocks noChangeAspect="1"/>
          </p:cNvPicPr>
          <p:nvPr/>
        </p:nvPicPr>
        <p:blipFill>
          <a:blip r:embed="rId3"/>
          <a:stretch>
            <a:fillRect/>
          </a:stretch>
        </p:blipFill>
        <p:spPr>
          <a:xfrm>
            <a:off x="5316513" y="1067511"/>
            <a:ext cx="6875487" cy="5257090"/>
          </a:xfrm>
          <a:prstGeom prst="rect">
            <a:avLst/>
          </a:prstGeom>
        </p:spPr>
      </p:pic>
    </p:spTree>
    <p:extLst>
      <p:ext uri="{BB962C8B-B14F-4D97-AF65-F5344CB8AC3E}">
        <p14:creationId xmlns:p14="http://schemas.microsoft.com/office/powerpoint/2010/main" val="68999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Example: Anonymous Inner Class</a:t>
            </a:r>
          </a:p>
        </p:txBody>
      </p:sp>
      <p:pic>
        <p:nvPicPr>
          <p:cNvPr id="3" name="Picture 2"/>
          <p:cNvPicPr>
            <a:picLocks noChangeAspect="1"/>
          </p:cNvPicPr>
          <p:nvPr/>
        </p:nvPicPr>
        <p:blipFill>
          <a:blip r:embed="rId3"/>
          <a:stretch>
            <a:fillRect/>
          </a:stretch>
        </p:blipFill>
        <p:spPr>
          <a:xfrm>
            <a:off x="629313" y="1519523"/>
            <a:ext cx="10931856" cy="4802408"/>
          </a:xfrm>
          <a:prstGeom prst="rect">
            <a:avLst/>
          </a:prstGeom>
        </p:spPr>
      </p:pic>
    </p:spTree>
    <p:extLst>
      <p:ext uri="{BB962C8B-B14F-4D97-AF65-F5344CB8AC3E}">
        <p14:creationId xmlns:p14="http://schemas.microsoft.com/office/powerpoint/2010/main" val="176847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052513" y="342901"/>
            <a:ext cx="11427725" cy="7469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dirty="0"/>
              <a:t>Why Anonymous Inner Class</a:t>
            </a:r>
          </a:p>
        </p:txBody>
      </p:sp>
      <p:sp>
        <p:nvSpPr>
          <p:cNvPr id="5123" name="Rectangle 3"/>
          <p:cNvSpPr>
            <a:spLocks noGrp="1" noChangeArrowheads="1"/>
          </p:cNvSpPr>
          <p:nvPr>
            <p:ph type="body" idx="1"/>
          </p:nvPr>
        </p:nvSpPr>
        <p:spPr>
          <a:xfrm>
            <a:off x="389175" y="1421130"/>
            <a:ext cx="11450472" cy="43891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gn="just"/>
            <a:r>
              <a:rPr lang="en-US" sz="2400" dirty="0"/>
              <a:t>Inner classes and anonymous classes are quite commonly used in GUI event handling for example. </a:t>
            </a:r>
          </a:p>
          <a:p>
            <a:pPr algn="just"/>
            <a:r>
              <a:rPr lang="en-US" sz="2400" dirty="0"/>
              <a:t>It is certainly hard for beginners to visualize situations where you would need them. </a:t>
            </a:r>
          </a:p>
          <a:p>
            <a:pPr algn="just"/>
            <a:r>
              <a:rPr lang="en-US" sz="2400" dirty="0"/>
              <a:t>At the beginning all you really need to know is that you can use them, and with more experience situations when they are useful will be come more apparent. </a:t>
            </a:r>
          </a:p>
          <a:p>
            <a:pPr algn="just"/>
            <a:r>
              <a:rPr lang="en-US" sz="2400" dirty="0"/>
              <a:t>There is probably nothing you can do with an inner class that could not be achieved without ever using them but sometime it they do make a much cleaner solution to a problem. </a:t>
            </a:r>
          </a:p>
          <a:p>
            <a:pPr algn="just"/>
            <a:r>
              <a:rPr lang="en-US" sz="2400" dirty="0"/>
              <a:t>It would probably be a relatively rare situation that you would find the need to use static inner classes. </a:t>
            </a:r>
            <a:br>
              <a:rPr lang="en-US" sz="2400" dirty="0"/>
            </a:br>
            <a:endParaRPr lang="en-US" sz="2400" dirty="0"/>
          </a:p>
        </p:txBody>
      </p:sp>
    </p:spTree>
    <p:extLst>
      <p:ext uri="{BB962C8B-B14F-4D97-AF65-F5344CB8AC3E}">
        <p14:creationId xmlns:p14="http://schemas.microsoft.com/office/powerpoint/2010/main" val="2780120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09600" y="504967"/>
            <a:ext cx="11427725" cy="73697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dirty="0"/>
              <a:t>Why Anonymous Inner Class</a:t>
            </a:r>
          </a:p>
        </p:txBody>
      </p:sp>
      <p:pic>
        <p:nvPicPr>
          <p:cNvPr id="3" name="Picture 2"/>
          <p:cNvPicPr>
            <a:picLocks noChangeAspect="1"/>
          </p:cNvPicPr>
          <p:nvPr/>
        </p:nvPicPr>
        <p:blipFill>
          <a:blip r:embed="rId3"/>
          <a:stretch>
            <a:fillRect/>
          </a:stretch>
        </p:blipFill>
        <p:spPr>
          <a:xfrm>
            <a:off x="147637" y="1580794"/>
            <a:ext cx="5474061" cy="4942836"/>
          </a:xfrm>
          <a:prstGeom prst="rect">
            <a:avLst/>
          </a:prstGeom>
        </p:spPr>
      </p:pic>
      <p:pic>
        <p:nvPicPr>
          <p:cNvPr id="4" name="Picture 3"/>
          <p:cNvPicPr>
            <a:picLocks noChangeAspect="1"/>
          </p:cNvPicPr>
          <p:nvPr/>
        </p:nvPicPr>
        <p:blipFill>
          <a:blip r:embed="rId4"/>
          <a:stretch>
            <a:fillRect/>
          </a:stretch>
        </p:blipFill>
        <p:spPr>
          <a:xfrm>
            <a:off x="6114766" y="1580794"/>
            <a:ext cx="5922559" cy="4942836"/>
          </a:xfrm>
          <a:prstGeom prst="rect">
            <a:avLst/>
          </a:prstGeom>
        </p:spPr>
      </p:pic>
      <p:sp>
        <p:nvSpPr>
          <p:cNvPr id="5" name="TextBox 4"/>
          <p:cNvSpPr txBox="1"/>
          <p:nvPr/>
        </p:nvSpPr>
        <p:spPr>
          <a:xfrm>
            <a:off x="1351128" y="6509978"/>
            <a:ext cx="3084394" cy="369332"/>
          </a:xfrm>
          <a:prstGeom prst="rect">
            <a:avLst/>
          </a:prstGeom>
          <a:noFill/>
          <a:ln>
            <a:solidFill>
              <a:schemeClr val="bg2"/>
            </a:solidFill>
          </a:ln>
        </p:spPr>
        <p:txBody>
          <a:bodyPr wrap="square" rtlCol="0">
            <a:spAutoFit/>
          </a:bodyPr>
          <a:lstStyle/>
          <a:p>
            <a:r>
              <a:rPr lang="en-US" dirty="0"/>
              <a:t>Monolithic Code Block</a:t>
            </a:r>
          </a:p>
        </p:txBody>
      </p:sp>
      <p:sp>
        <p:nvSpPr>
          <p:cNvPr id="8" name="TextBox 7"/>
          <p:cNvSpPr txBox="1"/>
          <p:nvPr/>
        </p:nvSpPr>
        <p:spPr>
          <a:xfrm>
            <a:off x="7533848" y="6481846"/>
            <a:ext cx="4230522" cy="369332"/>
          </a:xfrm>
          <a:prstGeom prst="rect">
            <a:avLst/>
          </a:prstGeom>
          <a:noFill/>
          <a:ln>
            <a:solidFill>
              <a:schemeClr val="bg2"/>
            </a:solidFill>
          </a:ln>
        </p:spPr>
        <p:txBody>
          <a:bodyPr wrap="square" rtlCol="0">
            <a:spAutoFit/>
          </a:bodyPr>
          <a:lstStyle/>
          <a:p>
            <a:r>
              <a:rPr lang="en-US" dirty="0"/>
              <a:t>Anonymous Inner Class Code Block</a:t>
            </a:r>
          </a:p>
        </p:txBody>
      </p:sp>
    </p:spTree>
    <p:extLst>
      <p:ext uri="{BB962C8B-B14F-4D97-AF65-F5344CB8AC3E}">
        <p14:creationId xmlns:p14="http://schemas.microsoft.com/office/powerpoint/2010/main" val="2416196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09663" y="314325"/>
            <a:ext cx="11427725" cy="789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dirty="0"/>
              <a:t>Disadvantages</a:t>
            </a:r>
          </a:p>
        </p:txBody>
      </p:sp>
      <p:sp>
        <p:nvSpPr>
          <p:cNvPr id="5123" name="Rectangle 3"/>
          <p:cNvSpPr>
            <a:spLocks noGrp="1" noChangeArrowheads="1"/>
          </p:cNvSpPr>
          <p:nvPr>
            <p:ph type="body" idx="1"/>
          </p:nvPr>
        </p:nvSpPr>
        <p:spPr>
          <a:xfrm>
            <a:off x="503474" y="1535430"/>
            <a:ext cx="11450472" cy="43891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pPr algn="just"/>
            <a:r>
              <a:rPr lang="en-US" sz="2400" dirty="0"/>
              <a:t>The use of inner classes will also increase the total number of classes in your code.</a:t>
            </a:r>
          </a:p>
          <a:p>
            <a:pPr algn="just"/>
            <a:r>
              <a:rPr lang="en-US" sz="2400" dirty="0"/>
              <a:t>Moreover, from a development point of view, most Java tools come up a bit short on their support of inner classes. </a:t>
            </a:r>
          </a:p>
          <a:p>
            <a:pPr algn="just"/>
            <a:endParaRPr lang="en-US" sz="2400" dirty="0"/>
          </a:p>
        </p:txBody>
      </p:sp>
    </p:spTree>
    <p:extLst>
      <p:ext uri="{BB962C8B-B14F-4D97-AF65-F5344CB8AC3E}">
        <p14:creationId xmlns:p14="http://schemas.microsoft.com/office/powerpoint/2010/main" val="3241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1109663" y="314325"/>
            <a:ext cx="10658267" cy="7898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p>
            <a:r>
              <a:rPr lang="en-US" dirty="0"/>
              <a:t>Difference Between Static Nested &amp; Inner Class</a:t>
            </a:r>
          </a:p>
        </p:txBody>
      </p:sp>
      <p:sp>
        <p:nvSpPr>
          <p:cNvPr id="5123" name="Rectangle 3"/>
          <p:cNvSpPr>
            <a:spLocks noGrp="1" noChangeArrowheads="1"/>
          </p:cNvSpPr>
          <p:nvPr>
            <p:ph type="body" idx="1"/>
          </p:nvPr>
        </p:nvSpPr>
        <p:spPr>
          <a:xfrm>
            <a:off x="503474" y="1535430"/>
            <a:ext cx="11450472" cy="438912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p>
            <a:r>
              <a:rPr lang="en-US" dirty="0"/>
              <a:t>Static nested classes </a:t>
            </a:r>
            <a:r>
              <a:rPr lang="en-US" b="1" u="sng" dirty="0"/>
              <a:t>do not directly have access to other members </a:t>
            </a:r>
            <a:r>
              <a:rPr lang="en-US" dirty="0"/>
              <a:t>(non-static variables and methods) of the outer class, because as it is static, it </a:t>
            </a:r>
            <a:r>
              <a:rPr lang="en-US" b="1" u="sng" dirty="0"/>
              <a:t>must access the non-static members of its enclosing class through an object</a:t>
            </a:r>
            <a:r>
              <a:rPr lang="en-US" dirty="0"/>
              <a:t>. That is, it cannot refer to non-static members of its enclosing class directly.  </a:t>
            </a:r>
          </a:p>
          <a:p>
            <a:r>
              <a:rPr lang="en-US" dirty="0"/>
              <a:t>If the nested class does not access any of the variables of the enclosing class, it can be made static. The advantage of this is that you </a:t>
            </a:r>
            <a:r>
              <a:rPr lang="en-US" b="1" u="sng" dirty="0"/>
              <a:t>do not need an enclosing instance of the outer class </a:t>
            </a:r>
            <a:r>
              <a:rPr lang="en-US" dirty="0"/>
              <a:t>to use the nested class.</a:t>
            </a:r>
          </a:p>
          <a:p>
            <a:r>
              <a:rPr lang="en-US" dirty="0"/>
              <a:t>Non-static nested classes (inner classes) have </a:t>
            </a:r>
            <a:r>
              <a:rPr lang="en-US" b="1" u="sng" dirty="0"/>
              <a:t>access to all members </a:t>
            </a:r>
            <a:r>
              <a:rPr lang="en-US" dirty="0"/>
              <a:t>(static and non-static variables and methods, including private) of its outer class and may refer to them directly in the same way that other non-static members of the outer class do. But it </a:t>
            </a:r>
            <a:r>
              <a:rPr lang="en-US" b="1" dirty="0"/>
              <a:t>can not </a:t>
            </a:r>
            <a:r>
              <a:rPr lang="en-US" dirty="0"/>
              <a:t> contain static members</a:t>
            </a:r>
          </a:p>
        </p:txBody>
      </p:sp>
    </p:spTree>
    <p:extLst>
      <p:ext uri="{BB962C8B-B14F-4D97-AF65-F5344CB8AC3E}">
        <p14:creationId xmlns:p14="http://schemas.microsoft.com/office/powerpoint/2010/main" val="380656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83559-F103-46FC-B981-ABE4F53C1FD1}"/>
              </a:ext>
            </a:extLst>
          </p:cNvPr>
          <p:cNvSpPr>
            <a:spLocks noGrp="1"/>
          </p:cNvSpPr>
          <p:nvPr>
            <p:ph type="ctrTitle"/>
          </p:nvPr>
        </p:nvSpPr>
        <p:spPr/>
        <p:txBody>
          <a:bodyPr/>
          <a:lstStyle/>
          <a:p>
            <a:r>
              <a:rPr lang="en-IN" dirty="0"/>
              <a:t>EXCEPTION HANDLING</a:t>
            </a:r>
          </a:p>
        </p:txBody>
      </p:sp>
      <p:sp>
        <p:nvSpPr>
          <p:cNvPr id="3" name="Subtitle 2">
            <a:extLst>
              <a:ext uri="{FF2B5EF4-FFF2-40B4-BE49-F238E27FC236}">
                <a16:creationId xmlns:a16="http://schemas.microsoft.com/office/drawing/2014/main" id="{6FFC387C-23DA-4DB3-BCEA-8EE08B6782FC}"/>
              </a:ext>
            </a:extLst>
          </p:cNvPr>
          <p:cNvSpPr>
            <a:spLocks noGrp="1"/>
          </p:cNvSpPr>
          <p:nvPr>
            <p:ph type="subTitle" idx="1"/>
          </p:nvPr>
        </p:nvSpPr>
        <p:spPr/>
        <p:txBody>
          <a:bodyPr/>
          <a:lstStyle/>
          <a:p>
            <a:r>
              <a:rPr lang="en-IN" dirty="0"/>
              <a:t>There is always one contrary to the Rule</a:t>
            </a:r>
          </a:p>
        </p:txBody>
      </p:sp>
      <p:pic>
        <p:nvPicPr>
          <p:cNvPr id="6146" name="Picture 2" descr="Image result for exception handling"/>
          <p:cNvPicPr>
            <a:picLocks noGrp="1" noChangeAspect="1" noChangeArrowheads="1"/>
          </p:cNvPicPr>
          <p:nvPr>
            <p:ph type="pic" sz="quarter" idx="13"/>
          </p:nvPr>
        </p:nvPicPr>
        <p:blipFill>
          <a:blip r:embed="rId2">
            <a:extLst>
              <a:ext uri="{28A0092B-C50C-407E-A947-70E740481C1C}">
                <a14:useLocalDpi xmlns:a14="http://schemas.microsoft.com/office/drawing/2010/main" val="0"/>
              </a:ext>
            </a:extLst>
          </a:blip>
          <a:srcRect l="15181" r="15181"/>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850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Exception Handling </a:t>
            </a:r>
          </a:p>
        </p:txBody>
      </p:sp>
      <p:sp>
        <p:nvSpPr>
          <p:cNvPr id="5" name="Slide Number Placeholder 4"/>
          <p:cNvSpPr>
            <a:spLocks noGrp="1"/>
          </p:cNvSpPr>
          <p:nvPr>
            <p:ph type="sldNum" sz="quarter" idx="12"/>
          </p:nvPr>
        </p:nvSpPr>
        <p:spPr/>
        <p:txBody>
          <a:bodyPr/>
          <a:lstStyle/>
          <a:p>
            <a:fld id="{401CF334-2D5C-4859-84A6-CA7E6E43FAEB}" type="slidenum">
              <a:rPr lang="en-US" smtClean="0"/>
              <a:t>52</a:t>
            </a:fld>
            <a:endParaRPr lang="en-US" dirty="0"/>
          </a:p>
        </p:txBody>
      </p:sp>
      <p:sp>
        <p:nvSpPr>
          <p:cNvPr id="2" name="Content Placeholder 1"/>
          <p:cNvSpPr>
            <a:spLocks noGrp="1"/>
          </p:cNvSpPr>
          <p:nvPr>
            <p:ph idx="1"/>
          </p:nvPr>
        </p:nvSpPr>
        <p:spPr>
          <a:xfrm>
            <a:off x="176212" y="1371600"/>
            <a:ext cx="11901488" cy="5943600"/>
          </a:xfrm>
        </p:spPr>
        <p:txBody>
          <a:bodyPr>
            <a:noAutofit/>
          </a:bodyPr>
          <a:lstStyle/>
          <a:p>
            <a:pPr>
              <a:lnSpc>
                <a:spcPct val="150000"/>
              </a:lnSpc>
            </a:pPr>
            <a:r>
              <a:rPr lang="en-US" sz="2400" dirty="0">
                <a:latin typeface="Corbel" panose="020B0503020204020204" pitchFamily="34" charset="0"/>
              </a:rPr>
              <a:t>An </a:t>
            </a:r>
            <a:r>
              <a:rPr lang="en-US" sz="2400" b="1" dirty="0">
                <a:latin typeface="Corbel" panose="020B0503020204020204" pitchFamily="34" charset="0"/>
              </a:rPr>
              <a:t>exception </a:t>
            </a:r>
            <a:r>
              <a:rPr lang="en-US" sz="2400" dirty="0">
                <a:latin typeface="Corbel" panose="020B0503020204020204" pitchFamily="34" charset="0"/>
              </a:rPr>
              <a:t>is a problem that arises during the </a:t>
            </a:r>
            <a:r>
              <a:rPr lang="en-US" sz="2400" b="1" dirty="0">
                <a:latin typeface="Corbel" panose="020B0503020204020204" pitchFamily="34" charset="0"/>
              </a:rPr>
              <a:t>execution of a program</a:t>
            </a:r>
            <a:r>
              <a:rPr lang="en-US" sz="2400" dirty="0">
                <a:latin typeface="Corbel" panose="020B0503020204020204" pitchFamily="34" charset="0"/>
              </a:rPr>
              <a:t>. </a:t>
            </a:r>
          </a:p>
          <a:p>
            <a:pPr>
              <a:lnSpc>
                <a:spcPct val="150000"/>
              </a:lnSpc>
            </a:pPr>
            <a:r>
              <a:rPr lang="en-US" sz="2400" b="1" dirty="0">
                <a:latin typeface="Corbel" panose="020B0503020204020204" pitchFamily="34" charset="0"/>
              </a:rPr>
              <a:t>An exception can occur </a:t>
            </a:r>
            <a:r>
              <a:rPr lang="en-US" sz="2400" dirty="0">
                <a:latin typeface="Corbel" panose="020B0503020204020204" pitchFamily="34" charset="0"/>
              </a:rPr>
              <a:t>for many </a:t>
            </a:r>
            <a:r>
              <a:rPr lang="en-US" sz="2400" b="1" dirty="0">
                <a:latin typeface="Corbel" panose="020B0503020204020204" pitchFamily="34" charset="0"/>
              </a:rPr>
              <a:t>different reasons</a:t>
            </a:r>
            <a:r>
              <a:rPr lang="en-US" sz="2400" dirty="0">
                <a:latin typeface="Corbel" panose="020B0503020204020204" pitchFamily="34" charset="0"/>
              </a:rPr>
              <a:t>, including the following: a user has entered invalid data, a file that needs to be opened cannot be found, a network connection has been lost in the middle of communications, or the JVM has run out of memory.</a:t>
            </a:r>
          </a:p>
          <a:p>
            <a:pPr>
              <a:lnSpc>
                <a:spcPct val="150000"/>
              </a:lnSpc>
            </a:pPr>
            <a:r>
              <a:rPr lang="en-US" sz="2400" dirty="0">
                <a:latin typeface="Corbel" panose="020B0503020204020204" pitchFamily="34" charset="0"/>
              </a:rPr>
              <a:t>Some of these exceptions are </a:t>
            </a:r>
            <a:r>
              <a:rPr lang="en-US" sz="2400" b="1" dirty="0">
                <a:latin typeface="Corbel" panose="020B0503020204020204" pitchFamily="34" charset="0"/>
              </a:rPr>
              <a:t>caused by user error</a:t>
            </a:r>
            <a:r>
              <a:rPr lang="en-US" sz="2400" dirty="0">
                <a:latin typeface="Corbel" panose="020B0503020204020204" pitchFamily="34" charset="0"/>
              </a:rPr>
              <a:t>, others by </a:t>
            </a:r>
            <a:r>
              <a:rPr lang="en-US" sz="2400" b="1" dirty="0">
                <a:latin typeface="Corbel" panose="020B0503020204020204" pitchFamily="34" charset="0"/>
              </a:rPr>
              <a:t>programmer error</a:t>
            </a:r>
            <a:r>
              <a:rPr lang="en-US" sz="2400" dirty="0">
                <a:latin typeface="Corbel" panose="020B0503020204020204" pitchFamily="34" charset="0"/>
              </a:rPr>
              <a:t>, and others by </a:t>
            </a:r>
            <a:r>
              <a:rPr lang="en-US" sz="2400" b="1" dirty="0">
                <a:latin typeface="Corbel" panose="020B0503020204020204" pitchFamily="34" charset="0"/>
              </a:rPr>
              <a:t>physical resources </a:t>
            </a:r>
            <a:r>
              <a:rPr lang="en-US" sz="2400" dirty="0">
                <a:latin typeface="Corbel" panose="020B0503020204020204" pitchFamily="34" charset="0"/>
              </a:rPr>
              <a:t>that have failed in some manner.</a:t>
            </a:r>
          </a:p>
          <a:p>
            <a:pPr>
              <a:lnSpc>
                <a:spcPct val="150000"/>
              </a:lnSpc>
            </a:pPr>
            <a:r>
              <a:rPr lang="en-US" sz="2400" b="1" dirty="0">
                <a:latin typeface="Corbel" panose="020B0503020204020204" pitchFamily="34" charset="0"/>
              </a:rPr>
              <a:t>Exception handling </a:t>
            </a:r>
            <a:r>
              <a:rPr lang="en-US" sz="2400" dirty="0">
                <a:latin typeface="Corbel" panose="020B0503020204020204" pitchFamily="34" charset="0"/>
              </a:rPr>
              <a:t>is yet another </a:t>
            </a:r>
            <a:r>
              <a:rPr lang="en-US" sz="2400" b="1" dirty="0">
                <a:latin typeface="Corbel" panose="020B0503020204020204" pitchFamily="34" charset="0"/>
              </a:rPr>
              <a:t>fundamental aspect of Java </a:t>
            </a:r>
            <a:r>
              <a:rPr lang="en-US" sz="2400" dirty="0">
                <a:latin typeface="Corbel" panose="020B0503020204020204" pitchFamily="34" charset="0"/>
              </a:rPr>
              <a:t>that must be understood before the more advanced APIs of the language can be used.</a:t>
            </a:r>
            <a:endParaRPr lang="en-US" sz="2400" b="1" i="1" dirty="0">
              <a:latin typeface="Corbel" panose="020B0503020204020204" pitchFamily="34" charset="0"/>
            </a:endParaRPr>
          </a:p>
        </p:txBody>
      </p:sp>
    </p:spTree>
    <p:extLst>
      <p:ext uri="{BB962C8B-B14F-4D97-AF65-F5344CB8AC3E}">
        <p14:creationId xmlns:p14="http://schemas.microsoft.com/office/powerpoint/2010/main" val="436854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Exception Categories </a:t>
            </a:r>
          </a:p>
        </p:txBody>
      </p:sp>
      <p:sp>
        <p:nvSpPr>
          <p:cNvPr id="5" name="Slide Number Placeholder 4"/>
          <p:cNvSpPr>
            <a:spLocks noGrp="1"/>
          </p:cNvSpPr>
          <p:nvPr>
            <p:ph type="sldNum" sz="quarter" idx="12"/>
          </p:nvPr>
        </p:nvSpPr>
        <p:spPr/>
        <p:txBody>
          <a:bodyPr/>
          <a:lstStyle/>
          <a:p>
            <a:fld id="{401CF334-2D5C-4859-84A6-CA7E6E43FAEB}" type="slidenum">
              <a:rPr lang="en-US" smtClean="0"/>
              <a:t>53</a:t>
            </a:fld>
            <a:endParaRPr lang="en-US" dirty="0"/>
          </a:p>
        </p:txBody>
      </p:sp>
      <p:sp>
        <p:nvSpPr>
          <p:cNvPr id="2" name="Content Placeholder 1"/>
          <p:cNvSpPr>
            <a:spLocks noGrp="1"/>
          </p:cNvSpPr>
          <p:nvPr>
            <p:ph idx="1"/>
          </p:nvPr>
        </p:nvSpPr>
        <p:spPr>
          <a:xfrm>
            <a:off x="176212" y="1371600"/>
            <a:ext cx="11901488" cy="5943600"/>
          </a:xfrm>
        </p:spPr>
        <p:txBody>
          <a:bodyPr>
            <a:noAutofit/>
          </a:bodyPr>
          <a:lstStyle/>
          <a:p>
            <a:pPr>
              <a:lnSpc>
                <a:spcPct val="150000"/>
              </a:lnSpc>
            </a:pPr>
            <a:r>
              <a:rPr lang="en-US" sz="2200" b="1" dirty="0">
                <a:latin typeface="Corbel" panose="020B0503020204020204" pitchFamily="34" charset="0"/>
              </a:rPr>
              <a:t>Checked exceptions: </a:t>
            </a:r>
            <a:r>
              <a:rPr lang="en-US" sz="2200" dirty="0">
                <a:latin typeface="Corbel" panose="020B0503020204020204" pitchFamily="34" charset="0"/>
              </a:rPr>
              <a:t>A checked exception is an </a:t>
            </a:r>
            <a:r>
              <a:rPr lang="en-US" sz="2200" b="1" dirty="0">
                <a:latin typeface="Corbel" panose="020B0503020204020204" pitchFamily="34" charset="0"/>
              </a:rPr>
              <a:t>exception</a:t>
            </a:r>
            <a:r>
              <a:rPr lang="en-US" sz="2200" dirty="0">
                <a:latin typeface="Corbel" panose="020B0503020204020204" pitchFamily="34" charset="0"/>
              </a:rPr>
              <a:t> that is typically a </a:t>
            </a:r>
            <a:r>
              <a:rPr lang="en-US" sz="2200" b="1" dirty="0">
                <a:latin typeface="Corbel" panose="020B0503020204020204" pitchFamily="34" charset="0"/>
              </a:rPr>
              <a:t>user error or a problem that cannot be foreseen by the programmer</a:t>
            </a:r>
            <a:r>
              <a:rPr lang="en-US" sz="2200" dirty="0">
                <a:latin typeface="Corbel" panose="020B0503020204020204" pitchFamily="34" charset="0"/>
              </a:rPr>
              <a:t>. For example, if a file is to be opened, but the file cannot be found, an exception occurs. Because this type of exception is a </a:t>
            </a:r>
            <a:r>
              <a:rPr lang="en-US" sz="2200" b="1" dirty="0">
                <a:latin typeface="Corbel" panose="020B0503020204020204" pitchFamily="34" charset="0"/>
              </a:rPr>
              <a:t>checked exception</a:t>
            </a:r>
            <a:r>
              <a:rPr lang="en-US" sz="2200" dirty="0">
                <a:latin typeface="Corbel" panose="020B0503020204020204" pitchFamily="34" charset="0"/>
              </a:rPr>
              <a:t>, it must be </a:t>
            </a:r>
            <a:r>
              <a:rPr lang="en-US" sz="2200" b="1" dirty="0">
                <a:latin typeface="Corbel" panose="020B0503020204020204" pitchFamily="34" charset="0"/>
              </a:rPr>
              <a:t>dealt with in Java </a:t>
            </a:r>
            <a:r>
              <a:rPr lang="en-US" sz="2200" dirty="0">
                <a:latin typeface="Corbel" panose="020B0503020204020204" pitchFamily="34" charset="0"/>
              </a:rPr>
              <a:t>and </a:t>
            </a:r>
            <a:r>
              <a:rPr lang="en-US" sz="2200" b="1" dirty="0">
                <a:latin typeface="Corbel" panose="020B0503020204020204" pitchFamily="34" charset="0"/>
              </a:rPr>
              <a:t>cannot simply be ignored </a:t>
            </a:r>
          </a:p>
          <a:p>
            <a:pPr>
              <a:lnSpc>
                <a:spcPct val="150000"/>
              </a:lnSpc>
            </a:pPr>
            <a:r>
              <a:rPr lang="en-US" sz="2200" b="1" dirty="0">
                <a:latin typeface="Corbel" panose="020B0503020204020204" pitchFamily="34" charset="0"/>
              </a:rPr>
              <a:t>Runtime exceptions. A runtime exception </a:t>
            </a:r>
            <a:r>
              <a:rPr lang="en-US" sz="2200" dirty="0">
                <a:latin typeface="Corbel" panose="020B0503020204020204" pitchFamily="34" charset="0"/>
              </a:rPr>
              <a:t>is an exception </a:t>
            </a:r>
            <a:r>
              <a:rPr lang="en-US" sz="2200" b="1" dirty="0">
                <a:latin typeface="Corbel" panose="020B0503020204020204" pitchFamily="34" charset="0"/>
              </a:rPr>
              <a:t>that occurs </a:t>
            </a:r>
            <a:r>
              <a:rPr lang="en-US" sz="2200" dirty="0">
                <a:latin typeface="Corbel" panose="020B0503020204020204" pitchFamily="34" charset="0"/>
              </a:rPr>
              <a:t>that probably could have been </a:t>
            </a:r>
            <a:r>
              <a:rPr lang="en-US" sz="2200" b="1" dirty="0">
                <a:latin typeface="Corbel" panose="020B0503020204020204" pitchFamily="34" charset="0"/>
              </a:rPr>
              <a:t>avoided by the programmer</a:t>
            </a:r>
            <a:r>
              <a:rPr lang="en-US" sz="2200" dirty="0">
                <a:latin typeface="Corbel" panose="020B0503020204020204" pitchFamily="34" charset="0"/>
              </a:rPr>
              <a:t>. As opposed to checked exceptions, </a:t>
            </a:r>
            <a:r>
              <a:rPr lang="en-US" sz="2200" b="1" dirty="0">
                <a:latin typeface="Corbel" panose="020B0503020204020204" pitchFamily="34" charset="0"/>
              </a:rPr>
              <a:t>runtime exceptions can be ignored </a:t>
            </a:r>
            <a:r>
              <a:rPr lang="en-US" sz="2200" dirty="0">
                <a:latin typeface="Corbel" panose="020B0503020204020204" pitchFamily="34" charset="0"/>
              </a:rPr>
              <a:t>(and should be, in most cases). You should let a runtime exception crash your program, then find the problem and change your code so that the exception does not arise again. Examples of runtime exceptions include </a:t>
            </a:r>
            <a:r>
              <a:rPr lang="en-US" sz="2200" b="1" dirty="0">
                <a:latin typeface="Corbel" panose="020B0503020204020204" pitchFamily="34" charset="0"/>
              </a:rPr>
              <a:t>running off the end of an array</a:t>
            </a:r>
            <a:r>
              <a:rPr lang="en-US" sz="2200" dirty="0">
                <a:latin typeface="Corbel" panose="020B0503020204020204" pitchFamily="34" charset="0"/>
              </a:rPr>
              <a:t>, </a:t>
            </a:r>
            <a:r>
              <a:rPr lang="en-US" sz="2200" b="1" dirty="0">
                <a:latin typeface="Corbel" panose="020B0503020204020204" pitchFamily="34" charset="0"/>
              </a:rPr>
              <a:t>integer division by zero</a:t>
            </a:r>
            <a:r>
              <a:rPr lang="en-US" sz="2200" dirty="0">
                <a:latin typeface="Corbel" panose="020B0503020204020204" pitchFamily="34" charset="0"/>
              </a:rPr>
              <a:t>, referencing a </a:t>
            </a:r>
            <a:r>
              <a:rPr lang="en-US" sz="2200" b="1" dirty="0">
                <a:latin typeface="Corbel" panose="020B0503020204020204" pitchFamily="34" charset="0"/>
              </a:rPr>
              <a:t>null reference</a:t>
            </a:r>
            <a:r>
              <a:rPr lang="en-US" sz="2200" dirty="0">
                <a:latin typeface="Corbel" panose="020B0503020204020204" pitchFamily="34" charset="0"/>
              </a:rPr>
              <a:t>, and </a:t>
            </a:r>
            <a:r>
              <a:rPr lang="en-US" sz="2200" b="1" dirty="0">
                <a:latin typeface="Corbel" panose="020B0503020204020204" pitchFamily="34" charset="0"/>
              </a:rPr>
              <a:t>casting a reference to an invalid data type</a:t>
            </a:r>
            <a:r>
              <a:rPr lang="en-US" sz="2200" dirty="0">
                <a:latin typeface="Corbel" panose="020B0503020204020204" pitchFamily="34" charset="0"/>
              </a:rPr>
              <a:t>.</a:t>
            </a:r>
          </a:p>
        </p:txBody>
      </p:sp>
    </p:spTree>
    <p:extLst>
      <p:ext uri="{BB962C8B-B14F-4D97-AF65-F5344CB8AC3E}">
        <p14:creationId xmlns:p14="http://schemas.microsoft.com/office/powerpoint/2010/main" val="2361774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900" y="360091"/>
            <a:ext cx="10972800" cy="866267"/>
          </a:xfrm>
        </p:spPr>
        <p:txBody>
          <a:bodyPr>
            <a:noAutofit/>
          </a:bodyPr>
          <a:lstStyle/>
          <a:p>
            <a:r>
              <a:rPr lang="en-US" sz="3600" dirty="0"/>
              <a:t>Exception Categories </a:t>
            </a:r>
          </a:p>
        </p:txBody>
      </p:sp>
      <p:sp>
        <p:nvSpPr>
          <p:cNvPr id="5" name="Slide Number Placeholder 4"/>
          <p:cNvSpPr>
            <a:spLocks noGrp="1"/>
          </p:cNvSpPr>
          <p:nvPr>
            <p:ph type="sldNum" sz="quarter" idx="12"/>
          </p:nvPr>
        </p:nvSpPr>
        <p:spPr/>
        <p:txBody>
          <a:bodyPr/>
          <a:lstStyle/>
          <a:p>
            <a:fld id="{401CF334-2D5C-4859-84A6-CA7E6E43FAEB}" type="slidenum">
              <a:rPr lang="en-US" smtClean="0"/>
              <a:t>54</a:t>
            </a:fld>
            <a:endParaRPr lang="en-US" dirty="0"/>
          </a:p>
        </p:txBody>
      </p:sp>
      <p:sp>
        <p:nvSpPr>
          <p:cNvPr id="2" name="Content Placeholder 1"/>
          <p:cNvSpPr>
            <a:spLocks noGrp="1"/>
          </p:cNvSpPr>
          <p:nvPr>
            <p:ph idx="1"/>
          </p:nvPr>
        </p:nvSpPr>
        <p:spPr>
          <a:xfrm>
            <a:off x="176212" y="1371600"/>
            <a:ext cx="11901488" cy="5943600"/>
          </a:xfrm>
        </p:spPr>
        <p:txBody>
          <a:bodyPr>
            <a:noAutofit/>
          </a:bodyPr>
          <a:lstStyle/>
          <a:p>
            <a:pPr>
              <a:lnSpc>
                <a:spcPct val="150000"/>
              </a:lnSpc>
            </a:pPr>
            <a:r>
              <a:rPr lang="en-US" sz="2200" b="1" dirty="0">
                <a:latin typeface="Corbel" panose="020B0503020204020204" pitchFamily="34" charset="0"/>
              </a:rPr>
              <a:t>Errors. </a:t>
            </a:r>
            <a:r>
              <a:rPr lang="en-US" sz="2200" dirty="0">
                <a:latin typeface="Corbel" panose="020B0503020204020204" pitchFamily="34" charset="0"/>
              </a:rPr>
              <a:t>Actually, these are </a:t>
            </a:r>
            <a:r>
              <a:rPr lang="en-US" sz="2200" b="1" dirty="0">
                <a:latin typeface="Corbel" panose="020B0503020204020204" pitchFamily="34" charset="0"/>
              </a:rPr>
              <a:t>not exceptions </a:t>
            </a:r>
            <a:r>
              <a:rPr lang="en-US" sz="2200" dirty="0">
                <a:latin typeface="Corbel" panose="020B0503020204020204" pitchFamily="34" charset="0"/>
              </a:rPr>
              <a:t>at all, </a:t>
            </a:r>
            <a:r>
              <a:rPr lang="en-US" sz="2200" b="1" dirty="0">
                <a:latin typeface="Corbel" panose="020B0503020204020204" pitchFamily="34" charset="0"/>
              </a:rPr>
              <a:t>but problems that arise beyond the control of the user or the programmer</a:t>
            </a:r>
            <a:r>
              <a:rPr lang="en-US" sz="2200" dirty="0">
                <a:latin typeface="Corbel" panose="020B0503020204020204" pitchFamily="34" charset="0"/>
              </a:rPr>
              <a:t>. </a:t>
            </a:r>
          </a:p>
          <a:p>
            <a:pPr>
              <a:lnSpc>
                <a:spcPct val="150000"/>
              </a:lnSpc>
            </a:pPr>
            <a:r>
              <a:rPr lang="en-US" sz="2200" dirty="0">
                <a:latin typeface="Corbel" panose="020B0503020204020204" pitchFamily="34" charset="0"/>
              </a:rPr>
              <a:t>Errors are </a:t>
            </a:r>
            <a:r>
              <a:rPr lang="en-US" sz="2200" b="1" dirty="0">
                <a:latin typeface="Corbel" panose="020B0503020204020204" pitchFamily="34" charset="0"/>
              </a:rPr>
              <a:t>typically ignored in your code </a:t>
            </a:r>
            <a:r>
              <a:rPr lang="en-US" sz="2200" dirty="0">
                <a:latin typeface="Corbel" panose="020B0503020204020204" pitchFamily="34" charset="0"/>
              </a:rPr>
              <a:t>because you can rarely do anything about an error, even if you wanted your program to fix the problem. </a:t>
            </a:r>
          </a:p>
          <a:p>
            <a:pPr>
              <a:lnSpc>
                <a:spcPct val="150000"/>
              </a:lnSpc>
            </a:pPr>
            <a:r>
              <a:rPr lang="en-US" sz="2200" dirty="0">
                <a:latin typeface="Corbel" panose="020B0503020204020204" pitchFamily="34" charset="0"/>
              </a:rPr>
              <a:t>For example, </a:t>
            </a:r>
            <a:r>
              <a:rPr lang="en-US" sz="2200" b="1" dirty="0">
                <a:latin typeface="Corbel" panose="020B0503020204020204" pitchFamily="34" charset="0"/>
              </a:rPr>
              <a:t>if a stack overflow occurs</a:t>
            </a:r>
            <a:r>
              <a:rPr lang="en-US" sz="2200" dirty="0">
                <a:latin typeface="Corbel" panose="020B0503020204020204" pitchFamily="34" charset="0"/>
              </a:rPr>
              <a:t>, an error will arise. </a:t>
            </a:r>
          </a:p>
          <a:p>
            <a:pPr>
              <a:lnSpc>
                <a:spcPct val="150000"/>
              </a:lnSpc>
            </a:pPr>
            <a:r>
              <a:rPr lang="en-US" sz="2200" dirty="0">
                <a:latin typeface="Corbel" panose="020B0503020204020204" pitchFamily="34" charset="0"/>
              </a:rPr>
              <a:t>However, because </a:t>
            </a:r>
            <a:r>
              <a:rPr lang="en-US" sz="2200" b="1" dirty="0">
                <a:latin typeface="Corbel" panose="020B0503020204020204" pitchFamily="34" charset="0"/>
              </a:rPr>
              <a:t>you are out of memory</a:t>
            </a:r>
            <a:r>
              <a:rPr lang="en-US" sz="2200" dirty="0">
                <a:latin typeface="Corbel" panose="020B0503020204020204" pitchFamily="34" charset="0"/>
              </a:rPr>
              <a:t>, your program will be </a:t>
            </a:r>
            <a:r>
              <a:rPr lang="en-US" sz="2200" b="1" dirty="0">
                <a:latin typeface="Corbel" panose="020B0503020204020204" pitchFamily="34" charset="0"/>
              </a:rPr>
              <a:t>unable to continue executing</a:t>
            </a:r>
            <a:r>
              <a:rPr lang="en-US" sz="2200" dirty="0">
                <a:latin typeface="Corbel" panose="020B0503020204020204" pitchFamily="34" charset="0"/>
              </a:rPr>
              <a:t>. Any code you have written that attempts to fix the problem won’t get a chance to execute anyway, so errors are often ignored when designing and writing Java applications.</a:t>
            </a:r>
            <a:endParaRPr lang="en-US" sz="2200" b="1" i="1" dirty="0">
              <a:latin typeface="Corbel" panose="020B0503020204020204" pitchFamily="34" charset="0"/>
            </a:endParaRPr>
          </a:p>
        </p:txBody>
      </p:sp>
    </p:spTree>
    <p:extLst>
      <p:ext uri="{BB962C8B-B14F-4D97-AF65-F5344CB8AC3E}">
        <p14:creationId xmlns:p14="http://schemas.microsoft.com/office/powerpoint/2010/main" val="3053499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Happens during Exception</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55</a:t>
            </a:fld>
            <a:endParaRPr lang="en-US"/>
          </a:p>
        </p:txBody>
      </p:sp>
      <p:pic>
        <p:nvPicPr>
          <p:cNvPr id="5" name="Picture 4"/>
          <p:cNvPicPr>
            <a:picLocks noChangeAspect="1"/>
          </p:cNvPicPr>
          <p:nvPr/>
        </p:nvPicPr>
        <p:blipFill>
          <a:blip r:embed="rId2"/>
          <a:stretch>
            <a:fillRect/>
          </a:stretch>
        </p:blipFill>
        <p:spPr>
          <a:xfrm>
            <a:off x="7538278" y="1818025"/>
            <a:ext cx="4219553" cy="4371452"/>
          </a:xfrm>
          <a:prstGeom prst="rect">
            <a:avLst/>
          </a:prstGeom>
        </p:spPr>
      </p:pic>
      <p:sp>
        <p:nvSpPr>
          <p:cNvPr id="6" name="Rectangle 5"/>
          <p:cNvSpPr/>
          <p:nvPr/>
        </p:nvSpPr>
        <p:spPr>
          <a:xfrm>
            <a:off x="387114" y="1348800"/>
            <a:ext cx="6994074" cy="4832092"/>
          </a:xfrm>
          <a:prstGeom prst="rect">
            <a:avLst/>
          </a:prstGeom>
        </p:spPr>
        <p:txBody>
          <a:bodyPr wrap="square">
            <a:spAutoFit/>
          </a:bodyPr>
          <a:lstStyle/>
          <a:p>
            <a:pPr marL="285750" indent="-285750">
              <a:buFont typeface="Arial" panose="020B0604020202020204" pitchFamily="34" charset="0"/>
              <a:buChar char="•"/>
            </a:pPr>
            <a:r>
              <a:rPr lang="en-US" sz="2200" dirty="0">
                <a:latin typeface="Corbel" panose="020B0503020204020204" pitchFamily="34" charset="0"/>
              </a:rPr>
              <a:t>The </a:t>
            </a:r>
            <a:r>
              <a:rPr lang="en-US" sz="2200" b="1" dirty="0">
                <a:latin typeface="Corbel" panose="020B0503020204020204" pitchFamily="34" charset="0"/>
              </a:rPr>
              <a:t>runtime system searches </a:t>
            </a:r>
            <a:r>
              <a:rPr lang="en-US" sz="2200" dirty="0">
                <a:latin typeface="Corbel" panose="020B0503020204020204" pitchFamily="34" charset="0"/>
              </a:rPr>
              <a:t>the </a:t>
            </a:r>
            <a:r>
              <a:rPr lang="en-US" sz="2200" b="1" dirty="0">
                <a:latin typeface="Corbel" panose="020B0503020204020204" pitchFamily="34" charset="0"/>
              </a:rPr>
              <a:t>call stack </a:t>
            </a:r>
            <a:r>
              <a:rPr lang="en-US" sz="2200" dirty="0">
                <a:latin typeface="Corbel" panose="020B0503020204020204" pitchFamily="34" charset="0"/>
              </a:rPr>
              <a:t>for a </a:t>
            </a:r>
            <a:r>
              <a:rPr lang="en-US" sz="2200" b="1" dirty="0">
                <a:latin typeface="Corbel" panose="020B0503020204020204" pitchFamily="34" charset="0"/>
              </a:rPr>
              <a:t>method that contains an exception Handler</a:t>
            </a:r>
          </a:p>
          <a:p>
            <a:pPr marL="285750" indent="-285750">
              <a:buFont typeface="Arial" panose="020B0604020202020204" pitchFamily="34" charset="0"/>
              <a:buChar char="•"/>
            </a:pPr>
            <a:r>
              <a:rPr lang="en-US" sz="2200" dirty="0">
                <a:latin typeface="Corbel" panose="020B0503020204020204" pitchFamily="34" charset="0"/>
              </a:rPr>
              <a:t>When an </a:t>
            </a:r>
            <a:r>
              <a:rPr lang="en-US" sz="2200" b="1" dirty="0">
                <a:latin typeface="Corbel" panose="020B0503020204020204" pitchFamily="34" charset="0"/>
              </a:rPr>
              <a:t>appropriate handler is found</a:t>
            </a:r>
            <a:r>
              <a:rPr lang="en-US" sz="2200" dirty="0">
                <a:latin typeface="Corbel" panose="020B0503020204020204" pitchFamily="34" charset="0"/>
              </a:rPr>
              <a:t>, the runtime </a:t>
            </a:r>
            <a:r>
              <a:rPr lang="en-US" sz="2200" b="1" dirty="0">
                <a:latin typeface="Corbel" panose="020B0503020204020204" pitchFamily="34" charset="0"/>
              </a:rPr>
              <a:t>system passes the exception to the handler</a:t>
            </a:r>
            <a:r>
              <a:rPr lang="en-US" sz="2200" dirty="0">
                <a:latin typeface="Corbel" panose="020B0503020204020204" pitchFamily="34" charset="0"/>
              </a:rPr>
              <a:t>.</a:t>
            </a:r>
          </a:p>
          <a:p>
            <a:pPr marL="742950" lvl="1" indent="-285750">
              <a:buFont typeface="Arial" panose="020B0604020202020204" pitchFamily="34" charset="0"/>
              <a:buChar char="•"/>
            </a:pPr>
            <a:r>
              <a:rPr lang="en-US" sz="2200" dirty="0">
                <a:latin typeface="Corbel" panose="020B0503020204020204" pitchFamily="34" charset="0"/>
              </a:rPr>
              <a:t> An </a:t>
            </a:r>
            <a:r>
              <a:rPr lang="en-US" sz="2200" b="1" dirty="0">
                <a:latin typeface="Corbel" panose="020B0503020204020204" pitchFamily="34" charset="0"/>
              </a:rPr>
              <a:t>exception handler </a:t>
            </a:r>
            <a:r>
              <a:rPr lang="en-US" sz="2200" dirty="0">
                <a:latin typeface="Corbel" panose="020B0503020204020204" pitchFamily="34" charset="0"/>
              </a:rPr>
              <a:t>is </a:t>
            </a:r>
            <a:r>
              <a:rPr lang="en-US" sz="2200" b="1" dirty="0">
                <a:latin typeface="Corbel" panose="020B0503020204020204" pitchFamily="34" charset="0"/>
              </a:rPr>
              <a:t>considered appropriate </a:t>
            </a:r>
            <a:r>
              <a:rPr lang="en-US" sz="2200" dirty="0">
                <a:latin typeface="Corbel" panose="020B0503020204020204" pitchFamily="34" charset="0"/>
              </a:rPr>
              <a:t>if the </a:t>
            </a:r>
            <a:r>
              <a:rPr lang="en-US" sz="2200" u="sng" dirty="0">
                <a:latin typeface="Corbel" panose="020B0503020204020204" pitchFamily="34" charset="0"/>
              </a:rPr>
              <a:t>type of the  exception object thrown matches the type that  can be handled by the handler</a:t>
            </a:r>
            <a:r>
              <a:rPr lang="en-US" sz="2200" dirty="0">
                <a:latin typeface="Corbel" panose="020B0503020204020204" pitchFamily="34" charset="0"/>
              </a:rPr>
              <a:t>. </a:t>
            </a:r>
          </a:p>
          <a:p>
            <a:pPr marL="742950" lvl="1" indent="-285750">
              <a:buFont typeface="Arial" panose="020B0604020202020204" pitchFamily="34" charset="0"/>
              <a:buChar char="•"/>
            </a:pPr>
            <a:r>
              <a:rPr lang="en-US" sz="2200" dirty="0">
                <a:latin typeface="Corbel" panose="020B0503020204020204" pitchFamily="34" charset="0"/>
              </a:rPr>
              <a:t>The exception handler chosen is said to catch the exception.</a:t>
            </a:r>
          </a:p>
          <a:p>
            <a:r>
              <a:rPr lang="en-US" sz="2200" dirty="0">
                <a:latin typeface="Corbel" panose="020B0503020204020204" pitchFamily="34" charset="0"/>
              </a:rPr>
              <a:t>● If the runtime system exhaustively searches all the methods on the call stack </a:t>
            </a:r>
            <a:r>
              <a:rPr lang="en-US" sz="2200" b="1" dirty="0">
                <a:latin typeface="Corbel" panose="020B0503020204020204" pitchFamily="34" charset="0"/>
              </a:rPr>
              <a:t>without finding an appropriate exception handler</a:t>
            </a:r>
            <a:r>
              <a:rPr lang="en-US" sz="2200" dirty="0">
                <a:latin typeface="Corbel" panose="020B0503020204020204" pitchFamily="34" charset="0"/>
              </a:rPr>
              <a:t>, the </a:t>
            </a:r>
            <a:r>
              <a:rPr lang="en-US" sz="2200" b="1" dirty="0">
                <a:latin typeface="Corbel" panose="020B0503020204020204" pitchFamily="34" charset="0"/>
              </a:rPr>
              <a:t>runtime system </a:t>
            </a:r>
            <a:r>
              <a:rPr lang="en-US" sz="2200" dirty="0">
                <a:latin typeface="Corbel" panose="020B0503020204020204" pitchFamily="34" charset="0"/>
              </a:rPr>
              <a:t>(and, consequently, the program) </a:t>
            </a:r>
            <a:r>
              <a:rPr lang="en-US" sz="2200" b="1" dirty="0">
                <a:latin typeface="Corbel" panose="020B0503020204020204" pitchFamily="34" charset="0"/>
              </a:rPr>
              <a:t>terminates and uses the default exception handler</a:t>
            </a:r>
          </a:p>
        </p:txBody>
      </p:sp>
    </p:spTree>
    <p:extLst>
      <p:ext uri="{BB962C8B-B14F-4D97-AF65-F5344CB8AC3E}">
        <p14:creationId xmlns:p14="http://schemas.microsoft.com/office/powerpoint/2010/main" val="94273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What Happens during Exception</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56</a:t>
            </a:fld>
            <a:endParaRPr lang="en-US"/>
          </a:p>
        </p:txBody>
      </p:sp>
      <p:pic>
        <p:nvPicPr>
          <p:cNvPr id="5" name="Picture 4"/>
          <p:cNvPicPr>
            <a:picLocks noChangeAspect="1"/>
          </p:cNvPicPr>
          <p:nvPr/>
        </p:nvPicPr>
        <p:blipFill>
          <a:blip r:embed="rId2"/>
          <a:stretch>
            <a:fillRect/>
          </a:stretch>
        </p:blipFill>
        <p:spPr>
          <a:xfrm>
            <a:off x="8420797" y="1676044"/>
            <a:ext cx="3384089" cy="3505912"/>
          </a:xfrm>
          <a:prstGeom prst="rect">
            <a:avLst/>
          </a:prstGeom>
        </p:spPr>
      </p:pic>
      <p:sp>
        <p:nvSpPr>
          <p:cNvPr id="6" name="Rectangle 5"/>
          <p:cNvSpPr/>
          <p:nvPr/>
        </p:nvSpPr>
        <p:spPr>
          <a:xfrm>
            <a:off x="387113" y="1348800"/>
            <a:ext cx="7872303" cy="4524315"/>
          </a:xfrm>
          <a:prstGeom prst="rect">
            <a:avLst/>
          </a:prstGeom>
        </p:spPr>
        <p:txBody>
          <a:bodyPr wrap="square">
            <a:spAutoFit/>
          </a:bodyPr>
          <a:lstStyle/>
          <a:p>
            <a:r>
              <a:rPr lang="en-US" dirty="0">
                <a:latin typeface="Corbel" panose="020B0503020204020204" pitchFamily="34" charset="0"/>
              </a:rPr>
              <a:t>With an exception heading its way, method1() has three choices:</a:t>
            </a:r>
          </a:p>
          <a:p>
            <a:pPr marL="285750" indent="-285750">
              <a:buFont typeface="Arial" panose="020B0604020202020204" pitchFamily="34" charset="0"/>
              <a:buChar char="•"/>
            </a:pPr>
            <a:r>
              <a:rPr lang="en-US" dirty="0">
                <a:latin typeface="Corbel" panose="020B0503020204020204" pitchFamily="34" charset="0"/>
              </a:rPr>
              <a:t>Catch the exception so that it does not go any further down the call stack. </a:t>
            </a:r>
          </a:p>
          <a:p>
            <a:pPr marL="285750" indent="-285750">
              <a:buFont typeface="Arial" panose="020B0604020202020204" pitchFamily="34" charset="0"/>
              <a:buChar char="•"/>
            </a:pPr>
            <a:r>
              <a:rPr lang="en-US" dirty="0">
                <a:latin typeface="Corbel" panose="020B0503020204020204" pitchFamily="34" charset="0"/>
              </a:rPr>
              <a:t>Catch the exception, then throw it back down the call stack. </a:t>
            </a:r>
          </a:p>
          <a:p>
            <a:pPr marL="285750" indent="-285750">
              <a:buFont typeface="Arial" panose="020B0604020202020204" pitchFamily="34" charset="0"/>
              <a:buChar char="•"/>
            </a:pPr>
            <a:r>
              <a:rPr lang="en-US" dirty="0">
                <a:latin typeface="Corbel" panose="020B0503020204020204" pitchFamily="34" charset="0"/>
              </a:rPr>
              <a:t>Not catch the exception, thereby causing method1() to be popped off the call stack, with the exception continuing down the call stack </a:t>
            </a:r>
            <a:r>
              <a:rPr lang="en-IN" dirty="0">
                <a:latin typeface="Corbel" panose="020B0503020204020204" pitchFamily="34" charset="0"/>
              </a:rPr>
              <a:t>to main().</a:t>
            </a:r>
          </a:p>
          <a:p>
            <a:endParaRPr lang="en-IN" dirty="0">
              <a:latin typeface="Corbel" panose="020B0503020204020204" pitchFamily="34" charset="0"/>
            </a:endParaRPr>
          </a:p>
          <a:p>
            <a:r>
              <a:rPr lang="en-US" dirty="0">
                <a:latin typeface="Corbel" panose="020B0503020204020204" pitchFamily="34" charset="0"/>
              </a:rPr>
              <a:t>This flow of control continues down the call stack, no matter how many</a:t>
            </a:r>
          </a:p>
          <a:p>
            <a:r>
              <a:rPr lang="en-US" dirty="0">
                <a:latin typeface="Corbel" panose="020B0503020204020204" pitchFamily="34" charset="0"/>
              </a:rPr>
              <a:t>methods appear on the call stack. Each method further down the call stack either catches the exception and stops this process, catches the exception and throws it again, or simply does nothing and lets the exception fall through to </a:t>
            </a:r>
            <a:r>
              <a:rPr lang="en-IN" dirty="0">
                <a:latin typeface="Corbel" panose="020B0503020204020204" pitchFamily="34" charset="0"/>
              </a:rPr>
              <a:t>the next method.</a:t>
            </a:r>
          </a:p>
          <a:p>
            <a:r>
              <a:rPr lang="en-US" dirty="0">
                <a:latin typeface="Corbel" panose="020B0503020204020204" pitchFamily="34" charset="0"/>
              </a:rPr>
              <a:t>What happens when we reach the bottom of the call stack? Well, if an exception is thrown to main(), then main() had better catch the exception or the program will terminate. When an exception reaches the bottom of a call stack and no method has stopped it along the way, the JVM will crash and inform you of the details of the exception.</a:t>
            </a:r>
            <a:endParaRPr lang="en-US" sz="2200" b="1" dirty="0">
              <a:latin typeface="Corbel" panose="020B0503020204020204" pitchFamily="34" charset="0"/>
            </a:endParaRPr>
          </a:p>
        </p:txBody>
      </p:sp>
    </p:spTree>
    <p:extLst>
      <p:ext uri="{BB962C8B-B14F-4D97-AF65-F5344CB8AC3E}">
        <p14:creationId xmlns:p14="http://schemas.microsoft.com/office/powerpoint/2010/main" val="1901973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a:t>Exception Example</a:t>
            </a:r>
          </a:p>
        </p:txBody>
      </p:sp>
      <p:sp>
        <p:nvSpPr>
          <p:cNvPr id="4" name="Rectangle 1"/>
          <p:cNvSpPr>
            <a:spLocks noChangeArrowheads="1"/>
          </p:cNvSpPr>
          <p:nvPr/>
        </p:nvSpPr>
        <p:spPr bwMode="auto">
          <a:xfrm>
            <a:off x="5859396" y="333"/>
            <a:ext cx="473207" cy="456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ctr"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8229600" y="1217335"/>
            <a:ext cx="3900489" cy="517064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Corbel" panose="020B0503020204020204" pitchFamily="34" charset="0"/>
              </a:rPr>
              <a:t>Let’s look at an example of what happens when an exception is ignored all the way down the call stack. </a:t>
            </a:r>
          </a:p>
          <a:p>
            <a:pPr marL="342900" indent="-342900">
              <a:lnSpc>
                <a:spcPct val="150000"/>
              </a:lnSpc>
              <a:buFont typeface="Arial" panose="020B0604020202020204" pitchFamily="34" charset="0"/>
              <a:buChar char="•"/>
            </a:pPr>
            <a:r>
              <a:rPr lang="en-US" sz="2000" dirty="0">
                <a:latin typeface="Corbel" panose="020B0503020204020204" pitchFamily="34" charset="0"/>
              </a:rPr>
              <a:t>The following </a:t>
            </a:r>
            <a:r>
              <a:rPr lang="en-US" sz="2000" dirty="0" err="1">
                <a:latin typeface="Corbel" panose="020B0503020204020204" pitchFamily="34" charset="0"/>
              </a:rPr>
              <a:t>CrashDemo</a:t>
            </a:r>
            <a:r>
              <a:rPr lang="en-US" sz="2000" dirty="0">
                <a:latin typeface="Corbel" panose="020B0503020204020204" pitchFamily="34" charset="0"/>
              </a:rPr>
              <a:t> program has three methods: main(), method1(), and method2(). </a:t>
            </a:r>
          </a:p>
          <a:p>
            <a:pPr marL="342900" indent="-342900">
              <a:lnSpc>
                <a:spcPct val="150000"/>
              </a:lnSpc>
              <a:buFont typeface="Arial" panose="020B0604020202020204" pitchFamily="34" charset="0"/>
              <a:buChar char="•"/>
            </a:pPr>
            <a:r>
              <a:rPr lang="en-US" sz="2000" b="1" dirty="0">
                <a:latin typeface="Corbel" panose="020B0503020204020204" pitchFamily="34" charset="0"/>
              </a:rPr>
              <a:t>Study the program and try to determine what happens when it executes.</a:t>
            </a:r>
          </a:p>
        </p:txBody>
      </p:sp>
      <p:pic>
        <p:nvPicPr>
          <p:cNvPr id="6" name="Content Placeholder 5"/>
          <p:cNvPicPr>
            <a:picLocks noGrp="1" noChangeAspect="1"/>
          </p:cNvPicPr>
          <p:nvPr>
            <p:ph idx="1"/>
          </p:nvPr>
        </p:nvPicPr>
        <p:blipFill>
          <a:blip r:embed="rId2"/>
          <a:stretch>
            <a:fillRect/>
          </a:stretch>
        </p:blipFill>
        <p:spPr>
          <a:xfrm>
            <a:off x="708963" y="1516657"/>
            <a:ext cx="7306325" cy="5204795"/>
          </a:xfrm>
          <a:prstGeom prst="rect">
            <a:avLst/>
          </a:prstGeom>
        </p:spPr>
      </p:pic>
    </p:spTree>
    <p:extLst>
      <p:ext uri="{BB962C8B-B14F-4D97-AF65-F5344CB8AC3E}">
        <p14:creationId xmlns:p14="http://schemas.microsoft.com/office/powerpoint/2010/main" val="363915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a:t>Exception Example</a:t>
            </a:r>
          </a:p>
        </p:txBody>
      </p:sp>
      <p:sp>
        <p:nvSpPr>
          <p:cNvPr id="4" name="Rectangle 1"/>
          <p:cNvSpPr>
            <a:spLocks noChangeArrowheads="1"/>
          </p:cNvSpPr>
          <p:nvPr/>
        </p:nvSpPr>
        <p:spPr bwMode="auto">
          <a:xfrm>
            <a:off x="5859396" y="333"/>
            <a:ext cx="473207" cy="456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ctr"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228600" y="1217335"/>
            <a:ext cx="11901490" cy="512294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latin typeface="Corbel" panose="020B0503020204020204" pitchFamily="34" charset="0"/>
              </a:rPr>
              <a:t>The </a:t>
            </a:r>
            <a:r>
              <a:rPr lang="en-US" sz="2000" dirty="0" err="1">
                <a:latin typeface="Corbel" panose="020B0503020204020204" pitchFamily="34" charset="0"/>
              </a:rPr>
              <a:t>CrashDemo</a:t>
            </a:r>
            <a:r>
              <a:rPr lang="en-US" sz="2000" dirty="0">
                <a:latin typeface="Corbel" panose="020B0503020204020204" pitchFamily="34" charset="0"/>
              </a:rPr>
              <a:t> program crashes when an </a:t>
            </a:r>
            <a:r>
              <a:rPr lang="en-US" sz="2000" b="1" dirty="0" err="1">
                <a:latin typeface="Corbel" panose="020B0503020204020204" pitchFamily="34" charset="0"/>
              </a:rPr>
              <a:t>ArrayIndexOutOfBoundsException</a:t>
            </a:r>
            <a:r>
              <a:rPr lang="en-US" sz="2000" dirty="0">
                <a:latin typeface="Corbel" panose="020B0503020204020204" pitchFamily="34" charset="0"/>
              </a:rPr>
              <a:t> occurs, which is an </a:t>
            </a:r>
            <a:r>
              <a:rPr lang="en-US" sz="2000" b="1" dirty="0">
                <a:latin typeface="Corbel" panose="020B0503020204020204" pitchFamily="34" charset="0"/>
              </a:rPr>
              <a:t>example of a runtime exception</a:t>
            </a:r>
            <a:r>
              <a:rPr lang="en-US" sz="2000" dirty="0">
                <a:latin typeface="Corbel" panose="020B0503020204020204" pitchFamily="34" charset="0"/>
              </a:rPr>
              <a:t>. Notice from the output of the </a:t>
            </a:r>
            <a:r>
              <a:rPr lang="en-US" sz="2000" dirty="0" err="1">
                <a:latin typeface="Corbel" panose="020B0503020204020204" pitchFamily="34" charset="0"/>
              </a:rPr>
              <a:t>CrashDemo</a:t>
            </a:r>
            <a:r>
              <a:rPr lang="en-US" sz="2000" dirty="0">
                <a:latin typeface="Corbel" panose="020B0503020204020204" pitchFamily="34" charset="0"/>
              </a:rPr>
              <a:t> program that the following statement does not execute in method2(): </a:t>
            </a:r>
          </a:p>
          <a:p>
            <a:pPr marL="342900" indent="-342900">
              <a:lnSpc>
                <a:spcPct val="150000"/>
              </a:lnSpc>
              <a:buFont typeface="Arial" panose="020B0604020202020204" pitchFamily="34" charset="0"/>
              <a:buChar char="•"/>
            </a:pPr>
            <a:r>
              <a:rPr lang="en-US" sz="2000" dirty="0">
                <a:latin typeface="Corbel" panose="020B0503020204020204" pitchFamily="34" charset="0"/>
              </a:rPr>
              <a:t>This exception is </a:t>
            </a:r>
            <a:r>
              <a:rPr lang="en-US" sz="2000" b="1" dirty="0">
                <a:latin typeface="Corbel" panose="020B0503020204020204" pitchFamily="34" charset="0"/>
              </a:rPr>
              <a:t>thrown by the JVM</a:t>
            </a:r>
            <a:r>
              <a:rPr lang="en-US" sz="2000" dirty="0">
                <a:latin typeface="Corbel" panose="020B0503020204020204" pitchFamily="34" charset="0"/>
              </a:rPr>
              <a:t>, which </a:t>
            </a:r>
            <a:r>
              <a:rPr lang="en-US" sz="2000" b="1" dirty="0">
                <a:latin typeface="Corbel" panose="020B0503020204020204" pitchFamily="34" charset="0"/>
              </a:rPr>
              <a:t>pops method2() </a:t>
            </a:r>
            <a:r>
              <a:rPr lang="en-US" sz="2000" dirty="0">
                <a:latin typeface="Corbel" panose="020B0503020204020204" pitchFamily="34" charset="0"/>
              </a:rPr>
              <a:t>off the call stack. Because </a:t>
            </a:r>
            <a:r>
              <a:rPr lang="en-US" sz="2000" b="1" dirty="0">
                <a:latin typeface="Corbel" panose="020B0503020204020204" pitchFamily="34" charset="0"/>
              </a:rPr>
              <a:t>method1() does not do anything </a:t>
            </a:r>
            <a:r>
              <a:rPr lang="en-US" sz="2000" dirty="0">
                <a:latin typeface="Corbel" panose="020B0503020204020204" pitchFamily="34" charset="0"/>
              </a:rPr>
              <a:t>with the exception, </a:t>
            </a:r>
            <a:r>
              <a:rPr lang="en-US" sz="2000" b="1" dirty="0">
                <a:latin typeface="Corbel" panose="020B0503020204020204" pitchFamily="34" charset="0"/>
              </a:rPr>
              <a:t>method1() is popped off the call stack</a:t>
            </a:r>
            <a:r>
              <a:rPr lang="en-US" sz="2000" dirty="0">
                <a:latin typeface="Corbel" panose="020B0503020204020204" pitchFamily="34" charset="0"/>
              </a:rPr>
              <a:t>. </a:t>
            </a:r>
          </a:p>
          <a:p>
            <a:pPr marL="342900" indent="-342900">
              <a:lnSpc>
                <a:spcPct val="150000"/>
              </a:lnSpc>
              <a:buFont typeface="Arial" panose="020B0604020202020204" pitchFamily="34" charset="0"/>
              <a:buChar char="•"/>
            </a:pPr>
            <a:r>
              <a:rPr lang="en-US" sz="2000" dirty="0">
                <a:latin typeface="Corbel" panose="020B0503020204020204" pitchFamily="34" charset="0"/>
              </a:rPr>
              <a:t>Because </a:t>
            </a:r>
            <a:r>
              <a:rPr lang="en-US" sz="2000" b="1" dirty="0">
                <a:latin typeface="Corbel" panose="020B0503020204020204" pitchFamily="34" charset="0"/>
              </a:rPr>
              <a:t>main() ignores the exception </a:t>
            </a:r>
            <a:r>
              <a:rPr lang="en-US" sz="2000" dirty="0">
                <a:latin typeface="Corbel" panose="020B0503020204020204" pitchFamily="34" charset="0"/>
              </a:rPr>
              <a:t>as well, </a:t>
            </a:r>
            <a:r>
              <a:rPr lang="en-US" sz="2000" b="1" dirty="0">
                <a:latin typeface="Corbel" panose="020B0503020204020204" pitchFamily="34" charset="0"/>
              </a:rPr>
              <a:t>main() is popped off the call stack</a:t>
            </a:r>
            <a:r>
              <a:rPr lang="en-US" sz="2000" dirty="0">
                <a:latin typeface="Corbel" panose="020B0503020204020204" pitchFamily="34" charset="0"/>
              </a:rPr>
              <a:t>. </a:t>
            </a:r>
          </a:p>
          <a:p>
            <a:pPr marL="342900" indent="-342900">
              <a:lnSpc>
                <a:spcPct val="150000"/>
              </a:lnSpc>
              <a:buFont typeface="Arial" panose="020B0604020202020204" pitchFamily="34" charset="0"/>
              <a:buChar char="•"/>
            </a:pPr>
            <a:r>
              <a:rPr lang="en-US" sz="2000" dirty="0">
                <a:latin typeface="Corbel" panose="020B0503020204020204" pitchFamily="34" charset="0"/>
              </a:rPr>
              <a:t>The exception is then </a:t>
            </a:r>
            <a:r>
              <a:rPr lang="en-US" sz="2000" b="1" dirty="0">
                <a:latin typeface="Corbel" panose="020B0503020204020204" pitchFamily="34" charset="0"/>
              </a:rPr>
              <a:t>passed on to the JVM</a:t>
            </a:r>
            <a:r>
              <a:rPr lang="en-US" sz="2000" dirty="0">
                <a:latin typeface="Corbel" panose="020B0503020204020204" pitchFamily="34" charset="0"/>
              </a:rPr>
              <a:t>, and the </a:t>
            </a:r>
            <a:r>
              <a:rPr lang="en-US" sz="2000" b="1" dirty="0">
                <a:latin typeface="Corbel" panose="020B0503020204020204" pitchFamily="34" charset="0"/>
              </a:rPr>
              <a:t>JVM prints out the stack trace </a:t>
            </a:r>
            <a:r>
              <a:rPr lang="en-US" sz="2000" dirty="0">
                <a:latin typeface="Corbel" panose="020B0503020204020204" pitchFamily="34" charset="0"/>
              </a:rPr>
              <a:t>before </a:t>
            </a:r>
            <a:r>
              <a:rPr lang="en-US" sz="2000" b="1" dirty="0">
                <a:latin typeface="Corbel" panose="020B0503020204020204" pitchFamily="34" charset="0"/>
              </a:rPr>
              <a:t>terminating</a:t>
            </a:r>
            <a:r>
              <a:rPr lang="en-US" sz="2000" dirty="0">
                <a:latin typeface="Corbel" panose="020B0503020204020204" pitchFamily="34" charset="0"/>
              </a:rPr>
              <a:t>. Notice that the stack trace contains useful information, including the line numbers in the source code where the exception occurred.</a:t>
            </a:r>
          </a:p>
          <a:p>
            <a:pPr marL="342900" indent="-342900">
              <a:lnSpc>
                <a:spcPct val="150000"/>
              </a:lnSpc>
              <a:buFont typeface="Arial" panose="020B0604020202020204" pitchFamily="34" charset="0"/>
              <a:buChar char="•"/>
            </a:pPr>
            <a:r>
              <a:rPr lang="en-US" sz="2000" dirty="0">
                <a:latin typeface="Corbel" panose="020B0503020204020204" pitchFamily="34" charset="0"/>
              </a:rPr>
              <a:t>You can print this stack trace yourself with any exception you catch by using the </a:t>
            </a:r>
            <a:r>
              <a:rPr lang="en-US" sz="2000" dirty="0" err="1">
                <a:latin typeface="Corbel" panose="020B0503020204020204" pitchFamily="34" charset="0"/>
              </a:rPr>
              <a:t>printStackTrace</a:t>
            </a:r>
            <a:r>
              <a:rPr lang="en-US" sz="2000" dirty="0">
                <a:latin typeface="Corbel" panose="020B0503020204020204" pitchFamily="34" charset="0"/>
              </a:rPr>
              <a:t>() method of the </a:t>
            </a:r>
            <a:r>
              <a:rPr lang="en-US" sz="2000" dirty="0" err="1">
                <a:latin typeface="Corbel" panose="020B0503020204020204" pitchFamily="34" charset="0"/>
              </a:rPr>
              <a:t>Throwable</a:t>
            </a:r>
            <a:r>
              <a:rPr lang="en-US" sz="2000" dirty="0">
                <a:latin typeface="Corbel" panose="020B0503020204020204" pitchFamily="34" charset="0"/>
              </a:rPr>
              <a:t> class.</a:t>
            </a:r>
            <a:endParaRPr lang="en-US" sz="2000" b="1" dirty="0">
              <a:latin typeface="Corbel" panose="020B0503020204020204" pitchFamily="34" charset="0"/>
            </a:endParaRPr>
          </a:p>
        </p:txBody>
      </p:sp>
    </p:spTree>
    <p:extLst>
      <p:ext uri="{BB962C8B-B14F-4D97-AF65-F5344CB8AC3E}">
        <p14:creationId xmlns:p14="http://schemas.microsoft.com/office/powerpoint/2010/main" val="1264970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a:t>Error vs Exception</a:t>
            </a:r>
          </a:p>
        </p:txBody>
      </p:sp>
      <p:sp>
        <p:nvSpPr>
          <p:cNvPr id="4" name="Rectangle 1"/>
          <p:cNvSpPr>
            <a:spLocks noChangeArrowheads="1"/>
          </p:cNvSpPr>
          <p:nvPr/>
        </p:nvSpPr>
        <p:spPr bwMode="auto">
          <a:xfrm>
            <a:off x="5859396" y="333"/>
            <a:ext cx="473207" cy="456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ctr"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228600" y="1217335"/>
            <a:ext cx="11901490" cy="5076774"/>
          </a:xfrm>
          <a:prstGeom prst="rect">
            <a:avLst/>
          </a:prstGeom>
          <a:noFill/>
        </p:spPr>
        <p:txBody>
          <a:bodyPr wrap="square" rtlCol="0">
            <a:spAutoFit/>
          </a:bodyPr>
          <a:lstStyle/>
          <a:p>
            <a:pPr>
              <a:lnSpc>
                <a:spcPct val="150000"/>
              </a:lnSpc>
            </a:pPr>
            <a:r>
              <a:rPr lang="en-US" sz="2000" b="1" u="sng" dirty="0">
                <a:latin typeface="Corbel" panose="020B0503020204020204" pitchFamily="34" charset="0"/>
              </a:rPr>
              <a:t>Error</a:t>
            </a:r>
            <a:r>
              <a:rPr lang="en-US" sz="2000" dirty="0">
                <a:latin typeface="Corbel" panose="020B0503020204020204" pitchFamily="34" charset="0"/>
              </a:rPr>
              <a:t> : An Error “indicates serious problems that a reasonable application should not try to catch.”</a:t>
            </a:r>
          </a:p>
          <a:p>
            <a:pPr>
              <a:lnSpc>
                <a:spcPct val="150000"/>
              </a:lnSpc>
            </a:pPr>
            <a:r>
              <a:rPr lang="en-US" b="1" u="sng" dirty="0"/>
              <a:t>Exceptions</a:t>
            </a:r>
            <a:r>
              <a:rPr lang="en-US" dirty="0"/>
              <a:t> : An Exception “indicates conditions that a reasonable application might want to catch.</a:t>
            </a:r>
            <a:endParaRPr lang="en-US" sz="2000" dirty="0">
              <a:latin typeface="Corbel" panose="020B0503020204020204" pitchFamily="34" charset="0"/>
            </a:endParaRPr>
          </a:p>
          <a:p>
            <a:pPr marL="342900" indent="-342900">
              <a:lnSpc>
                <a:spcPct val="150000"/>
              </a:lnSpc>
              <a:buFont typeface="Arial" panose="020B0604020202020204" pitchFamily="34" charset="0"/>
              <a:buChar char="•"/>
            </a:pPr>
            <a:r>
              <a:rPr lang="en-US" sz="2000" dirty="0">
                <a:latin typeface="Corbel" panose="020B0503020204020204" pitchFamily="34" charset="0"/>
              </a:rPr>
              <a:t>Both </a:t>
            </a:r>
            <a:r>
              <a:rPr lang="en-US" sz="2000" b="1" u="sng" dirty="0">
                <a:latin typeface="Corbel" panose="020B0503020204020204" pitchFamily="34" charset="0"/>
              </a:rPr>
              <a:t>Errors and Exceptions </a:t>
            </a:r>
            <a:r>
              <a:rPr lang="en-US" sz="2000" dirty="0">
                <a:latin typeface="Corbel" panose="020B0503020204020204" pitchFamily="34" charset="0"/>
              </a:rPr>
              <a:t>are the </a:t>
            </a:r>
            <a:r>
              <a:rPr lang="en-US" sz="2000" b="1" u="sng" dirty="0">
                <a:latin typeface="Corbel" panose="020B0503020204020204" pitchFamily="34" charset="0"/>
              </a:rPr>
              <a:t>subclasses of </a:t>
            </a:r>
            <a:r>
              <a:rPr lang="en-US" sz="2000" b="1" u="sng" dirty="0" err="1">
                <a:latin typeface="Corbel" panose="020B0503020204020204" pitchFamily="34" charset="0"/>
              </a:rPr>
              <a:t>java.lang.Throwable</a:t>
            </a:r>
            <a:r>
              <a:rPr lang="en-US" sz="2000" b="1" u="sng" dirty="0">
                <a:latin typeface="Corbel" panose="020B0503020204020204" pitchFamily="34" charset="0"/>
              </a:rPr>
              <a:t> class</a:t>
            </a:r>
            <a:r>
              <a:rPr lang="en-US" sz="2000" dirty="0">
                <a:latin typeface="Corbel" panose="020B0503020204020204" pitchFamily="34" charset="0"/>
              </a:rPr>
              <a:t>. </a:t>
            </a:r>
            <a:r>
              <a:rPr lang="en-US" sz="2000" b="1" i="1" dirty="0">
                <a:latin typeface="Corbel" panose="020B0503020204020204" pitchFamily="34" charset="0"/>
              </a:rPr>
              <a:t>Errors are the conditions which cannot get recovered by any handling techniques</a:t>
            </a:r>
            <a:r>
              <a:rPr lang="en-US" sz="2000" dirty="0">
                <a:latin typeface="Corbel" panose="020B0503020204020204" pitchFamily="34" charset="0"/>
              </a:rPr>
              <a:t>. It surely </a:t>
            </a:r>
            <a:r>
              <a:rPr lang="en-US" sz="2000" b="1" i="1" dirty="0">
                <a:latin typeface="Corbel" panose="020B0503020204020204" pitchFamily="34" charset="0"/>
              </a:rPr>
              <a:t>cause termination of the program abnormally</a:t>
            </a:r>
            <a:r>
              <a:rPr lang="en-US" sz="2000" dirty="0">
                <a:latin typeface="Corbel" panose="020B0503020204020204" pitchFamily="34" charset="0"/>
              </a:rPr>
              <a:t>. Errors </a:t>
            </a:r>
            <a:r>
              <a:rPr lang="en-US" sz="2000" b="1" u="sng" dirty="0">
                <a:latin typeface="Corbel" panose="020B0503020204020204" pitchFamily="34" charset="0"/>
              </a:rPr>
              <a:t>belong to unchecked type </a:t>
            </a:r>
            <a:r>
              <a:rPr lang="en-US" sz="2000" dirty="0">
                <a:latin typeface="Corbel" panose="020B0503020204020204" pitchFamily="34" charset="0"/>
              </a:rPr>
              <a:t>and mostly </a:t>
            </a:r>
            <a:r>
              <a:rPr lang="en-US" sz="2000" b="1" u="sng" dirty="0">
                <a:latin typeface="Corbel" panose="020B0503020204020204" pitchFamily="34" charset="0"/>
              </a:rPr>
              <a:t>occur at runtime</a:t>
            </a:r>
            <a:r>
              <a:rPr lang="en-US" sz="2000" dirty="0">
                <a:latin typeface="Corbel" panose="020B0503020204020204" pitchFamily="34" charset="0"/>
              </a:rPr>
              <a:t>. Some of the examples of errors are Out of memory error or a System crash error. </a:t>
            </a:r>
          </a:p>
          <a:p>
            <a:pPr marL="342900" indent="-342900">
              <a:lnSpc>
                <a:spcPct val="150000"/>
              </a:lnSpc>
              <a:buFont typeface="Arial" panose="020B0604020202020204" pitchFamily="34" charset="0"/>
              <a:buChar char="•"/>
            </a:pPr>
            <a:r>
              <a:rPr lang="en-US" sz="2000" dirty="0">
                <a:latin typeface="Corbel" panose="020B0503020204020204" pitchFamily="34" charset="0"/>
              </a:rPr>
              <a:t>Exceptions are the </a:t>
            </a:r>
            <a:r>
              <a:rPr lang="en-US" sz="2000" b="1" u="sng" dirty="0">
                <a:latin typeface="Corbel" panose="020B0503020204020204" pitchFamily="34" charset="0"/>
              </a:rPr>
              <a:t>conditions that occur at runtime </a:t>
            </a:r>
            <a:r>
              <a:rPr lang="en-US" sz="2000" dirty="0">
                <a:latin typeface="Corbel" panose="020B0503020204020204" pitchFamily="34" charset="0"/>
              </a:rPr>
              <a:t>and </a:t>
            </a:r>
            <a:r>
              <a:rPr lang="en-US" sz="2000" b="1" u="sng" dirty="0">
                <a:latin typeface="Corbel" panose="020B0503020204020204" pitchFamily="34" charset="0"/>
              </a:rPr>
              <a:t>may cause the termination of program</a:t>
            </a:r>
            <a:r>
              <a:rPr lang="en-US" sz="2000" dirty="0">
                <a:latin typeface="Corbel" panose="020B0503020204020204" pitchFamily="34" charset="0"/>
              </a:rPr>
              <a:t>. But they are </a:t>
            </a:r>
            <a:r>
              <a:rPr lang="en-US" sz="2000" b="1" u="sng" dirty="0">
                <a:latin typeface="Corbel" panose="020B0503020204020204" pitchFamily="34" charset="0"/>
              </a:rPr>
              <a:t>recoverable using try, catch and throw keywords</a:t>
            </a:r>
            <a:r>
              <a:rPr lang="en-US" sz="2000" dirty="0">
                <a:latin typeface="Corbel" panose="020B0503020204020204" pitchFamily="34" charset="0"/>
              </a:rPr>
              <a:t>. Exceptions are divided into </a:t>
            </a:r>
            <a:r>
              <a:rPr lang="en-US" sz="2000" b="1" u="sng" dirty="0">
                <a:latin typeface="Corbel" panose="020B0503020204020204" pitchFamily="34" charset="0"/>
              </a:rPr>
              <a:t>two </a:t>
            </a:r>
            <a:r>
              <a:rPr lang="en-US" sz="2000" b="1" u="sng" dirty="0" err="1">
                <a:latin typeface="Corbel" panose="020B0503020204020204" pitchFamily="34" charset="0"/>
              </a:rPr>
              <a:t>catagories</a:t>
            </a:r>
            <a:r>
              <a:rPr lang="en-US" sz="2000" b="1" u="sng" dirty="0">
                <a:latin typeface="Corbel" panose="020B0503020204020204" pitchFamily="34" charset="0"/>
              </a:rPr>
              <a:t> </a:t>
            </a:r>
            <a:r>
              <a:rPr lang="en-US" sz="2000" dirty="0">
                <a:latin typeface="Corbel" panose="020B0503020204020204" pitchFamily="34" charset="0"/>
              </a:rPr>
              <a:t>: </a:t>
            </a:r>
            <a:r>
              <a:rPr lang="en-US" sz="2000" b="1" u="sng" dirty="0">
                <a:latin typeface="Corbel" panose="020B0503020204020204" pitchFamily="34" charset="0"/>
              </a:rPr>
              <a:t>checked and unchecked exceptions</a:t>
            </a:r>
            <a:r>
              <a:rPr lang="en-US" sz="2000" dirty="0">
                <a:latin typeface="Corbel" panose="020B0503020204020204" pitchFamily="34" charset="0"/>
              </a:rPr>
              <a:t>. Checked exceptions like </a:t>
            </a:r>
            <a:r>
              <a:rPr lang="en-US" sz="2000" dirty="0" err="1">
                <a:latin typeface="Corbel" panose="020B0503020204020204" pitchFamily="34" charset="0"/>
              </a:rPr>
              <a:t>IOException</a:t>
            </a:r>
            <a:r>
              <a:rPr lang="en-US" sz="2000" dirty="0">
                <a:latin typeface="Corbel" panose="020B0503020204020204" pitchFamily="34" charset="0"/>
              </a:rPr>
              <a:t> known to the compiler at compile time while unchecked exceptions like </a:t>
            </a:r>
            <a:r>
              <a:rPr lang="en-US" sz="2000" dirty="0" err="1">
                <a:latin typeface="Corbel" panose="020B0503020204020204" pitchFamily="34" charset="0"/>
              </a:rPr>
              <a:t>ArrayIndexOutOfBoundException</a:t>
            </a:r>
            <a:r>
              <a:rPr lang="en-US" sz="2000" dirty="0">
                <a:latin typeface="Corbel" panose="020B0503020204020204" pitchFamily="34" charset="0"/>
              </a:rPr>
              <a:t> known to the compiler at runtime. It is mostly caused by the program written by the programmer. </a:t>
            </a:r>
          </a:p>
        </p:txBody>
      </p:sp>
    </p:spTree>
    <p:extLst>
      <p:ext uri="{BB962C8B-B14F-4D97-AF65-F5344CB8AC3E}">
        <p14:creationId xmlns:p14="http://schemas.microsoft.com/office/powerpoint/2010/main" val="2504304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a:t>Handle or Declare</a:t>
            </a:r>
          </a:p>
        </p:txBody>
      </p:sp>
      <p:sp>
        <p:nvSpPr>
          <p:cNvPr id="4" name="Rectangle 1"/>
          <p:cNvSpPr>
            <a:spLocks noChangeArrowheads="1"/>
          </p:cNvSpPr>
          <p:nvPr/>
        </p:nvSpPr>
        <p:spPr bwMode="auto">
          <a:xfrm>
            <a:off x="5859396" y="333"/>
            <a:ext cx="473207" cy="456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ctr"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290510" y="1386301"/>
            <a:ext cx="11901490" cy="4478342"/>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latin typeface="Corbel" panose="020B0503020204020204" pitchFamily="34" charset="0"/>
              </a:rPr>
              <a:t>Java has a rule that is strictly enforced regarding checked exceptions; it is referred to as the Handle or Declare Rule. </a:t>
            </a:r>
          </a:p>
          <a:p>
            <a:pPr marL="285750" indent="-285750">
              <a:lnSpc>
                <a:spcPct val="150000"/>
              </a:lnSpc>
              <a:buFont typeface="Arial" panose="020B0604020202020204" pitchFamily="34" charset="0"/>
              <a:buChar char="•"/>
            </a:pPr>
            <a:r>
              <a:rPr lang="en-US" dirty="0">
                <a:latin typeface="Corbel" panose="020B0503020204020204" pitchFamily="34" charset="0"/>
              </a:rPr>
              <a:t>The rule states simply that a checked exception must be either handled or declared. </a:t>
            </a:r>
          </a:p>
          <a:p>
            <a:pPr marL="285750" indent="-285750">
              <a:lnSpc>
                <a:spcPct val="150000"/>
              </a:lnSpc>
              <a:buFont typeface="Arial" panose="020B0604020202020204" pitchFamily="34" charset="0"/>
              <a:buChar char="•"/>
            </a:pPr>
            <a:r>
              <a:rPr lang="en-US" i="1" dirty="0">
                <a:latin typeface="Corbel" panose="020B0503020204020204" pitchFamily="34" charset="0"/>
              </a:rPr>
              <a:t>Handling </a:t>
            </a:r>
            <a:r>
              <a:rPr lang="en-US" dirty="0">
                <a:latin typeface="Corbel" panose="020B0503020204020204" pitchFamily="34" charset="0"/>
              </a:rPr>
              <a:t>an exception involves catching the exception. </a:t>
            </a:r>
          </a:p>
          <a:p>
            <a:pPr marL="285750" indent="-285750">
              <a:lnSpc>
                <a:spcPct val="150000"/>
              </a:lnSpc>
              <a:buFont typeface="Arial" panose="020B0604020202020204" pitchFamily="34" charset="0"/>
              <a:buChar char="•"/>
            </a:pPr>
            <a:r>
              <a:rPr lang="en-US" i="1" dirty="0">
                <a:latin typeface="Corbel" panose="020B0503020204020204" pitchFamily="34" charset="0"/>
              </a:rPr>
              <a:t>Declaring </a:t>
            </a:r>
            <a:r>
              <a:rPr lang="en-US" dirty="0">
                <a:latin typeface="Corbel" panose="020B0503020204020204" pitchFamily="34" charset="0"/>
              </a:rPr>
              <a:t>an exception involves a method using the throws keyword in its signature, declaring any checked exceptions that the method is not going to handle.</a:t>
            </a:r>
          </a:p>
          <a:p>
            <a:endParaRPr lang="en-US" b="1" dirty="0"/>
          </a:p>
          <a:p>
            <a:pPr>
              <a:lnSpc>
                <a:spcPct val="150000"/>
              </a:lnSpc>
            </a:pPr>
            <a:r>
              <a:rPr lang="en-US" b="1" i="1" dirty="0"/>
              <a:t>The Handle or Declare Rule does not apply to runtime exceptions. </a:t>
            </a:r>
          </a:p>
          <a:p>
            <a:pPr>
              <a:lnSpc>
                <a:spcPct val="150000"/>
              </a:lnSpc>
            </a:pPr>
            <a:r>
              <a:rPr lang="en-US" b="1" i="1" dirty="0"/>
              <a:t>If you do something in your program that can generate a runtime exception, you have the option of catching that exception or simply ignoring it and letting it crash your program. </a:t>
            </a:r>
          </a:p>
          <a:p>
            <a:pPr>
              <a:lnSpc>
                <a:spcPct val="150000"/>
              </a:lnSpc>
            </a:pPr>
            <a:r>
              <a:rPr lang="en-US" b="1" i="1" dirty="0"/>
              <a:t>As I mentioned earlier, in most cases you do not try to catch runtime exceptions because they are often the result of poor code design. Let them crash your program, then find the problem and fix it.</a:t>
            </a:r>
            <a:endParaRPr lang="en-US" sz="2000" i="1" dirty="0">
              <a:latin typeface="Corbel" panose="020B0503020204020204" pitchFamily="34" charset="0"/>
            </a:endParaRPr>
          </a:p>
        </p:txBody>
      </p:sp>
    </p:spTree>
    <p:extLst>
      <p:ext uri="{BB962C8B-B14F-4D97-AF65-F5344CB8AC3E}">
        <p14:creationId xmlns:p14="http://schemas.microsoft.com/office/powerpoint/2010/main" val="789149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50000"/>
              </a:lnSpc>
            </a:pPr>
            <a:r>
              <a:rPr lang="en-US" dirty="0"/>
              <a:t>Throwable Class</a:t>
            </a:r>
          </a:p>
        </p:txBody>
      </p:sp>
      <p:sp>
        <p:nvSpPr>
          <p:cNvPr id="4" name="Rectangle 1"/>
          <p:cNvSpPr>
            <a:spLocks noChangeArrowheads="1"/>
          </p:cNvSpPr>
          <p:nvPr/>
        </p:nvSpPr>
        <p:spPr bwMode="auto">
          <a:xfrm>
            <a:off x="5859396" y="333"/>
            <a:ext cx="473207" cy="45653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ctr"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p:cNvSpPr txBox="1"/>
          <p:nvPr/>
        </p:nvSpPr>
        <p:spPr>
          <a:xfrm>
            <a:off x="294588" y="1413389"/>
            <a:ext cx="6596406" cy="5035353"/>
          </a:xfrm>
          <a:prstGeom prst="rect">
            <a:avLst/>
          </a:prstGeom>
          <a:noFill/>
        </p:spPr>
        <p:txBody>
          <a:bodyPr wrap="square" rtlCol="0">
            <a:spAutoFit/>
          </a:bodyPr>
          <a:lstStyle/>
          <a:p>
            <a:pPr>
              <a:lnSpc>
                <a:spcPct val="150000"/>
              </a:lnSpc>
            </a:pPr>
            <a:r>
              <a:rPr lang="en-US" dirty="0">
                <a:latin typeface="Corbel" panose="020B0503020204020204" pitchFamily="34" charset="0"/>
              </a:rPr>
              <a:t>The </a:t>
            </a:r>
            <a:r>
              <a:rPr lang="en-US" b="1" dirty="0">
                <a:latin typeface="Corbel" panose="020B0503020204020204" pitchFamily="34" charset="0"/>
              </a:rPr>
              <a:t>three types of exceptions </a:t>
            </a:r>
            <a:r>
              <a:rPr lang="en-US" dirty="0">
                <a:latin typeface="Corbel" panose="020B0503020204020204" pitchFamily="34" charset="0"/>
              </a:rPr>
              <a:t>share a </a:t>
            </a:r>
            <a:r>
              <a:rPr lang="en-US" b="1" dirty="0">
                <a:latin typeface="Corbel" panose="020B0503020204020204" pitchFamily="34" charset="0"/>
              </a:rPr>
              <a:t>common parent</a:t>
            </a:r>
            <a:r>
              <a:rPr lang="en-US" dirty="0">
                <a:latin typeface="Corbel" panose="020B0503020204020204" pitchFamily="34" charset="0"/>
              </a:rPr>
              <a:t>: the </a:t>
            </a:r>
            <a:r>
              <a:rPr lang="en-US" b="1" dirty="0" err="1">
                <a:latin typeface="Corbel" panose="020B0503020204020204" pitchFamily="34" charset="0"/>
              </a:rPr>
              <a:t>java.lang.Throwable</a:t>
            </a:r>
            <a:r>
              <a:rPr lang="en-US" b="1" dirty="0">
                <a:latin typeface="Corbel" panose="020B0503020204020204" pitchFamily="34" charset="0"/>
              </a:rPr>
              <a:t> class</a:t>
            </a:r>
            <a:r>
              <a:rPr lang="en-US" dirty="0">
                <a:latin typeface="Corbel" panose="020B0503020204020204" pitchFamily="34" charset="0"/>
              </a:rPr>
              <a:t>. Only </a:t>
            </a:r>
            <a:r>
              <a:rPr lang="en-US" b="1" dirty="0">
                <a:latin typeface="Corbel" panose="020B0503020204020204" pitchFamily="34" charset="0"/>
              </a:rPr>
              <a:t>objects of type </a:t>
            </a:r>
            <a:r>
              <a:rPr lang="en-US" b="1" dirty="0" err="1">
                <a:latin typeface="Corbel" panose="020B0503020204020204" pitchFamily="34" charset="0"/>
              </a:rPr>
              <a:t>Throwable</a:t>
            </a:r>
            <a:r>
              <a:rPr lang="en-US" b="1" dirty="0">
                <a:latin typeface="Corbel" panose="020B0503020204020204" pitchFamily="34" charset="0"/>
              </a:rPr>
              <a:t> </a:t>
            </a:r>
            <a:r>
              <a:rPr lang="en-US" dirty="0">
                <a:latin typeface="Corbel" panose="020B0503020204020204" pitchFamily="34" charset="0"/>
              </a:rPr>
              <a:t>can be </a:t>
            </a:r>
            <a:r>
              <a:rPr lang="en-US" b="1" dirty="0">
                <a:latin typeface="Corbel" panose="020B0503020204020204" pitchFamily="34" charset="0"/>
              </a:rPr>
              <a:t>thrown by the JVM</a:t>
            </a:r>
            <a:r>
              <a:rPr lang="en-US" dirty="0">
                <a:latin typeface="Corbel" panose="020B0503020204020204" pitchFamily="34" charset="0"/>
              </a:rPr>
              <a:t>. </a:t>
            </a:r>
          </a:p>
          <a:p>
            <a:pPr>
              <a:lnSpc>
                <a:spcPct val="150000"/>
              </a:lnSpc>
            </a:pPr>
            <a:r>
              <a:rPr lang="en-US" b="1" dirty="0">
                <a:latin typeface="Corbel" panose="020B0503020204020204" pitchFamily="34" charset="0"/>
              </a:rPr>
              <a:t>The </a:t>
            </a:r>
            <a:r>
              <a:rPr lang="en-US" b="1" dirty="0" err="1">
                <a:latin typeface="Corbel" panose="020B0503020204020204" pitchFamily="34" charset="0"/>
              </a:rPr>
              <a:t>Throwable</a:t>
            </a:r>
            <a:r>
              <a:rPr lang="en-US" b="1" dirty="0">
                <a:latin typeface="Corbel" panose="020B0503020204020204" pitchFamily="34" charset="0"/>
              </a:rPr>
              <a:t> class </a:t>
            </a:r>
            <a:r>
              <a:rPr lang="en-US" dirty="0">
                <a:latin typeface="Corbel" panose="020B0503020204020204" pitchFamily="34" charset="0"/>
              </a:rPr>
              <a:t>has two </a:t>
            </a:r>
            <a:r>
              <a:rPr lang="en-US" b="1" dirty="0">
                <a:latin typeface="Corbel" panose="020B0503020204020204" pitchFamily="34" charset="0"/>
              </a:rPr>
              <a:t>child classes: Exception and Error</a:t>
            </a:r>
            <a:r>
              <a:rPr lang="en-US" dirty="0">
                <a:latin typeface="Corbel" panose="020B0503020204020204" pitchFamily="34" charset="0"/>
              </a:rPr>
              <a:t>.</a:t>
            </a:r>
          </a:p>
          <a:p>
            <a:pPr>
              <a:lnSpc>
                <a:spcPct val="150000"/>
              </a:lnSpc>
            </a:pPr>
            <a:r>
              <a:rPr lang="en-US" dirty="0">
                <a:latin typeface="Corbel" panose="020B0503020204020204" pitchFamily="34" charset="0"/>
              </a:rPr>
              <a:t>The inheritance hierarchy of exceptions is based on the three categories. </a:t>
            </a:r>
            <a:r>
              <a:rPr lang="en-US" u="sng" dirty="0">
                <a:latin typeface="Corbel" panose="020B0503020204020204" pitchFamily="34" charset="0"/>
              </a:rPr>
              <a:t>The Error class is the parent class of all Java errors</a:t>
            </a:r>
            <a:r>
              <a:rPr lang="en-US" dirty="0">
                <a:latin typeface="Corbel" panose="020B0503020204020204" pitchFamily="34" charset="0"/>
              </a:rPr>
              <a:t>; the </a:t>
            </a:r>
            <a:r>
              <a:rPr lang="en-US" u="sng" dirty="0">
                <a:latin typeface="Corbel" panose="020B0503020204020204" pitchFamily="34" charset="0"/>
              </a:rPr>
              <a:t>Exception class is the parent class of all exceptions, both run time and checked</a:t>
            </a:r>
            <a:r>
              <a:rPr lang="en-US" dirty="0">
                <a:latin typeface="Corbel" panose="020B0503020204020204" pitchFamily="34" charset="0"/>
              </a:rPr>
              <a:t>.</a:t>
            </a:r>
          </a:p>
          <a:p>
            <a:pPr>
              <a:lnSpc>
                <a:spcPct val="150000"/>
              </a:lnSpc>
            </a:pPr>
            <a:r>
              <a:rPr lang="en-US" b="1" dirty="0">
                <a:solidFill>
                  <a:srgbClr val="FF0000"/>
                </a:solidFill>
                <a:latin typeface="Corbel" panose="020B0503020204020204" pitchFamily="34" charset="0"/>
              </a:rPr>
              <a:t>Runtime exceptions and checked exceptions are further distinguished by where they fit in the inheritance hierarchy</a:t>
            </a:r>
            <a:r>
              <a:rPr lang="en-US" dirty="0">
                <a:latin typeface="Corbel" panose="020B0503020204020204" pitchFamily="34" charset="0"/>
              </a:rPr>
              <a:t>. </a:t>
            </a:r>
            <a:r>
              <a:rPr lang="en-US" b="1" dirty="0">
                <a:solidFill>
                  <a:srgbClr val="FF0000"/>
                </a:solidFill>
                <a:latin typeface="Corbel" panose="020B0503020204020204" pitchFamily="34" charset="0"/>
              </a:rPr>
              <a:t>If a class is a child of Runtime-Exception, this child class represents a runtime exception. </a:t>
            </a:r>
          </a:p>
        </p:txBody>
      </p:sp>
      <p:pic>
        <p:nvPicPr>
          <p:cNvPr id="5" name="Picture 2" descr="Image result for exception handling"/>
          <p:cNvPicPr>
            <a:picLocks noChangeAspect="1" noChangeArrowheads="1"/>
          </p:cNvPicPr>
          <p:nvPr/>
        </p:nvPicPr>
        <p:blipFill rotWithShape="1">
          <a:blip r:embed="rId2">
            <a:extLst>
              <a:ext uri="{28A0092B-C50C-407E-A947-70E740481C1C}">
                <a14:useLocalDpi xmlns:a14="http://schemas.microsoft.com/office/drawing/2010/main" val="0"/>
              </a:ext>
            </a:extLst>
          </a:blip>
          <a:srcRect l="20654" r="15181"/>
          <a:stretch/>
        </p:blipFill>
        <p:spPr bwMode="auto">
          <a:xfrm>
            <a:off x="6825006" y="1413389"/>
            <a:ext cx="5227394" cy="45820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616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899" y="404051"/>
            <a:ext cx="10972800" cy="708242"/>
          </a:xfrm>
        </p:spPr>
        <p:txBody>
          <a:bodyPr>
            <a:normAutofit/>
          </a:bodyPr>
          <a:lstStyle/>
          <a:p>
            <a:r>
              <a:rPr lang="en-US" dirty="0"/>
              <a:t>Catching Exceptions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62</a:t>
            </a:fld>
            <a:endParaRPr lang="en-US"/>
          </a:p>
        </p:txBody>
      </p:sp>
      <p:sp>
        <p:nvSpPr>
          <p:cNvPr id="2" name="Rectangle 1"/>
          <p:cNvSpPr/>
          <p:nvPr/>
        </p:nvSpPr>
        <p:spPr>
          <a:xfrm>
            <a:off x="169104" y="1370371"/>
            <a:ext cx="11682483" cy="5493812"/>
          </a:xfrm>
          <a:prstGeom prst="rect">
            <a:avLst/>
          </a:prstGeom>
        </p:spPr>
        <p:txBody>
          <a:bodyPr wrap="square">
            <a:spAutoFit/>
          </a:bodyPr>
          <a:lstStyle/>
          <a:p>
            <a:pPr algn="just">
              <a:lnSpc>
                <a:spcPct val="150000"/>
              </a:lnSpc>
            </a:pPr>
            <a:r>
              <a:rPr lang="en-US" b="1" dirty="0">
                <a:latin typeface="Corbel" panose="020B0503020204020204" pitchFamily="34" charset="0"/>
              </a:rPr>
              <a:t>A method catches an exception </a:t>
            </a:r>
            <a:r>
              <a:rPr lang="en-US" dirty="0">
                <a:latin typeface="Corbel" panose="020B0503020204020204" pitchFamily="34" charset="0"/>
              </a:rPr>
              <a:t>using a </a:t>
            </a:r>
            <a:r>
              <a:rPr lang="en-US" b="1" dirty="0">
                <a:latin typeface="Corbel" panose="020B0503020204020204" pitchFamily="34" charset="0"/>
              </a:rPr>
              <a:t>combination of the try and catch keywords</a:t>
            </a:r>
            <a:r>
              <a:rPr lang="en-US" dirty="0">
                <a:latin typeface="Corbel" panose="020B0503020204020204" pitchFamily="34" charset="0"/>
              </a:rPr>
              <a:t>. A try/catch block is placed around the </a:t>
            </a:r>
            <a:r>
              <a:rPr lang="en-US" b="1" dirty="0">
                <a:latin typeface="Corbel" panose="020B0503020204020204" pitchFamily="34" charset="0"/>
              </a:rPr>
              <a:t>code that might generate an exception</a:t>
            </a:r>
            <a:r>
              <a:rPr lang="en-US" dirty="0">
                <a:latin typeface="Corbel" panose="020B0503020204020204" pitchFamily="34" charset="0"/>
              </a:rPr>
              <a:t>. Code within a try/catch block is referred to as protected code, and the syntax for using try/catch looks like the following −Syntax</a:t>
            </a:r>
          </a:p>
          <a:p>
            <a:pPr algn="just">
              <a:lnSpc>
                <a:spcPct val="150000"/>
              </a:lnSpc>
            </a:pPr>
            <a:r>
              <a:rPr lang="en-US" b="1" i="1" dirty="0">
                <a:latin typeface="Corbel" panose="020B0503020204020204" pitchFamily="34" charset="0"/>
              </a:rPr>
              <a:t>try {</a:t>
            </a:r>
          </a:p>
          <a:p>
            <a:pPr algn="just">
              <a:lnSpc>
                <a:spcPct val="150000"/>
              </a:lnSpc>
            </a:pPr>
            <a:r>
              <a:rPr lang="en-US" b="1" i="1" dirty="0">
                <a:latin typeface="Corbel" panose="020B0503020204020204" pitchFamily="34" charset="0"/>
              </a:rPr>
              <a:t>   // Protected code</a:t>
            </a:r>
          </a:p>
          <a:p>
            <a:pPr algn="just">
              <a:lnSpc>
                <a:spcPct val="150000"/>
              </a:lnSpc>
            </a:pPr>
            <a:r>
              <a:rPr lang="en-US" b="1" i="1" dirty="0">
                <a:latin typeface="Corbel" panose="020B0503020204020204" pitchFamily="34" charset="0"/>
              </a:rPr>
              <a:t>}catch(</a:t>
            </a:r>
            <a:r>
              <a:rPr lang="en-US" b="1" i="1" dirty="0" err="1">
                <a:latin typeface="Corbel" panose="020B0503020204020204" pitchFamily="34" charset="0"/>
              </a:rPr>
              <a:t>ExceptionName</a:t>
            </a:r>
            <a:r>
              <a:rPr lang="en-US" b="1" i="1" dirty="0">
                <a:latin typeface="Corbel" panose="020B0503020204020204" pitchFamily="34" charset="0"/>
              </a:rPr>
              <a:t> e1) {</a:t>
            </a:r>
          </a:p>
          <a:p>
            <a:pPr algn="just">
              <a:lnSpc>
                <a:spcPct val="150000"/>
              </a:lnSpc>
            </a:pPr>
            <a:r>
              <a:rPr lang="en-US" b="1" i="1" dirty="0">
                <a:latin typeface="Corbel" panose="020B0503020204020204" pitchFamily="34" charset="0"/>
              </a:rPr>
              <a:t>   // Catch block</a:t>
            </a:r>
          </a:p>
          <a:p>
            <a:pPr algn="just">
              <a:lnSpc>
                <a:spcPct val="150000"/>
              </a:lnSpc>
            </a:pPr>
            <a:r>
              <a:rPr lang="en-US" b="1" i="1" dirty="0">
                <a:latin typeface="Corbel" panose="020B0503020204020204" pitchFamily="34" charset="0"/>
              </a:rPr>
              <a:t>}</a:t>
            </a:r>
          </a:p>
          <a:p>
            <a:pPr algn="just">
              <a:lnSpc>
                <a:spcPct val="150000"/>
              </a:lnSpc>
            </a:pPr>
            <a:r>
              <a:rPr lang="en-US" dirty="0">
                <a:latin typeface="Corbel" panose="020B0503020204020204" pitchFamily="34" charset="0"/>
              </a:rPr>
              <a:t>The </a:t>
            </a:r>
            <a:r>
              <a:rPr lang="en-US" b="1" dirty="0">
                <a:latin typeface="Corbel" panose="020B0503020204020204" pitchFamily="34" charset="0"/>
              </a:rPr>
              <a:t>code which is prone to exceptions is placed in the try block</a:t>
            </a:r>
            <a:r>
              <a:rPr lang="en-US" dirty="0">
                <a:latin typeface="Corbel" panose="020B0503020204020204" pitchFamily="34" charset="0"/>
              </a:rPr>
              <a:t>. When </a:t>
            </a:r>
            <a:r>
              <a:rPr lang="en-US" b="1" dirty="0">
                <a:latin typeface="Corbel" panose="020B0503020204020204" pitchFamily="34" charset="0"/>
              </a:rPr>
              <a:t>an exception occurs</a:t>
            </a:r>
            <a:r>
              <a:rPr lang="en-US" dirty="0">
                <a:latin typeface="Corbel" panose="020B0503020204020204" pitchFamily="34" charset="0"/>
              </a:rPr>
              <a:t>, that exception occurred is </a:t>
            </a:r>
            <a:r>
              <a:rPr lang="en-US" b="1" dirty="0">
                <a:latin typeface="Corbel" panose="020B0503020204020204" pitchFamily="34" charset="0"/>
              </a:rPr>
              <a:t>handled by catch block associated with it</a:t>
            </a:r>
            <a:r>
              <a:rPr lang="en-US" dirty="0">
                <a:latin typeface="Corbel" panose="020B0503020204020204" pitchFamily="34" charset="0"/>
              </a:rPr>
              <a:t>. Every try block should be immediately followed either by a catch block or finally block. A catch statement involves declaring the type of exception you are trying to catch. If an exception occurs in protected code, the catch block (or blocks) that follows the try is checked. If the type of exception that occurred is listed in a catch block, the exception is passed to the catch block much as an argument is passed into a method parameter.</a:t>
            </a:r>
            <a:endParaRPr lang="en-US" b="1" i="1" u="sng" dirty="0">
              <a:solidFill>
                <a:srgbClr val="000000"/>
              </a:solidFill>
              <a:latin typeface="Corbel" panose="020B0503020204020204" pitchFamily="34" charset="0"/>
            </a:endParaRPr>
          </a:p>
        </p:txBody>
      </p:sp>
    </p:spTree>
    <p:extLst>
      <p:ext uri="{BB962C8B-B14F-4D97-AF65-F5344CB8AC3E}">
        <p14:creationId xmlns:p14="http://schemas.microsoft.com/office/powerpoint/2010/main" val="4078467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899" y="404051"/>
            <a:ext cx="10972800" cy="708242"/>
          </a:xfrm>
        </p:spPr>
        <p:txBody>
          <a:bodyPr>
            <a:normAutofit/>
          </a:bodyPr>
          <a:lstStyle/>
          <a:p>
            <a:r>
              <a:rPr lang="en-US" dirty="0"/>
              <a:t>Writing Try/Catch Blocks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63</a:t>
            </a:fld>
            <a:endParaRPr lang="en-US"/>
          </a:p>
        </p:txBody>
      </p:sp>
      <p:pic>
        <p:nvPicPr>
          <p:cNvPr id="5" name="Picture 4"/>
          <p:cNvPicPr>
            <a:picLocks noChangeAspect="1"/>
          </p:cNvPicPr>
          <p:nvPr/>
        </p:nvPicPr>
        <p:blipFill>
          <a:blip r:embed="rId2"/>
          <a:stretch>
            <a:fillRect/>
          </a:stretch>
        </p:blipFill>
        <p:spPr>
          <a:xfrm>
            <a:off x="1514476" y="2280583"/>
            <a:ext cx="5400674" cy="4440893"/>
          </a:xfrm>
          <a:prstGeom prst="rect">
            <a:avLst/>
          </a:prstGeom>
        </p:spPr>
      </p:pic>
      <p:pic>
        <p:nvPicPr>
          <p:cNvPr id="6" name="Picture 5"/>
          <p:cNvPicPr>
            <a:picLocks noChangeAspect="1"/>
          </p:cNvPicPr>
          <p:nvPr/>
        </p:nvPicPr>
        <p:blipFill rotWithShape="1">
          <a:blip r:embed="rId3"/>
          <a:srcRect l="6970" t="19175"/>
          <a:stretch/>
        </p:blipFill>
        <p:spPr>
          <a:xfrm>
            <a:off x="6992393" y="2280583"/>
            <a:ext cx="5085306" cy="1866899"/>
          </a:xfrm>
          <a:prstGeom prst="rect">
            <a:avLst/>
          </a:prstGeom>
        </p:spPr>
      </p:pic>
      <p:pic>
        <p:nvPicPr>
          <p:cNvPr id="7" name="Picture 6"/>
          <p:cNvPicPr>
            <a:picLocks noChangeAspect="1"/>
          </p:cNvPicPr>
          <p:nvPr/>
        </p:nvPicPr>
        <p:blipFill>
          <a:blip r:embed="rId4"/>
          <a:stretch>
            <a:fillRect/>
          </a:stretch>
        </p:blipFill>
        <p:spPr>
          <a:xfrm>
            <a:off x="1514476" y="1353320"/>
            <a:ext cx="3300413" cy="1046980"/>
          </a:xfrm>
          <a:prstGeom prst="rect">
            <a:avLst/>
          </a:prstGeom>
        </p:spPr>
      </p:pic>
      <p:sp>
        <p:nvSpPr>
          <p:cNvPr id="8" name="Bent-Up Arrow 7"/>
          <p:cNvSpPr/>
          <p:nvPr/>
        </p:nvSpPr>
        <p:spPr>
          <a:xfrm>
            <a:off x="7034733" y="5284789"/>
            <a:ext cx="2500313" cy="1071562"/>
          </a:xfrm>
          <a:prstGeom prst="ben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646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04899" y="404051"/>
            <a:ext cx="10972800" cy="708242"/>
          </a:xfrm>
        </p:spPr>
        <p:txBody>
          <a:bodyPr>
            <a:normAutofit/>
          </a:bodyPr>
          <a:lstStyle/>
          <a:p>
            <a:r>
              <a:rPr lang="en-US" dirty="0"/>
              <a:t>Writing Try/Catch Blocks</a:t>
            </a:r>
          </a:p>
        </p:txBody>
      </p:sp>
      <p:sp>
        <p:nvSpPr>
          <p:cNvPr id="4" name="Slide Number Placeholder 3"/>
          <p:cNvSpPr>
            <a:spLocks noGrp="1"/>
          </p:cNvSpPr>
          <p:nvPr>
            <p:ph type="sldNum" sz="quarter" idx="10"/>
          </p:nvPr>
        </p:nvSpPr>
        <p:spPr/>
        <p:txBody>
          <a:bodyPr/>
          <a:lstStyle/>
          <a:p>
            <a:pPr>
              <a:defRPr/>
            </a:pPr>
            <a:fld id="{6A0C02E4-D9FC-4360-BB34-4DE867F266A3}" type="slidenum">
              <a:rPr lang="en-US" smtClean="0"/>
              <a:pPr>
                <a:defRPr/>
              </a:pPr>
              <a:t>64</a:t>
            </a:fld>
            <a:endParaRPr lang="en-US"/>
          </a:p>
        </p:txBody>
      </p:sp>
      <p:pic>
        <p:nvPicPr>
          <p:cNvPr id="2" name="Picture 1"/>
          <p:cNvPicPr>
            <a:picLocks noChangeAspect="1"/>
          </p:cNvPicPr>
          <p:nvPr/>
        </p:nvPicPr>
        <p:blipFill>
          <a:blip r:embed="rId3"/>
          <a:stretch>
            <a:fillRect/>
          </a:stretch>
        </p:blipFill>
        <p:spPr>
          <a:xfrm>
            <a:off x="290512" y="1359869"/>
            <a:ext cx="9996489" cy="5179044"/>
          </a:xfrm>
          <a:prstGeom prst="rect">
            <a:avLst/>
          </a:prstGeom>
        </p:spPr>
      </p:pic>
      <p:sp>
        <p:nvSpPr>
          <p:cNvPr id="9" name="Rectangle 8"/>
          <p:cNvSpPr/>
          <p:nvPr/>
        </p:nvSpPr>
        <p:spPr>
          <a:xfrm>
            <a:off x="5981699" y="1822647"/>
            <a:ext cx="6096000" cy="5035353"/>
          </a:xfrm>
          <a:prstGeom prst="rect">
            <a:avLst/>
          </a:prstGeom>
        </p:spPr>
        <p:txBody>
          <a:bodyPr>
            <a:spAutoFit/>
          </a:bodyPr>
          <a:lstStyle/>
          <a:p>
            <a:pPr>
              <a:lnSpc>
                <a:spcPct val="150000"/>
              </a:lnSpc>
            </a:pPr>
            <a:r>
              <a:rPr lang="en-US" dirty="0">
                <a:latin typeface="Corbel" panose="020B0503020204020204" pitchFamily="34" charset="0"/>
              </a:rPr>
              <a:t>The code </a:t>
            </a:r>
            <a:r>
              <a:rPr lang="en-US" b="1" dirty="0">
                <a:latin typeface="Corbel" panose="020B0503020204020204" pitchFamily="34" charset="0"/>
              </a:rPr>
              <a:t>demonstrate three catch blocks</a:t>
            </a:r>
            <a:r>
              <a:rPr lang="en-US" dirty="0">
                <a:latin typeface="Corbel" panose="020B0503020204020204" pitchFamily="34" charset="0"/>
              </a:rPr>
              <a:t>, but you can have </a:t>
            </a:r>
            <a:r>
              <a:rPr lang="en-US" b="1" dirty="0">
                <a:latin typeface="Corbel" panose="020B0503020204020204" pitchFamily="34" charset="0"/>
              </a:rPr>
              <a:t>any number </a:t>
            </a:r>
            <a:r>
              <a:rPr lang="en-US" dirty="0">
                <a:latin typeface="Corbel" panose="020B0503020204020204" pitchFamily="34" charset="0"/>
              </a:rPr>
              <a:t>of them after a single try. </a:t>
            </a:r>
          </a:p>
          <a:p>
            <a:pPr>
              <a:lnSpc>
                <a:spcPct val="150000"/>
              </a:lnSpc>
            </a:pPr>
            <a:r>
              <a:rPr lang="en-US" dirty="0">
                <a:latin typeface="Corbel" panose="020B0503020204020204" pitchFamily="34" charset="0"/>
              </a:rPr>
              <a:t>If an </a:t>
            </a:r>
            <a:r>
              <a:rPr lang="en-US" b="1" dirty="0">
                <a:latin typeface="Corbel" panose="020B0503020204020204" pitchFamily="34" charset="0"/>
              </a:rPr>
              <a:t>exception occurs in the protected code</a:t>
            </a:r>
            <a:r>
              <a:rPr lang="en-US" dirty="0">
                <a:latin typeface="Corbel" panose="020B0503020204020204" pitchFamily="34" charset="0"/>
              </a:rPr>
              <a:t>, the </a:t>
            </a:r>
            <a:r>
              <a:rPr lang="en-US" b="1" dirty="0">
                <a:latin typeface="Corbel" panose="020B0503020204020204" pitchFamily="34" charset="0"/>
              </a:rPr>
              <a:t>exception is thrown to the first catch block </a:t>
            </a:r>
            <a:r>
              <a:rPr lang="en-US" dirty="0">
                <a:latin typeface="Corbel" panose="020B0503020204020204" pitchFamily="34" charset="0"/>
              </a:rPr>
              <a:t>in the list. </a:t>
            </a:r>
          </a:p>
          <a:p>
            <a:pPr>
              <a:lnSpc>
                <a:spcPct val="150000"/>
              </a:lnSpc>
            </a:pPr>
            <a:r>
              <a:rPr lang="en-US" dirty="0">
                <a:latin typeface="Corbel" panose="020B0503020204020204" pitchFamily="34" charset="0"/>
              </a:rPr>
              <a:t>If the </a:t>
            </a:r>
            <a:r>
              <a:rPr lang="en-US" b="1" dirty="0">
                <a:latin typeface="Corbel" panose="020B0503020204020204" pitchFamily="34" charset="0"/>
              </a:rPr>
              <a:t>data type </a:t>
            </a:r>
            <a:r>
              <a:rPr lang="en-US" dirty="0">
                <a:latin typeface="Corbel" panose="020B0503020204020204" pitchFamily="34" charset="0"/>
              </a:rPr>
              <a:t>of </a:t>
            </a:r>
            <a:r>
              <a:rPr lang="en-US" b="1" dirty="0">
                <a:latin typeface="Corbel" panose="020B0503020204020204" pitchFamily="34" charset="0"/>
              </a:rPr>
              <a:t>the exception thrown matches </a:t>
            </a:r>
            <a:r>
              <a:rPr lang="en-US" b="1" i="1" dirty="0">
                <a:latin typeface="Corbel" panose="020B0503020204020204" pitchFamily="34" charset="0"/>
              </a:rPr>
              <a:t>ExceptionType1</a:t>
            </a:r>
            <a:r>
              <a:rPr lang="en-US" dirty="0">
                <a:latin typeface="Corbel" panose="020B0503020204020204" pitchFamily="34" charset="0"/>
              </a:rPr>
              <a:t>, it gets caught there. </a:t>
            </a:r>
          </a:p>
          <a:p>
            <a:pPr>
              <a:lnSpc>
                <a:spcPct val="150000"/>
              </a:lnSpc>
            </a:pPr>
            <a:r>
              <a:rPr lang="en-US" dirty="0">
                <a:latin typeface="Corbel" panose="020B0503020204020204" pitchFamily="34" charset="0"/>
              </a:rPr>
              <a:t>If not, the </a:t>
            </a:r>
            <a:r>
              <a:rPr lang="en-US" b="1" dirty="0">
                <a:latin typeface="Corbel" panose="020B0503020204020204" pitchFamily="34" charset="0"/>
              </a:rPr>
              <a:t>exception passes down </a:t>
            </a:r>
            <a:r>
              <a:rPr lang="en-US" dirty="0">
                <a:latin typeface="Corbel" panose="020B0503020204020204" pitchFamily="34" charset="0"/>
              </a:rPr>
              <a:t>to the second catch statement. </a:t>
            </a:r>
          </a:p>
          <a:p>
            <a:pPr>
              <a:lnSpc>
                <a:spcPct val="150000"/>
              </a:lnSpc>
            </a:pPr>
            <a:r>
              <a:rPr lang="en-US" dirty="0">
                <a:latin typeface="Corbel" panose="020B0503020204020204" pitchFamily="34" charset="0"/>
              </a:rPr>
              <a:t>This continues until the exception either is caught or falls through all catches, in which case the current method stops execution and the exception is thrown down to the </a:t>
            </a:r>
            <a:r>
              <a:rPr lang="en-US" b="1" dirty="0">
                <a:latin typeface="Corbel" panose="020B0503020204020204" pitchFamily="34" charset="0"/>
              </a:rPr>
              <a:t>previous method on the call stack</a:t>
            </a:r>
            <a:r>
              <a:rPr lang="en-US" dirty="0">
                <a:latin typeface="Corbel" panose="020B0503020204020204" pitchFamily="34" charset="0"/>
              </a:rPr>
              <a:t>.</a:t>
            </a:r>
          </a:p>
        </p:txBody>
      </p:sp>
    </p:spTree>
    <p:extLst>
      <p:ext uri="{BB962C8B-B14F-4D97-AF65-F5344CB8AC3E}">
        <p14:creationId xmlns:p14="http://schemas.microsoft.com/office/powerpoint/2010/main" val="1041120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dirty="0"/>
              <a:t>Using throws clause</a:t>
            </a:r>
          </a:p>
        </p:txBody>
      </p:sp>
      <p:sp>
        <p:nvSpPr>
          <p:cNvPr id="3" name="Content Placeholder 2"/>
          <p:cNvSpPr>
            <a:spLocks noGrp="1"/>
          </p:cNvSpPr>
          <p:nvPr>
            <p:ph idx="1"/>
          </p:nvPr>
        </p:nvSpPr>
        <p:spPr>
          <a:xfrm>
            <a:off x="1104900" y="1600200"/>
            <a:ext cx="5453063" cy="4572000"/>
          </a:xfrm>
        </p:spPr>
        <p:txBody>
          <a:bodyPr rtlCol="0">
            <a:noAutofit/>
          </a:bodyPr>
          <a:lstStyle/>
          <a:p>
            <a:pPr marL="0">
              <a:lnSpc>
                <a:spcPct val="100000"/>
              </a:lnSpc>
              <a:spcBef>
                <a:spcPts val="0"/>
              </a:spcBef>
              <a:buNone/>
              <a:defRPr/>
            </a:pPr>
            <a:r>
              <a:rPr lang="en-US" sz="1600" b="1" dirty="0"/>
              <a:t>If you don’t want the exception to be handled in the same function you can use the throws class to handle the exception in the calling function.</a:t>
            </a:r>
          </a:p>
          <a:p>
            <a:pPr marL="0">
              <a:lnSpc>
                <a:spcPct val="100000"/>
              </a:lnSpc>
              <a:spcBef>
                <a:spcPts val="0"/>
              </a:spcBef>
              <a:buNone/>
              <a:defRPr/>
            </a:pPr>
            <a:endParaRPr lang="en-US" sz="1600" dirty="0"/>
          </a:p>
          <a:p>
            <a:pPr marL="0">
              <a:lnSpc>
                <a:spcPct val="100000"/>
              </a:lnSpc>
              <a:spcBef>
                <a:spcPts val="0"/>
              </a:spcBef>
              <a:buNone/>
              <a:defRPr/>
            </a:pPr>
            <a:r>
              <a:rPr lang="en-US" sz="1600" dirty="0"/>
              <a:t>public class </a:t>
            </a:r>
            <a:r>
              <a:rPr lang="en-US" sz="1600" dirty="0" err="1"/>
              <a:t>myexception</a:t>
            </a:r>
            <a:r>
              <a:rPr lang="en-US" sz="1600" dirty="0"/>
              <a:t>{</a:t>
            </a:r>
          </a:p>
          <a:p>
            <a:pPr marL="0">
              <a:lnSpc>
                <a:spcPct val="100000"/>
              </a:lnSpc>
              <a:spcBef>
                <a:spcPts val="0"/>
              </a:spcBef>
              <a:buNone/>
              <a:defRPr/>
            </a:pPr>
            <a:r>
              <a:rPr lang="en-US" sz="1600" dirty="0"/>
              <a:t>	public static void main(String </a:t>
            </a:r>
            <a:r>
              <a:rPr lang="en-US" sz="1600" dirty="0" err="1"/>
              <a:t>args</a:t>
            </a:r>
            <a:r>
              <a:rPr lang="en-US" sz="1600" dirty="0"/>
              <a:t>[]){</a:t>
            </a:r>
          </a:p>
          <a:p>
            <a:pPr marL="0">
              <a:lnSpc>
                <a:spcPct val="100000"/>
              </a:lnSpc>
              <a:spcBef>
                <a:spcPts val="0"/>
              </a:spcBef>
              <a:buNone/>
              <a:defRPr/>
            </a:pPr>
            <a:r>
              <a:rPr lang="en-US" sz="1600" dirty="0"/>
              <a:t>		try{</a:t>
            </a:r>
          </a:p>
          <a:p>
            <a:pPr marL="0">
              <a:lnSpc>
                <a:spcPct val="100000"/>
              </a:lnSpc>
              <a:spcBef>
                <a:spcPts val="0"/>
              </a:spcBef>
              <a:buNone/>
              <a:defRPr/>
            </a:pPr>
            <a:r>
              <a:rPr lang="en-US" sz="1600" dirty="0"/>
              <a:t>			</a:t>
            </a:r>
            <a:r>
              <a:rPr lang="en-US" sz="1600" dirty="0" err="1"/>
              <a:t>checkEx</a:t>
            </a:r>
            <a:r>
              <a:rPr lang="en-US" sz="1600" dirty="0"/>
              <a:t>();</a:t>
            </a:r>
          </a:p>
          <a:p>
            <a:pPr marL="0">
              <a:lnSpc>
                <a:spcPct val="100000"/>
              </a:lnSpc>
              <a:spcBef>
                <a:spcPts val="0"/>
              </a:spcBef>
              <a:buNone/>
              <a:defRPr/>
            </a:pPr>
            <a:r>
              <a:rPr lang="en-US" sz="1600" dirty="0"/>
              <a:t>		} catch(</a:t>
            </a:r>
            <a:r>
              <a:rPr lang="en-US" sz="1600" dirty="0" err="1"/>
              <a:t>FileNotFoundException</a:t>
            </a:r>
            <a:r>
              <a:rPr lang="en-US" sz="1600" dirty="0"/>
              <a:t> ex){</a:t>
            </a:r>
          </a:p>
          <a:p>
            <a:pPr marL="0">
              <a:lnSpc>
                <a:spcPct val="100000"/>
              </a:lnSpc>
              <a:spcBef>
                <a:spcPts val="0"/>
              </a:spcBef>
              <a:buNone/>
              <a:defRPr/>
            </a:pPr>
            <a:r>
              <a:rPr lang="en-US" sz="1600" dirty="0"/>
              <a:t>		}</a:t>
            </a:r>
          </a:p>
          <a:p>
            <a:pPr marL="0">
              <a:lnSpc>
                <a:spcPct val="100000"/>
              </a:lnSpc>
              <a:spcBef>
                <a:spcPts val="0"/>
              </a:spcBef>
              <a:buNone/>
              <a:defRPr/>
            </a:pPr>
            <a:r>
              <a:rPr lang="en-US" sz="1600" dirty="0"/>
              <a:t>	}</a:t>
            </a:r>
          </a:p>
          <a:p>
            <a:pPr marL="0">
              <a:lnSpc>
                <a:spcPct val="100000"/>
              </a:lnSpc>
              <a:spcBef>
                <a:spcPts val="0"/>
              </a:spcBef>
              <a:buNone/>
              <a:defRPr/>
            </a:pPr>
            <a:r>
              <a:rPr lang="en-US" sz="1600" dirty="0"/>
              <a:t>public void </a:t>
            </a:r>
            <a:r>
              <a:rPr lang="en-US" sz="1600" dirty="0" err="1"/>
              <a:t>checkEx</a:t>
            </a:r>
            <a:r>
              <a:rPr lang="en-US" sz="1600" dirty="0"/>
              <a:t>() throws </a:t>
            </a:r>
            <a:r>
              <a:rPr lang="en-US" sz="1600" dirty="0" err="1"/>
              <a:t>FileNotFoundException</a:t>
            </a:r>
            <a:r>
              <a:rPr lang="en-US" sz="1600" dirty="0"/>
              <a:t>{</a:t>
            </a:r>
          </a:p>
          <a:p>
            <a:pPr marL="0">
              <a:lnSpc>
                <a:spcPct val="100000"/>
              </a:lnSpc>
              <a:spcBef>
                <a:spcPts val="0"/>
              </a:spcBef>
              <a:buNone/>
              <a:defRPr/>
            </a:pPr>
            <a:r>
              <a:rPr lang="en-US" sz="1600" dirty="0"/>
              <a:t>		File f = new File(“</a:t>
            </a:r>
            <a:r>
              <a:rPr lang="en-US" sz="1600" dirty="0" err="1"/>
              <a:t>myfile</a:t>
            </a:r>
            <a:r>
              <a:rPr lang="en-US" sz="1600" dirty="0"/>
              <a:t>”);</a:t>
            </a:r>
          </a:p>
          <a:p>
            <a:pPr marL="0">
              <a:lnSpc>
                <a:spcPct val="100000"/>
              </a:lnSpc>
              <a:spcBef>
                <a:spcPts val="0"/>
              </a:spcBef>
              <a:buNone/>
              <a:defRPr/>
            </a:pPr>
            <a:r>
              <a:rPr lang="en-US" sz="1600" dirty="0"/>
              <a:t>		</a:t>
            </a:r>
            <a:r>
              <a:rPr lang="en-US" sz="1600" dirty="0" err="1"/>
              <a:t>FileInputStream</a:t>
            </a:r>
            <a:r>
              <a:rPr lang="en-US" sz="1600" dirty="0"/>
              <a:t> </a:t>
            </a:r>
            <a:r>
              <a:rPr lang="en-US" sz="1600" dirty="0" err="1"/>
              <a:t>fis</a:t>
            </a:r>
            <a:r>
              <a:rPr lang="en-US" sz="1600" dirty="0"/>
              <a:t> = new </a:t>
            </a:r>
            <a:r>
              <a:rPr lang="en-US" sz="1600" dirty="0" err="1"/>
              <a:t>FileInputStream</a:t>
            </a:r>
            <a:r>
              <a:rPr lang="en-US" sz="1600" dirty="0"/>
              <a:t>(f);</a:t>
            </a:r>
          </a:p>
          <a:p>
            <a:pPr marL="0">
              <a:lnSpc>
                <a:spcPct val="100000"/>
              </a:lnSpc>
              <a:spcBef>
                <a:spcPts val="0"/>
              </a:spcBef>
              <a:buNone/>
              <a:defRPr/>
            </a:pPr>
            <a:r>
              <a:rPr lang="en-US" sz="1600" dirty="0"/>
              <a:t>		//continue processing here.</a:t>
            </a:r>
          </a:p>
          <a:p>
            <a:pPr marL="0">
              <a:lnSpc>
                <a:spcPct val="100000"/>
              </a:lnSpc>
              <a:spcBef>
                <a:spcPts val="0"/>
              </a:spcBef>
              <a:buNone/>
              <a:defRPr/>
            </a:pPr>
            <a:r>
              <a:rPr lang="en-US" sz="1600" dirty="0"/>
              <a:t>}</a:t>
            </a:r>
          </a:p>
          <a:p>
            <a:pPr marL="0">
              <a:lnSpc>
                <a:spcPct val="100000"/>
              </a:lnSpc>
              <a:spcBef>
                <a:spcPts val="0"/>
              </a:spcBef>
              <a:buNone/>
              <a:defRPr/>
            </a:pPr>
            <a:r>
              <a:rPr lang="en-US" sz="1600" dirty="0"/>
              <a:t>}</a:t>
            </a:r>
          </a:p>
          <a:p>
            <a:pPr marL="0">
              <a:lnSpc>
                <a:spcPct val="100000"/>
              </a:lnSpc>
              <a:spcBef>
                <a:spcPts val="0"/>
              </a:spcBef>
              <a:defRPr/>
            </a:pPr>
            <a:endParaRPr lang="en-US" sz="1600" dirty="0"/>
          </a:p>
        </p:txBody>
      </p:sp>
      <p:sp>
        <p:nvSpPr>
          <p:cNvPr id="2" name="Rectangle 1"/>
          <p:cNvSpPr/>
          <p:nvPr/>
        </p:nvSpPr>
        <p:spPr>
          <a:xfrm>
            <a:off x="7019926" y="2876073"/>
            <a:ext cx="4967287" cy="1754326"/>
          </a:xfrm>
          <a:prstGeom prst="rect">
            <a:avLst/>
          </a:prstGeom>
        </p:spPr>
        <p:txBody>
          <a:bodyPr wrap="square">
            <a:spAutoFit/>
          </a:bodyPr>
          <a:lstStyle/>
          <a:p>
            <a:pPr>
              <a:defRPr/>
            </a:pPr>
            <a:r>
              <a:rPr lang="en-US" dirty="0"/>
              <a:t>In this example, the main method calls the </a:t>
            </a:r>
            <a:r>
              <a:rPr lang="en-US" dirty="0" err="1"/>
              <a:t>checkex</a:t>
            </a:r>
            <a:r>
              <a:rPr lang="en-US" dirty="0"/>
              <a:t>() method and the </a:t>
            </a:r>
            <a:r>
              <a:rPr lang="en-US" dirty="0" err="1"/>
              <a:t>checkex</a:t>
            </a:r>
            <a:r>
              <a:rPr lang="en-US" dirty="0"/>
              <a:t> method tries to open a file, If the file in not available, then an exception is raised and passed to the main method, where it is handled.</a:t>
            </a:r>
          </a:p>
          <a:p>
            <a:pPr>
              <a:buNone/>
              <a:defRPr/>
            </a:pPr>
            <a:endParaRPr lang="en-US" dirty="0"/>
          </a:p>
        </p:txBody>
      </p:sp>
    </p:spTree>
    <p:extLst>
      <p:ext uri="{BB962C8B-B14F-4D97-AF65-F5344CB8AC3E}">
        <p14:creationId xmlns:p14="http://schemas.microsoft.com/office/powerpoint/2010/main" val="104736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A277-44F2-4495-BDE2-6AFB93F381A0}"/>
              </a:ext>
            </a:extLst>
          </p:cNvPr>
          <p:cNvSpPr>
            <a:spLocks noGrp="1"/>
          </p:cNvSpPr>
          <p:nvPr>
            <p:ph type="title"/>
          </p:nvPr>
        </p:nvSpPr>
        <p:spPr/>
        <p:txBody>
          <a:bodyPr/>
          <a:lstStyle/>
          <a:p>
            <a:r>
              <a:rPr lang="en-US" altLang="en-US" dirty="0"/>
              <a:t>Using throws clause</a:t>
            </a:r>
            <a:endParaRPr lang="en-IN" dirty="0"/>
          </a:p>
        </p:txBody>
      </p:sp>
      <p:pic>
        <p:nvPicPr>
          <p:cNvPr id="4" name="Content Placeholder 3">
            <a:extLst>
              <a:ext uri="{FF2B5EF4-FFF2-40B4-BE49-F238E27FC236}">
                <a16:creationId xmlns:a16="http://schemas.microsoft.com/office/drawing/2014/main" id="{04B0DCCA-3331-40BE-88E9-16EFCCCF0F11}"/>
              </a:ext>
            </a:extLst>
          </p:cNvPr>
          <p:cNvPicPr>
            <a:picLocks noGrp="1" noChangeAspect="1"/>
          </p:cNvPicPr>
          <p:nvPr>
            <p:ph idx="1"/>
          </p:nvPr>
        </p:nvPicPr>
        <p:blipFill>
          <a:blip r:embed="rId2"/>
          <a:stretch>
            <a:fillRect/>
          </a:stretch>
        </p:blipFill>
        <p:spPr>
          <a:xfrm>
            <a:off x="1104900" y="1411384"/>
            <a:ext cx="10545418" cy="5192318"/>
          </a:xfrm>
          <a:prstGeom prst="rect">
            <a:avLst/>
          </a:prstGeom>
        </p:spPr>
      </p:pic>
    </p:spTree>
    <p:extLst>
      <p:ext uri="{BB962C8B-B14F-4D97-AF65-F5344CB8AC3E}">
        <p14:creationId xmlns:p14="http://schemas.microsoft.com/office/powerpoint/2010/main" val="2096016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A277-44F2-4495-BDE2-6AFB93F381A0}"/>
              </a:ext>
            </a:extLst>
          </p:cNvPr>
          <p:cNvSpPr>
            <a:spLocks noGrp="1"/>
          </p:cNvSpPr>
          <p:nvPr>
            <p:ph type="title"/>
          </p:nvPr>
        </p:nvSpPr>
        <p:spPr/>
        <p:txBody>
          <a:bodyPr/>
          <a:lstStyle/>
          <a:p>
            <a:r>
              <a:rPr lang="en-US" altLang="en-US" dirty="0"/>
              <a:t>Exception Hierarchy</a:t>
            </a:r>
            <a:endParaRPr lang="en-IN" dirty="0"/>
          </a:p>
        </p:txBody>
      </p:sp>
      <p:pic>
        <p:nvPicPr>
          <p:cNvPr id="6" name="Content Placeholder 5">
            <a:extLst>
              <a:ext uri="{FF2B5EF4-FFF2-40B4-BE49-F238E27FC236}">
                <a16:creationId xmlns:a16="http://schemas.microsoft.com/office/drawing/2014/main" id="{449FBD7F-76B2-4E7B-ACC6-AAB3E04C96C0}"/>
              </a:ext>
            </a:extLst>
          </p:cNvPr>
          <p:cNvPicPr>
            <a:picLocks noGrp="1" noChangeAspect="1"/>
          </p:cNvPicPr>
          <p:nvPr>
            <p:ph idx="1"/>
          </p:nvPr>
        </p:nvPicPr>
        <p:blipFill>
          <a:blip r:embed="rId2"/>
          <a:stretch>
            <a:fillRect/>
          </a:stretch>
        </p:blipFill>
        <p:spPr>
          <a:xfrm>
            <a:off x="425644" y="1470991"/>
            <a:ext cx="11054052" cy="5043162"/>
          </a:xfrm>
          <a:prstGeom prst="rect">
            <a:avLst/>
          </a:prstGeom>
        </p:spPr>
      </p:pic>
    </p:spTree>
    <p:extLst>
      <p:ext uri="{BB962C8B-B14F-4D97-AF65-F5344CB8AC3E}">
        <p14:creationId xmlns:p14="http://schemas.microsoft.com/office/powerpoint/2010/main" val="343603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A277-44F2-4495-BDE2-6AFB93F381A0}"/>
              </a:ext>
            </a:extLst>
          </p:cNvPr>
          <p:cNvSpPr>
            <a:spLocks noGrp="1"/>
          </p:cNvSpPr>
          <p:nvPr>
            <p:ph type="title"/>
          </p:nvPr>
        </p:nvSpPr>
        <p:spPr/>
        <p:txBody>
          <a:bodyPr/>
          <a:lstStyle/>
          <a:p>
            <a:r>
              <a:rPr lang="en-US" altLang="en-US" dirty="0"/>
              <a:t>Creating Your Own Exception</a:t>
            </a:r>
            <a:endParaRPr lang="en-IN" dirty="0"/>
          </a:p>
        </p:txBody>
      </p:sp>
      <p:sp>
        <p:nvSpPr>
          <p:cNvPr id="4" name="Content Placeholder 3">
            <a:extLst>
              <a:ext uri="{FF2B5EF4-FFF2-40B4-BE49-F238E27FC236}">
                <a16:creationId xmlns:a16="http://schemas.microsoft.com/office/drawing/2014/main" id="{CAA2C30D-27A1-4233-94F0-1E8C15AEB5BF}"/>
              </a:ext>
            </a:extLst>
          </p:cNvPr>
          <p:cNvSpPr>
            <a:spLocks noGrp="1"/>
          </p:cNvSpPr>
          <p:nvPr>
            <p:ph idx="1"/>
          </p:nvPr>
        </p:nvSpPr>
        <p:spPr/>
        <p:txBody>
          <a:bodyPr>
            <a:normAutofit/>
          </a:bodyPr>
          <a:lstStyle/>
          <a:p>
            <a:r>
              <a:rPr lang="en-US" dirty="0"/>
              <a:t>In bigger applications, most of the cases we need custom exceptions for representing business exceptions are at a level higher than technical exceptions defined by the JDK.</a:t>
            </a:r>
          </a:p>
          <a:p>
            <a:r>
              <a:rPr lang="en-US" dirty="0"/>
              <a:t>Here are the steps that create a custom exception:</a:t>
            </a:r>
          </a:p>
          <a:p>
            <a:r>
              <a:rPr lang="en-US" dirty="0"/>
              <a:t>Create a </a:t>
            </a:r>
            <a:r>
              <a:rPr lang="en-US" b="1" u="sng" dirty="0"/>
              <a:t>new class</a:t>
            </a:r>
            <a:r>
              <a:rPr lang="en-US" dirty="0"/>
              <a:t> whose name should </a:t>
            </a:r>
            <a:r>
              <a:rPr lang="en-US" b="1" u="sng" dirty="0"/>
              <a:t>end with an Exception</a:t>
            </a:r>
            <a:r>
              <a:rPr lang="en-US" dirty="0"/>
              <a:t>, like the </a:t>
            </a:r>
            <a:r>
              <a:rPr lang="en-US" b="1" u="sng" dirty="0" err="1"/>
              <a:t>ClassNameException</a:t>
            </a:r>
            <a:r>
              <a:rPr lang="en-US" dirty="0"/>
              <a:t>. This is a convention to differentiate an exception class from regular ones.</a:t>
            </a:r>
          </a:p>
          <a:p>
            <a:r>
              <a:rPr lang="en-US" dirty="0"/>
              <a:t>Make the </a:t>
            </a:r>
            <a:r>
              <a:rPr lang="en-US" b="1" u="sng" dirty="0"/>
              <a:t>class extends one of the exceptions </a:t>
            </a:r>
            <a:r>
              <a:rPr lang="en-US" dirty="0"/>
              <a:t>that are </a:t>
            </a:r>
            <a:r>
              <a:rPr lang="en-US" b="1" u="sng" dirty="0"/>
              <a:t>subtypes </a:t>
            </a:r>
            <a:r>
              <a:rPr lang="en-US" dirty="0"/>
              <a:t>of the  </a:t>
            </a:r>
            <a:r>
              <a:rPr lang="en-US" b="1" u="sng" dirty="0" err="1"/>
              <a:t>java.lang.Exception</a:t>
            </a:r>
            <a:r>
              <a:rPr lang="en-US" b="1" u="sng" dirty="0"/>
              <a:t> class</a:t>
            </a:r>
            <a:r>
              <a:rPr lang="en-US" dirty="0"/>
              <a:t>. Generally, a </a:t>
            </a:r>
            <a:r>
              <a:rPr lang="en-US" b="1" u="sng" dirty="0"/>
              <a:t>custom exception </a:t>
            </a:r>
            <a:r>
              <a:rPr lang="en-US" dirty="0"/>
              <a:t>class </a:t>
            </a:r>
            <a:r>
              <a:rPr lang="en-US" b="1" u="sng" dirty="0"/>
              <a:t>always extends directly from the Exception class</a:t>
            </a:r>
            <a:r>
              <a:rPr lang="en-US" dirty="0"/>
              <a:t>.</a:t>
            </a:r>
          </a:p>
          <a:p>
            <a:r>
              <a:rPr lang="en-US" b="1" u="sng" dirty="0"/>
              <a:t>Create a constructor</a:t>
            </a:r>
            <a:r>
              <a:rPr lang="en-US" dirty="0"/>
              <a:t> with a </a:t>
            </a:r>
            <a:r>
              <a:rPr lang="en-US" b="1" u="sng" dirty="0"/>
              <a:t>String parameter</a:t>
            </a:r>
            <a:r>
              <a:rPr lang="en-US" dirty="0"/>
              <a:t>, which is the </a:t>
            </a:r>
            <a:r>
              <a:rPr lang="en-US" b="1" u="sng" dirty="0"/>
              <a:t>detail message </a:t>
            </a:r>
            <a:r>
              <a:rPr lang="en-US" dirty="0"/>
              <a:t>of the exception. In this constructor, simply </a:t>
            </a:r>
            <a:r>
              <a:rPr lang="en-US" b="1" u="sng" dirty="0"/>
              <a:t>call the super constructor</a:t>
            </a:r>
            <a:r>
              <a:rPr lang="en-US" dirty="0"/>
              <a:t> and pass the message. </a:t>
            </a:r>
            <a:endParaRPr lang="en-IN" dirty="0"/>
          </a:p>
        </p:txBody>
      </p:sp>
    </p:spTree>
    <p:extLst>
      <p:ext uri="{BB962C8B-B14F-4D97-AF65-F5344CB8AC3E}">
        <p14:creationId xmlns:p14="http://schemas.microsoft.com/office/powerpoint/2010/main" val="3399696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5A277-44F2-4495-BDE2-6AFB93F381A0}"/>
              </a:ext>
            </a:extLst>
          </p:cNvPr>
          <p:cNvSpPr>
            <a:spLocks noGrp="1"/>
          </p:cNvSpPr>
          <p:nvPr>
            <p:ph type="title"/>
          </p:nvPr>
        </p:nvSpPr>
        <p:spPr/>
        <p:txBody>
          <a:bodyPr/>
          <a:lstStyle/>
          <a:p>
            <a:r>
              <a:rPr lang="en-US" altLang="en-US" dirty="0"/>
              <a:t>Chained Exception</a:t>
            </a:r>
            <a:endParaRPr lang="en-IN" dirty="0"/>
          </a:p>
        </p:txBody>
      </p:sp>
      <p:sp>
        <p:nvSpPr>
          <p:cNvPr id="4" name="Content Placeholder 3">
            <a:extLst>
              <a:ext uri="{FF2B5EF4-FFF2-40B4-BE49-F238E27FC236}">
                <a16:creationId xmlns:a16="http://schemas.microsoft.com/office/drawing/2014/main" id="{CAA2C30D-27A1-4233-94F0-1E8C15AEB5BF}"/>
              </a:ext>
            </a:extLst>
          </p:cNvPr>
          <p:cNvSpPr>
            <a:spLocks noGrp="1"/>
          </p:cNvSpPr>
          <p:nvPr>
            <p:ph idx="1"/>
          </p:nvPr>
        </p:nvSpPr>
        <p:spPr/>
        <p:txBody>
          <a:bodyPr>
            <a:normAutofit/>
          </a:bodyPr>
          <a:lstStyle/>
          <a:p>
            <a:r>
              <a:rPr lang="en-US" dirty="0"/>
              <a:t>The chained exception feature allows you to associate another exception with an exception. </a:t>
            </a:r>
          </a:p>
          <a:p>
            <a:r>
              <a:rPr lang="en-US" dirty="0"/>
              <a:t>This second exception describes the cause of the first exception.</a:t>
            </a:r>
          </a:p>
          <a:p>
            <a:r>
              <a:rPr lang="en-US" dirty="0"/>
              <a:t>For example, imagine a situation in which a method throws an </a:t>
            </a:r>
            <a:r>
              <a:rPr lang="en-US" dirty="0" err="1"/>
              <a:t>ArithmeticException</a:t>
            </a:r>
            <a:r>
              <a:rPr lang="en-US" dirty="0"/>
              <a:t> because of an attempt to divide by zero. </a:t>
            </a:r>
          </a:p>
          <a:p>
            <a:r>
              <a:rPr lang="en-US" dirty="0"/>
              <a:t>However, the actual cause of the problem was that an I/O error occurred, which caused the divisor to be set improperly. </a:t>
            </a:r>
          </a:p>
          <a:p>
            <a:r>
              <a:rPr lang="en-US" dirty="0"/>
              <a:t>Although the method must certainly throw an </a:t>
            </a:r>
            <a:r>
              <a:rPr lang="en-US" dirty="0" err="1"/>
              <a:t>ArithmeticException</a:t>
            </a:r>
            <a:r>
              <a:rPr lang="en-US" dirty="0"/>
              <a:t>, since that is the error that occurred, you might also want to let the calling code know that the underlying cause was an I/O error. </a:t>
            </a:r>
          </a:p>
          <a:p>
            <a:r>
              <a:rPr lang="en-US"/>
              <a:t>Chained </a:t>
            </a:r>
            <a:r>
              <a:rPr lang="en-US" dirty="0"/>
              <a:t>exceptions let you handle this, and any other situation in which layers of exceptions exist. This concept was introduced in JDK 1.4.</a:t>
            </a:r>
          </a:p>
          <a:p>
            <a:endParaRPr lang="en-IN" dirty="0"/>
          </a:p>
        </p:txBody>
      </p:sp>
    </p:spTree>
    <p:extLst>
      <p:ext uri="{BB962C8B-B14F-4D97-AF65-F5344CB8AC3E}">
        <p14:creationId xmlns:p14="http://schemas.microsoft.com/office/powerpoint/2010/main" val="3815676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ECD02BE-C8B9-4CD8-9430-27F9A8323A61}" type="slidenum">
              <a:rPr lang="en-US" altLang="en-US"/>
              <a:pPr/>
              <a:t>70</a:t>
            </a:fld>
            <a:endParaRPr lang="en-US" altLang="en-US"/>
          </a:p>
        </p:txBody>
      </p:sp>
      <p:sp>
        <p:nvSpPr>
          <p:cNvPr id="935938" name="Rectangle 2"/>
          <p:cNvSpPr>
            <a:spLocks noGrp="1" noChangeArrowheads="1"/>
          </p:cNvSpPr>
          <p:nvPr>
            <p:ph type="title"/>
          </p:nvPr>
        </p:nvSpPr>
        <p:spPr/>
        <p:txBody>
          <a:bodyPr/>
          <a:lstStyle/>
          <a:p>
            <a:r>
              <a:rPr lang="en-US" altLang="en-US" sz="3200" dirty="0"/>
              <a:t>Preconditions and </a:t>
            </a:r>
            <a:r>
              <a:rPr lang="en-US" altLang="en-US" sz="3200" dirty="0" err="1"/>
              <a:t>Postconditions</a:t>
            </a:r>
            <a:endParaRPr lang="en-US" altLang="en-US" sz="3200" dirty="0"/>
          </a:p>
        </p:txBody>
      </p:sp>
      <p:sp>
        <p:nvSpPr>
          <p:cNvPr id="935939" name="Rectangle 3"/>
          <p:cNvSpPr>
            <a:spLocks noGrp="1" noChangeArrowheads="1"/>
          </p:cNvSpPr>
          <p:nvPr>
            <p:ph type="body" idx="1"/>
          </p:nvPr>
        </p:nvSpPr>
        <p:spPr/>
        <p:txBody>
          <a:bodyPr>
            <a:normAutofit/>
          </a:bodyPr>
          <a:lstStyle/>
          <a:p>
            <a:r>
              <a:rPr lang="en-US" altLang="en-US" dirty="0"/>
              <a:t>Preconditions and post-conditions are the states before and after a method’s execution Used to facilitate debugging and improve design</a:t>
            </a:r>
          </a:p>
          <a:p>
            <a:r>
              <a:rPr lang="en-US" altLang="en-US" dirty="0"/>
              <a:t>You should state the preconditions and post-conditions in a comment before the method declaration</a:t>
            </a:r>
          </a:p>
          <a:p>
            <a:r>
              <a:rPr lang="en-US" altLang="en-US" b="1" dirty="0"/>
              <a:t>Preconditions</a:t>
            </a:r>
          </a:p>
          <a:p>
            <a:pPr lvl="1"/>
            <a:r>
              <a:rPr lang="en-US" altLang="en-US" dirty="0"/>
              <a:t>Condition that must be true when the method is invoked</a:t>
            </a:r>
          </a:p>
          <a:p>
            <a:pPr lvl="1"/>
            <a:r>
              <a:rPr lang="en-US" altLang="en-US" dirty="0"/>
              <a:t>Describe method parameters and any other expectations the method has about the current state of a program</a:t>
            </a:r>
          </a:p>
          <a:p>
            <a:pPr lvl="1"/>
            <a:r>
              <a:rPr lang="en-US" altLang="en-US" dirty="0"/>
              <a:t>If preconditions not met, method’s behavior is undefined</a:t>
            </a:r>
          </a:p>
          <a:p>
            <a:r>
              <a:rPr lang="en-US" altLang="en-US" b="1" dirty="0" err="1"/>
              <a:t>Postconditions</a:t>
            </a:r>
            <a:endParaRPr lang="en-US" altLang="en-US" b="1" dirty="0"/>
          </a:p>
          <a:p>
            <a:pPr lvl="1"/>
            <a:r>
              <a:rPr lang="en-US" altLang="en-US" dirty="0"/>
              <a:t>Condition that is true after the method successfully returns</a:t>
            </a:r>
          </a:p>
          <a:p>
            <a:pPr lvl="1"/>
            <a:r>
              <a:rPr lang="en-US" altLang="en-US" dirty="0"/>
              <a:t>Describe the return value and any other side-effects the method may have</a:t>
            </a:r>
          </a:p>
          <a:p>
            <a:pPr lvl="1"/>
            <a:r>
              <a:rPr lang="en-US" altLang="en-US" dirty="0"/>
              <a:t>When calling a method, you may assume that a method fulfills all of its </a:t>
            </a:r>
            <a:r>
              <a:rPr lang="en-US" altLang="en-US" dirty="0" err="1"/>
              <a:t>postconditions</a:t>
            </a:r>
            <a:endParaRPr lang="en-US" altLang="en-US" dirty="0"/>
          </a:p>
          <a:p>
            <a:pPr lvl="1"/>
            <a:endParaRPr lang="en-US" altLang="en-US" dirty="0"/>
          </a:p>
          <a:p>
            <a:endParaRPr lang="en-US" altLang="en-US" dirty="0"/>
          </a:p>
        </p:txBody>
      </p:sp>
    </p:spTree>
    <p:extLst>
      <p:ext uri="{BB962C8B-B14F-4D97-AF65-F5344CB8AC3E}">
        <p14:creationId xmlns:p14="http://schemas.microsoft.com/office/powerpoint/2010/main" val="297275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46148952-6D04-479B-B56B-05E95F1BA87F}" type="slidenum">
              <a:rPr lang="en-US" altLang="en-US"/>
              <a:pPr/>
              <a:t>71</a:t>
            </a:fld>
            <a:endParaRPr lang="en-US" altLang="en-US"/>
          </a:p>
        </p:txBody>
      </p:sp>
      <p:sp>
        <p:nvSpPr>
          <p:cNvPr id="937986" name="Rectangle 2"/>
          <p:cNvSpPr>
            <a:spLocks noGrp="1" noChangeArrowheads="1"/>
          </p:cNvSpPr>
          <p:nvPr>
            <p:ph type="title"/>
          </p:nvPr>
        </p:nvSpPr>
        <p:spPr/>
        <p:txBody>
          <a:bodyPr/>
          <a:lstStyle/>
          <a:p>
            <a:r>
              <a:rPr lang="en-US" altLang="en-US" dirty="0"/>
              <a:t>Assertions</a:t>
            </a:r>
          </a:p>
        </p:txBody>
      </p:sp>
      <p:sp>
        <p:nvSpPr>
          <p:cNvPr id="937987" name="Rectangle 3"/>
          <p:cNvSpPr>
            <a:spLocks noGrp="1" noChangeArrowheads="1"/>
          </p:cNvSpPr>
          <p:nvPr>
            <p:ph type="body" idx="1"/>
          </p:nvPr>
        </p:nvSpPr>
        <p:spPr/>
        <p:txBody>
          <a:bodyPr/>
          <a:lstStyle/>
          <a:p>
            <a:r>
              <a:rPr lang="en-US" altLang="en-US" dirty="0"/>
              <a:t>Assertions are conditions that should be true at a particular point in a method</a:t>
            </a:r>
          </a:p>
          <a:p>
            <a:r>
              <a:rPr lang="en-US" altLang="en-US" dirty="0"/>
              <a:t>Help ensure a program’s validity by catching potential bugs</a:t>
            </a:r>
          </a:p>
          <a:p>
            <a:r>
              <a:rPr lang="en-US" altLang="en-US" dirty="0"/>
              <a:t>Pre-conditions and Post-conditions are two kinds of assertions</a:t>
            </a:r>
          </a:p>
          <a:p>
            <a:r>
              <a:rPr lang="en-US" altLang="en-US" dirty="0"/>
              <a:t>Assertions can be stated as comments or assertions can be validated programmatically using the </a:t>
            </a:r>
            <a:r>
              <a:rPr lang="en-US" altLang="en-US" dirty="0">
                <a:latin typeface="Lucida Console" panose="020B0609040504020204" pitchFamily="49" charset="0"/>
              </a:rPr>
              <a:t>assert</a:t>
            </a:r>
            <a:r>
              <a:rPr lang="en-US" altLang="en-US" dirty="0"/>
              <a:t> statement</a:t>
            </a:r>
          </a:p>
        </p:txBody>
      </p:sp>
    </p:spTree>
    <p:extLst>
      <p:ext uri="{BB962C8B-B14F-4D97-AF65-F5344CB8AC3E}">
        <p14:creationId xmlns:p14="http://schemas.microsoft.com/office/powerpoint/2010/main" val="3508431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ED4A51AC-44C9-41CD-BC1B-5682557C9A6A}" type="slidenum">
              <a:rPr lang="en-US" altLang="en-US"/>
              <a:pPr/>
              <a:t>72</a:t>
            </a:fld>
            <a:endParaRPr lang="en-US" altLang="en-US"/>
          </a:p>
        </p:txBody>
      </p:sp>
      <p:sp>
        <p:nvSpPr>
          <p:cNvPr id="939010" name="Rectangle 2"/>
          <p:cNvSpPr>
            <a:spLocks noGrp="1" noChangeArrowheads="1"/>
          </p:cNvSpPr>
          <p:nvPr>
            <p:ph type="title"/>
          </p:nvPr>
        </p:nvSpPr>
        <p:spPr/>
        <p:txBody>
          <a:bodyPr/>
          <a:lstStyle/>
          <a:p>
            <a:r>
              <a:rPr lang="en-US" altLang="en-US"/>
              <a:t>13.13 Assertions</a:t>
            </a:r>
          </a:p>
        </p:txBody>
      </p:sp>
      <p:sp>
        <p:nvSpPr>
          <p:cNvPr id="939011" name="Rectangle 3"/>
          <p:cNvSpPr>
            <a:spLocks noGrp="1" noChangeArrowheads="1"/>
          </p:cNvSpPr>
          <p:nvPr>
            <p:ph type="body" idx="1"/>
          </p:nvPr>
        </p:nvSpPr>
        <p:spPr>
          <a:xfrm>
            <a:off x="414779" y="1341438"/>
            <a:ext cx="11199043" cy="5380038"/>
          </a:xfrm>
        </p:spPr>
        <p:txBody>
          <a:bodyPr>
            <a:normAutofit fontScale="92500" lnSpcReduction="20000"/>
          </a:bodyPr>
          <a:lstStyle/>
          <a:p>
            <a:pPr marL="0" indent="0">
              <a:lnSpc>
                <a:spcPct val="150000"/>
              </a:lnSpc>
              <a:buNone/>
            </a:pPr>
            <a:r>
              <a:rPr lang="en-US" altLang="en-US" sz="2400" b="1" dirty="0">
                <a:latin typeface="Corbel" panose="020B0503020204020204" pitchFamily="34" charset="0"/>
              </a:rPr>
              <a:t>assert statement</a:t>
            </a:r>
          </a:p>
          <a:p>
            <a:pPr lvl="1">
              <a:lnSpc>
                <a:spcPct val="150000"/>
              </a:lnSpc>
            </a:pPr>
            <a:r>
              <a:rPr lang="en-US" altLang="en-US" sz="2400" dirty="0">
                <a:latin typeface="Corbel" panose="020B0503020204020204" pitchFamily="34" charset="0"/>
              </a:rPr>
              <a:t>Evaluates a </a:t>
            </a:r>
            <a:r>
              <a:rPr lang="en-US" altLang="en-US" sz="2400" dirty="0" err="1">
                <a:latin typeface="Corbel" panose="020B0503020204020204" pitchFamily="34" charset="0"/>
              </a:rPr>
              <a:t>boolean</a:t>
            </a:r>
            <a:r>
              <a:rPr lang="en-US" altLang="en-US" sz="2400" dirty="0">
                <a:latin typeface="Corbel" panose="020B0503020204020204" pitchFamily="34" charset="0"/>
              </a:rPr>
              <a:t> expression and determines whether it is true or false</a:t>
            </a:r>
          </a:p>
          <a:p>
            <a:pPr lvl="1">
              <a:lnSpc>
                <a:spcPct val="150000"/>
              </a:lnSpc>
            </a:pPr>
            <a:r>
              <a:rPr lang="en-US" altLang="en-US" sz="2400" dirty="0">
                <a:latin typeface="Corbel" panose="020B0503020204020204" pitchFamily="34" charset="0"/>
              </a:rPr>
              <a:t>Two forms</a:t>
            </a:r>
          </a:p>
          <a:p>
            <a:pPr lvl="2">
              <a:lnSpc>
                <a:spcPct val="150000"/>
              </a:lnSpc>
            </a:pPr>
            <a:r>
              <a:rPr lang="en-US" altLang="en-US" sz="2400" dirty="0">
                <a:latin typeface="Corbel" panose="020B0503020204020204" pitchFamily="34" charset="0"/>
              </a:rPr>
              <a:t>assert </a:t>
            </a:r>
            <a:r>
              <a:rPr lang="en-US" altLang="en-US" sz="2400" i="1" dirty="0">
                <a:latin typeface="Corbel" panose="020B0503020204020204" pitchFamily="34" charset="0"/>
              </a:rPr>
              <a:t>expression</a:t>
            </a:r>
            <a:r>
              <a:rPr lang="en-US" altLang="en-US" sz="2400" dirty="0">
                <a:latin typeface="Corbel" panose="020B0503020204020204" pitchFamily="34" charset="0"/>
              </a:rPr>
              <a:t>; -- </a:t>
            </a:r>
            <a:r>
              <a:rPr lang="en-US" altLang="en-US" sz="2400" dirty="0" err="1">
                <a:latin typeface="Corbel" panose="020B0503020204020204" pitchFamily="34" charset="0"/>
              </a:rPr>
              <a:t>AssertionError</a:t>
            </a:r>
            <a:r>
              <a:rPr lang="en-US" altLang="en-US" sz="2400" dirty="0">
                <a:latin typeface="Corbel" panose="020B0503020204020204" pitchFamily="34" charset="0"/>
              </a:rPr>
              <a:t> is thrown if </a:t>
            </a:r>
            <a:r>
              <a:rPr lang="en-US" altLang="en-US" sz="2400" i="1" dirty="0">
                <a:latin typeface="Corbel" panose="020B0503020204020204" pitchFamily="34" charset="0"/>
              </a:rPr>
              <a:t>expression</a:t>
            </a:r>
            <a:r>
              <a:rPr lang="en-US" altLang="en-US" sz="2400" dirty="0">
                <a:latin typeface="Corbel" panose="020B0503020204020204" pitchFamily="34" charset="0"/>
              </a:rPr>
              <a:t> is false</a:t>
            </a:r>
          </a:p>
          <a:p>
            <a:pPr lvl="2">
              <a:lnSpc>
                <a:spcPct val="150000"/>
              </a:lnSpc>
            </a:pPr>
            <a:r>
              <a:rPr lang="en-US" altLang="en-US" sz="2400" dirty="0">
                <a:latin typeface="Corbel" panose="020B0503020204020204" pitchFamily="34" charset="0"/>
              </a:rPr>
              <a:t>assert </a:t>
            </a:r>
            <a:r>
              <a:rPr lang="en-US" altLang="en-US" sz="2400" i="1" dirty="0">
                <a:latin typeface="Corbel" panose="020B0503020204020204" pitchFamily="34" charset="0"/>
              </a:rPr>
              <a:t>expression1 </a:t>
            </a:r>
            <a:r>
              <a:rPr lang="en-US" altLang="en-US" sz="2400" dirty="0">
                <a:latin typeface="Corbel" panose="020B0503020204020204" pitchFamily="34" charset="0"/>
              </a:rPr>
              <a:t>: </a:t>
            </a:r>
            <a:r>
              <a:rPr lang="en-US" altLang="en-US" sz="2400" i="1" dirty="0">
                <a:latin typeface="Corbel" panose="020B0503020204020204" pitchFamily="34" charset="0"/>
              </a:rPr>
              <a:t>expression2</a:t>
            </a:r>
            <a:r>
              <a:rPr lang="en-US" altLang="en-US" sz="2400" dirty="0">
                <a:latin typeface="Corbel" panose="020B0503020204020204" pitchFamily="34" charset="0"/>
              </a:rPr>
              <a:t>; -- </a:t>
            </a:r>
            <a:r>
              <a:rPr lang="en-US" altLang="en-US" sz="2400" dirty="0" err="1">
                <a:latin typeface="Corbel" panose="020B0503020204020204" pitchFamily="34" charset="0"/>
              </a:rPr>
              <a:t>AssertionError</a:t>
            </a:r>
            <a:r>
              <a:rPr lang="en-US" altLang="en-US" sz="2400" dirty="0">
                <a:latin typeface="Corbel" panose="020B0503020204020204" pitchFamily="34" charset="0"/>
              </a:rPr>
              <a:t> is thrown if </a:t>
            </a:r>
            <a:r>
              <a:rPr lang="en-US" altLang="en-US" sz="2400" i="1" dirty="0">
                <a:latin typeface="Corbel" panose="020B0503020204020204" pitchFamily="34" charset="0"/>
              </a:rPr>
              <a:t>expression1</a:t>
            </a:r>
            <a:r>
              <a:rPr lang="en-US" altLang="en-US" sz="2400" dirty="0">
                <a:latin typeface="Corbel" panose="020B0503020204020204" pitchFamily="34" charset="0"/>
              </a:rPr>
              <a:t> is false, </a:t>
            </a:r>
            <a:r>
              <a:rPr lang="en-US" altLang="en-US" sz="2400" i="1" dirty="0">
                <a:latin typeface="Corbel" panose="020B0503020204020204" pitchFamily="34" charset="0"/>
              </a:rPr>
              <a:t>expression2</a:t>
            </a:r>
            <a:r>
              <a:rPr lang="en-US" altLang="en-US" sz="2400" dirty="0">
                <a:latin typeface="Corbel" panose="020B0503020204020204" pitchFamily="34" charset="0"/>
              </a:rPr>
              <a:t> is error message</a:t>
            </a:r>
          </a:p>
          <a:p>
            <a:pPr lvl="1">
              <a:lnSpc>
                <a:spcPct val="150000"/>
              </a:lnSpc>
            </a:pPr>
            <a:r>
              <a:rPr lang="en-US" altLang="en-US" sz="2400" dirty="0">
                <a:latin typeface="Corbel" panose="020B0503020204020204" pitchFamily="34" charset="0"/>
              </a:rPr>
              <a:t>Used to verify intermediate states to ensure code is working correctly</a:t>
            </a:r>
          </a:p>
          <a:p>
            <a:pPr lvl="1">
              <a:lnSpc>
                <a:spcPct val="150000"/>
              </a:lnSpc>
            </a:pPr>
            <a:r>
              <a:rPr lang="en-US" altLang="en-US" sz="2400" dirty="0">
                <a:latin typeface="Corbel" panose="020B0503020204020204" pitchFamily="34" charset="0"/>
              </a:rPr>
              <a:t>Used to implement preconditions and </a:t>
            </a:r>
            <a:r>
              <a:rPr lang="en-US" altLang="en-US" sz="2400" dirty="0" err="1">
                <a:latin typeface="Corbel" panose="020B0503020204020204" pitchFamily="34" charset="0"/>
              </a:rPr>
              <a:t>postconditions</a:t>
            </a:r>
            <a:r>
              <a:rPr lang="en-US" altLang="en-US" sz="2400" dirty="0">
                <a:latin typeface="Corbel" panose="020B0503020204020204" pitchFamily="34" charset="0"/>
              </a:rPr>
              <a:t> programmatically</a:t>
            </a:r>
          </a:p>
          <a:p>
            <a:pPr>
              <a:lnSpc>
                <a:spcPct val="150000"/>
              </a:lnSpc>
            </a:pPr>
            <a:r>
              <a:rPr lang="en-US" altLang="en-US" sz="2400" dirty="0">
                <a:latin typeface="Corbel" panose="020B0503020204020204" pitchFamily="34" charset="0"/>
              </a:rPr>
              <a:t>By default, assertions are disabled</a:t>
            </a:r>
          </a:p>
          <a:p>
            <a:pPr>
              <a:lnSpc>
                <a:spcPct val="150000"/>
              </a:lnSpc>
            </a:pPr>
            <a:r>
              <a:rPr lang="en-US" altLang="en-US" sz="2400" dirty="0">
                <a:latin typeface="Corbel" panose="020B0503020204020204" pitchFamily="34" charset="0"/>
              </a:rPr>
              <a:t>Assertions can be enabled with the –</a:t>
            </a:r>
            <a:r>
              <a:rPr lang="en-US" altLang="en-US" sz="2400" dirty="0" err="1">
                <a:latin typeface="Corbel" panose="020B0503020204020204" pitchFamily="34" charset="0"/>
              </a:rPr>
              <a:t>ea</a:t>
            </a:r>
            <a:r>
              <a:rPr lang="en-US" altLang="en-US" sz="2400" dirty="0">
                <a:latin typeface="Corbel" panose="020B0503020204020204" pitchFamily="34" charset="0"/>
              </a:rPr>
              <a:t> command-line option</a:t>
            </a:r>
          </a:p>
          <a:p>
            <a:pPr lvl="1">
              <a:lnSpc>
                <a:spcPct val="150000"/>
              </a:lnSpc>
            </a:pPr>
            <a:endParaRPr lang="en-US" altLang="en-US" sz="2400" dirty="0">
              <a:latin typeface="Corbel" panose="020B0503020204020204" pitchFamily="34" charset="0"/>
            </a:endParaRPr>
          </a:p>
        </p:txBody>
      </p:sp>
    </p:spTree>
    <p:extLst>
      <p:ext uri="{BB962C8B-B14F-4D97-AF65-F5344CB8AC3E}">
        <p14:creationId xmlns:p14="http://schemas.microsoft.com/office/powerpoint/2010/main" val="3601623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Questions ?</a:t>
            </a:r>
          </a:p>
        </p:txBody>
      </p:sp>
      <p:sp>
        <p:nvSpPr>
          <p:cNvPr id="3" name="Subtitle 2"/>
          <p:cNvSpPr>
            <a:spLocks noGrp="1"/>
          </p:cNvSpPr>
          <p:nvPr>
            <p:ph type="subTitle" idx="1"/>
          </p:nvPr>
        </p:nvSpPr>
        <p:spPr/>
        <p:txBody>
          <a:bodyPr/>
          <a:lstStyle/>
          <a:p>
            <a:r>
              <a:rPr lang="en-US" dirty="0"/>
              <a:t>You can contact me @</a:t>
            </a:r>
          </a:p>
          <a:p>
            <a:r>
              <a:rPr lang="en-US" dirty="0">
                <a:hlinkClick r:id="rId2"/>
              </a:rPr>
              <a:t>avadekkedhil@wilp.bits-pilani.ac.in</a:t>
            </a:r>
            <a:endParaRPr lang="en-US" dirty="0"/>
          </a:p>
          <a:p>
            <a:r>
              <a:rPr lang="en-US" dirty="0"/>
              <a:t>9881300394</a:t>
            </a:r>
          </a:p>
        </p:txBody>
      </p:sp>
      <p:pic>
        <p:nvPicPr>
          <p:cNvPr id="5" name="Picture Placeholder 4"/>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527" r="14527"/>
          <a:stretch>
            <a:fillRect/>
          </a:stretch>
        </p:blipFill>
        <p:spPr/>
      </p:pic>
    </p:spTree>
    <p:extLst>
      <p:ext uri="{BB962C8B-B14F-4D97-AF65-F5344CB8AC3E}">
        <p14:creationId xmlns:p14="http://schemas.microsoft.com/office/powerpoint/2010/main" val="4110760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 xsi:nil="tru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 xsi:nil="true"/>
    <LocLastLocAttemptVersionLookup xmlns="4873beb7-5857-4685-be1f-d57550cc96cc" xsi:nil="true"/>
    <PolicheckWords xmlns="4873beb7-5857-4685-be1f-d57550cc96cc" xsi:nil="true"/>
    <SubmitterId xmlns="4873beb7-5857-4685-be1f-d57550cc96cc" xsi:nil="true"/>
    <AcquiredFrom xmlns="4873beb7-5857-4685-be1f-d57550cc96cc" xsi:nil="true"/>
    <EditorialStatus xmlns="4873beb7-5857-4685-be1f-d57550cc96cc" xsi:nil="true"/>
    <Markets xmlns="4873beb7-5857-4685-be1f-d57550cc96cc"/>
    <OriginAsset xmlns="4873beb7-5857-4685-be1f-d57550cc96cc" xsi:nil="true"/>
    <AssetStart xmlns="4873beb7-5857-4685-be1f-d57550cc96cc" xsi:nil="true"/>
    <FriendlyTitle xmlns="4873beb7-5857-4685-be1f-d57550cc96cc" xsi:nil="true"/>
    <MarketSpecific xmlns="4873beb7-5857-4685-be1f-d57550cc96cc" xsi:nil="true"/>
    <TPNamespace xmlns="4873beb7-5857-4685-be1f-d57550cc96cc" xsi:nil="true"/>
    <PublishStatusLookup xmlns="4873beb7-5857-4685-be1f-d57550cc96cc"/>
    <APAuthor xmlns="4873beb7-5857-4685-be1f-d57550cc96cc">
      <UserInfo>
        <DisplayName/>
        <AccountId xsi:nil="true"/>
        <AccountType/>
      </UserInfo>
    </APAuthor>
    <TPCommandLine xmlns="4873beb7-5857-4685-be1f-d57550cc96cc" xsi:nil="true"/>
    <IntlLangReviewer xmlns="4873beb7-5857-4685-be1f-d57550cc96cc" xsi:nil="true"/>
    <OpenTemplate xmlns="4873beb7-5857-4685-be1f-d57550cc96cc" xsi:nil="tru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 xsi:nil="true"/>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 xsi:nil="true"/>
    <IntlLocPriority xmlns="4873beb7-5857-4685-be1f-d57550cc96cc" xsi:nil="true"/>
    <UAProjectedTotalWords xmlns="4873beb7-5857-4685-be1f-d57550cc96cc" xsi:nil="true"/>
    <AssetType xmlns="4873beb7-5857-4685-be1f-d57550cc96cc" xsi:nil="true"/>
    <MachineTranslated xmlns="4873beb7-5857-4685-be1f-d57550cc96cc" xsi:nil="true"/>
    <OutputCachingOn xmlns="4873beb7-5857-4685-be1f-d57550cc96cc" xsi:nil="true"/>
    <TemplateStatus xmlns="4873beb7-5857-4685-be1f-d57550cc96cc" xsi:nil="true"/>
    <IsSearchable xmlns="4873beb7-5857-4685-be1f-d57550cc96cc" xsi:nil="true"/>
    <ContentItem xmlns="4873beb7-5857-4685-be1f-d57550cc96cc" xsi:nil="true"/>
    <HandoffToMSDN xmlns="4873beb7-5857-4685-be1f-d57550cc96cc" xsi:nil="true"/>
    <ShowIn xmlns="4873beb7-5857-4685-be1f-d57550cc96cc" xsi:nil="true"/>
    <ThumbnailAssetId xmlns="4873beb7-5857-4685-be1f-d57550cc96cc" xsi:nil="true"/>
    <UALocComments xmlns="4873beb7-5857-4685-be1f-d57550cc96cc" xsi:nil="true"/>
    <UALocRecommendation xmlns="4873beb7-5857-4685-be1f-d57550cc96cc" xsi:nil="true"/>
    <LastModifiedDateTime xmlns="4873beb7-5857-4685-be1f-d57550cc96cc" xsi:nil="true"/>
    <LegacyData xmlns="4873beb7-5857-4685-be1f-d57550cc96cc" xsi:nil="true"/>
    <LocManualTestRequired xmlns="4873beb7-5857-4685-be1f-d57550cc96cc" xsi:nil="true"/>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 xsi:nil="true"/>
    <PlannedPubDate xmlns="4873beb7-5857-4685-be1f-d57550cc96cc" xsi:nil="true"/>
    <CSXSubmissionMarket xmlns="4873beb7-5857-4685-be1f-d57550cc96cc" xsi:nil="true"/>
    <Downloads xmlns="4873beb7-5857-4685-be1f-d57550cc96cc" xsi:nil="true"/>
    <ArtSampleDocs xmlns="4873beb7-5857-4685-be1f-d57550cc96cc" xsi:nil="true"/>
    <TrustLevel xmlns="4873beb7-5857-4685-be1f-d57550cc96cc" xsi:nil="true"/>
    <BlockPublish xmlns="4873beb7-5857-4685-be1f-d57550cc96cc" xsi:nil="true"/>
    <TPLaunchHelpLinkType xmlns="4873beb7-5857-4685-be1f-d57550cc96cc" xsi:nil="tru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 xsi:nil="tru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 xsi:nil="true"/>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 xsi:nil="true"/>
    <PublishTargets xmlns="4873beb7-5857-4685-be1f-d57550cc96cc" xsi:nil="true"/>
    <ApprovalLog xmlns="4873beb7-5857-4685-be1f-d57550cc96cc" xsi:nil="true"/>
    <BugNumber xmlns="4873beb7-5857-4685-be1f-d57550cc96cc" xsi:nil="true"/>
    <CrawlForDependencies xmlns="4873beb7-5857-4685-be1f-d57550cc96cc" xsi:nil="true"/>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 xsi:nil="tru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DDBB83-77C1-4099-A0AA-289882E745E2}">
  <ds:schemaRefs>
    <ds:schemaRef ds:uri="http://purl.org/dc/terms/"/>
    <ds:schemaRef ds:uri="http://purl.org/dc/dcmitype/"/>
    <ds:schemaRef ds:uri="http://purl.org/dc/elements/1.1/"/>
    <ds:schemaRef ds:uri="http://schemas.microsoft.com/office/2006/documentManagement/types"/>
    <ds:schemaRef ds:uri="http://schemas.microsoft.com/office/2006/metadata/properties"/>
    <ds:schemaRef ds:uri="4873beb7-5857-4685-be1f-d57550cc96cc"/>
    <ds:schemaRef ds:uri="http://schemas.openxmlformats.org/package/2006/metadata/core-properties"/>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561E720F-F05D-4536-9C34-0CFCED65D3B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8660</TotalTime>
  <Words>5729</Words>
  <Application>Microsoft Office PowerPoint</Application>
  <PresentationFormat>Widescreen</PresentationFormat>
  <Paragraphs>441</Paragraphs>
  <Slides>73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73</vt:i4>
      </vt:variant>
    </vt:vector>
  </HeadingPairs>
  <TitlesOfParts>
    <vt:vector size="80" baseType="lpstr">
      <vt:lpstr>Arial</vt:lpstr>
      <vt:lpstr>Corbel</vt:lpstr>
      <vt:lpstr>Euphemia</vt:lpstr>
      <vt:lpstr>Lucida Console</vt:lpstr>
      <vt:lpstr>Plantagenet Cherokee</vt:lpstr>
      <vt:lpstr>Wingdings</vt:lpstr>
      <vt:lpstr>Academic Literature 16x9</vt:lpstr>
      <vt:lpstr>Object Oriented Programming &amp; Design</vt:lpstr>
      <vt:lpstr>Agenda</vt:lpstr>
      <vt:lpstr>Assignment</vt:lpstr>
      <vt:lpstr>Assignment Instructions</vt:lpstr>
      <vt:lpstr>Assignment Instructions</vt:lpstr>
      <vt:lpstr>InTERFAceS</vt:lpstr>
      <vt:lpstr>Interfaces in Java</vt:lpstr>
      <vt:lpstr>Interface &amp; Class Similarities</vt:lpstr>
      <vt:lpstr>Interface &amp; Class Difference</vt:lpstr>
      <vt:lpstr>Interface &amp; Class Example</vt:lpstr>
      <vt:lpstr>Interface Why do we need them?</vt:lpstr>
      <vt:lpstr>Declaring Interface</vt:lpstr>
      <vt:lpstr>Interface Properties</vt:lpstr>
      <vt:lpstr>Implementing an Interface</vt:lpstr>
      <vt:lpstr>Interface Examples</vt:lpstr>
      <vt:lpstr>Extending Interface Examples</vt:lpstr>
      <vt:lpstr>Implementing Interface Examples</vt:lpstr>
      <vt:lpstr>Implementing Interface Examples</vt:lpstr>
      <vt:lpstr>Implementing Interface Examples</vt:lpstr>
      <vt:lpstr>Nested Interfaces</vt:lpstr>
      <vt:lpstr>Nested Interfaces - Class</vt:lpstr>
      <vt:lpstr>Extending Interfaces</vt:lpstr>
      <vt:lpstr>Extending Interfaces</vt:lpstr>
      <vt:lpstr>Extending Interfaces</vt:lpstr>
      <vt:lpstr>Extending Multiple Interface</vt:lpstr>
      <vt:lpstr>Tag or Marker Interface</vt:lpstr>
      <vt:lpstr>Interface vs Abstract Class</vt:lpstr>
      <vt:lpstr>Interfaces Recap</vt:lpstr>
      <vt:lpstr>Interfaces in Java</vt:lpstr>
      <vt:lpstr>Interface Key Points to Remember</vt:lpstr>
      <vt:lpstr>Interface Key Points to Remember</vt:lpstr>
      <vt:lpstr>Nested Interface</vt:lpstr>
      <vt:lpstr>Nested Interfaces</vt:lpstr>
      <vt:lpstr>Nested Interface – In Class</vt:lpstr>
      <vt:lpstr>Nested Interface – In Interface</vt:lpstr>
      <vt:lpstr>Extending Interfaces</vt:lpstr>
      <vt:lpstr>Extending Interfaces</vt:lpstr>
      <vt:lpstr>Extending Multiple Interface</vt:lpstr>
      <vt:lpstr>Inner Classes</vt:lpstr>
      <vt:lpstr>Inner classes</vt:lpstr>
      <vt:lpstr>Inner classes</vt:lpstr>
      <vt:lpstr>Accessing Private Values</vt:lpstr>
      <vt:lpstr>Method-local Inner Class</vt:lpstr>
      <vt:lpstr>Method-local Inner Class</vt:lpstr>
      <vt:lpstr>Anonymous Inner Class</vt:lpstr>
      <vt:lpstr>Example: Anonymous Inner Class</vt:lpstr>
      <vt:lpstr>Why Anonymous Inner Class</vt:lpstr>
      <vt:lpstr>Why Anonymous Inner Class</vt:lpstr>
      <vt:lpstr>Disadvantages</vt:lpstr>
      <vt:lpstr>Difference Between Static Nested &amp; Inner Class</vt:lpstr>
      <vt:lpstr>EXCEPTION HANDLING</vt:lpstr>
      <vt:lpstr>Exception Handling </vt:lpstr>
      <vt:lpstr>Exception Categories </vt:lpstr>
      <vt:lpstr>Exception Categories </vt:lpstr>
      <vt:lpstr>What Happens during Exception</vt:lpstr>
      <vt:lpstr>What Happens during Exception</vt:lpstr>
      <vt:lpstr>Exception Example</vt:lpstr>
      <vt:lpstr>Exception Example</vt:lpstr>
      <vt:lpstr>Error vs Exception</vt:lpstr>
      <vt:lpstr>Handle or Declare</vt:lpstr>
      <vt:lpstr>Throwable Class</vt:lpstr>
      <vt:lpstr>Catching Exceptions</vt:lpstr>
      <vt:lpstr>Writing Try/Catch Blocks</vt:lpstr>
      <vt:lpstr>Writing Try/Catch Blocks</vt:lpstr>
      <vt:lpstr>Using throws clause</vt:lpstr>
      <vt:lpstr>Using throws clause</vt:lpstr>
      <vt:lpstr>Exception Hierarchy</vt:lpstr>
      <vt:lpstr>Creating Your Own Exception</vt:lpstr>
      <vt:lpstr>Chained Exception</vt:lpstr>
      <vt:lpstr>Preconditions and Postconditions</vt:lpstr>
      <vt:lpstr>Assertions</vt:lpstr>
      <vt:lpstr>13.13 Assertions</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&amp; Design</dc:title>
  <dc:creator>Arun Vadekkedhil</dc:creator>
  <cp:lastModifiedBy>Arun Vadekkedhil</cp:lastModifiedBy>
  <cp:revision>225</cp:revision>
  <dcterms:created xsi:type="dcterms:W3CDTF">2017-10-13T04:49:25Z</dcterms:created>
  <dcterms:modified xsi:type="dcterms:W3CDTF">2018-12-16T02:17:22Z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