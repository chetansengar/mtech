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handoutMasterIdLst>
    <p:handoutMasterId r:id="rId44"/>
  </p:handoutMasterIdLst>
  <p:sldIdLst>
    <p:sldId id="256" r:id="rId5"/>
    <p:sldId id="257" r:id="rId6"/>
    <p:sldId id="323" r:id="rId7"/>
    <p:sldId id="372" r:id="rId8"/>
    <p:sldId id="413" r:id="rId9"/>
    <p:sldId id="414" r:id="rId10"/>
    <p:sldId id="447" r:id="rId11"/>
    <p:sldId id="415" r:id="rId12"/>
    <p:sldId id="416" r:id="rId13"/>
    <p:sldId id="420" r:id="rId14"/>
    <p:sldId id="417" r:id="rId15"/>
    <p:sldId id="422" r:id="rId16"/>
    <p:sldId id="418" r:id="rId17"/>
    <p:sldId id="421" r:id="rId18"/>
    <p:sldId id="419" r:id="rId19"/>
    <p:sldId id="423" r:id="rId20"/>
    <p:sldId id="425" r:id="rId21"/>
    <p:sldId id="424" r:id="rId22"/>
    <p:sldId id="426" r:id="rId23"/>
    <p:sldId id="427" r:id="rId24"/>
    <p:sldId id="428" r:id="rId25"/>
    <p:sldId id="429" r:id="rId26"/>
    <p:sldId id="430" r:id="rId27"/>
    <p:sldId id="431" r:id="rId28"/>
    <p:sldId id="432" r:id="rId29"/>
    <p:sldId id="433" r:id="rId30"/>
    <p:sldId id="435" r:id="rId31"/>
    <p:sldId id="436" r:id="rId32"/>
    <p:sldId id="437" r:id="rId33"/>
    <p:sldId id="438" r:id="rId34"/>
    <p:sldId id="439" r:id="rId35"/>
    <p:sldId id="440" r:id="rId36"/>
    <p:sldId id="441" r:id="rId37"/>
    <p:sldId id="442" r:id="rId38"/>
    <p:sldId id="443" r:id="rId39"/>
    <p:sldId id="444" r:id="rId40"/>
    <p:sldId id="446" r:id="rId41"/>
    <p:sldId id="29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161" autoAdjust="0"/>
  </p:normalViewPr>
  <p:slideViewPr>
    <p:cSldViewPr snapToGrid="0" showGuides="1">
      <p:cViewPr varScale="1">
        <p:scale>
          <a:sx n="80" d="100"/>
          <a:sy n="80" d="100"/>
        </p:scale>
        <p:origin x="782" y="67"/>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Vadekkedhil" userId="42e6ed11-22d2-49de-94d6-fd78e15c9969" providerId="ADAL" clId="{353E2D15-EB5D-4928-9116-3F61CD2CF215}"/>
    <pc:docChg chg="delSld">
      <pc:chgData name="Arun Vadekkedhil" userId="42e6ed11-22d2-49de-94d6-fd78e15c9969" providerId="ADAL" clId="{353E2D15-EB5D-4928-9116-3F61CD2CF215}" dt="2019-11-17T02:26:02.384" v="1" actId="2696"/>
      <pc:docMkLst>
        <pc:docMk/>
      </pc:docMkLst>
      <pc:sldChg chg="del">
        <pc:chgData name="Arun Vadekkedhil" userId="42e6ed11-22d2-49de-94d6-fd78e15c9969" providerId="ADAL" clId="{353E2D15-EB5D-4928-9116-3F61CD2CF215}" dt="2019-11-17T02:16:26.888" v="0" actId="2696"/>
        <pc:sldMkLst>
          <pc:docMk/>
          <pc:sldMk cId="1409975757" sldId="434"/>
        </pc:sldMkLst>
      </pc:sldChg>
      <pc:sldChg chg="del">
        <pc:chgData name="Arun Vadekkedhil" userId="42e6ed11-22d2-49de-94d6-fd78e15c9969" providerId="ADAL" clId="{353E2D15-EB5D-4928-9116-3F61CD2CF215}" dt="2019-11-17T02:26:02.384" v="1" actId="2696"/>
        <pc:sldMkLst>
          <pc:docMk/>
          <pc:sldMk cId="1789670718" sldId="445"/>
        </pc:sldMkLst>
      </pc:sldChg>
    </pc:docChg>
  </pc:docChgLst>
  <pc:docChgLst>
    <pc:chgData name="Arun Vadekkedhil" userId="42e6ed11-22d2-49de-94d6-fd78e15c9969" providerId="ADAL" clId="{739799F9-2C41-4807-B812-CF3B8BD53EBE}"/>
    <pc:docChg chg="undo addSld modSld sldOrd">
      <pc:chgData name="Arun Vadekkedhil" userId="42e6ed11-22d2-49de-94d6-fd78e15c9969" providerId="ADAL" clId="{739799F9-2C41-4807-B812-CF3B8BD53EBE}" dt="2018-10-20T11:37:39.227" v="43" actId="6549"/>
      <pc:docMkLst>
        <pc:docMk/>
      </pc:docMkLst>
      <pc:sldChg chg="modSp">
        <pc:chgData name="Arun Vadekkedhil" userId="42e6ed11-22d2-49de-94d6-fd78e15c9969" providerId="ADAL" clId="{739799F9-2C41-4807-B812-CF3B8BD53EBE}" dt="2018-10-20T03:47:57.369" v="26" actId="113"/>
        <pc:sldMkLst>
          <pc:docMk/>
          <pc:sldMk cId="2592605451" sldId="414"/>
        </pc:sldMkLst>
        <pc:spChg chg="mod">
          <ac:chgData name="Arun Vadekkedhil" userId="42e6ed11-22d2-49de-94d6-fd78e15c9969" providerId="ADAL" clId="{739799F9-2C41-4807-B812-CF3B8BD53EBE}" dt="2018-10-20T03:47:57.369" v="26" actId="113"/>
          <ac:spMkLst>
            <pc:docMk/>
            <pc:sldMk cId="2592605451" sldId="414"/>
            <ac:spMk id="3" creationId="{00000000-0000-0000-0000-000000000000}"/>
          </ac:spMkLst>
        </pc:spChg>
      </pc:sldChg>
      <pc:sldChg chg="modSp">
        <pc:chgData name="Arun Vadekkedhil" userId="42e6ed11-22d2-49de-94d6-fd78e15c9969" providerId="ADAL" clId="{739799F9-2C41-4807-B812-CF3B8BD53EBE}" dt="2018-10-20T03:51:44.758" v="38" actId="115"/>
        <pc:sldMkLst>
          <pc:docMk/>
          <pc:sldMk cId="332869709" sldId="416"/>
        </pc:sldMkLst>
        <pc:spChg chg="mod">
          <ac:chgData name="Arun Vadekkedhil" userId="42e6ed11-22d2-49de-94d6-fd78e15c9969" providerId="ADAL" clId="{739799F9-2C41-4807-B812-CF3B8BD53EBE}" dt="2018-10-20T03:51:44.758" v="38" actId="115"/>
          <ac:spMkLst>
            <pc:docMk/>
            <pc:sldMk cId="332869709" sldId="416"/>
            <ac:spMk id="3" creationId="{00000000-0000-0000-0000-000000000000}"/>
          </ac:spMkLst>
        </pc:spChg>
      </pc:sldChg>
      <pc:sldChg chg="modSp">
        <pc:chgData name="Arun Vadekkedhil" userId="42e6ed11-22d2-49de-94d6-fd78e15c9969" providerId="ADAL" clId="{739799F9-2C41-4807-B812-CF3B8BD53EBE}" dt="2018-10-20T05:26:16.594" v="39" actId="20577"/>
        <pc:sldMkLst>
          <pc:docMk/>
          <pc:sldMk cId="2765560299" sldId="425"/>
        </pc:sldMkLst>
        <pc:spChg chg="mod">
          <ac:chgData name="Arun Vadekkedhil" userId="42e6ed11-22d2-49de-94d6-fd78e15c9969" providerId="ADAL" clId="{739799F9-2C41-4807-B812-CF3B8BD53EBE}" dt="2018-10-20T05:26:16.594" v="39" actId="20577"/>
          <ac:spMkLst>
            <pc:docMk/>
            <pc:sldMk cId="2765560299" sldId="425"/>
            <ac:spMk id="6" creationId="{00000000-0000-0000-0000-000000000000}"/>
          </ac:spMkLst>
        </pc:spChg>
      </pc:sldChg>
      <pc:sldChg chg="modSp">
        <pc:chgData name="Arun Vadekkedhil" userId="42e6ed11-22d2-49de-94d6-fd78e15c9969" providerId="ADAL" clId="{739799F9-2C41-4807-B812-CF3B8BD53EBE}" dt="2018-10-20T11:37:39.227" v="43" actId="6549"/>
        <pc:sldMkLst>
          <pc:docMk/>
          <pc:sldMk cId="1192884077" sldId="433"/>
        </pc:sldMkLst>
        <pc:spChg chg="mod">
          <ac:chgData name="Arun Vadekkedhil" userId="42e6ed11-22d2-49de-94d6-fd78e15c9969" providerId="ADAL" clId="{739799F9-2C41-4807-B812-CF3B8BD53EBE}" dt="2018-10-20T11:37:39.227" v="43" actId="6549"/>
          <ac:spMkLst>
            <pc:docMk/>
            <pc:sldMk cId="1192884077" sldId="433"/>
            <ac:spMk id="5" creationId="{00000000-0000-0000-0000-000000000000}"/>
          </ac:spMkLst>
        </pc:spChg>
      </pc:sldChg>
      <pc:sldChg chg="addSp delSp modSp add ord">
        <pc:chgData name="Arun Vadekkedhil" userId="42e6ed11-22d2-49de-94d6-fd78e15c9969" providerId="ADAL" clId="{739799F9-2C41-4807-B812-CF3B8BD53EBE}" dt="2018-10-20T03:48:05.384" v="27"/>
        <pc:sldMkLst>
          <pc:docMk/>
          <pc:sldMk cId="730324694" sldId="447"/>
        </pc:sldMkLst>
        <pc:spChg chg="mod">
          <ac:chgData name="Arun Vadekkedhil" userId="42e6ed11-22d2-49de-94d6-fd78e15c9969" providerId="ADAL" clId="{739799F9-2C41-4807-B812-CF3B8BD53EBE}" dt="2018-10-20T03:45:57.436" v="4" actId="20577"/>
          <ac:spMkLst>
            <pc:docMk/>
            <pc:sldMk cId="730324694" sldId="447"/>
            <ac:spMk id="2" creationId="{00000000-0000-0000-0000-000000000000}"/>
          </ac:spMkLst>
        </pc:spChg>
        <pc:spChg chg="add del mod">
          <ac:chgData name="Arun Vadekkedhil" userId="42e6ed11-22d2-49de-94d6-fd78e15c9969" providerId="ADAL" clId="{739799F9-2C41-4807-B812-CF3B8BD53EBE}" dt="2018-10-20T03:47:41.663" v="25" actId="114"/>
          <ac:spMkLst>
            <pc:docMk/>
            <pc:sldMk cId="730324694" sldId="447"/>
            <ac:spMk id="3" creationId="{00000000-0000-0000-0000-000000000000}"/>
          </ac:spMkLst>
        </pc:spChg>
        <pc:spChg chg="add del">
          <ac:chgData name="Arun Vadekkedhil" userId="42e6ed11-22d2-49de-94d6-fd78e15c9969" providerId="ADAL" clId="{739799F9-2C41-4807-B812-CF3B8BD53EBE}" dt="2018-10-20T03:46:23.463" v="6"/>
          <ac:spMkLst>
            <pc:docMk/>
            <pc:sldMk cId="730324694" sldId="447"/>
            <ac:spMk id="4" creationId="{A6683AFD-1F12-4335-A368-E78315FE707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11/17/2019</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11/17/2019</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docs.oracle.com/javase/tutorial/networking/sockets/readingWriting.html"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docs.oracle.com/javase/tutorial/networking/index.html"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a:t>
            </a:fld>
            <a:endParaRPr lang="en-US" dirty="0"/>
          </a:p>
        </p:txBody>
      </p:sp>
    </p:spTree>
    <p:extLst>
      <p:ext uri="{BB962C8B-B14F-4D97-AF65-F5344CB8AC3E}">
        <p14:creationId xmlns:p14="http://schemas.microsoft.com/office/powerpoint/2010/main" val="235652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5</a:t>
            </a:fld>
            <a:endParaRPr lang="en-US" dirty="0"/>
          </a:p>
        </p:txBody>
      </p:sp>
    </p:spTree>
    <p:extLst>
      <p:ext uri="{BB962C8B-B14F-4D97-AF65-F5344CB8AC3E}">
        <p14:creationId xmlns:p14="http://schemas.microsoft.com/office/powerpoint/2010/main" val="2432982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6</a:t>
            </a:fld>
            <a:endParaRPr lang="en-US" dirty="0"/>
          </a:p>
        </p:txBody>
      </p:sp>
    </p:spTree>
    <p:extLst>
      <p:ext uri="{BB962C8B-B14F-4D97-AF65-F5344CB8AC3E}">
        <p14:creationId xmlns:p14="http://schemas.microsoft.com/office/powerpoint/2010/main" val="3478282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7</a:t>
            </a:fld>
            <a:endParaRPr lang="en-US" dirty="0"/>
          </a:p>
        </p:txBody>
      </p:sp>
    </p:spTree>
    <p:extLst>
      <p:ext uri="{BB962C8B-B14F-4D97-AF65-F5344CB8AC3E}">
        <p14:creationId xmlns:p14="http://schemas.microsoft.com/office/powerpoint/2010/main" val="2744553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8</a:t>
            </a:fld>
            <a:endParaRPr lang="en-US" dirty="0"/>
          </a:p>
        </p:txBody>
      </p:sp>
    </p:spTree>
    <p:extLst>
      <p:ext uri="{BB962C8B-B14F-4D97-AF65-F5344CB8AC3E}">
        <p14:creationId xmlns:p14="http://schemas.microsoft.com/office/powerpoint/2010/main" val="2885359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9</a:t>
            </a:fld>
            <a:endParaRPr lang="en-US" dirty="0"/>
          </a:p>
        </p:txBody>
      </p:sp>
    </p:spTree>
    <p:extLst>
      <p:ext uri="{BB962C8B-B14F-4D97-AF65-F5344CB8AC3E}">
        <p14:creationId xmlns:p14="http://schemas.microsoft.com/office/powerpoint/2010/main" val="1466810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10</a:t>
            </a:fld>
            <a:endParaRPr lang="en-US" dirty="0"/>
          </a:p>
        </p:txBody>
      </p:sp>
    </p:spTree>
    <p:extLst>
      <p:ext uri="{BB962C8B-B14F-4D97-AF65-F5344CB8AC3E}">
        <p14:creationId xmlns:p14="http://schemas.microsoft.com/office/powerpoint/2010/main" val="4123739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11</a:t>
            </a:fld>
            <a:endParaRPr lang="en-US" dirty="0"/>
          </a:p>
        </p:txBody>
      </p:sp>
    </p:spTree>
    <p:extLst>
      <p:ext uri="{BB962C8B-B14F-4D97-AF65-F5344CB8AC3E}">
        <p14:creationId xmlns:p14="http://schemas.microsoft.com/office/powerpoint/2010/main" val="65767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12</a:t>
            </a:fld>
            <a:endParaRPr lang="en-US" dirty="0"/>
          </a:p>
        </p:txBody>
      </p:sp>
    </p:spTree>
    <p:extLst>
      <p:ext uri="{BB962C8B-B14F-4D97-AF65-F5344CB8AC3E}">
        <p14:creationId xmlns:p14="http://schemas.microsoft.com/office/powerpoint/2010/main" val="2581351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13</a:t>
            </a:fld>
            <a:endParaRPr lang="en-US" dirty="0"/>
          </a:p>
        </p:txBody>
      </p:sp>
    </p:spTree>
    <p:extLst>
      <p:ext uri="{BB962C8B-B14F-4D97-AF65-F5344CB8AC3E}">
        <p14:creationId xmlns:p14="http://schemas.microsoft.com/office/powerpoint/2010/main" val="1114478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14</a:t>
            </a:fld>
            <a:endParaRPr lang="en-US" dirty="0"/>
          </a:p>
        </p:txBody>
      </p:sp>
    </p:spTree>
    <p:extLst>
      <p:ext uri="{BB962C8B-B14F-4D97-AF65-F5344CB8AC3E}">
        <p14:creationId xmlns:p14="http://schemas.microsoft.com/office/powerpoint/2010/main" val="2420126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16</a:t>
            </a:fld>
            <a:endParaRPr lang="en-US" dirty="0"/>
          </a:p>
        </p:txBody>
      </p:sp>
    </p:spTree>
    <p:extLst>
      <p:ext uri="{BB962C8B-B14F-4D97-AF65-F5344CB8AC3E}">
        <p14:creationId xmlns:p14="http://schemas.microsoft.com/office/powerpoint/2010/main" val="496356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17</a:t>
            </a:fld>
            <a:endParaRPr lang="en-US" dirty="0"/>
          </a:p>
        </p:txBody>
      </p:sp>
    </p:spTree>
    <p:extLst>
      <p:ext uri="{BB962C8B-B14F-4D97-AF65-F5344CB8AC3E}">
        <p14:creationId xmlns:p14="http://schemas.microsoft.com/office/powerpoint/2010/main" val="3561446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18</a:t>
            </a:fld>
            <a:endParaRPr lang="en-US" dirty="0"/>
          </a:p>
        </p:txBody>
      </p:sp>
    </p:spTree>
    <p:extLst>
      <p:ext uri="{BB962C8B-B14F-4D97-AF65-F5344CB8AC3E}">
        <p14:creationId xmlns:p14="http://schemas.microsoft.com/office/powerpoint/2010/main" val="593029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mentioned earlier, the difference is simply for convenience. </a:t>
            </a:r>
          </a:p>
          <a:p>
            <a:r>
              <a:rPr lang="en-US" sz="1200" b="0" i="0" kern="1200" dirty="0">
                <a:solidFill>
                  <a:schemeClr val="tx1"/>
                </a:solidFill>
                <a:effectLst/>
                <a:latin typeface="+mn-lt"/>
                <a:ea typeface="+mn-ea"/>
                <a:cs typeface="+mn-cs"/>
              </a:rPr>
              <a:t>Some streams are inherently byte oriented and some are character oriented. </a:t>
            </a:r>
          </a:p>
          <a:p>
            <a:r>
              <a:rPr lang="en-US" sz="1200" b="0" i="0" kern="1200" dirty="0">
                <a:solidFill>
                  <a:schemeClr val="tx1"/>
                </a:solidFill>
                <a:effectLst/>
                <a:latin typeface="+mn-lt"/>
                <a:ea typeface="+mn-ea"/>
                <a:cs typeface="+mn-cs"/>
              </a:rPr>
              <a:t>As a result, it is always convenient to handle them with appropriate classes and methods defined in I/O stream package. </a:t>
            </a:r>
          </a:p>
          <a:p>
            <a:r>
              <a:rPr lang="en-US" sz="1200" b="0" i="0" kern="1200" dirty="0">
                <a:solidFill>
                  <a:schemeClr val="tx1"/>
                </a:solidFill>
                <a:effectLst/>
                <a:latin typeface="+mn-lt"/>
                <a:ea typeface="+mn-ea"/>
                <a:cs typeface="+mn-cs"/>
              </a:rPr>
              <a:t>For example, the </a:t>
            </a:r>
            <a:r>
              <a:rPr lang="en-US" sz="1200" b="0" i="1" kern="1200" dirty="0" err="1">
                <a:solidFill>
                  <a:schemeClr val="tx1"/>
                </a:solidFill>
                <a:effectLst/>
                <a:latin typeface="+mn-lt"/>
                <a:ea typeface="+mn-ea"/>
                <a:cs typeface="+mn-cs"/>
              </a:rPr>
              <a:t>FileInputStream</a:t>
            </a:r>
            <a:r>
              <a:rPr lang="en-US" sz="1200" b="0" i="0" kern="1200" dirty="0">
                <a:solidFill>
                  <a:schemeClr val="tx1"/>
                </a:solidFill>
                <a:effectLst/>
                <a:latin typeface="+mn-lt"/>
                <a:ea typeface="+mn-ea"/>
                <a:cs typeface="+mn-cs"/>
              </a:rPr>
              <a:t> is meant for reading a raw stream of bytes, such as image data. </a:t>
            </a:r>
          </a:p>
          <a:p>
            <a:r>
              <a:rPr lang="en-US" sz="1200" b="0" i="0" kern="1200" dirty="0">
                <a:solidFill>
                  <a:schemeClr val="tx1"/>
                </a:solidFill>
                <a:effectLst/>
                <a:latin typeface="+mn-lt"/>
                <a:ea typeface="+mn-ea"/>
                <a:cs typeface="+mn-cs"/>
              </a:rPr>
              <a:t>Similarly, the </a:t>
            </a:r>
            <a:r>
              <a:rPr lang="en-US" sz="1200" b="0" i="1" kern="1200" dirty="0" err="1">
                <a:solidFill>
                  <a:schemeClr val="tx1"/>
                </a:solidFill>
                <a:effectLst/>
                <a:latin typeface="+mn-lt"/>
                <a:ea typeface="+mn-ea"/>
                <a:cs typeface="+mn-cs"/>
              </a:rPr>
              <a:t>FileOutputStream</a:t>
            </a:r>
            <a:r>
              <a:rPr lang="en-US" sz="1200" b="0" i="0" kern="1200" dirty="0">
                <a:solidFill>
                  <a:schemeClr val="tx1"/>
                </a:solidFill>
                <a:effectLst/>
                <a:latin typeface="+mn-lt"/>
                <a:ea typeface="+mn-ea"/>
                <a:cs typeface="+mn-cs"/>
              </a:rPr>
              <a:t> object may be used to write a raw byte stream. </a:t>
            </a:r>
          </a:p>
          <a:p>
            <a:r>
              <a:rPr lang="en-US" sz="1200" b="0" i="0" kern="1200" dirty="0">
                <a:solidFill>
                  <a:schemeClr val="tx1"/>
                </a:solidFill>
                <a:effectLst/>
                <a:latin typeface="+mn-lt"/>
                <a:ea typeface="+mn-ea"/>
                <a:cs typeface="+mn-cs"/>
              </a:rPr>
              <a:t>Under similar circumstances, reading and writing files based on character-oriented stream of data </a:t>
            </a:r>
            <a:r>
              <a:rPr lang="en-US" sz="1200" b="0" i="1" kern="1200" dirty="0" err="1">
                <a:solidFill>
                  <a:schemeClr val="tx1"/>
                </a:solidFill>
                <a:effectLst/>
                <a:latin typeface="+mn-lt"/>
                <a:ea typeface="+mn-ea"/>
                <a:cs typeface="+mn-cs"/>
              </a:rPr>
              <a:t>FileReader</a:t>
            </a:r>
            <a:r>
              <a:rPr lang="en-US" sz="1200" b="0" i="0" kern="1200" dirty="0">
                <a:solidFill>
                  <a:schemeClr val="tx1"/>
                </a:solidFill>
                <a:effectLst/>
                <a:latin typeface="+mn-lt"/>
                <a:ea typeface="+mn-ea"/>
                <a:cs typeface="+mn-cs"/>
              </a:rPr>
              <a:t> and </a:t>
            </a:r>
            <a:r>
              <a:rPr lang="en-US" sz="1200" b="0" i="1" kern="1200" dirty="0" err="1">
                <a:solidFill>
                  <a:schemeClr val="tx1"/>
                </a:solidFill>
                <a:effectLst/>
                <a:latin typeface="+mn-lt"/>
                <a:ea typeface="+mn-ea"/>
                <a:cs typeface="+mn-cs"/>
              </a:rPr>
              <a:t>FileWriter</a:t>
            </a:r>
            <a:r>
              <a:rPr lang="en-US" sz="1200" b="0" i="0" kern="1200" dirty="0">
                <a:solidFill>
                  <a:schemeClr val="tx1"/>
                </a:solidFill>
                <a:effectLst/>
                <a:latin typeface="+mn-lt"/>
                <a:ea typeface="+mn-ea"/>
                <a:cs typeface="+mn-cs"/>
              </a:rPr>
              <a:t> may be used, respectively. </a:t>
            </a:r>
          </a:p>
          <a:p>
            <a:r>
              <a:rPr lang="en-US" sz="1200" b="0" i="0" kern="1200" dirty="0">
                <a:solidFill>
                  <a:schemeClr val="tx1"/>
                </a:solidFill>
                <a:effectLst/>
                <a:latin typeface="+mn-lt"/>
                <a:ea typeface="+mn-ea"/>
                <a:cs typeface="+mn-cs"/>
              </a:rPr>
              <a:t>These classes provide specific methods to manipulate appropriate stream data.</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19</a:t>
            </a:fld>
            <a:endParaRPr lang="en-US" dirty="0"/>
          </a:p>
        </p:txBody>
      </p:sp>
    </p:spTree>
    <p:extLst>
      <p:ext uri="{BB962C8B-B14F-4D97-AF65-F5344CB8AC3E}">
        <p14:creationId xmlns:p14="http://schemas.microsoft.com/office/powerpoint/2010/main" val="1106519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mentioned earlier, the difference is simply for convenience. </a:t>
            </a:r>
          </a:p>
          <a:p>
            <a:r>
              <a:rPr lang="en-US" sz="1200" b="0" i="0" kern="1200" dirty="0">
                <a:solidFill>
                  <a:schemeClr val="tx1"/>
                </a:solidFill>
                <a:effectLst/>
                <a:latin typeface="+mn-lt"/>
                <a:ea typeface="+mn-ea"/>
                <a:cs typeface="+mn-cs"/>
              </a:rPr>
              <a:t>Some streams are inherently byte oriented and some are character oriented. </a:t>
            </a:r>
          </a:p>
          <a:p>
            <a:r>
              <a:rPr lang="en-US" sz="1200" b="0" i="0" kern="1200" dirty="0">
                <a:solidFill>
                  <a:schemeClr val="tx1"/>
                </a:solidFill>
                <a:effectLst/>
                <a:latin typeface="+mn-lt"/>
                <a:ea typeface="+mn-ea"/>
                <a:cs typeface="+mn-cs"/>
              </a:rPr>
              <a:t>As a result, it is always convenient to handle them with appropriate classes and methods defined in I/O stream package. </a:t>
            </a:r>
          </a:p>
          <a:p>
            <a:r>
              <a:rPr lang="en-US" sz="1200" b="0" i="0" kern="1200" dirty="0">
                <a:solidFill>
                  <a:schemeClr val="tx1"/>
                </a:solidFill>
                <a:effectLst/>
                <a:latin typeface="+mn-lt"/>
                <a:ea typeface="+mn-ea"/>
                <a:cs typeface="+mn-cs"/>
              </a:rPr>
              <a:t>For example, the </a:t>
            </a:r>
            <a:r>
              <a:rPr lang="en-US" sz="1200" b="0" i="1" kern="1200" dirty="0" err="1">
                <a:solidFill>
                  <a:schemeClr val="tx1"/>
                </a:solidFill>
                <a:effectLst/>
                <a:latin typeface="+mn-lt"/>
                <a:ea typeface="+mn-ea"/>
                <a:cs typeface="+mn-cs"/>
              </a:rPr>
              <a:t>FileInputStream</a:t>
            </a:r>
            <a:r>
              <a:rPr lang="en-US" sz="1200" b="0" i="0" kern="1200" dirty="0">
                <a:solidFill>
                  <a:schemeClr val="tx1"/>
                </a:solidFill>
                <a:effectLst/>
                <a:latin typeface="+mn-lt"/>
                <a:ea typeface="+mn-ea"/>
                <a:cs typeface="+mn-cs"/>
              </a:rPr>
              <a:t> is meant for reading a raw stream of bytes, such as image data. </a:t>
            </a:r>
          </a:p>
          <a:p>
            <a:r>
              <a:rPr lang="en-US" sz="1200" b="0" i="0" kern="1200" dirty="0">
                <a:solidFill>
                  <a:schemeClr val="tx1"/>
                </a:solidFill>
                <a:effectLst/>
                <a:latin typeface="+mn-lt"/>
                <a:ea typeface="+mn-ea"/>
                <a:cs typeface="+mn-cs"/>
              </a:rPr>
              <a:t>Similarly, the </a:t>
            </a:r>
            <a:r>
              <a:rPr lang="en-US" sz="1200" b="0" i="1" kern="1200" dirty="0" err="1">
                <a:solidFill>
                  <a:schemeClr val="tx1"/>
                </a:solidFill>
                <a:effectLst/>
                <a:latin typeface="+mn-lt"/>
                <a:ea typeface="+mn-ea"/>
                <a:cs typeface="+mn-cs"/>
              </a:rPr>
              <a:t>FileOutputStream</a:t>
            </a:r>
            <a:r>
              <a:rPr lang="en-US" sz="1200" b="0" i="0" kern="1200" dirty="0">
                <a:solidFill>
                  <a:schemeClr val="tx1"/>
                </a:solidFill>
                <a:effectLst/>
                <a:latin typeface="+mn-lt"/>
                <a:ea typeface="+mn-ea"/>
                <a:cs typeface="+mn-cs"/>
              </a:rPr>
              <a:t> object may be used to write a raw byte stream. </a:t>
            </a:r>
          </a:p>
          <a:p>
            <a:r>
              <a:rPr lang="en-US" sz="1200" b="0" i="0" kern="1200" dirty="0">
                <a:solidFill>
                  <a:schemeClr val="tx1"/>
                </a:solidFill>
                <a:effectLst/>
                <a:latin typeface="+mn-lt"/>
                <a:ea typeface="+mn-ea"/>
                <a:cs typeface="+mn-cs"/>
              </a:rPr>
              <a:t>Under similar circumstances, reading and writing files based on character-oriented stream of data </a:t>
            </a:r>
            <a:r>
              <a:rPr lang="en-US" sz="1200" b="0" i="1" kern="1200" dirty="0" err="1">
                <a:solidFill>
                  <a:schemeClr val="tx1"/>
                </a:solidFill>
                <a:effectLst/>
                <a:latin typeface="+mn-lt"/>
                <a:ea typeface="+mn-ea"/>
                <a:cs typeface="+mn-cs"/>
              </a:rPr>
              <a:t>FileReader</a:t>
            </a:r>
            <a:r>
              <a:rPr lang="en-US" sz="1200" b="0" i="0" kern="1200" dirty="0">
                <a:solidFill>
                  <a:schemeClr val="tx1"/>
                </a:solidFill>
                <a:effectLst/>
                <a:latin typeface="+mn-lt"/>
                <a:ea typeface="+mn-ea"/>
                <a:cs typeface="+mn-cs"/>
              </a:rPr>
              <a:t> and </a:t>
            </a:r>
            <a:r>
              <a:rPr lang="en-US" sz="1200" b="0" i="1" kern="1200" dirty="0" err="1">
                <a:solidFill>
                  <a:schemeClr val="tx1"/>
                </a:solidFill>
                <a:effectLst/>
                <a:latin typeface="+mn-lt"/>
                <a:ea typeface="+mn-ea"/>
                <a:cs typeface="+mn-cs"/>
              </a:rPr>
              <a:t>FileWriter</a:t>
            </a:r>
            <a:r>
              <a:rPr lang="en-US" sz="1200" b="0" i="0" kern="1200" dirty="0">
                <a:solidFill>
                  <a:schemeClr val="tx1"/>
                </a:solidFill>
                <a:effectLst/>
                <a:latin typeface="+mn-lt"/>
                <a:ea typeface="+mn-ea"/>
                <a:cs typeface="+mn-cs"/>
              </a:rPr>
              <a:t> may be used, respectively. </a:t>
            </a:r>
          </a:p>
          <a:p>
            <a:r>
              <a:rPr lang="en-US" sz="1200" b="0" i="0" kern="1200" dirty="0">
                <a:solidFill>
                  <a:schemeClr val="tx1"/>
                </a:solidFill>
                <a:effectLst/>
                <a:latin typeface="+mn-lt"/>
                <a:ea typeface="+mn-ea"/>
                <a:cs typeface="+mn-cs"/>
              </a:rPr>
              <a:t>These classes provide specific methods to manipulate appropriate stream data.</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20</a:t>
            </a:fld>
            <a:endParaRPr lang="en-US" dirty="0"/>
          </a:p>
        </p:txBody>
      </p:sp>
    </p:spTree>
    <p:extLst>
      <p:ext uri="{BB962C8B-B14F-4D97-AF65-F5344CB8AC3E}">
        <p14:creationId xmlns:p14="http://schemas.microsoft.com/office/powerpoint/2010/main" val="4294340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mentioned earlier, the difference is simply for convenience. </a:t>
            </a:r>
          </a:p>
          <a:p>
            <a:r>
              <a:rPr lang="en-US" sz="1200" b="0" i="0" kern="1200" dirty="0">
                <a:solidFill>
                  <a:schemeClr val="tx1"/>
                </a:solidFill>
                <a:effectLst/>
                <a:latin typeface="+mn-lt"/>
                <a:ea typeface="+mn-ea"/>
                <a:cs typeface="+mn-cs"/>
              </a:rPr>
              <a:t>Some streams are inherently byte oriented and some are character oriented. </a:t>
            </a:r>
          </a:p>
          <a:p>
            <a:r>
              <a:rPr lang="en-US" sz="1200" b="0" i="0" kern="1200" dirty="0">
                <a:solidFill>
                  <a:schemeClr val="tx1"/>
                </a:solidFill>
                <a:effectLst/>
                <a:latin typeface="+mn-lt"/>
                <a:ea typeface="+mn-ea"/>
                <a:cs typeface="+mn-cs"/>
              </a:rPr>
              <a:t>As a result, it is always convenient to handle them with appropriate classes and methods defined in I/O stream package. </a:t>
            </a:r>
          </a:p>
          <a:p>
            <a:r>
              <a:rPr lang="en-US" sz="1200" b="0" i="0" kern="1200" dirty="0">
                <a:solidFill>
                  <a:schemeClr val="tx1"/>
                </a:solidFill>
                <a:effectLst/>
                <a:latin typeface="+mn-lt"/>
                <a:ea typeface="+mn-ea"/>
                <a:cs typeface="+mn-cs"/>
              </a:rPr>
              <a:t>For example, the </a:t>
            </a:r>
            <a:r>
              <a:rPr lang="en-US" sz="1200" b="0" i="1" kern="1200" dirty="0" err="1">
                <a:solidFill>
                  <a:schemeClr val="tx1"/>
                </a:solidFill>
                <a:effectLst/>
                <a:latin typeface="+mn-lt"/>
                <a:ea typeface="+mn-ea"/>
                <a:cs typeface="+mn-cs"/>
              </a:rPr>
              <a:t>FileInputStream</a:t>
            </a:r>
            <a:r>
              <a:rPr lang="en-US" sz="1200" b="0" i="0" kern="1200" dirty="0">
                <a:solidFill>
                  <a:schemeClr val="tx1"/>
                </a:solidFill>
                <a:effectLst/>
                <a:latin typeface="+mn-lt"/>
                <a:ea typeface="+mn-ea"/>
                <a:cs typeface="+mn-cs"/>
              </a:rPr>
              <a:t> is meant for reading a raw stream of bytes, such as image data. </a:t>
            </a:r>
          </a:p>
          <a:p>
            <a:r>
              <a:rPr lang="en-US" sz="1200" b="0" i="0" kern="1200" dirty="0">
                <a:solidFill>
                  <a:schemeClr val="tx1"/>
                </a:solidFill>
                <a:effectLst/>
                <a:latin typeface="+mn-lt"/>
                <a:ea typeface="+mn-ea"/>
                <a:cs typeface="+mn-cs"/>
              </a:rPr>
              <a:t>Similarly, the </a:t>
            </a:r>
            <a:r>
              <a:rPr lang="en-US" sz="1200" b="0" i="1" kern="1200" dirty="0" err="1">
                <a:solidFill>
                  <a:schemeClr val="tx1"/>
                </a:solidFill>
                <a:effectLst/>
                <a:latin typeface="+mn-lt"/>
                <a:ea typeface="+mn-ea"/>
                <a:cs typeface="+mn-cs"/>
              </a:rPr>
              <a:t>FileOutputStream</a:t>
            </a:r>
            <a:r>
              <a:rPr lang="en-US" sz="1200" b="0" i="0" kern="1200" dirty="0">
                <a:solidFill>
                  <a:schemeClr val="tx1"/>
                </a:solidFill>
                <a:effectLst/>
                <a:latin typeface="+mn-lt"/>
                <a:ea typeface="+mn-ea"/>
                <a:cs typeface="+mn-cs"/>
              </a:rPr>
              <a:t> object may be used to write a raw byte stream. </a:t>
            </a:r>
          </a:p>
          <a:p>
            <a:r>
              <a:rPr lang="en-US" sz="1200" b="0" i="0" kern="1200" dirty="0">
                <a:solidFill>
                  <a:schemeClr val="tx1"/>
                </a:solidFill>
                <a:effectLst/>
                <a:latin typeface="+mn-lt"/>
                <a:ea typeface="+mn-ea"/>
                <a:cs typeface="+mn-cs"/>
              </a:rPr>
              <a:t>Under similar circumstances, reading and writing files based on character-oriented stream of data </a:t>
            </a:r>
            <a:r>
              <a:rPr lang="en-US" sz="1200" b="0" i="1" kern="1200" dirty="0" err="1">
                <a:solidFill>
                  <a:schemeClr val="tx1"/>
                </a:solidFill>
                <a:effectLst/>
                <a:latin typeface="+mn-lt"/>
                <a:ea typeface="+mn-ea"/>
                <a:cs typeface="+mn-cs"/>
              </a:rPr>
              <a:t>FileReader</a:t>
            </a:r>
            <a:r>
              <a:rPr lang="en-US" sz="1200" b="0" i="0" kern="1200" dirty="0">
                <a:solidFill>
                  <a:schemeClr val="tx1"/>
                </a:solidFill>
                <a:effectLst/>
                <a:latin typeface="+mn-lt"/>
                <a:ea typeface="+mn-ea"/>
                <a:cs typeface="+mn-cs"/>
              </a:rPr>
              <a:t> and </a:t>
            </a:r>
            <a:r>
              <a:rPr lang="en-US" sz="1200" b="0" i="1" kern="1200" dirty="0" err="1">
                <a:solidFill>
                  <a:schemeClr val="tx1"/>
                </a:solidFill>
                <a:effectLst/>
                <a:latin typeface="+mn-lt"/>
                <a:ea typeface="+mn-ea"/>
                <a:cs typeface="+mn-cs"/>
              </a:rPr>
              <a:t>FileWriter</a:t>
            </a:r>
            <a:r>
              <a:rPr lang="en-US" sz="1200" b="0" i="0" kern="1200" dirty="0">
                <a:solidFill>
                  <a:schemeClr val="tx1"/>
                </a:solidFill>
                <a:effectLst/>
                <a:latin typeface="+mn-lt"/>
                <a:ea typeface="+mn-ea"/>
                <a:cs typeface="+mn-cs"/>
              </a:rPr>
              <a:t> may be used, respectively. </a:t>
            </a:r>
          </a:p>
          <a:p>
            <a:r>
              <a:rPr lang="en-US" sz="1200" b="0" i="0" kern="1200" dirty="0">
                <a:solidFill>
                  <a:schemeClr val="tx1"/>
                </a:solidFill>
                <a:effectLst/>
                <a:latin typeface="+mn-lt"/>
                <a:ea typeface="+mn-ea"/>
                <a:cs typeface="+mn-cs"/>
              </a:rPr>
              <a:t>These classes provide specific methods to manipulate appropriate stream data.</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21</a:t>
            </a:fld>
            <a:endParaRPr lang="en-US" dirty="0"/>
          </a:p>
        </p:txBody>
      </p:sp>
    </p:spTree>
    <p:extLst>
      <p:ext uri="{BB962C8B-B14F-4D97-AF65-F5344CB8AC3E}">
        <p14:creationId xmlns:p14="http://schemas.microsoft.com/office/powerpoint/2010/main" val="30883686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mentioned earlier, the difference is simply for convenience. </a:t>
            </a:r>
          </a:p>
          <a:p>
            <a:r>
              <a:rPr lang="en-US" sz="1200" b="0" i="0" kern="1200" dirty="0">
                <a:solidFill>
                  <a:schemeClr val="tx1"/>
                </a:solidFill>
                <a:effectLst/>
                <a:latin typeface="+mn-lt"/>
                <a:ea typeface="+mn-ea"/>
                <a:cs typeface="+mn-cs"/>
              </a:rPr>
              <a:t>Some streams are inherently byte oriented and some are character oriented. </a:t>
            </a:r>
          </a:p>
          <a:p>
            <a:r>
              <a:rPr lang="en-US" sz="1200" b="0" i="0" kern="1200" dirty="0">
                <a:solidFill>
                  <a:schemeClr val="tx1"/>
                </a:solidFill>
                <a:effectLst/>
                <a:latin typeface="+mn-lt"/>
                <a:ea typeface="+mn-ea"/>
                <a:cs typeface="+mn-cs"/>
              </a:rPr>
              <a:t>As a result, it is always convenient to handle them with appropriate classes and methods defined in I/O stream package. </a:t>
            </a:r>
          </a:p>
          <a:p>
            <a:r>
              <a:rPr lang="en-US" sz="1200" b="0" i="0" kern="1200" dirty="0">
                <a:solidFill>
                  <a:schemeClr val="tx1"/>
                </a:solidFill>
                <a:effectLst/>
                <a:latin typeface="+mn-lt"/>
                <a:ea typeface="+mn-ea"/>
                <a:cs typeface="+mn-cs"/>
              </a:rPr>
              <a:t>For example, the </a:t>
            </a:r>
            <a:r>
              <a:rPr lang="en-US" sz="1200" b="0" i="1" kern="1200" dirty="0" err="1">
                <a:solidFill>
                  <a:schemeClr val="tx1"/>
                </a:solidFill>
                <a:effectLst/>
                <a:latin typeface="+mn-lt"/>
                <a:ea typeface="+mn-ea"/>
                <a:cs typeface="+mn-cs"/>
              </a:rPr>
              <a:t>FileInputStream</a:t>
            </a:r>
            <a:r>
              <a:rPr lang="en-US" sz="1200" b="0" i="0" kern="1200" dirty="0">
                <a:solidFill>
                  <a:schemeClr val="tx1"/>
                </a:solidFill>
                <a:effectLst/>
                <a:latin typeface="+mn-lt"/>
                <a:ea typeface="+mn-ea"/>
                <a:cs typeface="+mn-cs"/>
              </a:rPr>
              <a:t> is meant for reading a raw stream of bytes, such as image data. </a:t>
            </a:r>
          </a:p>
          <a:p>
            <a:r>
              <a:rPr lang="en-US" sz="1200" b="0" i="0" kern="1200" dirty="0">
                <a:solidFill>
                  <a:schemeClr val="tx1"/>
                </a:solidFill>
                <a:effectLst/>
                <a:latin typeface="+mn-lt"/>
                <a:ea typeface="+mn-ea"/>
                <a:cs typeface="+mn-cs"/>
              </a:rPr>
              <a:t>Similarly, the </a:t>
            </a:r>
            <a:r>
              <a:rPr lang="en-US" sz="1200" b="0" i="1" kern="1200" dirty="0" err="1">
                <a:solidFill>
                  <a:schemeClr val="tx1"/>
                </a:solidFill>
                <a:effectLst/>
                <a:latin typeface="+mn-lt"/>
                <a:ea typeface="+mn-ea"/>
                <a:cs typeface="+mn-cs"/>
              </a:rPr>
              <a:t>FileOutputStream</a:t>
            </a:r>
            <a:r>
              <a:rPr lang="en-US" sz="1200" b="0" i="0" kern="1200" dirty="0">
                <a:solidFill>
                  <a:schemeClr val="tx1"/>
                </a:solidFill>
                <a:effectLst/>
                <a:latin typeface="+mn-lt"/>
                <a:ea typeface="+mn-ea"/>
                <a:cs typeface="+mn-cs"/>
              </a:rPr>
              <a:t> object may be used to write a raw byte stream. </a:t>
            </a:r>
          </a:p>
          <a:p>
            <a:r>
              <a:rPr lang="en-US" sz="1200" b="0" i="0" kern="1200" dirty="0">
                <a:solidFill>
                  <a:schemeClr val="tx1"/>
                </a:solidFill>
                <a:effectLst/>
                <a:latin typeface="+mn-lt"/>
                <a:ea typeface="+mn-ea"/>
                <a:cs typeface="+mn-cs"/>
              </a:rPr>
              <a:t>Under similar circumstances, reading and writing files based on character-oriented stream of data </a:t>
            </a:r>
            <a:r>
              <a:rPr lang="en-US" sz="1200" b="0" i="1" kern="1200" dirty="0" err="1">
                <a:solidFill>
                  <a:schemeClr val="tx1"/>
                </a:solidFill>
                <a:effectLst/>
                <a:latin typeface="+mn-lt"/>
                <a:ea typeface="+mn-ea"/>
                <a:cs typeface="+mn-cs"/>
              </a:rPr>
              <a:t>FileReader</a:t>
            </a:r>
            <a:r>
              <a:rPr lang="en-US" sz="1200" b="0" i="0" kern="1200" dirty="0">
                <a:solidFill>
                  <a:schemeClr val="tx1"/>
                </a:solidFill>
                <a:effectLst/>
                <a:latin typeface="+mn-lt"/>
                <a:ea typeface="+mn-ea"/>
                <a:cs typeface="+mn-cs"/>
              </a:rPr>
              <a:t> and </a:t>
            </a:r>
            <a:r>
              <a:rPr lang="en-US" sz="1200" b="0" i="1" kern="1200" dirty="0" err="1">
                <a:solidFill>
                  <a:schemeClr val="tx1"/>
                </a:solidFill>
                <a:effectLst/>
                <a:latin typeface="+mn-lt"/>
                <a:ea typeface="+mn-ea"/>
                <a:cs typeface="+mn-cs"/>
              </a:rPr>
              <a:t>FileWriter</a:t>
            </a:r>
            <a:r>
              <a:rPr lang="en-US" sz="1200" b="0" i="0" kern="1200" dirty="0">
                <a:solidFill>
                  <a:schemeClr val="tx1"/>
                </a:solidFill>
                <a:effectLst/>
                <a:latin typeface="+mn-lt"/>
                <a:ea typeface="+mn-ea"/>
                <a:cs typeface="+mn-cs"/>
              </a:rPr>
              <a:t> may be used, respectively. </a:t>
            </a:r>
          </a:p>
          <a:p>
            <a:r>
              <a:rPr lang="en-US" sz="1200" b="0" i="0" kern="1200" dirty="0">
                <a:solidFill>
                  <a:schemeClr val="tx1"/>
                </a:solidFill>
                <a:effectLst/>
                <a:latin typeface="+mn-lt"/>
                <a:ea typeface="+mn-ea"/>
                <a:cs typeface="+mn-cs"/>
              </a:rPr>
              <a:t>These classes provide specific methods to manipulate appropriate stream data.</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22</a:t>
            </a:fld>
            <a:endParaRPr lang="en-US" dirty="0"/>
          </a:p>
        </p:txBody>
      </p:sp>
    </p:spTree>
    <p:extLst>
      <p:ext uri="{BB962C8B-B14F-4D97-AF65-F5344CB8AC3E}">
        <p14:creationId xmlns:p14="http://schemas.microsoft.com/office/powerpoint/2010/main" val="20453739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23</a:t>
            </a:fld>
            <a:endParaRPr lang="en-US" dirty="0"/>
          </a:p>
        </p:txBody>
      </p:sp>
    </p:spTree>
    <p:extLst>
      <p:ext uri="{BB962C8B-B14F-4D97-AF65-F5344CB8AC3E}">
        <p14:creationId xmlns:p14="http://schemas.microsoft.com/office/powerpoint/2010/main" val="3067223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mentioned earlier, the difference is simply for convenience. </a:t>
            </a:r>
          </a:p>
          <a:p>
            <a:r>
              <a:rPr lang="en-US" sz="1200" b="0" i="0" kern="1200" dirty="0">
                <a:solidFill>
                  <a:schemeClr val="tx1"/>
                </a:solidFill>
                <a:effectLst/>
                <a:latin typeface="+mn-lt"/>
                <a:ea typeface="+mn-ea"/>
                <a:cs typeface="+mn-cs"/>
              </a:rPr>
              <a:t>Some streams are inherently byte oriented and some are character oriented. </a:t>
            </a:r>
          </a:p>
          <a:p>
            <a:r>
              <a:rPr lang="en-US" sz="1200" b="0" i="0" kern="1200" dirty="0">
                <a:solidFill>
                  <a:schemeClr val="tx1"/>
                </a:solidFill>
                <a:effectLst/>
                <a:latin typeface="+mn-lt"/>
                <a:ea typeface="+mn-ea"/>
                <a:cs typeface="+mn-cs"/>
              </a:rPr>
              <a:t>As a result, it is always convenient to handle them with appropriate classes and methods defined in I/O stream package. </a:t>
            </a:r>
          </a:p>
          <a:p>
            <a:r>
              <a:rPr lang="en-US" sz="1200" b="0" i="0" kern="1200" dirty="0">
                <a:solidFill>
                  <a:schemeClr val="tx1"/>
                </a:solidFill>
                <a:effectLst/>
                <a:latin typeface="+mn-lt"/>
                <a:ea typeface="+mn-ea"/>
                <a:cs typeface="+mn-cs"/>
              </a:rPr>
              <a:t>For example, the </a:t>
            </a:r>
            <a:r>
              <a:rPr lang="en-US" sz="1200" b="0" i="1" kern="1200" dirty="0" err="1">
                <a:solidFill>
                  <a:schemeClr val="tx1"/>
                </a:solidFill>
                <a:effectLst/>
                <a:latin typeface="+mn-lt"/>
                <a:ea typeface="+mn-ea"/>
                <a:cs typeface="+mn-cs"/>
              </a:rPr>
              <a:t>FileInputStream</a:t>
            </a:r>
            <a:r>
              <a:rPr lang="en-US" sz="1200" b="0" i="0" kern="1200" dirty="0">
                <a:solidFill>
                  <a:schemeClr val="tx1"/>
                </a:solidFill>
                <a:effectLst/>
                <a:latin typeface="+mn-lt"/>
                <a:ea typeface="+mn-ea"/>
                <a:cs typeface="+mn-cs"/>
              </a:rPr>
              <a:t> is meant for reading a raw stream of bytes, such as image data. </a:t>
            </a:r>
          </a:p>
          <a:p>
            <a:r>
              <a:rPr lang="en-US" sz="1200" b="0" i="0" kern="1200" dirty="0">
                <a:solidFill>
                  <a:schemeClr val="tx1"/>
                </a:solidFill>
                <a:effectLst/>
                <a:latin typeface="+mn-lt"/>
                <a:ea typeface="+mn-ea"/>
                <a:cs typeface="+mn-cs"/>
              </a:rPr>
              <a:t>Similarly, the </a:t>
            </a:r>
            <a:r>
              <a:rPr lang="en-US" sz="1200" b="0" i="1" kern="1200" dirty="0" err="1">
                <a:solidFill>
                  <a:schemeClr val="tx1"/>
                </a:solidFill>
                <a:effectLst/>
                <a:latin typeface="+mn-lt"/>
                <a:ea typeface="+mn-ea"/>
                <a:cs typeface="+mn-cs"/>
              </a:rPr>
              <a:t>FileOutputStream</a:t>
            </a:r>
            <a:r>
              <a:rPr lang="en-US" sz="1200" b="0" i="0" kern="1200" dirty="0">
                <a:solidFill>
                  <a:schemeClr val="tx1"/>
                </a:solidFill>
                <a:effectLst/>
                <a:latin typeface="+mn-lt"/>
                <a:ea typeface="+mn-ea"/>
                <a:cs typeface="+mn-cs"/>
              </a:rPr>
              <a:t> object may be used to write a raw byte stream. </a:t>
            </a:r>
          </a:p>
          <a:p>
            <a:r>
              <a:rPr lang="en-US" sz="1200" b="0" i="0" kern="1200" dirty="0">
                <a:solidFill>
                  <a:schemeClr val="tx1"/>
                </a:solidFill>
                <a:effectLst/>
                <a:latin typeface="+mn-lt"/>
                <a:ea typeface="+mn-ea"/>
                <a:cs typeface="+mn-cs"/>
              </a:rPr>
              <a:t>Under similar circumstances, reading and writing files based on character-oriented stream of data </a:t>
            </a:r>
            <a:r>
              <a:rPr lang="en-US" sz="1200" b="0" i="1" kern="1200" dirty="0" err="1">
                <a:solidFill>
                  <a:schemeClr val="tx1"/>
                </a:solidFill>
                <a:effectLst/>
                <a:latin typeface="+mn-lt"/>
                <a:ea typeface="+mn-ea"/>
                <a:cs typeface="+mn-cs"/>
              </a:rPr>
              <a:t>FileReader</a:t>
            </a:r>
            <a:r>
              <a:rPr lang="en-US" sz="1200" b="0" i="0" kern="1200" dirty="0">
                <a:solidFill>
                  <a:schemeClr val="tx1"/>
                </a:solidFill>
                <a:effectLst/>
                <a:latin typeface="+mn-lt"/>
                <a:ea typeface="+mn-ea"/>
                <a:cs typeface="+mn-cs"/>
              </a:rPr>
              <a:t> and </a:t>
            </a:r>
            <a:r>
              <a:rPr lang="en-US" sz="1200" b="0" i="1" kern="1200" dirty="0" err="1">
                <a:solidFill>
                  <a:schemeClr val="tx1"/>
                </a:solidFill>
                <a:effectLst/>
                <a:latin typeface="+mn-lt"/>
                <a:ea typeface="+mn-ea"/>
                <a:cs typeface="+mn-cs"/>
              </a:rPr>
              <a:t>FileWriter</a:t>
            </a:r>
            <a:r>
              <a:rPr lang="en-US" sz="1200" b="0" i="0" kern="1200" dirty="0">
                <a:solidFill>
                  <a:schemeClr val="tx1"/>
                </a:solidFill>
                <a:effectLst/>
                <a:latin typeface="+mn-lt"/>
                <a:ea typeface="+mn-ea"/>
                <a:cs typeface="+mn-cs"/>
              </a:rPr>
              <a:t> may be used, respectively. </a:t>
            </a:r>
          </a:p>
          <a:p>
            <a:r>
              <a:rPr lang="en-US" sz="1200" b="0" i="0" kern="1200" dirty="0">
                <a:solidFill>
                  <a:schemeClr val="tx1"/>
                </a:solidFill>
                <a:effectLst/>
                <a:latin typeface="+mn-lt"/>
                <a:ea typeface="+mn-ea"/>
                <a:cs typeface="+mn-cs"/>
              </a:rPr>
              <a:t>These classes provide specific methods to manipulate appropriate stream data.</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24</a:t>
            </a:fld>
            <a:endParaRPr lang="en-US" dirty="0"/>
          </a:p>
        </p:txBody>
      </p:sp>
    </p:spTree>
    <p:extLst>
      <p:ext uri="{BB962C8B-B14F-4D97-AF65-F5344CB8AC3E}">
        <p14:creationId xmlns:p14="http://schemas.microsoft.com/office/powerpoint/2010/main" val="3776714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r>
              <a:rPr lang="en-US" altLang="en-US" sz="1200" dirty="0">
                <a:solidFill>
                  <a:srgbClr val="000000"/>
                </a:solidFill>
                <a:latin typeface="Corbel" panose="020B0503020204020204" pitchFamily="34" charset="0"/>
                <a:cs typeface="Arial" panose="020B0604020202020204" pitchFamily="34" charset="0"/>
              </a:rPr>
              <a:t>The </a:t>
            </a:r>
            <a:r>
              <a:rPr lang="en-US" altLang="en-US" sz="1200" dirty="0">
                <a:solidFill>
                  <a:srgbClr val="3A87CF"/>
                </a:solidFill>
                <a:latin typeface="Corbel" panose="020B0503020204020204" pitchFamily="34" charset="0"/>
                <a:cs typeface="Arial" panose="020B0604020202020204" pitchFamily="34" charset="0"/>
                <a:hlinkClick r:id="rId3"/>
              </a:rPr>
              <a:t>sockets lesson</a:t>
            </a:r>
            <a:r>
              <a:rPr lang="en-US" altLang="en-US" sz="1200" dirty="0">
                <a:solidFill>
                  <a:srgbClr val="000000"/>
                </a:solidFill>
                <a:latin typeface="Corbel" panose="020B0503020204020204" pitchFamily="34" charset="0"/>
                <a:cs typeface="Arial" panose="020B0604020202020204" pitchFamily="34" charset="0"/>
              </a:rPr>
              <a:t> in the </a:t>
            </a:r>
            <a:r>
              <a:rPr lang="en-US" altLang="en-US" sz="1200" dirty="0">
                <a:solidFill>
                  <a:srgbClr val="3A87CF"/>
                </a:solidFill>
                <a:latin typeface="Corbel" panose="020B0503020204020204" pitchFamily="34" charset="0"/>
                <a:cs typeface="Arial" panose="020B0604020202020204" pitchFamily="34" charset="0"/>
                <a:hlinkClick r:id="rId4"/>
              </a:rPr>
              <a:t>networking trail</a:t>
            </a:r>
            <a:r>
              <a:rPr lang="en-US" altLang="en-US" sz="1200" dirty="0">
                <a:solidFill>
                  <a:srgbClr val="000000"/>
                </a:solidFill>
                <a:latin typeface="Corbel" panose="020B0503020204020204" pitchFamily="34" charset="0"/>
                <a:cs typeface="Arial" panose="020B0604020202020204" pitchFamily="34" charset="0"/>
              </a:rPr>
              <a:t> shows how to create character streams from the byte streams provided by socket classes.</a:t>
            </a:r>
            <a:endParaRPr lang="en-US" altLang="en-US" sz="1200" dirty="0">
              <a:latin typeface="Corbel" panose="020B0503020204020204"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25</a:t>
            </a:fld>
            <a:endParaRPr lang="en-US" dirty="0"/>
          </a:p>
        </p:txBody>
      </p:sp>
    </p:spTree>
    <p:extLst>
      <p:ext uri="{BB962C8B-B14F-4D97-AF65-F5344CB8AC3E}">
        <p14:creationId xmlns:p14="http://schemas.microsoft.com/office/powerpoint/2010/main" val="6118169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endParaRPr lang="en-US" altLang="en-US" sz="1200" dirty="0">
              <a:latin typeface="Corbel" panose="020B0503020204020204"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26</a:t>
            </a:fld>
            <a:endParaRPr lang="en-US" dirty="0"/>
          </a:p>
        </p:txBody>
      </p:sp>
    </p:spTree>
    <p:extLst>
      <p:ext uri="{BB962C8B-B14F-4D97-AF65-F5344CB8AC3E}">
        <p14:creationId xmlns:p14="http://schemas.microsoft.com/office/powerpoint/2010/main" val="3799708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endParaRPr lang="en-US" altLang="en-US" sz="1200" dirty="0">
              <a:latin typeface="Corbel" panose="020B0503020204020204"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27</a:t>
            </a:fld>
            <a:endParaRPr lang="en-US" dirty="0"/>
          </a:p>
        </p:txBody>
      </p:sp>
    </p:spTree>
    <p:extLst>
      <p:ext uri="{BB962C8B-B14F-4D97-AF65-F5344CB8AC3E}">
        <p14:creationId xmlns:p14="http://schemas.microsoft.com/office/powerpoint/2010/main" val="1951312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endParaRPr lang="en-US" altLang="en-US" sz="1200" dirty="0">
              <a:latin typeface="Corbel" panose="020B0503020204020204"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28</a:t>
            </a:fld>
            <a:endParaRPr lang="en-US" dirty="0"/>
          </a:p>
        </p:txBody>
      </p:sp>
    </p:spTree>
    <p:extLst>
      <p:ext uri="{BB962C8B-B14F-4D97-AF65-F5344CB8AC3E}">
        <p14:creationId xmlns:p14="http://schemas.microsoft.com/office/powerpoint/2010/main" val="30466452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endParaRPr lang="en-US" altLang="en-US" sz="1200" dirty="0">
              <a:latin typeface="Corbel" panose="020B0503020204020204"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29</a:t>
            </a:fld>
            <a:endParaRPr lang="en-US" dirty="0"/>
          </a:p>
        </p:txBody>
      </p:sp>
    </p:spTree>
    <p:extLst>
      <p:ext uri="{BB962C8B-B14F-4D97-AF65-F5344CB8AC3E}">
        <p14:creationId xmlns:p14="http://schemas.microsoft.com/office/powerpoint/2010/main" val="1906757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endParaRPr lang="en-US" altLang="en-US" sz="1200" dirty="0">
              <a:latin typeface="Corbel" panose="020B0503020204020204"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30</a:t>
            </a:fld>
            <a:endParaRPr lang="en-US" dirty="0"/>
          </a:p>
        </p:txBody>
      </p:sp>
    </p:spTree>
    <p:extLst>
      <p:ext uri="{BB962C8B-B14F-4D97-AF65-F5344CB8AC3E}">
        <p14:creationId xmlns:p14="http://schemas.microsoft.com/office/powerpoint/2010/main" val="1514958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r>
              <a:rPr lang="en-US" altLang="en-US" sz="1200" dirty="0">
                <a:latin typeface="Corbel" panose="020B0503020204020204" pitchFamily="34" charset="0"/>
              </a:rPr>
              <a:t>https://docs.oracle.com/javase/8/docs/api/java/util/Formatter.html#syntax</a:t>
            </a:r>
          </a:p>
        </p:txBody>
      </p:sp>
      <p:sp>
        <p:nvSpPr>
          <p:cNvPr id="4" name="Slide Number Placeholder 3"/>
          <p:cNvSpPr>
            <a:spLocks noGrp="1"/>
          </p:cNvSpPr>
          <p:nvPr>
            <p:ph type="sldNum" sz="quarter" idx="10"/>
          </p:nvPr>
        </p:nvSpPr>
        <p:spPr/>
        <p:txBody>
          <a:bodyPr/>
          <a:lstStyle/>
          <a:p>
            <a:fld id="{0A3C37BE-C303-496D-B5CD-85F2937540FC}" type="slidenum">
              <a:rPr lang="en-US" smtClean="0"/>
              <a:t>31</a:t>
            </a:fld>
            <a:endParaRPr lang="en-US" dirty="0"/>
          </a:p>
        </p:txBody>
      </p:sp>
    </p:spTree>
    <p:extLst>
      <p:ext uri="{BB962C8B-B14F-4D97-AF65-F5344CB8AC3E}">
        <p14:creationId xmlns:p14="http://schemas.microsoft.com/office/powerpoint/2010/main" val="17238339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r>
              <a:rPr lang="en-US" altLang="en-US" sz="1200" dirty="0">
                <a:latin typeface="Corbel" panose="020B0503020204020204" pitchFamily="34" charset="0"/>
              </a:rPr>
              <a:t>https://docs.oracle.com/javase/8/docs/api/java/util/Formatter.html#syntax</a:t>
            </a:r>
          </a:p>
        </p:txBody>
      </p:sp>
      <p:sp>
        <p:nvSpPr>
          <p:cNvPr id="4" name="Slide Number Placeholder 3"/>
          <p:cNvSpPr>
            <a:spLocks noGrp="1"/>
          </p:cNvSpPr>
          <p:nvPr>
            <p:ph type="sldNum" sz="quarter" idx="10"/>
          </p:nvPr>
        </p:nvSpPr>
        <p:spPr/>
        <p:txBody>
          <a:bodyPr/>
          <a:lstStyle/>
          <a:p>
            <a:fld id="{0A3C37BE-C303-496D-B5CD-85F2937540FC}" type="slidenum">
              <a:rPr lang="en-US" smtClean="0"/>
              <a:t>32</a:t>
            </a:fld>
            <a:endParaRPr lang="en-US" dirty="0"/>
          </a:p>
        </p:txBody>
      </p:sp>
    </p:spTree>
    <p:extLst>
      <p:ext uri="{BB962C8B-B14F-4D97-AF65-F5344CB8AC3E}">
        <p14:creationId xmlns:p14="http://schemas.microsoft.com/office/powerpoint/2010/main" val="18787943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r>
              <a:rPr lang="en-US" altLang="en-US" sz="1200" dirty="0">
                <a:latin typeface="Corbel" panose="020B0503020204020204" pitchFamily="34" charset="0"/>
              </a:rPr>
              <a:t>https://docs.oracle.com/javase/8/docs/api/java/util/Formatter.html#syntax</a:t>
            </a:r>
          </a:p>
        </p:txBody>
      </p:sp>
      <p:sp>
        <p:nvSpPr>
          <p:cNvPr id="4" name="Slide Number Placeholder 3"/>
          <p:cNvSpPr>
            <a:spLocks noGrp="1"/>
          </p:cNvSpPr>
          <p:nvPr>
            <p:ph type="sldNum" sz="quarter" idx="10"/>
          </p:nvPr>
        </p:nvSpPr>
        <p:spPr/>
        <p:txBody>
          <a:bodyPr/>
          <a:lstStyle/>
          <a:p>
            <a:fld id="{0A3C37BE-C303-496D-B5CD-85F2937540FC}" type="slidenum">
              <a:rPr lang="en-US" smtClean="0"/>
              <a:t>33</a:t>
            </a:fld>
            <a:endParaRPr lang="en-US" dirty="0"/>
          </a:p>
        </p:txBody>
      </p:sp>
    </p:spTree>
    <p:extLst>
      <p:ext uri="{BB962C8B-B14F-4D97-AF65-F5344CB8AC3E}">
        <p14:creationId xmlns:p14="http://schemas.microsoft.com/office/powerpoint/2010/main" val="38278615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r>
              <a:rPr lang="en-US" altLang="en-US" sz="1200" dirty="0">
                <a:latin typeface="Corbel" panose="020B0503020204020204" pitchFamily="34" charset="0"/>
              </a:rPr>
              <a:t>https://docs.oracle.com/javase/8/docs/api/java/util/Formatter.html#syntax</a:t>
            </a:r>
          </a:p>
        </p:txBody>
      </p:sp>
      <p:sp>
        <p:nvSpPr>
          <p:cNvPr id="4" name="Slide Number Placeholder 3"/>
          <p:cNvSpPr>
            <a:spLocks noGrp="1"/>
          </p:cNvSpPr>
          <p:nvPr>
            <p:ph type="sldNum" sz="quarter" idx="10"/>
          </p:nvPr>
        </p:nvSpPr>
        <p:spPr/>
        <p:txBody>
          <a:bodyPr/>
          <a:lstStyle/>
          <a:p>
            <a:fld id="{0A3C37BE-C303-496D-B5CD-85F2937540FC}" type="slidenum">
              <a:rPr lang="en-US" smtClean="0"/>
              <a:t>35</a:t>
            </a:fld>
            <a:endParaRPr lang="en-US" dirty="0"/>
          </a:p>
        </p:txBody>
      </p:sp>
    </p:spTree>
    <p:extLst>
      <p:ext uri="{BB962C8B-B14F-4D97-AF65-F5344CB8AC3E}">
        <p14:creationId xmlns:p14="http://schemas.microsoft.com/office/powerpoint/2010/main" val="28723246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r>
              <a:rPr lang="en-US" altLang="en-US" sz="1200" dirty="0">
                <a:latin typeface="Corbel" panose="020B0503020204020204" pitchFamily="34" charset="0"/>
              </a:rPr>
              <a:t>https://docs.oracle.com/javase/8/docs/api/java/util/Formatter.html#syntax</a:t>
            </a:r>
          </a:p>
        </p:txBody>
      </p:sp>
      <p:sp>
        <p:nvSpPr>
          <p:cNvPr id="4" name="Slide Number Placeholder 3"/>
          <p:cNvSpPr>
            <a:spLocks noGrp="1"/>
          </p:cNvSpPr>
          <p:nvPr>
            <p:ph type="sldNum" sz="quarter" idx="10"/>
          </p:nvPr>
        </p:nvSpPr>
        <p:spPr/>
        <p:txBody>
          <a:bodyPr/>
          <a:lstStyle/>
          <a:p>
            <a:fld id="{0A3C37BE-C303-496D-B5CD-85F2937540FC}" type="slidenum">
              <a:rPr lang="en-US" smtClean="0"/>
              <a:t>36</a:t>
            </a:fld>
            <a:endParaRPr lang="en-US" dirty="0"/>
          </a:p>
        </p:txBody>
      </p:sp>
    </p:spTree>
    <p:extLst>
      <p:ext uri="{BB962C8B-B14F-4D97-AF65-F5344CB8AC3E}">
        <p14:creationId xmlns:p14="http://schemas.microsoft.com/office/powerpoint/2010/main" val="9127497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fontAlgn="base" hangingPunct="0">
              <a:lnSpc>
                <a:spcPct val="150000"/>
              </a:lnSpc>
              <a:spcBef>
                <a:spcPct val="0"/>
              </a:spcBef>
              <a:spcAft>
                <a:spcPct val="0"/>
              </a:spcAft>
            </a:pPr>
            <a:r>
              <a:rPr lang="en-US" altLang="en-US" sz="1200" dirty="0">
                <a:latin typeface="Corbel" panose="020B0503020204020204" pitchFamily="34" charset="0"/>
              </a:rPr>
              <a:t>https://docs.oracle.com/javase/8/docs/api/java/util/Formatter.html#syntax</a:t>
            </a:r>
          </a:p>
        </p:txBody>
      </p:sp>
      <p:sp>
        <p:nvSpPr>
          <p:cNvPr id="4" name="Slide Number Placeholder 3"/>
          <p:cNvSpPr>
            <a:spLocks noGrp="1"/>
          </p:cNvSpPr>
          <p:nvPr>
            <p:ph type="sldNum" sz="quarter" idx="10"/>
          </p:nvPr>
        </p:nvSpPr>
        <p:spPr/>
        <p:txBody>
          <a:bodyPr/>
          <a:lstStyle/>
          <a:p>
            <a:fld id="{0A3C37BE-C303-496D-B5CD-85F2937540FC}" type="slidenum">
              <a:rPr lang="en-US" smtClean="0"/>
              <a:t>37</a:t>
            </a:fld>
            <a:endParaRPr lang="en-US" dirty="0"/>
          </a:p>
        </p:txBody>
      </p:sp>
    </p:spTree>
    <p:extLst>
      <p:ext uri="{BB962C8B-B14F-4D97-AF65-F5344CB8AC3E}">
        <p14:creationId xmlns:p14="http://schemas.microsoft.com/office/powerpoint/2010/main" val="211574041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11/17/2019</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11/17/2019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11/17/2019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11/17/2019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11/17/2019</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11/17/2019</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11/17/2019</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11/17/2019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11/17/2019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11/17/2019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11/17/2019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11/17/2019</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cs.oracle.com/javase/8/docs/api/java/io/InputStream.html" TargetMode="External"/><Relationship Id="rId7"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docs.oracle.com/javase/8/docs/api/java/io/FileOutputStream.html" TargetMode="External"/><Relationship Id="rId5" Type="http://schemas.openxmlformats.org/officeDocument/2006/relationships/hyperlink" Target="https://docs.oracle.com/javase/8/docs/api/java/io/FileInputStream.html" TargetMode="External"/><Relationship Id="rId4" Type="http://schemas.openxmlformats.org/officeDocument/2006/relationships/hyperlink" Target="https://docs.oracle.com/javase/8/docs/api/java/io/OutputStream.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hyperlink" Target="https://docs.oracle.com/javase/tutorial/essential/io/charstreams.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ocs.oracle.com/javase/8/docs/api/java/io/Reader.html" TargetMode="External"/><Relationship Id="rId7"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docs.oracle.com/javase/8/docs/api/java/io/FileWriter.html" TargetMode="External"/><Relationship Id="rId5" Type="http://schemas.openxmlformats.org/officeDocument/2006/relationships/hyperlink" Target="https://docs.oracle.com/javase/8/docs/api/java/io/FileReader.html" TargetMode="External"/><Relationship Id="rId4" Type="http://schemas.openxmlformats.org/officeDocument/2006/relationships/hyperlink" Target="https://docs.oracle.com/javase/8/docs/api/java/io/Writer.ht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docs.oracle.com/javase/8/docs/api/java/io/InputStreamReader.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docs.oracle.com/javase/8/docs/api/java/io/OutputStreamWriter.html"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docs.oracle.com/javase/8/docs/api/java/io/BufferedInputStream.ht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docs.oracle.com/javase/8/docs/api/java/io/BufferedWriter.html" TargetMode="External"/><Relationship Id="rId5" Type="http://schemas.openxmlformats.org/officeDocument/2006/relationships/hyperlink" Target="https://docs.oracle.com/javase/8/docs/api/java/io/BufferedReader.html" TargetMode="External"/><Relationship Id="rId4" Type="http://schemas.openxmlformats.org/officeDocument/2006/relationships/hyperlink" Target="https://docs.oracle.com/javase/8/docs/api/java/io/BufferedOutputStream.html"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ocs.oracle.com/javase/tutorial/essential/io/scanning.ht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docs.oracle.com/javase/8/docs/api/java/lang/Character.html#isWhitespace-char-" TargetMode="External"/><Relationship Id="rId4" Type="http://schemas.openxmlformats.org/officeDocument/2006/relationships/hyperlink" Target="https://docs.oracle.com/javase/8/docs/api/java/util/Scanner.ht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hyperlink" Target="mailto:avadekkedhil@wilp.bits-pilani.ac.in"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normAutofit/>
          </a:bodyPr>
          <a:lstStyle/>
          <a:p>
            <a:r>
              <a:rPr lang="en-US" dirty="0"/>
              <a:t>Object Oriented Programming &amp; Design</a:t>
            </a:r>
          </a:p>
        </p:txBody>
      </p:sp>
      <p:sp>
        <p:nvSpPr>
          <p:cNvPr id="7" name="Subtitle 6"/>
          <p:cNvSpPr>
            <a:spLocks noGrp="1"/>
          </p:cNvSpPr>
          <p:nvPr>
            <p:ph type="subTitle" idx="1"/>
          </p:nvPr>
        </p:nvSpPr>
        <p:spPr>
          <a:xfrm>
            <a:off x="1104900" y="4511785"/>
            <a:ext cx="5734050" cy="846298"/>
          </a:xfrm>
        </p:spPr>
        <p:txBody>
          <a:bodyPr/>
          <a:lstStyle/>
          <a:p>
            <a:r>
              <a:rPr lang="en-IN" b="1" dirty="0"/>
              <a:t>Session – 4</a:t>
            </a:r>
            <a:r>
              <a:rPr lang="en-IN" b="1"/>
              <a:t>: 21-Oct-2018</a:t>
            </a:r>
            <a:endParaRPr lang="en-US" b="1" dirty="0"/>
          </a:p>
        </p:txBody>
      </p:sp>
      <p:pic>
        <p:nvPicPr>
          <p:cNvPr id="4" name="Picture Placeholder 3"/>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671780" y="1445796"/>
            <a:ext cx="5269208" cy="3912286"/>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a:t>
            </a:r>
          </a:p>
        </p:txBody>
      </p:sp>
      <p:sp>
        <p:nvSpPr>
          <p:cNvPr id="14" name="Content Placeholder 13"/>
          <p:cNvSpPr>
            <a:spLocks noGrp="1"/>
          </p:cNvSpPr>
          <p:nvPr>
            <p:ph idx="1"/>
          </p:nvPr>
        </p:nvSpPr>
        <p:spPr/>
        <p:txBody>
          <a:bodyPr>
            <a:normAutofit/>
          </a:bodyPr>
          <a:lstStyle/>
          <a:p>
            <a:r>
              <a:rPr lang="en-US" sz="2400" dirty="0"/>
              <a:t>Packages</a:t>
            </a:r>
          </a:p>
          <a:p>
            <a:pPr lvl="1"/>
            <a:r>
              <a:rPr lang="en-US" sz="2400" dirty="0"/>
              <a:t>What</a:t>
            </a:r>
          </a:p>
          <a:p>
            <a:pPr lvl="1"/>
            <a:r>
              <a:rPr lang="en-US" sz="2400" dirty="0"/>
              <a:t>Why</a:t>
            </a:r>
          </a:p>
          <a:p>
            <a:pPr lvl="1"/>
            <a:r>
              <a:rPr lang="en-US" sz="2400" dirty="0"/>
              <a:t>How</a:t>
            </a:r>
          </a:p>
          <a:p>
            <a:pPr lvl="1"/>
            <a:endParaRPr lang="en-US" sz="2400" dirty="0"/>
          </a:p>
          <a:p>
            <a:r>
              <a:rPr lang="en-US" sz="2400" dirty="0"/>
              <a:t>Streams in Java</a:t>
            </a:r>
          </a:p>
          <a:p>
            <a:pPr lvl="1"/>
            <a:r>
              <a:rPr lang="en-US" sz="2400" dirty="0"/>
              <a:t>What</a:t>
            </a:r>
          </a:p>
          <a:p>
            <a:pPr lvl="1"/>
            <a:r>
              <a:rPr lang="en-US" sz="2400" dirty="0"/>
              <a:t>Why</a:t>
            </a:r>
          </a:p>
          <a:p>
            <a:pPr lvl="1"/>
            <a:r>
              <a:rPr lang="en-US" sz="2400" dirty="0"/>
              <a:t>How</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3307" y="1466118"/>
            <a:ext cx="4706082" cy="470608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899" y="2971806"/>
            <a:ext cx="3638551" cy="1684150"/>
          </a:xfrm>
        </p:spPr>
        <p:txBody>
          <a:bodyPr/>
          <a:lstStyle/>
          <a:p>
            <a:r>
              <a:rPr lang="en-US" dirty="0"/>
              <a:t>Java-Packages</a:t>
            </a:r>
          </a:p>
        </p:txBody>
      </p:sp>
      <p:sp>
        <p:nvSpPr>
          <p:cNvPr id="3" name="Text Placeholder 2"/>
          <p:cNvSpPr>
            <a:spLocks noGrp="1"/>
          </p:cNvSpPr>
          <p:nvPr>
            <p:ph type="body" idx="1"/>
          </p:nvPr>
        </p:nvSpPr>
        <p:spPr>
          <a:xfrm>
            <a:off x="1104899" y="4655956"/>
            <a:ext cx="3752851" cy="509750"/>
          </a:xfrm>
        </p:spPr>
        <p:txBody>
          <a:bodyPr/>
          <a:lstStyle/>
          <a:p>
            <a:r>
              <a:rPr lang="en-US" dirty="0"/>
              <a:t>Not your regular shopping package</a:t>
            </a:r>
          </a:p>
        </p:txBody>
      </p:sp>
      <p:pic>
        <p:nvPicPr>
          <p:cNvPr id="1028" name="Picture 4" descr="Image result for java pack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3325" y="1881188"/>
            <a:ext cx="7077075"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288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Introduction – The What?.</a:t>
            </a:r>
          </a:p>
        </p:txBody>
      </p:sp>
      <p:sp>
        <p:nvSpPr>
          <p:cNvPr id="3" name="Content Placeholder 2"/>
          <p:cNvSpPr>
            <a:spLocks noGrp="1"/>
          </p:cNvSpPr>
          <p:nvPr>
            <p:ph idx="1"/>
          </p:nvPr>
        </p:nvSpPr>
        <p:spPr>
          <a:xfrm>
            <a:off x="317569" y="1414462"/>
            <a:ext cx="11583919" cy="5329237"/>
          </a:xfrm>
        </p:spPr>
        <p:txBody>
          <a:bodyPr>
            <a:noAutofit/>
          </a:bodyPr>
          <a:lstStyle/>
          <a:p>
            <a:pPr>
              <a:lnSpc>
                <a:spcPct val="100000"/>
              </a:lnSpc>
            </a:pPr>
            <a:r>
              <a:rPr lang="en-US" sz="1800" b="1" u="sng" dirty="0">
                <a:latin typeface="Corbel" panose="020B0503020204020204" pitchFamily="34" charset="0"/>
              </a:rPr>
              <a:t>A package as the name suggests is a pack(group) of classes, interfaces and other packages. </a:t>
            </a:r>
          </a:p>
          <a:p>
            <a:pPr>
              <a:lnSpc>
                <a:spcPct val="100000"/>
              </a:lnSpc>
            </a:pPr>
            <a:r>
              <a:rPr lang="en-US" sz="1800" dirty="0">
                <a:latin typeface="Corbel" panose="020B0503020204020204" pitchFamily="34" charset="0"/>
              </a:rPr>
              <a:t>Each package in Java has its </a:t>
            </a:r>
            <a:r>
              <a:rPr lang="en-US" sz="1800" b="1" u="sng" dirty="0">
                <a:latin typeface="Corbel" panose="020B0503020204020204" pitchFamily="34" charset="0"/>
              </a:rPr>
              <a:t>unique name </a:t>
            </a:r>
            <a:r>
              <a:rPr lang="en-US" sz="1800" dirty="0">
                <a:latin typeface="Corbel" panose="020B0503020204020204" pitchFamily="34" charset="0"/>
              </a:rPr>
              <a:t>and </a:t>
            </a:r>
            <a:r>
              <a:rPr lang="en-US" sz="1800" b="1" u="sng" dirty="0">
                <a:latin typeface="Corbel" panose="020B0503020204020204" pitchFamily="34" charset="0"/>
              </a:rPr>
              <a:t>organizes its classes and interfaces </a:t>
            </a:r>
            <a:r>
              <a:rPr lang="en-US" sz="1800" dirty="0">
                <a:latin typeface="Corbel" panose="020B0503020204020204" pitchFamily="34" charset="0"/>
              </a:rPr>
              <a:t>into a separate namespace, or name group.</a:t>
            </a:r>
          </a:p>
          <a:p>
            <a:pPr>
              <a:lnSpc>
                <a:spcPct val="100000"/>
              </a:lnSpc>
            </a:pPr>
            <a:r>
              <a:rPr lang="en-US" sz="1800" dirty="0">
                <a:latin typeface="Corbel" panose="020B0503020204020204" pitchFamily="34" charset="0"/>
              </a:rPr>
              <a:t>Packages are used for:</a:t>
            </a:r>
          </a:p>
          <a:p>
            <a:pPr lvl="1">
              <a:lnSpc>
                <a:spcPct val="100000"/>
              </a:lnSpc>
            </a:pPr>
            <a:r>
              <a:rPr lang="en-US" sz="1800" b="1" u="sng" dirty="0">
                <a:latin typeface="Corbel" panose="020B0503020204020204" pitchFamily="34" charset="0"/>
              </a:rPr>
              <a:t>Preventing naming conflicts</a:t>
            </a:r>
            <a:r>
              <a:rPr lang="en-US" sz="1800" dirty="0">
                <a:latin typeface="Corbel" panose="020B0503020204020204" pitchFamily="34" charset="0"/>
              </a:rPr>
              <a:t>. For example there can be two classes with name Employee in two packages, </a:t>
            </a:r>
            <a:r>
              <a:rPr lang="en-US" sz="1800" dirty="0" err="1">
                <a:latin typeface="Corbel" panose="020B0503020204020204" pitchFamily="34" charset="0"/>
              </a:rPr>
              <a:t>college.staff.cse.Employee</a:t>
            </a:r>
            <a:r>
              <a:rPr lang="en-US" sz="1800" dirty="0">
                <a:latin typeface="Corbel" panose="020B0503020204020204" pitchFamily="34" charset="0"/>
              </a:rPr>
              <a:t> and </a:t>
            </a:r>
            <a:r>
              <a:rPr lang="en-US" sz="1800" dirty="0" err="1">
                <a:latin typeface="Corbel" panose="020B0503020204020204" pitchFamily="34" charset="0"/>
              </a:rPr>
              <a:t>college.staff.ee.Employee</a:t>
            </a:r>
            <a:endParaRPr lang="en-US" sz="1800" dirty="0">
              <a:latin typeface="Corbel" panose="020B0503020204020204" pitchFamily="34" charset="0"/>
            </a:endParaRPr>
          </a:p>
          <a:p>
            <a:pPr lvl="1">
              <a:lnSpc>
                <a:spcPct val="100000"/>
              </a:lnSpc>
            </a:pPr>
            <a:r>
              <a:rPr lang="en-US" sz="1800" dirty="0">
                <a:latin typeface="Corbel" panose="020B0503020204020204" pitchFamily="34" charset="0"/>
              </a:rPr>
              <a:t>Making </a:t>
            </a:r>
            <a:r>
              <a:rPr lang="en-US" sz="1800" b="1" u="sng" dirty="0">
                <a:latin typeface="Corbel" panose="020B0503020204020204" pitchFamily="34" charset="0"/>
              </a:rPr>
              <a:t>searching/locating</a:t>
            </a:r>
            <a:r>
              <a:rPr lang="en-US" sz="1800" dirty="0">
                <a:latin typeface="Corbel" panose="020B0503020204020204" pitchFamily="34" charset="0"/>
              </a:rPr>
              <a:t> and </a:t>
            </a:r>
            <a:r>
              <a:rPr lang="en-US" sz="1800" b="1" u="sng" dirty="0">
                <a:latin typeface="Corbel" panose="020B0503020204020204" pitchFamily="34" charset="0"/>
              </a:rPr>
              <a:t>usage of classes</a:t>
            </a:r>
            <a:r>
              <a:rPr lang="en-US" sz="1800" dirty="0">
                <a:latin typeface="Corbel" panose="020B0503020204020204" pitchFamily="34" charset="0"/>
              </a:rPr>
              <a:t>, interfaces, enumerations and annotations </a:t>
            </a:r>
            <a:r>
              <a:rPr lang="en-US" sz="1800" b="1" u="sng" dirty="0">
                <a:latin typeface="Corbel" panose="020B0503020204020204" pitchFamily="34" charset="0"/>
              </a:rPr>
              <a:t>easier</a:t>
            </a:r>
          </a:p>
          <a:p>
            <a:pPr lvl="1">
              <a:lnSpc>
                <a:spcPct val="100000"/>
              </a:lnSpc>
            </a:pPr>
            <a:r>
              <a:rPr lang="en-US" sz="1800" b="1" u="sng" dirty="0">
                <a:latin typeface="Corbel" panose="020B0503020204020204" pitchFamily="34" charset="0"/>
              </a:rPr>
              <a:t>Providing controlled access</a:t>
            </a:r>
            <a:r>
              <a:rPr lang="en-US" sz="1800" dirty="0">
                <a:latin typeface="Corbel" panose="020B0503020204020204" pitchFamily="34" charset="0"/>
              </a:rPr>
              <a:t>: </a:t>
            </a:r>
            <a:r>
              <a:rPr lang="en-US" sz="1800" u="sng" dirty="0">
                <a:latin typeface="Corbel" panose="020B0503020204020204" pitchFamily="34" charset="0"/>
              </a:rPr>
              <a:t>protected</a:t>
            </a:r>
            <a:r>
              <a:rPr lang="en-US" sz="1800" dirty="0">
                <a:latin typeface="Corbel" panose="020B0503020204020204" pitchFamily="34" charset="0"/>
              </a:rPr>
              <a:t> and </a:t>
            </a:r>
            <a:r>
              <a:rPr lang="en-US" sz="1800" u="sng" dirty="0">
                <a:latin typeface="Corbel" panose="020B0503020204020204" pitchFamily="34" charset="0"/>
              </a:rPr>
              <a:t>default </a:t>
            </a:r>
            <a:r>
              <a:rPr lang="en-US" sz="1800" dirty="0">
                <a:latin typeface="Corbel" panose="020B0503020204020204" pitchFamily="34" charset="0"/>
              </a:rPr>
              <a:t>have </a:t>
            </a:r>
            <a:r>
              <a:rPr lang="en-US" sz="1800" b="1" i="1" dirty="0">
                <a:solidFill>
                  <a:srgbClr val="00B050"/>
                </a:solidFill>
                <a:latin typeface="Corbel" panose="020B0503020204020204" pitchFamily="34" charset="0"/>
              </a:rPr>
              <a:t>package level access control</a:t>
            </a:r>
            <a:r>
              <a:rPr lang="en-US" sz="1800" dirty="0">
                <a:latin typeface="Corbel" panose="020B0503020204020204" pitchFamily="34" charset="0"/>
              </a:rPr>
              <a:t>. A protected member is accessible by classes in the same package and its subclasses. A default member (without any access specifier) is accessible by classes in the same package only.</a:t>
            </a:r>
          </a:p>
          <a:p>
            <a:pPr>
              <a:lnSpc>
                <a:spcPct val="100000"/>
              </a:lnSpc>
            </a:pPr>
            <a:r>
              <a:rPr lang="en-US" sz="1800" dirty="0">
                <a:latin typeface="Corbel" panose="020B0503020204020204" pitchFamily="34" charset="0"/>
              </a:rPr>
              <a:t>Although interfaces and classes with the same name cannot appear in the same package, they can appear in different packages. This is possible by assigning a separate namespace to each package.</a:t>
            </a:r>
          </a:p>
          <a:p>
            <a:pPr>
              <a:lnSpc>
                <a:spcPct val="100000"/>
              </a:lnSpc>
            </a:pPr>
            <a:r>
              <a:rPr lang="en-US" sz="1800" dirty="0">
                <a:latin typeface="Corbel" panose="020B0503020204020204" pitchFamily="34" charset="0"/>
              </a:rPr>
              <a:t>We can reuse existing classes from the packages as many time as we need it in our program</a:t>
            </a:r>
            <a:endParaRPr lang="en-US" sz="1800" b="1" u="sng" dirty="0">
              <a:latin typeface="Corbel" panose="020B0503020204020204" pitchFamily="34" charset="0"/>
            </a:endParaRPr>
          </a:p>
        </p:txBody>
      </p:sp>
    </p:spTree>
    <p:extLst>
      <p:ext uri="{BB962C8B-B14F-4D97-AF65-F5344CB8AC3E}">
        <p14:creationId xmlns:p14="http://schemas.microsoft.com/office/powerpoint/2010/main" val="449391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Introduction – Types?.</a:t>
            </a:r>
          </a:p>
        </p:txBody>
      </p:sp>
      <p:sp>
        <p:nvSpPr>
          <p:cNvPr id="3" name="Content Placeholder 2"/>
          <p:cNvSpPr>
            <a:spLocks noGrp="1"/>
          </p:cNvSpPr>
          <p:nvPr>
            <p:ph idx="1"/>
          </p:nvPr>
        </p:nvSpPr>
        <p:spPr>
          <a:xfrm>
            <a:off x="317569" y="1414462"/>
            <a:ext cx="8097769" cy="5329237"/>
          </a:xfrm>
        </p:spPr>
        <p:txBody>
          <a:bodyPr>
            <a:noAutofit/>
          </a:bodyPr>
          <a:lstStyle/>
          <a:p>
            <a:pPr marL="0" indent="0">
              <a:lnSpc>
                <a:spcPct val="100000"/>
              </a:lnSpc>
              <a:buNone/>
            </a:pPr>
            <a:r>
              <a:rPr lang="en-US" sz="1800" b="1" u="sng" dirty="0">
                <a:latin typeface="Corbel" panose="020B0503020204020204" pitchFamily="34" charset="0"/>
              </a:rPr>
              <a:t>Built-in Packages</a:t>
            </a:r>
          </a:p>
          <a:p>
            <a:pPr>
              <a:lnSpc>
                <a:spcPct val="100000"/>
              </a:lnSpc>
            </a:pPr>
            <a:r>
              <a:rPr lang="en-US" sz="1800" dirty="0">
                <a:latin typeface="Corbel" panose="020B0503020204020204" pitchFamily="34" charset="0"/>
              </a:rPr>
              <a:t>These packages consist of a large number of classes which are a part of Java API. Some of the commonly used built-in packages are:</a:t>
            </a:r>
          </a:p>
          <a:p>
            <a:pPr lvl="1">
              <a:lnSpc>
                <a:spcPct val="100000"/>
              </a:lnSpc>
            </a:pPr>
            <a:r>
              <a:rPr lang="en-US" sz="1800" dirty="0">
                <a:latin typeface="Corbel" panose="020B0503020204020204" pitchFamily="34" charset="0"/>
              </a:rPr>
              <a:t>1) </a:t>
            </a:r>
            <a:r>
              <a:rPr lang="en-US" sz="1800" dirty="0" err="1">
                <a:latin typeface="Corbel" panose="020B0503020204020204" pitchFamily="34" charset="0"/>
              </a:rPr>
              <a:t>java.lang</a:t>
            </a:r>
            <a:r>
              <a:rPr lang="en-US" sz="1800" dirty="0">
                <a:latin typeface="Corbel" panose="020B0503020204020204" pitchFamily="34" charset="0"/>
              </a:rPr>
              <a:t>: Contains language support classes(</a:t>
            </a:r>
            <a:r>
              <a:rPr lang="en-US" sz="1800" dirty="0" err="1">
                <a:latin typeface="Corbel" panose="020B0503020204020204" pitchFamily="34" charset="0"/>
              </a:rPr>
              <a:t>e.g</a:t>
            </a:r>
            <a:r>
              <a:rPr lang="en-US" sz="1800" dirty="0">
                <a:latin typeface="Corbel" panose="020B0503020204020204" pitchFamily="34" charset="0"/>
              </a:rPr>
              <a:t> classed which defines primitive data types, math operations). This package is automatically imported.</a:t>
            </a:r>
          </a:p>
          <a:p>
            <a:pPr lvl="1">
              <a:lnSpc>
                <a:spcPct val="100000"/>
              </a:lnSpc>
            </a:pPr>
            <a:r>
              <a:rPr lang="en-US" sz="1800" dirty="0">
                <a:latin typeface="Corbel" panose="020B0503020204020204" pitchFamily="34" charset="0"/>
              </a:rPr>
              <a:t>2)  java.io: Contains classed for supporting input / output operations.</a:t>
            </a:r>
          </a:p>
          <a:p>
            <a:pPr lvl="1">
              <a:lnSpc>
                <a:spcPct val="100000"/>
              </a:lnSpc>
            </a:pPr>
            <a:r>
              <a:rPr lang="en-US" sz="1800" dirty="0">
                <a:latin typeface="Corbel" panose="020B0503020204020204" pitchFamily="34" charset="0"/>
              </a:rPr>
              <a:t>3)  </a:t>
            </a:r>
            <a:r>
              <a:rPr lang="en-US" sz="1800" dirty="0" err="1">
                <a:latin typeface="Corbel" panose="020B0503020204020204" pitchFamily="34" charset="0"/>
              </a:rPr>
              <a:t>java.util</a:t>
            </a:r>
            <a:r>
              <a:rPr lang="en-US" sz="1800" dirty="0">
                <a:latin typeface="Corbel" panose="020B0503020204020204" pitchFamily="34" charset="0"/>
              </a:rPr>
              <a:t>: Contains utility classes which implement data structures like Linked List, Dictionary and support ; for Date / Time operations.</a:t>
            </a:r>
          </a:p>
          <a:p>
            <a:pPr lvl="1">
              <a:lnSpc>
                <a:spcPct val="100000"/>
              </a:lnSpc>
            </a:pPr>
            <a:r>
              <a:rPr lang="en-US" sz="1800" dirty="0">
                <a:latin typeface="Corbel" panose="020B0503020204020204" pitchFamily="34" charset="0"/>
              </a:rPr>
              <a:t>4)  </a:t>
            </a:r>
            <a:r>
              <a:rPr lang="en-US" sz="1800" dirty="0" err="1">
                <a:latin typeface="Corbel" panose="020B0503020204020204" pitchFamily="34" charset="0"/>
              </a:rPr>
              <a:t>java.applet</a:t>
            </a:r>
            <a:r>
              <a:rPr lang="en-US" sz="1800" dirty="0">
                <a:latin typeface="Corbel" panose="020B0503020204020204" pitchFamily="34" charset="0"/>
              </a:rPr>
              <a:t>: Contains classes for creating Applets.</a:t>
            </a:r>
          </a:p>
          <a:p>
            <a:pPr lvl="1">
              <a:lnSpc>
                <a:spcPct val="100000"/>
              </a:lnSpc>
            </a:pPr>
            <a:r>
              <a:rPr lang="en-US" sz="1800" dirty="0">
                <a:latin typeface="Corbel" panose="020B0503020204020204" pitchFamily="34" charset="0"/>
              </a:rPr>
              <a:t>5)  </a:t>
            </a:r>
            <a:r>
              <a:rPr lang="en-US" sz="1800" dirty="0" err="1">
                <a:latin typeface="Corbel" panose="020B0503020204020204" pitchFamily="34" charset="0"/>
              </a:rPr>
              <a:t>java.awt</a:t>
            </a:r>
            <a:r>
              <a:rPr lang="en-US" sz="1800" dirty="0">
                <a:latin typeface="Corbel" panose="020B0503020204020204" pitchFamily="34" charset="0"/>
              </a:rPr>
              <a:t>: Contain classes for implementing the components for graphical user interfaces (like button , ;menus </a:t>
            </a:r>
            <a:r>
              <a:rPr lang="en-US" sz="1800" dirty="0" err="1">
                <a:latin typeface="Corbel" panose="020B0503020204020204" pitchFamily="34" charset="0"/>
              </a:rPr>
              <a:t>etc</a:t>
            </a:r>
            <a:r>
              <a:rPr lang="en-US" sz="1800" dirty="0">
                <a:latin typeface="Corbel" panose="020B0503020204020204" pitchFamily="34" charset="0"/>
              </a:rPr>
              <a:t>).</a:t>
            </a:r>
          </a:p>
          <a:p>
            <a:pPr lvl="1">
              <a:lnSpc>
                <a:spcPct val="100000"/>
              </a:lnSpc>
            </a:pPr>
            <a:r>
              <a:rPr lang="en-US" sz="1800" dirty="0">
                <a:latin typeface="Corbel" panose="020B0503020204020204" pitchFamily="34" charset="0"/>
              </a:rPr>
              <a:t>6)  java.net: Contain classes for supporting networking operations.</a:t>
            </a:r>
          </a:p>
        </p:txBody>
      </p:sp>
      <p:pic>
        <p:nvPicPr>
          <p:cNvPr id="4" name="Picture 3"/>
          <p:cNvPicPr>
            <a:picLocks noChangeAspect="1"/>
          </p:cNvPicPr>
          <p:nvPr/>
        </p:nvPicPr>
        <p:blipFill>
          <a:blip r:embed="rId3"/>
          <a:stretch>
            <a:fillRect/>
          </a:stretch>
        </p:blipFill>
        <p:spPr>
          <a:xfrm>
            <a:off x="8415338" y="2745654"/>
            <a:ext cx="3519486" cy="2174008"/>
          </a:xfrm>
          <a:prstGeom prst="rect">
            <a:avLst/>
          </a:prstGeom>
        </p:spPr>
      </p:pic>
    </p:spTree>
    <p:extLst>
      <p:ext uri="{BB962C8B-B14F-4D97-AF65-F5344CB8AC3E}">
        <p14:creationId xmlns:p14="http://schemas.microsoft.com/office/powerpoint/2010/main" val="368338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Introduction – Types?.</a:t>
            </a:r>
          </a:p>
        </p:txBody>
      </p:sp>
      <p:sp>
        <p:nvSpPr>
          <p:cNvPr id="3" name="Content Placeholder 2"/>
          <p:cNvSpPr>
            <a:spLocks noGrp="1"/>
          </p:cNvSpPr>
          <p:nvPr>
            <p:ph idx="1"/>
          </p:nvPr>
        </p:nvSpPr>
        <p:spPr>
          <a:xfrm>
            <a:off x="317569" y="1414462"/>
            <a:ext cx="8097769" cy="5329237"/>
          </a:xfrm>
        </p:spPr>
        <p:txBody>
          <a:bodyPr>
            <a:noAutofit/>
          </a:bodyPr>
          <a:lstStyle/>
          <a:p>
            <a:pPr marL="0" indent="0">
              <a:lnSpc>
                <a:spcPct val="100000"/>
              </a:lnSpc>
              <a:buNone/>
            </a:pPr>
            <a:r>
              <a:rPr lang="en-US" b="1" dirty="0">
                <a:latin typeface="Corbel" panose="020B0503020204020204" pitchFamily="34" charset="0"/>
              </a:rPr>
              <a:t>User-defined packages</a:t>
            </a:r>
          </a:p>
          <a:p>
            <a:pPr>
              <a:lnSpc>
                <a:spcPct val="100000"/>
              </a:lnSpc>
            </a:pPr>
            <a:r>
              <a:rPr lang="en-US" dirty="0">
                <a:latin typeface="Corbel" panose="020B0503020204020204" pitchFamily="34" charset="0"/>
              </a:rPr>
              <a:t>These are the packages that are defined by the user.</a:t>
            </a:r>
          </a:p>
          <a:p>
            <a:pPr>
              <a:lnSpc>
                <a:spcPct val="100000"/>
              </a:lnSpc>
            </a:pPr>
            <a:r>
              <a:rPr lang="en-US" dirty="0">
                <a:latin typeface="Corbel" panose="020B0503020204020204" pitchFamily="34" charset="0"/>
              </a:rPr>
              <a:t> First we create a directory </a:t>
            </a:r>
            <a:r>
              <a:rPr lang="en-US" dirty="0" err="1">
                <a:latin typeface="Corbel" panose="020B0503020204020204" pitchFamily="34" charset="0"/>
              </a:rPr>
              <a:t>myPackage</a:t>
            </a:r>
            <a:r>
              <a:rPr lang="en-US" dirty="0">
                <a:latin typeface="Corbel" panose="020B0503020204020204" pitchFamily="34" charset="0"/>
              </a:rPr>
              <a:t> (name should be same as the name of the package). </a:t>
            </a:r>
          </a:p>
          <a:p>
            <a:pPr>
              <a:lnSpc>
                <a:spcPct val="100000"/>
              </a:lnSpc>
            </a:pPr>
            <a:r>
              <a:rPr lang="en-US" dirty="0">
                <a:latin typeface="Corbel" panose="020B0503020204020204" pitchFamily="34" charset="0"/>
              </a:rPr>
              <a:t>Then create the </a:t>
            </a:r>
            <a:r>
              <a:rPr lang="en-US" dirty="0" err="1">
                <a:latin typeface="Corbel" panose="020B0503020204020204" pitchFamily="34" charset="0"/>
              </a:rPr>
              <a:t>MyClass</a:t>
            </a:r>
            <a:r>
              <a:rPr lang="en-US" dirty="0">
                <a:latin typeface="Corbel" panose="020B0503020204020204" pitchFamily="34" charset="0"/>
              </a:rPr>
              <a:t> inside the directory with the first statement being the package names.</a:t>
            </a:r>
          </a:p>
        </p:txBody>
      </p:sp>
      <p:pic>
        <p:nvPicPr>
          <p:cNvPr id="4" name="Picture 3"/>
          <p:cNvPicPr>
            <a:picLocks noChangeAspect="1"/>
          </p:cNvPicPr>
          <p:nvPr/>
        </p:nvPicPr>
        <p:blipFill>
          <a:blip r:embed="rId3"/>
          <a:stretch>
            <a:fillRect/>
          </a:stretch>
        </p:blipFill>
        <p:spPr>
          <a:xfrm>
            <a:off x="8415338" y="2745654"/>
            <a:ext cx="3519486" cy="2174008"/>
          </a:xfrm>
          <a:prstGeom prst="rect">
            <a:avLst/>
          </a:prstGeom>
        </p:spPr>
      </p:pic>
    </p:spTree>
    <p:extLst>
      <p:ext uri="{BB962C8B-B14F-4D97-AF65-F5344CB8AC3E}">
        <p14:creationId xmlns:p14="http://schemas.microsoft.com/office/powerpoint/2010/main" val="2592605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Introduction – The How?.</a:t>
            </a:r>
          </a:p>
        </p:txBody>
      </p:sp>
      <p:sp>
        <p:nvSpPr>
          <p:cNvPr id="3" name="Content Placeholder 2"/>
          <p:cNvSpPr>
            <a:spLocks noGrp="1"/>
          </p:cNvSpPr>
          <p:nvPr>
            <p:ph idx="1"/>
          </p:nvPr>
        </p:nvSpPr>
        <p:spPr>
          <a:xfrm>
            <a:off x="317569" y="1414462"/>
            <a:ext cx="11583919" cy="5329237"/>
          </a:xfrm>
        </p:spPr>
        <p:txBody>
          <a:bodyPr>
            <a:noAutofit/>
          </a:bodyPr>
          <a:lstStyle/>
          <a:p>
            <a:pPr>
              <a:lnSpc>
                <a:spcPct val="100000"/>
              </a:lnSpc>
            </a:pPr>
            <a:r>
              <a:rPr lang="en-US" sz="1800" dirty="0">
                <a:latin typeface="Corbel" panose="020B0503020204020204" pitchFamily="34" charset="0"/>
              </a:rPr>
              <a:t>To make a Java package named pkg: </a:t>
            </a:r>
          </a:p>
          <a:p>
            <a:pPr>
              <a:lnSpc>
                <a:spcPct val="100000"/>
              </a:lnSpc>
            </a:pPr>
            <a:r>
              <a:rPr lang="en-US" sz="1800" dirty="0">
                <a:latin typeface="Corbel" panose="020B0503020204020204" pitchFamily="34" charset="0"/>
              </a:rPr>
              <a:t>Make a directory named pkg.  Put all the .java files for the classes and interfaces in the directory pkg.  </a:t>
            </a:r>
          </a:p>
          <a:p>
            <a:pPr>
              <a:lnSpc>
                <a:spcPct val="100000"/>
              </a:lnSpc>
            </a:pPr>
            <a:r>
              <a:rPr lang="en-US" sz="1800" dirty="0">
                <a:latin typeface="Corbel" panose="020B0503020204020204" pitchFamily="34" charset="0"/>
              </a:rPr>
              <a:t>Begin each of the .java files with a package declaration:  </a:t>
            </a:r>
          </a:p>
          <a:p>
            <a:pPr lvl="1">
              <a:lnSpc>
                <a:spcPct val="100000"/>
              </a:lnSpc>
            </a:pPr>
            <a:r>
              <a:rPr lang="en-US" sz="1400" b="1" dirty="0">
                <a:solidFill>
                  <a:srgbClr val="002060"/>
                </a:solidFill>
                <a:latin typeface="Corbel" panose="020B0503020204020204" pitchFamily="34" charset="0"/>
              </a:rPr>
              <a:t>package pkg; </a:t>
            </a:r>
          </a:p>
          <a:p>
            <a:pPr>
              <a:lnSpc>
                <a:spcPct val="100000"/>
              </a:lnSpc>
            </a:pPr>
            <a:r>
              <a:rPr lang="en-US" sz="1800" dirty="0">
                <a:latin typeface="Corbel" panose="020B0503020204020204" pitchFamily="34" charset="0"/>
              </a:rPr>
              <a:t>Compile the files by running </a:t>
            </a:r>
            <a:r>
              <a:rPr lang="en-US" sz="1800" dirty="0" err="1">
                <a:latin typeface="Corbel" panose="020B0503020204020204" pitchFamily="34" charset="0"/>
              </a:rPr>
              <a:t>javac</a:t>
            </a:r>
            <a:r>
              <a:rPr lang="en-US" sz="1800" dirty="0">
                <a:latin typeface="Corbel" panose="020B0503020204020204" pitchFamily="34" charset="0"/>
              </a:rPr>
              <a:t> from pkg's parent directory.  For example, </a:t>
            </a:r>
          </a:p>
          <a:p>
            <a:pPr lvl="1">
              <a:lnSpc>
                <a:spcPct val="100000"/>
              </a:lnSpc>
            </a:pPr>
            <a:r>
              <a:rPr lang="en-US" sz="1400" b="1" dirty="0" err="1">
                <a:solidFill>
                  <a:srgbClr val="002060"/>
                </a:solidFill>
                <a:latin typeface="Corbel" panose="020B0503020204020204" pitchFamily="34" charset="0"/>
              </a:rPr>
              <a:t>javac</a:t>
            </a:r>
            <a:r>
              <a:rPr lang="en-US" sz="1400" b="1" dirty="0">
                <a:solidFill>
                  <a:srgbClr val="002060"/>
                </a:solidFill>
                <a:latin typeface="Corbel" panose="020B0503020204020204" pitchFamily="34" charset="0"/>
              </a:rPr>
              <a:t> pkg/*.java</a:t>
            </a:r>
            <a:r>
              <a:rPr lang="en-US" sz="1400" dirty="0">
                <a:solidFill>
                  <a:srgbClr val="002060"/>
                </a:solidFill>
                <a:latin typeface="Corbel" panose="020B0503020204020204" pitchFamily="34" charset="0"/>
              </a:rPr>
              <a:t> </a:t>
            </a:r>
          </a:p>
          <a:p>
            <a:pPr>
              <a:lnSpc>
                <a:spcPct val="100000"/>
              </a:lnSpc>
            </a:pPr>
            <a:r>
              <a:rPr lang="en-US" sz="1800" dirty="0">
                <a:latin typeface="Corbel" panose="020B0503020204020204" pitchFamily="34" charset="0"/>
              </a:rPr>
              <a:t>Access the classes and interfaces of package pkg from other packages by importing its definitions with an import line in every .java file that uses them:  </a:t>
            </a:r>
          </a:p>
          <a:p>
            <a:pPr lvl="1">
              <a:lnSpc>
                <a:spcPct val="100000"/>
              </a:lnSpc>
            </a:pPr>
            <a:r>
              <a:rPr lang="en-US" sz="1400" dirty="0">
                <a:latin typeface="Corbel" panose="020B0503020204020204" pitchFamily="34" charset="0"/>
              </a:rPr>
              <a:t>import pkg; </a:t>
            </a:r>
          </a:p>
          <a:p>
            <a:pPr>
              <a:lnSpc>
                <a:spcPct val="100000"/>
              </a:lnSpc>
            </a:pPr>
            <a:r>
              <a:rPr lang="en-US" sz="1800" dirty="0">
                <a:latin typeface="Corbel" panose="020B0503020204020204" pitchFamily="34" charset="0"/>
              </a:rPr>
              <a:t>Tell the Java interpreter how to find package pkg by putting pkg's parent directory on the </a:t>
            </a:r>
            <a:r>
              <a:rPr lang="en-US" sz="1800" dirty="0" err="1">
                <a:latin typeface="Corbel" panose="020B0503020204020204" pitchFamily="34" charset="0"/>
              </a:rPr>
              <a:t>classpath</a:t>
            </a:r>
            <a:r>
              <a:rPr lang="en-US" sz="1800" dirty="0">
                <a:latin typeface="Corbel" panose="020B0503020204020204" pitchFamily="34" charset="0"/>
              </a:rPr>
              <a:t>, or by running the interpreter from that directory. </a:t>
            </a:r>
          </a:p>
          <a:p>
            <a:pPr>
              <a:lnSpc>
                <a:spcPct val="100000"/>
              </a:lnSpc>
            </a:pPr>
            <a:r>
              <a:rPr lang="en-US" sz="1800" dirty="0">
                <a:latin typeface="Corbel" panose="020B0503020204020204" pitchFamily="34" charset="0"/>
              </a:rPr>
              <a:t> If the full or relative pathname of pkg's parent directory is </a:t>
            </a:r>
            <a:r>
              <a:rPr lang="en-US" sz="1800" dirty="0" err="1">
                <a:latin typeface="Corbel" panose="020B0503020204020204" pitchFamily="34" charset="0"/>
              </a:rPr>
              <a:t>pname</a:t>
            </a:r>
            <a:r>
              <a:rPr lang="en-US" sz="1800" dirty="0">
                <a:latin typeface="Corbel" panose="020B0503020204020204" pitchFamily="34" charset="0"/>
              </a:rPr>
              <a:t>, then java -cp </a:t>
            </a:r>
            <a:r>
              <a:rPr lang="en-US" sz="1800" dirty="0" err="1">
                <a:latin typeface="Corbel" panose="020B0503020204020204" pitchFamily="34" charset="0"/>
              </a:rPr>
              <a:t>pname</a:t>
            </a:r>
            <a:r>
              <a:rPr lang="en-US" sz="1800" dirty="0">
                <a:latin typeface="Corbel" panose="020B0503020204020204" pitchFamily="34" charset="0"/>
              </a:rPr>
              <a:t> ... will put </a:t>
            </a:r>
            <a:r>
              <a:rPr lang="en-US" sz="1800" dirty="0" err="1">
                <a:latin typeface="Corbel" panose="020B0503020204020204" pitchFamily="34" charset="0"/>
              </a:rPr>
              <a:t>pname</a:t>
            </a:r>
            <a:r>
              <a:rPr lang="en-US" sz="1800" dirty="0">
                <a:latin typeface="Corbel" panose="020B0503020204020204" pitchFamily="34" charset="0"/>
              </a:rPr>
              <a:t> on the </a:t>
            </a:r>
            <a:r>
              <a:rPr lang="en-US" sz="1800" dirty="0" err="1">
                <a:latin typeface="Corbel" panose="020B0503020204020204" pitchFamily="34" charset="0"/>
              </a:rPr>
              <a:t>classpath</a:t>
            </a:r>
            <a:r>
              <a:rPr lang="en-US" sz="1800" dirty="0">
                <a:latin typeface="Corbel" panose="020B0503020204020204" pitchFamily="34" charset="0"/>
              </a:rPr>
              <a:t> and make package pkg accessible.  If you have several packages in different parent directories, separate the names with colons</a:t>
            </a:r>
            <a:r>
              <a:rPr lang="en-US" sz="1800" b="1" i="1" u="sng" dirty="0">
                <a:latin typeface="Corbel" panose="020B0503020204020204" pitchFamily="34" charset="0"/>
              </a:rPr>
              <a:t>:  java -cp pname:name2:dir3 .... </a:t>
            </a:r>
          </a:p>
        </p:txBody>
      </p:sp>
    </p:spTree>
    <p:extLst>
      <p:ext uri="{BB962C8B-B14F-4D97-AF65-F5344CB8AC3E}">
        <p14:creationId xmlns:p14="http://schemas.microsoft.com/office/powerpoint/2010/main" val="73032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Introduction – How?.</a:t>
            </a:r>
          </a:p>
        </p:txBody>
      </p:sp>
      <p:sp>
        <p:nvSpPr>
          <p:cNvPr id="3" name="Content Placeholder 2"/>
          <p:cNvSpPr>
            <a:spLocks noGrp="1"/>
          </p:cNvSpPr>
          <p:nvPr>
            <p:ph idx="1"/>
          </p:nvPr>
        </p:nvSpPr>
        <p:spPr>
          <a:xfrm>
            <a:off x="317569" y="1414462"/>
            <a:ext cx="11526769" cy="5329237"/>
          </a:xfrm>
        </p:spPr>
        <p:txBody>
          <a:bodyPr>
            <a:noAutofit/>
          </a:bodyPr>
          <a:lstStyle/>
          <a:p>
            <a:pPr marL="0" indent="0">
              <a:lnSpc>
                <a:spcPct val="100000"/>
              </a:lnSpc>
              <a:buNone/>
            </a:pPr>
            <a:r>
              <a:rPr lang="en-US" dirty="0">
                <a:latin typeface="Corbel" panose="020B0503020204020204" pitchFamily="34" charset="0"/>
              </a:rPr>
              <a:t>Each package in Java has its unique name and organizes its classes and interfaces into a separate namespace, or name group.</a:t>
            </a:r>
          </a:p>
          <a:p>
            <a:pPr marL="0" indent="0">
              <a:lnSpc>
                <a:spcPct val="100000"/>
              </a:lnSpc>
              <a:buNone/>
            </a:pPr>
            <a:r>
              <a:rPr lang="en-US" dirty="0">
                <a:latin typeface="Corbel" panose="020B0503020204020204" pitchFamily="34" charset="0"/>
              </a:rPr>
              <a:t>Package names and directory structure are closely related. </a:t>
            </a:r>
          </a:p>
          <a:p>
            <a:pPr marL="0" indent="0">
              <a:lnSpc>
                <a:spcPct val="100000"/>
              </a:lnSpc>
              <a:buNone/>
            </a:pPr>
            <a:r>
              <a:rPr lang="en-US" dirty="0">
                <a:latin typeface="Corbel" panose="020B0503020204020204" pitchFamily="34" charset="0"/>
              </a:rPr>
              <a:t>For example if a package name is </a:t>
            </a:r>
            <a:r>
              <a:rPr lang="en-US" dirty="0" err="1">
                <a:latin typeface="Corbel" panose="020B0503020204020204" pitchFamily="34" charset="0"/>
              </a:rPr>
              <a:t>college.staff.cse</a:t>
            </a:r>
            <a:r>
              <a:rPr lang="en-US" dirty="0">
                <a:latin typeface="Corbel" panose="020B0503020204020204" pitchFamily="34" charset="0"/>
              </a:rPr>
              <a:t>, then there are three directories, </a:t>
            </a:r>
            <a:r>
              <a:rPr lang="en-US" b="1" u="sng" dirty="0">
                <a:latin typeface="Corbel" panose="020B0503020204020204" pitchFamily="34" charset="0"/>
              </a:rPr>
              <a:t>college</a:t>
            </a:r>
            <a:r>
              <a:rPr lang="en-US" dirty="0">
                <a:latin typeface="Corbel" panose="020B0503020204020204" pitchFamily="34" charset="0"/>
              </a:rPr>
              <a:t>, </a:t>
            </a:r>
            <a:r>
              <a:rPr lang="en-US" b="1" u="sng" dirty="0">
                <a:latin typeface="Corbel" panose="020B0503020204020204" pitchFamily="34" charset="0"/>
              </a:rPr>
              <a:t>staff </a:t>
            </a:r>
            <a:r>
              <a:rPr lang="en-US" dirty="0">
                <a:latin typeface="Corbel" panose="020B0503020204020204" pitchFamily="34" charset="0"/>
              </a:rPr>
              <a:t>and </a:t>
            </a:r>
            <a:r>
              <a:rPr lang="en-US" b="1" u="sng" dirty="0" err="1">
                <a:latin typeface="Corbel" panose="020B0503020204020204" pitchFamily="34" charset="0"/>
              </a:rPr>
              <a:t>cse</a:t>
            </a:r>
            <a:r>
              <a:rPr lang="en-US" b="1" u="sng" dirty="0">
                <a:latin typeface="Corbel" panose="020B0503020204020204" pitchFamily="34" charset="0"/>
              </a:rPr>
              <a:t> </a:t>
            </a:r>
            <a:r>
              <a:rPr lang="en-US" dirty="0">
                <a:latin typeface="Corbel" panose="020B0503020204020204" pitchFamily="34" charset="0"/>
              </a:rPr>
              <a:t>such that </a:t>
            </a:r>
            <a:r>
              <a:rPr lang="en-US" dirty="0" err="1">
                <a:latin typeface="Corbel" panose="020B0503020204020204" pitchFamily="34" charset="0"/>
              </a:rPr>
              <a:t>cse</a:t>
            </a:r>
            <a:r>
              <a:rPr lang="en-US" dirty="0">
                <a:latin typeface="Corbel" panose="020B0503020204020204" pitchFamily="34" charset="0"/>
              </a:rPr>
              <a:t> is present in staff and staff is present college. </a:t>
            </a:r>
          </a:p>
          <a:p>
            <a:pPr marL="0" indent="0">
              <a:lnSpc>
                <a:spcPct val="100000"/>
              </a:lnSpc>
              <a:buNone/>
            </a:pPr>
            <a:r>
              <a:rPr lang="en-US" dirty="0">
                <a:latin typeface="Corbel" panose="020B0503020204020204" pitchFamily="34" charset="0"/>
              </a:rPr>
              <a:t>Also, the </a:t>
            </a:r>
            <a:r>
              <a:rPr lang="en-US" b="1" u="sng" dirty="0">
                <a:latin typeface="Corbel" panose="020B0503020204020204" pitchFamily="34" charset="0"/>
              </a:rPr>
              <a:t>directory college </a:t>
            </a:r>
            <a:r>
              <a:rPr lang="en-US" dirty="0">
                <a:latin typeface="Corbel" panose="020B0503020204020204" pitchFamily="34" charset="0"/>
              </a:rPr>
              <a:t>is accessible through </a:t>
            </a:r>
            <a:r>
              <a:rPr lang="en-US" b="1" u="sng" dirty="0">
                <a:latin typeface="Corbel" panose="020B0503020204020204" pitchFamily="34" charset="0"/>
              </a:rPr>
              <a:t>CLASSPATH </a:t>
            </a:r>
            <a:r>
              <a:rPr lang="en-US" dirty="0">
                <a:latin typeface="Corbel" panose="020B0503020204020204" pitchFamily="34" charset="0"/>
              </a:rPr>
              <a:t>variable, i.e., path of parent directory. </a:t>
            </a:r>
          </a:p>
          <a:p>
            <a:pPr marL="0" indent="0">
              <a:lnSpc>
                <a:spcPct val="100000"/>
              </a:lnSpc>
              <a:buNone/>
            </a:pPr>
            <a:r>
              <a:rPr lang="en-US" dirty="0">
                <a:latin typeface="Corbel" panose="020B0503020204020204" pitchFamily="34" charset="0"/>
              </a:rPr>
              <a:t>Package names are written in all lower case to avoid conflict with the names of classes or interfaces.</a:t>
            </a:r>
          </a:p>
          <a:p>
            <a:pPr marL="0" indent="0">
              <a:lnSpc>
                <a:spcPct val="100000"/>
              </a:lnSpc>
              <a:buNone/>
            </a:pPr>
            <a:endParaRPr lang="en-US" dirty="0">
              <a:latin typeface="Corbel" panose="020B0503020204020204" pitchFamily="34" charset="0"/>
            </a:endParaRPr>
          </a:p>
        </p:txBody>
      </p:sp>
    </p:spTree>
    <p:extLst>
      <p:ext uri="{BB962C8B-B14F-4D97-AF65-F5344CB8AC3E}">
        <p14:creationId xmlns:p14="http://schemas.microsoft.com/office/powerpoint/2010/main" val="285436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Introduction – How?.</a:t>
            </a:r>
          </a:p>
        </p:txBody>
      </p:sp>
      <p:sp>
        <p:nvSpPr>
          <p:cNvPr id="3" name="Content Placeholder 2"/>
          <p:cNvSpPr>
            <a:spLocks noGrp="1"/>
          </p:cNvSpPr>
          <p:nvPr>
            <p:ph idx="1"/>
          </p:nvPr>
        </p:nvSpPr>
        <p:spPr>
          <a:xfrm>
            <a:off x="317569" y="1414462"/>
            <a:ext cx="11526769" cy="5329237"/>
          </a:xfrm>
        </p:spPr>
        <p:txBody>
          <a:bodyPr>
            <a:noAutofit/>
          </a:bodyPr>
          <a:lstStyle/>
          <a:p>
            <a:pPr marL="0" indent="0" algn="just">
              <a:lnSpc>
                <a:spcPct val="100000"/>
              </a:lnSpc>
              <a:buNone/>
            </a:pPr>
            <a:r>
              <a:rPr lang="en-US" dirty="0">
                <a:latin typeface="Corbel" panose="020B0503020204020204" pitchFamily="34" charset="0"/>
              </a:rPr>
              <a:t>Companies use their </a:t>
            </a:r>
            <a:r>
              <a:rPr lang="en-US" b="1" dirty="0">
                <a:latin typeface="Corbel" panose="020B0503020204020204" pitchFamily="34" charset="0"/>
              </a:rPr>
              <a:t>reversed Internet domain </a:t>
            </a:r>
            <a:r>
              <a:rPr lang="en-US" dirty="0">
                <a:latin typeface="Corbel" panose="020B0503020204020204" pitchFamily="34" charset="0"/>
              </a:rPr>
              <a:t>name to begin their package names — for example, </a:t>
            </a:r>
            <a:r>
              <a:rPr lang="en-US" b="1" dirty="0" err="1">
                <a:latin typeface="Corbel" panose="020B0503020204020204" pitchFamily="34" charset="0"/>
              </a:rPr>
              <a:t>com.example.mypackage</a:t>
            </a:r>
            <a:r>
              <a:rPr lang="en-US" dirty="0">
                <a:latin typeface="Corbel" panose="020B0503020204020204" pitchFamily="34" charset="0"/>
              </a:rPr>
              <a:t> for a package named </a:t>
            </a:r>
            <a:r>
              <a:rPr lang="en-US" dirty="0" err="1">
                <a:latin typeface="Corbel" panose="020B0503020204020204" pitchFamily="34" charset="0"/>
              </a:rPr>
              <a:t>mypackage</a:t>
            </a:r>
            <a:r>
              <a:rPr lang="en-US" dirty="0">
                <a:latin typeface="Corbel" panose="020B0503020204020204" pitchFamily="34" charset="0"/>
              </a:rPr>
              <a:t> created by a programmer at example.com.</a:t>
            </a:r>
          </a:p>
          <a:p>
            <a:pPr marL="0" indent="0" algn="just">
              <a:lnSpc>
                <a:spcPct val="100000"/>
              </a:lnSpc>
              <a:buNone/>
            </a:pPr>
            <a:r>
              <a:rPr lang="en-US" dirty="0">
                <a:latin typeface="Corbel" panose="020B0503020204020204" pitchFamily="34" charset="0"/>
              </a:rPr>
              <a:t>Name collisions that occur within a single company need to be handled by convention within that company, perhaps by including the region or the project name after the company name (for example, </a:t>
            </a:r>
            <a:r>
              <a:rPr lang="en-US" dirty="0" err="1">
                <a:latin typeface="Corbel" panose="020B0503020204020204" pitchFamily="34" charset="0"/>
              </a:rPr>
              <a:t>com.example.region.mypackage</a:t>
            </a:r>
            <a:r>
              <a:rPr lang="en-US" dirty="0">
                <a:latin typeface="Corbel" panose="020B0503020204020204" pitchFamily="34" charset="0"/>
              </a:rPr>
              <a:t>).</a:t>
            </a:r>
          </a:p>
          <a:p>
            <a:pPr marL="0" indent="0" algn="just">
              <a:lnSpc>
                <a:spcPct val="100000"/>
              </a:lnSpc>
              <a:buNone/>
            </a:pPr>
            <a:r>
              <a:rPr lang="en-US" dirty="0">
                <a:latin typeface="Corbel" panose="020B0503020204020204" pitchFamily="34" charset="0"/>
              </a:rPr>
              <a:t>Packages in the Java language itself begin with java. or </a:t>
            </a:r>
            <a:r>
              <a:rPr lang="en-US" dirty="0" err="1">
                <a:latin typeface="Corbel" panose="020B0503020204020204" pitchFamily="34" charset="0"/>
              </a:rPr>
              <a:t>javax</a:t>
            </a:r>
            <a:r>
              <a:rPr lang="en-US" dirty="0">
                <a:latin typeface="Corbel" panose="020B0503020204020204" pitchFamily="34" charset="0"/>
              </a:rPr>
              <a:t>.</a:t>
            </a:r>
          </a:p>
          <a:p>
            <a:pPr marL="0" indent="0" algn="just">
              <a:lnSpc>
                <a:spcPct val="100000"/>
              </a:lnSpc>
              <a:buNone/>
            </a:pPr>
            <a:r>
              <a:rPr lang="en-US" dirty="0">
                <a:latin typeface="Corbel" panose="020B0503020204020204" pitchFamily="34" charset="0"/>
              </a:rPr>
              <a:t>In some cases, the internet domain name may not be a </a:t>
            </a:r>
            <a:r>
              <a:rPr lang="en-US" b="1" u="sng" dirty="0">
                <a:latin typeface="Corbel" panose="020B0503020204020204" pitchFamily="34" charset="0"/>
              </a:rPr>
              <a:t>valid package name</a:t>
            </a:r>
            <a:r>
              <a:rPr lang="en-US" dirty="0">
                <a:latin typeface="Corbel" panose="020B0503020204020204" pitchFamily="34" charset="0"/>
              </a:rPr>
              <a:t>. </a:t>
            </a:r>
          </a:p>
          <a:p>
            <a:pPr marL="0" indent="0" algn="just">
              <a:lnSpc>
                <a:spcPct val="100000"/>
              </a:lnSpc>
              <a:buNone/>
            </a:pPr>
            <a:r>
              <a:rPr lang="en-US" dirty="0">
                <a:latin typeface="Corbel" panose="020B0503020204020204" pitchFamily="34" charset="0"/>
              </a:rPr>
              <a:t>This can occur if the domain name contains a hyphen or other special character, if the package name begins with a digit or other character that is illegal to use as the beginning of a Java name, or if the package name contains a reserved Java keyword, such as "int". In this event, the suggested convention is to add an underscore. </a:t>
            </a:r>
          </a:p>
        </p:txBody>
      </p:sp>
    </p:spTree>
    <p:extLst>
      <p:ext uri="{BB962C8B-B14F-4D97-AF65-F5344CB8AC3E}">
        <p14:creationId xmlns:p14="http://schemas.microsoft.com/office/powerpoint/2010/main" val="33286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Import.</a:t>
            </a:r>
          </a:p>
        </p:txBody>
      </p:sp>
      <p:sp>
        <p:nvSpPr>
          <p:cNvPr id="3" name="Content Placeholder 2"/>
          <p:cNvSpPr>
            <a:spLocks noGrp="1"/>
          </p:cNvSpPr>
          <p:nvPr>
            <p:ph idx="1"/>
          </p:nvPr>
        </p:nvSpPr>
        <p:spPr>
          <a:xfrm>
            <a:off x="317569" y="1414462"/>
            <a:ext cx="11526769" cy="5329237"/>
          </a:xfrm>
        </p:spPr>
        <p:txBody>
          <a:bodyPr>
            <a:noAutofit/>
          </a:bodyPr>
          <a:lstStyle/>
          <a:p>
            <a:pPr eaLnBrk="0" fontAlgn="base" hangingPunct="0">
              <a:lnSpc>
                <a:spcPct val="150000"/>
              </a:lnSpc>
              <a:spcBef>
                <a:spcPct val="0"/>
              </a:spcBef>
              <a:spcAft>
                <a:spcPct val="0"/>
              </a:spcAft>
            </a:pPr>
            <a:r>
              <a:rPr lang="en-US" dirty="0"/>
              <a:t>To access a class or method from another package we need to use the fully qualified name or we can use import statements. </a:t>
            </a:r>
          </a:p>
          <a:p>
            <a:pPr eaLnBrk="0" fontAlgn="base" hangingPunct="0">
              <a:lnSpc>
                <a:spcPct val="150000"/>
              </a:lnSpc>
              <a:spcBef>
                <a:spcPct val="0"/>
              </a:spcBef>
              <a:spcAft>
                <a:spcPct val="0"/>
              </a:spcAft>
            </a:pPr>
            <a:r>
              <a:rPr lang="en-US" dirty="0"/>
              <a:t>The class or method should also be accessible. Accessibility is based on the access modifiers. </a:t>
            </a:r>
          </a:p>
          <a:p>
            <a:pPr eaLnBrk="0" fontAlgn="base" hangingPunct="0">
              <a:lnSpc>
                <a:spcPct val="150000"/>
              </a:lnSpc>
              <a:spcBef>
                <a:spcPct val="0"/>
              </a:spcBef>
              <a:spcAft>
                <a:spcPct val="0"/>
              </a:spcAft>
            </a:pPr>
            <a:r>
              <a:rPr lang="en-US" dirty="0"/>
              <a:t>Private members are accessible only within the same class. </a:t>
            </a:r>
          </a:p>
          <a:p>
            <a:pPr eaLnBrk="0" fontAlgn="base" hangingPunct="0">
              <a:lnSpc>
                <a:spcPct val="150000"/>
              </a:lnSpc>
              <a:spcBef>
                <a:spcPct val="0"/>
              </a:spcBef>
              <a:spcAft>
                <a:spcPct val="0"/>
              </a:spcAft>
            </a:pPr>
            <a:r>
              <a:rPr lang="en-US" dirty="0"/>
              <a:t>So you won't be able to access a private member even with fully qualified name or an import statement. </a:t>
            </a:r>
          </a:p>
          <a:p>
            <a:pPr eaLnBrk="0" fontAlgn="base" hangingPunct="0">
              <a:lnSpc>
                <a:spcPct val="150000"/>
              </a:lnSpc>
              <a:spcBef>
                <a:spcPct val="0"/>
              </a:spcBef>
              <a:spcAft>
                <a:spcPct val="0"/>
              </a:spcAft>
            </a:pPr>
            <a:r>
              <a:rPr lang="en-US" altLang="en-US" dirty="0">
                <a:latin typeface="Corbel" panose="020B0503020204020204" pitchFamily="34" charset="0"/>
              </a:rPr>
              <a:t>But if you will have to use the fully qualified name every time you are accessing the class or the interface, which can look a little untidy if the package name is long.</a:t>
            </a:r>
          </a:p>
          <a:p>
            <a:pPr eaLnBrk="0" fontAlgn="base" hangingPunct="0">
              <a:lnSpc>
                <a:spcPct val="150000"/>
              </a:lnSpc>
              <a:spcBef>
                <a:spcPct val="0"/>
              </a:spcBef>
              <a:spcAft>
                <a:spcPct val="0"/>
              </a:spcAft>
            </a:pPr>
            <a:endParaRPr lang="en-US" altLang="en-US" dirty="0">
              <a:latin typeface="Corbel" panose="020B0503020204020204" pitchFamily="34" charset="0"/>
            </a:endParaRPr>
          </a:p>
        </p:txBody>
      </p:sp>
    </p:spTree>
    <p:extLst>
      <p:ext uri="{BB962C8B-B14F-4D97-AF65-F5344CB8AC3E}">
        <p14:creationId xmlns:p14="http://schemas.microsoft.com/office/powerpoint/2010/main" val="4205255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Import.</a:t>
            </a:r>
          </a:p>
        </p:txBody>
      </p:sp>
      <p:sp>
        <p:nvSpPr>
          <p:cNvPr id="3" name="Content Placeholder 2"/>
          <p:cNvSpPr>
            <a:spLocks noGrp="1"/>
          </p:cNvSpPr>
          <p:nvPr>
            <p:ph idx="1"/>
          </p:nvPr>
        </p:nvSpPr>
        <p:spPr>
          <a:xfrm>
            <a:off x="203269" y="1300162"/>
            <a:ext cx="7654856" cy="5329237"/>
          </a:xfrm>
        </p:spPr>
        <p:txBody>
          <a:bodyPr>
            <a:noAutofit/>
          </a:bodyPr>
          <a:lstStyle/>
          <a:p>
            <a:pPr eaLnBrk="0" fontAlgn="base" hangingPunct="0">
              <a:lnSpc>
                <a:spcPct val="150000"/>
              </a:lnSpc>
              <a:spcBef>
                <a:spcPct val="0"/>
              </a:spcBef>
              <a:spcAft>
                <a:spcPct val="0"/>
              </a:spcAft>
            </a:pPr>
            <a:r>
              <a:rPr lang="en-US" altLang="en-US" dirty="0">
                <a:solidFill>
                  <a:srgbClr val="C7254E"/>
                </a:solidFill>
                <a:latin typeface="Corbel" panose="020B0503020204020204" pitchFamily="34" charset="0"/>
                <a:cs typeface="Arial" panose="020B0604020202020204" pitchFamily="34" charset="0"/>
              </a:rPr>
              <a:t>import</a:t>
            </a:r>
            <a:r>
              <a:rPr lang="en-US" altLang="en-US" dirty="0">
                <a:solidFill>
                  <a:srgbClr val="000000"/>
                </a:solidFill>
                <a:latin typeface="Corbel" panose="020B0503020204020204" pitchFamily="34" charset="0"/>
                <a:cs typeface="Arial" panose="020B0604020202020204" pitchFamily="34" charset="0"/>
              </a:rPr>
              <a:t> keyword is used to import built-in and user-defined packages into your java source file so that your class can refer to a class that is in another package by directly using its name.</a:t>
            </a:r>
            <a:endParaRPr lang="en-US" altLang="en-US" dirty="0">
              <a:latin typeface="Corbel" panose="020B0503020204020204" pitchFamily="34" charset="0"/>
            </a:endParaRPr>
          </a:p>
          <a:p>
            <a:pPr eaLnBrk="0" fontAlgn="base" hangingPunct="0">
              <a:lnSpc>
                <a:spcPct val="150000"/>
              </a:lnSpc>
              <a:spcBef>
                <a:spcPct val="0"/>
              </a:spcBef>
              <a:spcAft>
                <a:spcPct val="0"/>
              </a:spcAft>
            </a:pPr>
            <a:r>
              <a:rPr lang="en-US" dirty="0">
                <a:latin typeface="Corbel" panose="020B0503020204020204" pitchFamily="34" charset="0"/>
              </a:rPr>
              <a:t> </a:t>
            </a:r>
            <a:r>
              <a:rPr lang="en-US" dirty="0">
                <a:solidFill>
                  <a:srgbClr val="000000"/>
                </a:solidFill>
                <a:latin typeface="Corbel" panose="020B0503020204020204" pitchFamily="34" charset="0"/>
                <a:cs typeface="Arial" panose="020B0604020202020204" pitchFamily="34" charset="0"/>
              </a:rPr>
              <a:t>Remember that you can import only types (classes and interfaces, but not methods) using a regular import.</a:t>
            </a:r>
          </a:p>
          <a:p>
            <a:pPr eaLnBrk="0" fontAlgn="base" hangingPunct="0">
              <a:lnSpc>
                <a:spcPct val="150000"/>
              </a:lnSpc>
              <a:spcBef>
                <a:spcPct val="0"/>
              </a:spcBef>
              <a:spcAft>
                <a:spcPct val="0"/>
              </a:spcAft>
            </a:pPr>
            <a:r>
              <a:rPr lang="en-US" dirty="0">
                <a:solidFill>
                  <a:srgbClr val="000000"/>
                </a:solidFill>
                <a:latin typeface="Corbel" panose="020B0503020204020204" pitchFamily="34" charset="0"/>
                <a:cs typeface="Arial" panose="020B0604020202020204" pitchFamily="34" charset="0"/>
              </a:rPr>
              <a:t>You can access the static method process from another package either as: </a:t>
            </a:r>
          </a:p>
          <a:p>
            <a:pPr lvl="1" eaLnBrk="0" fontAlgn="base" hangingPunct="0">
              <a:lnSpc>
                <a:spcPct val="150000"/>
              </a:lnSpc>
              <a:spcBef>
                <a:spcPct val="0"/>
              </a:spcBef>
              <a:spcAft>
                <a:spcPct val="0"/>
              </a:spcAft>
            </a:pPr>
            <a:r>
              <a:rPr lang="en-US" b="1" dirty="0" err="1">
                <a:solidFill>
                  <a:srgbClr val="002060"/>
                </a:solidFill>
                <a:latin typeface="Corbel" panose="020B0503020204020204" pitchFamily="34" charset="0"/>
                <a:cs typeface="Arial" panose="020B0604020202020204" pitchFamily="34" charset="0"/>
              </a:rPr>
              <a:t>util.BitUtils.process</a:t>
            </a:r>
            <a:r>
              <a:rPr lang="en-US" b="1" dirty="0">
                <a:solidFill>
                  <a:srgbClr val="002060"/>
                </a:solidFill>
                <a:latin typeface="Corbel" panose="020B0503020204020204" pitchFamily="34" charset="0"/>
                <a:cs typeface="Arial" panose="020B0604020202020204" pitchFamily="34" charset="0"/>
              </a:rPr>
              <a:t>(bytes); </a:t>
            </a:r>
            <a:r>
              <a:rPr lang="en-US" b="1" dirty="0">
                <a:solidFill>
                  <a:srgbClr val="002060"/>
                </a:solidFill>
                <a:latin typeface="Corbel" panose="020B0503020204020204" pitchFamily="34" charset="0"/>
                <a:cs typeface="Arial" panose="020B0604020202020204" pitchFamily="34" charset="0"/>
                <a:sym typeface="Wingdings" panose="05000000000000000000" pitchFamily="2" charset="2"/>
              </a:rPr>
              <a:t> Fully Qualified Name</a:t>
            </a:r>
            <a:endParaRPr lang="en-US" b="1" dirty="0">
              <a:solidFill>
                <a:srgbClr val="002060"/>
              </a:solidFill>
              <a:latin typeface="Corbel" panose="020B0503020204020204" pitchFamily="34" charset="0"/>
              <a:cs typeface="Arial" panose="020B0604020202020204" pitchFamily="34" charset="0"/>
            </a:endParaRPr>
          </a:p>
          <a:p>
            <a:pPr eaLnBrk="0" fontAlgn="base" hangingPunct="0">
              <a:lnSpc>
                <a:spcPct val="150000"/>
              </a:lnSpc>
              <a:spcBef>
                <a:spcPct val="0"/>
              </a:spcBef>
              <a:spcAft>
                <a:spcPct val="0"/>
              </a:spcAft>
            </a:pPr>
            <a:r>
              <a:rPr lang="en-US" dirty="0">
                <a:solidFill>
                  <a:srgbClr val="000000"/>
                </a:solidFill>
                <a:latin typeface="Corbel" panose="020B0503020204020204" pitchFamily="34" charset="0"/>
                <a:cs typeface="Arial" panose="020B0604020202020204" pitchFamily="34" charset="0"/>
              </a:rPr>
              <a:t>or using an import statement and then use the class name without qualifier as:</a:t>
            </a:r>
          </a:p>
          <a:p>
            <a:pPr lvl="1" eaLnBrk="0" fontAlgn="base" hangingPunct="0">
              <a:lnSpc>
                <a:spcPct val="150000"/>
              </a:lnSpc>
              <a:spcBef>
                <a:spcPct val="0"/>
              </a:spcBef>
              <a:spcAft>
                <a:spcPct val="0"/>
              </a:spcAft>
            </a:pPr>
            <a:r>
              <a:rPr lang="en-US" b="1" dirty="0">
                <a:solidFill>
                  <a:srgbClr val="002060"/>
                </a:solidFill>
                <a:latin typeface="Corbel" panose="020B0503020204020204" pitchFamily="34" charset="0"/>
                <a:cs typeface="Arial" panose="020B0604020202020204" pitchFamily="34" charset="0"/>
              </a:rPr>
              <a:t>import </a:t>
            </a:r>
            <a:r>
              <a:rPr lang="en-US" b="1" dirty="0" err="1">
                <a:solidFill>
                  <a:srgbClr val="002060"/>
                </a:solidFill>
                <a:latin typeface="Corbel" panose="020B0503020204020204" pitchFamily="34" charset="0"/>
                <a:cs typeface="Arial" panose="020B0604020202020204" pitchFamily="34" charset="0"/>
              </a:rPr>
              <a:t>util.BitUtils</a:t>
            </a:r>
            <a:r>
              <a:rPr lang="en-US" b="1" dirty="0">
                <a:solidFill>
                  <a:srgbClr val="002060"/>
                </a:solidFill>
                <a:latin typeface="Corbel" panose="020B0503020204020204" pitchFamily="34" charset="0"/>
                <a:cs typeface="Arial" panose="020B0604020202020204" pitchFamily="34" charset="0"/>
              </a:rPr>
              <a:t>; </a:t>
            </a:r>
            <a:r>
              <a:rPr lang="en-US" b="1" dirty="0">
                <a:solidFill>
                  <a:srgbClr val="002060"/>
                </a:solidFill>
                <a:latin typeface="Corbel" panose="020B0503020204020204" pitchFamily="34" charset="0"/>
                <a:cs typeface="Arial" panose="020B0604020202020204" pitchFamily="34" charset="0"/>
                <a:sym typeface="Wingdings" panose="05000000000000000000" pitchFamily="2" charset="2"/>
              </a:rPr>
              <a:t> Type Import</a:t>
            </a:r>
            <a:endParaRPr lang="en-US" b="1" dirty="0">
              <a:solidFill>
                <a:srgbClr val="002060"/>
              </a:solidFill>
              <a:latin typeface="Corbel" panose="020B0503020204020204" pitchFamily="34" charset="0"/>
              <a:cs typeface="Arial" panose="020B0604020202020204" pitchFamily="34" charset="0"/>
            </a:endParaRPr>
          </a:p>
          <a:p>
            <a:pPr lvl="1" eaLnBrk="0" fontAlgn="base" hangingPunct="0">
              <a:lnSpc>
                <a:spcPct val="150000"/>
              </a:lnSpc>
              <a:spcBef>
                <a:spcPct val="0"/>
              </a:spcBef>
              <a:spcAft>
                <a:spcPct val="0"/>
              </a:spcAft>
            </a:pPr>
            <a:r>
              <a:rPr lang="en-US" b="1" dirty="0">
                <a:solidFill>
                  <a:srgbClr val="002060"/>
                </a:solidFill>
                <a:latin typeface="Corbel" panose="020B0503020204020204" pitchFamily="34" charset="0"/>
                <a:cs typeface="Arial" panose="020B0604020202020204" pitchFamily="34" charset="0"/>
              </a:rPr>
              <a:t>...</a:t>
            </a:r>
          </a:p>
          <a:p>
            <a:pPr lvl="1" eaLnBrk="0" fontAlgn="base" hangingPunct="0">
              <a:lnSpc>
                <a:spcPct val="150000"/>
              </a:lnSpc>
              <a:spcBef>
                <a:spcPct val="0"/>
              </a:spcBef>
              <a:spcAft>
                <a:spcPct val="0"/>
              </a:spcAft>
            </a:pPr>
            <a:r>
              <a:rPr lang="en-US" b="1" dirty="0" err="1">
                <a:solidFill>
                  <a:srgbClr val="002060"/>
                </a:solidFill>
                <a:latin typeface="Corbel" panose="020B0503020204020204" pitchFamily="34" charset="0"/>
                <a:cs typeface="Arial" panose="020B0604020202020204" pitchFamily="34" charset="0"/>
              </a:rPr>
              <a:t>BitUtils.process</a:t>
            </a:r>
            <a:r>
              <a:rPr lang="en-US" b="1" dirty="0">
                <a:solidFill>
                  <a:srgbClr val="002060"/>
                </a:solidFill>
                <a:latin typeface="Corbel" panose="020B0503020204020204" pitchFamily="34" charset="0"/>
                <a:cs typeface="Arial" panose="020B0604020202020204" pitchFamily="34" charset="0"/>
              </a:rPr>
              <a:t>(bytes);</a:t>
            </a:r>
          </a:p>
          <a:p>
            <a:pPr eaLnBrk="0" fontAlgn="base" hangingPunct="0">
              <a:lnSpc>
                <a:spcPct val="150000"/>
              </a:lnSpc>
              <a:spcBef>
                <a:spcPct val="0"/>
              </a:spcBef>
              <a:spcAft>
                <a:spcPct val="0"/>
              </a:spcAft>
            </a:pPr>
            <a:endParaRPr lang="en-US" dirty="0">
              <a:solidFill>
                <a:srgbClr val="000000"/>
              </a:solidFill>
              <a:latin typeface="Corbel" panose="020B0503020204020204" pitchFamily="34" charset="0"/>
              <a:cs typeface="Arial" panose="020B0604020202020204" pitchFamily="34" charset="0"/>
            </a:endParaRPr>
          </a:p>
          <a:p>
            <a:pPr eaLnBrk="0" fontAlgn="base" hangingPunct="0">
              <a:lnSpc>
                <a:spcPct val="150000"/>
              </a:lnSpc>
              <a:spcBef>
                <a:spcPct val="0"/>
              </a:spcBef>
              <a:spcAft>
                <a:spcPct val="0"/>
              </a:spcAft>
            </a:pPr>
            <a:endParaRPr lang="en-US" altLang="en-US" dirty="0">
              <a:solidFill>
                <a:srgbClr val="000000"/>
              </a:solidFill>
              <a:latin typeface="Corbel" panose="020B0503020204020204" pitchFamily="34" charset="0"/>
              <a:cs typeface="Arial" panose="020B0604020202020204" pitchFamily="34" charset="0"/>
            </a:endParaRPr>
          </a:p>
        </p:txBody>
      </p:sp>
      <p:pic>
        <p:nvPicPr>
          <p:cNvPr id="4" name="Picture 3"/>
          <p:cNvPicPr>
            <a:picLocks noChangeAspect="1"/>
          </p:cNvPicPr>
          <p:nvPr/>
        </p:nvPicPr>
        <p:blipFill>
          <a:blip r:embed="rId3"/>
          <a:stretch>
            <a:fillRect/>
          </a:stretch>
        </p:blipFill>
        <p:spPr>
          <a:xfrm>
            <a:off x="7979659" y="1543050"/>
            <a:ext cx="4036130" cy="1502731"/>
          </a:xfrm>
          <a:prstGeom prst="rect">
            <a:avLst/>
          </a:prstGeom>
        </p:spPr>
      </p:pic>
    </p:spTree>
    <p:extLst>
      <p:ext uri="{BB962C8B-B14F-4D97-AF65-F5344CB8AC3E}">
        <p14:creationId xmlns:p14="http://schemas.microsoft.com/office/powerpoint/2010/main" val="558532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Static Import.</a:t>
            </a:r>
          </a:p>
        </p:txBody>
      </p:sp>
      <p:sp>
        <p:nvSpPr>
          <p:cNvPr id="3" name="Content Placeholder 2"/>
          <p:cNvSpPr>
            <a:spLocks noGrp="1"/>
          </p:cNvSpPr>
          <p:nvPr>
            <p:ph idx="1"/>
          </p:nvPr>
        </p:nvSpPr>
        <p:spPr>
          <a:xfrm>
            <a:off x="203269" y="1300162"/>
            <a:ext cx="7997756" cy="5329237"/>
          </a:xfrm>
        </p:spPr>
        <p:txBody>
          <a:bodyPr>
            <a:noAutofit/>
          </a:bodyPr>
          <a:lstStyle/>
          <a:p>
            <a:r>
              <a:rPr lang="en-US" dirty="0">
                <a:latin typeface="Corbel" panose="020B0503020204020204" pitchFamily="34" charset="0"/>
              </a:rPr>
              <a:t>Regular import can import only types (classes and interfaces, but not methods).</a:t>
            </a:r>
          </a:p>
          <a:p>
            <a:r>
              <a:rPr lang="en-US" dirty="0">
                <a:latin typeface="Corbel" panose="020B0503020204020204" pitchFamily="34" charset="0"/>
              </a:rPr>
              <a:t> Static imports can import a class's static members (variables and methods) as well. </a:t>
            </a:r>
          </a:p>
          <a:p>
            <a:r>
              <a:rPr lang="en-US" dirty="0">
                <a:latin typeface="Corbel" panose="020B0503020204020204" pitchFamily="34" charset="0"/>
              </a:rPr>
              <a:t>Consider our </a:t>
            </a:r>
            <a:r>
              <a:rPr lang="en-US" dirty="0" err="1">
                <a:latin typeface="Corbel" panose="020B0503020204020204" pitchFamily="34" charset="0"/>
              </a:rPr>
              <a:t>BitUtils</a:t>
            </a:r>
            <a:r>
              <a:rPr lang="en-US" dirty="0">
                <a:latin typeface="Corbel" panose="020B0503020204020204" pitchFamily="34" charset="0"/>
              </a:rPr>
              <a:t> example again: </a:t>
            </a:r>
          </a:p>
          <a:p>
            <a:r>
              <a:rPr lang="en-US" altLang="en-US" dirty="0">
                <a:solidFill>
                  <a:srgbClr val="333333"/>
                </a:solidFill>
                <a:latin typeface="Corbel" panose="020B0503020204020204" pitchFamily="34" charset="0"/>
              </a:rPr>
              <a:t>You can also use a static import as: </a:t>
            </a:r>
            <a:r>
              <a:rPr lang="en-US" altLang="en-US" b="1" u="sng" dirty="0">
                <a:latin typeface="Corbel" panose="020B0503020204020204" pitchFamily="34" charset="0"/>
              </a:rPr>
              <a:t>import static </a:t>
            </a:r>
            <a:r>
              <a:rPr lang="en-US" altLang="en-US" b="1" u="sng" dirty="0" err="1">
                <a:latin typeface="Corbel" panose="020B0503020204020204" pitchFamily="34" charset="0"/>
              </a:rPr>
              <a:t>util.BitUtils.process</a:t>
            </a:r>
            <a:r>
              <a:rPr lang="en-US" altLang="en-US" dirty="0">
                <a:latin typeface="Corbel" panose="020B0503020204020204" pitchFamily="34" charset="0"/>
              </a:rPr>
              <a:t>; </a:t>
            </a:r>
            <a:r>
              <a:rPr lang="en-US" altLang="en-US" dirty="0">
                <a:solidFill>
                  <a:srgbClr val="333333"/>
                </a:solidFill>
                <a:latin typeface="Corbel" panose="020B0503020204020204" pitchFamily="34" charset="0"/>
              </a:rPr>
              <a:t>and then simply use the process method as: </a:t>
            </a:r>
            <a:r>
              <a:rPr lang="en-US" altLang="en-US" b="1" u="sng" dirty="0">
                <a:latin typeface="Corbel" panose="020B0503020204020204" pitchFamily="34" charset="0"/>
              </a:rPr>
              <a:t>process(bytes)</a:t>
            </a:r>
            <a:r>
              <a:rPr lang="en-US" altLang="en-US" dirty="0">
                <a:latin typeface="Corbel" panose="020B0503020204020204" pitchFamily="34" charset="0"/>
              </a:rPr>
              <a:t>;</a:t>
            </a:r>
          </a:p>
          <a:p>
            <a:pPr fontAlgn="base">
              <a:spcAft>
                <a:spcPct val="0"/>
              </a:spcAft>
            </a:pPr>
            <a:r>
              <a:rPr lang="en-US" altLang="en-US" dirty="0">
                <a:latin typeface="Corbel" panose="020B0503020204020204" pitchFamily="34" charset="0"/>
              </a:rPr>
              <a:t>You can also use the fully qualified name and regular import here.</a:t>
            </a:r>
          </a:p>
          <a:p>
            <a:pPr fontAlgn="base">
              <a:spcAft>
                <a:spcPct val="0"/>
              </a:spcAft>
            </a:pPr>
            <a:r>
              <a:rPr lang="en-US" altLang="en-US" dirty="0">
                <a:latin typeface="Corbel" panose="020B0503020204020204" pitchFamily="34" charset="0"/>
              </a:rPr>
              <a:t>Another very common example is to use a static import for </a:t>
            </a:r>
            <a:r>
              <a:rPr lang="en-US" altLang="en-US" b="1" u="sng" dirty="0" err="1">
                <a:latin typeface="Corbel" panose="020B0503020204020204" pitchFamily="34" charset="0"/>
              </a:rPr>
              <a:t>System.out.println</a:t>
            </a:r>
            <a:r>
              <a:rPr lang="en-US" altLang="en-US" dirty="0">
                <a:latin typeface="Corbel" panose="020B0503020204020204" pitchFamily="34" charset="0"/>
              </a:rPr>
              <a:t> as: </a:t>
            </a:r>
            <a:r>
              <a:rPr lang="en-US" altLang="en-US" b="1" u="sng" dirty="0">
                <a:latin typeface="Corbel" panose="020B0503020204020204" pitchFamily="34" charset="0"/>
              </a:rPr>
              <a:t>	import static </a:t>
            </a:r>
            <a:r>
              <a:rPr lang="en-US" altLang="en-US" b="1" u="sng" dirty="0" err="1">
                <a:latin typeface="Corbel" panose="020B0503020204020204" pitchFamily="34" charset="0"/>
              </a:rPr>
              <a:t>java.lang.System.out</a:t>
            </a:r>
            <a:r>
              <a:rPr lang="en-US" altLang="en-US" dirty="0">
                <a:latin typeface="Corbel" panose="020B0503020204020204" pitchFamily="34" charset="0"/>
              </a:rPr>
              <a:t>;</a:t>
            </a:r>
          </a:p>
          <a:p>
            <a:pPr lvl="0" fontAlgn="base">
              <a:spcAft>
                <a:spcPct val="0"/>
              </a:spcAft>
            </a:pPr>
            <a:r>
              <a:rPr lang="en-US" altLang="en-US" dirty="0">
                <a:latin typeface="Corbel" panose="020B0503020204020204" pitchFamily="34" charset="0"/>
              </a:rPr>
              <a:t>And then using it as: </a:t>
            </a:r>
            <a:r>
              <a:rPr lang="en-US" altLang="en-US" b="1" u="sng" dirty="0" err="1">
                <a:latin typeface="Corbel" panose="020B0503020204020204" pitchFamily="34" charset="0"/>
              </a:rPr>
              <a:t>out.println</a:t>
            </a:r>
            <a:r>
              <a:rPr lang="en-US" altLang="en-US" b="1" u="sng" dirty="0">
                <a:latin typeface="Corbel" panose="020B0503020204020204" pitchFamily="34" charset="0"/>
              </a:rPr>
              <a:t>()</a:t>
            </a:r>
            <a:r>
              <a:rPr lang="en-US" altLang="en-US" dirty="0">
                <a:latin typeface="Corbel" panose="020B0503020204020204" pitchFamily="34" charset="0"/>
              </a:rPr>
              <a:t>;</a:t>
            </a:r>
          </a:p>
          <a:p>
            <a:pPr fontAlgn="base">
              <a:spcAft>
                <a:spcPct val="0"/>
              </a:spcAft>
            </a:pPr>
            <a:r>
              <a:rPr lang="en-US" altLang="en-US" dirty="0">
                <a:latin typeface="Corbel" panose="020B0503020204020204" pitchFamily="34" charset="0"/>
              </a:rPr>
              <a:t>Even if the feature is called </a:t>
            </a:r>
            <a:r>
              <a:rPr lang="en-US" altLang="en-US" b="1" u="sng" dirty="0">
                <a:latin typeface="Corbel" panose="020B0503020204020204" pitchFamily="34" charset="0"/>
              </a:rPr>
              <a:t>static import</a:t>
            </a:r>
            <a:r>
              <a:rPr lang="en-US" altLang="en-US" dirty="0">
                <a:latin typeface="Corbel" panose="020B0503020204020204" pitchFamily="34" charset="0"/>
              </a:rPr>
              <a:t>, </a:t>
            </a:r>
            <a:r>
              <a:rPr lang="en-US" altLang="en-US" b="1" dirty="0">
                <a:solidFill>
                  <a:srgbClr val="7030A0"/>
                </a:solidFill>
                <a:latin typeface="Corbel" panose="020B0503020204020204" pitchFamily="34" charset="0"/>
              </a:rPr>
              <a:t>syntax is import static</a:t>
            </a:r>
            <a:r>
              <a:rPr lang="en-US" altLang="en-US" dirty="0">
                <a:latin typeface="Corbel" panose="020B0503020204020204" pitchFamily="34" charset="0"/>
              </a:rPr>
              <a:t>. </a:t>
            </a:r>
          </a:p>
          <a:p>
            <a:endParaRPr lang="en-US" dirty="0">
              <a:latin typeface="Corbel" panose="020B0503020204020204" pitchFamily="34" charset="0"/>
            </a:endParaRPr>
          </a:p>
          <a:p>
            <a:endParaRPr lang="en-US" dirty="0">
              <a:latin typeface="Corbel" panose="020B0503020204020204" pitchFamily="34" charset="0"/>
            </a:endParaRPr>
          </a:p>
        </p:txBody>
      </p:sp>
      <p:pic>
        <p:nvPicPr>
          <p:cNvPr id="5" name="Picture 4"/>
          <p:cNvPicPr>
            <a:picLocks noChangeAspect="1"/>
          </p:cNvPicPr>
          <p:nvPr/>
        </p:nvPicPr>
        <p:blipFill>
          <a:blip r:embed="rId3"/>
          <a:stretch>
            <a:fillRect/>
          </a:stretch>
        </p:blipFill>
        <p:spPr>
          <a:xfrm>
            <a:off x="8072438" y="1556802"/>
            <a:ext cx="3990975" cy="1462623"/>
          </a:xfrm>
          <a:prstGeom prst="rect">
            <a:avLst/>
          </a:prstGeom>
        </p:spPr>
      </p:pic>
    </p:spTree>
    <p:extLst>
      <p:ext uri="{BB962C8B-B14F-4D97-AF65-F5344CB8AC3E}">
        <p14:creationId xmlns:p14="http://schemas.microsoft.com/office/powerpoint/2010/main" val="382981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a:t>
            </a:r>
            <a:r>
              <a:rPr lang="en-US" altLang="en-US" b="1" dirty="0">
                <a:solidFill>
                  <a:srgbClr val="000000"/>
                </a:solidFill>
                <a:latin typeface="Corbel" panose="020B0503020204020204" pitchFamily="34" charset="0"/>
                <a:cs typeface="Arial" panose="020B0604020202020204" pitchFamily="34" charset="0"/>
              </a:rPr>
              <a:t>Points on Import Statement</a:t>
            </a:r>
            <a:endParaRPr lang="en-US" dirty="0"/>
          </a:p>
        </p:txBody>
      </p:sp>
      <p:sp>
        <p:nvSpPr>
          <p:cNvPr id="3" name="Content Placeholder 2"/>
          <p:cNvSpPr>
            <a:spLocks noGrp="1"/>
          </p:cNvSpPr>
          <p:nvPr>
            <p:ph idx="1"/>
          </p:nvPr>
        </p:nvSpPr>
        <p:spPr>
          <a:xfrm>
            <a:off x="317569" y="1414462"/>
            <a:ext cx="11526769" cy="5329237"/>
          </a:xfrm>
        </p:spPr>
        <p:txBody>
          <a:bodyPr>
            <a:noAutofit/>
          </a:bodyPr>
          <a:lstStyle/>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The </a:t>
            </a:r>
            <a:r>
              <a:rPr lang="en-US" altLang="en-US" b="1" dirty="0">
                <a:solidFill>
                  <a:srgbClr val="0070C0"/>
                </a:solidFill>
                <a:latin typeface="Corbel" panose="020B0503020204020204" pitchFamily="34" charset="0"/>
                <a:cs typeface="Arial" panose="020B0604020202020204" pitchFamily="34" charset="0"/>
              </a:rPr>
              <a:t>import</a:t>
            </a:r>
            <a:r>
              <a:rPr lang="en-US" altLang="en-US" dirty="0">
                <a:solidFill>
                  <a:srgbClr val="000000"/>
                </a:solidFill>
                <a:latin typeface="Corbel" panose="020B0503020204020204" pitchFamily="34" charset="0"/>
                <a:cs typeface="Arial" panose="020B0604020202020204" pitchFamily="34" charset="0"/>
              </a:rPr>
              <a:t> keyword is used to make the </a:t>
            </a:r>
            <a:r>
              <a:rPr lang="en-US" altLang="en-US" b="1" dirty="0">
                <a:solidFill>
                  <a:srgbClr val="000000"/>
                </a:solidFill>
                <a:latin typeface="Corbel" panose="020B0503020204020204" pitchFamily="34" charset="0"/>
                <a:cs typeface="Arial" panose="020B0604020202020204" pitchFamily="34" charset="0"/>
              </a:rPr>
              <a:t>classes</a:t>
            </a:r>
            <a:r>
              <a:rPr lang="en-US" altLang="en-US" dirty="0">
                <a:solidFill>
                  <a:srgbClr val="000000"/>
                </a:solidFill>
                <a:latin typeface="Corbel" panose="020B0503020204020204" pitchFamily="34" charset="0"/>
                <a:cs typeface="Arial" panose="020B0604020202020204" pitchFamily="34" charset="0"/>
              </a:rPr>
              <a:t> and </a:t>
            </a:r>
            <a:r>
              <a:rPr lang="en-US" altLang="en-US" b="1" dirty="0">
                <a:solidFill>
                  <a:srgbClr val="000000"/>
                </a:solidFill>
                <a:latin typeface="Corbel" panose="020B0503020204020204" pitchFamily="34" charset="0"/>
                <a:cs typeface="Arial" panose="020B0604020202020204" pitchFamily="34" charset="0"/>
              </a:rPr>
              <a:t>interface</a:t>
            </a:r>
            <a:r>
              <a:rPr lang="en-US" altLang="en-US" dirty="0">
                <a:solidFill>
                  <a:srgbClr val="000000"/>
                </a:solidFill>
                <a:latin typeface="Corbel" panose="020B0503020204020204" pitchFamily="34" charset="0"/>
                <a:cs typeface="Arial" panose="020B0604020202020204" pitchFamily="34" charset="0"/>
              </a:rPr>
              <a:t> of </a:t>
            </a:r>
            <a:r>
              <a:rPr lang="en-US" altLang="en-US" b="1" dirty="0">
                <a:solidFill>
                  <a:srgbClr val="000000"/>
                </a:solidFill>
                <a:latin typeface="Corbel" panose="020B0503020204020204" pitchFamily="34" charset="0"/>
                <a:cs typeface="Arial" panose="020B0604020202020204" pitchFamily="34" charset="0"/>
              </a:rPr>
              <a:t>another package </a:t>
            </a:r>
            <a:r>
              <a:rPr lang="en-US" altLang="en-US" dirty="0">
                <a:solidFill>
                  <a:srgbClr val="000000"/>
                </a:solidFill>
                <a:latin typeface="Corbel" panose="020B0503020204020204" pitchFamily="34" charset="0"/>
                <a:cs typeface="Arial" panose="020B0604020202020204" pitchFamily="34" charset="0"/>
              </a:rPr>
              <a:t>accessible to the </a:t>
            </a:r>
            <a:r>
              <a:rPr lang="en-US" altLang="en-US" b="1" dirty="0">
                <a:solidFill>
                  <a:srgbClr val="000000"/>
                </a:solidFill>
                <a:latin typeface="Corbel" panose="020B0503020204020204" pitchFamily="34" charset="0"/>
                <a:cs typeface="Arial" panose="020B0604020202020204" pitchFamily="34" charset="0"/>
              </a:rPr>
              <a:t>current</a:t>
            </a:r>
            <a:r>
              <a:rPr lang="en-US" altLang="en-US" dirty="0">
                <a:solidFill>
                  <a:srgbClr val="000000"/>
                </a:solidFill>
                <a:latin typeface="Corbel" panose="020B0503020204020204" pitchFamily="34" charset="0"/>
                <a:cs typeface="Arial" panose="020B0604020202020204" pitchFamily="34" charset="0"/>
              </a:rPr>
              <a:t> </a:t>
            </a:r>
            <a:r>
              <a:rPr lang="en-US" altLang="en-US" b="1" dirty="0">
                <a:solidFill>
                  <a:srgbClr val="000000"/>
                </a:solidFill>
                <a:latin typeface="Corbel" panose="020B0503020204020204" pitchFamily="34" charset="0"/>
                <a:cs typeface="Arial" panose="020B0604020202020204" pitchFamily="34" charset="0"/>
              </a:rPr>
              <a:t>package</a:t>
            </a: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If you use </a:t>
            </a:r>
            <a:r>
              <a:rPr lang="en-US" altLang="en-US" b="1" u="sng" dirty="0" err="1">
                <a:solidFill>
                  <a:srgbClr val="000000"/>
                </a:solidFill>
                <a:latin typeface="Corbel" panose="020B0503020204020204" pitchFamily="34" charset="0"/>
                <a:cs typeface="Arial" panose="020B0604020202020204" pitchFamily="34" charset="0"/>
              </a:rPr>
              <a:t>packagename</a:t>
            </a:r>
            <a:r>
              <a:rPr lang="en-US" altLang="en-US" b="1" u="sng" dirty="0">
                <a:solidFill>
                  <a:srgbClr val="000000"/>
                </a:solidFill>
                <a:latin typeface="Corbel" panose="020B0503020204020204" pitchFamily="34" charset="0"/>
                <a:cs typeface="Arial" panose="020B0604020202020204" pitchFamily="34" charset="0"/>
              </a:rPr>
              <a:t>.*</a:t>
            </a:r>
            <a:r>
              <a:rPr lang="en-US" altLang="en-US" dirty="0">
                <a:solidFill>
                  <a:srgbClr val="000000"/>
                </a:solidFill>
                <a:latin typeface="Corbel" panose="020B0503020204020204" pitchFamily="34" charset="0"/>
                <a:cs typeface="Arial" panose="020B0604020202020204" pitchFamily="34" charset="0"/>
              </a:rPr>
              <a:t>, then all the </a:t>
            </a:r>
            <a:r>
              <a:rPr lang="en-US" altLang="en-US" b="1" dirty="0">
                <a:solidFill>
                  <a:srgbClr val="000000"/>
                </a:solidFill>
                <a:latin typeface="Corbel" panose="020B0503020204020204" pitchFamily="34" charset="0"/>
                <a:cs typeface="Arial" panose="020B0604020202020204" pitchFamily="34" charset="0"/>
              </a:rPr>
              <a:t>classes</a:t>
            </a:r>
            <a:r>
              <a:rPr lang="en-US" altLang="en-US" dirty="0">
                <a:solidFill>
                  <a:srgbClr val="000000"/>
                </a:solidFill>
                <a:latin typeface="Corbel" panose="020B0503020204020204" pitchFamily="34" charset="0"/>
                <a:cs typeface="Arial" panose="020B0604020202020204" pitchFamily="34" charset="0"/>
              </a:rPr>
              <a:t> and </a:t>
            </a:r>
            <a:r>
              <a:rPr lang="en-US" altLang="en-US" b="1" dirty="0">
                <a:solidFill>
                  <a:srgbClr val="000000"/>
                </a:solidFill>
                <a:latin typeface="Corbel" panose="020B0503020204020204" pitchFamily="34" charset="0"/>
                <a:cs typeface="Arial" panose="020B0604020202020204" pitchFamily="34" charset="0"/>
              </a:rPr>
              <a:t>interfaces</a:t>
            </a:r>
            <a:r>
              <a:rPr lang="en-US" altLang="en-US" dirty="0">
                <a:solidFill>
                  <a:srgbClr val="000000"/>
                </a:solidFill>
                <a:latin typeface="Corbel" panose="020B0503020204020204" pitchFamily="34" charset="0"/>
                <a:cs typeface="Arial" panose="020B0604020202020204" pitchFamily="34" charset="0"/>
              </a:rPr>
              <a:t> of this package </a:t>
            </a:r>
            <a:r>
              <a:rPr lang="en-US" altLang="en-US" b="1" u="sng" dirty="0">
                <a:solidFill>
                  <a:srgbClr val="000000"/>
                </a:solidFill>
                <a:latin typeface="Corbel" panose="020B0503020204020204" pitchFamily="34" charset="0"/>
                <a:cs typeface="Arial" panose="020B0604020202020204" pitchFamily="34" charset="0"/>
              </a:rPr>
              <a:t>will be accessible </a:t>
            </a:r>
            <a:r>
              <a:rPr lang="en-US" altLang="en-US" dirty="0">
                <a:solidFill>
                  <a:srgbClr val="000000"/>
                </a:solidFill>
                <a:latin typeface="Corbel" panose="020B0503020204020204" pitchFamily="34" charset="0"/>
                <a:cs typeface="Arial" panose="020B0604020202020204" pitchFamily="34" charset="0"/>
              </a:rPr>
              <a:t>but the classes and interface </a:t>
            </a:r>
            <a:r>
              <a:rPr lang="en-US" altLang="en-US" b="1" u="sng" dirty="0">
                <a:solidFill>
                  <a:srgbClr val="000000"/>
                </a:solidFill>
                <a:latin typeface="Corbel" panose="020B0503020204020204" pitchFamily="34" charset="0"/>
                <a:cs typeface="Arial" panose="020B0604020202020204" pitchFamily="34" charset="0"/>
              </a:rPr>
              <a:t>inside the sub-packages </a:t>
            </a:r>
            <a:r>
              <a:rPr lang="en-US" altLang="en-US" dirty="0">
                <a:solidFill>
                  <a:srgbClr val="000000"/>
                </a:solidFill>
                <a:latin typeface="Corbel" panose="020B0503020204020204" pitchFamily="34" charset="0"/>
                <a:cs typeface="Arial" panose="020B0604020202020204" pitchFamily="34" charset="0"/>
              </a:rPr>
              <a:t>will </a:t>
            </a:r>
            <a:r>
              <a:rPr lang="en-US" altLang="en-US" b="1" u="sng" dirty="0">
                <a:solidFill>
                  <a:srgbClr val="FF0000"/>
                </a:solidFill>
                <a:latin typeface="Corbel" panose="020B0503020204020204" pitchFamily="34" charset="0"/>
                <a:cs typeface="Arial" panose="020B0604020202020204" pitchFamily="34" charset="0"/>
              </a:rPr>
              <a:t>not be available for use</a:t>
            </a:r>
            <a:r>
              <a:rPr lang="en-US" altLang="en-US" dirty="0">
                <a:solidFill>
                  <a:srgbClr val="000000"/>
                </a:solidFill>
                <a:latin typeface="Corbel" panose="020B0503020204020204" pitchFamily="34" charset="0"/>
                <a:cs typeface="Arial" panose="020B0604020202020204" pitchFamily="34" charset="0"/>
              </a:rPr>
              <a:t>. </a:t>
            </a: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For example </a:t>
            </a:r>
            <a:r>
              <a:rPr lang="en-US" b="1" u="sng" dirty="0">
                <a:solidFill>
                  <a:srgbClr val="7030A0"/>
                </a:solidFill>
                <a:latin typeface="Corbel" panose="020B0503020204020204" pitchFamily="34" charset="0"/>
                <a:cs typeface="Arial" panose="020B0604020202020204" pitchFamily="34" charset="0"/>
              </a:rPr>
              <a:t>import </a:t>
            </a:r>
            <a:r>
              <a:rPr lang="en-US" b="1" u="sng" dirty="0" err="1">
                <a:solidFill>
                  <a:srgbClr val="7030A0"/>
                </a:solidFill>
                <a:latin typeface="Corbel" panose="020B0503020204020204" pitchFamily="34" charset="0"/>
                <a:cs typeface="Arial" panose="020B0604020202020204" pitchFamily="34" charset="0"/>
              </a:rPr>
              <a:t>java.util</a:t>
            </a:r>
            <a:r>
              <a:rPr lang="en-US" b="1" u="sng" dirty="0">
                <a:solidFill>
                  <a:srgbClr val="7030A0"/>
                </a:solidFill>
                <a:latin typeface="Corbel" panose="020B0503020204020204" pitchFamily="34" charset="0"/>
                <a:cs typeface="Arial" panose="020B0604020202020204" pitchFamily="34" charset="0"/>
              </a:rPr>
              <a:t>.*;</a:t>
            </a:r>
            <a:r>
              <a:rPr lang="en-US" dirty="0">
                <a:solidFill>
                  <a:srgbClr val="000000"/>
                </a:solidFill>
                <a:latin typeface="Corbel" panose="020B0503020204020204" pitchFamily="34" charset="0"/>
                <a:cs typeface="Arial" panose="020B0604020202020204" pitchFamily="34" charset="0"/>
              </a:rPr>
              <a:t> import all of the classes in </a:t>
            </a:r>
            <a:r>
              <a:rPr lang="en-US" b="1" u="sng" dirty="0">
                <a:solidFill>
                  <a:srgbClr val="000000"/>
                </a:solidFill>
                <a:latin typeface="Corbel" panose="020B0503020204020204" pitchFamily="34" charset="0"/>
                <a:cs typeface="Arial" panose="020B0604020202020204" pitchFamily="34" charset="0"/>
              </a:rPr>
              <a:t>the </a:t>
            </a:r>
            <a:r>
              <a:rPr lang="en-US" b="1" u="sng" dirty="0" err="1">
                <a:solidFill>
                  <a:srgbClr val="000000"/>
                </a:solidFill>
                <a:latin typeface="Corbel" panose="020B0503020204020204" pitchFamily="34" charset="0"/>
                <a:cs typeface="Arial" panose="020B0604020202020204" pitchFamily="34" charset="0"/>
              </a:rPr>
              <a:t>java.util</a:t>
            </a:r>
            <a:r>
              <a:rPr lang="en-US" b="1" u="sng" dirty="0">
                <a:solidFill>
                  <a:srgbClr val="000000"/>
                </a:solidFill>
                <a:latin typeface="Corbel" panose="020B0503020204020204" pitchFamily="34" charset="0"/>
                <a:cs typeface="Arial" panose="020B0604020202020204" pitchFamily="34" charset="0"/>
              </a:rPr>
              <a:t> package</a:t>
            </a:r>
            <a:r>
              <a:rPr lang="en-US" dirty="0">
                <a:solidFill>
                  <a:srgbClr val="000000"/>
                </a:solidFill>
                <a:latin typeface="Corbel" panose="020B0503020204020204" pitchFamily="34" charset="0"/>
                <a:cs typeface="Arial" panose="020B0604020202020204" pitchFamily="34" charset="0"/>
              </a:rPr>
              <a:t>, but not the </a:t>
            </a:r>
            <a:r>
              <a:rPr lang="en-US" b="1" u="sng" dirty="0">
                <a:solidFill>
                  <a:srgbClr val="000000"/>
                </a:solidFill>
                <a:latin typeface="Corbel" panose="020B0503020204020204" pitchFamily="34" charset="0"/>
                <a:cs typeface="Arial" panose="020B0604020202020204" pitchFamily="34" charset="0"/>
              </a:rPr>
              <a:t>java.util.jar classes </a:t>
            </a:r>
            <a:r>
              <a:rPr lang="en-US" dirty="0">
                <a:solidFill>
                  <a:srgbClr val="000000"/>
                </a:solidFill>
                <a:latin typeface="Corbel" panose="020B0503020204020204" pitchFamily="34" charset="0"/>
                <a:cs typeface="Arial" panose="020B0604020202020204" pitchFamily="34" charset="0"/>
              </a:rPr>
              <a:t>or </a:t>
            </a:r>
            <a:r>
              <a:rPr lang="en-US" b="1" u="sng" dirty="0" err="1">
                <a:solidFill>
                  <a:srgbClr val="000000"/>
                </a:solidFill>
                <a:latin typeface="Corbel" panose="020B0503020204020204" pitchFamily="34" charset="0"/>
                <a:cs typeface="Arial" panose="020B0604020202020204" pitchFamily="34" charset="0"/>
              </a:rPr>
              <a:t>java.util.regex</a:t>
            </a:r>
            <a:r>
              <a:rPr lang="en-US" b="1" u="sng" dirty="0">
                <a:solidFill>
                  <a:srgbClr val="000000"/>
                </a:solidFill>
                <a:latin typeface="Corbel" panose="020B0503020204020204" pitchFamily="34" charset="0"/>
                <a:cs typeface="Arial" panose="020B0604020202020204" pitchFamily="34" charset="0"/>
              </a:rPr>
              <a:t> packages</a:t>
            </a:r>
            <a:r>
              <a:rPr lang="en-US" dirty="0">
                <a:solidFill>
                  <a:srgbClr val="000000"/>
                </a:solidFill>
                <a:latin typeface="Corbel" panose="020B0503020204020204" pitchFamily="34" charset="0"/>
                <a:cs typeface="Arial" panose="020B0604020202020204" pitchFamily="34" charset="0"/>
              </a:rPr>
              <a:t>.</a:t>
            </a:r>
            <a:endParaRPr lang="en-US" altLang="en-US" dirty="0">
              <a:solidFill>
                <a:srgbClr val="000000"/>
              </a:solidFill>
              <a:latin typeface="Corbel" panose="020B0503020204020204" pitchFamily="34" charset="0"/>
              <a:cs typeface="Arial" panose="020B0604020202020204" pitchFamily="34" charset="0"/>
            </a:endParaRPr>
          </a:p>
          <a:p>
            <a:pPr eaLnBrk="0" fontAlgn="base" hangingPunct="0">
              <a:lnSpc>
                <a:spcPct val="150000"/>
              </a:lnSpc>
              <a:spcBef>
                <a:spcPct val="0"/>
              </a:spcBef>
              <a:spcAft>
                <a:spcPct val="0"/>
              </a:spcAft>
            </a:pPr>
            <a:r>
              <a:rPr lang="en-US" dirty="0">
                <a:solidFill>
                  <a:srgbClr val="000000"/>
                </a:solidFill>
                <a:latin typeface="Corbel" panose="020B0503020204020204" pitchFamily="34" charset="0"/>
                <a:cs typeface="Arial" panose="020B0604020202020204" pitchFamily="34" charset="0"/>
              </a:rPr>
              <a:t>You cannot use a </a:t>
            </a:r>
            <a:r>
              <a:rPr lang="en-US" b="1" u="sng" dirty="0">
                <a:solidFill>
                  <a:srgbClr val="000000"/>
                </a:solidFill>
                <a:latin typeface="Corbel" panose="020B0503020204020204" pitchFamily="34" charset="0"/>
                <a:cs typeface="Arial" panose="020B0604020202020204" pitchFamily="34" charset="0"/>
              </a:rPr>
              <a:t>default access method </a:t>
            </a:r>
            <a:r>
              <a:rPr lang="en-US" dirty="0">
                <a:solidFill>
                  <a:srgbClr val="000000"/>
                </a:solidFill>
                <a:latin typeface="Corbel" panose="020B0503020204020204" pitchFamily="34" charset="0"/>
                <a:cs typeface="Arial" panose="020B0604020202020204" pitchFamily="34" charset="0"/>
              </a:rPr>
              <a:t>from </a:t>
            </a:r>
            <a:r>
              <a:rPr lang="en-US" b="1" u="sng" dirty="0">
                <a:solidFill>
                  <a:srgbClr val="000000"/>
                </a:solidFill>
                <a:latin typeface="Corbel" panose="020B0503020204020204" pitchFamily="34" charset="0"/>
                <a:cs typeface="Arial" panose="020B0604020202020204" pitchFamily="34" charset="0"/>
              </a:rPr>
              <a:t>another package</a:t>
            </a:r>
            <a:r>
              <a:rPr lang="en-US" dirty="0">
                <a:solidFill>
                  <a:srgbClr val="000000"/>
                </a:solidFill>
                <a:latin typeface="Corbel" panose="020B0503020204020204" pitchFamily="34" charset="0"/>
                <a:cs typeface="Arial" panose="020B0604020202020204" pitchFamily="34" charset="0"/>
              </a:rPr>
              <a:t>, as default members are not accessible outside the package.</a:t>
            </a: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Below packages from JDK are automatically imported into your code by Java: </a:t>
            </a:r>
          </a:p>
          <a:p>
            <a:pPr lvl="1" eaLnBrk="0" fontAlgn="base" hangingPunct="0">
              <a:lnSpc>
                <a:spcPct val="150000"/>
              </a:lnSpc>
              <a:spcBef>
                <a:spcPct val="0"/>
              </a:spcBef>
              <a:spcAft>
                <a:spcPct val="0"/>
              </a:spcAft>
            </a:pPr>
            <a:r>
              <a:rPr lang="en-US" altLang="en-US" b="1" dirty="0" err="1">
                <a:solidFill>
                  <a:srgbClr val="000000"/>
                </a:solidFill>
                <a:latin typeface="Corbel" panose="020B0503020204020204" pitchFamily="34" charset="0"/>
                <a:cs typeface="Arial" panose="020B0604020202020204" pitchFamily="34" charset="0"/>
              </a:rPr>
              <a:t>java.lang</a:t>
            </a:r>
            <a:r>
              <a:rPr lang="en-US" altLang="en-US" b="1" dirty="0">
                <a:solidFill>
                  <a:srgbClr val="000000"/>
                </a:solidFill>
                <a:latin typeface="Corbel" panose="020B0503020204020204" pitchFamily="34" charset="0"/>
                <a:cs typeface="Arial" panose="020B0604020202020204" pitchFamily="34" charset="0"/>
              </a:rPr>
              <a:t> package</a:t>
            </a:r>
          </a:p>
          <a:p>
            <a:pPr lvl="1"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default package (package with no name). However the use of default package is not a good practice.</a:t>
            </a:r>
          </a:p>
          <a:p>
            <a:pPr eaLnBrk="0" fontAlgn="base" hangingPunct="0">
              <a:lnSpc>
                <a:spcPct val="150000"/>
              </a:lnSpc>
              <a:spcBef>
                <a:spcPct val="0"/>
              </a:spcBef>
              <a:spcAft>
                <a:spcPct val="0"/>
              </a:spcAft>
            </a:pPr>
            <a:endParaRPr lang="en-US" altLang="en-US" dirty="0">
              <a:solidFill>
                <a:srgbClr val="000000"/>
              </a:solidFill>
              <a:latin typeface="Corbel" panose="020B0503020204020204" pitchFamily="34" charset="0"/>
              <a:cs typeface="Arial" panose="020B0604020202020204" pitchFamily="34" charset="0"/>
            </a:endParaRPr>
          </a:p>
        </p:txBody>
      </p:sp>
    </p:spTree>
    <p:extLst>
      <p:ext uri="{BB962C8B-B14F-4D97-AF65-F5344CB8AC3E}">
        <p14:creationId xmlns:p14="http://schemas.microsoft.com/office/powerpoint/2010/main" val="493828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 </a:t>
            </a:r>
            <a:r>
              <a:rPr lang="en-US" altLang="en-US" b="1" dirty="0">
                <a:solidFill>
                  <a:srgbClr val="000000"/>
                </a:solidFill>
                <a:latin typeface="Corbel" panose="020B0503020204020204" pitchFamily="34" charset="0"/>
                <a:cs typeface="Arial" panose="020B0604020202020204" pitchFamily="34" charset="0"/>
              </a:rPr>
              <a:t>Points on Import Statement</a:t>
            </a:r>
            <a:endParaRPr lang="en-US" dirty="0"/>
          </a:p>
        </p:txBody>
      </p:sp>
      <p:sp>
        <p:nvSpPr>
          <p:cNvPr id="3" name="Content Placeholder 2"/>
          <p:cNvSpPr>
            <a:spLocks noGrp="1"/>
          </p:cNvSpPr>
          <p:nvPr>
            <p:ph idx="1"/>
          </p:nvPr>
        </p:nvSpPr>
        <p:spPr>
          <a:xfrm>
            <a:off x="317569" y="1414462"/>
            <a:ext cx="11526769" cy="5329237"/>
          </a:xfrm>
        </p:spPr>
        <p:txBody>
          <a:bodyPr>
            <a:noAutofit/>
          </a:bodyPr>
          <a:lstStyle/>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The class or method should also be accessible, even if we have the import statement or use a fully qualified name. </a:t>
            </a: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Accessibility is based on the access modifiers: </a:t>
            </a:r>
          </a:p>
          <a:p>
            <a:pPr lvl="1" eaLnBrk="0" fontAlgn="base" hangingPunct="0">
              <a:lnSpc>
                <a:spcPct val="150000"/>
              </a:lnSpc>
              <a:spcBef>
                <a:spcPct val="0"/>
              </a:spcBef>
              <a:spcAft>
                <a:spcPct val="0"/>
              </a:spcAft>
            </a:pPr>
            <a:r>
              <a:rPr lang="en-US" altLang="en-US" sz="2000" dirty="0">
                <a:solidFill>
                  <a:srgbClr val="000000"/>
                </a:solidFill>
                <a:latin typeface="Corbel" panose="020B0503020204020204" pitchFamily="34" charset="0"/>
                <a:cs typeface="Arial" panose="020B0604020202020204" pitchFamily="34" charset="0"/>
              </a:rPr>
              <a:t>Private members are accessible only within the same class. </a:t>
            </a:r>
          </a:p>
          <a:p>
            <a:pPr lvl="1" eaLnBrk="0" fontAlgn="base" hangingPunct="0">
              <a:lnSpc>
                <a:spcPct val="150000"/>
              </a:lnSpc>
              <a:spcBef>
                <a:spcPct val="0"/>
              </a:spcBef>
              <a:spcAft>
                <a:spcPct val="0"/>
              </a:spcAft>
            </a:pPr>
            <a:r>
              <a:rPr lang="en-US" altLang="en-US" sz="2000" dirty="0">
                <a:solidFill>
                  <a:srgbClr val="000000"/>
                </a:solidFill>
                <a:latin typeface="Corbel" panose="020B0503020204020204" pitchFamily="34" charset="0"/>
                <a:cs typeface="Arial" panose="020B0604020202020204" pitchFamily="34" charset="0"/>
              </a:rPr>
              <a:t>So you won't be able to access a private member even with fully qualified name or an import statement.</a:t>
            </a: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Classes within the same package can access each other without the import statement or a fully qualified name.</a:t>
            </a: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You can only import one package (i.e. all classes in that package) using a * or one class in an import statement. Following is an invalid import: import com.*.*</a:t>
            </a:r>
          </a:p>
        </p:txBody>
      </p:sp>
    </p:spTree>
    <p:extLst>
      <p:ext uri="{BB962C8B-B14F-4D97-AF65-F5344CB8AC3E}">
        <p14:creationId xmlns:p14="http://schemas.microsoft.com/office/powerpoint/2010/main" val="149833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899" y="2971806"/>
            <a:ext cx="3638551" cy="1684150"/>
          </a:xfrm>
        </p:spPr>
        <p:txBody>
          <a:bodyPr/>
          <a:lstStyle/>
          <a:p>
            <a:r>
              <a:rPr lang="en-US" dirty="0"/>
              <a:t>Java-Streams</a:t>
            </a:r>
          </a:p>
        </p:txBody>
      </p:sp>
      <p:sp>
        <p:nvSpPr>
          <p:cNvPr id="3" name="Text Placeholder 2"/>
          <p:cNvSpPr>
            <a:spLocks noGrp="1"/>
          </p:cNvSpPr>
          <p:nvPr>
            <p:ph type="body" idx="1"/>
          </p:nvPr>
        </p:nvSpPr>
        <p:spPr>
          <a:xfrm>
            <a:off x="1104899" y="4655956"/>
            <a:ext cx="3752851" cy="509750"/>
          </a:xfrm>
        </p:spPr>
        <p:txBody>
          <a:bodyPr/>
          <a:lstStyle/>
          <a:p>
            <a:r>
              <a:rPr lang="en-US" dirty="0"/>
              <a:t>Row, Row </a:t>
            </a:r>
            <a:r>
              <a:rPr lang="en-US" dirty="0" err="1"/>
              <a:t>Row</a:t>
            </a:r>
            <a:r>
              <a:rPr lang="en-US" dirty="0"/>
              <a:t> your I/P &amp; O/P</a:t>
            </a:r>
          </a:p>
        </p:txBody>
      </p:sp>
      <p:pic>
        <p:nvPicPr>
          <p:cNvPr id="1026" name="Picture 2" descr="Image result for java byte stre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3375" y="1538980"/>
            <a:ext cx="6457950" cy="3371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75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Streams in Java</a:t>
            </a:r>
          </a:p>
        </p:txBody>
      </p:sp>
      <p:pic>
        <p:nvPicPr>
          <p:cNvPr id="4" name="Picture 3"/>
          <p:cNvPicPr>
            <a:picLocks noChangeAspect="1"/>
          </p:cNvPicPr>
          <p:nvPr/>
        </p:nvPicPr>
        <p:blipFill>
          <a:blip r:embed="rId3"/>
          <a:stretch>
            <a:fillRect/>
          </a:stretch>
        </p:blipFill>
        <p:spPr>
          <a:xfrm>
            <a:off x="2700337" y="5403232"/>
            <a:ext cx="6276975" cy="1133475"/>
          </a:xfrm>
          <a:prstGeom prst="rect">
            <a:avLst/>
          </a:prstGeom>
        </p:spPr>
      </p:pic>
      <p:sp>
        <p:nvSpPr>
          <p:cNvPr id="6" name="Content Placeholder 5"/>
          <p:cNvSpPr>
            <a:spLocks noGrp="1"/>
          </p:cNvSpPr>
          <p:nvPr>
            <p:ph idx="1"/>
          </p:nvPr>
        </p:nvSpPr>
        <p:spPr>
          <a:xfrm>
            <a:off x="947738" y="1397969"/>
            <a:ext cx="10496550" cy="4005263"/>
          </a:xfrm>
        </p:spPr>
        <p:txBody>
          <a:bodyPr>
            <a:normAutofit/>
          </a:bodyPr>
          <a:lstStyle/>
          <a:p>
            <a:r>
              <a:rPr lang="en-US" dirty="0">
                <a:solidFill>
                  <a:srgbClr val="000000"/>
                </a:solidFill>
                <a:latin typeface="Corbel" panose="020B0503020204020204" pitchFamily="34" charset="0"/>
              </a:rPr>
              <a:t>From the perspective of Java, "stream" essentially refers to an abstraction that is used to produce and consume flow of sequential information. </a:t>
            </a:r>
          </a:p>
          <a:p>
            <a:r>
              <a:rPr lang="en-US" dirty="0">
                <a:solidFill>
                  <a:srgbClr val="000000"/>
                </a:solidFill>
                <a:latin typeface="Corbel" panose="020B0503020204020204" pitchFamily="34" charset="0"/>
              </a:rPr>
              <a:t>The flow of information can be a result of input or output operations performed on any physical device linked to Java I/O subsystem. </a:t>
            </a:r>
          </a:p>
          <a:p>
            <a:r>
              <a:rPr lang="en-US" dirty="0">
                <a:solidFill>
                  <a:srgbClr val="000000"/>
                </a:solidFill>
                <a:latin typeface="Corbel" panose="020B0503020204020204" pitchFamily="34" charset="0"/>
              </a:rPr>
              <a:t>The actual linked devices may vary, such as a local storage device or network. But, the underlying principle remains the same. </a:t>
            </a:r>
          </a:p>
          <a:p>
            <a:r>
              <a:rPr lang="en-US" dirty="0">
                <a:solidFill>
                  <a:srgbClr val="000000"/>
                </a:solidFill>
                <a:latin typeface="Corbel" panose="020B0503020204020204" pitchFamily="34" charset="0"/>
              </a:rPr>
              <a:t>Typically, Java stream supports a variety of devices, like a keyboard, network socket, disk file, and so forth. Hence, it provides a convenient way to handle I/O operation in the same way for different types of devices it is actually linked to. </a:t>
            </a:r>
          </a:p>
          <a:p>
            <a:r>
              <a:rPr lang="en-US" dirty="0">
                <a:solidFill>
                  <a:srgbClr val="000000"/>
                </a:solidFill>
                <a:latin typeface="Corbel" panose="020B0503020204020204" pitchFamily="34" charset="0"/>
              </a:rPr>
              <a:t>The steam classes are bundled in the </a:t>
            </a:r>
            <a:r>
              <a:rPr lang="en-US" i="1" dirty="0">
                <a:solidFill>
                  <a:srgbClr val="000000"/>
                </a:solidFill>
                <a:latin typeface="Corbel" panose="020B0503020204020204" pitchFamily="34" charset="0"/>
              </a:rPr>
              <a:t>java.io</a:t>
            </a:r>
            <a:r>
              <a:rPr lang="en-US" dirty="0">
                <a:solidFill>
                  <a:srgbClr val="000000"/>
                </a:solidFill>
                <a:latin typeface="Corbel" panose="020B0503020204020204" pitchFamily="34" charset="0"/>
              </a:rPr>
              <a:t> package.</a:t>
            </a:r>
            <a:endParaRPr lang="en-US" dirty="0">
              <a:latin typeface="Corbel" panose="020B0503020204020204" pitchFamily="34" charset="0"/>
            </a:endParaRPr>
          </a:p>
          <a:p>
            <a:endParaRPr lang="en-US" dirty="0">
              <a:latin typeface="Corbel" panose="020B0503020204020204" pitchFamily="34" charset="0"/>
            </a:endParaRPr>
          </a:p>
        </p:txBody>
      </p:sp>
    </p:spTree>
    <p:extLst>
      <p:ext uri="{BB962C8B-B14F-4D97-AF65-F5344CB8AC3E}">
        <p14:creationId xmlns:p14="http://schemas.microsoft.com/office/powerpoint/2010/main" val="2870402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Streams in Java</a:t>
            </a:r>
          </a:p>
        </p:txBody>
      </p:sp>
      <p:sp>
        <p:nvSpPr>
          <p:cNvPr id="6" name="Content Placeholder 5"/>
          <p:cNvSpPr>
            <a:spLocks noGrp="1"/>
          </p:cNvSpPr>
          <p:nvPr>
            <p:ph idx="1"/>
          </p:nvPr>
        </p:nvSpPr>
        <p:spPr>
          <a:xfrm>
            <a:off x="233362" y="1397969"/>
            <a:ext cx="11710987" cy="5274294"/>
          </a:xfrm>
        </p:spPr>
        <p:txBody>
          <a:bodyPr>
            <a:normAutofit lnSpcReduction="10000"/>
          </a:bodyPr>
          <a:lstStyle/>
          <a:p>
            <a:r>
              <a:rPr lang="en-US" sz="1800" dirty="0">
                <a:latin typeface="Corbel" panose="020B0503020204020204" pitchFamily="34" charset="0"/>
              </a:rPr>
              <a:t>There are two types of streams in Java: byte and character. </a:t>
            </a:r>
          </a:p>
          <a:p>
            <a:r>
              <a:rPr lang="en-US" sz="1800" dirty="0">
                <a:latin typeface="Corbel" panose="020B0503020204020204" pitchFamily="34" charset="0"/>
              </a:rPr>
              <a:t>When an I/O stream manages 8-bit bytes of raw binary data, it is called a byte stream. </a:t>
            </a:r>
          </a:p>
          <a:p>
            <a:r>
              <a:rPr lang="en-US" sz="1800" dirty="0">
                <a:latin typeface="Corbel" panose="020B0503020204020204" pitchFamily="34" charset="0"/>
              </a:rPr>
              <a:t>And, when the I/O stream manages 16-bit </a:t>
            </a:r>
            <a:r>
              <a:rPr lang="en-US" sz="1800" i="1" dirty="0">
                <a:latin typeface="Corbel" panose="020B0503020204020204" pitchFamily="34" charset="0"/>
              </a:rPr>
              <a:t>Unicode </a:t>
            </a:r>
            <a:r>
              <a:rPr lang="en-US" sz="1800" dirty="0">
                <a:latin typeface="Corbel" panose="020B0503020204020204" pitchFamily="34" charset="0"/>
              </a:rPr>
              <a:t>characters, it is called a character stream. </a:t>
            </a:r>
          </a:p>
          <a:p>
            <a:r>
              <a:rPr lang="en-US" sz="1800" dirty="0">
                <a:latin typeface="Corbel" panose="020B0503020204020204" pitchFamily="34" charset="0"/>
              </a:rPr>
              <a:t>A </a:t>
            </a:r>
            <a:r>
              <a:rPr lang="en-US" sz="1800" i="1" dirty="0">
                <a:latin typeface="Corbel" panose="020B0503020204020204" pitchFamily="34" charset="0"/>
              </a:rPr>
              <a:t>Unicode</a:t>
            </a:r>
            <a:r>
              <a:rPr lang="en-US" sz="1800" dirty="0">
                <a:latin typeface="Corbel" panose="020B0503020204020204" pitchFamily="34" charset="0"/>
              </a:rPr>
              <a:t> set is basically a type of character set where each character corresponds to a specific numeric value within the given character set. </a:t>
            </a:r>
          </a:p>
          <a:p>
            <a:r>
              <a:rPr lang="en-US" sz="1800" dirty="0">
                <a:latin typeface="Corbel" panose="020B0503020204020204" pitchFamily="34" charset="0"/>
              </a:rPr>
              <a:t>Typically, every programming language adopts a particular character set to represent and manage its use of characters. </a:t>
            </a:r>
          </a:p>
          <a:p>
            <a:r>
              <a:rPr lang="en-US" sz="1800" dirty="0">
                <a:latin typeface="Corbel" panose="020B0503020204020204" pitchFamily="34" charset="0"/>
              </a:rPr>
              <a:t>Apart from Unicode, another commonly used character set is ASCII, defined by the International Standard Organization (ISO). </a:t>
            </a:r>
          </a:p>
          <a:p>
            <a:r>
              <a:rPr lang="en-US" sz="1800" dirty="0">
                <a:latin typeface="Corbel" panose="020B0503020204020204" pitchFamily="34" charset="0"/>
              </a:rPr>
              <a:t>At the inception of Java (version 1.0), it did not have character streams; therefore, all I/O operations were byte oriented. </a:t>
            </a:r>
          </a:p>
          <a:p>
            <a:r>
              <a:rPr lang="en-US" sz="1800" dirty="0">
                <a:latin typeface="Corbel" panose="020B0503020204020204" pitchFamily="34" charset="0"/>
              </a:rPr>
              <a:t>The character streams were introduced later (version 1.1). </a:t>
            </a:r>
          </a:p>
          <a:p>
            <a:r>
              <a:rPr lang="en-US" sz="1800" dirty="0">
                <a:latin typeface="Corbel" panose="020B0503020204020204" pitchFamily="34" charset="0"/>
              </a:rPr>
              <a:t>Note that the idea of character and byte streams should not be mixed with low-level I/O operation; they are always bit and bytes, after all. </a:t>
            </a:r>
          </a:p>
          <a:p>
            <a:r>
              <a:rPr lang="en-US" sz="1800" dirty="0">
                <a:latin typeface="Corbel" panose="020B0503020204020204" pitchFamily="34" charset="0"/>
              </a:rPr>
              <a:t>But, the point of character and byte streams essentially provides a convenient and efficient way to handle data streams in Java.</a:t>
            </a:r>
          </a:p>
        </p:txBody>
      </p:sp>
    </p:spTree>
    <p:extLst>
      <p:ext uri="{BB962C8B-B14F-4D97-AF65-F5344CB8AC3E}">
        <p14:creationId xmlns:p14="http://schemas.microsoft.com/office/powerpoint/2010/main" val="276556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 Streams</a:t>
            </a:r>
          </a:p>
        </p:txBody>
      </p:sp>
      <p:sp>
        <p:nvSpPr>
          <p:cNvPr id="5" name="Content Placeholder 4"/>
          <p:cNvSpPr>
            <a:spLocks noGrp="1"/>
          </p:cNvSpPr>
          <p:nvPr>
            <p:ph idx="1"/>
          </p:nvPr>
        </p:nvSpPr>
        <p:spPr>
          <a:xfrm>
            <a:off x="935217" y="1336249"/>
            <a:ext cx="4796279" cy="4942002"/>
          </a:xfrm>
        </p:spPr>
        <p:txBody>
          <a:bodyPr>
            <a:normAutofit/>
          </a:bodyPr>
          <a:lstStyle/>
          <a:p>
            <a:r>
              <a:rPr lang="en-US" b="1" dirty="0">
                <a:latin typeface="Corbel" panose="020B0503020204020204" pitchFamily="34" charset="0"/>
              </a:rPr>
              <a:t>an abstraction that either produces or consumes </a:t>
            </a:r>
            <a:r>
              <a:rPr lang="en-IN" b="1" dirty="0">
                <a:latin typeface="Corbel" panose="020B0503020204020204" pitchFamily="34" charset="0"/>
              </a:rPr>
              <a:t>information.</a:t>
            </a:r>
          </a:p>
          <a:p>
            <a:r>
              <a:rPr lang="en-US" dirty="0">
                <a:latin typeface="Corbel" panose="020B0503020204020204" pitchFamily="34" charset="0"/>
              </a:rPr>
              <a:t>➢ </a:t>
            </a:r>
            <a:r>
              <a:rPr lang="en-US" b="1" dirty="0">
                <a:latin typeface="Corbel" panose="020B0503020204020204" pitchFamily="34" charset="0"/>
              </a:rPr>
              <a:t>linked to a physical device by the Java I/O system.</a:t>
            </a:r>
          </a:p>
          <a:p>
            <a:r>
              <a:rPr lang="en-US" dirty="0">
                <a:latin typeface="Corbel" panose="020B0503020204020204" pitchFamily="34" charset="0"/>
              </a:rPr>
              <a:t>➢ </a:t>
            </a:r>
            <a:r>
              <a:rPr lang="en-US" b="1" dirty="0">
                <a:latin typeface="Corbel" panose="020B0503020204020204" pitchFamily="34" charset="0"/>
              </a:rPr>
              <a:t>All streams behave in the same manner, even if the actual physical devices to which they are linked differ.</a:t>
            </a:r>
          </a:p>
          <a:p>
            <a:r>
              <a:rPr lang="en-US" dirty="0">
                <a:latin typeface="Corbel" panose="020B0503020204020204" pitchFamily="34" charset="0"/>
              </a:rPr>
              <a:t>➢ </a:t>
            </a:r>
            <a:r>
              <a:rPr lang="en-US" b="1" dirty="0">
                <a:latin typeface="Corbel" panose="020B0503020204020204" pitchFamily="34" charset="0"/>
              </a:rPr>
              <a:t>Clean way to deal with i/o without having every part of your code understand the difference between a </a:t>
            </a:r>
            <a:r>
              <a:rPr lang="en-IN" b="1" dirty="0">
                <a:latin typeface="Corbel" panose="020B0503020204020204" pitchFamily="34" charset="0"/>
              </a:rPr>
              <a:t>keyboard and a network</a:t>
            </a:r>
            <a:endParaRPr lang="en-IN" dirty="0">
              <a:latin typeface="Corbel" panose="020B0503020204020204" pitchFamily="34" charset="0"/>
            </a:endParaRPr>
          </a:p>
        </p:txBody>
      </p:sp>
      <p:pic>
        <p:nvPicPr>
          <p:cNvPr id="3" name="Picture 2"/>
          <p:cNvPicPr>
            <a:picLocks noChangeAspect="1"/>
          </p:cNvPicPr>
          <p:nvPr/>
        </p:nvPicPr>
        <p:blipFill>
          <a:blip r:embed="rId3"/>
          <a:stretch>
            <a:fillRect/>
          </a:stretch>
        </p:blipFill>
        <p:spPr>
          <a:xfrm>
            <a:off x="5731496" y="1470581"/>
            <a:ext cx="6316137" cy="4915932"/>
          </a:xfrm>
          <a:prstGeom prst="rect">
            <a:avLst/>
          </a:prstGeom>
        </p:spPr>
      </p:pic>
    </p:spTree>
    <p:extLst>
      <p:ext uri="{BB962C8B-B14F-4D97-AF65-F5344CB8AC3E}">
        <p14:creationId xmlns:p14="http://schemas.microsoft.com/office/powerpoint/2010/main" val="384690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Byte Streams</a:t>
            </a:r>
          </a:p>
        </p:txBody>
      </p:sp>
      <p:sp>
        <p:nvSpPr>
          <p:cNvPr id="5" name="Content Placeholder 4"/>
          <p:cNvSpPr>
            <a:spLocks noGrp="1"/>
          </p:cNvSpPr>
          <p:nvPr>
            <p:ph idx="1"/>
          </p:nvPr>
        </p:nvSpPr>
        <p:spPr>
          <a:xfrm>
            <a:off x="235130" y="1321962"/>
            <a:ext cx="5417555" cy="4942002"/>
          </a:xfrm>
        </p:spPr>
        <p:txBody>
          <a:bodyPr>
            <a:normAutofit/>
          </a:bodyPr>
          <a:lstStyle/>
          <a:p>
            <a:r>
              <a:rPr lang="en-US" sz="1800" dirty="0">
                <a:latin typeface="Corbel" panose="020B0503020204020204" pitchFamily="34" charset="0"/>
              </a:rPr>
              <a:t>At the top of the byte stream class hierarchy, there are two abstract classes:</a:t>
            </a:r>
          </a:p>
          <a:p>
            <a:pPr lvl="1"/>
            <a:r>
              <a:rPr lang="en-US" sz="1400" dirty="0">
                <a:latin typeface="Corbel" panose="020B0503020204020204" pitchFamily="34" charset="0"/>
              </a:rPr>
              <a:t> </a:t>
            </a:r>
            <a:r>
              <a:rPr lang="en-US" sz="1400" i="1" dirty="0" err="1">
                <a:latin typeface="Corbel" panose="020B0503020204020204" pitchFamily="34" charset="0"/>
              </a:rPr>
              <a:t>InputStream</a:t>
            </a:r>
            <a:r>
              <a:rPr lang="en-US" sz="1400" dirty="0">
                <a:latin typeface="Corbel" panose="020B0503020204020204" pitchFamily="34" charset="0"/>
              </a:rPr>
              <a:t> for byte-oriented input and </a:t>
            </a:r>
          </a:p>
          <a:p>
            <a:pPr lvl="1"/>
            <a:r>
              <a:rPr lang="en-US" sz="1400" i="1" dirty="0" err="1">
                <a:latin typeface="Corbel" panose="020B0503020204020204" pitchFamily="34" charset="0"/>
              </a:rPr>
              <a:t>OutputStream</a:t>
            </a:r>
            <a:r>
              <a:rPr lang="en-US" sz="1400" dirty="0">
                <a:latin typeface="Corbel" panose="020B0503020204020204" pitchFamily="34" charset="0"/>
              </a:rPr>
              <a:t> for byte-oriented output operations. The hierarchical layout is as follows:</a:t>
            </a:r>
          </a:p>
          <a:p>
            <a:pPr lvl="1"/>
            <a:endParaRPr lang="en-US" sz="1400" dirty="0">
              <a:latin typeface="Corbel" panose="020B0503020204020204" pitchFamily="34" charset="0"/>
            </a:endParaRPr>
          </a:p>
          <a:p>
            <a:r>
              <a:rPr lang="en-US" sz="1800" dirty="0">
                <a:latin typeface="Corbel" panose="020B0503020204020204" pitchFamily="34" charset="0"/>
              </a:rPr>
              <a:t>Java byte streams are used to perform input and output of 8-bit bytes. </a:t>
            </a:r>
          </a:p>
          <a:p>
            <a:r>
              <a:rPr lang="en-US" sz="1800" dirty="0">
                <a:latin typeface="Corbel" panose="020B0503020204020204" pitchFamily="34" charset="0"/>
              </a:rPr>
              <a:t>Though there are many classes related to byte streams but the most frequently used classes are, </a:t>
            </a:r>
            <a:r>
              <a:rPr lang="en-US" sz="1800" dirty="0" err="1">
                <a:latin typeface="Corbel" panose="020B0503020204020204" pitchFamily="34" charset="0"/>
              </a:rPr>
              <a:t>FileInputStream</a:t>
            </a:r>
            <a:r>
              <a:rPr lang="en-US" sz="1800" dirty="0">
                <a:latin typeface="Corbel" panose="020B0503020204020204" pitchFamily="34" charset="0"/>
              </a:rPr>
              <a:t> and </a:t>
            </a:r>
            <a:r>
              <a:rPr lang="en-US" sz="1800" dirty="0" err="1">
                <a:latin typeface="Corbel" panose="020B0503020204020204" pitchFamily="34" charset="0"/>
              </a:rPr>
              <a:t>FileOutputStream</a:t>
            </a:r>
            <a:r>
              <a:rPr lang="en-US" sz="1800" dirty="0">
                <a:latin typeface="Corbel" panose="020B0503020204020204" pitchFamily="34" charset="0"/>
              </a:rPr>
              <a:t>. </a:t>
            </a:r>
            <a:endParaRPr lang="en-IN" sz="1800" dirty="0">
              <a:latin typeface="Corbel" panose="020B050302020402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2685" y="1498566"/>
            <a:ext cx="6539315" cy="4147794"/>
          </a:xfrm>
          <a:prstGeom prst="rect">
            <a:avLst/>
          </a:prstGeom>
        </p:spPr>
      </p:pic>
    </p:spTree>
    <p:extLst>
      <p:ext uri="{BB962C8B-B14F-4D97-AF65-F5344CB8AC3E}">
        <p14:creationId xmlns:p14="http://schemas.microsoft.com/office/powerpoint/2010/main" val="332917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Byte Stream - Examples</a:t>
            </a:r>
          </a:p>
        </p:txBody>
      </p:sp>
      <p:sp>
        <p:nvSpPr>
          <p:cNvPr id="5" name="Content Placeholder 4"/>
          <p:cNvSpPr>
            <a:spLocks noGrp="1"/>
          </p:cNvSpPr>
          <p:nvPr>
            <p:ph idx="1"/>
          </p:nvPr>
        </p:nvSpPr>
        <p:spPr>
          <a:xfrm>
            <a:off x="235130" y="1321962"/>
            <a:ext cx="5957852" cy="4940293"/>
          </a:xfrm>
        </p:spPr>
        <p:txBody>
          <a:bodyPr>
            <a:normAutofit lnSpcReduction="10000"/>
          </a:bodyPr>
          <a:lstStyle/>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Programs use </a:t>
            </a:r>
            <a:r>
              <a:rPr lang="en-US" altLang="en-US" i="1" dirty="0">
                <a:solidFill>
                  <a:srgbClr val="000000"/>
                </a:solidFill>
                <a:latin typeface="Corbel" panose="020B0503020204020204" pitchFamily="34" charset="0"/>
                <a:cs typeface="Arial" panose="020B0604020202020204" pitchFamily="34" charset="0"/>
              </a:rPr>
              <a:t>byte streams</a:t>
            </a:r>
            <a:r>
              <a:rPr lang="en-US" altLang="en-US" dirty="0">
                <a:solidFill>
                  <a:srgbClr val="000000"/>
                </a:solidFill>
                <a:latin typeface="Corbel" panose="020B0503020204020204" pitchFamily="34" charset="0"/>
                <a:cs typeface="Arial" panose="020B0604020202020204" pitchFamily="34" charset="0"/>
              </a:rPr>
              <a:t> to perform input and output of 8-bit bytes. </a:t>
            </a: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All byte stream classes are descended from </a:t>
            </a:r>
            <a:r>
              <a:rPr lang="en-US" altLang="en-US" dirty="0" err="1">
                <a:solidFill>
                  <a:srgbClr val="3A87CF"/>
                </a:solidFill>
                <a:latin typeface="Corbel" panose="020B0503020204020204" pitchFamily="34" charset="0"/>
                <a:cs typeface="Arial" panose="020B0604020202020204" pitchFamily="34" charset="0"/>
                <a:hlinkClick r:id="rId3"/>
              </a:rPr>
              <a:t>InputStream</a:t>
            </a:r>
            <a:r>
              <a:rPr lang="en-US" altLang="en-US" dirty="0">
                <a:solidFill>
                  <a:srgbClr val="000000"/>
                </a:solidFill>
                <a:latin typeface="Corbel" panose="020B0503020204020204" pitchFamily="34" charset="0"/>
                <a:cs typeface="Arial" panose="020B0604020202020204" pitchFamily="34" charset="0"/>
              </a:rPr>
              <a:t> and </a:t>
            </a:r>
            <a:r>
              <a:rPr lang="en-US" altLang="en-US" dirty="0" err="1">
                <a:solidFill>
                  <a:srgbClr val="3A87CF"/>
                </a:solidFill>
                <a:latin typeface="Corbel" panose="020B0503020204020204" pitchFamily="34" charset="0"/>
                <a:cs typeface="Arial" panose="020B0604020202020204" pitchFamily="34" charset="0"/>
                <a:hlinkClick r:id="rId4"/>
              </a:rPr>
              <a:t>OutputStream</a:t>
            </a:r>
            <a:r>
              <a:rPr lang="en-US" altLang="en-US" dirty="0">
                <a:solidFill>
                  <a:srgbClr val="000000"/>
                </a:solidFill>
                <a:latin typeface="Corbel" panose="020B0503020204020204" pitchFamily="34" charset="0"/>
                <a:cs typeface="Arial" panose="020B0604020202020204" pitchFamily="34" charset="0"/>
              </a:rPr>
              <a:t>.</a:t>
            </a:r>
            <a:endParaRPr lang="en-US" altLang="en-US" dirty="0">
              <a:latin typeface="Corbel" panose="020B0503020204020204" pitchFamily="34" charset="0"/>
            </a:endParaRP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There are many byte stream classes. </a:t>
            </a:r>
          </a:p>
          <a:p>
            <a:pPr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To demonstrate how byte streams work, we'll focus on the file I/O byte streams,   </a:t>
            </a:r>
            <a:r>
              <a:rPr lang="en-US" altLang="en-US" dirty="0" err="1">
                <a:solidFill>
                  <a:srgbClr val="3A87CF"/>
                </a:solidFill>
                <a:latin typeface="Corbel" panose="020B0503020204020204" pitchFamily="34" charset="0"/>
                <a:cs typeface="Arial" panose="020B0604020202020204" pitchFamily="34" charset="0"/>
                <a:hlinkClick r:id="rId5"/>
              </a:rPr>
              <a:t>FileInputStream</a:t>
            </a:r>
            <a:r>
              <a:rPr lang="en-US" altLang="en-US" dirty="0">
                <a:solidFill>
                  <a:srgbClr val="000000"/>
                </a:solidFill>
                <a:latin typeface="Corbel" panose="020B0503020204020204" pitchFamily="34" charset="0"/>
                <a:cs typeface="Arial" panose="020B0604020202020204" pitchFamily="34" charset="0"/>
              </a:rPr>
              <a:t> and </a:t>
            </a:r>
            <a:r>
              <a:rPr lang="en-US" altLang="en-US" dirty="0" err="1">
                <a:solidFill>
                  <a:srgbClr val="3A87CF"/>
                </a:solidFill>
                <a:latin typeface="Corbel" panose="020B0503020204020204" pitchFamily="34" charset="0"/>
                <a:cs typeface="Arial" panose="020B0604020202020204" pitchFamily="34" charset="0"/>
                <a:hlinkClick r:id="rId6"/>
              </a:rPr>
              <a:t>FileOutputStream</a:t>
            </a:r>
            <a:r>
              <a:rPr lang="en-US" altLang="en-US" dirty="0">
                <a:solidFill>
                  <a:srgbClr val="000000"/>
                </a:solidFill>
                <a:latin typeface="Corbel" panose="020B0503020204020204" pitchFamily="34" charset="0"/>
                <a:cs typeface="Arial" panose="020B0604020202020204" pitchFamily="34" charset="0"/>
              </a:rPr>
              <a:t>. Other kinds of byte streams are used in much the same way; they differ mainly in the way they are constructed.</a:t>
            </a:r>
            <a:endParaRPr lang="en-US" altLang="en-US" dirty="0">
              <a:latin typeface="Corbel" panose="020B0503020204020204" pitchFamily="34" charset="0"/>
            </a:endParaRPr>
          </a:p>
        </p:txBody>
      </p:sp>
      <p:pic>
        <p:nvPicPr>
          <p:cNvPr id="3" name="Picture 2"/>
          <p:cNvPicPr>
            <a:picLocks noChangeAspect="1"/>
          </p:cNvPicPr>
          <p:nvPr/>
        </p:nvPicPr>
        <p:blipFill>
          <a:blip r:embed="rId7"/>
          <a:stretch>
            <a:fillRect/>
          </a:stretch>
        </p:blipFill>
        <p:spPr>
          <a:xfrm>
            <a:off x="6192982" y="1476808"/>
            <a:ext cx="5817682" cy="5159520"/>
          </a:xfrm>
          <a:prstGeom prst="rect">
            <a:avLst/>
          </a:prstGeom>
        </p:spPr>
      </p:pic>
    </p:spTree>
    <p:extLst>
      <p:ext uri="{BB962C8B-B14F-4D97-AF65-F5344CB8AC3E}">
        <p14:creationId xmlns:p14="http://schemas.microsoft.com/office/powerpoint/2010/main" val="385615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Byte Stream - Examples</a:t>
            </a:r>
          </a:p>
        </p:txBody>
      </p:sp>
      <p:sp>
        <p:nvSpPr>
          <p:cNvPr id="5" name="Content Placeholder 4"/>
          <p:cNvSpPr>
            <a:spLocks noGrp="1"/>
          </p:cNvSpPr>
          <p:nvPr>
            <p:ph idx="1"/>
          </p:nvPr>
        </p:nvSpPr>
        <p:spPr>
          <a:xfrm>
            <a:off x="235130" y="1321962"/>
            <a:ext cx="5957852" cy="4940293"/>
          </a:xfrm>
        </p:spPr>
        <p:txBody>
          <a:bodyPr>
            <a:normAutofit/>
          </a:bodyPr>
          <a:lstStyle/>
          <a:p>
            <a:pPr marL="0" lvl="0" indent="0" eaLnBrk="0" fontAlgn="base" hangingPunct="0">
              <a:lnSpc>
                <a:spcPct val="100000"/>
              </a:lnSpc>
              <a:spcBef>
                <a:spcPct val="0"/>
              </a:spcBef>
              <a:spcAft>
                <a:spcPct val="0"/>
              </a:spcAft>
              <a:buNone/>
            </a:pPr>
            <a:r>
              <a:rPr lang="en-US" altLang="en-US" dirty="0" err="1">
                <a:solidFill>
                  <a:srgbClr val="000000"/>
                </a:solidFill>
                <a:latin typeface="Corbel" panose="020B0503020204020204" pitchFamily="34" charset="0"/>
              </a:rPr>
              <a:t>CopyBytes</a:t>
            </a:r>
            <a:r>
              <a:rPr lang="en-US" altLang="en-US" dirty="0">
                <a:solidFill>
                  <a:srgbClr val="000000"/>
                </a:solidFill>
                <a:latin typeface="Corbel" panose="020B0503020204020204" pitchFamily="34" charset="0"/>
                <a:cs typeface="Arial" panose="020B0604020202020204" pitchFamily="34" charset="0"/>
              </a:rPr>
              <a:t> spends most of its time in a simple loop that reads the input stream and writes the output stream, one byte at a time, as shown in the following figure.</a:t>
            </a:r>
            <a:r>
              <a:rPr lang="en-US" altLang="en-US" sz="3200" dirty="0">
                <a:latin typeface="Corbel" panose="020B0503020204020204" pitchFamily="34" charset="0"/>
              </a:rPr>
              <a:t> </a:t>
            </a:r>
            <a:endParaRPr lang="en-US" altLang="en-US" sz="4800" dirty="0">
              <a:latin typeface="Corbel" panose="020B0503020204020204" pitchFamily="34" charset="0"/>
            </a:endParaRPr>
          </a:p>
        </p:txBody>
      </p:sp>
      <p:pic>
        <p:nvPicPr>
          <p:cNvPr id="3" name="Picture 2"/>
          <p:cNvPicPr>
            <a:picLocks noChangeAspect="1"/>
          </p:cNvPicPr>
          <p:nvPr/>
        </p:nvPicPr>
        <p:blipFill>
          <a:blip r:embed="rId3"/>
          <a:stretch>
            <a:fillRect/>
          </a:stretch>
        </p:blipFill>
        <p:spPr>
          <a:xfrm>
            <a:off x="6192982" y="1476808"/>
            <a:ext cx="5817682" cy="5159520"/>
          </a:xfrm>
          <a:prstGeom prst="rect">
            <a:avLst/>
          </a:prstGeom>
        </p:spPr>
      </p:pic>
      <p:pic>
        <p:nvPicPr>
          <p:cNvPr id="4" name="Picture 3"/>
          <p:cNvPicPr>
            <a:picLocks noChangeAspect="1"/>
          </p:cNvPicPr>
          <p:nvPr/>
        </p:nvPicPr>
        <p:blipFill>
          <a:blip r:embed="rId4"/>
          <a:stretch>
            <a:fillRect/>
          </a:stretch>
        </p:blipFill>
        <p:spPr>
          <a:xfrm>
            <a:off x="1275719" y="3144116"/>
            <a:ext cx="3876675" cy="3305175"/>
          </a:xfrm>
          <a:prstGeom prst="rect">
            <a:avLst/>
          </a:prstGeom>
        </p:spPr>
      </p:pic>
    </p:spTree>
    <p:extLst>
      <p:ext uri="{BB962C8B-B14F-4D97-AF65-F5344CB8AC3E}">
        <p14:creationId xmlns:p14="http://schemas.microsoft.com/office/powerpoint/2010/main" val="158487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Byte Stream - Examples</a:t>
            </a:r>
          </a:p>
        </p:txBody>
      </p:sp>
      <p:sp>
        <p:nvSpPr>
          <p:cNvPr id="5" name="Content Placeholder 4"/>
          <p:cNvSpPr>
            <a:spLocks noGrp="1"/>
          </p:cNvSpPr>
          <p:nvPr>
            <p:ph idx="1"/>
          </p:nvPr>
        </p:nvSpPr>
        <p:spPr>
          <a:xfrm>
            <a:off x="235129" y="1321962"/>
            <a:ext cx="11471961" cy="4940293"/>
          </a:xfrm>
        </p:spPr>
        <p:txBody>
          <a:bodyPr>
            <a:noAutofit/>
          </a:bodyPr>
          <a:lstStyle/>
          <a:p>
            <a:pPr marL="0" lvl="0" indent="0" eaLnBrk="0" fontAlgn="base" hangingPunct="0">
              <a:lnSpc>
                <a:spcPct val="150000"/>
              </a:lnSpc>
              <a:spcBef>
                <a:spcPct val="0"/>
              </a:spcBef>
              <a:spcAft>
                <a:spcPct val="0"/>
              </a:spcAft>
              <a:buNone/>
            </a:pPr>
            <a:r>
              <a:rPr lang="en-US" altLang="en-US" sz="1800" b="1" dirty="0">
                <a:solidFill>
                  <a:srgbClr val="333333"/>
                </a:solidFill>
                <a:latin typeface="Corbel" panose="020B0503020204020204" pitchFamily="34" charset="0"/>
                <a:cs typeface="Arial" panose="020B0604020202020204" pitchFamily="34" charset="0"/>
              </a:rPr>
              <a:t>Always Close Streams</a:t>
            </a:r>
          </a:p>
          <a:p>
            <a:pPr lvl="0"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Closing a stream when it's no longer needed is very important — so important that </a:t>
            </a:r>
            <a:r>
              <a:rPr lang="en-US" altLang="en-US" sz="1800" dirty="0" err="1">
                <a:solidFill>
                  <a:srgbClr val="000000"/>
                </a:solidFill>
                <a:latin typeface="Corbel" panose="020B0503020204020204" pitchFamily="34" charset="0"/>
                <a:cs typeface="Arial" panose="020B0604020202020204" pitchFamily="34" charset="0"/>
              </a:rPr>
              <a:t>CopyBytes</a:t>
            </a:r>
            <a:r>
              <a:rPr lang="en-US" altLang="en-US" sz="1800" dirty="0">
                <a:solidFill>
                  <a:srgbClr val="000000"/>
                </a:solidFill>
                <a:latin typeface="Corbel" panose="020B0503020204020204" pitchFamily="34" charset="0"/>
                <a:cs typeface="Arial" panose="020B0604020202020204" pitchFamily="34" charset="0"/>
              </a:rPr>
              <a:t> uses a finally block to guarantee that both streams will be closed even if an error occurs. This practice helps avoid serious resource leaks.</a:t>
            </a:r>
            <a:endParaRPr lang="en-US" altLang="en-US" sz="1800" dirty="0">
              <a:latin typeface="Corbel" panose="020B0503020204020204" pitchFamily="34" charset="0"/>
            </a:endParaRPr>
          </a:p>
          <a:p>
            <a:pPr lvl="0"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One possible error is that </a:t>
            </a:r>
            <a:r>
              <a:rPr lang="en-US" altLang="en-US" sz="1800" dirty="0" err="1">
                <a:solidFill>
                  <a:srgbClr val="000000"/>
                </a:solidFill>
                <a:latin typeface="Corbel" panose="020B0503020204020204" pitchFamily="34" charset="0"/>
                <a:cs typeface="Arial" panose="020B0604020202020204" pitchFamily="34" charset="0"/>
              </a:rPr>
              <a:t>CopyBytes</a:t>
            </a:r>
            <a:r>
              <a:rPr lang="en-US" altLang="en-US" sz="1800" dirty="0">
                <a:solidFill>
                  <a:srgbClr val="000000"/>
                </a:solidFill>
                <a:latin typeface="Corbel" panose="020B0503020204020204" pitchFamily="34" charset="0"/>
                <a:cs typeface="Arial" panose="020B0604020202020204" pitchFamily="34" charset="0"/>
              </a:rPr>
              <a:t> was unable to open one or both files. When that happens, the stream variable corresponding to the file never changes from its initial null value. That's why </a:t>
            </a:r>
            <a:r>
              <a:rPr lang="en-US" altLang="en-US" sz="1800" dirty="0" err="1">
                <a:solidFill>
                  <a:srgbClr val="000000"/>
                </a:solidFill>
                <a:latin typeface="Corbel" panose="020B0503020204020204" pitchFamily="34" charset="0"/>
                <a:cs typeface="Arial" panose="020B0604020202020204" pitchFamily="34" charset="0"/>
              </a:rPr>
              <a:t>CopyBytes</a:t>
            </a:r>
            <a:r>
              <a:rPr lang="en-US" altLang="en-US" sz="1800" dirty="0">
                <a:solidFill>
                  <a:srgbClr val="000000"/>
                </a:solidFill>
                <a:latin typeface="Corbel" panose="020B0503020204020204" pitchFamily="34" charset="0"/>
                <a:cs typeface="Arial" panose="020B0604020202020204" pitchFamily="34" charset="0"/>
              </a:rPr>
              <a:t> makes sure that each stream variable contains an object reference before invoking close.</a:t>
            </a:r>
            <a:endParaRPr lang="en-US" altLang="en-US" sz="1800" b="1" dirty="0">
              <a:solidFill>
                <a:srgbClr val="333333"/>
              </a:solidFill>
              <a:latin typeface="Corbel" panose="020B0503020204020204" pitchFamily="34" charset="0"/>
              <a:cs typeface="Arial" panose="020B0604020202020204" pitchFamily="34" charset="0"/>
            </a:endParaRPr>
          </a:p>
          <a:p>
            <a:pPr marL="0" lvl="0" indent="0" eaLnBrk="0" fontAlgn="base" hangingPunct="0">
              <a:lnSpc>
                <a:spcPct val="150000"/>
              </a:lnSpc>
              <a:spcBef>
                <a:spcPct val="0"/>
              </a:spcBef>
              <a:spcAft>
                <a:spcPct val="0"/>
              </a:spcAft>
              <a:buNone/>
            </a:pPr>
            <a:r>
              <a:rPr lang="en-US" altLang="en-US" sz="1800" b="1" dirty="0">
                <a:solidFill>
                  <a:srgbClr val="333333"/>
                </a:solidFill>
                <a:latin typeface="Corbel" panose="020B0503020204020204" pitchFamily="34" charset="0"/>
                <a:cs typeface="Arial" panose="020B0604020202020204" pitchFamily="34" charset="0"/>
              </a:rPr>
              <a:t>When Not to Use Byte Streams</a:t>
            </a:r>
          </a:p>
          <a:p>
            <a:pPr lvl="0" eaLnBrk="0" fontAlgn="base" hangingPunct="0">
              <a:lnSpc>
                <a:spcPct val="150000"/>
              </a:lnSpc>
              <a:spcBef>
                <a:spcPct val="0"/>
              </a:spcBef>
              <a:spcAft>
                <a:spcPct val="0"/>
              </a:spcAft>
            </a:pPr>
            <a:r>
              <a:rPr lang="en-US" altLang="en-US" sz="1800" dirty="0" err="1">
                <a:solidFill>
                  <a:srgbClr val="000000"/>
                </a:solidFill>
                <a:latin typeface="Corbel" panose="020B0503020204020204" pitchFamily="34" charset="0"/>
                <a:cs typeface="Arial" panose="020B0604020202020204" pitchFamily="34" charset="0"/>
              </a:rPr>
              <a:t>CopyBytes</a:t>
            </a:r>
            <a:r>
              <a:rPr lang="en-US" altLang="en-US" sz="1800" dirty="0">
                <a:solidFill>
                  <a:srgbClr val="000000"/>
                </a:solidFill>
                <a:latin typeface="Corbel" panose="020B0503020204020204" pitchFamily="34" charset="0"/>
                <a:cs typeface="Arial" panose="020B0604020202020204" pitchFamily="34" charset="0"/>
              </a:rPr>
              <a:t> seems like a normal program, but it actually represents a kind of low-level I/O that you should avoid. Since xanadu.txt contains character data, the best approach is to use </a:t>
            </a:r>
            <a:r>
              <a:rPr lang="en-US" altLang="en-US" sz="1800" dirty="0">
                <a:solidFill>
                  <a:srgbClr val="3A87CF"/>
                </a:solidFill>
                <a:latin typeface="Corbel" panose="020B0503020204020204" pitchFamily="34" charset="0"/>
                <a:cs typeface="Arial" panose="020B0604020202020204" pitchFamily="34" charset="0"/>
                <a:hlinkClick r:id="rId3"/>
              </a:rPr>
              <a:t>character streams</a:t>
            </a:r>
            <a:r>
              <a:rPr lang="en-US" altLang="en-US" sz="1800" dirty="0">
                <a:solidFill>
                  <a:srgbClr val="000000"/>
                </a:solidFill>
                <a:latin typeface="Corbel" panose="020B0503020204020204" pitchFamily="34" charset="0"/>
                <a:cs typeface="Arial" panose="020B0604020202020204" pitchFamily="34" charset="0"/>
              </a:rPr>
              <a:t>, as discussed in the next section. There are also streams for more complicated data types. Byte streams should only be used for the most primitive I/O.</a:t>
            </a:r>
            <a:endParaRPr lang="en-US" altLang="en-US" sz="1800" dirty="0">
              <a:latin typeface="Corbel" panose="020B0503020204020204" pitchFamily="34" charset="0"/>
            </a:endParaRPr>
          </a:p>
          <a:p>
            <a:pPr lvl="0"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So why talk about byte streams? Because all other stream types are built on byte streams.</a:t>
            </a:r>
            <a:endParaRPr lang="en-US" altLang="en-US" sz="1800" dirty="0">
              <a:latin typeface="Corbel" panose="020B0503020204020204" pitchFamily="34" charset="0"/>
            </a:endParaRPr>
          </a:p>
        </p:txBody>
      </p:sp>
    </p:spTree>
    <p:extLst>
      <p:ext uri="{BB962C8B-B14F-4D97-AF65-F5344CB8AC3E}">
        <p14:creationId xmlns:p14="http://schemas.microsoft.com/office/powerpoint/2010/main" val="3385794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 Streams</a:t>
            </a:r>
          </a:p>
        </p:txBody>
      </p:sp>
      <p:sp>
        <p:nvSpPr>
          <p:cNvPr id="5" name="Content Placeholder 4"/>
          <p:cNvSpPr>
            <a:spLocks noGrp="1"/>
          </p:cNvSpPr>
          <p:nvPr>
            <p:ph idx="1"/>
          </p:nvPr>
        </p:nvSpPr>
        <p:spPr>
          <a:xfrm>
            <a:off x="235130" y="1321962"/>
            <a:ext cx="5417555" cy="4942002"/>
          </a:xfrm>
        </p:spPr>
        <p:txBody>
          <a:bodyPr>
            <a:normAutofit lnSpcReduction="10000"/>
          </a:bodyPr>
          <a:lstStyle/>
          <a:p>
            <a:r>
              <a:rPr lang="en-US" sz="1800" dirty="0">
                <a:latin typeface="Corbel" panose="020B0503020204020204" pitchFamily="34" charset="0"/>
              </a:rPr>
              <a:t>At the top of the character stream class hierarchy, there are two abstract classes: </a:t>
            </a:r>
          </a:p>
          <a:p>
            <a:pPr lvl="1"/>
            <a:r>
              <a:rPr lang="en-US" sz="1800" dirty="0">
                <a:latin typeface="Corbel" panose="020B0503020204020204" pitchFamily="34" charset="0"/>
              </a:rPr>
              <a:t>Reader for character-oriented input and </a:t>
            </a:r>
          </a:p>
          <a:p>
            <a:pPr lvl="1"/>
            <a:r>
              <a:rPr lang="en-US" sz="1800" dirty="0">
                <a:latin typeface="Corbel" panose="020B0503020204020204" pitchFamily="34" charset="0"/>
              </a:rPr>
              <a:t>Writer for character-oriented output operations. The hierarchical layout is as follows:</a:t>
            </a:r>
          </a:p>
          <a:p>
            <a:r>
              <a:rPr lang="en-US" sz="1800" dirty="0">
                <a:latin typeface="Corbel" panose="020B0503020204020204" pitchFamily="34" charset="0"/>
              </a:rPr>
              <a:t>The Java platform stores character values using Unicode conventions. </a:t>
            </a:r>
          </a:p>
          <a:p>
            <a:r>
              <a:rPr lang="en-US" sz="1800" dirty="0">
                <a:latin typeface="Corbel" panose="020B0503020204020204" pitchFamily="34" charset="0"/>
              </a:rPr>
              <a:t>Character stream I/O automatically translates this internal format to and from the local character set. </a:t>
            </a:r>
          </a:p>
          <a:p>
            <a:r>
              <a:rPr lang="en-US" sz="1800" dirty="0">
                <a:latin typeface="Corbel" panose="020B0503020204020204" pitchFamily="34" charset="0"/>
              </a:rPr>
              <a:t>In Western locales, the local character set is usually an 8-bit superset of ASCII.</a:t>
            </a:r>
          </a:p>
          <a:p>
            <a:r>
              <a:rPr lang="en-US" sz="1800" dirty="0">
                <a:latin typeface="Corbel" panose="020B0503020204020204" pitchFamily="34" charset="0"/>
              </a:rPr>
              <a:t>For most applications, I/O with character streams is no more complicated than I/O with byte streams. </a:t>
            </a:r>
          </a:p>
          <a:p>
            <a:r>
              <a:rPr lang="en-US" sz="1800" dirty="0">
                <a:latin typeface="Corbel" panose="020B0503020204020204" pitchFamily="34" charset="0"/>
              </a:rPr>
              <a:t>Input and output done with stream classes automatically translates to and from the local character set. </a:t>
            </a:r>
            <a:endParaRPr lang="en-IN" sz="1800" dirty="0">
              <a:latin typeface="Corbel" panose="020B0503020204020204" pitchFamily="34" charset="0"/>
            </a:endParaRPr>
          </a:p>
        </p:txBody>
      </p:sp>
      <p:pic>
        <p:nvPicPr>
          <p:cNvPr id="6146" name="Picture 2" descr="Image result for character stre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9793" y="1488930"/>
            <a:ext cx="6210300" cy="3686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528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 Stream - Examples</a:t>
            </a:r>
          </a:p>
        </p:txBody>
      </p:sp>
      <p:sp>
        <p:nvSpPr>
          <p:cNvPr id="5" name="Content Placeholder 4"/>
          <p:cNvSpPr>
            <a:spLocks noGrp="1"/>
          </p:cNvSpPr>
          <p:nvPr>
            <p:ph idx="1"/>
          </p:nvPr>
        </p:nvSpPr>
        <p:spPr>
          <a:xfrm>
            <a:off x="235130" y="1321962"/>
            <a:ext cx="6207234" cy="5536038"/>
          </a:xfrm>
        </p:spPr>
        <p:txBody>
          <a:bodyPr>
            <a:normAutofit/>
          </a:bodyPr>
          <a:lstStyle/>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All character stream classes are descended from </a:t>
            </a:r>
            <a:r>
              <a:rPr lang="en-US" altLang="en-US" sz="1800" dirty="0">
                <a:solidFill>
                  <a:srgbClr val="3A87CF"/>
                </a:solidFill>
                <a:latin typeface="Corbel" panose="020B0503020204020204" pitchFamily="34" charset="0"/>
                <a:cs typeface="Arial" panose="020B0604020202020204" pitchFamily="34" charset="0"/>
                <a:hlinkClick r:id="rId3"/>
              </a:rPr>
              <a:t>Reader</a:t>
            </a:r>
            <a:r>
              <a:rPr lang="en-US" altLang="en-US" sz="1800" dirty="0">
                <a:solidFill>
                  <a:srgbClr val="000000"/>
                </a:solidFill>
                <a:latin typeface="Corbel" panose="020B0503020204020204" pitchFamily="34" charset="0"/>
                <a:cs typeface="Arial" panose="020B0604020202020204" pitchFamily="34" charset="0"/>
              </a:rPr>
              <a:t> and </a:t>
            </a:r>
            <a:r>
              <a:rPr lang="en-US" altLang="en-US" sz="1800" dirty="0">
                <a:solidFill>
                  <a:srgbClr val="3A87CF"/>
                </a:solidFill>
                <a:latin typeface="Corbel" panose="020B0503020204020204" pitchFamily="34" charset="0"/>
                <a:cs typeface="Arial" panose="020B0604020202020204" pitchFamily="34" charset="0"/>
                <a:hlinkClick r:id="rId4"/>
              </a:rPr>
              <a:t>Writer</a:t>
            </a:r>
            <a:r>
              <a:rPr lang="en-US" altLang="en-US" sz="1800" dirty="0">
                <a:solidFill>
                  <a:srgbClr val="000000"/>
                </a:solidFill>
                <a:latin typeface="Corbel" panose="020B0503020204020204" pitchFamily="34" charset="0"/>
                <a:cs typeface="Arial" panose="020B0604020202020204" pitchFamily="34" charset="0"/>
              </a:rPr>
              <a:t>. </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As with byte streams, there are character stream classes that specialize in file I/O: </a:t>
            </a:r>
            <a:r>
              <a:rPr lang="en-US" altLang="en-US" sz="1800" dirty="0" err="1">
                <a:solidFill>
                  <a:srgbClr val="3A87CF"/>
                </a:solidFill>
                <a:latin typeface="Corbel" panose="020B0503020204020204" pitchFamily="34" charset="0"/>
                <a:cs typeface="Arial" panose="020B0604020202020204" pitchFamily="34" charset="0"/>
                <a:hlinkClick r:id="rId5"/>
              </a:rPr>
              <a:t>FileReader</a:t>
            </a:r>
            <a:r>
              <a:rPr lang="en-US" altLang="en-US" sz="1800" dirty="0">
                <a:solidFill>
                  <a:srgbClr val="000000"/>
                </a:solidFill>
                <a:latin typeface="Corbel" panose="020B0503020204020204" pitchFamily="34" charset="0"/>
                <a:cs typeface="Arial" panose="020B0604020202020204" pitchFamily="34" charset="0"/>
              </a:rPr>
              <a:t> and </a:t>
            </a:r>
            <a:r>
              <a:rPr lang="en-US" altLang="en-US" sz="1800" dirty="0" err="1">
                <a:solidFill>
                  <a:srgbClr val="3A87CF"/>
                </a:solidFill>
                <a:latin typeface="Corbel" panose="020B0503020204020204" pitchFamily="34" charset="0"/>
                <a:cs typeface="Arial" panose="020B0604020202020204" pitchFamily="34" charset="0"/>
                <a:hlinkClick r:id="rId6"/>
              </a:rPr>
              <a:t>FileWriter</a:t>
            </a:r>
            <a:r>
              <a:rPr lang="en-US" altLang="en-US" sz="1800" dirty="0">
                <a:solidFill>
                  <a:srgbClr val="000000"/>
                </a:solidFill>
                <a:latin typeface="Corbel" panose="020B0503020204020204" pitchFamily="34" charset="0"/>
                <a:cs typeface="Arial" panose="020B0604020202020204" pitchFamily="34" charset="0"/>
              </a:rPr>
              <a:t>. </a:t>
            </a:r>
          </a:p>
          <a:p>
            <a:pPr eaLnBrk="0" fontAlgn="base" hangingPunct="0">
              <a:lnSpc>
                <a:spcPct val="150000"/>
              </a:lnSpc>
              <a:spcBef>
                <a:spcPct val="0"/>
              </a:spcBef>
              <a:spcAft>
                <a:spcPct val="0"/>
              </a:spcAft>
            </a:pPr>
            <a:r>
              <a:rPr lang="en-US" altLang="en-US" sz="1800" dirty="0" err="1">
                <a:solidFill>
                  <a:srgbClr val="000000"/>
                </a:solidFill>
                <a:latin typeface="Corbel" panose="020B0503020204020204" pitchFamily="34" charset="0"/>
              </a:rPr>
              <a:t>CopyCharacters</a:t>
            </a:r>
            <a:r>
              <a:rPr lang="en-US" altLang="en-US" sz="1800" dirty="0">
                <a:solidFill>
                  <a:srgbClr val="000000"/>
                </a:solidFill>
                <a:latin typeface="Corbel" panose="020B0503020204020204" pitchFamily="34" charset="0"/>
                <a:cs typeface="Arial" panose="020B0604020202020204" pitchFamily="34" charset="0"/>
              </a:rPr>
              <a:t> is very similar to </a:t>
            </a:r>
            <a:r>
              <a:rPr lang="en-US" altLang="en-US" sz="1800" dirty="0" err="1">
                <a:solidFill>
                  <a:srgbClr val="000000"/>
                </a:solidFill>
                <a:latin typeface="Corbel" panose="020B0503020204020204" pitchFamily="34" charset="0"/>
              </a:rPr>
              <a:t>CopyBytes</a:t>
            </a:r>
            <a:r>
              <a:rPr lang="en-US" altLang="en-US" sz="1800" dirty="0">
                <a:solidFill>
                  <a:srgbClr val="000000"/>
                </a:solidFill>
                <a:latin typeface="Corbel" panose="020B0503020204020204" pitchFamily="34" charset="0"/>
                <a:cs typeface="Arial" panose="020B0604020202020204" pitchFamily="34" charset="0"/>
              </a:rPr>
              <a:t>. The most important difference is that </a:t>
            </a:r>
            <a:r>
              <a:rPr lang="en-US" altLang="en-US" sz="1800" dirty="0" err="1">
                <a:solidFill>
                  <a:srgbClr val="000000"/>
                </a:solidFill>
                <a:latin typeface="Corbel" panose="020B0503020204020204" pitchFamily="34" charset="0"/>
              </a:rPr>
              <a:t>CopyCharacters</a:t>
            </a:r>
            <a:r>
              <a:rPr lang="en-US" altLang="en-US" sz="1800" dirty="0">
                <a:solidFill>
                  <a:srgbClr val="000000"/>
                </a:solidFill>
                <a:latin typeface="Corbel" panose="020B0503020204020204" pitchFamily="34" charset="0"/>
                <a:cs typeface="Arial" panose="020B0604020202020204" pitchFamily="34" charset="0"/>
              </a:rPr>
              <a:t> uses </a:t>
            </a:r>
            <a:r>
              <a:rPr lang="en-US" altLang="en-US" sz="1800" dirty="0" err="1">
                <a:solidFill>
                  <a:srgbClr val="000000"/>
                </a:solidFill>
                <a:latin typeface="Corbel" panose="020B0503020204020204" pitchFamily="34" charset="0"/>
              </a:rPr>
              <a:t>FileReader</a:t>
            </a:r>
            <a:r>
              <a:rPr lang="en-US" altLang="en-US" sz="1800" dirty="0">
                <a:solidFill>
                  <a:srgbClr val="000000"/>
                </a:solidFill>
                <a:latin typeface="Corbel" panose="020B0503020204020204" pitchFamily="34" charset="0"/>
                <a:cs typeface="Arial" panose="020B0604020202020204" pitchFamily="34" charset="0"/>
              </a:rPr>
              <a:t> and </a:t>
            </a:r>
            <a:r>
              <a:rPr lang="en-US" altLang="en-US" sz="1800" dirty="0" err="1">
                <a:solidFill>
                  <a:srgbClr val="000000"/>
                </a:solidFill>
                <a:latin typeface="Corbel" panose="020B0503020204020204" pitchFamily="34" charset="0"/>
              </a:rPr>
              <a:t>FileWriter</a:t>
            </a:r>
            <a:r>
              <a:rPr lang="en-US" altLang="en-US" sz="1800" dirty="0">
                <a:solidFill>
                  <a:srgbClr val="000000"/>
                </a:solidFill>
                <a:latin typeface="Corbel" panose="020B0503020204020204" pitchFamily="34" charset="0"/>
                <a:cs typeface="Arial" panose="020B0604020202020204" pitchFamily="34" charset="0"/>
              </a:rPr>
              <a:t> for input and output in place of </a:t>
            </a:r>
            <a:r>
              <a:rPr lang="en-US" altLang="en-US" sz="1800" dirty="0" err="1">
                <a:solidFill>
                  <a:srgbClr val="000000"/>
                </a:solidFill>
                <a:latin typeface="Corbel" panose="020B0503020204020204" pitchFamily="34" charset="0"/>
              </a:rPr>
              <a:t>FileInputStream</a:t>
            </a:r>
            <a:r>
              <a:rPr lang="en-US" altLang="en-US" sz="1800" dirty="0">
                <a:solidFill>
                  <a:srgbClr val="000000"/>
                </a:solidFill>
                <a:latin typeface="Corbel" panose="020B0503020204020204" pitchFamily="34" charset="0"/>
                <a:cs typeface="Arial" panose="020B0604020202020204" pitchFamily="34" charset="0"/>
              </a:rPr>
              <a:t> and </a:t>
            </a:r>
            <a:r>
              <a:rPr lang="en-US" altLang="en-US" sz="1800" dirty="0" err="1">
                <a:solidFill>
                  <a:srgbClr val="000000"/>
                </a:solidFill>
                <a:latin typeface="Corbel" panose="020B0503020204020204" pitchFamily="34" charset="0"/>
              </a:rPr>
              <a:t>FileOutputStream</a:t>
            </a:r>
            <a:r>
              <a:rPr lang="en-US" altLang="en-US" sz="1800" dirty="0">
                <a:solidFill>
                  <a:srgbClr val="000000"/>
                </a:solidFill>
                <a:latin typeface="Corbel" panose="020B0503020204020204" pitchFamily="34" charset="0"/>
                <a:cs typeface="Arial" panose="020B0604020202020204" pitchFamily="34" charset="0"/>
              </a:rPr>
              <a:t>. </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Notice that both </a:t>
            </a:r>
            <a:r>
              <a:rPr lang="en-US" altLang="en-US" sz="1800" dirty="0" err="1">
                <a:solidFill>
                  <a:srgbClr val="000000"/>
                </a:solidFill>
                <a:latin typeface="Corbel" panose="020B0503020204020204" pitchFamily="34" charset="0"/>
              </a:rPr>
              <a:t>CopyBytes</a:t>
            </a:r>
            <a:r>
              <a:rPr lang="en-US" altLang="en-US" sz="1800" dirty="0">
                <a:solidFill>
                  <a:srgbClr val="000000"/>
                </a:solidFill>
                <a:latin typeface="Corbel" panose="020B0503020204020204" pitchFamily="34" charset="0"/>
                <a:cs typeface="Arial" panose="020B0604020202020204" pitchFamily="34" charset="0"/>
              </a:rPr>
              <a:t> and </a:t>
            </a:r>
            <a:r>
              <a:rPr lang="en-US" altLang="en-US" sz="1800" dirty="0" err="1">
                <a:solidFill>
                  <a:srgbClr val="000000"/>
                </a:solidFill>
                <a:latin typeface="Corbel" panose="020B0503020204020204" pitchFamily="34" charset="0"/>
              </a:rPr>
              <a:t>CopyCharacters</a:t>
            </a:r>
            <a:r>
              <a:rPr lang="en-US" altLang="en-US" sz="1800" dirty="0">
                <a:solidFill>
                  <a:srgbClr val="000000"/>
                </a:solidFill>
                <a:latin typeface="Corbel" panose="020B0503020204020204" pitchFamily="34" charset="0"/>
                <a:cs typeface="Arial" panose="020B0604020202020204" pitchFamily="34" charset="0"/>
              </a:rPr>
              <a:t> use an </a:t>
            </a:r>
            <a:r>
              <a:rPr lang="en-US" altLang="en-US" sz="1800" dirty="0" err="1">
                <a:solidFill>
                  <a:srgbClr val="000000"/>
                </a:solidFill>
                <a:latin typeface="Corbel" panose="020B0503020204020204" pitchFamily="34" charset="0"/>
              </a:rPr>
              <a:t>int</a:t>
            </a:r>
            <a:r>
              <a:rPr lang="en-US" altLang="en-US" sz="1800" dirty="0">
                <a:solidFill>
                  <a:srgbClr val="000000"/>
                </a:solidFill>
                <a:latin typeface="Corbel" panose="020B0503020204020204" pitchFamily="34" charset="0"/>
                <a:cs typeface="Arial" panose="020B0604020202020204" pitchFamily="34" charset="0"/>
              </a:rPr>
              <a:t> variable to read to and write from. However, in </a:t>
            </a:r>
            <a:r>
              <a:rPr lang="en-US" altLang="en-US" sz="1800" dirty="0" err="1">
                <a:solidFill>
                  <a:srgbClr val="000000"/>
                </a:solidFill>
                <a:latin typeface="Corbel" panose="020B0503020204020204" pitchFamily="34" charset="0"/>
              </a:rPr>
              <a:t>CopyCharacters</a:t>
            </a:r>
            <a:r>
              <a:rPr lang="en-US" altLang="en-US" sz="1800" dirty="0">
                <a:solidFill>
                  <a:srgbClr val="000000"/>
                </a:solidFill>
                <a:latin typeface="Corbel" panose="020B0503020204020204" pitchFamily="34" charset="0"/>
                <a:cs typeface="Arial" panose="020B0604020202020204" pitchFamily="34" charset="0"/>
              </a:rPr>
              <a:t>, the </a:t>
            </a:r>
            <a:r>
              <a:rPr lang="en-US" altLang="en-US" sz="1800" dirty="0" err="1">
                <a:solidFill>
                  <a:srgbClr val="000000"/>
                </a:solidFill>
                <a:latin typeface="Corbel" panose="020B0503020204020204" pitchFamily="34" charset="0"/>
              </a:rPr>
              <a:t>int</a:t>
            </a:r>
            <a:r>
              <a:rPr lang="en-US" altLang="en-US" sz="1800" dirty="0">
                <a:solidFill>
                  <a:srgbClr val="000000"/>
                </a:solidFill>
                <a:latin typeface="Corbel" panose="020B0503020204020204" pitchFamily="34" charset="0"/>
              </a:rPr>
              <a:t> </a:t>
            </a:r>
            <a:r>
              <a:rPr lang="en-US" altLang="en-US" sz="1800" dirty="0">
                <a:solidFill>
                  <a:srgbClr val="000000"/>
                </a:solidFill>
                <a:latin typeface="Corbel" panose="020B0503020204020204" pitchFamily="34" charset="0"/>
                <a:cs typeface="Arial" panose="020B0604020202020204" pitchFamily="34" charset="0"/>
              </a:rPr>
              <a:t>variable holds a character value in its last 16 bits; in </a:t>
            </a:r>
            <a:r>
              <a:rPr lang="en-US" altLang="en-US" sz="1800" dirty="0" err="1">
                <a:solidFill>
                  <a:srgbClr val="000000"/>
                </a:solidFill>
                <a:latin typeface="Corbel" panose="020B0503020204020204" pitchFamily="34" charset="0"/>
              </a:rPr>
              <a:t>CopyBytes</a:t>
            </a:r>
            <a:r>
              <a:rPr lang="en-US" altLang="en-US" sz="1800" dirty="0">
                <a:solidFill>
                  <a:srgbClr val="000000"/>
                </a:solidFill>
                <a:latin typeface="Corbel" panose="020B0503020204020204" pitchFamily="34" charset="0"/>
                <a:cs typeface="Arial" panose="020B0604020202020204" pitchFamily="34" charset="0"/>
              </a:rPr>
              <a:t>, the </a:t>
            </a:r>
            <a:r>
              <a:rPr lang="en-US" altLang="en-US" sz="1800" dirty="0" err="1">
                <a:solidFill>
                  <a:srgbClr val="000000"/>
                </a:solidFill>
                <a:latin typeface="Corbel" panose="020B0503020204020204" pitchFamily="34" charset="0"/>
              </a:rPr>
              <a:t>int</a:t>
            </a:r>
            <a:r>
              <a:rPr lang="en-US" altLang="en-US" sz="1800" dirty="0">
                <a:solidFill>
                  <a:srgbClr val="000000"/>
                </a:solidFill>
                <a:latin typeface="Corbel" panose="020B0503020204020204" pitchFamily="34" charset="0"/>
                <a:cs typeface="Arial" panose="020B0604020202020204" pitchFamily="34" charset="0"/>
              </a:rPr>
              <a:t> variable holds a </a:t>
            </a:r>
            <a:r>
              <a:rPr lang="en-US" altLang="en-US" sz="1800" dirty="0">
                <a:solidFill>
                  <a:srgbClr val="000000"/>
                </a:solidFill>
                <a:latin typeface="Corbel" panose="020B0503020204020204" pitchFamily="34" charset="0"/>
              </a:rPr>
              <a:t>byte</a:t>
            </a:r>
            <a:r>
              <a:rPr lang="en-US" altLang="en-US" sz="1800" dirty="0">
                <a:solidFill>
                  <a:srgbClr val="000000"/>
                </a:solidFill>
                <a:latin typeface="Corbel" panose="020B0503020204020204" pitchFamily="34" charset="0"/>
                <a:cs typeface="Arial" panose="020B0604020202020204" pitchFamily="34" charset="0"/>
              </a:rPr>
              <a:t> value in its last 8 bits.</a:t>
            </a:r>
            <a:r>
              <a:rPr lang="en-US" altLang="en-US" sz="1800" dirty="0">
                <a:latin typeface="Corbel" panose="020B0503020204020204" pitchFamily="34" charset="0"/>
              </a:rPr>
              <a:t> </a:t>
            </a:r>
          </a:p>
          <a:p>
            <a:pPr eaLnBrk="0" fontAlgn="base" hangingPunct="0">
              <a:lnSpc>
                <a:spcPct val="150000"/>
              </a:lnSpc>
              <a:spcBef>
                <a:spcPct val="0"/>
              </a:spcBef>
              <a:spcAft>
                <a:spcPct val="0"/>
              </a:spcAft>
            </a:pPr>
            <a:endParaRPr lang="en-US" altLang="en-US" sz="1800" dirty="0">
              <a:solidFill>
                <a:srgbClr val="000000"/>
              </a:solidFill>
              <a:latin typeface="Corbel" panose="020B0503020204020204" pitchFamily="34" charset="0"/>
              <a:cs typeface="Arial" panose="020B0604020202020204" pitchFamily="34" charset="0"/>
            </a:endParaRPr>
          </a:p>
          <a:p>
            <a:pPr eaLnBrk="0" fontAlgn="base" hangingPunct="0">
              <a:lnSpc>
                <a:spcPct val="150000"/>
              </a:lnSpc>
              <a:spcBef>
                <a:spcPct val="0"/>
              </a:spcBef>
              <a:spcAft>
                <a:spcPct val="0"/>
              </a:spcAft>
            </a:pPr>
            <a:endParaRPr lang="en-US" altLang="en-US" sz="1800" dirty="0">
              <a:latin typeface="Corbel" panose="020B0503020204020204" pitchFamily="34" charset="0"/>
            </a:endParaRPr>
          </a:p>
          <a:p>
            <a:pPr eaLnBrk="0" fontAlgn="base" hangingPunct="0">
              <a:lnSpc>
                <a:spcPct val="150000"/>
              </a:lnSpc>
              <a:spcBef>
                <a:spcPct val="0"/>
              </a:spcBef>
              <a:spcAft>
                <a:spcPct val="0"/>
              </a:spcAft>
            </a:pPr>
            <a:endParaRPr lang="en-US" altLang="en-US" sz="1800" dirty="0">
              <a:latin typeface="Corbel" panose="020B0503020204020204" pitchFamily="34" charset="0"/>
            </a:endParaRPr>
          </a:p>
        </p:txBody>
      </p:sp>
      <p:pic>
        <p:nvPicPr>
          <p:cNvPr id="7" name="Picture 6"/>
          <p:cNvPicPr>
            <a:picLocks noChangeAspect="1"/>
          </p:cNvPicPr>
          <p:nvPr/>
        </p:nvPicPr>
        <p:blipFill>
          <a:blip r:embed="rId7"/>
          <a:stretch>
            <a:fillRect/>
          </a:stretch>
        </p:blipFill>
        <p:spPr>
          <a:xfrm>
            <a:off x="6335860" y="1499755"/>
            <a:ext cx="5624946" cy="5195454"/>
          </a:xfrm>
          <a:prstGeom prst="rect">
            <a:avLst/>
          </a:prstGeom>
        </p:spPr>
      </p:pic>
    </p:spTree>
    <p:extLst>
      <p:ext uri="{BB962C8B-B14F-4D97-AF65-F5344CB8AC3E}">
        <p14:creationId xmlns:p14="http://schemas.microsoft.com/office/powerpoint/2010/main" val="367485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 Stream - Examples</a:t>
            </a:r>
          </a:p>
        </p:txBody>
      </p:sp>
      <p:sp>
        <p:nvSpPr>
          <p:cNvPr id="5" name="Content Placeholder 4"/>
          <p:cNvSpPr>
            <a:spLocks noGrp="1"/>
          </p:cNvSpPr>
          <p:nvPr>
            <p:ph idx="1"/>
          </p:nvPr>
        </p:nvSpPr>
        <p:spPr>
          <a:xfrm>
            <a:off x="235130" y="1321962"/>
            <a:ext cx="6207234" cy="5536038"/>
          </a:xfrm>
        </p:spPr>
        <p:txBody>
          <a:bodyPr>
            <a:normAutofit/>
          </a:bodyPr>
          <a:lstStyle/>
          <a:p>
            <a:pPr marL="0" indent="0" eaLnBrk="0" fontAlgn="base" hangingPunct="0">
              <a:lnSpc>
                <a:spcPct val="150000"/>
              </a:lnSpc>
              <a:spcBef>
                <a:spcPct val="0"/>
              </a:spcBef>
              <a:spcAft>
                <a:spcPct val="0"/>
              </a:spcAft>
              <a:buNone/>
            </a:pPr>
            <a:r>
              <a:rPr lang="en-US" altLang="en-US" sz="1800" b="1" dirty="0">
                <a:solidFill>
                  <a:srgbClr val="333333"/>
                </a:solidFill>
                <a:latin typeface="Corbel" panose="020B0503020204020204" pitchFamily="34" charset="0"/>
                <a:cs typeface="Arial" panose="020B0604020202020204" pitchFamily="34" charset="0"/>
              </a:rPr>
              <a:t>Character Streams that Use Byte Streams</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Character streams are often "wrappers" for byte streams. </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The character stream uses the byte stream to perform the physical I/O, while the character stream handles translation between characters and bytes.</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 </a:t>
            </a:r>
            <a:r>
              <a:rPr lang="en-US" altLang="en-US" sz="1800" dirty="0" err="1">
                <a:solidFill>
                  <a:srgbClr val="000000"/>
                </a:solidFill>
                <a:latin typeface="Corbel" panose="020B0503020204020204" pitchFamily="34" charset="0"/>
                <a:cs typeface="Arial" panose="020B0604020202020204" pitchFamily="34" charset="0"/>
              </a:rPr>
              <a:t>FileReader</a:t>
            </a:r>
            <a:r>
              <a:rPr lang="en-US" altLang="en-US" sz="1800" dirty="0">
                <a:solidFill>
                  <a:srgbClr val="000000"/>
                </a:solidFill>
                <a:latin typeface="Corbel" panose="020B0503020204020204" pitchFamily="34" charset="0"/>
                <a:cs typeface="Arial" panose="020B0604020202020204" pitchFamily="34" charset="0"/>
              </a:rPr>
              <a:t>, for example, uses </a:t>
            </a:r>
            <a:r>
              <a:rPr lang="en-US" altLang="en-US" sz="1800" dirty="0" err="1">
                <a:solidFill>
                  <a:srgbClr val="000000"/>
                </a:solidFill>
                <a:latin typeface="Corbel" panose="020B0503020204020204" pitchFamily="34" charset="0"/>
                <a:cs typeface="Arial" panose="020B0604020202020204" pitchFamily="34" charset="0"/>
              </a:rPr>
              <a:t>FileInputStream</a:t>
            </a:r>
            <a:r>
              <a:rPr lang="en-US" altLang="en-US" sz="1800" dirty="0">
                <a:solidFill>
                  <a:srgbClr val="000000"/>
                </a:solidFill>
                <a:latin typeface="Corbel" panose="020B0503020204020204" pitchFamily="34" charset="0"/>
                <a:cs typeface="Arial" panose="020B0604020202020204" pitchFamily="34" charset="0"/>
              </a:rPr>
              <a:t>, while </a:t>
            </a:r>
            <a:r>
              <a:rPr lang="en-US" altLang="en-US" sz="1800" dirty="0" err="1">
                <a:solidFill>
                  <a:srgbClr val="000000"/>
                </a:solidFill>
                <a:latin typeface="Corbel" panose="020B0503020204020204" pitchFamily="34" charset="0"/>
                <a:cs typeface="Arial" panose="020B0604020202020204" pitchFamily="34" charset="0"/>
              </a:rPr>
              <a:t>FileWriter</a:t>
            </a:r>
            <a:r>
              <a:rPr lang="en-US" altLang="en-US" sz="1800" dirty="0">
                <a:solidFill>
                  <a:srgbClr val="000000"/>
                </a:solidFill>
                <a:latin typeface="Corbel" panose="020B0503020204020204" pitchFamily="34" charset="0"/>
                <a:cs typeface="Arial" panose="020B0604020202020204" pitchFamily="34" charset="0"/>
              </a:rPr>
              <a:t> uses </a:t>
            </a:r>
            <a:r>
              <a:rPr lang="en-US" altLang="en-US" sz="1800" dirty="0" err="1">
                <a:solidFill>
                  <a:srgbClr val="000000"/>
                </a:solidFill>
                <a:latin typeface="Corbel" panose="020B0503020204020204" pitchFamily="34" charset="0"/>
                <a:cs typeface="Arial" panose="020B0604020202020204" pitchFamily="34" charset="0"/>
              </a:rPr>
              <a:t>FileOutputStream</a:t>
            </a:r>
            <a:r>
              <a:rPr lang="en-US" altLang="en-US" sz="1800" dirty="0">
                <a:solidFill>
                  <a:srgbClr val="000000"/>
                </a:solidFill>
                <a:latin typeface="Corbel" panose="020B0503020204020204" pitchFamily="34" charset="0"/>
                <a:cs typeface="Arial" panose="020B0604020202020204" pitchFamily="34" charset="0"/>
              </a:rPr>
              <a:t>.</a:t>
            </a:r>
            <a:endParaRPr lang="en-US" altLang="en-US" sz="1800" dirty="0">
              <a:latin typeface="Corbel" panose="020B0503020204020204" pitchFamily="34" charset="0"/>
            </a:endParaRP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There are two general-purpose byte-to-character "bridge" streams: </a:t>
            </a:r>
            <a:r>
              <a:rPr lang="en-US" altLang="en-US" sz="1800" dirty="0" err="1">
                <a:solidFill>
                  <a:srgbClr val="3A87CF"/>
                </a:solidFill>
                <a:latin typeface="Corbel" panose="020B0503020204020204" pitchFamily="34" charset="0"/>
                <a:cs typeface="Arial" panose="020B0604020202020204" pitchFamily="34" charset="0"/>
                <a:hlinkClick r:id="rId3"/>
              </a:rPr>
              <a:t>InputStreamReader</a:t>
            </a:r>
            <a:r>
              <a:rPr lang="en-US" altLang="en-US" sz="1800" dirty="0">
                <a:solidFill>
                  <a:srgbClr val="000000"/>
                </a:solidFill>
                <a:latin typeface="Corbel" panose="020B0503020204020204" pitchFamily="34" charset="0"/>
                <a:cs typeface="Arial" panose="020B0604020202020204" pitchFamily="34" charset="0"/>
              </a:rPr>
              <a:t> and </a:t>
            </a:r>
            <a:r>
              <a:rPr lang="en-US" altLang="en-US" sz="1800" dirty="0" err="1">
                <a:solidFill>
                  <a:srgbClr val="3A87CF"/>
                </a:solidFill>
                <a:latin typeface="Corbel" panose="020B0503020204020204" pitchFamily="34" charset="0"/>
                <a:cs typeface="Arial" panose="020B0604020202020204" pitchFamily="34" charset="0"/>
                <a:hlinkClick r:id="rId4"/>
              </a:rPr>
              <a:t>OutputStreamWriter</a:t>
            </a:r>
            <a:r>
              <a:rPr lang="en-US" altLang="en-US" sz="1800" dirty="0">
                <a:solidFill>
                  <a:srgbClr val="000000"/>
                </a:solidFill>
                <a:latin typeface="Corbel" panose="020B0503020204020204" pitchFamily="34" charset="0"/>
                <a:cs typeface="Arial" panose="020B0604020202020204" pitchFamily="34" charset="0"/>
              </a:rPr>
              <a:t>. </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‘Use them to create character streams when there are no prepackaged character stream classes that meet your needs. </a:t>
            </a:r>
            <a:endParaRPr lang="en-US" altLang="en-US" sz="1800" dirty="0">
              <a:latin typeface="Corbel" panose="020B0503020204020204" pitchFamily="34" charset="0"/>
            </a:endParaRPr>
          </a:p>
        </p:txBody>
      </p:sp>
      <p:pic>
        <p:nvPicPr>
          <p:cNvPr id="7" name="Picture 6"/>
          <p:cNvPicPr>
            <a:picLocks noChangeAspect="1"/>
          </p:cNvPicPr>
          <p:nvPr/>
        </p:nvPicPr>
        <p:blipFill>
          <a:blip r:embed="rId5"/>
          <a:stretch>
            <a:fillRect/>
          </a:stretch>
        </p:blipFill>
        <p:spPr>
          <a:xfrm>
            <a:off x="6335860" y="1499755"/>
            <a:ext cx="5624946" cy="5195454"/>
          </a:xfrm>
          <a:prstGeom prst="rect">
            <a:avLst/>
          </a:prstGeom>
        </p:spPr>
      </p:pic>
    </p:spTree>
    <p:extLst>
      <p:ext uri="{BB962C8B-B14F-4D97-AF65-F5344CB8AC3E}">
        <p14:creationId xmlns:p14="http://schemas.microsoft.com/office/powerpoint/2010/main" val="420817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Buffered Stream</a:t>
            </a:r>
          </a:p>
        </p:txBody>
      </p:sp>
      <p:sp>
        <p:nvSpPr>
          <p:cNvPr id="5" name="Content Placeholder 4"/>
          <p:cNvSpPr>
            <a:spLocks noGrp="1"/>
          </p:cNvSpPr>
          <p:nvPr>
            <p:ph idx="1"/>
          </p:nvPr>
        </p:nvSpPr>
        <p:spPr>
          <a:xfrm>
            <a:off x="235129" y="1321962"/>
            <a:ext cx="11513525" cy="5536038"/>
          </a:xfrm>
        </p:spPr>
        <p:txBody>
          <a:bodyPr>
            <a:noAutofit/>
          </a:bodyPr>
          <a:lstStyle/>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cs typeface="Arial" panose="020B0604020202020204" pitchFamily="34" charset="0"/>
              </a:rPr>
              <a:t>Most of the examples we've seen so far use unbuffered I/O. This means each read or write request is handled directly by the underlying OS. </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cs typeface="Arial" panose="020B0604020202020204" pitchFamily="34" charset="0"/>
              </a:rPr>
              <a:t>This can make a program much less efficient, since each such request often triggers disk access, network activity, or some other operation that is relatively expensive.</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cs typeface="Arial" panose="020B0604020202020204" pitchFamily="34" charset="0"/>
              </a:rPr>
              <a:t>To reduce this kind of overhead, the Java platform implements buffered I/O streams. </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cs typeface="Arial" panose="020B0604020202020204" pitchFamily="34" charset="0"/>
              </a:rPr>
              <a:t>Buffered input streams read data from a memory area known as a buffer; the native input API is called only when the buffer is empty. </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cs typeface="Arial" panose="020B0604020202020204" pitchFamily="34" charset="0"/>
              </a:rPr>
              <a:t>Similarly, buffered output streams write data to a buffer, and the native output API is called only when the buffer is full.</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cs typeface="Arial" panose="020B0604020202020204" pitchFamily="34" charset="0"/>
              </a:rPr>
              <a:t>A program can convert an </a:t>
            </a:r>
            <a:r>
              <a:rPr lang="en-US" altLang="en-US" sz="1800" dirty="0" err="1">
                <a:solidFill>
                  <a:srgbClr val="333333"/>
                </a:solidFill>
                <a:latin typeface="Corbel" panose="020B0503020204020204" pitchFamily="34" charset="0"/>
                <a:cs typeface="Arial" panose="020B0604020202020204" pitchFamily="34" charset="0"/>
              </a:rPr>
              <a:t>unbuffered</a:t>
            </a:r>
            <a:r>
              <a:rPr lang="en-US" altLang="en-US" sz="1800" dirty="0">
                <a:solidFill>
                  <a:srgbClr val="333333"/>
                </a:solidFill>
                <a:latin typeface="Corbel" panose="020B0503020204020204" pitchFamily="34" charset="0"/>
                <a:cs typeface="Arial" panose="020B0604020202020204" pitchFamily="34" charset="0"/>
              </a:rPr>
              <a:t> stream into a buffered stream using the wrapping idiom we've used several times now, where the </a:t>
            </a:r>
            <a:r>
              <a:rPr lang="en-US" altLang="en-US" sz="1800" dirty="0" err="1">
                <a:solidFill>
                  <a:srgbClr val="333333"/>
                </a:solidFill>
                <a:latin typeface="Corbel" panose="020B0503020204020204" pitchFamily="34" charset="0"/>
                <a:cs typeface="Arial" panose="020B0604020202020204" pitchFamily="34" charset="0"/>
              </a:rPr>
              <a:t>unbuffered</a:t>
            </a:r>
            <a:r>
              <a:rPr lang="en-US" altLang="en-US" sz="1800" dirty="0">
                <a:solidFill>
                  <a:srgbClr val="333333"/>
                </a:solidFill>
                <a:latin typeface="Corbel" panose="020B0503020204020204" pitchFamily="34" charset="0"/>
                <a:cs typeface="Arial" panose="020B0604020202020204" pitchFamily="34" charset="0"/>
              </a:rPr>
              <a:t> stream object is passed to the constructor for a buffered stream class.</a:t>
            </a:r>
          </a:p>
          <a:p>
            <a:pPr lvl="1" algn="just" eaLnBrk="0" fontAlgn="base" hangingPunct="0">
              <a:lnSpc>
                <a:spcPct val="150000"/>
              </a:lnSpc>
              <a:spcBef>
                <a:spcPct val="0"/>
              </a:spcBef>
              <a:spcAft>
                <a:spcPct val="0"/>
              </a:spcAft>
            </a:pPr>
            <a:r>
              <a:rPr lang="en-US" altLang="en-US" sz="1800" b="1" dirty="0" err="1">
                <a:solidFill>
                  <a:srgbClr val="7030A0"/>
                </a:solidFill>
                <a:latin typeface="Corbel" panose="020B0503020204020204" pitchFamily="34" charset="0"/>
              </a:rPr>
              <a:t>inputStream</a:t>
            </a:r>
            <a:r>
              <a:rPr lang="en-US" altLang="en-US" sz="1800" b="1" dirty="0">
                <a:solidFill>
                  <a:srgbClr val="7030A0"/>
                </a:solidFill>
                <a:latin typeface="Corbel" panose="020B0503020204020204" pitchFamily="34" charset="0"/>
              </a:rPr>
              <a:t> = new </a:t>
            </a:r>
            <a:r>
              <a:rPr lang="en-US" altLang="en-US" sz="1800" b="1" dirty="0" err="1">
                <a:solidFill>
                  <a:srgbClr val="7030A0"/>
                </a:solidFill>
                <a:latin typeface="Corbel" panose="020B0503020204020204" pitchFamily="34" charset="0"/>
              </a:rPr>
              <a:t>BufferedReader</a:t>
            </a:r>
            <a:r>
              <a:rPr lang="en-US" altLang="en-US" sz="1800" b="1" dirty="0">
                <a:solidFill>
                  <a:srgbClr val="7030A0"/>
                </a:solidFill>
                <a:latin typeface="Corbel" panose="020B0503020204020204" pitchFamily="34" charset="0"/>
              </a:rPr>
              <a:t>(new </a:t>
            </a:r>
            <a:r>
              <a:rPr lang="en-US" altLang="en-US" sz="1800" b="1" dirty="0" err="1">
                <a:solidFill>
                  <a:srgbClr val="7030A0"/>
                </a:solidFill>
                <a:latin typeface="Corbel" panose="020B0503020204020204" pitchFamily="34" charset="0"/>
              </a:rPr>
              <a:t>FileReader</a:t>
            </a:r>
            <a:r>
              <a:rPr lang="en-US" altLang="en-US" sz="1800" b="1" dirty="0">
                <a:solidFill>
                  <a:srgbClr val="7030A0"/>
                </a:solidFill>
                <a:latin typeface="Corbel" panose="020B0503020204020204" pitchFamily="34" charset="0"/>
              </a:rPr>
              <a:t>("xanadu.txt")); </a:t>
            </a:r>
          </a:p>
          <a:p>
            <a:pPr lvl="1" algn="just" eaLnBrk="0" fontAlgn="base" hangingPunct="0">
              <a:lnSpc>
                <a:spcPct val="150000"/>
              </a:lnSpc>
              <a:spcBef>
                <a:spcPct val="0"/>
              </a:spcBef>
              <a:spcAft>
                <a:spcPct val="0"/>
              </a:spcAft>
            </a:pPr>
            <a:r>
              <a:rPr lang="en-US" altLang="en-US" sz="1800" b="1" dirty="0" err="1">
                <a:solidFill>
                  <a:srgbClr val="7030A0"/>
                </a:solidFill>
                <a:latin typeface="Corbel" panose="020B0503020204020204" pitchFamily="34" charset="0"/>
              </a:rPr>
              <a:t>outputStream</a:t>
            </a:r>
            <a:r>
              <a:rPr lang="en-US" altLang="en-US" sz="1800" b="1" dirty="0">
                <a:solidFill>
                  <a:srgbClr val="7030A0"/>
                </a:solidFill>
                <a:latin typeface="Corbel" panose="020B0503020204020204" pitchFamily="34" charset="0"/>
              </a:rPr>
              <a:t> = new </a:t>
            </a:r>
            <a:r>
              <a:rPr lang="en-US" altLang="en-US" sz="1800" b="1" dirty="0" err="1">
                <a:solidFill>
                  <a:srgbClr val="7030A0"/>
                </a:solidFill>
                <a:latin typeface="Corbel" panose="020B0503020204020204" pitchFamily="34" charset="0"/>
              </a:rPr>
              <a:t>BufferedWriter</a:t>
            </a:r>
            <a:r>
              <a:rPr lang="en-US" altLang="en-US" sz="1800" b="1" dirty="0">
                <a:solidFill>
                  <a:srgbClr val="7030A0"/>
                </a:solidFill>
                <a:latin typeface="Corbel" panose="020B0503020204020204" pitchFamily="34" charset="0"/>
              </a:rPr>
              <a:t>(new </a:t>
            </a:r>
            <a:r>
              <a:rPr lang="en-US" altLang="en-US" sz="1800" b="1" dirty="0" err="1">
                <a:solidFill>
                  <a:srgbClr val="7030A0"/>
                </a:solidFill>
                <a:latin typeface="Corbel" panose="020B0503020204020204" pitchFamily="34" charset="0"/>
              </a:rPr>
              <a:t>FileWriter</a:t>
            </a:r>
            <a:r>
              <a:rPr lang="en-US" altLang="en-US" sz="1800" b="1" dirty="0">
                <a:solidFill>
                  <a:srgbClr val="7030A0"/>
                </a:solidFill>
                <a:latin typeface="Corbel" panose="020B0503020204020204" pitchFamily="34" charset="0"/>
              </a:rPr>
              <a:t>("characteroutput.txt")); </a:t>
            </a:r>
          </a:p>
          <a:p>
            <a:pPr algn="just"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There are four buffered stream classes used to wrap </a:t>
            </a:r>
            <a:r>
              <a:rPr lang="en-US" altLang="en-US" sz="1800" dirty="0" err="1">
                <a:solidFill>
                  <a:srgbClr val="000000"/>
                </a:solidFill>
                <a:latin typeface="Corbel" panose="020B0503020204020204" pitchFamily="34" charset="0"/>
                <a:cs typeface="Arial" panose="020B0604020202020204" pitchFamily="34" charset="0"/>
              </a:rPr>
              <a:t>unbuffered</a:t>
            </a:r>
            <a:r>
              <a:rPr lang="en-US" altLang="en-US" sz="1800" dirty="0">
                <a:solidFill>
                  <a:srgbClr val="000000"/>
                </a:solidFill>
                <a:latin typeface="Corbel" panose="020B0503020204020204" pitchFamily="34" charset="0"/>
                <a:cs typeface="Arial" panose="020B0604020202020204" pitchFamily="34" charset="0"/>
              </a:rPr>
              <a:t> Streams: </a:t>
            </a:r>
            <a:r>
              <a:rPr lang="en-US" altLang="en-US" sz="1800" dirty="0" err="1">
                <a:solidFill>
                  <a:srgbClr val="3A87CF"/>
                </a:solidFill>
                <a:latin typeface="Corbel" panose="020B0503020204020204" pitchFamily="34" charset="0"/>
                <a:cs typeface="Arial" panose="020B0604020202020204" pitchFamily="34" charset="0"/>
                <a:hlinkClick r:id="rId3"/>
              </a:rPr>
              <a:t>BufferedInputStream</a:t>
            </a:r>
            <a:r>
              <a:rPr lang="en-US" altLang="en-US" sz="1800" dirty="0">
                <a:solidFill>
                  <a:srgbClr val="000000"/>
                </a:solidFill>
                <a:latin typeface="Corbel" panose="020B0503020204020204" pitchFamily="34" charset="0"/>
                <a:cs typeface="Arial" panose="020B0604020202020204" pitchFamily="34" charset="0"/>
              </a:rPr>
              <a:t> and </a:t>
            </a:r>
            <a:r>
              <a:rPr lang="en-US" altLang="en-US" sz="1800" dirty="0" err="1">
                <a:solidFill>
                  <a:srgbClr val="3A87CF"/>
                </a:solidFill>
                <a:latin typeface="Corbel" panose="020B0503020204020204" pitchFamily="34" charset="0"/>
                <a:cs typeface="Arial" panose="020B0604020202020204" pitchFamily="34" charset="0"/>
                <a:hlinkClick r:id="rId4"/>
              </a:rPr>
              <a:t>BufferedOutputStream</a:t>
            </a:r>
            <a:r>
              <a:rPr lang="en-US" altLang="en-US" sz="1800" dirty="0">
                <a:solidFill>
                  <a:srgbClr val="000000"/>
                </a:solidFill>
                <a:latin typeface="Corbel" panose="020B0503020204020204" pitchFamily="34" charset="0"/>
                <a:cs typeface="Arial" panose="020B0604020202020204" pitchFamily="34" charset="0"/>
              </a:rPr>
              <a:t> create buffered byte streams, while </a:t>
            </a:r>
            <a:r>
              <a:rPr lang="en-US" altLang="en-US" sz="1800" dirty="0" err="1">
                <a:solidFill>
                  <a:srgbClr val="3A87CF"/>
                </a:solidFill>
                <a:latin typeface="Corbel" panose="020B0503020204020204" pitchFamily="34" charset="0"/>
                <a:cs typeface="Arial" panose="020B0604020202020204" pitchFamily="34" charset="0"/>
                <a:hlinkClick r:id="rId5"/>
              </a:rPr>
              <a:t>BufferedReader</a:t>
            </a:r>
            <a:r>
              <a:rPr lang="en-US" altLang="en-US" sz="1800" dirty="0">
                <a:solidFill>
                  <a:srgbClr val="000000"/>
                </a:solidFill>
                <a:latin typeface="Corbel" panose="020B0503020204020204" pitchFamily="34" charset="0"/>
                <a:cs typeface="Arial" panose="020B0604020202020204" pitchFamily="34" charset="0"/>
              </a:rPr>
              <a:t> </a:t>
            </a:r>
            <a:r>
              <a:rPr lang="en-US" altLang="en-US" sz="1800" dirty="0" err="1">
                <a:solidFill>
                  <a:srgbClr val="000000"/>
                </a:solidFill>
                <a:latin typeface="Corbel" panose="020B0503020204020204" pitchFamily="34" charset="0"/>
                <a:cs typeface="Arial" panose="020B0604020202020204" pitchFamily="34" charset="0"/>
              </a:rPr>
              <a:t>and</a:t>
            </a:r>
            <a:r>
              <a:rPr lang="en-US" altLang="en-US" sz="1800" dirty="0" err="1">
                <a:solidFill>
                  <a:srgbClr val="3A87CF"/>
                </a:solidFill>
                <a:latin typeface="Corbel" panose="020B0503020204020204" pitchFamily="34" charset="0"/>
                <a:cs typeface="Arial" panose="020B0604020202020204" pitchFamily="34" charset="0"/>
                <a:hlinkClick r:id="rId6"/>
              </a:rPr>
              <a:t>BufferedWriter</a:t>
            </a:r>
            <a:r>
              <a:rPr lang="en-US" altLang="en-US" sz="1800" dirty="0">
                <a:solidFill>
                  <a:srgbClr val="000000"/>
                </a:solidFill>
                <a:latin typeface="Corbel" panose="020B0503020204020204" pitchFamily="34" charset="0"/>
                <a:cs typeface="Arial" panose="020B0604020202020204" pitchFamily="34" charset="0"/>
              </a:rPr>
              <a:t> create buffered character streams.</a:t>
            </a:r>
            <a:r>
              <a:rPr lang="en-US" altLang="en-US" sz="1800" dirty="0">
                <a:latin typeface="Corbel" panose="020B0503020204020204" pitchFamily="34" charset="0"/>
              </a:rPr>
              <a:t> </a:t>
            </a:r>
          </a:p>
          <a:p>
            <a:pPr lvl="1" algn="just" eaLnBrk="0" fontAlgn="base" hangingPunct="0">
              <a:lnSpc>
                <a:spcPct val="150000"/>
              </a:lnSpc>
              <a:spcBef>
                <a:spcPct val="0"/>
              </a:spcBef>
              <a:spcAft>
                <a:spcPct val="0"/>
              </a:spcAft>
            </a:pPr>
            <a:endParaRPr lang="en-US" altLang="en-US" sz="1800" b="1" dirty="0">
              <a:solidFill>
                <a:srgbClr val="7030A0"/>
              </a:solidFill>
              <a:latin typeface="Corbel" panose="020B0503020204020204" pitchFamily="34" charset="0"/>
            </a:endParaRPr>
          </a:p>
          <a:p>
            <a:pPr lvl="1" algn="just" eaLnBrk="0" fontAlgn="base" hangingPunct="0">
              <a:lnSpc>
                <a:spcPct val="150000"/>
              </a:lnSpc>
              <a:spcBef>
                <a:spcPct val="0"/>
              </a:spcBef>
              <a:spcAft>
                <a:spcPct val="0"/>
              </a:spcAft>
            </a:pPr>
            <a:endParaRPr lang="en-US" altLang="en-US" sz="1800" b="1" dirty="0">
              <a:solidFill>
                <a:srgbClr val="7030A0"/>
              </a:solidFill>
              <a:latin typeface="Corbel" panose="020B0503020204020204" pitchFamily="34" charset="0"/>
            </a:endParaRPr>
          </a:p>
          <a:p>
            <a:pPr algn="just" eaLnBrk="0" fontAlgn="base" hangingPunct="0">
              <a:lnSpc>
                <a:spcPct val="150000"/>
              </a:lnSpc>
              <a:spcBef>
                <a:spcPct val="0"/>
              </a:spcBef>
              <a:spcAft>
                <a:spcPct val="0"/>
              </a:spcAft>
            </a:pPr>
            <a:endParaRPr lang="en-US" altLang="en-US" sz="1800" dirty="0">
              <a:latin typeface="Corbel" panose="020B0503020204020204" pitchFamily="34" charset="0"/>
            </a:endParaRPr>
          </a:p>
        </p:txBody>
      </p:sp>
    </p:spTree>
    <p:extLst>
      <p:ext uri="{BB962C8B-B14F-4D97-AF65-F5344CB8AC3E}">
        <p14:creationId xmlns:p14="http://schemas.microsoft.com/office/powerpoint/2010/main" val="119288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Buffered Stream</a:t>
            </a:r>
          </a:p>
        </p:txBody>
      </p:sp>
      <p:sp>
        <p:nvSpPr>
          <p:cNvPr id="5" name="Content Placeholder 4"/>
          <p:cNvSpPr>
            <a:spLocks noGrp="1"/>
          </p:cNvSpPr>
          <p:nvPr>
            <p:ph idx="1"/>
          </p:nvPr>
        </p:nvSpPr>
        <p:spPr>
          <a:xfrm>
            <a:off x="235129" y="1321962"/>
            <a:ext cx="11513525" cy="5536038"/>
          </a:xfrm>
        </p:spPr>
        <p:txBody>
          <a:bodyPr>
            <a:normAutofit/>
          </a:bodyPr>
          <a:lstStyle/>
          <a:p>
            <a:pPr marL="0" lvl="0" indent="0" eaLnBrk="0" fontAlgn="base" hangingPunct="0">
              <a:lnSpc>
                <a:spcPct val="150000"/>
              </a:lnSpc>
              <a:spcBef>
                <a:spcPct val="0"/>
              </a:spcBef>
              <a:spcAft>
                <a:spcPct val="0"/>
              </a:spcAft>
              <a:buNone/>
            </a:pPr>
            <a:r>
              <a:rPr lang="en-US" altLang="en-US" b="1" dirty="0">
                <a:solidFill>
                  <a:srgbClr val="333333"/>
                </a:solidFill>
                <a:latin typeface="Corbel" panose="020B0503020204020204" pitchFamily="34" charset="0"/>
                <a:cs typeface="Arial" panose="020B0604020202020204" pitchFamily="34" charset="0"/>
              </a:rPr>
              <a:t>Flushing Buffered Streams</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It often makes sense to write out a buffer at critical points, without waiting for it to fill. This is known as </a:t>
            </a:r>
            <a:r>
              <a:rPr lang="en-US" altLang="en-US" i="1" dirty="0">
                <a:solidFill>
                  <a:srgbClr val="000000"/>
                </a:solidFill>
                <a:latin typeface="Corbel" panose="020B0503020204020204" pitchFamily="34" charset="0"/>
                <a:cs typeface="Arial" panose="020B0604020202020204" pitchFamily="34" charset="0"/>
              </a:rPr>
              <a:t>flushing</a:t>
            </a:r>
            <a:r>
              <a:rPr lang="en-US" altLang="en-US" dirty="0">
                <a:solidFill>
                  <a:srgbClr val="000000"/>
                </a:solidFill>
                <a:latin typeface="Corbel" panose="020B0503020204020204" pitchFamily="34" charset="0"/>
                <a:cs typeface="Arial" panose="020B0604020202020204" pitchFamily="34" charset="0"/>
              </a:rPr>
              <a:t> the buffer.</a:t>
            </a:r>
            <a:endParaRPr lang="en-US" altLang="en-US" dirty="0">
              <a:latin typeface="Corbel" panose="020B0503020204020204" pitchFamily="34" charset="0"/>
            </a:endParaRP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Some buffered output classes support </a:t>
            </a:r>
            <a:r>
              <a:rPr lang="en-US" altLang="en-US" i="1" dirty="0" err="1">
                <a:solidFill>
                  <a:srgbClr val="000000"/>
                </a:solidFill>
                <a:latin typeface="Corbel" panose="020B0503020204020204" pitchFamily="34" charset="0"/>
                <a:cs typeface="Arial" panose="020B0604020202020204" pitchFamily="34" charset="0"/>
              </a:rPr>
              <a:t>autoflush</a:t>
            </a:r>
            <a:r>
              <a:rPr lang="en-US" altLang="en-US" dirty="0">
                <a:solidFill>
                  <a:srgbClr val="000000"/>
                </a:solidFill>
                <a:latin typeface="Corbel" panose="020B0503020204020204" pitchFamily="34" charset="0"/>
                <a:cs typeface="Arial" panose="020B0604020202020204" pitchFamily="34" charset="0"/>
              </a:rPr>
              <a:t>, specified by an optional constructor argument. </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When </a:t>
            </a:r>
            <a:r>
              <a:rPr lang="en-US" altLang="en-US" dirty="0" err="1">
                <a:solidFill>
                  <a:srgbClr val="000000"/>
                </a:solidFill>
                <a:latin typeface="Corbel" panose="020B0503020204020204" pitchFamily="34" charset="0"/>
                <a:cs typeface="Arial" panose="020B0604020202020204" pitchFamily="34" charset="0"/>
              </a:rPr>
              <a:t>autoflush</a:t>
            </a:r>
            <a:r>
              <a:rPr lang="en-US" altLang="en-US" dirty="0">
                <a:solidFill>
                  <a:srgbClr val="000000"/>
                </a:solidFill>
                <a:latin typeface="Corbel" panose="020B0503020204020204" pitchFamily="34" charset="0"/>
                <a:cs typeface="Arial" panose="020B0604020202020204" pitchFamily="34" charset="0"/>
              </a:rPr>
              <a:t> is enabled, certain key events cause the buffer to be flushed. </a:t>
            </a: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For example, an </a:t>
            </a:r>
            <a:r>
              <a:rPr lang="en-US" altLang="en-US" dirty="0" err="1">
                <a:solidFill>
                  <a:srgbClr val="000000"/>
                </a:solidFill>
                <a:latin typeface="Corbel" panose="020B0503020204020204" pitchFamily="34" charset="0"/>
                <a:cs typeface="Arial" panose="020B0604020202020204" pitchFamily="34" charset="0"/>
              </a:rPr>
              <a:t>autoflush</a:t>
            </a:r>
            <a:r>
              <a:rPr lang="en-US" altLang="en-US" dirty="0">
                <a:solidFill>
                  <a:srgbClr val="000000"/>
                </a:solidFill>
                <a:latin typeface="Corbel" panose="020B0503020204020204" pitchFamily="34" charset="0"/>
                <a:cs typeface="Arial" panose="020B0604020202020204" pitchFamily="34" charset="0"/>
              </a:rPr>
              <a:t> </a:t>
            </a:r>
            <a:r>
              <a:rPr lang="en-US" altLang="en-US" dirty="0" err="1">
                <a:solidFill>
                  <a:srgbClr val="000000"/>
                </a:solidFill>
                <a:latin typeface="Corbel" panose="020B0503020204020204" pitchFamily="34" charset="0"/>
                <a:cs typeface="Arial" panose="020B0604020202020204" pitchFamily="34" charset="0"/>
              </a:rPr>
              <a:t>PrintWriter</a:t>
            </a:r>
            <a:r>
              <a:rPr lang="en-US" altLang="en-US" dirty="0">
                <a:solidFill>
                  <a:srgbClr val="000000"/>
                </a:solidFill>
                <a:latin typeface="Corbel" panose="020B0503020204020204" pitchFamily="34" charset="0"/>
                <a:cs typeface="Arial" panose="020B0604020202020204" pitchFamily="34" charset="0"/>
              </a:rPr>
              <a:t> object flushes the buffer on every invocation of </a:t>
            </a:r>
            <a:r>
              <a:rPr lang="en-US" altLang="en-US" dirty="0" err="1">
                <a:solidFill>
                  <a:srgbClr val="000000"/>
                </a:solidFill>
                <a:latin typeface="Corbel" panose="020B0503020204020204" pitchFamily="34" charset="0"/>
                <a:cs typeface="Arial" panose="020B0604020202020204" pitchFamily="34" charset="0"/>
              </a:rPr>
              <a:t>println</a:t>
            </a:r>
            <a:r>
              <a:rPr lang="en-US" altLang="en-US" dirty="0">
                <a:solidFill>
                  <a:srgbClr val="000000"/>
                </a:solidFill>
                <a:latin typeface="Corbel" panose="020B0503020204020204" pitchFamily="34" charset="0"/>
                <a:cs typeface="Arial" panose="020B0604020202020204" pitchFamily="34" charset="0"/>
              </a:rPr>
              <a:t> or format. </a:t>
            </a:r>
            <a:endParaRPr lang="en-US" altLang="en-US" dirty="0">
              <a:latin typeface="Corbel" panose="020B0503020204020204" pitchFamily="34" charset="0"/>
            </a:endParaRPr>
          </a:p>
          <a:p>
            <a:pPr lvl="0" eaLnBrk="0" fontAlgn="base" hangingPunct="0">
              <a:lnSpc>
                <a:spcPct val="150000"/>
              </a:lnSpc>
              <a:spcBef>
                <a:spcPct val="0"/>
              </a:spcBef>
              <a:spcAft>
                <a:spcPct val="0"/>
              </a:spcAft>
            </a:pPr>
            <a:r>
              <a:rPr lang="en-US" altLang="en-US" dirty="0">
                <a:solidFill>
                  <a:srgbClr val="000000"/>
                </a:solidFill>
                <a:latin typeface="Corbel" panose="020B0503020204020204" pitchFamily="34" charset="0"/>
                <a:cs typeface="Arial" panose="020B0604020202020204" pitchFamily="34" charset="0"/>
              </a:rPr>
              <a:t>To flush a stream manually, invoke its flush method. The flush method is valid on any output stream, but has no effect unless the stream is buffered.</a:t>
            </a:r>
            <a:endParaRPr lang="en-US" altLang="en-US" dirty="0">
              <a:latin typeface="Corbel" panose="020B0503020204020204" pitchFamily="34" charset="0"/>
            </a:endParaRPr>
          </a:p>
        </p:txBody>
      </p:sp>
    </p:spTree>
    <p:extLst>
      <p:ext uri="{BB962C8B-B14F-4D97-AF65-F5344CB8AC3E}">
        <p14:creationId xmlns:p14="http://schemas.microsoft.com/office/powerpoint/2010/main" val="106683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Scanning &amp; Formatting</a:t>
            </a:r>
          </a:p>
        </p:txBody>
      </p:sp>
      <p:sp>
        <p:nvSpPr>
          <p:cNvPr id="5" name="Content Placeholder 4"/>
          <p:cNvSpPr>
            <a:spLocks noGrp="1"/>
          </p:cNvSpPr>
          <p:nvPr>
            <p:ph idx="1"/>
          </p:nvPr>
        </p:nvSpPr>
        <p:spPr>
          <a:xfrm>
            <a:off x="235129" y="1321962"/>
            <a:ext cx="6221089" cy="5536038"/>
          </a:xfrm>
        </p:spPr>
        <p:txBody>
          <a:bodyPr>
            <a:normAutofit fontScale="92500"/>
          </a:bodyPr>
          <a:lstStyle/>
          <a:p>
            <a:pPr eaLnBrk="0" fontAlgn="base" hangingPunct="0">
              <a:lnSpc>
                <a:spcPct val="150000"/>
              </a:lnSpc>
              <a:spcBef>
                <a:spcPct val="0"/>
              </a:spcBef>
              <a:spcAft>
                <a:spcPct val="0"/>
              </a:spcAft>
            </a:pPr>
            <a:r>
              <a:rPr lang="en-US" sz="1600" dirty="0">
                <a:latin typeface="Corbel" panose="020B0503020204020204" pitchFamily="34" charset="0"/>
              </a:rPr>
              <a:t>Programming I/O often involves translating to and from the neatly formatted data humans like to work with. </a:t>
            </a:r>
          </a:p>
          <a:p>
            <a:pPr eaLnBrk="0" fontAlgn="base" hangingPunct="0">
              <a:lnSpc>
                <a:spcPct val="150000"/>
              </a:lnSpc>
              <a:spcBef>
                <a:spcPct val="0"/>
              </a:spcBef>
              <a:spcAft>
                <a:spcPct val="0"/>
              </a:spcAft>
            </a:pPr>
            <a:r>
              <a:rPr lang="en-US" sz="1600" dirty="0">
                <a:latin typeface="Corbel" panose="020B0503020204020204" pitchFamily="34" charset="0"/>
              </a:rPr>
              <a:t>To assist you with these chores, the Java platform provides two APIs. </a:t>
            </a:r>
          </a:p>
          <a:p>
            <a:pPr eaLnBrk="0" fontAlgn="base" hangingPunct="0">
              <a:lnSpc>
                <a:spcPct val="150000"/>
              </a:lnSpc>
              <a:spcBef>
                <a:spcPct val="0"/>
              </a:spcBef>
              <a:spcAft>
                <a:spcPct val="0"/>
              </a:spcAft>
            </a:pPr>
            <a:r>
              <a:rPr lang="en-US" sz="1600" dirty="0">
                <a:latin typeface="Corbel" panose="020B0503020204020204" pitchFamily="34" charset="0"/>
              </a:rPr>
              <a:t>The </a:t>
            </a:r>
            <a:r>
              <a:rPr lang="en-US" sz="1600" dirty="0">
                <a:latin typeface="Corbel" panose="020B0503020204020204" pitchFamily="34" charset="0"/>
                <a:hlinkClick r:id="rId3"/>
              </a:rPr>
              <a:t>scanner</a:t>
            </a:r>
            <a:r>
              <a:rPr lang="en-US" sz="1600" dirty="0">
                <a:latin typeface="Corbel" panose="020B0503020204020204" pitchFamily="34" charset="0"/>
              </a:rPr>
              <a:t> API breaks input into individual tokens associated with bits of data.</a:t>
            </a:r>
          </a:p>
          <a:p>
            <a:pPr eaLnBrk="0" fontAlgn="base" hangingPunct="0">
              <a:lnSpc>
                <a:spcPct val="150000"/>
              </a:lnSpc>
              <a:spcBef>
                <a:spcPct val="0"/>
              </a:spcBef>
              <a:spcAft>
                <a:spcPct val="0"/>
              </a:spcAft>
            </a:pPr>
            <a:r>
              <a:rPr lang="en-US" altLang="en-US" sz="1600" dirty="0">
                <a:solidFill>
                  <a:srgbClr val="000000"/>
                </a:solidFill>
                <a:latin typeface="Corbel" panose="020B0503020204020204" pitchFamily="34" charset="0"/>
                <a:cs typeface="Arial" panose="020B0604020202020204" pitchFamily="34" charset="0"/>
              </a:rPr>
              <a:t>Objects of type </a:t>
            </a:r>
            <a:r>
              <a:rPr lang="en-US" altLang="en-US" sz="1600" dirty="0">
                <a:solidFill>
                  <a:srgbClr val="3A87CF"/>
                </a:solidFill>
                <a:latin typeface="Corbel" panose="020B0503020204020204" pitchFamily="34" charset="0"/>
                <a:cs typeface="Arial" panose="020B0604020202020204" pitchFamily="34" charset="0"/>
                <a:hlinkClick r:id="rId4"/>
              </a:rPr>
              <a:t>Scanner</a:t>
            </a:r>
            <a:r>
              <a:rPr lang="en-US" altLang="en-US" sz="1600" dirty="0">
                <a:solidFill>
                  <a:srgbClr val="000000"/>
                </a:solidFill>
                <a:latin typeface="Corbel" panose="020B0503020204020204" pitchFamily="34" charset="0"/>
                <a:cs typeface="Arial" panose="020B0604020202020204" pitchFamily="34" charset="0"/>
              </a:rPr>
              <a:t> are useful for breaking down formatted input into tokens and translating individual tokens according to their data type.</a:t>
            </a:r>
            <a:endParaRPr lang="en-US" altLang="en-US" sz="1600" b="1" dirty="0">
              <a:solidFill>
                <a:srgbClr val="333333"/>
              </a:solidFill>
              <a:latin typeface="Corbel" panose="020B0503020204020204" pitchFamily="34" charset="0"/>
              <a:cs typeface="Arial" panose="020B0604020202020204" pitchFamily="34" charset="0"/>
            </a:endParaRPr>
          </a:p>
          <a:p>
            <a:pPr eaLnBrk="0" fontAlgn="base" hangingPunct="0">
              <a:lnSpc>
                <a:spcPct val="150000"/>
              </a:lnSpc>
              <a:spcBef>
                <a:spcPct val="0"/>
              </a:spcBef>
              <a:spcAft>
                <a:spcPct val="0"/>
              </a:spcAft>
            </a:pPr>
            <a:r>
              <a:rPr lang="en-US" altLang="en-US" sz="1600" b="1" dirty="0">
                <a:solidFill>
                  <a:srgbClr val="333333"/>
                </a:solidFill>
                <a:latin typeface="Corbel" panose="020B0503020204020204" pitchFamily="34" charset="0"/>
                <a:cs typeface="Arial" panose="020B0604020202020204" pitchFamily="34" charset="0"/>
              </a:rPr>
              <a:t>Breaking Input into Tokens</a:t>
            </a:r>
          </a:p>
          <a:p>
            <a:pPr eaLnBrk="0" fontAlgn="base" hangingPunct="0">
              <a:lnSpc>
                <a:spcPct val="150000"/>
              </a:lnSpc>
              <a:spcBef>
                <a:spcPct val="0"/>
              </a:spcBef>
              <a:spcAft>
                <a:spcPct val="0"/>
              </a:spcAft>
            </a:pPr>
            <a:r>
              <a:rPr lang="en-US" altLang="en-US" sz="1600" dirty="0">
                <a:solidFill>
                  <a:srgbClr val="000000"/>
                </a:solidFill>
                <a:latin typeface="Corbel" panose="020B0503020204020204" pitchFamily="34" charset="0"/>
                <a:cs typeface="Arial" panose="020B0604020202020204" pitchFamily="34" charset="0"/>
              </a:rPr>
              <a:t>By default, a scanner uses white space to separate tokens. (White space characters include blanks, tabs, and line terminators. For the full list, refer to the documentation for</a:t>
            </a:r>
            <a:r>
              <a:rPr lang="en-US" altLang="en-US" sz="1600" dirty="0">
                <a:solidFill>
                  <a:srgbClr val="3A87CF"/>
                </a:solidFill>
                <a:latin typeface="Corbel" panose="020B0503020204020204" pitchFamily="34" charset="0"/>
                <a:cs typeface="Arial" panose="020B0604020202020204" pitchFamily="34" charset="0"/>
                <a:hlinkClick r:id="rId5"/>
              </a:rPr>
              <a:t>Character.is Whitespace</a:t>
            </a:r>
            <a:r>
              <a:rPr lang="en-US" altLang="en-US" sz="1600" dirty="0">
                <a:solidFill>
                  <a:srgbClr val="000000"/>
                </a:solidFill>
                <a:latin typeface="Corbel" panose="020B0503020204020204" pitchFamily="34" charset="0"/>
                <a:cs typeface="Arial" panose="020B0604020202020204" pitchFamily="34" charset="0"/>
              </a:rPr>
              <a:t>.) </a:t>
            </a:r>
          </a:p>
          <a:p>
            <a:pPr eaLnBrk="0" fontAlgn="base" hangingPunct="0">
              <a:lnSpc>
                <a:spcPct val="150000"/>
              </a:lnSpc>
              <a:spcBef>
                <a:spcPct val="0"/>
              </a:spcBef>
              <a:spcAft>
                <a:spcPct val="0"/>
              </a:spcAft>
            </a:pPr>
            <a:r>
              <a:rPr lang="en-US" altLang="en-US" sz="1600" dirty="0">
                <a:solidFill>
                  <a:srgbClr val="000000"/>
                </a:solidFill>
                <a:latin typeface="Arial" panose="020B0604020202020204" pitchFamily="34" charset="0"/>
                <a:cs typeface="Arial" panose="020B0604020202020204" pitchFamily="34" charset="0"/>
              </a:rPr>
              <a:t>Notice that </a:t>
            </a:r>
            <a:r>
              <a:rPr lang="en-US" altLang="en-US" sz="1600" dirty="0" err="1">
                <a:solidFill>
                  <a:srgbClr val="000000"/>
                </a:solidFill>
                <a:latin typeface="Monaco"/>
              </a:rPr>
              <a:t>ScanXan</a:t>
            </a:r>
            <a:r>
              <a:rPr lang="en-US" altLang="en-US" sz="1600" dirty="0">
                <a:solidFill>
                  <a:srgbClr val="000000"/>
                </a:solidFill>
                <a:latin typeface="Arial" panose="020B0604020202020204" pitchFamily="34" charset="0"/>
                <a:cs typeface="Arial" panose="020B0604020202020204" pitchFamily="34" charset="0"/>
              </a:rPr>
              <a:t> invokes </a:t>
            </a:r>
            <a:r>
              <a:rPr lang="en-US" altLang="en-US" sz="1600" dirty="0">
                <a:solidFill>
                  <a:srgbClr val="000000"/>
                </a:solidFill>
                <a:latin typeface="Monaco"/>
              </a:rPr>
              <a:t>Scanner</a:t>
            </a:r>
            <a:r>
              <a:rPr lang="en-US" altLang="en-US" sz="1600" dirty="0">
                <a:solidFill>
                  <a:srgbClr val="000000"/>
                </a:solidFill>
                <a:latin typeface="Arial" panose="020B0604020202020204" pitchFamily="34" charset="0"/>
                <a:cs typeface="Arial" panose="020B0604020202020204" pitchFamily="34" charset="0"/>
              </a:rPr>
              <a:t>'s </a:t>
            </a:r>
            <a:r>
              <a:rPr lang="en-US" altLang="en-US" sz="1600" dirty="0">
                <a:solidFill>
                  <a:srgbClr val="000000"/>
                </a:solidFill>
                <a:latin typeface="Monaco"/>
              </a:rPr>
              <a:t>close</a:t>
            </a:r>
            <a:r>
              <a:rPr lang="en-US" altLang="en-US" sz="1600" dirty="0">
                <a:solidFill>
                  <a:srgbClr val="000000"/>
                </a:solidFill>
                <a:latin typeface="Arial" panose="020B0604020202020204" pitchFamily="34" charset="0"/>
                <a:cs typeface="Arial" panose="020B0604020202020204" pitchFamily="34" charset="0"/>
              </a:rPr>
              <a:t> method when it is done with the scanner object. Even though a scanner is not a stream, you need to close it to indicate that you're done with its underlying stream.</a:t>
            </a:r>
            <a:r>
              <a:rPr lang="en-US" altLang="en-US" sz="2400" dirty="0"/>
              <a:t> </a:t>
            </a:r>
            <a:endParaRPr lang="en-US" altLang="en-US" sz="4000" dirty="0">
              <a:latin typeface="Arial" panose="020B0604020202020204" pitchFamily="34" charset="0"/>
            </a:endParaRPr>
          </a:p>
          <a:p>
            <a:pPr eaLnBrk="0" fontAlgn="base" hangingPunct="0">
              <a:lnSpc>
                <a:spcPct val="150000"/>
              </a:lnSpc>
              <a:spcBef>
                <a:spcPct val="0"/>
              </a:spcBef>
              <a:spcAft>
                <a:spcPct val="0"/>
              </a:spcAft>
            </a:pPr>
            <a:endParaRPr lang="en-US" altLang="en-US" sz="1600" dirty="0">
              <a:solidFill>
                <a:srgbClr val="000000"/>
              </a:solidFill>
              <a:latin typeface="Corbel" panose="020B0503020204020204" pitchFamily="34" charset="0"/>
              <a:cs typeface="Arial" panose="020B0604020202020204" pitchFamily="34" charset="0"/>
            </a:endParaRPr>
          </a:p>
          <a:p>
            <a:pPr eaLnBrk="0" fontAlgn="base" hangingPunct="0">
              <a:lnSpc>
                <a:spcPct val="150000"/>
              </a:lnSpc>
              <a:spcBef>
                <a:spcPct val="0"/>
              </a:spcBef>
              <a:spcAft>
                <a:spcPct val="0"/>
              </a:spcAft>
            </a:pPr>
            <a:endParaRPr lang="en-US" altLang="en-US" sz="1600" dirty="0">
              <a:latin typeface="Corbel" panose="020B0503020204020204" pitchFamily="34" charset="0"/>
            </a:endParaRPr>
          </a:p>
          <a:p>
            <a:pPr eaLnBrk="0" fontAlgn="base" hangingPunct="0">
              <a:lnSpc>
                <a:spcPct val="150000"/>
              </a:lnSpc>
              <a:spcBef>
                <a:spcPct val="0"/>
              </a:spcBef>
              <a:spcAft>
                <a:spcPct val="0"/>
              </a:spcAft>
            </a:pPr>
            <a:endParaRPr lang="en-US" sz="1600" dirty="0">
              <a:latin typeface="Corbel" panose="020B0503020204020204" pitchFamily="34" charset="0"/>
            </a:endParaRPr>
          </a:p>
          <a:p>
            <a:pPr eaLnBrk="0" fontAlgn="base" hangingPunct="0">
              <a:lnSpc>
                <a:spcPct val="150000"/>
              </a:lnSpc>
              <a:spcBef>
                <a:spcPct val="0"/>
              </a:spcBef>
              <a:spcAft>
                <a:spcPct val="0"/>
              </a:spcAft>
            </a:pPr>
            <a:endParaRPr lang="en-US" altLang="en-US" sz="1600" dirty="0">
              <a:latin typeface="Corbel" panose="020B0503020204020204" pitchFamily="34" charset="0"/>
            </a:endParaRPr>
          </a:p>
        </p:txBody>
      </p:sp>
      <p:pic>
        <p:nvPicPr>
          <p:cNvPr id="4" name="Picture 3"/>
          <p:cNvPicPr>
            <a:picLocks noChangeAspect="1"/>
          </p:cNvPicPr>
          <p:nvPr/>
        </p:nvPicPr>
        <p:blipFill>
          <a:blip r:embed="rId6"/>
          <a:stretch>
            <a:fillRect/>
          </a:stretch>
        </p:blipFill>
        <p:spPr>
          <a:xfrm>
            <a:off x="6456217" y="1321961"/>
            <a:ext cx="5658423" cy="5231239"/>
          </a:xfrm>
          <a:prstGeom prst="rect">
            <a:avLst/>
          </a:prstGeom>
        </p:spPr>
      </p:pic>
    </p:spTree>
    <p:extLst>
      <p:ext uri="{BB962C8B-B14F-4D97-AF65-F5344CB8AC3E}">
        <p14:creationId xmlns:p14="http://schemas.microsoft.com/office/powerpoint/2010/main" val="1622890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Scanning &amp; Formatting</a:t>
            </a:r>
          </a:p>
        </p:txBody>
      </p:sp>
      <p:sp>
        <p:nvSpPr>
          <p:cNvPr id="5" name="Content Placeholder 4"/>
          <p:cNvSpPr>
            <a:spLocks noGrp="1"/>
          </p:cNvSpPr>
          <p:nvPr>
            <p:ph idx="1"/>
          </p:nvPr>
        </p:nvSpPr>
        <p:spPr>
          <a:xfrm>
            <a:off x="235129" y="1321962"/>
            <a:ext cx="6221089" cy="5536038"/>
          </a:xfrm>
        </p:spPr>
        <p:txBody>
          <a:bodyPr>
            <a:noAutofit/>
          </a:bodyPr>
          <a:lstStyle/>
          <a:p>
            <a:pPr eaLnBrk="0" fontAlgn="base" hangingPunct="0">
              <a:lnSpc>
                <a:spcPct val="150000"/>
              </a:lnSpc>
              <a:spcBef>
                <a:spcPct val="0"/>
              </a:spcBef>
              <a:spcAft>
                <a:spcPct val="0"/>
              </a:spcAft>
            </a:pPr>
            <a:r>
              <a:rPr lang="en-US" sz="1600" dirty="0">
                <a:latin typeface="Corbel" panose="020B0503020204020204" pitchFamily="34" charset="0"/>
              </a:rPr>
              <a:t>To use a different token separator, invoke </a:t>
            </a:r>
            <a:r>
              <a:rPr lang="en-US" sz="1600" dirty="0" err="1">
                <a:latin typeface="Corbel" panose="020B0503020204020204" pitchFamily="34" charset="0"/>
              </a:rPr>
              <a:t>useDelimiter</a:t>
            </a:r>
            <a:r>
              <a:rPr lang="en-US" sz="1600" dirty="0">
                <a:latin typeface="Corbel" panose="020B0503020204020204" pitchFamily="34" charset="0"/>
              </a:rPr>
              <a:t>(), specifying a regular expression. </a:t>
            </a:r>
          </a:p>
          <a:p>
            <a:pPr eaLnBrk="0" fontAlgn="base" hangingPunct="0">
              <a:lnSpc>
                <a:spcPct val="150000"/>
              </a:lnSpc>
              <a:spcBef>
                <a:spcPct val="0"/>
              </a:spcBef>
              <a:spcAft>
                <a:spcPct val="0"/>
              </a:spcAft>
            </a:pPr>
            <a:r>
              <a:rPr lang="en-US" sz="1600" dirty="0">
                <a:latin typeface="Corbel" panose="020B0503020204020204" pitchFamily="34" charset="0"/>
              </a:rPr>
              <a:t>For example, suppose you wanted the token separator to be a comma, optionally followed by white space. </a:t>
            </a:r>
          </a:p>
          <a:p>
            <a:pPr eaLnBrk="0" fontAlgn="base" hangingPunct="0">
              <a:lnSpc>
                <a:spcPct val="150000"/>
              </a:lnSpc>
              <a:spcBef>
                <a:spcPct val="0"/>
              </a:spcBef>
              <a:spcAft>
                <a:spcPct val="0"/>
              </a:spcAft>
            </a:pPr>
            <a:r>
              <a:rPr lang="en-US" sz="1600" dirty="0">
                <a:latin typeface="Corbel" panose="020B0503020204020204" pitchFamily="34" charset="0"/>
              </a:rPr>
              <a:t>You would invoke, </a:t>
            </a:r>
            <a:r>
              <a:rPr lang="en-US" sz="1600" dirty="0" err="1">
                <a:latin typeface="Corbel" panose="020B0503020204020204" pitchFamily="34" charset="0"/>
              </a:rPr>
              <a:t>s.useDelimiter</a:t>
            </a:r>
            <a:r>
              <a:rPr lang="en-US" sz="1600" dirty="0">
                <a:latin typeface="Corbel" panose="020B0503020204020204" pitchFamily="34" charset="0"/>
              </a:rPr>
              <a:t>(",\\s*");</a:t>
            </a:r>
          </a:p>
          <a:p>
            <a:pPr eaLnBrk="0" fontAlgn="base" hangingPunct="0">
              <a:lnSpc>
                <a:spcPct val="150000"/>
              </a:lnSpc>
              <a:spcBef>
                <a:spcPct val="0"/>
              </a:spcBef>
              <a:spcAft>
                <a:spcPct val="0"/>
              </a:spcAft>
            </a:pPr>
            <a:r>
              <a:rPr lang="en-US" altLang="en-US" sz="1600" dirty="0">
                <a:latin typeface="Corbel" panose="020B0503020204020204" pitchFamily="34" charset="0"/>
              </a:rPr>
              <a:t>The </a:t>
            </a:r>
            <a:r>
              <a:rPr lang="en-US" altLang="en-US" sz="1600" dirty="0" err="1">
                <a:latin typeface="Corbel" panose="020B0503020204020204" pitchFamily="34" charset="0"/>
              </a:rPr>
              <a:t>ScanXan</a:t>
            </a:r>
            <a:r>
              <a:rPr lang="en-US" altLang="en-US" sz="1600" dirty="0">
                <a:latin typeface="Corbel" panose="020B0503020204020204" pitchFamily="34" charset="0"/>
              </a:rPr>
              <a:t> example treats all input tokens as simple String values. Scanner also supports tokens for all of the Java language's primitive types (except for char), as well as </a:t>
            </a:r>
            <a:r>
              <a:rPr lang="en-US" altLang="en-US" sz="1600" dirty="0" err="1">
                <a:latin typeface="Corbel" panose="020B0503020204020204" pitchFamily="34" charset="0"/>
              </a:rPr>
              <a:t>BigInteger</a:t>
            </a:r>
            <a:r>
              <a:rPr lang="en-US" altLang="en-US" sz="1600" dirty="0">
                <a:latin typeface="Corbel" panose="020B0503020204020204" pitchFamily="34" charset="0"/>
              </a:rPr>
              <a:t> and </a:t>
            </a:r>
            <a:r>
              <a:rPr lang="en-US" altLang="en-US" sz="1600" dirty="0" err="1">
                <a:latin typeface="Corbel" panose="020B0503020204020204" pitchFamily="34" charset="0"/>
              </a:rPr>
              <a:t>BigDecimal</a:t>
            </a:r>
            <a:r>
              <a:rPr lang="en-US" altLang="en-US" sz="1600" dirty="0">
                <a:latin typeface="Corbel" panose="020B0503020204020204" pitchFamily="34" charset="0"/>
              </a:rPr>
              <a:t>. </a:t>
            </a:r>
          </a:p>
          <a:p>
            <a:pPr eaLnBrk="0" fontAlgn="base" hangingPunct="0">
              <a:lnSpc>
                <a:spcPct val="150000"/>
              </a:lnSpc>
              <a:spcBef>
                <a:spcPct val="0"/>
              </a:spcBef>
              <a:spcAft>
                <a:spcPct val="0"/>
              </a:spcAft>
            </a:pPr>
            <a:r>
              <a:rPr lang="en-US" altLang="en-US" sz="1600" dirty="0">
                <a:latin typeface="Corbel" panose="020B0503020204020204" pitchFamily="34" charset="0"/>
              </a:rPr>
              <a:t>Also, numeric values can use thousands separators. Thus, in a US locale, Scanner correctly reads the string "32,767" as representing an integer value.</a:t>
            </a:r>
          </a:p>
          <a:p>
            <a:pPr eaLnBrk="0" fontAlgn="base" hangingPunct="0">
              <a:lnSpc>
                <a:spcPct val="150000"/>
              </a:lnSpc>
              <a:spcBef>
                <a:spcPct val="0"/>
              </a:spcBef>
              <a:spcAft>
                <a:spcPct val="0"/>
              </a:spcAft>
            </a:pPr>
            <a:r>
              <a:rPr lang="en-US" altLang="en-US" sz="1600" dirty="0">
                <a:latin typeface="Corbel" panose="020B0503020204020204" pitchFamily="34" charset="0"/>
              </a:rPr>
              <a:t>We have to mention the locale, because thousands separators and decimal symbols are locale specific. So, the following example would not work correctly in all locales if we didn't specify that the scanner should use the US locale. </a:t>
            </a:r>
          </a:p>
        </p:txBody>
      </p:sp>
      <p:pic>
        <p:nvPicPr>
          <p:cNvPr id="4" name="Picture 3"/>
          <p:cNvPicPr>
            <a:picLocks noChangeAspect="1"/>
          </p:cNvPicPr>
          <p:nvPr/>
        </p:nvPicPr>
        <p:blipFill>
          <a:blip r:embed="rId3"/>
          <a:stretch>
            <a:fillRect/>
          </a:stretch>
        </p:blipFill>
        <p:spPr>
          <a:xfrm>
            <a:off x="6456217" y="1321961"/>
            <a:ext cx="5658423" cy="5231239"/>
          </a:xfrm>
          <a:prstGeom prst="rect">
            <a:avLst/>
          </a:prstGeom>
        </p:spPr>
      </p:pic>
    </p:spTree>
    <p:extLst>
      <p:ext uri="{BB962C8B-B14F-4D97-AF65-F5344CB8AC3E}">
        <p14:creationId xmlns:p14="http://schemas.microsoft.com/office/powerpoint/2010/main" val="2400332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Scanner Example</a:t>
            </a:r>
          </a:p>
        </p:txBody>
      </p:sp>
      <p:pic>
        <p:nvPicPr>
          <p:cNvPr id="7" name="Content Placeholder 6"/>
          <p:cNvPicPr>
            <a:picLocks noGrp="1" noChangeAspect="1"/>
          </p:cNvPicPr>
          <p:nvPr>
            <p:ph idx="1"/>
          </p:nvPr>
        </p:nvPicPr>
        <p:blipFill>
          <a:blip r:embed="rId3"/>
          <a:stretch>
            <a:fillRect/>
          </a:stretch>
        </p:blipFill>
        <p:spPr>
          <a:xfrm>
            <a:off x="507133" y="1461654"/>
            <a:ext cx="10687340" cy="5385055"/>
          </a:xfrm>
          <a:prstGeom prst="rect">
            <a:avLst/>
          </a:prstGeom>
        </p:spPr>
      </p:pic>
    </p:spTree>
    <p:extLst>
      <p:ext uri="{BB962C8B-B14F-4D97-AF65-F5344CB8AC3E}">
        <p14:creationId xmlns:p14="http://schemas.microsoft.com/office/powerpoint/2010/main" val="3670752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Scanning &amp; Formatting</a:t>
            </a:r>
          </a:p>
        </p:txBody>
      </p:sp>
      <p:sp>
        <p:nvSpPr>
          <p:cNvPr id="5" name="Content Placeholder 4"/>
          <p:cNvSpPr>
            <a:spLocks noGrp="1"/>
          </p:cNvSpPr>
          <p:nvPr>
            <p:ph idx="1"/>
          </p:nvPr>
        </p:nvSpPr>
        <p:spPr>
          <a:xfrm>
            <a:off x="235129" y="1321962"/>
            <a:ext cx="6221089" cy="5536038"/>
          </a:xfrm>
        </p:spPr>
        <p:txBody>
          <a:bodyPr>
            <a:noAutofit/>
          </a:bodyPr>
          <a:lstStyle/>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The </a:t>
            </a:r>
            <a:r>
              <a:rPr lang="en-US" altLang="en-US" sz="1800" dirty="0">
                <a:solidFill>
                  <a:srgbClr val="000000"/>
                </a:solidFill>
                <a:latin typeface="Corbel" panose="020B0503020204020204" pitchFamily="34" charset="0"/>
              </a:rPr>
              <a:t>format</a:t>
            </a:r>
            <a:r>
              <a:rPr lang="en-US" altLang="en-US" sz="1800" dirty="0">
                <a:solidFill>
                  <a:srgbClr val="000000"/>
                </a:solidFill>
                <a:latin typeface="Corbel" panose="020B0503020204020204" pitchFamily="34" charset="0"/>
                <a:cs typeface="Arial" panose="020B0604020202020204" pitchFamily="34" charset="0"/>
              </a:rPr>
              <a:t> method formats multiple arguments based on a </a:t>
            </a:r>
            <a:r>
              <a:rPr lang="en-US" altLang="en-US" sz="1800" i="1" dirty="0">
                <a:solidFill>
                  <a:srgbClr val="000000"/>
                </a:solidFill>
                <a:latin typeface="Corbel" panose="020B0503020204020204" pitchFamily="34" charset="0"/>
                <a:cs typeface="Arial" panose="020B0604020202020204" pitchFamily="34" charset="0"/>
              </a:rPr>
              <a:t>format string</a:t>
            </a:r>
            <a:r>
              <a:rPr lang="en-US" altLang="en-US" sz="1800" dirty="0">
                <a:solidFill>
                  <a:srgbClr val="000000"/>
                </a:solidFill>
                <a:latin typeface="Corbel" panose="020B0503020204020204" pitchFamily="34" charset="0"/>
                <a:cs typeface="Arial" panose="020B0604020202020204" pitchFamily="34" charset="0"/>
              </a:rPr>
              <a:t>.</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 The format string consists of static text embedded with </a:t>
            </a:r>
            <a:r>
              <a:rPr lang="en-US" altLang="en-US" sz="1800" i="1" dirty="0">
                <a:solidFill>
                  <a:srgbClr val="000000"/>
                </a:solidFill>
                <a:latin typeface="Corbel" panose="020B0503020204020204" pitchFamily="34" charset="0"/>
                <a:cs typeface="Arial" panose="020B0604020202020204" pitchFamily="34" charset="0"/>
              </a:rPr>
              <a:t>format specifiers</a:t>
            </a:r>
            <a:r>
              <a:rPr lang="en-US" altLang="en-US" sz="1800" dirty="0">
                <a:solidFill>
                  <a:srgbClr val="000000"/>
                </a:solidFill>
                <a:latin typeface="Corbel" panose="020B0503020204020204" pitchFamily="34" charset="0"/>
                <a:cs typeface="Arial" panose="020B0604020202020204" pitchFamily="34" charset="0"/>
              </a:rPr>
              <a:t>; except for the format specifiers, the format string is output unchanged.</a:t>
            </a:r>
            <a:r>
              <a:rPr lang="en-US" altLang="en-US" sz="1800" dirty="0">
                <a:latin typeface="Corbel" panose="020B0503020204020204" pitchFamily="34" charset="0"/>
              </a:rPr>
              <a:t> </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Like the three used in this example, all format specifiers begin with a % and end with a 1- or 2-character conversion that specifies the kind of formatted output being generated. </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The three conversions used here are:</a:t>
            </a:r>
          </a:p>
          <a:p>
            <a:pPr lvl="1" eaLnBrk="0" fontAlgn="base" hangingPunct="0">
              <a:lnSpc>
                <a:spcPct val="150000"/>
              </a:lnSpc>
              <a:spcBef>
                <a:spcPct val="0"/>
              </a:spcBef>
              <a:spcAft>
                <a:spcPct val="0"/>
              </a:spcAft>
            </a:pPr>
            <a:r>
              <a:rPr lang="en-US" altLang="en-US" sz="1800" b="1" u="sng" dirty="0">
                <a:solidFill>
                  <a:srgbClr val="000000"/>
                </a:solidFill>
                <a:latin typeface="Corbel" panose="020B0503020204020204" pitchFamily="34" charset="0"/>
                <a:cs typeface="Arial" panose="020B0604020202020204" pitchFamily="34" charset="0"/>
              </a:rPr>
              <a:t>d formats</a:t>
            </a:r>
            <a:r>
              <a:rPr lang="en-US" altLang="en-US" sz="1800" dirty="0">
                <a:solidFill>
                  <a:srgbClr val="000000"/>
                </a:solidFill>
                <a:latin typeface="Corbel" panose="020B0503020204020204" pitchFamily="34" charset="0"/>
                <a:cs typeface="Arial" panose="020B0604020202020204" pitchFamily="34" charset="0"/>
              </a:rPr>
              <a:t> an integer value as a decimal value.</a:t>
            </a:r>
          </a:p>
          <a:p>
            <a:pPr lvl="1" eaLnBrk="0" fontAlgn="base" hangingPunct="0">
              <a:lnSpc>
                <a:spcPct val="150000"/>
              </a:lnSpc>
              <a:spcBef>
                <a:spcPct val="0"/>
              </a:spcBef>
              <a:spcAft>
                <a:spcPct val="0"/>
              </a:spcAft>
            </a:pPr>
            <a:r>
              <a:rPr lang="en-US" altLang="en-US" sz="1800" b="1" u="sng" dirty="0">
                <a:solidFill>
                  <a:srgbClr val="000000"/>
                </a:solidFill>
                <a:latin typeface="Corbel" panose="020B0503020204020204" pitchFamily="34" charset="0"/>
                <a:cs typeface="Arial" panose="020B0604020202020204" pitchFamily="34" charset="0"/>
              </a:rPr>
              <a:t>f formats</a:t>
            </a:r>
            <a:r>
              <a:rPr lang="en-US" altLang="en-US" sz="1800" dirty="0">
                <a:solidFill>
                  <a:srgbClr val="000000"/>
                </a:solidFill>
                <a:latin typeface="Corbel" panose="020B0503020204020204" pitchFamily="34" charset="0"/>
                <a:cs typeface="Arial" panose="020B0604020202020204" pitchFamily="34" charset="0"/>
              </a:rPr>
              <a:t> a floating point value as a decimal value.</a:t>
            </a:r>
          </a:p>
          <a:p>
            <a:pPr lvl="1" eaLnBrk="0" fontAlgn="base" hangingPunct="0">
              <a:lnSpc>
                <a:spcPct val="150000"/>
              </a:lnSpc>
              <a:spcBef>
                <a:spcPct val="0"/>
              </a:spcBef>
              <a:spcAft>
                <a:spcPct val="0"/>
              </a:spcAft>
            </a:pPr>
            <a:r>
              <a:rPr lang="en-US" altLang="en-US" sz="1800" b="1" u="sng" dirty="0">
                <a:solidFill>
                  <a:srgbClr val="000000"/>
                </a:solidFill>
                <a:latin typeface="Corbel" panose="020B0503020204020204" pitchFamily="34" charset="0"/>
                <a:cs typeface="Arial" panose="020B0604020202020204" pitchFamily="34" charset="0"/>
              </a:rPr>
              <a:t>n outputs </a:t>
            </a:r>
            <a:r>
              <a:rPr lang="en-US" altLang="en-US" sz="1800" dirty="0">
                <a:solidFill>
                  <a:srgbClr val="000000"/>
                </a:solidFill>
                <a:latin typeface="Corbel" panose="020B0503020204020204" pitchFamily="34" charset="0"/>
                <a:cs typeface="Arial" panose="020B0604020202020204" pitchFamily="34" charset="0"/>
              </a:rPr>
              <a:t>a platform-specific line terminator.</a:t>
            </a:r>
          </a:p>
        </p:txBody>
      </p:sp>
      <p:pic>
        <p:nvPicPr>
          <p:cNvPr id="6" name="Picture 5"/>
          <p:cNvPicPr>
            <a:picLocks noChangeAspect="1"/>
          </p:cNvPicPr>
          <p:nvPr/>
        </p:nvPicPr>
        <p:blipFill>
          <a:blip r:embed="rId3"/>
          <a:stretch>
            <a:fillRect/>
          </a:stretch>
        </p:blipFill>
        <p:spPr>
          <a:xfrm>
            <a:off x="6756255" y="1321961"/>
            <a:ext cx="5193493" cy="2515747"/>
          </a:xfrm>
          <a:prstGeom prst="rect">
            <a:avLst/>
          </a:prstGeom>
        </p:spPr>
      </p:pic>
      <p:sp>
        <p:nvSpPr>
          <p:cNvPr id="7" name="Rectangle 6"/>
          <p:cNvSpPr/>
          <p:nvPr/>
        </p:nvSpPr>
        <p:spPr>
          <a:xfrm>
            <a:off x="6470072" y="4394561"/>
            <a:ext cx="5479676" cy="1569660"/>
          </a:xfrm>
          <a:prstGeom prst="rect">
            <a:avLst/>
          </a:prstGeom>
        </p:spPr>
        <p:txBody>
          <a:bodyPr wrap="square">
            <a:spAutoFit/>
          </a:bodyPr>
          <a:lstStyle/>
          <a:p>
            <a:pPr eaLnBrk="0" fontAlgn="base" hangingPunct="0">
              <a:lnSpc>
                <a:spcPct val="150000"/>
              </a:lnSpc>
              <a:spcBef>
                <a:spcPct val="0"/>
              </a:spcBef>
              <a:spcAft>
                <a:spcPct val="0"/>
              </a:spcAft>
            </a:pPr>
            <a:r>
              <a:rPr lang="en-US" altLang="en-US" sz="1600" b="1" u="sng" dirty="0">
                <a:solidFill>
                  <a:srgbClr val="000000"/>
                </a:solidFill>
                <a:latin typeface="Corbel" panose="020B0503020204020204" pitchFamily="34" charset="0"/>
                <a:cs typeface="Arial" panose="020B0604020202020204" pitchFamily="34" charset="0"/>
              </a:rPr>
              <a:t>Here are some other conversions</a:t>
            </a:r>
            <a:r>
              <a:rPr lang="en-US" altLang="en-US" sz="1600" dirty="0">
                <a:solidFill>
                  <a:srgbClr val="000000"/>
                </a:solidFill>
                <a:latin typeface="Corbel" panose="020B0503020204020204" pitchFamily="34" charset="0"/>
                <a:cs typeface="Arial" panose="020B0604020202020204" pitchFamily="34" charset="0"/>
              </a:rPr>
              <a:t>:</a:t>
            </a:r>
          </a:p>
          <a:p>
            <a:pPr eaLnBrk="0" fontAlgn="base" hangingPunct="0">
              <a:lnSpc>
                <a:spcPct val="150000"/>
              </a:lnSpc>
              <a:spcBef>
                <a:spcPct val="0"/>
              </a:spcBef>
              <a:spcAft>
                <a:spcPct val="0"/>
              </a:spcAft>
            </a:pPr>
            <a:r>
              <a:rPr lang="en-US" altLang="en-US" sz="1600" b="1" u="sng" dirty="0">
                <a:solidFill>
                  <a:srgbClr val="000000"/>
                </a:solidFill>
                <a:latin typeface="Corbel" panose="020B0503020204020204" pitchFamily="34" charset="0"/>
                <a:cs typeface="Arial" panose="020B0604020202020204" pitchFamily="34" charset="0"/>
              </a:rPr>
              <a:t>x formats</a:t>
            </a:r>
            <a:r>
              <a:rPr lang="en-US" altLang="en-US" sz="1600" dirty="0">
                <a:solidFill>
                  <a:srgbClr val="000000"/>
                </a:solidFill>
                <a:latin typeface="Corbel" panose="020B0503020204020204" pitchFamily="34" charset="0"/>
                <a:cs typeface="Arial" panose="020B0604020202020204" pitchFamily="34" charset="0"/>
              </a:rPr>
              <a:t> an integer as a hexadecimal value.</a:t>
            </a:r>
          </a:p>
          <a:p>
            <a:pPr eaLnBrk="0" fontAlgn="base" hangingPunct="0">
              <a:lnSpc>
                <a:spcPct val="150000"/>
              </a:lnSpc>
              <a:spcBef>
                <a:spcPct val="0"/>
              </a:spcBef>
              <a:spcAft>
                <a:spcPct val="0"/>
              </a:spcAft>
            </a:pPr>
            <a:r>
              <a:rPr lang="en-US" altLang="en-US" sz="1600" b="1" u="sng" dirty="0">
                <a:solidFill>
                  <a:srgbClr val="000000"/>
                </a:solidFill>
                <a:latin typeface="Corbel" panose="020B0503020204020204" pitchFamily="34" charset="0"/>
                <a:cs typeface="Arial" panose="020B0604020202020204" pitchFamily="34" charset="0"/>
              </a:rPr>
              <a:t>s formats</a:t>
            </a:r>
            <a:r>
              <a:rPr lang="en-US" altLang="en-US" sz="1600" dirty="0">
                <a:solidFill>
                  <a:srgbClr val="000000"/>
                </a:solidFill>
                <a:latin typeface="Corbel" panose="020B0503020204020204" pitchFamily="34" charset="0"/>
                <a:cs typeface="Arial" panose="020B0604020202020204" pitchFamily="34" charset="0"/>
              </a:rPr>
              <a:t> any value as a string.</a:t>
            </a:r>
          </a:p>
          <a:p>
            <a:pPr eaLnBrk="0" fontAlgn="base" hangingPunct="0">
              <a:lnSpc>
                <a:spcPct val="150000"/>
              </a:lnSpc>
              <a:spcBef>
                <a:spcPct val="0"/>
              </a:spcBef>
              <a:spcAft>
                <a:spcPct val="0"/>
              </a:spcAft>
            </a:pPr>
            <a:r>
              <a:rPr lang="en-US" altLang="en-US" sz="1600" b="1" u="sng" dirty="0" err="1">
                <a:solidFill>
                  <a:srgbClr val="000000"/>
                </a:solidFill>
                <a:latin typeface="Corbel" panose="020B0503020204020204" pitchFamily="34" charset="0"/>
                <a:cs typeface="Arial" panose="020B0604020202020204" pitchFamily="34" charset="0"/>
              </a:rPr>
              <a:t>tB</a:t>
            </a:r>
            <a:r>
              <a:rPr lang="en-US" altLang="en-US" sz="1600" b="1" u="sng" dirty="0">
                <a:solidFill>
                  <a:srgbClr val="000000"/>
                </a:solidFill>
                <a:latin typeface="Corbel" panose="020B0503020204020204" pitchFamily="34" charset="0"/>
                <a:cs typeface="Arial" panose="020B0604020202020204" pitchFamily="34" charset="0"/>
              </a:rPr>
              <a:t> formats </a:t>
            </a:r>
            <a:r>
              <a:rPr lang="en-US" altLang="en-US" sz="1600" dirty="0">
                <a:solidFill>
                  <a:srgbClr val="000000"/>
                </a:solidFill>
                <a:latin typeface="Corbel" panose="020B0503020204020204" pitchFamily="34" charset="0"/>
                <a:cs typeface="Arial" panose="020B0604020202020204" pitchFamily="34" charset="0"/>
              </a:rPr>
              <a:t>an integer as a locale-specific month name.</a:t>
            </a:r>
          </a:p>
        </p:txBody>
      </p:sp>
    </p:spTree>
    <p:extLst>
      <p:ext uri="{BB962C8B-B14F-4D97-AF65-F5344CB8AC3E}">
        <p14:creationId xmlns:p14="http://schemas.microsoft.com/office/powerpoint/2010/main" val="73732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Scanning &amp; Formatting</a:t>
            </a:r>
          </a:p>
        </p:txBody>
      </p:sp>
      <p:sp>
        <p:nvSpPr>
          <p:cNvPr id="5" name="Content Placeholder 4"/>
          <p:cNvSpPr>
            <a:spLocks noGrp="1"/>
          </p:cNvSpPr>
          <p:nvPr>
            <p:ph idx="1"/>
          </p:nvPr>
        </p:nvSpPr>
        <p:spPr>
          <a:xfrm>
            <a:off x="235129" y="1321962"/>
            <a:ext cx="6221089" cy="5536038"/>
          </a:xfrm>
        </p:spPr>
        <p:txBody>
          <a:bodyPr>
            <a:noAutofit/>
          </a:bodyPr>
          <a:lstStyle/>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The </a:t>
            </a:r>
            <a:r>
              <a:rPr lang="en-US" altLang="en-US" sz="1800" dirty="0">
                <a:solidFill>
                  <a:srgbClr val="000000"/>
                </a:solidFill>
                <a:latin typeface="Corbel" panose="020B0503020204020204" pitchFamily="34" charset="0"/>
              </a:rPr>
              <a:t>format</a:t>
            </a:r>
            <a:r>
              <a:rPr lang="en-US" altLang="en-US" sz="1800" dirty="0">
                <a:solidFill>
                  <a:srgbClr val="000000"/>
                </a:solidFill>
                <a:latin typeface="Corbel" panose="020B0503020204020204" pitchFamily="34" charset="0"/>
                <a:cs typeface="Arial" panose="020B0604020202020204" pitchFamily="34" charset="0"/>
              </a:rPr>
              <a:t> method formats multiple arguments based on a </a:t>
            </a:r>
            <a:r>
              <a:rPr lang="en-US" altLang="en-US" sz="1800" i="1" dirty="0">
                <a:solidFill>
                  <a:srgbClr val="000000"/>
                </a:solidFill>
                <a:latin typeface="Corbel" panose="020B0503020204020204" pitchFamily="34" charset="0"/>
                <a:cs typeface="Arial" panose="020B0604020202020204" pitchFamily="34" charset="0"/>
              </a:rPr>
              <a:t>format string</a:t>
            </a:r>
            <a:r>
              <a:rPr lang="en-US" altLang="en-US" sz="1800" dirty="0">
                <a:solidFill>
                  <a:srgbClr val="000000"/>
                </a:solidFill>
                <a:latin typeface="Corbel" panose="020B0503020204020204" pitchFamily="34" charset="0"/>
                <a:cs typeface="Arial" panose="020B0604020202020204" pitchFamily="34" charset="0"/>
              </a:rPr>
              <a:t>.</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 The format string consists of static text embedded with </a:t>
            </a:r>
            <a:r>
              <a:rPr lang="en-US" altLang="en-US" sz="1800" i="1" dirty="0">
                <a:solidFill>
                  <a:srgbClr val="000000"/>
                </a:solidFill>
                <a:latin typeface="Corbel" panose="020B0503020204020204" pitchFamily="34" charset="0"/>
                <a:cs typeface="Arial" panose="020B0604020202020204" pitchFamily="34" charset="0"/>
              </a:rPr>
              <a:t>format specifiers</a:t>
            </a:r>
            <a:r>
              <a:rPr lang="en-US" altLang="en-US" sz="1800" dirty="0">
                <a:solidFill>
                  <a:srgbClr val="000000"/>
                </a:solidFill>
                <a:latin typeface="Corbel" panose="020B0503020204020204" pitchFamily="34" charset="0"/>
                <a:cs typeface="Arial" panose="020B0604020202020204" pitchFamily="34" charset="0"/>
              </a:rPr>
              <a:t>; except for the format specifiers, the format string is output unchanged.</a:t>
            </a:r>
            <a:r>
              <a:rPr lang="en-US" altLang="en-US" sz="1800" dirty="0">
                <a:latin typeface="Corbel" panose="020B0503020204020204" pitchFamily="34" charset="0"/>
              </a:rPr>
              <a:t> </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Like the three used in this example, all format specifiers begin with a % and end with a 1- or 2-character conversion that specifies the kind of formatted output being generated. </a:t>
            </a:r>
          </a:p>
          <a:p>
            <a:pPr eaLnBrk="0" fontAlgn="base" hangingPunct="0">
              <a:lnSpc>
                <a:spcPct val="150000"/>
              </a:lnSpc>
              <a:spcBef>
                <a:spcPct val="0"/>
              </a:spcBef>
              <a:spcAft>
                <a:spcPct val="0"/>
              </a:spcAft>
            </a:pPr>
            <a:r>
              <a:rPr lang="en-US" altLang="en-US" sz="1800" dirty="0">
                <a:solidFill>
                  <a:srgbClr val="000000"/>
                </a:solidFill>
                <a:latin typeface="Corbel" panose="020B0503020204020204" pitchFamily="34" charset="0"/>
                <a:cs typeface="Arial" panose="020B0604020202020204" pitchFamily="34" charset="0"/>
              </a:rPr>
              <a:t>The three conversions used here are:</a:t>
            </a:r>
          </a:p>
          <a:p>
            <a:pPr lvl="1" eaLnBrk="0" fontAlgn="base" hangingPunct="0">
              <a:lnSpc>
                <a:spcPct val="150000"/>
              </a:lnSpc>
              <a:spcBef>
                <a:spcPct val="0"/>
              </a:spcBef>
              <a:spcAft>
                <a:spcPct val="0"/>
              </a:spcAft>
            </a:pPr>
            <a:r>
              <a:rPr lang="en-US" altLang="en-US" sz="1800" b="1" u="sng" dirty="0">
                <a:solidFill>
                  <a:srgbClr val="000000"/>
                </a:solidFill>
                <a:latin typeface="Corbel" panose="020B0503020204020204" pitchFamily="34" charset="0"/>
                <a:cs typeface="Arial" panose="020B0604020202020204" pitchFamily="34" charset="0"/>
              </a:rPr>
              <a:t>d formats</a:t>
            </a:r>
            <a:r>
              <a:rPr lang="en-US" altLang="en-US" sz="1800" dirty="0">
                <a:solidFill>
                  <a:srgbClr val="000000"/>
                </a:solidFill>
                <a:latin typeface="Corbel" panose="020B0503020204020204" pitchFamily="34" charset="0"/>
                <a:cs typeface="Arial" panose="020B0604020202020204" pitchFamily="34" charset="0"/>
              </a:rPr>
              <a:t> an integer value as a decimal value.</a:t>
            </a:r>
          </a:p>
          <a:p>
            <a:pPr lvl="1" eaLnBrk="0" fontAlgn="base" hangingPunct="0">
              <a:lnSpc>
                <a:spcPct val="150000"/>
              </a:lnSpc>
              <a:spcBef>
                <a:spcPct val="0"/>
              </a:spcBef>
              <a:spcAft>
                <a:spcPct val="0"/>
              </a:spcAft>
            </a:pPr>
            <a:r>
              <a:rPr lang="en-US" altLang="en-US" sz="1800" b="1" u="sng" dirty="0">
                <a:solidFill>
                  <a:srgbClr val="000000"/>
                </a:solidFill>
                <a:latin typeface="Corbel" panose="020B0503020204020204" pitchFamily="34" charset="0"/>
                <a:cs typeface="Arial" panose="020B0604020202020204" pitchFamily="34" charset="0"/>
              </a:rPr>
              <a:t>f formats</a:t>
            </a:r>
            <a:r>
              <a:rPr lang="en-US" altLang="en-US" sz="1800" dirty="0">
                <a:solidFill>
                  <a:srgbClr val="000000"/>
                </a:solidFill>
                <a:latin typeface="Corbel" panose="020B0503020204020204" pitchFamily="34" charset="0"/>
                <a:cs typeface="Arial" panose="020B0604020202020204" pitchFamily="34" charset="0"/>
              </a:rPr>
              <a:t> a floating point value as a decimal value.</a:t>
            </a:r>
          </a:p>
          <a:p>
            <a:pPr lvl="1" eaLnBrk="0" fontAlgn="base" hangingPunct="0">
              <a:lnSpc>
                <a:spcPct val="150000"/>
              </a:lnSpc>
              <a:spcBef>
                <a:spcPct val="0"/>
              </a:spcBef>
              <a:spcAft>
                <a:spcPct val="0"/>
              </a:spcAft>
            </a:pPr>
            <a:r>
              <a:rPr lang="en-US" altLang="en-US" sz="1800" b="1" u="sng" dirty="0">
                <a:solidFill>
                  <a:srgbClr val="000000"/>
                </a:solidFill>
                <a:latin typeface="Corbel" panose="020B0503020204020204" pitchFamily="34" charset="0"/>
                <a:cs typeface="Arial" panose="020B0604020202020204" pitchFamily="34" charset="0"/>
              </a:rPr>
              <a:t>n outputs </a:t>
            </a:r>
            <a:r>
              <a:rPr lang="en-US" altLang="en-US" sz="1800" dirty="0">
                <a:solidFill>
                  <a:srgbClr val="000000"/>
                </a:solidFill>
                <a:latin typeface="Corbel" panose="020B0503020204020204" pitchFamily="34" charset="0"/>
                <a:cs typeface="Arial" panose="020B0604020202020204" pitchFamily="34" charset="0"/>
              </a:rPr>
              <a:t>a platform-specific line terminator.</a:t>
            </a:r>
          </a:p>
        </p:txBody>
      </p:sp>
      <p:pic>
        <p:nvPicPr>
          <p:cNvPr id="6" name="Picture 5"/>
          <p:cNvPicPr>
            <a:picLocks noChangeAspect="1"/>
          </p:cNvPicPr>
          <p:nvPr/>
        </p:nvPicPr>
        <p:blipFill>
          <a:blip r:embed="rId3"/>
          <a:stretch>
            <a:fillRect/>
          </a:stretch>
        </p:blipFill>
        <p:spPr>
          <a:xfrm>
            <a:off x="6756255" y="1321961"/>
            <a:ext cx="5193493" cy="2515747"/>
          </a:xfrm>
          <a:prstGeom prst="rect">
            <a:avLst/>
          </a:prstGeom>
        </p:spPr>
      </p:pic>
      <p:sp>
        <p:nvSpPr>
          <p:cNvPr id="7" name="Rectangle 6"/>
          <p:cNvSpPr/>
          <p:nvPr/>
        </p:nvSpPr>
        <p:spPr>
          <a:xfrm>
            <a:off x="6470072" y="4394561"/>
            <a:ext cx="5479676" cy="1569660"/>
          </a:xfrm>
          <a:prstGeom prst="rect">
            <a:avLst/>
          </a:prstGeom>
        </p:spPr>
        <p:txBody>
          <a:bodyPr wrap="square">
            <a:spAutoFit/>
          </a:bodyPr>
          <a:lstStyle/>
          <a:p>
            <a:pPr eaLnBrk="0" fontAlgn="base" hangingPunct="0">
              <a:lnSpc>
                <a:spcPct val="150000"/>
              </a:lnSpc>
              <a:spcBef>
                <a:spcPct val="0"/>
              </a:spcBef>
              <a:spcAft>
                <a:spcPct val="0"/>
              </a:spcAft>
            </a:pPr>
            <a:r>
              <a:rPr lang="en-US" altLang="en-US" sz="1600" b="1" u="sng" dirty="0">
                <a:solidFill>
                  <a:srgbClr val="000000"/>
                </a:solidFill>
                <a:latin typeface="Corbel" panose="020B0503020204020204" pitchFamily="34" charset="0"/>
                <a:cs typeface="Arial" panose="020B0604020202020204" pitchFamily="34" charset="0"/>
              </a:rPr>
              <a:t>Here are some other conversions</a:t>
            </a:r>
            <a:r>
              <a:rPr lang="en-US" altLang="en-US" sz="1600" dirty="0">
                <a:solidFill>
                  <a:srgbClr val="000000"/>
                </a:solidFill>
                <a:latin typeface="Corbel" panose="020B0503020204020204" pitchFamily="34" charset="0"/>
                <a:cs typeface="Arial" panose="020B0604020202020204" pitchFamily="34" charset="0"/>
              </a:rPr>
              <a:t>:</a:t>
            </a:r>
          </a:p>
          <a:p>
            <a:pPr eaLnBrk="0" fontAlgn="base" hangingPunct="0">
              <a:lnSpc>
                <a:spcPct val="150000"/>
              </a:lnSpc>
              <a:spcBef>
                <a:spcPct val="0"/>
              </a:spcBef>
              <a:spcAft>
                <a:spcPct val="0"/>
              </a:spcAft>
            </a:pPr>
            <a:r>
              <a:rPr lang="en-US" altLang="en-US" sz="1600" b="1" u="sng" dirty="0">
                <a:solidFill>
                  <a:srgbClr val="000000"/>
                </a:solidFill>
                <a:latin typeface="Corbel" panose="020B0503020204020204" pitchFamily="34" charset="0"/>
                <a:cs typeface="Arial" panose="020B0604020202020204" pitchFamily="34" charset="0"/>
              </a:rPr>
              <a:t>x formats</a:t>
            </a:r>
            <a:r>
              <a:rPr lang="en-US" altLang="en-US" sz="1600" dirty="0">
                <a:solidFill>
                  <a:srgbClr val="000000"/>
                </a:solidFill>
                <a:latin typeface="Corbel" panose="020B0503020204020204" pitchFamily="34" charset="0"/>
                <a:cs typeface="Arial" panose="020B0604020202020204" pitchFamily="34" charset="0"/>
              </a:rPr>
              <a:t> an integer as a hexadecimal value.</a:t>
            </a:r>
          </a:p>
          <a:p>
            <a:pPr eaLnBrk="0" fontAlgn="base" hangingPunct="0">
              <a:lnSpc>
                <a:spcPct val="150000"/>
              </a:lnSpc>
              <a:spcBef>
                <a:spcPct val="0"/>
              </a:spcBef>
              <a:spcAft>
                <a:spcPct val="0"/>
              </a:spcAft>
            </a:pPr>
            <a:r>
              <a:rPr lang="en-US" altLang="en-US" sz="1600" b="1" u="sng" dirty="0">
                <a:solidFill>
                  <a:srgbClr val="000000"/>
                </a:solidFill>
                <a:latin typeface="Corbel" panose="020B0503020204020204" pitchFamily="34" charset="0"/>
                <a:cs typeface="Arial" panose="020B0604020202020204" pitchFamily="34" charset="0"/>
              </a:rPr>
              <a:t>s formats</a:t>
            </a:r>
            <a:r>
              <a:rPr lang="en-US" altLang="en-US" sz="1600" dirty="0">
                <a:solidFill>
                  <a:srgbClr val="000000"/>
                </a:solidFill>
                <a:latin typeface="Corbel" panose="020B0503020204020204" pitchFamily="34" charset="0"/>
                <a:cs typeface="Arial" panose="020B0604020202020204" pitchFamily="34" charset="0"/>
              </a:rPr>
              <a:t> any value as a string.</a:t>
            </a:r>
          </a:p>
          <a:p>
            <a:pPr eaLnBrk="0" fontAlgn="base" hangingPunct="0">
              <a:lnSpc>
                <a:spcPct val="150000"/>
              </a:lnSpc>
              <a:spcBef>
                <a:spcPct val="0"/>
              </a:spcBef>
              <a:spcAft>
                <a:spcPct val="0"/>
              </a:spcAft>
            </a:pPr>
            <a:r>
              <a:rPr lang="en-US" altLang="en-US" sz="1600" b="1" u="sng" dirty="0" err="1">
                <a:solidFill>
                  <a:srgbClr val="000000"/>
                </a:solidFill>
                <a:latin typeface="Corbel" panose="020B0503020204020204" pitchFamily="34" charset="0"/>
                <a:cs typeface="Arial" panose="020B0604020202020204" pitchFamily="34" charset="0"/>
              </a:rPr>
              <a:t>tB</a:t>
            </a:r>
            <a:r>
              <a:rPr lang="en-US" altLang="en-US" sz="1600" b="1" u="sng" dirty="0">
                <a:solidFill>
                  <a:srgbClr val="000000"/>
                </a:solidFill>
                <a:latin typeface="Corbel" panose="020B0503020204020204" pitchFamily="34" charset="0"/>
                <a:cs typeface="Arial" panose="020B0604020202020204" pitchFamily="34" charset="0"/>
              </a:rPr>
              <a:t> formats </a:t>
            </a:r>
            <a:r>
              <a:rPr lang="en-US" altLang="en-US" sz="1600" dirty="0">
                <a:solidFill>
                  <a:srgbClr val="000000"/>
                </a:solidFill>
                <a:latin typeface="Corbel" panose="020B0503020204020204" pitchFamily="34" charset="0"/>
                <a:cs typeface="Arial" panose="020B0604020202020204" pitchFamily="34" charset="0"/>
              </a:rPr>
              <a:t>an integer as a locale-specific month name.</a:t>
            </a:r>
          </a:p>
        </p:txBody>
      </p:sp>
    </p:spTree>
    <p:extLst>
      <p:ext uri="{BB962C8B-B14F-4D97-AF65-F5344CB8AC3E}">
        <p14:creationId xmlns:p14="http://schemas.microsoft.com/office/powerpoint/2010/main" val="44438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Scanning &amp; Formatting</a:t>
            </a:r>
          </a:p>
        </p:txBody>
      </p:sp>
      <p:sp>
        <p:nvSpPr>
          <p:cNvPr id="5" name="Content Placeholder 4"/>
          <p:cNvSpPr>
            <a:spLocks noGrp="1"/>
          </p:cNvSpPr>
          <p:nvPr>
            <p:ph idx="1"/>
          </p:nvPr>
        </p:nvSpPr>
        <p:spPr>
          <a:xfrm>
            <a:off x="235129" y="1321962"/>
            <a:ext cx="6221089" cy="5536038"/>
          </a:xfrm>
        </p:spPr>
        <p:txBody>
          <a:bodyPr>
            <a:noAutofit/>
          </a:bodyPr>
          <a:lstStyle/>
          <a:p>
            <a:pPr marL="0" lvl="0" indent="0" eaLnBrk="0" fontAlgn="base" hangingPunct="0">
              <a:lnSpc>
                <a:spcPct val="100000"/>
              </a:lnSpc>
              <a:spcBef>
                <a:spcPct val="0"/>
              </a:spcBef>
              <a:spcAft>
                <a:spcPct val="0"/>
              </a:spcAft>
              <a:buNone/>
            </a:pPr>
            <a:r>
              <a:rPr lang="en-US" altLang="en-US" sz="1600" dirty="0">
                <a:solidFill>
                  <a:srgbClr val="000000"/>
                </a:solidFill>
                <a:latin typeface="Corbel" panose="020B0503020204020204" pitchFamily="34" charset="0"/>
                <a:cs typeface="Arial" panose="020B0604020202020204" pitchFamily="34" charset="0"/>
              </a:rPr>
              <a:t>In addition to the conversion, a format specifier can contain several additional elements that further customize the formatted output.  </a:t>
            </a:r>
            <a:r>
              <a:rPr lang="en-US" altLang="en-US" sz="1600" dirty="0">
                <a:latin typeface="Corbel" panose="020B0503020204020204" pitchFamily="34" charset="0"/>
              </a:rPr>
              <a:t>The elements must appear in the order shown. Working from the right, the optional elements are:</a:t>
            </a:r>
          </a:p>
          <a:p>
            <a:pPr marL="0" lvl="0" indent="0" eaLnBrk="0" fontAlgn="base" hangingPunct="0">
              <a:lnSpc>
                <a:spcPct val="100000"/>
              </a:lnSpc>
              <a:spcBef>
                <a:spcPct val="0"/>
              </a:spcBef>
              <a:spcAft>
                <a:spcPct val="0"/>
              </a:spcAft>
              <a:buNone/>
            </a:pPr>
            <a:endParaRPr lang="en-US" altLang="en-US" sz="1600" dirty="0">
              <a:latin typeface="Corbel" panose="020B0503020204020204" pitchFamily="34" charset="0"/>
            </a:endParaRPr>
          </a:p>
          <a:p>
            <a:pPr marL="0" lvl="0" indent="0" eaLnBrk="0" fontAlgn="base" hangingPunct="0">
              <a:lnSpc>
                <a:spcPct val="100000"/>
              </a:lnSpc>
              <a:spcBef>
                <a:spcPct val="0"/>
              </a:spcBef>
              <a:spcAft>
                <a:spcPct val="0"/>
              </a:spcAft>
              <a:buNone/>
            </a:pPr>
            <a:r>
              <a:rPr lang="en-US" altLang="en-US" sz="1600" b="1" u="sng" dirty="0">
                <a:latin typeface="Corbel" panose="020B0503020204020204" pitchFamily="34" charset="0"/>
              </a:rPr>
              <a:t>Precision</a:t>
            </a:r>
            <a:r>
              <a:rPr lang="en-US" altLang="en-US" sz="1600" dirty="0">
                <a:latin typeface="Corbel" panose="020B0503020204020204" pitchFamily="34" charset="0"/>
              </a:rPr>
              <a:t>. For floating point values, this is the mathematical precision of the formatted value. For s and other general conversions, this is the maximum width of the formatted value; the value is right-truncated if necessary.</a:t>
            </a:r>
          </a:p>
          <a:p>
            <a:pPr marL="0" lvl="0" indent="0" eaLnBrk="0" fontAlgn="base" hangingPunct="0">
              <a:lnSpc>
                <a:spcPct val="100000"/>
              </a:lnSpc>
              <a:spcBef>
                <a:spcPct val="0"/>
              </a:spcBef>
              <a:spcAft>
                <a:spcPct val="0"/>
              </a:spcAft>
              <a:buNone/>
            </a:pPr>
            <a:r>
              <a:rPr lang="en-US" altLang="en-US" sz="1600" b="1" u="sng" dirty="0">
                <a:latin typeface="Corbel" panose="020B0503020204020204" pitchFamily="34" charset="0"/>
              </a:rPr>
              <a:t>Width</a:t>
            </a:r>
            <a:r>
              <a:rPr lang="en-US" altLang="en-US" sz="1600" dirty="0">
                <a:latin typeface="Corbel" panose="020B0503020204020204" pitchFamily="34" charset="0"/>
              </a:rPr>
              <a:t>. The minimum width of the formatted value; the value is padded if necessary. By default the value is left-padded with blanks.</a:t>
            </a:r>
          </a:p>
          <a:p>
            <a:pPr marL="0" lvl="0" indent="0" eaLnBrk="0" fontAlgn="base" hangingPunct="0">
              <a:lnSpc>
                <a:spcPct val="100000"/>
              </a:lnSpc>
              <a:spcBef>
                <a:spcPct val="0"/>
              </a:spcBef>
              <a:spcAft>
                <a:spcPct val="0"/>
              </a:spcAft>
              <a:buNone/>
            </a:pPr>
            <a:r>
              <a:rPr lang="en-US" altLang="en-US" sz="1600" b="1" u="sng" dirty="0">
                <a:latin typeface="Corbel" panose="020B0503020204020204" pitchFamily="34" charset="0"/>
              </a:rPr>
              <a:t>Flags</a:t>
            </a:r>
            <a:r>
              <a:rPr lang="en-US" altLang="en-US" sz="1600" dirty="0">
                <a:latin typeface="Corbel" panose="020B0503020204020204" pitchFamily="34" charset="0"/>
              </a:rPr>
              <a:t> specify additional formatting options. In the Format example, the + flag specifies that the number should always be formatted with a sign, and the 0 flag specifies that 0 is the padding character. Other flags include - (pad on the right) and , (format number with locale-specific thousands separators). Note that some flags cannot be used with certain other flags or with certain conversions.</a:t>
            </a:r>
          </a:p>
          <a:p>
            <a:pPr marL="0" lvl="0" indent="0" eaLnBrk="0" fontAlgn="base" hangingPunct="0">
              <a:lnSpc>
                <a:spcPct val="100000"/>
              </a:lnSpc>
              <a:spcBef>
                <a:spcPct val="0"/>
              </a:spcBef>
              <a:spcAft>
                <a:spcPct val="0"/>
              </a:spcAft>
              <a:buNone/>
            </a:pPr>
            <a:r>
              <a:rPr lang="en-US" altLang="en-US" sz="1600" b="1" u="sng" dirty="0">
                <a:latin typeface="Corbel" panose="020B0503020204020204" pitchFamily="34" charset="0"/>
              </a:rPr>
              <a:t>The Argument Index </a:t>
            </a:r>
            <a:r>
              <a:rPr lang="en-US" altLang="en-US" sz="1600" dirty="0">
                <a:latin typeface="Corbel" panose="020B0503020204020204" pitchFamily="34" charset="0"/>
              </a:rPr>
              <a:t>allows you to explicitly match a designated argument. You can also specify &lt; to match the same argument as the previous specifier. Thus the example could have said: </a:t>
            </a:r>
            <a:r>
              <a:rPr lang="en-US" altLang="en-US" sz="1600" dirty="0" err="1">
                <a:latin typeface="Corbel" panose="020B0503020204020204" pitchFamily="34" charset="0"/>
              </a:rPr>
              <a:t>System.out.format</a:t>
            </a:r>
            <a:r>
              <a:rPr lang="en-US" altLang="en-US" sz="1600" dirty="0">
                <a:latin typeface="Corbel" panose="020B0503020204020204" pitchFamily="34" charset="0"/>
              </a:rPr>
              <a:t>("%f, %&lt;+020.10f %n", </a:t>
            </a:r>
            <a:r>
              <a:rPr lang="en-US" altLang="en-US" sz="1600" dirty="0" err="1">
                <a:latin typeface="Corbel" panose="020B0503020204020204" pitchFamily="34" charset="0"/>
              </a:rPr>
              <a:t>Math.PI</a:t>
            </a:r>
            <a:r>
              <a:rPr lang="en-US" altLang="en-US" sz="1600" dirty="0">
                <a:latin typeface="Corbel" panose="020B0503020204020204" pitchFamily="34" charset="0"/>
              </a:rPr>
              <a:t>);</a:t>
            </a:r>
          </a:p>
        </p:txBody>
      </p:sp>
      <p:pic>
        <p:nvPicPr>
          <p:cNvPr id="4" name="Picture 3"/>
          <p:cNvPicPr>
            <a:picLocks noChangeAspect="1"/>
          </p:cNvPicPr>
          <p:nvPr/>
        </p:nvPicPr>
        <p:blipFill>
          <a:blip r:embed="rId3"/>
          <a:stretch>
            <a:fillRect/>
          </a:stretch>
        </p:blipFill>
        <p:spPr>
          <a:xfrm>
            <a:off x="6626033" y="1564660"/>
            <a:ext cx="5240572" cy="1330939"/>
          </a:xfrm>
          <a:prstGeom prst="rect">
            <a:avLst/>
          </a:prstGeom>
        </p:spPr>
      </p:pic>
      <p:pic>
        <p:nvPicPr>
          <p:cNvPr id="8" name="Picture 7"/>
          <p:cNvPicPr>
            <a:picLocks noChangeAspect="1"/>
          </p:cNvPicPr>
          <p:nvPr/>
        </p:nvPicPr>
        <p:blipFill>
          <a:blip r:embed="rId4"/>
          <a:stretch>
            <a:fillRect/>
          </a:stretch>
        </p:blipFill>
        <p:spPr>
          <a:xfrm>
            <a:off x="6470072" y="3287097"/>
            <a:ext cx="5552495" cy="2795048"/>
          </a:xfrm>
          <a:prstGeom prst="rect">
            <a:avLst/>
          </a:prstGeom>
        </p:spPr>
      </p:pic>
    </p:spTree>
    <p:extLst>
      <p:ext uri="{BB962C8B-B14F-4D97-AF65-F5344CB8AC3E}">
        <p14:creationId xmlns:p14="http://schemas.microsoft.com/office/powerpoint/2010/main" val="2505690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899" y="2971806"/>
            <a:ext cx="3638551" cy="1684150"/>
          </a:xfrm>
        </p:spPr>
        <p:txBody>
          <a:bodyPr/>
          <a:lstStyle/>
          <a:p>
            <a:r>
              <a:rPr lang="en-US" dirty="0"/>
              <a:t>Java-File OPS</a:t>
            </a:r>
          </a:p>
        </p:txBody>
      </p:sp>
      <p:sp>
        <p:nvSpPr>
          <p:cNvPr id="3" name="Text Placeholder 2"/>
          <p:cNvSpPr>
            <a:spLocks noGrp="1"/>
          </p:cNvSpPr>
          <p:nvPr>
            <p:ph type="body" idx="1"/>
          </p:nvPr>
        </p:nvSpPr>
        <p:spPr>
          <a:xfrm>
            <a:off x="1104899" y="4655956"/>
            <a:ext cx="3752851" cy="509750"/>
          </a:xfrm>
        </p:spPr>
        <p:txBody>
          <a:bodyPr/>
          <a:lstStyle/>
          <a:p>
            <a:r>
              <a:rPr lang="en-US" dirty="0"/>
              <a:t>Row, Row </a:t>
            </a:r>
            <a:r>
              <a:rPr lang="en-US" dirty="0" err="1"/>
              <a:t>Row</a:t>
            </a:r>
            <a:r>
              <a:rPr lang="en-US" dirty="0"/>
              <a:t> your I/P &amp; O/P</a:t>
            </a:r>
          </a:p>
        </p:txBody>
      </p:sp>
      <p:pic>
        <p:nvPicPr>
          <p:cNvPr id="1026" name="Picture 2" descr="Image result for java byte stre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3375" y="1538980"/>
            <a:ext cx="6457950" cy="3371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611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Files I/O in Java</a:t>
            </a:r>
          </a:p>
        </p:txBody>
      </p:sp>
      <p:sp>
        <p:nvSpPr>
          <p:cNvPr id="5" name="Content Placeholder 4"/>
          <p:cNvSpPr>
            <a:spLocks noGrp="1"/>
          </p:cNvSpPr>
          <p:nvPr>
            <p:ph idx="1"/>
          </p:nvPr>
        </p:nvSpPr>
        <p:spPr>
          <a:xfrm>
            <a:off x="235129" y="1321962"/>
            <a:ext cx="6221089" cy="5536038"/>
          </a:xfrm>
        </p:spPr>
        <p:txBody>
          <a:bodyPr>
            <a:noAutofit/>
          </a:bodyPr>
          <a:lstStyle/>
          <a:p>
            <a:pPr eaLnBrk="0" fontAlgn="base" hangingPunct="0">
              <a:lnSpc>
                <a:spcPct val="150000"/>
              </a:lnSpc>
              <a:spcBef>
                <a:spcPct val="0"/>
              </a:spcBef>
              <a:spcAft>
                <a:spcPct val="0"/>
              </a:spcAft>
            </a:pPr>
            <a:r>
              <a:rPr lang="en-US" dirty="0">
                <a:latin typeface="Corbel" panose="020B0503020204020204" pitchFamily="34" charset="0"/>
              </a:rPr>
              <a:t>There are a wide array of file I/O methods to choose from. To help make sense of the API, the following diagram arranges the file I/O methods by complexity</a:t>
            </a:r>
            <a:endParaRPr lang="en-US" altLang="en-US" sz="1800" dirty="0">
              <a:solidFill>
                <a:srgbClr val="000000"/>
              </a:solidFill>
              <a:latin typeface="Corbel" panose="020B0503020204020204" pitchFamily="34" charset="0"/>
              <a:cs typeface="Arial" panose="020B0604020202020204" pitchFamily="34" charset="0"/>
            </a:endParaRPr>
          </a:p>
        </p:txBody>
      </p:sp>
      <p:pic>
        <p:nvPicPr>
          <p:cNvPr id="3" name="Picture 2"/>
          <p:cNvPicPr>
            <a:picLocks noChangeAspect="1"/>
          </p:cNvPicPr>
          <p:nvPr/>
        </p:nvPicPr>
        <p:blipFill>
          <a:blip r:embed="rId3"/>
          <a:stretch>
            <a:fillRect/>
          </a:stretch>
        </p:blipFill>
        <p:spPr>
          <a:xfrm>
            <a:off x="446916" y="3190442"/>
            <a:ext cx="5648325" cy="2943225"/>
          </a:xfrm>
          <a:prstGeom prst="rect">
            <a:avLst/>
          </a:prstGeom>
        </p:spPr>
      </p:pic>
      <p:sp>
        <p:nvSpPr>
          <p:cNvPr id="4" name="Rectangle 3"/>
          <p:cNvSpPr/>
          <p:nvPr/>
        </p:nvSpPr>
        <p:spPr>
          <a:xfrm>
            <a:off x="6192982" y="1343782"/>
            <a:ext cx="5638800" cy="5450851"/>
          </a:xfrm>
          <a:prstGeom prst="rect">
            <a:avLst/>
          </a:prstGeom>
        </p:spPr>
        <p:txBody>
          <a:bodyPr wrap="square">
            <a:spAutoFit/>
          </a:bodyPr>
          <a:lstStyle/>
          <a:p>
            <a:pPr>
              <a:lnSpc>
                <a:spcPct val="150000"/>
              </a:lnSpc>
            </a:pPr>
            <a:r>
              <a:rPr lang="en-US" dirty="0">
                <a:latin typeface="Corbel" panose="020B0503020204020204" pitchFamily="34" charset="0"/>
              </a:rPr>
              <a:t>On the far left of the diagram are the utility methods </a:t>
            </a:r>
          </a:p>
          <a:p>
            <a:pPr marL="285750" indent="-285750">
              <a:lnSpc>
                <a:spcPct val="150000"/>
              </a:lnSpc>
              <a:buFont typeface="Arial" panose="020B0604020202020204" pitchFamily="34" charset="0"/>
              <a:buChar char="•"/>
            </a:pPr>
            <a:r>
              <a:rPr lang="en-US" b="1" u="sng" dirty="0" err="1">
                <a:latin typeface="Corbel" panose="020B0503020204020204" pitchFamily="34" charset="0"/>
              </a:rPr>
              <a:t>readAllBytes</a:t>
            </a:r>
            <a:r>
              <a:rPr lang="en-US" b="1" u="sng" dirty="0">
                <a:latin typeface="Corbel" panose="020B0503020204020204" pitchFamily="34" charset="0"/>
              </a:rPr>
              <a:t>, </a:t>
            </a:r>
            <a:r>
              <a:rPr lang="en-US" b="1" u="sng" dirty="0" err="1">
                <a:latin typeface="Corbel" panose="020B0503020204020204" pitchFamily="34" charset="0"/>
              </a:rPr>
              <a:t>readAllLines</a:t>
            </a:r>
            <a:r>
              <a:rPr lang="en-US" dirty="0">
                <a:latin typeface="Corbel" panose="020B0503020204020204" pitchFamily="34" charset="0"/>
              </a:rPr>
              <a:t>, and the write methods, designed for simple, common cases. </a:t>
            </a:r>
          </a:p>
          <a:p>
            <a:pPr marL="285750" indent="-285750">
              <a:lnSpc>
                <a:spcPct val="150000"/>
              </a:lnSpc>
              <a:buFont typeface="Arial" panose="020B0604020202020204" pitchFamily="34" charset="0"/>
              <a:buChar char="•"/>
            </a:pPr>
            <a:r>
              <a:rPr lang="en-US" b="1" u="sng" dirty="0" err="1">
                <a:latin typeface="Corbel" panose="020B0503020204020204" pitchFamily="34" charset="0"/>
              </a:rPr>
              <a:t>newBufferedReader</a:t>
            </a:r>
            <a:r>
              <a:rPr lang="en-US" b="1" u="sng" dirty="0">
                <a:latin typeface="Corbel" panose="020B0503020204020204" pitchFamily="34" charset="0"/>
              </a:rPr>
              <a:t>, </a:t>
            </a:r>
            <a:r>
              <a:rPr lang="en-US" b="1" u="sng" dirty="0" err="1">
                <a:latin typeface="Corbel" panose="020B0503020204020204" pitchFamily="34" charset="0"/>
              </a:rPr>
              <a:t>newBufferedWriter</a:t>
            </a:r>
            <a:r>
              <a:rPr lang="en-US" dirty="0">
                <a:latin typeface="Corbel" panose="020B0503020204020204" pitchFamily="34" charset="0"/>
              </a:rPr>
              <a:t> The methods used to iterate over a stream or lines of text </a:t>
            </a:r>
          </a:p>
          <a:p>
            <a:pPr marL="285750" indent="-285750">
              <a:lnSpc>
                <a:spcPct val="150000"/>
              </a:lnSpc>
              <a:buFont typeface="Arial" panose="020B0604020202020204" pitchFamily="34" charset="0"/>
              <a:buChar char="•"/>
            </a:pPr>
            <a:r>
              <a:rPr lang="en-US" b="1" dirty="0" err="1">
                <a:latin typeface="Corbel" panose="020B0503020204020204" pitchFamily="34" charset="0"/>
              </a:rPr>
              <a:t>newInputStream</a:t>
            </a:r>
            <a:r>
              <a:rPr lang="en-US" b="1" dirty="0">
                <a:latin typeface="Corbel" panose="020B0503020204020204" pitchFamily="34" charset="0"/>
              </a:rPr>
              <a:t> and </a:t>
            </a:r>
            <a:r>
              <a:rPr lang="en-US" b="1" dirty="0" err="1">
                <a:latin typeface="Corbel" panose="020B0503020204020204" pitchFamily="34" charset="0"/>
              </a:rPr>
              <a:t>newOutputStream</a:t>
            </a:r>
            <a:r>
              <a:rPr lang="en-US" b="1" dirty="0">
                <a:latin typeface="Corbel" panose="020B0503020204020204" pitchFamily="34" charset="0"/>
              </a:rPr>
              <a:t> </a:t>
            </a:r>
            <a:r>
              <a:rPr lang="en-US" dirty="0">
                <a:latin typeface="Corbel" panose="020B0503020204020204" pitchFamily="34" charset="0"/>
              </a:rPr>
              <a:t>These methods are interoperable with the java.io package. </a:t>
            </a:r>
          </a:p>
          <a:p>
            <a:pPr marL="285750" indent="-285750">
              <a:lnSpc>
                <a:spcPct val="150000"/>
              </a:lnSpc>
              <a:buFont typeface="Arial" panose="020B0604020202020204" pitchFamily="34" charset="0"/>
              <a:buChar char="•"/>
            </a:pPr>
            <a:r>
              <a:rPr lang="en-US" b="1" dirty="0" err="1">
                <a:latin typeface="Corbel" panose="020B0503020204020204" pitchFamily="34" charset="0"/>
              </a:rPr>
              <a:t>newByteChannel</a:t>
            </a:r>
            <a:r>
              <a:rPr lang="en-US" b="1" dirty="0">
                <a:latin typeface="Corbel" panose="020B0503020204020204" pitchFamily="34" charset="0"/>
              </a:rPr>
              <a:t> </a:t>
            </a:r>
            <a:r>
              <a:rPr lang="en-US" dirty="0">
                <a:latin typeface="Corbel" panose="020B0503020204020204" pitchFamily="34" charset="0"/>
              </a:rPr>
              <a:t>method for dealing with </a:t>
            </a:r>
            <a:r>
              <a:rPr lang="en-US" dirty="0" err="1">
                <a:latin typeface="Corbel" panose="020B0503020204020204" pitchFamily="34" charset="0"/>
              </a:rPr>
              <a:t>ByteChannels</a:t>
            </a:r>
            <a:r>
              <a:rPr lang="en-US" dirty="0">
                <a:latin typeface="Corbel" panose="020B0503020204020204" pitchFamily="34" charset="0"/>
              </a:rPr>
              <a:t>, </a:t>
            </a:r>
            <a:r>
              <a:rPr lang="en-US" dirty="0" err="1">
                <a:latin typeface="Corbel" panose="020B0503020204020204" pitchFamily="34" charset="0"/>
              </a:rPr>
              <a:t>SeekableByteChannels</a:t>
            </a:r>
            <a:r>
              <a:rPr lang="en-US" dirty="0">
                <a:latin typeface="Corbel" panose="020B0503020204020204" pitchFamily="34" charset="0"/>
              </a:rPr>
              <a:t>, and </a:t>
            </a:r>
            <a:r>
              <a:rPr lang="en-US" dirty="0" err="1">
                <a:latin typeface="Corbel" panose="020B0503020204020204" pitchFamily="34" charset="0"/>
              </a:rPr>
              <a:t>ByteBuffers</a:t>
            </a:r>
            <a:r>
              <a:rPr lang="en-US" dirty="0">
                <a:latin typeface="Corbel" panose="020B0503020204020204" pitchFamily="34" charset="0"/>
              </a:rPr>
              <a:t> </a:t>
            </a:r>
          </a:p>
          <a:p>
            <a:pPr marL="285750" indent="-285750">
              <a:lnSpc>
                <a:spcPct val="150000"/>
              </a:lnSpc>
              <a:buFont typeface="Arial" panose="020B0604020202020204" pitchFamily="34" charset="0"/>
              <a:buChar char="•"/>
            </a:pPr>
            <a:r>
              <a:rPr lang="en-US" dirty="0">
                <a:latin typeface="Corbel" panose="020B0503020204020204" pitchFamily="34" charset="0"/>
              </a:rPr>
              <a:t>Finally, on the far right are the methods that use </a:t>
            </a:r>
            <a:r>
              <a:rPr lang="en-US" b="1" dirty="0" err="1">
                <a:latin typeface="Corbel" panose="020B0503020204020204" pitchFamily="34" charset="0"/>
              </a:rPr>
              <a:t>FileChannel</a:t>
            </a:r>
            <a:r>
              <a:rPr lang="en-US" dirty="0">
                <a:latin typeface="Corbel" panose="020B0503020204020204" pitchFamily="34" charset="0"/>
              </a:rPr>
              <a:t> for advanced applications needing file locking or memory-mapped I/O.</a:t>
            </a:r>
          </a:p>
        </p:txBody>
      </p:sp>
    </p:spTree>
    <p:extLst>
      <p:ext uri="{BB962C8B-B14F-4D97-AF65-F5344CB8AC3E}">
        <p14:creationId xmlns:p14="http://schemas.microsoft.com/office/powerpoint/2010/main" val="283272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Files I/O in Java</a:t>
            </a:r>
          </a:p>
        </p:txBody>
      </p:sp>
      <p:pic>
        <p:nvPicPr>
          <p:cNvPr id="7" name="Content Placeholder 6"/>
          <p:cNvPicPr>
            <a:picLocks noGrp="1" noChangeAspect="1"/>
          </p:cNvPicPr>
          <p:nvPr>
            <p:ph idx="1"/>
          </p:nvPr>
        </p:nvPicPr>
        <p:blipFill>
          <a:blip r:embed="rId3"/>
          <a:stretch>
            <a:fillRect/>
          </a:stretch>
        </p:blipFill>
        <p:spPr>
          <a:xfrm>
            <a:off x="286801" y="1392382"/>
            <a:ext cx="11115490" cy="5242466"/>
          </a:xfrm>
          <a:prstGeom prst="rect">
            <a:avLst/>
          </a:prstGeom>
        </p:spPr>
      </p:pic>
    </p:spTree>
    <p:extLst>
      <p:ext uri="{BB962C8B-B14F-4D97-AF65-F5344CB8AC3E}">
        <p14:creationId xmlns:p14="http://schemas.microsoft.com/office/powerpoint/2010/main" val="99197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Files I/O in Java</a:t>
            </a:r>
          </a:p>
        </p:txBody>
      </p:sp>
      <p:pic>
        <p:nvPicPr>
          <p:cNvPr id="4" name="Content Placeholder 3"/>
          <p:cNvPicPr>
            <a:picLocks noGrp="1" noChangeAspect="1"/>
          </p:cNvPicPr>
          <p:nvPr>
            <p:ph idx="1"/>
          </p:nvPr>
        </p:nvPicPr>
        <p:blipFill>
          <a:blip r:embed="rId3"/>
          <a:stretch>
            <a:fillRect/>
          </a:stretch>
        </p:blipFill>
        <p:spPr>
          <a:xfrm>
            <a:off x="462634" y="1392382"/>
            <a:ext cx="11133621" cy="5463582"/>
          </a:xfrm>
          <a:prstGeom prst="rect">
            <a:avLst/>
          </a:prstGeom>
        </p:spPr>
      </p:pic>
    </p:spTree>
    <p:extLst>
      <p:ext uri="{BB962C8B-B14F-4D97-AF65-F5344CB8AC3E}">
        <p14:creationId xmlns:p14="http://schemas.microsoft.com/office/powerpoint/2010/main" val="3057801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Questions ?</a:t>
            </a:r>
          </a:p>
        </p:txBody>
      </p:sp>
      <p:sp>
        <p:nvSpPr>
          <p:cNvPr id="3" name="Subtitle 2"/>
          <p:cNvSpPr>
            <a:spLocks noGrp="1"/>
          </p:cNvSpPr>
          <p:nvPr>
            <p:ph type="subTitle" idx="1"/>
          </p:nvPr>
        </p:nvSpPr>
        <p:spPr/>
        <p:txBody>
          <a:bodyPr/>
          <a:lstStyle/>
          <a:p>
            <a:r>
              <a:rPr lang="en-US" dirty="0"/>
              <a:t>You can contact me @</a:t>
            </a:r>
          </a:p>
          <a:p>
            <a:r>
              <a:rPr lang="en-US" dirty="0">
                <a:hlinkClick r:id="rId2"/>
              </a:rPr>
              <a:t>avadekkedhil@wilp.bits-pilani.ac.in</a:t>
            </a:r>
            <a:endParaRPr lang="en-US" dirty="0"/>
          </a:p>
          <a:p>
            <a:r>
              <a:rPr lang="en-US" dirty="0"/>
              <a:t>9881300394</a:t>
            </a:r>
          </a:p>
        </p:txBody>
      </p:sp>
      <p:pic>
        <p:nvPicPr>
          <p:cNvPr id="5" name="Picture Placeholder 4"/>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4527" r="14527"/>
          <a:stretch>
            <a:fillRect/>
          </a:stretch>
        </p:blipFill>
        <p:spPr/>
      </p:pic>
    </p:spTree>
    <p:extLst>
      <p:ext uri="{BB962C8B-B14F-4D97-AF65-F5344CB8AC3E}">
        <p14:creationId xmlns:p14="http://schemas.microsoft.com/office/powerpoint/2010/main" val="411076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8CDDBB83-77C1-4099-A0AA-289882E745E2}">
  <ds:schemaRefs>
    <ds:schemaRef ds:uri="http://schemas.microsoft.com/office/2006/metadata/properties"/>
    <ds:schemaRef ds:uri="http://schemas.microsoft.com/office/infopath/2007/PartnerControls"/>
    <ds:schemaRef ds:uri="4873beb7-5857-4685-be1f-d57550cc96cc"/>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5737</TotalTime>
  <Words>4872</Words>
  <Application>Microsoft Office PowerPoint</Application>
  <PresentationFormat>Widescreen</PresentationFormat>
  <Paragraphs>326</Paragraphs>
  <Slides>38</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Corbel</vt:lpstr>
      <vt:lpstr>Euphemia</vt:lpstr>
      <vt:lpstr>Monaco</vt:lpstr>
      <vt:lpstr>Plantagenet Cherokee</vt:lpstr>
      <vt:lpstr>Wingdings</vt:lpstr>
      <vt:lpstr>Academic Literature 16x9</vt:lpstr>
      <vt:lpstr>Object Oriented Programming &amp; Design</vt:lpstr>
      <vt:lpstr>Agenda</vt:lpstr>
      <vt:lpstr>Java-Packages</vt:lpstr>
      <vt:lpstr>Packages – Introduction – The What?.</vt:lpstr>
      <vt:lpstr>Packages – Introduction – Types?.</vt:lpstr>
      <vt:lpstr>Packages – Introduction – Types?.</vt:lpstr>
      <vt:lpstr>Packages – Introduction – The How?.</vt:lpstr>
      <vt:lpstr>Packages – Introduction – How?.</vt:lpstr>
      <vt:lpstr>Packages – Introduction – How?.</vt:lpstr>
      <vt:lpstr>Packages – Import.</vt:lpstr>
      <vt:lpstr>Packages – Import.</vt:lpstr>
      <vt:lpstr>Packages – Static Import.</vt:lpstr>
      <vt:lpstr>Packages – Points on Import Statement</vt:lpstr>
      <vt:lpstr>Packages – Points on Import Statement</vt:lpstr>
      <vt:lpstr>Java-Streams</vt:lpstr>
      <vt:lpstr>Streams in Java</vt:lpstr>
      <vt:lpstr>Streams in Java</vt:lpstr>
      <vt:lpstr>I/O : Streams</vt:lpstr>
      <vt:lpstr>Byte Streams</vt:lpstr>
      <vt:lpstr>Byte Stream - Examples</vt:lpstr>
      <vt:lpstr>Byte Stream - Examples</vt:lpstr>
      <vt:lpstr>Byte Stream - Examples</vt:lpstr>
      <vt:lpstr>Character Streams</vt:lpstr>
      <vt:lpstr>Character Stream - Examples</vt:lpstr>
      <vt:lpstr>Character Stream - Examples</vt:lpstr>
      <vt:lpstr>Buffered Stream</vt:lpstr>
      <vt:lpstr>Buffered Stream</vt:lpstr>
      <vt:lpstr>Scanning &amp; Formatting</vt:lpstr>
      <vt:lpstr>Scanning &amp; Formatting</vt:lpstr>
      <vt:lpstr>Scanner Example</vt:lpstr>
      <vt:lpstr>Scanning &amp; Formatting</vt:lpstr>
      <vt:lpstr>Scanning &amp; Formatting</vt:lpstr>
      <vt:lpstr>Scanning &amp; Formatting</vt:lpstr>
      <vt:lpstr>Java-File OPS</vt:lpstr>
      <vt:lpstr>Files I/O in Java</vt:lpstr>
      <vt:lpstr>Files I/O in Java</vt:lpstr>
      <vt:lpstr>Files I/O in Java</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&amp; Design</dc:title>
  <dc:creator>Arun Vadekkedhil</dc:creator>
  <cp:lastModifiedBy>Arun Vadekkedhil</cp:lastModifiedBy>
  <cp:revision>174</cp:revision>
  <dcterms:created xsi:type="dcterms:W3CDTF">2017-10-13T04:49:25Z</dcterms:created>
  <dcterms:modified xsi:type="dcterms:W3CDTF">2019-11-17T02:26:13Z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