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5"/>
  </p:notesMasterIdLst>
  <p:handoutMasterIdLst>
    <p:handoutMasterId r:id="rId56"/>
  </p:handoutMasterIdLst>
  <p:sldIdLst>
    <p:sldId id="256" r:id="rId5"/>
    <p:sldId id="257" r:id="rId6"/>
    <p:sldId id="323" r:id="rId7"/>
    <p:sldId id="324" r:id="rId8"/>
    <p:sldId id="325" r:id="rId9"/>
    <p:sldId id="326" r:id="rId10"/>
    <p:sldId id="287" r:id="rId11"/>
    <p:sldId id="288" r:id="rId12"/>
    <p:sldId id="327" r:id="rId13"/>
    <p:sldId id="328" r:id="rId14"/>
    <p:sldId id="329" r:id="rId15"/>
    <p:sldId id="330" r:id="rId16"/>
    <p:sldId id="331" r:id="rId17"/>
    <p:sldId id="332" r:id="rId18"/>
    <p:sldId id="333" r:id="rId19"/>
    <p:sldId id="258" r:id="rId20"/>
    <p:sldId id="299" r:id="rId21"/>
    <p:sldId id="334" r:id="rId22"/>
    <p:sldId id="335" r:id="rId23"/>
    <p:sldId id="336" r:id="rId24"/>
    <p:sldId id="337" r:id="rId25"/>
    <p:sldId id="338" r:id="rId26"/>
    <p:sldId id="339" r:id="rId27"/>
    <p:sldId id="340" r:id="rId28"/>
    <p:sldId id="341" r:id="rId29"/>
    <p:sldId id="342" r:id="rId30"/>
    <p:sldId id="343" r:id="rId31"/>
    <p:sldId id="310" r:id="rId32"/>
    <p:sldId id="345" r:id="rId33"/>
    <p:sldId id="346" r:id="rId34"/>
    <p:sldId id="344" r:id="rId35"/>
    <p:sldId id="347" r:id="rId36"/>
    <p:sldId id="348" r:id="rId37"/>
    <p:sldId id="365" r:id="rId38"/>
    <p:sldId id="349" r:id="rId39"/>
    <p:sldId id="350" r:id="rId40"/>
    <p:sldId id="351" r:id="rId41"/>
    <p:sldId id="352" r:id="rId42"/>
    <p:sldId id="353" r:id="rId43"/>
    <p:sldId id="354" r:id="rId44"/>
    <p:sldId id="356" r:id="rId45"/>
    <p:sldId id="357" r:id="rId46"/>
    <p:sldId id="358" r:id="rId47"/>
    <p:sldId id="359" r:id="rId48"/>
    <p:sldId id="361" r:id="rId49"/>
    <p:sldId id="360" r:id="rId50"/>
    <p:sldId id="362" r:id="rId51"/>
    <p:sldId id="363" r:id="rId52"/>
    <p:sldId id="364" r:id="rId53"/>
    <p:sldId id="296"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D55B9E-1BC9-4E5C-8D99-2C252CA35B81}" v="198" dt="2019-11-10T01:04:42.4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153" autoAdjust="0"/>
  </p:normalViewPr>
  <p:slideViewPr>
    <p:cSldViewPr snapToGrid="0" showGuides="1">
      <p:cViewPr varScale="1">
        <p:scale>
          <a:sx n="79" d="100"/>
          <a:sy n="79" d="100"/>
        </p:scale>
        <p:origin x="125" y="86"/>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Vadekkedhil" userId="42e6ed11-22d2-49de-94d6-fd78e15c9969" providerId="ADAL" clId="{BDD55B9E-1BC9-4E5C-8D99-2C252CA35B81}"/>
    <pc:docChg chg="custSel mod addSld delSld modSld sldOrd">
      <pc:chgData name="Arun Vadekkedhil" userId="42e6ed11-22d2-49de-94d6-fd78e15c9969" providerId="ADAL" clId="{BDD55B9E-1BC9-4E5C-8D99-2C252CA35B81}" dt="2019-11-10T01:04:51.937" v="427" actId="1076"/>
      <pc:docMkLst>
        <pc:docMk/>
      </pc:docMkLst>
      <pc:sldChg chg="modSp">
        <pc:chgData name="Arun Vadekkedhil" userId="42e6ed11-22d2-49de-94d6-fd78e15c9969" providerId="ADAL" clId="{BDD55B9E-1BC9-4E5C-8D99-2C252CA35B81}" dt="2019-10-19T14:41:30.634" v="0" actId="6549"/>
        <pc:sldMkLst>
          <pc:docMk/>
          <pc:sldMk cId="1654255301" sldId="257"/>
        </pc:sldMkLst>
        <pc:spChg chg="mod">
          <ac:chgData name="Arun Vadekkedhil" userId="42e6ed11-22d2-49de-94d6-fd78e15c9969" providerId="ADAL" clId="{BDD55B9E-1BC9-4E5C-8D99-2C252CA35B81}" dt="2019-10-19T14:41:30.634" v="0" actId="6549"/>
          <ac:spMkLst>
            <pc:docMk/>
            <pc:sldMk cId="1654255301" sldId="257"/>
            <ac:spMk id="14" creationId="{00000000-0000-0000-0000-000000000000}"/>
          </ac:spMkLst>
        </pc:spChg>
      </pc:sldChg>
      <pc:sldChg chg="modSp add">
        <pc:chgData name="Arun Vadekkedhil" userId="42e6ed11-22d2-49de-94d6-fd78e15c9969" providerId="ADAL" clId="{BDD55B9E-1BC9-4E5C-8D99-2C252CA35B81}" dt="2019-10-19T14:47:44.575" v="13" actId="115"/>
        <pc:sldMkLst>
          <pc:docMk/>
          <pc:sldMk cId="3111565821" sldId="287"/>
        </pc:sldMkLst>
        <pc:spChg chg="mod">
          <ac:chgData name="Arun Vadekkedhil" userId="42e6ed11-22d2-49de-94d6-fd78e15c9969" providerId="ADAL" clId="{BDD55B9E-1BC9-4E5C-8D99-2C252CA35B81}" dt="2019-10-19T14:47:44.575" v="13" actId="115"/>
          <ac:spMkLst>
            <pc:docMk/>
            <pc:sldMk cId="3111565821" sldId="287"/>
            <ac:spMk id="3" creationId="{00000000-0000-0000-0000-000000000000}"/>
          </ac:spMkLst>
        </pc:spChg>
      </pc:sldChg>
      <pc:sldChg chg="modSp add">
        <pc:chgData name="Arun Vadekkedhil" userId="42e6ed11-22d2-49de-94d6-fd78e15c9969" providerId="ADAL" clId="{BDD55B9E-1BC9-4E5C-8D99-2C252CA35B81}" dt="2019-10-19T15:47:30.069" v="34" actId="6549"/>
        <pc:sldMkLst>
          <pc:docMk/>
          <pc:sldMk cId="2807405077" sldId="288"/>
        </pc:sldMkLst>
        <pc:spChg chg="mod">
          <ac:chgData name="Arun Vadekkedhil" userId="42e6ed11-22d2-49de-94d6-fd78e15c9969" providerId="ADAL" clId="{BDD55B9E-1BC9-4E5C-8D99-2C252CA35B81}" dt="2019-10-19T15:47:30.069" v="34" actId="6549"/>
          <ac:spMkLst>
            <pc:docMk/>
            <pc:sldMk cId="2807405077" sldId="288"/>
            <ac:spMk id="3" creationId="{00000000-0000-0000-0000-000000000000}"/>
          </ac:spMkLst>
        </pc:spChg>
      </pc:sldChg>
      <pc:sldChg chg="del">
        <pc:chgData name="Arun Vadekkedhil" userId="42e6ed11-22d2-49de-94d6-fd78e15c9969" providerId="ADAL" clId="{BDD55B9E-1BC9-4E5C-8D99-2C252CA35B81}" dt="2019-10-19T14:41:33.800" v="1" actId="2696"/>
        <pc:sldMkLst>
          <pc:docMk/>
          <pc:sldMk cId="3106495078" sldId="322"/>
        </pc:sldMkLst>
      </pc:sldChg>
      <pc:sldChg chg="modSp ord">
        <pc:chgData name="Arun Vadekkedhil" userId="42e6ed11-22d2-49de-94d6-fd78e15c9969" providerId="ADAL" clId="{BDD55B9E-1BC9-4E5C-8D99-2C252CA35B81}" dt="2019-10-20T01:08:36.391" v="49" actId="1037"/>
        <pc:sldMkLst>
          <pc:docMk/>
          <pc:sldMk cId="3911884274" sldId="324"/>
        </pc:sldMkLst>
        <pc:spChg chg="mod">
          <ac:chgData name="Arun Vadekkedhil" userId="42e6ed11-22d2-49de-94d6-fd78e15c9969" providerId="ADAL" clId="{BDD55B9E-1BC9-4E5C-8D99-2C252CA35B81}" dt="2019-10-20T01:08:21.692" v="42" actId="1076"/>
          <ac:spMkLst>
            <pc:docMk/>
            <pc:sldMk cId="3911884274" sldId="324"/>
            <ac:spMk id="3" creationId="{00000000-0000-0000-0000-000000000000}"/>
          </ac:spMkLst>
        </pc:spChg>
        <pc:picChg chg="mod">
          <ac:chgData name="Arun Vadekkedhil" userId="42e6ed11-22d2-49de-94d6-fd78e15c9969" providerId="ADAL" clId="{BDD55B9E-1BC9-4E5C-8D99-2C252CA35B81}" dt="2019-10-20T01:08:36.391" v="49" actId="1037"/>
          <ac:picMkLst>
            <pc:docMk/>
            <pc:sldMk cId="3911884274" sldId="324"/>
            <ac:picMk id="4" creationId="{00000000-0000-0000-0000-000000000000}"/>
          </ac:picMkLst>
        </pc:picChg>
      </pc:sldChg>
      <pc:sldChg chg="modSp ord">
        <pc:chgData name="Arun Vadekkedhil" userId="42e6ed11-22d2-49de-94d6-fd78e15c9969" providerId="ADAL" clId="{BDD55B9E-1BC9-4E5C-8D99-2C252CA35B81}" dt="2019-10-20T01:09:46.736" v="53" actId="14100"/>
        <pc:sldMkLst>
          <pc:docMk/>
          <pc:sldMk cId="1171661541" sldId="325"/>
        </pc:sldMkLst>
        <pc:picChg chg="mod">
          <ac:chgData name="Arun Vadekkedhil" userId="42e6ed11-22d2-49de-94d6-fd78e15c9969" providerId="ADAL" clId="{BDD55B9E-1BC9-4E5C-8D99-2C252CA35B81}" dt="2019-10-20T01:09:46.736" v="53" actId="14100"/>
          <ac:picMkLst>
            <pc:docMk/>
            <pc:sldMk cId="1171661541" sldId="325"/>
            <ac:picMk id="3074" creationId="{00000000-0000-0000-0000-000000000000}"/>
          </ac:picMkLst>
        </pc:picChg>
      </pc:sldChg>
      <pc:sldChg chg="modSp ord">
        <pc:chgData name="Arun Vadekkedhil" userId="42e6ed11-22d2-49de-94d6-fd78e15c9969" providerId="ADAL" clId="{BDD55B9E-1BC9-4E5C-8D99-2C252CA35B81}" dt="2019-10-19T15:52:02.055" v="35" actId="20577"/>
        <pc:sldMkLst>
          <pc:docMk/>
          <pc:sldMk cId="2265277541" sldId="326"/>
        </pc:sldMkLst>
        <pc:spChg chg="mod">
          <ac:chgData name="Arun Vadekkedhil" userId="42e6ed11-22d2-49de-94d6-fd78e15c9969" providerId="ADAL" clId="{BDD55B9E-1BC9-4E5C-8D99-2C252CA35B81}" dt="2019-10-19T15:52:02.055" v="35" actId="20577"/>
          <ac:spMkLst>
            <pc:docMk/>
            <pc:sldMk cId="2265277541" sldId="326"/>
            <ac:spMk id="3" creationId="{00000000-0000-0000-0000-000000000000}"/>
          </ac:spMkLst>
        </pc:spChg>
      </pc:sldChg>
      <pc:sldChg chg="modSp">
        <pc:chgData name="Arun Vadekkedhil" userId="42e6ed11-22d2-49de-94d6-fd78e15c9969" providerId="ADAL" clId="{BDD55B9E-1BC9-4E5C-8D99-2C252CA35B81}" dt="2019-10-20T02:26:09.854" v="171" actId="20577"/>
        <pc:sldMkLst>
          <pc:docMk/>
          <pc:sldMk cId="3408814271" sldId="327"/>
        </pc:sldMkLst>
        <pc:spChg chg="mod">
          <ac:chgData name="Arun Vadekkedhil" userId="42e6ed11-22d2-49de-94d6-fd78e15c9969" providerId="ADAL" clId="{BDD55B9E-1BC9-4E5C-8D99-2C252CA35B81}" dt="2019-10-20T02:26:09.854" v="171" actId="20577"/>
          <ac:spMkLst>
            <pc:docMk/>
            <pc:sldMk cId="3408814271" sldId="327"/>
            <ac:spMk id="2" creationId="{00000000-0000-0000-0000-000000000000}"/>
          </ac:spMkLst>
        </pc:spChg>
      </pc:sldChg>
      <pc:sldChg chg="modSp">
        <pc:chgData name="Arun Vadekkedhil" userId="42e6ed11-22d2-49de-94d6-fd78e15c9969" providerId="ADAL" clId="{BDD55B9E-1BC9-4E5C-8D99-2C252CA35B81}" dt="2019-10-20T02:26:22.172" v="188" actId="20577"/>
        <pc:sldMkLst>
          <pc:docMk/>
          <pc:sldMk cId="230887148" sldId="328"/>
        </pc:sldMkLst>
        <pc:spChg chg="mod">
          <ac:chgData name="Arun Vadekkedhil" userId="42e6ed11-22d2-49de-94d6-fd78e15c9969" providerId="ADAL" clId="{BDD55B9E-1BC9-4E5C-8D99-2C252CA35B81}" dt="2019-10-20T02:26:22.172" v="188" actId="20577"/>
          <ac:spMkLst>
            <pc:docMk/>
            <pc:sldMk cId="230887148" sldId="328"/>
            <ac:spMk id="2" creationId="{00000000-0000-0000-0000-000000000000}"/>
          </ac:spMkLst>
        </pc:spChg>
        <pc:spChg chg="mod">
          <ac:chgData name="Arun Vadekkedhil" userId="42e6ed11-22d2-49de-94d6-fd78e15c9969" providerId="ADAL" clId="{BDD55B9E-1BC9-4E5C-8D99-2C252CA35B81}" dt="2019-10-20T02:25:59.720" v="156" actId="1076"/>
          <ac:spMkLst>
            <pc:docMk/>
            <pc:sldMk cId="230887148" sldId="328"/>
            <ac:spMk id="3" creationId="{00000000-0000-0000-0000-000000000000}"/>
          </ac:spMkLst>
        </pc:spChg>
      </pc:sldChg>
      <pc:sldChg chg="modSp">
        <pc:chgData name="Arun Vadekkedhil" userId="42e6ed11-22d2-49de-94d6-fd78e15c9969" providerId="ADAL" clId="{BDD55B9E-1BC9-4E5C-8D99-2C252CA35B81}" dt="2019-10-20T02:26:32.125" v="189"/>
        <pc:sldMkLst>
          <pc:docMk/>
          <pc:sldMk cId="4196609386" sldId="329"/>
        </pc:sldMkLst>
        <pc:spChg chg="mod">
          <ac:chgData name="Arun Vadekkedhil" userId="42e6ed11-22d2-49de-94d6-fd78e15c9969" providerId="ADAL" clId="{BDD55B9E-1BC9-4E5C-8D99-2C252CA35B81}" dt="2019-10-20T02:26:32.125" v="189"/>
          <ac:spMkLst>
            <pc:docMk/>
            <pc:sldMk cId="4196609386" sldId="329"/>
            <ac:spMk id="2" creationId="{00000000-0000-0000-0000-000000000000}"/>
          </ac:spMkLst>
        </pc:spChg>
      </pc:sldChg>
      <pc:sldChg chg="modSp">
        <pc:chgData name="Arun Vadekkedhil" userId="42e6ed11-22d2-49de-94d6-fd78e15c9969" providerId="ADAL" clId="{BDD55B9E-1BC9-4E5C-8D99-2C252CA35B81}" dt="2019-10-20T02:26:57.853" v="190" actId="207"/>
        <pc:sldMkLst>
          <pc:docMk/>
          <pc:sldMk cId="1616570139" sldId="330"/>
        </pc:sldMkLst>
        <pc:spChg chg="mod">
          <ac:chgData name="Arun Vadekkedhil" userId="42e6ed11-22d2-49de-94d6-fd78e15c9969" providerId="ADAL" clId="{BDD55B9E-1BC9-4E5C-8D99-2C252CA35B81}" dt="2019-10-20T02:26:57.853" v="190" actId="207"/>
          <ac:spMkLst>
            <pc:docMk/>
            <pc:sldMk cId="1616570139" sldId="330"/>
            <ac:spMk id="5" creationId="{00000000-0000-0000-0000-000000000000}"/>
          </ac:spMkLst>
        </pc:spChg>
      </pc:sldChg>
      <pc:sldChg chg="modSp modAnim">
        <pc:chgData name="Arun Vadekkedhil" userId="42e6ed11-22d2-49de-94d6-fd78e15c9969" providerId="ADAL" clId="{BDD55B9E-1BC9-4E5C-8D99-2C252CA35B81}" dt="2019-11-10T00:32:37.643" v="379" actId="1036"/>
        <pc:sldMkLst>
          <pc:docMk/>
          <pc:sldMk cId="20456895" sldId="341"/>
        </pc:sldMkLst>
        <pc:spChg chg="mod">
          <ac:chgData name="Arun Vadekkedhil" userId="42e6ed11-22d2-49de-94d6-fd78e15c9969" providerId="ADAL" clId="{BDD55B9E-1BC9-4E5C-8D99-2C252CA35B81}" dt="2019-11-10T00:32:37.643" v="379" actId="1036"/>
          <ac:spMkLst>
            <pc:docMk/>
            <pc:sldMk cId="20456895" sldId="341"/>
            <ac:spMk id="3" creationId="{00000000-0000-0000-0000-000000000000}"/>
          </ac:spMkLst>
        </pc:spChg>
        <pc:spChg chg="mod">
          <ac:chgData name="Arun Vadekkedhil" userId="42e6ed11-22d2-49de-94d6-fd78e15c9969" providerId="ADAL" clId="{BDD55B9E-1BC9-4E5C-8D99-2C252CA35B81}" dt="2019-11-10T00:32:21.681" v="378" actId="115"/>
          <ac:spMkLst>
            <pc:docMk/>
            <pc:sldMk cId="20456895" sldId="341"/>
            <ac:spMk id="6" creationId="{00000000-0000-0000-0000-000000000000}"/>
          </ac:spMkLst>
        </pc:spChg>
      </pc:sldChg>
      <pc:sldChg chg="modSp">
        <pc:chgData name="Arun Vadekkedhil" userId="42e6ed11-22d2-49de-94d6-fd78e15c9969" providerId="ADAL" clId="{BDD55B9E-1BC9-4E5C-8D99-2C252CA35B81}" dt="2019-11-10T00:35:48.902" v="401" actId="1037"/>
        <pc:sldMkLst>
          <pc:docMk/>
          <pc:sldMk cId="1706434075" sldId="346"/>
        </pc:sldMkLst>
        <pc:spChg chg="mod">
          <ac:chgData name="Arun Vadekkedhil" userId="42e6ed11-22d2-49de-94d6-fd78e15c9969" providerId="ADAL" clId="{BDD55B9E-1BC9-4E5C-8D99-2C252CA35B81}" dt="2019-11-10T00:35:48.902" v="401" actId="1037"/>
          <ac:spMkLst>
            <pc:docMk/>
            <pc:sldMk cId="1706434075" sldId="346"/>
            <ac:spMk id="3" creationId="{00000000-0000-0000-0000-000000000000}"/>
          </ac:spMkLst>
        </pc:spChg>
      </pc:sldChg>
      <pc:sldChg chg="addSp delSp modSp mod setBg">
        <pc:chgData name="Arun Vadekkedhil" userId="42e6ed11-22d2-49de-94d6-fd78e15c9969" providerId="ADAL" clId="{BDD55B9E-1BC9-4E5C-8D99-2C252CA35B81}" dt="2019-11-10T01:02:29.857" v="424" actId="113"/>
        <pc:sldMkLst>
          <pc:docMk/>
          <pc:sldMk cId="2181309827" sldId="349"/>
        </pc:sldMkLst>
        <pc:spChg chg="mod">
          <ac:chgData name="Arun Vadekkedhil" userId="42e6ed11-22d2-49de-94d6-fd78e15c9969" providerId="ADAL" clId="{BDD55B9E-1BC9-4E5C-8D99-2C252CA35B81}" dt="2019-11-10T01:02:06.920" v="422" actId="26606"/>
          <ac:spMkLst>
            <pc:docMk/>
            <pc:sldMk cId="2181309827" sldId="349"/>
            <ac:spMk id="2" creationId="{00000000-0000-0000-0000-000000000000}"/>
          </ac:spMkLst>
        </pc:spChg>
        <pc:spChg chg="del">
          <ac:chgData name="Arun Vadekkedhil" userId="42e6ed11-22d2-49de-94d6-fd78e15c9969" providerId="ADAL" clId="{BDD55B9E-1BC9-4E5C-8D99-2C252CA35B81}" dt="2019-11-10T01:02:06.920" v="422" actId="26606"/>
          <ac:spMkLst>
            <pc:docMk/>
            <pc:sldMk cId="2181309827" sldId="349"/>
            <ac:spMk id="3" creationId="{00000000-0000-0000-0000-000000000000}"/>
          </ac:spMkLst>
        </pc:spChg>
        <pc:graphicFrameChg chg="add mod">
          <ac:chgData name="Arun Vadekkedhil" userId="42e6ed11-22d2-49de-94d6-fd78e15c9969" providerId="ADAL" clId="{BDD55B9E-1BC9-4E5C-8D99-2C252CA35B81}" dt="2019-11-10T01:02:29.857" v="424" actId="113"/>
          <ac:graphicFrameMkLst>
            <pc:docMk/>
            <pc:sldMk cId="2181309827" sldId="349"/>
            <ac:graphicFrameMk id="5" creationId="{DF4E71DD-3857-42C2-BA77-B90AFA1B2580}"/>
          </ac:graphicFrameMkLst>
        </pc:graphicFrameChg>
      </pc:sldChg>
      <pc:sldChg chg="addSp delSp modSp">
        <pc:chgData name="Arun Vadekkedhil" userId="42e6ed11-22d2-49de-94d6-fd78e15c9969" providerId="ADAL" clId="{BDD55B9E-1BC9-4E5C-8D99-2C252CA35B81}" dt="2019-11-10T01:04:51.937" v="427" actId="1076"/>
        <pc:sldMkLst>
          <pc:docMk/>
          <pc:sldMk cId="2258984744" sldId="350"/>
        </pc:sldMkLst>
        <pc:picChg chg="del">
          <ac:chgData name="Arun Vadekkedhil" userId="42e6ed11-22d2-49de-94d6-fd78e15c9969" providerId="ADAL" clId="{BDD55B9E-1BC9-4E5C-8D99-2C252CA35B81}" dt="2019-11-10T01:04:45.262" v="426" actId="478"/>
          <ac:picMkLst>
            <pc:docMk/>
            <pc:sldMk cId="2258984744" sldId="350"/>
            <ac:picMk id="4" creationId="{00000000-0000-0000-0000-000000000000}"/>
          </ac:picMkLst>
        </pc:picChg>
        <pc:picChg chg="add mod">
          <ac:chgData name="Arun Vadekkedhil" userId="42e6ed11-22d2-49de-94d6-fd78e15c9969" providerId="ADAL" clId="{BDD55B9E-1BC9-4E5C-8D99-2C252CA35B81}" dt="2019-11-10T01:04:51.937" v="427" actId="1076"/>
          <ac:picMkLst>
            <pc:docMk/>
            <pc:sldMk cId="2258984744" sldId="350"/>
            <ac:picMk id="5" creationId="{E5A97E96-3087-4F91-A16F-1B4DB87EB013}"/>
          </ac:picMkLst>
        </pc:picChg>
      </pc:sldChg>
      <pc:sldChg chg="modSp">
        <pc:chgData name="Arun Vadekkedhil" userId="42e6ed11-22d2-49de-94d6-fd78e15c9969" providerId="ADAL" clId="{BDD55B9E-1BC9-4E5C-8D99-2C252CA35B81}" dt="2019-10-19T15:41:11.143" v="25" actId="20577"/>
        <pc:sldMkLst>
          <pc:docMk/>
          <pc:sldMk cId="1573746940" sldId="351"/>
        </pc:sldMkLst>
        <pc:spChg chg="mod">
          <ac:chgData name="Arun Vadekkedhil" userId="42e6ed11-22d2-49de-94d6-fd78e15c9969" providerId="ADAL" clId="{BDD55B9E-1BC9-4E5C-8D99-2C252CA35B81}" dt="2019-10-19T15:41:11.143" v="25" actId="20577"/>
          <ac:spMkLst>
            <pc:docMk/>
            <pc:sldMk cId="1573746940" sldId="351"/>
            <ac:spMk id="2" creationId="{00000000-0000-0000-0000-000000000000}"/>
          </ac:spMkLst>
        </pc:spChg>
      </pc:sldChg>
      <pc:sldChg chg="addSp delSp modSp add mod setBg modClrScheme chgLayout">
        <pc:chgData name="Arun Vadekkedhil" userId="42e6ed11-22d2-49de-94d6-fd78e15c9969" providerId="ADAL" clId="{BDD55B9E-1BC9-4E5C-8D99-2C252CA35B81}" dt="2019-11-10T00:42:50.891" v="421" actId="1076"/>
        <pc:sldMkLst>
          <pc:docMk/>
          <pc:sldMk cId="3286102479" sldId="365"/>
        </pc:sldMkLst>
        <pc:spChg chg="mod">
          <ac:chgData name="Arun Vadekkedhil" userId="42e6ed11-22d2-49de-94d6-fd78e15c9969" providerId="ADAL" clId="{BDD55B9E-1BC9-4E5C-8D99-2C252CA35B81}" dt="2019-11-10T00:42:40.003" v="418" actId="26606"/>
          <ac:spMkLst>
            <pc:docMk/>
            <pc:sldMk cId="3286102479" sldId="365"/>
            <ac:spMk id="2" creationId="{00000000-0000-0000-0000-000000000000}"/>
          </ac:spMkLst>
        </pc:spChg>
        <pc:spChg chg="mod">
          <ac:chgData name="Arun Vadekkedhil" userId="42e6ed11-22d2-49de-94d6-fd78e15c9969" providerId="ADAL" clId="{BDD55B9E-1BC9-4E5C-8D99-2C252CA35B81}" dt="2019-11-10T00:42:40.003" v="418" actId="26606"/>
          <ac:spMkLst>
            <pc:docMk/>
            <pc:sldMk cId="3286102479" sldId="365"/>
            <ac:spMk id="3" creationId="{00000000-0000-0000-0000-000000000000}"/>
          </ac:spMkLst>
        </pc:spChg>
        <pc:picChg chg="del">
          <ac:chgData name="Arun Vadekkedhil" userId="42e6ed11-22d2-49de-94d6-fd78e15c9969" providerId="ADAL" clId="{BDD55B9E-1BC9-4E5C-8D99-2C252CA35B81}" dt="2019-11-10T00:41:31.481" v="415" actId="478"/>
          <ac:picMkLst>
            <pc:docMk/>
            <pc:sldMk cId="3286102479" sldId="365"/>
            <ac:picMk id="4" creationId="{00000000-0000-0000-0000-000000000000}"/>
          </ac:picMkLst>
        </pc:picChg>
        <pc:picChg chg="add mod">
          <ac:chgData name="Arun Vadekkedhil" userId="42e6ed11-22d2-49de-94d6-fd78e15c9969" providerId="ADAL" clId="{BDD55B9E-1BC9-4E5C-8D99-2C252CA35B81}" dt="2019-11-10T00:42:50.891" v="421" actId="1076"/>
          <ac:picMkLst>
            <pc:docMk/>
            <pc:sldMk cId="3286102479" sldId="365"/>
            <ac:picMk id="5" creationId="{CB51646D-2073-41B4-9826-E6A85CA4095F}"/>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313DEA-EA5D-4C08-BE12-963084D5213A}" type="doc">
      <dgm:prSet loTypeId="urn:microsoft.com/office/officeart/2005/8/layout/default" loCatId="list" qsTypeId="urn:microsoft.com/office/officeart/2005/8/quickstyle/simple4" qsCatId="simple" csTypeId="urn:microsoft.com/office/officeart/2005/8/colors/accent2_2" csCatId="accent2"/>
      <dgm:spPr/>
      <dgm:t>
        <a:bodyPr/>
        <a:lstStyle/>
        <a:p>
          <a:endParaRPr lang="en-US"/>
        </a:p>
      </dgm:t>
    </dgm:pt>
    <dgm:pt modelId="{DCC82C5E-2A67-4464-93F5-F0D3A58E97A5}">
      <dgm:prSet/>
      <dgm:spPr/>
      <dgm:t>
        <a:bodyPr/>
        <a:lstStyle/>
        <a:p>
          <a:r>
            <a:rPr lang="en-US" dirty="0"/>
            <a:t>Each method is </a:t>
          </a:r>
          <a:r>
            <a:rPr lang="en-US" b="1" dirty="0"/>
            <a:t>declared </a:t>
          </a:r>
          <a:r>
            <a:rPr lang="en-US" dirty="0"/>
            <a:t>to have a specific number of </a:t>
          </a:r>
          <a:r>
            <a:rPr lang="en-US" b="1" dirty="0"/>
            <a:t>parameters</a:t>
          </a:r>
          <a:r>
            <a:rPr lang="en-US" dirty="0"/>
            <a:t>, each of a specific type. The last parameter of a method can be declared as a sequence of parameters of a given type. </a:t>
          </a:r>
        </a:p>
      </dgm:t>
    </dgm:pt>
    <dgm:pt modelId="{21989F59-DD21-42E3-9F92-BCCCF7D0944A}" type="parTrans" cxnId="{7BF8C8C3-B067-45B8-BF10-CC9B4DAE38D9}">
      <dgm:prSet/>
      <dgm:spPr/>
      <dgm:t>
        <a:bodyPr/>
        <a:lstStyle/>
        <a:p>
          <a:endParaRPr lang="en-US"/>
        </a:p>
      </dgm:t>
    </dgm:pt>
    <dgm:pt modelId="{75CAEB78-1370-42ED-8E44-719BDAC1F7E6}" type="sibTrans" cxnId="{7BF8C8C3-B067-45B8-BF10-CC9B4DAE38D9}">
      <dgm:prSet/>
      <dgm:spPr/>
      <dgm:t>
        <a:bodyPr/>
        <a:lstStyle/>
        <a:p>
          <a:endParaRPr lang="en-US"/>
        </a:p>
      </dgm:t>
    </dgm:pt>
    <dgm:pt modelId="{A3B96A95-E31A-44D4-8D02-E62345D141A2}">
      <dgm:prSet/>
      <dgm:spPr/>
      <dgm:t>
        <a:bodyPr/>
        <a:lstStyle/>
        <a:p>
          <a:r>
            <a:rPr lang="en-US"/>
            <a:t>This is indicated by an ellipse (...) after the type name. For example, String... is a sequence of zero or more String objects. </a:t>
          </a:r>
        </a:p>
      </dgm:t>
    </dgm:pt>
    <dgm:pt modelId="{191290C9-2425-4CEE-84C5-DC200AEB4BAC}" type="parTrans" cxnId="{1C12CF13-676B-4AFF-A0BB-8F71414D8894}">
      <dgm:prSet/>
      <dgm:spPr/>
      <dgm:t>
        <a:bodyPr/>
        <a:lstStyle/>
        <a:p>
          <a:endParaRPr lang="en-US"/>
        </a:p>
      </dgm:t>
    </dgm:pt>
    <dgm:pt modelId="{92B86A8C-E743-4CD6-9F96-C1CBC3BBDBC3}" type="sibTrans" cxnId="{1C12CF13-676B-4AFF-A0BB-8F71414D8894}">
      <dgm:prSet/>
      <dgm:spPr/>
      <dgm:t>
        <a:bodyPr/>
        <a:lstStyle/>
        <a:p>
          <a:endParaRPr lang="en-US"/>
        </a:p>
      </dgm:t>
    </dgm:pt>
    <dgm:pt modelId="{1BEBE0E7-68D0-4BB5-ACA4-90DF0EED282D}">
      <dgm:prSet/>
      <dgm:spPr/>
      <dgm:t>
        <a:bodyPr/>
        <a:lstStyle/>
        <a:p>
          <a:r>
            <a:rPr lang="en-US"/>
            <a:t>Sequence parameters allow you to invoke the method by passing in a variable number of arguments, some of which will correspond to that sequence. </a:t>
          </a:r>
        </a:p>
      </dgm:t>
    </dgm:pt>
    <dgm:pt modelId="{5C1EC6EB-8877-4D6A-B80D-245024003265}" type="parTrans" cxnId="{BD0F5C9A-F2CE-485A-93D2-698D20BAA001}">
      <dgm:prSet/>
      <dgm:spPr/>
      <dgm:t>
        <a:bodyPr/>
        <a:lstStyle/>
        <a:p>
          <a:endParaRPr lang="en-US"/>
        </a:p>
      </dgm:t>
    </dgm:pt>
    <dgm:pt modelId="{8F72F8DF-EBDA-48E3-A2C6-7372F37B1E7D}" type="sibTrans" cxnId="{BD0F5C9A-F2CE-485A-93D2-698D20BAA001}">
      <dgm:prSet/>
      <dgm:spPr/>
      <dgm:t>
        <a:bodyPr/>
        <a:lstStyle/>
        <a:p>
          <a:endParaRPr lang="en-US"/>
        </a:p>
      </dgm:t>
    </dgm:pt>
    <dgm:pt modelId="{5884CF84-7621-47F8-A618-1443575A9936}">
      <dgm:prSet/>
      <dgm:spPr/>
      <dgm:t>
        <a:bodyPr/>
        <a:lstStyle/>
        <a:p>
          <a:r>
            <a:rPr lang="en-US" dirty="0"/>
            <a:t>When a method is invoked the caller must provide an argument of the appropriate type for each of the parameters declared by the method. </a:t>
          </a:r>
        </a:p>
      </dgm:t>
    </dgm:pt>
    <dgm:pt modelId="{2A8F5232-9D2F-4243-9296-9689DB0365ED}" type="parTrans" cxnId="{03F50E52-1AC5-44C9-A817-D20E77144F98}">
      <dgm:prSet/>
      <dgm:spPr/>
      <dgm:t>
        <a:bodyPr/>
        <a:lstStyle/>
        <a:p>
          <a:endParaRPr lang="en-US"/>
        </a:p>
      </dgm:t>
    </dgm:pt>
    <dgm:pt modelId="{2EB91FD3-4351-435A-B07A-2C22C83D27AE}" type="sibTrans" cxnId="{03F50E52-1AC5-44C9-A817-D20E77144F98}">
      <dgm:prSet/>
      <dgm:spPr/>
      <dgm:t>
        <a:bodyPr/>
        <a:lstStyle/>
        <a:p>
          <a:endParaRPr lang="en-US"/>
        </a:p>
      </dgm:t>
    </dgm:pt>
    <dgm:pt modelId="{287C86C3-FE14-4539-9E44-B8B02102810A}">
      <dgm:prSet/>
      <dgm:spPr/>
      <dgm:t>
        <a:bodyPr/>
        <a:lstStyle/>
        <a:p>
          <a:r>
            <a:rPr lang="en-US"/>
            <a:t>An argument need not be exactly the same type as its corresponding parameter because some automatic conversions are applied. For example, a byte argument can be converted to an int parameter, and wrapper objects can be converted to their primitive values (and vice-versa) as needed.</a:t>
          </a:r>
        </a:p>
      </dgm:t>
    </dgm:pt>
    <dgm:pt modelId="{309B3DC9-BF79-4D8A-AC7F-9DB595023870}" type="parTrans" cxnId="{4DF02DB4-A2AC-4635-B16F-6D2850CA9C67}">
      <dgm:prSet/>
      <dgm:spPr/>
      <dgm:t>
        <a:bodyPr/>
        <a:lstStyle/>
        <a:p>
          <a:endParaRPr lang="en-US"/>
        </a:p>
      </dgm:t>
    </dgm:pt>
    <dgm:pt modelId="{8D2EEEA3-AB70-4A34-838B-0ADE45BEF5CE}" type="sibTrans" cxnId="{4DF02DB4-A2AC-4635-B16F-6D2850CA9C67}">
      <dgm:prSet/>
      <dgm:spPr/>
      <dgm:t>
        <a:bodyPr/>
        <a:lstStyle/>
        <a:p>
          <a:endParaRPr lang="en-US"/>
        </a:p>
      </dgm:t>
    </dgm:pt>
    <dgm:pt modelId="{D80F7B5F-5F81-49FF-804D-2E2502804505}">
      <dgm:prSet/>
      <dgm:spPr/>
      <dgm:t>
        <a:bodyPr/>
        <a:lstStyle/>
        <a:p>
          <a:r>
            <a:rPr lang="en-US"/>
            <a:t>Methods also have a return type, either a primitive type or a reference type. If a method does not return any value, the place where a return type would go is filled with a void.</a:t>
          </a:r>
        </a:p>
      </dgm:t>
    </dgm:pt>
    <dgm:pt modelId="{2E47F38C-5800-44B4-B035-C5EA718B4423}" type="parTrans" cxnId="{9EDC20C4-AEC3-42D0-B738-6FB7D3B68F03}">
      <dgm:prSet/>
      <dgm:spPr/>
      <dgm:t>
        <a:bodyPr/>
        <a:lstStyle/>
        <a:p>
          <a:endParaRPr lang="en-US"/>
        </a:p>
      </dgm:t>
    </dgm:pt>
    <dgm:pt modelId="{D0552CBD-7051-4BA0-A55A-B94FBC6DB5D7}" type="sibTrans" cxnId="{9EDC20C4-AEC3-42D0-B738-6FB7D3B68F03}">
      <dgm:prSet/>
      <dgm:spPr/>
      <dgm:t>
        <a:bodyPr/>
        <a:lstStyle/>
        <a:p>
          <a:endParaRPr lang="en-US"/>
        </a:p>
      </dgm:t>
    </dgm:pt>
    <dgm:pt modelId="{40F74195-B52A-40DE-B02E-436FB2269870}" type="pres">
      <dgm:prSet presAssocID="{42313DEA-EA5D-4C08-BE12-963084D5213A}" presName="diagram" presStyleCnt="0">
        <dgm:presLayoutVars>
          <dgm:dir/>
          <dgm:resizeHandles val="exact"/>
        </dgm:presLayoutVars>
      </dgm:prSet>
      <dgm:spPr/>
    </dgm:pt>
    <dgm:pt modelId="{2F82A02C-3844-4106-BCAB-2BFDFD84813E}" type="pres">
      <dgm:prSet presAssocID="{DCC82C5E-2A67-4464-93F5-F0D3A58E97A5}" presName="node" presStyleLbl="node1" presStyleIdx="0" presStyleCnt="6">
        <dgm:presLayoutVars>
          <dgm:bulletEnabled val="1"/>
        </dgm:presLayoutVars>
      </dgm:prSet>
      <dgm:spPr/>
    </dgm:pt>
    <dgm:pt modelId="{F271F9FA-D0A1-4B33-B0B2-8715B67E8CB6}" type="pres">
      <dgm:prSet presAssocID="{75CAEB78-1370-42ED-8E44-719BDAC1F7E6}" presName="sibTrans" presStyleCnt="0"/>
      <dgm:spPr/>
    </dgm:pt>
    <dgm:pt modelId="{F39FC381-301E-4F68-A2F4-C1831CC824B7}" type="pres">
      <dgm:prSet presAssocID="{A3B96A95-E31A-44D4-8D02-E62345D141A2}" presName="node" presStyleLbl="node1" presStyleIdx="1" presStyleCnt="6">
        <dgm:presLayoutVars>
          <dgm:bulletEnabled val="1"/>
        </dgm:presLayoutVars>
      </dgm:prSet>
      <dgm:spPr/>
    </dgm:pt>
    <dgm:pt modelId="{A3885A98-6807-4D29-A5B4-1FEF17D94B04}" type="pres">
      <dgm:prSet presAssocID="{92B86A8C-E743-4CD6-9F96-C1CBC3BBDBC3}" presName="sibTrans" presStyleCnt="0"/>
      <dgm:spPr/>
    </dgm:pt>
    <dgm:pt modelId="{16D4BDD3-D179-4BCE-8891-CD4977AAF927}" type="pres">
      <dgm:prSet presAssocID="{1BEBE0E7-68D0-4BB5-ACA4-90DF0EED282D}" presName="node" presStyleLbl="node1" presStyleIdx="2" presStyleCnt="6">
        <dgm:presLayoutVars>
          <dgm:bulletEnabled val="1"/>
        </dgm:presLayoutVars>
      </dgm:prSet>
      <dgm:spPr/>
    </dgm:pt>
    <dgm:pt modelId="{9E40C1E3-9F04-491B-AAF4-7FAFF146B6D6}" type="pres">
      <dgm:prSet presAssocID="{8F72F8DF-EBDA-48E3-A2C6-7372F37B1E7D}" presName="sibTrans" presStyleCnt="0"/>
      <dgm:spPr/>
    </dgm:pt>
    <dgm:pt modelId="{D9C427A6-189B-4F8D-ABF7-04C1B9EC0A44}" type="pres">
      <dgm:prSet presAssocID="{5884CF84-7621-47F8-A618-1443575A9936}" presName="node" presStyleLbl="node1" presStyleIdx="3" presStyleCnt="6">
        <dgm:presLayoutVars>
          <dgm:bulletEnabled val="1"/>
        </dgm:presLayoutVars>
      </dgm:prSet>
      <dgm:spPr/>
    </dgm:pt>
    <dgm:pt modelId="{BB0E34D9-FAFB-4BD0-8B35-41192742F26F}" type="pres">
      <dgm:prSet presAssocID="{2EB91FD3-4351-435A-B07A-2C22C83D27AE}" presName="sibTrans" presStyleCnt="0"/>
      <dgm:spPr/>
    </dgm:pt>
    <dgm:pt modelId="{49547549-2B7D-4908-925B-54E1A7528A65}" type="pres">
      <dgm:prSet presAssocID="{287C86C3-FE14-4539-9E44-B8B02102810A}" presName="node" presStyleLbl="node1" presStyleIdx="4" presStyleCnt="6">
        <dgm:presLayoutVars>
          <dgm:bulletEnabled val="1"/>
        </dgm:presLayoutVars>
      </dgm:prSet>
      <dgm:spPr/>
    </dgm:pt>
    <dgm:pt modelId="{536CFB8F-9860-4F58-81D5-8FCCEFB28ECA}" type="pres">
      <dgm:prSet presAssocID="{8D2EEEA3-AB70-4A34-838B-0ADE45BEF5CE}" presName="sibTrans" presStyleCnt="0"/>
      <dgm:spPr/>
    </dgm:pt>
    <dgm:pt modelId="{922AFE2D-1AFE-4E17-B475-68A9F1D14F45}" type="pres">
      <dgm:prSet presAssocID="{D80F7B5F-5F81-49FF-804D-2E2502804505}" presName="node" presStyleLbl="node1" presStyleIdx="5" presStyleCnt="6">
        <dgm:presLayoutVars>
          <dgm:bulletEnabled val="1"/>
        </dgm:presLayoutVars>
      </dgm:prSet>
      <dgm:spPr/>
    </dgm:pt>
  </dgm:ptLst>
  <dgm:cxnLst>
    <dgm:cxn modelId="{82E60905-AA9B-4924-8B7D-9CC3A02949C3}" type="presOf" srcId="{42313DEA-EA5D-4C08-BE12-963084D5213A}" destId="{40F74195-B52A-40DE-B02E-436FB2269870}" srcOrd="0" destOrd="0" presId="urn:microsoft.com/office/officeart/2005/8/layout/default"/>
    <dgm:cxn modelId="{67013C0C-E982-47CD-A85D-6E50C648BB56}" type="presOf" srcId="{D80F7B5F-5F81-49FF-804D-2E2502804505}" destId="{922AFE2D-1AFE-4E17-B475-68A9F1D14F45}" srcOrd="0" destOrd="0" presId="urn:microsoft.com/office/officeart/2005/8/layout/default"/>
    <dgm:cxn modelId="{1C12CF13-676B-4AFF-A0BB-8F71414D8894}" srcId="{42313DEA-EA5D-4C08-BE12-963084D5213A}" destId="{A3B96A95-E31A-44D4-8D02-E62345D141A2}" srcOrd="1" destOrd="0" parTransId="{191290C9-2425-4CEE-84C5-DC200AEB4BAC}" sibTransId="{92B86A8C-E743-4CD6-9F96-C1CBC3BBDBC3}"/>
    <dgm:cxn modelId="{ADF4753B-E890-42F6-8B0D-A238B7BB3571}" type="presOf" srcId="{5884CF84-7621-47F8-A618-1443575A9936}" destId="{D9C427A6-189B-4F8D-ABF7-04C1B9EC0A44}" srcOrd="0" destOrd="0" presId="urn:microsoft.com/office/officeart/2005/8/layout/default"/>
    <dgm:cxn modelId="{15235B40-9696-4BEA-A8C0-0B0737363785}" type="presOf" srcId="{1BEBE0E7-68D0-4BB5-ACA4-90DF0EED282D}" destId="{16D4BDD3-D179-4BCE-8891-CD4977AAF927}" srcOrd="0" destOrd="0" presId="urn:microsoft.com/office/officeart/2005/8/layout/default"/>
    <dgm:cxn modelId="{C0BAD45C-E149-48BC-A040-83E08E879C2A}" type="presOf" srcId="{DCC82C5E-2A67-4464-93F5-F0D3A58E97A5}" destId="{2F82A02C-3844-4106-BCAB-2BFDFD84813E}" srcOrd="0" destOrd="0" presId="urn:microsoft.com/office/officeart/2005/8/layout/default"/>
    <dgm:cxn modelId="{03F50E52-1AC5-44C9-A817-D20E77144F98}" srcId="{42313DEA-EA5D-4C08-BE12-963084D5213A}" destId="{5884CF84-7621-47F8-A618-1443575A9936}" srcOrd="3" destOrd="0" parTransId="{2A8F5232-9D2F-4243-9296-9689DB0365ED}" sibTransId="{2EB91FD3-4351-435A-B07A-2C22C83D27AE}"/>
    <dgm:cxn modelId="{BD0F5C9A-F2CE-485A-93D2-698D20BAA001}" srcId="{42313DEA-EA5D-4C08-BE12-963084D5213A}" destId="{1BEBE0E7-68D0-4BB5-ACA4-90DF0EED282D}" srcOrd="2" destOrd="0" parTransId="{5C1EC6EB-8877-4D6A-B80D-245024003265}" sibTransId="{8F72F8DF-EBDA-48E3-A2C6-7372F37B1E7D}"/>
    <dgm:cxn modelId="{4DF02DB4-A2AC-4635-B16F-6D2850CA9C67}" srcId="{42313DEA-EA5D-4C08-BE12-963084D5213A}" destId="{287C86C3-FE14-4539-9E44-B8B02102810A}" srcOrd="4" destOrd="0" parTransId="{309B3DC9-BF79-4D8A-AC7F-9DB595023870}" sibTransId="{8D2EEEA3-AB70-4A34-838B-0ADE45BEF5CE}"/>
    <dgm:cxn modelId="{64DA62BB-0535-4771-86D1-FE5B4F556681}" type="presOf" srcId="{287C86C3-FE14-4539-9E44-B8B02102810A}" destId="{49547549-2B7D-4908-925B-54E1A7528A65}" srcOrd="0" destOrd="0" presId="urn:microsoft.com/office/officeart/2005/8/layout/default"/>
    <dgm:cxn modelId="{5C10A5BC-D4C7-429C-BE2F-55BB6E9853CB}" type="presOf" srcId="{A3B96A95-E31A-44D4-8D02-E62345D141A2}" destId="{F39FC381-301E-4F68-A2F4-C1831CC824B7}" srcOrd="0" destOrd="0" presId="urn:microsoft.com/office/officeart/2005/8/layout/default"/>
    <dgm:cxn modelId="{7BF8C8C3-B067-45B8-BF10-CC9B4DAE38D9}" srcId="{42313DEA-EA5D-4C08-BE12-963084D5213A}" destId="{DCC82C5E-2A67-4464-93F5-F0D3A58E97A5}" srcOrd="0" destOrd="0" parTransId="{21989F59-DD21-42E3-9F92-BCCCF7D0944A}" sibTransId="{75CAEB78-1370-42ED-8E44-719BDAC1F7E6}"/>
    <dgm:cxn modelId="{9EDC20C4-AEC3-42D0-B738-6FB7D3B68F03}" srcId="{42313DEA-EA5D-4C08-BE12-963084D5213A}" destId="{D80F7B5F-5F81-49FF-804D-2E2502804505}" srcOrd="5" destOrd="0" parTransId="{2E47F38C-5800-44B4-B035-C5EA718B4423}" sibTransId="{D0552CBD-7051-4BA0-A55A-B94FBC6DB5D7}"/>
    <dgm:cxn modelId="{524B11B0-6F8B-4E60-A068-A42C79661F70}" type="presParOf" srcId="{40F74195-B52A-40DE-B02E-436FB2269870}" destId="{2F82A02C-3844-4106-BCAB-2BFDFD84813E}" srcOrd="0" destOrd="0" presId="urn:microsoft.com/office/officeart/2005/8/layout/default"/>
    <dgm:cxn modelId="{E57BBEB4-DF3A-4BE8-987F-607EA14E90E6}" type="presParOf" srcId="{40F74195-B52A-40DE-B02E-436FB2269870}" destId="{F271F9FA-D0A1-4B33-B0B2-8715B67E8CB6}" srcOrd="1" destOrd="0" presId="urn:microsoft.com/office/officeart/2005/8/layout/default"/>
    <dgm:cxn modelId="{7CAE8A89-79CA-4C5C-9332-F7ED3FA14E84}" type="presParOf" srcId="{40F74195-B52A-40DE-B02E-436FB2269870}" destId="{F39FC381-301E-4F68-A2F4-C1831CC824B7}" srcOrd="2" destOrd="0" presId="urn:microsoft.com/office/officeart/2005/8/layout/default"/>
    <dgm:cxn modelId="{87E37C48-BFED-4C19-B42B-0D1252783DCA}" type="presParOf" srcId="{40F74195-B52A-40DE-B02E-436FB2269870}" destId="{A3885A98-6807-4D29-A5B4-1FEF17D94B04}" srcOrd="3" destOrd="0" presId="urn:microsoft.com/office/officeart/2005/8/layout/default"/>
    <dgm:cxn modelId="{C3497CE7-6B00-41EA-8285-54A756C603F7}" type="presParOf" srcId="{40F74195-B52A-40DE-B02E-436FB2269870}" destId="{16D4BDD3-D179-4BCE-8891-CD4977AAF927}" srcOrd="4" destOrd="0" presId="urn:microsoft.com/office/officeart/2005/8/layout/default"/>
    <dgm:cxn modelId="{EDDEF376-F34D-461E-8C2A-C3FF7F8CA3B1}" type="presParOf" srcId="{40F74195-B52A-40DE-B02E-436FB2269870}" destId="{9E40C1E3-9F04-491B-AAF4-7FAFF146B6D6}" srcOrd="5" destOrd="0" presId="urn:microsoft.com/office/officeart/2005/8/layout/default"/>
    <dgm:cxn modelId="{F48D0BF4-AEA2-4A2E-8FF0-89A1470E59D5}" type="presParOf" srcId="{40F74195-B52A-40DE-B02E-436FB2269870}" destId="{D9C427A6-189B-4F8D-ABF7-04C1B9EC0A44}" srcOrd="6" destOrd="0" presId="urn:microsoft.com/office/officeart/2005/8/layout/default"/>
    <dgm:cxn modelId="{730EC564-2E15-4912-B75A-77A70B832227}" type="presParOf" srcId="{40F74195-B52A-40DE-B02E-436FB2269870}" destId="{BB0E34D9-FAFB-4BD0-8B35-41192742F26F}" srcOrd="7" destOrd="0" presId="urn:microsoft.com/office/officeart/2005/8/layout/default"/>
    <dgm:cxn modelId="{D0993183-FA48-4BB6-8250-D0FEA37AD91D}" type="presParOf" srcId="{40F74195-B52A-40DE-B02E-436FB2269870}" destId="{49547549-2B7D-4908-925B-54E1A7528A65}" srcOrd="8" destOrd="0" presId="urn:microsoft.com/office/officeart/2005/8/layout/default"/>
    <dgm:cxn modelId="{C8CD4051-65B4-41EC-AD6A-3DBFB904412F}" type="presParOf" srcId="{40F74195-B52A-40DE-B02E-436FB2269870}" destId="{536CFB8F-9860-4F58-81D5-8FCCEFB28ECA}" srcOrd="9" destOrd="0" presId="urn:microsoft.com/office/officeart/2005/8/layout/default"/>
    <dgm:cxn modelId="{A063BFC5-AAE0-4D88-AA11-8BF85C0BE97F}" type="presParOf" srcId="{40F74195-B52A-40DE-B02E-436FB2269870}" destId="{922AFE2D-1AFE-4E17-B475-68A9F1D14F45}"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82A02C-3844-4106-BCAB-2BFDFD84813E}">
      <dsp:nvSpPr>
        <dsp:cNvPr id="0" name=""/>
        <dsp:cNvSpPr/>
      </dsp:nvSpPr>
      <dsp:spPr>
        <a:xfrm>
          <a:off x="0" y="258365"/>
          <a:ext cx="3119437" cy="1871662"/>
        </a:xfrm>
        <a:prstGeom prst="rect">
          <a:avLst/>
        </a:prstGeom>
        <a:gradFill rotWithShape="0">
          <a:gsLst>
            <a:gs pos="0">
              <a:schemeClr val="accent2">
                <a:hueOff val="0"/>
                <a:satOff val="0"/>
                <a:lumOff val="0"/>
                <a:alphaOff val="0"/>
                <a:shade val="100000"/>
                <a:satMod val="137000"/>
              </a:schemeClr>
            </a:gs>
            <a:gs pos="71000">
              <a:schemeClr val="accent2">
                <a:hueOff val="0"/>
                <a:satOff val="0"/>
                <a:lumOff val="0"/>
                <a:alphaOff val="0"/>
                <a:shade val="98000"/>
                <a:satMod val="137000"/>
              </a:schemeClr>
            </a:gs>
            <a:gs pos="100000">
              <a:schemeClr val="accent2">
                <a:hueOff val="0"/>
                <a:satOff val="0"/>
                <a:lumOff val="0"/>
                <a:alphaOff val="0"/>
                <a:shade val="75000"/>
                <a:satMod val="137000"/>
              </a:schemeClr>
            </a:gs>
          </a:gsLst>
          <a:path path="rect">
            <a:fillToRect l="50000" t="50000" r="50000" b="50000"/>
          </a:path>
        </a:gradFill>
        <a:ln>
          <a:noFill/>
        </a:ln>
        <a:effectLst>
          <a:outerShdw blurRad="39000" dist="25400" dir="5400000" rotWithShape="0">
            <a:srgbClr val="000000">
              <a:alpha val="3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Each method is </a:t>
          </a:r>
          <a:r>
            <a:rPr lang="en-US" sz="1300" b="1" kern="1200" dirty="0"/>
            <a:t>declared </a:t>
          </a:r>
          <a:r>
            <a:rPr lang="en-US" sz="1300" kern="1200" dirty="0"/>
            <a:t>to have a specific number of </a:t>
          </a:r>
          <a:r>
            <a:rPr lang="en-US" sz="1300" b="1" kern="1200" dirty="0"/>
            <a:t>parameters</a:t>
          </a:r>
          <a:r>
            <a:rPr lang="en-US" sz="1300" kern="1200" dirty="0"/>
            <a:t>, each of a specific type. The last parameter of a method can be declared as a sequence of parameters of a given type. </a:t>
          </a:r>
        </a:p>
      </dsp:txBody>
      <dsp:txXfrm>
        <a:off x="0" y="258365"/>
        <a:ext cx="3119437" cy="1871662"/>
      </dsp:txXfrm>
    </dsp:sp>
    <dsp:sp modelId="{F39FC381-301E-4F68-A2F4-C1831CC824B7}">
      <dsp:nvSpPr>
        <dsp:cNvPr id="0" name=""/>
        <dsp:cNvSpPr/>
      </dsp:nvSpPr>
      <dsp:spPr>
        <a:xfrm>
          <a:off x="3431381" y="258365"/>
          <a:ext cx="3119437" cy="1871662"/>
        </a:xfrm>
        <a:prstGeom prst="rect">
          <a:avLst/>
        </a:prstGeom>
        <a:gradFill rotWithShape="0">
          <a:gsLst>
            <a:gs pos="0">
              <a:schemeClr val="accent2">
                <a:hueOff val="0"/>
                <a:satOff val="0"/>
                <a:lumOff val="0"/>
                <a:alphaOff val="0"/>
                <a:shade val="100000"/>
                <a:satMod val="137000"/>
              </a:schemeClr>
            </a:gs>
            <a:gs pos="71000">
              <a:schemeClr val="accent2">
                <a:hueOff val="0"/>
                <a:satOff val="0"/>
                <a:lumOff val="0"/>
                <a:alphaOff val="0"/>
                <a:shade val="98000"/>
                <a:satMod val="137000"/>
              </a:schemeClr>
            </a:gs>
            <a:gs pos="100000">
              <a:schemeClr val="accent2">
                <a:hueOff val="0"/>
                <a:satOff val="0"/>
                <a:lumOff val="0"/>
                <a:alphaOff val="0"/>
                <a:shade val="75000"/>
                <a:satMod val="137000"/>
              </a:schemeClr>
            </a:gs>
          </a:gsLst>
          <a:path path="rect">
            <a:fillToRect l="50000" t="50000" r="50000" b="50000"/>
          </a:path>
        </a:gradFill>
        <a:ln>
          <a:noFill/>
        </a:ln>
        <a:effectLst>
          <a:outerShdw blurRad="39000" dist="25400" dir="5400000" rotWithShape="0">
            <a:srgbClr val="000000">
              <a:alpha val="3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This is indicated by an ellipse (...) after the type name. For example, String... is a sequence of zero or more String objects. </a:t>
          </a:r>
        </a:p>
      </dsp:txBody>
      <dsp:txXfrm>
        <a:off x="3431381" y="258365"/>
        <a:ext cx="3119437" cy="1871662"/>
      </dsp:txXfrm>
    </dsp:sp>
    <dsp:sp modelId="{16D4BDD3-D179-4BCE-8891-CD4977AAF927}">
      <dsp:nvSpPr>
        <dsp:cNvPr id="0" name=""/>
        <dsp:cNvSpPr/>
      </dsp:nvSpPr>
      <dsp:spPr>
        <a:xfrm>
          <a:off x="6862762" y="258365"/>
          <a:ext cx="3119437" cy="1871662"/>
        </a:xfrm>
        <a:prstGeom prst="rect">
          <a:avLst/>
        </a:prstGeom>
        <a:gradFill rotWithShape="0">
          <a:gsLst>
            <a:gs pos="0">
              <a:schemeClr val="accent2">
                <a:hueOff val="0"/>
                <a:satOff val="0"/>
                <a:lumOff val="0"/>
                <a:alphaOff val="0"/>
                <a:shade val="100000"/>
                <a:satMod val="137000"/>
              </a:schemeClr>
            </a:gs>
            <a:gs pos="71000">
              <a:schemeClr val="accent2">
                <a:hueOff val="0"/>
                <a:satOff val="0"/>
                <a:lumOff val="0"/>
                <a:alphaOff val="0"/>
                <a:shade val="98000"/>
                <a:satMod val="137000"/>
              </a:schemeClr>
            </a:gs>
            <a:gs pos="100000">
              <a:schemeClr val="accent2">
                <a:hueOff val="0"/>
                <a:satOff val="0"/>
                <a:lumOff val="0"/>
                <a:alphaOff val="0"/>
                <a:shade val="75000"/>
                <a:satMod val="137000"/>
              </a:schemeClr>
            </a:gs>
          </a:gsLst>
          <a:path path="rect">
            <a:fillToRect l="50000" t="50000" r="50000" b="50000"/>
          </a:path>
        </a:gradFill>
        <a:ln>
          <a:noFill/>
        </a:ln>
        <a:effectLst>
          <a:outerShdw blurRad="39000" dist="25400" dir="5400000" rotWithShape="0">
            <a:srgbClr val="000000">
              <a:alpha val="3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Sequence parameters allow you to invoke the method by passing in a variable number of arguments, some of which will correspond to that sequence. </a:t>
          </a:r>
        </a:p>
      </dsp:txBody>
      <dsp:txXfrm>
        <a:off x="6862762" y="258365"/>
        <a:ext cx="3119437" cy="1871662"/>
      </dsp:txXfrm>
    </dsp:sp>
    <dsp:sp modelId="{D9C427A6-189B-4F8D-ABF7-04C1B9EC0A44}">
      <dsp:nvSpPr>
        <dsp:cNvPr id="0" name=""/>
        <dsp:cNvSpPr/>
      </dsp:nvSpPr>
      <dsp:spPr>
        <a:xfrm>
          <a:off x="0" y="2441971"/>
          <a:ext cx="3119437" cy="1871662"/>
        </a:xfrm>
        <a:prstGeom prst="rect">
          <a:avLst/>
        </a:prstGeom>
        <a:gradFill rotWithShape="0">
          <a:gsLst>
            <a:gs pos="0">
              <a:schemeClr val="accent2">
                <a:hueOff val="0"/>
                <a:satOff val="0"/>
                <a:lumOff val="0"/>
                <a:alphaOff val="0"/>
                <a:shade val="100000"/>
                <a:satMod val="137000"/>
              </a:schemeClr>
            </a:gs>
            <a:gs pos="71000">
              <a:schemeClr val="accent2">
                <a:hueOff val="0"/>
                <a:satOff val="0"/>
                <a:lumOff val="0"/>
                <a:alphaOff val="0"/>
                <a:shade val="98000"/>
                <a:satMod val="137000"/>
              </a:schemeClr>
            </a:gs>
            <a:gs pos="100000">
              <a:schemeClr val="accent2">
                <a:hueOff val="0"/>
                <a:satOff val="0"/>
                <a:lumOff val="0"/>
                <a:alphaOff val="0"/>
                <a:shade val="75000"/>
                <a:satMod val="137000"/>
              </a:schemeClr>
            </a:gs>
          </a:gsLst>
          <a:path path="rect">
            <a:fillToRect l="50000" t="50000" r="50000" b="50000"/>
          </a:path>
        </a:gradFill>
        <a:ln>
          <a:noFill/>
        </a:ln>
        <a:effectLst>
          <a:outerShdw blurRad="39000" dist="25400" dir="5400000" rotWithShape="0">
            <a:srgbClr val="000000">
              <a:alpha val="3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When a method is invoked the caller must provide an argument of the appropriate type for each of the parameters declared by the method. </a:t>
          </a:r>
        </a:p>
      </dsp:txBody>
      <dsp:txXfrm>
        <a:off x="0" y="2441971"/>
        <a:ext cx="3119437" cy="1871662"/>
      </dsp:txXfrm>
    </dsp:sp>
    <dsp:sp modelId="{49547549-2B7D-4908-925B-54E1A7528A65}">
      <dsp:nvSpPr>
        <dsp:cNvPr id="0" name=""/>
        <dsp:cNvSpPr/>
      </dsp:nvSpPr>
      <dsp:spPr>
        <a:xfrm>
          <a:off x="3431381" y="2441971"/>
          <a:ext cx="3119437" cy="1871662"/>
        </a:xfrm>
        <a:prstGeom prst="rect">
          <a:avLst/>
        </a:prstGeom>
        <a:gradFill rotWithShape="0">
          <a:gsLst>
            <a:gs pos="0">
              <a:schemeClr val="accent2">
                <a:hueOff val="0"/>
                <a:satOff val="0"/>
                <a:lumOff val="0"/>
                <a:alphaOff val="0"/>
                <a:shade val="100000"/>
                <a:satMod val="137000"/>
              </a:schemeClr>
            </a:gs>
            <a:gs pos="71000">
              <a:schemeClr val="accent2">
                <a:hueOff val="0"/>
                <a:satOff val="0"/>
                <a:lumOff val="0"/>
                <a:alphaOff val="0"/>
                <a:shade val="98000"/>
                <a:satMod val="137000"/>
              </a:schemeClr>
            </a:gs>
            <a:gs pos="100000">
              <a:schemeClr val="accent2">
                <a:hueOff val="0"/>
                <a:satOff val="0"/>
                <a:lumOff val="0"/>
                <a:alphaOff val="0"/>
                <a:shade val="75000"/>
                <a:satMod val="137000"/>
              </a:schemeClr>
            </a:gs>
          </a:gsLst>
          <a:path path="rect">
            <a:fillToRect l="50000" t="50000" r="50000" b="50000"/>
          </a:path>
        </a:gradFill>
        <a:ln>
          <a:noFill/>
        </a:ln>
        <a:effectLst>
          <a:outerShdw blurRad="39000" dist="25400" dir="5400000" rotWithShape="0">
            <a:srgbClr val="000000">
              <a:alpha val="3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An argument need not be exactly the same type as its corresponding parameter because some automatic conversions are applied. For example, a byte argument can be converted to an int parameter, and wrapper objects can be converted to their primitive values (and vice-versa) as needed.</a:t>
          </a:r>
        </a:p>
      </dsp:txBody>
      <dsp:txXfrm>
        <a:off x="3431381" y="2441971"/>
        <a:ext cx="3119437" cy="1871662"/>
      </dsp:txXfrm>
    </dsp:sp>
    <dsp:sp modelId="{922AFE2D-1AFE-4E17-B475-68A9F1D14F45}">
      <dsp:nvSpPr>
        <dsp:cNvPr id="0" name=""/>
        <dsp:cNvSpPr/>
      </dsp:nvSpPr>
      <dsp:spPr>
        <a:xfrm>
          <a:off x="6862762" y="2441971"/>
          <a:ext cx="3119437" cy="1871662"/>
        </a:xfrm>
        <a:prstGeom prst="rect">
          <a:avLst/>
        </a:prstGeom>
        <a:gradFill rotWithShape="0">
          <a:gsLst>
            <a:gs pos="0">
              <a:schemeClr val="accent2">
                <a:hueOff val="0"/>
                <a:satOff val="0"/>
                <a:lumOff val="0"/>
                <a:alphaOff val="0"/>
                <a:shade val="100000"/>
                <a:satMod val="137000"/>
              </a:schemeClr>
            </a:gs>
            <a:gs pos="71000">
              <a:schemeClr val="accent2">
                <a:hueOff val="0"/>
                <a:satOff val="0"/>
                <a:lumOff val="0"/>
                <a:alphaOff val="0"/>
                <a:shade val="98000"/>
                <a:satMod val="137000"/>
              </a:schemeClr>
            </a:gs>
            <a:gs pos="100000">
              <a:schemeClr val="accent2">
                <a:hueOff val="0"/>
                <a:satOff val="0"/>
                <a:lumOff val="0"/>
                <a:alphaOff val="0"/>
                <a:shade val="75000"/>
                <a:satMod val="137000"/>
              </a:schemeClr>
            </a:gs>
          </a:gsLst>
          <a:path path="rect">
            <a:fillToRect l="50000" t="50000" r="50000" b="50000"/>
          </a:path>
        </a:gradFill>
        <a:ln>
          <a:noFill/>
        </a:ln>
        <a:effectLst>
          <a:outerShdw blurRad="39000" dist="25400" dir="5400000" rotWithShape="0">
            <a:srgbClr val="000000">
              <a:alpha val="3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Methods also have a return type, either a primitive type or a reference type. If a method does not return any value, the place where a return type would go is filled with a void.</a:t>
          </a:r>
        </a:p>
      </dsp:txBody>
      <dsp:txXfrm>
        <a:off x="6862762" y="2441971"/>
        <a:ext cx="3119437" cy="187166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11/10/2019</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dirty="0"/>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11/10/2019</a:t>
            </a:fld>
            <a:endParaRP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dirty="0"/>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7</a:t>
            </a:fld>
            <a:endParaRPr lang="en-US" dirty="0"/>
          </a:p>
        </p:txBody>
      </p:sp>
    </p:spTree>
    <p:extLst>
      <p:ext uri="{BB962C8B-B14F-4D97-AF65-F5344CB8AC3E}">
        <p14:creationId xmlns:p14="http://schemas.microsoft.com/office/powerpoint/2010/main" val="7675413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8</a:t>
            </a:fld>
            <a:endParaRPr lang="en-US" dirty="0"/>
          </a:p>
        </p:txBody>
      </p:sp>
    </p:spTree>
    <p:extLst>
      <p:ext uri="{BB962C8B-B14F-4D97-AF65-F5344CB8AC3E}">
        <p14:creationId xmlns:p14="http://schemas.microsoft.com/office/powerpoint/2010/main" val="1170875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Output: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class or static variable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class or static variable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class or static variable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Changed Text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Changed Text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Changed Text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As you can see all three statements displayed the same output irrespective of the instance through which it is being accessed. That’s is why we can access the static variables without using the objects like this:</a:t>
            </a:r>
          </a:p>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13</a:t>
            </a:fld>
            <a:endParaRPr lang="en-US" dirty="0"/>
          </a:p>
        </p:txBody>
      </p:sp>
    </p:spTree>
    <p:extLst>
      <p:ext uri="{BB962C8B-B14F-4D97-AF65-F5344CB8AC3E}">
        <p14:creationId xmlns:p14="http://schemas.microsoft.com/office/powerpoint/2010/main" val="29647036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i="0" kern="1200" dirty="0">
                <a:solidFill>
                  <a:schemeClr val="tx1"/>
                </a:solidFill>
                <a:effectLst/>
                <a:latin typeface="+mn-lt"/>
                <a:ea typeface="+mn-ea"/>
                <a:cs typeface="+mn-cs"/>
              </a:rPr>
              <a:t>Output:</a:t>
            </a:r>
            <a:endParaRPr lang="fr-FR" sz="1200" b="0" i="0" kern="1200" dirty="0">
              <a:solidFill>
                <a:schemeClr val="tx1"/>
              </a:solidFill>
              <a:effectLst/>
              <a:latin typeface="+mn-lt"/>
              <a:ea typeface="+mn-ea"/>
              <a:cs typeface="+mn-cs"/>
            </a:endParaRPr>
          </a:p>
          <a:p>
            <a:r>
              <a:rPr lang="fr-FR" sz="1200" kern="1200" dirty="0">
                <a:solidFill>
                  <a:schemeClr val="tx1"/>
                </a:solidFill>
                <a:effectLst/>
                <a:latin typeface="+mn-lt"/>
                <a:ea typeface="+mn-ea"/>
                <a:cs typeface="+mn-cs"/>
              </a:rPr>
              <a:t>instance variable </a:t>
            </a:r>
          </a:p>
          <a:p>
            <a:r>
              <a:rPr lang="fr-FR" sz="1200" kern="1200" dirty="0">
                <a:solidFill>
                  <a:schemeClr val="tx1"/>
                </a:solidFill>
                <a:effectLst/>
                <a:latin typeface="+mn-lt"/>
                <a:ea typeface="+mn-ea"/>
                <a:cs typeface="+mn-cs"/>
              </a:rPr>
              <a:t>instance variable </a:t>
            </a:r>
          </a:p>
          <a:p>
            <a:r>
              <a:rPr lang="fr-FR" sz="1200" kern="1200" dirty="0">
                <a:solidFill>
                  <a:schemeClr val="tx1"/>
                </a:solidFill>
                <a:effectLst/>
                <a:latin typeface="+mn-lt"/>
                <a:ea typeface="+mn-ea"/>
                <a:cs typeface="+mn-cs"/>
              </a:rPr>
              <a:t>instance variable </a:t>
            </a:r>
          </a:p>
          <a:p>
            <a:r>
              <a:rPr lang="fr-FR" sz="1200" kern="1200" dirty="0">
                <a:solidFill>
                  <a:schemeClr val="tx1"/>
                </a:solidFill>
                <a:effectLst/>
                <a:latin typeface="+mn-lt"/>
                <a:ea typeface="+mn-ea"/>
                <a:cs typeface="+mn-cs"/>
              </a:rPr>
              <a:t>instance variable </a:t>
            </a:r>
          </a:p>
          <a:p>
            <a:r>
              <a:rPr lang="fr-FR" sz="1200" kern="1200" dirty="0">
                <a:solidFill>
                  <a:schemeClr val="tx1"/>
                </a:solidFill>
                <a:effectLst/>
                <a:latin typeface="+mn-lt"/>
                <a:ea typeface="+mn-ea"/>
                <a:cs typeface="+mn-cs"/>
              </a:rPr>
              <a:t>Changed Text </a:t>
            </a:r>
          </a:p>
          <a:p>
            <a:r>
              <a:rPr lang="fr-FR" sz="1200" kern="1200" dirty="0">
                <a:solidFill>
                  <a:schemeClr val="tx1"/>
                </a:solidFill>
                <a:effectLst/>
                <a:latin typeface="+mn-lt"/>
                <a:ea typeface="+mn-ea"/>
                <a:cs typeface="+mn-cs"/>
              </a:rPr>
              <a:t>instance variable</a:t>
            </a:r>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14</a:t>
            </a:fld>
            <a:endParaRPr lang="en-US" dirty="0"/>
          </a:p>
        </p:txBody>
      </p:sp>
    </p:spTree>
    <p:extLst>
      <p:ext uri="{BB962C8B-B14F-4D97-AF65-F5344CB8AC3E}">
        <p14:creationId xmlns:p14="http://schemas.microsoft.com/office/powerpoint/2010/main" val="2905741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Output:</a:t>
            </a:r>
            <a:endParaRPr lang="en-US" sz="1200" b="0" i="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Calling Method</a:t>
            </a:r>
          </a:p>
          <a:p>
            <a:r>
              <a:rPr lang="en-US" sz="1200" kern="1200" dirty="0">
                <a:solidFill>
                  <a:schemeClr val="tx1"/>
                </a:solidFill>
                <a:effectLst/>
                <a:latin typeface="+mn-lt"/>
                <a:ea typeface="+mn-ea"/>
                <a:cs typeface="+mn-cs"/>
              </a:rPr>
              <a:t>Inside Method </a:t>
            </a:r>
          </a:p>
          <a:p>
            <a:r>
              <a:rPr lang="en-US" sz="1200" kern="1200" dirty="0">
                <a:solidFill>
                  <a:schemeClr val="tx1"/>
                </a:solidFill>
                <a:effectLst/>
                <a:latin typeface="+mn-lt"/>
                <a:ea typeface="+mn-ea"/>
                <a:cs typeface="+mn-cs"/>
              </a:rPr>
              <a:t>instance variable</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If I hadn’t declared the instance variable and only declared the local variable inside method then the statement System.out.println(obj.myVar); would have thrown compilation error. As you cannot change and access local variables outside the method.</a:t>
            </a:r>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15</a:t>
            </a:fld>
            <a:endParaRPr lang="en-US" dirty="0"/>
          </a:p>
        </p:txBody>
      </p:sp>
    </p:spTree>
    <p:extLst>
      <p:ext uri="{BB962C8B-B14F-4D97-AF65-F5344CB8AC3E}">
        <p14:creationId xmlns:p14="http://schemas.microsoft.com/office/powerpoint/2010/main" val="908239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It will throw a compilation error. The reason is, the statement </a:t>
            </a:r>
            <a:r>
              <a:rPr lang="en-US" dirty="0"/>
              <a:t>Example3 myobj = new Example3()</a:t>
            </a:r>
            <a:r>
              <a:rPr lang="en-US" sz="1200" b="0" i="0" kern="1200" dirty="0">
                <a:solidFill>
                  <a:schemeClr val="tx1"/>
                </a:solidFill>
                <a:effectLst/>
                <a:latin typeface="+mn-lt"/>
                <a:ea typeface="+mn-ea"/>
                <a:cs typeface="+mn-cs"/>
              </a:rPr>
              <a:t> is invoking a default constructor which we don’t have in our program. when you don’t implement any constructor in your class, compiler inserts the default constructor into your code, however when you implement any constructor (in above example I have implemented parameterized constructor with int parameter), then you don’t receive the default constructor by compiler into your code.</a:t>
            </a:r>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25</a:t>
            </a:fld>
            <a:endParaRPr lang="en-US" dirty="0"/>
          </a:p>
        </p:txBody>
      </p:sp>
    </p:spTree>
    <p:extLst>
      <p:ext uri="{BB962C8B-B14F-4D97-AF65-F5344CB8AC3E}">
        <p14:creationId xmlns:p14="http://schemas.microsoft.com/office/powerpoint/2010/main" val="2936060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Employee Name: Chaitanya </a:t>
            </a:r>
          </a:p>
          <a:p>
            <a:r>
              <a:rPr lang="en-US" sz="1200" kern="1200" dirty="0">
                <a:solidFill>
                  <a:schemeClr val="tx1"/>
                </a:solidFill>
                <a:effectLst/>
                <a:latin typeface="+mn-lt"/>
                <a:ea typeface="+mn-ea"/>
                <a:cs typeface="+mn-cs"/>
              </a:rPr>
              <a:t>Employee Salary: 120035 </a:t>
            </a:r>
          </a:p>
          <a:p>
            <a:r>
              <a:rPr lang="en-US" sz="1200" kern="1200" dirty="0">
                <a:solidFill>
                  <a:schemeClr val="tx1"/>
                </a:solidFill>
                <a:effectLst/>
                <a:latin typeface="+mn-lt"/>
                <a:ea typeface="+mn-ea"/>
                <a:cs typeface="+mn-cs"/>
              </a:rPr>
              <a:t>Employee Address: Gurgaon</a:t>
            </a:r>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27</a:t>
            </a:fld>
            <a:endParaRPr lang="en-US" dirty="0"/>
          </a:p>
        </p:txBody>
      </p:sp>
    </p:spTree>
    <p:extLst>
      <p:ext uri="{BB962C8B-B14F-4D97-AF65-F5344CB8AC3E}">
        <p14:creationId xmlns:p14="http://schemas.microsoft.com/office/powerpoint/2010/main" val="2273464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29</a:t>
            </a:fld>
            <a:endParaRPr lang="en-US" dirty="0"/>
          </a:p>
        </p:txBody>
      </p:sp>
    </p:spTree>
    <p:extLst>
      <p:ext uri="{BB962C8B-B14F-4D97-AF65-F5344CB8AC3E}">
        <p14:creationId xmlns:p14="http://schemas.microsoft.com/office/powerpoint/2010/main" val="1683395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30</a:t>
            </a:fld>
            <a:endParaRPr lang="en-US" dirty="0"/>
          </a:p>
        </p:txBody>
      </p:sp>
    </p:spTree>
    <p:extLst>
      <p:ext uri="{BB962C8B-B14F-4D97-AF65-F5344CB8AC3E}">
        <p14:creationId xmlns:p14="http://schemas.microsoft.com/office/powerpoint/2010/main" val="2617566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31</a:t>
            </a:fld>
            <a:endParaRPr lang="en-US" dirty="0"/>
          </a:p>
        </p:txBody>
      </p:sp>
    </p:spTree>
    <p:extLst>
      <p:ext uri="{BB962C8B-B14F-4D97-AF65-F5344CB8AC3E}">
        <p14:creationId xmlns:p14="http://schemas.microsoft.com/office/powerpoint/2010/main" val="29461597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32</a:t>
            </a:fld>
            <a:endParaRPr lang="en-US" dirty="0"/>
          </a:p>
        </p:txBody>
      </p:sp>
    </p:spTree>
    <p:extLst>
      <p:ext uri="{BB962C8B-B14F-4D97-AF65-F5344CB8AC3E}">
        <p14:creationId xmlns:p14="http://schemas.microsoft.com/office/powerpoint/2010/main" val="2372315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33</a:t>
            </a:fld>
            <a:endParaRPr lang="en-US" dirty="0"/>
          </a:p>
        </p:txBody>
      </p:sp>
    </p:spTree>
    <p:extLst>
      <p:ext uri="{BB962C8B-B14F-4D97-AF65-F5344CB8AC3E}">
        <p14:creationId xmlns:p14="http://schemas.microsoft.com/office/powerpoint/2010/main" val="1992397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34</a:t>
            </a:fld>
            <a:endParaRPr lang="en-US" dirty="0"/>
          </a:p>
        </p:txBody>
      </p:sp>
    </p:spTree>
    <p:extLst>
      <p:ext uri="{BB962C8B-B14F-4D97-AF65-F5344CB8AC3E}">
        <p14:creationId xmlns:p14="http://schemas.microsoft.com/office/powerpoint/2010/main" val="18048971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when we say methods it means non static</a:t>
            </a:r>
          </a:p>
        </p:txBody>
      </p:sp>
      <p:sp>
        <p:nvSpPr>
          <p:cNvPr id="4" name="Slide Number Placeholder 3"/>
          <p:cNvSpPr>
            <a:spLocks noGrp="1"/>
          </p:cNvSpPr>
          <p:nvPr>
            <p:ph type="sldNum" sz="quarter" idx="10"/>
          </p:nvPr>
        </p:nvSpPr>
        <p:spPr/>
        <p:txBody>
          <a:bodyPr/>
          <a:lstStyle/>
          <a:p>
            <a:fld id="{0A3C37BE-C303-496D-B5CD-85F2937540FC}" type="slidenum">
              <a:rPr lang="en-US" smtClean="0"/>
              <a:t>35</a:t>
            </a:fld>
            <a:endParaRPr lang="en-US" dirty="0"/>
          </a:p>
        </p:txBody>
      </p:sp>
    </p:spTree>
    <p:extLst>
      <p:ext uri="{BB962C8B-B14F-4D97-AF65-F5344CB8AC3E}">
        <p14:creationId xmlns:p14="http://schemas.microsoft.com/office/powerpoint/2010/main" val="1968601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when we say methods it means non static</a:t>
            </a:r>
          </a:p>
        </p:txBody>
      </p:sp>
      <p:sp>
        <p:nvSpPr>
          <p:cNvPr id="4" name="Slide Number Placeholder 3"/>
          <p:cNvSpPr>
            <a:spLocks noGrp="1"/>
          </p:cNvSpPr>
          <p:nvPr>
            <p:ph type="sldNum" sz="quarter" idx="10"/>
          </p:nvPr>
        </p:nvSpPr>
        <p:spPr/>
        <p:txBody>
          <a:bodyPr/>
          <a:lstStyle/>
          <a:p>
            <a:fld id="{0A3C37BE-C303-496D-B5CD-85F2937540FC}" type="slidenum">
              <a:rPr lang="en-US" smtClean="0"/>
              <a:t>36</a:t>
            </a:fld>
            <a:endParaRPr lang="en-US" dirty="0"/>
          </a:p>
        </p:txBody>
      </p:sp>
    </p:spTree>
    <p:extLst>
      <p:ext uri="{BB962C8B-B14F-4D97-AF65-F5344CB8AC3E}">
        <p14:creationId xmlns:p14="http://schemas.microsoft.com/office/powerpoint/2010/main" val="7279201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when we say methods it means non static</a:t>
            </a:r>
          </a:p>
        </p:txBody>
      </p:sp>
      <p:sp>
        <p:nvSpPr>
          <p:cNvPr id="4" name="Slide Number Placeholder 3"/>
          <p:cNvSpPr>
            <a:spLocks noGrp="1"/>
          </p:cNvSpPr>
          <p:nvPr>
            <p:ph type="sldNum" sz="quarter" idx="10"/>
          </p:nvPr>
        </p:nvSpPr>
        <p:spPr/>
        <p:txBody>
          <a:bodyPr/>
          <a:lstStyle/>
          <a:p>
            <a:fld id="{0A3C37BE-C303-496D-B5CD-85F2937540FC}" type="slidenum">
              <a:rPr lang="en-US" smtClean="0"/>
              <a:t>37</a:t>
            </a:fld>
            <a:endParaRPr lang="en-US" dirty="0"/>
          </a:p>
        </p:txBody>
      </p:sp>
    </p:spTree>
    <p:extLst>
      <p:ext uri="{BB962C8B-B14F-4D97-AF65-F5344CB8AC3E}">
        <p14:creationId xmlns:p14="http://schemas.microsoft.com/office/powerpoint/2010/main" val="6219414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when we say methods it means non static</a:t>
            </a:r>
          </a:p>
        </p:txBody>
      </p:sp>
      <p:sp>
        <p:nvSpPr>
          <p:cNvPr id="4" name="Slide Number Placeholder 3"/>
          <p:cNvSpPr>
            <a:spLocks noGrp="1"/>
          </p:cNvSpPr>
          <p:nvPr>
            <p:ph type="sldNum" sz="quarter" idx="10"/>
          </p:nvPr>
        </p:nvSpPr>
        <p:spPr/>
        <p:txBody>
          <a:bodyPr/>
          <a:lstStyle/>
          <a:p>
            <a:fld id="{0A3C37BE-C303-496D-B5CD-85F2937540FC}" type="slidenum">
              <a:rPr lang="en-US" smtClean="0"/>
              <a:t>38</a:t>
            </a:fld>
            <a:endParaRPr lang="en-US" dirty="0"/>
          </a:p>
        </p:txBody>
      </p:sp>
    </p:spTree>
    <p:extLst>
      <p:ext uri="{BB962C8B-B14F-4D97-AF65-F5344CB8AC3E}">
        <p14:creationId xmlns:p14="http://schemas.microsoft.com/office/powerpoint/2010/main" val="4877511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when we say methods it means non static</a:t>
            </a:r>
          </a:p>
        </p:txBody>
      </p:sp>
      <p:sp>
        <p:nvSpPr>
          <p:cNvPr id="4" name="Slide Number Placeholder 3"/>
          <p:cNvSpPr>
            <a:spLocks noGrp="1"/>
          </p:cNvSpPr>
          <p:nvPr>
            <p:ph type="sldNum" sz="quarter" idx="10"/>
          </p:nvPr>
        </p:nvSpPr>
        <p:spPr/>
        <p:txBody>
          <a:bodyPr/>
          <a:lstStyle/>
          <a:p>
            <a:fld id="{0A3C37BE-C303-496D-B5CD-85F2937540FC}" type="slidenum">
              <a:rPr lang="en-US" smtClean="0"/>
              <a:t>39</a:t>
            </a:fld>
            <a:endParaRPr lang="en-US" dirty="0"/>
          </a:p>
        </p:txBody>
      </p:sp>
    </p:spTree>
    <p:extLst>
      <p:ext uri="{BB962C8B-B14F-4D97-AF65-F5344CB8AC3E}">
        <p14:creationId xmlns:p14="http://schemas.microsoft.com/office/powerpoint/2010/main" val="14310156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when we say methods it means non static</a:t>
            </a:r>
          </a:p>
        </p:txBody>
      </p:sp>
      <p:sp>
        <p:nvSpPr>
          <p:cNvPr id="4" name="Slide Number Placeholder 3"/>
          <p:cNvSpPr>
            <a:spLocks noGrp="1"/>
          </p:cNvSpPr>
          <p:nvPr>
            <p:ph type="sldNum" sz="quarter" idx="10"/>
          </p:nvPr>
        </p:nvSpPr>
        <p:spPr/>
        <p:txBody>
          <a:bodyPr/>
          <a:lstStyle/>
          <a:p>
            <a:fld id="{0A3C37BE-C303-496D-B5CD-85F2937540FC}" type="slidenum">
              <a:rPr lang="en-US" smtClean="0"/>
              <a:t>40</a:t>
            </a:fld>
            <a:endParaRPr lang="en-US" dirty="0"/>
          </a:p>
        </p:txBody>
      </p:sp>
    </p:spTree>
    <p:extLst>
      <p:ext uri="{BB962C8B-B14F-4D97-AF65-F5344CB8AC3E}">
        <p14:creationId xmlns:p14="http://schemas.microsoft.com/office/powerpoint/2010/main" val="11470428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when we say methods it means non static</a:t>
            </a:r>
          </a:p>
        </p:txBody>
      </p:sp>
      <p:sp>
        <p:nvSpPr>
          <p:cNvPr id="4" name="Slide Number Placeholder 3"/>
          <p:cNvSpPr>
            <a:spLocks noGrp="1"/>
          </p:cNvSpPr>
          <p:nvPr>
            <p:ph type="sldNum" sz="quarter" idx="10"/>
          </p:nvPr>
        </p:nvSpPr>
        <p:spPr/>
        <p:txBody>
          <a:bodyPr/>
          <a:lstStyle/>
          <a:p>
            <a:fld id="{0A3C37BE-C303-496D-B5CD-85F2937540FC}" type="slidenum">
              <a:rPr lang="en-US" smtClean="0"/>
              <a:t>41</a:t>
            </a:fld>
            <a:endParaRPr lang="en-US" dirty="0"/>
          </a:p>
        </p:txBody>
      </p:sp>
    </p:spTree>
    <p:extLst>
      <p:ext uri="{BB962C8B-B14F-4D97-AF65-F5344CB8AC3E}">
        <p14:creationId xmlns:p14="http://schemas.microsoft.com/office/powerpoint/2010/main" val="15832623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when we say methods it means non static</a:t>
            </a:r>
          </a:p>
        </p:txBody>
      </p:sp>
      <p:sp>
        <p:nvSpPr>
          <p:cNvPr id="4" name="Slide Number Placeholder 3"/>
          <p:cNvSpPr>
            <a:spLocks noGrp="1"/>
          </p:cNvSpPr>
          <p:nvPr>
            <p:ph type="sldNum" sz="quarter" idx="10"/>
          </p:nvPr>
        </p:nvSpPr>
        <p:spPr/>
        <p:txBody>
          <a:bodyPr/>
          <a:lstStyle/>
          <a:p>
            <a:fld id="{0A3C37BE-C303-496D-B5CD-85F2937540FC}" type="slidenum">
              <a:rPr lang="en-US" smtClean="0"/>
              <a:t>42</a:t>
            </a:fld>
            <a:endParaRPr lang="en-US" dirty="0"/>
          </a:p>
        </p:txBody>
      </p:sp>
    </p:spTree>
    <p:extLst>
      <p:ext uri="{BB962C8B-B14F-4D97-AF65-F5344CB8AC3E}">
        <p14:creationId xmlns:p14="http://schemas.microsoft.com/office/powerpoint/2010/main" val="15140309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when we say methods it means non static</a:t>
            </a:r>
          </a:p>
        </p:txBody>
      </p:sp>
      <p:sp>
        <p:nvSpPr>
          <p:cNvPr id="4" name="Slide Number Placeholder 3"/>
          <p:cNvSpPr>
            <a:spLocks noGrp="1"/>
          </p:cNvSpPr>
          <p:nvPr>
            <p:ph type="sldNum" sz="quarter" idx="10"/>
          </p:nvPr>
        </p:nvSpPr>
        <p:spPr/>
        <p:txBody>
          <a:bodyPr/>
          <a:lstStyle/>
          <a:p>
            <a:fld id="{0A3C37BE-C303-496D-B5CD-85F2937540FC}" type="slidenum">
              <a:rPr lang="en-US" smtClean="0"/>
              <a:t>43</a:t>
            </a:fld>
            <a:endParaRPr lang="en-US" dirty="0"/>
          </a:p>
        </p:txBody>
      </p:sp>
    </p:spTree>
    <p:extLst>
      <p:ext uri="{BB962C8B-B14F-4D97-AF65-F5344CB8AC3E}">
        <p14:creationId xmlns:p14="http://schemas.microsoft.com/office/powerpoint/2010/main" val="42636723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when we say methods it means non static</a:t>
            </a:r>
          </a:p>
        </p:txBody>
      </p:sp>
      <p:sp>
        <p:nvSpPr>
          <p:cNvPr id="4" name="Slide Number Placeholder 3"/>
          <p:cNvSpPr>
            <a:spLocks noGrp="1"/>
          </p:cNvSpPr>
          <p:nvPr>
            <p:ph type="sldNum" sz="quarter" idx="10"/>
          </p:nvPr>
        </p:nvSpPr>
        <p:spPr/>
        <p:txBody>
          <a:bodyPr/>
          <a:lstStyle/>
          <a:p>
            <a:fld id="{0A3C37BE-C303-496D-B5CD-85F2937540FC}" type="slidenum">
              <a:rPr lang="en-US" smtClean="0"/>
              <a:t>44</a:t>
            </a:fld>
            <a:endParaRPr lang="en-US" dirty="0"/>
          </a:p>
        </p:txBody>
      </p:sp>
    </p:spTree>
    <p:extLst>
      <p:ext uri="{BB962C8B-B14F-4D97-AF65-F5344CB8AC3E}">
        <p14:creationId xmlns:p14="http://schemas.microsoft.com/office/powerpoint/2010/main" val="40930227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when we say methods it means non static</a:t>
            </a:r>
          </a:p>
        </p:txBody>
      </p:sp>
      <p:sp>
        <p:nvSpPr>
          <p:cNvPr id="4" name="Slide Number Placeholder 3"/>
          <p:cNvSpPr>
            <a:spLocks noGrp="1"/>
          </p:cNvSpPr>
          <p:nvPr>
            <p:ph type="sldNum" sz="quarter" idx="10"/>
          </p:nvPr>
        </p:nvSpPr>
        <p:spPr/>
        <p:txBody>
          <a:bodyPr/>
          <a:lstStyle/>
          <a:p>
            <a:fld id="{0A3C37BE-C303-496D-B5CD-85F2937540FC}" type="slidenum">
              <a:rPr lang="en-US" smtClean="0"/>
              <a:t>45</a:t>
            </a:fld>
            <a:endParaRPr lang="en-US" dirty="0"/>
          </a:p>
        </p:txBody>
      </p:sp>
    </p:spTree>
    <p:extLst>
      <p:ext uri="{BB962C8B-B14F-4D97-AF65-F5344CB8AC3E}">
        <p14:creationId xmlns:p14="http://schemas.microsoft.com/office/powerpoint/2010/main" val="5298235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when we say methods it means non static</a:t>
            </a:r>
          </a:p>
        </p:txBody>
      </p:sp>
      <p:sp>
        <p:nvSpPr>
          <p:cNvPr id="4" name="Slide Number Placeholder 3"/>
          <p:cNvSpPr>
            <a:spLocks noGrp="1"/>
          </p:cNvSpPr>
          <p:nvPr>
            <p:ph type="sldNum" sz="quarter" idx="10"/>
          </p:nvPr>
        </p:nvSpPr>
        <p:spPr/>
        <p:txBody>
          <a:bodyPr/>
          <a:lstStyle/>
          <a:p>
            <a:fld id="{0A3C37BE-C303-496D-B5CD-85F2937540FC}" type="slidenum">
              <a:rPr lang="en-US" smtClean="0"/>
              <a:t>46</a:t>
            </a:fld>
            <a:endParaRPr lang="en-US" dirty="0"/>
          </a:p>
        </p:txBody>
      </p:sp>
    </p:spTree>
    <p:extLst>
      <p:ext uri="{BB962C8B-B14F-4D97-AF65-F5344CB8AC3E}">
        <p14:creationId xmlns:p14="http://schemas.microsoft.com/office/powerpoint/2010/main" val="41417331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when we say methods it means non static</a:t>
            </a:r>
          </a:p>
        </p:txBody>
      </p:sp>
      <p:sp>
        <p:nvSpPr>
          <p:cNvPr id="4" name="Slide Number Placeholder 3"/>
          <p:cNvSpPr>
            <a:spLocks noGrp="1"/>
          </p:cNvSpPr>
          <p:nvPr>
            <p:ph type="sldNum" sz="quarter" idx="10"/>
          </p:nvPr>
        </p:nvSpPr>
        <p:spPr/>
        <p:txBody>
          <a:bodyPr/>
          <a:lstStyle/>
          <a:p>
            <a:fld id="{0A3C37BE-C303-496D-B5CD-85F2937540FC}" type="slidenum">
              <a:rPr lang="en-US" smtClean="0"/>
              <a:t>47</a:t>
            </a:fld>
            <a:endParaRPr lang="en-US" dirty="0"/>
          </a:p>
        </p:txBody>
      </p:sp>
    </p:spTree>
    <p:extLst>
      <p:ext uri="{BB962C8B-B14F-4D97-AF65-F5344CB8AC3E}">
        <p14:creationId xmlns:p14="http://schemas.microsoft.com/office/powerpoint/2010/main" val="27371321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when we say methods it means non static</a:t>
            </a:r>
          </a:p>
        </p:txBody>
      </p:sp>
      <p:sp>
        <p:nvSpPr>
          <p:cNvPr id="4" name="Slide Number Placeholder 3"/>
          <p:cNvSpPr>
            <a:spLocks noGrp="1"/>
          </p:cNvSpPr>
          <p:nvPr>
            <p:ph type="sldNum" sz="quarter" idx="10"/>
          </p:nvPr>
        </p:nvSpPr>
        <p:spPr/>
        <p:txBody>
          <a:bodyPr/>
          <a:lstStyle/>
          <a:p>
            <a:fld id="{0A3C37BE-C303-496D-B5CD-85F2937540FC}" type="slidenum">
              <a:rPr lang="en-US" smtClean="0"/>
              <a:t>48</a:t>
            </a:fld>
            <a:endParaRPr lang="en-US" dirty="0"/>
          </a:p>
        </p:txBody>
      </p:sp>
    </p:spTree>
    <p:extLst>
      <p:ext uri="{BB962C8B-B14F-4D97-AF65-F5344CB8AC3E}">
        <p14:creationId xmlns:p14="http://schemas.microsoft.com/office/powerpoint/2010/main" val="9836955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when we say methods it means non static</a:t>
            </a:r>
          </a:p>
        </p:txBody>
      </p:sp>
      <p:sp>
        <p:nvSpPr>
          <p:cNvPr id="4" name="Slide Number Placeholder 3"/>
          <p:cNvSpPr>
            <a:spLocks noGrp="1"/>
          </p:cNvSpPr>
          <p:nvPr>
            <p:ph type="sldNum" sz="quarter" idx="10"/>
          </p:nvPr>
        </p:nvSpPr>
        <p:spPr/>
        <p:txBody>
          <a:bodyPr/>
          <a:lstStyle/>
          <a:p>
            <a:fld id="{0A3C37BE-C303-496D-B5CD-85F2937540FC}" type="slidenum">
              <a:rPr lang="en-US" smtClean="0"/>
              <a:t>49</a:t>
            </a:fld>
            <a:endParaRPr lang="en-US" dirty="0"/>
          </a:p>
        </p:txBody>
      </p:sp>
    </p:spTree>
    <p:extLst>
      <p:ext uri="{BB962C8B-B14F-4D97-AF65-F5344CB8AC3E}">
        <p14:creationId xmlns:p14="http://schemas.microsoft.com/office/powerpoint/2010/main" val="250312287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11/10/2019</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11/10/2019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dirty="0"/>
              <a:t>Click icon to add picture</a:t>
            </a:r>
            <a:endParaRPr dirty="0"/>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11/10/2019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11/10/2019</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11/10/2019</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11/10/2019</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11/10/2019</a:t>
            </a:fld>
            <a:endParaRPr dirty="0"/>
          </a:p>
        </p:txBody>
      </p:sp>
      <p:sp>
        <p:nvSpPr>
          <p:cNvPr id="3" name="Footer Placeholder 2"/>
          <p:cNvSpPr>
            <a:spLocks noGrp="1"/>
          </p:cNvSpPr>
          <p:nvPr>
            <p:ph type="ftr" sz="quarter" idx="11"/>
          </p:nvPr>
        </p:nvSpPr>
        <p:spPr/>
        <p:txBody>
          <a:bodyPr/>
          <a:lstStyle/>
          <a:p>
            <a:endParaRPr dirty="0"/>
          </a:p>
        </p:txBody>
      </p:sp>
      <p:sp>
        <p:nvSpPr>
          <p:cNvPr id="4" name="Slide Number Placeholder 3"/>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11/10/2019</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5" name="Date Placeholder 4"/>
          <p:cNvSpPr>
            <a:spLocks noGrp="1"/>
          </p:cNvSpPr>
          <p:nvPr>
            <p:ph type="dt" sz="half" idx="10"/>
          </p:nvPr>
        </p:nvSpPr>
        <p:spPr/>
        <p:txBody>
          <a:bodyPr/>
          <a:lstStyle/>
          <a:p>
            <a:fld id="{402B9795-92DC-40DC-A1CA-9A4B349D7824}" type="datetimeFigureOut">
              <a:rPr lang="en-US"/>
              <a:t>11/10/2019</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11/10/2019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11/10/2019</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11/10/2019</a:t>
            </a:fld>
            <a:endParaRPr lang="en-US" dirty="0"/>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dirty="0"/>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dirty="0"/>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javarevisited.blogspot.com/2011/10/class-in-java-programming-general.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beginnersbook.com/2014/01/parameterized-constructor-in-java-example/" TargetMode="External"/><Relationship Id="rId2" Type="http://schemas.openxmlformats.org/officeDocument/2006/relationships/hyperlink" Target="https://beginnersbook.com/2013/03/constructors-in-java/"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beginnersbook.com/2014/01/parameterized-constructor-in-java-example/"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eginnersbook.com/2013/03/constructors-in-java/"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hyperlink" Target="mailto:avadekkedhil@wilp.bits-pilani.ac.in"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normAutofit/>
          </a:bodyPr>
          <a:lstStyle/>
          <a:p>
            <a:r>
              <a:rPr lang="en-US" dirty="0"/>
              <a:t>Object Oriented Programming &amp; Design</a:t>
            </a:r>
          </a:p>
        </p:txBody>
      </p:sp>
      <p:sp>
        <p:nvSpPr>
          <p:cNvPr id="7" name="Subtitle 6"/>
          <p:cNvSpPr>
            <a:spLocks noGrp="1"/>
          </p:cNvSpPr>
          <p:nvPr>
            <p:ph type="subTitle" idx="1"/>
          </p:nvPr>
        </p:nvSpPr>
        <p:spPr>
          <a:xfrm>
            <a:off x="1104900" y="4511785"/>
            <a:ext cx="5734050" cy="846298"/>
          </a:xfrm>
        </p:spPr>
        <p:txBody>
          <a:bodyPr/>
          <a:lstStyle/>
          <a:p>
            <a:r>
              <a:rPr lang="en-IN" b="1" dirty="0"/>
              <a:t>Session – 2: 30-Sep-2018</a:t>
            </a:r>
            <a:endParaRPr lang="en-US" b="1" dirty="0"/>
          </a:p>
        </p:txBody>
      </p:sp>
      <p:pic>
        <p:nvPicPr>
          <p:cNvPr id="4" name="Picture Placeholder 3"/>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6671780" y="1445796"/>
            <a:ext cx="5269208" cy="3912286"/>
          </a:xfrm>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Agenda</a:t>
            </a:r>
          </a:p>
        </p:txBody>
      </p:sp>
      <p:sp>
        <p:nvSpPr>
          <p:cNvPr id="14" name="Content Placeholder 13"/>
          <p:cNvSpPr>
            <a:spLocks noGrp="1"/>
          </p:cNvSpPr>
          <p:nvPr>
            <p:ph idx="1"/>
          </p:nvPr>
        </p:nvSpPr>
        <p:spPr/>
        <p:txBody>
          <a:bodyPr/>
          <a:lstStyle/>
          <a:p>
            <a:r>
              <a:rPr lang="en-US" dirty="0"/>
              <a:t>My First Java Program</a:t>
            </a:r>
          </a:p>
          <a:p>
            <a:pPr lvl="1"/>
            <a:r>
              <a:rPr lang="en-US" dirty="0"/>
              <a:t>Variables</a:t>
            </a:r>
          </a:p>
          <a:p>
            <a:pPr lvl="1"/>
            <a:r>
              <a:rPr lang="en-US" dirty="0"/>
              <a:t>Methods</a:t>
            </a:r>
          </a:p>
          <a:p>
            <a:r>
              <a:rPr lang="en-US" dirty="0"/>
              <a:t>Constructors Explained</a:t>
            </a:r>
          </a:p>
          <a:p>
            <a:r>
              <a:rPr lang="en-US" dirty="0"/>
              <a:t>This Keyword</a:t>
            </a:r>
          </a:p>
          <a:p>
            <a:r>
              <a:rPr lang="en-US" dirty="0"/>
              <a:t>Overloading </a:t>
            </a:r>
          </a:p>
          <a:p>
            <a:r>
              <a:rPr lang="en-US" dirty="0"/>
              <a:t>Mutable vs Immutable</a:t>
            </a:r>
          </a:p>
          <a:p>
            <a:r>
              <a:rPr lang="en-US" dirty="0"/>
              <a:t>Passing Objects as Parameters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3307" y="1466118"/>
            <a:ext cx="4706082" cy="4706082"/>
          </a:xfrm>
          <a:prstGeom prst="rect">
            <a:avLst/>
          </a:prstGeom>
        </p:spPr>
      </p:pic>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899" y="2971806"/>
            <a:ext cx="6099465" cy="1684150"/>
          </a:xfrm>
        </p:spPr>
        <p:txBody>
          <a:bodyPr/>
          <a:lstStyle/>
          <a:p>
            <a:r>
              <a:rPr lang="en-US" dirty="0"/>
              <a:t>My First dose of Java</a:t>
            </a:r>
          </a:p>
        </p:txBody>
      </p:sp>
      <p:sp>
        <p:nvSpPr>
          <p:cNvPr id="3" name="Text Placeholder 2"/>
          <p:cNvSpPr>
            <a:spLocks noGrp="1"/>
          </p:cNvSpPr>
          <p:nvPr>
            <p:ph type="body" idx="1"/>
          </p:nvPr>
        </p:nvSpPr>
        <p:spPr/>
        <p:txBody>
          <a:bodyPr/>
          <a:lstStyle/>
          <a:p>
            <a:r>
              <a:rPr lang="en-US" dirty="0"/>
              <a:t>Not your regular cuppa, I daresay mind the beans for now!!</a:t>
            </a:r>
          </a:p>
        </p:txBody>
      </p:sp>
      <p:pic>
        <p:nvPicPr>
          <p:cNvPr id="2050" name="Picture 2" descr="Image result for jav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4521" y="2971806"/>
            <a:ext cx="4667250" cy="2462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6288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Virtual Machine (JVM)</a:t>
            </a:r>
          </a:p>
        </p:txBody>
      </p:sp>
      <p:sp>
        <p:nvSpPr>
          <p:cNvPr id="3" name="Content Placeholder 2"/>
          <p:cNvSpPr>
            <a:spLocks noGrp="1"/>
          </p:cNvSpPr>
          <p:nvPr>
            <p:ph idx="1"/>
          </p:nvPr>
        </p:nvSpPr>
        <p:spPr>
          <a:xfrm>
            <a:off x="203676" y="1318705"/>
            <a:ext cx="11683525" cy="3525669"/>
          </a:xfrm>
        </p:spPr>
        <p:txBody>
          <a:bodyPr>
            <a:normAutofit/>
          </a:bodyPr>
          <a:lstStyle/>
          <a:p>
            <a:pPr algn="just"/>
            <a:r>
              <a:rPr lang="en-US" dirty="0">
                <a:latin typeface="Corbel" panose="020B0503020204020204" pitchFamily="34" charset="0"/>
              </a:rPr>
              <a:t>Java is a high level programming language. Meaning cannot be run on any machine directly. </a:t>
            </a:r>
          </a:p>
          <a:p>
            <a:pPr algn="just"/>
            <a:r>
              <a:rPr lang="en-US" dirty="0">
                <a:latin typeface="Corbel" panose="020B0503020204020204" pitchFamily="34" charset="0"/>
              </a:rPr>
              <a:t>First, it needs to be translated into that particular machine language. The </a:t>
            </a:r>
            <a:r>
              <a:rPr lang="en-US" b="1" dirty="0">
                <a:latin typeface="Corbel" panose="020B0503020204020204" pitchFamily="34" charset="0"/>
              </a:rPr>
              <a:t>javac compiler</a:t>
            </a:r>
            <a:r>
              <a:rPr lang="en-US" dirty="0">
                <a:latin typeface="Corbel" panose="020B0503020204020204" pitchFamily="34" charset="0"/>
              </a:rPr>
              <a:t> does this thing, it takes java program (.java file containing source code) and translates it into machine code (referred as byte code or .class file).</a:t>
            </a:r>
          </a:p>
          <a:p>
            <a:pPr algn="just"/>
            <a:r>
              <a:rPr lang="en-US" dirty="0">
                <a:latin typeface="Corbel" panose="020B0503020204020204" pitchFamily="34" charset="0"/>
              </a:rPr>
              <a:t>Java Virtual Machine (JVM) is a virtual machine that resides in the real machine (your computer) and the </a:t>
            </a:r>
            <a:r>
              <a:rPr lang="en-US" b="1" dirty="0">
                <a:latin typeface="Corbel" panose="020B0503020204020204" pitchFamily="34" charset="0"/>
              </a:rPr>
              <a:t>machine language for JVM is byte code</a:t>
            </a:r>
            <a:r>
              <a:rPr lang="en-US" dirty="0">
                <a:latin typeface="Corbel" panose="020B0503020204020204" pitchFamily="34" charset="0"/>
              </a:rPr>
              <a:t>. </a:t>
            </a:r>
          </a:p>
          <a:p>
            <a:pPr algn="just"/>
            <a:r>
              <a:rPr lang="en-US" dirty="0">
                <a:latin typeface="Corbel" panose="020B0503020204020204" pitchFamily="34" charset="0"/>
              </a:rPr>
              <a:t>This makes it easier for compiler as it has to generate byte code for JVM rather than different machine code for each type of machine. JVM executes the byte code generated by compiler and produce output.</a:t>
            </a:r>
          </a:p>
          <a:p>
            <a:pPr algn="just"/>
            <a:r>
              <a:rPr lang="en-US" dirty="0">
                <a:latin typeface="Corbel" panose="020B0503020204020204" pitchFamily="34" charset="0"/>
              </a:rPr>
              <a:t> </a:t>
            </a:r>
            <a:r>
              <a:rPr lang="en-US" b="1" dirty="0">
                <a:latin typeface="Corbel" panose="020B0503020204020204" pitchFamily="34" charset="0"/>
              </a:rPr>
              <a:t>JVM is the one that makes java platform independent</a:t>
            </a:r>
            <a:r>
              <a:rPr lang="en-US" dirty="0">
                <a:latin typeface="Corbel" panose="020B0503020204020204" pitchFamily="34" charset="0"/>
              </a:rPr>
              <a:t>.</a:t>
            </a:r>
          </a:p>
        </p:txBody>
      </p:sp>
      <p:pic>
        <p:nvPicPr>
          <p:cNvPr id="4" name="Picture 3"/>
          <p:cNvPicPr>
            <a:picLocks noChangeAspect="1"/>
          </p:cNvPicPr>
          <p:nvPr/>
        </p:nvPicPr>
        <p:blipFill rotWithShape="1">
          <a:blip r:embed="rId2"/>
          <a:srcRect t="6966"/>
          <a:stretch/>
        </p:blipFill>
        <p:spPr>
          <a:xfrm>
            <a:off x="271767" y="4844374"/>
            <a:ext cx="11576521" cy="1810831"/>
          </a:xfrm>
          <a:prstGeom prst="rect">
            <a:avLst/>
          </a:prstGeom>
        </p:spPr>
      </p:pic>
    </p:spTree>
    <p:extLst>
      <p:ext uri="{BB962C8B-B14F-4D97-AF65-F5344CB8AC3E}">
        <p14:creationId xmlns:p14="http://schemas.microsoft.com/office/powerpoint/2010/main" val="3911884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Virtual Machine (JVM) - Architecture</a:t>
            </a:r>
          </a:p>
        </p:txBody>
      </p:sp>
      <p:pic>
        <p:nvPicPr>
          <p:cNvPr id="3074" name="Picture 2" descr="Image result for java method are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1013" y="1400783"/>
            <a:ext cx="11439727" cy="5291847"/>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1661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Virtual Machine (JVM)</a:t>
            </a:r>
          </a:p>
        </p:txBody>
      </p:sp>
      <p:sp>
        <p:nvSpPr>
          <p:cNvPr id="3" name="Content Placeholder 2"/>
          <p:cNvSpPr>
            <a:spLocks noGrp="1"/>
          </p:cNvSpPr>
          <p:nvPr>
            <p:ph idx="1"/>
          </p:nvPr>
        </p:nvSpPr>
        <p:spPr>
          <a:xfrm>
            <a:off x="346363" y="1363805"/>
            <a:ext cx="11194474" cy="5286375"/>
          </a:xfrm>
        </p:spPr>
        <p:txBody>
          <a:bodyPr>
            <a:noAutofit/>
          </a:bodyPr>
          <a:lstStyle/>
          <a:p>
            <a:r>
              <a:rPr lang="en-US" b="1" dirty="0">
                <a:latin typeface="Corbel" panose="020B0503020204020204" pitchFamily="34" charset="0"/>
              </a:rPr>
              <a:t>Class Loader:</a:t>
            </a:r>
            <a:r>
              <a:rPr lang="en-US" dirty="0">
                <a:latin typeface="Corbel" panose="020B0503020204020204" pitchFamily="34" charset="0"/>
              </a:rPr>
              <a:t> The class loader reads the .class file and save the byte code in the </a:t>
            </a:r>
            <a:r>
              <a:rPr lang="en-US" b="1" dirty="0">
                <a:latin typeface="Corbel" panose="020B0503020204020204" pitchFamily="34" charset="0"/>
              </a:rPr>
              <a:t>method area</a:t>
            </a:r>
            <a:r>
              <a:rPr lang="en-US" dirty="0">
                <a:latin typeface="Corbel" panose="020B0503020204020204" pitchFamily="34" charset="0"/>
              </a:rPr>
              <a:t>.</a:t>
            </a:r>
          </a:p>
          <a:p>
            <a:r>
              <a:rPr lang="en-US" b="1" dirty="0">
                <a:latin typeface="Corbel" panose="020B0503020204020204" pitchFamily="34" charset="0"/>
              </a:rPr>
              <a:t>Method Area</a:t>
            </a:r>
            <a:r>
              <a:rPr lang="en-US" dirty="0">
                <a:latin typeface="Corbel" panose="020B0503020204020204" pitchFamily="34" charset="0"/>
              </a:rPr>
              <a:t>: There is only one method area in a JVM which is shared among all the classes. This holds the class level information of each .class file.</a:t>
            </a:r>
          </a:p>
          <a:p>
            <a:r>
              <a:rPr lang="en-US" b="1" dirty="0">
                <a:latin typeface="Corbel" panose="020B0503020204020204" pitchFamily="34" charset="0"/>
              </a:rPr>
              <a:t>Heap</a:t>
            </a:r>
            <a:r>
              <a:rPr lang="en-US" dirty="0">
                <a:latin typeface="Corbel" panose="020B0503020204020204" pitchFamily="34" charset="0"/>
              </a:rPr>
              <a:t>: Heap is a part of JVM memory where objects are allocated. JVM creates a Class object for each .class file.</a:t>
            </a:r>
          </a:p>
          <a:p>
            <a:r>
              <a:rPr lang="en-US" b="1" dirty="0">
                <a:latin typeface="Corbel" panose="020B0503020204020204" pitchFamily="34" charset="0"/>
              </a:rPr>
              <a:t>Stack</a:t>
            </a:r>
            <a:r>
              <a:rPr lang="en-US" dirty="0">
                <a:latin typeface="Corbel" panose="020B0503020204020204" pitchFamily="34" charset="0"/>
              </a:rPr>
              <a:t>: Stack is  also a part of JVM memory but unlike Heap, it is used for storing temporary variables.</a:t>
            </a:r>
          </a:p>
          <a:p>
            <a:r>
              <a:rPr lang="en-US" b="1" dirty="0">
                <a:latin typeface="Corbel" panose="020B0503020204020204" pitchFamily="34" charset="0"/>
              </a:rPr>
              <a:t>PC Registers</a:t>
            </a:r>
            <a:r>
              <a:rPr lang="en-US" dirty="0">
                <a:latin typeface="Corbel" panose="020B0503020204020204" pitchFamily="34" charset="0"/>
              </a:rPr>
              <a:t>: This keeps the track of which instruction has been executed and which one is going to be executed. Since instructions are executed by threads, each thread has a separate PC register.</a:t>
            </a:r>
          </a:p>
          <a:p>
            <a:r>
              <a:rPr lang="en-US" b="1" dirty="0">
                <a:latin typeface="Corbel" panose="020B0503020204020204" pitchFamily="34" charset="0"/>
              </a:rPr>
              <a:t>Native Method stack:</a:t>
            </a:r>
            <a:r>
              <a:rPr lang="en-US" dirty="0">
                <a:latin typeface="Corbel" panose="020B0503020204020204" pitchFamily="34" charset="0"/>
              </a:rPr>
              <a:t> A native method can access the runtime data areas of the virtual machine.</a:t>
            </a:r>
          </a:p>
          <a:p>
            <a:r>
              <a:rPr lang="en-US" b="1" dirty="0">
                <a:latin typeface="Corbel" panose="020B0503020204020204" pitchFamily="34" charset="0"/>
              </a:rPr>
              <a:t>Native Method interface</a:t>
            </a:r>
            <a:r>
              <a:rPr lang="en-US" dirty="0">
                <a:latin typeface="Corbel" panose="020B0503020204020204" pitchFamily="34" charset="0"/>
              </a:rPr>
              <a:t>: It enables java code to call or be called by native applications. Native applications are programs that are specific to the hardware and OS of a system.</a:t>
            </a:r>
          </a:p>
          <a:p>
            <a:r>
              <a:rPr lang="en-US" b="1" dirty="0">
                <a:latin typeface="Corbel" panose="020B0503020204020204" pitchFamily="34" charset="0"/>
              </a:rPr>
              <a:t>Garbage collection</a:t>
            </a:r>
            <a:r>
              <a:rPr lang="en-US" dirty="0">
                <a:latin typeface="Corbel" panose="020B0503020204020204" pitchFamily="34" charset="0"/>
              </a:rPr>
              <a:t>: A class instance is explicitly created by the java code and after use it is automatically destroyed by garbage collection for memory management.</a:t>
            </a:r>
          </a:p>
        </p:txBody>
      </p:sp>
    </p:spTree>
    <p:extLst>
      <p:ext uri="{BB962C8B-B14F-4D97-AF65-F5344CB8AC3E}">
        <p14:creationId xmlns:p14="http://schemas.microsoft.com/office/powerpoint/2010/main" val="2265277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The main () conundrum</a:t>
            </a:r>
          </a:p>
        </p:txBody>
      </p:sp>
      <p:sp>
        <p:nvSpPr>
          <p:cNvPr id="3" name="Content Placeholder 2"/>
          <p:cNvSpPr>
            <a:spLocks noGrp="1"/>
          </p:cNvSpPr>
          <p:nvPr>
            <p:ph idx="1"/>
          </p:nvPr>
        </p:nvSpPr>
        <p:spPr>
          <a:xfrm>
            <a:off x="126460" y="1411941"/>
            <a:ext cx="11789315" cy="4975412"/>
          </a:xfrm>
        </p:spPr>
        <p:txBody>
          <a:bodyPr>
            <a:noAutofit/>
          </a:bodyPr>
          <a:lstStyle/>
          <a:p>
            <a:pPr marL="171450" lvl="1" indent="0">
              <a:lnSpc>
                <a:spcPct val="150000"/>
              </a:lnSpc>
              <a:buNone/>
            </a:pPr>
            <a:r>
              <a:rPr lang="en-US" sz="2000" b="1" dirty="0">
                <a:latin typeface="Corbel" panose="020B0503020204020204" pitchFamily="34" charset="0"/>
              </a:rPr>
              <a:t>main ()</a:t>
            </a:r>
          </a:p>
          <a:p>
            <a:pPr marL="171450" lvl="1" indent="0">
              <a:lnSpc>
                <a:spcPct val="150000"/>
              </a:lnSpc>
              <a:buNone/>
            </a:pPr>
            <a:r>
              <a:rPr lang="en-US" sz="2000" b="1" i="1" dirty="0">
                <a:latin typeface="Corbel" panose="020B0503020204020204" pitchFamily="34" charset="0"/>
              </a:rPr>
              <a:t>main method </a:t>
            </a:r>
            <a:r>
              <a:rPr lang="en-US" sz="2000" dirty="0">
                <a:latin typeface="Corbel" panose="020B0503020204020204" pitchFamily="34" charset="0"/>
              </a:rPr>
              <a:t>in Java is a standard method which is used by JVM to </a:t>
            </a:r>
            <a:r>
              <a:rPr lang="en-US" sz="2000" b="1" i="1" dirty="0">
                <a:latin typeface="Corbel" panose="020B0503020204020204" pitchFamily="34" charset="0"/>
              </a:rPr>
              <a:t>start execution </a:t>
            </a:r>
            <a:r>
              <a:rPr lang="en-US" sz="2000" dirty="0">
                <a:latin typeface="Corbel" panose="020B0503020204020204" pitchFamily="34" charset="0"/>
              </a:rPr>
              <a:t>of any Java program. </a:t>
            </a:r>
          </a:p>
          <a:p>
            <a:pPr marL="171450" lvl="1" indent="0">
              <a:lnSpc>
                <a:spcPct val="150000"/>
              </a:lnSpc>
              <a:buNone/>
            </a:pPr>
            <a:r>
              <a:rPr lang="en-US" sz="2000" dirty="0">
                <a:latin typeface="Corbel" panose="020B0503020204020204" pitchFamily="34" charset="0"/>
              </a:rPr>
              <a:t>main method is referred as </a:t>
            </a:r>
            <a:r>
              <a:rPr lang="en-US" sz="2000" b="1" i="1" dirty="0">
                <a:latin typeface="Corbel" panose="020B0503020204020204" pitchFamily="34" charset="0"/>
              </a:rPr>
              <a:t>entry point </a:t>
            </a:r>
            <a:r>
              <a:rPr lang="en-US" sz="2000" dirty="0">
                <a:latin typeface="Corbel" panose="020B0503020204020204" pitchFamily="34" charset="0"/>
              </a:rPr>
              <a:t>of </a:t>
            </a:r>
            <a:r>
              <a:rPr lang="en-US" sz="2000" b="1" i="1" dirty="0">
                <a:latin typeface="Corbel" panose="020B0503020204020204" pitchFamily="34" charset="0"/>
              </a:rPr>
              <a:t>Java application </a:t>
            </a:r>
            <a:r>
              <a:rPr lang="en-US" sz="2000" dirty="0">
                <a:latin typeface="Corbel" panose="020B0503020204020204" pitchFamily="34" charset="0"/>
              </a:rPr>
              <a:t>which is true in case of core java application but in case of container managed environment like Servlet, EJB or MIDlet this is not true as these Java programs have there own life-cycle methods like init(), service() or destory() for Servlet's which is used by container. </a:t>
            </a:r>
          </a:p>
          <a:p>
            <a:pPr marL="171450" lvl="1" indent="0">
              <a:lnSpc>
                <a:spcPct val="150000"/>
              </a:lnSpc>
              <a:buNone/>
            </a:pPr>
            <a:r>
              <a:rPr lang="en-US" sz="2000" dirty="0">
                <a:latin typeface="Corbel" panose="020B0503020204020204" pitchFamily="34" charset="0"/>
              </a:rPr>
              <a:t>main method in Java is run by </a:t>
            </a:r>
            <a:r>
              <a:rPr lang="en-US" sz="2000" b="1" dirty="0">
                <a:latin typeface="Corbel" panose="020B0503020204020204" pitchFamily="34" charset="0"/>
              </a:rPr>
              <a:t>main thread </a:t>
            </a:r>
            <a:r>
              <a:rPr lang="en-US" sz="2000" dirty="0">
                <a:latin typeface="Corbel" panose="020B0503020204020204" pitchFamily="34" charset="0"/>
              </a:rPr>
              <a:t>which is a non daemon thread and Java program runs until main method finishes or any other user thread is running. </a:t>
            </a:r>
          </a:p>
          <a:p>
            <a:pPr marL="171450" lvl="1" indent="0">
              <a:lnSpc>
                <a:spcPct val="150000"/>
              </a:lnSpc>
              <a:buNone/>
            </a:pPr>
            <a:r>
              <a:rPr lang="en-US" sz="2000" dirty="0">
                <a:latin typeface="Corbel" panose="020B0503020204020204" pitchFamily="34" charset="0"/>
              </a:rPr>
              <a:t>When we </a:t>
            </a:r>
            <a:r>
              <a:rPr lang="en-US" sz="2000" b="1" u="sng" dirty="0">
                <a:latin typeface="Corbel" panose="020B0503020204020204" pitchFamily="34" charset="0"/>
              </a:rPr>
              <a:t>start JVM </a:t>
            </a:r>
            <a:r>
              <a:rPr lang="en-US" sz="2000" dirty="0">
                <a:latin typeface="Corbel" panose="020B0503020204020204" pitchFamily="34" charset="0"/>
              </a:rPr>
              <a:t>by </a:t>
            </a:r>
            <a:r>
              <a:rPr lang="en-US" sz="2000" b="1" u="sng" dirty="0">
                <a:latin typeface="Corbel" panose="020B0503020204020204" pitchFamily="34" charset="0"/>
              </a:rPr>
              <a:t>running java</a:t>
            </a:r>
            <a:r>
              <a:rPr lang="en-US" sz="2000" dirty="0">
                <a:latin typeface="Corbel" panose="020B0503020204020204" pitchFamily="34" charset="0"/>
              </a:rPr>
              <a:t> command we also provide </a:t>
            </a:r>
            <a:r>
              <a:rPr lang="en-US" sz="2000" b="1" u="sng" dirty="0">
                <a:latin typeface="Corbel" panose="020B0503020204020204" pitchFamily="34" charset="0"/>
              </a:rPr>
              <a:t>name of class </a:t>
            </a:r>
            <a:r>
              <a:rPr lang="en-US" sz="2000" dirty="0">
                <a:latin typeface="Corbel" panose="020B0503020204020204" pitchFamily="34" charset="0"/>
              </a:rPr>
              <a:t>which contains </a:t>
            </a:r>
            <a:r>
              <a:rPr lang="en-US" sz="2000" b="1" u="sng" dirty="0">
                <a:latin typeface="Corbel" panose="020B0503020204020204" pitchFamily="34" charset="0"/>
              </a:rPr>
              <a:t>main method</a:t>
            </a:r>
            <a:r>
              <a:rPr lang="en-US" sz="2000" dirty="0">
                <a:latin typeface="Corbel" panose="020B0503020204020204" pitchFamily="34" charset="0"/>
              </a:rPr>
              <a:t>, which is later invoked by JVM to start Java program execution.</a:t>
            </a:r>
            <a:br>
              <a:rPr lang="en-US" sz="2000" dirty="0">
                <a:latin typeface="Corbel" panose="020B0503020204020204" pitchFamily="34" charset="0"/>
              </a:rPr>
            </a:br>
            <a:endParaRPr lang="en-US" b="1" i="1" dirty="0">
              <a:latin typeface="Corbel" panose="020B0503020204020204" pitchFamily="34" charset="0"/>
            </a:endParaRPr>
          </a:p>
        </p:txBody>
      </p:sp>
    </p:spTree>
    <p:extLst>
      <p:ext uri="{BB962C8B-B14F-4D97-AF65-F5344CB8AC3E}">
        <p14:creationId xmlns:p14="http://schemas.microsoft.com/office/powerpoint/2010/main" val="3111565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get Started : The main () conundrum</a:t>
            </a:r>
          </a:p>
        </p:txBody>
      </p:sp>
      <p:sp>
        <p:nvSpPr>
          <p:cNvPr id="3" name="Content Placeholder 2"/>
          <p:cNvSpPr>
            <a:spLocks noGrp="1"/>
          </p:cNvSpPr>
          <p:nvPr>
            <p:ph idx="1"/>
          </p:nvPr>
        </p:nvSpPr>
        <p:spPr>
          <a:xfrm>
            <a:off x="1103381" y="1411941"/>
            <a:ext cx="10812394" cy="4975412"/>
          </a:xfrm>
        </p:spPr>
        <p:txBody>
          <a:bodyPr>
            <a:noAutofit/>
          </a:bodyPr>
          <a:lstStyle/>
          <a:p>
            <a:pPr marL="171450" lvl="1" indent="0">
              <a:lnSpc>
                <a:spcPct val="150000"/>
              </a:lnSpc>
              <a:buNone/>
            </a:pPr>
            <a:r>
              <a:rPr lang="en-US" sz="2000" b="1" dirty="0">
                <a:latin typeface="Corbel" panose="020B0503020204020204" pitchFamily="34" charset="0"/>
              </a:rPr>
              <a:t>main ()</a:t>
            </a:r>
          </a:p>
          <a:p>
            <a:pPr marL="171450" lvl="1" indent="0">
              <a:lnSpc>
                <a:spcPct val="150000"/>
              </a:lnSpc>
              <a:buNone/>
            </a:pPr>
            <a:r>
              <a:rPr lang="en-US" dirty="0"/>
              <a:t>Since the main method is static Java virtual Machine can call it without creating any instance of a class which contains the main method.</a:t>
            </a:r>
            <a:br>
              <a:rPr lang="en-US" dirty="0"/>
            </a:br>
            <a:r>
              <a:rPr lang="en-US" dirty="0"/>
              <a:t>If main method were not declared static than JVM has to create instance of main Class and since constructor can be overloaded and can have arguments there would not be any certain and consistent way for </a:t>
            </a:r>
            <a:r>
              <a:rPr lang="en-US" b="1" dirty="0"/>
              <a:t>JVM to find main method in Java</a:t>
            </a:r>
            <a:br>
              <a:rPr lang="en-US" dirty="0"/>
            </a:br>
            <a:r>
              <a:rPr lang="en-US" dirty="0"/>
              <a:t>Anything which is declared in </a:t>
            </a:r>
            <a:r>
              <a:rPr lang="en-US" dirty="0">
                <a:hlinkClick r:id="rId3"/>
              </a:rPr>
              <a:t>class in Java</a:t>
            </a:r>
            <a:r>
              <a:rPr lang="en-US" dirty="0"/>
              <a:t> comes under reference type and requires object to be created before using them but static method and static data are loaded into separate memory inside JVM called context which is created when a class is loaded. If main method is static than it will be loaded in JVM context and are available to execution</a:t>
            </a:r>
            <a:br>
              <a:rPr lang="en-US" dirty="0"/>
            </a:br>
            <a:br>
              <a:rPr lang="en-US" dirty="0"/>
            </a:br>
            <a:endParaRPr lang="en-US" sz="2000" b="1" dirty="0">
              <a:latin typeface="Corbel" panose="020B0503020204020204" pitchFamily="34" charset="0"/>
            </a:endParaRPr>
          </a:p>
        </p:txBody>
      </p:sp>
    </p:spTree>
    <p:extLst>
      <p:ext uri="{BB962C8B-B14F-4D97-AF65-F5344CB8AC3E}">
        <p14:creationId xmlns:p14="http://schemas.microsoft.com/office/powerpoint/2010/main" val="2807405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Program Introspection</a:t>
            </a:r>
          </a:p>
        </p:txBody>
      </p:sp>
      <p:pic>
        <p:nvPicPr>
          <p:cNvPr id="11" name="Content Placeholder 10"/>
          <p:cNvPicPr>
            <a:picLocks noGrp="1" noChangeAspect="1"/>
          </p:cNvPicPr>
          <p:nvPr>
            <p:ph idx="1"/>
          </p:nvPr>
        </p:nvPicPr>
        <p:blipFill>
          <a:blip r:embed="rId2"/>
          <a:stretch>
            <a:fillRect/>
          </a:stretch>
        </p:blipFill>
        <p:spPr>
          <a:xfrm>
            <a:off x="1104900" y="1452574"/>
            <a:ext cx="9784773" cy="5237018"/>
          </a:xfrm>
          <a:prstGeom prst="rect">
            <a:avLst/>
          </a:prstGeom>
        </p:spPr>
      </p:pic>
    </p:spTree>
    <p:extLst>
      <p:ext uri="{BB962C8B-B14F-4D97-AF65-F5344CB8AC3E}">
        <p14:creationId xmlns:p14="http://schemas.microsoft.com/office/powerpoint/2010/main" val="3408814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Program Introspection</a:t>
            </a:r>
          </a:p>
        </p:txBody>
      </p:sp>
      <p:sp>
        <p:nvSpPr>
          <p:cNvPr id="3" name="Content Placeholder 2"/>
          <p:cNvSpPr>
            <a:spLocks noGrp="1"/>
          </p:cNvSpPr>
          <p:nvPr>
            <p:ph idx="1"/>
          </p:nvPr>
        </p:nvSpPr>
        <p:spPr>
          <a:xfrm>
            <a:off x="317011" y="1454285"/>
            <a:ext cx="11556459" cy="4953000"/>
          </a:xfrm>
        </p:spPr>
        <p:txBody>
          <a:bodyPr>
            <a:noAutofit/>
          </a:bodyPr>
          <a:lstStyle/>
          <a:p>
            <a:pPr marL="0" indent="0" algn="just">
              <a:buNone/>
            </a:pPr>
            <a:r>
              <a:rPr lang="en-US" b="1" u="sng" dirty="0">
                <a:latin typeface="Corbel" panose="020B0503020204020204" pitchFamily="34" charset="0"/>
              </a:rPr>
              <a:t>Public class PrimeCheck </a:t>
            </a:r>
          </a:p>
          <a:p>
            <a:pPr lvl="1" algn="just">
              <a:lnSpc>
                <a:spcPct val="150000"/>
              </a:lnSpc>
            </a:pPr>
            <a:r>
              <a:rPr lang="en-US" sz="2000" dirty="0">
                <a:latin typeface="Corbel" panose="020B0503020204020204" pitchFamily="34" charset="0"/>
              </a:rPr>
              <a:t>This is the </a:t>
            </a:r>
            <a:r>
              <a:rPr lang="en-US" sz="2000" b="1" i="1" dirty="0">
                <a:latin typeface="Corbel" panose="020B0503020204020204" pitchFamily="34" charset="0"/>
              </a:rPr>
              <a:t>first line</a:t>
            </a:r>
            <a:r>
              <a:rPr lang="en-US" sz="2000" dirty="0">
                <a:latin typeface="Corbel" panose="020B0503020204020204" pitchFamily="34" charset="0"/>
              </a:rPr>
              <a:t> of our java program. </a:t>
            </a:r>
          </a:p>
          <a:p>
            <a:pPr lvl="1" algn="just">
              <a:lnSpc>
                <a:spcPct val="150000"/>
              </a:lnSpc>
            </a:pPr>
            <a:r>
              <a:rPr lang="en-US" sz="2000" dirty="0">
                <a:latin typeface="Corbel" panose="020B0503020204020204" pitchFamily="34" charset="0"/>
              </a:rPr>
              <a:t>Every </a:t>
            </a:r>
            <a:r>
              <a:rPr lang="en-US" sz="2000" b="1" i="1" dirty="0">
                <a:latin typeface="Corbel" panose="020B0503020204020204" pitchFamily="34" charset="0"/>
              </a:rPr>
              <a:t>java application </a:t>
            </a:r>
            <a:r>
              <a:rPr lang="en-US" sz="2000" dirty="0">
                <a:latin typeface="Corbel" panose="020B0503020204020204" pitchFamily="34" charset="0"/>
              </a:rPr>
              <a:t>must have </a:t>
            </a:r>
            <a:r>
              <a:rPr lang="en-US" sz="2000" b="1" i="1" dirty="0">
                <a:latin typeface="Corbel" panose="020B0503020204020204" pitchFamily="34" charset="0"/>
              </a:rPr>
              <a:t>at least one class definition</a:t>
            </a:r>
            <a:r>
              <a:rPr lang="en-US" sz="2000" dirty="0">
                <a:latin typeface="Corbel" panose="020B0503020204020204" pitchFamily="34" charset="0"/>
              </a:rPr>
              <a:t> that consists of </a:t>
            </a:r>
            <a:r>
              <a:rPr lang="en-US" sz="2000" b="1" i="1" dirty="0">
                <a:latin typeface="Corbel" panose="020B0503020204020204" pitchFamily="34" charset="0"/>
              </a:rPr>
              <a:t>class keyword </a:t>
            </a:r>
            <a:r>
              <a:rPr lang="en-US" sz="2000" dirty="0">
                <a:latin typeface="Corbel" panose="020B0503020204020204" pitchFamily="34" charset="0"/>
              </a:rPr>
              <a:t>followed by </a:t>
            </a:r>
            <a:r>
              <a:rPr lang="en-US" sz="2000" b="1" i="1" dirty="0">
                <a:latin typeface="Corbel" panose="020B0503020204020204" pitchFamily="34" charset="0"/>
              </a:rPr>
              <a:t>class name</a:t>
            </a:r>
            <a:r>
              <a:rPr lang="en-US" sz="2000" dirty="0">
                <a:latin typeface="Corbel" panose="020B0503020204020204" pitchFamily="34" charset="0"/>
              </a:rPr>
              <a:t>. </a:t>
            </a:r>
          </a:p>
          <a:p>
            <a:pPr lvl="1" algn="just">
              <a:lnSpc>
                <a:spcPct val="150000"/>
              </a:lnSpc>
            </a:pPr>
            <a:r>
              <a:rPr lang="en-US" sz="2000" dirty="0">
                <a:latin typeface="Corbel" panose="020B0503020204020204" pitchFamily="34" charset="0"/>
              </a:rPr>
              <a:t>When I say keyword, it means that it </a:t>
            </a:r>
            <a:r>
              <a:rPr lang="en-US" sz="2000" b="1" i="1" dirty="0">
                <a:latin typeface="Corbel" panose="020B0503020204020204" pitchFamily="34" charset="0"/>
              </a:rPr>
              <a:t>should not be changed</a:t>
            </a:r>
            <a:r>
              <a:rPr lang="en-US" sz="2000" dirty="0">
                <a:latin typeface="Corbel" panose="020B0503020204020204" pitchFamily="34" charset="0"/>
              </a:rPr>
              <a:t>, we should use it as it is. However the </a:t>
            </a:r>
            <a:r>
              <a:rPr lang="en-US" sz="2000" b="1" i="1" dirty="0">
                <a:latin typeface="Corbel" panose="020B0503020204020204" pitchFamily="34" charset="0"/>
              </a:rPr>
              <a:t>class name can be anything </a:t>
            </a:r>
            <a:r>
              <a:rPr lang="en-US" sz="2000" i="1" dirty="0">
                <a:latin typeface="Corbel" panose="020B0503020204020204" pitchFamily="34" charset="0"/>
              </a:rPr>
              <a:t>(Please don’t get cute with class names, stick to Nouns for readability)</a:t>
            </a:r>
            <a:endParaRPr lang="en-US" sz="2000" dirty="0">
              <a:latin typeface="Corbel" panose="020B0503020204020204" pitchFamily="34" charset="0"/>
            </a:endParaRPr>
          </a:p>
          <a:p>
            <a:pPr lvl="1" algn="just">
              <a:lnSpc>
                <a:spcPct val="150000"/>
              </a:lnSpc>
            </a:pPr>
            <a:r>
              <a:rPr lang="en-US" sz="2000" dirty="0">
                <a:latin typeface="Corbel" panose="020B0503020204020204" pitchFamily="34" charset="0"/>
              </a:rPr>
              <a:t>I have made the class public by using public access modifier, we will cover access modifier in a separate session, all you need to know now that a java file can have any number of classes but it can have only one public class and the file name should be same as public class name.</a:t>
            </a:r>
          </a:p>
        </p:txBody>
      </p:sp>
    </p:spTree>
    <p:extLst>
      <p:ext uri="{BB962C8B-B14F-4D97-AF65-F5344CB8AC3E}">
        <p14:creationId xmlns:p14="http://schemas.microsoft.com/office/powerpoint/2010/main" val="230887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Program Introspection</a:t>
            </a:r>
          </a:p>
        </p:txBody>
      </p:sp>
      <p:sp>
        <p:nvSpPr>
          <p:cNvPr id="3" name="Content Placeholder 2"/>
          <p:cNvSpPr>
            <a:spLocks noGrp="1"/>
          </p:cNvSpPr>
          <p:nvPr>
            <p:ph idx="1"/>
          </p:nvPr>
        </p:nvSpPr>
        <p:spPr>
          <a:xfrm>
            <a:off x="877273" y="1517073"/>
            <a:ext cx="10435936" cy="4953000"/>
          </a:xfrm>
        </p:spPr>
        <p:txBody>
          <a:bodyPr>
            <a:noAutofit/>
          </a:bodyPr>
          <a:lstStyle/>
          <a:p>
            <a:pPr marL="0" indent="0" algn="just">
              <a:buNone/>
            </a:pPr>
            <a:r>
              <a:rPr lang="en-US" b="1" u="sng" dirty="0">
                <a:latin typeface="Corbel" panose="020B0503020204020204" pitchFamily="34" charset="0"/>
              </a:rPr>
              <a:t>public static void main(String[] args) </a:t>
            </a:r>
            <a:r>
              <a:rPr lang="en-US" dirty="0">
                <a:latin typeface="Corbel" panose="020B0503020204020204" pitchFamily="34" charset="0"/>
              </a:rPr>
              <a:t> {</a:t>
            </a:r>
          </a:p>
          <a:p>
            <a:pPr marL="0" indent="0" algn="just">
              <a:buNone/>
            </a:pPr>
            <a:r>
              <a:rPr lang="en-US" dirty="0">
                <a:latin typeface="Corbel" panose="020B0503020204020204" pitchFamily="34" charset="0"/>
              </a:rPr>
              <a:t>This is our next line in the program, lets break it down to understand it:</a:t>
            </a:r>
          </a:p>
          <a:p>
            <a:pPr marL="0" indent="0" algn="just">
              <a:buNone/>
            </a:pPr>
            <a:r>
              <a:rPr lang="en-US" b="1" u="sng" dirty="0">
                <a:latin typeface="Corbel" panose="020B0503020204020204" pitchFamily="34" charset="0"/>
              </a:rPr>
              <a:t>public</a:t>
            </a:r>
            <a:r>
              <a:rPr lang="en-US" dirty="0">
                <a:latin typeface="Corbel" panose="020B0503020204020204" pitchFamily="34" charset="0"/>
              </a:rPr>
              <a:t>: This makes the main method public that means that we can call the method from outside the class.</a:t>
            </a:r>
          </a:p>
          <a:p>
            <a:pPr marL="0" indent="0" algn="just">
              <a:buNone/>
            </a:pPr>
            <a:r>
              <a:rPr lang="en-US" b="1" u="sng" dirty="0">
                <a:latin typeface="Corbel" panose="020B0503020204020204" pitchFamily="34" charset="0"/>
              </a:rPr>
              <a:t>static:</a:t>
            </a:r>
            <a:r>
              <a:rPr lang="en-US" dirty="0">
                <a:latin typeface="Corbel" panose="020B0503020204020204" pitchFamily="34" charset="0"/>
              </a:rPr>
              <a:t> We do not need to create object for static methods to run. They can run itself.</a:t>
            </a:r>
          </a:p>
          <a:p>
            <a:pPr marL="0" indent="0" algn="just">
              <a:buNone/>
            </a:pPr>
            <a:r>
              <a:rPr lang="en-US" b="1" u="sng" dirty="0">
                <a:latin typeface="Corbel" panose="020B0503020204020204" pitchFamily="34" charset="0"/>
              </a:rPr>
              <a:t>void</a:t>
            </a:r>
            <a:r>
              <a:rPr lang="en-US" dirty="0">
                <a:latin typeface="Corbel" panose="020B0503020204020204" pitchFamily="34" charset="0"/>
              </a:rPr>
              <a:t>: It does not return anything.</a:t>
            </a:r>
          </a:p>
          <a:p>
            <a:pPr marL="0" indent="0" algn="just">
              <a:buNone/>
            </a:pPr>
            <a:r>
              <a:rPr lang="en-US" b="1" u="sng" dirty="0">
                <a:latin typeface="Corbel" panose="020B0503020204020204" pitchFamily="34" charset="0"/>
              </a:rPr>
              <a:t>main</a:t>
            </a:r>
            <a:r>
              <a:rPr lang="en-US" dirty="0">
                <a:latin typeface="Corbel" panose="020B0503020204020204" pitchFamily="34" charset="0"/>
              </a:rPr>
              <a:t>: It is the method name. This is the entry point method from which the JVM can run your program.</a:t>
            </a:r>
          </a:p>
          <a:p>
            <a:pPr marL="0" indent="0" algn="just">
              <a:buNone/>
            </a:pPr>
            <a:r>
              <a:rPr lang="en-US" b="1" u="sng" dirty="0">
                <a:latin typeface="Corbel" panose="020B0503020204020204" pitchFamily="34" charset="0"/>
              </a:rPr>
              <a:t>(String[] args)</a:t>
            </a:r>
            <a:r>
              <a:rPr lang="en-US" dirty="0">
                <a:latin typeface="Corbel" panose="020B0503020204020204" pitchFamily="34" charset="0"/>
              </a:rPr>
              <a:t>: Used for command line arguments that are passed as strings. We will cover that in a separate post.</a:t>
            </a:r>
          </a:p>
        </p:txBody>
      </p:sp>
    </p:spTree>
    <p:extLst>
      <p:ext uri="{BB962C8B-B14F-4D97-AF65-F5344CB8AC3E}">
        <p14:creationId xmlns:p14="http://schemas.microsoft.com/office/powerpoint/2010/main" val="4196609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a:t>
            </a:r>
          </a:p>
        </p:txBody>
      </p:sp>
      <p:sp>
        <p:nvSpPr>
          <p:cNvPr id="3" name="Content Placeholder 2"/>
          <p:cNvSpPr>
            <a:spLocks noGrp="1"/>
          </p:cNvSpPr>
          <p:nvPr>
            <p:ph idx="1"/>
          </p:nvPr>
        </p:nvSpPr>
        <p:spPr>
          <a:xfrm>
            <a:off x="877273" y="1517073"/>
            <a:ext cx="5772909" cy="4024745"/>
          </a:xfrm>
        </p:spPr>
        <p:txBody>
          <a:bodyPr>
            <a:noAutofit/>
          </a:bodyPr>
          <a:lstStyle/>
          <a:p>
            <a:pPr marL="0" indent="0" algn="just">
              <a:buNone/>
            </a:pPr>
            <a:r>
              <a:rPr lang="en-US" sz="1800" dirty="0">
                <a:latin typeface="Corbel" panose="020B0503020204020204" pitchFamily="34" charset="0"/>
              </a:rPr>
              <a:t>A variable is a name which is associated with a value that can be changed. For example when I write </a:t>
            </a:r>
            <a:r>
              <a:rPr lang="en-US" sz="1800" b="1" u="sng" dirty="0">
                <a:latin typeface="Corbel" panose="020B0503020204020204" pitchFamily="34" charset="0"/>
              </a:rPr>
              <a:t>int temp=10</a:t>
            </a:r>
            <a:r>
              <a:rPr lang="en-US" sz="1800" dirty="0">
                <a:latin typeface="Corbel" panose="020B0503020204020204" pitchFamily="34" charset="0"/>
              </a:rPr>
              <a:t>; here variable name is </a:t>
            </a:r>
            <a:r>
              <a:rPr lang="en-US" sz="1800" b="1" dirty="0">
                <a:latin typeface="Corbel" panose="020B0503020204020204" pitchFamily="34" charset="0"/>
              </a:rPr>
              <a:t>temp </a:t>
            </a:r>
            <a:r>
              <a:rPr lang="en-US" sz="1800" dirty="0">
                <a:latin typeface="Corbel" panose="020B0503020204020204" pitchFamily="34" charset="0"/>
              </a:rPr>
              <a:t>which is associated with value </a:t>
            </a:r>
            <a:r>
              <a:rPr lang="en-US" sz="1800" b="1" dirty="0">
                <a:latin typeface="Corbel" panose="020B0503020204020204" pitchFamily="34" charset="0"/>
              </a:rPr>
              <a:t>10</a:t>
            </a:r>
            <a:r>
              <a:rPr lang="en-US" sz="1800" dirty="0">
                <a:latin typeface="Corbel" panose="020B0503020204020204" pitchFamily="34" charset="0"/>
              </a:rPr>
              <a:t>, </a:t>
            </a:r>
            <a:r>
              <a:rPr lang="en-US" sz="1800" b="1" dirty="0">
                <a:latin typeface="Corbel" panose="020B0503020204020204" pitchFamily="34" charset="0"/>
              </a:rPr>
              <a:t>int </a:t>
            </a:r>
            <a:r>
              <a:rPr lang="en-US" sz="1800" dirty="0">
                <a:latin typeface="Corbel" panose="020B0503020204020204" pitchFamily="34" charset="0"/>
              </a:rPr>
              <a:t>is a </a:t>
            </a:r>
            <a:r>
              <a:rPr lang="en-US" sz="1800" b="1" u="sng" dirty="0">
                <a:latin typeface="Corbel" panose="020B0503020204020204" pitchFamily="34" charset="0"/>
              </a:rPr>
              <a:t>data type </a:t>
            </a:r>
            <a:r>
              <a:rPr lang="en-US" sz="1800" dirty="0">
                <a:latin typeface="Corbel" panose="020B0503020204020204" pitchFamily="34" charset="0"/>
              </a:rPr>
              <a:t>that represents that this variable can hold integer values. </a:t>
            </a:r>
          </a:p>
          <a:p>
            <a:pPr marL="0" indent="0" algn="just">
              <a:buNone/>
            </a:pPr>
            <a:r>
              <a:rPr lang="en-US" sz="1800" dirty="0">
                <a:latin typeface="Corbel" panose="020B0503020204020204" pitchFamily="34" charset="0"/>
              </a:rPr>
              <a:t>Declaring Variables :To declare a variable follow this syntax:</a:t>
            </a:r>
          </a:p>
          <a:p>
            <a:pPr marL="0" indent="0" algn="just">
              <a:buNone/>
            </a:pPr>
            <a:r>
              <a:rPr lang="en-US" sz="1800" b="1" i="1" dirty="0">
                <a:solidFill>
                  <a:srgbClr val="FF0000"/>
                </a:solidFill>
                <a:latin typeface="Corbel" panose="020B0503020204020204" pitchFamily="34" charset="0"/>
              </a:rPr>
              <a:t>data_type</a:t>
            </a:r>
            <a:r>
              <a:rPr lang="en-US" sz="1800" dirty="0">
                <a:solidFill>
                  <a:srgbClr val="FF0000"/>
                </a:solidFill>
                <a:latin typeface="Corbel" panose="020B0503020204020204" pitchFamily="34" charset="0"/>
              </a:rPr>
              <a:t> </a:t>
            </a:r>
            <a:r>
              <a:rPr lang="en-US" sz="1800" b="1" i="1" dirty="0">
                <a:solidFill>
                  <a:srgbClr val="002060"/>
                </a:solidFill>
                <a:latin typeface="Corbel" panose="020B0503020204020204" pitchFamily="34" charset="0"/>
              </a:rPr>
              <a:t>variable_name</a:t>
            </a:r>
            <a:r>
              <a:rPr lang="en-US" sz="1800" dirty="0">
                <a:latin typeface="Corbel" panose="020B0503020204020204" pitchFamily="34" charset="0"/>
              </a:rPr>
              <a:t> = </a:t>
            </a:r>
            <a:r>
              <a:rPr lang="en-US" sz="1800" b="1" i="1" dirty="0">
                <a:solidFill>
                  <a:srgbClr val="7030A0"/>
                </a:solidFill>
                <a:latin typeface="Corbel" panose="020B0503020204020204" pitchFamily="34" charset="0"/>
              </a:rPr>
              <a:t>value</a:t>
            </a:r>
            <a:r>
              <a:rPr lang="en-US" sz="1800" dirty="0">
                <a:latin typeface="Corbel" panose="020B0503020204020204" pitchFamily="34" charset="0"/>
              </a:rPr>
              <a:t>;</a:t>
            </a:r>
          </a:p>
          <a:p>
            <a:pPr marL="0" indent="0" algn="just">
              <a:buNone/>
            </a:pPr>
            <a:endParaRPr lang="en-US" sz="1800" dirty="0">
              <a:latin typeface="Corbel" panose="020B0503020204020204" pitchFamily="34" charset="0"/>
            </a:endParaRPr>
          </a:p>
          <a:p>
            <a:pPr marL="0" lvl="0" indent="0" eaLnBrk="0" fontAlgn="base" hangingPunct="0">
              <a:lnSpc>
                <a:spcPct val="100000"/>
              </a:lnSpc>
              <a:spcBef>
                <a:spcPct val="0"/>
              </a:spcBef>
              <a:spcAft>
                <a:spcPct val="0"/>
              </a:spcAft>
              <a:buNone/>
            </a:pPr>
            <a:r>
              <a:rPr lang="en-US" altLang="en-US" sz="1800" dirty="0">
                <a:solidFill>
                  <a:srgbClr val="00008B"/>
                </a:solidFill>
                <a:latin typeface="Corbel" panose="020B0503020204020204" pitchFamily="34" charset="0"/>
                <a:cs typeface="Consolas" panose="020B0609020204030204" pitchFamily="49" charset="0"/>
              </a:rPr>
              <a:t>char</a:t>
            </a:r>
            <a:r>
              <a:rPr lang="en-US" altLang="en-US" sz="1800" dirty="0">
                <a:solidFill>
                  <a:srgbClr val="000000"/>
                </a:solidFill>
                <a:latin typeface="Corbel" panose="020B0503020204020204" pitchFamily="34" charset="0"/>
                <a:cs typeface="Consolas" panose="020B0609020204030204" pitchFamily="49" charset="0"/>
              </a:rPr>
              <a:t> ch = </a:t>
            </a:r>
            <a:r>
              <a:rPr lang="en-US" altLang="en-US" sz="1800" dirty="0">
                <a:solidFill>
                  <a:srgbClr val="800000"/>
                </a:solidFill>
                <a:latin typeface="Corbel" panose="020B0503020204020204" pitchFamily="34" charset="0"/>
                <a:cs typeface="Consolas" panose="020B0609020204030204" pitchFamily="49" charset="0"/>
              </a:rPr>
              <a:t>'A'</a:t>
            </a:r>
            <a:r>
              <a:rPr lang="en-US" altLang="en-US" sz="1800" dirty="0">
                <a:solidFill>
                  <a:srgbClr val="000000"/>
                </a:solidFill>
                <a:latin typeface="Corbel" panose="020B0503020204020204" pitchFamily="34" charset="0"/>
                <a:cs typeface="Consolas" panose="020B0609020204030204" pitchFamily="49" charset="0"/>
              </a:rPr>
              <a:t>; </a:t>
            </a:r>
            <a:r>
              <a:rPr lang="en-US" altLang="en-US" sz="1800" dirty="0">
                <a:solidFill>
                  <a:srgbClr val="00008B"/>
                </a:solidFill>
                <a:latin typeface="Corbel" panose="020B0503020204020204" pitchFamily="34" charset="0"/>
                <a:cs typeface="Consolas" panose="020B0609020204030204" pitchFamily="49" charset="0"/>
              </a:rPr>
              <a:t>int</a:t>
            </a:r>
            <a:r>
              <a:rPr lang="en-US" altLang="en-US" sz="1800" dirty="0">
                <a:solidFill>
                  <a:srgbClr val="000000"/>
                </a:solidFill>
                <a:latin typeface="Corbel" panose="020B0503020204020204" pitchFamily="34" charset="0"/>
                <a:cs typeface="Consolas" panose="020B0609020204030204" pitchFamily="49" charset="0"/>
              </a:rPr>
              <a:t> number = </a:t>
            </a:r>
            <a:r>
              <a:rPr lang="en-US" altLang="en-US" sz="1800" dirty="0">
                <a:solidFill>
                  <a:srgbClr val="800000"/>
                </a:solidFill>
                <a:latin typeface="Corbel" panose="020B0503020204020204" pitchFamily="34" charset="0"/>
                <a:cs typeface="Consolas" panose="020B0609020204030204" pitchFamily="49" charset="0"/>
              </a:rPr>
              <a:t>100</a:t>
            </a:r>
            <a:r>
              <a:rPr lang="en-US" altLang="en-US" sz="1800" dirty="0">
                <a:solidFill>
                  <a:srgbClr val="000000"/>
                </a:solidFill>
                <a:latin typeface="Corbel" panose="020B0503020204020204" pitchFamily="34" charset="0"/>
                <a:cs typeface="Consolas" panose="020B0609020204030204" pitchFamily="49" charset="0"/>
              </a:rPr>
              <a:t>;</a:t>
            </a:r>
          </a:p>
          <a:p>
            <a:pPr marL="0" lvl="0" indent="0" eaLnBrk="0" fontAlgn="base" hangingPunct="0">
              <a:lnSpc>
                <a:spcPct val="100000"/>
              </a:lnSpc>
              <a:spcBef>
                <a:spcPct val="0"/>
              </a:spcBef>
              <a:spcAft>
                <a:spcPct val="0"/>
              </a:spcAft>
              <a:buNone/>
            </a:pPr>
            <a:endParaRPr lang="en-US" altLang="en-US" sz="1800" dirty="0">
              <a:latin typeface="Corbel" panose="020B0503020204020204" pitchFamily="34" charset="0"/>
            </a:endParaRPr>
          </a:p>
          <a:p>
            <a:pPr marL="0" lvl="0" indent="0" eaLnBrk="0" fontAlgn="base" hangingPunct="0">
              <a:lnSpc>
                <a:spcPct val="100000"/>
              </a:lnSpc>
              <a:spcBef>
                <a:spcPct val="0"/>
              </a:spcBef>
              <a:spcAft>
                <a:spcPct val="0"/>
              </a:spcAft>
              <a:buNone/>
            </a:pPr>
            <a:r>
              <a:rPr lang="en-US" altLang="en-US" sz="1800" dirty="0">
                <a:solidFill>
                  <a:srgbClr val="00008B"/>
                </a:solidFill>
                <a:latin typeface="Corbel" panose="020B0503020204020204" pitchFamily="34" charset="0"/>
                <a:cs typeface="Consolas" panose="020B0609020204030204" pitchFamily="49" charset="0"/>
              </a:rPr>
              <a:t>char</a:t>
            </a:r>
            <a:r>
              <a:rPr lang="en-US" altLang="en-US" sz="1800" dirty="0">
                <a:solidFill>
                  <a:srgbClr val="000000"/>
                </a:solidFill>
                <a:latin typeface="Corbel" panose="020B0503020204020204" pitchFamily="34" charset="0"/>
                <a:cs typeface="Consolas" panose="020B0609020204030204" pitchFamily="49" charset="0"/>
              </a:rPr>
              <a:t> ch; </a:t>
            </a:r>
            <a:r>
              <a:rPr lang="en-US" altLang="en-US" sz="1800" dirty="0">
                <a:solidFill>
                  <a:srgbClr val="00008B"/>
                </a:solidFill>
                <a:latin typeface="Corbel" panose="020B0503020204020204" pitchFamily="34" charset="0"/>
                <a:cs typeface="Consolas" panose="020B0609020204030204" pitchFamily="49" charset="0"/>
              </a:rPr>
              <a:t>int</a:t>
            </a:r>
            <a:r>
              <a:rPr lang="en-US" altLang="en-US" sz="1800" dirty="0">
                <a:solidFill>
                  <a:srgbClr val="000000"/>
                </a:solidFill>
                <a:latin typeface="Corbel" panose="020B0503020204020204" pitchFamily="34" charset="0"/>
                <a:cs typeface="Consolas" panose="020B0609020204030204" pitchFamily="49" charset="0"/>
              </a:rPr>
              <a:t> number; ... </a:t>
            </a:r>
          </a:p>
          <a:p>
            <a:pPr marL="0" lvl="0" indent="0" eaLnBrk="0" fontAlgn="base" hangingPunct="0">
              <a:lnSpc>
                <a:spcPct val="100000"/>
              </a:lnSpc>
              <a:spcBef>
                <a:spcPct val="0"/>
              </a:spcBef>
              <a:spcAft>
                <a:spcPct val="0"/>
              </a:spcAft>
              <a:buNone/>
            </a:pPr>
            <a:r>
              <a:rPr lang="en-US" altLang="en-US" sz="1800" dirty="0">
                <a:solidFill>
                  <a:srgbClr val="000000"/>
                </a:solidFill>
                <a:latin typeface="Corbel" panose="020B0503020204020204" pitchFamily="34" charset="0"/>
                <a:cs typeface="Consolas" panose="020B0609020204030204" pitchFamily="49" charset="0"/>
              </a:rPr>
              <a:t>ch = </a:t>
            </a:r>
            <a:r>
              <a:rPr lang="en-US" altLang="en-US" sz="1800" dirty="0">
                <a:solidFill>
                  <a:srgbClr val="800000"/>
                </a:solidFill>
                <a:latin typeface="Corbel" panose="020B0503020204020204" pitchFamily="34" charset="0"/>
                <a:cs typeface="Consolas" panose="020B0609020204030204" pitchFamily="49" charset="0"/>
              </a:rPr>
              <a:t>'A'</a:t>
            </a:r>
            <a:r>
              <a:rPr lang="en-US" altLang="en-US" sz="1800" dirty="0">
                <a:solidFill>
                  <a:srgbClr val="000000"/>
                </a:solidFill>
                <a:latin typeface="Corbel" panose="020B0503020204020204" pitchFamily="34" charset="0"/>
                <a:cs typeface="Consolas" panose="020B0609020204030204" pitchFamily="49" charset="0"/>
              </a:rPr>
              <a:t>; number = </a:t>
            </a:r>
            <a:r>
              <a:rPr lang="en-US" altLang="en-US" sz="1800" dirty="0">
                <a:solidFill>
                  <a:srgbClr val="800000"/>
                </a:solidFill>
                <a:latin typeface="Corbel" panose="020B0503020204020204" pitchFamily="34" charset="0"/>
                <a:cs typeface="Consolas" panose="020B0609020204030204" pitchFamily="49" charset="0"/>
              </a:rPr>
              <a:t>100</a:t>
            </a:r>
            <a:r>
              <a:rPr lang="en-US" altLang="en-US" sz="1800" dirty="0">
                <a:solidFill>
                  <a:srgbClr val="000000"/>
                </a:solidFill>
                <a:latin typeface="Corbel" panose="020B0503020204020204" pitchFamily="34" charset="0"/>
                <a:cs typeface="Consolas" panose="020B0609020204030204" pitchFamily="49" charset="0"/>
              </a:rPr>
              <a:t>;</a:t>
            </a:r>
            <a:r>
              <a:rPr lang="en-US" altLang="en-US" sz="1800" dirty="0">
                <a:latin typeface="Corbel" panose="020B0503020204020204" pitchFamily="34" charset="0"/>
              </a:rPr>
              <a:t> </a:t>
            </a:r>
          </a:p>
          <a:p>
            <a:pPr marL="0" indent="0" algn="just">
              <a:buNone/>
            </a:pPr>
            <a:endParaRPr lang="en-US" sz="1800" dirty="0">
              <a:latin typeface="Corbel" panose="020B0503020204020204" pitchFamily="34" charset="0"/>
            </a:endParaRPr>
          </a:p>
        </p:txBody>
      </p:sp>
      <p:sp>
        <p:nvSpPr>
          <p:cNvPr id="4" name="Rectangle 1"/>
          <p:cNvSpPr>
            <a:spLocks noChangeArrowheads="1"/>
          </p:cNvSpPr>
          <p:nvPr/>
        </p:nvSpPr>
        <p:spPr bwMode="auto">
          <a:xfrm>
            <a:off x="0" y="43934"/>
            <a:ext cx="184731" cy="36933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p:cNvSpPr/>
          <p:nvPr/>
        </p:nvSpPr>
        <p:spPr>
          <a:xfrm>
            <a:off x="6802582" y="1388286"/>
            <a:ext cx="5140036" cy="5035353"/>
          </a:xfrm>
          <a:prstGeom prst="rect">
            <a:avLst/>
          </a:prstGeom>
        </p:spPr>
        <p:txBody>
          <a:bodyPr wrap="square">
            <a:spAutoFit/>
          </a:bodyPr>
          <a:lstStyle/>
          <a:p>
            <a:pPr>
              <a:lnSpc>
                <a:spcPct val="150000"/>
              </a:lnSpc>
            </a:pPr>
            <a:r>
              <a:rPr lang="en-US" dirty="0">
                <a:latin typeface="Corbel" panose="020B0503020204020204" pitchFamily="34" charset="0"/>
              </a:rPr>
              <a:t>1) </a:t>
            </a:r>
            <a:r>
              <a:rPr lang="en-US" dirty="0">
                <a:solidFill>
                  <a:srgbClr val="7030A0"/>
                </a:solidFill>
                <a:latin typeface="Corbel" panose="020B0503020204020204" pitchFamily="34" charset="0"/>
              </a:rPr>
              <a:t>Variables </a:t>
            </a:r>
            <a:r>
              <a:rPr lang="en-US" b="1" u="sng" dirty="0">
                <a:solidFill>
                  <a:srgbClr val="7030A0"/>
                </a:solidFill>
                <a:latin typeface="Corbel" panose="020B0503020204020204" pitchFamily="34" charset="0"/>
              </a:rPr>
              <a:t>naming</a:t>
            </a:r>
            <a:r>
              <a:rPr lang="en-US" dirty="0">
                <a:solidFill>
                  <a:srgbClr val="7030A0"/>
                </a:solidFill>
                <a:latin typeface="Corbel" panose="020B0503020204020204" pitchFamily="34" charset="0"/>
              </a:rPr>
              <a:t> cannot contain white spaces, for example: int </a:t>
            </a:r>
            <a:r>
              <a:rPr lang="en-US" b="1" i="1" dirty="0">
                <a:solidFill>
                  <a:srgbClr val="7030A0"/>
                </a:solidFill>
                <a:latin typeface="Corbel" panose="020B0503020204020204" pitchFamily="34" charset="0"/>
              </a:rPr>
              <a:t>num ber </a:t>
            </a:r>
            <a:r>
              <a:rPr lang="en-US" dirty="0">
                <a:solidFill>
                  <a:srgbClr val="7030A0"/>
                </a:solidFill>
                <a:latin typeface="Corbel" panose="020B0503020204020204" pitchFamily="34" charset="0"/>
              </a:rPr>
              <a:t>= 100; is invalid because the variable name has space in it.</a:t>
            </a:r>
          </a:p>
          <a:p>
            <a:pPr>
              <a:lnSpc>
                <a:spcPct val="150000"/>
              </a:lnSpc>
            </a:pPr>
            <a:r>
              <a:rPr lang="en-US" dirty="0">
                <a:solidFill>
                  <a:srgbClr val="7030A0"/>
                </a:solidFill>
                <a:latin typeface="Corbel" panose="020B0503020204020204" pitchFamily="34" charset="0"/>
              </a:rPr>
              <a:t>2) Variable name can begin with special characters such as $ and _</a:t>
            </a:r>
          </a:p>
          <a:p>
            <a:pPr>
              <a:lnSpc>
                <a:spcPct val="150000"/>
              </a:lnSpc>
            </a:pPr>
            <a:r>
              <a:rPr lang="en-US" dirty="0">
                <a:solidFill>
                  <a:srgbClr val="7030A0"/>
                </a:solidFill>
                <a:latin typeface="Corbel" panose="020B0503020204020204" pitchFamily="34" charset="0"/>
              </a:rPr>
              <a:t>3) As per the java coding standards the variable name should begin with a lower case letter, for example int number; For lengthy variables names that has more than one words do it like this: int smallNumber; int bigNumber; (start the second word with capital letter).</a:t>
            </a:r>
          </a:p>
          <a:p>
            <a:pPr>
              <a:lnSpc>
                <a:spcPct val="150000"/>
              </a:lnSpc>
            </a:pPr>
            <a:r>
              <a:rPr lang="en-US" dirty="0">
                <a:solidFill>
                  <a:srgbClr val="7030A0"/>
                </a:solidFill>
                <a:latin typeface="Corbel" panose="020B0503020204020204" pitchFamily="34" charset="0"/>
              </a:rPr>
              <a:t>4) Variable names are case sensitive in Java.</a:t>
            </a:r>
          </a:p>
        </p:txBody>
      </p:sp>
      <p:sp>
        <p:nvSpPr>
          <p:cNvPr id="6" name="Rectangle 5"/>
          <p:cNvSpPr/>
          <p:nvPr/>
        </p:nvSpPr>
        <p:spPr>
          <a:xfrm>
            <a:off x="630382" y="5655117"/>
            <a:ext cx="6096000" cy="923330"/>
          </a:xfrm>
          <a:prstGeom prst="rect">
            <a:avLst/>
          </a:prstGeom>
        </p:spPr>
        <p:txBody>
          <a:bodyPr>
            <a:spAutoFit/>
          </a:bodyPr>
          <a:lstStyle/>
          <a:p>
            <a:r>
              <a:rPr lang="en-US" dirty="0">
                <a:solidFill>
                  <a:srgbClr val="222426"/>
                </a:solidFill>
                <a:latin typeface="PT Sans"/>
              </a:rPr>
              <a:t>There are </a:t>
            </a:r>
            <a:r>
              <a:rPr lang="en-US" b="1" dirty="0">
                <a:solidFill>
                  <a:srgbClr val="222426"/>
                </a:solidFill>
                <a:latin typeface="PT Sans"/>
              </a:rPr>
              <a:t>three types of variables</a:t>
            </a:r>
            <a:r>
              <a:rPr lang="en-US" dirty="0">
                <a:solidFill>
                  <a:srgbClr val="222426"/>
                </a:solidFill>
                <a:latin typeface="PT Sans"/>
              </a:rPr>
              <a:t> in Java.</a:t>
            </a:r>
            <a:br>
              <a:rPr lang="en-US" dirty="0"/>
            </a:br>
            <a:r>
              <a:rPr lang="en-US" dirty="0">
                <a:solidFill>
                  <a:srgbClr val="222426"/>
                </a:solidFill>
                <a:latin typeface="PT Sans"/>
              </a:rPr>
              <a:t>1) Local variable 2) Static (or class) variable 3) Instance variable</a:t>
            </a:r>
            <a:endParaRPr lang="en-US" dirty="0"/>
          </a:p>
        </p:txBody>
      </p:sp>
    </p:spTree>
    <p:extLst>
      <p:ext uri="{BB962C8B-B14F-4D97-AF65-F5344CB8AC3E}">
        <p14:creationId xmlns:p14="http://schemas.microsoft.com/office/powerpoint/2010/main" val="1616570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Static Variable</a:t>
            </a:r>
          </a:p>
        </p:txBody>
      </p:sp>
      <p:sp>
        <p:nvSpPr>
          <p:cNvPr id="3" name="Content Placeholder 2"/>
          <p:cNvSpPr>
            <a:spLocks noGrp="1"/>
          </p:cNvSpPr>
          <p:nvPr>
            <p:ph idx="1"/>
          </p:nvPr>
        </p:nvSpPr>
        <p:spPr>
          <a:xfrm>
            <a:off x="323090" y="1503218"/>
            <a:ext cx="4609127" cy="4953000"/>
          </a:xfrm>
        </p:spPr>
        <p:txBody>
          <a:bodyPr>
            <a:noAutofit/>
          </a:bodyPr>
          <a:lstStyle/>
          <a:p>
            <a:pPr algn="just">
              <a:lnSpc>
                <a:spcPct val="150000"/>
              </a:lnSpc>
            </a:pPr>
            <a:r>
              <a:rPr lang="en-US" b="1" u="sng" dirty="0">
                <a:latin typeface="Corbel" panose="020B0503020204020204" pitchFamily="34" charset="0"/>
              </a:rPr>
              <a:t>Static variables </a:t>
            </a:r>
            <a:r>
              <a:rPr lang="en-US" dirty="0">
                <a:latin typeface="Corbel" panose="020B0503020204020204" pitchFamily="34" charset="0"/>
              </a:rPr>
              <a:t>are also known as </a:t>
            </a:r>
            <a:r>
              <a:rPr lang="en-US" b="1" u="sng" dirty="0">
                <a:latin typeface="Corbel" panose="020B0503020204020204" pitchFamily="34" charset="0"/>
              </a:rPr>
              <a:t>class variable </a:t>
            </a:r>
            <a:r>
              <a:rPr lang="en-US" dirty="0">
                <a:latin typeface="Corbel" panose="020B0503020204020204" pitchFamily="34" charset="0"/>
              </a:rPr>
              <a:t>because they are </a:t>
            </a:r>
            <a:r>
              <a:rPr lang="en-US" b="1" u="sng" dirty="0">
                <a:latin typeface="Corbel" panose="020B0503020204020204" pitchFamily="34" charset="0"/>
              </a:rPr>
              <a:t>associated with </a:t>
            </a:r>
            <a:r>
              <a:rPr lang="en-US" dirty="0">
                <a:latin typeface="Corbel" panose="020B0503020204020204" pitchFamily="34" charset="0"/>
              </a:rPr>
              <a:t>the </a:t>
            </a:r>
            <a:r>
              <a:rPr lang="en-US" b="1" u="sng" dirty="0">
                <a:latin typeface="Corbel" panose="020B0503020204020204" pitchFamily="34" charset="0"/>
              </a:rPr>
              <a:t>class </a:t>
            </a:r>
            <a:r>
              <a:rPr lang="en-US" dirty="0">
                <a:latin typeface="Corbel" panose="020B0503020204020204" pitchFamily="34" charset="0"/>
              </a:rPr>
              <a:t>and </a:t>
            </a:r>
            <a:r>
              <a:rPr lang="en-US" u="sng" dirty="0">
                <a:latin typeface="Corbel" panose="020B0503020204020204" pitchFamily="34" charset="0"/>
              </a:rPr>
              <a:t>common </a:t>
            </a:r>
            <a:r>
              <a:rPr lang="en-US" dirty="0">
                <a:latin typeface="Corbel" panose="020B0503020204020204" pitchFamily="34" charset="0"/>
              </a:rPr>
              <a:t>for all the </a:t>
            </a:r>
            <a:r>
              <a:rPr lang="en-US" b="1" u="sng" dirty="0">
                <a:latin typeface="Corbel" panose="020B0503020204020204" pitchFamily="34" charset="0"/>
              </a:rPr>
              <a:t>instances </a:t>
            </a:r>
            <a:r>
              <a:rPr lang="en-US" dirty="0">
                <a:latin typeface="Corbel" panose="020B0503020204020204" pitchFamily="34" charset="0"/>
              </a:rPr>
              <a:t>of class. </a:t>
            </a:r>
          </a:p>
          <a:p>
            <a:pPr algn="just">
              <a:lnSpc>
                <a:spcPct val="150000"/>
              </a:lnSpc>
            </a:pPr>
            <a:r>
              <a:rPr lang="en-US" dirty="0">
                <a:latin typeface="Corbel" panose="020B0503020204020204" pitchFamily="34" charset="0"/>
              </a:rPr>
              <a:t>For example, If I create three objects of a class and access this static variable, it would be common for all, the changes made to the variable using one of the object would reflect when you access it through other objects.</a:t>
            </a:r>
          </a:p>
        </p:txBody>
      </p:sp>
      <p:pic>
        <p:nvPicPr>
          <p:cNvPr id="4" name="Picture 3"/>
          <p:cNvPicPr>
            <a:picLocks noChangeAspect="1"/>
          </p:cNvPicPr>
          <p:nvPr/>
        </p:nvPicPr>
        <p:blipFill>
          <a:blip r:embed="rId3"/>
          <a:stretch>
            <a:fillRect/>
          </a:stretch>
        </p:blipFill>
        <p:spPr>
          <a:xfrm>
            <a:off x="5984400" y="1407967"/>
            <a:ext cx="5819669" cy="5325341"/>
          </a:xfrm>
          <a:prstGeom prst="rect">
            <a:avLst/>
          </a:prstGeom>
        </p:spPr>
      </p:pic>
    </p:spTree>
    <p:extLst>
      <p:ext uri="{BB962C8B-B14F-4D97-AF65-F5344CB8AC3E}">
        <p14:creationId xmlns:p14="http://schemas.microsoft.com/office/powerpoint/2010/main" val="451190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Instance Variable</a:t>
            </a:r>
          </a:p>
        </p:txBody>
      </p:sp>
      <p:sp>
        <p:nvSpPr>
          <p:cNvPr id="3" name="Content Placeholder 2"/>
          <p:cNvSpPr>
            <a:spLocks noGrp="1"/>
          </p:cNvSpPr>
          <p:nvPr>
            <p:ph idx="1"/>
          </p:nvPr>
        </p:nvSpPr>
        <p:spPr>
          <a:xfrm>
            <a:off x="323090" y="1503218"/>
            <a:ext cx="5249035" cy="4953000"/>
          </a:xfrm>
        </p:spPr>
        <p:txBody>
          <a:bodyPr>
            <a:noAutofit/>
          </a:bodyPr>
          <a:lstStyle/>
          <a:p>
            <a:pPr algn="just">
              <a:lnSpc>
                <a:spcPct val="150000"/>
              </a:lnSpc>
            </a:pPr>
            <a:r>
              <a:rPr lang="en-US" dirty="0">
                <a:latin typeface="Corbel" panose="020B0503020204020204" pitchFamily="34" charset="0"/>
              </a:rPr>
              <a:t>Each </a:t>
            </a:r>
            <a:r>
              <a:rPr lang="en-US" b="1" u="sng" dirty="0">
                <a:latin typeface="Corbel" panose="020B0503020204020204" pitchFamily="34" charset="0"/>
              </a:rPr>
              <a:t>instance(objects)</a:t>
            </a:r>
            <a:r>
              <a:rPr lang="en-US" dirty="0">
                <a:latin typeface="Corbel" panose="020B0503020204020204" pitchFamily="34" charset="0"/>
              </a:rPr>
              <a:t> of class has its </a:t>
            </a:r>
            <a:r>
              <a:rPr lang="en-US" b="1" u="sng" dirty="0">
                <a:latin typeface="Corbel" panose="020B0503020204020204" pitchFamily="34" charset="0"/>
              </a:rPr>
              <a:t>own copy of instance variable</a:t>
            </a:r>
            <a:r>
              <a:rPr lang="en-US" dirty="0">
                <a:latin typeface="Corbel" panose="020B0503020204020204" pitchFamily="34" charset="0"/>
              </a:rPr>
              <a:t>. </a:t>
            </a:r>
          </a:p>
          <a:p>
            <a:pPr algn="just">
              <a:lnSpc>
                <a:spcPct val="150000"/>
              </a:lnSpc>
            </a:pPr>
            <a:r>
              <a:rPr lang="en-US" dirty="0">
                <a:latin typeface="Corbel" panose="020B0503020204020204" pitchFamily="34" charset="0"/>
              </a:rPr>
              <a:t>Unlike static variable, </a:t>
            </a:r>
            <a:r>
              <a:rPr lang="en-US" b="1" u="sng" dirty="0">
                <a:latin typeface="Corbel" panose="020B0503020204020204" pitchFamily="34" charset="0"/>
              </a:rPr>
              <a:t>instance variables </a:t>
            </a:r>
            <a:r>
              <a:rPr lang="en-US" dirty="0">
                <a:latin typeface="Corbel" panose="020B0503020204020204" pitchFamily="34" charset="0"/>
              </a:rPr>
              <a:t>have their </a:t>
            </a:r>
            <a:r>
              <a:rPr lang="en-US" b="1" u="sng" dirty="0">
                <a:latin typeface="Corbel" panose="020B0503020204020204" pitchFamily="34" charset="0"/>
              </a:rPr>
              <a:t>own separate copy of instance variable</a:t>
            </a:r>
            <a:r>
              <a:rPr lang="en-US" dirty="0">
                <a:latin typeface="Corbel" panose="020B0503020204020204" pitchFamily="34" charset="0"/>
              </a:rPr>
              <a:t>. </a:t>
            </a:r>
          </a:p>
          <a:p>
            <a:pPr algn="just">
              <a:lnSpc>
                <a:spcPct val="150000"/>
              </a:lnSpc>
            </a:pPr>
            <a:r>
              <a:rPr lang="en-US" dirty="0">
                <a:latin typeface="Corbel" panose="020B0503020204020204" pitchFamily="34" charset="0"/>
              </a:rPr>
              <a:t>We have changed the instance variable value using object obj2 in the following program and when we displayed the variable using all three objects, only the obj2 value got changed, others remain unchanged. This shows that they have their own copy of instance variable.</a:t>
            </a:r>
          </a:p>
        </p:txBody>
      </p:sp>
      <p:pic>
        <p:nvPicPr>
          <p:cNvPr id="5" name="Picture 4"/>
          <p:cNvPicPr>
            <a:picLocks noChangeAspect="1"/>
          </p:cNvPicPr>
          <p:nvPr/>
        </p:nvPicPr>
        <p:blipFill>
          <a:blip r:embed="rId3"/>
          <a:stretch>
            <a:fillRect/>
          </a:stretch>
        </p:blipFill>
        <p:spPr>
          <a:xfrm>
            <a:off x="5961132" y="1417493"/>
            <a:ext cx="5754618" cy="5411718"/>
          </a:xfrm>
          <a:prstGeom prst="rect">
            <a:avLst/>
          </a:prstGeom>
        </p:spPr>
      </p:pic>
    </p:spTree>
    <p:extLst>
      <p:ext uri="{BB962C8B-B14F-4D97-AF65-F5344CB8AC3E}">
        <p14:creationId xmlns:p14="http://schemas.microsoft.com/office/powerpoint/2010/main" val="4087434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Variable</a:t>
            </a:r>
          </a:p>
        </p:txBody>
      </p:sp>
      <p:sp>
        <p:nvSpPr>
          <p:cNvPr id="3" name="Content Placeholder 2"/>
          <p:cNvSpPr>
            <a:spLocks noGrp="1"/>
          </p:cNvSpPr>
          <p:nvPr>
            <p:ph idx="1"/>
          </p:nvPr>
        </p:nvSpPr>
        <p:spPr>
          <a:xfrm>
            <a:off x="323090" y="1503218"/>
            <a:ext cx="5249035" cy="4953000"/>
          </a:xfrm>
        </p:spPr>
        <p:txBody>
          <a:bodyPr>
            <a:noAutofit/>
          </a:bodyPr>
          <a:lstStyle/>
          <a:p>
            <a:r>
              <a:rPr lang="en-US" dirty="0">
                <a:latin typeface="Corbel" panose="020B0503020204020204" pitchFamily="34" charset="0"/>
              </a:rPr>
              <a:t>These </a:t>
            </a:r>
            <a:r>
              <a:rPr lang="en-US" b="1" u="sng" dirty="0">
                <a:latin typeface="Corbel" panose="020B0503020204020204" pitchFamily="34" charset="0"/>
              </a:rPr>
              <a:t>variables</a:t>
            </a:r>
            <a:r>
              <a:rPr lang="en-US" dirty="0">
                <a:latin typeface="Corbel" panose="020B0503020204020204" pitchFamily="34" charset="0"/>
              </a:rPr>
              <a:t> are declared </a:t>
            </a:r>
            <a:r>
              <a:rPr lang="en-US" b="1" u="sng" dirty="0">
                <a:latin typeface="Corbel" panose="020B0503020204020204" pitchFamily="34" charset="0"/>
              </a:rPr>
              <a:t>inside method </a:t>
            </a:r>
            <a:r>
              <a:rPr lang="en-US" dirty="0">
                <a:latin typeface="Corbel" panose="020B0503020204020204" pitchFamily="34" charset="0"/>
              </a:rPr>
              <a:t>of the </a:t>
            </a:r>
            <a:r>
              <a:rPr lang="en-US" b="1" u="sng" dirty="0">
                <a:latin typeface="Corbel" panose="020B0503020204020204" pitchFamily="34" charset="0"/>
              </a:rPr>
              <a:t>class</a:t>
            </a:r>
            <a:r>
              <a:rPr lang="en-US" dirty="0">
                <a:latin typeface="Corbel" panose="020B0503020204020204" pitchFamily="34" charset="0"/>
              </a:rPr>
              <a:t>. </a:t>
            </a:r>
          </a:p>
          <a:p>
            <a:r>
              <a:rPr lang="en-US" dirty="0">
                <a:latin typeface="Corbel" panose="020B0503020204020204" pitchFamily="34" charset="0"/>
              </a:rPr>
              <a:t>Their </a:t>
            </a:r>
            <a:r>
              <a:rPr lang="en-US" b="1" u="sng" dirty="0">
                <a:latin typeface="Corbel" panose="020B0503020204020204" pitchFamily="34" charset="0"/>
              </a:rPr>
              <a:t>scope is limited to the method </a:t>
            </a:r>
            <a:r>
              <a:rPr lang="en-US" dirty="0">
                <a:latin typeface="Corbel" panose="020B0503020204020204" pitchFamily="34" charset="0"/>
              </a:rPr>
              <a:t>which means that You can’t change their values and access them outside of the method.</a:t>
            </a:r>
          </a:p>
          <a:p>
            <a:r>
              <a:rPr lang="en-US" dirty="0">
                <a:latin typeface="Corbel" panose="020B0503020204020204" pitchFamily="34" charset="0"/>
              </a:rPr>
              <a:t>In this example, I have declared the instance variable with the same name as local variable, this is to demonstrate the scope of local variables.</a:t>
            </a:r>
          </a:p>
        </p:txBody>
      </p:sp>
      <p:pic>
        <p:nvPicPr>
          <p:cNvPr id="4" name="Picture 3"/>
          <p:cNvPicPr>
            <a:picLocks noChangeAspect="1"/>
          </p:cNvPicPr>
          <p:nvPr/>
        </p:nvPicPr>
        <p:blipFill>
          <a:blip r:embed="rId3"/>
          <a:stretch>
            <a:fillRect/>
          </a:stretch>
        </p:blipFill>
        <p:spPr>
          <a:xfrm>
            <a:off x="6095240" y="836467"/>
            <a:ext cx="5691947" cy="5996873"/>
          </a:xfrm>
          <a:prstGeom prst="rect">
            <a:avLst/>
          </a:prstGeom>
        </p:spPr>
      </p:pic>
    </p:spTree>
    <p:extLst>
      <p:ext uri="{BB962C8B-B14F-4D97-AF65-F5344CB8AC3E}">
        <p14:creationId xmlns:p14="http://schemas.microsoft.com/office/powerpoint/2010/main" val="2186228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a:t>
            </a:r>
          </a:p>
        </p:txBody>
      </p:sp>
      <p:sp>
        <p:nvSpPr>
          <p:cNvPr id="3" name="Content Placeholder 2"/>
          <p:cNvSpPr>
            <a:spLocks noGrp="1"/>
          </p:cNvSpPr>
          <p:nvPr>
            <p:ph idx="1"/>
          </p:nvPr>
        </p:nvSpPr>
        <p:spPr>
          <a:xfrm>
            <a:off x="136713" y="1479176"/>
            <a:ext cx="5212528" cy="4572000"/>
          </a:xfrm>
        </p:spPr>
        <p:txBody>
          <a:bodyPr>
            <a:noAutofit/>
          </a:bodyPr>
          <a:lstStyle/>
          <a:p>
            <a:r>
              <a:rPr lang="en-IN" dirty="0">
                <a:latin typeface="Corbel" panose="020B0503020204020204" pitchFamily="34" charset="0"/>
              </a:rPr>
              <a:t>The class is at the core of Java. </a:t>
            </a:r>
          </a:p>
          <a:p>
            <a:r>
              <a:rPr lang="en-IN" dirty="0">
                <a:latin typeface="Corbel" panose="020B0503020204020204" pitchFamily="34" charset="0"/>
              </a:rPr>
              <a:t>It is the logical construct upon which the entire Java language is built because it </a:t>
            </a:r>
            <a:r>
              <a:rPr lang="en-IN" b="1" u="sng" dirty="0">
                <a:latin typeface="Corbel" panose="020B0503020204020204" pitchFamily="34" charset="0"/>
              </a:rPr>
              <a:t>defines </a:t>
            </a:r>
            <a:r>
              <a:rPr lang="en-IN" dirty="0">
                <a:latin typeface="Corbel" panose="020B0503020204020204" pitchFamily="34" charset="0"/>
              </a:rPr>
              <a:t>the </a:t>
            </a:r>
            <a:r>
              <a:rPr lang="en-IN" b="1" u="sng" dirty="0">
                <a:latin typeface="Corbel" panose="020B0503020204020204" pitchFamily="34" charset="0"/>
              </a:rPr>
              <a:t>shape and nature </a:t>
            </a:r>
            <a:r>
              <a:rPr lang="en-IN" dirty="0">
                <a:latin typeface="Corbel" panose="020B0503020204020204" pitchFamily="34" charset="0"/>
              </a:rPr>
              <a:t>of an object. </a:t>
            </a:r>
          </a:p>
          <a:p>
            <a:r>
              <a:rPr lang="en-IN" dirty="0">
                <a:latin typeface="Corbel" panose="020B0503020204020204" pitchFamily="34" charset="0"/>
              </a:rPr>
              <a:t>A class can also be considered as a user-defined data type.</a:t>
            </a:r>
          </a:p>
          <a:p>
            <a:r>
              <a:rPr lang="en-IN" dirty="0">
                <a:latin typeface="Corbel" panose="020B0503020204020204" pitchFamily="34" charset="0"/>
              </a:rPr>
              <a:t>Variables and Functions can be created within class</a:t>
            </a:r>
          </a:p>
          <a:p>
            <a:r>
              <a:rPr lang="en-IN" dirty="0">
                <a:latin typeface="Corbel" panose="020B0503020204020204" pitchFamily="34" charset="0"/>
              </a:rPr>
              <a:t>Any concept you wish to implement in a Java program must be encapsulated within a class.</a:t>
            </a:r>
            <a:endParaRPr lang="en-US" dirty="0">
              <a:latin typeface="Corbel" panose="020B0503020204020204" pitchFamily="34" charset="0"/>
            </a:endParaRPr>
          </a:p>
          <a:p>
            <a:endParaRPr lang="en-US" dirty="0">
              <a:latin typeface="Corbel" panose="020B0503020204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9008" y="1693553"/>
            <a:ext cx="6236208" cy="3480674"/>
          </a:xfrm>
          <a:prstGeom prst="rect">
            <a:avLst/>
          </a:prstGeom>
        </p:spPr>
      </p:pic>
    </p:spTree>
    <p:extLst>
      <p:ext uri="{BB962C8B-B14F-4D97-AF65-F5344CB8AC3E}">
        <p14:creationId xmlns:p14="http://schemas.microsoft.com/office/powerpoint/2010/main" val="143495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Objects</a:t>
            </a:r>
          </a:p>
        </p:txBody>
      </p:sp>
      <p:sp>
        <p:nvSpPr>
          <p:cNvPr id="3" name="Content Placeholder 2"/>
          <p:cNvSpPr>
            <a:spLocks noGrp="1"/>
          </p:cNvSpPr>
          <p:nvPr>
            <p:ph idx="1"/>
          </p:nvPr>
        </p:nvSpPr>
        <p:spPr>
          <a:xfrm>
            <a:off x="136712" y="1479176"/>
            <a:ext cx="8757906" cy="4572000"/>
          </a:xfrm>
        </p:spPr>
        <p:txBody>
          <a:bodyPr>
            <a:noAutofit/>
          </a:bodyPr>
          <a:lstStyle/>
          <a:p>
            <a:r>
              <a:rPr lang="en-IN" dirty="0">
                <a:latin typeface="Corbel" panose="020B0503020204020204" pitchFamily="34" charset="0"/>
              </a:rPr>
              <a:t>An object in JAVA is essentially a block of memory that contains space to store all the instance variables.</a:t>
            </a:r>
          </a:p>
          <a:p>
            <a:r>
              <a:rPr lang="en-IN" dirty="0">
                <a:latin typeface="Corbel" panose="020B0503020204020204" pitchFamily="34" charset="0"/>
              </a:rPr>
              <a:t>Creating an object also refers to </a:t>
            </a:r>
            <a:r>
              <a:rPr lang="en-IN" b="1" dirty="0">
                <a:latin typeface="Corbel" panose="020B0503020204020204" pitchFamily="34" charset="0"/>
              </a:rPr>
              <a:t>INSTANTIATING AN OBJECT.</a:t>
            </a:r>
          </a:p>
          <a:p>
            <a:r>
              <a:rPr lang="en-IN" dirty="0">
                <a:latin typeface="Corbel" panose="020B0503020204020204" pitchFamily="34" charset="0"/>
              </a:rPr>
              <a:t>When you create a class, you are creating a new data type. You can use this  type to create objects of that type. </a:t>
            </a:r>
          </a:p>
          <a:p>
            <a:r>
              <a:rPr lang="en-IN" dirty="0">
                <a:latin typeface="Corbel" panose="020B0503020204020204" pitchFamily="34" charset="0"/>
              </a:rPr>
              <a:t>However, obtaining objects of a class is a two-step process.</a:t>
            </a:r>
          </a:p>
          <a:p>
            <a:pPr lvl="1"/>
            <a:r>
              <a:rPr lang="en-IN" dirty="0">
                <a:latin typeface="Corbel" panose="020B0503020204020204" pitchFamily="34" charset="0"/>
              </a:rPr>
              <a:t>First, you must declare a variable of the class type. This variable does not define an object. Instead, it is simply a variable that can </a:t>
            </a:r>
            <a:r>
              <a:rPr lang="en-IN" i="1" dirty="0">
                <a:latin typeface="Corbel" panose="020B0503020204020204" pitchFamily="34" charset="0"/>
              </a:rPr>
              <a:t>refer </a:t>
            </a:r>
            <a:r>
              <a:rPr lang="en-IN" dirty="0">
                <a:latin typeface="Corbel" panose="020B0503020204020204" pitchFamily="34" charset="0"/>
              </a:rPr>
              <a:t>to an object. </a:t>
            </a:r>
          </a:p>
          <a:p>
            <a:pPr lvl="1"/>
            <a:r>
              <a:rPr lang="en-IN" dirty="0">
                <a:latin typeface="Corbel" panose="020B0503020204020204" pitchFamily="34" charset="0"/>
              </a:rPr>
              <a:t>Second, you must acquire an actual, physical copy of the object and assign it to that variable. </a:t>
            </a:r>
          </a:p>
          <a:p>
            <a:r>
              <a:rPr lang="en-IN" dirty="0">
                <a:latin typeface="Corbel" panose="020B0503020204020204" pitchFamily="34" charset="0"/>
              </a:rPr>
              <a:t>You can do this using the </a:t>
            </a:r>
            <a:r>
              <a:rPr lang="en-IN" b="1" dirty="0">
                <a:latin typeface="Corbel" panose="020B0503020204020204" pitchFamily="34" charset="0"/>
              </a:rPr>
              <a:t>new </a:t>
            </a:r>
            <a:r>
              <a:rPr lang="en-IN" dirty="0">
                <a:latin typeface="Corbel" panose="020B0503020204020204" pitchFamily="34" charset="0"/>
              </a:rPr>
              <a:t>operator. The </a:t>
            </a:r>
            <a:r>
              <a:rPr lang="en-IN" b="1" dirty="0">
                <a:latin typeface="Corbel" panose="020B0503020204020204" pitchFamily="34" charset="0"/>
              </a:rPr>
              <a:t>new </a:t>
            </a:r>
            <a:r>
              <a:rPr lang="en-IN" dirty="0">
                <a:latin typeface="Corbel" panose="020B0503020204020204" pitchFamily="34" charset="0"/>
              </a:rPr>
              <a:t>operator dynamically allocates (that is, allocates at run time) memory for an object and returns a reference to it. This reference is, more or less, the address in memory of the object allocated by </a:t>
            </a:r>
            <a:r>
              <a:rPr lang="en-IN" b="1" dirty="0">
                <a:latin typeface="Corbel" panose="020B0503020204020204" pitchFamily="34" charset="0"/>
              </a:rPr>
              <a:t>new</a:t>
            </a:r>
            <a:r>
              <a:rPr lang="en-IN" dirty="0">
                <a:latin typeface="Corbel" panose="020B0503020204020204" pitchFamily="34" charset="0"/>
              </a:rPr>
              <a:t>. This reference is then stored in the variable. </a:t>
            </a:r>
          </a:p>
          <a:p>
            <a:r>
              <a:rPr lang="en-IN" dirty="0">
                <a:latin typeface="Corbel" panose="020B0503020204020204" pitchFamily="34" charset="0"/>
              </a:rPr>
              <a:t>Thus, in Java, all class objects must be dynamically allocated. Let’s look at the details of this procedure.</a:t>
            </a:r>
            <a:endParaRPr lang="en-US" dirty="0">
              <a:latin typeface="Corbel" panose="020B0503020204020204" pitchFamily="34" charset="0"/>
            </a:endParaRPr>
          </a:p>
        </p:txBody>
      </p:sp>
      <p:pic>
        <p:nvPicPr>
          <p:cNvPr id="1026" name="Picture 2" descr="Image result for class and obj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1101" y="3006436"/>
            <a:ext cx="2792124" cy="1882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1610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Constructors</a:t>
            </a:r>
          </a:p>
        </p:txBody>
      </p:sp>
      <p:sp>
        <p:nvSpPr>
          <p:cNvPr id="3" name="Content Placeholder 2"/>
          <p:cNvSpPr>
            <a:spLocks noGrp="1"/>
          </p:cNvSpPr>
          <p:nvPr>
            <p:ph idx="1"/>
          </p:nvPr>
        </p:nvSpPr>
        <p:spPr>
          <a:xfrm>
            <a:off x="877273" y="1517073"/>
            <a:ext cx="10435936" cy="4953000"/>
          </a:xfrm>
        </p:spPr>
        <p:txBody>
          <a:bodyPr>
            <a:noAutofit/>
          </a:bodyPr>
          <a:lstStyle/>
          <a:p>
            <a:pPr marL="0" lvl="0" indent="0" eaLnBrk="0" fontAlgn="base" hangingPunct="0">
              <a:lnSpc>
                <a:spcPct val="150000"/>
              </a:lnSpc>
              <a:spcBef>
                <a:spcPct val="0"/>
              </a:spcBef>
              <a:spcAft>
                <a:spcPct val="0"/>
              </a:spcAft>
              <a:buNone/>
            </a:pPr>
            <a:r>
              <a:rPr lang="en-US" altLang="en-US" b="1" dirty="0">
                <a:solidFill>
                  <a:srgbClr val="444542"/>
                </a:solidFill>
                <a:latin typeface="Corbel" panose="020B0503020204020204" pitchFamily="34" charset="0"/>
              </a:rPr>
              <a:t>What is a Constructor</a:t>
            </a:r>
          </a:p>
          <a:p>
            <a:pPr marL="0" lvl="0" indent="0" eaLnBrk="0" fontAlgn="base" hangingPunct="0">
              <a:lnSpc>
                <a:spcPct val="150000"/>
              </a:lnSpc>
              <a:spcBef>
                <a:spcPct val="0"/>
              </a:spcBef>
              <a:spcAft>
                <a:spcPct val="0"/>
              </a:spcAft>
              <a:buNone/>
            </a:pPr>
            <a:r>
              <a:rPr lang="en-US" altLang="en-US" b="1" dirty="0">
                <a:solidFill>
                  <a:srgbClr val="7DC246"/>
                </a:solidFill>
                <a:latin typeface="Corbel" panose="020B0503020204020204" pitchFamily="34" charset="0"/>
                <a:hlinkClick r:id="rId2"/>
              </a:rPr>
              <a:t>We have seen classes, and have seen objects. Let us step into Constructors</a:t>
            </a:r>
          </a:p>
          <a:p>
            <a:pPr marL="0" lvl="0" indent="0" eaLnBrk="0" fontAlgn="base" hangingPunct="0">
              <a:lnSpc>
                <a:spcPct val="150000"/>
              </a:lnSpc>
              <a:spcBef>
                <a:spcPct val="0"/>
              </a:spcBef>
              <a:spcAft>
                <a:spcPct val="0"/>
              </a:spcAft>
              <a:buNone/>
            </a:pPr>
            <a:r>
              <a:rPr lang="en-US" altLang="en-US" b="1" dirty="0">
                <a:solidFill>
                  <a:srgbClr val="7DC246"/>
                </a:solidFill>
                <a:latin typeface="Corbel" panose="020B0503020204020204" pitchFamily="34" charset="0"/>
                <a:hlinkClick r:id="rId2"/>
              </a:rPr>
              <a:t>Constructor</a:t>
            </a:r>
            <a:r>
              <a:rPr lang="en-US" altLang="en-US" dirty="0">
                <a:solidFill>
                  <a:srgbClr val="222426"/>
                </a:solidFill>
                <a:latin typeface="Corbel" panose="020B0503020204020204" pitchFamily="34" charset="0"/>
              </a:rPr>
              <a:t> looks like a method but it is in fact </a:t>
            </a:r>
            <a:r>
              <a:rPr lang="en-US" altLang="en-US" b="1" u="sng" dirty="0">
                <a:solidFill>
                  <a:srgbClr val="222426"/>
                </a:solidFill>
                <a:latin typeface="Corbel" panose="020B0503020204020204" pitchFamily="34" charset="0"/>
              </a:rPr>
              <a:t>not a method</a:t>
            </a:r>
            <a:r>
              <a:rPr lang="en-US" altLang="en-US" dirty="0">
                <a:solidFill>
                  <a:srgbClr val="222426"/>
                </a:solidFill>
                <a:latin typeface="Corbel" panose="020B0503020204020204" pitchFamily="34" charset="0"/>
              </a:rPr>
              <a:t>. It’s </a:t>
            </a:r>
            <a:r>
              <a:rPr lang="en-US" altLang="en-US" b="1" u="sng" dirty="0">
                <a:solidFill>
                  <a:srgbClr val="222426"/>
                </a:solidFill>
                <a:latin typeface="Corbel" panose="020B0503020204020204" pitchFamily="34" charset="0"/>
              </a:rPr>
              <a:t>name is same as class name </a:t>
            </a:r>
            <a:r>
              <a:rPr lang="en-US" altLang="en-US" dirty="0">
                <a:solidFill>
                  <a:srgbClr val="222426"/>
                </a:solidFill>
                <a:latin typeface="Corbel" panose="020B0503020204020204" pitchFamily="34" charset="0"/>
              </a:rPr>
              <a:t>and it </a:t>
            </a:r>
            <a:r>
              <a:rPr lang="en-US" altLang="en-US" b="1" u="sng" dirty="0">
                <a:solidFill>
                  <a:srgbClr val="222426"/>
                </a:solidFill>
                <a:latin typeface="Corbel" panose="020B0503020204020204" pitchFamily="34" charset="0"/>
              </a:rPr>
              <a:t>does not return any value</a:t>
            </a:r>
            <a:r>
              <a:rPr lang="en-US" altLang="en-US" dirty="0">
                <a:solidFill>
                  <a:srgbClr val="222426"/>
                </a:solidFill>
                <a:latin typeface="Corbel" panose="020B0503020204020204" pitchFamily="34" charset="0"/>
              </a:rPr>
              <a:t>. You must have seen this statement in almost all the programs I have shared above:</a:t>
            </a:r>
            <a:endParaRPr lang="en-US" altLang="en-US" dirty="0">
              <a:solidFill>
                <a:srgbClr val="2B91AF"/>
              </a:solidFill>
              <a:latin typeface="Corbel" panose="020B0503020204020204" pitchFamily="34" charset="0"/>
              <a:cs typeface="Consolas" panose="020B0609020204030204" pitchFamily="49" charset="0"/>
            </a:endParaRPr>
          </a:p>
          <a:p>
            <a:pPr marL="0" lvl="0" indent="0" eaLnBrk="0" fontAlgn="base" hangingPunct="0">
              <a:lnSpc>
                <a:spcPct val="150000"/>
              </a:lnSpc>
              <a:spcBef>
                <a:spcPct val="0"/>
              </a:spcBef>
              <a:spcAft>
                <a:spcPct val="0"/>
              </a:spcAft>
              <a:buNone/>
            </a:pPr>
            <a:r>
              <a:rPr lang="en-US" altLang="en-US" b="1" i="1" dirty="0">
                <a:solidFill>
                  <a:srgbClr val="2B91AF"/>
                </a:solidFill>
                <a:latin typeface="Corbel" panose="020B0503020204020204" pitchFamily="34" charset="0"/>
                <a:cs typeface="Consolas" panose="020B0609020204030204" pitchFamily="49" charset="0"/>
              </a:rPr>
              <a:t>	MyClass</a:t>
            </a:r>
            <a:r>
              <a:rPr lang="en-US" altLang="en-US" b="1" i="1" dirty="0">
                <a:solidFill>
                  <a:srgbClr val="000000"/>
                </a:solidFill>
                <a:latin typeface="Corbel" panose="020B0503020204020204" pitchFamily="34" charset="0"/>
                <a:cs typeface="Consolas" panose="020B0609020204030204" pitchFamily="49" charset="0"/>
              </a:rPr>
              <a:t> obj = </a:t>
            </a:r>
            <a:r>
              <a:rPr lang="en-US" altLang="en-US" b="1" i="1" dirty="0">
                <a:solidFill>
                  <a:srgbClr val="00008B"/>
                </a:solidFill>
                <a:latin typeface="Corbel" panose="020B0503020204020204" pitchFamily="34" charset="0"/>
                <a:cs typeface="Consolas" panose="020B0609020204030204" pitchFamily="49" charset="0"/>
              </a:rPr>
              <a:t>new</a:t>
            </a:r>
            <a:r>
              <a:rPr lang="en-US" altLang="en-US" b="1" i="1" dirty="0">
                <a:solidFill>
                  <a:srgbClr val="000000"/>
                </a:solidFill>
                <a:latin typeface="Corbel" panose="020B0503020204020204" pitchFamily="34" charset="0"/>
                <a:cs typeface="Consolas" panose="020B0609020204030204" pitchFamily="49" charset="0"/>
              </a:rPr>
              <a:t> </a:t>
            </a:r>
            <a:r>
              <a:rPr lang="en-US" altLang="en-US" b="1" i="1" dirty="0">
                <a:solidFill>
                  <a:srgbClr val="2B91AF"/>
                </a:solidFill>
                <a:latin typeface="Corbel" panose="020B0503020204020204" pitchFamily="34" charset="0"/>
                <a:cs typeface="Consolas" panose="020B0609020204030204" pitchFamily="49" charset="0"/>
              </a:rPr>
              <a:t>MyClass</a:t>
            </a:r>
            <a:r>
              <a:rPr lang="en-US" altLang="en-US" b="1" i="1" dirty="0">
                <a:solidFill>
                  <a:srgbClr val="000000"/>
                </a:solidFill>
                <a:latin typeface="Corbel" panose="020B0503020204020204" pitchFamily="34" charset="0"/>
                <a:cs typeface="Consolas" panose="020B0609020204030204" pitchFamily="49" charset="0"/>
              </a:rPr>
              <a:t>()</a:t>
            </a:r>
            <a:r>
              <a:rPr lang="en-US" altLang="en-US" dirty="0">
                <a:solidFill>
                  <a:srgbClr val="000000"/>
                </a:solidFill>
                <a:latin typeface="Corbel" panose="020B0503020204020204" pitchFamily="34" charset="0"/>
                <a:cs typeface="Consolas" panose="020B0609020204030204" pitchFamily="49" charset="0"/>
              </a:rPr>
              <a:t>;</a:t>
            </a:r>
            <a:endParaRPr lang="en-US" altLang="en-US" dirty="0">
              <a:latin typeface="Corbel" panose="020B0503020204020204" pitchFamily="34" charset="0"/>
            </a:endParaRPr>
          </a:p>
          <a:p>
            <a:pPr marL="0" lvl="0" indent="0" eaLnBrk="0" fontAlgn="base" hangingPunct="0">
              <a:lnSpc>
                <a:spcPct val="150000"/>
              </a:lnSpc>
              <a:spcBef>
                <a:spcPct val="0"/>
              </a:spcBef>
              <a:spcAft>
                <a:spcPct val="0"/>
              </a:spcAft>
              <a:buNone/>
            </a:pPr>
            <a:r>
              <a:rPr lang="en-US" altLang="en-US" dirty="0">
                <a:solidFill>
                  <a:srgbClr val="222426"/>
                </a:solidFill>
                <a:latin typeface="Corbel" panose="020B0503020204020204" pitchFamily="34" charset="0"/>
              </a:rPr>
              <a:t>If you look at the right side of this statement, we are </a:t>
            </a:r>
            <a:r>
              <a:rPr lang="en-US" altLang="en-US" b="1" u="sng" dirty="0">
                <a:solidFill>
                  <a:srgbClr val="222426"/>
                </a:solidFill>
                <a:latin typeface="Corbel" panose="020B0503020204020204" pitchFamily="34" charset="0"/>
              </a:rPr>
              <a:t>calling </a:t>
            </a:r>
            <a:r>
              <a:rPr lang="en-US" altLang="en-US" dirty="0">
                <a:solidFill>
                  <a:srgbClr val="222426"/>
                </a:solidFill>
                <a:latin typeface="Corbel" panose="020B0503020204020204" pitchFamily="34" charset="0"/>
              </a:rPr>
              <a:t>the </a:t>
            </a:r>
            <a:r>
              <a:rPr lang="en-US" altLang="en-US" b="1" u="sng" dirty="0">
                <a:solidFill>
                  <a:srgbClr val="222426"/>
                </a:solidFill>
                <a:latin typeface="Corbel" panose="020B0503020204020204" pitchFamily="34" charset="0"/>
              </a:rPr>
              <a:t>default constructor </a:t>
            </a:r>
            <a:r>
              <a:rPr lang="en-US" altLang="en-US" dirty="0">
                <a:solidFill>
                  <a:srgbClr val="222426"/>
                </a:solidFill>
                <a:latin typeface="Corbel" panose="020B0503020204020204" pitchFamily="34" charset="0"/>
              </a:rPr>
              <a:t>of class </a:t>
            </a:r>
            <a:r>
              <a:rPr lang="en-US" altLang="en-US" b="1" u="sng" dirty="0">
                <a:solidFill>
                  <a:srgbClr val="222426"/>
                </a:solidFill>
                <a:latin typeface="Corbel" panose="020B0503020204020204" pitchFamily="34" charset="0"/>
              </a:rPr>
              <a:t>myClass</a:t>
            </a:r>
            <a:r>
              <a:rPr lang="en-US" altLang="en-US" dirty="0">
                <a:solidFill>
                  <a:srgbClr val="222426"/>
                </a:solidFill>
                <a:latin typeface="Corbel" panose="020B0503020204020204" pitchFamily="34" charset="0"/>
              </a:rPr>
              <a:t> to create a </a:t>
            </a:r>
            <a:r>
              <a:rPr lang="en-US" altLang="en-US" b="1" u="sng" dirty="0">
                <a:solidFill>
                  <a:srgbClr val="222426"/>
                </a:solidFill>
                <a:latin typeface="Corbel" panose="020B0503020204020204" pitchFamily="34" charset="0"/>
              </a:rPr>
              <a:t>new object </a:t>
            </a:r>
            <a:r>
              <a:rPr lang="en-US" altLang="en-US" dirty="0">
                <a:solidFill>
                  <a:srgbClr val="222426"/>
                </a:solidFill>
                <a:latin typeface="Corbel" panose="020B0503020204020204" pitchFamily="34" charset="0"/>
              </a:rPr>
              <a:t>(or instance).</a:t>
            </a:r>
            <a:endParaRPr lang="en-US" altLang="en-US" dirty="0">
              <a:latin typeface="Corbel" panose="020B0503020204020204" pitchFamily="34" charset="0"/>
            </a:endParaRPr>
          </a:p>
          <a:p>
            <a:pPr marL="0" lvl="0" indent="0" eaLnBrk="0" fontAlgn="base" hangingPunct="0">
              <a:lnSpc>
                <a:spcPct val="150000"/>
              </a:lnSpc>
              <a:spcBef>
                <a:spcPct val="0"/>
              </a:spcBef>
              <a:spcAft>
                <a:spcPct val="0"/>
              </a:spcAft>
              <a:buNone/>
            </a:pPr>
            <a:r>
              <a:rPr lang="en-US" altLang="en-US" dirty="0">
                <a:solidFill>
                  <a:srgbClr val="222426"/>
                </a:solidFill>
                <a:latin typeface="Corbel" panose="020B0503020204020204" pitchFamily="34" charset="0"/>
              </a:rPr>
              <a:t>We can also have </a:t>
            </a:r>
            <a:r>
              <a:rPr lang="en-US" altLang="en-US" b="1" u="sng" dirty="0">
                <a:solidFill>
                  <a:srgbClr val="222426"/>
                </a:solidFill>
                <a:latin typeface="Corbel" panose="020B0503020204020204" pitchFamily="34" charset="0"/>
              </a:rPr>
              <a:t>parameters</a:t>
            </a:r>
            <a:r>
              <a:rPr lang="en-US" altLang="en-US" dirty="0">
                <a:solidFill>
                  <a:srgbClr val="222426"/>
                </a:solidFill>
                <a:latin typeface="Corbel" panose="020B0503020204020204" pitchFamily="34" charset="0"/>
              </a:rPr>
              <a:t> in the </a:t>
            </a:r>
            <a:r>
              <a:rPr lang="en-US" altLang="en-US" b="1" u="sng" dirty="0">
                <a:solidFill>
                  <a:srgbClr val="222426"/>
                </a:solidFill>
                <a:latin typeface="Corbel" panose="020B0503020204020204" pitchFamily="34" charset="0"/>
              </a:rPr>
              <a:t>constructor</a:t>
            </a:r>
            <a:r>
              <a:rPr lang="en-US" altLang="en-US" dirty="0">
                <a:solidFill>
                  <a:srgbClr val="222426"/>
                </a:solidFill>
                <a:latin typeface="Corbel" panose="020B0503020204020204" pitchFamily="34" charset="0"/>
              </a:rPr>
              <a:t>, such constructors are known as </a:t>
            </a:r>
            <a:r>
              <a:rPr lang="en-US" altLang="en-US" b="1" dirty="0">
                <a:solidFill>
                  <a:srgbClr val="7DC246"/>
                </a:solidFill>
                <a:latin typeface="Corbel" panose="020B0503020204020204" pitchFamily="34" charset="0"/>
                <a:hlinkClick r:id="rId3"/>
              </a:rPr>
              <a:t>parametrized constructors</a:t>
            </a:r>
            <a:r>
              <a:rPr lang="en-US" altLang="en-US" dirty="0">
                <a:solidFill>
                  <a:srgbClr val="222426"/>
                </a:solidFill>
                <a:latin typeface="Corbel" panose="020B0503020204020204" pitchFamily="34" charset="0"/>
              </a:rPr>
              <a:t>.</a:t>
            </a:r>
            <a:endParaRPr lang="en-US" altLang="en-US" dirty="0">
              <a:latin typeface="Corbel" panose="020B0503020204020204" pitchFamily="34" charset="0"/>
            </a:endParaRPr>
          </a:p>
        </p:txBody>
      </p:sp>
    </p:spTree>
    <p:extLst>
      <p:ext uri="{BB962C8B-B14F-4D97-AF65-F5344CB8AC3E}">
        <p14:creationId xmlns:p14="http://schemas.microsoft.com/office/powerpoint/2010/main" val="735265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Constructors</a:t>
            </a:r>
          </a:p>
        </p:txBody>
      </p:sp>
      <p:pic>
        <p:nvPicPr>
          <p:cNvPr id="4" name="Content Placeholder 3"/>
          <p:cNvPicPr>
            <a:picLocks noGrp="1" noChangeAspect="1"/>
          </p:cNvPicPr>
          <p:nvPr>
            <p:ph idx="1"/>
          </p:nvPr>
        </p:nvPicPr>
        <p:blipFill>
          <a:blip r:embed="rId2"/>
          <a:stretch>
            <a:fillRect/>
          </a:stretch>
        </p:blipFill>
        <p:spPr>
          <a:xfrm>
            <a:off x="1228726" y="1274762"/>
            <a:ext cx="9856856" cy="5440880"/>
          </a:xfrm>
          <a:prstGeom prst="rect">
            <a:avLst/>
          </a:prstGeom>
        </p:spPr>
      </p:pic>
    </p:spTree>
    <p:extLst>
      <p:ext uri="{BB962C8B-B14F-4D97-AF65-F5344CB8AC3E}">
        <p14:creationId xmlns:p14="http://schemas.microsoft.com/office/powerpoint/2010/main" val="456820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Constructors</a:t>
            </a:r>
          </a:p>
        </p:txBody>
      </p:sp>
      <p:sp>
        <p:nvSpPr>
          <p:cNvPr id="5" name="Rectangle 1"/>
          <p:cNvSpPr>
            <a:spLocks noGrp="1" noChangeArrowheads="1"/>
          </p:cNvSpPr>
          <p:nvPr>
            <p:ph idx="1"/>
          </p:nvPr>
        </p:nvSpPr>
        <p:spPr bwMode="auto">
          <a:xfrm>
            <a:off x="254035" y="1443756"/>
            <a:ext cx="6746840" cy="5170646"/>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50000"/>
              </a:lnSpc>
            </a:pPr>
            <a:r>
              <a:rPr lang="en-US" altLang="en-US" dirty="0">
                <a:solidFill>
                  <a:srgbClr val="222426"/>
                </a:solidFill>
                <a:latin typeface="Corbel" panose="020B0503020204020204" pitchFamily="34" charset="0"/>
              </a:rPr>
              <a:t>Constructor is a block of code that initializes the newly created object. </a:t>
            </a:r>
          </a:p>
          <a:p>
            <a:pPr>
              <a:lnSpc>
                <a:spcPct val="150000"/>
              </a:lnSpc>
            </a:pPr>
            <a:r>
              <a:rPr lang="en-US" altLang="en-US" dirty="0">
                <a:solidFill>
                  <a:srgbClr val="222426"/>
                </a:solidFill>
                <a:latin typeface="Corbel" panose="020B0503020204020204" pitchFamily="34" charset="0"/>
              </a:rPr>
              <a:t>A constructor resembles an instance method in java but it’s not a method as it doesn’t have a return type. </a:t>
            </a:r>
          </a:p>
          <a:p>
            <a:pPr>
              <a:lnSpc>
                <a:spcPct val="150000"/>
              </a:lnSpc>
            </a:pPr>
            <a:r>
              <a:rPr lang="en-US" altLang="en-US" dirty="0">
                <a:solidFill>
                  <a:srgbClr val="222426"/>
                </a:solidFill>
                <a:latin typeface="Corbel" panose="020B0503020204020204" pitchFamily="34" charset="0"/>
              </a:rPr>
              <a:t>Constructor has same name as the class and looks like this in a java code.</a:t>
            </a:r>
            <a:endParaRPr lang="en-US" altLang="en-US" dirty="0">
              <a:solidFill>
                <a:srgbClr val="00008B"/>
              </a:solidFill>
              <a:latin typeface="Corbel" panose="020B0503020204020204" pitchFamily="34" charset="0"/>
              <a:cs typeface="Consolas" panose="020B0609020204030204" pitchFamily="49" charset="0"/>
            </a:endParaRPr>
          </a:p>
          <a:p>
            <a:pPr>
              <a:lnSpc>
                <a:spcPct val="150000"/>
              </a:lnSpc>
            </a:pPr>
            <a:r>
              <a:rPr lang="en-US" altLang="en-US" dirty="0">
                <a:solidFill>
                  <a:srgbClr val="00008B"/>
                </a:solidFill>
                <a:latin typeface="Corbel" panose="020B0503020204020204" pitchFamily="34" charset="0"/>
                <a:cs typeface="Consolas" panose="020B0609020204030204" pitchFamily="49" charset="0"/>
              </a:rPr>
              <a:t>public</a:t>
            </a:r>
            <a:r>
              <a:rPr lang="en-US" altLang="en-US" dirty="0">
                <a:solidFill>
                  <a:srgbClr val="000000"/>
                </a:solidFill>
                <a:latin typeface="Corbel" panose="020B0503020204020204" pitchFamily="34" charset="0"/>
                <a:cs typeface="Consolas" panose="020B0609020204030204" pitchFamily="49" charset="0"/>
              </a:rPr>
              <a:t> </a:t>
            </a:r>
            <a:r>
              <a:rPr lang="en-US" altLang="en-US" dirty="0">
                <a:solidFill>
                  <a:srgbClr val="00008B"/>
                </a:solidFill>
                <a:latin typeface="Corbel" panose="020B0503020204020204" pitchFamily="34" charset="0"/>
                <a:cs typeface="Consolas" panose="020B0609020204030204" pitchFamily="49" charset="0"/>
              </a:rPr>
              <a:t>class</a:t>
            </a:r>
            <a:r>
              <a:rPr lang="en-US" altLang="en-US" dirty="0">
                <a:solidFill>
                  <a:srgbClr val="000000"/>
                </a:solidFill>
                <a:latin typeface="Corbel" panose="020B0503020204020204" pitchFamily="34" charset="0"/>
                <a:cs typeface="Consolas" panose="020B0609020204030204" pitchFamily="49" charset="0"/>
              </a:rPr>
              <a:t> </a:t>
            </a:r>
            <a:r>
              <a:rPr lang="en-US" altLang="en-US" dirty="0">
                <a:solidFill>
                  <a:srgbClr val="2B91AF"/>
                </a:solidFill>
                <a:latin typeface="Corbel" panose="020B0503020204020204" pitchFamily="34" charset="0"/>
                <a:cs typeface="Consolas" panose="020B0609020204030204" pitchFamily="49" charset="0"/>
              </a:rPr>
              <a:t>MyClass</a:t>
            </a:r>
            <a:r>
              <a:rPr lang="en-US" altLang="en-US" dirty="0">
                <a:solidFill>
                  <a:srgbClr val="000000"/>
                </a:solidFill>
                <a:latin typeface="Corbel" panose="020B0503020204020204" pitchFamily="34" charset="0"/>
                <a:cs typeface="Consolas" panose="020B0609020204030204" pitchFamily="49" charset="0"/>
              </a:rPr>
              <a:t>{ </a:t>
            </a:r>
            <a:r>
              <a:rPr lang="en-US" altLang="en-US" dirty="0">
                <a:solidFill>
                  <a:srgbClr val="808080"/>
                </a:solidFill>
                <a:latin typeface="Corbel" panose="020B0503020204020204" pitchFamily="34" charset="0"/>
                <a:cs typeface="Consolas" panose="020B0609020204030204" pitchFamily="49" charset="0"/>
              </a:rPr>
              <a:t>//This is the constructor</a:t>
            </a:r>
            <a:r>
              <a:rPr lang="en-US" altLang="en-US" dirty="0">
                <a:solidFill>
                  <a:srgbClr val="000000"/>
                </a:solidFill>
                <a:latin typeface="Corbel" panose="020B0503020204020204" pitchFamily="34" charset="0"/>
                <a:cs typeface="Consolas" panose="020B0609020204030204" pitchFamily="49" charset="0"/>
              </a:rPr>
              <a:t> </a:t>
            </a:r>
            <a:r>
              <a:rPr lang="en-US" altLang="en-US" dirty="0">
                <a:solidFill>
                  <a:srgbClr val="2B91AF"/>
                </a:solidFill>
                <a:latin typeface="Corbel" panose="020B0503020204020204" pitchFamily="34" charset="0"/>
                <a:cs typeface="Consolas" panose="020B0609020204030204" pitchFamily="49" charset="0"/>
              </a:rPr>
              <a:t>MyClass</a:t>
            </a:r>
            <a:r>
              <a:rPr lang="en-US" altLang="en-US" dirty="0">
                <a:solidFill>
                  <a:srgbClr val="000000"/>
                </a:solidFill>
                <a:latin typeface="Corbel" panose="020B0503020204020204" pitchFamily="34" charset="0"/>
                <a:cs typeface="Consolas" panose="020B0609020204030204" pitchFamily="49" charset="0"/>
              </a:rPr>
              <a:t>(){ } .. }</a:t>
            </a:r>
            <a:r>
              <a:rPr lang="en-US" altLang="en-US" dirty="0">
                <a:latin typeface="Corbel" panose="020B0503020204020204" pitchFamily="34" charset="0"/>
              </a:rPr>
              <a:t> </a:t>
            </a:r>
          </a:p>
          <a:p>
            <a:pPr>
              <a:lnSpc>
                <a:spcPct val="150000"/>
              </a:lnSpc>
            </a:pPr>
            <a:r>
              <a:rPr lang="en-US" altLang="en-US" b="1" u="sng" dirty="0">
                <a:latin typeface="Corbel" panose="020B0503020204020204" pitchFamily="34" charset="0"/>
              </a:rPr>
              <a:t>The new keyword </a:t>
            </a:r>
            <a:r>
              <a:rPr lang="en-US" altLang="en-US" dirty="0">
                <a:latin typeface="Corbel" panose="020B0503020204020204" pitchFamily="34" charset="0"/>
              </a:rPr>
              <a:t>here creates the object of class MyClass and invokes the constructor to initialize this newly created object.</a:t>
            </a:r>
          </a:p>
          <a:p>
            <a:pPr>
              <a:lnSpc>
                <a:spcPct val="150000"/>
              </a:lnSpc>
            </a:pPr>
            <a:endParaRPr kumimoji="0" lang="en-US" altLang="en-US" b="0" i="0" u="none" strike="noStrike" cap="none" normalizeH="0" baseline="0" dirty="0">
              <a:ln>
                <a:noFill/>
              </a:ln>
              <a:solidFill>
                <a:schemeClr val="tx1"/>
              </a:solidFill>
              <a:effectLst/>
              <a:latin typeface="Corbel" panose="020B0503020204020204" pitchFamily="34" charset="0"/>
            </a:endParaRPr>
          </a:p>
        </p:txBody>
      </p:sp>
      <p:pic>
        <p:nvPicPr>
          <p:cNvPr id="8" name="Picture 7"/>
          <p:cNvPicPr>
            <a:picLocks noChangeAspect="1"/>
          </p:cNvPicPr>
          <p:nvPr/>
        </p:nvPicPr>
        <p:blipFill>
          <a:blip r:embed="rId2"/>
          <a:stretch>
            <a:fillRect/>
          </a:stretch>
        </p:blipFill>
        <p:spPr>
          <a:xfrm>
            <a:off x="7000875" y="2228850"/>
            <a:ext cx="5108185" cy="3095625"/>
          </a:xfrm>
          <a:prstGeom prst="rect">
            <a:avLst/>
          </a:prstGeom>
        </p:spPr>
      </p:pic>
    </p:spTree>
    <p:extLst>
      <p:ext uri="{BB962C8B-B14F-4D97-AF65-F5344CB8AC3E}">
        <p14:creationId xmlns:p14="http://schemas.microsoft.com/office/powerpoint/2010/main" val="1436146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Constructors</a:t>
            </a:r>
          </a:p>
        </p:txBody>
      </p:sp>
      <p:pic>
        <p:nvPicPr>
          <p:cNvPr id="4" name="Content Placeholder 3"/>
          <p:cNvPicPr>
            <a:picLocks noGrp="1" noChangeAspect="1"/>
          </p:cNvPicPr>
          <p:nvPr>
            <p:ph idx="1"/>
          </p:nvPr>
        </p:nvPicPr>
        <p:blipFill>
          <a:blip r:embed="rId2"/>
          <a:stretch>
            <a:fillRect/>
          </a:stretch>
        </p:blipFill>
        <p:spPr>
          <a:xfrm>
            <a:off x="1104900" y="1379537"/>
            <a:ext cx="10682288" cy="4710592"/>
          </a:xfrm>
          <a:prstGeom prst="rect">
            <a:avLst/>
          </a:prstGeom>
        </p:spPr>
      </p:pic>
    </p:spTree>
    <p:extLst>
      <p:ext uri="{BB962C8B-B14F-4D97-AF65-F5344CB8AC3E}">
        <p14:creationId xmlns:p14="http://schemas.microsoft.com/office/powerpoint/2010/main" val="3328466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Constructors</a:t>
            </a:r>
          </a:p>
        </p:txBody>
      </p:sp>
      <p:pic>
        <p:nvPicPr>
          <p:cNvPr id="5" name="Content Placeholder 4"/>
          <p:cNvPicPr>
            <a:picLocks noGrp="1" noChangeAspect="1"/>
          </p:cNvPicPr>
          <p:nvPr>
            <p:ph idx="1"/>
          </p:nvPr>
        </p:nvPicPr>
        <p:blipFill>
          <a:blip r:embed="rId2"/>
          <a:stretch>
            <a:fillRect/>
          </a:stretch>
        </p:blipFill>
        <p:spPr>
          <a:xfrm>
            <a:off x="1055757" y="1290896"/>
            <a:ext cx="10029825" cy="5403200"/>
          </a:xfrm>
          <a:prstGeom prst="rect">
            <a:avLst/>
          </a:prstGeom>
        </p:spPr>
      </p:pic>
    </p:spTree>
    <p:extLst>
      <p:ext uri="{BB962C8B-B14F-4D97-AF65-F5344CB8AC3E}">
        <p14:creationId xmlns:p14="http://schemas.microsoft.com/office/powerpoint/2010/main" val="2556353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Constructors</a:t>
            </a:r>
          </a:p>
        </p:txBody>
      </p:sp>
      <p:sp>
        <p:nvSpPr>
          <p:cNvPr id="3" name="Content Placeholder 2"/>
          <p:cNvSpPr>
            <a:spLocks noGrp="1"/>
          </p:cNvSpPr>
          <p:nvPr>
            <p:ph idx="1"/>
          </p:nvPr>
        </p:nvSpPr>
        <p:spPr>
          <a:xfrm>
            <a:off x="1104900" y="1600200"/>
            <a:ext cx="5067300" cy="4572000"/>
          </a:xfrm>
        </p:spPr>
        <p:txBody>
          <a:bodyPr/>
          <a:lstStyle/>
          <a:p>
            <a:r>
              <a:rPr lang="en-US" b="1" dirty="0">
                <a:latin typeface="Corbel" panose="020B0503020204020204" pitchFamily="34" charset="0"/>
              </a:rPr>
              <a:t>No-Arg Constructors</a:t>
            </a:r>
          </a:p>
          <a:p>
            <a:r>
              <a:rPr lang="en-US" dirty="0">
                <a:latin typeface="Corbel" panose="020B0503020204020204" pitchFamily="34" charset="0"/>
              </a:rPr>
              <a:t>Constructor with no arguments is known as no-arg constructor. </a:t>
            </a:r>
          </a:p>
          <a:p>
            <a:r>
              <a:rPr lang="en-US" dirty="0">
                <a:latin typeface="Corbel" panose="020B0503020204020204" pitchFamily="34" charset="0"/>
              </a:rPr>
              <a:t>The signature is same as default constructor, however body can have any code unlike default constructor where the body of the constructor is empty.</a:t>
            </a:r>
          </a:p>
          <a:p>
            <a:r>
              <a:rPr lang="en-US" dirty="0">
                <a:latin typeface="Corbel" panose="020B0503020204020204" pitchFamily="34" charset="0"/>
              </a:rPr>
              <a:t>Although you may see some people claim that that default and no-arg constructor is same but in fact they are not, even if you write public Demo() { } in your class Demo it cannot be called default constructor since you have written the code of it.</a:t>
            </a:r>
          </a:p>
        </p:txBody>
      </p:sp>
      <p:pic>
        <p:nvPicPr>
          <p:cNvPr id="6" name="Picture 5"/>
          <p:cNvPicPr>
            <a:picLocks noChangeAspect="1"/>
          </p:cNvPicPr>
          <p:nvPr/>
        </p:nvPicPr>
        <p:blipFill>
          <a:blip r:embed="rId2"/>
          <a:stretch>
            <a:fillRect/>
          </a:stretch>
        </p:blipFill>
        <p:spPr>
          <a:xfrm>
            <a:off x="6743701" y="1957388"/>
            <a:ext cx="5373302" cy="2381249"/>
          </a:xfrm>
          <a:prstGeom prst="rect">
            <a:avLst/>
          </a:prstGeom>
        </p:spPr>
      </p:pic>
    </p:spTree>
    <p:extLst>
      <p:ext uri="{BB962C8B-B14F-4D97-AF65-F5344CB8AC3E}">
        <p14:creationId xmlns:p14="http://schemas.microsoft.com/office/powerpoint/2010/main" val="813003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Constructors</a:t>
            </a:r>
          </a:p>
        </p:txBody>
      </p:sp>
      <p:sp>
        <p:nvSpPr>
          <p:cNvPr id="3" name="Content Placeholder 2"/>
          <p:cNvSpPr>
            <a:spLocks noGrp="1"/>
          </p:cNvSpPr>
          <p:nvPr>
            <p:ph idx="1"/>
          </p:nvPr>
        </p:nvSpPr>
        <p:spPr>
          <a:xfrm>
            <a:off x="1104900" y="1600200"/>
            <a:ext cx="5067300" cy="4572000"/>
          </a:xfrm>
        </p:spPr>
        <p:txBody>
          <a:bodyPr/>
          <a:lstStyle/>
          <a:p>
            <a:r>
              <a:rPr lang="en-US" dirty="0">
                <a:latin typeface="Corbel" panose="020B0503020204020204" pitchFamily="34" charset="0"/>
              </a:rPr>
              <a:t>Constructor with arguments(or you can say parameters) is known as </a:t>
            </a:r>
            <a:r>
              <a:rPr lang="en-US" b="1" dirty="0">
                <a:latin typeface="Corbel" panose="020B0503020204020204" pitchFamily="34" charset="0"/>
                <a:hlinkClick r:id="rId2"/>
              </a:rPr>
              <a:t>Parameterized constructor</a:t>
            </a:r>
            <a:r>
              <a:rPr lang="en-US" dirty="0">
                <a:latin typeface="Corbel" panose="020B0503020204020204" pitchFamily="34" charset="0"/>
              </a:rPr>
              <a:t>.</a:t>
            </a:r>
          </a:p>
        </p:txBody>
      </p:sp>
      <p:pic>
        <p:nvPicPr>
          <p:cNvPr id="4" name="Picture 3"/>
          <p:cNvPicPr>
            <a:picLocks noChangeAspect="1"/>
          </p:cNvPicPr>
          <p:nvPr/>
        </p:nvPicPr>
        <p:blipFill>
          <a:blip r:embed="rId3"/>
          <a:stretch>
            <a:fillRect/>
          </a:stretch>
        </p:blipFill>
        <p:spPr>
          <a:xfrm>
            <a:off x="6715125" y="1409700"/>
            <a:ext cx="5162550" cy="5238750"/>
          </a:xfrm>
          <a:prstGeom prst="rect">
            <a:avLst/>
          </a:prstGeom>
        </p:spPr>
      </p:pic>
    </p:spTree>
    <p:extLst>
      <p:ext uri="{BB962C8B-B14F-4D97-AF65-F5344CB8AC3E}">
        <p14:creationId xmlns:p14="http://schemas.microsoft.com/office/powerpoint/2010/main" val="1054879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Guess what Happens</a:t>
            </a:r>
          </a:p>
        </p:txBody>
      </p:sp>
      <p:sp>
        <p:nvSpPr>
          <p:cNvPr id="3" name="Content Placeholder 2"/>
          <p:cNvSpPr>
            <a:spLocks noGrp="1"/>
          </p:cNvSpPr>
          <p:nvPr>
            <p:ph idx="1"/>
          </p:nvPr>
        </p:nvSpPr>
        <p:spPr>
          <a:xfrm>
            <a:off x="261937" y="1467053"/>
            <a:ext cx="5067300" cy="700088"/>
          </a:xfrm>
        </p:spPr>
        <p:txBody>
          <a:bodyPr/>
          <a:lstStyle/>
          <a:p>
            <a:r>
              <a:rPr lang="en-US" dirty="0">
                <a:latin typeface="Corbel" panose="020B0503020204020204" pitchFamily="34" charset="0"/>
              </a:rPr>
              <a:t>Study the code and write what will happen?</a:t>
            </a:r>
          </a:p>
        </p:txBody>
      </p:sp>
      <p:pic>
        <p:nvPicPr>
          <p:cNvPr id="5" name="Picture 4"/>
          <p:cNvPicPr>
            <a:picLocks noChangeAspect="1"/>
          </p:cNvPicPr>
          <p:nvPr/>
        </p:nvPicPr>
        <p:blipFill>
          <a:blip r:embed="rId3"/>
          <a:stretch>
            <a:fillRect/>
          </a:stretch>
        </p:blipFill>
        <p:spPr>
          <a:xfrm>
            <a:off x="5557838" y="1457325"/>
            <a:ext cx="6514088" cy="4572000"/>
          </a:xfrm>
          <a:prstGeom prst="rect">
            <a:avLst/>
          </a:prstGeom>
        </p:spPr>
      </p:pic>
      <p:sp>
        <p:nvSpPr>
          <p:cNvPr id="6" name="Content Placeholder 2"/>
          <p:cNvSpPr txBox="1">
            <a:spLocks/>
          </p:cNvSpPr>
          <p:nvPr/>
        </p:nvSpPr>
        <p:spPr>
          <a:xfrm>
            <a:off x="261937" y="4867275"/>
            <a:ext cx="5067300" cy="700088"/>
          </a:xfrm>
          <a:prstGeom prst="rect">
            <a:avLst/>
          </a:prstGeom>
        </p:spPr>
        <p:txBody>
          <a:bodyPr vert="horz" lIns="0" tIns="45720" rIns="0" bIns="45720" rtlCol="0">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r>
              <a:rPr lang="en-US" sz="1800" dirty="0">
                <a:latin typeface="Corbel" panose="020B0503020204020204" pitchFamily="34" charset="0"/>
              </a:rPr>
              <a:t>This can be resolved by adding a </a:t>
            </a:r>
            <a:r>
              <a:rPr lang="en-US" sz="1800" b="1" dirty="0">
                <a:solidFill>
                  <a:srgbClr val="002060"/>
                </a:solidFill>
                <a:latin typeface="Corbel" panose="020B0503020204020204" pitchFamily="34" charset="0"/>
              </a:rPr>
              <a:t>no-</a:t>
            </a:r>
            <a:r>
              <a:rPr lang="en-US" sz="1800" b="1" dirty="0" err="1">
                <a:solidFill>
                  <a:srgbClr val="002060"/>
                </a:solidFill>
                <a:latin typeface="Corbel" panose="020B0503020204020204" pitchFamily="34" charset="0"/>
              </a:rPr>
              <a:t>args</a:t>
            </a:r>
            <a:r>
              <a:rPr lang="en-US" sz="1800" b="1" dirty="0">
                <a:solidFill>
                  <a:srgbClr val="002060"/>
                </a:solidFill>
                <a:latin typeface="Corbel" panose="020B0503020204020204" pitchFamily="34" charset="0"/>
              </a:rPr>
              <a:t> constructor</a:t>
            </a:r>
            <a:r>
              <a:rPr lang="en-US" sz="1800" dirty="0">
                <a:latin typeface="Corbel" panose="020B0503020204020204" pitchFamily="34" charset="0"/>
              </a:rPr>
              <a:t>.</a:t>
            </a:r>
          </a:p>
          <a:p>
            <a:r>
              <a:rPr lang="en-US" sz="1800" i="1" dirty="0">
                <a:latin typeface="Corbel" panose="020B0503020204020204" pitchFamily="34" charset="0"/>
              </a:rPr>
              <a:t>Note: By </a:t>
            </a:r>
            <a:r>
              <a:rPr lang="en-US" sz="1800" b="1" i="1" u="sng" dirty="0">
                <a:latin typeface="Corbel" panose="020B0503020204020204" pitchFamily="34" charset="0"/>
              </a:rPr>
              <a:t>default </a:t>
            </a:r>
            <a:r>
              <a:rPr lang="en-US" sz="1800" i="1" dirty="0">
                <a:latin typeface="Corbel" panose="020B0503020204020204" pitchFamily="34" charset="0"/>
              </a:rPr>
              <a:t>JVM </a:t>
            </a:r>
            <a:r>
              <a:rPr lang="en-US" sz="1800" b="1" i="1" u="sng" dirty="0">
                <a:latin typeface="Corbel" panose="020B0503020204020204" pitchFamily="34" charset="0"/>
              </a:rPr>
              <a:t>adds a no-</a:t>
            </a:r>
            <a:r>
              <a:rPr lang="en-US" sz="1800" b="1" i="1" u="sng" dirty="0" err="1">
                <a:latin typeface="Corbel" panose="020B0503020204020204" pitchFamily="34" charset="0"/>
              </a:rPr>
              <a:t>args</a:t>
            </a:r>
            <a:r>
              <a:rPr lang="en-US" sz="1800" b="1" i="1" u="sng" dirty="0">
                <a:latin typeface="Corbel" panose="020B0503020204020204" pitchFamily="34" charset="0"/>
              </a:rPr>
              <a:t> constructor</a:t>
            </a:r>
            <a:r>
              <a:rPr lang="en-US" sz="1800" i="1" dirty="0">
                <a:latin typeface="Corbel" panose="020B0503020204020204" pitchFamily="34" charset="0"/>
              </a:rPr>
              <a:t>, however if a </a:t>
            </a:r>
            <a:r>
              <a:rPr lang="en-US" sz="1800" b="1" i="1" u="sng" dirty="0">
                <a:latin typeface="Corbel" panose="020B0503020204020204" pitchFamily="34" charset="0"/>
              </a:rPr>
              <a:t>parameterized one exists</a:t>
            </a:r>
            <a:r>
              <a:rPr lang="en-US" sz="1800" i="1" dirty="0">
                <a:latin typeface="Corbel" panose="020B0503020204020204" pitchFamily="34" charset="0"/>
              </a:rPr>
              <a:t>, then you should </a:t>
            </a:r>
            <a:r>
              <a:rPr lang="en-US" sz="1800" b="1" i="1" u="sng" dirty="0">
                <a:latin typeface="Corbel" panose="020B0503020204020204" pitchFamily="34" charset="0"/>
              </a:rPr>
              <a:t>specify a no-</a:t>
            </a:r>
            <a:r>
              <a:rPr lang="en-US" sz="1800" b="1" i="1" u="sng" dirty="0" err="1">
                <a:latin typeface="Corbel" panose="020B0503020204020204" pitchFamily="34" charset="0"/>
              </a:rPr>
              <a:t>args</a:t>
            </a:r>
            <a:r>
              <a:rPr lang="en-US" sz="1800" b="1" i="1" u="sng" dirty="0">
                <a:latin typeface="Corbel" panose="020B0503020204020204" pitchFamily="34" charset="0"/>
              </a:rPr>
              <a:t> explicitly</a:t>
            </a:r>
          </a:p>
        </p:txBody>
      </p:sp>
    </p:spTree>
    <p:extLst>
      <p:ext uri="{BB962C8B-B14F-4D97-AF65-F5344CB8AC3E}">
        <p14:creationId xmlns:p14="http://schemas.microsoft.com/office/powerpoint/2010/main" val="20456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Constructors</a:t>
            </a:r>
          </a:p>
        </p:txBody>
      </p:sp>
      <p:sp>
        <p:nvSpPr>
          <p:cNvPr id="3" name="Content Placeholder 2"/>
          <p:cNvSpPr>
            <a:spLocks noGrp="1"/>
          </p:cNvSpPr>
          <p:nvPr>
            <p:ph idx="1"/>
          </p:nvPr>
        </p:nvSpPr>
        <p:spPr>
          <a:xfrm>
            <a:off x="294516" y="1600200"/>
            <a:ext cx="6506333" cy="5100638"/>
          </a:xfrm>
        </p:spPr>
        <p:txBody>
          <a:bodyPr>
            <a:normAutofit/>
          </a:bodyPr>
          <a:lstStyle/>
          <a:p>
            <a:r>
              <a:rPr lang="en-US" dirty="0">
                <a:latin typeface="Corbel" panose="020B0503020204020204" pitchFamily="34" charset="0"/>
              </a:rPr>
              <a:t>Calling a </a:t>
            </a:r>
            <a:r>
              <a:rPr lang="en-US" b="1" dirty="0">
                <a:latin typeface="Corbel" panose="020B0503020204020204" pitchFamily="34" charset="0"/>
                <a:hlinkClick r:id="rId2"/>
              </a:rPr>
              <a:t>constructor</a:t>
            </a:r>
            <a:r>
              <a:rPr lang="en-US" dirty="0">
                <a:latin typeface="Corbel" panose="020B0503020204020204" pitchFamily="34" charset="0"/>
              </a:rPr>
              <a:t> from the another constructor of same class is known as </a:t>
            </a:r>
            <a:r>
              <a:rPr lang="en-US" b="1" u="sng" dirty="0">
                <a:latin typeface="Corbel" panose="020B0503020204020204" pitchFamily="34" charset="0"/>
              </a:rPr>
              <a:t>Constructor chaining</a:t>
            </a:r>
            <a:r>
              <a:rPr lang="en-US" dirty="0">
                <a:latin typeface="Corbel" panose="020B0503020204020204" pitchFamily="34" charset="0"/>
              </a:rPr>
              <a:t>. </a:t>
            </a:r>
          </a:p>
          <a:p>
            <a:r>
              <a:rPr lang="en-US" dirty="0">
                <a:latin typeface="Corbel" panose="020B0503020204020204" pitchFamily="34" charset="0"/>
              </a:rPr>
              <a:t>The real purpose of Constructor Chaining is that you can pass parameters through a bunch of different constructors, but only have the initialization done in a single place. </a:t>
            </a:r>
          </a:p>
          <a:p>
            <a:r>
              <a:rPr lang="en-US" dirty="0">
                <a:latin typeface="Corbel" panose="020B0503020204020204" pitchFamily="34" charset="0"/>
              </a:rPr>
              <a:t>This allows you to maintain your initializations from a single location, while providing multiple constructors to the user. </a:t>
            </a:r>
          </a:p>
          <a:p>
            <a:r>
              <a:rPr lang="en-US" dirty="0">
                <a:latin typeface="Corbel" panose="020B0503020204020204" pitchFamily="34" charset="0"/>
              </a:rPr>
              <a:t>If we don’t chain, and two different constructors require a specific parameter, you will have to initialize that parameter twice, and when the initialization changes, you’ll have to change it in every constructor, instead of just the one.</a:t>
            </a:r>
          </a:p>
        </p:txBody>
      </p:sp>
      <p:pic>
        <p:nvPicPr>
          <p:cNvPr id="4" name="Picture 3"/>
          <p:cNvPicPr>
            <a:picLocks noChangeAspect="1"/>
          </p:cNvPicPr>
          <p:nvPr/>
        </p:nvPicPr>
        <p:blipFill>
          <a:blip r:embed="rId3"/>
          <a:stretch>
            <a:fillRect/>
          </a:stretch>
        </p:blipFill>
        <p:spPr>
          <a:xfrm>
            <a:off x="6905624" y="1600200"/>
            <a:ext cx="5195919" cy="4572000"/>
          </a:xfrm>
          <a:prstGeom prst="rect">
            <a:avLst/>
          </a:prstGeom>
        </p:spPr>
      </p:pic>
    </p:spTree>
    <p:extLst>
      <p:ext uri="{BB962C8B-B14F-4D97-AF65-F5344CB8AC3E}">
        <p14:creationId xmlns:p14="http://schemas.microsoft.com/office/powerpoint/2010/main" val="3065225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Constructors – Chaining Example</a:t>
            </a:r>
          </a:p>
        </p:txBody>
      </p:sp>
      <p:sp>
        <p:nvSpPr>
          <p:cNvPr id="3" name="Content Placeholder 2"/>
          <p:cNvSpPr>
            <a:spLocks noGrp="1"/>
          </p:cNvSpPr>
          <p:nvPr>
            <p:ph idx="1"/>
          </p:nvPr>
        </p:nvSpPr>
        <p:spPr>
          <a:xfrm>
            <a:off x="8952741" y="1343025"/>
            <a:ext cx="2948747" cy="5100638"/>
          </a:xfrm>
        </p:spPr>
        <p:txBody>
          <a:bodyPr>
            <a:normAutofit/>
          </a:bodyPr>
          <a:lstStyle/>
          <a:p>
            <a:r>
              <a:rPr lang="en-US" b="1" dirty="0">
                <a:latin typeface="Corbel" panose="020B0503020204020204" pitchFamily="34" charset="0"/>
              </a:rPr>
              <a:t>this() should always be the first statement in constructor otherwise you will get this error message: Exception in thread “main” java.lang.Error: Unresolved compilation problem: Constructor call must be the first statement in a constructor</a:t>
            </a:r>
          </a:p>
        </p:txBody>
      </p:sp>
      <p:pic>
        <p:nvPicPr>
          <p:cNvPr id="5" name="Picture 4"/>
          <p:cNvPicPr>
            <a:picLocks noChangeAspect="1"/>
          </p:cNvPicPr>
          <p:nvPr/>
        </p:nvPicPr>
        <p:blipFill rotWithShape="1">
          <a:blip r:embed="rId3"/>
          <a:srcRect r="21860"/>
          <a:stretch/>
        </p:blipFill>
        <p:spPr>
          <a:xfrm>
            <a:off x="547686" y="1343025"/>
            <a:ext cx="7653339" cy="5412581"/>
          </a:xfrm>
          <a:prstGeom prst="rect">
            <a:avLst/>
          </a:prstGeom>
        </p:spPr>
      </p:pic>
    </p:spTree>
    <p:extLst>
      <p:ext uri="{BB962C8B-B14F-4D97-AF65-F5344CB8AC3E}">
        <p14:creationId xmlns:p14="http://schemas.microsoft.com/office/powerpoint/2010/main" val="943310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Constructors - Conclusion </a:t>
            </a:r>
          </a:p>
        </p:txBody>
      </p:sp>
      <p:pic>
        <p:nvPicPr>
          <p:cNvPr id="9" name="Content Placeholder 8"/>
          <p:cNvPicPr>
            <a:picLocks noGrp="1" noChangeAspect="1"/>
          </p:cNvPicPr>
          <p:nvPr>
            <p:ph idx="1"/>
          </p:nvPr>
        </p:nvPicPr>
        <p:blipFill>
          <a:blip r:embed="rId2"/>
          <a:stretch>
            <a:fillRect/>
          </a:stretch>
        </p:blipFill>
        <p:spPr>
          <a:xfrm>
            <a:off x="686577" y="1314450"/>
            <a:ext cx="10671986" cy="5455082"/>
          </a:xfrm>
          <a:prstGeom prst="rect">
            <a:avLst/>
          </a:prstGeom>
        </p:spPr>
      </p:pic>
    </p:spTree>
    <p:extLst>
      <p:ext uri="{BB962C8B-B14F-4D97-AF65-F5344CB8AC3E}">
        <p14:creationId xmlns:p14="http://schemas.microsoft.com/office/powerpoint/2010/main" val="2027995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a:t>
            </a:r>
          </a:p>
        </p:txBody>
      </p:sp>
      <p:sp>
        <p:nvSpPr>
          <p:cNvPr id="3" name="Content Placeholder 2"/>
          <p:cNvSpPr>
            <a:spLocks noGrp="1"/>
          </p:cNvSpPr>
          <p:nvPr>
            <p:ph idx="1"/>
          </p:nvPr>
        </p:nvSpPr>
        <p:spPr>
          <a:xfrm>
            <a:off x="294516" y="1443038"/>
            <a:ext cx="5291897" cy="5100638"/>
          </a:xfrm>
        </p:spPr>
        <p:txBody>
          <a:bodyPr>
            <a:noAutofit/>
          </a:bodyPr>
          <a:lstStyle/>
          <a:p>
            <a:r>
              <a:rPr lang="en-US" sz="1800" dirty="0">
                <a:latin typeface="Corbel" panose="020B0503020204020204" pitchFamily="34" charset="0"/>
              </a:rPr>
              <a:t>A method is a collection of statements that perform some specific task and return result to the caller. </a:t>
            </a:r>
          </a:p>
          <a:p>
            <a:r>
              <a:rPr lang="en-US" sz="1800" dirty="0">
                <a:latin typeface="Corbel" panose="020B0503020204020204" pitchFamily="34" charset="0"/>
              </a:rPr>
              <a:t>A method can perform some specific task without returning anything. </a:t>
            </a:r>
          </a:p>
          <a:p>
            <a:r>
              <a:rPr lang="en-US" sz="1800" dirty="0">
                <a:latin typeface="Corbel" panose="020B0503020204020204" pitchFamily="34" charset="0"/>
              </a:rPr>
              <a:t>Methods allow us to </a:t>
            </a:r>
            <a:r>
              <a:rPr lang="en-US" sz="1800" b="1" dirty="0">
                <a:latin typeface="Corbel" panose="020B0503020204020204" pitchFamily="34" charset="0"/>
              </a:rPr>
              <a:t>reuse</a:t>
            </a:r>
            <a:r>
              <a:rPr lang="en-US" sz="1800" dirty="0">
                <a:latin typeface="Corbel" panose="020B0503020204020204" pitchFamily="34" charset="0"/>
              </a:rPr>
              <a:t> the code without retyping the code. </a:t>
            </a:r>
          </a:p>
          <a:p>
            <a:r>
              <a:rPr lang="en-US" sz="1800" dirty="0">
                <a:latin typeface="Corbel" panose="020B0503020204020204" pitchFamily="34" charset="0"/>
              </a:rPr>
              <a:t>In Java, every method must be part of some class</a:t>
            </a:r>
          </a:p>
          <a:p>
            <a:r>
              <a:rPr lang="en-US" sz="1800" dirty="0">
                <a:latin typeface="Corbel" panose="020B0503020204020204" pitchFamily="34" charset="0"/>
              </a:rPr>
              <a:t>Each method has its own name.  When that name is encountered in a program, the execution of the program branches to the body of that method.</a:t>
            </a:r>
          </a:p>
          <a:p>
            <a:r>
              <a:rPr lang="en-US" sz="1800" dirty="0">
                <a:latin typeface="Corbel" panose="020B0503020204020204" pitchFamily="34" charset="0"/>
              </a:rPr>
              <a:t>  When the method is finished, execution returns to the area of the program code from which it was called, and the program continues on to the next line of code.</a:t>
            </a:r>
            <a:endParaRPr lang="en-US" sz="1800" b="1" dirty="0">
              <a:latin typeface="Corbel" panose="020B0503020204020204" pitchFamily="34" charset="0"/>
            </a:endParaRPr>
          </a:p>
        </p:txBody>
      </p:sp>
      <p:pic>
        <p:nvPicPr>
          <p:cNvPr id="6" name="Picture 5"/>
          <p:cNvPicPr>
            <a:picLocks noChangeAspect="1"/>
          </p:cNvPicPr>
          <p:nvPr/>
        </p:nvPicPr>
        <p:blipFill>
          <a:blip r:embed="rId3"/>
          <a:stretch>
            <a:fillRect/>
          </a:stretch>
        </p:blipFill>
        <p:spPr>
          <a:xfrm>
            <a:off x="6095240" y="1747836"/>
            <a:ext cx="5882025" cy="3524251"/>
          </a:xfrm>
          <a:prstGeom prst="rect">
            <a:avLst/>
          </a:prstGeom>
        </p:spPr>
      </p:pic>
    </p:spTree>
    <p:extLst>
      <p:ext uri="{BB962C8B-B14F-4D97-AF65-F5344CB8AC3E}">
        <p14:creationId xmlns:p14="http://schemas.microsoft.com/office/powerpoint/2010/main" val="3122211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 Structure</a:t>
            </a:r>
          </a:p>
        </p:txBody>
      </p:sp>
      <p:sp>
        <p:nvSpPr>
          <p:cNvPr id="3" name="Content Placeholder 2"/>
          <p:cNvSpPr>
            <a:spLocks noGrp="1"/>
          </p:cNvSpPr>
          <p:nvPr>
            <p:ph idx="1"/>
          </p:nvPr>
        </p:nvSpPr>
        <p:spPr>
          <a:xfrm>
            <a:off x="90228" y="1443038"/>
            <a:ext cx="7677910" cy="5100638"/>
          </a:xfrm>
        </p:spPr>
        <p:txBody>
          <a:bodyPr>
            <a:noAutofit/>
          </a:bodyPr>
          <a:lstStyle/>
          <a:p>
            <a:pPr fontAlgn="base"/>
            <a:r>
              <a:rPr lang="en-US" sz="1800" b="1" dirty="0">
                <a:latin typeface="Corbel" panose="020B0503020204020204" pitchFamily="34" charset="0"/>
              </a:rPr>
              <a:t>Modifier</a:t>
            </a:r>
            <a:r>
              <a:rPr lang="en-US" sz="1800" dirty="0">
                <a:latin typeface="Corbel" panose="020B0503020204020204" pitchFamily="34" charset="0"/>
              </a:rPr>
              <a:t>-: Defines </a:t>
            </a:r>
            <a:r>
              <a:rPr lang="en-US" sz="1800" b="1" dirty="0">
                <a:latin typeface="Corbel" panose="020B0503020204020204" pitchFamily="34" charset="0"/>
              </a:rPr>
              <a:t>access type</a:t>
            </a:r>
            <a:r>
              <a:rPr lang="en-US" sz="1800" dirty="0">
                <a:latin typeface="Corbel" panose="020B0503020204020204" pitchFamily="34" charset="0"/>
              </a:rPr>
              <a:t> of the method i.e. from where it can be accessed in your application. In Java, there 4 type of the access specifiers.</a:t>
            </a:r>
          </a:p>
          <a:p>
            <a:pPr lvl="1" fontAlgn="base"/>
            <a:r>
              <a:rPr lang="en-US" sz="1800" dirty="0">
                <a:latin typeface="Corbel" panose="020B0503020204020204" pitchFamily="34" charset="0"/>
              </a:rPr>
              <a:t>public: accessible in all class in your application.</a:t>
            </a:r>
          </a:p>
          <a:p>
            <a:pPr lvl="1" fontAlgn="base"/>
            <a:r>
              <a:rPr lang="en-US" sz="1800" dirty="0">
                <a:latin typeface="Corbel" panose="020B0503020204020204" pitchFamily="34" charset="0"/>
              </a:rPr>
              <a:t>protected: accessible within the class in which it is defined and in its </a:t>
            </a:r>
            <a:r>
              <a:rPr lang="en-US" sz="1800" b="1" dirty="0">
                <a:latin typeface="Corbel" panose="020B0503020204020204" pitchFamily="34" charset="0"/>
              </a:rPr>
              <a:t>subclass(es)</a:t>
            </a:r>
            <a:endParaRPr lang="en-US" sz="1800" dirty="0">
              <a:latin typeface="Corbel" panose="020B0503020204020204" pitchFamily="34" charset="0"/>
            </a:endParaRPr>
          </a:p>
          <a:p>
            <a:pPr lvl="1" fontAlgn="base"/>
            <a:r>
              <a:rPr lang="en-US" sz="1800" dirty="0">
                <a:latin typeface="Corbel" panose="020B0503020204020204" pitchFamily="34" charset="0"/>
              </a:rPr>
              <a:t>private: accessible only within the class in which it is defined.</a:t>
            </a:r>
          </a:p>
          <a:p>
            <a:pPr lvl="1" fontAlgn="base"/>
            <a:r>
              <a:rPr lang="en-US" sz="1800" dirty="0">
                <a:latin typeface="Corbel" panose="020B0503020204020204" pitchFamily="34" charset="0"/>
              </a:rPr>
              <a:t>default (declared/defined without using any modifier) : accessible within same class and package within which its class is defined.</a:t>
            </a:r>
          </a:p>
          <a:p>
            <a:pPr fontAlgn="base"/>
            <a:r>
              <a:rPr lang="en-US" sz="1800" b="1" dirty="0">
                <a:latin typeface="Corbel" panose="020B0503020204020204" pitchFamily="34" charset="0"/>
              </a:rPr>
              <a:t>The return type</a:t>
            </a:r>
            <a:r>
              <a:rPr lang="en-US" sz="1800" dirty="0">
                <a:latin typeface="Corbel" panose="020B0503020204020204" pitchFamily="34" charset="0"/>
              </a:rPr>
              <a:t> : The data type of the value returned by the method or void if does not return a value.</a:t>
            </a:r>
          </a:p>
          <a:p>
            <a:pPr fontAlgn="base"/>
            <a:r>
              <a:rPr lang="en-US" sz="1800" b="1" dirty="0">
                <a:latin typeface="Corbel" panose="020B0503020204020204" pitchFamily="34" charset="0"/>
              </a:rPr>
              <a:t>Method Name</a:t>
            </a:r>
            <a:r>
              <a:rPr lang="en-US" sz="1800" dirty="0">
                <a:latin typeface="Corbel" panose="020B0503020204020204" pitchFamily="34" charset="0"/>
              </a:rPr>
              <a:t> : the rules for field names apply to method names as well, but the convention is a little different.</a:t>
            </a:r>
          </a:p>
          <a:p>
            <a:pPr fontAlgn="base"/>
            <a:r>
              <a:rPr lang="en-US" sz="1800" b="1" dirty="0">
                <a:latin typeface="Corbel" panose="020B0503020204020204" pitchFamily="34" charset="0"/>
              </a:rPr>
              <a:t>Parameter list </a:t>
            </a:r>
            <a:r>
              <a:rPr lang="en-US" sz="1800" dirty="0">
                <a:latin typeface="Corbel" panose="020B0503020204020204" pitchFamily="34" charset="0"/>
              </a:rPr>
              <a:t>: Comma separated list of the input parameters are defined, preceded with their data type, within the enclosed parenthesis. If there are no parameters, you must use empty parentheses ().</a:t>
            </a:r>
          </a:p>
          <a:p>
            <a:pPr fontAlgn="base"/>
            <a:r>
              <a:rPr lang="en-US" sz="1800" b="1" dirty="0">
                <a:latin typeface="Corbel" panose="020B0503020204020204" pitchFamily="34" charset="0"/>
              </a:rPr>
              <a:t>Exception list </a:t>
            </a:r>
            <a:r>
              <a:rPr lang="en-US" sz="1800" dirty="0">
                <a:latin typeface="Corbel" panose="020B0503020204020204" pitchFamily="34" charset="0"/>
              </a:rPr>
              <a:t>: The exceptions you expect by the method can throw, you can specify these exception(s).</a:t>
            </a:r>
          </a:p>
        </p:txBody>
      </p:sp>
      <p:pic>
        <p:nvPicPr>
          <p:cNvPr id="4" name="Picture 3"/>
          <p:cNvPicPr>
            <a:picLocks noChangeAspect="1"/>
          </p:cNvPicPr>
          <p:nvPr/>
        </p:nvPicPr>
        <p:blipFill>
          <a:blip r:embed="rId3"/>
          <a:stretch>
            <a:fillRect/>
          </a:stretch>
        </p:blipFill>
        <p:spPr>
          <a:xfrm>
            <a:off x="7972426" y="1427766"/>
            <a:ext cx="4219574" cy="2006790"/>
          </a:xfrm>
          <a:prstGeom prst="rect">
            <a:avLst/>
          </a:prstGeom>
        </p:spPr>
      </p:pic>
      <p:sp>
        <p:nvSpPr>
          <p:cNvPr id="7" name="Rectangle 6"/>
          <p:cNvSpPr/>
          <p:nvPr/>
        </p:nvSpPr>
        <p:spPr>
          <a:xfrm>
            <a:off x="8103774" y="5157610"/>
            <a:ext cx="3956878" cy="1200329"/>
          </a:xfrm>
          <a:prstGeom prst="rect">
            <a:avLst/>
          </a:prstGeom>
        </p:spPr>
        <p:txBody>
          <a:bodyPr wrap="square">
            <a:spAutoFit/>
          </a:bodyPr>
          <a:lstStyle/>
          <a:p>
            <a:pPr fontAlgn="base"/>
            <a:r>
              <a:rPr lang="en-US" b="1" dirty="0">
                <a:latin typeface="Corbel" panose="020B0503020204020204" pitchFamily="34" charset="0"/>
              </a:rPr>
              <a:t>Method body </a:t>
            </a:r>
            <a:r>
              <a:rPr lang="en-US" dirty="0">
                <a:latin typeface="Corbel" panose="020B0503020204020204" pitchFamily="34" charset="0"/>
              </a:rPr>
              <a:t>: it is enclosed between braces. The code you need to be executed to perform your intended operations.</a:t>
            </a:r>
          </a:p>
        </p:txBody>
      </p:sp>
    </p:spTree>
    <p:extLst>
      <p:ext uri="{BB962C8B-B14F-4D97-AF65-F5344CB8AC3E}">
        <p14:creationId xmlns:p14="http://schemas.microsoft.com/office/powerpoint/2010/main" val="1706434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a:t>
            </a:r>
          </a:p>
        </p:txBody>
      </p:sp>
      <p:pic>
        <p:nvPicPr>
          <p:cNvPr id="10" name="Content Placeholder 9"/>
          <p:cNvPicPr>
            <a:picLocks noGrp="1" noChangeAspect="1"/>
          </p:cNvPicPr>
          <p:nvPr>
            <p:ph idx="1"/>
          </p:nvPr>
        </p:nvPicPr>
        <p:blipFill>
          <a:blip r:embed="rId3"/>
          <a:stretch>
            <a:fillRect/>
          </a:stretch>
        </p:blipFill>
        <p:spPr>
          <a:xfrm>
            <a:off x="1319212" y="1438274"/>
            <a:ext cx="9766370" cy="5055226"/>
          </a:xfrm>
          <a:prstGeom prst="rect">
            <a:avLst/>
          </a:prstGeom>
        </p:spPr>
      </p:pic>
    </p:spTree>
    <p:extLst>
      <p:ext uri="{BB962C8B-B14F-4D97-AF65-F5344CB8AC3E}">
        <p14:creationId xmlns:p14="http://schemas.microsoft.com/office/powerpoint/2010/main" val="1643967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Static Methods</a:t>
            </a:r>
          </a:p>
        </p:txBody>
      </p:sp>
      <p:pic>
        <p:nvPicPr>
          <p:cNvPr id="4" name="Content Placeholder 3"/>
          <p:cNvPicPr>
            <a:picLocks noGrp="1" noChangeAspect="1"/>
          </p:cNvPicPr>
          <p:nvPr>
            <p:ph idx="1"/>
          </p:nvPr>
        </p:nvPicPr>
        <p:blipFill>
          <a:blip r:embed="rId3"/>
          <a:stretch>
            <a:fillRect/>
          </a:stretch>
        </p:blipFill>
        <p:spPr>
          <a:xfrm>
            <a:off x="1104900" y="1414462"/>
            <a:ext cx="9980682" cy="5272132"/>
          </a:xfrm>
          <a:prstGeom prst="rect">
            <a:avLst/>
          </a:prstGeom>
        </p:spPr>
      </p:pic>
    </p:spTree>
    <p:extLst>
      <p:ext uri="{BB962C8B-B14F-4D97-AF65-F5344CB8AC3E}">
        <p14:creationId xmlns:p14="http://schemas.microsoft.com/office/powerpoint/2010/main" val="4095339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Static Methods</a:t>
            </a:r>
          </a:p>
        </p:txBody>
      </p:sp>
      <p:sp>
        <p:nvSpPr>
          <p:cNvPr id="3" name="Content Placeholder 2"/>
          <p:cNvSpPr>
            <a:spLocks noGrp="1"/>
          </p:cNvSpPr>
          <p:nvPr>
            <p:ph idx="1"/>
          </p:nvPr>
        </p:nvSpPr>
        <p:spPr>
          <a:xfrm>
            <a:off x="294516" y="1443038"/>
            <a:ext cx="7677910" cy="5100638"/>
          </a:xfrm>
        </p:spPr>
        <p:txBody>
          <a:bodyPr>
            <a:noAutofit/>
          </a:bodyPr>
          <a:lstStyle/>
          <a:p>
            <a:r>
              <a:rPr lang="en-US" dirty="0">
                <a:latin typeface="Corbel" panose="020B0503020204020204" pitchFamily="34" charset="0"/>
              </a:rPr>
              <a:t>A static method is invoked on behalf of an entire class, not on a specific object instantiated from that class.</a:t>
            </a:r>
          </a:p>
          <a:p>
            <a:r>
              <a:rPr lang="en-US" dirty="0">
                <a:latin typeface="Corbel" panose="020B0503020204020204" pitchFamily="34" charset="0"/>
              </a:rPr>
              <a:t>Such methods are also known as class methods. A static method might perform a general task for all objects of the class, such as returning the next available serial number or something of that nature.</a:t>
            </a:r>
          </a:p>
          <a:p>
            <a:r>
              <a:rPr lang="en-US" dirty="0">
                <a:latin typeface="Corbel" panose="020B0503020204020204" pitchFamily="34" charset="0"/>
              </a:rPr>
              <a:t>A static method can access only static fields and other static methods of the class. This is because non-static members must be accessed through an object reference, and no object reference is available within a static method</a:t>
            </a:r>
          </a:p>
          <a:p>
            <a:r>
              <a:rPr lang="en-US" dirty="0">
                <a:latin typeface="Corbel" panose="020B0503020204020204" pitchFamily="34" charset="0"/>
              </a:rPr>
              <a:t>A static method can be invoked without the need for creating an instance of a class.</a:t>
            </a:r>
          </a:p>
          <a:p>
            <a:r>
              <a:rPr lang="en-US" dirty="0">
                <a:latin typeface="Corbel" panose="020B0503020204020204" pitchFamily="34" charset="0"/>
              </a:rPr>
              <a:t>static method can access static data member and can change the value of it.</a:t>
            </a:r>
            <a:endParaRPr lang="en-US" sz="1600" dirty="0">
              <a:latin typeface="Corbel" panose="020B0503020204020204" pitchFamily="34" charset="0"/>
            </a:endParaRPr>
          </a:p>
        </p:txBody>
      </p:sp>
      <p:pic>
        <p:nvPicPr>
          <p:cNvPr id="4" name="Picture 3"/>
          <p:cNvPicPr>
            <a:picLocks noChangeAspect="1"/>
          </p:cNvPicPr>
          <p:nvPr/>
        </p:nvPicPr>
        <p:blipFill>
          <a:blip r:embed="rId3"/>
          <a:stretch>
            <a:fillRect/>
          </a:stretch>
        </p:blipFill>
        <p:spPr>
          <a:xfrm>
            <a:off x="7972426" y="1427766"/>
            <a:ext cx="4219574" cy="2006790"/>
          </a:xfrm>
          <a:prstGeom prst="rect">
            <a:avLst/>
          </a:prstGeom>
        </p:spPr>
      </p:pic>
    </p:spTree>
    <p:extLst>
      <p:ext uri="{BB962C8B-B14F-4D97-AF65-F5344CB8AC3E}">
        <p14:creationId xmlns:p14="http://schemas.microsoft.com/office/powerpoint/2010/main" val="3024970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04900" y="76200"/>
            <a:ext cx="9980682" cy="1096962"/>
          </a:xfrm>
          <a:prstGeom prst="rect">
            <a:avLst/>
          </a:prstGeom>
        </p:spPr>
        <p:txBody>
          <a:bodyPr anchor="b">
            <a:normAutofit/>
          </a:bodyPr>
          <a:lstStyle/>
          <a:p>
            <a:r>
              <a:rPr lang="en-US" dirty="0"/>
              <a:t>Static Blocks</a:t>
            </a:r>
          </a:p>
        </p:txBody>
      </p:sp>
      <p:sp>
        <p:nvSpPr>
          <p:cNvPr id="3" name="Content Placeholder 2"/>
          <p:cNvSpPr>
            <a:spLocks noGrp="1"/>
          </p:cNvSpPr>
          <p:nvPr>
            <p:ph type="body" sz="half" idx="2"/>
          </p:nvPr>
        </p:nvSpPr>
        <p:spPr>
          <a:xfrm>
            <a:off x="1104900" y="1600200"/>
            <a:ext cx="3396996" cy="4572000"/>
          </a:xfrm>
          <a:prstGeom prst="rect">
            <a:avLst/>
          </a:prstGeom>
        </p:spPr>
        <p:txBody>
          <a:bodyPr>
            <a:normAutofit/>
          </a:bodyPr>
          <a:lstStyle/>
          <a:p>
            <a:r>
              <a:rPr lang="en-US" dirty="0"/>
              <a:t>Unlike C++, Java supports a special block, called static block (also called static clause) which can be used for static initializations of a class. </a:t>
            </a:r>
          </a:p>
          <a:p>
            <a:r>
              <a:rPr lang="en-US" dirty="0"/>
              <a:t>This code inside static block is executed only once: the first time you make an object of that class or the first time you access a static member of that class (even if you never make an object of that class). </a:t>
            </a:r>
          </a:p>
          <a:p>
            <a:r>
              <a:rPr lang="en-US" dirty="0"/>
              <a:t>For example, check output of following Java program.</a:t>
            </a:r>
          </a:p>
        </p:txBody>
      </p:sp>
      <p:pic>
        <p:nvPicPr>
          <p:cNvPr id="5" name="Picture 4">
            <a:extLst>
              <a:ext uri="{FF2B5EF4-FFF2-40B4-BE49-F238E27FC236}">
                <a16:creationId xmlns:a16="http://schemas.microsoft.com/office/drawing/2014/main" id="{CB51646D-2073-41B4-9826-E6A85CA4095F}"/>
              </a:ext>
            </a:extLst>
          </p:cNvPr>
          <p:cNvPicPr>
            <a:picLocks noChangeAspect="1"/>
          </p:cNvPicPr>
          <p:nvPr/>
        </p:nvPicPr>
        <p:blipFill>
          <a:blip r:embed="rId3"/>
          <a:stretch>
            <a:fillRect/>
          </a:stretch>
        </p:blipFill>
        <p:spPr>
          <a:xfrm>
            <a:off x="4683854" y="1478519"/>
            <a:ext cx="7125525" cy="5001724"/>
          </a:xfrm>
          <a:prstGeom prst="rect">
            <a:avLst/>
          </a:prstGeom>
          <a:noFill/>
        </p:spPr>
      </p:pic>
    </p:spTree>
    <p:extLst>
      <p:ext uri="{BB962C8B-B14F-4D97-AF65-F5344CB8AC3E}">
        <p14:creationId xmlns:p14="http://schemas.microsoft.com/office/powerpoint/2010/main" val="3286102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04900" y="76200"/>
            <a:ext cx="9980682" cy="1096962"/>
          </a:xfrm>
          <a:prstGeom prst="rect">
            <a:avLst/>
          </a:prstGeom>
        </p:spPr>
        <p:txBody>
          <a:bodyPr anchor="b">
            <a:normAutofit/>
          </a:bodyPr>
          <a:lstStyle/>
          <a:p>
            <a:r>
              <a:rPr lang="en-US" dirty="0"/>
              <a:t>Methods - Invocation</a:t>
            </a:r>
          </a:p>
        </p:txBody>
      </p:sp>
      <p:graphicFrame>
        <p:nvGraphicFramePr>
          <p:cNvPr id="5" name="Content Placeholder 2">
            <a:extLst>
              <a:ext uri="{FF2B5EF4-FFF2-40B4-BE49-F238E27FC236}">
                <a16:creationId xmlns:a16="http://schemas.microsoft.com/office/drawing/2014/main" id="{DF4E71DD-3857-42C2-BA77-B90AFA1B2580}"/>
              </a:ext>
            </a:extLst>
          </p:cNvPr>
          <p:cNvGraphicFramePr>
            <a:graphicFrameLocks noGrp="1"/>
          </p:cNvGraphicFramePr>
          <p:nvPr>
            <p:ph idx="1"/>
            <p:extLst>
              <p:ext uri="{D42A27DB-BD31-4B8C-83A1-F6EECF244321}">
                <p14:modId xmlns:p14="http://schemas.microsoft.com/office/powerpoint/2010/main" val="465898507"/>
              </p:ext>
            </p:extLst>
          </p:nvPr>
        </p:nvGraphicFramePr>
        <p:xfrm>
          <a:off x="1104900" y="1600200"/>
          <a:ext cx="99822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81309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 – Variable number of arguments</a:t>
            </a:r>
          </a:p>
        </p:txBody>
      </p:sp>
      <p:sp>
        <p:nvSpPr>
          <p:cNvPr id="3" name="Content Placeholder 2"/>
          <p:cNvSpPr>
            <a:spLocks noGrp="1"/>
          </p:cNvSpPr>
          <p:nvPr>
            <p:ph idx="1"/>
          </p:nvPr>
        </p:nvSpPr>
        <p:spPr>
          <a:xfrm>
            <a:off x="391767" y="1471612"/>
            <a:ext cx="11406947" cy="5100638"/>
          </a:xfrm>
        </p:spPr>
        <p:txBody>
          <a:bodyPr>
            <a:noAutofit/>
          </a:bodyPr>
          <a:lstStyle/>
          <a:p>
            <a:r>
              <a:rPr lang="en-US" dirty="0">
                <a:latin typeface="Corbel" panose="020B0503020204020204" pitchFamily="34" charset="0"/>
              </a:rPr>
              <a:t>Formal Parameters: The variables declared inside the braces following the method name.</a:t>
            </a:r>
          </a:p>
          <a:p>
            <a:r>
              <a:rPr lang="en-US" dirty="0">
                <a:latin typeface="Corbel" panose="020B0503020204020204" pitchFamily="34" charset="0"/>
              </a:rPr>
              <a:t>The last parameter in a method (or constructor) parameter list can be declared as a sequence of a given type. </a:t>
            </a:r>
          </a:p>
          <a:p>
            <a:r>
              <a:rPr lang="en-US" dirty="0">
                <a:latin typeface="Corbel" panose="020B0503020204020204" pitchFamily="34" charset="0"/>
              </a:rPr>
              <a:t>To indicate that a parameter is a sequence you write an ellipse (...) after the parameter type, but before its name.</a:t>
            </a:r>
          </a:p>
          <a:p>
            <a:r>
              <a:rPr lang="en-US" dirty="0">
                <a:latin typeface="Corbel" panose="020B0503020204020204" pitchFamily="34" charset="0"/>
              </a:rPr>
              <a:t>the parameter messages is declared to be a sequence of String objects. Sequence parameters allow a method to be invoked with a variable number of arguments (including zero) that form the sequence. </a:t>
            </a:r>
          </a:p>
          <a:p>
            <a:r>
              <a:rPr lang="en-US" dirty="0">
                <a:latin typeface="Corbel" panose="020B0503020204020204" pitchFamily="34" charset="0"/>
              </a:rPr>
              <a:t>Such methods are known as variable-argument, or more commonly varargs methods; methods that don't declare a sequence parameter are known as fixed-argument methods.</a:t>
            </a:r>
          </a:p>
          <a:p>
            <a:r>
              <a:rPr lang="en-US" dirty="0">
                <a:latin typeface="Corbel" panose="020B0503020204020204" pitchFamily="34" charset="0"/>
              </a:rPr>
              <a:t>More formally, the number of arguments that can be passed to a method invocation is known as the arity of the invocation. Varargs methods are variable-arity methods, while fixed-argument methods are fixed-arity methods.</a:t>
            </a:r>
            <a:endParaRPr lang="en-US" sz="1600" dirty="0">
              <a:latin typeface="Corbel" panose="020B0503020204020204" pitchFamily="34" charset="0"/>
            </a:endParaRPr>
          </a:p>
        </p:txBody>
      </p:sp>
      <p:pic>
        <p:nvPicPr>
          <p:cNvPr id="5" name="Picture 4">
            <a:extLst>
              <a:ext uri="{FF2B5EF4-FFF2-40B4-BE49-F238E27FC236}">
                <a16:creationId xmlns:a16="http://schemas.microsoft.com/office/drawing/2014/main" id="{E5A97E96-3087-4F91-A16F-1B4DB87EB013}"/>
              </a:ext>
            </a:extLst>
          </p:cNvPr>
          <p:cNvPicPr>
            <a:picLocks noChangeAspect="1"/>
          </p:cNvPicPr>
          <p:nvPr/>
        </p:nvPicPr>
        <p:blipFill>
          <a:blip r:embed="rId3"/>
          <a:stretch>
            <a:fillRect/>
          </a:stretch>
        </p:blipFill>
        <p:spPr>
          <a:xfrm>
            <a:off x="8391658" y="76200"/>
            <a:ext cx="3482642" cy="1432684"/>
          </a:xfrm>
          <a:prstGeom prst="rect">
            <a:avLst/>
          </a:prstGeom>
        </p:spPr>
      </p:pic>
    </p:spTree>
    <p:extLst>
      <p:ext uri="{BB962C8B-B14F-4D97-AF65-F5344CB8AC3E}">
        <p14:creationId xmlns:p14="http://schemas.microsoft.com/office/powerpoint/2010/main" val="2258984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 – Invocation</a:t>
            </a:r>
          </a:p>
        </p:txBody>
      </p:sp>
      <p:sp>
        <p:nvSpPr>
          <p:cNvPr id="3" name="Content Placeholder 2"/>
          <p:cNvSpPr>
            <a:spLocks noGrp="1"/>
          </p:cNvSpPr>
          <p:nvPr>
            <p:ph idx="1"/>
          </p:nvPr>
        </p:nvSpPr>
        <p:spPr>
          <a:xfrm>
            <a:off x="391767" y="1471612"/>
            <a:ext cx="11406947" cy="5100638"/>
          </a:xfrm>
        </p:spPr>
        <p:txBody>
          <a:bodyPr>
            <a:noAutofit/>
          </a:bodyPr>
          <a:lstStyle/>
          <a:p>
            <a:pPr>
              <a:lnSpc>
                <a:spcPct val="150000"/>
              </a:lnSpc>
            </a:pPr>
            <a:r>
              <a:rPr lang="en-US" dirty="0">
                <a:latin typeface="Corbel" panose="020B0503020204020204" pitchFamily="34" charset="0"/>
              </a:rPr>
              <a:t>When a method is invoked, the flow of control passes from the calling method into the invoked method and the statements of that method are executed in sequence according to the semantics of those statements. </a:t>
            </a:r>
          </a:p>
          <a:p>
            <a:pPr>
              <a:lnSpc>
                <a:spcPct val="150000"/>
              </a:lnSpc>
            </a:pPr>
            <a:r>
              <a:rPr lang="en-US" dirty="0">
                <a:latin typeface="Corbel" panose="020B0503020204020204" pitchFamily="34" charset="0"/>
              </a:rPr>
              <a:t>A method completes execution and returns to the caller when one of three things happens: </a:t>
            </a:r>
            <a:r>
              <a:rPr lang="en-US" b="1" dirty="0">
                <a:solidFill>
                  <a:srgbClr val="7030A0"/>
                </a:solidFill>
                <a:latin typeface="Corbel" panose="020B0503020204020204" pitchFamily="34" charset="0"/>
              </a:rPr>
              <a:t>a return statement is executed</a:t>
            </a:r>
            <a:r>
              <a:rPr lang="en-US" b="1" dirty="0">
                <a:latin typeface="Corbel" panose="020B0503020204020204" pitchFamily="34" charset="0"/>
              </a:rPr>
              <a:t>, </a:t>
            </a:r>
            <a:r>
              <a:rPr lang="en-US" b="1" dirty="0">
                <a:solidFill>
                  <a:srgbClr val="00B050"/>
                </a:solidFill>
                <a:latin typeface="Corbel" panose="020B0503020204020204" pitchFamily="34" charset="0"/>
              </a:rPr>
              <a:t>the end of the method is reached</a:t>
            </a:r>
            <a:r>
              <a:rPr lang="en-US" b="1" dirty="0">
                <a:latin typeface="Corbel" panose="020B0503020204020204" pitchFamily="34" charset="0"/>
              </a:rPr>
              <a:t>, or </a:t>
            </a:r>
            <a:r>
              <a:rPr lang="en-US" b="1" dirty="0">
                <a:solidFill>
                  <a:srgbClr val="C00000"/>
                </a:solidFill>
                <a:latin typeface="Corbel" panose="020B0503020204020204" pitchFamily="34" charset="0"/>
              </a:rPr>
              <a:t>an uncaught exception is thrown</a:t>
            </a:r>
            <a:r>
              <a:rPr lang="en-US" dirty="0">
                <a:latin typeface="Corbel" panose="020B0503020204020204" pitchFamily="34" charset="0"/>
              </a:rPr>
              <a:t>.</a:t>
            </a:r>
          </a:p>
          <a:p>
            <a:pPr>
              <a:lnSpc>
                <a:spcPct val="150000"/>
              </a:lnSpc>
            </a:pPr>
            <a:r>
              <a:rPr lang="en-US" dirty="0">
                <a:latin typeface="Corbel" panose="020B0503020204020204" pitchFamily="34" charset="0"/>
              </a:rPr>
              <a:t>If a method </a:t>
            </a:r>
            <a:r>
              <a:rPr lang="en-US" b="1" u="sng" dirty="0">
                <a:latin typeface="Corbel" panose="020B0503020204020204" pitchFamily="34" charset="0"/>
              </a:rPr>
              <a:t>returns any result</a:t>
            </a:r>
            <a:r>
              <a:rPr lang="en-US" dirty="0">
                <a:latin typeface="Corbel" panose="020B0503020204020204" pitchFamily="34" charset="0"/>
              </a:rPr>
              <a:t>, it can only return a </a:t>
            </a:r>
            <a:r>
              <a:rPr lang="en-US" b="1" u="sng" dirty="0">
                <a:latin typeface="Corbel" panose="020B0503020204020204" pitchFamily="34" charset="0"/>
              </a:rPr>
              <a:t>single result </a:t>
            </a:r>
            <a:r>
              <a:rPr lang="en-US" dirty="0">
                <a:latin typeface="Corbel" panose="020B0503020204020204" pitchFamily="34" charset="0"/>
              </a:rPr>
              <a:t>either a </a:t>
            </a:r>
            <a:r>
              <a:rPr lang="en-US" b="1" u="sng" dirty="0">
                <a:solidFill>
                  <a:srgbClr val="C00000"/>
                </a:solidFill>
                <a:latin typeface="Corbel" panose="020B0503020204020204" pitchFamily="34" charset="0"/>
              </a:rPr>
              <a:t>primitive value </a:t>
            </a:r>
            <a:r>
              <a:rPr lang="en-US" dirty="0">
                <a:latin typeface="Corbel" panose="020B0503020204020204" pitchFamily="34" charset="0"/>
              </a:rPr>
              <a:t>or a </a:t>
            </a:r>
            <a:r>
              <a:rPr lang="en-US" b="1" u="sng" dirty="0">
                <a:solidFill>
                  <a:srgbClr val="7030A0"/>
                </a:solidFill>
                <a:latin typeface="Corbel" panose="020B0503020204020204" pitchFamily="34" charset="0"/>
              </a:rPr>
              <a:t>reference to an object</a:t>
            </a:r>
            <a:r>
              <a:rPr lang="en-US" dirty="0">
                <a:latin typeface="Corbel" panose="020B0503020204020204" pitchFamily="34" charset="0"/>
              </a:rPr>
              <a:t>. </a:t>
            </a:r>
          </a:p>
          <a:p>
            <a:pPr>
              <a:lnSpc>
                <a:spcPct val="150000"/>
              </a:lnSpc>
            </a:pPr>
            <a:r>
              <a:rPr lang="en-US" dirty="0">
                <a:latin typeface="Corbel" panose="020B0503020204020204" pitchFamily="34" charset="0"/>
              </a:rPr>
              <a:t>Methods that need to return </a:t>
            </a:r>
            <a:r>
              <a:rPr lang="en-US" b="1" u="sng" dirty="0">
                <a:latin typeface="Corbel" panose="020B0503020204020204" pitchFamily="34" charset="0"/>
              </a:rPr>
              <a:t>more than one result </a:t>
            </a:r>
            <a:r>
              <a:rPr lang="en-US" dirty="0">
                <a:latin typeface="Corbel" panose="020B0503020204020204" pitchFamily="34" charset="0"/>
              </a:rPr>
              <a:t>can achieve this effect in several ways: </a:t>
            </a:r>
            <a:r>
              <a:rPr lang="en-US" b="1" u="sng" dirty="0">
                <a:solidFill>
                  <a:srgbClr val="C00000"/>
                </a:solidFill>
                <a:latin typeface="Corbel" panose="020B0503020204020204" pitchFamily="34" charset="0"/>
              </a:rPr>
              <a:t>return references to objects that store the results as fields</a:t>
            </a:r>
            <a:r>
              <a:rPr lang="en-US" dirty="0">
                <a:latin typeface="Corbel" panose="020B0503020204020204" pitchFamily="34" charset="0"/>
              </a:rPr>
              <a:t>, take </a:t>
            </a:r>
            <a:r>
              <a:rPr lang="en-US" b="1" dirty="0">
                <a:solidFill>
                  <a:srgbClr val="002060"/>
                </a:solidFill>
                <a:latin typeface="Corbel" panose="020B0503020204020204" pitchFamily="34" charset="0"/>
              </a:rPr>
              <a:t>one or more parameters that reference objects in which to store the results</a:t>
            </a:r>
            <a:r>
              <a:rPr lang="en-US" dirty="0">
                <a:latin typeface="Corbel" panose="020B0503020204020204" pitchFamily="34" charset="0"/>
              </a:rPr>
              <a:t>, or return an </a:t>
            </a:r>
            <a:r>
              <a:rPr lang="en-US" b="1" dirty="0">
                <a:solidFill>
                  <a:srgbClr val="FF0000"/>
                </a:solidFill>
                <a:latin typeface="Corbel" panose="020B0503020204020204" pitchFamily="34" charset="0"/>
              </a:rPr>
              <a:t>array that contains the results</a:t>
            </a:r>
            <a:r>
              <a:rPr lang="en-US" dirty="0">
                <a:latin typeface="Corbel" panose="020B0503020204020204" pitchFamily="34" charset="0"/>
              </a:rPr>
              <a:t>.</a:t>
            </a:r>
          </a:p>
        </p:txBody>
      </p:sp>
      <p:pic>
        <p:nvPicPr>
          <p:cNvPr id="4" name="Picture 3"/>
          <p:cNvPicPr>
            <a:picLocks noChangeAspect="1"/>
          </p:cNvPicPr>
          <p:nvPr/>
        </p:nvPicPr>
        <p:blipFill>
          <a:blip r:embed="rId3"/>
          <a:stretch>
            <a:fillRect/>
          </a:stretch>
        </p:blipFill>
        <p:spPr>
          <a:xfrm>
            <a:off x="8829675" y="76201"/>
            <a:ext cx="3233737" cy="1096961"/>
          </a:xfrm>
          <a:prstGeom prst="rect">
            <a:avLst/>
          </a:prstGeom>
        </p:spPr>
      </p:pic>
    </p:spTree>
    <p:extLst>
      <p:ext uri="{BB962C8B-B14F-4D97-AF65-F5344CB8AC3E}">
        <p14:creationId xmlns:p14="http://schemas.microsoft.com/office/powerpoint/2010/main" val="1573746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This , That What ??</a:t>
            </a:r>
          </a:p>
        </p:txBody>
      </p:sp>
      <p:sp>
        <p:nvSpPr>
          <p:cNvPr id="3" name="Content Placeholder 2"/>
          <p:cNvSpPr>
            <a:spLocks noGrp="1"/>
          </p:cNvSpPr>
          <p:nvPr>
            <p:ph idx="1"/>
          </p:nvPr>
        </p:nvSpPr>
        <p:spPr>
          <a:xfrm>
            <a:off x="391767" y="1471612"/>
            <a:ext cx="11406947" cy="5100638"/>
          </a:xfrm>
        </p:spPr>
        <p:txBody>
          <a:bodyPr>
            <a:noAutofit/>
          </a:bodyPr>
          <a:lstStyle/>
          <a:p>
            <a:r>
              <a:rPr lang="en-US" b="1" u="sng" dirty="0">
                <a:latin typeface="Corbel" panose="020B0503020204020204" pitchFamily="34" charset="0"/>
              </a:rPr>
              <a:t>Keyword THIS </a:t>
            </a:r>
            <a:r>
              <a:rPr lang="en-US" dirty="0">
                <a:latin typeface="Corbel" panose="020B0503020204020204" pitchFamily="34" charset="0"/>
              </a:rPr>
              <a:t>is a </a:t>
            </a:r>
            <a:r>
              <a:rPr lang="en-US" b="1" u="sng" dirty="0">
                <a:latin typeface="Corbel" panose="020B0503020204020204" pitchFamily="34" charset="0"/>
              </a:rPr>
              <a:t>reference variable </a:t>
            </a:r>
            <a:r>
              <a:rPr lang="en-US" dirty="0">
                <a:latin typeface="Corbel" panose="020B0503020204020204" pitchFamily="34" charset="0"/>
              </a:rPr>
              <a:t>in Java that refers to the </a:t>
            </a:r>
            <a:r>
              <a:rPr lang="en-US" b="1" u="sng" dirty="0">
                <a:latin typeface="Corbel" panose="020B0503020204020204" pitchFamily="34" charset="0"/>
              </a:rPr>
              <a:t>current object</a:t>
            </a:r>
            <a:r>
              <a:rPr lang="en-US" dirty="0">
                <a:latin typeface="Corbel" panose="020B0503020204020204" pitchFamily="34" charset="0"/>
              </a:rPr>
              <a:t>. The various usages of 'THIS' keyword in Java are as follows:</a:t>
            </a:r>
          </a:p>
          <a:p>
            <a:pPr lvl="1"/>
            <a:r>
              <a:rPr lang="en-US" sz="2000" dirty="0">
                <a:latin typeface="Corbel" panose="020B0503020204020204" pitchFamily="34" charset="0"/>
              </a:rPr>
              <a:t>It can be used to refer </a:t>
            </a:r>
            <a:r>
              <a:rPr lang="en-US" sz="2000" b="1" u="sng" dirty="0">
                <a:latin typeface="Corbel" panose="020B0503020204020204" pitchFamily="34" charset="0"/>
              </a:rPr>
              <a:t>instance variable </a:t>
            </a:r>
            <a:r>
              <a:rPr lang="en-US" sz="2000" dirty="0">
                <a:latin typeface="Corbel" panose="020B0503020204020204" pitchFamily="34" charset="0"/>
              </a:rPr>
              <a:t>of </a:t>
            </a:r>
            <a:r>
              <a:rPr lang="en-US" sz="2000" b="1" u="sng" dirty="0">
                <a:latin typeface="Corbel" panose="020B0503020204020204" pitchFamily="34" charset="0"/>
              </a:rPr>
              <a:t>current class</a:t>
            </a:r>
          </a:p>
          <a:p>
            <a:pPr lvl="1"/>
            <a:r>
              <a:rPr lang="en-US" sz="2000" dirty="0">
                <a:latin typeface="Corbel" panose="020B0503020204020204" pitchFamily="34" charset="0"/>
              </a:rPr>
              <a:t>It can be used to </a:t>
            </a:r>
            <a:r>
              <a:rPr lang="en-US" sz="2000" b="1" u="sng" dirty="0">
                <a:latin typeface="Corbel" panose="020B0503020204020204" pitchFamily="34" charset="0"/>
              </a:rPr>
              <a:t>invoke </a:t>
            </a:r>
            <a:r>
              <a:rPr lang="en-US" sz="2000" dirty="0">
                <a:latin typeface="Corbel" panose="020B0503020204020204" pitchFamily="34" charset="0"/>
              </a:rPr>
              <a:t>or </a:t>
            </a:r>
            <a:r>
              <a:rPr lang="en-US" sz="2000" b="1" u="sng" dirty="0">
                <a:latin typeface="Corbel" panose="020B0503020204020204" pitchFamily="34" charset="0"/>
              </a:rPr>
              <a:t>initiate </a:t>
            </a:r>
            <a:r>
              <a:rPr lang="en-US" sz="2000" dirty="0">
                <a:latin typeface="Corbel" panose="020B0503020204020204" pitchFamily="34" charset="0"/>
              </a:rPr>
              <a:t>current </a:t>
            </a:r>
            <a:r>
              <a:rPr lang="en-US" sz="2000" b="1" u="sng" dirty="0">
                <a:solidFill>
                  <a:srgbClr val="FFC000"/>
                </a:solidFill>
                <a:latin typeface="Corbel" panose="020B0503020204020204" pitchFamily="34" charset="0"/>
              </a:rPr>
              <a:t>class constructor</a:t>
            </a:r>
          </a:p>
          <a:p>
            <a:pPr lvl="1"/>
            <a:r>
              <a:rPr lang="en-US" sz="2000" dirty="0">
                <a:latin typeface="Corbel" panose="020B0503020204020204" pitchFamily="34" charset="0"/>
              </a:rPr>
              <a:t>It can be passed as an </a:t>
            </a:r>
            <a:r>
              <a:rPr lang="en-US" sz="2000" b="1" u="sng" dirty="0">
                <a:latin typeface="Corbel" panose="020B0503020204020204" pitchFamily="34" charset="0"/>
              </a:rPr>
              <a:t>argument </a:t>
            </a:r>
            <a:r>
              <a:rPr lang="en-US" sz="2000" dirty="0">
                <a:latin typeface="Corbel" panose="020B0503020204020204" pitchFamily="34" charset="0"/>
              </a:rPr>
              <a:t>in the </a:t>
            </a:r>
            <a:r>
              <a:rPr lang="en-US" sz="2000" b="1" u="sng" dirty="0">
                <a:solidFill>
                  <a:srgbClr val="FF0000"/>
                </a:solidFill>
                <a:latin typeface="Corbel" panose="020B0503020204020204" pitchFamily="34" charset="0"/>
              </a:rPr>
              <a:t>method call</a:t>
            </a:r>
          </a:p>
          <a:p>
            <a:pPr lvl="1"/>
            <a:r>
              <a:rPr lang="en-US" sz="2000" dirty="0">
                <a:latin typeface="Corbel" panose="020B0503020204020204" pitchFamily="34" charset="0"/>
              </a:rPr>
              <a:t>It can be passed as </a:t>
            </a:r>
            <a:r>
              <a:rPr lang="en-US" sz="2000" b="1" u="sng" dirty="0">
                <a:latin typeface="Corbel" panose="020B0503020204020204" pitchFamily="34" charset="0"/>
              </a:rPr>
              <a:t>argument </a:t>
            </a:r>
            <a:r>
              <a:rPr lang="en-US" sz="2000" dirty="0">
                <a:latin typeface="Corbel" panose="020B0503020204020204" pitchFamily="34" charset="0"/>
              </a:rPr>
              <a:t>in the </a:t>
            </a:r>
            <a:r>
              <a:rPr lang="en-US" sz="2000" b="1" u="sng" dirty="0">
                <a:solidFill>
                  <a:srgbClr val="00B0F0"/>
                </a:solidFill>
                <a:latin typeface="Corbel" panose="020B0503020204020204" pitchFamily="34" charset="0"/>
              </a:rPr>
              <a:t>constructor call</a:t>
            </a:r>
          </a:p>
          <a:p>
            <a:pPr lvl="1"/>
            <a:r>
              <a:rPr lang="en-US" sz="2000" dirty="0">
                <a:latin typeface="Corbel" panose="020B0503020204020204" pitchFamily="34" charset="0"/>
              </a:rPr>
              <a:t>It can be used to </a:t>
            </a:r>
            <a:r>
              <a:rPr lang="en-US" sz="2000" b="1" u="sng" dirty="0">
                <a:latin typeface="Corbel" panose="020B0503020204020204" pitchFamily="34" charset="0"/>
              </a:rPr>
              <a:t>return </a:t>
            </a:r>
            <a:r>
              <a:rPr lang="en-US" sz="2000" dirty="0">
                <a:latin typeface="Corbel" panose="020B0503020204020204" pitchFamily="34" charset="0"/>
              </a:rPr>
              <a:t>the </a:t>
            </a:r>
            <a:r>
              <a:rPr lang="en-US" sz="2000" b="1" u="sng" dirty="0">
                <a:solidFill>
                  <a:srgbClr val="00B050"/>
                </a:solidFill>
                <a:latin typeface="Corbel" panose="020B0503020204020204" pitchFamily="34" charset="0"/>
              </a:rPr>
              <a:t>current class instance</a:t>
            </a:r>
          </a:p>
          <a:p>
            <a:pPr lvl="1"/>
            <a:endParaRPr lang="en-US" sz="2000" dirty="0">
              <a:latin typeface="Corbel" panose="020B0503020204020204" pitchFamily="34" charset="0"/>
            </a:endParaRPr>
          </a:p>
          <a:p>
            <a:r>
              <a:rPr lang="en-US" dirty="0">
                <a:latin typeface="Corbel" panose="020B0503020204020204" pitchFamily="34" charset="0"/>
              </a:rPr>
              <a:t>The main purpose of </a:t>
            </a:r>
            <a:r>
              <a:rPr lang="en-US" b="1" dirty="0">
                <a:latin typeface="Corbel" panose="020B0503020204020204" pitchFamily="34" charset="0"/>
              </a:rPr>
              <a:t>using this keyword</a:t>
            </a:r>
            <a:r>
              <a:rPr lang="en-US" dirty="0">
                <a:latin typeface="Corbel" panose="020B0503020204020204" pitchFamily="34" charset="0"/>
              </a:rPr>
              <a:t> is to </a:t>
            </a:r>
            <a:r>
              <a:rPr lang="en-US" sz="2400" b="1" i="1" u="sng" dirty="0">
                <a:latin typeface="Corbel" panose="020B0503020204020204" pitchFamily="34" charset="0"/>
              </a:rPr>
              <a:t>differentiate the formal parameter and data members of class</a:t>
            </a:r>
            <a:r>
              <a:rPr lang="en-US" dirty="0">
                <a:latin typeface="Corbel" panose="020B0503020204020204" pitchFamily="34" charset="0"/>
              </a:rPr>
              <a:t>, whenever the formal parameter and data members of the class are similar then jvm get ambiguity (no clarity between formal parameter and member of the class)</a:t>
            </a:r>
          </a:p>
          <a:p>
            <a:r>
              <a:rPr lang="en-US" dirty="0">
                <a:latin typeface="Corbel" panose="020B0503020204020204" pitchFamily="34" charset="0"/>
              </a:rPr>
              <a:t>To differentiate between formal parameter and data member of the class, the data member of the class must be preceded by "this".</a:t>
            </a:r>
          </a:p>
          <a:p>
            <a:endParaRPr lang="en-US" dirty="0">
              <a:latin typeface="Corbel" panose="020B0503020204020204" pitchFamily="34" charset="0"/>
            </a:endParaRPr>
          </a:p>
        </p:txBody>
      </p:sp>
      <p:sp>
        <p:nvSpPr>
          <p:cNvPr id="5" name="Rectangle 4"/>
          <p:cNvSpPr/>
          <p:nvPr/>
        </p:nvSpPr>
        <p:spPr>
          <a:xfrm>
            <a:off x="7877175" y="2095798"/>
            <a:ext cx="4173179" cy="1015663"/>
          </a:xfrm>
          <a:prstGeom prst="rect">
            <a:avLst/>
          </a:prstGeom>
        </p:spPr>
        <p:txBody>
          <a:bodyPr wrap="square">
            <a:spAutoFit/>
          </a:bodyPr>
          <a:lstStyle/>
          <a:p>
            <a:pPr algn="just"/>
            <a:r>
              <a:rPr lang="en-US" sz="2000" i="1" dirty="0">
                <a:solidFill>
                  <a:srgbClr val="00B050"/>
                </a:solidFill>
                <a:latin typeface="Corbel" panose="020B0503020204020204" pitchFamily="34" charset="0"/>
              </a:rPr>
              <a:t>"this" keyword can be use in two ways.</a:t>
            </a:r>
          </a:p>
          <a:p>
            <a:pPr>
              <a:buFont typeface="Arial" panose="020B0604020202020204" pitchFamily="34" charset="0"/>
              <a:buChar char="•"/>
            </a:pPr>
            <a:r>
              <a:rPr lang="en-US" sz="2000" i="1" dirty="0">
                <a:solidFill>
                  <a:srgbClr val="00B050"/>
                </a:solidFill>
                <a:latin typeface="Corbel" panose="020B0503020204020204" pitchFamily="34" charset="0"/>
              </a:rPr>
              <a:t>this . (this dot)</a:t>
            </a:r>
          </a:p>
          <a:p>
            <a:pPr>
              <a:buFont typeface="Arial" panose="020B0604020202020204" pitchFamily="34" charset="0"/>
              <a:buChar char="•"/>
            </a:pPr>
            <a:r>
              <a:rPr lang="en-US" sz="2000" i="1" dirty="0">
                <a:solidFill>
                  <a:srgbClr val="00B050"/>
                </a:solidFill>
                <a:latin typeface="Corbel" panose="020B0503020204020204" pitchFamily="34" charset="0"/>
              </a:rPr>
              <a:t>this() (this off)</a:t>
            </a:r>
            <a:endParaRPr lang="en-US" sz="2000" i="1" dirty="0">
              <a:solidFill>
                <a:srgbClr val="00B050"/>
              </a:solidFill>
              <a:effectLst/>
              <a:latin typeface="Corbel" panose="020B0503020204020204" pitchFamily="34" charset="0"/>
            </a:endParaRPr>
          </a:p>
        </p:txBody>
      </p:sp>
    </p:spTree>
    <p:extLst>
      <p:ext uri="{BB962C8B-B14F-4D97-AF65-F5344CB8AC3E}">
        <p14:creationId xmlns:p14="http://schemas.microsoft.com/office/powerpoint/2010/main" val="1095760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This , That What ?? – What happened here?</a:t>
            </a:r>
          </a:p>
        </p:txBody>
      </p:sp>
      <p:pic>
        <p:nvPicPr>
          <p:cNvPr id="4" name="Content Placeholder 3"/>
          <p:cNvPicPr>
            <a:picLocks noGrp="1" noChangeAspect="1"/>
          </p:cNvPicPr>
          <p:nvPr>
            <p:ph idx="1"/>
          </p:nvPr>
        </p:nvPicPr>
        <p:blipFill>
          <a:blip r:embed="rId3"/>
          <a:stretch>
            <a:fillRect/>
          </a:stretch>
        </p:blipFill>
        <p:spPr>
          <a:xfrm>
            <a:off x="547686" y="1378743"/>
            <a:ext cx="6007231" cy="5064920"/>
          </a:xfrm>
          <a:prstGeom prst="rect">
            <a:avLst/>
          </a:prstGeom>
        </p:spPr>
      </p:pic>
      <p:pic>
        <p:nvPicPr>
          <p:cNvPr id="6" name="Picture 5"/>
          <p:cNvPicPr>
            <a:picLocks noChangeAspect="1"/>
          </p:cNvPicPr>
          <p:nvPr/>
        </p:nvPicPr>
        <p:blipFill>
          <a:blip r:embed="rId4"/>
          <a:stretch>
            <a:fillRect/>
          </a:stretch>
        </p:blipFill>
        <p:spPr>
          <a:xfrm>
            <a:off x="8029574" y="2539695"/>
            <a:ext cx="3819525" cy="1370317"/>
          </a:xfrm>
          <a:prstGeom prst="rect">
            <a:avLst/>
          </a:prstGeom>
        </p:spPr>
      </p:pic>
      <p:sp>
        <p:nvSpPr>
          <p:cNvPr id="7" name="Right Arrow 6"/>
          <p:cNvSpPr/>
          <p:nvPr/>
        </p:nvSpPr>
        <p:spPr>
          <a:xfrm>
            <a:off x="6700839" y="3014659"/>
            <a:ext cx="957263" cy="614363"/>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dirty="0"/>
          </a:p>
        </p:txBody>
      </p:sp>
      <p:sp>
        <p:nvSpPr>
          <p:cNvPr id="8" name="Rectangle 7"/>
          <p:cNvSpPr/>
          <p:nvPr/>
        </p:nvSpPr>
        <p:spPr>
          <a:xfrm>
            <a:off x="1333502" y="6279912"/>
            <a:ext cx="2095498" cy="369332"/>
          </a:xfrm>
          <a:prstGeom prst="rect">
            <a:avLst/>
          </a:prstGeom>
        </p:spPr>
        <p:txBody>
          <a:bodyPr wrap="square">
            <a:spAutoFit/>
          </a:bodyPr>
          <a:lstStyle/>
          <a:p>
            <a:pPr algn="just"/>
            <a:r>
              <a:rPr lang="en-US" b="1" i="1" dirty="0">
                <a:solidFill>
                  <a:srgbClr val="C00000"/>
                </a:solidFill>
                <a:latin typeface="Corbel" panose="020B0503020204020204" pitchFamily="34" charset="0"/>
              </a:rPr>
              <a:t>Source Code</a:t>
            </a:r>
          </a:p>
        </p:txBody>
      </p:sp>
      <p:sp>
        <p:nvSpPr>
          <p:cNvPr id="9" name="Rectangle 8"/>
          <p:cNvSpPr/>
          <p:nvPr/>
        </p:nvSpPr>
        <p:spPr>
          <a:xfrm>
            <a:off x="9244015" y="6258997"/>
            <a:ext cx="2095498" cy="369332"/>
          </a:xfrm>
          <a:prstGeom prst="rect">
            <a:avLst/>
          </a:prstGeom>
        </p:spPr>
        <p:txBody>
          <a:bodyPr wrap="square">
            <a:spAutoFit/>
          </a:bodyPr>
          <a:lstStyle/>
          <a:p>
            <a:pPr algn="just"/>
            <a:r>
              <a:rPr lang="en-US" b="1" i="1" dirty="0">
                <a:solidFill>
                  <a:srgbClr val="C00000"/>
                </a:solidFill>
                <a:latin typeface="Corbel" panose="020B0503020204020204" pitchFamily="34" charset="0"/>
              </a:rPr>
              <a:t>Output</a:t>
            </a:r>
          </a:p>
        </p:txBody>
      </p:sp>
    </p:spTree>
    <p:extLst>
      <p:ext uri="{BB962C8B-B14F-4D97-AF65-F5344CB8AC3E}">
        <p14:creationId xmlns:p14="http://schemas.microsoft.com/office/powerpoint/2010/main" val="1594285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This , That What ?? – What happened here?</a:t>
            </a:r>
          </a:p>
        </p:txBody>
      </p:sp>
      <p:graphicFrame>
        <p:nvGraphicFramePr>
          <p:cNvPr id="11" name="Table 10"/>
          <p:cNvGraphicFramePr>
            <a:graphicFrameLocks noGrp="1"/>
          </p:cNvGraphicFramePr>
          <p:nvPr>
            <p:extLst>
              <p:ext uri="{D42A27DB-BD31-4B8C-83A1-F6EECF244321}">
                <p14:modId xmlns:p14="http://schemas.microsoft.com/office/powerpoint/2010/main" val="4009705257"/>
              </p:ext>
            </p:extLst>
          </p:nvPr>
        </p:nvGraphicFramePr>
        <p:xfrm>
          <a:off x="1217611" y="1691216"/>
          <a:ext cx="10212388" cy="3444240"/>
        </p:xfrm>
        <a:graphic>
          <a:graphicData uri="http://schemas.openxmlformats.org/drawingml/2006/table">
            <a:tbl>
              <a:tblPr firstRow="1" bandRow="1">
                <a:tableStyleId>{5DA37D80-6434-44D0-A028-1B22A696006F}</a:tableStyleId>
              </a:tblPr>
              <a:tblGrid>
                <a:gridCol w="5040314">
                  <a:extLst>
                    <a:ext uri="{9D8B030D-6E8A-4147-A177-3AD203B41FA5}">
                      <a16:colId xmlns:a16="http://schemas.microsoft.com/office/drawing/2014/main" val="3296636752"/>
                    </a:ext>
                  </a:extLst>
                </a:gridCol>
                <a:gridCol w="5172074">
                  <a:extLst>
                    <a:ext uri="{9D8B030D-6E8A-4147-A177-3AD203B41FA5}">
                      <a16:colId xmlns:a16="http://schemas.microsoft.com/office/drawing/2014/main" val="135830995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Corbel" panose="020B0503020204020204" pitchFamily="34" charset="0"/>
                        </a:rPr>
                        <a:t>1. In the method Set data, the arguments are declared as a and b, while the instance variables are also named as a and b.</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Corbel" panose="020B0503020204020204" pitchFamily="34" charset="0"/>
                      </a:endParaRPr>
                    </a:p>
                    <a:p>
                      <a:endParaRPr lang="en-US" sz="2000" dirty="0">
                        <a:latin typeface="Corbel" panose="020B0503020204020204" pitchFamily="34" charset="0"/>
                      </a:endParaRPr>
                    </a:p>
                  </a:txBody>
                  <a:tcPr/>
                </a:tc>
                <a:tc>
                  <a:txBody>
                    <a:bodyPr/>
                    <a:lstStyle/>
                    <a:p>
                      <a:endParaRPr lang="en-US" sz="2000" dirty="0">
                        <a:latin typeface="Corbel" panose="020B0503020204020204" pitchFamily="34" charset="0"/>
                      </a:endParaRPr>
                    </a:p>
                  </a:txBody>
                  <a:tcPr/>
                </a:tc>
                <a:extLst>
                  <a:ext uri="{0D108BD9-81ED-4DB2-BD59-A6C34878D82A}">
                    <a16:rowId xmlns:a16="http://schemas.microsoft.com/office/drawing/2014/main" val="3152741548"/>
                  </a:ext>
                </a:extLst>
              </a:tr>
            </a:tbl>
          </a:graphicData>
        </a:graphic>
      </p:graphicFrame>
      <p:pic>
        <p:nvPicPr>
          <p:cNvPr id="12" name="Picture 11"/>
          <p:cNvPicPr>
            <a:picLocks noChangeAspect="1"/>
          </p:cNvPicPr>
          <p:nvPr/>
        </p:nvPicPr>
        <p:blipFill>
          <a:blip r:embed="rId3"/>
          <a:stretch>
            <a:fillRect/>
          </a:stretch>
        </p:blipFill>
        <p:spPr>
          <a:xfrm>
            <a:off x="6657975" y="1814760"/>
            <a:ext cx="4674575" cy="2700090"/>
          </a:xfrm>
          <a:prstGeom prst="rect">
            <a:avLst/>
          </a:prstGeom>
        </p:spPr>
      </p:pic>
    </p:spTree>
    <p:extLst>
      <p:ext uri="{BB962C8B-B14F-4D97-AF65-F5344CB8AC3E}">
        <p14:creationId xmlns:p14="http://schemas.microsoft.com/office/powerpoint/2010/main" val="1698385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This , That What ?? – What happened here?</a:t>
            </a:r>
          </a:p>
        </p:txBody>
      </p:sp>
      <p:graphicFrame>
        <p:nvGraphicFramePr>
          <p:cNvPr id="11" name="Table 10"/>
          <p:cNvGraphicFramePr>
            <a:graphicFrameLocks noGrp="1"/>
          </p:cNvGraphicFramePr>
          <p:nvPr>
            <p:extLst>
              <p:ext uri="{D42A27DB-BD31-4B8C-83A1-F6EECF244321}">
                <p14:modId xmlns:p14="http://schemas.microsoft.com/office/powerpoint/2010/main" val="84478013"/>
              </p:ext>
            </p:extLst>
          </p:nvPr>
        </p:nvGraphicFramePr>
        <p:xfrm>
          <a:off x="1217611" y="1691216"/>
          <a:ext cx="10212388" cy="4663440"/>
        </p:xfrm>
        <a:graphic>
          <a:graphicData uri="http://schemas.openxmlformats.org/drawingml/2006/table">
            <a:tbl>
              <a:tblPr firstRow="1" bandRow="1">
                <a:tableStyleId>{5DA37D80-6434-44D0-A028-1B22A696006F}</a:tableStyleId>
              </a:tblPr>
              <a:tblGrid>
                <a:gridCol w="5040314">
                  <a:extLst>
                    <a:ext uri="{9D8B030D-6E8A-4147-A177-3AD203B41FA5}">
                      <a16:colId xmlns:a16="http://schemas.microsoft.com/office/drawing/2014/main" val="3296636752"/>
                    </a:ext>
                  </a:extLst>
                </a:gridCol>
                <a:gridCol w="5172074">
                  <a:extLst>
                    <a:ext uri="{9D8B030D-6E8A-4147-A177-3AD203B41FA5}">
                      <a16:colId xmlns:a16="http://schemas.microsoft.com/office/drawing/2014/main" val="135830995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Corbel" panose="020B0503020204020204" pitchFamily="34" charset="0"/>
                        </a:rPr>
                        <a:t>2. </a:t>
                      </a:r>
                      <a:r>
                        <a:rPr lang="en-US" sz="2000" b="0" dirty="0">
                          <a:latin typeface="Corbel" panose="020B0503020204020204" pitchFamily="34" charset="0"/>
                        </a:rPr>
                        <a:t>During </a:t>
                      </a:r>
                      <a:r>
                        <a:rPr lang="en-US" sz="2000" b="1" u="sng" dirty="0">
                          <a:latin typeface="Corbel" panose="020B0503020204020204" pitchFamily="34" charset="0"/>
                        </a:rPr>
                        <a:t>execution</a:t>
                      </a:r>
                      <a:r>
                        <a:rPr lang="en-US" sz="2000" b="0" dirty="0">
                          <a:latin typeface="Corbel" panose="020B0503020204020204" pitchFamily="34" charset="0"/>
                        </a:rPr>
                        <a:t>, the </a:t>
                      </a:r>
                      <a:r>
                        <a:rPr lang="en-US" sz="2000" b="1" u="sng" dirty="0">
                          <a:latin typeface="Corbel" panose="020B0503020204020204" pitchFamily="34" charset="0"/>
                        </a:rPr>
                        <a:t>compiler is confused</a:t>
                      </a:r>
                      <a:r>
                        <a:rPr lang="en-US" sz="2000" b="0" dirty="0">
                          <a:latin typeface="Corbel" panose="020B0503020204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Corbel" panose="020B0503020204020204" pitchFamily="34" charset="0"/>
                        </a:rPr>
                        <a:t>Whether </a:t>
                      </a:r>
                      <a:r>
                        <a:rPr lang="en-US" sz="2000" b="0" u="sng" dirty="0">
                          <a:latin typeface="Corbel" panose="020B0503020204020204" pitchFamily="34" charset="0"/>
                        </a:rPr>
                        <a:t>"a" on the left side </a:t>
                      </a:r>
                      <a:r>
                        <a:rPr lang="en-US" sz="2000" b="0" dirty="0">
                          <a:latin typeface="Corbel" panose="020B0503020204020204" pitchFamily="34" charset="0"/>
                        </a:rPr>
                        <a:t>of the assigned operator is the </a:t>
                      </a:r>
                      <a:r>
                        <a:rPr lang="en-US" sz="2000" b="1" u="sng" dirty="0">
                          <a:latin typeface="Corbel" panose="020B0503020204020204" pitchFamily="34" charset="0"/>
                        </a:rPr>
                        <a:t>instance variable </a:t>
                      </a:r>
                      <a:r>
                        <a:rPr lang="en-US" sz="2000" b="0" dirty="0">
                          <a:latin typeface="Corbel" panose="020B0503020204020204" pitchFamily="34" charset="0"/>
                        </a:rPr>
                        <a:t>or the </a:t>
                      </a:r>
                      <a:r>
                        <a:rPr lang="en-US" sz="2000" b="1" u="sng" dirty="0">
                          <a:latin typeface="Corbel" panose="020B0503020204020204" pitchFamily="34" charset="0"/>
                        </a:rPr>
                        <a:t>local variable</a:t>
                      </a:r>
                      <a:r>
                        <a:rPr lang="en-US" sz="2000" b="0" dirty="0">
                          <a:latin typeface="Corbel" panose="020B0503020204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Corbel" panose="020B0503020204020204" pitchFamily="34" charset="0"/>
                        </a:rPr>
                        <a:t>Hence, it does not set the value of 'a' when the method set data is called.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Corbel" panose="020B0503020204020204" pitchFamily="34" charset="0"/>
                      </a:endParaRPr>
                    </a:p>
                    <a:p>
                      <a:endParaRPr lang="en-US" sz="2000" dirty="0">
                        <a:latin typeface="Corbel" panose="020B0503020204020204" pitchFamily="34" charset="0"/>
                      </a:endParaRPr>
                    </a:p>
                  </a:txBody>
                  <a:tcPr/>
                </a:tc>
                <a:tc>
                  <a:txBody>
                    <a:bodyPr/>
                    <a:lstStyle/>
                    <a:p>
                      <a:endParaRPr lang="en-US" sz="2000" dirty="0">
                        <a:latin typeface="Corbel" panose="020B0503020204020204" pitchFamily="34" charset="0"/>
                      </a:endParaRPr>
                    </a:p>
                  </a:txBody>
                  <a:tcPr/>
                </a:tc>
                <a:extLst>
                  <a:ext uri="{0D108BD9-81ED-4DB2-BD59-A6C34878D82A}">
                    <a16:rowId xmlns:a16="http://schemas.microsoft.com/office/drawing/2014/main" val="3152741548"/>
                  </a:ext>
                </a:extLst>
              </a:tr>
            </a:tbl>
          </a:graphicData>
        </a:graphic>
      </p:graphicFrame>
      <p:pic>
        <p:nvPicPr>
          <p:cNvPr id="3" name="Picture 2"/>
          <p:cNvPicPr>
            <a:picLocks noChangeAspect="1"/>
          </p:cNvPicPr>
          <p:nvPr/>
        </p:nvPicPr>
        <p:blipFill>
          <a:blip r:embed="rId3"/>
          <a:stretch>
            <a:fillRect/>
          </a:stretch>
        </p:blipFill>
        <p:spPr>
          <a:xfrm>
            <a:off x="6586538" y="1914985"/>
            <a:ext cx="4710112" cy="2685590"/>
          </a:xfrm>
          <a:prstGeom prst="rect">
            <a:avLst/>
          </a:prstGeom>
        </p:spPr>
      </p:pic>
    </p:spTree>
    <p:extLst>
      <p:ext uri="{BB962C8B-B14F-4D97-AF65-F5344CB8AC3E}">
        <p14:creationId xmlns:p14="http://schemas.microsoft.com/office/powerpoint/2010/main" val="1805807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This , That What ?? – What happened here?</a:t>
            </a:r>
          </a:p>
        </p:txBody>
      </p:sp>
      <p:graphicFrame>
        <p:nvGraphicFramePr>
          <p:cNvPr id="11" name="Table 10"/>
          <p:cNvGraphicFramePr>
            <a:graphicFrameLocks noGrp="1"/>
          </p:cNvGraphicFramePr>
          <p:nvPr>
            <p:extLst>
              <p:ext uri="{D42A27DB-BD31-4B8C-83A1-F6EECF244321}">
                <p14:modId xmlns:p14="http://schemas.microsoft.com/office/powerpoint/2010/main" val="4007820660"/>
              </p:ext>
            </p:extLst>
          </p:nvPr>
        </p:nvGraphicFramePr>
        <p:xfrm>
          <a:off x="1217611" y="1691216"/>
          <a:ext cx="10212388" cy="4663440"/>
        </p:xfrm>
        <a:graphic>
          <a:graphicData uri="http://schemas.openxmlformats.org/drawingml/2006/table">
            <a:tbl>
              <a:tblPr firstRow="1" bandRow="1">
                <a:tableStyleId>{5DA37D80-6434-44D0-A028-1B22A696006F}</a:tableStyleId>
              </a:tblPr>
              <a:tblGrid>
                <a:gridCol w="5040314">
                  <a:extLst>
                    <a:ext uri="{9D8B030D-6E8A-4147-A177-3AD203B41FA5}">
                      <a16:colId xmlns:a16="http://schemas.microsoft.com/office/drawing/2014/main" val="3296636752"/>
                    </a:ext>
                  </a:extLst>
                </a:gridCol>
                <a:gridCol w="5172074">
                  <a:extLst>
                    <a:ext uri="{9D8B030D-6E8A-4147-A177-3AD203B41FA5}">
                      <a16:colId xmlns:a16="http://schemas.microsoft.com/office/drawing/2014/main" val="135830995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Corbel" panose="020B0503020204020204" pitchFamily="34" charset="0"/>
                        </a:rPr>
                        <a:t>3. The solution is the "THIS" keyword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Corbel" panose="020B0503020204020204" pitchFamily="34" charset="0"/>
                        </a:rPr>
                        <a:t>Append both 'a' and 'b' with the "this" keyword followed by a dot (.) operator.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Corbel" panose="020B05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Corbel" panose="020B0503020204020204" pitchFamily="34" charset="0"/>
                      </a:endParaRPr>
                    </a:p>
                    <a:p>
                      <a:endParaRPr lang="en-US" sz="2000" dirty="0">
                        <a:latin typeface="Corbel" panose="020B0503020204020204" pitchFamily="34" charset="0"/>
                      </a:endParaRPr>
                    </a:p>
                  </a:txBody>
                  <a:tcPr/>
                </a:tc>
                <a:tc>
                  <a:txBody>
                    <a:bodyPr/>
                    <a:lstStyle/>
                    <a:p>
                      <a:endParaRPr lang="en-US" sz="2000" dirty="0">
                        <a:latin typeface="Corbel" panose="020B0503020204020204" pitchFamily="34" charset="0"/>
                      </a:endParaRPr>
                    </a:p>
                  </a:txBody>
                  <a:tcPr/>
                </a:tc>
                <a:extLst>
                  <a:ext uri="{0D108BD9-81ED-4DB2-BD59-A6C34878D82A}">
                    <a16:rowId xmlns:a16="http://schemas.microsoft.com/office/drawing/2014/main" val="3152741548"/>
                  </a:ext>
                </a:extLst>
              </a:tr>
            </a:tbl>
          </a:graphicData>
        </a:graphic>
      </p:graphicFrame>
      <p:pic>
        <p:nvPicPr>
          <p:cNvPr id="4" name="Picture 3"/>
          <p:cNvPicPr>
            <a:picLocks noChangeAspect="1"/>
          </p:cNvPicPr>
          <p:nvPr/>
        </p:nvPicPr>
        <p:blipFill>
          <a:blip r:embed="rId3"/>
          <a:stretch>
            <a:fillRect/>
          </a:stretch>
        </p:blipFill>
        <p:spPr>
          <a:xfrm>
            <a:off x="6543674" y="1878850"/>
            <a:ext cx="4677393" cy="4250488"/>
          </a:xfrm>
          <a:prstGeom prst="rect">
            <a:avLst/>
          </a:prstGeom>
        </p:spPr>
      </p:pic>
    </p:spTree>
    <p:extLst>
      <p:ext uri="{BB962C8B-B14F-4D97-AF65-F5344CB8AC3E}">
        <p14:creationId xmlns:p14="http://schemas.microsoft.com/office/powerpoint/2010/main" val="2116878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This , That What ?? – What happened here?</a:t>
            </a:r>
          </a:p>
        </p:txBody>
      </p:sp>
      <p:graphicFrame>
        <p:nvGraphicFramePr>
          <p:cNvPr id="11" name="Table 10"/>
          <p:cNvGraphicFramePr>
            <a:graphicFrameLocks noGrp="1"/>
          </p:cNvGraphicFramePr>
          <p:nvPr>
            <p:extLst>
              <p:ext uri="{D42A27DB-BD31-4B8C-83A1-F6EECF244321}">
                <p14:modId xmlns:p14="http://schemas.microsoft.com/office/powerpoint/2010/main" val="777317236"/>
              </p:ext>
            </p:extLst>
          </p:nvPr>
        </p:nvGraphicFramePr>
        <p:xfrm>
          <a:off x="1217611" y="1485900"/>
          <a:ext cx="10212388" cy="3923876"/>
        </p:xfrm>
        <a:graphic>
          <a:graphicData uri="http://schemas.openxmlformats.org/drawingml/2006/table">
            <a:tbl>
              <a:tblPr firstRow="1" bandRow="1">
                <a:tableStyleId>{5DA37D80-6434-44D0-A028-1B22A696006F}</a:tableStyleId>
              </a:tblPr>
              <a:tblGrid>
                <a:gridCol w="5040314">
                  <a:extLst>
                    <a:ext uri="{9D8B030D-6E8A-4147-A177-3AD203B41FA5}">
                      <a16:colId xmlns:a16="http://schemas.microsoft.com/office/drawing/2014/main" val="3296636752"/>
                    </a:ext>
                  </a:extLst>
                </a:gridCol>
                <a:gridCol w="5172074">
                  <a:extLst>
                    <a:ext uri="{9D8B030D-6E8A-4147-A177-3AD203B41FA5}">
                      <a16:colId xmlns:a16="http://schemas.microsoft.com/office/drawing/2014/main" val="1358309950"/>
                    </a:ext>
                  </a:extLst>
                </a:gridCol>
              </a:tblGrid>
              <a:tr h="39238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Corbel" panose="020B0503020204020204" pitchFamily="34" charset="0"/>
                        </a:rPr>
                        <a:t>4. </a:t>
                      </a:r>
                      <a:r>
                        <a:rPr lang="en-US" sz="2000" b="0" i="0" kern="1200" dirty="0">
                          <a:solidFill>
                            <a:schemeClr val="tx1"/>
                          </a:solidFill>
                          <a:effectLst/>
                          <a:latin typeface="Corbel" panose="020B0503020204020204" pitchFamily="34" charset="0"/>
                          <a:ea typeface="+mn-ea"/>
                          <a:cs typeface="+mn-cs"/>
                        </a:rPr>
                        <a:t>During code execution when an object calls the method 'setdata'. The keyword 'this' is replaced by the object handler "obj."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i="0" kern="1200" dirty="0">
                        <a:solidFill>
                          <a:schemeClr val="tx1"/>
                        </a:solidFill>
                        <a:effectLst/>
                        <a:latin typeface="Corbel" panose="020B0503020204020204" pitchFamily="34" charset="0"/>
                        <a:ea typeface="+mn-ea"/>
                        <a:cs typeface="+mn-cs"/>
                      </a:endParaRPr>
                    </a:p>
                    <a:p>
                      <a:r>
                        <a:rPr lang="en-US" sz="2000" b="0" i="0" kern="1200" dirty="0">
                          <a:solidFill>
                            <a:schemeClr val="tx1"/>
                          </a:solidFill>
                          <a:effectLst/>
                          <a:latin typeface="Corbel" panose="020B0503020204020204" pitchFamily="34" charset="0"/>
                          <a:ea typeface="+mn-ea"/>
                          <a:cs typeface="+mn-cs"/>
                        </a:rPr>
                        <a:t>So now the compiler knows,</a:t>
                      </a:r>
                    </a:p>
                    <a:p>
                      <a:r>
                        <a:rPr lang="en-US" sz="2000" b="0" i="0" kern="1200" dirty="0">
                          <a:solidFill>
                            <a:schemeClr val="tx1"/>
                          </a:solidFill>
                          <a:effectLst/>
                          <a:latin typeface="Corbel" panose="020B0503020204020204" pitchFamily="34" charset="0"/>
                          <a:ea typeface="+mn-ea"/>
                          <a:cs typeface="+mn-cs"/>
                        </a:rPr>
                        <a:t>The </a:t>
                      </a:r>
                      <a:r>
                        <a:rPr lang="en-US" sz="2000" b="1" i="0" u="sng" kern="1200" dirty="0">
                          <a:solidFill>
                            <a:schemeClr val="tx1"/>
                          </a:solidFill>
                          <a:effectLst/>
                          <a:latin typeface="Corbel" panose="020B0503020204020204" pitchFamily="34" charset="0"/>
                          <a:ea typeface="+mn-ea"/>
                          <a:cs typeface="+mn-cs"/>
                        </a:rPr>
                        <a:t>'a' on the left-hand side is an Instance variable</a:t>
                      </a:r>
                      <a:r>
                        <a:rPr lang="en-US" sz="2000" b="0" i="0" kern="1200" dirty="0">
                          <a:solidFill>
                            <a:schemeClr val="tx1"/>
                          </a:solidFill>
                          <a:effectLst/>
                          <a:latin typeface="Corbel" panose="020B0503020204020204" pitchFamily="34" charset="0"/>
                          <a:ea typeface="+mn-ea"/>
                          <a:cs typeface="+mn-cs"/>
                        </a:rPr>
                        <a:t>.</a:t>
                      </a:r>
                    </a:p>
                    <a:p>
                      <a:r>
                        <a:rPr lang="en-US" sz="2000" b="0" i="0" kern="1200" dirty="0">
                          <a:solidFill>
                            <a:schemeClr val="tx1"/>
                          </a:solidFill>
                          <a:effectLst/>
                          <a:latin typeface="Corbel" panose="020B0503020204020204" pitchFamily="34" charset="0"/>
                          <a:ea typeface="+mn-ea"/>
                          <a:cs typeface="+mn-cs"/>
                        </a:rPr>
                        <a:t>Whereas the </a:t>
                      </a:r>
                      <a:r>
                        <a:rPr lang="en-US" sz="2000" b="1" i="0" u="sng" kern="1200" dirty="0">
                          <a:solidFill>
                            <a:schemeClr val="tx1"/>
                          </a:solidFill>
                          <a:effectLst/>
                          <a:latin typeface="Corbel" panose="020B0503020204020204" pitchFamily="34" charset="0"/>
                          <a:ea typeface="+mn-ea"/>
                          <a:cs typeface="+mn-cs"/>
                        </a:rPr>
                        <a:t>'a' on right-hand side is a local variable</a:t>
                      </a:r>
                    </a:p>
                    <a:p>
                      <a:r>
                        <a:rPr lang="en-US" sz="2000" b="0" i="0" kern="1200" dirty="0">
                          <a:solidFill>
                            <a:schemeClr val="tx1"/>
                          </a:solidFill>
                          <a:effectLst/>
                          <a:latin typeface="Corbel" panose="020B0503020204020204" pitchFamily="34" charset="0"/>
                          <a:ea typeface="+mn-ea"/>
                          <a:cs typeface="+mn-cs"/>
                        </a:rPr>
                        <a:t>The variables are initialized correctly, and the expected output is shown.</a:t>
                      </a:r>
                      <a:endParaRPr lang="en-US" sz="2400" dirty="0">
                        <a:latin typeface="Corbel" panose="020B0503020204020204" pitchFamily="34" charset="0"/>
                      </a:endParaRPr>
                    </a:p>
                  </a:txBody>
                  <a:tcPr/>
                </a:tc>
                <a:tc>
                  <a:txBody>
                    <a:bodyPr/>
                    <a:lstStyle/>
                    <a:p>
                      <a:endParaRPr lang="en-US" sz="2000" dirty="0">
                        <a:latin typeface="Corbel" panose="020B0503020204020204" pitchFamily="34" charset="0"/>
                      </a:endParaRPr>
                    </a:p>
                  </a:txBody>
                  <a:tcPr/>
                </a:tc>
                <a:extLst>
                  <a:ext uri="{0D108BD9-81ED-4DB2-BD59-A6C34878D82A}">
                    <a16:rowId xmlns:a16="http://schemas.microsoft.com/office/drawing/2014/main" val="3152741548"/>
                  </a:ext>
                </a:extLst>
              </a:tr>
            </a:tbl>
          </a:graphicData>
        </a:graphic>
      </p:graphicFrame>
      <p:pic>
        <p:nvPicPr>
          <p:cNvPr id="3" name="Picture 2"/>
          <p:cNvPicPr>
            <a:picLocks noChangeAspect="1"/>
          </p:cNvPicPr>
          <p:nvPr/>
        </p:nvPicPr>
        <p:blipFill>
          <a:blip r:embed="rId3"/>
          <a:stretch>
            <a:fillRect/>
          </a:stretch>
        </p:blipFill>
        <p:spPr>
          <a:xfrm>
            <a:off x="6508819" y="1784010"/>
            <a:ext cx="4576763" cy="2862270"/>
          </a:xfrm>
          <a:prstGeom prst="rect">
            <a:avLst/>
          </a:prstGeom>
        </p:spPr>
      </p:pic>
      <p:pic>
        <p:nvPicPr>
          <p:cNvPr id="5" name="Picture 4"/>
          <p:cNvPicPr>
            <a:picLocks noChangeAspect="1"/>
          </p:cNvPicPr>
          <p:nvPr/>
        </p:nvPicPr>
        <p:blipFill>
          <a:blip r:embed="rId4"/>
          <a:stretch>
            <a:fillRect/>
          </a:stretch>
        </p:blipFill>
        <p:spPr>
          <a:xfrm>
            <a:off x="3399630" y="5053337"/>
            <a:ext cx="5848350" cy="1476375"/>
          </a:xfrm>
          <a:prstGeom prst="rect">
            <a:avLst/>
          </a:prstGeom>
        </p:spPr>
      </p:pic>
    </p:spTree>
    <p:extLst>
      <p:ext uri="{BB962C8B-B14F-4D97-AF65-F5344CB8AC3E}">
        <p14:creationId xmlns:p14="http://schemas.microsoft.com/office/powerpoint/2010/main" val="1871181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Passing Objects as Argument</a:t>
            </a:r>
          </a:p>
        </p:txBody>
      </p:sp>
      <p:sp>
        <p:nvSpPr>
          <p:cNvPr id="3" name="Content Placeholder 2"/>
          <p:cNvSpPr>
            <a:spLocks noGrp="1"/>
          </p:cNvSpPr>
          <p:nvPr>
            <p:ph idx="1"/>
          </p:nvPr>
        </p:nvSpPr>
        <p:spPr>
          <a:xfrm>
            <a:off x="391767" y="1471612"/>
            <a:ext cx="4637433" cy="5100638"/>
          </a:xfrm>
        </p:spPr>
        <p:txBody>
          <a:bodyPr>
            <a:noAutofit/>
          </a:bodyPr>
          <a:lstStyle/>
          <a:p>
            <a:pPr algn="just">
              <a:lnSpc>
                <a:spcPct val="150000"/>
              </a:lnSpc>
            </a:pPr>
            <a:r>
              <a:rPr lang="en-US" dirty="0">
                <a:latin typeface="Corbel" panose="020B0503020204020204" pitchFamily="34" charset="0"/>
              </a:rPr>
              <a:t>Java does manipulate objects by reference, and all object variables are references. However, Java doesn't pass method arguments by reference; it passes them by value.</a:t>
            </a:r>
          </a:p>
          <a:p>
            <a:pPr algn="just">
              <a:lnSpc>
                <a:spcPct val="150000"/>
              </a:lnSpc>
            </a:pPr>
            <a:r>
              <a:rPr lang="en-US" dirty="0">
                <a:latin typeface="Corbel" panose="020B0503020204020204" pitchFamily="34" charset="0"/>
              </a:rPr>
              <a:t>So far, we have only been using simple types as parameters to methods. However, it is both correct and common to pass objects to methods. For example, consider the following short program:</a:t>
            </a:r>
          </a:p>
        </p:txBody>
      </p:sp>
      <p:pic>
        <p:nvPicPr>
          <p:cNvPr id="4" name="Picture 3"/>
          <p:cNvPicPr>
            <a:picLocks noChangeAspect="1"/>
          </p:cNvPicPr>
          <p:nvPr/>
        </p:nvPicPr>
        <p:blipFill>
          <a:blip r:embed="rId3"/>
          <a:stretch>
            <a:fillRect/>
          </a:stretch>
        </p:blipFill>
        <p:spPr>
          <a:xfrm>
            <a:off x="5791200" y="1362074"/>
            <a:ext cx="5753100" cy="4962525"/>
          </a:xfrm>
          <a:prstGeom prst="rect">
            <a:avLst/>
          </a:prstGeom>
        </p:spPr>
      </p:pic>
    </p:spTree>
    <p:extLst>
      <p:ext uri="{BB962C8B-B14F-4D97-AF65-F5344CB8AC3E}">
        <p14:creationId xmlns:p14="http://schemas.microsoft.com/office/powerpoint/2010/main" val="4151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Passing Objects as Argument</a:t>
            </a:r>
          </a:p>
        </p:txBody>
      </p:sp>
      <p:sp>
        <p:nvSpPr>
          <p:cNvPr id="3" name="Content Placeholder 2"/>
          <p:cNvSpPr>
            <a:spLocks noGrp="1"/>
          </p:cNvSpPr>
          <p:nvPr>
            <p:ph idx="1"/>
          </p:nvPr>
        </p:nvSpPr>
        <p:spPr>
          <a:xfrm>
            <a:off x="391767" y="1471612"/>
            <a:ext cx="11266833" cy="5100638"/>
          </a:xfrm>
        </p:spPr>
        <p:txBody>
          <a:bodyPr>
            <a:noAutofit/>
          </a:bodyPr>
          <a:lstStyle/>
          <a:p>
            <a:r>
              <a:rPr lang="en-US" dirty="0">
                <a:latin typeface="Corbel" panose="020B0503020204020204" pitchFamily="34" charset="0"/>
              </a:rPr>
              <a:t>In general, there are two ways that a computer language can pass an argument to a subroutine.</a:t>
            </a:r>
          </a:p>
          <a:p>
            <a:r>
              <a:rPr lang="en-US" dirty="0">
                <a:latin typeface="Corbel" panose="020B0503020204020204" pitchFamily="34" charset="0"/>
              </a:rPr>
              <a:t>The first way is </a:t>
            </a:r>
            <a:r>
              <a:rPr lang="en-US" b="1" i="1" dirty="0">
                <a:solidFill>
                  <a:srgbClr val="C00000"/>
                </a:solidFill>
                <a:latin typeface="Corbel" panose="020B0503020204020204" pitchFamily="34" charset="0"/>
              </a:rPr>
              <a:t>call-by-value</a:t>
            </a:r>
            <a:r>
              <a:rPr lang="en-US" dirty="0">
                <a:latin typeface="Corbel" panose="020B0503020204020204" pitchFamily="34" charset="0"/>
              </a:rPr>
              <a:t>. </a:t>
            </a:r>
          </a:p>
          <a:p>
            <a:pPr lvl="1"/>
            <a:r>
              <a:rPr lang="en-US" sz="2000" dirty="0">
                <a:latin typeface="Corbel" panose="020B0503020204020204" pitchFamily="34" charset="0"/>
              </a:rPr>
              <a:t>This approach copies the </a:t>
            </a:r>
            <a:r>
              <a:rPr lang="en-US" sz="2000" b="1" i="1" u="sng" dirty="0">
                <a:latin typeface="Corbel" panose="020B0503020204020204" pitchFamily="34" charset="0"/>
              </a:rPr>
              <a:t>value </a:t>
            </a:r>
            <a:r>
              <a:rPr lang="en-US" sz="2000" b="1" u="sng" dirty="0">
                <a:latin typeface="Corbel" panose="020B0503020204020204" pitchFamily="34" charset="0"/>
              </a:rPr>
              <a:t>of an argument </a:t>
            </a:r>
            <a:r>
              <a:rPr lang="en-US" sz="2000" dirty="0">
                <a:latin typeface="Corbel" panose="020B0503020204020204" pitchFamily="34" charset="0"/>
              </a:rPr>
              <a:t>into the formal parameter of the subroutine. </a:t>
            </a:r>
          </a:p>
          <a:p>
            <a:pPr lvl="1"/>
            <a:r>
              <a:rPr lang="en-US" sz="2000" dirty="0">
                <a:latin typeface="Corbel" panose="020B0503020204020204" pitchFamily="34" charset="0"/>
              </a:rPr>
              <a:t>Therefore, changes made to the parameter of the subroutine have no effect on the argument. </a:t>
            </a:r>
          </a:p>
          <a:p>
            <a:r>
              <a:rPr lang="en-US" dirty="0">
                <a:latin typeface="Corbel" panose="020B0503020204020204" pitchFamily="34" charset="0"/>
              </a:rPr>
              <a:t>The second way an argument can be passed is </a:t>
            </a:r>
            <a:r>
              <a:rPr lang="en-US" b="1" i="1" dirty="0">
                <a:solidFill>
                  <a:srgbClr val="7030A0"/>
                </a:solidFill>
                <a:latin typeface="Corbel" panose="020B0503020204020204" pitchFamily="34" charset="0"/>
              </a:rPr>
              <a:t>call-by-reference</a:t>
            </a:r>
            <a:r>
              <a:rPr lang="en-US" dirty="0">
                <a:latin typeface="Corbel" panose="020B0503020204020204" pitchFamily="34" charset="0"/>
              </a:rPr>
              <a:t>.</a:t>
            </a:r>
          </a:p>
          <a:p>
            <a:pPr lvl="1"/>
            <a:r>
              <a:rPr lang="en-US" sz="2000" dirty="0">
                <a:latin typeface="Corbel" panose="020B0503020204020204" pitchFamily="34" charset="0"/>
              </a:rPr>
              <a:t>In this approach, </a:t>
            </a:r>
            <a:r>
              <a:rPr lang="en-US" sz="2000" b="1" u="sng" dirty="0">
                <a:latin typeface="Corbel" panose="020B0503020204020204" pitchFamily="34" charset="0"/>
              </a:rPr>
              <a:t>a reference to an argument</a:t>
            </a:r>
            <a:r>
              <a:rPr lang="en-US" sz="2000" dirty="0">
                <a:latin typeface="Corbel" panose="020B0503020204020204" pitchFamily="34" charset="0"/>
              </a:rPr>
              <a:t> (not the value of the argument) is passed to the parameter. </a:t>
            </a:r>
          </a:p>
          <a:p>
            <a:pPr lvl="1"/>
            <a:r>
              <a:rPr lang="en-US" sz="2000" dirty="0">
                <a:latin typeface="Corbel" panose="020B0503020204020204" pitchFamily="34" charset="0"/>
              </a:rPr>
              <a:t>Inside the subroutine, this reference is used to access the actual argument specified in the call. </a:t>
            </a:r>
          </a:p>
          <a:p>
            <a:pPr lvl="1"/>
            <a:r>
              <a:rPr lang="en-US" sz="2000" dirty="0">
                <a:latin typeface="Corbel" panose="020B0503020204020204" pitchFamily="34" charset="0"/>
              </a:rPr>
              <a:t>This means that changes made to the parameter will affect the argument used to call the subroutine. </a:t>
            </a:r>
          </a:p>
          <a:p>
            <a:r>
              <a:rPr lang="en-US" dirty="0">
                <a:latin typeface="Corbel" panose="020B0503020204020204" pitchFamily="34" charset="0"/>
              </a:rPr>
              <a:t>As you will see, although </a:t>
            </a:r>
            <a:r>
              <a:rPr lang="en-US" b="1" u="sng" dirty="0">
                <a:latin typeface="Corbel" panose="020B0503020204020204" pitchFamily="34" charset="0"/>
              </a:rPr>
              <a:t>Java uses call-by-value to pass all arguments</a:t>
            </a:r>
            <a:r>
              <a:rPr lang="en-US" dirty="0">
                <a:latin typeface="Corbel" panose="020B0503020204020204" pitchFamily="34" charset="0"/>
              </a:rPr>
              <a:t>, the </a:t>
            </a:r>
            <a:r>
              <a:rPr lang="en-US" b="1" u="sng" dirty="0">
                <a:latin typeface="Corbel" panose="020B0503020204020204" pitchFamily="34" charset="0"/>
              </a:rPr>
              <a:t>precise effect differs between whether a primitive type or a reference type is passed</a:t>
            </a:r>
            <a:r>
              <a:rPr lang="en-US" dirty="0">
                <a:latin typeface="Corbel" panose="020B0503020204020204" pitchFamily="34" charset="0"/>
              </a:rPr>
              <a:t>.</a:t>
            </a:r>
          </a:p>
        </p:txBody>
      </p:sp>
    </p:spTree>
    <p:extLst>
      <p:ext uri="{BB962C8B-B14F-4D97-AF65-F5344CB8AC3E}">
        <p14:creationId xmlns:p14="http://schemas.microsoft.com/office/powerpoint/2010/main" val="147414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Passing Objects as Argument</a:t>
            </a:r>
          </a:p>
        </p:txBody>
      </p:sp>
      <p:graphicFrame>
        <p:nvGraphicFramePr>
          <p:cNvPr id="11" name="Table 10"/>
          <p:cNvGraphicFramePr>
            <a:graphicFrameLocks noGrp="1"/>
          </p:cNvGraphicFramePr>
          <p:nvPr>
            <p:extLst>
              <p:ext uri="{D42A27DB-BD31-4B8C-83A1-F6EECF244321}">
                <p14:modId xmlns:p14="http://schemas.microsoft.com/office/powerpoint/2010/main" val="2778583122"/>
              </p:ext>
            </p:extLst>
          </p:nvPr>
        </p:nvGraphicFramePr>
        <p:xfrm>
          <a:off x="1104900" y="1432560"/>
          <a:ext cx="10212388" cy="5425440"/>
        </p:xfrm>
        <a:graphic>
          <a:graphicData uri="http://schemas.openxmlformats.org/drawingml/2006/table">
            <a:tbl>
              <a:tblPr firstRow="1" bandRow="1">
                <a:tableStyleId>{5DA37D80-6434-44D0-A028-1B22A696006F}</a:tableStyleId>
              </a:tblPr>
              <a:tblGrid>
                <a:gridCol w="5040314">
                  <a:extLst>
                    <a:ext uri="{9D8B030D-6E8A-4147-A177-3AD203B41FA5}">
                      <a16:colId xmlns:a16="http://schemas.microsoft.com/office/drawing/2014/main" val="3296636752"/>
                    </a:ext>
                  </a:extLst>
                </a:gridCol>
                <a:gridCol w="5172074">
                  <a:extLst>
                    <a:ext uri="{9D8B030D-6E8A-4147-A177-3AD203B41FA5}">
                      <a16:colId xmlns:a16="http://schemas.microsoft.com/office/drawing/2014/main" val="1358309950"/>
                    </a:ext>
                  </a:extLst>
                </a:gridCol>
              </a:tblGrid>
              <a:tr h="370840">
                <a:tc>
                  <a:txBody>
                    <a:bodyPr/>
                    <a:lstStyle/>
                    <a:p>
                      <a:pPr marL="342900" indent="-342900">
                        <a:lnSpc>
                          <a:spcPct val="150000"/>
                        </a:lnSpc>
                        <a:buFont typeface="Arial" panose="020B0604020202020204" pitchFamily="34" charset="0"/>
                        <a:buChar char="•"/>
                      </a:pPr>
                      <a:r>
                        <a:rPr lang="en-US" sz="2000" b="0" i="0" u="none" strike="noStrike" kern="1200" baseline="0" dirty="0">
                          <a:solidFill>
                            <a:schemeClr val="tx1"/>
                          </a:solidFill>
                          <a:latin typeface="Corbel" panose="020B0503020204020204" pitchFamily="34" charset="0"/>
                          <a:ea typeface="+mn-ea"/>
                          <a:cs typeface="+mn-cs"/>
                        </a:rPr>
                        <a:t>When you pass a </a:t>
                      </a:r>
                      <a:r>
                        <a:rPr lang="en-US" sz="2000" b="1" i="0" u="sng" strike="noStrike" kern="1200" baseline="0" dirty="0">
                          <a:solidFill>
                            <a:schemeClr val="tx1"/>
                          </a:solidFill>
                          <a:latin typeface="Corbel" panose="020B0503020204020204" pitchFamily="34" charset="0"/>
                          <a:ea typeface="+mn-ea"/>
                          <a:cs typeface="+mn-cs"/>
                        </a:rPr>
                        <a:t>primitive type</a:t>
                      </a:r>
                      <a:r>
                        <a:rPr lang="en-US" sz="2000" b="0" i="0" u="none" strike="noStrike" kern="1200" baseline="0" dirty="0">
                          <a:solidFill>
                            <a:schemeClr val="tx1"/>
                          </a:solidFill>
                          <a:latin typeface="Corbel" panose="020B0503020204020204" pitchFamily="34" charset="0"/>
                          <a:ea typeface="+mn-ea"/>
                          <a:cs typeface="+mn-cs"/>
                        </a:rPr>
                        <a:t> to a method, it is passed by value. </a:t>
                      </a:r>
                    </a:p>
                    <a:p>
                      <a:pPr marL="342900" indent="-342900">
                        <a:lnSpc>
                          <a:spcPct val="150000"/>
                        </a:lnSpc>
                        <a:buFont typeface="Arial" panose="020B0604020202020204" pitchFamily="34" charset="0"/>
                        <a:buChar char="•"/>
                      </a:pPr>
                      <a:r>
                        <a:rPr lang="en-US" sz="2000" b="0" i="0" u="none" strike="noStrike" kern="1200" baseline="0" dirty="0">
                          <a:solidFill>
                            <a:schemeClr val="tx1"/>
                          </a:solidFill>
                          <a:latin typeface="Corbel" panose="020B0503020204020204" pitchFamily="34" charset="0"/>
                          <a:ea typeface="+mn-ea"/>
                          <a:cs typeface="+mn-cs"/>
                        </a:rPr>
                        <a:t>Thus, a </a:t>
                      </a:r>
                      <a:r>
                        <a:rPr lang="en-US" sz="2000" b="1" i="0" u="sng" strike="noStrike" kern="1200" baseline="0" dirty="0">
                          <a:solidFill>
                            <a:schemeClr val="tx1"/>
                          </a:solidFill>
                          <a:latin typeface="Corbel" panose="020B0503020204020204" pitchFamily="34" charset="0"/>
                          <a:ea typeface="+mn-ea"/>
                          <a:cs typeface="+mn-cs"/>
                        </a:rPr>
                        <a:t>copy of the argument is made</a:t>
                      </a:r>
                      <a:r>
                        <a:rPr lang="en-US" sz="2000" b="0" i="0" u="none" strike="noStrike" kern="1200" baseline="0" dirty="0">
                          <a:solidFill>
                            <a:schemeClr val="tx1"/>
                          </a:solidFill>
                          <a:latin typeface="Corbel" panose="020B0503020204020204" pitchFamily="34" charset="0"/>
                          <a:ea typeface="+mn-ea"/>
                          <a:cs typeface="+mn-cs"/>
                        </a:rPr>
                        <a:t>, and what occurs to the parameter that receives the argument has </a:t>
                      </a:r>
                      <a:r>
                        <a:rPr lang="en-US" sz="2000" b="1" i="0" u="sng" strike="noStrike" kern="1200" baseline="0" dirty="0">
                          <a:solidFill>
                            <a:schemeClr val="tx1"/>
                          </a:solidFill>
                          <a:latin typeface="Corbel" panose="020B0503020204020204" pitchFamily="34" charset="0"/>
                          <a:ea typeface="+mn-ea"/>
                          <a:cs typeface="+mn-cs"/>
                        </a:rPr>
                        <a:t>no effect outside the method</a:t>
                      </a:r>
                    </a:p>
                    <a:p>
                      <a:pPr marL="342900" indent="-342900">
                        <a:lnSpc>
                          <a:spcPct val="150000"/>
                        </a:lnSpc>
                        <a:buFont typeface="Arial" panose="020B0604020202020204" pitchFamily="34" charset="0"/>
                        <a:buChar char="•"/>
                      </a:pPr>
                      <a:endParaRPr lang="en-US" sz="2000" b="1" i="0" u="sng" strike="noStrike" kern="1200" baseline="0" dirty="0">
                        <a:solidFill>
                          <a:schemeClr val="tx1"/>
                        </a:solidFill>
                        <a:latin typeface="Corbel" panose="020B0503020204020204" pitchFamily="34" charset="0"/>
                        <a:ea typeface="+mn-ea"/>
                        <a:cs typeface="+mn-cs"/>
                      </a:endParaRPr>
                    </a:p>
                    <a:p>
                      <a:pPr marL="342900" indent="-342900">
                        <a:lnSpc>
                          <a:spcPct val="150000"/>
                        </a:lnSpc>
                        <a:buFont typeface="Arial" panose="020B0604020202020204" pitchFamily="34" charset="0"/>
                        <a:buChar char="•"/>
                      </a:pPr>
                      <a:endParaRPr lang="en-US" sz="2000" b="1" i="0" u="sng" strike="noStrike" kern="1200" baseline="0" dirty="0">
                        <a:solidFill>
                          <a:schemeClr val="tx1"/>
                        </a:solidFill>
                        <a:latin typeface="Corbel" panose="020B0503020204020204" pitchFamily="34" charset="0"/>
                        <a:ea typeface="+mn-ea"/>
                        <a:cs typeface="+mn-cs"/>
                      </a:endParaRPr>
                    </a:p>
                    <a:p>
                      <a:pPr marL="342900" indent="-342900">
                        <a:lnSpc>
                          <a:spcPct val="150000"/>
                        </a:lnSpc>
                        <a:buFont typeface="Arial" panose="020B0604020202020204" pitchFamily="34" charset="0"/>
                        <a:buChar char="•"/>
                      </a:pPr>
                      <a:endParaRPr lang="en-US" sz="2000" b="1" i="0" u="sng" strike="noStrike" kern="1200" baseline="0" dirty="0">
                        <a:solidFill>
                          <a:schemeClr val="tx1"/>
                        </a:solidFill>
                        <a:latin typeface="Corbel" panose="020B0503020204020204" pitchFamily="34" charset="0"/>
                        <a:ea typeface="+mn-ea"/>
                        <a:cs typeface="+mn-cs"/>
                      </a:endParaRPr>
                    </a:p>
                    <a:p>
                      <a:pPr marL="342900" indent="-342900">
                        <a:lnSpc>
                          <a:spcPct val="150000"/>
                        </a:lnSpc>
                        <a:buFont typeface="Arial" panose="020B0604020202020204" pitchFamily="34" charset="0"/>
                        <a:buChar char="•"/>
                      </a:pPr>
                      <a:endParaRPr lang="en-US" sz="2000" b="1" i="0" u="sng" strike="noStrike" kern="1200" baseline="0" dirty="0">
                        <a:solidFill>
                          <a:schemeClr val="tx1"/>
                        </a:solidFill>
                        <a:latin typeface="Corbel" panose="020B0503020204020204" pitchFamily="34" charset="0"/>
                        <a:ea typeface="+mn-ea"/>
                        <a:cs typeface="+mn-cs"/>
                      </a:endParaRPr>
                    </a:p>
                    <a:p>
                      <a:pPr marL="342900" indent="-342900">
                        <a:lnSpc>
                          <a:spcPct val="150000"/>
                        </a:lnSpc>
                        <a:buFont typeface="Arial" panose="020B0604020202020204" pitchFamily="34" charset="0"/>
                        <a:buChar char="•"/>
                      </a:pPr>
                      <a:endParaRPr lang="en-US" sz="2000" dirty="0">
                        <a:latin typeface="Corbel" panose="020B0503020204020204" pitchFamily="34" charset="0"/>
                      </a:endParaRPr>
                    </a:p>
                    <a:p>
                      <a:endParaRPr lang="en-US" sz="2000" dirty="0">
                        <a:latin typeface="Corbel" panose="020B0503020204020204" pitchFamily="34" charset="0"/>
                      </a:endParaRPr>
                    </a:p>
                  </a:txBody>
                  <a:tcPr/>
                </a:tc>
                <a:tc>
                  <a:txBody>
                    <a:bodyPr/>
                    <a:lstStyle/>
                    <a:p>
                      <a:endParaRPr lang="en-US" sz="2000" dirty="0">
                        <a:latin typeface="Corbel" panose="020B0503020204020204" pitchFamily="34" charset="0"/>
                      </a:endParaRPr>
                    </a:p>
                  </a:txBody>
                  <a:tcPr/>
                </a:tc>
                <a:extLst>
                  <a:ext uri="{0D108BD9-81ED-4DB2-BD59-A6C34878D82A}">
                    <a16:rowId xmlns:a16="http://schemas.microsoft.com/office/drawing/2014/main" val="3152741548"/>
                  </a:ext>
                </a:extLst>
              </a:tr>
            </a:tbl>
          </a:graphicData>
        </a:graphic>
      </p:graphicFrame>
      <p:sp>
        <p:nvSpPr>
          <p:cNvPr id="5" name="Rectangle 4"/>
          <p:cNvSpPr/>
          <p:nvPr/>
        </p:nvSpPr>
        <p:spPr>
          <a:xfrm>
            <a:off x="6334125" y="1502688"/>
            <a:ext cx="4751457" cy="4832092"/>
          </a:xfrm>
          <a:prstGeom prst="rect">
            <a:avLst/>
          </a:prstGeom>
        </p:spPr>
        <p:txBody>
          <a:bodyPr wrap="square">
            <a:spAutoFit/>
          </a:bodyPr>
          <a:lstStyle/>
          <a:p>
            <a:r>
              <a:rPr lang="en-US" sz="1600" dirty="0">
                <a:latin typeface="Corbel" panose="020B0503020204020204" pitchFamily="34" charset="0"/>
              </a:rPr>
              <a:t>// Primitive types are passed by value.</a:t>
            </a:r>
          </a:p>
          <a:p>
            <a:r>
              <a:rPr lang="en-US" sz="1600" dirty="0">
                <a:solidFill>
                  <a:srgbClr val="7030A0"/>
                </a:solidFill>
                <a:latin typeface="Corbel" panose="020B0503020204020204" pitchFamily="34" charset="0"/>
              </a:rPr>
              <a:t>class Test </a:t>
            </a:r>
            <a:r>
              <a:rPr lang="en-US" sz="1600" dirty="0">
                <a:latin typeface="Corbel" panose="020B0503020204020204" pitchFamily="34" charset="0"/>
              </a:rPr>
              <a:t>{</a:t>
            </a:r>
          </a:p>
          <a:p>
            <a:r>
              <a:rPr lang="en-US" sz="1600" dirty="0">
                <a:latin typeface="Corbel" panose="020B0503020204020204" pitchFamily="34" charset="0"/>
              </a:rPr>
              <a:t>void meth(int i, int j) {</a:t>
            </a:r>
          </a:p>
          <a:p>
            <a:r>
              <a:rPr lang="en-US" sz="1600" dirty="0">
                <a:latin typeface="Corbel" panose="020B0503020204020204" pitchFamily="34" charset="0"/>
              </a:rPr>
              <a:t>	i *= 2;</a:t>
            </a:r>
          </a:p>
          <a:p>
            <a:r>
              <a:rPr lang="en-US" sz="1600" dirty="0">
                <a:latin typeface="Corbel" panose="020B0503020204020204" pitchFamily="34" charset="0"/>
              </a:rPr>
              <a:t>	j /= 2;</a:t>
            </a:r>
          </a:p>
          <a:p>
            <a:r>
              <a:rPr lang="en-US" sz="1600" dirty="0">
                <a:latin typeface="Corbel" panose="020B0503020204020204" pitchFamily="34" charset="0"/>
              </a:rPr>
              <a:t>   }</a:t>
            </a:r>
          </a:p>
          <a:p>
            <a:r>
              <a:rPr lang="en-US" sz="1600" dirty="0">
                <a:latin typeface="Corbel" panose="020B0503020204020204" pitchFamily="34" charset="0"/>
              </a:rPr>
              <a:t>}</a:t>
            </a:r>
          </a:p>
          <a:p>
            <a:endParaRPr lang="en-US" sz="1600" dirty="0">
              <a:latin typeface="Corbel" panose="020B0503020204020204" pitchFamily="34" charset="0"/>
            </a:endParaRPr>
          </a:p>
          <a:p>
            <a:r>
              <a:rPr lang="en-US" sz="1600" dirty="0">
                <a:solidFill>
                  <a:srgbClr val="7030A0"/>
                </a:solidFill>
                <a:latin typeface="Corbel" panose="020B0503020204020204" pitchFamily="34" charset="0"/>
              </a:rPr>
              <a:t>class CallByValue </a:t>
            </a:r>
            <a:r>
              <a:rPr lang="en-US" sz="1600" dirty="0">
                <a:latin typeface="Corbel" panose="020B0503020204020204" pitchFamily="34" charset="0"/>
              </a:rPr>
              <a:t>{</a:t>
            </a:r>
          </a:p>
          <a:p>
            <a:endParaRPr lang="en-US" sz="1600" dirty="0">
              <a:latin typeface="Corbel" panose="020B0503020204020204" pitchFamily="34" charset="0"/>
            </a:endParaRPr>
          </a:p>
          <a:p>
            <a:r>
              <a:rPr lang="en-US" sz="1600" dirty="0">
                <a:latin typeface="Corbel" panose="020B0503020204020204" pitchFamily="34" charset="0"/>
              </a:rPr>
              <a:t>public static void main(String args[]) {</a:t>
            </a:r>
          </a:p>
          <a:p>
            <a:r>
              <a:rPr lang="en-US" sz="1600" dirty="0">
                <a:latin typeface="Corbel" panose="020B0503020204020204" pitchFamily="34" charset="0"/>
              </a:rPr>
              <a:t>   Test ob = new Test();</a:t>
            </a:r>
          </a:p>
          <a:p>
            <a:r>
              <a:rPr lang="en-US" sz="1600" dirty="0">
                <a:latin typeface="Corbel" panose="020B0503020204020204" pitchFamily="34" charset="0"/>
              </a:rPr>
              <a:t>   int a = 15, b = 20;</a:t>
            </a:r>
          </a:p>
          <a:p>
            <a:r>
              <a:rPr lang="en-US" sz="1600" dirty="0">
                <a:latin typeface="Corbel" panose="020B0503020204020204" pitchFamily="34" charset="0"/>
              </a:rPr>
              <a:t>   System.out.println("a and b before call: " +    a + " " + b);</a:t>
            </a:r>
          </a:p>
          <a:p>
            <a:r>
              <a:rPr lang="en-US" sz="1600" dirty="0">
                <a:latin typeface="Corbel" panose="020B0503020204020204" pitchFamily="34" charset="0"/>
              </a:rPr>
              <a:t>   </a:t>
            </a:r>
            <a:r>
              <a:rPr lang="en-US" sz="1600" b="1" u="sng" dirty="0">
                <a:latin typeface="Corbel" panose="020B0503020204020204" pitchFamily="34" charset="0"/>
              </a:rPr>
              <a:t>ob.meth(a, b)</a:t>
            </a:r>
            <a:r>
              <a:rPr lang="en-US" sz="1600" dirty="0">
                <a:latin typeface="Corbel" panose="020B0503020204020204" pitchFamily="34" charset="0"/>
              </a:rPr>
              <a:t>;</a:t>
            </a:r>
          </a:p>
          <a:p>
            <a:r>
              <a:rPr lang="en-US" sz="1600" dirty="0">
                <a:latin typeface="Corbel" panose="020B0503020204020204" pitchFamily="34" charset="0"/>
              </a:rPr>
              <a:t>   System.out.println("a and b after call: " + a + " " + b);</a:t>
            </a:r>
          </a:p>
          <a:p>
            <a:r>
              <a:rPr lang="en-US" sz="1600" dirty="0">
                <a:latin typeface="Corbel" panose="020B0503020204020204" pitchFamily="34" charset="0"/>
              </a:rPr>
              <a:t> }</a:t>
            </a:r>
          </a:p>
          <a:p>
            <a:r>
              <a:rPr lang="en-US" sz="1600" dirty="0">
                <a:latin typeface="Corbel" panose="020B0503020204020204" pitchFamily="34" charset="0"/>
              </a:rPr>
              <a:t>}</a:t>
            </a:r>
          </a:p>
        </p:txBody>
      </p:sp>
    </p:spTree>
    <p:extLst>
      <p:ext uri="{BB962C8B-B14F-4D97-AF65-F5344CB8AC3E}">
        <p14:creationId xmlns:p14="http://schemas.microsoft.com/office/powerpoint/2010/main" val="1859123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Passing Objects as Argument</a:t>
            </a:r>
          </a:p>
        </p:txBody>
      </p:sp>
      <p:graphicFrame>
        <p:nvGraphicFramePr>
          <p:cNvPr id="11" name="Table 10"/>
          <p:cNvGraphicFramePr>
            <a:graphicFrameLocks noGrp="1"/>
          </p:cNvGraphicFramePr>
          <p:nvPr>
            <p:extLst>
              <p:ext uri="{D42A27DB-BD31-4B8C-83A1-F6EECF244321}">
                <p14:modId xmlns:p14="http://schemas.microsoft.com/office/powerpoint/2010/main" val="1837516832"/>
              </p:ext>
            </p:extLst>
          </p:nvPr>
        </p:nvGraphicFramePr>
        <p:xfrm>
          <a:off x="304799" y="1475423"/>
          <a:ext cx="11396663" cy="5029200"/>
        </p:xfrm>
        <a:graphic>
          <a:graphicData uri="http://schemas.openxmlformats.org/drawingml/2006/table">
            <a:tbl>
              <a:tblPr firstRow="1" bandRow="1">
                <a:tableStyleId>{5DA37D80-6434-44D0-A028-1B22A696006F}</a:tableStyleId>
              </a:tblPr>
              <a:tblGrid>
                <a:gridCol w="6096001">
                  <a:extLst>
                    <a:ext uri="{9D8B030D-6E8A-4147-A177-3AD203B41FA5}">
                      <a16:colId xmlns:a16="http://schemas.microsoft.com/office/drawing/2014/main" val="3296636752"/>
                    </a:ext>
                  </a:extLst>
                </a:gridCol>
                <a:gridCol w="5300662">
                  <a:extLst>
                    <a:ext uri="{9D8B030D-6E8A-4147-A177-3AD203B41FA5}">
                      <a16:colId xmlns:a16="http://schemas.microsoft.com/office/drawing/2014/main" val="1358309950"/>
                    </a:ext>
                  </a:extLst>
                </a:gridCol>
              </a:tblGrid>
              <a:tr h="370840">
                <a:tc>
                  <a:txBody>
                    <a:bodyPr/>
                    <a:lstStyle/>
                    <a:p>
                      <a:pPr marL="342900" indent="-342900" algn="just">
                        <a:lnSpc>
                          <a:spcPct val="150000"/>
                        </a:lnSpc>
                        <a:buFont typeface="Arial" panose="020B0604020202020204" pitchFamily="34" charset="0"/>
                        <a:buChar char="•"/>
                      </a:pPr>
                      <a:r>
                        <a:rPr lang="en-US" sz="1800" b="0" i="0" u="none" strike="noStrike" kern="1200" baseline="0" dirty="0">
                          <a:solidFill>
                            <a:schemeClr val="tx1"/>
                          </a:solidFill>
                          <a:latin typeface="Corbel" panose="020B0503020204020204" pitchFamily="34" charset="0"/>
                          <a:ea typeface="+mn-ea"/>
                          <a:cs typeface="+mn-cs"/>
                        </a:rPr>
                        <a:t>When you </a:t>
                      </a:r>
                      <a:r>
                        <a:rPr lang="en-US" sz="1800" b="1" i="0" u="sng" strike="noStrike" kern="1200" baseline="0" dirty="0">
                          <a:solidFill>
                            <a:schemeClr val="tx1"/>
                          </a:solidFill>
                          <a:latin typeface="Corbel" panose="020B0503020204020204" pitchFamily="34" charset="0"/>
                          <a:ea typeface="+mn-ea"/>
                          <a:cs typeface="+mn-cs"/>
                        </a:rPr>
                        <a:t>pass an object </a:t>
                      </a:r>
                      <a:r>
                        <a:rPr lang="en-US" sz="1800" b="0" i="0" u="none" strike="noStrike" kern="1200" baseline="0" dirty="0">
                          <a:solidFill>
                            <a:schemeClr val="tx1"/>
                          </a:solidFill>
                          <a:latin typeface="Corbel" panose="020B0503020204020204" pitchFamily="34" charset="0"/>
                          <a:ea typeface="+mn-ea"/>
                          <a:cs typeface="+mn-cs"/>
                        </a:rPr>
                        <a:t>to a method, the situation changes dramatically, because objects are </a:t>
                      </a:r>
                      <a:r>
                        <a:rPr lang="en-US" sz="1800" b="1" i="0" u="sng" strike="noStrike" kern="1200" baseline="0" dirty="0">
                          <a:solidFill>
                            <a:schemeClr val="tx1"/>
                          </a:solidFill>
                          <a:latin typeface="Corbel" panose="020B0503020204020204" pitchFamily="34" charset="0"/>
                          <a:ea typeface="+mn-ea"/>
                          <a:cs typeface="+mn-cs"/>
                        </a:rPr>
                        <a:t>passed by </a:t>
                      </a:r>
                      <a:r>
                        <a:rPr lang="en-US" sz="1800" b="0" i="0" u="none" strike="noStrike" kern="1200" baseline="0" dirty="0">
                          <a:solidFill>
                            <a:schemeClr val="tx1"/>
                          </a:solidFill>
                          <a:latin typeface="Corbel" panose="020B0503020204020204" pitchFamily="34" charset="0"/>
                          <a:ea typeface="+mn-ea"/>
                          <a:cs typeface="+mn-cs"/>
                        </a:rPr>
                        <a:t>what is effectively </a:t>
                      </a:r>
                      <a:r>
                        <a:rPr lang="en-US" sz="1800" b="1" i="0" u="sng" strike="noStrike" kern="1200" baseline="0" dirty="0">
                          <a:solidFill>
                            <a:schemeClr val="tx1"/>
                          </a:solidFill>
                          <a:latin typeface="Corbel" panose="020B0503020204020204" pitchFamily="34" charset="0"/>
                          <a:ea typeface="+mn-ea"/>
                          <a:cs typeface="+mn-cs"/>
                        </a:rPr>
                        <a:t>call-by-reference</a:t>
                      </a:r>
                      <a:r>
                        <a:rPr lang="en-US" sz="1800" b="0" i="0" u="none" strike="noStrike" kern="1200" baseline="0" dirty="0">
                          <a:solidFill>
                            <a:schemeClr val="tx1"/>
                          </a:solidFill>
                          <a:latin typeface="Corbel" panose="020B0503020204020204" pitchFamily="34" charset="0"/>
                          <a:ea typeface="+mn-ea"/>
                          <a:cs typeface="+mn-cs"/>
                        </a:rPr>
                        <a:t>. </a:t>
                      </a:r>
                    </a:p>
                    <a:p>
                      <a:pPr marL="342900" indent="-342900" algn="just">
                        <a:lnSpc>
                          <a:spcPct val="150000"/>
                        </a:lnSpc>
                        <a:buFont typeface="Arial" panose="020B0604020202020204" pitchFamily="34" charset="0"/>
                        <a:buChar char="•"/>
                      </a:pPr>
                      <a:r>
                        <a:rPr lang="en-US" sz="1800" b="0" i="0" u="none" strike="noStrike" kern="1200" baseline="0" dirty="0">
                          <a:solidFill>
                            <a:schemeClr val="tx1"/>
                          </a:solidFill>
                          <a:latin typeface="Corbel" panose="020B0503020204020204" pitchFamily="34" charset="0"/>
                          <a:ea typeface="+mn-ea"/>
                          <a:cs typeface="+mn-cs"/>
                        </a:rPr>
                        <a:t>Keep in mind that when you </a:t>
                      </a:r>
                      <a:r>
                        <a:rPr lang="en-US" sz="1800" b="1" i="0" u="sng" strike="noStrike" kern="1200" baseline="0" dirty="0">
                          <a:solidFill>
                            <a:schemeClr val="tx1"/>
                          </a:solidFill>
                          <a:latin typeface="Corbel" panose="020B0503020204020204" pitchFamily="34" charset="0"/>
                          <a:ea typeface="+mn-ea"/>
                          <a:cs typeface="+mn-cs"/>
                        </a:rPr>
                        <a:t>create a variable </a:t>
                      </a:r>
                      <a:r>
                        <a:rPr lang="en-US" sz="1800" b="0" i="0" u="none" strike="noStrike" kern="1200" baseline="0" dirty="0">
                          <a:solidFill>
                            <a:schemeClr val="tx1"/>
                          </a:solidFill>
                          <a:latin typeface="Corbel" panose="020B0503020204020204" pitchFamily="34" charset="0"/>
                          <a:ea typeface="+mn-ea"/>
                          <a:cs typeface="+mn-cs"/>
                        </a:rPr>
                        <a:t>of a </a:t>
                      </a:r>
                      <a:r>
                        <a:rPr lang="en-US" sz="1800" b="1" i="0" u="sng" strike="noStrike" kern="1200" baseline="0" dirty="0">
                          <a:solidFill>
                            <a:schemeClr val="tx1"/>
                          </a:solidFill>
                          <a:latin typeface="Corbel" panose="020B0503020204020204" pitchFamily="34" charset="0"/>
                          <a:ea typeface="+mn-ea"/>
                          <a:cs typeface="+mn-cs"/>
                        </a:rPr>
                        <a:t>class type</a:t>
                      </a:r>
                      <a:r>
                        <a:rPr lang="en-US" sz="1800" b="0" i="0" u="none" strike="noStrike" kern="1200" baseline="0" dirty="0">
                          <a:solidFill>
                            <a:schemeClr val="tx1"/>
                          </a:solidFill>
                          <a:latin typeface="Corbel" panose="020B0503020204020204" pitchFamily="34" charset="0"/>
                          <a:ea typeface="+mn-ea"/>
                          <a:cs typeface="+mn-cs"/>
                        </a:rPr>
                        <a:t>, you are only </a:t>
                      </a:r>
                      <a:r>
                        <a:rPr lang="en-US" sz="1800" b="1" i="0" u="sng" strike="noStrike" kern="1200" baseline="0" dirty="0">
                          <a:solidFill>
                            <a:schemeClr val="tx1"/>
                          </a:solidFill>
                          <a:latin typeface="Corbel" panose="020B0503020204020204" pitchFamily="34" charset="0"/>
                          <a:ea typeface="+mn-ea"/>
                          <a:cs typeface="+mn-cs"/>
                        </a:rPr>
                        <a:t>creating a reference</a:t>
                      </a:r>
                      <a:r>
                        <a:rPr lang="en-US" sz="1800" b="0" i="0" u="none" strike="noStrike" kern="1200" baseline="0" dirty="0">
                          <a:solidFill>
                            <a:schemeClr val="tx1"/>
                          </a:solidFill>
                          <a:latin typeface="Corbel" panose="020B0503020204020204" pitchFamily="34" charset="0"/>
                          <a:ea typeface="+mn-ea"/>
                          <a:cs typeface="+mn-cs"/>
                        </a:rPr>
                        <a:t> to an object. </a:t>
                      </a:r>
                    </a:p>
                    <a:p>
                      <a:pPr marL="342900" indent="-342900" algn="just">
                        <a:lnSpc>
                          <a:spcPct val="150000"/>
                        </a:lnSpc>
                        <a:buFont typeface="Arial" panose="020B0604020202020204" pitchFamily="34" charset="0"/>
                        <a:buChar char="•"/>
                      </a:pPr>
                      <a:r>
                        <a:rPr lang="en-US" sz="1800" b="0" i="0" u="none" strike="noStrike" kern="1200" baseline="0" dirty="0">
                          <a:solidFill>
                            <a:schemeClr val="tx1"/>
                          </a:solidFill>
                          <a:latin typeface="Corbel" panose="020B0503020204020204" pitchFamily="34" charset="0"/>
                          <a:ea typeface="+mn-ea"/>
                          <a:cs typeface="+mn-cs"/>
                        </a:rPr>
                        <a:t>Thus, when you </a:t>
                      </a:r>
                      <a:r>
                        <a:rPr lang="en-US" sz="1800" b="1" i="0" u="sng" strike="noStrike" kern="1200" baseline="0" dirty="0">
                          <a:solidFill>
                            <a:schemeClr val="tx1"/>
                          </a:solidFill>
                          <a:latin typeface="Corbel" panose="020B0503020204020204" pitchFamily="34" charset="0"/>
                          <a:ea typeface="+mn-ea"/>
                          <a:cs typeface="+mn-cs"/>
                        </a:rPr>
                        <a:t>pass this reference to a method</a:t>
                      </a:r>
                      <a:r>
                        <a:rPr lang="en-US" sz="1800" b="0" i="0" u="none" strike="noStrike" kern="1200" baseline="0" dirty="0">
                          <a:solidFill>
                            <a:schemeClr val="tx1"/>
                          </a:solidFill>
                          <a:latin typeface="Corbel" panose="020B0503020204020204" pitchFamily="34" charset="0"/>
                          <a:ea typeface="+mn-ea"/>
                          <a:cs typeface="+mn-cs"/>
                        </a:rPr>
                        <a:t>, the parameter that </a:t>
                      </a:r>
                      <a:r>
                        <a:rPr lang="en-US" sz="1800" b="1" i="0" u="sng" strike="noStrike" kern="1200" baseline="0" dirty="0">
                          <a:solidFill>
                            <a:schemeClr val="tx1"/>
                          </a:solidFill>
                          <a:latin typeface="Corbel" panose="020B0503020204020204" pitchFamily="34" charset="0"/>
                          <a:ea typeface="+mn-ea"/>
                          <a:cs typeface="+mn-cs"/>
                        </a:rPr>
                        <a:t>receives it</a:t>
                      </a:r>
                      <a:r>
                        <a:rPr lang="en-US" sz="1800" b="0" i="0" u="none" strike="noStrike" kern="1200" baseline="0" dirty="0">
                          <a:solidFill>
                            <a:schemeClr val="tx1"/>
                          </a:solidFill>
                          <a:latin typeface="Corbel" panose="020B0503020204020204" pitchFamily="34" charset="0"/>
                          <a:ea typeface="+mn-ea"/>
                          <a:cs typeface="+mn-cs"/>
                        </a:rPr>
                        <a:t> will </a:t>
                      </a:r>
                      <a:r>
                        <a:rPr lang="en-US" sz="1800" b="1" i="0" u="sng" strike="noStrike" kern="1200" baseline="0" dirty="0">
                          <a:solidFill>
                            <a:schemeClr val="tx1"/>
                          </a:solidFill>
                          <a:latin typeface="Corbel" panose="020B0503020204020204" pitchFamily="34" charset="0"/>
                          <a:ea typeface="+mn-ea"/>
                          <a:cs typeface="+mn-cs"/>
                        </a:rPr>
                        <a:t>refer to the same object </a:t>
                      </a:r>
                      <a:r>
                        <a:rPr lang="en-US" sz="1800" b="0" i="0" u="none" strike="noStrike" kern="1200" baseline="0" dirty="0">
                          <a:solidFill>
                            <a:schemeClr val="tx1"/>
                          </a:solidFill>
                          <a:latin typeface="Corbel" panose="020B0503020204020204" pitchFamily="34" charset="0"/>
                          <a:ea typeface="+mn-ea"/>
                          <a:cs typeface="+mn-cs"/>
                        </a:rPr>
                        <a:t>as that referred to by the argument. </a:t>
                      </a:r>
                    </a:p>
                    <a:p>
                      <a:pPr marL="342900" indent="-342900" algn="just">
                        <a:lnSpc>
                          <a:spcPct val="150000"/>
                        </a:lnSpc>
                        <a:buFont typeface="Arial" panose="020B0604020202020204" pitchFamily="34" charset="0"/>
                        <a:buChar char="•"/>
                      </a:pPr>
                      <a:r>
                        <a:rPr lang="en-US" sz="1800" b="0" i="0" u="none" strike="noStrike" kern="1200" baseline="0" dirty="0">
                          <a:solidFill>
                            <a:schemeClr val="tx1"/>
                          </a:solidFill>
                          <a:latin typeface="Corbel" panose="020B0503020204020204" pitchFamily="34" charset="0"/>
                          <a:ea typeface="+mn-ea"/>
                          <a:cs typeface="+mn-cs"/>
                        </a:rPr>
                        <a:t>This effectively means that </a:t>
                      </a:r>
                      <a:r>
                        <a:rPr lang="en-US" sz="1800" b="1" i="0" u="sng" strike="noStrike" kern="1200" baseline="0" dirty="0">
                          <a:solidFill>
                            <a:schemeClr val="tx1"/>
                          </a:solidFill>
                          <a:latin typeface="Corbel" panose="020B0503020204020204" pitchFamily="34" charset="0"/>
                          <a:ea typeface="+mn-ea"/>
                          <a:cs typeface="+mn-cs"/>
                        </a:rPr>
                        <a:t>objects act</a:t>
                      </a:r>
                      <a:r>
                        <a:rPr lang="en-US" sz="1800" b="0" i="0" u="none" strike="noStrike" kern="1200" baseline="0" dirty="0">
                          <a:solidFill>
                            <a:schemeClr val="tx1"/>
                          </a:solidFill>
                          <a:latin typeface="Corbel" panose="020B0503020204020204" pitchFamily="34" charset="0"/>
                          <a:ea typeface="+mn-ea"/>
                          <a:cs typeface="+mn-cs"/>
                        </a:rPr>
                        <a:t> as if they are passed to methods by use of </a:t>
                      </a:r>
                      <a:r>
                        <a:rPr lang="en-US" sz="1800" b="1" i="0" u="sng" strike="noStrike" kern="1200" baseline="0" dirty="0">
                          <a:solidFill>
                            <a:schemeClr val="tx1"/>
                          </a:solidFill>
                          <a:latin typeface="Corbel" panose="020B0503020204020204" pitchFamily="34" charset="0"/>
                          <a:ea typeface="+mn-ea"/>
                          <a:cs typeface="+mn-cs"/>
                        </a:rPr>
                        <a:t>call-by-reference</a:t>
                      </a:r>
                      <a:r>
                        <a:rPr lang="en-US" sz="1800" b="0" i="0" u="none" strike="noStrike" kern="1200" baseline="0" dirty="0">
                          <a:solidFill>
                            <a:schemeClr val="tx1"/>
                          </a:solidFill>
                          <a:latin typeface="Corbel" panose="020B0503020204020204" pitchFamily="34" charset="0"/>
                          <a:ea typeface="+mn-ea"/>
                          <a:cs typeface="+mn-cs"/>
                        </a:rPr>
                        <a:t>. </a:t>
                      </a:r>
                    </a:p>
                    <a:p>
                      <a:pPr marL="342900" indent="-342900" algn="just">
                        <a:lnSpc>
                          <a:spcPct val="150000"/>
                        </a:lnSpc>
                        <a:buFont typeface="Arial" panose="020B0604020202020204" pitchFamily="34" charset="0"/>
                        <a:buChar char="•"/>
                      </a:pPr>
                      <a:r>
                        <a:rPr lang="en-US" sz="1800" b="0" i="0" u="none" strike="noStrike" kern="1200" baseline="0" dirty="0">
                          <a:solidFill>
                            <a:schemeClr val="tx1"/>
                          </a:solidFill>
                          <a:latin typeface="Corbel" panose="020B0503020204020204" pitchFamily="34" charset="0"/>
                          <a:ea typeface="+mn-ea"/>
                          <a:cs typeface="+mn-cs"/>
                        </a:rPr>
                        <a:t>Changes to the object inside the method </a:t>
                      </a:r>
                      <a:r>
                        <a:rPr lang="en-US" sz="1800" b="1" i="1" u="sng" strike="noStrike" kern="1200" baseline="0" dirty="0">
                          <a:solidFill>
                            <a:schemeClr val="tx1"/>
                          </a:solidFill>
                          <a:latin typeface="Corbel" panose="020B0503020204020204" pitchFamily="34" charset="0"/>
                          <a:ea typeface="+mn-ea"/>
                          <a:cs typeface="+mn-cs"/>
                        </a:rPr>
                        <a:t>do </a:t>
                      </a:r>
                      <a:r>
                        <a:rPr lang="en-US" sz="1800" b="1" i="0" u="sng" strike="noStrike" kern="1200" baseline="0" dirty="0">
                          <a:solidFill>
                            <a:schemeClr val="tx1"/>
                          </a:solidFill>
                          <a:latin typeface="Corbel" panose="020B0503020204020204" pitchFamily="34" charset="0"/>
                          <a:ea typeface="+mn-ea"/>
                          <a:cs typeface="+mn-cs"/>
                        </a:rPr>
                        <a:t>affect </a:t>
                      </a:r>
                      <a:r>
                        <a:rPr lang="en-US" sz="1800" b="0" i="0" u="none" strike="noStrike" kern="1200" baseline="0" dirty="0">
                          <a:solidFill>
                            <a:schemeClr val="tx1"/>
                          </a:solidFill>
                          <a:latin typeface="Corbel" panose="020B0503020204020204" pitchFamily="34" charset="0"/>
                          <a:ea typeface="+mn-ea"/>
                          <a:cs typeface="+mn-cs"/>
                        </a:rPr>
                        <a:t>the object used as an argument.</a:t>
                      </a:r>
                      <a:endParaRPr lang="en-US" sz="1800" dirty="0">
                        <a:latin typeface="Corbel" panose="020B0503020204020204" pitchFamily="34" charset="0"/>
                      </a:endParaRPr>
                    </a:p>
                  </a:txBody>
                  <a:tcPr/>
                </a:tc>
                <a:tc>
                  <a:txBody>
                    <a:bodyPr/>
                    <a:lstStyle/>
                    <a:p>
                      <a:endParaRPr lang="en-US" sz="2000" dirty="0">
                        <a:latin typeface="Corbel" panose="020B0503020204020204" pitchFamily="34" charset="0"/>
                      </a:endParaRPr>
                    </a:p>
                  </a:txBody>
                  <a:tcPr/>
                </a:tc>
                <a:extLst>
                  <a:ext uri="{0D108BD9-81ED-4DB2-BD59-A6C34878D82A}">
                    <a16:rowId xmlns:a16="http://schemas.microsoft.com/office/drawing/2014/main" val="3152741548"/>
                  </a:ext>
                </a:extLst>
              </a:tr>
            </a:tbl>
          </a:graphicData>
        </a:graphic>
      </p:graphicFrame>
      <p:pic>
        <p:nvPicPr>
          <p:cNvPr id="3" name="Picture 2"/>
          <p:cNvPicPr>
            <a:picLocks noChangeAspect="1"/>
          </p:cNvPicPr>
          <p:nvPr/>
        </p:nvPicPr>
        <p:blipFill>
          <a:blip r:embed="rId3"/>
          <a:stretch>
            <a:fillRect/>
          </a:stretch>
        </p:blipFill>
        <p:spPr>
          <a:xfrm>
            <a:off x="6529387" y="1595436"/>
            <a:ext cx="5186688" cy="4533901"/>
          </a:xfrm>
          <a:prstGeom prst="rect">
            <a:avLst/>
          </a:prstGeom>
        </p:spPr>
      </p:pic>
    </p:spTree>
    <p:extLst>
      <p:ext uri="{BB962C8B-B14F-4D97-AF65-F5344CB8AC3E}">
        <p14:creationId xmlns:p14="http://schemas.microsoft.com/office/powerpoint/2010/main" val="2654004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Passing Objects as Argument</a:t>
            </a:r>
          </a:p>
        </p:txBody>
      </p:sp>
      <p:graphicFrame>
        <p:nvGraphicFramePr>
          <p:cNvPr id="11" name="Table 10"/>
          <p:cNvGraphicFramePr>
            <a:graphicFrameLocks noGrp="1"/>
          </p:cNvGraphicFramePr>
          <p:nvPr>
            <p:extLst>
              <p:ext uri="{D42A27DB-BD31-4B8C-83A1-F6EECF244321}">
                <p14:modId xmlns:p14="http://schemas.microsoft.com/office/powerpoint/2010/main" val="2512232399"/>
              </p:ext>
            </p:extLst>
          </p:nvPr>
        </p:nvGraphicFramePr>
        <p:xfrm>
          <a:off x="304799" y="1475423"/>
          <a:ext cx="11396663" cy="5029200"/>
        </p:xfrm>
        <a:graphic>
          <a:graphicData uri="http://schemas.openxmlformats.org/drawingml/2006/table">
            <a:tbl>
              <a:tblPr firstRow="1" bandRow="1">
                <a:tableStyleId>{5DA37D80-6434-44D0-A028-1B22A696006F}</a:tableStyleId>
              </a:tblPr>
              <a:tblGrid>
                <a:gridCol w="6096001">
                  <a:extLst>
                    <a:ext uri="{9D8B030D-6E8A-4147-A177-3AD203B41FA5}">
                      <a16:colId xmlns:a16="http://schemas.microsoft.com/office/drawing/2014/main" val="3296636752"/>
                    </a:ext>
                  </a:extLst>
                </a:gridCol>
                <a:gridCol w="5300662">
                  <a:extLst>
                    <a:ext uri="{9D8B030D-6E8A-4147-A177-3AD203B41FA5}">
                      <a16:colId xmlns:a16="http://schemas.microsoft.com/office/drawing/2014/main" val="1358309950"/>
                    </a:ext>
                  </a:extLst>
                </a:gridCol>
              </a:tblGrid>
              <a:tr h="370840">
                <a:tc>
                  <a:txBody>
                    <a:bodyPr/>
                    <a:lstStyle/>
                    <a:p>
                      <a:pPr marL="342900" indent="-342900" algn="just">
                        <a:lnSpc>
                          <a:spcPct val="150000"/>
                        </a:lnSpc>
                        <a:buFont typeface="Arial" panose="020B0604020202020204" pitchFamily="34" charset="0"/>
                        <a:buChar char="•"/>
                      </a:pPr>
                      <a:endParaRPr lang="en-US" sz="1800" dirty="0">
                        <a:latin typeface="Corbel" panose="020B0503020204020204" pitchFamily="34" charset="0"/>
                      </a:endParaRPr>
                    </a:p>
                    <a:p>
                      <a:pPr marL="342900" indent="-342900" algn="just">
                        <a:lnSpc>
                          <a:spcPct val="150000"/>
                        </a:lnSpc>
                        <a:buFont typeface="Arial" panose="020B0604020202020204" pitchFamily="34" charset="0"/>
                        <a:buChar char="•"/>
                      </a:pPr>
                      <a:endParaRPr lang="en-US" sz="1800" dirty="0">
                        <a:latin typeface="Corbel" panose="020B0503020204020204" pitchFamily="34" charset="0"/>
                      </a:endParaRPr>
                    </a:p>
                    <a:p>
                      <a:pPr marL="342900" indent="-342900" algn="just">
                        <a:lnSpc>
                          <a:spcPct val="150000"/>
                        </a:lnSpc>
                        <a:buFont typeface="Arial" panose="020B0604020202020204" pitchFamily="34" charset="0"/>
                        <a:buChar char="•"/>
                      </a:pPr>
                      <a:endParaRPr lang="en-US" sz="1800" dirty="0">
                        <a:latin typeface="Corbel" panose="020B0503020204020204" pitchFamily="34" charset="0"/>
                      </a:endParaRPr>
                    </a:p>
                    <a:p>
                      <a:pPr marL="342900" indent="-342900" algn="just">
                        <a:lnSpc>
                          <a:spcPct val="150000"/>
                        </a:lnSpc>
                        <a:buFont typeface="Arial" panose="020B0604020202020204" pitchFamily="34" charset="0"/>
                        <a:buChar char="•"/>
                      </a:pPr>
                      <a:endParaRPr lang="en-US" sz="1800" dirty="0">
                        <a:latin typeface="Corbel" panose="020B0503020204020204" pitchFamily="34" charset="0"/>
                      </a:endParaRPr>
                    </a:p>
                    <a:p>
                      <a:pPr marL="342900" indent="-342900" algn="just">
                        <a:lnSpc>
                          <a:spcPct val="150000"/>
                        </a:lnSpc>
                        <a:buFont typeface="Arial" panose="020B0604020202020204" pitchFamily="34" charset="0"/>
                        <a:buChar char="•"/>
                      </a:pPr>
                      <a:endParaRPr lang="en-US" sz="1800" dirty="0">
                        <a:latin typeface="Corbel" panose="020B0503020204020204" pitchFamily="34" charset="0"/>
                      </a:endParaRPr>
                    </a:p>
                    <a:p>
                      <a:pPr marL="342900" indent="-342900" algn="just">
                        <a:lnSpc>
                          <a:spcPct val="150000"/>
                        </a:lnSpc>
                        <a:buFont typeface="Arial" panose="020B0604020202020204" pitchFamily="34" charset="0"/>
                        <a:buChar char="•"/>
                      </a:pPr>
                      <a:endParaRPr lang="en-US" sz="1800" dirty="0">
                        <a:latin typeface="Corbel" panose="020B0503020204020204" pitchFamily="34" charset="0"/>
                      </a:endParaRPr>
                    </a:p>
                    <a:p>
                      <a:pPr marL="342900" indent="-342900" algn="just">
                        <a:lnSpc>
                          <a:spcPct val="150000"/>
                        </a:lnSpc>
                        <a:buFont typeface="Arial" panose="020B0604020202020204" pitchFamily="34" charset="0"/>
                        <a:buChar char="•"/>
                      </a:pPr>
                      <a:endParaRPr lang="en-US" sz="1800" dirty="0">
                        <a:latin typeface="Corbel" panose="020B0503020204020204" pitchFamily="34" charset="0"/>
                      </a:endParaRPr>
                    </a:p>
                    <a:p>
                      <a:pPr marL="342900" indent="-342900" algn="just">
                        <a:lnSpc>
                          <a:spcPct val="150000"/>
                        </a:lnSpc>
                        <a:buFont typeface="Arial" panose="020B0604020202020204" pitchFamily="34" charset="0"/>
                        <a:buChar char="•"/>
                      </a:pPr>
                      <a:endParaRPr lang="en-US" sz="1800" dirty="0">
                        <a:latin typeface="Corbel" panose="020B0503020204020204" pitchFamily="34" charset="0"/>
                      </a:endParaRPr>
                    </a:p>
                    <a:p>
                      <a:pPr marL="342900" indent="-342900" algn="just">
                        <a:lnSpc>
                          <a:spcPct val="150000"/>
                        </a:lnSpc>
                        <a:buFont typeface="Arial" panose="020B0604020202020204" pitchFamily="34" charset="0"/>
                        <a:buChar char="•"/>
                      </a:pPr>
                      <a:endParaRPr lang="en-US" sz="1800" dirty="0">
                        <a:latin typeface="Corbel" panose="020B0503020204020204" pitchFamily="34" charset="0"/>
                      </a:endParaRPr>
                    </a:p>
                    <a:p>
                      <a:pPr marL="342900" indent="-342900" algn="just">
                        <a:lnSpc>
                          <a:spcPct val="150000"/>
                        </a:lnSpc>
                        <a:buFont typeface="Arial" panose="020B0604020202020204" pitchFamily="34" charset="0"/>
                        <a:buChar char="•"/>
                      </a:pPr>
                      <a:endParaRPr lang="en-US" sz="1800" dirty="0">
                        <a:latin typeface="Corbel" panose="020B0503020204020204" pitchFamily="34" charset="0"/>
                      </a:endParaRPr>
                    </a:p>
                    <a:p>
                      <a:pPr marL="342900" indent="-342900" algn="just">
                        <a:lnSpc>
                          <a:spcPct val="150000"/>
                        </a:lnSpc>
                        <a:buFont typeface="Arial" panose="020B0604020202020204" pitchFamily="34" charset="0"/>
                        <a:buChar char="•"/>
                      </a:pPr>
                      <a:endParaRPr lang="en-US" sz="1800" dirty="0">
                        <a:latin typeface="Corbel" panose="020B0503020204020204" pitchFamily="34" charset="0"/>
                      </a:endParaRPr>
                    </a:p>
                    <a:p>
                      <a:pPr marL="342900" indent="-342900" algn="just">
                        <a:lnSpc>
                          <a:spcPct val="150000"/>
                        </a:lnSpc>
                        <a:buFont typeface="Arial" panose="020B0604020202020204" pitchFamily="34" charset="0"/>
                        <a:buChar char="•"/>
                      </a:pPr>
                      <a:endParaRPr lang="en-US" sz="1800" dirty="0">
                        <a:latin typeface="Corbel" panose="020B0503020204020204" pitchFamily="34" charset="0"/>
                      </a:endParaRPr>
                    </a:p>
                  </a:txBody>
                  <a:tcPr/>
                </a:tc>
                <a:tc>
                  <a:txBody>
                    <a:bodyPr/>
                    <a:lstStyle/>
                    <a:p>
                      <a:r>
                        <a:rPr lang="en-US" sz="1800" b="1" i="1" u="none" strike="noStrike" kern="1200" baseline="0" dirty="0">
                          <a:solidFill>
                            <a:srgbClr val="C00000"/>
                          </a:solidFill>
                          <a:latin typeface="Corbel" panose="020B0503020204020204" pitchFamily="34" charset="0"/>
                          <a:ea typeface="+mn-ea"/>
                          <a:cs typeface="+mn-cs"/>
                        </a:rPr>
                        <a:t>REMEMBER </a:t>
                      </a:r>
                      <a:r>
                        <a:rPr lang="en-US" sz="1800" b="0" i="1" u="none" strike="noStrike" kern="1200" baseline="0" dirty="0">
                          <a:solidFill>
                            <a:srgbClr val="C00000"/>
                          </a:solidFill>
                          <a:latin typeface="Corbel" panose="020B0503020204020204" pitchFamily="34" charset="0"/>
                          <a:ea typeface="+mn-ea"/>
                          <a:cs typeface="+mn-cs"/>
                        </a:rPr>
                        <a:t>When an object reference is passed to a method, the reference itself is passed by use of call-by-value. </a:t>
                      </a:r>
                    </a:p>
                    <a:p>
                      <a:endParaRPr lang="en-US" sz="1800" b="0" i="1" u="none" strike="noStrike" kern="1200" baseline="0" dirty="0">
                        <a:solidFill>
                          <a:srgbClr val="C00000"/>
                        </a:solidFill>
                        <a:latin typeface="Corbel" panose="020B0503020204020204" pitchFamily="34" charset="0"/>
                        <a:ea typeface="+mn-ea"/>
                        <a:cs typeface="+mn-cs"/>
                      </a:endParaRPr>
                    </a:p>
                    <a:p>
                      <a:r>
                        <a:rPr lang="en-US" sz="1800" b="0" i="1" u="none" strike="noStrike" kern="1200" baseline="0" dirty="0">
                          <a:solidFill>
                            <a:srgbClr val="C00000"/>
                          </a:solidFill>
                          <a:latin typeface="Corbel" panose="020B0503020204020204" pitchFamily="34" charset="0"/>
                          <a:ea typeface="+mn-ea"/>
                          <a:cs typeface="+mn-cs"/>
                        </a:rPr>
                        <a:t>However, since the value being passed refers to an object, the copy of that value will still refer to the same object that its corresponding argument does.</a:t>
                      </a:r>
                      <a:endParaRPr lang="en-US" sz="2000" i="1" dirty="0">
                        <a:solidFill>
                          <a:srgbClr val="C00000"/>
                        </a:solidFill>
                        <a:latin typeface="Corbel" panose="020B0503020204020204" pitchFamily="34" charset="0"/>
                      </a:endParaRPr>
                    </a:p>
                  </a:txBody>
                  <a:tcPr/>
                </a:tc>
                <a:extLst>
                  <a:ext uri="{0D108BD9-81ED-4DB2-BD59-A6C34878D82A}">
                    <a16:rowId xmlns:a16="http://schemas.microsoft.com/office/drawing/2014/main" val="3152741548"/>
                  </a:ext>
                </a:extLst>
              </a:tr>
            </a:tbl>
          </a:graphicData>
        </a:graphic>
      </p:graphicFrame>
      <p:pic>
        <p:nvPicPr>
          <p:cNvPr id="4" name="Picture 3"/>
          <p:cNvPicPr>
            <a:picLocks noChangeAspect="1"/>
          </p:cNvPicPr>
          <p:nvPr/>
        </p:nvPicPr>
        <p:blipFill>
          <a:blip r:embed="rId3"/>
          <a:stretch>
            <a:fillRect/>
          </a:stretch>
        </p:blipFill>
        <p:spPr>
          <a:xfrm>
            <a:off x="6567487" y="4854069"/>
            <a:ext cx="5019675" cy="1260981"/>
          </a:xfrm>
          <a:prstGeom prst="rect">
            <a:avLst/>
          </a:prstGeom>
        </p:spPr>
      </p:pic>
      <p:pic>
        <p:nvPicPr>
          <p:cNvPr id="6" name="Picture 5"/>
          <p:cNvPicPr>
            <a:picLocks noChangeAspect="1"/>
          </p:cNvPicPr>
          <p:nvPr/>
        </p:nvPicPr>
        <p:blipFill>
          <a:blip r:embed="rId4"/>
          <a:stretch>
            <a:fillRect/>
          </a:stretch>
        </p:blipFill>
        <p:spPr>
          <a:xfrm>
            <a:off x="490537" y="1581149"/>
            <a:ext cx="5186688" cy="4533901"/>
          </a:xfrm>
          <a:prstGeom prst="rect">
            <a:avLst/>
          </a:prstGeom>
        </p:spPr>
      </p:pic>
    </p:spTree>
    <p:extLst>
      <p:ext uri="{BB962C8B-B14F-4D97-AF65-F5344CB8AC3E}">
        <p14:creationId xmlns:p14="http://schemas.microsoft.com/office/powerpoint/2010/main" val="3751471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Overloading</a:t>
            </a:r>
          </a:p>
        </p:txBody>
      </p:sp>
      <p:sp>
        <p:nvSpPr>
          <p:cNvPr id="3" name="Content Placeholder 2"/>
          <p:cNvSpPr>
            <a:spLocks noGrp="1"/>
          </p:cNvSpPr>
          <p:nvPr>
            <p:ph idx="1"/>
          </p:nvPr>
        </p:nvSpPr>
        <p:spPr>
          <a:xfrm>
            <a:off x="391767" y="1471612"/>
            <a:ext cx="11266833" cy="5100638"/>
          </a:xfrm>
        </p:spPr>
        <p:txBody>
          <a:bodyPr>
            <a:noAutofit/>
          </a:bodyPr>
          <a:lstStyle/>
          <a:p>
            <a:r>
              <a:rPr lang="en-US" dirty="0">
                <a:latin typeface="Corbel" panose="020B0503020204020204" pitchFamily="34" charset="0"/>
              </a:rPr>
              <a:t>In Java, it is possible to define two or more methods within the same class that share the same name, as long as their parameter declarations are different. </a:t>
            </a:r>
          </a:p>
          <a:p>
            <a:r>
              <a:rPr lang="en-US" dirty="0">
                <a:latin typeface="Corbel" panose="020B0503020204020204" pitchFamily="34" charset="0"/>
              </a:rPr>
              <a:t>When this is the case, the methods are said to be overloaded, and the process is referred to as </a:t>
            </a:r>
            <a:r>
              <a:rPr lang="en-US" i="1" dirty="0">
                <a:latin typeface="Corbel" panose="020B0503020204020204" pitchFamily="34" charset="0"/>
              </a:rPr>
              <a:t>method overloading</a:t>
            </a:r>
            <a:r>
              <a:rPr lang="en-US" dirty="0">
                <a:latin typeface="Corbel" panose="020B0503020204020204" pitchFamily="34" charset="0"/>
              </a:rPr>
              <a:t>.</a:t>
            </a:r>
          </a:p>
          <a:p>
            <a:r>
              <a:rPr lang="en-US" dirty="0">
                <a:latin typeface="Corbel" panose="020B0503020204020204" pitchFamily="34" charset="0"/>
              </a:rPr>
              <a:t>Method overloading is one of the ways that Java supports polymorphism. </a:t>
            </a:r>
          </a:p>
          <a:p>
            <a:r>
              <a:rPr lang="en-US" dirty="0">
                <a:latin typeface="Corbel" panose="020B0503020204020204" pitchFamily="34" charset="0"/>
              </a:rPr>
              <a:t>When an overloaded method is invoked, Java uses the type and/or number of arguments as its guide to determine which version of the overloaded method to actually call. </a:t>
            </a:r>
          </a:p>
          <a:p>
            <a:r>
              <a:rPr lang="en-US" dirty="0">
                <a:latin typeface="Corbel" panose="020B0503020204020204" pitchFamily="34" charset="0"/>
              </a:rPr>
              <a:t>Thus, overloaded methods must differ in the type and/or number of their parameters. </a:t>
            </a:r>
          </a:p>
          <a:p>
            <a:r>
              <a:rPr lang="en-US" dirty="0">
                <a:latin typeface="Corbel" panose="020B0503020204020204" pitchFamily="34" charset="0"/>
              </a:rPr>
              <a:t>While overloaded methods may have different return types, the return type alone is insufficient to distinguish two versions of a method. </a:t>
            </a:r>
          </a:p>
          <a:p>
            <a:r>
              <a:rPr lang="en-US" dirty="0">
                <a:latin typeface="Corbel" panose="020B0503020204020204" pitchFamily="34" charset="0"/>
              </a:rPr>
              <a:t>When Java encounters a call to an overloaded method, it simply executes the version of the method whose parameters match the arguments used in the call. </a:t>
            </a:r>
            <a:r>
              <a:rPr lang="en-US" dirty="0"/>
              <a:t>Java will employ its automatic type conversions only if no exact match is found.</a:t>
            </a:r>
            <a:endParaRPr lang="en-US" dirty="0">
              <a:latin typeface="Corbel" panose="020B0503020204020204" pitchFamily="34" charset="0"/>
            </a:endParaRPr>
          </a:p>
        </p:txBody>
      </p:sp>
    </p:spTree>
    <p:extLst>
      <p:ext uri="{BB962C8B-B14F-4D97-AF65-F5344CB8AC3E}">
        <p14:creationId xmlns:p14="http://schemas.microsoft.com/office/powerpoint/2010/main" val="698102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Questions ?</a:t>
            </a:r>
          </a:p>
        </p:txBody>
      </p:sp>
      <p:sp>
        <p:nvSpPr>
          <p:cNvPr id="3" name="Subtitle 2"/>
          <p:cNvSpPr>
            <a:spLocks noGrp="1"/>
          </p:cNvSpPr>
          <p:nvPr>
            <p:ph type="subTitle" idx="1"/>
          </p:nvPr>
        </p:nvSpPr>
        <p:spPr/>
        <p:txBody>
          <a:bodyPr/>
          <a:lstStyle/>
          <a:p>
            <a:r>
              <a:rPr lang="en-US" dirty="0"/>
              <a:t>You can contact me @</a:t>
            </a:r>
          </a:p>
          <a:p>
            <a:r>
              <a:rPr lang="en-US" dirty="0">
                <a:hlinkClick r:id="rId2"/>
              </a:rPr>
              <a:t>avadekkedhil@wilp.bits-pilani.ac.in</a:t>
            </a:r>
            <a:endParaRPr lang="en-US" dirty="0"/>
          </a:p>
          <a:p>
            <a:r>
              <a:rPr lang="en-US" dirty="0"/>
              <a:t>9881300394</a:t>
            </a:r>
          </a:p>
        </p:txBody>
      </p:sp>
      <p:pic>
        <p:nvPicPr>
          <p:cNvPr id="5" name="Picture Placeholder 4"/>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4527" r="14527"/>
          <a:stretch>
            <a:fillRect/>
          </a:stretch>
        </p:blipFill>
        <p:spPr/>
      </p:pic>
    </p:spTree>
    <p:extLst>
      <p:ext uri="{BB962C8B-B14F-4D97-AF65-F5344CB8AC3E}">
        <p14:creationId xmlns:p14="http://schemas.microsoft.com/office/powerpoint/2010/main" val="4110760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DDBB83-77C1-4099-A0AA-289882E745E2}">
  <ds:schemaRefs>
    <ds:schemaRef ds:uri="http://schemas.microsoft.com/office/2006/metadata/properties"/>
    <ds:schemaRef ds:uri="http://schemas.microsoft.com/office/infopath/2007/PartnerControls"/>
    <ds:schemaRef ds:uri="4873beb7-5857-4685-be1f-d57550cc96cc"/>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22</TotalTime>
  <Words>4942</Words>
  <Application>Microsoft Office PowerPoint</Application>
  <PresentationFormat>Widescreen</PresentationFormat>
  <Paragraphs>372</Paragraphs>
  <Slides>50</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Corbel</vt:lpstr>
      <vt:lpstr>Euphemia</vt:lpstr>
      <vt:lpstr>Plantagenet Cherokee</vt:lpstr>
      <vt:lpstr>PT Sans</vt:lpstr>
      <vt:lpstr>Wingdings</vt:lpstr>
      <vt:lpstr>Academic Literature 16x9</vt:lpstr>
      <vt:lpstr>Object Oriented Programming &amp; Design</vt:lpstr>
      <vt:lpstr>Agenda</vt:lpstr>
      <vt:lpstr>My First dose of Java</vt:lpstr>
      <vt:lpstr>Java Virtual Machine (JVM)</vt:lpstr>
      <vt:lpstr>Java Virtual Machine (JVM) - Architecture</vt:lpstr>
      <vt:lpstr>Java Virtual Machine (JVM)</vt:lpstr>
      <vt:lpstr>Let’s get Started : The main () conundrum</vt:lpstr>
      <vt:lpstr>Let’s get Started : The main () conundrum</vt:lpstr>
      <vt:lpstr>Java Program Introspection</vt:lpstr>
      <vt:lpstr>Java Program Introspection</vt:lpstr>
      <vt:lpstr>Java Program Introspection</vt:lpstr>
      <vt:lpstr>Variables</vt:lpstr>
      <vt:lpstr>Static Variable</vt:lpstr>
      <vt:lpstr>Instance Variable</vt:lpstr>
      <vt:lpstr>Local Variable</vt:lpstr>
      <vt:lpstr>Classes</vt:lpstr>
      <vt:lpstr>Objects</vt:lpstr>
      <vt:lpstr>Constructors</vt:lpstr>
      <vt:lpstr>Constructors</vt:lpstr>
      <vt:lpstr>Constructors</vt:lpstr>
      <vt:lpstr>Constructors</vt:lpstr>
      <vt:lpstr>Constructors</vt:lpstr>
      <vt:lpstr>Constructors</vt:lpstr>
      <vt:lpstr>Constructors</vt:lpstr>
      <vt:lpstr>Guess what Happens</vt:lpstr>
      <vt:lpstr>Constructors</vt:lpstr>
      <vt:lpstr>Constructors – Chaining Example</vt:lpstr>
      <vt:lpstr>Constructors - Conclusion </vt:lpstr>
      <vt:lpstr>Methods</vt:lpstr>
      <vt:lpstr>Methods Structure</vt:lpstr>
      <vt:lpstr>Methods</vt:lpstr>
      <vt:lpstr>Static Methods</vt:lpstr>
      <vt:lpstr>Static Methods</vt:lpstr>
      <vt:lpstr>Static Blocks</vt:lpstr>
      <vt:lpstr>Methods - Invocation</vt:lpstr>
      <vt:lpstr>Methods – Variable number of arguments</vt:lpstr>
      <vt:lpstr>Methods – Invocation</vt:lpstr>
      <vt:lpstr>This , That What ??</vt:lpstr>
      <vt:lpstr>This , That What ?? – What happened here?</vt:lpstr>
      <vt:lpstr>This , That What ?? – What happened here?</vt:lpstr>
      <vt:lpstr>This , That What ?? – What happened here?</vt:lpstr>
      <vt:lpstr>This , That What ?? – What happened here?</vt:lpstr>
      <vt:lpstr>This , That What ?? – What happened here?</vt:lpstr>
      <vt:lpstr>Passing Objects as Argument</vt:lpstr>
      <vt:lpstr>Passing Objects as Argument</vt:lpstr>
      <vt:lpstr>Passing Objects as Argument</vt:lpstr>
      <vt:lpstr>Passing Objects as Argument</vt:lpstr>
      <vt:lpstr>Passing Objects as Argument</vt:lpstr>
      <vt:lpstr>Method Overloading</vt:lpstr>
      <vt:lpstr>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 &amp; Design</dc:title>
  <dc:creator>Arun Vadekkedhil</dc:creator>
  <cp:lastModifiedBy>Arun Vadekkedhil</cp:lastModifiedBy>
  <cp:revision>1</cp:revision>
  <dcterms:created xsi:type="dcterms:W3CDTF">2019-11-10T00:42:39Z</dcterms:created>
  <dcterms:modified xsi:type="dcterms:W3CDTF">2019-11-10T01:04:52Z</dcterms:modified>
</cp:coreProperties>
</file>