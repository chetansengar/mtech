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2"/>
  </p:notesMasterIdLst>
  <p:handoutMasterIdLst>
    <p:handoutMasterId r:id="rId53"/>
  </p:handoutMasterIdLst>
  <p:sldIdLst>
    <p:sldId id="256" r:id="rId5"/>
    <p:sldId id="257" r:id="rId6"/>
    <p:sldId id="258" r:id="rId7"/>
    <p:sldId id="259" r:id="rId8"/>
    <p:sldId id="261" r:id="rId9"/>
    <p:sldId id="263" r:id="rId10"/>
    <p:sldId id="262" r:id="rId11"/>
    <p:sldId id="264" r:id="rId12"/>
    <p:sldId id="265" r:id="rId13"/>
    <p:sldId id="266" r:id="rId14"/>
    <p:sldId id="267" r:id="rId15"/>
    <p:sldId id="268" r:id="rId16"/>
    <p:sldId id="352" r:id="rId17"/>
    <p:sldId id="340" r:id="rId18"/>
    <p:sldId id="341" r:id="rId19"/>
    <p:sldId id="342" r:id="rId20"/>
    <p:sldId id="343" r:id="rId21"/>
    <p:sldId id="347" r:id="rId22"/>
    <p:sldId id="345" r:id="rId23"/>
    <p:sldId id="346" r:id="rId24"/>
    <p:sldId id="348" r:id="rId25"/>
    <p:sldId id="349" r:id="rId26"/>
    <p:sldId id="350" r:id="rId27"/>
    <p:sldId id="351" r:id="rId28"/>
    <p:sldId id="353" r:id="rId29"/>
    <p:sldId id="354" r:id="rId30"/>
    <p:sldId id="355" r:id="rId31"/>
    <p:sldId id="356" r:id="rId32"/>
    <p:sldId id="272" r:id="rId33"/>
    <p:sldId id="273" r:id="rId34"/>
    <p:sldId id="269" r:id="rId35"/>
    <p:sldId id="270" r:id="rId36"/>
    <p:sldId id="271" r:id="rId37"/>
    <p:sldId id="274" r:id="rId38"/>
    <p:sldId id="275" r:id="rId39"/>
    <p:sldId id="358" r:id="rId40"/>
    <p:sldId id="359" r:id="rId41"/>
    <p:sldId id="357" r:id="rId42"/>
    <p:sldId id="280" r:id="rId43"/>
    <p:sldId id="281" r:id="rId44"/>
    <p:sldId id="282" r:id="rId45"/>
    <p:sldId id="283" r:id="rId46"/>
    <p:sldId id="284" r:id="rId47"/>
    <p:sldId id="360" r:id="rId48"/>
    <p:sldId id="290" r:id="rId49"/>
    <p:sldId id="291" r:id="rId50"/>
    <p:sldId id="29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30420-2042-405E-8A19-76E80ED1BA9F}" v="38" dt="2019-10-19T13:58:24.4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2777" autoAdjust="0"/>
  </p:normalViewPr>
  <p:slideViewPr>
    <p:cSldViewPr snapToGrid="0" showGuides="1">
      <p:cViewPr varScale="1">
        <p:scale>
          <a:sx n="85" d="100"/>
          <a:sy n="85" d="100"/>
        </p:scale>
        <p:origin x="590" y="91"/>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Vadekkedhil" userId="42e6ed11-22d2-49de-94d6-fd78e15c9969" providerId="ADAL" clId="{3CB30420-2042-405E-8A19-76E80ED1BA9F}"/>
    <pc:docChg chg="undo custSel mod addSld delSld modSld">
      <pc:chgData name="Arun Vadekkedhil" userId="42e6ed11-22d2-49de-94d6-fd78e15c9969" providerId="ADAL" clId="{3CB30420-2042-405E-8A19-76E80ED1BA9F}" dt="2019-10-20T00:54:45.030" v="549" actId="20577"/>
      <pc:docMkLst>
        <pc:docMk/>
      </pc:docMkLst>
      <pc:sldChg chg="modSp">
        <pc:chgData name="Arun Vadekkedhil" userId="42e6ed11-22d2-49de-94d6-fd78e15c9969" providerId="ADAL" clId="{3CB30420-2042-405E-8A19-76E80ED1BA9F}" dt="2019-10-08T13:06:56.970" v="1" actId="20577"/>
        <pc:sldMkLst>
          <pc:docMk/>
          <pc:sldMk cId="1652133998" sldId="256"/>
        </pc:sldMkLst>
        <pc:spChg chg="mod">
          <ac:chgData name="Arun Vadekkedhil" userId="42e6ed11-22d2-49de-94d6-fd78e15c9969" providerId="ADAL" clId="{3CB30420-2042-405E-8A19-76E80ED1BA9F}" dt="2019-10-08T13:06:56.970" v="1" actId="20577"/>
          <ac:spMkLst>
            <pc:docMk/>
            <pc:sldMk cId="1652133998" sldId="256"/>
            <ac:spMk id="7" creationId="{00000000-0000-0000-0000-000000000000}"/>
          </ac:spMkLst>
        </pc:spChg>
      </pc:sldChg>
      <pc:sldChg chg="modSp">
        <pc:chgData name="Arun Vadekkedhil" userId="42e6ed11-22d2-49de-94d6-fd78e15c9969" providerId="ADAL" clId="{3CB30420-2042-405E-8A19-76E80ED1BA9F}" dt="2019-10-08T13:16:47.254" v="32" actId="20577"/>
        <pc:sldMkLst>
          <pc:docMk/>
          <pc:sldMk cId="1383106325" sldId="261"/>
        </pc:sldMkLst>
        <pc:spChg chg="mod">
          <ac:chgData name="Arun Vadekkedhil" userId="42e6ed11-22d2-49de-94d6-fd78e15c9969" providerId="ADAL" clId="{3CB30420-2042-405E-8A19-76E80ED1BA9F}" dt="2019-10-08T13:16:47.254" v="32" actId="20577"/>
          <ac:spMkLst>
            <pc:docMk/>
            <pc:sldMk cId="1383106325" sldId="261"/>
            <ac:spMk id="7" creationId="{00000000-0000-0000-0000-000000000000}"/>
          </ac:spMkLst>
        </pc:spChg>
      </pc:sldChg>
      <pc:sldChg chg="addSp modSp">
        <pc:chgData name="Arun Vadekkedhil" userId="42e6ed11-22d2-49de-94d6-fd78e15c9969" providerId="ADAL" clId="{3CB30420-2042-405E-8A19-76E80ED1BA9F}" dt="2019-10-08T13:25:01.560" v="55" actId="14100"/>
        <pc:sldMkLst>
          <pc:docMk/>
          <pc:sldMk cId="2762306403" sldId="262"/>
        </pc:sldMkLst>
        <pc:spChg chg="mod">
          <ac:chgData name="Arun Vadekkedhil" userId="42e6ed11-22d2-49de-94d6-fd78e15c9969" providerId="ADAL" clId="{3CB30420-2042-405E-8A19-76E80ED1BA9F}" dt="2019-10-08T13:23:24.190" v="50" actId="27636"/>
          <ac:spMkLst>
            <pc:docMk/>
            <pc:sldMk cId="2762306403" sldId="262"/>
            <ac:spMk id="3" creationId="{00000000-0000-0000-0000-000000000000}"/>
          </ac:spMkLst>
        </pc:spChg>
        <pc:picChg chg="add mod">
          <ac:chgData name="Arun Vadekkedhil" userId="42e6ed11-22d2-49de-94d6-fd78e15c9969" providerId="ADAL" clId="{3CB30420-2042-405E-8A19-76E80ED1BA9F}" dt="2019-10-08T13:25:01.560" v="55" actId="14100"/>
          <ac:picMkLst>
            <pc:docMk/>
            <pc:sldMk cId="2762306403" sldId="262"/>
            <ac:picMk id="2050" creationId="{70697B5D-2323-4FC7-8BE4-239120381288}"/>
          </ac:picMkLst>
        </pc:picChg>
      </pc:sldChg>
      <pc:sldChg chg="addSp modSp">
        <pc:chgData name="Arun Vadekkedhil" userId="42e6ed11-22d2-49de-94d6-fd78e15c9969" providerId="ADAL" clId="{3CB30420-2042-405E-8A19-76E80ED1BA9F}" dt="2019-10-08T13:21:51.778" v="45" actId="14100"/>
        <pc:sldMkLst>
          <pc:docMk/>
          <pc:sldMk cId="2754190398" sldId="263"/>
        </pc:sldMkLst>
        <pc:spChg chg="mod">
          <ac:chgData name="Arun Vadekkedhil" userId="42e6ed11-22d2-49de-94d6-fd78e15c9969" providerId="ADAL" clId="{3CB30420-2042-405E-8A19-76E80ED1BA9F}" dt="2019-10-08T13:20:56.720" v="36" actId="14100"/>
          <ac:spMkLst>
            <pc:docMk/>
            <pc:sldMk cId="2754190398" sldId="263"/>
            <ac:spMk id="3" creationId="{00000000-0000-0000-0000-000000000000}"/>
          </ac:spMkLst>
        </pc:spChg>
        <pc:picChg chg="add mod">
          <ac:chgData name="Arun Vadekkedhil" userId="42e6ed11-22d2-49de-94d6-fd78e15c9969" providerId="ADAL" clId="{3CB30420-2042-405E-8A19-76E80ED1BA9F}" dt="2019-10-08T13:21:51.778" v="45" actId="14100"/>
          <ac:picMkLst>
            <pc:docMk/>
            <pc:sldMk cId="2754190398" sldId="263"/>
            <ac:picMk id="1026" creationId="{2BA6A54E-F945-41D6-B586-1910CB63FCDB}"/>
          </ac:picMkLst>
        </pc:picChg>
        <pc:picChg chg="add mod">
          <ac:chgData name="Arun Vadekkedhil" userId="42e6ed11-22d2-49de-94d6-fd78e15c9969" providerId="ADAL" clId="{3CB30420-2042-405E-8A19-76E80ED1BA9F}" dt="2019-10-08T13:21:47.055" v="44" actId="14100"/>
          <ac:picMkLst>
            <pc:docMk/>
            <pc:sldMk cId="2754190398" sldId="263"/>
            <ac:picMk id="1028" creationId="{98CFE607-BEDE-41F2-962C-15B7C6F945F8}"/>
          </ac:picMkLst>
        </pc:picChg>
      </pc:sldChg>
      <pc:sldChg chg="modSp">
        <pc:chgData name="Arun Vadekkedhil" userId="42e6ed11-22d2-49de-94d6-fd78e15c9969" providerId="ADAL" clId="{3CB30420-2042-405E-8A19-76E80ED1BA9F}" dt="2019-10-08T13:26:00.870" v="61" actId="27636"/>
        <pc:sldMkLst>
          <pc:docMk/>
          <pc:sldMk cId="2373239391" sldId="264"/>
        </pc:sldMkLst>
        <pc:spChg chg="mod">
          <ac:chgData name="Arun Vadekkedhil" userId="42e6ed11-22d2-49de-94d6-fd78e15c9969" providerId="ADAL" clId="{3CB30420-2042-405E-8A19-76E80ED1BA9F}" dt="2019-10-08T13:26:00.870" v="61" actId="27636"/>
          <ac:spMkLst>
            <pc:docMk/>
            <pc:sldMk cId="2373239391" sldId="264"/>
            <ac:spMk id="3" creationId="{00000000-0000-0000-0000-000000000000}"/>
          </ac:spMkLst>
        </pc:spChg>
      </pc:sldChg>
      <pc:sldChg chg="addSp delSp modSp mod setBg">
        <pc:chgData name="Arun Vadekkedhil" userId="42e6ed11-22d2-49de-94d6-fd78e15c9969" providerId="ADAL" clId="{3CB30420-2042-405E-8A19-76E80ED1BA9F}" dt="2019-10-08T13:38:58.586" v="125" actId="1076"/>
        <pc:sldMkLst>
          <pc:docMk/>
          <pc:sldMk cId="1701857560" sldId="272"/>
        </pc:sldMkLst>
        <pc:spChg chg="mod">
          <ac:chgData name="Arun Vadekkedhil" userId="42e6ed11-22d2-49de-94d6-fd78e15c9969" providerId="ADAL" clId="{3CB30420-2042-405E-8A19-76E80ED1BA9F}" dt="2019-10-08T13:38:01.636" v="118" actId="26606"/>
          <ac:spMkLst>
            <pc:docMk/>
            <pc:sldMk cId="1701857560" sldId="272"/>
            <ac:spMk id="2" creationId="{00000000-0000-0000-0000-000000000000}"/>
          </ac:spMkLst>
        </pc:spChg>
        <pc:spChg chg="del">
          <ac:chgData name="Arun Vadekkedhil" userId="42e6ed11-22d2-49de-94d6-fd78e15c9969" providerId="ADAL" clId="{3CB30420-2042-405E-8A19-76E80ED1BA9F}" dt="2019-10-08T13:38:01.636" v="118" actId="26606"/>
          <ac:spMkLst>
            <pc:docMk/>
            <pc:sldMk cId="1701857560" sldId="272"/>
            <ac:spMk id="3" creationId="{00000000-0000-0000-0000-000000000000}"/>
          </ac:spMkLst>
        </pc:spChg>
        <pc:graphicFrameChg chg="add mod">
          <ac:chgData name="Arun Vadekkedhil" userId="42e6ed11-22d2-49de-94d6-fd78e15c9969" providerId="ADAL" clId="{3CB30420-2042-405E-8A19-76E80ED1BA9F}" dt="2019-10-08T13:38:58.586" v="125" actId="1076"/>
          <ac:graphicFrameMkLst>
            <pc:docMk/>
            <pc:sldMk cId="1701857560" sldId="272"/>
            <ac:graphicFrameMk id="5" creationId="{15AEE975-918E-4898-BAE8-78EC571B78DE}"/>
          </ac:graphicFrameMkLst>
        </pc:graphicFrameChg>
      </pc:sldChg>
      <pc:sldChg chg="addSp delSp modSp mod setBg modClrScheme chgLayout">
        <pc:chgData name="Arun Vadekkedhil" userId="42e6ed11-22d2-49de-94d6-fd78e15c9969" providerId="ADAL" clId="{3CB30420-2042-405E-8A19-76E80ED1BA9F}" dt="2019-10-08T13:41:41.966" v="179" actId="14100"/>
        <pc:sldMkLst>
          <pc:docMk/>
          <pc:sldMk cId="4264365728" sldId="275"/>
        </pc:sldMkLst>
        <pc:spChg chg="mod">
          <ac:chgData name="Arun Vadekkedhil" userId="42e6ed11-22d2-49de-94d6-fd78e15c9969" providerId="ADAL" clId="{3CB30420-2042-405E-8A19-76E80ED1BA9F}" dt="2019-10-08T13:41:25.262" v="174" actId="26606"/>
          <ac:spMkLst>
            <pc:docMk/>
            <pc:sldMk cId="4264365728" sldId="275"/>
            <ac:spMk id="2" creationId="{00000000-0000-0000-0000-000000000000}"/>
          </ac:spMkLst>
        </pc:spChg>
        <pc:spChg chg="del mod">
          <ac:chgData name="Arun Vadekkedhil" userId="42e6ed11-22d2-49de-94d6-fd78e15c9969" providerId="ADAL" clId="{3CB30420-2042-405E-8A19-76E80ED1BA9F}" dt="2019-10-08T13:41:32.368" v="175" actId="478"/>
          <ac:spMkLst>
            <pc:docMk/>
            <pc:sldMk cId="4264365728" sldId="275"/>
            <ac:spMk id="3" creationId="{00000000-0000-0000-0000-000000000000}"/>
          </ac:spMkLst>
        </pc:spChg>
        <pc:spChg chg="add del mod">
          <ac:chgData name="Arun Vadekkedhil" userId="42e6ed11-22d2-49de-94d6-fd78e15c9969" providerId="ADAL" clId="{3CB30420-2042-405E-8A19-76E80ED1BA9F}" dt="2019-10-08T13:41:34.220" v="176" actId="478"/>
          <ac:spMkLst>
            <pc:docMk/>
            <pc:sldMk cId="4264365728" sldId="275"/>
            <ac:spMk id="6" creationId="{ABB88336-3BDA-4CED-8BEE-D2FFA36FA245}"/>
          </ac:spMkLst>
        </pc:spChg>
        <pc:picChg chg="del">
          <ac:chgData name="Arun Vadekkedhil" userId="42e6ed11-22d2-49de-94d6-fd78e15c9969" providerId="ADAL" clId="{3CB30420-2042-405E-8A19-76E80ED1BA9F}" dt="2019-10-08T13:41:18.400" v="172" actId="478"/>
          <ac:picMkLst>
            <pc:docMk/>
            <pc:sldMk cId="4264365728" sldId="275"/>
            <ac:picMk id="5" creationId="{00000000-0000-0000-0000-000000000000}"/>
          </ac:picMkLst>
        </pc:picChg>
        <pc:picChg chg="add mod">
          <ac:chgData name="Arun Vadekkedhil" userId="42e6ed11-22d2-49de-94d6-fd78e15c9969" providerId="ADAL" clId="{3CB30420-2042-405E-8A19-76E80ED1BA9F}" dt="2019-10-08T13:41:41.966" v="179" actId="14100"/>
          <ac:picMkLst>
            <pc:docMk/>
            <pc:sldMk cId="4264365728" sldId="275"/>
            <ac:picMk id="4098" creationId="{31DEB149-3267-4284-A044-DF0320B3DAAF}"/>
          </ac:picMkLst>
        </pc:picChg>
      </pc:sldChg>
      <pc:sldChg chg="del">
        <pc:chgData name="Arun Vadekkedhil" userId="42e6ed11-22d2-49de-94d6-fd78e15c9969" providerId="ADAL" clId="{3CB30420-2042-405E-8A19-76E80ED1BA9F}" dt="2019-10-19T13:57:20.172" v="496" actId="2696"/>
        <pc:sldMkLst>
          <pc:docMk/>
          <pc:sldMk cId="2323714983" sldId="277"/>
        </pc:sldMkLst>
      </pc:sldChg>
      <pc:sldChg chg="del">
        <pc:chgData name="Arun Vadekkedhil" userId="42e6ed11-22d2-49de-94d6-fd78e15c9969" providerId="ADAL" clId="{3CB30420-2042-405E-8A19-76E80ED1BA9F}" dt="2019-10-19T13:57:23.671" v="497" actId="2696"/>
        <pc:sldMkLst>
          <pc:docMk/>
          <pc:sldMk cId="1235706998" sldId="278"/>
        </pc:sldMkLst>
      </pc:sldChg>
      <pc:sldChg chg="del">
        <pc:chgData name="Arun Vadekkedhil" userId="42e6ed11-22d2-49de-94d6-fd78e15c9969" providerId="ADAL" clId="{3CB30420-2042-405E-8A19-76E80ED1BA9F}" dt="2019-10-19T13:57:29.425" v="498" actId="2696"/>
        <pc:sldMkLst>
          <pc:docMk/>
          <pc:sldMk cId="2455175019" sldId="279"/>
        </pc:sldMkLst>
      </pc:sldChg>
      <pc:sldChg chg="addSp modSp">
        <pc:chgData name="Arun Vadekkedhil" userId="42e6ed11-22d2-49de-94d6-fd78e15c9969" providerId="ADAL" clId="{3CB30420-2042-405E-8A19-76E80ED1BA9F}" dt="2019-10-08T14:04:19.950" v="188" actId="1076"/>
        <pc:sldMkLst>
          <pc:docMk/>
          <pc:sldMk cId="258781362" sldId="280"/>
        </pc:sldMkLst>
        <pc:spChg chg="mod">
          <ac:chgData name="Arun Vadekkedhil" userId="42e6ed11-22d2-49de-94d6-fd78e15c9969" providerId="ADAL" clId="{3CB30420-2042-405E-8A19-76E80ED1BA9F}" dt="2019-10-08T14:04:09.243" v="185" actId="14100"/>
          <ac:spMkLst>
            <pc:docMk/>
            <pc:sldMk cId="258781362" sldId="280"/>
            <ac:spMk id="3" creationId="{00000000-0000-0000-0000-000000000000}"/>
          </ac:spMkLst>
        </pc:spChg>
        <pc:picChg chg="add mod">
          <ac:chgData name="Arun Vadekkedhil" userId="42e6ed11-22d2-49de-94d6-fd78e15c9969" providerId="ADAL" clId="{3CB30420-2042-405E-8A19-76E80ED1BA9F}" dt="2019-10-08T14:04:19.950" v="188" actId="1076"/>
          <ac:picMkLst>
            <pc:docMk/>
            <pc:sldMk cId="258781362" sldId="280"/>
            <ac:picMk id="4" creationId="{7188E8D4-264A-4C52-BBB0-DBF0463A828F}"/>
          </ac:picMkLst>
        </pc:picChg>
      </pc:sldChg>
      <pc:sldChg chg="modSp">
        <pc:chgData name="Arun Vadekkedhil" userId="42e6ed11-22d2-49de-94d6-fd78e15c9969" providerId="ADAL" clId="{3CB30420-2042-405E-8A19-76E80ED1BA9F}" dt="2019-10-19T14:18:42.921" v="511" actId="113"/>
        <pc:sldMkLst>
          <pc:docMk/>
          <pc:sldMk cId="102257257" sldId="282"/>
        </pc:sldMkLst>
        <pc:spChg chg="mod">
          <ac:chgData name="Arun Vadekkedhil" userId="42e6ed11-22d2-49de-94d6-fd78e15c9969" providerId="ADAL" clId="{3CB30420-2042-405E-8A19-76E80ED1BA9F}" dt="2019-10-19T14:18:42.921" v="511" actId="113"/>
          <ac:spMkLst>
            <pc:docMk/>
            <pc:sldMk cId="102257257" sldId="282"/>
            <ac:spMk id="3" creationId="{00000000-0000-0000-0000-000000000000}"/>
          </ac:spMkLst>
        </pc:spChg>
      </pc:sldChg>
      <pc:sldChg chg="modSp">
        <pc:chgData name="Arun Vadekkedhil" userId="42e6ed11-22d2-49de-94d6-fd78e15c9969" providerId="ADAL" clId="{3CB30420-2042-405E-8A19-76E80ED1BA9F}" dt="2019-10-20T00:54:45.030" v="549" actId="20577"/>
        <pc:sldMkLst>
          <pc:docMk/>
          <pc:sldMk cId="1152113342" sldId="283"/>
        </pc:sldMkLst>
        <pc:spChg chg="mod">
          <ac:chgData name="Arun Vadekkedhil" userId="42e6ed11-22d2-49de-94d6-fd78e15c9969" providerId="ADAL" clId="{3CB30420-2042-405E-8A19-76E80ED1BA9F}" dt="2019-10-20T00:54:45.030" v="549" actId="20577"/>
          <ac:spMkLst>
            <pc:docMk/>
            <pc:sldMk cId="1152113342" sldId="283"/>
            <ac:spMk id="2" creationId="{00000000-0000-0000-0000-000000000000}"/>
          </ac:spMkLst>
        </pc:spChg>
      </pc:sldChg>
      <pc:sldChg chg="del">
        <pc:chgData name="Arun Vadekkedhil" userId="42e6ed11-22d2-49de-94d6-fd78e15c9969" providerId="ADAL" clId="{3CB30420-2042-405E-8A19-76E80ED1BA9F}" dt="2019-10-19T14:20:29.757" v="512" actId="2696"/>
        <pc:sldMkLst>
          <pc:docMk/>
          <pc:sldMk cId="2785516048" sldId="285"/>
        </pc:sldMkLst>
      </pc:sldChg>
      <pc:sldChg chg="del">
        <pc:chgData name="Arun Vadekkedhil" userId="42e6ed11-22d2-49de-94d6-fd78e15c9969" providerId="ADAL" clId="{3CB30420-2042-405E-8A19-76E80ED1BA9F}" dt="2019-10-19T14:20:40.877" v="513" actId="2696"/>
        <pc:sldMkLst>
          <pc:docMk/>
          <pc:sldMk cId="980146518" sldId="286"/>
        </pc:sldMkLst>
      </pc:sldChg>
      <pc:sldChg chg="modSp del">
        <pc:chgData name="Arun Vadekkedhil" userId="42e6ed11-22d2-49de-94d6-fd78e15c9969" providerId="ADAL" clId="{3CB30420-2042-405E-8A19-76E80ED1BA9F}" dt="2019-10-19T14:41:55.649" v="523" actId="2696"/>
        <pc:sldMkLst>
          <pc:docMk/>
          <pc:sldMk cId="3111565821" sldId="287"/>
        </pc:sldMkLst>
        <pc:spChg chg="mod">
          <ac:chgData name="Arun Vadekkedhil" userId="42e6ed11-22d2-49de-94d6-fd78e15c9969" providerId="ADAL" clId="{3CB30420-2042-405E-8A19-76E80ED1BA9F}" dt="2019-10-19T14:23:41.515" v="522" actId="114"/>
          <ac:spMkLst>
            <pc:docMk/>
            <pc:sldMk cId="3111565821" sldId="287"/>
            <ac:spMk id="3" creationId="{00000000-0000-0000-0000-000000000000}"/>
          </ac:spMkLst>
        </pc:spChg>
      </pc:sldChg>
      <pc:sldChg chg="del">
        <pc:chgData name="Arun Vadekkedhil" userId="42e6ed11-22d2-49de-94d6-fd78e15c9969" providerId="ADAL" clId="{3CB30420-2042-405E-8A19-76E80ED1BA9F}" dt="2019-10-19T14:41:55.658" v="524" actId="2696"/>
        <pc:sldMkLst>
          <pc:docMk/>
          <pc:sldMk cId="2807405077" sldId="288"/>
        </pc:sldMkLst>
      </pc:sldChg>
      <pc:sldChg chg="del">
        <pc:chgData name="Arun Vadekkedhil" userId="42e6ed11-22d2-49de-94d6-fd78e15c9969" providerId="ADAL" clId="{3CB30420-2042-405E-8A19-76E80ED1BA9F}" dt="2019-10-19T14:43:05.025" v="525" actId="2696"/>
        <pc:sldMkLst>
          <pc:docMk/>
          <pc:sldMk cId="2790724402" sldId="293"/>
        </pc:sldMkLst>
      </pc:sldChg>
      <pc:sldChg chg="del">
        <pc:chgData name="Arun Vadekkedhil" userId="42e6ed11-22d2-49de-94d6-fd78e15c9969" providerId="ADAL" clId="{3CB30420-2042-405E-8A19-76E80ED1BA9F}" dt="2019-10-19T14:43:05.041" v="526" actId="2696"/>
        <pc:sldMkLst>
          <pc:docMk/>
          <pc:sldMk cId="2920178196" sldId="294"/>
        </pc:sldMkLst>
      </pc:sldChg>
      <pc:sldChg chg="del">
        <pc:chgData name="Arun Vadekkedhil" userId="42e6ed11-22d2-49de-94d6-fd78e15c9969" providerId="ADAL" clId="{3CB30420-2042-405E-8A19-76E80ED1BA9F}" dt="2019-10-19T14:43:05.051" v="527" actId="2696"/>
        <pc:sldMkLst>
          <pc:docMk/>
          <pc:sldMk cId="958902058" sldId="295"/>
        </pc:sldMkLst>
      </pc:sldChg>
      <pc:sldChg chg="modSp">
        <pc:chgData name="Arun Vadekkedhil" userId="42e6ed11-22d2-49de-94d6-fd78e15c9969" providerId="ADAL" clId="{3CB30420-2042-405E-8A19-76E80ED1BA9F}" dt="2019-10-08T13:34:12.901" v="86" actId="20577"/>
        <pc:sldMkLst>
          <pc:docMk/>
          <pc:sldMk cId="1839513661" sldId="353"/>
        </pc:sldMkLst>
        <pc:spChg chg="mod">
          <ac:chgData name="Arun Vadekkedhil" userId="42e6ed11-22d2-49de-94d6-fd78e15c9969" providerId="ADAL" clId="{3CB30420-2042-405E-8A19-76E80ED1BA9F}" dt="2019-10-08T13:34:12.901" v="86" actId="20577"/>
          <ac:spMkLst>
            <pc:docMk/>
            <pc:sldMk cId="1839513661" sldId="353"/>
            <ac:spMk id="3" creationId="{BA837798-DA80-456A-822B-F68337BF2FD6}"/>
          </ac:spMkLst>
        </pc:spChg>
      </pc:sldChg>
      <pc:sldChg chg="addSp modSp mod setBg modClrScheme chgLayout">
        <pc:chgData name="Arun Vadekkedhil" userId="42e6ed11-22d2-49de-94d6-fd78e15c9969" providerId="ADAL" clId="{3CB30420-2042-405E-8A19-76E80ED1BA9F}" dt="2019-10-08T13:36:12.744" v="94" actId="14100"/>
        <pc:sldMkLst>
          <pc:docMk/>
          <pc:sldMk cId="3411438015" sldId="354"/>
        </pc:sldMkLst>
        <pc:spChg chg="mod">
          <ac:chgData name="Arun Vadekkedhil" userId="42e6ed11-22d2-49de-94d6-fd78e15c9969" providerId="ADAL" clId="{3CB30420-2042-405E-8A19-76E80ED1BA9F}" dt="2019-10-08T13:36:08.060" v="93" actId="26606"/>
          <ac:spMkLst>
            <pc:docMk/>
            <pc:sldMk cId="3411438015" sldId="354"/>
            <ac:spMk id="2" creationId="{00000000-0000-0000-0000-000000000000}"/>
          </ac:spMkLst>
        </pc:spChg>
        <pc:spChg chg="mod ord">
          <ac:chgData name="Arun Vadekkedhil" userId="42e6ed11-22d2-49de-94d6-fd78e15c9969" providerId="ADAL" clId="{3CB30420-2042-405E-8A19-76E80ED1BA9F}" dt="2019-10-08T13:36:08.060" v="93" actId="26606"/>
          <ac:spMkLst>
            <pc:docMk/>
            <pc:sldMk cId="3411438015" sldId="354"/>
            <ac:spMk id="6" creationId="{1C1AA571-4FDD-42C4-90D4-EDA4BCDF1F99}"/>
          </ac:spMkLst>
        </pc:spChg>
        <pc:picChg chg="add mod ord">
          <ac:chgData name="Arun Vadekkedhil" userId="42e6ed11-22d2-49de-94d6-fd78e15c9969" providerId="ADAL" clId="{3CB30420-2042-405E-8A19-76E80ED1BA9F}" dt="2019-10-08T13:36:12.744" v="94" actId="14100"/>
          <ac:picMkLst>
            <pc:docMk/>
            <pc:sldMk cId="3411438015" sldId="354"/>
            <ac:picMk id="3074" creationId="{9C712ABC-8FAE-42E3-8D1D-961F66EB7528}"/>
          </ac:picMkLst>
        </pc:picChg>
      </pc:sldChg>
      <pc:sldChg chg="addSp modSp">
        <pc:chgData name="Arun Vadekkedhil" userId="42e6ed11-22d2-49de-94d6-fd78e15c9969" providerId="ADAL" clId="{3CB30420-2042-405E-8A19-76E80ED1BA9F}" dt="2019-10-08T13:37:29.970" v="117" actId="20577"/>
        <pc:sldMkLst>
          <pc:docMk/>
          <pc:sldMk cId="1597916214" sldId="356"/>
        </pc:sldMkLst>
        <pc:spChg chg="add mod">
          <ac:chgData name="Arun Vadekkedhil" userId="42e6ed11-22d2-49de-94d6-fd78e15c9969" providerId="ADAL" clId="{3CB30420-2042-405E-8A19-76E80ED1BA9F}" dt="2019-10-08T13:37:02.669" v="106" actId="20577"/>
          <ac:spMkLst>
            <pc:docMk/>
            <pc:sldMk cId="1597916214" sldId="356"/>
            <ac:spMk id="3" creationId="{F5239420-4F24-4EB2-BD2F-CD82338A9CA6}"/>
          </ac:spMkLst>
        </pc:spChg>
        <pc:spChg chg="mod">
          <ac:chgData name="Arun Vadekkedhil" userId="42e6ed11-22d2-49de-94d6-fd78e15c9969" providerId="ADAL" clId="{3CB30420-2042-405E-8A19-76E80ED1BA9F}" dt="2019-10-08T13:37:29.970" v="117" actId="20577"/>
          <ac:spMkLst>
            <pc:docMk/>
            <pc:sldMk cId="1597916214" sldId="356"/>
            <ac:spMk id="7" creationId="{792BF35C-29B7-4DCC-A94C-0B3AAC994851}"/>
          </ac:spMkLst>
        </pc:spChg>
      </pc:sldChg>
      <pc:sldChg chg="modSp add">
        <pc:chgData name="Arun Vadekkedhil" userId="42e6ed11-22d2-49de-94d6-fd78e15c9969" providerId="ADAL" clId="{3CB30420-2042-405E-8A19-76E80ED1BA9F}" dt="2019-10-20T00:02:29.766" v="540" actId="20577"/>
        <pc:sldMkLst>
          <pc:docMk/>
          <pc:sldMk cId="196137627" sldId="357"/>
        </pc:sldMkLst>
        <pc:spChg chg="mod">
          <ac:chgData name="Arun Vadekkedhil" userId="42e6ed11-22d2-49de-94d6-fd78e15c9969" providerId="ADAL" clId="{3CB30420-2042-405E-8A19-76E80ED1BA9F}" dt="2019-10-19T13:41:09.563" v="196" actId="20577"/>
          <ac:spMkLst>
            <pc:docMk/>
            <pc:sldMk cId="196137627" sldId="357"/>
            <ac:spMk id="2" creationId="{00000000-0000-0000-0000-000000000000}"/>
          </ac:spMkLst>
        </pc:spChg>
        <pc:spChg chg="mod">
          <ac:chgData name="Arun Vadekkedhil" userId="42e6ed11-22d2-49de-94d6-fd78e15c9969" providerId="ADAL" clId="{3CB30420-2042-405E-8A19-76E80ED1BA9F}" dt="2019-10-20T00:02:29.766" v="540" actId="20577"/>
          <ac:spMkLst>
            <pc:docMk/>
            <pc:sldMk cId="196137627" sldId="357"/>
            <ac:spMk id="3" creationId="{00000000-0000-0000-0000-000000000000}"/>
          </ac:spMkLst>
        </pc:spChg>
        <pc:picChg chg="mod">
          <ac:chgData name="Arun Vadekkedhil" userId="42e6ed11-22d2-49de-94d6-fd78e15c9969" providerId="ADAL" clId="{3CB30420-2042-405E-8A19-76E80ED1BA9F}" dt="2019-10-19T13:41:23.824" v="200" actId="14100"/>
          <ac:picMkLst>
            <pc:docMk/>
            <pc:sldMk cId="196137627" sldId="357"/>
            <ac:picMk id="5" creationId="{00000000-0000-0000-0000-000000000000}"/>
          </ac:picMkLst>
        </pc:picChg>
      </pc:sldChg>
      <pc:sldChg chg="add">
        <pc:chgData name="Arun Vadekkedhil" userId="42e6ed11-22d2-49de-94d6-fd78e15c9969" providerId="ADAL" clId="{3CB30420-2042-405E-8A19-76E80ED1BA9F}" dt="2019-10-19T13:40:09.006" v="189"/>
        <pc:sldMkLst>
          <pc:docMk/>
          <pc:sldMk cId="3040651775" sldId="358"/>
        </pc:sldMkLst>
      </pc:sldChg>
      <pc:sldChg chg="modSp add">
        <pc:chgData name="Arun Vadekkedhil" userId="42e6ed11-22d2-49de-94d6-fd78e15c9969" providerId="ADAL" clId="{3CB30420-2042-405E-8A19-76E80ED1BA9F}" dt="2019-10-19T23:59:10.877" v="529" actId="20577"/>
        <pc:sldMkLst>
          <pc:docMk/>
          <pc:sldMk cId="12844122" sldId="359"/>
        </pc:sldMkLst>
        <pc:spChg chg="mod">
          <ac:chgData name="Arun Vadekkedhil" userId="42e6ed11-22d2-49de-94d6-fd78e15c9969" providerId="ADAL" clId="{3CB30420-2042-405E-8A19-76E80ED1BA9F}" dt="2019-10-19T23:59:10.877" v="529" actId="20577"/>
          <ac:spMkLst>
            <pc:docMk/>
            <pc:sldMk cId="12844122" sldId="359"/>
            <ac:spMk id="3" creationId="{00000000-0000-0000-0000-000000000000}"/>
          </ac:spMkLst>
        </pc:spChg>
      </pc:sldChg>
      <pc:sldChg chg="add">
        <pc:chgData name="Arun Vadekkedhil" userId="42e6ed11-22d2-49de-94d6-fd78e15c9969" providerId="ADAL" clId="{3CB30420-2042-405E-8A19-76E80ED1BA9F}" dt="2019-10-19T13:58:24.450" v="499"/>
        <pc:sldMkLst>
          <pc:docMk/>
          <pc:sldMk cId="3747163233" sldId="360"/>
        </pc:sldMkLst>
      </pc:sldChg>
    </pc:docChg>
  </pc:docChgLst>
  <pc:docChgLst>
    <pc:chgData name="Arun Vadekkedhil" userId="42e6ed11-22d2-49de-94d6-fd78e15c9969" providerId="ADAL" clId="{80D9CF4F-E975-4223-B7C7-DC8E5318F0BC}"/>
    <pc:docChg chg="delSld">
      <pc:chgData name="Arun Vadekkedhil" userId="42e6ed11-22d2-49de-94d6-fd78e15c9969" providerId="ADAL" clId="{80D9CF4F-E975-4223-B7C7-DC8E5318F0BC}" dt="2018-09-16T02:35:51.703" v="0" actId="2696"/>
      <pc:docMkLst>
        <pc:docMk/>
      </pc:docMkLst>
      <pc:sldChg chg="del">
        <pc:chgData name="Arun Vadekkedhil" userId="42e6ed11-22d2-49de-94d6-fd78e15c9969" providerId="ADAL" clId="{80D9CF4F-E975-4223-B7C7-DC8E5318F0BC}" dt="2018-09-16T02:35:51.703" v="0" actId="2696"/>
        <pc:sldMkLst>
          <pc:docMk/>
          <pc:sldMk cId="794020093" sldId="292"/>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F9041F-19DA-4024-A815-292043C5A746}" type="doc">
      <dgm:prSet loTypeId="urn:microsoft.com/office/officeart/2018/2/layout/IconCircleList" loCatId="icon" qsTypeId="urn:microsoft.com/office/officeart/2005/8/quickstyle/simple1" qsCatId="simple" csTypeId="urn:microsoft.com/office/officeart/2005/8/colors/accent2_2" csCatId="accent2" phldr="1"/>
      <dgm:spPr/>
      <dgm:t>
        <a:bodyPr/>
        <a:lstStyle/>
        <a:p>
          <a:endParaRPr lang="en-US"/>
        </a:p>
      </dgm:t>
    </dgm:pt>
    <dgm:pt modelId="{62C8E2E8-8445-4E95-8C66-3C060F047B05}">
      <dgm:prSet/>
      <dgm:spPr/>
      <dgm:t>
        <a:bodyPr/>
        <a:lstStyle/>
        <a:p>
          <a:r>
            <a:rPr lang="en-US" b="1"/>
            <a:t>Objects </a:t>
          </a:r>
          <a:r>
            <a:rPr lang="en-US"/>
            <a:t>are key to understanding </a:t>
          </a:r>
          <a:r>
            <a:rPr lang="en-US" b="1" i="1"/>
            <a:t>object-oriented</a:t>
          </a:r>
          <a:r>
            <a:rPr lang="en-US" b="1"/>
            <a:t> technology</a:t>
          </a:r>
          <a:r>
            <a:rPr lang="en-US"/>
            <a:t>. Look around right now and you'll find </a:t>
          </a:r>
          <a:r>
            <a:rPr lang="en-US" b="1"/>
            <a:t>many examples of real-world objects</a:t>
          </a:r>
          <a:r>
            <a:rPr lang="en-US"/>
            <a:t>: your </a:t>
          </a:r>
          <a:r>
            <a:rPr lang="en-US" b="1"/>
            <a:t>dog, your desk</a:t>
          </a:r>
          <a:r>
            <a:rPr lang="en-US"/>
            <a:t>, your television set, your bicycle.</a:t>
          </a:r>
        </a:p>
      </dgm:t>
    </dgm:pt>
    <dgm:pt modelId="{A3A98720-3F60-40CB-B9CC-F7E0734AB2AB}" type="parTrans" cxnId="{C296CA68-B359-4966-B9B8-49C6FE6B72C3}">
      <dgm:prSet/>
      <dgm:spPr/>
      <dgm:t>
        <a:bodyPr/>
        <a:lstStyle/>
        <a:p>
          <a:endParaRPr lang="en-US"/>
        </a:p>
      </dgm:t>
    </dgm:pt>
    <dgm:pt modelId="{05E23555-0FF6-4292-BFBC-B22B9BD615E9}" type="sibTrans" cxnId="{C296CA68-B359-4966-B9B8-49C6FE6B72C3}">
      <dgm:prSet/>
      <dgm:spPr/>
      <dgm:t>
        <a:bodyPr/>
        <a:lstStyle/>
        <a:p>
          <a:endParaRPr lang="en-US"/>
        </a:p>
      </dgm:t>
    </dgm:pt>
    <dgm:pt modelId="{6169E507-3768-4FED-B590-09C4AC89FA17}">
      <dgm:prSet/>
      <dgm:spPr/>
      <dgm:t>
        <a:bodyPr/>
        <a:lstStyle/>
        <a:p>
          <a:r>
            <a:rPr lang="en-US" b="1"/>
            <a:t>Real-world objects share two characteristics</a:t>
          </a:r>
          <a:r>
            <a:rPr lang="en-US"/>
            <a:t>: They all have </a:t>
          </a:r>
          <a:r>
            <a:rPr lang="en-US" b="1" i="1"/>
            <a:t>state</a:t>
          </a:r>
          <a:r>
            <a:rPr lang="en-US"/>
            <a:t> and </a:t>
          </a:r>
          <a:r>
            <a:rPr lang="en-US" b="1" i="1"/>
            <a:t>behavior</a:t>
          </a:r>
          <a:r>
            <a:rPr lang="en-US"/>
            <a:t>. </a:t>
          </a:r>
        </a:p>
      </dgm:t>
    </dgm:pt>
    <dgm:pt modelId="{EB743E16-B00F-4D76-A443-8686A177974E}" type="parTrans" cxnId="{3F70AC16-FAAA-4F80-81F3-8AD7A547EA29}">
      <dgm:prSet/>
      <dgm:spPr/>
      <dgm:t>
        <a:bodyPr/>
        <a:lstStyle/>
        <a:p>
          <a:endParaRPr lang="en-US"/>
        </a:p>
      </dgm:t>
    </dgm:pt>
    <dgm:pt modelId="{32BE4C4F-D081-436C-9E46-C61B65646394}" type="sibTrans" cxnId="{3F70AC16-FAAA-4F80-81F3-8AD7A547EA29}">
      <dgm:prSet/>
      <dgm:spPr/>
      <dgm:t>
        <a:bodyPr/>
        <a:lstStyle/>
        <a:p>
          <a:endParaRPr lang="en-US"/>
        </a:p>
      </dgm:t>
    </dgm:pt>
    <dgm:pt modelId="{B20404D5-6086-4742-AABE-BD9ED24C3140}">
      <dgm:prSet/>
      <dgm:spPr/>
      <dgm:t>
        <a:bodyPr/>
        <a:lstStyle/>
        <a:p>
          <a:r>
            <a:rPr lang="en-US" dirty="0"/>
            <a:t>Dogs have </a:t>
          </a:r>
          <a:r>
            <a:rPr lang="en-US" b="1" dirty="0"/>
            <a:t>state </a:t>
          </a:r>
          <a:r>
            <a:rPr lang="en-US" dirty="0"/>
            <a:t>(name, color, breed, hungry) and </a:t>
          </a:r>
          <a:r>
            <a:rPr lang="en-US" b="1" dirty="0"/>
            <a:t>behavior </a:t>
          </a:r>
          <a:r>
            <a:rPr lang="en-US" dirty="0"/>
            <a:t>(barking, fetching, wagging tail). </a:t>
          </a:r>
        </a:p>
      </dgm:t>
    </dgm:pt>
    <dgm:pt modelId="{4A9676F0-45D7-4EF2-A629-605A54B6F980}" type="parTrans" cxnId="{5B3E2666-B263-48A4-B287-B32833A3B7B5}">
      <dgm:prSet/>
      <dgm:spPr/>
      <dgm:t>
        <a:bodyPr/>
        <a:lstStyle/>
        <a:p>
          <a:endParaRPr lang="en-US"/>
        </a:p>
      </dgm:t>
    </dgm:pt>
    <dgm:pt modelId="{44A5E95A-D26A-494F-A962-08789F74BB73}" type="sibTrans" cxnId="{5B3E2666-B263-48A4-B287-B32833A3B7B5}">
      <dgm:prSet/>
      <dgm:spPr/>
      <dgm:t>
        <a:bodyPr/>
        <a:lstStyle/>
        <a:p>
          <a:endParaRPr lang="en-US"/>
        </a:p>
      </dgm:t>
    </dgm:pt>
    <dgm:pt modelId="{67204F6B-FFAF-4BAE-829A-D8691C45F156}">
      <dgm:prSet/>
      <dgm:spPr/>
      <dgm:t>
        <a:bodyPr/>
        <a:lstStyle/>
        <a:p>
          <a:r>
            <a:rPr lang="en-US" b="1"/>
            <a:t>Identifying </a:t>
          </a:r>
          <a:r>
            <a:rPr lang="en-US"/>
            <a:t>the </a:t>
          </a:r>
          <a:r>
            <a:rPr lang="en-US" b="1"/>
            <a:t>state </a:t>
          </a:r>
          <a:r>
            <a:rPr lang="en-US"/>
            <a:t>and </a:t>
          </a:r>
          <a:r>
            <a:rPr lang="en-US" b="1"/>
            <a:t>behavior </a:t>
          </a:r>
          <a:r>
            <a:rPr lang="en-US"/>
            <a:t>for </a:t>
          </a:r>
          <a:r>
            <a:rPr lang="en-US" b="1"/>
            <a:t>real-world objects </a:t>
          </a:r>
          <a:r>
            <a:rPr lang="en-US"/>
            <a:t>is a great way to begin thinking in </a:t>
          </a:r>
          <a:r>
            <a:rPr lang="en-US" b="1"/>
            <a:t>terms of object-oriented programming</a:t>
          </a:r>
          <a:r>
            <a:rPr lang="en-US"/>
            <a:t>.</a:t>
          </a:r>
        </a:p>
      </dgm:t>
    </dgm:pt>
    <dgm:pt modelId="{34B4B304-ABB8-45EF-ACD9-F242EAFF97E3}" type="parTrans" cxnId="{1CFB6339-1D1F-405D-A566-CE93FDAB78E1}">
      <dgm:prSet/>
      <dgm:spPr/>
      <dgm:t>
        <a:bodyPr/>
        <a:lstStyle/>
        <a:p>
          <a:endParaRPr lang="en-US"/>
        </a:p>
      </dgm:t>
    </dgm:pt>
    <dgm:pt modelId="{854607F7-8931-419B-801E-BA3D25E17536}" type="sibTrans" cxnId="{1CFB6339-1D1F-405D-A566-CE93FDAB78E1}">
      <dgm:prSet/>
      <dgm:spPr/>
      <dgm:t>
        <a:bodyPr/>
        <a:lstStyle/>
        <a:p>
          <a:endParaRPr lang="en-US"/>
        </a:p>
      </dgm:t>
    </dgm:pt>
    <dgm:pt modelId="{A316BD6C-5B3E-487B-8FE7-B60882937884}">
      <dgm:prSet/>
      <dgm:spPr/>
      <dgm:t>
        <a:bodyPr/>
        <a:lstStyle/>
        <a:p>
          <a:r>
            <a:rPr lang="en-US"/>
            <a:t>For each object that you see, ask yourself two questions: "What possible states can this object be in?" and "What possible behavior can this object perform?". </a:t>
          </a:r>
        </a:p>
      </dgm:t>
    </dgm:pt>
    <dgm:pt modelId="{95AC9D80-94C2-46E0-B99F-AABC6289F375}" type="parTrans" cxnId="{F9F62C4A-18C6-40E3-8F7C-1EE4A0A99C2E}">
      <dgm:prSet/>
      <dgm:spPr/>
      <dgm:t>
        <a:bodyPr/>
        <a:lstStyle/>
        <a:p>
          <a:endParaRPr lang="en-US"/>
        </a:p>
      </dgm:t>
    </dgm:pt>
    <dgm:pt modelId="{ACE595D0-CEFE-4CD2-A56B-8FFFF3AB0111}" type="sibTrans" cxnId="{F9F62C4A-18C6-40E3-8F7C-1EE4A0A99C2E}">
      <dgm:prSet/>
      <dgm:spPr/>
      <dgm:t>
        <a:bodyPr/>
        <a:lstStyle/>
        <a:p>
          <a:endParaRPr lang="en-US"/>
        </a:p>
      </dgm:t>
    </dgm:pt>
    <dgm:pt modelId="{29264914-150F-41FD-B89A-22EE96F54D91}">
      <dgm:prSet/>
      <dgm:spPr/>
      <dgm:t>
        <a:bodyPr/>
        <a:lstStyle/>
        <a:p>
          <a:r>
            <a:rPr lang="en-US" dirty="0"/>
            <a:t>As you do, you'll notice that real-world objects </a:t>
          </a:r>
          <a:r>
            <a:rPr lang="en-US" b="1" dirty="0"/>
            <a:t>vary in complexity</a:t>
          </a:r>
          <a:r>
            <a:rPr lang="en-US" dirty="0"/>
            <a:t>; your desktop lamp may have only two possible states (on and off) and two possible behaviors (turn on, turn off), but your desktop radio might have additional states (on, off, current volume, current station) and behavior (turn on, turn off, increase volume, decrease volume, seek, scan, and tune). These real-world </a:t>
          </a:r>
          <a:r>
            <a:rPr lang="en-US" b="1" dirty="0"/>
            <a:t>observations </a:t>
          </a:r>
          <a:r>
            <a:rPr lang="en-US" dirty="0"/>
            <a:t>all </a:t>
          </a:r>
          <a:r>
            <a:rPr lang="en-US" b="1" dirty="0"/>
            <a:t>translate into the world of object-oriented programming</a:t>
          </a:r>
          <a:r>
            <a:rPr lang="en-US" dirty="0"/>
            <a:t>.</a:t>
          </a:r>
        </a:p>
      </dgm:t>
    </dgm:pt>
    <dgm:pt modelId="{0629E534-6D00-4C40-A1AA-03F70B30E01F}" type="parTrans" cxnId="{7E67A5F5-F563-4913-9909-DA48BC5EA69D}">
      <dgm:prSet/>
      <dgm:spPr/>
      <dgm:t>
        <a:bodyPr/>
        <a:lstStyle/>
        <a:p>
          <a:endParaRPr lang="en-US"/>
        </a:p>
      </dgm:t>
    </dgm:pt>
    <dgm:pt modelId="{8A93A20A-FDC1-4B2B-B43C-2934C5383A8A}" type="sibTrans" cxnId="{7E67A5F5-F563-4913-9909-DA48BC5EA69D}">
      <dgm:prSet/>
      <dgm:spPr/>
      <dgm:t>
        <a:bodyPr/>
        <a:lstStyle/>
        <a:p>
          <a:endParaRPr lang="en-US"/>
        </a:p>
      </dgm:t>
    </dgm:pt>
    <dgm:pt modelId="{77FBA1AC-354D-4C40-948D-7BE7FC8EE70E}" type="pres">
      <dgm:prSet presAssocID="{75F9041F-19DA-4024-A815-292043C5A746}" presName="root" presStyleCnt="0">
        <dgm:presLayoutVars>
          <dgm:dir/>
          <dgm:resizeHandles val="exact"/>
        </dgm:presLayoutVars>
      </dgm:prSet>
      <dgm:spPr/>
    </dgm:pt>
    <dgm:pt modelId="{FD62ECDE-F27D-4D46-9C0B-97A7B9002709}" type="pres">
      <dgm:prSet presAssocID="{75F9041F-19DA-4024-A815-292043C5A746}" presName="container" presStyleCnt="0">
        <dgm:presLayoutVars>
          <dgm:dir/>
          <dgm:resizeHandles val="exact"/>
        </dgm:presLayoutVars>
      </dgm:prSet>
      <dgm:spPr/>
    </dgm:pt>
    <dgm:pt modelId="{7B82F7F6-D99A-4305-9A29-D7FF9B69D50F}" type="pres">
      <dgm:prSet presAssocID="{62C8E2E8-8445-4E95-8C66-3C060F047B05}" presName="compNode" presStyleCnt="0"/>
      <dgm:spPr/>
    </dgm:pt>
    <dgm:pt modelId="{CE6C1B77-A2DF-48AB-8330-F3B9CE48D81C}" type="pres">
      <dgm:prSet presAssocID="{62C8E2E8-8445-4E95-8C66-3C060F047B05}" presName="iconBgRect" presStyleLbl="bgShp" presStyleIdx="0" presStyleCnt="6"/>
      <dgm:spPr/>
    </dgm:pt>
    <dgm:pt modelId="{DF1ED1A0-2F59-4A86-90CE-41130565E956}" type="pres">
      <dgm:prSet presAssocID="{62C8E2E8-8445-4E95-8C66-3C060F047B05}"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terpillar"/>
        </a:ext>
      </dgm:extLst>
    </dgm:pt>
    <dgm:pt modelId="{46A0598F-294E-47FC-882E-B0C3AD9B501F}" type="pres">
      <dgm:prSet presAssocID="{62C8E2E8-8445-4E95-8C66-3C060F047B05}" presName="spaceRect" presStyleCnt="0"/>
      <dgm:spPr/>
    </dgm:pt>
    <dgm:pt modelId="{6BE790B3-B82B-4C58-B5B9-2C21E0DB7EAA}" type="pres">
      <dgm:prSet presAssocID="{62C8E2E8-8445-4E95-8C66-3C060F047B05}" presName="textRect" presStyleLbl="revTx" presStyleIdx="0" presStyleCnt="6">
        <dgm:presLayoutVars>
          <dgm:chMax val="1"/>
          <dgm:chPref val="1"/>
        </dgm:presLayoutVars>
      </dgm:prSet>
      <dgm:spPr/>
    </dgm:pt>
    <dgm:pt modelId="{30FA5B48-064E-4F0F-B7F5-4DDE6215D6EC}" type="pres">
      <dgm:prSet presAssocID="{05E23555-0FF6-4292-BFBC-B22B9BD615E9}" presName="sibTrans" presStyleLbl="sibTrans2D1" presStyleIdx="0" presStyleCnt="0"/>
      <dgm:spPr/>
    </dgm:pt>
    <dgm:pt modelId="{51411ECA-8A2B-4D69-BB5B-7BF0B10F7127}" type="pres">
      <dgm:prSet presAssocID="{6169E507-3768-4FED-B590-09C4AC89FA17}" presName="compNode" presStyleCnt="0"/>
      <dgm:spPr/>
    </dgm:pt>
    <dgm:pt modelId="{0F7E22C1-DA19-48C6-B438-56D05F05079B}" type="pres">
      <dgm:prSet presAssocID="{6169E507-3768-4FED-B590-09C4AC89FA17}" presName="iconBgRect" presStyleLbl="bgShp" presStyleIdx="1" presStyleCnt="6"/>
      <dgm:spPr/>
    </dgm:pt>
    <dgm:pt modelId="{41F593AC-824F-4327-A164-32E0C809FD96}" type="pres">
      <dgm:prSet presAssocID="{6169E507-3768-4FED-B590-09C4AC89FA17}"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orth America"/>
        </a:ext>
      </dgm:extLst>
    </dgm:pt>
    <dgm:pt modelId="{E6D4A270-F450-4203-B37F-D0F327D55058}" type="pres">
      <dgm:prSet presAssocID="{6169E507-3768-4FED-B590-09C4AC89FA17}" presName="spaceRect" presStyleCnt="0"/>
      <dgm:spPr/>
    </dgm:pt>
    <dgm:pt modelId="{377B0097-977D-4679-B815-29A7A2F6DEB7}" type="pres">
      <dgm:prSet presAssocID="{6169E507-3768-4FED-B590-09C4AC89FA17}" presName="textRect" presStyleLbl="revTx" presStyleIdx="1" presStyleCnt="6">
        <dgm:presLayoutVars>
          <dgm:chMax val="1"/>
          <dgm:chPref val="1"/>
        </dgm:presLayoutVars>
      </dgm:prSet>
      <dgm:spPr/>
    </dgm:pt>
    <dgm:pt modelId="{20C86CA5-8DA9-43BA-849C-40499FB0DFD2}" type="pres">
      <dgm:prSet presAssocID="{32BE4C4F-D081-436C-9E46-C61B65646394}" presName="sibTrans" presStyleLbl="sibTrans2D1" presStyleIdx="0" presStyleCnt="0"/>
      <dgm:spPr/>
    </dgm:pt>
    <dgm:pt modelId="{520510E2-D677-486D-85A1-802D1AD579D7}" type="pres">
      <dgm:prSet presAssocID="{B20404D5-6086-4742-AABE-BD9ED24C3140}" presName="compNode" presStyleCnt="0"/>
      <dgm:spPr/>
    </dgm:pt>
    <dgm:pt modelId="{6B620E3D-3A66-4A88-8547-F642D4BD7675}" type="pres">
      <dgm:prSet presAssocID="{B20404D5-6086-4742-AABE-BD9ED24C3140}" presName="iconBgRect" presStyleLbl="bgShp" presStyleIdx="2" presStyleCnt="6"/>
      <dgm:spPr/>
    </dgm:pt>
    <dgm:pt modelId="{068F2A2A-46E7-42F0-AD5B-27361590F6F4}" type="pres">
      <dgm:prSet presAssocID="{B20404D5-6086-4742-AABE-BD9ED24C314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g"/>
        </a:ext>
      </dgm:extLst>
    </dgm:pt>
    <dgm:pt modelId="{25E868D4-1BC0-41C4-8068-D6F0D9C2FC6D}" type="pres">
      <dgm:prSet presAssocID="{B20404D5-6086-4742-AABE-BD9ED24C3140}" presName="spaceRect" presStyleCnt="0"/>
      <dgm:spPr/>
    </dgm:pt>
    <dgm:pt modelId="{325DCB3E-AE42-4393-9FA4-25DAFDACD968}" type="pres">
      <dgm:prSet presAssocID="{B20404D5-6086-4742-AABE-BD9ED24C3140}" presName="textRect" presStyleLbl="revTx" presStyleIdx="2" presStyleCnt="6">
        <dgm:presLayoutVars>
          <dgm:chMax val="1"/>
          <dgm:chPref val="1"/>
        </dgm:presLayoutVars>
      </dgm:prSet>
      <dgm:spPr/>
    </dgm:pt>
    <dgm:pt modelId="{EFE6EC05-F801-4942-BD76-F4A37DB239C5}" type="pres">
      <dgm:prSet presAssocID="{44A5E95A-D26A-494F-A962-08789F74BB73}" presName="sibTrans" presStyleLbl="sibTrans2D1" presStyleIdx="0" presStyleCnt="0"/>
      <dgm:spPr/>
    </dgm:pt>
    <dgm:pt modelId="{828E48F8-743C-4B0E-90C9-A8F4284DA6E9}" type="pres">
      <dgm:prSet presAssocID="{67204F6B-FFAF-4BAE-829A-D8691C45F156}" presName="compNode" presStyleCnt="0"/>
      <dgm:spPr/>
    </dgm:pt>
    <dgm:pt modelId="{D6CC5142-0F23-4812-A91F-04B4E803B47C}" type="pres">
      <dgm:prSet presAssocID="{67204F6B-FFAF-4BAE-829A-D8691C45F156}" presName="iconBgRect" presStyleLbl="bgShp" presStyleIdx="3" presStyleCnt="6"/>
      <dgm:spPr/>
    </dgm:pt>
    <dgm:pt modelId="{1EF4635B-6A56-4185-8A76-B1E1330F6137}" type="pres">
      <dgm:prSet presAssocID="{67204F6B-FFAF-4BAE-829A-D8691C45F15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ght Bulb and Gear"/>
        </a:ext>
      </dgm:extLst>
    </dgm:pt>
    <dgm:pt modelId="{A2D97850-8D36-48F6-BDAC-C4927977B3F5}" type="pres">
      <dgm:prSet presAssocID="{67204F6B-FFAF-4BAE-829A-D8691C45F156}" presName="spaceRect" presStyleCnt="0"/>
      <dgm:spPr/>
    </dgm:pt>
    <dgm:pt modelId="{8E712E21-7619-45C6-908B-CD98088F5303}" type="pres">
      <dgm:prSet presAssocID="{67204F6B-FFAF-4BAE-829A-D8691C45F156}" presName="textRect" presStyleLbl="revTx" presStyleIdx="3" presStyleCnt="6">
        <dgm:presLayoutVars>
          <dgm:chMax val="1"/>
          <dgm:chPref val="1"/>
        </dgm:presLayoutVars>
      </dgm:prSet>
      <dgm:spPr/>
    </dgm:pt>
    <dgm:pt modelId="{F729A88A-0227-4411-BFC4-E819B92FB994}" type="pres">
      <dgm:prSet presAssocID="{854607F7-8931-419B-801E-BA3D25E17536}" presName="sibTrans" presStyleLbl="sibTrans2D1" presStyleIdx="0" presStyleCnt="0"/>
      <dgm:spPr/>
    </dgm:pt>
    <dgm:pt modelId="{666ECF4E-6654-40CC-8897-4FF73686DBBE}" type="pres">
      <dgm:prSet presAssocID="{A316BD6C-5B3E-487B-8FE7-B60882937884}" presName="compNode" presStyleCnt="0"/>
      <dgm:spPr/>
    </dgm:pt>
    <dgm:pt modelId="{6C2D832D-57FA-446D-88DE-4D2C6D94AE26}" type="pres">
      <dgm:prSet presAssocID="{A316BD6C-5B3E-487B-8FE7-B60882937884}" presName="iconBgRect" presStyleLbl="bgShp" presStyleIdx="4" presStyleCnt="6"/>
      <dgm:spPr/>
    </dgm:pt>
    <dgm:pt modelId="{9FF06E0F-6F23-491E-8608-12F874DE4AF1}" type="pres">
      <dgm:prSet presAssocID="{A316BD6C-5B3E-487B-8FE7-B6088293788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keleton"/>
        </a:ext>
      </dgm:extLst>
    </dgm:pt>
    <dgm:pt modelId="{202EA8F3-A3E5-4A3A-896A-7B5AF09BDC67}" type="pres">
      <dgm:prSet presAssocID="{A316BD6C-5B3E-487B-8FE7-B60882937884}" presName="spaceRect" presStyleCnt="0"/>
      <dgm:spPr/>
    </dgm:pt>
    <dgm:pt modelId="{1B249F33-4FBE-459F-A258-27E77DE958BE}" type="pres">
      <dgm:prSet presAssocID="{A316BD6C-5B3E-487B-8FE7-B60882937884}" presName="textRect" presStyleLbl="revTx" presStyleIdx="4" presStyleCnt="6">
        <dgm:presLayoutVars>
          <dgm:chMax val="1"/>
          <dgm:chPref val="1"/>
        </dgm:presLayoutVars>
      </dgm:prSet>
      <dgm:spPr/>
    </dgm:pt>
    <dgm:pt modelId="{107676BD-21A4-47EF-A266-C051031981C3}" type="pres">
      <dgm:prSet presAssocID="{ACE595D0-CEFE-4CD2-A56B-8FFFF3AB0111}" presName="sibTrans" presStyleLbl="sibTrans2D1" presStyleIdx="0" presStyleCnt="0"/>
      <dgm:spPr/>
    </dgm:pt>
    <dgm:pt modelId="{58526C6F-3178-4DE2-BD77-55A1DDD3B69E}" type="pres">
      <dgm:prSet presAssocID="{29264914-150F-41FD-B89A-22EE96F54D91}" presName="compNode" presStyleCnt="0"/>
      <dgm:spPr/>
    </dgm:pt>
    <dgm:pt modelId="{4F6CD216-F21B-42DD-9B53-2FCA4085F417}" type="pres">
      <dgm:prSet presAssocID="{29264914-150F-41FD-B89A-22EE96F54D91}" presName="iconBgRect" presStyleLbl="bgShp" presStyleIdx="5" presStyleCnt="6"/>
      <dgm:spPr/>
    </dgm:pt>
    <dgm:pt modelId="{98D5F5D0-C15F-452E-AF8D-56AC511651A7}" type="pres">
      <dgm:prSet presAssocID="{29264914-150F-41FD-B89A-22EE96F54D9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atabase"/>
        </a:ext>
      </dgm:extLst>
    </dgm:pt>
    <dgm:pt modelId="{7F0B18C2-D39E-49E1-8250-BC85F921BC52}" type="pres">
      <dgm:prSet presAssocID="{29264914-150F-41FD-B89A-22EE96F54D91}" presName="spaceRect" presStyleCnt="0"/>
      <dgm:spPr/>
    </dgm:pt>
    <dgm:pt modelId="{BF8CBE31-81E5-45C0-A1FE-E714E450CF36}" type="pres">
      <dgm:prSet presAssocID="{29264914-150F-41FD-B89A-22EE96F54D91}" presName="textRect" presStyleLbl="revTx" presStyleIdx="5" presStyleCnt="6">
        <dgm:presLayoutVars>
          <dgm:chMax val="1"/>
          <dgm:chPref val="1"/>
        </dgm:presLayoutVars>
      </dgm:prSet>
      <dgm:spPr/>
    </dgm:pt>
  </dgm:ptLst>
  <dgm:cxnLst>
    <dgm:cxn modelId="{3F70AC16-FAAA-4F80-81F3-8AD7A547EA29}" srcId="{75F9041F-19DA-4024-A815-292043C5A746}" destId="{6169E507-3768-4FED-B590-09C4AC89FA17}" srcOrd="1" destOrd="0" parTransId="{EB743E16-B00F-4D76-A443-8686A177974E}" sibTransId="{32BE4C4F-D081-436C-9E46-C61B65646394}"/>
    <dgm:cxn modelId="{1CFB6339-1D1F-405D-A566-CE93FDAB78E1}" srcId="{75F9041F-19DA-4024-A815-292043C5A746}" destId="{67204F6B-FFAF-4BAE-829A-D8691C45F156}" srcOrd="3" destOrd="0" parTransId="{34B4B304-ABB8-45EF-ACD9-F242EAFF97E3}" sibTransId="{854607F7-8931-419B-801E-BA3D25E17536}"/>
    <dgm:cxn modelId="{37F11A3B-9DAA-4AFA-B87D-BDADA7CD767A}" type="presOf" srcId="{62C8E2E8-8445-4E95-8C66-3C060F047B05}" destId="{6BE790B3-B82B-4C58-B5B9-2C21E0DB7EAA}" srcOrd="0" destOrd="0" presId="urn:microsoft.com/office/officeart/2018/2/layout/IconCircleList"/>
    <dgm:cxn modelId="{5B3E2666-B263-48A4-B287-B32833A3B7B5}" srcId="{75F9041F-19DA-4024-A815-292043C5A746}" destId="{B20404D5-6086-4742-AABE-BD9ED24C3140}" srcOrd="2" destOrd="0" parTransId="{4A9676F0-45D7-4EF2-A629-605A54B6F980}" sibTransId="{44A5E95A-D26A-494F-A962-08789F74BB73}"/>
    <dgm:cxn modelId="{C296CA68-B359-4966-B9B8-49C6FE6B72C3}" srcId="{75F9041F-19DA-4024-A815-292043C5A746}" destId="{62C8E2E8-8445-4E95-8C66-3C060F047B05}" srcOrd="0" destOrd="0" parTransId="{A3A98720-3F60-40CB-B9CC-F7E0734AB2AB}" sibTransId="{05E23555-0FF6-4292-BFBC-B22B9BD615E9}"/>
    <dgm:cxn modelId="{F9F62C4A-18C6-40E3-8F7C-1EE4A0A99C2E}" srcId="{75F9041F-19DA-4024-A815-292043C5A746}" destId="{A316BD6C-5B3E-487B-8FE7-B60882937884}" srcOrd="4" destOrd="0" parTransId="{95AC9D80-94C2-46E0-B99F-AABC6289F375}" sibTransId="{ACE595D0-CEFE-4CD2-A56B-8FFFF3AB0111}"/>
    <dgm:cxn modelId="{67E04F6B-E63B-4E52-B88C-CE1D37FA5200}" type="presOf" srcId="{05E23555-0FF6-4292-BFBC-B22B9BD615E9}" destId="{30FA5B48-064E-4F0F-B7F5-4DDE6215D6EC}" srcOrd="0" destOrd="0" presId="urn:microsoft.com/office/officeart/2018/2/layout/IconCircleList"/>
    <dgm:cxn modelId="{25F5454C-7C33-4B3A-90D6-76E6B9552C1B}" type="presOf" srcId="{75F9041F-19DA-4024-A815-292043C5A746}" destId="{77FBA1AC-354D-4C40-948D-7BE7FC8EE70E}" srcOrd="0" destOrd="0" presId="urn:microsoft.com/office/officeart/2018/2/layout/IconCircleList"/>
    <dgm:cxn modelId="{36675950-8737-4BB9-828B-276AAF9248C9}" type="presOf" srcId="{67204F6B-FFAF-4BAE-829A-D8691C45F156}" destId="{8E712E21-7619-45C6-908B-CD98088F5303}" srcOrd="0" destOrd="0" presId="urn:microsoft.com/office/officeart/2018/2/layout/IconCircleList"/>
    <dgm:cxn modelId="{D2097583-859C-47D3-A90D-528B4F1149C3}" type="presOf" srcId="{32BE4C4F-D081-436C-9E46-C61B65646394}" destId="{20C86CA5-8DA9-43BA-849C-40499FB0DFD2}" srcOrd="0" destOrd="0" presId="urn:microsoft.com/office/officeart/2018/2/layout/IconCircleList"/>
    <dgm:cxn modelId="{ACB9C490-315C-40E9-8A8F-BD7FFA8AD2E6}" type="presOf" srcId="{44A5E95A-D26A-494F-A962-08789F74BB73}" destId="{EFE6EC05-F801-4942-BD76-F4A37DB239C5}" srcOrd="0" destOrd="0" presId="urn:microsoft.com/office/officeart/2018/2/layout/IconCircleList"/>
    <dgm:cxn modelId="{89D48A9C-21CF-4769-A0CC-3ECC2A2130B4}" type="presOf" srcId="{854607F7-8931-419B-801E-BA3D25E17536}" destId="{F729A88A-0227-4411-BFC4-E819B92FB994}" srcOrd="0" destOrd="0" presId="urn:microsoft.com/office/officeart/2018/2/layout/IconCircleList"/>
    <dgm:cxn modelId="{636356AA-A3DC-46E1-9AC4-F37075AD9CFC}" type="presOf" srcId="{ACE595D0-CEFE-4CD2-A56B-8FFFF3AB0111}" destId="{107676BD-21A4-47EF-A266-C051031981C3}" srcOrd="0" destOrd="0" presId="urn:microsoft.com/office/officeart/2018/2/layout/IconCircleList"/>
    <dgm:cxn modelId="{CBB07FAB-B447-4EAB-82A0-453D9A8D856A}" type="presOf" srcId="{29264914-150F-41FD-B89A-22EE96F54D91}" destId="{BF8CBE31-81E5-45C0-A1FE-E714E450CF36}" srcOrd="0" destOrd="0" presId="urn:microsoft.com/office/officeart/2018/2/layout/IconCircleList"/>
    <dgm:cxn modelId="{441CE6BE-9EC4-4C24-9856-A0D3DC1D966D}" type="presOf" srcId="{A316BD6C-5B3E-487B-8FE7-B60882937884}" destId="{1B249F33-4FBE-459F-A258-27E77DE958BE}" srcOrd="0" destOrd="0" presId="urn:microsoft.com/office/officeart/2018/2/layout/IconCircleList"/>
    <dgm:cxn modelId="{C2165EE0-81D6-4DA6-B035-871430E1B2EA}" type="presOf" srcId="{B20404D5-6086-4742-AABE-BD9ED24C3140}" destId="{325DCB3E-AE42-4393-9FA4-25DAFDACD968}" srcOrd="0" destOrd="0" presId="urn:microsoft.com/office/officeart/2018/2/layout/IconCircleList"/>
    <dgm:cxn modelId="{7E67A5F5-F563-4913-9909-DA48BC5EA69D}" srcId="{75F9041F-19DA-4024-A815-292043C5A746}" destId="{29264914-150F-41FD-B89A-22EE96F54D91}" srcOrd="5" destOrd="0" parTransId="{0629E534-6D00-4C40-A1AA-03F70B30E01F}" sibTransId="{8A93A20A-FDC1-4B2B-B43C-2934C5383A8A}"/>
    <dgm:cxn modelId="{2BC7FEFE-DD0D-46EF-8DEF-2850B1B8AD87}" type="presOf" srcId="{6169E507-3768-4FED-B590-09C4AC89FA17}" destId="{377B0097-977D-4679-B815-29A7A2F6DEB7}" srcOrd="0" destOrd="0" presId="urn:microsoft.com/office/officeart/2018/2/layout/IconCircleList"/>
    <dgm:cxn modelId="{02E37086-CBA8-4F4F-8DD7-76BF18CF7CAB}" type="presParOf" srcId="{77FBA1AC-354D-4C40-948D-7BE7FC8EE70E}" destId="{FD62ECDE-F27D-4D46-9C0B-97A7B9002709}" srcOrd="0" destOrd="0" presId="urn:microsoft.com/office/officeart/2018/2/layout/IconCircleList"/>
    <dgm:cxn modelId="{A2E6DEA9-FB78-49BD-97D0-A327AEABFC3C}" type="presParOf" srcId="{FD62ECDE-F27D-4D46-9C0B-97A7B9002709}" destId="{7B82F7F6-D99A-4305-9A29-D7FF9B69D50F}" srcOrd="0" destOrd="0" presId="urn:microsoft.com/office/officeart/2018/2/layout/IconCircleList"/>
    <dgm:cxn modelId="{325E63A0-2493-43BD-9E36-803BDFE48EE7}" type="presParOf" srcId="{7B82F7F6-D99A-4305-9A29-D7FF9B69D50F}" destId="{CE6C1B77-A2DF-48AB-8330-F3B9CE48D81C}" srcOrd="0" destOrd="0" presId="urn:microsoft.com/office/officeart/2018/2/layout/IconCircleList"/>
    <dgm:cxn modelId="{36C94091-4B20-48F0-A351-A7DA78A7ACEE}" type="presParOf" srcId="{7B82F7F6-D99A-4305-9A29-D7FF9B69D50F}" destId="{DF1ED1A0-2F59-4A86-90CE-41130565E956}" srcOrd="1" destOrd="0" presId="urn:microsoft.com/office/officeart/2018/2/layout/IconCircleList"/>
    <dgm:cxn modelId="{318F2262-F269-44FE-A718-F58A34BEC5D8}" type="presParOf" srcId="{7B82F7F6-D99A-4305-9A29-D7FF9B69D50F}" destId="{46A0598F-294E-47FC-882E-B0C3AD9B501F}" srcOrd="2" destOrd="0" presId="urn:microsoft.com/office/officeart/2018/2/layout/IconCircleList"/>
    <dgm:cxn modelId="{09FBC787-F916-4CCF-82F3-F55ACAFC1A7E}" type="presParOf" srcId="{7B82F7F6-D99A-4305-9A29-D7FF9B69D50F}" destId="{6BE790B3-B82B-4C58-B5B9-2C21E0DB7EAA}" srcOrd="3" destOrd="0" presId="urn:microsoft.com/office/officeart/2018/2/layout/IconCircleList"/>
    <dgm:cxn modelId="{2BEF539A-22F4-46E2-A63C-015CAC117C5E}" type="presParOf" srcId="{FD62ECDE-F27D-4D46-9C0B-97A7B9002709}" destId="{30FA5B48-064E-4F0F-B7F5-4DDE6215D6EC}" srcOrd="1" destOrd="0" presId="urn:microsoft.com/office/officeart/2018/2/layout/IconCircleList"/>
    <dgm:cxn modelId="{01664D5C-A45C-4966-8994-8580DDA63D4E}" type="presParOf" srcId="{FD62ECDE-F27D-4D46-9C0B-97A7B9002709}" destId="{51411ECA-8A2B-4D69-BB5B-7BF0B10F7127}" srcOrd="2" destOrd="0" presId="urn:microsoft.com/office/officeart/2018/2/layout/IconCircleList"/>
    <dgm:cxn modelId="{97B03F40-F358-4F5E-AA40-7162F72D2E17}" type="presParOf" srcId="{51411ECA-8A2B-4D69-BB5B-7BF0B10F7127}" destId="{0F7E22C1-DA19-48C6-B438-56D05F05079B}" srcOrd="0" destOrd="0" presId="urn:microsoft.com/office/officeart/2018/2/layout/IconCircleList"/>
    <dgm:cxn modelId="{5C7F67D1-1E05-497B-839F-C3AE22953675}" type="presParOf" srcId="{51411ECA-8A2B-4D69-BB5B-7BF0B10F7127}" destId="{41F593AC-824F-4327-A164-32E0C809FD96}" srcOrd="1" destOrd="0" presId="urn:microsoft.com/office/officeart/2018/2/layout/IconCircleList"/>
    <dgm:cxn modelId="{96C4CDBC-35D5-47F8-A72D-658BECBB4560}" type="presParOf" srcId="{51411ECA-8A2B-4D69-BB5B-7BF0B10F7127}" destId="{E6D4A270-F450-4203-B37F-D0F327D55058}" srcOrd="2" destOrd="0" presId="urn:microsoft.com/office/officeart/2018/2/layout/IconCircleList"/>
    <dgm:cxn modelId="{176ABB96-0120-4F92-BD01-92E6EC59AA88}" type="presParOf" srcId="{51411ECA-8A2B-4D69-BB5B-7BF0B10F7127}" destId="{377B0097-977D-4679-B815-29A7A2F6DEB7}" srcOrd="3" destOrd="0" presId="urn:microsoft.com/office/officeart/2018/2/layout/IconCircleList"/>
    <dgm:cxn modelId="{F8E1E21A-CADB-422E-B88F-21659B59E528}" type="presParOf" srcId="{FD62ECDE-F27D-4D46-9C0B-97A7B9002709}" destId="{20C86CA5-8DA9-43BA-849C-40499FB0DFD2}" srcOrd="3" destOrd="0" presId="urn:microsoft.com/office/officeart/2018/2/layout/IconCircleList"/>
    <dgm:cxn modelId="{8B5D8C4C-8444-46B0-87F1-FE0B81132DDB}" type="presParOf" srcId="{FD62ECDE-F27D-4D46-9C0B-97A7B9002709}" destId="{520510E2-D677-486D-85A1-802D1AD579D7}" srcOrd="4" destOrd="0" presId="urn:microsoft.com/office/officeart/2018/2/layout/IconCircleList"/>
    <dgm:cxn modelId="{23FF7355-4B5A-4E4E-9BC6-09C38322AFDB}" type="presParOf" srcId="{520510E2-D677-486D-85A1-802D1AD579D7}" destId="{6B620E3D-3A66-4A88-8547-F642D4BD7675}" srcOrd="0" destOrd="0" presId="urn:microsoft.com/office/officeart/2018/2/layout/IconCircleList"/>
    <dgm:cxn modelId="{1DB0048F-6561-4D9C-B673-50982885D590}" type="presParOf" srcId="{520510E2-D677-486D-85A1-802D1AD579D7}" destId="{068F2A2A-46E7-42F0-AD5B-27361590F6F4}" srcOrd="1" destOrd="0" presId="urn:microsoft.com/office/officeart/2018/2/layout/IconCircleList"/>
    <dgm:cxn modelId="{577B34FA-0545-4E39-BB12-44A452621BB2}" type="presParOf" srcId="{520510E2-D677-486D-85A1-802D1AD579D7}" destId="{25E868D4-1BC0-41C4-8068-D6F0D9C2FC6D}" srcOrd="2" destOrd="0" presId="urn:microsoft.com/office/officeart/2018/2/layout/IconCircleList"/>
    <dgm:cxn modelId="{E79993DF-5135-438D-A0AD-D14C34D195BD}" type="presParOf" srcId="{520510E2-D677-486D-85A1-802D1AD579D7}" destId="{325DCB3E-AE42-4393-9FA4-25DAFDACD968}" srcOrd="3" destOrd="0" presId="urn:microsoft.com/office/officeart/2018/2/layout/IconCircleList"/>
    <dgm:cxn modelId="{4D4F6198-AA2E-431C-9465-44B57E70FF90}" type="presParOf" srcId="{FD62ECDE-F27D-4D46-9C0B-97A7B9002709}" destId="{EFE6EC05-F801-4942-BD76-F4A37DB239C5}" srcOrd="5" destOrd="0" presId="urn:microsoft.com/office/officeart/2018/2/layout/IconCircleList"/>
    <dgm:cxn modelId="{7909960C-651A-433F-88ED-2FDE48097599}" type="presParOf" srcId="{FD62ECDE-F27D-4D46-9C0B-97A7B9002709}" destId="{828E48F8-743C-4B0E-90C9-A8F4284DA6E9}" srcOrd="6" destOrd="0" presId="urn:microsoft.com/office/officeart/2018/2/layout/IconCircleList"/>
    <dgm:cxn modelId="{97CCF0A8-3D20-4740-8737-D0DF319A4084}" type="presParOf" srcId="{828E48F8-743C-4B0E-90C9-A8F4284DA6E9}" destId="{D6CC5142-0F23-4812-A91F-04B4E803B47C}" srcOrd="0" destOrd="0" presId="urn:microsoft.com/office/officeart/2018/2/layout/IconCircleList"/>
    <dgm:cxn modelId="{2C5626D1-297D-49C8-8DDC-8BF078A50EE7}" type="presParOf" srcId="{828E48F8-743C-4B0E-90C9-A8F4284DA6E9}" destId="{1EF4635B-6A56-4185-8A76-B1E1330F6137}" srcOrd="1" destOrd="0" presId="urn:microsoft.com/office/officeart/2018/2/layout/IconCircleList"/>
    <dgm:cxn modelId="{7D306B58-AB25-4B8C-AD51-C0624E00AE4B}" type="presParOf" srcId="{828E48F8-743C-4B0E-90C9-A8F4284DA6E9}" destId="{A2D97850-8D36-48F6-BDAC-C4927977B3F5}" srcOrd="2" destOrd="0" presId="urn:microsoft.com/office/officeart/2018/2/layout/IconCircleList"/>
    <dgm:cxn modelId="{25D00F84-B86F-4847-A965-949A94559617}" type="presParOf" srcId="{828E48F8-743C-4B0E-90C9-A8F4284DA6E9}" destId="{8E712E21-7619-45C6-908B-CD98088F5303}" srcOrd="3" destOrd="0" presId="urn:microsoft.com/office/officeart/2018/2/layout/IconCircleList"/>
    <dgm:cxn modelId="{76965A69-BA5D-466D-8025-81571F02818A}" type="presParOf" srcId="{FD62ECDE-F27D-4D46-9C0B-97A7B9002709}" destId="{F729A88A-0227-4411-BFC4-E819B92FB994}" srcOrd="7" destOrd="0" presId="urn:microsoft.com/office/officeart/2018/2/layout/IconCircleList"/>
    <dgm:cxn modelId="{6F9FAC46-5D6F-46C6-856F-0A7B207A7D05}" type="presParOf" srcId="{FD62ECDE-F27D-4D46-9C0B-97A7B9002709}" destId="{666ECF4E-6654-40CC-8897-4FF73686DBBE}" srcOrd="8" destOrd="0" presId="urn:microsoft.com/office/officeart/2018/2/layout/IconCircleList"/>
    <dgm:cxn modelId="{11FE7C4A-C37C-463C-B6AE-6327A6E622D6}" type="presParOf" srcId="{666ECF4E-6654-40CC-8897-4FF73686DBBE}" destId="{6C2D832D-57FA-446D-88DE-4D2C6D94AE26}" srcOrd="0" destOrd="0" presId="urn:microsoft.com/office/officeart/2018/2/layout/IconCircleList"/>
    <dgm:cxn modelId="{0FF6EA5A-8BFE-4813-AC41-B940D1F1CC82}" type="presParOf" srcId="{666ECF4E-6654-40CC-8897-4FF73686DBBE}" destId="{9FF06E0F-6F23-491E-8608-12F874DE4AF1}" srcOrd="1" destOrd="0" presId="urn:microsoft.com/office/officeart/2018/2/layout/IconCircleList"/>
    <dgm:cxn modelId="{EE55CDED-DF62-4EA9-8F8F-7F653B82ED7D}" type="presParOf" srcId="{666ECF4E-6654-40CC-8897-4FF73686DBBE}" destId="{202EA8F3-A3E5-4A3A-896A-7B5AF09BDC67}" srcOrd="2" destOrd="0" presId="urn:microsoft.com/office/officeart/2018/2/layout/IconCircleList"/>
    <dgm:cxn modelId="{FF104765-19E3-43A3-9482-7A151CFF9DD9}" type="presParOf" srcId="{666ECF4E-6654-40CC-8897-4FF73686DBBE}" destId="{1B249F33-4FBE-459F-A258-27E77DE958BE}" srcOrd="3" destOrd="0" presId="urn:microsoft.com/office/officeart/2018/2/layout/IconCircleList"/>
    <dgm:cxn modelId="{3E970C11-DF95-4CEC-BBB7-979C36272ED3}" type="presParOf" srcId="{FD62ECDE-F27D-4D46-9C0B-97A7B9002709}" destId="{107676BD-21A4-47EF-A266-C051031981C3}" srcOrd="9" destOrd="0" presId="urn:microsoft.com/office/officeart/2018/2/layout/IconCircleList"/>
    <dgm:cxn modelId="{1FD74486-A517-4F3B-A84D-D77882247B69}" type="presParOf" srcId="{FD62ECDE-F27D-4D46-9C0B-97A7B9002709}" destId="{58526C6F-3178-4DE2-BD77-55A1DDD3B69E}" srcOrd="10" destOrd="0" presId="urn:microsoft.com/office/officeart/2018/2/layout/IconCircleList"/>
    <dgm:cxn modelId="{418AD611-82B5-4C2B-8ACC-146A20728749}" type="presParOf" srcId="{58526C6F-3178-4DE2-BD77-55A1DDD3B69E}" destId="{4F6CD216-F21B-42DD-9B53-2FCA4085F417}" srcOrd="0" destOrd="0" presId="urn:microsoft.com/office/officeart/2018/2/layout/IconCircleList"/>
    <dgm:cxn modelId="{8D62288E-EEA0-45B0-95A0-4BD6E1EE38B1}" type="presParOf" srcId="{58526C6F-3178-4DE2-BD77-55A1DDD3B69E}" destId="{98D5F5D0-C15F-452E-AF8D-56AC511651A7}" srcOrd="1" destOrd="0" presId="urn:microsoft.com/office/officeart/2018/2/layout/IconCircleList"/>
    <dgm:cxn modelId="{8B492D34-4D0B-4C78-840F-F7B42B0383BC}" type="presParOf" srcId="{58526C6F-3178-4DE2-BD77-55A1DDD3B69E}" destId="{7F0B18C2-D39E-49E1-8250-BC85F921BC52}" srcOrd="2" destOrd="0" presId="urn:microsoft.com/office/officeart/2018/2/layout/IconCircleList"/>
    <dgm:cxn modelId="{BED652B1-CE95-477D-8BB8-3BF740FB8CFA}" type="presParOf" srcId="{58526C6F-3178-4DE2-BD77-55A1DDD3B69E}" destId="{BF8CBE31-81E5-45C0-A1FE-E714E450CF3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6C1B77-A2DF-48AB-8330-F3B9CE48D81C}">
      <dsp:nvSpPr>
        <dsp:cNvPr id="0" name=""/>
        <dsp:cNvSpPr/>
      </dsp:nvSpPr>
      <dsp:spPr>
        <a:xfrm>
          <a:off x="1676581" y="77455"/>
          <a:ext cx="1106065" cy="110606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1ED1A0-2F59-4A86-90CE-41130565E956}">
      <dsp:nvSpPr>
        <dsp:cNvPr id="0" name=""/>
        <dsp:cNvSpPr/>
      </dsp:nvSpPr>
      <dsp:spPr>
        <a:xfrm>
          <a:off x="1908855" y="309729"/>
          <a:ext cx="641517" cy="6415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48000" cap="flat" cmpd="thickThin" algn="ctr">
          <a:noFill/>
          <a:prstDash val="solid"/>
        </a:ln>
        <a:effectLst/>
      </dsp:spPr>
      <dsp:style>
        <a:lnRef idx="2">
          <a:scrgbClr r="0" g="0" b="0"/>
        </a:lnRef>
        <a:fillRef idx="1">
          <a:scrgbClr r="0" g="0" b="0"/>
        </a:fillRef>
        <a:effectRef idx="0">
          <a:scrgbClr r="0" g="0" b="0"/>
        </a:effectRef>
        <a:fontRef idx="minor">
          <a:schemeClr val="lt1"/>
        </a:fontRef>
      </dsp:style>
    </dsp:sp>
    <dsp:sp modelId="{6BE790B3-B82B-4C58-B5B9-2C21E0DB7EAA}">
      <dsp:nvSpPr>
        <dsp:cNvPr id="0" name=""/>
        <dsp:cNvSpPr/>
      </dsp:nvSpPr>
      <dsp:spPr>
        <a:xfrm>
          <a:off x="3019660" y="77455"/>
          <a:ext cx="2607153" cy="1106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Objects </a:t>
          </a:r>
          <a:r>
            <a:rPr lang="en-US" sz="1100" kern="1200"/>
            <a:t>are key to understanding </a:t>
          </a:r>
          <a:r>
            <a:rPr lang="en-US" sz="1100" b="1" i="1" kern="1200"/>
            <a:t>object-oriented</a:t>
          </a:r>
          <a:r>
            <a:rPr lang="en-US" sz="1100" b="1" kern="1200"/>
            <a:t> technology</a:t>
          </a:r>
          <a:r>
            <a:rPr lang="en-US" sz="1100" kern="1200"/>
            <a:t>. Look around right now and you'll find </a:t>
          </a:r>
          <a:r>
            <a:rPr lang="en-US" sz="1100" b="1" kern="1200"/>
            <a:t>many examples of real-world objects</a:t>
          </a:r>
          <a:r>
            <a:rPr lang="en-US" sz="1100" kern="1200"/>
            <a:t>: your </a:t>
          </a:r>
          <a:r>
            <a:rPr lang="en-US" sz="1100" b="1" kern="1200"/>
            <a:t>dog, your desk</a:t>
          </a:r>
          <a:r>
            <a:rPr lang="en-US" sz="1100" kern="1200"/>
            <a:t>, your television set, your bicycle.</a:t>
          </a:r>
        </a:p>
      </dsp:txBody>
      <dsp:txXfrm>
        <a:off x="3019660" y="77455"/>
        <a:ext cx="2607153" cy="1106065"/>
      </dsp:txXfrm>
    </dsp:sp>
    <dsp:sp modelId="{0F7E22C1-DA19-48C6-B438-56D05F05079B}">
      <dsp:nvSpPr>
        <dsp:cNvPr id="0" name=""/>
        <dsp:cNvSpPr/>
      </dsp:nvSpPr>
      <dsp:spPr>
        <a:xfrm>
          <a:off x="6081090" y="77455"/>
          <a:ext cx="1106065" cy="110606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F593AC-824F-4327-A164-32E0C809FD96}">
      <dsp:nvSpPr>
        <dsp:cNvPr id="0" name=""/>
        <dsp:cNvSpPr/>
      </dsp:nvSpPr>
      <dsp:spPr>
        <a:xfrm>
          <a:off x="6313364" y="309729"/>
          <a:ext cx="641517" cy="6415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48000" cap="flat" cmpd="thickThin" algn="ctr">
          <a:noFill/>
          <a:prstDash val="solid"/>
        </a:ln>
        <a:effectLst/>
      </dsp:spPr>
      <dsp:style>
        <a:lnRef idx="2">
          <a:scrgbClr r="0" g="0" b="0"/>
        </a:lnRef>
        <a:fillRef idx="1">
          <a:scrgbClr r="0" g="0" b="0"/>
        </a:fillRef>
        <a:effectRef idx="0">
          <a:scrgbClr r="0" g="0" b="0"/>
        </a:effectRef>
        <a:fontRef idx="minor">
          <a:schemeClr val="lt1"/>
        </a:fontRef>
      </dsp:style>
    </dsp:sp>
    <dsp:sp modelId="{377B0097-977D-4679-B815-29A7A2F6DEB7}">
      <dsp:nvSpPr>
        <dsp:cNvPr id="0" name=""/>
        <dsp:cNvSpPr/>
      </dsp:nvSpPr>
      <dsp:spPr>
        <a:xfrm>
          <a:off x="7424169" y="77455"/>
          <a:ext cx="2607153" cy="1106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Real-world objects share two characteristics</a:t>
          </a:r>
          <a:r>
            <a:rPr lang="en-US" sz="1100" kern="1200"/>
            <a:t>: They all have </a:t>
          </a:r>
          <a:r>
            <a:rPr lang="en-US" sz="1100" b="1" i="1" kern="1200"/>
            <a:t>state</a:t>
          </a:r>
          <a:r>
            <a:rPr lang="en-US" sz="1100" kern="1200"/>
            <a:t> and </a:t>
          </a:r>
          <a:r>
            <a:rPr lang="en-US" sz="1100" b="1" i="1" kern="1200"/>
            <a:t>behavior</a:t>
          </a:r>
          <a:r>
            <a:rPr lang="en-US" sz="1100" kern="1200"/>
            <a:t>. </a:t>
          </a:r>
        </a:p>
      </dsp:txBody>
      <dsp:txXfrm>
        <a:off x="7424169" y="77455"/>
        <a:ext cx="2607153" cy="1106065"/>
      </dsp:txXfrm>
    </dsp:sp>
    <dsp:sp modelId="{6B620E3D-3A66-4A88-8547-F642D4BD7675}">
      <dsp:nvSpPr>
        <dsp:cNvPr id="0" name=""/>
        <dsp:cNvSpPr/>
      </dsp:nvSpPr>
      <dsp:spPr>
        <a:xfrm>
          <a:off x="1676581" y="2078108"/>
          <a:ext cx="1106065" cy="110606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8F2A2A-46E7-42F0-AD5B-27361590F6F4}">
      <dsp:nvSpPr>
        <dsp:cNvPr id="0" name=""/>
        <dsp:cNvSpPr/>
      </dsp:nvSpPr>
      <dsp:spPr>
        <a:xfrm>
          <a:off x="1908855" y="2310382"/>
          <a:ext cx="641517" cy="64151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48000" cap="flat" cmpd="thickThin" algn="ctr">
          <a:noFill/>
          <a:prstDash val="solid"/>
        </a:ln>
        <a:effectLst/>
      </dsp:spPr>
      <dsp:style>
        <a:lnRef idx="2">
          <a:scrgbClr r="0" g="0" b="0"/>
        </a:lnRef>
        <a:fillRef idx="1">
          <a:scrgbClr r="0" g="0" b="0"/>
        </a:fillRef>
        <a:effectRef idx="0">
          <a:scrgbClr r="0" g="0" b="0"/>
        </a:effectRef>
        <a:fontRef idx="minor">
          <a:schemeClr val="lt1"/>
        </a:fontRef>
      </dsp:style>
    </dsp:sp>
    <dsp:sp modelId="{325DCB3E-AE42-4393-9FA4-25DAFDACD968}">
      <dsp:nvSpPr>
        <dsp:cNvPr id="0" name=""/>
        <dsp:cNvSpPr/>
      </dsp:nvSpPr>
      <dsp:spPr>
        <a:xfrm>
          <a:off x="3019660" y="2078108"/>
          <a:ext cx="2607153" cy="1106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dirty="0"/>
            <a:t>Dogs have </a:t>
          </a:r>
          <a:r>
            <a:rPr lang="en-US" sz="1100" b="1" kern="1200" dirty="0"/>
            <a:t>state </a:t>
          </a:r>
          <a:r>
            <a:rPr lang="en-US" sz="1100" kern="1200" dirty="0"/>
            <a:t>(name, color, breed, hungry) and </a:t>
          </a:r>
          <a:r>
            <a:rPr lang="en-US" sz="1100" b="1" kern="1200" dirty="0"/>
            <a:t>behavior </a:t>
          </a:r>
          <a:r>
            <a:rPr lang="en-US" sz="1100" kern="1200" dirty="0"/>
            <a:t>(barking, fetching, wagging tail). </a:t>
          </a:r>
        </a:p>
      </dsp:txBody>
      <dsp:txXfrm>
        <a:off x="3019660" y="2078108"/>
        <a:ext cx="2607153" cy="1106065"/>
      </dsp:txXfrm>
    </dsp:sp>
    <dsp:sp modelId="{D6CC5142-0F23-4812-A91F-04B4E803B47C}">
      <dsp:nvSpPr>
        <dsp:cNvPr id="0" name=""/>
        <dsp:cNvSpPr/>
      </dsp:nvSpPr>
      <dsp:spPr>
        <a:xfrm>
          <a:off x="6081090" y="2078108"/>
          <a:ext cx="1106065" cy="110606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F4635B-6A56-4185-8A76-B1E1330F6137}">
      <dsp:nvSpPr>
        <dsp:cNvPr id="0" name=""/>
        <dsp:cNvSpPr/>
      </dsp:nvSpPr>
      <dsp:spPr>
        <a:xfrm>
          <a:off x="6313364" y="2310382"/>
          <a:ext cx="641517" cy="64151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48000" cap="flat" cmpd="thickThin" algn="ctr">
          <a:noFill/>
          <a:prstDash val="solid"/>
        </a:ln>
        <a:effectLst/>
      </dsp:spPr>
      <dsp:style>
        <a:lnRef idx="2">
          <a:scrgbClr r="0" g="0" b="0"/>
        </a:lnRef>
        <a:fillRef idx="1">
          <a:scrgbClr r="0" g="0" b="0"/>
        </a:fillRef>
        <a:effectRef idx="0">
          <a:scrgbClr r="0" g="0" b="0"/>
        </a:effectRef>
        <a:fontRef idx="minor">
          <a:schemeClr val="lt1"/>
        </a:fontRef>
      </dsp:style>
    </dsp:sp>
    <dsp:sp modelId="{8E712E21-7619-45C6-908B-CD98088F5303}">
      <dsp:nvSpPr>
        <dsp:cNvPr id="0" name=""/>
        <dsp:cNvSpPr/>
      </dsp:nvSpPr>
      <dsp:spPr>
        <a:xfrm>
          <a:off x="7424169" y="2078108"/>
          <a:ext cx="2607153" cy="1106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Identifying </a:t>
          </a:r>
          <a:r>
            <a:rPr lang="en-US" sz="1100" kern="1200"/>
            <a:t>the </a:t>
          </a:r>
          <a:r>
            <a:rPr lang="en-US" sz="1100" b="1" kern="1200"/>
            <a:t>state </a:t>
          </a:r>
          <a:r>
            <a:rPr lang="en-US" sz="1100" kern="1200"/>
            <a:t>and </a:t>
          </a:r>
          <a:r>
            <a:rPr lang="en-US" sz="1100" b="1" kern="1200"/>
            <a:t>behavior </a:t>
          </a:r>
          <a:r>
            <a:rPr lang="en-US" sz="1100" kern="1200"/>
            <a:t>for </a:t>
          </a:r>
          <a:r>
            <a:rPr lang="en-US" sz="1100" b="1" kern="1200"/>
            <a:t>real-world objects </a:t>
          </a:r>
          <a:r>
            <a:rPr lang="en-US" sz="1100" kern="1200"/>
            <a:t>is a great way to begin thinking in </a:t>
          </a:r>
          <a:r>
            <a:rPr lang="en-US" sz="1100" b="1" kern="1200"/>
            <a:t>terms of object-oriented programming</a:t>
          </a:r>
          <a:r>
            <a:rPr lang="en-US" sz="1100" kern="1200"/>
            <a:t>.</a:t>
          </a:r>
        </a:p>
      </dsp:txBody>
      <dsp:txXfrm>
        <a:off x="7424169" y="2078108"/>
        <a:ext cx="2607153" cy="1106065"/>
      </dsp:txXfrm>
    </dsp:sp>
    <dsp:sp modelId="{6C2D832D-57FA-446D-88DE-4D2C6D94AE26}">
      <dsp:nvSpPr>
        <dsp:cNvPr id="0" name=""/>
        <dsp:cNvSpPr/>
      </dsp:nvSpPr>
      <dsp:spPr>
        <a:xfrm>
          <a:off x="1676581" y="4078761"/>
          <a:ext cx="1106065" cy="110606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F06E0F-6F23-491E-8608-12F874DE4AF1}">
      <dsp:nvSpPr>
        <dsp:cNvPr id="0" name=""/>
        <dsp:cNvSpPr/>
      </dsp:nvSpPr>
      <dsp:spPr>
        <a:xfrm>
          <a:off x="1908855" y="4311035"/>
          <a:ext cx="641517" cy="64151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48000" cap="flat" cmpd="thickThin" algn="ctr">
          <a:noFill/>
          <a:prstDash val="solid"/>
        </a:ln>
        <a:effectLst/>
      </dsp:spPr>
      <dsp:style>
        <a:lnRef idx="2">
          <a:scrgbClr r="0" g="0" b="0"/>
        </a:lnRef>
        <a:fillRef idx="1">
          <a:scrgbClr r="0" g="0" b="0"/>
        </a:fillRef>
        <a:effectRef idx="0">
          <a:scrgbClr r="0" g="0" b="0"/>
        </a:effectRef>
        <a:fontRef idx="minor">
          <a:schemeClr val="lt1"/>
        </a:fontRef>
      </dsp:style>
    </dsp:sp>
    <dsp:sp modelId="{1B249F33-4FBE-459F-A258-27E77DE958BE}">
      <dsp:nvSpPr>
        <dsp:cNvPr id="0" name=""/>
        <dsp:cNvSpPr/>
      </dsp:nvSpPr>
      <dsp:spPr>
        <a:xfrm>
          <a:off x="3019660" y="4078761"/>
          <a:ext cx="2607153" cy="1106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For each object that you see, ask yourself two questions: "What possible states can this object be in?" and "What possible behavior can this object perform?". </a:t>
          </a:r>
        </a:p>
      </dsp:txBody>
      <dsp:txXfrm>
        <a:off x="3019660" y="4078761"/>
        <a:ext cx="2607153" cy="1106065"/>
      </dsp:txXfrm>
    </dsp:sp>
    <dsp:sp modelId="{4F6CD216-F21B-42DD-9B53-2FCA4085F417}">
      <dsp:nvSpPr>
        <dsp:cNvPr id="0" name=""/>
        <dsp:cNvSpPr/>
      </dsp:nvSpPr>
      <dsp:spPr>
        <a:xfrm>
          <a:off x="6081090" y="4078761"/>
          <a:ext cx="1106065" cy="110606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D5F5D0-C15F-452E-AF8D-56AC511651A7}">
      <dsp:nvSpPr>
        <dsp:cNvPr id="0" name=""/>
        <dsp:cNvSpPr/>
      </dsp:nvSpPr>
      <dsp:spPr>
        <a:xfrm>
          <a:off x="6313364" y="4311035"/>
          <a:ext cx="641517" cy="64151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48000" cap="flat" cmpd="thickThin" algn="ctr">
          <a:noFill/>
          <a:prstDash val="solid"/>
        </a:ln>
        <a:effectLst/>
      </dsp:spPr>
      <dsp:style>
        <a:lnRef idx="2">
          <a:scrgbClr r="0" g="0" b="0"/>
        </a:lnRef>
        <a:fillRef idx="1">
          <a:scrgbClr r="0" g="0" b="0"/>
        </a:fillRef>
        <a:effectRef idx="0">
          <a:scrgbClr r="0" g="0" b="0"/>
        </a:effectRef>
        <a:fontRef idx="minor">
          <a:schemeClr val="lt1"/>
        </a:fontRef>
      </dsp:style>
    </dsp:sp>
    <dsp:sp modelId="{BF8CBE31-81E5-45C0-A1FE-E714E450CF36}">
      <dsp:nvSpPr>
        <dsp:cNvPr id="0" name=""/>
        <dsp:cNvSpPr/>
      </dsp:nvSpPr>
      <dsp:spPr>
        <a:xfrm>
          <a:off x="7424169" y="4078761"/>
          <a:ext cx="2607153" cy="1106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dirty="0"/>
            <a:t>As you do, you'll notice that real-world objects </a:t>
          </a:r>
          <a:r>
            <a:rPr lang="en-US" sz="1100" b="1" kern="1200" dirty="0"/>
            <a:t>vary in complexity</a:t>
          </a:r>
          <a:r>
            <a:rPr lang="en-US" sz="1100" kern="1200" dirty="0"/>
            <a:t>; your desktop lamp may have only two possible states (on and off) and two possible behaviors (turn on, turn off), but your desktop radio might have additional states (on, off, current volume, current station) and behavior (turn on, turn off, increase volume, decrease volume, seek, scan, and tune). These real-world </a:t>
          </a:r>
          <a:r>
            <a:rPr lang="en-US" sz="1100" b="1" kern="1200" dirty="0"/>
            <a:t>observations </a:t>
          </a:r>
          <a:r>
            <a:rPr lang="en-US" sz="1100" kern="1200" dirty="0"/>
            <a:t>all </a:t>
          </a:r>
          <a:r>
            <a:rPr lang="en-US" sz="1100" b="1" kern="1200" dirty="0"/>
            <a:t>translate into the world of object-oriented programming</a:t>
          </a:r>
          <a:r>
            <a:rPr lang="en-US" sz="1100" kern="1200" dirty="0"/>
            <a:t>.</a:t>
          </a:r>
        </a:p>
      </dsp:txBody>
      <dsp:txXfrm>
        <a:off x="7424169" y="4078761"/>
        <a:ext cx="2607153" cy="110606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10/19/2019</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10/19/2019</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installing JDK &amp; downloading eclipse and starting eclipse,</a:t>
            </a:r>
            <a:r>
              <a:rPr lang="en-US" baseline="0" dirty="0"/>
              <a:t> this is the first screen. Alternatively use Help </a:t>
            </a:r>
            <a:r>
              <a:rPr lang="en-US" baseline="0" dirty="0">
                <a:sym typeface="Wingdings" panose="05000000000000000000" pitchFamily="2" charset="2"/>
              </a:rPr>
              <a:t> Welcome</a:t>
            </a:r>
            <a:endParaRPr lang="en-US" dirty="0"/>
          </a:p>
        </p:txBody>
      </p:sp>
      <p:sp>
        <p:nvSpPr>
          <p:cNvPr id="4" name="Slide Number Placeholder 3"/>
          <p:cNvSpPr>
            <a:spLocks noGrp="1"/>
          </p:cNvSpPr>
          <p:nvPr>
            <p:ph type="sldNum" sz="quarter" idx="10"/>
          </p:nvPr>
        </p:nvSpPr>
        <p:spPr/>
        <p:txBody>
          <a:bodyPr/>
          <a:lstStyle/>
          <a:p>
            <a:fld id="{893B0CF2-7F87-4E02-A248-870047730F99}" type="slidenum">
              <a:rPr lang="en-US" smtClean="0"/>
              <a:t>14</a:t>
            </a:fld>
            <a:endParaRPr lang="en-US" dirty="0"/>
          </a:p>
        </p:txBody>
      </p:sp>
    </p:spTree>
    <p:extLst>
      <p:ext uri="{BB962C8B-B14F-4D97-AF65-F5344CB8AC3E}">
        <p14:creationId xmlns:p14="http://schemas.microsoft.com/office/powerpoint/2010/main" val="1140316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out the different views</a:t>
            </a:r>
          </a:p>
        </p:txBody>
      </p:sp>
      <p:sp>
        <p:nvSpPr>
          <p:cNvPr id="4" name="Slide Number Placeholder 3"/>
          <p:cNvSpPr>
            <a:spLocks noGrp="1"/>
          </p:cNvSpPr>
          <p:nvPr>
            <p:ph type="sldNum" sz="quarter" idx="10"/>
          </p:nvPr>
        </p:nvSpPr>
        <p:spPr/>
        <p:txBody>
          <a:bodyPr/>
          <a:lstStyle/>
          <a:p>
            <a:fld id="{893B0CF2-7F87-4E02-A248-870047730F99}" type="slidenum">
              <a:rPr lang="en-US" smtClean="0"/>
              <a:t>15</a:t>
            </a:fld>
            <a:endParaRPr lang="en-US" dirty="0"/>
          </a:p>
        </p:txBody>
      </p:sp>
    </p:spTree>
    <p:extLst>
      <p:ext uri="{BB962C8B-B14F-4D97-AF65-F5344CB8AC3E}">
        <p14:creationId xmlns:p14="http://schemas.microsoft.com/office/powerpoint/2010/main" val="3465823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26</a:t>
            </a:fld>
            <a:endParaRPr lang="en-US" dirty="0"/>
          </a:p>
        </p:txBody>
      </p:sp>
    </p:spTree>
    <p:extLst>
      <p:ext uri="{BB962C8B-B14F-4D97-AF65-F5344CB8AC3E}">
        <p14:creationId xmlns:p14="http://schemas.microsoft.com/office/powerpoint/2010/main" val="137838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27</a:t>
            </a:fld>
            <a:endParaRPr lang="en-US" dirty="0"/>
          </a:p>
        </p:txBody>
      </p:sp>
    </p:spTree>
    <p:extLst>
      <p:ext uri="{BB962C8B-B14F-4D97-AF65-F5344CB8AC3E}">
        <p14:creationId xmlns:p14="http://schemas.microsoft.com/office/powerpoint/2010/main" val="1381896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28</a:t>
            </a:fld>
            <a:endParaRPr lang="en-US" dirty="0"/>
          </a:p>
        </p:txBody>
      </p:sp>
    </p:spTree>
    <p:extLst>
      <p:ext uri="{BB962C8B-B14F-4D97-AF65-F5344CB8AC3E}">
        <p14:creationId xmlns:p14="http://schemas.microsoft.com/office/powerpoint/2010/main" val="3056728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29</a:t>
            </a:fld>
            <a:endParaRPr lang="en-US" dirty="0"/>
          </a:p>
        </p:txBody>
      </p:sp>
    </p:spTree>
    <p:extLst>
      <p:ext uri="{BB962C8B-B14F-4D97-AF65-F5344CB8AC3E}">
        <p14:creationId xmlns:p14="http://schemas.microsoft.com/office/powerpoint/2010/main" val="515651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30</a:t>
            </a:fld>
            <a:endParaRPr lang="en-US" dirty="0"/>
          </a:p>
        </p:txBody>
      </p:sp>
    </p:spTree>
    <p:extLst>
      <p:ext uri="{BB962C8B-B14F-4D97-AF65-F5344CB8AC3E}">
        <p14:creationId xmlns:p14="http://schemas.microsoft.com/office/powerpoint/2010/main" val="573745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31</a:t>
            </a:fld>
            <a:endParaRPr lang="en-US" dirty="0"/>
          </a:p>
        </p:txBody>
      </p:sp>
    </p:spTree>
    <p:extLst>
      <p:ext uri="{BB962C8B-B14F-4D97-AF65-F5344CB8AC3E}">
        <p14:creationId xmlns:p14="http://schemas.microsoft.com/office/powerpoint/2010/main" val="2918209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32</a:t>
            </a:fld>
            <a:endParaRPr lang="en-US" dirty="0"/>
          </a:p>
        </p:txBody>
      </p:sp>
    </p:spTree>
    <p:extLst>
      <p:ext uri="{BB962C8B-B14F-4D97-AF65-F5344CB8AC3E}">
        <p14:creationId xmlns:p14="http://schemas.microsoft.com/office/powerpoint/2010/main" val="1492813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33</a:t>
            </a:fld>
            <a:endParaRPr lang="en-US" dirty="0"/>
          </a:p>
        </p:txBody>
      </p:sp>
    </p:spTree>
    <p:extLst>
      <p:ext uri="{BB962C8B-B14F-4D97-AF65-F5344CB8AC3E}">
        <p14:creationId xmlns:p14="http://schemas.microsoft.com/office/powerpoint/2010/main" val="1796956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34</a:t>
            </a:fld>
            <a:endParaRPr lang="en-US" dirty="0"/>
          </a:p>
        </p:txBody>
      </p:sp>
    </p:spTree>
    <p:extLst>
      <p:ext uri="{BB962C8B-B14F-4D97-AF65-F5344CB8AC3E}">
        <p14:creationId xmlns:p14="http://schemas.microsoft.com/office/powerpoint/2010/main" val="4206333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35</a:t>
            </a:fld>
            <a:endParaRPr lang="en-US" dirty="0"/>
          </a:p>
        </p:txBody>
      </p:sp>
    </p:spTree>
    <p:extLst>
      <p:ext uri="{BB962C8B-B14F-4D97-AF65-F5344CB8AC3E}">
        <p14:creationId xmlns:p14="http://schemas.microsoft.com/office/powerpoint/2010/main" val="848628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36</a:t>
            </a:fld>
            <a:endParaRPr lang="en-US" dirty="0"/>
          </a:p>
        </p:txBody>
      </p:sp>
    </p:spTree>
    <p:extLst>
      <p:ext uri="{BB962C8B-B14F-4D97-AF65-F5344CB8AC3E}">
        <p14:creationId xmlns:p14="http://schemas.microsoft.com/office/powerpoint/2010/main" val="3846420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OK (just) for things with two data members Unmanageable for more complex things e.g., rectangle with width, height, text, font, line style, text colour, background colour, ... Also error prone e.g., bank account with name, balance, PIN Need to be able to combine lower-level data items into a higher-level unit of data</a:t>
            </a:r>
            <a:endParaRPr lang="en-US" sz="1200" dirty="0">
              <a:latin typeface="Corbel" panose="020B0503020204020204" pitchFamily="34" charset="0"/>
            </a:endParaRPr>
          </a:p>
          <a:p>
            <a:endParaRPr lang="en-US" dirty="0"/>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37</a:t>
            </a:fld>
            <a:endParaRPr lang="en-US" dirty="0"/>
          </a:p>
        </p:txBody>
      </p:sp>
    </p:spTree>
    <p:extLst>
      <p:ext uri="{BB962C8B-B14F-4D97-AF65-F5344CB8AC3E}">
        <p14:creationId xmlns:p14="http://schemas.microsoft.com/office/powerpoint/2010/main" val="21311929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38</a:t>
            </a:fld>
            <a:endParaRPr lang="en-US" dirty="0"/>
          </a:p>
        </p:txBody>
      </p:sp>
    </p:spTree>
    <p:extLst>
      <p:ext uri="{BB962C8B-B14F-4D97-AF65-F5344CB8AC3E}">
        <p14:creationId xmlns:p14="http://schemas.microsoft.com/office/powerpoint/2010/main" val="3846420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OK (just) for things with two data members Unmanageable for more complex things e.g., rectangle with width, height, text, font, line style, text colour, background colour, ... Also error prone e.g., bank account with name, balance, PIN Need to be able to combine lower-level data items into a higher-level unit of data</a:t>
            </a:r>
            <a:endParaRPr lang="en-US" sz="1200" dirty="0">
              <a:latin typeface="Corbel" panose="020B0503020204020204" pitchFamily="34" charset="0"/>
            </a:endParaRPr>
          </a:p>
          <a:p>
            <a:endParaRPr lang="en-US" dirty="0"/>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39</a:t>
            </a:fld>
            <a:endParaRPr lang="en-US" dirty="0"/>
          </a:p>
        </p:txBody>
      </p:sp>
    </p:spTree>
    <p:extLst>
      <p:ext uri="{BB962C8B-B14F-4D97-AF65-F5344CB8AC3E}">
        <p14:creationId xmlns:p14="http://schemas.microsoft.com/office/powerpoint/2010/main" val="21878102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OK (just) for things with two data members Unmanageable for more complex things e.g., rectangle with width, height, text, font, line style, text colour, background colour, ... Also error prone e.g., bank account with name, balance, PIN Need to be able to combine lower-level data items into a higher-level unit of data</a:t>
            </a:r>
            <a:endParaRPr lang="en-US" sz="1200" dirty="0">
              <a:latin typeface="Corbel" panose="020B0503020204020204" pitchFamily="34" charset="0"/>
            </a:endParaRPr>
          </a:p>
          <a:p>
            <a:endParaRPr lang="en-US" dirty="0"/>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40</a:t>
            </a:fld>
            <a:endParaRPr lang="en-US" dirty="0"/>
          </a:p>
        </p:txBody>
      </p:sp>
    </p:spTree>
    <p:extLst>
      <p:ext uri="{BB962C8B-B14F-4D97-AF65-F5344CB8AC3E}">
        <p14:creationId xmlns:p14="http://schemas.microsoft.com/office/powerpoint/2010/main" val="3599622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41</a:t>
            </a:fld>
            <a:endParaRPr lang="en-US" dirty="0"/>
          </a:p>
        </p:txBody>
      </p:sp>
    </p:spTree>
    <p:extLst>
      <p:ext uri="{BB962C8B-B14F-4D97-AF65-F5344CB8AC3E}">
        <p14:creationId xmlns:p14="http://schemas.microsoft.com/office/powerpoint/2010/main" val="24794263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Serialization in java</a:t>
            </a:r>
            <a:r>
              <a:rPr lang="en-US" sz="1200" b="0" i="0" kern="1200" dirty="0">
                <a:solidFill>
                  <a:schemeClr val="tx1"/>
                </a:solidFill>
                <a:effectLst/>
                <a:latin typeface="+mn-lt"/>
                <a:ea typeface="+mn-ea"/>
                <a:cs typeface="+mn-cs"/>
              </a:rPr>
              <a:t> is a mechanism of writing the state of an object into a byte stream. It is mainly used in Hibernate, RMI, JPA, EJB and JMS technologies. The reverse operation of </a:t>
            </a:r>
            <a:r>
              <a:rPr lang="en-US" sz="1200" b="1" i="0" kern="1200" dirty="0">
                <a:solidFill>
                  <a:schemeClr val="tx1"/>
                </a:solidFill>
                <a:effectLst/>
                <a:latin typeface="+mn-lt"/>
                <a:ea typeface="+mn-ea"/>
                <a:cs typeface="+mn-cs"/>
              </a:rPr>
              <a:t>serialization</a:t>
            </a:r>
            <a:r>
              <a:rPr lang="en-US" sz="1200" b="0" i="0" kern="1200" dirty="0">
                <a:solidFill>
                  <a:schemeClr val="tx1"/>
                </a:solidFill>
                <a:effectLst/>
                <a:latin typeface="+mn-lt"/>
                <a:ea typeface="+mn-ea"/>
                <a:cs typeface="+mn-cs"/>
              </a:rPr>
              <a:t> is called deserialization.</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42</a:t>
            </a:fld>
            <a:endParaRPr lang="en-US" dirty="0"/>
          </a:p>
        </p:txBody>
      </p:sp>
    </p:spTree>
    <p:extLst>
      <p:ext uri="{BB962C8B-B14F-4D97-AF65-F5344CB8AC3E}">
        <p14:creationId xmlns:p14="http://schemas.microsoft.com/office/powerpoint/2010/main" val="17853431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Serialization in java</a:t>
            </a:r>
            <a:r>
              <a:rPr lang="en-US" sz="1200" b="0" i="0" kern="1200" dirty="0">
                <a:solidFill>
                  <a:schemeClr val="tx1"/>
                </a:solidFill>
                <a:effectLst/>
                <a:latin typeface="+mn-lt"/>
                <a:ea typeface="+mn-ea"/>
                <a:cs typeface="+mn-cs"/>
              </a:rPr>
              <a:t> is a mechanism of writing the state of an object into a byte stream. It is mainly used in Hibernate, RMI, JPA, EJB and JMS technologies. The reverse operation of </a:t>
            </a:r>
            <a:r>
              <a:rPr lang="en-US" sz="1200" b="1" i="0" kern="1200" dirty="0">
                <a:solidFill>
                  <a:schemeClr val="tx1"/>
                </a:solidFill>
                <a:effectLst/>
                <a:latin typeface="+mn-lt"/>
                <a:ea typeface="+mn-ea"/>
                <a:cs typeface="+mn-cs"/>
              </a:rPr>
              <a:t>serialization</a:t>
            </a:r>
            <a:r>
              <a:rPr lang="en-US" sz="1200" b="0" i="0" kern="1200" dirty="0">
                <a:solidFill>
                  <a:schemeClr val="tx1"/>
                </a:solidFill>
                <a:effectLst/>
                <a:latin typeface="+mn-lt"/>
                <a:ea typeface="+mn-ea"/>
                <a:cs typeface="+mn-cs"/>
              </a:rPr>
              <a:t> is called deserialization.</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43</a:t>
            </a:fld>
            <a:endParaRPr lang="en-US" dirty="0"/>
          </a:p>
        </p:txBody>
      </p:sp>
    </p:spTree>
    <p:extLst>
      <p:ext uri="{BB962C8B-B14F-4D97-AF65-F5344CB8AC3E}">
        <p14:creationId xmlns:p14="http://schemas.microsoft.com/office/powerpoint/2010/main" val="27387228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44</a:t>
            </a:fld>
            <a:endParaRPr lang="en-US" dirty="0"/>
          </a:p>
        </p:txBody>
      </p:sp>
    </p:spTree>
    <p:extLst>
      <p:ext uri="{BB962C8B-B14F-4D97-AF65-F5344CB8AC3E}">
        <p14:creationId xmlns:p14="http://schemas.microsoft.com/office/powerpoint/2010/main" val="41097393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45</a:t>
            </a:fld>
            <a:endParaRPr lang="en-US" dirty="0"/>
          </a:p>
        </p:txBody>
      </p:sp>
    </p:spTree>
    <p:extLst>
      <p:ext uri="{BB962C8B-B14F-4D97-AF65-F5344CB8AC3E}">
        <p14:creationId xmlns:p14="http://schemas.microsoft.com/office/powerpoint/2010/main" val="17922152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46</a:t>
            </a:fld>
            <a:endParaRPr lang="en-US" dirty="0"/>
          </a:p>
        </p:txBody>
      </p:sp>
    </p:spTree>
    <p:extLst>
      <p:ext uri="{BB962C8B-B14F-4D97-AF65-F5344CB8AC3E}">
        <p14:creationId xmlns:p14="http://schemas.microsoft.com/office/powerpoint/2010/main" val="51972412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10/19/2019</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10/19/2019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10/19/2019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10/19/2019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10/19/2019</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10/19/2019</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10/19/2019</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10/19/2019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402B9795-92DC-40DC-A1CA-9A4B349D7824}" type="datetimeFigureOut">
              <a:rPr lang="en-US"/>
              <a:t>10/19/2019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10/19/2019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10/19/2019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10/19/2019</a:t>
            </a:fld>
            <a:endParaRPr lang="en-US" dirty="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dirty="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dirty="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hyperlink" Target="https://drive.google.com/drive/folders/16K5UWjRLZt-e3MDliv7CbLNsCSx6nK7i?usp=shari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www.webopedia.com/TERM/D/data.html" TargetMode="External"/><Relationship Id="rId3" Type="http://schemas.openxmlformats.org/officeDocument/2006/relationships/hyperlink" Target="http://www.webopedia.com/TERM/P/programmer.html" TargetMode="External"/><Relationship Id="rId7" Type="http://schemas.openxmlformats.org/officeDocument/2006/relationships/hyperlink" Target="http://www.webopedia.com/TERM/O/object.html" TargetMode="External"/><Relationship Id="rId12" Type="http://schemas.openxmlformats.org/officeDocument/2006/relationships/hyperlink" Target="https://en.wikipedia.org/wiki/Object-oriented_programming"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www.webopedia.com/TERM/F/function.html" TargetMode="External"/><Relationship Id="rId11" Type="http://schemas.openxmlformats.org/officeDocument/2006/relationships/hyperlink" Target="https://en.wikipedia.org/wiki/Subroutine" TargetMode="External"/><Relationship Id="rId5" Type="http://schemas.openxmlformats.org/officeDocument/2006/relationships/hyperlink" Target="http://www.webopedia.com/TERM/D/data_structure.html" TargetMode="External"/><Relationship Id="rId10" Type="http://schemas.openxmlformats.org/officeDocument/2006/relationships/hyperlink" Target="https://en.wikipedia.org/wiki/Data_structure" TargetMode="External"/><Relationship Id="rId4" Type="http://schemas.openxmlformats.org/officeDocument/2006/relationships/hyperlink" Target="http://www.webopedia.com/TERM/D/data_type.html" TargetMode="External"/><Relationship Id="rId9" Type="http://schemas.openxmlformats.org/officeDocument/2006/relationships/hyperlink" Target="https://en.wikipedia.org/wiki/Variable_(programming)"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7.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hyperlink" Target="mailto:avadekkedhil@wilp.bits-pilani.ac.in"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normAutofit/>
          </a:bodyPr>
          <a:lstStyle/>
          <a:p>
            <a:r>
              <a:rPr lang="en-US" dirty="0"/>
              <a:t>Object Oriented Programming &amp; Design</a:t>
            </a:r>
          </a:p>
        </p:txBody>
      </p:sp>
      <p:sp>
        <p:nvSpPr>
          <p:cNvPr id="7" name="Subtitle 6"/>
          <p:cNvSpPr>
            <a:spLocks noGrp="1"/>
          </p:cNvSpPr>
          <p:nvPr>
            <p:ph type="subTitle" idx="1"/>
          </p:nvPr>
        </p:nvSpPr>
        <p:spPr>
          <a:xfrm>
            <a:off x="1104900" y="4511785"/>
            <a:ext cx="5734050" cy="846298"/>
          </a:xfrm>
        </p:spPr>
        <p:txBody>
          <a:bodyPr/>
          <a:lstStyle/>
          <a:p>
            <a:r>
              <a:rPr lang="en-IN" b="1" dirty="0"/>
              <a:t>Session – 1: 13-Oct-2019</a:t>
            </a:r>
            <a:endParaRPr lang="en-US" b="1" dirty="0"/>
          </a:p>
        </p:txBody>
      </p:sp>
      <p:pic>
        <p:nvPicPr>
          <p:cNvPr id="4" name="Picture Placeholder 3"/>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6671780" y="1445796"/>
            <a:ext cx="5269208" cy="3912286"/>
          </a:xfr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Agenda</a:t>
            </a:r>
          </a:p>
        </p:txBody>
      </p:sp>
      <p:sp>
        <p:nvSpPr>
          <p:cNvPr id="14" name="Content Placeholder 13"/>
          <p:cNvSpPr>
            <a:spLocks noGrp="1"/>
          </p:cNvSpPr>
          <p:nvPr>
            <p:ph idx="1"/>
          </p:nvPr>
        </p:nvSpPr>
        <p:spPr/>
        <p:txBody>
          <a:bodyPr/>
          <a:lstStyle/>
          <a:p>
            <a:r>
              <a:rPr lang="en-US" dirty="0"/>
              <a:t>Introduction</a:t>
            </a:r>
          </a:p>
          <a:p>
            <a:r>
              <a:rPr lang="en-US" dirty="0"/>
              <a:t>Objective of this Course</a:t>
            </a:r>
          </a:p>
          <a:p>
            <a:r>
              <a:rPr lang="en-US" dirty="0"/>
              <a:t>What will be covered</a:t>
            </a:r>
          </a:p>
          <a:p>
            <a:r>
              <a:rPr lang="en-US" dirty="0"/>
              <a:t>Recap of CP</a:t>
            </a:r>
          </a:p>
          <a:p>
            <a:r>
              <a:rPr lang="en-US" dirty="0"/>
              <a:t>Introduction to Algorithms</a:t>
            </a:r>
          </a:p>
          <a:p>
            <a:r>
              <a:rPr lang="en-US" dirty="0"/>
              <a:t>Introduction to Java</a:t>
            </a:r>
          </a:p>
          <a:p>
            <a:r>
              <a:rPr lang="en-US" dirty="0"/>
              <a:t>Introduction to Object Concepts</a:t>
            </a:r>
          </a:p>
          <a:p>
            <a:r>
              <a:rPr lang="en-US" dirty="0"/>
              <a:t>Self Study</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3307" y="1466118"/>
            <a:ext cx="4706082" cy="4706082"/>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136712" y="1479176"/>
            <a:ext cx="7702923" cy="5302624"/>
          </a:xfrm>
        </p:spPr>
        <p:txBody>
          <a:bodyPr>
            <a:normAutofit fontScale="70000" lnSpcReduction="20000"/>
          </a:bodyPr>
          <a:lstStyle/>
          <a:p>
            <a:pPr>
              <a:lnSpc>
                <a:spcPct val="160000"/>
              </a:lnSpc>
            </a:pPr>
            <a:r>
              <a:rPr lang="en-IN" dirty="0"/>
              <a:t>Who am I ??</a:t>
            </a:r>
          </a:p>
          <a:p>
            <a:pPr>
              <a:lnSpc>
                <a:spcPct val="160000"/>
              </a:lnSpc>
            </a:pPr>
            <a:r>
              <a:rPr lang="en-IN" dirty="0"/>
              <a:t>Handout, the most critical reference for the course why?</a:t>
            </a:r>
          </a:p>
          <a:p>
            <a:pPr lvl="1">
              <a:lnSpc>
                <a:spcPct val="160000"/>
              </a:lnSpc>
            </a:pPr>
            <a:r>
              <a:rPr lang="en-IN" dirty="0"/>
              <a:t>Units &amp; Hours of Work</a:t>
            </a:r>
          </a:p>
          <a:p>
            <a:pPr lvl="1">
              <a:lnSpc>
                <a:spcPct val="160000"/>
              </a:lnSpc>
            </a:pPr>
            <a:r>
              <a:rPr lang="en-IN" dirty="0"/>
              <a:t>Follow the guideline</a:t>
            </a:r>
          </a:p>
          <a:p>
            <a:pPr lvl="1">
              <a:lnSpc>
                <a:spcPct val="160000"/>
              </a:lnSpc>
            </a:pPr>
            <a:r>
              <a:rPr lang="en-IN" dirty="0"/>
              <a:t>Summary of Course</a:t>
            </a:r>
          </a:p>
          <a:p>
            <a:pPr lvl="1">
              <a:lnSpc>
                <a:spcPct val="160000"/>
              </a:lnSpc>
            </a:pPr>
            <a:r>
              <a:rPr lang="en-IN" dirty="0"/>
              <a:t>Schedule for Assignments &amp; Exams</a:t>
            </a:r>
          </a:p>
          <a:p>
            <a:pPr lvl="1">
              <a:lnSpc>
                <a:spcPct val="160000"/>
              </a:lnSpc>
            </a:pPr>
            <a:r>
              <a:rPr lang="en-IN" dirty="0"/>
              <a:t>Quick Reference guide</a:t>
            </a:r>
          </a:p>
          <a:p>
            <a:pPr>
              <a:lnSpc>
                <a:spcPct val="160000"/>
              </a:lnSpc>
            </a:pPr>
            <a:r>
              <a:rPr lang="en-IN" dirty="0"/>
              <a:t>Text Book Prescribed</a:t>
            </a:r>
          </a:p>
          <a:p>
            <a:pPr lvl="1">
              <a:lnSpc>
                <a:spcPct val="160000"/>
              </a:lnSpc>
            </a:pPr>
            <a:r>
              <a:rPr lang="en-IN" dirty="0"/>
              <a:t>The Java Programming Language, Ken Arnold, David Holmes, James Gosling, Prakash Goteti, 4th Edition, Pearson</a:t>
            </a:r>
          </a:p>
          <a:p>
            <a:pPr>
              <a:lnSpc>
                <a:spcPct val="160000"/>
              </a:lnSpc>
            </a:pPr>
            <a:r>
              <a:rPr lang="en-IN" dirty="0"/>
              <a:t>Reference Book:</a:t>
            </a:r>
          </a:p>
          <a:p>
            <a:pPr lvl="1">
              <a:lnSpc>
                <a:spcPct val="160000"/>
              </a:lnSpc>
            </a:pPr>
            <a:r>
              <a:rPr lang="en-IN" dirty="0"/>
              <a:t>Java: The Complete Reference by Herbert Schildt, 9th Ed, 2017</a:t>
            </a:r>
          </a:p>
          <a:p>
            <a:pPr>
              <a:lnSpc>
                <a:spcPct val="160000"/>
              </a:lnSpc>
            </a:pPr>
            <a:r>
              <a:rPr lang="en-IN" dirty="0"/>
              <a:t>Where can I get this PPT?</a:t>
            </a:r>
          </a:p>
          <a:p>
            <a:pPr lvl="1">
              <a:lnSpc>
                <a:spcPct val="160000"/>
              </a:lnSpc>
            </a:pPr>
            <a:r>
              <a:rPr lang="en-IN" dirty="0"/>
              <a:t>Link to Drive: </a:t>
            </a:r>
            <a:r>
              <a:rPr lang="en-IN" dirty="0">
                <a:hlinkClick r:id="rId2"/>
              </a:rPr>
              <a:t>OOPD Presentations on Drive</a:t>
            </a:r>
            <a:endParaRPr lang="en-IN" dirty="0"/>
          </a:p>
          <a:p>
            <a:pPr>
              <a:lnSpc>
                <a:spcPct val="160000"/>
              </a:lnSpc>
            </a:pPr>
            <a:endParaRPr lang="en-US" dirty="0"/>
          </a:p>
          <a:p>
            <a:pPr>
              <a:lnSpc>
                <a:spcPct val="160000"/>
              </a:lnSpc>
            </a:pPr>
            <a:endParaRPr lang="en-US" dirty="0"/>
          </a:p>
        </p:txBody>
      </p:sp>
      <p:pic>
        <p:nvPicPr>
          <p:cNvPr id="4"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1825" y="1961730"/>
            <a:ext cx="3351281" cy="3351281"/>
          </a:xfrm>
          <a:prstGeom prst="rect">
            <a:avLst/>
          </a:prstGeom>
        </p:spPr>
      </p:pic>
    </p:spTree>
    <p:extLst>
      <p:ext uri="{BB962C8B-B14F-4D97-AF65-F5344CB8AC3E}">
        <p14:creationId xmlns:p14="http://schemas.microsoft.com/office/powerpoint/2010/main" val="143495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 of this course</a:t>
            </a:r>
          </a:p>
        </p:txBody>
      </p:sp>
      <p:sp>
        <p:nvSpPr>
          <p:cNvPr id="3" name="Content Placeholder 2"/>
          <p:cNvSpPr>
            <a:spLocks noGrp="1"/>
          </p:cNvSpPr>
          <p:nvPr>
            <p:ph idx="1"/>
          </p:nvPr>
        </p:nvSpPr>
        <p:spPr>
          <a:xfrm>
            <a:off x="136712" y="1479176"/>
            <a:ext cx="7253133" cy="4572000"/>
          </a:xfrm>
        </p:spPr>
        <p:txBody>
          <a:bodyPr>
            <a:normAutofit/>
          </a:bodyPr>
          <a:lstStyle/>
          <a:p>
            <a:pPr>
              <a:lnSpc>
                <a:spcPct val="150000"/>
              </a:lnSpc>
            </a:pPr>
            <a:r>
              <a:rPr lang="en-IN" dirty="0"/>
              <a:t>To advance the programming skills students gathered in the course computer programming in their first semester and advance problem solving techniques by using the object oriented approach.</a:t>
            </a:r>
          </a:p>
          <a:p>
            <a:pPr>
              <a:lnSpc>
                <a:spcPct val="150000"/>
              </a:lnSpc>
            </a:pPr>
            <a:r>
              <a:rPr lang="en-IN" dirty="0"/>
              <a:t>To teach object oriented programming concepts including polymorphism, encapsulation, overloading, inheritance.</a:t>
            </a:r>
          </a:p>
          <a:p>
            <a:pPr>
              <a:lnSpc>
                <a:spcPct val="150000"/>
              </a:lnSpc>
            </a:pPr>
            <a:r>
              <a:rPr lang="en-IN" dirty="0"/>
              <a:t>Designing and implementing the solutions to problems using object oriented concepts</a:t>
            </a:r>
          </a:p>
          <a:p>
            <a:pPr>
              <a:lnSpc>
                <a:spcPct val="150000"/>
              </a:lnSpc>
            </a:pP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77418" y="1820841"/>
            <a:ext cx="4477870" cy="3358403"/>
          </a:xfrm>
          <a:prstGeom prst="rect">
            <a:avLst/>
          </a:prstGeom>
        </p:spPr>
      </p:pic>
    </p:spTree>
    <p:extLst>
      <p:ext uri="{BB962C8B-B14F-4D97-AF65-F5344CB8AC3E}">
        <p14:creationId xmlns:p14="http://schemas.microsoft.com/office/powerpoint/2010/main" val="29445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OOPD Sojourn</a:t>
            </a:r>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2549176364"/>
              </p:ext>
            </p:extLst>
          </p:nvPr>
        </p:nvGraphicFramePr>
        <p:xfrm>
          <a:off x="1104900" y="1600200"/>
          <a:ext cx="7810500" cy="3337560"/>
        </p:xfrm>
        <a:graphic>
          <a:graphicData uri="http://schemas.openxmlformats.org/drawingml/2006/table">
            <a:tbl>
              <a:tblPr firstRow="1" bandRow="1">
                <a:tableStyleId>{F2DE63D5-997A-4646-A377-4702673A728D}</a:tableStyleId>
              </a:tblPr>
              <a:tblGrid>
                <a:gridCol w="1019735">
                  <a:extLst>
                    <a:ext uri="{9D8B030D-6E8A-4147-A177-3AD203B41FA5}">
                      <a16:colId xmlns:a16="http://schemas.microsoft.com/office/drawing/2014/main" val="20000"/>
                    </a:ext>
                  </a:extLst>
                </a:gridCol>
                <a:gridCol w="6790765">
                  <a:extLst>
                    <a:ext uri="{9D8B030D-6E8A-4147-A177-3AD203B41FA5}">
                      <a16:colId xmlns:a16="http://schemas.microsoft.com/office/drawing/2014/main" val="20001"/>
                    </a:ext>
                  </a:extLst>
                </a:gridCol>
              </a:tblGrid>
              <a:tr h="370840">
                <a:tc>
                  <a:txBody>
                    <a:bodyPr/>
                    <a:lstStyle/>
                    <a:p>
                      <a:r>
                        <a:rPr lang="en-US" dirty="0"/>
                        <a:t>Module</a:t>
                      </a:r>
                    </a:p>
                  </a:txBody>
                  <a:tcPr/>
                </a:tc>
                <a:tc>
                  <a:txBody>
                    <a:bodyPr/>
                    <a:lstStyle/>
                    <a:p>
                      <a:pPr algn="ctr"/>
                      <a:r>
                        <a:rPr lang="en-US" dirty="0"/>
                        <a:t>Topic</a:t>
                      </a:r>
                    </a:p>
                  </a:txBody>
                  <a:tcPr/>
                </a:tc>
                <a:extLst>
                  <a:ext uri="{0D108BD9-81ED-4DB2-BD59-A6C34878D82A}">
                    <a16:rowId xmlns:a16="http://schemas.microsoft.com/office/drawing/2014/main" val="10000"/>
                  </a:ext>
                </a:extLst>
              </a:tr>
              <a:tr h="370840">
                <a:tc>
                  <a:txBody>
                    <a:bodyPr/>
                    <a:lstStyle/>
                    <a:p>
                      <a:r>
                        <a:rPr lang="en-US" dirty="0"/>
                        <a:t>M1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kern="1200" dirty="0">
                          <a:effectLst/>
                        </a:rPr>
                        <a:t>INTRODUCTION TO OOP CONCEPTS</a:t>
                      </a:r>
                      <a:endParaRPr lang="en-US" dirty="0"/>
                    </a:p>
                  </a:txBody>
                  <a:tcPr/>
                </a:tc>
                <a:extLst>
                  <a:ext uri="{0D108BD9-81ED-4DB2-BD59-A6C34878D82A}">
                    <a16:rowId xmlns:a16="http://schemas.microsoft.com/office/drawing/2014/main" val="10001"/>
                  </a:ext>
                </a:extLst>
              </a:tr>
              <a:tr h="370840">
                <a:tc>
                  <a:txBody>
                    <a:bodyPr/>
                    <a:lstStyle/>
                    <a:p>
                      <a:r>
                        <a:rPr lang="en-US" dirty="0"/>
                        <a:t>M2</a:t>
                      </a:r>
                    </a:p>
                  </a:txBody>
                  <a:tcPr/>
                </a:tc>
                <a:tc>
                  <a:txBody>
                    <a:bodyPr/>
                    <a:lstStyle/>
                    <a:p>
                      <a:pPr algn="ctr"/>
                      <a:r>
                        <a:rPr lang="en-IN" sz="1800" kern="1200" dirty="0">
                          <a:effectLst/>
                        </a:rPr>
                        <a:t>CLASSES , OBJECTS AND</a:t>
                      </a:r>
                      <a:r>
                        <a:rPr lang="en-IN" sz="1800" kern="1200" baseline="0" dirty="0">
                          <a:effectLst/>
                        </a:rPr>
                        <a:t> METHODS</a:t>
                      </a:r>
                      <a:endParaRPr lang="en-US" dirty="0"/>
                    </a:p>
                  </a:txBody>
                  <a:tcPr/>
                </a:tc>
                <a:extLst>
                  <a:ext uri="{0D108BD9-81ED-4DB2-BD59-A6C34878D82A}">
                    <a16:rowId xmlns:a16="http://schemas.microsoft.com/office/drawing/2014/main" val="10002"/>
                  </a:ext>
                </a:extLst>
              </a:tr>
              <a:tr h="370840">
                <a:tc>
                  <a:txBody>
                    <a:bodyPr/>
                    <a:lstStyle/>
                    <a:p>
                      <a:r>
                        <a:rPr lang="en-US" dirty="0"/>
                        <a:t>M3</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kern="1200" dirty="0">
                          <a:effectLst/>
                        </a:rPr>
                        <a:t>PACKAGES, ARRAYS, STRINGS and STREAM</a:t>
                      </a:r>
                      <a:endParaRPr lang="en-US" dirty="0"/>
                    </a:p>
                  </a:txBody>
                  <a:tcPr/>
                </a:tc>
                <a:extLst>
                  <a:ext uri="{0D108BD9-81ED-4DB2-BD59-A6C34878D82A}">
                    <a16:rowId xmlns:a16="http://schemas.microsoft.com/office/drawing/2014/main" val="10003"/>
                  </a:ext>
                </a:extLst>
              </a:tr>
              <a:tr h="370840">
                <a:tc>
                  <a:txBody>
                    <a:bodyPr/>
                    <a:lstStyle/>
                    <a:p>
                      <a:r>
                        <a:rPr lang="en-US" dirty="0"/>
                        <a:t>M4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kern="1200" dirty="0">
                          <a:effectLst/>
                        </a:rPr>
                        <a:t>EXTENDING CLASSES - INHERITANCE</a:t>
                      </a:r>
                      <a:endParaRPr lang="en-US" dirty="0"/>
                    </a:p>
                  </a:txBody>
                  <a:tcPr/>
                </a:tc>
                <a:extLst>
                  <a:ext uri="{0D108BD9-81ED-4DB2-BD59-A6C34878D82A}">
                    <a16:rowId xmlns:a16="http://schemas.microsoft.com/office/drawing/2014/main" val="10004"/>
                  </a:ext>
                </a:extLst>
              </a:tr>
              <a:tr h="370840">
                <a:tc>
                  <a:txBody>
                    <a:bodyPr/>
                    <a:lstStyle/>
                    <a:p>
                      <a:r>
                        <a:rPr lang="en-US" dirty="0"/>
                        <a:t>M5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kern="1200" dirty="0">
                          <a:effectLst/>
                        </a:rPr>
                        <a:t>INTERFACES AND EXCEPTIONS</a:t>
                      </a:r>
                      <a:endParaRPr lang="en-US" dirty="0"/>
                    </a:p>
                  </a:txBody>
                  <a:tcPr/>
                </a:tc>
                <a:extLst>
                  <a:ext uri="{0D108BD9-81ED-4DB2-BD59-A6C34878D82A}">
                    <a16:rowId xmlns:a16="http://schemas.microsoft.com/office/drawing/2014/main" val="10005"/>
                  </a:ext>
                </a:extLst>
              </a:tr>
              <a:tr h="370840">
                <a:tc>
                  <a:txBody>
                    <a:bodyPr/>
                    <a:lstStyle/>
                    <a:p>
                      <a:r>
                        <a:rPr lang="en-US" dirty="0"/>
                        <a:t>M6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kern="1200" dirty="0">
                          <a:effectLst/>
                        </a:rPr>
                        <a:t>COLLECTIONS</a:t>
                      </a:r>
                      <a:endParaRPr lang="en-US" dirty="0"/>
                    </a:p>
                  </a:txBody>
                  <a:tcPr/>
                </a:tc>
                <a:extLst>
                  <a:ext uri="{0D108BD9-81ED-4DB2-BD59-A6C34878D82A}">
                    <a16:rowId xmlns:a16="http://schemas.microsoft.com/office/drawing/2014/main" val="10006"/>
                  </a:ext>
                </a:extLst>
              </a:tr>
              <a:tr h="370840">
                <a:tc>
                  <a:txBody>
                    <a:bodyPr/>
                    <a:lstStyle/>
                    <a:p>
                      <a:r>
                        <a:rPr lang="en-US" dirty="0"/>
                        <a:t>M7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kern="1200" dirty="0">
                          <a:effectLst/>
                        </a:rPr>
                        <a:t>MULTITHREADING</a:t>
                      </a:r>
                      <a:endParaRPr lang="en-US" dirty="0"/>
                    </a:p>
                  </a:txBody>
                  <a:tcPr/>
                </a:tc>
                <a:extLst>
                  <a:ext uri="{0D108BD9-81ED-4DB2-BD59-A6C34878D82A}">
                    <a16:rowId xmlns:a16="http://schemas.microsoft.com/office/drawing/2014/main" val="10007"/>
                  </a:ext>
                </a:extLst>
              </a:tr>
              <a:tr h="370840">
                <a:tc>
                  <a:txBody>
                    <a:bodyPr/>
                    <a:lstStyle/>
                    <a:p>
                      <a:r>
                        <a:rPr lang="en-US" dirty="0"/>
                        <a:t>M8</a:t>
                      </a:r>
                    </a:p>
                  </a:txBody>
                  <a:tcPr/>
                </a:tc>
                <a:tc>
                  <a:txBody>
                    <a:bodyPr/>
                    <a:lstStyle/>
                    <a:p>
                      <a:pPr algn="ctr"/>
                      <a:r>
                        <a:rPr lang="en-IN" sz="1800" kern="1200" dirty="0">
                          <a:effectLst/>
                        </a:rPr>
                        <a:t>THE JAVA OBJECT MODEL</a:t>
                      </a:r>
                      <a:endParaRPr lang="en-US" dirty="0"/>
                    </a:p>
                  </a:txBody>
                  <a:tcPr/>
                </a:tc>
                <a:extLst>
                  <a:ext uri="{0D108BD9-81ED-4DB2-BD59-A6C34878D82A}">
                    <a16:rowId xmlns:a16="http://schemas.microsoft.com/office/drawing/2014/main" val="10008"/>
                  </a:ext>
                </a:extLst>
              </a:tr>
            </a:tbl>
          </a:graphicData>
        </a:graphic>
      </p:graphicFrame>
      <p:pic>
        <p:nvPicPr>
          <p:cNvPr id="5" name="Content Placeholder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9015889" y="2254399"/>
            <a:ext cx="3176111" cy="1992854"/>
          </a:xfrm>
        </p:spPr>
      </p:pic>
      <p:sp>
        <p:nvSpPr>
          <p:cNvPr id="7" name="Content Placeholder 2"/>
          <p:cNvSpPr txBox="1">
            <a:spLocks/>
          </p:cNvSpPr>
          <p:nvPr/>
        </p:nvSpPr>
        <p:spPr>
          <a:xfrm>
            <a:off x="1158688" y="5099124"/>
            <a:ext cx="8337541" cy="1651300"/>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buNone/>
            </a:pPr>
            <a:r>
              <a:rPr lang="en-IN" sz="1600" b="1" u="sng" dirty="0"/>
              <a:t>Important Dates</a:t>
            </a:r>
          </a:p>
          <a:p>
            <a:pPr marL="457200" indent="-457200">
              <a:buAutoNum type="arabicPeriod"/>
            </a:pPr>
            <a:r>
              <a:rPr lang="en-IN" sz="1600" u="sng" dirty="0"/>
              <a:t>December 1</a:t>
            </a:r>
            <a:r>
              <a:rPr lang="en-IN" sz="1600" u="sng" baseline="30000" dirty="0"/>
              <a:t>st</a:t>
            </a:r>
            <a:r>
              <a:rPr lang="en-IN" sz="1600" u="sng" dirty="0"/>
              <a:t> &amp; 8</a:t>
            </a:r>
            <a:r>
              <a:rPr lang="en-IN" sz="1600" u="sng" baseline="30000" dirty="0"/>
              <a:t>th</a:t>
            </a:r>
            <a:r>
              <a:rPr lang="en-IN" sz="1600" u="sng" dirty="0"/>
              <a:t> 2019: Mid Semester Exams</a:t>
            </a:r>
          </a:p>
          <a:p>
            <a:pPr marL="457200" indent="-457200">
              <a:buAutoNum type="arabicPeriod"/>
            </a:pPr>
            <a:r>
              <a:rPr lang="en-IN" sz="1600" u="sng" dirty="0"/>
              <a:t>January 19th, 2020 : Assignment Submission date</a:t>
            </a:r>
          </a:p>
          <a:p>
            <a:pPr marL="457200" indent="-457200">
              <a:buAutoNum type="arabicPeriod"/>
            </a:pPr>
            <a:r>
              <a:rPr lang="en-IN" sz="1600" u="sng" dirty="0"/>
              <a:t>Mar 1</a:t>
            </a:r>
            <a:r>
              <a:rPr lang="en-IN" sz="1600" u="sng" baseline="30000" dirty="0"/>
              <a:t>st</a:t>
            </a:r>
            <a:r>
              <a:rPr lang="en-IN" sz="1600" u="sng" dirty="0"/>
              <a:t> &amp; 8</a:t>
            </a:r>
            <a:r>
              <a:rPr lang="en-IN" sz="1600" u="sng" baseline="30000" dirty="0"/>
              <a:t>th</a:t>
            </a:r>
            <a:r>
              <a:rPr lang="en-IN" sz="1600" u="sng" dirty="0"/>
              <a:t> 2020: Comprehensive Examinations</a:t>
            </a:r>
            <a:endParaRPr lang="en-US" sz="1600" u="sng" dirty="0"/>
          </a:p>
        </p:txBody>
      </p:sp>
      <p:sp>
        <p:nvSpPr>
          <p:cNvPr id="8" name="Content Placeholder 2"/>
          <p:cNvSpPr txBox="1">
            <a:spLocks/>
          </p:cNvSpPr>
          <p:nvPr/>
        </p:nvSpPr>
        <p:spPr>
          <a:xfrm>
            <a:off x="6541994" y="5463539"/>
            <a:ext cx="2954235" cy="1651300"/>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buNone/>
            </a:pPr>
            <a:r>
              <a:rPr lang="en-US" sz="1600" u="sng" dirty="0"/>
              <a:t>Quiz I &amp; II</a:t>
            </a:r>
          </a:p>
          <a:p>
            <a:pPr marL="0" indent="0">
              <a:buNone/>
            </a:pPr>
            <a:r>
              <a:rPr lang="en-US" sz="1600" u="sng" dirty="0"/>
              <a:t>Will be notified appropriately</a:t>
            </a:r>
          </a:p>
        </p:txBody>
      </p:sp>
    </p:spTree>
    <p:extLst>
      <p:ext uri="{BB962C8B-B14F-4D97-AF65-F5344CB8AC3E}">
        <p14:creationId xmlns:p14="http://schemas.microsoft.com/office/powerpoint/2010/main" val="13831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B2B : Back to Basics – A quick refresher </a:t>
            </a:r>
          </a:p>
        </p:txBody>
      </p:sp>
      <p:sp>
        <p:nvSpPr>
          <p:cNvPr id="3" name="Content Placeholder 2"/>
          <p:cNvSpPr>
            <a:spLocks noGrp="1"/>
          </p:cNvSpPr>
          <p:nvPr>
            <p:ph idx="1"/>
          </p:nvPr>
        </p:nvSpPr>
        <p:spPr>
          <a:xfrm>
            <a:off x="206910" y="1367117"/>
            <a:ext cx="7359301" cy="4572000"/>
          </a:xfrm>
        </p:spPr>
        <p:txBody>
          <a:bodyPr>
            <a:normAutofit fontScale="77500" lnSpcReduction="20000"/>
          </a:bodyPr>
          <a:lstStyle/>
          <a:p>
            <a:pPr>
              <a:lnSpc>
                <a:spcPct val="160000"/>
              </a:lnSpc>
            </a:pPr>
            <a:r>
              <a:rPr lang="en-US" b="1" u="sng" dirty="0">
                <a:latin typeface="Corbel" panose="020B0503020204020204" pitchFamily="34" charset="0"/>
              </a:rPr>
              <a:t>CP : A course intended to instill the virtues of Procedural Languages. What else did we cover? </a:t>
            </a:r>
          </a:p>
          <a:p>
            <a:pPr>
              <a:lnSpc>
                <a:spcPct val="160000"/>
              </a:lnSpc>
            </a:pPr>
            <a:r>
              <a:rPr lang="en-US" b="1" u="sng" dirty="0">
                <a:latin typeface="Corbel" panose="020B0503020204020204" pitchFamily="34" charset="0"/>
              </a:rPr>
              <a:t>Literals &amp; Tokens</a:t>
            </a:r>
          </a:p>
          <a:p>
            <a:pPr lvl="1">
              <a:lnSpc>
                <a:spcPct val="160000"/>
              </a:lnSpc>
            </a:pPr>
            <a:r>
              <a:rPr lang="en-US" sz="2100" dirty="0">
                <a:latin typeface="Corbel" panose="020B0503020204020204" pitchFamily="34" charset="0"/>
              </a:rPr>
              <a:t>A program starts as a </a:t>
            </a:r>
            <a:r>
              <a:rPr lang="en-US" sz="2100" b="1" u="sng" dirty="0">
                <a:latin typeface="Corbel" panose="020B0503020204020204" pitchFamily="34" charset="0"/>
              </a:rPr>
              <a:t>sequence of characters </a:t>
            </a:r>
            <a:r>
              <a:rPr lang="en-US" sz="2100" dirty="0">
                <a:latin typeface="Corbel" panose="020B0503020204020204" pitchFamily="34" charset="0"/>
              </a:rPr>
              <a:t>contained in a </a:t>
            </a:r>
            <a:r>
              <a:rPr lang="en-US" sz="2100" b="1" u="sng" dirty="0">
                <a:latin typeface="Corbel" panose="020B0503020204020204" pitchFamily="34" charset="0"/>
              </a:rPr>
              <a:t>file the source code</a:t>
            </a:r>
            <a:r>
              <a:rPr lang="en-US" sz="2100" dirty="0">
                <a:latin typeface="Corbel" panose="020B0503020204020204" pitchFamily="34" charset="0"/>
              </a:rPr>
              <a:t>. Interpreting those characters, according to the rules of a given language, is the job of the compiler, or interpreter. </a:t>
            </a:r>
          </a:p>
          <a:p>
            <a:pPr lvl="1">
              <a:lnSpc>
                <a:spcPct val="160000"/>
              </a:lnSpc>
            </a:pPr>
            <a:r>
              <a:rPr lang="en-US" sz="2100" dirty="0">
                <a:latin typeface="Corbel" panose="020B0503020204020204" pitchFamily="34" charset="0"/>
              </a:rPr>
              <a:t>Some characters will represent the names of </a:t>
            </a:r>
            <a:r>
              <a:rPr lang="en-US" sz="2100" b="1" dirty="0">
                <a:latin typeface="Corbel" panose="020B0503020204020204" pitchFamily="34" charset="0"/>
              </a:rPr>
              <a:t>variables</a:t>
            </a:r>
            <a:r>
              <a:rPr lang="en-US" sz="2100" dirty="0">
                <a:latin typeface="Corbel" panose="020B0503020204020204" pitchFamily="34" charset="0"/>
              </a:rPr>
              <a:t>, others will be </a:t>
            </a:r>
            <a:r>
              <a:rPr lang="en-US" sz="2100" b="1" dirty="0">
                <a:latin typeface="Corbel" panose="020B0503020204020204" pitchFamily="34" charset="0"/>
              </a:rPr>
              <a:t>special keywords </a:t>
            </a:r>
            <a:r>
              <a:rPr lang="en-US" sz="2100" dirty="0">
                <a:latin typeface="Corbel" panose="020B0503020204020204" pitchFamily="34" charset="0"/>
              </a:rPr>
              <a:t>used by the language, still others will be </a:t>
            </a:r>
            <a:r>
              <a:rPr lang="en-US" sz="2100" b="1" dirty="0">
                <a:latin typeface="Corbel" panose="020B0503020204020204" pitchFamily="34" charset="0"/>
              </a:rPr>
              <a:t>operators </a:t>
            </a:r>
            <a:r>
              <a:rPr lang="en-US" sz="2100" dirty="0">
                <a:latin typeface="Corbel" panose="020B0503020204020204" pitchFamily="34" charset="0"/>
              </a:rPr>
              <a:t>or "</a:t>
            </a:r>
            <a:r>
              <a:rPr lang="en-US" sz="2100" b="1" dirty="0">
                <a:latin typeface="Corbel" panose="020B0503020204020204" pitchFamily="34" charset="0"/>
              </a:rPr>
              <a:t>punctuation</a:t>
            </a:r>
            <a:r>
              <a:rPr lang="en-US" sz="2100" dirty="0">
                <a:latin typeface="Corbel" panose="020B0503020204020204" pitchFamily="34" charset="0"/>
              </a:rPr>
              <a:t>" characters used to separate the other elements. </a:t>
            </a:r>
          </a:p>
          <a:p>
            <a:pPr lvl="1">
              <a:lnSpc>
                <a:spcPct val="160000"/>
              </a:lnSpc>
            </a:pPr>
            <a:r>
              <a:rPr lang="en-US" sz="2100" dirty="0">
                <a:latin typeface="Corbel" panose="020B0503020204020204" pitchFamily="34" charset="0"/>
              </a:rPr>
              <a:t>All of these </a:t>
            </a:r>
            <a:r>
              <a:rPr lang="en-US" sz="2100" b="1" dirty="0">
                <a:latin typeface="Corbel" panose="020B0503020204020204" pitchFamily="34" charset="0"/>
              </a:rPr>
              <a:t>textual constructs </a:t>
            </a:r>
            <a:r>
              <a:rPr lang="en-US" sz="2100" dirty="0">
                <a:latin typeface="Corbel" panose="020B0503020204020204" pitchFamily="34" charset="0"/>
              </a:rPr>
              <a:t>form the </a:t>
            </a:r>
            <a:r>
              <a:rPr lang="en-US" sz="2100" b="1" dirty="0">
                <a:latin typeface="Corbel" panose="020B0503020204020204" pitchFamily="34" charset="0"/>
              </a:rPr>
              <a:t>lexical elements </a:t>
            </a:r>
            <a:r>
              <a:rPr lang="en-US" sz="2100" dirty="0">
                <a:latin typeface="Corbel" panose="020B0503020204020204" pitchFamily="34" charset="0"/>
              </a:rPr>
              <a:t>of the program. </a:t>
            </a:r>
          </a:p>
        </p:txBody>
      </p:sp>
      <p:pic>
        <p:nvPicPr>
          <p:cNvPr id="1026" name="Picture 2" descr="Image result for literals &amp; tokens">
            <a:extLst>
              <a:ext uri="{FF2B5EF4-FFF2-40B4-BE49-F238E27FC236}">
                <a16:creationId xmlns:a16="http://schemas.microsoft.com/office/drawing/2014/main" id="{2BA6A54E-F945-41D6-B586-1910CB63FC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8246" y="1522878"/>
            <a:ext cx="4066491" cy="18299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literals &amp; tokens">
            <a:extLst>
              <a:ext uri="{FF2B5EF4-FFF2-40B4-BE49-F238E27FC236}">
                <a16:creationId xmlns:a16="http://schemas.microsoft.com/office/drawing/2014/main" id="{98CFE607-BEDE-41F2-962C-15B7C6F945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5560" y="4209242"/>
            <a:ext cx="4307372" cy="2361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4190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B2B : Back to Basics – A quick refresher </a:t>
            </a:r>
          </a:p>
        </p:txBody>
      </p:sp>
      <p:sp>
        <p:nvSpPr>
          <p:cNvPr id="3" name="Content Placeholder 2"/>
          <p:cNvSpPr>
            <a:spLocks noGrp="1"/>
          </p:cNvSpPr>
          <p:nvPr>
            <p:ph idx="1"/>
          </p:nvPr>
        </p:nvSpPr>
        <p:spPr>
          <a:xfrm>
            <a:off x="385447" y="1411941"/>
            <a:ext cx="6409800" cy="4975412"/>
          </a:xfrm>
        </p:spPr>
        <p:txBody>
          <a:bodyPr>
            <a:normAutofit fontScale="85000" lnSpcReduction="10000"/>
          </a:bodyPr>
          <a:lstStyle/>
          <a:p>
            <a:pPr>
              <a:lnSpc>
                <a:spcPct val="150000"/>
              </a:lnSpc>
            </a:pPr>
            <a:r>
              <a:rPr lang="en-US" sz="1900" b="1" u="sng" dirty="0">
                <a:latin typeface="Corbel" panose="020B0503020204020204" pitchFamily="34" charset="0"/>
              </a:rPr>
              <a:t>CP : A course intended to instill the virtues of Procedural Languages. What else did we cover? </a:t>
            </a:r>
          </a:p>
          <a:p>
            <a:pPr>
              <a:lnSpc>
                <a:spcPct val="150000"/>
              </a:lnSpc>
            </a:pPr>
            <a:r>
              <a:rPr lang="en-US" sz="1900" b="1" u="sng" dirty="0">
                <a:latin typeface="Corbel" panose="020B0503020204020204" pitchFamily="34" charset="0"/>
              </a:rPr>
              <a:t>Types</a:t>
            </a:r>
          </a:p>
          <a:p>
            <a:pPr lvl="1">
              <a:lnSpc>
                <a:spcPct val="150000"/>
              </a:lnSpc>
            </a:pPr>
            <a:r>
              <a:rPr lang="en-US" sz="1900" dirty="0">
                <a:latin typeface="Corbel" panose="020B0503020204020204" pitchFamily="34" charset="0"/>
              </a:rPr>
              <a:t>Every expression has a type that determines what values the expression can produce. The type of an expression is determined by the types of values and variables used within that expression. </a:t>
            </a:r>
          </a:p>
          <a:p>
            <a:pPr lvl="1">
              <a:lnSpc>
                <a:spcPct val="150000"/>
              </a:lnSpc>
            </a:pPr>
            <a:r>
              <a:rPr lang="en-US" sz="1900" dirty="0">
                <a:latin typeface="Corbel" panose="020B0503020204020204" pitchFamily="34" charset="0"/>
              </a:rPr>
              <a:t>P</a:t>
            </a:r>
            <a:r>
              <a:rPr lang="en-US" sz="1900" b="1" dirty="0">
                <a:latin typeface="Corbel" panose="020B0503020204020204" pitchFamily="34" charset="0"/>
              </a:rPr>
              <a:t>rimitive types </a:t>
            </a:r>
            <a:r>
              <a:rPr lang="en-US" sz="1900" dirty="0">
                <a:latin typeface="Corbel" panose="020B0503020204020204" pitchFamily="34" charset="0"/>
              </a:rPr>
              <a:t>and the </a:t>
            </a:r>
            <a:r>
              <a:rPr lang="en-US" sz="1900" b="1" dirty="0">
                <a:latin typeface="Corbel" panose="020B0503020204020204" pitchFamily="34" charset="0"/>
              </a:rPr>
              <a:t>reference types</a:t>
            </a:r>
          </a:p>
          <a:p>
            <a:pPr lvl="2"/>
            <a:r>
              <a:rPr lang="en-US" sz="1800" dirty="0">
                <a:latin typeface="Corbel" panose="020B0503020204020204" pitchFamily="34" charset="0"/>
              </a:rPr>
              <a:t>Boolean either true or false</a:t>
            </a:r>
          </a:p>
          <a:p>
            <a:pPr lvl="2"/>
            <a:r>
              <a:rPr lang="fr-FR" sz="1800" dirty="0">
                <a:latin typeface="Corbel" panose="020B0503020204020204" pitchFamily="34" charset="0"/>
              </a:rPr>
              <a:t>char 16-bit Unicode UTF-16 code unit (unsigned)</a:t>
            </a:r>
          </a:p>
          <a:p>
            <a:pPr lvl="2"/>
            <a:r>
              <a:rPr lang="en-US" sz="1800" dirty="0">
                <a:latin typeface="Corbel" panose="020B0503020204020204" pitchFamily="34" charset="0"/>
              </a:rPr>
              <a:t>byte 8-bit signed two's-complement integer</a:t>
            </a:r>
          </a:p>
          <a:p>
            <a:pPr lvl="2"/>
            <a:r>
              <a:rPr lang="en-US" sz="1800" dirty="0">
                <a:latin typeface="Corbel" panose="020B0503020204020204" pitchFamily="34" charset="0"/>
              </a:rPr>
              <a:t>short 16-bit signed two's-complement integer</a:t>
            </a:r>
          </a:p>
          <a:p>
            <a:pPr lvl="2"/>
            <a:r>
              <a:rPr lang="en-US" sz="1800" dirty="0">
                <a:latin typeface="Corbel" panose="020B0503020204020204" pitchFamily="34" charset="0"/>
              </a:rPr>
              <a:t>int 32-bit signed two's-complement integer</a:t>
            </a:r>
          </a:p>
          <a:p>
            <a:pPr lvl="2"/>
            <a:r>
              <a:rPr lang="en-US" sz="1800" dirty="0">
                <a:latin typeface="Corbel" panose="020B0503020204020204" pitchFamily="34" charset="0"/>
              </a:rPr>
              <a:t>long 64-bit signed two's-complement integer</a:t>
            </a:r>
          </a:p>
          <a:p>
            <a:pPr lvl="2"/>
            <a:r>
              <a:rPr lang="en-US" sz="1800" dirty="0">
                <a:latin typeface="Corbel" panose="020B0503020204020204" pitchFamily="34" charset="0"/>
              </a:rPr>
              <a:t>float 32-bit IEEE 754 floating-point number</a:t>
            </a:r>
            <a:endParaRPr lang="en-US" sz="1800" b="1" u="sng" dirty="0">
              <a:latin typeface="Corbel" panose="020B0503020204020204" pitchFamily="34" charset="0"/>
            </a:endParaRPr>
          </a:p>
        </p:txBody>
      </p:sp>
      <p:pic>
        <p:nvPicPr>
          <p:cNvPr id="2050" name="Picture 2" descr="Image result for types in C">
            <a:extLst>
              <a:ext uri="{FF2B5EF4-FFF2-40B4-BE49-F238E27FC236}">
                <a16:creationId xmlns:a16="http://schemas.microsoft.com/office/drawing/2014/main" id="{70697B5D-2323-4FC7-8BE4-2391203812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1653" y="2004171"/>
            <a:ext cx="5167873" cy="3758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30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B2B : Back to Basics – A quick refresher </a:t>
            </a:r>
          </a:p>
        </p:txBody>
      </p:sp>
      <p:sp>
        <p:nvSpPr>
          <p:cNvPr id="3" name="Content Placeholder 2"/>
          <p:cNvSpPr>
            <a:spLocks noGrp="1"/>
          </p:cNvSpPr>
          <p:nvPr>
            <p:ph idx="1"/>
          </p:nvPr>
        </p:nvSpPr>
        <p:spPr>
          <a:xfrm>
            <a:off x="208032" y="1440516"/>
            <a:ext cx="11107668" cy="4975412"/>
          </a:xfrm>
        </p:spPr>
        <p:txBody>
          <a:bodyPr>
            <a:normAutofit/>
          </a:bodyPr>
          <a:lstStyle/>
          <a:p>
            <a:pPr>
              <a:lnSpc>
                <a:spcPct val="150000"/>
              </a:lnSpc>
            </a:pPr>
            <a:r>
              <a:rPr lang="en-US" sz="1900" b="1" u="sng" dirty="0">
                <a:latin typeface="Corbel" panose="020B0503020204020204" pitchFamily="34" charset="0"/>
              </a:rPr>
              <a:t>CP : A course intended to instill the virtues of Procedural Languages. What else did we cover? </a:t>
            </a:r>
          </a:p>
          <a:p>
            <a:pPr>
              <a:lnSpc>
                <a:spcPct val="150000"/>
              </a:lnSpc>
            </a:pPr>
            <a:r>
              <a:rPr lang="en-US" sz="1900" b="1" u="sng" dirty="0">
                <a:latin typeface="Corbel" panose="020B0503020204020204" pitchFamily="34" charset="0"/>
              </a:rPr>
              <a:t>Variables</a:t>
            </a:r>
          </a:p>
          <a:p>
            <a:r>
              <a:rPr lang="en-US" sz="1800" dirty="0">
                <a:latin typeface="Corbel" panose="020B0503020204020204" pitchFamily="34" charset="0"/>
              </a:rPr>
              <a:t>A variable is a storage location something that can hold a value to which a value can be assigned.</a:t>
            </a:r>
          </a:p>
          <a:p>
            <a:r>
              <a:rPr lang="en-US" sz="1800" dirty="0">
                <a:latin typeface="Corbel" panose="020B0503020204020204" pitchFamily="34" charset="0"/>
              </a:rPr>
              <a:t> Variables include fields, local variables in a block of code, and parameters. </a:t>
            </a:r>
          </a:p>
          <a:p>
            <a:r>
              <a:rPr lang="en-US" sz="1800" dirty="0">
                <a:latin typeface="Corbel" panose="020B0503020204020204" pitchFamily="34" charset="0"/>
              </a:rPr>
              <a:t>A variable declaration states the identifier (name), type, and other attributes of a variable. </a:t>
            </a:r>
          </a:p>
          <a:p>
            <a:r>
              <a:rPr lang="en-US" sz="1800" dirty="0">
                <a:latin typeface="Corbel" panose="020B0503020204020204" pitchFamily="34" charset="0"/>
              </a:rPr>
              <a:t>The type part of a declaration specifies which kinds of values </a:t>
            </a:r>
            <a:r>
              <a:rPr lang="en-US" sz="1800" dirty="0"/>
              <a:t>and behavior are supported by the declared entity. </a:t>
            </a:r>
          </a:p>
          <a:p>
            <a:r>
              <a:rPr lang="en-US" sz="1800" dirty="0"/>
              <a:t>The other attributes of a variable include </a:t>
            </a:r>
            <a:r>
              <a:rPr lang="en-US" sz="1800" b="1" dirty="0"/>
              <a:t>annotations</a:t>
            </a:r>
            <a:r>
              <a:rPr lang="en-US" sz="1800" dirty="0"/>
              <a:t> and </a:t>
            </a:r>
            <a:r>
              <a:rPr lang="en-US" sz="1800" b="1" dirty="0"/>
              <a:t>modifiers</a:t>
            </a:r>
            <a:r>
              <a:rPr lang="en-US" sz="1800" dirty="0"/>
              <a:t>. </a:t>
            </a:r>
          </a:p>
          <a:p>
            <a:r>
              <a:rPr lang="en-US" sz="1800" dirty="0"/>
              <a:t>Annotations can be applied to any variable declaration</a:t>
            </a:r>
            <a:endParaRPr lang="en-US" sz="1800" b="1" u="sng" dirty="0">
              <a:latin typeface="Corbel" panose="020B0503020204020204" pitchFamily="34" charset="0"/>
            </a:endParaRPr>
          </a:p>
        </p:txBody>
      </p:sp>
    </p:spTree>
    <p:extLst>
      <p:ext uri="{BB962C8B-B14F-4D97-AF65-F5344CB8AC3E}">
        <p14:creationId xmlns:p14="http://schemas.microsoft.com/office/powerpoint/2010/main" val="2373239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B2B : Back to Basics – A quick refresher </a:t>
            </a:r>
          </a:p>
        </p:txBody>
      </p:sp>
      <p:sp>
        <p:nvSpPr>
          <p:cNvPr id="3" name="Content Placeholder 2"/>
          <p:cNvSpPr>
            <a:spLocks noGrp="1"/>
          </p:cNvSpPr>
          <p:nvPr>
            <p:ph idx="1"/>
          </p:nvPr>
        </p:nvSpPr>
        <p:spPr>
          <a:xfrm>
            <a:off x="1103382" y="1411941"/>
            <a:ext cx="10568666" cy="4975412"/>
          </a:xfrm>
        </p:spPr>
        <p:txBody>
          <a:bodyPr>
            <a:normAutofit/>
          </a:bodyPr>
          <a:lstStyle/>
          <a:p>
            <a:pPr>
              <a:lnSpc>
                <a:spcPct val="150000"/>
              </a:lnSpc>
            </a:pPr>
            <a:r>
              <a:rPr lang="en-US" sz="1900" b="1" u="sng" dirty="0">
                <a:latin typeface="Corbel" panose="020B0503020204020204" pitchFamily="34" charset="0"/>
              </a:rPr>
              <a:t>CP : A course intended to instill the virtues of Procedural Languages. What else did we cover? </a:t>
            </a:r>
          </a:p>
          <a:p>
            <a:pPr marL="0" indent="0">
              <a:lnSpc>
                <a:spcPct val="150000"/>
              </a:lnSpc>
              <a:buNone/>
            </a:pPr>
            <a:r>
              <a:rPr lang="en-US" sz="1900" b="1" u="sng" dirty="0">
                <a:latin typeface="Corbel" panose="020B0503020204020204" pitchFamily="34" charset="0"/>
              </a:rPr>
              <a:t>Operators</a:t>
            </a:r>
          </a:p>
          <a:p>
            <a:pPr marL="0" indent="0">
              <a:lnSpc>
                <a:spcPct val="150000"/>
              </a:lnSpc>
              <a:buNone/>
            </a:pPr>
            <a:endParaRPr lang="en-US" sz="1900" b="1" u="sng" dirty="0">
              <a:latin typeface="Corbel" panose="020B0503020204020204" pitchFamily="34" charset="0"/>
            </a:endParaRPr>
          </a:p>
        </p:txBody>
      </p:sp>
      <p:pic>
        <p:nvPicPr>
          <p:cNvPr id="4" name="Content Placeholder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1312" y="2668496"/>
            <a:ext cx="7264278" cy="3957636"/>
          </a:xfrm>
          <a:prstGeom prst="rect">
            <a:avLst/>
          </a:prstGeom>
        </p:spPr>
      </p:pic>
    </p:spTree>
    <p:extLst>
      <p:ext uri="{BB962C8B-B14F-4D97-AF65-F5344CB8AC3E}">
        <p14:creationId xmlns:p14="http://schemas.microsoft.com/office/powerpoint/2010/main" val="373189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B2B : Back to Basics – A quick refresher </a:t>
            </a:r>
          </a:p>
        </p:txBody>
      </p:sp>
      <p:sp>
        <p:nvSpPr>
          <p:cNvPr id="3" name="Content Placeholder 2"/>
          <p:cNvSpPr>
            <a:spLocks noGrp="1"/>
          </p:cNvSpPr>
          <p:nvPr>
            <p:ph idx="1"/>
          </p:nvPr>
        </p:nvSpPr>
        <p:spPr>
          <a:xfrm>
            <a:off x="1103382" y="1411941"/>
            <a:ext cx="10568666" cy="4975412"/>
          </a:xfrm>
        </p:spPr>
        <p:txBody>
          <a:bodyPr>
            <a:normAutofit/>
          </a:bodyPr>
          <a:lstStyle/>
          <a:p>
            <a:pPr>
              <a:lnSpc>
                <a:spcPct val="150000"/>
              </a:lnSpc>
            </a:pPr>
            <a:r>
              <a:rPr lang="en-US" sz="1900" b="1" u="sng" dirty="0">
                <a:latin typeface="Corbel" panose="020B0503020204020204" pitchFamily="34" charset="0"/>
              </a:rPr>
              <a:t>CP : A course intended to instill the virtues of Procedural Languages. What else did we cover? </a:t>
            </a:r>
          </a:p>
          <a:p>
            <a:pPr marL="0" indent="0">
              <a:lnSpc>
                <a:spcPct val="150000"/>
              </a:lnSpc>
              <a:buNone/>
            </a:pPr>
            <a:r>
              <a:rPr lang="en-US" sz="1900" b="1" u="sng" dirty="0">
                <a:latin typeface="Corbel" panose="020B0503020204020204" pitchFamily="34" charset="0"/>
              </a:rPr>
              <a:t>Precedence &amp; Associativity</a:t>
            </a:r>
          </a:p>
          <a:p>
            <a:pPr marL="0" indent="0">
              <a:lnSpc>
                <a:spcPct val="150000"/>
              </a:lnSpc>
              <a:buNone/>
            </a:pPr>
            <a:endParaRPr lang="en-US" sz="1900" b="1" u="sng" dirty="0">
              <a:latin typeface="Corbel" panose="020B0503020204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0359" y="2136982"/>
            <a:ext cx="5694357" cy="4175862"/>
          </a:xfrm>
          <a:prstGeom prst="rect">
            <a:avLst/>
          </a:prstGeom>
        </p:spPr>
      </p:pic>
    </p:spTree>
    <p:extLst>
      <p:ext uri="{BB962C8B-B14F-4D97-AF65-F5344CB8AC3E}">
        <p14:creationId xmlns:p14="http://schemas.microsoft.com/office/powerpoint/2010/main" val="3513601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B2B : Back to Basics – A quick refresher </a:t>
            </a:r>
          </a:p>
        </p:txBody>
      </p:sp>
      <p:sp>
        <p:nvSpPr>
          <p:cNvPr id="3" name="Content Placeholder 2"/>
          <p:cNvSpPr>
            <a:spLocks noGrp="1"/>
          </p:cNvSpPr>
          <p:nvPr>
            <p:ph idx="1"/>
          </p:nvPr>
        </p:nvSpPr>
        <p:spPr>
          <a:xfrm>
            <a:off x="1103382" y="1411941"/>
            <a:ext cx="10568666" cy="4975412"/>
          </a:xfrm>
        </p:spPr>
        <p:txBody>
          <a:bodyPr>
            <a:normAutofit/>
          </a:bodyPr>
          <a:lstStyle/>
          <a:p>
            <a:pPr>
              <a:lnSpc>
                <a:spcPct val="150000"/>
              </a:lnSpc>
            </a:pPr>
            <a:r>
              <a:rPr lang="en-US" sz="1900" b="1" u="sng" dirty="0">
                <a:latin typeface="Corbel" panose="020B0503020204020204" pitchFamily="34" charset="0"/>
              </a:rPr>
              <a:t>CP : A course intended to instill the virtues of Procedural Languages. What else did we cover? </a:t>
            </a:r>
          </a:p>
          <a:p>
            <a:pPr marL="0" indent="0">
              <a:lnSpc>
                <a:spcPct val="150000"/>
              </a:lnSpc>
              <a:buNone/>
            </a:pPr>
            <a:r>
              <a:rPr lang="en-US" sz="1900" b="1" u="sng" dirty="0">
                <a:latin typeface="Corbel" panose="020B0503020204020204" pitchFamily="34" charset="0"/>
              </a:rPr>
              <a:t>Control Statements</a:t>
            </a:r>
          </a:p>
          <a:p>
            <a:pPr marL="0" indent="0">
              <a:lnSpc>
                <a:spcPct val="150000"/>
              </a:lnSpc>
              <a:buNone/>
            </a:pPr>
            <a:endParaRPr lang="en-US" sz="1900" b="1" u="sng" dirty="0">
              <a:latin typeface="Corbel" panose="020B0503020204020204" pitchFamily="34" charset="0"/>
            </a:endParaRPr>
          </a:p>
        </p:txBody>
      </p:sp>
      <p:sp>
        <p:nvSpPr>
          <p:cNvPr id="4" name="Rectangle 3"/>
          <p:cNvSpPr/>
          <p:nvPr/>
        </p:nvSpPr>
        <p:spPr>
          <a:xfrm>
            <a:off x="1103381" y="2594259"/>
            <a:ext cx="5203289" cy="4031873"/>
          </a:xfrm>
          <a:prstGeom prst="rect">
            <a:avLst/>
          </a:prstGeom>
        </p:spPr>
        <p:txBody>
          <a:bodyPr wrap="square">
            <a:spAutoFit/>
          </a:bodyPr>
          <a:lstStyle/>
          <a:p>
            <a:r>
              <a:rPr lang="en-US" dirty="0">
                <a:latin typeface="Corbel" panose="020B0503020204020204" pitchFamily="34" charset="0"/>
              </a:rPr>
              <a:t>Decision Making(or branching) Statements</a:t>
            </a:r>
          </a:p>
          <a:p>
            <a:pPr lvl="1"/>
            <a:r>
              <a:rPr lang="en-US" dirty="0">
                <a:latin typeface="Corbel" panose="020B0503020204020204" pitchFamily="34" charset="0"/>
              </a:rPr>
              <a:t>If statement</a:t>
            </a:r>
          </a:p>
          <a:p>
            <a:pPr lvl="1"/>
            <a:r>
              <a:rPr lang="en-US" dirty="0">
                <a:latin typeface="Corbel" panose="020B0503020204020204" pitchFamily="34" charset="0"/>
              </a:rPr>
              <a:t>If</a:t>
            </a:r>
            <a:r>
              <a:rPr lang="is-IS" dirty="0">
                <a:latin typeface="Corbel" panose="020B0503020204020204" pitchFamily="34" charset="0"/>
              </a:rPr>
              <a:t>…else statement</a:t>
            </a:r>
          </a:p>
          <a:p>
            <a:pPr lvl="1"/>
            <a:r>
              <a:rPr lang="en-US" dirty="0">
                <a:latin typeface="Corbel" panose="020B0503020204020204" pitchFamily="34" charset="0"/>
              </a:rPr>
              <a:t>E</a:t>
            </a:r>
            <a:r>
              <a:rPr lang="is-IS" dirty="0">
                <a:latin typeface="Corbel" panose="020B0503020204020204" pitchFamily="34" charset="0"/>
              </a:rPr>
              <a:t>lse...if statement</a:t>
            </a:r>
          </a:p>
          <a:p>
            <a:pPr lvl="1"/>
            <a:r>
              <a:rPr lang="is-IS" dirty="0">
                <a:latin typeface="Corbel" panose="020B0503020204020204" pitchFamily="34" charset="0"/>
              </a:rPr>
              <a:t>Nested if...else statement</a:t>
            </a:r>
          </a:p>
          <a:p>
            <a:pPr lvl="1"/>
            <a:r>
              <a:rPr lang="en-US" dirty="0">
                <a:latin typeface="Corbel" panose="020B0503020204020204" pitchFamily="34" charset="0"/>
              </a:rPr>
              <a:t>S</a:t>
            </a:r>
            <a:r>
              <a:rPr lang="is-IS" dirty="0">
                <a:latin typeface="Corbel" panose="020B0503020204020204" pitchFamily="34" charset="0"/>
              </a:rPr>
              <a:t>witch statement</a:t>
            </a:r>
            <a:endParaRPr lang="en-US" dirty="0">
              <a:latin typeface="Corbel" panose="020B0503020204020204" pitchFamily="34" charset="0"/>
            </a:endParaRPr>
          </a:p>
          <a:p>
            <a:r>
              <a:rPr lang="en-US" dirty="0">
                <a:latin typeface="Corbel" panose="020B0503020204020204" pitchFamily="34" charset="0"/>
              </a:rPr>
              <a:t>Loop or Repeating Construct</a:t>
            </a:r>
          </a:p>
          <a:p>
            <a:pPr lvl="1"/>
            <a:r>
              <a:rPr lang="en-US" dirty="0">
                <a:latin typeface="Corbel" panose="020B0503020204020204" pitchFamily="34" charset="0"/>
              </a:rPr>
              <a:t>For loop</a:t>
            </a:r>
          </a:p>
          <a:p>
            <a:pPr lvl="1"/>
            <a:r>
              <a:rPr lang="en-US" dirty="0">
                <a:latin typeface="Corbel" panose="020B0503020204020204" pitchFamily="34" charset="0"/>
              </a:rPr>
              <a:t>While loop</a:t>
            </a:r>
          </a:p>
          <a:p>
            <a:pPr lvl="1"/>
            <a:r>
              <a:rPr lang="en-US" dirty="0">
                <a:latin typeface="Corbel" panose="020B0503020204020204" pitchFamily="34" charset="0"/>
              </a:rPr>
              <a:t>Do</a:t>
            </a:r>
            <a:r>
              <a:rPr lang="is-IS" dirty="0">
                <a:latin typeface="Corbel" panose="020B0503020204020204" pitchFamily="34" charset="0"/>
              </a:rPr>
              <a:t>…while loop</a:t>
            </a:r>
          </a:p>
          <a:p>
            <a:r>
              <a:rPr lang="is-IS" dirty="0">
                <a:solidFill>
                  <a:srgbClr val="FF0000"/>
                </a:solidFill>
                <a:latin typeface="Corbel" panose="020B0503020204020204" pitchFamily="34" charset="0"/>
              </a:rPr>
              <a:t>NOTE</a:t>
            </a:r>
            <a:r>
              <a:rPr lang="is-IS" sz="2200" dirty="0">
                <a:solidFill>
                  <a:srgbClr val="FF0000"/>
                </a:solidFill>
                <a:latin typeface="Corbel" panose="020B0503020204020204" pitchFamily="34" charset="0"/>
              </a:rPr>
              <a:t>: </a:t>
            </a:r>
          </a:p>
          <a:p>
            <a:r>
              <a:rPr lang="en-US" dirty="0">
                <a:solidFill>
                  <a:srgbClr val="FF0000"/>
                </a:solidFill>
                <a:latin typeface="Corbel" panose="020B0503020204020204" pitchFamily="34" charset="0"/>
              </a:rPr>
              <a:t>Branching </a:t>
            </a:r>
            <a:r>
              <a:rPr lang="en-US" dirty="0">
                <a:latin typeface="Corbel" panose="020B0503020204020204" pitchFamily="34" charset="0"/>
              </a:rPr>
              <a:t>is deciding what actions to take </a:t>
            </a:r>
          </a:p>
          <a:p>
            <a:r>
              <a:rPr lang="en-US" dirty="0">
                <a:solidFill>
                  <a:srgbClr val="FF0000"/>
                </a:solidFill>
                <a:latin typeface="Corbel" panose="020B0503020204020204" pitchFamily="34" charset="0"/>
              </a:rPr>
              <a:t>looping </a:t>
            </a:r>
            <a:r>
              <a:rPr lang="en-US" dirty="0">
                <a:latin typeface="Corbel" panose="020B0503020204020204" pitchFamily="34" charset="0"/>
              </a:rPr>
              <a:t>is deciding how many times to take a certain action.</a:t>
            </a:r>
          </a:p>
        </p:txBody>
      </p:sp>
      <p:pic>
        <p:nvPicPr>
          <p:cNvPr id="6" name="Picture 5">
            <a:extLst>
              <a:ext uri="{FF2B5EF4-FFF2-40B4-BE49-F238E27FC236}">
                <a16:creationId xmlns:a16="http://schemas.microsoft.com/office/drawing/2014/main" id="{150BABB7-03E1-46FC-A572-CA19046DD3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6670" y="2047335"/>
            <a:ext cx="5786690" cy="4340018"/>
          </a:xfrm>
          <a:prstGeom prst="rect">
            <a:avLst/>
          </a:prstGeom>
        </p:spPr>
      </p:pic>
    </p:spTree>
    <p:extLst>
      <p:ext uri="{BB962C8B-B14F-4D97-AF65-F5344CB8AC3E}">
        <p14:creationId xmlns:p14="http://schemas.microsoft.com/office/powerpoint/2010/main" val="127834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B2B : Back to Basics – A quick refresher </a:t>
            </a:r>
          </a:p>
        </p:txBody>
      </p:sp>
      <p:sp>
        <p:nvSpPr>
          <p:cNvPr id="3" name="Content Placeholder 2"/>
          <p:cNvSpPr>
            <a:spLocks noGrp="1"/>
          </p:cNvSpPr>
          <p:nvPr>
            <p:ph idx="1"/>
          </p:nvPr>
        </p:nvSpPr>
        <p:spPr>
          <a:xfrm>
            <a:off x="1103382" y="1411941"/>
            <a:ext cx="10568666" cy="4975412"/>
          </a:xfrm>
        </p:spPr>
        <p:txBody>
          <a:bodyPr>
            <a:normAutofit/>
          </a:bodyPr>
          <a:lstStyle/>
          <a:p>
            <a:pPr>
              <a:lnSpc>
                <a:spcPct val="150000"/>
              </a:lnSpc>
            </a:pPr>
            <a:r>
              <a:rPr lang="en-US" sz="1900" b="1" u="sng" dirty="0">
                <a:latin typeface="Corbel" panose="020B0503020204020204" pitchFamily="34" charset="0"/>
              </a:rPr>
              <a:t>CP : A course intended to instill the virtues of Procedural Languages. What else did we cover? </a:t>
            </a:r>
          </a:p>
          <a:p>
            <a:pPr marL="0" indent="0">
              <a:lnSpc>
                <a:spcPct val="150000"/>
              </a:lnSpc>
              <a:buNone/>
            </a:pPr>
            <a:r>
              <a:rPr lang="en-US" sz="1900" b="1" u="sng" dirty="0">
                <a:latin typeface="Corbel" panose="020B0503020204020204" pitchFamily="34" charset="0"/>
              </a:rPr>
              <a:t>What else?</a:t>
            </a:r>
          </a:p>
          <a:p>
            <a:pPr marL="0" indent="0">
              <a:lnSpc>
                <a:spcPct val="150000"/>
              </a:lnSpc>
              <a:buNone/>
            </a:pPr>
            <a:endParaRPr lang="en-US" sz="1900" b="1" u="sng" dirty="0">
              <a:latin typeface="Corbel" panose="020B0503020204020204" pitchFamily="34" charset="0"/>
            </a:endParaRPr>
          </a:p>
        </p:txBody>
      </p:sp>
      <p:sp>
        <p:nvSpPr>
          <p:cNvPr id="4" name="Rectangle 3"/>
          <p:cNvSpPr/>
          <p:nvPr/>
        </p:nvSpPr>
        <p:spPr>
          <a:xfrm>
            <a:off x="1103381" y="2594259"/>
            <a:ext cx="5203289" cy="2585323"/>
          </a:xfrm>
          <a:prstGeom prst="rect">
            <a:avLst/>
          </a:prstGeom>
        </p:spPr>
        <p:txBody>
          <a:bodyPr wrap="square">
            <a:spAutoFit/>
          </a:bodyPr>
          <a:lstStyle/>
          <a:p>
            <a:r>
              <a:rPr lang="en-US" dirty="0">
                <a:latin typeface="Corbel" panose="020B0503020204020204" pitchFamily="34" charset="0"/>
              </a:rPr>
              <a:t>Arrays</a:t>
            </a:r>
          </a:p>
          <a:p>
            <a:endParaRPr lang="en-US" dirty="0">
              <a:latin typeface="Corbel" panose="020B0503020204020204" pitchFamily="34" charset="0"/>
            </a:endParaRPr>
          </a:p>
          <a:p>
            <a:r>
              <a:rPr lang="en-US" dirty="0">
                <a:latin typeface="Corbel" panose="020B0503020204020204" pitchFamily="34" charset="0"/>
              </a:rPr>
              <a:t>Structures</a:t>
            </a:r>
          </a:p>
          <a:p>
            <a:endParaRPr lang="en-US" dirty="0">
              <a:latin typeface="Corbel" panose="020B0503020204020204" pitchFamily="34" charset="0"/>
            </a:endParaRPr>
          </a:p>
          <a:p>
            <a:r>
              <a:rPr lang="en-US" dirty="0">
                <a:latin typeface="Corbel" panose="020B0503020204020204" pitchFamily="34" charset="0"/>
              </a:rPr>
              <a:t>Unions</a:t>
            </a:r>
          </a:p>
          <a:p>
            <a:endParaRPr lang="en-US" dirty="0">
              <a:latin typeface="Corbel" panose="020B0503020204020204" pitchFamily="34" charset="0"/>
            </a:endParaRPr>
          </a:p>
          <a:p>
            <a:r>
              <a:rPr lang="en-US" dirty="0">
                <a:latin typeface="Corbel" panose="020B0503020204020204" pitchFamily="34" charset="0"/>
              </a:rPr>
              <a:t>Pointers</a:t>
            </a:r>
          </a:p>
          <a:p>
            <a:endParaRPr lang="en-US" dirty="0">
              <a:latin typeface="Corbel" panose="020B0503020204020204" pitchFamily="34" charset="0"/>
            </a:endParaRPr>
          </a:p>
          <a:p>
            <a:r>
              <a:rPr lang="en-US" dirty="0">
                <a:latin typeface="Corbel" panose="020B0503020204020204" pitchFamily="34" charset="0"/>
              </a:rPr>
              <a:t>Functions</a:t>
            </a:r>
          </a:p>
        </p:txBody>
      </p:sp>
    </p:spTree>
    <p:extLst>
      <p:ext uri="{BB962C8B-B14F-4D97-AF65-F5344CB8AC3E}">
        <p14:creationId xmlns:p14="http://schemas.microsoft.com/office/powerpoint/2010/main" val="174441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8BEE5-BA0F-462A-9C20-4706F10C3377}"/>
              </a:ext>
            </a:extLst>
          </p:cNvPr>
          <p:cNvSpPr>
            <a:spLocks noGrp="1"/>
          </p:cNvSpPr>
          <p:nvPr>
            <p:ph type="ctrTitle"/>
          </p:nvPr>
        </p:nvSpPr>
        <p:spPr/>
        <p:txBody>
          <a:bodyPr/>
          <a:lstStyle/>
          <a:p>
            <a:r>
              <a:rPr lang="en-IN" dirty="0"/>
              <a:t>The Integrated Development Environment - IDE</a:t>
            </a:r>
          </a:p>
        </p:txBody>
      </p:sp>
      <p:sp>
        <p:nvSpPr>
          <p:cNvPr id="3" name="Subtitle 2">
            <a:extLst>
              <a:ext uri="{FF2B5EF4-FFF2-40B4-BE49-F238E27FC236}">
                <a16:creationId xmlns:a16="http://schemas.microsoft.com/office/drawing/2014/main" id="{BA837798-DA80-456A-822B-F68337BF2FD6}"/>
              </a:ext>
            </a:extLst>
          </p:cNvPr>
          <p:cNvSpPr>
            <a:spLocks noGrp="1"/>
          </p:cNvSpPr>
          <p:nvPr>
            <p:ph type="subTitle" idx="1"/>
          </p:nvPr>
        </p:nvSpPr>
        <p:spPr/>
        <p:txBody>
          <a:bodyPr/>
          <a:lstStyle/>
          <a:p>
            <a:r>
              <a:rPr lang="en-IN" dirty="0"/>
              <a:t>Do not underestimate the power of IDE </a:t>
            </a:r>
          </a:p>
        </p:txBody>
      </p:sp>
      <p:pic>
        <p:nvPicPr>
          <p:cNvPr id="6" name="Picture Placeholder 5">
            <a:extLst>
              <a:ext uri="{FF2B5EF4-FFF2-40B4-BE49-F238E27FC236}">
                <a16:creationId xmlns:a16="http://schemas.microsoft.com/office/drawing/2014/main" id="{B09572D1-5EC8-4ED3-8E9E-07EDBBBFEE59}"/>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5188" r="15188"/>
          <a:stretch>
            <a:fillRect/>
          </a:stretch>
        </p:blipFill>
        <p:spPr>
          <a:xfrm>
            <a:off x="6981063" y="1310656"/>
            <a:ext cx="5210937" cy="4208604"/>
          </a:xfrm>
        </p:spPr>
      </p:pic>
    </p:spTree>
    <p:extLst>
      <p:ext uri="{BB962C8B-B14F-4D97-AF65-F5344CB8AC3E}">
        <p14:creationId xmlns:p14="http://schemas.microsoft.com/office/powerpoint/2010/main" val="1672867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31146" y="350838"/>
            <a:ext cx="10972800" cy="866267"/>
          </a:xfrm>
        </p:spPr>
        <p:txBody>
          <a:bodyPr/>
          <a:lstStyle/>
          <a:p>
            <a:r>
              <a:rPr lang="en-US" dirty="0"/>
              <a:t>Eclipse IDE</a:t>
            </a:r>
          </a:p>
        </p:txBody>
      </p:sp>
      <p:sp>
        <p:nvSpPr>
          <p:cNvPr id="5" name="Slide Number Placeholder 4"/>
          <p:cNvSpPr>
            <a:spLocks noGrp="1"/>
          </p:cNvSpPr>
          <p:nvPr>
            <p:ph type="sldNum" sz="quarter" idx="12"/>
          </p:nvPr>
        </p:nvSpPr>
        <p:spPr/>
        <p:txBody>
          <a:bodyPr/>
          <a:lstStyle/>
          <a:p>
            <a:fld id="{401CF334-2D5C-4859-84A6-CA7E6E43FAEB}" type="slidenum">
              <a:rPr lang="en-US" smtClean="0"/>
              <a:t>14</a:t>
            </a:fld>
            <a:endParaRPr lang="en-US" dirty="0"/>
          </a:p>
        </p:txBody>
      </p:sp>
      <p:pic>
        <p:nvPicPr>
          <p:cNvPr id="6" name="Picture 5"/>
          <p:cNvPicPr>
            <a:picLocks noChangeAspect="1"/>
          </p:cNvPicPr>
          <p:nvPr/>
        </p:nvPicPr>
        <p:blipFill>
          <a:blip r:embed="rId3"/>
          <a:stretch>
            <a:fillRect/>
          </a:stretch>
        </p:blipFill>
        <p:spPr>
          <a:xfrm>
            <a:off x="332918" y="1492809"/>
            <a:ext cx="11498298" cy="4863541"/>
          </a:xfrm>
          <a:prstGeom prst="rect">
            <a:avLst/>
          </a:prstGeom>
        </p:spPr>
      </p:pic>
    </p:spTree>
    <p:extLst>
      <p:ext uri="{BB962C8B-B14F-4D97-AF65-F5344CB8AC3E}">
        <p14:creationId xmlns:p14="http://schemas.microsoft.com/office/powerpoint/2010/main" val="2197673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09847" y="326559"/>
            <a:ext cx="10972800" cy="866267"/>
          </a:xfrm>
        </p:spPr>
        <p:txBody>
          <a:bodyPr/>
          <a:lstStyle/>
          <a:p>
            <a:r>
              <a:rPr lang="en-US" dirty="0"/>
              <a:t>Eclipse IDE</a:t>
            </a:r>
          </a:p>
        </p:txBody>
      </p:sp>
      <p:sp>
        <p:nvSpPr>
          <p:cNvPr id="5" name="Slide Number Placeholder 4"/>
          <p:cNvSpPr>
            <a:spLocks noGrp="1"/>
          </p:cNvSpPr>
          <p:nvPr>
            <p:ph type="sldNum" sz="quarter" idx="12"/>
          </p:nvPr>
        </p:nvSpPr>
        <p:spPr/>
        <p:txBody>
          <a:bodyPr/>
          <a:lstStyle/>
          <a:p>
            <a:fld id="{401CF334-2D5C-4859-84A6-CA7E6E43FAEB}" type="slidenum">
              <a:rPr lang="en-US" smtClean="0"/>
              <a:t>15</a:t>
            </a:fld>
            <a:endParaRPr lang="en-US" dirty="0"/>
          </a:p>
        </p:txBody>
      </p:sp>
      <p:pic>
        <p:nvPicPr>
          <p:cNvPr id="2" name="Picture 1"/>
          <p:cNvPicPr>
            <a:picLocks noChangeAspect="1"/>
          </p:cNvPicPr>
          <p:nvPr/>
        </p:nvPicPr>
        <p:blipFill>
          <a:blip r:embed="rId3"/>
          <a:stretch>
            <a:fillRect/>
          </a:stretch>
        </p:blipFill>
        <p:spPr>
          <a:xfrm>
            <a:off x="164144" y="1358358"/>
            <a:ext cx="12027856" cy="5148804"/>
          </a:xfrm>
          <a:prstGeom prst="rect">
            <a:avLst/>
          </a:prstGeom>
        </p:spPr>
      </p:pic>
    </p:spTree>
    <p:extLst>
      <p:ext uri="{BB962C8B-B14F-4D97-AF65-F5344CB8AC3E}">
        <p14:creationId xmlns:p14="http://schemas.microsoft.com/office/powerpoint/2010/main" val="2495240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2485" y="1493253"/>
            <a:ext cx="10629482" cy="4572000"/>
          </a:xfrm>
        </p:spPr>
        <p:txBody>
          <a:bodyPr>
            <a:normAutofit/>
          </a:bodyPr>
          <a:lstStyle/>
          <a:p>
            <a:pPr>
              <a:lnSpc>
                <a:spcPct val="150000"/>
              </a:lnSpc>
            </a:pPr>
            <a:r>
              <a:rPr lang="en-US" dirty="0">
                <a:latin typeface="Corbel" panose="020B0503020204020204" pitchFamily="34" charset="0"/>
              </a:rPr>
              <a:t>Errors of two types </a:t>
            </a:r>
          </a:p>
          <a:p>
            <a:pPr lvl="1">
              <a:lnSpc>
                <a:spcPct val="150000"/>
              </a:lnSpc>
            </a:pPr>
            <a:r>
              <a:rPr lang="en-US" sz="2000" dirty="0">
                <a:latin typeface="Corbel" panose="020B0503020204020204" pitchFamily="34" charset="0"/>
              </a:rPr>
              <a:t> Compile Time Errors </a:t>
            </a:r>
          </a:p>
          <a:p>
            <a:pPr lvl="1">
              <a:lnSpc>
                <a:spcPct val="150000"/>
              </a:lnSpc>
            </a:pPr>
            <a:r>
              <a:rPr lang="en-US" sz="2000" dirty="0">
                <a:latin typeface="Corbel" panose="020B0503020204020204" pitchFamily="34" charset="0"/>
              </a:rPr>
              <a:t> Detected by Eclipse as you type along or when you build the application </a:t>
            </a:r>
          </a:p>
          <a:p>
            <a:pPr>
              <a:lnSpc>
                <a:spcPct val="150000"/>
              </a:lnSpc>
            </a:pPr>
            <a:r>
              <a:rPr lang="en-US" dirty="0">
                <a:latin typeface="Corbel" panose="020B0503020204020204" pitchFamily="34" charset="0"/>
              </a:rPr>
              <a:t> Run Time Errors </a:t>
            </a:r>
          </a:p>
          <a:p>
            <a:pPr lvl="1">
              <a:lnSpc>
                <a:spcPct val="150000"/>
              </a:lnSpc>
            </a:pPr>
            <a:r>
              <a:rPr lang="en-US" sz="2000" dirty="0">
                <a:latin typeface="Corbel" panose="020B0503020204020204" pitchFamily="34" charset="0"/>
              </a:rPr>
              <a:t> Pointed out by Eclipse when you run the code. </a:t>
            </a:r>
          </a:p>
          <a:p>
            <a:pPr lvl="1">
              <a:lnSpc>
                <a:spcPct val="150000"/>
              </a:lnSpc>
            </a:pPr>
            <a:r>
              <a:rPr lang="en-US" sz="2000" dirty="0">
                <a:latin typeface="Corbel" panose="020B0503020204020204" pitchFamily="34" charset="0"/>
              </a:rPr>
              <a:t> These are referred to as BUGS and the process of removing bugs is called debugging. </a:t>
            </a:r>
          </a:p>
        </p:txBody>
      </p:sp>
      <p:sp>
        <p:nvSpPr>
          <p:cNvPr id="3" name="Title 2"/>
          <p:cNvSpPr>
            <a:spLocks noGrp="1"/>
          </p:cNvSpPr>
          <p:nvPr>
            <p:ph type="title"/>
          </p:nvPr>
        </p:nvSpPr>
        <p:spPr>
          <a:xfrm>
            <a:off x="912485" y="335889"/>
            <a:ext cx="10972800" cy="866267"/>
          </a:xfrm>
        </p:spPr>
        <p:txBody>
          <a:bodyPr/>
          <a:lstStyle/>
          <a:p>
            <a:r>
              <a:rPr lang="en-US" dirty="0"/>
              <a:t>Error Types</a:t>
            </a:r>
          </a:p>
        </p:txBody>
      </p:sp>
      <p:sp>
        <p:nvSpPr>
          <p:cNvPr id="5" name="Slide Number Placeholder 4"/>
          <p:cNvSpPr>
            <a:spLocks noGrp="1"/>
          </p:cNvSpPr>
          <p:nvPr>
            <p:ph type="sldNum" sz="quarter" idx="12"/>
          </p:nvPr>
        </p:nvSpPr>
        <p:spPr/>
        <p:txBody>
          <a:bodyPr/>
          <a:lstStyle/>
          <a:p>
            <a:fld id="{401CF334-2D5C-4859-84A6-CA7E6E43FAEB}" type="slidenum">
              <a:rPr lang="en-US" smtClean="0"/>
              <a:t>16</a:t>
            </a:fld>
            <a:endParaRPr lang="en-US" dirty="0"/>
          </a:p>
        </p:txBody>
      </p:sp>
    </p:spTree>
    <p:extLst>
      <p:ext uri="{BB962C8B-B14F-4D97-AF65-F5344CB8AC3E}">
        <p14:creationId xmlns:p14="http://schemas.microsoft.com/office/powerpoint/2010/main" val="266695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24452" y="1435766"/>
            <a:ext cx="9982200" cy="4572000"/>
          </a:xfrm>
        </p:spPr>
        <p:txBody>
          <a:bodyPr>
            <a:normAutofit/>
          </a:bodyPr>
          <a:lstStyle/>
          <a:p>
            <a:pPr>
              <a:lnSpc>
                <a:spcPct val="150000"/>
              </a:lnSpc>
            </a:pPr>
            <a:r>
              <a:rPr lang="en-US" b="1" dirty="0">
                <a:latin typeface="Corbel" panose="020B0503020204020204" pitchFamily="34" charset="0"/>
              </a:rPr>
              <a:t>Mechanisms for Pause</a:t>
            </a:r>
          </a:p>
          <a:p>
            <a:pPr lvl="1">
              <a:lnSpc>
                <a:spcPct val="150000"/>
              </a:lnSpc>
            </a:pPr>
            <a:r>
              <a:rPr lang="en-US" sz="2000" dirty="0">
                <a:latin typeface="Corbel" panose="020B0503020204020204" pitchFamily="34" charset="0"/>
              </a:rPr>
              <a:t>A </a:t>
            </a:r>
            <a:r>
              <a:rPr lang="en-US" sz="2000" i="1" dirty="0">
                <a:latin typeface="Corbel" panose="020B0503020204020204" pitchFamily="34" charset="0"/>
              </a:rPr>
              <a:t>breakpoint </a:t>
            </a:r>
            <a:r>
              <a:rPr lang="en-US" sz="2000" dirty="0">
                <a:latin typeface="Corbel" panose="020B0503020204020204" pitchFamily="34" charset="0"/>
              </a:rPr>
              <a:t>tells to pause execution at a particular location within the program.</a:t>
            </a:r>
          </a:p>
          <a:p>
            <a:pPr>
              <a:lnSpc>
                <a:spcPct val="150000"/>
              </a:lnSpc>
            </a:pPr>
            <a:r>
              <a:rPr lang="en-US" dirty="0">
                <a:latin typeface="Corbel" panose="020B0503020204020204" pitchFamily="34" charset="0"/>
              </a:rPr>
              <a:t> A </a:t>
            </a:r>
            <a:r>
              <a:rPr lang="en-US" i="1" dirty="0" err="1">
                <a:latin typeface="Corbel" panose="020B0503020204020204" pitchFamily="34" charset="0"/>
              </a:rPr>
              <a:t>watchpoint</a:t>
            </a:r>
            <a:r>
              <a:rPr lang="en-US" i="1" dirty="0">
                <a:latin typeface="Corbel" panose="020B0503020204020204" pitchFamily="34" charset="0"/>
              </a:rPr>
              <a:t> </a:t>
            </a:r>
            <a:r>
              <a:rPr lang="en-US" dirty="0">
                <a:latin typeface="Corbel" panose="020B0503020204020204" pitchFamily="34" charset="0"/>
              </a:rPr>
              <a:t>tells to pause execution when a particular memory location (or an expression involving one or more locations) changes value.</a:t>
            </a:r>
          </a:p>
          <a:p>
            <a:pPr lvl="1">
              <a:lnSpc>
                <a:spcPct val="150000"/>
              </a:lnSpc>
            </a:pPr>
            <a:r>
              <a:rPr lang="en-US" sz="2000" dirty="0">
                <a:latin typeface="Corbel" panose="020B0503020204020204" pitchFamily="34" charset="0"/>
              </a:rPr>
              <a:t> A </a:t>
            </a:r>
            <a:r>
              <a:rPr lang="en-US" sz="2000" i="1" dirty="0" err="1">
                <a:latin typeface="Corbel" panose="020B0503020204020204" pitchFamily="34" charset="0"/>
              </a:rPr>
              <a:t>catchpoint</a:t>
            </a:r>
            <a:r>
              <a:rPr lang="en-US" sz="2000" i="1" dirty="0">
                <a:latin typeface="Corbel" panose="020B0503020204020204" pitchFamily="34" charset="0"/>
              </a:rPr>
              <a:t> </a:t>
            </a:r>
            <a:r>
              <a:rPr lang="en-US" sz="2000" dirty="0">
                <a:latin typeface="Corbel" panose="020B0503020204020204" pitchFamily="34" charset="0"/>
              </a:rPr>
              <a:t>tells to pause execution when a particular event occurs.</a:t>
            </a:r>
          </a:p>
        </p:txBody>
      </p:sp>
      <p:sp>
        <p:nvSpPr>
          <p:cNvPr id="3" name="Title 2"/>
          <p:cNvSpPr>
            <a:spLocks noGrp="1"/>
          </p:cNvSpPr>
          <p:nvPr>
            <p:ph type="title"/>
          </p:nvPr>
        </p:nvSpPr>
        <p:spPr>
          <a:xfrm>
            <a:off x="1024452" y="252666"/>
            <a:ext cx="10972800" cy="866267"/>
          </a:xfrm>
        </p:spPr>
        <p:txBody>
          <a:bodyPr/>
          <a:lstStyle/>
          <a:p>
            <a:r>
              <a:rPr lang="en-US" dirty="0"/>
              <a:t>Debugging Features</a:t>
            </a:r>
          </a:p>
        </p:txBody>
      </p:sp>
      <p:sp>
        <p:nvSpPr>
          <p:cNvPr id="5" name="Slide Number Placeholder 4"/>
          <p:cNvSpPr>
            <a:spLocks noGrp="1"/>
          </p:cNvSpPr>
          <p:nvPr>
            <p:ph type="sldNum" sz="quarter" idx="12"/>
          </p:nvPr>
        </p:nvSpPr>
        <p:spPr/>
        <p:txBody>
          <a:bodyPr/>
          <a:lstStyle/>
          <a:p>
            <a:fld id="{401CF334-2D5C-4859-84A6-CA7E6E43FAEB}" type="slidenum">
              <a:rPr lang="en-US" smtClean="0"/>
              <a:t>17</a:t>
            </a:fld>
            <a:endParaRPr lang="en-US" dirty="0"/>
          </a:p>
        </p:txBody>
      </p:sp>
    </p:spTree>
    <p:extLst>
      <p:ext uri="{BB962C8B-B14F-4D97-AF65-F5344CB8AC3E}">
        <p14:creationId xmlns:p14="http://schemas.microsoft.com/office/powerpoint/2010/main" val="3869066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a:lnSpc>
                <a:spcPct val="150000"/>
              </a:lnSpc>
            </a:pPr>
            <a:r>
              <a:rPr lang="en-US" sz="2800" b="1" dirty="0">
                <a:latin typeface="Corbel" panose="020B0503020204020204" pitchFamily="34" charset="0"/>
              </a:rPr>
              <a:t>Overview of Breakpoints</a:t>
            </a:r>
          </a:p>
          <a:p>
            <a:pPr>
              <a:lnSpc>
                <a:spcPct val="150000"/>
              </a:lnSpc>
            </a:pPr>
            <a:r>
              <a:rPr lang="en-US" sz="2800" dirty="0">
                <a:latin typeface="Corbel" panose="020B0503020204020204" pitchFamily="34" charset="0"/>
              </a:rPr>
              <a:t>A breakpoint is like a tripwire within a program: You set a breakpoint at a particular “place” within your program, and when execution reaches that point, the debugger will pause the program’s execution</a:t>
            </a:r>
          </a:p>
          <a:p>
            <a:pPr>
              <a:lnSpc>
                <a:spcPct val="150000"/>
              </a:lnSpc>
            </a:pPr>
            <a:r>
              <a:rPr lang="en-US" sz="2800" dirty="0">
                <a:latin typeface="Corbel" panose="020B0503020204020204" pitchFamily="34" charset="0"/>
              </a:rPr>
              <a:t> The user can look up values of all variables at this time and decide to step through code step by step at this stage </a:t>
            </a:r>
          </a:p>
          <a:p>
            <a:pPr>
              <a:lnSpc>
                <a:spcPct val="150000"/>
              </a:lnSpc>
            </a:pPr>
            <a:endParaRPr lang="en-US" sz="2800" dirty="0">
              <a:latin typeface="Corbel" panose="020B0503020204020204" pitchFamily="34" charset="0"/>
            </a:endParaRPr>
          </a:p>
        </p:txBody>
      </p:sp>
      <p:sp>
        <p:nvSpPr>
          <p:cNvPr id="3" name="Title 2"/>
          <p:cNvSpPr>
            <a:spLocks noGrp="1"/>
          </p:cNvSpPr>
          <p:nvPr>
            <p:ph type="title"/>
          </p:nvPr>
        </p:nvSpPr>
        <p:spPr>
          <a:xfrm>
            <a:off x="1104900" y="391872"/>
            <a:ext cx="10972800" cy="866267"/>
          </a:xfrm>
        </p:spPr>
        <p:txBody>
          <a:bodyPr/>
          <a:lstStyle/>
          <a:p>
            <a:r>
              <a:rPr lang="en-US" dirty="0"/>
              <a:t>Breakpoint Overview</a:t>
            </a:r>
          </a:p>
        </p:txBody>
      </p:sp>
      <p:sp>
        <p:nvSpPr>
          <p:cNvPr id="5" name="Slide Number Placeholder 4"/>
          <p:cNvSpPr>
            <a:spLocks noGrp="1"/>
          </p:cNvSpPr>
          <p:nvPr>
            <p:ph type="sldNum" sz="quarter" idx="12"/>
          </p:nvPr>
        </p:nvSpPr>
        <p:spPr/>
        <p:txBody>
          <a:bodyPr/>
          <a:lstStyle/>
          <a:p>
            <a:fld id="{401CF334-2D5C-4859-84A6-CA7E6E43FAEB}" type="slidenum">
              <a:rPr lang="en-US" smtClean="0"/>
              <a:t>18</a:t>
            </a:fld>
            <a:endParaRPr lang="en-US" dirty="0"/>
          </a:p>
        </p:txBody>
      </p:sp>
    </p:spTree>
    <p:extLst>
      <p:ext uri="{BB962C8B-B14F-4D97-AF65-F5344CB8AC3E}">
        <p14:creationId xmlns:p14="http://schemas.microsoft.com/office/powerpoint/2010/main" val="2701114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96953" y="1523956"/>
            <a:ext cx="6132394" cy="4484958"/>
          </a:xfrm>
        </p:spPr>
        <p:txBody>
          <a:bodyPr>
            <a:normAutofit fontScale="70000" lnSpcReduction="20000"/>
          </a:bodyPr>
          <a:lstStyle/>
          <a:p>
            <a:pPr>
              <a:lnSpc>
                <a:spcPct val="160000"/>
              </a:lnSpc>
            </a:pPr>
            <a:r>
              <a:rPr lang="en-US" sz="2800" b="1" dirty="0">
                <a:latin typeface="Corbel" panose="020B0503020204020204" pitchFamily="34" charset="0"/>
              </a:rPr>
              <a:t>Breakpoint Lists in Eclipse</a:t>
            </a:r>
          </a:p>
          <a:p>
            <a:pPr>
              <a:lnSpc>
                <a:spcPct val="160000"/>
              </a:lnSpc>
            </a:pPr>
            <a:r>
              <a:rPr lang="en-US" sz="2800" dirty="0">
                <a:latin typeface="Corbel" panose="020B0503020204020204" pitchFamily="34" charset="0"/>
              </a:rPr>
              <a:t>The Debug perspective includes a Breakpoints view. In Figure 2-2, for instance, you see that you currently have two breakpoints, at lines 30 and 52 of the file </a:t>
            </a:r>
            <a:r>
              <a:rPr lang="en-US" sz="2800" i="1" dirty="0" err="1">
                <a:latin typeface="Corbel" panose="020B0503020204020204" pitchFamily="34" charset="0"/>
              </a:rPr>
              <a:t>ins.c</a:t>
            </a:r>
            <a:r>
              <a:rPr lang="en-US" sz="2800" dirty="0">
                <a:latin typeface="Corbel" panose="020B0503020204020204" pitchFamily="34" charset="0"/>
              </a:rPr>
              <a:t>.</a:t>
            </a:r>
          </a:p>
          <a:p>
            <a:pPr>
              <a:lnSpc>
                <a:spcPct val="160000"/>
              </a:lnSpc>
            </a:pPr>
            <a:r>
              <a:rPr lang="en-US" sz="2800" dirty="0">
                <a:latin typeface="Corbel" panose="020B0503020204020204" pitchFamily="34" charset="0"/>
              </a:rPr>
              <a:t>You can right-click the entry of any breakpoint to examine or change its properties. Also, double-clicking an entry will result in the focus of the source file window moving to that breakpoint.</a:t>
            </a:r>
          </a:p>
        </p:txBody>
      </p:sp>
      <p:sp>
        <p:nvSpPr>
          <p:cNvPr id="3" name="Title 2"/>
          <p:cNvSpPr>
            <a:spLocks noGrp="1"/>
          </p:cNvSpPr>
          <p:nvPr>
            <p:ph type="title"/>
          </p:nvPr>
        </p:nvSpPr>
        <p:spPr>
          <a:xfrm>
            <a:off x="1078702" y="401977"/>
            <a:ext cx="10972800" cy="866267"/>
          </a:xfrm>
        </p:spPr>
        <p:txBody>
          <a:bodyPr/>
          <a:lstStyle/>
          <a:p>
            <a:r>
              <a:rPr lang="en-US" dirty="0"/>
              <a:t>Breakpoint Overview</a:t>
            </a:r>
          </a:p>
        </p:txBody>
      </p:sp>
      <p:sp>
        <p:nvSpPr>
          <p:cNvPr id="5" name="Slide Number Placeholder 4"/>
          <p:cNvSpPr>
            <a:spLocks noGrp="1"/>
          </p:cNvSpPr>
          <p:nvPr>
            <p:ph type="sldNum" sz="quarter" idx="12"/>
          </p:nvPr>
        </p:nvSpPr>
        <p:spPr/>
        <p:txBody>
          <a:bodyPr/>
          <a:lstStyle/>
          <a:p>
            <a:fld id="{401CF334-2D5C-4859-84A6-CA7E6E43FAEB}" type="slidenum">
              <a:rPr lang="en-US" smtClean="0"/>
              <a:t>19</a:t>
            </a:fld>
            <a:endParaRPr lang="en-US" dirty="0"/>
          </a:p>
        </p:txBody>
      </p:sp>
      <p:pic>
        <p:nvPicPr>
          <p:cNvPr id="6" name="Picture 5"/>
          <p:cNvPicPr>
            <a:picLocks noChangeAspect="1"/>
          </p:cNvPicPr>
          <p:nvPr/>
        </p:nvPicPr>
        <p:blipFill>
          <a:blip r:embed="rId2"/>
          <a:stretch>
            <a:fillRect/>
          </a:stretch>
        </p:blipFill>
        <p:spPr>
          <a:xfrm>
            <a:off x="6741993" y="1445666"/>
            <a:ext cx="5309509" cy="4368278"/>
          </a:xfrm>
          <a:prstGeom prst="rect">
            <a:avLst/>
          </a:prstGeom>
        </p:spPr>
      </p:pic>
      <p:sp>
        <p:nvSpPr>
          <p:cNvPr id="9" name="Content Placeholder 1"/>
          <p:cNvSpPr txBox="1">
            <a:spLocks/>
          </p:cNvSpPr>
          <p:nvPr/>
        </p:nvSpPr>
        <p:spPr>
          <a:xfrm>
            <a:off x="6330550" y="6168788"/>
            <a:ext cx="6132394" cy="887218"/>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en-US" sz="2800" dirty="0"/>
          </a:p>
        </p:txBody>
      </p:sp>
    </p:spTree>
    <p:extLst>
      <p:ext uri="{BB962C8B-B14F-4D97-AF65-F5344CB8AC3E}">
        <p14:creationId xmlns:p14="http://schemas.microsoft.com/office/powerpoint/2010/main" val="173827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38754"/>
            <a:ext cx="10972800" cy="866267"/>
          </a:xfrm>
        </p:spPr>
        <p:txBody>
          <a:bodyPr/>
          <a:lstStyle/>
          <a:p>
            <a:r>
              <a:rPr lang="en-US" dirty="0"/>
              <a:t>Stepping</a:t>
            </a:r>
          </a:p>
        </p:txBody>
      </p:sp>
      <p:sp>
        <p:nvSpPr>
          <p:cNvPr id="5" name="Slide Number Placeholder 4"/>
          <p:cNvSpPr>
            <a:spLocks noGrp="1"/>
          </p:cNvSpPr>
          <p:nvPr>
            <p:ph type="sldNum" sz="quarter" idx="12"/>
          </p:nvPr>
        </p:nvSpPr>
        <p:spPr/>
        <p:txBody>
          <a:bodyPr/>
          <a:lstStyle/>
          <a:p>
            <a:fld id="{401CF334-2D5C-4859-84A6-CA7E6E43FAEB}" type="slidenum">
              <a:rPr lang="en-US" smtClean="0"/>
              <a:t>20</a:t>
            </a:fld>
            <a:endParaRPr lang="en-US" dirty="0"/>
          </a:p>
        </p:txBody>
      </p:sp>
      <p:sp>
        <p:nvSpPr>
          <p:cNvPr id="9" name="Content Placeholder 1"/>
          <p:cNvSpPr txBox="1">
            <a:spLocks/>
          </p:cNvSpPr>
          <p:nvPr/>
        </p:nvSpPr>
        <p:spPr>
          <a:xfrm>
            <a:off x="6330550" y="6168788"/>
            <a:ext cx="6132394" cy="887218"/>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en-US" sz="2800" dirty="0"/>
          </a:p>
        </p:txBody>
      </p:sp>
      <p:sp>
        <p:nvSpPr>
          <p:cNvPr id="7" name="Content Placeholder 6"/>
          <p:cNvSpPr>
            <a:spLocks noGrp="1"/>
          </p:cNvSpPr>
          <p:nvPr>
            <p:ph idx="1"/>
          </p:nvPr>
        </p:nvSpPr>
        <p:spPr>
          <a:xfrm>
            <a:off x="1104900" y="1600200"/>
            <a:ext cx="9982200" cy="5121276"/>
          </a:xfrm>
        </p:spPr>
        <p:txBody>
          <a:bodyPr>
            <a:noAutofit/>
          </a:bodyPr>
          <a:lstStyle/>
          <a:p>
            <a:pPr>
              <a:lnSpc>
                <a:spcPct val="100000"/>
              </a:lnSpc>
            </a:pPr>
            <a:r>
              <a:rPr lang="en-US" b="1" dirty="0">
                <a:latin typeface="Corbel" panose="020B0503020204020204" pitchFamily="34" charset="0"/>
              </a:rPr>
              <a:t>Step into: </a:t>
            </a:r>
          </a:p>
          <a:p>
            <a:pPr lvl="1">
              <a:lnSpc>
                <a:spcPct val="100000"/>
              </a:lnSpc>
            </a:pPr>
            <a:r>
              <a:rPr lang="en-US" sz="2000" dirty="0">
                <a:latin typeface="Corbel" panose="020B0503020204020204" pitchFamily="34" charset="0"/>
              </a:rPr>
              <a:t>If a module is being called Step into will cause proceeding to the statements in the module. </a:t>
            </a:r>
          </a:p>
          <a:p>
            <a:pPr lvl="1">
              <a:lnSpc>
                <a:spcPct val="100000"/>
              </a:lnSpc>
            </a:pPr>
            <a:r>
              <a:rPr lang="en-US" sz="2000" dirty="0">
                <a:latin typeface="Corbel" panose="020B0503020204020204" pitchFamily="34" charset="0"/>
              </a:rPr>
              <a:t>One statement is highlighted and processed at a time </a:t>
            </a:r>
          </a:p>
          <a:p>
            <a:pPr>
              <a:lnSpc>
                <a:spcPct val="100000"/>
              </a:lnSpc>
            </a:pPr>
            <a:r>
              <a:rPr lang="en-US" b="1" dirty="0">
                <a:latin typeface="Corbel" panose="020B0503020204020204" pitchFamily="34" charset="0"/>
              </a:rPr>
              <a:t> Step Over </a:t>
            </a:r>
          </a:p>
          <a:p>
            <a:pPr lvl="1">
              <a:lnSpc>
                <a:spcPct val="100000"/>
              </a:lnSpc>
            </a:pPr>
            <a:r>
              <a:rPr lang="en-US" sz="2000" dirty="0">
                <a:latin typeface="Corbel" panose="020B0503020204020204" pitchFamily="34" charset="0"/>
              </a:rPr>
              <a:t>The entire module is executed as if it had been stepped over and the execution stops on the statement after returning to the module. </a:t>
            </a:r>
          </a:p>
          <a:p>
            <a:pPr lvl="1">
              <a:lnSpc>
                <a:spcPct val="100000"/>
              </a:lnSpc>
            </a:pPr>
            <a:r>
              <a:rPr lang="en-US" sz="2000" dirty="0">
                <a:latin typeface="Corbel" panose="020B0503020204020204" pitchFamily="34" charset="0"/>
              </a:rPr>
              <a:t>Step Return </a:t>
            </a:r>
          </a:p>
          <a:p>
            <a:pPr lvl="1">
              <a:lnSpc>
                <a:spcPct val="100000"/>
              </a:lnSpc>
            </a:pPr>
            <a:r>
              <a:rPr lang="en-US" sz="2000" dirty="0">
                <a:latin typeface="Corbel" panose="020B0503020204020204" pitchFamily="34" charset="0"/>
              </a:rPr>
              <a:t>Control is returned from the module by running all steps remaining in the module. </a:t>
            </a:r>
          </a:p>
          <a:p>
            <a:pPr>
              <a:lnSpc>
                <a:spcPct val="100000"/>
              </a:lnSpc>
            </a:pPr>
            <a:r>
              <a:rPr lang="en-US" b="1" dirty="0">
                <a:latin typeface="Corbel" panose="020B0503020204020204" pitchFamily="34" charset="0"/>
              </a:rPr>
              <a:t>Stepping </a:t>
            </a:r>
            <a:endParaRPr lang="en-US" dirty="0">
              <a:latin typeface="Corbel" panose="020B0503020204020204" pitchFamily="34" charset="0"/>
            </a:endParaRPr>
          </a:p>
          <a:p>
            <a:pPr>
              <a:lnSpc>
                <a:spcPct val="100000"/>
              </a:lnSpc>
            </a:pPr>
            <a:r>
              <a:rPr lang="en-US" dirty="0">
                <a:latin typeface="Corbel" panose="020B0503020204020204" pitchFamily="34" charset="0"/>
              </a:rPr>
              <a:t>These features are to be set up in Debug Perspective </a:t>
            </a:r>
          </a:p>
          <a:p>
            <a:pPr>
              <a:lnSpc>
                <a:spcPct val="100000"/>
              </a:lnSpc>
            </a:pPr>
            <a:r>
              <a:rPr lang="en-US" dirty="0">
                <a:latin typeface="Corbel" panose="020B0503020204020204" pitchFamily="34" charset="0"/>
              </a:rPr>
              <a:t>Click from Debug toolbar or press F7 </a:t>
            </a:r>
          </a:p>
        </p:txBody>
      </p:sp>
    </p:spTree>
    <p:extLst>
      <p:ext uri="{BB962C8B-B14F-4D97-AF65-F5344CB8AC3E}">
        <p14:creationId xmlns:p14="http://schemas.microsoft.com/office/powerpoint/2010/main" val="3593599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283260"/>
            <a:ext cx="10972800" cy="866267"/>
          </a:xfrm>
        </p:spPr>
        <p:txBody>
          <a:bodyPr/>
          <a:lstStyle/>
          <a:p>
            <a:r>
              <a:rPr lang="en-US" dirty="0"/>
              <a:t>Stepping</a:t>
            </a:r>
          </a:p>
        </p:txBody>
      </p:sp>
      <p:sp>
        <p:nvSpPr>
          <p:cNvPr id="5" name="Slide Number Placeholder 4"/>
          <p:cNvSpPr>
            <a:spLocks noGrp="1"/>
          </p:cNvSpPr>
          <p:nvPr>
            <p:ph type="sldNum" sz="quarter" idx="12"/>
          </p:nvPr>
        </p:nvSpPr>
        <p:spPr/>
        <p:txBody>
          <a:bodyPr/>
          <a:lstStyle/>
          <a:p>
            <a:fld id="{401CF334-2D5C-4859-84A6-CA7E6E43FAEB}" type="slidenum">
              <a:rPr lang="en-US" smtClean="0"/>
              <a:t>21</a:t>
            </a:fld>
            <a:endParaRPr lang="en-US" dirty="0"/>
          </a:p>
        </p:txBody>
      </p:sp>
      <p:sp>
        <p:nvSpPr>
          <p:cNvPr id="9" name="Content Placeholder 1"/>
          <p:cNvSpPr txBox="1">
            <a:spLocks/>
          </p:cNvSpPr>
          <p:nvPr/>
        </p:nvSpPr>
        <p:spPr>
          <a:xfrm>
            <a:off x="6330550" y="6168788"/>
            <a:ext cx="6132394" cy="887218"/>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en-US" sz="2800" dirty="0"/>
          </a:p>
        </p:txBody>
      </p:sp>
      <p:sp>
        <p:nvSpPr>
          <p:cNvPr id="7" name="Content Placeholder 6"/>
          <p:cNvSpPr>
            <a:spLocks noGrp="1"/>
          </p:cNvSpPr>
          <p:nvPr>
            <p:ph idx="1"/>
          </p:nvPr>
        </p:nvSpPr>
        <p:spPr/>
        <p:txBody>
          <a:bodyPr>
            <a:normAutofit/>
          </a:bodyPr>
          <a:lstStyle/>
          <a:p>
            <a:pPr>
              <a:lnSpc>
                <a:spcPct val="150000"/>
              </a:lnSpc>
            </a:pPr>
            <a:r>
              <a:rPr lang="en-US" sz="2400" b="1" dirty="0">
                <a:latin typeface="Corbel" panose="020B0503020204020204" pitchFamily="34" charset="0"/>
              </a:rPr>
              <a:t>Persistence of Breakpoints</a:t>
            </a:r>
          </a:p>
          <a:p>
            <a:pPr lvl="1">
              <a:lnSpc>
                <a:spcPct val="150000"/>
              </a:lnSpc>
            </a:pPr>
            <a:r>
              <a:rPr lang="en-US" sz="2400" dirty="0">
                <a:latin typeface="Corbel" panose="020B0503020204020204" pitchFamily="34" charset="0"/>
              </a:rPr>
              <a:t>Breakpoints are always identified by the line number.</a:t>
            </a:r>
          </a:p>
          <a:p>
            <a:pPr lvl="1">
              <a:lnSpc>
                <a:spcPct val="150000"/>
              </a:lnSpc>
            </a:pPr>
            <a:r>
              <a:rPr lang="en-US" sz="2400" dirty="0">
                <a:latin typeface="Corbel" panose="020B0503020204020204" pitchFamily="34" charset="0"/>
              </a:rPr>
              <a:t>In case we add extra line of code, the breakpoint will be at the same line but not necessarily at the statement we want the debugger to halt.</a:t>
            </a:r>
          </a:p>
          <a:p>
            <a:pPr lvl="1">
              <a:lnSpc>
                <a:spcPct val="150000"/>
              </a:lnSpc>
            </a:pPr>
            <a:endParaRPr lang="en-US" sz="2400" dirty="0">
              <a:latin typeface="Corbel" panose="020B0503020204020204" pitchFamily="34" charset="0"/>
            </a:endParaRPr>
          </a:p>
        </p:txBody>
      </p:sp>
    </p:spTree>
    <p:extLst>
      <p:ext uri="{BB962C8B-B14F-4D97-AF65-F5344CB8AC3E}">
        <p14:creationId xmlns:p14="http://schemas.microsoft.com/office/powerpoint/2010/main" val="3211008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3688" y="1524630"/>
            <a:ext cx="6132394" cy="4389120"/>
          </a:xfrm>
        </p:spPr>
        <p:txBody>
          <a:bodyPr>
            <a:normAutofit/>
          </a:bodyPr>
          <a:lstStyle/>
          <a:p>
            <a:pPr>
              <a:lnSpc>
                <a:spcPct val="150000"/>
              </a:lnSpc>
            </a:pPr>
            <a:r>
              <a:rPr lang="en-US" b="1" dirty="0">
                <a:latin typeface="Corbel" panose="020B0503020204020204" pitchFamily="34" charset="0"/>
              </a:rPr>
              <a:t>Deleting and Disabling Breakpoints in Eclipse</a:t>
            </a:r>
          </a:p>
          <a:p>
            <a:pPr>
              <a:lnSpc>
                <a:spcPct val="150000"/>
              </a:lnSpc>
            </a:pPr>
            <a:r>
              <a:rPr lang="en-US" dirty="0">
                <a:latin typeface="Corbel" panose="020B0503020204020204" pitchFamily="34" charset="0"/>
              </a:rPr>
              <a:t>You can delete or disable a breakpoint in Eclipse by right clicking the breakpoint symbol in the line in question. A menu will pop up,</a:t>
            </a:r>
          </a:p>
          <a:p>
            <a:pPr>
              <a:lnSpc>
                <a:spcPct val="150000"/>
              </a:lnSpc>
            </a:pPr>
            <a:r>
              <a:rPr lang="en-US" dirty="0">
                <a:latin typeface="Corbel" panose="020B0503020204020204" pitchFamily="34" charset="0"/>
              </a:rPr>
              <a:t>shown in Figure 2-5. Note that the Toggle option means to delete the breakpoint, while Disable/Enable means the obvious.</a:t>
            </a:r>
          </a:p>
        </p:txBody>
      </p:sp>
      <p:sp>
        <p:nvSpPr>
          <p:cNvPr id="3" name="Title 2"/>
          <p:cNvSpPr>
            <a:spLocks noGrp="1"/>
          </p:cNvSpPr>
          <p:nvPr>
            <p:ph type="title"/>
          </p:nvPr>
        </p:nvSpPr>
        <p:spPr>
          <a:xfrm>
            <a:off x="1041193" y="247513"/>
            <a:ext cx="10972800" cy="866267"/>
          </a:xfrm>
        </p:spPr>
        <p:txBody>
          <a:bodyPr/>
          <a:lstStyle/>
          <a:p>
            <a:r>
              <a:rPr lang="en-US" dirty="0"/>
              <a:t>Breakpoint Overview</a:t>
            </a:r>
          </a:p>
        </p:txBody>
      </p:sp>
      <p:sp>
        <p:nvSpPr>
          <p:cNvPr id="5" name="Slide Number Placeholder 4"/>
          <p:cNvSpPr>
            <a:spLocks noGrp="1"/>
          </p:cNvSpPr>
          <p:nvPr>
            <p:ph type="sldNum" sz="quarter" idx="12"/>
          </p:nvPr>
        </p:nvSpPr>
        <p:spPr/>
        <p:txBody>
          <a:bodyPr/>
          <a:lstStyle/>
          <a:p>
            <a:fld id="{401CF334-2D5C-4859-84A6-CA7E6E43FAEB}" type="slidenum">
              <a:rPr lang="en-US" smtClean="0"/>
              <a:t>22</a:t>
            </a:fld>
            <a:endParaRPr lang="en-US" dirty="0"/>
          </a:p>
        </p:txBody>
      </p:sp>
      <p:sp>
        <p:nvSpPr>
          <p:cNvPr id="9" name="Content Placeholder 1"/>
          <p:cNvSpPr txBox="1">
            <a:spLocks/>
          </p:cNvSpPr>
          <p:nvPr/>
        </p:nvSpPr>
        <p:spPr>
          <a:xfrm>
            <a:off x="6330550" y="6168788"/>
            <a:ext cx="6132394" cy="887218"/>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en-US" sz="2800" dirty="0"/>
          </a:p>
        </p:txBody>
      </p:sp>
      <p:pic>
        <p:nvPicPr>
          <p:cNvPr id="7" name="Picture 6"/>
          <p:cNvPicPr>
            <a:picLocks noChangeAspect="1"/>
          </p:cNvPicPr>
          <p:nvPr/>
        </p:nvPicPr>
        <p:blipFill>
          <a:blip r:embed="rId2"/>
          <a:stretch>
            <a:fillRect/>
          </a:stretch>
        </p:blipFill>
        <p:spPr>
          <a:xfrm>
            <a:off x="6196082" y="1640695"/>
            <a:ext cx="5817911" cy="4751733"/>
          </a:xfrm>
          <a:prstGeom prst="rect">
            <a:avLst/>
          </a:prstGeom>
        </p:spPr>
      </p:pic>
    </p:spTree>
    <p:extLst>
      <p:ext uri="{BB962C8B-B14F-4D97-AF65-F5344CB8AC3E}">
        <p14:creationId xmlns:p14="http://schemas.microsoft.com/office/powerpoint/2010/main" val="2816594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283260"/>
            <a:ext cx="10972800" cy="866267"/>
          </a:xfrm>
        </p:spPr>
        <p:txBody>
          <a:bodyPr/>
          <a:lstStyle/>
          <a:p>
            <a:r>
              <a:rPr lang="en-US" dirty="0"/>
              <a:t>Step Filtering</a:t>
            </a:r>
          </a:p>
        </p:txBody>
      </p:sp>
      <p:sp>
        <p:nvSpPr>
          <p:cNvPr id="5" name="Slide Number Placeholder 4"/>
          <p:cNvSpPr>
            <a:spLocks noGrp="1"/>
          </p:cNvSpPr>
          <p:nvPr>
            <p:ph type="sldNum" sz="quarter" idx="12"/>
          </p:nvPr>
        </p:nvSpPr>
        <p:spPr/>
        <p:txBody>
          <a:bodyPr/>
          <a:lstStyle/>
          <a:p>
            <a:fld id="{401CF334-2D5C-4859-84A6-CA7E6E43FAEB}" type="slidenum">
              <a:rPr lang="en-US" smtClean="0"/>
              <a:t>23</a:t>
            </a:fld>
            <a:endParaRPr lang="en-US" dirty="0"/>
          </a:p>
        </p:txBody>
      </p:sp>
      <p:sp>
        <p:nvSpPr>
          <p:cNvPr id="9" name="Content Placeholder 1"/>
          <p:cNvSpPr txBox="1">
            <a:spLocks/>
          </p:cNvSpPr>
          <p:nvPr/>
        </p:nvSpPr>
        <p:spPr>
          <a:xfrm>
            <a:off x="6330550" y="6168788"/>
            <a:ext cx="6132394" cy="887218"/>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en-US" sz="2800" dirty="0"/>
          </a:p>
        </p:txBody>
      </p:sp>
      <p:sp>
        <p:nvSpPr>
          <p:cNvPr id="7" name="Content Placeholder 6"/>
          <p:cNvSpPr>
            <a:spLocks noGrp="1"/>
          </p:cNvSpPr>
          <p:nvPr>
            <p:ph idx="1"/>
          </p:nvPr>
        </p:nvSpPr>
        <p:spPr/>
        <p:txBody>
          <a:bodyPr>
            <a:noAutofit/>
          </a:bodyPr>
          <a:lstStyle/>
          <a:p>
            <a:pPr>
              <a:lnSpc>
                <a:spcPct val="150000"/>
              </a:lnSpc>
            </a:pPr>
            <a:r>
              <a:rPr lang="en-US" dirty="0">
                <a:latin typeface="Corbel" panose="020B0503020204020204" pitchFamily="34" charset="0"/>
              </a:rPr>
              <a:t>You may specify which modules step filter should execute and return from. </a:t>
            </a:r>
          </a:p>
          <a:p>
            <a:pPr>
              <a:lnSpc>
                <a:spcPct val="150000"/>
              </a:lnSpc>
            </a:pPr>
            <a:r>
              <a:rPr lang="en-US" dirty="0">
                <a:latin typeface="Corbel" panose="020B0503020204020204" pitchFamily="34" charset="0"/>
              </a:rPr>
              <a:t>Situations in which you wish to execute methods of only a given Class can be taken care of by this facility. </a:t>
            </a:r>
          </a:p>
          <a:p>
            <a:pPr>
              <a:lnSpc>
                <a:spcPct val="150000"/>
              </a:lnSpc>
            </a:pPr>
            <a:r>
              <a:rPr lang="en-US" b="1" dirty="0">
                <a:latin typeface="Corbel" panose="020B0503020204020204" pitchFamily="34" charset="0"/>
              </a:rPr>
              <a:t>Run to Line </a:t>
            </a:r>
            <a:endParaRPr lang="en-US" dirty="0">
              <a:latin typeface="Corbel" panose="020B0503020204020204" pitchFamily="34" charset="0"/>
            </a:endParaRPr>
          </a:p>
          <a:p>
            <a:pPr>
              <a:lnSpc>
                <a:spcPct val="150000"/>
              </a:lnSpc>
            </a:pPr>
            <a:r>
              <a:rPr lang="en-US" dirty="0">
                <a:latin typeface="Corbel" panose="020B0503020204020204" pitchFamily="34" charset="0"/>
              </a:rPr>
              <a:t> This is like setting a temporary breakpoint. </a:t>
            </a:r>
          </a:p>
          <a:p>
            <a:pPr>
              <a:lnSpc>
                <a:spcPct val="150000"/>
              </a:lnSpc>
            </a:pPr>
            <a:r>
              <a:rPr lang="en-US" b="1" dirty="0">
                <a:latin typeface="Corbel" panose="020B0503020204020204" pitchFamily="34" charset="0"/>
              </a:rPr>
              <a:t>Go through Window &gt; Preferences &gt; Java &gt; Debug &gt; Step Filtering </a:t>
            </a:r>
          </a:p>
        </p:txBody>
      </p:sp>
    </p:spTree>
    <p:extLst>
      <p:ext uri="{BB962C8B-B14F-4D97-AF65-F5344CB8AC3E}">
        <p14:creationId xmlns:p14="http://schemas.microsoft.com/office/powerpoint/2010/main" val="179884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283260"/>
            <a:ext cx="10972800" cy="866267"/>
          </a:xfrm>
        </p:spPr>
        <p:txBody>
          <a:bodyPr/>
          <a:lstStyle/>
          <a:p>
            <a:r>
              <a:rPr lang="en-US" dirty="0"/>
              <a:t>Watch Points</a:t>
            </a:r>
          </a:p>
        </p:txBody>
      </p:sp>
      <p:sp>
        <p:nvSpPr>
          <p:cNvPr id="5" name="Slide Number Placeholder 4"/>
          <p:cNvSpPr>
            <a:spLocks noGrp="1"/>
          </p:cNvSpPr>
          <p:nvPr>
            <p:ph type="sldNum" sz="quarter" idx="12"/>
          </p:nvPr>
        </p:nvSpPr>
        <p:spPr/>
        <p:txBody>
          <a:bodyPr/>
          <a:lstStyle/>
          <a:p>
            <a:fld id="{401CF334-2D5C-4859-84A6-CA7E6E43FAEB}" type="slidenum">
              <a:rPr lang="en-US" smtClean="0"/>
              <a:t>24</a:t>
            </a:fld>
            <a:endParaRPr lang="en-US" dirty="0"/>
          </a:p>
        </p:txBody>
      </p:sp>
      <p:sp>
        <p:nvSpPr>
          <p:cNvPr id="9" name="Content Placeholder 1"/>
          <p:cNvSpPr txBox="1">
            <a:spLocks/>
          </p:cNvSpPr>
          <p:nvPr/>
        </p:nvSpPr>
        <p:spPr>
          <a:xfrm>
            <a:off x="6330550" y="6168788"/>
            <a:ext cx="6132394" cy="887218"/>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en-US" sz="2800" dirty="0"/>
          </a:p>
        </p:txBody>
      </p:sp>
      <p:sp>
        <p:nvSpPr>
          <p:cNvPr id="7" name="Content Placeholder 6"/>
          <p:cNvSpPr>
            <a:spLocks noGrp="1"/>
          </p:cNvSpPr>
          <p:nvPr>
            <p:ph idx="1"/>
          </p:nvPr>
        </p:nvSpPr>
        <p:spPr/>
        <p:txBody>
          <a:bodyPr>
            <a:normAutofit/>
          </a:bodyPr>
          <a:lstStyle/>
          <a:p>
            <a:r>
              <a:rPr lang="en-US" dirty="0"/>
              <a:t>Watches Points (or just Watches) allow you to view and change the value of a variable during execution </a:t>
            </a:r>
          </a:p>
          <a:p>
            <a:r>
              <a:rPr lang="en-US" dirty="0"/>
              <a:t>• In Eclipse, watches are set automatically on variables in scope </a:t>
            </a:r>
          </a:p>
          <a:p>
            <a:r>
              <a:rPr lang="en-US" dirty="0"/>
              <a:t>• Watches can be found in the Eclipse Debug perspective in the “Variables” window </a:t>
            </a:r>
          </a:p>
          <a:p>
            <a:r>
              <a:rPr lang="en-US" dirty="0"/>
              <a:t>• Eclipse allows you to change the value of variables dynamically during runtime </a:t>
            </a:r>
          </a:p>
        </p:txBody>
      </p:sp>
    </p:spTree>
    <p:extLst>
      <p:ext uri="{BB962C8B-B14F-4D97-AF65-F5344CB8AC3E}">
        <p14:creationId xmlns:p14="http://schemas.microsoft.com/office/powerpoint/2010/main" val="1864931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8BEE5-BA0F-462A-9C20-4706F10C3377}"/>
              </a:ext>
            </a:extLst>
          </p:cNvPr>
          <p:cNvSpPr>
            <a:spLocks noGrp="1"/>
          </p:cNvSpPr>
          <p:nvPr>
            <p:ph type="ctrTitle"/>
          </p:nvPr>
        </p:nvSpPr>
        <p:spPr/>
        <p:txBody>
          <a:bodyPr/>
          <a:lstStyle/>
          <a:p>
            <a:r>
              <a:rPr lang="en-IN" dirty="0"/>
              <a:t>I - OBJECT </a:t>
            </a:r>
          </a:p>
        </p:txBody>
      </p:sp>
      <p:sp>
        <p:nvSpPr>
          <p:cNvPr id="3" name="Subtitle 2">
            <a:extLst>
              <a:ext uri="{FF2B5EF4-FFF2-40B4-BE49-F238E27FC236}">
                <a16:creationId xmlns:a16="http://schemas.microsoft.com/office/drawing/2014/main" id="{BA837798-DA80-456A-822B-F68337BF2FD6}"/>
              </a:ext>
            </a:extLst>
          </p:cNvPr>
          <p:cNvSpPr>
            <a:spLocks noGrp="1"/>
          </p:cNvSpPr>
          <p:nvPr>
            <p:ph type="subTitle" idx="1"/>
          </p:nvPr>
        </p:nvSpPr>
        <p:spPr/>
        <p:txBody>
          <a:bodyPr/>
          <a:lstStyle/>
          <a:p>
            <a:r>
              <a:rPr lang="en-IN" dirty="0"/>
              <a:t>This is not a class on plenary session. Excuse the pun</a:t>
            </a:r>
          </a:p>
        </p:txBody>
      </p:sp>
      <p:pic>
        <p:nvPicPr>
          <p:cNvPr id="8" name="Picture Placeholder 7">
            <a:extLst>
              <a:ext uri="{FF2B5EF4-FFF2-40B4-BE49-F238E27FC236}">
                <a16:creationId xmlns:a16="http://schemas.microsoft.com/office/drawing/2014/main" id="{970450AC-4F85-487B-B81F-E293DDDEEC7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454" r="454"/>
          <a:stretch>
            <a:fillRect/>
          </a:stretch>
        </p:blipFill>
        <p:spPr/>
      </p:pic>
    </p:spTree>
    <p:extLst>
      <p:ext uri="{BB962C8B-B14F-4D97-AF65-F5344CB8AC3E}">
        <p14:creationId xmlns:p14="http://schemas.microsoft.com/office/powerpoint/2010/main" val="1839513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4900" y="76200"/>
            <a:ext cx="9980682" cy="1096962"/>
          </a:xfrm>
          <a:prstGeom prst="rect">
            <a:avLst/>
          </a:prstGeom>
        </p:spPr>
        <p:txBody>
          <a:bodyPr anchor="b">
            <a:normAutofit/>
          </a:bodyPr>
          <a:lstStyle/>
          <a:p>
            <a:r>
              <a:rPr lang="en-US" dirty="0"/>
              <a:t>Let’s get Started : The Object in OOP Explained</a:t>
            </a:r>
          </a:p>
        </p:txBody>
      </p:sp>
      <p:sp>
        <p:nvSpPr>
          <p:cNvPr id="6" name="Content Placeholder 5">
            <a:extLst>
              <a:ext uri="{FF2B5EF4-FFF2-40B4-BE49-F238E27FC236}">
                <a16:creationId xmlns:a16="http://schemas.microsoft.com/office/drawing/2014/main" id="{1C1AA571-4FDD-42C4-90D4-EDA4BCDF1F99}"/>
              </a:ext>
            </a:extLst>
          </p:cNvPr>
          <p:cNvSpPr>
            <a:spLocks noGrp="1"/>
          </p:cNvSpPr>
          <p:nvPr>
            <p:ph type="body" sz="half" idx="2"/>
          </p:nvPr>
        </p:nvSpPr>
        <p:spPr>
          <a:xfrm>
            <a:off x="1104900" y="1600200"/>
            <a:ext cx="3396996" cy="4572000"/>
          </a:xfrm>
          <a:prstGeom prst="rect">
            <a:avLst/>
          </a:prstGeom>
        </p:spPr>
        <p:txBody>
          <a:bodyPr>
            <a:normAutofit/>
          </a:bodyPr>
          <a:lstStyle/>
          <a:p>
            <a:r>
              <a:rPr lang="en-US" dirty="0"/>
              <a:t>An object is an </a:t>
            </a:r>
            <a:r>
              <a:rPr lang="en-US" b="1" u="sng" dirty="0"/>
              <a:t>encapsulation</a:t>
            </a:r>
            <a:r>
              <a:rPr lang="en-US" dirty="0"/>
              <a:t> of data. </a:t>
            </a:r>
          </a:p>
          <a:p>
            <a:r>
              <a:rPr lang="en-US" dirty="0"/>
              <a:t>An object has </a:t>
            </a:r>
          </a:p>
          <a:p>
            <a:pPr lvl="1"/>
            <a:r>
              <a:rPr lang="en-US" sz="1800" u="sng" dirty="0"/>
              <a:t>identity</a:t>
            </a:r>
            <a:r>
              <a:rPr lang="en-US" sz="1800" dirty="0"/>
              <a:t> (a unique reference), </a:t>
            </a:r>
          </a:p>
          <a:p>
            <a:pPr lvl="1"/>
            <a:r>
              <a:rPr lang="en-US" sz="1800" u="sng" dirty="0"/>
              <a:t>state</a:t>
            </a:r>
            <a:r>
              <a:rPr lang="en-US" sz="1800" dirty="0"/>
              <a:t>, also called characteristics </a:t>
            </a:r>
          </a:p>
          <a:p>
            <a:pPr lvl="1"/>
            <a:r>
              <a:rPr lang="en-US" sz="1800" u="sng" dirty="0"/>
              <a:t>behavior </a:t>
            </a:r>
          </a:p>
          <a:p>
            <a:r>
              <a:rPr lang="en-US" dirty="0"/>
              <a:t> An object is an instance of an abstract type of an object. </a:t>
            </a:r>
          </a:p>
          <a:p>
            <a:r>
              <a:rPr lang="en-US" dirty="0"/>
              <a:t> An abstract type is implemented via a class.</a:t>
            </a:r>
            <a:endParaRPr lang="en-US" b="1" i="1" dirty="0"/>
          </a:p>
        </p:txBody>
      </p:sp>
      <p:pic>
        <p:nvPicPr>
          <p:cNvPr id="3074" name="Picture 2" descr="Image result for object &amp; class">
            <a:extLst>
              <a:ext uri="{FF2B5EF4-FFF2-40B4-BE49-F238E27FC236}">
                <a16:creationId xmlns:a16="http://schemas.microsoft.com/office/drawing/2014/main" id="{9C712ABC-8FAE-42E3-8D1D-961F66EB752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671" y="1637322"/>
            <a:ext cx="7165854" cy="5011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438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The Object in OOP Explained</a:t>
            </a:r>
          </a:p>
        </p:txBody>
      </p:sp>
      <p:sp>
        <p:nvSpPr>
          <p:cNvPr id="6" name="Content Placeholder 5">
            <a:extLst>
              <a:ext uri="{FF2B5EF4-FFF2-40B4-BE49-F238E27FC236}">
                <a16:creationId xmlns:a16="http://schemas.microsoft.com/office/drawing/2014/main" id="{1C1AA571-4FDD-42C4-90D4-EDA4BCDF1F99}"/>
              </a:ext>
            </a:extLst>
          </p:cNvPr>
          <p:cNvSpPr>
            <a:spLocks noGrp="1"/>
          </p:cNvSpPr>
          <p:nvPr>
            <p:ph idx="1"/>
          </p:nvPr>
        </p:nvSpPr>
        <p:spPr/>
        <p:txBody>
          <a:bodyPr>
            <a:normAutofit/>
          </a:bodyPr>
          <a:lstStyle/>
          <a:p>
            <a:pPr>
              <a:lnSpc>
                <a:spcPct val="150000"/>
              </a:lnSpc>
            </a:pPr>
            <a:r>
              <a:rPr lang="en-US" sz="2400" b="1" dirty="0">
                <a:latin typeface="Corbel" panose="020B0503020204020204" pitchFamily="34" charset="0"/>
              </a:rPr>
              <a:t>Class</a:t>
            </a:r>
          </a:p>
          <a:p>
            <a:pPr lvl="1">
              <a:lnSpc>
                <a:spcPct val="150000"/>
              </a:lnSpc>
            </a:pPr>
            <a:r>
              <a:rPr lang="en-US" sz="2200" dirty="0">
                <a:latin typeface="Corbel" panose="020B0503020204020204" pitchFamily="34" charset="0"/>
              </a:rPr>
              <a:t>A class can be defined as a </a:t>
            </a:r>
            <a:r>
              <a:rPr lang="en-US" sz="2200" u="sng" dirty="0">
                <a:latin typeface="Corbel" panose="020B0503020204020204" pitchFamily="34" charset="0"/>
              </a:rPr>
              <a:t>template/blueprint</a:t>
            </a:r>
            <a:r>
              <a:rPr lang="en-US" sz="2200" dirty="0">
                <a:latin typeface="Corbel" panose="020B0503020204020204" pitchFamily="34" charset="0"/>
              </a:rPr>
              <a:t> that describes the behavior/state that the object of its type support.</a:t>
            </a:r>
          </a:p>
          <a:p>
            <a:pPr>
              <a:lnSpc>
                <a:spcPct val="150000"/>
              </a:lnSpc>
            </a:pPr>
            <a:r>
              <a:rPr lang="en-US" sz="2200" b="1" dirty="0">
                <a:latin typeface="Corbel" panose="020B0503020204020204" pitchFamily="34" charset="0"/>
              </a:rPr>
              <a:t>Object</a:t>
            </a:r>
            <a:r>
              <a:rPr lang="en-US" sz="2200" dirty="0">
                <a:latin typeface="Corbel" panose="020B0503020204020204" pitchFamily="34" charset="0"/>
              </a:rPr>
              <a:t> </a:t>
            </a:r>
          </a:p>
          <a:p>
            <a:pPr lvl="1">
              <a:lnSpc>
                <a:spcPct val="150000"/>
              </a:lnSpc>
            </a:pPr>
            <a:r>
              <a:rPr lang="en-US" sz="2000" dirty="0">
                <a:latin typeface="Corbel" panose="020B0503020204020204" pitchFamily="34" charset="0"/>
              </a:rPr>
              <a:t>Objects have states and behaviors. Example: A dog has states - color, name, breed as well as behaviors – wagging the tail, barking, eating. An object is an instance of a class.</a:t>
            </a:r>
            <a:endParaRPr lang="en-US" b="1" i="1" dirty="0">
              <a:latin typeface="Corbel" panose="020B0503020204020204" pitchFamily="34" charset="0"/>
            </a:endParaRPr>
          </a:p>
        </p:txBody>
      </p:sp>
    </p:spTree>
    <p:extLst>
      <p:ext uri="{BB962C8B-B14F-4D97-AF65-F5344CB8AC3E}">
        <p14:creationId xmlns:p14="http://schemas.microsoft.com/office/powerpoint/2010/main" val="332059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The Object in OOP Explained</a:t>
            </a:r>
          </a:p>
        </p:txBody>
      </p:sp>
      <p:sp>
        <p:nvSpPr>
          <p:cNvPr id="7" name="Content Placeholder 3">
            <a:extLst>
              <a:ext uri="{FF2B5EF4-FFF2-40B4-BE49-F238E27FC236}">
                <a16:creationId xmlns:a16="http://schemas.microsoft.com/office/drawing/2014/main" id="{792BF35C-29B7-4DCC-A94C-0B3AAC994851}"/>
              </a:ext>
            </a:extLst>
          </p:cNvPr>
          <p:cNvSpPr>
            <a:spLocks noGrp="1"/>
          </p:cNvSpPr>
          <p:nvPr>
            <p:ph idx="1"/>
          </p:nvPr>
        </p:nvSpPr>
        <p:spPr>
          <a:xfrm>
            <a:off x="609600" y="1935480"/>
            <a:ext cx="5410200" cy="4389120"/>
          </a:xfrm>
        </p:spPr>
        <p:txBody>
          <a:bodyPr>
            <a:normAutofit fontScale="92500" lnSpcReduction="20000"/>
          </a:bodyPr>
          <a:lstStyle/>
          <a:p>
            <a:pPr marL="0" indent="0" algn="ctr">
              <a:lnSpc>
                <a:spcPct val="150000"/>
              </a:lnSpc>
              <a:buNone/>
            </a:pPr>
            <a:r>
              <a:rPr lang="en-US" sz="2400" b="1" u="sng" dirty="0">
                <a:latin typeface="Corbel" panose="020B0503020204020204" pitchFamily="34" charset="0"/>
              </a:rPr>
              <a:t>Class </a:t>
            </a:r>
          </a:p>
          <a:p>
            <a:pPr>
              <a:lnSpc>
                <a:spcPct val="150000"/>
              </a:lnSpc>
            </a:pPr>
            <a:r>
              <a:rPr lang="en-US" sz="2400" dirty="0">
                <a:latin typeface="Corbel" panose="020B0503020204020204" pitchFamily="34" charset="0"/>
              </a:rPr>
              <a:t>A description of the common properties of a set of objects. </a:t>
            </a:r>
          </a:p>
          <a:p>
            <a:pPr>
              <a:lnSpc>
                <a:spcPct val="150000"/>
              </a:lnSpc>
            </a:pPr>
            <a:r>
              <a:rPr lang="en-US" sz="2400" dirty="0">
                <a:latin typeface="Corbel" panose="020B0503020204020204" pitchFamily="34" charset="0"/>
              </a:rPr>
              <a:t> A concept. </a:t>
            </a:r>
          </a:p>
          <a:p>
            <a:pPr>
              <a:lnSpc>
                <a:spcPct val="150000"/>
              </a:lnSpc>
            </a:pPr>
            <a:r>
              <a:rPr lang="en-US" sz="2400" dirty="0">
                <a:latin typeface="Corbel" panose="020B0503020204020204" pitchFamily="34" charset="0"/>
              </a:rPr>
              <a:t>A class is a part of a program.  </a:t>
            </a:r>
          </a:p>
          <a:p>
            <a:pPr>
              <a:lnSpc>
                <a:spcPct val="150000"/>
              </a:lnSpc>
            </a:pPr>
            <a:r>
              <a:rPr lang="en-US" sz="2400" dirty="0">
                <a:latin typeface="Corbel" panose="020B0503020204020204" pitchFamily="34" charset="0"/>
              </a:rPr>
              <a:t>Example 1: Person </a:t>
            </a:r>
          </a:p>
          <a:p>
            <a:pPr>
              <a:lnSpc>
                <a:spcPct val="150000"/>
              </a:lnSpc>
            </a:pPr>
            <a:r>
              <a:rPr lang="en-US" sz="2400" dirty="0">
                <a:latin typeface="Corbel" panose="020B0503020204020204" pitchFamily="34" charset="0"/>
              </a:rPr>
              <a:t>Example 2: Vehicle</a:t>
            </a:r>
            <a:endParaRPr lang="en-US" sz="2400" b="1" i="1" dirty="0">
              <a:latin typeface="Corbel" panose="020B0503020204020204" pitchFamily="34" charset="0"/>
            </a:endParaRPr>
          </a:p>
        </p:txBody>
      </p:sp>
      <p:sp>
        <p:nvSpPr>
          <p:cNvPr id="8" name="Content Placeholder 3">
            <a:extLst>
              <a:ext uri="{FF2B5EF4-FFF2-40B4-BE49-F238E27FC236}">
                <a16:creationId xmlns:a16="http://schemas.microsoft.com/office/drawing/2014/main" id="{CA617498-E0A4-4D24-AF6D-03DB5F6CB8BB}"/>
              </a:ext>
            </a:extLst>
          </p:cNvPr>
          <p:cNvSpPr txBox="1">
            <a:spLocks/>
          </p:cNvSpPr>
          <p:nvPr/>
        </p:nvSpPr>
        <p:spPr>
          <a:xfrm>
            <a:off x="5854699" y="2023872"/>
            <a:ext cx="6079153" cy="4389120"/>
          </a:xfrm>
          <a:prstGeom prst="rect">
            <a:avLst/>
          </a:prstGeom>
        </p:spPr>
        <p:txBody>
          <a:bodyPr vert="horz">
            <a:normAutofit fontScale="92500" lnSpcReduction="20000"/>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lnSpc>
                <a:spcPct val="150000"/>
              </a:lnSpc>
              <a:buNone/>
            </a:pPr>
            <a:r>
              <a:rPr lang="en-US" b="1" u="sng" dirty="0">
                <a:latin typeface="Corbel" panose="020B0503020204020204" pitchFamily="34" charset="0"/>
              </a:rPr>
              <a:t>Object</a:t>
            </a:r>
          </a:p>
          <a:p>
            <a:pPr>
              <a:lnSpc>
                <a:spcPct val="150000"/>
              </a:lnSpc>
              <a:buFont typeface="Arial" panose="020B0604020202020204" pitchFamily="34" charset="0"/>
              <a:buChar char="•"/>
            </a:pPr>
            <a:r>
              <a:rPr lang="en-US" dirty="0">
                <a:latin typeface="Corbel" panose="020B0503020204020204" pitchFamily="34" charset="0"/>
              </a:rPr>
              <a:t>A representation of the properties of a single instance. </a:t>
            </a:r>
          </a:p>
          <a:p>
            <a:pPr>
              <a:lnSpc>
                <a:spcPct val="150000"/>
              </a:lnSpc>
              <a:buFont typeface="Arial" panose="020B0604020202020204" pitchFamily="34" charset="0"/>
              <a:buChar char="•"/>
            </a:pPr>
            <a:r>
              <a:rPr lang="en-US" dirty="0">
                <a:latin typeface="Corbel" panose="020B0503020204020204" pitchFamily="34" charset="0"/>
              </a:rPr>
              <a:t>A phenomenon. </a:t>
            </a:r>
          </a:p>
          <a:p>
            <a:pPr>
              <a:lnSpc>
                <a:spcPct val="150000"/>
              </a:lnSpc>
              <a:buFont typeface="Arial" panose="020B0604020202020204" pitchFamily="34" charset="0"/>
              <a:buChar char="•"/>
            </a:pPr>
            <a:r>
              <a:rPr lang="en-US" dirty="0">
                <a:latin typeface="Corbel" panose="020B0503020204020204" pitchFamily="34" charset="0"/>
              </a:rPr>
              <a:t>An object is part of data and a program execution. </a:t>
            </a:r>
          </a:p>
          <a:p>
            <a:pPr>
              <a:lnSpc>
                <a:spcPct val="150000"/>
              </a:lnSpc>
              <a:buFont typeface="Arial" panose="020B0604020202020204" pitchFamily="34" charset="0"/>
              <a:buChar char="•"/>
            </a:pPr>
            <a:r>
              <a:rPr lang="en-US" dirty="0">
                <a:latin typeface="Corbel" panose="020B0503020204020204" pitchFamily="34" charset="0"/>
              </a:rPr>
              <a:t>Example 1: Bill Clinton, Trump,. </a:t>
            </a:r>
          </a:p>
          <a:p>
            <a:pPr>
              <a:lnSpc>
                <a:spcPct val="150000"/>
              </a:lnSpc>
              <a:buFont typeface="Arial" panose="020B0604020202020204" pitchFamily="34" charset="0"/>
              <a:buChar char="•"/>
            </a:pPr>
            <a:r>
              <a:rPr lang="en-US" dirty="0">
                <a:latin typeface="Corbel" panose="020B0503020204020204" pitchFamily="34" charset="0"/>
              </a:rPr>
              <a:t>Example 2: Car, Bus</a:t>
            </a:r>
          </a:p>
        </p:txBody>
      </p:sp>
      <p:sp>
        <p:nvSpPr>
          <p:cNvPr id="3" name="Rectangle 2">
            <a:extLst>
              <a:ext uri="{FF2B5EF4-FFF2-40B4-BE49-F238E27FC236}">
                <a16:creationId xmlns:a16="http://schemas.microsoft.com/office/drawing/2014/main" id="{F5239420-4F24-4EB2-BD2F-CD82338A9CA6}"/>
              </a:ext>
            </a:extLst>
          </p:cNvPr>
          <p:cNvSpPr/>
          <p:nvPr/>
        </p:nvSpPr>
        <p:spPr>
          <a:xfrm>
            <a:off x="4802422" y="1321885"/>
            <a:ext cx="3665303" cy="464871"/>
          </a:xfrm>
          <a:prstGeom prst="rect">
            <a:avLst/>
          </a:prstGeom>
        </p:spPr>
        <p:txBody>
          <a:bodyPr wrap="square">
            <a:spAutoFit/>
          </a:bodyPr>
          <a:lstStyle/>
          <a:p>
            <a:pPr algn="ctr">
              <a:lnSpc>
                <a:spcPct val="150000"/>
              </a:lnSpc>
            </a:pPr>
            <a:r>
              <a:rPr lang="en-US" b="1" u="sng" dirty="0">
                <a:latin typeface="Corbel" panose="020B0503020204020204" pitchFamily="34" charset="0"/>
              </a:rPr>
              <a:t>Class vs Object</a:t>
            </a:r>
          </a:p>
        </p:txBody>
      </p:sp>
    </p:spTree>
    <p:extLst>
      <p:ext uri="{BB962C8B-B14F-4D97-AF65-F5344CB8AC3E}">
        <p14:creationId xmlns:p14="http://schemas.microsoft.com/office/powerpoint/2010/main" val="1597916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4900" y="76200"/>
            <a:ext cx="9980682" cy="1096962"/>
          </a:xfrm>
          <a:prstGeom prst="rect">
            <a:avLst/>
          </a:prstGeom>
        </p:spPr>
        <p:txBody>
          <a:bodyPr anchor="b">
            <a:normAutofit/>
          </a:bodyPr>
          <a:lstStyle/>
          <a:p>
            <a:r>
              <a:rPr lang="en-US" dirty="0"/>
              <a:t>Let’s get Started : The Object in OOP Explained</a:t>
            </a:r>
          </a:p>
        </p:txBody>
      </p:sp>
      <p:graphicFrame>
        <p:nvGraphicFramePr>
          <p:cNvPr id="5" name="Content Placeholder 2">
            <a:extLst>
              <a:ext uri="{FF2B5EF4-FFF2-40B4-BE49-F238E27FC236}">
                <a16:creationId xmlns:a16="http://schemas.microsoft.com/office/drawing/2014/main" id="{15AEE975-918E-4898-BAE8-78EC571B78DE}"/>
              </a:ext>
            </a:extLst>
          </p:cNvPr>
          <p:cNvGraphicFramePr>
            <a:graphicFrameLocks noGrp="1"/>
          </p:cNvGraphicFramePr>
          <p:nvPr>
            <p:ph idx="1"/>
            <p:extLst>
              <p:ext uri="{D42A27DB-BD31-4B8C-83A1-F6EECF244321}">
                <p14:modId xmlns:p14="http://schemas.microsoft.com/office/powerpoint/2010/main" val="4177176492"/>
              </p:ext>
            </p:extLst>
          </p:nvPr>
        </p:nvGraphicFramePr>
        <p:xfrm>
          <a:off x="484095" y="1389530"/>
          <a:ext cx="11707905" cy="5262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1857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The Object in OOP Explained</a:t>
            </a:r>
          </a:p>
        </p:txBody>
      </p:sp>
      <p:sp>
        <p:nvSpPr>
          <p:cNvPr id="3" name="Content Placeholder 2"/>
          <p:cNvSpPr>
            <a:spLocks noGrp="1"/>
          </p:cNvSpPr>
          <p:nvPr>
            <p:ph idx="1"/>
          </p:nvPr>
        </p:nvSpPr>
        <p:spPr>
          <a:xfrm>
            <a:off x="1103382" y="1411941"/>
            <a:ext cx="5454581" cy="4975412"/>
          </a:xfrm>
        </p:spPr>
        <p:txBody>
          <a:bodyPr>
            <a:noAutofit/>
          </a:bodyPr>
          <a:lstStyle/>
          <a:p>
            <a:pPr algn="just"/>
            <a:r>
              <a:rPr lang="en-US" b="1" dirty="0">
                <a:latin typeface="Corbel" panose="020B0503020204020204" pitchFamily="34" charset="0"/>
              </a:rPr>
              <a:t>Software objects </a:t>
            </a:r>
            <a:r>
              <a:rPr lang="en-US" dirty="0">
                <a:latin typeface="Corbel" panose="020B0503020204020204" pitchFamily="34" charset="0"/>
              </a:rPr>
              <a:t>are conceptually similar to real-world objects: they too consist of </a:t>
            </a:r>
            <a:r>
              <a:rPr lang="en-US" b="1" dirty="0">
                <a:latin typeface="Corbel" panose="020B0503020204020204" pitchFamily="34" charset="0"/>
              </a:rPr>
              <a:t>state </a:t>
            </a:r>
            <a:r>
              <a:rPr lang="en-US" dirty="0">
                <a:latin typeface="Corbel" panose="020B0503020204020204" pitchFamily="34" charset="0"/>
              </a:rPr>
              <a:t>and related </a:t>
            </a:r>
            <a:r>
              <a:rPr lang="en-US" b="1" dirty="0">
                <a:latin typeface="Corbel" panose="020B0503020204020204" pitchFamily="34" charset="0"/>
              </a:rPr>
              <a:t>behavior</a:t>
            </a:r>
            <a:r>
              <a:rPr lang="en-US" dirty="0">
                <a:latin typeface="Corbel" panose="020B0503020204020204" pitchFamily="34" charset="0"/>
              </a:rPr>
              <a:t>. </a:t>
            </a:r>
          </a:p>
          <a:p>
            <a:pPr algn="just"/>
            <a:r>
              <a:rPr lang="en-US" dirty="0">
                <a:latin typeface="Corbel" panose="020B0503020204020204" pitchFamily="34" charset="0"/>
              </a:rPr>
              <a:t>An </a:t>
            </a:r>
            <a:r>
              <a:rPr lang="en-US" b="1" dirty="0">
                <a:latin typeface="Corbel" panose="020B0503020204020204" pitchFamily="34" charset="0"/>
              </a:rPr>
              <a:t>object stores </a:t>
            </a:r>
            <a:r>
              <a:rPr lang="en-US" dirty="0">
                <a:latin typeface="Corbel" panose="020B0503020204020204" pitchFamily="34" charset="0"/>
              </a:rPr>
              <a:t>its </a:t>
            </a:r>
            <a:r>
              <a:rPr lang="en-US" b="1" dirty="0">
                <a:latin typeface="Corbel" panose="020B0503020204020204" pitchFamily="34" charset="0"/>
              </a:rPr>
              <a:t>state </a:t>
            </a:r>
            <a:r>
              <a:rPr lang="en-US" dirty="0">
                <a:latin typeface="Corbel" panose="020B0503020204020204" pitchFamily="34" charset="0"/>
              </a:rPr>
              <a:t>in </a:t>
            </a:r>
            <a:r>
              <a:rPr lang="en-US" b="1" i="1" dirty="0">
                <a:latin typeface="Corbel" panose="020B0503020204020204" pitchFamily="34" charset="0"/>
              </a:rPr>
              <a:t>fields</a:t>
            </a:r>
            <a:r>
              <a:rPr lang="en-US" dirty="0">
                <a:latin typeface="Corbel" panose="020B0503020204020204" pitchFamily="34" charset="0"/>
              </a:rPr>
              <a:t> (variables in some programming languages) and exposes its </a:t>
            </a:r>
            <a:r>
              <a:rPr lang="en-US" b="1" dirty="0">
                <a:latin typeface="Corbel" panose="020B0503020204020204" pitchFamily="34" charset="0"/>
              </a:rPr>
              <a:t>behavior through </a:t>
            </a:r>
            <a:r>
              <a:rPr lang="en-US" b="1" i="1" dirty="0">
                <a:latin typeface="Corbel" panose="020B0503020204020204" pitchFamily="34" charset="0"/>
              </a:rPr>
              <a:t>methods</a:t>
            </a:r>
            <a:r>
              <a:rPr lang="en-US" dirty="0">
                <a:latin typeface="Corbel" panose="020B0503020204020204" pitchFamily="34" charset="0"/>
              </a:rPr>
              <a:t> (functions in some programming languages). </a:t>
            </a:r>
          </a:p>
          <a:p>
            <a:pPr algn="just"/>
            <a:r>
              <a:rPr lang="en-US" b="1" dirty="0">
                <a:latin typeface="Corbel" panose="020B0503020204020204" pitchFamily="34" charset="0"/>
              </a:rPr>
              <a:t>Methods operate on an object's internal state </a:t>
            </a:r>
            <a:r>
              <a:rPr lang="en-US" dirty="0">
                <a:latin typeface="Corbel" panose="020B0503020204020204" pitchFamily="34" charset="0"/>
              </a:rPr>
              <a:t>and serve as the primary mechanism for object-to-object communication. </a:t>
            </a:r>
          </a:p>
          <a:p>
            <a:pPr algn="just"/>
            <a:r>
              <a:rPr lang="en-US" b="1" dirty="0">
                <a:latin typeface="Corbel" panose="020B0503020204020204" pitchFamily="34" charset="0"/>
              </a:rPr>
              <a:t>Hiding internal state </a:t>
            </a:r>
            <a:r>
              <a:rPr lang="en-US" dirty="0">
                <a:latin typeface="Corbel" panose="020B0503020204020204" pitchFamily="34" charset="0"/>
              </a:rPr>
              <a:t>and requiring </a:t>
            </a:r>
            <a:r>
              <a:rPr lang="en-US" b="1" dirty="0">
                <a:latin typeface="Corbel" panose="020B0503020204020204" pitchFamily="34" charset="0"/>
              </a:rPr>
              <a:t>all interaction to be performed through an object's methods </a:t>
            </a:r>
            <a:r>
              <a:rPr lang="en-US" dirty="0">
                <a:latin typeface="Corbel" panose="020B0503020204020204" pitchFamily="34" charset="0"/>
              </a:rPr>
              <a:t>is known as </a:t>
            </a:r>
            <a:r>
              <a:rPr lang="en-US" i="1" dirty="0">
                <a:latin typeface="Corbel" panose="020B0503020204020204" pitchFamily="34" charset="0"/>
              </a:rPr>
              <a:t>data encapsulation</a:t>
            </a:r>
            <a:r>
              <a:rPr lang="en-US" dirty="0">
                <a:latin typeface="Corbel" panose="020B0503020204020204" pitchFamily="34" charset="0"/>
              </a:rPr>
              <a:t> — a fundamental principle of object-oriented programming.</a:t>
            </a:r>
          </a:p>
        </p:txBody>
      </p:sp>
      <p:pic>
        <p:nvPicPr>
          <p:cNvPr id="4" name="Picture 3"/>
          <p:cNvPicPr>
            <a:picLocks noChangeAspect="1"/>
          </p:cNvPicPr>
          <p:nvPr/>
        </p:nvPicPr>
        <p:blipFill>
          <a:blip r:embed="rId3"/>
          <a:stretch>
            <a:fillRect/>
          </a:stretch>
        </p:blipFill>
        <p:spPr>
          <a:xfrm>
            <a:off x="6815138" y="1533773"/>
            <a:ext cx="5334914" cy="3938340"/>
          </a:xfrm>
          <a:prstGeom prst="rect">
            <a:avLst/>
          </a:prstGeom>
        </p:spPr>
      </p:pic>
    </p:spTree>
    <p:extLst>
      <p:ext uri="{BB962C8B-B14F-4D97-AF65-F5344CB8AC3E}">
        <p14:creationId xmlns:p14="http://schemas.microsoft.com/office/powerpoint/2010/main" val="82963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B2P : Back to the Present </a:t>
            </a:r>
          </a:p>
        </p:txBody>
      </p:sp>
      <p:sp>
        <p:nvSpPr>
          <p:cNvPr id="3" name="Content Placeholder 2"/>
          <p:cNvSpPr>
            <a:spLocks noGrp="1"/>
          </p:cNvSpPr>
          <p:nvPr>
            <p:ph idx="1"/>
          </p:nvPr>
        </p:nvSpPr>
        <p:spPr>
          <a:xfrm>
            <a:off x="1103382" y="1411941"/>
            <a:ext cx="10568666" cy="4975412"/>
          </a:xfrm>
        </p:spPr>
        <p:txBody>
          <a:bodyPr>
            <a:normAutofit lnSpcReduction="10000"/>
          </a:bodyPr>
          <a:lstStyle/>
          <a:p>
            <a:pPr algn="just">
              <a:lnSpc>
                <a:spcPct val="150000"/>
              </a:lnSpc>
            </a:pPr>
            <a:r>
              <a:rPr lang="en-US" sz="1900" b="1" u="sng" dirty="0">
                <a:latin typeface="Corbel" panose="020B0503020204020204" pitchFamily="34" charset="0"/>
              </a:rPr>
              <a:t>OOPD : A course intended to instill the virtues of Object Oriented Programming</a:t>
            </a:r>
          </a:p>
          <a:p>
            <a:pPr marL="0" indent="0" algn="just">
              <a:lnSpc>
                <a:spcPct val="150000"/>
              </a:lnSpc>
              <a:buNone/>
            </a:pPr>
            <a:r>
              <a:rPr lang="en-US" sz="1900" b="1" u="sng" dirty="0">
                <a:latin typeface="Corbel" panose="020B0503020204020204" pitchFamily="34" charset="0"/>
              </a:rPr>
              <a:t>What is OOP ?</a:t>
            </a:r>
          </a:p>
          <a:p>
            <a:pPr algn="just" fontAlgn="base"/>
            <a:r>
              <a:rPr lang="en-US" sz="1800" b="1" i="1" dirty="0">
                <a:latin typeface="Corbel" panose="020B0503020204020204" pitchFamily="34" charset="0"/>
              </a:rPr>
              <a:t>O</a:t>
            </a:r>
            <a:r>
              <a:rPr lang="en-US" sz="1800" i="1" dirty="0">
                <a:latin typeface="Corbel" panose="020B0503020204020204" pitchFamily="34" charset="0"/>
              </a:rPr>
              <a:t>bject-</a:t>
            </a:r>
            <a:r>
              <a:rPr lang="en-US" sz="1800" b="1" i="1" dirty="0">
                <a:latin typeface="Corbel" panose="020B0503020204020204" pitchFamily="34" charset="0"/>
              </a:rPr>
              <a:t>o</a:t>
            </a:r>
            <a:r>
              <a:rPr lang="en-US" sz="1800" i="1" dirty="0">
                <a:latin typeface="Corbel" panose="020B0503020204020204" pitchFamily="34" charset="0"/>
              </a:rPr>
              <a:t>riented </a:t>
            </a:r>
            <a:r>
              <a:rPr lang="en-US" sz="1800" b="1" i="1" dirty="0">
                <a:latin typeface="Corbel" panose="020B0503020204020204" pitchFamily="34" charset="0"/>
              </a:rPr>
              <a:t>p</a:t>
            </a:r>
            <a:r>
              <a:rPr lang="en-US" sz="1800" i="1" dirty="0">
                <a:latin typeface="Corbel" panose="020B0503020204020204" pitchFamily="34" charset="0"/>
              </a:rPr>
              <a:t>rogramming</a:t>
            </a:r>
            <a:r>
              <a:rPr lang="en-US" sz="1800" dirty="0">
                <a:latin typeface="Corbel" panose="020B0503020204020204" pitchFamily="34" charset="0"/>
              </a:rPr>
              <a:t> (</a:t>
            </a:r>
            <a:r>
              <a:rPr lang="en-US" sz="1800" b="1" dirty="0">
                <a:latin typeface="Corbel" panose="020B0503020204020204" pitchFamily="34" charset="0"/>
              </a:rPr>
              <a:t>OOP</a:t>
            </a:r>
            <a:r>
              <a:rPr lang="en-US" sz="1800" dirty="0">
                <a:latin typeface="Corbel" panose="020B0503020204020204" pitchFamily="34" charset="0"/>
              </a:rPr>
              <a:t>) refers to a type of computer programming (software design) in which </a:t>
            </a:r>
            <a:r>
              <a:rPr lang="en-US" sz="1800" dirty="0">
                <a:latin typeface="Corbel" panose="020B0503020204020204" pitchFamily="34" charset="0"/>
                <a:hlinkClick r:id="rId3"/>
              </a:rPr>
              <a:t>programmers</a:t>
            </a:r>
            <a:r>
              <a:rPr lang="en-US" sz="1800" dirty="0">
                <a:latin typeface="Corbel" panose="020B0503020204020204" pitchFamily="34" charset="0"/>
              </a:rPr>
              <a:t> define not only the </a:t>
            </a:r>
            <a:r>
              <a:rPr lang="en-US" sz="1800" dirty="0">
                <a:latin typeface="Corbel" panose="020B0503020204020204" pitchFamily="34" charset="0"/>
                <a:hlinkClick r:id="rId4"/>
              </a:rPr>
              <a:t>data type</a:t>
            </a:r>
            <a:r>
              <a:rPr lang="en-US" sz="1800" dirty="0">
                <a:latin typeface="Corbel" panose="020B0503020204020204" pitchFamily="34" charset="0"/>
              </a:rPr>
              <a:t> of a </a:t>
            </a:r>
            <a:r>
              <a:rPr lang="en-US" sz="1800" dirty="0">
                <a:latin typeface="Corbel" panose="020B0503020204020204" pitchFamily="34" charset="0"/>
                <a:hlinkClick r:id="rId5"/>
              </a:rPr>
              <a:t>data structure</a:t>
            </a:r>
            <a:r>
              <a:rPr lang="en-US" sz="1800" dirty="0">
                <a:latin typeface="Corbel" panose="020B0503020204020204" pitchFamily="34" charset="0"/>
              </a:rPr>
              <a:t>, but also the types of operations (</a:t>
            </a:r>
            <a:r>
              <a:rPr lang="en-US" sz="1800" dirty="0">
                <a:latin typeface="Corbel" panose="020B0503020204020204" pitchFamily="34" charset="0"/>
                <a:hlinkClick r:id="rId6"/>
              </a:rPr>
              <a:t>functions</a:t>
            </a:r>
            <a:r>
              <a:rPr lang="en-US" sz="1800" dirty="0">
                <a:latin typeface="Corbel" panose="020B0503020204020204" pitchFamily="34" charset="0"/>
              </a:rPr>
              <a:t>) that can be applied to the data structure.</a:t>
            </a:r>
          </a:p>
          <a:p>
            <a:pPr algn="just" fontAlgn="base"/>
            <a:r>
              <a:rPr lang="en-US" sz="1800" dirty="0">
                <a:latin typeface="Corbel" panose="020B0503020204020204" pitchFamily="34" charset="0"/>
              </a:rPr>
              <a:t>In this way, the data structure becomes an </a:t>
            </a:r>
            <a:r>
              <a:rPr lang="en-US" sz="1800" dirty="0">
                <a:latin typeface="Corbel" panose="020B0503020204020204" pitchFamily="34" charset="0"/>
                <a:hlinkClick r:id="rId7"/>
              </a:rPr>
              <a:t>object</a:t>
            </a:r>
            <a:r>
              <a:rPr lang="en-US" sz="1800" dirty="0">
                <a:latin typeface="Corbel" panose="020B0503020204020204" pitchFamily="34" charset="0"/>
              </a:rPr>
              <a:t> that includes both </a:t>
            </a:r>
            <a:r>
              <a:rPr lang="en-US" sz="1800" dirty="0">
                <a:latin typeface="Corbel" panose="020B0503020204020204" pitchFamily="34" charset="0"/>
                <a:hlinkClick r:id="rId8"/>
              </a:rPr>
              <a:t>data</a:t>
            </a:r>
            <a:r>
              <a:rPr lang="en-US" sz="1800" dirty="0">
                <a:latin typeface="Corbel" panose="020B0503020204020204" pitchFamily="34" charset="0"/>
              </a:rPr>
              <a:t> and functions. In addition, programmers can create relationships between one object and another. For example, objects can inherit characteristics from other objects.</a:t>
            </a:r>
          </a:p>
          <a:p>
            <a:pPr algn="just" fontAlgn="base"/>
            <a:r>
              <a:rPr lang="en-US" sz="1800" dirty="0">
                <a:latin typeface="Corbel" panose="020B0503020204020204" pitchFamily="34" charset="0"/>
              </a:rPr>
              <a:t>The focus of procedural programming is to break down a programming task into a collection of </a:t>
            </a:r>
            <a:r>
              <a:rPr lang="en-US" sz="1800" dirty="0">
                <a:latin typeface="Corbel" panose="020B0503020204020204" pitchFamily="34" charset="0"/>
                <a:hlinkClick r:id="rId9" tooltip="Variable (programming)"/>
              </a:rPr>
              <a:t>variables</a:t>
            </a:r>
            <a:r>
              <a:rPr lang="en-US" sz="1800" dirty="0">
                <a:latin typeface="Corbel" panose="020B0503020204020204" pitchFamily="34" charset="0"/>
              </a:rPr>
              <a:t>, </a:t>
            </a:r>
            <a:r>
              <a:rPr lang="en-US" sz="1800" dirty="0">
                <a:latin typeface="Corbel" panose="020B0503020204020204" pitchFamily="34" charset="0"/>
                <a:hlinkClick r:id="rId10" tooltip="Data structure"/>
              </a:rPr>
              <a:t>data structures</a:t>
            </a:r>
            <a:r>
              <a:rPr lang="en-US" sz="1800" dirty="0">
                <a:latin typeface="Corbel" panose="020B0503020204020204" pitchFamily="34" charset="0"/>
              </a:rPr>
              <a:t>, and </a:t>
            </a:r>
            <a:r>
              <a:rPr lang="en-US" sz="1800" dirty="0">
                <a:latin typeface="Corbel" panose="020B0503020204020204" pitchFamily="34" charset="0"/>
                <a:hlinkClick r:id="rId11" tooltip="Subroutine"/>
              </a:rPr>
              <a:t>subroutines</a:t>
            </a:r>
            <a:r>
              <a:rPr lang="en-US" sz="1800" dirty="0">
                <a:latin typeface="Corbel" panose="020B0503020204020204" pitchFamily="34" charset="0"/>
              </a:rPr>
              <a:t>, whereas in </a:t>
            </a:r>
            <a:r>
              <a:rPr lang="en-US" sz="1800" dirty="0">
                <a:latin typeface="Corbel" panose="020B0503020204020204" pitchFamily="34" charset="0"/>
                <a:hlinkClick r:id="rId12" tooltip="Object-oriented programming"/>
              </a:rPr>
              <a:t>object-oriented programming</a:t>
            </a:r>
            <a:r>
              <a:rPr lang="en-US" sz="1800" dirty="0">
                <a:latin typeface="Corbel" panose="020B0503020204020204" pitchFamily="34" charset="0"/>
              </a:rPr>
              <a:t> it is to break down a programming task into objects that expose behavior (methods) and data (members or attributes) using interfaces. </a:t>
            </a:r>
          </a:p>
          <a:p>
            <a:pPr algn="just" fontAlgn="base"/>
            <a:r>
              <a:rPr lang="en-US" sz="1800" dirty="0">
                <a:latin typeface="Corbel" panose="020B0503020204020204" pitchFamily="34" charset="0"/>
              </a:rPr>
              <a:t>The most important distinction is that while procedural programming uses procedures to operate on data structures, object-oriented programming bundles the two together, so an "object", which is an instance of a class, operates on its "own" data structure.</a:t>
            </a:r>
            <a:endParaRPr lang="en-US" sz="1700" dirty="0">
              <a:latin typeface="Corbel" panose="020B0503020204020204" pitchFamily="34" charset="0"/>
            </a:endParaRPr>
          </a:p>
        </p:txBody>
      </p:sp>
    </p:spTree>
    <p:extLst>
      <p:ext uri="{BB962C8B-B14F-4D97-AF65-F5344CB8AC3E}">
        <p14:creationId xmlns:p14="http://schemas.microsoft.com/office/powerpoint/2010/main" val="353851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a:t>
            </a:r>
          </a:p>
        </p:txBody>
      </p:sp>
      <p:sp>
        <p:nvSpPr>
          <p:cNvPr id="3" name="Content Placeholder 2"/>
          <p:cNvSpPr>
            <a:spLocks noGrp="1"/>
          </p:cNvSpPr>
          <p:nvPr>
            <p:ph idx="1"/>
          </p:nvPr>
        </p:nvSpPr>
        <p:spPr>
          <a:xfrm>
            <a:off x="1103382" y="1411941"/>
            <a:ext cx="10568666" cy="4975412"/>
          </a:xfrm>
        </p:spPr>
        <p:txBody>
          <a:bodyPr>
            <a:normAutofit/>
          </a:bodyPr>
          <a:lstStyle/>
          <a:p>
            <a:pPr marL="0" indent="0" algn="just">
              <a:lnSpc>
                <a:spcPct val="150000"/>
              </a:lnSpc>
              <a:buNone/>
            </a:pPr>
            <a:r>
              <a:rPr lang="en-US" b="1" u="sng" dirty="0">
                <a:latin typeface="Corbel" panose="020B0503020204020204" pitchFamily="34" charset="0"/>
              </a:rPr>
              <a:t>What is Java?</a:t>
            </a:r>
          </a:p>
          <a:p>
            <a:pPr algn="just" fontAlgn="base"/>
            <a:r>
              <a:rPr lang="en-US" b="1" dirty="0">
                <a:latin typeface="Corbel" panose="020B0503020204020204" pitchFamily="34" charset="0"/>
              </a:rPr>
              <a:t>Java </a:t>
            </a:r>
            <a:r>
              <a:rPr lang="en-US" dirty="0">
                <a:latin typeface="Corbel" panose="020B0503020204020204" pitchFamily="34" charset="0"/>
              </a:rPr>
              <a:t>is a </a:t>
            </a:r>
            <a:r>
              <a:rPr lang="en-US" b="1" dirty="0">
                <a:latin typeface="Corbel" panose="020B0503020204020204" pitchFamily="34" charset="0"/>
              </a:rPr>
              <a:t>programming language </a:t>
            </a:r>
            <a:r>
              <a:rPr lang="en-US" dirty="0">
                <a:latin typeface="Corbel" panose="020B0503020204020204" pitchFamily="34" charset="0"/>
              </a:rPr>
              <a:t>created by </a:t>
            </a:r>
            <a:r>
              <a:rPr lang="en-US" b="1" dirty="0">
                <a:latin typeface="Corbel" panose="020B0503020204020204" pitchFamily="34" charset="0"/>
              </a:rPr>
              <a:t>James Gosling </a:t>
            </a:r>
            <a:r>
              <a:rPr lang="en-US" dirty="0">
                <a:latin typeface="Corbel" panose="020B0503020204020204" pitchFamily="34" charset="0"/>
              </a:rPr>
              <a:t>from </a:t>
            </a:r>
            <a:r>
              <a:rPr lang="en-US" b="1" dirty="0">
                <a:latin typeface="Corbel" panose="020B0503020204020204" pitchFamily="34" charset="0"/>
              </a:rPr>
              <a:t>Sun Microsystems (Sun) in 1991</a:t>
            </a:r>
            <a:r>
              <a:rPr lang="en-US" dirty="0">
                <a:latin typeface="Corbel" panose="020B0503020204020204" pitchFamily="34" charset="0"/>
              </a:rPr>
              <a:t>. The target of </a:t>
            </a:r>
            <a:r>
              <a:rPr lang="en-US" b="1" dirty="0">
                <a:latin typeface="Corbel" panose="020B0503020204020204" pitchFamily="34" charset="0"/>
              </a:rPr>
              <a:t>Java </a:t>
            </a:r>
            <a:r>
              <a:rPr lang="en-US" dirty="0">
                <a:latin typeface="Corbel" panose="020B0503020204020204" pitchFamily="34" charset="0"/>
              </a:rPr>
              <a:t>is to </a:t>
            </a:r>
            <a:r>
              <a:rPr lang="en-US" b="1" dirty="0">
                <a:latin typeface="Corbel" panose="020B0503020204020204" pitchFamily="34" charset="0"/>
              </a:rPr>
              <a:t>write a program once </a:t>
            </a:r>
            <a:r>
              <a:rPr lang="en-US" dirty="0">
                <a:latin typeface="Corbel" panose="020B0503020204020204" pitchFamily="34" charset="0"/>
              </a:rPr>
              <a:t>and then </a:t>
            </a:r>
            <a:r>
              <a:rPr lang="en-US" b="1" dirty="0">
                <a:latin typeface="Corbel" panose="020B0503020204020204" pitchFamily="34" charset="0"/>
              </a:rPr>
              <a:t>run this program on multiple operating systems</a:t>
            </a:r>
            <a:r>
              <a:rPr lang="en-US" dirty="0">
                <a:latin typeface="Corbel" panose="020B0503020204020204" pitchFamily="34" charset="0"/>
              </a:rPr>
              <a:t>.</a:t>
            </a:r>
          </a:p>
          <a:p>
            <a:pPr algn="just"/>
            <a:r>
              <a:rPr lang="en-US" dirty="0">
                <a:latin typeface="Corbel" panose="020B0503020204020204" pitchFamily="34" charset="0"/>
              </a:rPr>
              <a:t>The Java language was designed with the following properties:</a:t>
            </a:r>
          </a:p>
          <a:p>
            <a:pPr lvl="1" algn="just"/>
            <a:r>
              <a:rPr lang="en-US" sz="2000" b="1" dirty="0">
                <a:latin typeface="Corbel" panose="020B0503020204020204" pitchFamily="34" charset="0"/>
              </a:rPr>
              <a:t>Platform independent</a:t>
            </a:r>
            <a:r>
              <a:rPr lang="en-US" sz="2000" dirty="0">
                <a:latin typeface="Corbel" panose="020B0503020204020204" pitchFamily="34" charset="0"/>
              </a:rPr>
              <a:t>: Java programs use </a:t>
            </a:r>
            <a:r>
              <a:rPr lang="en-US" sz="2000" b="1" dirty="0">
                <a:latin typeface="Corbel" panose="020B0503020204020204" pitchFamily="34" charset="0"/>
              </a:rPr>
              <a:t>the Java virtual machine </a:t>
            </a:r>
            <a:r>
              <a:rPr lang="en-US" sz="2000" dirty="0">
                <a:latin typeface="Corbel" panose="020B0503020204020204" pitchFamily="34" charset="0"/>
              </a:rPr>
              <a:t>as </a:t>
            </a:r>
            <a:r>
              <a:rPr lang="en-US" sz="2000" b="1" dirty="0">
                <a:latin typeface="Corbel" panose="020B0503020204020204" pitchFamily="34" charset="0"/>
              </a:rPr>
              <a:t>abstraction </a:t>
            </a:r>
            <a:r>
              <a:rPr lang="en-US" sz="2000" dirty="0">
                <a:latin typeface="Corbel" panose="020B0503020204020204" pitchFamily="34" charset="0"/>
              </a:rPr>
              <a:t>and do </a:t>
            </a:r>
            <a:r>
              <a:rPr lang="en-US" sz="2000" b="1" dirty="0">
                <a:latin typeface="Corbel" panose="020B0503020204020204" pitchFamily="34" charset="0"/>
              </a:rPr>
              <a:t>not access the operating system directly</a:t>
            </a:r>
            <a:r>
              <a:rPr lang="en-US" sz="2000" dirty="0">
                <a:latin typeface="Corbel" panose="020B0503020204020204" pitchFamily="34" charset="0"/>
              </a:rPr>
              <a:t>. This makes </a:t>
            </a:r>
            <a:r>
              <a:rPr lang="en-US" sz="2000" b="1" dirty="0">
                <a:latin typeface="Corbel" panose="020B0503020204020204" pitchFamily="34" charset="0"/>
              </a:rPr>
              <a:t>Java programs highly portable</a:t>
            </a:r>
            <a:r>
              <a:rPr lang="en-US" sz="2000" dirty="0">
                <a:latin typeface="Corbel" panose="020B0503020204020204" pitchFamily="34" charset="0"/>
              </a:rPr>
              <a:t>. A Java program (which is standard-compliant and follows certain rules) can run </a:t>
            </a:r>
            <a:r>
              <a:rPr lang="en-US" sz="2000" b="1" dirty="0">
                <a:latin typeface="Corbel" panose="020B0503020204020204" pitchFamily="34" charset="0"/>
              </a:rPr>
              <a:t>unmodified </a:t>
            </a:r>
            <a:r>
              <a:rPr lang="en-US" sz="2000" dirty="0">
                <a:latin typeface="Corbel" panose="020B0503020204020204" pitchFamily="34" charset="0"/>
              </a:rPr>
              <a:t>on all supported platforms, e.g., Windows or Linux.</a:t>
            </a:r>
          </a:p>
          <a:p>
            <a:pPr lvl="1" algn="just"/>
            <a:r>
              <a:rPr lang="en-US" sz="2000" b="1" dirty="0">
                <a:latin typeface="Corbel" panose="020B0503020204020204" pitchFamily="34" charset="0"/>
              </a:rPr>
              <a:t>Object-orientated programming language</a:t>
            </a:r>
            <a:r>
              <a:rPr lang="en-US" sz="2000" dirty="0">
                <a:latin typeface="Corbel" panose="020B0503020204020204" pitchFamily="34" charset="0"/>
              </a:rPr>
              <a:t>: Except the </a:t>
            </a:r>
            <a:r>
              <a:rPr lang="en-US" sz="2000" b="1" dirty="0">
                <a:latin typeface="Corbel" panose="020B0503020204020204" pitchFamily="34" charset="0"/>
              </a:rPr>
              <a:t>primitive data types</a:t>
            </a:r>
            <a:r>
              <a:rPr lang="en-US" sz="2000" dirty="0">
                <a:latin typeface="Corbel" panose="020B0503020204020204" pitchFamily="34" charset="0"/>
              </a:rPr>
              <a:t>, all elements in </a:t>
            </a:r>
            <a:r>
              <a:rPr lang="en-US" sz="2000" b="1" dirty="0">
                <a:latin typeface="Corbel" panose="020B0503020204020204" pitchFamily="34" charset="0"/>
              </a:rPr>
              <a:t>Java are objects</a:t>
            </a:r>
            <a:r>
              <a:rPr lang="en-US" sz="2000" dirty="0">
                <a:latin typeface="Corbel" panose="020B0503020204020204" pitchFamily="34" charset="0"/>
              </a:rPr>
              <a:t>.</a:t>
            </a:r>
          </a:p>
          <a:p>
            <a:pPr lvl="1" algn="just"/>
            <a:r>
              <a:rPr lang="en-US" sz="2000" b="1" dirty="0">
                <a:latin typeface="Corbel" panose="020B0503020204020204" pitchFamily="34" charset="0"/>
              </a:rPr>
              <a:t>Strongly-typed programming language</a:t>
            </a:r>
            <a:r>
              <a:rPr lang="en-US" sz="2000" dirty="0">
                <a:latin typeface="Corbel" panose="020B0503020204020204" pitchFamily="34" charset="0"/>
              </a:rPr>
              <a:t>: Java is </a:t>
            </a:r>
            <a:r>
              <a:rPr lang="en-US" sz="2000" b="1" dirty="0">
                <a:latin typeface="Corbel" panose="020B0503020204020204" pitchFamily="34" charset="0"/>
              </a:rPr>
              <a:t>strongly-typed</a:t>
            </a:r>
            <a:r>
              <a:rPr lang="en-US" sz="2000" dirty="0">
                <a:latin typeface="Corbel" panose="020B0503020204020204" pitchFamily="34" charset="0"/>
              </a:rPr>
              <a:t>, e.g., the types of the used variables must be pre-defined and conversion to other objects is relatively strict, e.g., must be done in most cases by the programmer.</a:t>
            </a:r>
          </a:p>
          <a:p>
            <a:pPr algn="just" fontAlgn="base"/>
            <a:endParaRPr lang="en-US" dirty="0">
              <a:latin typeface="Corbel" panose="020B0503020204020204" pitchFamily="34" charset="0"/>
            </a:endParaRPr>
          </a:p>
        </p:txBody>
      </p:sp>
    </p:spTree>
    <p:extLst>
      <p:ext uri="{BB962C8B-B14F-4D97-AF65-F5344CB8AC3E}">
        <p14:creationId xmlns:p14="http://schemas.microsoft.com/office/powerpoint/2010/main" val="926705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a:t>
            </a:r>
          </a:p>
        </p:txBody>
      </p:sp>
      <p:sp>
        <p:nvSpPr>
          <p:cNvPr id="3" name="Content Placeholder 2"/>
          <p:cNvSpPr>
            <a:spLocks noGrp="1"/>
          </p:cNvSpPr>
          <p:nvPr>
            <p:ph idx="1"/>
          </p:nvPr>
        </p:nvSpPr>
        <p:spPr>
          <a:xfrm>
            <a:off x="1103382" y="1411941"/>
            <a:ext cx="10568666" cy="4975412"/>
          </a:xfrm>
        </p:spPr>
        <p:txBody>
          <a:bodyPr>
            <a:noAutofit/>
          </a:bodyPr>
          <a:lstStyle/>
          <a:p>
            <a:pPr marL="0" indent="0" algn="just">
              <a:lnSpc>
                <a:spcPct val="150000"/>
              </a:lnSpc>
              <a:buNone/>
            </a:pPr>
            <a:r>
              <a:rPr lang="en-US" b="1" u="sng" dirty="0">
                <a:latin typeface="Corbel" panose="020B0503020204020204" pitchFamily="34" charset="0"/>
              </a:rPr>
              <a:t>What is Java?</a:t>
            </a:r>
          </a:p>
          <a:p>
            <a:pPr algn="just" fontAlgn="base"/>
            <a:r>
              <a:rPr lang="en-US" b="1" dirty="0">
                <a:latin typeface="Corbel" panose="020B0503020204020204" pitchFamily="34" charset="0"/>
              </a:rPr>
              <a:t>Java </a:t>
            </a:r>
            <a:r>
              <a:rPr lang="en-US" dirty="0">
                <a:latin typeface="Corbel" panose="020B0503020204020204" pitchFamily="34" charset="0"/>
              </a:rPr>
              <a:t>is a </a:t>
            </a:r>
            <a:r>
              <a:rPr lang="en-US" b="1" dirty="0">
                <a:latin typeface="Corbel" panose="020B0503020204020204" pitchFamily="34" charset="0"/>
              </a:rPr>
              <a:t>programming language </a:t>
            </a:r>
            <a:r>
              <a:rPr lang="en-US" dirty="0">
                <a:latin typeface="Corbel" panose="020B0503020204020204" pitchFamily="34" charset="0"/>
              </a:rPr>
              <a:t>created by </a:t>
            </a:r>
            <a:r>
              <a:rPr lang="en-US" b="1" dirty="0">
                <a:latin typeface="Corbel" panose="020B0503020204020204" pitchFamily="34" charset="0"/>
              </a:rPr>
              <a:t>James Gosling </a:t>
            </a:r>
            <a:r>
              <a:rPr lang="en-US" dirty="0">
                <a:latin typeface="Corbel" panose="020B0503020204020204" pitchFamily="34" charset="0"/>
              </a:rPr>
              <a:t>from </a:t>
            </a:r>
            <a:r>
              <a:rPr lang="en-US" b="1" dirty="0">
                <a:latin typeface="Corbel" panose="020B0503020204020204" pitchFamily="34" charset="0"/>
              </a:rPr>
              <a:t>Sun Microsystems (Sun) in 1991</a:t>
            </a:r>
            <a:r>
              <a:rPr lang="en-US" dirty="0">
                <a:latin typeface="Corbel" panose="020B0503020204020204" pitchFamily="34" charset="0"/>
              </a:rPr>
              <a:t>. The target of </a:t>
            </a:r>
            <a:r>
              <a:rPr lang="en-US" b="1" dirty="0">
                <a:latin typeface="Corbel" panose="020B0503020204020204" pitchFamily="34" charset="0"/>
              </a:rPr>
              <a:t>Java </a:t>
            </a:r>
            <a:r>
              <a:rPr lang="en-US" dirty="0">
                <a:latin typeface="Corbel" panose="020B0503020204020204" pitchFamily="34" charset="0"/>
              </a:rPr>
              <a:t>is to </a:t>
            </a:r>
            <a:r>
              <a:rPr lang="en-US" b="1" dirty="0">
                <a:latin typeface="Corbel" panose="020B0503020204020204" pitchFamily="34" charset="0"/>
              </a:rPr>
              <a:t>write a program once </a:t>
            </a:r>
            <a:r>
              <a:rPr lang="en-US" dirty="0">
                <a:latin typeface="Corbel" panose="020B0503020204020204" pitchFamily="34" charset="0"/>
              </a:rPr>
              <a:t>and then </a:t>
            </a:r>
            <a:r>
              <a:rPr lang="en-US" b="1" dirty="0">
                <a:latin typeface="Corbel" panose="020B0503020204020204" pitchFamily="34" charset="0"/>
              </a:rPr>
              <a:t>run this program on multiple operating systems</a:t>
            </a:r>
            <a:r>
              <a:rPr lang="en-US" dirty="0">
                <a:latin typeface="Corbel" panose="020B0503020204020204" pitchFamily="34" charset="0"/>
              </a:rPr>
              <a:t>.</a:t>
            </a:r>
          </a:p>
          <a:p>
            <a:pPr algn="just"/>
            <a:r>
              <a:rPr lang="en-US" dirty="0">
                <a:latin typeface="Corbel" panose="020B0503020204020204" pitchFamily="34" charset="0"/>
              </a:rPr>
              <a:t>The Java language was designed with the following properties:</a:t>
            </a:r>
          </a:p>
          <a:p>
            <a:pPr lvl="1" algn="just"/>
            <a:r>
              <a:rPr lang="en-US" sz="2000" b="1" dirty="0">
                <a:latin typeface="Corbel" panose="020B0503020204020204" pitchFamily="34" charset="0"/>
              </a:rPr>
              <a:t>Interpreted and compiled language</a:t>
            </a:r>
            <a:r>
              <a:rPr lang="en-US" sz="2000" dirty="0">
                <a:latin typeface="Corbel" panose="020B0503020204020204" pitchFamily="34" charset="0"/>
              </a:rPr>
              <a:t>: </a:t>
            </a:r>
            <a:r>
              <a:rPr lang="en-US" sz="2000" b="1" dirty="0">
                <a:latin typeface="Corbel" panose="020B0503020204020204" pitchFamily="34" charset="0"/>
              </a:rPr>
              <a:t>Java source code </a:t>
            </a:r>
            <a:r>
              <a:rPr lang="en-US" sz="2000" dirty="0">
                <a:latin typeface="Corbel" panose="020B0503020204020204" pitchFamily="34" charset="0"/>
              </a:rPr>
              <a:t>is transferred into the </a:t>
            </a:r>
            <a:r>
              <a:rPr lang="en-US" sz="2000" b="1" dirty="0">
                <a:latin typeface="Corbel" panose="020B0503020204020204" pitchFamily="34" charset="0"/>
              </a:rPr>
              <a:t>bytecode format </a:t>
            </a:r>
            <a:r>
              <a:rPr lang="en-US" sz="2000" dirty="0">
                <a:latin typeface="Corbel" panose="020B0503020204020204" pitchFamily="34" charset="0"/>
              </a:rPr>
              <a:t>which does not depend on the </a:t>
            </a:r>
            <a:r>
              <a:rPr lang="en-US" sz="2000" b="1" dirty="0">
                <a:latin typeface="Corbel" panose="020B0503020204020204" pitchFamily="34" charset="0"/>
              </a:rPr>
              <a:t>target platform</a:t>
            </a:r>
            <a:r>
              <a:rPr lang="en-US" sz="2000" dirty="0">
                <a:latin typeface="Corbel" panose="020B0503020204020204" pitchFamily="34" charset="0"/>
              </a:rPr>
              <a:t>. These bytecode instructions will be interpreted by the Java Virtual machine (JVM). The JVM contains a so called Hotspot-Compiler which translates performance critical bytecode instructions into native code instructions.</a:t>
            </a:r>
          </a:p>
          <a:p>
            <a:pPr lvl="1" algn="just"/>
            <a:r>
              <a:rPr lang="en-US" sz="2000" b="1" dirty="0">
                <a:latin typeface="Corbel" panose="020B0503020204020204" pitchFamily="34" charset="0"/>
              </a:rPr>
              <a:t>Automatic memory management</a:t>
            </a:r>
            <a:r>
              <a:rPr lang="en-US" sz="2000" dirty="0">
                <a:latin typeface="Corbel" panose="020B0503020204020204" pitchFamily="34" charset="0"/>
              </a:rPr>
              <a:t>: Java manages the </a:t>
            </a:r>
            <a:r>
              <a:rPr lang="en-US" sz="2000" b="1" dirty="0">
                <a:latin typeface="Corbel" panose="020B0503020204020204" pitchFamily="34" charset="0"/>
              </a:rPr>
              <a:t>memory allocation </a:t>
            </a:r>
            <a:r>
              <a:rPr lang="en-US" sz="2000" dirty="0">
                <a:latin typeface="Corbel" panose="020B0503020204020204" pitchFamily="34" charset="0"/>
              </a:rPr>
              <a:t>and </a:t>
            </a:r>
            <a:r>
              <a:rPr lang="en-US" sz="2000" b="1" dirty="0">
                <a:latin typeface="Corbel" panose="020B0503020204020204" pitchFamily="34" charset="0"/>
              </a:rPr>
              <a:t>de-allocation for creating new objects</a:t>
            </a:r>
            <a:r>
              <a:rPr lang="en-US" sz="2000" dirty="0">
                <a:latin typeface="Corbel" panose="020B0503020204020204" pitchFamily="34" charset="0"/>
              </a:rPr>
              <a:t>. The program does not have direct access to the memory. The so-called garbage collector automatically deletes objects to which no active pointer exists.</a:t>
            </a:r>
          </a:p>
          <a:p>
            <a:pPr algn="just"/>
            <a:endParaRPr lang="en-US" dirty="0">
              <a:latin typeface="Corbel" panose="020B0503020204020204" pitchFamily="34" charset="0"/>
            </a:endParaRPr>
          </a:p>
          <a:p>
            <a:pPr algn="just" fontAlgn="base"/>
            <a:endParaRPr lang="en-US" dirty="0">
              <a:latin typeface="Corbel" panose="020B0503020204020204" pitchFamily="34" charset="0"/>
            </a:endParaRPr>
          </a:p>
        </p:txBody>
      </p:sp>
    </p:spTree>
    <p:extLst>
      <p:ext uri="{BB962C8B-B14F-4D97-AF65-F5344CB8AC3E}">
        <p14:creationId xmlns:p14="http://schemas.microsoft.com/office/powerpoint/2010/main" val="2263251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Object Advantage</a:t>
            </a:r>
          </a:p>
        </p:txBody>
      </p:sp>
      <p:sp>
        <p:nvSpPr>
          <p:cNvPr id="3" name="Content Placeholder 2"/>
          <p:cNvSpPr>
            <a:spLocks noGrp="1"/>
          </p:cNvSpPr>
          <p:nvPr>
            <p:ph idx="1"/>
          </p:nvPr>
        </p:nvSpPr>
        <p:spPr>
          <a:xfrm>
            <a:off x="1103381" y="1411941"/>
            <a:ext cx="7909989" cy="4975412"/>
          </a:xfrm>
        </p:spPr>
        <p:txBody>
          <a:bodyPr>
            <a:noAutofit/>
          </a:bodyPr>
          <a:lstStyle/>
          <a:p>
            <a:pPr algn="just"/>
            <a:r>
              <a:rPr lang="en-US" sz="1800" b="1" dirty="0">
                <a:latin typeface="Corbel" panose="020B0503020204020204" pitchFamily="34" charset="0"/>
              </a:rPr>
              <a:t>Bundling code </a:t>
            </a:r>
            <a:r>
              <a:rPr lang="en-US" sz="1800" dirty="0">
                <a:latin typeface="Corbel" panose="020B0503020204020204" pitchFamily="34" charset="0"/>
              </a:rPr>
              <a:t>into </a:t>
            </a:r>
            <a:r>
              <a:rPr lang="en-US" sz="1800" b="1" dirty="0">
                <a:latin typeface="Corbel" panose="020B0503020204020204" pitchFamily="34" charset="0"/>
              </a:rPr>
              <a:t>individual software objects </a:t>
            </a:r>
            <a:r>
              <a:rPr lang="en-US" sz="1800" dirty="0">
                <a:latin typeface="Corbel" panose="020B0503020204020204" pitchFamily="34" charset="0"/>
              </a:rPr>
              <a:t>provides a number of </a:t>
            </a:r>
            <a:r>
              <a:rPr lang="en-US" sz="1800" b="1" dirty="0">
                <a:latin typeface="Corbel" panose="020B0503020204020204" pitchFamily="34" charset="0"/>
              </a:rPr>
              <a:t>benefits</a:t>
            </a:r>
            <a:r>
              <a:rPr lang="en-US" sz="1800" dirty="0">
                <a:latin typeface="Corbel" panose="020B0503020204020204" pitchFamily="34" charset="0"/>
              </a:rPr>
              <a:t>, including:</a:t>
            </a:r>
          </a:p>
          <a:p>
            <a:pPr algn="just"/>
            <a:r>
              <a:rPr lang="en-US" sz="1800" b="1" dirty="0">
                <a:latin typeface="Corbel" panose="020B0503020204020204" pitchFamily="34" charset="0"/>
              </a:rPr>
              <a:t>Modularity</a:t>
            </a:r>
            <a:r>
              <a:rPr lang="en-US" sz="1800" dirty="0">
                <a:latin typeface="Corbel" panose="020B0503020204020204" pitchFamily="34" charset="0"/>
              </a:rPr>
              <a:t>: The source code for an object can be written and maintained independently of the source code for other objects. Once created, an object can be easily passed around inside the system.</a:t>
            </a:r>
          </a:p>
          <a:p>
            <a:pPr algn="just"/>
            <a:r>
              <a:rPr lang="en-US" sz="1800" b="1" dirty="0">
                <a:latin typeface="Corbel" panose="020B0503020204020204" pitchFamily="34" charset="0"/>
              </a:rPr>
              <a:t>Information-hiding</a:t>
            </a:r>
            <a:r>
              <a:rPr lang="en-US" sz="1800" dirty="0">
                <a:latin typeface="Corbel" panose="020B0503020204020204" pitchFamily="34" charset="0"/>
              </a:rPr>
              <a:t>: By interacting only with an object's methods, the details of its internal implementation remain hidden from the outside world.</a:t>
            </a:r>
          </a:p>
          <a:p>
            <a:pPr algn="just"/>
            <a:r>
              <a:rPr lang="en-US" sz="1800" b="1" dirty="0">
                <a:latin typeface="Corbel" panose="020B0503020204020204" pitchFamily="34" charset="0"/>
              </a:rPr>
              <a:t>Code re-use</a:t>
            </a:r>
            <a:r>
              <a:rPr lang="en-US" sz="1800" dirty="0">
                <a:latin typeface="Corbel" panose="020B0503020204020204" pitchFamily="34" charset="0"/>
              </a:rPr>
              <a:t>: If an object already exists (perhaps written by another software developer), you can use that object in your program. This allows specialists to implement/test/debug complex, task-specific objects, which you can then trust to run in your own code.</a:t>
            </a:r>
          </a:p>
          <a:p>
            <a:pPr algn="just"/>
            <a:r>
              <a:rPr lang="en-US" sz="1800" b="1" dirty="0">
                <a:latin typeface="Corbel" panose="020B0503020204020204" pitchFamily="34" charset="0"/>
              </a:rPr>
              <a:t>Pluggability and debugging ease</a:t>
            </a:r>
            <a:r>
              <a:rPr lang="en-US" sz="1800" dirty="0">
                <a:latin typeface="Corbel" panose="020B0503020204020204" pitchFamily="34" charset="0"/>
              </a:rPr>
              <a:t>: If a particular object turns out to be problematic, you can simply remove it from your application and plug in a different object as its replacement. This is analogous to fixing mechanical problems in the real world. If a bolt breaks, you replace </a:t>
            </a:r>
            <a:r>
              <a:rPr lang="en-US" sz="1800" i="1" dirty="0">
                <a:latin typeface="Corbel" panose="020B0503020204020204" pitchFamily="34" charset="0"/>
              </a:rPr>
              <a:t>it</a:t>
            </a:r>
            <a:r>
              <a:rPr lang="en-US" sz="1800" dirty="0">
                <a:latin typeface="Corbel" panose="020B0503020204020204" pitchFamily="34" charset="0"/>
              </a:rPr>
              <a:t>, not the entire machine.</a:t>
            </a:r>
          </a:p>
        </p:txBody>
      </p:sp>
      <p:pic>
        <p:nvPicPr>
          <p:cNvPr id="4" name="Picture 3"/>
          <p:cNvPicPr>
            <a:picLocks noChangeAspect="1"/>
          </p:cNvPicPr>
          <p:nvPr/>
        </p:nvPicPr>
        <p:blipFill>
          <a:blip r:embed="rId3"/>
          <a:stretch>
            <a:fillRect/>
          </a:stretch>
        </p:blipFill>
        <p:spPr>
          <a:xfrm>
            <a:off x="9095363" y="2557463"/>
            <a:ext cx="3096637" cy="2285999"/>
          </a:xfrm>
          <a:prstGeom prst="rect">
            <a:avLst/>
          </a:prstGeom>
        </p:spPr>
      </p:pic>
    </p:spTree>
    <p:extLst>
      <p:ext uri="{BB962C8B-B14F-4D97-AF65-F5344CB8AC3E}">
        <p14:creationId xmlns:p14="http://schemas.microsoft.com/office/powerpoint/2010/main" val="2069315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4900" y="76200"/>
            <a:ext cx="9980682" cy="1096962"/>
          </a:xfrm>
          <a:prstGeom prst="rect">
            <a:avLst/>
          </a:prstGeom>
        </p:spPr>
        <p:txBody>
          <a:bodyPr anchor="b">
            <a:normAutofit/>
          </a:bodyPr>
          <a:lstStyle/>
          <a:p>
            <a:r>
              <a:rPr lang="en-US" dirty="0"/>
              <a:t>Let’s get Started : Your first taste of Java</a:t>
            </a:r>
          </a:p>
        </p:txBody>
      </p:sp>
      <p:pic>
        <p:nvPicPr>
          <p:cNvPr id="4098" name="Picture 2" descr="Image result for structure of a java program">
            <a:extLst>
              <a:ext uri="{FF2B5EF4-FFF2-40B4-BE49-F238E27FC236}">
                <a16:creationId xmlns:a16="http://schemas.microsoft.com/office/drawing/2014/main" id="{31DEB149-3267-4284-A044-DF0320B3DAA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6996" y="1500059"/>
            <a:ext cx="11471154" cy="5190573"/>
          </a:xfrm>
          <a:prstGeom prst="rect">
            <a:avLst/>
          </a:prstGeom>
          <a:solidFill>
            <a:srgbClr val="FFFFFF"/>
          </a:solidFill>
        </p:spPr>
      </p:pic>
    </p:spTree>
    <p:extLst>
      <p:ext uri="{BB962C8B-B14F-4D97-AF65-F5344CB8AC3E}">
        <p14:creationId xmlns:p14="http://schemas.microsoft.com/office/powerpoint/2010/main" val="4264365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A class on Class</a:t>
            </a:r>
          </a:p>
        </p:txBody>
      </p:sp>
      <p:sp>
        <p:nvSpPr>
          <p:cNvPr id="3" name="Content Placeholder 2"/>
          <p:cNvSpPr>
            <a:spLocks noGrp="1"/>
          </p:cNvSpPr>
          <p:nvPr>
            <p:ph idx="1"/>
          </p:nvPr>
        </p:nvSpPr>
        <p:spPr>
          <a:xfrm>
            <a:off x="1103382" y="1411941"/>
            <a:ext cx="10452514" cy="4975412"/>
          </a:xfrm>
        </p:spPr>
        <p:txBody>
          <a:bodyPr>
            <a:noAutofit/>
          </a:bodyPr>
          <a:lstStyle/>
          <a:p>
            <a:pPr algn="just"/>
            <a:r>
              <a:rPr lang="en-US" sz="1800" dirty="0">
                <a:latin typeface="Corbel" panose="020B0503020204020204" pitchFamily="34" charset="0"/>
              </a:rPr>
              <a:t>In the real world, you'll often find many </a:t>
            </a:r>
            <a:r>
              <a:rPr lang="en-US" sz="1800" b="1" dirty="0">
                <a:latin typeface="Corbel" panose="020B0503020204020204" pitchFamily="34" charset="0"/>
              </a:rPr>
              <a:t>individual objects </a:t>
            </a:r>
            <a:r>
              <a:rPr lang="en-US" sz="1800" dirty="0">
                <a:latin typeface="Corbel" panose="020B0503020204020204" pitchFamily="34" charset="0"/>
              </a:rPr>
              <a:t>all of the same kind. </a:t>
            </a:r>
          </a:p>
          <a:p>
            <a:r>
              <a:rPr lang="en-US" sz="1800" dirty="0">
                <a:latin typeface="Corbel" panose="020B0503020204020204" pitchFamily="34" charset="0"/>
              </a:rPr>
              <a:t>Java is strictly</a:t>
            </a:r>
            <a:r>
              <a:rPr lang="en-US" sz="1800" b="1" dirty="0">
                <a:latin typeface="Corbel" panose="020B0503020204020204" pitchFamily="34" charset="0"/>
              </a:rPr>
              <a:t> an objected-oriented programming language</a:t>
            </a:r>
            <a:r>
              <a:rPr lang="en-US" sz="1800" dirty="0">
                <a:latin typeface="Corbel" panose="020B0503020204020204" pitchFamily="34" charset="0"/>
              </a:rPr>
              <a:t>. All the Java code that you write will appear in either a </a:t>
            </a:r>
            <a:r>
              <a:rPr lang="en-US" sz="1800" u="sng" dirty="0">
                <a:latin typeface="Corbel" panose="020B0503020204020204" pitchFamily="34" charset="0"/>
              </a:rPr>
              <a:t>class or an interface</a:t>
            </a:r>
            <a:r>
              <a:rPr lang="en-US" sz="1800" dirty="0">
                <a:latin typeface="Corbel" panose="020B0503020204020204" pitchFamily="34" charset="0"/>
              </a:rPr>
              <a:t>. </a:t>
            </a:r>
          </a:p>
          <a:p>
            <a:r>
              <a:rPr lang="en-US" sz="1800" dirty="0">
                <a:latin typeface="Corbel" panose="020B0503020204020204" pitchFamily="34" charset="0"/>
              </a:rPr>
              <a:t>When you write a program using an object-oriented programming language, you </a:t>
            </a:r>
            <a:r>
              <a:rPr lang="en-US" sz="1800" b="1" dirty="0">
                <a:latin typeface="Corbel" panose="020B0503020204020204" pitchFamily="34" charset="0"/>
              </a:rPr>
              <a:t>design your program around the objects</a:t>
            </a:r>
            <a:r>
              <a:rPr lang="en-US" sz="1800" dirty="0">
                <a:latin typeface="Corbel" panose="020B0503020204020204" pitchFamily="34" charset="0"/>
              </a:rPr>
              <a:t> in the problem being solved. </a:t>
            </a:r>
          </a:p>
          <a:p>
            <a:r>
              <a:rPr lang="en-US" sz="1800" dirty="0">
                <a:latin typeface="Corbel" panose="020B0503020204020204" pitchFamily="34" charset="0"/>
              </a:rPr>
              <a:t>For </a:t>
            </a:r>
            <a:r>
              <a:rPr lang="en-US" sz="1800" u="sng" dirty="0">
                <a:latin typeface="Corbel" panose="020B0503020204020204" pitchFamily="34" charset="0"/>
              </a:rPr>
              <a:t>each object</a:t>
            </a:r>
            <a:r>
              <a:rPr lang="en-US" sz="1800" dirty="0">
                <a:latin typeface="Corbel" panose="020B0503020204020204" pitchFamily="34" charset="0"/>
              </a:rPr>
              <a:t>, </a:t>
            </a:r>
            <a:r>
              <a:rPr lang="en-US" sz="1800" b="1" dirty="0">
                <a:latin typeface="Corbel" panose="020B0503020204020204" pitchFamily="34" charset="0"/>
              </a:rPr>
              <a:t>a class </a:t>
            </a:r>
            <a:r>
              <a:rPr lang="en-US" sz="1800" dirty="0">
                <a:latin typeface="Corbel" panose="020B0503020204020204" pitchFamily="34" charset="0"/>
              </a:rPr>
              <a:t>is written to describe the </a:t>
            </a:r>
            <a:r>
              <a:rPr lang="en-US" sz="1800" b="1" u="sng" dirty="0">
                <a:latin typeface="Corbel" panose="020B0503020204020204" pitchFamily="34" charset="0"/>
              </a:rPr>
              <a:t>object’s attributes and behaviors.</a:t>
            </a:r>
          </a:p>
          <a:p>
            <a:r>
              <a:rPr lang="en-US" sz="1800" dirty="0">
                <a:latin typeface="Corbel" panose="020B0503020204020204" pitchFamily="34" charset="0"/>
              </a:rPr>
              <a:t>By definition, a class is a description of an object. Similarly, an object is defined to be an instance of a class. </a:t>
            </a:r>
          </a:p>
          <a:p>
            <a:r>
              <a:rPr lang="en-US" sz="1800" dirty="0">
                <a:latin typeface="Corbel" panose="020B0503020204020204" pitchFamily="34" charset="0"/>
              </a:rPr>
              <a:t>An object consists of attributes and behaviors.</a:t>
            </a:r>
          </a:p>
          <a:p>
            <a:r>
              <a:rPr lang="en-US" sz="1800" dirty="0">
                <a:latin typeface="Corbel" panose="020B0503020204020204" pitchFamily="34" charset="0"/>
              </a:rPr>
              <a:t>An attribute is a feature of the object, something the object “has.”  A behavior is something the object “does.”</a:t>
            </a:r>
          </a:p>
          <a:p>
            <a:r>
              <a:rPr lang="en-US" b="1" i="1" dirty="0"/>
              <a:t>Each </a:t>
            </a:r>
            <a:r>
              <a:rPr lang="en-US" b="1" i="1" dirty="0">
                <a:highlight>
                  <a:srgbClr val="FFFF00"/>
                </a:highlight>
              </a:rPr>
              <a:t>attribute </a:t>
            </a:r>
            <a:r>
              <a:rPr lang="en-US" b="1" i="1" dirty="0"/>
              <a:t>of an object is denoted as a </a:t>
            </a:r>
            <a:r>
              <a:rPr lang="en-US" b="1" i="1" dirty="0">
                <a:highlight>
                  <a:srgbClr val="FFFF00"/>
                </a:highlight>
              </a:rPr>
              <a:t>field in the class</a:t>
            </a:r>
            <a:r>
              <a:rPr lang="en-US" b="1" i="1" dirty="0"/>
              <a:t>. </a:t>
            </a:r>
          </a:p>
          <a:p>
            <a:r>
              <a:rPr lang="en-US" b="1" i="1" dirty="0"/>
              <a:t>Each </a:t>
            </a:r>
            <a:r>
              <a:rPr lang="en-US" b="1" i="1" dirty="0">
                <a:highlight>
                  <a:srgbClr val="FFFF00"/>
                </a:highlight>
              </a:rPr>
              <a:t>behavior </a:t>
            </a:r>
            <a:r>
              <a:rPr lang="en-US" b="1" i="1" dirty="0"/>
              <a:t>of an object becomes a </a:t>
            </a:r>
            <a:r>
              <a:rPr lang="en-US" b="1" i="1" dirty="0">
                <a:highlight>
                  <a:srgbClr val="FFFF00"/>
                </a:highlight>
              </a:rPr>
              <a:t>method in the class</a:t>
            </a:r>
            <a:r>
              <a:rPr lang="en-US" b="1" i="1" dirty="0">
                <a:solidFill>
                  <a:srgbClr val="002060"/>
                </a:solidFill>
              </a:rPr>
              <a:t>.</a:t>
            </a:r>
            <a:endParaRPr lang="en-US" sz="1800" b="1" i="1" dirty="0">
              <a:solidFill>
                <a:srgbClr val="002060"/>
              </a:solidFill>
              <a:latin typeface="Corbel" panose="020B0503020204020204" pitchFamily="34" charset="0"/>
            </a:endParaRPr>
          </a:p>
        </p:txBody>
      </p:sp>
    </p:spTree>
    <p:extLst>
      <p:ext uri="{BB962C8B-B14F-4D97-AF65-F5344CB8AC3E}">
        <p14:creationId xmlns:p14="http://schemas.microsoft.com/office/powerpoint/2010/main" val="3040651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Still, why do we need Class</a:t>
            </a:r>
          </a:p>
        </p:txBody>
      </p:sp>
      <p:sp>
        <p:nvSpPr>
          <p:cNvPr id="3" name="Content Placeholder 2"/>
          <p:cNvSpPr>
            <a:spLocks noGrp="1"/>
          </p:cNvSpPr>
          <p:nvPr>
            <p:ph idx="1"/>
          </p:nvPr>
        </p:nvSpPr>
        <p:spPr>
          <a:xfrm>
            <a:off x="237366" y="1411941"/>
            <a:ext cx="11769104" cy="5240650"/>
          </a:xfrm>
        </p:spPr>
        <p:txBody>
          <a:bodyPr>
            <a:noAutofit/>
          </a:bodyPr>
          <a:lstStyle/>
          <a:p>
            <a:pPr>
              <a:lnSpc>
                <a:spcPct val="150000"/>
              </a:lnSpc>
            </a:pPr>
            <a:r>
              <a:rPr lang="en-US" dirty="0">
                <a:latin typeface="Corbel" panose="020B0503020204020204" pitchFamily="34" charset="0"/>
              </a:rPr>
              <a:t>Java is an OOP Language, hence all programs written in java will have to be in a class or interface. Benefits of going the OOP way</a:t>
            </a:r>
          </a:p>
          <a:p>
            <a:pPr lvl="1">
              <a:lnSpc>
                <a:spcPct val="150000"/>
              </a:lnSpc>
            </a:pPr>
            <a:r>
              <a:rPr lang="en-US" b="1" dirty="0">
                <a:latin typeface="Corbel" panose="020B0503020204020204" pitchFamily="34" charset="0"/>
              </a:rPr>
              <a:t>Modularity </a:t>
            </a:r>
            <a:r>
              <a:rPr lang="en-US" dirty="0">
                <a:latin typeface="Corbel" panose="020B0503020204020204" pitchFamily="34" charset="0"/>
              </a:rPr>
              <a:t>for easier trouble shooting: In procedural or functional, you may have to navigate through several lines of code to identify the issue (Assuming the code is well documented).</a:t>
            </a:r>
          </a:p>
          <a:p>
            <a:pPr lvl="1">
              <a:lnSpc>
                <a:spcPct val="150000"/>
              </a:lnSpc>
            </a:pPr>
            <a:r>
              <a:rPr lang="en-US" dirty="0">
                <a:latin typeface="Corbel" panose="020B0503020204020204" pitchFamily="34" charset="0"/>
              </a:rPr>
              <a:t>In OOP, you get to know which object is at fault and can directly look for issues within that object</a:t>
            </a:r>
          </a:p>
          <a:p>
            <a:pPr lvl="1">
              <a:lnSpc>
                <a:spcPct val="150000"/>
              </a:lnSpc>
            </a:pPr>
            <a:r>
              <a:rPr lang="en-US" b="1" dirty="0">
                <a:latin typeface="Corbel" panose="020B0503020204020204" pitchFamily="34" charset="0"/>
              </a:rPr>
              <a:t>Code Reuse </a:t>
            </a:r>
            <a:r>
              <a:rPr lang="en-US" dirty="0">
                <a:latin typeface="Corbel" panose="020B0503020204020204" pitchFamily="34" charset="0"/>
              </a:rPr>
              <a:t>through Inheritance: OOP introduces a new concept where you can start with one object and then keep adding enhancements to its methods and attributes by a process called inheritance.</a:t>
            </a:r>
          </a:p>
          <a:p>
            <a:pPr lvl="1">
              <a:lnSpc>
                <a:spcPct val="150000"/>
              </a:lnSpc>
            </a:pPr>
            <a:r>
              <a:rPr lang="en-US" dirty="0">
                <a:latin typeface="Corbel" panose="020B0503020204020204" pitchFamily="34" charset="0"/>
              </a:rPr>
              <a:t>This ensures that you don’t have to recreate the object every time you have to add a new method or attribute</a:t>
            </a:r>
          </a:p>
          <a:p>
            <a:pPr lvl="1">
              <a:lnSpc>
                <a:spcPct val="150000"/>
              </a:lnSpc>
            </a:pPr>
            <a:r>
              <a:rPr lang="en-US" b="1" dirty="0">
                <a:latin typeface="Corbel" panose="020B0503020204020204" pitchFamily="34" charset="0"/>
              </a:rPr>
              <a:t>Flexibility through Polymorphism: </a:t>
            </a:r>
            <a:r>
              <a:rPr lang="en-US" dirty="0">
                <a:latin typeface="Corbel" panose="020B0503020204020204" pitchFamily="34" charset="0"/>
              </a:rPr>
              <a:t>One object multiple behavior depending on external stimuli made possible by polymorphism.</a:t>
            </a:r>
          </a:p>
          <a:p>
            <a:pPr lvl="1">
              <a:lnSpc>
                <a:spcPct val="150000"/>
              </a:lnSpc>
            </a:pPr>
            <a:r>
              <a:rPr lang="en-US" b="1" dirty="0">
                <a:latin typeface="Corbel" panose="020B0503020204020204" pitchFamily="34" charset="0"/>
              </a:rPr>
              <a:t>Effective problem solving: </a:t>
            </a:r>
            <a:r>
              <a:rPr lang="en-US" dirty="0">
                <a:latin typeface="Corbel" panose="020B0503020204020204" pitchFamily="34" charset="0"/>
              </a:rPr>
              <a:t>You can break down complex programs into abstract concepts, you can even plan the implementation of such concepts at a later stage enabling you to visualize the complex program devoid of its true complexity</a:t>
            </a:r>
          </a:p>
          <a:p>
            <a:pPr>
              <a:lnSpc>
                <a:spcPct val="150000"/>
              </a:lnSpc>
            </a:pPr>
            <a:endParaRPr lang="en-US" dirty="0">
              <a:latin typeface="Corbel" panose="020B0503020204020204" pitchFamily="34" charset="0"/>
            </a:endParaRPr>
          </a:p>
          <a:p>
            <a:pPr lvl="1">
              <a:lnSpc>
                <a:spcPct val="150000"/>
              </a:lnSpc>
            </a:pPr>
            <a:endParaRPr lang="en-US" dirty="0">
              <a:latin typeface="Corbel" panose="020B0503020204020204" pitchFamily="34" charset="0"/>
            </a:endParaRPr>
          </a:p>
          <a:p>
            <a:pPr>
              <a:lnSpc>
                <a:spcPct val="150000"/>
              </a:lnSpc>
            </a:pPr>
            <a:endParaRPr lang="en-US" dirty="0">
              <a:latin typeface="Corbel" panose="020B0503020204020204" pitchFamily="34" charset="0"/>
            </a:endParaRPr>
          </a:p>
          <a:p>
            <a:pPr>
              <a:lnSpc>
                <a:spcPct val="150000"/>
              </a:lnSpc>
            </a:pPr>
            <a:endParaRPr lang="en-US" dirty="0">
              <a:latin typeface="Corbel" panose="020B0503020204020204" pitchFamily="34" charset="0"/>
            </a:endParaRPr>
          </a:p>
        </p:txBody>
      </p:sp>
    </p:spTree>
    <p:extLst>
      <p:ext uri="{BB962C8B-B14F-4D97-AF65-F5344CB8AC3E}">
        <p14:creationId xmlns:p14="http://schemas.microsoft.com/office/powerpoint/2010/main" val="12844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First Class</a:t>
            </a:r>
          </a:p>
        </p:txBody>
      </p:sp>
      <p:sp>
        <p:nvSpPr>
          <p:cNvPr id="3" name="Content Placeholder 2"/>
          <p:cNvSpPr>
            <a:spLocks noGrp="1"/>
          </p:cNvSpPr>
          <p:nvPr>
            <p:ph idx="1"/>
          </p:nvPr>
        </p:nvSpPr>
        <p:spPr>
          <a:xfrm>
            <a:off x="6036720" y="1340224"/>
            <a:ext cx="5857874" cy="4975412"/>
          </a:xfrm>
        </p:spPr>
        <p:txBody>
          <a:bodyPr>
            <a:noAutofit/>
          </a:bodyPr>
          <a:lstStyle/>
          <a:p>
            <a:pPr algn="just"/>
            <a:r>
              <a:rPr lang="en-US" sz="1800" dirty="0">
                <a:latin typeface="Corbel" panose="020B0503020204020204" pitchFamily="34" charset="0"/>
              </a:rPr>
              <a:t>We will define the blueprint for creating an object called Bicycle.</a:t>
            </a:r>
          </a:p>
          <a:p>
            <a:pPr algn="just"/>
            <a:r>
              <a:rPr lang="en-US" sz="1800" dirty="0">
                <a:latin typeface="Corbel" panose="020B0503020204020204" pitchFamily="34" charset="0"/>
              </a:rPr>
              <a:t>We will define the Bicycle class to have the following attribute </a:t>
            </a:r>
            <a:r>
              <a:rPr lang="en-US" sz="1800" dirty="0">
                <a:latin typeface="Corbel" panose="020B0503020204020204" pitchFamily="34" charset="0"/>
                <a:sym typeface="Wingdings" panose="05000000000000000000" pitchFamily="2" charset="2"/>
              </a:rPr>
              <a:t> </a:t>
            </a:r>
            <a:r>
              <a:rPr lang="en-US" sz="1800" i="1" u="sng" dirty="0">
                <a:latin typeface="Corbel" panose="020B0503020204020204" pitchFamily="34" charset="0"/>
                <a:sym typeface="Wingdings" panose="05000000000000000000" pitchFamily="2" charset="2"/>
              </a:rPr>
              <a:t>variables</a:t>
            </a:r>
            <a:endParaRPr lang="en-US" sz="1800" i="1" u="sng" dirty="0">
              <a:latin typeface="Corbel" panose="020B0503020204020204" pitchFamily="34" charset="0"/>
            </a:endParaRPr>
          </a:p>
          <a:p>
            <a:pPr lvl="1" algn="just"/>
            <a:r>
              <a:rPr lang="en-US" sz="1400" dirty="0">
                <a:latin typeface="Corbel" panose="020B0503020204020204" pitchFamily="34" charset="0"/>
              </a:rPr>
              <a:t>Name, Speed, Gear</a:t>
            </a:r>
          </a:p>
          <a:p>
            <a:pPr algn="just"/>
            <a:r>
              <a:rPr lang="en-US" sz="1800" dirty="0">
                <a:latin typeface="Corbel" panose="020B0503020204020204" pitchFamily="34" charset="0"/>
              </a:rPr>
              <a:t>We will define the Bicycle class to have the following behavior </a:t>
            </a:r>
            <a:r>
              <a:rPr lang="en-US" sz="1800" dirty="0">
                <a:latin typeface="Corbel" panose="020B0503020204020204" pitchFamily="34" charset="0"/>
                <a:sym typeface="Wingdings" panose="05000000000000000000" pitchFamily="2" charset="2"/>
              </a:rPr>
              <a:t> </a:t>
            </a:r>
            <a:r>
              <a:rPr lang="en-US" sz="1800" u="sng" dirty="0">
                <a:latin typeface="Corbel" panose="020B0503020204020204" pitchFamily="34" charset="0"/>
                <a:sym typeface="Wingdings" panose="05000000000000000000" pitchFamily="2" charset="2"/>
              </a:rPr>
              <a:t>Methods</a:t>
            </a:r>
            <a:endParaRPr lang="en-US" sz="1800" u="sng" dirty="0">
              <a:latin typeface="Corbel" panose="020B0503020204020204" pitchFamily="34" charset="0"/>
            </a:endParaRPr>
          </a:p>
          <a:p>
            <a:pPr lvl="1" algn="just"/>
            <a:r>
              <a:rPr lang="en-US" sz="1400" dirty="0">
                <a:latin typeface="Corbel" panose="020B0503020204020204" pitchFamily="34" charset="0"/>
              </a:rPr>
              <a:t>change Name, </a:t>
            </a:r>
            <a:r>
              <a:rPr lang="en-US" sz="1400" dirty="0" err="1">
                <a:latin typeface="Corbel" panose="020B0503020204020204" pitchFamily="34" charset="0"/>
              </a:rPr>
              <a:t>changeGear</a:t>
            </a:r>
            <a:r>
              <a:rPr lang="en-US" sz="1400" dirty="0">
                <a:latin typeface="Corbel" panose="020B0503020204020204" pitchFamily="34" charset="0"/>
              </a:rPr>
              <a:t>, speedup, </a:t>
            </a:r>
            <a:r>
              <a:rPr lang="en-US" sz="1400" dirty="0" err="1">
                <a:latin typeface="Corbel" panose="020B0503020204020204" pitchFamily="34" charset="0"/>
              </a:rPr>
              <a:t>applyBrakes</a:t>
            </a:r>
            <a:endParaRPr lang="en-US" sz="1400" dirty="0">
              <a:latin typeface="Corbel" panose="020B0503020204020204" pitchFamily="34" charset="0"/>
            </a:endParaRPr>
          </a:p>
          <a:p>
            <a:pPr lvl="1" algn="just"/>
            <a:r>
              <a:rPr lang="en-US" sz="1400" dirty="0" err="1">
                <a:latin typeface="Corbel" panose="020B0503020204020204" pitchFamily="34" charset="0"/>
              </a:rPr>
              <a:t>printStates</a:t>
            </a:r>
            <a:endParaRPr lang="en-US" sz="1800" dirty="0">
              <a:latin typeface="Corbel" panose="020B0503020204020204" pitchFamily="34" charset="0"/>
            </a:endParaRPr>
          </a:p>
          <a:p>
            <a:pPr algn="just"/>
            <a:r>
              <a:rPr lang="en-US" sz="1800" dirty="0">
                <a:latin typeface="Corbel" panose="020B0503020204020204" pitchFamily="34" charset="0"/>
              </a:rPr>
              <a:t>In </a:t>
            </a:r>
            <a:r>
              <a:rPr lang="en-US" sz="1800" b="1" dirty="0">
                <a:latin typeface="Corbel" panose="020B0503020204020204" pitchFamily="34" charset="0"/>
              </a:rPr>
              <a:t>object-oriented terms</a:t>
            </a:r>
            <a:r>
              <a:rPr lang="en-US" sz="1800" dirty="0">
                <a:latin typeface="Corbel" panose="020B0503020204020204" pitchFamily="34" charset="0"/>
              </a:rPr>
              <a:t>, we say that your </a:t>
            </a:r>
            <a:r>
              <a:rPr lang="en-US" sz="1800" b="1" dirty="0">
                <a:latin typeface="Corbel" panose="020B0503020204020204" pitchFamily="34" charset="0"/>
              </a:rPr>
              <a:t>bicycle is an </a:t>
            </a:r>
            <a:r>
              <a:rPr lang="en-US" sz="1800" b="1" i="1" dirty="0">
                <a:latin typeface="Corbel" panose="020B0503020204020204" pitchFamily="34" charset="0"/>
              </a:rPr>
              <a:t>instance</a:t>
            </a:r>
            <a:r>
              <a:rPr lang="en-US" sz="1800" dirty="0">
                <a:latin typeface="Corbel" panose="020B0503020204020204" pitchFamily="34" charset="0"/>
              </a:rPr>
              <a:t> of the </a:t>
            </a:r>
            <a:r>
              <a:rPr lang="en-US" sz="1800" b="1" i="1" dirty="0">
                <a:latin typeface="Corbel" panose="020B0503020204020204" pitchFamily="34" charset="0"/>
              </a:rPr>
              <a:t>class of objects</a:t>
            </a:r>
            <a:r>
              <a:rPr lang="en-US" sz="1800" b="1" dirty="0">
                <a:latin typeface="Corbel" panose="020B0503020204020204" pitchFamily="34" charset="0"/>
              </a:rPr>
              <a:t> known as bicycle</a:t>
            </a:r>
            <a:r>
              <a:rPr lang="en-US" sz="1800" dirty="0">
                <a:latin typeface="Corbel" panose="020B0503020204020204" pitchFamily="34" charset="0"/>
              </a:rPr>
              <a:t>. </a:t>
            </a:r>
          </a:p>
          <a:p>
            <a:pPr algn="just"/>
            <a:r>
              <a:rPr lang="en-US" sz="1800" dirty="0">
                <a:latin typeface="Corbel" panose="020B0503020204020204" pitchFamily="34" charset="0"/>
              </a:rPr>
              <a:t>The </a:t>
            </a:r>
            <a:r>
              <a:rPr lang="en-US" sz="1800" b="1" dirty="0">
                <a:latin typeface="Corbel" panose="020B0503020204020204" pitchFamily="34" charset="0"/>
              </a:rPr>
              <a:t>fields cadence, speed, and gear </a:t>
            </a:r>
            <a:r>
              <a:rPr lang="en-US" sz="1800" dirty="0">
                <a:latin typeface="Corbel" panose="020B0503020204020204" pitchFamily="34" charset="0"/>
              </a:rPr>
              <a:t>represent the object's </a:t>
            </a:r>
            <a:r>
              <a:rPr lang="en-US" sz="1800" b="1" dirty="0">
                <a:latin typeface="Corbel" panose="020B0503020204020204" pitchFamily="34" charset="0"/>
              </a:rPr>
              <a:t>state</a:t>
            </a:r>
            <a:r>
              <a:rPr lang="en-US" sz="1800" dirty="0">
                <a:latin typeface="Corbel" panose="020B0503020204020204" pitchFamily="34" charset="0"/>
              </a:rPr>
              <a:t>, and the </a:t>
            </a:r>
            <a:r>
              <a:rPr lang="en-US" sz="1800" b="1" dirty="0">
                <a:latin typeface="Corbel" panose="020B0503020204020204" pitchFamily="34" charset="0"/>
              </a:rPr>
              <a:t>methods </a:t>
            </a:r>
            <a:r>
              <a:rPr lang="en-US" sz="1800" dirty="0">
                <a:latin typeface="Corbel" panose="020B0503020204020204" pitchFamily="34" charset="0"/>
              </a:rPr>
              <a:t>(</a:t>
            </a:r>
            <a:r>
              <a:rPr lang="en-US" sz="1800" dirty="0" err="1">
                <a:latin typeface="Corbel" panose="020B0503020204020204" pitchFamily="34" charset="0"/>
              </a:rPr>
              <a:t>changeName</a:t>
            </a:r>
            <a:r>
              <a:rPr lang="en-US" sz="1800" dirty="0">
                <a:latin typeface="Corbel" panose="020B0503020204020204" pitchFamily="34" charset="0"/>
              </a:rPr>
              <a:t>, </a:t>
            </a:r>
            <a:r>
              <a:rPr lang="en-US" sz="1800" dirty="0" err="1">
                <a:latin typeface="Corbel" panose="020B0503020204020204" pitchFamily="34" charset="0"/>
              </a:rPr>
              <a:t>changeGear</a:t>
            </a:r>
            <a:r>
              <a:rPr lang="en-US" sz="1800" dirty="0">
                <a:latin typeface="Corbel" panose="020B0503020204020204" pitchFamily="34" charset="0"/>
              </a:rPr>
              <a:t>, </a:t>
            </a:r>
            <a:r>
              <a:rPr lang="en-US" sz="1800" dirty="0" err="1">
                <a:latin typeface="Corbel" panose="020B0503020204020204" pitchFamily="34" charset="0"/>
              </a:rPr>
              <a:t>speedUp</a:t>
            </a:r>
            <a:r>
              <a:rPr lang="en-US" sz="1800" dirty="0">
                <a:latin typeface="Corbel" panose="020B0503020204020204" pitchFamily="34" charset="0"/>
              </a:rPr>
              <a:t> etc.) define its </a:t>
            </a:r>
            <a:r>
              <a:rPr lang="en-US" sz="1800" b="1" dirty="0">
                <a:latin typeface="Corbel" panose="020B0503020204020204" pitchFamily="34" charset="0"/>
              </a:rPr>
              <a:t>interaction with the outside world</a:t>
            </a:r>
            <a:r>
              <a:rPr lang="en-US" sz="1800" dirty="0">
                <a:latin typeface="Corbel" panose="020B0503020204020204" pitchFamily="34" charset="0"/>
              </a:rPr>
              <a:t>.</a:t>
            </a:r>
          </a:p>
        </p:txBody>
      </p:sp>
      <p:pic>
        <p:nvPicPr>
          <p:cNvPr id="5" name="Picture 4"/>
          <p:cNvPicPr>
            <a:picLocks noChangeAspect="1"/>
          </p:cNvPicPr>
          <p:nvPr/>
        </p:nvPicPr>
        <p:blipFill>
          <a:blip r:embed="rId3"/>
          <a:stretch>
            <a:fillRect/>
          </a:stretch>
        </p:blipFill>
        <p:spPr>
          <a:xfrm>
            <a:off x="297406" y="1340224"/>
            <a:ext cx="5619300" cy="5214002"/>
          </a:xfrm>
          <a:prstGeom prst="rect">
            <a:avLst/>
          </a:prstGeom>
        </p:spPr>
      </p:pic>
    </p:spTree>
    <p:extLst>
      <p:ext uri="{BB962C8B-B14F-4D97-AF65-F5344CB8AC3E}">
        <p14:creationId xmlns:p14="http://schemas.microsoft.com/office/powerpoint/2010/main" val="196137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Class Constituents</a:t>
            </a:r>
          </a:p>
        </p:txBody>
      </p:sp>
      <p:sp>
        <p:nvSpPr>
          <p:cNvPr id="3" name="Content Placeholder 2"/>
          <p:cNvSpPr>
            <a:spLocks noGrp="1"/>
          </p:cNvSpPr>
          <p:nvPr>
            <p:ph idx="1"/>
          </p:nvPr>
        </p:nvSpPr>
        <p:spPr>
          <a:xfrm>
            <a:off x="310381" y="1411941"/>
            <a:ext cx="7447731" cy="2765612"/>
          </a:xfrm>
        </p:spPr>
        <p:txBody>
          <a:bodyPr>
            <a:noAutofit/>
          </a:bodyPr>
          <a:lstStyle/>
          <a:p>
            <a:r>
              <a:rPr lang="en-US" dirty="0">
                <a:latin typeface="Corbel" panose="020B0503020204020204" pitchFamily="34" charset="0"/>
              </a:rPr>
              <a:t>A class can have three kinds of members:</a:t>
            </a:r>
          </a:p>
          <a:p>
            <a:pPr lvl="1"/>
            <a:r>
              <a:rPr lang="en-US" sz="2000" b="1" dirty="0">
                <a:latin typeface="Corbel" panose="020B0503020204020204" pitchFamily="34" charset="0"/>
              </a:rPr>
              <a:t>Fields </a:t>
            </a:r>
            <a:r>
              <a:rPr lang="en-US" sz="2000" dirty="0">
                <a:latin typeface="Corbel" panose="020B0503020204020204" pitchFamily="34" charset="0"/>
              </a:rPr>
              <a:t>are the data variables associated with a class and its objects and hold the state of the class or object.</a:t>
            </a:r>
          </a:p>
          <a:p>
            <a:pPr lvl="1"/>
            <a:r>
              <a:rPr lang="en-US" sz="2000" b="1" dirty="0">
                <a:latin typeface="Corbel" panose="020B0503020204020204" pitchFamily="34" charset="0"/>
              </a:rPr>
              <a:t>Methods </a:t>
            </a:r>
            <a:r>
              <a:rPr lang="en-US" sz="2000" dirty="0">
                <a:latin typeface="Corbel" panose="020B0503020204020204" pitchFamily="34" charset="0"/>
              </a:rPr>
              <a:t>contain the executable code of a class and define the behavior of objects.</a:t>
            </a:r>
          </a:p>
          <a:p>
            <a:pPr lvl="1"/>
            <a:r>
              <a:rPr lang="en-US" sz="2000" b="1" dirty="0">
                <a:latin typeface="Corbel" panose="020B0503020204020204" pitchFamily="34" charset="0"/>
              </a:rPr>
              <a:t>Nested classes </a:t>
            </a:r>
            <a:r>
              <a:rPr lang="en-US" sz="2000" dirty="0">
                <a:latin typeface="Corbel" panose="020B0503020204020204" pitchFamily="34" charset="0"/>
              </a:rPr>
              <a:t>and </a:t>
            </a:r>
            <a:r>
              <a:rPr lang="en-US" sz="2000" b="1" dirty="0">
                <a:latin typeface="Corbel" panose="020B0503020204020204" pitchFamily="34" charset="0"/>
              </a:rPr>
              <a:t>nested interfaces </a:t>
            </a:r>
            <a:r>
              <a:rPr lang="en-US" sz="2000" dirty="0">
                <a:latin typeface="Corbel" panose="020B0503020204020204" pitchFamily="34" charset="0"/>
              </a:rPr>
              <a:t>are declarations of classes or interfaces that occur nested within the declaration of another class or interface.</a:t>
            </a:r>
            <a:endParaRPr lang="en-US" sz="2000" b="1" i="1" dirty="0">
              <a:latin typeface="Corbel" panose="020B0503020204020204" pitchFamily="34" charset="0"/>
            </a:endParaRPr>
          </a:p>
        </p:txBody>
      </p:sp>
      <p:pic>
        <p:nvPicPr>
          <p:cNvPr id="7" name="Picture 6"/>
          <p:cNvPicPr>
            <a:picLocks noChangeAspect="1"/>
          </p:cNvPicPr>
          <p:nvPr/>
        </p:nvPicPr>
        <p:blipFill>
          <a:blip r:embed="rId3"/>
          <a:stretch>
            <a:fillRect/>
          </a:stretch>
        </p:blipFill>
        <p:spPr>
          <a:xfrm>
            <a:off x="7758112" y="1411942"/>
            <a:ext cx="4123507" cy="5214002"/>
          </a:xfrm>
          <a:prstGeom prst="rect">
            <a:avLst/>
          </a:prstGeom>
        </p:spPr>
      </p:pic>
      <p:pic>
        <p:nvPicPr>
          <p:cNvPr id="4" name="Picture 3">
            <a:extLst>
              <a:ext uri="{FF2B5EF4-FFF2-40B4-BE49-F238E27FC236}">
                <a16:creationId xmlns:a16="http://schemas.microsoft.com/office/drawing/2014/main" id="{7188E8D4-264A-4C52-BBB0-DBF0463A828F}"/>
              </a:ext>
            </a:extLst>
          </p:cNvPr>
          <p:cNvPicPr>
            <a:picLocks noChangeAspect="1"/>
          </p:cNvPicPr>
          <p:nvPr/>
        </p:nvPicPr>
        <p:blipFill>
          <a:blip r:embed="rId4"/>
          <a:stretch>
            <a:fillRect/>
          </a:stretch>
        </p:blipFill>
        <p:spPr>
          <a:xfrm>
            <a:off x="394446" y="4018943"/>
            <a:ext cx="6918969" cy="2726048"/>
          </a:xfrm>
          <a:prstGeom prst="rect">
            <a:avLst/>
          </a:prstGeom>
        </p:spPr>
      </p:pic>
    </p:spTree>
    <p:extLst>
      <p:ext uri="{BB962C8B-B14F-4D97-AF65-F5344CB8AC3E}">
        <p14:creationId xmlns:p14="http://schemas.microsoft.com/office/powerpoint/2010/main" val="25878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Class Modifiers</a:t>
            </a:r>
          </a:p>
        </p:txBody>
      </p:sp>
      <p:sp>
        <p:nvSpPr>
          <p:cNvPr id="3" name="Content Placeholder 2"/>
          <p:cNvSpPr>
            <a:spLocks noGrp="1"/>
          </p:cNvSpPr>
          <p:nvPr>
            <p:ph idx="1"/>
          </p:nvPr>
        </p:nvSpPr>
        <p:spPr>
          <a:xfrm>
            <a:off x="1103382" y="1411941"/>
            <a:ext cx="5857874" cy="4975412"/>
          </a:xfrm>
        </p:spPr>
        <p:txBody>
          <a:bodyPr>
            <a:noAutofit/>
          </a:bodyPr>
          <a:lstStyle/>
          <a:p>
            <a:r>
              <a:rPr lang="en-US" sz="1800" dirty="0">
                <a:latin typeface="Corbel" panose="020B0503020204020204" pitchFamily="34" charset="0"/>
              </a:rPr>
              <a:t>A class may be declared with one or more </a:t>
            </a:r>
            <a:r>
              <a:rPr lang="en-US" sz="1800" b="1" dirty="0">
                <a:latin typeface="Corbel" panose="020B0503020204020204" pitchFamily="34" charset="0"/>
              </a:rPr>
              <a:t>modifiers</a:t>
            </a:r>
            <a:r>
              <a:rPr lang="en-US" sz="1800" dirty="0">
                <a:latin typeface="Corbel" panose="020B0503020204020204" pitchFamily="34" charset="0"/>
              </a:rPr>
              <a:t> which affect its runtime behavior:</a:t>
            </a:r>
          </a:p>
          <a:p>
            <a:pPr lvl="1"/>
            <a:r>
              <a:rPr lang="en-US" sz="1800" b="1" dirty="0">
                <a:latin typeface="Corbel" panose="020B0503020204020204" pitchFamily="34" charset="0"/>
              </a:rPr>
              <a:t>Access modifiers</a:t>
            </a:r>
            <a:r>
              <a:rPr lang="en-US" sz="1800" dirty="0">
                <a:latin typeface="Corbel" panose="020B0503020204020204" pitchFamily="34" charset="0"/>
              </a:rPr>
              <a:t>: public, protected, and private</a:t>
            </a:r>
          </a:p>
          <a:p>
            <a:pPr lvl="1"/>
            <a:r>
              <a:rPr lang="en-US" sz="1800" dirty="0">
                <a:latin typeface="Corbel" panose="020B0503020204020204" pitchFamily="34" charset="0"/>
              </a:rPr>
              <a:t>Modifier requiring </a:t>
            </a:r>
            <a:r>
              <a:rPr lang="en-US" sz="1800" b="1" dirty="0">
                <a:latin typeface="Corbel" panose="020B0503020204020204" pitchFamily="34" charset="0"/>
              </a:rPr>
              <a:t>override</a:t>
            </a:r>
            <a:r>
              <a:rPr lang="en-US" sz="1800" dirty="0">
                <a:latin typeface="Corbel" panose="020B0503020204020204" pitchFamily="34" charset="0"/>
              </a:rPr>
              <a:t>: abstract</a:t>
            </a:r>
          </a:p>
          <a:p>
            <a:pPr lvl="1"/>
            <a:r>
              <a:rPr lang="en-US" sz="1800" dirty="0">
                <a:latin typeface="Corbel" panose="020B0503020204020204" pitchFamily="34" charset="0"/>
              </a:rPr>
              <a:t>Modifier restricting to </a:t>
            </a:r>
            <a:r>
              <a:rPr lang="en-US" sz="1800" b="1" dirty="0">
                <a:latin typeface="Corbel" panose="020B0503020204020204" pitchFamily="34" charset="0"/>
              </a:rPr>
              <a:t>one instance</a:t>
            </a:r>
            <a:r>
              <a:rPr lang="en-US" sz="1800" dirty="0">
                <a:latin typeface="Corbel" panose="020B0503020204020204" pitchFamily="34" charset="0"/>
              </a:rPr>
              <a:t>: static</a:t>
            </a:r>
          </a:p>
          <a:p>
            <a:pPr lvl="1"/>
            <a:r>
              <a:rPr lang="en-US" sz="1800" dirty="0">
                <a:latin typeface="Corbel" panose="020B0503020204020204" pitchFamily="34" charset="0"/>
              </a:rPr>
              <a:t>Modifier </a:t>
            </a:r>
            <a:r>
              <a:rPr lang="en-US" sz="1800" b="1" dirty="0">
                <a:latin typeface="Corbel" panose="020B0503020204020204" pitchFamily="34" charset="0"/>
              </a:rPr>
              <a:t>prohibiting value modification</a:t>
            </a:r>
            <a:r>
              <a:rPr lang="en-US" sz="1800" dirty="0">
                <a:latin typeface="Corbel" panose="020B0503020204020204" pitchFamily="34" charset="0"/>
              </a:rPr>
              <a:t>: final</a:t>
            </a:r>
          </a:p>
          <a:p>
            <a:pPr lvl="1"/>
            <a:r>
              <a:rPr lang="en-US" sz="1800" dirty="0">
                <a:latin typeface="Corbel" panose="020B0503020204020204" pitchFamily="34" charset="0"/>
              </a:rPr>
              <a:t>Modifier </a:t>
            </a:r>
            <a:r>
              <a:rPr lang="en-US" sz="1800" b="1" dirty="0">
                <a:latin typeface="Corbel" panose="020B0503020204020204" pitchFamily="34" charset="0"/>
              </a:rPr>
              <a:t>forcing strict floating point behavior</a:t>
            </a:r>
            <a:r>
              <a:rPr lang="en-US" sz="1800" dirty="0">
                <a:latin typeface="Corbel" panose="020B0503020204020204" pitchFamily="34" charset="0"/>
              </a:rPr>
              <a:t>: strictfp</a:t>
            </a:r>
          </a:p>
          <a:p>
            <a:r>
              <a:rPr lang="en-US" sz="1800" dirty="0">
                <a:latin typeface="Corbel" panose="020B0503020204020204" pitchFamily="34" charset="0"/>
              </a:rPr>
              <a:t>Not </a:t>
            </a:r>
            <a:r>
              <a:rPr lang="en-US" sz="1800" b="1" dirty="0">
                <a:latin typeface="Corbel" panose="020B0503020204020204" pitchFamily="34" charset="0"/>
              </a:rPr>
              <a:t>all modifiers </a:t>
            </a:r>
            <a:r>
              <a:rPr lang="en-US" sz="1800" dirty="0">
                <a:latin typeface="Corbel" panose="020B0503020204020204" pitchFamily="34" charset="0"/>
              </a:rPr>
              <a:t>are </a:t>
            </a:r>
            <a:r>
              <a:rPr lang="en-US" sz="1800" b="1" dirty="0">
                <a:latin typeface="Corbel" panose="020B0503020204020204" pitchFamily="34" charset="0"/>
              </a:rPr>
              <a:t>allowed on all classes</a:t>
            </a:r>
            <a:r>
              <a:rPr lang="en-US" sz="1800" dirty="0">
                <a:latin typeface="Corbel" panose="020B0503020204020204" pitchFamily="34" charset="0"/>
              </a:rPr>
              <a:t>, for example an </a:t>
            </a:r>
            <a:r>
              <a:rPr lang="en-US" sz="1800" b="1" dirty="0">
                <a:latin typeface="Corbel" panose="020B0503020204020204" pitchFamily="34" charset="0"/>
              </a:rPr>
              <a:t>interface </a:t>
            </a:r>
            <a:r>
              <a:rPr lang="en-US" sz="1800" dirty="0">
                <a:latin typeface="Corbel" panose="020B0503020204020204" pitchFamily="34" charset="0"/>
              </a:rPr>
              <a:t>cannot be </a:t>
            </a:r>
            <a:r>
              <a:rPr lang="en-US" sz="1800" b="1" dirty="0">
                <a:latin typeface="Corbel" panose="020B0503020204020204" pitchFamily="34" charset="0"/>
              </a:rPr>
              <a:t>final </a:t>
            </a:r>
            <a:r>
              <a:rPr lang="en-US" sz="1800" dirty="0">
                <a:latin typeface="Corbel" panose="020B0503020204020204" pitchFamily="34" charset="0"/>
              </a:rPr>
              <a:t>and an </a:t>
            </a:r>
            <a:r>
              <a:rPr lang="en-US" sz="1800" b="1" dirty="0">
                <a:latin typeface="Corbel" panose="020B0503020204020204" pitchFamily="34" charset="0"/>
              </a:rPr>
              <a:t>enum </a:t>
            </a:r>
            <a:r>
              <a:rPr lang="en-US" sz="1800" dirty="0">
                <a:latin typeface="Corbel" panose="020B0503020204020204" pitchFamily="34" charset="0"/>
              </a:rPr>
              <a:t>cannot be </a:t>
            </a:r>
            <a:r>
              <a:rPr lang="en-US" sz="1800" b="1" dirty="0">
                <a:latin typeface="Corbel" panose="020B0503020204020204" pitchFamily="34" charset="0"/>
              </a:rPr>
              <a:t>abstract</a:t>
            </a:r>
            <a:r>
              <a:rPr lang="en-US" sz="1800" dirty="0">
                <a:latin typeface="Corbel" panose="020B0503020204020204" pitchFamily="34" charset="0"/>
              </a:rPr>
              <a:t>. </a:t>
            </a:r>
          </a:p>
          <a:p>
            <a:r>
              <a:rPr lang="en-US" sz="1800" dirty="0">
                <a:latin typeface="Corbel" panose="020B0503020204020204" pitchFamily="34" charset="0"/>
              </a:rPr>
              <a:t>A class declaration can be preceded by several modifiers. </a:t>
            </a:r>
          </a:p>
          <a:p>
            <a:r>
              <a:rPr lang="en-US" sz="1800" dirty="0">
                <a:latin typeface="Corbel" panose="020B0503020204020204" pitchFamily="34" charset="0"/>
              </a:rPr>
              <a:t>Modifiers are allowed in any order, but the consensus is that you adopt a consistent order to improve the readability of your code. We always use, and recommend, the order listed.</a:t>
            </a:r>
            <a:endParaRPr lang="en-US" sz="1800" b="1" i="1" dirty="0">
              <a:latin typeface="Corbel" panose="020B0503020204020204" pitchFamily="34" charset="0"/>
            </a:endParaRPr>
          </a:p>
        </p:txBody>
      </p:sp>
      <p:pic>
        <p:nvPicPr>
          <p:cNvPr id="7" name="Picture 6"/>
          <p:cNvPicPr>
            <a:picLocks noChangeAspect="1"/>
          </p:cNvPicPr>
          <p:nvPr/>
        </p:nvPicPr>
        <p:blipFill>
          <a:blip r:embed="rId3"/>
          <a:stretch>
            <a:fillRect/>
          </a:stretch>
        </p:blipFill>
        <p:spPr>
          <a:xfrm>
            <a:off x="7758112" y="1411942"/>
            <a:ext cx="4123507" cy="5214002"/>
          </a:xfrm>
          <a:prstGeom prst="rect">
            <a:avLst/>
          </a:prstGeom>
        </p:spPr>
      </p:pic>
    </p:spTree>
    <p:extLst>
      <p:ext uri="{BB962C8B-B14F-4D97-AF65-F5344CB8AC3E}">
        <p14:creationId xmlns:p14="http://schemas.microsoft.com/office/powerpoint/2010/main" val="2158824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Class Members (Variables)</a:t>
            </a:r>
          </a:p>
        </p:txBody>
      </p:sp>
      <p:sp>
        <p:nvSpPr>
          <p:cNvPr id="3" name="Content Placeholder 2"/>
          <p:cNvSpPr>
            <a:spLocks noGrp="1"/>
          </p:cNvSpPr>
          <p:nvPr>
            <p:ph idx="1"/>
          </p:nvPr>
        </p:nvSpPr>
        <p:spPr>
          <a:xfrm>
            <a:off x="1103381" y="1411941"/>
            <a:ext cx="6197531" cy="4975412"/>
          </a:xfrm>
        </p:spPr>
        <p:txBody>
          <a:bodyPr>
            <a:noAutofit/>
          </a:bodyPr>
          <a:lstStyle/>
          <a:p>
            <a:r>
              <a:rPr lang="en-US" sz="2200" dirty="0">
                <a:latin typeface="Corbel" panose="020B0503020204020204" pitchFamily="34" charset="0"/>
              </a:rPr>
              <a:t>class's </a:t>
            </a:r>
            <a:r>
              <a:rPr lang="en-US" sz="2200" b="1" u="sng" dirty="0">
                <a:latin typeface="Corbel" panose="020B0503020204020204" pitchFamily="34" charset="0"/>
              </a:rPr>
              <a:t>variables </a:t>
            </a:r>
            <a:r>
              <a:rPr lang="en-US" sz="2200" dirty="0">
                <a:latin typeface="Corbel" panose="020B0503020204020204" pitchFamily="34" charset="0"/>
              </a:rPr>
              <a:t>are called </a:t>
            </a:r>
            <a:r>
              <a:rPr lang="en-US" sz="2200" b="1" u="sng" dirty="0">
                <a:latin typeface="Corbel" panose="020B0503020204020204" pitchFamily="34" charset="0"/>
              </a:rPr>
              <a:t>fields</a:t>
            </a:r>
            <a:r>
              <a:rPr lang="en-US" sz="2200" dirty="0">
                <a:latin typeface="Corbel" panose="020B0503020204020204" pitchFamily="34" charset="0"/>
              </a:rPr>
              <a:t>; the Bicycle class's cadence , speed and gear variables are examples. </a:t>
            </a:r>
          </a:p>
          <a:p>
            <a:r>
              <a:rPr lang="en-US" sz="2200" dirty="0">
                <a:latin typeface="Corbel" panose="020B0503020204020204" pitchFamily="34" charset="0"/>
              </a:rPr>
              <a:t>A </a:t>
            </a:r>
            <a:r>
              <a:rPr lang="en-US" sz="2200" b="1" u="sng" dirty="0">
                <a:latin typeface="Corbel" panose="020B0503020204020204" pitchFamily="34" charset="0"/>
              </a:rPr>
              <a:t>field declaration </a:t>
            </a:r>
            <a:r>
              <a:rPr lang="en-US" sz="2200" dirty="0">
                <a:latin typeface="Corbel" panose="020B0503020204020204" pitchFamily="34" charset="0"/>
              </a:rPr>
              <a:t>consists of a </a:t>
            </a:r>
            <a:r>
              <a:rPr lang="en-US" sz="2200" b="1" u="sng" dirty="0">
                <a:latin typeface="Corbel" panose="020B0503020204020204" pitchFamily="34" charset="0"/>
              </a:rPr>
              <a:t>type name </a:t>
            </a:r>
            <a:r>
              <a:rPr lang="en-US" sz="2200" dirty="0">
                <a:latin typeface="Corbel" panose="020B0503020204020204" pitchFamily="34" charset="0"/>
              </a:rPr>
              <a:t>followed by the </a:t>
            </a:r>
            <a:r>
              <a:rPr lang="en-US" sz="2200" b="1" u="sng" dirty="0">
                <a:latin typeface="Corbel" panose="020B0503020204020204" pitchFamily="34" charset="0"/>
              </a:rPr>
              <a:t>field name </a:t>
            </a:r>
            <a:r>
              <a:rPr lang="en-US" sz="2200" dirty="0">
                <a:latin typeface="Corbel" panose="020B0503020204020204" pitchFamily="34" charset="0"/>
              </a:rPr>
              <a:t>and </a:t>
            </a:r>
            <a:r>
              <a:rPr lang="en-US" sz="2200" u="sng" dirty="0">
                <a:latin typeface="Corbel" panose="020B0503020204020204" pitchFamily="34" charset="0"/>
              </a:rPr>
              <a:t>optionally </a:t>
            </a:r>
            <a:r>
              <a:rPr lang="en-US" sz="2200" dirty="0">
                <a:latin typeface="Corbel" panose="020B0503020204020204" pitchFamily="34" charset="0"/>
              </a:rPr>
              <a:t>an initialization clause to give the field an initial value. </a:t>
            </a:r>
          </a:p>
          <a:p>
            <a:r>
              <a:rPr lang="en-US" sz="2200" dirty="0">
                <a:latin typeface="Corbel" panose="020B0503020204020204" pitchFamily="34" charset="0"/>
              </a:rPr>
              <a:t>Giving each separate object a different instance of the fields means that each object has its own unique state such fields are known as instance variables. </a:t>
            </a:r>
          </a:p>
          <a:p>
            <a:r>
              <a:rPr lang="en-US" sz="2200" b="1" dirty="0">
                <a:latin typeface="Corbel" panose="020B0503020204020204" pitchFamily="34" charset="0"/>
              </a:rPr>
              <a:t>Changing the cadence field in one Bicycle object does not affect the cadence field in any other Bicycle object.</a:t>
            </a:r>
          </a:p>
        </p:txBody>
      </p:sp>
      <p:pic>
        <p:nvPicPr>
          <p:cNvPr id="7" name="Picture 6"/>
          <p:cNvPicPr>
            <a:picLocks noChangeAspect="1"/>
          </p:cNvPicPr>
          <p:nvPr/>
        </p:nvPicPr>
        <p:blipFill>
          <a:blip r:embed="rId3"/>
          <a:stretch>
            <a:fillRect/>
          </a:stretch>
        </p:blipFill>
        <p:spPr>
          <a:xfrm>
            <a:off x="7758112" y="1411942"/>
            <a:ext cx="4123507" cy="5214002"/>
          </a:xfrm>
          <a:prstGeom prst="rect">
            <a:avLst/>
          </a:prstGeom>
        </p:spPr>
      </p:pic>
    </p:spTree>
    <p:extLst>
      <p:ext uri="{BB962C8B-B14F-4D97-AF65-F5344CB8AC3E}">
        <p14:creationId xmlns:p14="http://schemas.microsoft.com/office/powerpoint/2010/main" val="102257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a:t>
            </a:r>
            <a:r>
              <a:rPr lang="en-US"/>
              <a:t>Class Modifiers</a:t>
            </a:r>
            <a:endParaRPr lang="en-US" dirty="0"/>
          </a:p>
        </p:txBody>
      </p:sp>
      <p:sp>
        <p:nvSpPr>
          <p:cNvPr id="3" name="Content Placeholder 2"/>
          <p:cNvSpPr>
            <a:spLocks noGrp="1"/>
          </p:cNvSpPr>
          <p:nvPr>
            <p:ph idx="1"/>
          </p:nvPr>
        </p:nvSpPr>
        <p:spPr>
          <a:xfrm>
            <a:off x="1103381" y="1411941"/>
            <a:ext cx="6454707" cy="4975412"/>
          </a:xfrm>
        </p:spPr>
        <p:txBody>
          <a:bodyPr>
            <a:noAutofit/>
          </a:bodyPr>
          <a:lstStyle/>
          <a:p>
            <a:r>
              <a:rPr lang="en-US" dirty="0">
                <a:latin typeface="Corbel" panose="020B0503020204020204" pitchFamily="34" charset="0"/>
              </a:rPr>
              <a:t>Field declarations can also be preceded by modifiers that control certain properties of the field:</a:t>
            </a:r>
          </a:p>
          <a:p>
            <a:pPr lvl="1"/>
            <a:r>
              <a:rPr lang="en-US" sz="2000" dirty="0">
                <a:latin typeface="Corbel" panose="020B0503020204020204" pitchFamily="34" charset="0"/>
              </a:rPr>
              <a:t>access modifiers </a:t>
            </a:r>
          </a:p>
          <a:p>
            <a:pPr lvl="1"/>
            <a:r>
              <a:rPr lang="en-US" sz="2000" dirty="0">
                <a:latin typeface="Corbel" panose="020B0503020204020204" pitchFamily="34" charset="0"/>
              </a:rPr>
              <a:t>static</a:t>
            </a:r>
          </a:p>
          <a:p>
            <a:pPr lvl="1"/>
            <a:r>
              <a:rPr lang="en-US" sz="2000" dirty="0">
                <a:latin typeface="Corbel" panose="020B0503020204020204" pitchFamily="34" charset="0"/>
              </a:rPr>
              <a:t>final</a:t>
            </a:r>
          </a:p>
          <a:p>
            <a:pPr lvl="1"/>
            <a:r>
              <a:rPr lang="en-US" sz="2000" dirty="0">
                <a:latin typeface="Corbel" panose="020B0503020204020204" pitchFamily="34" charset="0"/>
              </a:rPr>
              <a:t>transient This relates to object serialization.</a:t>
            </a:r>
          </a:p>
          <a:p>
            <a:pPr lvl="1"/>
            <a:r>
              <a:rPr lang="en-US" sz="2000" dirty="0">
                <a:latin typeface="Corbel" panose="020B0503020204020204" pitchFamily="34" charset="0"/>
              </a:rPr>
              <a:t>volatile This relates to synchronization and memory model issues</a:t>
            </a:r>
          </a:p>
          <a:p>
            <a:r>
              <a:rPr lang="en-US" dirty="0">
                <a:latin typeface="Corbel" panose="020B0503020204020204" pitchFamily="34" charset="0"/>
              </a:rPr>
              <a:t>A field cannot be both final and volatile.</a:t>
            </a:r>
          </a:p>
          <a:p>
            <a:r>
              <a:rPr lang="en-US" dirty="0">
                <a:latin typeface="Corbel" panose="020B0503020204020204" pitchFamily="34" charset="0"/>
              </a:rPr>
              <a:t>When multiple modifiers are applied to the same field declaration, we recommend using the order listed above.</a:t>
            </a:r>
          </a:p>
          <a:p>
            <a:r>
              <a:rPr lang="en-US" dirty="0">
                <a:latin typeface="Corbel" panose="020B0503020204020204" pitchFamily="34" charset="0"/>
              </a:rPr>
              <a:t>When a field is declared it can be initialized by assigning it a value of the corresponding type. In the Bicycle example, the cadence, speed field are initialized to the value zero.</a:t>
            </a:r>
            <a:endParaRPr lang="en-US" b="1" i="1" dirty="0">
              <a:latin typeface="Corbel" panose="020B0503020204020204" pitchFamily="34" charset="0"/>
            </a:endParaRPr>
          </a:p>
        </p:txBody>
      </p:sp>
      <p:pic>
        <p:nvPicPr>
          <p:cNvPr id="7" name="Picture 6"/>
          <p:cNvPicPr>
            <a:picLocks noChangeAspect="1"/>
          </p:cNvPicPr>
          <p:nvPr/>
        </p:nvPicPr>
        <p:blipFill>
          <a:blip r:embed="rId3"/>
          <a:stretch>
            <a:fillRect/>
          </a:stretch>
        </p:blipFill>
        <p:spPr>
          <a:xfrm>
            <a:off x="7758112" y="1411942"/>
            <a:ext cx="4123507" cy="5214002"/>
          </a:xfrm>
          <a:prstGeom prst="rect">
            <a:avLst/>
          </a:prstGeom>
        </p:spPr>
      </p:pic>
    </p:spTree>
    <p:extLst>
      <p:ext uri="{BB962C8B-B14F-4D97-AF65-F5344CB8AC3E}">
        <p14:creationId xmlns:p14="http://schemas.microsoft.com/office/powerpoint/2010/main" val="1152113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Class Members (Variables)</a:t>
            </a:r>
          </a:p>
        </p:txBody>
      </p:sp>
      <p:sp>
        <p:nvSpPr>
          <p:cNvPr id="3" name="Content Placeholder 2"/>
          <p:cNvSpPr>
            <a:spLocks noGrp="1"/>
          </p:cNvSpPr>
          <p:nvPr>
            <p:ph idx="1"/>
          </p:nvPr>
        </p:nvSpPr>
        <p:spPr>
          <a:xfrm>
            <a:off x="1103381" y="1411941"/>
            <a:ext cx="6454707" cy="4975412"/>
          </a:xfrm>
        </p:spPr>
        <p:txBody>
          <a:bodyPr>
            <a:noAutofit/>
          </a:bodyPr>
          <a:lstStyle/>
          <a:p>
            <a:pPr marL="0" indent="0">
              <a:buNone/>
            </a:pPr>
            <a:r>
              <a:rPr lang="en-US" b="1" dirty="0">
                <a:latin typeface="Corbel" panose="020B0503020204020204" pitchFamily="34" charset="0"/>
              </a:rPr>
              <a:t>Static Fields</a:t>
            </a:r>
          </a:p>
          <a:p>
            <a:r>
              <a:rPr lang="en-US" dirty="0">
                <a:latin typeface="Corbel" panose="020B0503020204020204" pitchFamily="34" charset="0"/>
              </a:rPr>
              <a:t>Sometimes you want only </a:t>
            </a:r>
            <a:r>
              <a:rPr lang="en-US" b="1" dirty="0">
                <a:latin typeface="Corbel" panose="020B0503020204020204" pitchFamily="34" charset="0"/>
              </a:rPr>
              <a:t>one instance </a:t>
            </a:r>
            <a:r>
              <a:rPr lang="en-US" dirty="0">
                <a:latin typeface="Corbel" panose="020B0503020204020204" pitchFamily="34" charset="0"/>
              </a:rPr>
              <a:t>of a </a:t>
            </a:r>
            <a:r>
              <a:rPr lang="en-US" b="1" dirty="0">
                <a:latin typeface="Corbel" panose="020B0503020204020204" pitchFamily="34" charset="0"/>
              </a:rPr>
              <a:t>field shared by all objects of a class</a:t>
            </a:r>
            <a:r>
              <a:rPr lang="en-US" dirty="0">
                <a:latin typeface="Corbel" panose="020B0503020204020204" pitchFamily="34" charset="0"/>
              </a:rPr>
              <a:t>. </a:t>
            </a:r>
          </a:p>
          <a:p>
            <a:r>
              <a:rPr lang="en-US" dirty="0">
                <a:latin typeface="Corbel" panose="020B0503020204020204" pitchFamily="34" charset="0"/>
              </a:rPr>
              <a:t>You create </a:t>
            </a:r>
            <a:r>
              <a:rPr lang="en-US" b="1" dirty="0">
                <a:latin typeface="Corbel" panose="020B0503020204020204" pitchFamily="34" charset="0"/>
              </a:rPr>
              <a:t>such fields by declaring them static</a:t>
            </a:r>
            <a:r>
              <a:rPr lang="en-US" dirty="0">
                <a:latin typeface="Corbel" panose="020B0503020204020204" pitchFamily="34" charset="0"/>
              </a:rPr>
              <a:t>, so they are called </a:t>
            </a:r>
            <a:r>
              <a:rPr lang="en-US" b="1" dirty="0">
                <a:latin typeface="Corbel" panose="020B0503020204020204" pitchFamily="34" charset="0"/>
              </a:rPr>
              <a:t>static fields </a:t>
            </a:r>
            <a:r>
              <a:rPr lang="en-US" dirty="0">
                <a:latin typeface="Corbel" panose="020B0503020204020204" pitchFamily="34" charset="0"/>
              </a:rPr>
              <a:t>or </a:t>
            </a:r>
            <a:r>
              <a:rPr lang="en-US" b="1" dirty="0">
                <a:latin typeface="Corbel" panose="020B0503020204020204" pitchFamily="34" charset="0"/>
              </a:rPr>
              <a:t>class variables</a:t>
            </a:r>
            <a:r>
              <a:rPr lang="en-US" dirty="0">
                <a:latin typeface="Corbel" panose="020B0503020204020204" pitchFamily="34" charset="0"/>
              </a:rPr>
              <a:t>. </a:t>
            </a:r>
          </a:p>
          <a:p>
            <a:r>
              <a:rPr lang="en-US" dirty="0">
                <a:latin typeface="Corbel" panose="020B0503020204020204" pitchFamily="34" charset="0"/>
              </a:rPr>
              <a:t>When you declare a </a:t>
            </a:r>
            <a:r>
              <a:rPr lang="en-US" b="1" dirty="0">
                <a:latin typeface="Corbel" panose="020B0503020204020204" pitchFamily="34" charset="0"/>
              </a:rPr>
              <a:t>static field </a:t>
            </a:r>
            <a:r>
              <a:rPr lang="en-US" dirty="0">
                <a:latin typeface="Corbel" panose="020B0503020204020204" pitchFamily="34" charset="0"/>
              </a:rPr>
              <a:t>in a class only </a:t>
            </a:r>
            <a:r>
              <a:rPr lang="en-US" b="1" dirty="0">
                <a:latin typeface="Corbel" panose="020B0503020204020204" pitchFamily="34" charset="0"/>
              </a:rPr>
              <a:t>one copy </a:t>
            </a:r>
            <a:r>
              <a:rPr lang="en-US" dirty="0">
                <a:latin typeface="Corbel" panose="020B0503020204020204" pitchFamily="34" charset="0"/>
              </a:rPr>
              <a:t>of the </a:t>
            </a:r>
            <a:r>
              <a:rPr lang="en-US" b="1" dirty="0">
                <a:latin typeface="Corbel" panose="020B0503020204020204" pitchFamily="34" charset="0"/>
              </a:rPr>
              <a:t>field exists</a:t>
            </a:r>
            <a:r>
              <a:rPr lang="en-US" dirty="0">
                <a:latin typeface="Corbel" panose="020B0503020204020204" pitchFamily="34" charset="0"/>
              </a:rPr>
              <a:t>, no matter how many instances of the class are created.</a:t>
            </a:r>
          </a:p>
          <a:p>
            <a:r>
              <a:rPr lang="en-US" b="1" dirty="0">
                <a:latin typeface="Corbel" panose="020B0503020204020204" pitchFamily="34" charset="0"/>
              </a:rPr>
              <a:t>2.2.3. final Fields</a:t>
            </a:r>
          </a:p>
          <a:p>
            <a:r>
              <a:rPr lang="en-US" dirty="0">
                <a:latin typeface="Corbel" panose="020B0503020204020204" pitchFamily="34" charset="0"/>
              </a:rPr>
              <a:t>A </a:t>
            </a:r>
            <a:r>
              <a:rPr lang="en-US" b="1" dirty="0">
                <a:latin typeface="Corbel" panose="020B0503020204020204" pitchFamily="34" charset="0"/>
              </a:rPr>
              <a:t>final variable </a:t>
            </a:r>
            <a:r>
              <a:rPr lang="en-US" dirty="0">
                <a:latin typeface="Corbel" panose="020B0503020204020204" pitchFamily="34" charset="0"/>
              </a:rPr>
              <a:t>is one whose value </a:t>
            </a:r>
            <a:r>
              <a:rPr lang="en-US" b="1" dirty="0">
                <a:latin typeface="Corbel" panose="020B0503020204020204" pitchFamily="34" charset="0"/>
              </a:rPr>
              <a:t>cannot be changed after it has been initialized </a:t>
            </a:r>
            <a:r>
              <a:rPr lang="en-US" dirty="0">
                <a:latin typeface="Corbel" panose="020B0503020204020204" pitchFamily="34" charset="0"/>
              </a:rPr>
              <a:t>any attempt to assign to such a field will produce a compile-time error. We have seen final fields used to define named constants because constants don't change value</a:t>
            </a:r>
            <a:endParaRPr lang="en-US" b="1" i="1" dirty="0">
              <a:latin typeface="Corbel" panose="020B0503020204020204" pitchFamily="34" charset="0"/>
            </a:endParaRPr>
          </a:p>
        </p:txBody>
      </p:sp>
      <p:pic>
        <p:nvPicPr>
          <p:cNvPr id="7" name="Picture 6"/>
          <p:cNvPicPr>
            <a:picLocks noChangeAspect="1"/>
          </p:cNvPicPr>
          <p:nvPr/>
        </p:nvPicPr>
        <p:blipFill>
          <a:blip r:embed="rId3"/>
          <a:stretch>
            <a:fillRect/>
          </a:stretch>
        </p:blipFill>
        <p:spPr>
          <a:xfrm>
            <a:off x="7758112" y="1411942"/>
            <a:ext cx="4123507" cy="5214002"/>
          </a:xfrm>
          <a:prstGeom prst="rect">
            <a:avLst/>
          </a:prstGeom>
        </p:spPr>
      </p:pic>
    </p:spTree>
    <p:extLst>
      <p:ext uri="{BB962C8B-B14F-4D97-AF65-F5344CB8AC3E}">
        <p14:creationId xmlns:p14="http://schemas.microsoft.com/office/powerpoint/2010/main" val="1045731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A class on Class</a:t>
            </a:r>
          </a:p>
        </p:txBody>
      </p:sp>
      <p:pic>
        <p:nvPicPr>
          <p:cNvPr id="4" name="Content Placeholder 3">
            <a:extLst>
              <a:ext uri="{FF2B5EF4-FFF2-40B4-BE49-F238E27FC236}">
                <a16:creationId xmlns:a16="http://schemas.microsoft.com/office/drawing/2014/main" id="{C948B69F-3865-468B-8463-96BA21ACA0E1}"/>
              </a:ext>
            </a:extLst>
          </p:cNvPr>
          <p:cNvPicPr>
            <a:picLocks noGrp="1" noChangeAspect="1"/>
          </p:cNvPicPr>
          <p:nvPr>
            <p:ph idx="1"/>
          </p:nvPr>
        </p:nvPicPr>
        <p:blipFill>
          <a:blip r:embed="rId3"/>
          <a:stretch>
            <a:fillRect/>
          </a:stretch>
        </p:blipFill>
        <p:spPr>
          <a:xfrm>
            <a:off x="1104899" y="1426506"/>
            <a:ext cx="10252213" cy="5061296"/>
          </a:xfrm>
          <a:prstGeom prst="rect">
            <a:avLst/>
          </a:prstGeom>
        </p:spPr>
      </p:pic>
    </p:spTree>
    <p:extLst>
      <p:ext uri="{BB962C8B-B14F-4D97-AF65-F5344CB8AC3E}">
        <p14:creationId xmlns:p14="http://schemas.microsoft.com/office/powerpoint/2010/main" val="374716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Back to the class</a:t>
            </a:r>
          </a:p>
        </p:txBody>
      </p:sp>
      <p:sp>
        <p:nvSpPr>
          <p:cNvPr id="3" name="Content Placeholder 2"/>
          <p:cNvSpPr>
            <a:spLocks noGrp="1"/>
          </p:cNvSpPr>
          <p:nvPr>
            <p:ph idx="1"/>
          </p:nvPr>
        </p:nvSpPr>
        <p:spPr>
          <a:xfrm>
            <a:off x="374718" y="1469091"/>
            <a:ext cx="11241019" cy="4975412"/>
          </a:xfrm>
        </p:spPr>
        <p:txBody>
          <a:bodyPr>
            <a:noAutofit/>
          </a:bodyPr>
          <a:lstStyle/>
          <a:p>
            <a:pPr marL="171450" lvl="1" indent="0">
              <a:lnSpc>
                <a:spcPct val="150000"/>
              </a:lnSpc>
              <a:buNone/>
            </a:pPr>
            <a:r>
              <a:rPr lang="en-US" sz="2000" dirty="0">
                <a:latin typeface="Corbel" panose="020B0503020204020204" pitchFamily="34" charset="0"/>
              </a:rPr>
              <a:t>You may have noticed that the Bicycle class does not contain a main method. </a:t>
            </a:r>
          </a:p>
          <a:p>
            <a:pPr marL="171450" lvl="1" indent="0">
              <a:lnSpc>
                <a:spcPct val="150000"/>
              </a:lnSpc>
              <a:buNone/>
            </a:pPr>
            <a:r>
              <a:rPr lang="en-US" sz="2000" dirty="0">
                <a:latin typeface="Corbel" panose="020B0503020204020204" pitchFamily="34" charset="0"/>
              </a:rPr>
              <a:t>That's because it's not a complete application; it's just the blueprint for bicycles that might be used in an application. </a:t>
            </a:r>
          </a:p>
          <a:p>
            <a:pPr marL="171450" lvl="1" indent="0">
              <a:lnSpc>
                <a:spcPct val="150000"/>
              </a:lnSpc>
              <a:buNone/>
            </a:pPr>
            <a:r>
              <a:rPr lang="en-US" sz="2000" dirty="0">
                <a:latin typeface="Corbel" panose="020B0503020204020204" pitchFamily="34" charset="0"/>
              </a:rPr>
              <a:t>The responsibility of creating and using new Bicycle objects belongs to some other class in your application.</a:t>
            </a:r>
          </a:p>
          <a:p>
            <a:pPr marL="171450" lvl="1" indent="0">
              <a:lnSpc>
                <a:spcPct val="150000"/>
              </a:lnSpc>
              <a:buNone/>
            </a:pPr>
            <a:r>
              <a:rPr lang="en-US" sz="2000" dirty="0">
                <a:latin typeface="Corbel" panose="020B0503020204020204" pitchFamily="34" charset="0"/>
              </a:rPr>
              <a:t>Here's a BicycleDemo class that creates two separate Bicycle objects and invokes their methods:</a:t>
            </a:r>
            <a:endParaRPr lang="en-US" dirty="0">
              <a:latin typeface="Corbel" panose="020B0503020204020204" pitchFamily="34" charset="0"/>
            </a:endParaRPr>
          </a:p>
        </p:txBody>
      </p:sp>
    </p:spTree>
    <p:extLst>
      <p:ext uri="{BB962C8B-B14F-4D97-AF65-F5344CB8AC3E}">
        <p14:creationId xmlns:p14="http://schemas.microsoft.com/office/powerpoint/2010/main" val="3684496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The Genesis, Let there be Objects</a:t>
            </a:r>
          </a:p>
        </p:txBody>
      </p:sp>
      <p:pic>
        <p:nvPicPr>
          <p:cNvPr id="5" name="Picture 4"/>
          <p:cNvPicPr>
            <a:picLocks noChangeAspect="1"/>
          </p:cNvPicPr>
          <p:nvPr/>
        </p:nvPicPr>
        <p:blipFill>
          <a:blip r:embed="rId3"/>
          <a:stretch>
            <a:fillRect/>
          </a:stretch>
        </p:blipFill>
        <p:spPr>
          <a:xfrm>
            <a:off x="7115175" y="1469089"/>
            <a:ext cx="4700589" cy="5288531"/>
          </a:xfrm>
          <a:prstGeom prst="rect">
            <a:avLst/>
          </a:prstGeom>
        </p:spPr>
      </p:pic>
      <p:pic>
        <p:nvPicPr>
          <p:cNvPr id="6" name="Content Placeholder 5"/>
          <p:cNvPicPr>
            <a:picLocks noGrp="1" noChangeAspect="1"/>
          </p:cNvPicPr>
          <p:nvPr>
            <p:ph idx="1"/>
          </p:nvPr>
        </p:nvPicPr>
        <p:blipFill>
          <a:blip r:embed="rId4"/>
          <a:stretch>
            <a:fillRect/>
          </a:stretch>
        </p:blipFill>
        <p:spPr>
          <a:xfrm>
            <a:off x="790574" y="1469089"/>
            <a:ext cx="4886383" cy="5288531"/>
          </a:xfrm>
          <a:prstGeom prst="rect">
            <a:avLst/>
          </a:prstGeom>
        </p:spPr>
      </p:pic>
      <p:sp>
        <p:nvSpPr>
          <p:cNvPr id="7" name="Right Arrow 6"/>
          <p:cNvSpPr/>
          <p:nvPr/>
        </p:nvSpPr>
        <p:spPr>
          <a:xfrm>
            <a:off x="6095241" y="3514725"/>
            <a:ext cx="1019934" cy="8715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290500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Questions ?</a:t>
            </a:r>
          </a:p>
        </p:txBody>
      </p:sp>
      <p:sp>
        <p:nvSpPr>
          <p:cNvPr id="3" name="Subtitle 2"/>
          <p:cNvSpPr>
            <a:spLocks noGrp="1"/>
          </p:cNvSpPr>
          <p:nvPr>
            <p:ph type="subTitle" idx="1"/>
          </p:nvPr>
        </p:nvSpPr>
        <p:spPr/>
        <p:txBody>
          <a:bodyPr/>
          <a:lstStyle/>
          <a:p>
            <a:r>
              <a:rPr lang="en-US" dirty="0"/>
              <a:t>You can contact me @</a:t>
            </a:r>
          </a:p>
          <a:p>
            <a:r>
              <a:rPr lang="en-US" dirty="0">
                <a:hlinkClick r:id="rId2"/>
              </a:rPr>
              <a:t>avadekkedhil@wilp.bits-pilani.ac.in</a:t>
            </a:r>
            <a:endParaRPr lang="en-US" dirty="0"/>
          </a:p>
          <a:p>
            <a:r>
              <a:rPr lang="en-US" dirty="0"/>
              <a:t>9881300394</a:t>
            </a:r>
          </a:p>
        </p:txBody>
      </p:sp>
      <p:pic>
        <p:nvPicPr>
          <p:cNvPr id="5" name="Picture Placeholder 4"/>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4527" r="14527"/>
          <a:stretch>
            <a:fillRect/>
          </a:stretch>
        </p:blipFill>
        <p:spPr/>
      </p:pic>
    </p:spTree>
    <p:extLst>
      <p:ext uri="{BB962C8B-B14F-4D97-AF65-F5344CB8AC3E}">
        <p14:creationId xmlns:p14="http://schemas.microsoft.com/office/powerpoint/2010/main" val="411076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schemas.microsoft.com/office/2006/metadata/properties"/>
    <ds:schemaRef ds:uri="http://schemas.microsoft.com/office/infopath/2007/PartnerControls"/>
    <ds:schemaRef ds:uri="4873beb7-5857-4685-be1f-d57550cc96cc"/>
  </ds:schemaRefs>
</ds:datastoreItem>
</file>

<file path=docProps/app.xml><?xml version="1.0" encoding="utf-8"?>
<Properties xmlns="http://schemas.openxmlformats.org/officeDocument/2006/extended-properties" xmlns:vt="http://schemas.openxmlformats.org/officeDocument/2006/docPropsVTypes">
  <TotalTime>676</TotalTime>
  <Words>3761</Words>
  <Application>Microsoft Office PowerPoint</Application>
  <PresentationFormat>Widescreen</PresentationFormat>
  <Paragraphs>371</Paragraphs>
  <Slides>47</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Corbel</vt:lpstr>
      <vt:lpstr>Euphemia</vt:lpstr>
      <vt:lpstr>Plantagenet Cherokee</vt:lpstr>
      <vt:lpstr>Wingdings</vt:lpstr>
      <vt:lpstr>Wingdings 2</vt:lpstr>
      <vt:lpstr>Academic Literature 16x9</vt:lpstr>
      <vt:lpstr>Object Oriented Programming &amp; Design</vt:lpstr>
      <vt:lpstr>Agenda</vt:lpstr>
      <vt:lpstr>Introduction</vt:lpstr>
      <vt:lpstr>Objective of this course</vt:lpstr>
      <vt:lpstr>Our OOPD Sojourn</vt:lpstr>
      <vt:lpstr>B2B : Back to Basics – A quick refresher </vt:lpstr>
      <vt:lpstr>B2B : Back to Basics – A quick refresher </vt:lpstr>
      <vt:lpstr>B2B : Back to Basics – A quick refresher </vt:lpstr>
      <vt:lpstr>B2B : Back to Basics – A quick refresher </vt:lpstr>
      <vt:lpstr>B2B : Back to Basics – A quick refresher </vt:lpstr>
      <vt:lpstr>B2B : Back to Basics – A quick refresher </vt:lpstr>
      <vt:lpstr>B2B : Back to Basics – A quick refresher </vt:lpstr>
      <vt:lpstr>The Integrated Development Environment - IDE</vt:lpstr>
      <vt:lpstr>Eclipse IDE</vt:lpstr>
      <vt:lpstr>Eclipse IDE</vt:lpstr>
      <vt:lpstr>Error Types</vt:lpstr>
      <vt:lpstr>Debugging Features</vt:lpstr>
      <vt:lpstr>Breakpoint Overview</vt:lpstr>
      <vt:lpstr>Breakpoint Overview</vt:lpstr>
      <vt:lpstr>Stepping</vt:lpstr>
      <vt:lpstr>Stepping</vt:lpstr>
      <vt:lpstr>Breakpoint Overview</vt:lpstr>
      <vt:lpstr>Step Filtering</vt:lpstr>
      <vt:lpstr>Watch Points</vt:lpstr>
      <vt:lpstr>I - OBJECT </vt:lpstr>
      <vt:lpstr>Let’s get Started : The Object in OOP Explained</vt:lpstr>
      <vt:lpstr>Let’s get Started : The Object in OOP Explained</vt:lpstr>
      <vt:lpstr>Let’s get Started : The Object in OOP Explained</vt:lpstr>
      <vt:lpstr>Let’s get Started : The Object in OOP Explained</vt:lpstr>
      <vt:lpstr>Let’s get Started : The Object in OOP Explained</vt:lpstr>
      <vt:lpstr>B2P : Back to the Present </vt:lpstr>
      <vt:lpstr>Let’s get Started </vt:lpstr>
      <vt:lpstr>Let’s get Started </vt:lpstr>
      <vt:lpstr>Let’s get Started : Object Advantage</vt:lpstr>
      <vt:lpstr>Let’s get Started : Your first taste of Java</vt:lpstr>
      <vt:lpstr>Let’s get Started : A class on Class</vt:lpstr>
      <vt:lpstr>Let’s get Started : Still, why do we need Class</vt:lpstr>
      <vt:lpstr>Let’s get Started : First Class</vt:lpstr>
      <vt:lpstr>Let’s get Started : Class Constituents</vt:lpstr>
      <vt:lpstr>Let’s get Started : Class Modifiers</vt:lpstr>
      <vt:lpstr>Let’s get Started : Class Members (Variables)</vt:lpstr>
      <vt:lpstr>Let’s get Started : Class Modifiers</vt:lpstr>
      <vt:lpstr>Let’s get Started : Class Members (Variables)</vt:lpstr>
      <vt:lpstr>Let’s get Started : A class on Class</vt:lpstr>
      <vt:lpstr>Let’s get Started : Back to the class</vt:lpstr>
      <vt:lpstr>Let’s get Started : The Genesis, Let there be Objects</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&amp; Design</dc:title>
  <dc:creator>Arun Vadekkedhil</dc:creator>
  <cp:lastModifiedBy>Arun Vadekkedhil</cp:lastModifiedBy>
  <cp:revision>1</cp:revision>
  <dcterms:created xsi:type="dcterms:W3CDTF">2019-10-08T13:41:25Z</dcterms:created>
  <dcterms:modified xsi:type="dcterms:W3CDTF">2019-10-20T00:54:46Z</dcterms:modified>
</cp:coreProperties>
</file>