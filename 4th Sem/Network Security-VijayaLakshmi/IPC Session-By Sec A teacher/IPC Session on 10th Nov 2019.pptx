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Override PartName="/ppt/tags/tag7.xml" ContentType="application/vnd.openxmlformats-officedocument.presentationml.tags+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98"/>
  </p:notesMasterIdLst>
  <p:sldIdLst>
    <p:sldId id="279" r:id="rId2"/>
    <p:sldId id="366" r:id="rId3"/>
    <p:sldId id="280" r:id="rId4"/>
    <p:sldId id="278" r:id="rId5"/>
    <p:sldId id="282" r:id="rId6"/>
    <p:sldId id="283" r:id="rId7"/>
    <p:sldId id="284" r:id="rId8"/>
    <p:sldId id="285" r:id="rId9"/>
    <p:sldId id="286" r:id="rId10"/>
    <p:sldId id="287" r:id="rId11"/>
    <p:sldId id="288" r:id="rId12"/>
    <p:sldId id="276"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2" r:id="rId36"/>
    <p:sldId id="311" r:id="rId37"/>
    <p:sldId id="313" r:id="rId38"/>
    <p:sldId id="314" r:id="rId39"/>
    <p:sldId id="315" r:id="rId40"/>
    <p:sldId id="316" r:id="rId41"/>
    <p:sldId id="343" r:id="rId42"/>
    <p:sldId id="344" r:id="rId43"/>
    <p:sldId id="319" r:id="rId44"/>
    <p:sldId id="320" r:id="rId45"/>
    <p:sldId id="363" r:id="rId46"/>
    <p:sldId id="362" r:id="rId47"/>
    <p:sldId id="364" r:id="rId48"/>
    <p:sldId id="360" r:id="rId49"/>
    <p:sldId id="365" r:id="rId50"/>
    <p:sldId id="358" r:id="rId51"/>
    <p:sldId id="361" r:id="rId52"/>
    <p:sldId id="321" r:id="rId53"/>
    <p:sldId id="322" r:id="rId54"/>
    <p:sldId id="323" r:id="rId55"/>
    <p:sldId id="275" r:id="rId56"/>
    <p:sldId id="326" r:id="rId57"/>
    <p:sldId id="327" r:id="rId58"/>
    <p:sldId id="328" r:id="rId59"/>
    <p:sldId id="329" r:id="rId60"/>
    <p:sldId id="330" r:id="rId61"/>
    <p:sldId id="331" r:id="rId62"/>
    <p:sldId id="333" r:id="rId63"/>
    <p:sldId id="334" r:id="rId64"/>
    <p:sldId id="338" r:id="rId65"/>
    <p:sldId id="337" r:id="rId66"/>
    <p:sldId id="339" r:id="rId67"/>
    <p:sldId id="340" r:id="rId68"/>
    <p:sldId id="341" r:id="rId69"/>
    <p:sldId id="342" r:id="rId70"/>
    <p:sldId id="345" r:id="rId71"/>
    <p:sldId id="346" r:id="rId72"/>
    <p:sldId id="347" r:id="rId73"/>
    <p:sldId id="348" r:id="rId74"/>
    <p:sldId id="350" r:id="rId75"/>
    <p:sldId id="351" r:id="rId76"/>
    <p:sldId id="352" r:id="rId77"/>
    <p:sldId id="353" r:id="rId78"/>
    <p:sldId id="354" r:id="rId79"/>
    <p:sldId id="355" r:id="rId80"/>
    <p:sldId id="324" r:id="rId81"/>
    <p:sldId id="258" r:id="rId82"/>
    <p:sldId id="259" r:id="rId83"/>
    <p:sldId id="260" r:id="rId84"/>
    <p:sldId id="261" r:id="rId85"/>
    <p:sldId id="262" r:id="rId86"/>
    <p:sldId id="263" r:id="rId87"/>
    <p:sldId id="264" r:id="rId88"/>
    <p:sldId id="265" r:id="rId89"/>
    <p:sldId id="356" r:id="rId90"/>
    <p:sldId id="266" r:id="rId91"/>
    <p:sldId id="267" r:id="rId92"/>
    <p:sldId id="268" r:id="rId93"/>
    <p:sldId id="270" r:id="rId94"/>
    <p:sldId id="271" r:id="rId95"/>
    <p:sldId id="272" r:id="rId96"/>
    <p:sldId id="273"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0" d="100"/>
          <a:sy n="90" d="100"/>
        </p:scale>
        <p:origin x="-1234" y="-8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4256EF-DB18-4772-A5BF-AD209798CEF9}" type="datetimeFigureOut">
              <a:rPr lang="en-GB" smtClean="0"/>
              <a:pPr/>
              <a:t>08/11/2019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2C97C2-1DEB-4FC3-8400-4A3DA5E5ADFB}"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731C386B-2F82-478D-895F-EC3FE3D4A0B5}" type="slidenum">
              <a:rPr lang="en-US">
                <a:cs typeface="Arial" charset="0"/>
              </a:rPr>
              <a:pPr/>
              <a:t>47</a:t>
            </a:fld>
            <a:endParaRPr lang="en-US">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12C97C2-1DEB-4FC3-8400-4A3DA5E5ADFB}" type="slidenum">
              <a:rPr lang="en-GB" smtClean="0"/>
              <a:pPr/>
              <a:t>67</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12C97C2-1DEB-4FC3-8400-4A3DA5E5ADFB}" type="slidenum">
              <a:rPr lang="en-GB" smtClean="0"/>
              <a:pPr/>
              <a:t>93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12C97C2-1DEB-4FC3-8400-4A3DA5E5ADFB}" type="slidenum">
              <a:rPr lang="en-GB" smtClean="0"/>
              <a:pPr/>
              <a:t>94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12C97C2-1DEB-4FC3-8400-4A3DA5E5ADFB}" type="slidenum">
              <a:rPr lang="en-GB" smtClean="0"/>
              <a:pPr/>
              <a:t>95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12C97C2-1DEB-4FC3-8400-4A3DA5E5ADFB}" type="slidenum">
              <a:rPr lang="en-GB" smtClean="0"/>
              <a:pPr/>
              <a:t>96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11/8/2019</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133599"/>
            <a:ext cx="8153400" cy="1447801"/>
          </a:xfrm>
        </p:spPr>
        <p:txBody>
          <a:bodyPr>
            <a:noAutofit/>
          </a:bodyPr>
          <a:lstStyle/>
          <a:p>
            <a:pPr marL="514350" indent="-514350" algn="ctr">
              <a:lnSpc>
                <a:spcPct val="170000"/>
              </a:lnSpc>
              <a:spcBef>
                <a:spcPts val="0"/>
              </a:spcBef>
            </a:pPr>
            <a:r>
              <a:rPr lang="en-GB" sz="3600" dirty="0" smtClean="0"/>
              <a:t>INTERPROCESS COMMUNICATION </a:t>
            </a:r>
            <a:endParaRPr lang="en-GB" sz="36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
            <a:ext cx="8153400" cy="838200"/>
          </a:xfrm>
        </p:spPr>
        <p:txBody>
          <a:bodyPr>
            <a:noAutofit/>
          </a:bodyPr>
          <a:lstStyle/>
          <a:p>
            <a:pPr marL="514350" indent="-514350" algn="ctr">
              <a:lnSpc>
                <a:spcPct val="170000"/>
              </a:lnSpc>
              <a:spcBef>
                <a:spcPts val="0"/>
              </a:spcBef>
            </a:pPr>
            <a:r>
              <a:rPr lang="en-GB" sz="3600" dirty="0" smtClean="0"/>
              <a:t>fork() in C</a:t>
            </a:r>
          </a:p>
        </p:txBody>
      </p:sp>
      <p:sp>
        <p:nvSpPr>
          <p:cNvPr id="3" name="Subtitle 2"/>
          <p:cNvSpPr>
            <a:spLocks noGrp="1"/>
          </p:cNvSpPr>
          <p:nvPr>
            <p:ph type="subTitle" idx="1"/>
          </p:nvPr>
        </p:nvSpPr>
        <p:spPr>
          <a:xfrm>
            <a:off x="533400" y="609600"/>
            <a:ext cx="8610600" cy="5943600"/>
          </a:xfrm>
        </p:spPr>
        <p:txBody>
          <a:bodyPr>
            <a:noAutofit/>
          </a:bodyPr>
          <a:lstStyle/>
          <a:p>
            <a:pPr marL="514350" indent="-514350">
              <a:lnSpc>
                <a:spcPct val="170000"/>
              </a:lnSpc>
              <a:spcBef>
                <a:spcPts val="0"/>
              </a:spcBef>
              <a:buFont typeface="Wingdings" pitchFamily="2" charset="2"/>
              <a:buChar char="ü"/>
            </a:pPr>
            <a:r>
              <a:rPr lang="en-GB" sz="2800" dirty="0" smtClean="0"/>
              <a:t>Fork system call is used for creating a new process,  called child process, which runs concurrently with the parent process. </a:t>
            </a:r>
          </a:p>
          <a:p>
            <a:pPr marL="514350" indent="-514350">
              <a:lnSpc>
                <a:spcPct val="170000"/>
              </a:lnSpc>
              <a:spcBef>
                <a:spcPts val="0"/>
              </a:spcBef>
              <a:buFont typeface="Wingdings" pitchFamily="2" charset="2"/>
              <a:buChar char="ü"/>
            </a:pPr>
            <a:r>
              <a:rPr lang="en-GB" sz="2800" b="1" i="1" dirty="0" smtClean="0">
                <a:solidFill>
                  <a:srgbClr val="FF0000"/>
                </a:solidFill>
              </a:rPr>
              <a:t>After a new child process is created, both processes will execute the next instruction following the fork() system call. </a:t>
            </a:r>
          </a:p>
          <a:p>
            <a:pPr marL="514350" indent="-514350">
              <a:lnSpc>
                <a:spcPct val="170000"/>
              </a:lnSpc>
              <a:spcBef>
                <a:spcPts val="0"/>
              </a:spcBef>
              <a:buFont typeface="Wingdings" pitchFamily="2" charset="2"/>
              <a:buChar char="ü"/>
            </a:pPr>
            <a:r>
              <a:rPr lang="en-GB" sz="2800" dirty="0" smtClean="0"/>
              <a:t>A child process uses the same PC , same CPU registers, same open files use in the parent process.</a:t>
            </a:r>
          </a:p>
          <a:p>
            <a:pPr marL="514350" indent="-514350">
              <a:lnSpc>
                <a:spcPct val="170000"/>
              </a:lnSpc>
              <a:spcBef>
                <a:spcPts val="0"/>
              </a:spcBef>
              <a:buFont typeface="Wingdings" pitchFamily="2" charset="2"/>
              <a:buChar char="ü"/>
            </a:pPr>
            <a:endParaRPr lang="en-GB" sz="2800" b="1" i="1" dirty="0" smtClean="0">
              <a:solidFill>
                <a:srgbClr val="FF0000"/>
              </a:solidFill>
            </a:endParaRPr>
          </a:p>
          <a:p>
            <a:pPr marL="514350" indent="-514350">
              <a:lnSpc>
                <a:spcPct val="170000"/>
              </a:lnSpc>
              <a:spcBef>
                <a:spcPts val="0"/>
              </a:spcBef>
              <a:buFont typeface="Wingdings" pitchFamily="2" charset="2"/>
              <a:buChar char="ü"/>
            </a:pPr>
            <a:endParaRPr lang="en-GB" sz="2800" b="1" i="1" dirty="0" smtClean="0">
              <a:solidFill>
                <a:srgbClr val="FF0000"/>
              </a:solidFill>
            </a:endParaRPr>
          </a:p>
          <a:p>
            <a:pPr marL="514350" indent="-514350">
              <a:lnSpc>
                <a:spcPct val="170000"/>
              </a:lnSpc>
              <a:spcBef>
                <a:spcPts val="0"/>
              </a:spcBef>
              <a:buFont typeface="Wingdings" pitchFamily="2" charset="2"/>
              <a:buChar char="ü"/>
            </a:pPr>
            <a:endParaRPr lang="en-GB" sz="2800" b="1" i="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76200"/>
            <a:ext cx="8229600" cy="5867400"/>
          </a:xfrm>
        </p:spPr>
        <p:txBody>
          <a:bodyPr>
            <a:noAutofit/>
          </a:bodyPr>
          <a:lstStyle/>
          <a:p>
            <a:pPr marL="514350" indent="-514350">
              <a:lnSpc>
                <a:spcPct val="170000"/>
              </a:lnSpc>
              <a:spcBef>
                <a:spcPts val="0"/>
              </a:spcBef>
              <a:buFont typeface="Wingdings" pitchFamily="2" charset="2"/>
              <a:buChar char="ü"/>
            </a:pPr>
            <a:r>
              <a:rPr lang="en-GB" sz="2800" dirty="0" smtClean="0"/>
              <a:t>It takes no parameters and returns an integer value. Below are different values returned by fork().</a:t>
            </a:r>
          </a:p>
          <a:p>
            <a:pPr marL="514350" indent="-514350">
              <a:lnSpc>
                <a:spcPct val="170000"/>
              </a:lnSpc>
              <a:spcBef>
                <a:spcPts val="0"/>
              </a:spcBef>
              <a:buFont typeface="Wingdings" pitchFamily="2" charset="2"/>
              <a:buChar char="ü"/>
            </a:pPr>
            <a:r>
              <a:rPr lang="en-GB" sz="2800" dirty="0" smtClean="0">
                <a:solidFill>
                  <a:srgbClr val="FF0000"/>
                </a:solidFill>
              </a:rPr>
              <a:t>Negative Value: creation of a child process was unsuccessful.</a:t>
            </a:r>
          </a:p>
          <a:p>
            <a:pPr marL="514350" indent="-514350">
              <a:lnSpc>
                <a:spcPct val="170000"/>
              </a:lnSpc>
              <a:spcBef>
                <a:spcPts val="0"/>
              </a:spcBef>
              <a:buFont typeface="Wingdings" pitchFamily="2" charset="2"/>
              <a:buChar char="ü"/>
            </a:pPr>
            <a:r>
              <a:rPr lang="en-GB" sz="2800" dirty="0" smtClean="0">
                <a:solidFill>
                  <a:srgbClr val="FF0000"/>
                </a:solidFill>
              </a:rPr>
              <a:t>Zero: Returned to the newly created child process.</a:t>
            </a:r>
          </a:p>
          <a:p>
            <a:pPr marL="514350" indent="-514350">
              <a:lnSpc>
                <a:spcPct val="170000"/>
              </a:lnSpc>
              <a:spcBef>
                <a:spcPts val="0"/>
              </a:spcBef>
              <a:buFont typeface="Wingdings" pitchFamily="2" charset="2"/>
              <a:buChar char="ü"/>
            </a:pPr>
            <a:r>
              <a:rPr lang="en-GB" sz="2800" dirty="0" smtClean="0">
                <a:solidFill>
                  <a:srgbClr val="FF0000"/>
                </a:solidFill>
              </a:rPr>
              <a:t>Positive value: Returned to parent or caller. </a:t>
            </a:r>
          </a:p>
          <a:p>
            <a:pPr marL="514350" indent="-514350">
              <a:lnSpc>
                <a:spcPct val="170000"/>
              </a:lnSpc>
              <a:spcBef>
                <a:spcPts val="0"/>
              </a:spcBef>
              <a:buFont typeface="Wingdings" pitchFamily="2" charset="2"/>
              <a:buChar char="ü"/>
            </a:pPr>
            <a:r>
              <a:rPr lang="en-GB" sz="2800" dirty="0" smtClean="0">
                <a:solidFill>
                  <a:srgbClr val="FF0000"/>
                </a:solidFill>
              </a:rPr>
              <a:t>The value contains process ID of newly created child process.</a:t>
            </a:r>
          </a:p>
          <a:p>
            <a:pPr marL="514350" indent="-514350">
              <a:lnSpc>
                <a:spcPct val="170000"/>
              </a:lnSpc>
              <a:spcBef>
                <a:spcPts val="0"/>
              </a:spcBef>
            </a:pPr>
            <a:endParaRPr lang="en-GB" sz="2800" dirty="0" smtClean="0"/>
          </a:p>
          <a:p>
            <a:pPr marL="514350" indent="-514350">
              <a:lnSpc>
                <a:spcPct val="170000"/>
              </a:lnSpc>
              <a:spcBef>
                <a:spcPts val="0"/>
              </a:spcBef>
            </a:pPr>
            <a:endParaRPr lang="en-GB"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381001"/>
            <a:ext cx="8458200" cy="457199"/>
          </a:xfrm>
        </p:spPr>
        <p:txBody>
          <a:bodyPr>
            <a:normAutofit fontScale="90000"/>
          </a:bodyPr>
          <a:lstStyle/>
          <a:p>
            <a:pPr marL="514350" indent="-514350" algn="ctr">
              <a:lnSpc>
                <a:spcPct val="170000"/>
              </a:lnSpc>
              <a:spcBef>
                <a:spcPts val="0"/>
              </a:spcBef>
            </a:pPr>
            <a:r>
              <a:rPr lang="en-GB" sz="3600" dirty="0" smtClean="0"/>
              <a:t>fork() in C</a:t>
            </a:r>
          </a:p>
        </p:txBody>
      </p:sp>
      <p:pic>
        <p:nvPicPr>
          <p:cNvPr id="3074" name="Picture 2" descr="creating a fork process"/>
          <p:cNvPicPr>
            <a:picLocks noChangeAspect="1" noChangeArrowheads="1"/>
          </p:cNvPicPr>
          <p:nvPr/>
        </p:nvPicPr>
        <p:blipFill>
          <a:blip r:embed="rId2" cstate="print"/>
          <a:srcRect/>
          <a:stretch>
            <a:fillRect/>
          </a:stretch>
        </p:blipFill>
        <p:spPr bwMode="auto">
          <a:xfrm>
            <a:off x="1299194" y="1390650"/>
            <a:ext cx="7082806" cy="36385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152400"/>
            <a:ext cx="7696200" cy="6477000"/>
          </a:xfrm>
        </p:spPr>
        <p:txBody>
          <a:bodyPr>
            <a:noAutofit/>
          </a:bodyPr>
          <a:lstStyle/>
          <a:p>
            <a:pPr marL="514350" indent="-514350">
              <a:lnSpc>
                <a:spcPct val="150000"/>
              </a:lnSpc>
              <a:spcBef>
                <a:spcPts val="0"/>
              </a:spcBef>
            </a:pPr>
            <a:r>
              <a:rPr lang="en-GB" sz="2800" dirty="0" smtClean="0">
                <a:solidFill>
                  <a:srgbClr val="FF0000"/>
                </a:solidFill>
              </a:rPr>
              <a:t>Predict The Output Of following Program</a:t>
            </a:r>
            <a:endParaRPr lang="en-GB" sz="2800" dirty="0" smtClean="0"/>
          </a:p>
          <a:p>
            <a:pPr marL="514350" indent="-514350">
              <a:lnSpc>
                <a:spcPct val="150000"/>
              </a:lnSpc>
              <a:spcBef>
                <a:spcPts val="0"/>
              </a:spcBef>
            </a:pPr>
            <a:r>
              <a:rPr lang="en-GB" sz="2800" dirty="0" smtClean="0"/>
              <a:t>#</a:t>
            </a:r>
            <a:r>
              <a:rPr lang="en-GB" sz="2800" dirty="0" smtClean="0"/>
              <a:t>include &lt;</a:t>
            </a:r>
            <a:r>
              <a:rPr lang="en-GB" sz="2800" dirty="0" err="1" smtClean="0"/>
              <a:t>stdio.h</a:t>
            </a:r>
            <a:r>
              <a:rPr lang="en-GB" sz="2800" dirty="0" smtClean="0"/>
              <a:t>&gt; </a:t>
            </a:r>
          </a:p>
          <a:p>
            <a:pPr marL="514350" indent="-514350">
              <a:lnSpc>
                <a:spcPct val="150000"/>
              </a:lnSpc>
              <a:spcBef>
                <a:spcPts val="0"/>
              </a:spcBef>
            </a:pPr>
            <a:r>
              <a:rPr lang="en-GB" sz="2800" dirty="0" smtClean="0"/>
              <a:t>#include &lt;sys/</a:t>
            </a:r>
            <a:r>
              <a:rPr lang="en-GB" sz="2800" dirty="0" err="1" smtClean="0"/>
              <a:t>types.h</a:t>
            </a:r>
            <a:r>
              <a:rPr lang="en-GB" sz="2800" dirty="0" smtClean="0"/>
              <a:t>&gt; </a:t>
            </a:r>
          </a:p>
          <a:p>
            <a:pPr marL="514350" indent="-514350">
              <a:lnSpc>
                <a:spcPct val="150000"/>
              </a:lnSpc>
              <a:spcBef>
                <a:spcPts val="0"/>
              </a:spcBef>
            </a:pPr>
            <a:r>
              <a:rPr lang="en-GB" sz="2800" dirty="0" smtClean="0"/>
              <a:t>#include &lt;</a:t>
            </a:r>
            <a:r>
              <a:rPr lang="en-GB" sz="2800" dirty="0" err="1" smtClean="0"/>
              <a:t>unistd.h</a:t>
            </a:r>
            <a:r>
              <a:rPr lang="en-GB" sz="2800" dirty="0" smtClean="0"/>
              <a:t>&gt; </a:t>
            </a:r>
          </a:p>
          <a:p>
            <a:pPr marL="514350" indent="-514350">
              <a:lnSpc>
                <a:spcPct val="150000"/>
              </a:lnSpc>
              <a:spcBef>
                <a:spcPts val="0"/>
              </a:spcBef>
            </a:pPr>
            <a:r>
              <a:rPr lang="en-GB" sz="2800" dirty="0" smtClean="0"/>
              <a:t>int main() </a:t>
            </a:r>
          </a:p>
          <a:p>
            <a:pPr marL="514350" indent="-514350">
              <a:lnSpc>
                <a:spcPct val="150000"/>
              </a:lnSpc>
              <a:spcBef>
                <a:spcPts val="0"/>
              </a:spcBef>
            </a:pPr>
            <a:r>
              <a:rPr lang="en-GB" sz="2800" dirty="0" smtClean="0"/>
              <a:t>{   </a:t>
            </a:r>
            <a:r>
              <a:rPr lang="en-GB" sz="2800" dirty="0" smtClean="0"/>
              <a:t>//</a:t>
            </a:r>
            <a:r>
              <a:rPr lang="en-GB" sz="2400" dirty="0" smtClean="0"/>
              <a:t> </a:t>
            </a:r>
            <a:r>
              <a:rPr lang="en-GB" sz="2400" dirty="0" smtClean="0"/>
              <a:t>make </a:t>
            </a:r>
            <a:r>
              <a:rPr lang="en-GB" sz="2400" dirty="0" smtClean="0"/>
              <a:t>2 process </a:t>
            </a:r>
            <a:r>
              <a:rPr lang="en-GB" sz="2400" dirty="0" smtClean="0"/>
              <a:t>that run same </a:t>
            </a:r>
            <a:r>
              <a:rPr lang="en-GB" sz="2400" dirty="0" err="1" smtClean="0"/>
              <a:t>prg</a:t>
            </a:r>
            <a:r>
              <a:rPr lang="en-GB" sz="2400" dirty="0" smtClean="0"/>
              <a:t> after this instruction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a:t>
            </a:r>
            <a:r>
              <a:rPr lang="en-GB" sz="2800" dirty="0" err="1" smtClean="0"/>
              <a:t>printf</a:t>
            </a:r>
            <a:r>
              <a:rPr lang="en-GB" sz="2800" dirty="0" smtClean="0"/>
              <a:t>("Hello world!\n"); </a:t>
            </a:r>
          </a:p>
          <a:p>
            <a:pPr marL="514350" indent="-514350">
              <a:lnSpc>
                <a:spcPct val="150000"/>
              </a:lnSpc>
              <a:spcBef>
                <a:spcPts val="0"/>
              </a:spcBef>
            </a:pPr>
            <a:r>
              <a:rPr lang="en-GB" sz="2800" dirty="0" smtClean="0"/>
              <a:t>    return 0; </a:t>
            </a:r>
          </a:p>
          <a:p>
            <a:pPr marL="514350" indent="-514350">
              <a:lnSpc>
                <a:spcPct val="150000"/>
              </a:lnSpc>
              <a:spcBef>
                <a:spcPts val="0"/>
              </a:spcBef>
            </a:pPr>
            <a:r>
              <a:rPr lang="en-GB" sz="2800" dirty="0" smtClean="0"/>
              <a:t>} </a:t>
            </a:r>
            <a:endParaRPr lang="en-GB"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457200"/>
            <a:ext cx="7010400" cy="6096000"/>
          </a:xfrm>
        </p:spPr>
        <p:txBody>
          <a:bodyPr>
            <a:noAutofit/>
          </a:bodyPr>
          <a:lstStyle/>
          <a:p>
            <a:pPr fontAlgn="base"/>
            <a:endParaRPr lang="en-GB" sz="2800" dirty="0" smtClean="0"/>
          </a:p>
          <a:p>
            <a:pPr fontAlgn="base"/>
            <a:endParaRPr lang="en-GB" sz="2800" dirty="0" smtClean="0"/>
          </a:p>
          <a:p>
            <a:pPr fontAlgn="base"/>
            <a:endParaRPr lang="en-GB" sz="2800" dirty="0" smtClean="0"/>
          </a:p>
          <a:p>
            <a:pPr fontAlgn="base"/>
            <a:r>
              <a:rPr lang="en-GB" sz="2800" dirty="0" smtClean="0"/>
              <a:t>Output:</a:t>
            </a:r>
          </a:p>
          <a:p>
            <a:pPr fontAlgn="base"/>
            <a:endParaRPr lang="en-GB" sz="2800" dirty="0" smtClean="0"/>
          </a:p>
          <a:p>
            <a:pPr fontAlgn="base"/>
            <a:r>
              <a:rPr lang="en-GB" sz="2800" dirty="0" smtClean="0"/>
              <a:t>	</a:t>
            </a:r>
            <a:r>
              <a:rPr lang="en-GB" sz="2800" dirty="0" smtClean="0"/>
              <a:t>Hello </a:t>
            </a:r>
            <a:r>
              <a:rPr lang="en-GB" sz="2800" dirty="0" smtClean="0"/>
              <a:t>world!</a:t>
            </a:r>
          </a:p>
          <a:p>
            <a:pPr fontAlgn="base"/>
            <a:r>
              <a:rPr lang="en-GB" sz="2800" dirty="0" smtClean="0"/>
              <a:t>	Hello </a:t>
            </a:r>
            <a:r>
              <a:rPr lang="en-GB" sz="2800" dirty="0" smtClean="0"/>
              <a:t>world! </a:t>
            </a:r>
          </a:p>
          <a:p>
            <a:r>
              <a:rPr lang="en-GB" sz="2800" dirty="0" smtClean="0"/>
              <a:t/>
            </a:r>
            <a:br>
              <a:rPr lang="en-GB" sz="2800" dirty="0" smtClean="0"/>
            </a:br>
            <a:endParaRPr lang="en-GB"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76200"/>
            <a:ext cx="7848600" cy="6477000"/>
          </a:xfrm>
        </p:spPr>
        <p:txBody>
          <a:bodyPr>
            <a:noAutofit/>
          </a:bodyPr>
          <a:lstStyle/>
          <a:p>
            <a:pPr marL="514350" indent="-514350">
              <a:lnSpc>
                <a:spcPct val="150000"/>
              </a:lnSpc>
              <a:spcBef>
                <a:spcPts val="0"/>
              </a:spcBef>
            </a:pPr>
            <a:r>
              <a:rPr lang="en-GB" sz="2800" dirty="0" smtClean="0"/>
              <a:t>#include &lt;</a:t>
            </a:r>
            <a:r>
              <a:rPr lang="en-GB" sz="2800" dirty="0" err="1" smtClean="0"/>
              <a:t>stdio.h</a:t>
            </a:r>
            <a:r>
              <a:rPr lang="en-GB" sz="2800" dirty="0" smtClean="0"/>
              <a:t>&gt; </a:t>
            </a:r>
          </a:p>
          <a:p>
            <a:pPr marL="514350" indent="-514350">
              <a:lnSpc>
                <a:spcPct val="150000"/>
              </a:lnSpc>
              <a:spcBef>
                <a:spcPts val="0"/>
              </a:spcBef>
            </a:pPr>
            <a:r>
              <a:rPr lang="en-GB" sz="2800" dirty="0" smtClean="0"/>
              <a:t>#include &lt;sys/</a:t>
            </a:r>
            <a:r>
              <a:rPr lang="en-GB" sz="2800" dirty="0" err="1" smtClean="0"/>
              <a:t>types.h</a:t>
            </a:r>
            <a:r>
              <a:rPr lang="en-GB" sz="2800" dirty="0" smtClean="0"/>
              <a:t>&gt; </a:t>
            </a:r>
          </a:p>
          <a:p>
            <a:pPr marL="514350" indent="-514350">
              <a:lnSpc>
                <a:spcPct val="150000"/>
              </a:lnSpc>
              <a:spcBef>
                <a:spcPts val="0"/>
              </a:spcBef>
            </a:pPr>
            <a:r>
              <a:rPr lang="en-GB" sz="2800" dirty="0" smtClean="0"/>
              <a:t>int main() </a:t>
            </a:r>
          </a:p>
          <a:p>
            <a:pPr marL="514350" indent="-514350">
              <a:lnSpc>
                <a:spcPct val="150000"/>
              </a:lnSpc>
              <a:spcBef>
                <a:spcPts val="0"/>
              </a:spcBef>
            </a:pPr>
            <a:r>
              <a:rPr lang="en-GB" sz="2800" dirty="0" smtClean="0"/>
              <a:t>{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a:t>
            </a:r>
            <a:r>
              <a:rPr lang="en-GB" sz="2800" dirty="0" err="1" smtClean="0"/>
              <a:t>printf</a:t>
            </a:r>
            <a:r>
              <a:rPr lang="en-GB" sz="2800" dirty="0" smtClean="0"/>
              <a:t>("hello\n"); </a:t>
            </a:r>
          </a:p>
          <a:p>
            <a:pPr marL="514350" indent="-514350">
              <a:lnSpc>
                <a:spcPct val="150000"/>
              </a:lnSpc>
              <a:spcBef>
                <a:spcPts val="0"/>
              </a:spcBef>
            </a:pPr>
            <a:r>
              <a:rPr lang="en-GB" sz="2800" dirty="0" smtClean="0"/>
              <a:t>    return 0; </a:t>
            </a:r>
          </a:p>
          <a:p>
            <a:pPr marL="514350" indent="-514350">
              <a:lnSpc>
                <a:spcPct val="150000"/>
              </a:lnSpc>
              <a:spcBef>
                <a:spcPts val="0"/>
              </a:spcBef>
            </a:pPr>
            <a:r>
              <a:rPr lang="en-GB" sz="2800" dirty="0" smtClean="0"/>
              <a:t>}</a:t>
            </a:r>
            <a:endParaRPr lang="en-GB"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0"/>
            <a:ext cx="7772400" cy="6400800"/>
          </a:xfrm>
        </p:spPr>
        <p:txBody>
          <a:bodyPr>
            <a:noAutofit/>
          </a:bodyPr>
          <a:lstStyle/>
          <a:p>
            <a:pPr fontAlgn="base"/>
            <a:r>
              <a:rPr lang="en-GB" sz="2800" dirty="0" smtClean="0"/>
              <a:t>Output:</a:t>
            </a:r>
          </a:p>
          <a:p>
            <a:pPr fontAlgn="base"/>
            <a:r>
              <a:rPr lang="nn-NO" sz="2800" dirty="0" smtClean="0"/>
              <a:t>hello</a:t>
            </a:r>
          </a:p>
          <a:p>
            <a:pPr fontAlgn="base"/>
            <a:r>
              <a:rPr lang="nn-NO" sz="2800" dirty="0" smtClean="0"/>
              <a:t>hello</a:t>
            </a:r>
          </a:p>
          <a:p>
            <a:pPr fontAlgn="base"/>
            <a:r>
              <a:rPr lang="nn-NO" sz="2800" dirty="0" smtClean="0"/>
              <a:t>hello</a:t>
            </a:r>
          </a:p>
          <a:p>
            <a:pPr fontAlgn="base"/>
            <a:r>
              <a:rPr lang="nn-NO" sz="2800" dirty="0" smtClean="0"/>
              <a:t>hello</a:t>
            </a:r>
          </a:p>
          <a:p>
            <a:pPr fontAlgn="base"/>
            <a:r>
              <a:rPr lang="nn-NO" sz="2800" dirty="0" smtClean="0"/>
              <a:t>hello</a:t>
            </a:r>
          </a:p>
          <a:p>
            <a:pPr fontAlgn="base"/>
            <a:r>
              <a:rPr lang="nn-NO" sz="2800" dirty="0" smtClean="0"/>
              <a:t>hello</a:t>
            </a:r>
          </a:p>
          <a:p>
            <a:pPr fontAlgn="base"/>
            <a:r>
              <a:rPr lang="nn-NO" sz="2800" dirty="0" smtClean="0"/>
              <a:t>hello</a:t>
            </a:r>
          </a:p>
          <a:p>
            <a:pPr fontAlgn="base"/>
            <a:r>
              <a:rPr lang="nn-NO" sz="2800" dirty="0" smtClean="0"/>
              <a:t>Hello</a:t>
            </a:r>
          </a:p>
          <a:p>
            <a:pPr fontAlgn="base">
              <a:spcAft>
                <a:spcPts val="600"/>
              </a:spcAft>
            </a:pPr>
            <a:r>
              <a:rPr lang="en-GB" sz="2800" dirty="0" smtClean="0"/>
              <a:t>Number of times hello printed is equal to number of process created. </a:t>
            </a:r>
          </a:p>
          <a:p>
            <a:pPr fontAlgn="base">
              <a:spcAft>
                <a:spcPts val="600"/>
              </a:spcAft>
            </a:pPr>
            <a:r>
              <a:rPr lang="en-GB" sz="2800" dirty="0" smtClean="0"/>
              <a:t>Total Number of Processes = 2^n where n is number of fork system calls. </a:t>
            </a:r>
          </a:p>
          <a:p>
            <a:pPr fontAlgn="base">
              <a:spcAft>
                <a:spcPts val="600"/>
              </a:spcAft>
            </a:pPr>
            <a:r>
              <a:rPr lang="en-GB" sz="2800" dirty="0" smtClean="0"/>
              <a:t>So here n = 3, </a:t>
            </a:r>
            <a:r>
              <a:rPr lang="en-GB" dirty="0" smtClean="0"/>
              <a:t>2^3</a:t>
            </a:r>
            <a:r>
              <a:rPr lang="en-GB" sz="2800" dirty="0" smtClean="0"/>
              <a:t> = 8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76200"/>
            <a:ext cx="7620000" cy="6477000"/>
          </a:xfrm>
        </p:spPr>
        <p:txBody>
          <a:bodyPr>
            <a:noAutofit/>
          </a:bodyPr>
          <a:lstStyle/>
          <a:p>
            <a:pPr marL="514350" indent="-514350">
              <a:lnSpc>
                <a:spcPct val="150000"/>
              </a:lnSpc>
              <a:spcBef>
                <a:spcPts val="0"/>
              </a:spcBef>
            </a:pPr>
            <a:r>
              <a:rPr lang="en-GB" sz="2800" dirty="0" smtClean="0"/>
              <a:t>fork ();   // Line 1</a:t>
            </a:r>
          </a:p>
          <a:p>
            <a:pPr marL="514350" indent="-514350">
              <a:lnSpc>
                <a:spcPct val="150000"/>
              </a:lnSpc>
              <a:spcBef>
                <a:spcPts val="0"/>
              </a:spcBef>
            </a:pPr>
            <a:r>
              <a:rPr lang="en-GB" sz="2800" dirty="0" smtClean="0"/>
              <a:t>fork ();   // Line 2</a:t>
            </a:r>
          </a:p>
          <a:p>
            <a:pPr marL="514350" indent="-514350">
              <a:lnSpc>
                <a:spcPct val="150000"/>
              </a:lnSpc>
              <a:spcBef>
                <a:spcPts val="0"/>
              </a:spcBef>
            </a:pPr>
            <a:r>
              <a:rPr lang="en-GB" sz="2800" dirty="0" smtClean="0"/>
              <a:t>fork ();   // Line 3</a:t>
            </a:r>
          </a:p>
          <a:p>
            <a:pPr marL="514350" indent="-514350">
              <a:lnSpc>
                <a:spcPct val="150000"/>
              </a:lnSpc>
              <a:spcBef>
                <a:spcPts val="0"/>
              </a:spcBef>
            </a:pPr>
            <a:endParaRPr lang="en-GB" sz="2800" dirty="0" smtClean="0"/>
          </a:p>
          <a:p>
            <a:pPr marL="514350" indent="-514350">
              <a:lnSpc>
                <a:spcPct val="150000"/>
              </a:lnSpc>
              <a:spcBef>
                <a:spcPts val="0"/>
              </a:spcBef>
            </a:pPr>
            <a:r>
              <a:rPr lang="en-GB" sz="2800" dirty="0" smtClean="0"/>
              <a:t>       L1       // There will be 1 child process </a:t>
            </a:r>
          </a:p>
          <a:p>
            <a:pPr marL="514350" indent="-514350">
              <a:lnSpc>
                <a:spcPct val="150000"/>
              </a:lnSpc>
              <a:spcBef>
                <a:spcPts val="0"/>
              </a:spcBef>
            </a:pPr>
            <a:r>
              <a:rPr lang="en-GB" sz="2800" dirty="0" smtClean="0"/>
              <a:t>    /     \     // created by line 1.</a:t>
            </a:r>
          </a:p>
          <a:p>
            <a:pPr marL="514350" indent="-514350">
              <a:lnSpc>
                <a:spcPct val="150000"/>
              </a:lnSpc>
              <a:spcBef>
                <a:spcPts val="0"/>
              </a:spcBef>
            </a:pPr>
            <a:r>
              <a:rPr lang="en-GB" sz="2800" dirty="0" smtClean="0"/>
              <a:t>  L2      </a:t>
            </a:r>
            <a:r>
              <a:rPr lang="en-GB" sz="2800" dirty="0" err="1" smtClean="0"/>
              <a:t>L2</a:t>
            </a:r>
            <a:r>
              <a:rPr lang="en-GB" sz="2800" dirty="0" smtClean="0"/>
              <a:t>    // There will be 2 child processes</a:t>
            </a:r>
          </a:p>
          <a:p>
            <a:pPr marL="514350" indent="-514350">
              <a:lnSpc>
                <a:spcPct val="150000"/>
              </a:lnSpc>
              <a:spcBef>
                <a:spcPts val="0"/>
              </a:spcBef>
            </a:pPr>
            <a:r>
              <a:rPr lang="en-GB" sz="2800" dirty="0" smtClean="0"/>
              <a:t> /  \    /  \   //  created by line 2</a:t>
            </a:r>
          </a:p>
          <a:p>
            <a:pPr marL="514350" indent="-514350">
              <a:lnSpc>
                <a:spcPct val="150000"/>
              </a:lnSpc>
              <a:spcBef>
                <a:spcPts val="0"/>
              </a:spcBef>
            </a:pPr>
            <a:r>
              <a:rPr lang="en-GB" sz="2800" dirty="0" smtClean="0"/>
              <a:t>L3  </a:t>
            </a:r>
            <a:r>
              <a:rPr lang="en-GB" sz="2800" dirty="0" err="1" smtClean="0"/>
              <a:t>L3</a:t>
            </a:r>
            <a:r>
              <a:rPr lang="en-GB" sz="2800" dirty="0" smtClean="0"/>
              <a:t>  </a:t>
            </a:r>
            <a:r>
              <a:rPr lang="en-GB" sz="2800" dirty="0" err="1" smtClean="0"/>
              <a:t>L3</a:t>
            </a:r>
            <a:r>
              <a:rPr lang="en-GB" sz="2800" dirty="0" smtClean="0"/>
              <a:t>  </a:t>
            </a:r>
            <a:r>
              <a:rPr lang="en-GB" sz="2800" dirty="0" err="1" smtClean="0"/>
              <a:t>L3</a:t>
            </a:r>
            <a:r>
              <a:rPr lang="en-GB" sz="2800" dirty="0" smtClean="0"/>
              <a:t>  // There will be 4 child processes </a:t>
            </a:r>
          </a:p>
          <a:p>
            <a:pPr marL="514350" indent="-514350">
              <a:lnSpc>
                <a:spcPct val="150000"/>
              </a:lnSpc>
              <a:spcBef>
                <a:spcPts val="0"/>
              </a:spcBef>
            </a:pPr>
            <a:r>
              <a:rPr lang="en-GB" sz="2800" dirty="0" smtClean="0"/>
              <a:t>                // created by line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76200"/>
            <a:ext cx="7696200" cy="6477000"/>
          </a:xfrm>
        </p:spPr>
        <p:txBody>
          <a:bodyPr>
            <a:noAutofit/>
          </a:bodyPr>
          <a:lstStyle/>
          <a:p>
            <a:pPr marL="514350" indent="-514350">
              <a:lnSpc>
                <a:spcPct val="150000"/>
              </a:lnSpc>
              <a:spcBef>
                <a:spcPts val="0"/>
              </a:spcBef>
              <a:buFont typeface="Wingdings" pitchFamily="2" charset="2"/>
              <a:buChar char="Ø"/>
            </a:pPr>
            <a:r>
              <a:rPr lang="en-GB" sz="2800" dirty="0" smtClean="0"/>
              <a:t>So there are total eight processes (new child processes and one original process).</a:t>
            </a:r>
          </a:p>
          <a:p>
            <a:pPr marL="514350" indent="-514350">
              <a:lnSpc>
                <a:spcPct val="150000"/>
              </a:lnSpc>
              <a:spcBef>
                <a:spcPts val="0"/>
              </a:spcBef>
              <a:buFont typeface="Wingdings" pitchFamily="2" charset="2"/>
              <a:buChar char="Ø"/>
            </a:pPr>
            <a:r>
              <a:rPr lang="en-GB" sz="2800" dirty="0" smtClean="0"/>
              <a:t>If we want to represent the relationship between the processes as a tree </a:t>
            </a:r>
            <a:r>
              <a:rPr lang="en-GB" sz="2800" dirty="0" err="1" smtClean="0"/>
              <a:t>hyerarchy</a:t>
            </a:r>
            <a:r>
              <a:rPr lang="en-GB" sz="2800" dirty="0" smtClean="0"/>
              <a:t> it would be the following:</a:t>
            </a:r>
          </a:p>
          <a:p>
            <a:pPr marL="514350" indent="-514350">
              <a:lnSpc>
                <a:spcPct val="150000"/>
              </a:lnSpc>
              <a:spcBef>
                <a:spcPts val="0"/>
              </a:spcBef>
              <a:buFont typeface="Wingdings" pitchFamily="2" charset="2"/>
              <a:buChar char="Ø"/>
            </a:pPr>
            <a:r>
              <a:rPr lang="en-GB" sz="2800" dirty="0" smtClean="0">
                <a:solidFill>
                  <a:srgbClr val="FF0000"/>
                </a:solidFill>
              </a:rPr>
              <a:t>The main process: P0</a:t>
            </a:r>
          </a:p>
          <a:p>
            <a:pPr marL="514350" indent="-514350">
              <a:lnSpc>
                <a:spcPct val="150000"/>
              </a:lnSpc>
              <a:spcBef>
                <a:spcPts val="0"/>
              </a:spcBef>
              <a:buFont typeface="Wingdings" pitchFamily="2" charset="2"/>
              <a:buChar char="Ø"/>
            </a:pPr>
            <a:r>
              <a:rPr lang="en-GB" sz="2800" dirty="0" smtClean="0">
                <a:solidFill>
                  <a:srgbClr val="FF0000"/>
                </a:solidFill>
              </a:rPr>
              <a:t>Processes created by the 1st fork: P1</a:t>
            </a:r>
          </a:p>
          <a:p>
            <a:pPr marL="514350" indent="-514350">
              <a:lnSpc>
                <a:spcPct val="150000"/>
              </a:lnSpc>
              <a:spcBef>
                <a:spcPts val="0"/>
              </a:spcBef>
              <a:buFont typeface="Wingdings" pitchFamily="2" charset="2"/>
              <a:buChar char="Ø"/>
            </a:pPr>
            <a:r>
              <a:rPr lang="en-GB" sz="2800" dirty="0" smtClean="0">
                <a:solidFill>
                  <a:srgbClr val="FF0000"/>
                </a:solidFill>
              </a:rPr>
              <a:t>Processes created by the 2nd fork: P2, P3</a:t>
            </a:r>
          </a:p>
          <a:p>
            <a:pPr marL="514350" indent="-514350">
              <a:lnSpc>
                <a:spcPct val="150000"/>
              </a:lnSpc>
              <a:spcBef>
                <a:spcPts val="0"/>
              </a:spcBef>
              <a:buFont typeface="Wingdings" pitchFamily="2" charset="2"/>
              <a:buChar char="Ø"/>
            </a:pPr>
            <a:r>
              <a:rPr lang="en-GB" sz="2800" dirty="0" smtClean="0">
                <a:solidFill>
                  <a:srgbClr val="FF0000"/>
                </a:solidFill>
              </a:rPr>
              <a:t>Processes created by the 3rd fork: P4, P5, P6, P7</a:t>
            </a:r>
          </a:p>
          <a:p>
            <a:pPr marL="514350" indent="-514350">
              <a:lnSpc>
                <a:spcPct val="150000"/>
              </a:lnSpc>
              <a:spcBef>
                <a:spcPts val="0"/>
              </a:spcBef>
              <a:buFont typeface="Wingdings" pitchFamily="2" charset="2"/>
              <a:buChar char="Ø"/>
            </a:pPr>
            <a:endParaRPr lang="en-GB" sz="2800" dirty="0" smtClean="0">
              <a:solidFill>
                <a:srgbClr val="FF0000"/>
              </a:solidFill>
            </a:endParaRPr>
          </a:p>
          <a:p>
            <a:pPr marL="514350" indent="-514350">
              <a:lnSpc>
                <a:spcPct val="150000"/>
              </a:lnSpc>
              <a:spcBef>
                <a:spcPts val="0"/>
              </a:spcBef>
              <a:buFont typeface="Wingdings" pitchFamily="2" charset="2"/>
              <a:buChar char="Ø"/>
            </a:pPr>
            <a:endParaRPr lang="en-GB" sz="2800" dirty="0" smtClean="0">
              <a:solidFill>
                <a:srgbClr val="FF0000"/>
              </a:solidFill>
            </a:endParaRPr>
          </a:p>
          <a:p>
            <a:pPr marL="514350" indent="-514350">
              <a:lnSpc>
                <a:spcPct val="150000"/>
              </a:lnSpc>
              <a:spcBef>
                <a:spcPts val="0"/>
              </a:spcBef>
              <a:buFont typeface="Wingdings" pitchFamily="2" charset="2"/>
              <a:buChar char="Ø"/>
            </a:pPr>
            <a:r>
              <a:rPr lang="en-GB" sz="2800" dirty="0" smtClean="0">
                <a:solidFill>
                  <a:srgbClr val="FF0000"/>
                </a:solidFill>
              </a:rPr>
              <a:t> </a:t>
            </a:r>
          </a:p>
          <a:p>
            <a:pPr marL="514350" indent="-514350">
              <a:lnSpc>
                <a:spcPct val="150000"/>
              </a:lnSpc>
              <a:spcBef>
                <a:spcPts val="0"/>
              </a:spcBef>
              <a:buFont typeface="Wingdings" pitchFamily="2" charset="2"/>
              <a:buChar char="Ø"/>
            </a:pPr>
            <a:endParaRPr lang="en-GB" sz="28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52600" y="1066800"/>
            <a:ext cx="7391400" cy="5486400"/>
          </a:xfrm>
        </p:spPr>
        <p:txBody>
          <a:bodyPr>
            <a:noAutofit/>
          </a:bodyPr>
          <a:lstStyle/>
          <a:p>
            <a:pPr marL="514350" indent="-514350">
              <a:lnSpc>
                <a:spcPct val="150000"/>
              </a:lnSpc>
              <a:spcBef>
                <a:spcPts val="0"/>
              </a:spcBef>
            </a:pPr>
            <a:r>
              <a:rPr lang="en-GB" sz="2800" dirty="0" smtClean="0"/>
              <a:t>           P0</a:t>
            </a:r>
          </a:p>
          <a:p>
            <a:pPr marL="514350" indent="-514350">
              <a:lnSpc>
                <a:spcPct val="150000"/>
              </a:lnSpc>
              <a:spcBef>
                <a:spcPts val="0"/>
              </a:spcBef>
            </a:pPr>
            <a:r>
              <a:rPr lang="en-GB" sz="2800" dirty="0" smtClean="0"/>
              <a:t>         /   |   \</a:t>
            </a:r>
          </a:p>
          <a:p>
            <a:pPr marL="514350" indent="-514350">
              <a:lnSpc>
                <a:spcPct val="150000"/>
              </a:lnSpc>
              <a:spcBef>
                <a:spcPts val="0"/>
              </a:spcBef>
            </a:pPr>
            <a:r>
              <a:rPr lang="en-GB" sz="2800" dirty="0" smtClean="0"/>
              <a:t>       P1    P4   P2</a:t>
            </a:r>
          </a:p>
          <a:p>
            <a:pPr marL="514350" indent="-514350">
              <a:lnSpc>
                <a:spcPct val="150000"/>
              </a:lnSpc>
              <a:spcBef>
                <a:spcPts val="0"/>
              </a:spcBef>
            </a:pPr>
            <a:r>
              <a:rPr lang="en-GB" sz="2800" dirty="0" smtClean="0"/>
              <a:t>      /  \          \</a:t>
            </a:r>
          </a:p>
          <a:p>
            <a:pPr marL="514350" indent="-514350">
              <a:lnSpc>
                <a:spcPct val="150000"/>
              </a:lnSpc>
              <a:spcBef>
                <a:spcPts val="0"/>
              </a:spcBef>
            </a:pPr>
            <a:r>
              <a:rPr lang="en-GB" sz="2800" dirty="0" smtClean="0"/>
              <a:t>    P3    P6         P5</a:t>
            </a:r>
          </a:p>
          <a:p>
            <a:pPr marL="514350" indent="-514350">
              <a:lnSpc>
                <a:spcPct val="150000"/>
              </a:lnSpc>
              <a:spcBef>
                <a:spcPts val="0"/>
              </a:spcBef>
            </a:pPr>
            <a:r>
              <a:rPr lang="en-GB" sz="2800" dirty="0" smtClean="0"/>
              <a:t>   /</a:t>
            </a:r>
          </a:p>
          <a:p>
            <a:pPr marL="514350" indent="-514350">
              <a:lnSpc>
                <a:spcPct val="150000"/>
              </a:lnSpc>
              <a:spcBef>
                <a:spcPts val="0"/>
              </a:spcBef>
            </a:pPr>
            <a:r>
              <a:rPr lang="en-GB" sz="2800" dirty="0" smtClean="0"/>
              <a:t> P7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76200"/>
            <a:ext cx="8382000" cy="6705600"/>
          </a:xfrm>
        </p:spPr>
        <p:txBody>
          <a:bodyPr>
            <a:noAutofit/>
          </a:bodyPr>
          <a:lstStyle/>
          <a:p>
            <a:pPr marL="514350" indent="-514350">
              <a:spcAft>
                <a:spcPts val="600"/>
              </a:spcAft>
            </a:pPr>
            <a:r>
              <a:rPr lang="en-GB" dirty="0" smtClean="0"/>
              <a:t>#include &lt;</a:t>
            </a:r>
            <a:r>
              <a:rPr lang="en-GB" dirty="0" err="1" smtClean="0"/>
              <a:t>stdio.h</a:t>
            </a:r>
            <a:r>
              <a:rPr lang="en-GB" dirty="0" smtClean="0"/>
              <a:t>&gt; </a:t>
            </a:r>
          </a:p>
          <a:p>
            <a:pPr marL="514350" indent="-514350">
              <a:spcAft>
                <a:spcPts val="600"/>
              </a:spcAft>
            </a:pPr>
            <a:r>
              <a:rPr lang="en-GB" dirty="0" smtClean="0"/>
              <a:t>#include &lt;sys/</a:t>
            </a:r>
            <a:r>
              <a:rPr lang="en-GB" dirty="0" err="1" smtClean="0"/>
              <a:t>types.h</a:t>
            </a:r>
            <a:r>
              <a:rPr lang="en-GB" dirty="0" smtClean="0"/>
              <a:t>&gt; </a:t>
            </a:r>
          </a:p>
          <a:p>
            <a:pPr marL="514350" indent="-514350">
              <a:spcAft>
                <a:spcPts val="600"/>
              </a:spcAft>
            </a:pPr>
            <a:r>
              <a:rPr lang="en-GB" dirty="0" smtClean="0"/>
              <a:t>#include &lt;</a:t>
            </a:r>
            <a:r>
              <a:rPr lang="en-GB" dirty="0" err="1" smtClean="0"/>
              <a:t>unistd.h</a:t>
            </a:r>
            <a:r>
              <a:rPr lang="en-GB" dirty="0" smtClean="0"/>
              <a:t>&gt; </a:t>
            </a:r>
          </a:p>
          <a:p>
            <a:pPr marL="514350" indent="-514350">
              <a:spcAft>
                <a:spcPts val="600"/>
              </a:spcAft>
            </a:pPr>
            <a:r>
              <a:rPr lang="en-GB" dirty="0" smtClean="0"/>
              <a:t>void </a:t>
            </a:r>
            <a:r>
              <a:rPr lang="en-GB" dirty="0" err="1" smtClean="0"/>
              <a:t>forkexample</a:t>
            </a:r>
            <a:r>
              <a:rPr lang="en-GB" dirty="0" smtClean="0"/>
              <a:t>() </a:t>
            </a:r>
          </a:p>
          <a:p>
            <a:pPr marL="514350" indent="-514350">
              <a:spcAft>
                <a:spcPts val="600"/>
              </a:spcAft>
            </a:pPr>
            <a:r>
              <a:rPr lang="en-GB" dirty="0" smtClean="0"/>
              <a:t>{ </a:t>
            </a:r>
          </a:p>
          <a:p>
            <a:pPr marL="514350" indent="-514350">
              <a:spcAft>
                <a:spcPts val="600"/>
              </a:spcAft>
            </a:pPr>
            <a:r>
              <a:rPr lang="en-GB" dirty="0" smtClean="0"/>
              <a:t>if (fork() == 0) // child process because return value zero </a:t>
            </a:r>
          </a:p>
          <a:p>
            <a:pPr marL="514350" indent="-514350">
              <a:spcAft>
                <a:spcPts val="600"/>
              </a:spcAft>
            </a:pPr>
            <a:r>
              <a:rPr lang="en-GB" dirty="0" smtClean="0"/>
              <a:t>        </a:t>
            </a:r>
            <a:r>
              <a:rPr lang="en-GB" dirty="0" err="1" smtClean="0"/>
              <a:t>printf</a:t>
            </a:r>
            <a:r>
              <a:rPr lang="en-GB" dirty="0" smtClean="0"/>
              <a:t>("Hello from Child!\n");   </a:t>
            </a:r>
          </a:p>
          <a:p>
            <a:pPr marL="514350" indent="-514350">
              <a:spcAft>
                <a:spcPts val="600"/>
              </a:spcAft>
            </a:pPr>
            <a:r>
              <a:rPr lang="en-GB" dirty="0" smtClean="0"/>
              <a:t>else</a:t>
            </a:r>
          </a:p>
          <a:p>
            <a:pPr marL="514350" indent="-514350">
              <a:spcAft>
                <a:spcPts val="600"/>
              </a:spcAft>
            </a:pPr>
            <a:r>
              <a:rPr lang="en-GB" dirty="0" smtClean="0"/>
              <a:t>        </a:t>
            </a:r>
            <a:r>
              <a:rPr lang="en-GB" dirty="0" err="1" smtClean="0"/>
              <a:t>printf</a:t>
            </a:r>
            <a:r>
              <a:rPr lang="en-GB" dirty="0" smtClean="0"/>
              <a:t>("Hello from Parent!\n");    } </a:t>
            </a:r>
          </a:p>
          <a:p>
            <a:pPr marL="514350" indent="-514350">
              <a:spcAft>
                <a:spcPts val="600"/>
              </a:spcAft>
            </a:pPr>
            <a:r>
              <a:rPr lang="en-GB" dirty="0" smtClean="0"/>
              <a:t>int main() </a:t>
            </a:r>
          </a:p>
          <a:p>
            <a:pPr marL="514350" indent="-514350">
              <a:spcAft>
                <a:spcPts val="600"/>
              </a:spcAft>
            </a:pPr>
            <a:r>
              <a:rPr lang="en-GB" dirty="0" smtClean="0"/>
              <a:t>{     </a:t>
            </a:r>
            <a:r>
              <a:rPr lang="en-GB" dirty="0" err="1" smtClean="0"/>
              <a:t>forkexample</a:t>
            </a:r>
            <a:r>
              <a:rPr lang="en-GB" dirty="0" smtClean="0"/>
              <a:t>(); </a:t>
            </a:r>
          </a:p>
          <a:p>
            <a:pPr marL="514350" indent="-514350">
              <a:spcAft>
                <a:spcPts val="600"/>
              </a:spcAft>
            </a:pPr>
            <a:r>
              <a:rPr lang="en-GB" dirty="0" smtClean="0"/>
              <a:t>    return 0;     }</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0"/>
            <a:ext cx="7391400" cy="5791200"/>
          </a:xfrm>
        </p:spPr>
        <p:txBody>
          <a:bodyPr>
            <a:noAutofit/>
          </a:bodyPr>
          <a:lstStyle/>
          <a:p>
            <a:pPr marL="514350" indent="-514350">
              <a:lnSpc>
                <a:spcPct val="170000"/>
              </a:lnSpc>
              <a:spcBef>
                <a:spcPts val="0"/>
              </a:spcBef>
            </a:pPr>
            <a:r>
              <a:rPr lang="en-GB" sz="2800" dirty="0" smtClean="0"/>
              <a:t>Two possible outputs</a:t>
            </a:r>
          </a:p>
          <a:p>
            <a:pPr marL="514350" indent="-514350">
              <a:lnSpc>
                <a:spcPct val="170000"/>
              </a:lnSpc>
              <a:spcBef>
                <a:spcPts val="0"/>
              </a:spcBef>
            </a:pPr>
            <a:r>
              <a:rPr lang="en-GB" sz="2800" dirty="0" smtClean="0"/>
              <a:t>System Dependent</a:t>
            </a:r>
          </a:p>
          <a:p>
            <a:pPr marL="514350" indent="-514350">
              <a:lnSpc>
                <a:spcPct val="170000"/>
              </a:lnSpc>
              <a:spcBef>
                <a:spcPts val="0"/>
              </a:spcBef>
            </a:pPr>
            <a:r>
              <a:rPr lang="en-GB" sz="2800" dirty="0" smtClean="0"/>
              <a:t>1.</a:t>
            </a:r>
          </a:p>
          <a:p>
            <a:pPr marL="514350" indent="-514350">
              <a:lnSpc>
                <a:spcPct val="170000"/>
              </a:lnSpc>
              <a:spcBef>
                <a:spcPts val="0"/>
              </a:spcBef>
            </a:pPr>
            <a:r>
              <a:rPr lang="en-GB" sz="2800" dirty="0" smtClean="0"/>
              <a:t>Hello from Child!</a:t>
            </a:r>
          </a:p>
          <a:p>
            <a:pPr marL="514350" indent="-514350">
              <a:lnSpc>
                <a:spcPct val="170000"/>
              </a:lnSpc>
              <a:spcBef>
                <a:spcPts val="0"/>
              </a:spcBef>
            </a:pPr>
            <a:r>
              <a:rPr lang="en-GB" sz="2800" dirty="0" smtClean="0"/>
              <a:t>Hello from Parent!</a:t>
            </a:r>
          </a:p>
          <a:p>
            <a:pPr marL="514350" indent="-514350">
              <a:lnSpc>
                <a:spcPct val="170000"/>
              </a:lnSpc>
              <a:spcBef>
                <a:spcPts val="0"/>
              </a:spcBef>
            </a:pPr>
            <a:r>
              <a:rPr lang="en-GB" sz="2800" dirty="0" smtClean="0"/>
              <a:t>     (or)</a:t>
            </a:r>
          </a:p>
          <a:p>
            <a:pPr marL="514350" indent="-514350">
              <a:lnSpc>
                <a:spcPct val="170000"/>
              </a:lnSpc>
              <a:spcBef>
                <a:spcPts val="0"/>
              </a:spcBef>
            </a:pPr>
            <a:r>
              <a:rPr lang="en-GB" sz="2800" dirty="0" smtClean="0"/>
              <a:t>2.</a:t>
            </a:r>
          </a:p>
          <a:p>
            <a:pPr marL="514350" indent="-514350">
              <a:lnSpc>
                <a:spcPct val="170000"/>
              </a:lnSpc>
              <a:spcBef>
                <a:spcPts val="0"/>
              </a:spcBef>
            </a:pPr>
            <a:r>
              <a:rPr lang="en-GB" sz="2800" dirty="0" smtClean="0"/>
              <a:t>Hello from Parent!</a:t>
            </a:r>
          </a:p>
          <a:p>
            <a:pPr marL="514350" indent="-514350">
              <a:lnSpc>
                <a:spcPct val="170000"/>
              </a:lnSpc>
              <a:spcBef>
                <a:spcPts val="0"/>
              </a:spcBef>
            </a:pPr>
            <a:r>
              <a:rPr lang="en-GB" sz="2800" dirty="0" smtClean="0"/>
              <a:t>Hello from Child!</a:t>
            </a:r>
          </a:p>
          <a:p>
            <a:pPr marL="514350" indent="-514350">
              <a:lnSpc>
                <a:spcPct val="170000"/>
              </a:lnSpc>
              <a:spcBef>
                <a:spcPts val="0"/>
              </a:spcBef>
            </a:pPr>
            <a:endParaRPr lang="en-GB"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304800"/>
            <a:ext cx="7772400" cy="5791200"/>
          </a:xfrm>
        </p:spPr>
        <p:txBody>
          <a:bodyPr>
            <a:noAutofit/>
          </a:bodyPr>
          <a:lstStyle/>
          <a:p>
            <a:pPr marL="514350" indent="-514350">
              <a:lnSpc>
                <a:spcPct val="150000"/>
              </a:lnSpc>
              <a:spcBef>
                <a:spcPts val="0"/>
              </a:spcBef>
              <a:buFont typeface="Wingdings" pitchFamily="2" charset="2"/>
              <a:buChar char="Ø"/>
            </a:pPr>
            <a:r>
              <a:rPr lang="en-GB" sz="2700" dirty="0" smtClean="0">
                <a:solidFill>
                  <a:srgbClr val="FF0000"/>
                </a:solidFill>
              </a:rPr>
              <a:t>Here, two outputs are possible because the parent process and child process are running concurrently. </a:t>
            </a:r>
          </a:p>
          <a:p>
            <a:pPr marL="514350" indent="-514350">
              <a:lnSpc>
                <a:spcPct val="150000"/>
              </a:lnSpc>
              <a:spcBef>
                <a:spcPts val="0"/>
              </a:spcBef>
              <a:buFont typeface="Wingdings" pitchFamily="2" charset="2"/>
              <a:buChar char="Ø"/>
            </a:pPr>
            <a:r>
              <a:rPr lang="en-GB" sz="2700" dirty="0" smtClean="0"/>
              <a:t>So we don’t know if OS first give control to which process a parent process or a child process.</a:t>
            </a:r>
          </a:p>
          <a:p>
            <a:pPr marL="514350" indent="-514350">
              <a:lnSpc>
                <a:spcPct val="150000"/>
              </a:lnSpc>
              <a:spcBef>
                <a:spcPts val="0"/>
              </a:spcBef>
              <a:buFont typeface="Wingdings" pitchFamily="2" charset="2"/>
              <a:buChar char="Ø"/>
            </a:pPr>
            <a:r>
              <a:rPr lang="en-GB" sz="2700" dirty="0" smtClean="0"/>
              <a:t>Important: Parent and child process are running the same program, but they are not identical. </a:t>
            </a:r>
          </a:p>
          <a:p>
            <a:pPr marL="514350" indent="-514350">
              <a:lnSpc>
                <a:spcPct val="150000"/>
              </a:lnSpc>
              <a:spcBef>
                <a:spcPts val="0"/>
              </a:spcBef>
              <a:buFont typeface="Wingdings" pitchFamily="2" charset="2"/>
              <a:buChar char="Ø"/>
            </a:pPr>
            <a:r>
              <a:rPr lang="en-GB" sz="2700" dirty="0" smtClean="0"/>
              <a:t>OS allocate different data and state for these two processes and also control the flow of these processes can be different. </a:t>
            </a:r>
            <a:endParaRPr lang="en-GB"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04800"/>
            <a:ext cx="8001000" cy="6400800"/>
          </a:xfrm>
        </p:spPr>
        <p:txBody>
          <a:bodyPr>
            <a:noAutofit/>
          </a:bodyPr>
          <a:lstStyle/>
          <a:p>
            <a:pPr marL="514350" indent="-514350">
              <a:spcAft>
                <a:spcPts val="600"/>
              </a:spcAft>
            </a:pPr>
            <a:r>
              <a:rPr lang="en-GB" dirty="0" smtClean="0"/>
              <a:t>#include &lt;</a:t>
            </a:r>
            <a:r>
              <a:rPr lang="en-GB" dirty="0" err="1" smtClean="0"/>
              <a:t>stdio.h</a:t>
            </a:r>
            <a:r>
              <a:rPr lang="en-GB" dirty="0" smtClean="0"/>
              <a:t>&gt; </a:t>
            </a:r>
          </a:p>
          <a:p>
            <a:pPr marL="514350" indent="-514350">
              <a:spcAft>
                <a:spcPts val="600"/>
              </a:spcAft>
            </a:pPr>
            <a:r>
              <a:rPr lang="en-GB" dirty="0" smtClean="0"/>
              <a:t>#include &lt;sys/</a:t>
            </a:r>
            <a:r>
              <a:rPr lang="en-GB" dirty="0" err="1" smtClean="0"/>
              <a:t>types.h</a:t>
            </a:r>
            <a:r>
              <a:rPr lang="en-GB" dirty="0" smtClean="0"/>
              <a:t>&gt; </a:t>
            </a:r>
          </a:p>
          <a:p>
            <a:pPr marL="514350" indent="-514350">
              <a:spcAft>
                <a:spcPts val="600"/>
              </a:spcAft>
            </a:pPr>
            <a:r>
              <a:rPr lang="en-GB" dirty="0" smtClean="0"/>
              <a:t>#include &lt;</a:t>
            </a:r>
            <a:r>
              <a:rPr lang="en-GB" dirty="0" err="1" smtClean="0"/>
              <a:t>unistd.h</a:t>
            </a:r>
            <a:r>
              <a:rPr lang="en-GB" dirty="0" smtClean="0"/>
              <a:t>&gt;   </a:t>
            </a:r>
          </a:p>
          <a:p>
            <a:pPr marL="514350" indent="-514350">
              <a:spcAft>
                <a:spcPts val="600"/>
              </a:spcAft>
            </a:pPr>
            <a:r>
              <a:rPr lang="en-GB" dirty="0" smtClean="0"/>
              <a:t>void </a:t>
            </a:r>
            <a:r>
              <a:rPr lang="en-GB" dirty="0" err="1" smtClean="0"/>
              <a:t>forkexample</a:t>
            </a:r>
            <a:r>
              <a:rPr lang="en-GB" dirty="0" smtClean="0"/>
              <a:t>()  </a:t>
            </a:r>
          </a:p>
          <a:p>
            <a:pPr marL="514350" indent="-514350">
              <a:spcAft>
                <a:spcPts val="600"/>
              </a:spcAft>
            </a:pPr>
            <a:r>
              <a:rPr lang="en-GB" dirty="0" smtClean="0"/>
              <a:t>{ </a:t>
            </a:r>
          </a:p>
          <a:p>
            <a:pPr marL="514350" indent="-514350">
              <a:spcAft>
                <a:spcPts val="600"/>
              </a:spcAft>
            </a:pPr>
            <a:r>
              <a:rPr lang="en-GB" dirty="0" smtClean="0"/>
              <a:t>    int x = 1;   </a:t>
            </a:r>
          </a:p>
          <a:p>
            <a:pPr marL="514350" indent="-514350">
              <a:spcAft>
                <a:spcPts val="600"/>
              </a:spcAft>
            </a:pPr>
            <a:r>
              <a:rPr lang="en-GB" dirty="0" smtClean="0"/>
              <a:t>    if (fork() == 0)         </a:t>
            </a:r>
            <a:r>
              <a:rPr lang="en-GB" dirty="0" err="1" smtClean="0"/>
              <a:t>printf</a:t>
            </a:r>
            <a:r>
              <a:rPr lang="en-GB" dirty="0" smtClean="0"/>
              <a:t>("Child has x = %d\n", ++x); </a:t>
            </a:r>
          </a:p>
          <a:p>
            <a:pPr marL="514350" indent="-514350">
              <a:spcAft>
                <a:spcPts val="600"/>
              </a:spcAft>
            </a:pPr>
            <a:r>
              <a:rPr lang="en-GB" dirty="0" smtClean="0"/>
              <a:t>    else        </a:t>
            </a:r>
            <a:r>
              <a:rPr lang="en-GB" dirty="0" err="1" smtClean="0"/>
              <a:t>printf</a:t>
            </a:r>
            <a:r>
              <a:rPr lang="en-GB" dirty="0" smtClean="0"/>
              <a:t>("Parent has x = %d\n", --x); </a:t>
            </a:r>
          </a:p>
          <a:p>
            <a:pPr marL="514350" indent="-514350">
              <a:spcAft>
                <a:spcPts val="600"/>
              </a:spcAft>
            </a:pPr>
            <a:r>
              <a:rPr lang="en-GB" dirty="0" smtClean="0"/>
              <a:t>} </a:t>
            </a:r>
          </a:p>
          <a:p>
            <a:pPr marL="514350" indent="-514350">
              <a:spcAft>
                <a:spcPts val="600"/>
              </a:spcAft>
            </a:pPr>
            <a:r>
              <a:rPr lang="en-GB" dirty="0" smtClean="0"/>
              <a:t>int main() </a:t>
            </a:r>
          </a:p>
          <a:p>
            <a:pPr marL="514350" indent="-514350">
              <a:spcAft>
                <a:spcPts val="600"/>
              </a:spcAft>
            </a:pPr>
            <a:r>
              <a:rPr lang="en-GB" dirty="0" smtClean="0"/>
              <a:t>{ </a:t>
            </a:r>
          </a:p>
          <a:p>
            <a:pPr marL="514350" indent="-514350">
              <a:spcAft>
                <a:spcPts val="600"/>
              </a:spcAft>
            </a:pPr>
            <a:r>
              <a:rPr lang="en-GB" dirty="0" smtClean="0"/>
              <a:t>    </a:t>
            </a:r>
            <a:r>
              <a:rPr lang="en-GB" dirty="0" err="1" smtClean="0"/>
              <a:t>forkexample</a:t>
            </a:r>
            <a:r>
              <a:rPr lang="en-GB" dirty="0" smtClean="0"/>
              <a:t>();     return 0; 	}</a:t>
            </a: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304800"/>
            <a:ext cx="7848600" cy="5791200"/>
          </a:xfrm>
        </p:spPr>
        <p:txBody>
          <a:bodyPr>
            <a:noAutofit/>
          </a:bodyPr>
          <a:lstStyle/>
          <a:p>
            <a:pPr marL="514350" indent="-514350">
              <a:lnSpc>
                <a:spcPct val="150000"/>
              </a:lnSpc>
              <a:spcBef>
                <a:spcPts val="0"/>
              </a:spcBef>
            </a:pPr>
            <a:r>
              <a:rPr lang="en-GB" dirty="0" smtClean="0"/>
              <a:t>	OUTPUT</a:t>
            </a:r>
          </a:p>
          <a:p>
            <a:pPr marL="514350" indent="-514350">
              <a:lnSpc>
                <a:spcPct val="150000"/>
              </a:lnSpc>
              <a:spcBef>
                <a:spcPts val="0"/>
              </a:spcBef>
            </a:pPr>
            <a:r>
              <a:rPr lang="en-GB" dirty="0" smtClean="0"/>
              <a:t>	Parent has x = 0</a:t>
            </a:r>
          </a:p>
          <a:p>
            <a:pPr marL="514350" indent="-514350">
              <a:lnSpc>
                <a:spcPct val="150000"/>
              </a:lnSpc>
              <a:spcBef>
                <a:spcPts val="0"/>
              </a:spcBef>
            </a:pPr>
            <a:r>
              <a:rPr lang="en-GB" dirty="0" smtClean="0"/>
              <a:t>	Child has x = 2</a:t>
            </a:r>
          </a:p>
          <a:p>
            <a:pPr marL="514350" indent="-514350">
              <a:lnSpc>
                <a:spcPct val="150000"/>
              </a:lnSpc>
              <a:spcBef>
                <a:spcPts val="0"/>
              </a:spcBef>
            </a:pPr>
            <a:r>
              <a:rPr lang="en-GB" dirty="0" smtClean="0"/>
              <a:t>   			  (or)</a:t>
            </a:r>
          </a:p>
          <a:p>
            <a:pPr marL="514350" indent="-514350">
              <a:lnSpc>
                <a:spcPct val="150000"/>
              </a:lnSpc>
              <a:spcBef>
                <a:spcPts val="0"/>
              </a:spcBef>
            </a:pPr>
            <a:r>
              <a:rPr lang="en-GB" dirty="0" smtClean="0"/>
              <a:t>	Child has x = 2</a:t>
            </a:r>
          </a:p>
          <a:p>
            <a:pPr marL="514350" indent="-514350">
              <a:lnSpc>
                <a:spcPct val="150000"/>
              </a:lnSpc>
              <a:spcBef>
                <a:spcPts val="0"/>
              </a:spcBef>
            </a:pPr>
            <a:r>
              <a:rPr lang="en-GB" dirty="0" smtClean="0"/>
              <a:t>	Parent has x = 0</a:t>
            </a:r>
          </a:p>
          <a:p>
            <a:pPr marL="514350" indent="-514350">
              <a:lnSpc>
                <a:spcPct val="150000"/>
              </a:lnSpc>
              <a:spcBef>
                <a:spcPts val="0"/>
              </a:spcBef>
              <a:buFont typeface="Wingdings" pitchFamily="2" charset="2"/>
              <a:buChar char="Ø"/>
            </a:pPr>
            <a:r>
              <a:rPr lang="en-GB" dirty="0" smtClean="0"/>
              <a:t>Here, global variable change in one process does not affected two other processes because data/state of two processes are different. </a:t>
            </a:r>
          </a:p>
          <a:p>
            <a:pPr marL="514350" indent="-514350">
              <a:lnSpc>
                <a:spcPct val="150000"/>
              </a:lnSpc>
              <a:spcBef>
                <a:spcPts val="0"/>
              </a:spcBef>
              <a:buFont typeface="Wingdings" pitchFamily="2" charset="2"/>
              <a:buChar char="Ø"/>
            </a:pPr>
            <a:r>
              <a:rPr lang="en-GB" dirty="0" smtClean="0"/>
              <a:t>And also parent and child run simultaneously so two outputs are possible.</a:t>
            </a:r>
          </a:p>
          <a:p>
            <a:pPr marL="514350" indent="-514350">
              <a:lnSpc>
                <a:spcPct val="150000"/>
              </a:lnSpc>
              <a:spcBef>
                <a:spcPts val="0"/>
              </a:spcBef>
              <a:buFont typeface="Wingdings" pitchFamily="2" charset="2"/>
              <a:buChar char="Ø"/>
            </a:pPr>
            <a:endParaRPr lang="en-GB" dirty="0" smtClean="0"/>
          </a:p>
          <a:p>
            <a:pPr marL="514350" indent="-514350">
              <a:lnSpc>
                <a:spcPct val="150000"/>
              </a:lnSpc>
              <a:spcBef>
                <a:spcPts val="0"/>
              </a:spcBef>
              <a:buFont typeface="Wingdings" pitchFamily="2" charset="2"/>
              <a:buChar char="Ø"/>
            </a:pPr>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04800"/>
            <a:ext cx="7620000" cy="5791200"/>
          </a:xfrm>
        </p:spPr>
        <p:txBody>
          <a:bodyPr>
            <a:noAutofit/>
          </a:bodyPr>
          <a:lstStyle/>
          <a:p>
            <a:pPr marL="514350" indent="-514350" algn="ctr">
              <a:lnSpc>
                <a:spcPct val="150000"/>
              </a:lnSpc>
              <a:spcBef>
                <a:spcPts val="0"/>
              </a:spcBef>
            </a:pPr>
            <a:r>
              <a:rPr lang="en-GB" sz="3600" b="1" dirty="0" smtClean="0"/>
              <a:t>fork() </a:t>
            </a:r>
            <a:r>
              <a:rPr lang="en-GB" sz="3600" b="1" dirty="0" err="1" smtClean="0"/>
              <a:t>vs</a:t>
            </a:r>
            <a:r>
              <a:rPr lang="en-GB" sz="3600" b="1" dirty="0" smtClean="0"/>
              <a:t> exec()</a:t>
            </a:r>
          </a:p>
          <a:p>
            <a:pPr marL="514350" indent="-514350">
              <a:lnSpc>
                <a:spcPct val="150000"/>
              </a:lnSpc>
              <a:spcBef>
                <a:spcPts val="0"/>
              </a:spcBef>
              <a:buFont typeface="Wingdings" pitchFamily="2" charset="2"/>
              <a:buChar char="Ø"/>
            </a:pPr>
            <a:endParaRPr lang="en-GB" dirty="0" smtClean="0"/>
          </a:p>
          <a:p>
            <a:pPr marL="514350" indent="-514350">
              <a:lnSpc>
                <a:spcPct val="150000"/>
              </a:lnSpc>
              <a:spcBef>
                <a:spcPts val="0"/>
              </a:spcBef>
              <a:buFont typeface="Wingdings" pitchFamily="2" charset="2"/>
              <a:buChar char="Ø"/>
            </a:pPr>
            <a:r>
              <a:rPr lang="en-GB" sz="2800" dirty="0" smtClean="0"/>
              <a:t>The fork system call creates a new process. </a:t>
            </a:r>
          </a:p>
          <a:p>
            <a:pPr marL="514350" indent="-514350">
              <a:lnSpc>
                <a:spcPct val="150000"/>
              </a:lnSpc>
              <a:spcBef>
                <a:spcPts val="0"/>
              </a:spcBef>
              <a:buFont typeface="Wingdings" pitchFamily="2" charset="2"/>
              <a:buChar char="Ø"/>
            </a:pPr>
            <a:r>
              <a:rPr lang="en-GB" sz="2800" dirty="0" smtClean="0"/>
              <a:t>The new process created by fork() is copy of the current process except the returned value. </a:t>
            </a:r>
          </a:p>
          <a:p>
            <a:pPr marL="514350" indent="-514350">
              <a:lnSpc>
                <a:spcPct val="150000"/>
              </a:lnSpc>
              <a:spcBef>
                <a:spcPts val="0"/>
              </a:spcBef>
              <a:buFont typeface="Wingdings" pitchFamily="2" charset="2"/>
              <a:buChar char="Ø"/>
            </a:pPr>
            <a:r>
              <a:rPr lang="en-GB" sz="2800" dirty="0" smtClean="0"/>
              <a:t>The exec() system call replaces the current process with a new program.</a:t>
            </a:r>
            <a:endParaRPr lang="en-GB"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457200"/>
            <a:ext cx="7620000" cy="5791200"/>
          </a:xfrm>
        </p:spPr>
        <p:txBody>
          <a:bodyPr>
            <a:noAutofit/>
          </a:bodyPr>
          <a:lstStyle/>
          <a:p>
            <a:pPr marL="514350" indent="-514350">
              <a:lnSpc>
                <a:spcPct val="150000"/>
              </a:lnSpc>
              <a:spcBef>
                <a:spcPts val="0"/>
              </a:spcBef>
            </a:pPr>
            <a:r>
              <a:rPr lang="en-GB" sz="2800" dirty="0" smtClean="0">
                <a:solidFill>
                  <a:srgbClr val="FF0000"/>
                </a:solidFill>
              </a:rPr>
              <a:t>What will be the output of following program?</a:t>
            </a:r>
          </a:p>
          <a:p>
            <a:pPr marL="514350" indent="-514350">
              <a:lnSpc>
                <a:spcPct val="150000"/>
              </a:lnSpc>
              <a:spcBef>
                <a:spcPts val="0"/>
              </a:spcBef>
            </a:pPr>
            <a:r>
              <a:rPr lang="en-GB" sz="2800" dirty="0" smtClean="0"/>
              <a:t>A process executes the following code.</a:t>
            </a:r>
          </a:p>
          <a:p>
            <a:pPr marL="514350" indent="-514350">
              <a:lnSpc>
                <a:spcPct val="150000"/>
              </a:lnSpc>
              <a:spcBef>
                <a:spcPts val="0"/>
              </a:spcBef>
            </a:pPr>
            <a:r>
              <a:rPr lang="en-GB" sz="2800" dirty="0" smtClean="0"/>
              <a:t>for (</a:t>
            </a:r>
            <a:r>
              <a:rPr lang="en-GB" sz="2800" dirty="0" err="1" smtClean="0"/>
              <a:t>i</a:t>
            </a:r>
            <a:r>
              <a:rPr lang="en-GB" sz="2800" dirty="0" smtClean="0"/>
              <a:t> = 0; </a:t>
            </a:r>
            <a:r>
              <a:rPr lang="en-GB" sz="2800" dirty="0" err="1" smtClean="0"/>
              <a:t>i</a:t>
            </a:r>
            <a:r>
              <a:rPr lang="en-GB" sz="2800" dirty="0" smtClean="0"/>
              <a:t> &lt; n; </a:t>
            </a:r>
            <a:r>
              <a:rPr lang="en-GB" sz="2800" dirty="0" err="1" smtClean="0"/>
              <a:t>i</a:t>
            </a:r>
            <a:r>
              <a:rPr lang="en-GB" sz="2800" dirty="0" smtClean="0"/>
              <a:t>++)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The total number of child processes created is: </a:t>
            </a:r>
          </a:p>
          <a:p>
            <a:pPr marL="514350" indent="-514350">
              <a:lnSpc>
                <a:spcPct val="150000"/>
              </a:lnSpc>
              <a:spcBef>
                <a:spcPts val="0"/>
              </a:spcBef>
            </a:pPr>
            <a:r>
              <a:rPr lang="en-GB" sz="2800" dirty="0" smtClean="0"/>
              <a:t>(A) n</a:t>
            </a:r>
          </a:p>
          <a:p>
            <a:pPr marL="514350" indent="-514350">
              <a:lnSpc>
                <a:spcPct val="150000"/>
              </a:lnSpc>
              <a:spcBef>
                <a:spcPts val="0"/>
              </a:spcBef>
            </a:pPr>
            <a:r>
              <a:rPr lang="en-GB" sz="2800" dirty="0" smtClean="0"/>
              <a:t>(B) 2^n – 1</a:t>
            </a:r>
          </a:p>
          <a:p>
            <a:pPr marL="514350" indent="-514350">
              <a:lnSpc>
                <a:spcPct val="150000"/>
              </a:lnSpc>
              <a:spcBef>
                <a:spcPts val="0"/>
              </a:spcBef>
            </a:pPr>
            <a:r>
              <a:rPr lang="en-GB" sz="2800" dirty="0" smtClean="0"/>
              <a:t>(C) 2^n</a:t>
            </a:r>
          </a:p>
          <a:p>
            <a:pPr marL="514350" indent="-514350">
              <a:lnSpc>
                <a:spcPct val="150000"/>
              </a:lnSpc>
              <a:spcBef>
                <a:spcPts val="0"/>
              </a:spcBef>
            </a:pPr>
            <a:r>
              <a:rPr lang="en-GB" sz="2800" dirty="0" smtClean="0"/>
              <a:t>(D) 2^(n+1) – 1;</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76200"/>
            <a:ext cx="8001000" cy="5791200"/>
          </a:xfrm>
        </p:spPr>
        <p:txBody>
          <a:bodyPr>
            <a:noAutofit/>
          </a:bodyPr>
          <a:lstStyle/>
          <a:p>
            <a:pPr marL="514350" indent="-514350">
              <a:lnSpc>
                <a:spcPct val="150000"/>
              </a:lnSpc>
              <a:spcBef>
                <a:spcPts val="0"/>
              </a:spcBef>
            </a:pPr>
            <a:r>
              <a:rPr lang="en-GB" sz="2400" dirty="0" smtClean="0"/>
              <a:t>       F0       // 1 child process created by first fork</a:t>
            </a:r>
          </a:p>
          <a:p>
            <a:pPr marL="514350" indent="-514350">
              <a:lnSpc>
                <a:spcPct val="150000"/>
              </a:lnSpc>
              <a:spcBef>
                <a:spcPts val="0"/>
              </a:spcBef>
            </a:pPr>
            <a:r>
              <a:rPr lang="en-GB" sz="2400" dirty="0" smtClean="0"/>
              <a:t>      /     \</a:t>
            </a:r>
          </a:p>
          <a:p>
            <a:pPr marL="514350" indent="-514350">
              <a:lnSpc>
                <a:spcPct val="150000"/>
              </a:lnSpc>
              <a:spcBef>
                <a:spcPts val="0"/>
              </a:spcBef>
            </a:pPr>
            <a:r>
              <a:rPr lang="en-GB" sz="2400" dirty="0" smtClean="0"/>
              <a:t>    F1      </a:t>
            </a:r>
            <a:r>
              <a:rPr lang="en-GB" sz="2400" dirty="0" err="1" smtClean="0"/>
              <a:t>F1</a:t>
            </a:r>
            <a:r>
              <a:rPr lang="en-GB" sz="2400" dirty="0" smtClean="0"/>
              <a:t>    //  2 child processes by second fork</a:t>
            </a:r>
          </a:p>
          <a:p>
            <a:pPr marL="514350" indent="-514350">
              <a:lnSpc>
                <a:spcPct val="150000"/>
              </a:lnSpc>
              <a:spcBef>
                <a:spcPts val="0"/>
              </a:spcBef>
            </a:pPr>
            <a:r>
              <a:rPr lang="en-GB" sz="2400" dirty="0" smtClean="0"/>
              <a:t>   /  \    /  \</a:t>
            </a:r>
          </a:p>
          <a:p>
            <a:pPr marL="514350" indent="-514350">
              <a:lnSpc>
                <a:spcPct val="150000"/>
              </a:lnSpc>
              <a:spcBef>
                <a:spcPts val="0"/>
              </a:spcBef>
            </a:pPr>
            <a:r>
              <a:rPr lang="en-GB" sz="2400" dirty="0" smtClean="0"/>
              <a:t> F2   </a:t>
            </a:r>
            <a:r>
              <a:rPr lang="en-GB" sz="2400" dirty="0" err="1" smtClean="0"/>
              <a:t>F2</a:t>
            </a:r>
            <a:r>
              <a:rPr lang="en-GB" sz="2400" dirty="0" smtClean="0"/>
              <a:t>  </a:t>
            </a:r>
            <a:r>
              <a:rPr lang="en-GB" sz="2400" dirty="0" err="1" smtClean="0"/>
              <a:t>F2</a:t>
            </a:r>
            <a:r>
              <a:rPr lang="en-GB" sz="2400" dirty="0" smtClean="0"/>
              <a:t>   </a:t>
            </a:r>
            <a:r>
              <a:rPr lang="en-GB" sz="2400" dirty="0" err="1" smtClean="0"/>
              <a:t>F2</a:t>
            </a:r>
            <a:r>
              <a:rPr lang="en-GB" sz="2400" dirty="0" smtClean="0"/>
              <a:t>  // 4 child created by third fork</a:t>
            </a:r>
          </a:p>
          <a:p>
            <a:pPr marL="514350" indent="-514350">
              <a:lnSpc>
                <a:spcPct val="150000"/>
              </a:lnSpc>
              <a:spcBef>
                <a:spcPts val="0"/>
              </a:spcBef>
            </a:pPr>
            <a:r>
              <a:rPr lang="en-GB" sz="2400" dirty="0" smtClean="0"/>
              <a:t>/ \   / \ / \  / \</a:t>
            </a:r>
          </a:p>
          <a:p>
            <a:pPr marL="514350" indent="-514350">
              <a:lnSpc>
                <a:spcPct val="150000"/>
              </a:lnSpc>
              <a:spcBef>
                <a:spcPts val="0"/>
              </a:spcBef>
            </a:pPr>
            <a:r>
              <a:rPr lang="en-GB" sz="2400" dirty="0" smtClean="0"/>
              <a:t> ...............   // and so on</a:t>
            </a:r>
          </a:p>
          <a:p>
            <a:pPr marL="514350" indent="-514350">
              <a:lnSpc>
                <a:spcPct val="150000"/>
              </a:lnSpc>
              <a:spcBef>
                <a:spcPts val="0"/>
              </a:spcBef>
            </a:pPr>
            <a:r>
              <a:rPr lang="en-GB" sz="2400" dirty="0" smtClean="0"/>
              <a:t>If we sum all levels of above tree for </a:t>
            </a:r>
            <a:r>
              <a:rPr lang="en-GB" sz="2400" dirty="0" err="1" smtClean="0"/>
              <a:t>i</a:t>
            </a:r>
            <a:r>
              <a:rPr lang="en-GB" sz="2400" dirty="0" smtClean="0"/>
              <a:t> = 0 to n-1, we get</a:t>
            </a:r>
          </a:p>
          <a:p>
            <a:pPr marL="514350" indent="-514350">
              <a:lnSpc>
                <a:spcPct val="150000"/>
              </a:lnSpc>
              <a:spcBef>
                <a:spcPts val="0"/>
              </a:spcBef>
            </a:pPr>
            <a:r>
              <a:rPr lang="en-GB" sz="2400" dirty="0" smtClean="0"/>
              <a:t>2^n - 1. So there will be 2^n - 1 child processes. </a:t>
            </a:r>
          </a:p>
          <a:p>
            <a:pPr marL="514350" indent="-514350">
              <a:lnSpc>
                <a:spcPct val="150000"/>
              </a:lnSpc>
              <a:spcBef>
                <a:spcPts val="0"/>
              </a:spcBef>
            </a:pPr>
            <a:r>
              <a:rPr lang="en-GB" sz="2400" dirty="0" smtClean="0"/>
              <a:t>On the other hand, the total number of process created are </a:t>
            </a:r>
            <a:r>
              <a:rPr lang="en-GB" sz="2400" dirty="0" smtClean="0">
                <a:solidFill>
                  <a:srgbClr val="FF0000"/>
                </a:solidFill>
              </a:rPr>
              <a:t>(number of child processes)+1.</a:t>
            </a:r>
          </a:p>
          <a:p>
            <a:pPr marL="514350" indent="-514350">
              <a:lnSpc>
                <a:spcPct val="150000"/>
              </a:lnSpc>
              <a:spcBef>
                <a:spcPts val="0"/>
              </a:spcBef>
            </a:pPr>
            <a:r>
              <a:rPr lang="en-GB" sz="2400" dirty="0" smtClean="0"/>
              <a:t>ANSWER B</a:t>
            </a:r>
          </a:p>
          <a:p>
            <a:pPr marL="514350" indent="-514350">
              <a:lnSpc>
                <a:spcPct val="150000"/>
              </a:lnSpc>
              <a:spcBef>
                <a:spcPts val="0"/>
              </a:spcBef>
            </a:pPr>
            <a:endParaRPr lang="en-GB" sz="2400" dirty="0" smtClean="0"/>
          </a:p>
          <a:p>
            <a:pPr marL="514350" indent="-514350">
              <a:lnSpc>
                <a:spcPct val="150000"/>
              </a:lnSpc>
              <a:spcBef>
                <a:spcPts val="0"/>
              </a:spcBef>
            </a:pPr>
            <a:endParaRPr lang="en-GB" sz="2400" dirty="0" smtClean="0"/>
          </a:p>
          <a:p>
            <a:pPr marL="514350" indent="-514350">
              <a:lnSpc>
                <a:spcPct val="150000"/>
              </a:lnSpc>
              <a:spcBef>
                <a:spcPts val="0"/>
              </a:spcBef>
            </a:pPr>
            <a:endParaRPr lang="en-GB"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81000"/>
            <a:ext cx="8001000" cy="5791200"/>
          </a:xfrm>
        </p:spPr>
        <p:txBody>
          <a:bodyPr>
            <a:noAutofit/>
          </a:bodyPr>
          <a:lstStyle/>
          <a:p>
            <a:pPr marL="514350" indent="-514350">
              <a:lnSpc>
                <a:spcPct val="150000"/>
              </a:lnSpc>
              <a:spcBef>
                <a:spcPts val="0"/>
              </a:spcBef>
            </a:pPr>
            <a:r>
              <a:rPr lang="en-GB" sz="2800" dirty="0" smtClean="0">
                <a:solidFill>
                  <a:srgbClr val="FF0000"/>
                </a:solidFill>
              </a:rPr>
              <a:t>Consider the following code fragment:</a:t>
            </a:r>
          </a:p>
          <a:p>
            <a:pPr marL="514350" indent="-514350">
              <a:lnSpc>
                <a:spcPct val="150000"/>
              </a:lnSpc>
              <a:spcBef>
                <a:spcPts val="0"/>
              </a:spcBef>
            </a:pPr>
            <a:r>
              <a:rPr lang="en-GB" sz="2800" dirty="0" smtClean="0"/>
              <a:t>if (fork() == 0) { </a:t>
            </a:r>
          </a:p>
          <a:p>
            <a:pPr marL="514350" indent="-514350">
              <a:lnSpc>
                <a:spcPct val="150000"/>
              </a:lnSpc>
              <a:spcBef>
                <a:spcPts val="0"/>
              </a:spcBef>
            </a:pPr>
            <a:r>
              <a:rPr lang="en-GB" sz="2800" dirty="0" smtClean="0"/>
              <a:t>    a = a + 5; </a:t>
            </a:r>
          </a:p>
          <a:p>
            <a:pPr marL="514350" indent="-514350">
              <a:lnSpc>
                <a:spcPct val="150000"/>
              </a:lnSpc>
              <a:spcBef>
                <a:spcPts val="0"/>
              </a:spcBef>
            </a:pPr>
            <a:r>
              <a:rPr lang="en-GB" sz="2800" dirty="0" smtClean="0"/>
              <a:t>    </a:t>
            </a:r>
            <a:r>
              <a:rPr lang="en-GB" sz="2800" dirty="0" err="1" smtClean="0"/>
              <a:t>printf</a:t>
            </a:r>
            <a:r>
              <a:rPr lang="en-GB" sz="2800" dirty="0" smtClean="0"/>
              <a:t>("%d, %d\n", a, &amp;a); </a:t>
            </a:r>
          </a:p>
          <a:p>
            <a:pPr marL="514350" indent="-514350">
              <a:lnSpc>
                <a:spcPct val="150000"/>
              </a:lnSpc>
              <a:spcBef>
                <a:spcPts val="0"/>
              </a:spcBef>
            </a:pPr>
            <a:r>
              <a:rPr lang="en-GB" sz="2800" dirty="0" smtClean="0"/>
              <a:t>} </a:t>
            </a:r>
          </a:p>
          <a:p>
            <a:pPr marL="514350" indent="-514350">
              <a:lnSpc>
                <a:spcPct val="150000"/>
              </a:lnSpc>
              <a:spcBef>
                <a:spcPts val="0"/>
              </a:spcBef>
            </a:pPr>
            <a:r>
              <a:rPr lang="en-GB" sz="2800" dirty="0" smtClean="0"/>
              <a:t>else { </a:t>
            </a:r>
          </a:p>
          <a:p>
            <a:pPr marL="514350" indent="-514350">
              <a:lnSpc>
                <a:spcPct val="150000"/>
              </a:lnSpc>
              <a:spcBef>
                <a:spcPts val="0"/>
              </a:spcBef>
            </a:pPr>
            <a:r>
              <a:rPr lang="en-GB" sz="2800" dirty="0" smtClean="0"/>
              <a:t>    a = a –5; </a:t>
            </a:r>
          </a:p>
          <a:p>
            <a:pPr marL="514350" indent="-514350">
              <a:lnSpc>
                <a:spcPct val="150000"/>
              </a:lnSpc>
              <a:spcBef>
                <a:spcPts val="0"/>
              </a:spcBef>
            </a:pPr>
            <a:r>
              <a:rPr lang="en-GB" sz="2800" dirty="0" smtClean="0"/>
              <a:t>    </a:t>
            </a:r>
            <a:r>
              <a:rPr lang="en-GB" sz="2800" dirty="0" err="1" smtClean="0"/>
              <a:t>printf</a:t>
            </a:r>
            <a:r>
              <a:rPr lang="en-GB" sz="2800" dirty="0" smtClean="0"/>
              <a:t>("%d, %d\n", a, &amp;a); </a:t>
            </a:r>
          </a:p>
          <a:p>
            <a:pPr marL="514350" indent="-514350">
              <a:lnSpc>
                <a:spcPct val="150000"/>
              </a:lnSpc>
              <a:spcBef>
                <a:spcPts val="0"/>
              </a:spcBef>
            </a:pPr>
            <a:r>
              <a:rPr lang="en-GB" sz="2800" dirty="0" smtClean="0"/>
              <a:t>}</a:t>
            </a:r>
            <a:endParaRPr lang="en-GB"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76200"/>
            <a:ext cx="8001000" cy="5791200"/>
          </a:xfrm>
        </p:spPr>
        <p:txBody>
          <a:bodyPr>
            <a:noAutofit/>
          </a:bodyPr>
          <a:lstStyle/>
          <a:p>
            <a:pPr marL="514350" indent="-514350">
              <a:lnSpc>
                <a:spcPct val="150000"/>
              </a:lnSpc>
              <a:spcBef>
                <a:spcPts val="0"/>
              </a:spcBef>
            </a:pPr>
            <a:r>
              <a:rPr lang="en-GB" sz="2800" dirty="0" smtClean="0"/>
              <a:t>Let u, v be the values printed by the parent process, and x, y be the values printed by the child process. Which one of the following is TRUE? </a:t>
            </a:r>
          </a:p>
          <a:p>
            <a:pPr marL="514350" indent="-514350">
              <a:lnSpc>
                <a:spcPct val="150000"/>
              </a:lnSpc>
              <a:spcBef>
                <a:spcPts val="0"/>
              </a:spcBef>
            </a:pPr>
            <a:endParaRPr lang="en-GB" sz="2800" dirty="0" smtClean="0"/>
          </a:p>
          <a:p>
            <a:pPr marL="514350" indent="-514350">
              <a:lnSpc>
                <a:spcPct val="150000"/>
              </a:lnSpc>
              <a:spcBef>
                <a:spcPts val="0"/>
              </a:spcBef>
            </a:pPr>
            <a:r>
              <a:rPr lang="en-GB" sz="2800" dirty="0" smtClean="0"/>
              <a:t>(A) u = x + 10 and v = y</a:t>
            </a:r>
          </a:p>
          <a:p>
            <a:pPr marL="514350" indent="-514350">
              <a:lnSpc>
                <a:spcPct val="150000"/>
              </a:lnSpc>
              <a:spcBef>
                <a:spcPts val="0"/>
              </a:spcBef>
            </a:pPr>
            <a:r>
              <a:rPr lang="en-GB" sz="2800" dirty="0" smtClean="0"/>
              <a:t>(B) u = x + 10 and v != y</a:t>
            </a:r>
          </a:p>
          <a:p>
            <a:pPr marL="514350" indent="-514350">
              <a:lnSpc>
                <a:spcPct val="150000"/>
              </a:lnSpc>
              <a:spcBef>
                <a:spcPts val="0"/>
              </a:spcBef>
            </a:pPr>
            <a:r>
              <a:rPr lang="en-GB" sz="2800" dirty="0" smtClean="0"/>
              <a:t>(C) u + 10 = x and v = y</a:t>
            </a:r>
          </a:p>
          <a:p>
            <a:pPr marL="514350" indent="-514350">
              <a:lnSpc>
                <a:spcPct val="150000"/>
              </a:lnSpc>
              <a:spcBef>
                <a:spcPts val="0"/>
              </a:spcBef>
            </a:pPr>
            <a:r>
              <a:rPr lang="en-GB" sz="2800" dirty="0" smtClean="0"/>
              <a:t>(D) u + 10 = x and v != y</a:t>
            </a:r>
            <a:endParaRPr lang="en-GB"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76200"/>
            <a:ext cx="8001000" cy="5791200"/>
          </a:xfrm>
        </p:spPr>
        <p:txBody>
          <a:bodyPr>
            <a:noAutofit/>
          </a:bodyPr>
          <a:lstStyle/>
          <a:p>
            <a:pPr marL="514350" indent="-514350">
              <a:lnSpc>
                <a:spcPct val="150000"/>
              </a:lnSpc>
              <a:spcBef>
                <a:spcPts val="0"/>
              </a:spcBef>
              <a:buFont typeface="Wingdings" pitchFamily="2" charset="2"/>
              <a:buChar char="Ø"/>
            </a:pPr>
            <a:r>
              <a:rPr lang="en-GB" sz="2800" dirty="0" smtClean="0"/>
              <a:t>Answer: (C)</a:t>
            </a:r>
          </a:p>
          <a:p>
            <a:pPr marL="514350" indent="-514350">
              <a:lnSpc>
                <a:spcPct val="150000"/>
              </a:lnSpc>
              <a:spcBef>
                <a:spcPts val="0"/>
              </a:spcBef>
              <a:buFont typeface="Wingdings" pitchFamily="2" charset="2"/>
              <a:buChar char="Ø"/>
            </a:pPr>
            <a:r>
              <a:rPr lang="en-GB" sz="2800" dirty="0" smtClean="0"/>
              <a:t>Explanation: fork() returns 0 in child process and process ID of child process in parent process.</a:t>
            </a:r>
          </a:p>
          <a:p>
            <a:pPr marL="514350" indent="-514350">
              <a:lnSpc>
                <a:spcPct val="150000"/>
              </a:lnSpc>
              <a:spcBef>
                <a:spcPts val="0"/>
              </a:spcBef>
              <a:buFont typeface="Wingdings" pitchFamily="2" charset="2"/>
              <a:buChar char="Ø"/>
            </a:pPr>
            <a:r>
              <a:rPr lang="en-GB" sz="2800" dirty="0" smtClean="0">
                <a:solidFill>
                  <a:srgbClr val="FF0000"/>
                </a:solidFill>
              </a:rPr>
              <a:t>In Child (x), a = a + 5</a:t>
            </a:r>
          </a:p>
          <a:p>
            <a:pPr marL="514350" indent="-514350">
              <a:lnSpc>
                <a:spcPct val="150000"/>
              </a:lnSpc>
              <a:spcBef>
                <a:spcPts val="0"/>
              </a:spcBef>
              <a:buFont typeface="Wingdings" pitchFamily="2" charset="2"/>
              <a:buChar char="Ø"/>
            </a:pPr>
            <a:r>
              <a:rPr lang="en-GB" sz="2800" dirty="0" smtClean="0">
                <a:solidFill>
                  <a:srgbClr val="FF0000"/>
                </a:solidFill>
              </a:rPr>
              <a:t>In Parent (u), a = a – 5;</a:t>
            </a:r>
          </a:p>
          <a:p>
            <a:pPr marL="514350" indent="-514350">
              <a:lnSpc>
                <a:spcPct val="150000"/>
              </a:lnSpc>
              <a:spcBef>
                <a:spcPts val="0"/>
              </a:spcBef>
              <a:buFont typeface="Wingdings" pitchFamily="2" charset="2"/>
              <a:buChar char="Ø"/>
            </a:pPr>
            <a:r>
              <a:rPr lang="en-GB" sz="2800" dirty="0" smtClean="0">
                <a:solidFill>
                  <a:srgbClr val="FF0000"/>
                </a:solidFill>
              </a:rPr>
              <a:t>Therefore x = u + 10.</a:t>
            </a:r>
          </a:p>
          <a:p>
            <a:pPr marL="514350" indent="-514350">
              <a:lnSpc>
                <a:spcPct val="150000"/>
              </a:lnSpc>
              <a:spcBef>
                <a:spcPts val="0"/>
              </a:spcBef>
              <a:buFont typeface="Wingdings" pitchFamily="2" charset="2"/>
              <a:buChar char="Ø"/>
            </a:pPr>
            <a:r>
              <a:rPr lang="en-GB" sz="2800" dirty="0" smtClean="0"/>
              <a:t>Physical addresses of ‘a’ in parent and child must be different.  As this program accesses virtual addresses. The child process gets an exact copy of parent process and virtual address of ‘a’ doesn’t change in child process.</a:t>
            </a:r>
            <a:endParaRPr lang="en-GB"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0200" y="-76200"/>
            <a:ext cx="7543800" cy="6629400"/>
          </a:xfrm>
        </p:spPr>
        <p:txBody>
          <a:bodyPr>
            <a:noAutofit/>
          </a:bodyPr>
          <a:lstStyle/>
          <a:p>
            <a:pPr marL="514350" indent="-514350">
              <a:lnSpc>
                <a:spcPct val="150000"/>
              </a:lnSpc>
              <a:spcBef>
                <a:spcPts val="0"/>
              </a:spcBef>
            </a:pPr>
            <a:r>
              <a:rPr lang="en-GB" sz="2800" dirty="0" smtClean="0"/>
              <a:t>#include &lt;</a:t>
            </a:r>
            <a:r>
              <a:rPr lang="en-GB" sz="2800" dirty="0" err="1" smtClean="0"/>
              <a:t>stdio.h</a:t>
            </a:r>
            <a:r>
              <a:rPr lang="en-GB" sz="2800" dirty="0" smtClean="0"/>
              <a:t>&gt; </a:t>
            </a:r>
          </a:p>
          <a:p>
            <a:pPr marL="514350" indent="-514350">
              <a:lnSpc>
                <a:spcPct val="150000"/>
              </a:lnSpc>
              <a:spcBef>
                <a:spcPts val="0"/>
              </a:spcBef>
            </a:pPr>
            <a:r>
              <a:rPr lang="en-GB" sz="2800" dirty="0" smtClean="0"/>
              <a:t>#include &lt;</a:t>
            </a:r>
            <a:r>
              <a:rPr lang="en-GB" sz="2800" dirty="0" err="1" smtClean="0"/>
              <a:t>unistd.h</a:t>
            </a:r>
            <a:r>
              <a:rPr lang="en-GB" sz="2800" dirty="0" smtClean="0"/>
              <a:t>&gt; </a:t>
            </a:r>
          </a:p>
          <a:p>
            <a:pPr marL="514350" indent="-514350">
              <a:lnSpc>
                <a:spcPct val="150000"/>
              </a:lnSpc>
              <a:spcBef>
                <a:spcPts val="0"/>
              </a:spcBef>
            </a:pPr>
            <a:r>
              <a:rPr lang="en-GB" sz="2800" dirty="0" smtClean="0"/>
              <a:t>int main() </a:t>
            </a:r>
          </a:p>
          <a:p>
            <a:pPr marL="514350" indent="-514350">
              <a:lnSpc>
                <a:spcPct val="150000"/>
              </a:lnSpc>
              <a:spcBef>
                <a:spcPts val="0"/>
              </a:spcBef>
            </a:pPr>
            <a:r>
              <a:rPr lang="en-GB" sz="2800" dirty="0" smtClean="0"/>
              <a:t>{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fork() &amp;&amp; fork() || fork(); </a:t>
            </a:r>
          </a:p>
          <a:p>
            <a:pPr marL="514350" indent="-514350">
              <a:lnSpc>
                <a:spcPct val="150000"/>
              </a:lnSpc>
              <a:spcBef>
                <a:spcPts val="0"/>
              </a:spcBef>
            </a:pPr>
            <a:r>
              <a:rPr lang="en-GB" sz="2800" dirty="0" smtClean="0"/>
              <a:t>    fork(); </a:t>
            </a:r>
          </a:p>
          <a:p>
            <a:pPr marL="514350" indent="-514350">
              <a:lnSpc>
                <a:spcPct val="150000"/>
              </a:lnSpc>
              <a:spcBef>
                <a:spcPts val="0"/>
              </a:spcBef>
            </a:pPr>
            <a:r>
              <a:rPr lang="en-GB" sz="2800" dirty="0" smtClean="0"/>
              <a:t>  </a:t>
            </a:r>
          </a:p>
          <a:p>
            <a:pPr marL="514350" indent="-514350">
              <a:lnSpc>
                <a:spcPct val="150000"/>
              </a:lnSpc>
              <a:spcBef>
                <a:spcPts val="0"/>
              </a:spcBef>
            </a:pPr>
            <a:r>
              <a:rPr lang="en-GB" sz="2800" dirty="0" smtClean="0"/>
              <a:t>    </a:t>
            </a:r>
            <a:r>
              <a:rPr lang="en-GB" sz="2800" dirty="0" err="1" smtClean="0"/>
              <a:t>printf</a:t>
            </a:r>
            <a:r>
              <a:rPr lang="en-GB" sz="2800" dirty="0" smtClean="0"/>
              <a:t>("forked\n"); </a:t>
            </a:r>
          </a:p>
          <a:p>
            <a:pPr marL="514350" indent="-514350">
              <a:lnSpc>
                <a:spcPct val="150000"/>
              </a:lnSpc>
              <a:spcBef>
                <a:spcPts val="0"/>
              </a:spcBef>
            </a:pPr>
            <a:r>
              <a:rPr lang="en-GB" sz="2800" dirty="0" smtClean="0"/>
              <a:t>    return 0; </a:t>
            </a:r>
          </a:p>
          <a:p>
            <a:pPr marL="514350" indent="-514350">
              <a:lnSpc>
                <a:spcPct val="150000"/>
              </a:lnSpc>
              <a:spcBef>
                <a:spcPts val="0"/>
              </a:spcBef>
            </a:pPr>
            <a:r>
              <a:rPr lang="en-GB" sz="2800" dirty="0" smtClean="0"/>
              <a:t>}</a:t>
            </a:r>
            <a:endParaRPr lang="en-GB"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152400"/>
            <a:ext cx="8458200" cy="5562600"/>
          </a:xfrm>
        </p:spPr>
        <p:txBody>
          <a:bodyPr>
            <a:noAutofit/>
          </a:bodyPr>
          <a:lstStyle/>
          <a:p>
            <a:pPr marL="514350" indent="-514350">
              <a:lnSpc>
                <a:spcPct val="150000"/>
              </a:lnSpc>
              <a:spcBef>
                <a:spcPts val="0"/>
              </a:spcBef>
              <a:buFont typeface="Wingdings" pitchFamily="2" charset="2"/>
              <a:buChar char="Ø"/>
            </a:pPr>
            <a:r>
              <a:rPr lang="en-GB" sz="2800" dirty="0" smtClean="0"/>
              <a:t>A fork() system call spawn processes as leaves of growing binary tree. </a:t>
            </a:r>
          </a:p>
          <a:p>
            <a:pPr marL="514350" indent="-514350">
              <a:lnSpc>
                <a:spcPct val="150000"/>
              </a:lnSpc>
              <a:spcBef>
                <a:spcPts val="0"/>
              </a:spcBef>
              <a:buFont typeface="Wingdings" pitchFamily="2" charset="2"/>
              <a:buChar char="Ø"/>
            </a:pPr>
            <a:r>
              <a:rPr lang="en-GB" sz="2800" dirty="0" smtClean="0"/>
              <a:t>If we call fork() twice, it will spawn 2*2 = 4 processes. </a:t>
            </a:r>
          </a:p>
          <a:p>
            <a:pPr marL="514350" indent="-514350">
              <a:lnSpc>
                <a:spcPct val="150000"/>
              </a:lnSpc>
              <a:spcBef>
                <a:spcPts val="0"/>
              </a:spcBef>
              <a:buFont typeface="Wingdings" pitchFamily="2" charset="2"/>
              <a:buChar char="Ø"/>
            </a:pPr>
            <a:r>
              <a:rPr lang="en-GB" sz="2800" dirty="0" smtClean="0"/>
              <a:t>All these 4 processes forms the leaf children of binary tree. </a:t>
            </a:r>
          </a:p>
          <a:p>
            <a:pPr marL="514350" indent="-514350">
              <a:lnSpc>
                <a:spcPct val="150000"/>
              </a:lnSpc>
              <a:spcBef>
                <a:spcPts val="0"/>
              </a:spcBef>
              <a:buFont typeface="Wingdings" pitchFamily="2" charset="2"/>
              <a:buChar char="Ø"/>
            </a:pPr>
            <a:r>
              <a:rPr lang="en-GB" sz="2800" dirty="0" smtClean="0"/>
              <a:t>In general if we are level l, and fork() called unconditionally, we will have 2l processes at level (l+1). </a:t>
            </a:r>
          </a:p>
          <a:p>
            <a:pPr marL="514350" indent="-514350">
              <a:lnSpc>
                <a:spcPct val="150000"/>
              </a:lnSpc>
              <a:spcBef>
                <a:spcPts val="0"/>
              </a:spcBef>
              <a:buFont typeface="Wingdings" pitchFamily="2" charset="2"/>
              <a:buChar char="Ø"/>
            </a:pPr>
            <a:r>
              <a:rPr lang="en-GB" sz="2800" dirty="0" smtClean="0"/>
              <a:t>It is equivalent to number of maximum child nodes in a binary tree at level (l+1).</a:t>
            </a:r>
          </a:p>
          <a:p>
            <a:pPr marL="514350" indent="-514350">
              <a:lnSpc>
                <a:spcPct val="150000"/>
              </a:lnSpc>
              <a:spcBef>
                <a:spcPts val="0"/>
              </a:spcBef>
              <a:buFont typeface="Wingdings" pitchFamily="2" charset="2"/>
              <a:buChar char="Ø"/>
            </a:pPr>
            <a:endParaRPr lang="en-GB" sz="2800" dirty="0" smtClean="0"/>
          </a:p>
          <a:p>
            <a:pPr marL="514350" indent="-514350">
              <a:lnSpc>
                <a:spcPct val="150000"/>
              </a:lnSpc>
              <a:spcBef>
                <a:spcPts val="0"/>
              </a:spcBef>
              <a:buFont typeface="Wingdings" pitchFamily="2" charset="2"/>
              <a:buChar char="Ø"/>
            </a:pPr>
            <a:endParaRPr lang="en-GB"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76200"/>
            <a:ext cx="8229600" cy="5257800"/>
          </a:xfrm>
        </p:spPr>
        <p:txBody>
          <a:bodyPr>
            <a:noAutofit/>
          </a:bodyPr>
          <a:lstStyle/>
          <a:p>
            <a:pPr marL="514350" indent="-514350" algn="ctr">
              <a:lnSpc>
                <a:spcPct val="150000"/>
              </a:lnSpc>
              <a:spcBef>
                <a:spcPts val="0"/>
              </a:spcBef>
            </a:pPr>
            <a:r>
              <a:rPr lang="en-GB" sz="3600" dirty="0" smtClean="0"/>
              <a:t>Wait System Call in C</a:t>
            </a:r>
          </a:p>
          <a:p>
            <a:pPr marL="514350" indent="-514350">
              <a:lnSpc>
                <a:spcPct val="150000"/>
              </a:lnSpc>
              <a:spcBef>
                <a:spcPts val="0"/>
              </a:spcBef>
              <a:buFont typeface="Wingdings" pitchFamily="2" charset="2"/>
              <a:buChar char="Ø"/>
            </a:pPr>
            <a:r>
              <a:rPr lang="en-GB" sz="2800" dirty="0" smtClean="0"/>
              <a:t>A call to wait() blocks the calling process until one of its child processes exits or a signal is received. </a:t>
            </a:r>
          </a:p>
          <a:p>
            <a:pPr marL="514350" indent="-514350">
              <a:lnSpc>
                <a:spcPct val="150000"/>
              </a:lnSpc>
              <a:spcBef>
                <a:spcPts val="0"/>
              </a:spcBef>
              <a:buFont typeface="Wingdings" pitchFamily="2" charset="2"/>
              <a:buChar char="Ø"/>
            </a:pPr>
            <a:r>
              <a:rPr lang="en-GB" sz="2800" dirty="0" smtClean="0"/>
              <a:t>After child process terminates, parent continues its execution after wait system call instruction.</a:t>
            </a:r>
          </a:p>
          <a:p>
            <a:pPr marL="514350" indent="-514350">
              <a:lnSpc>
                <a:spcPct val="150000"/>
              </a:lnSpc>
              <a:spcBef>
                <a:spcPts val="0"/>
              </a:spcBef>
              <a:buFont typeface="Wingdings" pitchFamily="2" charset="2"/>
              <a:buChar char="Ø"/>
            </a:pPr>
            <a:r>
              <a:rPr lang="en-GB" sz="2800" dirty="0" smtClean="0"/>
              <a:t>Child process may terminate due to any of these: </a:t>
            </a:r>
          </a:p>
          <a:p>
            <a:pPr marL="514350" indent="-514350">
              <a:lnSpc>
                <a:spcPct val="150000"/>
              </a:lnSpc>
              <a:spcBef>
                <a:spcPts val="0"/>
              </a:spcBef>
              <a:buFont typeface="Wingdings" pitchFamily="2" charset="2"/>
              <a:buChar char="Ø"/>
            </a:pPr>
            <a:r>
              <a:rPr lang="en-GB" sz="2800" dirty="0" smtClean="0"/>
              <a:t>It calls exit();</a:t>
            </a:r>
          </a:p>
          <a:p>
            <a:pPr marL="514350" indent="-514350">
              <a:lnSpc>
                <a:spcPct val="150000"/>
              </a:lnSpc>
              <a:spcBef>
                <a:spcPts val="0"/>
              </a:spcBef>
              <a:buFont typeface="Wingdings" pitchFamily="2" charset="2"/>
              <a:buChar char="Ø"/>
            </a:pPr>
            <a:r>
              <a:rPr lang="en-GB" sz="2800" dirty="0" smtClean="0"/>
              <a:t>It returns (an int) from main</a:t>
            </a:r>
          </a:p>
          <a:p>
            <a:pPr marL="514350" indent="-514350">
              <a:lnSpc>
                <a:spcPct val="150000"/>
              </a:lnSpc>
              <a:spcBef>
                <a:spcPts val="0"/>
              </a:spcBef>
              <a:buFont typeface="Wingdings" pitchFamily="2" charset="2"/>
              <a:buChar char="Ø"/>
            </a:pPr>
            <a:r>
              <a:rPr lang="en-GB" sz="2800" dirty="0" smtClean="0"/>
              <a:t>It receives a signal (from the OS or another process) whose default action is to terminate.</a:t>
            </a:r>
          </a:p>
          <a:p>
            <a:pPr marL="514350" indent="-514350">
              <a:lnSpc>
                <a:spcPct val="150000"/>
              </a:lnSpc>
              <a:spcBef>
                <a:spcPts val="0"/>
              </a:spcBef>
            </a:pPr>
            <a:endParaRPr lang="en-GB"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s://media.geeksforgeeks.org/wp-content/uploads/Wait_system_call_in_c.jpg"/>
          <p:cNvPicPr>
            <a:picLocks noChangeAspect="1" noChangeArrowheads="1"/>
          </p:cNvPicPr>
          <p:nvPr/>
        </p:nvPicPr>
        <p:blipFill>
          <a:blip r:embed="rId2" cstate="print"/>
          <a:srcRect/>
          <a:stretch>
            <a:fillRect/>
          </a:stretch>
        </p:blipFill>
        <p:spPr bwMode="auto">
          <a:xfrm>
            <a:off x="457200" y="990602"/>
            <a:ext cx="8473960" cy="4800598"/>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81000"/>
            <a:ext cx="7696200" cy="6096000"/>
          </a:xfrm>
        </p:spPr>
        <p:txBody>
          <a:bodyPr>
            <a:noAutofit/>
          </a:bodyPr>
          <a:lstStyle/>
          <a:p>
            <a:pPr marL="514350" indent="-514350">
              <a:lnSpc>
                <a:spcPct val="150000"/>
              </a:lnSpc>
              <a:spcBef>
                <a:spcPts val="0"/>
              </a:spcBef>
            </a:pPr>
            <a:r>
              <a:rPr lang="en-GB" sz="2800" dirty="0" smtClean="0"/>
              <a:t>#include</a:t>
            </a:r>
          </a:p>
          <a:p>
            <a:pPr marL="514350" indent="-514350">
              <a:lnSpc>
                <a:spcPct val="150000"/>
              </a:lnSpc>
              <a:spcBef>
                <a:spcPts val="0"/>
              </a:spcBef>
            </a:pPr>
            <a:r>
              <a:rPr lang="en-GB" sz="2800" dirty="0" smtClean="0"/>
              <a:t>#include</a:t>
            </a:r>
          </a:p>
          <a:p>
            <a:pPr marL="514350" indent="-514350">
              <a:lnSpc>
                <a:spcPct val="150000"/>
              </a:lnSpc>
              <a:spcBef>
                <a:spcPts val="0"/>
              </a:spcBef>
            </a:pPr>
            <a:endParaRPr lang="en-GB" sz="2800" dirty="0" smtClean="0"/>
          </a:p>
          <a:p>
            <a:pPr marL="514350" indent="-514350">
              <a:lnSpc>
                <a:spcPct val="150000"/>
              </a:lnSpc>
              <a:spcBef>
                <a:spcPts val="0"/>
              </a:spcBef>
            </a:pPr>
            <a:r>
              <a:rPr lang="en-GB" sz="2800" dirty="0" smtClean="0"/>
              <a:t>// take one argument status and returns </a:t>
            </a:r>
          </a:p>
          <a:p>
            <a:pPr marL="514350" indent="-514350">
              <a:lnSpc>
                <a:spcPct val="150000"/>
              </a:lnSpc>
              <a:spcBef>
                <a:spcPts val="0"/>
              </a:spcBef>
            </a:pPr>
            <a:r>
              <a:rPr lang="en-GB" sz="2800" dirty="0" smtClean="0"/>
              <a:t>// a process ID of dead children.</a:t>
            </a:r>
          </a:p>
          <a:p>
            <a:pPr marL="514350" indent="-514350">
              <a:lnSpc>
                <a:spcPct val="150000"/>
              </a:lnSpc>
              <a:spcBef>
                <a:spcPts val="0"/>
              </a:spcBef>
            </a:pPr>
            <a:r>
              <a:rPr lang="en-GB" sz="2800" dirty="0" err="1" smtClean="0"/>
              <a:t>pid_t</a:t>
            </a:r>
            <a:r>
              <a:rPr lang="en-GB" sz="2800" dirty="0" smtClean="0"/>
              <a:t> wait(</a:t>
            </a:r>
            <a:r>
              <a:rPr lang="en-GB" sz="2800" dirty="0" err="1" smtClean="0"/>
              <a:t>int</a:t>
            </a:r>
            <a:r>
              <a:rPr lang="en-GB" sz="2800" dirty="0" smtClean="0"/>
              <a:t> *</a:t>
            </a:r>
            <a:r>
              <a:rPr lang="en-GB" sz="2800" dirty="0" err="1" smtClean="0"/>
              <a:t>stat_loc</a:t>
            </a:r>
            <a:r>
              <a:rPr lang="en-GB" sz="2800" dirty="0" smtClean="0"/>
              <a:t>); </a:t>
            </a:r>
            <a:endParaRPr lang="en-GB"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152400"/>
            <a:ext cx="8458200" cy="6400800"/>
          </a:xfrm>
        </p:spPr>
        <p:txBody>
          <a:bodyPr>
            <a:noAutofit/>
          </a:bodyPr>
          <a:lstStyle/>
          <a:p>
            <a:pPr marL="514350" indent="-514350">
              <a:lnSpc>
                <a:spcPct val="150000"/>
              </a:lnSpc>
              <a:spcBef>
                <a:spcPts val="0"/>
              </a:spcBef>
              <a:buFont typeface="Wingdings" pitchFamily="2" charset="2"/>
              <a:buChar char="Ø"/>
            </a:pPr>
            <a:r>
              <a:rPr lang="en-GB" sz="2800" b="1" i="1" dirty="0" smtClean="0">
                <a:solidFill>
                  <a:srgbClr val="FF0000"/>
                </a:solidFill>
              </a:rPr>
              <a:t>If any process has more than one child processes, then after calling wait(), parent process has to be in wait state if no child terminates.</a:t>
            </a:r>
          </a:p>
          <a:p>
            <a:pPr marL="514350" indent="-514350">
              <a:lnSpc>
                <a:spcPct val="150000"/>
              </a:lnSpc>
              <a:spcBef>
                <a:spcPts val="0"/>
              </a:spcBef>
              <a:buFont typeface="Wingdings" pitchFamily="2" charset="2"/>
              <a:buChar char="Ø"/>
            </a:pPr>
            <a:r>
              <a:rPr lang="en-GB" sz="2800" dirty="0" smtClean="0"/>
              <a:t>If only one child process is terminated, then return a wait() returns process ID of the terminated child process.</a:t>
            </a:r>
          </a:p>
          <a:p>
            <a:pPr marL="514350" indent="-514350">
              <a:lnSpc>
                <a:spcPct val="150000"/>
              </a:lnSpc>
              <a:spcBef>
                <a:spcPts val="0"/>
              </a:spcBef>
              <a:buFont typeface="Wingdings" pitchFamily="2" charset="2"/>
              <a:buChar char="Ø"/>
            </a:pPr>
            <a:r>
              <a:rPr lang="en-GB" sz="2800" dirty="0" smtClean="0"/>
              <a:t>If more than one child processes are terminated than wait() reap any arbitrarily child and return a process ID of that child process.</a:t>
            </a:r>
            <a:endParaRPr lang="en-GB"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457200"/>
            <a:ext cx="7924800" cy="5943600"/>
          </a:xfrm>
        </p:spPr>
        <p:txBody>
          <a:bodyPr>
            <a:noAutofit/>
          </a:bodyPr>
          <a:lstStyle/>
          <a:p>
            <a:pPr marL="514350" indent="-514350">
              <a:lnSpc>
                <a:spcPct val="150000"/>
              </a:lnSpc>
              <a:spcBef>
                <a:spcPts val="0"/>
              </a:spcBef>
              <a:buFont typeface="Wingdings" pitchFamily="2" charset="2"/>
              <a:buChar char="Ø"/>
            </a:pPr>
            <a:r>
              <a:rPr lang="en-GB" sz="2800" dirty="0" smtClean="0"/>
              <a:t>When wait() returns they also define exit status (which tells our, a process why terminated) via pointer, If status are not NULL.</a:t>
            </a:r>
          </a:p>
          <a:p>
            <a:pPr marL="514350" indent="-514350">
              <a:lnSpc>
                <a:spcPct val="150000"/>
              </a:lnSpc>
              <a:spcBef>
                <a:spcPts val="0"/>
              </a:spcBef>
              <a:buFont typeface="Wingdings" pitchFamily="2" charset="2"/>
              <a:buChar char="Ø"/>
            </a:pPr>
            <a:endParaRPr lang="en-GB" sz="2800" dirty="0" smtClean="0"/>
          </a:p>
          <a:p>
            <a:pPr marL="514350" indent="-514350">
              <a:lnSpc>
                <a:spcPct val="150000"/>
              </a:lnSpc>
              <a:spcBef>
                <a:spcPts val="0"/>
              </a:spcBef>
              <a:buFont typeface="Wingdings" pitchFamily="2" charset="2"/>
              <a:buChar char="Ø"/>
            </a:pPr>
            <a:r>
              <a:rPr lang="en-GB" sz="2800" b="1" i="1" dirty="0" smtClean="0">
                <a:solidFill>
                  <a:srgbClr val="FF0000"/>
                </a:solidFill>
              </a:rPr>
              <a:t>If any process has no child process then wait() returns immediately “-1”.</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229600" cy="5257800"/>
          </a:xfrm>
        </p:spPr>
        <p:txBody>
          <a:bodyPr>
            <a:noAutofit/>
          </a:bodyPr>
          <a:lstStyle/>
          <a:p>
            <a:pPr marL="514350" indent="-514350">
              <a:spcAft>
                <a:spcPts val="600"/>
              </a:spcAft>
            </a:pPr>
            <a:r>
              <a:rPr lang="en-GB" dirty="0" smtClean="0"/>
              <a:t>// C program to demonstrate working of wait() </a:t>
            </a:r>
          </a:p>
          <a:p>
            <a:pPr marL="514350" indent="-514350">
              <a:spcAft>
                <a:spcPts val="600"/>
              </a:spcAft>
            </a:pPr>
            <a:r>
              <a:rPr lang="en-GB" dirty="0" smtClean="0"/>
              <a:t>#include&lt;</a:t>
            </a:r>
            <a:r>
              <a:rPr lang="en-GB" dirty="0" err="1" smtClean="0"/>
              <a:t>stdio.h</a:t>
            </a:r>
            <a:r>
              <a:rPr lang="en-GB" dirty="0" smtClean="0"/>
              <a:t>&gt; </a:t>
            </a:r>
          </a:p>
          <a:p>
            <a:pPr marL="514350" indent="-514350">
              <a:spcAft>
                <a:spcPts val="600"/>
              </a:spcAft>
            </a:pPr>
            <a:r>
              <a:rPr lang="en-GB" dirty="0" smtClean="0"/>
              <a:t>#include&lt;</a:t>
            </a:r>
            <a:r>
              <a:rPr lang="en-GB" dirty="0" err="1" smtClean="0"/>
              <a:t>stdlib.h</a:t>
            </a:r>
            <a:r>
              <a:rPr lang="en-GB" dirty="0" smtClean="0"/>
              <a:t>&gt; </a:t>
            </a:r>
          </a:p>
          <a:p>
            <a:pPr marL="514350" indent="-514350">
              <a:spcAft>
                <a:spcPts val="600"/>
              </a:spcAft>
            </a:pPr>
            <a:r>
              <a:rPr lang="en-GB" dirty="0" smtClean="0"/>
              <a:t>#include&lt;sys/</a:t>
            </a:r>
            <a:r>
              <a:rPr lang="en-GB" dirty="0" err="1" smtClean="0"/>
              <a:t>wait.h</a:t>
            </a:r>
            <a:r>
              <a:rPr lang="en-GB" dirty="0" smtClean="0"/>
              <a:t>&gt; </a:t>
            </a:r>
          </a:p>
          <a:p>
            <a:pPr marL="514350" indent="-514350">
              <a:spcAft>
                <a:spcPts val="600"/>
              </a:spcAft>
            </a:pPr>
            <a:r>
              <a:rPr lang="en-GB" dirty="0" smtClean="0"/>
              <a:t>#include&lt;</a:t>
            </a:r>
            <a:r>
              <a:rPr lang="en-GB" dirty="0" err="1" smtClean="0"/>
              <a:t>unistd.h</a:t>
            </a:r>
            <a:r>
              <a:rPr lang="en-GB" dirty="0" smtClean="0"/>
              <a:t>&gt;   </a:t>
            </a:r>
          </a:p>
          <a:p>
            <a:pPr marL="514350" indent="-514350">
              <a:spcAft>
                <a:spcPts val="600"/>
              </a:spcAft>
            </a:pPr>
            <a:r>
              <a:rPr lang="en-GB" dirty="0" smtClean="0"/>
              <a:t>int main()  { </a:t>
            </a:r>
          </a:p>
          <a:p>
            <a:pPr marL="514350" indent="-514350">
              <a:spcAft>
                <a:spcPts val="600"/>
              </a:spcAft>
            </a:pPr>
            <a:r>
              <a:rPr lang="en-GB" dirty="0" smtClean="0"/>
              <a:t>    </a:t>
            </a:r>
            <a:r>
              <a:rPr lang="en-GB" dirty="0" err="1" smtClean="0"/>
              <a:t>pid_t</a:t>
            </a:r>
            <a:r>
              <a:rPr lang="en-GB" dirty="0" smtClean="0"/>
              <a:t> </a:t>
            </a:r>
            <a:r>
              <a:rPr lang="en-GB" dirty="0" err="1" smtClean="0"/>
              <a:t>cpid</a:t>
            </a:r>
            <a:r>
              <a:rPr lang="en-GB" dirty="0" smtClean="0"/>
              <a:t>; </a:t>
            </a:r>
          </a:p>
          <a:p>
            <a:pPr marL="514350" indent="-514350">
              <a:spcAft>
                <a:spcPts val="600"/>
              </a:spcAft>
            </a:pPr>
            <a:r>
              <a:rPr lang="en-GB" dirty="0" smtClean="0"/>
              <a:t>    if (fork()== 0)         exit(0);           /* terminate child */</a:t>
            </a:r>
          </a:p>
          <a:p>
            <a:pPr marL="514350" indent="-514350">
              <a:spcAft>
                <a:spcPts val="600"/>
              </a:spcAft>
            </a:pPr>
            <a:r>
              <a:rPr lang="en-GB" dirty="0" smtClean="0"/>
              <a:t>    else</a:t>
            </a:r>
          </a:p>
          <a:p>
            <a:pPr marL="514350" indent="-514350">
              <a:spcAft>
                <a:spcPts val="600"/>
              </a:spcAft>
            </a:pPr>
            <a:r>
              <a:rPr lang="en-GB" dirty="0" smtClean="0"/>
              <a:t>        </a:t>
            </a:r>
            <a:r>
              <a:rPr lang="en-GB" dirty="0" err="1" smtClean="0"/>
              <a:t>cpid</a:t>
            </a:r>
            <a:r>
              <a:rPr lang="en-GB" dirty="0" smtClean="0"/>
              <a:t> = wait(NULL); /* reaping parent */</a:t>
            </a:r>
          </a:p>
          <a:p>
            <a:pPr marL="514350" indent="-514350">
              <a:spcAft>
                <a:spcPts val="600"/>
              </a:spcAft>
            </a:pPr>
            <a:r>
              <a:rPr lang="en-GB" dirty="0" smtClean="0"/>
              <a:t>    </a:t>
            </a:r>
            <a:r>
              <a:rPr lang="en-GB" dirty="0" err="1" smtClean="0"/>
              <a:t>printf</a:t>
            </a:r>
            <a:r>
              <a:rPr lang="en-GB" dirty="0" smtClean="0"/>
              <a:t>("Parent </a:t>
            </a:r>
            <a:r>
              <a:rPr lang="en-GB" dirty="0" err="1" smtClean="0"/>
              <a:t>pid</a:t>
            </a:r>
            <a:r>
              <a:rPr lang="en-GB" dirty="0" smtClean="0"/>
              <a:t> = %d\n", </a:t>
            </a:r>
            <a:r>
              <a:rPr lang="en-GB" dirty="0" err="1" smtClean="0"/>
              <a:t>getpid</a:t>
            </a:r>
            <a:r>
              <a:rPr lang="en-GB" dirty="0" smtClean="0"/>
              <a:t>()); </a:t>
            </a:r>
          </a:p>
          <a:p>
            <a:pPr marL="514350" indent="-514350">
              <a:spcAft>
                <a:spcPts val="600"/>
              </a:spcAft>
            </a:pPr>
            <a:r>
              <a:rPr lang="en-GB" dirty="0" smtClean="0"/>
              <a:t>    </a:t>
            </a:r>
            <a:r>
              <a:rPr lang="en-GB" dirty="0" err="1" smtClean="0"/>
              <a:t>printf</a:t>
            </a:r>
            <a:r>
              <a:rPr lang="en-GB" dirty="0" smtClean="0"/>
              <a:t>("Child </a:t>
            </a:r>
            <a:r>
              <a:rPr lang="en-GB" dirty="0" err="1" smtClean="0"/>
              <a:t>pid</a:t>
            </a:r>
            <a:r>
              <a:rPr lang="en-GB" dirty="0" smtClean="0"/>
              <a:t> = %d\n", </a:t>
            </a:r>
            <a:r>
              <a:rPr lang="en-GB" dirty="0" err="1" smtClean="0"/>
              <a:t>cpid</a:t>
            </a:r>
            <a:r>
              <a:rPr lang="en-GB" dirty="0" smtClean="0"/>
              <a:t>);     return 0;   }</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990600"/>
            <a:ext cx="8077200" cy="5257800"/>
          </a:xfrm>
        </p:spPr>
        <p:txBody>
          <a:bodyPr>
            <a:noAutofit/>
          </a:bodyPr>
          <a:lstStyle/>
          <a:p>
            <a:pPr marL="514350" indent="-514350">
              <a:spcAft>
                <a:spcPts val="600"/>
              </a:spcAft>
            </a:pPr>
            <a:r>
              <a:rPr lang="en-GB" dirty="0" smtClean="0"/>
              <a:t>Output:</a:t>
            </a:r>
          </a:p>
          <a:p>
            <a:pPr marL="514350" indent="-514350">
              <a:spcAft>
                <a:spcPts val="600"/>
              </a:spcAft>
            </a:pPr>
            <a:endParaRPr lang="en-GB" dirty="0" smtClean="0"/>
          </a:p>
          <a:p>
            <a:pPr marL="514350" indent="-514350">
              <a:spcAft>
                <a:spcPts val="600"/>
              </a:spcAft>
            </a:pPr>
            <a:r>
              <a:rPr lang="en-GB" dirty="0" smtClean="0"/>
              <a:t>Parent </a:t>
            </a:r>
            <a:r>
              <a:rPr lang="en-GB" dirty="0" err="1" smtClean="0"/>
              <a:t>pid</a:t>
            </a:r>
            <a:r>
              <a:rPr lang="en-GB" dirty="0" smtClean="0"/>
              <a:t> = 12345678 </a:t>
            </a:r>
          </a:p>
          <a:p>
            <a:pPr marL="514350" indent="-514350">
              <a:spcAft>
                <a:spcPts val="600"/>
              </a:spcAft>
            </a:pPr>
            <a:r>
              <a:rPr lang="en-GB" dirty="0" smtClean="0"/>
              <a:t>Child </a:t>
            </a:r>
            <a:r>
              <a:rPr lang="en-GB" dirty="0" err="1" smtClean="0"/>
              <a:t>pid</a:t>
            </a:r>
            <a:r>
              <a:rPr lang="en-GB" dirty="0" smtClean="0"/>
              <a:t> = 89546848 </a:t>
            </a:r>
          </a:p>
          <a:p>
            <a:pPr marL="514350" indent="-514350">
              <a:spcAft>
                <a:spcPts val="600"/>
              </a:spcAft>
            </a:pPr>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229600" cy="5257800"/>
          </a:xfrm>
        </p:spPr>
        <p:txBody>
          <a:bodyPr>
            <a:noAutofit/>
          </a:bodyPr>
          <a:lstStyle/>
          <a:p>
            <a:pPr marL="514350" indent="-514350">
              <a:spcAft>
                <a:spcPts val="600"/>
              </a:spcAft>
            </a:pPr>
            <a:r>
              <a:rPr lang="en-GB" sz="2400" dirty="0" smtClean="0"/>
              <a:t>#include&lt;</a:t>
            </a:r>
            <a:r>
              <a:rPr lang="en-GB" sz="2400" dirty="0" err="1" smtClean="0"/>
              <a:t>stdio.h</a:t>
            </a:r>
            <a:r>
              <a:rPr lang="en-GB" sz="2400" dirty="0" smtClean="0"/>
              <a:t>&gt; </a:t>
            </a:r>
          </a:p>
          <a:p>
            <a:pPr marL="514350" indent="-514350">
              <a:spcAft>
                <a:spcPts val="600"/>
              </a:spcAft>
            </a:pPr>
            <a:r>
              <a:rPr lang="en-GB" sz="2400" dirty="0" smtClean="0"/>
              <a:t>#include&lt;sys/</a:t>
            </a:r>
            <a:r>
              <a:rPr lang="en-GB" sz="2400" dirty="0" err="1" smtClean="0"/>
              <a:t>wait.h</a:t>
            </a:r>
            <a:r>
              <a:rPr lang="en-GB" sz="2400" dirty="0" smtClean="0"/>
              <a:t>&gt; </a:t>
            </a:r>
          </a:p>
          <a:p>
            <a:pPr marL="514350" indent="-514350">
              <a:spcAft>
                <a:spcPts val="600"/>
              </a:spcAft>
            </a:pPr>
            <a:r>
              <a:rPr lang="en-GB" sz="2400" dirty="0" smtClean="0"/>
              <a:t>#include&lt;</a:t>
            </a:r>
            <a:r>
              <a:rPr lang="en-GB" sz="2400" dirty="0" err="1" smtClean="0"/>
              <a:t>unistd.h</a:t>
            </a:r>
            <a:r>
              <a:rPr lang="en-GB" sz="2400" dirty="0" smtClean="0"/>
              <a:t>&gt;   </a:t>
            </a:r>
          </a:p>
          <a:p>
            <a:pPr marL="514350" indent="-514350">
              <a:spcAft>
                <a:spcPts val="600"/>
              </a:spcAft>
            </a:pPr>
            <a:r>
              <a:rPr lang="en-GB" sz="2400" dirty="0" smtClean="0"/>
              <a:t>int main() { </a:t>
            </a:r>
          </a:p>
          <a:p>
            <a:pPr marL="514350" indent="-514350">
              <a:spcAft>
                <a:spcPts val="600"/>
              </a:spcAft>
            </a:pPr>
            <a:r>
              <a:rPr lang="en-GB" sz="2400" dirty="0" smtClean="0"/>
              <a:t>    if (fork()== 0) </a:t>
            </a:r>
          </a:p>
          <a:p>
            <a:pPr marL="514350" indent="-514350">
              <a:spcAft>
                <a:spcPts val="600"/>
              </a:spcAft>
            </a:pPr>
            <a:r>
              <a:rPr lang="en-GB" sz="2400" dirty="0" smtClean="0"/>
              <a:t>        </a:t>
            </a:r>
            <a:r>
              <a:rPr lang="en-GB" sz="2400" dirty="0" err="1" smtClean="0"/>
              <a:t>printf</a:t>
            </a:r>
            <a:r>
              <a:rPr lang="en-GB" sz="2400" dirty="0" smtClean="0"/>
              <a:t>("HC: hello from child\n"); </a:t>
            </a:r>
          </a:p>
          <a:p>
            <a:pPr marL="514350" indent="-514350">
              <a:spcAft>
                <a:spcPts val="600"/>
              </a:spcAft>
            </a:pPr>
            <a:r>
              <a:rPr lang="en-GB" sz="2400" dirty="0" smtClean="0"/>
              <a:t>    else     { </a:t>
            </a:r>
          </a:p>
          <a:p>
            <a:pPr marL="514350" indent="-514350">
              <a:spcAft>
                <a:spcPts val="600"/>
              </a:spcAft>
            </a:pPr>
            <a:r>
              <a:rPr lang="en-GB" sz="2400" dirty="0" smtClean="0"/>
              <a:t>        </a:t>
            </a:r>
            <a:r>
              <a:rPr lang="en-GB" sz="2400" dirty="0" err="1" smtClean="0"/>
              <a:t>printf</a:t>
            </a:r>
            <a:r>
              <a:rPr lang="en-GB" sz="2400" dirty="0" smtClean="0"/>
              <a:t>("HP: hello from parent\n"); </a:t>
            </a:r>
          </a:p>
          <a:p>
            <a:pPr marL="514350" indent="-514350">
              <a:spcAft>
                <a:spcPts val="600"/>
              </a:spcAft>
            </a:pPr>
            <a:r>
              <a:rPr lang="en-GB" sz="2400" dirty="0" smtClean="0"/>
              <a:t>        wait(NULL); </a:t>
            </a:r>
          </a:p>
          <a:p>
            <a:pPr marL="514350" indent="-514350">
              <a:spcAft>
                <a:spcPts val="600"/>
              </a:spcAft>
            </a:pPr>
            <a:r>
              <a:rPr lang="en-GB" sz="2400" dirty="0" smtClean="0"/>
              <a:t>        </a:t>
            </a:r>
            <a:r>
              <a:rPr lang="en-GB" sz="2400" dirty="0" err="1" smtClean="0"/>
              <a:t>printf</a:t>
            </a:r>
            <a:r>
              <a:rPr lang="en-GB" sz="2400" dirty="0" smtClean="0"/>
              <a:t>("CT: child has terminated\n");     }   </a:t>
            </a:r>
          </a:p>
          <a:p>
            <a:pPr marL="514350" indent="-514350">
              <a:spcAft>
                <a:spcPts val="600"/>
              </a:spcAft>
            </a:pPr>
            <a:r>
              <a:rPr lang="en-GB" sz="2400" dirty="0" smtClean="0"/>
              <a:t>    </a:t>
            </a:r>
            <a:r>
              <a:rPr lang="en-GB" sz="2400" dirty="0" err="1" smtClean="0"/>
              <a:t>printf</a:t>
            </a:r>
            <a:r>
              <a:rPr lang="en-GB" sz="2400" dirty="0" smtClean="0"/>
              <a:t>("Bye\n"); </a:t>
            </a:r>
          </a:p>
          <a:p>
            <a:pPr marL="514350" indent="-514350">
              <a:spcAft>
                <a:spcPts val="600"/>
              </a:spcAft>
            </a:pPr>
            <a:r>
              <a:rPr lang="en-GB" sz="2400" dirty="0" smtClean="0"/>
              <a:t>    return 0; </a:t>
            </a:r>
          </a:p>
          <a:p>
            <a:pPr marL="514350" indent="-514350">
              <a:spcAft>
                <a:spcPts val="600"/>
              </a:spcAft>
            </a:pPr>
            <a:r>
              <a:rPr lang="en-GB" sz="2400" dirty="0" smtClean="0"/>
              <a:t>} 	</a:t>
            </a:r>
          </a:p>
          <a:p>
            <a:pPr marL="514350" indent="-514350">
              <a:spcAft>
                <a:spcPts val="600"/>
              </a:spcAft>
            </a:pPr>
            <a:endParaRPr lang="en-GB"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229600" cy="5257800"/>
          </a:xfrm>
        </p:spPr>
        <p:txBody>
          <a:bodyPr>
            <a:noAutofit/>
          </a:bodyPr>
          <a:lstStyle/>
          <a:p>
            <a:pPr marL="514350" indent="-514350">
              <a:spcAft>
                <a:spcPts val="600"/>
              </a:spcAft>
            </a:pPr>
            <a:r>
              <a:rPr lang="en-GB" sz="2800" dirty="0" smtClean="0"/>
              <a:t>	Output: depend on environment</a:t>
            </a:r>
          </a:p>
          <a:p>
            <a:pPr marL="514350" indent="-514350">
              <a:spcAft>
                <a:spcPts val="600"/>
              </a:spcAft>
            </a:pPr>
            <a:r>
              <a:rPr lang="en-GB" dirty="0" smtClean="0"/>
              <a:t>HC: hello from child</a:t>
            </a:r>
          </a:p>
          <a:p>
            <a:pPr marL="514350" indent="-514350">
              <a:spcAft>
                <a:spcPts val="600"/>
              </a:spcAft>
            </a:pPr>
            <a:r>
              <a:rPr lang="en-GB" dirty="0" smtClean="0"/>
              <a:t>Bye</a:t>
            </a:r>
          </a:p>
          <a:p>
            <a:pPr marL="514350" indent="-514350">
              <a:spcAft>
                <a:spcPts val="600"/>
              </a:spcAft>
            </a:pPr>
            <a:r>
              <a:rPr lang="en-GB" dirty="0" smtClean="0"/>
              <a:t>HP: hello from parent</a:t>
            </a:r>
          </a:p>
          <a:p>
            <a:pPr marL="514350" indent="-514350">
              <a:spcAft>
                <a:spcPts val="600"/>
              </a:spcAft>
            </a:pPr>
            <a:r>
              <a:rPr lang="en-GB" dirty="0" smtClean="0"/>
              <a:t>CT: child has terminated</a:t>
            </a:r>
          </a:p>
          <a:p>
            <a:pPr marL="514350" indent="-514350">
              <a:spcAft>
                <a:spcPts val="600"/>
              </a:spcAft>
            </a:pPr>
            <a:r>
              <a:rPr lang="en-GB" dirty="0" smtClean="0"/>
              <a:t>     (or)</a:t>
            </a:r>
          </a:p>
          <a:p>
            <a:pPr marL="514350" indent="-514350">
              <a:spcAft>
                <a:spcPts val="600"/>
              </a:spcAft>
            </a:pPr>
            <a:r>
              <a:rPr lang="en-GB" dirty="0" smtClean="0"/>
              <a:t>HP: hello from parent</a:t>
            </a:r>
          </a:p>
          <a:p>
            <a:pPr marL="514350" indent="-514350">
              <a:spcAft>
                <a:spcPts val="600"/>
              </a:spcAft>
            </a:pPr>
            <a:r>
              <a:rPr lang="en-GB" dirty="0" smtClean="0"/>
              <a:t>HC: hello from child</a:t>
            </a:r>
          </a:p>
          <a:p>
            <a:pPr marL="514350" indent="-514350">
              <a:spcAft>
                <a:spcPts val="600"/>
              </a:spcAft>
            </a:pPr>
            <a:r>
              <a:rPr lang="en-GB" dirty="0" smtClean="0"/>
              <a:t>CT: child has terminated    // this sentence does </a:t>
            </a:r>
          </a:p>
          <a:p>
            <a:pPr marL="514350" indent="-514350">
              <a:spcAft>
                <a:spcPts val="600"/>
              </a:spcAft>
            </a:pPr>
            <a:r>
              <a:rPr lang="en-GB" dirty="0" smtClean="0"/>
              <a:t>                            // not print before HC </a:t>
            </a:r>
          </a:p>
          <a:p>
            <a:pPr marL="514350" indent="-514350">
              <a:spcAft>
                <a:spcPts val="600"/>
              </a:spcAft>
            </a:pPr>
            <a:r>
              <a:rPr lang="en-GB" dirty="0" smtClean="0"/>
              <a:t>                            // because of wait.</a:t>
            </a:r>
          </a:p>
          <a:p>
            <a:pPr marL="514350" indent="-514350">
              <a:spcAft>
                <a:spcPts val="600"/>
              </a:spcAft>
            </a:pPr>
            <a:r>
              <a:rPr lang="en-GB" dirty="0" smtClean="0"/>
              <a:t>Bye</a:t>
            </a:r>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152400"/>
            <a:ext cx="8305800" cy="5257800"/>
          </a:xfrm>
        </p:spPr>
        <p:txBody>
          <a:bodyPr>
            <a:noAutofit/>
          </a:bodyPr>
          <a:lstStyle/>
          <a:p>
            <a:pPr marL="514350" indent="-514350">
              <a:spcAft>
                <a:spcPts val="600"/>
              </a:spcAft>
            </a:pPr>
            <a:r>
              <a:rPr lang="en-GB" sz="3600" dirty="0" smtClean="0"/>
              <a:t>Child status information:</a:t>
            </a:r>
          </a:p>
          <a:p>
            <a:pPr marL="514350" indent="-514350">
              <a:lnSpc>
                <a:spcPct val="150000"/>
              </a:lnSpc>
              <a:spcBef>
                <a:spcPts val="0"/>
              </a:spcBef>
              <a:buFont typeface="Wingdings" pitchFamily="2" charset="2"/>
              <a:buChar char="Ø"/>
            </a:pPr>
            <a:r>
              <a:rPr lang="en-GB" sz="2800" dirty="0" smtClean="0"/>
              <a:t>Status information about the child reported by wait is more than just the exit status of the child, it also includes</a:t>
            </a:r>
          </a:p>
          <a:p>
            <a:pPr marL="514350" indent="-514350">
              <a:lnSpc>
                <a:spcPct val="150000"/>
              </a:lnSpc>
              <a:spcBef>
                <a:spcPts val="0"/>
              </a:spcBef>
              <a:buFont typeface="Wingdings" pitchFamily="2" charset="2"/>
              <a:buChar char="Ø"/>
            </a:pPr>
            <a:r>
              <a:rPr lang="en-GB" sz="2800" b="1" i="1" dirty="0" smtClean="0"/>
              <a:t>normal/abnormal termination</a:t>
            </a:r>
          </a:p>
          <a:p>
            <a:pPr marL="514350" indent="-514350">
              <a:lnSpc>
                <a:spcPct val="150000"/>
              </a:lnSpc>
              <a:spcBef>
                <a:spcPts val="0"/>
              </a:spcBef>
              <a:buFont typeface="Wingdings" pitchFamily="2" charset="2"/>
              <a:buChar char="Ø"/>
            </a:pPr>
            <a:r>
              <a:rPr lang="en-GB" sz="2800" b="1" i="1" dirty="0" smtClean="0"/>
              <a:t>termination cause</a:t>
            </a:r>
          </a:p>
          <a:p>
            <a:pPr marL="514350" indent="-514350">
              <a:lnSpc>
                <a:spcPct val="150000"/>
              </a:lnSpc>
              <a:spcBef>
                <a:spcPts val="0"/>
              </a:spcBef>
              <a:buFont typeface="Wingdings" pitchFamily="2" charset="2"/>
              <a:buChar char="Ø"/>
            </a:pPr>
            <a:r>
              <a:rPr lang="en-GB" sz="2800" b="1" i="1" dirty="0" smtClean="0"/>
              <a:t>exit status</a:t>
            </a:r>
          </a:p>
          <a:p>
            <a:pPr marL="514350" indent="-514350">
              <a:lnSpc>
                <a:spcPct val="150000"/>
              </a:lnSpc>
              <a:spcBef>
                <a:spcPts val="0"/>
              </a:spcBef>
            </a:pPr>
            <a:r>
              <a:rPr lang="en-GB" sz="2800" dirty="0" smtClean="0"/>
              <a:t>/*if we want to print information about a signal */ </a:t>
            </a:r>
          </a:p>
          <a:p>
            <a:pPr marL="514350" indent="-514350">
              <a:lnSpc>
                <a:spcPct val="150000"/>
              </a:lnSpc>
              <a:spcBef>
                <a:spcPts val="0"/>
              </a:spcBef>
            </a:pPr>
            <a:r>
              <a:rPr lang="en-GB" sz="2800" dirty="0" smtClean="0"/>
              <a:t>	void </a:t>
            </a:r>
            <a:r>
              <a:rPr lang="en-GB" sz="2800" dirty="0" err="1" smtClean="0"/>
              <a:t>psignal</a:t>
            </a:r>
            <a:r>
              <a:rPr lang="en-GB" sz="2800" dirty="0" smtClean="0"/>
              <a:t>(unsigned sig, const char *s);</a:t>
            </a:r>
          </a:p>
          <a:p>
            <a:pPr marL="514350" indent="-514350">
              <a:lnSpc>
                <a:spcPct val="150000"/>
              </a:lnSpc>
              <a:spcBef>
                <a:spcPts val="0"/>
              </a:spcBef>
            </a:pPr>
            <a:r>
              <a:rPr lang="en-GB" sz="2800" dirty="0" smtClean="0"/>
              <a:t>To  find information about status, we use WIF….macros</a:t>
            </a:r>
            <a:endParaRPr lang="en-GB"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0"/>
            <a:ext cx="8001000" cy="6705600"/>
          </a:xfrm>
        </p:spPr>
        <p:txBody>
          <a:bodyPr>
            <a:noAutofit/>
          </a:bodyPr>
          <a:lstStyle/>
          <a:p>
            <a:pPr marL="514350" indent="-514350">
              <a:lnSpc>
                <a:spcPct val="150000"/>
              </a:lnSpc>
              <a:spcBef>
                <a:spcPts val="0"/>
              </a:spcBef>
            </a:pPr>
            <a:r>
              <a:rPr lang="en-GB" sz="2800" dirty="0" smtClean="0"/>
              <a:t>1. WIFEXITED(status): child exited normally</a:t>
            </a:r>
          </a:p>
          <a:p>
            <a:pPr marL="514350" indent="-514350">
              <a:lnSpc>
                <a:spcPct val="150000"/>
              </a:lnSpc>
              <a:spcBef>
                <a:spcPts val="0"/>
              </a:spcBef>
            </a:pPr>
            <a:r>
              <a:rPr lang="en-GB" sz="2800" dirty="0" smtClean="0"/>
              <a:t>• WEXITSTATUS(status): return code when child exits</a:t>
            </a:r>
          </a:p>
          <a:p>
            <a:pPr marL="514350" indent="-514350">
              <a:lnSpc>
                <a:spcPct val="150000"/>
              </a:lnSpc>
              <a:spcBef>
                <a:spcPts val="0"/>
              </a:spcBef>
            </a:pPr>
            <a:endParaRPr lang="en-GB" sz="1600" dirty="0" smtClean="0"/>
          </a:p>
          <a:p>
            <a:pPr marL="514350" indent="-514350">
              <a:lnSpc>
                <a:spcPct val="150000"/>
              </a:lnSpc>
              <a:spcBef>
                <a:spcPts val="0"/>
              </a:spcBef>
            </a:pPr>
            <a:r>
              <a:rPr lang="en-GB" sz="2800" dirty="0" smtClean="0"/>
              <a:t>2. WIFSIGNALED(status): child exited because a signal was not caught</a:t>
            </a:r>
          </a:p>
          <a:p>
            <a:pPr marL="514350" indent="-514350">
              <a:lnSpc>
                <a:spcPct val="150000"/>
              </a:lnSpc>
              <a:spcBef>
                <a:spcPts val="0"/>
              </a:spcBef>
            </a:pPr>
            <a:r>
              <a:rPr lang="en-GB" sz="2800" dirty="0" smtClean="0"/>
              <a:t>• WTERMSIG(status): gives the number of the terminating signal</a:t>
            </a:r>
          </a:p>
          <a:p>
            <a:pPr marL="514350" indent="-514350">
              <a:lnSpc>
                <a:spcPct val="150000"/>
              </a:lnSpc>
              <a:spcBef>
                <a:spcPts val="0"/>
              </a:spcBef>
            </a:pPr>
            <a:endParaRPr lang="en-GB" sz="1600" dirty="0" smtClean="0"/>
          </a:p>
          <a:p>
            <a:pPr marL="514350" indent="-514350">
              <a:lnSpc>
                <a:spcPct val="150000"/>
              </a:lnSpc>
              <a:spcBef>
                <a:spcPts val="0"/>
              </a:spcBef>
            </a:pPr>
            <a:r>
              <a:rPr lang="en-GB" sz="2800" dirty="0" smtClean="0"/>
              <a:t>3. WIFSTOPPED(status): child is stopped</a:t>
            </a:r>
          </a:p>
          <a:p>
            <a:pPr marL="514350" indent="-514350">
              <a:lnSpc>
                <a:spcPct val="150000"/>
              </a:lnSpc>
              <a:spcBef>
                <a:spcPts val="0"/>
              </a:spcBef>
            </a:pPr>
            <a:r>
              <a:rPr lang="en-GB" sz="2800" dirty="0" smtClean="0"/>
              <a:t>• WSTOPSIG(status): gives the number of the stop signal</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001000" cy="5257800"/>
          </a:xfrm>
        </p:spPr>
        <p:txBody>
          <a:bodyPr>
            <a:noAutofit/>
          </a:bodyPr>
          <a:lstStyle/>
          <a:p>
            <a:pPr marL="514350" indent="-514350">
              <a:spcAft>
                <a:spcPts val="600"/>
              </a:spcAft>
            </a:pPr>
            <a:r>
              <a:rPr lang="en-GB" sz="2800" dirty="0" smtClean="0"/>
              <a:t>// C program to demonstrate working of status from wait. </a:t>
            </a:r>
          </a:p>
          <a:p>
            <a:pPr marL="514350" indent="-514350">
              <a:spcAft>
                <a:spcPts val="600"/>
              </a:spcAft>
            </a:pPr>
            <a:r>
              <a:rPr lang="en-GB" sz="2800" dirty="0" smtClean="0"/>
              <a:t>#include&lt;</a:t>
            </a:r>
            <a:r>
              <a:rPr lang="en-GB" sz="2800" dirty="0" err="1" smtClean="0"/>
              <a:t>stdio.h</a:t>
            </a:r>
            <a:r>
              <a:rPr lang="en-GB" sz="2800" dirty="0" smtClean="0"/>
              <a:t>&gt; </a:t>
            </a:r>
          </a:p>
          <a:p>
            <a:pPr marL="514350" indent="-514350">
              <a:spcAft>
                <a:spcPts val="600"/>
              </a:spcAft>
            </a:pPr>
            <a:r>
              <a:rPr lang="en-GB" sz="2800" dirty="0" smtClean="0"/>
              <a:t>#include&lt;</a:t>
            </a:r>
            <a:r>
              <a:rPr lang="en-GB" sz="2800" dirty="0" err="1" smtClean="0"/>
              <a:t>stdlib.h</a:t>
            </a:r>
            <a:r>
              <a:rPr lang="en-GB" sz="2800" dirty="0" smtClean="0"/>
              <a:t>&gt; </a:t>
            </a:r>
          </a:p>
          <a:p>
            <a:pPr marL="514350" indent="-514350">
              <a:spcAft>
                <a:spcPts val="600"/>
              </a:spcAft>
            </a:pPr>
            <a:r>
              <a:rPr lang="en-GB" sz="2800" dirty="0" smtClean="0"/>
              <a:t>#include&lt;sys/</a:t>
            </a:r>
            <a:r>
              <a:rPr lang="en-GB" sz="2800" dirty="0" err="1" smtClean="0"/>
              <a:t>wait.h</a:t>
            </a:r>
            <a:r>
              <a:rPr lang="en-GB" sz="2800" dirty="0" smtClean="0"/>
              <a:t>&gt; </a:t>
            </a:r>
          </a:p>
          <a:p>
            <a:pPr marL="514350" indent="-514350">
              <a:spcAft>
                <a:spcPts val="600"/>
              </a:spcAft>
            </a:pPr>
            <a:r>
              <a:rPr lang="en-GB" sz="2800" dirty="0" smtClean="0"/>
              <a:t>#include&lt;</a:t>
            </a:r>
            <a:r>
              <a:rPr lang="en-GB" sz="2800" dirty="0" err="1" smtClean="0"/>
              <a:t>unistd.h</a:t>
            </a:r>
            <a:r>
              <a:rPr lang="en-GB" sz="2800" dirty="0" smtClean="0"/>
              <a:t>&gt;   </a:t>
            </a:r>
          </a:p>
          <a:p>
            <a:pPr marL="514350" indent="-514350">
              <a:spcAft>
                <a:spcPts val="600"/>
              </a:spcAft>
            </a:pPr>
            <a:r>
              <a:rPr lang="en-GB" sz="2800" dirty="0" smtClean="0"/>
              <a:t>void </a:t>
            </a:r>
            <a:r>
              <a:rPr lang="en-GB" sz="2800" dirty="0" err="1" smtClean="0"/>
              <a:t>waitexample</a:t>
            </a:r>
            <a:r>
              <a:rPr lang="en-GB" sz="2800" dirty="0" smtClean="0"/>
              <a:t>() </a:t>
            </a:r>
          </a:p>
          <a:p>
            <a:pPr marL="514350" indent="-514350">
              <a:spcAft>
                <a:spcPts val="600"/>
              </a:spcAft>
            </a:pPr>
            <a:r>
              <a:rPr lang="en-GB" sz="2800" dirty="0" smtClean="0"/>
              <a:t>{ </a:t>
            </a:r>
          </a:p>
          <a:p>
            <a:pPr marL="514350" indent="-514350">
              <a:spcAft>
                <a:spcPts val="600"/>
              </a:spcAft>
            </a:pPr>
            <a:r>
              <a:rPr lang="en-GB" sz="2800" dirty="0" smtClean="0"/>
              <a:t>    int stat;   </a:t>
            </a:r>
          </a:p>
          <a:p>
            <a:pPr marL="514350" indent="-514350">
              <a:spcAft>
                <a:spcPts val="600"/>
              </a:spcAft>
            </a:pPr>
            <a:r>
              <a:rPr lang="en-GB" sz="2800" dirty="0" smtClean="0"/>
              <a:t>    // This status 1 is reported by WEXITSTATUS </a:t>
            </a:r>
          </a:p>
          <a:p>
            <a:pPr marL="514350" indent="-514350">
              <a:spcAft>
                <a:spcPts val="600"/>
              </a:spcAft>
            </a:pPr>
            <a:r>
              <a:rPr lang="en-GB" sz="2800" dirty="0" smtClean="0"/>
              <a:t>    if (fork() == 0) </a:t>
            </a:r>
          </a:p>
          <a:p>
            <a:pPr marL="514350" indent="-514350">
              <a:spcAft>
                <a:spcPts val="600"/>
              </a:spcAft>
            </a:pPr>
            <a:r>
              <a:rPr lang="en-GB" sz="2800" dirty="0" smtClean="0"/>
              <a:t>        exit(1); </a:t>
            </a:r>
            <a:endParaRPr lang="en-GB"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001000" cy="5257800"/>
          </a:xfrm>
        </p:spPr>
        <p:txBody>
          <a:bodyPr>
            <a:noAutofit/>
          </a:bodyPr>
          <a:lstStyle/>
          <a:p>
            <a:pPr marL="514350" indent="-514350">
              <a:spcAft>
                <a:spcPts val="600"/>
              </a:spcAft>
            </a:pPr>
            <a:r>
              <a:rPr lang="en-GB" sz="2800" dirty="0" smtClean="0"/>
              <a:t>else</a:t>
            </a:r>
          </a:p>
          <a:p>
            <a:pPr marL="514350" indent="-514350">
              <a:spcAft>
                <a:spcPts val="600"/>
              </a:spcAft>
            </a:pPr>
            <a:r>
              <a:rPr lang="en-GB" sz="2800" dirty="0" smtClean="0"/>
              <a:t>        wait(&amp;stat); </a:t>
            </a:r>
          </a:p>
          <a:p>
            <a:pPr marL="514350" indent="-514350">
              <a:spcAft>
                <a:spcPts val="600"/>
              </a:spcAft>
            </a:pPr>
            <a:r>
              <a:rPr lang="en-GB" sz="2800" dirty="0" smtClean="0"/>
              <a:t>    if (WIFEXITED(stat)) </a:t>
            </a:r>
          </a:p>
          <a:p>
            <a:pPr marL="514350" indent="-514350">
              <a:spcAft>
                <a:spcPts val="600"/>
              </a:spcAft>
            </a:pPr>
            <a:r>
              <a:rPr lang="en-GB" sz="2800" dirty="0" smtClean="0"/>
              <a:t>        </a:t>
            </a:r>
            <a:r>
              <a:rPr lang="en-GB" sz="2800" dirty="0" err="1" smtClean="0"/>
              <a:t>printf</a:t>
            </a:r>
            <a:r>
              <a:rPr lang="en-GB" sz="2800" dirty="0" smtClean="0"/>
              <a:t>("Exit status: %d\n", WEXITSTATUS(stat)); </a:t>
            </a:r>
          </a:p>
          <a:p>
            <a:pPr marL="514350" indent="-514350">
              <a:spcAft>
                <a:spcPts val="600"/>
              </a:spcAft>
            </a:pPr>
            <a:r>
              <a:rPr lang="en-GB" sz="2800" dirty="0" smtClean="0"/>
              <a:t>    else if (WIFSIGNALED(stat)) </a:t>
            </a:r>
          </a:p>
          <a:p>
            <a:pPr marL="514350" indent="-514350">
              <a:spcAft>
                <a:spcPts val="600"/>
              </a:spcAft>
            </a:pPr>
            <a:r>
              <a:rPr lang="en-GB" sz="2800" dirty="0" smtClean="0"/>
              <a:t>        </a:t>
            </a:r>
            <a:r>
              <a:rPr lang="en-GB" sz="2800" dirty="0" err="1" smtClean="0"/>
              <a:t>psignal</a:t>
            </a:r>
            <a:r>
              <a:rPr lang="en-GB" sz="2800" dirty="0" smtClean="0"/>
              <a:t>(WTERMSIG(stat), "Exit signal"); </a:t>
            </a:r>
          </a:p>
          <a:p>
            <a:pPr marL="514350" indent="-514350">
              <a:spcAft>
                <a:spcPts val="600"/>
              </a:spcAft>
            </a:pPr>
            <a:r>
              <a:rPr lang="en-GB" sz="2800" dirty="0" smtClean="0"/>
              <a:t>}   </a:t>
            </a:r>
          </a:p>
          <a:p>
            <a:pPr marL="514350" indent="-514350">
              <a:spcAft>
                <a:spcPts val="600"/>
              </a:spcAft>
            </a:pPr>
            <a:r>
              <a:rPr lang="en-GB" sz="2800" dirty="0" smtClean="0"/>
              <a:t>// Driver code </a:t>
            </a:r>
          </a:p>
          <a:p>
            <a:pPr marL="514350" indent="-514350">
              <a:spcAft>
                <a:spcPts val="600"/>
              </a:spcAft>
            </a:pPr>
            <a:r>
              <a:rPr lang="en-GB" sz="2800" dirty="0" smtClean="0"/>
              <a:t>int main() </a:t>
            </a:r>
          </a:p>
          <a:p>
            <a:pPr marL="514350" indent="-514350">
              <a:spcAft>
                <a:spcPts val="600"/>
              </a:spcAft>
            </a:pPr>
            <a:r>
              <a:rPr lang="en-GB" sz="2800" dirty="0" smtClean="0"/>
              <a:t>{ </a:t>
            </a:r>
          </a:p>
          <a:p>
            <a:pPr marL="514350" indent="-514350">
              <a:spcAft>
                <a:spcPts val="600"/>
              </a:spcAft>
            </a:pPr>
            <a:r>
              <a:rPr lang="en-GB" sz="2800" dirty="0" smtClean="0"/>
              <a:t>    </a:t>
            </a:r>
            <a:r>
              <a:rPr lang="en-GB" sz="2800" dirty="0" err="1" smtClean="0"/>
              <a:t>waitexample</a:t>
            </a:r>
            <a:r>
              <a:rPr lang="en-GB" sz="2800" dirty="0" smtClean="0"/>
              <a:t>(); </a:t>
            </a:r>
          </a:p>
          <a:p>
            <a:pPr marL="514350" indent="-514350">
              <a:spcAft>
                <a:spcPts val="600"/>
              </a:spcAft>
            </a:pPr>
            <a:r>
              <a:rPr lang="en-GB" sz="2800" dirty="0" smtClean="0"/>
              <a:t>    return 0;  }</a:t>
            </a:r>
            <a:endParaRPr lang="en-GB"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001000" cy="5257800"/>
          </a:xfrm>
        </p:spPr>
        <p:txBody>
          <a:bodyPr>
            <a:noAutofit/>
          </a:bodyPr>
          <a:lstStyle/>
          <a:p>
            <a:pPr marL="514350" indent="-514350">
              <a:lnSpc>
                <a:spcPct val="150000"/>
              </a:lnSpc>
              <a:spcBef>
                <a:spcPts val="0"/>
              </a:spcBef>
            </a:pPr>
            <a:r>
              <a:rPr lang="en-GB" sz="2800" dirty="0" smtClean="0"/>
              <a:t>OUTPUT</a:t>
            </a:r>
          </a:p>
          <a:p>
            <a:pPr marL="514350" indent="-514350">
              <a:lnSpc>
                <a:spcPct val="150000"/>
              </a:lnSpc>
              <a:spcBef>
                <a:spcPts val="0"/>
              </a:spcBef>
            </a:pPr>
            <a:r>
              <a:rPr lang="en-GB" sz="2800" dirty="0" smtClean="0"/>
              <a:t>Exit status: 1              </a:t>
            </a:r>
          </a:p>
          <a:p>
            <a:pPr marL="514350" indent="-514350">
              <a:lnSpc>
                <a:spcPct val="150000"/>
              </a:lnSpc>
              <a:spcBef>
                <a:spcPts val="0"/>
              </a:spcBef>
            </a:pPr>
            <a:r>
              <a:rPr lang="en-GB" sz="2800" dirty="0" smtClean="0"/>
              <a:t>We know if more than one child processes are terminated, then wait() reaps any arbitrarily child process but if we want to reap any specific child process, we use </a:t>
            </a:r>
            <a:r>
              <a:rPr lang="en-GB" sz="2800" dirty="0" err="1" smtClean="0"/>
              <a:t>waitpid</a:t>
            </a:r>
            <a:r>
              <a:rPr lang="en-GB" sz="2800" dirty="0" smtClean="0"/>
              <a:t>() function.</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0"/>
            <a:ext cx="8458200" cy="6858000"/>
          </a:xfrm>
        </p:spPr>
        <p:txBody>
          <a:bodyPr>
            <a:noAutofit/>
          </a:bodyPr>
          <a:lstStyle/>
          <a:p>
            <a:pPr marL="514350" indent="-514350">
              <a:lnSpc>
                <a:spcPct val="150000"/>
              </a:lnSpc>
              <a:spcBef>
                <a:spcPts val="0"/>
              </a:spcBef>
            </a:pPr>
            <a:r>
              <a:rPr lang="en-GB" sz="2800" dirty="0" err="1" smtClean="0"/>
              <a:t>pid_t</a:t>
            </a:r>
            <a:r>
              <a:rPr lang="en-GB" sz="2800" dirty="0" smtClean="0"/>
              <a:t> </a:t>
            </a:r>
            <a:r>
              <a:rPr lang="en-GB" sz="2800" dirty="0" err="1" smtClean="0"/>
              <a:t>waitpid</a:t>
            </a:r>
            <a:r>
              <a:rPr lang="en-GB" sz="2800" dirty="0" smtClean="0"/>
              <a:t> (</a:t>
            </a:r>
            <a:r>
              <a:rPr lang="en-GB" sz="2800" dirty="0" err="1" smtClean="0"/>
              <a:t>child_pid</a:t>
            </a:r>
            <a:r>
              <a:rPr lang="en-GB" sz="2800" dirty="0" smtClean="0"/>
              <a:t>, &amp;status, options);</a:t>
            </a:r>
          </a:p>
          <a:p>
            <a:pPr marL="514350" indent="-514350">
              <a:lnSpc>
                <a:spcPct val="150000"/>
              </a:lnSpc>
              <a:spcBef>
                <a:spcPts val="0"/>
              </a:spcBef>
            </a:pPr>
            <a:r>
              <a:rPr lang="en-GB" sz="2800" dirty="0" smtClean="0"/>
              <a:t>If value of Options is </a:t>
            </a:r>
            <a:r>
              <a:rPr lang="en-GB" sz="2800" dirty="0" smtClean="0">
                <a:solidFill>
                  <a:srgbClr val="FF0000"/>
                </a:solidFill>
              </a:rPr>
              <a:t>0</a:t>
            </a:r>
            <a:r>
              <a:rPr lang="en-GB" sz="2800" dirty="0" smtClean="0"/>
              <a:t> means no option parent has to wait for terminates child.</a:t>
            </a:r>
          </a:p>
          <a:p>
            <a:pPr marL="514350" indent="-514350">
              <a:lnSpc>
                <a:spcPct val="150000"/>
              </a:lnSpc>
              <a:spcBef>
                <a:spcPts val="0"/>
              </a:spcBef>
              <a:buFont typeface="Wingdings" pitchFamily="2" charset="2"/>
              <a:buChar char="Ø"/>
            </a:pPr>
            <a:r>
              <a:rPr lang="en-GB" sz="2800" dirty="0" smtClean="0">
                <a:solidFill>
                  <a:srgbClr val="FF0000"/>
                </a:solidFill>
              </a:rPr>
              <a:t>WNOHANG</a:t>
            </a:r>
            <a:r>
              <a:rPr lang="en-GB" sz="2800" dirty="0" smtClean="0"/>
              <a:t> means parent does not wait if child does not terminate just check and return </a:t>
            </a:r>
            <a:r>
              <a:rPr lang="en-GB" sz="2800" dirty="0" err="1" smtClean="0"/>
              <a:t>waitpid</a:t>
            </a:r>
            <a:r>
              <a:rPr lang="en-GB" sz="2800" dirty="0" smtClean="0"/>
              <a:t>(). </a:t>
            </a:r>
          </a:p>
          <a:p>
            <a:pPr marL="514350" indent="-514350">
              <a:lnSpc>
                <a:spcPct val="150000"/>
              </a:lnSpc>
              <a:spcBef>
                <a:spcPts val="0"/>
              </a:spcBef>
              <a:buFont typeface="Wingdings" pitchFamily="2" charset="2"/>
              <a:buChar char="Ø"/>
            </a:pPr>
            <a:r>
              <a:rPr lang="en-GB" sz="2800" dirty="0" err="1" smtClean="0">
                <a:solidFill>
                  <a:srgbClr val="FF0000"/>
                </a:solidFill>
              </a:rPr>
              <a:t>child_pid</a:t>
            </a:r>
            <a:r>
              <a:rPr lang="en-GB" sz="2800" dirty="0" smtClean="0">
                <a:solidFill>
                  <a:srgbClr val="FF0000"/>
                </a:solidFill>
              </a:rPr>
              <a:t> is -1</a:t>
            </a:r>
            <a:r>
              <a:rPr lang="en-GB" sz="2800" dirty="0" smtClean="0"/>
              <a:t> then means any arbitrarily child, here </a:t>
            </a:r>
            <a:r>
              <a:rPr lang="en-GB" sz="2800" dirty="0" err="1" smtClean="0"/>
              <a:t>waitpid</a:t>
            </a:r>
            <a:r>
              <a:rPr lang="en-GB" sz="2800" dirty="0" smtClean="0"/>
              <a:t>() work same as wait() work.</a:t>
            </a:r>
          </a:p>
          <a:p>
            <a:pPr marL="514350" indent="-514350">
              <a:lnSpc>
                <a:spcPct val="150000"/>
              </a:lnSpc>
              <a:spcBef>
                <a:spcPts val="0"/>
              </a:spcBef>
              <a:buFont typeface="Wingdings" pitchFamily="2" charset="2"/>
              <a:buChar char="Ø"/>
            </a:pPr>
            <a:r>
              <a:rPr lang="en-GB" sz="2800" dirty="0" smtClean="0"/>
              <a:t>Return value of </a:t>
            </a:r>
            <a:r>
              <a:rPr lang="en-GB" sz="2800" dirty="0" err="1" smtClean="0"/>
              <a:t>waitpid</a:t>
            </a:r>
            <a:r>
              <a:rPr lang="en-GB" sz="2800" dirty="0" smtClean="0"/>
              <a:t>()</a:t>
            </a:r>
          </a:p>
          <a:p>
            <a:pPr marL="514350" indent="-514350">
              <a:lnSpc>
                <a:spcPct val="150000"/>
              </a:lnSpc>
              <a:spcBef>
                <a:spcPts val="0"/>
              </a:spcBef>
              <a:buFont typeface="Wingdings" pitchFamily="2" charset="2"/>
              <a:buChar char="Ø"/>
            </a:pPr>
            <a:r>
              <a:rPr lang="en-GB" sz="2800" dirty="0" err="1" smtClean="0"/>
              <a:t>pid</a:t>
            </a:r>
            <a:r>
              <a:rPr lang="en-GB" sz="2800" dirty="0" smtClean="0"/>
              <a:t> of child, if child has exited</a:t>
            </a:r>
          </a:p>
          <a:p>
            <a:pPr marL="514350" indent="-514350">
              <a:lnSpc>
                <a:spcPct val="150000"/>
              </a:lnSpc>
              <a:spcBef>
                <a:spcPts val="0"/>
              </a:spcBef>
              <a:buFont typeface="Wingdings" pitchFamily="2" charset="2"/>
              <a:buChar char="Ø"/>
            </a:pPr>
            <a:r>
              <a:rPr lang="en-GB" sz="2800" dirty="0" smtClean="0"/>
              <a:t>0, if using WNOHANG and child hasn’t exited</a:t>
            </a:r>
          </a:p>
          <a:p>
            <a:pPr marL="514350" indent="-514350">
              <a:lnSpc>
                <a:spcPct val="150000"/>
              </a:lnSpc>
              <a:spcBef>
                <a:spcPts val="0"/>
              </a:spcBef>
            </a:pPr>
            <a:endParaRPr lang="en-GB"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7620000" cy="6858000"/>
          </a:xfrm>
        </p:spPr>
        <p:txBody>
          <a:bodyPr>
            <a:noAutofit/>
          </a:bodyPr>
          <a:lstStyle/>
          <a:p>
            <a:pPr marL="514350" indent="-514350">
              <a:spcAft>
                <a:spcPts val="600"/>
              </a:spcAft>
            </a:pPr>
            <a:r>
              <a:rPr lang="en-GB" dirty="0" smtClean="0"/>
              <a:t>// C program to demonstrate </a:t>
            </a:r>
            <a:r>
              <a:rPr lang="en-GB" dirty="0" err="1" smtClean="0"/>
              <a:t>waitpid</a:t>
            </a:r>
            <a:r>
              <a:rPr lang="en-GB" dirty="0" smtClean="0"/>
              <a:t>() </a:t>
            </a:r>
          </a:p>
          <a:p>
            <a:pPr marL="514350" indent="-514350">
              <a:spcAft>
                <a:spcPts val="600"/>
              </a:spcAft>
            </a:pPr>
            <a:r>
              <a:rPr lang="en-GB" dirty="0" smtClean="0"/>
              <a:t>#include&lt;</a:t>
            </a:r>
            <a:r>
              <a:rPr lang="en-GB" dirty="0" err="1" smtClean="0"/>
              <a:t>stdio.h</a:t>
            </a:r>
            <a:r>
              <a:rPr lang="en-GB" dirty="0" smtClean="0"/>
              <a:t>&gt; </a:t>
            </a:r>
          </a:p>
          <a:p>
            <a:pPr marL="514350" indent="-514350">
              <a:spcAft>
                <a:spcPts val="600"/>
              </a:spcAft>
            </a:pPr>
            <a:r>
              <a:rPr lang="en-GB" dirty="0" smtClean="0"/>
              <a:t>#include&lt;</a:t>
            </a:r>
            <a:r>
              <a:rPr lang="en-GB" dirty="0" err="1" smtClean="0"/>
              <a:t>stdlib.h</a:t>
            </a:r>
            <a:r>
              <a:rPr lang="en-GB" dirty="0" smtClean="0"/>
              <a:t>&gt; </a:t>
            </a:r>
          </a:p>
          <a:p>
            <a:pPr marL="514350" indent="-514350">
              <a:spcAft>
                <a:spcPts val="600"/>
              </a:spcAft>
            </a:pPr>
            <a:r>
              <a:rPr lang="en-GB" dirty="0" smtClean="0"/>
              <a:t>#include&lt;sys/</a:t>
            </a:r>
            <a:r>
              <a:rPr lang="en-GB" dirty="0" err="1" smtClean="0"/>
              <a:t>wait.h</a:t>
            </a:r>
            <a:r>
              <a:rPr lang="en-GB" dirty="0" smtClean="0"/>
              <a:t>&gt; </a:t>
            </a:r>
          </a:p>
          <a:p>
            <a:pPr marL="514350" indent="-514350">
              <a:spcAft>
                <a:spcPts val="600"/>
              </a:spcAft>
            </a:pPr>
            <a:r>
              <a:rPr lang="en-GB" dirty="0" smtClean="0"/>
              <a:t>#include&lt;</a:t>
            </a:r>
            <a:r>
              <a:rPr lang="en-GB" dirty="0" err="1" smtClean="0"/>
              <a:t>unistd.h</a:t>
            </a:r>
            <a:r>
              <a:rPr lang="en-GB" dirty="0" smtClean="0"/>
              <a:t>&gt;   </a:t>
            </a:r>
          </a:p>
          <a:p>
            <a:pPr marL="514350" indent="-514350">
              <a:spcAft>
                <a:spcPts val="600"/>
              </a:spcAft>
            </a:pPr>
            <a:r>
              <a:rPr lang="en-GB" dirty="0" smtClean="0"/>
              <a:t>void </a:t>
            </a:r>
            <a:r>
              <a:rPr lang="en-GB" dirty="0" err="1" smtClean="0"/>
              <a:t>waitexample</a:t>
            </a:r>
            <a:r>
              <a:rPr lang="en-GB" dirty="0" smtClean="0"/>
              <a:t>() </a:t>
            </a:r>
          </a:p>
          <a:p>
            <a:pPr marL="514350" indent="-514350">
              <a:spcAft>
                <a:spcPts val="600"/>
              </a:spcAft>
            </a:pPr>
            <a:r>
              <a:rPr lang="en-GB" dirty="0" smtClean="0"/>
              <a:t>{ </a:t>
            </a:r>
          </a:p>
          <a:p>
            <a:pPr marL="514350" indent="-514350">
              <a:spcAft>
                <a:spcPts val="600"/>
              </a:spcAft>
            </a:pPr>
            <a:r>
              <a:rPr lang="en-GB" dirty="0" smtClean="0"/>
              <a:t>    int </a:t>
            </a:r>
            <a:r>
              <a:rPr lang="en-GB" dirty="0" err="1" smtClean="0"/>
              <a:t>i</a:t>
            </a:r>
            <a:r>
              <a:rPr lang="en-GB" dirty="0" smtClean="0"/>
              <a:t>, stat; </a:t>
            </a:r>
          </a:p>
          <a:p>
            <a:pPr marL="514350" indent="-514350">
              <a:spcAft>
                <a:spcPts val="600"/>
              </a:spcAft>
            </a:pPr>
            <a:r>
              <a:rPr lang="en-GB" dirty="0" smtClean="0"/>
              <a:t>    </a:t>
            </a:r>
            <a:r>
              <a:rPr lang="en-GB" dirty="0" err="1" smtClean="0"/>
              <a:t>pid_t</a:t>
            </a:r>
            <a:r>
              <a:rPr lang="en-GB" dirty="0" smtClean="0"/>
              <a:t> </a:t>
            </a:r>
            <a:r>
              <a:rPr lang="en-GB" dirty="0" err="1" smtClean="0"/>
              <a:t>pid</a:t>
            </a:r>
            <a:r>
              <a:rPr lang="en-GB" dirty="0" smtClean="0"/>
              <a:t>[5]; </a:t>
            </a:r>
          </a:p>
          <a:p>
            <a:pPr marL="514350" indent="-514350">
              <a:spcAft>
                <a:spcPts val="600"/>
              </a:spcAft>
            </a:pPr>
            <a:r>
              <a:rPr lang="en-GB" dirty="0" smtClean="0"/>
              <a:t>    for (</a:t>
            </a:r>
            <a:r>
              <a:rPr lang="en-GB" dirty="0" err="1" smtClean="0"/>
              <a:t>i</a:t>
            </a:r>
            <a:r>
              <a:rPr lang="en-GB" dirty="0" smtClean="0"/>
              <a:t>=0; </a:t>
            </a:r>
            <a:r>
              <a:rPr lang="en-GB" dirty="0" err="1" smtClean="0"/>
              <a:t>i</a:t>
            </a:r>
            <a:r>
              <a:rPr lang="en-GB" dirty="0" smtClean="0"/>
              <a:t>&lt;5; </a:t>
            </a:r>
            <a:r>
              <a:rPr lang="en-GB" dirty="0" err="1" smtClean="0"/>
              <a:t>i</a:t>
            </a:r>
            <a:r>
              <a:rPr lang="en-GB" dirty="0" smtClean="0"/>
              <a:t>++) </a:t>
            </a:r>
          </a:p>
          <a:p>
            <a:pPr marL="514350" indent="-514350">
              <a:spcAft>
                <a:spcPts val="600"/>
              </a:spcAft>
            </a:pPr>
            <a:r>
              <a:rPr lang="en-GB" dirty="0" smtClean="0"/>
              <a:t>    { </a:t>
            </a:r>
          </a:p>
          <a:p>
            <a:pPr marL="514350" indent="-514350">
              <a:spcAft>
                <a:spcPts val="600"/>
              </a:spcAft>
            </a:pPr>
            <a:r>
              <a:rPr lang="en-GB" dirty="0" smtClean="0"/>
              <a:t>        </a:t>
            </a:r>
            <a:endParaRPr lang="en-GB"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7620000" cy="6858000"/>
          </a:xfrm>
        </p:spPr>
        <p:txBody>
          <a:bodyPr>
            <a:noAutofit/>
          </a:bodyPr>
          <a:lstStyle/>
          <a:p>
            <a:pPr marL="514350" indent="-514350">
              <a:spcAft>
                <a:spcPts val="600"/>
              </a:spcAft>
            </a:pPr>
            <a:r>
              <a:rPr lang="en-GB" dirty="0" smtClean="0"/>
              <a:t>if ((</a:t>
            </a:r>
            <a:r>
              <a:rPr lang="en-GB" dirty="0" err="1" smtClean="0"/>
              <a:t>pid</a:t>
            </a:r>
            <a:r>
              <a:rPr lang="en-GB" dirty="0" smtClean="0"/>
              <a:t>[</a:t>
            </a:r>
            <a:r>
              <a:rPr lang="en-GB" dirty="0" err="1" smtClean="0"/>
              <a:t>i</a:t>
            </a:r>
            <a:r>
              <a:rPr lang="en-GB" dirty="0" smtClean="0"/>
              <a:t>] = fork()) == 0) </a:t>
            </a:r>
          </a:p>
          <a:p>
            <a:pPr marL="514350" indent="-514350">
              <a:spcAft>
                <a:spcPts val="600"/>
              </a:spcAft>
            </a:pPr>
            <a:r>
              <a:rPr lang="en-GB" dirty="0" smtClean="0"/>
              <a:t>        { </a:t>
            </a:r>
          </a:p>
          <a:p>
            <a:pPr marL="514350" indent="-514350">
              <a:spcAft>
                <a:spcPts val="600"/>
              </a:spcAft>
            </a:pPr>
            <a:r>
              <a:rPr lang="en-GB" dirty="0" smtClean="0"/>
              <a:t>            sleep(1); </a:t>
            </a:r>
          </a:p>
          <a:p>
            <a:pPr marL="514350" indent="-514350">
              <a:spcAft>
                <a:spcPts val="600"/>
              </a:spcAft>
            </a:pPr>
            <a:r>
              <a:rPr lang="en-GB" dirty="0" smtClean="0"/>
              <a:t>            exit(100 + </a:t>
            </a:r>
            <a:r>
              <a:rPr lang="en-GB" dirty="0" err="1" smtClean="0"/>
              <a:t>i</a:t>
            </a:r>
            <a:r>
              <a:rPr lang="en-GB" dirty="0" smtClean="0"/>
              <a:t>);         }     } </a:t>
            </a:r>
          </a:p>
          <a:p>
            <a:pPr marL="514350" indent="-514350">
              <a:spcAft>
                <a:spcPts val="600"/>
              </a:spcAft>
            </a:pPr>
            <a:r>
              <a:rPr lang="en-GB" dirty="0" smtClean="0"/>
              <a:t>  // Using </a:t>
            </a:r>
            <a:r>
              <a:rPr lang="en-GB" dirty="0" err="1" smtClean="0"/>
              <a:t>waitpid</a:t>
            </a:r>
            <a:r>
              <a:rPr lang="en-GB" dirty="0" smtClean="0"/>
              <a:t>() and printing exit status of children. </a:t>
            </a:r>
          </a:p>
          <a:p>
            <a:pPr marL="514350" indent="-514350">
              <a:spcAft>
                <a:spcPts val="600"/>
              </a:spcAft>
            </a:pPr>
            <a:r>
              <a:rPr lang="en-GB" dirty="0" smtClean="0"/>
              <a:t>    for (</a:t>
            </a:r>
            <a:r>
              <a:rPr lang="en-GB" dirty="0" err="1" smtClean="0"/>
              <a:t>i</a:t>
            </a:r>
            <a:r>
              <a:rPr lang="en-GB" dirty="0" smtClean="0"/>
              <a:t>=0; </a:t>
            </a:r>
            <a:r>
              <a:rPr lang="en-GB" dirty="0" err="1" smtClean="0"/>
              <a:t>i</a:t>
            </a:r>
            <a:r>
              <a:rPr lang="en-GB" dirty="0" smtClean="0"/>
              <a:t>&lt;5; </a:t>
            </a:r>
            <a:r>
              <a:rPr lang="en-GB" dirty="0" err="1" smtClean="0"/>
              <a:t>i</a:t>
            </a:r>
            <a:r>
              <a:rPr lang="en-GB" dirty="0" smtClean="0"/>
              <a:t>++) </a:t>
            </a:r>
          </a:p>
          <a:p>
            <a:pPr marL="514350" indent="-514350">
              <a:spcAft>
                <a:spcPts val="600"/>
              </a:spcAft>
            </a:pPr>
            <a:r>
              <a:rPr lang="en-GB" dirty="0" smtClean="0"/>
              <a:t>    { </a:t>
            </a:r>
          </a:p>
          <a:p>
            <a:pPr marL="514350" indent="-514350">
              <a:spcAft>
                <a:spcPts val="600"/>
              </a:spcAft>
            </a:pPr>
            <a:r>
              <a:rPr lang="en-GB" dirty="0" smtClean="0"/>
              <a:t>        </a:t>
            </a:r>
            <a:r>
              <a:rPr lang="en-GB" dirty="0" err="1" smtClean="0"/>
              <a:t>pid_t</a:t>
            </a:r>
            <a:r>
              <a:rPr lang="en-GB" dirty="0" smtClean="0"/>
              <a:t> </a:t>
            </a:r>
            <a:r>
              <a:rPr lang="en-GB" dirty="0" err="1" smtClean="0"/>
              <a:t>cpid</a:t>
            </a:r>
            <a:r>
              <a:rPr lang="en-GB" dirty="0" smtClean="0"/>
              <a:t> = </a:t>
            </a:r>
            <a:r>
              <a:rPr lang="en-GB" dirty="0" err="1" smtClean="0"/>
              <a:t>waitpid</a:t>
            </a:r>
            <a:r>
              <a:rPr lang="en-GB" dirty="0" smtClean="0"/>
              <a:t>(</a:t>
            </a:r>
            <a:r>
              <a:rPr lang="en-GB" dirty="0" err="1" smtClean="0"/>
              <a:t>pid</a:t>
            </a:r>
            <a:r>
              <a:rPr lang="en-GB" dirty="0" smtClean="0"/>
              <a:t>[</a:t>
            </a:r>
            <a:r>
              <a:rPr lang="en-GB" dirty="0" err="1" smtClean="0"/>
              <a:t>i</a:t>
            </a:r>
            <a:r>
              <a:rPr lang="en-GB" dirty="0" smtClean="0"/>
              <a:t>], &amp;stat, 0); </a:t>
            </a:r>
          </a:p>
          <a:p>
            <a:pPr marL="514350" indent="-514350">
              <a:spcAft>
                <a:spcPts val="600"/>
              </a:spcAft>
            </a:pPr>
            <a:r>
              <a:rPr lang="en-GB" dirty="0" smtClean="0"/>
              <a:t>        if (WIFEXITED(stat)) </a:t>
            </a:r>
          </a:p>
          <a:p>
            <a:pPr marL="514350" indent="-514350">
              <a:spcAft>
                <a:spcPts val="600"/>
              </a:spcAft>
            </a:pPr>
            <a:r>
              <a:rPr lang="en-GB" dirty="0" smtClean="0"/>
              <a:t>            </a:t>
            </a:r>
            <a:r>
              <a:rPr lang="en-GB" dirty="0" err="1" smtClean="0"/>
              <a:t>printf</a:t>
            </a:r>
            <a:r>
              <a:rPr lang="en-GB" dirty="0" smtClean="0"/>
              <a:t>("Child %d terminated with status: %d\n", </a:t>
            </a:r>
          </a:p>
          <a:p>
            <a:pPr marL="514350" indent="-514350">
              <a:spcAft>
                <a:spcPts val="600"/>
              </a:spcAft>
            </a:pPr>
            <a:r>
              <a:rPr lang="en-GB" dirty="0" smtClean="0"/>
              <a:t>                   </a:t>
            </a:r>
            <a:r>
              <a:rPr lang="en-GB" dirty="0" err="1" smtClean="0"/>
              <a:t>cpid</a:t>
            </a:r>
            <a:r>
              <a:rPr lang="en-GB" dirty="0" smtClean="0"/>
              <a:t>, WEXITSTATUS(stat)); </a:t>
            </a:r>
          </a:p>
          <a:p>
            <a:pPr marL="514350" indent="-514350">
              <a:spcAft>
                <a:spcPts val="600"/>
              </a:spcAft>
            </a:pPr>
            <a:r>
              <a:rPr lang="en-GB" dirty="0" smtClean="0"/>
              <a:t>    }    }</a:t>
            </a:r>
            <a:endParaRPr lang="en-GB"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52400"/>
            <a:ext cx="7239000" cy="6858000"/>
          </a:xfrm>
        </p:spPr>
        <p:txBody>
          <a:bodyPr>
            <a:noAutofit/>
          </a:bodyPr>
          <a:lstStyle/>
          <a:p>
            <a:pPr marL="514350" indent="-514350">
              <a:spcAft>
                <a:spcPts val="600"/>
              </a:spcAft>
            </a:pPr>
            <a:r>
              <a:rPr lang="en-GB" dirty="0" smtClean="0"/>
              <a:t>  </a:t>
            </a:r>
          </a:p>
          <a:p>
            <a:pPr marL="514350" indent="-514350">
              <a:spcAft>
                <a:spcPts val="600"/>
              </a:spcAft>
            </a:pPr>
            <a:r>
              <a:rPr lang="en-GB" dirty="0" smtClean="0"/>
              <a:t>// Driver code </a:t>
            </a:r>
          </a:p>
          <a:p>
            <a:pPr marL="514350" indent="-514350">
              <a:spcAft>
                <a:spcPts val="600"/>
              </a:spcAft>
            </a:pPr>
            <a:r>
              <a:rPr lang="en-GB" dirty="0" smtClean="0"/>
              <a:t>int main() </a:t>
            </a:r>
          </a:p>
          <a:p>
            <a:pPr marL="514350" indent="-514350">
              <a:spcAft>
                <a:spcPts val="600"/>
              </a:spcAft>
            </a:pPr>
            <a:r>
              <a:rPr lang="en-GB" dirty="0" smtClean="0"/>
              <a:t>{ </a:t>
            </a:r>
          </a:p>
          <a:p>
            <a:pPr marL="514350" indent="-514350">
              <a:spcAft>
                <a:spcPts val="600"/>
              </a:spcAft>
            </a:pPr>
            <a:r>
              <a:rPr lang="en-GB" dirty="0" smtClean="0"/>
              <a:t>    </a:t>
            </a:r>
            <a:r>
              <a:rPr lang="en-GB" dirty="0" err="1" smtClean="0"/>
              <a:t>waitexample</a:t>
            </a:r>
            <a:r>
              <a:rPr lang="en-GB" dirty="0" smtClean="0"/>
              <a:t>(); </a:t>
            </a:r>
          </a:p>
          <a:p>
            <a:pPr marL="514350" indent="-514350">
              <a:spcAft>
                <a:spcPts val="600"/>
              </a:spcAft>
            </a:pPr>
            <a:r>
              <a:rPr lang="en-GB" dirty="0" smtClean="0"/>
              <a:t>    return 0; </a:t>
            </a:r>
          </a:p>
          <a:p>
            <a:pPr marL="514350" indent="-514350">
              <a:spcAft>
                <a:spcPts val="600"/>
              </a:spcAft>
            </a:pPr>
            <a:r>
              <a:rPr lang="en-GB" dirty="0" smtClean="0"/>
              <a:t>}</a:t>
            </a:r>
            <a:endParaRPr lang="en-GB"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8001000" cy="5257800"/>
          </a:xfrm>
        </p:spPr>
        <p:txBody>
          <a:bodyPr>
            <a:noAutofit/>
          </a:bodyPr>
          <a:lstStyle/>
          <a:p>
            <a:pPr marL="514350" indent="-514350">
              <a:lnSpc>
                <a:spcPct val="150000"/>
              </a:lnSpc>
              <a:spcBef>
                <a:spcPts val="0"/>
              </a:spcBef>
            </a:pPr>
            <a:r>
              <a:rPr lang="en-GB" sz="2800" dirty="0" smtClean="0"/>
              <a:t>Output:</a:t>
            </a:r>
          </a:p>
          <a:p>
            <a:pPr marL="514350" indent="-514350">
              <a:lnSpc>
                <a:spcPct val="150000"/>
              </a:lnSpc>
              <a:spcBef>
                <a:spcPts val="0"/>
              </a:spcBef>
            </a:pPr>
            <a:endParaRPr lang="en-GB" sz="2800" dirty="0" smtClean="0"/>
          </a:p>
          <a:p>
            <a:pPr marL="514350" indent="-514350">
              <a:lnSpc>
                <a:spcPct val="150000"/>
              </a:lnSpc>
              <a:spcBef>
                <a:spcPts val="0"/>
              </a:spcBef>
            </a:pPr>
            <a:r>
              <a:rPr lang="en-GB" sz="2800" dirty="0" smtClean="0"/>
              <a:t>Child 50 terminated with status: 100</a:t>
            </a:r>
          </a:p>
          <a:p>
            <a:pPr marL="514350" indent="-514350">
              <a:lnSpc>
                <a:spcPct val="150000"/>
              </a:lnSpc>
              <a:spcBef>
                <a:spcPts val="0"/>
              </a:spcBef>
            </a:pPr>
            <a:r>
              <a:rPr lang="en-GB" sz="2800" dirty="0" smtClean="0"/>
              <a:t>Child 51 terminated with status: 101</a:t>
            </a:r>
          </a:p>
          <a:p>
            <a:pPr marL="514350" indent="-514350">
              <a:lnSpc>
                <a:spcPct val="150000"/>
              </a:lnSpc>
              <a:spcBef>
                <a:spcPts val="0"/>
              </a:spcBef>
            </a:pPr>
            <a:r>
              <a:rPr lang="en-GB" sz="2800" dirty="0" smtClean="0"/>
              <a:t>Child 52 terminated with status: 102</a:t>
            </a:r>
          </a:p>
          <a:p>
            <a:pPr marL="514350" indent="-514350">
              <a:lnSpc>
                <a:spcPct val="150000"/>
              </a:lnSpc>
              <a:spcBef>
                <a:spcPts val="0"/>
              </a:spcBef>
            </a:pPr>
            <a:r>
              <a:rPr lang="en-GB" sz="2800" dirty="0" smtClean="0"/>
              <a:t>Child 53 terminated with status: 103</a:t>
            </a:r>
          </a:p>
          <a:p>
            <a:pPr marL="514350" indent="-514350">
              <a:lnSpc>
                <a:spcPct val="150000"/>
              </a:lnSpc>
              <a:spcBef>
                <a:spcPts val="0"/>
              </a:spcBef>
            </a:pPr>
            <a:r>
              <a:rPr lang="en-GB" sz="2800" dirty="0" smtClean="0"/>
              <a:t>Child 54 terminated with status: 104</a:t>
            </a:r>
          </a:p>
          <a:p>
            <a:pPr marL="514350" indent="-514350">
              <a:lnSpc>
                <a:spcPct val="150000"/>
              </a:lnSpc>
              <a:spcBef>
                <a:spcPts val="0"/>
              </a:spcBef>
            </a:pPr>
            <a:r>
              <a:rPr lang="en-GB" sz="2800" dirty="0" smtClean="0"/>
              <a:t>Here, Children </a:t>
            </a:r>
            <a:r>
              <a:rPr lang="en-GB" sz="2800" dirty="0" err="1" smtClean="0"/>
              <a:t>pids</a:t>
            </a:r>
            <a:r>
              <a:rPr lang="en-GB" sz="2800" dirty="0" smtClean="0"/>
              <a:t> depend on the system but in order print all child information.</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228600"/>
            <a:ext cx="8153400" cy="6477000"/>
          </a:xfrm>
        </p:spPr>
        <p:txBody>
          <a:bodyPr>
            <a:noAutofit/>
          </a:bodyPr>
          <a:lstStyle/>
          <a:p>
            <a:pPr marL="514350" indent="-514350" algn="ctr">
              <a:lnSpc>
                <a:spcPct val="150000"/>
              </a:lnSpc>
              <a:spcBef>
                <a:spcPts val="0"/>
              </a:spcBef>
            </a:pPr>
            <a:r>
              <a:rPr lang="en-GB" sz="3600" dirty="0" smtClean="0"/>
              <a:t>Signals in C language</a:t>
            </a:r>
          </a:p>
          <a:p>
            <a:pPr marL="514350" indent="-514350">
              <a:lnSpc>
                <a:spcPct val="150000"/>
              </a:lnSpc>
              <a:spcBef>
                <a:spcPts val="0"/>
              </a:spcBef>
              <a:buFont typeface="Wingdings" pitchFamily="2" charset="2"/>
              <a:buChar char="Ø"/>
            </a:pPr>
            <a:r>
              <a:rPr lang="en-GB" sz="2800" dirty="0" smtClean="0"/>
              <a:t>How the OS communicate to an application process?</a:t>
            </a:r>
          </a:p>
          <a:p>
            <a:pPr marL="514350" indent="-514350">
              <a:lnSpc>
                <a:spcPct val="150000"/>
              </a:lnSpc>
              <a:spcBef>
                <a:spcPts val="0"/>
              </a:spcBef>
              <a:buFont typeface="Wingdings" pitchFamily="2" charset="2"/>
              <a:buChar char="Ø"/>
            </a:pPr>
            <a:r>
              <a:rPr lang="en-GB" sz="2800" dirty="0" smtClean="0"/>
              <a:t>How an application process communicate to the OS?</a:t>
            </a:r>
          </a:p>
          <a:p>
            <a:pPr marL="514350" indent="-514350">
              <a:lnSpc>
                <a:spcPct val="150000"/>
              </a:lnSpc>
              <a:spcBef>
                <a:spcPts val="0"/>
              </a:spcBef>
              <a:buFont typeface="Wingdings" pitchFamily="2" charset="2"/>
              <a:buChar char="Ø"/>
            </a:pPr>
            <a:r>
              <a:rPr lang="en-US" sz="2800" dirty="0" smtClean="0">
                <a:cs typeface="Courier New" pitchFamily="49" charset="0"/>
              </a:rPr>
              <a:t>Exactly what happens when you:</a:t>
            </a:r>
          </a:p>
          <a:p>
            <a:pPr>
              <a:lnSpc>
                <a:spcPct val="150000"/>
              </a:lnSpc>
              <a:spcBef>
                <a:spcPts val="0"/>
              </a:spcBef>
              <a:buFont typeface="Wingdings" pitchFamily="2" charset="2"/>
              <a:buChar char="ü"/>
            </a:pPr>
            <a:r>
              <a:rPr lang="en-US" dirty="0" smtClean="0">
                <a:solidFill>
                  <a:srgbClr val="FF0000"/>
                </a:solidFill>
                <a:cs typeface="Courier New" pitchFamily="49" charset="0"/>
              </a:rPr>
              <a:t>Type Ctrl-c?</a:t>
            </a:r>
          </a:p>
          <a:p>
            <a:pPr>
              <a:lnSpc>
                <a:spcPct val="150000"/>
              </a:lnSpc>
              <a:spcBef>
                <a:spcPts val="0"/>
              </a:spcBef>
              <a:buFont typeface="Wingdings" pitchFamily="2" charset="2"/>
              <a:buChar char="ü"/>
            </a:pPr>
            <a:r>
              <a:rPr lang="en-US" dirty="0" smtClean="0">
                <a:cs typeface="Courier New" pitchFamily="49" charset="0"/>
              </a:rPr>
              <a:t>Keyboard sends hardware interrupt</a:t>
            </a:r>
          </a:p>
          <a:p>
            <a:pPr>
              <a:lnSpc>
                <a:spcPct val="150000"/>
              </a:lnSpc>
              <a:spcBef>
                <a:spcPts val="0"/>
              </a:spcBef>
              <a:buFont typeface="Wingdings" pitchFamily="2" charset="2"/>
              <a:buChar char="ü"/>
            </a:pPr>
            <a:r>
              <a:rPr lang="en-US" dirty="0" smtClean="0">
                <a:cs typeface="Courier New" pitchFamily="49" charset="0"/>
              </a:rPr>
              <a:t>Hardware interrupt is handled by OS</a:t>
            </a:r>
          </a:p>
          <a:p>
            <a:pPr>
              <a:lnSpc>
                <a:spcPct val="150000"/>
              </a:lnSpc>
              <a:spcBef>
                <a:spcPts val="0"/>
              </a:spcBef>
              <a:buFont typeface="Wingdings" pitchFamily="2" charset="2"/>
              <a:buChar char="ü"/>
            </a:pPr>
            <a:r>
              <a:rPr lang="en-US" dirty="0" smtClean="0">
                <a:cs typeface="Courier New" pitchFamily="49" charset="0"/>
              </a:rPr>
              <a:t>OS sends a 2/SIGINT </a:t>
            </a:r>
            <a:r>
              <a:rPr lang="en-US" b="1" dirty="0" smtClean="0">
                <a:cs typeface="Courier New" pitchFamily="49" charset="0"/>
              </a:rPr>
              <a:t>signal</a:t>
            </a:r>
            <a:endParaRPr lang="en-US" dirty="0" smtClean="0">
              <a:cs typeface="Courier New"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1143000" y="0"/>
            <a:ext cx="7790688" cy="6248400"/>
          </a:xfrm>
        </p:spPr>
        <p:txBody>
          <a:bodyPr>
            <a:noAutofit/>
          </a:bodyPr>
          <a:lstStyle/>
          <a:p>
            <a:pPr>
              <a:lnSpc>
                <a:spcPct val="150000"/>
              </a:lnSpc>
              <a:spcBef>
                <a:spcPts val="0"/>
              </a:spcBef>
              <a:buFont typeface="Wingdings" pitchFamily="2" charset="2"/>
              <a:buChar char="ü"/>
            </a:pPr>
            <a:r>
              <a:rPr lang="en-US" sz="2800" dirty="0" smtClean="0">
                <a:solidFill>
                  <a:srgbClr val="FF0000"/>
                </a:solidFill>
                <a:cs typeface="Courier New" pitchFamily="49" charset="0"/>
              </a:rPr>
              <a:t>Type Ctrl-z?</a:t>
            </a:r>
          </a:p>
          <a:p>
            <a:pPr>
              <a:lnSpc>
                <a:spcPct val="150000"/>
              </a:lnSpc>
              <a:spcBef>
                <a:spcPts val="0"/>
              </a:spcBef>
              <a:buFont typeface="Wingdings" pitchFamily="2" charset="2"/>
              <a:buChar char="ü"/>
            </a:pPr>
            <a:r>
              <a:rPr lang="en-US" sz="2800" dirty="0" smtClean="0">
                <a:cs typeface="Courier New" pitchFamily="49" charset="0"/>
              </a:rPr>
              <a:t>Keyboard sends hardware interrupt</a:t>
            </a:r>
          </a:p>
          <a:p>
            <a:pPr>
              <a:lnSpc>
                <a:spcPct val="150000"/>
              </a:lnSpc>
              <a:spcBef>
                <a:spcPts val="0"/>
              </a:spcBef>
              <a:buFont typeface="Wingdings" pitchFamily="2" charset="2"/>
              <a:buChar char="ü"/>
            </a:pPr>
            <a:r>
              <a:rPr lang="en-US" sz="2800" dirty="0" smtClean="0">
                <a:cs typeface="Courier New" pitchFamily="49" charset="0"/>
              </a:rPr>
              <a:t>Hardware interrupt is handled by OS</a:t>
            </a:r>
          </a:p>
          <a:p>
            <a:pPr>
              <a:lnSpc>
                <a:spcPct val="150000"/>
              </a:lnSpc>
              <a:spcBef>
                <a:spcPts val="0"/>
              </a:spcBef>
              <a:buFont typeface="Wingdings" pitchFamily="2" charset="2"/>
              <a:buChar char="ü"/>
            </a:pPr>
            <a:r>
              <a:rPr lang="en-US" sz="2800" dirty="0" smtClean="0">
                <a:cs typeface="Courier New" pitchFamily="49" charset="0"/>
              </a:rPr>
              <a:t>OS sends a 20/SIGTSTP </a:t>
            </a:r>
            <a:r>
              <a:rPr lang="en-US" sz="2800" b="1" dirty="0" smtClean="0">
                <a:cs typeface="Courier New" pitchFamily="49" charset="0"/>
              </a:rPr>
              <a:t>signal</a:t>
            </a:r>
            <a:endParaRPr lang="en-US" sz="2800" dirty="0" smtClean="0">
              <a:cs typeface="Courier New" pitchFamily="49" charset="0"/>
            </a:endParaRPr>
          </a:p>
          <a:p>
            <a:pPr>
              <a:lnSpc>
                <a:spcPct val="170000"/>
              </a:lnSpc>
              <a:spcBef>
                <a:spcPts val="0"/>
              </a:spcBef>
            </a:pPr>
            <a:r>
              <a:rPr lang="en-US" sz="2800" dirty="0" smtClean="0"/>
              <a:t>Issue a “kill –</a:t>
            </a:r>
            <a:r>
              <a:rPr lang="en-US" sz="2800" i="1" dirty="0" smtClean="0"/>
              <a:t>sig</a:t>
            </a:r>
            <a:r>
              <a:rPr lang="en-US" sz="2800" dirty="0" smtClean="0"/>
              <a:t> </a:t>
            </a:r>
            <a:r>
              <a:rPr lang="en-US" sz="2800" i="1" dirty="0" err="1" smtClean="0"/>
              <a:t>pid</a:t>
            </a:r>
            <a:r>
              <a:rPr lang="en-US" sz="2800" dirty="0" smtClean="0"/>
              <a:t>” command?</a:t>
            </a:r>
          </a:p>
          <a:p>
            <a:pPr lvl="1">
              <a:lnSpc>
                <a:spcPct val="170000"/>
              </a:lnSpc>
              <a:spcBef>
                <a:spcPts val="0"/>
              </a:spcBef>
            </a:pPr>
            <a:r>
              <a:rPr lang="en-US" dirty="0" smtClean="0">
                <a:cs typeface="Courier New" pitchFamily="49" charset="0"/>
              </a:rPr>
              <a:t>OS sends a </a:t>
            </a:r>
            <a:r>
              <a:rPr lang="en-US" i="1" dirty="0" smtClean="0">
                <a:cs typeface="Courier New" pitchFamily="49" charset="0"/>
              </a:rPr>
              <a:t>sig</a:t>
            </a:r>
            <a:r>
              <a:rPr lang="en-US" dirty="0" smtClean="0">
                <a:cs typeface="Courier New" pitchFamily="49" charset="0"/>
              </a:rPr>
              <a:t> </a:t>
            </a:r>
            <a:r>
              <a:rPr lang="en-US" b="1" dirty="0" smtClean="0">
                <a:cs typeface="Courier New" pitchFamily="49" charset="0"/>
              </a:rPr>
              <a:t>signal</a:t>
            </a:r>
            <a:r>
              <a:rPr lang="en-US" dirty="0" smtClean="0">
                <a:cs typeface="Courier New" pitchFamily="49" charset="0"/>
              </a:rPr>
              <a:t> to the process whose id is </a:t>
            </a:r>
            <a:r>
              <a:rPr lang="en-US" i="1" dirty="0" err="1" smtClean="0">
                <a:cs typeface="Courier New" pitchFamily="49" charset="0"/>
              </a:rPr>
              <a:t>pid</a:t>
            </a:r>
            <a:endParaRPr lang="en-US" i="1" dirty="0" smtClean="0">
              <a:cs typeface="Courier New" pitchFamily="49" charset="0"/>
            </a:endParaRPr>
          </a:p>
          <a:p>
            <a:pPr>
              <a:lnSpc>
                <a:spcPct val="170000"/>
              </a:lnSpc>
              <a:spcBef>
                <a:spcPts val="0"/>
              </a:spcBef>
            </a:pPr>
            <a:r>
              <a:rPr lang="en-US" sz="2800" dirty="0" smtClean="0">
                <a:cs typeface="Courier New" pitchFamily="49" charset="0"/>
              </a:rPr>
              <a:t>Issue a </a:t>
            </a:r>
            <a:r>
              <a:rPr lang="en-US" sz="2800" dirty="0" smtClean="0">
                <a:latin typeface="Helvetica" pitchFamily="34" charset="0"/>
                <a:cs typeface="Courier New" pitchFamily="49" charset="0"/>
              </a:rPr>
              <a:t>“</a:t>
            </a:r>
            <a:r>
              <a:rPr lang="en-US" sz="2800" dirty="0" err="1" smtClean="0">
                <a:cs typeface="Courier New" pitchFamily="49" charset="0"/>
              </a:rPr>
              <a:t>fg</a:t>
            </a:r>
            <a:r>
              <a:rPr lang="en-US" sz="2800" dirty="0" smtClean="0">
                <a:latin typeface="Helvetica" pitchFamily="34" charset="0"/>
                <a:cs typeface="Courier New" pitchFamily="49" charset="0"/>
              </a:rPr>
              <a:t>”</a:t>
            </a:r>
            <a:r>
              <a:rPr lang="en-US" sz="2800" dirty="0" smtClean="0">
                <a:cs typeface="Courier New" pitchFamily="49" charset="0"/>
              </a:rPr>
              <a:t> or </a:t>
            </a:r>
            <a:r>
              <a:rPr lang="en-US" sz="2800" dirty="0" smtClean="0">
                <a:latin typeface="Helvetica" pitchFamily="34" charset="0"/>
                <a:cs typeface="Courier New" pitchFamily="49" charset="0"/>
              </a:rPr>
              <a:t>“</a:t>
            </a:r>
            <a:r>
              <a:rPr lang="en-US" sz="2800" dirty="0" err="1" smtClean="0">
                <a:cs typeface="Courier New" pitchFamily="49" charset="0"/>
              </a:rPr>
              <a:t>bg</a:t>
            </a:r>
            <a:r>
              <a:rPr lang="en-US" sz="2800" dirty="0" smtClean="0">
                <a:latin typeface="Helvetica" pitchFamily="34" charset="0"/>
                <a:cs typeface="Courier New" pitchFamily="49" charset="0"/>
              </a:rPr>
              <a:t>”</a:t>
            </a:r>
            <a:r>
              <a:rPr lang="en-US" sz="2800" dirty="0" smtClean="0">
                <a:cs typeface="Courier New" pitchFamily="49" charset="0"/>
              </a:rPr>
              <a:t> command?</a:t>
            </a:r>
          </a:p>
          <a:p>
            <a:pPr lvl="1">
              <a:lnSpc>
                <a:spcPct val="170000"/>
              </a:lnSpc>
              <a:spcBef>
                <a:spcPts val="0"/>
              </a:spcBef>
            </a:pPr>
            <a:r>
              <a:rPr lang="en-US" dirty="0" smtClean="0">
                <a:cs typeface="Courier New" pitchFamily="49" charset="0"/>
              </a:rPr>
              <a:t>OS sends a 18/SIGCONT </a:t>
            </a:r>
            <a:r>
              <a:rPr lang="en-US" b="1" dirty="0" smtClean="0">
                <a:cs typeface="Courier New" pitchFamily="49" charset="0"/>
              </a:rPr>
              <a:t>signal </a:t>
            </a:r>
            <a:r>
              <a:rPr lang="en-US" dirty="0" smtClean="0">
                <a:cs typeface="Courier New" pitchFamily="49" charset="0"/>
              </a:rPr>
              <a:t>(and does some other things too!)</a:t>
            </a:r>
          </a:p>
          <a:p>
            <a:pPr>
              <a:lnSpc>
                <a:spcPct val="170000"/>
              </a:lnSpc>
              <a:spcBef>
                <a:spcPts val="0"/>
              </a:spcBef>
              <a:buFontTx/>
              <a:buNone/>
            </a:pPr>
            <a:endParaRPr lang="en-US" sz="2800" dirty="0" smtClean="0">
              <a:cs typeface="Courier New" pitchFamily="49" charset="0"/>
            </a:endParaRPr>
          </a:p>
          <a:p>
            <a:pPr marL="457200" indent="-457200">
              <a:lnSpc>
                <a:spcPct val="170000"/>
              </a:lnSpc>
              <a:spcBef>
                <a:spcPts val="0"/>
              </a:spcBef>
              <a:buFontTx/>
              <a:buNone/>
            </a:pPr>
            <a:endParaRPr lang="en-US" sz="2800" dirty="0" smtClean="0"/>
          </a:p>
          <a:p>
            <a:pPr>
              <a:lnSpc>
                <a:spcPct val="170000"/>
              </a:lnSpc>
              <a:spcBef>
                <a:spcPts val="0"/>
              </a:spcBef>
              <a:buFontTx/>
              <a:buNone/>
            </a:pPr>
            <a:endParaRPr lang="en-US" sz="2800"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76200"/>
            <a:ext cx="8458200" cy="6858000"/>
          </a:xfrm>
        </p:spPr>
        <p:txBody>
          <a:bodyPr>
            <a:noAutofit/>
          </a:bodyPr>
          <a:lstStyle/>
          <a:p>
            <a:pPr marL="514350" indent="-514350" algn="ctr">
              <a:lnSpc>
                <a:spcPct val="150000"/>
              </a:lnSpc>
              <a:spcBef>
                <a:spcPts val="0"/>
              </a:spcBef>
            </a:pPr>
            <a:r>
              <a:rPr lang="en-GB" sz="3600" dirty="0" smtClean="0"/>
              <a:t>Signals in C language</a:t>
            </a:r>
          </a:p>
          <a:p>
            <a:pPr marL="514350" indent="-514350">
              <a:lnSpc>
                <a:spcPct val="150000"/>
              </a:lnSpc>
              <a:spcBef>
                <a:spcPts val="0"/>
              </a:spcBef>
              <a:buFont typeface="Wingdings" pitchFamily="2" charset="2"/>
              <a:buChar char="Ø"/>
            </a:pPr>
            <a:r>
              <a:rPr lang="en-GB" sz="2800" dirty="0" smtClean="0"/>
              <a:t>A signal is a software generated interrupt that is sent to a process by the OS because of when user press ctrl-c or another process tell something to this process.</a:t>
            </a:r>
          </a:p>
          <a:p>
            <a:pPr marL="514350" indent="-514350">
              <a:lnSpc>
                <a:spcPct val="150000"/>
              </a:lnSpc>
              <a:spcBef>
                <a:spcPts val="0"/>
              </a:spcBef>
              <a:buFont typeface="Wingdings" pitchFamily="2" charset="2"/>
              <a:buChar char="Ø"/>
            </a:pPr>
            <a:r>
              <a:rPr lang="en-GB" sz="2800" dirty="0" smtClean="0"/>
              <a:t>Signal: A notification of an event</a:t>
            </a:r>
          </a:p>
          <a:p>
            <a:pPr marL="514350" indent="-514350">
              <a:lnSpc>
                <a:spcPct val="150000"/>
              </a:lnSpc>
              <a:spcBef>
                <a:spcPts val="0"/>
              </a:spcBef>
              <a:buFont typeface="Wingdings" pitchFamily="2" charset="2"/>
              <a:buChar char="Ø"/>
            </a:pPr>
            <a:r>
              <a:rPr lang="en-GB" sz="2800" dirty="0" smtClean="0"/>
              <a:t>Event gains attention of the OS</a:t>
            </a:r>
          </a:p>
          <a:p>
            <a:pPr marL="514350" indent="-514350">
              <a:lnSpc>
                <a:spcPct val="150000"/>
              </a:lnSpc>
              <a:spcBef>
                <a:spcPts val="0"/>
              </a:spcBef>
              <a:buFont typeface="Wingdings" pitchFamily="2" charset="2"/>
              <a:buChar char="Ø"/>
            </a:pPr>
            <a:r>
              <a:rPr lang="en-GB" sz="2800" dirty="0" smtClean="0"/>
              <a:t>OS stops the process immediately, sending it a signal</a:t>
            </a:r>
          </a:p>
          <a:p>
            <a:pPr marL="514350" indent="-514350">
              <a:lnSpc>
                <a:spcPct val="150000"/>
              </a:lnSpc>
              <a:spcBef>
                <a:spcPts val="0"/>
              </a:spcBef>
              <a:buFont typeface="Wingdings" pitchFamily="2" charset="2"/>
              <a:buChar char="Ø"/>
            </a:pPr>
            <a:r>
              <a:rPr lang="en-GB" sz="2800" dirty="0" smtClean="0">
                <a:solidFill>
                  <a:srgbClr val="FF0000"/>
                </a:solidFill>
              </a:rPr>
              <a:t>Signal handler executes to completion</a:t>
            </a:r>
          </a:p>
          <a:p>
            <a:pPr marL="514350" indent="-514350">
              <a:lnSpc>
                <a:spcPct val="150000"/>
              </a:lnSpc>
              <a:spcBef>
                <a:spcPts val="0"/>
              </a:spcBef>
              <a:buFont typeface="Wingdings" pitchFamily="2" charset="2"/>
              <a:buChar char="Ø"/>
            </a:pPr>
            <a:r>
              <a:rPr lang="en-GB" sz="2800" dirty="0" smtClean="0"/>
              <a:t>Application process resumes where it left off</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p>
            <a:fld id="{CC64B05E-2D49-458A-9862-1A3129DCE7AC}" type="slidenum">
              <a:rPr lang="en-US"/>
              <a:pPr/>
              <a:t>47</a:t>
            </a:fld>
            <a:endParaRPr lang="en-US"/>
          </a:p>
        </p:txBody>
      </p:sp>
      <p:grpSp>
        <p:nvGrpSpPr>
          <p:cNvPr id="16" name="Group 15"/>
          <p:cNvGrpSpPr/>
          <p:nvPr/>
        </p:nvGrpSpPr>
        <p:grpSpPr>
          <a:xfrm>
            <a:off x="1706416" y="906462"/>
            <a:ext cx="6294584" cy="4579938"/>
            <a:chOff x="3214688" y="3582988"/>
            <a:chExt cx="3968750" cy="2887662"/>
          </a:xfrm>
        </p:grpSpPr>
        <p:sp>
          <p:nvSpPr>
            <p:cNvPr id="17" name="Rectangle 8"/>
            <p:cNvSpPr>
              <a:spLocks noChangeArrowheads="1"/>
            </p:cNvSpPr>
            <p:nvPr>
              <p:custDataLst>
                <p:tags r:id="rId1"/>
              </p:custDataLst>
            </p:nvPr>
          </p:nvSpPr>
          <p:spPr bwMode="auto">
            <a:xfrm>
              <a:off x="3227388" y="4083050"/>
              <a:ext cx="1344612" cy="2227263"/>
            </a:xfrm>
            <a:prstGeom prst="rect">
              <a:avLst/>
            </a:prstGeom>
            <a:solidFill>
              <a:srgbClr val="CCFFFF"/>
            </a:solidFill>
            <a:ln w="9525">
              <a:solidFill>
                <a:schemeClr val="tx1"/>
              </a:solidFill>
              <a:miter lim="800000"/>
              <a:headEnd/>
              <a:tailEnd/>
            </a:ln>
          </p:spPr>
          <p:txBody>
            <a:bodyPr wrap="none" anchor="ctr"/>
            <a:lstStyle/>
            <a:p>
              <a:pPr algn="l"/>
              <a:r>
                <a:rPr lang="en-US" sz="1800">
                  <a:latin typeface="Courier New" pitchFamily="49" charset="0"/>
                  <a:cs typeface="Courier New" pitchFamily="49" charset="0"/>
                </a:rPr>
                <a:t>movl</a:t>
              </a:r>
            </a:p>
            <a:p>
              <a:pPr algn="l"/>
              <a:r>
                <a:rPr lang="en-US" sz="1800">
                  <a:latin typeface="Courier New" pitchFamily="49" charset="0"/>
                  <a:cs typeface="Courier New" pitchFamily="49" charset="0"/>
                </a:rPr>
                <a:t>pushl</a:t>
              </a:r>
            </a:p>
            <a:p>
              <a:pPr algn="l"/>
              <a:r>
                <a:rPr lang="en-US" sz="1800">
                  <a:latin typeface="Courier New" pitchFamily="49" charset="0"/>
                  <a:cs typeface="Courier New" pitchFamily="49" charset="0"/>
                </a:rPr>
                <a:t>call f</a:t>
              </a:r>
            </a:p>
            <a:p>
              <a:pPr algn="l"/>
              <a:r>
                <a:rPr lang="en-US" sz="1800">
                  <a:latin typeface="Courier New" pitchFamily="49" charset="0"/>
                  <a:cs typeface="Courier New" pitchFamily="49" charset="0"/>
                </a:rPr>
                <a:t>addl</a:t>
              </a:r>
            </a:p>
            <a:p>
              <a:pPr algn="l"/>
              <a:r>
                <a:rPr lang="en-US" sz="1800">
                  <a:latin typeface="Courier New" pitchFamily="49" charset="0"/>
                  <a:cs typeface="Courier New" pitchFamily="49" charset="0"/>
                </a:rPr>
                <a:t>movl</a:t>
              </a:r>
            </a:p>
            <a:p>
              <a:pPr algn="l">
                <a:lnSpc>
                  <a:spcPct val="70000"/>
                </a:lnSpc>
              </a:pPr>
              <a:r>
                <a:rPr lang="en-US" sz="1800">
                  <a:latin typeface="Courier New" pitchFamily="49" charset="0"/>
                  <a:cs typeface="Courier New" pitchFamily="49" charset="0"/>
                </a:rPr>
                <a:t>.</a:t>
              </a:r>
            </a:p>
            <a:p>
              <a:pPr algn="l">
                <a:lnSpc>
                  <a:spcPct val="70000"/>
                </a:lnSpc>
              </a:pPr>
              <a:r>
                <a:rPr lang="en-US" sz="1800">
                  <a:latin typeface="Courier New" pitchFamily="49" charset="0"/>
                  <a:cs typeface="Courier New" pitchFamily="49" charset="0"/>
                </a:rPr>
                <a:t>.</a:t>
              </a:r>
            </a:p>
            <a:p>
              <a:pPr algn="l">
                <a:lnSpc>
                  <a:spcPct val="70000"/>
                </a:lnSpc>
              </a:pPr>
              <a:r>
                <a:rPr lang="en-US" sz="1800">
                  <a:latin typeface="Courier New" pitchFamily="49" charset="0"/>
                  <a:cs typeface="Courier New" pitchFamily="49" charset="0"/>
                </a:rPr>
                <a:t>.</a:t>
              </a:r>
            </a:p>
          </p:txBody>
        </p:sp>
        <p:sp>
          <p:nvSpPr>
            <p:cNvPr id="18" name="Text Box 9"/>
            <p:cNvSpPr txBox="1">
              <a:spLocks noChangeArrowheads="1"/>
            </p:cNvSpPr>
            <p:nvPr>
              <p:custDataLst>
                <p:tags r:id="rId2"/>
              </p:custDataLst>
            </p:nvPr>
          </p:nvSpPr>
          <p:spPr bwMode="auto">
            <a:xfrm>
              <a:off x="3214688" y="3582988"/>
              <a:ext cx="1285875" cy="457200"/>
            </a:xfrm>
            <a:prstGeom prst="rect">
              <a:avLst/>
            </a:prstGeom>
            <a:noFill/>
            <a:ln w="9525">
              <a:noFill/>
              <a:miter lim="800000"/>
              <a:headEnd/>
              <a:tailEnd/>
            </a:ln>
          </p:spPr>
          <p:txBody>
            <a:bodyPr wrap="none">
              <a:spAutoFit/>
            </a:bodyPr>
            <a:lstStyle/>
            <a:p>
              <a:r>
                <a:rPr lang="en-US">
                  <a:latin typeface="Arial" charset="0"/>
                </a:rPr>
                <a:t>Process</a:t>
              </a:r>
            </a:p>
          </p:txBody>
        </p:sp>
        <p:sp>
          <p:nvSpPr>
            <p:cNvPr id="19" name="Rectangle 10"/>
            <p:cNvSpPr>
              <a:spLocks noChangeArrowheads="1"/>
            </p:cNvSpPr>
            <p:nvPr>
              <p:custDataLst>
                <p:tags r:id="rId3"/>
              </p:custDataLst>
            </p:nvPr>
          </p:nvSpPr>
          <p:spPr bwMode="auto">
            <a:xfrm>
              <a:off x="5110163" y="4313238"/>
              <a:ext cx="2073275" cy="1152525"/>
            </a:xfrm>
            <a:prstGeom prst="rect">
              <a:avLst/>
            </a:prstGeom>
            <a:solidFill>
              <a:srgbClr val="DDDDDD"/>
            </a:solidFill>
            <a:ln w="9525">
              <a:solidFill>
                <a:schemeClr val="tx1"/>
              </a:solidFill>
              <a:miter lim="800000"/>
              <a:headEnd/>
              <a:tailEnd/>
            </a:ln>
          </p:spPr>
          <p:txBody>
            <a:bodyPr wrap="none" anchor="ctr"/>
            <a:lstStyle/>
            <a:p>
              <a:pPr algn="l"/>
              <a:r>
                <a:rPr lang="en-US" sz="1600">
                  <a:latin typeface="Arial" charset="0"/>
                </a:rPr>
                <a:t>void handler(int iSig)</a:t>
              </a:r>
            </a:p>
            <a:p>
              <a:pPr algn="l"/>
              <a:r>
                <a:rPr lang="en-US" sz="1600">
                  <a:latin typeface="Arial" charset="0"/>
                </a:rPr>
                <a:t>{</a:t>
              </a:r>
            </a:p>
            <a:p>
              <a:pPr algn="l"/>
              <a:r>
                <a:rPr lang="en-US" sz="1600">
                  <a:latin typeface="Arial" charset="0"/>
                </a:rPr>
                <a:t>…</a:t>
              </a:r>
            </a:p>
            <a:p>
              <a:pPr algn="l"/>
              <a:r>
                <a:rPr lang="en-US" sz="1600">
                  <a:latin typeface="Arial" charset="0"/>
                </a:rPr>
                <a:t>}</a:t>
              </a:r>
            </a:p>
          </p:txBody>
        </p:sp>
        <p:sp>
          <p:nvSpPr>
            <p:cNvPr id="20" name="Line 11"/>
            <p:cNvSpPr>
              <a:spLocks noChangeShapeType="1"/>
            </p:cNvSpPr>
            <p:nvPr>
              <p:custDataLst>
                <p:tags r:id="rId4"/>
              </p:custDataLst>
            </p:nvPr>
          </p:nvSpPr>
          <p:spPr bwMode="auto">
            <a:xfrm>
              <a:off x="3227388" y="5351463"/>
              <a:ext cx="1344612" cy="0"/>
            </a:xfrm>
            <a:prstGeom prst="line">
              <a:avLst/>
            </a:prstGeom>
            <a:noFill/>
            <a:ln w="28575">
              <a:solidFill>
                <a:srgbClr val="FF3300"/>
              </a:solidFill>
              <a:prstDash val="sysDot"/>
              <a:round/>
              <a:headEnd/>
              <a:tailEnd/>
            </a:ln>
          </p:spPr>
          <p:txBody>
            <a:bodyPr wrap="none" anchor="ctr"/>
            <a:lstStyle/>
            <a:p>
              <a:endParaRPr lang="en-GB"/>
            </a:p>
          </p:txBody>
        </p:sp>
        <p:sp>
          <p:nvSpPr>
            <p:cNvPr id="21" name="Text Box 12"/>
            <p:cNvSpPr txBox="1">
              <a:spLocks noChangeArrowheads="1"/>
            </p:cNvSpPr>
            <p:nvPr>
              <p:custDataLst>
                <p:tags r:id="rId5"/>
              </p:custDataLst>
            </p:nvPr>
          </p:nvSpPr>
          <p:spPr bwMode="auto">
            <a:xfrm>
              <a:off x="4956175" y="6003925"/>
              <a:ext cx="1073150" cy="466725"/>
            </a:xfrm>
            <a:prstGeom prst="rect">
              <a:avLst/>
            </a:prstGeom>
            <a:noFill/>
            <a:ln w="9525">
              <a:solidFill>
                <a:srgbClr val="FF3300"/>
              </a:solidFill>
              <a:miter lim="800000"/>
              <a:headEnd/>
              <a:tailEnd/>
            </a:ln>
          </p:spPr>
          <p:txBody>
            <a:bodyPr wrap="none">
              <a:spAutoFit/>
            </a:bodyPr>
            <a:lstStyle/>
            <a:p>
              <a:r>
                <a:rPr lang="en-US" b="1">
                  <a:solidFill>
                    <a:schemeClr val="hlink"/>
                  </a:solidFill>
                  <a:latin typeface="Arial" charset="0"/>
                </a:rPr>
                <a:t>signal</a:t>
              </a:r>
            </a:p>
          </p:txBody>
        </p:sp>
        <p:sp>
          <p:nvSpPr>
            <p:cNvPr id="22" name="Line 13"/>
            <p:cNvSpPr>
              <a:spLocks noChangeShapeType="1"/>
            </p:cNvSpPr>
            <p:nvPr>
              <p:custDataLst>
                <p:tags r:id="rId6"/>
              </p:custDataLst>
            </p:nvPr>
          </p:nvSpPr>
          <p:spPr bwMode="auto">
            <a:xfrm flipH="1" flipV="1">
              <a:off x="3919538" y="5351463"/>
              <a:ext cx="1036637" cy="614362"/>
            </a:xfrm>
            <a:prstGeom prst="line">
              <a:avLst/>
            </a:prstGeom>
            <a:noFill/>
            <a:ln w="9525">
              <a:solidFill>
                <a:srgbClr val="FF3300"/>
              </a:solidFill>
              <a:round/>
              <a:headEnd/>
              <a:tailEnd type="triangle" w="med" len="med"/>
            </a:ln>
          </p:spPr>
          <p:txBody>
            <a:bodyPr wrap="none" anchor="ctr"/>
            <a:lstStyle/>
            <a:p>
              <a:endParaRPr lang="en-GB"/>
            </a:p>
          </p:txBody>
        </p:sp>
        <p:sp>
          <p:nvSpPr>
            <p:cNvPr id="23" name="Line 14"/>
            <p:cNvSpPr>
              <a:spLocks noChangeShapeType="1"/>
            </p:cNvSpPr>
            <p:nvPr>
              <p:custDataLst>
                <p:tags r:id="rId7"/>
              </p:custDataLst>
            </p:nvPr>
          </p:nvSpPr>
          <p:spPr bwMode="auto">
            <a:xfrm flipV="1">
              <a:off x="4572000" y="4313238"/>
              <a:ext cx="538163" cy="1038225"/>
            </a:xfrm>
            <a:prstGeom prst="line">
              <a:avLst/>
            </a:prstGeom>
            <a:noFill/>
            <a:ln w="9525">
              <a:solidFill>
                <a:schemeClr val="tx1"/>
              </a:solidFill>
              <a:round/>
              <a:headEnd/>
              <a:tailEnd type="triangle" w="med" len="med"/>
            </a:ln>
          </p:spPr>
          <p:txBody>
            <a:bodyPr wrap="none" anchor="ctr"/>
            <a:lstStyle/>
            <a:p>
              <a:endParaRPr lang="en-GB"/>
            </a:p>
          </p:txBody>
        </p:sp>
        <p:sp>
          <p:nvSpPr>
            <p:cNvPr id="24" name="Line 15"/>
            <p:cNvSpPr>
              <a:spLocks noChangeShapeType="1"/>
            </p:cNvSpPr>
            <p:nvPr>
              <p:custDataLst>
                <p:tags r:id="rId8"/>
              </p:custDataLst>
            </p:nvPr>
          </p:nvSpPr>
          <p:spPr bwMode="auto">
            <a:xfrm flipH="1" flipV="1">
              <a:off x="4572000" y="5351463"/>
              <a:ext cx="538163" cy="76200"/>
            </a:xfrm>
            <a:prstGeom prst="line">
              <a:avLst/>
            </a:prstGeom>
            <a:noFill/>
            <a:ln w="9525">
              <a:solidFill>
                <a:schemeClr val="tx1"/>
              </a:solidFill>
              <a:round/>
              <a:headEnd/>
              <a:tailEnd type="triangle" w="med" len="med"/>
            </a:ln>
          </p:spPr>
          <p:txBody>
            <a:bodyPr wrap="none" anchor="ctr"/>
            <a:lstStyle/>
            <a:p>
              <a:endParaRPr lang="en-GB"/>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p:spPr>
        <p:txBody>
          <a:bodyPr/>
          <a:lstStyle/>
          <a:p>
            <a:fld id="{807E6C65-D1C1-4D34-B9DF-19827C4AA2DA}" type="slidenum">
              <a:rPr lang="en-US"/>
              <a:pPr/>
              <a:t>48</a:t>
            </a:fld>
            <a:endParaRPr lang="en-US"/>
          </a:p>
        </p:txBody>
      </p:sp>
      <p:sp>
        <p:nvSpPr>
          <p:cNvPr id="4100" name="Rectangle 3"/>
          <p:cNvSpPr>
            <a:spLocks noGrp="1" noChangeArrowheads="1"/>
          </p:cNvSpPr>
          <p:nvPr>
            <p:ph type="body" idx="1"/>
          </p:nvPr>
        </p:nvSpPr>
        <p:spPr>
          <a:xfrm>
            <a:off x="1143000" y="304800"/>
            <a:ext cx="7790688" cy="5943600"/>
          </a:xfrm>
        </p:spPr>
        <p:txBody>
          <a:bodyPr>
            <a:noAutofit/>
          </a:bodyPr>
          <a:lstStyle/>
          <a:p>
            <a:pPr>
              <a:lnSpc>
                <a:spcPct val="150000"/>
              </a:lnSpc>
              <a:spcBef>
                <a:spcPts val="0"/>
              </a:spcBef>
              <a:buFontTx/>
              <a:buNone/>
            </a:pPr>
            <a:r>
              <a:rPr lang="en-US" b="1" dirty="0" smtClean="0">
                <a:latin typeface="Arial" charset="0"/>
                <a:cs typeface="Arial" charset="0"/>
              </a:rPr>
              <a:t>Sending Signals via Keystrokes</a:t>
            </a:r>
            <a:endParaRPr lang="en-US" b="1" dirty="0" smtClean="0"/>
          </a:p>
          <a:p>
            <a:pPr>
              <a:lnSpc>
                <a:spcPct val="150000"/>
              </a:lnSpc>
              <a:spcBef>
                <a:spcPts val="0"/>
              </a:spcBef>
              <a:buFontTx/>
              <a:buNone/>
            </a:pPr>
            <a:r>
              <a:rPr lang="en-US" dirty="0" smtClean="0"/>
              <a:t>Three signals can be sent from keyboard:</a:t>
            </a:r>
          </a:p>
          <a:p>
            <a:pPr lvl="1">
              <a:lnSpc>
                <a:spcPct val="150000"/>
              </a:lnSpc>
              <a:spcBef>
                <a:spcPts val="0"/>
              </a:spcBef>
            </a:pPr>
            <a:r>
              <a:rPr lang="en-US" dirty="0" smtClean="0"/>
              <a:t>Ctrl-c </a:t>
            </a:r>
            <a:r>
              <a:rPr lang="en-US" dirty="0" smtClean="0">
                <a:sym typeface="Wingdings" pitchFamily="2" charset="2"/>
              </a:rPr>
              <a:t> 2/SIG</a:t>
            </a:r>
            <a:r>
              <a:rPr lang="en-US" dirty="0" smtClean="0"/>
              <a:t>INT signal</a:t>
            </a:r>
          </a:p>
          <a:p>
            <a:pPr lvl="2">
              <a:lnSpc>
                <a:spcPct val="150000"/>
              </a:lnSpc>
              <a:spcBef>
                <a:spcPts val="0"/>
              </a:spcBef>
            </a:pPr>
            <a:r>
              <a:rPr lang="en-US" sz="2800" dirty="0" smtClean="0"/>
              <a:t>Default handler exits process</a:t>
            </a:r>
          </a:p>
          <a:p>
            <a:pPr lvl="1">
              <a:lnSpc>
                <a:spcPct val="150000"/>
              </a:lnSpc>
              <a:spcBef>
                <a:spcPts val="0"/>
              </a:spcBef>
            </a:pPr>
            <a:r>
              <a:rPr lang="en-US" dirty="0" smtClean="0"/>
              <a:t>Ctrl-z </a:t>
            </a:r>
            <a:r>
              <a:rPr lang="en-US" dirty="0" smtClean="0">
                <a:sym typeface="Wingdings" pitchFamily="2" charset="2"/>
              </a:rPr>
              <a:t> 20/SIG</a:t>
            </a:r>
            <a:r>
              <a:rPr lang="en-US" dirty="0" smtClean="0"/>
              <a:t>TSTP signal</a:t>
            </a:r>
          </a:p>
          <a:p>
            <a:pPr lvl="2">
              <a:lnSpc>
                <a:spcPct val="150000"/>
              </a:lnSpc>
              <a:spcBef>
                <a:spcPts val="0"/>
              </a:spcBef>
            </a:pPr>
            <a:r>
              <a:rPr lang="en-US" sz="2800" dirty="0" smtClean="0"/>
              <a:t>Default handler suspends process</a:t>
            </a:r>
          </a:p>
          <a:p>
            <a:pPr lvl="1">
              <a:lnSpc>
                <a:spcPct val="150000"/>
              </a:lnSpc>
              <a:spcBef>
                <a:spcPts val="0"/>
              </a:spcBef>
            </a:pPr>
            <a:r>
              <a:rPr lang="en-US" dirty="0" smtClean="0"/>
              <a:t>Ctrl-\ </a:t>
            </a:r>
            <a:r>
              <a:rPr lang="en-US" dirty="0" smtClean="0">
                <a:sym typeface="Wingdings" pitchFamily="2" charset="2"/>
              </a:rPr>
              <a:t> 3/SIG</a:t>
            </a:r>
            <a:r>
              <a:rPr lang="en-US" dirty="0" smtClean="0"/>
              <a:t>QUIT signal</a:t>
            </a:r>
          </a:p>
          <a:p>
            <a:pPr lvl="2">
              <a:lnSpc>
                <a:spcPct val="150000"/>
              </a:lnSpc>
              <a:spcBef>
                <a:spcPts val="0"/>
              </a:spcBef>
            </a:pPr>
            <a:r>
              <a:rPr lang="en-US" sz="2800" dirty="0" smtClean="0"/>
              <a:t>Default handler exits process</a:t>
            </a:r>
          </a:p>
          <a:p>
            <a:pPr marL="457200" indent="-457200">
              <a:lnSpc>
                <a:spcPct val="150000"/>
              </a:lnSpc>
              <a:spcBef>
                <a:spcPts val="0"/>
              </a:spcBef>
              <a:buFontTx/>
              <a:buNone/>
            </a:pPr>
            <a:endParaRPr lang="en-US" sz="2800"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p:spPr>
        <p:txBody>
          <a:bodyPr/>
          <a:lstStyle/>
          <a:p>
            <a:fld id="{807E6C65-D1C1-4D34-B9DF-19827C4AA2DA}" type="slidenum">
              <a:rPr lang="en-US"/>
              <a:pPr/>
              <a:t>49</a:t>
            </a:fld>
            <a:endParaRPr lang="en-US"/>
          </a:p>
        </p:txBody>
      </p:sp>
      <p:sp>
        <p:nvSpPr>
          <p:cNvPr id="4100" name="Rectangle 3"/>
          <p:cNvSpPr>
            <a:spLocks noGrp="1" noChangeArrowheads="1"/>
          </p:cNvSpPr>
          <p:nvPr>
            <p:ph type="body" idx="1"/>
          </p:nvPr>
        </p:nvSpPr>
        <p:spPr>
          <a:xfrm>
            <a:off x="1143000" y="76200"/>
            <a:ext cx="7790688" cy="5943600"/>
          </a:xfrm>
        </p:spPr>
        <p:txBody>
          <a:bodyPr>
            <a:noAutofit/>
          </a:bodyPr>
          <a:lstStyle/>
          <a:p>
            <a:pPr>
              <a:lnSpc>
                <a:spcPct val="110000"/>
              </a:lnSpc>
              <a:buFontTx/>
              <a:buNone/>
            </a:pPr>
            <a:r>
              <a:rPr lang="en-US" b="1" dirty="0" smtClean="0">
                <a:latin typeface="Arial" charset="0"/>
                <a:cs typeface="Arial" charset="0"/>
              </a:rPr>
              <a:t>Sending Signals via Commands </a:t>
            </a:r>
          </a:p>
          <a:p>
            <a:pPr>
              <a:lnSpc>
                <a:spcPct val="110000"/>
              </a:lnSpc>
              <a:buFontTx/>
              <a:buNone/>
            </a:pPr>
            <a:r>
              <a:rPr lang="en-US" sz="2800" dirty="0" smtClean="0"/>
              <a:t>kill Command</a:t>
            </a:r>
          </a:p>
          <a:p>
            <a:pPr lvl="1">
              <a:lnSpc>
                <a:spcPct val="110000"/>
              </a:lnSpc>
              <a:buFont typeface="MT Extra" pitchFamily="18" charset="2"/>
              <a:buNone/>
            </a:pPr>
            <a:r>
              <a:rPr lang="en-US" b="1" dirty="0" smtClean="0">
                <a:latin typeface="Courier New" pitchFamily="49" charset="0"/>
                <a:cs typeface="Courier New" pitchFamily="49" charset="0"/>
              </a:rPr>
              <a:t>kill -</a:t>
            </a:r>
            <a:r>
              <a:rPr lang="en-US" b="1" i="1" dirty="0" smtClean="0">
                <a:latin typeface="Courier New" pitchFamily="49" charset="0"/>
                <a:cs typeface="Courier New" pitchFamily="49" charset="0"/>
              </a:rPr>
              <a:t>signal</a:t>
            </a:r>
            <a:r>
              <a:rPr lang="en-US" b="1" dirty="0" smtClean="0">
                <a:latin typeface="Courier New" pitchFamily="49" charset="0"/>
                <a:cs typeface="Courier New" pitchFamily="49" charset="0"/>
              </a:rPr>
              <a:t> </a:t>
            </a:r>
            <a:r>
              <a:rPr lang="en-US" b="1" i="1" dirty="0" err="1" smtClean="0">
                <a:latin typeface="Courier New" pitchFamily="49" charset="0"/>
                <a:cs typeface="Courier New" pitchFamily="49" charset="0"/>
              </a:rPr>
              <a:t>pid</a:t>
            </a:r>
            <a:r>
              <a:rPr lang="en-US" dirty="0" smtClean="0"/>
              <a:t> </a:t>
            </a:r>
          </a:p>
          <a:p>
            <a:pPr lvl="2">
              <a:lnSpc>
                <a:spcPct val="110000"/>
              </a:lnSpc>
            </a:pPr>
            <a:r>
              <a:rPr lang="en-US" dirty="0" smtClean="0"/>
              <a:t>Send a signal of type </a:t>
            </a:r>
            <a:r>
              <a:rPr lang="en-US" b="1" dirty="0" smtClean="0">
                <a:latin typeface="Courier New" pitchFamily="49" charset="0"/>
                <a:cs typeface="Courier New" pitchFamily="49" charset="0"/>
              </a:rPr>
              <a:t>signal</a:t>
            </a:r>
            <a:r>
              <a:rPr lang="en-US" dirty="0" smtClean="0"/>
              <a:t> to the process with id </a:t>
            </a:r>
            <a:r>
              <a:rPr lang="en-US" b="1" dirty="0" err="1" smtClean="0">
                <a:latin typeface="Courier New" pitchFamily="49" charset="0"/>
                <a:cs typeface="Courier New" pitchFamily="49" charset="0"/>
              </a:rPr>
              <a:t>pid</a:t>
            </a:r>
            <a:endParaRPr lang="en-US" b="1" dirty="0" smtClean="0">
              <a:latin typeface="Courier New" pitchFamily="49" charset="0"/>
              <a:cs typeface="Courier New" pitchFamily="49" charset="0"/>
            </a:endParaRPr>
          </a:p>
          <a:p>
            <a:pPr lvl="2">
              <a:lnSpc>
                <a:spcPct val="110000"/>
              </a:lnSpc>
            </a:pPr>
            <a:r>
              <a:rPr lang="en-US" dirty="0" smtClean="0"/>
              <a:t>Can specify either signal type name (-SIGINT) or number (-2)</a:t>
            </a:r>
          </a:p>
          <a:p>
            <a:pPr lvl="1">
              <a:lnSpc>
                <a:spcPct val="110000"/>
              </a:lnSpc>
            </a:pPr>
            <a:r>
              <a:rPr lang="en-US" dirty="0" smtClean="0"/>
              <a:t>No signal type name or number specified =&gt; sends 15/SIGTERM signal</a:t>
            </a:r>
          </a:p>
          <a:p>
            <a:pPr lvl="2">
              <a:lnSpc>
                <a:spcPct val="110000"/>
              </a:lnSpc>
            </a:pPr>
            <a:r>
              <a:rPr lang="en-US" dirty="0" smtClean="0"/>
              <a:t>Default 15/SIGTERM handler exits process</a:t>
            </a:r>
          </a:p>
          <a:p>
            <a:pPr lvl="1">
              <a:lnSpc>
                <a:spcPct val="110000"/>
              </a:lnSpc>
            </a:pPr>
            <a:r>
              <a:rPr lang="en-US" dirty="0" smtClean="0"/>
              <a:t>Editorial comment:  Better command name would be </a:t>
            </a:r>
            <a:r>
              <a:rPr lang="en-US" b="1" dirty="0" err="1" smtClean="0">
                <a:latin typeface="Courier New" pitchFamily="49" charset="0"/>
                <a:cs typeface="Courier New" pitchFamily="49" charset="0"/>
              </a:rPr>
              <a:t>sendsig</a:t>
            </a:r>
            <a:endParaRPr lang="en-US" b="1" dirty="0" smtClean="0">
              <a:latin typeface="Courier New" pitchFamily="49" charset="0"/>
              <a:cs typeface="Courier New" pitchFamily="49" charset="0"/>
            </a:endParaRPr>
          </a:p>
          <a:p>
            <a:pPr>
              <a:lnSpc>
                <a:spcPct val="110000"/>
              </a:lnSpc>
              <a:buFontTx/>
              <a:buNone/>
            </a:pPr>
            <a:r>
              <a:rPr lang="en-US" dirty="0" smtClean="0"/>
              <a:t>Examples</a:t>
            </a:r>
          </a:p>
          <a:p>
            <a:pPr lvl="1">
              <a:lnSpc>
                <a:spcPct val="110000"/>
              </a:lnSpc>
              <a:buFont typeface="MT Extra" pitchFamily="18" charset="2"/>
              <a:buNone/>
            </a:pPr>
            <a:r>
              <a:rPr lang="en-US" b="1" dirty="0" smtClean="0">
                <a:latin typeface="Courier New" pitchFamily="49" charset="0"/>
                <a:cs typeface="Courier New" pitchFamily="49" charset="0"/>
              </a:rPr>
              <a:t>kill –2 1234</a:t>
            </a:r>
          </a:p>
          <a:p>
            <a:pPr lvl="1">
              <a:lnSpc>
                <a:spcPct val="110000"/>
              </a:lnSpc>
              <a:buFont typeface="MT Extra" pitchFamily="18" charset="2"/>
              <a:buNone/>
            </a:pPr>
            <a:r>
              <a:rPr lang="en-US" b="1" dirty="0" smtClean="0">
                <a:latin typeface="Courier New" pitchFamily="49" charset="0"/>
                <a:cs typeface="Courier New" pitchFamily="49" charset="0"/>
              </a:rPr>
              <a:t>kill -SIGINT 1234</a:t>
            </a:r>
          </a:p>
          <a:p>
            <a:pPr lvl="1">
              <a:lnSpc>
                <a:spcPct val="110000"/>
              </a:lnSpc>
            </a:pPr>
            <a:r>
              <a:rPr lang="en-US" dirty="0" smtClean="0"/>
              <a:t>Same as pressing Ctrl-c if process 1234 is running in foreground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p>
            <a:fld id="{1DFD6384-2ECF-43CD-A7ED-76E0A60773EF}" type="slidenum">
              <a:rPr lang="en-US"/>
              <a:pPr/>
              <a:t>50</a:t>
            </a:fld>
            <a:endParaRPr lang="en-US"/>
          </a:p>
        </p:txBody>
      </p:sp>
      <p:sp>
        <p:nvSpPr>
          <p:cNvPr id="6147" name="Rectangle 2"/>
          <p:cNvSpPr>
            <a:spLocks noGrp="1" noChangeArrowheads="1"/>
          </p:cNvSpPr>
          <p:nvPr>
            <p:ph type="title"/>
          </p:nvPr>
        </p:nvSpPr>
        <p:spPr/>
        <p:txBody>
          <a:bodyPr/>
          <a:lstStyle/>
          <a:p>
            <a:r>
              <a:rPr lang="en-US" smtClean="0">
                <a:latin typeface="Arial" charset="0"/>
                <a:cs typeface="Arial" charset="0"/>
              </a:rPr>
              <a:t>UNIX Process Control</a:t>
            </a:r>
          </a:p>
        </p:txBody>
      </p:sp>
      <p:sp>
        <p:nvSpPr>
          <p:cNvPr id="6148" name="Rectangle 5"/>
          <p:cNvSpPr>
            <a:spLocks noChangeArrowheads="1"/>
          </p:cNvSpPr>
          <p:nvPr/>
        </p:nvSpPr>
        <p:spPr bwMode="auto">
          <a:xfrm>
            <a:off x="3649663" y="1547813"/>
            <a:ext cx="1489075" cy="650875"/>
          </a:xfrm>
          <a:prstGeom prst="rect">
            <a:avLst/>
          </a:prstGeom>
          <a:solidFill>
            <a:srgbClr val="FFFF99"/>
          </a:solidFill>
          <a:ln w="9525">
            <a:solidFill>
              <a:schemeClr val="tx1"/>
            </a:solidFill>
            <a:miter lim="800000"/>
            <a:headEnd/>
            <a:tailEnd/>
          </a:ln>
        </p:spPr>
        <p:txBody>
          <a:bodyPr wrap="none" anchor="ctr">
            <a:spAutoFit/>
          </a:bodyPr>
          <a:lstStyle/>
          <a:p>
            <a:r>
              <a:rPr lang="en-US" sz="1800">
                <a:latin typeface="Arial" charset="0"/>
              </a:rPr>
              <a:t>Non-Existing</a:t>
            </a:r>
          </a:p>
          <a:p>
            <a:r>
              <a:rPr lang="en-US" sz="1800">
                <a:latin typeface="Arial" charset="0"/>
              </a:rPr>
              <a:t>Process</a:t>
            </a:r>
          </a:p>
        </p:txBody>
      </p:sp>
      <p:sp>
        <p:nvSpPr>
          <p:cNvPr id="6149" name="Rectangle 6"/>
          <p:cNvSpPr>
            <a:spLocks noChangeArrowheads="1"/>
          </p:cNvSpPr>
          <p:nvPr/>
        </p:nvSpPr>
        <p:spPr bwMode="auto">
          <a:xfrm>
            <a:off x="1116013" y="3216275"/>
            <a:ext cx="1374775" cy="925513"/>
          </a:xfrm>
          <a:prstGeom prst="rect">
            <a:avLst/>
          </a:prstGeom>
          <a:solidFill>
            <a:srgbClr val="FFFF99"/>
          </a:solidFill>
          <a:ln w="9525">
            <a:solidFill>
              <a:schemeClr val="tx1"/>
            </a:solidFill>
            <a:miter lim="800000"/>
            <a:headEnd/>
            <a:tailEnd/>
          </a:ln>
        </p:spPr>
        <p:txBody>
          <a:bodyPr wrap="none" anchor="ctr">
            <a:spAutoFit/>
          </a:bodyPr>
          <a:lstStyle/>
          <a:p>
            <a:r>
              <a:rPr lang="en-US" sz="1800">
                <a:latin typeface="Arial" charset="0"/>
              </a:rPr>
              <a:t>Running</a:t>
            </a:r>
          </a:p>
          <a:p>
            <a:r>
              <a:rPr lang="en-US" sz="1800">
                <a:latin typeface="Arial" charset="0"/>
              </a:rPr>
              <a:t>Foreground</a:t>
            </a:r>
          </a:p>
          <a:p>
            <a:r>
              <a:rPr lang="en-US" sz="1800">
                <a:latin typeface="Arial" charset="0"/>
              </a:rPr>
              <a:t>Process</a:t>
            </a:r>
          </a:p>
        </p:txBody>
      </p:sp>
      <p:sp>
        <p:nvSpPr>
          <p:cNvPr id="6150" name="Rectangle 7"/>
          <p:cNvSpPr>
            <a:spLocks noChangeArrowheads="1"/>
          </p:cNvSpPr>
          <p:nvPr/>
        </p:nvSpPr>
        <p:spPr bwMode="auto">
          <a:xfrm>
            <a:off x="3689350" y="5233988"/>
            <a:ext cx="1412875" cy="925512"/>
          </a:xfrm>
          <a:prstGeom prst="rect">
            <a:avLst/>
          </a:prstGeom>
          <a:solidFill>
            <a:srgbClr val="FFFF99"/>
          </a:solidFill>
          <a:ln w="9525">
            <a:solidFill>
              <a:schemeClr val="tx1"/>
            </a:solidFill>
            <a:miter lim="800000"/>
            <a:headEnd/>
            <a:tailEnd/>
          </a:ln>
        </p:spPr>
        <p:txBody>
          <a:bodyPr wrap="none" anchor="ctr">
            <a:spAutoFit/>
          </a:bodyPr>
          <a:lstStyle/>
          <a:p>
            <a:r>
              <a:rPr lang="en-US" sz="1800">
                <a:latin typeface="Arial" charset="0"/>
              </a:rPr>
              <a:t>Stopped</a:t>
            </a:r>
          </a:p>
          <a:p>
            <a:r>
              <a:rPr lang="en-US" sz="1800">
                <a:latin typeface="Arial" charset="0"/>
              </a:rPr>
              <a:t>Background</a:t>
            </a:r>
          </a:p>
          <a:p>
            <a:r>
              <a:rPr lang="en-US" sz="1800">
                <a:latin typeface="Arial" charset="0"/>
              </a:rPr>
              <a:t>Process</a:t>
            </a:r>
          </a:p>
        </p:txBody>
      </p:sp>
      <p:sp>
        <p:nvSpPr>
          <p:cNvPr id="6151" name="Rectangle 8"/>
          <p:cNvSpPr>
            <a:spLocks noChangeArrowheads="1"/>
          </p:cNvSpPr>
          <p:nvPr/>
        </p:nvSpPr>
        <p:spPr bwMode="auto">
          <a:xfrm>
            <a:off x="6453188" y="3198813"/>
            <a:ext cx="1412875" cy="925512"/>
          </a:xfrm>
          <a:prstGeom prst="rect">
            <a:avLst/>
          </a:prstGeom>
          <a:solidFill>
            <a:srgbClr val="FFFF99"/>
          </a:solidFill>
          <a:ln w="9525">
            <a:solidFill>
              <a:schemeClr val="tx1"/>
            </a:solidFill>
            <a:miter lim="800000"/>
            <a:headEnd/>
            <a:tailEnd/>
          </a:ln>
        </p:spPr>
        <p:txBody>
          <a:bodyPr wrap="none" anchor="ctr">
            <a:spAutoFit/>
          </a:bodyPr>
          <a:lstStyle/>
          <a:p>
            <a:r>
              <a:rPr lang="en-US" sz="1800">
                <a:latin typeface="Arial" charset="0"/>
              </a:rPr>
              <a:t>Running</a:t>
            </a:r>
          </a:p>
          <a:p>
            <a:r>
              <a:rPr lang="en-US" sz="1800">
                <a:latin typeface="Arial" charset="0"/>
              </a:rPr>
              <a:t>Background</a:t>
            </a:r>
          </a:p>
          <a:p>
            <a:r>
              <a:rPr lang="en-US" sz="1800">
                <a:latin typeface="Arial" charset="0"/>
              </a:rPr>
              <a:t>Process</a:t>
            </a:r>
          </a:p>
        </p:txBody>
      </p:sp>
      <p:cxnSp>
        <p:nvCxnSpPr>
          <p:cNvPr id="6152" name="AutoShape 22"/>
          <p:cNvCxnSpPr>
            <a:cxnSpLocks noChangeShapeType="1"/>
            <a:stCxn id="6149" idx="0"/>
            <a:endCxn id="6148" idx="1"/>
          </p:cNvCxnSpPr>
          <p:nvPr/>
        </p:nvCxnSpPr>
        <p:spPr bwMode="auto">
          <a:xfrm rot="-5400000">
            <a:off x="2055019" y="1621631"/>
            <a:ext cx="1343025" cy="1846263"/>
          </a:xfrm>
          <a:prstGeom prst="curvedConnector2">
            <a:avLst/>
          </a:prstGeom>
          <a:noFill/>
          <a:ln w="9525">
            <a:solidFill>
              <a:schemeClr val="tx1"/>
            </a:solidFill>
            <a:round/>
            <a:headEnd type="triangle" w="med" len="med"/>
            <a:tailEnd type="triangle" w="med" len="med"/>
          </a:ln>
        </p:spPr>
      </p:cxnSp>
      <p:sp>
        <p:nvSpPr>
          <p:cNvPr id="6153" name="Text Box 24"/>
          <p:cNvSpPr txBox="1">
            <a:spLocks noChangeArrowheads="1"/>
          </p:cNvSpPr>
          <p:nvPr/>
        </p:nvSpPr>
        <p:spPr bwMode="auto">
          <a:xfrm>
            <a:off x="1154113" y="1816100"/>
            <a:ext cx="1301750" cy="641350"/>
          </a:xfrm>
          <a:prstGeom prst="rect">
            <a:avLst/>
          </a:prstGeom>
          <a:noFill/>
          <a:ln w="9525">
            <a:noFill/>
            <a:miter lim="800000"/>
            <a:headEnd/>
            <a:tailEnd/>
          </a:ln>
        </p:spPr>
        <p:txBody>
          <a:bodyPr wrap="none">
            <a:spAutoFit/>
          </a:bodyPr>
          <a:lstStyle/>
          <a:p>
            <a:r>
              <a:rPr lang="en-US" sz="1800"/>
              <a:t>↓ </a:t>
            </a:r>
            <a:r>
              <a:rPr lang="en-US" sz="1800" i="1"/>
              <a:t>command</a:t>
            </a:r>
            <a:r>
              <a:rPr lang="en-US" sz="1800"/>
              <a:t> </a:t>
            </a:r>
          </a:p>
          <a:p>
            <a:r>
              <a:rPr lang="en-US" sz="1800">
                <a:cs typeface="Times New Roman" pitchFamily="18" charset="0"/>
              </a:rPr>
              <a:t>↑ Ctrl-c</a:t>
            </a:r>
            <a:endParaRPr lang="en-US" sz="1800"/>
          </a:p>
        </p:txBody>
      </p:sp>
      <p:cxnSp>
        <p:nvCxnSpPr>
          <p:cNvPr id="6154" name="AutoShape 25"/>
          <p:cNvCxnSpPr>
            <a:cxnSpLocks noChangeShapeType="1"/>
            <a:stCxn id="6149" idx="2"/>
            <a:endCxn id="6150" idx="1"/>
          </p:cNvCxnSpPr>
          <p:nvPr/>
        </p:nvCxnSpPr>
        <p:spPr bwMode="auto">
          <a:xfrm rot="16200000" flipH="1">
            <a:off x="1968500" y="3976688"/>
            <a:ext cx="1555750" cy="1885950"/>
          </a:xfrm>
          <a:prstGeom prst="curvedConnector2">
            <a:avLst/>
          </a:prstGeom>
          <a:noFill/>
          <a:ln w="9525">
            <a:solidFill>
              <a:schemeClr val="tx1"/>
            </a:solidFill>
            <a:round/>
            <a:headEnd type="triangle" w="med" len="med"/>
            <a:tailEnd type="triangle" w="med" len="med"/>
          </a:ln>
        </p:spPr>
      </p:cxnSp>
      <p:sp>
        <p:nvSpPr>
          <p:cNvPr id="6155" name="Text Box 26"/>
          <p:cNvSpPr txBox="1">
            <a:spLocks noChangeArrowheads="1"/>
          </p:cNvSpPr>
          <p:nvPr/>
        </p:nvSpPr>
        <p:spPr bwMode="auto">
          <a:xfrm>
            <a:off x="1038225" y="4965700"/>
            <a:ext cx="1190625" cy="641350"/>
          </a:xfrm>
          <a:prstGeom prst="rect">
            <a:avLst/>
          </a:prstGeom>
          <a:noFill/>
          <a:ln w="9525">
            <a:noFill/>
            <a:miter lim="800000"/>
            <a:headEnd/>
            <a:tailEnd/>
          </a:ln>
        </p:spPr>
        <p:txBody>
          <a:bodyPr>
            <a:spAutoFit/>
          </a:bodyPr>
          <a:lstStyle/>
          <a:p>
            <a:r>
              <a:rPr lang="en-US" sz="1800"/>
              <a:t> </a:t>
            </a:r>
            <a:r>
              <a:rPr lang="en-US" sz="1800">
                <a:cs typeface="Times New Roman" pitchFamily="18" charset="0"/>
              </a:rPr>
              <a:t>↓</a:t>
            </a:r>
            <a:r>
              <a:rPr lang="en-US" sz="1800"/>
              <a:t> Ctrl-z</a:t>
            </a:r>
          </a:p>
          <a:p>
            <a:r>
              <a:rPr lang="en-US" sz="1800"/>
              <a:t> ↑ fg</a:t>
            </a:r>
          </a:p>
        </p:txBody>
      </p:sp>
      <p:cxnSp>
        <p:nvCxnSpPr>
          <p:cNvPr id="6156" name="AutoShape 28"/>
          <p:cNvCxnSpPr>
            <a:cxnSpLocks noChangeShapeType="1"/>
            <a:stCxn id="6150" idx="3"/>
            <a:endCxn id="6151" idx="2"/>
          </p:cNvCxnSpPr>
          <p:nvPr/>
        </p:nvCxnSpPr>
        <p:spPr bwMode="auto">
          <a:xfrm flipV="1">
            <a:off x="5102225" y="4124325"/>
            <a:ext cx="2057400" cy="1573213"/>
          </a:xfrm>
          <a:prstGeom prst="curvedConnector2">
            <a:avLst/>
          </a:prstGeom>
          <a:noFill/>
          <a:ln w="9525">
            <a:solidFill>
              <a:schemeClr val="tx1"/>
            </a:solidFill>
            <a:round/>
            <a:headEnd type="triangle" w="med" len="med"/>
            <a:tailEnd type="triangle" w="med" len="med"/>
          </a:ln>
        </p:spPr>
      </p:cxnSp>
      <p:sp>
        <p:nvSpPr>
          <p:cNvPr id="6157" name="Text Box 29"/>
          <p:cNvSpPr txBox="1">
            <a:spLocks noChangeArrowheads="1"/>
          </p:cNvSpPr>
          <p:nvPr/>
        </p:nvSpPr>
        <p:spPr bwMode="auto">
          <a:xfrm>
            <a:off x="6607175" y="4965700"/>
            <a:ext cx="1536700" cy="641350"/>
          </a:xfrm>
          <a:prstGeom prst="rect">
            <a:avLst/>
          </a:prstGeom>
          <a:noFill/>
          <a:ln w="9525">
            <a:noFill/>
            <a:miter lim="800000"/>
            <a:headEnd/>
            <a:tailEnd/>
          </a:ln>
        </p:spPr>
        <p:txBody>
          <a:bodyPr>
            <a:spAutoFit/>
          </a:bodyPr>
          <a:lstStyle/>
          <a:p>
            <a:r>
              <a:rPr lang="en-US" sz="1800">
                <a:cs typeface="Times New Roman" pitchFamily="18" charset="0"/>
              </a:rPr>
              <a:t>↓</a:t>
            </a:r>
            <a:r>
              <a:rPr lang="en-US" sz="1800"/>
              <a:t> kill -20 </a:t>
            </a:r>
            <a:r>
              <a:rPr lang="en-US" sz="1800" i="1"/>
              <a:t>pid</a:t>
            </a:r>
            <a:endParaRPr lang="en-US" sz="1800"/>
          </a:p>
          <a:p>
            <a:r>
              <a:rPr lang="en-US" sz="1800"/>
              <a:t>↑ bg</a:t>
            </a:r>
          </a:p>
        </p:txBody>
      </p:sp>
      <p:cxnSp>
        <p:nvCxnSpPr>
          <p:cNvPr id="6158" name="AutoShape 30"/>
          <p:cNvCxnSpPr>
            <a:cxnSpLocks noChangeShapeType="1"/>
            <a:stCxn id="6148" idx="3"/>
            <a:endCxn id="6151" idx="0"/>
          </p:cNvCxnSpPr>
          <p:nvPr/>
        </p:nvCxnSpPr>
        <p:spPr bwMode="auto">
          <a:xfrm>
            <a:off x="5138738" y="1873250"/>
            <a:ext cx="2020887" cy="1325563"/>
          </a:xfrm>
          <a:prstGeom prst="curvedConnector2">
            <a:avLst/>
          </a:prstGeom>
          <a:noFill/>
          <a:ln w="9525">
            <a:solidFill>
              <a:schemeClr val="tx1"/>
            </a:solidFill>
            <a:round/>
            <a:headEnd type="triangle" w="med" len="med"/>
            <a:tailEnd type="triangle" w="med" len="med"/>
          </a:ln>
        </p:spPr>
      </p:cxnSp>
      <p:sp>
        <p:nvSpPr>
          <p:cNvPr id="6159" name="Text Box 31"/>
          <p:cNvSpPr txBox="1">
            <a:spLocks noChangeArrowheads="1"/>
          </p:cNvSpPr>
          <p:nvPr/>
        </p:nvSpPr>
        <p:spPr bwMode="auto">
          <a:xfrm>
            <a:off x="6530975" y="1816100"/>
            <a:ext cx="1536700" cy="641350"/>
          </a:xfrm>
          <a:prstGeom prst="rect">
            <a:avLst/>
          </a:prstGeom>
          <a:noFill/>
          <a:ln w="9525">
            <a:noFill/>
            <a:miter lim="800000"/>
            <a:headEnd/>
            <a:tailEnd/>
          </a:ln>
        </p:spPr>
        <p:txBody>
          <a:bodyPr wrap="none">
            <a:spAutoFit/>
          </a:bodyPr>
          <a:lstStyle/>
          <a:p>
            <a:r>
              <a:rPr lang="en-US" sz="1800"/>
              <a:t>↓ </a:t>
            </a:r>
            <a:r>
              <a:rPr lang="en-US" sz="1800" i="1"/>
              <a:t>command</a:t>
            </a:r>
            <a:r>
              <a:rPr lang="en-US" sz="1800"/>
              <a:t> &amp; </a:t>
            </a:r>
          </a:p>
          <a:p>
            <a:r>
              <a:rPr lang="en-US" sz="1800">
                <a:cs typeface="Times New Roman" pitchFamily="18" charset="0"/>
              </a:rPr>
              <a:t>↑ kill –2 </a:t>
            </a:r>
            <a:r>
              <a:rPr lang="en-US" sz="1800" i="1">
                <a:cs typeface="Times New Roman" pitchFamily="18" charset="0"/>
              </a:rPr>
              <a:t>pid</a:t>
            </a:r>
            <a:endParaRPr lang="en-US" sz="1800"/>
          </a:p>
        </p:txBody>
      </p:sp>
      <p:cxnSp>
        <p:nvCxnSpPr>
          <p:cNvPr id="6160" name="AutoShape 32"/>
          <p:cNvCxnSpPr>
            <a:cxnSpLocks noChangeShapeType="1"/>
            <a:stCxn id="6150" idx="0"/>
            <a:endCxn id="6148" idx="2"/>
          </p:cNvCxnSpPr>
          <p:nvPr/>
        </p:nvCxnSpPr>
        <p:spPr bwMode="auto">
          <a:xfrm rot="5400000" flipH="1">
            <a:off x="2877344" y="3715544"/>
            <a:ext cx="3035300" cy="1588"/>
          </a:xfrm>
          <a:prstGeom prst="curvedConnector3">
            <a:avLst>
              <a:gd name="adj1" fmla="val 50000"/>
            </a:avLst>
          </a:prstGeom>
          <a:noFill/>
          <a:ln w="9525">
            <a:solidFill>
              <a:schemeClr val="tx1"/>
            </a:solidFill>
            <a:round/>
            <a:headEnd/>
            <a:tailEnd type="triangle" w="med" len="med"/>
          </a:ln>
        </p:spPr>
      </p:cxnSp>
      <p:sp>
        <p:nvSpPr>
          <p:cNvPr id="6161" name="Text Box 33"/>
          <p:cNvSpPr txBox="1">
            <a:spLocks noChangeArrowheads="1"/>
          </p:cNvSpPr>
          <p:nvPr/>
        </p:nvSpPr>
        <p:spPr bwMode="auto">
          <a:xfrm>
            <a:off x="4379913" y="4273550"/>
            <a:ext cx="1295400" cy="366713"/>
          </a:xfrm>
          <a:prstGeom prst="rect">
            <a:avLst/>
          </a:prstGeom>
          <a:noFill/>
          <a:ln w="9525">
            <a:noFill/>
            <a:miter lim="800000"/>
            <a:headEnd/>
            <a:tailEnd/>
          </a:ln>
        </p:spPr>
        <p:txBody>
          <a:bodyPr wrap="none">
            <a:spAutoFit/>
          </a:bodyPr>
          <a:lstStyle/>
          <a:p>
            <a:r>
              <a:rPr lang="en-US" sz="1800">
                <a:cs typeface="Times New Roman" pitchFamily="18" charset="0"/>
              </a:rPr>
              <a:t>↑ </a:t>
            </a:r>
            <a:r>
              <a:rPr lang="en-US" sz="1800"/>
              <a:t>kill –2 </a:t>
            </a:r>
            <a:r>
              <a:rPr lang="en-US" sz="1800" i="1"/>
              <a:t>pid</a:t>
            </a:r>
            <a:endParaRPr lang="en-US" sz="1800"/>
          </a:p>
        </p:txBody>
      </p:sp>
      <p:cxnSp>
        <p:nvCxnSpPr>
          <p:cNvPr id="6162" name="AutoShape 34"/>
          <p:cNvCxnSpPr>
            <a:cxnSpLocks noChangeShapeType="1"/>
            <a:stCxn id="6151" idx="1"/>
            <a:endCxn id="6149" idx="3"/>
          </p:cNvCxnSpPr>
          <p:nvPr/>
        </p:nvCxnSpPr>
        <p:spPr bwMode="auto">
          <a:xfrm rot="10800000" flipV="1">
            <a:off x="2490788" y="3662363"/>
            <a:ext cx="3962400" cy="17462"/>
          </a:xfrm>
          <a:prstGeom prst="curvedConnector3">
            <a:avLst>
              <a:gd name="adj1" fmla="val 50000"/>
            </a:avLst>
          </a:prstGeom>
          <a:noFill/>
          <a:ln w="9525">
            <a:solidFill>
              <a:schemeClr val="tx1"/>
            </a:solidFill>
            <a:round/>
            <a:headEnd/>
            <a:tailEnd type="triangle" w="med" len="med"/>
          </a:ln>
        </p:spPr>
      </p:cxnSp>
      <p:sp>
        <p:nvSpPr>
          <p:cNvPr id="6163" name="Text Box 35"/>
          <p:cNvSpPr txBox="1">
            <a:spLocks noChangeArrowheads="1"/>
          </p:cNvSpPr>
          <p:nvPr/>
        </p:nvSpPr>
        <p:spPr bwMode="auto">
          <a:xfrm>
            <a:off x="3919538" y="3275013"/>
            <a:ext cx="3054350" cy="366712"/>
          </a:xfrm>
          <a:prstGeom prst="rect">
            <a:avLst/>
          </a:prstGeom>
          <a:noFill/>
          <a:ln w="9525">
            <a:noFill/>
            <a:miter lim="800000"/>
            <a:headEnd/>
            <a:tailEnd/>
          </a:ln>
        </p:spPr>
        <p:txBody>
          <a:bodyPr>
            <a:spAutoFit/>
          </a:bodyPr>
          <a:lstStyle/>
          <a:p>
            <a:r>
              <a:rPr lang="en-US" sz="1800"/>
              <a:t> </a:t>
            </a:r>
            <a:r>
              <a:rPr lang="en-US" sz="1800">
                <a:cs typeface="Times New Roman" pitchFamily="18" charset="0"/>
              </a:rPr>
              <a:t>← fg</a:t>
            </a:r>
            <a:endParaRPr lang="en-US" sz="180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0"/>
            <a:ext cx="8458200" cy="6553200"/>
          </a:xfrm>
        </p:spPr>
        <p:txBody>
          <a:bodyPr>
            <a:noAutofit/>
          </a:bodyPr>
          <a:lstStyle/>
          <a:p>
            <a:pPr marL="514350" indent="-514350">
              <a:lnSpc>
                <a:spcPct val="150000"/>
              </a:lnSpc>
              <a:spcBef>
                <a:spcPts val="0"/>
              </a:spcBef>
              <a:buFont typeface="Wingdings" pitchFamily="2" charset="2"/>
              <a:buChar char="Ø"/>
            </a:pPr>
            <a:r>
              <a:rPr lang="en-GB" sz="2800" b="1" i="1" dirty="0" smtClean="0">
                <a:solidFill>
                  <a:srgbClr val="FF0000"/>
                </a:solidFill>
              </a:rPr>
              <a:t>There are fix set of signals that can be sent to a process. signals are identified by integers.</a:t>
            </a:r>
          </a:p>
          <a:p>
            <a:pPr marL="514350" indent="-514350">
              <a:lnSpc>
                <a:spcPct val="150000"/>
              </a:lnSpc>
              <a:spcBef>
                <a:spcPts val="0"/>
              </a:spcBef>
              <a:buFont typeface="Wingdings" pitchFamily="2" charset="2"/>
              <a:buChar char="Ø"/>
            </a:pPr>
            <a:r>
              <a:rPr lang="en-GB" sz="2800" dirty="0" smtClean="0"/>
              <a:t>Signal number have symbolic names. </a:t>
            </a:r>
          </a:p>
          <a:p>
            <a:pPr marL="514350" indent="-514350">
              <a:lnSpc>
                <a:spcPct val="150000"/>
              </a:lnSpc>
              <a:spcBef>
                <a:spcPts val="0"/>
              </a:spcBef>
              <a:buFont typeface="Wingdings" pitchFamily="2" charset="2"/>
              <a:buChar char="Ø"/>
            </a:pPr>
            <a:r>
              <a:rPr lang="en-GB" sz="2800" dirty="0" smtClean="0"/>
              <a:t>For example SIGCHLD is number of the signal sent to the parent process when child terminates.</a:t>
            </a:r>
          </a:p>
          <a:p>
            <a:pPr marL="514350" indent="-514350">
              <a:lnSpc>
                <a:spcPct val="150000"/>
              </a:lnSpc>
              <a:spcBef>
                <a:spcPts val="0"/>
              </a:spcBef>
              <a:buFont typeface="Wingdings" pitchFamily="2" charset="2"/>
              <a:buChar char="Ø"/>
            </a:pPr>
            <a:r>
              <a:rPr lang="en-GB" sz="2800" dirty="0" smtClean="0"/>
              <a:t>#define SIGHUP  1   /* </a:t>
            </a:r>
            <a:r>
              <a:rPr lang="en-GB" sz="2800" dirty="0" err="1" smtClean="0"/>
              <a:t>Hangup</a:t>
            </a:r>
            <a:r>
              <a:rPr lang="en-GB" sz="2800" dirty="0" smtClean="0"/>
              <a:t> the process */ </a:t>
            </a:r>
          </a:p>
          <a:p>
            <a:pPr marL="514350" indent="-514350">
              <a:lnSpc>
                <a:spcPct val="150000"/>
              </a:lnSpc>
              <a:spcBef>
                <a:spcPts val="0"/>
              </a:spcBef>
              <a:buFont typeface="Wingdings" pitchFamily="2" charset="2"/>
              <a:buChar char="Ø"/>
            </a:pPr>
            <a:r>
              <a:rPr lang="en-GB" sz="2800" dirty="0" smtClean="0"/>
              <a:t>#define SIGINT  2   /* Interrupt the process */ </a:t>
            </a:r>
          </a:p>
          <a:p>
            <a:pPr marL="514350" indent="-514350">
              <a:lnSpc>
                <a:spcPct val="150000"/>
              </a:lnSpc>
              <a:spcBef>
                <a:spcPts val="0"/>
              </a:spcBef>
              <a:buFont typeface="Wingdings" pitchFamily="2" charset="2"/>
              <a:buChar char="Ø"/>
            </a:pPr>
            <a:r>
              <a:rPr lang="en-GB" sz="2800" dirty="0" smtClean="0"/>
              <a:t>#define SIGQUIT 3   /* Quit the process */ </a:t>
            </a:r>
          </a:p>
          <a:p>
            <a:pPr marL="514350" indent="-514350">
              <a:lnSpc>
                <a:spcPct val="150000"/>
              </a:lnSpc>
              <a:spcBef>
                <a:spcPts val="0"/>
              </a:spcBef>
              <a:buFont typeface="Wingdings" pitchFamily="2" charset="2"/>
              <a:buChar char="Ø"/>
            </a:pPr>
            <a:r>
              <a:rPr lang="en-GB" sz="2800" dirty="0" smtClean="0"/>
              <a:t>#define SIGILL  4   /* Illegal instruction. */ </a:t>
            </a:r>
          </a:p>
          <a:p>
            <a:pPr marL="514350" indent="-514350">
              <a:lnSpc>
                <a:spcPct val="150000"/>
              </a:lnSpc>
              <a:spcBef>
                <a:spcPts val="0"/>
              </a:spcBef>
              <a:buFont typeface="Wingdings" pitchFamily="2" charset="2"/>
              <a:buChar char="Ø"/>
            </a:pPr>
            <a:r>
              <a:rPr lang="en-GB" sz="2800" dirty="0" smtClean="0"/>
              <a:t>#define SIGTRAP 5   /* Trace trap. */ </a:t>
            </a:r>
          </a:p>
          <a:p>
            <a:pPr marL="514350" indent="-514350">
              <a:lnSpc>
                <a:spcPct val="150000"/>
              </a:lnSpc>
              <a:spcBef>
                <a:spcPts val="0"/>
              </a:spcBef>
              <a:buFont typeface="Wingdings" pitchFamily="2" charset="2"/>
              <a:buChar char="Ø"/>
            </a:pPr>
            <a:r>
              <a:rPr lang="en-GB" sz="2800" dirty="0" smtClean="0"/>
              <a:t>#define SIGABRT 6   /* Abort. */</a:t>
            </a:r>
          </a:p>
          <a:p>
            <a:pPr marL="514350" indent="-514350">
              <a:lnSpc>
                <a:spcPct val="150000"/>
              </a:lnSpc>
              <a:spcBef>
                <a:spcPts val="0"/>
              </a:spcBef>
              <a:buFont typeface="Wingdings" pitchFamily="2" charset="2"/>
              <a:buChar char="Ø"/>
            </a:pPr>
            <a:endParaRPr lang="en-GB" sz="2800" dirty="0" smtClean="0"/>
          </a:p>
          <a:p>
            <a:pPr marL="514350" indent="-514350">
              <a:lnSpc>
                <a:spcPct val="150000"/>
              </a:lnSpc>
              <a:spcBef>
                <a:spcPts val="0"/>
              </a:spcBef>
            </a:pPr>
            <a:endParaRPr lang="en-GB"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457200"/>
            <a:ext cx="7696200" cy="5791200"/>
          </a:xfrm>
        </p:spPr>
        <p:txBody>
          <a:bodyPr>
            <a:noAutofit/>
          </a:bodyPr>
          <a:lstStyle/>
          <a:p>
            <a:pPr marL="514350" indent="-514350">
              <a:lnSpc>
                <a:spcPct val="150000"/>
              </a:lnSpc>
              <a:spcBef>
                <a:spcPts val="0"/>
              </a:spcBef>
            </a:pPr>
            <a:endParaRPr lang="en-GB"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152400"/>
            <a:ext cx="7696200" cy="6477000"/>
          </a:xfrm>
        </p:spPr>
        <p:txBody>
          <a:bodyPr>
            <a:noAutofit/>
          </a:bodyPr>
          <a:lstStyle/>
          <a:p>
            <a:pPr marL="514350" indent="-514350" algn="ctr">
              <a:spcAft>
                <a:spcPts val="600"/>
              </a:spcAft>
            </a:pPr>
            <a:r>
              <a:rPr lang="en-GB" sz="3600" dirty="0" smtClean="0"/>
              <a:t>OS Structures for Signals</a:t>
            </a:r>
          </a:p>
          <a:p>
            <a:pPr marL="514350" indent="-514350">
              <a:spcAft>
                <a:spcPts val="600"/>
              </a:spcAft>
            </a:pPr>
            <a:endParaRPr lang="en-GB" sz="2800" dirty="0" smtClean="0"/>
          </a:p>
          <a:p>
            <a:pPr marL="514350" indent="-514350">
              <a:lnSpc>
                <a:spcPct val="150000"/>
              </a:lnSpc>
              <a:spcBef>
                <a:spcPts val="0"/>
              </a:spcBef>
              <a:buFont typeface="Wingdings" pitchFamily="2" charset="2"/>
              <a:buChar char="Ø"/>
            </a:pPr>
            <a:r>
              <a:rPr lang="en-GB" sz="2800" dirty="0" smtClean="0"/>
              <a:t>For each process, the OS maintains 2 integers with the bits corresponding to a signal numbers.</a:t>
            </a:r>
          </a:p>
          <a:p>
            <a:pPr marL="514350" indent="-514350">
              <a:lnSpc>
                <a:spcPct val="150000"/>
              </a:lnSpc>
              <a:spcBef>
                <a:spcPts val="0"/>
              </a:spcBef>
              <a:buFont typeface="Wingdings" pitchFamily="2" charset="2"/>
              <a:buChar char="Ø"/>
            </a:pPr>
            <a:r>
              <a:rPr lang="en-GB" sz="2800" b="1" i="1" dirty="0" smtClean="0">
                <a:solidFill>
                  <a:srgbClr val="FF0000"/>
                </a:solidFill>
              </a:rPr>
              <a:t>The two integers keep track of: pending signals and blocked signals</a:t>
            </a:r>
          </a:p>
          <a:p>
            <a:pPr marL="514350" indent="-514350">
              <a:lnSpc>
                <a:spcPct val="150000"/>
              </a:lnSpc>
              <a:spcBef>
                <a:spcPts val="0"/>
              </a:spcBef>
              <a:buFont typeface="Wingdings" pitchFamily="2" charset="2"/>
              <a:buChar char="Ø"/>
            </a:pPr>
            <a:r>
              <a:rPr lang="en-GB" sz="2800" dirty="0" smtClean="0"/>
              <a:t>With 32 bit integers, up to 32 different signals can be represented.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https://media.geeksforgeeks.org/wp-content/uploads/arra3.jpg"/>
          <p:cNvPicPr>
            <a:picLocks noChangeAspect="1" noChangeArrowheads="1"/>
          </p:cNvPicPr>
          <p:nvPr/>
        </p:nvPicPr>
        <p:blipFill>
          <a:blip r:embed="rId2" cstate="print"/>
          <a:srcRect/>
          <a:stretch>
            <a:fillRect/>
          </a:stretch>
        </p:blipFill>
        <p:spPr bwMode="auto">
          <a:xfrm>
            <a:off x="1093094" y="1866900"/>
            <a:ext cx="7822306" cy="4914900"/>
          </a:xfrm>
          <a:prstGeom prst="rect">
            <a:avLst/>
          </a:prstGeom>
          <a:noFill/>
        </p:spPr>
      </p:pic>
      <p:sp>
        <p:nvSpPr>
          <p:cNvPr id="3" name="Rectangle 2"/>
          <p:cNvSpPr/>
          <p:nvPr/>
        </p:nvSpPr>
        <p:spPr>
          <a:xfrm>
            <a:off x="1066800" y="0"/>
            <a:ext cx="8077200" cy="2031325"/>
          </a:xfrm>
          <a:prstGeom prst="rect">
            <a:avLst/>
          </a:prstGeom>
        </p:spPr>
        <p:txBody>
          <a:bodyPr wrap="square">
            <a:spAutoFit/>
          </a:bodyPr>
          <a:lstStyle/>
          <a:p>
            <a:pPr marL="514350" indent="-514350">
              <a:lnSpc>
                <a:spcPct val="150000"/>
              </a:lnSpc>
              <a:spcBef>
                <a:spcPts val="0"/>
              </a:spcBef>
              <a:buFont typeface="Wingdings" pitchFamily="2" charset="2"/>
              <a:buChar char="Ø"/>
            </a:pPr>
            <a:r>
              <a:rPr lang="en-GB" sz="2800" dirty="0" smtClean="0"/>
              <a:t>Example : In the example below, the SIGINT ( = 2) signal is blocked and no signals are pending.</a:t>
            </a:r>
          </a:p>
          <a:p>
            <a:pPr marL="514350" indent="-514350">
              <a:lnSpc>
                <a:spcPct val="150000"/>
              </a:lnSpc>
              <a:spcBef>
                <a:spcPts val="0"/>
              </a:spcBef>
            </a:pPr>
            <a:endParaRPr lang="en-GB"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0"/>
            <a:ext cx="8534400" cy="5562600"/>
          </a:xfrm>
        </p:spPr>
        <p:txBody>
          <a:bodyPr>
            <a:noAutofit/>
          </a:bodyPr>
          <a:lstStyle/>
          <a:p>
            <a:pPr marL="514350" indent="-514350">
              <a:lnSpc>
                <a:spcPct val="150000"/>
              </a:lnSpc>
              <a:spcBef>
                <a:spcPts val="0"/>
              </a:spcBef>
              <a:buFont typeface="Wingdings" pitchFamily="2" charset="2"/>
              <a:buChar char="Ø"/>
            </a:pPr>
            <a:r>
              <a:rPr lang="en-GB" sz="2800" dirty="0" smtClean="0"/>
              <a:t>A signal is sent to a process setting the corresponding bit in the pending signals integer for the process. </a:t>
            </a:r>
          </a:p>
          <a:p>
            <a:pPr marL="514350" indent="-514350">
              <a:lnSpc>
                <a:spcPct val="150000"/>
              </a:lnSpc>
              <a:spcBef>
                <a:spcPts val="0"/>
              </a:spcBef>
              <a:buFont typeface="Wingdings" pitchFamily="2" charset="2"/>
              <a:buChar char="Ø"/>
            </a:pPr>
            <a:r>
              <a:rPr lang="en-GB" sz="2800" dirty="0" smtClean="0"/>
              <a:t>Each time the OS selects a process to be run , the pending and blocked integers are checked. </a:t>
            </a:r>
          </a:p>
          <a:p>
            <a:pPr marL="514350" indent="-514350">
              <a:lnSpc>
                <a:spcPct val="150000"/>
              </a:lnSpc>
              <a:spcBef>
                <a:spcPts val="0"/>
              </a:spcBef>
              <a:buFont typeface="Wingdings" pitchFamily="2" charset="2"/>
              <a:buChar char="Ø"/>
            </a:pPr>
            <a:r>
              <a:rPr lang="en-GB" sz="2800" dirty="0" smtClean="0"/>
              <a:t>If no signals are pending, the process is restarted normally and continues executing its next instruction.</a:t>
            </a:r>
          </a:p>
          <a:p>
            <a:pPr marL="514350" indent="-514350">
              <a:lnSpc>
                <a:spcPct val="150000"/>
              </a:lnSpc>
              <a:spcBef>
                <a:spcPts val="0"/>
              </a:spcBef>
              <a:buFont typeface="Wingdings" pitchFamily="2" charset="2"/>
              <a:buChar char="Ø"/>
            </a:pPr>
            <a:r>
              <a:rPr lang="en-GB" sz="2800" dirty="0" smtClean="0"/>
              <a:t>If 1 or more signals are pending, but each one is blocked, the process is also restarted normally but with the signals still marked as pending. </a:t>
            </a:r>
          </a:p>
          <a:p>
            <a:pPr marL="514350" indent="-514350">
              <a:lnSpc>
                <a:spcPct val="150000"/>
              </a:lnSpc>
              <a:spcBef>
                <a:spcPts val="0"/>
              </a:spcBef>
              <a:buFont typeface="Wingdings" pitchFamily="2" charset="2"/>
              <a:buChar char="Ø"/>
            </a:pPr>
            <a:r>
              <a:rPr lang="en-GB" sz="2800" dirty="0" smtClean="0"/>
              <a:t>If 1 or more signals are pending and NOT blocked, the OS executes the routines in the process’s code to handle the signals.</a:t>
            </a:r>
          </a:p>
          <a:p>
            <a:pPr marL="514350" indent="-514350">
              <a:lnSpc>
                <a:spcPct val="150000"/>
              </a:lnSpc>
              <a:spcBef>
                <a:spcPts val="0"/>
              </a:spcBef>
            </a:pPr>
            <a:endParaRPr lang="en-GB" sz="2800" dirty="0" smtClean="0"/>
          </a:p>
          <a:p>
            <a:pPr marL="514350" indent="-514350">
              <a:lnSpc>
                <a:spcPct val="150000"/>
              </a:lnSpc>
              <a:spcBef>
                <a:spcPts val="0"/>
              </a:spcBef>
            </a:pPr>
            <a:endParaRPr lang="en-GB" sz="2800" dirty="0" smtClean="0"/>
          </a:p>
          <a:p>
            <a:pPr marL="514350" indent="-514350">
              <a:lnSpc>
                <a:spcPct val="150000"/>
              </a:lnSpc>
              <a:spcBef>
                <a:spcPts val="0"/>
              </a:spcBef>
              <a:buFont typeface="Wingdings" pitchFamily="2" charset="2"/>
              <a:buChar char="Ø"/>
            </a:pPr>
            <a:endParaRPr lang="en-GB"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000" y="76200"/>
            <a:ext cx="8382000" cy="6781800"/>
          </a:xfrm>
        </p:spPr>
        <p:txBody>
          <a:bodyPr>
            <a:noAutofit/>
          </a:bodyPr>
          <a:lstStyle/>
          <a:p>
            <a:pPr marL="514350" indent="-514350" algn="ctr">
              <a:lnSpc>
                <a:spcPct val="150000"/>
              </a:lnSpc>
              <a:spcBef>
                <a:spcPts val="0"/>
              </a:spcBef>
            </a:pPr>
            <a:r>
              <a:rPr lang="en-GB" sz="3400" dirty="0" smtClean="0"/>
              <a:t>Default Signal Handlers</a:t>
            </a:r>
          </a:p>
          <a:p>
            <a:pPr marL="514350" indent="-514350">
              <a:lnSpc>
                <a:spcPct val="150000"/>
              </a:lnSpc>
              <a:spcBef>
                <a:spcPts val="0"/>
              </a:spcBef>
              <a:buFont typeface="Wingdings" pitchFamily="2" charset="2"/>
              <a:buChar char="Ø"/>
            </a:pPr>
            <a:r>
              <a:rPr lang="en-GB" sz="2800" dirty="0" smtClean="0"/>
              <a:t>There are several default signal handler routines. </a:t>
            </a:r>
          </a:p>
          <a:p>
            <a:pPr marL="514350" indent="-514350">
              <a:lnSpc>
                <a:spcPct val="150000"/>
              </a:lnSpc>
              <a:spcBef>
                <a:spcPts val="0"/>
              </a:spcBef>
              <a:buFont typeface="Wingdings" pitchFamily="2" charset="2"/>
              <a:buChar char="Ø"/>
            </a:pPr>
            <a:r>
              <a:rPr lang="en-GB" sz="2800" dirty="0" smtClean="0"/>
              <a:t>Each signal is associated with one of these default handler routine. </a:t>
            </a:r>
          </a:p>
          <a:p>
            <a:pPr marL="514350" indent="-514350">
              <a:lnSpc>
                <a:spcPct val="150000"/>
              </a:lnSpc>
              <a:spcBef>
                <a:spcPts val="0"/>
              </a:spcBef>
              <a:buFont typeface="Wingdings" pitchFamily="2" charset="2"/>
              <a:buChar char="Ø"/>
            </a:pPr>
            <a:r>
              <a:rPr lang="en-GB" sz="2800" dirty="0" smtClean="0"/>
              <a:t>The different default handler routines typically have one of the following actions:</a:t>
            </a:r>
          </a:p>
          <a:p>
            <a:pPr marL="514350" indent="-514350">
              <a:lnSpc>
                <a:spcPct val="150000"/>
              </a:lnSpc>
              <a:spcBef>
                <a:spcPts val="0"/>
              </a:spcBef>
              <a:buFont typeface="Wingdings" pitchFamily="2" charset="2"/>
              <a:buChar char="Ø"/>
            </a:pPr>
            <a:r>
              <a:rPr lang="en-GB" sz="2800" b="1" i="1" dirty="0" err="1" smtClean="0">
                <a:solidFill>
                  <a:srgbClr val="FF0000"/>
                </a:solidFill>
              </a:rPr>
              <a:t>Ign</a:t>
            </a:r>
            <a:r>
              <a:rPr lang="en-GB" sz="2800" b="1" i="1" dirty="0" smtClean="0">
                <a:solidFill>
                  <a:srgbClr val="FF0000"/>
                </a:solidFill>
              </a:rPr>
              <a:t>: Ignore the signal; i.e., do nothing, just return</a:t>
            </a:r>
          </a:p>
          <a:p>
            <a:pPr marL="514350" indent="-514350">
              <a:lnSpc>
                <a:spcPct val="150000"/>
              </a:lnSpc>
              <a:spcBef>
                <a:spcPts val="0"/>
              </a:spcBef>
              <a:buFont typeface="Wingdings" pitchFamily="2" charset="2"/>
              <a:buChar char="Ø"/>
            </a:pPr>
            <a:r>
              <a:rPr lang="en-GB" sz="2800" b="1" i="1" dirty="0" smtClean="0">
                <a:solidFill>
                  <a:srgbClr val="FF0000"/>
                </a:solidFill>
              </a:rPr>
              <a:t>Term: terminate the process</a:t>
            </a:r>
          </a:p>
          <a:p>
            <a:pPr marL="514350" indent="-514350">
              <a:lnSpc>
                <a:spcPct val="150000"/>
              </a:lnSpc>
              <a:spcBef>
                <a:spcPts val="0"/>
              </a:spcBef>
              <a:buFont typeface="Wingdings" pitchFamily="2" charset="2"/>
              <a:buChar char="Ø"/>
            </a:pPr>
            <a:r>
              <a:rPr lang="en-GB" sz="2800" b="1" i="1" dirty="0" smtClean="0">
                <a:solidFill>
                  <a:srgbClr val="FF0000"/>
                </a:solidFill>
              </a:rPr>
              <a:t>Cont: unblock a stopped process</a:t>
            </a:r>
          </a:p>
          <a:p>
            <a:pPr marL="514350" indent="-514350">
              <a:lnSpc>
                <a:spcPct val="150000"/>
              </a:lnSpc>
              <a:spcBef>
                <a:spcPts val="0"/>
              </a:spcBef>
              <a:buFont typeface="Wingdings" pitchFamily="2" charset="2"/>
              <a:buChar char="Ø"/>
            </a:pPr>
            <a:r>
              <a:rPr lang="en-GB" sz="2800" b="1" i="1" dirty="0" smtClean="0">
                <a:solidFill>
                  <a:srgbClr val="FF0000"/>
                </a:solidFill>
              </a:rPr>
              <a:t>Stop: block the process</a:t>
            </a:r>
            <a:endParaRPr lang="en-GB" sz="2800" b="1" i="1"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28600"/>
            <a:ext cx="7772400" cy="6629400"/>
          </a:xfrm>
        </p:spPr>
        <p:txBody>
          <a:bodyPr>
            <a:noAutofit/>
          </a:bodyPr>
          <a:lstStyle/>
          <a:p>
            <a:pPr marL="514350" indent="-514350">
              <a:lnSpc>
                <a:spcPct val="170000"/>
              </a:lnSpc>
              <a:spcBef>
                <a:spcPts val="0"/>
              </a:spcBef>
            </a:pPr>
            <a:r>
              <a:rPr lang="en-GB" dirty="0" smtClean="0"/>
              <a:t>// C program to illustrate default Signal Handler </a:t>
            </a:r>
          </a:p>
          <a:p>
            <a:pPr marL="514350" indent="-514350">
              <a:lnSpc>
                <a:spcPct val="170000"/>
              </a:lnSpc>
              <a:spcBef>
                <a:spcPts val="0"/>
              </a:spcBef>
            </a:pPr>
            <a:r>
              <a:rPr lang="en-GB" dirty="0" smtClean="0"/>
              <a:t>#include&lt;</a:t>
            </a:r>
            <a:r>
              <a:rPr lang="en-GB" dirty="0" err="1" smtClean="0"/>
              <a:t>stdio.h</a:t>
            </a:r>
            <a:r>
              <a:rPr lang="en-GB" dirty="0" smtClean="0"/>
              <a:t>&gt; </a:t>
            </a:r>
          </a:p>
          <a:p>
            <a:pPr marL="514350" indent="-514350">
              <a:lnSpc>
                <a:spcPct val="170000"/>
              </a:lnSpc>
              <a:spcBef>
                <a:spcPts val="0"/>
              </a:spcBef>
            </a:pPr>
            <a:r>
              <a:rPr lang="en-GB" dirty="0" smtClean="0"/>
              <a:t>#include&lt;</a:t>
            </a:r>
            <a:r>
              <a:rPr lang="en-GB" dirty="0" err="1" smtClean="0"/>
              <a:t>signal.h</a:t>
            </a:r>
            <a:r>
              <a:rPr lang="en-GB" dirty="0" smtClean="0"/>
              <a:t>&gt;   </a:t>
            </a:r>
          </a:p>
          <a:p>
            <a:pPr marL="514350" indent="-514350">
              <a:lnSpc>
                <a:spcPct val="170000"/>
              </a:lnSpc>
              <a:spcBef>
                <a:spcPts val="0"/>
              </a:spcBef>
            </a:pPr>
            <a:r>
              <a:rPr lang="en-GB" dirty="0" smtClean="0"/>
              <a:t>int main()  { </a:t>
            </a:r>
          </a:p>
          <a:p>
            <a:pPr marL="514350" indent="-514350">
              <a:lnSpc>
                <a:spcPct val="170000"/>
              </a:lnSpc>
              <a:spcBef>
                <a:spcPts val="0"/>
              </a:spcBef>
            </a:pPr>
            <a:r>
              <a:rPr lang="en-GB" dirty="0" smtClean="0"/>
              <a:t>    signal(SIGINT, </a:t>
            </a:r>
            <a:r>
              <a:rPr lang="en-GB" dirty="0" err="1" smtClean="0"/>
              <a:t>handle_sigint</a:t>
            </a:r>
            <a:r>
              <a:rPr lang="en-GB" dirty="0" smtClean="0"/>
              <a:t>); </a:t>
            </a:r>
          </a:p>
          <a:p>
            <a:pPr marL="514350" indent="-514350">
              <a:lnSpc>
                <a:spcPct val="170000"/>
              </a:lnSpc>
              <a:spcBef>
                <a:spcPts val="0"/>
              </a:spcBef>
            </a:pPr>
            <a:r>
              <a:rPr lang="en-GB" dirty="0" smtClean="0"/>
              <a:t>    while (1)     { </a:t>
            </a:r>
          </a:p>
          <a:p>
            <a:pPr marL="514350" indent="-514350">
              <a:lnSpc>
                <a:spcPct val="170000"/>
              </a:lnSpc>
              <a:spcBef>
                <a:spcPts val="0"/>
              </a:spcBef>
            </a:pPr>
            <a:r>
              <a:rPr lang="en-GB" dirty="0" smtClean="0"/>
              <a:t>        </a:t>
            </a:r>
            <a:r>
              <a:rPr lang="en-GB" dirty="0" err="1" smtClean="0"/>
              <a:t>printf</a:t>
            </a:r>
            <a:r>
              <a:rPr lang="en-GB" dirty="0" smtClean="0"/>
              <a:t>(“hello world\n”); </a:t>
            </a:r>
          </a:p>
          <a:p>
            <a:pPr marL="514350" indent="-514350">
              <a:lnSpc>
                <a:spcPct val="170000"/>
              </a:lnSpc>
              <a:spcBef>
                <a:spcPts val="0"/>
              </a:spcBef>
            </a:pPr>
            <a:r>
              <a:rPr lang="en-GB" dirty="0" smtClean="0"/>
              <a:t>        sleep(1); </a:t>
            </a:r>
          </a:p>
          <a:p>
            <a:pPr marL="514350" indent="-514350">
              <a:lnSpc>
                <a:spcPct val="170000"/>
              </a:lnSpc>
              <a:spcBef>
                <a:spcPts val="0"/>
              </a:spcBef>
            </a:pPr>
            <a:r>
              <a:rPr lang="en-GB" dirty="0" smtClean="0"/>
              <a:t>    }     return 0; </a:t>
            </a:r>
          </a:p>
          <a:p>
            <a:pPr marL="514350" indent="-514350">
              <a:lnSpc>
                <a:spcPct val="170000"/>
              </a:lnSpc>
              <a:spcBef>
                <a:spcPts val="0"/>
              </a:spcBef>
            </a:pPr>
            <a:r>
              <a:rPr lang="en-GB" dirty="0" smtClean="0"/>
              <a:t>}</a:t>
            </a:r>
            <a:endParaRPr lang="en-GB"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228600"/>
            <a:ext cx="7696200" cy="5562600"/>
          </a:xfrm>
        </p:spPr>
        <p:txBody>
          <a:bodyPr>
            <a:noAutofit/>
          </a:bodyPr>
          <a:lstStyle/>
          <a:p>
            <a:pPr marL="514350" indent="-514350" algn="ctr">
              <a:lnSpc>
                <a:spcPct val="150000"/>
              </a:lnSpc>
              <a:spcBef>
                <a:spcPts val="0"/>
              </a:spcBef>
            </a:pPr>
            <a:r>
              <a:rPr lang="en-GB" sz="3200" dirty="0" smtClean="0"/>
              <a:t>Output: </a:t>
            </a:r>
          </a:p>
          <a:p>
            <a:pPr marL="514350" indent="-514350">
              <a:lnSpc>
                <a:spcPct val="150000"/>
              </a:lnSpc>
              <a:spcBef>
                <a:spcPts val="0"/>
              </a:spcBef>
              <a:buFont typeface="Wingdings" pitchFamily="2" charset="2"/>
              <a:buChar char="Ø"/>
            </a:pPr>
            <a:r>
              <a:rPr lang="en-GB" sz="2800" dirty="0" smtClean="0"/>
              <a:t>Print hello world infinite times. </a:t>
            </a:r>
          </a:p>
          <a:p>
            <a:pPr marL="514350" indent="-514350">
              <a:lnSpc>
                <a:spcPct val="150000"/>
              </a:lnSpc>
              <a:spcBef>
                <a:spcPts val="0"/>
              </a:spcBef>
              <a:buFont typeface="Wingdings" pitchFamily="2" charset="2"/>
              <a:buChar char="Ø"/>
            </a:pPr>
            <a:r>
              <a:rPr lang="en-GB" sz="2800" dirty="0" smtClean="0"/>
              <a:t>If user presses ctrl-c to terminate the process because of SIGINT signal sent and its default handler to terminate the process.</a:t>
            </a:r>
          </a:p>
          <a:p>
            <a:pPr marL="514350" indent="-514350">
              <a:lnSpc>
                <a:spcPct val="150000"/>
              </a:lnSpc>
              <a:spcBef>
                <a:spcPts val="0"/>
              </a:spcBef>
            </a:pPr>
            <a:endParaRPr lang="en-GB" sz="2800" dirty="0" smtClean="0"/>
          </a:p>
          <a:p>
            <a:pPr marL="514350" indent="-514350">
              <a:lnSpc>
                <a:spcPct val="150000"/>
              </a:lnSpc>
              <a:spcBef>
                <a:spcPts val="0"/>
              </a:spcBef>
            </a:pPr>
            <a:r>
              <a:rPr lang="en-GB" sz="2800" dirty="0" smtClean="0"/>
              <a:t>	hello world   </a:t>
            </a:r>
          </a:p>
          <a:p>
            <a:pPr marL="514350" indent="-514350">
              <a:lnSpc>
                <a:spcPct val="150000"/>
              </a:lnSpc>
              <a:spcBef>
                <a:spcPts val="0"/>
              </a:spcBef>
            </a:pPr>
            <a:r>
              <a:rPr lang="en-GB" sz="2800" dirty="0" smtClean="0"/>
              <a:t>	hello world         </a:t>
            </a:r>
          </a:p>
          <a:p>
            <a:pPr marL="514350" indent="-514350">
              <a:lnSpc>
                <a:spcPct val="150000"/>
              </a:lnSpc>
              <a:spcBef>
                <a:spcPts val="0"/>
              </a:spcBef>
            </a:pPr>
            <a:r>
              <a:rPr lang="en-GB" sz="2800" dirty="0" smtClean="0"/>
              <a:t>	hello world         </a:t>
            </a:r>
          </a:p>
          <a:p>
            <a:pPr marL="514350" indent="-514350">
              <a:lnSpc>
                <a:spcPct val="150000"/>
              </a:lnSpc>
              <a:spcBef>
                <a:spcPts val="0"/>
              </a:spcBef>
            </a:pPr>
            <a:r>
              <a:rPr lang="en-GB" sz="2800" dirty="0" smtClean="0"/>
              <a:t>	terminated </a:t>
            </a:r>
            <a:endParaRPr lang="en-GB"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0"/>
            <a:ext cx="8001000" cy="5562600"/>
          </a:xfrm>
        </p:spPr>
        <p:txBody>
          <a:bodyPr>
            <a:noAutofit/>
          </a:bodyPr>
          <a:lstStyle/>
          <a:p>
            <a:pPr marL="514350" indent="-514350" algn="ctr">
              <a:lnSpc>
                <a:spcPct val="170000"/>
              </a:lnSpc>
              <a:spcBef>
                <a:spcPts val="0"/>
              </a:spcBef>
            </a:pPr>
            <a:r>
              <a:rPr lang="en-GB" sz="3600" dirty="0" smtClean="0"/>
              <a:t>User Defined Signal Handlers</a:t>
            </a:r>
          </a:p>
          <a:p>
            <a:pPr marL="514350" indent="-514350">
              <a:lnSpc>
                <a:spcPct val="150000"/>
              </a:lnSpc>
              <a:spcBef>
                <a:spcPts val="0"/>
              </a:spcBef>
              <a:buFont typeface="Wingdings" pitchFamily="2" charset="2"/>
              <a:buChar char="Ø"/>
            </a:pPr>
            <a:r>
              <a:rPr lang="en-GB" sz="2800" dirty="0" smtClean="0"/>
              <a:t>A process can replace the default signal handler for almost all signals (but not SIGKILL) by its user’s own handler function.</a:t>
            </a:r>
          </a:p>
          <a:p>
            <a:pPr marL="514350" indent="-514350">
              <a:lnSpc>
                <a:spcPct val="150000"/>
              </a:lnSpc>
              <a:spcBef>
                <a:spcPts val="0"/>
              </a:spcBef>
              <a:buFont typeface="Wingdings" pitchFamily="2" charset="2"/>
              <a:buChar char="Ø"/>
            </a:pPr>
            <a:r>
              <a:rPr lang="en-GB" sz="2800" dirty="0" smtClean="0"/>
              <a:t>A signal handler function can have any name, but must have return type void and have one int parameter.</a:t>
            </a:r>
          </a:p>
          <a:p>
            <a:pPr marL="514350" indent="-514350">
              <a:lnSpc>
                <a:spcPct val="150000"/>
              </a:lnSpc>
              <a:spcBef>
                <a:spcPts val="0"/>
              </a:spcBef>
              <a:buFont typeface="Wingdings" pitchFamily="2" charset="2"/>
              <a:buChar char="Ø"/>
            </a:pPr>
            <a:r>
              <a:rPr lang="en-GB" sz="2800" dirty="0" smtClean="0"/>
              <a:t>Example: you might choose the name </a:t>
            </a:r>
            <a:r>
              <a:rPr lang="en-GB" sz="2800" dirty="0" err="1" smtClean="0"/>
              <a:t>sigchld_handler</a:t>
            </a:r>
            <a:r>
              <a:rPr lang="en-GB" sz="2800" dirty="0" smtClean="0"/>
              <a:t> for a signal handler for the SIGCHLD signal (termination of a child process). </a:t>
            </a:r>
          </a:p>
          <a:p>
            <a:pPr marL="514350" indent="-514350">
              <a:lnSpc>
                <a:spcPct val="150000"/>
              </a:lnSpc>
              <a:spcBef>
                <a:spcPts val="0"/>
              </a:spcBef>
              <a:buFont typeface="Wingdings" pitchFamily="2" charset="2"/>
              <a:buChar char="Ø"/>
            </a:pPr>
            <a:endParaRPr lang="en-GB"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228600"/>
            <a:ext cx="8001000" cy="6400800"/>
          </a:xfrm>
        </p:spPr>
        <p:txBody>
          <a:bodyPr>
            <a:noAutofit/>
          </a:bodyPr>
          <a:lstStyle/>
          <a:p>
            <a:pPr marL="514350" indent="-514350">
              <a:lnSpc>
                <a:spcPct val="150000"/>
              </a:lnSpc>
              <a:spcBef>
                <a:spcPts val="0"/>
              </a:spcBef>
              <a:buFont typeface="Wingdings" pitchFamily="2" charset="2"/>
              <a:buChar char="Ø"/>
            </a:pPr>
            <a:r>
              <a:rPr lang="en-GB" sz="2800" dirty="0" smtClean="0"/>
              <a:t>Then the declaration would be:</a:t>
            </a:r>
          </a:p>
          <a:p>
            <a:pPr marL="514350" indent="-514350">
              <a:lnSpc>
                <a:spcPct val="150000"/>
              </a:lnSpc>
              <a:spcBef>
                <a:spcPts val="0"/>
              </a:spcBef>
            </a:pPr>
            <a:r>
              <a:rPr lang="en-GB" sz="2800" dirty="0" smtClean="0"/>
              <a:t>	void </a:t>
            </a:r>
            <a:r>
              <a:rPr lang="en-GB" sz="2800" dirty="0" err="1" smtClean="0"/>
              <a:t>sigchld_handler</a:t>
            </a:r>
            <a:r>
              <a:rPr lang="en-GB" sz="2800" dirty="0" smtClean="0"/>
              <a:t>(</a:t>
            </a:r>
            <a:r>
              <a:rPr lang="en-GB" sz="2800" dirty="0" err="1" smtClean="0"/>
              <a:t>int</a:t>
            </a:r>
            <a:r>
              <a:rPr lang="en-GB" sz="2800" dirty="0" smtClean="0"/>
              <a:t> sig);</a:t>
            </a:r>
          </a:p>
          <a:p>
            <a:pPr marL="514350" indent="-514350">
              <a:lnSpc>
                <a:spcPct val="150000"/>
              </a:lnSpc>
              <a:spcBef>
                <a:spcPts val="0"/>
              </a:spcBef>
              <a:buFont typeface="Wingdings" pitchFamily="2" charset="2"/>
              <a:buChar char="Ø"/>
            </a:pPr>
            <a:r>
              <a:rPr lang="en-GB" sz="2800" dirty="0" smtClean="0"/>
              <a:t>When a signal handler executes, the parameter passed to it is the number of the signal. </a:t>
            </a:r>
          </a:p>
          <a:p>
            <a:pPr marL="514350" indent="-514350">
              <a:lnSpc>
                <a:spcPct val="150000"/>
              </a:lnSpc>
              <a:spcBef>
                <a:spcPts val="0"/>
              </a:spcBef>
              <a:buFont typeface="Wingdings" pitchFamily="2" charset="2"/>
              <a:buChar char="Ø"/>
            </a:pPr>
            <a:r>
              <a:rPr lang="en-GB" sz="2800" dirty="0" smtClean="0"/>
              <a:t>A programmer can use the same signal handler function to handle one or several signals. </a:t>
            </a:r>
          </a:p>
          <a:p>
            <a:pPr marL="514350" indent="-514350">
              <a:lnSpc>
                <a:spcPct val="150000"/>
              </a:lnSpc>
              <a:spcBef>
                <a:spcPts val="0"/>
              </a:spcBef>
              <a:buFont typeface="Wingdings" pitchFamily="2" charset="2"/>
              <a:buChar char="Ø"/>
            </a:pPr>
            <a:r>
              <a:rPr lang="en-GB" sz="2800" dirty="0" smtClean="0"/>
              <a:t>In several signals case the handler would need to check the parameter to see which signal was sent. </a:t>
            </a:r>
            <a:endParaRPr lang="en-GB"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76200"/>
            <a:ext cx="7848600" cy="6629400"/>
          </a:xfrm>
        </p:spPr>
        <p:txBody>
          <a:bodyPr>
            <a:noAutofit/>
          </a:bodyPr>
          <a:lstStyle/>
          <a:p>
            <a:pPr marL="514350" indent="-514350">
              <a:lnSpc>
                <a:spcPct val="150000"/>
              </a:lnSpc>
              <a:spcBef>
                <a:spcPts val="0"/>
              </a:spcBef>
            </a:pPr>
            <a:r>
              <a:rPr lang="en-GB" dirty="0" smtClean="0"/>
              <a:t>// C program to show  User-defined Signal Handler </a:t>
            </a:r>
          </a:p>
          <a:p>
            <a:pPr marL="514350" indent="-514350">
              <a:lnSpc>
                <a:spcPct val="150000"/>
              </a:lnSpc>
              <a:spcBef>
                <a:spcPts val="0"/>
              </a:spcBef>
            </a:pPr>
            <a:r>
              <a:rPr lang="en-GB" dirty="0" smtClean="0"/>
              <a:t>#include&lt;</a:t>
            </a:r>
            <a:r>
              <a:rPr lang="en-GB" dirty="0" err="1" smtClean="0"/>
              <a:t>stdio.h</a:t>
            </a:r>
            <a:r>
              <a:rPr lang="en-GB" dirty="0" smtClean="0"/>
              <a:t>&gt; </a:t>
            </a:r>
          </a:p>
          <a:p>
            <a:pPr marL="514350" indent="-514350">
              <a:lnSpc>
                <a:spcPct val="150000"/>
              </a:lnSpc>
              <a:spcBef>
                <a:spcPts val="0"/>
              </a:spcBef>
            </a:pPr>
            <a:r>
              <a:rPr lang="en-GB" dirty="0" smtClean="0"/>
              <a:t>#include&lt;</a:t>
            </a:r>
            <a:r>
              <a:rPr lang="en-GB" dirty="0" err="1" smtClean="0"/>
              <a:t>signal.h</a:t>
            </a:r>
            <a:r>
              <a:rPr lang="en-GB" dirty="0" smtClean="0"/>
              <a:t>&gt;   </a:t>
            </a:r>
          </a:p>
          <a:p>
            <a:pPr marL="514350" indent="-514350">
              <a:lnSpc>
                <a:spcPct val="150000"/>
              </a:lnSpc>
              <a:spcBef>
                <a:spcPts val="0"/>
              </a:spcBef>
            </a:pPr>
            <a:r>
              <a:rPr lang="en-GB" dirty="0" smtClean="0"/>
              <a:t>// Handler for SIGINT, caused by  Ctrl-C at keyboard </a:t>
            </a:r>
          </a:p>
          <a:p>
            <a:pPr marL="514350" indent="-514350">
              <a:lnSpc>
                <a:spcPct val="150000"/>
              </a:lnSpc>
              <a:spcBef>
                <a:spcPts val="0"/>
              </a:spcBef>
            </a:pPr>
            <a:r>
              <a:rPr lang="en-GB" dirty="0" smtClean="0"/>
              <a:t>void </a:t>
            </a:r>
            <a:r>
              <a:rPr lang="en-GB" dirty="0" err="1" smtClean="0"/>
              <a:t>handle_sigint</a:t>
            </a:r>
            <a:r>
              <a:rPr lang="en-GB" dirty="0" smtClean="0"/>
              <a:t>(</a:t>
            </a:r>
            <a:r>
              <a:rPr lang="en-GB" dirty="0" err="1" smtClean="0"/>
              <a:t>int</a:t>
            </a:r>
            <a:r>
              <a:rPr lang="en-GB" dirty="0" smtClean="0"/>
              <a:t> sig) </a:t>
            </a:r>
          </a:p>
          <a:p>
            <a:pPr marL="514350" indent="-514350">
              <a:lnSpc>
                <a:spcPct val="150000"/>
              </a:lnSpc>
              <a:spcBef>
                <a:spcPts val="0"/>
              </a:spcBef>
            </a:pPr>
            <a:r>
              <a:rPr lang="en-GB" dirty="0" smtClean="0"/>
              <a:t>{     </a:t>
            </a:r>
          </a:p>
          <a:p>
            <a:pPr marL="514350" indent="-514350">
              <a:lnSpc>
                <a:spcPct val="150000"/>
              </a:lnSpc>
              <a:spcBef>
                <a:spcPts val="0"/>
              </a:spcBef>
            </a:pPr>
            <a:r>
              <a:rPr lang="en-GB" dirty="0" err="1" smtClean="0"/>
              <a:t>printf</a:t>
            </a:r>
            <a:r>
              <a:rPr lang="en-GB" dirty="0" smtClean="0"/>
              <a:t>("Caught signal %d\n", sig);  }   </a:t>
            </a:r>
          </a:p>
          <a:p>
            <a:pPr marL="514350" indent="-514350">
              <a:lnSpc>
                <a:spcPct val="150000"/>
              </a:lnSpc>
              <a:spcBef>
                <a:spcPts val="0"/>
              </a:spcBef>
            </a:pPr>
            <a:r>
              <a:rPr lang="en-GB" dirty="0" smtClean="0"/>
              <a:t>int main() </a:t>
            </a:r>
          </a:p>
          <a:p>
            <a:pPr marL="514350" indent="-514350">
              <a:lnSpc>
                <a:spcPct val="150000"/>
              </a:lnSpc>
              <a:spcBef>
                <a:spcPts val="0"/>
              </a:spcBef>
            </a:pPr>
            <a:r>
              <a:rPr lang="en-GB" dirty="0" smtClean="0"/>
              <a:t>{     signal(SIGINT, </a:t>
            </a:r>
            <a:r>
              <a:rPr lang="en-GB" dirty="0" err="1" smtClean="0"/>
              <a:t>handle_sigint</a:t>
            </a:r>
            <a:r>
              <a:rPr lang="en-GB" dirty="0" smtClean="0"/>
              <a:t>); </a:t>
            </a:r>
          </a:p>
          <a:p>
            <a:pPr marL="514350" indent="-514350">
              <a:lnSpc>
                <a:spcPct val="150000"/>
              </a:lnSpc>
              <a:spcBef>
                <a:spcPts val="0"/>
              </a:spcBef>
            </a:pPr>
            <a:r>
              <a:rPr lang="en-GB" dirty="0" smtClean="0"/>
              <a:t>    while (1) ; </a:t>
            </a:r>
          </a:p>
          <a:p>
            <a:pPr marL="514350" indent="-514350">
              <a:lnSpc>
                <a:spcPct val="150000"/>
              </a:lnSpc>
              <a:spcBef>
                <a:spcPts val="0"/>
              </a:spcBef>
            </a:pPr>
            <a:r>
              <a:rPr lang="en-GB" dirty="0" smtClean="0"/>
              <a:t>    return 0;     } </a:t>
            </a:r>
            <a:endParaRPr lang="en-GB"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533400"/>
            <a:ext cx="7315200" cy="5562600"/>
          </a:xfrm>
        </p:spPr>
        <p:txBody>
          <a:bodyPr>
            <a:noAutofit/>
          </a:bodyPr>
          <a:lstStyle/>
          <a:p>
            <a:pPr marL="514350" indent="-514350" algn="ctr">
              <a:lnSpc>
                <a:spcPct val="170000"/>
              </a:lnSpc>
              <a:spcBef>
                <a:spcPts val="0"/>
              </a:spcBef>
            </a:pPr>
            <a:r>
              <a:rPr lang="en-GB" sz="3600" dirty="0" smtClean="0"/>
              <a:t>Output:</a:t>
            </a:r>
          </a:p>
          <a:p>
            <a:pPr marL="514350" indent="-514350">
              <a:lnSpc>
                <a:spcPct val="170000"/>
              </a:lnSpc>
              <a:spcBef>
                <a:spcPts val="0"/>
              </a:spcBef>
            </a:pPr>
            <a:endParaRPr lang="en-GB" sz="2800" dirty="0" smtClean="0"/>
          </a:p>
          <a:p>
            <a:pPr marL="514350" indent="-514350">
              <a:lnSpc>
                <a:spcPct val="170000"/>
              </a:lnSpc>
              <a:spcBef>
                <a:spcPts val="0"/>
              </a:spcBef>
            </a:pPr>
            <a:r>
              <a:rPr lang="en-GB" sz="2800" dirty="0" smtClean="0"/>
              <a:t>^</a:t>
            </a:r>
            <a:r>
              <a:rPr lang="en-GB" sz="2800" dirty="0" err="1" smtClean="0"/>
              <a:t>CCaught</a:t>
            </a:r>
            <a:r>
              <a:rPr lang="en-GB" sz="2800" dirty="0" smtClean="0"/>
              <a:t> signal 2  // when user presses ctrl-c</a:t>
            </a:r>
          </a:p>
          <a:p>
            <a:pPr marL="514350" indent="-514350">
              <a:lnSpc>
                <a:spcPct val="170000"/>
              </a:lnSpc>
              <a:spcBef>
                <a:spcPts val="0"/>
              </a:spcBef>
            </a:pPr>
            <a:r>
              <a:rPr lang="en-GB" sz="2800" dirty="0" smtClean="0"/>
              <a:t>^</a:t>
            </a:r>
            <a:r>
              <a:rPr lang="en-GB" sz="2800" dirty="0" err="1" smtClean="0"/>
              <a:t>CCaught</a:t>
            </a:r>
            <a:r>
              <a:rPr lang="en-GB" sz="2800" dirty="0" smtClean="0"/>
              <a:t> signal 2 </a:t>
            </a:r>
          </a:p>
          <a:p>
            <a:pPr marL="514350" indent="-514350">
              <a:lnSpc>
                <a:spcPct val="170000"/>
              </a:lnSpc>
              <a:spcBef>
                <a:spcPts val="0"/>
              </a:spcBef>
            </a:pPr>
            <a:endParaRPr lang="en-GB"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76200"/>
            <a:ext cx="8077200" cy="6553200"/>
          </a:xfrm>
        </p:spPr>
        <p:txBody>
          <a:bodyPr>
            <a:noAutofit/>
          </a:bodyPr>
          <a:lstStyle/>
          <a:p>
            <a:pPr marL="514350" indent="-514350">
              <a:lnSpc>
                <a:spcPct val="150000"/>
              </a:lnSpc>
              <a:spcBef>
                <a:spcPts val="0"/>
              </a:spcBef>
            </a:pPr>
            <a:r>
              <a:rPr lang="en-GB" sz="2800" b="1" dirty="0" smtClean="0"/>
              <a:t>We can send a signal using kill() to the process.</a:t>
            </a:r>
          </a:p>
          <a:p>
            <a:pPr marL="514350" indent="-514350">
              <a:lnSpc>
                <a:spcPct val="150000"/>
              </a:lnSpc>
              <a:spcBef>
                <a:spcPts val="0"/>
              </a:spcBef>
              <a:buFont typeface="Wingdings" pitchFamily="2" charset="2"/>
              <a:buChar char="Ø"/>
            </a:pPr>
            <a:r>
              <a:rPr lang="en-GB" sz="2800" dirty="0" smtClean="0"/>
              <a:t>int kill(</a:t>
            </a:r>
            <a:r>
              <a:rPr lang="en-GB" sz="2800" dirty="0" err="1" smtClean="0"/>
              <a:t>pid_t</a:t>
            </a:r>
            <a:r>
              <a:rPr lang="en-GB" sz="2800" dirty="0" smtClean="0"/>
              <a:t> </a:t>
            </a:r>
            <a:r>
              <a:rPr lang="en-GB" sz="2800" dirty="0" err="1" smtClean="0"/>
              <a:t>pid</a:t>
            </a:r>
            <a:r>
              <a:rPr lang="en-GB" sz="2800" dirty="0" smtClean="0"/>
              <a:t>, int signal);</a:t>
            </a:r>
          </a:p>
          <a:p>
            <a:pPr marL="514350" indent="-514350">
              <a:lnSpc>
                <a:spcPct val="150000"/>
              </a:lnSpc>
              <a:spcBef>
                <a:spcPts val="0"/>
              </a:spcBef>
              <a:buFont typeface="Wingdings" pitchFamily="2" charset="2"/>
              <a:buChar char="Ø"/>
            </a:pPr>
            <a:r>
              <a:rPr lang="en-GB" sz="2800" dirty="0" err="1" smtClean="0"/>
              <a:t>pid</a:t>
            </a:r>
            <a:r>
              <a:rPr lang="en-GB" sz="2800" dirty="0" smtClean="0"/>
              <a:t>: id of destination process</a:t>
            </a:r>
          </a:p>
          <a:p>
            <a:pPr marL="514350" indent="-514350">
              <a:lnSpc>
                <a:spcPct val="150000"/>
              </a:lnSpc>
              <a:spcBef>
                <a:spcPts val="0"/>
              </a:spcBef>
              <a:buFont typeface="Wingdings" pitchFamily="2" charset="2"/>
              <a:buChar char="Ø"/>
            </a:pPr>
            <a:r>
              <a:rPr lang="en-GB" sz="2800" dirty="0" smtClean="0"/>
              <a:t>signal: the type of signal to send</a:t>
            </a:r>
          </a:p>
          <a:p>
            <a:pPr marL="514350" indent="-514350">
              <a:lnSpc>
                <a:spcPct val="150000"/>
              </a:lnSpc>
              <a:spcBef>
                <a:spcPts val="0"/>
              </a:spcBef>
              <a:buFont typeface="Wingdings" pitchFamily="2" charset="2"/>
              <a:buChar char="Ø"/>
            </a:pPr>
            <a:r>
              <a:rPr lang="en-GB" sz="2800" dirty="0" smtClean="0"/>
              <a:t>Return value: 0 if signal was sent successfully</a:t>
            </a:r>
          </a:p>
          <a:p>
            <a:pPr marL="514350" indent="-514350">
              <a:lnSpc>
                <a:spcPct val="150000"/>
              </a:lnSpc>
              <a:spcBef>
                <a:spcPts val="0"/>
              </a:spcBef>
              <a:buFont typeface="Wingdings" pitchFamily="2" charset="2"/>
              <a:buChar char="Ø"/>
            </a:pPr>
            <a:r>
              <a:rPr lang="en-GB" sz="2800" dirty="0" smtClean="0"/>
              <a:t>Example:</a:t>
            </a:r>
          </a:p>
          <a:p>
            <a:pPr marL="514350" indent="-514350">
              <a:lnSpc>
                <a:spcPct val="150000"/>
              </a:lnSpc>
              <a:spcBef>
                <a:spcPts val="0"/>
              </a:spcBef>
            </a:pPr>
            <a:r>
              <a:rPr lang="en-GB" sz="2800" dirty="0" err="1" smtClean="0"/>
              <a:t>pid_t</a:t>
            </a:r>
            <a:r>
              <a:rPr lang="en-GB" sz="2800" dirty="0" smtClean="0"/>
              <a:t> </a:t>
            </a:r>
            <a:r>
              <a:rPr lang="en-GB" sz="2800" dirty="0" err="1" smtClean="0"/>
              <a:t>iPid</a:t>
            </a:r>
            <a:r>
              <a:rPr lang="en-GB" sz="2800" dirty="0" smtClean="0"/>
              <a:t> = </a:t>
            </a:r>
            <a:r>
              <a:rPr lang="en-GB" sz="2800" dirty="0" err="1" smtClean="0"/>
              <a:t>getpid</a:t>
            </a:r>
            <a:r>
              <a:rPr lang="en-GB" sz="2800" dirty="0" smtClean="0"/>
              <a:t>(); /* Process gets its id.*/</a:t>
            </a:r>
          </a:p>
          <a:p>
            <a:pPr marL="514350" indent="-514350">
              <a:lnSpc>
                <a:spcPct val="150000"/>
              </a:lnSpc>
              <a:spcBef>
                <a:spcPts val="0"/>
              </a:spcBef>
            </a:pPr>
            <a:r>
              <a:rPr lang="en-GB" sz="2800" dirty="0" smtClean="0"/>
              <a:t>kill(</a:t>
            </a:r>
            <a:r>
              <a:rPr lang="en-GB" sz="2800" dirty="0" err="1" smtClean="0"/>
              <a:t>iPid</a:t>
            </a:r>
            <a:r>
              <a:rPr lang="en-GB" sz="2800" dirty="0" smtClean="0"/>
              <a:t>, SIGINT);  /* Process sends itself a  SIGINT signal   (commits suicide?)(because of SIGINT </a:t>
            </a:r>
          </a:p>
          <a:p>
            <a:pPr marL="514350" indent="-514350">
              <a:lnSpc>
                <a:spcPct val="150000"/>
              </a:lnSpc>
              <a:spcBef>
                <a:spcPts val="0"/>
              </a:spcBef>
            </a:pPr>
            <a:r>
              <a:rPr lang="en-GB" sz="2800" dirty="0" smtClean="0"/>
              <a:t>signal default handler is terminate the process) */</a:t>
            </a:r>
          </a:p>
          <a:p>
            <a:pPr marL="514350" indent="-514350">
              <a:lnSpc>
                <a:spcPct val="150000"/>
              </a:lnSpc>
              <a:spcBef>
                <a:spcPts val="0"/>
              </a:spcBef>
            </a:pPr>
            <a:r>
              <a:rPr lang="en-GB" sz="2800" dirty="0" smtClean="0"/>
              <a:t> </a:t>
            </a:r>
            <a:endParaRPr lang="en-GB"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76200"/>
            <a:ext cx="7391400" cy="5562600"/>
          </a:xfrm>
        </p:spPr>
        <p:txBody>
          <a:bodyPr>
            <a:noAutofit/>
          </a:bodyPr>
          <a:lstStyle/>
          <a:p>
            <a:pPr marL="514350" indent="-514350">
              <a:lnSpc>
                <a:spcPct val="150000"/>
              </a:lnSpc>
              <a:spcBef>
                <a:spcPts val="0"/>
              </a:spcBef>
            </a:pPr>
            <a:r>
              <a:rPr lang="en-GB" dirty="0" smtClean="0">
                <a:solidFill>
                  <a:srgbClr val="FF0000"/>
                </a:solidFill>
              </a:rPr>
              <a:t>WHAT will be the output of following programs</a:t>
            </a:r>
          </a:p>
          <a:p>
            <a:pPr marL="514350" indent="-514350">
              <a:lnSpc>
                <a:spcPct val="150000"/>
              </a:lnSpc>
              <a:spcBef>
                <a:spcPts val="0"/>
              </a:spcBef>
            </a:pPr>
            <a:r>
              <a:rPr lang="en-GB" dirty="0" smtClean="0"/>
              <a:t>#include&lt;</a:t>
            </a:r>
            <a:r>
              <a:rPr lang="en-GB" dirty="0" err="1" smtClean="0"/>
              <a:t>stdio.h</a:t>
            </a:r>
            <a:r>
              <a:rPr lang="en-GB" dirty="0" smtClean="0"/>
              <a:t>&gt; </a:t>
            </a:r>
          </a:p>
          <a:p>
            <a:pPr marL="514350" indent="-514350">
              <a:lnSpc>
                <a:spcPct val="150000"/>
              </a:lnSpc>
              <a:spcBef>
                <a:spcPts val="0"/>
              </a:spcBef>
            </a:pPr>
            <a:r>
              <a:rPr lang="en-GB" dirty="0" smtClean="0"/>
              <a:t>#include&lt;</a:t>
            </a:r>
            <a:r>
              <a:rPr lang="en-GB" dirty="0" err="1" smtClean="0"/>
              <a:t>wait.h</a:t>
            </a:r>
            <a:r>
              <a:rPr lang="en-GB" dirty="0" smtClean="0"/>
              <a:t>&gt; </a:t>
            </a:r>
          </a:p>
          <a:p>
            <a:pPr marL="514350" indent="-514350">
              <a:lnSpc>
                <a:spcPct val="150000"/>
              </a:lnSpc>
              <a:spcBef>
                <a:spcPts val="0"/>
              </a:spcBef>
            </a:pPr>
            <a:r>
              <a:rPr lang="en-GB" dirty="0" smtClean="0"/>
              <a:t>#include&lt;</a:t>
            </a:r>
            <a:r>
              <a:rPr lang="en-GB" dirty="0" err="1" smtClean="0"/>
              <a:t>signal.h</a:t>
            </a:r>
            <a:r>
              <a:rPr lang="en-GB" dirty="0" smtClean="0"/>
              <a:t>&gt; </a:t>
            </a:r>
          </a:p>
          <a:p>
            <a:pPr marL="514350" indent="-514350">
              <a:lnSpc>
                <a:spcPct val="150000"/>
              </a:lnSpc>
              <a:spcBef>
                <a:spcPts val="0"/>
              </a:spcBef>
            </a:pPr>
            <a:r>
              <a:rPr lang="en-GB" dirty="0" smtClean="0"/>
              <a:t>int main() </a:t>
            </a:r>
          </a:p>
          <a:p>
            <a:pPr marL="514350" indent="-514350">
              <a:lnSpc>
                <a:spcPct val="150000"/>
              </a:lnSpc>
              <a:spcBef>
                <a:spcPts val="0"/>
              </a:spcBef>
            </a:pPr>
            <a:r>
              <a:rPr lang="en-GB" dirty="0" smtClean="0"/>
              <a:t>{ </a:t>
            </a:r>
          </a:p>
          <a:p>
            <a:pPr marL="514350" indent="-514350">
              <a:lnSpc>
                <a:spcPct val="150000"/>
              </a:lnSpc>
              <a:spcBef>
                <a:spcPts val="0"/>
              </a:spcBef>
            </a:pPr>
            <a:r>
              <a:rPr lang="en-GB" dirty="0" smtClean="0"/>
              <a:t>    int stat; </a:t>
            </a:r>
          </a:p>
          <a:p>
            <a:pPr marL="514350" indent="-514350">
              <a:lnSpc>
                <a:spcPct val="150000"/>
              </a:lnSpc>
              <a:spcBef>
                <a:spcPts val="0"/>
              </a:spcBef>
            </a:pPr>
            <a:r>
              <a:rPr lang="en-GB" dirty="0" smtClean="0"/>
              <a:t>    </a:t>
            </a:r>
            <a:r>
              <a:rPr lang="en-GB" dirty="0" err="1" smtClean="0"/>
              <a:t>pid_t</a:t>
            </a:r>
            <a:r>
              <a:rPr lang="en-GB" dirty="0" smtClean="0"/>
              <a:t> </a:t>
            </a:r>
            <a:r>
              <a:rPr lang="en-GB" dirty="0" err="1" smtClean="0"/>
              <a:t>pid</a:t>
            </a:r>
            <a:r>
              <a:rPr lang="en-GB" dirty="0" smtClean="0"/>
              <a:t>; </a:t>
            </a:r>
          </a:p>
          <a:p>
            <a:pPr marL="514350" indent="-514350">
              <a:lnSpc>
                <a:spcPct val="150000"/>
              </a:lnSpc>
              <a:spcBef>
                <a:spcPts val="0"/>
              </a:spcBef>
            </a:pPr>
            <a:r>
              <a:rPr lang="en-GB" dirty="0" smtClean="0"/>
              <a:t>    if ((</a:t>
            </a:r>
            <a:r>
              <a:rPr lang="en-GB" dirty="0" err="1" smtClean="0"/>
              <a:t>pid</a:t>
            </a:r>
            <a:r>
              <a:rPr lang="en-GB" dirty="0" smtClean="0"/>
              <a:t> = fork()) == 0) </a:t>
            </a:r>
          </a:p>
          <a:p>
            <a:pPr marL="514350" indent="-514350">
              <a:lnSpc>
                <a:spcPct val="150000"/>
              </a:lnSpc>
              <a:spcBef>
                <a:spcPts val="0"/>
              </a:spcBef>
            </a:pPr>
            <a:r>
              <a:rPr lang="en-GB" dirty="0" smtClean="0"/>
              <a:t>        while(1) ; </a:t>
            </a:r>
          </a:p>
          <a:p>
            <a:pPr marL="514350" indent="-514350">
              <a:lnSpc>
                <a:spcPct val="150000"/>
              </a:lnSpc>
              <a:spcBef>
                <a:spcPts val="0"/>
              </a:spcBef>
            </a:pPr>
            <a:r>
              <a:rPr lang="en-GB" dirty="0" smtClean="0"/>
              <a:t>    </a:t>
            </a:r>
            <a:endParaRPr lang="en-GB"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76200"/>
            <a:ext cx="7848600" cy="5562600"/>
          </a:xfrm>
        </p:spPr>
        <p:txBody>
          <a:bodyPr>
            <a:noAutofit/>
          </a:bodyPr>
          <a:lstStyle/>
          <a:p>
            <a:pPr marL="514350" indent="-514350">
              <a:lnSpc>
                <a:spcPct val="150000"/>
              </a:lnSpc>
              <a:spcBef>
                <a:spcPts val="0"/>
              </a:spcBef>
            </a:pPr>
            <a:endParaRPr lang="en-GB" dirty="0" smtClean="0"/>
          </a:p>
          <a:p>
            <a:pPr marL="514350" indent="-514350">
              <a:lnSpc>
                <a:spcPct val="150000"/>
              </a:lnSpc>
              <a:spcBef>
                <a:spcPts val="0"/>
              </a:spcBef>
            </a:pPr>
            <a:r>
              <a:rPr lang="en-GB" dirty="0" smtClean="0"/>
              <a:t>else</a:t>
            </a:r>
          </a:p>
          <a:p>
            <a:pPr marL="514350" indent="-514350">
              <a:lnSpc>
                <a:spcPct val="150000"/>
              </a:lnSpc>
              <a:spcBef>
                <a:spcPts val="0"/>
              </a:spcBef>
            </a:pPr>
            <a:r>
              <a:rPr lang="en-GB" dirty="0" smtClean="0"/>
              <a:t>    { </a:t>
            </a:r>
          </a:p>
          <a:p>
            <a:pPr marL="514350" indent="-514350">
              <a:lnSpc>
                <a:spcPct val="150000"/>
              </a:lnSpc>
              <a:spcBef>
                <a:spcPts val="0"/>
              </a:spcBef>
            </a:pPr>
            <a:r>
              <a:rPr lang="en-GB" dirty="0" smtClean="0"/>
              <a:t>        kill(</a:t>
            </a:r>
            <a:r>
              <a:rPr lang="en-GB" dirty="0" err="1" smtClean="0"/>
              <a:t>pid</a:t>
            </a:r>
            <a:r>
              <a:rPr lang="en-GB" dirty="0" smtClean="0"/>
              <a:t>, SIGINT); </a:t>
            </a:r>
          </a:p>
          <a:p>
            <a:pPr marL="514350" indent="-514350">
              <a:lnSpc>
                <a:spcPct val="150000"/>
              </a:lnSpc>
              <a:spcBef>
                <a:spcPts val="0"/>
              </a:spcBef>
            </a:pPr>
            <a:r>
              <a:rPr lang="en-GB" dirty="0" smtClean="0"/>
              <a:t>        wait(&amp;stat); </a:t>
            </a:r>
          </a:p>
          <a:p>
            <a:pPr marL="514350" indent="-514350">
              <a:lnSpc>
                <a:spcPct val="150000"/>
              </a:lnSpc>
              <a:spcBef>
                <a:spcPts val="0"/>
              </a:spcBef>
            </a:pPr>
            <a:r>
              <a:rPr lang="en-GB" dirty="0" smtClean="0"/>
              <a:t>        if (WIFSIGNALED(stat)) </a:t>
            </a:r>
          </a:p>
          <a:p>
            <a:pPr marL="514350" indent="-514350">
              <a:lnSpc>
                <a:spcPct val="150000"/>
              </a:lnSpc>
              <a:spcBef>
                <a:spcPts val="0"/>
              </a:spcBef>
            </a:pPr>
            <a:r>
              <a:rPr lang="en-GB" dirty="0" smtClean="0"/>
              <a:t>            </a:t>
            </a:r>
            <a:r>
              <a:rPr lang="en-GB" dirty="0" err="1" smtClean="0"/>
              <a:t>psignal</a:t>
            </a:r>
            <a:r>
              <a:rPr lang="en-GB" dirty="0" smtClean="0"/>
              <a:t>(WTERMSIG(stat), "Child term due to"); </a:t>
            </a:r>
          </a:p>
          <a:p>
            <a:pPr marL="514350" indent="-514350">
              <a:lnSpc>
                <a:spcPct val="150000"/>
              </a:lnSpc>
              <a:spcBef>
                <a:spcPts val="0"/>
              </a:spcBef>
            </a:pPr>
            <a:r>
              <a:rPr lang="en-GB" dirty="0" smtClean="0"/>
              <a:t>    } </a:t>
            </a:r>
          </a:p>
          <a:p>
            <a:pPr marL="514350" indent="-514350">
              <a:lnSpc>
                <a:spcPct val="150000"/>
              </a:lnSpc>
              <a:spcBef>
                <a:spcPts val="0"/>
              </a:spcBef>
            </a:pPr>
            <a:r>
              <a:rPr lang="en-GB" dirty="0" smtClean="0"/>
              <a:t>}</a:t>
            </a:r>
          </a:p>
          <a:p>
            <a:pPr marL="514350" indent="-514350">
              <a:lnSpc>
                <a:spcPct val="150000"/>
              </a:lnSpc>
              <a:spcBef>
                <a:spcPts val="0"/>
              </a:spcBef>
            </a:pPr>
            <a:endParaRPr lang="en-GB"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762000"/>
            <a:ext cx="7010400" cy="5562600"/>
          </a:xfrm>
        </p:spPr>
        <p:txBody>
          <a:bodyPr>
            <a:noAutofit/>
          </a:bodyPr>
          <a:lstStyle/>
          <a:p>
            <a:pPr marL="514350" indent="-514350">
              <a:lnSpc>
                <a:spcPct val="150000"/>
              </a:lnSpc>
              <a:spcBef>
                <a:spcPts val="0"/>
              </a:spcBef>
            </a:pPr>
            <a:r>
              <a:rPr lang="en-GB" dirty="0" smtClean="0"/>
              <a:t>Output:</a:t>
            </a:r>
          </a:p>
          <a:p>
            <a:pPr marL="514350" indent="-514350">
              <a:lnSpc>
                <a:spcPct val="150000"/>
              </a:lnSpc>
              <a:spcBef>
                <a:spcPts val="0"/>
              </a:spcBef>
            </a:pPr>
            <a:endParaRPr lang="en-GB" dirty="0" smtClean="0"/>
          </a:p>
          <a:p>
            <a:pPr marL="514350" indent="-514350">
              <a:lnSpc>
                <a:spcPct val="150000"/>
              </a:lnSpc>
              <a:spcBef>
                <a:spcPts val="0"/>
              </a:spcBef>
            </a:pPr>
            <a:r>
              <a:rPr lang="en-GB" dirty="0" smtClean="0"/>
              <a:t> Child term due to: Interrupt</a:t>
            </a:r>
          </a:p>
          <a:p>
            <a:pPr marL="514350" indent="-514350">
              <a:lnSpc>
                <a:spcPct val="150000"/>
              </a:lnSpc>
              <a:spcBef>
                <a:spcPts val="0"/>
              </a:spcBef>
            </a:pPr>
            <a:endParaRPr lang="en-GB"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228600"/>
            <a:ext cx="7467600" cy="6096000"/>
          </a:xfrm>
        </p:spPr>
        <p:txBody>
          <a:bodyPr>
            <a:noAutofit/>
          </a:bodyPr>
          <a:lstStyle/>
          <a:p>
            <a:pPr marL="514350" indent="-514350">
              <a:lnSpc>
                <a:spcPct val="150000"/>
              </a:lnSpc>
              <a:spcBef>
                <a:spcPts val="0"/>
              </a:spcBef>
            </a:pPr>
            <a:r>
              <a:rPr lang="en-GB" dirty="0" smtClean="0"/>
              <a:t>#include&lt;</a:t>
            </a:r>
            <a:r>
              <a:rPr lang="en-GB" dirty="0" err="1" smtClean="0"/>
              <a:t>stdio.h</a:t>
            </a:r>
            <a:r>
              <a:rPr lang="en-GB" dirty="0" smtClean="0"/>
              <a:t>&gt; </a:t>
            </a:r>
          </a:p>
          <a:p>
            <a:pPr marL="514350" indent="-514350">
              <a:lnSpc>
                <a:spcPct val="150000"/>
              </a:lnSpc>
              <a:spcBef>
                <a:spcPts val="0"/>
              </a:spcBef>
            </a:pPr>
            <a:r>
              <a:rPr lang="en-GB" dirty="0" smtClean="0"/>
              <a:t>#include&lt;</a:t>
            </a:r>
            <a:r>
              <a:rPr lang="en-GB" dirty="0" err="1" smtClean="0"/>
              <a:t>signal.h</a:t>
            </a:r>
            <a:r>
              <a:rPr lang="en-GB" dirty="0" smtClean="0"/>
              <a:t>&gt; </a:t>
            </a:r>
          </a:p>
          <a:p>
            <a:pPr marL="514350" indent="-514350">
              <a:lnSpc>
                <a:spcPct val="150000"/>
              </a:lnSpc>
              <a:spcBef>
                <a:spcPts val="0"/>
              </a:spcBef>
            </a:pPr>
            <a:r>
              <a:rPr lang="en-GB" dirty="0" smtClean="0"/>
              <a:t>#include&lt;</a:t>
            </a:r>
            <a:r>
              <a:rPr lang="en-GB" dirty="0" err="1" smtClean="0"/>
              <a:t>wait.h</a:t>
            </a:r>
            <a:r>
              <a:rPr lang="en-GB" dirty="0" smtClean="0"/>
              <a:t>&gt; </a:t>
            </a:r>
          </a:p>
          <a:p>
            <a:pPr marL="514350" indent="-514350">
              <a:lnSpc>
                <a:spcPct val="150000"/>
              </a:lnSpc>
              <a:spcBef>
                <a:spcPts val="0"/>
              </a:spcBef>
            </a:pPr>
            <a:r>
              <a:rPr lang="en-GB" dirty="0" smtClean="0"/>
              <a:t>int </a:t>
            </a:r>
            <a:r>
              <a:rPr lang="en-GB" dirty="0" err="1" smtClean="0"/>
              <a:t>val</a:t>
            </a:r>
            <a:r>
              <a:rPr lang="en-GB" dirty="0" smtClean="0"/>
              <a:t> = 10; </a:t>
            </a:r>
          </a:p>
          <a:p>
            <a:pPr marL="514350" indent="-514350">
              <a:lnSpc>
                <a:spcPct val="150000"/>
              </a:lnSpc>
              <a:spcBef>
                <a:spcPts val="0"/>
              </a:spcBef>
            </a:pPr>
            <a:r>
              <a:rPr lang="en-GB" dirty="0" smtClean="0"/>
              <a:t>void handler(</a:t>
            </a:r>
            <a:r>
              <a:rPr lang="en-GB" dirty="0" err="1" smtClean="0"/>
              <a:t>int</a:t>
            </a:r>
            <a:r>
              <a:rPr lang="en-GB" dirty="0" smtClean="0"/>
              <a:t> sig) </a:t>
            </a:r>
          </a:p>
          <a:p>
            <a:pPr marL="514350" indent="-514350">
              <a:lnSpc>
                <a:spcPct val="150000"/>
              </a:lnSpc>
              <a:spcBef>
                <a:spcPts val="0"/>
              </a:spcBef>
            </a:pPr>
            <a:r>
              <a:rPr lang="en-GB" dirty="0" smtClean="0"/>
              <a:t>{ </a:t>
            </a:r>
          </a:p>
          <a:p>
            <a:pPr marL="514350" indent="-514350">
              <a:lnSpc>
                <a:spcPct val="150000"/>
              </a:lnSpc>
              <a:spcBef>
                <a:spcPts val="0"/>
              </a:spcBef>
            </a:pPr>
            <a:r>
              <a:rPr lang="en-GB" dirty="0" smtClean="0"/>
              <a:t>    </a:t>
            </a:r>
            <a:r>
              <a:rPr lang="en-GB" dirty="0" err="1" smtClean="0"/>
              <a:t>val</a:t>
            </a:r>
            <a:r>
              <a:rPr lang="en-GB" dirty="0" smtClean="0"/>
              <a:t> += 5; </a:t>
            </a:r>
          </a:p>
          <a:p>
            <a:pPr marL="514350" indent="-514350">
              <a:lnSpc>
                <a:spcPct val="150000"/>
              </a:lnSpc>
              <a:spcBef>
                <a:spcPts val="0"/>
              </a:spcBef>
            </a:pPr>
            <a:r>
              <a:rPr lang="en-GB" dirty="0" smtClean="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228600"/>
            <a:ext cx="7467600" cy="6096000"/>
          </a:xfrm>
        </p:spPr>
        <p:txBody>
          <a:bodyPr>
            <a:noAutofit/>
          </a:bodyPr>
          <a:lstStyle/>
          <a:p>
            <a:pPr marL="514350" indent="-514350">
              <a:lnSpc>
                <a:spcPct val="150000"/>
              </a:lnSpc>
              <a:spcBef>
                <a:spcPts val="0"/>
              </a:spcBef>
            </a:pPr>
            <a:r>
              <a:rPr lang="en-GB" dirty="0" smtClean="0"/>
              <a:t>int main() </a:t>
            </a:r>
          </a:p>
          <a:p>
            <a:pPr marL="514350" indent="-514350">
              <a:lnSpc>
                <a:spcPct val="150000"/>
              </a:lnSpc>
              <a:spcBef>
                <a:spcPts val="0"/>
              </a:spcBef>
            </a:pPr>
            <a:r>
              <a:rPr lang="en-GB" dirty="0" smtClean="0"/>
              <a:t>{ </a:t>
            </a:r>
          </a:p>
          <a:p>
            <a:pPr marL="514350" indent="-514350">
              <a:lnSpc>
                <a:spcPct val="150000"/>
              </a:lnSpc>
              <a:spcBef>
                <a:spcPts val="0"/>
              </a:spcBef>
            </a:pPr>
            <a:r>
              <a:rPr lang="en-GB" dirty="0" smtClean="0"/>
              <a:t>    </a:t>
            </a:r>
            <a:r>
              <a:rPr lang="en-GB" dirty="0" err="1" smtClean="0"/>
              <a:t>pid_t</a:t>
            </a:r>
            <a:r>
              <a:rPr lang="en-GB" dirty="0" smtClean="0"/>
              <a:t> </a:t>
            </a:r>
            <a:r>
              <a:rPr lang="en-GB" dirty="0" err="1" smtClean="0"/>
              <a:t>pid</a:t>
            </a:r>
            <a:r>
              <a:rPr lang="en-GB" dirty="0" smtClean="0"/>
              <a:t>; </a:t>
            </a:r>
          </a:p>
          <a:p>
            <a:pPr marL="514350" indent="-514350">
              <a:lnSpc>
                <a:spcPct val="150000"/>
              </a:lnSpc>
              <a:spcBef>
                <a:spcPts val="0"/>
              </a:spcBef>
            </a:pPr>
            <a:r>
              <a:rPr lang="en-GB" dirty="0" smtClean="0"/>
              <a:t>    signal(SIGCHLD, handler); </a:t>
            </a:r>
          </a:p>
          <a:p>
            <a:pPr marL="514350" indent="-514350">
              <a:lnSpc>
                <a:spcPct val="150000"/>
              </a:lnSpc>
              <a:spcBef>
                <a:spcPts val="0"/>
              </a:spcBef>
            </a:pPr>
            <a:r>
              <a:rPr lang="en-GB" dirty="0" smtClean="0"/>
              <a:t>    if ((</a:t>
            </a:r>
            <a:r>
              <a:rPr lang="en-GB" dirty="0" err="1" smtClean="0"/>
              <a:t>pid</a:t>
            </a:r>
            <a:r>
              <a:rPr lang="en-GB" dirty="0" smtClean="0"/>
              <a:t> = fork()) == 0) </a:t>
            </a:r>
          </a:p>
          <a:p>
            <a:pPr marL="514350" indent="-514350">
              <a:lnSpc>
                <a:spcPct val="150000"/>
              </a:lnSpc>
              <a:spcBef>
                <a:spcPts val="0"/>
              </a:spcBef>
            </a:pPr>
            <a:r>
              <a:rPr lang="en-GB" dirty="0" smtClean="0"/>
              <a:t>    {         </a:t>
            </a:r>
            <a:r>
              <a:rPr lang="en-GB" dirty="0" err="1" smtClean="0"/>
              <a:t>val</a:t>
            </a:r>
            <a:r>
              <a:rPr lang="en-GB" dirty="0" smtClean="0"/>
              <a:t> -= 3; </a:t>
            </a:r>
          </a:p>
          <a:p>
            <a:pPr marL="514350" indent="-514350">
              <a:lnSpc>
                <a:spcPct val="150000"/>
              </a:lnSpc>
              <a:spcBef>
                <a:spcPts val="0"/>
              </a:spcBef>
            </a:pPr>
            <a:r>
              <a:rPr lang="en-GB" dirty="0" smtClean="0"/>
              <a:t>        exit(0);     } </a:t>
            </a:r>
          </a:p>
          <a:p>
            <a:pPr marL="514350" indent="-514350">
              <a:lnSpc>
                <a:spcPct val="150000"/>
              </a:lnSpc>
              <a:spcBef>
                <a:spcPts val="0"/>
              </a:spcBef>
            </a:pPr>
            <a:r>
              <a:rPr lang="en-GB" dirty="0" smtClean="0"/>
              <a:t>    </a:t>
            </a:r>
            <a:r>
              <a:rPr lang="en-GB" dirty="0" err="1" smtClean="0"/>
              <a:t>waitpid</a:t>
            </a:r>
            <a:r>
              <a:rPr lang="en-GB" dirty="0" smtClean="0"/>
              <a:t>(</a:t>
            </a:r>
            <a:r>
              <a:rPr lang="en-GB" dirty="0" err="1" smtClean="0"/>
              <a:t>pid</a:t>
            </a:r>
            <a:r>
              <a:rPr lang="en-GB" dirty="0" smtClean="0"/>
              <a:t>, NULL, 0); </a:t>
            </a:r>
          </a:p>
          <a:p>
            <a:pPr marL="514350" indent="-514350">
              <a:lnSpc>
                <a:spcPct val="150000"/>
              </a:lnSpc>
              <a:spcBef>
                <a:spcPts val="0"/>
              </a:spcBef>
            </a:pPr>
            <a:r>
              <a:rPr lang="en-GB" dirty="0" smtClean="0"/>
              <a:t>    </a:t>
            </a:r>
            <a:r>
              <a:rPr lang="en-GB" dirty="0" err="1" smtClean="0"/>
              <a:t>printf</a:t>
            </a:r>
            <a:r>
              <a:rPr lang="en-GB" dirty="0" smtClean="0"/>
              <a:t>("</a:t>
            </a:r>
            <a:r>
              <a:rPr lang="en-GB" dirty="0" err="1" smtClean="0"/>
              <a:t>val</a:t>
            </a:r>
            <a:r>
              <a:rPr lang="en-GB" dirty="0" smtClean="0"/>
              <a:t> = %d\n", </a:t>
            </a:r>
            <a:r>
              <a:rPr lang="en-GB" dirty="0" err="1" smtClean="0"/>
              <a:t>val</a:t>
            </a:r>
            <a:r>
              <a:rPr lang="en-GB" dirty="0" smtClean="0"/>
              <a:t>); </a:t>
            </a:r>
          </a:p>
          <a:p>
            <a:pPr marL="514350" indent="-514350">
              <a:lnSpc>
                <a:spcPct val="150000"/>
              </a:lnSpc>
              <a:spcBef>
                <a:spcPts val="0"/>
              </a:spcBef>
            </a:pPr>
            <a:r>
              <a:rPr lang="en-GB" dirty="0" smtClean="0"/>
              <a:t>    exit(0);   }</a:t>
            </a:r>
            <a:endParaRPr lang="en-GB"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228600"/>
            <a:ext cx="7467600" cy="6096000"/>
          </a:xfrm>
        </p:spPr>
        <p:txBody>
          <a:bodyPr>
            <a:noAutofit/>
          </a:bodyPr>
          <a:lstStyle/>
          <a:p>
            <a:pPr fontAlgn="base"/>
            <a:endParaRPr lang="en-GB" dirty="0" smtClean="0"/>
          </a:p>
          <a:p>
            <a:pPr fontAlgn="base"/>
            <a:r>
              <a:rPr lang="en-GB" dirty="0" smtClean="0"/>
              <a:t>Output:</a:t>
            </a:r>
          </a:p>
          <a:p>
            <a:endParaRPr lang="en-GB" dirty="0" smtClean="0"/>
          </a:p>
          <a:p>
            <a:endParaRPr lang="en-GB" dirty="0" smtClean="0"/>
          </a:p>
          <a:p>
            <a:r>
              <a:rPr lang="en-GB" dirty="0" err="1" smtClean="0"/>
              <a:t>val</a:t>
            </a:r>
            <a:r>
              <a:rPr lang="en-GB" dirty="0" smtClean="0"/>
              <a:t> = 15 </a:t>
            </a:r>
            <a:br>
              <a:rPr lang="en-GB" dirty="0" smtClean="0"/>
            </a:br>
            <a:endParaRPr lang="en-GB"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228600"/>
            <a:ext cx="7467600" cy="6096000"/>
          </a:xfrm>
        </p:spPr>
        <p:txBody>
          <a:bodyPr>
            <a:noAutofit/>
          </a:bodyPr>
          <a:lstStyle/>
          <a:p>
            <a:pPr fontAlgn="base">
              <a:lnSpc>
                <a:spcPct val="150000"/>
              </a:lnSpc>
              <a:spcBef>
                <a:spcPts val="0"/>
              </a:spcBef>
            </a:pPr>
            <a:r>
              <a:rPr lang="en-GB" dirty="0" smtClean="0">
                <a:solidFill>
                  <a:srgbClr val="FF0000"/>
                </a:solidFill>
              </a:rPr>
              <a:t>Consider the following code. What is the output?</a:t>
            </a:r>
          </a:p>
          <a:p>
            <a:pPr fontAlgn="base">
              <a:lnSpc>
                <a:spcPct val="150000"/>
              </a:lnSpc>
              <a:spcBef>
                <a:spcPts val="0"/>
              </a:spcBef>
            </a:pPr>
            <a:r>
              <a:rPr lang="en-GB" dirty="0" smtClean="0"/>
              <a:t>#include&lt;</a:t>
            </a:r>
            <a:r>
              <a:rPr lang="en-GB" dirty="0" err="1" smtClean="0"/>
              <a:t>stdio.h</a:t>
            </a:r>
            <a:r>
              <a:rPr lang="en-GB" dirty="0" smtClean="0"/>
              <a:t>&gt; </a:t>
            </a:r>
          </a:p>
          <a:p>
            <a:pPr fontAlgn="base">
              <a:lnSpc>
                <a:spcPct val="150000"/>
              </a:lnSpc>
              <a:spcBef>
                <a:spcPts val="0"/>
              </a:spcBef>
            </a:pPr>
            <a:r>
              <a:rPr lang="en-GB" dirty="0" smtClean="0"/>
              <a:t>#include&lt;</a:t>
            </a:r>
            <a:r>
              <a:rPr lang="en-GB" dirty="0" err="1" smtClean="0"/>
              <a:t>wait.h</a:t>
            </a:r>
            <a:r>
              <a:rPr lang="en-GB" dirty="0" smtClean="0"/>
              <a:t>&gt; </a:t>
            </a:r>
          </a:p>
          <a:p>
            <a:pPr fontAlgn="base">
              <a:lnSpc>
                <a:spcPct val="150000"/>
              </a:lnSpc>
              <a:spcBef>
                <a:spcPts val="0"/>
              </a:spcBef>
            </a:pPr>
            <a:r>
              <a:rPr lang="en-GB" dirty="0" smtClean="0"/>
              <a:t>#include&lt;</a:t>
            </a:r>
            <a:r>
              <a:rPr lang="en-GB" dirty="0" err="1" smtClean="0"/>
              <a:t>signal.h</a:t>
            </a:r>
            <a:r>
              <a:rPr lang="en-GB" dirty="0" smtClean="0"/>
              <a:t>&gt; </a:t>
            </a:r>
          </a:p>
          <a:p>
            <a:pPr fontAlgn="base">
              <a:lnSpc>
                <a:spcPct val="150000"/>
              </a:lnSpc>
              <a:spcBef>
                <a:spcPts val="0"/>
              </a:spcBef>
            </a:pPr>
            <a:r>
              <a:rPr lang="en-GB" dirty="0" err="1" smtClean="0"/>
              <a:t>pid_t</a:t>
            </a:r>
            <a:r>
              <a:rPr lang="en-GB" dirty="0" smtClean="0"/>
              <a:t> </a:t>
            </a:r>
            <a:r>
              <a:rPr lang="en-GB" dirty="0" err="1" smtClean="0"/>
              <a:t>pid</a:t>
            </a:r>
            <a:r>
              <a:rPr lang="en-GB" dirty="0" smtClean="0"/>
              <a:t>; </a:t>
            </a:r>
          </a:p>
          <a:p>
            <a:pPr fontAlgn="base">
              <a:lnSpc>
                <a:spcPct val="150000"/>
              </a:lnSpc>
              <a:spcBef>
                <a:spcPts val="0"/>
              </a:spcBef>
            </a:pPr>
            <a:r>
              <a:rPr lang="en-GB" dirty="0" smtClean="0"/>
              <a:t>int counter = 0; </a:t>
            </a:r>
          </a:p>
          <a:p>
            <a:pPr fontAlgn="base">
              <a:lnSpc>
                <a:spcPct val="150000"/>
              </a:lnSpc>
              <a:spcBef>
                <a:spcPts val="0"/>
              </a:spcBef>
            </a:pPr>
            <a:r>
              <a:rPr lang="en-GB" dirty="0" smtClean="0"/>
              <a:t>void handler1(int sig) </a:t>
            </a:r>
          </a:p>
          <a:p>
            <a:pPr fontAlgn="base">
              <a:lnSpc>
                <a:spcPct val="150000"/>
              </a:lnSpc>
              <a:spcBef>
                <a:spcPts val="0"/>
              </a:spcBef>
            </a:pPr>
            <a:r>
              <a:rPr lang="en-GB" dirty="0" smtClean="0"/>
              <a:t>{ </a:t>
            </a:r>
          </a:p>
          <a:p>
            <a:pPr fontAlgn="base">
              <a:lnSpc>
                <a:spcPct val="150000"/>
              </a:lnSpc>
              <a:spcBef>
                <a:spcPts val="0"/>
              </a:spcBef>
            </a:pPr>
            <a:r>
              <a:rPr lang="en-GB" dirty="0" smtClean="0"/>
              <a:t>    counter++; </a:t>
            </a:r>
          </a:p>
          <a:p>
            <a:pPr fontAlgn="base">
              <a:lnSpc>
                <a:spcPct val="150000"/>
              </a:lnSpc>
              <a:spcBef>
                <a:spcPts val="0"/>
              </a:spcBef>
            </a:pPr>
            <a:r>
              <a:rPr lang="en-GB" dirty="0" smtClean="0"/>
              <a:t>    </a:t>
            </a:r>
            <a:r>
              <a:rPr lang="en-GB" dirty="0" err="1" smtClean="0"/>
              <a:t>printf</a:t>
            </a:r>
            <a:r>
              <a:rPr lang="en-GB" dirty="0" smtClean="0"/>
              <a:t>("counter = %d\n", counter); </a:t>
            </a:r>
          </a:p>
          <a:p>
            <a:pPr fontAlgn="base">
              <a:lnSpc>
                <a:spcPct val="150000"/>
              </a:lnSpc>
              <a:spcBef>
                <a:spcPts val="0"/>
              </a:spcBef>
            </a:pPr>
            <a:r>
              <a:rPr lang="en-GB" dirty="0" smtClean="0"/>
              <a:t>    /* Flushes the printed string to </a:t>
            </a:r>
            <a:r>
              <a:rPr lang="en-GB" dirty="0" err="1" smtClean="0"/>
              <a:t>stdout</a:t>
            </a:r>
            <a:r>
              <a:rPr lang="en-GB" dirty="0" smtClean="0"/>
              <a:t> */</a:t>
            </a:r>
            <a:endParaRPr lang="en-GB"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228600"/>
            <a:ext cx="7467600" cy="6096000"/>
          </a:xfrm>
        </p:spPr>
        <p:txBody>
          <a:bodyPr>
            <a:noAutofit/>
          </a:bodyPr>
          <a:lstStyle/>
          <a:p>
            <a:pPr fontAlgn="base">
              <a:lnSpc>
                <a:spcPct val="150000"/>
              </a:lnSpc>
              <a:spcBef>
                <a:spcPts val="0"/>
              </a:spcBef>
            </a:pPr>
            <a:r>
              <a:rPr lang="en-GB" dirty="0" err="1" smtClean="0"/>
              <a:t>fflush</a:t>
            </a:r>
            <a:r>
              <a:rPr lang="en-GB" dirty="0" smtClean="0"/>
              <a:t>(</a:t>
            </a:r>
            <a:r>
              <a:rPr lang="en-GB" dirty="0" err="1" smtClean="0"/>
              <a:t>stdout</a:t>
            </a:r>
            <a:r>
              <a:rPr lang="en-GB" dirty="0" smtClean="0"/>
              <a:t>); </a:t>
            </a:r>
          </a:p>
          <a:p>
            <a:pPr fontAlgn="base">
              <a:lnSpc>
                <a:spcPct val="150000"/>
              </a:lnSpc>
              <a:spcBef>
                <a:spcPts val="0"/>
              </a:spcBef>
            </a:pPr>
            <a:r>
              <a:rPr lang="en-GB" dirty="0" smtClean="0"/>
              <a:t>    kill(</a:t>
            </a:r>
            <a:r>
              <a:rPr lang="en-GB" dirty="0" err="1" smtClean="0"/>
              <a:t>pid</a:t>
            </a:r>
            <a:r>
              <a:rPr lang="en-GB" dirty="0" smtClean="0"/>
              <a:t>, SIGUSR1); </a:t>
            </a:r>
          </a:p>
          <a:p>
            <a:pPr fontAlgn="base">
              <a:lnSpc>
                <a:spcPct val="150000"/>
              </a:lnSpc>
              <a:spcBef>
                <a:spcPts val="0"/>
              </a:spcBef>
            </a:pPr>
            <a:r>
              <a:rPr lang="en-GB" dirty="0" smtClean="0"/>
              <a:t>} </a:t>
            </a:r>
          </a:p>
          <a:p>
            <a:pPr fontAlgn="base">
              <a:lnSpc>
                <a:spcPct val="150000"/>
              </a:lnSpc>
              <a:spcBef>
                <a:spcPts val="0"/>
              </a:spcBef>
            </a:pPr>
            <a:r>
              <a:rPr lang="en-GB" dirty="0" smtClean="0"/>
              <a:t>void handler2(int sig) </a:t>
            </a:r>
          </a:p>
          <a:p>
            <a:pPr fontAlgn="base">
              <a:lnSpc>
                <a:spcPct val="150000"/>
              </a:lnSpc>
              <a:spcBef>
                <a:spcPts val="0"/>
              </a:spcBef>
            </a:pPr>
            <a:r>
              <a:rPr lang="en-GB" dirty="0" smtClean="0"/>
              <a:t>{ </a:t>
            </a:r>
          </a:p>
          <a:p>
            <a:pPr fontAlgn="base">
              <a:lnSpc>
                <a:spcPct val="150000"/>
              </a:lnSpc>
              <a:spcBef>
                <a:spcPts val="0"/>
              </a:spcBef>
            </a:pPr>
            <a:r>
              <a:rPr lang="en-GB" dirty="0" smtClean="0"/>
              <a:t>    counter += 3; </a:t>
            </a:r>
          </a:p>
          <a:p>
            <a:pPr fontAlgn="base">
              <a:lnSpc>
                <a:spcPct val="150000"/>
              </a:lnSpc>
              <a:spcBef>
                <a:spcPts val="0"/>
              </a:spcBef>
            </a:pPr>
            <a:r>
              <a:rPr lang="en-GB" dirty="0" smtClean="0"/>
              <a:t>    </a:t>
            </a:r>
            <a:r>
              <a:rPr lang="en-GB" dirty="0" err="1" smtClean="0"/>
              <a:t>printf</a:t>
            </a:r>
            <a:r>
              <a:rPr lang="en-GB" dirty="0" smtClean="0"/>
              <a:t>("counter = %d\n", counter); </a:t>
            </a:r>
          </a:p>
          <a:p>
            <a:pPr fontAlgn="base">
              <a:lnSpc>
                <a:spcPct val="150000"/>
              </a:lnSpc>
              <a:spcBef>
                <a:spcPts val="0"/>
              </a:spcBef>
            </a:pPr>
            <a:r>
              <a:rPr lang="en-GB" dirty="0" smtClean="0"/>
              <a:t>    exit(0); </a:t>
            </a:r>
          </a:p>
          <a:p>
            <a:pPr fontAlgn="base">
              <a:lnSpc>
                <a:spcPct val="150000"/>
              </a:lnSpc>
              <a:spcBef>
                <a:spcPts val="0"/>
              </a:spcBef>
            </a:pPr>
            <a:r>
              <a:rPr lang="en-GB" dirty="0" smtClean="0"/>
              <a:t>}</a:t>
            </a:r>
            <a:endParaRPr lang="en-GB"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467600" cy="6096000"/>
          </a:xfrm>
        </p:spPr>
        <p:txBody>
          <a:bodyPr>
            <a:noAutofit/>
          </a:bodyPr>
          <a:lstStyle/>
          <a:p>
            <a:pPr fontAlgn="base">
              <a:lnSpc>
                <a:spcPct val="150000"/>
              </a:lnSpc>
              <a:spcBef>
                <a:spcPts val="0"/>
              </a:spcBef>
            </a:pPr>
            <a:r>
              <a:rPr lang="en-GB" dirty="0" smtClean="0"/>
              <a:t>int main() </a:t>
            </a:r>
          </a:p>
          <a:p>
            <a:pPr fontAlgn="base">
              <a:lnSpc>
                <a:spcPct val="150000"/>
              </a:lnSpc>
              <a:spcBef>
                <a:spcPts val="0"/>
              </a:spcBef>
            </a:pPr>
            <a:r>
              <a:rPr lang="en-GB" dirty="0" smtClean="0"/>
              <a:t>{ </a:t>
            </a:r>
          </a:p>
          <a:p>
            <a:pPr fontAlgn="base">
              <a:lnSpc>
                <a:spcPct val="150000"/>
              </a:lnSpc>
              <a:spcBef>
                <a:spcPts val="0"/>
              </a:spcBef>
            </a:pPr>
            <a:r>
              <a:rPr lang="en-GB" dirty="0" smtClean="0"/>
              <a:t>    </a:t>
            </a:r>
            <a:r>
              <a:rPr lang="en-GB" dirty="0" err="1" smtClean="0"/>
              <a:t>pid_t</a:t>
            </a:r>
            <a:r>
              <a:rPr lang="en-GB" dirty="0" smtClean="0"/>
              <a:t> p;     int status; </a:t>
            </a:r>
          </a:p>
          <a:p>
            <a:pPr fontAlgn="base">
              <a:lnSpc>
                <a:spcPct val="150000"/>
              </a:lnSpc>
              <a:spcBef>
                <a:spcPts val="0"/>
              </a:spcBef>
            </a:pPr>
            <a:r>
              <a:rPr lang="en-GB" dirty="0" smtClean="0"/>
              <a:t>    signal(SIGUSR1, handler1); </a:t>
            </a:r>
          </a:p>
          <a:p>
            <a:pPr fontAlgn="base">
              <a:lnSpc>
                <a:spcPct val="150000"/>
              </a:lnSpc>
              <a:spcBef>
                <a:spcPts val="0"/>
              </a:spcBef>
            </a:pPr>
            <a:r>
              <a:rPr lang="en-GB" dirty="0" smtClean="0"/>
              <a:t>    if ((</a:t>
            </a:r>
            <a:r>
              <a:rPr lang="en-GB" dirty="0" err="1" smtClean="0"/>
              <a:t>pid</a:t>
            </a:r>
            <a:r>
              <a:rPr lang="en-GB" dirty="0" smtClean="0"/>
              <a:t> = fork()) == 0)     { </a:t>
            </a:r>
          </a:p>
          <a:p>
            <a:pPr fontAlgn="base">
              <a:lnSpc>
                <a:spcPct val="150000"/>
              </a:lnSpc>
              <a:spcBef>
                <a:spcPts val="0"/>
              </a:spcBef>
            </a:pPr>
            <a:r>
              <a:rPr lang="en-GB" dirty="0" smtClean="0"/>
              <a:t>        signal(SIGUSR1, handler2); </a:t>
            </a:r>
          </a:p>
          <a:p>
            <a:pPr fontAlgn="base">
              <a:lnSpc>
                <a:spcPct val="150000"/>
              </a:lnSpc>
              <a:spcBef>
                <a:spcPts val="0"/>
              </a:spcBef>
            </a:pPr>
            <a:r>
              <a:rPr lang="en-GB" dirty="0" smtClean="0"/>
              <a:t>        kill(</a:t>
            </a:r>
            <a:r>
              <a:rPr lang="en-GB" dirty="0" err="1" smtClean="0"/>
              <a:t>getppid</a:t>
            </a:r>
            <a:r>
              <a:rPr lang="en-GB" dirty="0" smtClean="0"/>
              <a:t>(), SIGUSR1); </a:t>
            </a:r>
          </a:p>
          <a:p>
            <a:pPr fontAlgn="base">
              <a:lnSpc>
                <a:spcPct val="150000"/>
              </a:lnSpc>
              <a:spcBef>
                <a:spcPts val="0"/>
              </a:spcBef>
            </a:pPr>
            <a:r>
              <a:rPr lang="en-GB" dirty="0" smtClean="0"/>
              <a:t>        while(1) ;     } </a:t>
            </a:r>
          </a:p>
          <a:p>
            <a:pPr fontAlgn="base">
              <a:lnSpc>
                <a:spcPct val="150000"/>
              </a:lnSpc>
              <a:spcBef>
                <a:spcPts val="0"/>
              </a:spcBef>
            </a:pPr>
            <a:r>
              <a:rPr lang="en-GB" dirty="0" smtClean="0"/>
              <a:t>    if ((p = wait(&amp;status)) &gt; 0)     { </a:t>
            </a:r>
          </a:p>
          <a:p>
            <a:pPr fontAlgn="base">
              <a:lnSpc>
                <a:spcPct val="150000"/>
              </a:lnSpc>
              <a:spcBef>
                <a:spcPts val="0"/>
              </a:spcBef>
            </a:pPr>
            <a:r>
              <a:rPr lang="en-GB" dirty="0" smtClean="0"/>
              <a:t>        counter += 4; </a:t>
            </a:r>
          </a:p>
          <a:p>
            <a:pPr fontAlgn="base">
              <a:lnSpc>
                <a:spcPct val="150000"/>
              </a:lnSpc>
              <a:spcBef>
                <a:spcPts val="0"/>
              </a:spcBef>
            </a:pPr>
            <a:r>
              <a:rPr lang="en-GB" dirty="0" smtClean="0"/>
              <a:t>        </a:t>
            </a:r>
            <a:r>
              <a:rPr lang="en-GB" dirty="0" err="1" smtClean="0"/>
              <a:t>printf</a:t>
            </a:r>
            <a:r>
              <a:rPr lang="en-GB" dirty="0" smtClean="0"/>
              <a:t>("counter = %d\n", counter);     }  }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467600" cy="6096000"/>
          </a:xfrm>
        </p:spPr>
        <p:txBody>
          <a:bodyPr>
            <a:noAutofit/>
          </a:bodyPr>
          <a:lstStyle/>
          <a:p>
            <a:pPr fontAlgn="base">
              <a:lnSpc>
                <a:spcPct val="150000"/>
              </a:lnSpc>
              <a:spcBef>
                <a:spcPts val="0"/>
              </a:spcBef>
            </a:pPr>
            <a:r>
              <a:rPr lang="en-GB" dirty="0" smtClean="0"/>
              <a:t> </a:t>
            </a:r>
          </a:p>
          <a:p>
            <a:pPr fontAlgn="base">
              <a:lnSpc>
                <a:spcPct val="150000"/>
              </a:lnSpc>
              <a:spcBef>
                <a:spcPts val="0"/>
              </a:spcBef>
            </a:pPr>
            <a:r>
              <a:rPr lang="en-GB" dirty="0" smtClean="0"/>
              <a:t>Output</a:t>
            </a:r>
          </a:p>
          <a:p>
            <a:pPr fontAlgn="base">
              <a:lnSpc>
                <a:spcPct val="150000"/>
              </a:lnSpc>
              <a:spcBef>
                <a:spcPts val="0"/>
              </a:spcBef>
            </a:pPr>
            <a:endParaRPr lang="en-GB" dirty="0" smtClean="0"/>
          </a:p>
          <a:p>
            <a:pPr fontAlgn="base">
              <a:lnSpc>
                <a:spcPct val="150000"/>
              </a:lnSpc>
              <a:spcBef>
                <a:spcPts val="0"/>
              </a:spcBef>
            </a:pPr>
            <a:r>
              <a:rPr lang="en-GB" dirty="0" smtClean="0"/>
              <a:t>counter = 1         //(parent’s handler) </a:t>
            </a:r>
          </a:p>
          <a:p>
            <a:pPr fontAlgn="base">
              <a:lnSpc>
                <a:spcPct val="150000"/>
              </a:lnSpc>
              <a:spcBef>
                <a:spcPts val="0"/>
              </a:spcBef>
            </a:pPr>
            <a:r>
              <a:rPr lang="en-GB" dirty="0" smtClean="0"/>
              <a:t>counter = 3         //(child’s handler) </a:t>
            </a:r>
          </a:p>
          <a:p>
            <a:pPr fontAlgn="base">
              <a:lnSpc>
                <a:spcPct val="150000"/>
              </a:lnSpc>
              <a:spcBef>
                <a:spcPts val="0"/>
              </a:spcBef>
            </a:pPr>
            <a:r>
              <a:rPr lang="en-GB" dirty="0" smtClean="0"/>
              <a:t>counter = 5         //(parent’s main) </a:t>
            </a:r>
          </a:p>
          <a:p>
            <a:pPr fontAlgn="base">
              <a:lnSpc>
                <a:spcPct val="150000"/>
              </a:lnSpc>
              <a:spcBef>
                <a:spcPts val="0"/>
              </a:spcBef>
            </a:pPr>
            <a:endParaRPr lang="en-GB"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152400"/>
            <a:ext cx="8077200" cy="6096000"/>
          </a:xfrm>
        </p:spPr>
        <p:txBody>
          <a:bodyPr>
            <a:noAutofit/>
          </a:bodyPr>
          <a:lstStyle/>
          <a:p>
            <a:pPr fontAlgn="base">
              <a:lnSpc>
                <a:spcPct val="150000"/>
              </a:lnSpc>
              <a:spcBef>
                <a:spcPts val="0"/>
              </a:spcBef>
            </a:pPr>
            <a:r>
              <a:rPr lang="en-GB" sz="3200" dirty="0" smtClean="0"/>
              <a:t>Communication between two process (child and parent )using signals in C</a:t>
            </a:r>
          </a:p>
          <a:p>
            <a:pPr fontAlgn="base">
              <a:lnSpc>
                <a:spcPct val="150000"/>
              </a:lnSpc>
              <a:spcBef>
                <a:spcPts val="0"/>
              </a:spcBef>
              <a:buFont typeface="Wingdings" pitchFamily="2" charset="2"/>
              <a:buChar char="Ø"/>
            </a:pPr>
            <a:r>
              <a:rPr lang="en-GB" dirty="0" smtClean="0"/>
              <a:t> </a:t>
            </a:r>
            <a:r>
              <a:rPr lang="en-GB" sz="2800" dirty="0" smtClean="0"/>
              <a:t>It is done using kill() and signal(), fork() .</a:t>
            </a:r>
          </a:p>
          <a:p>
            <a:pPr fontAlgn="base">
              <a:lnSpc>
                <a:spcPct val="150000"/>
              </a:lnSpc>
              <a:spcBef>
                <a:spcPts val="0"/>
              </a:spcBef>
              <a:buFont typeface="Wingdings" pitchFamily="2" charset="2"/>
              <a:buChar char="Ø"/>
            </a:pPr>
            <a:r>
              <a:rPr lang="en-GB" sz="2800" dirty="0" smtClean="0"/>
              <a:t> fork() creates the child process from the parent. </a:t>
            </a:r>
          </a:p>
          <a:p>
            <a:pPr fontAlgn="base">
              <a:lnSpc>
                <a:spcPct val="150000"/>
              </a:lnSpc>
              <a:spcBef>
                <a:spcPts val="0"/>
              </a:spcBef>
              <a:buFont typeface="Wingdings" pitchFamily="2" charset="2"/>
              <a:buChar char="Ø"/>
            </a:pPr>
            <a:r>
              <a:rPr lang="en-GB" sz="2800" dirty="0" smtClean="0"/>
              <a:t> The </a:t>
            </a:r>
            <a:r>
              <a:rPr lang="en-GB" sz="2800" dirty="0" err="1" smtClean="0"/>
              <a:t>pid</a:t>
            </a:r>
            <a:r>
              <a:rPr lang="en-GB" sz="2800" dirty="0" smtClean="0"/>
              <a:t> can be checked to decide whether it is child (</a:t>
            </a:r>
            <a:r>
              <a:rPr lang="en-GB" sz="2800" dirty="0" err="1" smtClean="0"/>
              <a:t>pid</a:t>
            </a:r>
            <a:r>
              <a:rPr lang="en-GB" sz="2800" dirty="0" smtClean="0"/>
              <a:t> == 0) or parent (</a:t>
            </a:r>
            <a:r>
              <a:rPr lang="en-GB" sz="2800" dirty="0" err="1" smtClean="0"/>
              <a:t>pid</a:t>
            </a:r>
            <a:r>
              <a:rPr lang="en-GB" sz="2800" dirty="0" smtClean="0"/>
              <a:t> = child process id).</a:t>
            </a:r>
          </a:p>
          <a:p>
            <a:pPr fontAlgn="base">
              <a:lnSpc>
                <a:spcPct val="150000"/>
              </a:lnSpc>
              <a:spcBef>
                <a:spcPts val="0"/>
              </a:spcBef>
              <a:buFont typeface="Wingdings" pitchFamily="2" charset="2"/>
              <a:buChar char="Ø"/>
            </a:pPr>
            <a:r>
              <a:rPr lang="en-GB" sz="2800" dirty="0" smtClean="0"/>
              <a:t> The parent can then send messages to child using the </a:t>
            </a:r>
            <a:r>
              <a:rPr lang="en-GB" sz="2800" dirty="0" err="1" smtClean="0"/>
              <a:t>pid</a:t>
            </a:r>
            <a:r>
              <a:rPr lang="en-GB" sz="2800" dirty="0" smtClean="0"/>
              <a:t> and kill().</a:t>
            </a:r>
          </a:p>
          <a:p>
            <a:pPr fontAlgn="base">
              <a:lnSpc>
                <a:spcPct val="150000"/>
              </a:lnSpc>
              <a:spcBef>
                <a:spcPts val="0"/>
              </a:spcBef>
              <a:buFont typeface="Wingdings" pitchFamily="2" charset="2"/>
              <a:buChar char="Ø"/>
            </a:pPr>
            <a:r>
              <a:rPr lang="en-GB" sz="2800" dirty="0" smtClean="0"/>
              <a:t> The child picks up these signals with signal() and calls appropriate functions.</a:t>
            </a:r>
            <a:endParaRPr lang="en-GB" sz="2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772400" cy="6096000"/>
          </a:xfrm>
        </p:spPr>
        <p:txBody>
          <a:bodyPr>
            <a:noAutofit/>
          </a:bodyPr>
          <a:lstStyle/>
          <a:p>
            <a:pPr fontAlgn="base">
              <a:lnSpc>
                <a:spcPct val="150000"/>
              </a:lnSpc>
              <a:spcBef>
                <a:spcPts val="0"/>
              </a:spcBef>
            </a:pPr>
            <a:r>
              <a:rPr lang="en-GB" sz="2800" dirty="0" smtClean="0"/>
              <a:t>// C program to implement </a:t>
            </a:r>
            <a:r>
              <a:rPr lang="en-GB" sz="2800" dirty="0" err="1" smtClean="0"/>
              <a:t>sighup</a:t>
            </a:r>
            <a:r>
              <a:rPr lang="en-GB" sz="2800" dirty="0" smtClean="0"/>
              <a:t>(), </a:t>
            </a:r>
            <a:r>
              <a:rPr lang="en-GB" sz="2800" dirty="0" err="1" smtClean="0"/>
              <a:t>sigint</a:t>
            </a:r>
            <a:r>
              <a:rPr lang="en-GB" sz="2800" dirty="0" smtClean="0"/>
              <a:t>() </a:t>
            </a:r>
          </a:p>
          <a:p>
            <a:pPr fontAlgn="base">
              <a:lnSpc>
                <a:spcPct val="150000"/>
              </a:lnSpc>
              <a:spcBef>
                <a:spcPts val="0"/>
              </a:spcBef>
            </a:pPr>
            <a:r>
              <a:rPr lang="en-GB" sz="2800" dirty="0" smtClean="0"/>
              <a:t>// and </a:t>
            </a:r>
            <a:r>
              <a:rPr lang="en-GB" sz="2800" dirty="0" err="1" smtClean="0"/>
              <a:t>sigquit</a:t>
            </a:r>
            <a:r>
              <a:rPr lang="en-GB" sz="2800" dirty="0" smtClean="0"/>
              <a:t>() signal functions </a:t>
            </a:r>
          </a:p>
          <a:p>
            <a:pPr fontAlgn="base">
              <a:lnSpc>
                <a:spcPct val="150000"/>
              </a:lnSpc>
              <a:spcBef>
                <a:spcPts val="0"/>
              </a:spcBef>
            </a:pPr>
            <a:r>
              <a:rPr lang="en-GB" sz="2800" dirty="0" smtClean="0"/>
              <a:t>#include &lt;</a:t>
            </a:r>
            <a:r>
              <a:rPr lang="en-GB" sz="2800" dirty="0" err="1" smtClean="0"/>
              <a:t>signal.h</a:t>
            </a:r>
            <a:r>
              <a:rPr lang="en-GB" sz="2800" dirty="0" smtClean="0"/>
              <a:t>&gt; </a:t>
            </a:r>
          </a:p>
          <a:p>
            <a:pPr fontAlgn="base">
              <a:lnSpc>
                <a:spcPct val="150000"/>
              </a:lnSpc>
              <a:spcBef>
                <a:spcPts val="0"/>
              </a:spcBef>
            </a:pPr>
            <a:r>
              <a:rPr lang="en-GB" sz="2800" dirty="0" smtClean="0"/>
              <a:t>#include &lt;</a:t>
            </a:r>
            <a:r>
              <a:rPr lang="en-GB" sz="2800" dirty="0" err="1" smtClean="0"/>
              <a:t>stdio.h</a:t>
            </a:r>
            <a:r>
              <a:rPr lang="en-GB" sz="2800" dirty="0" smtClean="0"/>
              <a:t>&gt; </a:t>
            </a:r>
          </a:p>
          <a:p>
            <a:pPr fontAlgn="base">
              <a:lnSpc>
                <a:spcPct val="150000"/>
              </a:lnSpc>
              <a:spcBef>
                <a:spcPts val="0"/>
              </a:spcBef>
            </a:pPr>
            <a:r>
              <a:rPr lang="en-GB" sz="2800" dirty="0" smtClean="0"/>
              <a:t>#include &lt;</a:t>
            </a:r>
            <a:r>
              <a:rPr lang="en-GB" sz="2800" dirty="0" err="1" smtClean="0"/>
              <a:t>stdlib.h</a:t>
            </a:r>
            <a:r>
              <a:rPr lang="en-GB" sz="2800" dirty="0" smtClean="0"/>
              <a:t>&gt; </a:t>
            </a:r>
          </a:p>
          <a:p>
            <a:pPr fontAlgn="base">
              <a:lnSpc>
                <a:spcPct val="150000"/>
              </a:lnSpc>
              <a:spcBef>
                <a:spcPts val="0"/>
              </a:spcBef>
            </a:pPr>
            <a:r>
              <a:rPr lang="en-GB" sz="2800" dirty="0" smtClean="0"/>
              <a:t>#include &lt;sys/</a:t>
            </a:r>
            <a:r>
              <a:rPr lang="en-GB" sz="2800" dirty="0" err="1" smtClean="0"/>
              <a:t>types.h</a:t>
            </a:r>
            <a:r>
              <a:rPr lang="en-GB" sz="2800" dirty="0" smtClean="0"/>
              <a:t>&gt; </a:t>
            </a:r>
          </a:p>
          <a:p>
            <a:pPr fontAlgn="base">
              <a:lnSpc>
                <a:spcPct val="150000"/>
              </a:lnSpc>
              <a:spcBef>
                <a:spcPts val="0"/>
              </a:spcBef>
            </a:pPr>
            <a:r>
              <a:rPr lang="en-GB" sz="2800" dirty="0" smtClean="0"/>
              <a:t>#include &lt;</a:t>
            </a:r>
            <a:r>
              <a:rPr lang="en-GB" sz="2800" dirty="0" err="1" smtClean="0"/>
              <a:t>unistd.h</a:t>
            </a:r>
            <a:r>
              <a:rPr lang="en-GB" sz="2800" dirty="0" smtClean="0"/>
              <a:t>&gt;   </a:t>
            </a:r>
          </a:p>
          <a:p>
            <a:pPr fontAlgn="base">
              <a:lnSpc>
                <a:spcPct val="150000"/>
              </a:lnSpc>
              <a:spcBef>
                <a:spcPts val="0"/>
              </a:spcBef>
            </a:pPr>
            <a:r>
              <a:rPr lang="en-GB" sz="2800" dirty="0" smtClean="0"/>
              <a:t>void </a:t>
            </a:r>
            <a:r>
              <a:rPr lang="en-GB" sz="2800" dirty="0" err="1" smtClean="0"/>
              <a:t>sighup</a:t>
            </a:r>
            <a:r>
              <a:rPr lang="en-GB" sz="2800" dirty="0" smtClean="0"/>
              <a:t>(); </a:t>
            </a:r>
          </a:p>
          <a:p>
            <a:pPr fontAlgn="base">
              <a:lnSpc>
                <a:spcPct val="150000"/>
              </a:lnSpc>
              <a:spcBef>
                <a:spcPts val="0"/>
              </a:spcBef>
            </a:pPr>
            <a:r>
              <a:rPr lang="en-GB" sz="2800" dirty="0" smtClean="0"/>
              <a:t>void </a:t>
            </a:r>
            <a:r>
              <a:rPr lang="en-GB" sz="2800" dirty="0" err="1" smtClean="0"/>
              <a:t>sigint</a:t>
            </a:r>
            <a:r>
              <a:rPr lang="en-GB" sz="2800" dirty="0" smtClean="0"/>
              <a:t>(); </a:t>
            </a:r>
          </a:p>
          <a:p>
            <a:pPr fontAlgn="base">
              <a:lnSpc>
                <a:spcPct val="150000"/>
              </a:lnSpc>
              <a:spcBef>
                <a:spcPts val="0"/>
              </a:spcBef>
            </a:pPr>
            <a:r>
              <a:rPr lang="en-GB" sz="2800" dirty="0" smtClean="0"/>
              <a:t>void </a:t>
            </a:r>
            <a:r>
              <a:rPr lang="en-GB" sz="2800" dirty="0" err="1" smtClean="0"/>
              <a:t>sigquit</a:t>
            </a:r>
            <a:r>
              <a:rPr lang="en-GB" sz="2800" dirty="0" smtClean="0"/>
              <a:t>(); </a:t>
            </a:r>
            <a:endParaRPr lang="en-GB"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772400" cy="6096000"/>
          </a:xfrm>
        </p:spPr>
        <p:txBody>
          <a:bodyPr>
            <a:noAutofit/>
          </a:bodyPr>
          <a:lstStyle/>
          <a:p>
            <a:pPr fontAlgn="base">
              <a:lnSpc>
                <a:spcPct val="150000"/>
              </a:lnSpc>
              <a:spcBef>
                <a:spcPts val="0"/>
              </a:spcBef>
            </a:pPr>
            <a:r>
              <a:rPr lang="en-GB" sz="2800" dirty="0" smtClean="0"/>
              <a:t>void main() // driver code </a:t>
            </a:r>
          </a:p>
          <a:p>
            <a:pPr fontAlgn="base">
              <a:lnSpc>
                <a:spcPct val="150000"/>
              </a:lnSpc>
              <a:spcBef>
                <a:spcPts val="0"/>
              </a:spcBef>
            </a:pPr>
            <a:r>
              <a:rPr lang="en-GB" sz="2800" dirty="0" smtClean="0"/>
              <a:t>{    int </a:t>
            </a:r>
            <a:r>
              <a:rPr lang="en-GB" sz="2800" dirty="0" err="1" smtClean="0"/>
              <a:t>pid</a:t>
            </a:r>
            <a:r>
              <a:rPr lang="en-GB" sz="2800" dirty="0" smtClean="0"/>
              <a:t>;   </a:t>
            </a:r>
          </a:p>
          <a:p>
            <a:pPr fontAlgn="base">
              <a:lnSpc>
                <a:spcPct val="150000"/>
              </a:lnSpc>
              <a:spcBef>
                <a:spcPts val="0"/>
              </a:spcBef>
            </a:pPr>
            <a:r>
              <a:rPr lang="en-GB" sz="2800" dirty="0" smtClean="0"/>
              <a:t>    /* get child process */</a:t>
            </a:r>
          </a:p>
          <a:p>
            <a:pPr fontAlgn="base">
              <a:lnSpc>
                <a:spcPct val="150000"/>
              </a:lnSpc>
              <a:spcBef>
                <a:spcPts val="0"/>
              </a:spcBef>
            </a:pPr>
            <a:r>
              <a:rPr lang="en-GB" sz="2800" dirty="0" smtClean="0"/>
              <a:t>    if ((</a:t>
            </a:r>
            <a:r>
              <a:rPr lang="en-GB" sz="2800" dirty="0" err="1" smtClean="0"/>
              <a:t>pid</a:t>
            </a:r>
            <a:r>
              <a:rPr lang="en-GB" sz="2800" dirty="0" smtClean="0"/>
              <a:t> = fork()) &lt; 0) { </a:t>
            </a:r>
          </a:p>
          <a:p>
            <a:pPr fontAlgn="base">
              <a:lnSpc>
                <a:spcPct val="150000"/>
              </a:lnSpc>
              <a:spcBef>
                <a:spcPts val="0"/>
              </a:spcBef>
            </a:pPr>
            <a:r>
              <a:rPr lang="en-GB" sz="2800" dirty="0" smtClean="0"/>
              <a:t>        </a:t>
            </a:r>
            <a:r>
              <a:rPr lang="en-GB" sz="2800" dirty="0" err="1" smtClean="0"/>
              <a:t>perror</a:t>
            </a:r>
            <a:r>
              <a:rPr lang="en-GB" sz="2800" dirty="0" smtClean="0"/>
              <a:t>("fork"); </a:t>
            </a:r>
          </a:p>
          <a:p>
            <a:pPr fontAlgn="base">
              <a:lnSpc>
                <a:spcPct val="150000"/>
              </a:lnSpc>
              <a:spcBef>
                <a:spcPts val="0"/>
              </a:spcBef>
            </a:pPr>
            <a:r>
              <a:rPr lang="en-GB" sz="2800" dirty="0" smtClean="0"/>
              <a:t>        exit(1);     } </a:t>
            </a:r>
          </a:p>
          <a:p>
            <a:pPr fontAlgn="base">
              <a:lnSpc>
                <a:spcPct val="150000"/>
              </a:lnSpc>
              <a:spcBef>
                <a:spcPts val="0"/>
              </a:spcBef>
            </a:pPr>
            <a:r>
              <a:rPr lang="en-GB" sz="2800" dirty="0" smtClean="0"/>
              <a:t>      if (</a:t>
            </a:r>
            <a:r>
              <a:rPr lang="en-GB" sz="2800" dirty="0" err="1" smtClean="0"/>
              <a:t>pid</a:t>
            </a:r>
            <a:r>
              <a:rPr lang="en-GB" sz="2800" dirty="0" smtClean="0"/>
              <a:t> == 0) { /* child */</a:t>
            </a:r>
          </a:p>
          <a:p>
            <a:pPr fontAlgn="base">
              <a:lnSpc>
                <a:spcPct val="150000"/>
              </a:lnSpc>
              <a:spcBef>
                <a:spcPts val="0"/>
              </a:spcBef>
            </a:pPr>
            <a:r>
              <a:rPr lang="en-GB" sz="2800" dirty="0" smtClean="0"/>
              <a:t>        signal(SIGHUP, </a:t>
            </a:r>
            <a:r>
              <a:rPr lang="en-GB" sz="2800" dirty="0" err="1" smtClean="0"/>
              <a:t>sighup</a:t>
            </a:r>
            <a:r>
              <a:rPr lang="en-GB" sz="2800" dirty="0" smtClean="0"/>
              <a:t>); </a:t>
            </a:r>
          </a:p>
          <a:p>
            <a:pPr fontAlgn="base">
              <a:lnSpc>
                <a:spcPct val="150000"/>
              </a:lnSpc>
              <a:spcBef>
                <a:spcPts val="0"/>
              </a:spcBef>
            </a:pPr>
            <a:r>
              <a:rPr lang="en-GB" sz="2800" dirty="0" smtClean="0"/>
              <a:t>        signal(SIGINT, </a:t>
            </a:r>
            <a:r>
              <a:rPr lang="en-GB" sz="2800" dirty="0" err="1" smtClean="0"/>
              <a:t>sigint</a:t>
            </a:r>
            <a:r>
              <a:rPr lang="en-GB" sz="2800" dirty="0" smtClean="0"/>
              <a:t>); </a:t>
            </a:r>
          </a:p>
          <a:p>
            <a:pPr fontAlgn="base">
              <a:lnSpc>
                <a:spcPct val="150000"/>
              </a:lnSpc>
              <a:spcBef>
                <a:spcPts val="0"/>
              </a:spcBef>
            </a:pPr>
            <a:r>
              <a:rPr lang="en-GB" sz="2800" dirty="0" smtClean="0"/>
              <a:t>        signal(SIGQUIT, </a:t>
            </a:r>
            <a:r>
              <a:rPr lang="en-GB" sz="2800" dirty="0" err="1" smtClean="0"/>
              <a:t>sigquit</a:t>
            </a:r>
            <a:r>
              <a:rPr lang="en-GB" sz="2800" dirty="0" smtClean="0"/>
              <a:t>); </a:t>
            </a:r>
          </a:p>
          <a:p>
            <a:pPr fontAlgn="base">
              <a:lnSpc>
                <a:spcPct val="150000"/>
              </a:lnSpc>
              <a:spcBef>
                <a:spcPts val="0"/>
              </a:spcBef>
            </a:pPr>
            <a:r>
              <a:rPr lang="en-GB" sz="2800" dirty="0" smtClean="0"/>
              <a:t>        for (;;)            ; /* loop for ever */    }</a:t>
            </a:r>
            <a:endParaRPr lang="en-GB" sz="2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772400" cy="6096000"/>
          </a:xfrm>
        </p:spPr>
        <p:txBody>
          <a:bodyPr>
            <a:noAutofit/>
          </a:bodyPr>
          <a:lstStyle/>
          <a:p>
            <a:pPr fontAlgn="base">
              <a:lnSpc>
                <a:spcPct val="150000"/>
              </a:lnSpc>
              <a:spcBef>
                <a:spcPts val="0"/>
              </a:spcBef>
            </a:pPr>
            <a:r>
              <a:rPr lang="en-GB" sz="2800" dirty="0" smtClean="0"/>
              <a:t>    else /* parent */</a:t>
            </a:r>
          </a:p>
          <a:p>
            <a:pPr fontAlgn="base">
              <a:lnSpc>
                <a:spcPct val="150000"/>
              </a:lnSpc>
              <a:spcBef>
                <a:spcPts val="0"/>
              </a:spcBef>
            </a:pPr>
            <a:r>
              <a:rPr lang="en-GB" sz="2800" dirty="0" smtClean="0"/>
              <a:t>    { /* </a:t>
            </a:r>
            <a:r>
              <a:rPr lang="en-GB" sz="2800" dirty="0" err="1" smtClean="0"/>
              <a:t>pid</a:t>
            </a:r>
            <a:r>
              <a:rPr lang="en-GB" sz="2800" dirty="0" smtClean="0"/>
              <a:t> hold id of child */</a:t>
            </a:r>
          </a:p>
          <a:p>
            <a:pPr fontAlgn="base">
              <a:lnSpc>
                <a:spcPct val="150000"/>
              </a:lnSpc>
              <a:spcBef>
                <a:spcPts val="0"/>
              </a:spcBef>
            </a:pPr>
            <a:r>
              <a:rPr lang="en-GB" sz="2800" dirty="0" smtClean="0"/>
              <a:t>        </a:t>
            </a:r>
            <a:r>
              <a:rPr lang="en-GB" sz="2800" dirty="0" err="1" smtClean="0"/>
              <a:t>printf</a:t>
            </a:r>
            <a:r>
              <a:rPr lang="en-GB" sz="2800" dirty="0" smtClean="0"/>
              <a:t>("\</a:t>
            </a:r>
            <a:r>
              <a:rPr lang="en-GB" sz="2800" dirty="0" err="1" smtClean="0"/>
              <a:t>nPARENT</a:t>
            </a:r>
            <a:r>
              <a:rPr lang="en-GB" sz="2800" dirty="0" smtClean="0"/>
              <a:t>: sending SIGHUP\n\n"); </a:t>
            </a:r>
          </a:p>
          <a:p>
            <a:pPr fontAlgn="base">
              <a:lnSpc>
                <a:spcPct val="150000"/>
              </a:lnSpc>
              <a:spcBef>
                <a:spcPts val="0"/>
              </a:spcBef>
            </a:pPr>
            <a:r>
              <a:rPr lang="en-GB" sz="2800" dirty="0" smtClean="0"/>
              <a:t>        kill(</a:t>
            </a:r>
            <a:r>
              <a:rPr lang="en-GB" sz="2800" dirty="0" err="1" smtClean="0"/>
              <a:t>pid</a:t>
            </a:r>
            <a:r>
              <a:rPr lang="en-GB" sz="2800" dirty="0" smtClean="0"/>
              <a:t>, SIGHUP);   </a:t>
            </a:r>
          </a:p>
          <a:p>
            <a:pPr fontAlgn="base">
              <a:lnSpc>
                <a:spcPct val="150000"/>
              </a:lnSpc>
              <a:spcBef>
                <a:spcPts val="0"/>
              </a:spcBef>
            </a:pPr>
            <a:r>
              <a:rPr lang="en-GB" sz="2800" dirty="0" smtClean="0"/>
              <a:t>        sleep(3); /* pause for 3 </a:t>
            </a:r>
            <a:r>
              <a:rPr lang="en-GB" sz="2800" dirty="0" err="1" smtClean="0"/>
              <a:t>secs</a:t>
            </a:r>
            <a:r>
              <a:rPr lang="en-GB" sz="2800" dirty="0" smtClean="0"/>
              <a:t> */</a:t>
            </a:r>
          </a:p>
          <a:p>
            <a:pPr fontAlgn="base">
              <a:lnSpc>
                <a:spcPct val="150000"/>
              </a:lnSpc>
              <a:spcBef>
                <a:spcPts val="0"/>
              </a:spcBef>
            </a:pPr>
            <a:r>
              <a:rPr lang="en-GB" sz="2800" dirty="0" smtClean="0"/>
              <a:t>        </a:t>
            </a:r>
            <a:r>
              <a:rPr lang="en-GB" sz="2800" dirty="0" err="1" smtClean="0"/>
              <a:t>printf</a:t>
            </a:r>
            <a:r>
              <a:rPr lang="en-GB" sz="2800" dirty="0" smtClean="0"/>
              <a:t>("\</a:t>
            </a:r>
            <a:r>
              <a:rPr lang="en-GB" sz="2800" dirty="0" err="1" smtClean="0"/>
              <a:t>nPARENT</a:t>
            </a:r>
            <a:r>
              <a:rPr lang="en-GB" sz="2800" dirty="0" smtClean="0"/>
              <a:t>: sending SIGINT\n\n"); </a:t>
            </a:r>
          </a:p>
          <a:p>
            <a:pPr fontAlgn="base">
              <a:lnSpc>
                <a:spcPct val="150000"/>
              </a:lnSpc>
              <a:spcBef>
                <a:spcPts val="0"/>
              </a:spcBef>
            </a:pPr>
            <a:r>
              <a:rPr lang="en-GB" sz="2800" dirty="0" smtClean="0"/>
              <a:t>        kill(</a:t>
            </a:r>
            <a:r>
              <a:rPr lang="en-GB" sz="2800" dirty="0" err="1" smtClean="0"/>
              <a:t>pid</a:t>
            </a:r>
            <a:r>
              <a:rPr lang="en-GB" sz="2800" dirty="0" smtClean="0"/>
              <a:t>, SIGINT);   </a:t>
            </a:r>
          </a:p>
          <a:p>
            <a:pPr fontAlgn="base">
              <a:lnSpc>
                <a:spcPct val="150000"/>
              </a:lnSpc>
              <a:spcBef>
                <a:spcPts val="0"/>
              </a:spcBef>
            </a:pPr>
            <a:r>
              <a:rPr lang="en-GB" sz="2800" dirty="0" smtClean="0"/>
              <a:t>        sleep(3); /* pause for 3 </a:t>
            </a:r>
            <a:r>
              <a:rPr lang="en-GB" sz="2800" dirty="0" err="1" smtClean="0"/>
              <a:t>secs</a:t>
            </a:r>
            <a:r>
              <a:rPr lang="en-GB" sz="2800" dirty="0" smtClean="0"/>
              <a:t> */</a:t>
            </a:r>
          </a:p>
          <a:p>
            <a:pPr fontAlgn="base">
              <a:lnSpc>
                <a:spcPct val="150000"/>
              </a:lnSpc>
              <a:spcBef>
                <a:spcPts val="0"/>
              </a:spcBef>
            </a:pPr>
            <a:r>
              <a:rPr lang="en-GB" sz="2800" dirty="0" smtClean="0"/>
              <a:t>        </a:t>
            </a:r>
            <a:r>
              <a:rPr lang="en-GB" sz="2800" dirty="0" err="1" smtClean="0"/>
              <a:t>printf</a:t>
            </a:r>
            <a:r>
              <a:rPr lang="en-GB" sz="2800" dirty="0" smtClean="0"/>
              <a:t>("\</a:t>
            </a:r>
            <a:r>
              <a:rPr lang="en-GB" sz="2800" dirty="0" err="1" smtClean="0"/>
              <a:t>nPARENT</a:t>
            </a:r>
            <a:r>
              <a:rPr lang="en-GB" sz="2800" dirty="0" smtClean="0"/>
              <a:t>: sending SIGQUIT\n\n"); </a:t>
            </a:r>
          </a:p>
          <a:p>
            <a:pPr fontAlgn="base">
              <a:lnSpc>
                <a:spcPct val="150000"/>
              </a:lnSpc>
              <a:spcBef>
                <a:spcPts val="0"/>
              </a:spcBef>
            </a:pPr>
            <a:r>
              <a:rPr lang="en-GB" sz="2800" dirty="0" smtClean="0"/>
              <a:t>        kill(</a:t>
            </a:r>
            <a:r>
              <a:rPr lang="en-GB" sz="2800" dirty="0" err="1" smtClean="0"/>
              <a:t>pid</a:t>
            </a:r>
            <a:r>
              <a:rPr lang="en-GB" sz="2800" dirty="0" smtClean="0"/>
              <a:t>, SIGQUIT); </a:t>
            </a:r>
          </a:p>
          <a:p>
            <a:pPr fontAlgn="base">
              <a:lnSpc>
                <a:spcPct val="150000"/>
              </a:lnSpc>
              <a:spcBef>
                <a:spcPts val="0"/>
              </a:spcBef>
            </a:pPr>
            <a:r>
              <a:rPr lang="en-GB" sz="2800" dirty="0" smtClean="0"/>
              <a:t>        sleep(3);     } }</a:t>
            </a:r>
            <a:endParaRPr lang="en-GB" sz="2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0"/>
            <a:ext cx="7772400" cy="6858000"/>
          </a:xfrm>
        </p:spPr>
        <p:txBody>
          <a:bodyPr>
            <a:noAutofit/>
          </a:bodyPr>
          <a:lstStyle/>
          <a:p>
            <a:pPr fontAlgn="base">
              <a:lnSpc>
                <a:spcPct val="150000"/>
              </a:lnSpc>
              <a:spcBef>
                <a:spcPts val="0"/>
              </a:spcBef>
            </a:pPr>
            <a:r>
              <a:rPr lang="en-GB" sz="2800" dirty="0" smtClean="0"/>
              <a:t>void </a:t>
            </a:r>
            <a:r>
              <a:rPr lang="en-GB" sz="2800" dirty="0" err="1" smtClean="0"/>
              <a:t>sighup</a:t>
            </a:r>
            <a:r>
              <a:rPr lang="en-GB" sz="2800" dirty="0" smtClean="0"/>
              <a:t>() </a:t>
            </a:r>
          </a:p>
          <a:p>
            <a:pPr fontAlgn="base">
              <a:lnSpc>
                <a:spcPct val="150000"/>
              </a:lnSpc>
              <a:spcBef>
                <a:spcPts val="0"/>
              </a:spcBef>
            </a:pPr>
            <a:r>
              <a:rPr lang="en-GB" sz="2800" dirty="0" smtClean="0"/>
              <a:t>{     signal(SIGHUP, </a:t>
            </a:r>
            <a:r>
              <a:rPr lang="en-GB" sz="2800" dirty="0" err="1" smtClean="0"/>
              <a:t>sighup</a:t>
            </a:r>
            <a:r>
              <a:rPr lang="en-GB" sz="2800" dirty="0" smtClean="0"/>
              <a:t>); /* reset signal */</a:t>
            </a:r>
          </a:p>
          <a:p>
            <a:pPr fontAlgn="base">
              <a:lnSpc>
                <a:spcPct val="150000"/>
              </a:lnSpc>
              <a:spcBef>
                <a:spcPts val="0"/>
              </a:spcBef>
            </a:pPr>
            <a:r>
              <a:rPr lang="en-GB" sz="2800" dirty="0" smtClean="0"/>
              <a:t>    </a:t>
            </a:r>
            <a:r>
              <a:rPr lang="en-GB" sz="2800" dirty="0" err="1" smtClean="0"/>
              <a:t>printf</a:t>
            </a:r>
            <a:r>
              <a:rPr lang="en-GB" sz="2800" dirty="0" smtClean="0"/>
              <a:t>("CHILD: I have received a SIGHUP\n");  } </a:t>
            </a:r>
          </a:p>
          <a:p>
            <a:pPr fontAlgn="base">
              <a:lnSpc>
                <a:spcPct val="150000"/>
              </a:lnSpc>
              <a:spcBef>
                <a:spcPts val="0"/>
              </a:spcBef>
            </a:pPr>
            <a:r>
              <a:rPr lang="en-GB" sz="2800" dirty="0" smtClean="0"/>
              <a:t>void </a:t>
            </a:r>
            <a:r>
              <a:rPr lang="en-GB" sz="2800" dirty="0" err="1" smtClean="0"/>
              <a:t>sigint</a:t>
            </a:r>
            <a:r>
              <a:rPr lang="en-GB" sz="2800" dirty="0" smtClean="0"/>
              <a:t>() </a:t>
            </a:r>
          </a:p>
          <a:p>
            <a:pPr fontAlgn="base">
              <a:lnSpc>
                <a:spcPct val="150000"/>
              </a:lnSpc>
              <a:spcBef>
                <a:spcPts val="0"/>
              </a:spcBef>
            </a:pPr>
            <a:r>
              <a:rPr lang="en-GB" sz="2800" dirty="0" smtClean="0"/>
              <a:t>  {     </a:t>
            </a:r>
          </a:p>
          <a:p>
            <a:pPr fontAlgn="base">
              <a:lnSpc>
                <a:spcPct val="150000"/>
              </a:lnSpc>
              <a:spcBef>
                <a:spcPts val="0"/>
              </a:spcBef>
            </a:pPr>
            <a:r>
              <a:rPr lang="en-GB" sz="2800" dirty="0" smtClean="0"/>
              <a:t>signal(SIGINT, </a:t>
            </a:r>
            <a:r>
              <a:rPr lang="en-GB" sz="2800" dirty="0" err="1" smtClean="0"/>
              <a:t>sigint</a:t>
            </a:r>
            <a:r>
              <a:rPr lang="en-GB" sz="2800" dirty="0" smtClean="0"/>
              <a:t>); /* reset signal */</a:t>
            </a:r>
          </a:p>
          <a:p>
            <a:pPr fontAlgn="base">
              <a:lnSpc>
                <a:spcPct val="150000"/>
              </a:lnSpc>
              <a:spcBef>
                <a:spcPts val="0"/>
              </a:spcBef>
            </a:pPr>
            <a:r>
              <a:rPr lang="en-GB" sz="2800" dirty="0" smtClean="0"/>
              <a:t>    </a:t>
            </a:r>
            <a:r>
              <a:rPr lang="en-GB" sz="2800" dirty="0" err="1" smtClean="0"/>
              <a:t>printf</a:t>
            </a:r>
            <a:r>
              <a:rPr lang="en-GB" sz="2800" dirty="0" smtClean="0"/>
              <a:t>("CHILD: I have received a SIGINT\n"); } </a:t>
            </a:r>
          </a:p>
          <a:p>
            <a:pPr fontAlgn="base">
              <a:lnSpc>
                <a:spcPct val="150000"/>
              </a:lnSpc>
              <a:spcBef>
                <a:spcPts val="0"/>
              </a:spcBef>
            </a:pPr>
            <a:r>
              <a:rPr lang="en-GB" sz="2800" dirty="0" smtClean="0"/>
              <a:t>void </a:t>
            </a:r>
            <a:r>
              <a:rPr lang="en-GB" sz="2800" dirty="0" err="1" smtClean="0"/>
              <a:t>sigquit</a:t>
            </a:r>
            <a:r>
              <a:rPr lang="en-GB" sz="2800" dirty="0" smtClean="0"/>
              <a:t>() </a:t>
            </a:r>
          </a:p>
          <a:p>
            <a:pPr fontAlgn="base">
              <a:lnSpc>
                <a:spcPct val="150000"/>
              </a:lnSpc>
              <a:spcBef>
                <a:spcPts val="0"/>
              </a:spcBef>
            </a:pPr>
            <a:r>
              <a:rPr lang="en-GB" sz="2800" dirty="0" smtClean="0"/>
              <a:t>{ </a:t>
            </a:r>
          </a:p>
          <a:p>
            <a:pPr fontAlgn="base">
              <a:lnSpc>
                <a:spcPct val="150000"/>
              </a:lnSpc>
              <a:spcBef>
                <a:spcPts val="0"/>
              </a:spcBef>
            </a:pPr>
            <a:r>
              <a:rPr lang="en-GB" sz="2800" dirty="0" smtClean="0"/>
              <a:t>    </a:t>
            </a:r>
            <a:r>
              <a:rPr lang="en-GB" sz="2800" dirty="0" err="1" smtClean="0"/>
              <a:t>printf</a:t>
            </a:r>
            <a:r>
              <a:rPr lang="en-GB" sz="2800" dirty="0" smtClean="0"/>
              <a:t>("My DADDY has Killed me!!!\n"); </a:t>
            </a:r>
          </a:p>
          <a:p>
            <a:pPr fontAlgn="base">
              <a:lnSpc>
                <a:spcPct val="150000"/>
              </a:lnSpc>
              <a:spcBef>
                <a:spcPts val="0"/>
              </a:spcBef>
            </a:pPr>
            <a:r>
              <a:rPr lang="en-GB" sz="2800" dirty="0" smtClean="0"/>
              <a:t>    exit(0);  }</a:t>
            </a:r>
            <a:endParaRPr lang="en-GB" sz="28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cdn-uploads/Screenshot-from-2018-08-01-18-31-03.png"/>
          <p:cNvPicPr>
            <a:picLocks noChangeAspect="1" noChangeArrowheads="1"/>
          </p:cNvPicPr>
          <p:nvPr/>
        </p:nvPicPr>
        <p:blipFill>
          <a:blip r:embed="rId2" cstate="print"/>
          <a:srcRect/>
          <a:stretch>
            <a:fillRect/>
          </a:stretch>
        </p:blipFill>
        <p:spPr bwMode="auto">
          <a:xfrm>
            <a:off x="1077553" y="685801"/>
            <a:ext cx="7893770" cy="5162548"/>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76201"/>
            <a:ext cx="8458200" cy="457199"/>
          </a:xfrm>
        </p:spPr>
        <p:txBody>
          <a:bodyPr>
            <a:normAutofit fontScale="90000"/>
          </a:bodyPr>
          <a:lstStyle/>
          <a:p>
            <a:r>
              <a:rPr lang="en-GB" sz="3600" dirty="0" smtClean="0"/>
              <a:t>Inter Process Communication (IPC)</a:t>
            </a:r>
          </a:p>
        </p:txBody>
      </p:sp>
      <p:sp>
        <p:nvSpPr>
          <p:cNvPr id="3" name="Subtitle 2"/>
          <p:cNvSpPr>
            <a:spLocks noGrp="1"/>
          </p:cNvSpPr>
          <p:nvPr>
            <p:ph type="subTitle" idx="1"/>
          </p:nvPr>
        </p:nvSpPr>
        <p:spPr>
          <a:xfrm>
            <a:off x="609600" y="609600"/>
            <a:ext cx="8534400" cy="5181600"/>
          </a:xfrm>
        </p:spPr>
        <p:txBody>
          <a:bodyPr>
            <a:noAutofit/>
          </a:bodyPr>
          <a:lstStyle/>
          <a:p>
            <a:pPr marL="514350" indent="-514350" algn="ctr">
              <a:lnSpc>
                <a:spcPct val="170000"/>
              </a:lnSpc>
              <a:spcBef>
                <a:spcPts val="0"/>
              </a:spcBef>
            </a:pPr>
            <a:r>
              <a:rPr lang="en-GB" sz="2800" dirty="0" smtClean="0"/>
              <a:t>A process can be of two type:</a:t>
            </a:r>
          </a:p>
          <a:p>
            <a:pPr marL="514350" indent="-514350" algn="l">
              <a:lnSpc>
                <a:spcPct val="170000"/>
              </a:lnSpc>
              <a:spcBef>
                <a:spcPts val="0"/>
              </a:spcBef>
              <a:buFont typeface="Wingdings" pitchFamily="2" charset="2"/>
              <a:buChar char="ü"/>
            </a:pPr>
            <a:r>
              <a:rPr lang="en-GB" sz="2800" dirty="0" smtClean="0"/>
              <a:t>Independent process.</a:t>
            </a:r>
          </a:p>
          <a:p>
            <a:pPr marL="514350" indent="-514350" algn="l">
              <a:lnSpc>
                <a:spcPct val="170000"/>
              </a:lnSpc>
              <a:spcBef>
                <a:spcPts val="0"/>
              </a:spcBef>
              <a:buFont typeface="Wingdings" pitchFamily="2" charset="2"/>
              <a:buChar char="ü"/>
            </a:pPr>
            <a:r>
              <a:rPr lang="en-GB" sz="2800" dirty="0" smtClean="0"/>
              <a:t>Co-operating process.</a:t>
            </a:r>
          </a:p>
          <a:p>
            <a:pPr marL="514350" indent="-514350" algn="l">
              <a:lnSpc>
                <a:spcPct val="170000"/>
              </a:lnSpc>
              <a:spcBef>
                <a:spcPts val="0"/>
              </a:spcBef>
              <a:buFont typeface="Wingdings" pitchFamily="2" charset="2"/>
              <a:buChar char="ü"/>
            </a:pPr>
            <a:r>
              <a:rPr lang="en-GB" sz="2800" dirty="0" smtClean="0"/>
              <a:t>An independent process is not affected by the execution of other processes while a co-operating process can be affected by other executing processes. </a:t>
            </a:r>
          </a:p>
          <a:p>
            <a:pPr marL="514350" indent="-514350" algn="l">
              <a:lnSpc>
                <a:spcPct val="170000"/>
              </a:lnSpc>
              <a:spcBef>
                <a:spcPts val="0"/>
              </a:spcBef>
              <a:buFont typeface="Wingdings" pitchFamily="2" charset="2"/>
              <a:buChar char="ü"/>
            </a:pPr>
            <a:r>
              <a:rPr lang="en-GB" sz="2800" dirty="0" smtClean="0"/>
              <a:t>Though one can think that those processes, which are running independently, will execute very efficiently</a:t>
            </a:r>
            <a:endParaRPr lang="en-GB" sz="28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228600"/>
            <a:ext cx="8686800" cy="6248400"/>
          </a:xfrm>
        </p:spPr>
        <p:txBody>
          <a:bodyPr>
            <a:noAutofit/>
          </a:bodyPr>
          <a:lstStyle/>
          <a:p>
            <a:pPr marL="514350" indent="-514350" algn="l">
              <a:lnSpc>
                <a:spcPct val="170000"/>
              </a:lnSpc>
              <a:spcBef>
                <a:spcPts val="0"/>
              </a:spcBef>
              <a:buFont typeface="Wingdings" pitchFamily="2" charset="2"/>
              <a:buChar char="ü"/>
            </a:pPr>
            <a:r>
              <a:rPr lang="en-GB" sz="2800" dirty="0" smtClean="0"/>
              <a:t>but in practical, there are many situations when co-operative nature can be utilised for increasing computational speed, convenience and modularity. </a:t>
            </a:r>
          </a:p>
          <a:p>
            <a:pPr marL="514350" indent="-514350" algn="l">
              <a:lnSpc>
                <a:spcPct val="170000"/>
              </a:lnSpc>
              <a:spcBef>
                <a:spcPts val="0"/>
              </a:spcBef>
              <a:buFont typeface="Wingdings" pitchFamily="2" charset="2"/>
              <a:buChar char="ü"/>
            </a:pPr>
            <a:r>
              <a:rPr lang="en-GB" sz="2800" dirty="0" smtClean="0"/>
              <a:t>Inter process communication (IPC) is a mechanism which allows processes to communicate each other and synchronize their actions. </a:t>
            </a:r>
          </a:p>
          <a:p>
            <a:pPr marL="514350" indent="-514350" algn="l">
              <a:lnSpc>
                <a:spcPct val="170000"/>
              </a:lnSpc>
              <a:spcBef>
                <a:spcPts val="0"/>
              </a:spcBef>
              <a:buFont typeface="Wingdings" pitchFamily="2" charset="2"/>
              <a:buChar char="ü"/>
            </a:pPr>
            <a:r>
              <a:rPr lang="en-GB" sz="2800" dirty="0" smtClean="0"/>
              <a:t>The communication between these processes can be seen as a method of co-operation between them. </a:t>
            </a:r>
            <a:endParaRPr lang="en-GB" sz="2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609600"/>
            <a:ext cx="8534400" cy="5181600"/>
          </a:xfrm>
        </p:spPr>
        <p:txBody>
          <a:bodyPr>
            <a:noAutofit/>
          </a:bodyPr>
          <a:lstStyle/>
          <a:p>
            <a:pPr marL="514350" indent="-514350" algn="l">
              <a:lnSpc>
                <a:spcPct val="170000"/>
              </a:lnSpc>
              <a:spcBef>
                <a:spcPts val="0"/>
              </a:spcBef>
              <a:buFont typeface="Wingdings" pitchFamily="2" charset="2"/>
              <a:buChar char="ü"/>
            </a:pPr>
            <a:r>
              <a:rPr lang="en-GB" sz="2800" dirty="0" smtClean="0"/>
              <a:t>Processes can communicate with each other using these two ways:</a:t>
            </a:r>
          </a:p>
          <a:p>
            <a:pPr marL="514350" indent="-514350" algn="l">
              <a:lnSpc>
                <a:spcPct val="170000"/>
              </a:lnSpc>
              <a:spcBef>
                <a:spcPts val="0"/>
              </a:spcBef>
              <a:buFont typeface="Wingdings" pitchFamily="2" charset="2"/>
              <a:buChar char="ü"/>
            </a:pPr>
            <a:r>
              <a:rPr lang="en-GB" sz="2800" dirty="0" smtClean="0"/>
              <a:t>Shared Memory</a:t>
            </a:r>
          </a:p>
          <a:p>
            <a:pPr marL="514350" indent="-514350">
              <a:lnSpc>
                <a:spcPct val="170000"/>
              </a:lnSpc>
              <a:spcBef>
                <a:spcPts val="0"/>
              </a:spcBef>
              <a:buFont typeface="Wingdings" pitchFamily="2" charset="2"/>
              <a:buChar char="ü"/>
            </a:pPr>
            <a:r>
              <a:rPr lang="en-GB" sz="2800" dirty="0" smtClean="0"/>
              <a:t>Message passing</a:t>
            </a:r>
          </a:p>
          <a:p>
            <a:pPr marL="514350" indent="-514350">
              <a:lnSpc>
                <a:spcPct val="170000"/>
              </a:lnSpc>
              <a:spcBef>
                <a:spcPts val="0"/>
              </a:spcBef>
              <a:buFont typeface="Wingdings" pitchFamily="2" charset="2"/>
              <a:buChar char="ü"/>
            </a:pPr>
            <a:r>
              <a:rPr lang="en-GB" sz="2800" dirty="0" smtClean="0"/>
              <a:t>The Figure  below shows a basic structure of communication between processes via shared memory method and via message passing.</a:t>
            </a:r>
          </a:p>
          <a:p>
            <a:pPr marL="514350" indent="-514350">
              <a:lnSpc>
                <a:spcPct val="170000"/>
              </a:lnSpc>
              <a:spcBef>
                <a:spcPts val="0"/>
              </a:spcBef>
              <a:buFont typeface="Wingdings" pitchFamily="2" charset="2"/>
              <a:buChar char="ü"/>
            </a:pPr>
            <a:endParaRPr lang="en-GB" sz="2800" dirty="0" smtClean="0"/>
          </a:p>
          <a:p>
            <a:pPr marL="514350" indent="-514350">
              <a:lnSpc>
                <a:spcPct val="170000"/>
              </a:lnSpc>
              <a:spcBef>
                <a:spcPts val="0"/>
              </a:spcBef>
              <a:buFont typeface="Wingdings" pitchFamily="2" charset="2"/>
              <a:buChar char="ü"/>
            </a:pPr>
            <a:endParaRPr lang="en-GB" sz="2800" dirty="0" smtClean="0"/>
          </a:p>
          <a:p>
            <a:pPr marL="514350" indent="-514350" algn="l">
              <a:lnSpc>
                <a:spcPct val="170000"/>
              </a:lnSpc>
              <a:spcBef>
                <a:spcPts val="0"/>
              </a:spcBef>
              <a:buFont typeface="Wingdings" pitchFamily="2" charset="2"/>
              <a:buChar char="ü"/>
            </a:pPr>
            <a:endParaRPr lang="en-GB" sz="2800" dirty="0" smtClean="0"/>
          </a:p>
          <a:p>
            <a:pPr marL="514350" indent="-514350" algn="l">
              <a:lnSpc>
                <a:spcPct val="170000"/>
              </a:lnSpc>
              <a:spcBef>
                <a:spcPts val="0"/>
              </a:spcBef>
              <a:buFont typeface="Wingdings" pitchFamily="2" charset="2"/>
              <a:buChar char="ü"/>
            </a:pPr>
            <a:endParaRPr lang="en-GB" sz="2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152400"/>
            <a:ext cx="8610600" cy="5638800"/>
          </a:xfrm>
        </p:spPr>
        <p:txBody>
          <a:bodyPr>
            <a:noAutofit/>
          </a:bodyPr>
          <a:lstStyle/>
          <a:p>
            <a:pPr marL="514350" indent="-514350">
              <a:lnSpc>
                <a:spcPct val="170000"/>
              </a:lnSpc>
              <a:spcBef>
                <a:spcPts val="0"/>
              </a:spcBef>
              <a:buFont typeface="Wingdings" pitchFamily="2" charset="2"/>
              <a:buChar char="ü"/>
            </a:pPr>
            <a:r>
              <a:rPr lang="en-GB" sz="2800" dirty="0" smtClean="0"/>
              <a:t>An OS can implement both method of communication. </a:t>
            </a:r>
          </a:p>
          <a:p>
            <a:pPr marL="514350" indent="-514350">
              <a:lnSpc>
                <a:spcPct val="170000"/>
              </a:lnSpc>
              <a:spcBef>
                <a:spcPts val="0"/>
              </a:spcBef>
              <a:buFont typeface="Wingdings" pitchFamily="2" charset="2"/>
              <a:buChar char="ü"/>
            </a:pPr>
            <a:r>
              <a:rPr lang="en-GB" sz="2800" dirty="0" smtClean="0"/>
              <a:t>Communication between processes using shared memory requires processes to share some variable and it completely depends on how programmer will implement it. </a:t>
            </a:r>
          </a:p>
          <a:p>
            <a:pPr marL="514350" indent="-514350">
              <a:lnSpc>
                <a:spcPct val="170000"/>
              </a:lnSpc>
              <a:spcBef>
                <a:spcPts val="0"/>
              </a:spcBef>
              <a:buFont typeface="Wingdings" pitchFamily="2" charset="2"/>
              <a:buChar char="ü"/>
            </a:pPr>
            <a:r>
              <a:rPr lang="en-GB" sz="2800" dirty="0" smtClean="0"/>
              <a:t>Processes can use shared memory for extracting information as a record from other process as well as for delivering any specific information to other process.</a:t>
            </a:r>
          </a:p>
          <a:p>
            <a:pPr marL="514350" indent="-514350" algn="l">
              <a:lnSpc>
                <a:spcPct val="170000"/>
              </a:lnSpc>
              <a:spcBef>
                <a:spcPts val="0"/>
              </a:spcBef>
              <a:buFont typeface="Wingdings" pitchFamily="2" charset="2"/>
              <a:buChar char="ü"/>
            </a:pPr>
            <a:endParaRPr lang="en-GB" sz="2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304801"/>
            <a:ext cx="8458200" cy="457199"/>
          </a:xfrm>
        </p:spPr>
        <p:txBody>
          <a:bodyPr>
            <a:normAutofit fontScale="90000"/>
          </a:bodyPr>
          <a:lstStyle/>
          <a:p>
            <a:r>
              <a:rPr lang="en-GB" sz="3600" dirty="0" smtClean="0"/>
              <a:t>Inter Process Communication (IPC)</a:t>
            </a:r>
          </a:p>
        </p:txBody>
      </p:sp>
      <p:pic>
        <p:nvPicPr>
          <p:cNvPr id="1026" name="Picture 2"/>
          <p:cNvPicPr>
            <a:picLocks noChangeAspect="1" noChangeArrowheads="1"/>
          </p:cNvPicPr>
          <p:nvPr/>
        </p:nvPicPr>
        <p:blipFill>
          <a:blip r:embed="rId2" cstate="print"/>
          <a:srcRect/>
          <a:stretch>
            <a:fillRect/>
          </a:stretch>
        </p:blipFill>
        <p:spPr bwMode="auto">
          <a:xfrm>
            <a:off x="1176086" y="1600200"/>
            <a:ext cx="7282114" cy="4114800"/>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1"/>
            <a:ext cx="8458200" cy="457199"/>
          </a:xfrm>
        </p:spPr>
        <p:txBody>
          <a:bodyPr>
            <a:normAutofit fontScale="90000"/>
          </a:bodyPr>
          <a:lstStyle/>
          <a:p>
            <a:pPr marL="514350" indent="-514350">
              <a:lnSpc>
                <a:spcPct val="170000"/>
              </a:lnSpc>
              <a:spcBef>
                <a:spcPts val="0"/>
              </a:spcBef>
            </a:pPr>
            <a:r>
              <a:rPr lang="en-GB" sz="3600" dirty="0" smtClean="0"/>
              <a:t>Ex: Producer-Consumer problem</a:t>
            </a:r>
          </a:p>
        </p:txBody>
      </p:sp>
      <p:sp>
        <p:nvSpPr>
          <p:cNvPr id="3" name="Subtitle 2"/>
          <p:cNvSpPr>
            <a:spLocks noGrp="1"/>
          </p:cNvSpPr>
          <p:nvPr>
            <p:ph type="subTitle" idx="1"/>
          </p:nvPr>
        </p:nvSpPr>
        <p:spPr>
          <a:xfrm>
            <a:off x="609600" y="1143000"/>
            <a:ext cx="8382000" cy="5181600"/>
          </a:xfrm>
        </p:spPr>
        <p:txBody>
          <a:bodyPr>
            <a:noAutofit/>
          </a:bodyPr>
          <a:lstStyle/>
          <a:p>
            <a:pPr marL="514350" indent="-514350">
              <a:lnSpc>
                <a:spcPct val="170000"/>
              </a:lnSpc>
              <a:spcBef>
                <a:spcPts val="0"/>
              </a:spcBef>
              <a:buFont typeface="Wingdings" pitchFamily="2" charset="2"/>
              <a:buChar char="ü"/>
            </a:pPr>
            <a:r>
              <a:rPr lang="en-GB" sz="2800" dirty="0" smtClean="0"/>
              <a:t>There are two processes: Producer and Consumer. Producer produces some item and Consumer consumes that item. </a:t>
            </a:r>
          </a:p>
          <a:p>
            <a:pPr marL="514350" indent="-514350">
              <a:lnSpc>
                <a:spcPct val="170000"/>
              </a:lnSpc>
              <a:spcBef>
                <a:spcPts val="0"/>
              </a:spcBef>
              <a:buFont typeface="Wingdings" pitchFamily="2" charset="2"/>
              <a:buChar char="ü"/>
            </a:pPr>
            <a:r>
              <a:rPr lang="en-GB" sz="2800" dirty="0" smtClean="0"/>
              <a:t>The two processes shares a common space or memory location known as buffer where the item produced by Producer is stored and from where the Consumer consumes the item if needed. </a:t>
            </a:r>
            <a:endParaRPr lang="en-GB" sz="2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304801"/>
            <a:ext cx="8458200" cy="457199"/>
          </a:xfrm>
        </p:spPr>
        <p:txBody>
          <a:bodyPr>
            <a:normAutofit fontScale="90000"/>
          </a:bodyPr>
          <a:lstStyle/>
          <a:p>
            <a:pPr marL="514350" indent="-514350">
              <a:lnSpc>
                <a:spcPct val="170000"/>
              </a:lnSpc>
              <a:spcBef>
                <a:spcPts val="0"/>
              </a:spcBef>
            </a:pPr>
            <a:r>
              <a:rPr lang="en-GB" sz="3600" dirty="0" smtClean="0"/>
              <a:t>Ex: Producer-Consumer problem</a:t>
            </a:r>
          </a:p>
        </p:txBody>
      </p:sp>
      <p:sp>
        <p:nvSpPr>
          <p:cNvPr id="3" name="Subtitle 2"/>
          <p:cNvSpPr>
            <a:spLocks noGrp="1"/>
          </p:cNvSpPr>
          <p:nvPr>
            <p:ph type="subTitle" idx="1"/>
          </p:nvPr>
        </p:nvSpPr>
        <p:spPr>
          <a:xfrm>
            <a:off x="685800" y="990600"/>
            <a:ext cx="8458200" cy="5181600"/>
          </a:xfrm>
        </p:spPr>
        <p:txBody>
          <a:bodyPr>
            <a:noAutofit/>
          </a:bodyPr>
          <a:lstStyle/>
          <a:p>
            <a:pPr marL="514350" indent="-514350">
              <a:lnSpc>
                <a:spcPct val="170000"/>
              </a:lnSpc>
              <a:spcBef>
                <a:spcPts val="0"/>
              </a:spcBef>
              <a:buFont typeface="Wingdings" pitchFamily="2" charset="2"/>
              <a:buChar char="ü"/>
            </a:pPr>
            <a:r>
              <a:rPr lang="en-GB" sz="2800" dirty="0" smtClean="0"/>
              <a:t>There are two version of this problem: first one is known as </a:t>
            </a:r>
            <a:r>
              <a:rPr lang="en-GB" sz="2800" b="1" i="1" dirty="0" smtClean="0"/>
              <a:t>unbounded</a:t>
            </a:r>
            <a:r>
              <a:rPr lang="en-GB" sz="2800" dirty="0" smtClean="0"/>
              <a:t> buffer problem in which Producer can keep on producing items and there is no limit on size of buffer, the second one is known as </a:t>
            </a:r>
            <a:r>
              <a:rPr lang="en-GB" sz="2800" b="1" i="1" dirty="0" smtClean="0"/>
              <a:t>bounded</a:t>
            </a:r>
            <a:r>
              <a:rPr lang="en-GB" sz="2800" dirty="0" smtClean="0"/>
              <a:t> buffer problem in which producer can produce up to a certain amount of item and after that it starts waiting for consumer to consume it.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28601"/>
            <a:ext cx="8458200" cy="457199"/>
          </a:xfrm>
        </p:spPr>
        <p:txBody>
          <a:bodyPr>
            <a:normAutofit fontScale="90000"/>
          </a:bodyPr>
          <a:lstStyle/>
          <a:p>
            <a:pPr marL="514350" indent="-514350">
              <a:lnSpc>
                <a:spcPct val="170000"/>
              </a:lnSpc>
              <a:spcBef>
                <a:spcPts val="0"/>
              </a:spcBef>
            </a:pPr>
            <a:r>
              <a:rPr lang="en-GB" sz="3600" dirty="0" smtClean="0"/>
              <a:t>The bounded buffer problem.</a:t>
            </a:r>
          </a:p>
        </p:txBody>
      </p:sp>
      <p:sp>
        <p:nvSpPr>
          <p:cNvPr id="3" name="Subtitle 2"/>
          <p:cNvSpPr>
            <a:spLocks noGrp="1"/>
          </p:cNvSpPr>
          <p:nvPr>
            <p:ph type="subTitle" idx="1"/>
          </p:nvPr>
        </p:nvSpPr>
        <p:spPr>
          <a:xfrm>
            <a:off x="685800" y="609600"/>
            <a:ext cx="8458200" cy="5181600"/>
          </a:xfrm>
        </p:spPr>
        <p:txBody>
          <a:bodyPr>
            <a:noAutofit/>
          </a:bodyPr>
          <a:lstStyle/>
          <a:p>
            <a:pPr marL="514350" indent="-514350">
              <a:lnSpc>
                <a:spcPct val="170000"/>
              </a:lnSpc>
              <a:spcBef>
                <a:spcPts val="0"/>
              </a:spcBef>
              <a:buFont typeface="Wingdings" pitchFamily="2" charset="2"/>
              <a:buChar char="ü"/>
            </a:pPr>
            <a:r>
              <a:rPr lang="en-GB" sz="2800" dirty="0" smtClean="0"/>
              <a:t>First, the Producer and the Consumer will share some common memory, then producer will start producing items. If the total produced item is equal to the size of buffer, producer will wait to get it consumed by the Consumer. Similarly, the consumer first check for the availability of the item and if no item is available, Consumer will wait for producer to produce it. If there are items available, consumer will consume it.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76200"/>
            <a:ext cx="7848600" cy="5181600"/>
          </a:xfrm>
        </p:spPr>
        <p:txBody>
          <a:bodyPr>
            <a:noAutofit/>
          </a:bodyPr>
          <a:lstStyle/>
          <a:p>
            <a:pPr marL="514350" indent="-514350">
              <a:lnSpc>
                <a:spcPct val="170000"/>
              </a:lnSpc>
              <a:spcBef>
                <a:spcPts val="0"/>
              </a:spcBef>
            </a:pPr>
            <a:r>
              <a:rPr lang="en-GB" sz="2800" dirty="0" smtClean="0"/>
              <a:t># define </a:t>
            </a:r>
            <a:r>
              <a:rPr lang="en-GB" sz="2800" dirty="0" err="1" smtClean="0"/>
              <a:t>buff_max</a:t>
            </a:r>
            <a:r>
              <a:rPr lang="en-GB" sz="2800" dirty="0" smtClean="0"/>
              <a:t> 25 </a:t>
            </a:r>
          </a:p>
          <a:p>
            <a:pPr marL="514350" indent="-514350">
              <a:lnSpc>
                <a:spcPct val="170000"/>
              </a:lnSpc>
              <a:spcBef>
                <a:spcPts val="0"/>
              </a:spcBef>
            </a:pPr>
            <a:r>
              <a:rPr lang="en-GB" sz="2800" dirty="0" smtClean="0"/>
              <a:t># define mod %   </a:t>
            </a:r>
          </a:p>
          <a:p>
            <a:pPr marL="514350" indent="-514350">
              <a:lnSpc>
                <a:spcPct val="170000"/>
              </a:lnSpc>
              <a:spcBef>
                <a:spcPts val="0"/>
              </a:spcBef>
            </a:pPr>
            <a:r>
              <a:rPr lang="en-GB" sz="2800" dirty="0" smtClean="0"/>
              <a:t>    </a:t>
            </a:r>
            <a:r>
              <a:rPr lang="en-GB" sz="2800" dirty="0" err="1" smtClean="0"/>
              <a:t>struct</a:t>
            </a:r>
            <a:r>
              <a:rPr lang="en-GB" sz="2800" dirty="0" smtClean="0"/>
              <a:t> item{   </a:t>
            </a:r>
          </a:p>
          <a:p>
            <a:pPr marL="514350" indent="-514350">
              <a:lnSpc>
                <a:spcPct val="170000"/>
              </a:lnSpc>
              <a:spcBef>
                <a:spcPts val="0"/>
              </a:spcBef>
            </a:pPr>
            <a:r>
              <a:rPr lang="en-GB" sz="2800" dirty="0" smtClean="0"/>
              <a:t>        // </a:t>
            </a:r>
            <a:r>
              <a:rPr lang="en-GB" sz="2800" dirty="0" err="1" smtClean="0"/>
              <a:t>diffrent</a:t>
            </a:r>
            <a:r>
              <a:rPr lang="en-GB" sz="2800" dirty="0" smtClean="0"/>
              <a:t> member of the produced data  </a:t>
            </a:r>
          </a:p>
          <a:p>
            <a:pPr marL="514350" indent="-514350">
              <a:lnSpc>
                <a:spcPct val="170000"/>
              </a:lnSpc>
              <a:spcBef>
                <a:spcPts val="0"/>
              </a:spcBef>
            </a:pPr>
            <a:r>
              <a:rPr lang="en-GB" sz="2800" dirty="0" smtClean="0"/>
              <a:t>        // or consumed data     </a:t>
            </a:r>
          </a:p>
          <a:p>
            <a:pPr marL="514350" indent="-514350">
              <a:lnSpc>
                <a:spcPct val="170000"/>
              </a:lnSpc>
              <a:spcBef>
                <a:spcPts val="0"/>
              </a:spcBef>
            </a:pPr>
            <a:r>
              <a:rPr lang="en-GB" sz="2800" dirty="0" smtClean="0"/>
              <a:t>        --------- </a:t>
            </a:r>
          </a:p>
          <a:p>
            <a:pPr marL="514350" indent="-514350">
              <a:lnSpc>
                <a:spcPct val="170000"/>
              </a:lnSpc>
              <a:spcBef>
                <a:spcPts val="0"/>
              </a:spcBef>
            </a:pPr>
            <a:r>
              <a:rPr lang="en-GB" sz="2800" dirty="0" smtClean="0"/>
              <a:t>    }       </a:t>
            </a:r>
          </a:p>
          <a:p>
            <a:pPr marL="514350" indent="-514350">
              <a:lnSpc>
                <a:spcPct val="170000"/>
              </a:lnSpc>
              <a:spcBef>
                <a:spcPts val="0"/>
              </a:spcBef>
            </a:pPr>
            <a:r>
              <a:rPr lang="en-GB" sz="2800" dirty="0" smtClean="0"/>
              <a:t>    // An array is needed for holding the items.   This is the shared place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76200"/>
            <a:ext cx="7620000" cy="5181600"/>
          </a:xfrm>
        </p:spPr>
        <p:txBody>
          <a:bodyPr>
            <a:noAutofit/>
          </a:bodyPr>
          <a:lstStyle/>
          <a:p>
            <a:pPr marL="514350" indent="-514350">
              <a:lnSpc>
                <a:spcPct val="170000"/>
              </a:lnSpc>
              <a:spcBef>
                <a:spcPts val="0"/>
              </a:spcBef>
            </a:pPr>
            <a:r>
              <a:rPr lang="en-GB" sz="2800" dirty="0" smtClean="0"/>
              <a:t>// item </a:t>
            </a:r>
            <a:r>
              <a:rPr lang="en-GB" sz="2800" dirty="0" err="1" smtClean="0"/>
              <a:t>shared_buff</a:t>
            </a:r>
            <a:r>
              <a:rPr lang="en-GB" sz="2800" dirty="0" smtClean="0"/>
              <a:t> [ </a:t>
            </a:r>
            <a:r>
              <a:rPr lang="en-GB" sz="2800" dirty="0" err="1" smtClean="0"/>
              <a:t>buff_max</a:t>
            </a:r>
            <a:r>
              <a:rPr lang="en-GB" sz="2800" dirty="0" smtClean="0"/>
              <a:t> ];        </a:t>
            </a:r>
          </a:p>
          <a:p>
            <a:pPr marL="514350" indent="-514350">
              <a:lnSpc>
                <a:spcPct val="170000"/>
              </a:lnSpc>
              <a:spcBef>
                <a:spcPts val="0"/>
              </a:spcBef>
            </a:pPr>
            <a:r>
              <a:rPr lang="en-GB" sz="2800" dirty="0" smtClean="0"/>
              <a:t>    // Two variables which will keep track of  the indexes of the items produced </a:t>
            </a:r>
          </a:p>
          <a:p>
            <a:pPr marL="514350" indent="-514350">
              <a:lnSpc>
                <a:spcPct val="170000"/>
              </a:lnSpc>
              <a:spcBef>
                <a:spcPts val="0"/>
              </a:spcBef>
            </a:pPr>
            <a:r>
              <a:rPr lang="en-GB" sz="2800" dirty="0" smtClean="0"/>
              <a:t>// The free index points to  the next free index. </a:t>
            </a:r>
          </a:p>
          <a:p>
            <a:pPr marL="514350" indent="-514350">
              <a:lnSpc>
                <a:spcPct val="170000"/>
              </a:lnSpc>
              <a:spcBef>
                <a:spcPts val="0"/>
              </a:spcBef>
            </a:pPr>
            <a:r>
              <a:rPr lang="en-GB" sz="2800" dirty="0" smtClean="0"/>
              <a:t>// The full index points to  the first full index.  </a:t>
            </a:r>
          </a:p>
          <a:p>
            <a:pPr marL="514350" indent="-514350">
              <a:lnSpc>
                <a:spcPct val="170000"/>
              </a:lnSpc>
              <a:spcBef>
                <a:spcPts val="0"/>
              </a:spcBef>
            </a:pPr>
            <a:r>
              <a:rPr lang="en-GB" sz="2800" dirty="0" smtClean="0"/>
              <a:t>    int </a:t>
            </a:r>
            <a:r>
              <a:rPr lang="en-GB" sz="2800" dirty="0" err="1" smtClean="0"/>
              <a:t>free_index</a:t>
            </a:r>
            <a:r>
              <a:rPr lang="en-GB" sz="2800" dirty="0" smtClean="0"/>
              <a:t> = 0; </a:t>
            </a:r>
          </a:p>
          <a:p>
            <a:pPr marL="514350" indent="-514350">
              <a:lnSpc>
                <a:spcPct val="170000"/>
              </a:lnSpc>
              <a:spcBef>
                <a:spcPts val="0"/>
              </a:spcBef>
            </a:pPr>
            <a:r>
              <a:rPr lang="en-GB" sz="2800" dirty="0" smtClean="0"/>
              <a:t>    int </a:t>
            </a:r>
            <a:r>
              <a:rPr lang="en-GB" sz="2800" dirty="0" err="1" smtClean="0"/>
              <a:t>full_index</a:t>
            </a:r>
            <a:r>
              <a:rPr lang="en-GB" sz="2800" dirty="0" smtClean="0"/>
              <a:t> = 0; </a:t>
            </a:r>
          </a:p>
          <a:p>
            <a:pPr marL="514350" indent="-514350">
              <a:lnSpc>
                <a:spcPct val="170000"/>
              </a:lnSpc>
              <a:spcBef>
                <a:spcPts val="0"/>
              </a:spcBef>
            </a:pPr>
            <a:r>
              <a:rPr lang="en-GB" sz="2800" dirty="0" smtClean="0"/>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76200"/>
            <a:ext cx="8153400" cy="6400800"/>
          </a:xfrm>
        </p:spPr>
        <p:txBody>
          <a:bodyPr>
            <a:noAutofit/>
          </a:bodyPr>
          <a:lstStyle/>
          <a:p>
            <a:pPr marL="514350" indent="-514350">
              <a:lnSpc>
                <a:spcPct val="170000"/>
              </a:lnSpc>
              <a:spcBef>
                <a:spcPts val="0"/>
              </a:spcBef>
            </a:pPr>
            <a:r>
              <a:rPr lang="en-GB" sz="2800" b="1" dirty="0" smtClean="0"/>
              <a:t>Producer Process Code</a:t>
            </a:r>
            <a:endParaRPr lang="en-GB" sz="2800" dirty="0" smtClean="0"/>
          </a:p>
          <a:p>
            <a:pPr marL="514350" indent="-514350">
              <a:lnSpc>
                <a:spcPct val="170000"/>
              </a:lnSpc>
              <a:spcBef>
                <a:spcPts val="0"/>
              </a:spcBef>
            </a:pPr>
            <a:r>
              <a:rPr lang="en-GB" sz="2800" dirty="0" smtClean="0"/>
              <a:t>item </a:t>
            </a:r>
            <a:r>
              <a:rPr lang="en-GB" sz="2800" dirty="0" err="1" smtClean="0"/>
              <a:t>nextProduced</a:t>
            </a:r>
            <a:r>
              <a:rPr lang="en-GB" sz="2800" dirty="0" smtClean="0"/>
              <a:t>; </a:t>
            </a:r>
          </a:p>
          <a:p>
            <a:pPr marL="514350" indent="-514350">
              <a:lnSpc>
                <a:spcPct val="170000"/>
              </a:lnSpc>
              <a:spcBef>
                <a:spcPts val="0"/>
              </a:spcBef>
            </a:pPr>
            <a:r>
              <a:rPr lang="en-GB" sz="2800" dirty="0" smtClean="0"/>
              <a:t>     while(1){  </a:t>
            </a:r>
          </a:p>
          <a:p>
            <a:pPr marL="514350" indent="-514350">
              <a:lnSpc>
                <a:spcPct val="170000"/>
              </a:lnSpc>
              <a:spcBef>
                <a:spcPts val="0"/>
              </a:spcBef>
            </a:pPr>
            <a:r>
              <a:rPr lang="en-GB" sz="2800" dirty="0" smtClean="0"/>
              <a:t>     // check if there is no space  for production. </a:t>
            </a:r>
          </a:p>
          <a:p>
            <a:pPr marL="514350" indent="-514350">
              <a:lnSpc>
                <a:spcPct val="170000"/>
              </a:lnSpc>
              <a:spcBef>
                <a:spcPts val="0"/>
              </a:spcBef>
            </a:pPr>
            <a:r>
              <a:rPr lang="en-GB" sz="2800" dirty="0" smtClean="0"/>
              <a:t>        // if so keep waiting. </a:t>
            </a:r>
          </a:p>
          <a:p>
            <a:pPr marL="514350" indent="-514350">
              <a:lnSpc>
                <a:spcPct val="170000"/>
              </a:lnSpc>
              <a:spcBef>
                <a:spcPts val="0"/>
              </a:spcBef>
            </a:pPr>
            <a:r>
              <a:rPr lang="en-GB" sz="2800" dirty="0" smtClean="0"/>
              <a:t>        while((free_index+1) mod </a:t>
            </a:r>
            <a:r>
              <a:rPr lang="en-GB" sz="2800" dirty="0" err="1" smtClean="0"/>
              <a:t>buff_max</a:t>
            </a:r>
            <a:r>
              <a:rPr lang="en-GB" sz="2800" dirty="0" smtClean="0"/>
              <a:t> == </a:t>
            </a:r>
            <a:r>
              <a:rPr lang="en-GB" sz="2800" dirty="0" err="1" smtClean="0"/>
              <a:t>full_index</a:t>
            </a:r>
            <a:r>
              <a:rPr lang="en-GB" sz="2800" dirty="0" smtClean="0"/>
              <a:t>);           </a:t>
            </a:r>
          </a:p>
          <a:p>
            <a:pPr marL="514350" indent="-514350">
              <a:lnSpc>
                <a:spcPct val="170000"/>
              </a:lnSpc>
              <a:spcBef>
                <a:spcPts val="0"/>
              </a:spcBef>
            </a:pPr>
            <a:r>
              <a:rPr lang="en-GB" sz="2800" dirty="0" smtClean="0"/>
              <a:t>        </a:t>
            </a:r>
            <a:r>
              <a:rPr lang="en-GB" sz="2800" dirty="0" err="1" smtClean="0"/>
              <a:t>shared_buff</a:t>
            </a:r>
            <a:r>
              <a:rPr lang="en-GB" sz="2800" dirty="0" smtClean="0"/>
              <a:t>[</a:t>
            </a:r>
            <a:r>
              <a:rPr lang="en-GB" sz="2800" dirty="0" err="1" smtClean="0"/>
              <a:t>free_index</a:t>
            </a:r>
            <a:r>
              <a:rPr lang="en-GB" sz="2800" dirty="0" smtClean="0"/>
              <a:t>] = </a:t>
            </a:r>
            <a:r>
              <a:rPr lang="en-GB" sz="2800" dirty="0" err="1" smtClean="0"/>
              <a:t>nextProduced</a:t>
            </a:r>
            <a:r>
              <a:rPr lang="en-GB" sz="2800" dirty="0" smtClean="0"/>
              <a:t>; </a:t>
            </a:r>
          </a:p>
          <a:p>
            <a:pPr marL="514350" indent="-514350">
              <a:lnSpc>
                <a:spcPct val="170000"/>
              </a:lnSpc>
              <a:spcBef>
                <a:spcPts val="0"/>
              </a:spcBef>
            </a:pPr>
            <a:r>
              <a:rPr lang="en-GB" sz="2800" dirty="0" smtClean="0"/>
              <a:t>        </a:t>
            </a:r>
            <a:r>
              <a:rPr lang="en-GB" sz="2800" dirty="0" err="1" smtClean="0"/>
              <a:t>free_index</a:t>
            </a:r>
            <a:r>
              <a:rPr lang="en-GB" sz="2800" dirty="0" smtClean="0"/>
              <a:t> = (</a:t>
            </a:r>
            <a:r>
              <a:rPr lang="en-GB" sz="2800" dirty="0" err="1" smtClean="0"/>
              <a:t>free_index</a:t>
            </a:r>
            <a:r>
              <a:rPr lang="en-GB" sz="2800" dirty="0" smtClean="0"/>
              <a:t> + 1) mod </a:t>
            </a:r>
            <a:r>
              <a:rPr lang="en-GB" sz="2800" dirty="0" err="1" smtClean="0"/>
              <a:t>buff_max</a:t>
            </a:r>
            <a:r>
              <a:rPr lang="en-GB" sz="2800" dirty="0" smtClean="0"/>
              <a:t>; </a:t>
            </a:r>
          </a:p>
          <a:p>
            <a:pPr marL="514350" indent="-514350">
              <a:lnSpc>
                <a:spcPct val="170000"/>
              </a:lnSpc>
              <a:spcBef>
                <a:spcPts val="0"/>
              </a:spcBef>
            </a:pPr>
            <a:r>
              <a:rPr lang="en-GB" sz="2800" dirty="0" smtClean="0"/>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76200"/>
            <a:ext cx="8153400" cy="6400800"/>
          </a:xfrm>
        </p:spPr>
        <p:txBody>
          <a:bodyPr>
            <a:noAutofit/>
          </a:bodyPr>
          <a:lstStyle/>
          <a:p>
            <a:pPr marL="514350" indent="-514350">
              <a:lnSpc>
                <a:spcPct val="170000"/>
              </a:lnSpc>
              <a:spcBef>
                <a:spcPts val="0"/>
              </a:spcBef>
            </a:pPr>
            <a:r>
              <a:rPr lang="en-GB" sz="2800" b="1" dirty="0" smtClean="0"/>
              <a:t>Consumer Process Code</a:t>
            </a:r>
            <a:endParaRPr lang="en-GB" sz="2800" dirty="0" smtClean="0"/>
          </a:p>
          <a:p>
            <a:pPr marL="514350" indent="-514350">
              <a:lnSpc>
                <a:spcPct val="170000"/>
              </a:lnSpc>
              <a:spcBef>
                <a:spcPts val="0"/>
              </a:spcBef>
            </a:pPr>
            <a:r>
              <a:rPr lang="en-GB" sz="2800" dirty="0" smtClean="0"/>
              <a:t>item </a:t>
            </a:r>
            <a:r>
              <a:rPr lang="en-GB" sz="2800" dirty="0" err="1" smtClean="0"/>
              <a:t>nextConsumed</a:t>
            </a:r>
            <a:r>
              <a:rPr lang="en-GB" sz="2800" dirty="0" smtClean="0"/>
              <a:t>;</a:t>
            </a:r>
          </a:p>
          <a:p>
            <a:pPr marL="514350" indent="-514350">
              <a:lnSpc>
                <a:spcPct val="170000"/>
              </a:lnSpc>
              <a:spcBef>
                <a:spcPts val="0"/>
              </a:spcBef>
            </a:pPr>
            <a:r>
              <a:rPr lang="en-GB" sz="2800" dirty="0" smtClean="0"/>
              <a:t>    while(1){ </a:t>
            </a:r>
          </a:p>
          <a:p>
            <a:pPr marL="514350" indent="-514350">
              <a:lnSpc>
                <a:spcPct val="170000"/>
              </a:lnSpc>
              <a:spcBef>
                <a:spcPts val="0"/>
              </a:spcBef>
            </a:pPr>
            <a:r>
              <a:rPr lang="en-GB" sz="2800" dirty="0" smtClean="0"/>
              <a:t>   // check if there is an available item  for consumption.     // if not keep on waiting for  get them produced. </a:t>
            </a:r>
          </a:p>
          <a:p>
            <a:pPr marL="514350" indent="-514350">
              <a:lnSpc>
                <a:spcPct val="170000"/>
              </a:lnSpc>
              <a:spcBef>
                <a:spcPts val="0"/>
              </a:spcBef>
            </a:pPr>
            <a:r>
              <a:rPr lang="en-GB" sz="2800" dirty="0" smtClean="0"/>
              <a:t>        while((</a:t>
            </a:r>
            <a:r>
              <a:rPr lang="en-GB" sz="2800" dirty="0" err="1" smtClean="0"/>
              <a:t>free_index</a:t>
            </a:r>
            <a:r>
              <a:rPr lang="en-GB" sz="2800" dirty="0" smtClean="0"/>
              <a:t> == </a:t>
            </a:r>
            <a:r>
              <a:rPr lang="en-GB" sz="2800" dirty="0" err="1" smtClean="0"/>
              <a:t>full_index</a:t>
            </a:r>
            <a:r>
              <a:rPr lang="en-GB" sz="2800" dirty="0" smtClean="0"/>
              <a:t>); </a:t>
            </a:r>
          </a:p>
          <a:p>
            <a:pPr marL="514350" indent="-514350">
              <a:lnSpc>
                <a:spcPct val="170000"/>
              </a:lnSpc>
              <a:spcBef>
                <a:spcPts val="0"/>
              </a:spcBef>
            </a:pPr>
            <a:r>
              <a:rPr lang="en-GB" sz="2800" dirty="0" smtClean="0"/>
              <a:t>          </a:t>
            </a:r>
            <a:r>
              <a:rPr lang="en-GB" sz="2800" dirty="0" err="1" smtClean="0"/>
              <a:t>nextConsumed</a:t>
            </a:r>
            <a:r>
              <a:rPr lang="en-GB" sz="2800" dirty="0" smtClean="0"/>
              <a:t> = </a:t>
            </a:r>
            <a:r>
              <a:rPr lang="en-GB" sz="2800" dirty="0" err="1" smtClean="0"/>
              <a:t>shared_buff</a:t>
            </a:r>
            <a:r>
              <a:rPr lang="en-GB" sz="2800" dirty="0" smtClean="0"/>
              <a:t>[</a:t>
            </a:r>
            <a:r>
              <a:rPr lang="en-GB" sz="2800" dirty="0" err="1" smtClean="0"/>
              <a:t>full_index</a:t>
            </a:r>
            <a:r>
              <a:rPr lang="en-GB" sz="2800" dirty="0" smtClean="0"/>
              <a:t>]; </a:t>
            </a:r>
          </a:p>
          <a:p>
            <a:pPr marL="514350" indent="-514350">
              <a:lnSpc>
                <a:spcPct val="170000"/>
              </a:lnSpc>
              <a:spcBef>
                <a:spcPts val="0"/>
              </a:spcBef>
            </a:pPr>
            <a:r>
              <a:rPr lang="en-GB" sz="2800" dirty="0" smtClean="0"/>
              <a:t>        </a:t>
            </a:r>
            <a:r>
              <a:rPr lang="en-GB" sz="2800" dirty="0" err="1" smtClean="0"/>
              <a:t>full_index</a:t>
            </a:r>
            <a:r>
              <a:rPr lang="en-GB" sz="2800" dirty="0" smtClean="0"/>
              <a:t> = (</a:t>
            </a:r>
            <a:r>
              <a:rPr lang="en-GB" sz="2800" dirty="0" err="1" smtClean="0"/>
              <a:t>full_index</a:t>
            </a:r>
            <a:r>
              <a:rPr lang="en-GB" sz="2800" dirty="0" smtClean="0"/>
              <a:t> + 1) mod </a:t>
            </a:r>
            <a:r>
              <a:rPr lang="en-GB" sz="2800" dirty="0" err="1" smtClean="0"/>
              <a:t>buff_max</a:t>
            </a:r>
            <a:r>
              <a:rPr lang="en-GB" sz="2800" dirty="0" smtClean="0"/>
              <a:t>; </a:t>
            </a:r>
          </a:p>
          <a:p>
            <a:pPr marL="514350" indent="-514350">
              <a:lnSpc>
                <a:spcPct val="170000"/>
              </a:lnSpc>
              <a:spcBef>
                <a:spcPts val="0"/>
              </a:spcBef>
            </a:pPr>
            <a:r>
              <a:rPr lang="en-GB" sz="2800" dirty="0" smtClean="0"/>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76200"/>
            <a:ext cx="8153400" cy="6400800"/>
          </a:xfrm>
        </p:spPr>
        <p:txBody>
          <a:bodyPr>
            <a:noAutofit/>
          </a:bodyPr>
          <a:lstStyle/>
          <a:p>
            <a:pPr marL="514350" indent="-514350">
              <a:lnSpc>
                <a:spcPct val="170000"/>
              </a:lnSpc>
              <a:spcBef>
                <a:spcPts val="0"/>
              </a:spcBef>
              <a:buFont typeface="Wingdings" pitchFamily="2" charset="2"/>
              <a:buChar char="Ø"/>
            </a:pPr>
            <a:r>
              <a:rPr lang="en-GB" sz="2800" dirty="0" smtClean="0"/>
              <a:t>In the above code, The producer will start producing again when the (free_index+1) mod buff max will be free because if it </a:t>
            </a:r>
            <a:r>
              <a:rPr lang="en-GB" sz="2800" dirty="0" err="1" smtClean="0"/>
              <a:t>it</a:t>
            </a:r>
            <a:r>
              <a:rPr lang="en-GB" sz="2800" dirty="0" smtClean="0"/>
              <a:t> not free, this implies that there are still items that can be consumed by the Consumer so there is no need to produce more. </a:t>
            </a:r>
          </a:p>
          <a:p>
            <a:pPr marL="514350" indent="-514350">
              <a:lnSpc>
                <a:spcPct val="170000"/>
              </a:lnSpc>
              <a:spcBef>
                <a:spcPts val="0"/>
              </a:spcBef>
              <a:buFont typeface="Wingdings" pitchFamily="2" charset="2"/>
              <a:buChar char="Ø"/>
            </a:pPr>
            <a:r>
              <a:rPr lang="en-GB" sz="2800" dirty="0" smtClean="0"/>
              <a:t>Similarly, if free index and full index points to the same index, this implies that there are no item to consume.</a:t>
            </a:r>
          </a:p>
          <a:p>
            <a:pPr marL="514350" indent="-514350">
              <a:lnSpc>
                <a:spcPct val="170000"/>
              </a:lnSpc>
              <a:spcBef>
                <a:spcPts val="0"/>
              </a:spcBef>
            </a:pPr>
            <a:endParaRPr lang="en-GB" sz="2800" dirty="0" smtClean="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76201"/>
            <a:ext cx="8458200" cy="457199"/>
          </a:xfrm>
        </p:spPr>
        <p:txBody>
          <a:bodyPr>
            <a:normAutofit fontScale="90000"/>
          </a:bodyPr>
          <a:lstStyle/>
          <a:p>
            <a:pPr marL="514350" indent="-514350">
              <a:lnSpc>
                <a:spcPct val="170000"/>
              </a:lnSpc>
              <a:spcBef>
                <a:spcPts val="0"/>
              </a:spcBef>
            </a:pPr>
            <a:r>
              <a:rPr lang="en-GB" sz="3600" dirty="0" smtClean="0"/>
              <a:t>Messaging Passing Method</a:t>
            </a:r>
          </a:p>
        </p:txBody>
      </p:sp>
      <p:sp>
        <p:nvSpPr>
          <p:cNvPr id="3" name="Subtitle 2"/>
          <p:cNvSpPr>
            <a:spLocks noGrp="1"/>
          </p:cNvSpPr>
          <p:nvPr>
            <p:ph type="subTitle" idx="1"/>
          </p:nvPr>
        </p:nvSpPr>
        <p:spPr>
          <a:xfrm>
            <a:off x="533400" y="533400"/>
            <a:ext cx="8610600" cy="5181600"/>
          </a:xfrm>
        </p:spPr>
        <p:txBody>
          <a:bodyPr>
            <a:noAutofit/>
          </a:bodyPr>
          <a:lstStyle/>
          <a:p>
            <a:pPr marL="514350" indent="-514350">
              <a:lnSpc>
                <a:spcPct val="170000"/>
              </a:lnSpc>
              <a:spcBef>
                <a:spcPts val="0"/>
              </a:spcBef>
              <a:buFont typeface="Wingdings" pitchFamily="2" charset="2"/>
              <a:buChar char="ü"/>
            </a:pPr>
            <a:r>
              <a:rPr lang="en-GB" sz="2800" dirty="0" smtClean="0"/>
              <a:t>processes communicate without using shared memory. </a:t>
            </a:r>
          </a:p>
          <a:p>
            <a:pPr marL="514350" indent="-514350">
              <a:lnSpc>
                <a:spcPct val="170000"/>
              </a:lnSpc>
              <a:spcBef>
                <a:spcPts val="0"/>
              </a:spcBef>
              <a:buFont typeface="Wingdings" pitchFamily="2" charset="2"/>
              <a:buChar char="ü"/>
            </a:pPr>
            <a:r>
              <a:rPr lang="en-GB" sz="2800" dirty="0" smtClean="0"/>
              <a:t>If two processes p1 and p2 want to communicate with each other, they proceed as follow:</a:t>
            </a:r>
          </a:p>
          <a:p>
            <a:pPr marL="514350" indent="-514350">
              <a:lnSpc>
                <a:spcPct val="170000"/>
              </a:lnSpc>
              <a:spcBef>
                <a:spcPts val="0"/>
              </a:spcBef>
              <a:buFont typeface="Wingdings" pitchFamily="2" charset="2"/>
              <a:buChar char="ü"/>
            </a:pPr>
            <a:r>
              <a:rPr lang="en-GB" sz="2800" dirty="0" smtClean="0"/>
              <a:t>Establish a communication link</a:t>
            </a:r>
          </a:p>
          <a:p>
            <a:pPr marL="514350" indent="-514350">
              <a:lnSpc>
                <a:spcPct val="170000"/>
              </a:lnSpc>
              <a:spcBef>
                <a:spcPts val="0"/>
              </a:spcBef>
              <a:buFont typeface="Wingdings" pitchFamily="2" charset="2"/>
              <a:buChar char="ü"/>
            </a:pPr>
            <a:r>
              <a:rPr lang="en-GB" sz="2800" dirty="0" smtClean="0"/>
              <a:t>Start exchanging messages using basic primitives.</a:t>
            </a:r>
          </a:p>
          <a:p>
            <a:pPr marL="514350" indent="-514350">
              <a:lnSpc>
                <a:spcPct val="170000"/>
              </a:lnSpc>
              <a:spcBef>
                <a:spcPts val="0"/>
              </a:spcBef>
              <a:buFont typeface="Wingdings" pitchFamily="2" charset="2"/>
              <a:buChar char="ü"/>
            </a:pPr>
            <a:r>
              <a:rPr lang="en-GB" sz="2800" dirty="0" smtClean="0"/>
              <a:t>We need at least two primitives:</a:t>
            </a:r>
          </a:p>
          <a:p>
            <a:pPr marL="514350" indent="-514350">
              <a:lnSpc>
                <a:spcPct val="170000"/>
              </a:lnSpc>
              <a:spcBef>
                <a:spcPts val="0"/>
              </a:spcBef>
              <a:buFont typeface="Wingdings" pitchFamily="2" charset="2"/>
              <a:buChar char="ü"/>
            </a:pPr>
            <a:r>
              <a:rPr lang="en-GB" sz="2800" dirty="0" smtClean="0"/>
              <a:t>– send(message, </a:t>
            </a:r>
            <a:r>
              <a:rPr lang="en-GB" sz="2800" dirty="0" err="1" smtClean="0"/>
              <a:t>destinaion</a:t>
            </a:r>
            <a:r>
              <a:rPr lang="en-GB" sz="2800" dirty="0" smtClean="0"/>
              <a:t>) or send(message)</a:t>
            </a:r>
          </a:p>
          <a:p>
            <a:pPr marL="514350" indent="-514350">
              <a:lnSpc>
                <a:spcPct val="170000"/>
              </a:lnSpc>
              <a:spcBef>
                <a:spcPts val="0"/>
              </a:spcBef>
              <a:buFont typeface="Wingdings" pitchFamily="2" charset="2"/>
              <a:buChar char="ü"/>
            </a:pPr>
            <a:r>
              <a:rPr lang="en-GB" sz="2800" dirty="0" smtClean="0"/>
              <a:t>– receive(message, host) or receive(message)</a:t>
            </a:r>
          </a:p>
          <a:p>
            <a:pPr marL="514350" indent="-514350">
              <a:lnSpc>
                <a:spcPct val="170000"/>
              </a:lnSpc>
              <a:spcBef>
                <a:spcPts val="0"/>
              </a:spcBef>
            </a:pPr>
            <a:endParaRPr lang="en-GB" sz="2800" dirty="0" smtClean="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76201"/>
            <a:ext cx="8458200" cy="457199"/>
          </a:xfrm>
        </p:spPr>
        <p:txBody>
          <a:bodyPr>
            <a:normAutofit fontScale="90000"/>
          </a:bodyPr>
          <a:lstStyle/>
          <a:p>
            <a:pPr marL="514350" indent="-514350">
              <a:lnSpc>
                <a:spcPct val="170000"/>
              </a:lnSpc>
              <a:spcBef>
                <a:spcPts val="0"/>
              </a:spcBef>
            </a:pPr>
            <a:r>
              <a:rPr lang="en-GB" sz="3600" dirty="0" smtClean="0"/>
              <a:t>Messaging Passing Method</a:t>
            </a:r>
          </a:p>
        </p:txBody>
      </p:sp>
      <p:pic>
        <p:nvPicPr>
          <p:cNvPr id="2050" name="Picture 2"/>
          <p:cNvPicPr>
            <a:picLocks noChangeAspect="1" noChangeArrowheads="1"/>
          </p:cNvPicPr>
          <p:nvPr/>
        </p:nvPicPr>
        <p:blipFill>
          <a:blip r:embed="rId3" cstate="print"/>
          <a:srcRect/>
          <a:stretch>
            <a:fillRect/>
          </a:stretch>
        </p:blipFill>
        <p:spPr bwMode="auto">
          <a:xfrm>
            <a:off x="1495450" y="1143001"/>
            <a:ext cx="6810350" cy="4570412"/>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400" y="304800"/>
            <a:ext cx="8077200" cy="5486400"/>
          </a:xfrm>
        </p:spPr>
        <p:txBody>
          <a:bodyPr>
            <a:noAutofit/>
          </a:bodyPr>
          <a:lstStyle/>
          <a:p>
            <a:pPr marL="514350" indent="-514350">
              <a:lnSpc>
                <a:spcPct val="170000"/>
              </a:lnSpc>
              <a:spcBef>
                <a:spcPts val="0"/>
              </a:spcBef>
              <a:buFont typeface="Wingdings" pitchFamily="2" charset="2"/>
              <a:buChar char="ü"/>
            </a:pPr>
            <a:r>
              <a:rPr lang="en-GB" sz="2800" dirty="0" smtClean="0"/>
              <a:t>The message size can be of fixed size or of variable size. </a:t>
            </a:r>
          </a:p>
          <a:p>
            <a:pPr marL="514350" indent="-514350">
              <a:lnSpc>
                <a:spcPct val="170000"/>
              </a:lnSpc>
              <a:spcBef>
                <a:spcPts val="0"/>
              </a:spcBef>
              <a:buFont typeface="Wingdings" pitchFamily="2" charset="2"/>
              <a:buChar char="ü"/>
            </a:pPr>
            <a:r>
              <a:rPr lang="en-GB" sz="2800" dirty="0" smtClean="0"/>
              <a:t>If it is of fixed size, it is easy for OS designer but complicated for programmer and if it is of variable size then it is easy for programmer but complicated for the OS designer. </a:t>
            </a:r>
          </a:p>
          <a:p>
            <a:pPr marL="514350" indent="-514350">
              <a:lnSpc>
                <a:spcPct val="170000"/>
              </a:lnSpc>
              <a:spcBef>
                <a:spcPts val="0"/>
              </a:spcBef>
              <a:buFont typeface="Wingdings" pitchFamily="2" charset="2"/>
              <a:buChar char="ü"/>
            </a:pPr>
            <a:r>
              <a:rPr lang="en-GB" sz="2800" b="1" dirty="0" smtClean="0"/>
              <a:t>A standard message can have two parts: header and body.</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228600"/>
            <a:ext cx="7848600" cy="5562600"/>
          </a:xfrm>
        </p:spPr>
        <p:txBody>
          <a:bodyPr>
            <a:noAutofit/>
          </a:bodyPr>
          <a:lstStyle/>
          <a:p>
            <a:pPr marL="514350" indent="-514350">
              <a:lnSpc>
                <a:spcPct val="170000"/>
              </a:lnSpc>
              <a:spcBef>
                <a:spcPts val="0"/>
              </a:spcBef>
              <a:buFont typeface="Wingdings" pitchFamily="2" charset="2"/>
              <a:buChar char="ü"/>
            </a:pPr>
            <a:r>
              <a:rPr lang="en-GB" sz="2800" dirty="0" smtClean="0"/>
              <a:t>The header part is used for storing Message type, destination id, source id, message length and control information. </a:t>
            </a:r>
          </a:p>
          <a:p>
            <a:pPr marL="514350" indent="-514350">
              <a:lnSpc>
                <a:spcPct val="170000"/>
              </a:lnSpc>
              <a:spcBef>
                <a:spcPts val="0"/>
              </a:spcBef>
              <a:buFont typeface="Wingdings" pitchFamily="2" charset="2"/>
              <a:buChar char="ü"/>
            </a:pPr>
            <a:r>
              <a:rPr lang="en-GB" sz="2800" dirty="0" smtClean="0"/>
              <a:t>The control information contains information like what to do if runs out of buffer space, sequence number, priority. </a:t>
            </a:r>
          </a:p>
          <a:p>
            <a:pPr marL="514350" indent="-514350">
              <a:lnSpc>
                <a:spcPct val="170000"/>
              </a:lnSpc>
              <a:spcBef>
                <a:spcPts val="0"/>
              </a:spcBef>
              <a:buFont typeface="Wingdings" pitchFamily="2" charset="2"/>
              <a:buChar char="ü"/>
            </a:pPr>
            <a:r>
              <a:rPr lang="en-GB" sz="2800" b="1" dirty="0" smtClean="0"/>
              <a:t>Generally, message is sent using FIFO style.</a:t>
            </a:r>
          </a:p>
          <a:p>
            <a:pPr marL="514350" indent="-514350">
              <a:lnSpc>
                <a:spcPct val="170000"/>
              </a:lnSpc>
              <a:spcBef>
                <a:spcPts val="0"/>
              </a:spcBef>
              <a:buFont typeface="Wingdings" pitchFamily="2" charset="2"/>
              <a:buChar char="ü"/>
            </a:pPr>
            <a:endParaRPr lang="en-GB" sz="2800" dirty="0" smtClean="0"/>
          </a:p>
          <a:p>
            <a:pPr marL="514350" indent="-514350">
              <a:lnSpc>
                <a:spcPct val="170000"/>
              </a:lnSpc>
              <a:spcBef>
                <a:spcPts val="0"/>
              </a:spcBef>
              <a:buFont typeface="Wingdings" pitchFamily="2" charset="2"/>
              <a:buChar char="ü"/>
            </a:pPr>
            <a:endParaRPr lang="en-GB" sz="2800" dirty="0" smtClean="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445</TotalTime>
  <Words>4782</Words>
  <Application>Microsoft Office PowerPoint</Application>
  <PresentationFormat>On-screen Show (4:3)</PresentationFormat>
  <Paragraphs>713</Paragraphs>
  <Slides>96</Slides>
  <Notes>6</Notes>
  <HiddenSlides>0</HiddenSlides>
  <MMClips>0</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Solstice</vt:lpstr>
      <vt:lpstr>INTERPROCESS COMMUNICATION </vt:lpstr>
      <vt:lpstr>fork() in C</vt:lpstr>
      <vt:lpstr>Slide 3</vt:lpstr>
      <vt:lpstr>fork() in C</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UNIX Process Control</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Inter Process Communication (IPC)</vt:lpstr>
      <vt:lpstr>Slide 81</vt:lpstr>
      <vt:lpstr>Slide 82</vt:lpstr>
      <vt:lpstr>Slide 83</vt:lpstr>
      <vt:lpstr>Inter Process Communication (IPC)</vt:lpstr>
      <vt:lpstr>Ex: Producer-Consumer problem</vt:lpstr>
      <vt:lpstr>Ex: Producer-Consumer problem</vt:lpstr>
      <vt:lpstr>The bounded buffer problem.</vt:lpstr>
      <vt:lpstr>Slide 88</vt:lpstr>
      <vt:lpstr>Slide 89</vt:lpstr>
      <vt:lpstr>Slide 90</vt:lpstr>
      <vt:lpstr>Slide 91</vt:lpstr>
      <vt:lpstr>Slide 92</vt:lpstr>
      <vt:lpstr>Messaging Passing Method</vt:lpstr>
      <vt:lpstr>Messaging Passing Method</vt:lpstr>
      <vt:lpstr>Slide 95</vt:lpstr>
      <vt:lpstr>Slide 96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 Process Communication (IPC)</dc:title>
  <dc:creator>Admin</dc:creator>
  <cp:lastModifiedBy>Windows User</cp:lastModifiedBy>
  <cp:revision>54</cp:revision>
  <dcterms:created xsi:type="dcterms:W3CDTF">2006-08-16T00:00:00Z</dcterms:created>
  <dcterms:modified xsi:type="dcterms:W3CDTF">2019-11-08T10:02:14Z</dcterms:modified>
</cp:coreProperties>
</file>