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2.xml" ContentType="application/vnd.openxmlformats-officedocument.presentationml.notesSlide+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746" r:id="rId3"/>
    <p:sldMasterId id="2147483782" r:id="rId4"/>
    <p:sldMasterId id="2147483794" r:id="rId5"/>
  </p:sldMasterIdLst>
  <p:notesMasterIdLst>
    <p:notesMasterId r:id="rId66"/>
  </p:notesMasterIdLst>
  <p:sldIdLst>
    <p:sldId id="279" r:id="rId6"/>
    <p:sldId id="319" r:id="rId7"/>
    <p:sldId id="594" r:id="rId8"/>
    <p:sldId id="608" r:id="rId9"/>
    <p:sldId id="609" r:id="rId10"/>
    <p:sldId id="607" r:id="rId11"/>
    <p:sldId id="611" r:id="rId12"/>
    <p:sldId id="612" r:id="rId13"/>
    <p:sldId id="613" r:id="rId14"/>
    <p:sldId id="614" r:id="rId15"/>
    <p:sldId id="615" r:id="rId16"/>
    <p:sldId id="616" r:id="rId17"/>
    <p:sldId id="617" r:id="rId18"/>
    <p:sldId id="618" r:id="rId19"/>
    <p:sldId id="663" r:id="rId20"/>
    <p:sldId id="620" r:id="rId21"/>
    <p:sldId id="621" r:id="rId22"/>
    <p:sldId id="622" r:id="rId23"/>
    <p:sldId id="623" r:id="rId24"/>
    <p:sldId id="624" r:id="rId25"/>
    <p:sldId id="625" r:id="rId26"/>
    <p:sldId id="626" r:id="rId27"/>
    <p:sldId id="627" r:id="rId28"/>
    <p:sldId id="628" r:id="rId29"/>
    <p:sldId id="629" r:id="rId30"/>
    <p:sldId id="630" r:id="rId31"/>
    <p:sldId id="632" r:id="rId32"/>
    <p:sldId id="633" r:id="rId33"/>
    <p:sldId id="634" r:id="rId34"/>
    <p:sldId id="662" r:id="rId35"/>
    <p:sldId id="666" r:id="rId36"/>
    <p:sldId id="667" r:id="rId37"/>
    <p:sldId id="668" r:id="rId38"/>
    <p:sldId id="669" r:id="rId39"/>
    <p:sldId id="671" r:id="rId40"/>
    <p:sldId id="672" r:id="rId41"/>
    <p:sldId id="674" r:id="rId42"/>
    <p:sldId id="675" r:id="rId43"/>
    <p:sldId id="676" r:id="rId44"/>
    <p:sldId id="677" r:id="rId45"/>
    <p:sldId id="678" r:id="rId46"/>
    <p:sldId id="679" r:id="rId47"/>
    <p:sldId id="680" r:id="rId48"/>
    <p:sldId id="681" r:id="rId49"/>
    <p:sldId id="682" r:id="rId50"/>
    <p:sldId id="683" r:id="rId51"/>
    <p:sldId id="684" r:id="rId52"/>
    <p:sldId id="685" r:id="rId53"/>
    <p:sldId id="686" r:id="rId54"/>
    <p:sldId id="687" r:id="rId55"/>
    <p:sldId id="688" r:id="rId56"/>
    <p:sldId id="689" r:id="rId57"/>
    <p:sldId id="690" r:id="rId58"/>
    <p:sldId id="691" r:id="rId59"/>
    <p:sldId id="692" r:id="rId60"/>
    <p:sldId id="693" r:id="rId61"/>
    <p:sldId id="694" r:id="rId62"/>
    <p:sldId id="695" r:id="rId63"/>
    <p:sldId id="696" r:id="rId64"/>
    <p:sldId id="347"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3" d="100"/>
          <a:sy n="73" d="100"/>
        </p:scale>
        <p:origin x="-1296"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22-04-2018</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 xmlns:p14="http://schemas.microsoft.com/office/powerpoint/2010/main"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1</a:t>
            </a:fld>
            <a:endParaRPr lang="en-IN"/>
          </a:p>
        </p:txBody>
      </p:sp>
    </p:spTree>
    <p:extLst>
      <p:ext uri="{BB962C8B-B14F-4D97-AF65-F5344CB8AC3E}">
        <p14:creationId xmlns="" xmlns:p14="http://schemas.microsoft.com/office/powerpoint/2010/main" val="322886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C3B7FC1-7193-44F8-8A0E-E004DD8AEAD4}" type="slidenum">
              <a:rPr lang="en-AU" altLang="en-US"/>
              <a:pPr eaLnBrk="1" hangingPunct="1"/>
              <a:t>7</a:t>
            </a:fld>
            <a:endParaRPr lang="en-AU" alt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IP-level security encompasses three functional areas: authentication, confidentiality, and key management. The authentication mechanism assures that a received packet was transmitted by the party identified as the source in the packet header, and that the packet has not been altered in transit. The confidentiality facility enables communicating nodes to encrypt messages to prevent eavesdropping by third parties. The key management facility is concerned with the secure exchange of keys. IPSec provides the capability to secure communications across a LAN, across private and public WANs, and across the Internet.</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In 1994, the Internet Architecture Board (IAB) issued a report titled "Security in the Internet Architecture" (RFC 1636). The report stated the general consensus that the Internet needs more and better security and identified key areas for security mechanisms. To provide security, the IAB included authentication and encryption as necessary security features in the next-generation IP, which has been issued as IPv6. Fortunately, these security capabilities were designed to be usable both with the current IPv4 and the future IPv6. </a:t>
            </a:r>
          </a:p>
        </p:txBody>
      </p:sp>
    </p:spTree>
    <p:extLst>
      <p:ext uri="{BB962C8B-B14F-4D97-AF65-F5344CB8AC3E}">
        <p14:creationId xmlns="" xmlns:p14="http://schemas.microsoft.com/office/powerpoint/2010/main" val="4085632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9ADAFF3-9857-410D-BCAE-7363B022B7A2}" type="slidenum">
              <a:rPr lang="en-AU" altLang="en-US"/>
              <a:pPr eaLnBrk="1" hangingPunct="1"/>
              <a:t>8</a:t>
            </a:fld>
            <a:endParaRPr lang="en-AU"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Stallings Figure 19.1 illustrates a typical IP Security scenario. An organization maintains LANs at dispersed locations. Nonsecure IP traffic is conducted on each LAN. For traffic offsite, through some sort of private or public WAN, IPSec protocols are used. These protocols operate in networking devices, such as a router or firewall, that connect each LAN to the outside world. The IPSec networking device will typically encrypt and compress all traffic going into the WAN, and decrypt and decompress traffic coming from the WAN; these operations are transparent to workstations and servers on the LAN. Secure transmission is also possible with individual users who dial into the WAN. Such user workstations must implement the IPSec protocols to provide security. </a:t>
            </a:r>
          </a:p>
          <a:p>
            <a:pPr eaLnBrk="1" hangingPunct="1"/>
            <a:endParaRPr lang="en-AU" altLang="en-US"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 xmlns:p14="http://schemas.microsoft.com/office/powerpoint/2010/main" val="480159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6E677ED-84E0-464D-B0C7-194D70BA8A20}" type="slidenum">
              <a:rPr lang="en-AU" altLang="en-US"/>
              <a:pPr eaLnBrk="1" hangingPunct="1"/>
              <a:t>9</a:t>
            </a:fld>
            <a:endParaRPr lang="en-AU" alt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Some of the benefits of IPSec include:</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When implemented in a firewall or router, it provides strong security that can be applied to all traffic crossing the perimeter. Traffic within a company or workgroup does not incur the overhead of security-related processing.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in a firewall is resistant to bypass if all traffic from the outside must use IP and the firewall is the only means of entrance from the Internet into the organization.</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is below the transport layer (TCP, UDP) and so is transparent to applications. There is no need to change software on a user or server system when IPsec is implemented in the firewall or router. Even if IPsec is implemented in end systems, upper-layer software, including applications, is not affected.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can be transparent to end users. There is no need to train users on security mechanisms, issue keying material on a per-user basis, or revoke keying material when users leave the organization.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can provide security for individual users if needed. This is useful for offsite workers and for setting up a secure virtual subnetwork within an organization for sensitive applications.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It also plays a vital role in the routing architecture required for internetworking.</a:t>
            </a:r>
          </a:p>
        </p:txBody>
      </p:sp>
    </p:spTree>
    <p:extLst>
      <p:ext uri="{BB962C8B-B14F-4D97-AF65-F5344CB8AC3E}">
        <p14:creationId xmlns="" xmlns:p14="http://schemas.microsoft.com/office/powerpoint/2010/main" val="3610767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F8663C0-7502-476F-867A-6DF188F74510}" type="slidenum">
              <a:rPr lang="en-AU" altLang="en-US"/>
              <a:pPr eaLnBrk="1" hangingPunct="1"/>
              <a:t>12</a:t>
            </a:fld>
            <a:endParaRPr lang="en-AU" altLang="en-US"/>
          </a:p>
        </p:txBody>
      </p:sp>
      <p:sp>
        <p:nvSpPr>
          <p:cNvPr id="43011" name="Rectangle 1026"/>
          <p:cNvSpPr>
            <a:spLocks noGrp="1" noRot="1" noChangeAspect="1" noChangeArrowheads="1" noTextEdit="1"/>
          </p:cNvSpPr>
          <p:nvPr>
            <p:ph type="sldImg"/>
          </p:nvPr>
        </p:nvSpPr>
        <p:spPr>
          <a:ln/>
        </p:spPr>
      </p:sp>
      <p:sp>
        <p:nvSpPr>
          <p:cNvPr id="43012" name="Rectangle 1027"/>
          <p:cNvSpPr>
            <a:spLocks noGrp="1" noChangeArrowheads="1"/>
          </p:cNvSpPr>
          <p:nvPr>
            <p:ph type="body" idx="1"/>
          </p:nvPr>
        </p:nvSpPr>
        <p:spPr>
          <a:xfrm>
            <a:off x="685800" y="4343400"/>
            <a:ext cx="5486400" cy="447675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IPSec specification has become quite complex. key management. The totality of the IPsec specification is scattered across dozens of RFCs and draft IETF documents, making this the most complex and difficult to grasp of all IETF specifications. The best way to keep track of and get a handle on this body of work is to consult the latest version of the IPsec document roadmap. The documents can be categorized into the following groups: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a:t>
            </a:r>
            <a:r>
              <a:rPr lang="en-US" altLang="en-US" b="1" smtClean="0">
                <a:latin typeface="Arial" panose="020B0604020202020204" pitchFamily="34" charset="0"/>
                <a:ea typeface="ＭＳ Ｐゴシック" panose="020B0600070205080204" pitchFamily="34" charset="-128"/>
                <a:cs typeface="Arial" panose="020B0604020202020204" pitchFamily="34" charset="0"/>
              </a:rPr>
              <a:t>Architecture</a:t>
            </a:r>
            <a:r>
              <a:rPr lang="en-US" altLang="en-US" smtClean="0">
                <a:latin typeface="Arial" panose="020B0604020202020204" pitchFamily="34" charset="0"/>
                <a:ea typeface="ＭＳ Ｐゴシック" panose="020B0600070205080204" pitchFamily="34" charset="-128"/>
                <a:cs typeface="Arial" panose="020B0604020202020204" pitchFamily="34" charset="0"/>
              </a:rPr>
              <a:t>: Covers the general concepts, security requirements, definitions, and mechanisms defining IPsec technology, see RFC 4301, </a:t>
            </a:r>
            <a:r>
              <a:rPr lang="en-US" altLang="en-US" i="1" smtClean="0">
                <a:latin typeface="Arial" panose="020B0604020202020204" pitchFamily="34" charset="0"/>
                <a:ea typeface="ＭＳ Ｐゴシック" panose="020B0600070205080204" pitchFamily="34" charset="-128"/>
                <a:cs typeface="Arial" panose="020B0604020202020204" pitchFamily="34" charset="0"/>
              </a:rPr>
              <a:t>Security Architecture for the Internet Protocol</a:t>
            </a:r>
            <a:r>
              <a:rPr lang="en-US" altLang="en-US" b="1" i="1" smtClean="0">
                <a:latin typeface="Arial" panose="020B0604020202020204" pitchFamily="34" charset="0"/>
                <a:ea typeface="ＭＳ Ｐゴシック" panose="020B0600070205080204" pitchFamily="34" charset="-128"/>
                <a:cs typeface="Arial" panose="020B0604020202020204" pitchFamily="34" charset="0"/>
              </a:rPr>
              <a:t>. </a:t>
            </a:r>
          </a:p>
          <a:p>
            <a:pPr eaLnBrk="1" hangingPunct="1"/>
            <a:r>
              <a:rPr lang="en-US" altLang="en-US" b="1" smtClean="0">
                <a:latin typeface="Arial" panose="020B0604020202020204" pitchFamily="34" charset="0"/>
                <a:ea typeface="ＭＳ Ｐゴシック" panose="020B0600070205080204" pitchFamily="34" charset="-128"/>
                <a:cs typeface="Arial" panose="020B0604020202020204" pitchFamily="34" charset="0"/>
              </a:rPr>
              <a:t>• Authentication Header (AH): </a:t>
            </a:r>
            <a:r>
              <a:rPr lang="en-US" altLang="en-US" smtClean="0">
                <a:latin typeface="Arial" panose="020B0604020202020204" pitchFamily="34" charset="0"/>
                <a:ea typeface="ＭＳ Ｐゴシック" panose="020B0600070205080204" pitchFamily="34" charset="-128"/>
                <a:cs typeface="Arial" panose="020B0604020202020204" pitchFamily="34" charset="0"/>
              </a:rPr>
              <a:t>AH is an extension header for message authentication, now deprecated. See RFC 4302, </a:t>
            </a:r>
            <a:r>
              <a:rPr lang="en-US" altLang="en-US" i="1" smtClean="0">
                <a:latin typeface="Arial" panose="020B0604020202020204" pitchFamily="34" charset="0"/>
                <a:ea typeface="ＭＳ Ｐゴシック" panose="020B0600070205080204" pitchFamily="34" charset="-128"/>
                <a:cs typeface="Arial" panose="020B0604020202020204" pitchFamily="34" charset="0"/>
              </a:rPr>
              <a:t>IP Authentication Header</a:t>
            </a:r>
            <a:r>
              <a:rPr lang="en-US" altLang="en-US" smtClean="0">
                <a:latin typeface="Arial" panose="020B0604020202020204" pitchFamily="34" charset="0"/>
                <a:ea typeface="ＭＳ Ｐゴシック" panose="020B0600070205080204" pitchFamily="34" charset="-128"/>
                <a:cs typeface="Arial" panose="020B0604020202020204" pitchFamily="34" charset="0"/>
              </a:rPr>
              <a:t>.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a:t>
            </a:r>
            <a:r>
              <a:rPr lang="en-US" altLang="en-US" b="1" smtClean="0">
                <a:latin typeface="Arial" panose="020B0604020202020204" pitchFamily="34" charset="0"/>
                <a:ea typeface="ＭＳ Ｐゴシック" panose="020B0600070205080204" pitchFamily="34" charset="-128"/>
                <a:cs typeface="Arial" panose="020B0604020202020204" pitchFamily="34" charset="0"/>
              </a:rPr>
              <a:t>Encapsulating Security Payload (ESP): </a:t>
            </a:r>
            <a:r>
              <a:rPr lang="en-US" altLang="en-US" smtClean="0">
                <a:latin typeface="Arial" panose="020B0604020202020204" pitchFamily="34" charset="0"/>
                <a:ea typeface="ＭＳ Ｐゴシック" panose="020B0600070205080204" pitchFamily="34" charset="-128"/>
                <a:cs typeface="Arial" panose="020B0604020202020204" pitchFamily="34" charset="0"/>
              </a:rPr>
              <a:t>ESP consists of an encapsulating header and trailer used to provide encryption or combined encryption/authentication. See RFC 4303, </a:t>
            </a:r>
            <a:r>
              <a:rPr lang="en-US" altLang="en-US" i="1" smtClean="0">
                <a:latin typeface="Arial" panose="020B0604020202020204" pitchFamily="34" charset="0"/>
                <a:ea typeface="ＭＳ Ｐゴシック" panose="020B0600070205080204" pitchFamily="34" charset="-128"/>
                <a:cs typeface="Arial" panose="020B0604020202020204" pitchFamily="34" charset="0"/>
              </a:rPr>
              <a:t>IP Encapsulating Security Payload (ESP). </a:t>
            </a:r>
          </a:p>
          <a:p>
            <a:pPr eaLnBrk="1" hangingPunct="1"/>
            <a:r>
              <a:rPr lang="en-US" altLang="en-US" b="1" smtClean="0">
                <a:latin typeface="Arial" panose="020B0604020202020204" pitchFamily="34" charset="0"/>
                <a:ea typeface="ＭＳ Ｐゴシック" panose="020B0600070205080204" pitchFamily="34" charset="-128"/>
                <a:cs typeface="Arial" panose="020B0604020202020204" pitchFamily="34" charset="0"/>
              </a:rPr>
              <a:t>• Internet Key Exchange (IKE): </a:t>
            </a:r>
            <a:r>
              <a:rPr lang="en-US" altLang="en-US" smtClean="0">
                <a:latin typeface="Arial" panose="020B0604020202020204" pitchFamily="34" charset="0"/>
                <a:ea typeface="ＭＳ Ｐゴシック" panose="020B0600070205080204" pitchFamily="34" charset="-128"/>
                <a:cs typeface="Arial" panose="020B0604020202020204" pitchFamily="34" charset="0"/>
              </a:rPr>
              <a:t>a collection of documents describing the key management schemes for use with IPsec. See RFC4306</a:t>
            </a:r>
            <a:r>
              <a:rPr lang="en-US" altLang="en-US" i="1" smtClean="0">
                <a:latin typeface="Arial" panose="020B0604020202020204" pitchFamily="34" charset="0"/>
                <a:ea typeface="ＭＳ Ｐゴシック" panose="020B0600070205080204" pitchFamily="34" charset="-128"/>
                <a:cs typeface="Arial" panose="020B0604020202020204" pitchFamily="34" charset="0"/>
              </a:rPr>
              <a:t>, Internet Key Exchange (IKEv2) Protocol</a:t>
            </a:r>
            <a:r>
              <a:rPr lang="en-US" altLang="en-US" smtClean="0">
                <a:latin typeface="Arial" panose="020B0604020202020204" pitchFamily="34" charset="0"/>
                <a:ea typeface="ＭＳ Ｐゴシック" panose="020B0600070205080204" pitchFamily="34" charset="-128"/>
                <a:cs typeface="Arial" panose="020B0604020202020204" pitchFamily="34" charset="0"/>
              </a:rPr>
              <a:t>, and other related RFCs. </a:t>
            </a:r>
          </a:p>
          <a:p>
            <a:pPr eaLnBrk="1" hangingPunct="1"/>
            <a:r>
              <a:rPr lang="en-US" altLang="en-US" b="1" smtClean="0">
                <a:latin typeface="Arial" panose="020B0604020202020204" pitchFamily="34" charset="0"/>
                <a:ea typeface="ＭＳ Ｐゴシック" panose="020B0600070205080204" pitchFamily="34" charset="-128"/>
                <a:cs typeface="Arial" panose="020B0604020202020204" pitchFamily="34" charset="0"/>
              </a:rPr>
              <a:t>• Cryptographic algorithms: </a:t>
            </a:r>
            <a:r>
              <a:rPr lang="en-US" altLang="en-US" smtClean="0">
                <a:latin typeface="Arial" panose="020B0604020202020204" pitchFamily="34" charset="0"/>
                <a:ea typeface="ＭＳ Ｐゴシック" panose="020B0600070205080204" pitchFamily="34" charset="-128"/>
                <a:cs typeface="Arial" panose="020B0604020202020204" pitchFamily="34" charset="0"/>
              </a:rPr>
              <a:t>a large set of documents that define and describe cryptographic algorithms for encryption, message authentication, pseudorandom functions (PRFs), and cryptographic key exchange. </a:t>
            </a:r>
          </a:p>
          <a:p>
            <a:pPr eaLnBrk="1" hangingPunct="1"/>
            <a:r>
              <a:rPr lang="en-US" altLang="en-US" b="1" smtClean="0">
                <a:latin typeface="Arial" panose="020B0604020202020204" pitchFamily="34" charset="0"/>
                <a:ea typeface="ＭＳ Ｐゴシック" panose="020B0600070205080204" pitchFamily="34" charset="-128"/>
                <a:cs typeface="Arial" panose="020B0604020202020204" pitchFamily="34" charset="0"/>
              </a:rPr>
              <a:t>• Other: </a:t>
            </a:r>
            <a:r>
              <a:rPr lang="en-US" altLang="en-US" smtClean="0">
                <a:latin typeface="Arial" panose="020B0604020202020204" pitchFamily="34" charset="0"/>
                <a:ea typeface="ＭＳ Ｐゴシック" panose="020B0600070205080204" pitchFamily="34" charset="-128"/>
                <a:cs typeface="Arial" panose="020B0604020202020204" pitchFamily="34" charset="0"/>
              </a:rPr>
              <a:t>There are a variety of other IPsec-related RFCs, including those dealing with  security policy and management information base (MIB) content. </a:t>
            </a:r>
          </a:p>
        </p:txBody>
      </p:sp>
    </p:spTree>
    <p:extLst>
      <p:ext uri="{BB962C8B-B14F-4D97-AF65-F5344CB8AC3E}">
        <p14:creationId xmlns="" xmlns:p14="http://schemas.microsoft.com/office/powerpoint/2010/main" val="2757695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CFFCEF2-2E6B-4795-9654-26D9791B3E06}" type="slidenum">
              <a:rPr lang="en-AU" altLang="en-US"/>
              <a:pPr eaLnBrk="1" hangingPunct="1"/>
              <a:t>13</a:t>
            </a:fld>
            <a:endParaRPr lang="en-AU" alt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smtClean="0">
                <a:latin typeface="Arial" panose="020B0604020202020204" pitchFamily="34" charset="0"/>
                <a:ea typeface="ＭＳ Ｐゴシック" panose="020B0600070205080204" pitchFamily="34" charset="-128"/>
                <a:cs typeface="Arial" panose="020B0604020202020204" pitchFamily="34" charset="0"/>
              </a:rPr>
              <a:t>IPSec provides security services at the IP layer by enabling a system to select required security protocols, determine the algorithm(s) to use for the service(s), and put in place any cryptographic keys required to provide the requested services. Two protocols are used to provide security: an authentication protocol designated by the header of the protocol, Authentication Header (AH); and a combined encryption/authentication protocol designated by the format of the packet for that protocol, Encapsulating Security Payload (ESP). RFC 4301 lists the security services supported as shown above.</a:t>
            </a: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 xmlns:p14="http://schemas.microsoft.com/office/powerpoint/2010/main" val="1100556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smtClean="0">
                <a:latin typeface="Arial" panose="020B0604020202020204" pitchFamily="34" charset="0"/>
                <a:ea typeface="ＭＳ Ｐゴシック" panose="020B0600070205080204" pitchFamily="34" charset="-128"/>
              </a:rPr>
              <a:t>Both AH and ESP support two modes of use: transport and tunnel mode, but will focus on ESP.</a:t>
            </a:r>
          </a:p>
          <a:p>
            <a:pPr eaLnBrk="1" hangingPunct="1">
              <a:lnSpc>
                <a:spcPct val="90000"/>
              </a:lnSpc>
            </a:pPr>
            <a:r>
              <a:rPr lang="en-US" altLang="en-US" smtClean="0">
                <a:latin typeface="Arial" panose="020B0604020202020204" pitchFamily="34" charset="0"/>
                <a:ea typeface="ＭＳ Ｐゴシック" panose="020B0600070205080204" pitchFamily="34" charset="-128"/>
              </a:rPr>
              <a:t>Transport mode provides protection primarily for upper-layer protocols. Transport mode ESP is used to encrypt and optionally authenticate the data carried by IP. Typically, transport mode is used for end-to-end communication between two hosts (e.g., a client and a server, or two workstations). When a host runs AH or ESP over IPv4, the payload is the data that normally follow the IP header. For IPv6, the payload is the data that normally follow both the IP header and any IPv6 extensions headers that are present. Transport mode operation provides confidentiality for any application that uses it, thus avoiding the need to implement confidentiality in every individual application. </a:t>
            </a:r>
          </a:p>
          <a:p>
            <a:pPr eaLnBrk="1" hangingPunct="1">
              <a:lnSpc>
                <a:spcPct val="90000"/>
              </a:lnSpc>
            </a:pPr>
            <a:r>
              <a:rPr lang="en-US" altLang="en-US" smtClean="0">
                <a:latin typeface="Arial" panose="020B0604020202020204" pitchFamily="34" charset="0"/>
                <a:ea typeface="ＭＳ Ｐゴシック" panose="020B0600070205080204" pitchFamily="34" charset="-128"/>
              </a:rPr>
              <a:t>Tunnel mode ESP is used to encrypt an entire IP packet. To achieve this, after the AH or ESP fields are added to the IP packet, the entire packet plus security fields is treated as the payload of new "outer" IP packet with a new outer IP header. The entire original, or inner, packet travels through a "tunnel" from one point of an IP network to another; no routers along the way are able to examine the inner IP header. Tunnel mode is useful in a configuration that includes a firewall or other sort of security gateway that protects a trusted network from external networks. In this latter case, encryption occurs only between an external host and the security gateway or between two security gateways. With tunnel mode, a number of hosts on networks behind firewalls may engage in secure communications without implementing IPsec.</a:t>
            </a:r>
          </a:p>
        </p:txBody>
      </p:sp>
      <p:sp>
        <p:nvSpPr>
          <p:cNvPr id="4506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F9E3236-9009-4D82-982C-E9D4C868238F}" type="slidenum">
              <a:rPr lang="en-AU" altLang="en-US"/>
              <a:pPr eaLnBrk="1" hangingPunct="1"/>
              <a:t>14</a:t>
            </a:fld>
            <a:endParaRPr lang="en-AU" altLang="en-US"/>
          </a:p>
        </p:txBody>
      </p:sp>
    </p:spTree>
    <p:extLst>
      <p:ext uri="{BB962C8B-B14F-4D97-AF65-F5344CB8AC3E}">
        <p14:creationId xmlns="" xmlns:p14="http://schemas.microsoft.com/office/powerpoint/2010/main" val="1704225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02E06FF-AD6E-41AD-BE78-6B432D46AE16}" type="slidenum">
              <a:rPr lang="en-AU" altLang="en-US"/>
              <a:pPr eaLnBrk="1" hangingPunct="1"/>
              <a:t>16</a:t>
            </a:fld>
            <a:endParaRPr lang="en-AU" alt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Stallings Figure 19.9 shows the protocol architecture for the two modes when ESP is used.</a:t>
            </a:r>
          </a:p>
        </p:txBody>
      </p:sp>
    </p:spTree>
    <p:extLst>
      <p:ext uri="{BB962C8B-B14F-4D97-AF65-F5344CB8AC3E}">
        <p14:creationId xmlns="" xmlns:p14="http://schemas.microsoft.com/office/powerpoint/2010/main" val="321553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Date Placeholder 3"/>
          <p:cNvSpPr>
            <a:spLocks noGrp="1"/>
          </p:cNvSpPr>
          <p:nvPr>
            <p:ph type="dt" idx="10"/>
          </p:nvPr>
        </p:nvSpPr>
        <p:spPr/>
        <p:txBody>
          <a:bodyPr/>
          <a:lstStyle/>
          <a:p>
            <a:r>
              <a:rPr lang="en-IN" smtClean="0">
                <a:solidFill>
                  <a:prstClr val="black"/>
                </a:solidFill>
              </a:rPr>
              <a:t>25-07-2013</a:t>
            </a:r>
            <a:endParaRPr lang="en-IN">
              <a:solidFill>
                <a:prstClr val="black"/>
              </a:solidFill>
            </a:endParaRPr>
          </a:p>
        </p:txBody>
      </p:sp>
      <p:sp>
        <p:nvSpPr>
          <p:cNvPr id="5" name="Footer Placeholder 4"/>
          <p:cNvSpPr>
            <a:spLocks noGrp="1"/>
          </p:cNvSpPr>
          <p:nvPr>
            <p:ph type="ftr" sz="quarter" idx="11"/>
          </p:nvPr>
        </p:nvSpPr>
        <p:spPr/>
        <p:txBody>
          <a:bodyPr/>
          <a:lstStyle/>
          <a:p>
            <a:r>
              <a:rPr lang="en-IN" smtClean="0">
                <a:solidFill>
                  <a:prstClr val="black"/>
                </a:solidFill>
              </a:rPr>
              <a:t>TA ZC164</a:t>
            </a:r>
            <a:endParaRPr lang="en-IN">
              <a:solidFill>
                <a:prstClr val="black"/>
              </a:solidFill>
            </a:endParaRPr>
          </a:p>
        </p:txBody>
      </p:sp>
      <p:sp>
        <p:nvSpPr>
          <p:cNvPr id="6" name="Slide Number Placeholder 5"/>
          <p:cNvSpPr>
            <a:spLocks noGrp="1"/>
          </p:cNvSpPr>
          <p:nvPr>
            <p:ph type="sldNum" sz="quarter" idx="12"/>
          </p:nvPr>
        </p:nvSpPr>
        <p:spPr/>
        <p:txBody>
          <a:bodyPr/>
          <a:lstStyle/>
          <a:p>
            <a:fld id="{1EBC9D2F-5FCE-4B4F-80E6-E39EED6BD8E1}" type="slidenum">
              <a:rPr lang="en-IN" smtClean="0">
                <a:solidFill>
                  <a:prstClr val="black"/>
                </a:solidFill>
              </a:rPr>
              <a:pPr/>
              <a:t>17</a:t>
            </a:fld>
            <a:endParaRPr lang="en-IN">
              <a:solidFill>
                <a:prstClr val="black"/>
              </a:solidFill>
            </a:endParaRPr>
          </a:p>
        </p:txBody>
      </p:sp>
    </p:spTree>
    <p:extLst>
      <p:ext uri="{BB962C8B-B14F-4D97-AF65-F5344CB8AC3E}">
        <p14:creationId xmlns="" xmlns:p14="http://schemas.microsoft.com/office/powerpoint/2010/main" val="1034943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7839926-E1F3-47CE-9760-DF3A4C202614}" type="slidenum">
              <a:rPr lang="en-AU" altLang="en-US"/>
              <a:pPr eaLnBrk="1" hangingPunct="1"/>
              <a:t>24</a:t>
            </a:fld>
            <a:endParaRPr lang="en-AU" altLang="en-US"/>
          </a:p>
        </p:txBody>
      </p:sp>
      <p:sp>
        <p:nvSpPr>
          <p:cNvPr id="56323" name="Rectangle 1026"/>
          <p:cNvSpPr>
            <a:spLocks noGrp="1" noRot="1" noChangeAspect="1" noChangeArrowheads="1" noTextEdit="1"/>
          </p:cNvSpPr>
          <p:nvPr>
            <p:ph type="sldImg"/>
          </p:nvPr>
        </p:nvSpPr>
        <p:spPr>
          <a:ln/>
        </p:spPr>
      </p:sp>
      <p:sp>
        <p:nvSpPr>
          <p:cNvPr id="56324" name="Rectangle 1027"/>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key management portion of IPSec involves the determination and distribution of secret keys. A typical requirement is four keys for communication between two applications: transmit and receive pairs for both AH and ESP. The IPSec Architecture document mandates support for two types of key management:</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Manual where a system administrator manually configures each system with its own keys and with the keys of other communicating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Automated where an automated system enables the on-demand creation of keys for SAs and facilitates the use of keys in a large distributed system with an evolving configuration</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default automated key management protocol for IPSec is referred to as ISAKMP/Oakley.</a:t>
            </a:r>
          </a:p>
        </p:txBody>
      </p:sp>
    </p:spTree>
    <p:extLst>
      <p:ext uri="{BB962C8B-B14F-4D97-AF65-F5344CB8AC3E}">
        <p14:creationId xmlns="" xmlns:p14="http://schemas.microsoft.com/office/powerpoint/2010/main" val="1814578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1BCB4F6-3772-44DC-BD05-26111CF1113A}" type="slidenum">
              <a:rPr lang="en-AU" altLang="en-US"/>
              <a:pPr eaLnBrk="1" hangingPunct="1"/>
              <a:t>25</a:t>
            </a:fld>
            <a:endParaRPr lang="en-AU" alt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Oakley is a key exchange protocol based on the Diffie-Hellman algorithm but providing added security. Oakley is generic in that it does not dictate specific formats. Oakley is designed to retain the advantages of Diffie-Hellman while countering its weaknesses. These include that it does not provide any information about the identities of the parties, is subject to a man-in-the-middle attack, and is computationally intensive</a:t>
            </a:r>
          </a:p>
          <a:p>
            <a:pPr marL="228600" indent="-228600"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Oakley algorithm is characterized by five important features: </a:t>
            </a:r>
          </a:p>
          <a:p>
            <a:pPr marL="228600" indent="-228600" eaLnBrk="1" hangingPunct="1">
              <a:buFont typeface="Times" panose="02020603050405020304" pitchFamily="18" charset="0"/>
              <a:buNone/>
            </a:pPr>
            <a:r>
              <a:rPr lang="en-US" altLang="en-US" smtClean="0">
                <a:latin typeface="Arial" panose="020B0604020202020204" pitchFamily="34" charset="0"/>
                <a:ea typeface="ＭＳ Ｐゴシック" panose="020B0600070205080204" pitchFamily="34" charset="-128"/>
                <a:cs typeface="Arial" panose="020B0604020202020204" pitchFamily="34" charset="0"/>
              </a:rPr>
              <a:t>1. It employs a mechanism known as cookies to thwart clogging attacks</a:t>
            </a:r>
          </a:p>
          <a:p>
            <a:pPr marL="228600" indent="-228600" eaLnBrk="1" hangingPunct="1">
              <a:buFont typeface="Times" panose="02020603050405020304" pitchFamily="18" charset="0"/>
              <a:buNone/>
            </a:pPr>
            <a:r>
              <a:rPr lang="en-US" altLang="en-US" smtClean="0">
                <a:latin typeface="Arial" panose="020B0604020202020204" pitchFamily="34" charset="0"/>
                <a:ea typeface="ＭＳ Ｐゴシック" panose="020B0600070205080204" pitchFamily="34" charset="-128"/>
                <a:cs typeface="Arial" panose="020B0604020202020204" pitchFamily="34" charset="0"/>
              </a:rPr>
              <a:t>2. It enables the two parties to negotiate a group; this, in essence, specifies the global parameters of the Diffie-Hellman key exchange</a:t>
            </a:r>
          </a:p>
          <a:p>
            <a:pPr marL="228600" indent="-228600" eaLnBrk="1" hangingPunct="1">
              <a:buFont typeface="Times" panose="02020603050405020304" pitchFamily="18" charset="0"/>
              <a:buNone/>
            </a:pPr>
            <a:r>
              <a:rPr lang="en-US" altLang="en-US" smtClean="0">
                <a:latin typeface="Arial" panose="020B0604020202020204" pitchFamily="34" charset="0"/>
                <a:ea typeface="ＭＳ Ｐゴシック" panose="020B0600070205080204" pitchFamily="34" charset="-128"/>
                <a:cs typeface="Arial" panose="020B0604020202020204" pitchFamily="34" charset="0"/>
              </a:rPr>
              <a:t>3. It uses nonces to ensure against replay attacks</a:t>
            </a:r>
          </a:p>
          <a:p>
            <a:pPr marL="228600" indent="-228600" eaLnBrk="1" hangingPunct="1">
              <a:buFont typeface="Times" panose="02020603050405020304" pitchFamily="18" charset="0"/>
              <a:buNone/>
            </a:pPr>
            <a:r>
              <a:rPr lang="en-US" altLang="en-US" smtClean="0">
                <a:latin typeface="Arial" panose="020B0604020202020204" pitchFamily="34" charset="0"/>
                <a:ea typeface="ＭＳ Ｐゴシック" panose="020B0600070205080204" pitchFamily="34" charset="-128"/>
                <a:cs typeface="Arial" panose="020B0604020202020204" pitchFamily="34" charset="0"/>
              </a:rPr>
              <a:t>4. It enables the exchange of Diffie-Hellman public key values</a:t>
            </a:r>
          </a:p>
          <a:p>
            <a:pPr marL="228600" indent="-228600" eaLnBrk="1" hangingPunct="1">
              <a:buFont typeface="Times" panose="02020603050405020304" pitchFamily="18" charset="0"/>
              <a:buNone/>
            </a:pPr>
            <a:r>
              <a:rPr lang="en-US" altLang="en-US" smtClean="0">
                <a:latin typeface="Arial" panose="020B0604020202020204" pitchFamily="34" charset="0"/>
                <a:ea typeface="ＭＳ Ｐゴシック" panose="020B0600070205080204" pitchFamily="34" charset="-128"/>
                <a:cs typeface="Arial" panose="020B0604020202020204" pitchFamily="34" charset="0"/>
              </a:rPr>
              <a:t>5. It authenticates the Diffie-Hellman exchange to thwart man-in-the-middle attacks</a:t>
            </a:r>
          </a:p>
          <a:p>
            <a:pPr marL="228600" indent="-228600" eaLnBrk="1" hangingPunct="1">
              <a:buFont typeface="Times" panose="02020603050405020304" pitchFamily="18" charset="0"/>
              <a:buNone/>
            </a:pPr>
            <a:r>
              <a:rPr lang="en-US" altLang="en-US" smtClean="0">
                <a:latin typeface="Arial" panose="020B0604020202020204" pitchFamily="34" charset="0"/>
                <a:ea typeface="ＭＳ Ｐゴシック" panose="020B0600070205080204" pitchFamily="34" charset="-128"/>
                <a:cs typeface="Arial" panose="020B0604020202020204" pitchFamily="34" charset="0"/>
              </a:rPr>
              <a:t>Oakley supports the use of different groups for the Diffie-Hellman key exchange, being 768, 1024 or 1536 bit primes, or 155 or 185 bit elliptic curves. See text for more details.</a:t>
            </a:r>
          </a:p>
        </p:txBody>
      </p:sp>
    </p:spTree>
    <p:extLst>
      <p:ext uri="{BB962C8B-B14F-4D97-AF65-F5344CB8AC3E}">
        <p14:creationId xmlns="" xmlns:p14="http://schemas.microsoft.com/office/powerpoint/2010/main" val="2040439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CDDF38F-7F5D-4354-89EC-C6EB67382DCA}" type="slidenum">
              <a:rPr lang="en-AU" altLang="en-US"/>
              <a:pPr eaLnBrk="1" hangingPunct="1"/>
              <a:t>26</a:t>
            </a:fld>
            <a:endParaRPr lang="en-AU" alt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a:t>
            </a:r>
            <a:r>
              <a:rPr lang="en-AU" altLang="en-US" smtClean="0">
                <a:latin typeface="Arial" panose="020B0604020202020204" pitchFamily="34" charset="0"/>
                <a:ea typeface="ＭＳ Ｐゴシック" panose="020B0600070205080204" pitchFamily="34" charset="-128"/>
                <a:cs typeface="Arial" panose="020B0604020202020204" pitchFamily="34" charset="0"/>
              </a:rPr>
              <a:t>Internet Security Association and Key Management Protocol</a:t>
            </a:r>
            <a:r>
              <a:rPr lang="en-US" altLang="en-US" smtClean="0">
                <a:latin typeface="Arial" panose="020B0604020202020204" pitchFamily="34" charset="0"/>
                <a:ea typeface="ＭＳ Ｐゴシック" panose="020B0600070205080204" pitchFamily="34" charset="-128"/>
                <a:cs typeface="Arial" panose="020B0604020202020204" pitchFamily="34" charset="0"/>
              </a:rPr>
              <a:t> (ISAKMP) provides a framework for Internet key management and provides the specific protocol support, defining procedures and packet formats to establish, negotiate, modify, and delete security associations. ISAKMP by itself does not dictate a specific key exchange algorithm; rather, ISAKMP consists of a set of message types that enable the use of a variety of key exchange algorithms. Oakley is the specific key exchange algorithm mandated for use with the initial version of ISAKMP.  In IKEv2, the terms Oakley and ISAKMP are no longer used, and there are significant differences from the use of Oakley and ISAKMP in IKEv1. Nevertheless, the basic functionality is the same.</a:t>
            </a:r>
          </a:p>
        </p:txBody>
      </p:sp>
    </p:spTree>
    <p:extLst>
      <p:ext uri="{BB962C8B-B14F-4D97-AF65-F5344CB8AC3E}">
        <p14:creationId xmlns="" xmlns:p14="http://schemas.microsoft.com/office/powerpoint/2010/main" val="1949880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521BF42-2B1E-466C-BA1E-E91764F7B603}" type="slidenum">
              <a:rPr lang="en-AU" altLang="en-US"/>
              <a:pPr eaLnBrk="1" hangingPunct="1"/>
              <a:t>27</a:t>
            </a:fld>
            <a:endParaRPr lang="en-AU" alt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533400" y="4343400"/>
            <a:ext cx="5715000" cy="43434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An ISAKMP message consists of an ISAKMP header followed by one or more payloads, carried in a transport protocol (UDP by default). </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Stallings Figure19.12a shows the header format for an ISAKMP message, which includes the fields:</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Initiator SPI (64 bits): chosen by the initiator to identify a unique SA</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Responder Cookie (64 bits): chosen by responder to identify unique IKE SA</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Next Payload (8 bits): type of the first payload in the message.</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Major/Minor Version (4 bits): Indicates major/minor version of IKE in use</a:t>
            </a: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 Exchange Type (8 bits): type of exchange.</a:t>
            </a:r>
          </a:p>
          <a:p>
            <a:pPr eaLnBrk="1" hangingPunct="1"/>
            <a:r>
              <a:rPr lang="en-US" altLang="en-US" smtClean="0">
                <a:latin typeface="Arial" panose="020B0604020202020204" pitchFamily="34" charset="0"/>
                <a:ea typeface="ＭＳ Ｐゴシック" panose="020B0600070205080204" pitchFamily="34" charset="-128"/>
              </a:rPr>
              <a:t>• Flags (8 bits): specific options set for this IKE exchange. </a:t>
            </a:r>
          </a:p>
          <a:p>
            <a:pPr eaLnBrk="1" hangingPunct="1"/>
            <a:r>
              <a:rPr lang="en-US" altLang="en-US" smtClean="0">
                <a:latin typeface="Arial" panose="020B0604020202020204" pitchFamily="34" charset="0"/>
                <a:ea typeface="ＭＳ Ｐゴシック" panose="020B0600070205080204" pitchFamily="34" charset="-128"/>
              </a:rPr>
              <a:t>• Message ID (32 bits): control retransmission, matching of requests /responses.</a:t>
            </a:r>
          </a:p>
          <a:p>
            <a:pPr eaLnBrk="1" hangingPunct="1"/>
            <a:r>
              <a:rPr lang="en-US" altLang="en-US" smtClean="0">
                <a:latin typeface="Arial" panose="020B0604020202020204" pitchFamily="34" charset="0"/>
                <a:ea typeface="ＭＳ Ｐゴシック" panose="020B0600070205080204" pitchFamily="34" charset="-128"/>
              </a:rPr>
              <a:t>• Length (32 bits): of total message (header plus all payloads) in octets.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All ISAKMP payloads begin with the same generic payload header shown in Figure 12.12b. </a:t>
            </a:r>
            <a:r>
              <a:rPr lang="en-US" altLang="en-US" smtClean="0">
                <a:latin typeface="Arial" panose="020B0604020202020204" pitchFamily="34" charset="0"/>
                <a:ea typeface="ＭＳ Ｐゴシック" panose="020B0600070205080204" pitchFamily="34" charset="-128"/>
              </a:rPr>
              <a:t>The Next Payload field has a value of 0 if this is the last payload in the message; otherwise its value is the type of the next payload. The Payload Length field indicates the length in octets of this payload, including the generic payload header. The critical bit is zero if the sender wants the recipient to skip this payload if it does not understand the payload type code in the Next Payload field of the previous payload. It is set to one if the sender wants the recipient to reject this entire message if it does not understand the payload type. </a:t>
            </a:r>
            <a:endParaRPr lang="en-AU" altLang="en-US"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 xmlns:p14="http://schemas.microsoft.com/office/powerpoint/2010/main" val="1308372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AB6C960-A816-477A-B8AD-9A14C660F25D}" type="slidenum">
              <a:rPr lang="en-AU" altLang="en-US"/>
              <a:pPr eaLnBrk="1" hangingPunct="1"/>
              <a:t>28</a:t>
            </a:fld>
            <a:endParaRPr lang="en-AU" alt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Stallings Table19.3 summarizes the payload types defined for ISAKMP, and lists the fields, or parameters, that are part of each payload. The </a:t>
            </a:r>
            <a:r>
              <a:rPr lang="en-US" altLang="en-US" b="1" smtClean="0">
                <a:latin typeface="Arial" panose="020B0604020202020204" pitchFamily="34" charset="0"/>
                <a:ea typeface="ＭＳ Ｐゴシック" panose="020B0600070205080204" pitchFamily="34" charset="-128"/>
                <a:cs typeface="Arial" panose="020B0604020202020204" pitchFamily="34" charset="0"/>
              </a:rPr>
              <a:t>SA payload </a:t>
            </a:r>
            <a:r>
              <a:rPr lang="en-US" altLang="en-US" smtClean="0">
                <a:latin typeface="Arial" panose="020B0604020202020204" pitchFamily="34" charset="0"/>
                <a:ea typeface="ＭＳ Ｐゴシック" panose="020B0600070205080204" pitchFamily="34" charset="-128"/>
                <a:cs typeface="Arial" panose="020B0604020202020204" pitchFamily="34" charset="0"/>
              </a:rPr>
              <a:t>is used to begin the establishment of an SA. The payload has a complex, hierarchical structure. The payload may contain multiple proposals. Each proposal may contain multiple protocols. Each protocol may contain multiple transforms. And each transform may contain multiple attributes. These elements are formatted as substructures within the payload</a:t>
            </a:r>
            <a:r>
              <a:rPr lang="en-US" altLang="en-US" b="1" smtClean="0">
                <a:latin typeface="Arial" panose="020B0604020202020204" pitchFamily="34" charset="0"/>
                <a:ea typeface="ＭＳ Ｐゴシック" panose="020B0600070205080204" pitchFamily="34" charset="-128"/>
                <a:cs typeface="Arial" panose="020B0604020202020204" pitchFamily="34" charset="0"/>
              </a:rPr>
              <a:t> </a:t>
            </a:r>
            <a:r>
              <a:rPr lang="en-US" altLang="en-US" smtClean="0">
                <a:latin typeface="Arial" panose="020B0604020202020204" pitchFamily="34" charset="0"/>
                <a:ea typeface="ＭＳ Ｐゴシック" panose="020B0600070205080204" pitchFamily="34" charset="-128"/>
                <a:cs typeface="Arial" panose="020B0604020202020204" pitchFamily="34" charset="0"/>
              </a:rPr>
              <a:t>with proposal, transform and attribute. See text for more  details.</a:t>
            </a:r>
          </a:p>
        </p:txBody>
      </p:sp>
    </p:spTree>
    <p:extLst>
      <p:ext uri="{BB962C8B-B14F-4D97-AF65-F5344CB8AC3E}">
        <p14:creationId xmlns="" xmlns:p14="http://schemas.microsoft.com/office/powerpoint/2010/main" val="3626600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1100" smtClean="0">
                <a:latin typeface="Arial" panose="020B0604020202020204" pitchFamily="34" charset="0"/>
                <a:ea typeface="ＭＳ Ｐゴシック" panose="020B0600070205080204" pitchFamily="34" charset="-128"/>
              </a:rPr>
              <a:t>The IPsecv3 and IKEv3  protocols rely on a variety of types of cryptographic algorithms. To promote interoperability, two RFCs define recommended suites of cryptographic algorithms and parameters for various applications.  RFC 4308 defines two cryptographic suites for establishing virtual private networks. Suite VPN-A matches the commonly used corporate VPN security used in older IKEv1 implementations. Suite VPN-B provides stronger security and is recommended for new VPNs that implement IPsecv3 and IKEv2. Stallings Table 19.4a lists the algorithms and parameters for the two suites. For symmetric cryptography, VPN-A relies on 3DES and HMAC, while VPN-B relies exclusively on AES. </a:t>
            </a:r>
          </a:p>
          <a:p>
            <a:r>
              <a:rPr lang="en-US" altLang="en-US" sz="1100" smtClean="0">
                <a:latin typeface="Arial" panose="020B0604020202020204" pitchFamily="34" charset="0"/>
                <a:ea typeface="ＭＳ Ｐゴシック" panose="020B0600070205080204" pitchFamily="34" charset="-128"/>
              </a:rPr>
              <a:t>RFC 4869 defines four optional cryptographic suites compatible with the US National Security Agency's Suite B specifications. The four suites defined in RFC 4869 provide choices for ESP and IKE. They are differentiated by the choice of cryptographic algorithm strengths and a choice of whether ESP is to provide both confidentiality and integrity or integrity only. All of the suites offer greater protection than the two VPN suites defined in RFC 4308. Stallings Table 19.4b lists the algorithms and parameters for these suites. For ESP, authenticated encryption is provided using the GCM mode with either 128-bit or 256-bit AES keys. For IKE encryption, CBC is used, as it was for the VPN suites. For ESP, if only authentication is required, then GMAC is used. For IKE, message authentication is provided using HMAC with one of the SHA-3 hash functions. As with the VPN suites, IKEv2 in these suites generates pseudorandom bits by repeated use of the MAC used for message authentication. For the Diffie-Hellman algorithm, the use of elliptic curve groups modulo a prime is specified. Finally, for authentication, elliptic curve digital signatures are listed. </a:t>
            </a:r>
          </a:p>
        </p:txBody>
      </p:sp>
      <p:sp>
        <p:nvSpPr>
          <p:cNvPr id="62468"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64DF03F-0387-4942-868C-A19A7AA4DAE5}" type="slidenum">
              <a:rPr lang="en-AU" altLang="en-US"/>
              <a:pPr eaLnBrk="1" hangingPunct="1"/>
              <a:t>29</a:t>
            </a:fld>
            <a:endParaRPr lang="en-AU" altLang="en-US"/>
          </a:p>
        </p:txBody>
      </p:sp>
    </p:spTree>
    <p:extLst>
      <p:ext uri="{BB962C8B-B14F-4D97-AF65-F5344CB8AC3E}">
        <p14:creationId xmlns="" xmlns:p14="http://schemas.microsoft.com/office/powerpoint/2010/main" val="41224520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buFontTx/>
              <a:buChar char="•"/>
            </a:pPr>
            <a:r>
              <a:rPr lang="en-US" smtClean="0"/>
              <a:t>When a remote telecommuter or an employee connects to his or her corporate office using a VPN from a laptop or home computer, security threats may result. This is because employees or telecommuters may use their personal computers for a variety of other applications in addition to connecting to the office via a VPN. As such, the corporate network may be vulnerable to attack because of security weaknesses on the employee's personal computer. </a:t>
            </a:r>
          </a:p>
          <a:p>
            <a:pPr eaLnBrk="1" hangingPunct="1">
              <a:spcBef>
                <a:spcPct val="0"/>
              </a:spcBef>
            </a:pPr>
            <a:endParaRPr lang="en-US" smtClean="0"/>
          </a:p>
          <a:p>
            <a:pPr eaLnBrk="1" hangingPunct="1">
              <a:spcBef>
                <a:spcPct val="0"/>
              </a:spcBef>
            </a:pPr>
            <a:endParaRPr lang="en-US" smtClean="0"/>
          </a:p>
          <a:p>
            <a:pPr eaLnBrk="1" hangingPunct="1">
              <a:spcBef>
                <a:spcPct val="0"/>
              </a:spcBef>
            </a:pPr>
            <a:endParaRPr lang="en-US" smtClean="0"/>
          </a:p>
          <a:p>
            <a:pPr eaLnBrk="1" hangingPunct="1">
              <a:spcBef>
                <a:spcPct val="0"/>
              </a:spcBef>
            </a:pPr>
            <a:endParaRPr lang="en-US" smtClean="0"/>
          </a:p>
        </p:txBody>
      </p:sp>
      <p:sp>
        <p:nvSpPr>
          <p:cNvPr id="3174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3CF716D-2775-49A6-BE63-8E3980A5B5F0}" type="slidenum">
              <a:rPr lang="en-US">
                <a:cs typeface="Arial" charset="0"/>
              </a:rPr>
              <a:pPr fontAlgn="base">
                <a:spcBef>
                  <a:spcPct val="0"/>
                </a:spcBef>
                <a:spcAft>
                  <a:spcPct val="0"/>
                </a:spcAft>
                <a:defRPr/>
              </a:pPr>
              <a:t>42</a:t>
            </a:fld>
            <a:endParaRPr lang="en-US">
              <a:cs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60</a:t>
            </a:fld>
            <a:endParaRPr lang="en-IN"/>
          </a:p>
        </p:txBody>
      </p:sp>
    </p:spTree>
    <p:extLst>
      <p:ext uri="{BB962C8B-B14F-4D97-AF65-F5344CB8AC3E}">
        <p14:creationId xmlns="" xmlns:p14="http://schemas.microsoft.com/office/powerpoint/2010/main" val="246330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113624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 xmlns:p14="http://schemas.microsoft.com/office/powerpoint/2010/main" val="3581160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 xmlns:p14="http://schemas.microsoft.com/office/powerpoint/2010/main" val="2584807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22598997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15379069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6092474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1935357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4500724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5288879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8099335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066121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 xmlns:p14="http://schemas.microsoft.com/office/powerpoint/2010/main" val="5160354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 xmlns:p14="http://schemas.microsoft.com/office/powerpoint/2010/main" val="4891198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 xmlns:p14="http://schemas.microsoft.com/office/powerpoint/2010/main" val="39336808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1878828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23388188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7172326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12580213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23400380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035803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989458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2969666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 xmlns:p14="http://schemas.microsoft.com/office/powerpoint/2010/main" val="21833894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 xmlns:p14="http://schemas.microsoft.com/office/powerpoint/2010/main" val="223663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 xmlns:p14="http://schemas.microsoft.com/office/powerpoint/2010/main" val="29751127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42366586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15041818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412277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37440574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12719094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33513961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6686663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31327045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 xmlns:p14="http://schemas.microsoft.com/office/powerpoint/2010/main" val="277024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13"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smtClean="0">
                <a:solidFill>
                  <a:prstClr val="black">
                    <a:tint val="75000"/>
                  </a:prstClr>
                </a:solidFill>
              </a:rPr>
              <a:t>SS ZG516 -Computer Organization and Software Systems</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406174"/>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700121804"/>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988792978"/>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3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tools.ietf.org/html/rfc4303" TargetMode="External"/><Relationship Id="rId2" Type="http://schemas.openxmlformats.org/officeDocument/2006/relationships/notesSlide" Target="../notesSlides/notesSlide9.xml"/><Relationship Id="rId1" Type="http://schemas.openxmlformats.org/officeDocument/2006/relationships/slideLayout" Target="../slideLayouts/slideLayout48.xml"/><Relationship Id="rId4" Type="http://schemas.openxmlformats.org/officeDocument/2006/relationships/hyperlink" Target="https://tools.ietf.org/html/rfc4302"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tools.ietf.org/html/rfc4301" TargetMode="External"/><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2" Type="http://schemas.openxmlformats.org/officeDocument/2006/relationships/hyperlink" Target="https://tools.ietf.org/html/rfc4303" TargetMode="External"/><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8.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79712" y="3501008"/>
            <a:ext cx="6696744" cy="1832992"/>
          </a:xfrm>
        </p:spPr>
        <p:txBody>
          <a:bodyPr/>
          <a:lstStyle/>
          <a:p>
            <a:r>
              <a:rPr lang="en-US" sz="3600" dirty="0" smtClean="0"/>
              <a:t>Course Name : </a:t>
            </a:r>
            <a:br>
              <a:rPr lang="en-US" sz="3600" dirty="0" smtClean="0"/>
            </a:br>
            <a:r>
              <a:rPr lang="en-US" sz="3600" dirty="0" smtClean="0"/>
              <a:t>Network Security</a:t>
            </a:r>
            <a:endParaRPr lang="en-US" sz="3600" dirty="0"/>
          </a:p>
        </p:txBody>
      </p:sp>
      <p:sp>
        <p:nvSpPr>
          <p:cNvPr id="6" name="Content Placeholder 5"/>
          <p:cNvSpPr>
            <a:spLocks noGrp="1"/>
          </p:cNvSpPr>
          <p:nvPr>
            <p:ph sz="quarter" idx="13"/>
          </p:nvPr>
        </p:nvSpPr>
        <p:spPr>
          <a:xfrm>
            <a:off x="2267744" y="5410200"/>
            <a:ext cx="6266656" cy="533400"/>
          </a:xfrm>
        </p:spPr>
        <p:txBody>
          <a:bodyPr/>
          <a:lstStyle/>
          <a:p>
            <a:r>
              <a:rPr lang="en-US" dirty="0" err="1" smtClean="0"/>
              <a:t>A.Vijayalakshmi</a:t>
            </a:r>
            <a:endParaRPr lang="en-US" dirty="0" smtClean="0"/>
          </a:p>
        </p:txBody>
      </p:sp>
    </p:spTree>
    <p:extLst>
      <p:ext uri="{BB962C8B-B14F-4D97-AF65-F5344CB8AC3E}">
        <p14:creationId xmlns=""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04664"/>
            <a:ext cx="6336704" cy="850106"/>
          </a:xfrm>
        </p:spPr>
        <p:txBody>
          <a:bodyPr>
            <a:normAutofit/>
          </a:bodyPr>
          <a:lstStyle/>
          <a:p>
            <a:r>
              <a:rPr lang="en-IN" dirty="0" smtClean="0"/>
              <a:t>Session#3 </a:t>
            </a:r>
            <a:endParaRPr lang="en-IN" dirty="0"/>
          </a:p>
        </p:txBody>
      </p:sp>
      <p:sp>
        <p:nvSpPr>
          <p:cNvPr id="3" name="Content Placeholder 2"/>
          <p:cNvSpPr>
            <a:spLocks noGrp="1"/>
          </p:cNvSpPr>
          <p:nvPr>
            <p:ph idx="1"/>
          </p:nvPr>
        </p:nvSpPr>
        <p:spPr>
          <a:xfrm>
            <a:off x="457200" y="1484784"/>
            <a:ext cx="8229600" cy="5040560"/>
          </a:xfrm>
        </p:spPr>
        <p:txBody>
          <a:bodyPr>
            <a:normAutofit fontScale="92500" lnSpcReduction="20000"/>
          </a:bodyPr>
          <a:lstStyle/>
          <a:p>
            <a:pPr>
              <a:buFont typeface="Wingdings" pitchFamily="2" charset="2"/>
              <a:buChar char="q"/>
            </a:pPr>
            <a:r>
              <a:rPr lang="en-IN" dirty="0" smtClean="0"/>
              <a:t>Security requirement at Network Layer</a:t>
            </a:r>
          </a:p>
          <a:p>
            <a:pPr>
              <a:buFont typeface="Wingdings" pitchFamily="2" charset="2"/>
              <a:buChar char="q"/>
            </a:pPr>
            <a:r>
              <a:rPr lang="en-IN" dirty="0" smtClean="0"/>
              <a:t>Need for Network layer security</a:t>
            </a:r>
          </a:p>
          <a:p>
            <a:pPr>
              <a:buFont typeface="Wingdings" pitchFamily="2" charset="2"/>
              <a:buChar char="q"/>
            </a:pPr>
            <a:r>
              <a:rPr lang="en-IN" dirty="0" err="1" smtClean="0"/>
              <a:t>IPSec</a:t>
            </a:r>
            <a:r>
              <a:rPr lang="en-IN" dirty="0" smtClean="0"/>
              <a:t> Overview</a:t>
            </a:r>
          </a:p>
          <a:p>
            <a:pPr lvl="1">
              <a:buFont typeface="Wingdings" pitchFamily="2" charset="2"/>
              <a:buChar char="q"/>
            </a:pPr>
            <a:r>
              <a:rPr lang="en-IN" dirty="0" smtClean="0"/>
              <a:t>IP Security Working</a:t>
            </a:r>
          </a:p>
          <a:p>
            <a:pPr lvl="2">
              <a:buFont typeface="Wingdings" pitchFamily="2" charset="2"/>
              <a:buChar char="q"/>
            </a:pPr>
            <a:r>
              <a:rPr lang="en-IN" dirty="0" smtClean="0"/>
              <a:t>IP Security </a:t>
            </a:r>
            <a:r>
              <a:rPr lang="en-IN" dirty="0"/>
              <a:t>architecture</a:t>
            </a:r>
          </a:p>
          <a:p>
            <a:pPr lvl="2">
              <a:buFont typeface="Wingdings" pitchFamily="2" charset="2"/>
              <a:buChar char="q"/>
            </a:pPr>
            <a:r>
              <a:rPr lang="en-IN" dirty="0" smtClean="0"/>
              <a:t>Outbound Packets </a:t>
            </a:r>
            <a:endParaRPr lang="en-IN" dirty="0"/>
          </a:p>
          <a:p>
            <a:pPr lvl="2">
              <a:buFont typeface="Wingdings" pitchFamily="2" charset="2"/>
              <a:buChar char="q"/>
            </a:pPr>
            <a:r>
              <a:rPr lang="en-IN" dirty="0" smtClean="0"/>
              <a:t>Inbound Packets</a:t>
            </a:r>
            <a:endParaRPr lang="en-IN" dirty="0"/>
          </a:p>
          <a:p>
            <a:pPr lvl="2">
              <a:buFont typeface="Wingdings" pitchFamily="2" charset="2"/>
              <a:buChar char="q"/>
            </a:pPr>
            <a:r>
              <a:rPr lang="en-IN" dirty="0"/>
              <a:t>Different </a:t>
            </a:r>
            <a:r>
              <a:rPr lang="en-IN" dirty="0" smtClean="0"/>
              <a:t>phases</a:t>
            </a:r>
            <a:endParaRPr lang="en-IN" dirty="0"/>
          </a:p>
          <a:p>
            <a:pPr lvl="1">
              <a:buFont typeface="Wingdings" pitchFamily="2" charset="2"/>
              <a:buChar char="q"/>
            </a:pPr>
            <a:r>
              <a:rPr lang="en-IN" dirty="0" smtClean="0"/>
              <a:t>IP Security Key Management</a:t>
            </a:r>
            <a:endParaRPr lang="en-IN" dirty="0"/>
          </a:p>
          <a:p>
            <a:pPr>
              <a:buFont typeface="Wingdings" pitchFamily="2" charset="2"/>
              <a:buChar char="q"/>
            </a:pPr>
            <a:r>
              <a:rPr lang="en-IN" dirty="0" smtClean="0"/>
              <a:t>VPN</a:t>
            </a:r>
          </a:p>
          <a:p>
            <a:pPr lvl="1">
              <a:buFont typeface="Wingdings" pitchFamily="2" charset="2"/>
              <a:buChar char="q"/>
            </a:pPr>
            <a:r>
              <a:rPr lang="en-IN" dirty="0" smtClean="0"/>
              <a:t>VPN Overview</a:t>
            </a:r>
          </a:p>
          <a:p>
            <a:pPr lvl="1">
              <a:buFont typeface="Wingdings" pitchFamily="2" charset="2"/>
              <a:buChar char="q"/>
            </a:pPr>
            <a:r>
              <a:rPr lang="en-IN" dirty="0" smtClean="0"/>
              <a:t>Advantages and Disadvantages</a:t>
            </a:r>
            <a:endParaRPr lang="en-IN" dirty="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de-DE" dirty="0"/>
          </a:p>
          <a:p>
            <a:pPr>
              <a:buFont typeface="Wingdings" pitchFamily="2" charset="2"/>
              <a:buChar char="q"/>
            </a:pPr>
            <a:endParaRPr lang="en-IN" dirty="0" smtClean="0"/>
          </a:p>
        </p:txBody>
      </p:sp>
    </p:spTree>
    <p:extLst>
      <p:ext uri="{BB962C8B-B14F-4D97-AF65-F5344CB8AC3E}">
        <p14:creationId xmlns="" xmlns:p14="http://schemas.microsoft.com/office/powerpoint/2010/main" val="35567563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a:xfrm>
            <a:off x="251520" y="175174"/>
            <a:ext cx="7772400" cy="1143000"/>
          </a:xfrm>
        </p:spPr>
        <p:txBody>
          <a:bodyPr anchor="ctr"/>
          <a:lstStyle/>
          <a:p>
            <a:pPr algn="l"/>
            <a:r>
              <a:rPr lang="en-US" sz="3200" smtClean="0">
                <a:ea typeface="ＭＳ Ｐゴシック" panose="020B0600070205080204" pitchFamily="34" charset="-128"/>
              </a:rPr>
              <a:t>Security at Multiple layers</a:t>
            </a:r>
            <a:endParaRPr lang="hu-HU" sz="3200" dirty="0">
              <a:ea typeface="ＭＳ Ｐゴシック" panose="020B0600070205080204" pitchFamily="34" charset="-128"/>
            </a:endParaRPr>
          </a:p>
        </p:txBody>
      </p:sp>
      <p:pic>
        <p:nvPicPr>
          <p:cNvPr id="8" name="Picture 4"/>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a:xfrm>
            <a:off x="683568" y="1844824"/>
            <a:ext cx="7772400" cy="3879850"/>
          </a:xfrm>
          <a:prstGeom prst="rect">
            <a:avLst/>
          </a:prstGeom>
          <a:noFill/>
        </p:spPr>
      </p:pic>
    </p:spTree>
    <p:extLst>
      <p:ext uri="{BB962C8B-B14F-4D97-AF65-F5344CB8AC3E}">
        <p14:creationId xmlns="" xmlns:p14="http://schemas.microsoft.com/office/powerpoint/2010/main" val="22492641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chor="ctr"/>
          <a:lstStyle/>
          <a:p>
            <a:pPr>
              <a:spcBef>
                <a:spcPct val="0"/>
              </a:spcBef>
            </a:pPr>
            <a:r>
              <a:rPr lang="en-IN" sz="3200" dirty="0">
                <a:latin typeface="+mj-lt"/>
                <a:ea typeface="+mj-ea"/>
                <a:cs typeface="+mj-cs"/>
              </a:rPr>
              <a:t>Need for the Network Layer </a:t>
            </a:r>
            <a:r>
              <a:rPr lang="en-IN" sz="3200" dirty="0" smtClean="0">
                <a:latin typeface="+mj-lt"/>
                <a:ea typeface="+mj-ea"/>
                <a:cs typeface="+mj-cs"/>
              </a:rPr>
              <a:t>Security –Real time scenario </a:t>
            </a:r>
            <a:endParaRPr lang="en-IN" sz="3200" dirty="0">
              <a:latin typeface="+mj-lt"/>
              <a:ea typeface="+mj-ea"/>
              <a:cs typeface="+mj-cs"/>
            </a:endParaRPr>
          </a:p>
        </p:txBody>
      </p:sp>
      <p:sp>
        <p:nvSpPr>
          <p:cNvPr id="1026" name="AutoShape 2" descr="data:image/jpeg;base64,/9j/4AAQSkZJRgABAQAAAQABAAD/2wCEAAkGBxQQEBQUEBQUFBQVFRQVFRcXFxQVFhQVFxQWFhUZFRcYHSsgGBslHRUXITEhJSkrLi4uFx8zODYsNygtLisBCgoKDg0OGhAQGi8mICQsLCwsLC8sLDAxLCwsLCwsLCwsLCwsLCwsLCwsLCwsLCwsLCwsLCwsLCwsLCwsLCwsLP/AABEIAKIBNwMBEQACEQEDEQH/xAAcAAABBQEBAQAAAAAAAAAAAAACAAMEBQYHAQj/xABREAABAwICBQcHBgoGCgMAAAABAAIDBBEFIQYSMVFxBxMiQWGBkSMyQnKhscEUM1JiktEVFkNjc4KissLSCDRERYOTFyRTVYSjs9Pw8TVUZP/EABoBAQEAAwEBAAAAAAAAAAAAAAABAgMEBQb/xAAyEQEAAgEDAQUHBAIDAQEAAAAAAQIDBBExIRIUMkFRBRVCYXGRoRMiUoHR8DOx4cEj/9oADAMBAAIRAxEAPwDuKBIEgSBIEgSBIEgSBIEgSDwm21BQYrpth9KSJ6uBpG1oeHuH6rLn2IMjiXLjhsfzQnn7Wxho/wCYQfYgzNf/AEgTnzFEBuMkpPi1rfigopuW/E5SRFHTs3akT3EfaefcpMxHIhHTrH5j0ZKix2atPG0eIjWuc2OObR92E3rHmYlnx+Y3M1aP8d0Q8A4Ba51eGPiY/rU9TQwjGX+dNUD1qkn3PKxnXYY8/wASk6jH6mn6HYi7zpL8ZiVj3/D8/sx7zQ07QOsO10ffIT8FPeGL5neqBGglY3Y6PueR8E94YvmneqCbolXt819uEpCvf8Xz+x3rGdOHYszzZp/1alw/iCyjW4Z8/wAMu84/UTKvG4jcVFbl1fKHvHhrkLONXhn4l7xj9Uoad47F+Wny3wxv8bsKzjPjni0fdlGWk+cJ1Py14pFYSNgf+kic0n7DmrZExPDOJieF5Qf0gJBbn6Njt5jkczwa5rveqrTYdy64fIbSx1EPaWte0d7HX9iDWYXyg4bU25qshudjXu5p3hJYoNKx4cLtIIOwg3CAkCQJAkCQJAkCQJAkCQJAkCQJAkATTNY0ue4NaBcucQABvJOQQYDSPliw6ku2N7qp46oRdvfIbNI9W6Dm2L8uFfUHUo4o4NbIWBnlv2Fw1T9lSZiOsillwnGsSzqHTlrv9tIY2D/Cvl3NXNfW4afFv9Gqc1I8w1GgUNIAcQro4ja+pG0vefVBsT9laY1t8nTFSZ+bGM028MHMM0ZbONegw2rq425mSZ/NNeAfyQaBrHLYCT2LdFc9o/daI+kf5Z7Xnmdmk0fqcMc/m/k8dPO02MU7AJA7cC/aezb2LztRTVU5mZj5ObJXLHMte2INya0N4AD3LgmZnlzzLxxRDTkQ25VDbkQ25UNuRDblQ25EZzSHST5I8NdC9zSAQ+9m3N8gbZnJdeDS/qxvFv6b8WD9SN93mG4xU1TNemoKiZmzWjBeAdx1RkVv93T/ACbe5T6n3urjtwqtP+E8/wAKvu+0fEnc7eqBUYdO/wA/Bqs/8PJfxDFsrpc1eLs40+WOLqfE8CLGOkkwyugY3NzzHK1jRszL22AW6tM8fFE/02xTNHxR9kdmiXORtfHIW6zQ4NeMxfZcj7lpnXdm01tHHo0zrOzaYtH2eUlPiNCb00srLZ+RkcAeLbi/gt1NZit57fVurqsdvPZp8G5acSpSG1LWVAG0SN5uS3rMsPFpXTExMbw3xMT1h0fRzlsoKmzakPpHm3njXjud0jRfvc1oVV0airY52CSGRkjHbHMcHtPAjJA+gSBIEgSBIEgSBIEgSDxzgASTYDMk7AEHKdOOWqnpdaKgAqZRcc4T5Bp7CM5O6w7UHLZW4tj7g+Vz3x3uC883Ts2+YwZE52uATvXPm1WPF4p6+jC2SteWqwXkpp47Gqe6Z3W1t42ezpHxC8zL7SvPgjZzW1Ezw2+HYXDTC0EUcQ69RoaTxIzPeuG+S9+tp3aZtM8sjpjQYtJf5NNHzefRivFIR1Xc4nPg4cF2aa+mr44nf59Y/wB/ptxzjjmEfRGvwmgcPwjQVENRcEzVLflLC/brNNgAb53DL9q9nHkpeP2TDsras8OzYPj1NWNvSzxSjcxwJHFu1veFmyRtJdFKTEW6tXC15As1/myN9V4zA7NnYg57XaCYjh2eHTfLIB/Z57CVoyyY/IHr2ao+qVzZtJjyddtp9Yab4a2QKHS2Jz+aqWvpZxkY5gW59jjYHvsvLy6LJj6x1j5OS+C1fmvCuNoZPG9KT5VlBGaiSJj3yuaCY4WMBLnOIyNrHs9y9DT6G1/3X6Q6MWnm3W3C4wms5+nil63xtcexxHSHjdcmWnYvNfSWi9ezaYPuWDADkQ05UR6qoZGLyOawb3EAe1ZVrNp2iCImeFHJpFHK4x08ctW85akUZeDxy2dxXXj0WWes9G+mlyT14P4Pya4nNOJ4Y24X9YSvElstjIzlw6K9XFS1I2tbd6GOk1jaZ3drwaCWkpv9eqxOWi7pnsjgAHbY27ytjYlYTi0FXHzlNKyZly3WY4OAI2g7kGE5dq7Vw6OnaelVTxx9uo067j4hnipa3ZrM+jG1uzEywgaGgAbAABwGS+dmd+rwpnfqByMTFRC14s9ocNxAPvWVbTWd4lYtNesSo63RmJ+bLxnszb4H71149bkr4urqprL18XVAoX12FyGSkleze6M3a4C9ucYcnDPY4ELvx6rHfpvtLtx6nHfz2l1bQnlxZJqxYowRuyAnjB1D+kZtbxFx2BdDodjpalkrGvic17HAOa5pDmuB2EEZEIHUCQJAkCQJAkCQM1dSyGN0krgxjGlz3ONg1oFySd1kHzhyg8olRjM4paASNpydVrG5PqD9KTc3r1dgGZ7MbWisdq3CTMRG8rrRHk1ipwJKzVml2hu2Jnd6Z7Tl2da8XUa+1+lOkflyXzzPSG+aLCwyA2AbAvPaCQJB45AzMwOBDgHA7QQCD3FWJmOEZnEdCKSV2uxhgkGYfC4xkHeAMvYurHrc1PPf6tlc1483tO7F6L+q1rapg2R1Tbm36QG5+0F3Y/aVZ8cbN9dTHnC0peVl0GWKUM9PsvLFaWLiTlbgC4rtx58eTwy31yVtxK9dX4RjsYjc+nqCQdVrjzc7eq7A60je5bWbNz8kDw8RQV8zKJx6cTulI0fRjfssdmwdoctc4cc27Ux1YTjrvvs3+D6M01JTGmp4msic0tfbNz7t1SXuObjbrK2M3GdCA6KGWmf59LUTQnucTe3V0tbwXi6+m2Xf1h52qrtff1XGIV0cDdaZ7WN2XcbXO4bzwXLSlrztWN3PWs2naIUcGkxqXmPD6eereLX1GkMFzYFxIu0dpAC7Mfs/JPinZ0V0tp56Lyi0GxersZ5YaFh9FvlZbdx1f2gu2mhxV56uiulpHPVpMJ5IaCIh9TztZIPSmedW/qNtl2EldVaxWNoh0RWI4bFrKahhJAhpoWDM2ZExvE5BVXP8e5XGkuiwmF1VIMjK4FkDDvzsX/s36iVhky0xxvaWu+StI/dLEYjT1Ne7XxOodNncQsOpCzg0Wvx29pXnZdfM9KRs4smsmelDVPSzUUvP4ZJzEmWtHtilA9F7Tl/51HNTBrZr0v1hji1c16X6ix/SuTF62l52EwOpYpDIy92mRzrazfqkBhHfmdq6tVlj9Hes8ujU5I/S3jzSHLx3lG3IhtyobciBVRUYpgMc1y2zH7xsPEfFdWHVXp0nrDqw6q1Ok9YHoRpvVYHUaj9Z9OT5SEnokE+fET5rvYdh7PVx5K3r2qvVpkreO1V9N4Hi8VbTxz07teOQXaesdRDh1OBuCN4WbNPQJAkCQJAkCQcQ/pE6UObzVBGSA5omnt6Q1iImHsu0uI7GoHeTzRRtDAHvF6iVoLydrGnMRt3DfvPAL5/Wamct9o4j/d3Dlydqfk1q42okCQJB45ENuQNuVRBxapdFDJJHGZXNaSGDIvO4ZH3LPHWLWiJnb5rWN52lzSvxfEql9pYamGA+c2Bha8jdruz+HYvWxYtLj67xM/N11pir5r/RrEqSgsYsDqXyC3lZnNkffeLs1WH1QF2d4xfyhu/Vp6tX/pYm/wB1VX2x/Ip3jF/KD9Wnq8/0sTf7pqf8wfyJ3nF/KE/Wp6shhdXLNidXO6mkp46kNfquztI0AHpADaS8964ddfHesTWd5hzam1bRG0tBI0EEEAg7QcweIXmROzjUFTotDr85TukpZRsfA4sI7hs7rLsx63LTnr9W+mpvX5rXD9MsWobCUR4hEOv5qcDiNveHFd+PXY7c9HVTVUnnon1/K3NO3Uw6ikEux76nosiPAHp+I4Fb758dI3mWy2alY3mWTqsLmrHiXE6h9S8Zhl9WFmzJrBYeAF+sLzsuvtbpTo4smrtPSvRYxxNY0NYA1o2AAADgAuGZmZ3lyTMzO8vCiG3IhlzRe9he1r9dt11d/IC5ENORDZVQ25B4qhIIWK4e2eMtORGbTuP3LbhzTitvDdhzTjtvC25B9J3Ulc+jlNoZ9c2Oxk0bSdbsu1had9m7l7kTExvD24mJjeH0aqpIEgSBIEgSD5c5aJnNx+dxFwz5MWg7CBBEbcL6ykxvGxLrWEYkyqgZNEbteL8D1tPaDcdy+XyY5x2mtvJ5tqzWdpTFghIEgSAXIhtyobciG3IG3Koqcbx6CkF55A09TRm93Boz79i3YsF8nhhlXHa/EIFL+Fqxpmo6IMhAu0TuDJJx9QEi2++ztOxejT2bXb909fk6q6WNusor9KhA8R4hBNRyfnGuLHdV2uAzHba2e1aMns/JXw9Wq+mtHHVc09UyVutE9r272kOHiFxWrNZ2tGzmmJjpL1yjE25UUmK406KdkEdPLO+RpcwRDWc61y4BoBJIDb8F1YNLOau8S3YsE5I3iXhrK0/3VX/5Mn8q3+7rfybe5z6hM9cf7rrv8qT+VX3db+R3OfV4XV5/uut/y3/yp7ut/JO5T6qKt0tMUhjkp3tkBsWlw1gdxFsj2K+75/kdyn1XlHUGSNry0sLhfVdtHFcN69m0xE7uO9ezaY33G5YsTbkQ25VDbkQ25B4qhIPHOABJyAzJ3BIjfpCxG/SGDdVOfUmSG4cXOLbbbWI9y97FTsUisvdxV7FIrL7TWxsJAkCQJAkCQfMXLtFfG3j6UcH7gb8FJnaN0mdo3VWh+k8uEzuimaTC515G9YOznI+2w7wPDiz4Kamnarz5f4lpmK5q9qrtmG4jFUxNlgeHsdsI9xG0HsK8S9LUt2bR1ckxMTtKSsEJAkAuRGQ0uq6t1ZR0uHkCeTnZCHEarmsaSGvvlqmz+8DMbV6Oh09csWm8fJ0YccW33PYNpQJZDT1THUtW02dFJlrHfGT5wP8A6uM1r1Gjvi6x1j/eWGTDNPok47pDT0YvPIAepg6T3cGj3nJacWDJl8MNdcdrcINBQYpivzDPwfTH8tKLzPG9ke0ezscvVw+z6V636z+HXTTRHi6tvotycUVA7nNU1FRe5nn6b9be0HJvEZ9pXfEREbQ6IjZrKidsbS6RzWNG1ziGgcSckVh9JeUnCWtMUj21l/yUcYnDuy56HtThN3JcWoDUzCTCqGXDxckvdO5oeP0RHQ4C4XLm1ODba07/AJaMmXHxPVpcGp6ljbVUrJTb0WWIPa64B+yF5GW2OZ/ZG39/7/24Mk0mf2xsnuWprUOPVPyWooqwZcxUs1z+aeRr37gR+svQ9n32vNfV16S21ph9AL1noK2DHqZ9Q6nZPE6dnnRB7dcd3Wd4GzrQYrlD0KxKvDvk+IWiP9nc0wst1h0kdy8djgfuo5t+AqrC/wCsYc8AZGaHywPaTmWjiRwXDn0uTJxb+p/8cebT3v8AF/RykxyCbzJG33O6J8DtXn30+SnMOG+C9eYTStLUbciGnKoAohsoPFUJBltIMX5w8zDc3IBIzLzfJrbbc/FelpdP2f8A9LvT0un7P77msDw18eIMhlFntLw4bbHmnGy7qXi9e1HDuiYmN4fYiyUkCQJB5dB4XIBL0Hzdy8//ADTTvhgP7Th8FjbiWNuJRcTwxlQ2zxmPNcNo+8di8TDmtineHi4s1sc7wz9JUVmFSa8LiGk526Ubx1B7eo+3cV6O+HU12nn8vTpkx5o283R9HOU6nqLNqf8AV5N5ziJ7Hej+tl2rz83s+9OtOsflhfBMcNzHIHAOaQ5pzBBBBHYRtXBMbdJaBKAXIii0Ci+U49Wz7W0sEdO31nm7u8Fsg719BoadnDHz6u/BG1G30u0QpsTj1alnTb83K3KWM/Vdu7DkutuU+DaE4fhDHVMoMsjek+onBleD1loAOrxAv2pERHSEiNlVXcstKX83QQT1kh82zebYe93SH2Vja1aRvadoSbREbyqqrSPGqvYaegYfojnZQOJuPcuO/tDFXw9Wi2prHHVVSaItmdr109RVv2+Ukdqg9jQcuF1x39oZLeHo0W1N546Lajw2KAWhjYz1WgHvO0rkvkvfxTu0Wva3MnnLFgaciAcqKfSik56kmZa51C4cWdIW+zbvW7TX7GWstmG3ZvEvfx6r8RpIYKa9NG2Jkc9R+Ule1oa/mreaCQdmfaNi9jPqaYunM+j0MueuP6qx2ilPqBoDg9puJQ4iTW+lfivNjW5e12t/6cPecna3XWEaY4nhtmyH8IU46nG1Q0djsy7v1u5d2LW0v0t0l149VW3Sejo+ivKHQ4iQyKXm5thhlsyS/WG3yfsPmkngux0pmO6F0Nbf5TTROcfTA1JPtssUVh8R5HNTPDqyWLdHMOcj4AixaO4rXfDjv4oar4aX5hlMT0exWjuZ6Tn2DbJTHnP2B0vEALkvoKz4Zct9FHwypqXH4JMtbVdueNU347PauS+ly08vs5L6bJXyT3Lnc5sqiPWVrIReRwG4dZ4DrWePFbJO1YZ48VrztWGaq8UmrHiGnY7pGwa3N7+Ntg/8K9LFp6YY7d5elh01cX7rcul6B6BtorTVFn1FuiBm2K+49bu3q6t58/V62cv7a8f9plzdrpHDL0TdfSVw3yz+yF/3L1dL/wANfo6cXgh9P3XQ2PC5B4XoAMqBt06oZfUoGH1auyPnvlzkvizD+Yi/fkWNuCeEhq+cfPitcWOYRYUuI6LxSZx+Td2ZtP6vV3Lsxa29elusOvHrL16W6q2mbX4cS6ne8N2nmzrMPa6M5HZ1hdX6mnz9Lfn/AC7K5sWXn8tPhHK1I3Krga/e6M6ju9rrgnvC0ZPZlZ60n7ltPHwy2GG6fUM+yYRu+jKNTu1j0fauG+izU8t/o02w3jyVWiNRi1C2Y00VDKKiZ073ve551ndQLHgWGfiV6ca3DSIr16fJ0RmpWNl9+N+O/wD1sP8AGX/uq+8MPz+y94o8/HLHB/ZaD7Uv/dV7/h9fwd4oymklDV1xLpcOoGSnPnYXyRSa30iRJZ59YFO/4fX8J3igNG6XFYJGNnLXw3AdrvD3Nb1lrr61+wkhcee2lvEzXpLRknFMbxy2bl57mNuRDblUNlENuVDT0Q2GgAAAADIAZADsVJNuRDbkRWYpg8NR84wa30hk4d/XwN1uxZ74/DLZTNenEpuDaVYnhtgx/wAupx+TmJ51o3Mk2+NxlkF6WLXUt0v0d2PWVnpbov63lkfIwNoaGQy26RnIbHG7d0c3+LV0Xz46xvMt9s1KxvMsfi9bX4hf5dVv1DfyEPk4rHqcB5361ztzXHk1/lSPu48mt/hCNTUEUA6DWt+sdve45rivlyZJ6zu475L5OZ3Q6zSCCP0tc7m5+3YttNJlt5bfVsppclvLb6qOfSCaZ2pTsIJ2BoL3nhl8F2U0eOkb3n/5Drpo6V63ndd4HycVNSderdzLTmb9OV3d6Pee5YZdfjxx2ccb/wDTZbNWsbVh0/ANH4KJmrTsDSR0nnN7/Wd8Ni8rLnvlne0ua15tyt2rSxch0b6ek5/TVXsil+5fTab/AIq/SHo4/DD6XfKtzMy+oVEd9WmwjyVquyIslcrsIslcrsIslcmw4pyxv1q9h/8Azs9kkixsQs49g4L5ueXgScCgIIDaoqPV4ZFN85G0nfax8RmtlM16eGWymW9PDKmq9DI3fNPczsPSHwK66a+0eKN3TXW2jxRurxo7WU5vA/vjkLD7bLfGrw36Wj7w3xqsVuUuPSvFKbzzI4D/AGkYcPtWufFTu+lycbf1LLs4b8J9LyqTAeVgjf6rnM9+ssLezafDaSdNHlK2g5UKc/OQyt4ajh7wtE+zb+Uw1zpreUrCLT6hdtlc31o3/AFap0OaPL8tc6e/omM0no3bKiLvdq/vWWudNlj4ZYTiv6JEeKQP8yaJ3CRh9xWE4rxzWfsxmlo8hiZp2OaeBBWO0sJiSKiG3KhtyIaebbVRGfUsG17R+sFlFbeh2Z9EOXF4G7Zovttv4ArOMOSfhn7MoxXnylBn0lpW7ZQfVDne4LZXSZp+FlGnyT5IFRpjAPNEjuAAHtK210GSedmyNHknnZW1Gmp9CIcXOv7APit1fZ/rZsjQ+so0eK11T8yx56vJRk+2xstvd9Pj8U/eWyNNhrz+ZT6XQOvqDeYhg3yvue5rb/BYzrMGPpX8Qy/VxU8P4afCuTCBljUSPlO5vk2/Fx8QuXJ7RvPgjZrtqbTw2eF4TDTN1YImRjr1RmeLtp71w5Mt7zvad2mbTbmU8LWxGEUbVByXQBmtpSBvqK3/AKU6+nwf8VfpH/T0qeGHf6mpst+yq2atV2EOSuV2EaSsV2RGfVJsGXVCoadMg5VysG9VEfzI/wCo/wC9YX5WFvEeiOA9y+anl4E8nQoCCA2qKcCAgijCgNqBqahjk+cjY71mtPvCyrkvXiZZ1vaOJQptGKV+2ID1S5vsBst1dXmj4m2NRkjzQ5dB6d3mukbwcCPaL+1bY1+SOdmyNXf5IsugDD5kzhxYHe4hZx7RnzqzjWT5wYdyfP6p297CPis49ox/Fl3yPQw/QCf0ZIjxLx/CVnHtDH5xLKNXT0kH4g1Q2Oh7nO/lV94YvSV73T5iGg1Z9KP7bvuTv2H0n7HecZfiHVna6Lve4/wp3/DHr9l71jEOTuq+nB9p/wDIp7xxek/7/Z3qnzSY+TaY+dNGOAcfgFjPtGnlWWPe6+iVFyZH0qkd0fxLlhPtL0r+f/E738k+Hk0g9OWY8NRvvBWufaOTyiGM6q3os6fQKibtjc/1nv8A4SFpnXZp8/wwnUXnzXNJgNNEQY6eFpGw6jS4d5F1otnyW5tP3YTktPMrRq1MRhAYQGFFEEBhFG1Qcn5MulpS0/nq0+MU4+K+ow/8dfpD0qeGHaa6Rb4VSVE6yREfMqGzIgEuVA3QeXQc05Vh5eE/myPB5+9a7rCzpT0G+q33BfN38UvBt4pPhYoIIDaopwICCKMKA2oDCKIKAwijCAwijCgMIoggMKAwgMIowooggMKKMIDCKMIDCAwooggMIo2KDlfI83W0jJ3Gqd4hw+K+px+CPpD068Q7FiLVvgUFSskRHKgUCQJAkHOOVgeUpz9R/scPvWu6wm0PzTPUb+6F85k8c/V4V/FP1SQsGIggNqinAgIIowoDagMIogoDCKMIDCKMKAwiiCAwoDCAwijCiiCAwoowgMIowgMIDCiiCAwijYoOYchwvj0h3R1B/baPivqqeGHpxw7JiLFtgZ2ras4RAcFQKBIEgSDnXKx51P6snvYtd1hJw03hj9Rv7oXzuXxz9Xh5fHP1SwtbAQQG1RTgQEEUYUBtQGEUQUBhFGEBhFGFAYRRBAYUBhAYRRhRRBAYUUYQGEUYQGEBhRRBAYRRdSg5jyBZ41IfzE5/5kf3r6uvEPTh23EGLOBmq1izhFZIFkG0CQJAkGM5ScGkqI45Ihrc1r6zR51nauYHXbVWF43WGZ0fx9uq2KXokABruogbAdx7V5Gp0s7zen2edqNLO83q1AXnuEQQG1RTgQEEUYUBtQGEUQUBhFGEBhFGFAYRRBAYUBhAYRRhRRBAYUUYQGEUYQGEBhRRBATnAAkkAAXJOQA3k9ScrDl+m3KAZb02Hlx1jqOlbfWeTlqxdeezW2nq3n1tLodv35Pt/l14sPnZvuRfk4kw4mrqyWzSRljYRbybHFriZD9PojIbM73Jy9V0t5XMWUIzVexZwimlCoZKoSBIEgSDI6T6ER1N5ILRS5ki3Qee0DzT2hYzXc3YltXU4e/m5mG3U12wjex27hcLizaWmTrPSWnLp6ZOvEtFhuOwzWAdqu+i7I9x2FeZl0uTH5bw87Jpr0+i2C5mk4EBBFGFAbUBhFEFAYRRhAYRRhQGEUQQGFAYQGEUYUUQQGFFGEBhFGEBhAYUVUaQaUU9CPLP6driNuch3ZeiMtpsFvw6fJl8MdPVspjtfhzarxevx6b5PSxu1Cb82zzQPpTyHK3Gw2da9nT6SmLrzPq7MeKKfV2Xk35LYMMDZp9WartfX2siJ2iIHr+uc+Gxdba6IgrKxiozmIRLOEUc8ayRFcxUDqoFZB4gSBIGKykZMwslY17T1OFx3bj2oMTjXJ0113Uj9Q/Qfct7nbR334rCaei7s3L8uw82ka4MH0hrx7hZw2cAQuXLpaX5hpvgx35hZUOmLDlMwsO9vSHhtHtXBk0Fo8M7uS+itHhndf0eIxS/NyNd2Xz8DmuO+K9PFDmtjvXmE0LWwG1AYRRBQGEUYQGEUYUBhFEEBhQGEBhFGFFEEBhRRhAYRRhBRYxplSUtw+UPePQj6br7idg7yunFpMuTiOnzba4bW8mHxDTysrX8zQRuZrZARgyTO7wOj1bBlvXpYvZ+OvW/Wfw6aaesc9Wk0P5E56h3PYq8xNJuY2kPmfn6b8wy/eeC7oiI6Q6HbsBwGnoIhFSRNiZtOqM3G1rvcc3O7SSqLJAkESdl1RTVtPdZQimqKRXcQpKRXdDDqZUNugQNmJAJYqBLUHlkHlkHjhcWOYQUOJ6HUk9yY+bcfSj6Ps80+CxmsSbstX8m8jc6eVrtweC0+IuD7FjNF3Vb6bEqTa2XVHZzrfEXsPBc99LjtzVqthx25gdNptI3KSNjuBLD8VyW9n0nwy0W0VfKVtTaawO89r2dwcPYb+xaLaDJHExLVOjvHC1ptIKZ+yZg9Y6n71lz202Wvwy0zgyR5LOGVrs2uDuBB9y0zExywmJjk8FEGEUYUBhFEEBhQGEBhFGFAQRUOpxqni+cniadxe2/he62Vw5LcVlnFLTxClrOUKjj81z5T9RhA8X2XRXQZp56NtdPeWexDlPldlTwtZuLyXnwFgPauqns2seKW6uljzkqTRzG8W2smEZ65PIRWO5ptrDgCu3Hp8ePww31x1rxDc6M8g0bbOxCcyHrjh6LeBkcNYjgGrczdVwHR2moWalJCyIdeqOk71nHpO7ygtECQJAkDb2oIs0F1RClo1d0RJKFXcRpKBNxGkoVdxHfRK7ojvpE3DDqZXcNOgQNuiQCY1QOogWog91EEarwuKb52KN/rMa7wJGSgpazQOjkvaMxk9bHOFuAN2jwU7MG6mquS9h+ane312B3tBHuWPYXdWT8mdS0+TkidxL2n3Ee1SaG5h+i2KxeZzhH1Jhbw1gfYtc4KTzWPsxmlJ5iAvGLxbWVH2BJ8CtU6PFPwsJwY58gjHMTj89kn60Fvc0LCdDh9PzLGdNj9BHTCubtjb3xOHxWHu/F807rjD+PdWPQi+w/+ZT3fi+Z3Snzet08rDsZF3Mef4k934vmd1p8zrdLsQd5sXhC8q+78XzXutDjMRxqX5uKpPq0t/bzazjRYY+H8ysafH6JjNHdIJ7Wiqhf6zYfEktss402GPhhnGGkeSXFyP4xUAc8WMv1Szl9uOprLbWla8QzisRxC8w/+j/IbGorWN3iOIv7g5zh42WStZhfIhhsXzvP1B+vJqN7hEGn2lBtcG0Yo6P+q00MR2azWN1zxf5x7ygt0CQJAkCQJAkHhCAS1ABjQA6FUNOp0DL6VNww+jV3RHkoU3EaSgV3EaShV3Ed9Cm4juo1d0AaNNwvkabj0UabghRJuDFEm4IUKbghQqbqIUKbgxQpuCFCm4P5B2JuCbh43DwU3D8VFbqHgm4n08FlBYwtUVIaoDQJAkCQJAkCQJAkCQJAkCQeIPEHhQCUAOCoacEDLwiGJAqI0gVEd4QNkIFZAQCAwEBAIDAQEAgMBQEAgIBAQCAwEBtCgeYEEhiinAgJAkCQJAkCQJAkCQJAkH//2Q=="/>
          <p:cNvSpPr>
            <a:spLocks noChangeAspect="1" noChangeArrowheads="1"/>
          </p:cNvSpPr>
          <p:nvPr/>
        </p:nvSpPr>
        <p:spPr bwMode="auto">
          <a:xfrm>
            <a:off x="155575" y="-1431925"/>
            <a:ext cx="5715000" cy="2990850"/>
          </a:xfrm>
          <a:prstGeom prst="rect">
            <a:avLst/>
          </a:prstGeom>
          <a:noFill/>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43" name="Content Placeholder 1"/>
          <p:cNvSpPr>
            <a:spLocks noGrp="1"/>
          </p:cNvSpPr>
          <p:nvPr>
            <p:ph idx="1"/>
          </p:nvPr>
        </p:nvSpPr>
        <p:spPr>
          <a:xfrm>
            <a:off x="0" y="3122705"/>
            <a:ext cx="8964488" cy="3717032"/>
          </a:xfrm>
        </p:spPr>
        <p:txBody>
          <a:bodyPr vert="horz" lIns="91440" tIns="45720" rIns="91440" bIns="45720" rtlCol="0">
            <a:normAutofit fontScale="55000" lnSpcReduction="20000"/>
          </a:bodyPr>
          <a:lstStyle/>
          <a:p>
            <a:pPr lvl="1"/>
            <a:r>
              <a:rPr lang="en-IN" sz="3200" dirty="0">
                <a:cs typeface="+mn-cs"/>
              </a:rPr>
              <a:t>A company’s headquarters and branch offices are located in geographically distant areas.  They exchange a lot of data through – emails, browser based applications etc.</a:t>
            </a:r>
          </a:p>
          <a:p>
            <a:pPr lvl="1"/>
            <a:r>
              <a:rPr lang="en-IN" sz="3200" dirty="0">
                <a:cs typeface="+mn-cs"/>
              </a:rPr>
              <a:t>Company has few salespersons who keep travelling with their laptops (tablets or smart phones too). They also need to be in touch and work seamlessly.</a:t>
            </a:r>
          </a:p>
          <a:p>
            <a:pPr lvl="1"/>
            <a:r>
              <a:rPr lang="en-IN" sz="3200" dirty="0">
                <a:cs typeface="+mn-cs"/>
              </a:rPr>
              <a:t>The company wants to have a complete opaqueness – outsiders must not know if emails or web browsing or remote logins or even ping are taking place among its employees.</a:t>
            </a:r>
          </a:p>
          <a:p>
            <a:pPr lvl="1"/>
            <a:r>
              <a:rPr lang="en-IN" sz="3200" dirty="0">
                <a:cs typeface="+mn-cs"/>
              </a:rPr>
              <a:t>How this company can provide required software and hardware infrastructure for a secure communication?</a:t>
            </a:r>
          </a:p>
          <a:p>
            <a:pPr lvl="2"/>
            <a:r>
              <a:rPr lang="en-IN" dirty="0">
                <a:latin typeface="+mn-lt"/>
                <a:cs typeface="+mn-cs"/>
              </a:rPr>
              <a:t>Custom made secured applications? IP addresses, Ports, Protocol type will still be revealed.</a:t>
            </a:r>
          </a:p>
          <a:p>
            <a:pPr lvl="2"/>
            <a:r>
              <a:rPr lang="en-IN" dirty="0">
                <a:latin typeface="+mn-lt"/>
                <a:cs typeface="+mn-cs"/>
              </a:rPr>
              <a:t>Dedicated hardware (its own routers and communication links everywhere)? High Cost.</a:t>
            </a:r>
          </a:p>
          <a:p>
            <a:pPr lvl="2"/>
            <a:r>
              <a:rPr lang="en-IN" dirty="0">
                <a:latin typeface="+mn-lt"/>
                <a:cs typeface="+mn-cs"/>
              </a:rPr>
              <a:t>As much as possible - off the shelf available applications and already available communication infrastructure (the Internet as shown above)?</a:t>
            </a:r>
          </a:p>
          <a:p>
            <a:pPr lvl="1"/>
            <a:r>
              <a:rPr lang="en-IN" sz="3200" dirty="0">
                <a:cs typeface="+mn-cs"/>
              </a:rPr>
              <a:t>The last option sounds most feasible but in that case what will happen to the security of the communication?</a:t>
            </a:r>
          </a:p>
        </p:txBody>
      </p:sp>
      <p:sp>
        <p:nvSpPr>
          <p:cNvPr id="1047" name="AutoShape 23" descr="data:image/jpeg;base64,/9j/4AAQSkZJRgABAQAAAQABAAD/2wCEAAkGBxESDxARERQSFhUWFRUYGRUVEhcaGBcaGhUWFhQcHxYaHCggGhsoHBQWITEhMSk3Li4uGCAzODMsNygtLjIBCgoKDg0OGxAQGy0mICU0LC83NCwrLCwwLC8sLCwsLzAsLC8sNCw1NCwsLzQ0NCwsLCw3NCwsNzQsLCwsNCwsNP/AABEIAGMAnwMBIgACEQEDEQH/xAAbAAEAAgMBAQAAAAAAAAAAAAAAAgUDBAYBB//EADwQAAEEAAMFBQUFBgcAAAAAAAEAAgMRBBIhBRMxQWEiUYGRoQYUMnGxQlJigtEjM0NyksEVFiQ1dLPh/8QAGQEBAAMBAQAAAAAAAAAAAAAAAAECAwQF/8QAJhEAAgICAQQBBAMAAAAAAAAAAAECEQMSMQQhQVGRE4Gh0UJhcf/aAAwDAQACEQMRAD8A+4oiIAiKvk2lmJELc9cXE0weNHN4KUm+CspqPJYIqstmPxS10YwAebrK8EUo4TP/ADNYR9Ar/T/sz+svT/H7LVamI2gxjsurnfdYLI+fd4rQxeJxAbRAIJ1kjBzBvOozevW/BZ8GGBg3dZTrY59SeZUrH5ZV5r7RJ+/ScoT4yNB8tV7/AIoB+8Y9nUi2/wBTbpStLU6r0RvL2e4nHhuUMGdzhYAOld5dyb1WDLM7V0uXpG0UPzOslQwWEbHnIq3uLjQr5Cun9ytm0pLghylLkw5Jhq2W+kjAQfFtEINra5Cx29+4DYI+9n4Zevos1rHFCGl5HFxsnv0oeA7kpPkjaS4ZH9u7V0gZ+GNoNfmdx8gm7lHwzOv8TGkelFZrS0H3fyyMWPLSGzANJNB7T2HHkNdWnofNb60JYw5pa4WCKIWDZ+02hu7lcQ5rizM4GnVw7XC6IVZQ8o0hkp1JlsiIszcIiICrx8hkeYQaY0AyEc7+FnlqfDvWRoAAA0A4AclqYB1iRx4mR9+Dso9AFs2uhKlRxOVuydpahaWlEWTtLULS0oWTtLULS0oWTtLULS0oWTtLULS0oWTtLULS0oWTteEAgg1R4iuKjaWlCzFA/cOaP4TiG0f4bj8NfhJ0rkVbqk2of2E38jj4gWPVW+HdbGk8SB9FTIvJtglzEx43FCNtkEkmmtHFx5BVjo3P1lcT+BpIYOmmrvmVPaDrxLAfsxuIHUuAJ8h6qVq8I0rMs025NeEY8Lh2xhwbwLia5C6sD6+KzWo2lq5kuxK1HetzZbGary2Lrhdca6pa5mb/AH6D/gSf94VX2LLudRaL55B7TbR9yZtB5w26bJldCI3Z3s3u7Lt5mpju5tHhqVusixh9oJ2txDBGMNC4sMJNx714yjt0H6Ht1zGmijYtqdtaWvm+P9u5v9VNFLA0QySMZhXQSOknEbsrjvmmmFxBygA1pfcrnFbXxsu0DhcKYYme6wzl8sZe5ud7gW5ARZNAdKTZEas6+0tcNiNs7SkO03QOwrGYOR4AfE5zpcsLJSwkOAYNT2tSc3KtZ7Y9sTmwUbJIsOZ8Pv3SyRulyA0GsaxpFkku1J0DeqbIas7ZLXzHbu2sVitlOe2RjHRYyKJ0jYnhsw3kRjewFwLR2xY1uiOq+i4JkrY2tme2SQXme1mRp15Ms15qU7DVGzaWo2lq1FbJWlqNpaULNHGl0wdHGRQ+Jx4Eg2GfqeSvMBOHxtcNOnMEaEeBWivdjuqSdnLM1/yzN19W34qmRWjTBJqdeyG3YHWyZgtzLsd7TxHp6LXw2Njk+Fwv7p0cPmFdYycMje88GtJr5BUEODbk7bWuc7tOJHM93cBwTFbQ6lJSTXJupa14cOxhOUEX1J+pWa1rRz2StVr9lA45mMzm2wOhyZdDb8+bNfhVKwtLUNWTsc6PZQf4b7hvTV3vMgv97vPhvw4raxmxZDj242GbdkxtjlYYg8SMa8vABJGR2pF6q4tLUaondnPs2BiYnyjCYvcxSSOkMbsO2Qsc83JkeXCgTZog0SVvw7IDcdJjM5JfBHDky/ce52bNfE5uFKxtLTVDdlPhtghjdot3hPvb3uJy/u80LYq49qst8lryezb2jCPw+IMU2Hh3IkMYeyRmlh8ZI5tsUdLK6C0tNUN2Uu0dhyYjBPw+IxBdI5weJmxNbkc1zXMqOzYBbzNmzqrTAMlbG0TSCST7TwzICb5Ms15rNaWp1I2JWsE4ksOYRpxY4aH83EH0WW0tSQ2Qw+IDweIINFp4tPX9VltaeJ7L2SDmQx3UONN8iR5lZ5p2sFvcGjqaSiFL2ZbT2f7W9l5Pd2f5WjKP7nxVawvxJyMBbF9pxFFw7h3BdNh4QxoaOAWOWS4R14MbvZmDasGeCRg5tI9FT4PEZ2A8+Dh3EcQujVFtHY7sxkgOVx4jiD8wq45qPZluoxOfePItLWg7EYhujob6tdp5EKWAxTpAS7KK0yi8zT1tdKafBwyUo8o3bS1G0tTRWyVpajaWlCyVpajaWlCyVpajaWlCyVpag99Ak8ACfJQw0pcxrjVkA6cEobGa0tRtYsRimMFuPyHM/Ic0oWY9pjMwMHF72gdNbJ8ACt3C+zsQIc63HvJv6rFsfCvkk30goDRje4cyepXQLmyzt0j0OnxUtpLuQiiDRQFKaIsTpCIiA8IVLtTY5Lt7Ccr/AEPQjmFdopTadorKKkqZyHv5YamY5h7wCW/qFmZjYjwew/mC6SXDtd8QBWlJsOA/ZC3Wf2jkl0S/iyokx0TeL2f1D6Bacm0BnD2teW1TjlNVxBAOtj6Lo49iQN+yFtjCsy5copH1HpELol5kUbHggEEEHgQvbXmL2HIwl2HdQOuU6t8lpOnmbo+E/Np09VrHLFnNPp8kfF/4b1pa0ffJD8ML/EhZotn4mX46jb3Nuz+YqXkivJEcGSXj5ISXM/cs1H23DkPu33lbr/Zpo1je5nyNeitdn4BkLQ1oW2uaeVt2j0MfTxjGn3Oc/wAvynjNJX83/i3MFsCKM5j2nd51Vuio5yfLNY44R7pI8ArgvURVLhERAEREAREQBERAEREAXhaERAeBg7gpIiAIiIAiIgCIiAIiID//2Q=="/>
          <p:cNvSpPr>
            <a:spLocks noChangeAspect="1" noChangeArrowheads="1"/>
          </p:cNvSpPr>
          <p:nvPr/>
        </p:nvSpPr>
        <p:spPr bwMode="auto">
          <a:xfrm>
            <a:off x="155575" y="-563563"/>
            <a:ext cx="1895475" cy="1181101"/>
          </a:xfrm>
          <a:prstGeom prst="rect">
            <a:avLst/>
          </a:prstGeom>
          <a:noFill/>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grpSp>
        <p:nvGrpSpPr>
          <p:cNvPr id="2" name="Group 69"/>
          <p:cNvGrpSpPr/>
          <p:nvPr/>
        </p:nvGrpSpPr>
        <p:grpSpPr>
          <a:xfrm>
            <a:off x="467544" y="1339640"/>
            <a:ext cx="8424936" cy="1801328"/>
            <a:chOff x="467544" y="1772816"/>
            <a:chExt cx="8424936" cy="1775163"/>
          </a:xfrm>
        </p:grpSpPr>
        <p:sp>
          <p:nvSpPr>
            <p:cNvPr id="29" name="TextBox 28"/>
            <p:cNvSpPr txBox="1"/>
            <p:nvPr/>
          </p:nvSpPr>
          <p:spPr>
            <a:xfrm>
              <a:off x="5508104" y="2492895"/>
              <a:ext cx="1008112" cy="281406"/>
            </a:xfrm>
            <a:prstGeom prst="rect">
              <a:avLst/>
            </a:prstGeom>
            <a:noFill/>
          </p:spPr>
          <p:txBody>
            <a:bodyPr wrap="square" rtlCol="0">
              <a:spAutoFit/>
            </a:bodyPr>
            <a:lstStyle/>
            <a:p>
              <a:r>
                <a:rPr lang="en-IN" sz="1200" b="1" i="1" dirty="0" smtClean="0">
                  <a:solidFill>
                    <a:prstClr val="black"/>
                  </a:solidFill>
                </a:rPr>
                <a:t>Router (R2)</a:t>
              </a:r>
              <a:endParaRPr lang="en-IN" sz="1200" b="1" i="1" dirty="0">
                <a:solidFill>
                  <a:prstClr val="black"/>
                </a:solidFill>
              </a:endParaRPr>
            </a:p>
          </p:txBody>
        </p:sp>
        <p:grpSp>
          <p:nvGrpSpPr>
            <p:cNvPr id="5" name="Group 68"/>
            <p:cNvGrpSpPr/>
            <p:nvPr/>
          </p:nvGrpSpPr>
          <p:grpSpPr>
            <a:xfrm>
              <a:off x="467544" y="1772816"/>
              <a:ext cx="8424936" cy="1775163"/>
              <a:chOff x="467544" y="1772816"/>
              <a:chExt cx="8424936" cy="1775163"/>
            </a:xfrm>
          </p:grpSpPr>
          <p:sp>
            <p:nvSpPr>
              <p:cNvPr id="27" name="TextBox 26"/>
              <p:cNvSpPr txBox="1"/>
              <p:nvPr/>
            </p:nvSpPr>
            <p:spPr>
              <a:xfrm>
                <a:off x="467544" y="2780928"/>
                <a:ext cx="1080120" cy="469010"/>
              </a:xfrm>
              <a:prstGeom prst="rect">
                <a:avLst/>
              </a:prstGeom>
              <a:noFill/>
            </p:spPr>
            <p:txBody>
              <a:bodyPr wrap="square" rtlCol="0">
                <a:spAutoFit/>
              </a:bodyPr>
              <a:lstStyle/>
              <a:p>
                <a:pPr algn="ctr"/>
                <a:r>
                  <a:rPr lang="en-IN" sz="1200" b="1" i="1" dirty="0" smtClean="0">
                    <a:solidFill>
                      <a:prstClr val="black"/>
                    </a:solidFill>
                  </a:rPr>
                  <a:t>Company Headquarters</a:t>
                </a:r>
                <a:endParaRPr lang="en-IN" sz="1200" b="1" i="1" dirty="0">
                  <a:solidFill>
                    <a:prstClr val="black"/>
                  </a:solidFill>
                </a:endParaRPr>
              </a:p>
            </p:txBody>
          </p:sp>
          <p:sp>
            <p:nvSpPr>
              <p:cNvPr id="28" name="TextBox 27"/>
              <p:cNvSpPr txBox="1"/>
              <p:nvPr/>
            </p:nvSpPr>
            <p:spPr>
              <a:xfrm>
                <a:off x="1907704" y="2780928"/>
                <a:ext cx="1008112" cy="281406"/>
              </a:xfrm>
              <a:prstGeom prst="rect">
                <a:avLst/>
              </a:prstGeom>
              <a:noFill/>
            </p:spPr>
            <p:txBody>
              <a:bodyPr wrap="square" rtlCol="0">
                <a:spAutoFit/>
              </a:bodyPr>
              <a:lstStyle/>
              <a:p>
                <a:r>
                  <a:rPr lang="en-IN" sz="1200" b="1" i="1" dirty="0" smtClean="0">
                    <a:solidFill>
                      <a:prstClr val="black"/>
                    </a:solidFill>
                  </a:rPr>
                  <a:t>Router (R1)</a:t>
                </a:r>
                <a:endParaRPr lang="en-IN" sz="1200" b="1" i="1" dirty="0">
                  <a:solidFill>
                    <a:prstClr val="black"/>
                  </a:solidFill>
                </a:endParaRPr>
              </a:p>
            </p:txBody>
          </p:sp>
          <p:pic>
            <p:nvPicPr>
              <p:cNvPr id="1028" name="Picture 4" descr="http://www.clker.com/cliparts/c/a/r/W/e/g/router-ok-hi.png"/>
              <p:cNvPicPr>
                <a:picLocks noChangeAspect="1" noChangeArrowheads="1"/>
              </p:cNvPicPr>
              <p:nvPr/>
            </p:nvPicPr>
            <p:blipFill>
              <a:blip r:embed="rId2" cstate="print"/>
              <a:srcRect/>
              <a:stretch>
                <a:fillRect/>
              </a:stretch>
            </p:blipFill>
            <p:spPr bwMode="auto">
              <a:xfrm>
                <a:off x="1979712" y="2132856"/>
                <a:ext cx="804739" cy="535131"/>
              </a:xfrm>
              <a:prstGeom prst="rect">
                <a:avLst/>
              </a:prstGeom>
              <a:noFill/>
            </p:spPr>
          </p:pic>
          <p:pic>
            <p:nvPicPr>
              <p:cNvPr id="1034" name="Picture 10"/>
              <p:cNvPicPr>
                <a:picLocks noChangeAspect="1" noChangeArrowheads="1"/>
              </p:cNvPicPr>
              <p:nvPr/>
            </p:nvPicPr>
            <p:blipFill>
              <a:blip r:embed="rId3" cstate="print"/>
              <a:srcRect l="9594" t="5836" r="64338" b="24021"/>
              <a:stretch>
                <a:fillRect/>
              </a:stretch>
            </p:blipFill>
            <p:spPr bwMode="auto">
              <a:xfrm>
                <a:off x="467544" y="1847115"/>
                <a:ext cx="1120124" cy="861804"/>
              </a:xfrm>
              <a:prstGeom prst="rect">
                <a:avLst/>
              </a:prstGeom>
              <a:noFill/>
              <a:ln w="9525">
                <a:noFill/>
                <a:miter lim="800000"/>
                <a:headEnd/>
                <a:tailEnd/>
              </a:ln>
            </p:spPr>
          </p:pic>
          <p:pic>
            <p:nvPicPr>
              <p:cNvPr id="1036" name="Picture 12" descr="http://highlandparkoms.com/images/Medical_Office.png"/>
              <p:cNvPicPr>
                <a:picLocks noChangeAspect="1" noChangeArrowheads="1"/>
              </p:cNvPicPr>
              <p:nvPr/>
            </p:nvPicPr>
            <p:blipFill>
              <a:blip r:embed="rId4" cstate="print"/>
              <a:srcRect/>
              <a:stretch>
                <a:fillRect/>
              </a:stretch>
            </p:blipFill>
            <p:spPr bwMode="auto">
              <a:xfrm>
                <a:off x="6804248" y="1772816"/>
                <a:ext cx="859160" cy="859161"/>
              </a:xfrm>
              <a:prstGeom prst="rect">
                <a:avLst/>
              </a:prstGeom>
              <a:noFill/>
            </p:spPr>
          </p:pic>
          <p:pic>
            <p:nvPicPr>
              <p:cNvPr id="1038" name="Picture 14" descr="http://www.clker.com/cliparts/P/C/k/o/0/k/router-down-hi.png"/>
              <p:cNvPicPr>
                <a:picLocks noChangeAspect="1" noChangeArrowheads="1"/>
              </p:cNvPicPr>
              <p:nvPr/>
            </p:nvPicPr>
            <p:blipFill>
              <a:blip r:embed="rId5" cstate="print"/>
              <a:srcRect/>
              <a:stretch>
                <a:fillRect/>
              </a:stretch>
            </p:blipFill>
            <p:spPr bwMode="auto">
              <a:xfrm>
                <a:off x="5652120" y="2132856"/>
                <a:ext cx="576064" cy="383068"/>
              </a:xfrm>
              <a:prstGeom prst="rect">
                <a:avLst/>
              </a:prstGeom>
              <a:noFill/>
            </p:spPr>
          </p:pic>
          <p:pic>
            <p:nvPicPr>
              <p:cNvPr id="1040" name="Picture 16" descr="http://cliparts.co/cliparts/8cE/jz4/8cEjz4zRi.png"/>
              <p:cNvPicPr>
                <a:picLocks noChangeAspect="1" noChangeArrowheads="1"/>
              </p:cNvPicPr>
              <p:nvPr/>
            </p:nvPicPr>
            <p:blipFill>
              <a:blip r:embed="rId6" cstate="print"/>
              <a:srcRect/>
              <a:stretch>
                <a:fillRect/>
              </a:stretch>
            </p:blipFill>
            <p:spPr bwMode="auto">
              <a:xfrm>
                <a:off x="6876256" y="2724959"/>
                <a:ext cx="852339" cy="823020"/>
              </a:xfrm>
              <a:prstGeom prst="rect">
                <a:avLst/>
              </a:prstGeom>
              <a:noFill/>
            </p:spPr>
          </p:pic>
          <p:cxnSp>
            <p:nvCxnSpPr>
              <p:cNvPr id="16" name="Straight Connector 15"/>
              <p:cNvCxnSpPr/>
              <p:nvPr/>
            </p:nvCxnSpPr>
            <p:spPr>
              <a:xfrm>
                <a:off x="1403648" y="2348880"/>
                <a:ext cx="72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156176" y="2276872"/>
                <a:ext cx="72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740352" y="2060848"/>
                <a:ext cx="1152128" cy="469010"/>
              </a:xfrm>
              <a:prstGeom prst="rect">
                <a:avLst/>
              </a:prstGeom>
              <a:noFill/>
            </p:spPr>
            <p:txBody>
              <a:bodyPr wrap="square" rtlCol="0">
                <a:spAutoFit/>
              </a:bodyPr>
              <a:lstStyle/>
              <a:p>
                <a:pPr algn="ctr"/>
                <a:r>
                  <a:rPr lang="en-IN" sz="1200" b="1" i="1" dirty="0" smtClean="0">
                    <a:solidFill>
                      <a:prstClr val="black"/>
                    </a:solidFill>
                  </a:rPr>
                  <a:t>Company’s</a:t>
                </a:r>
              </a:p>
              <a:p>
                <a:pPr algn="ctr"/>
                <a:r>
                  <a:rPr lang="en-IN" sz="1200" b="1" i="1" dirty="0" smtClean="0">
                    <a:solidFill>
                      <a:prstClr val="black"/>
                    </a:solidFill>
                  </a:rPr>
                  <a:t>Branch Office</a:t>
                </a:r>
                <a:endParaRPr lang="en-IN" sz="1200" b="1" i="1" dirty="0">
                  <a:solidFill>
                    <a:prstClr val="black"/>
                  </a:solidFill>
                </a:endParaRPr>
              </a:p>
            </p:txBody>
          </p:sp>
          <p:sp>
            <p:nvSpPr>
              <p:cNvPr id="31" name="TextBox 30"/>
              <p:cNvSpPr txBox="1"/>
              <p:nvPr/>
            </p:nvSpPr>
            <p:spPr>
              <a:xfrm>
                <a:off x="7812360" y="2798112"/>
                <a:ext cx="1008112" cy="656614"/>
              </a:xfrm>
              <a:prstGeom prst="rect">
                <a:avLst/>
              </a:prstGeom>
              <a:noFill/>
            </p:spPr>
            <p:txBody>
              <a:bodyPr wrap="square" rtlCol="0">
                <a:spAutoFit/>
              </a:bodyPr>
              <a:lstStyle/>
              <a:p>
                <a:pPr algn="ctr"/>
                <a:r>
                  <a:rPr lang="en-IN" sz="1200" b="1" i="1" dirty="0" smtClean="0">
                    <a:solidFill>
                      <a:prstClr val="black"/>
                    </a:solidFill>
                  </a:rPr>
                  <a:t>Company's Salesman in a Hotel</a:t>
                </a:r>
                <a:endParaRPr lang="en-IN" sz="1200" b="1" i="1" dirty="0">
                  <a:solidFill>
                    <a:prstClr val="black"/>
                  </a:solidFill>
                </a:endParaRPr>
              </a:p>
            </p:txBody>
          </p:sp>
          <p:pic>
            <p:nvPicPr>
              <p:cNvPr id="1049" name="Picture 25" descr="Cloud Computing"/>
              <p:cNvPicPr>
                <a:picLocks noChangeAspect="1" noChangeArrowheads="1"/>
              </p:cNvPicPr>
              <p:nvPr/>
            </p:nvPicPr>
            <p:blipFill>
              <a:blip r:embed="rId7" cstate="print"/>
              <a:srcRect/>
              <a:stretch>
                <a:fillRect/>
              </a:stretch>
            </p:blipFill>
            <p:spPr bwMode="auto">
              <a:xfrm>
                <a:off x="3275856" y="1844824"/>
                <a:ext cx="1895475" cy="1181101"/>
              </a:xfrm>
              <a:prstGeom prst="rect">
                <a:avLst/>
              </a:prstGeom>
              <a:noFill/>
            </p:spPr>
          </p:pic>
          <p:cxnSp>
            <p:nvCxnSpPr>
              <p:cNvPr id="53" name="Straight Connector 52"/>
              <p:cNvCxnSpPr>
                <a:endCxn id="1040" idx="1"/>
              </p:cNvCxnSpPr>
              <p:nvPr/>
            </p:nvCxnSpPr>
            <p:spPr>
              <a:xfrm>
                <a:off x="5004048" y="2578651"/>
                <a:ext cx="1872208" cy="5578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5076056" y="2276872"/>
                <a:ext cx="6480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2699792" y="2348880"/>
                <a:ext cx="6480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 xmlns:p14="http://schemas.microsoft.com/office/powerpoint/2010/main" val="149784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IP Security: Key Idea</a:t>
            </a:r>
          </a:p>
        </p:txBody>
      </p:sp>
      <p:grpSp>
        <p:nvGrpSpPr>
          <p:cNvPr id="2" name="Group 28"/>
          <p:cNvGrpSpPr/>
          <p:nvPr/>
        </p:nvGrpSpPr>
        <p:grpSpPr>
          <a:xfrm>
            <a:off x="192226" y="5661289"/>
            <a:ext cx="3847592" cy="648073"/>
            <a:chOff x="2944618" y="2165586"/>
            <a:chExt cx="5155774" cy="471326"/>
          </a:xfrm>
        </p:grpSpPr>
        <p:grpSp>
          <p:nvGrpSpPr>
            <p:cNvPr id="5" name="Group 24"/>
            <p:cNvGrpSpPr/>
            <p:nvPr/>
          </p:nvGrpSpPr>
          <p:grpSpPr>
            <a:xfrm>
              <a:off x="3275856" y="2348880"/>
              <a:ext cx="4824536" cy="288032"/>
              <a:chOff x="1475656" y="3933056"/>
              <a:chExt cx="4824536" cy="288032"/>
            </a:xfrm>
          </p:grpSpPr>
          <p:grpSp>
            <p:nvGrpSpPr>
              <p:cNvPr id="6" name="Group 7"/>
              <p:cNvGrpSpPr/>
              <p:nvPr/>
            </p:nvGrpSpPr>
            <p:grpSpPr>
              <a:xfrm>
                <a:off x="2843808" y="3933056"/>
                <a:ext cx="3456384" cy="288032"/>
                <a:chOff x="2843808" y="2420888"/>
                <a:chExt cx="3456384" cy="288032"/>
              </a:xfrm>
            </p:grpSpPr>
            <p:sp>
              <p:nvSpPr>
                <p:cNvPr id="16" name="TextBox 15"/>
                <p:cNvSpPr txBox="1"/>
                <p:nvPr/>
              </p:nvSpPr>
              <p:spPr>
                <a:xfrm>
                  <a:off x="4139952" y="2420888"/>
                  <a:ext cx="2160240" cy="288032"/>
                </a:xfrm>
                <a:prstGeom prst="rect">
                  <a:avLst/>
                </a:prstGeom>
                <a:solidFill>
                  <a:srgbClr val="92D050"/>
                </a:solidFill>
                <a:ln>
                  <a:solidFill>
                    <a:schemeClr val="tx1"/>
                  </a:solidFill>
                </a:ln>
              </p:spPr>
              <p:txBody>
                <a:bodyPr wrap="square" rtlCol="0" anchor="ctr">
                  <a:spAutoFit/>
                </a:bodyPr>
                <a:lstStyle/>
                <a:p>
                  <a:pPr algn="ctr"/>
                  <a:r>
                    <a:rPr lang="en-IN" sz="1200" b="1" dirty="0" smtClean="0">
                      <a:solidFill>
                        <a:prstClr val="black"/>
                      </a:solidFill>
                    </a:rPr>
                    <a:t>Application Header and Data</a:t>
                  </a:r>
                  <a:endParaRPr lang="en-IN" sz="1200" b="1" dirty="0">
                    <a:solidFill>
                      <a:prstClr val="black"/>
                    </a:solidFill>
                  </a:endParaRPr>
                </a:p>
              </p:txBody>
            </p:sp>
            <p:sp>
              <p:nvSpPr>
                <p:cNvPr id="17" name="TextBox 16"/>
                <p:cNvSpPr txBox="1"/>
                <p:nvPr/>
              </p:nvSpPr>
              <p:spPr>
                <a:xfrm>
                  <a:off x="2843808" y="2420889"/>
                  <a:ext cx="1296144" cy="288031"/>
                </a:xfrm>
                <a:prstGeom prst="rect">
                  <a:avLst/>
                </a:prstGeom>
                <a:solidFill>
                  <a:srgbClr val="FFC000"/>
                </a:solidFill>
                <a:ln>
                  <a:solidFill>
                    <a:schemeClr val="tx1"/>
                  </a:solidFill>
                </a:ln>
              </p:spPr>
              <p:txBody>
                <a:bodyPr wrap="square" rtlCol="0" anchor="ctr">
                  <a:spAutoFit/>
                </a:bodyPr>
                <a:lstStyle/>
                <a:p>
                  <a:pPr algn="ctr"/>
                  <a:r>
                    <a:rPr lang="en-IN" sz="1200" b="1" dirty="0" smtClean="0">
                      <a:solidFill>
                        <a:prstClr val="black"/>
                      </a:solidFill>
                    </a:rPr>
                    <a:t>Transport Header</a:t>
                  </a:r>
                  <a:endParaRPr lang="en-IN" sz="1200" b="1" dirty="0">
                    <a:solidFill>
                      <a:prstClr val="black"/>
                    </a:solidFill>
                  </a:endParaRPr>
                </a:p>
              </p:txBody>
            </p:sp>
          </p:grpSp>
          <p:sp>
            <p:nvSpPr>
              <p:cNvPr id="11" name="Rectangle 10"/>
              <p:cNvSpPr/>
              <p:nvPr/>
            </p:nvSpPr>
            <p:spPr>
              <a:xfrm>
                <a:off x="1475656" y="3933056"/>
                <a:ext cx="1368152" cy="288032"/>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smtClean="0">
                  <a:solidFill>
                    <a:prstClr val="white"/>
                  </a:solidFill>
                </a:endParaRPr>
              </a:p>
              <a:p>
                <a:pPr algn="ctr"/>
                <a:r>
                  <a:rPr lang="en-IN" sz="1200" b="1" dirty="0" smtClean="0">
                    <a:solidFill>
                      <a:prstClr val="black"/>
                    </a:solidFill>
                  </a:rPr>
                  <a:t>IP Header</a:t>
                </a:r>
              </a:p>
              <a:p>
                <a:pPr algn="ctr"/>
                <a:endParaRPr lang="en-IN" sz="1200" b="1" dirty="0" smtClean="0">
                  <a:solidFill>
                    <a:prstClr val="black"/>
                  </a:solidFill>
                </a:endParaRPr>
              </a:p>
            </p:txBody>
          </p:sp>
        </p:grpSp>
        <p:sp>
          <p:nvSpPr>
            <p:cNvPr id="19" name="TextBox 18"/>
            <p:cNvSpPr txBox="1"/>
            <p:nvPr/>
          </p:nvSpPr>
          <p:spPr>
            <a:xfrm>
              <a:off x="2944618" y="2165586"/>
              <a:ext cx="4052611" cy="201454"/>
            </a:xfrm>
            <a:prstGeom prst="rect">
              <a:avLst/>
            </a:prstGeom>
            <a:noFill/>
            <a:ln>
              <a:noFill/>
            </a:ln>
          </p:spPr>
          <p:txBody>
            <a:bodyPr wrap="square" rtlCol="0">
              <a:spAutoFit/>
            </a:bodyPr>
            <a:lstStyle/>
            <a:p>
              <a:pPr algn="ctr"/>
              <a:r>
                <a:rPr lang="en-IN" sz="1200" b="1" i="1" dirty="0" smtClean="0">
                  <a:solidFill>
                    <a:prstClr val="black"/>
                  </a:solidFill>
                </a:rPr>
                <a:t>Plain Text (un-encrypted) Layer-3 Packet</a:t>
              </a:r>
              <a:endParaRPr lang="en-IN" sz="1200" b="1" i="1" dirty="0">
                <a:solidFill>
                  <a:prstClr val="black"/>
                </a:solidFill>
              </a:endParaRPr>
            </a:p>
          </p:txBody>
        </p:sp>
      </p:grpSp>
      <p:grpSp>
        <p:nvGrpSpPr>
          <p:cNvPr id="7" name="Group 19"/>
          <p:cNvGrpSpPr/>
          <p:nvPr/>
        </p:nvGrpSpPr>
        <p:grpSpPr>
          <a:xfrm>
            <a:off x="6579575" y="2574679"/>
            <a:ext cx="2520280" cy="2306620"/>
            <a:chOff x="467544" y="1763531"/>
            <a:chExt cx="1944216" cy="1452034"/>
          </a:xfrm>
        </p:grpSpPr>
        <p:grpSp>
          <p:nvGrpSpPr>
            <p:cNvPr id="8" name="Group 4"/>
            <p:cNvGrpSpPr/>
            <p:nvPr/>
          </p:nvGrpSpPr>
          <p:grpSpPr>
            <a:xfrm>
              <a:off x="683568" y="1763531"/>
              <a:ext cx="1512168" cy="1452034"/>
              <a:chOff x="827584" y="1547507"/>
              <a:chExt cx="1512168" cy="1452034"/>
            </a:xfrm>
            <a:solidFill>
              <a:srgbClr val="FFFF00"/>
            </a:solidFill>
          </p:grpSpPr>
          <p:sp>
            <p:nvSpPr>
              <p:cNvPr id="23" name="TextBox 22"/>
              <p:cNvSpPr txBox="1"/>
              <p:nvPr/>
            </p:nvSpPr>
            <p:spPr>
              <a:xfrm>
                <a:off x="827584" y="1547507"/>
                <a:ext cx="1512168" cy="290621"/>
              </a:xfrm>
              <a:prstGeom prst="rect">
                <a:avLst/>
              </a:prstGeom>
              <a:solidFill>
                <a:srgbClr val="00B050"/>
              </a:solidFill>
              <a:ln>
                <a:solidFill>
                  <a:schemeClr val="tx1"/>
                </a:solidFill>
              </a:ln>
            </p:spPr>
            <p:txBody>
              <a:bodyPr wrap="square" rtlCol="0">
                <a:spAutoFit/>
              </a:bodyPr>
              <a:lstStyle/>
              <a:p>
                <a:pPr algn="ctr"/>
                <a:r>
                  <a:rPr lang="en-IN" sz="2400" dirty="0" smtClean="0">
                    <a:solidFill>
                      <a:prstClr val="black"/>
                    </a:solidFill>
                  </a:rPr>
                  <a:t>Application</a:t>
                </a:r>
                <a:endParaRPr lang="en-IN" sz="2400" dirty="0">
                  <a:solidFill>
                    <a:prstClr val="black"/>
                  </a:solidFill>
                </a:endParaRPr>
              </a:p>
            </p:txBody>
          </p:sp>
          <p:sp>
            <p:nvSpPr>
              <p:cNvPr id="24" name="TextBox 23"/>
              <p:cNvSpPr txBox="1"/>
              <p:nvPr/>
            </p:nvSpPr>
            <p:spPr>
              <a:xfrm>
                <a:off x="827584" y="1844824"/>
                <a:ext cx="1512168" cy="290621"/>
              </a:xfrm>
              <a:prstGeom prst="rect">
                <a:avLst/>
              </a:prstGeom>
              <a:solidFill>
                <a:srgbClr val="00B050"/>
              </a:solidFill>
              <a:ln>
                <a:solidFill>
                  <a:schemeClr val="tx1"/>
                </a:solidFill>
              </a:ln>
            </p:spPr>
            <p:txBody>
              <a:bodyPr wrap="square" rtlCol="0">
                <a:spAutoFit/>
              </a:bodyPr>
              <a:lstStyle/>
              <a:p>
                <a:pPr algn="ctr"/>
                <a:r>
                  <a:rPr lang="en-IN" sz="2400" dirty="0" smtClean="0">
                    <a:solidFill>
                      <a:prstClr val="black"/>
                    </a:solidFill>
                  </a:rPr>
                  <a:t>Transport</a:t>
                </a:r>
                <a:endParaRPr lang="en-IN" sz="2400" dirty="0">
                  <a:solidFill>
                    <a:prstClr val="black"/>
                  </a:solidFill>
                </a:endParaRPr>
              </a:p>
            </p:txBody>
          </p:sp>
          <p:sp>
            <p:nvSpPr>
              <p:cNvPr id="25" name="TextBox 24"/>
              <p:cNvSpPr txBox="1"/>
              <p:nvPr/>
            </p:nvSpPr>
            <p:spPr>
              <a:xfrm>
                <a:off x="827584" y="2132857"/>
                <a:ext cx="1512168" cy="329371"/>
              </a:xfrm>
              <a:prstGeom prst="rect">
                <a:avLst/>
              </a:prstGeom>
              <a:solidFill>
                <a:srgbClr val="00B050"/>
              </a:solidFill>
              <a:ln>
                <a:solidFill>
                  <a:schemeClr val="tx1"/>
                </a:solidFill>
              </a:ln>
            </p:spPr>
            <p:txBody>
              <a:bodyPr wrap="square" rtlCol="0">
                <a:spAutoFit/>
              </a:bodyPr>
              <a:lstStyle/>
              <a:p>
                <a:pPr algn="ctr"/>
                <a:r>
                  <a:rPr lang="en-IN" sz="2800" b="1" dirty="0" smtClean="0">
                    <a:solidFill>
                      <a:prstClr val="black"/>
                    </a:solidFill>
                  </a:rPr>
                  <a:t>Network</a:t>
                </a:r>
                <a:endParaRPr lang="en-IN" sz="2800" b="1" dirty="0">
                  <a:solidFill>
                    <a:prstClr val="black"/>
                  </a:solidFill>
                </a:endParaRPr>
              </a:p>
            </p:txBody>
          </p:sp>
          <p:sp>
            <p:nvSpPr>
              <p:cNvPr id="26" name="TextBox 25"/>
              <p:cNvSpPr txBox="1"/>
              <p:nvPr/>
            </p:nvSpPr>
            <p:spPr>
              <a:xfrm>
                <a:off x="827584" y="2420888"/>
                <a:ext cx="1512168" cy="290621"/>
              </a:xfrm>
              <a:prstGeom prst="rect">
                <a:avLst/>
              </a:prstGeom>
              <a:solidFill>
                <a:srgbClr val="00B050"/>
              </a:solidFill>
              <a:ln>
                <a:solidFill>
                  <a:schemeClr val="tx1"/>
                </a:solidFill>
              </a:ln>
            </p:spPr>
            <p:txBody>
              <a:bodyPr wrap="square" rtlCol="0">
                <a:spAutoFit/>
              </a:bodyPr>
              <a:lstStyle/>
              <a:p>
                <a:pPr algn="ctr"/>
                <a:r>
                  <a:rPr lang="en-IN" sz="2400" dirty="0" smtClean="0">
                    <a:solidFill>
                      <a:prstClr val="black"/>
                    </a:solidFill>
                  </a:rPr>
                  <a:t>Data Link</a:t>
                </a:r>
                <a:endParaRPr lang="en-IN" sz="2400" dirty="0">
                  <a:solidFill>
                    <a:prstClr val="black"/>
                  </a:solidFill>
                </a:endParaRPr>
              </a:p>
            </p:txBody>
          </p:sp>
          <p:sp>
            <p:nvSpPr>
              <p:cNvPr id="27" name="TextBox 26"/>
              <p:cNvSpPr txBox="1"/>
              <p:nvPr/>
            </p:nvSpPr>
            <p:spPr>
              <a:xfrm>
                <a:off x="827584" y="2708920"/>
                <a:ext cx="1512168" cy="290621"/>
              </a:xfrm>
              <a:prstGeom prst="rect">
                <a:avLst/>
              </a:prstGeom>
              <a:solidFill>
                <a:srgbClr val="00B050"/>
              </a:solidFill>
              <a:ln>
                <a:solidFill>
                  <a:schemeClr val="tx1"/>
                </a:solidFill>
              </a:ln>
            </p:spPr>
            <p:txBody>
              <a:bodyPr wrap="square" rtlCol="0">
                <a:spAutoFit/>
              </a:bodyPr>
              <a:lstStyle/>
              <a:p>
                <a:pPr algn="ctr"/>
                <a:r>
                  <a:rPr lang="en-IN" sz="2400" dirty="0" smtClean="0">
                    <a:solidFill>
                      <a:prstClr val="black"/>
                    </a:solidFill>
                  </a:rPr>
                  <a:t>Physical</a:t>
                </a:r>
                <a:endParaRPr lang="en-IN" sz="2400" dirty="0">
                  <a:solidFill>
                    <a:prstClr val="black"/>
                  </a:solidFill>
                </a:endParaRPr>
              </a:p>
            </p:txBody>
          </p:sp>
        </p:grpSp>
        <p:sp>
          <p:nvSpPr>
            <p:cNvPr id="22" name="Oval 21"/>
            <p:cNvSpPr/>
            <p:nvPr/>
          </p:nvSpPr>
          <p:spPr>
            <a:xfrm>
              <a:off x="467544" y="2371459"/>
              <a:ext cx="1944216" cy="3080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dirty="0">
                <a:solidFill>
                  <a:prstClr val="white"/>
                </a:solidFill>
              </a:endParaRPr>
            </a:p>
          </p:txBody>
        </p:sp>
      </p:grpSp>
      <p:sp>
        <p:nvSpPr>
          <p:cNvPr id="30" name="Content Placeholder 1"/>
          <p:cNvSpPr>
            <a:spLocks noGrp="1"/>
          </p:cNvSpPr>
          <p:nvPr>
            <p:ph idx="1"/>
          </p:nvPr>
        </p:nvSpPr>
        <p:spPr>
          <a:xfrm>
            <a:off x="175512" y="1412775"/>
            <a:ext cx="6628736" cy="5045645"/>
          </a:xfrm>
        </p:spPr>
        <p:txBody>
          <a:bodyPr vert="horz" lIns="91440" tIns="45720" rIns="91440" bIns="45720" rtlCol="0">
            <a:normAutofit fontScale="62500" lnSpcReduction="20000"/>
          </a:bodyPr>
          <a:lstStyle/>
          <a:p>
            <a:pPr lvl="1"/>
            <a:r>
              <a:rPr lang="en-IN" sz="3200" dirty="0">
                <a:cs typeface="+mn-cs"/>
              </a:rPr>
              <a:t>The layer-3 network layer (IP Layer in TCP/IP protocol stack) adds the IP Header to construct a layer-3 packet.</a:t>
            </a:r>
          </a:p>
          <a:p>
            <a:pPr lvl="1"/>
            <a:r>
              <a:rPr lang="en-IN" sz="3200" dirty="0">
                <a:cs typeface="+mn-cs"/>
              </a:rPr>
              <a:t>As discussed in the previous slide, the important requirement is complete blanket security coverage. So let us encrypt the whole layer-3 packet for confidentiality.</a:t>
            </a:r>
          </a:p>
          <a:p>
            <a:pPr lvl="1"/>
            <a:r>
              <a:rPr lang="en-IN" sz="3200" dirty="0">
                <a:cs typeface="+mn-cs"/>
              </a:rPr>
              <a:t>If IP header is also encrypted how the IP datagram will be routed in the network then? </a:t>
            </a:r>
          </a:p>
          <a:p>
            <a:pPr lvl="2"/>
            <a:r>
              <a:rPr lang="en-IN" dirty="0">
                <a:latin typeface="+mn-lt"/>
                <a:cs typeface="+mn-cs"/>
              </a:rPr>
              <a:t>No network element will know what are source and destination IP addresses (part of the IP header).  </a:t>
            </a:r>
          </a:p>
          <a:p>
            <a:pPr lvl="2"/>
            <a:r>
              <a:rPr lang="en-IN" dirty="0">
                <a:latin typeface="+mn-lt"/>
                <a:cs typeface="+mn-cs"/>
              </a:rPr>
              <a:t>There may be many intermediate network devices between source and destination. To who all the decryption key need to be given?</a:t>
            </a:r>
          </a:p>
          <a:p>
            <a:pPr lvl="1"/>
            <a:r>
              <a:rPr lang="en-IN" sz="3200" dirty="0">
                <a:cs typeface="+mn-cs"/>
              </a:rPr>
              <a:t>What will happen to the authentication and integrity?</a:t>
            </a:r>
          </a:p>
          <a:p>
            <a:pPr lvl="2"/>
            <a:r>
              <a:rPr lang="en-IN" dirty="0">
                <a:latin typeface="+mn-lt"/>
                <a:cs typeface="+mn-cs"/>
              </a:rPr>
              <a:t>We are achieving confidentiality in the above point. But destination cannot check authentication and integrity.</a:t>
            </a:r>
          </a:p>
          <a:p>
            <a:pPr lvl="1"/>
            <a:r>
              <a:rPr lang="en-IN" sz="3200" dirty="0">
                <a:cs typeface="+mn-cs"/>
              </a:rPr>
              <a:t>So what is the solution?</a:t>
            </a:r>
          </a:p>
          <a:p>
            <a:pPr lvl="2"/>
            <a:endParaRPr lang="en-IN" dirty="0">
              <a:latin typeface="+mn-lt"/>
              <a:cs typeface="+mn-cs"/>
            </a:endParaRPr>
          </a:p>
        </p:txBody>
      </p:sp>
      <p:grpSp>
        <p:nvGrpSpPr>
          <p:cNvPr id="9" name="Group 37"/>
          <p:cNvGrpSpPr/>
          <p:nvPr/>
        </p:nvGrpSpPr>
        <p:grpSpPr>
          <a:xfrm>
            <a:off x="4224857" y="5661291"/>
            <a:ext cx="3888432" cy="648073"/>
            <a:chOff x="3046925" y="2165586"/>
            <a:chExt cx="5053467" cy="471326"/>
          </a:xfrm>
        </p:grpSpPr>
        <p:grpSp>
          <p:nvGrpSpPr>
            <p:cNvPr id="10" name="Group 24"/>
            <p:cNvGrpSpPr/>
            <p:nvPr/>
          </p:nvGrpSpPr>
          <p:grpSpPr>
            <a:xfrm>
              <a:off x="3275856" y="2348878"/>
              <a:ext cx="4824536" cy="288034"/>
              <a:chOff x="1475656" y="3933054"/>
              <a:chExt cx="4824536" cy="288034"/>
            </a:xfrm>
          </p:grpSpPr>
          <p:grpSp>
            <p:nvGrpSpPr>
              <p:cNvPr id="12" name="Group 7"/>
              <p:cNvGrpSpPr/>
              <p:nvPr/>
            </p:nvGrpSpPr>
            <p:grpSpPr>
              <a:xfrm>
                <a:off x="2843808" y="3933054"/>
                <a:ext cx="3456384" cy="288033"/>
                <a:chOff x="2843808" y="2420886"/>
                <a:chExt cx="3456384" cy="288033"/>
              </a:xfrm>
            </p:grpSpPr>
            <p:sp>
              <p:nvSpPr>
                <p:cNvPr id="43" name="TextBox 42"/>
                <p:cNvSpPr txBox="1"/>
                <p:nvPr/>
              </p:nvSpPr>
              <p:spPr>
                <a:xfrm>
                  <a:off x="4139953" y="2420887"/>
                  <a:ext cx="2160239" cy="288032"/>
                </a:xfrm>
                <a:prstGeom prst="rect">
                  <a:avLst/>
                </a:prstGeom>
                <a:blipFill>
                  <a:blip r:embed="rId2" cstate="print"/>
                  <a:tile tx="0" ty="0" sx="100000" sy="100000" flip="none" algn="tl"/>
                </a:blipFill>
                <a:ln>
                  <a:solidFill>
                    <a:schemeClr val="tx1"/>
                  </a:solidFill>
                </a:ln>
                <a:effectLst>
                  <a:innerShdw blurRad="114300">
                    <a:prstClr val="black"/>
                  </a:innerShdw>
                </a:effectLst>
              </p:spPr>
              <p:txBody>
                <a:bodyPr wrap="square" rtlCol="0" anchor="ctr">
                  <a:spAutoFit/>
                </a:bodyPr>
                <a:lstStyle/>
                <a:p>
                  <a:pPr algn="ctr"/>
                  <a:r>
                    <a:rPr lang="en-IN" sz="1200" b="1" dirty="0" smtClean="0">
                      <a:solidFill>
                        <a:prstClr val="black"/>
                      </a:solidFill>
                    </a:rPr>
                    <a:t>Application Header and Data</a:t>
                  </a:r>
                  <a:endParaRPr lang="en-IN" sz="1200" b="1" dirty="0">
                    <a:solidFill>
                      <a:prstClr val="black"/>
                    </a:solidFill>
                  </a:endParaRPr>
                </a:p>
              </p:txBody>
            </p:sp>
            <p:sp>
              <p:nvSpPr>
                <p:cNvPr id="44" name="TextBox 43"/>
                <p:cNvSpPr txBox="1"/>
                <p:nvPr/>
              </p:nvSpPr>
              <p:spPr>
                <a:xfrm>
                  <a:off x="2843808" y="2420886"/>
                  <a:ext cx="1296145" cy="288032"/>
                </a:xfrm>
                <a:prstGeom prst="rect">
                  <a:avLst/>
                </a:prstGeom>
                <a:blipFill>
                  <a:blip r:embed="rId2" cstate="print"/>
                  <a:tile tx="0" ty="0" sx="100000" sy="100000" flip="none" algn="tl"/>
                </a:blipFill>
                <a:ln>
                  <a:solidFill>
                    <a:schemeClr val="tx1"/>
                  </a:solidFill>
                </a:ln>
                <a:effectLst>
                  <a:innerShdw blurRad="114300">
                    <a:prstClr val="black"/>
                  </a:innerShdw>
                </a:effectLst>
              </p:spPr>
              <p:txBody>
                <a:bodyPr wrap="square" rtlCol="0" anchor="ctr">
                  <a:spAutoFit/>
                </a:bodyPr>
                <a:lstStyle/>
                <a:p>
                  <a:pPr algn="ctr"/>
                  <a:r>
                    <a:rPr lang="en-IN" sz="1200" b="1" dirty="0" smtClean="0">
                      <a:solidFill>
                        <a:prstClr val="black"/>
                      </a:solidFill>
                    </a:rPr>
                    <a:t>Transport Header</a:t>
                  </a:r>
                  <a:endParaRPr lang="en-IN" sz="1200" b="1" dirty="0">
                    <a:solidFill>
                      <a:prstClr val="black"/>
                    </a:solidFill>
                  </a:endParaRPr>
                </a:p>
              </p:txBody>
            </p:sp>
          </p:grpSp>
          <p:sp>
            <p:nvSpPr>
              <p:cNvPr id="42" name="Rectangle 41"/>
              <p:cNvSpPr/>
              <p:nvPr/>
            </p:nvSpPr>
            <p:spPr>
              <a:xfrm>
                <a:off x="1475656" y="3933056"/>
                <a:ext cx="1368152" cy="288032"/>
              </a:xfrm>
              <a:prstGeom prst="rect">
                <a:avLst/>
              </a:prstGeom>
              <a:blipFill>
                <a:blip r:embed="rId2" cstate="print"/>
                <a:tile tx="0" ty="0" sx="100000" sy="100000" flip="none" algn="tl"/>
              </a:blipFill>
              <a:ln w="12700">
                <a:solidFill>
                  <a:schemeClr val="tx1"/>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smtClean="0">
                  <a:solidFill>
                    <a:prstClr val="white"/>
                  </a:solidFill>
                </a:endParaRPr>
              </a:p>
              <a:p>
                <a:pPr algn="ctr"/>
                <a:r>
                  <a:rPr lang="en-IN" sz="1200" b="1" dirty="0" smtClean="0">
                    <a:solidFill>
                      <a:prstClr val="black"/>
                    </a:solidFill>
                  </a:rPr>
                  <a:t>IP Header</a:t>
                </a:r>
              </a:p>
              <a:p>
                <a:pPr algn="ctr"/>
                <a:endParaRPr lang="en-IN" sz="1200" b="1" dirty="0" smtClean="0">
                  <a:solidFill>
                    <a:prstClr val="black"/>
                  </a:solidFill>
                </a:endParaRPr>
              </a:p>
            </p:txBody>
          </p:sp>
        </p:grpSp>
        <p:sp>
          <p:nvSpPr>
            <p:cNvPr id="40" name="TextBox 39"/>
            <p:cNvSpPr txBox="1"/>
            <p:nvPr/>
          </p:nvSpPr>
          <p:spPr>
            <a:xfrm>
              <a:off x="3046925" y="2165586"/>
              <a:ext cx="2412268" cy="201454"/>
            </a:xfrm>
            <a:prstGeom prst="rect">
              <a:avLst/>
            </a:prstGeom>
            <a:noFill/>
            <a:ln>
              <a:noFill/>
            </a:ln>
          </p:spPr>
          <p:txBody>
            <a:bodyPr wrap="square" rtlCol="0">
              <a:spAutoFit/>
            </a:bodyPr>
            <a:lstStyle/>
            <a:p>
              <a:pPr algn="ctr"/>
              <a:r>
                <a:rPr lang="en-IN" sz="1200" b="1" i="1" dirty="0" smtClean="0">
                  <a:solidFill>
                    <a:prstClr val="black"/>
                  </a:solidFill>
                </a:rPr>
                <a:t>Encrypted Layer-3 Packet</a:t>
              </a:r>
              <a:endParaRPr lang="en-IN" sz="1200" b="1" i="1" dirty="0">
                <a:solidFill>
                  <a:prstClr val="black"/>
                </a:solidFill>
              </a:endParaRPr>
            </a:p>
          </p:txBody>
        </p:sp>
      </p:grpSp>
    </p:spTree>
    <p:extLst>
      <p:ext uri="{BB962C8B-B14F-4D97-AF65-F5344CB8AC3E}">
        <p14:creationId xmlns="" xmlns:p14="http://schemas.microsoft.com/office/powerpoint/2010/main" val="508098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Working of IP Security</a:t>
            </a:r>
          </a:p>
        </p:txBody>
      </p:sp>
      <p:grpSp>
        <p:nvGrpSpPr>
          <p:cNvPr id="2" name="Group 4"/>
          <p:cNvGrpSpPr/>
          <p:nvPr/>
        </p:nvGrpSpPr>
        <p:grpSpPr>
          <a:xfrm>
            <a:off x="467544" y="2719953"/>
            <a:ext cx="8496944" cy="1819373"/>
            <a:chOff x="467544" y="1772816"/>
            <a:chExt cx="8496944" cy="1848318"/>
          </a:xfrm>
        </p:grpSpPr>
        <p:sp>
          <p:nvSpPr>
            <p:cNvPr id="6" name="TextBox 5"/>
            <p:cNvSpPr txBox="1"/>
            <p:nvPr/>
          </p:nvSpPr>
          <p:spPr>
            <a:xfrm>
              <a:off x="5508104" y="1847116"/>
              <a:ext cx="1008112" cy="281406"/>
            </a:xfrm>
            <a:prstGeom prst="rect">
              <a:avLst/>
            </a:prstGeom>
            <a:noFill/>
          </p:spPr>
          <p:txBody>
            <a:bodyPr wrap="square" rtlCol="0">
              <a:spAutoFit/>
            </a:bodyPr>
            <a:lstStyle/>
            <a:p>
              <a:r>
                <a:rPr lang="en-IN" sz="1200" b="1" i="1" dirty="0" smtClean="0">
                  <a:solidFill>
                    <a:prstClr val="black"/>
                  </a:solidFill>
                </a:rPr>
                <a:t>Router (R2)</a:t>
              </a:r>
              <a:endParaRPr lang="en-IN" sz="1200" b="1" i="1" dirty="0">
                <a:solidFill>
                  <a:prstClr val="black"/>
                </a:solidFill>
              </a:endParaRPr>
            </a:p>
          </p:txBody>
        </p:sp>
        <p:grpSp>
          <p:nvGrpSpPr>
            <p:cNvPr id="4" name="Group 68"/>
            <p:cNvGrpSpPr/>
            <p:nvPr/>
          </p:nvGrpSpPr>
          <p:grpSpPr>
            <a:xfrm>
              <a:off x="467544" y="1772816"/>
              <a:ext cx="8496944" cy="1848318"/>
              <a:chOff x="467544" y="1772816"/>
              <a:chExt cx="8496944" cy="1848318"/>
            </a:xfrm>
          </p:grpSpPr>
          <p:sp>
            <p:nvSpPr>
              <p:cNvPr id="8" name="TextBox 7"/>
              <p:cNvSpPr txBox="1"/>
              <p:nvPr/>
            </p:nvSpPr>
            <p:spPr>
              <a:xfrm>
                <a:off x="467544" y="2780928"/>
                <a:ext cx="1080120" cy="469010"/>
              </a:xfrm>
              <a:prstGeom prst="rect">
                <a:avLst/>
              </a:prstGeom>
              <a:noFill/>
            </p:spPr>
            <p:txBody>
              <a:bodyPr wrap="square" rtlCol="0">
                <a:spAutoFit/>
              </a:bodyPr>
              <a:lstStyle/>
              <a:p>
                <a:pPr algn="ctr"/>
                <a:r>
                  <a:rPr lang="en-IN" sz="1200" b="1" i="1" dirty="0" smtClean="0">
                    <a:solidFill>
                      <a:prstClr val="black"/>
                    </a:solidFill>
                  </a:rPr>
                  <a:t>Company Headquarters</a:t>
                </a:r>
                <a:endParaRPr lang="en-IN" sz="1200" b="1" i="1" dirty="0">
                  <a:solidFill>
                    <a:prstClr val="black"/>
                  </a:solidFill>
                </a:endParaRPr>
              </a:p>
            </p:txBody>
          </p:sp>
          <p:sp>
            <p:nvSpPr>
              <p:cNvPr id="9" name="TextBox 8"/>
              <p:cNvSpPr txBox="1"/>
              <p:nvPr/>
            </p:nvSpPr>
            <p:spPr>
              <a:xfrm>
                <a:off x="1907704" y="1847116"/>
                <a:ext cx="1008112" cy="281406"/>
              </a:xfrm>
              <a:prstGeom prst="rect">
                <a:avLst/>
              </a:prstGeom>
              <a:noFill/>
            </p:spPr>
            <p:txBody>
              <a:bodyPr wrap="square" rtlCol="0">
                <a:spAutoFit/>
              </a:bodyPr>
              <a:lstStyle/>
              <a:p>
                <a:r>
                  <a:rPr lang="en-IN" sz="1200" b="1" i="1" dirty="0" smtClean="0">
                    <a:solidFill>
                      <a:prstClr val="black"/>
                    </a:solidFill>
                  </a:rPr>
                  <a:t>Router (R1)</a:t>
                </a:r>
                <a:endParaRPr lang="en-IN" sz="1200" b="1" i="1" dirty="0">
                  <a:solidFill>
                    <a:prstClr val="black"/>
                  </a:solidFill>
                </a:endParaRPr>
              </a:p>
            </p:txBody>
          </p:sp>
          <p:pic>
            <p:nvPicPr>
              <p:cNvPr id="10" name="Picture 4" descr="http://www.clker.com/cliparts/c/a/r/W/e/g/router-ok-hi.png"/>
              <p:cNvPicPr>
                <a:picLocks noChangeAspect="1" noChangeArrowheads="1"/>
              </p:cNvPicPr>
              <p:nvPr/>
            </p:nvPicPr>
            <p:blipFill>
              <a:blip r:embed="rId2" cstate="print"/>
              <a:srcRect/>
              <a:stretch>
                <a:fillRect/>
              </a:stretch>
            </p:blipFill>
            <p:spPr bwMode="auto">
              <a:xfrm>
                <a:off x="1979712" y="2132856"/>
                <a:ext cx="804739" cy="535131"/>
              </a:xfrm>
              <a:prstGeom prst="rect">
                <a:avLst/>
              </a:prstGeom>
              <a:noFill/>
            </p:spPr>
          </p:pic>
          <p:pic>
            <p:nvPicPr>
              <p:cNvPr id="11" name="Picture 10"/>
              <p:cNvPicPr>
                <a:picLocks noChangeAspect="1" noChangeArrowheads="1"/>
              </p:cNvPicPr>
              <p:nvPr/>
            </p:nvPicPr>
            <p:blipFill>
              <a:blip r:embed="rId3" cstate="print"/>
              <a:srcRect l="9594" t="5836" r="64338" b="24021"/>
              <a:stretch>
                <a:fillRect/>
              </a:stretch>
            </p:blipFill>
            <p:spPr bwMode="auto">
              <a:xfrm>
                <a:off x="467544" y="1847115"/>
                <a:ext cx="1120124" cy="861804"/>
              </a:xfrm>
              <a:prstGeom prst="rect">
                <a:avLst/>
              </a:prstGeom>
              <a:noFill/>
              <a:ln w="9525">
                <a:noFill/>
                <a:miter lim="800000"/>
                <a:headEnd/>
                <a:tailEnd/>
              </a:ln>
            </p:spPr>
          </p:pic>
          <p:pic>
            <p:nvPicPr>
              <p:cNvPr id="12" name="Picture 12" descr="http://highlandparkoms.com/images/Medical_Office.png"/>
              <p:cNvPicPr>
                <a:picLocks noChangeAspect="1" noChangeArrowheads="1"/>
              </p:cNvPicPr>
              <p:nvPr/>
            </p:nvPicPr>
            <p:blipFill>
              <a:blip r:embed="rId4" cstate="print"/>
              <a:srcRect/>
              <a:stretch>
                <a:fillRect/>
              </a:stretch>
            </p:blipFill>
            <p:spPr bwMode="auto">
              <a:xfrm>
                <a:off x="6953200" y="1772816"/>
                <a:ext cx="859160" cy="859162"/>
              </a:xfrm>
              <a:prstGeom prst="rect">
                <a:avLst/>
              </a:prstGeom>
              <a:noFill/>
            </p:spPr>
          </p:pic>
          <p:pic>
            <p:nvPicPr>
              <p:cNvPr id="13" name="Picture 14" descr="http://www.clker.com/cliparts/P/C/k/o/0/k/router-down-hi.png"/>
              <p:cNvPicPr>
                <a:picLocks noChangeAspect="1" noChangeArrowheads="1"/>
              </p:cNvPicPr>
              <p:nvPr/>
            </p:nvPicPr>
            <p:blipFill>
              <a:blip r:embed="rId5" cstate="print"/>
              <a:srcRect/>
              <a:stretch>
                <a:fillRect/>
              </a:stretch>
            </p:blipFill>
            <p:spPr bwMode="auto">
              <a:xfrm>
                <a:off x="5652120" y="2132856"/>
                <a:ext cx="576064" cy="383068"/>
              </a:xfrm>
              <a:prstGeom prst="rect">
                <a:avLst/>
              </a:prstGeom>
              <a:noFill/>
            </p:spPr>
          </p:pic>
          <p:pic>
            <p:nvPicPr>
              <p:cNvPr id="14" name="Picture 16" descr="http://cliparts.co/cliparts/8cE/jz4/8cEjz4zRi.png"/>
              <p:cNvPicPr>
                <a:picLocks noChangeAspect="1" noChangeArrowheads="1"/>
              </p:cNvPicPr>
              <p:nvPr/>
            </p:nvPicPr>
            <p:blipFill>
              <a:blip r:embed="rId6" cstate="print"/>
              <a:srcRect/>
              <a:stretch>
                <a:fillRect/>
              </a:stretch>
            </p:blipFill>
            <p:spPr bwMode="auto">
              <a:xfrm>
                <a:off x="6876256" y="2798113"/>
                <a:ext cx="852339" cy="823021"/>
              </a:xfrm>
              <a:prstGeom prst="rect">
                <a:avLst/>
              </a:prstGeom>
              <a:noFill/>
            </p:spPr>
          </p:pic>
          <p:cxnSp>
            <p:nvCxnSpPr>
              <p:cNvPr id="15" name="Straight Connector 14"/>
              <p:cNvCxnSpPr/>
              <p:nvPr/>
            </p:nvCxnSpPr>
            <p:spPr>
              <a:xfrm>
                <a:off x="1403648" y="2348880"/>
                <a:ext cx="72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156176" y="2276872"/>
                <a:ext cx="864096" cy="91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740352" y="2060848"/>
                <a:ext cx="1152128" cy="469010"/>
              </a:xfrm>
              <a:prstGeom prst="rect">
                <a:avLst/>
              </a:prstGeom>
              <a:noFill/>
            </p:spPr>
            <p:txBody>
              <a:bodyPr wrap="square" rtlCol="0">
                <a:spAutoFit/>
              </a:bodyPr>
              <a:lstStyle/>
              <a:p>
                <a:pPr algn="ctr"/>
                <a:r>
                  <a:rPr lang="en-IN" sz="1200" b="1" i="1" dirty="0" smtClean="0">
                    <a:solidFill>
                      <a:prstClr val="black"/>
                    </a:solidFill>
                  </a:rPr>
                  <a:t>Company’s</a:t>
                </a:r>
              </a:p>
              <a:p>
                <a:pPr algn="ctr"/>
                <a:r>
                  <a:rPr lang="en-IN" sz="1200" b="1" i="1" dirty="0" smtClean="0">
                    <a:solidFill>
                      <a:prstClr val="black"/>
                    </a:solidFill>
                  </a:rPr>
                  <a:t>Branch Office</a:t>
                </a:r>
                <a:endParaRPr lang="en-IN" sz="1200" b="1" i="1" dirty="0">
                  <a:solidFill>
                    <a:prstClr val="black"/>
                  </a:solidFill>
                </a:endParaRPr>
              </a:p>
            </p:txBody>
          </p:sp>
          <p:sp>
            <p:nvSpPr>
              <p:cNvPr id="18" name="TextBox 17"/>
              <p:cNvSpPr txBox="1"/>
              <p:nvPr/>
            </p:nvSpPr>
            <p:spPr>
              <a:xfrm>
                <a:off x="7812360" y="2798112"/>
                <a:ext cx="1152128" cy="656614"/>
              </a:xfrm>
              <a:prstGeom prst="rect">
                <a:avLst/>
              </a:prstGeom>
              <a:noFill/>
            </p:spPr>
            <p:txBody>
              <a:bodyPr wrap="square" rtlCol="0">
                <a:spAutoFit/>
              </a:bodyPr>
              <a:lstStyle/>
              <a:p>
                <a:pPr algn="ctr"/>
                <a:r>
                  <a:rPr lang="en-IN" sz="1200" b="1" i="1" dirty="0" smtClean="0">
                    <a:solidFill>
                      <a:prstClr val="black"/>
                    </a:solidFill>
                  </a:rPr>
                  <a:t>Company's Salesman in a Hotel</a:t>
                </a:r>
                <a:endParaRPr lang="en-IN" sz="1200" b="1" i="1" dirty="0">
                  <a:solidFill>
                    <a:prstClr val="black"/>
                  </a:solidFill>
                </a:endParaRPr>
              </a:p>
            </p:txBody>
          </p:sp>
          <p:pic>
            <p:nvPicPr>
              <p:cNvPr id="19" name="Picture 25" descr="Cloud Computing"/>
              <p:cNvPicPr>
                <a:picLocks noChangeAspect="1" noChangeArrowheads="1"/>
              </p:cNvPicPr>
              <p:nvPr/>
            </p:nvPicPr>
            <p:blipFill>
              <a:blip r:embed="rId7" cstate="print"/>
              <a:srcRect/>
              <a:stretch>
                <a:fillRect/>
              </a:stretch>
            </p:blipFill>
            <p:spPr bwMode="auto">
              <a:xfrm>
                <a:off x="3275856" y="1844824"/>
                <a:ext cx="1895475" cy="1181101"/>
              </a:xfrm>
              <a:prstGeom prst="rect">
                <a:avLst/>
              </a:prstGeom>
              <a:noFill/>
            </p:spPr>
          </p:pic>
          <p:cxnSp>
            <p:nvCxnSpPr>
              <p:cNvPr id="20" name="Straight Connector 19"/>
              <p:cNvCxnSpPr>
                <a:endCxn id="14" idx="1"/>
              </p:cNvCxnSpPr>
              <p:nvPr/>
            </p:nvCxnSpPr>
            <p:spPr>
              <a:xfrm>
                <a:off x="4860032" y="2596983"/>
                <a:ext cx="2016224" cy="6126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076056" y="2276872"/>
                <a:ext cx="6480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699792" y="2348880"/>
                <a:ext cx="6480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3" name="TextBox 22"/>
          <p:cNvSpPr txBox="1"/>
          <p:nvPr/>
        </p:nvSpPr>
        <p:spPr>
          <a:xfrm>
            <a:off x="395536" y="4171146"/>
            <a:ext cx="1224136" cy="276999"/>
          </a:xfrm>
          <a:prstGeom prst="rect">
            <a:avLst/>
          </a:prstGeom>
          <a:noFill/>
        </p:spPr>
        <p:txBody>
          <a:bodyPr wrap="square" rtlCol="0">
            <a:spAutoFit/>
          </a:bodyPr>
          <a:lstStyle/>
          <a:p>
            <a:pPr algn="ctr"/>
            <a:r>
              <a:rPr lang="en-IN" sz="1200" b="1" dirty="0" smtClean="0">
                <a:solidFill>
                  <a:prstClr val="black"/>
                </a:solidFill>
                <a:latin typeface="Courier New" pitchFamily="49" charset="0"/>
                <a:cs typeface="Courier New" pitchFamily="49" charset="0"/>
              </a:rPr>
              <a:t>172.16.1.24</a:t>
            </a:r>
            <a:endParaRPr lang="en-IN" sz="1200" b="1" dirty="0">
              <a:solidFill>
                <a:prstClr val="black"/>
              </a:solidFill>
              <a:latin typeface="Courier New" pitchFamily="49" charset="0"/>
              <a:cs typeface="Courier New" pitchFamily="49" charset="0"/>
            </a:endParaRPr>
          </a:p>
        </p:txBody>
      </p:sp>
      <p:sp>
        <p:nvSpPr>
          <p:cNvPr id="24" name="TextBox 23"/>
          <p:cNvSpPr txBox="1"/>
          <p:nvPr/>
        </p:nvSpPr>
        <p:spPr>
          <a:xfrm>
            <a:off x="7668344" y="3451066"/>
            <a:ext cx="1224136" cy="276999"/>
          </a:xfrm>
          <a:prstGeom prst="rect">
            <a:avLst/>
          </a:prstGeom>
          <a:noFill/>
        </p:spPr>
        <p:txBody>
          <a:bodyPr wrap="square" rtlCol="0">
            <a:spAutoFit/>
          </a:bodyPr>
          <a:lstStyle/>
          <a:p>
            <a:pPr algn="ctr"/>
            <a:r>
              <a:rPr lang="en-IN" sz="1200" b="1" dirty="0" smtClean="0">
                <a:solidFill>
                  <a:prstClr val="black"/>
                </a:solidFill>
                <a:latin typeface="Courier New" pitchFamily="49" charset="0"/>
                <a:cs typeface="Courier New" pitchFamily="49" charset="0"/>
              </a:rPr>
              <a:t>183.46.2.48</a:t>
            </a:r>
            <a:endParaRPr lang="en-IN" sz="1200" b="1" dirty="0">
              <a:solidFill>
                <a:prstClr val="black"/>
              </a:solidFill>
              <a:latin typeface="Courier New" pitchFamily="49" charset="0"/>
              <a:cs typeface="Courier New" pitchFamily="49" charset="0"/>
            </a:endParaRPr>
          </a:p>
        </p:txBody>
      </p:sp>
      <p:sp>
        <p:nvSpPr>
          <p:cNvPr id="25" name="TextBox 24"/>
          <p:cNvSpPr txBox="1"/>
          <p:nvPr/>
        </p:nvSpPr>
        <p:spPr>
          <a:xfrm>
            <a:off x="7740352" y="4376137"/>
            <a:ext cx="1224136" cy="276999"/>
          </a:xfrm>
          <a:prstGeom prst="rect">
            <a:avLst/>
          </a:prstGeom>
          <a:noFill/>
        </p:spPr>
        <p:txBody>
          <a:bodyPr wrap="square" rtlCol="0">
            <a:spAutoFit/>
          </a:bodyPr>
          <a:lstStyle/>
          <a:p>
            <a:pPr algn="ctr"/>
            <a:r>
              <a:rPr lang="en-IN" sz="1200" b="1" dirty="0" smtClean="0">
                <a:solidFill>
                  <a:prstClr val="black"/>
                </a:solidFill>
                <a:latin typeface="Courier New" pitchFamily="49" charset="0"/>
                <a:cs typeface="Courier New" pitchFamily="49" charset="0"/>
              </a:rPr>
              <a:t>272.26.3.24</a:t>
            </a:r>
            <a:endParaRPr lang="en-IN" sz="1200" b="1" dirty="0">
              <a:solidFill>
                <a:prstClr val="black"/>
              </a:solidFill>
              <a:latin typeface="Courier New" pitchFamily="49" charset="0"/>
              <a:cs typeface="Courier New" pitchFamily="49" charset="0"/>
            </a:endParaRPr>
          </a:p>
        </p:txBody>
      </p:sp>
      <p:sp>
        <p:nvSpPr>
          <p:cNvPr id="26" name="TextBox 25"/>
          <p:cNvSpPr txBox="1"/>
          <p:nvPr/>
        </p:nvSpPr>
        <p:spPr>
          <a:xfrm>
            <a:off x="1763688" y="3584049"/>
            <a:ext cx="1224136" cy="276999"/>
          </a:xfrm>
          <a:prstGeom prst="rect">
            <a:avLst/>
          </a:prstGeom>
          <a:noFill/>
        </p:spPr>
        <p:txBody>
          <a:bodyPr wrap="square" rtlCol="0">
            <a:spAutoFit/>
          </a:bodyPr>
          <a:lstStyle/>
          <a:p>
            <a:pPr algn="ctr"/>
            <a:r>
              <a:rPr lang="en-IN" sz="1200" b="1" dirty="0" smtClean="0">
                <a:solidFill>
                  <a:prstClr val="black"/>
                </a:solidFill>
                <a:latin typeface="Courier New" pitchFamily="49" charset="0"/>
                <a:cs typeface="Courier New" pitchFamily="49" charset="0"/>
              </a:rPr>
              <a:t>193.34.2.4</a:t>
            </a:r>
            <a:endParaRPr lang="en-IN" sz="1200" b="1" dirty="0">
              <a:solidFill>
                <a:prstClr val="black"/>
              </a:solidFill>
              <a:latin typeface="Courier New" pitchFamily="49" charset="0"/>
              <a:cs typeface="Courier New" pitchFamily="49" charset="0"/>
            </a:endParaRPr>
          </a:p>
        </p:txBody>
      </p:sp>
      <p:sp>
        <p:nvSpPr>
          <p:cNvPr id="27" name="TextBox 26"/>
          <p:cNvSpPr txBox="1"/>
          <p:nvPr/>
        </p:nvSpPr>
        <p:spPr>
          <a:xfrm>
            <a:off x="5364088" y="3440033"/>
            <a:ext cx="1296144" cy="276999"/>
          </a:xfrm>
          <a:prstGeom prst="rect">
            <a:avLst/>
          </a:prstGeom>
          <a:noFill/>
        </p:spPr>
        <p:txBody>
          <a:bodyPr wrap="square" rtlCol="0">
            <a:spAutoFit/>
          </a:bodyPr>
          <a:lstStyle/>
          <a:p>
            <a:pPr algn="ctr"/>
            <a:r>
              <a:rPr lang="en-IN" sz="1200" b="1" dirty="0" smtClean="0">
                <a:solidFill>
                  <a:prstClr val="black"/>
                </a:solidFill>
                <a:latin typeface="Courier New" pitchFamily="49" charset="0"/>
                <a:cs typeface="Courier New" pitchFamily="49" charset="0"/>
              </a:rPr>
              <a:t>200.168.12.5</a:t>
            </a:r>
            <a:endParaRPr lang="en-IN" sz="1200" b="1" dirty="0">
              <a:solidFill>
                <a:prstClr val="black"/>
              </a:solidFill>
              <a:latin typeface="Courier New" pitchFamily="49" charset="0"/>
              <a:cs typeface="Courier New" pitchFamily="49" charset="0"/>
            </a:endParaRPr>
          </a:p>
        </p:txBody>
      </p:sp>
    </p:spTree>
    <p:extLst>
      <p:ext uri="{BB962C8B-B14F-4D97-AF65-F5344CB8AC3E}">
        <p14:creationId xmlns="" xmlns:p14="http://schemas.microsoft.com/office/powerpoint/2010/main" val="38320832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228600"/>
            <a:ext cx="8229600" cy="1139825"/>
          </a:xfrm>
        </p:spPr>
        <p:txBody>
          <a:bodyPr anchor="ctr"/>
          <a:lstStyle/>
          <a:p>
            <a:r>
              <a:rPr lang="en-US" dirty="0"/>
              <a:t>IP Security</a:t>
            </a:r>
            <a:endParaRPr lang="en-AU" dirty="0"/>
          </a:p>
        </p:txBody>
      </p:sp>
      <p:sp>
        <p:nvSpPr>
          <p:cNvPr id="47107" name="Rectangle 3"/>
          <p:cNvSpPr>
            <a:spLocks noGrp="1" noChangeArrowheads="1"/>
          </p:cNvSpPr>
          <p:nvPr>
            <p:ph type="body" idx="1"/>
          </p:nvPr>
        </p:nvSpPr>
        <p:spPr>
          <a:xfrm>
            <a:off x="457200" y="1371600"/>
            <a:ext cx="8229600" cy="5029200"/>
          </a:xfrm>
        </p:spPr>
        <p:txBody>
          <a:bodyPr vert="horz" lIns="91440" tIns="45720" rIns="91440" bIns="45720" rtlCol="0">
            <a:normAutofit fontScale="92500"/>
          </a:bodyPr>
          <a:lstStyle/>
          <a:p>
            <a:r>
              <a:rPr lang="en-US" dirty="0"/>
              <a:t>general IP Security mechanisms</a:t>
            </a:r>
          </a:p>
          <a:p>
            <a:r>
              <a:rPr lang="en-US" dirty="0"/>
              <a:t>provides</a:t>
            </a:r>
          </a:p>
          <a:p>
            <a:pPr lvl="1"/>
            <a:r>
              <a:rPr lang="en-US" sz="3200" dirty="0"/>
              <a:t>authentication</a:t>
            </a:r>
          </a:p>
          <a:p>
            <a:pPr lvl="1"/>
            <a:r>
              <a:rPr lang="en-US" sz="3200" dirty="0"/>
              <a:t>confidentiality</a:t>
            </a:r>
          </a:p>
          <a:p>
            <a:pPr lvl="1"/>
            <a:r>
              <a:rPr lang="en-US" sz="3200" dirty="0"/>
              <a:t>key management</a:t>
            </a:r>
          </a:p>
          <a:p>
            <a:r>
              <a:rPr lang="en-US" dirty="0"/>
              <a:t>applicable to use over LANs, across public &amp; private WANs, &amp; for the Internet</a:t>
            </a:r>
          </a:p>
          <a:p>
            <a:r>
              <a:rPr lang="en-US" dirty="0"/>
              <a:t>need identified in 1994 report</a:t>
            </a:r>
          </a:p>
          <a:p>
            <a:pPr lvl="1"/>
            <a:r>
              <a:rPr lang="en-US" sz="3200" dirty="0"/>
              <a:t>need authentication, encryption in IPv4 &amp; IPv6</a:t>
            </a:r>
            <a:endParaRPr lang="en-AU" sz="3200" dirty="0"/>
          </a:p>
        </p:txBody>
      </p:sp>
    </p:spTree>
    <p:extLst>
      <p:ext uri="{BB962C8B-B14F-4D97-AF65-F5344CB8AC3E}">
        <p14:creationId xmlns="" xmlns:p14="http://schemas.microsoft.com/office/powerpoint/2010/main" val="42532660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51520" y="116632"/>
            <a:ext cx="8229600" cy="1139825"/>
          </a:xfrm>
        </p:spPr>
        <p:txBody>
          <a:bodyPr anchor="ctr"/>
          <a:lstStyle/>
          <a:p>
            <a:r>
              <a:rPr lang="en-US"/>
              <a:t>IP Security Uses</a:t>
            </a:r>
            <a:endParaRPr lang="en-AU"/>
          </a:p>
        </p:txBody>
      </p:sp>
      <p:pic>
        <p:nvPicPr>
          <p:cNvPr id="6147" name="Picture 5"/>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457200" y="1700808"/>
            <a:ext cx="8194675" cy="46085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23273012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en-US" smtClean="0"/>
              <a:t>Benefits of IPSec</a:t>
            </a:r>
            <a:endParaRPr lang="en-AU" smtClean="0"/>
          </a:p>
        </p:txBody>
      </p:sp>
      <p:sp>
        <p:nvSpPr>
          <p:cNvPr id="48131" name="Rectangle 3"/>
          <p:cNvSpPr>
            <a:spLocks noGrp="1" noChangeArrowheads="1"/>
          </p:cNvSpPr>
          <p:nvPr>
            <p:ph type="body" idx="1"/>
          </p:nvPr>
        </p:nvSpPr>
        <p:spPr/>
        <p:txBody>
          <a:bodyPr vert="horz" lIns="91440" tIns="45720" rIns="91440" bIns="45720" rtlCol="0">
            <a:normAutofit/>
          </a:bodyPr>
          <a:lstStyle/>
          <a:p>
            <a:r>
              <a:rPr lang="en-US" dirty="0"/>
              <a:t>in a firewall/router provides strong security to all traffic crossing the perimeter</a:t>
            </a:r>
          </a:p>
          <a:p>
            <a:r>
              <a:rPr lang="en-US" dirty="0"/>
              <a:t>in a firewall/router is resistant to bypass</a:t>
            </a:r>
          </a:p>
          <a:p>
            <a:r>
              <a:rPr lang="en-US" dirty="0"/>
              <a:t>is below transport layer, hence transparent to applications</a:t>
            </a:r>
          </a:p>
          <a:p>
            <a:r>
              <a:rPr lang="en-US" dirty="0"/>
              <a:t>can be transparent to end users</a:t>
            </a:r>
          </a:p>
          <a:p>
            <a:r>
              <a:rPr lang="en-US" dirty="0"/>
              <a:t>can provide security for individual users</a:t>
            </a:r>
          </a:p>
          <a:p>
            <a:r>
              <a:rPr lang="en-AU" dirty="0"/>
              <a:t>secures routing architecture</a:t>
            </a:r>
          </a:p>
        </p:txBody>
      </p:sp>
    </p:spTree>
    <p:extLst>
      <p:ext uri="{BB962C8B-B14F-4D97-AF65-F5344CB8AC3E}">
        <p14:creationId xmlns="" xmlns:p14="http://schemas.microsoft.com/office/powerpoint/2010/main" val="1783803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Routing Applications</a:t>
            </a:r>
            <a:endParaRPr lang="en-IN" dirty="0"/>
          </a:p>
        </p:txBody>
      </p:sp>
      <p:sp>
        <p:nvSpPr>
          <p:cNvPr id="3" name="Content Placeholder 2"/>
          <p:cNvSpPr>
            <a:spLocks noGrp="1"/>
          </p:cNvSpPr>
          <p:nvPr>
            <p:ph idx="1"/>
          </p:nvPr>
        </p:nvSpPr>
        <p:spPr/>
        <p:txBody>
          <a:bodyPr vert="horz" lIns="91440" tIns="45720" rIns="91440" bIns="45720" rtlCol="0">
            <a:normAutofit/>
          </a:bodyPr>
          <a:lstStyle/>
          <a:p>
            <a:r>
              <a:rPr lang="en-US" dirty="0"/>
              <a:t>In addition to supporting end users and protecting premises systems and networks, IPSec can play a vital role in the routing architecture required for internetworking.</a:t>
            </a:r>
          </a:p>
          <a:p>
            <a:endParaRPr lang="en-US" dirty="0"/>
          </a:p>
          <a:p>
            <a:r>
              <a:rPr lang="en-US" dirty="0"/>
              <a:t>Following are some examples</a:t>
            </a:r>
            <a:endParaRPr lang="en-IN" dirty="0"/>
          </a:p>
        </p:txBody>
      </p:sp>
    </p:spTree>
    <p:extLst>
      <p:ext uri="{BB962C8B-B14F-4D97-AF65-F5344CB8AC3E}">
        <p14:creationId xmlns="" xmlns:p14="http://schemas.microsoft.com/office/powerpoint/2010/main" val="22842811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484785"/>
            <a:ext cx="8229600" cy="4608512"/>
          </a:xfrm>
        </p:spPr>
        <p:txBody>
          <a:bodyPr vert="horz" lIns="91440" tIns="45720" rIns="91440" bIns="45720" rtlCol="0">
            <a:normAutofit/>
          </a:bodyPr>
          <a:lstStyle/>
          <a:p>
            <a:r>
              <a:rPr lang="en-US" dirty="0"/>
              <a:t>IPSec can assure that –</a:t>
            </a:r>
          </a:p>
          <a:p>
            <a:pPr lvl="1"/>
            <a:r>
              <a:rPr lang="en-US" dirty="0" smtClean="0"/>
              <a:t>A </a:t>
            </a:r>
            <a:r>
              <a:rPr lang="en-US" dirty="0"/>
              <a:t>Router advertisement comes from an authorized </a:t>
            </a:r>
            <a:r>
              <a:rPr lang="en-US" dirty="0" smtClean="0"/>
              <a:t>router</a:t>
            </a:r>
            <a:endParaRPr lang="en-US" dirty="0"/>
          </a:p>
          <a:p>
            <a:pPr lvl="1"/>
            <a:r>
              <a:rPr lang="en-US" dirty="0" smtClean="0"/>
              <a:t> </a:t>
            </a:r>
            <a:r>
              <a:rPr lang="en-US" dirty="0"/>
              <a:t>A neighbor advertisement comes from an authorized </a:t>
            </a:r>
            <a:r>
              <a:rPr lang="en-US" dirty="0" smtClean="0"/>
              <a:t>router</a:t>
            </a:r>
          </a:p>
          <a:p>
            <a:pPr lvl="1"/>
            <a:r>
              <a:rPr lang="en-US" dirty="0" smtClean="0"/>
              <a:t>A </a:t>
            </a:r>
            <a:r>
              <a:rPr lang="en-US" dirty="0"/>
              <a:t>redirect message comes from a router to which the initial IP packet was </a:t>
            </a:r>
            <a:r>
              <a:rPr lang="en-US" dirty="0" smtClean="0"/>
              <a:t>sent</a:t>
            </a:r>
          </a:p>
          <a:p>
            <a:pPr lvl="1"/>
            <a:r>
              <a:rPr lang="en-US" dirty="0" smtClean="0"/>
              <a:t>A </a:t>
            </a:r>
            <a:r>
              <a:rPr lang="en-US" dirty="0"/>
              <a:t>routing update is not forged</a:t>
            </a:r>
            <a:endParaRPr lang="en-IN" dirty="0"/>
          </a:p>
        </p:txBody>
      </p:sp>
    </p:spTree>
    <p:extLst>
      <p:ext uri="{BB962C8B-B14F-4D97-AF65-F5344CB8AC3E}">
        <p14:creationId xmlns="" xmlns:p14="http://schemas.microsoft.com/office/powerpoint/2010/main" val="25153128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4800" y="188640"/>
            <a:ext cx="8229600" cy="1139825"/>
          </a:xfrm>
        </p:spPr>
        <p:txBody>
          <a:bodyPr anchor="ctr"/>
          <a:lstStyle/>
          <a:p>
            <a:r>
              <a:rPr lang="en-US" dirty="0"/>
              <a:t>IP Security Architecture</a:t>
            </a:r>
            <a:endParaRPr lang="en-AU" dirty="0"/>
          </a:p>
        </p:txBody>
      </p:sp>
      <p:sp>
        <p:nvSpPr>
          <p:cNvPr id="49155" name="Rectangle 3"/>
          <p:cNvSpPr>
            <a:spLocks noGrp="1" noChangeArrowheads="1"/>
          </p:cNvSpPr>
          <p:nvPr>
            <p:ph type="body" idx="1"/>
          </p:nvPr>
        </p:nvSpPr>
        <p:spPr>
          <a:xfrm>
            <a:off x="304800" y="1556792"/>
            <a:ext cx="8534400" cy="4996408"/>
          </a:xfrm>
        </p:spPr>
        <p:txBody>
          <a:bodyPr vert="horz" lIns="91440" tIns="45720" rIns="91440" bIns="45720" rtlCol="0">
            <a:normAutofit lnSpcReduction="10000"/>
          </a:bodyPr>
          <a:lstStyle/>
          <a:p>
            <a:r>
              <a:rPr lang="en-US" dirty="0"/>
              <a:t>specification is quite complex, with groups:</a:t>
            </a:r>
          </a:p>
          <a:p>
            <a:pPr lvl="1"/>
            <a:r>
              <a:rPr lang="en-US" dirty="0"/>
              <a:t>Architecture</a:t>
            </a:r>
          </a:p>
          <a:p>
            <a:pPr lvl="2"/>
            <a:r>
              <a:rPr lang="en-US" dirty="0"/>
              <a:t>RFC4301 Security Architecture for Internet Protocol</a:t>
            </a:r>
          </a:p>
          <a:p>
            <a:pPr lvl="1"/>
            <a:r>
              <a:rPr lang="en-US" dirty="0"/>
              <a:t>Authentication Header (AH)</a:t>
            </a:r>
          </a:p>
          <a:p>
            <a:pPr lvl="2"/>
            <a:r>
              <a:rPr lang="en-US" dirty="0"/>
              <a:t>RFC4302 IP Authentication Header</a:t>
            </a:r>
          </a:p>
          <a:p>
            <a:pPr lvl="1"/>
            <a:r>
              <a:rPr lang="en-US" dirty="0"/>
              <a:t>Encapsulating Security Payload (ESP)</a:t>
            </a:r>
          </a:p>
          <a:p>
            <a:pPr lvl="2"/>
            <a:r>
              <a:rPr lang="en-US" dirty="0"/>
              <a:t>RFC4303 IP Encapsulating Security Payload (ESP)</a:t>
            </a:r>
          </a:p>
          <a:p>
            <a:pPr lvl="1"/>
            <a:r>
              <a:rPr lang="en-US" dirty="0"/>
              <a:t>Internet Key Exchange (IKE)</a:t>
            </a:r>
          </a:p>
          <a:p>
            <a:pPr lvl="2"/>
            <a:r>
              <a:rPr lang="en-US" dirty="0"/>
              <a:t>RFC4306 Internet Key Exchange (IKEv2) Protocol</a:t>
            </a:r>
          </a:p>
          <a:p>
            <a:pPr lvl="1"/>
            <a:r>
              <a:rPr lang="en-US" dirty="0"/>
              <a:t>Cryptographic algorithms</a:t>
            </a:r>
          </a:p>
          <a:p>
            <a:pPr lvl="1"/>
            <a:r>
              <a:rPr lang="en-US" dirty="0"/>
              <a:t>Other </a:t>
            </a:r>
          </a:p>
          <a:p>
            <a:endParaRPr lang="en-AU" dirty="0"/>
          </a:p>
        </p:txBody>
      </p:sp>
    </p:spTree>
    <p:extLst>
      <p:ext uri="{BB962C8B-B14F-4D97-AF65-F5344CB8AC3E}">
        <p14:creationId xmlns="" xmlns:p14="http://schemas.microsoft.com/office/powerpoint/2010/main" val="6471405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defRPr/>
            </a:pPr>
            <a:r>
              <a:rPr lang="en-US" dirty="0" err="1" smtClean="0"/>
              <a:t>IPSec</a:t>
            </a:r>
            <a:r>
              <a:rPr lang="en-US" dirty="0" smtClean="0"/>
              <a:t> Services</a:t>
            </a:r>
            <a:endParaRPr lang="en-AU" dirty="0" smtClean="0"/>
          </a:p>
        </p:txBody>
      </p:sp>
      <p:sp>
        <p:nvSpPr>
          <p:cNvPr id="50179" name="Rectangle 3"/>
          <p:cNvSpPr>
            <a:spLocks noGrp="1" noChangeArrowheads="1"/>
          </p:cNvSpPr>
          <p:nvPr>
            <p:ph type="body" idx="1"/>
          </p:nvPr>
        </p:nvSpPr>
        <p:spPr/>
        <p:txBody>
          <a:bodyPr vert="horz" lIns="91440" tIns="45720" rIns="91440" bIns="45720" rtlCol="0">
            <a:normAutofit/>
          </a:bodyPr>
          <a:lstStyle/>
          <a:p>
            <a:r>
              <a:rPr lang="en-AU" dirty="0"/>
              <a:t>Access control</a:t>
            </a:r>
          </a:p>
          <a:p>
            <a:r>
              <a:rPr lang="en-AU" dirty="0"/>
              <a:t>Connectionless integrity</a:t>
            </a:r>
          </a:p>
          <a:p>
            <a:r>
              <a:rPr lang="en-AU" dirty="0"/>
              <a:t>Data origin authentication</a:t>
            </a:r>
          </a:p>
          <a:p>
            <a:r>
              <a:rPr lang="en-AU" dirty="0"/>
              <a:t>Rejection of replayed packets</a:t>
            </a:r>
          </a:p>
          <a:p>
            <a:pPr lvl="1"/>
            <a:r>
              <a:rPr lang="en-AU" dirty="0"/>
              <a:t>a form of partial sequence integrity</a:t>
            </a:r>
          </a:p>
          <a:p>
            <a:r>
              <a:rPr lang="en-AU" dirty="0"/>
              <a:t>Confidentiality (encryption)</a:t>
            </a:r>
          </a:p>
          <a:p>
            <a:r>
              <a:rPr lang="en-AU" dirty="0"/>
              <a:t>Limited traffic flow confidentiality</a:t>
            </a:r>
          </a:p>
          <a:p>
            <a:endParaRPr lang="en-AU" dirty="0"/>
          </a:p>
        </p:txBody>
      </p:sp>
    </p:spTree>
    <p:extLst>
      <p:ext uri="{BB962C8B-B14F-4D97-AF65-F5344CB8AC3E}">
        <p14:creationId xmlns="" xmlns:p14="http://schemas.microsoft.com/office/powerpoint/2010/main" val="42925172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16632"/>
            <a:ext cx="8229600" cy="1139825"/>
          </a:xfrm>
        </p:spPr>
        <p:txBody>
          <a:bodyPr anchor="ctr"/>
          <a:lstStyle/>
          <a:p>
            <a:r>
              <a:rPr lang="en-US" dirty="0"/>
              <a:t>Transport and Tunnel Modes</a:t>
            </a:r>
          </a:p>
        </p:txBody>
      </p:sp>
      <p:sp>
        <p:nvSpPr>
          <p:cNvPr id="3" name="Content Placeholder 2"/>
          <p:cNvSpPr>
            <a:spLocks noGrp="1"/>
          </p:cNvSpPr>
          <p:nvPr>
            <p:ph idx="1"/>
          </p:nvPr>
        </p:nvSpPr>
        <p:spPr>
          <a:xfrm>
            <a:off x="304800" y="1484784"/>
            <a:ext cx="8458200" cy="5144616"/>
          </a:xfrm>
        </p:spPr>
        <p:txBody>
          <a:bodyPr vert="horz" lIns="91440" tIns="45720" rIns="91440" bIns="45720" rtlCol="0">
            <a:normAutofit/>
          </a:bodyPr>
          <a:lstStyle/>
          <a:p>
            <a:r>
              <a:rPr lang="en-US" dirty="0"/>
              <a:t>Transport Mode</a:t>
            </a:r>
          </a:p>
          <a:p>
            <a:pPr lvl="1"/>
            <a:r>
              <a:rPr lang="en-US" dirty="0"/>
              <a:t>to encrypt &amp; optionally authenticate IP data</a:t>
            </a:r>
          </a:p>
          <a:p>
            <a:pPr lvl="1"/>
            <a:r>
              <a:rPr lang="en-US" dirty="0"/>
              <a:t>can do traffic analysis but is efficient</a:t>
            </a:r>
          </a:p>
          <a:p>
            <a:pPr lvl="1"/>
            <a:r>
              <a:rPr lang="en-US" dirty="0"/>
              <a:t>good for ESP host to host traffic</a:t>
            </a:r>
          </a:p>
          <a:p>
            <a:r>
              <a:rPr lang="en-US" dirty="0"/>
              <a:t>Tunnel Mode</a:t>
            </a:r>
          </a:p>
          <a:p>
            <a:pPr lvl="1"/>
            <a:r>
              <a:rPr lang="en-US" dirty="0"/>
              <a:t>encrypts entire IP packet</a:t>
            </a:r>
          </a:p>
          <a:p>
            <a:pPr lvl="1"/>
            <a:r>
              <a:rPr lang="en-US" dirty="0"/>
              <a:t>add new header for next hop</a:t>
            </a:r>
          </a:p>
          <a:p>
            <a:pPr lvl="1"/>
            <a:r>
              <a:rPr lang="en-US" dirty="0"/>
              <a:t>no routers on way can examine inner IP header</a:t>
            </a:r>
          </a:p>
          <a:p>
            <a:pPr lvl="1"/>
            <a:r>
              <a:rPr lang="en-US" dirty="0"/>
              <a:t>good for VPNs, gateway to gateway security</a:t>
            </a:r>
            <a:endParaRPr lang="en-AU" dirty="0"/>
          </a:p>
        </p:txBody>
      </p:sp>
    </p:spTree>
    <p:extLst>
      <p:ext uri="{BB962C8B-B14F-4D97-AF65-F5344CB8AC3E}">
        <p14:creationId xmlns="" xmlns:p14="http://schemas.microsoft.com/office/powerpoint/2010/main" val="42147387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45410" name="Picture 2"/>
          <p:cNvPicPr>
            <a:picLocks noGrp="1" noChangeAspect="1" noChangeArrowheads="1"/>
          </p:cNvPicPr>
          <p:nvPr>
            <p:ph idx="1"/>
          </p:nvPr>
        </p:nvPicPr>
        <p:blipFill>
          <a:blip r:embed="rId2"/>
          <a:srcRect/>
          <a:stretch>
            <a:fillRect/>
          </a:stretch>
        </p:blipFill>
        <p:spPr bwMode="auto">
          <a:xfrm>
            <a:off x="281824" y="1714488"/>
            <a:ext cx="8362142" cy="414340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95536" y="1532890"/>
            <a:ext cx="2895600" cy="4776192"/>
          </a:xfrm>
        </p:spPr>
        <p:txBody>
          <a:bodyPr/>
          <a:lstStyle/>
          <a:p>
            <a:pPr eaLnBrk="1" hangingPunct="1">
              <a:defRPr/>
            </a:pPr>
            <a:r>
              <a:rPr lang="en-US" dirty="0" smtClean="0"/>
              <a:t>Transport</a:t>
            </a:r>
            <a:br>
              <a:rPr lang="en-US" dirty="0" smtClean="0"/>
            </a:br>
            <a:r>
              <a:rPr lang="en-US" dirty="0" smtClean="0"/>
              <a:t> and</a:t>
            </a:r>
            <a:br>
              <a:rPr lang="en-US" dirty="0" smtClean="0"/>
            </a:br>
            <a:r>
              <a:rPr lang="en-US" dirty="0" smtClean="0"/>
              <a:t>Tunnel Mode</a:t>
            </a:r>
            <a:br>
              <a:rPr lang="en-US" dirty="0" smtClean="0"/>
            </a:br>
            <a:r>
              <a:rPr lang="en-US" dirty="0" smtClean="0"/>
              <a:t>Protocols</a:t>
            </a:r>
            <a:endParaRPr lang="en-AU" dirty="0" smtClean="0"/>
          </a:p>
        </p:txBody>
      </p:sp>
      <p:pic>
        <p:nvPicPr>
          <p:cNvPr id="14339" name="Picture 3"/>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3635896" y="1340768"/>
            <a:ext cx="5181600" cy="5160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7321772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5164" y="1484784"/>
            <a:ext cx="8229600" cy="4959499"/>
          </a:xfrm>
        </p:spPr>
        <p:txBody>
          <a:bodyPr vert="horz" lIns="91440" tIns="45720" rIns="91440" bIns="45720" rtlCol="0">
            <a:normAutofit/>
          </a:bodyPr>
          <a:lstStyle/>
          <a:p>
            <a:pPr lvl="1"/>
            <a:r>
              <a:rPr lang="en-IN" dirty="0">
                <a:cs typeface="+mn-cs"/>
              </a:rPr>
              <a:t>Whatever has been discussed so far, encryption is mandatory but authentication (through authentication code) is optional. This IP Security protocol is called Encapsulating Security Payload (ESP) and standardized through IETF </a:t>
            </a:r>
            <a:r>
              <a:rPr lang="en-IN" dirty="0">
                <a:cs typeface="+mn-cs"/>
                <a:hlinkClick r:id="rId3"/>
              </a:rPr>
              <a:t>RFC-4303</a:t>
            </a:r>
            <a:r>
              <a:rPr lang="en-IN" dirty="0">
                <a:cs typeface="+mn-cs"/>
              </a:rPr>
              <a:t>.</a:t>
            </a:r>
          </a:p>
          <a:p>
            <a:pPr lvl="1"/>
            <a:endParaRPr lang="en-IN" dirty="0">
              <a:cs typeface="+mn-cs"/>
            </a:endParaRPr>
          </a:p>
          <a:p>
            <a:pPr lvl="1"/>
            <a:r>
              <a:rPr lang="en-IN" dirty="0">
                <a:cs typeface="+mn-cs"/>
              </a:rPr>
              <a:t>If encryption is never required, standardization allows it through Authentication Header (AH) IP Security Protocol with IETF </a:t>
            </a:r>
            <a:r>
              <a:rPr lang="en-IN" dirty="0">
                <a:cs typeface="+mn-cs"/>
                <a:hlinkClick r:id="rId4"/>
              </a:rPr>
              <a:t>RFC-4302</a:t>
            </a:r>
            <a:r>
              <a:rPr lang="en-IN" dirty="0">
                <a:cs typeface="+mn-cs"/>
              </a:rPr>
              <a:t>.</a:t>
            </a:r>
          </a:p>
          <a:p>
            <a:pPr lvl="1"/>
            <a:endParaRPr lang="en-IN" dirty="0">
              <a:cs typeface="+mn-cs"/>
            </a:endParaRPr>
          </a:p>
          <a:p>
            <a:pPr>
              <a:buChar char="•"/>
            </a:pPr>
            <a:endParaRPr lang="en-IN" sz="3200" dirty="0">
              <a:cs typeface="+mn-cs"/>
            </a:endParaRPr>
          </a:p>
        </p:txBody>
      </p:sp>
      <p:sp>
        <p:nvSpPr>
          <p:cNvPr id="3" name="Content Placeholder 2"/>
          <p:cNvSpPr>
            <a:spLocks noGrp="1"/>
          </p:cNvSpPr>
          <p:nvPr>
            <p:ph sz="quarter" idx="10"/>
          </p:nvPr>
        </p:nvSpPr>
        <p:spPr/>
        <p:txBody>
          <a:bodyPr anchor="ctr"/>
          <a:lstStyle/>
          <a:p>
            <a:pPr>
              <a:spcBef>
                <a:spcPct val="0"/>
              </a:spcBef>
            </a:pPr>
            <a:r>
              <a:rPr lang="en-IN" sz="3200" dirty="0">
                <a:latin typeface="+mj-lt"/>
                <a:ea typeface="+mj-ea"/>
                <a:cs typeface="+mj-cs"/>
              </a:rPr>
              <a:t>IP Security -  Types</a:t>
            </a:r>
          </a:p>
        </p:txBody>
      </p:sp>
    </p:spTree>
    <p:extLst>
      <p:ext uri="{BB962C8B-B14F-4D97-AF65-F5344CB8AC3E}">
        <p14:creationId xmlns="" xmlns:p14="http://schemas.microsoft.com/office/powerpoint/2010/main" val="106639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IP Security: Architecture (IPSec v3) </a:t>
            </a:r>
          </a:p>
          <a:p>
            <a:pPr>
              <a:spcBef>
                <a:spcPct val="0"/>
              </a:spcBef>
            </a:pPr>
            <a:r>
              <a:rPr lang="en-IN" sz="3200" dirty="0">
                <a:latin typeface="+mj-lt"/>
                <a:ea typeface="+mj-ea"/>
                <a:cs typeface="+mj-cs"/>
                <a:hlinkClick r:id="rId2"/>
              </a:rPr>
              <a:t>RFC-4301</a:t>
            </a:r>
            <a:endParaRPr lang="en-IN" sz="3200" dirty="0">
              <a:latin typeface="+mj-lt"/>
              <a:ea typeface="+mj-ea"/>
              <a:cs typeface="+mj-cs"/>
            </a:endParaRPr>
          </a:p>
        </p:txBody>
      </p:sp>
      <p:pic>
        <p:nvPicPr>
          <p:cNvPr id="30722" name="Picture 2"/>
          <p:cNvPicPr>
            <a:picLocks noChangeAspect="1" noChangeArrowheads="1"/>
          </p:cNvPicPr>
          <p:nvPr/>
        </p:nvPicPr>
        <p:blipFill>
          <a:blip r:embed="rId3" cstate="print"/>
          <a:srcRect l="29605" t="24235" r="26674" b="42297"/>
          <a:stretch>
            <a:fillRect/>
          </a:stretch>
        </p:blipFill>
        <p:spPr bwMode="auto">
          <a:xfrm>
            <a:off x="1259632" y="1988840"/>
            <a:ext cx="6480720" cy="3456384"/>
          </a:xfrm>
          <a:prstGeom prst="rect">
            <a:avLst/>
          </a:prstGeom>
          <a:noFill/>
          <a:ln w="9525">
            <a:noFill/>
            <a:miter lim="800000"/>
            <a:headEnd/>
            <a:tailEnd/>
          </a:ln>
        </p:spPr>
      </p:pic>
    </p:spTree>
    <p:extLst>
      <p:ext uri="{BB962C8B-B14F-4D97-AF65-F5344CB8AC3E}">
        <p14:creationId xmlns="" xmlns:p14="http://schemas.microsoft.com/office/powerpoint/2010/main" val="17800593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Security Association (SA) and its Database (SAD)</a:t>
            </a:r>
          </a:p>
        </p:txBody>
      </p:sp>
      <p:sp>
        <p:nvSpPr>
          <p:cNvPr id="5" name="Content Placeholder 1"/>
          <p:cNvSpPr>
            <a:spLocks noGrp="1"/>
          </p:cNvSpPr>
          <p:nvPr>
            <p:ph idx="1"/>
          </p:nvPr>
        </p:nvSpPr>
        <p:spPr>
          <a:xfrm>
            <a:off x="290634" y="1484784"/>
            <a:ext cx="8627712" cy="4857998"/>
          </a:xfrm>
        </p:spPr>
        <p:txBody>
          <a:bodyPr vert="horz" lIns="91440" tIns="45720" rIns="91440" bIns="45720" rtlCol="0">
            <a:normAutofit fontScale="85000" lnSpcReduction="20000"/>
          </a:bodyPr>
          <a:lstStyle/>
          <a:p>
            <a:pPr lvl="1"/>
            <a:r>
              <a:rPr lang="en-IN" dirty="0">
                <a:cs typeface="+mn-cs"/>
              </a:rPr>
              <a:t>Before sending IPSec datagrams from the source to the destination entity, the source and destination entities create a network-layer logical connection. This logical connection is called a Security Association (SA). </a:t>
            </a:r>
          </a:p>
          <a:p>
            <a:pPr lvl="1"/>
            <a:endParaRPr lang="en-IN" dirty="0">
              <a:cs typeface="+mn-cs"/>
            </a:endParaRPr>
          </a:p>
          <a:p>
            <a:pPr lvl="1"/>
            <a:r>
              <a:rPr lang="en-IN" dirty="0">
                <a:cs typeface="+mn-cs"/>
              </a:rPr>
              <a:t>These Security Associations are stored in a database which is called Security Association Database (SAD).</a:t>
            </a:r>
          </a:p>
          <a:p>
            <a:pPr lvl="1"/>
            <a:endParaRPr lang="en-IN" dirty="0">
              <a:cs typeface="+mn-cs"/>
            </a:endParaRPr>
          </a:p>
          <a:p>
            <a:pPr lvl="1"/>
            <a:r>
              <a:rPr lang="en-IN" dirty="0">
                <a:cs typeface="+mn-cs"/>
              </a:rPr>
              <a:t>Important parameters are stored in this database:</a:t>
            </a:r>
          </a:p>
          <a:p>
            <a:pPr lvl="2"/>
            <a:r>
              <a:rPr lang="en-IN" dirty="0">
                <a:latin typeface="+mn-lt"/>
                <a:cs typeface="+mn-cs"/>
              </a:rPr>
              <a:t>Encryption Algorithms </a:t>
            </a:r>
          </a:p>
          <a:p>
            <a:pPr lvl="2"/>
            <a:r>
              <a:rPr lang="en-IN" dirty="0">
                <a:latin typeface="+mn-lt"/>
                <a:cs typeface="+mn-cs"/>
              </a:rPr>
              <a:t>Authentication Algorithms</a:t>
            </a:r>
          </a:p>
          <a:p>
            <a:pPr lvl="2"/>
            <a:r>
              <a:rPr lang="en-IN" dirty="0">
                <a:latin typeface="+mn-lt"/>
                <a:cs typeface="+mn-cs"/>
              </a:rPr>
              <a:t>Keys</a:t>
            </a:r>
          </a:p>
          <a:p>
            <a:pPr lvl="2"/>
            <a:r>
              <a:rPr lang="en-IN" dirty="0">
                <a:latin typeface="+mn-lt"/>
                <a:cs typeface="+mn-cs"/>
              </a:rPr>
              <a:t>IP Security Protocol – ESP or AH</a:t>
            </a:r>
          </a:p>
          <a:p>
            <a:pPr lvl="2"/>
            <a:r>
              <a:rPr lang="en-IN" dirty="0">
                <a:latin typeface="+mn-lt"/>
                <a:cs typeface="+mn-cs"/>
              </a:rPr>
              <a:t>IP Security Mode – Tunnel or Transport </a:t>
            </a:r>
          </a:p>
          <a:p>
            <a:pPr lvl="2"/>
            <a:r>
              <a:rPr lang="en-IN" dirty="0">
                <a:latin typeface="+mn-lt"/>
                <a:cs typeface="+mn-cs"/>
              </a:rPr>
              <a:t>Etc.</a:t>
            </a:r>
          </a:p>
          <a:p>
            <a:pPr lvl="2"/>
            <a:endParaRPr lang="en-IN" dirty="0">
              <a:latin typeface="+mn-lt"/>
              <a:cs typeface="+mn-cs"/>
            </a:endParaRPr>
          </a:p>
          <a:p>
            <a:pPr lvl="1"/>
            <a:endParaRPr lang="en-IN" dirty="0">
              <a:cs typeface="+mn-cs"/>
            </a:endParaRPr>
          </a:p>
          <a:p>
            <a:pPr lvl="1"/>
            <a:endParaRPr lang="en-IN" dirty="0">
              <a:cs typeface="+mn-cs"/>
            </a:endParaRPr>
          </a:p>
          <a:p>
            <a:pPr lvl="1"/>
            <a:endParaRPr lang="en-IN" dirty="0">
              <a:cs typeface="+mn-cs"/>
            </a:endParaRPr>
          </a:p>
        </p:txBody>
      </p:sp>
    </p:spTree>
    <p:extLst>
      <p:ext uri="{BB962C8B-B14F-4D97-AF65-F5344CB8AC3E}">
        <p14:creationId xmlns="" xmlns:p14="http://schemas.microsoft.com/office/powerpoint/2010/main" val="75551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04800" y="197768"/>
            <a:ext cx="6324600" cy="1143000"/>
          </a:xfrm>
        </p:spPr>
        <p:txBody>
          <a:bodyPr vert="horz" lIns="91440" tIns="45720" rIns="91440" bIns="45720" rtlCol="0" anchor="ctr" anchorCtr="0">
            <a:normAutofit/>
          </a:bodyPr>
          <a:lstStyle/>
          <a:p>
            <a:pPr>
              <a:spcBef>
                <a:spcPct val="0"/>
              </a:spcBef>
            </a:pPr>
            <a:r>
              <a:rPr lang="en-IN" sz="3200" dirty="0">
                <a:latin typeface="+mj-lt"/>
                <a:ea typeface="+mj-ea"/>
                <a:cs typeface="+mj-cs"/>
              </a:rPr>
              <a:t>Security Policy (SP) and its Database (SPD)</a:t>
            </a:r>
          </a:p>
        </p:txBody>
      </p:sp>
      <p:sp>
        <p:nvSpPr>
          <p:cNvPr id="5" name="Content Placeholder 1"/>
          <p:cNvSpPr>
            <a:spLocks noGrp="1"/>
          </p:cNvSpPr>
          <p:nvPr>
            <p:ph idx="1"/>
          </p:nvPr>
        </p:nvSpPr>
        <p:spPr>
          <a:xfrm>
            <a:off x="251520" y="1484784"/>
            <a:ext cx="8229600" cy="4896544"/>
          </a:xfrm>
        </p:spPr>
        <p:txBody>
          <a:bodyPr vert="horz" lIns="91440" tIns="45720" rIns="91440" bIns="45720" rtlCol="0">
            <a:normAutofit fontScale="92500" lnSpcReduction="20000"/>
          </a:bodyPr>
          <a:lstStyle/>
          <a:p>
            <a:pPr lvl="1"/>
            <a:r>
              <a:rPr lang="en-IN" dirty="0">
                <a:cs typeface="+mn-cs"/>
              </a:rPr>
              <a:t>In addition to the secure communication, a host in headquarters may want to access a web server (such as Amazon or Google) in the public Internet. It is not necessary to provide IP Security to the traffic of this type. So, router will transmit into the Internet both plain IP datagrams and secured IPSec datagrams based on some Security Policies.</a:t>
            </a:r>
          </a:p>
          <a:p>
            <a:pPr lvl="1"/>
            <a:endParaRPr lang="en-IN" dirty="0">
              <a:cs typeface="+mn-cs"/>
            </a:endParaRPr>
          </a:p>
          <a:p>
            <a:pPr lvl="1"/>
            <a:r>
              <a:rPr lang="en-IN" dirty="0">
                <a:cs typeface="+mn-cs"/>
              </a:rPr>
              <a:t>These Security Policies are stored in a database which is called Security Policy Database (SPD).</a:t>
            </a:r>
          </a:p>
          <a:p>
            <a:pPr lvl="1"/>
            <a:endParaRPr lang="en-IN" dirty="0">
              <a:cs typeface="+mn-cs"/>
            </a:endParaRPr>
          </a:p>
          <a:p>
            <a:pPr lvl="1"/>
            <a:r>
              <a:rPr lang="en-IN" dirty="0">
                <a:cs typeface="+mn-cs"/>
              </a:rPr>
              <a:t>An entry within the SPD is identified with some keys (IP Addresses, Protocols, Ports) and then it is decides what needs to be done for the traffic.</a:t>
            </a:r>
          </a:p>
          <a:p>
            <a:pPr lvl="1"/>
            <a:endParaRPr lang="en-IN" dirty="0">
              <a:cs typeface="+mn-cs"/>
            </a:endParaRPr>
          </a:p>
          <a:p>
            <a:pPr lvl="1"/>
            <a:endParaRPr lang="en-IN" dirty="0">
              <a:cs typeface="+mn-cs"/>
            </a:endParaRPr>
          </a:p>
        </p:txBody>
      </p:sp>
    </p:spTree>
    <p:extLst>
      <p:ext uri="{BB962C8B-B14F-4D97-AF65-F5344CB8AC3E}">
        <p14:creationId xmlns="" xmlns:p14="http://schemas.microsoft.com/office/powerpoint/2010/main" val="16408994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ESP: Security Header and Trailer</a:t>
            </a:r>
          </a:p>
          <a:p>
            <a:pPr>
              <a:spcBef>
                <a:spcPct val="0"/>
              </a:spcBef>
            </a:pPr>
            <a:r>
              <a:rPr lang="en-IN" sz="3200" dirty="0">
                <a:latin typeface="+mj-lt"/>
                <a:ea typeface="+mj-ea"/>
                <a:cs typeface="+mj-cs"/>
                <a:hlinkClick r:id="rId2"/>
              </a:rPr>
              <a:t>RFC -4303</a:t>
            </a:r>
            <a:endParaRPr lang="en-IN" sz="3200" dirty="0">
              <a:latin typeface="+mj-lt"/>
              <a:ea typeface="+mj-ea"/>
              <a:cs typeface="+mj-cs"/>
            </a:endParaRPr>
          </a:p>
        </p:txBody>
      </p:sp>
      <p:grpSp>
        <p:nvGrpSpPr>
          <p:cNvPr id="2" name="Group 24"/>
          <p:cNvGrpSpPr/>
          <p:nvPr/>
        </p:nvGrpSpPr>
        <p:grpSpPr>
          <a:xfrm>
            <a:off x="1835696" y="1629973"/>
            <a:ext cx="5503775" cy="461665"/>
            <a:chOff x="1691680" y="2710081"/>
            <a:chExt cx="5503775" cy="461665"/>
          </a:xfrm>
        </p:grpSpPr>
        <p:sp>
          <p:nvSpPr>
            <p:cNvPr id="10" name="TextBox 9"/>
            <p:cNvSpPr txBox="1"/>
            <p:nvPr/>
          </p:nvSpPr>
          <p:spPr>
            <a:xfrm>
              <a:off x="6228184" y="2710081"/>
              <a:ext cx="967271" cy="461665"/>
            </a:xfrm>
            <a:prstGeom prst="rect">
              <a:avLst/>
            </a:prstGeom>
            <a:solidFill>
              <a:srgbClr val="00B0F0"/>
            </a:solidFill>
            <a:ln>
              <a:solidFill>
                <a:schemeClr val="tx1"/>
              </a:solidFill>
            </a:ln>
          </p:spPr>
          <p:txBody>
            <a:bodyPr wrap="square" rtlCol="0" anchor="ctr">
              <a:spAutoFit/>
            </a:bodyPr>
            <a:lstStyle/>
            <a:p>
              <a:pPr algn="ctr"/>
              <a:r>
                <a:rPr lang="en-IN" sz="1200" b="1" dirty="0" smtClean="0"/>
                <a:t>Security Trailer</a:t>
              </a:r>
              <a:endParaRPr lang="en-IN" sz="1200" b="1" dirty="0"/>
            </a:p>
          </p:txBody>
        </p:sp>
        <p:sp>
          <p:nvSpPr>
            <p:cNvPr id="11" name="TextBox 10"/>
            <p:cNvSpPr txBox="1"/>
            <p:nvPr/>
          </p:nvSpPr>
          <p:spPr>
            <a:xfrm>
              <a:off x="1691680" y="2710081"/>
              <a:ext cx="967271" cy="461665"/>
            </a:xfrm>
            <a:prstGeom prst="rect">
              <a:avLst/>
            </a:prstGeom>
            <a:solidFill>
              <a:srgbClr val="00B0F0"/>
            </a:solidFill>
            <a:ln>
              <a:solidFill>
                <a:schemeClr val="tx1"/>
              </a:solidFill>
            </a:ln>
          </p:spPr>
          <p:txBody>
            <a:bodyPr wrap="square" rtlCol="0" anchor="ctr">
              <a:spAutoFit/>
            </a:bodyPr>
            <a:lstStyle/>
            <a:p>
              <a:pPr algn="ctr"/>
              <a:r>
                <a:rPr lang="en-IN" sz="1200" b="1" dirty="0" smtClean="0"/>
                <a:t>Security Header</a:t>
              </a:r>
              <a:endParaRPr lang="en-IN" sz="1200" b="1" dirty="0"/>
            </a:p>
          </p:txBody>
        </p:sp>
      </p:grpSp>
      <p:grpSp>
        <p:nvGrpSpPr>
          <p:cNvPr id="5" name="Group 22"/>
          <p:cNvGrpSpPr/>
          <p:nvPr/>
        </p:nvGrpSpPr>
        <p:grpSpPr>
          <a:xfrm>
            <a:off x="1115616" y="2823319"/>
            <a:ext cx="1903375" cy="461665"/>
            <a:chOff x="1403648" y="2708920"/>
            <a:chExt cx="1903375" cy="461665"/>
          </a:xfrm>
          <a:solidFill>
            <a:schemeClr val="bg1"/>
          </a:solidFill>
        </p:grpSpPr>
        <p:sp>
          <p:nvSpPr>
            <p:cNvPr id="16" name="TextBox 15"/>
            <p:cNvSpPr txBox="1"/>
            <p:nvPr/>
          </p:nvSpPr>
          <p:spPr>
            <a:xfrm>
              <a:off x="1403648" y="2708920"/>
              <a:ext cx="967271" cy="461665"/>
            </a:xfrm>
            <a:prstGeom prst="rect">
              <a:avLst/>
            </a:prstGeom>
            <a:grpFill/>
            <a:ln>
              <a:solidFill>
                <a:schemeClr val="tx1"/>
              </a:solidFill>
            </a:ln>
          </p:spPr>
          <p:txBody>
            <a:bodyPr wrap="square" rtlCol="0" anchor="ctr">
              <a:spAutoFit/>
            </a:bodyPr>
            <a:lstStyle/>
            <a:p>
              <a:pPr algn="ctr"/>
              <a:r>
                <a:rPr lang="en-IN" sz="1200" b="1" dirty="0" smtClean="0"/>
                <a:t>SPI</a:t>
              </a:r>
            </a:p>
            <a:p>
              <a:pPr algn="ctr"/>
              <a:r>
                <a:rPr lang="en-IN" sz="1200" b="1" dirty="0" smtClean="0"/>
                <a:t>(32 bits)</a:t>
              </a:r>
              <a:endParaRPr lang="en-IN" sz="1200" b="1" dirty="0"/>
            </a:p>
          </p:txBody>
        </p:sp>
        <p:sp>
          <p:nvSpPr>
            <p:cNvPr id="17" name="TextBox 16"/>
            <p:cNvSpPr txBox="1"/>
            <p:nvPr/>
          </p:nvSpPr>
          <p:spPr>
            <a:xfrm>
              <a:off x="2339752" y="2708920"/>
              <a:ext cx="967271" cy="461665"/>
            </a:xfrm>
            <a:prstGeom prst="rect">
              <a:avLst/>
            </a:prstGeom>
            <a:grpFill/>
            <a:ln>
              <a:solidFill>
                <a:schemeClr val="tx1"/>
              </a:solidFill>
            </a:ln>
          </p:spPr>
          <p:txBody>
            <a:bodyPr wrap="square" rtlCol="0" anchor="ctr">
              <a:spAutoFit/>
            </a:bodyPr>
            <a:lstStyle/>
            <a:p>
              <a:pPr algn="ctr"/>
              <a:r>
                <a:rPr lang="en-IN" sz="1200" b="1" dirty="0" smtClean="0"/>
                <a:t>SN</a:t>
              </a:r>
            </a:p>
            <a:p>
              <a:pPr algn="ctr"/>
              <a:r>
                <a:rPr lang="en-IN" sz="1200" b="1" dirty="0" smtClean="0"/>
                <a:t>(32 bits)</a:t>
              </a:r>
              <a:endParaRPr lang="en-IN" sz="1200" b="1" dirty="0"/>
            </a:p>
          </p:txBody>
        </p:sp>
      </p:grpSp>
      <p:grpSp>
        <p:nvGrpSpPr>
          <p:cNvPr id="6" name="Group 21"/>
          <p:cNvGrpSpPr/>
          <p:nvPr/>
        </p:nvGrpSpPr>
        <p:grpSpPr>
          <a:xfrm>
            <a:off x="5292080" y="2823318"/>
            <a:ext cx="3168352" cy="461666"/>
            <a:chOff x="5796136" y="2838128"/>
            <a:chExt cx="3168352" cy="461666"/>
          </a:xfrm>
          <a:solidFill>
            <a:schemeClr val="bg1"/>
          </a:solidFill>
        </p:grpSpPr>
        <p:sp>
          <p:nvSpPr>
            <p:cNvPr id="18" name="TextBox 17"/>
            <p:cNvSpPr txBox="1"/>
            <p:nvPr/>
          </p:nvSpPr>
          <p:spPr>
            <a:xfrm>
              <a:off x="5796136" y="2838129"/>
              <a:ext cx="1039279" cy="461665"/>
            </a:xfrm>
            <a:prstGeom prst="rect">
              <a:avLst/>
            </a:prstGeom>
            <a:grpFill/>
            <a:ln>
              <a:solidFill>
                <a:schemeClr val="tx1"/>
              </a:solidFill>
            </a:ln>
          </p:spPr>
          <p:txBody>
            <a:bodyPr wrap="square" rtlCol="0" anchor="ctr">
              <a:spAutoFit/>
            </a:bodyPr>
            <a:lstStyle/>
            <a:p>
              <a:pPr algn="ctr"/>
              <a:r>
                <a:rPr lang="en-IN" sz="1200" b="1" dirty="0" smtClean="0"/>
                <a:t>Padding</a:t>
              </a:r>
            </a:p>
            <a:p>
              <a:pPr algn="ctr"/>
              <a:r>
                <a:rPr lang="en-IN" sz="1200" b="1" dirty="0" smtClean="0"/>
                <a:t>(0-255 bytes)</a:t>
              </a:r>
              <a:endParaRPr lang="en-IN" sz="1200" b="1" dirty="0"/>
            </a:p>
          </p:txBody>
        </p:sp>
        <p:sp>
          <p:nvSpPr>
            <p:cNvPr id="19" name="TextBox 18"/>
            <p:cNvSpPr txBox="1"/>
            <p:nvPr/>
          </p:nvSpPr>
          <p:spPr>
            <a:xfrm>
              <a:off x="6804248" y="2838129"/>
              <a:ext cx="967271" cy="461665"/>
            </a:xfrm>
            <a:prstGeom prst="rect">
              <a:avLst/>
            </a:prstGeom>
            <a:grpFill/>
            <a:ln>
              <a:solidFill>
                <a:schemeClr val="tx1"/>
              </a:solidFill>
            </a:ln>
          </p:spPr>
          <p:txBody>
            <a:bodyPr wrap="square" rtlCol="0" anchor="ctr">
              <a:spAutoFit/>
            </a:bodyPr>
            <a:lstStyle/>
            <a:p>
              <a:pPr algn="ctr"/>
              <a:r>
                <a:rPr lang="en-IN" sz="1200" b="1" dirty="0" smtClean="0"/>
                <a:t>Pad Length</a:t>
              </a:r>
            </a:p>
            <a:p>
              <a:pPr algn="ctr"/>
              <a:r>
                <a:rPr lang="en-IN" sz="1200" b="1" dirty="0" smtClean="0"/>
                <a:t>(8 bits)</a:t>
              </a:r>
              <a:endParaRPr lang="en-IN" sz="1200" b="1" dirty="0"/>
            </a:p>
          </p:txBody>
        </p:sp>
        <p:sp>
          <p:nvSpPr>
            <p:cNvPr id="21" name="TextBox 20"/>
            <p:cNvSpPr txBox="1"/>
            <p:nvPr/>
          </p:nvSpPr>
          <p:spPr>
            <a:xfrm>
              <a:off x="7740352" y="2838128"/>
              <a:ext cx="1224136" cy="461665"/>
            </a:xfrm>
            <a:prstGeom prst="rect">
              <a:avLst/>
            </a:prstGeom>
            <a:grpFill/>
            <a:ln>
              <a:solidFill>
                <a:schemeClr val="tx1"/>
              </a:solidFill>
            </a:ln>
          </p:spPr>
          <p:txBody>
            <a:bodyPr wrap="square" rtlCol="0" anchor="ctr">
              <a:spAutoFit/>
            </a:bodyPr>
            <a:lstStyle/>
            <a:p>
              <a:pPr algn="ctr"/>
              <a:r>
                <a:rPr lang="en-IN" sz="1200" b="1" dirty="0" smtClean="0"/>
                <a:t>Next Header</a:t>
              </a:r>
            </a:p>
            <a:p>
              <a:pPr algn="ctr"/>
              <a:r>
                <a:rPr lang="en-IN" sz="1200" b="1" dirty="0" smtClean="0"/>
                <a:t>(8 bits)</a:t>
              </a:r>
              <a:endParaRPr lang="en-IN" sz="1200" b="1" dirty="0"/>
            </a:p>
          </p:txBody>
        </p:sp>
      </p:grpSp>
      <p:cxnSp>
        <p:nvCxnSpPr>
          <p:cNvPr id="25" name="Straight Connector 24"/>
          <p:cNvCxnSpPr/>
          <p:nvPr/>
        </p:nvCxnSpPr>
        <p:spPr>
          <a:xfrm flipH="1">
            <a:off x="1115616" y="2060848"/>
            <a:ext cx="720080" cy="79208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771800" y="2060848"/>
            <a:ext cx="216024" cy="79208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5292080" y="2132856"/>
            <a:ext cx="1080120" cy="72008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308304" y="2060848"/>
            <a:ext cx="1152128" cy="792088"/>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5" name="Content Placeholder 1"/>
          <p:cNvSpPr>
            <a:spLocks noGrp="1"/>
          </p:cNvSpPr>
          <p:nvPr>
            <p:ph idx="1"/>
          </p:nvPr>
        </p:nvSpPr>
        <p:spPr>
          <a:xfrm>
            <a:off x="467544" y="3573016"/>
            <a:ext cx="8208912" cy="3096344"/>
          </a:xfrm>
        </p:spPr>
        <p:txBody>
          <a:bodyPr>
            <a:noAutofit/>
          </a:bodyPr>
          <a:lstStyle/>
          <a:p>
            <a:pPr marL="0" indent="0" algn="just">
              <a:spcBef>
                <a:spcPts val="0"/>
              </a:spcBef>
            </a:pPr>
            <a:r>
              <a:rPr lang="en-IN" sz="1800" dirty="0" smtClean="0"/>
              <a:t>As reviewed, there are two modes of ESP IPSec: Tunnel mode and Transport Mode. In both of these two modes, security header and security trailer are added. They are called </a:t>
            </a:r>
            <a:r>
              <a:rPr lang="en-IN" sz="1800" b="1" i="1" dirty="0" smtClean="0"/>
              <a:t>ESP Header </a:t>
            </a:r>
            <a:r>
              <a:rPr lang="en-IN" sz="1800" dirty="0" smtClean="0"/>
              <a:t>and </a:t>
            </a:r>
            <a:r>
              <a:rPr lang="en-IN" sz="1800" b="1" i="1" dirty="0" smtClean="0"/>
              <a:t>ESP Trailer </a:t>
            </a:r>
            <a:r>
              <a:rPr lang="en-IN" sz="1800" dirty="0" smtClean="0"/>
              <a:t>respectively. They consists of the following fields:</a:t>
            </a:r>
          </a:p>
          <a:p>
            <a:pPr marL="0" indent="0" algn="just">
              <a:spcBef>
                <a:spcPts val="0"/>
              </a:spcBef>
            </a:pPr>
            <a:endParaRPr lang="en-IN" sz="1800" dirty="0" smtClean="0"/>
          </a:p>
          <a:p>
            <a:pPr algn="just">
              <a:lnSpc>
                <a:spcPct val="120000"/>
              </a:lnSpc>
              <a:spcBef>
                <a:spcPts val="0"/>
              </a:spcBef>
              <a:buFont typeface="+mj-lt"/>
              <a:buAutoNum type="arabicPeriod"/>
            </a:pPr>
            <a:r>
              <a:rPr lang="en-IN" sz="1600" b="1" dirty="0" smtClean="0"/>
              <a:t>SPI (Security Parameter Index, 32 bits):</a:t>
            </a:r>
            <a:r>
              <a:rPr lang="en-IN" sz="1600" dirty="0" smtClean="0"/>
              <a:t> Key identifier for an SA.</a:t>
            </a:r>
          </a:p>
          <a:p>
            <a:pPr algn="just">
              <a:lnSpc>
                <a:spcPct val="120000"/>
              </a:lnSpc>
              <a:spcBef>
                <a:spcPts val="0"/>
              </a:spcBef>
              <a:buFont typeface="+mj-lt"/>
              <a:buAutoNum type="arabicPeriod"/>
            </a:pPr>
            <a:r>
              <a:rPr lang="en-IN" sz="1600" b="1" dirty="0" smtClean="0"/>
              <a:t>SN (Sequence Number, 32 bits):</a:t>
            </a:r>
            <a:r>
              <a:rPr lang="en-IN" sz="1600" dirty="0" smtClean="0"/>
              <a:t> Monotonically increasing number. Assists in anti-replay.</a:t>
            </a:r>
          </a:p>
          <a:p>
            <a:pPr algn="just">
              <a:lnSpc>
                <a:spcPct val="120000"/>
              </a:lnSpc>
              <a:spcBef>
                <a:spcPts val="0"/>
              </a:spcBef>
              <a:buFont typeface="+mj-lt"/>
              <a:buAutoNum type="arabicPeriod"/>
            </a:pPr>
            <a:r>
              <a:rPr lang="en-IN" sz="1600" b="1" dirty="0" smtClean="0"/>
              <a:t>Padding (0-255 bytes): </a:t>
            </a:r>
            <a:r>
              <a:rPr lang="en-IN" sz="1600" dirty="0" smtClean="0"/>
              <a:t>Few encryption algorithms need plain text to be in a multiple of some bytes, so these dummy bytes may be added.</a:t>
            </a:r>
          </a:p>
          <a:p>
            <a:pPr algn="just">
              <a:lnSpc>
                <a:spcPct val="120000"/>
              </a:lnSpc>
              <a:spcBef>
                <a:spcPts val="0"/>
              </a:spcBef>
              <a:buFont typeface="+mj-lt"/>
              <a:buAutoNum type="arabicPeriod"/>
            </a:pPr>
            <a:r>
              <a:rPr lang="en-IN" sz="1600" b="1" dirty="0" smtClean="0"/>
              <a:t>Pad Length (8 bits):</a:t>
            </a:r>
            <a:r>
              <a:rPr lang="en-IN" sz="1600" dirty="0" smtClean="0"/>
              <a:t> The count of dummy padding bytes added.</a:t>
            </a:r>
          </a:p>
          <a:p>
            <a:pPr algn="just">
              <a:lnSpc>
                <a:spcPct val="120000"/>
              </a:lnSpc>
              <a:spcBef>
                <a:spcPts val="0"/>
              </a:spcBef>
              <a:buFont typeface="+mj-lt"/>
              <a:buAutoNum type="arabicPeriod"/>
            </a:pPr>
            <a:r>
              <a:rPr lang="en-IN" sz="1600" b="1" dirty="0" smtClean="0"/>
              <a:t>Next Header (8 bits):</a:t>
            </a:r>
            <a:r>
              <a:rPr lang="en-IN" sz="1600" dirty="0" smtClean="0"/>
              <a:t> Identifies the type of payload in application header and data field.</a:t>
            </a:r>
          </a:p>
          <a:p>
            <a:pPr algn="just">
              <a:lnSpc>
                <a:spcPct val="120000"/>
              </a:lnSpc>
              <a:spcBef>
                <a:spcPts val="0"/>
              </a:spcBef>
              <a:buFont typeface="+mj-lt"/>
              <a:buAutoNum type="arabicPeriod"/>
            </a:pPr>
            <a:endParaRPr lang="en-IN" sz="1500" dirty="0" smtClean="0"/>
          </a:p>
        </p:txBody>
      </p:sp>
    </p:spTree>
    <p:extLst>
      <p:ext uri="{BB962C8B-B14F-4D97-AF65-F5344CB8AC3E}">
        <p14:creationId xmlns="" xmlns:p14="http://schemas.microsoft.com/office/powerpoint/2010/main" val="39243854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IP Security Policy</a:t>
            </a:r>
          </a:p>
          <a:p>
            <a:pPr>
              <a:spcBef>
                <a:spcPct val="0"/>
              </a:spcBef>
            </a:pPr>
            <a:r>
              <a:rPr lang="en-IN" sz="3200" dirty="0">
                <a:latin typeface="+mj-lt"/>
                <a:ea typeface="+mj-ea"/>
                <a:cs typeface="+mj-cs"/>
              </a:rPr>
              <a:t>Model for Outbound Packets</a:t>
            </a:r>
          </a:p>
        </p:txBody>
      </p:sp>
      <p:grpSp>
        <p:nvGrpSpPr>
          <p:cNvPr id="9" name="Group 8"/>
          <p:cNvGrpSpPr/>
          <p:nvPr/>
        </p:nvGrpSpPr>
        <p:grpSpPr>
          <a:xfrm>
            <a:off x="1907704" y="1412776"/>
            <a:ext cx="5616624" cy="5112568"/>
            <a:chOff x="4788024" y="1628800"/>
            <a:chExt cx="4104456" cy="4608512"/>
          </a:xfrm>
        </p:grpSpPr>
        <p:pic>
          <p:nvPicPr>
            <p:cNvPr id="33794" name="Picture 2"/>
            <p:cNvPicPr>
              <a:picLocks noChangeAspect="1" noChangeArrowheads="1"/>
            </p:cNvPicPr>
            <p:nvPr/>
          </p:nvPicPr>
          <p:blipFill>
            <a:blip r:embed="rId2" cstate="print"/>
            <a:srcRect l="36246" t="27188" r="31655" b="14735"/>
            <a:stretch>
              <a:fillRect/>
            </a:stretch>
          </p:blipFill>
          <p:spPr bwMode="auto">
            <a:xfrm>
              <a:off x="4788024" y="1628800"/>
              <a:ext cx="4104456" cy="4608512"/>
            </a:xfrm>
            <a:prstGeom prst="rect">
              <a:avLst/>
            </a:prstGeom>
            <a:noFill/>
            <a:ln w="9525">
              <a:noFill/>
              <a:miter lim="800000"/>
              <a:headEnd/>
              <a:tailEnd/>
            </a:ln>
          </p:spPr>
        </p:pic>
        <p:sp>
          <p:nvSpPr>
            <p:cNvPr id="13" name="Flowchart: Magnetic Disk 12"/>
            <p:cNvSpPr/>
            <p:nvPr/>
          </p:nvSpPr>
          <p:spPr>
            <a:xfrm>
              <a:off x="7092280" y="2420888"/>
              <a:ext cx="504056" cy="360040"/>
            </a:xfrm>
            <a:prstGeom prst="flowChartMagneticDisk">
              <a:avLst/>
            </a:prstGeom>
            <a:solidFill>
              <a:srgbClr val="C0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smtClean="0">
                  <a:solidFill>
                    <a:schemeClr val="bg1"/>
                  </a:solidFill>
                </a:rPr>
                <a:t>SPD</a:t>
              </a:r>
              <a:endParaRPr lang="en-IN" sz="1000" b="1" dirty="0">
                <a:solidFill>
                  <a:schemeClr val="bg1"/>
                </a:solidFill>
              </a:endParaRPr>
            </a:p>
          </p:txBody>
        </p:sp>
        <p:sp>
          <p:nvSpPr>
            <p:cNvPr id="14" name="Flowchart: Magnetic Disk 13"/>
            <p:cNvSpPr/>
            <p:nvPr/>
          </p:nvSpPr>
          <p:spPr>
            <a:xfrm>
              <a:off x="7596336" y="4581128"/>
              <a:ext cx="504056" cy="360040"/>
            </a:xfrm>
            <a:prstGeom prst="flowChartMagneticDisk">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smtClean="0">
                  <a:solidFill>
                    <a:schemeClr val="tx1"/>
                  </a:solidFill>
                </a:rPr>
                <a:t>SAD</a:t>
              </a:r>
              <a:endParaRPr lang="en-IN" sz="1000" b="1" dirty="0">
                <a:solidFill>
                  <a:schemeClr val="tx1"/>
                </a:solidFill>
              </a:endParaRPr>
            </a:p>
          </p:txBody>
        </p:sp>
      </p:grpSp>
    </p:spTree>
    <p:extLst>
      <p:ext uri="{BB962C8B-B14F-4D97-AF65-F5344CB8AC3E}">
        <p14:creationId xmlns="" xmlns:p14="http://schemas.microsoft.com/office/powerpoint/2010/main" val="8475729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IP Security Policy</a:t>
            </a:r>
          </a:p>
          <a:p>
            <a:pPr>
              <a:spcBef>
                <a:spcPct val="0"/>
              </a:spcBef>
            </a:pPr>
            <a:r>
              <a:rPr lang="en-IN" sz="3200" dirty="0">
                <a:latin typeface="+mj-lt"/>
                <a:ea typeface="+mj-ea"/>
                <a:cs typeface="+mj-cs"/>
              </a:rPr>
              <a:t>Model for Inbound Packets</a:t>
            </a:r>
          </a:p>
        </p:txBody>
      </p:sp>
      <p:grpSp>
        <p:nvGrpSpPr>
          <p:cNvPr id="10" name="Group 9"/>
          <p:cNvGrpSpPr/>
          <p:nvPr/>
        </p:nvGrpSpPr>
        <p:grpSpPr>
          <a:xfrm>
            <a:off x="1691680" y="1340768"/>
            <a:ext cx="5198978" cy="5117653"/>
            <a:chOff x="4494232" y="1628800"/>
            <a:chExt cx="4406890" cy="4320480"/>
          </a:xfrm>
        </p:grpSpPr>
        <p:pic>
          <p:nvPicPr>
            <p:cNvPr id="34818" name="Picture 2"/>
            <p:cNvPicPr>
              <a:picLocks noChangeAspect="1" noChangeArrowheads="1"/>
            </p:cNvPicPr>
            <p:nvPr/>
          </p:nvPicPr>
          <p:blipFill>
            <a:blip r:embed="rId2" cstate="print"/>
            <a:srcRect l="38460" t="33094" r="33315" b="17688"/>
            <a:stretch>
              <a:fillRect/>
            </a:stretch>
          </p:blipFill>
          <p:spPr bwMode="auto">
            <a:xfrm>
              <a:off x="4494232" y="1628800"/>
              <a:ext cx="4406890" cy="4320480"/>
            </a:xfrm>
            <a:prstGeom prst="rect">
              <a:avLst/>
            </a:prstGeom>
            <a:noFill/>
            <a:ln w="9525">
              <a:noFill/>
              <a:miter lim="800000"/>
              <a:headEnd/>
              <a:tailEnd/>
            </a:ln>
          </p:spPr>
        </p:pic>
        <p:sp>
          <p:nvSpPr>
            <p:cNvPr id="7" name="Flowchart: Magnetic Disk 6"/>
            <p:cNvSpPr/>
            <p:nvPr/>
          </p:nvSpPr>
          <p:spPr>
            <a:xfrm>
              <a:off x="4644008" y="4337720"/>
              <a:ext cx="504056" cy="360040"/>
            </a:xfrm>
            <a:prstGeom prst="flowChartMagneticDisk">
              <a:avLst/>
            </a:prstGeom>
            <a:solidFill>
              <a:srgbClr val="C0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smtClean="0">
                  <a:solidFill>
                    <a:schemeClr val="bg1"/>
                  </a:solidFill>
                </a:rPr>
                <a:t>SPD</a:t>
              </a:r>
              <a:endParaRPr lang="en-IN" sz="1000" b="1" dirty="0">
                <a:solidFill>
                  <a:schemeClr val="bg1"/>
                </a:solidFill>
              </a:endParaRPr>
            </a:p>
          </p:txBody>
        </p:sp>
        <p:sp>
          <p:nvSpPr>
            <p:cNvPr id="8" name="Flowchart: Magnetic Disk 7"/>
            <p:cNvSpPr/>
            <p:nvPr/>
          </p:nvSpPr>
          <p:spPr>
            <a:xfrm>
              <a:off x="8316416" y="4365104"/>
              <a:ext cx="504056" cy="360040"/>
            </a:xfrm>
            <a:prstGeom prst="flowChartMagneticDisk">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smtClean="0">
                  <a:solidFill>
                    <a:schemeClr val="tx1"/>
                  </a:solidFill>
                </a:rPr>
                <a:t>SAD</a:t>
              </a:r>
              <a:endParaRPr lang="en-IN" sz="1000" b="1" dirty="0">
                <a:solidFill>
                  <a:schemeClr val="tx1"/>
                </a:solidFill>
              </a:endParaRPr>
            </a:p>
          </p:txBody>
        </p:sp>
      </p:grpSp>
    </p:spTree>
    <p:extLst>
      <p:ext uri="{BB962C8B-B14F-4D97-AF65-F5344CB8AC3E}">
        <p14:creationId xmlns="" xmlns:p14="http://schemas.microsoft.com/office/powerpoint/2010/main" val="22532331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chor="ctr"/>
          <a:lstStyle/>
          <a:p>
            <a:r>
              <a:rPr lang="en-US"/>
              <a:t>IPSec Key Management</a:t>
            </a:r>
            <a:endParaRPr lang="en-AU"/>
          </a:p>
        </p:txBody>
      </p:sp>
      <p:sp>
        <p:nvSpPr>
          <p:cNvPr id="65539" name="Rectangle 3"/>
          <p:cNvSpPr>
            <a:spLocks noGrp="1" noChangeArrowheads="1"/>
          </p:cNvSpPr>
          <p:nvPr>
            <p:ph type="body" idx="1"/>
          </p:nvPr>
        </p:nvSpPr>
        <p:spPr/>
        <p:txBody>
          <a:bodyPr vert="horz" lIns="91440" tIns="45720" rIns="91440" bIns="45720" rtlCol="0">
            <a:normAutofit lnSpcReduction="10000"/>
          </a:bodyPr>
          <a:lstStyle/>
          <a:p>
            <a:r>
              <a:rPr lang="en-US" dirty="0"/>
              <a:t>handles key generation &amp; distribution</a:t>
            </a:r>
          </a:p>
          <a:p>
            <a:r>
              <a:rPr lang="en-US" dirty="0"/>
              <a:t>typically need 2 pairs of keys</a:t>
            </a:r>
          </a:p>
          <a:p>
            <a:pPr lvl="1"/>
            <a:r>
              <a:rPr lang="en-US" dirty="0"/>
              <a:t>2 per direction for AH &amp; ESP</a:t>
            </a:r>
          </a:p>
          <a:p>
            <a:r>
              <a:rPr lang="en-US" dirty="0"/>
              <a:t>manual key management</a:t>
            </a:r>
          </a:p>
          <a:p>
            <a:pPr lvl="1"/>
            <a:r>
              <a:rPr lang="en-US" dirty="0"/>
              <a:t>sysadmin manually configures every system</a:t>
            </a:r>
          </a:p>
          <a:p>
            <a:r>
              <a:rPr lang="en-US" dirty="0"/>
              <a:t>automated key management</a:t>
            </a:r>
          </a:p>
          <a:p>
            <a:pPr lvl="1"/>
            <a:r>
              <a:rPr lang="en-US" dirty="0"/>
              <a:t>automated system for on demand creation of keys for SA’s in large systems</a:t>
            </a:r>
          </a:p>
          <a:p>
            <a:pPr lvl="1"/>
            <a:r>
              <a:rPr lang="en-US" dirty="0"/>
              <a:t>has Oakley &amp; ISAKMP elements</a:t>
            </a:r>
            <a:endParaRPr lang="en-AU" dirty="0"/>
          </a:p>
        </p:txBody>
      </p:sp>
    </p:spTree>
    <p:extLst>
      <p:ext uri="{BB962C8B-B14F-4D97-AF65-F5344CB8AC3E}">
        <p14:creationId xmlns="" xmlns:p14="http://schemas.microsoft.com/office/powerpoint/2010/main" val="40356177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nchor="ctr"/>
          <a:lstStyle/>
          <a:p>
            <a:r>
              <a:rPr lang="en-US"/>
              <a:t>Oakley</a:t>
            </a:r>
            <a:endParaRPr lang="en-AU"/>
          </a:p>
        </p:txBody>
      </p:sp>
      <p:sp>
        <p:nvSpPr>
          <p:cNvPr id="66563" name="Rectangle 3"/>
          <p:cNvSpPr>
            <a:spLocks noGrp="1" noChangeArrowheads="1"/>
          </p:cNvSpPr>
          <p:nvPr>
            <p:ph type="body" idx="1"/>
          </p:nvPr>
        </p:nvSpPr>
        <p:spPr/>
        <p:txBody>
          <a:bodyPr vert="horz" lIns="91440" tIns="45720" rIns="91440" bIns="45720" rtlCol="0">
            <a:normAutofit/>
          </a:bodyPr>
          <a:lstStyle/>
          <a:p>
            <a:r>
              <a:rPr lang="en-US" dirty="0"/>
              <a:t>a key exchange protocol</a:t>
            </a:r>
          </a:p>
          <a:p>
            <a:r>
              <a:rPr lang="en-US" dirty="0"/>
              <a:t>based on </a:t>
            </a:r>
            <a:r>
              <a:rPr lang="en-US" dirty="0" err="1"/>
              <a:t>Diffie</a:t>
            </a:r>
            <a:r>
              <a:rPr lang="en-US" dirty="0"/>
              <a:t>-Hellman key exchange</a:t>
            </a:r>
          </a:p>
          <a:p>
            <a:r>
              <a:rPr lang="en-US" dirty="0"/>
              <a:t>adds features to address weaknesses</a:t>
            </a:r>
          </a:p>
          <a:p>
            <a:pPr lvl="1"/>
            <a:r>
              <a:rPr lang="en-US" dirty="0"/>
              <a:t>no info on parties, man-in-middle attack, cost</a:t>
            </a:r>
          </a:p>
          <a:p>
            <a:pPr lvl="1"/>
            <a:r>
              <a:rPr lang="en-US" dirty="0"/>
              <a:t>so adds cookies, groups (global </a:t>
            </a:r>
            <a:r>
              <a:rPr lang="en-US" dirty="0" err="1"/>
              <a:t>params</a:t>
            </a:r>
            <a:r>
              <a:rPr lang="en-US" dirty="0"/>
              <a:t>), </a:t>
            </a:r>
            <a:r>
              <a:rPr lang="en-US" dirty="0" err="1"/>
              <a:t>nonces</a:t>
            </a:r>
            <a:r>
              <a:rPr lang="en-US" dirty="0"/>
              <a:t>, DH key exchange with authentication</a:t>
            </a:r>
          </a:p>
          <a:p>
            <a:r>
              <a:rPr lang="en-US" dirty="0"/>
              <a:t>can use arithmetic in prime fields or elliptic curve fields</a:t>
            </a:r>
            <a:endParaRPr lang="en-AU" dirty="0"/>
          </a:p>
        </p:txBody>
      </p:sp>
    </p:spTree>
    <p:extLst>
      <p:ext uri="{BB962C8B-B14F-4D97-AF65-F5344CB8AC3E}">
        <p14:creationId xmlns="" xmlns:p14="http://schemas.microsoft.com/office/powerpoint/2010/main" val="39962936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defRPr/>
            </a:pPr>
            <a:r>
              <a:rPr lang="en-US" dirty="0" smtClean="0"/>
              <a:t>ISAKMP</a:t>
            </a:r>
            <a:endParaRPr lang="en-AU" dirty="0" smtClean="0"/>
          </a:p>
        </p:txBody>
      </p:sp>
      <p:sp>
        <p:nvSpPr>
          <p:cNvPr id="67587" name="Rectangle 3"/>
          <p:cNvSpPr>
            <a:spLocks noGrp="1" noChangeArrowheads="1"/>
          </p:cNvSpPr>
          <p:nvPr>
            <p:ph type="body" idx="1"/>
          </p:nvPr>
        </p:nvSpPr>
        <p:spPr>
          <a:xfrm>
            <a:off x="395536" y="1556792"/>
            <a:ext cx="8534400" cy="4876800"/>
          </a:xfrm>
        </p:spPr>
        <p:txBody>
          <a:bodyPr vert="horz" lIns="91440" tIns="45720" rIns="91440" bIns="45720" rtlCol="0">
            <a:normAutofit/>
          </a:bodyPr>
          <a:lstStyle/>
          <a:p>
            <a:r>
              <a:rPr lang="en-AU" dirty="0"/>
              <a:t>Internet Security Association and Key Management Protocol</a:t>
            </a:r>
          </a:p>
          <a:p>
            <a:r>
              <a:rPr lang="en-US" dirty="0"/>
              <a:t>provides framework for key management</a:t>
            </a:r>
          </a:p>
          <a:p>
            <a:r>
              <a:rPr lang="en-US" dirty="0"/>
              <a:t>defines procedures and packet formats to establish, negotiate, modify, &amp; delete SAs</a:t>
            </a:r>
          </a:p>
          <a:p>
            <a:r>
              <a:rPr lang="en-AU" dirty="0"/>
              <a:t>independent of key exchange protocol, encryption </a:t>
            </a:r>
            <a:r>
              <a:rPr lang="en-AU" dirty="0" err="1"/>
              <a:t>alg</a:t>
            </a:r>
            <a:r>
              <a:rPr lang="en-AU" dirty="0"/>
              <a:t>, &amp; authentication method</a:t>
            </a:r>
            <a:endParaRPr lang="en-US" dirty="0"/>
          </a:p>
          <a:p>
            <a:r>
              <a:rPr lang="en-US" dirty="0"/>
              <a:t>IKEv2 no longer uses Oakley &amp; ISAKMP terms, but basic functionality is same</a:t>
            </a:r>
            <a:endParaRPr lang="en-AU" dirty="0"/>
          </a:p>
          <a:p>
            <a:endParaRPr lang="en-AU" dirty="0"/>
          </a:p>
        </p:txBody>
      </p:sp>
    </p:spTree>
    <p:extLst>
      <p:ext uri="{BB962C8B-B14F-4D97-AF65-F5344CB8AC3E}">
        <p14:creationId xmlns="" xmlns:p14="http://schemas.microsoft.com/office/powerpoint/2010/main" val="11406151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251520" y="188640"/>
            <a:ext cx="8229600" cy="990600"/>
          </a:xfrm>
        </p:spPr>
        <p:txBody>
          <a:bodyPr/>
          <a:lstStyle/>
          <a:p>
            <a:pPr eaLnBrk="1" hangingPunct="1">
              <a:defRPr/>
            </a:pPr>
            <a:r>
              <a:rPr lang="en-US" dirty="0" smtClean="0"/>
              <a:t>ISAKMP</a:t>
            </a:r>
            <a:endParaRPr lang="en-AU" dirty="0" smtClean="0"/>
          </a:p>
        </p:txBody>
      </p:sp>
      <p:pic>
        <p:nvPicPr>
          <p:cNvPr id="32771" name="Picture 3"/>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971600" y="1340768"/>
            <a:ext cx="7112000" cy="50811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5971662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nchor="ctr"/>
          <a:lstStyle/>
          <a:p>
            <a:r>
              <a:rPr lang="en-US" dirty="0"/>
              <a:t>IKE Payloads &amp; Exchanges</a:t>
            </a:r>
            <a:endParaRPr lang="en-AU" dirty="0"/>
          </a:p>
        </p:txBody>
      </p:sp>
      <p:sp>
        <p:nvSpPr>
          <p:cNvPr id="91139" name="Rectangle 3"/>
          <p:cNvSpPr>
            <a:spLocks noGrp="1" noChangeArrowheads="1"/>
          </p:cNvSpPr>
          <p:nvPr>
            <p:ph type="body" idx="1"/>
          </p:nvPr>
        </p:nvSpPr>
        <p:spPr/>
        <p:txBody>
          <a:bodyPr vert="horz" lIns="91440" tIns="45720" rIns="91440" bIns="45720" rtlCol="0">
            <a:normAutofit/>
          </a:bodyPr>
          <a:lstStyle/>
          <a:p>
            <a:r>
              <a:rPr lang="en-US" dirty="0"/>
              <a:t>have a number of ISAKMP payload types:</a:t>
            </a:r>
          </a:p>
          <a:p>
            <a:pPr lvl="1"/>
            <a:r>
              <a:rPr lang="en-US" dirty="0"/>
              <a:t>Security Association, Key Exchange, Identification, Certificate, Certificate Request, Authentication, Nonce, Notify, Delete, Vendor ID, Traffic Selector, Encrypted, Configuration, Extensible Authentication Protocol</a:t>
            </a:r>
          </a:p>
          <a:p>
            <a:r>
              <a:rPr lang="en-US" dirty="0"/>
              <a:t>payload has complex hierarchical structure</a:t>
            </a:r>
          </a:p>
          <a:p>
            <a:r>
              <a:rPr lang="en-US" dirty="0"/>
              <a:t>may contain multiple proposals, with multiple protocols &amp; multiple transforms</a:t>
            </a:r>
          </a:p>
        </p:txBody>
      </p:sp>
    </p:spTree>
    <p:extLst>
      <p:ext uri="{BB962C8B-B14F-4D97-AF65-F5344CB8AC3E}">
        <p14:creationId xmlns="" xmlns:p14="http://schemas.microsoft.com/office/powerpoint/2010/main" val="35765134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6552728" cy="969169"/>
          </a:xfrm>
        </p:spPr>
        <p:txBody>
          <a:bodyPr anchor="ctr"/>
          <a:lstStyle/>
          <a:p>
            <a:r>
              <a:rPr lang="en-US"/>
              <a:t>Cryptographic Suites</a:t>
            </a:r>
          </a:p>
        </p:txBody>
      </p:sp>
      <p:sp>
        <p:nvSpPr>
          <p:cNvPr id="3" name="Content Placeholder 2"/>
          <p:cNvSpPr>
            <a:spLocks noGrp="1"/>
          </p:cNvSpPr>
          <p:nvPr>
            <p:ph idx="1"/>
          </p:nvPr>
        </p:nvSpPr>
        <p:spPr>
          <a:xfrm>
            <a:off x="457200" y="1412776"/>
            <a:ext cx="8229600" cy="5216624"/>
          </a:xfrm>
        </p:spPr>
        <p:txBody>
          <a:bodyPr vert="horz" lIns="91440" tIns="45720" rIns="91440" bIns="45720" rtlCol="0">
            <a:normAutofit/>
          </a:bodyPr>
          <a:lstStyle/>
          <a:p>
            <a:r>
              <a:rPr lang="en-US" dirty="0"/>
              <a:t>variety of cryptographic algorithm types</a:t>
            </a:r>
          </a:p>
          <a:p>
            <a:r>
              <a:rPr lang="en-US" dirty="0"/>
              <a:t>to promote interoperability have</a:t>
            </a:r>
          </a:p>
          <a:p>
            <a:pPr lvl="1"/>
            <a:r>
              <a:rPr lang="en-US" dirty="0"/>
              <a:t>RFC4308 defines VPN cryptographic suites</a:t>
            </a:r>
          </a:p>
          <a:p>
            <a:pPr lvl="2"/>
            <a:r>
              <a:rPr lang="en-US" dirty="0"/>
              <a:t>VPN-A matches common corporate VPN security using 3DES &amp; HMAC</a:t>
            </a:r>
          </a:p>
          <a:p>
            <a:pPr lvl="2"/>
            <a:r>
              <a:rPr lang="en-US" dirty="0"/>
              <a:t>VPN-B has stronger security for new VPNs implementing IPsecv3 and IKEv2 using AES</a:t>
            </a:r>
          </a:p>
          <a:p>
            <a:pPr lvl="1"/>
            <a:r>
              <a:rPr lang="en-US" dirty="0"/>
              <a:t>RFC4869 defines four cryptographic suites  compatible with US NSA specs</a:t>
            </a:r>
          </a:p>
          <a:p>
            <a:pPr lvl="2"/>
            <a:r>
              <a:rPr lang="en-US" dirty="0"/>
              <a:t>provide choices for ESP &amp; IKE</a:t>
            </a:r>
          </a:p>
          <a:p>
            <a:pPr lvl="2"/>
            <a:r>
              <a:rPr lang="en-US" dirty="0"/>
              <a:t>AES-GCM, AES-CBC, HMAC-SHA, ECP, ECDSA</a:t>
            </a:r>
          </a:p>
          <a:p>
            <a:pPr lvl="1"/>
            <a:endParaRPr lang="en-US" dirty="0"/>
          </a:p>
        </p:txBody>
      </p:sp>
    </p:spTree>
    <p:extLst>
      <p:ext uri="{BB962C8B-B14F-4D97-AF65-F5344CB8AC3E}">
        <p14:creationId xmlns="" xmlns:p14="http://schemas.microsoft.com/office/powerpoint/2010/main" val="30521321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656" y="3212976"/>
            <a:ext cx="6120680" cy="850106"/>
          </a:xfrm>
        </p:spPr>
        <p:txBody>
          <a:bodyPr/>
          <a:lstStyle/>
          <a:p>
            <a:pPr algn="ctr"/>
            <a:r>
              <a:rPr lang="en-US" dirty="0" smtClean="0"/>
              <a:t>VPN</a:t>
            </a:r>
            <a:endParaRPr lang="en-US" dirty="0"/>
          </a:p>
        </p:txBody>
      </p:sp>
    </p:spTree>
    <p:extLst>
      <p:ext uri="{BB962C8B-B14F-4D97-AF65-F5344CB8AC3E}">
        <p14:creationId xmlns="" xmlns:p14="http://schemas.microsoft.com/office/powerpoint/2010/main" val="5652634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ChangeArrowheads="1"/>
          </p:cNvSpPr>
          <p:nvPr/>
        </p:nvSpPr>
        <p:spPr bwMode="auto">
          <a:xfrm>
            <a:off x="457200" y="1792288"/>
            <a:ext cx="8305800" cy="2246312"/>
          </a:xfrm>
          <a:prstGeom prst="rect">
            <a:avLst/>
          </a:prstGeom>
          <a:noFill/>
          <a:ln w="9525">
            <a:noFill/>
            <a:miter lim="800000"/>
            <a:headEnd/>
            <a:tailEnd/>
          </a:ln>
        </p:spPr>
        <p:txBody>
          <a:bodyPr>
            <a:spAutoFit/>
          </a:bodyPr>
          <a:lstStyle/>
          <a:p>
            <a:r>
              <a:rPr lang="en-US" sz="2800" dirty="0">
                <a:latin typeface="Cambria" pitchFamily="18" charset="0"/>
              </a:rPr>
              <a:t>A virtual private network (VPN) is a network that uses a public telecommunication infrastructure, such as the Internet, to provide remote offices or individual users with secure access to their organization's network. </a:t>
            </a:r>
            <a:endParaRPr lang="en-US" sz="1400" dirty="0">
              <a:latin typeface="Cambria" pitchFamily="18" charset="0"/>
            </a:endParaRPr>
          </a:p>
        </p:txBody>
      </p:sp>
      <p:sp>
        <p:nvSpPr>
          <p:cNvPr id="7" name="TextBox 6"/>
          <p:cNvSpPr txBox="1"/>
          <p:nvPr/>
        </p:nvSpPr>
        <p:spPr>
          <a:xfrm>
            <a:off x="457200" y="381000"/>
            <a:ext cx="8001000" cy="723900"/>
          </a:xfrm>
          <a:prstGeom prst="rect">
            <a:avLst/>
          </a:prstGeom>
          <a:noFill/>
        </p:spPr>
        <p:txBody>
          <a:bodyPr>
            <a:spAutoFit/>
          </a:bodyPr>
          <a:lstStyle/>
          <a:p>
            <a:pPr fontAlgn="auto">
              <a:spcBef>
                <a:spcPts val="0"/>
              </a:spcBef>
              <a:spcAft>
                <a:spcPts val="0"/>
              </a:spcAft>
              <a:defRPr/>
            </a:pPr>
            <a:r>
              <a:rPr lang="en-US" sz="4100" b="1" dirty="0">
                <a:effectLst>
                  <a:outerShdw blurRad="38100" dist="38100" dir="2700000" algn="tl">
                    <a:srgbClr val="000000">
                      <a:alpha val="43137"/>
                    </a:srgbClr>
                  </a:outerShdw>
                </a:effectLst>
                <a:latin typeface="+mj-lt"/>
                <a:cs typeface="+mn-cs"/>
              </a:rPr>
              <a:t>What is a VPN?</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eaLnBrk="1" fontAlgn="auto" hangingPunct="1">
              <a:spcAft>
                <a:spcPts val="0"/>
              </a:spcAft>
              <a:defRPr/>
            </a:pPr>
            <a:r>
              <a:rPr lang="en-US" dirty="0" smtClean="0"/>
              <a:t>What is a VPN?</a:t>
            </a:r>
            <a:endParaRPr lang="en-US" dirty="0"/>
          </a:p>
        </p:txBody>
      </p:sp>
      <p:pic>
        <p:nvPicPr>
          <p:cNvPr id="13315" name="Picture 2" descr="http://www.3linkserver.com/images/themes/3link/vpn_image.gif"/>
          <p:cNvPicPr>
            <a:picLocks noChangeAspect="1" noChangeArrowheads="1"/>
          </p:cNvPicPr>
          <p:nvPr/>
        </p:nvPicPr>
        <p:blipFill>
          <a:blip r:embed="rId2"/>
          <a:srcRect/>
          <a:stretch>
            <a:fillRect/>
          </a:stretch>
        </p:blipFill>
        <p:spPr bwMode="auto">
          <a:xfrm>
            <a:off x="838200" y="1676400"/>
            <a:ext cx="7410450" cy="3113088"/>
          </a:xfrm>
          <a:prstGeom prst="rect">
            <a:avLst/>
          </a:prstGeom>
          <a:noFill/>
          <a:ln w="3175">
            <a:solidFill>
              <a:schemeClr val="tx1"/>
            </a:solid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533400" y="304800"/>
            <a:ext cx="7772400" cy="533400"/>
          </a:xfrm>
        </p:spPr>
        <p:txBody>
          <a:bodyPr>
            <a:noAutofit/>
          </a:bodyPr>
          <a:lstStyle/>
          <a:p>
            <a:pPr eaLnBrk="1" fontAlgn="auto" hangingPunct="1">
              <a:spcAft>
                <a:spcPts val="0"/>
              </a:spcAft>
              <a:defRPr/>
            </a:pPr>
            <a:r>
              <a:rPr lang="en-US" dirty="0" smtClean="0"/>
              <a:t>What is a VPN</a:t>
            </a:r>
          </a:p>
        </p:txBody>
      </p:sp>
      <p:sp>
        <p:nvSpPr>
          <p:cNvPr id="4" name="Rectangle 2"/>
          <p:cNvSpPr txBox="1">
            <a:spLocks noChangeArrowheads="1"/>
          </p:cNvSpPr>
          <p:nvPr/>
        </p:nvSpPr>
        <p:spPr>
          <a:xfrm>
            <a:off x="685800" y="609600"/>
            <a:ext cx="7772400" cy="533400"/>
          </a:xfrm>
          <a:prstGeom prst="rect">
            <a:avLst/>
          </a:prstGeom>
        </p:spPr>
        <p:txBody>
          <a:bodyPr anchor="ctr">
            <a:normAutofit fontScale="77500" lnSpcReduction="20000"/>
          </a:bodyPr>
          <a:lstStyle/>
          <a:p>
            <a:pPr algn="ctr" fontAlgn="auto">
              <a:spcAft>
                <a:spcPts val="0"/>
              </a:spcAft>
              <a:defRPr/>
            </a:pPr>
            <a:endParaRPr lang="en-US" sz="4400" dirty="0">
              <a:latin typeface="+mj-lt"/>
              <a:ea typeface="+mj-ea"/>
              <a:cs typeface="+mj-cs"/>
            </a:endParaRPr>
          </a:p>
        </p:txBody>
      </p:sp>
      <p:pic>
        <p:nvPicPr>
          <p:cNvPr id="14340" name="Picture 6"/>
          <p:cNvPicPr>
            <a:picLocks noChangeAspect="1" noChangeArrowheads="1"/>
          </p:cNvPicPr>
          <p:nvPr/>
        </p:nvPicPr>
        <p:blipFill>
          <a:blip r:embed="rId2"/>
          <a:srcRect/>
          <a:stretch>
            <a:fillRect/>
          </a:stretch>
        </p:blipFill>
        <p:spPr bwMode="auto">
          <a:xfrm>
            <a:off x="1143000" y="3048000"/>
            <a:ext cx="7010400" cy="2108200"/>
          </a:xfrm>
          <a:prstGeom prst="rect">
            <a:avLst/>
          </a:prstGeom>
          <a:noFill/>
          <a:ln w="9525">
            <a:noFill/>
            <a:miter lim="800000"/>
            <a:headEnd/>
            <a:tailEnd/>
          </a:ln>
        </p:spPr>
      </p:pic>
      <p:sp>
        <p:nvSpPr>
          <p:cNvPr id="14341" name="Text Box 7"/>
          <p:cNvSpPr txBox="1">
            <a:spLocks noChangeArrowheads="1"/>
          </p:cNvSpPr>
          <p:nvPr/>
        </p:nvSpPr>
        <p:spPr bwMode="auto">
          <a:xfrm>
            <a:off x="838200" y="1524000"/>
            <a:ext cx="7848600" cy="1384300"/>
          </a:xfrm>
          <a:prstGeom prst="rect">
            <a:avLst/>
          </a:prstGeom>
          <a:noFill/>
          <a:ln w="9525">
            <a:noFill/>
            <a:miter lim="800000"/>
            <a:headEnd/>
            <a:tailEnd/>
          </a:ln>
        </p:spPr>
        <p:txBody>
          <a:bodyPr>
            <a:spAutoFit/>
          </a:bodyPr>
          <a:lstStyle/>
          <a:p>
            <a:pPr>
              <a:spcBef>
                <a:spcPct val="50000"/>
              </a:spcBef>
            </a:pPr>
            <a:r>
              <a:rPr lang="en-US" sz="2800">
                <a:latin typeface="Cambria" pitchFamily="18" charset="0"/>
              </a:rPr>
              <a:t>Public networks are used to move information between trusted network segments using shared facilities like Frame Relay or ATM</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eaLnBrk="1" fontAlgn="auto" hangingPunct="1">
              <a:spcAft>
                <a:spcPts val="0"/>
              </a:spcAft>
              <a:defRPr/>
            </a:pPr>
            <a:r>
              <a:rPr lang="en-US" dirty="0" smtClean="0"/>
              <a:t>What is a VPN?</a:t>
            </a:r>
            <a:endParaRPr lang="en-US" dirty="0"/>
          </a:p>
        </p:txBody>
      </p:sp>
      <p:pic>
        <p:nvPicPr>
          <p:cNvPr id="15363" name="Picture 5"/>
          <p:cNvPicPr>
            <a:picLocks noChangeAspect="1" noChangeArrowheads="1"/>
          </p:cNvPicPr>
          <p:nvPr/>
        </p:nvPicPr>
        <p:blipFill>
          <a:blip r:embed="rId2"/>
          <a:srcRect/>
          <a:stretch>
            <a:fillRect/>
          </a:stretch>
        </p:blipFill>
        <p:spPr bwMode="auto">
          <a:xfrm>
            <a:off x="1447800" y="3124200"/>
            <a:ext cx="6334125" cy="1914525"/>
          </a:xfrm>
          <a:prstGeom prst="rect">
            <a:avLst/>
          </a:prstGeom>
          <a:noFill/>
          <a:ln w="9525">
            <a:noFill/>
            <a:miter lim="800000"/>
            <a:headEnd/>
            <a:tailEnd/>
          </a:ln>
        </p:spPr>
      </p:pic>
      <p:sp>
        <p:nvSpPr>
          <p:cNvPr id="5" name="Text Box 8"/>
          <p:cNvSpPr txBox="1">
            <a:spLocks noChangeArrowheads="1"/>
          </p:cNvSpPr>
          <p:nvPr/>
        </p:nvSpPr>
        <p:spPr bwMode="auto">
          <a:xfrm>
            <a:off x="685800" y="1676400"/>
            <a:ext cx="8001000" cy="1384300"/>
          </a:xfrm>
          <a:prstGeom prst="rect">
            <a:avLst/>
          </a:prstGeom>
          <a:noFill/>
          <a:ln w="9525">
            <a:noFill/>
            <a:miter lim="800000"/>
            <a:headEnd/>
            <a:tailEnd/>
          </a:ln>
        </p:spPr>
        <p:txBody>
          <a:bodyPr>
            <a:spAutoFit/>
          </a:bodyPr>
          <a:lstStyle/>
          <a:p>
            <a:pPr fontAlgn="auto">
              <a:spcBef>
                <a:spcPct val="50000"/>
              </a:spcBef>
              <a:spcAft>
                <a:spcPts val="0"/>
              </a:spcAft>
              <a:defRPr/>
            </a:pPr>
            <a:r>
              <a:rPr lang="en-US" sz="2800" dirty="0">
                <a:solidFill>
                  <a:srgbClr val="3D4040"/>
                </a:solidFill>
                <a:latin typeface="+mj-lt"/>
                <a:cs typeface="+mn-cs"/>
              </a:rPr>
              <a:t>A VIRTUAL Private Network replaces all of the above utilizing the public Internet Performance and availability depend on your ISP and the Internet</a:t>
            </a:r>
            <a:endParaRPr lang="en-US" sz="2800" dirty="0">
              <a:latin typeface="+mj-lt"/>
              <a:cs typeface="+mn-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85800" y="609600"/>
            <a:ext cx="7772400" cy="1143000"/>
          </a:xfrm>
        </p:spPr>
        <p:txBody>
          <a:bodyPr/>
          <a:lstStyle/>
          <a:p>
            <a:pPr eaLnBrk="1" fontAlgn="auto" hangingPunct="1">
              <a:spcAft>
                <a:spcPts val="0"/>
              </a:spcAft>
              <a:defRPr/>
            </a:pPr>
            <a:r>
              <a:rPr lang="en-US" dirty="0" smtClean="0"/>
              <a:t>VPN Types</a:t>
            </a:r>
          </a:p>
        </p:txBody>
      </p:sp>
      <p:pic>
        <p:nvPicPr>
          <p:cNvPr id="17411" name="Picture 4"/>
          <p:cNvPicPr>
            <a:picLocks noChangeAspect="1" noChangeArrowheads="1"/>
          </p:cNvPicPr>
          <p:nvPr/>
        </p:nvPicPr>
        <p:blipFill>
          <a:blip r:embed="rId2"/>
          <a:srcRect/>
          <a:stretch>
            <a:fillRect/>
          </a:stretch>
        </p:blipFill>
        <p:spPr bwMode="auto">
          <a:xfrm>
            <a:off x="990600" y="1676400"/>
            <a:ext cx="7286625" cy="4292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85800" y="457200"/>
            <a:ext cx="7772400" cy="1143000"/>
          </a:xfrm>
        </p:spPr>
        <p:txBody>
          <a:bodyPr>
            <a:normAutofit/>
          </a:bodyPr>
          <a:lstStyle/>
          <a:p>
            <a:pPr eaLnBrk="1" fontAlgn="auto" hangingPunct="1">
              <a:spcAft>
                <a:spcPts val="0"/>
              </a:spcAft>
              <a:defRPr/>
            </a:pPr>
            <a:r>
              <a:rPr lang="en-US" dirty="0" smtClean="0"/>
              <a:t>VPN works via Crypto/Encapsulation</a:t>
            </a:r>
          </a:p>
        </p:txBody>
      </p:sp>
      <p:pic>
        <p:nvPicPr>
          <p:cNvPr id="18435" name="Picture 3"/>
          <p:cNvPicPr>
            <a:picLocks noChangeAspect="1" noChangeArrowheads="1"/>
          </p:cNvPicPr>
          <p:nvPr/>
        </p:nvPicPr>
        <p:blipFill>
          <a:blip r:embed="rId2"/>
          <a:srcRect/>
          <a:stretch>
            <a:fillRect/>
          </a:stretch>
        </p:blipFill>
        <p:spPr bwMode="auto">
          <a:xfrm>
            <a:off x="1524000" y="1600200"/>
            <a:ext cx="6934200" cy="4283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85800" y="800100"/>
            <a:ext cx="7772400" cy="762000"/>
          </a:xfrm>
        </p:spPr>
        <p:txBody>
          <a:bodyPr/>
          <a:lstStyle/>
          <a:p>
            <a:pPr eaLnBrk="1" fontAlgn="auto" hangingPunct="1">
              <a:spcAft>
                <a:spcPts val="0"/>
              </a:spcAft>
              <a:defRPr/>
            </a:pPr>
            <a:r>
              <a:rPr lang="en-US" dirty="0"/>
              <a:t>VPN Gateways</a:t>
            </a:r>
          </a:p>
        </p:txBody>
      </p:sp>
      <p:sp>
        <p:nvSpPr>
          <p:cNvPr id="19459" name="Rectangle 3"/>
          <p:cNvSpPr txBox="1">
            <a:spLocks noChangeArrowheads="1"/>
          </p:cNvSpPr>
          <p:nvPr/>
        </p:nvSpPr>
        <p:spPr bwMode="auto">
          <a:xfrm>
            <a:off x="609600" y="1676400"/>
            <a:ext cx="7924800" cy="4343400"/>
          </a:xfrm>
          <a:prstGeom prst="rect">
            <a:avLst/>
          </a:prstGeom>
          <a:noFill/>
          <a:ln w="9525">
            <a:noFill/>
            <a:miter lim="800000"/>
            <a:headEnd/>
            <a:tailEnd/>
          </a:ln>
        </p:spPr>
        <p:txBody>
          <a:bodyPr/>
          <a:lstStyle/>
          <a:p>
            <a:pPr marL="342900" indent="-342900">
              <a:spcBef>
                <a:spcPct val="20000"/>
              </a:spcBef>
              <a:buFont typeface="Arial" charset="0"/>
              <a:buChar char="•"/>
            </a:pPr>
            <a:r>
              <a:rPr lang="en-US" sz="2800">
                <a:latin typeface="Cambria" pitchFamily="18" charset="0"/>
              </a:rPr>
              <a:t>VPN gateways can be categorized as Standalone or Integrated.</a:t>
            </a:r>
          </a:p>
          <a:p>
            <a:pPr marL="342900" indent="-342900">
              <a:spcBef>
                <a:spcPct val="20000"/>
              </a:spcBef>
              <a:buFont typeface="Arial" charset="0"/>
              <a:buChar char="•"/>
            </a:pPr>
            <a:r>
              <a:rPr lang="en-US" sz="2800">
                <a:latin typeface="Cambria" pitchFamily="18" charset="0"/>
              </a:rPr>
              <a:t>Standalone VPNs incorporate purpose-built devices between - the source of data and WAN link or</a:t>
            </a:r>
            <a:r>
              <a:rPr lang="en-US" sz="2800" i="1">
                <a:latin typeface="Cambria" pitchFamily="18" charset="0"/>
              </a:rPr>
              <a:t> </a:t>
            </a:r>
            <a:r>
              <a:rPr lang="en-US" sz="2800">
                <a:latin typeface="Cambria" pitchFamily="18" charset="0"/>
              </a:rPr>
              <a:t>between the modem and a data source in a remote office. </a:t>
            </a:r>
          </a:p>
          <a:p>
            <a:pPr marL="342900" indent="-342900">
              <a:spcBef>
                <a:spcPct val="20000"/>
              </a:spcBef>
              <a:buFont typeface="Arial" charset="0"/>
              <a:buChar char="•"/>
            </a:pPr>
            <a:r>
              <a:rPr lang="en-US" sz="2800">
                <a:latin typeface="Cambria" pitchFamily="18" charset="0"/>
              </a:rPr>
              <a:t>Integrated implementations add VPN functionality to existing devices such as routers, firewalls.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6"/>
          <p:cNvSpPr>
            <a:spLocks noGrp="1" noChangeArrowheads="1"/>
          </p:cNvSpPr>
          <p:nvPr>
            <p:ph type="title"/>
          </p:nvPr>
        </p:nvSpPr>
        <p:spPr>
          <a:xfrm>
            <a:off x="685800" y="800100"/>
            <a:ext cx="7772400" cy="762000"/>
          </a:xfrm>
        </p:spPr>
        <p:txBody>
          <a:bodyPr/>
          <a:lstStyle/>
          <a:p>
            <a:pPr eaLnBrk="1" fontAlgn="auto" hangingPunct="1">
              <a:spcAft>
                <a:spcPts val="0"/>
              </a:spcAft>
              <a:defRPr/>
            </a:pPr>
            <a:r>
              <a:rPr lang="en-US" dirty="0"/>
              <a:t>Gateway Solutions</a:t>
            </a:r>
          </a:p>
        </p:txBody>
      </p:sp>
      <p:sp>
        <p:nvSpPr>
          <p:cNvPr id="20483" name="Rectangle 1027"/>
          <p:cNvSpPr txBox="1">
            <a:spLocks noChangeArrowheads="1"/>
          </p:cNvSpPr>
          <p:nvPr/>
        </p:nvSpPr>
        <p:spPr bwMode="auto">
          <a:xfrm>
            <a:off x="685800" y="1981200"/>
            <a:ext cx="7772400" cy="4114800"/>
          </a:xfrm>
          <a:prstGeom prst="rect">
            <a:avLst/>
          </a:prstGeom>
          <a:noFill/>
          <a:ln w="9525">
            <a:noFill/>
            <a:miter lim="800000"/>
            <a:headEnd/>
            <a:tailEnd/>
          </a:ln>
        </p:spPr>
        <p:txBody>
          <a:bodyPr/>
          <a:lstStyle/>
          <a:p>
            <a:pPr marL="342900" indent="-342900">
              <a:spcBef>
                <a:spcPct val="20000"/>
              </a:spcBef>
              <a:buFont typeface="Arial" charset="0"/>
              <a:buChar char="•"/>
            </a:pPr>
            <a:r>
              <a:rPr lang="en-US" sz="2800">
                <a:latin typeface="Cambria" pitchFamily="18" charset="0"/>
              </a:rPr>
              <a:t>Router based VPNs – adding encryption support to existing router(s) can keep the upgrade costs of VPN low.   </a:t>
            </a:r>
          </a:p>
          <a:p>
            <a:pPr marL="342900" indent="-342900">
              <a:spcBef>
                <a:spcPct val="20000"/>
              </a:spcBef>
              <a:buFont typeface="Arial" charset="0"/>
              <a:buChar char="•"/>
            </a:pPr>
            <a:r>
              <a:rPr lang="en-US" sz="2800">
                <a:latin typeface="Cambria" pitchFamily="18" charset="0"/>
              </a:rPr>
              <a:t>Firewall based VPNs – workable solution for small networks with low traffic volume. </a:t>
            </a:r>
          </a:p>
          <a:p>
            <a:pPr marL="342900" indent="-342900">
              <a:spcBef>
                <a:spcPct val="20000"/>
              </a:spcBef>
              <a:buFont typeface="Arial" charset="0"/>
              <a:buChar char="•"/>
            </a:pPr>
            <a:r>
              <a:rPr lang="en-US" sz="2800">
                <a:latin typeface="Cambria" pitchFamily="18" charset="0"/>
              </a:rPr>
              <a:t>Software based VPNs – good solution for better understanding a VPN, software runs on existing servers and share resources with them</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457200" y="457200"/>
            <a:ext cx="7848600" cy="366713"/>
          </a:xfrm>
          <a:prstGeom prst="rect">
            <a:avLst/>
          </a:prstGeom>
          <a:noFill/>
          <a:ln w="9525">
            <a:noFill/>
            <a:miter lim="800000"/>
            <a:headEnd/>
            <a:tailEnd/>
          </a:ln>
          <a:effectLst/>
        </p:spPr>
        <p:txBody>
          <a:bodyPr>
            <a:spAutoFit/>
          </a:bodyPr>
          <a:lstStyle/>
          <a:p>
            <a:pPr>
              <a:spcBef>
                <a:spcPct val="50000"/>
              </a:spcBef>
            </a:pPr>
            <a:endParaRPr lang="en-US"/>
          </a:p>
        </p:txBody>
      </p:sp>
      <p:pic>
        <p:nvPicPr>
          <p:cNvPr id="4" name="Rectangle 2"/>
          <p:cNvPicPr>
            <a:picLocks noChangeArrowheads="1"/>
          </p:cNvPicPr>
          <p:nvPr/>
        </p:nvPicPr>
        <p:blipFill>
          <a:blip r:embed="rId2"/>
          <a:srcRect/>
          <a:stretch>
            <a:fillRect/>
          </a:stretch>
        </p:blipFill>
        <p:spPr bwMode="auto">
          <a:xfrm>
            <a:off x="420688" y="695325"/>
            <a:ext cx="8047037" cy="871538"/>
          </a:xfrm>
          <a:prstGeom prst="rect">
            <a:avLst/>
          </a:prstGeom>
          <a:noFill/>
          <a:ln w="9525">
            <a:noFill/>
            <a:miter lim="800000"/>
            <a:headEnd/>
            <a:tailEnd/>
          </a:ln>
        </p:spPr>
      </p:pic>
      <p:sp>
        <p:nvSpPr>
          <p:cNvPr id="81924" name="Text Box 4"/>
          <p:cNvSpPr txBox="1">
            <a:spLocks noChangeArrowheads="1"/>
          </p:cNvSpPr>
          <p:nvPr/>
        </p:nvSpPr>
        <p:spPr bwMode="auto">
          <a:xfrm>
            <a:off x="685800" y="1600200"/>
            <a:ext cx="8229600" cy="4578350"/>
          </a:xfrm>
          <a:prstGeom prst="rect">
            <a:avLst/>
          </a:prstGeom>
          <a:noFill/>
          <a:ln w="9525">
            <a:noFill/>
            <a:miter lim="800000"/>
            <a:headEnd/>
            <a:tailEnd/>
          </a:ln>
          <a:effectLst/>
        </p:spPr>
        <p:txBody>
          <a:bodyPr>
            <a:spAutoFit/>
          </a:bodyPr>
          <a:lstStyle/>
          <a:p>
            <a:pPr>
              <a:spcBef>
                <a:spcPct val="50000"/>
              </a:spcBef>
            </a:pPr>
            <a:r>
              <a:rPr lang="en-US" sz="2800">
                <a:latin typeface="Cambria" pitchFamily="18" charset="0"/>
              </a:rPr>
              <a:t>2 main VPN architectures:</a:t>
            </a:r>
          </a:p>
          <a:p>
            <a:pPr>
              <a:spcBef>
                <a:spcPct val="50000"/>
              </a:spcBef>
              <a:buFontTx/>
              <a:buChar char="•"/>
            </a:pPr>
            <a:r>
              <a:rPr lang="en-US" sz="2800">
                <a:latin typeface="Cambria" pitchFamily="18" charset="0"/>
              </a:rPr>
              <a:t>There are products based on IPSec and Point to Point   Tunneling Protocol (PPTP) or L2TP (Layer 2 Tunneling Protocol)</a:t>
            </a:r>
          </a:p>
          <a:p>
            <a:pPr>
              <a:spcBef>
                <a:spcPct val="50000"/>
              </a:spcBef>
              <a:buFontTx/>
              <a:buChar char="•"/>
            </a:pPr>
            <a:r>
              <a:rPr lang="en-US" sz="2800">
                <a:latin typeface="Cambria" pitchFamily="18" charset="0"/>
              </a:rPr>
              <a:t>Although IP sec has become the de facto standard for LAN to LAN VPN’s, PPTP and L2TP are heavily used for single client to LAN connections. </a:t>
            </a:r>
          </a:p>
          <a:p>
            <a:pPr>
              <a:spcBef>
                <a:spcPct val="50000"/>
              </a:spcBef>
              <a:buFontTx/>
              <a:buChar char="•"/>
            </a:pPr>
            <a:r>
              <a:rPr lang="en-US" sz="2800">
                <a:latin typeface="Cambria" pitchFamily="18" charset="0"/>
              </a:rPr>
              <a:t>Therefore, many VPN products support IPSec, PPTP and L2TP.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09600" y="609600"/>
            <a:ext cx="7772400" cy="762000"/>
          </a:xfrm>
        </p:spPr>
        <p:txBody>
          <a:bodyPr/>
          <a:lstStyle/>
          <a:p>
            <a:pPr eaLnBrk="1" fontAlgn="auto" hangingPunct="1">
              <a:spcAft>
                <a:spcPts val="0"/>
              </a:spcAft>
              <a:defRPr/>
            </a:pPr>
            <a:r>
              <a:rPr lang="en-US" dirty="0"/>
              <a:t>Benefits of using VPN</a:t>
            </a:r>
          </a:p>
        </p:txBody>
      </p:sp>
      <p:sp>
        <p:nvSpPr>
          <p:cNvPr id="22531" name="Rectangle 3"/>
          <p:cNvSpPr txBox="1">
            <a:spLocks noChangeArrowheads="1"/>
          </p:cNvSpPr>
          <p:nvPr/>
        </p:nvSpPr>
        <p:spPr bwMode="auto">
          <a:xfrm>
            <a:off x="381000" y="1981200"/>
            <a:ext cx="8077200" cy="4114800"/>
          </a:xfrm>
          <a:prstGeom prst="rect">
            <a:avLst/>
          </a:prstGeom>
          <a:noFill/>
          <a:ln w="9525">
            <a:noFill/>
            <a:miter lim="800000"/>
            <a:headEnd/>
            <a:tailEnd/>
          </a:ln>
        </p:spPr>
        <p:txBody>
          <a:bodyPr/>
          <a:lstStyle/>
          <a:p>
            <a:pPr marL="342900" indent="-342900">
              <a:lnSpc>
                <a:spcPct val="90000"/>
              </a:lnSpc>
              <a:spcBef>
                <a:spcPct val="20000"/>
              </a:spcBef>
              <a:buFont typeface="Arial" charset="0"/>
              <a:buChar char="•"/>
            </a:pPr>
            <a:r>
              <a:rPr lang="en-US" sz="2800">
                <a:latin typeface="Cambria" pitchFamily="18" charset="0"/>
              </a:rPr>
              <a:t>Lower costs – remote access costs have reduced by 80 percent while LAN-to-LAN connectivity costs is reduced by 20-40 percent. </a:t>
            </a:r>
          </a:p>
          <a:p>
            <a:pPr marL="342900" indent="-342900">
              <a:lnSpc>
                <a:spcPct val="90000"/>
              </a:lnSpc>
              <a:spcBef>
                <a:spcPct val="20000"/>
              </a:spcBef>
              <a:buFont typeface="Arial" charset="0"/>
              <a:buChar char="•"/>
            </a:pPr>
            <a:r>
              <a:rPr lang="en-US" sz="2800">
                <a:latin typeface="Cambria" pitchFamily="18" charset="0"/>
              </a:rPr>
              <a:t>VPN provides low-cost alternative to backbone equipment, in-house terminal equipment and access modems.</a:t>
            </a:r>
          </a:p>
          <a:p>
            <a:pPr marL="342900" indent="-342900">
              <a:lnSpc>
                <a:spcPct val="90000"/>
              </a:lnSpc>
              <a:spcBef>
                <a:spcPct val="20000"/>
              </a:spcBef>
              <a:buFont typeface="Arial" charset="0"/>
              <a:buChar char="•"/>
            </a:pPr>
            <a:r>
              <a:rPr lang="en-US" sz="2800">
                <a:latin typeface="Cambria" pitchFamily="18" charset="0"/>
              </a:rPr>
              <a:t>Connectivity Improvements – VPN based links are easy and inexpensive ways to meet changing business demands.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85800" y="800100"/>
            <a:ext cx="7772400" cy="762000"/>
          </a:xfrm>
        </p:spPr>
        <p:txBody>
          <a:bodyPr/>
          <a:lstStyle/>
          <a:p>
            <a:pPr eaLnBrk="1" fontAlgn="auto" hangingPunct="1">
              <a:spcAft>
                <a:spcPts val="0"/>
              </a:spcAft>
              <a:defRPr/>
            </a:pPr>
            <a:r>
              <a:rPr lang="en-US"/>
              <a:t>Benefits of VPN</a:t>
            </a:r>
          </a:p>
        </p:txBody>
      </p:sp>
      <p:sp>
        <p:nvSpPr>
          <p:cNvPr id="23555" name="Rectangle 3"/>
          <p:cNvSpPr txBox="1">
            <a:spLocks noChangeArrowheads="1"/>
          </p:cNvSpPr>
          <p:nvPr/>
        </p:nvSpPr>
        <p:spPr bwMode="auto">
          <a:xfrm>
            <a:off x="381000" y="1981200"/>
            <a:ext cx="8077200" cy="4114800"/>
          </a:xfrm>
          <a:prstGeom prst="rect">
            <a:avLst/>
          </a:prstGeom>
          <a:noFill/>
          <a:ln w="9525">
            <a:noFill/>
            <a:miter lim="800000"/>
            <a:headEnd/>
            <a:tailEnd/>
          </a:ln>
        </p:spPr>
        <p:txBody>
          <a:bodyPr/>
          <a:lstStyle/>
          <a:p>
            <a:pPr marL="342900" indent="-342900">
              <a:spcBef>
                <a:spcPct val="20000"/>
              </a:spcBef>
              <a:buFont typeface="Arial" charset="0"/>
              <a:buChar char="•"/>
            </a:pPr>
            <a:r>
              <a:rPr lang="en-US" sz="2800">
                <a:latin typeface="Cambria" pitchFamily="18" charset="0"/>
              </a:rPr>
              <a:t>Anywhere anytime access – ubiquitous public internet offers transparent access to central corporate systems i.e. email, directories, internal-external web-sites.</a:t>
            </a:r>
          </a:p>
          <a:p>
            <a:pPr marL="342900" indent="-342900">
              <a:spcBef>
                <a:spcPct val="20000"/>
              </a:spcBef>
            </a:pPr>
            <a:r>
              <a:rPr lang="en-US" sz="2800">
                <a:latin typeface="Cambria" pitchFamily="18" charset="0"/>
              </a:rPr>
              <a:t>    VPN technology is improving rapidly and promises a bright future for data communication, its cost-effective, and high returns on investment will outweigh any skittishness in investing in new technology.    </a:t>
            </a:r>
          </a:p>
          <a:p>
            <a:pPr marL="342900" indent="-342900">
              <a:spcBef>
                <a:spcPct val="20000"/>
              </a:spcBef>
            </a:pPr>
            <a:endParaRPr lang="en-US" sz="2800">
              <a:latin typeface="Cambria"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533400"/>
            <a:ext cx="6324600" cy="723900"/>
          </a:xfrm>
          <a:prstGeom prst="rect">
            <a:avLst/>
          </a:prstGeom>
          <a:noFill/>
        </p:spPr>
        <p:txBody>
          <a:bodyPr>
            <a:spAutoFit/>
          </a:bodyPr>
          <a:lstStyle/>
          <a:p>
            <a:pPr fontAlgn="auto">
              <a:spcBef>
                <a:spcPts val="0"/>
              </a:spcBef>
              <a:spcAft>
                <a:spcPts val="0"/>
              </a:spcAft>
              <a:defRPr/>
            </a:pPr>
            <a:r>
              <a:rPr lang="en-US" sz="4100" b="1" dirty="0">
                <a:effectLst>
                  <a:outerShdw blurRad="38100" dist="38100" dir="2700000" algn="tl">
                    <a:srgbClr val="000000">
                      <a:alpha val="43137"/>
                    </a:srgbClr>
                  </a:outerShdw>
                </a:effectLst>
                <a:latin typeface="+mj-lt"/>
                <a:cs typeface="+mn-cs"/>
              </a:rPr>
              <a:t>Disadvantages of VPN</a:t>
            </a:r>
          </a:p>
        </p:txBody>
      </p:sp>
      <p:sp>
        <p:nvSpPr>
          <p:cNvPr id="24579" name="TextBox 4"/>
          <p:cNvSpPr txBox="1">
            <a:spLocks noChangeArrowheads="1"/>
          </p:cNvSpPr>
          <p:nvPr/>
        </p:nvSpPr>
        <p:spPr bwMode="auto">
          <a:xfrm>
            <a:off x="685800" y="1201738"/>
            <a:ext cx="8153400" cy="4473575"/>
          </a:xfrm>
          <a:prstGeom prst="rect">
            <a:avLst/>
          </a:prstGeom>
          <a:noFill/>
          <a:ln w="9525">
            <a:noFill/>
            <a:miter lim="800000"/>
            <a:headEnd/>
            <a:tailEnd/>
          </a:ln>
        </p:spPr>
        <p:txBody>
          <a:bodyPr>
            <a:spAutoFit/>
          </a:bodyPr>
          <a:lstStyle/>
          <a:p>
            <a:pPr marL="742950" lvl="1" indent="-285750">
              <a:buFont typeface="Arial" charset="0"/>
              <a:buChar char="•"/>
            </a:pPr>
            <a:r>
              <a:rPr lang="en-US" sz="2400">
                <a:latin typeface="Cambria" pitchFamily="18" charset="0"/>
              </a:rPr>
              <a:t>The availability and performances of VPN networks are difficult to control</a:t>
            </a:r>
          </a:p>
          <a:p>
            <a:pPr>
              <a:buFont typeface="Arial" charset="0"/>
              <a:buChar char="•"/>
            </a:pPr>
            <a:endParaRPr lang="en-US" sz="2400">
              <a:latin typeface="Cambria" pitchFamily="18" charset="0"/>
            </a:endParaRPr>
          </a:p>
          <a:p>
            <a:pPr marL="742950" lvl="1" indent="-285750">
              <a:buFont typeface="Arial" charset="0"/>
              <a:buChar char="•"/>
            </a:pPr>
            <a:r>
              <a:rPr lang="en-US" sz="2400">
                <a:latin typeface="Cambria" pitchFamily="18" charset="0"/>
              </a:rPr>
              <a:t>VPN speeds are much slower than those experienced with a traditional connection</a:t>
            </a:r>
          </a:p>
          <a:p>
            <a:pPr marL="742950" lvl="1" indent="-285750">
              <a:buFont typeface="Arial" charset="0"/>
              <a:buNone/>
            </a:pPr>
            <a:endParaRPr lang="en-US" sz="2400">
              <a:latin typeface="Cambria" pitchFamily="18" charset="0"/>
            </a:endParaRPr>
          </a:p>
          <a:p>
            <a:pPr marL="742950" lvl="1" indent="-285750">
              <a:buFont typeface="Arial" charset="0"/>
              <a:buChar char="•"/>
            </a:pPr>
            <a:r>
              <a:rPr lang="en-US" sz="2400">
                <a:latin typeface="Cambria" pitchFamily="18" charset="0"/>
              </a:rPr>
              <a:t>VPN technologies from different creators may work poorly together. With time, this may improve. For now, however, this can cause frustration when implementing a VPN. </a:t>
            </a:r>
          </a:p>
          <a:p>
            <a:pPr>
              <a:buFont typeface="Arial" charset="0"/>
              <a:buChar char="•"/>
            </a:pPr>
            <a:endParaRPr lang="en-US" sz="2400">
              <a:latin typeface="Cambria" pitchFamily="18" charset="0"/>
            </a:endParaRPr>
          </a:p>
          <a:p>
            <a:pPr marL="742950" lvl="1" indent="-285750">
              <a:buFont typeface="Arial" charset="0"/>
              <a:buChar char="•"/>
            </a:pPr>
            <a:r>
              <a:rPr lang="en-US" sz="2400">
                <a:latin typeface="Cambria" pitchFamily="18" charset="0"/>
              </a:rPr>
              <a:t>One of the VPN's weakest links</a:t>
            </a:r>
            <a:r>
              <a:rPr lang="en-US" sz="2400">
                <a:latin typeface="Cambria" pitchFamily="18" charset="0"/>
                <a:sym typeface="Wingdings" pitchFamily="2" charset="2"/>
              </a:rPr>
              <a:t></a:t>
            </a:r>
            <a:r>
              <a:rPr lang="en-US" sz="2400">
                <a:latin typeface="Cambria" pitchFamily="18" charset="0"/>
              </a:rPr>
              <a:t> its users.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en-US" dirty="0" smtClean="0"/>
              <a:t>Tunneling Protocols</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p:cNvSpPr>
            <a:spLocks noGrp="1"/>
          </p:cNvSpPr>
          <p:nvPr>
            <p:ph idx="1"/>
          </p:nvPr>
        </p:nvSpPr>
        <p:spPr>
          <a:xfrm>
            <a:off x="914400" y="1785938"/>
            <a:ext cx="7391400" cy="3167062"/>
          </a:xfrm>
        </p:spPr>
        <p:txBody>
          <a:bodyPr/>
          <a:lstStyle/>
          <a:p>
            <a:pPr lvl="1" eaLnBrk="1" hangingPunct="1"/>
            <a:r>
              <a:rPr lang="en-US" sz="2800" smtClean="0"/>
              <a:t>What is tunneling</a:t>
            </a:r>
          </a:p>
          <a:p>
            <a:pPr lvl="1" eaLnBrk="1" hangingPunct="1"/>
            <a:r>
              <a:rPr lang="en-US" sz="2800" smtClean="0"/>
              <a:t>IPSec</a:t>
            </a:r>
          </a:p>
          <a:p>
            <a:pPr lvl="1" eaLnBrk="1" hangingPunct="1"/>
            <a:r>
              <a:rPr lang="en-US" sz="2800" smtClean="0"/>
              <a:t>PPP</a:t>
            </a:r>
          </a:p>
          <a:p>
            <a:pPr lvl="1" eaLnBrk="1" hangingPunct="1"/>
            <a:r>
              <a:rPr lang="en-US" sz="2800" smtClean="0"/>
              <a:t>Point-to-Point Tunneling Protocol (PPTP)</a:t>
            </a:r>
          </a:p>
          <a:p>
            <a:pPr lvl="1" eaLnBrk="1" hangingPunct="1"/>
            <a:r>
              <a:rPr lang="en-US" sz="2800" smtClean="0"/>
              <a:t>Layer 2 Tunneling Protocol (L2TP)</a:t>
            </a:r>
          </a:p>
          <a:p>
            <a:pPr lvl="1" eaLnBrk="1" hangingPunct="1"/>
            <a:r>
              <a:rPr lang="en-US" sz="2800" smtClean="0"/>
              <a:t>Layer 2 Forwarding (L2F)</a:t>
            </a:r>
          </a:p>
        </p:txBody>
      </p:sp>
      <p:sp>
        <p:nvSpPr>
          <p:cNvPr id="2" name="Title 1"/>
          <p:cNvSpPr>
            <a:spLocks noGrp="1"/>
          </p:cNvSpPr>
          <p:nvPr>
            <p:ph type="title"/>
          </p:nvPr>
        </p:nvSpPr>
        <p:spPr/>
        <p:txBody>
          <a:bodyPr/>
          <a:lstStyle/>
          <a:p>
            <a:pPr eaLnBrk="1" fontAlgn="auto" hangingPunct="1">
              <a:spcAft>
                <a:spcPts val="0"/>
              </a:spcAft>
              <a:defRPr/>
            </a:pPr>
            <a:r>
              <a:rPr lang="en-US" dirty="0" smtClean="0"/>
              <a:t>Tunneling Protocols</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p:cNvSpPr>
            <a:spLocks noGrp="1"/>
          </p:cNvSpPr>
          <p:nvPr>
            <p:ph idx="1"/>
          </p:nvPr>
        </p:nvSpPr>
        <p:spPr>
          <a:xfrm>
            <a:off x="457200" y="1481138"/>
            <a:ext cx="8001000" cy="3700462"/>
          </a:xfrm>
        </p:spPr>
        <p:txBody>
          <a:bodyPr/>
          <a:lstStyle/>
          <a:p>
            <a:pPr eaLnBrk="1" hangingPunct="1"/>
            <a:endParaRPr lang="en-US" sz="2800" smtClean="0"/>
          </a:p>
          <a:p>
            <a:pPr eaLnBrk="1" hangingPunct="1">
              <a:buFontTx/>
              <a:buChar char="o"/>
            </a:pPr>
            <a:r>
              <a:rPr lang="en-US" sz="2800" smtClean="0"/>
              <a:t>A tunnel is a virtual path across a network that delivers packets that are encapsulated and possibly encrypted.</a:t>
            </a:r>
          </a:p>
          <a:p>
            <a:pPr eaLnBrk="1" hangingPunct="1">
              <a:buFontTx/>
              <a:buNone/>
            </a:pPr>
            <a:endParaRPr lang="en-US" sz="2800" smtClean="0"/>
          </a:p>
          <a:p>
            <a:pPr eaLnBrk="1" hangingPunct="1">
              <a:buFontTx/>
              <a:buChar char="o"/>
            </a:pPr>
            <a:r>
              <a:rPr lang="en-US" sz="2800" smtClean="0"/>
              <a:t>A packet based on one protocol is wrapped, or encapsulated, in a second packet based on a different protocol</a:t>
            </a:r>
          </a:p>
        </p:txBody>
      </p:sp>
      <p:sp>
        <p:nvSpPr>
          <p:cNvPr id="2" name="Title 1"/>
          <p:cNvSpPr>
            <a:spLocks noGrp="1"/>
          </p:cNvSpPr>
          <p:nvPr>
            <p:ph type="title"/>
          </p:nvPr>
        </p:nvSpPr>
        <p:spPr/>
        <p:txBody>
          <a:bodyPr/>
          <a:lstStyle/>
          <a:p>
            <a:pPr lvl="1" algn="ctr" eaLnBrk="1" fontAlgn="auto" hangingPunct="1">
              <a:spcAft>
                <a:spcPts val="0"/>
              </a:spcAft>
              <a:defRPr/>
            </a:pPr>
            <a:r>
              <a:rPr lang="en-US" b="0" dirty="0">
                <a:solidFill>
                  <a:sysClr val="windowText" lastClr="000000"/>
                </a:solidFill>
                <a:latin typeface="+mj-lt"/>
              </a:rPr>
              <a:t>Tunneling Protocols</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p:txBody>
          <a:bodyPr/>
          <a:lstStyle/>
          <a:p>
            <a:pPr eaLnBrk="1" hangingPunct="1"/>
            <a:r>
              <a:rPr lang="en-US" smtClean="0"/>
              <a:t>Example of situation where Tunneling is used:</a:t>
            </a:r>
          </a:p>
          <a:p>
            <a:pPr lvl="1" eaLnBrk="1" hangingPunct="1"/>
            <a:r>
              <a:rPr lang="en-US" smtClean="0"/>
              <a:t>An Ethernet network is connected to an FDDI backbone, that FDDI network does not understand the Ethernet frame format</a:t>
            </a:r>
          </a:p>
          <a:p>
            <a:pPr lvl="1" eaLnBrk="1" hangingPunct="1"/>
            <a:r>
              <a:rPr lang="en-US" smtClean="0"/>
              <a:t>Two networks</a:t>
            </a:r>
            <a:r>
              <a:rPr lang="en-US" sz="3600" smtClean="0"/>
              <a:t> </a:t>
            </a:r>
            <a:r>
              <a:rPr lang="en-US" smtClean="0"/>
              <a:t>use IPX and need to communicate across the Internet</a:t>
            </a:r>
          </a:p>
        </p:txBody>
      </p:sp>
      <p:sp>
        <p:nvSpPr>
          <p:cNvPr id="2" name="Title 1"/>
          <p:cNvSpPr>
            <a:spLocks noGrp="1"/>
          </p:cNvSpPr>
          <p:nvPr>
            <p:ph type="title"/>
          </p:nvPr>
        </p:nvSpPr>
        <p:spPr/>
        <p:txBody>
          <a:bodyPr/>
          <a:lstStyle/>
          <a:p>
            <a:pPr lvl="1" algn="ctr" eaLnBrk="1" fontAlgn="auto" hangingPunct="1">
              <a:spcAft>
                <a:spcPts val="0"/>
              </a:spcAft>
              <a:defRPr/>
            </a:pPr>
            <a:r>
              <a:rPr lang="en-US" sz="4400" b="0" dirty="0">
                <a:solidFill>
                  <a:sysClr val="windowText" lastClr="000000"/>
                </a:solidFill>
                <a:latin typeface="+mj-lt"/>
              </a:rPr>
              <a:t>What is tunneling?</a:t>
            </a:r>
            <a:r>
              <a:rPr lang="en-US" sz="2400" b="0" dirty="0">
                <a:solidFill>
                  <a:sysClr val="windowText" lastClr="000000"/>
                </a:solidFill>
                <a:latin typeface="+mj-lt"/>
              </a:rPr>
              <a:t/>
            </a:r>
            <a:br>
              <a:rPr lang="en-US" sz="2400" b="0" dirty="0">
                <a:solidFill>
                  <a:sysClr val="windowText" lastClr="000000"/>
                </a:solidFill>
                <a:latin typeface="+mj-lt"/>
              </a:rPr>
            </a:br>
            <a:endParaRPr lang="en-US" sz="1800" b="0" dirty="0">
              <a:solidFill>
                <a:sysClr val="windowText" lastClr="000000"/>
              </a:solidFill>
              <a:latin typeface="+mj-lt"/>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t>What is tunneling?</a:t>
            </a:r>
          </a:p>
        </p:txBody>
      </p:sp>
      <p:pic>
        <p:nvPicPr>
          <p:cNvPr id="29699" name="Picture 2"/>
          <p:cNvPicPr>
            <a:picLocks noChangeAspect="1" noChangeArrowheads="1"/>
          </p:cNvPicPr>
          <p:nvPr/>
        </p:nvPicPr>
        <p:blipFill>
          <a:blip r:embed="rId2"/>
          <a:srcRect/>
          <a:stretch>
            <a:fillRect/>
          </a:stretch>
        </p:blipFill>
        <p:spPr bwMode="auto">
          <a:xfrm>
            <a:off x="1628775" y="1371600"/>
            <a:ext cx="5838825" cy="4010025"/>
          </a:xfrm>
          <a:prstGeom prst="rect">
            <a:avLst/>
          </a:prstGeom>
          <a:noFill/>
          <a:ln w="9525">
            <a:noFill/>
            <a:miter lim="800000"/>
            <a:headEnd/>
            <a:tailEnd/>
          </a:ln>
        </p:spPr>
      </p:pic>
      <p:sp>
        <p:nvSpPr>
          <p:cNvPr id="29700" name="Rectangle 5"/>
          <p:cNvSpPr>
            <a:spLocks noChangeArrowheads="1"/>
          </p:cNvSpPr>
          <p:nvPr/>
        </p:nvSpPr>
        <p:spPr bwMode="auto">
          <a:xfrm>
            <a:off x="1371600" y="5334000"/>
            <a:ext cx="6400800" cy="338138"/>
          </a:xfrm>
          <a:prstGeom prst="rect">
            <a:avLst/>
          </a:prstGeom>
          <a:noFill/>
          <a:ln w="9525">
            <a:noFill/>
            <a:miter lim="800000"/>
            <a:headEnd/>
            <a:tailEnd/>
          </a:ln>
        </p:spPr>
        <p:txBody>
          <a:bodyPr>
            <a:spAutoFit/>
          </a:bodyPr>
          <a:lstStyle/>
          <a:p>
            <a:r>
              <a:rPr lang="en-US" sz="1600">
                <a:latin typeface="Cambria" pitchFamily="18" charset="0"/>
              </a:rPr>
              <a:t>http://</a:t>
            </a:r>
            <a:r>
              <a:rPr lang="en-US" sz="1400">
                <a:latin typeface="Cambria" pitchFamily="18" charset="0"/>
              </a:rPr>
              <a:t>www.novell.com/documentation/nias41/iptuneun/graphics/rtc_021a.gif</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p:cNvSpPr>
            <a:spLocks noGrp="1"/>
          </p:cNvSpPr>
          <p:nvPr>
            <p:ph idx="1"/>
          </p:nvPr>
        </p:nvSpPr>
        <p:spPr/>
        <p:txBody>
          <a:bodyPr/>
          <a:lstStyle/>
          <a:p>
            <a:pPr marL="342900" lvl="1" indent="-342900" eaLnBrk="1" hangingPunct="1">
              <a:buFont typeface="Arial" charset="0"/>
              <a:buChar char="•"/>
            </a:pPr>
            <a:r>
              <a:rPr lang="en-US" sz="3200" smtClean="0"/>
              <a:t>Tunneling is the main ingredient to a VPN, tunneling is used by VPN to creates its connection</a:t>
            </a:r>
          </a:p>
          <a:p>
            <a:pPr eaLnBrk="1" hangingPunct="1"/>
            <a:r>
              <a:rPr lang="en-US" smtClean="0"/>
              <a:t>Three main tunneling protocols are used in VPN connections: </a:t>
            </a:r>
          </a:p>
          <a:p>
            <a:pPr marL="1143000" lvl="2" eaLnBrk="1" hangingPunct="1"/>
            <a:r>
              <a:rPr lang="en-US" smtClean="0"/>
              <a:t>PPTP</a:t>
            </a:r>
          </a:p>
          <a:p>
            <a:pPr marL="1143000" lvl="2" eaLnBrk="1" hangingPunct="1"/>
            <a:r>
              <a:rPr lang="en-US" smtClean="0"/>
              <a:t>L2TP</a:t>
            </a:r>
          </a:p>
          <a:p>
            <a:pPr marL="1143000" lvl="2" eaLnBrk="1" hangingPunct="1"/>
            <a:r>
              <a:rPr lang="en-US" smtClean="0"/>
              <a:t>IPSec</a:t>
            </a:r>
          </a:p>
        </p:txBody>
      </p:sp>
      <p:sp>
        <p:nvSpPr>
          <p:cNvPr id="2" name="Title 1"/>
          <p:cNvSpPr>
            <a:spLocks noGrp="1"/>
          </p:cNvSpPr>
          <p:nvPr>
            <p:ph type="title"/>
          </p:nvPr>
        </p:nvSpPr>
        <p:spPr/>
        <p:txBody>
          <a:bodyPr/>
          <a:lstStyle/>
          <a:p>
            <a:pPr eaLnBrk="1" fontAlgn="auto" hangingPunct="1">
              <a:spcAft>
                <a:spcPts val="0"/>
              </a:spcAft>
              <a:defRPr/>
            </a:pPr>
            <a:r>
              <a:rPr lang="en-US" dirty="0"/>
              <a:t>What is tunneling?</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a:xfrm>
            <a:off x="457200" y="1493838"/>
            <a:ext cx="8229600" cy="4525962"/>
          </a:xfrm>
        </p:spPr>
        <p:txBody>
          <a:bodyPr/>
          <a:lstStyle/>
          <a:p>
            <a:pPr eaLnBrk="1" hangingPunct="1"/>
            <a:r>
              <a:rPr lang="en-US" smtClean="0"/>
              <a:t>Provides a method of setting up a secure channel for protected data exchange between two devices.</a:t>
            </a:r>
          </a:p>
          <a:p>
            <a:pPr eaLnBrk="1" hangingPunct="1">
              <a:buFont typeface="Wingdings 3" pitchFamily="18" charset="2"/>
              <a:buNone/>
            </a:pPr>
            <a:endParaRPr lang="en-US" smtClean="0"/>
          </a:p>
          <a:p>
            <a:pPr eaLnBrk="1" hangingPunct="1"/>
            <a:r>
              <a:rPr lang="en-US" smtClean="0"/>
              <a:t>More flexible and less expensive than end-to end and link encryption methods.</a:t>
            </a:r>
          </a:p>
          <a:p>
            <a:pPr eaLnBrk="1" hangingPunct="1">
              <a:buFont typeface="Wingdings 3" pitchFamily="18" charset="2"/>
              <a:buNone/>
            </a:pPr>
            <a:endParaRPr lang="en-US" smtClean="0"/>
          </a:p>
          <a:p>
            <a:pPr eaLnBrk="1" hangingPunct="1"/>
            <a:r>
              <a:rPr lang="en-US" smtClean="0"/>
              <a:t>Employed to establish virtual private networks (VPNs) among networks across the Internet.</a:t>
            </a:r>
          </a:p>
        </p:txBody>
      </p:sp>
      <p:sp>
        <p:nvSpPr>
          <p:cNvPr id="2" name="Title 1"/>
          <p:cNvSpPr>
            <a:spLocks noGrp="1"/>
          </p:cNvSpPr>
          <p:nvPr>
            <p:ph type="title"/>
          </p:nvPr>
        </p:nvSpPr>
        <p:spPr/>
        <p:txBody>
          <a:bodyPr/>
          <a:lstStyle/>
          <a:p>
            <a:pPr lvl="1" algn="ctr" eaLnBrk="1" fontAlgn="auto" hangingPunct="1">
              <a:spcAft>
                <a:spcPts val="0"/>
              </a:spcAft>
              <a:defRPr/>
            </a:pPr>
            <a:r>
              <a:rPr lang="en-US" sz="3200" b="0" dirty="0">
                <a:solidFill>
                  <a:sysClr val="windowText" lastClr="000000"/>
                </a:solidFill>
                <a:latin typeface="+mj-lt"/>
              </a:rPr>
              <a:t>IPSec (Internet Protocol Security)</a:t>
            </a:r>
            <a:r>
              <a:rPr lang="en-US" sz="2400" b="0" dirty="0">
                <a:solidFill>
                  <a:sysClr val="windowText" lastClr="000000"/>
                </a:solidFill>
                <a:latin typeface="+mj-lt"/>
              </a:rPr>
              <a:t/>
            </a:r>
            <a:br>
              <a:rPr lang="en-US" sz="2400" b="0" dirty="0">
                <a:solidFill>
                  <a:sysClr val="windowText" lastClr="000000"/>
                </a:solidFill>
                <a:latin typeface="+mj-lt"/>
              </a:rPr>
            </a:br>
            <a:endParaRPr lang="en-US" sz="1800" b="0" dirty="0">
              <a:solidFill>
                <a:sysClr val="windowText" lastClr="000000"/>
              </a:solidFill>
              <a:latin typeface="+mj-lt"/>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p:txBody>
          <a:bodyPr/>
          <a:lstStyle/>
          <a:p>
            <a:pPr eaLnBrk="1" hangingPunct="1"/>
            <a:r>
              <a:rPr lang="en-US" smtClean="0"/>
              <a:t>IPSec uses two basic security protocols:</a:t>
            </a:r>
          </a:p>
          <a:p>
            <a:pPr eaLnBrk="1" hangingPunct="1">
              <a:buFont typeface="Wingdings 3" pitchFamily="18" charset="2"/>
              <a:buNone/>
            </a:pPr>
            <a:endParaRPr lang="en-US" smtClean="0"/>
          </a:p>
          <a:p>
            <a:pPr lvl="1" eaLnBrk="1" hangingPunct="1"/>
            <a:r>
              <a:rPr lang="en-US" smtClean="0"/>
              <a:t>Authentication Header (AH): It is the authenticating protocol</a:t>
            </a:r>
          </a:p>
          <a:p>
            <a:pPr lvl="1" eaLnBrk="1" hangingPunct="1"/>
            <a:endParaRPr lang="en-US" smtClean="0"/>
          </a:p>
          <a:p>
            <a:pPr lvl="1" eaLnBrk="1" hangingPunct="1"/>
            <a:r>
              <a:rPr lang="en-US" smtClean="0"/>
              <a:t>Encapsulating Security Payload (ESP): ESP is an authenticating and encrypting protocol that provide source authentication, confidentiality, and message integrity.</a:t>
            </a:r>
          </a:p>
          <a:p>
            <a:pPr lvl="1" eaLnBrk="1" hangingPunct="1">
              <a:buFont typeface="Verdana" pitchFamily="34" charset="0"/>
              <a:buNone/>
            </a:pPr>
            <a:endParaRPr lang="en-US" smtClean="0"/>
          </a:p>
        </p:txBody>
      </p:sp>
      <p:sp>
        <p:nvSpPr>
          <p:cNvPr id="2" name="Title 1"/>
          <p:cNvSpPr>
            <a:spLocks noGrp="1"/>
          </p:cNvSpPr>
          <p:nvPr>
            <p:ph type="title"/>
          </p:nvPr>
        </p:nvSpPr>
        <p:spPr/>
        <p:txBody>
          <a:bodyPr/>
          <a:lstStyle/>
          <a:p>
            <a:pPr eaLnBrk="1" fontAlgn="auto" hangingPunct="1">
              <a:spcAft>
                <a:spcPts val="0"/>
              </a:spcAft>
              <a:defRPr/>
            </a:pPr>
            <a:r>
              <a:rPr lang="en-US" dirty="0" smtClean="0"/>
              <a:t>IPSec (Internet Protocol Security)</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p:txBody>
          <a:bodyPr/>
          <a:lstStyle/>
          <a:p>
            <a:pPr eaLnBrk="1" hangingPunct="1"/>
            <a:r>
              <a:rPr lang="en-US" smtClean="0"/>
              <a:t>IPSec can work in one of two modes:</a:t>
            </a:r>
          </a:p>
          <a:p>
            <a:pPr eaLnBrk="1" hangingPunct="1"/>
            <a:endParaRPr lang="en-US" smtClean="0"/>
          </a:p>
          <a:p>
            <a:pPr lvl="1" eaLnBrk="1" hangingPunct="1"/>
            <a:r>
              <a:rPr lang="en-US" smtClean="0"/>
              <a:t>Transport mode, in which the payload of the message is protected</a:t>
            </a:r>
          </a:p>
          <a:p>
            <a:pPr lvl="1" eaLnBrk="1" hangingPunct="1"/>
            <a:endParaRPr lang="en-US" smtClean="0"/>
          </a:p>
          <a:p>
            <a:pPr lvl="1" eaLnBrk="1" hangingPunct="1"/>
            <a:r>
              <a:rPr lang="en-US" smtClean="0"/>
              <a:t>Tunnel mode, in which the payload and the routing and header information are protected.</a:t>
            </a:r>
          </a:p>
          <a:p>
            <a:pPr lvl="1" eaLnBrk="1" hangingPunct="1"/>
            <a:endParaRPr lang="en-US" smtClean="0"/>
          </a:p>
        </p:txBody>
      </p:sp>
      <p:sp>
        <p:nvSpPr>
          <p:cNvPr id="2" name="Title 1"/>
          <p:cNvSpPr>
            <a:spLocks noGrp="1"/>
          </p:cNvSpPr>
          <p:nvPr>
            <p:ph type="title"/>
          </p:nvPr>
        </p:nvSpPr>
        <p:spPr/>
        <p:txBody>
          <a:bodyPr/>
          <a:lstStyle/>
          <a:p>
            <a:pPr eaLnBrk="1" fontAlgn="auto" hangingPunct="1">
              <a:spcAft>
                <a:spcPts val="0"/>
              </a:spcAft>
              <a:defRPr/>
            </a:pPr>
            <a:r>
              <a:rPr lang="en-US" dirty="0" smtClean="0"/>
              <a:t>IPSec (Internet Protocol Security)</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Grp="1" noChangeAspect="1" noChangeArrowheads="1"/>
          </p:cNvPicPr>
          <p:nvPr>
            <p:ph idx="1"/>
          </p:nvPr>
        </p:nvPicPr>
        <p:blipFill>
          <a:blip r:embed="rId2"/>
          <a:srcRect/>
          <a:stretch>
            <a:fillRect/>
          </a:stretch>
        </p:blipFill>
        <p:spPr>
          <a:xfrm>
            <a:off x="1323975" y="2024063"/>
            <a:ext cx="6496050" cy="3438525"/>
          </a:xfrm>
        </p:spPr>
      </p:pic>
      <p:sp>
        <p:nvSpPr>
          <p:cNvPr id="2" name="Title 1"/>
          <p:cNvSpPr>
            <a:spLocks noGrp="1"/>
          </p:cNvSpPr>
          <p:nvPr>
            <p:ph type="title"/>
          </p:nvPr>
        </p:nvSpPr>
        <p:spPr/>
        <p:txBody>
          <a:bodyPr/>
          <a:lstStyle/>
          <a:p>
            <a:pPr eaLnBrk="1" fontAlgn="auto" hangingPunct="1">
              <a:spcAft>
                <a:spcPts val="0"/>
              </a:spcAft>
              <a:defRPr/>
            </a:pPr>
            <a:r>
              <a:rPr lang="en-US" dirty="0" smtClean="0"/>
              <a:t>IPSec (Internet Protocol Security)</a:t>
            </a:r>
            <a:endParaRPr lang="en-US" dirty="0"/>
          </a:p>
        </p:txBody>
      </p:sp>
      <p:sp>
        <p:nvSpPr>
          <p:cNvPr id="34820" name="Text Box 4"/>
          <p:cNvSpPr txBox="1">
            <a:spLocks noChangeArrowheads="1"/>
          </p:cNvSpPr>
          <p:nvPr/>
        </p:nvSpPr>
        <p:spPr bwMode="auto">
          <a:xfrm>
            <a:off x="1752600" y="5791200"/>
            <a:ext cx="5486400" cy="304800"/>
          </a:xfrm>
          <a:prstGeom prst="rect">
            <a:avLst/>
          </a:prstGeom>
          <a:noFill/>
          <a:ln w="9525">
            <a:noFill/>
            <a:miter lim="800000"/>
            <a:headEnd/>
            <a:tailEnd/>
          </a:ln>
        </p:spPr>
        <p:txBody>
          <a:bodyPr>
            <a:spAutoFit/>
          </a:bodyPr>
          <a:lstStyle/>
          <a:p>
            <a:pPr algn="ctr">
              <a:spcBef>
                <a:spcPct val="50000"/>
              </a:spcBef>
            </a:pPr>
            <a:r>
              <a:rPr lang="en-US" sz="1400"/>
              <a:t>CISSP Certification All in One Exam Guide pg 610</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p:cNvSpPr>
            <a:spLocks noGrp="1"/>
          </p:cNvSpPr>
          <p:nvPr>
            <p:ph idx="1"/>
          </p:nvPr>
        </p:nvSpPr>
        <p:spPr/>
        <p:txBody>
          <a:bodyPr/>
          <a:lstStyle/>
          <a:p>
            <a:pPr eaLnBrk="1" hangingPunct="1"/>
            <a:r>
              <a:rPr lang="en-US" smtClean="0"/>
              <a:t>PPTP is a Microsoft protocol which allows remote users to set up a PPP connection to a local ISP and then create a secure VPN to their destination</a:t>
            </a:r>
          </a:p>
          <a:p>
            <a:pPr eaLnBrk="1" hangingPunct="1"/>
            <a:endParaRPr lang="en-US" smtClean="0"/>
          </a:p>
          <a:p>
            <a:pPr eaLnBrk="1" hangingPunct="1"/>
            <a:endParaRPr lang="en-US" smtClean="0"/>
          </a:p>
        </p:txBody>
      </p:sp>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Point-to-Point Tunneling Protocol (PPTP)</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Grp="1" noChangeAspect="1" noChangeArrowheads="1"/>
          </p:cNvPicPr>
          <p:nvPr>
            <p:ph idx="1"/>
          </p:nvPr>
        </p:nvPicPr>
        <p:blipFill>
          <a:blip r:embed="rId2"/>
          <a:srcRect/>
          <a:stretch>
            <a:fillRect/>
          </a:stretch>
        </p:blipFill>
        <p:spPr>
          <a:xfrm>
            <a:off x="2643188" y="1481138"/>
            <a:ext cx="3608387" cy="4233862"/>
          </a:xfrm>
        </p:spPr>
      </p:pic>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Point-to-Point Tunneling Protocol (PPTP)</a:t>
            </a:r>
            <a:endParaRPr lang="en-US" dirty="0"/>
          </a:p>
        </p:txBody>
      </p:sp>
      <p:sp>
        <p:nvSpPr>
          <p:cNvPr id="36868" name="Text Box 4"/>
          <p:cNvSpPr txBox="1">
            <a:spLocks noChangeArrowheads="1"/>
          </p:cNvSpPr>
          <p:nvPr/>
        </p:nvSpPr>
        <p:spPr bwMode="auto">
          <a:xfrm>
            <a:off x="1752600" y="5791200"/>
            <a:ext cx="5486400" cy="304800"/>
          </a:xfrm>
          <a:prstGeom prst="rect">
            <a:avLst/>
          </a:prstGeom>
          <a:noFill/>
          <a:ln w="9525">
            <a:noFill/>
            <a:miter lim="800000"/>
            <a:headEnd/>
            <a:tailEnd/>
          </a:ln>
        </p:spPr>
        <p:txBody>
          <a:bodyPr>
            <a:spAutoFit/>
          </a:bodyPr>
          <a:lstStyle/>
          <a:p>
            <a:pPr algn="ctr">
              <a:spcBef>
                <a:spcPct val="50000"/>
              </a:spcBef>
            </a:pPr>
            <a:r>
              <a:rPr lang="en-US" sz="1400"/>
              <a:t>CISSP Certification All in One Exam Guide pg 612</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p:cNvSpPr>
            <a:spLocks noGrp="1"/>
          </p:cNvSpPr>
          <p:nvPr>
            <p:ph idx="1"/>
          </p:nvPr>
        </p:nvSpPr>
        <p:spPr/>
        <p:txBody>
          <a:bodyPr/>
          <a:lstStyle/>
          <a:p>
            <a:pPr eaLnBrk="1" hangingPunct="1"/>
            <a:r>
              <a:rPr lang="en-US" smtClean="0"/>
              <a:t>In PPTP, the PPP payload is encrypted with Microsoft Point-to-Point Encryption (MPPE) using MS-CHAP or EAP-TLS. </a:t>
            </a:r>
          </a:p>
          <a:p>
            <a:pPr eaLnBrk="1" hangingPunct="1"/>
            <a:endParaRPr lang="en-US" smtClean="0"/>
          </a:p>
          <a:p>
            <a:pPr eaLnBrk="1" hangingPunct="1"/>
            <a:r>
              <a:rPr lang="en-US" smtClean="0"/>
              <a:t>The keys used in encrypting this data are generated during the authentication process between the user and the authentication server.</a:t>
            </a:r>
          </a:p>
        </p:txBody>
      </p:sp>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Point-to-Point Tunneling Protocol (PPTP)</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3"/>
          <p:cNvPicPr>
            <a:picLocks noGrp="1" noChangeAspect="1" noChangeArrowheads="1"/>
          </p:cNvPicPr>
          <p:nvPr>
            <p:ph idx="1"/>
          </p:nvPr>
        </p:nvPicPr>
        <p:blipFill>
          <a:blip r:embed="rId2"/>
          <a:srcRect/>
          <a:stretch>
            <a:fillRect/>
          </a:stretch>
        </p:blipFill>
        <p:spPr>
          <a:xfrm>
            <a:off x="2552700" y="2133600"/>
            <a:ext cx="4686300" cy="2519363"/>
          </a:xfrm>
        </p:spPr>
      </p:pic>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Point-to-Point Tunneling Protocol (PPTP)</a:t>
            </a:r>
            <a:endParaRPr lang="en-US" dirty="0"/>
          </a:p>
        </p:txBody>
      </p:sp>
      <p:sp>
        <p:nvSpPr>
          <p:cNvPr id="38916" name="Text Box 4"/>
          <p:cNvSpPr txBox="1">
            <a:spLocks noChangeArrowheads="1"/>
          </p:cNvSpPr>
          <p:nvPr/>
        </p:nvSpPr>
        <p:spPr bwMode="auto">
          <a:xfrm>
            <a:off x="2133600" y="4724400"/>
            <a:ext cx="5486400" cy="304800"/>
          </a:xfrm>
          <a:prstGeom prst="rect">
            <a:avLst/>
          </a:prstGeom>
          <a:noFill/>
          <a:ln w="9525">
            <a:noFill/>
            <a:miter lim="800000"/>
            <a:headEnd/>
            <a:tailEnd/>
          </a:ln>
        </p:spPr>
        <p:txBody>
          <a:bodyPr>
            <a:spAutoFit/>
          </a:bodyPr>
          <a:lstStyle/>
          <a:p>
            <a:pPr algn="ctr">
              <a:spcBef>
                <a:spcPct val="50000"/>
              </a:spcBef>
            </a:pPr>
            <a:r>
              <a:rPr lang="en-US" sz="1400"/>
              <a:t>CISSP Certification All in One Exam Guide pg 613</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p:cNvSpPr>
            <a:spLocks noGrp="1"/>
          </p:cNvSpPr>
          <p:nvPr>
            <p:ph idx="1"/>
          </p:nvPr>
        </p:nvSpPr>
        <p:spPr>
          <a:xfrm>
            <a:off x="457200" y="2057400"/>
            <a:ext cx="8229600" cy="1871663"/>
          </a:xfrm>
        </p:spPr>
        <p:txBody>
          <a:bodyPr/>
          <a:lstStyle/>
          <a:p>
            <a:pPr eaLnBrk="1" hangingPunct="1"/>
            <a:r>
              <a:rPr lang="en-US" smtClean="0"/>
              <a:t>One limitation of PPTP is that it can work only over IP networks, Other protocols must be used to move data over frame relay, X.25, and ATM links </a:t>
            </a:r>
          </a:p>
        </p:txBody>
      </p:sp>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Point-to-Point Tunneling Protocol (PPTP)</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p:cNvSpPr>
            <a:spLocks noGrp="1"/>
          </p:cNvSpPr>
          <p:nvPr>
            <p:ph idx="1"/>
          </p:nvPr>
        </p:nvSpPr>
        <p:spPr/>
        <p:txBody>
          <a:bodyPr/>
          <a:lstStyle/>
          <a:p>
            <a:pPr eaLnBrk="1" hangingPunct="1"/>
            <a:r>
              <a:rPr lang="en-US" smtClean="0"/>
              <a:t>L2TP provides the functionality of PPTP, but it can work over networks other than just IP</a:t>
            </a:r>
          </a:p>
          <a:p>
            <a:pPr eaLnBrk="1" hangingPunct="1"/>
            <a:endParaRPr lang="en-US" smtClean="0"/>
          </a:p>
          <a:p>
            <a:pPr eaLnBrk="1" hangingPunct="1"/>
            <a:r>
              <a:rPr lang="en-US" smtClean="0"/>
              <a:t>L2TP does not provide any encryption or authentication services.</a:t>
            </a:r>
          </a:p>
          <a:p>
            <a:pPr eaLnBrk="1" hangingPunct="1"/>
            <a:endParaRPr lang="en-US" smtClean="0"/>
          </a:p>
          <a:p>
            <a:pPr eaLnBrk="1" hangingPunct="1"/>
            <a:r>
              <a:rPr lang="en-US" smtClean="0"/>
              <a:t> It needs to be combined with IPSec if encryption and authentication services are required.</a:t>
            </a:r>
          </a:p>
        </p:txBody>
      </p:sp>
      <p:sp>
        <p:nvSpPr>
          <p:cNvPr id="2" name="Title 1"/>
          <p:cNvSpPr>
            <a:spLocks noGrp="1"/>
          </p:cNvSpPr>
          <p:nvPr>
            <p:ph type="title"/>
          </p:nvPr>
        </p:nvSpPr>
        <p:spPr/>
        <p:txBody>
          <a:bodyPr/>
          <a:lstStyle/>
          <a:p>
            <a:pPr eaLnBrk="1" fontAlgn="auto" hangingPunct="1">
              <a:spcAft>
                <a:spcPts val="0"/>
              </a:spcAft>
              <a:defRPr/>
            </a:pPr>
            <a:r>
              <a:rPr lang="en-US" dirty="0" smtClean="0"/>
              <a:t>Layer 2 Transport Protocol</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p:cNvSpPr>
            <a:spLocks noGrp="1"/>
          </p:cNvSpPr>
          <p:nvPr>
            <p:ph idx="1"/>
          </p:nvPr>
        </p:nvSpPr>
        <p:spPr>
          <a:xfrm>
            <a:off x="457200" y="2209800"/>
            <a:ext cx="8229600" cy="1185863"/>
          </a:xfrm>
        </p:spPr>
        <p:txBody>
          <a:bodyPr/>
          <a:lstStyle/>
          <a:p>
            <a:pPr eaLnBrk="1" hangingPunct="1"/>
            <a:r>
              <a:rPr lang="en-US" smtClean="0"/>
              <a:t>The processes that L2TP uses for encapsulation are similar to those used by PPTP</a:t>
            </a:r>
          </a:p>
        </p:txBody>
      </p:sp>
      <p:sp>
        <p:nvSpPr>
          <p:cNvPr id="2" name="Title 1"/>
          <p:cNvSpPr>
            <a:spLocks noGrp="1"/>
          </p:cNvSpPr>
          <p:nvPr>
            <p:ph type="title"/>
          </p:nvPr>
        </p:nvSpPr>
        <p:spPr/>
        <p:txBody>
          <a:bodyPr/>
          <a:lstStyle/>
          <a:p>
            <a:pPr eaLnBrk="1" fontAlgn="auto" hangingPunct="1">
              <a:spcAft>
                <a:spcPts val="0"/>
              </a:spcAft>
              <a:defRPr/>
            </a:pPr>
            <a:r>
              <a:rPr lang="en-US" dirty="0" smtClean="0"/>
              <a:t>Layer 2 Transport Protocol</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a:t>
            </a:r>
            <a:r>
              <a:rPr lang="en-IN" b="1" dirty="0" smtClean="0"/>
              <a:t>… </a:t>
            </a:r>
            <a:r>
              <a:rPr lang="en-IN" dirty="0" smtClean="0">
                <a:sym typeface="Wingdings" pitchFamily="2" charset="2"/>
              </a:rPr>
              <a:t></a:t>
            </a:r>
            <a:endParaRPr lang="en-IN" dirty="0"/>
          </a:p>
        </p:txBody>
      </p:sp>
      <p:sp>
        <p:nvSpPr>
          <p:cNvPr id="3" name="Content Placeholder 2"/>
          <p:cNvSpPr>
            <a:spLocks noGrp="1"/>
          </p:cNvSpPr>
          <p:nvPr>
            <p:ph idx="1"/>
          </p:nvPr>
        </p:nvSpPr>
        <p:spPr/>
        <p:txBody>
          <a:bodyPr/>
          <a:lstStyle/>
          <a:p>
            <a:r>
              <a:rPr lang="en-IN" dirty="0" smtClean="0"/>
              <a:t>Q&amp;A</a:t>
            </a:r>
          </a:p>
          <a:p>
            <a:r>
              <a:rPr lang="en-IN" dirty="0" smtClean="0"/>
              <a:t>Suggestions / Feedback</a:t>
            </a:r>
            <a:endParaRPr lang="en-IN" dirty="0"/>
          </a:p>
        </p:txBody>
      </p:sp>
    </p:spTree>
    <p:extLst>
      <p:ext uri="{BB962C8B-B14F-4D97-AF65-F5344CB8AC3E}">
        <p14:creationId xmlns="" xmlns:p14="http://schemas.microsoft.com/office/powerpoint/2010/main" val="39562474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5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11699</TotalTime>
  <Words>4980</Words>
  <Application>Microsoft Office PowerPoint</Application>
  <PresentationFormat>On-screen Show (4:3)</PresentationFormat>
  <Paragraphs>395</Paragraphs>
  <Slides>60</Slides>
  <Notes>17</Notes>
  <HiddenSlides>0</HiddenSlides>
  <MMClips>0</MMClips>
  <ScaleCrop>false</ScaleCrop>
  <HeadingPairs>
    <vt:vector size="4" baseType="variant">
      <vt:variant>
        <vt:lpstr>Theme</vt:lpstr>
      </vt:variant>
      <vt:variant>
        <vt:i4>5</vt:i4>
      </vt:variant>
      <vt:variant>
        <vt:lpstr>Slide Titles</vt:lpstr>
      </vt:variant>
      <vt:variant>
        <vt:i4>60</vt:i4>
      </vt:variant>
    </vt:vector>
  </HeadingPairs>
  <TitlesOfParts>
    <vt:vector size="65" baseType="lpstr">
      <vt:lpstr>Office Theme</vt:lpstr>
      <vt:lpstr>1_Office Theme</vt:lpstr>
      <vt:lpstr>2_Office Theme</vt:lpstr>
      <vt:lpstr>5_Office Theme</vt:lpstr>
      <vt:lpstr>4_Office Theme</vt:lpstr>
      <vt:lpstr>Course Name :  Network Security</vt:lpstr>
      <vt:lpstr>Session#3 </vt:lpstr>
      <vt:lpstr>Security at Multiple layers</vt:lpstr>
      <vt:lpstr>Slide 4</vt:lpstr>
      <vt:lpstr>Slide 5</vt:lpstr>
      <vt:lpstr>Slide 6</vt:lpstr>
      <vt:lpstr>IP Security</vt:lpstr>
      <vt:lpstr>IP Security Uses</vt:lpstr>
      <vt:lpstr>Benefits of IPSec</vt:lpstr>
      <vt:lpstr>Routing Applications</vt:lpstr>
      <vt:lpstr>Slide 11</vt:lpstr>
      <vt:lpstr>IP Security Architecture</vt:lpstr>
      <vt:lpstr>IPSec Services</vt:lpstr>
      <vt:lpstr>Transport and Tunnel Modes</vt:lpstr>
      <vt:lpstr>Slide 15</vt:lpstr>
      <vt:lpstr>Transport  and Tunnel Mode Protocols</vt:lpstr>
      <vt:lpstr>Slide 17</vt:lpstr>
      <vt:lpstr>Slide 18</vt:lpstr>
      <vt:lpstr>Slide 19</vt:lpstr>
      <vt:lpstr>Slide 20</vt:lpstr>
      <vt:lpstr>Slide 21</vt:lpstr>
      <vt:lpstr>Slide 22</vt:lpstr>
      <vt:lpstr>Slide 23</vt:lpstr>
      <vt:lpstr>IPSec Key Management</vt:lpstr>
      <vt:lpstr>Oakley</vt:lpstr>
      <vt:lpstr>ISAKMP</vt:lpstr>
      <vt:lpstr>ISAKMP</vt:lpstr>
      <vt:lpstr>IKE Payloads &amp; Exchanges</vt:lpstr>
      <vt:lpstr>Cryptographic Suites</vt:lpstr>
      <vt:lpstr>VPN</vt:lpstr>
      <vt:lpstr>Slide 31</vt:lpstr>
      <vt:lpstr>What is a VPN?</vt:lpstr>
      <vt:lpstr>What is a VPN</vt:lpstr>
      <vt:lpstr>What is a VPN?</vt:lpstr>
      <vt:lpstr>VPN Types</vt:lpstr>
      <vt:lpstr>VPN works via Crypto/Encapsulation</vt:lpstr>
      <vt:lpstr>VPN Gateways</vt:lpstr>
      <vt:lpstr>Gateway Solutions</vt:lpstr>
      <vt:lpstr>Slide 39</vt:lpstr>
      <vt:lpstr>Benefits of using VPN</vt:lpstr>
      <vt:lpstr>Benefits of VPN</vt:lpstr>
      <vt:lpstr>Slide 42</vt:lpstr>
      <vt:lpstr>Tunneling Protocols</vt:lpstr>
      <vt:lpstr>Tunneling Protocols</vt:lpstr>
      <vt:lpstr>Tunneling Protocols</vt:lpstr>
      <vt:lpstr>What is tunneling? </vt:lpstr>
      <vt:lpstr>What is tunneling?</vt:lpstr>
      <vt:lpstr>What is tunneling?</vt:lpstr>
      <vt:lpstr>IPSec (Internet Protocol Security) </vt:lpstr>
      <vt:lpstr>IPSec (Internet Protocol Security)</vt:lpstr>
      <vt:lpstr>IPSec (Internet Protocol Security)</vt:lpstr>
      <vt:lpstr>IPSec (Internet Protocol Security)</vt:lpstr>
      <vt:lpstr>Point-to-Point Tunneling Protocol (PPTP)</vt:lpstr>
      <vt:lpstr>Point-to-Point Tunneling Protocol (PPTP)</vt:lpstr>
      <vt:lpstr>Point-to-Point Tunneling Protocol (PPTP)</vt:lpstr>
      <vt:lpstr>Point-to-Point Tunneling Protocol (PPTP)</vt:lpstr>
      <vt:lpstr>Point-to-Point Tunneling Protocol (PPTP)</vt:lpstr>
      <vt:lpstr>Layer 2 Transport Protocol</vt:lpstr>
      <vt:lpstr>Layer 2 Transport Protocol</vt:lpstr>
      <vt:lpstr>Thank You… </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BITS11</cp:lastModifiedBy>
  <cp:revision>141</cp:revision>
  <dcterms:created xsi:type="dcterms:W3CDTF">2012-01-02T05:05:52Z</dcterms:created>
  <dcterms:modified xsi:type="dcterms:W3CDTF">2018-04-22T00:13:26Z</dcterms:modified>
</cp:coreProperties>
</file>