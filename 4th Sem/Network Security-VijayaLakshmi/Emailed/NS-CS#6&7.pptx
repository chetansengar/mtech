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86"/>
  </p:notesMasterIdLst>
  <p:sldIdLst>
    <p:sldId id="279" r:id="rId4"/>
    <p:sldId id="319" r:id="rId5"/>
    <p:sldId id="721" r:id="rId6"/>
    <p:sldId id="726" r:id="rId7"/>
    <p:sldId id="722" r:id="rId8"/>
    <p:sldId id="723" r:id="rId9"/>
    <p:sldId id="724" r:id="rId10"/>
    <p:sldId id="725" r:id="rId11"/>
    <p:sldId id="727" r:id="rId12"/>
    <p:sldId id="728" r:id="rId13"/>
    <p:sldId id="730" r:id="rId14"/>
    <p:sldId id="729" r:id="rId15"/>
    <p:sldId id="731" r:id="rId16"/>
    <p:sldId id="732" r:id="rId17"/>
    <p:sldId id="733" r:id="rId18"/>
    <p:sldId id="738" r:id="rId19"/>
    <p:sldId id="734" r:id="rId20"/>
    <p:sldId id="778" r:id="rId21"/>
    <p:sldId id="779" r:id="rId22"/>
    <p:sldId id="735" r:id="rId23"/>
    <p:sldId id="736" r:id="rId24"/>
    <p:sldId id="737" r:id="rId25"/>
    <p:sldId id="741" r:id="rId26"/>
    <p:sldId id="742" r:id="rId27"/>
    <p:sldId id="743" r:id="rId28"/>
    <p:sldId id="744" r:id="rId29"/>
    <p:sldId id="746" r:id="rId30"/>
    <p:sldId id="745" r:id="rId31"/>
    <p:sldId id="747" r:id="rId32"/>
    <p:sldId id="748" r:id="rId33"/>
    <p:sldId id="749" r:id="rId34"/>
    <p:sldId id="801" r:id="rId35"/>
    <p:sldId id="802" r:id="rId36"/>
    <p:sldId id="803" r:id="rId37"/>
    <p:sldId id="804" r:id="rId38"/>
    <p:sldId id="805" r:id="rId39"/>
    <p:sldId id="806" r:id="rId40"/>
    <p:sldId id="807" r:id="rId41"/>
    <p:sldId id="808" r:id="rId42"/>
    <p:sldId id="809" r:id="rId43"/>
    <p:sldId id="810" r:id="rId44"/>
    <p:sldId id="811" r:id="rId45"/>
    <p:sldId id="812" r:id="rId46"/>
    <p:sldId id="813" r:id="rId47"/>
    <p:sldId id="814" r:id="rId48"/>
    <p:sldId id="815" r:id="rId49"/>
    <p:sldId id="816" r:id="rId50"/>
    <p:sldId id="817" r:id="rId51"/>
    <p:sldId id="818" r:id="rId52"/>
    <p:sldId id="753" r:id="rId53"/>
    <p:sldId id="852" r:id="rId54"/>
    <p:sldId id="853" r:id="rId55"/>
    <p:sldId id="854" r:id="rId56"/>
    <p:sldId id="855" r:id="rId57"/>
    <p:sldId id="856" r:id="rId58"/>
    <p:sldId id="857" r:id="rId59"/>
    <p:sldId id="858" r:id="rId60"/>
    <p:sldId id="859" r:id="rId61"/>
    <p:sldId id="883" r:id="rId62"/>
    <p:sldId id="860" r:id="rId63"/>
    <p:sldId id="861" r:id="rId64"/>
    <p:sldId id="862" r:id="rId65"/>
    <p:sldId id="863" r:id="rId66"/>
    <p:sldId id="864" r:id="rId67"/>
    <p:sldId id="865" r:id="rId68"/>
    <p:sldId id="866" r:id="rId69"/>
    <p:sldId id="867" r:id="rId70"/>
    <p:sldId id="868" r:id="rId71"/>
    <p:sldId id="869" r:id="rId72"/>
    <p:sldId id="870" r:id="rId73"/>
    <p:sldId id="871" r:id="rId74"/>
    <p:sldId id="873" r:id="rId75"/>
    <p:sldId id="874" r:id="rId76"/>
    <p:sldId id="875" r:id="rId77"/>
    <p:sldId id="876" r:id="rId78"/>
    <p:sldId id="877" r:id="rId79"/>
    <p:sldId id="878" r:id="rId80"/>
    <p:sldId id="879" r:id="rId81"/>
    <p:sldId id="880" r:id="rId82"/>
    <p:sldId id="881" r:id="rId83"/>
    <p:sldId id="882" r:id="rId84"/>
    <p:sldId id="347"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71" d="100"/>
          <a:sy n="71" d="100"/>
        </p:scale>
        <p:origin x="143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tableStyles" Target="tableStyles.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19-01-2020</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dirty="0"/>
          </a:p>
        </p:txBody>
      </p:sp>
    </p:spTree>
    <p:extLst>
      <p:ext uri="{BB962C8B-B14F-4D97-AF65-F5344CB8AC3E}">
        <p14:creationId xmlns:p14="http://schemas.microsoft.com/office/powerpoint/2010/main" val="322886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82</a:t>
            </a:fld>
            <a:endParaRPr lang="en-IN"/>
          </a:p>
        </p:txBody>
      </p:sp>
    </p:spTree>
    <p:extLst>
      <p:ext uri="{BB962C8B-B14F-4D97-AF65-F5344CB8AC3E}">
        <p14:creationId xmlns:p14="http://schemas.microsoft.com/office/powerpoint/2010/main" val="246330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3624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p14="http://schemas.microsoft.com/office/powerpoint/2010/main" val="13704787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p14="http://schemas.microsoft.com/office/powerpoint/2010/main" val="3466858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28023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97800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6649574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6234704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2839729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792908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1206733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64490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p14="http://schemas.microsoft.com/office/powerpoint/2010/main" val="255628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3"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SS ZG516 -Computer Organization and Software Systems</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6444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6.xml"/><Relationship Id="rId1" Type="http://schemas.openxmlformats.org/officeDocument/2006/relationships/vmlDrawing" Target="../drawings/vmlDrawing1.vml"/><Relationship Id="rId6" Type="http://schemas.openxmlformats.org/officeDocument/2006/relationships/image" Target="../media/image15.wmf"/><Relationship Id="rId5" Type="http://schemas.openxmlformats.org/officeDocument/2006/relationships/oleObject" Target="../embeddings/oleObject2.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6.xml"/><Relationship Id="rId1" Type="http://schemas.openxmlformats.org/officeDocument/2006/relationships/vmlDrawing" Target="../drawings/vmlDrawing2.vml"/><Relationship Id="rId6" Type="http://schemas.openxmlformats.org/officeDocument/2006/relationships/image" Target="../media/image19.wmf"/><Relationship Id="rId5" Type="http://schemas.openxmlformats.org/officeDocument/2006/relationships/oleObject" Target="../embeddings/oleObject6.bin"/><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oleObject" Target="../embeddings/oleObject11.bin"/><Relationship Id="rId2" Type="http://schemas.openxmlformats.org/officeDocument/2006/relationships/slideLayout" Target="../slideLayouts/slideLayout26.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39.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Vijayalakshmi Anand</a:t>
            </a:r>
          </a:p>
        </p:txBody>
      </p:sp>
    </p:spTree>
    <p:extLst>
      <p:ext uri="{BB962C8B-B14F-4D97-AF65-F5344CB8AC3E}">
        <p14:creationId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dirty="0" smtClean="0"/>
              <a:t>Session#6</a:t>
            </a:r>
            <a:endParaRPr lang="en-IN" dirty="0"/>
          </a:p>
        </p:txBody>
      </p:sp>
      <p:sp>
        <p:nvSpPr>
          <p:cNvPr id="3" name="Content Placeholder 2"/>
          <p:cNvSpPr>
            <a:spLocks noGrp="1"/>
          </p:cNvSpPr>
          <p:nvPr>
            <p:ph idx="1"/>
          </p:nvPr>
        </p:nvSpPr>
        <p:spPr>
          <a:xfrm>
            <a:off x="457200" y="1484784"/>
            <a:ext cx="8229600" cy="5040560"/>
          </a:xfrm>
        </p:spPr>
        <p:txBody>
          <a:bodyPr>
            <a:normAutofit/>
          </a:bodyPr>
          <a:lstStyle/>
          <a:p>
            <a:pPr>
              <a:buFont typeface="Wingdings" pitchFamily="2" charset="2"/>
              <a:buChar char="q"/>
            </a:pPr>
            <a:r>
              <a:rPr lang="en-IN" dirty="0"/>
              <a:t>Basic Number </a:t>
            </a:r>
            <a:r>
              <a:rPr lang="en-IN" dirty="0" smtClean="0"/>
              <a:t>Theory</a:t>
            </a:r>
          </a:p>
          <a:p>
            <a:pPr>
              <a:buFont typeface="Wingdings" pitchFamily="2" charset="2"/>
              <a:buChar char="q"/>
            </a:pPr>
            <a:r>
              <a:rPr lang="en-IN" dirty="0"/>
              <a:t>GCD and Euclidean's </a:t>
            </a:r>
            <a:r>
              <a:rPr lang="en-IN" dirty="0" smtClean="0"/>
              <a:t>Theorem</a:t>
            </a:r>
          </a:p>
          <a:p>
            <a:pPr>
              <a:buFont typeface="Wingdings" pitchFamily="2" charset="2"/>
              <a:buChar char="q"/>
            </a:pPr>
            <a:r>
              <a:rPr lang="en-IN" dirty="0"/>
              <a:t>Matrix </a:t>
            </a:r>
            <a:r>
              <a:rPr lang="en-IN" dirty="0" smtClean="0"/>
              <a:t>Mathematics</a:t>
            </a:r>
          </a:p>
          <a:p>
            <a:pPr>
              <a:buFont typeface="Wingdings" pitchFamily="2" charset="2"/>
              <a:buChar char="q"/>
            </a:pPr>
            <a:r>
              <a:rPr lang="en-IN" dirty="0"/>
              <a:t>Block Ciphering </a:t>
            </a:r>
            <a:endParaRPr lang="en-IN" dirty="0" smtClean="0"/>
          </a:p>
          <a:p>
            <a:pPr>
              <a:buFont typeface="Wingdings" pitchFamily="2" charset="2"/>
              <a:buChar char="q"/>
            </a:pPr>
            <a:r>
              <a:rPr lang="en-IN" dirty="0"/>
              <a:t>Shannon's Confusion and Diffusion </a:t>
            </a:r>
            <a:r>
              <a:rPr lang="en-IN" dirty="0" smtClean="0"/>
              <a:t>Theory</a:t>
            </a:r>
          </a:p>
          <a:p>
            <a:pPr>
              <a:buFont typeface="Wingdings" pitchFamily="2" charset="2"/>
              <a:buChar char="q"/>
            </a:pPr>
            <a:r>
              <a:rPr lang="en-IN" dirty="0" err="1"/>
              <a:t>Feistel</a:t>
            </a:r>
            <a:r>
              <a:rPr lang="en-IN" dirty="0"/>
              <a:t> Cipher </a:t>
            </a:r>
            <a:r>
              <a:rPr lang="en-IN" dirty="0" smtClean="0"/>
              <a:t>Structure</a:t>
            </a:r>
          </a:p>
          <a:p>
            <a:pPr>
              <a:buFont typeface="Wingdings" pitchFamily="2" charset="2"/>
              <a:buChar char="q"/>
            </a:pPr>
            <a:r>
              <a:rPr lang="en-IN" dirty="0"/>
              <a:t>Data Encryption Standard (DES) </a:t>
            </a:r>
            <a:endParaRPr lang="en-IN" dirty="0" smtClean="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229600" cy="5256584"/>
          </a:xfrm>
        </p:spPr>
        <p:txBody>
          <a:bodyPr vert="horz" lIns="91440" tIns="45720" rIns="91440" bIns="45720" rtlCol="0">
            <a:normAutofit/>
          </a:bodyPr>
          <a:lstStyle/>
          <a:p>
            <a:pPr lvl="0">
              <a:buClrTx/>
              <a:buFont typeface="Arial" pitchFamily="34" charset="0"/>
              <a:buChar char="•"/>
            </a:pPr>
            <a:r>
              <a:rPr lang="en-US" sz="3200" dirty="0" smtClean="0">
                <a:solidFill>
                  <a:prstClr val="black"/>
                </a:solidFill>
                <a:cs typeface="+mn-cs"/>
              </a:rPr>
              <a:t>Integer</a:t>
            </a:r>
          </a:p>
          <a:p>
            <a:pPr lvl="1"/>
            <a:r>
              <a:rPr lang="en-US" dirty="0"/>
              <a:t>The set of integers, denoted by Z, contains all integral numbers (with no fraction) from negative infinity to positive infinity. </a:t>
            </a:r>
          </a:p>
          <a:p>
            <a:pPr marL="457200" lvl="1" indent="0">
              <a:buNone/>
            </a:pPr>
            <a:r>
              <a:rPr lang="en-US" dirty="0"/>
              <a:t>                           Z = {-∞, …..-2,-1, 0, 1, 2, ….. ∞</a:t>
            </a:r>
            <a:r>
              <a:rPr lang="en-US" dirty="0" smtClean="0"/>
              <a:t>}</a:t>
            </a:r>
            <a:endParaRPr lang="en-US" sz="3200" dirty="0" smtClean="0">
              <a:solidFill>
                <a:prstClr val="black"/>
              </a:solidFill>
              <a:cs typeface="+mn-cs"/>
            </a:endParaRPr>
          </a:p>
          <a:p>
            <a:pPr lvl="0">
              <a:buClrTx/>
              <a:buFont typeface="Arial" pitchFamily="34" charset="0"/>
              <a:buChar char="•"/>
            </a:pPr>
            <a:r>
              <a:rPr lang="en-US" sz="3200" dirty="0" smtClean="0">
                <a:solidFill>
                  <a:prstClr val="black"/>
                </a:solidFill>
                <a:cs typeface="+mn-cs"/>
              </a:rPr>
              <a:t>Rational Number</a:t>
            </a:r>
          </a:p>
          <a:p>
            <a:pPr lvl="1"/>
            <a:r>
              <a:rPr lang="en-IN" sz="2400" dirty="0">
                <a:solidFill>
                  <a:prstClr val="black"/>
                </a:solidFill>
              </a:rPr>
              <a:t>A rational number is any number that can be expressed as p/q of two integers, p and q, with the denominator q not equal to zero. Since q may be equal to 1, every integer is a rational number. E.g. 23, 1.5, 22/7, -7, 1.14141414</a:t>
            </a:r>
            <a:r>
              <a:rPr lang="en-IN" sz="2400" dirty="0" smtClean="0">
                <a:solidFill>
                  <a:prstClr val="black"/>
                </a:solidFill>
              </a:rPr>
              <a:t>.....</a:t>
            </a:r>
            <a:endParaRPr lang="en-US" sz="3200" dirty="0" smtClean="0">
              <a:solidFill>
                <a:prstClr val="black"/>
              </a:solidFill>
              <a:cs typeface="+mn-cs"/>
            </a:endParaRPr>
          </a:p>
          <a:p>
            <a:pPr marL="457200" lvl="1" indent="0">
              <a:buNone/>
            </a:pPr>
            <a:endParaRPr lang="en-US" dirty="0">
              <a:cs typeface="+mn-cs"/>
            </a:endParaRPr>
          </a:p>
          <a:p>
            <a:pPr lvl="1"/>
            <a:endParaRPr lang="en-IN" dirty="0">
              <a:cs typeface="+mn-cs"/>
            </a:endParaRPr>
          </a:p>
          <a:p>
            <a:pPr lvl="1"/>
            <a:endParaRPr lang="en-IN" dirty="0">
              <a:cs typeface="+mn-cs"/>
            </a:endParaRPr>
          </a:p>
          <a:p>
            <a:pPr lvl="1"/>
            <a:endParaRPr lang="en-IN" dirty="0">
              <a:cs typeface="+mn-cs"/>
            </a:endParaRPr>
          </a:p>
        </p:txBody>
      </p:sp>
      <p:sp>
        <p:nvSpPr>
          <p:cNvPr id="3" name="Content Placeholder 2"/>
          <p:cNvSpPr>
            <a:spLocks noGrp="1"/>
          </p:cNvSpPr>
          <p:nvPr>
            <p:ph sz="quarter" idx="10"/>
          </p:nvPr>
        </p:nvSpPr>
        <p:spPr>
          <a:xfrm>
            <a:off x="323528" y="332656"/>
            <a:ext cx="6324600" cy="900336"/>
          </a:xfrm>
        </p:spPr>
        <p:txBody>
          <a:bodyPr anchor="ctr"/>
          <a:lstStyle/>
          <a:p>
            <a:pPr>
              <a:spcBef>
                <a:spcPct val="0"/>
              </a:spcBef>
            </a:pPr>
            <a:r>
              <a:rPr lang="en-IN" sz="3200" dirty="0">
                <a:latin typeface="+mj-lt"/>
                <a:ea typeface="+mj-ea"/>
                <a:cs typeface="+mj-cs"/>
              </a:rPr>
              <a:t>Numbers</a:t>
            </a:r>
          </a:p>
        </p:txBody>
      </p:sp>
    </p:spTree>
    <p:extLst>
      <p:ext uri="{BB962C8B-B14F-4D97-AF65-F5344CB8AC3E}">
        <p14:creationId xmlns:p14="http://schemas.microsoft.com/office/powerpoint/2010/main" val="152487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84784"/>
            <a:ext cx="8229600" cy="5256584"/>
          </a:xfrm>
        </p:spPr>
        <p:txBody>
          <a:bodyPr vert="horz" lIns="91440" tIns="45720" rIns="91440" bIns="45720" rtlCol="0">
            <a:normAutofit/>
          </a:bodyPr>
          <a:lstStyle/>
          <a:p>
            <a:pPr lvl="0">
              <a:buClrTx/>
              <a:buFont typeface="Arial" pitchFamily="34" charset="0"/>
              <a:buChar char="•"/>
            </a:pPr>
            <a:r>
              <a:rPr lang="en-US" sz="3200" dirty="0">
                <a:solidFill>
                  <a:prstClr val="black"/>
                </a:solidFill>
              </a:rPr>
              <a:t>Irrational Number</a:t>
            </a:r>
          </a:p>
          <a:p>
            <a:pPr lvl="1"/>
            <a:r>
              <a:rPr lang="en-IN" sz="2400" dirty="0">
                <a:solidFill>
                  <a:prstClr val="black"/>
                </a:solidFill>
              </a:rPr>
              <a:t>An irrational number is any real number that cannot be expressed as p/q of two integers p and q. Irrational numbers cannot be represented as terminating or repeating decimals. E.g. </a:t>
            </a:r>
            <a:r>
              <a:rPr lang="el-GR" sz="2400" dirty="0">
                <a:solidFill>
                  <a:prstClr val="black"/>
                </a:solidFill>
              </a:rPr>
              <a:t>π</a:t>
            </a:r>
            <a:r>
              <a:rPr lang="en-IN" sz="2400" dirty="0">
                <a:solidFill>
                  <a:prstClr val="black"/>
                </a:solidFill>
              </a:rPr>
              <a:t> = 3.1412857....</a:t>
            </a:r>
            <a:endParaRPr lang="en-US" sz="3200" dirty="0">
              <a:solidFill>
                <a:prstClr val="black"/>
              </a:solidFill>
            </a:endParaRPr>
          </a:p>
          <a:p>
            <a:pPr lvl="0">
              <a:buClrTx/>
              <a:buFont typeface="Arial" pitchFamily="34" charset="0"/>
              <a:buChar char="•"/>
            </a:pPr>
            <a:r>
              <a:rPr lang="en-US" sz="3200" dirty="0">
                <a:solidFill>
                  <a:prstClr val="black"/>
                </a:solidFill>
              </a:rPr>
              <a:t>Real Number</a:t>
            </a:r>
          </a:p>
          <a:p>
            <a:pPr lvl="1"/>
            <a:r>
              <a:rPr lang="en-IN" sz="3300" dirty="0">
                <a:solidFill>
                  <a:prstClr val="black"/>
                </a:solidFill>
              </a:rPr>
              <a:t>The real numbers include all rational and irrational numbers.</a:t>
            </a:r>
            <a:endParaRPr lang="en-US" sz="3200" dirty="0">
              <a:solidFill>
                <a:prstClr val="black"/>
              </a:solidFill>
            </a:endParaRPr>
          </a:p>
          <a:p>
            <a:pPr lvl="0">
              <a:buClrTx/>
              <a:buFont typeface="Arial" pitchFamily="34" charset="0"/>
              <a:buChar char="•"/>
            </a:pPr>
            <a:r>
              <a:rPr lang="en-US" sz="3200" dirty="0">
                <a:solidFill>
                  <a:prstClr val="black"/>
                </a:solidFill>
              </a:rPr>
              <a:t>Prime Number</a:t>
            </a:r>
            <a:endParaRPr lang="en-US" dirty="0"/>
          </a:p>
          <a:p>
            <a:pPr lvl="1"/>
            <a:r>
              <a:rPr lang="en-IN" dirty="0"/>
              <a:t>Prime numbers has only two divisors 1 and itself.</a:t>
            </a:r>
          </a:p>
          <a:p>
            <a:pPr marL="457200" lvl="1" indent="0">
              <a:buNone/>
            </a:pPr>
            <a:endParaRPr lang="en-US" dirty="0">
              <a:cs typeface="+mn-cs"/>
            </a:endParaRPr>
          </a:p>
          <a:p>
            <a:pPr lvl="1"/>
            <a:endParaRPr lang="en-IN" dirty="0">
              <a:cs typeface="+mn-cs"/>
            </a:endParaRPr>
          </a:p>
          <a:p>
            <a:pPr lvl="1"/>
            <a:endParaRPr lang="en-IN" dirty="0">
              <a:cs typeface="+mn-cs"/>
            </a:endParaRPr>
          </a:p>
          <a:p>
            <a:pPr lvl="1"/>
            <a:endParaRPr lang="en-IN" dirty="0">
              <a:cs typeface="+mn-cs"/>
            </a:endParaRPr>
          </a:p>
        </p:txBody>
      </p:sp>
      <p:sp>
        <p:nvSpPr>
          <p:cNvPr id="3" name="Content Placeholder 2"/>
          <p:cNvSpPr>
            <a:spLocks noGrp="1"/>
          </p:cNvSpPr>
          <p:nvPr>
            <p:ph sz="quarter" idx="10"/>
          </p:nvPr>
        </p:nvSpPr>
        <p:spPr>
          <a:xfrm>
            <a:off x="323528" y="332656"/>
            <a:ext cx="6324600" cy="890736"/>
          </a:xfrm>
        </p:spPr>
        <p:txBody>
          <a:bodyPr vert="horz" lIns="91440" tIns="45720" rIns="91440" bIns="45720" rtlCol="0" anchor="ctr" anchorCtr="0">
            <a:normAutofit/>
          </a:bodyPr>
          <a:lstStyle/>
          <a:p>
            <a:pPr>
              <a:spcBef>
                <a:spcPct val="0"/>
              </a:spcBef>
            </a:pPr>
            <a:r>
              <a:rPr lang="en-IN" sz="3200" dirty="0">
                <a:latin typeface="+mj-lt"/>
                <a:ea typeface="+mj-ea"/>
                <a:cs typeface="+mj-cs"/>
              </a:rPr>
              <a:t>Numbers Contd..</a:t>
            </a:r>
          </a:p>
        </p:txBody>
      </p:sp>
    </p:spTree>
    <p:extLst>
      <p:ext uri="{BB962C8B-B14F-4D97-AF65-F5344CB8AC3E}">
        <p14:creationId xmlns:p14="http://schemas.microsoft.com/office/powerpoint/2010/main" val="27724970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443664" cy="2799259"/>
          </a:xfrm>
        </p:spPr>
        <p:txBody>
          <a:bodyPr vert="horz" lIns="91440" tIns="45720" rIns="91440" bIns="45720" rtlCol="0">
            <a:normAutofit fontScale="70000" lnSpcReduction="20000"/>
          </a:bodyPr>
          <a:lstStyle/>
          <a:p>
            <a:pPr>
              <a:buClrTx/>
              <a:buChar char="•"/>
            </a:pPr>
            <a:r>
              <a:rPr lang="en-US" sz="3200" dirty="0">
                <a:solidFill>
                  <a:prstClr val="black"/>
                </a:solidFill>
              </a:rPr>
              <a:t>Division relationship fro a number : a = q × n + r</a:t>
            </a:r>
          </a:p>
          <a:p>
            <a:pPr>
              <a:buClrTx/>
              <a:buChar char="•"/>
            </a:pPr>
            <a:r>
              <a:rPr lang="en-US" sz="3200" dirty="0">
                <a:solidFill>
                  <a:prstClr val="black"/>
                </a:solidFill>
              </a:rPr>
              <a:t>The input n is called the modulus. </a:t>
            </a:r>
          </a:p>
          <a:p>
            <a:pPr>
              <a:buClrTx/>
              <a:buChar char="•"/>
            </a:pPr>
            <a:r>
              <a:rPr lang="en-US" sz="3200" dirty="0">
                <a:solidFill>
                  <a:prstClr val="black"/>
                </a:solidFill>
              </a:rPr>
              <a:t>The output r is called the reminder or residue </a:t>
            </a:r>
          </a:p>
          <a:p>
            <a:pPr>
              <a:buClrTx/>
              <a:buChar char="•"/>
            </a:pPr>
            <a:r>
              <a:rPr lang="en-US" sz="3200" dirty="0">
                <a:solidFill>
                  <a:prstClr val="black"/>
                </a:solidFill>
              </a:rPr>
              <a:t>The operation is called modulo or just mod. </a:t>
            </a:r>
          </a:p>
          <a:p>
            <a:pPr>
              <a:buClrTx/>
              <a:buChar char="•"/>
            </a:pPr>
            <a:r>
              <a:rPr lang="en-US" sz="3200" dirty="0">
                <a:solidFill>
                  <a:prstClr val="black"/>
                </a:solidFill>
              </a:rPr>
              <a:t>The mod operator is defined in such a way that it gives the non-negative residue r as an output.</a:t>
            </a:r>
          </a:p>
          <a:p>
            <a:pPr>
              <a:buClrTx/>
              <a:buChar char="•"/>
            </a:pPr>
            <a:r>
              <a:rPr lang="en-US" sz="3200" dirty="0">
                <a:solidFill>
                  <a:prstClr val="black"/>
                </a:solidFill>
              </a:rPr>
              <a:t>If r is negative then n is added to it so that the final residue becomes positive.</a:t>
            </a:r>
          </a:p>
          <a:p>
            <a:pPr>
              <a:buClrTx/>
              <a:buChar char="•"/>
            </a:pPr>
            <a:endParaRPr lang="en-IN" sz="3200" dirty="0">
              <a:solidFill>
                <a:prstClr val="black"/>
              </a:solidFill>
            </a:endParaRPr>
          </a:p>
        </p:txBody>
      </p:sp>
      <p:sp>
        <p:nvSpPr>
          <p:cNvPr id="3" name="Content Placeholder 2"/>
          <p:cNvSpPr>
            <a:spLocks noGrp="1"/>
          </p:cNvSpPr>
          <p:nvPr>
            <p:ph sz="quarter" idx="10"/>
          </p:nvPr>
        </p:nvSpPr>
        <p:spPr>
          <a:xfrm>
            <a:off x="331345" y="332656"/>
            <a:ext cx="6324600" cy="828328"/>
          </a:xfrm>
        </p:spPr>
        <p:txBody>
          <a:bodyPr vert="horz" lIns="91440" tIns="45720" rIns="91440" bIns="45720" rtlCol="0" anchor="ctr" anchorCtr="0">
            <a:normAutofit/>
          </a:bodyPr>
          <a:lstStyle/>
          <a:p>
            <a:pPr>
              <a:spcBef>
                <a:spcPct val="0"/>
              </a:spcBef>
            </a:pPr>
            <a:r>
              <a:rPr lang="en-IN" sz="3200" dirty="0">
                <a:latin typeface="+mj-lt"/>
                <a:ea typeface="+mj-ea"/>
                <a:cs typeface="+mj-cs"/>
              </a:rPr>
              <a:t>Modular Arithmetic</a:t>
            </a:r>
          </a:p>
        </p:txBody>
      </p:sp>
      <p:pic>
        <p:nvPicPr>
          <p:cNvPr id="1026" name="Picture 2"/>
          <p:cNvPicPr>
            <a:picLocks noChangeAspect="1" noChangeArrowheads="1"/>
          </p:cNvPicPr>
          <p:nvPr/>
        </p:nvPicPr>
        <p:blipFill>
          <a:blip r:embed="rId2" cstate="print"/>
          <a:srcRect b="8757"/>
          <a:stretch>
            <a:fillRect/>
          </a:stretch>
        </p:blipFill>
        <p:spPr bwMode="auto">
          <a:xfrm>
            <a:off x="2987824" y="3992426"/>
            <a:ext cx="3672408" cy="2479613"/>
          </a:xfrm>
          <a:prstGeom prst="rect">
            <a:avLst/>
          </a:prstGeom>
          <a:noFill/>
          <a:ln w="9525">
            <a:noFill/>
            <a:miter lim="800000"/>
            <a:headEnd/>
            <a:tailEnd/>
          </a:ln>
        </p:spPr>
      </p:pic>
    </p:spTree>
    <p:extLst>
      <p:ext uri="{BB962C8B-B14F-4D97-AF65-F5344CB8AC3E}">
        <p14:creationId xmlns:p14="http://schemas.microsoft.com/office/powerpoint/2010/main" val="27470101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251520" y="332656"/>
            <a:ext cx="6324600" cy="900336"/>
          </a:xfrm>
        </p:spPr>
        <p:txBody>
          <a:bodyPr vert="horz" lIns="91440" tIns="45720" rIns="91440" bIns="45720" rtlCol="0" anchor="ctr" anchorCtr="0">
            <a:normAutofit/>
          </a:bodyPr>
          <a:lstStyle/>
          <a:p>
            <a:pPr>
              <a:spcBef>
                <a:spcPct val="0"/>
              </a:spcBef>
            </a:pPr>
            <a:r>
              <a:rPr lang="en-IN" sz="3200" dirty="0">
                <a:latin typeface="+mj-lt"/>
                <a:ea typeface="+mj-ea"/>
                <a:cs typeface="+mj-cs"/>
              </a:rPr>
              <a:t>Examples</a:t>
            </a:r>
          </a:p>
        </p:txBody>
      </p:sp>
      <p:sp>
        <p:nvSpPr>
          <p:cNvPr id="5" name="Rectangle 4"/>
          <p:cNvSpPr/>
          <p:nvPr/>
        </p:nvSpPr>
        <p:spPr>
          <a:xfrm>
            <a:off x="395536" y="1556792"/>
            <a:ext cx="7056784" cy="2948499"/>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200" dirty="0">
                <a:solidFill>
                  <a:prstClr val="black"/>
                </a:solidFill>
                <a:cs typeface="Arial" pitchFamily="34" charset="0"/>
              </a:rPr>
              <a:t>27 mod 5 = 2</a:t>
            </a:r>
          </a:p>
          <a:p>
            <a:pPr marL="342900" indent="-342900">
              <a:spcBef>
                <a:spcPct val="20000"/>
              </a:spcBef>
              <a:buFont typeface="Arial" pitchFamily="34" charset="0"/>
              <a:buChar char="•"/>
            </a:pPr>
            <a:r>
              <a:rPr lang="en-US" sz="3200" dirty="0">
                <a:solidFill>
                  <a:prstClr val="black"/>
                </a:solidFill>
                <a:cs typeface="Arial" pitchFamily="34" charset="0"/>
              </a:rPr>
              <a:t>36 mod 12 = 0</a:t>
            </a:r>
          </a:p>
          <a:p>
            <a:pPr marL="342900" indent="-342900">
              <a:spcBef>
                <a:spcPct val="20000"/>
              </a:spcBef>
              <a:buFont typeface="Arial" pitchFamily="34" charset="0"/>
              <a:buChar char="•"/>
            </a:pPr>
            <a:r>
              <a:rPr lang="en-US" sz="3200" dirty="0">
                <a:solidFill>
                  <a:prstClr val="black"/>
                </a:solidFill>
                <a:cs typeface="Arial" pitchFamily="34" charset="0"/>
              </a:rPr>
              <a:t>-18 mod 14 = -4 = -4+14 = 10 </a:t>
            </a:r>
          </a:p>
          <a:p>
            <a:pPr marL="342900" indent="-342900">
              <a:spcBef>
                <a:spcPct val="20000"/>
              </a:spcBef>
              <a:buFont typeface="Arial" pitchFamily="34" charset="0"/>
              <a:buChar char="•"/>
            </a:pPr>
            <a:r>
              <a:rPr lang="en-US" sz="3200" dirty="0">
                <a:solidFill>
                  <a:prstClr val="black"/>
                </a:solidFill>
                <a:cs typeface="Arial" pitchFamily="34" charset="0"/>
              </a:rPr>
              <a:t>-7 mod 10 = -7 = -7+10 = 3</a:t>
            </a:r>
          </a:p>
          <a:p>
            <a:pPr marL="342900" indent="-342900">
              <a:spcBef>
                <a:spcPct val="20000"/>
              </a:spcBef>
              <a:buFont typeface="Arial" pitchFamily="34" charset="0"/>
              <a:buChar char="•"/>
            </a:pPr>
            <a:endParaRPr lang="en-US" sz="3200" dirty="0">
              <a:solidFill>
                <a:prstClr val="black"/>
              </a:solidFill>
              <a:cs typeface="Arial" pitchFamily="34" charset="0"/>
            </a:endParaRPr>
          </a:p>
        </p:txBody>
      </p:sp>
    </p:spTree>
    <p:extLst>
      <p:ext uri="{BB962C8B-B14F-4D97-AF65-F5344CB8AC3E}">
        <p14:creationId xmlns:p14="http://schemas.microsoft.com/office/powerpoint/2010/main" val="183286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443664" cy="1174433"/>
          </a:xfrm>
        </p:spPr>
        <p:txBody>
          <a:bodyPr vert="horz" lIns="91440" tIns="45720" rIns="91440" bIns="45720" rtlCol="0">
            <a:normAutofit fontScale="85000" lnSpcReduction="20000"/>
          </a:bodyPr>
          <a:lstStyle/>
          <a:p>
            <a:pPr>
              <a:buChar char="•"/>
            </a:pPr>
            <a:r>
              <a:rPr lang="en-IN" sz="3200" dirty="0">
                <a:solidFill>
                  <a:prstClr val="black"/>
                </a:solidFill>
              </a:rPr>
              <a:t>Two integers a and b are said to be congruent if (a mod n) = (b mod n</a:t>
            </a:r>
            <a:r>
              <a:rPr lang="en-IN" sz="3200" dirty="0" smtClean="0">
                <a:solidFill>
                  <a:prstClr val="black"/>
                </a:solidFill>
              </a:rPr>
              <a:t>)</a:t>
            </a:r>
            <a:endParaRPr lang="en-IN" sz="3200" dirty="0">
              <a:solidFill>
                <a:prstClr val="black"/>
              </a:solidFill>
            </a:endParaRPr>
          </a:p>
          <a:p>
            <a:pPr>
              <a:buChar char="•"/>
            </a:pPr>
            <a:r>
              <a:rPr lang="en-IN" sz="3200" dirty="0">
                <a:solidFill>
                  <a:prstClr val="black"/>
                </a:solidFill>
              </a:rPr>
              <a:t>It is written as a </a:t>
            </a:r>
            <a:r>
              <a:rPr lang="en-US" sz="3200" dirty="0">
                <a:solidFill>
                  <a:prstClr val="black"/>
                </a:solidFill>
              </a:rPr>
              <a:t>≡ </a:t>
            </a:r>
            <a:r>
              <a:rPr lang="en-IN" sz="3200" dirty="0">
                <a:solidFill>
                  <a:prstClr val="black"/>
                </a:solidFill>
              </a:rPr>
              <a:t>b (mod n</a:t>
            </a:r>
            <a:r>
              <a:rPr lang="en-IN" sz="3200" dirty="0" smtClean="0">
                <a:solidFill>
                  <a:prstClr val="black"/>
                </a:solidFill>
              </a:rPr>
              <a:t>)</a:t>
            </a:r>
            <a:endParaRPr lang="en-IN" sz="3200" dirty="0">
              <a:solidFill>
                <a:prstClr val="black"/>
              </a:solidFill>
            </a:endParaRPr>
          </a:p>
          <a:p>
            <a:pPr>
              <a:buChar char="•"/>
            </a:pPr>
            <a:endParaRPr lang="en-IN" sz="3200" dirty="0">
              <a:solidFill>
                <a:prstClr val="black"/>
              </a:solidFill>
            </a:endParaRPr>
          </a:p>
          <a:p>
            <a:pPr>
              <a:buChar char="•"/>
            </a:pPr>
            <a:endParaRPr lang="en-US" sz="3200" dirty="0">
              <a:solidFill>
                <a:prstClr val="black"/>
              </a:solidFill>
            </a:endParaRPr>
          </a:p>
          <a:p>
            <a:pPr>
              <a:buChar char="•"/>
            </a:pPr>
            <a:endParaRPr lang="en-IN" sz="3200" dirty="0">
              <a:solidFill>
                <a:prstClr val="black"/>
              </a:solidFill>
            </a:endParaRPr>
          </a:p>
          <a:p>
            <a:pPr>
              <a:buChar char="•"/>
            </a:pPr>
            <a:endParaRPr lang="en-IN" sz="3200" dirty="0">
              <a:solidFill>
                <a:prstClr val="black"/>
              </a:solidFill>
            </a:endParaRPr>
          </a:p>
        </p:txBody>
      </p:sp>
      <p:sp>
        <p:nvSpPr>
          <p:cNvPr id="3" name="Content Placeholder 2"/>
          <p:cNvSpPr>
            <a:spLocks noGrp="1"/>
          </p:cNvSpPr>
          <p:nvPr>
            <p:ph sz="quarter" idx="10"/>
          </p:nvPr>
        </p:nvSpPr>
        <p:spPr>
          <a:xfrm>
            <a:off x="304800" y="332656"/>
            <a:ext cx="6324600" cy="828328"/>
          </a:xfrm>
        </p:spPr>
        <p:txBody>
          <a:bodyPr vert="horz" lIns="91440" tIns="45720" rIns="91440" bIns="45720" rtlCol="0" anchor="ctr" anchorCtr="0">
            <a:normAutofit/>
          </a:bodyPr>
          <a:lstStyle/>
          <a:p>
            <a:pPr>
              <a:spcBef>
                <a:spcPct val="0"/>
              </a:spcBef>
            </a:pPr>
            <a:r>
              <a:rPr lang="en-IN" sz="3200" dirty="0">
                <a:latin typeface="+mj-lt"/>
                <a:ea typeface="+mj-ea"/>
                <a:cs typeface="+mj-cs"/>
              </a:rPr>
              <a:t>Congruence</a:t>
            </a:r>
          </a:p>
        </p:txBody>
      </p:sp>
      <p:grpSp>
        <p:nvGrpSpPr>
          <p:cNvPr id="5" name="Group 12"/>
          <p:cNvGrpSpPr/>
          <p:nvPr/>
        </p:nvGrpSpPr>
        <p:grpSpPr>
          <a:xfrm>
            <a:off x="1187624" y="2668270"/>
            <a:ext cx="6336704" cy="3969732"/>
            <a:chOff x="1907704" y="3429000"/>
            <a:chExt cx="4981575" cy="3033628"/>
          </a:xfrm>
        </p:grpSpPr>
        <p:pic>
          <p:nvPicPr>
            <p:cNvPr id="2053" name="Picture 5"/>
            <p:cNvPicPr>
              <a:picLocks noChangeAspect="1" noChangeArrowheads="1"/>
            </p:cNvPicPr>
            <p:nvPr/>
          </p:nvPicPr>
          <p:blipFill>
            <a:blip r:embed="rId2" cstate="print"/>
            <a:srcRect/>
            <a:stretch>
              <a:fillRect/>
            </a:stretch>
          </p:blipFill>
          <p:spPr bwMode="auto">
            <a:xfrm>
              <a:off x="1907704" y="3429000"/>
              <a:ext cx="4981575" cy="2543175"/>
            </a:xfrm>
            <a:prstGeom prst="rect">
              <a:avLst/>
            </a:prstGeom>
            <a:noFill/>
            <a:ln w="9525">
              <a:noFill/>
              <a:miter lim="800000"/>
              <a:headEnd/>
              <a:tailEnd/>
            </a:ln>
          </p:spPr>
        </p:pic>
        <p:sp>
          <p:nvSpPr>
            <p:cNvPr id="12" name="TextBox 11"/>
            <p:cNvSpPr txBox="1"/>
            <p:nvPr/>
          </p:nvSpPr>
          <p:spPr>
            <a:xfrm>
              <a:off x="2987824" y="6093296"/>
              <a:ext cx="3024336" cy="369332"/>
            </a:xfrm>
            <a:prstGeom prst="rect">
              <a:avLst/>
            </a:prstGeom>
            <a:noFill/>
          </p:spPr>
          <p:txBody>
            <a:bodyPr wrap="square" rtlCol="0">
              <a:spAutoFit/>
            </a:bodyPr>
            <a:lstStyle/>
            <a:p>
              <a:pPr algn="ctr"/>
              <a:r>
                <a:rPr lang="en-IN" b="1" u="sng" dirty="0" smtClean="0">
                  <a:solidFill>
                    <a:prstClr val="black"/>
                  </a:solidFill>
                </a:rPr>
                <a:t>Congruence Relationship</a:t>
              </a:r>
              <a:endParaRPr lang="en-IN" b="1" u="sng" dirty="0">
                <a:solidFill>
                  <a:prstClr val="black"/>
                </a:solidFill>
              </a:endParaRPr>
            </a:p>
          </p:txBody>
        </p:sp>
      </p:grpSp>
    </p:spTree>
    <p:extLst>
      <p:ext uri="{BB962C8B-B14F-4D97-AF65-F5344CB8AC3E}">
        <p14:creationId xmlns:p14="http://schemas.microsoft.com/office/powerpoint/2010/main" val="397075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467544" y="404664"/>
            <a:ext cx="6324600" cy="756320"/>
          </a:xfrm>
        </p:spPr>
        <p:txBody>
          <a:bodyPr vert="horz" lIns="91440" tIns="45720" rIns="91440" bIns="45720" rtlCol="0" anchor="ctr" anchorCtr="0">
            <a:normAutofit/>
          </a:bodyPr>
          <a:lstStyle/>
          <a:p>
            <a:pPr>
              <a:spcBef>
                <a:spcPct val="0"/>
              </a:spcBef>
            </a:pPr>
            <a:r>
              <a:rPr lang="en-IN" sz="3200" dirty="0">
                <a:latin typeface="+mj-lt"/>
                <a:ea typeface="+mj-ea"/>
                <a:cs typeface="+mj-cs"/>
              </a:rPr>
              <a:t>Examples</a:t>
            </a:r>
          </a:p>
        </p:txBody>
      </p:sp>
      <p:sp>
        <p:nvSpPr>
          <p:cNvPr id="5" name="Rectangle 4"/>
          <p:cNvSpPr/>
          <p:nvPr/>
        </p:nvSpPr>
        <p:spPr>
          <a:xfrm>
            <a:off x="467544" y="1700808"/>
            <a:ext cx="7992888" cy="2357568"/>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200" dirty="0">
                <a:solidFill>
                  <a:prstClr val="black"/>
                </a:solidFill>
                <a:cs typeface="Arial" pitchFamily="34" charset="0"/>
              </a:rPr>
              <a:t>2 ≡ 12 ( mod 10)		</a:t>
            </a:r>
          </a:p>
          <a:p>
            <a:pPr marL="342900" indent="-342900">
              <a:spcBef>
                <a:spcPct val="20000"/>
              </a:spcBef>
              <a:buFont typeface="Arial" pitchFamily="34" charset="0"/>
              <a:buChar char="•"/>
            </a:pPr>
            <a:r>
              <a:rPr lang="en-US" sz="3200" dirty="0">
                <a:solidFill>
                  <a:prstClr val="black"/>
                </a:solidFill>
                <a:cs typeface="Arial" pitchFamily="34" charset="0"/>
              </a:rPr>
              <a:t>3 ≡ 8 (mod 5)</a:t>
            </a:r>
          </a:p>
          <a:p>
            <a:pPr marL="342900" indent="-342900">
              <a:spcBef>
                <a:spcPct val="20000"/>
              </a:spcBef>
              <a:buFont typeface="Arial" pitchFamily="34" charset="0"/>
              <a:buChar char="•"/>
            </a:pPr>
            <a:r>
              <a:rPr lang="en-US" sz="3200" dirty="0">
                <a:solidFill>
                  <a:prstClr val="black"/>
                </a:solidFill>
                <a:cs typeface="Arial" pitchFamily="34" charset="0"/>
              </a:rPr>
              <a:t>8 ≡ 13 (mod 5)		</a:t>
            </a:r>
          </a:p>
          <a:p>
            <a:pPr marL="342900" indent="-342900">
              <a:spcBef>
                <a:spcPct val="20000"/>
              </a:spcBef>
              <a:buFont typeface="Arial" pitchFamily="34" charset="0"/>
              <a:buChar char="•"/>
            </a:pPr>
            <a:r>
              <a:rPr lang="en-US" sz="3200" dirty="0">
                <a:solidFill>
                  <a:prstClr val="black"/>
                </a:solidFill>
                <a:cs typeface="Arial" pitchFamily="34" charset="0"/>
              </a:rPr>
              <a:t>-8 ≡ 12 (mod 10)		</a:t>
            </a:r>
          </a:p>
        </p:txBody>
      </p:sp>
    </p:spTree>
    <p:extLst>
      <p:ext uri="{BB962C8B-B14F-4D97-AF65-F5344CB8AC3E}">
        <p14:creationId xmlns:p14="http://schemas.microsoft.com/office/powerpoint/2010/main" val="32932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371656" cy="5364163"/>
          </a:xfrm>
        </p:spPr>
        <p:txBody>
          <a:bodyPr vert="horz" lIns="91440" tIns="45720" rIns="91440" bIns="45720" rtlCol="0">
            <a:normAutofit/>
          </a:bodyPr>
          <a:lstStyle/>
          <a:p>
            <a:pPr marL="457200" indent="-457200">
              <a:buClrTx/>
              <a:buFont typeface="Arial" panose="020B0604020202020204" pitchFamily="34" charset="0"/>
              <a:buChar char="•"/>
            </a:pPr>
            <a:r>
              <a:rPr lang="en-IN" sz="3200" dirty="0">
                <a:solidFill>
                  <a:schemeClr val="tx2"/>
                </a:solidFill>
              </a:rPr>
              <a:t>The greatest common divisor of a and b, </a:t>
            </a:r>
            <a:r>
              <a:rPr lang="en-IN" sz="3200" dirty="0" err="1">
                <a:solidFill>
                  <a:schemeClr val="tx2"/>
                </a:solidFill>
              </a:rPr>
              <a:t>gcd</a:t>
            </a:r>
            <a:r>
              <a:rPr lang="en-IN" sz="3200" dirty="0">
                <a:solidFill>
                  <a:schemeClr val="tx2"/>
                </a:solidFill>
              </a:rPr>
              <a:t> (a, b), is the largest integer that divides both a and b. Also it is defined that gcd(0, 0) = 0.</a:t>
            </a:r>
          </a:p>
          <a:p>
            <a:pPr marL="971550" lvl="2" indent="-285750"/>
            <a:endParaRPr lang="en-IN" sz="1800" dirty="0">
              <a:solidFill>
                <a:schemeClr val="tx2"/>
              </a:solidFill>
              <a:latin typeface="+mn-lt"/>
              <a:cs typeface="+mn-cs"/>
            </a:endParaRPr>
          </a:p>
          <a:p>
            <a:pPr marL="971550" lvl="2" indent="-285750"/>
            <a:r>
              <a:rPr lang="en-IN" sz="1800" dirty="0">
                <a:solidFill>
                  <a:schemeClr val="tx2"/>
                </a:solidFill>
                <a:latin typeface="+mn-lt"/>
                <a:cs typeface="+mn-cs"/>
              </a:rPr>
              <a:t>The greatest common divisor is to be positive, so</a:t>
            </a:r>
          </a:p>
          <a:p>
            <a:pPr marL="971550" lvl="2" indent="-285750"/>
            <a:r>
              <a:rPr lang="en-IN" sz="1800" dirty="0">
                <a:solidFill>
                  <a:schemeClr val="tx2"/>
                </a:solidFill>
                <a:latin typeface="+mn-lt"/>
                <a:cs typeface="+mn-cs"/>
              </a:rPr>
              <a:t>     </a:t>
            </a:r>
            <a:r>
              <a:rPr lang="en-IN" sz="1800" dirty="0" err="1">
                <a:solidFill>
                  <a:schemeClr val="tx2"/>
                </a:solidFill>
                <a:latin typeface="+mn-lt"/>
                <a:cs typeface="+mn-cs"/>
              </a:rPr>
              <a:t>gcd</a:t>
            </a:r>
            <a:r>
              <a:rPr lang="en-IN" sz="1800" dirty="0">
                <a:solidFill>
                  <a:schemeClr val="tx2"/>
                </a:solidFill>
                <a:latin typeface="+mn-lt"/>
                <a:cs typeface="+mn-cs"/>
              </a:rPr>
              <a:t>(a, b) = </a:t>
            </a:r>
            <a:r>
              <a:rPr lang="en-IN" sz="1800" dirty="0" err="1">
                <a:solidFill>
                  <a:schemeClr val="tx2"/>
                </a:solidFill>
                <a:latin typeface="+mn-lt"/>
                <a:cs typeface="+mn-cs"/>
              </a:rPr>
              <a:t>gcd</a:t>
            </a:r>
            <a:r>
              <a:rPr lang="en-IN" sz="1800" dirty="0">
                <a:solidFill>
                  <a:schemeClr val="tx2"/>
                </a:solidFill>
                <a:latin typeface="+mn-lt"/>
                <a:cs typeface="+mn-cs"/>
              </a:rPr>
              <a:t>(a, -b) </a:t>
            </a:r>
          </a:p>
          <a:p>
            <a:pPr marL="971550" lvl="2" indent="-285750"/>
            <a:r>
              <a:rPr lang="en-IN" sz="1800" dirty="0">
                <a:solidFill>
                  <a:schemeClr val="tx2"/>
                </a:solidFill>
                <a:latin typeface="+mn-lt"/>
                <a:cs typeface="+mn-cs"/>
              </a:rPr>
              <a:t>                     = </a:t>
            </a:r>
            <a:r>
              <a:rPr lang="en-IN" sz="1800" dirty="0" err="1">
                <a:solidFill>
                  <a:schemeClr val="tx2"/>
                </a:solidFill>
                <a:latin typeface="+mn-lt"/>
                <a:cs typeface="+mn-cs"/>
              </a:rPr>
              <a:t>gcd</a:t>
            </a:r>
            <a:r>
              <a:rPr lang="en-IN" sz="1800" dirty="0">
                <a:solidFill>
                  <a:schemeClr val="tx2"/>
                </a:solidFill>
                <a:latin typeface="+mn-lt"/>
                <a:cs typeface="+mn-cs"/>
              </a:rPr>
              <a:t>(-a, b) </a:t>
            </a:r>
          </a:p>
          <a:p>
            <a:pPr marL="971550" lvl="2" indent="-285750"/>
            <a:r>
              <a:rPr lang="en-IN" sz="1800" dirty="0">
                <a:solidFill>
                  <a:schemeClr val="tx2"/>
                </a:solidFill>
                <a:latin typeface="+mn-lt"/>
                <a:cs typeface="+mn-cs"/>
              </a:rPr>
              <a:t>                     = </a:t>
            </a:r>
            <a:r>
              <a:rPr lang="en-IN" sz="1800" dirty="0" err="1">
                <a:solidFill>
                  <a:schemeClr val="tx2"/>
                </a:solidFill>
                <a:latin typeface="+mn-lt"/>
                <a:cs typeface="+mn-cs"/>
              </a:rPr>
              <a:t>gcd</a:t>
            </a:r>
            <a:r>
              <a:rPr lang="en-IN" sz="1800" dirty="0">
                <a:solidFill>
                  <a:schemeClr val="tx2"/>
                </a:solidFill>
                <a:latin typeface="+mn-lt"/>
                <a:cs typeface="+mn-cs"/>
              </a:rPr>
              <a:t>(-a,-b)</a:t>
            </a:r>
          </a:p>
          <a:p>
            <a:pPr marL="971550" lvl="2" indent="-285750"/>
            <a:r>
              <a:rPr lang="en-IN" sz="1800" dirty="0">
                <a:solidFill>
                  <a:schemeClr val="tx2"/>
                </a:solidFill>
                <a:latin typeface="+mn-lt"/>
                <a:cs typeface="+mn-cs"/>
              </a:rPr>
              <a:t>    In general, gcd(a, b) = gcd(|a|, |b|)</a:t>
            </a:r>
          </a:p>
          <a:p>
            <a:pPr marL="971550" lvl="2" indent="-285750"/>
            <a:endParaRPr lang="en-IN" sz="1800" dirty="0">
              <a:solidFill>
                <a:schemeClr val="tx2"/>
              </a:solidFill>
              <a:latin typeface="+mn-lt"/>
              <a:cs typeface="+mn-cs"/>
            </a:endParaRPr>
          </a:p>
          <a:p>
            <a:pPr marL="971550" lvl="2" indent="-285750"/>
            <a:r>
              <a:rPr lang="en-IN" sz="1800" dirty="0">
                <a:solidFill>
                  <a:schemeClr val="tx2"/>
                </a:solidFill>
                <a:latin typeface="+mn-lt"/>
                <a:cs typeface="+mn-cs"/>
              </a:rPr>
              <a:t>    a and b are relatively prime if </a:t>
            </a:r>
            <a:r>
              <a:rPr lang="en-IN" sz="1800" dirty="0" err="1">
                <a:solidFill>
                  <a:schemeClr val="tx2"/>
                </a:solidFill>
                <a:latin typeface="+mn-lt"/>
                <a:cs typeface="+mn-cs"/>
              </a:rPr>
              <a:t>gcd</a:t>
            </a:r>
            <a:r>
              <a:rPr lang="en-IN" sz="1800" dirty="0">
                <a:solidFill>
                  <a:schemeClr val="tx2"/>
                </a:solidFill>
                <a:latin typeface="+mn-lt"/>
                <a:cs typeface="+mn-cs"/>
              </a:rPr>
              <a:t> (a, b) = 1</a:t>
            </a:r>
          </a:p>
        </p:txBody>
      </p:sp>
      <p:sp>
        <p:nvSpPr>
          <p:cNvPr id="3" name="Content Placeholder 2"/>
          <p:cNvSpPr>
            <a:spLocks noGrp="1"/>
          </p:cNvSpPr>
          <p:nvPr>
            <p:ph sz="quarter" idx="10"/>
          </p:nvPr>
        </p:nvSpPr>
        <p:spPr>
          <a:xfrm>
            <a:off x="304800" y="332656"/>
            <a:ext cx="6324600" cy="890736"/>
          </a:xfrm>
        </p:spPr>
        <p:txBody>
          <a:bodyPr vert="horz" lIns="91440" tIns="45720" rIns="91440" bIns="45720" rtlCol="0" anchor="ctr" anchorCtr="0">
            <a:normAutofit/>
          </a:bodyPr>
          <a:lstStyle/>
          <a:p>
            <a:pPr>
              <a:spcBef>
                <a:spcPct val="0"/>
              </a:spcBef>
            </a:pPr>
            <a:r>
              <a:rPr lang="en-IN" sz="3200" dirty="0">
                <a:latin typeface="+mj-lt"/>
                <a:ea typeface="+mj-ea"/>
                <a:cs typeface="+mj-cs"/>
              </a:rPr>
              <a:t>Greatest Common Divisor (GCD)</a:t>
            </a:r>
          </a:p>
        </p:txBody>
      </p:sp>
    </p:spTree>
    <p:extLst>
      <p:ext uri="{BB962C8B-B14F-4D97-AF65-F5344CB8AC3E}">
        <p14:creationId xmlns:p14="http://schemas.microsoft.com/office/powerpoint/2010/main" val="346896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IN" sz="3200" dirty="0">
                <a:solidFill>
                  <a:prstClr val="black"/>
                </a:solidFill>
              </a:rPr>
              <a:t>GCD of 24 and 27 = 3</a:t>
            </a:r>
          </a:p>
          <a:p>
            <a:pPr>
              <a:buClrTx/>
              <a:buChar char="•"/>
            </a:pPr>
            <a:r>
              <a:rPr lang="en-IN" sz="3200" dirty="0">
                <a:solidFill>
                  <a:prstClr val="black"/>
                </a:solidFill>
              </a:rPr>
              <a:t>GCD of 25, 34 = 1   and also 25 and 34 are relatively prime.</a:t>
            </a:r>
          </a:p>
          <a:p>
            <a:pPr>
              <a:buClrTx/>
              <a:buChar char="•"/>
            </a:pPr>
            <a:r>
              <a:rPr lang="en-IN" sz="3200" dirty="0">
                <a:solidFill>
                  <a:prstClr val="black"/>
                </a:solidFill>
              </a:rPr>
              <a:t>GCD of -5, 30 = 5</a:t>
            </a:r>
          </a:p>
          <a:p>
            <a:pPr>
              <a:buClrTx/>
              <a:buChar char="•"/>
            </a:pPr>
            <a:r>
              <a:rPr lang="en-IN" sz="3200" dirty="0">
                <a:solidFill>
                  <a:prstClr val="black"/>
                </a:solidFill>
              </a:rPr>
              <a:t>GCD of 16, -40 = 8</a:t>
            </a:r>
          </a:p>
        </p:txBody>
      </p:sp>
      <p:sp>
        <p:nvSpPr>
          <p:cNvPr id="3" name="Content Placeholder 2"/>
          <p:cNvSpPr>
            <a:spLocks noGrp="1"/>
          </p:cNvSpPr>
          <p:nvPr>
            <p:ph sz="quarter" idx="10"/>
          </p:nvPr>
        </p:nvSpPr>
        <p:spPr>
          <a:xfrm>
            <a:off x="304800" y="260648"/>
            <a:ext cx="6324600" cy="962744"/>
          </a:xfrm>
        </p:spPr>
        <p:txBody>
          <a:bodyPr vert="horz" lIns="91440" tIns="45720" rIns="91440" bIns="45720" rtlCol="0" anchor="ctr" anchorCtr="0">
            <a:normAutofit/>
          </a:bodyPr>
          <a:lstStyle/>
          <a:p>
            <a:pPr>
              <a:spcBef>
                <a:spcPct val="0"/>
              </a:spcBef>
            </a:pPr>
            <a:r>
              <a:rPr lang="en-IN" sz="3200" dirty="0">
                <a:latin typeface="+mj-lt"/>
                <a:ea typeface="+mj-ea"/>
                <a:cs typeface="+mj-cs"/>
              </a:rPr>
              <a:t>Examples</a:t>
            </a:r>
          </a:p>
        </p:txBody>
      </p:sp>
    </p:spTree>
    <p:extLst>
      <p:ext uri="{BB962C8B-B14F-4D97-AF65-F5344CB8AC3E}">
        <p14:creationId xmlns:p14="http://schemas.microsoft.com/office/powerpoint/2010/main" val="48218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IN" sz="3200" dirty="0">
                <a:solidFill>
                  <a:prstClr val="black"/>
                </a:solidFill>
              </a:rPr>
              <a:t>It is not practically possible to find out the GCD for large number by listing all common divisors</a:t>
            </a:r>
          </a:p>
          <a:p>
            <a:pPr>
              <a:buClrTx/>
              <a:buChar char="•"/>
            </a:pPr>
            <a:r>
              <a:rPr lang="en-IN" sz="3200" dirty="0">
                <a:solidFill>
                  <a:prstClr val="black"/>
                </a:solidFill>
              </a:rPr>
              <a:t>Euclidean algorithm is used to find out the GCD </a:t>
            </a:r>
          </a:p>
        </p:txBody>
      </p:sp>
      <p:sp>
        <p:nvSpPr>
          <p:cNvPr id="3" name="Content Placeholder 2"/>
          <p:cNvSpPr>
            <a:spLocks noGrp="1"/>
          </p:cNvSpPr>
          <p:nvPr>
            <p:ph sz="quarter" idx="10"/>
          </p:nvPr>
        </p:nvSpPr>
        <p:spPr>
          <a:xfrm>
            <a:off x="304800" y="260648"/>
            <a:ext cx="6324600" cy="962744"/>
          </a:xfrm>
        </p:spPr>
        <p:txBody>
          <a:bodyPr vert="horz" lIns="91440" tIns="45720" rIns="91440" bIns="45720" rtlCol="0" anchor="ctr" anchorCtr="0">
            <a:normAutofit/>
          </a:bodyPr>
          <a:lstStyle/>
          <a:p>
            <a:pPr>
              <a:spcBef>
                <a:spcPct val="0"/>
              </a:spcBef>
            </a:pPr>
            <a:r>
              <a:rPr lang="en-IN" sz="3200" dirty="0"/>
              <a:t>Euclidean Algorithm:: To find out the GCD</a:t>
            </a:r>
          </a:p>
        </p:txBody>
      </p:sp>
    </p:spTree>
    <p:extLst>
      <p:ext uri="{BB962C8B-B14F-4D97-AF65-F5344CB8AC3E}">
        <p14:creationId xmlns:p14="http://schemas.microsoft.com/office/powerpoint/2010/main" val="27380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Euclidean </a:t>
            </a:r>
            <a:r>
              <a:rPr lang="en-IN" sz="3200" dirty="0" smtClean="0">
                <a:latin typeface="+mj-lt"/>
                <a:ea typeface="+mj-ea"/>
                <a:cs typeface="+mj-cs"/>
              </a:rPr>
              <a:t>Algorithm:: To </a:t>
            </a:r>
            <a:r>
              <a:rPr lang="en-IN" sz="3200" dirty="0">
                <a:latin typeface="+mj-lt"/>
                <a:ea typeface="+mj-ea"/>
                <a:cs typeface="+mj-cs"/>
              </a:rPr>
              <a:t>find out the GCD</a:t>
            </a:r>
          </a:p>
        </p:txBody>
      </p:sp>
      <p:graphicFrame>
        <p:nvGraphicFramePr>
          <p:cNvPr id="25" name="Table 24"/>
          <p:cNvGraphicFramePr>
            <a:graphicFrameLocks noGrp="1"/>
          </p:cNvGraphicFramePr>
          <p:nvPr/>
        </p:nvGraphicFramePr>
        <p:xfrm>
          <a:off x="2987824" y="1844824"/>
          <a:ext cx="2808312" cy="432048"/>
        </p:xfrm>
        <a:graphic>
          <a:graphicData uri="http://schemas.openxmlformats.org/drawingml/2006/table">
            <a:tbl>
              <a:tblPr/>
              <a:tblGrid>
                <a:gridCol w="702078"/>
                <a:gridCol w="702078"/>
                <a:gridCol w="702078"/>
                <a:gridCol w="702078"/>
              </a:tblGrid>
              <a:tr h="432048">
                <a:tc>
                  <a:txBody>
                    <a:bodyPr/>
                    <a:lstStyle/>
                    <a:p>
                      <a:pPr algn="ctr" fontAlgn="b"/>
                      <a:r>
                        <a:rPr lang="en-IN" sz="2000" b="1" i="0" u="none" strike="noStrike" dirty="0">
                          <a:solidFill>
                            <a:srgbClr val="000000"/>
                          </a:solidFill>
                          <a:latin typeface="Calibri"/>
                        </a:rPr>
                        <a:t>q</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2000" b="1" i="0" u="none" strike="noStrike" dirty="0">
                          <a:solidFill>
                            <a:srgbClr val="000000"/>
                          </a:solidFill>
                          <a:latin typeface="Calibri"/>
                        </a:rPr>
                        <a:t>r1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2000" b="1" i="0" u="none" strike="noStrike" dirty="0">
                          <a:solidFill>
                            <a:srgbClr val="000000"/>
                          </a:solidFill>
                          <a:latin typeface="Calibri"/>
                        </a:rPr>
                        <a:t>r2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2000" b="1" i="0" u="none" strike="noStrike" dirty="0">
                          <a:solidFill>
                            <a:srgbClr val="000000"/>
                          </a:solidFill>
                          <a:latin typeface="Calibri"/>
                        </a:rPr>
                        <a:t>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graphicFrame>
        <p:nvGraphicFramePr>
          <p:cNvPr id="26" name="Table 25"/>
          <p:cNvGraphicFramePr>
            <a:graphicFrameLocks noGrp="1"/>
          </p:cNvGraphicFramePr>
          <p:nvPr/>
        </p:nvGraphicFramePr>
        <p:xfrm>
          <a:off x="2987824" y="2276872"/>
          <a:ext cx="2808312" cy="432048"/>
        </p:xfrm>
        <a:graphic>
          <a:graphicData uri="http://schemas.openxmlformats.org/drawingml/2006/table">
            <a:tbl>
              <a:tblPr/>
              <a:tblGrid>
                <a:gridCol w="702078"/>
                <a:gridCol w="702078"/>
                <a:gridCol w="702078"/>
                <a:gridCol w="702078"/>
              </a:tblGrid>
              <a:tr h="432048">
                <a:tc>
                  <a:txBody>
                    <a:bodyPr/>
                    <a:lstStyle/>
                    <a:p>
                      <a:pPr algn="ctr" fontAlgn="b"/>
                      <a:r>
                        <a:rPr lang="en-IN" sz="2000" b="0" i="0" u="none" strike="noStrike" dirty="0">
                          <a:solidFill>
                            <a:srgbClr val="00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2740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1760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980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2987824" y="2708920"/>
          <a:ext cx="2808312" cy="504056"/>
        </p:xfrm>
        <a:graphic>
          <a:graphicData uri="http://schemas.openxmlformats.org/drawingml/2006/table">
            <a:tbl>
              <a:tblPr/>
              <a:tblGrid>
                <a:gridCol w="702078"/>
                <a:gridCol w="702078"/>
                <a:gridCol w="702078"/>
                <a:gridCol w="702078"/>
              </a:tblGrid>
              <a:tr h="504056">
                <a:tc>
                  <a:txBody>
                    <a:bodyPr/>
                    <a:lstStyle/>
                    <a:p>
                      <a:pPr algn="ctr" fontAlgn="b"/>
                      <a:r>
                        <a:rPr lang="en-IN" sz="2000" b="0" i="0" u="none" strike="noStrike" dirty="0">
                          <a:solidFill>
                            <a:srgbClr val="00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1760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980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780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2987824" y="3212976"/>
          <a:ext cx="2803376" cy="576064"/>
        </p:xfrm>
        <a:graphic>
          <a:graphicData uri="http://schemas.openxmlformats.org/drawingml/2006/table">
            <a:tbl>
              <a:tblPr/>
              <a:tblGrid>
                <a:gridCol w="700844"/>
                <a:gridCol w="700844"/>
                <a:gridCol w="700844"/>
                <a:gridCol w="700844"/>
              </a:tblGrid>
              <a:tr h="576064">
                <a:tc>
                  <a:txBody>
                    <a:bodyPr/>
                    <a:lstStyle/>
                    <a:p>
                      <a:pPr algn="ctr" fontAlgn="b"/>
                      <a:r>
                        <a:rPr lang="en-IN" sz="2000" b="0" i="0" u="none" strike="noStrike">
                          <a:solidFill>
                            <a:srgbClr val="00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980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780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1" name="Table 30"/>
          <p:cNvGraphicFramePr>
            <a:graphicFrameLocks noGrp="1"/>
          </p:cNvGraphicFramePr>
          <p:nvPr/>
        </p:nvGraphicFramePr>
        <p:xfrm>
          <a:off x="2987824" y="3789040"/>
          <a:ext cx="2808312" cy="504056"/>
        </p:xfrm>
        <a:graphic>
          <a:graphicData uri="http://schemas.openxmlformats.org/drawingml/2006/table">
            <a:tbl>
              <a:tblPr/>
              <a:tblGrid>
                <a:gridCol w="702078"/>
                <a:gridCol w="702078"/>
                <a:gridCol w="702078"/>
                <a:gridCol w="702078"/>
              </a:tblGrid>
              <a:tr h="504056">
                <a:tc>
                  <a:txBody>
                    <a:bodyPr/>
                    <a:lstStyle/>
                    <a:p>
                      <a:pPr algn="ctr" fontAlgn="b"/>
                      <a:r>
                        <a:rPr lang="en-IN" sz="2000" b="0" i="0" u="none" strike="noStrike" dirty="0">
                          <a:solidFill>
                            <a:srgbClr val="000000"/>
                          </a:solidFill>
                          <a:latin typeface="Calibri"/>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780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180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nvGraphicFramePr>
        <p:xfrm>
          <a:off x="2987824" y="4293096"/>
          <a:ext cx="2808312" cy="504056"/>
        </p:xfrm>
        <a:graphic>
          <a:graphicData uri="http://schemas.openxmlformats.org/drawingml/2006/table">
            <a:tbl>
              <a:tblPr/>
              <a:tblGrid>
                <a:gridCol w="702078"/>
                <a:gridCol w="702078"/>
                <a:gridCol w="702078"/>
                <a:gridCol w="702078"/>
              </a:tblGrid>
              <a:tr h="504056">
                <a:tc>
                  <a:txBody>
                    <a:bodyPr/>
                    <a:lstStyle/>
                    <a:p>
                      <a:pPr algn="ctr" fontAlgn="b"/>
                      <a:r>
                        <a:rPr lang="en-IN" sz="2000" b="0" i="0" u="none" strike="noStrike" dirty="0">
                          <a:solidFill>
                            <a:srgbClr val="00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180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8" name="Table 37"/>
          <p:cNvGraphicFramePr>
            <a:graphicFrameLocks noGrp="1"/>
          </p:cNvGraphicFramePr>
          <p:nvPr/>
        </p:nvGraphicFramePr>
        <p:xfrm>
          <a:off x="2987824" y="4797152"/>
          <a:ext cx="2808312" cy="432048"/>
        </p:xfrm>
        <a:graphic>
          <a:graphicData uri="http://schemas.openxmlformats.org/drawingml/2006/table">
            <a:tbl>
              <a:tblPr/>
              <a:tblGrid>
                <a:gridCol w="702078"/>
                <a:gridCol w="702078"/>
                <a:gridCol w="702078"/>
                <a:gridCol w="702078"/>
              </a:tblGrid>
              <a:tr h="432048">
                <a:tc>
                  <a:txBody>
                    <a:bodyPr/>
                    <a:lstStyle/>
                    <a:p>
                      <a:pPr algn="ctr" fontAlgn="b"/>
                      <a:r>
                        <a:rPr lang="en-IN" sz="2000" b="0" i="0" u="none" strike="noStrike" dirty="0">
                          <a:solidFill>
                            <a:srgbClr val="000000"/>
                          </a:solidFill>
                          <a:latin typeface="Calibri"/>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180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9" name="Table 38"/>
          <p:cNvGraphicFramePr>
            <a:graphicFrameLocks noGrp="1"/>
          </p:cNvGraphicFramePr>
          <p:nvPr/>
        </p:nvGraphicFramePr>
        <p:xfrm>
          <a:off x="2987824" y="5229200"/>
          <a:ext cx="2808312" cy="304800"/>
        </p:xfrm>
        <a:graphic>
          <a:graphicData uri="http://schemas.openxmlformats.org/drawingml/2006/table">
            <a:tbl>
              <a:tblPr/>
              <a:tblGrid>
                <a:gridCol w="702078"/>
                <a:gridCol w="702078"/>
                <a:gridCol w="702078"/>
                <a:gridCol w="702078"/>
              </a:tblGrid>
              <a:tr h="190500">
                <a:tc>
                  <a:txBody>
                    <a:bodyPr/>
                    <a:lstStyle/>
                    <a:p>
                      <a:pPr algn="ctr" fontAlgn="b"/>
                      <a:r>
                        <a:rPr lang="en-IN" sz="2000" b="0" i="0" u="none" strike="noStrike" dirty="0">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IN" sz="2000" b="0" i="0" u="none" strike="noStrike">
                          <a:solidFill>
                            <a:srgbClr val="000000"/>
                          </a:solidFill>
                          <a:latin typeface="Calibri"/>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latin typeface="Calibri"/>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r>
            </a:tbl>
          </a:graphicData>
        </a:graphic>
      </p:graphicFrame>
      <p:grpSp>
        <p:nvGrpSpPr>
          <p:cNvPr id="71" name="Group 70"/>
          <p:cNvGrpSpPr/>
          <p:nvPr/>
        </p:nvGrpSpPr>
        <p:grpSpPr>
          <a:xfrm>
            <a:off x="4211960" y="2636912"/>
            <a:ext cx="1008112" cy="288032"/>
            <a:chOff x="4211960" y="2636912"/>
            <a:chExt cx="1008112" cy="288032"/>
          </a:xfrm>
        </p:grpSpPr>
        <p:cxnSp>
          <p:nvCxnSpPr>
            <p:cNvPr id="64" name="Straight Arrow Connector 63"/>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4139952" y="3140968"/>
            <a:ext cx="1008112" cy="288032"/>
            <a:chOff x="4211960" y="2636912"/>
            <a:chExt cx="1008112" cy="288032"/>
          </a:xfrm>
        </p:grpSpPr>
        <p:cxnSp>
          <p:nvCxnSpPr>
            <p:cNvPr id="73" name="Straight Arrow Connector 72"/>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4211960" y="3717032"/>
            <a:ext cx="1008112" cy="288032"/>
            <a:chOff x="4211960" y="2636912"/>
            <a:chExt cx="1008112" cy="288032"/>
          </a:xfrm>
        </p:grpSpPr>
        <p:cxnSp>
          <p:nvCxnSpPr>
            <p:cNvPr id="76" name="Straight Arrow Connector 75"/>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4211960" y="4221088"/>
            <a:ext cx="1008112" cy="288032"/>
            <a:chOff x="4211960" y="2636912"/>
            <a:chExt cx="1008112" cy="288032"/>
          </a:xfrm>
        </p:grpSpPr>
        <p:cxnSp>
          <p:nvCxnSpPr>
            <p:cNvPr id="79" name="Straight Arrow Connector 78"/>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a:off x="4211960" y="4725144"/>
            <a:ext cx="1008112" cy="288032"/>
            <a:chOff x="4211960" y="2636912"/>
            <a:chExt cx="1008112" cy="288032"/>
          </a:xfrm>
        </p:grpSpPr>
        <p:cxnSp>
          <p:nvCxnSpPr>
            <p:cNvPr id="82" name="Straight Arrow Connector 81"/>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4211960" y="5085184"/>
            <a:ext cx="1008112" cy="288032"/>
            <a:chOff x="4211960" y="2636912"/>
            <a:chExt cx="1008112" cy="288032"/>
          </a:xfrm>
        </p:grpSpPr>
        <p:cxnSp>
          <p:nvCxnSpPr>
            <p:cNvPr id="85" name="Straight Arrow Connector 84"/>
            <p:cNvCxnSpPr/>
            <p:nvPr/>
          </p:nvCxnSpPr>
          <p:spPr>
            <a:xfrm flipH="1">
              <a:off x="4211960"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flipH="1">
              <a:off x="4860032" y="2636912"/>
              <a:ext cx="36004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88" name="TextBox 87"/>
          <p:cNvSpPr txBox="1"/>
          <p:nvPr/>
        </p:nvSpPr>
        <p:spPr>
          <a:xfrm>
            <a:off x="2843808" y="5733256"/>
            <a:ext cx="3240360" cy="369332"/>
          </a:xfrm>
          <a:prstGeom prst="rect">
            <a:avLst/>
          </a:prstGeom>
          <a:noFill/>
        </p:spPr>
        <p:txBody>
          <a:bodyPr wrap="square" rtlCol="0">
            <a:spAutoFit/>
          </a:bodyPr>
          <a:lstStyle/>
          <a:p>
            <a:pPr algn="ctr"/>
            <a:r>
              <a:rPr lang="en-IN" b="1" dirty="0" smtClean="0">
                <a:solidFill>
                  <a:srgbClr val="0070C0"/>
                </a:solidFill>
              </a:rPr>
              <a:t>GCD of 2740 and 1760 is 20</a:t>
            </a:r>
            <a:endParaRPr lang="en-IN" b="1" dirty="0">
              <a:solidFill>
                <a:srgbClr val="0070C0"/>
              </a:solidFill>
            </a:endParaRPr>
          </a:p>
        </p:txBody>
      </p:sp>
    </p:spTree>
    <p:extLst>
      <p:ext uri="{BB962C8B-B14F-4D97-AF65-F5344CB8AC3E}">
        <p14:creationId xmlns:p14="http://schemas.microsoft.com/office/powerpoint/2010/main" val="26206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IN" sz="3200" dirty="0">
                <a:solidFill>
                  <a:prstClr val="black"/>
                </a:solidFill>
              </a:rPr>
              <a:t>Find GCD of 123 and 45</a:t>
            </a:r>
          </a:p>
          <a:p>
            <a:pPr>
              <a:buClrTx/>
              <a:buChar char="•"/>
            </a:pPr>
            <a:r>
              <a:rPr lang="en-IN" sz="3200" dirty="0">
                <a:solidFill>
                  <a:prstClr val="black"/>
                </a:solidFill>
              </a:rPr>
              <a:t>Answer : 3</a:t>
            </a:r>
          </a:p>
        </p:txBody>
      </p:sp>
      <p:sp>
        <p:nvSpPr>
          <p:cNvPr id="3" name="Content Placeholder 2"/>
          <p:cNvSpPr>
            <a:spLocks noGrp="1"/>
          </p:cNvSpPr>
          <p:nvPr>
            <p:ph sz="quarter" idx="10"/>
          </p:nvPr>
        </p:nvSpPr>
        <p:spPr>
          <a:xfrm>
            <a:off x="304800" y="188640"/>
            <a:ext cx="7291536" cy="1223392"/>
          </a:xfrm>
        </p:spPr>
        <p:txBody>
          <a:bodyPr vert="horz" lIns="91440" tIns="45720" rIns="91440" bIns="45720" rtlCol="0" anchor="ctr" anchorCtr="0">
            <a:normAutofit/>
          </a:bodyPr>
          <a:lstStyle/>
          <a:p>
            <a:pPr>
              <a:spcBef>
                <a:spcPct val="0"/>
              </a:spcBef>
            </a:pPr>
            <a:r>
              <a:rPr lang="en-US" sz="3200" dirty="0"/>
              <a:t>Euclidean Algorithm:: </a:t>
            </a:r>
            <a:r>
              <a:rPr lang="en-US" sz="3200" dirty="0" smtClean="0"/>
              <a:t>To </a:t>
            </a:r>
            <a:r>
              <a:rPr lang="en-US" sz="3200" dirty="0"/>
              <a:t>find out the GCD </a:t>
            </a:r>
            <a:r>
              <a:rPr lang="en-IN" sz="3200" dirty="0"/>
              <a:t>Examples</a:t>
            </a:r>
          </a:p>
        </p:txBody>
      </p:sp>
    </p:spTree>
    <p:extLst>
      <p:ext uri="{BB962C8B-B14F-4D97-AF65-F5344CB8AC3E}">
        <p14:creationId xmlns:p14="http://schemas.microsoft.com/office/powerpoint/2010/main" val="297656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anim calcmode="lin" valueType="num">
                                      <p:cBhvr>
                                        <p:cTn id="1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Matrix - Multiplication</a:t>
            </a:r>
          </a:p>
        </p:txBody>
      </p:sp>
      <p:sp>
        <p:nvSpPr>
          <p:cNvPr id="34821" name="AutoShape 5" descr="data:image/jpeg;base64,/9j/4AAQSkZJRgABAQAAAQABAAD/2wCEAAkGBxQTEhUSEhQVFhUWFxkZFxUTGBoVGBgaGB4YFhUXGBUYHyggGxolHBcVITEhJS0rLi4uGh80ODMtNygtLisBCgoKDQ0MFA8NGC8ZFBksKys3LCw3LCsrLCssKyw3KysrKyssKysrKysrNysrKysrKysrKysrKysrKysrLCsrK//AABEIAOEA4AMBIgACEQEDEQH/xAAcAAEBAAIDAQEAAAAAAAAAAAAABwQFAQYIAwL/xABNEAABAwIDAQkLCQYGAAcAAAABAAIDBBESITFBBQYHExdRYXHTCCJCUlNUgZKTscMUIzIzYnKRodI0Q3SywfAWc6Oz0fEkNWOCg8Lh/8QAFgEBAQEAAAAAAAAAAAAAAAAAAAEC/8QAFhEBAQEAAAAAAAAAAAAAAAAAAAER/9oADAMBAAIRAxEAPwDC4Qd+U1ZJJDSyyMige5pjYSwzBpLTJiabubcGzNLWNrqb3X6jkLSHNJDgbgjW6z5YxOC9gtIM3xjwud7B7x/ZK1yIiKIiICIiAiIgIiIMrc7dOancHwSyROBveNxb+I0cOg3C9HcGe+07oUmOQATRuwShuQJsC14GwOB02EELzOrJ3PWlZ1w/ERK7pwmb7TufSY4wDNI7BFizANiXPI2hoGm02C85bo7pzVDy+eWSVxN7yOLvwGjR0CwVZ7oXSj65vhqNoQRERRERAREQEREBERACpG8HfnNRSxQVMskkcz2tMb3YuIDu9a/E7MC5F2A2tc2uuktaKcYnAGYi7WnMRjY5w8bmGxa5zyTckkk3vtvzojhfqOQtIc02IzBGxflEVsZYxOC9gtIM3xjwud7B7x/Z1y/UUhaQ4Egg3BGoVNPBPPURx1EVRS2kaHYmmTA++YeO8uL7QiJgipvInW+Xpvxk/Qum77t68258whnwkuaHMey5Y4aGxIBuDkR1c4QaREWy3ubiS1tQymgAxvubuuGtaM3OcQDYDL0kDaitaipvInW+Xpvxk/QvnUcDNWxrnvqKVrWguc4ukAAGZJODQBETZFy8C5sbi5sbEXGw2OYv05rhFFZO560rOuH4ijasnc9aVnXD8REp3QulH1zfDUbVk7oXSj65vhqNoQRERRERARdw4MN60O6FTJDO6RrWxF4MRa03DmNzxNOVnFd/3c4IaKGmnmbJUl0cUj2hz47Xa0uF7R6XCIiCIiKLZNaKcYnAGYjvWnMRjY5w8bmGxGtFOMTrGYjvWnMRjY532uYbFrnuJJJNycyTtRB7iSSTcnMk7VwiIoiIgKocDG/PiZPkE7vmpXfMuOjJHHNn3XnT7X3speiI9hA2yOmwrrHCPvTG6FIWNsJo7vhccu+2sJ8VwyPoOxa3go35/LqfiZjephAD7/vGaNlHTsd055Ygu8g2yOmwojx9I0tJDgWlpIcDkWkZOBGwgghehOB/ej8jpuPlbaoqACQdY49WR22HPE7pIHghc7r8GsU26kdcbCL6c0XjystxZt4p1cNpZtxFUBFFFuGzfniJ3OgdkLGocDqdWw+4u9A5wu88Je/Abn012EGolu2FpzsfCkI8Vtx1kgbV5qe8uJc4kucSSTmSSbkk7SSSUI4RERRWTuetKzrh+Io2rJ3PWlZ1w/ERKd0LpR9c3w1G1ZO6F0o+ub4ajaEEREUREQUzgB/b5v4Y/wC5GrJvt/Yav+Hm/kco3wA/t838Mf8AcjVk32/sNV/DzfyORl5PC2TWinGJ1jMR3rTmIxscftcw2IxopwCbGYjvWnMRjnP2uYbFrnOJJJNydSdqKPcSSSbk5knauERFEREBERAREQZ+4O7EtJUR1MJs+M3sdHA/SY77Lhl+eoC9R72924q2mjqYT3rxm06scMnMdbwgcvzXlzcDceWrqI6aEXfIdTo1o+k932WjP8BqQvUm9vcOKip46aEd6wZk6vcc3PdbwiblErPBtkdOdfDdbdKOmhfPM7DHG0ucerYBtJNgBtJCyiFiboUTJY3wzND45GlrgdoORH/6iPLu+3fDJX1L6mS4vkxmyNg+iwdO0naSVp1vd+m9p+59U6nfct+lFIfDjOh+8NCOccxC0SKIiIorJ3PWlZ1w/EUbVk7nrSs64fiIlO6F0o+ub4ajasndC6UfXN8NRtCC7TvD3lP3TdM1kzYuJDCcTC/FjxgWs4Wtg/NdWVF4Gt81LRPqnVUvFiRsQZ3r33LTIXfQabWxN150G05DZvPY/YO7ROQ2bz2P2Du0Xe+VHcrzr/Sm7Nc8qO5fnX+lN2aI1vB1wcv3NqJJ31DJQ+Ix4Wxllrua69y4+L+a7tupTumhlia7CXxvaHEXsXAgG20AlYG5W+mlqpTBBLje1mNzcL2kNuBc4mi2ZGWua21XUtijdI82Yxpc42Js1ouTYZnIbEEZdwHzkkmujJOpMLs/9Rcchs3nsfsHdou98qW5XnX+lN2acqO5XnX+lN2aDoT+A6YAn5bHl/6Du0UmjdcA84uvSknChuWQR8q2H91N2a81RCzQDsARX7RERRERAT+8s/yRVLgX3l8c8boTtvFG75hp0fI05yW8VhFh9oHxcyO8cFG8v5DT8bMP/EzAF9/3bdWxDp2u5zzhoXfEXUuErfWNz6QvaRx8l2QjXvrZvI5mjPrwjaiMSXhFhG6o3OywWwGa+lQTlHzWt3t/GIC7uQvHZcScRJxE3LrnFfUuvre+d16S4Lt93y+kGMj5RDZkw2nxJbczgD6Q4bEV9+EPem2vpTHkJWXdA87HbWOPiu0PoOwLzRPC5jnMe0te0lrmuyLXA2IPSCvYRCkPDNvHLr7oU7buAAnYNXAZNkHO4CwPOLc2YiMIiIorJ3PWlZ1w/EUbVk7nrSs64fiIlO6F0o+ub4ajasndC6UfXN8NRtCCIgRQLZNaKcXNjMRkNRGDtP2ujYjQKcXNjMRkNRGDtP2ujYtc5xJJJuTqSiKbwCOJr5yTcmndcnb85GrFvt/Yav8Ah5v5HKN8AP7fN/DH/cjVk32/sNX/AA838jkR5OXK4XKNCIiAiIgIiIP3BhxNxhxZcYgw2cW374NJyBtex2Kv0XDRDFGyKOgc1jGhrWtlbYNAsAO9UdREWjlyZ5k/2rf0qbb999L90akzvGBgAbFHe+Bupz2uJuSeobAtAiAt5vM3yybn1TahgxCxbJHewew6i+wg2IPOOkrRoirRy5M8yf7Vv6V+X8N8ZBBonkEWIMrbEHUHvVGURG53UEVQ+SSmYYzcniXEOOHW7SNSOb+zpl+o3lpDmmxGYI2LOkAnLcAtK42c0DvT9u+zpCDXqzdz/GWirLgW3MVsQIv9ZpfVTejmhhkawAPdez5ToDpZo69qqnAqH8ZXNkcXWMWG/MeMIsNP+kGF3QLC4UhaCQDLcgE2+r15lGVd+GUP42iDHFovMX28UcXr7vSpJM+Goe5oAY+5wPH0X8wcOc8//SDSBbJoFOLmxmIyGojB2n7fRsX4ieIL3HzwJABGTPtdJOxYLnEm5NydSUUc4k3JuTqSuERBSeAedrK6Yvc1o+TnNxA8OPnVf3118RoqoCSMk081gHt8R3SvKrmg6gHrXAhb4o/AIj9LlERRERAREQZe7G57qeeWneCHRPcw322Peu6iLOHQQsRemt+e8Cl3Rs+TFHMBYTRWDiNjXAghw6xcbCLldLPAa3z13sR+tE1GUVm5DG+eu9iO0TkMb5672I7RBGUVm5DG+eu9iO0TkMb5672I7RBGUVm5DG+eu9iO0TkMb5672I7RBGUVm5DG+eu9iO0TkMb5672I7RBGVtKc8VTl4+nKS1p2ho+kR6f6KpchjfPXexHaL71HAy17WM+WECMEfUjO+ZP00ESV74DoXmlknePpkMa46ubHiF/xcR6CsXc3gSp2vDp6iWVo8BrRED0OcCXW6iCqTS0zImtjhbgYwBrWsADWgZAAIJ3w7xyCljlYO9a8sefFbJax9Lmtb/7lCV66qaZkrXRzND2PBa5rwC1wORBCm26XAlTueXQVEsTT4DmiUN6GuJDrdZJQSKvPGwsm8NpwPPP4p/vnWrVti4GWtY+L5YSH2z4kZYc/HXw5DG+eu9iO0QRlFZuQxvnrvYjtE5DG+eu9iO0QRlFZuQxvnrvYjtE5DG+eu9iO0QRlFZuQxvnrvYjtE5DG+eu9iO0QRlFZuQxvnrvYjtE5DG+eu9iO0QRlZe4+57qieKnYCXSvawW2XPfO6gLuPQCq2OA1vnrvYj9a7pvM3gUu513x4pJiLGaWxcBta0AANHULnaShrP3z77qWgaDUyYXO+jG0F8jukNGg+0bDpXUTw10Pkav1Iu1UV3x7rPq6qapkJJkeSL+Cy54tg5g1th+J1JWuQxe+Wuh8jV+pF2qctdD5Gr9SLtVBEQxe+Wuh8jV+pF2qctdD5Gr9SLtVBEQxe+Wuh8jV+pF2qctdD5Gr9SLtVBEQxe+Wuh8jV+pF2qctdD5Gr9SLtVBEQxe+Wuh8jV+pF2q+sPC9Rlj5RFUkNIxNwR4hfbbjLWXn9ZO51WY33AuDk5vjA7OtDHoLcnhUoai4vLCG2xOmaALHbdjnWHOTYDau7CQYQW2INiCDcEHMEHmXlqnp+LeJobvi0ezwmg/Sa5uuX9PSrFwO1j+InpXEuZA5phJztFICQ2/MHNdZEUN0gwlzrAAEkk2AA1N+ZdJ3Y4VKGmcGEyzXFw6FrSLc93ubcdIvdY3C/WOEENOCRHK4umt4UcYBwdTnObcbQCFGZKfE8z1ALWk95F4brfRaG7AirJUcL1G0Me6Kp78EhuCPFbnI4y1l8uWuh8jV+pF2qhddVmV5e7qA2ADQBfBDF75a6HyNX6kXapy10Pkav1Iu1UERDF75a6HyNX6kXapy10Pkav1Iu1UERDF75a6HyNX6kXapy10Pkav1Iu1UERDF75a6HyNX6kXapy10Pkav1Iu1UERDF7HDXQ+Rq/Ui7Vdu3sb7qSvaTTSYnN+lG4FkjektOo+0LjpXlZbHe5us+kqoamMkGN4Jt4TLjjGHoc24/A6gIY1yIiKIiICIiAiIgIiAIAC2QApxc2MxGQ1EYO087/d7wApxc2MxGQ1EQO087/d79c51zc5k6koj9xVD2uxNcQ7aQdevnVo4Dt0XSsqsebhxYva1wcdtPSomrH3Pjbis64fiIVkcOe6D420uDIuMgva+gZe1+tRh1Q8uxlxLtQ4nNV/uhBYUfXN8NRxCNlIwTgvYLSjN7Bo/nc0c/OFrVzG8tIINiMwRsWxewTguaLSjNzBo/wC00c/OEGtRERRERAREQEREBERAREQERdx3scGtZXU7amB9MI3FwAlfI112OLDcNjcNQdqI6cio3Ituj5Sj9rL2Kci26PlKP2svYoJyio3Ituj5Sj9rL2Kci26PlKP2svYoJyAtkAKcXNjORkNREDtPO/3e+gUXBBXRtLmyUhl0BL5cLBzt+azd1jJYjuBfdE5mWjJ2kyy9ignDnXNzmTqSi5e2xI5jb8Fwiisnc9aVnXD8RRtWTuetKzrh+IiU7oXSj65vhqNqyd0LpR9c3w1G0ILljyCCDYjMEbFwiK2T2CcFzRaUZuYNH87mjn5wtauWPIIINiMwRsWxewTguaAJRm5g0fzuaPG5wiPhubuXNUOLYIpJXNFyI2l5A0uQNl1sP8HV/mVT7F//AAu7dz/+11H+QP5wrqg8gV1FJC8xzMdG8Wux4LXC4uLg56EFfBd04Yv/ADao6ov9ti6WgIiIoiIgIiICvHBFvipIdzIo5qqnieHzEsklYxwBkeQS1xBzBBUHREeq/wDGG5/n1J7eL9Sf4w3P8+pPbxfqXlREMeqxvvoNPltJ7eP9S4m310IJa6spW21BnjB/AuXmOnmbE0PaQ6V2nNGNL9L/AHe/Bcb5nMnaUMeq/wDGG5/n1J7eL9S4O/Cg8+pPbx/qXlVEMfuY9877x96/CIiisnc9aVnXD8RRtWTuetKzrh+IiU7oXSj65vhqNqyd0LpR9c3w1G0IIiIouWPIIINiMwRsXCIO+bwN9jaSWWcQ8ZK+PC6NrsGKxDsbcjnlmF2rlyb5k72w/Qo0x5BBBsRmCNizauRkjeMybILYm7H38JvMecIjN357vCuq5KoMMeMMGAuxWwtDfpWHMtIiIoiIgIiICIiD708YsXuFwDYAeE47OrafRzqqbyuDWCvomTzySseXPFoDEGtwuczCLxk7Be5Od1M4cuL+y18np74j+VipfB1wkUlDQx004mMjXSEljA4d+9zxmXDYQiOwP4HqNwsZqgB2YtxIw22NPFadd18+RiiALeNqidjsTL57co8PPsWWeFuhbe7ajvMj823wtPD6FxytUBIOGo74Fw+bboy5d4f2XIjF5EKLzir9aHsk5EKLzir9aHsll8r1A4YsNTYEC2BozOnh9BX6dwr0LXWwTghpJwxtsQLjx9ckGGzgWo2kO4+qOYycYSPSOKX6n4GqN5saiquBqDCCb8/zWyyyRwv0DrENqLYgPq26m9vD60fwt0Lb3bUd7ZjrMbrnbw9Mig8/yNsSOYkfnZflbEVBGCwJa7jLsGWK7nAXttzb+C4fK0OZiwlwJvgaMLQRZrftWOf9SiseopcIJxA2OFwAIsc+fUZFVnuftKzmvFc9XGf8qWsLmmQmQiz7EhocXHPOxItofxVa4B3AsrXAWBcyw5snIPxw6tDhSttYnjiOsCN35i6j9M0d85wuGi9ucnJo6r+5WLhx+soet/54ApAz6pwGRDhiyHfX+j32otY5dKD6VJABa7BjysGMwlpyJBcAARbLbmsJZW6Lu+te7m3DnWDbm/MPesVARERQBFTeBfc+KWeVksUcnzIfaRocBd4aNegE+lViXebQG7nUVKXHaYWHoGZCJry1ZAF3zhLomQboujiAZD82ziWDCxoLG6NGQN8R6102IlrJLEghzQSMj4QIuNl7IMS65ItqttIZA9reMccV7kj6JGbsI2G20W1WPPciRrnF2HC5pdmQCQPzDh+CDBRERRERBnszLLeFC4DrGMW/L81r1lU8lwG4sLmnExx06Wk7NARs151zV2wi4YHX0jN8tt7EjXT0oj61P77rYuIP3X3JPiLmpItIcTTiwYbOBOWuQzG3VcQEYWEub3rZAQSL3OLDZup1CD5QfVn/ADGe5yzav6x3+U/8y63vWDGPmnffZ7nL71kh78vw43WbhaQbAG5vYm1yBl1oOKa4EVhcl7n2GV8NgPcVzUEnjbgg2Y6xz0sL3H3kBAaHYm2ERaBcXxOvcYdfCK4DhhxYm/VYSLi9we973XY1BzS/uf8A5FhQjMdYWbSkWjN2gNx4rkA58wOZ9CwY3WIPMQfwQZlUe9k/zv6OVY7n8/N1g6Y/c5SzCLuxYTG52IOxgEa6AG5OellT+590qz0xX9PGIPtw4fWUJ5jIfwDHFR+L6p/3mf8A2Kr3DzIGtpbA3PHAE9PFgn8MvSpEwfN9cg/IH/lBxX/WP+8VxDTlwxEhrRq52l+YWzJ6AlcfnH/ePvX1qyOMDPBYQ33Yj6TcoPz8nYcmyi/2mlo/H/lfCWMtOFwsRsWbuk6M3wWxcY7TxbD8rr4uOKIE6scGg/ZcCQPQQfxQUDgj3WhpqqR9RKyJppmWLzYGxBKq53+bmu0rac2zNnjQZkrzXE+4aWluJoLS15ADmm+0kDaRa/Mhe0SDSxbhdhuRdwLXEc4F/wAkHbuEuujqK50sL2yRvfDhew3abMANj1rqDj3s3WP5ivqJS1rcRYcF8GEhxcToTY5AXvnZY9OLse27QSW/SIbkL3zOWtkGwn+sZ1v9yxZ/3v3I/h/8L7yztL2uxizMQOtzsFss7r41JHzhxNIdhw2cCTa2wZjIbbIMBERFANgWZVUzY2hrjeU2JAOTBzHncfy9/bN/e9t25k0kjWlzJXuMMuHvI2uN8F9OMF7C+oFxtXRyb5lEEREUREQZFO9uEtc7D3zXXsTpcEZbc18qh+JznDQknPpN1+EQEREBERAVk7nrSs64fiKOxMLnBjQXOcbNa0FznHmDRmT0BejOCXeo+hpCZhaad2N7dcAAsxhI2gXJ6XEbESuq90LpR9c3w1H4ahzfom3RkR12O1eiuFreo+upAYReaB2NjdMYIs9gJ2kWI6WgbV5zlYWuLHAtc02c1wLXNPM5pzB6ChH5Jusydhk+cbmbDG0agjLFbxTrfrWGuWuINwSDzjI/iiuY4y42aCTzDNfeos1ojBBN8TiMxfQNB22F/SV+H1khFi9xHMSfzXxRBERFEREBERBmU9K2RneX41tyWnwxzt6RzLDXLHEEEGxGYI2Lu28bey7dKeOXCWxxyNNQ+3zbw03wtOmN1g0jYDfoJF+3e/ZZfuH3LyZJqesrhEI4RERRERAREQEREBERBV+AP66b7o/qreiIyKIcPn10P3T/AEREEoRERoREQEREBERAREQfqLUdYXrLcL9li/ywiIlf/9k="/>
          <p:cNvSpPr>
            <a:spLocks noChangeAspect="1" noChangeArrowheads="1"/>
          </p:cNvSpPr>
          <p:nvPr/>
        </p:nvSpPr>
        <p:spPr bwMode="auto">
          <a:xfrm>
            <a:off x="155575" y="-1790700"/>
            <a:ext cx="3714750"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4823" name="AutoShape 7" descr="data:image/jpeg;base64,/9j/4AAQSkZJRgABAQAAAQABAAD/2wCEAAkGBxQTEhUSEhQVFhUWFxkZFxUTGBoVGBgaGB4YFhUXGBUYHyggGxolHBcVITEhJS0rLi4uGh80ODMtNygtLisBCgoKDQ0MFA8NGC8ZFBksKys3LCw3LCsrLCssKyw3KysrKyssKysrKysrNysrKysrKysrKysrKysrKysrLCsrK//AABEIAOEA4AMBIgACEQEDEQH/xAAcAAEBAAIDAQEAAAAAAAAAAAAABwQFAQYIAwL/xABNEAABAwIDAQkLCQYGAAcAAAABAAIDBBESITFBBQYHExdRYXHTCCJCUlNUgZKTscMUIzIzYnKRodI0Q3SywfAWc6Oz0fEkNWOCg8Lh/8QAFgEBAQEAAAAAAAAAAAAAAAAAAAEC/8QAFhEBAQEAAAAAAAAAAAAAAAAAAAER/9oADAMBAAIRAxEAPwDC4Qd+U1ZJJDSyyMige5pjYSwzBpLTJiabubcGzNLWNrqb3X6jkLSHNJDgbgjW6z5YxOC9gtIM3xjwud7B7x/ZK1yIiKIiICIiAiIgIiIMrc7dOancHwSyROBveNxb+I0cOg3C9HcGe+07oUmOQATRuwShuQJsC14GwOB02EELzOrJ3PWlZ1w/ERK7pwmb7TufSY4wDNI7BFizANiXPI2hoGm02C85bo7pzVDy+eWSVxN7yOLvwGjR0CwVZ7oXSj65vhqNoQRERRERAREQEREBERACpG8HfnNRSxQVMskkcz2tMb3YuIDu9a/E7MC5F2A2tc2uuktaKcYnAGYi7WnMRjY5w8bmGxa5zyTckkk3vtvzojhfqOQtIc02IzBGxflEVsZYxOC9gtIM3xjwud7B7x/Z1y/UUhaQ4Egg3BGoVNPBPPURx1EVRS2kaHYmmTA++YeO8uL7QiJgipvInW+Xpvxk/Qum77t68258whnwkuaHMey5Y4aGxIBuDkR1c4QaREWy3ubiS1tQymgAxvubuuGtaM3OcQDYDL0kDaitaipvInW+Xpvxk/QvnUcDNWxrnvqKVrWguc4ukAAGZJODQBETZFy8C5sbi5sbEXGw2OYv05rhFFZO560rOuH4ijasnc9aVnXD8REp3QulH1zfDUbVk7oXSj65vhqNoQRERRERARdw4MN60O6FTJDO6RrWxF4MRa03DmNzxNOVnFd/3c4IaKGmnmbJUl0cUj2hz47Xa0uF7R6XCIiCIiKLZNaKcYnAGYjvWnMRjY5w8bmGxGtFOMTrGYjvWnMRjY532uYbFrnuJJJNycyTtRB7iSSTcnMk7VwiIoiIgKocDG/PiZPkE7vmpXfMuOjJHHNn3XnT7X3speiI9hA2yOmwrrHCPvTG6FIWNsJo7vhccu+2sJ8VwyPoOxa3go35/LqfiZjephAD7/vGaNlHTsd055Ygu8g2yOmwojx9I0tJDgWlpIcDkWkZOBGwgghehOB/ej8jpuPlbaoqACQdY49WR22HPE7pIHghc7r8GsU26kdcbCL6c0XjystxZt4p1cNpZtxFUBFFFuGzfniJ3OgdkLGocDqdWw+4u9A5wu88Je/Abn012EGolu2FpzsfCkI8Vtx1kgbV5qe8uJc4kucSSTmSSbkk7SSSUI4RERRWTuetKzrh+Io2rJ3PWlZ1w/ERKd0LpR9c3w1G1ZO6F0o+ub4ajaEEREUREQUzgB/b5v4Y/wC5GrJvt/Yav+Hm/kco3wA/t838Mf8AcjVk32/sNV/DzfyORl5PC2TWinGJ1jMR3rTmIxscftcw2IxopwCbGYjvWnMRjnP2uYbFrnOJJJNydSdqKPcSSSbk5knauERFEREBERAREQZ+4O7EtJUR1MJs+M3sdHA/SY77Lhl+eoC9R72924q2mjqYT3rxm06scMnMdbwgcvzXlzcDceWrqI6aEXfIdTo1o+k932WjP8BqQvUm9vcOKip46aEd6wZk6vcc3PdbwiblErPBtkdOdfDdbdKOmhfPM7DHG0ucerYBtJNgBtJCyiFiboUTJY3wzND45GlrgdoORH/6iPLu+3fDJX1L6mS4vkxmyNg+iwdO0naSVp1vd+m9p+59U6nfct+lFIfDjOh+8NCOccxC0SKIiIorJ3PWlZ1w/EUbVk7nrSs64fiIlO6F0o+ub4ajasndC6UfXN8NRtCC7TvD3lP3TdM1kzYuJDCcTC/FjxgWs4Wtg/NdWVF4Gt81LRPqnVUvFiRsQZ3r33LTIXfQabWxN150G05DZvPY/YO7ROQ2bz2P2Du0Xe+VHcrzr/Sm7Nc8qO5fnX+lN2aI1vB1wcv3NqJJ31DJQ+Ix4Wxllrua69y4+L+a7tupTumhlia7CXxvaHEXsXAgG20AlYG5W+mlqpTBBLje1mNzcL2kNuBc4mi2ZGWua21XUtijdI82Yxpc42Js1ouTYZnIbEEZdwHzkkmujJOpMLs/9Rcchs3nsfsHdou98qW5XnX+lN2acqO5XnX+lN2aDoT+A6YAn5bHl/6Du0UmjdcA84uvSknChuWQR8q2H91N2a81RCzQDsARX7RERRERAT+8s/yRVLgX3l8c8boTtvFG75hp0fI05yW8VhFh9oHxcyO8cFG8v5DT8bMP/EzAF9/3bdWxDp2u5zzhoXfEXUuErfWNz6QvaRx8l2QjXvrZvI5mjPrwjaiMSXhFhG6o3OywWwGa+lQTlHzWt3t/GIC7uQvHZcScRJxE3LrnFfUuvre+d16S4Lt93y+kGMj5RDZkw2nxJbczgD6Q4bEV9+EPem2vpTHkJWXdA87HbWOPiu0PoOwLzRPC5jnMe0te0lrmuyLXA2IPSCvYRCkPDNvHLr7oU7buAAnYNXAZNkHO4CwPOLc2YiMIiIorJ3PWlZ1w/EUbVk7nrSs64fiIlO6F0o+ub4ajasndC6UfXN8NRtCCIgRQLZNaKcXNjMRkNRGDtP2ujYjQKcXNjMRkNRGDtP2ujYtc5xJJJuTqSiKbwCOJr5yTcmndcnb85GrFvt/Yav8Ah5v5HKN8AP7fN/DH/cjVk32/sNX/AA838jkR5OXK4XKNCIiAiIgIiIP3BhxNxhxZcYgw2cW374NJyBtex2Kv0XDRDFGyKOgc1jGhrWtlbYNAsAO9UdREWjlyZ5k/2rf0qbb999L90akzvGBgAbFHe+Bupz2uJuSeobAtAiAt5vM3yybn1TahgxCxbJHewew6i+wg2IPOOkrRoirRy5M8yf7Vv6V+X8N8ZBBonkEWIMrbEHUHvVGURG53UEVQ+SSmYYzcniXEOOHW7SNSOb+zpl+o3lpDmmxGYI2LOkAnLcAtK42c0DvT9u+zpCDXqzdz/GWirLgW3MVsQIv9ZpfVTejmhhkawAPdez5ToDpZo69qqnAqH8ZXNkcXWMWG/MeMIsNP+kGF3QLC4UhaCQDLcgE2+r15lGVd+GUP42iDHFovMX28UcXr7vSpJM+Goe5oAY+5wPH0X8wcOc8//SDSBbJoFOLmxmIyGojB2n7fRsX4ieIL3HzwJABGTPtdJOxYLnEm5NydSUUc4k3JuTqSuERBSeAedrK6Yvc1o+TnNxA8OPnVf3118RoqoCSMk081gHt8R3SvKrmg6gHrXAhb4o/AIj9LlERRERAREQZe7G57qeeWneCHRPcw322Peu6iLOHQQsRemt+e8Cl3Rs+TFHMBYTRWDiNjXAghw6xcbCLldLPAa3z13sR+tE1GUVm5DG+eu9iO0TkMb5672I7RBGUVm5DG+eu9iO0TkMb5672I7RBGUVm5DG+eu9iO0TkMb5672I7RBGUVm5DG+eu9iO0TkMb5672I7RBGVtKc8VTl4+nKS1p2ho+kR6f6KpchjfPXexHaL71HAy17WM+WECMEfUjO+ZP00ESV74DoXmlknePpkMa46ubHiF/xcR6CsXc3gSp2vDp6iWVo8BrRED0OcCXW6iCqTS0zImtjhbgYwBrWsADWgZAAIJ3w7xyCljlYO9a8sefFbJax9Lmtb/7lCV66qaZkrXRzND2PBa5rwC1wORBCm26XAlTueXQVEsTT4DmiUN6GuJDrdZJQSKvPGwsm8NpwPPP4p/vnWrVti4GWtY+L5YSH2z4kZYc/HXw5DG+eu9iO0QRlFZuQxvnrvYjtE5DG+eu9iO0QRlFZuQxvnrvYjtE5DG+eu9iO0QRlFZuQxvnrvYjtE5DG+eu9iO0QRlFZuQxvnrvYjtE5DG+eu9iO0QRlZe4+57qieKnYCXSvawW2XPfO6gLuPQCq2OA1vnrvYj9a7pvM3gUu513x4pJiLGaWxcBta0AANHULnaShrP3z77qWgaDUyYXO+jG0F8jukNGg+0bDpXUTw10Pkav1Iu1UV3x7rPq6qapkJJkeSL+Cy54tg5g1th+J1JWuQxe+Wuh8jV+pF2qctdD5Gr9SLtVBEQxe+Wuh8jV+pF2qctdD5Gr9SLtVBEQxe+Wuh8jV+pF2qctdD5Gr9SLtVBEQxe+Wuh8jV+pF2qctdD5Gr9SLtVBEQxe+Wuh8jV+pF2q+sPC9Rlj5RFUkNIxNwR4hfbbjLWXn9ZO51WY33AuDk5vjA7OtDHoLcnhUoai4vLCG2xOmaALHbdjnWHOTYDau7CQYQW2INiCDcEHMEHmXlqnp+LeJobvi0ezwmg/Sa5uuX9PSrFwO1j+InpXEuZA5phJztFICQ2/MHNdZEUN0gwlzrAAEkk2AA1N+ZdJ3Y4VKGmcGEyzXFw6FrSLc93ubcdIvdY3C/WOEENOCRHK4umt4UcYBwdTnObcbQCFGZKfE8z1ALWk95F4brfRaG7AirJUcL1G0Me6Kp78EhuCPFbnI4y1l8uWuh8jV+pF2qhddVmV5e7qA2ADQBfBDF75a6HyNX6kXapy10Pkav1Iu1UERDF75a6HyNX6kXapy10Pkav1Iu1UERDF75a6HyNX6kXapy10Pkav1Iu1UERDF75a6HyNX6kXapy10Pkav1Iu1UERDF7HDXQ+Rq/Ui7Vdu3sb7qSvaTTSYnN+lG4FkjektOo+0LjpXlZbHe5us+kqoamMkGN4Jt4TLjjGHoc24/A6gIY1yIiKIiICIiAiIgIiAIAC2QApxc2MxGQ1EYO087/d7wApxc2MxGQ1EQO087/d79c51zc5k6koj9xVD2uxNcQ7aQdevnVo4Dt0XSsqsebhxYva1wcdtPSomrH3Pjbis64fiIVkcOe6D420uDIuMgva+gZe1+tRh1Q8uxlxLtQ4nNV/uhBYUfXN8NRxCNlIwTgvYLSjN7Bo/nc0c/OFrVzG8tIINiMwRsWxewTguaLSjNzBo/wC00c/OEGtRERRERAREQEREBERAREQERdx3scGtZXU7amB9MI3FwAlfI112OLDcNjcNQdqI6cio3Ituj5Sj9rL2Kci26PlKP2svYoJyio3Ituj5Sj9rL2Kci26PlKP2svYoJyAtkAKcXNjORkNREDtPO/3e+gUXBBXRtLmyUhl0BL5cLBzt+azd1jJYjuBfdE5mWjJ2kyy9ignDnXNzmTqSi5e2xI5jb8Fwiisnc9aVnXD8RRtWTuetKzrh+IiU7oXSj65vhqNqyd0LpR9c3w1G0ILljyCCDYjMEbFwiK2T2CcFzRaUZuYNH87mjn5wtauWPIIINiMwRsWxewTguaAJRm5g0fzuaPG5wiPhubuXNUOLYIpJXNFyI2l5A0uQNl1sP8HV/mVT7F//AAu7dz/+11H+QP5wrqg8gV1FJC8xzMdG8Wux4LXC4uLg56EFfBd04Yv/ADao6ov9ti6WgIiIoiIgIiICvHBFvipIdzIo5qqnieHzEsklYxwBkeQS1xBzBBUHREeq/wDGG5/n1J7eL9Sf4w3P8+pPbxfqXlREMeqxvvoNPltJ7eP9S4m310IJa6spW21BnjB/AuXmOnmbE0PaQ6V2nNGNL9L/AHe/Bcb5nMnaUMeq/wDGG5/n1J7eL9S4O/Cg8+pPbx/qXlVEMfuY9877x96/CIiisnc9aVnXD8RRtWTuetKzrh+IiU7oXSj65vhqNqyd0LpR9c3w1G0IIiIouWPIIINiMwRsXCIO+bwN9jaSWWcQ8ZK+PC6NrsGKxDsbcjnlmF2rlyb5k72w/Qo0x5BBBsRmCNizauRkjeMybILYm7H38JvMecIjN357vCuq5KoMMeMMGAuxWwtDfpWHMtIiIoiIgIiICIiD708YsXuFwDYAeE47OrafRzqqbyuDWCvomTzySseXPFoDEGtwuczCLxk7Be5Od1M4cuL+y18np74j+VipfB1wkUlDQx004mMjXSEljA4d+9zxmXDYQiOwP4HqNwsZqgB2YtxIw22NPFadd18+RiiALeNqidjsTL57co8PPsWWeFuhbe7ajvMj823wtPD6FxytUBIOGo74Fw+bboy5d4f2XIjF5EKLzir9aHsk5EKLzir9aHsll8r1A4YsNTYEC2BozOnh9BX6dwr0LXWwTghpJwxtsQLjx9ckGGzgWo2kO4+qOYycYSPSOKX6n4GqN5saiquBqDCCb8/zWyyyRwv0DrENqLYgPq26m9vD60fwt0Lb3bUd7ZjrMbrnbw9Mig8/yNsSOYkfnZflbEVBGCwJa7jLsGWK7nAXttzb+C4fK0OZiwlwJvgaMLQRZrftWOf9SiseopcIJxA2OFwAIsc+fUZFVnuftKzmvFc9XGf8qWsLmmQmQiz7EhocXHPOxItofxVa4B3AsrXAWBcyw5snIPxw6tDhSttYnjiOsCN35i6j9M0d85wuGi9ucnJo6r+5WLhx+soet/54ApAz6pwGRDhiyHfX+j32otY5dKD6VJABa7BjysGMwlpyJBcAARbLbmsJZW6Lu+te7m3DnWDbm/MPesVARERQBFTeBfc+KWeVksUcnzIfaRocBd4aNegE+lViXebQG7nUVKXHaYWHoGZCJry1ZAF3zhLomQboujiAZD82ziWDCxoLG6NGQN8R6102IlrJLEghzQSMj4QIuNl7IMS65ItqttIZA9reMccV7kj6JGbsI2G20W1WPPciRrnF2HC5pdmQCQPzDh+CDBRERRERBnszLLeFC4DrGMW/L81r1lU8lwG4sLmnExx06Wk7NARs151zV2wi4YHX0jN8tt7EjXT0oj61P77rYuIP3X3JPiLmpItIcTTiwYbOBOWuQzG3VcQEYWEub3rZAQSL3OLDZup1CD5QfVn/ADGe5yzav6x3+U/8y63vWDGPmnffZ7nL71kh78vw43WbhaQbAG5vYm1yBl1oOKa4EVhcl7n2GV8NgPcVzUEnjbgg2Y6xz0sL3H3kBAaHYm2ERaBcXxOvcYdfCK4DhhxYm/VYSLi9we973XY1BzS/uf8A5FhQjMdYWbSkWjN2gNx4rkA58wOZ9CwY3WIPMQfwQZlUe9k/zv6OVY7n8/N1g6Y/c5SzCLuxYTG52IOxgEa6AG5OellT+590qz0xX9PGIPtw4fWUJ5jIfwDHFR+L6p/3mf8A2Kr3DzIGtpbA3PHAE9PFgn8MvSpEwfN9cg/IH/lBxX/WP+8VxDTlwxEhrRq52l+YWzJ6AlcfnH/ePvX1qyOMDPBYQ33Yj6TcoPz8nYcmyi/2mlo/H/lfCWMtOFwsRsWbuk6M3wWxcY7TxbD8rr4uOKIE6scGg/ZcCQPQQfxQUDgj3WhpqqR9RKyJppmWLzYGxBKq53+bmu0rac2zNnjQZkrzXE+4aWluJoLS15ADmm+0kDaRa/Mhe0SDSxbhdhuRdwLXEc4F/wAkHbuEuujqK50sL2yRvfDhew3abMANj1rqDj3s3WP5ivqJS1rcRYcF8GEhxcToTY5AXvnZY9OLse27QSW/SIbkL3zOWtkGwn+sZ1v9yxZ/3v3I/h/8L7yztL2uxizMQOtzsFss7r41JHzhxNIdhw2cCTa2wZjIbbIMBERFANgWZVUzY2hrjeU2JAOTBzHncfy9/bN/e9t25k0kjWlzJXuMMuHvI2uN8F9OMF7C+oFxtXRyb5lEEREUREQZFO9uEtc7D3zXXsTpcEZbc18qh+JznDQknPpN1+EQEREBERAVk7nrSs64fiKOxMLnBjQXOcbNa0FznHmDRmT0BejOCXeo+hpCZhaad2N7dcAAsxhI2gXJ6XEbESuq90LpR9c3w1H4ahzfom3RkR12O1eiuFreo+upAYReaB2NjdMYIs9gJ2kWI6WgbV5zlYWuLHAtc02c1wLXNPM5pzB6ChH5Jusydhk+cbmbDG0agjLFbxTrfrWGuWuINwSDzjI/iiuY4y42aCTzDNfeos1ojBBN8TiMxfQNB22F/SV+H1khFi9xHMSfzXxRBERFEREBERBmU9K2RneX41tyWnwxzt6RzLDXLHEEEGxGYI2Lu28bey7dKeOXCWxxyNNQ+3zbw03wtOmN1g0jYDfoJF+3e/ZZfuH3LyZJqesrhEI4RERRERAREQEREBERBV+AP66b7o/qreiIyKIcPn10P3T/AEREEoRERoREQEREBERAREQfqLUdYXrLcL9li/ywiIlf/9k="/>
          <p:cNvSpPr>
            <a:spLocks noChangeAspect="1" noChangeArrowheads="1"/>
          </p:cNvSpPr>
          <p:nvPr/>
        </p:nvSpPr>
        <p:spPr bwMode="auto">
          <a:xfrm>
            <a:off x="155575" y="-1790700"/>
            <a:ext cx="3714750"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pic>
        <p:nvPicPr>
          <p:cNvPr id="34825" name="Picture 9" descr="http://www.ethicalwiki.com/resources/mathicon.png"/>
          <p:cNvPicPr>
            <a:picLocks noChangeAspect="1" noChangeArrowheads="1"/>
          </p:cNvPicPr>
          <p:nvPr/>
        </p:nvPicPr>
        <p:blipFill>
          <a:blip r:embed="rId2" cstate="print"/>
          <a:srcRect/>
          <a:stretch>
            <a:fillRect/>
          </a:stretch>
        </p:blipFill>
        <p:spPr bwMode="auto">
          <a:xfrm>
            <a:off x="4788024" y="404664"/>
            <a:ext cx="710208" cy="710208"/>
          </a:xfrm>
          <a:prstGeom prst="rect">
            <a:avLst/>
          </a:prstGeom>
          <a:noFill/>
        </p:spPr>
      </p:pic>
      <p:grpSp>
        <p:nvGrpSpPr>
          <p:cNvPr id="17" name="Group 16"/>
          <p:cNvGrpSpPr/>
          <p:nvPr/>
        </p:nvGrpSpPr>
        <p:grpSpPr>
          <a:xfrm>
            <a:off x="467544" y="1700808"/>
            <a:ext cx="6048672" cy="2258235"/>
            <a:chOff x="467544" y="1700808"/>
            <a:chExt cx="6048672" cy="2258235"/>
          </a:xfrm>
        </p:grpSpPr>
        <p:pic>
          <p:nvPicPr>
            <p:cNvPr id="7" name="Picture 14"/>
            <p:cNvPicPr>
              <a:picLocks noChangeAspect="1" noChangeArrowheads="1"/>
            </p:cNvPicPr>
            <p:nvPr/>
          </p:nvPicPr>
          <p:blipFill>
            <a:blip r:embed="rId3" cstate="print"/>
            <a:srcRect/>
            <a:stretch>
              <a:fillRect/>
            </a:stretch>
          </p:blipFill>
          <p:spPr bwMode="auto">
            <a:xfrm>
              <a:off x="2483768" y="1700808"/>
              <a:ext cx="4032448" cy="2258235"/>
            </a:xfrm>
            <a:prstGeom prst="rect">
              <a:avLst/>
            </a:prstGeom>
            <a:noFill/>
            <a:ln w="9525">
              <a:noFill/>
              <a:miter lim="800000"/>
              <a:headEnd/>
              <a:tailEnd/>
            </a:ln>
            <a:effectLst/>
          </p:spPr>
        </p:pic>
        <p:sp>
          <p:nvSpPr>
            <p:cNvPr id="15" name="TextBox 14"/>
            <p:cNvSpPr txBox="1"/>
            <p:nvPr/>
          </p:nvSpPr>
          <p:spPr>
            <a:xfrm>
              <a:off x="467544" y="2060848"/>
              <a:ext cx="1224136" cy="369332"/>
            </a:xfrm>
            <a:prstGeom prst="rect">
              <a:avLst/>
            </a:prstGeom>
            <a:noFill/>
          </p:spPr>
          <p:txBody>
            <a:bodyPr wrap="square" rtlCol="0">
              <a:spAutoFit/>
            </a:bodyPr>
            <a:lstStyle/>
            <a:p>
              <a:r>
                <a:rPr lang="en-IN" b="1" u="sng" dirty="0" smtClean="0"/>
                <a:t>Example-1</a:t>
              </a:r>
              <a:endParaRPr lang="en-IN" b="1" u="sng" dirty="0"/>
            </a:p>
          </p:txBody>
        </p:sp>
      </p:grpSp>
      <p:grpSp>
        <p:nvGrpSpPr>
          <p:cNvPr id="28" name="Group 27"/>
          <p:cNvGrpSpPr/>
          <p:nvPr/>
        </p:nvGrpSpPr>
        <p:grpSpPr>
          <a:xfrm>
            <a:off x="467544" y="4293096"/>
            <a:ext cx="7138420" cy="1584176"/>
            <a:chOff x="467544" y="4293096"/>
            <a:chExt cx="7138420" cy="1584176"/>
          </a:xfrm>
        </p:grpSpPr>
        <p:pic>
          <p:nvPicPr>
            <p:cNvPr id="14" name="Picture 14"/>
            <p:cNvPicPr>
              <a:picLocks noChangeAspect="1" noChangeArrowheads="1"/>
            </p:cNvPicPr>
            <p:nvPr/>
          </p:nvPicPr>
          <p:blipFill>
            <a:blip r:embed="rId4" cstate="print"/>
            <a:srcRect/>
            <a:stretch>
              <a:fillRect/>
            </a:stretch>
          </p:blipFill>
          <p:spPr bwMode="auto">
            <a:xfrm>
              <a:off x="1187624" y="4437112"/>
              <a:ext cx="6418340" cy="1440160"/>
            </a:xfrm>
            <a:prstGeom prst="rect">
              <a:avLst/>
            </a:prstGeom>
            <a:noFill/>
            <a:ln w="9525">
              <a:noFill/>
              <a:miter lim="800000"/>
              <a:headEnd/>
              <a:tailEnd/>
            </a:ln>
            <a:effectLst/>
          </p:spPr>
        </p:pic>
        <p:sp>
          <p:nvSpPr>
            <p:cNvPr id="16" name="TextBox 15"/>
            <p:cNvSpPr txBox="1"/>
            <p:nvPr/>
          </p:nvSpPr>
          <p:spPr>
            <a:xfrm>
              <a:off x="467544" y="4293096"/>
              <a:ext cx="1224136" cy="369332"/>
            </a:xfrm>
            <a:prstGeom prst="rect">
              <a:avLst/>
            </a:prstGeom>
            <a:noFill/>
          </p:spPr>
          <p:txBody>
            <a:bodyPr wrap="square" rtlCol="0">
              <a:spAutoFit/>
            </a:bodyPr>
            <a:lstStyle/>
            <a:p>
              <a:r>
                <a:rPr lang="en-IN" b="1" u="sng" dirty="0" smtClean="0"/>
                <a:t>Example-2</a:t>
              </a:r>
              <a:endParaRPr lang="en-IN" b="1" u="sng" dirty="0"/>
            </a:p>
          </p:txBody>
        </p:sp>
      </p:grpSp>
      <p:grpSp>
        <p:nvGrpSpPr>
          <p:cNvPr id="29" name="Group 28"/>
          <p:cNvGrpSpPr/>
          <p:nvPr/>
        </p:nvGrpSpPr>
        <p:grpSpPr>
          <a:xfrm>
            <a:off x="3419872" y="4797152"/>
            <a:ext cx="2448272" cy="1656184"/>
            <a:chOff x="3419872" y="4797152"/>
            <a:chExt cx="2448272" cy="1656184"/>
          </a:xfrm>
        </p:grpSpPr>
        <p:sp>
          <p:nvSpPr>
            <p:cNvPr id="19" name="TextBox 18"/>
            <p:cNvSpPr txBox="1"/>
            <p:nvPr/>
          </p:nvSpPr>
          <p:spPr>
            <a:xfrm>
              <a:off x="3419872" y="6084004"/>
              <a:ext cx="2088232" cy="369332"/>
            </a:xfrm>
            <a:prstGeom prst="rect">
              <a:avLst/>
            </a:prstGeom>
            <a:noFill/>
          </p:spPr>
          <p:txBody>
            <a:bodyPr wrap="square" rtlCol="0">
              <a:spAutoFit/>
            </a:bodyPr>
            <a:lstStyle/>
            <a:p>
              <a:r>
                <a:rPr lang="en-IN" dirty="0" smtClean="0"/>
                <a:t>52 = 5x7 + 2x8 + 1x1</a:t>
              </a:r>
              <a:endParaRPr lang="en-IN" dirty="0"/>
            </a:p>
          </p:txBody>
        </p:sp>
        <p:grpSp>
          <p:nvGrpSpPr>
            <p:cNvPr id="27" name="Group 26"/>
            <p:cNvGrpSpPr/>
            <p:nvPr/>
          </p:nvGrpSpPr>
          <p:grpSpPr>
            <a:xfrm>
              <a:off x="3707904" y="4797152"/>
              <a:ext cx="2160240" cy="1080120"/>
              <a:chOff x="3707904" y="4797152"/>
              <a:chExt cx="2160240" cy="1080120"/>
            </a:xfrm>
          </p:grpSpPr>
          <p:sp>
            <p:nvSpPr>
              <p:cNvPr id="21" name="Oval 20"/>
              <p:cNvSpPr/>
              <p:nvPr/>
            </p:nvSpPr>
            <p:spPr>
              <a:xfrm>
                <a:off x="3707904" y="4941168"/>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p:cNvSpPr/>
              <p:nvPr/>
            </p:nvSpPr>
            <p:spPr>
              <a:xfrm>
                <a:off x="4211960" y="4941168"/>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p:cNvSpPr/>
              <p:nvPr/>
            </p:nvSpPr>
            <p:spPr>
              <a:xfrm>
                <a:off x="4788024" y="4941168"/>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5580112" y="4797152"/>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p:cNvSpPr/>
              <p:nvPr/>
            </p:nvSpPr>
            <p:spPr>
              <a:xfrm>
                <a:off x="5580112" y="5157192"/>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p:cNvSpPr/>
              <p:nvPr/>
            </p:nvSpPr>
            <p:spPr>
              <a:xfrm>
                <a:off x="5580112" y="5517232"/>
                <a:ext cx="28803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30" name="Oval 29"/>
          <p:cNvSpPr/>
          <p:nvPr/>
        </p:nvSpPr>
        <p:spPr>
          <a:xfrm>
            <a:off x="1259632" y="4941168"/>
            <a:ext cx="360040" cy="360040"/>
          </a:xfrm>
          <a:prstGeom prst="ellipse">
            <a:avLst/>
          </a:prstGeom>
          <a:noFill/>
          <a:ln w="349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0412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87680" cy="4525963"/>
          </a:xfrm>
        </p:spPr>
        <p:txBody>
          <a:bodyPr/>
          <a:lstStyle/>
          <a:p>
            <a:pPr marL="0" indent="0" algn="just">
              <a:spcBef>
                <a:spcPts val="0"/>
              </a:spcBef>
            </a:pPr>
            <a:endParaRPr lang="en-US" dirty="0" smtClean="0"/>
          </a:p>
          <a:p>
            <a:pPr marL="0" indent="0" algn="just">
              <a:spcBef>
                <a:spcPts val="0"/>
              </a:spcBef>
            </a:pPr>
            <a:endParaRPr lang="en-US" dirty="0" smtClean="0"/>
          </a:p>
          <a:p>
            <a:pPr marL="0" indent="0" algn="just">
              <a:spcBef>
                <a:spcPts val="0"/>
              </a:spcBef>
            </a:pPr>
            <a:endParaRPr lang="en-US" dirty="0" smtClean="0"/>
          </a:p>
          <a:p>
            <a:pPr marL="0" indent="0" algn="just">
              <a:spcBef>
                <a:spcPts val="0"/>
              </a:spcBef>
            </a:pPr>
            <a:endParaRPr lang="en-US" dirty="0" smtClean="0"/>
          </a:p>
          <a:p>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Matrix - Determinant</a:t>
            </a:r>
          </a:p>
        </p:txBody>
      </p:sp>
      <p:pic>
        <p:nvPicPr>
          <p:cNvPr id="12" name="Picture 9" descr="http://www.ethicalwiki.com/resources/mathicon.png"/>
          <p:cNvPicPr>
            <a:picLocks noChangeAspect="1" noChangeArrowheads="1"/>
          </p:cNvPicPr>
          <p:nvPr/>
        </p:nvPicPr>
        <p:blipFill>
          <a:blip r:embed="rId2" cstate="print"/>
          <a:srcRect/>
          <a:stretch>
            <a:fillRect/>
          </a:stretch>
        </p:blipFill>
        <p:spPr bwMode="auto">
          <a:xfrm>
            <a:off x="4788024" y="404664"/>
            <a:ext cx="710208" cy="710208"/>
          </a:xfrm>
          <a:prstGeom prst="rect">
            <a:avLst/>
          </a:prstGeom>
          <a:noFill/>
        </p:spPr>
      </p:pic>
      <p:grpSp>
        <p:nvGrpSpPr>
          <p:cNvPr id="13" name="Group 12"/>
          <p:cNvGrpSpPr/>
          <p:nvPr/>
        </p:nvGrpSpPr>
        <p:grpSpPr>
          <a:xfrm>
            <a:off x="1115616" y="1772816"/>
            <a:ext cx="6840760" cy="1953508"/>
            <a:chOff x="1115616" y="1772816"/>
            <a:chExt cx="6840760" cy="1953508"/>
          </a:xfrm>
        </p:grpSpPr>
        <p:pic>
          <p:nvPicPr>
            <p:cNvPr id="35844" name="Picture 4"/>
            <p:cNvPicPr>
              <a:picLocks noChangeAspect="1" noChangeArrowheads="1"/>
            </p:cNvPicPr>
            <p:nvPr/>
          </p:nvPicPr>
          <p:blipFill>
            <a:blip r:embed="rId3" cstate="print"/>
            <a:srcRect/>
            <a:stretch>
              <a:fillRect/>
            </a:stretch>
          </p:blipFill>
          <p:spPr bwMode="auto">
            <a:xfrm>
              <a:off x="1187624" y="1772816"/>
              <a:ext cx="6591300" cy="1447800"/>
            </a:xfrm>
            <a:prstGeom prst="rect">
              <a:avLst/>
            </a:prstGeom>
            <a:noFill/>
            <a:ln w="9525">
              <a:noFill/>
              <a:miter lim="800000"/>
              <a:headEnd/>
              <a:tailEnd/>
            </a:ln>
          </p:spPr>
        </p:pic>
        <p:sp>
          <p:nvSpPr>
            <p:cNvPr id="11" name="Rectangle 10"/>
            <p:cNvSpPr/>
            <p:nvPr/>
          </p:nvSpPr>
          <p:spPr>
            <a:xfrm>
              <a:off x="1115616" y="3356992"/>
              <a:ext cx="6840760" cy="369332"/>
            </a:xfrm>
            <a:prstGeom prst="rect">
              <a:avLst/>
            </a:prstGeom>
          </p:spPr>
          <p:txBody>
            <a:bodyPr wrap="square">
              <a:spAutoFit/>
            </a:bodyPr>
            <a:lstStyle/>
            <a:p>
              <a:pPr algn="just"/>
              <a:r>
                <a:rPr lang="en-US" dirty="0" smtClean="0"/>
                <a:t>Where </a:t>
              </a:r>
              <a:r>
                <a:rPr lang="en-US" dirty="0" err="1" smtClean="0"/>
                <a:t>A</a:t>
              </a:r>
              <a:r>
                <a:rPr lang="en-US" baseline="-25000" dirty="0" err="1" smtClean="0"/>
                <a:t>ij</a:t>
              </a:r>
              <a:r>
                <a:rPr lang="en-US" dirty="0" smtClean="0"/>
                <a:t> is a matrix obtained from A by deleting </a:t>
              </a:r>
              <a:r>
                <a:rPr lang="en-US" dirty="0" err="1" smtClean="0"/>
                <a:t>i</a:t>
              </a:r>
              <a:r>
                <a:rPr lang="en-US" baseline="30000" dirty="0" err="1" smtClean="0"/>
                <a:t>th</a:t>
              </a:r>
              <a:r>
                <a:rPr lang="en-US" dirty="0" smtClean="0"/>
                <a:t> row and </a:t>
              </a:r>
              <a:r>
                <a:rPr lang="en-US" dirty="0" err="1" smtClean="0"/>
                <a:t>j</a:t>
              </a:r>
              <a:r>
                <a:rPr lang="en-US" baseline="30000" dirty="0" err="1" smtClean="0"/>
                <a:t>th</a:t>
              </a:r>
              <a:r>
                <a:rPr lang="en-US" dirty="0" smtClean="0"/>
                <a:t> column.</a:t>
              </a:r>
            </a:p>
          </p:txBody>
        </p:sp>
      </p:grpSp>
      <p:grpSp>
        <p:nvGrpSpPr>
          <p:cNvPr id="15" name="Group 14"/>
          <p:cNvGrpSpPr/>
          <p:nvPr/>
        </p:nvGrpSpPr>
        <p:grpSpPr>
          <a:xfrm>
            <a:off x="648072" y="4864444"/>
            <a:ext cx="7956376" cy="1516884"/>
            <a:chOff x="648072" y="4864444"/>
            <a:chExt cx="7956376" cy="1516884"/>
          </a:xfrm>
        </p:grpSpPr>
        <p:pic>
          <p:nvPicPr>
            <p:cNvPr id="7" name="Picture 15"/>
            <p:cNvPicPr>
              <a:picLocks noChangeAspect="1" noChangeArrowheads="1"/>
            </p:cNvPicPr>
            <p:nvPr/>
          </p:nvPicPr>
          <p:blipFill>
            <a:blip r:embed="rId4" cstate="print"/>
            <a:srcRect/>
            <a:stretch>
              <a:fillRect/>
            </a:stretch>
          </p:blipFill>
          <p:spPr bwMode="auto">
            <a:xfrm>
              <a:off x="648072" y="4864444"/>
              <a:ext cx="7956376" cy="1516884"/>
            </a:xfrm>
            <a:prstGeom prst="rect">
              <a:avLst/>
            </a:prstGeom>
            <a:noFill/>
            <a:ln w="9525">
              <a:noFill/>
              <a:miter lim="800000"/>
              <a:headEnd/>
              <a:tailEnd/>
            </a:ln>
            <a:effectLst/>
          </p:spPr>
        </p:pic>
        <p:sp>
          <p:nvSpPr>
            <p:cNvPr id="14" name="TextBox 13"/>
            <p:cNvSpPr txBox="1"/>
            <p:nvPr/>
          </p:nvSpPr>
          <p:spPr>
            <a:xfrm>
              <a:off x="683568" y="5877272"/>
              <a:ext cx="1224136" cy="369332"/>
            </a:xfrm>
            <a:prstGeom prst="rect">
              <a:avLst/>
            </a:prstGeom>
            <a:noFill/>
          </p:spPr>
          <p:txBody>
            <a:bodyPr wrap="square" rtlCol="0">
              <a:spAutoFit/>
            </a:bodyPr>
            <a:lstStyle/>
            <a:p>
              <a:pPr algn="ctr"/>
              <a:r>
                <a:rPr lang="en-IN" b="1" u="sng" dirty="0" smtClean="0"/>
                <a:t>Example</a:t>
              </a:r>
              <a:endParaRPr lang="en-IN" b="1" u="sng" dirty="0"/>
            </a:p>
          </p:txBody>
        </p:sp>
      </p:grpSp>
    </p:spTree>
    <p:extLst>
      <p:ext uri="{BB962C8B-B14F-4D97-AF65-F5344CB8AC3E}">
        <p14:creationId xmlns:p14="http://schemas.microsoft.com/office/powerpoint/2010/main" val="96459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vert="horz" lIns="91440" tIns="45720" rIns="91440" bIns="45720" rtlCol="0">
                <a:normAutofit/>
              </a:bodyPr>
              <a:lstStyle/>
              <a:p>
                <a:pPr>
                  <a:buChar char="•"/>
                </a:pPr>
                <a:r>
                  <a:rPr lang="en-IN" sz="3200" dirty="0" smtClean="0">
                    <a:solidFill>
                      <a:prstClr val="black"/>
                    </a:solidFill>
                  </a:rPr>
                  <a:t>Find out determinant of</a:t>
                </a:r>
              </a:p>
              <a:p>
                <a:pPr>
                  <a:buChar char="•"/>
                </a:pPr>
                <a14:m>
                  <m:oMath xmlns:m="http://schemas.openxmlformats.org/officeDocument/2006/math">
                    <m:m>
                      <m:mPr>
                        <m:mcs>
                          <m:mc>
                            <m:mcPr>
                              <m:count m:val="3"/>
                              <m:mcJc m:val="center"/>
                            </m:mcPr>
                          </m:mc>
                        </m:mcs>
                        <m:ctrlPr>
                          <a:rPr lang="en-IN" sz="3200" i="1" smtClean="0">
                            <a:solidFill>
                              <a:prstClr val="black"/>
                            </a:solidFill>
                            <a:latin typeface="Cambria Math" panose="02040503050406030204" pitchFamily="18" charset="0"/>
                          </a:rPr>
                        </m:ctrlPr>
                      </m:mPr>
                      <m:mr>
                        <m:e>
                          <m:r>
                            <m:rPr>
                              <m:brk m:alnAt="7"/>
                            </m:rPr>
                            <a:rPr lang="en-US" sz="3200" b="0" i="1" smtClean="0">
                              <a:solidFill>
                                <a:prstClr val="black"/>
                              </a:solidFill>
                              <a:latin typeface="Cambria Math" panose="02040503050406030204" pitchFamily="18" charset="0"/>
                            </a:rPr>
                            <m:t>5</m:t>
                          </m:r>
                        </m:e>
                        <m:e>
                          <m:r>
                            <a:rPr lang="en-US" sz="3200" b="0" i="1" smtClean="0">
                              <a:solidFill>
                                <a:prstClr val="black"/>
                              </a:solidFill>
                              <a:latin typeface="Cambria Math" panose="02040503050406030204" pitchFamily="18" charset="0"/>
                            </a:rPr>
                            <m:t>3</m:t>
                          </m:r>
                        </m:e>
                        <m:e>
                          <m:r>
                            <a:rPr lang="en-US" sz="3200" b="0" i="1" smtClean="0">
                              <a:solidFill>
                                <a:prstClr val="black"/>
                              </a:solidFill>
                              <a:latin typeface="Cambria Math" panose="02040503050406030204" pitchFamily="18" charset="0"/>
                            </a:rPr>
                            <m:t>1</m:t>
                          </m:r>
                        </m:e>
                      </m:mr>
                      <m:mr>
                        <m:e>
                          <m:r>
                            <a:rPr lang="en-US" sz="3200" b="0" i="1" smtClean="0">
                              <a:solidFill>
                                <a:prstClr val="black"/>
                              </a:solidFill>
                              <a:latin typeface="Cambria Math" panose="02040503050406030204" pitchFamily="18" charset="0"/>
                            </a:rPr>
                            <m:t>4</m:t>
                          </m:r>
                        </m:e>
                        <m:e>
                          <m:r>
                            <a:rPr lang="en-US" sz="3200" b="0" i="1" smtClean="0">
                              <a:solidFill>
                                <a:prstClr val="black"/>
                              </a:solidFill>
                              <a:latin typeface="Cambria Math" panose="02040503050406030204" pitchFamily="18" charset="0"/>
                            </a:rPr>
                            <m:t>2</m:t>
                          </m:r>
                        </m:e>
                        <m:e>
                          <m:r>
                            <a:rPr lang="en-US" sz="3200" b="0" i="1" smtClean="0">
                              <a:solidFill>
                                <a:prstClr val="black"/>
                              </a:solidFill>
                              <a:latin typeface="Cambria Math" panose="02040503050406030204" pitchFamily="18" charset="0"/>
                            </a:rPr>
                            <m:t>0</m:t>
                          </m:r>
                        </m:e>
                      </m:mr>
                      <m:mr>
                        <m:e>
                          <m:r>
                            <a:rPr lang="en-US" sz="3200" b="0" i="1" smtClean="0">
                              <a:solidFill>
                                <a:prstClr val="black"/>
                              </a:solidFill>
                              <a:latin typeface="Cambria Math" panose="02040503050406030204" pitchFamily="18" charset="0"/>
                            </a:rPr>
                            <m:t>0</m:t>
                          </m:r>
                        </m:e>
                        <m:e>
                          <m:r>
                            <a:rPr lang="en-US" sz="3200" b="0" i="1" smtClean="0">
                              <a:solidFill>
                                <a:prstClr val="black"/>
                              </a:solidFill>
                              <a:latin typeface="Cambria Math" panose="02040503050406030204" pitchFamily="18" charset="0"/>
                            </a:rPr>
                            <m:t>5</m:t>
                          </m:r>
                        </m:e>
                        <m:e>
                          <m:r>
                            <a:rPr lang="en-US" sz="3200" b="0" i="1" smtClean="0">
                              <a:solidFill>
                                <a:prstClr val="black"/>
                              </a:solidFill>
                              <a:latin typeface="Cambria Math" panose="02040503050406030204" pitchFamily="18" charset="0"/>
                            </a:rPr>
                            <m:t>2</m:t>
                          </m:r>
                        </m:e>
                      </m:mr>
                    </m:m>
                  </m:oMath>
                </a14:m>
                <a:endParaRPr lang="en-IN" sz="3200" dirty="0">
                  <a:solidFill>
                    <a:prstClr val="black"/>
                  </a:solidFill>
                </a:endParaRPr>
              </a:p>
              <a:p>
                <a:pPr>
                  <a:buChar char="•"/>
                </a:pPr>
                <a:r>
                  <a:rPr lang="en-IN" sz="3200" dirty="0" smtClean="0">
                    <a:solidFill>
                      <a:prstClr val="black"/>
                    </a:solidFill>
                  </a:rPr>
                  <a:t>Answer </a:t>
                </a:r>
                <a:r>
                  <a:rPr lang="en-IN" sz="3200" smtClean="0">
                    <a:solidFill>
                      <a:prstClr val="black"/>
                    </a:solidFill>
                  </a:rPr>
                  <a:t>is ?</a:t>
                </a:r>
                <a:endParaRPr lang="en-IN" sz="3200" dirty="0" smtClean="0">
                  <a:solidFill>
                    <a:prstClr val="black"/>
                  </a:solidFill>
                </a:endParaRPr>
              </a:p>
              <a:p>
                <a:pPr>
                  <a:buChar char="•"/>
                </a:pPr>
                <a:endParaRPr lang="en-IN" sz="3200" dirty="0">
                  <a:solidFill>
                    <a:prstClr val="black"/>
                  </a:solidFill>
                </a:endParaRPr>
              </a:p>
              <a:p>
                <a:pPr>
                  <a:buChar char="•"/>
                </a:pPr>
                <a:endParaRPr lang="en-IN" sz="3200" dirty="0" smtClean="0">
                  <a:solidFill>
                    <a:prstClr val="black"/>
                  </a:solidFill>
                </a:endParaRPr>
              </a:p>
              <a:p>
                <a:pPr>
                  <a:buChar char="•"/>
                </a:pPr>
                <a:endParaRPr lang="en-IN" sz="3200" dirty="0">
                  <a:solidFill>
                    <a:prstClr val="black"/>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704" t="-1750"/>
                </a:stretch>
              </a:blipFill>
            </p:spPr>
            <p:txBody>
              <a:bodyPr/>
              <a:lstStyle/>
              <a:p>
                <a:r>
                  <a:rPr lang="en-IN">
                    <a:noFill/>
                  </a:rPr>
                  <a:t> </a:t>
                </a:r>
              </a:p>
            </p:txBody>
          </p:sp>
        </mc:Fallback>
      </mc:AlternateContent>
      <p:sp>
        <p:nvSpPr>
          <p:cNvPr id="3" name="Content Placeholder 2"/>
          <p:cNvSpPr>
            <a:spLocks noGrp="1"/>
          </p:cNvSpPr>
          <p:nvPr>
            <p:ph sz="quarter" idx="10"/>
          </p:nvPr>
        </p:nvSpPr>
        <p:spPr>
          <a:xfrm>
            <a:off x="304800" y="260648"/>
            <a:ext cx="6324600" cy="962744"/>
          </a:xfrm>
        </p:spPr>
        <p:txBody>
          <a:bodyPr vert="horz" lIns="91440" tIns="45720" rIns="91440" bIns="45720" rtlCol="0" anchor="ctr" anchorCtr="0">
            <a:normAutofit/>
          </a:bodyPr>
          <a:lstStyle/>
          <a:p>
            <a:pPr>
              <a:spcBef>
                <a:spcPct val="0"/>
              </a:spcBef>
            </a:pPr>
            <a:r>
              <a:rPr lang="en-IN" sz="3200" dirty="0"/>
              <a:t>Matrix </a:t>
            </a:r>
            <a:r>
              <a:rPr lang="en-IN" sz="3200" dirty="0" smtClean="0"/>
              <a:t>– Determinant Example</a:t>
            </a:r>
            <a:endParaRPr lang="en-IN" sz="3200" dirty="0"/>
          </a:p>
        </p:txBody>
      </p:sp>
    </p:spTree>
    <p:extLst>
      <p:ext uri="{BB962C8B-B14F-4D97-AF65-F5344CB8AC3E}">
        <p14:creationId xmlns:p14="http://schemas.microsoft.com/office/powerpoint/2010/main" val="57616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000"/>
                                        <p:tgtEl>
                                          <p:spTgt spid="2">
                                            <p:txEl>
                                              <p:pRg st="2" end="2"/>
                                            </p:txEl>
                                          </p:spTgt>
                                        </p:tgtEl>
                                      </p:cBhvr>
                                    </p:animEffect>
                                    <p:anim calcmode="lin" valueType="num">
                                      <p:cBhvr>
                                        <p:cTn id="1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20000"/>
          </a:bodyPr>
          <a:lstStyle/>
          <a:p>
            <a:pPr>
              <a:buChar char="•"/>
            </a:pPr>
            <a:r>
              <a:rPr lang="en-IN" sz="3200" dirty="0">
                <a:solidFill>
                  <a:prstClr val="black"/>
                </a:solidFill>
              </a:rPr>
              <a:t>Multiplicative Inverse (or just inverse) M</a:t>
            </a:r>
            <a:r>
              <a:rPr lang="en-IN" sz="3200" baseline="30000" dirty="0">
                <a:solidFill>
                  <a:prstClr val="black"/>
                </a:solidFill>
              </a:rPr>
              <a:t>-1</a:t>
            </a:r>
            <a:r>
              <a:rPr lang="en-IN" sz="3200" dirty="0">
                <a:solidFill>
                  <a:prstClr val="black"/>
                </a:solidFill>
              </a:rPr>
              <a:t> of a square matrix M is defined in such a way that M x M</a:t>
            </a:r>
            <a:r>
              <a:rPr lang="en-IN" sz="3200" baseline="30000" dirty="0">
                <a:solidFill>
                  <a:prstClr val="black"/>
                </a:solidFill>
              </a:rPr>
              <a:t>-1</a:t>
            </a:r>
            <a:r>
              <a:rPr lang="en-IN" sz="3200" dirty="0">
                <a:solidFill>
                  <a:prstClr val="black"/>
                </a:solidFill>
              </a:rPr>
              <a:t> = M</a:t>
            </a:r>
            <a:r>
              <a:rPr lang="en-IN" sz="3200" baseline="30000" dirty="0">
                <a:solidFill>
                  <a:prstClr val="black"/>
                </a:solidFill>
              </a:rPr>
              <a:t>-1 </a:t>
            </a:r>
            <a:r>
              <a:rPr lang="en-IN" sz="3200" dirty="0">
                <a:solidFill>
                  <a:prstClr val="black"/>
                </a:solidFill>
              </a:rPr>
              <a:t>x M = I, where I is the identity matrix. </a:t>
            </a:r>
          </a:p>
          <a:p>
            <a:pPr>
              <a:buChar char="•"/>
            </a:pPr>
            <a:endParaRPr lang="en-IN" sz="3200" dirty="0">
              <a:solidFill>
                <a:prstClr val="black"/>
              </a:solidFill>
            </a:endParaRPr>
          </a:p>
          <a:p>
            <a:pPr>
              <a:buChar char="•"/>
            </a:pPr>
            <a:r>
              <a:rPr lang="en-IN" sz="3200" dirty="0">
                <a:solidFill>
                  <a:prstClr val="black"/>
                </a:solidFill>
              </a:rPr>
              <a:t>In an identity matrix I, all the elements are 0 except main diagonal elements from upper left to lower right which are all </a:t>
            </a:r>
            <a:r>
              <a:rPr lang="en-IN" sz="3200" dirty="0" smtClean="0">
                <a:solidFill>
                  <a:prstClr val="black"/>
                </a:solidFill>
              </a:rPr>
              <a:t>1</a:t>
            </a:r>
            <a:endParaRPr lang="en-IN" sz="3200" dirty="0">
              <a:solidFill>
                <a:prstClr val="black"/>
              </a:solidFill>
            </a:endParaRPr>
          </a:p>
          <a:p>
            <a:pPr>
              <a:buChar char="•"/>
            </a:pPr>
            <a:endParaRPr lang="en-IN" sz="3200" dirty="0">
              <a:solidFill>
                <a:prstClr val="black"/>
              </a:solidFill>
            </a:endParaRPr>
          </a:p>
          <a:p>
            <a:pPr>
              <a:buChar char="•"/>
            </a:pPr>
            <a:endParaRPr lang="en-IN" sz="3200" dirty="0">
              <a:solidFill>
                <a:prstClr val="black"/>
              </a:solidFill>
            </a:endParaRPr>
          </a:p>
          <a:p>
            <a:pPr>
              <a:buChar char="•"/>
            </a:pPr>
            <a:r>
              <a:rPr lang="en-IN" sz="3200" dirty="0">
                <a:solidFill>
                  <a:prstClr val="black"/>
                </a:solidFill>
              </a:rPr>
              <a:t>It is not always possible to have an integer multiplicative inverse of an integer </a:t>
            </a:r>
            <a:r>
              <a:rPr lang="en-IN" sz="3200" dirty="0" smtClean="0">
                <a:solidFill>
                  <a:prstClr val="black"/>
                </a:solidFill>
              </a:rPr>
              <a:t>matrix</a:t>
            </a:r>
            <a:endParaRPr lang="en-IN"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t>Matrix – Inverse and Identity </a:t>
            </a:r>
          </a:p>
        </p:txBody>
      </p:sp>
      <p:pic>
        <p:nvPicPr>
          <p:cNvPr id="5" name="Picture 9" descr="http://www.ethicalwiki.com/resources/mathicon.png"/>
          <p:cNvPicPr>
            <a:picLocks noChangeAspect="1" noChangeArrowheads="1"/>
          </p:cNvPicPr>
          <p:nvPr/>
        </p:nvPicPr>
        <p:blipFill>
          <a:blip r:embed="rId2" cstate="print"/>
          <a:srcRect/>
          <a:stretch>
            <a:fillRect/>
          </a:stretch>
        </p:blipFill>
        <p:spPr bwMode="auto">
          <a:xfrm>
            <a:off x="5580112" y="404664"/>
            <a:ext cx="710208" cy="710208"/>
          </a:xfrm>
          <a:prstGeom prst="rect">
            <a:avLst/>
          </a:prstGeom>
          <a:noFill/>
        </p:spPr>
      </p:pic>
      <p:pic>
        <p:nvPicPr>
          <p:cNvPr id="6" name="Picture 5"/>
          <p:cNvPicPr/>
          <p:nvPr/>
        </p:nvPicPr>
        <p:blipFill>
          <a:blip r:embed="rId3" cstate="print"/>
          <a:srcRect l="86881" b="57241"/>
          <a:stretch>
            <a:fillRect/>
          </a:stretch>
        </p:blipFill>
        <p:spPr bwMode="auto">
          <a:xfrm>
            <a:off x="3467100" y="3812888"/>
            <a:ext cx="751737" cy="659219"/>
          </a:xfrm>
          <a:prstGeom prst="rect">
            <a:avLst/>
          </a:prstGeom>
          <a:noFill/>
          <a:ln w="9525">
            <a:noFill/>
            <a:miter lim="800000"/>
            <a:headEnd/>
            <a:tailEnd/>
          </a:ln>
          <a:effectLst/>
        </p:spPr>
      </p:pic>
      <p:sp>
        <p:nvSpPr>
          <p:cNvPr id="7" name="TextBox 6"/>
          <p:cNvSpPr txBox="1"/>
          <p:nvPr/>
        </p:nvSpPr>
        <p:spPr>
          <a:xfrm>
            <a:off x="3877926" y="4233673"/>
            <a:ext cx="2160240" cy="307777"/>
          </a:xfrm>
          <a:prstGeom prst="rect">
            <a:avLst/>
          </a:prstGeom>
          <a:noFill/>
        </p:spPr>
        <p:txBody>
          <a:bodyPr wrap="square" rtlCol="0">
            <a:spAutoFit/>
          </a:bodyPr>
          <a:lstStyle/>
          <a:p>
            <a:pPr algn="ctr"/>
            <a:r>
              <a:rPr lang="en-IN" sz="1400" b="1" u="sng" dirty="0" smtClean="0"/>
              <a:t>2x2 Identity Matrix</a:t>
            </a:r>
            <a:endParaRPr lang="en-IN" sz="1400" b="1" u="sng" dirty="0"/>
          </a:p>
        </p:txBody>
      </p:sp>
    </p:spTree>
    <p:extLst>
      <p:ext uri="{BB962C8B-B14F-4D97-AF65-F5344CB8AC3E}">
        <p14:creationId xmlns:p14="http://schemas.microsoft.com/office/powerpoint/2010/main" val="31659099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458560"/>
            <a:ext cx="8229600" cy="5256584"/>
          </a:xfrm>
        </p:spPr>
        <p:txBody>
          <a:bodyPr vert="horz" lIns="91440" tIns="45720" rIns="91440" bIns="45720" rtlCol="0">
            <a:normAutofit/>
          </a:bodyPr>
          <a:lstStyle/>
          <a:p>
            <a:pPr>
              <a:buClrTx/>
              <a:buChar char="•"/>
            </a:pPr>
            <a:r>
              <a:rPr lang="en-US" altLang="en-US" sz="3200" dirty="0">
                <a:solidFill>
                  <a:prstClr val="black"/>
                </a:solidFill>
                <a:cs typeface="+mn-cs"/>
              </a:rPr>
              <a:t>Example 2</a:t>
            </a:r>
          </a:p>
          <a:p>
            <a:pPr>
              <a:buClrTx/>
              <a:buChar char="•"/>
            </a:pPr>
            <a:endParaRPr lang="en-US" altLang="en-US" sz="3200" dirty="0">
              <a:solidFill>
                <a:prstClr val="black"/>
              </a:solidFill>
              <a:cs typeface="+mn-cs"/>
            </a:endParaRPr>
          </a:p>
          <a:p>
            <a:pPr>
              <a:buClrTx/>
              <a:buChar char="•"/>
            </a:pPr>
            <a:endParaRPr lang="en-US" altLang="en-US" sz="3200" dirty="0">
              <a:solidFill>
                <a:prstClr val="black"/>
              </a:solidFill>
              <a:cs typeface="+mn-cs"/>
            </a:endParaRPr>
          </a:p>
          <a:p>
            <a:pPr>
              <a:buClrTx/>
              <a:buChar char="•"/>
            </a:pPr>
            <a:r>
              <a:rPr lang="en-US" altLang="en-US" sz="3200" dirty="0" smtClean="0">
                <a:solidFill>
                  <a:prstClr val="black"/>
                </a:solidFill>
                <a:cs typeface="+mn-cs"/>
              </a:rPr>
              <a:t>The </a:t>
            </a:r>
            <a:r>
              <a:rPr lang="en-US" altLang="en-US" sz="3200" dirty="0">
                <a:solidFill>
                  <a:prstClr val="black"/>
                </a:solidFill>
                <a:cs typeface="+mn-cs"/>
              </a:rPr>
              <a:t>determinant of A is</a:t>
            </a:r>
          </a:p>
          <a:p>
            <a:pPr>
              <a:buClrTx/>
              <a:buChar char="•"/>
            </a:pPr>
            <a:endParaRPr lang="en-US" altLang="en-US" sz="3200" dirty="0">
              <a:solidFill>
                <a:prstClr val="black"/>
              </a:solidFill>
              <a:cs typeface="+mn-cs"/>
            </a:endParaRPr>
          </a:p>
          <a:p>
            <a:pPr>
              <a:buClrTx/>
              <a:buChar char="•"/>
            </a:pPr>
            <a:r>
              <a:rPr lang="en-US" altLang="en-US" sz="3200" dirty="0">
                <a:solidFill>
                  <a:prstClr val="black"/>
                </a:solidFill>
                <a:cs typeface="+mn-cs"/>
              </a:rPr>
              <a:t>The elements of the cofactor matrix are</a:t>
            </a:r>
          </a:p>
          <a:p>
            <a:pPr>
              <a:buClrTx/>
              <a:buChar char="•"/>
            </a:pPr>
            <a:endParaRPr lang="en-US" altLang="en-US" sz="3200" dirty="0">
              <a:solidFill>
                <a:prstClr val="black"/>
              </a:solidFill>
              <a:cs typeface="+mn-cs"/>
            </a:endParaRPr>
          </a:p>
          <a:p>
            <a:pPr>
              <a:buClrTx/>
              <a:buChar char="•"/>
            </a:pPr>
            <a:endParaRPr lang="en-US" sz="3200" dirty="0">
              <a:solidFill>
                <a:prstClr val="black"/>
              </a:solidFill>
              <a:cs typeface="+mn-cs"/>
            </a:endParaRPr>
          </a:p>
          <a:p>
            <a:pPr lvl="1"/>
            <a:endParaRPr lang="en-IN" dirty="0"/>
          </a:p>
          <a:p>
            <a:pPr lvl="1"/>
            <a:endParaRPr lang="en-IN" dirty="0"/>
          </a:p>
          <a:p>
            <a:pPr lvl="1"/>
            <a:endParaRPr lang="en-IN" dirty="0"/>
          </a:p>
        </p:txBody>
      </p:sp>
      <p:sp>
        <p:nvSpPr>
          <p:cNvPr id="3" name="Content Placeholder 2"/>
          <p:cNvSpPr>
            <a:spLocks noGrp="1"/>
          </p:cNvSpPr>
          <p:nvPr>
            <p:ph sz="quarter" idx="10"/>
          </p:nvPr>
        </p:nvSpPr>
        <p:spPr>
          <a:xfrm>
            <a:off x="323528" y="332656"/>
            <a:ext cx="6324600" cy="900336"/>
          </a:xfrm>
        </p:spPr>
        <p:txBody>
          <a:bodyPr vert="horz" lIns="91440" tIns="45720" rIns="91440" bIns="45720" rtlCol="0" anchor="ctr" anchorCtr="0">
            <a:normAutofit/>
          </a:bodyPr>
          <a:lstStyle/>
          <a:p>
            <a:pPr>
              <a:spcBef>
                <a:spcPct val="0"/>
              </a:spcBef>
            </a:pPr>
            <a:r>
              <a:rPr lang="en-US" altLang="en-US" sz="3200" dirty="0">
                <a:latin typeface="+mj-lt"/>
                <a:ea typeface="+mj-ea"/>
                <a:cs typeface="+mj-cs"/>
              </a:rPr>
              <a:t>Inverse Matrix example</a:t>
            </a:r>
            <a:endParaRPr lang="en-IN" sz="3200" dirty="0">
              <a:latin typeface="+mj-lt"/>
              <a:ea typeface="+mj-ea"/>
              <a:cs typeface="+mj-cs"/>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1818150440"/>
              </p:ext>
            </p:extLst>
          </p:nvPr>
        </p:nvGraphicFramePr>
        <p:xfrm>
          <a:off x="2591594" y="1786878"/>
          <a:ext cx="2209800" cy="1422400"/>
        </p:xfrm>
        <a:graphic>
          <a:graphicData uri="http://schemas.openxmlformats.org/presentationml/2006/ole">
            <mc:AlternateContent xmlns:mc="http://schemas.openxmlformats.org/markup-compatibility/2006">
              <mc:Choice xmlns:v="urn:schemas-microsoft-com:vml" Requires="v">
                <p:oleObj spid="_x0000_s5190" name="Equation" r:id="rId3" imgW="1104900" imgH="711200" progId="Equation.3">
                  <p:embed/>
                </p:oleObj>
              </mc:Choice>
              <mc:Fallback>
                <p:oleObj name="Equation" r:id="rId3" imgW="1104900" imgH="711200" progId="Equation.3">
                  <p:embed/>
                  <p:pic>
                    <p:nvPicPr>
                      <p:cNvPr id="0" name="Picture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594" y="1786878"/>
                        <a:ext cx="2209800" cy="142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5"/>
          <p:cNvSpPr txBox="1">
            <a:spLocks noChangeArrowheads="1"/>
          </p:cNvSpPr>
          <p:nvPr/>
        </p:nvSpPr>
        <p:spPr bwMode="auto">
          <a:xfrm>
            <a:off x="1485900" y="3814439"/>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dirty="0"/>
              <a:t>|</a:t>
            </a:r>
            <a:r>
              <a:rPr lang="en-US" altLang="en-US" b="1" dirty="0"/>
              <a:t>A</a:t>
            </a:r>
            <a:r>
              <a:rPr lang="en-US" altLang="en-US" dirty="0"/>
              <a:t>| = (3)(-1-0)-(-1)(-2-0)+(1)(4-1) = -2</a:t>
            </a:r>
          </a:p>
        </p:txBody>
      </p:sp>
      <p:graphicFrame>
        <p:nvGraphicFramePr>
          <p:cNvPr id="6" name="Object 6"/>
          <p:cNvGraphicFramePr>
            <a:graphicFrameLocks noChangeAspect="1"/>
          </p:cNvGraphicFramePr>
          <p:nvPr>
            <p:extLst>
              <p:ext uri="{D42A27DB-BD31-4B8C-83A1-F6EECF244321}">
                <p14:modId xmlns:p14="http://schemas.microsoft.com/office/powerpoint/2010/main" val="2139716569"/>
              </p:ext>
            </p:extLst>
          </p:nvPr>
        </p:nvGraphicFramePr>
        <p:xfrm>
          <a:off x="1495261" y="4969205"/>
          <a:ext cx="1600200" cy="1489075"/>
        </p:xfrm>
        <a:graphic>
          <a:graphicData uri="http://schemas.openxmlformats.org/presentationml/2006/ole">
            <mc:AlternateContent xmlns:mc="http://schemas.openxmlformats.org/markup-compatibility/2006">
              <mc:Choice xmlns:v="urn:schemas-microsoft-com:vml" Requires="v">
                <p:oleObj spid="_x0000_s5191" name="Equation" r:id="rId5" imgW="736600" imgH="685800" progId="Equation.3">
                  <p:embed/>
                </p:oleObj>
              </mc:Choice>
              <mc:Fallback>
                <p:oleObj name="Equation" r:id="rId5" imgW="736600" imgH="685800" progId="Equation.3">
                  <p:embed/>
                  <p:pic>
                    <p:nvPicPr>
                      <p:cNvPr id="0" name="Picture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5261" y="4969205"/>
                        <a:ext cx="1600200" cy="148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2995557949"/>
              </p:ext>
            </p:extLst>
          </p:nvPr>
        </p:nvGraphicFramePr>
        <p:xfrm>
          <a:off x="3678074" y="4969205"/>
          <a:ext cx="1655762" cy="1489075"/>
        </p:xfrm>
        <a:graphic>
          <a:graphicData uri="http://schemas.openxmlformats.org/presentationml/2006/ole">
            <mc:AlternateContent xmlns:mc="http://schemas.openxmlformats.org/markup-compatibility/2006">
              <mc:Choice xmlns:v="urn:schemas-microsoft-com:vml" Requires="v">
                <p:oleObj spid="_x0000_s5192" name="Equation" r:id="rId7" imgW="762000" imgH="685800" progId="Equation.3">
                  <p:embed/>
                </p:oleObj>
              </mc:Choice>
              <mc:Fallback>
                <p:oleObj name="Equation" r:id="rId7" imgW="762000" imgH="685800" progId="Equation.3">
                  <p:embed/>
                  <p:pic>
                    <p:nvPicPr>
                      <p:cNvPr id="0" name="Picture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78074" y="4969205"/>
                        <a:ext cx="1655762" cy="148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1350663006"/>
              </p:ext>
            </p:extLst>
          </p:nvPr>
        </p:nvGraphicFramePr>
        <p:xfrm>
          <a:off x="5906924" y="4969205"/>
          <a:ext cx="1462087" cy="1489075"/>
        </p:xfrm>
        <a:graphic>
          <a:graphicData uri="http://schemas.openxmlformats.org/presentationml/2006/ole">
            <mc:AlternateContent xmlns:mc="http://schemas.openxmlformats.org/markup-compatibility/2006">
              <mc:Choice xmlns:v="urn:schemas-microsoft-com:vml" Requires="v">
                <p:oleObj spid="_x0000_s5193" name="Equation" r:id="rId9" imgW="673100" imgH="685800" progId="Equation.3">
                  <p:embed/>
                </p:oleObj>
              </mc:Choice>
              <mc:Fallback>
                <p:oleObj name="Equation" r:id="rId9" imgW="673100" imgH="685800" progId="Equation.3">
                  <p:embed/>
                  <p:pic>
                    <p:nvPicPr>
                      <p:cNvPr id="0" name="Picture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6924" y="4969205"/>
                        <a:ext cx="1462087" cy="148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3800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458560"/>
            <a:ext cx="8229600" cy="5256584"/>
          </a:xfrm>
        </p:spPr>
        <p:txBody>
          <a:bodyPr vert="horz" lIns="91440" tIns="45720" rIns="91440" bIns="45720" rtlCol="0">
            <a:normAutofit/>
          </a:bodyPr>
          <a:lstStyle/>
          <a:p>
            <a:pPr>
              <a:buClrTx/>
              <a:buChar char="•"/>
            </a:pPr>
            <a:r>
              <a:rPr lang="en-US" altLang="en-US" sz="3200" dirty="0">
                <a:solidFill>
                  <a:prstClr val="black"/>
                </a:solidFill>
                <a:cs typeface="+mn-cs"/>
              </a:rPr>
              <a:t>The cofactor matrix is therefore</a:t>
            </a:r>
          </a:p>
          <a:p>
            <a:pPr>
              <a:buClrTx/>
              <a:buChar char="•"/>
            </a:pPr>
            <a:endParaRPr lang="en-US" altLang="en-US" sz="3200" dirty="0">
              <a:solidFill>
                <a:prstClr val="black"/>
              </a:solidFill>
              <a:cs typeface="+mn-cs"/>
            </a:endParaRPr>
          </a:p>
          <a:p>
            <a:pPr>
              <a:buClrTx/>
              <a:buChar char="•"/>
            </a:pPr>
            <a:endParaRPr lang="en-US" altLang="en-US" sz="3200" dirty="0">
              <a:solidFill>
                <a:prstClr val="black"/>
              </a:solidFill>
              <a:cs typeface="+mn-cs"/>
            </a:endParaRPr>
          </a:p>
        </p:txBody>
      </p:sp>
      <p:sp>
        <p:nvSpPr>
          <p:cNvPr id="3" name="Content Placeholder 2"/>
          <p:cNvSpPr>
            <a:spLocks noGrp="1"/>
          </p:cNvSpPr>
          <p:nvPr>
            <p:ph sz="quarter" idx="10"/>
          </p:nvPr>
        </p:nvSpPr>
        <p:spPr>
          <a:xfrm>
            <a:off x="323528" y="332656"/>
            <a:ext cx="6324600" cy="900336"/>
          </a:xfrm>
        </p:spPr>
        <p:txBody>
          <a:bodyPr vert="horz" lIns="91440" tIns="45720" rIns="91440" bIns="45720" rtlCol="0" anchor="ctr" anchorCtr="0">
            <a:normAutofit/>
          </a:bodyPr>
          <a:lstStyle/>
          <a:p>
            <a:pPr>
              <a:spcBef>
                <a:spcPct val="0"/>
              </a:spcBef>
            </a:pPr>
            <a:r>
              <a:rPr lang="en-US" altLang="en-US" sz="3200" dirty="0">
                <a:latin typeface="+mj-lt"/>
                <a:ea typeface="+mj-ea"/>
                <a:cs typeface="+mj-cs"/>
              </a:rPr>
              <a:t>Inverse Matrix </a:t>
            </a:r>
            <a:r>
              <a:rPr lang="en-US" altLang="en-US" sz="3200" dirty="0" smtClean="0">
                <a:latin typeface="+mj-lt"/>
                <a:ea typeface="+mj-ea"/>
                <a:cs typeface="+mj-cs"/>
              </a:rPr>
              <a:t>example Contd..</a:t>
            </a:r>
            <a:endParaRPr lang="en-IN" sz="3200" dirty="0">
              <a:latin typeface="+mj-lt"/>
              <a:ea typeface="+mj-ea"/>
              <a:cs typeface="+mj-cs"/>
            </a:endParaRPr>
          </a:p>
        </p:txBody>
      </p:sp>
      <p:graphicFrame>
        <p:nvGraphicFramePr>
          <p:cNvPr id="9" name="Object 3"/>
          <p:cNvGraphicFramePr>
            <a:graphicFrameLocks noChangeAspect="1"/>
          </p:cNvGraphicFramePr>
          <p:nvPr>
            <p:extLst>
              <p:ext uri="{D42A27DB-BD31-4B8C-83A1-F6EECF244321}">
                <p14:modId xmlns:p14="http://schemas.microsoft.com/office/powerpoint/2010/main" val="1442771960"/>
              </p:ext>
            </p:extLst>
          </p:nvPr>
        </p:nvGraphicFramePr>
        <p:xfrm>
          <a:off x="2295361" y="1925300"/>
          <a:ext cx="2514600" cy="1422400"/>
        </p:xfrm>
        <a:graphic>
          <a:graphicData uri="http://schemas.openxmlformats.org/presentationml/2006/ole">
            <mc:AlternateContent xmlns:mc="http://schemas.openxmlformats.org/markup-compatibility/2006">
              <mc:Choice xmlns:v="urn:schemas-microsoft-com:vml" Requires="v">
                <p:oleObj spid="_x0000_s6197" name="Equation" r:id="rId3" imgW="1257300" imgH="711200" progId="Equation.3">
                  <p:embed/>
                </p:oleObj>
              </mc:Choice>
              <mc:Fallback>
                <p:oleObj name="Equation" r:id="rId3" imgW="1257300" imgH="711200" progId="Equation.3">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5361" y="1925300"/>
                        <a:ext cx="2514600" cy="142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5"/>
          <p:cNvSpPr txBox="1">
            <a:spLocks noChangeArrowheads="1"/>
          </p:cNvSpPr>
          <p:nvPr/>
        </p:nvSpPr>
        <p:spPr bwMode="auto">
          <a:xfrm>
            <a:off x="685800" y="3352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so</a:t>
            </a:r>
          </a:p>
        </p:txBody>
      </p:sp>
      <p:graphicFrame>
        <p:nvGraphicFramePr>
          <p:cNvPr id="15" name="Object 6"/>
          <p:cNvGraphicFramePr>
            <a:graphicFrameLocks noChangeAspect="1"/>
          </p:cNvGraphicFramePr>
          <p:nvPr>
            <p:extLst>
              <p:ext uri="{D42A27DB-BD31-4B8C-83A1-F6EECF244321}">
                <p14:modId xmlns:p14="http://schemas.microsoft.com/office/powerpoint/2010/main" val="600223839"/>
              </p:ext>
            </p:extLst>
          </p:nvPr>
        </p:nvGraphicFramePr>
        <p:xfrm>
          <a:off x="1409700" y="3532326"/>
          <a:ext cx="3479800" cy="1422400"/>
        </p:xfrm>
        <a:graphic>
          <a:graphicData uri="http://schemas.openxmlformats.org/presentationml/2006/ole">
            <mc:AlternateContent xmlns:mc="http://schemas.openxmlformats.org/markup-compatibility/2006">
              <mc:Choice xmlns:v="urn:schemas-microsoft-com:vml" Requires="v">
                <p:oleObj spid="_x0000_s6198" name="Equation" r:id="rId5" imgW="1739900" imgH="711200" progId="Equation.3">
                  <p:embed/>
                </p:oleObj>
              </mc:Choice>
              <mc:Fallback>
                <p:oleObj name="Equation" r:id="rId5" imgW="1739900" imgH="711200" progId="Equation.3">
                  <p:embed/>
                  <p:pic>
                    <p:nvPicPr>
                      <p:cNvPr id="0"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9700" y="3532326"/>
                        <a:ext cx="3479800" cy="142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 Box 7"/>
          <p:cNvSpPr txBox="1">
            <a:spLocks noChangeArrowheads="1"/>
          </p:cNvSpPr>
          <p:nvPr/>
        </p:nvSpPr>
        <p:spPr bwMode="auto">
          <a:xfrm>
            <a:off x="609600" y="50292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and</a:t>
            </a:r>
          </a:p>
        </p:txBody>
      </p:sp>
      <p:graphicFrame>
        <p:nvGraphicFramePr>
          <p:cNvPr id="17" name="Object 8"/>
          <p:cNvGraphicFramePr>
            <a:graphicFrameLocks noChangeAspect="1"/>
          </p:cNvGraphicFramePr>
          <p:nvPr/>
        </p:nvGraphicFramePr>
        <p:xfrm>
          <a:off x="838200" y="5181600"/>
          <a:ext cx="6934200" cy="1422400"/>
        </p:xfrm>
        <a:graphic>
          <a:graphicData uri="http://schemas.openxmlformats.org/presentationml/2006/ole">
            <mc:AlternateContent xmlns:mc="http://schemas.openxmlformats.org/markup-compatibility/2006">
              <mc:Choice xmlns:v="urn:schemas-microsoft-com:vml" Requires="v">
                <p:oleObj spid="_x0000_s6199" name="Equation" r:id="rId7" imgW="3467100" imgH="711200" progId="Equation.3">
                  <p:embed/>
                </p:oleObj>
              </mc:Choice>
              <mc:Fallback>
                <p:oleObj name="Equation" r:id="rId7" imgW="3467100" imgH="711200" progId="Equation.3">
                  <p:embed/>
                  <p:pic>
                    <p:nvPicPr>
                      <p:cNvPr id="0" name="Picture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5181600"/>
                        <a:ext cx="6934200" cy="142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899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vert="horz" lIns="91440" tIns="45720" rIns="91440" bIns="45720" rtlCol="0">
            <a:normAutofit fontScale="62500" lnSpcReduction="20000"/>
          </a:bodyPr>
          <a:lstStyle/>
          <a:p>
            <a:pPr lvl="0">
              <a:buFont typeface="Arial" pitchFamily="34" charset="0"/>
              <a:buChar char="•"/>
            </a:pPr>
            <a:r>
              <a:rPr lang="en-IN" sz="3900" dirty="0">
                <a:solidFill>
                  <a:prstClr val="black"/>
                </a:solidFill>
              </a:rPr>
              <a:t>Multiplicative Inverse (or just inverse) M</a:t>
            </a:r>
            <a:r>
              <a:rPr lang="en-IN" sz="3900" baseline="30000" dirty="0">
                <a:solidFill>
                  <a:prstClr val="black"/>
                </a:solidFill>
              </a:rPr>
              <a:t>-1</a:t>
            </a:r>
            <a:r>
              <a:rPr lang="en-IN" sz="3900" dirty="0">
                <a:solidFill>
                  <a:prstClr val="black"/>
                </a:solidFill>
              </a:rPr>
              <a:t> of a square matrix M is defined in such a way that M x M</a:t>
            </a:r>
            <a:r>
              <a:rPr lang="en-IN" sz="4400" baseline="30000" dirty="0">
                <a:solidFill>
                  <a:prstClr val="black"/>
                </a:solidFill>
              </a:rPr>
              <a:t>-1</a:t>
            </a:r>
            <a:r>
              <a:rPr lang="en-IN" sz="3900" dirty="0">
                <a:solidFill>
                  <a:prstClr val="black"/>
                </a:solidFill>
              </a:rPr>
              <a:t> = M</a:t>
            </a:r>
            <a:r>
              <a:rPr lang="en-IN" sz="3900" baseline="30000" dirty="0">
                <a:solidFill>
                  <a:prstClr val="black"/>
                </a:solidFill>
              </a:rPr>
              <a:t>-1</a:t>
            </a:r>
            <a:r>
              <a:rPr lang="en-IN" sz="3900" dirty="0">
                <a:solidFill>
                  <a:prstClr val="black"/>
                </a:solidFill>
              </a:rPr>
              <a:t> x M = I, where I is the identity matrix. </a:t>
            </a:r>
            <a:endParaRPr lang="en-IN" sz="3900" dirty="0" smtClean="0">
              <a:solidFill>
                <a:prstClr val="black"/>
              </a:solidFill>
            </a:endParaRPr>
          </a:p>
          <a:p>
            <a:pPr lvl="0">
              <a:buFont typeface="Arial" pitchFamily="34" charset="0"/>
              <a:buChar char="•"/>
            </a:pPr>
            <a:r>
              <a:rPr lang="da-DK" sz="3900" dirty="0">
                <a:solidFill>
                  <a:prstClr val="black"/>
                </a:solidFill>
              </a:rPr>
              <a:t>11 x 19 = 209 = 1 (mod 26)</a:t>
            </a:r>
          </a:p>
          <a:p>
            <a:pPr lvl="1"/>
            <a:r>
              <a:rPr lang="en-IN" sz="2700" dirty="0">
                <a:solidFill>
                  <a:prstClr val="black"/>
                </a:solidFill>
              </a:rPr>
              <a:t>So, 11 and 19 are multiplicative inverse in modulo-26 arithmetic.</a:t>
            </a:r>
          </a:p>
          <a:p>
            <a:pPr lvl="1"/>
            <a:r>
              <a:rPr lang="en-IN" dirty="0" smtClean="0"/>
              <a:t>Z </a:t>
            </a:r>
            <a:r>
              <a:rPr lang="en-IN" dirty="0"/>
              <a:t>is the set of integers. When a number is divided by n the remainder is always from 0 to (n-1). Zn represents this set of 0 to (n-1) elements. E.g. Z</a:t>
            </a:r>
            <a:r>
              <a:rPr lang="en-IN" baseline="-25000" dirty="0"/>
              <a:t>5</a:t>
            </a:r>
            <a:r>
              <a:rPr lang="en-IN" dirty="0"/>
              <a:t>= {0, 1, 2, 3, 4}. Zn is the residue set.</a:t>
            </a:r>
          </a:p>
          <a:p>
            <a:pPr>
              <a:buChar char="•"/>
            </a:pPr>
            <a:endParaRPr lang="en-IN" sz="3200" dirty="0">
              <a:solidFill>
                <a:prstClr val="black"/>
              </a:solidFill>
            </a:endParaRPr>
          </a:p>
          <a:p>
            <a:pPr lvl="1"/>
            <a:r>
              <a:rPr lang="en-IN" dirty="0" smtClean="0"/>
              <a:t>Cryptography </a:t>
            </a:r>
            <a:r>
              <a:rPr lang="en-IN" dirty="0"/>
              <a:t>uses residue matrices where all elements of a matrix are drawn from a set Z</a:t>
            </a:r>
            <a:r>
              <a:rPr lang="en-IN" baseline="-25000" dirty="0"/>
              <a:t>n</a:t>
            </a:r>
            <a:r>
              <a:rPr lang="en-IN" dirty="0"/>
              <a:t>. If n = 26, it means all elements of a Z</a:t>
            </a:r>
            <a:r>
              <a:rPr lang="en-IN" baseline="-25000" dirty="0"/>
              <a:t>26</a:t>
            </a:r>
            <a:r>
              <a:rPr lang="en-IN" dirty="0"/>
              <a:t> matrix will be drawn from {0, 1, 2......25}.</a:t>
            </a:r>
          </a:p>
          <a:p>
            <a:pPr lvl="1"/>
            <a:endParaRPr lang="en-IN" dirty="0"/>
          </a:p>
          <a:p>
            <a:pPr lvl="1"/>
            <a:r>
              <a:rPr lang="en-IN" dirty="0"/>
              <a:t>A residue matrix Zn will have a multiplicative inverse matrix, if the determinant of that matrix has a multiplicative inverse in set Zn.</a:t>
            </a:r>
          </a:p>
          <a:p>
            <a:pPr lvl="1"/>
            <a:endParaRPr lang="en-IN" dirty="0"/>
          </a:p>
          <a:p>
            <a:pPr lvl="1"/>
            <a:r>
              <a:rPr lang="en-IN" dirty="0" smtClean="0"/>
              <a:t>Mathematically</a:t>
            </a:r>
            <a:r>
              <a:rPr lang="en-IN" dirty="0"/>
              <a:t>, if GCD (</a:t>
            </a:r>
            <a:r>
              <a:rPr lang="en-IN" dirty="0" err="1"/>
              <a:t>det</a:t>
            </a:r>
            <a:r>
              <a:rPr lang="en-IN" dirty="0"/>
              <a:t>(A), n) = 1 for a matrix A, it will have a multiplicative inverse. GCD is Greatest Common Divisor.</a:t>
            </a:r>
          </a:p>
          <a:p>
            <a:pPr>
              <a:buChar char="•"/>
            </a:pPr>
            <a:endParaRPr lang="en-IN" sz="3200" dirty="0">
              <a:solidFill>
                <a:prstClr val="black"/>
              </a:solidFill>
            </a:endParaRPr>
          </a:p>
          <a:p>
            <a:pPr>
              <a:buChar char="•"/>
            </a:pPr>
            <a:endParaRPr lang="en-IN" sz="3200" dirty="0">
              <a:solidFill>
                <a:prstClr val="black"/>
              </a:solidFill>
            </a:endParaRPr>
          </a:p>
          <a:p>
            <a:pPr>
              <a:buChar char="•"/>
            </a:pPr>
            <a:endParaRPr lang="en-IN" sz="3200" dirty="0">
              <a:solidFill>
                <a:prstClr val="black"/>
              </a:solidFill>
            </a:endParaRPr>
          </a:p>
          <a:p>
            <a:pPr>
              <a:buChar char="•"/>
            </a:pPr>
            <a:endParaRPr lang="en-IN"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t>Residue Matrix</a:t>
            </a:r>
          </a:p>
        </p:txBody>
      </p:sp>
    </p:spTree>
    <p:extLst>
      <p:ext uri="{BB962C8B-B14F-4D97-AF65-F5344CB8AC3E}">
        <p14:creationId xmlns:p14="http://schemas.microsoft.com/office/powerpoint/2010/main" val="199713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0"/>
            <p:extLst>
              <p:ext uri="{D42A27DB-BD31-4B8C-83A1-F6EECF244321}">
                <p14:modId xmlns:p14="http://schemas.microsoft.com/office/powerpoint/2010/main" val="1877341754"/>
              </p:ext>
            </p:extLst>
          </p:nvPr>
        </p:nvGraphicFramePr>
        <p:xfrm>
          <a:off x="1475656" y="1412776"/>
          <a:ext cx="5544616" cy="2617470"/>
        </p:xfrm>
        <a:graphic>
          <a:graphicData uri="http://schemas.openxmlformats.org/drawingml/2006/table">
            <a:tbl>
              <a:tblPr/>
              <a:tblGrid>
                <a:gridCol w="792088"/>
                <a:gridCol w="792088"/>
                <a:gridCol w="792088"/>
                <a:gridCol w="792088"/>
                <a:gridCol w="792088"/>
                <a:gridCol w="792088"/>
                <a:gridCol w="792088"/>
              </a:tblGrid>
              <a:tr h="384043">
                <a:tc>
                  <a:txBody>
                    <a:bodyPr/>
                    <a:lstStyle/>
                    <a:p>
                      <a:pPr algn="ctr" fontAlgn="b"/>
                      <a:r>
                        <a:rPr lang="en-IN" sz="2800" b="1" i="0" u="none" strike="noStrike" dirty="0">
                          <a:solidFill>
                            <a:srgbClr val="000000"/>
                          </a:solidFill>
                          <a:latin typeface="Calibri"/>
                        </a:rPr>
                        <a:t>q</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a:solidFill>
                            <a:srgbClr val="000000"/>
                          </a:solidFill>
                          <a:latin typeface="Calibri"/>
                        </a:rPr>
                        <a:t>n1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a:solidFill>
                            <a:srgbClr val="000000"/>
                          </a:solidFill>
                          <a:latin typeface="Calibri"/>
                        </a:rPr>
                        <a:t>n2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a:solidFill>
                            <a:srgbClr val="000000"/>
                          </a:solidFill>
                          <a:latin typeface="Calibri"/>
                        </a:rPr>
                        <a:t>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a:solidFill>
                            <a:srgbClr val="000000"/>
                          </a:solidFill>
                          <a:latin typeface="Calibri"/>
                        </a:rPr>
                        <a:t>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dirty="0">
                          <a:solidFill>
                            <a:srgbClr val="000000"/>
                          </a:solidFill>
                          <a:latin typeface="Calibri"/>
                        </a:rPr>
                        <a:t>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2800" b="1" i="0" u="none" strike="noStrike">
                          <a:solidFill>
                            <a:srgbClr val="000000"/>
                          </a:solidFill>
                          <a:latin typeface="Calibri"/>
                        </a:rPr>
                        <a:t>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384043">
                <a:tc>
                  <a:txBody>
                    <a:bodyPr/>
                    <a:lstStyle/>
                    <a:p>
                      <a:pPr algn="ctr" fontAlgn="b"/>
                      <a:r>
                        <a:rPr lang="en-IN" sz="2800" b="0" i="0" u="none" strike="noStrike">
                          <a:solidFill>
                            <a:srgbClr val="00000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2800" b="0" i="0" u="none" strike="noStrike" dirty="0">
                          <a:solidFill>
                            <a:srgbClr val="000000"/>
                          </a:solidFill>
                          <a:latin typeface="Calibri"/>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2800" b="0" i="0" u="none" strike="noStrike">
                          <a:solidFill>
                            <a:srgbClr val="000000"/>
                          </a:solidFill>
                          <a:latin typeface="Calibri"/>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4043">
                <a:tc>
                  <a:txBody>
                    <a:bodyPr/>
                    <a:lstStyle/>
                    <a:p>
                      <a:pPr algn="ctr" fontAlgn="b"/>
                      <a:r>
                        <a:rPr lang="en-IN" sz="2800" b="0" i="0" u="none" strike="noStrike">
                          <a:solidFill>
                            <a:srgbClr val="00000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4043">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4043">
                <a:tc>
                  <a:txBody>
                    <a:bodyPr/>
                    <a:lstStyle/>
                    <a:p>
                      <a:pPr algn="ctr" fontAlgn="b"/>
                      <a:r>
                        <a:rPr lang="en-IN" sz="2800" b="0" i="0" u="none" strike="noStrike">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4043">
                <a:tc>
                  <a:txBody>
                    <a:bodyPr/>
                    <a:lstStyle/>
                    <a:p>
                      <a:pPr algn="ctr" fontAlgn="b"/>
                      <a:r>
                        <a:rPr lang="en-IN" sz="2800" b="0" i="0" u="none" strike="noStrike">
                          <a:solidFill>
                            <a:srgbClr val="00000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F7F7F"/>
                    </a:solidFill>
                  </a:tcPr>
                </a:tc>
                <a:tc>
                  <a:txBody>
                    <a:bodyPr/>
                    <a:lstStyle/>
                    <a:p>
                      <a:pPr algn="ctr" fontAlgn="b"/>
                      <a:r>
                        <a:rPr lang="en-IN" sz="2800" b="0" i="0" u="none" strike="noStrike">
                          <a:solidFill>
                            <a:srgbClr val="00000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F7F7F"/>
                    </a:solidFill>
                  </a:tcPr>
                </a:tc>
                <a:tc>
                  <a:txBody>
                    <a:bodyPr/>
                    <a:lstStyle/>
                    <a:p>
                      <a:pPr algn="ctr" fontAlgn="b"/>
                      <a:r>
                        <a:rPr lang="en-IN" sz="2800" b="0" i="0" u="none" strike="noStrike" dirty="0">
                          <a:solidFill>
                            <a:srgbClr val="000000"/>
                          </a:solidFill>
                          <a:latin typeface="Calibri"/>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a:solidFill>
                            <a:srgbClr val="000000"/>
                          </a:solidFill>
                          <a:latin typeface="Calibri"/>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800" b="0" i="0" u="none" strike="noStrike" dirty="0">
                          <a:solidFill>
                            <a:srgbClr val="00000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F7F7F"/>
                    </a:solidFill>
                  </a:tcPr>
                </a:tc>
              </a:tr>
            </a:tbl>
          </a:graphicData>
        </a:graphic>
      </p:graphicFrame>
      <p:grpSp>
        <p:nvGrpSpPr>
          <p:cNvPr id="2" name="Group 24"/>
          <p:cNvGrpSpPr/>
          <p:nvPr/>
        </p:nvGrpSpPr>
        <p:grpSpPr>
          <a:xfrm>
            <a:off x="2843808" y="2204864"/>
            <a:ext cx="3600400" cy="1512168"/>
            <a:chOff x="2483768" y="3284984"/>
            <a:chExt cx="3600400" cy="1512168"/>
          </a:xfrm>
        </p:grpSpPr>
        <p:cxnSp>
          <p:nvCxnSpPr>
            <p:cNvPr id="7" name="Straight Arrow Connector 6"/>
            <p:cNvCxnSpPr/>
            <p:nvPr/>
          </p:nvCxnSpPr>
          <p:spPr>
            <a:xfrm flipH="1">
              <a:off x="2483768" y="3284984"/>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932040" y="3284984"/>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483768" y="3717032"/>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275856" y="3717032"/>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483768" y="4149080"/>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275856" y="4149080"/>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483768" y="4581128"/>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275856" y="4581128"/>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75856" y="3284984"/>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5724128" y="3284984"/>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4932040" y="3717032"/>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5724128" y="3717032"/>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4932040" y="4149080"/>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724128" y="4149080"/>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4932040" y="4581128"/>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652120" y="4581128"/>
              <a:ext cx="360040"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3"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a:t>Multiplicative Inverse in Zn</a:t>
            </a:r>
          </a:p>
          <a:p>
            <a:pPr>
              <a:spcBef>
                <a:spcPct val="0"/>
              </a:spcBef>
            </a:pPr>
            <a:r>
              <a:rPr lang="en-IN" sz="3200" dirty="0"/>
              <a:t>Extended Euclidean Method</a:t>
            </a:r>
          </a:p>
        </p:txBody>
      </p:sp>
      <p:pic>
        <p:nvPicPr>
          <p:cNvPr id="24" name="Picture 9" descr="http://www.ethicalwiki.com/resources/mathicon.png"/>
          <p:cNvPicPr>
            <a:picLocks noChangeAspect="1" noChangeArrowheads="1"/>
          </p:cNvPicPr>
          <p:nvPr/>
        </p:nvPicPr>
        <p:blipFill>
          <a:blip r:embed="rId2" cstate="print"/>
          <a:srcRect/>
          <a:stretch>
            <a:fillRect/>
          </a:stretch>
        </p:blipFill>
        <p:spPr bwMode="auto">
          <a:xfrm>
            <a:off x="5292080" y="332656"/>
            <a:ext cx="710208" cy="710208"/>
          </a:xfrm>
          <a:prstGeom prst="rect">
            <a:avLst/>
          </a:prstGeom>
          <a:noFill/>
        </p:spPr>
      </p:pic>
      <p:sp>
        <p:nvSpPr>
          <p:cNvPr id="26" name="TextBox 25"/>
          <p:cNvSpPr txBox="1"/>
          <p:nvPr/>
        </p:nvSpPr>
        <p:spPr>
          <a:xfrm>
            <a:off x="309212" y="4246270"/>
            <a:ext cx="8640960" cy="2448272"/>
          </a:xfrm>
          <a:prstGeom prst="rect">
            <a:avLst/>
          </a:prstGeom>
        </p:spPr>
        <p:txBody>
          <a:bodyPr vert="horz" lIns="91440" tIns="45720" rIns="91440" bIns="45720" rtlCol="0">
            <a:normAutofit fontScale="62500" lnSpcReduction="20000"/>
          </a:bodyPr>
          <a:lstStyle>
            <a:lvl1pPr marL="342900" marR="0" lvl="0" indent="-342900" fontAlgn="auto">
              <a:lnSpc>
                <a:spcPct val="100000"/>
              </a:lnSpc>
              <a:spcBef>
                <a:spcPct val="20000"/>
              </a:spcBef>
              <a:spcAft>
                <a:spcPts val="0"/>
              </a:spcAft>
              <a:buClr>
                <a:srgbClr val="101141"/>
              </a:buClr>
              <a:buSzTx/>
              <a:buFont typeface="Arial" pitchFamily="34" charset="0"/>
              <a:buChar char="•"/>
              <a:tabLst/>
              <a:defRPr sz="3900">
                <a:solidFill>
                  <a:prstClr val="black"/>
                </a:solidFill>
                <a:cs typeface="Arial" pitchFamily="34" charset="0"/>
              </a:defRPr>
            </a:lvl1pPr>
            <a:lvl2pPr marL="742950" marR="0" lvl="1" indent="-285750" fontAlgn="auto">
              <a:lnSpc>
                <a:spcPct val="100000"/>
              </a:lnSpc>
              <a:spcBef>
                <a:spcPct val="20000"/>
              </a:spcBef>
              <a:spcAft>
                <a:spcPts val="0"/>
              </a:spcAft>
              <a:buClrTx/>
              <a:buSzTx/>
              <a:buFont typeface="Arial" pitchFamily="34" charset="0"/>
              <a:buChar char="–"/>
              <a:tabLst/>
              <a:defRPr sz="2700">
                <a:solidFill>
                  <a:prstClr val="black"/>
                </a:solidFill>
                <a:cs typeface="Arial" pitchFamily="34" charset="0"/>
              </a:defRPr>
            </a:lvl2pPr>
            <a:lvl3pPr marL="1143000" indent="-228600">
              <a:spcBef>
                <a:spcPct val="20000"/>
              </a:spcBef>
              <a:buFont typeface="Arial" pitchFamily="34" charset="0"/>
              <a:buChar char="•"/>
              <a:defRPr sz="2400">
                <a:latin typeface="Arial" pitchFamily="34" charset="0"/>
                <a:cs typeface="Arial" pitchFamily="34" charset="0"/>
              </a:defRPr>
            </a:lvl3pPr>
            <a:lvl4pPr marL="1600200" indent="-228600">
              <a:spcBef>
                <a:spcPct val="20000"/>
              </a:spcBef>
              <a:buFont typeface="Arial" pitchFamily="34" charset="0"/>
              <a:buChar char="–"/>
              <a:defRPr sz="2000">
                <a:latin typeface="Arial" pitchFamily="34" charset="0"/>
                <a:cs typeface="Arial" pitchFamily="34" charset="0"/>
              </a:defRPr>
            </a:lvl4pPr>
            <a:lvl5pPr marL="2057400" indent="-228600">
              <a:spcBef>
                <a:spcPct val="20000"/>
              </a:spcBef>
              <a:buFont typeface="Arial" pitchFamily="34" charset="0"/>
              <a:buChar char="»"/>
              <a:defRPr sz="20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1"/>
            <a:r>
              <a:rPr lang="en-IN" dirty="0"/>
              <a:t>Let us find out if 11 (n2) has a multiplicative inverse in Z26 (n1=26) using Extended Euclidean Method. Here, q = quotient and r = remainder.</a:t>
            </a:r>
          </a:p>
          <a:p>
            <a:pPr lvl="1"/>
            <a:r>
              <a:rPr lang="en-IN" dirty="0"/>
              <a:t>In the beginning, the temporary numbers, t1 = 0 and t2 = 1 and t = t1 – q.t2 for all the steps.</a:t>
            </a:r>
          </a:p>
          <a:p>
            <a:pPr lvl="1"/>
            <a:r>
              <a:rPr lang="en-IN" dirty="0"/>
              <a:t>After all the operations, since n1 and n2 reduces to 1 and 0, so their GCD is 1 and hence there is a multiplicative inverse of 11 in Z26.</a:t>
            </a:r>
          </a:p>
          <a:p>
            <a:pPr lvl="1"/>
            <a:r>
              <a:rPr lang="en-IN" dirty="0"/>
              <a:t>Multiplicative inverse = (last t1) mod 26 = -7 mod 26 = 19</a:t>
            </a:r>
          </a:p>
          <a:p>
            <a:pPr lvl="1"/>
            <a:r>
              <a:rPr lang="en-IN" dirty="0"/>
              <a:t>Verification: (19x11) mod 26 = 209 mod 26 = 1. </a:t>
            </a:r>
          </a:p>
          <a:p>
            <a:pPr lvl="1"/>
            <a:r>
              <a:rPr lang="en-IN" dirty="0"/>
              <a:t>Hence, 11 and 19 are multiplicative inverse in Z26.</a:t>
            </a:r>
          </a:p>
          <a:p>
            <a:endParaRPr lang="en-IN" dirty="0"/>
          </a:p>
        </p:txBody>
      </p:sp>
    </p:spTree>
    <p:extLst>
      <p:ext uri="{BB962C8B-B14F-4D97-AF65-F5344CB8AC3E}">
        <p14:creationId xmlns:p14="http://schemas.microsoft.com/office/powerpoint/2010/main" val="65599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vert="horz" lIns="91440" tIns="45720" rIns="91440" bIns="45720" rtlCol="0">
            <a:normAutofit fontScale="55000" lnSpcReduction="20000"/>
          </a:bodyPr>
          <a:lstStyle/>
          <a:p>
            <a:pPr>
              <a:buChar char="•"/>
            </a:pPr>
            <a:r>
              <a:rPr lang="en-IN" sz="3900" dirty="0">
                <a:solidFill>
                  <a:prstClr val="black"/>
                </a:solidFill>
              </a:rPr>
              <a:t>If a square matrix A has a non-zero determinant  then the multiplicative inverse of the matrix is calculated as:</a:t>
            </a:r>
          </a:p>
          <a:p>
            <a:pPr>
              <a:buChar char="•"/>
            </a:pPr>
            <a:endParaRPr lang="en-IN" sz="3900" dirty="0" smtClean="0">
              <a:solidFill>
                <a:prstClr val="black"/>
              </a:solidFill>
            </a:endParaRPr>
          </a:p>
          <a:p>
            <a:pPr marL="0" indent="0"/>
            <a:r>
              <a:rPr lang="en-IN" sz="3900" dirty="0">
                <a:solidFill>
                  <a:prstClr val="black"/>
                </a:solidFill>
              </a:rPr>
              <a:t>		[A-1]</a:t>
            </a:r>
            <a:r>
              <a:rPr lang="en-IN" sz="3900" dirty="0" err="1">
                <a:solidFill>
                  <a:prstClr val="black"/>
                </a:solidFill>
              </a:rPr>
              <a:t>ij</a:t>
            </a:r>
            <a:r>
              <a:rPr lang="en-IN" sz="3900" dirty="0">
                <a:solidFill>
                  <a:prstClr val="black"/>
                </a:solidFill>
              </a:rPr>
              <a:t> = (</a:t>
            </a:r>
            <a:r>
              <a:rPr lang="en-IN" sz="3900" dirty="0" err="1">
                <a:solidFill>
                  <a:prstClr val="black"/>
                </a:solidFill>
              </a:rPr>
              <a:t>det</a:t>
            </a:r>
            <a:r>
              <a:rPr lang="en-IN" sz="3900" dirty="0">
                <a:solidFill>
                  <a:prstClr val="black"/>
                </a:solidFill>
              </a:rPr>
              <a:t> (A))-1.(-1)</a:t>
            </a:r>
            <a:r>
              <a:rPr lang="en-IN" sz="3900" dirty="0" err="1">
                <a:solidFill>
                  <a:prstClr val="black"/>
                </a:solidFill>
              </a:rPr>
              <a:t>i+j.Dji</a:t>
            </a:r>
            <a:endParaRPr lang="en-IN" sz="3900" dirty="0">
              <a:solidFill>
                <a:prstClr val="black"/>
              </a:solidFill>
            </a:endParaRPr>
          </a:p>
          <a:p>
            <a:pPr marL="0" indent="0"/>
            <a:r>
              <a:rPr lang="en-IN" sz="3900" dirty="0" smtClean="0">
                <a:solidFill>
                  <a:prstClr val="black"/>
                </a:solidFill>
              </a:rPr>
              <a:t>             Where</a:t>
            </a:r>
            <a:r>
              <a:rPr lang="en-IN" sz="3900" dirty="0">
                <a:solidFill>
                  <a:prstClr val="black"/>
                </a:solidFill>
              </a:rPr>
              <a:t>:</a:t>
            </a:r>
          </a:p>
          <a:p>
            <a:pPr marL="0" indent="0"/>
            <a:r>
              <a:rPr lang="en-IN" sz="3900" dirty="0">
                <a:solidFill>
                  <a:prstClr val="black"/>
                </a:solidFill>
              </a:rPr>
              <a:t>	</a:t>
            </a:r>
            <a:endParaRPr lang="en-IN" sz="3900" dirty="0" smtClean="0">
              <a:solidFill>
                <a:prstClr val="black"/>
              </a:solidFill>
            </a:endParaRPr>
          </a:p>
          <a:p>
            <a:pPr marL="0" indent="0"/>
            <a:r>
              <a:rPr lang="en-IN" sz="3900" dirty="0">
                <a:solidFill>
                  <a:prstClr val="black"/>
                </a:solidFill>
              </a:rPr>
              <a:t>	</a:t>
            </a:r>
            <a:r>
              <a:rPr lang="en-IN" sz="3900" dirty="0" smtClean="0">
                <a:solidFill>
                  <a:prstClr val="black"/>
                </a:solidFill>
              </a:rPr>
              <a:t>(</a:t>
            </a:r>
            <a:r>
              <a:rPr lang="en-IN" sz="3900" dirty="0" err="1">
                <a:solidFill>
                  <a:prstClr val="black"/>
                </a:solidFill>
              </a:rPr>
              <a:t>det</a:t>
            </a:r>
            <a:r>
              <a:rPr lang="en-IN" sz="3900" dirty="0">
                <a:solidFill>
                  <a:prstClr val="black"/>
                </a:solidFill>
              </a:rPr>
              <a:t> (A))-1 = Multiplicative inverse of </a:t>
            </a:r>
            <a:r>
              <a:rPr lang="en-IN" sz="3900" dirty="0" err="1">
                <a:solidFill>
                  <a:prstClr val="black"/>
                </a:solidFill>
              </a:rPr>
              <a:t>det</a:t>
            </a:r>
            <a:r>
              <a:rPr lang="en-IN" sz="3900" dirty="0">
                <a:solidFill>
                  <a:prstClr val="black"/>
                </a:solidFill>
              </a:rPr>
              <a:t>(A) in Z26.It means using        		        </a:t>
            </a:r>
            <a:r>
              <a:rPr lang="en-IN" sz="3900" dirty="0" smtClean="0">
                <a:solidFill>
                  <a:prstClr val="black"/>
                </a:solidFill>
              </a:rPr>
              <a:t>extended </a:t>
            </a:r>
            <a:r>
              <a:rPr lang="en-IN" sz="3900" dirty="0">
                <a:solidFill>
                  <a:prstClr val="black"/>
                </a:solidFill>
              </a:rPr>
              <a:t>Euclidean method the GCD of </a:t>
            </a:r>
            <a:r>
              <a:rPr lang="en-IN" sz="3900" dirty="0" err="1">
                <a:solidFill>
                  <a:prstClr val="black"/>
                </a:solidFill>
              </a:rPr>
              <a:t>det</a:t>
            </a:r>
            <a:r>
              <a:rPr lang="en-IN" sz="3900" dirty="0">
                <a:solidFill>
                  <a:prstClr val="black"/>
                </a:solidFill>
              </a:rPr>
              <a:t>(A) </a:t>
            </a:r>
            <a:r>
              <a:rPr lang="en-IN" sz="3900" dirty="0" smtClean="0">
                <a:solidFill>
                  <a:prstClr val="black"/>
                </a:solidFill>
              </a:rPr>
              <a:t>and    		        26 </a:t>
            </a:r>
            <a:r>
              <a:rPr lang="en-IN" sz="3900" dirty="0">
                <a:solidFill>
                  <a:prstClr val="black"/>
                </a:solidFill>
              </a:rPr>
              <a:t>is to be found out. If it is 1, it means (</a:t>
            </a:r>
            <a:r>
              <a:rPr lang="en-IN" sz="3900" dirty="0" err="1">
                <a:solidFill>
                  <a:prstClr val="black"/>
                </a:solidFill>
              </a:rPr>
              <a:t>det</a:t>
            </a:r>
            <a:r>
              <a:rPr lang="en-IN" sz="3900" dirty="0">
                <a:solidFill>
                  <a:prstClr val="black"/>
                </a:solidFill>
              </a:rPr>
              <a:t> (A))-1 </a:t>
            </a:r>
            <a:r>
              <a:rPr lang="en-IN" sz="3900" dirty="0" smtClean="0">
                <a:solidFill>
                  <a:prstClr val="black"/>
                </a:solidFill>
              </a:rPr>
              <a:t>		        exists</a:t>
            </a:r>
            <a:r>
              <a:rPr lang="en-IN" sz="3900" dirty="0">
                <a:solidFill>
                  <a:prstClr val="black"/>
                </a:solidFill>
              </a:rPr>
              <a:t>. 	</a:t>
            </a:r>
          </a:p>
          <a:p>
            <a:pPr marL="0" indent="0"/>
            <a:r>
              <a:rPr lang="en-IN" sz="3900" dirty="0">
                <a:solidFill>
                  <a:prstClr val="black"/>
                </a:solidFill>
              </a:rPr>
              <a:t>	</a:t>
            </a:r>
            <a:r>
              <a:rPr lang="en-IN" sz="3900" dirty="0" err="1">
                <a:solidFill>
                  <a:prstClr val="black"/>
                </a:solidFill>
              </a:rPr>
              <a:t>Dji</a:t>
            </a:r>
            <a:r>
              <a:rPr lang="en-IN" sz="3900" dirty="0">
                <a:solidFill>
                  <a:prstClr val="black"/>
                </a:solidFill>
              </a:rPr>
              <a:t> 	    = Determinant of the matrix deleting </a:t>
            </a:r>
            <a:r>
              <a:rPr lang="en-IN" sz="3900" dirty="0" err="1">
                <a:solidFill>
                  <a:prstClr val="black"/>
                </a:solidFill>
              </a:rPr>
              <a:t>jth</a:t>
            </a:r>
            <a:r>
              <a:rPr lang="en-IN" sz="3900" dirty="0">
                <a:solidFill>
                  <a:prstClr val="black"/>
                </a:solidFill>
              </a:rPr>
              <a:t> row and </a:t>
            </a:r>
            <a:r>
              <a:rPr lang="en-IN" sz="3900" dirty="0" err="1">
                <a:solidFill>
                  <a:prstClr val="black"/>
                </a:solidFill>
              </a:rPr>
              <a:t>ith</a:t>
            </a:r>
            <a:r>
              <a:rPr lang="en-IN" sz="3900" dirty="0">
                <a:solidFill>
                  <a:prstClr val="black"/>
                </a:solidFill>
              </a:rPr>
              <a:t> 			       column.</a:t>
            </a:r>
          </a:p>
          <a:p>
            <a:pPr>
              <a:buChar char="•"/>
            </a:pPr>
            <a:endParaRPr lang="en-IN" sz="3900" dirty="0">
              <a:solidFill>
                <a:prstClr val="black"/>
              </a:solidFill>
            </a:endParaRPr>
          </a:p>
          <a:p>
            <a:pPr>
              <a:buChar char="•"/>
            </a:pPr>
            <a:endParaRPr lang="en-IN" sz="3900" dirty="0" smtClean="0">
              <a:solidFill>
                <a:prstClr val="black"/>
              </a:solidFill>
            </a:endParaRPr>
          </a:p>
          <a:p>
            <a:pPr>
              <a:buChar char="•"/>
            </a:pPr>
            <a:r>
              <a:rPr lang="en-IN" sz="3900" dirty="0" smtClean="0">
                <a:solidFill>
                  <a:prstClr val="black"/>
                </a:solidFill>
              </a:rPr>
              <a:t>Refer </a:t>
            </a:r>
            <a:r>
              <a:rPr lang="en-IN" sz="3900" dirty="0">
                <a:solidFill>
                  <a:prstClr val="black"/>
                </a:solidFill>
              </a:rPr>
              <a:t>to the worksheet for detailed example.</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t>Matrix  - Multiplicative Inverse</a:t>
            </a:r>
          </a:p>
        </p:txBody>
      </p:sp>
      <p:pic>
        <p:nvPicPr>
          <p:cNvPr id="5" name="Picture 9" descr="http://www.ethicalwiki.com/resources/mathicon.png"/>
          <p:cNvPicPr>
            <a:picLocks noChangeAspect="1" noChangeArrowheads="1"/>
          </p:cNvPicPr>
          <p:nvPr/>
        </p:nvPicPr>
        <p:blipFill>
          <a:blip r:embed="rId2" cstate="print"/>
          <a:srcRect/>
          <a:stretch>
            <a:fillRect/>
          </a:stretch>
        </p:blipFill>
        <p:spPr bwMode="auto">
          <a:xfrm>
            <a:off x="5724128" y="332656"/>
            <a:ext cx="710208" cy="710208"/>
          </a:xfrm>
          <a:prstGeom prst="rect">
            <a:avLst/>
          </a:prstGeom>
          <a:noFill/>
        </p:spPr>
      </p:pic>
    </p:spTree>
    <p:extLst>
      <p:ext uri="{BB962C8B-B14F-4D97-AF65-F5344CB8AC3E}">
        <p14:creationId xmlns:p14="http://schemas.microsoft.com/office/powerpoint/2010/main" val="33984015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vert="horz" lIns="91440" tIns="45720" rIns="91440" bIns="45720" rtlCol="0">
                <a:normAutofit/>
              </a:bodyPr>
              <a:lstStyle/>
              <a:p>
                <a:pPr>
                  <a:buChar char="•"/>
                </a:pPr>
                <a:r>
                  <a:rPr lang="en-US" sz="3900" dirty="0" smtClean="0">
                    <a:solidFill>
                      <a:prstClr val="black"/>
                    </a:solidFill>
                  </a:rPr>
                  <a:t>Find inverse of matrix A = </a:t>
                </a:r>
                <a14:m>
                  <m:oMath xmlns:m="http://schemas.openxmlformats.org/officeDocument/2006/math">
                    <m:m>
                      <m:mPr>
                        <m:mcs>
                          <m:mc>
                            <m:mcPr>
                              <m:count m:val="2"/>
                              <m:mcJc m:val="center"/>
                            </m:mcPr>
                          </m:mc>
                        </m:mcs>
                        <m:ctrlPr>
                          <a:rPr lang="en-US" sz="3900" i="1">
                            <a:solidFill>
                              <a:prstClr val="black"/>
                            </a:solidFill>
                            <a:latin typeface="Cambria Math" panose="02040503050406030204" pitchFamily="18" charset="0"/>
                          </a:rPr>
                        </m:ctrlPr>
                      </m:mPr>
                      <m:mr>
                        <m:e>
                          <m:r>
                            <m:rPr>
                              <m:brk m:alnAt="7"/>
                            </m:rPr>
                            <a:rPr lang="en-US" sz="3900">
                              <a:solidFill>
                                <a:prstClr val="black"/>
                              </a:solidFill>
                              <a:latin typeface="Cambria Math" panose="02040503050406030204" pitchFamily="18" charset="0"/>
                            </a:rPr>
                            <m:t>4</m:t>
                          </m:r>
                        </m:e>
                        <m:e>
                          <m:r>
                            <a:rPr lang="en-US" sz="3900">
                              <a:solidFill>
                                <a:prstClr val="black"/>
                              </a:solidFill>
                              <a:latin typeface="Cambria Math" panose="02040503050406030204" pitchFamily="18" charset="0"/>
                            </a:rPr>
                            <m:t>7</m:t>
                          </m:r>
                        </m:e>
                      </m:mr>
                      <m:mr>
                        <m:e>
                          <m:r>
                            <a:rPr lang="en-US" sz="3900">
                              <a:solidFill>
                                <a:prstClr val="black"/>
                              </a:solidFill>
                              <a:latin typeface="Cambria Math" panose="02040503050406030204" pitchFamily="18" charset="0"/>
                            </a:rPr>
                            <m:t>2</m:t>
                          </m:r>
                        </m:e>
                        <m:e>
                          <m:r>
                            <a:rPr lang="en-US" sz="3900">
                              <a:solidFill>
                                <a:prstClr val="black"/>
                              </a:solidFill>
                              <a:latin typeface="Cambria Math" panose="02040503050406030204" pitchFamily="18" charset="0"/>
                            </a:rPr>
                            <m:t>6</m:t>
                          </m:r>
                        </m:e>
                      </m:mr>
                    </m:m>
                  </m:oMath>
                </a14:m>
                <a:endParaRPr lang="en-US" sz="3900" dirty="0" smtClean="0">
                  <a:solidFill>
                    <a:prstClr val="black"/>
                  </a:solidFill>
                </a:endParaRPr>
              </a:p>
              <a:p>
                <a:pPr>
                  <a:buChar char="•"/>
                </a:pPr>
                <a:r>
                  <a:rPr lang="en-US" sz="3900" dirty="0" smtClean="0">
                    <a:solidFill>
                      <a:prstClr val="black"/>
                    </a:solidFill>
                  </a:rPr>
                  <a:t>A</a:t>
                </a:r>
                <a:r>
                  <a:rPr lang="en-US" sz="3900" baseline="30000" dirty="0">
                    <a:solidFill>
                      <a:prstClr val="black"/>
                    </a:solidFill>
                  </a:rPr>
                  <a:t>-1</a:t>
                </a:r>
                <a:r>
                  <a:rPr lang="en-US" sz="3900" dirty="0" smtClean="0">
                    <a:solidFill>
                      <a:prstClr val="black"/>
                    </a:solidFill>
                  </a:rPr>
                  <a:t> = </a:t>
                </a:r>
                <a14:m>
                  <m:oMath xmlns:m="http://schemas.openxmlformats.org/officeDocument/2006/math">
                    <m:f>
                      <m:fPr>
                        <m:ctrlPr>
                          <a:rPr lang="en-US" sz="3900" i="1" smtClean="0">
                            <a:solidFill>
                              <a:prstClr val="black"/>
                            </a:solidFill>
                            <a:latin typeface="Cambria Math" panose="02040503050406030204" pitchFamily="18" charset="0"/>
                          </a:rPr>
                        </m:ctrlPr>
                      </m:fPr>
                      <m:num>
                        <m:r>
                          <a:rPr lang="en-US" sz="3900" b="0" i="1" smtClean="0">
                            <a:solidFill>
                              <a:prstClr val="black"/>
                            </a:solidFill>
                            <a:latin typeface="Cambria Math" panose="02040503050406030204" pitchFamily="18" charset="0"/>
                          </a:rPr>
                          <m:t>1</m:t>
                        </m:r>
                      </m:num>
                      <m:den>
                        <m:d>
                          <m:dPr>
                            <m:ctrlPr>
                              <a:rPr lang="en-US" sz="3900" b="0" i="1" smtClean="0">
                                <a:solidFill>
                                  <a:prstClr val="black"/>
                                </a:solidFill>
                                <a:latin typeface="Cambria Math" panose="02040503050406030204" pitchFamily="18" charset="0"/>
                              </a:rPr>
                            </m:ctrlPr>
                          </m:dPr>
                          <m:e>
                            <m:r>
                              <a:rPr lang="en-US" sz="3900" b="0" i="1" smtClean="0">
                                <a:solidFill>
                                  <a:prstClr val="black"/>
                                </a:solidFill>
                                <a:latin typeface="Cambria Math" panose="02040503050406030204" pitchFamily="18" charset="0"/>
                              </a:rPr>
                              <m:t>4∗6</m:t>
                            </m:r>
                          </m:e>
                        </m:d>
                        <m:r>
                          <a:rPr lang="en-US" sz="3900" b="0" i="1" smtClean="0">
                            <a:solidFill>
                              <a:prstClr val="black"/>
                            </a:solidFill>
                            <a:latin typeface="Cambria Math" panose="02040503050406030204" pitchFamily="18" charset="0"/>
                          </a:rPr>
                          <m:t>−(7∗2)</m:t>
                        </m:r>
                      </m:den>
                    </m:f>
                    <m:d>
                      <m:dPr>
                        <m:begChr m:val="["/>
                        <m:endChr m:val="]"/>
                        <m:ctrlPr>
                          <a:rPr lang="en-US" sz="3900" i="1" smtClean="0">
                            <a:solidFill>
                              <a:prstClr val="black"/>
                            </a:solidFill>
                            <a:latin typeface="Cambria Math" panose="02040503050406030204" pitchFamily="18" charset="0"/>
                          </a:rPr>
                        </m:ctrlPr>
                      </m:dPr>
                      <m:e>
                        <m:m>
                          <m:mPr>
                            <m:mcs>
                              <m:mc>
                                <m:mcPr>
                                  <m:count m:val="2"/>
                                  <m:mcJc m:val="center"/>
                                </m:mcPr>
                              </m:mc>
                            </m:mcs>
                            <m:ctrlPr>
                              <a:rPr lang="en-US" sz="3900" i="1" smtClean="0">
                                <a:solidFill>
                                  <a:prstClr val="black"/>
                                </a:solidFill>
                                <a:latin typeface="Cambria Math" panose="02040503050406030204" pitchFamily="18" charset="0"/>
                              </a:rPr>
                            </m:ctrlPr>
                          </m:mPr>
                          <m:mr>
                            <m:e>
                              <m:r>
                                <m:rPr>
                                  <m:brk m:alnAt="7"/>
                                </m:rPr>
                                <a:rPr lang="en-US" sz="3900" b="0" i="1" smtClean="0">
                                  <a:solidFill>
                                    <a:prstClr val="black"/>
                                  </a:solidFill>
                                  <a:latin typeface="Cambria Math" panose="02040503050406030204" pitchFamily="18" charset="0"/>
                                </a:rPr>
                                <m:t>6</m:t>
                              </m:r>
                            </m:e>
                            <m:e>
                              <m:r>
                                <a:rPr lang="en-US" sz="3900" b="0" i="1" smtClean="0">
                                  <a:solidFill>
                                    <a:prstClr val="black"/>
                                  </a:solidFill>
                                  <a:latin typeface="Cambria Math" panose="02040503050406030204" pitchFamily="18" charset="0"/>
                                </a:rPr>
                                <m:t>−7</m:t>
                              </m:r>
                            </m:e>
                          </m:mr>
                          <m:mr>
                            <m:e>
                              <m:r>
                                <a:rPr lang="en-US" sz="3900" b="0" i="1" smtClean="0">
                                  <a:solidFill>
                                    <a:prstClr val="black"/>
                                  </a:solidFill>
                                  <a:latin typeface="Cambria Math" panose="02040503050406030204" pitchFamily="18" charset="0"/>
                                </a:rPr>
                                <m:t>−2</m:t>
                              </m:r>
                            </m:e>
                            <m:e>
                              <m:r>
                                <a:rPr lang="en-US" sz="3900" b="0" i="1" smtClean="0">
                                  <a:solidFill>
                                    <a:prstClr val="black"/>
                                  </a:solidFill>
                                  <a:latin typeface="Cambria Math" panose="02040503050406030204" pitchFamily="18" charset="0"/>
                                </a:rPr>
                                <m:t>4</m:t>
                              </m:r>
                            </m:e>
                          </m:mr>
                        </m:m>
                      </m:e>
                    </m:d>
                  </m:oMath>
                </a14:m>
                <a:endParaRPr lang="en-US" sz="3900" dirty="0" smtClean="0">
                  <a:solidFill>
                    <a:prstClr val="black"/>
                  </a:solidFill>
                </a:endParaRPr>
              </a:p>
              <a:p>
                <a:pPr>
                  <a:buChar char="•"/>
                </a:pPr>
                <a:r>
                  <a:rPr lang="en-US" sz="3900" dirty="0" smtClean="0">
                    <a:solidFill>
                      <a:prstClr val="black"/>
                    </a:solidFill>
                  </a:rPr>
                  <a:t>A</a:t>
                </a:r>
                <a:r>
                  <a:rPr lang="en-US" sz="3900" baseline="30000" dirty="0">
                    <a:solidFill>
                      <a:prstClr val="black"/>
                    </a:solidFill>
                  </a:rPr>
                  <a:t>-1</a:t>
                </a:r>
                <a:r>
                  <a:rPr lang="en-US" sz="3900" dirty="0" smtClean="0">
                    <a:solidFill>
                      <a:prstClr val="black"/>
                    </a:solidFill>
                  </a:rPr>
                  <a:t> = </a:t>
                </a:r>
                <a14:m>
                  <m:oMath xmlns:m="http://schemas.openxmlformats.org/officeDocument/2006/math">
                    <m:d>
                      <m:dPr>
                        <m:begChr m:val="["/>
                        <m:endChr m:val="]"/>
                        <m:ctrlPr>
                          <a:rPr lang="en-US" sz="3900" i="1" smtClean="0">
                            <a:solidFill>
                              <a:prstClr val="black"/>
                            </a:solidFill>
                            <a:latin typeface="Cambria Math" panose="02040503050406030204" pitchFamily="18" charset="0"/>
                          </a:rPr>
                        </m:ctrlPr>
                      </m:dPr>
                      <m:e>
                        <m:m>
                          <m:mPr>
                            <m:mcs>
                              <m:mc>
                                <m:mcPr>
                                  <m:count m:val="2"/>
                                  <m:mcJc m:val="center"/>
                                </m:mcPr>
                              </m:mc>
                            </m:mcs>
                            <m:ctrlPr>
                              <a:rPr lang="en-US" sz="3900" i="1" smtClean="0">
                                <a:solidFill>
                                  <a:prstClr val="black"/>
                                </a:solidFill>
                                <a:latin typeface="Cambria Math" panose="02040503050406030204" pitchFamily="18" charset="0"/>
                              </a:rPr>
                            </m:ctrlPr>
                          </m:mPr>
                          <m:mr>
                            <m:e>
                              <m:r>
                                <m:rPr>
                                  <m:brk m:alnAt="7"/>
                                </m:rPr>
                                <a:rPr lang="en-US" sz="3900" b="0" i="1" smtClean="0">
                                  <a:solidFill>
                                    <a:prstClr val="black"/>
                                  </a:solidFill>
                                  <a:latin typeface="Cambria Math" panose="02040503050406030204" pitchFamily="18" charset="0"/>
                                </a:rPr>
                                <m:t>0</m:t>
                              </m:r>
                              <m:r>
                                <a:rPr lang="en-US" sz="3900" b="0" i="1" smtClean="0">
                                  <a:solidFill>
                                    <a:prstClr val="black"/>
                                  </a:solidFill>
                                  <a:latin typeface="Cambria Math" panose="02040503050406030204" pitchFamily="18" charset="0"/>
                                </a:rPr>
                                <m:t>.6</m:t>
                              </m:r>
                            </m:e>
                            <m:e>
                              <m:r>
                                <a:rPr lang="en-US" sz="3900" b="0" i="1" smtClean="0">
                                  <a:solidFill>
                                    <a:prstClr val="black"/>
                                  </a:solidFill>
                                  <a:latin typeface="Cambria Math" panose="02040503050406030204" pitchFamily="18" charset="0"/>
                                </a:rPr>
                                <m:t>−0.7</m:t>
                              </m:r>
                            </m:e>
                          </m:mr>
                          <m:mr>
                            <m:e>
                              <m:r>
                                <a:rPr lang="en-US" sz="3900" b="0" i="1" smtClean="0">
                                  <a:solidFill>
                                    <a:prstClr val="black"/>
                                  </a:solidFill>
                                  <a:latin typeface="Cambria Math" panose="02040503050406030204" pitchFamily="18" charset="0"/>
                                </a:rPr>
                                <m:t>−0.2</m:t>
                              </m:r>
                            </m:e>
                            <m:e>
                              <m:r>
                                <a:rPr lang="en-US" sz="3900" b="0" i="1" smtClean="0">
                                  <a:solidFill>
                                    <a:prstClr val="black"/>
                                  </a:solidFill>
                                  <a:latin typeface="Cambria Math" panose="02040503050406030204" pitchFamily="18" charset="0"/>
                                </a:rPr>
                                <m:t>0.4</m:t>
                              </m:r>
                            </m:e>
                          </m:mr>
                        </m:m>
                      </m:e>
                    </m:d>
                  </m:oMath>
                </a14:m>
                <a:endParaRPr lang="en-US" sz="3900" dirty="0" smtClean="0">
                  <a:solidFill>
                    <a:prstClr val="black"/>
                  </a:solidFill>
                </a:endParaRPr>
              </a:p>
              <a:p>
                <a:pPr>
                  <a:buChar char="•"/>
                </a:pPr>
                <a:r>
                  <a:rPr lang="en-US" sz="3900" dirty="0" smtClean="0">
                    <a:solidFill>
                      <a:prstClr val="black"/>
                    </a:solidFill>
                  </a:rPr>
                  <a:t>To cross verify do A*A</a:t>
                </a:r>
                <a:r>
                  <a:rPr lang="en-US" sz="3900" baseline="30000" dirty="0" smtClean="0">
                    <a:solidFill>
                      <a:prstClr val="black"/>
                    </a:solidFill>
                  </a:rPr>
                  <a:t>-1</a:t>
                </a:r>
                <a:endParaRPr lang="en-US" sz="3900" baseline="30000" dirty="0">
                  <a:solidFill>
                    <a:prstClr val="black"/>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2222"/>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Multiplicative Inverse Matrix Example 1</a:t>
            </a:r>
            <a:endParaRPr lang="en-US" sz="3200" dirty="0"/>
          </a:p>
        </p:txBody>
      </p:sp>
    </p:spTree>
    <p:extLst>
      <p:ext uri="{BB962C8B-B14F-4D97-AF65-F5344CB8AC3E}">
        <p14:creationId xmlns:p14="http://schemas.microsoft.com/office/powerpoint/2010/main" val="31217105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vert="horz" lIns="91440" tIns="45720" rIns="91440" bIns="45720" rtlCol="0">
                <a:normAutofit/>
              </a:bodyPr>
              <a:lstStyle/>
              <a:p>
                <a:pPr>
                  <a:buChar char="•"/>
                </a:pPr>
                <a:r>
                  <a:rPr lang="en-US" sz="3900" dirty="0" smtClean="0">
                    <a:solidFill>
                      <a:prstClr val="black"/>
                    </a:solidFill>
                  </a:rPr>
                  <a:t>Find inverse of matrix A =</a:t>
                </a:r>
                <a14:m>
                  <m:oMath xmlns:m="http://schemas.openxmlformats.org/officeDocument/2006/math">
                    <m:d>
                      <m:dPr>
                        <m:begChr m:val="["/>
                        <m:endChr m:val="]"/>
                        <m:ctrlPr>
                          <a:rPr lang="en-US" sz="3900" i="1" smtClean="0">
                            <a:solidFill>
                              <a:prstClr val="black"/>
                            </a:solidFill>
                            <a:latin typeface="Cambria Math" panose="02040503050406030204" pitchFamily="18" charset="0"/>
                          </a:rPr>
                        </m:ctrlPr>
                      </m:dPr>
                      <m:e>
                        <m:m>
                          <m:mPr>
                            <m:mcs>
                              <m:mc>
                                <m:mcPr>
                                  <m:count m:val="2"/>
                                  <m:mcJc m:val="center"/>
                                </m:mcPr>
                              </m:mc>
                            </m:mcs>
                            <m:ctrlPr>
                              <a:rPr lang="en-US" sz="3900" i="1" smtClean="0">
                                <a:solidFill>
                                  <a:prstClr val="black"/>
                                </a:solidFill>
                                <a:latin typeface="Cambria Math" panose="02040503050406030204" pitchFamily="18" charset="0"/>
                              </a:rPr>
                            </m:ctrlPr>
                          </m:mPr>
                          <m:mr>
                            <m:e>
                              <m:r>
                                <m:rPr>
                                  <m:brk m:alnAt="7"/>
                                </m:rPr>
                                <a:rPr lang="en-US" sz="3900" b="0" i="1" smtClean="0">
                                  <a:solidFill>
                                    <a:prstClr val="black"/>
                                  </a:solidFill>
                                  <a:latin typeface="Cambria Math" panose="02040503050406030204" pitchFamily="18" charset="0"/>
                                </a:rPr>
                                <m:t>3</m:t>
                              </m:r>
                            </m:e>
                            <m:e>
                              <m:r>
                                <a:rPr lang="en-US" sz="3900" b="0" i="1" smtClean="0">
                                  <a:solidFill>
                                    <a:prstClr val="black"/>
                                  </a:solidFill>
                                  <a:latin typeface="Cambria Math" panose="02040503050406030204" pitchFamily="18" charset="0"/>
                                </a:rPr>
                                <m:t>4</m:t>
                              </m:r>
                            </m:e>
                          </m:mr>
                          <m:mr>
                            <m:e>
                              <m:r>
                                <a:rPr lang="en-US" sz="3900" b="0" i="1" smtClean="0">
                                  <a:solidFill>
                                    <a:prstClr val="black"/>
                                  </a:solidFill>
                                  <a:latin typeface="Cambria Math" panose="02040503050406030204" pitchFamily="18" charset="0"/>
                                </a:rPr>
                                <m:t>6</m:t>
                              </m:r>
                            </m:e>
                            <m:e>
                              <m:r>
                                <a:rPr lang="en-US" sz="3900" b="0" i="1" smtClean="0">
                                  <a:solidFill>
                                    <a:prstClr val="black"/>
                                  </a:solidFill>
                                  <a:latin typeface="Cambria Math" panose="02040503050406030204" pitchFamily="18" charset="0"/>
                                </a:rPr>
                                <m:t>8</m:t>
                              </m:r>
                            </m:e>
                          </m:mr>
                        </m:m>
                      </m:e>
                    </m:d>
                  </m:oMath>
                </a14:m>
                <a:endParaRPr lang="en-US" sz="3900" dirty="0" smtClean="0">
                  <a:solidFill>
                    <a:prstClr val="black"/>
                  </a:solidFill>
                </a:endParaRPr>
              </a:p>
              <a:p>
                <a:pPr>
                  <a:buChar char="•"/>
                </a:pPr>
                <a:r>
                  <a:rPr lang="en-US" sz="3900" dirty="0" smtClean="0">
                    <a:solidFill>
                      <a:prstClr val="black"/>
                    </a:solidFill>
                  </a:rPr>
                  <a:t>A</a:t>
                </a:r>
                <a:r>
                  <a:rPr lang="en-US" sz="3900" baseline="30000" dirty="0" smtClean="0">
                    <a:solidFill>
                      <a:prstClr val="black"/>
                    </a:solidFill>
                  </a:rPr>
                  <a:t>-1</a:t>
                </a:r>
                <a:r>
                  <a:rPr lang="en-US" sz="3900" dirty="0" smtClean="0">
                    <a:solidFill>
                      <a:prstClr val="black"/>
                    </a:solidFill>
                  </a:rPr>
                  <a:t>?</a:t>
                </a:r>
              </a:p>
              <a:p>
                <a:pPr marL="0" indent="0"/>
                <a:endParaRPr lang="en-US" sz="3900" dirty="0" smtClean="0">
                  <a:solidFill>
                    <a:prstClr val="black"/>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2222"/>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Multiplicative Inverse Matrix Example 2</a:t>
            </a:r>
            <a:endParaRPr lang="en-US" sz="3200" dirty="0"/>
          </a:p>
        </p:txBody>
      </p:sp>
    </p:spTree>
    <p:extLst>
      <p:ext uri="{BB962C8B-B14F-4D97-AF65-F5344CB8AC3E}">
        <p14:creationId xmlns:p14="http://schemas.microsoft.com/office/powerpoint/2010/main" val="39694175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a:bodyPr>
          <a:lstStyle/>
          <a:p>
            <a:pPr>
              <a:buChar char="•"/>
            </a:pPr>
            <a:r>
              <a:rPr lang="en-US" sz="3900" dirty="0" smtClean="0">
                <a:solidFill>
                  <a:prstClr val="black"/>
                </a:solidFill>
              </a:rPr>
              <a:t>Steps to find multiplicative inverse of matrix </a:t>
            </a:r>
            <a:r>
              <a:rPr lang="en-US" sz="3900" dirty="0" err="1" smtClean="0">
                <a:solidFill>
                  <a:prstClr val="black"/>
                </a:solidFill>
              </a:rPr>
              <a:t>A</a:t>
            </a:r>
            <a:r>
              <a:rPr lang="en-US" sz="3900" baseline="-25000" dirty="0" err="1" smtClean="0">
                <a:solidFill>
                  <a:prstClr val="black"/>
                </a:solidFill>
              </a:rPr>
              <a:t>nXn</a:t>
            </a:r>
            <a:endParaRPr lang="en-US" sz="3900" baseline="-25000" dirty="0" smtClean="0">
              <a:solidFill>
                <a:prstClr val="black"/>
              </a:solidFill>
            </a:endParaRPr>
          </a:p>
          <a:p>
            <a:pPr>
              <a:buChar char="•"/>
            </a:pPr>
            <a:r>
              <a:rPr lang="en-US" sz="3900" dirty="0" smtClean="0">
                <a:solidFill>
                  <a:prstClr val="black"/>
                </a:solidFill>
              </a:rPr>
              <a:t>Step 1: Find determinant</a:t>
            </a:r>
          </a:p>
          <a:p>
            <a:pPr>
              <a:buChar char="•"/>
            </a:pPr>
            <a:r>
              <a:rPr lang="en-US" sz="3900" dirty="0" smtClean="0">
                <a:solidFill>
                  <a:prstClr val="black"/>
                </a:solidFill>
              </a:rPr>
              <a:t>Step 2: Find out cofactor matrix to get</a:t>
            </a:r>
          </a:p>
          <a:p>
            <a:pPr>
              <a:buChar char="•"/>
            </a:pPr>
            <a:r>
              <a:rPr lang="en-US" sz="3900" dirty="0" smtClean="0">
                <a:solidFill>
                  <a:prstClr val="black"/>
                </a:solidFill>
              </a:rPr>
              <a:t>Step 3: Do transpose of cofactor matrix</a:t>
            </a:r>
          </a:p>
          <a:p>
            <a:pPr>
              <a:buChar char="•"/>
            </a:pPr>
            <a:r>
              <a:rPr lang="en-US" sz="3900" dirty="0" smtClean="0">
                <a:solidFill>
                  <a:prstClr val="black"/>
                </a:solidFill>
              </a:rPr>
              <a:t>Step 4: Divide transpose matrix by A’s </a:t>
            </a:r>
            <a:r>
              <a:rPr lang="en-US" sz="3900" dirty="0">
                <a:solidFill>
                  <a:prstClr val="black"/>
                </a:solidFill>
              </a:rPr>
              <a:t>determinant</a:t>
            </a:r>
            <a:endParaRPr lang="en-US" sz="3900" dirty="0" smtClean="0">
              <a:solidFill>
                <a:prstClr val="black"/>
              </a:solidFill>
            </a:endParaRPr>
          </a:p>
          <a:p>
            <a:pPr>
              <a:buChar char="•"/>
            </a:pPr>
            <a:endParaRPr lang="en-US" sz="3900" dirty="0" smtClean="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Multiplicative inverse for greater than 2*2  Matrix</a:t>
            </a:r>
            <a:endParaRPr lang="en-US" sz="3200" dirty="0"/>
          </a:p>
        </p:txBody>
      </p:sp>
    </p:spTree>
    <p:extLst>
      <p:ext uri="{BB962C8B-B14F-4D97-AF65-F5344CB8AC3E}">
        <p14:creationId xmlns:p14="http://schemas.microsoft.com/office/powerpoint/2010/main" val="15042085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vert="horz" lIns="91440" tIns="45720" rIns="91440" bIns="45720" rtlCol="0">
            <a:normAutofit fontScale="85000" lnSpcReduction="20000"/>
          </a:bodyPr>
          <a:lstStyle/>
          <a:p>
            <a:pPr>
              <a:buClrTx/>
              <a:buChar char="•"/>
            </a:pPr>
            <a:r>
              <a:rPr lang="en-US" sz="3200" dirty="0">
                <a:solidFill>
                  <a:prstClr val="black"/>
                </a:solidFill>
              </a:rPr>
              <a:t>Rules: Key will be matrix which determinant is not zero</a:t>
            </a:r>
          </a:p>
          <a:p>
            <a:pPr>
              <a:buClrTx/>
              <a:buChar char="•"/>
            </a:pPr>
            <a:r>
              <a:rPr lang="en-US" sz="3200" dirty="0">
                <a:solidFill>
                  <a:prstClr val="black"/>
                </a:solidFill>
              </a:rPr>
              <a:t>Encryption:</a:t>
            </a:r>
          </a:p>
          <a:p>
            <a:pPr lvl="1"/>
            <a:r>
              <a:rPr lang="en-US" sz="2400" dirty="0">
                <a:solidFill>
                  <a:prstClr val="black"/>
                </a:solidFill>
              </a:rPr>
              <a:t>Step 1: </a:t>
            </a:r>
            <a:r>
              <a:rPr lang="en-US" sz="2400" dirty="0" smtClean="0">
                <a:solidFill>
                  <a:prstClr val="black"/>
                </a:solidFill>
              </a:rPr>
              <a:t>Convert </a:t>
            </a:r>
            <a:r>
              <a:rPr lang="en-US" sz="2400" dirty="0">
                <a:solidFill>
                  <a:prstClr val="black"/>
                </a:solidFill>
              </a:rPr>
              <a:t>plain text and key to respective number matrix</a:t>
            </a:r>
          </a:p>
          <a:p>
            <a:pPr lvl="1"/>
            <a:r>
              <a:rPr lang="en-US" sz="2400" dirty="0">
                <a:solidFill>
                  <a:prstClr val="black"/>
                </a:solidFill>
              </a:rPr>
              <a:t>Step 2: </a:t>
            </a:r>
            <a:r>
              <a:rPr lang="en-US" sz="2400" dirty="0" err="1">
                <a:solidFill>
                  <a:prstClr val="black"/>
                </a:solidFill>
              </a:rPr>
              <a:t>Ciphertext</a:t>
            </a:r>
            <a:r>
              <a:rPr lang="en-US" sz="2400" dirty="0">
                <a:solidFill>
                  <a:prstClr val="black"/>
                </a:solidFill>
              </a:rPr>
              <a:t> = (Plaintext X Key) mod 26</a:t>
            </a:r>
          </a:p>
          <a:p>
            <a:pPr lvl="1"/>
            <a:endParaRPr lang="en-US" sz="2400" dirty="0">
              <a:solidFill>
                <a:prstClr val="black"/>
              </a:solidFill>
            </a:endParaRPr>
          </a:p>
          <a:p>
            <a:pPr>
              <a:buClrTx/>
              <a:buChar char="•"/>
            </a:pPr>
            <a:r>
              <a:rPr lang="en-US" sz="3200" dirty="0">
                <a:solidFill>
                  <a:prstClr val="black"/>
                </a:solidFill>
              </a:rPr>
              <a:t>Decryption:</a:t>
            </a:r>
          </a:p>
          <a:p>
            <a:pPr lvl="1"/>
            <a:r>
              <a:rPr lang="en-US" sz="2400" dirty="0">
                <a:solidFill>
                  <a:prstClr val="black"/>
                </a:solidFill>
              </a:rPr>
              <a:t>Plaintext = (</a:t>
            </a:r>
            <a:r>
              <a:rPr lang="en-US" sz="2400" dirty="0" err="1">
                <a:solidFill>
                  <a:prstClr val="black"/>
                </a:solidFill>
              </a:rPr>
              <a:t>Ciphertext</a:t>
            </a:r>
            <a:r>
              <a:rPr lang="en-US" sz="2400" dirty="0">
                <a:solidFill>
                  <a:prstClr val="black"/>
                </a:solidFill>
              </a:rPr>
              <a:t> X Key-1) mod 26</a:t>
            </a:r>
          </a:p>
          <a:p>
            <a:pPr lvl="1"/>
            <a:r>
              <a:rPr lang="en-US" sz="2400" dirty="0">
                <a:solidFill>
                  <a:prstClr val="black"/>
                </a:solidFill>
              </a:rPr>
              <a:t>Steps to find Key</a:t>
            </a:r>
            <a:r>
              <a:rPr lang="en-US" sz="2400" baseline="30000" dirty="0">
                <a:solidFill>
                  <a:prstClr val="black"/>
                </a:solidFill>
              </a:rPr>
              <a:t>-1</a:t>
            </a:r>
          </a:p>
          <a:p>
            <a:pPr lvl="1"/>
            <a:r>
              <a:rPr lang="en-US" sz="2400" dirty="0">
                <a:solidFill>
                  <a:prstClr val="black"/>
                </a:solidFill>
              </a:rPr>
              <a:t>Key-1 = </a:t>
            </a:r>
            <a:r>
              <a:rPr lang="en-US" sz="2400" dirty="0" err="1">
                <a:solidFill>
                  <a:prstClr val="black"/>
                </a:solidFill>
              </a:rPr>
              <a:t>det</a:t>
            </a:r>
            <a:r>
              <a:rPr lang="en-US" sz="2400" dirty="0">
                <a:solidFill>
                  <a:prstClr val="black"/>
                </a:solidFill>
              </a:rPr>
              <a:t>[key]</a:t>
            </a:r>
            <a:r>
              <a:rPr lang="en-US" sz="2400" baseline="30000" dirty="0">
                <a:solidFill>
                  <a:prstClr val="black"/>
                </a:solidFill>
              </a:rPr>
              <a:t>-1 </a:t>
            </a:r>
            <a:r>
              <a:rPr lang="en-US" sz="2400" dirty="0">
                <a:solidFill>
                  <a:prstClr val="black"/>
                </a:solidFill>
              </a:rPr>
              <a:t>* </a:t>
            </a:r>
            <a:r>
              <a:rPr lang="en-US" sz="2400" dirty="0" err="1">
                <a:solidFill>
                  <a:prstClr val="black"/>
                </a:solidFill>
              </a:rPr>
              <a:t>adj</a:t>
            </a:r>
            <a:r>
              <a:rPr lang="en-US" sz="2400" dirty="0">
                <a:solidFill>
                  <a:prstClr val="black"/>
                </a:solidFill>
              </a:rPr>
              <a:t>[key]</a:t>
            </a:r>
          </a:p>
          <a:p>
            <a:pPr lvl="2"/>
            <a:r>
              <a:rPr lang="en-US" dirty="0">
                <a:solidFill>
                  <a:prstClr val="black"/>
                </a:solidFill>
                <a:latin typeface="+mn-lt"/>
              </a:rPr>
              <a:t>Step 1: Find determinant of key and perform multiplicative inverse of determinant of key i.e. [</a:t>
            </a:r>
            <a:r>
              <a:rPr lang="en-US" dirty="0" err="1">
                <a:solidFill>
                  <a:prstClr val="black"/>
                </a:solidFill>
                <a:latin typeface="+mn-lt"/>
              </a:rPr>
              <a:t>det</a:t>
            </a:r>
            <a:r>
              <a:rPr lang="en-US" dirty="0">
                <a:solidFill>
                  <a:prstClr val="black"/>
                </a:solidFill>
                <a:latin typeface="+mn-lt"/>
              </a:rPr>
              <a:t>(Key)]</a:t>
            </a:r>
            <a:r>
              <a:rPr lang="en-US" baseline="30000" dirty="0">
                <a:solidFill>
                  <a:prstClr val="black"/>
                </a:solidFill>
                <a:latin typeface="+mn-lt"/>
              </a:rPr>
              <a:t>-1</a:t>
            </a:r>
          </a:p>
          <a:p>
            <a:pPr lvl="2"/>
            <a:r>
              <a:rPr lang="en-US" dirty="0">
                <a:solidFill>
                  <a:prstClr val="black"/>
                </a:solidFill>
                <a:latin typeface="+mn-lt"/>
              </a:rPr>
              <a:t>Step 2: Find </a:t>
            </a:r>
            <a:r>
              <a:rPr lang="en-US" dirty="0" err="1">
                <a:solidFill>
                  <a:prstClr val="black"/>
                </a:solidFill>
                <a:latin typeface="+mn-lt"/>
              </a:rPr>
              <a:t>adjoint</a:t>
            </a:r>
            <a:r>
              <a:rPr lang="en-US" dirty="0">
                <a:solidFill>
                  <a:prstClr val="black"/>
                </a:solidFill>
                <a:latin typeface="+mn-lt"/>
              </a:rPr>
              <a:t> key matrix</a:t>
            </a:r>
          </a:p>
          <a:p>
            <a:pPr lvl="3"/>
            <a:r>
              <a:rPr lang="en-US" sz="2400" dirty="0">
                <a:solidFill>
                  <a:prstClr val="black"/>
                </a:solidFill>
                <a:latin typeface="+mn-lt"/>
              </a:rPr>
              <a:t>Transpose the key matrix</a:t>
            </a:r>
          </a:p>
          <a:p>
            <a:pPr lvl="3"/>
            <a:r>
              <a:rPr lang="en-US" sz="2400" dirty="0">
                <a:solidFill>
                  <a:prstClr val="black"/>
                </a:solidFill>
                <a:latin typeface="+mn-lt"/>
              </a:rPr>
              <a:t>Find the cofactor of key matrix</a:t>
            </a:r>
          </a:p>
          <a:p>
            <a:pPr>
              <a:buClrTx/>
              <a:buChar char="•"/>
            </a:pPr>
            <a:endParaRPr lang="en-US" sz="3200" dirty="0">
              <a:solidFill>
                <a:prstClr val="black"/>
              </a:solidFill>
            </a:endParaRPr>
          </a:p>
          <a:p>
            <a:pPr>
              <a:buClrTx/>
              <a:buChar char="•"/>
            </a:pPr>
            <a:endParaRPr lang="en-US" sz="3200" dirty="0">
              <a:solidFill>
                <a:prstClr val="black"/>
              </a:solidFill>
            </a:endParaRPr>
          </a:p>
          <a:p>
            <a:pPr lvl="1"/>
            <a:endParaRPr lang="en-US" sz="24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Hill Cipher (Based on Multiplicative inverse theory)</a:t>
            </a:r>
            <a:endParaRPr lang="en-US" sz="3200" dirty="0"/>
          </a:p>
        </p:txBody>
      </p:sp>
    </p:spTree>
    <p:extLst>
      <p:ext uri="{BB962C8B-B14F-4D97-AF65-F5344CB8AC3E}">
        <p14:creationId xmlns:p14="http://schemas.microsoft.com/office/powerpoint/2010/main" val="39674299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04800" y="1493837"/>
                <a:ext cx="8229600" cy="3159299"/>
              </a:xfrm>
            </p:spPr>
            <p:txBody>
              <a:bodyPr vert="horz" lIns="91440" tIns="45720" rIns="91440" bIns="45720" rtlCol="0">
                <a:normAutofit fontScale="85000" lnSpcReduction="20000"/>
              </a:bodyPr>
              <a:lstStyle/>
              <a:p>
                <a:pPr>
                  <a:buClrTx/>
                  <a:buChar char="•"/>
                </a:pPr>
                <a:r>
                  <a:rPr lang="en-US" sz="3200" dirty="0">
                    <a:solidFill>
                      <a:prstClr val="black"/>
                    </a:solidFill>
                  </a:rPr>
                  <a:t>Consider the message 'ACT', and the key is “GYBNQKURP” in letters</a:t>
                </a:r>
              </a:p>
              <a:p>
                <a:pPr>
                  <a:buClrTx/>
                  <a:buChar char="•"/>
                </a:pPr>
                <a:r>
                  <a:rPr lang="en-US" sz="3200" dirty="0">
                    <a:solidFill>
                      <a:prstClr val="black"/>
                    </a:solidFill>
                  </a:rPr>
                  <a:t>Key in matrix format will be</a:t>
                </a:r>
              </a:p>
              <a:p>
                <a:pPr>
                  <a:buClrTx/>
                  <a:buChar char="•"/>
                </a:pPr>
                <a:r>
                  <a:rPr lang="en-US" sz="3200" dirty="0">
                    <a:solidFill>
                      <a:prstClr val="black"/>
                    </a:solidFill>
                  </a:rPr>
                  <a:t>K = </a:t>
                </a:r>
                <a14:m>
                  <m:oMath xmlns:m="http://schemas.openxmlformats.org/officeDocument/2006/math">
                    <m:d>
                      <m:dPr>
                        <m:ctrlPr>
                          <a:rPr lang="en-US" sz="3200" i="1">
                            <a:solidFill>
                              <a:prstClr val="black"/>
                            </a:solidFill>
                            <a:latin typeface="Cambria Math" panose="02040503050406030204" pitchFamily="18" charset="0"/>
                          </a:rPr>
                        </m:ctrlPr>
                      </m:dPr>
                      <m:e>
                        <m:m>
                          <m:mPr>
                            <m:mcs>
                              <m:mc>
                                <m:mcPr>
                                  <m:count m:val="3"/>
                                  <m:mcJc m:val="center"/>
                                </m:mcPr>
                              </m:mc>
                            </m:mcs>
                            <m:ctrlPr>
                              <a:rPr lang="en-US" sz="3200" i="1">
                                <a:solidFill>
                                  <a:prstClr val="black"/>
                                </a:solidFill>
                                <a:latin typeface="Cambria Math" panose="02040503050406030204" pitchFamily="18" charset="0"/>
                              </a:rPr>
                            </m:ctrlPr>
                          </m:mPr>
                          <m:mr>
                            <m:e>
                              <m:r>
                                <m:rPr>
                                  <m:brk m:alnAt="7"/>
                                </m:rPr>
                                <a:rPr lang="en-US" sz="3200">
                                  <a:solidFill>
                                    <a:prstClr val="black"/>
                                  </a:solidFill>
                                  <a:latin typeface="Cambria Math" panose="02040503050406030204" pitchFamily="18" charset="0"/>
                                </a:rPr>
                                <m:t>6</m:t>
                              </m:r>
                            </m:e>
                            <m:e>
                              <m:r>
                                <a:rPr lang="en-US" sz="3200">
                                  <a:solidFill>
                                    <a:prstClr val="black"/>
                                  </a:solidFill>
                                  <a:latin typeface="Cambria Math" panose="02040503050406030204" pitchFamily="18" charset="0"/>
                                </a:rPr>
                                <m:t>24</m:t>
                              </m:r>
                            </m:e>
                            <m:e>
                              <m:r>
                                <a:rPr lang="en-US" sz="3200">
                                  <a:solidFill>
                                    <a:prstClr val="black"/>
                                  </a:solidFill>
                                  <a:latin typeface="Cambria Math" panose="02040503050406030204" pitchFamily="18" charset="0"/>
                                </a:rPr>
                                <m:t>1</m:t>
                              </m:r>
                            </m:e>
                          </m:mr>
                          <m:mr>
                            <m:e>
                              <m:r>
                                <a:rPr lang="en-US" sz="3200">
                                  <a:solidFill>
                                    <a:prstClr val="black"/>
                                  </a:solidFill>
                                  <a:latin typeface="Cambria Math" panose="02040503050406030204" pitchFamily="18" charset="0"/>
                                </a:rPr>
                                <m:t>13</m:t>
                              </m:r>
                            </m:e>
                            <m:e>
                              <m:r>
                                <a:rPr lang="en-US" sz="3200">
                                  <a:solidFill>
                                    <a:prstClr val="black"/>
                                  </a:solidFill>
                                  <a:latin typeface="Cambria Math" panose="02040503050406030204" pitchFamily="18" charset="0"/>
                                </a:rPr>
                                <m:t>16</m:t>
                              </m:r>
                            </m:e>
                            <m:e>
                              <m:r>
                                <a:rPr lang="en-US" sz="3200">
                                  <a:solidFill>
                                    <a:prstClr val="black"/>
                                  </a:solidFill>
                                  <a:latin typeface="Cambria Math" panose="02040503050406030204" pitchFamily="18" charset="0"/>
                                </a:rPr>
                                <m:t>10</m:t>
                              </m:r>
                            </m:e>
                          </m:mr>
                          <m:mr>
                            <m:e>
                              <m:r>
                                <a:rPr lang="en-US" sz="3200">
                                  <a:solidFill>
                                    <a:prstClr val="black"/>
                                  </a:solidFill>
                                  <a:latin typeface="Cambria Math" panose="02040503050406030204" pitchFamily="18" charset="0"/>
                                </a:rPr>
                                <m:t>20</m:t>
                              </m:r>
                            </m:e>
                            <m:e>
                              <m:r>
                                <a:rPr lang="en-US" sz="3200">
                                  <a:solidFill>
                                    <a:prstClr val="black"/>
                                  </a:solidFill>
                                  <a:latin typeface="Cambria Math" panose="02040503050406030204" pitchFamily="18" charset="0"/>
                                </a:rPr>
                                <m:t>17</m:t>
                              </m:r>
                            </m:e>
                            <m:e>
                              <m:r>
                                <a:rPr lang="en-US" sz="3200">
                                  <a:solidFill>
                                    <a:prstClr val="black"/>
                                  </a:solidFill>
                                  <a:latin typeface="Cambria Math" panose="02040503050406030204" pitchFamily="18" charset="0"/>
                                </a:rPr>
                                <m:t>15</m:t>
                              </m:r>
                            </m:e>
                          </m:mr>
                        </m:m>
                      </m:e>
                    </m:d>
                  </m:oMath>
                </a14:m>
                <a:r>
                  <a:rPr lang="en-US" sz="3200" dirty="0">
                    <a:solidFill>
                      <a:prstClr val="black"/>
                    </a:solidFill>
                  </a:rPr>
                  <a:t> and M =</a:t>
                </a:r>
                <a14:m>
                  <m:oMath xmlns:m="http://schemas.openxmlformats.org/officeDocument/2006/math">
                    <m:d>
                      <m:dPr>
                        <m:ctrlPr>
                          <a:rPr lang="en-US" sz="3200" i="1">
                            <a:solidFill>
                              <a:prstClr val="black"/>
                            </a:solidFill>
                            <a:latin typeface="Cambria Math" panose="02040503050406030204" pitchFamily="18" charset="0"/>
                          </a:rPr>
                        </m:ctrlPr>
                      </m:dPr>
                      <m:e>
                        <m:eqArr>
                          <m:eqArrPr>
                            <m:ctrlPr>
                              <a:rPr lang="en-US" sz="3200" i="1">
                                <a:solidFill>
                                  <a:prstClr val="black"/>
                                </a:solidFill>
                                <a:latin typeface="Cambria Math" panose="02040503050406030204" pitchFamily="18" charset="0"/>
                              </a:rPr>
                            </m:ctrlPr>
                          </m:eqArrPr>
                          <m:e>
                            <m:r>
                              <a:rPr lang="en-US" sz="3200">
                                <a:solidFill>
                                  <a:prstClr val="black"/>
                                </a:solidFill>
                                <a:latin typeface="Cambria Math" panose="02040503050406030204" pitchFamily="18" charset="0"/>
                              </a:rPr>
                              <m:t>0</m:t>
                            </m:r>
                          </m:e>
                          <m:e>
                            <m:r>
                              <a:rPr lang="en-US" sz="3200">
                                <a:solidFill>
                                  <a:prstClr val="black"/>
                                </a:solidFill>
                                <a:latin typeface="Cambria Math" panose="02040503050406030204" pitchFamily="18" charset="0"/>
                              </a:rPr>
                              <m:t>2</m:t>
                            </m:r>
                          </m:e>
                          <m:e>
                            <m:r>
                              <a:rPr lang="en-US" sz="3200">
                                <a:solidFill>
                                  <a:prstClr val="black"/>
                                </a:solidFill>
                                <a:latin typeface="Cambria Math" panose="02040503050406030204" pitchFamily="18" charset="0"/>
                              </a:rPr>
                              <m:t>19</m:t>
                            </m:r>
                          </m:e>
                        </m:eqArr>
                      </m:e>
                    </m:d>
                  </m:oMath>
                </a14:m>
                <a:endParaRPr lang="en-US" sz="3200" dirty="0">
                  <a:solidFill>
                    <a:prstClr val="black"/>
                  </a:solidFill>
                </a:endParaRPr>
              </a:p>
              <a:p>
                <a:pPr>
                  <a:buClrTx/>
                  <a:buChar char="•"/>
                </a:pPr>
                <a:endParaRPr lang="en-US" sz="3200" dirty="0">
                  <a:solidFill>
                    <a:prstClr val="black"/>
                  </a:solidFill>
                </a:endParaRPr>
              </a:p>
              <a:p>
                <a:pPr>
                  <a:buClrTx/>
                  <a:buChar char="•"/>
                </a:pPr>
                <a:r>
                  <a:rPr lang="en-US" sz="3200" dirty="0">
                    <a:solidFill>
                      <a:prstClr val="black"/>
                    </a:solidFill>
                  </a:rPr>
                  <a:t>Encryption:</a:t>
                </a: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04800" y="1493837"/>
                <a:ext cx="8229600" cy="3159299"/>
              </a:xfrm>
              <a:blipFill rotWithShape="0">
                <a:blip r:embed="rId2"/>
                <a:stretch>
                  <a:fillRect l="-1259" t="-4054" b="-2896"/>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Hill Cipher (Based on Multiplicative inverse theory) Example</a:t>
            </a:r>
            <a:endParaRPr lang="en-US" sz="3200" dirty="0"/>
          </a:p>
        </p:txBody>
      </p:sp>
      <p:pic>
        <p:nvPicPr>
          <p:cNvPr id="5" name="Picture 4"/>
          <p:cNvPicPr>
            <a:picLocks noChangeAspect="1"/>
          </p:cNvPicPr>
          <p:nvPr/>
        </p:nvPicPr>
        <p:blipFill>
          <a:blip r:embed="rId3"/>
          <a:stretch>
            <a:fillRect/>
          </a:stretch>
        </p:blipFill>
        <p:spPr>
          <a:xfrm>
            <a:off x="2627784" y="3956103"/>
            <a:ext cx="3819525" cy="1394066"/>
          </a:xfrm>
          <a:prstGeom prst="rect">
            <a:avLst/>
          </a:prstGeom>
        </p:spPr>
      </p:pic>
      <p:sp>
        <p:nvSpPr>
          <p:cNvPr id="7" name="TextBox 6"/>
          <p:cNvSpPr txBox="1"/>
          <p:nvPr/>
        </p:nvSpPr>
        <p:spPr>
          <a:xfrm>
            <a:off x="323528" y="5517232"/>
            <a:ext cx="8731696" cy="507831"/>
          </a:xfrm>
          <a:prstGeom prst="rect">
            <a:avLst/>
          </a:prstGeom>
          <a:noFill/>
        </p:spPr>
        <p:txBody>
          <a:bodyPr wrap="square" rtlCol="0">
            <a:spAutoFit/>
          </a:bodyPr>
          <a:lstStyle/>
          <a:p>
            <a:pPr marL="457200" indent="-457200">
              <a:buFont typeface="Arial" panose="020B0604020202020204" pitchFamily="34" charset="0"/>
              <a:buChar char="•"/>
            </a:pPr>
            <a:r>
              <a:rPr lang="en-US" sz="2700" dirty="0">
                <a:solidFill>
                  <a:prstClr val="black"/>
                </a:solidFill>
                <a:cs typeface="Arial" pitchFamily="34" charset="0"/>
              </a:rPr>
              <a:t>Cipher text : POH</a:t>
            </a:r>
          </a:p>
        </p:txBody>
      </p:sp>
    </p:spTree>
    <p:extLst>
      <p:ext uri="{BB962C8B-B14F-4D97-AF65-F5344CB8AC3E}">
        <p14:creationId xmlns:p14="http://schemas.microsoft.com/office/powerpoint/2010/main" val="36554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04800" y="1493837"/>
                <a:ext cx="8229600" cy="4959499"/>
              </a:xfrm>
            </p:spPr>
            <p:txBody>
              <a:bodyPr vert="horz" lIns="91440" tIns="45720" rIns="91440" bIns="45720" rtlCol="0">
                <a:normAutofit fontScale="92500" lnSpcReduction="10000"/>
              </a:bodyPr>
              <a:lstStyle/>
              <a:p>
                <a:pPr>
                  <a:buClrTx/>
                  <a:buChar char="•"/>
                </a:pPr>
                <a:r>
                  <a:rPr lang="en-US" sz="3200" dirty="0">
                    <a:solidFill>
                      <a:prstClr val="black"/>
                    </a:solidFill>
                  </a:rPr>
                  <a:t>Decryption:</a:t>
                </a:r>
              </a:p>
              <a:p>
                <a:pPr lvl="1"/>
                <a:r>
                  <a:rPr lang="en-US" sz="2400" dirty="0">
                    <a:solidFill>
                      <a:prstClr val="black"/>
                    </a:solidFill>
                  </a:rPr>
                  <a:t>Determinant of key i.e. |k| =441</a:t>
                </a:r>
              </a:p>
              <a:p>
                <a:pPr lvl="1"/>
                <a:r>
                  <a:rPr lang="en-US" sz="2400" dirty="0">
                    <a:solidFill>
                      <a:prstClr val="black"/>
                    </a:solidFill>
                  </a:rPr>
                  <a:t>|k|-1 = 25</a:t>
                </a:r>
              </a:p>
              <a:p>
                <a:pPr lvl="1"/>
                <a:r>
                  <a:rPr lang="en-US" sz="2400" dirty="0" err="1">
                    <a:solidFill>
                      <a:prstClr val="black"/>
                    </a:solidFill>
                  </a:rPr>
                  <a:t>Adj</a:t>
                </a:r>
                <a:r>
                  <a:rPr lang="en-US" sz="2400" dirty="0">
                    <a:solidFill>
                      <a:prstClr val="black"/>
                    </a:solidFill>
                  </a:rPr>
                  <a:t> (K) =</a:t>
                </a:r>
                <a14:m>
                  <m:oMath xmlns:m="http://schemas.openxmlformats.org/officeDocument/2006/math">
                    <m:d>
                      <m:dPr>
                        <m:begChr m:val="["/>
                        <m:endChr m:val="]"/>
                        <m:ctrlPr>
                          <a:rPr lang="en-US" sz="2400" i="1">
                            <a:solidFill>
                              <a:prstClr val="black"/>
                            </a:solidFill>
                            <a:latin typeface="Cambria Math" panose="02040503050406030204" pitchFamily="18" charset="0"/>
                          </a:rPr>
                        </m:ctrlPr>
                      </m:dPr>
                      <m:e>
                        <m:r>
                          <a:rPr lang="en-US" sz="2400">
                            <a:solidFill>
                              <a:prstClr val="black"/>
                            </a:solidFill>
                            <a:latin typeface="Cambria Math" panose="02040503050406030204" pitchFamily="18" charset="0"/>
                          </a:rPr>
                          <m:t> </m:t>
                        </m:r>
                        <m:m>
                          <m:mPr>
                            <m:mcs>
                              <m:mc>
                                <m:mcPr>
                                  <m:count m:val="3"/>
                                  <m:mcJc m:val="center"/>
                                </m:mcPr>
                              </m:mc>
                            </m:mcs>
                            <m:ctrlPr>
                              <a:rPr lang="en-US" sz="2400" i="1">
                                <a:solidFill>
                                  <a:prstClr val="black"/>
                                </a:solidFill>
                                <a:latin typeface="Cambria Math" panose="02040503050406030204" pitchFamily="18" charset="0"/>
                              </a:rPr>
                            </m:ctrlPr>
                          </m:mPr>
                          <m:mr>
                            <m:e>
                              <m:r>
                                <m:rPr>
                                  <m:brk m:alnAt="7"/>
                                </m:rPr>
                                <a:rPr lang="en-US" sz="2400">
                                  <a:solidFill>
                                    <a:prstClr val="black"/>
                                  </a:solidFill>
                                  <a:latin typeface="Cambria Math" panose="02040503050406030204" pitchFamily="18" charset="0"/>
                                </a:rPr>
                                <m:t>7</m:t>
                              </m:r>
                              <m:r>
                                <a:rPr lang="en-US" sz="2400">
                                  <a:solidFill>
                                    <a:prstClr val="black"/>
                                  </a:solidFill>
                                  <a:latin typeface="Cambria Math" panose="02040503050406030204" pitchFamily="18" charset="0"/>
                                </a:rPr>
                                <m:t>0</m:t>
                              </m:r>
                            </m:e>
                            <m:e>
                              <m:r>
                                <a:rPr lang="en-US" sz="2400">
                                  <a:solidFill>
                                    <a:prstClr val="black"/>
                                  </a:solidFill>
                                  <a:latin typeface="Cambria Math" panose="02040503050406030204" pitchFamily="18" charset="0"/>
                                </a:rPr>
                                <m:t>−343</m:t>
                              </m:r>
                            </m:e>
                            <m:e>
                              <m:r>
                                <a:rPr lang="en-US" sz="2400">
                                  <a:solidFill>
                                    <a:prstClr val="black"/>
                                  </a:solidFill>
                                  <a:latin typeface="Cambria Math" panose="02040503050406030204" pitchFamily="18" charset="0"/>
                                </a:rPr>
                                <m:t>224</m:t>
                              </m:r>
                            </m:e>
                          </m:mr>
                          <m:mr>
                            <m:e>
                              <m:r>
                                <a:rPr lang="en-US" sz="2400">
                                  <a:solidFill>
                                    <a:prstClr val="black"/>
                                  </a:solidFill>
                                  <a:latin typeface="Cambria Math" panose="02040503050406030204" pitchFamily="18" charset="0"/>
                                </a:rPr>
                                <m:t>5</m:t>
                              </m:r>
                            </m:e>
                            <m:e>
                              <m:r>
                                <a:rPr lang="en-US" sz="2400">
                                  <a:solidFill>
                                    <a:prstClr val="black"/>
                                  </a:solidFill>
                                  <a:latin typeface="Cambria Math" panose="02040503050406030204" pitchFamily="18" charset="0"/>
                                </a:rPr>
                                <m:t>70</m:t>
                              </m:r>
                            </m:e>
                            <m:e>
                              <m:r>
                                <a:rPr lang="en-US" sz="2400">
                                  <a:solidFill>
                                    <a:prstClr val="black"/>
                                  </a:solidFill>
                                  <a:latin typeface="Cambria Math" panose="02040503050406030204" pitchFamily="18" charset="0"/>
                                </a:rPr>
                                <m:t>−47</m:t>
                              </m:r>
                            </m:e>
                          </m:mr>
                          <m:mr>
                            <m:e>
                              <m:r>
                                <a:rPr lang="en-US" sz="2400">
                                  <a:solidFill>
                                    <a:prstClr val="black"/>
                                  </a:solidFill>
                                  <a:latin typeface="Cambria Math" panose="02040503050406030204" pitchFamily="18" charset="0"/>
                                </a:rPr>
                                <m:t>−99</m:t>
                              </m:r>
                            </m:e>
                            <m:e>
                              <m:r>
                                <a:rPr lang="en-US" sz="2400">
                                  <a:solidFill>
                                    <a:prstClr val="black"/>
                                  </a:solidFill>
                                  <a:latin typeface="Cambria Math" panose="02040503050406030204" pitchFamily="18" charset="0"/>
                                </a:rPr>
                                <m:t>378</m:t>
                              </m:r>
                            </m:e>
                            <m:e>
                              <m:r>
                                <a:rPr lang="en-US" sz="2400">
                                  <a:solidFill>
                                    <a:prstClr val="black"/>
                                  </a:solidFill>
                                  <a:latin typeface="Cambria Math" panose="02040503050406030204" pitchFamily="18" charset="0"/>
                                </a:rPr>
                                <m:t>−216</m:t>
                              </m:r>
                            </m:e>
                          </m:mr>
                        </m:m>
                        <m:r>
                          <a:rPr lang="en-US" sz="2400">
                            <a:solidFill>
                              <a:prstClr val="black"/>
                            </a:solidFill>
                            <a:latin typeface="Cambria Math" panose="02040503050406030204" pitchFamily="18" charset="0"/>
                          </a:rPr>
                          <m:t> </m:t>
                        </m:r>
                      </m:e>
                    </m:d>
                  </m:oMath>
                </a14:m>
                <a:endParaRPr lang="en-US" sz="2400" dirty="0">
                  <a:solidFill>
                    <a:prstClr val="black"/>
                  </a:solidFill>
                </a:endParaRPr>
              </a:p>
              <a:p>
                <a:pPr lvl="1"/>
                <a:endParaRPr lang="en-US" sz="2400" dirty="0">
                  <a:solidFill>
                    <a:prstClr val="black"/>
                  </a:solidFill>
                </a:endParaRPr>
              </a:p>
              <a:p>
                <a:pPr lvl="1"/>
                <a:r>
                  <a:rPr lang="en-US" sz="2400" dirty="0">
                    <a:solidFill>
                      <a:prstClr val="black"/>
                    </a:solidFill>
                  </a:rPr>
                  <a:t>K-1 = |k|-1 * </a:t>
                </a:r>
                <a:r>
                  <a:rPr lang="en-US" sz="2400" dirty="0" err="1">
                    <a:solidFill>
                      <a:prstClr val="black"/>
                    </a:solidFill>
                  </a:rPr>
                  <a:t>Adj</a:t>
                </a:r>
                <a:r>
                  <a:rPr lang="en-US" sz="2400" dirty="0">
                    <a:solidFill>
                      <a:prstClr val="black"/>
                    </a:solidFill>
                  </a:rPr>
                  <a:t>(k)</a:t>
                </a:r>
              </a:p>
              <a:p>
                <a:pPr lvl="1"/>
                <a:r>
                  <a:rPr lang="en-US" sz="2400" dirty="0">
                    <a:solidFill>
                      <a:prstClr val="black"/>
                    </a:solidFill>
                  </a:rPr>
                  <a:t>          = </a:t>
                </a:r>
                <a14:m>
                  <m:oMath xmlns:m="http://schemas.openxmlformats.org/officeDocument/2006/math">
                    <m:d>
                      <m:dPr>
                        <m:begChr m:val="["/>
                        <m:endChr m:val="]"/>
                        <m:ctrlPr>
                          <a:rPr lang="en-US" sz="2400" i="1" dirty="0">
                            <a:solidFill>
                              <a:prstClr val="black"/>
                            </a:solidFill>
                            <a:latin typeface="Cambria Math" panose="02040503050406030204" pitchFamily="18" charset="0"/>
                          </a:rPr>
                        </m:ctrlPr>
                      </m:dPr>
                      <m:e>
                        <m:m>
                          <m:mPr>
                            <m:mcs>
                              <m:mc>
                                <m:mcPr>
                                  <m:count m:val="3"/>
                                  <m:mcJc m:val="center"/>
                                </m:mcPr>
                              </m:mc>
                            </m:mcs>
                            <m:ctrlPr>
                              <a:rPr lang="en-US" sz="2400" i="1" dirty="0">
                                <a:solidFill>
                                  <a:prstClr val="black"/>
                                </a:solidFill>
                                <a:latin typeface="Cambria Math" panose="02040503050406030204" pitchFamily="18" charset="0"/>
                              </a:rPr>
                            </m:ctrlPr>
                          </m:mPr>
                          <m:mr>
                            <m:e>
                              <m:r>
                                <m:rPr>
                                  <m:brk m:alnAt="7"/>
                                </m:rPr>
                                <a:rPr lang="en-US" sz="2400" dirty="0">
                                  <a:solidFill>
                                    <a:prstClr val="black"/>
                                  </a:solidFill>
                                  <a:latin typeface="Cambria Math" panose="02040503050406030204" pitchFamily="18" charset="0"/>
                                </a:rPr>
                                <m:t>8</m:t>
                              </m:r>
                            </m:e>
                            <m:e>
                              <m:r>
                                <a:rPr lang="en-US" sz="2400" dirty="0">
                                  <a:solidFill>
                                    <a:prstClr val="black"/>
                                  </a:solidFill>
                                  <a:latin typeface="Cambria Math" panose="02040503050406030204" pitchFamily="18" charset="0"/>
                                </a:rPr>
                                <m:t>5</m:t>
                              </m:r>
                            </m:e>
                            <m:e>
                              <m:r>
                                <a:rPr lang="en-US" sz="2400" dirty="0">
                                  <a:solidFill>
                                    <a:prstClr val="black"/>
                                  </a:solidFill>
                                  <a:latin typeface="Cambria Math" panose="02040503050406030204" pitchFamily="18" charset="0"/>
                                </a:rPr>
                                <m:t>10</m:t>
                              </m:r>
                            </m:e>
                          </m:mr>
                          <m:mr>
                            <m:e>
                              <m:r>
                                <a:rPr lang="en-US" sz="2400" dirty="0">
                                  <a:solidFill>
                                    <a:prstClr val="black"/>
                                  </a:solidFill>
                                  <a:latin typeface="Cambria Math" panose="02040503050406030204" pitchFamily="18" charset="0"/>
                                </a:rPr>
                                <m:t>21</m:t>
                              </m:r>
                            </m:e>
                            <m:e>
                              <m:r>
                                <a:rPr lang="en-US" sz="2400" dirty="0">
                                  <a:solidFill>
                                    <a:prstClr val="black"/>
                                  </a:solidFill>
                                  <a:latin typeface="Cambria Math" panose="02040503050406030204" pitchFamily="18" charset="0"/>
                                </a:rPr>
                                <m:t>8</m:t>
                              </m:r>
                            </m:e>
                            <m:e>
                              <m:r>
                                <a:rPr lang="en-US" sz="2400" dirty="0">
                                  <a:solidFill>
                                    <a:prstClr val="black"/>
                                  </a:solidFill>
                                  <a:latin typeface="Cambria Math" panose="02040503050406030204" pitchFamily="18" charset="0"/>
                                </a:rPr>
                                <m:t>21</m:t>
                              </m:r>
                            </m:e>
                          </m:mr>
                          <m:mr>
                            <m:e>
                              <m:r>
                                <a:rPr lang="en-US" sz="2400" dirty="0">
                                  <a:solidFill>
                                    <a:prstClr val="black"/>
                                  </a:solidFill>
                                  <a:latin typeface="Cambria Math" panose="02040503050406030204" pitchFamily="18" charset="0"/>
                                </a:rPr>
                                <m:t>21</m:t>
                              </m:r>
                            </m:e>
                            <m:e>
                              <m:r>
                                <a:rPr lang="en-US" sz="2400" dirty="0">
                                  <a:solidFill>
                                    <a:prstClr val="black"/>
                                  </a:solidFill>
                                  <a:latin typeface="Cambria Math" panose="02040503050406030204" pitchFamily="18" charset="0"/>
                                </a:rPr>
                                <m:t>12</m:t>
                              </m:r>
                            </m:e>
                            <m:e>
                              <m:r>
                                <a:rPr lang="en-US" sz="2400" dirty="0">
                                  <a:solidFill>
                                    <a:prstClr val="black"/>
                                  </a:solidFill>
                                  <a:latin typeface="Cambria Math" panose="02040503050406030204" pitchFamily="18" charset="0"/>
                                </a:rPr>
                                <m:t>8</m:t>
                              </m:r>
                            </m:e>
                          </m:mr>
                        </m:m>
                      </m:e>
                    </m:d>
                  </m:oMath>
                </a14:m>
                <a:endParaRPr lang="en-US" sz="2400" dirty="0">
                  <a:solidFill>
                    <a:prstClr val="black"/>
                  </a:solidFill>
                </a:endParaRPr>
              </a:p>
              <a:p>
                <a:pPr lvl="1"/>
                <a:endParaRPr lang="en-US" sz="2400" dirty="0">
                  <a:solidFill>
                    <a:prstClr val="black"/>
                  </a:solidFill>
                </a:endParaRPr>
              </a:p>
              <a:p>
                <a:pPr lvl="1"/>
                <a:r>
                  <a:rPr lang="en-US" sz="2400" dirty="0">
                    <a:solidFill>
                      <a:prstClr val="black"/>
                    </a:solidFill>
                  </a:rPr>
                  <a:t>Plaintext =                                                   i.e. </a:t>
                </a:r>
                <a:r>
                  <a:rPr lang="en-US" sz="2400" dirty="0" smtClean="0">
                    <a:solidFill>
                      <a:prstClr val="black"/>
                    </a:solidFill>
                  </a:rPr>
                  <a:t>ACT</a:t>
                </a:r>
                <a:endParaRPr lang="en-US" sz="2400" dirty="0">
                  <a:solidFill>
                    <a:prstClr val="black"/>
                  </a:solidFill>
                </a:endParaRPr>
              </a:p>
              <a:p>
                <a:pPr lvl="1"/>
                <a:endParaRPr lang="en-US" sz="2400" dirty="0">
                  <a:solidFill>
                    <a:prstClr val="black"/>
                  </a:solidFill>
                </a:endParaRPr>
              </a:p>
              <a:p>
                <a:pPr lvl="1"/>
                <a:endParaRPr lang="en-US" sz="24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a:p>
                <a:pPr>
                  <a:buClrTx/>
                  <a:buChar char="•"/>
                </a:pPr>
                <a:endParaRPr lang="en-US" sz="3200" dirty="0">
                  <a:solidFill>
                    <a:prstClr val="black"/>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04800" y="1493837"/>
                <a:ext cx="8229600" cy="4959499"/>
              </a:xfrm>
              <a:blipFill rotWithShape="0">
                <a:blip r:embed="rId2"/>
                <a:stretch>
                  <a:fillRect l="-1481" t="-2457"/>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t>Hill Cipher (Based on Multiplicative inverse theory) </a:t>
            </a:r>
            <a:r>
              <a:rPr lang="en-US" sz="3200" dirty="0"/>
              <a:t>Example </a:t>
            </a:r>
            <a:r>
              <a:rPr lang="en-US" sz="3200" dirty="0" smtClean="0"/>
              <a:t>Contd..</a:t>
            </a:r>
            <a:endParaRPr lang="en-US" sz="3200" dirty="0"/>
          </a:p>
        </p:txBody>
      </p:sp>
      <p:pic>
        <p:nvPicPr>
          <p:cNvPr id="4" name="Picture 3"/>
          <p:cNvPicPr>
            <a:picLocks noChangeAspect="1"/>
          </p:cNvPicPr>
          <p:nvPr/>
        </p:nvPicPr>
        <p:blipFill>
          <a:blip r:embed="rId3"/>
          <a:stretch>
            <a:fillRect/>
          </a:stretch>
        </p:blipFill>
        <p:spPr>
          <a:xfrm>
            <a:off x="2590078" y="5517232"/>
            <a:ext cx="4057650" cy="922741"/>
          </a:xfrm>
          <a:prstGeom prst="rect">
            <a:avLst/>
          </a:prstGeom>
        </p:spPr>
      </p:pic>
    </p:spTree>
    <p:extLst>
      <p:ext uri="{BB962C8B-B14F-4D97-AF65-F5344CB8AC3E}">
        <p14:creationId xmlns:p14="http://schemas.microsoft.com/office/powerpoint/2010/main" val="42028242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idx="1"/>
          </p:nvPr>
        </p:nvSpPr>
        <p:spPr/>
        <p:txBody>
          <a:bodyPr/>
          <a:lstStyle/>
          <a:p>
            <a:endParaRPr lang="en-IN"/>
          </a:p>
        </p:txBody>
      </p:sp>
      <p:sp>
        <p:nvSpPr>
          <p:cNvPr id="3" name="Content Placeholder 2"/>
          <p:cNvSpPr>
            <a:spLocks noGrp="1"/>
          </p:cNvSpPr>
          <p:nvPr>
            <p:ph sz="quarter" idx="10"/>
          </p:nvPr>
        </p:nvSpPr>
        <p:spPr/>
        <p:txBody>
          <a:bodyPr/>
          <a:lstStyle/>
          <a:p>
            <a:r>
              <a:rPr lang="en-US" dirty="0" smtClean="0"/>
              <a:t>Types </a:t>
            </a:r>
            <a:r>
              <a:rPr lang="en-US" smtClean="0"/>
              <a:t>of  Cipher</a:t>
            </a:r>
            <a:endParaRPr lang="en-US" dirty="0"/>
          </a:p>
        </p:txBody>
      </p:sp>
      <p:grpSp>
        <p:nvGrpSpPr>
          <p:cNvPr id="4" name="Group 3"/>
          <p:cNvGrpSpPr>
            <a:grpSpLocks/>
          </p:cNvGrpSpPr>
          <p:nvPr/>
        </p:nvGrpSpPr>
        <p:grpSpPr bwMode="auto">
          <a:xfrm>
            <a:off x="990600" y="1981200"/>
            <a:ext cx="7315200" cy="3581400"/>
            <a:chOff x="2244" y="6684"/>
            <a:chExt cx="7836" cy="2916"/>
          </a:xfrm>
        </p:grpSpPr>
        <p:sp>
          <p:nvSpPr>
            <p:cNvPr id="5" name="Rectangle 4"/>
            <p:cNvSpPr>
              <a:spLocks noChangeArrowheads="1"/>
            </p:cNvSpPr>
            <p:nvPr/>
          </p:nvSpPr>
          <p:spPr bwMode="auto">
            <a:xfrm>
              <a:off x="2244" y="6684"/>
              <a:ext cx="7836" cy="291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 name="Text Box 5"/>
            <p:cNvSpPr txBox="1">
              <a:spLocks noChangeArrowheads="1"/>
            </p:cNvSpPr>
            <p:nvPr/>
          </p:nvSpPr>
          <p:spPr bwMode="auto">
            <a:xfrm>
              <a:off x="4692" y="7154"/>
              <a:ext cx="26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Algorithm Types</a:t>
              </a:r>
            </a:p>
          </p:txBody>
        </p:sp>
        <p:sp>
          <p:nvSpPr>
            <p:cNvPr id="7" name="Text Box 6"/>
            <p:cNvSpPr txBox="1">
              <a:spLocks noChangeArrowheads="1"/>
            </p:cNvSpPr>
            <p:nvPr/>
          </p:nvSpPr>
          <p:spPr bwMode="auto">
            <a:xfrm>
              <a:off x="3192" y="8533"/>
              <a:ext cx="2592"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Stream Ciphers</a:t>
              </a:r>
            </a:p>
          </p:txBody>
        </p:sp>
        <p:sp>
          <p:nvSpPr>
            <p:cNvPr id="8" name="Text Box 7"/>
            <p:cNvSpPr txBox="1">
              <a:spLocks noChangeArrowheads="1"/>
            </p:cNvSpPr>
            <p:nvPr/>
          </p:nvSpPr>
          <p:spPr bwMode="auto">
            <a:xfrm>
              <a:off x="6696" y="8521"/>
              <a:ext cx="2592"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Block Ciphers</a:t>
              </a:r>
            </a:p>
          </p:txBody>
        </p:sp>
        <p:sp>
          <p:nvSpPr>
            <p:cNvPr id="9" name="Line 8"/>
            <p:cNvSpPr>
              <a:spLocks noChangeShapeType="1"/>
            </p:cNvSpPr>
            <p:nvPr/>
          </p:nvSpPr>
          <p:spPr bwMode="auto">
            <a:xfrm>
              <a:off x="6072" y="7598"/>
              <a:ext cx="0" cy="5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9"/>
            <p:cNvSpPr>
              <a:spLocks noChangeShapeType="1"/>
            </p:cNvSpPr>
            <p:nvPr/>
          </p:nvSpPr>
          <p:spPr bwMode="auto">
            <a:xfrm>
              <a:off x="4680" y="8138"/>
              <a:ext cx="29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10"/>
            <p:cNvSpPr>
              <a:spLocks noChangeShapeType="1"/>
            </p:cNvSpPr>
            <p:nvPr/>
          </p:nvSpPr>
          <p:spPr bwMode="auto">
            <a:xfrm>
              <a:off x="4668" y="8138"/>
              <a:ext cx="0" cy="3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a:off x="7608" y="8150"/>
              <a:ext cx="0" cy="3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5429456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50584" y="242487"/>
            <a:ext cx="6324600" cy="879301"/>
          </a:xfrm>
        </p:spPr>
        <p:txBody>
          <a:bodyPr vert="horz" lIns="91440" tIns="45720" rIns="91440" bIns="45720" rtlCol="0" anchor="ctr" anchorCtr="0">
            <a:normAutofit/>
          </a:bodyPr>
          <a:lstStyle/>
          <a:p>
            <a:pPr>
              <a:spcBef>
                <a:spcPct val="0"/>
              </a:spcBef>
            </a:pPr>
            <a:r>
              <a:rPr lang="en-IN" sz="3200" dirty="0">
                <a:latin typeface="+mj-lt"/>
                <a:ea typeface="+mj-ea"/>
                <a:cs typeface="+mj-cs"/>
              </a:rPr>
              <a:t>Concept of  a Block Cipher</a:t>
            </a:r>
          </a:p>
        </p:txBody>
      </p:sp>
      <p:pic>
        <p:nvPicPr>
          <p:cNvPr id="1026" name="Picture 2"/>
          <p:cNvPicPr>
            <a:picLocks noChangeAspect="1" noChangeArrowheads="1"/>
          </p:cNvPicPr>
          <p:nvPr/>
        </p:nvPicPr>
        <p:blipFill>
          <a:blip r:embed="rId2" cstate="print"/>
          <a:srcRect/>
          <a:stretch>
            <a:fillRect/>
          </a:stretch>
        </p:blipFill>
        <p:spPr bwMode="auto">
          <a:xfrm>
            <a:off x="3203848" y="3429000"/>
            <a:ext cx="2543175" cy="3714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971600" y="2276872"/>
            <a:ext cx="2085975" cy="2733675"/>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6029275" y="2279501"/>
            <a:ext cx="2143125" cy="2733675"/>
          </a:xfrm>
          <a:prstGeom prst="rect">
            <a:avLst/>
          </a:prstGeom>
          <a:noFill/>
          <a:ln w="9525">
            <a:noFill/>
            <a:miter lim="800000"/>
            <a:headEnd/>
            <a:tailEnd/>
          </a:ln>
        </p:spPr>
      </p:pic>
      <p:grpSp>
        <p:nvGrpSpPr>
          <p:cNvPr id="14" name="Group 13"/>
          <p:cNvGrpSpPr/>
          <p:nvPr/>
        </p:nvGrpSpPr>
        <p:grpSpPr>
          <a:xfrm>
            <a:off x="1691680" y="1412776"/>
            <a:ext cx="6840760" cy="718989"/>
            <a:chOff x="1691680" y="1412776"/>
            <a:chExt cx="6840760" cy="718989"/>
          </a:xfrm>
        </p:grpSpPr>
        <p:pic>
          <p:nvPicPr>
            <p:cNvPr id="10" name="Picture 6" descr="https://cdn2.iconfinder.com/data/icons/happy-users/100/users11-512.png"/>
            <p:cNvPicPr>
              <a:picLocks noChangeAspect="1" noChangeArrowheads="1"/>
            </p:cNvPicPr>
            <p:nvPr/>
          </p:nvPicPr>
          <p:blipFill>
            <a:blip r:embed="rId5" cstate="print"/>
            <a:srcRect/>
            <a:stretch>
              <a:fillRect/>
            </a:stretch>
          </p:blipFill>
          <p:spPr bwMode="auto">
            <a:xfrm>
              <a:off x="1691680" y="1412776"/>
              <a:ext cx="646981" cy="646981"/>
            </a:xfrm>
            <a:prstGeom prst="rect">
              <a:avLst/>
            </a:prstGeom>
            <a:noFill/>
          </p:spPr>
        </p:pic>
        <p:pic>
          <p:nvPicPr>
            <p:cNvPr id="11" name="Picture 8" descr="https://cdn2.iconfinder.com/data/icons/happy-users/100/users02-512.png"/>
            <p:cNvPicPr>
              <a:picLocks noChangeAspect="1" noChangeArrowheads="1"/>
            </p:cNvPicPr>
            <p:nvPr/>
          </p:nvPicPr>
          <p:blipFill>
            <a:blip r:embed="rId6" cstate="print"/>
            <a:srcRect/>
            <a:stretch>
              <a:fillRect/>
            </a:stretch>
          </p:blipFill>
          <p:spPr bwMode="auto">
            <a:xfrm>
              <a:off x="6732240" y="1484784"/>
              <a:ext cx="646981" cy="646981"/>
            </a:xfrm>
            <a:prstGeom prst="rect">
              <a:avLst/>
            </a:prstGeom>
            <a:noFill/>
          </p:spPr>
        </p:pic>
        <p:sp>
          <p:nvSpPr>
            <p:cNvPr id="12" name="TextBox 11"/>
            <p:cNvSpPr txBox="1"/>
            <p:nvPr/>
          </p:nvSpPr>
          <p:spPr>
            <a:xfrm>
              <a:off x="2267744" y="1628800"/>
              <a:ext cx="1152128" cy="369332"/>
            </a:xfrm>
            <a:prstGeom prst="rect">
              <a:avLst/>
            </a:prstGeom>
            <a:noFill/>
          </p:spPr>
          <p:txBody>
            <a:bodyPr wrap="square" rtlCol="0">
              <a:spAutoFit/>
            </a:bodyPr>
            <a:lstStyle/>
            <a:p>
              <a:pPr algn="ctr"/>
              <a:r>
                <a:rPr lang="en-IN" b="1" i="1" dirty="0" smtClean="0"/>
                <a:t>Sender</a:t>
              </a:r>
              <a:endParaRPr lang="en-IN" b="1" i="1" dirty="0"/>
            </a:p>
          </p:txBody>
        </p:sp>
        <p:sp>
          <p:nvSpPr>
            <p:cNvPr id="13" name="TextBox 12"/>
            <p:cNvSpPr txBox="1"/>
            <p:nvPr/>
          </p:nvSpPr>
          <p:spPr>
            <a:xfrm>
              <a:off x="7380312" y="1628800"/>
              <a:ext cx="1152128" cy="369332"/>
            </a:xfrm>
            <a:prstGeom prst="rect">
              <a:avLst/>
            </a:prstGeom>
            <a:noFill/>
          </p:spPr>
          <p:txBody>
            <a:bodyPr wrap="square" rtlCol="0">
              <a:spAutoFit/>
            </a:bodyPr>
            <a:lstStyle/>
            <a:p>
              <a:pPr algn="ctr"/>
              <a:r>
                <a:rPr lang="en-IN" b="1" i="1" dirty="0" smtClean="0"/>
                <a:t>Receiver</a:t>
              </a:r>
              <a:endParaRPr lang="en-IN" b="1" i="1" dirty="0"/>
            </a:p>
          </p:txBody>
        </p:sp>
      </p:grpSp>
      <p:grpSp>
        <p:nvGrpSpPr>
          <p:cNvPr id="28" name="Group 27"/>
          <p:cNvGrpSpPr/>
          <p:nvPr/>
        </p:nvGrpSpPr>
        <p:grpSpPr>
          <a:xfrm>
            <a:off x="1547664" y="5157192"/>
            <a:ext cx="6264696" cy="864096"/>
            <a:chOff x="1547664" y="5157192"/>
            <a:chExt cx="6264696" cy="864096"/>
          </a:xfrm>
        </p:grpSpPr>
        <p:grpSp>
          <p:nvGrpSpPr>
            <p:cNvPr id="20" name="Group 19"/>
            <p:cNvGrpSpPr/>
            <p:nvPr/>
          </p:nvGrpSpPr>
          <p:grpSpPr>
            <a:xfrm>
              <a:off x="1547664" y="5661248"/>
              <a:ext cx="6264696" cy="360040"/>
              <a:chOff x="3275856" y="5733256"/>
              <a:chExt cx="2952328" cy="360040"/>
            </a:xfrm>
          </p:grpSpPr>
          <p:cxnSp>
            <p:nvCxnSpPr>
              <p:cNvPr id="15" name="Straight Connector 14"/>
              <p:cNvCxnSpPr/>
              <p:nvPr/>
            </p:nvCxnSpPr>
            <p:spPr>
              <a:xfrm>
                <a:off x="3344515" y="5733256"/>
                <a:ext cx="2815011" cy="0"/>
              </a:xfrm>
              <a:prstGeom prst="line">
                <a:avLst/>
              </a:prstGeom>
              <a:solidFill>
                <a:srgbClr val="FFFF00"/>
              </a:solid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344515" y="6093296"/>
                <a:ext cx="2815011" cy="0"/>
              </a:xfrm>
              <a:prstGeom prst="line">
                <a:avLst/>
              </a:prstGeom>
              <a:solidFill>
                <a:srgbClr val="FFFF00"/>
              </a:solid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275856" y="5733256"/>
                <a:ext cx="137317" cy="36004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6090867" y="5733256"/>
                <a:ext cx="137317" cy="36004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 name="TextBox 18"/>
            <p:cNvSpPr txBox="1"/>
            <p:nvPr/>
          </p:nvSpPr>
          <p:spPr>
            <a:xfrm>
              <a:off x="3131840" y="5661248"/>
              <a:ext cx="3456384" cy="338554"/>
            </a:xfrm>
            <a:prstGeom prst="rect">
              <a:avLst/>
            </a:prstGeom>
            <a:noFill/>
          </p:spPr>
          <p:txBody>
            <a:bodyPr wrap="square" rtlCol="0">
              <a:spAutoFit/>
            </a:bodyPr>
            <a:lstStyle/>
            <a:p>
              <a:pPr algn="ctr"/>
              <a:r>
                <a:rPr lang="en-IN" sz="1600" b="1" i="1" dirty="0" smtClean="0"/>
                <a:t>Insecure Communication Channel</a:t>
              </a:r>
              <a:endParaRPr lang="en-IN" sz="1600" b="1" i="1" dirty="0"/>
            </a:p>
          </p:txBody>
        </p:sp>
        <p:cxnSp>
          <p:nvCxnSpPr>
            <p:cNvPr id="24" name="Straight Arrow Connector 23"/>
            <p:cNvCxnSpPr/>
            <p:nvPr/>
          </p:nvCxnSpPr>
          <p:spPr>
            <a:xfrm>
              <a:off x="1979712" y="5157192"/>
              <a:ext cx="0" cy="43204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7092280" y="5157192"/>
              <a:ext cx="0" cy="43204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8891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IN" sz="3200" dirty="0">
                <a:solidFill>
                  <a:prstClr val="black"/>
                </a:solidFill>
              </a:rPr>
              <a:t>How the key will be generated and distributed?</a:t>
            </a:r>
          </a:p>
          <a:p>
            <a:pPr>
              <a:buClrTx/>
              <a:buChar char="•"/>
            </a:pPr>
            <a:r>
              <a:rPr lang="en-IN" sz="3200" dirty="0">
                <a:solidFill>
                  <a:prstClr val="black"/>
                </a:solidFill>
              </a:rPr>
              <a:t>Selection of block ciphering algorithm to encrypt and decrypt.</a:t>
            </a:r>
          </a:p>
          <a:p>
            <a:pPr>
              <a:buClrTx/>
              <a:buChar char="•"/>
            </a:pPr>
            <a:r>
              <a:rPr lang="en-IN" sz="3200" dirty="0">
                <a:solidFill>
                  <a:prstClr val="black"/>
                </a:solidFill>
              </a:rPr>
              <a:t>How do we know these algorithms are strong enough?</a:t>
            </a:r>
          </a:p>
          <a:p>
            <a:pPr>
              <a:buClrTx/>
              <a:buChar char="•"/>
            </a:pPr>
            <a:endParaRPr lang="en-IN"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Challenges in Block  Ciphering</a:t>
            </a:r>
          </a:p>
        </p:txBody>
      </p:sp>
    </p:spTree>
    <p:extLst>
      <p:ext uri="{BB962C8B-B14F-4D97-AF65-F5344CB8AC3E}">
        <p14:creationId xmlns:p14="http://schemas.microsoft.com/office/powerpoint/2010/main" val="26318970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Stream Cipher Example</a:t>
            </a:r>
            <a:endParaRPr lang="en-US" sz="3200" dirty="0">
              <a:latin typeface="+mj-lt"/>
              <a:ea typeface="+mj-ea"/>
              <a:cs typeface="+mj-cs"/>
            </a:endParaRPr>
          </a:p>
        </p:txBody>
      </p:sp>
      <p:grpSp>
        <p:nvGrpSpPr>
          <p:cNvPr id="5" name="Group 3"/>
          <p:cNvGrpSpPr>
            <a:grpSpLocks/>
          </p:cNvGrpSpPr>
          <p:nvPr/>
        </p:nvGrpSpPr>
        <p:grpSpPr bwMode="auto">
          <a:xfrm>
            <a:off x="683568" y="1541352"/>
            <a:ext cx="7239000" cy="3657600"/>
            <a:chOff x="2286" y="1735"/>
            <a:chExt cx="8100" cy="3760"/>
          </a:xfrm>
        </p:grpSpPr>
        <p:sp>
          <p:nvSpPr>
            <p:cNvPr id="6" name="Rectangle 4"/>
            <p:cNvSpPr>
              <a:spLocks noChangeArrowheads="1"/>
            </p:cNvSpPr>
            <p:nvPr/>
          </p:nvSpPr>
          <p:spPr bwMode="auto">
            <a:xfrm>
              <a:off x="2286" y="1735"/>
              <a:ext cx="8100" cy="37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5"/>
            <p:cNvSpPr txBox="1">
              <a:spLocks noChangeAspect="1" noChangeArrowheads="1"/>
            </p:cNvSpPr>
            <p:nvPr/>
          </p:nvSpPr>
          <p:spPr bwMode="auto">
            <a:xfrm>
              <a:off x="3726" y="3047"/>
              <a:ext cx="1200" cy="4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rgbClr val="000000"/>
                  </a:solidFill>
                  <a:latin typeface="Times New Roman" panose="02020603050405020304" pitchFamily="18" charset="0"/>
                </a:rPr>
                <a:t>Pay 100</a:t>
              </a:r>
            </a:p>
          </p:txBody>
        </p:sp>
        <p:sp>
          <p:nvSpPr>
            <p:cNvPr id="8" name="Text Box 6"/>
            <p:cNvSpPr txBox="1">
              <a:spLocks noChangeAspect="1" noChangeArrowheads="1"/>
            </p:cNvSpPr>
            <p:nvPr/>
          </p:nvSpPr>
          <p:spPr bwMode="auto">
            <a:xfrm>
              <a:off x="5445" y="3055"/>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rgbClr val="000000"/>
                  </a:solidFill>
                  <a:latin typeface="Times New Roman" panose="02020603050405020304" pitchFamily="18" charset="0"/>
                </a:rPr>
                <a:t>01011100</a:t>
              </a:r>
              <a:r>
                <a:rPr lang="en-US" altLang="en-US" sz="1600">
                  <a:solidFill>
                    <a:srgbClr val="000000"/>
                  </a:solidFill>
                  <a:latin typeface="Times New Roman" panose="02020603050405020304" pitchFamily="18" charset="0"/>
                </a:rPr>
                <a:t>1</a:t>
              </a:r>
            </a:p>
            <a:p>
              <a:pPr>
                <a:spcBef>
                  <a:spcPct val="0"/>
                </a:spcBef>
                <a:buClrTx/>
                <a:buSzTx/>
                <a:buFontTx/>
                <a:buNone/>
              </a:pPr>
              <a:endParaRPr lang="en-US" altLang="en-US" sz="1600">
                <a:solidFill>
                  <a:srgbClr val="000000"/>
                </a:solidFill>
                <a:latin typeface="Times New Roman" panose="02020603050405020304" pitchFamily="18" charset="0"/>
              </a:endParaRPr>
            </a:p>
          </p:txBody>
        </p:sp>
        <p:sp>
          <p:nvSpPr>
            <p:cNvPr id="9" name="Text Box 7"/>
            <p:cNvSpPr txBox="1">
              <a:spLocks noChangeAspect="1" noChangeArrowheads="1"/>
            </p:cNvSpPr>
            <p:nvPr/>
          </p:nvSpPr>
          <p:spPr bwMode="auto">
            <a:xfrm>
              <a:off x="5445" y="3565"/>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rgbClr val="000000"/>
                  </a:solidFill>
                  <a:latin typeface="Times New Roman" panose="02020603050405020304" pitchFamily="18" charset="0"/>
                </a:rPr>
                <a:t>100101011</a:t>
              </a:r>
            </a:p>
          </p:txBody>
        </p:sp>
        <p:sp>
          <p:nvSpPr>
            <p:cNvPr id="10" name="Text Box 8"/>
            <p:cNvSpPr txBox="1">
              <a:spLocks noChangeAspect="1" noChangeArrowheads="1"/>
            </p:cNvSpPr>
            <p:nvPr/>
          </p:nvSpPr>
          <p:spPr bwMode="auto">
            <a:xfrm>
              <a:off x="3546" y="4405"/>
              <a:ext cx="156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rgbClr val="000000"/>
                  </a:solidFill>
                  <a:latin typeface="Times New Roman" panose="02020603050405020304" pitchFamily="18" charset="0"/>
                </a:rPr>
                <a:t>ZTU91_^%D</a:t>
              </a:r>
            </a:p>
          </p:txBody>
        </p:sp>
        <p:sp>
          <p:nvSpPr>
            <p:cNvPr id="11" name="Text Box 9"/>
            <p:cNvSpPr txBox="1">
              <a:spLocks noChangeAspect="1" noChangeArrowheads="1"/>
            </p:cNvSpPr>
            <p:nvPr/>
          </p:nvSpPr>
          <p:spPr bwMode="auto">
            <a:xfrm>
              <a:off x="3006" y="3471"/>
              <a:ext cx="540"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solidFill>
                    <a:srgbClr val="000000"/>
                  </a:solidFill>
                  <a:latin typeface="Times New Roman" panose="02020603050405020304" pitchFamily="18" charset="0"/>
                </a:rPr>
                <a:t>+</a:t>
              </a:r>
            </a:p>
          </p:txBody>
        </p:sp>
        <p:sp>
          <p:nvSpPr>
            <p:cNvPr id="12" name="Text Box 10"/>
            <p:cNvSpPr txBox="1">
              <a:spLocks noChangeAspect="1" noChangeArrowheads="1"/>
            </p:cNvSpPr>
            <p:nvPr/>
          </p:nvSpPr>
          <p:spPr bwMode="auto">
            <a:xfrm>
              <a:off x="5511" y="4405"/>
              <a:ext cx="156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11001001</a:t>
              </a:r>
            </a:p>
          </p:txBody>
        </p:sp>
        <p:sp>
          <p:nvSpPr>
            <p:cNvPr id="13" name="Line 11"/>
            <p:cNvSpPr>
              <a:spLocks noChangeShapeType="1"/>
            </p:cNvSpPr>
            <p:nvPr/>
          </p:nvSpPr>
          <p:spPr bwMode="auto">
            <a:xfrm>
              <a:off x="3366" y="4105"/>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12"/>
            <p:cNvSpPr>
              <a:spLocks noChangeShapeType="1"/>
            </p:cNvSpPr>
            <p:nvPr/>
          </p:nvSpPr>
          <p:spPr bwMode="auto">
            <a:xfrm>
              <a:off x="3366" y="5005"/>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Text Box 13"/>
            <p:cNvSpPr txBox="1">
              <a:spLocks noChangeArrowheads="1"/>
            </p:cNvSpPr>
            <p:nvPr/>
          </p:nvSpPr>
          <p:spPr bwMode="auto">
            <a:xfrm>
              <a:off x="7686" y="2953"/>
              <a:ext cx="126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Plain text</a:t>
              </a:r>
            </a:p>
          </p:txBody>
        </p:sp>
        <p:sp>
          <p:nvSpPr>
            <p:cNvPr id="16" name="Text Box 14"/>
            <p:cNvSpPr txBox="1">
              <a:spLocks noChangeArrowheads="1"/>
            </p:cNvSpPr>
            <p:nvPr/>
          </p:nvSpPr>
          <p:spPr bwMode="auto">
            <a:xfrm>
              <a:off x="7686" y="4405"/>
              <a:ext cx="144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Cipher text</a:t>
              </a:r>
            </a:p>
          </p:txBody>
        </p:sp>
        <p:sp>
          <p:nvSpPr>
            <p:cNvPr id="17" name="Text Box 15"/>
            <p:cNvSpPr txBox="1">
              <a:spLocks noChangeArrowheads="1"/>
            </p:cNvSpPr>
            <p:nvPr/>
          </p:nvSpPr>
          <p:spPr bwMode="auto">
            <a:xfrm>
              <a:off x="7086" y="3587"/>
              <a:ext cx="294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400" b="1">
                  <a:latin typeface="Times New Roman" panose="02020603050405020304" pitchFamily="18" charset="0"/>
                </a:rPr>
                <a:t>XOR operation with the key</a:t>
              </a:r>
            </a:p>
          </p:txBody>
        </p:sp>
        <p:sp>
          <p:nvSpPr>
            <p:cNvPr id="18" name="Text Box 16"/>
            <p:cNvSpPr txBox="1">
              <a:spLocks noChangeArrowheads="1"/>
            </p:cNvSpPr>
            <p:nvPr/>
          </p:nvSpPr>
          <p:spPr bwMode="auto">
            <a:xfrm>
              <a:off x="3546" y="2095"/>
              <a:ext cx="13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In normal format</a:t>
              </a:r>
            </a:p>
          </p:txBody>
        </p:sp>
        <p:sp>
          <p:nvSpPr>
            <p:cNvPr id="19" name="Text Box 17"/>
            <p:cNvSpPr txBox="1">
              <a:spLocks noChangeArrowheads="1"/>
            </p:cNvSpPr>
            <p:nvPr/>
          </p:nvSpPr>
          <p:spPr bwMode="auto">
            <a:xfrm>
              <a:off x="5445" y="2095"/>
              <a:ext cx="13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In binary format</a:t>
              </a:r>
            </a:p>
          </p:txBody>
        </p:sp>
      </p:grpSp>
      <p:sp>
        <p:nvSpPr>
          <p:cNvPr id="20" name="Rectangle 18"/>
          <p:cNvSpPr>
            <a:spLocks noChangeArrowheads="1"/>
          </p:cNvSpPr>
          <p:nvPr/>
        </p:nvSpPr>
        <p:spPr bwMode="auto">
          <a:xfrm>
            <a:off x="481529" y="5430791"/>
            <a:ext cx="8077200" cy="914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latin typeface="Times New Roman" panose="02020603050405020304" pitchFamily="18" charset="0"/>
              </a:rPr>
              <a:t>Stream Cipher involves the encryption of one plain text bit at a time. The </a:t>
            </a:r>
          </a:p>
          <a:p>
            <a:pPr algn="ctr" eaLnBrk="1" hangingPunct="1">
              <a:spcBef>
                <a:spcPct val="0"/>
              </a:spcBef>
              <a:buClrTx/>
              <a:buSzTx/>
              <a:buFontTx/>
              <a:buNone/>
            </a:pPr>
            <a:r>
              <a:rPr lang="en-US" altLang="en-US" sz="2000" dirty="0">
                <a:latin typeface="Times New Roman" panose="02020603050405020304" pitchFamily="18" charset="0"/>
              </a:rPr>
              <a:t>decryption also happens one bit at a time. XOR is reversible-when used twice,</a:t>
            </a:r>
          </a:p>
          <a:p>
            <a:pPr algn="ctr" eaLnBrk="1" hangingPunct="1">
              <a:spcBef>
                <a:spcPct val="0"/>
              </a:spcBef>
              <a:buClrTx/>
              <a:buSzTx/>
              <a:buFontTx/>
              <a:buNone/>
            </a:pPr>
            <a:r>
              <a:rPr lang="en-US" altLang="en-US" sz="2000" dirty="0">
                <a:latin typeface="Times New Roman" panose="02020603050405020304" pitchFamily="18" charset="0"/>
              </a:rPr>
              <a:t>it produces the original values. Hence useful in Cryptography.</a:t>
            </a:r>
          </a:p>
        </p:txBody>
      </p:sp>
    </p:spTree>
    <p:extLst>
      <p:ext uri="{BB962C8B-B14F-4D97-AF65-F5344CB8AC3E}">
        <p14:creationId xmlns:p14="http://schemas.microsoft.com/office/powerpoint/2010/main" val="22727609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Block Cipher Example</a:t>
            </a:r>
            <a:endParaRPr lang="en-US" sz="3200" dirty="0">
              <a:latin typeface="+mj-lt"/>
              <a:ea typeface="+mj-ea"/>
              <a:cs typeface="+mj-cs"/>
            </a:endParaRPr>
          </a:p>
        </p:txBody>
      </p:sp>
      <p:grpSp>
        <p:nvGrpSpPr>
          <p:cNvPr id="5" name="Group 3"/>
          <p:cNvGrpSpPr>
            <a:grpSpLocks/>
          </p:cNvGrpSpPr>
          <p:nvPr/>
        </p:nvGrpSpPr>
        <p:grpSpPr bwMode="auto">
          <a:xfrm>
            <a:off x="539552" y="1700808"/>
            <a:ext cx="7967662" cy="4379913"/>
            <a:chOff x="2595" y="2157"/>
            <a:chExt cx="7569" cy="8367"/>
          </a:xfrm>
        </p:grpSpPr>
        <p:sp>
          <p:nvSpPr>
            <p:cNvPr id="6" name="Rectangle 4"/>
            <p:cNvSpPr>
              <a:spLocks noChangeArrowheads="1"/>
            </p:cNvSpPr>
            <p:nvPr/>
          </p:nvSpPr>
          <p:spPr bwMode="auto">
            <a:xfrm>
              <a:off x="2601" y="2157"/>
              <a:ext cx="7560" cy="836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5"/>
            <p:cNvSpPr txBox="1">
              <a:spLocks noChangeArrowheads="1"/>
            </p:cNvSpPr>
            <p:nvPr/>
          </p:nvSpPr>
          <p:spPr bwMode="auto">
            <a:xfrm>
              <a:off x="3501" y="26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FOUR</a:t>
              </a:r>
            </a:p>
          </p:txBody>
        </p:sp>
        <p:sp>
          <p:nvSpPr>
            <p:cNvPr id="8" name="Text Box 6"/>
            <p:cNvSpPr txBox="1">
              <a:spLocks noChangeArrowheads="1"/>
            </p:cNvSpPr>
            <p:nvPr/>
          </p:nvSpPr>
          <p:spPr bwMode="auto">
            <a:xfrm>
              <a:off x="5142" y="26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_AND_</a:t>
              </a:r>
            </a:p>
          </p:txBody>
        </p:sp>
        <p:sp>
          <p:nvSpPr>
            <p:cNvPr id="9" name="Text Box 7"/>
            <p:cNvSpPr txBox="1">
              <a:spLocks noChangeArrowheads="1"/>
            </p:cNvSpPr>
            <p:nvPr/>
          </p:nvSpPr>
          <p:spPr bwMode="auto">
            <a:xfrm>
              <a:off x="6921" y="26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FOUR</a:t>
              </a:r>
            </a:p>
          </p:txBody>
        </p:sp>
        <p:sp>
          <p:nvSpPr>
            <p:cNvPr id="10" name="Text Box 8"/>
            <p:cNvSpPr txBox="1">
              <a:spLocks noChangeArrowheads="1"/>
            </p:cNvSpPr>
            <p:nvPr/>
          </p:nvSpPr>
          <p:spPr bwMode="auto">
            <a:xfrm>
              <a:off x="8181" y="2684"/>
              <a:ext cx="12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Plain text</a:t>
              </a:r>
            </a:p>
          </p:txBody>
        </p:sp>
        <p:sp>
          <p:nvSpPr>
            <p:cNvPr id="11" name="Text Box 9"/>
            <p:cNvSpPr txBox="1">
              <a:spLocks noChangeArrowheads="1"/>
            </p:cNvSpPr>
            <p:nvPr/>
          </p:nvSpPr>
          <p:spPr bwMode="auto">
            <a:xfrm>
              <a:off x="3501"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Encrypt</a:t>
              </a:r>
            </a:p>
          </p:txBody>
        </p:sp>
        <p:sp>
          <p:nvSpPr>
            <p:cNvPr id="12" name="Text Box 10"/>
            <p:cNvSpPr txBox="1">
              <a:spLocks noChangeArrowheads="1"/>
            </p:cNvSpPr>
            <p:nvPr/>
          </p:nvSpPr>
          <p:spPr bwMode="auto">
            <a:xfrm>
              <a:off x="5142"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Encrypt</a:t>
              </a:r>
            </a:p>
          </p:txBody>
        </p:sp>
        <p:sp>
          <p:nvSpPr>
            <p:cNvPr id="13" name="Text Box 11"/>
            <p:cNvSpPr txBox="1">
              <a:spLocks noChangeArrowheads="1"/>
            </p:cNvSpPr>
            <p:nvPr/>
          </p:nvSpPr>
          <p:spPr bwMode="auto">
            <a:xfrm>
              <a:off x="6921"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Encrypt</a:t>
              </a:r>
            </a:p>
          </p:txBody>
        </p:sp>
        <p:sp>
          <p:nvSpPr>
            <p:cNvPr id="14" name="Line 12"/>
            <p:cNvSpPr>
              <a:spLocks noChangeShapeType="1"/>
            </p:cNvSpPr>
            <p:nvPr/>
          </p:nvSpPr>
          <p:spPr bwMode="auto">
            <a:xfrm>
              <a:off x="386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13"/>
            <p:cNvSpPr>
              <a:spLocks noChangeShapeType="1"/>
            </p:cNvSpPr>
            <p:nvPr/>
          </p:nvSpPr>
          <p:spPr bwMode="auto">
            <a:xfrm>
              <a:off x="566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Line 14"/>
            <p:cNvSpPr>
              <a:spLocks noChangeShapeType="1"/>
            </p:cNvSpPr>
            <p:nvPr/>
          </p:nvSpPr>
          <p:spPr bwMode="auto">
            <a:xfrm>
              <a:off x="740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Text Box 15"/>
            <p:cNvSpPr txBox="1">
              <a:spLocks noChangeArrowheads="1"/>
            </p:cNvSpPr>
            <p:nvPr/>
          </p:nvSpPr>
          <p:spPr bwMode="auto">
            <a:xfrm>
              <a:off x="3501"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VFa%</a:t>
              </a:r>
            </a:p>
          </p:txBody>
        </p:sp>
        <p:sp>
          <p:nvSpPr>
            <p:cNvPr id="18" name="Text Box 16"/>
            <p:cNvSpPr txBox="1">
              <a:spLocks noChangeArrowheads="1"/>
            </p:cNvSpPr>
            <p:nvPr/>
          </p:nvSpPr>
          <p:spPr bwMode="auto">
            <a:xfrm>
              <a:off x="6921"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VFa%</a:t>
              </a:r>
            </a:p>
          </p:txBody>
        </p:sp>
        <p:sp>
          <p:nvSpPr>
            <p:cNvPr id="19" name="Text Box 17"/>
            <p:cNvSpPr txBox="1">
              <a:spLocks noChangeArrowheads="1"/>
            </p:cNvSpPr>
            <p:nvPr/>
          </p:nvSpPr>
          <p:spPr bwMode="auto">
            <a:xfrm>
              <a:off x="5142"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*yT1x</a:t>
              </a:r>
            </a:p>
          </p:txBody>
        </p:sp>
        <p:sp>
          <p:nvSpPr>
            <p:cNvPr id="20" name="Text Box 18"/>
            <p:cNvSpPr txBox="1">
              <a:spLocks noChangeArrowheads="1"/>
            </p:cNvSpPr>
            <p:nvPr/>
          </p:nvSpPr>
          <p:spPr bwMode="auto">
            <a:xfrm>
              <a:off x="8181" y="4484"/>
              <a:ext cx="138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Cipher text</a:t>
              </a:r>
            </a:p>
          </p:txBody>
        </p:sp>
        <p:sp>
          <p:nvSpPr>
            <p:cNvPr id="21" name="Line 19"/>
            <p:cNvSpPr>
              <a:spLocks noChangeShapeType="1"/>
            </p:cNvSpPr>
            <p:nvPr/>
          </p:nvSpPr>
          <p:spPr bwMode="auto">
            <a:xfrm>
              <a:off x="386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Line 20"/>
            <p:cNvSpPr>
              <a:spLocks noChangeShapeType="1"/>
            </p:cNvSpPr>
            <p:nvPr/>
          </p:nvSpPr>
          <p:spPr bwMode="auto">
            <a:xfrm>
              <a:off x="566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Line 21"/>
            <p:cNvSpPr>
              <a:spLocks noChangeShapeType="1"/>
            </p:cNvSpPr>
            <p:nvPr/>
          </p:nvSpPr>
          <p:spPr bwMode="auto">
            <a:xfrm>
              <a:off x="740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Text Box 22"/>
            <p:cNvSpPr txBox="1">
              <a:spLocks noChangeArrowheads="1"/>
            </p:cNvSpPr>
            <p:nvPr/>
          </p:nvSpPr>
          <p:spPr bwMode="auto">
            <a:xfrm>
              <a:off x="3248" y="5124"/>
              <a:ext cx="6179" cy="5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 The Encryption Process at the sender’s end</a:t>
              </a:r>
            </a:p>
          </p:txBody>
        </p:sp>
        <p:sp>
          <p:nvSpPr>
            <p:cNvPr id="25" name="Text Box 23"/>
            <p:cNvSpPr txBox="1">
              <a:spLocks noChangeArrowheads="1"/>
            </p:cNvSpPr>
            <p:nvPr/>
          </p:nvSpPr>
          <p:spPr bwMode="auto">
            <a:xfrm>
              <a:off x="3507"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VFa%</a:t>
              </a:r>
            </a:p>
          </p:txBody>
        </p:sp>
        <p:sp>
          <p:nvSpPr>
            <p:cNvPr id="26" name="Text Box 24"/>
            <p:cNvSpPr txBox="1">
              <a:spLocks noChangeArrowheads="1"/>
            </p:cNvSpPr>
            <p:nvPr/>
          </p:nvSpPr>
          <p:spPr bwMode="auto">
            <a:xfrm>
              <a:off x="6927"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VFa%</a:t>
              </a:r>
            </a:p>
          </p:txBody>
        </p:sp>
        <p:sp>
          <p:nvSpPr>
            <p:cNvPr id="27" name="Text Box 25"/>
            <p:cNvSpPr txBox="1">
              <a:spLocks noChangeArrowheads="1"/>
            </p:cNvSpPr>
            <p:nvPr/>
          </p:nvSpPr>
          <p:spPr bwMode="auto">
            <a:xfrm>
              <a:off x="5148"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*yT1x</a:t>
              </a:r>
            </a:p>
          </p:txBody>
        </p:sp>
        <p:sp>
          <p:nvSpPr>
            <p:cNvPr id="28" name="Text Box 26"/>
            <p:cNvSpPr txBox="1">
              <a:spLocks noChangeArrowheads="1"/>
            </p:cNvSpPr>
            <p:nvPr/>
          </p:nvSpPr>
          <p:spPr bwMode="auto">
            <a:xfrm>
              <a:off x="8187" y="7236"/>
              <a:ext cx="138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Cipher text</a:t>
              </a:r>
            </a:p>
          </p:txBody>
        </p:sp>
        <p:sp>
          <p:nvSpPr>
            <p:cNvPr id="29" name="Line 27"/>
            <p:cNvSpPr>
              <a:spLocks noChangeShapeType="1"/>
            </p:cNvSpPr>
            <p:nvPr/>
          </p:nvSpPr>
          <p:spPr bwMode="auto">
            <a:xfrm>
              <a:off x="386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28"/>
            <p:cNvSpPr>
              <a:spLocks noChangeShapeType="1"/>
            </p:cNvSpPr>
            <p:nvPr/>
          </p:nvSpPr>
          <p:spPr bwMode="auto">
            <a:xfrm>
              <a:off x="566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29"/>
            <p:cNvSpPr>
              <a:spLocks noChangeShapeType="1"/>
            </p:cNvSpPr>
            <p:nvPr/>
          </p:nvSpPr>
          <p:spPr bwMode="auto">
            <a:xfrm>
              <a:off x="740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Text Box 30"/>
            <p:cNvSpPr txBox="1">
              <a:spLocks noChangeArrowheads="1"/>
            </p:cNvSpPr>
            <p:nvPr/>
          </p:nvSpPr>
          <p:spPr bwMode="auto">
            <a:xfrm>
              <a:off x="3506"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Decrypt</a:t>
              </a:r>
            </a:p>
          </p:txBody>
        </p:sp>
        <p:sp>
          <p:nvSpPr>
            <p:cNvPr id="33" name="Text Box 31"/>
            <p:cNvSpPr txBox="1">
              <a:spLocks noChangeArrowheads="1"/>
            </p:cNvSpPr>
            <p:nvPr/>
          </p:nvSpPr>
          <p:spPr bwMode="auto">
            <a:xfrm>
              <a:off x="5147"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Decrypt</a:t>
              </a:r>
            </a:p>
          </p:txBody>
        </p:sp>
        <p:sp>
          <p:nvSpPr>
            <p:cNvPr id="34" name="Text Box 32"/>
            <p:cNvSpPr txBox="1">
              <a:spLocks noChangeArrowheads="1"/>
            </p:cNvSpPr>
            <p:nvPr/>
          </p:nvSpPr>
          <p:spPr bwMode="auto">
            <a:xfrm>
              <a:off x="6926"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Decrypt</a:t>
              </a:r>
            </a:p>
          </p:txBody>
        </p:sp>
        <p:sp>
          <p:nvSpPr>
            <p:cNvPr id="35" name="Line 33"/>
            <p:cNvSpPr>
              <a:spLocks noChangeShapeType="1"/>
            </p:cNvSpPr>
            <p:nvPr/>
          </p:nvSpPr>
          <p:spPr bwMode="auto">
            <a:xfrm>
              <a:off x="388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4"/>
            <p:cNvSpPr>
              <a:spLocks noChangeShapeType="1"/>
            </p:cNvSpPr>
            <p:nvPr/>
          </p:nvSpPr>
          <p:spPr bwMode="auto">
            <a:xfrm>
              <a:off x="568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5"/>
            <p:cNvSpPr>
              <a:spLocks noChangeShapeType="1"/>
            </p:cNvSpPr>
            <p:nvPr/>
          </p:nvSpPr>
          <p:spPr bwMode="auto">
            <a:xfrm>
              <a:off x="742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Text Box 36"/>
            <p:cNvSpPr txBox="1">
              <a:spLocks noChangeArrowheads="1"/>
            </p:cNvSpPr>
            <p:nvPr/>
          </p:nvSpPr>
          <p:spPr bwMode="auto">
            <a:xfrm>
              <a:off x="3506" y="9069"/>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FOUR</a:t>
              </a:r>
            </a:p>
          </p:txBody>
        </p:sp>
        <p:sp>
          <p:nvSpPr>
            <p:cNvPr id="39" name="Text Box 37"/>
            <p:cNvSpPr txBox="1">
              <a:spLocks noChangeArrowheads="1"/>
            </p:cNvSpPr>
            <p:nvPr/>
          </p:nvSpPr>
          <p:spPr bwMode="auto">
            <a:xfrm>
              <a:off x="5147" y="9069"/>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_AND_</a:t>
              </a:r>
            </a:p>
          </p:txBody>
        </p:sp>
        <p:sp>
          <p:nvSpPr>
            <p:cNvPr id="40" name="Text Box 38"/>
            <p:cNvSpPr txBox="1">
              <a:spLocks noChangeArrowheads="1"/>
            </p:cNvSpPr>
            <p:nvPr/>
          </p:nvSpPr>
          <p:spPr bwMode="auto">
            <a:xfrm>
              <a:off x="6926" y="9069"/>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FOUR</a:t>
              </a:r>
            </a:p>
          </p:txBody>
        </p:sp>
        <p:sp>
          <p:nvSpPr>
            <p:cNvPr id="41" name="Text Box 39"/>
            <p:cNvSpPr txBox="1">
              <a:spLocks noChangeArrowheads="1"/>
            </p:cNvSpPr>
            <p:nvPr/>
          </p:nvSpPr>
          <p:spPr bwMode="auto">
            <a:xfrm>
              <a:off x="8186" y="9069"/>
              <a:ext cx="12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Plain text</a:t>
              </a:r>
            </a:p>
          </p:txBody>
        </p:sp>
        <p:sp>
          <p:nvSpPr>
            <p:cNvPr id="42" name="Text Box 40"/>
            <p:cNvSpPr txBox="1">
              <a:spLocks noChangeArrowheads="1"/>
            </p:cNvSpPr>
            <p:nvPr/>
          </p:nvSpPr>
          <p:spPr bwMode="auto">
            <a:xfrm>
              <a:off x="3253" y="9734"/>
              <a:ext cx="6179" cy="5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 The Decryption Process at the receiver’s end</a:t>
              </a:r>
            </a:p>
          </p:txBody>
        </p:sp>
        <p:sp>
          <p:nvSpPr>
            <p:cNvPr id="43" name="Line 41"/>
            <p:cNvSpPr>
              <a:spLocks noChangeShapeType="1"/>
            </p:cNvSpPr>
            <p:nvPr/>
          </p:nvSpPr>
          <p:spPr bwMode="auto">
            <a:xfrm>
              <a:off x="2595" y="6363"/>
              <a:ext cx="756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7322329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815483"/>
          </a:xfrm>
        </p:spPr>
        <p:txBody>
          <a:bodyPr vert="horz" lIns="91440" tIns="45720" rIns="91440" bIns="45720" rtlCol="0">
            <a:normAutofit fontScale="77500" lnSpcReduction="20000"/>
          </a:bodyPr>
          <a:lstStyle/>
          <a:p>
            <a:pPr>
              <a:buClrTx/>
              <a:buChar char="•"/>
            </a:pPr>
            <a:r>
              <a:rPr lang="en-US" sz="3200" dirty="0">
                <a:solidFill>
                  <a:prstClr val="black"/>
                </a:solidFill>
              </a:rPr>
              <a:t>An obvious problem with block ciphers is repeating text. </a:t>
            </a:r>
          </a:p>
          <a:p>
            <a:pPr>
              <a:buClrTx/>
              <a:buChar char="•"/>
            </a:pPr>
            <a:r>
              <a:rPr lang="en-US" sz="3200" dirty="0">
                <a:solidFill>
                  <a:prstClr val="black"/>
                </a:solidFill>
              </a:rPr>
              <a:t>It gives clue to the cryptanalyst regarding the original plain text.</a:t>
            </a:r>
          </a:p>
          <a:p>
            <a:pPr>
              <a:buClrTx/>
              <a:buChar char="•"/>
            </a:pPr>
            <a:r>
              <a:rPr lang="en-US" sz="3200" dirty="0">
                <a:solidFill>
                  <a:prstClr val="black"/>
                </a:solidFill>
              </a:rPr>
              <a:t>Even If the cryptanalyst cannot guess the remaining words, suppose he changes all debit to credit and vice versa in a funds transfer message, it could cause havoc!.</a:t>
            </a:r>
          </a:p>
          <a:p>
            <a:pPr>
              <a:buClrTx/>
              <a:buChar char="•"/>
            </a:pPr>
            <a:r>
              <a:rPr lang="en-US" sz="3200" dirty="0">
                <a:solidFill>
                  <a:prstClr val="black"/>
                </a:solidFill>
              </a:rPr>
              <a:t>Solution is to use block ciphers in chaining mode.</a:t>
            </a:r>
          </a:p>
          <a:p>
            <a:pPr>
              <a:buClrTx/>
              <a:buChar char="•"/>
            </a:pPr>
            <a:r>
              <a:rPr lang="en-US" sz="3200" dirty="0">
                <a:solidFill>
                  <a:prstClr val="black"/>
                </a:solidFill>
              </a:rPr>
              <a:t>In this mode, the previous block of cipher text is mixed with the current block, so as to obscure the cipher text, thus avoiding repeated patterns of blocks with the same contents.</a:t>
            </a:r>
          </a:p>
          <a:p>
            <a:pPr>
              <a:buClrTx/>
              <a:buChar char="•"/>
            </a:pPr>
            <a:r>
              <a:rPr lang="en-US" sz="3200" dirty="0">
                <a:solidFill>
                  <a:prstClr val="black"/>
                </a:solidFill>
              </a:rPr>
              <a:t>Practically, the blocks used in block cipher generally contain 64 bits or more.</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Block Ciphers </a:t>
            </a:r>
            <a:endParaRPr lang="en-US" sz="3200" dirty="0">
              <a:latin typeface="+mj-lt"/>
              <a:ea typeface="+mj-ea"/>
              <a:cs typeface="+mj-cs"/>
            </a:endParaRPr>
          </a:p>
        </p:txBody>
      </p:sp>
    </p:spTree>
    <p:extLst>
      <p:ext uri="{BB962C8B-B14F-4D97-AF65-F5344CB8AC3E}">
        <p14:creationId xmlns:p14="http://schemas.microsoft.com/office/powerpoint/2010/main" val="27222975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lnSpcReduction="20000"/>
          </a:bodyPr>
          <a:lstStyle/>
          <a:p>
            <a:pPr>
              <a:buClrTx/>
              <a:buChar char="•"/>
            </a:pPr>
            <a:r>
              <a:rPr lang="en-US" sz="3200" dirty="0">
                <a:solidFill>
                  <a:prstClr val="black"/>
                </a:solidFill>
              </a:rPr>
              <a:t>An algorithm mode is a combination of a series of the basic algorithm steps on block cipher, and some kind of feedback from the previous step.</a:t>
            </a:r>
          </a:p>
          <a:p>
            <a:pPr>
              <a:buClrTx/>
              <a:buChar char="•"/>
            </a:pPr>
            <a:r>
              <a:rPr lang="en-US" sz="3200" dirty="0">
                <a:solidFill>
                  <a:prstClr val="black"/>
                </a:solidFill>
              </a:rPr>
              <a:t>4 types of algorithm modes</a:t>
            </a:r>
          </a:p>
          <a:p>
            <a:pPr lvl="1"/>
            <a:r>
              <a:rPr lang="en-US" sz="2400" dirty="0">
                <a:solidFill>
                  <a:prstClr val="black"/>
                </a:solidFill>
              </a:rPr>
              <a:t>Electronic Code Book (ECB).</a:t>
            </a:r>
          </a:p>
          <a:p>
            <a:pPr lvl="1"/>
            <a:r>
              <a:rPr lang="en-US" sz="2400" dirty="0">
                <a:solidFill>
                  <a:prstClr val="black"/>
                </a:solidFill>
              </a:rPr>
              <a:t>Cipher Block Chaining (CBC).</a:t>
            </a:r>
          </a:p>
          <a:p>
            <a:pPr lvl="1"/>
            <a:r>
              <a:rPr lang="en-US" sz="2400" dirty="0">
                <a:solidFill>
                  <a:prstClr val="black"/>
                </a:solidFill>
              </a:rPr>
              <a:t>Cipher Feedback (CFB).</a:t>
            </a:r>
          </a:p>
          <a:p>
            <a:pPr lvl="1"/>
            <a:r>
              <a:rPr lang="en-US" sz="2400" dirty="0">
                <a:solidFill>
                  <a:prstClr val="black"/>
                </a:solidFill>
              </a:rPr>
              <a:t>Output Feedback (OFB).</a:t>
            </a:r>
          </a:p>
          <a:p>
            <a:pPr>
              <a:buClrTx/>
              <a:buChar char="•"/>
            </a:pPr>
            <a:r>
              <a:rPr lang="en-US" sz="3200" dirty="0">
                <a:solidFill>
                  <a:prstClr val="black"/>
                </a:solidFill>
              </a:rPr>
              <a:t>First two modes operate on block cipher, whereas, next two operate work on block ciphers acting as stream ciphers.</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latin typeface="+mj-lt"/>
                <a:ea typeface="+mj-ea"/>
                <a:cs typeface="+mj-cs"/>
              </a:rPr>
              <a:t>Algorithms Mode</a:t>
            </a:r>
            <a:endParaRPr lang="en-US" sz="3200" dirty="0">
              <a:latin typeface="+mj-lt"/>
              <a:ea typeface="+mj-ea"/>
              <a:cs typeface="+mj-cs"/>
            </a:endParaRPr>
          </a:p>
        </p:txBody>
      </p:sp>
    </p:spTree>
    <p:extLst>
      <p:ext uri="{BB962C8B-B14F-4D97-AF65-F5344CB8AC3E}">
        <p14:creationId xmlns:p14="http://schemas.microsoft.com/office/powerpoint/2010/main" val="40699755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latin typeface="+mj-lt"/>
                <a:ea typeface="+mj-ea"/>
                <a:cs typeface="+mj-cs"/>
              </a:rPr>
              <a:t>Algorithms Mode Contd..</a:t>
            </a: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576" y="1912132"/>
            <a:ext cx="7665156" cy="4109156"/>
          </a:xfrm>
          <a:noFill/>
        </p:spPr>
      </p:pic>
    </p:spTree>
    <p:extLst>
      <p:ext uri="{BB962C8B-B14F-4D97-AF65-F5344CB8AC3E}">
        <p14:creationId xmlns:p14="http://schemas.microsoft.com/office/powerpoint/2010/main" val="23031642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Simplest mode</a:t>
            </a:r>
          </a:p>
          <a:p>
            <a:pPr>
              <a:buClrTx/>
              <a:buChar char="•"/>
            </a:pPr>
            <a:r>
              <a:rPr lang="en-US" altLang="en-US" sz="3200" dirty="0">
                <a:solidFill>
                  <a:prstClr val="black"/>
                </a:solidFill>
              </a:rPr>
              <a:t>Incoming plain text message is divided into blocks of 64 bits each.</a:t>
            </a:r>
          </a:p>
          <a:p>
            <a:pPr>
              <a:buClrTx/>
              <a:buChar char="•"/>
            </a:pPr>
            <a:r>
              <a:rPr lang="en-US" altLang="en-US" sz="3200" dirty="0">
                <a:solidFill>
                  <a:prstClr val="black"/>
                </a:solidFill>
              </a:rPr>
              <a:t>Each block is encrypted independently of the other blocks.</a:t>
            </a:r>
          </a:p>
          <a:p>
            <a:pPr>
              <a:buClrTx/>
              <a:buChar char="•"/>
            </a:pPr>
            <a:r>
              <a:rPr lang="en-US" altLang="en-US" sz="3200" dirty="0">
                <a:solidFill>
                  <a:prstClr val="black"/>
                </a:solidFill>
              </a:rPr>
              <a:t>For all blocks in a message, the same key is used for encryption.</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Electronic Code Book (ECB) Mode: Encryption Process</a:t>
            </a:r>
            <a:endParaRPr lang="en-US" sz="3200" dirty="0">
              <a:latin typeface="+mj-lt"/>
              <a:ea typeface="+mj-ea"/>
              <a:cs typeface="+mj-cs"/>
            </a:endParaRPr>
          </a:p>
        </p:txBody>
      </p:sp>
    </p:spTree>
    <p:extLst>
      <p:ext uri="{BB962C8B-B14F-4D97-AF65-F5344CB8AC3E}">
        <p14:creationId xmlns:p14="http://schemas.microsoft.com/office/powerpoint/2010/main" val="18034827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Encryption in ECB Mode</a:t>
            </a:r>
            <a:endParaRPr lang="en-US" sz="3200" dirty="0">
              <a:latin typeface="+mj-lt"/>
              <a:ea typeface="+mj-ea"/>
              <a:cs typeface="+mj-cs"/>
            </a:endParaRP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3568" y="1844824"/>
            <a:ext cx="7620000" cy="3951111"/>
          </a:xfrm>
          <a:noFill/>
        </p:spPr>
      </p:pic>
    </p:spTree>
    <p:extLst>
      <p:ext uri="{BB962C8B-B14F-4D97-AF65-F5344CB8AC3E}">
        <p14:creationId xmlns:p14="http://schemas.microsoft.com/office/powerpoint/2010/main" val="3402069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Incoming data is divided into 64-bit blocks.</a:t>
            </a:r>
          </a:p>
          <a:p>
            <a:pPr>
              <a:buClrTx/>
              <a:buChar char="•"/>
            </a:pPr>
            <a:r>
              <a:rPr lang="en-US" altLang="en-US" sz="3200" dirty="0">
                <a:solidFill>
                  <a:prstClr val="black"/>
                </a:solidFill>
              </a:rPr>
              <a:t>Each block is decrypted using the same key used in encryption process to produce the corresponding plain text block.</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ECB Mode: Decryption Process</a:t>
            </a:r>
            <a:endParaRPr lang="en-US" sz="3200" dirty="0">
              <a:latin typeface="+mj-lt"/>
              <a:ea typeface="+mj-ea"/>
              <a:cs typeface="+mj-cs"/>
            </a:endParaRPr>
          </a:p>
        </p:txBody>
      </p:sp>
    </p:spTree>
    <p:extLst>
      <p:ext uri="{BB962C8B-B14F-4D97-AF65-F5344CB8AC3E}">
        <p14:creationId xmlns:p14="http://schemas.microsoft.com/office/powerpoint/2010/main" val="29510892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Decryption in ECB Mode</a:t>
            </a:r>
            <a:endParaRPr lang="en-US" sz="3200" dirty="0">
              <a:latin typeface="+mj-lt"/>
              <a:ea typeface="+mj-ea"/>
              <a:cs typeface="+mj-cs"/>
            </a:endParaRP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552" y="1988840"/>
            <a:ext cx="7981244" cy="3917244"/>
          </a:xfrm>
          <a:noFill/>
        </p:spPr>
      </p:pic>
    </p:spTree>
    <p:extLst>
      <p:ext uri="{BB962C8B-B14F-4D97-AF65-F5344CB8AC3E}">
        <p14:creationId xmlns:p14="http://schemas.microsoft.com/office/powerpoint/2010/main" val="26789227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Since a single key is used for encrypting all the blocks of a message, if a plain text block repeats in the original message, the corresponding cipher text block also repeats.</a:t>
            </a:r>
          </a:p>
          <a:p>
            <a:pPr>
              <a:buClrTx/>
              <a:buChar char="•"/>
            </a:pPr>
            <a:r>
              <a:rPr lang="en-US" altLang="en-US" sz="3200" dirty="0">
                <a:solidFill>
                  <a:prstClr val="black"/>
                </a:solidFill>
              </a:rPr>
              <a:t>Therefore, ECB is suitable only for encrypting small messages, where the scope for repetition is quite less.</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ECB Mode Summary</a:t>
            </a:r>
            <a:endParaRPr lang="en-US" sz="3200" dirty="0">
              <a:latin typeface="+mj-lt"/>
              <a:ea typeface="+mj-ea"/>
              <a:cs typeface="+mj-cs"/>
            </a:endParaRPr>
          </a:p>
        </p:txBody>
      </p:sp>
    </p:spTree>
    <p:extLst>
      <p:ext uri="{BB962C8B-B14F-4D97-AF65-F5344CB8AC3E}">
        <p14:creationId xmlns:p14="http://schemas.microsoft.com/office/powerpoint/2010/main" val="6162012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11820" y="1556792"/>
            <a:ext cx="8436643" cy="4824536"/>
          </a:xfrm>
        </p:spPr>
        <p:txBody>
          <a:bodyPr vert="horz" lIns="91440" tIns="45720" rIns="91440" bIns="45720" rtlCol="0">
            <a:normAutofit fontScale="77500" lnSpcReduction="20000"/>
          </a:bodyPr>
          <a:lstStyle/>
          <a:p>
            <a:pPr>
              <a:buClrTx/>
              <a:buChar char="•"/>
            </a:pPr>
            <a:r>
              <a:rPr lang="en-US" altLang="en-US" sz="3200" dirty="0">
                <a:solidFill>
                  <a:prstClr val="black"/>
                </a:solidFill>
              </a:rPr>
              <a:t>Chaining adds a feedback mechanism to a block cipher.</a:t>
            </a:r>
          </a:p>
          <a:p>
            <a:pPr>
              <a:buClrTx/>
              <a:buChar char="•"/>
            </a:pPr>
            <a:r>
              <a:rPr lang="en-US" altLang="en-US" sz="3200" dirty="0">
                <a:solidFill>
                  <a:prstClr val="black"/>
                </a:solidFill>
              </a:rPr>
              <a:t>In CBC, the results of the previous block are fed back into the encryption of the current block. i.e. each block is used to modify the encryption of the next block.</a:t>
            </a:r>
          </a:p>
          <a:p>
            <a:pPr>
              <a:buClrTx/>
              <a:buChar char="•"/>
            </a:pPr>
            <a:r>
              <a:rPr lang="en-US" altLang="en-US" sz="3200" dirty="0">
                <a:solidFill>
                  <a:prstClr val="black"/>
                </a:solidFill>
              </a:rPr>
              <a:t>Thus, each block of cipher text is dependent on the corresponding current input plain text block, as well as all the previous plain text blocks.</a:t>
            </a:r>
          </a:p>
          <a:p>
            <a:pPr>
              <a:buClrTx/>
              <a:buChar char="•"/>
            </a:pPr>
            <a:r>
              <a:rPr lang="en-US" altLang="en-US" sz="3200" dirty="0">
                <a:solidFill>
                  <a:prstClr val="black"/>
                </a:solidFill>
              </a:rPr>
              <a:t>The first step receives two inputs; the first block of plain text and a random block of text, called as Initialization Vector (IV).</a:t>
            </a:r>
          </a:p>
          <a:p>
            <a:pPr>
              <a:buClrTx/>
              <a:buChar char="•"/>
            </a:pPr>
            <a:r>
              <a:rPr lang="en-US" altLang="en-US" sz="3200" dirty="0">
                <a:solidFill>
                  <a:prstClr val="black"/>
                </a:solidFill>
              </a:rPr>
              <a:t>The IV has no special meaning. It is simply used to make each message unique. It is randomly generated.</a:t>
            </a:r>
          </a:p>
          <a:p>
            <a:pPr>
              <a:buClrTx/>
              <a:buChar char="•"/>
            </a:pPr>
            <a:r>
              <a:rPr lang="en-US" altLang="en-US" sz="3200" dirty="0">
                <a:solidFill>
                  <a:prstClr val="black"/>
                </a:solidFill>
              </a:rPr>
              <a:t>In practice, to achieve maximum security, both the key and the IV are kept secret.</a:t>
            </a:r>
          </a:p>
          <a:p>
            <a:pPr>
              <a:buClrTx/>
              <a:buChar char="•"/>
            </a:pPr>
            <a:r>
              <a:rPr lang="en-US" altLang="en-US" sz="3200" dirty="0">
                <a:solidFill>
                  <a:prstClr val="black"/>
                </a:solidFill>
              </a:rPr>
              <a:t>Remaining steps are repeated similarly.</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Cipher Block Chaining (CBC) Mode: Encryption Process</a:t>
            </a:r>
            <a:endParaRPr lang="en-US" sz="3200" dirty="0">
              <a:latin typeface="+mj-lt"/>
              <a:ea typeface="+mj-ea"/>
              <a:cs typeface="+mj-cs"/>
            </a:endParaRPr>
          </a:p>
        </p:txBody>
      </p:sp>
    </p:spTree>
    <p:extLst>
      <p:ext uri="{BB962C8B-B14F-4D97-AF65-F5344CB8AC3E}">
        <p14:creationId xmlns:p14="http://schemas.microsoft.com/office/powerpoint/2010/main" val="31020458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Encryption in CBC Mode</a:t>
            </a:r>
            <a:endParaRPr lang="en-US" sz="3200" dirty="0">
              <a:latin typeface="+mj-lt"/>
              <a:ea typeface="+mj-ea"/>
              <a:cs typeface="+mj-cs"/>
            </a:endParaRP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74133" y="1696597"/>
            <a:ext cx="7890933" cy="4120444"/>
          </a:xfrm>
          <a:noFill/>
        </p:spPr>
      </p:pic>
    </p:spTree>
    <p:extLst>
      <p:ext uri="{BB962C8B-B14F-4D97-AF65-F5344CB8AC3E}">
        <p14:creationId xmlns:p14="http://schemas.microsoft.com/office/powerpoint/2010/main" val="41716823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a:bodyPr>
          <a:lstStyle/>
          <a:p>
            <a:pPr>
              <a:buClrTx/>
              <a:buChar char="•"/>
            </a:pPr>
            <a:r>
              <a:rPr lang="en-US" altLang="en-US" sz="3200" dirty="0">
                <a:solidFill>
                  <a:prstClr val="black"/>
                </a:solidFill>
              </a:rPr>
              <a:t>The cipher text block 1 is passed through the decryption algorithm using the same key, which was used during the encryption process for all the plain text blocks. The output of this step is then </a:t>
            </a:r>
            <a:r>
              <a:rPr lang="en-US" altLang="en-US" sz="3200" dirty="0" err="1">
                <a:solidFill>
                  <a:prstClr val="black"/>
                </a:solidFill>
              </a:rPr>
              <a:t>XORed</a:t>
            </a:r>
            <a:r>
              <a:rPr lang="en-US" altLang="en-US" sz="3200" dirty="0">
                <a:solidFill>
                  <a:prstClr val="black"/>
                </a:solidFill>
              </a:rPr>
              <a:t> with the IV. This process yields plain text block 1.</a:t>
            </a:r>
          </a:p>
          <a:p>
            <a:pPr>
              <a:buClrTx/>
              <a:buChar char="•"/>
            </a:pPr>
            <a:r>
              <a:rPr lang="en-US" altLang="en-US" sz="3200" dirty="0">
                <a:solidFill>
                  <a:prstClr val="black"/>
                </a:solidFill>
              </a:rPr>
              <a:t>In step 2, the cipher text block 2 is decrypted, and its output is </a:t>
            </a:r>
            <a:r>
              <a:rPr lang="en-US" altLang="en-US" sz="3200" dirty="0" err="1">
                <a:solidFill>
                  <a:prstClr val="black"/>
                </a:solidFill>
              </a:rPr>
              <a:t>XORed</a:t>
            </a:r>
            <a:r>
              <a:rPr lang="en-US" altLang="en-US" sz="3200" dirty="0">
                <a:solidFill>
                  <a:prstClr val="black"/>
                </a:solidFill>
              </a:rPr>
              <a:t> with cipher text block 1.</a:t>
            </a:r>
          </a:p>
          <a:p>
            <a:pPr>
              <a:buClrTx/>
              <a:buChar char="•"/>
            </a:pPr>
            <a:r>
              <a:rPr lang="en-US" altLang="en-US" sz="3200" dirty="0">
                <a:solidFill>
                  <a:prstClr val="black"/>
                </a:solidFill>
              </a:rPr>
              <a:t>And the process is continued in similar fashion.</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Cipher Block Chaining (CBC) Mode: Decryption Process</a:t>
            </a:r>
            <a:endParaRPr lang="en-US" sz="3200" dirty="0">
              <a:latin typeface="+mj-lt"/>
              <a:ea typeface="+mj-ea"/>
              <a:cs typeface="+mj-cs"/>
            </a:endParaRPr>
          </a:p>
        </p:txBody>
      </p:sp>
    </p:spTree>
    <p:extLst>
      <p:ext uri="{BB962C8B-B14F-4D97-AF65-F5344CB8AC3E}">
        <p14:creationId xmlns:p14="http://schemas.microsoft.com/office/powerpoint/2010/main" val="13154844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Decryption in CBC Mode</a:t>
            </a:r>
            <a:endParaRPr lang="en-US" sz="3200" dirty="0">
              <a:latin typeface="+mj-lt"/>
              <a:ea typeface="+mj-ea"/>
              <a:cs typeface="+mj-cs"/>
            </a:endParaRPr>
          </a:p>
        </p:txBody>
      </p:sp>
      <p:pic>
        <p:nvPicPr>
          <p:cNvPr id="5"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844824"/>
            <a:ext cx="8229600" cy="4142050"/>
          </a:xfrm>
          <a:noFill/>
        </p:spPr>
      </p:pic>
    </p:spTree>
    <p:extLst>
      <p:ext uri="{BB962C8B-B14F-4D97-AF65-F5344CB8AC3E}">
        <p14:creationId xmlns:p14="http://schemas.microsoft.com/office/powerpoint/2010/main" val="27835788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Cipher Feedback Mode (CFB)</a:t>
            </a:r>
            <a:endParaRPr lang="en-US" sz="3200" dirty="0">
              <a:latin typeface="+mj-lt"/>
              <a:ea typeface="+mj-ea"/>
              <a:cs typeface="+mj-cs"/>
            </a:endParaRPr>
          </a:p>
        </p:txBody>
      </p:sp>
      <p:sp>
        <p:nvSpPr>
          <p:cNvPr id="5" name="Rectangle 3"/>
          <p:cNvSpPr>
            <a:spLocks noGrp="1" noChangeArrowheads="1"/>
          </p:cNvSpPr>
          <p:nvPr>
            <p:ph idx="1"/>
          </p:nvPr>
        </p:nvSpPr>
        <p:spPr/>
        <p:txBody>
          <a:bodyPr vert="horz" lIns="91440" tIns="45720" rIns="91440" bIns="45720" rtlCol="0">
            <a:normAutofit fontScale="85000" lnSpcReduction="20000"/>
          </a:bodyPr>
          <a:lstStyle/>
          <a:p>
            <a:pPr>
              <a:buClrTx/>
              <a:buChar char="•"/>
            </a:pPr>
            <a:r>
              <a:rPr lang="en-US" altLang="en-US" sz="3200" dirty="0">
                <a:solidFill>
                  <a:prstClr val="black"/>
                </a:solidFill>
              </a:rPr>
              <a:t>Stream Ciphers are used since CFB mode is useful in character oriented applications.</a:t>
            </a:r>
          </a:p>
          <a:p>
            <a:pPr>
              <a:buClrTx/>
              <a:buChar char="•"/>
            </a:pPr>
            <a:r>
              <a:rPr lang="en-US" altLang="en-US" sz="3200" dirty="0">
                <a:solidFill>
                  <a:prstClr val="black"/>
                </a:solidFill>
              </a:rPr>
              <a:t>In this mode, data is encrypted in units that are smaller. (e.g. 8 bits instead of 64 bits). Following are steps for CFB. Let j = 8 bits.</a:t>
            </a:r>
          </a:p>
          <a:p>
            <a:pPr lvl="1"/>
            <a:r>
              <a:rPr lang="en-US" altLang="en-US" sz="2400" dirty="0">
                <a:solidFill>
                  <a:prstClr val="black"/>
                </a:solidFill>
              </a:rPr>
              <a:t>Step 1: A 64-bit IV placed in a shift register is encrypted to produce a corresponding 64-bit IV cipher text.</a:t>
            </a:r>
          </a:p>
          <a:p>
            <a:pPr lvl="1"/>
            <a:r>
              <a:rPr lang="en-US" altLang="en-US" sz="2400" dirty="0">
                <a:solidFill>
                  <a:prstClr val="black"/>
                </a:solidFill>
              </a:rPr>
              <a:t>Step 2: The MSB j bits of the encrypted IV are </a:t>
            </a:r>
            <a:r>
              <a:rPr lang="en-US" altLang="en-US" sz="2400" dirty="0" err="1">
                <a:solidFill>
                  <a:prstClr val="black"/>
                </a:solidFill>
              </a:rPr>
              <a:t>XORed</a:t>
            </a:r>
            <a:r>
              <a:rPr lang="en-US" altLang="en-US" sz="2400" dirty="0">
                <a:solidFill>
                  <a:prstClr val="black"/>
                </a:solidFill>
              </a:rPr>
              <a:t> with the first j bits of the plain text. This produces the first portion of cipher text (say C). C is then transmitted to the receiver.</a:t>
            </a:r>
          </a:p>
          <a:p>
            <a:pPr lvl="1"/>
            <a:r>
              <a:rPr lang="en-US" altLang="en-US" sz="2400" dirty="0">
                <a:solidFill>
                  <a:prstClr val="black"/>
                </a:solidFill>
              </a:rPr>
              <a:t>Step 3: Now the bits of IV are shifted left by j positions. Thus the rightmost j positions of the shift register now contain unpredictable data. These rightmost j positions are filled with C.</a:t>
            </a:r>
          </a:p>
          <a:p>
            <a:pPr lvl="1"/>
            <a:r>
              <a:rPr lang="en-US" altLang="en-US" sz="2400" dirty="0">
                <a:solidFill>
                  <a:prstClr val="black"/>
                </a:solidFill>
              </a:rPr>
              <a:t>Now, steps 1 through 3 continue until all the plain text units are encrypted.</a:t>
            </a:r>
          </a:p>
        </p:txBody>
      </p:sp>
    </p:spTree>
    <p:extLst>
      <p:ext uri="{BB962C8B-B14F-4D97-AF65-F5344CB8AC3E}">
        <p14:creationId xmlns:p14="http://schemas.microsoft.com/office/powerpoint/2010/main" val="5415603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Encryption in CFB Mode</a:t>
            </a:r>
            <a:endParaRPr lang="en-US" sz="3200" dirty="0">
              <a:latin typeface="+mj-lt"/>
              <a:ea typeface="+mj-ea"/>
              <a:cs typeface="+mj-cs"/>
            </a:endParaRP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3568" y="1700808"/>
            <a:ext cx="7845778" cy="4481689"/>
          </a:xfrm>
          <a:noFill/>
        </p:spPr>
      </p:pic>
    </p:spTree>
    <p:extLst>
      <p:ext uri="{BB962C8B-B14F-4D97-AF65-F5344CB8AC3E}">
        <p14:creationId xmlns:p14="http://schemas.microsoft.com/office/powerpoint/2010/main" val="28670674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Exactly similar to CFB, with only one difference. </a:t>
            </a:r>
          </a:p>
          <a:p>
            <a:pPr>
              <a:buClrTx/>
              <a:buChar char="•"/>
            </a:pPr>
            <a:r>
              <a:rPr lang="en-US" altLang="en-US" sz="3200" dirty="0">
                <a:solidFill>
                  <a:prstClr val="black"/>
                </a:solidFill>
              </a:rPr>
              <a:t>In case of CFB, the cipher text is fed into the next stage of encryption process. But in case of OFB, the output of the IV encryption process is fed into the next stage of the encryption process.</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Output Feedback Mode (OFB)</a:t>
            </a:r>
            <a:endParaRPr lang="en-US" sz="3200" dirty="0">
              <a:latin typeface="+mj-lt"/>
              <a:ea typeface="+mj-ea"/>
              <a:cs typeface="+mj-cs"/>
            </a:endParaRPr>
          </a:p>
        </p:txBody>
      </p:sp>
    </p:spTree>
    <p:extLst>
      <p:ext uri="{BB962C8B-B14F-4D97-AF65-F5344CB8AC3E}">
        <p14:creationId xmlns:p14="http://schemas.microsoft.com/office/powerpoint/2010/main" val="14829281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Encryption in OFB Mode</a:t>
            </a:r>
            <a:endParaRPr lang="en-US" sz="3200" dirty="0">
              <a:latin typeface="+mj-lt"/>
              <a:ea typeface="+mj-ea"/>
              <a:cs typeface="+mj-cs"/>
            </a:endParaRPr>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576" y="1700808"/>
            <a:ext cx="7574844" cy="4492978"/>
          </a:xfrm>
          <a:noFill/>
        </p:spPr>
      </p:pic>
    </p:spTree>
    <p:extLst>
      <p:ext uri="{BB962C8B-B14F-4D97-AF65-F5344CB8AC3E}">
        <p14:creationId xmlns:p14="http://schemas.microsoft.com/office/powerpoint/2010/main" val="28156827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412776"/>
            <a:ext cx="4483224" cy="5256584"/>
          </a:xfrm>
        </p:spPr>
        <p:txBody>
          <a:bodyPr>
            <a:normAutofit fontScale="85000" lnSpcReduction="20000"/>
          </a:bodyPr>
          <a:lstStyle/>
          <a:p>
            <a:pPr algn="just">
              <a:buFont typeface="Wingdings" pitchFamily="2" charset="2"/>
              <a:buChar char="q"/>
            </a:pPr>
            <a:r>
              <a:rPr lang="en-IN" sz="1900" dirty="0" smtClean="0"/>
              <a:t>The plaintext is divided into two equal halves </a:t>
            </a:r>
            <a:r>
              <a:rPr lang="en-IN" sz="1900" dirty="0" err="1" smtClean="0"/>
              <a:t>LE</a:t>
            </a:r>
            <a:r>
              <a:rPr lang="en-IN" sz="1900" baseline="-25000" dirty="0" err="1" smtClean="0"/>
              <a:t>i</a:t>
            </a:r>
            <a:r>
              <a:rPr lang="en-IN" sz="1900" dirty="0" smtClean="0"/>
              <a:t> and </a:t>
            </a:r>
            <a:r>
              <a:rPr lang="en-IN" sz="1900" dirty="0" err="1" smtClean="0"/>
              <a:t>RE</a:t>
            </a:r>
            <a:r>
              <a:rPr lang="en-IN" sz="1900" baseline="-25000" dirty="0" err="1" smtClean="0"/>
              <a:t>i</a:t>
            </a:r>
            <a:r>
              <a:rPr lang="en-IN" sz="1900" dirty="0" smtClean="0"/>
              <a:t>. E stands for Encryption., L stands for left and R stands for right. Initially i = 0.</a:t>
            </a:r>
          </a:p>
          <a:p>
            <a:pPr algn="just">
              <a:buFont typeface="Wingdings" pitchFamily="2" charset="2"/>
              <a:buChar char="q"/>
            </a:pPr>
            <a:r>
              <a:rPr lang="en-IN" sz="1900" dirty="0" smtClean="0"/>
              <a:t>A subkey K</a:t>
            </a:r>
            <a:r>
              <a:rPr lang="en-IN" sz="1900" baseline="-25000" dirty="0" smtClean="0"/>
              <a:t>i+1</a:t>
            </a:r>
            <a:r>
              <a:rPr lang="en-IN" sz="1900" dirty="0" smtClean="0"/>
              <a:t> is derived from the key K. So, initially the derived key  is K</a:t>
            </a:r>
            <a:r>
              <a:rPr lang="en-IN" sz="1900" baseline="-25000" dirty="0" smtClean="0"/>
              <a:t>1</a:t>
            </a:r>
            <a:r>
              <a:rPr lang="en-IN" sz="1900" dirty="0" smtClean="0"/>
              <a:t>.</a:t>
            </a:r>
          </a:p>
          <a:p>
            <a:pPr algn="just">
              <a:buFont typeface="Wingdings" pitchFamily="2" charset="2"/>
              <a:buChar char="q"/>
            </a:pPr>
            <a:r>
              <a:rPr lang="en-IN" sz="1900" dirty="0" smtClean="0"/>
              <a:t>A function F is defined which takes subkey K</a:t>
            </a:r>
            <a:r>
              <a:rPr lang="en-IN" sz="1900" baseline="-25000" dirty="0" smtClean="0"/>
              <a:t>i+1</a:t>
            </a:r>
            <a:r>
              <a:rPr lang="en-IN" sz="1900" dirty="0" smtClean="0"/>
              <a:t> and right half </a:t>
            </a:r>
            <a:r>
              <a:rPr lang="en-IN" sz="1900" dirty="0" err="1" smtClean="0"/>
              <a:t>RE</a:t>
            </a:r>
            <a:r>
              <a:rPr lang="en-IN" sz="1900" baseline="-25000" dirty="0" err="1" smtClean="0"/>
              <a:t>i</a:t>
            </a:r>
            <a:r>
              <a:rPr lang="en-IN" sz="1900" dirty="0" smtClean="0"/>
              <a:t> of the data as inputs.</a:t>
            </a:r>
          </a:p>
          <a:p>
            <a:pPr algn="just">
              <a:buFont typeface="Wingdings" pitchFamily="2" charset="2"/>
              <a:buChar char="q"/>
            </a:pPr>
            <a:r>
              <a:rPr lang="en-IN" sz="1900" dirty="0" smtClean="0"/>
              <a:t>The output of the function F is XORed with the left half of the data (</a:t>
            </a:r>
            <a:r>
              <a:rPr lang="en-IN" sz="1900" dirty="0" err="1" smtClean="0"/>
              <a:t>LE</a:t>
            </a:r>
            <a:r>
              <a:rPr lang="en-IN" sz="1900" baseline="-25000" dirty="0" err="1" smtClean="0"/>
              <a:t>i</a:t>
            </a:r>
            <a:r>
              <a:rPr lang="en-IN" sz="1900" dirty="0" smtClean="0"/>
              <a:t>) and made the new right half (RE</a:t>
            </a:r>
            <a:r>
              <a:rPr lang="en-IN" sz="1900" baseline="-25000" dirty="0" smtClean="0"/>
              <a:t>i+1</a:t>
            </a:r>
            <a:r>
              <a:rPr lang="en-IN" sz="1900" dirty="0" smtClean="0"/>
              <a:t>).</a:t>
            </a:r>
          </a:p>
          <a:p>
            <a:pPr algn="just">
              <a:buFont typeface="Wingdings" pitchFamily="2" charset="2"/>
              <a:buChar char="q"/>
            </a:pPr>
            <a:r>
              <a:rPr lang="en-IN" sz="1900" dirty="0" smtClean="0"/>
              <a:t>Right half (</a:t>
            </a:r>
            <a:r>
              <a:rPr lang="en-IN" sz="1900" dirty="0" err="1" smtClean="0"/>
              <a:t>RE</a:t>
            </a:r>
            <a:r>
              <a:rPr lang="en-IN" sz="1900" baseline="-25000" dirty="0" err="1" smtClean="0"/>
              <a:t>i</a:t>
            </a:r>
            <a:r>
              <a:rPr lang="en-IN" sz="1900" dirty="0" smtClean="0"/>
              <a:t>) of the previous round makes the left half for the next round (LE</a:t>
            </a:r>
            <a:r>
              <a:rPr lang="en-IN" sz="1900" baseline="-25000" dirty="0" smtClean="0"/>
              <a:t>i+1</a:t>
            </a:r>
            <a:r>
              <a:rPr lang="en-IN" sz="1900" dirty="0" smtClean="0"/>
              <a:t>).</a:t>
            </a:r>
          </a:p>
          <a:p>
            <a:pPr algn="just">
              <a:buFont typeface="Wingdings" pitchFamily="2" charset="2"/>
              <a:buChar char="q"/>
            </a:pPr>
            <a:r>
              <a:rPr lang="en-IN" sz="1900" dirty="0" smtClean="0"/>
              <a:t>The iteration is repeated 16 times and the left and right halves are swapped.</a:t>
            </a:r>
          </a:p>
          <a:p>
            <a:pPr algn="just">
              <a:buFont typeface="Wingdings" pitchFamily="2" charset="2"/>
              <a:buChar char="q"/>
            </a:pPr>
            <a:r>
              <a:rPr lang="en-IN" sz="1900" dirty="0" smtClean="0"/>
              <a:t>The final output is the ciphertext.</a:t>
            </a:r>
          </a:p>
          <a:p>
            <a:pPr algn="just">
              <a:buFont typeface="Wingdings" pitchFamily="2" charset="2"/>
              <a:buChar char="q"/>
            </a:pPr>
            <a:r>
              <a:rPr lang="en-IN" sz="1900" dirty="0" smtClean="0"/>
              <a:t>The same steps are used for decryption. </a:t>
            </a:r>
            <a:r>
              <a:rPr lang="en-IN" sz="1900" i="1" dirty="0" smtClean="0"/>
              <a:t>(D stands for Decryption)</a:t>
            </a:r>
            <a:endParaRPr lang="en-IN" sz="1900" dirty="0" smtClean="0"/>
          </a:p>
          <a:p>
            <a:pPr algn="just">
              <a:buFont typeface="Wingdings" pitchFamily="2" charset="2"/>
              <a:buChar char="q"/>
            </a:pPr>
            <a:r>
              <a:rPr lang="en-IN" sz="1900" dirty="0" smtClean="0"/>
              <a:t>In all steps, </a:t>
            </a:r>
            <a:r>
              <a:rPr lang="en-IN" sz="1900" b="1" i="1" dirty="0" smtClean="0"/>
              <a:t>substitution</a:t>
            </a:r>
            <a:r>
              <a:rPr lang="en-IN" sz="1900" dirty="0" smtClean="0"/>
              <a:t> is performed on the left half </a:t>
            </a:r>
            <a:r>
              <a:rPr lang="en-IN" sz="1900" dirty="0" err="1" smtClean="0"/>
              <a:t>XORing</a:t>
            </a:r>
            <a:r>
              <a:rPr lang="en-IN" sz="1900" dirty="0" smtClean="0"/>
              <a:t> it with the output of function F and then </a:t>
            </a:r>
            <a:r>
              <a:rPr lang="en-IN" sz="1900" b="1" i="1" dirty="0" smtClean="0"/>
              <a:t>permutation </a:t>
            </a:r>
            <a:r>
              <a:rPr lang="en-IN" sz="1900" dirty="0" smtClean="0"/>
              <a:t>is performed by swapping the right and left halves.</a:t>
            </a:r>
          </a:p>
          <a:p>
            <a:pPr algn="just">
              <a:buFont typeface="Wingdings" pitchFamily="2" charset="2"/>
              <a:buChar char="q"/>
            </a:pPr>
            <a:r>
              <a:rPr lang="en-IN" sz="1900" dirty="0" smtClean="0"/>
              <a:t>Confusion and Diffusion is induced through multiple iterations.</a:t>
            </a:r>
          </a:p>
          <a:p>
            <a:pPr algn="just">
              <a:buFont typeface="Wingdings" pitchFamily="2" charset="2"/>
              <a:buChar char="q"/>
            </a:pPr>
            <a:endParaRPr lang="en-IN" sz="1900" dirty="0" smtClean="0"/>
          </a:p>
          <a:p>
            <a:pPr algn="just">
              <a:buFont typeface="Wingdings" pitchFamily="2" charset="2"/>
              <a:buChar char="q"/>
            </a:pPr>
            <a:endParaRPr lang="en-IN" sz="1800" dirty="0" smtClean="0"/>
          </a:p>
        </p:txBody>
      </p:sp>
      <p:sp>
        <p:nvSpPr>
          <p:cNvPr id="3" name="Content Placeholder 2"/>
          <p:cNvSpPr>
            <a:spLocks noGrp="1"/>
          </p:cNvSpPr>
          <p:nvPr>
            <p:ph sz="quarter" idx="10"/>
          </p:nvPr>
        </p:nvSpPr>
        <p:spPr/>
        <p:txBody>
          <a:bodyPr/>
          <a:lstStyle/>
          <a:p>
            <a:r>
              <a:rPr lang="en-IN" dirty="0" smtClean="0"/>
              <a:t>Feistel Cipher Structure</a:t>
            </a:r>
          </a:p>
          <a:p>
            <a:r>
              <a:rPr lang="en-IN" sz="2000" dirty="0" smtClean="0"/>
              <a:t>Encryption and Decryption</a:t>
            </a:r>
            <a:endParaRPr lang="en-IN" sz="2000" dirty="0"/>
          </a:p>
        </p:txBody>
      </p:sp>
      <p:grpSp>
        <p:nvGrpSpPr>
          <p:cNvPr id="7" name="Group 6"/>
          <p:cNvGrpSpPr/>
          <p:nvPr/>
        </p:nvGrpSpPr>
        <p:grpSpPr>
          <a:xfrm>
            <a:off x="5076055" y="1626135"/>
            <a:ext cx="1283802" cy="338554"/>
            <a:chOff x="4499992" y="1672392"/>
            <a:chExt cx="1872212" cy="595868"/>
          </a:xfrm>
        </p:grpSpPr>
        <p:sp>
          <p:nvSpPr>
            <p:cNvPr id="5" name="TextBox 4"/>
            <p:cNvSpPr txBox="1"/>
            <p:nvPr/>
          </p:nvSpPr>
          <p:spPr>
            <a:xfrm>
              <a:off x="4499992" y="1672392"/>
              <a:ext cx="936106" cy="595868"/>
            </a:xfrm>
            <a:prstGeom prst="rect">
              <a:avLst/>
            </a:prstGeom>
            <a:solidFill>
              <a:srgbClr val="92D050"/>
            </a:solidFill>
            <a:ln w="19050">
              <a:solidFill>
                <a:schemeClr val="tx1"/>
              </a:solidFill>
            </a:ln>
          </p:spPr>
          <p:txBody>
            <a:bodyPr wrap="square" rtlCol="0" anchor="ctr">
              <a:spAutoFit/>
            </a:bodyPr>
            <a:lstStyle/>
            <a:p>
              <a:pPr algn="ctr"/>
              <a:r>
                <a:rPr lang="en-IN" sz="1600" dirty="0" smtClean="0"/>
                <a:t>LE</a:t>
              </a:r>
              <a:r>
                <a:rPr lang="en-IN" sz="1600" baseline="-25000" dirty="0" smtClean="0"/>
                <a:t>0</a:t>
              </a:r>
              <a:endParaRPr lang="en-IN" sz="1600" baseline="-25000" dirty="0"/>
            </a:p>
          </p:txBody>
        </p:sp>
        <p:sp>
          <p:nvSpPr>
            <p:cNvPr id="6" name="TextBox 5"/>
            <p:cNvSpPr txBox="1"/>
            <p:nvPr/>
          </p:nvSpPr>
          <p:spPr>
            <a:xfrm>
              <a:off x="5436098" y="1672392"/>
              <a:ext cx="936106" cy="595868"/>
            </a:xfrm>
            <a:prstGeom prst="rect">
              <a:avLst/>
            </a:prstGeom>
            <a:solidFill>
              <a:srgbClr val="92D050"/>
            </a:solidFill>
            <a:ln w="19050">
              <a:solidFill>
                <a:schemeClr val="tx1"/>
              </a:solidFill>
            </a:ln>
          </p:spPr>
          <p:txBody>
            <a:bodyPr wrap="square" rtlCol="0" anchor="ctr">
              <a:spAutoFit/>
            </a:bodyPr>
            <a:lstStyle/>
            <a:p>
              <a:pPr algn="ctr"/>
              <a:r>
                <a:rPr lang="en-IN" sz="1600" dirty="0" smtClean="0"/>
                <a:t>RE</a:t>
              </a:r>
              <a:r>
                <a:rPr lang="en-IN" sz="1600" baseline="-25000" dirty="0" smtClean="0"/>
                <a:t>0</a:t>
              </a:r>
              <a:endParaRPr lang="en-IN" sz="1600" baseline="-25000" dirty="0"/>
            </a:p>
          </p:txBody>
        </p:sp>
      </p:grpSp>
      <p:sp>
        <p:nvSpPr>
          <p:cNvPr id="8" name="TextBox 7"/>
          <p:cNvSpPr txBox="1"/>
          <p:nvPr/>
        </p:nvSpPr>
        <p:spPr>
          <a:xfrm>
            <a:off x="5866087" y="2158844"/>
            <a:ext cx="345638" cy="246910"/>
          </a:xfrm>
          <a:prstGeom prst="rect">
            <a:avLst/>
          </a:prstGeom>
          <a:solidFill>
            <a:srgbClr val="FFFF00"/>
          </a:solidFill>
          <a:ln w="19050">
            <a:solidFill>
              <a:schemeClr val="tx1"/>
            </a:solidFill>
          </a:ln>
        </p:spPr>
        <p:txBody>
          <a:bodyPr wrap="square" rtlCol="0" anchor="ctr">
            <a:spAutoFit/>
          </a:bodyPr>
          <a:lstStyle/>
          <a:p>
            <a:pPr algn="ctr"/>
            <a:r>
              <a:rPr lang="en-IN" sz="1600" dirty="0" smtClean="0"/>
              <a:t>F</a:t>
            </a:r>
            <a:endParaRPr lang="en-IN" sz="1600" baseline="-25000" dirty="0"/>
          </a:p>
        </p:txBody>
      </p:sp>
      <p:cxnSp>
        <p:nvCxnSpPr>
          <p:cNvPr id="10" name="Straight Arrow Connector 9"/>
          <p:cNvCxnSpPr>
            <a:stCxn id="6" idx="2"/>
            <a:endCxn id="8" idx="0"/>
          </p:cNvCxnSpPr>
          <p:nvPr/>
        </p:nvCxnSpPr>
        <p:spPr>
          <a:xfrm flipH="1">
            <a:off x="6038906" y="1964689"/>
            <a:ext cx="2" cy="194155"/>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6211725" y="2296885"/>
            <a:ext cx="24688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458610" y="2174147"/>
            <a:ext cx="417646" cy="338554"/>
          </a:xfrm>
          <a:prstGeom prst="rect">
            <a:avLst/>
          </a:prstGeom>
          <a:noFill/>
          <a:ln>
            <a:noFill/>
          </a:ln>
        </p:spPr>
        <p:txBody>
          <a:bodyPr wrap="square" rtlCol="0">
            <a:spAutoFit/>
          </a:bodyPr>
          <a:lstStyle/>
          <a:p>
            <a:pPr algn="ctr"/>
            <a:r>
              <a:rPr lang="en-IN" sz="1600" dirty="0" smtClean="0"/>
              <a:t>K</a:t>
            </a:r>
            <a:r>
              <a:rPr lang="en-IN" sz="1600" baseline="-25000" dirty="0" smtClean="0"/>
              <a:t>1</a:t>
            </a:r>
            <a:endParaRPr lang="en-IN" sz="1600" baseline="-25000" dirty="0"/>
          </a:p>
        </p:txBody>
      </p:sp>
      <p:graphicFrame>
        <p:nvGraphicFramePr>
          <p:cNvPr id="45058" name="Object 2"/>
          <p:cNvGraphicFramePr>
            <a:graphicFrameLocks noChangeAspect="1"/>
          </p:cNvGraphicFramePr>
          <p:nvPr/>
        </p:nvGraphicFramePr>
        <p:xfrm>
          <a:off x="5952027" y="2575937"/>
          <a:ext cx="264972" cy="243328"/>
        </p:xfrm>
        <a:graphic>
          <a:graphicData uri="http://schemas.openxmlformats.org/presentationml/2006/ole">
            <mc:AlternateContent xmlns:mc="http://schemas.openxmlformats.org/markup-compatibility/2006">
              <mc:Choice xmlns:v="urn:schemas-microsoft-com:vml" Requires="v">
                <p:oleObj spid="_x0000_s4170" name="Equation" r:id="rId3" imgW="164814" imgH="177492" progId="Equation.3">
                  <p:embed/>
                </p:oleObj>
              </mc:Choice>
              <mc:Fallback>
                <p:oleObj name="Equation" r:id="rId3" imgW="164814" imgH="177492"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2027" y="2575937"/>
                        <a:ext cx="264972" cy="243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8" name="Straight Arrow Connector 17"/>
          <p:cNvCxnSpPr/>
          <p:nvPr/>
        </p:nvCxnSpPr>
        <p:spPr>
          <a:xfrm>
            <a:off x="6063594" y="2378710"/>
            <a:ext cx="0" cy="24019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063594" y="2746925"/>
            <a:ext cx="0" cy="24019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076056" y="2946430"/>
            <a:ext cx="641901" cy="338554"/>
          </a:xfrm>
          <a:prstGeom prst="rect">
            <a:avLst/>
          </a:prstGeom>
          <a:solidFill>
            <a:srgbClr val="92D050"/>
          </a:solidFill>
          <a:ln w="19050">
            <a:solidFill>
              <a:schemeClr val="tx1"/>
            </a:solidFill>
          </a:ln>
        </p:spPr>
        <p:txBody>
          <a:bodyPr wrap="square" rtlCol="0" anchor="ctr">
            <a:spAutoFit/>
          </a:bodyPr>
          <a:lstStyle/>
          <a:p>
            <a:pPr algn="ctr"/>
            <a:r>
              <a:rPr lang="en-IN" sz="1600" dirty="0" smtClean="0"/>
              <a:t>LE</a:t>
            </a:r>
            <a:r>
              <a:rPr lang="en-IN" sz="1600" baseline="-25000" dirty="0" smtClean="0"/>
              <a:t>1</a:t>
            </a:r>
            <a:endParaRPr lang="en-IN" sz="1600" baseline="-25000" dirty="0"/>
          </a:p>
        </p:txBody>
      </p:sp>
      <p:sp>
        <p:nvSpPr>
          <p:cNvPr id="22" name="TextBox 21"/>
          <p:cNvSpPr txBox="1"/>
          <p:nvPr/>
        </p:nvSpPr>
        <p:spPr>
          <a:xfrm>
            <a:off x="5717957" y="2946430"/>
            <a:ext cx="641901" cy="338554"/>
          </a:xfrm>
          <a:prstGeom prst="rect">
            <a:avLst/>
          </a:prstGeom>
          <a:solidFill>
            <a:srgbClr val="92D050"/>
          </a:solidFill>
          <a:ln w="19050">
            <a:solidFill>
              <a:schemeClr val="tx1"/>
            </a:solidFill>
          </a:ln>
        </p:spPr>
        <p:txBody>
          <a:bodyPr wrap="square" rtlCol="0" anchor="ctr">
            <a:spAutoFit/>
          </a:bodyPr>
          <a:lstStyle/>
          <a:p>
            <a:pPr algn="ctr"/>
            <a:r>
              <a:rPr lang="en-IN" sz="1600" dirty="0" smtClean="0"/>
              <a:t>RE</a:t>
            </a:r>
            <a:r>
              <a:rPr lang="en-IN" sz="1600" baseline="-25000" dirty="0" smtClean="0"/>
              <a:t>1</a:t>
            </a:r>
            <a:endParaRPr lang="en-IN" sz="1600" baseline="-25000" dirty="0"/>
          </a:p>
        </p:txBody>
      </p:sp>
      <p:grpSp>
        <p:nvGrpSpPr>
          <p:cNvPr id="9" name="Group 31"/>
          <p:cNvGrpSpPr/>
          <p:nvPr/>
        </p:nvGrpSpPr>
        <p:grpSpPr>
          <a:xfrm>
            <a:off x="5421694" y="1928670"/>
            <a:ext cx="543146" cy="736430"/>
            <a:chOff x="5004048" y="2204864"/>
            <a:chExt cx="792088" cy="1296144"/>
          </a:xfrm>
        </p:grpSpPr>
        <p:cxnSp>
          <p:nvCxnSpPr>
            <p:cNvPr id="28" name="Straight Connector 27"/>
            <p:cNvCxnSpPr/>
            <p:nvPr/>
          </p:nvCxnSpPr>
          <p:spPr>
            <a:xfrm>
              <a:off x="5004048" y="2204864"/>
              <a:ext cx="0" cy="129614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004048" y="3501008"/>
              <a:ext cx="792088"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39"/>
          <p:cNvGrpSpPr/>
          <p:nvPr/>
        </p:nvGrpSpPr>
        <p:grpSpPr>
          <a:xfrm>
            <a:off x="5273564" y="1928670"/>
            <a:ext cx="543146" cy="1063732"/>
            <a:chOff x="4788024" y="2204864"/>
            <a:chExt cx="792088" cy="1872208"/>
          </a:xfrm>
        </p:grpSpPr>
        <p:cxnSp>
          <p:nvCxnSpPr>
            <p:cNvPr id="33" name="Straight Connector 32"/>
            <p:cNvCxnSpPr/>
            <p:nvPr/>
          </p:nvCxnSpPr>
          <p:spPr>
            <a:xfrm>
              <a:off x="5580112" y="2204864"/>
              <a:ext cx="0" cy="93610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4788024" y="3140968"/>
              <a:ext cx="79208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788024" y="3140968"/>
              <a:ext cx="0" cy="936104"/>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83"/>
          <p:cNvGrpSpPr/>
          <p:nvPr/>
        </p:nvGrpSpPr>
        <p:grpSpPr>
          <a:xfrm>
            <a:off x="5094784" y="3224009"/>
            <a:ext cx="1800200" cy="1418674"/>
            <a:chOff x="4499992" y="2187611"/>
            <a:chExt cx="2625292" cy="2496920"/>
          </a:xfrm>
        </p:grpSpPr>
        <p:sp>
          <p:nvSpPr>
            <p:cNvPr id="86" name="TextBox 85"/>
            <p:cNvSpPr txBox="1"/>
            <p:nvPr/>
          </p:nvSpPr>
          <p:spPr>
            <a:xfrm>
              <a:off x="5652120" y="2609980"/>
              <a:ext cx="504056" cy="434571"/>
            </a:xfrm>
            <a:prstGeom prst="rect">
              <a:avLst/>
            </a:prstGeom>
            <a:solidFill>
              <a:srgbClr val="FFFF00"/>
            </a:solidFill>
            <a:ln w="19050">
              <a:solidFill>
                <a:schemeClr val="tx1"/>
              </a:solidFill>
            </a:ln>
          </p:spPr>
          <p:txBody>
            <a:bodyPr wrap="square" rtlCol="0" anchor="ctr">
              <a:spAutoFit/>
            </a:bodyPr>
            <a:lstStyle/>
            <a:p>
              <a:pPr algn="ctr"/>
              <a:r>
                <a:rPr lang="en-IN" sz="1600" dirty="0" smtClean="0"/>
                <a:t>F</a:t>
              </a:r>
              <a:endParaRPr lang="en-IN" sz="1600" baseline="-25000" dirty="0"/>
            </a:p>
          </p:txBody>
        </p:sp>
        <p:cxnSp>
          <p:nvCxnSpPr>
            <p:cNvPr id="87" name="Straight Arrow Connector 86"/>
            <p:cNvCxnSpPr>
              <a:endCxn id="86" idx="0"/>
            </p:cNvCxnSpPr>
            <p:nvPr/>
          </p:nvCxnSpPr>
          <p:spPr>
            <a:xfrm flipH="1">
              <a:off x="5904148" y="2187611"/>
              <a:ext cx="1" cy="422369"/>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H="1">
              <a:off x="6156176" y="2852936"/>
              <a:ext cx="360040"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6516217" y="2636913"/>
              <a:ext cx="609067" cy="595868"/>
            </a:xfrm>
            <a:prstGeom prst="rect">
              <a:avLst/>
            </a:prstGeom>
            <a:noFill/>
            <a:ln>
              <a:noFill/>
            </a:ln>
          </p:spPr>
          <p:txBody>
            <a:bodyPr wrap="square" rtlCol="0">
              <a:spAutoFit/>
            </a:bodyPr>
            <a:lstStyle/>
            <a:p>
              <a:pPr algn="ctr"/>
              <a:r>
                <a:rPr lang="en-IN" sz="1600" dirty="0" smtClean="0"/>
                <a:t>K</a:t>
              </a:r>
              <a:r>
                <a:rPr lang="en-IN" sz="1600" baseline="-25000" dirty="0" smtClean="0"/>
                <a:t>2</a:t>
              </a:r>
              <a:endParaRPr lang="en-IN" sz="1600" baseline="-25000" dirty="0"/>
            </a:p>
          </p:txBody>
        </p:sp>
        <p:graphicFrame>
          <p:nvGraphicFramePr>
            <p:cNvPr id="90" name="Object 2"/>
            <p:cNvGraphicFramePr>
              <a:graphicFrameLocks noChangeAspect="1"/>
            </p:cNvGraphicFramePr>
            <p:nvPr/>
          </p:nvGraphicFramePr>
          <p:xfrm>
            <a:off x="5763157" y="3328242"/>
            <a:ext cx="400707" cy="444103"/>
          </p:xfrm>
          <a:graphic>
            <a:graphicData uri="http://schemas.openxmlformats.org/presentationml/2006/ole">
              <mc:AlternateContent xmlns:mc="http://schemas.openxmlformats.org/markup-compatibility/2006">
                <mc:Choice xmlns:v="urn:schemas-microsoft-com:vml" Requires="v">
                  <p:oleObj spid="_x0000_s4171" name="Equation" r:id="rId5" imgW="164814" imgH="177492" progId="Equation.3">
                    <p:embed/>
                  </p:oleObj>
                </mc:Choice>
                <mc:Fallback>
                  <p:oleObj name="Equation" r:id="rId5" imgW="164814" imgH="177492"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157" y="3328242"/>
                          <a:ext cx="400707" cy="444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1" name="Straight Arrow Connector 90"/>
            <p:cNvCxnSpPr/>
            <p:nvPr/>
          </p:nvCxnSpPr>
          <p:spPr>
            <a:xfrm>
              <a:off x="5940152" y="2996952"/>
              <a:ext cx="0" cy="422756"/>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5940152" y="3645024"/>
              <a:ext cx="0" cy="422756"/>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3" name="Group 19"/>
            <p:cNvGrpSpPr/>
            <p:nvPr/>
          </p:nvGrpSpPr>
          <p:grpSpPr>
            <a:xfrm>
              <a:off x="4499992" y="4088663"/>
              <a:ext cx="1872212" cy="595868"/>
              <a:chOff x="4499992" y="1856415"/>
              <a:chExt cx="1872212" cy="595868"/>
            </a:xfrm>
          </p:grpSpPr>
          <p:sp>
            <p:nvSpPr>
              <p:cNvPr id="101" name="TextBox 100"/>
              <p:cNvSpPr txBox="1"/>
              <p:nvPr/>
            </p:nvSpPr>
            <p:spPr>
              <a:xfrm>
                <a:off x="4499992" y="1856415"/>
                <a:ext cx="936106" cy="595868"/>
              </a:xfrm>
              <a:prstGeom prst="rect">
                <a:avLst/>
              </a:prstGeom>
              <a:solidFill>
                <a:srgbClr val="92D050"/>
              </a:solidFill>
              <a:ln w="19050">
                <a:solidFill>
                  <a:schemeClr val="tx1"/>
                </a:solidFill>
              </a:ln>
            </p:spPr>
            <p:txBody>
              <a:bodyPr wrap="square" rtlCol="0" anchor="ctr">
                <a:spAutoFit/>
              </a:bodyPr>
              <a:lstStyle/>
              <a:p>
                <a:pPr algn="ctr"/>
                <a:r>
                  <a:rPr lang="en-IN" sz="1600" dirty="0" smtClean="0"/>
                  <a:t>LE</a:t>
                </a:r>
                <a:r>
                  <a:rPr lang="en-IN" sz="1600" baseline="-25000" dirty="0" smtClean="0"/>
                  <a:t>2</a:t>
                </a:r>
                <a:endParaRPr lang="en-IN" sz="1600" baseline="-25000" dirty="0"/>
              </a:p>
            </p:txBody>
          </p:sp>
          <p:sp>
            <p:nvSpPr>
              <p:cNvPr id="102" name="TextBox 101"/>
              <p:cNvSpPr txBox="1"/>
              <p:nvPr/>
            </p:nvSpPr>
            <p:spPr>
              <a:xfrm>
                <a:off x="5436098" y="1856415"/>
                <a:ext cx="936106" cy="595868"/>
              </a:xfrm>
              <a:prstGeom prst="rect">
                <a:avLst/>
              </a:prstGeom>
              <a:solidFill>
                <a:srgbClr val="92D050"/>
              </a:solidFill>
              <a:ln w="19050">
                <a:solidFill>
                  <a:schemeClr val="tx1"/>
                </a:solidFill>
              </a:ln>
            </p:spPr>
            <p:txBody>
              <a:bodyPr wrap="square" rtlCol="0" anchor="ctr">
                <a:spAutoFit/>
              </a:bodyPr>
              <a:lstStyle/>
              <a:p>
                <a:pPr algn="ctr"/>
                <a:r>
                  <a:rPr lang="en-IN" sz="1600" dirty="0" smtClean="0"/>
                  <a:t>RE</a:t>
                </a:r>
                <a:r>
                  <a:rPr lang="en-IN" sz="1600" baseline="-25000" dirty="0" smtClean="0"/>
                  <a:t>2</a:t>
                </a:r>
                <a:endParaRPr lang="en-IN" sz="1600" baseline="-25000" dirty="0"/>
              </a:p>
            </p:txBody>
          </p:sp>
        </p:grpSp>
        <p:grpSp>
          <p:nvGrpSpPr>
            <p:cNvPr id="14" name="Group 31"/>
            <p:cNvGrpSpPr/>
            <p:nvPr/>
          </p:nvGrpSpPr>
          <p:grpSpPr>
            <a:xfrm>
              <a:off x="5004048" y="2204866"/>
              <a:ext cx="792088" cy="1296144"/>
              <a:chOff x="5004048" y="2204866"/>
              <a:chExt cx="792088" cy="1296144"/>
            </a:xfrm>
          </p:grpSpPr>
          <p:cxnSp>
            <p:nvCxnSpPr>
              <p:cNvPr id="99" name="Straight Connector 98"/>
              <p:cNvCxnSpPr/>
              <p:nvPr/>
            </p:nvCxnSpPr>
            <p:spPr>
              <a:xfrm>
                <a:off x="5004048" y="2204864"/>
                <a:ext cx="0" cy="129614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5004048" y="3501008"/>
                <a:ext cx="792088"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Group 39"/>
            <p:cNvGrpSpPr/>
            <p:nvPr/>
          </p:nvGrpSpPr>
          <p:grpSpPr>
            <a:xfrm>
              <a:off x="4788024" y="2204864"/>
              <a:ext cx="792088" cy="1872208"/>
              <a:chOff x="4788024" y="2204864"/>
              <a:chExt cx="792088" cy="1872208"/>
            </a:xfrm>
          </p:grpSpPr>
          <p:cxnSp>
            <p:nvCxnSpPr>
              <p:cNvPr id="96" name="Straight Connector 95"/>
              <p:cNvCxnSpPr/>
              <p:nvPr/>
            </p:nvCxnSpPr>
            <p:spPr>
              <a:xfrm>
                <a:off x="5580112" y="2204864"/>
                <a:ext cx="0" cy="93610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a:off x="4788024" y="3140968"/>
                <a:ext cx="79208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4788024" y="3140968"/>
                <a:ext cx="0" cy="936104"/>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20" name="Group 106"/>
          <p:cNvGrpSpPr/>
          <p:nvPr/>
        </p:nvGrpSpPr>
        <p:grpSpPr>
          <a:xfrm>
            <a:off x="5076268" y="5312241"/>
            <a:ext cx="1283802" cy="338554"/>
            <a:chOff x="5004048" y="5013176"/>
            <a:chExt cx="1337294" cy="338554"/>
          </a:xfrm>
          <a:solidFill>
            <a:srgbClr val="92D050"/>
          </a:solidFill>
        </p:grpSpPr>
        <p:sp>
          <p:nvSpPr>
            <p:cNvPr id="105" name="TextBox 104"/>
            <p:cNvSpPr txBox="1"/>
            <p:nvPr/>
          </p:nvSpPr>
          <p:spPr>
            <a:xfrm>
              <a:off x="5004048" y="5013176"/>
              <a:ext cx="668647" cy="338554"/>
            </a:xfrm>
            <a:prstGeom prst="rect">
              <a:avLst/>
            </a:prstGeom>
            <a:grpFill/>
            <a:ln w="19050">
              <a:solidFill>
                <a:schemeClr val="tx1"/>
              </a:solidFill>
            </a:ln>
          </p:spPr>
          <p:txBody>
            <a:bodyPr wrap="square" rtlCol="0" anchor="ctr">
              <a:spAutoFit/>
            </a:bodyPr>
            <a:lstStyle/>
            <a:p>
              <a:pPr algn="ctr"/>
              <a:r>
                <a:rPr lang="en-IN" sz="1600" dirty="0" smtClean="0"/>
                <a:t>LE</a:t>
              </a:r>
              <a:r>
                <a:rPr lang="en-IN" sz="1600" baseline="-25000" dirty="0" smtClean="0"/>
                <a:t>16</a:t>
              </a:r>
              <a:endParaRPr lang="en-IN" sz="1600" baseline="-25000" dirty="0"/>
            </a:p>
          </p:txBody>
        </p:sp>
        <p:sp>
          <p:nvSpPr>
            <p:cNvPr id="106" name="TextBox 105"/>
            <p:cNvSpPr txBox="1"/>
            <p:nvPr/>
          </p:nvSpPr>
          <p:spPr>
            <a:xfrm>
              <a:off x="5672695" y="5013176"/>
              <a:ext cx="668647" cy="338554"/>
            </a:xfrm>
            <a:prstGeom prst="rect">
              <a:avLst/>
            </a:prstGeom>
            <a:grpFill/>
            <a:ln w="19050">
              <a:solidFill>
                <a:schemeClr val="tx1"/>
              </a:solidFill>
            </a:ln>
          </p:spPr>
          <p:txBody>
            <a:bodyPr wrap="square" rtlCol="0" anchor="ctr">
              <a:spAutoFit/>
            </a:bodyPr>
            <a:lstStyle/>
            <a:p>
              <a:pPr algn="ctr"/>
              <a:r>
                <a:rPr lang="en-IN" sz="1600" dirty="0" smtClean="0"/>
                <a:t>RE</a:t>
              </a:r>
              <a:r>
                <a:rPr lang="en-IN" sz="1600" baseline="-25000" dirty="0" smtClean="0"/>
                <a:t>16</a:t>
              </a:r>
              <a:endParaRPr lang="en-IN" sz="1600" baseline="-25000" dirty="0"/>
            </a:p>
          </p:txBody>
        </p:sp>
      </p:grpSp>
      <p:sp>
        <p:nvSpPr>
          <p:cNvPr id="108" name="TextBox 107"/>
          <p:cNvSpPr txBox="1"/>
          <p:nvPr/>
        </p:nvSpPr>
        <p:spPr>
          <a:xfrm>
            <a:off x="5082227" y="5888305"/>
            <a:ext cx="641901" cy="338554"/>
          </a:xfrm>
          <a:prstGeom prst="rect">
            <a:avLst/>
          </a:prstGeom>
          <a:solidFill>
            <a:srgbClr val="92D050"/>
          </a:solidFill>
          <a:ln w="19050">
            <a:solidFill>
              <a:schemeClr val="tx1"/>
            </a:solidFill>
          </a:ln>
        </p:spPr>
        <p:txBody>
          <a:bodyPr wrap="square" rtlCol="0" anchor="ctr">
            <a:spAutoFit/>
          </a:bodyPr>
          <a:lstStyle/>
          <a:p>
            <a:pPr algn="ctr"/>
            <a:r>
              <a:rPr lang="en-IN" sz="1600" dirty="0" smtClean="0"/>
              <a:t>LE</a:t>
            </a:r>
            <a:r>
              <a:rPr lang="en-IN" sz="1600" baseline="-25000" dirty="0" smtClean="0"/>
              <a:t>17</a:t>
            </a:r>
            <a:endParaRPr lang="en-IN" sz="1600" baseline="-25000" dirty="0"/>
          </a:p>
        </p:txBody>
      </p:sp>
      <p:sp>
        <p:nvSpPr>
          <p:cNvPr id="109" name="TextBox 108"/>
          <p:cNvSpPr txBox="1"/>
          <p:nvPr/>
        </p:nvSpPr>
        <p:spPr>
          <a:xfrm>
            <a:off x="5724128" y="5888305"/>
            <a:ext cx="641901" cy="338554"/>
          </a:xfrm>
          <a:prstGeom prst="rect">
            <a:avLst/>
          </a:prstGeom>
          <a:solidFill>
            <a:srgbClr val="92D050"/>
          </a:solidFill>
          <a:ln w="19050">
            <a:solidFill>
              <a:schemeClr val="tx1"/>
            </a:solidFill>
          </a:ln>
        </p:spPr>
        <p:txBody>
          <a:bodyPr wrap="square" rtlCol="0" anchor="ctr">
            <a:spAutoFit/>
          </a:bodyPr>
          <a:lstStyle/>
          <a:p>
            <a:pPr algn="ctr"/>
            <a:r>
              <a:rPr lang="en-IN" sz="1600" dirty="0" smtClean="0"/>
              <a:t>RE</a:t>
            </a:r>
            <a:r>
              <a:rPr lang="en-IN" sz="1600" baseline="-25000" dirty="0" smtClean="0"/>
              <a:t>17</a:t>
            </a:r>
            <a:endParaRPr lang="en-IN" sz="1600" baseline="-25000" dirty="0"/>
          </a:p>
        </p:txBody>
      </p:sp>
      <p:cxnSp>
        <p:nvCxnSpPr>
          <p:cNvPr id="111" name="Straight Arrow Connector 110"/>
          <p:cNvCxnSpPr>
            <a:stCxn id="106" idx="2"/>
            <a:endCxn id="108" idx="0"/>
          </p:cNvCxnSpPr>
          <p:nvPr/>
        </p:nvCxnSpPr>
        <p:spPr>
          <a:xfrm flipH="1">
            <a:off x="5403178" y="5650795"/>
            <a:ext cx="635942" cy="23751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105" idx="2"/>
            <a:endCxn id="109" idx="0"/>
          </p:cNvCxnSpPr>
          <p:nvPr/>
        </p:nvCxnSpPr>
        <p:spPr>
          <a:xfrm>
            <a:off x="5397219" y="5650795"/>
            <a:ext cx="647860" cy="23751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5670848" y="4736177"/>
            <a:ext cx="0" cy="432048"/>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flipH="1">
            <a:off x="6246913" y="5002930"/>
            <a:ext cx="24688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6493797" y="4880193"/>
            <a:ext cx="473195" cy="338554"/>
          </a:xfrm>
          <a:prstGeom prst="rect">
            <a:avLst/>
          </a:prstGeom>
          <a:noFill/>
          <a:ln>
            <a:noFill/>
          </a:ln>
        </p:spPr>
        <p:txBody>
          <a:bodyPr wrap="square" rtlCol="0">
            <a:spAutoFit/>
          </a:bodyPr>
          <a:lstStyle/>
          <a:p>
            <a:pPr algn="ctr"/>
            <a:r>
              <a:rPr lang="en-IN" sz="1600" dirty="0" smtClean="0"/>
              <a:t>K</a:t>
            </a:r>
            <a:r>
              <a:rPr lang="en-IN" sz="1600" baseline="-25000" dirty="0" smtClean="0"/>
              <a:t>16</a:t>
            </a:r>
            <a:endParaRPr lang="en-IN" sz="1600" baseline="-25000" dirty="0"/>
          </a:p>
        </p:txBody>
      </p:sp>
      <p:sp>
        <p:nvSpPr>
          <p:cNvPr id="120" name="TextBox 119"/>
          <p:cNvSpPr txBox="1"/>
          <p:nvPr/>
        </p:nvSpPr>
        <p:spPr>
          <a:xfrm>
            <a:off x="5004048" y="6237312"/>
            <a:ext cx="1512168" cy="276999"/>
          </a:xfrm>
          <a:prstGeom prst="rect">
            <a:avLst/>
          </a:prstGeom>
          <a:noFill/>
        </p:spPr>
        <p:txBody>
          <a:bodyPr wrap="square" rtlCol="0">
            <a:spAutoFit/>
          </a:bodyPr>
          <a:lstStyle/>
          <a:p>
            <a:r>
              <a:rPr lang="en-IN" sz="1200" b="1" i="1" dirty="0" smtClean="0"/>
              <a:t>Output (Ciphertext)</a:t>
            </a:r>
            <a:endParaRPr lang="en-IN" sz="1200" b="1" i="1" dirty="0"/>
          </a:p>
        </p:txBody>
      </p:sp>
      <p:sp>
        <p:nvSpPr>
          <p:cNvPr id="123" name="TextBox 122"/>
          <p:cNvSpPr txBox="1"/>
          <p:nvPr/>
        </p:nvSpPr>
        <p:spPr>
          <a:xfrm>
            <a:off x="5004048" y="1340768"/>
            <a:ext cx="1512168" cy="276999"/>
          </a:xfrm>
          <a:prstGeom prst="rect">
            <a:avLst/>
          </a:prstGeom>
          <a:noFill/>
        </p:spPr>
        <p:txBody>
          <a:bodyPr wrap="square" rtlCol="0">
            <a:spAutoFit/>
          </a:bodyPr>
          <a:lstStyle/>
          <a:p>
            <a:pPr algn="ctr"/>
            <a:r>
              <a:rPr lang="en-IN" sz="1200" b="1" i="1" dirty="0" smtClean="0"/>
              <a:t>Input (Plaintext)</a:t>
            </a:r>
            <a:endParaRPr lang="en-IN" sz="1200" b="1" i="1" dirty="0"/>
          </a:p>
        </p:txBody>
      </p:sp>
      <p:grpSp>
        <p:nvGrpSpPr>
          <p:cNvPr id="23" name="Group 237"/>
          <p:cNvGrpSpPr/>
          <p:nvPr/>
        </p:nvGrpSpPr>
        <p:grpSpPr>
          <a:xfrm>
            <a:off x="6948264" y="1196752"/>
            <a:ext cx="2016223" cy="5400600"/>
            <a:chOff x="6948264" y="1196752"/>
            <a:chExt cx="2016223" cy="5400600"/>
          </a:xfrm>
        </p:grpSpPr>
        <p:grpSp>
          <p:nvGrpSpPr>
            <p:cNvPr id="24" name="Group 235"/>
            <p:cNvGrpSpPr/>
            <p:nvPr/>
          </p:nvGrpSpPr>
          <p:grpSpPr>
            <a:xfrm>
              <a:off x="6948264" y="1196752"/>
              <a:ext cx="2016223" cy="5400600"/>
              <a:chOff x="6948264" y="1124744"/>
              <a:chExt cx="2016223" cy="5400600"/>
            </a:xfrm>
          </p:grpSpPr>
          <p:sp>
            <p:nvSpPr>
              <p:cNvPr id="164" name="TextBox 163"/>
              <p:cNvSpPr txBox="1"/>
              <p:nvPr/>
            </p:nvSpPr>
            <p:spPr>
              <a:xfrm>
                <a:off x="7079723" y="5899338"/>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LE</a:t>
                </a:r>
                <a:r>
                  <a:rPr lang="en-IN" sz="1600" baseline="-25000" dirty="0" smtClean="0"/>
                  <a:t>17</a:t>
                </a:r>
                <a:endParaRPr lang="en-IN" sz="1600" baseline="-25000" dirty="0"/>
              </a:p>
            </p:txBody>
          </p:sp>
          <p:sp>
            <p:nvSpPr>
              <p:cNvPr id="171" name="TextBox 170"/>
              <p:cNvSpPr txBox="1"/>
              <p:nvPr/>
            </p:nvSpPr>
            <p:spPr>
              <a:xfrm>
                <a:off x="7001544" y="6248345"/>
                <a:ext cx="1512168" cy="276999"/>
              </a:xfrm>
              <a:prstGeom prst="rect">
                <a:avLst/>
              </a:prstGeom>
              <a:noFill/>
            </p:spPr>
            <p:txBody>
              <a:bodyPr wrap="square" rtlCol="0">
                <a:spAutoFit/>
              </a:bodyPr>
              <a:lstStyle/>
              <a:p>
                <a:pPr algn="ctr"/>
                <a:r>
                  <a:rPr lang="en-IN" sz="1200" b="1" i="1" dirty="0" smtClean="0"/>
                  <a:t>Input (Ciphertext)</a:t>
                </a:r>
                <a:endParaRPr lang="en-IN" sz="1200" b="1" i="1" dirty="0"/>
              </a:p>
            </p:txBody>
          </p:sp>
          <p:grpSp>
            <p:nvGrpSpPr>
              <p:cNvPr id="25" name="Group 234"/>
              <p:cNvGrpSpPr/>
              <p:nvPr/>
            </p:nvGrpSpPr>
            <p:grpSpPr>
              <a:xfrm>
                <a:off x="6948264" y="1124744"/>
                <a:ext cx="2016223" cy="5113148"/>
                <a:chOff x="6948264" y="1124744"/>
                <a:chExt cx="2016223" cy="5113148"/>
              </a:xfrm>
            </p:grpSpPr>
            <p:sp>
              <p:nvSpPr>
                <p:cNvPr id="173" name="TextBox 172"/>
                <p:cNvSpPr txBox="1"/>
                <p:nvPr/>
              </p:nvSpPr>
              <p:spPr>
                <a:xfrm>
                  <a:off x="7898770" y="5414338"/>
                  <a:ext cx="345638" cy="246910"/>
                </a:xfrm>
                <a:prstGeom prst="rect">
                  <a:avLst/>
                </a:prstGeom>
                <a:solidFill>
                  <a:srgbClr val="00B0F0"/>
                </a:solidFill>
                <a:ln w="19050">
                  <a:solidFill>
                    <a:schemeClr val="tx1"/>
                  </a:solidFill>
                </a:ln>
              </p:spPr>
              <p:txBody>
                <a:bodyPr wrap="square" rtlCol="0" anchor="ctr">
                  <a:spAutoFit/>
                </a:bodyPr>
                <a:lstStyle/>
                <a:p>
                  <a:pPr algn="ctr"/>
                  <a:r>
                    <a:rPr lang="en-IN" sz="1600" dirty="0" smtClean="0"/>
                    <a:t>F</a:t>
                  </a:r>
                  <a:endParaRPr lang="en-IN" sz="1600" baseline="-25000" dirty="0"/>
                </a:p>
              </p:txBody>
            </p:sp>
            <p:cxnSp>
              <p:nvCxnSpPr>
                <p:cNvPr id="177" name="Straight Connector 176"/>
                <p:cNvCxnSpPr/>
                <p:nvPr/>
              </p:nvCxnSpPr>
              <p:spPr>
                <a:xfrm>
                  <a:off x="7380312" y="5085184"/>
                  <a:ext cx="0" cy="80843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32"/>
                <p:cNvGrpSpPr/>
                <p:nvPr/>
              </p:nvGrpSpPr>
              <p:grpSpPr>
                <a:xfrm>
                  <a:off x="6948264" y="1124744"/>
                  <a:ext cx="2016223" cy="5113148"/>
                  <a:chOff x="6948264" y="1124744"/>
                  <a:chExt cx="2016223" cy="5113148"/>
                </a:xfrm>
              </p:grpSpPr>
              <p:cxnSp>
                <p:nvCxnSpPr>
                  <p:cNvPr id="199" name="Straight Arrow Connector 198"/>
                  <p:cNvCxnSpPr/>
                  <p:nvPr/>
                </p:nvCxnSpPr>
                <p:spPr>
                  <a:xfrm flipH="1">
                    <a:off x="8100392" y="4049262"/>
                    <a:ext cx="1" cy="239977"/>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7380312" y="3484658"/>
                    <a:ext cx="0" cy="80843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31"/>
                  <p:cNvGrpSpPr/>
                  <p:nvPr/>
                </p:nvGrpSpPr>
                <p:grpSpPr>
                  <a:xfrm>
                    <a:off x="6948264" y="1124744"/>
                    <a:ext cx="2016223" cy="5113148"/>
                    <a:chOff x="6948264" y="1124744"/>
                    <a:chExt cx="2016223" cy="5113148"/>
                  </a:xfrm>
                </p:grpSpPr>
                <p:sp>
                  <p:nvSpPr>
                    <p:cNvPr id="165" name="TextBox 164"/>
                    <p:cNvSpPr txBox="1"/>
                    <p:nvPr/>
                  </p:nvSpPr>
                  <p:spPr>
                    <a:xfrm>
                      <a:off x="7721624" y="5899338"/>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RE</a:t>
                      </a:r>
                      <a:r>
                        <a:rPr lang="en-IN" sz="1600" baseline="-25000" dirty="0" smtClean="0"/>
                        <a:t>17</a:t>
                      </a:r>
                      <a:endParaRPr lang="en-IN" sz="1600" baseline="-25000" dirty="0"/>
                    </a:p>
                  </p:txBody>
                </p:sp>
                <p:cxnSp>
                  <p:nvCxnSpPr>
                    <p:cNvPr id="169" name="Straight Arrow Connector 168"/>
                    <p:cNvCxnSpPr/>
                    <p:nvPr/>
                  </p:nvCxnSpPr>
                  <p:spPr>
                    <a:xfrm flipH="1">
                      <a:off x="8244408" y="5589447"/>
                      <a:ext cx="24688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0" name="TextBox 169"/>
                    <p:cNvSpPr txBox="1"/>
                    <p:nvPr/>
                  </p:nvSpPr>
                  <p:spPr>
                    <a:xfrm>
                      <a:off x="8491292" y="5466710"/>
                      <a:ext cx="473195" cy="338554"/>
                    </a:xfrm>
                    <a:prstGeom prst="rect">
                      <a:avLst/>
                    </a:prstGeom>
                    <a:noFill/>
                    <a:ln>
                      <a:noFill/>
                    </a:ln>
                  </p:spPr>
                  <p:txBody>
                    <a:bodyPr wrap="square" rtlCol="0">
                      <a:spAutoFit/>
                    </a:bodyPr>
                    <a:lstStyle/>
                    <a:p>
                      <a:pPr algn="ctr"/>
                      <a:r>
                        <a:rPr lang="en-IN" sz="1600" dirty="0" smtClean="0"/>
                        <a:t>K</a:t>
                      </a:r>
                      <a:r>
                        <a:rPr lang="en-IN" sz="1600" baseline="-25000" dirty="0" smtClean="0"/>
                        <a:t>16</a:t>
                      </a:r>
                      <a:endParaRPr lang="en-IN" sz="1600" baseline="-25000" dirty="0"/>
                    </a:p>
                  </p:txBody>
                </p:sp>
                <p:sp>
                  <p:nvSpPr>
                    <p:cNvPr id="172" name="TextBox 171"/>
                    <p:cNvSpPr txBox="1"/>
                    <p:nvPr/>
                  </p:nvSpPr>
                  <p:spPr>
                    <a:xfrm>
                      <a:off x="6948264" y="1124744"/>
                      <a:ext cx="1512168" cy="276999"/>
                    </a:xfrm>
                    <a:prstGeom prst="rect">
                      <a:avLst/>
                    </a:prstGeom>
                    <a:noFill/>
                  </p:spPr>
                  <p:txBody>
                    <a:bodyPr wrap="square" rtlCol="0">
                      <a:spAutoFit/>
                    </a:bodyPr>
                    <a:lstStyle/>
                    <a:p>
                      <a:pPr algn="ctr"/>
                      <a:r>
                        <a:rPr lang="en-IN" sz="1200" b="1" i="1" dirty="0" smtClean="0"/>
                        <a:t>Output (Plaintext)</a:t>
                      </a:r>
                      <a:endParaRPr lang="en-IN" sz="1200" b="1" i="1" dirty="0"/>
                    </a:p>
                  </p:txBody>
                </p:sp>
                <p:graphicFrame>
                  <p:nvGraphicFramePr>
                    <p:cNvPr id="45064" name="Object 8"/>
                    <p:cNvGraphicFramePr>
                      <a:graphicFrameLocks noChangeAspect="1"/>
                    </p:cNvGraphicFramePr>
                    <p:nvPr/>
                  </p:nvGraphicFramePr>
                  <p:xfrm>
                    <a:off x="7979296" y="4986313"/>
                    <a:ext cx="265112" cy="242887"/>
                  </p:xfrm>
                  <a:graphic>
                    <a:graphicData uri="http://schemas.openxmlformats.org/presentationml/2006/ole">
                      <mc:AlternateContent xmlns:mc="http://schemas.openxmlformats.org/markup-compatibility/2006">
                        <mc:Choice xmlns:v="urn:schemas-microsoft-com:vml" Requires="v">
                          <p:oleObj spid="_x0000_s4172" name="Equation" r:id="rId6" imgW="164814" imgH="177492" progId="Equation.3">
                            <p:embed/>
                          </p:oleObj>
                        </mc:Choice>
                        <mc:Fallback>
                          <p:oleObj name="Equation" r:id="rId6" imgW="164814" imgH="177492" progId="Equation.3">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9296" y="4986313"/>
                                  <a:ext cx="265112"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75" name="Straight Arrow Connector 174"/>
                    <p:cNvCxnSpPr/>
                    <p:nvPr/>
                  </p:nvCxnSpPr>
                  <p:spPr>
                    <a:xfrm flipH="1">
                      <a:off x="8100392" y="5661248"/>
                      <a:ext cx="1" cy="239977"/>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p:nvPr/>
                  </p:nvCxnSpPr>
                  <p:spPr>
                    <a:xfrm flipH="1">
                      <a:off x="8100392" y="5157192"/>
                      <a:ext cx="1" cy="239977"/>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p:nvPr/>
                  </p:nvCxnSpPr>
                  <p:spPr>
                    <a:xfrm>
                      <a:off x="7380312" y="5085184"/>
                      <a:ext cx="648072"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p:nvPr/>
                  </p:nvCxnSpPr>
                  <p:spPr>
                    <a:xfrm flipH="1">
                      <a:off x="8100392" y="4653136"/>
                      <a:ext cx="2" cy="360040"/>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nvGrpSpPr>
                    <p:cNvPr id="29" name="Group 190"/>
                    <p:cNvGrpSpPr/>
                    <p:nvPr/>
                  </p:nvGrpSpPr>
                  <p:grpSpPr>
                    <a:xfrm>
                      <a:off x="7236296" y="4653136"/>
                      <a:ext cx="576064" cy="1251946"/>
                      <a:chOff x="7236296" y="4653136"/>
                      <a:chExt cx="576064" cy="1251946"/>
                    </a:xfrm>
                  </p:grpSpPr>
                  <p:cxnSp>
                    <p:nvCxnSpPr>
                      <p:cNvPr id="184" name="Straight Connector 183"/>
                      <p:cNvCxnSpPr/>
                      <p:nvPr/>
                    </p:nvCxnSpPr>
                    <p:spPr>
                      <a:xfrm>
                        <a:off x="7812360" y="5445224"/>
                        <a:ext cx="0" cy="45985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7236296" y="5445224"/>
                        <a:ext cx="576064"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p:nvPr/>
                    </p:nvCxnSpPr>
                    <p:spPr>
                      <a:xfrm>
                        <a:off x="7236296" y="4653136"/>
                        <a:ext cx="0" cy="792088"/>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sp>
                  <p:nvSpPr>
                    <p:cNvPr id="193" name="TextBox 192"/>
                    <p:cNvSpPr txBox="1"/>
                    <p:nvPr/>
                  </p:nvSpPr>
                  <p:spPr>
                    <a:xfrm>
                      <a:off x="7092280" y="4293096"/>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LD</a:t>
                      </a:r>
                      <a:r>
                        <a:rPr lang="en-IN" sz="1600" baseline="-25000" dirty="0" smtClean="0"/>
                        <a:t>16</a:t>
                      </a:r>
                      <a:endParaRPr lang="en-IN" sz="1600" baseline="-25000" dirty="0"/>
                    </a:p>
                  </p:txBody>
                </p:sp>
                <p:sp>
                  <p:nvSpPr>
                    <p:cNvPr id="194" name="TextBox 193"/>
                    <p:cNvSpPr txBox="1"/>
                    <p:nvPr/>
                  </p:nvSpPr>
                  <p:spPr>
                    <a:xfrm>
                      <a:off x="7734181" y="4293096"/>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RD</a:t>
                      </a:r>
                      <a:r>
                        <a:rPr lang="en-IN" sz="1600" baseline="-25000" dirty="0" smtClean="0"/>
                        <a:t>16</a:t>
                      </a:r>
                      <a:endParaRPr lang="en-IN" sz="1600" baseline="-25000" dirty="0"/>
                    </a:p>
                  </p:txBody>
                </p:sp>
                <p:cxnSp>
                  <p:nvCxnSpPr>
                    <p:cNvPr id="195" name="Straight Arrow Connector 194"/>
                    <p:cNvCxnSpPr/>
                    <p:nvPr/>
                  </p:nvCxnSpPr>
                  <p:spPr>
                    <a:xfrm flipH="1">
                      <a:off x="8244408" y="3933263"/>
                      <a:ext cx="24688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6" name="TextBox 195"/>
                    <p:cNvSpPr txBox="1"/>
                    <p:nvPr/>
                  </p:nvSpPr>
                  <p:spPr>
                    <a:xfrm>
                      <a:off x="8491292" y="3810526"/>
                      <a:ext cx="473195" cy="338554"/>
                    </a:xfrm>
                    <a:prstGeom prst="rect">
                      <a:avLst/>
                    </a:prstGeom>
                    <a:noFill/>
                    <a:ln>
                      <a:noFill/>
                    </a:ln>
                  </p:spPr>
                  <p:txBody>
                    <a:bodyPr wrap="square" rtlCol="0">
                      <a:spAutoFit/>
                    </a:bodyPr>
                    <a:lstStyle/>
                    <a:p>
                      <a:pPr algn="ctr"/>
                      <a:r>
                        <a:rPr lang="en-IN" sz="1600" dirty="0" smtClean="0"/>
                        <a:t>K</a:t>
                      </a:r>
                      <a:r>
                        <a:rPr lang="en-IN" sz="1600" baseline="-25000" dirty="0" smtClean="0"/>
                        <a:t>15</a:t>
                      </a:r>
                      <a:endParaRPr lang="en-IN" sz="1600" baseline="-25000" dirty="0"/>
                    </a:p>
                  </p:txBody>
                </p:sp>
                <p:sp>
                  <p:nvSpPr>
                    <p:cNvPr id="197" name="TextBox 196"/>
                    <p:cNvSpPr txBox="1"/>
                    <p:nvPr/>
                  </p:nvSpPr>
                  <p:spPr>
                    <a:xfrm>
                      <a:off x="7898770" y="3802352"/>
                      <a:ext cx="345638" cy="246910"/>
                    </a:xfrm>
                    <a:prstGeom prst="rect">
                      <a:avLst/>
                    </a:prstGeom>
                    <a:solidFill>
                      <a:srgbClr val="00B0F0"/>
                    </a:solidFill>
                    <a:ln w="19050">
                      <a:solidFill>
                        <a:schemeClr val="tx1"/>
                      </a:solidFill>
                    </a:ln>
                  </p:spPr>
                  <p:txBody>
                    <a:bodyPr wrap="square" rtlCol="0" anchor="ctr">
                      <a:spAutoFit/>
                    </a:bodyPr>
                    <a:lstStyle/>
                    <a:p>
                      <a:pPr algn="ctr"/>
                      <a:r>
                        <a:rPr lang="en-IN" sz="1600" dirty="0" smtClean="0"/>
                        <a:t>F</a:t>
                      </a:r>
                      <a:endParaRPr lang="en-IN" sz="1600" baseline="-25000" dirty="0"/>
                    </a:p>
                  </p:txBody>
                </p:sp>
                <p:graphicFrame>
                  <p:nvGraphicFramePr>
                    <p:cNvPr id="198" name="Object 8"/>
                    <p:cNvGraphicFramePr>
                      <a:graphicFrameLocks noChangeAspect="1"/>
                    </p:cNvGraphicFramePr>
                    <p:nvPr/>
                  </p:nvGraphicFramePr>
                  <p:xfrm>
                    <a:off x="7979296" y="3374327"/>
                    <a:ext cx="265112" cy="242887"/>
                  </p:xfrm>
                  <a:graphic>
                    <a:graphicData uri="http://schemas.openxmlformats.org/presentationml/2006/ole">
                      <mc:AlternateContent xmlns:mc="http://schemas.openxmlformats.org/markup-compatibility/2006">
                        <mc:Choice xmlns:v="urn:schemas-microsoft-com:vml" Requires="v">
                          <p:oleObj spid="_x0000_s4173" name="Equation" r:id="rId7" imgW="164814" imgH="177492" progId="Equation.3">
                            <p:embed/>
                          </p:oleObj>
                        </mc:Choice>
                        <mc:Fallback>
                          <p:oleObj name="Equation" r:id="rId7" imgW="164814" imgH="177492" progId="Equation.3">
                            <p:embed/>
                            <p:pic>
                              <p:nvPicPr>
                                <p:cNvPr id="0"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9296" y="3374327"/>
                                  <a:ext cx="265112"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02" name="Straight Arrow Connector 201"/>
                    <p:cNvCxnSpPr/>
                    <p:nvPr/>
                  </p:nvCxnSpPr>
                  <p:spPr>
                    <a:xfrm flipH="1">
                      <a:off x="8100392" y="3041150"/>
                      <a:ext cx="2" cy="360040"/>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nvGrpSpPr>
                    <p:cNvPr id="30" name="Group 202"/>
                    <p:cNvGrpSpPr/>
                    <p:nvPr/>
                  </p:nvGrpSpPr>
                  <p:grpSpPr>
                    <a:xfrm>
                      <a:off x="7236296" y="3041150"/>
                      <a:ext cx="576064" cy="1251946"/>
                      <a:chOff x="7236296" y="4653136"/>
                      <a:chExt cx="576064" cy="1251946"/>
                    </a:xfrm>
                  </p:grpSpPr>
                  <p:cxnSp>
                    <p:nvCxnSpPr>
                      <p:cNvPr id="204" name="Straight Connector 203"/>
                      <p:cNvCxnSpPr/>
                      <p:nvPr/>
                    </p:nvCxnSpPr>
                    <p:spPr>
                      <a:xfrm>
                        <a:off x="7812360" y="5445224"/>
                        <a:ext cx="0" cy="45985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7236296" y="5445224"/>
                        <a:ext cx="576064"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p:nvPr/>
                    </p:nvCxnSpPr>
                    <p:spPr>
                      <a:xfrm>
                        <a:off x="7236296" y="4653136"/>
                        <a:ext cx="0" cy="792088"/>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cxnSp>
                  <p:nvCxnSpPr>
                    <p:cNvPr id="215" name="Straight Arrow Connector 214"/>
                    <p:cNvCxnSpPr/>
                    <p:nvPr/>
                  </p:nvCxnSpPr>
                  <p:spPr>
                    <a:xfrm>
                      <a:off x="7380312" y="3484658"/>
                      <a:ext cx="648072"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 name="TextBox 215"/>
                    <p:cNvSpPr txBox="1"/>
                    <p:nvPr/>
                  </p:nvSpPr>
                  <p:spPr>
                    <a:xfrm>
                      <a:off x="7026443" y="2708920"/>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LD</a:t>
                      </a:r>
                      <a:r>
                        <a:rPr lang="en-IN" sz="1600" baseline="-25000" dirty="0" smtClean="0"/>
                        <a:t>15</a:t>
                      </a:r>
                      <a:endParaRPr lang="en-IN" sz="1600" baseline="-25000" dirty="0"/>
                    </a:p>
                  </p:txBody>
                </p:sp>
                <p:sp>
                  <p:nvSpPr>
                    <p:cNvPr id="217" name="TextBox 216"/>
                    <p:cNvSpPr txBox="1"/>
                    <p:nvPr/>
                  </p:nvSpPr>
                  <p:spPr>
                    <a:xfrm>
                      <a:off x="7668344" y="2708920"/>
                      <a:ext cx="641901" cy="338554"/>
                    </a:xfrm>
                    <a:prstGeom prst="rect">
                      <a:avLst/>
                    </a:prstGeom>
                    <a:solidFill>
                      <a:srgbClr val="FFC000"/>
                    </a:solidFill>
                    <a:ln w="19050">
                      <a:solidFill>
                        <a:schemeClr val="tx1"/>
                      </a:solidFill>
                    </a:ln>
                  </p:spPr>
                  <p:txBody>
                    <a:bodyPr wrap="square" rtlCol="0" anchor="ctr">
                      <a:spAutoFit/>
                    </a:bodyPr>
                    <a:lstStyle/>
                    <a:p>
                      <a:pPr algn="ctr"/>
                      <a:r>
                        <a:rPr lang="en-IN" sz="1600" dirty="0" smtClean="0"/>
                        <a:t>RD</a:t>
                      </a:r>
                      <a:r>
                        <a:rPr lang="en-IN" sz="1600" baseline="-25000" dirty="0" smtClean="0"/>
                        <a:t>15</a:t>
                      </a:r>
                      <a:endParaRPr lang="en-IN" sz="1600" baseline="-25000" dirty="0"/>
                    </a:p>
                  </p:txBody>
                </p:sp>
                <p:cxnSp>
                  <p:nvCxnSpPr>
                    <p:cNvPr id="218" name="Straight Connector 217"/>
                    <p:cNvCxnSpPr/>
                    <p:nvPr/>
                  </p:nvCxnSpPr>
                  <p:spPr>
                    <a:xfrm>
                      <a:off x="7668344" y="2204864"/>
                      <a:ext cx="0" cy="432048"/>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25" name="Group 218"/>
                    <p:cNvGrpSpPr/>
                    <p:nvPr/>
                  </p:nvGrpSpPr>
                  <p:grpSpPr>
                    <a:xfrm>
                      <a:off x="7020272" y="1974325"/>
                      <a:ext cx="1283802" cy="338555"/>
                      <a:chOff x="5004048" y="4967444"/>
                      <a:chExt cx="1337294" cy="430016"/>
                    </a:xfrm>
                    <a:solidFill>
                      <a:srgbClr val="92D050"/>
                    </a:solidFill>
                  </p:grpSpPr>
                  <p:sp>
                    <p:nvSpPr>
                      <p:cNvPr id="220" name="TextBox 219"/>
                      <p:cNvSpPr txBox="1"/>
                      <p:nvPr/>
                    </p:nvSpPr>
                    <p:spPr>
                      <a:xfrm>
                        <a:off x="5004048" y="4967445"/>
                        <a:ext cx="668647" cy="430015"/>
                      </a:xfrm>
                      <a:prstGeom prst="rect">
                        <a:avLst/>
                      </a:prstGeom>
                      <a:solidFill>
                        <a:srgbClr val="FFC000"/>
                      </a:solidFill>
                      <a:ln w="19050">
                        <a:solidFill>
                          <a:schemeClr val="tx1"/>
                        </a:solidFill>
                      </a:ln>
                    </p:spPr>
                    <p:txBody>
                      <a:bodyPr wrap="square" rtlCol="0" anchor="ctr">
                        <a:spAutoFit/>
                      </a:bodyPr>
                      <a:lstStyle/>
                      <a:p>
                        <a:pPr algn="ctr"/>
                        <a:r>
                          <a:rPr lang="en-IN" sz="1600" dirty="0" smtClean="0"/>
                          <a:t>LD</a:t>
                        </a:r>
                        <a:r>
                          <a:rPr lang="en-IN" sz="1600" baseline="-25000" dirty="0" smtClean="0"/>
                          <a:t>1</a:t>
                        </a:r>
                        <a:endParaRPr lang="en-IN" sz="1600" baseline="-25000" dirty="0"/>
                      </a:p>
                    </p:txBody>
                  </p:sp>
                  <p:sp>
                    <p:nvSpPr>
                      <p:cNvPr id="221" name="TextBox 220"/>
                      <p:cNvSpPr txBox="1"/>
                      <p:nvPr/>
                    </p:nvSpPr>
                    <p:spPr>
                      <a:xfrm>
                        <a:off x="5672695" y="4967444"/>
                        <a:ext cx="668647" cy="430015"/>
                      </a:xfrm>
                      <a:prstGeom prst="rect">
                        <a:avLst/>
                      </a:prstGeom>
                      <a:solidFill>
                        <a:srgbClr val="FFC000"/>
                      </a:solidFill>
                      <a:ln w="19050">
                        <a:solidFill>
                          <a:schemeClr val="tx1"/>
                        </a:solidFill>
                      </a:ln>
                    </p:spPr>
                    <p:txBody>
                      <a:bodyPr wrap="square" rtlCol="0" anchor="ctr">
                        <a:spAutoFit/>
                      </a:bodyPr>
                      <a:lstStyle/>
                      <a:p>
                        <a:pPr algn="ctr"/>
                        <a:r>
                          <a:rPr lang="en-IN" sz="1600" dirty="0" smtClean="0"/>
                          <a:t>RD</a:t>
                        </a:r>
                        <a:r>
                          <a:rPr lang="en-IN" sz="1600" baseline="-25000" dirty="0" smtClean="0"/>
                          <a:t>1</a:t>
                        </a:r>
                        <a:endParaRPr lang="en-IN" sz="1600" baseline="-25000" dirty="0"/>
                      </a:p>
                    </p:txBody>
                  </p:sp>
                </p:grpSp>
                <p:grpSp>
                  <p:nvGrpSpPr>
                    <p:cNvPr id="227" name="Group 221"/>
                    <p:cNvGrpSpPr/>
                    <p:nvPr/>
                  </p:nvGrpSpPr>
                  <p:grpSpPr>
                    <a:xfrm>
                      <a:off x="7032614" y="1366954"/>
                      <a:ext cx="1283802" cy="338554"/>
                      <a:chOff x="4499992" y="1672392"/>
                      <a:chExt cx="1872212" cy="595868"/>
                    </a:xfrm>
                  </p:grpSpPr>
                  <p:sp>
                    <p:nvSpPr>
                      <p:cNvPr id="223" name="TextBox 222"/>
                      <p:cNvSpPr txBox="1"/>
                      <p:nvPr/>
                    </p:nvSpPr>
                    <p:spPr>
                      <a:xfrm>
                        <a:off x="4499992" y="1672392"/>
                        <a:ext cx="936106" cy="595868"/>
                      </a:xfrm>
                      <a:prstGeom prst="rect">
                        <a:avLst/>
                      </a:prstGeom>
                      <a:solidFill>
                        <a:srgbClr val="FFC000"/>
                      </a:solidFill>
                      <a:ln w="19050">
                        <a:solidFill>
                          <a:schemeClr val="tx1"/>
                        </a:solidFill>
                      </a:ln>
                    </p:spPr>
                    <p:txBody>
                      <a:bodyPr wrap="square" rtlCol="0" anchor="ctr">
                        <a:spAutoFit/>
                      </a:bodyPr>
                      <a:lstStyle/>
                      <a:p>
                        <a:pPr algn="ctr"/>
                        <a:r>
                          <a:rPr lang="en-IN" sz="1600" dirty="0" smtClean="0"/>
                          <a:t>LD</a:t>
                        </a:r>
                        <a:r>
                          <a:rPr lang="en-IN" sz="1600" baseline="-25000" dirty="0" smtClean="0"/>
                          <a:t>0</a:t>
                        </a:r>
                        <a:endParaRPr lang="en-IN" sz="1600" baseline="-25000" dirty="0"/>
                      </a:p>
                    </p:txBody>
                  </p:sp>
                  <p:sp>
                    <p:nvSpPr>
                      <p:cNvPr id="224" name="TextBox 223"/>
                      <p:cNvSpPr txBox="1"/>
                      <p:nvPr/>
                    </p:nvSpPr>
                    <p:spPr>
                      <a:xfrm>
                        <a:off x="5436098" y="1672392"/>
                        <a:ext cx="936106" cy="595868"/>
                      </a:xfrm>
                      <a:prstGeom prst="rect">
                        <a:avLst/>
                      </a:prstGeom>
                      <a:solidFill>
                        <a:srgbClr val="FFC000"/>
                      </a:solidFill>
                      <a:ln w="19050">
                        <a:solidFill>
                          <a:schemeClr val="tx1"/>
                        </a:solidFill>
                      </a:ln>
                    </p:spPr>
                    <p:txBody>
                      <a:bodyPr wrap="square" rtlCol="0" anchor="ctr">
                        <a:spAutoFit/>
                      </a:bodyPr>
                      <a:lstStyle/>
                      <a:p>
                        <a:pPr algn="ctr"/>
                        <a:r>
                          <a:rPr lang="en-IN" sz="1600" dirty="0" smtClean="0"/>
                          <a:t>RD</a:t>
                        </a:r>
                        <a:r>
                          <a:rPr lang="en-IN" sz="1600" baseline="-25000" dirty="0" smtClean="0"/>
                          <a:t>0</a:t>
                        </a:r>
                        <a:endParaRPr lang="en-IN" sz="1600" baseline="-25000" dirty="0"/>
                      </a:p>
                    </p:txBody>
                  </p:sp>
                </p:grpSp>
                <p:cxnSp>
                  <p:nvCxnSpPr>
                    <p:cNvPr id="226" name="Straight Arrow Connector 225"/>
                    <p:cNvCxnSpPr>
                      <a:stCxn id="221" idx="0"/>
                      <a:endCxn id="223" idx="2"/>
                    </p:cNvCxnSpPr>
                    <p:nvPr/>
                  </p:nvCxnSpPr>
                  <p:spPr>
                    <a:xfrm flipH="1" flipV="1">
                      <a:off x="7353566" y="1705508"/>
                      <a:ext cx="629558" cy="268814"/>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8" name="Straight Arrow Connector 227"/>
                    <p:cNvCxnSpPr>
                      <a:stCxn id="220" idx="0"/>
                      <a:endCxn id="224" idx="2"/>
                    </p:cNvCxnSpPr>
                    <p:nvPr/>
                  </p:nvCxnSpPr>
                  <p:spPr>
                    <a:xfrm flipV="1">
                      <a:off x="7341223" y="1705508"/>
                      <a:ext cx="654244" cy="268814"/>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9" name="Straight Arrow Connector 228"/>
                    <p:cNvCxnSpPr/>
                    <p:nvPr/>
                  </p:nvCxnSpPr>
                  <p:spPr>
                    <a:xfrm flipH="1">
                      <a:off x="8141540" y="2471617"/>
                      <a:ext cx="24688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0" name="TextBox 229"/>
                    <p:cNvSpPr txBox="1"/>
                    <p:nvPr/>
                  </p:nvSpPr>
                  <p:spPr>
                    <a:xfrm>
                      <a:off x="8388424" y="2348880"/>
                      <a:ext cx="473195" cy="338554"/>
                    </a:xfrm>
                    <a:prstGeom prst="rect">
                      <a:avLst/>
                    </a:prstGeom>
                    <a:noFill/>
                    <a:ln>
                      <a:noFill/>
                    </a:ln>
                  </p:spPr>
                  <p:txBody>
                    <a:bodyPr wrap="square" rtlCol="0">
                      <a:spAutoFit/>
                    </a:bodyPr>
                    <a:lstStyle/>
                    <a:p>
                      <a:pPr algn="ctr"/>
                      <a:r>
                        <a:rPr lang="en-IN" sz="1600" dirty="0" smtClean="0"/>
                        <a:t>K</a:t>
                      </a:r>
                      <a:r>
                        <a:rPr lang="en-IN" sz="1600" baseline="-25000" dirty="0" smtClean="0"/>
                        <a:t>1</a:t>
                      </a:r>
                      <a:endParaRPr lang="en-IN" sz="1600" baseline="-25000" dirty="0"/>
                    </a:p>
                  </p:txBody>
                </p:sp>
              </p:grpSp>
            </p:grpSp>
          </p:grpSp>
        </p:grpSp>
        <p:cxnSp>
          <p:nvCxnSpPr>
            <p:cNvPr id="237" name="Straight Arrow Connector 236"/>
            <p:cNvCxnSpPr/>
            <p:nvPr/>
          </p:nvCxnSpPr>
          <p:spPr>
            <a:xfrm flipH="1">
              <a:off x="8100392" y="3621071"/>
              <a:ext cx="1" cy="239977"/>
            </a:xfrm>
            <a:prstGeom prst="straightConnector1">
              <a:avLst/>
            </a:prstGeom>
            <a:ln w="22225">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129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0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xEl>
                                              <p:pRg st="6" end="6"/>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8" grpId="0" animBg="1"/>
      <p:bldP spid="16" grpId="0"/>
      <p:bldP spid="21" grpId="0" animBg="1"/>
      <p:bldP spid="22" grpId="0" animBg="1"/>
      <p:bldP spid="108" grpId="0" animBg="1"/>
      <p:bldP spid="109" grpId="0" animBg="1"/>
      <p:bldP spid="118" grpId="0"/>
      <p:bldP spid="12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Also called as Data Encryption Algorithm (DEA) by ANSI, and DEA-1 by ISO.</a:t>
            </a:r>
          </a:p>
          <a:p>
            <a:pPr>
              <a:buClrTx/>
              <a:buChar char="•"/>
            </a:pPr>
            <a:r>
              <a:rPr lang="en-US" altLang="en-US" sz="3200" dirty="0">
                <a:solidFill>
                  <a:prstClr val="black"/>
                </a:solidFill>
              </a:rPr>
              <a:t>Vulnerable now-a-days against very powerful attacks.</a:t>
            </a:r>
          </a:p>
          <a:p>
            <a:pPr>
              <a:buClrTx/>
              <a:buChar char="•"/>
            </a:pPr>
            <a:r>
              <a:rPr lang="en-US" altLang="en-US" sz="3200" dirty="0">
                <a:solidFill>
                  <a:prstClr val="black"/>
                </a:solidFill>
              </a:rPr>
              <a:t>But, Considered as a landmark in cryptographic algorithms. </a:t>
            </a:r>
          </a:p>
          <a:p>
            <a:pPr>
              <a:buClrTx/>
              <a:buChar char="•"/>
            </a:pPr>
            <a:r>
              <a:rPr lang="en-US" altLang="en-US" sz="3200" dirty="0">
                <a:solidFill>
                  <a:prstClr val="black"/>
                </a:solidFill>
              </a:rPr>
              <a:t>Generally used in the ECB, CBC, or the CFB mode.</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a:t>
            </a:r>
            <a:endParaRPr lang="en-US" sz="3200" dirty="0">
              <a:latin typeface="+mj-lt"/>
              <a:ea typeface="+mj-ea"/>
              <a:cs typeface="+mj-cs"/>
            </a:endParaRPr>
          </a:p>
        </p:txBody>
      </p:sp>
    </p:spTree>
    <p:extLst>
      <p:ext uri="{BB962C8B-B14F-4D97-AF65-F5344CB8AC3E}">
        <p14:creationId xmlns:p14="http://schemas.microsoft.com/office/powerpoint/2010/main" val="8685806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20000"/>
          </a:bodyPr>
          <a:lstStyle/>
          <a:p>
            <a:pPr>
              <a:buClrTx/>
              <a:buChar char="•"/>
            </a:pPr>
            <a:r>
              <a:rPr lang="en-US" altLang="en-US" sz="3200" dirty="0">
                <a:solidFill>
                  <a:prstClr val="black"/>
                </a:solidFill>
              </a:rPr>
              <a:t>In 1972, National Bureau of Standards (NBS), now known as the National Institute of Standards and Technology (NIST) embarked upon a project on security.</a:t>
            </a:r>
          </a:p>
          <a:p>
            <a:pPr>
              <a:buClrTx/>
              <a:buChar char="•"/>
            </a:pPr>
            <a:r>
              <a:rPr lang="en-US" altLang="en-US" sz="3200" dirty="0">
                <a:solidFill>
                  <a:prstClr val="black"/>
                </a:solidFill>
              </a:rPr>
              <a:t>In 1974, NBS realized that IBM’s Lucifer can be considered as a base, rather than developing a fresh algorithm from the scratch.</a:t>
            </a:r>
          </a:p>
          <a:p>
            <a:pPr>
              <a:buClrTx/>
              <a:buChar char="•"/>
            </a:pPr>
            <a:r>
              <a:rPr lang="en-US" altLang="en-US" sz="3200" dirty="0">
                <a:solidFill>
                  <a:prstClr val="black"/>
                </a:solidFill>
              </a:rPr>
              <a:t>After few discussions, in 1975, the NBS published the details of the algorithm.</a:t>
            </a:r>
          </a:p>
          <a:p>
            <a:pPr>
              <a:buClrTx/>
              <a:buChar char="•"/>
            </a:pPr>
            <a:r>
              <a:rPr lang="en-US" altLang="en-US" sz="3200" dirty="0">
                <a:solidFill>
                  <a:prstClr val="black"/>
                </a:solidFill>
              </a:rPr>
              <a:t>Towards the end of 1976, US Federal Government decided to adopt this algorithm, and soon, it was renamed as Data Encryption Standard (DES).</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History</a:t>
            </a:r>
            <a:endParaRPr lang="en-US" sz="3200" dirty="0">
              <a:latin typeface="+mj-lt"/>
              <a:ea typeface="+mj-ea"/>
              <a:cs typeface="+mj-cs"/>
            </a:endParaRPr>
          </a:p>
        </p:txBody>
      </p:sp>
    </p:spTree>
    <p:extLst>
      <p:ext uri="{BB962C8B-B14F-4D97-AF65-F5344CB8AC3E}">
        <p14:creationId xmlns:p14="http://schemas.microsoft.com/office/powerpoint/2010/main" val="4466404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10000"/>
          </a:bodyPr>
          <a:lstStyle/>
          <a:p>
            <a:pPr>
              <a:buClrTx/>
              <a:buChar char="•"/>
            </a:pPr>
            <a:r>
              <a:rPr lang="en-US" altLang="en-US" sz="3200" dirty="0">
                <a:solidFill>
                  <a:prstClr val="black"/>
                </a:solidFill>
              </a:rPr>
              <a:t>It is a block cipher.</a:t>
            </a:r>
          </a:p>
          <a:p>
            <a:pPr>
              <a:buClrTx/>
              <a:buChar char="•"/>
            </a:pPr>
            <a:r>
              <a:rPr lang="en-US" altLang="en-US" sz="3200" dirty="0">
                <a:solidFill>
                  <a:prstClr val="black"/>
                </a:solidFill>
              </a:rPr>
              <a:t>It encrypts data in blocks of size 64 bits each, which produces 64 bits of cipher text.</a:t>
            </a:r>
          </a:p>
          <a:p>
            <a:pPr>
              <a:buClrTx/>
              <a:buChar char="•"/>
            </a:pPr>
            <a:r>
              <a:rPr lang="en-US" altLang="en-US" sz="3200" dirty="0">
                <a:solidFill>
                  <a:prstClr val="black"/>
                </a:solidFill>
              </a:rPr>
              <a:t>The same algorithm and key are used for encryption and decryption, with minor differences.</a:t>
            </a:r>
          </a:p>
          <a:p>
            <a:pPr>
              <a:buClrTx/>
              <a:buChar char="•"/>
            </a:pPr>
            <a:r>
              <a:rPr lang="en-US" altLang="en-US" sz="3200" dirty="0">
                <a:solidFill>
                  <a:prstClr val="black"/>
                </a:solidFill>
              </a:rPr>
              <a:t>The key length used is 56 bits. In fact, the initial key consists of 64 bits.</a:t>
            </a:r>
          </a:p>
          <a:p>
            <a:pPr>
              <a:buClrTx/>
              <a:buChar char="•"/>
            </a:pPr>
            <a:r>
              <a:rPr lang="en-US" altLang="en-US" sz="3200" dirty="0">
                <a:solidFill>
                  <a:prstClr val="black"/>
                </a:solidFill>
              </a:rPr>
              <a:t>However, before the DES process even starts, every 8th bit of the key is discarded. i.e., bit positions 8, 16, 24, 32, 40, 48, 56, and 64 are discarded, producing a 56-bit key.  </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Basic Principles</a:t>
            </a:r>
            <a:endParaRPr lang="en-US" sz="3200" dirty="0">
              <a:latin typeface="+mj-lt"/>
              <a:ea typeface="+mj-ea"/>
              <a:cs typeface="+mj-cs"/>
            </a:endParaRPr>
          </a:p>
        </p:txBody>
      </p:sp>
    </p:spTree>
    <p:extLst>
      <p:ext uri="{BB962C8B-B14F-4D97-AF65-F5344CB8AC3E}">
        <p14:creationId xmlns:p14="http://schemas.microsoft.com/office/powerpoint/2010/main" val="300494861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Conceptual View of DES</a:t>
            </a:r>
            <a:endParaRPr lang="en-US" sz="3200" dirty="0">
              <a:latin typeface="+mj-lt"/>
              <a:ea typeface="+mj-ea"/>
              <a:cs typeface="+mj-cs"/>
            </a:endParaRPr>
          </a:p>
        </p:txBody>
      </p:sp>
      <p:grpSp>
        <p:nvGrpSpPr>
          <p:cNvPr id="5" name="Group 3"/>
          <p:cNvGrpSpPr>
            <a:grpSpLocks/>
          </p:cNvGrpSpPr>
          <p:nvPr/>
        </p:nvGrpSpPr>
        <p:grpSpPr bwMode="auto">
          <a:xfrm>
            <a:off x="1011238" y="2057400"/>
            <a:ext cx="7086600" cy="3886200"/>
            <a:chOff x="1788" y="4466"/>
            <a:chExt cx="8676" cy="3924"/>
          </a:xfrm>
        </p:grpSpPr>
        <p:sp>
          <p:nvSpPr>
            <p:cNvPr id="6" name="Rectangle 4"/>
            <p:cNvSpPr>
              <a:spLocks noChangeArrowheads="1"/>
            </p:cNvSpPr>
            <p:nvPr/>
          </p:nvSpPr>
          <p:spPr bwMode="auto">
            <a:xfrm>
              <a:off x="1788" y="4466"/>
              <a:ext cx="8676" cy="39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5"/>
            <p:cNvSpPr txBox="1">
              <a:spLocks noChangeArrowheads="1"/>
            </p:cNvSpPr>
            <p:nvPr/>
          </p:nvSpPr>
          <p:spPr bwMode="auto">
            <a:xfrm>
              <a:off x="3084" y="4958"/>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Plain text</a:t>
              </a:r>
            </a:p>
          </p:txBody>
        </p:sp>
        <p:sp>
          <p:nvSpPr>
            <p:cNvPr id="8" name="Text Box 6"/>
            <p:cNvSpPr txBox="1">
              <a:spLocks noChangeArrowheads="1"/>
            </p:cNvSpPr>
            <p:nvPr/>
          </p:nvSpPr>
          <p:spPr bwMode="auto">
            <a:xfrm>
              <a:off x="1956" y="5918"/>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56-bit Key</a:t>
              </a:r>
            </a:p>
          </p:txBody>
        </p:sp>
        <p:sp>
          <p:nvSpPr>
            <p:cNvPr id="9" name="Text Box 7"/>
            <p:cNvSpPr txBox="1">
              <a:spLocks noChangeArrowheads="1"/>
            </p:cNvSpPr>
            <p:nvPr/>
          </p:nvSpPr>
          <p:spPr bwMode="auto">
            <a:xfrm>
              <a:off x="3264" y="6050"/>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DES</a:t>
              </a:r>
            </a:p>
          </p:txBody>
        </p:sp>
        <p:sp>
          <p:nvSpPr>
            <p:cNvPr id="10" name="Text Box 8"/>
            <p:cNvSpPr txBox="1">
              <a:spLocks noChangeArrowheads="1"/>
            </p:cNvSpPr>
            <p:nvPr/>
          </p:nvSpPr>
          <p:spPr bwMode="auto">
            <a:xfrm>
              <a:off x="3060" y="6854"/>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Cipher text</a:t>
              </a:r>
            </a:p>
          </p:txBody>
        </p:sp>
        <p:sp>
          <p:nvSpPr>
            <p:cNvPr id="11" name="AutoShape 9"/>
            <p:cNvSpPr>
              <a:spLocks noChangeArrowheads="1"/>
            </p:cNvSpPr>
            <p:nvPr/>
          </p:nvSpPr>
          <p:spPr bwMode="auto">
            <a:xfrm>
              <a:off x="3624" y="5630"/>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2" name="AutoShape 10"/>
            <p:cNvSpPr>
              <a:spLocks noChangeArrowheads="1"/>
            </p:cNvSpPr>
            <p:nvPr/>
          </p:nvSpPr>
          <p:spPr bwMode="auto">
            <a:xfrm>
              <a:off x="3612" y="6434"/>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 name="AutoShape 11"/>
            <p:cNvSpPr>
              <a:spLocks noChangeArrowheads="1"/>
            </p:cNvSpPr>
            <p:nvPr/>
          </p:nvSpPr>
          <p:spPr bwMode="auto">
            <a:xfrm>
              <a:off x="2136" y="6218"/>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4" name="Text Box 12"/>
            <p:cNvSpPr txBox="1">
              <a:spLocks noChangeArrowheads="1"/>
            </p:cNvSpPr>
            <p:nvPr/>
          </p:nvSpPr>
          <p:spPr bwMode="auto">
            <a:xfrm>
              <a:off x="3060" y="7706"/>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Block 1</a:t>
              </a:r>
            </a:p>
          </p:txBody>
        </p:sp>
        <p:sp>
          <p:nvSpPr>
            <p:cNvPr id="15" name="Text Box 13"/>
            <p:cNvSpPr txBox="1">
              <a:spLocks noChangeArrowheads="1"/>
            </p:cNvSpPr>
            <p:nvPr/>
          </p:nvSpPr>
          <p:spPr bwMode="auto">
            <a:xfrm>
              <a:off x="5724" y="4946"/>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Plain text</a:t>
              </a:r>
            </a:p>
          </p:txBody>
        </p:sp>
        <p:sp>
          <p:nvSpPr>
            <p:cNvPr id="16" name="Text Box 14"/>
            <p:cNvSpPr txBox="1">
              <a:spLocks noChangeArrowheads="1"/>
            </p:cNvSpPr>
            <p:nvPr/>
          </p:nvSpPr>
          <p:spPr bwMode="auto">
            <a:xfrm>
              <a:off x="4596" y="5906"/>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56-bit Key</a:t>
              </a:r>
            </a:p>
          </p:txBody>
        </p:sp>
        <p:sp>
          <p:nvSpPr>
            <p:cNvPr id="17" name="Text Box 15"/>
            <p:cNvSpPr txBox="1">
              <a:spLocks noChangeArrowheads="1"/>
            </p:cNvSpPr>
            <p:nvPr/>
          </p:nvSpPr>
          <p:spPr bwMode="auto">
            <a:xfrm>
              <a:off x="5904" y="6038"/>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DES</a:t>
              </a:r>
            </a:p>
          </p:txBody>
        </p:sp>
        <p:sp>
          <p:nvSpPr>
            <p:cNvPr id="18" name="Text Box 16"/>
            <p:cNvSpPr txBox="1">
              <a:spLocks noChangeArrowheads="1"/>
            </p:cNvSpPr>
            <p:nvPr/>
          </p:nvSpPr>
          <p:spPr bwMode="auto">
            <a:xfrm>
              <a:off x="5700" y="6842"/>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Cipher text</a:t>
              </a:r>
            </a:p>
          </p:txBody>
        </p:sp>
        <p:sp>
          <p:nvSpPr>
            <p:cNvPr id="19" name="AutoShape 17"/>
            <p:cNvSpPr>
              <a:spLocks noChangeArrowheads="1"/>
            </p:cNvSpPr>
            <p:nvPr/>
          </p:nvSpPr>
          <p:spPr bwMode="auto">
            <a:xfrm>
              <a:off x="6264" y="5618"/>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0" name="AutoShape 18"/>
            <p:cNvSpPr>
              <a:spLocks noChangeArrowheads="1"/>
            </p:cNvSpPr>
            <p:nvPr/>
          </p:nvSpPr>
          <p:spPr bwMode="auto">
            <a:xfrm>
              <a:off x="6252" y="6422"/>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1" name="AutoShape 19"/>
            <p:cNvSpPr>
              <a:spLocks noChangeArrowheads="1"/>
            </p:cNvSpPr>
            <p:nvPr/>
          </p:nvSpPr>
          <p:spPr bwMode="auto">
            <a:xfrm>
              <a:off x="4776" y="6206"/>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2" name="Text Box 20"/>
            <p:cNvSpPr txBox="1">
              <a:spLocks noChangeArrowheads="1"/>
            </p:cNvSpPr>
            <p:nvPr/>
          </p:nvSpPr>
          <p:spPr bwMode="auto">
            <a:xfrm>
              <a:off x="5700" y="7694"/>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Block 2</a:t>
              </a:r>
            </a:p>
          </p:txBody>
        </p:sp>
        <p:sp>
          <p:nvSpPr>
            <p:cNvPr id="23" name="Text Box 21"/>
            <p:cNvSpPr txBox="1">
              <a:spLocks noChangeArrowheads="1"/>
            </p:cNvSpPr>
            <p:nvPr/>
          </p:nvSpPr>
          <p:spPr bwMode="auto">
            <a:xfrm>
              <a:off x="8604" y="4922"/>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Plain text</a:t>
              </a:r>
            </a:p>
          </p:txBody>
        </p:sp>
        <p:sp>
          <p:nvSpPr>
            <p:cNvPr id="24" name="Text Box 22"/>
            <p:cNvSpPr txBox="1">
              <a:spLocks noChangeArrowheads="1"/>
            </p:cNvSpPr>
            <p:nvPr/>
          </p:nvSpPr>
          <p:spPr bwMode="auto">
            <a:xfrm>
              <a:off x="7476" y="5882"/>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56-bit Key</a:t>
              </a:r>
            </a:p>
          </p:txBody>
        </p:sp>
        <p:sp>
          <p:nvSpPr>
            <p:cNvPr id="25" name="Text Box 23"/>
            <p:cNvSpPr txBox="1">
              <a:spLocks noChangeArrowheads="1"/>
            </p:cNvSpPr>
            <p:nvPr/>
          </p:nvSpPr>
          <p:spPr bwMode="auto">
            <a:xfrm>
              <a:off x="8784" y="6014"/>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DES</a:t>
              </a:r>
            </a:p>
          </p:txBody>
        </p:sp>
        <p:sp>
          <p:nvSpPr>
            <p:cNvPr id="26" name="Text Box 24"/>
            <p:cNvSpPr txBox="1">
              <a:spLocks noChangeArrowheads="1"/>
            </p:cNvSpPr>
            <p:nvPr/>
          </p:nvSpPr>
          <p:spPr bwMode="auto">
            <a:xfrm>
              <a:off x="8580" y="6818"/>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64-bit Cipher text</a:t>
              </a:r>
            </a:p>
          </p:txBody>
        </p:sp>
        <p:sp>
          <p:nvSpPr>
            <p:cNvPr id="27" name="AutoShape 25"/>
            <p:cNvSpPr>
              <a:spLocks noChangeArrowheads="1"/>
            </p:cNvSpPr>
            <p:nvPr/>
          </p:nvSpPr>
          <p:spPr bwMode="auto">
            <a:xfrm>
              <a:off x="9144" y="5594"/>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8" name="AutoShape 26"/>
            <p:cNvSpPr>
              <a:spLocks noChangeArrowheads="1"/>
            </p:cNvSpPr>
            <p:nvPr/>
          </p:nvSpPr>
          <p:spPr bwMode="auto">
            <a:xfrm>
              <a:off x="9132" y="6398"/>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 name="AutoShape 27"/>
            <p:cNvSpPr>
              <a:spLocks noChangeArrowheads="1"/>
            </p:cNvSpPr>
            <p:nvPr/>
          </p:nvSpPr>
          <p:spPr bwMode="auto">
            <a:xfrm>
              <a:off x="7656" y="6182"/>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30" name="Text Box 28"/>
            <p:cNvSpPr txBox="1">
              <a:spLocks noChangeArrowheads="1"/>
            </p:cNvSpPr>
            <p:nvPr/>
          </p:nvSpPr>
          <p:spPr bwMode="auto">
            <a:xfrm>
              <a:off x="8580" y="7670"/>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Block n</a:t>
              </a:r>
            </a:p>
          </p:txBody>
        </p:sp>
        <p:sp>
          <p:nvSpPr>
            <p:cNvPr id="31" name="Text Box 29"/>
            <p:cNvSpPr txBox="1">
              <a:spLocks noChangeArrowheads="1"/>
            </p:cNvSpPr>
            <p:nvPr/>
          </p:nvSpPr>
          <p:spPr bwMode="auto">
            <a:xfrm>
              <a:off x="7200" y="5450"/>
              <a:ext cx="108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sym typeface="Symbol" panose="05050102010706020507" pitchFamily="18" charset="2"/>
                </a:rPr>
                <a:t></a:t>
              </a:r>
              <a:endParaRPr lang="en-US" altLang="en-US" sz="1400" b="1">
                <a:latin typeface="Times New Roman" panose="02020603050405020304" pitchFamily="18" charset="0"/>
              </a:endParaRPr>
            </a:p>
          </p:txBody>
        </p:sp>
      </p:grpSp>
    </p:spTree>
    <p:extLst>
      <p:ext uri="{BB962C8B-B14F-4D97-AF65-F5344CB8AC3E}">
        <p14:creationId xmlns:p14="http://schemas.microsoft.com/office/powerpoint/2010/main" val="7149525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lnSpcReduction="10000"/>
          </a:bodyPr>
          <a:lstStyle/>
          <a:p>
            <a:pPr>
              <a:buClrTx/>
              <a:buChar char="•"/>
            </a:pPr>
            <a:r>
              <a:rPr lang="en-US" altLang="en-US" sz="3200" dirty="0">
                <a:solidFill>
                  <a:prstClr val="black"/>
                </a:solidFill>
              </a:rPr>
              <a:t>It is based on the two fundamental attributes of cryptography: substitution (also called as confusion) and transposition (also called as diffusion).</a:t>
            </a:r>
          </a:p>
          <a:p>
            <a:pPr>
              <a:buClrTx/>
              <a:buChar char="•"/>
            </a:pPr>
            <a:r>
              <a:rPr lang="en-US" altLang="en-US" sz="3200" dirty="0">
                <a:solidFill>
                  <a:prstClr val="black"/>
                </a:solidFill>
              </a:rPr>
              <a:t>It consists of 16 steps, each of which is called as a round.</a:t>
            </a:r>
          </a:p>
          <a:p>
            <a:pPr>
              <a:buClrTx/>
              <a:buChar char="•"/>
            </a:pPr>
            <a:r>
              <a:rPr lang="en-US" altLang="en-US" sz="3200" dirty="0">
                <a:solidFill>
                  <a:prstClr val="black"/>
                </a:solidFill>
              </a:rPr>
              <a:t>Each round performs the steps of substitution and transposition.</a:t>
            </a:r>
          </a:p>
          <a:p>
            <a:pPr>
              <a:buClrTx/>
              <a:buChar char="•"/>
            </a:pPr>
            <a:r>
              <a:rPr lang="en-US" altLang="en-US" sz="3200" dirty="0">
                <a:solidFill>
                  <a:prstClr val="black"/>
                </a:solidFill>
              </a:rPr>
              <a:t>Let us now discuss the broad level steps in DES</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Broad Level Steps</a:t>
            </a:r>
            <a:endParaRPr lang="en-US" sz="3200" dirty="0">
              <a:latin typeface="+mj-lt"/>
              <a:ea typeface="+mj-ea"/>
              <a:cs typeface="+mj-cs"/>
            </a:endParaRPr>
          </a:p>
        </p:txBody>
      </p:sp>
    </p:spTree>
    <p:extLst>
      <p:ext uri="{BB962C8B-B14F-4D97-AF65-F5344CB8AC3E}">
        <p14:creationId xmlns:p14="http://schemas.microsoft.com/office/powerpoint/2010/main" val="3292949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10000"/>
          </a:bodyPr>
          <a:lstStyle/>
          <a:p>
            <a:pPr>
              <a:buClrTx/>
              <a:buChar char="•"/>
            </a:pPr>
            <a:r>
              <a:rPr lang="en-US" altLang="en-US" sz="3200" dirty="0">
                <a:solidFill>
                  <a:prstClr val="black"/>
                </a:solidFill>
              </a:rPr>
              <a:t>The 64-bit plain text is inputted to an Initial Permutation (IP) function.</a:t>
            </a:r>
          </a:p>
          <a:p>
            <a:pPr>
              <a:buClrTx/>
              <a:buChar char="•"/>
            </a:pPr>
            <a:r>
              <a:rPr lang="en-US" altLang="en-US" sz="3200" dirty="0">
                <a:solidFill>
                  <a:prstClr val="black"/>
                </a:solidFill>
              </a:rPr>
              <a:t>The IP is performed on plain text.</a:t>
            </a:r>
          </a:p>
          <a:p>
            <a:pPr>
              <a:buClrTx/>
              <a:buChar char="•"/>
            </a:pPr>
            <a:r>
              <a:rPr lang="en-US" altLang="en-US" sz="3200" dirty="0">
                <a:solidFill>
                  <a:prstClr val="black"/>
                </a:solidFill>
              </a:rPr>
              <a:t>The IP produces two halves of the permuted block; Left Plain Text (LPT) and Right Plain Text (RPT).</a:t>
            </a:r>
          </a:p>
          <a:p>
            <a:pPr>
              <a:buClrTx/>
              <a:buChar char="•"/>
            </a:pPr>
            <a:r>
              <a:rPr lang="en-US" altLang="en-US" sz="3200" dirty="0">
                <a:solidFill>
                  <a:prstClr val="black"/>
                </a:solidFill>
              </a:rPr>
              <a:t>Each of LPT and RPT goes through 16 rounds of encryption process, each with its own key.</a:t>
            </a:r>
          </a:p>
          <a:p>
            <a:pPr>
              <a:buClrTx/>
              <a:buChar char="•"/>
            </a:pPr>
            <a:r>
              <a:rPr lang="en-US" altLang="en-US" sz="3200" dirty="0">
                <a:solidFill>
                  <a:prstClr val="black"/>
                </a:solidFill>
              </a:rPr>
              <a:t>In the end, LPT and RPT are rejoined, and a Final Permutation (FP) is performed.</a:t>
            </a:r>
          </a:p>
          <a:p>
            <a:pPr>
              <a:buClrTx/>
              <a:buChar char="•"/>
            </a:pPr>
            <a:r>
              <a:rPr lang="en-US" altLang="en-US" sz="3200" dirty="0">
                <a:solidFill>
                  <a:prstClr val="black"/>
                </a:solidFill>
              </a:rPr>
              <a:t>The result of this process produces 64-bit cipher text. </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Broad Level Steps</a:t>
            </a:r>
            <a:endParaRPr lang="en-US" sz="3200" dirty="0">
              <a:latin typeface="+mj-lt"/>
              <a:ea typeface="+mj-ea"/>
              <a:cs typeface="+mj-cs"/>
            </a:endParaRPr>
          </a:p>
        </p:txBody>
      </p:sp>
    </p:spTree>
    <p:extLst>
      <p:ext uri="{BB962C8B-B14F-4D97-AF65-F5344CB8AC3E}">
        <p14:creationId xmlns:p14="http://schemas.microsoft.com/office/powerpoint/2010/main" val="28543938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Broad Level Steps in DES</a:t>
            </a:r>
            <a:endParaRPr lang="en-US" sz="3200" dirty="0">
              <a:latin typeface="+mj-lt"/>
              <a:ea typeface="+mj-ea"/>
              <a:cs typeface="+mj-cs"/>
            </a:endParaRPr>
          </a:p>
        </p:txBody>
      </p:sp>
      <p:grpSp>
        <p:nvGrpSpPr>
          <p:cNvPr id="5" name="Group 3"/>
          <p:cNvGrpSpPr>
            <a:grpSpLocks/>
          </p:cNvGrpSpPr>
          <p:nvPr/>
        </p:nvGrpSpPr>
        <p:grpSpPr bwMode="auto">
          <a:xfrm>
            <a:off x="899592" y="1916832"/>
            <a:ext cx="7391400" cy="4114800"/>
            <a:chOff x="2754" y="1687"/>
            <a:chExt cx="7356" cy="6204"/>
          </a:xfrm>
        </p:grpSpPr>
        <p:sp>
          <p:nvSpPr>
            <p:cNvPr id="6" name="Rectangle 4"/>
            <p:cNvSpPr>
              <a:spLocks noChangeArrowheads="1"/>
            </p:cNvSpPr>
            <p:nvPr/>
          </p:nvSpPr>
          <p:spPr bwMode="auto">
            <a:xfrm>
              <a:off x="2754" y="1687"/>
              <a:ext cx="7356" cy="620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5"/>
            <p:cNvSpPr txBox="1">
              <a:spLocks noChangeArrowheads="1"/>
            </p:cNvSpPr>
            <p:nvPr/>
          </p:nvSpPr>
          <p:spPr bwMode="auto">
            <a:xfrm>
              <a:off x="6036" y="2905"/>
              <a:ext cx="2028" cy="6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Initial Permutation (IP)</a:t>
              </a:r>
            </a:p>
          </p:txBody>
        </p:sp>
        <p:sp>
          <p:nvSpPr>
            <p:cNvPr id="8" name="Text Box 6"/>
            <p:cNvSpPr txBox="1">
              <a:spLocks noChangeArrowheads="1"/>
            </p:cNvSpPr>
            <p:nvPr/>
          </p:nvSpPr>
          <p:spPr bwMode="auto">
            <a:xfrm>
              <a:off x="6060" y="3961"/>
              <a:ext cx="1020"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LPT</a:t>
              </a:r>
            </a:p>
          </p:txBody>
        </p:sp>
        <p:sp>
          <p:nvSpPr>
            <p:cNvPr id="9" name="Text Box 7"/>
            <p:cNvSpPr txBox="1">
              <a:spLocks noChangeArrowheads="1"/>
            </p:cNvSpPr>
            <p:nvPr/>
          </p:nvSpPr>
          <p:spPr bwMode="auto">
            <a:xfrm>
              <a:off x="7080" y="3961"/>
              <a:ext cx="1020"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RPT</a:t>
              </a:r>
            </a:p>
          </p:txBody>
        </p:sp>
        <p:sp>
          <p:nvSpPr>
            <p:cNvPr id="10" name="AutoShape 8"/>
            <p:cNvSpPr>
              <a:spLocks noChangeArrowheads="1"/>
            </p:cNvSpPr>
            <p:nvPr/>
          </p:nvSpPr>
          <p:spPr bwMode="auto">
            <a:xfrm>
              <a:off x="6048" y="4789"/>
              <a:ext cx="1008" cy="67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16 </a:t>
              </a:r>
              <a:r>
                <a:rPr lang="en-US" altLang="en-US" sz="1400" b="1" i="1">
                  <a:latin typeface="Times New Roman" panose="02020603050405020304" pitchFamily="18" charset="0"/>
                </a:rPr>
                <a:t>rounds</a:t>
              </a:r>
              <a:endParaRPr lang="en-US" altLang="en-US" sz="1400" b="1">
                <a:latin typeface="Times New Roman" panose="02020603050405020304" pitchFamily="18" charset="0"/>
              </a:endParaRPr>
            </a:p>
          </p:txBody>
        </p:sp>
        <p:sp>
          <p:nvSpPr>
            <p:cNvPr id="11" name="AutoShape 9"/>
            <p:cNvSpPr>
              <a:spLocks noChangeArrowheads="1"/>
            </p:cNvSpPr>
            <p:nvPr/>
          </p:nvSpPr>
          <p:spPr bwMode="auto">
            <a:xfrm>
              <a:off x="7056" y="4789"/>
              <a:ext cx="1008" cy="67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dirty="0">
                  <a:latin typeface="Times New Roman" panose="02020603050405020304" pitchFamily="18" charset="0"/>
                </a:rPr>
                <a:t>16 </a:t>
              </a:r>
              <a:r>
                <a:rPr lang="en-US" altLang="en-US" sz="1400" b="1" i="1" dirty="0">
                  <a:latin typeface="Times New Roman" panose="02020603050405020304" pitchFamily="18" charset="0"/>
                </a:rPr>
                <a:t>rounds</a:t>
              </a:r>
              <a:endParaRPr lang="en-US" altLang="en-US" sz="1400" b="1" dirty="0">
                <a:latin typeface="Times New Roman" panose="02020603050405020304" pitchFamily="18" charset="0"/>
              </a:endParaRPr>
            </a:p>
          </p:txBody>
        </p:sp>
        <p:sp>
          <p:nvSpPr>
            <p:cNvPr id="12" name="Text Box 10"/>
            <p:cNvSpPr txBox="1">
              <a:spLocks noChangeArrowheads="1"/>
            </p:cNvSpPr>
            <p:nvPr/>
          </p:nvSpPr>
          <p:spPr bwMode="auto">
            <a:xfrm>
              <a:off x="4680" y="4969"/>
              <a:ext cx="79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Key</a:t>
              </a:r>
            </a:p>
          </p:txBody>
        </p:sp>
        <p:sp>
          <p:nvSpPr>
            <p:cNvPr id="13" name="AutoShape 11"/>
            <p:cNvSpPr>
              <a:spLocks noChangeArrowheads="1"/>
            </p:cNvSpPr>
            <p:nvPr/>
          </p:nvSpPr>
          <p:spPr bwMode="auto">
            <a:xfrm>
              <a:off x="5436" y="5017"/>
              <a:ext cx="552" cy="288"/>
            </a:xfrm>
            <a:prstGeom prst="rightArrow">
              <a:avLst>
                <a:gd name="adj1" fmla="val 50000"/>
                <a:gd name="adj2" fmla="val 47917"/>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4" name="Text Box 12"/>
            <p:cNvSpPr txBox="1">
              <a:spLocks noChangeArrowheads="1"/>
            </p:cNvSpPr>
            <p:nvPr/>
          </p:nvSpPr>
          <p:spPr bwMode="auto">
            <a:xfrm>
              <a:off x="8688" y="4945"/>
              <a:ext cx="79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Key</a:t>
              </a:r>
            </a:p>
          </p:txBody>
        </p:sp>
        <p:sp>
          <p:nvSpPr>
            <p:cNvPr id="15" name="AutoShape 13"/>
            <p:cNvSpPr>
              <a:spLocks noChangeArrowheads="1"/>
            </p:cNvSpPr>
            <p:nvPr/>
          </p:nvSpPr>
          <p:spPr bwMode="auto">
            <a:xfrm>
              <a:off x="8124" y="5017"/>
              <a:ext cx="528" cy="263"/>
            </a:xfrm>
            <a:prstGeom prst="leftArrow">
              <a:avLst>
                <a:gd name="adj1" fmla="val 50000"/>
                <a:gd name="adj2" fmla="val 50190"/>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6" name="Text Box 14"/>
            <p:cNvSpPr txBox="1">
              <a:spLocks noChangeArrowheads="1"/>
            </p:cNvSpPr>
            <p:nvPr/>
          </p:nvSpPr>
          <p:spPr bwMode="auto">
            <a:xfrm>
              <a:off x="6084" y="5893"/>
              <a:ext cx="2028" cy="6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Final Permutation (FP)</a:t>
              </a:r>
            </a:p>
          </p:txBody>
        </p:sp>
        <p:sp>
          <p:nvSpPr>
            <p:cNvPr id="17" name="AutoShape 15"/>
            <p:cNvSpPr>
              <a:spLocks noChangeArrowheads="1"/>
            </p:cNvSpPr>
            <p:nvPr/>
          </p:nvSpPr>
          <p:spPr bwMode="auto">
            <a:xfrm>
              <a:off x="6900" y="2557"/>
              <a:ext cx="215" cy="360"/>
            </a:xfrm>
            <a:prstGeom prst="downArrow">
              <a:avLst>
                <a:gd name="adj1" fmla="val 50000"/>
                <a:gd name="adj2" fmla="val 4186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8" name="AutoShape 16"/>
            <p:cNvSpPr>
              <a:spLocks noChangeArrowheads="1"/>
            </p:cNvSpPr>
            <p:nvPr/>
          </p:nvSpPr>
          <p:spPr bwMode="auto">
            <a:xfrm>
              <a:off x="6432" y="3541"/>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9" name="AutoShape 17"/>
            <p:cNvSpPr>
              <a:spLocks noChangeArrowheads="1"/>
            </p:cNvSpPr>
            <p:nvPr/>
          </p:nvSpPr>
          <p:spPr bwMode="auto">
            <a:xfrm>
              <a:off x="7476" y="3541"/>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0" name="AutoShape 18"/>
            <p:cNvSpPr>
              <a:spLocks noChangeArrowheads="1"/>
            </p:cNvSpPr>
            <p:nvPr/>
          </p:nvSpPr>
          <p:spPr bwMode="auto">
            <a:xfrm>
              <a:off x="6432" y="439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1" name="AutoShape 19"/>
            <p:cNvSpPr>
              <a:spLocks noChangeArrowheads="1"/>
            </p:cNvSpPr>
            <p:nvPr/>
          </p:nvSpPr>
          <p:spPr bwMode="auto">
            <a:xfrm>
              <a:off x="7512" y="439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2" name="AutoShape 20"/>
            <p:cNvSpPr>
              <a:spLocks noChangeArrowheads="1"/>
            </p:cNvSpPr>
            <p:nvPr/>
          </p:nvSpPr>
          <p:spPr bwMode="auto">
            <a:xfrm>
              <a:off x="6468" y="547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3" name="AutoShape 21"/>
            <p:cNvSpPr>
              <a:spLocks noChangeArrowheads="1"/>
            </p:cNvSpPr>
            <p:nvPr/>
          </p:nvSpPr>
          <p:spPr bwMode="auto">
            <a:xfrm>
              <a:off x="7500" y="547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4" name="AutoShape 22"/>
            <p:cNvSpPr>
              <a:spLocks noChangeArrowheads="1"/>
            </p:cNvSpPr>
            <p:nvPr/>
          </p:nvSpPr>
          <p:spPr bwMode="auto">
            <a:xfrm>
              <a:off x="6972" y="6529"/>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5" name="Text Box 23" descr="5%"/>
            <p:cNvSpPr txBox="1">
              <a:spLocks noChangeArrowheads="1"/>
            </p:cNvSpPr>
            <p:nvPr/>
          </p:nvSpPr>
          <p:spPr bwMode="auto">
            <a:xfrm>
              <a:off x="3540" y="2161"/>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1</a:t>
              </a:r>
            </a:p>
          </p:txBody>
        </p:sp>
        <p:sp>
          <p:nvSpPr>
            <p:cNvPr id="26" name="Text Box 24" descr="5%"/>
            <p:cNvSpPr txBox="1">
              <a:spLocks noChangeArrowheads="1"/>
            </p:cNvSpPr>
            <p:nvPr/>
          </p:nvSpPr>
          <p:spPr bwMode="auto">
            <a:xfrm>
              <a:off x="3540" y="3001"/>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2</a:t>
              </a:r>
            </a:p>
          </p:txBody>
        </p:sp>
        <p:sp>
          <p:nvSpPr>
            <p:cNvPr id="27" name="Text Box 25" descr="5%"/>
            <p:cNvSpPr txBox="1">
              <a:spLocks noChangeArrowheads="1"/>
            </p:cNvSpPr>
            <p:nvPr/>
          </p:nvSpPr>
          <p:spPr bwMode="auto">
            <a:xfrm>
              <a:off x="3540" y="3901"/>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3</a:t>
              </a:r>
            </a:p>
          </p:txBody>
        </p:sp>
        <p:sp>
          <p:nvSpPr>
            <p:cNvPr id="28" name="Text Box 26" descr="5%"/>
            <p:cNvSpPr txBox="1">
              <a:spLocks noChangeArrowheads="1"/>
            </p:cNvSpPr>
            <p:nvPr/>
          </p:nvSpPr>
          <p:spPr bwMode="auto">
            <a:xfrm>
              <a:off x="3540" y="4981"/>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4</a:t>
              </a:r>
            </a:p>
          </p:txBody>
        </p:sp>
        <p:sp>
          <p:nvSpPr>
            <p:cNvPr id="29" name="Text Box 27" descr="5%"/>
            <p:cNvSpPr txBox="1">
              <a:spLocks noChangeArrowheads="1"/>
            </p:cNvSpPr>
            <p:nvPr/>
          </p:nvSpPr>
          <p:spPr bwMode="auto">
            <a:xfrm>
              <a:off x="3540" y="5929"/>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5</a:t>
              </a:r>
            </a:p>
          </p:txBody>
        </p:sp>
        <p:sp>
          <p:nvSpPr>
            <p:cNvPr id="30" name="Text Box 28" descr="5%"/>
            <p:cNvSpPr txBox="1">
              <a:spLocks noChangeArrowheads="1"/>
            </p:cNvSpPr>
            <p:nvPr/>
          </p:nvSpPr>
          <p:spPr bwMode="auto">
            <a:xfrm>
              <a:off x="3540" y="6997"/>
              <a:ext cx="1032" cy="38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6</a:t>
              </a:r>
            </a:p>
          </p:txBody>
        </p:sp>
        <p:sp>
          <p:nvSpPr>
            <p:cNvPr id="31" name="AutoShape 29"/>
            <p:cNvSpPr>
              <a:spLocks noChangeArrowheads="1"/>
            </p:cNvSpPr>
            <p:nvPr/>
          </p:nvSpPr>
          <p:spPr bwMode="auto">
            <a:xfrm>
              <a:off x="6084" y="2088"/>
              <a:ext cx="1956" cy="456"/>
            </a:xfrm>
            <a:prstGeom prst="flowChartAlternateProcess">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Plain text (64 bits)</a:t>
              </a:r>
            </a:p>
          </p:txBody>
        </p:sp>
        <p:sp>
          <p:nvSpPr>
            <p:cNvPr id="32" name="AutoShape 30"/>
            <p:cNvSpPr>
              <a:spLocks noChangeArrowheads="1"/>
            </p:cNvSpPr>
            <p:nvPr/>
          </p:nvSpPr>
          <p:spPr bwMode="auto">
            <a:xfrm>
              <a:off x="6096" y="6912"/>
              <a:ext cx="1956" cy="497"/>
            </a:xfrm>
            <a:prstGeom prst="flowChartAlternateProcess">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Cipher text (64 bits)</a:t>
              </a:r>
            </a:p>
          </p:txBody>
        </p:sp>
      </p:grpSp>
    </p:spTree>
    <p:extLst>
      <p:ext uri="{BB962C8B-B14F-4D97-AF65-F5344CB8AC3E}">
        <p14:creationId xmlns:p14="http://schemas.microsoft.com/office/powerpoint/2010/main" val="245366612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556792"/>
            <a:ext cx="8229600" cy="4525963"/>
          </a:xfrm>
        </p:spPr>
        <p:txBody>
          <a:bodyPr vert="horz" lIns="91440" tIns="45720" rIns="91440" bIns="45720" rtlCol="0">
            <a:normAutofit/>
          </a:bodyPr>
          <a:lstStyle/>
          <a:p>
            <a:pPr>
              <a:buClrTx/>
              <a:buChar char="•"/>
            </a:pPr>
            <a:r>
              <a:rPr lang="en-US" altLang="en-US" sz="3200" dirty="0">
                <a:solidFill>
                  <a:prstClr val="black"/>
                </a:solidFill>
              </a:rPr>
              <a:t>Key Transformation</a:t>
            </a:r>
          </a:p>
          <a:p>
            <a:pPr>
              <a:buClrTx/>
              <a:buChar char="•"/>
            </a:pPr>
            <a:r>
              <a:rPr lang="en-US" altLang="en-US" sz="3200" dirty="0">
                <a:solidFill>
                  <a:prstClr val="black"/>
                </a:solidFill>
              </a:rPr>
              <a:t>Expansion Permutation</a:t>
            </a:r>
          </a:p>
          <a:p>
            <a:pPr>
              <a:buClrTx/>
              <a:buChar char="•"/>
            </a:pPr>
            <a:r>
              <a:rPr lang="en-US" altLang="en-US" sz="3200" dirty="0">
                <a:solidFill>
                  <a:prstClr val="black"/>
                </a:solidFill>
              </a:rPr>
              <a:t>S-box Substitution</a:t>
            </a:r>
          </a:p>
          <a:p>
            <a:pPr>
              <a:buClrTx/>
              <a:buChar char="•"/>
            </a:pPr>
            <a:r>
              <a:rPr lang="en-US" altLang="en-US" sz="3200" dirty="0">
                <a:solidFill>
                  <a:prstClr val="black"/>
                </a:solidFill>
              </a:rPr>
              <a:t>P-box Permutation</a:t>
            </a:r>
          </a:p>
          <a:p>
            <a:pPr>
              <a:buClrTx/>
              <a:buChar char="•"/>
            </a:pPr>
            <a:r>
              <a:rPr lang="en-US" altLang="en-US" sz="3200" dirty="0">
                <a:solidFill>
                  <a:prstClr val="black"/>
                </a:solidFill>
              </a:rPr>
              <a:t>XOR and swap</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steps of one round</a:t>
            </a:r>
            <a:endParaRPr lang="en-US" sz="3200" dirty="0">
              <a:latin typeface="+mj-lt"/>
              <a:ea typeface="+mj-ea"/>
              <a:cs typeface="+mj-cs"/>
            </a:endParaRPr>
          </a:p>
        </p:txBody>
      </p:sp>
    </p:spTree>
    <p:extLst>
      <p:ext uri="{BB962C8B-B14F-4D97-AF65-F5344CB8AC3E}">
        <p14:creationId xmlns:p14="http://schemas.microsoft.com/office/powerpoint/2010/main" val="5450406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99592" y="1606570"/>
            <a:ext cx="7344816" cy="4608512"/>
          </a:xfrm>
          <a:prstGeom prst="rect">
            <a:avLst/>
          </a:prstGeom>
        </p:spPr>
      </p:pic>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latin typeface="+mj-lt"/>
                <a:ea typeface="+mj-ea"/>
                <a:cs typeface="+mj-cs"/>
              </a:rPr>
              <a:t>Schematic representation of DES one Round </a:t>
            </a:r>
          </a:p>
        </p:txBody>
      </p:sp>
    </p:spTree>
    <p:extLst>
      <p:ext uri="{BB962C8B-B14F-4D97-AF65-F5344CB8AC3E}">
        <p14:creationId xmlns:p14="http://schemas.microsoft.com/office/powerpoint/2010/main" val="163406901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Details of One Round in DES</a:t>
            </a:r>
            <a:endParaRPr lang="en-US" sz="3200" dirty="0">
              <a:latin typeface="+mj-lt"/>
              <a:ea typeface="+mj-ea"/>
              <a:cs typeface="+mj-cs"/>
            </a:endParaRPr>
          </a:p>
        </p:txBody>
      </p:sp>
      <p:grpSp>
        <p:nvGrpSpPr>
          <p:cNvPr id="5" name="Group 3"/>
          <p:cNvGrpSpPr>
            <a:grpSpLocks/>
          </p:cNvGrpSpPr>
          <p:nvPr/>
        </p:nvGrpSpPr>
        <p:grpSpPr bwMode="auto">
          <a:xfrm>
            <a:off x="1619672" y="1916832"/>
            <a:ext cx="6096000" cy="3962400"/>
            <a:chOff x="3588" y="5100"/>
            <a:chExt cx="5100" cy="4368"/>
          </a:xfrm>
        </p:grpSpPr>
        <p:sp>
          <p:nvSpPr>
            <p:cNvPr id="6" name="Rectangle 4"/>
            <p:cNvSpPr>
              <a:spLocks noChangeArrowheads="1"/>
            </p:cNvSpPr>
            <p:nvPr/>
          </p:nvSpPr>
          <p:spPr bwMode="auto">
            <a:xfrm>
              <a:off x="3588" y="5100"/>
              <a:ext cx="5100" cy="43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5"/>
            <p:cNvSpPr txBox="1">
              <a:spLocks noChangeArrowheads="1"/>
            </p:cNvSpPr>
            <p:nvPr/>
          </p:nvSpPr>
          <p:spPr bwMode="auto">
            <a:xfrm>
              <a:off x="4884" y="5558"/>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Key Transformation</a:t>
              </a:r>
            </a:p>
          </p:txBody>
        </p:sp>
        <p:sp>
          <p:nvSpPr>
            <p:cNvPr id="8" name="Text Box 6"/>
            <p:cNvSpPr txBox="1">
              <a:spLocks noChangeArrowheads="1"/>
            </p:cNvSpPr>
            <p:nvPr/>
          </p:nvSpPr>
          <p:spPr bwMode="auto">
            <a:xfrm>
              <a:off x="4872" y="6302"/>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Expansion Permutation</a:t>
              </a:r>
            </a:p>
          </p:txBody>
        </p:sp>
        <p:sp>
          <p:nvSpPr>
            <p:cNvPr id="9" name="AutoShape 7"/>
            <p:cNvSpPr>
              <a:spLocks noChangeArrowheads="1"/>
            </p:cNvSpPr>
            <p:nvPr/>
          </p:nvSpPr>
          <p:spPr bwMode="auto">
            <a:xfrm>
              <a:off x="6000" y="5990"/>
              <a:ext cx="239" cy="312"/>
            </a:xfrm>
            <a:prstGeom prst="downArrow">
              <a:avLst>
                <a:gd name="adj1" fmla="val 50000"/>
                <a:gd name="adj2" fmla="val 3263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0" name="Text Box 8"/>
            <p:cNvSpPr txBox="1">
              <a:spLocks noChangeArrowheads="1"/>
            </p:cNvSpPr>
            <p:nvPr/>
          </p:nvSpPr>
          <p:spPr bwMode="auto">
            <a:xfrm>
              <a:off x="4884" y="7069"/>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S-Box Substitution</a:t>
              </a:r>
            </a:p>
          </p:txBody>
        </p:sp>
        <p:sp>
          <p:nvSpPr>
            <p:cNvPr id="11" name="Text Box 9"/>
            <p:cNvSpPr txBox="1">
              <a:spLocks noChangeArrowheads="1"/>
            </p:cNvSpPr>
            <p:nvPr/>
          </p:nvSpPr>
          <p:spPr bwMode="auto">
            <a:xfrm>
              <a:off x="4872" y="7813"/>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P-Box Permutation</a:t>
              </a:r>
            </a:p>
          </p:txBody>
        </p:sp>
        <p:sp>
          <p:nvSpPr>
            <p:cNvPr id="12" name="AutoShape 10"/>
            <p:cNvSpPr>
              <a:spLocks noChangeArrowheads="1"/>
            </p:cNvSpPr>
            <p:nvPr/>
          </p:nvSpPr>
          <p:spPr bwMode="auto">
            <a:xfrm>
              <a:off x="6000" y="7501"/>
              <a:ext cx="239" cy="312"/>
            </a:xfrm>
            <a:prstGeom prst="downArrow">
              <a:avLst>
                <a:gd name="adj1" fmla="val 50000"/>
                <a:gd name="adj2" fmla="val 3263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 name="AutoShape 11"/>
            <p:cNvSpPr>
              <a:spLocks noChangeArrowheads="1"/>
            </p:cNvSpPr>
            <p:nvPr/>
          </p:nvSpPr>
          <p:spPr bwMode="auto">
            <a:xfrm>
              <a:off x="5988" y="6734"/>
              <a:ext cx="239" cy="324"/>
            </a:xfrm>
            <a:prstGeom prst="downArrow">
              <a:avLst>
                <a:gd name="adj1" fmla="val 50000"/>
                <a:gd name="adj2" fmla="val 33891"/>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4" name="Text Box 12"/>
            <p:cNvSpPr txBox="1">
              <a:spLocks noChangeArrowheads="1"/>
            </p:cNvSpPr>
            <p:nvPr/>
          </p:nvSpPr>
          <p:spPr bwMode="auto">
            <a:xfrm>
              <a:off x="4860" y="8569"/>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XOR and Swap</a:t>
              </a:r>
            </a:p>
          </p:txBody>
        </p:sp>
        <p:sp>
          <p:nvSpPr>
            <p:cNvPr id="15" name="AutoShape 13"/>
            <p:cNvSpPr>
              <a:spLocks noChangeArrowheads="1"/>
            </p:cNvSpPr>
            <p:nvPr/>
          </p:nvSpPr>
          <p:spPr bwMode="auto">
            <a:xfrm>
              <a:off x="5988" y="8245"/>
              <a:ext cx="239" cy="324"/>
            </a:xfrm>
            <a:prstGeom prst="downArrow">
              <a:avLst>
                <a:gd name="adj1" fmla="val 50000"/>
                <a:gd name="adj2" fmla="val 33891"/>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244424389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28800"/>
            <a:ext cx="8229600" cy="4525963"/>
          </a:xfrm>
        </p:spPr>
        <p:txBody>
          <a:bodyPr vert="horz" lIns="91440" tIns="45720" rIns="91440" bIns="45720" rtlCol="0">
            <a:normAutofit fontScale="70000" lnSpcReduction="20000"/>
          </a:bodyPr>
          <a:lstStyle/>
          <a:p>
            <a:pPr>
              <a:buClrTx/>
              <a:buChar char="•"/>
            </a:pPr>
            <a:r>
              <a:rPr lang="en-US" altLang="en-US" sz="3200" dirty="0">
                <a:solidFill>
                  <a:prstClr val="black"/>
                </a:solidFill>
              </a:rPr>
              <a:t>As pointed out earlier, we have a 56-bit key available for each round.</a:t>
            </a:r>
          </a:p>
          <a:p>
            <a:pPr>
              <a:buClrTx/>
              <a:buChar char="•"/>
            </a:pPr>
            <a:r>
              <a:rPr lang="en-US" altLang="en-US" sz="3200" dirty="0">
                <a:solidFill>
                  <a:prstClr val="black"/>
                </a:solidFill>
              </a:rPr>
              <a:t>From this 56-bit key, a different 48-bit sub-key is generated during each round using a process called as key transformation. How? We’ll see…</a:t>
            </a:r>
          </a:p>
          <a:p>
            <a:pPr>
              <a:buClrTx/>
              <a:buChar char="•"/>
            </a:pPr>
            <a:r>
              <a:rPr lang="en-US" altLang="en-US" sz="3200" dirty="0">
                <a:solidFill>
                  <a:prstClr val="black"/>
                </a:solidFill>
              </a:rPr>
              <a:t>56-bit key is divided into 2 halves, each of 28 bits. These halves are circularly shifted left by one or two positions depending on the round. e.g. for round numbers 1, 2, 9, or 16, the shift is done by only one position. For other rounds, the circular shift is done by two positions.</a:t>
            </a:r>
          </a:p>
          <a:p>
            <a:pPr>
              <a:buClrTx/>
              <a:buChar char="•"/>
            </a:pPr>
            <a:r>
              <a:rPr lang="en-US" altLang="en-US" sz="3200" dirty="0">
                <a:solidFill>
                  <a:prstClr val="black"/>
                </a:solidFill>
              </a:rPr>
              <a:t>After an appropriate shift, 48 of the 56 bits are selected using compression permutation.  </a:t>
            </a:r>
          </a:p>
          <a:p>
            <a:pPr>
              <a:buClrTx/>
              <a:buChar char="•"/>
            </a:pPr>
            <a:r>
              <a:rPr lang="en-US" altLang="en-US" sz="3200" dirty="0">
                <a:solidFill>
                  <a:prstClr val="black"/>
                </a:solidFill>
              </a:rPr>
              <a:t>Some 8 bits are discarded. e.g. bit number 18.</a:t>
            </a:r>
          </a:p>
          <a:p>
            <a:pPr>
              <a:buClrTx/>
              <a:buChar char="•"/>
            </a:pPr>
            <a:r>
              <a:rPr lang="en-US" altLang="en-US" sz="3200" dirty="0">
                <a:solidFill>
                  <a:prstClr val="black"/>
                </a:solidFill>
              </a:rPr>
              <a:t>A different subset of key bits is used in each round, making DES not so easy to crack.</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Key Transformation</a:t>
            </a:r>
            <a:endParaRPr lang="en-US" sz="3200" dirty="0">
              <a:latin typeface="+mj-lt"/>
              <a:ea typeface="+mj-ea"/>
              <a:cs typeface="+mj-cs"/>
            </a:endParaRPr>
          </a:p>
        </p:txBody>
      </p:sp>
    </p:spTree>
    <p:extLst>
      <p:ext uri="{BB962C8B-B14F-4D97-AF65-F5344CB8AC3E}">
        <p14:creationId xmlns:p14="http://schemas.microsoft.com/office/powerpoint/2010/main" val="196122165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Key Transformation and Compression Permutation</a:t>
            </a:r>
            <a:endParaRPr lang="en-US" sz="3200" dirty="0">
              <a:latin typeface="+mj-lt"/>
              <a:ea typeface="+mj-ea"/>
              <a:cs typeface="+mj-cs"/>
            </a:endParaRPr>
          </a:p>
        </p:txBody>
      </p:sp>
      <p:graphicFrame>
        <p:nvGraphicFramePr>
          <p:cNvPr id="5" name="Group 3"/>
          <p:cNvGraphicFramePr>
            <a:graphicFrameLocks/>
          </p:cNvGraphicFramePr>
          <p:nvPr>
            <p:extLst>
              <p:ext uri="{D42A27DB-BD31-4B8C-83A1-F6EECF244321}">
                <p14:modId xmlns:p14="http://schemas.microsoft.com/office/powerpoint/2010/main" val="281615060"/>
              </p:ext>
            </p:extLst>
          </p:nvPr>
        </p:nvGraphicFramePr>
        <p:xfrm>
          <a:off x="611560" y="1834356"/>
          <a:ext cx="7580312" cy="1158875"/>
        </p:xfrm>
        <a:graphic>
          <a:graphicData uri="http://schemas.openxmlformats.org/drawingml/2006/table">
            <a:tbl>
              <a:tblPr/>
              <a:tblGrid>
                <a:gridCol w="1328737">
                  <a:extLst>
                    <a:ext uri="{9D8B030D-6E8A-4147-A177-3AD203B41FA5}"/>
                  </a:extLst>
                </a:gridCol>
                <a:gridCol w="388938">
                  <a:extLst>
                    <a:ext uri="{9D8B030D-6E8A-4147-A177-3AD203B41FA5}"/>
                  </a:extLst>
                </a:gridCol>
                <a:gridCol w="392112">
                  <a:extLst>
                    <a:ext uri="{9D8B030D-6E8A-4147-A177-3AD203B41FA5}"/>
                  </a:extLst>
                </a:gridCol>
                <a:gridCol w="392113">
                  <a:extLst>
                    <a:ext uri="{9D8B030D-6E8A-4147-A177-3AD203B41FA5}"/>
                  </a:extLst>
                </a:gridCol>
                <a:gridCol w="387350">
                  <a:extLst>
                    <a:ext uri="{9D8B030D-6E8A-4147-A177-3AD203B41FA5}"/>
                  </a:extLst>
                </a:gridCol>
                <a:gridCol w="392112">
                  <a:extLst>
                    <a:ext uri="{9D8B030D-6E8A-4147-A177-3AD203B41FA5}"/>
                  </a:extLst>
                </a:gridCol>
                <a:gridCol w="392113">
                  <a:extLst>
                    <a:ext uri="{9D8B030D-6E8A-4147-A177-3AD203B41FA5}"/>
                  </a:extLst>
                </a:gridCol>
                <a:gridCol w="392112">
                  <a:extLst>
                    <a:ext uri="{9D8B030D-6E8A-4147-A177-3AD203B41FA5}"/>
                  </a:extLst>
                </a:gridCol>
                <a:gridCol w="388938">
                  <a:extLst>
                    <a:ext uri="{9D8B030D-6E8A-4147-A177-3AD203B41FA5}"/>
                  </a:extLst>
                </a:gridCol>
                <a:gridCol w="390525">
                  <a:extLst>
                    <a:ext uri="{9D8B030D-6E8A-4147-A177-3AD203B41FA5}"/>
                  </a:extLst>
                </a:gridCol>
                <a:gridCol w="390525">
                  <a:extLst>
                    <a:ext uri="{9D8B030D-6E8A-4147-A177-3AD203B41FA5}"/>
                  </a:extLst>
                </a:gridCol>
                <a:gridCol w="388937">
                  <a:extLst>
                    <a:ext uri="{9D8B030D-6E8A-4147-A177-3AD203B41FA5}"/>
                  </a:extLst>
                </a:gridCol>
                <a:gridCol w="392113">
                  <a:extLst>
                    <a:ext uri="{9D8B030D-6E8A-4147-A177-3AD203B41FA5}"/>
                  </a:extLst>
                </a:gridCol>
                <a:gridCol w="392112">
                  <a:extLst>
                    <a:ext uri="{9D8B030D-6E8A-4147-A177-3AD203B41FA5}"/>
                  </a:extLst>
                </a:gridCol>
                <a:gridCol w="390525">
                  <a:extLst>
                    <a:ext uri="{9D8B030D-6E8A-4147-A177-3AD203B41FA5}"/>
                  </a:extLst>
                </a:gridCol>
                <a:gridCol w="388938">
                  <a:extLst>
                    <a:ext uri="{9D8B030D-6E8A-4147-A177-3AD203B41FA5}"/>
                  </a:extLst>
                </a:gridCol>
                <a:gridCol w="392112">
                  <a:extLst>
                    <a:ext uri="{9D8B030D-6E8A-4147-A177-3AD203B41FA5}"/>
                  </a:extLst>
                </a:gridCol>
              </a:tblGrid>
              <a:tr h="335464">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Round</a:t>
                      </a:r>
                      <a:endParaRPr kumimoji="0" lang="en-US" sz="2800" b="0" i="0" u="none" strike="noStrike" cap="none" normalizeH="0" baseline="0" dirty="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823411">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Number of key bits shifted</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6" name="Group 59"/>
          <p:cNvGraphicFramePr>
            <a:graphicFrameLocks/>
          </p:cNvGraphicFramePr>
          <p:nvPr>
            <p:extLst>
              <p:ext uri="{D42A27DB-BD31-4B8C-83A1-F6EECF244321}">
                <p14:modId xmlns:p14="http://schemas.microsoft.com/office/powerpoint/2010/main" val="4193933184"/>
              </p:ext>
            </p:extLst>
          </p:nvPr>
        </p:nvGraphicFramePr>
        <p:xfrm>
          <a:off x="1925216" y="4071142"/>
          <a:ext cx="4953000" cy="1865313"/>
        </p:xfrm>
        <a:graphic>
          <a:graphicData uri="http://schemas.openxmlformats.org/drawingml/2006/table">
            <a:tbl>
              <a:tblPr/>
              <a:tblGrid>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gridCol w="412750">
                  <a:extLst>
                    <a:ext uri="{9D8B030D-6E8A-4147-A177-3AD203B41FA5}"/>
                  </a:extLst>
                </a:gridCol>
              </a:tblGrid>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651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33</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32</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7" name="Text Box 126"/>
          <p:cNvSpPr txBox="1">
            <a:spLocks noChangeArrowheads="1"/>
          </p:cNvSpPr>
          <p:nvPr/>
        </p:nvSpPr>
        <p:spPr bwMode="auto">
          <a:xfrm>
            <a:off x="2649116" y="3348830"/>
            <a:ext cx="350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lang="en-US" altLang="en-US" sz="1800" dirty="0"/>
              <a:t>Choose 48 of the 56 bits now</a:t>
            </a:r>
          </a:p>
        </p:txBody>
      </p:sp>
    </p:spTree>
    <p:extLst>
      <p:ext uri="{BB962C8B-B14F-4D97-AF65-F5344CB8AC3E}">
        <p14:creationId xmlns:p14="http://schemas.microsoft.com/office/powerpoint/2010/main" val="124065168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lnSpcReduction="10000"/>
          </a:bodyPr>
          <a:lstStyle/>
          <a:p>
            <a:pPr>
              <a:buClrTx/>
              <a:buChar char="•"/>
            </a:pPr>
            <a:r>
              <a:rPr lang="en-US" altLang="en-US" sz="3200" dirty="0">
                <a:solidFill>
                  <a:prstClr val="black"/>
                </a:solidFill>
              </a:rPr>
              <a:t>During expansion permutation, the RPT is expanded from 32 bits to 48 bits and the bits are permuted as well.</a:t>
            </a:r>
          </a:p>
          <a:p>
            <a:pPr>
              <a:buClrTx/>
              <a:buChar char="•"/>
            </a:pPr>
            <a:r>
              <a:rPr lang="en-US" altLang="en-US" sz="3200" dirty="0">
                <a:solidFill>
                  <a:prstClr val="black"/>
                </a:solidFill>
              </a:rPr>
              <a:t>The 32-bit RPT is divided into 8 blocks, each of 4 bits.</a:t>
            </a:r>
          </a:p>
          <a:p>
            <a:pPr>
              <a:buClrTx/>
              <a:buChar char="•"/>
            </a:pPr>
            <a:r>
              <a:rPr lang="en-US" altLang="en-US" sz="3200" dirty="0">
                <a:solidFill>
                  <a:prstClr val="black"/>
                </a:solidFill>
              </a:rPr>
              <a:t>Each 4-bit block is expanded to a corresponding 6-bit block, as shown.</a:t>
            </a:r>
          </a:p>
          <a:p>
            <a:pPr>
              <a:buClrTx/>
              <a:buChar char="•"/>
            </a:pPr>
            <a:r>
              <a:rPr lang="en-US" altLang="en-US" sz="3200" dirty="0">
                <a:solidFill>
                  <a:prstClr val="black"/>
                </a:solidFill>
              </a:rPr>
              <a:t>Clearly, this process results into expansion as well as permutation of the input bits while creating the output.</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Expansion Permutation</a:t>
            </a:r>
            <a:endParaRPr lang="en-US" sz="3200" dirty="0">
              <a:latin typeface="+mj-lt"/>
              <a:ea typeface="+mj-ea"/>
              <a:cs typeface="+mj-cs"/>
            </a:endParaRPr>
          </a:p>
        </p:txBody>
      </p:sp>
    </p:spTree>
    <p:extLst>
      <p:ext uri="{BB962C8B-B14F-4D97-AF65-F5344CB8AC3E}">
        <p14:creationId xmlns:p14="http://schemas.microsoft.com/office/powerpoint/2010/main" val="33379352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Expansion Permutation – 1/2</a:t>
            </a:r>
            <a:endParaRPr lang="en-US" sz="3200" dirty="0">
              <a:latin typeface="+mj-lt"/>
              <a:ea typeface="+mj-ea"/>
              <a:cs typeface="+mj-cs"/>
            </a:endParaRPr>
          </a:p>
        </p:txBody>
      </p:sp>
      <p:grpSp>
        <p:nvGrpSpPr>
          <p:cNvPr id="5" name="Group 4"/>
          <p:cNvGrpSpPr>
            <a:grpSpLocks/>
          </p:cNvGrpSpPr>
          <p:nvPr/>
        </p:nvGrpSpPr>
        <p:grpSpPr bwMode="auto">
          <a:xfrm>
            <a:off x="1312869" y="1564422"/>
            <a:ext cx="6705600" cy="1539875"/>
            <a:chOff x="2388" y="7016"/>
            <a:chExt cx="8064" cy="2424"/>
          </a:xfrm>
        </p:grpSpPr>
        <p:sp>
          <p:nvSpPr>
            <p:cNvPr id="6" name="Rectangle 5"/>
            <p:cNvSpPr>
              <a:spLocks noChangeArrowheads="1"/>
            </p:cNvSpPr>
            <p:nvPr/>
          </p:nvSpPr>
          <p:spPr bwMode="auto">
            <a:xfrm>
              <a:off x="2388" y="7016"/>
              <a:ext cx="8064" cy="24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6"/>
            <p:cNvSpPr txBox="1">
              <a:spLocks noChangeArrowheads="1"/>
            </p:cNvSpPr>
            <p:nvPr/>
          </p:nvSpPr>
          <p:spPr bwMode="auto">
            <a:xfrm>
              <a:off x="2784" y="7462"/>
              <a:ext cx="7248"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Original Right Plain Text (RPT) of 32 bits</a:t>
              </a:r>
              <a:endParaRPr lang="en-US" altLang="en-US" sz="1800"/>
            </a:p>
          </p:txBody>
        </p:sp>
        <p:grpSp>
          <p:nvGrpSpPr>
            <p:cNvPr id="8" name="Group 7"/>
            <p:cNvGrpSpPr>
              <a:grpSpLocks/>
            </p:cNvGrpSpPr>
            <p:nvPr/>
          </p:nvGrpSpPr>
          <p:grpSpPr bwMode="auto">
            <a:xfrm>
              <a:off x="2784" y="8328"/>
              <a:ext cx="1690" cy="324"/>
              <a:chOff x="2784" y="8328"/>
              <a:chExt cx="1690" cy="324"/>
            </a:xfrm>
          </p:grpSpPr>
          <p:sp>
            <p:nvSpPr>
              <p:cNvPr id="26" name="Text Box 8"/>
              <p:cNvSpPr txBox="1">
                <a:spLocks noChangeArrowheads="1"/>
              </p:cNvSpPr>
              <p:nvPr/>
            </p:nvSpPr>
            <p:spPr bwMode="auto">
              <a:xfrm>
                <a:off x="278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7" name="Text Box 9"/>
              <p:cNvSpPr txBox="1">
                <a:spLocks noChangeArrowheads="1"/>
              </p:cNvSpPr>
              <p:nvPr/>
            </p:nvSpPr>
            <p:spPr bwMode="auto">
              <a:xfrm>
                <a:off x="3192"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 name="Text Box 10"/>
              <p:cNvSpPr txBox="1">
                <a:spLocks noChangeArrowheads="1"/>
              </p:cNvSpPr>
              <p:nvPr/>
            </p:nvSpPr>
            <p:spPr bwMode="auto">
              <a:xfrm>
                <a:off x="362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9" name="Text Box 11"/>
              <p:cNvSpPr txBox="1">
                <a:spLocks noChangeArrowheads="1"/>
              </p:cNvSpPr>
              <p:nvPr/>
            </p:nvSpPr>
            <p:spPr bwMode="auto">
              <a:xfrm>
                <a:off x="4043"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grpSp>
          <p:nvGrpSpPr>
            <p:cNvPr id="9" name="Group 12"/>
            <p:cNvGrpSpPr>
              <a:grpSpLocks/>
            </p:cNvGrpSpPr>
            <p:nvPr/>
          </p:nvGrpSpPr>
          <p:grpSpPr bwMode="auto">
            <a:xfrm>
              <a:off x="4764" y="8327"/>
              <a:ext cx="1675" cy="325"/>
              <a:chOff x="4764" y="8327"/>
              <a:chExt cx="1675" cy="325"/>
            </a:xfrm>
          </p:grpSpPr>
          <p:sp>
            <p:nvSpPr>
              <p:cNvPr id="22" name="Text Box 13"/>
              <p:cNvSpPr txBox="1">
                <a:spLocks noChangeArrowheads="1"/>
              </p:cNvSpPr>
              <p:nvPr/>
            </p:nvSpPr>
            <p:spPr bwMode="auto">
              <a:xfrm>
                <a:off x="476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3" name="Text Box 14"/>
              <p:cNvSpPr txBox="1">
                <a:spLocks noChangeArrowheads="1"/>
              </p:cNvSpPr>
              <p:nvPr/>
            </p:nvSpPr>
            <p:spPr bwMode="auto">
              <a:xfrm>
                <a:off x="5172"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 name="Text Box 15"/>
              <p:cNvSpPr txBox="1">
                <a:spLocks noChangeArrowheads="1"/>
              </p:cNvSpPr>
              <p:nvPr/>
            </p:nvSpPr>
            <p:spPr bwMode="auto">
              <a:xfrm>
                <a:off x="5577"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 name="Text Box 16"/>
              <p:cNvSpPr txBox="1">
                <a:spLocks noChangeArrowheads="1"/>
              </p:cNvSpPr>
              <p:nvPr/>
            </p:nvSpPr>
            <p:spPr bwMode="auto">
              <a:xfrm>
                <a:off x="6008" y="8327"/>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grpSp>
          <p:nvGrpSpPr>
            <p:cNvPr id="10" name="Group 17"/>
            <p:cNvGrpSpPr>
              <a:grpSpLocks/>
            </p:cNvGrpSpPr>
            <p:nvPr/>
          </p:nvGrpSpPr>
          <p:grpSpPr bwMode="auto">
            <a:xfrm>
              <a:off x="8364" y="8304"/>
              <a:ext cx="1675" cy="324"/>
              <a:chOff x="8364" y="8304"/>
              <a:chExt cx="1675" cy="324"/>
            </a:xfrm>
          </p:grpSpPr>
          <p:sp>
            <p:nvSpPr>
              <p:cNvPr id="18" name="Text Box 18"/>
              <p:cNvSpPr txBox="1">
                <a:spLocks noChangeArrowheads="1"/>
              </p:cNvSpPr>
              <p:nvPr/>
            </p:nvSpPr>
            <p:spPr bwMode="auto">
              <a:xfrm>
                <a:off x="8364"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9" name="Text Box 19"/>
              <p:cNvSpPr txBox="1">
                <a:spLocks noChangeArrowheads="1"/>
              </p:cNvSpPr>
              <p:nvPr/>
            </p:nvSpPr>
            <p:spPr bwMode="auto">
              <a:xfrm>
                <a:off x="8772"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0" name="Text Box 20"/>
              <p:cNvSpPr txBox="1">
                <a:spLocks noChangeArrowheads="1"/>
              </p:cNvSpPr>
              <p:nvPr/>
            </p:nvSpPr>
            <p:spPr bwMode="auto">
              <a:xfrm>
                <a:off x="9176"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1" name="Text Box 21"/>
              <p:cNvSpPr txBox="1">
                <a:spLocks noChangeArrowheads="1"/>
              </p:cNvSpPr>
              <p:nvPr/>
            </p:nvSpPr>
            <p:spPr bwMode="auto">
              <a:xfrm>
                <a:off x="9608"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11" name="Text Box 22"/>
            <p:cNvSpPr txBox="1">
              <a:spLocks noChangeArrowheads="1"/>
            </p:cNvSpPr>
            <p:nvPr/>
          </p:nvSpPr>
          <p:spPr bwMode="auto">
            <a:xfrm>
              <a:off x="7008" y="8278"/>
              <a:ext cx="912"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a:sym typeface="Symbol" panose="05050102010706020507" pitchFamily="18" charset="2"/>
                </a:rPr>
                <a:t></a:t>
              </a:r>
              <a:endParaRPr lang="en-US" altLang="en-US" sz="1800"/>
            </a:p>
          </p:txBody>
        </p:sp>
        <p:sp>
          <p:nvSpPr>
            <p:cNvPr id="12" name="Text Box 23"/>
            <p:cNvSpPr txBox="1">
              <a:spLocks noChangeArrowheads="1"/>
            </p:cNvSpPr>
            <p:nvPr/>
          </p:nvSpPr>
          <p:spPr bwMode="auto">
            <a:xfrm>
              <a:off x="2784" y="8792"/>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1 (4 bits)</a:t>
              </a:r>
              <a:endParaRPr lang="en-US" altLang="en-US" sz="1800"/>
            </a:p>
          </p:txBody>
        </p:sp>
        <p:sp>
          <p:nvSpPr>
            <p:cNvPr id="13" name="Text Box 24"/>
            <p:cNvSpPr txBox="1">
              <a:spLocks noChangeArrowheads="1"/>
            </p:cNvSpPr>
            <p:nvPr/>
          </p:nvSpPr>
          <p:spPr bwMode="auto">
            <a:xfrm>
              <a:off x="4728" y="8816"/>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2 (4 bits)</a:t>
              </a:r>
              <a:endParaRPr lang="en-US" altLang="en-US" sz="1800"/>
            </a:p>
          </p:txBody>
        </p:sp>
        <p:sp>
          <p:nvSpPr>
            <p:cNvPr id="14" name="Text Box 25"/>
            <p:cNvSpPr txBox="1">
              <a:spLocks noChangeArrowheads="1"/>
            </p:cNvSpPr>
            <p:nvPr/>
          </p:nvSpPr>
          <p:spPr bwMode="auto">
            <a:xfrm>
              <a:off x="8376" y="8816"/>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8 (4 bits)</a:t>
              </a:r>
              <a:endParaRPr lang="en-US" altLang="en-US" sz="1800"/>
            </a:p>
          </p:txBody>
        </p:sp>
        <p:sp>
          <p:nvSpPr>
            <p:cNvPr id="15" name="AutoShape 26"/>
            <p:cNvSpPr>
              <a:spLocks noChangeArrowheads="1"/>
            </p:cNvSpPr>
            <p:nvPr/>
          </p:nvSpPr>
          <p:spPr bwMode="auto">
            <a:xfrm>
              <a:off x="3456" y="7966"/>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6" name="AutoShape 27"/>
            <p:cNvSpPr>
              <a:spLocks noChangeArrowheads="1"/>
            </p:cNvSpPr>
            <p:nvPr/>
          </p:nvSpPr>
          <p:spPr bwMode="auto">
            <a:xfrm>
              <a:off x="5388" y="7954"/>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7" name="AutoShape 28"/>
            <p:cNvSpPr>
              <a:spLocks noChangeArrowheads="1"/>
            </p:cNvSpPr>
            <p:nvPr/>
          </p:nvSpPr>
          <p:spPr bwMode="auto">
            <a:xfrm>
              <a:off x="9036" y="7930"/>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30" name="Group 29"/>
          <p:cNvGrpSpPr>
            <a:grpSpLocks/>
          </p:cNvGrpSpPr>
          <p:nvPr/>
        </p:nvGrpSpPr>
        <p:grpSpPr bwMode="auto">
          <a:xfrm>
            <a:off x="552683" y="3402234"/>
            <a:ext cx="8305800" cy="2774950"/>
            <a:chOff x="1608" y="1476"/>
            <a:chExt cx="9444" cy="4368"/>
          </a:xfrm>
        </p:grpSpPr>
        <p:sp>
          <p:nvSpPr>
            <p:cNvPr id="31" name="Rectangle 30"/>
            <p:cNvSpPr>
              <a:spLocks noChangeArrowheads="1"/>
            </p:cNvSpPr>
            <p:nvPr/>
          </p:nvSpPr>
          <p:spPr bwMode="auto">
            <a:xfrm>
              <a:off x="1608" y="1476"/>
              <a:ext cx="9444" cy="43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32" name="Text Box 31"/>
            <p:cNvSpPr txBox="1">
              <a:spLocks noChangeArrowheads="1"/>
            </p:cNvSpPr>
            <p:nvPr/>
          </p:nvSpPr>
          <p:spPr bwMode="auto">
            <a:xfrm>
              <a:off x="2742" y="312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3" name="Text Box 32"/>
            <p:cNvSpPr txBox="1">
              <a:spLocks noChangeArrowheads="1"/>
            </p:cNvSpPr>
            <p:nvPr/>
          </p:nvSpPr>
          <p:spPr bwMode="auto">
            <a:xfrm>
              <a:off x="3160" y="312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4" name="Text Box 33"/>
            <p:cNvSpPr txBox="1">
              <a:spLocks noChangeArrowheads="1"/>
            </p:cNvSpPr>
            <p:nvPr/>
          </p:nvSpPr>
          <p:spPr bwMode="auto">
            <a:xfrm>
              <a:off x="3590" y="312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5" name="Text Box 34"/>
            <p:cNvSpPr txBox="1">
              <a:spLocks noChangeArrowheads="1"/>
            </p:cNvSpPr>
            <p:nvPr/>
          </p:nvSpPr>
          <p:spPr bwMode="auto">
            <a:xfrm>
              <a:off x="4020" y="312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6" name="Text Box 35"/>
            <p:cNvSpPr txBox="1">
              <a:spLocks noChangeArrowheads="1"/>
            </p:cNvSpPr>
            <p:nvPr/>
          </p:nvSpPr>
          <p:spPr bwMode="auto">
            <a:xfrm>
              <a:off x="2515" y="2199"/>
              <a:ext cx="2114"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1 (4 bits)</a:t>
              </a:r>
              <a:endParaRPr lang="en-US" altLang="en-US" sz="1800"/>
            </a:p>
          </p:txBody>
        </p:sp>
        <p:sp>
          <p:nvSpPr>
            <p:cNvPr id="37" name="Text Box 36"/>
            <p:cNvSpPr txBox="1">
              <a:spLocks noChangeArrowheads="1"/>
            </p:cNvSpPr>
            <p:nvPr/>
          </p:nvSpPr>
          <p:spPr bwMode="auto">
            <a:xfrm>
              <a:off x="232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8" name="Text Box 37"/>
            <p:cNvSpPr txBox="1">
              <a:spLocks noChangeArrowheads="1"/>
            </p:cNvSpPr>
            <p:nvPr/>
          </p:nvSpPr>
          <p:spPr bwMode="auto">
            <a:xfrm>
              <a:off x="2742"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9" name="Text Box 38"/>
            <p:cNvSpPr txBox="1">
              <a:spLocks noChangeArrowheads="1"/>
            </p:cNvSpPr>
            <p:nvPr/>
          </p:nvSpPr>
          <p:spPr bwMode="auto">
            <a:xfrm>
              <a:off x="3172"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 name="Text Box 39"/>
            <p:cNvSpPr txBox="1">
              <a:spLocks noChangeArrowheads="1"/>
            </p:cNvSpPr>
            <p:nvPr/>
          </p:nvSpPr>
          <p:spPr bwMode="auto">
            <a:xfrm>
              <a:off x="3602"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1" name="Text Box 40"/>
            <p:cNvSpPr txBox="1">
              <a:spLocks noChangeArrowheads="1"/>
            </p:cNvSpPr>
            <p:nvPr/>
          </p:nvSpPr>
          <p:spPr bwMode="auto">
            <a:xfrm>
              <a:off x="4035"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2" name="Text Box 41"/>
            <p:cNvSpPr txBox="1">
              <a:spLocks noChangeArrowheads="1"/>
            </p:cNvSpPr>
            <p:nvPr/>
          </p:nvSpPr>
          <p:spPr bwMode="auto">
            <a:xfrm>
              <a:off x="4468" y="3909"/>
              <a:ext cx="428"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3" name="Line 42"/>
            <p:cNvSpPr>
              <a:spLocks noChangeShapeType="1"/>
            </p:cNvSpPr>
            <p:nvPr/>
          </p:nvSpPr>
          <p:spPr bwMode="auto">
            <a:xfrm>
              <a:off x="293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Line 43"/>
            <p:cNvSpPr>
              <a:spLocks noChangeShapeType="1"/>
            </p:cNvSpPr>
            <p:nvPr/>
          </p:nvSpPr>
          <p:spPr bwMode="auto">
            <a:xfrm>
              <a:off x="3375"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 name="Line 44"/>
            <p:cNvSpPr>
              <a:spLocks noChangeShapeType="1"/>
            </p:cNvSpPr>
            <p:nvPr/>
          </p:nvSpPr>
          <p:spPr bwMode="auto">
            <a:xfrm>
              <a:off x="3805"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Line 45"/>
            <p:cNvSpPr>
              <a:spLocks noChangeShapeType="1"/>
            </p:cNvSpPr>
            <p:nvPr/>
          </p:nvSpPr>
          <p:spPr bwMode="auto">
            <a:xfrm>
              <a:off x="4211"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 name="Text Box 46"/>
            <p:cNvSpPr txBox="1">
              <a:spLocks noChangeArrowheads="1"/>
            </p:cNvSpPr>
            <p:nvPr/>
          </p:nvSpPr>
          <p:spPr bwMode="auto">
            <a:xfrm>
              <a:off x="5464"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8" name="Text Box 47"/>
            <p:cNvSpPr txBox="1">
              <a:spLocks noChangeArrowheads="1"/>
            </p:cNvSpPr>
            <p:nvPr/>
          </p:nvSpPr>
          <p:spPr bwMode="auto">
            <a:xfrm>
              <a:off x="5882"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9" name="Text Box 48"/>
            <p:cNvSpPr txBox="1">
              <a:spLocks noChangeArrowheads="1"/>
            </p:cNvSpPr>
            <p:nvPr/>
          </p:nvSpPr>
          <p:spPr bwMode="auto">
            <a:xfrm>
              <a:off x="6312"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0" name="Text Box 49"/>
            <p:cNvSpPr txBox="1">
              <a:spLocks noChangeArrowheads="1"/>
            </p:cNvSpPr>
            <p:nvPr/>
          </p:nvSpPr>
          <p:spPr bwMode="auto">
            <a:xfrm>
              <a:off x="6742"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1" name="Text Box 50"/>
            <p:cNvSpPr txBox="1">
              <a:spLocks noChangeArrowheads="1"/>
            </p:cNvSpPr>
            <p:nvPr/>
          </p:nvSpPr>
          <p:spPr bwMode="auto">
            <a:xfrm>
              <a:off x="5238" y="2211"/>
              <a:ext cx="2113"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2 (4 bits)</a:t>
              </a:r>
              <a:endParaRPr lang="en-US" altLang="en-US" sz="1800"/>
            </a:p>
          </p:txBody>
        </p:sp>
        <p:sp>
          <p:nvSpPr>
            <p:cNvPr id="52" name="Text Box 51"/>
            <p:cNvSpPr txBox="1">
              <a:spLocks noChangeArrowheads="1"/>
            </p:cNvSpPr>
            <p:nvPr/>
          </p:nvSpPr>
          <p:spPr bwMode="auto">
            <a:xfrm>
              <a:off x="5449"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3" name="Text Box 52"/>
            <p:cNvSpPr txBox="1">
              <a:spLocks noChangeArrowheads="1"/>
            </p:cNvSpPr>
            <p:nvPr/>
          </p:nvSpPr>
          <p:spPr bwMode="auto">
            <a:xfrm>
              <a:off x="5013"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4" name="Text Box 53"/>
            <p:cNvSpPr txBox="1">
              <a:spLocks noChangeArrowheads="1"/>
            </p:cNvSpPr>
            <p:nvPr/>
          </p:nvSpPr>
          <p:spPr bwMode="auto">
            <a:xfrm>
              <a:off x="5879" y="3909"/>
              <a:ext cx="45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5" name="Text Box 54"/>
            <p:cNvSpPr txBox="1">
              <a:spLocks noChangeArrowheads="1"/>
            </p:cNvSpPr>
            <p:nvPr/>
          </p:nvSpPr>
          <p:spPr bwMode="auto">
            <a:xfrm>
              <a:off x="6324"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6" name="Text Box 55"/>
            <p:cNvSpPr txBox="1">
              <a:spLocks noChangeArrowheads="1"/>
            </p:cNvSpPr>
            <p:nvPr/>
          </p:nvSpPr>
          <p:spPr bwMode="auto">
            <a:xfrm>
              <a:off x="6757" y="3909"/>
              <a:ext cx="414"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7" name="Text Box 56"/>
            <p:cNvSpPr txBox="1">
              <a:spLocks noChangeArrowheads="1"/>
            </p:cNvSpPr>
            <p:nvPr/>
          </p:nvSpPr>
          <p:spPr bwMode="auto">
            <a:xfrm>
              <a:off x="7175"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8" name="Line 57"/>
            <p:cNvSpPr>
              <a:spLocks noChangeShapeType="1"/>
            </p:cNvSpPr>
            <p:nvPr/>
          </p:nvSpPr>
          <p:spPr bwMode="auto">
            <a:xfrm>
              <a:off x="5655" y="3375"/>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 name="Line 58"/>
            <p:cNvSpPr>
              <a:spLocks noChangeShapeType="1"/>
            </p:cNvSpPr>
            <p:nvPr/>
          </p:nvSpPr>
          <p:spPr bwMode="auto">
            <a:xfrm flipH="1">
              <a:off x="4593" y="3387"/>
              <a:ext cx="1050" cy="6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 name="Line 59"/>
            <p:cNvSpPr>
              <a:spLocks noChangeShapeType="1"/>
            </p:cNvSpPr>
            <p:nvPr/>
          </p:nvSpPr>
          <p:spPr bwMode="auto">
            <a:xfrm>
              <a:off x="6097"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 name="Line 60"/>
            <p:cNvSpPr>
              <a:spLocks noChangeShapeType="1"/>
            </p:cNvSpPr>
            <p:nvPr/>
          </p:nvSpPr>
          <p:spPr bwMode="auto">
            <a:xfrm>
              <a:off x="6527"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 name="Line 61"/>
            <p:cNvSpPr>
              <a:spLocks noChangeShapeType="1"/>
            </p:cNvSpPr>
            <p:nvPr/>
          </p:nvSpPr>
          <p:spPr bwMode="auto">
            <a:xfrm>
              <a:off x="693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 name="Text Box 62"/>
            <p:cNvSpPr txBox="1">
              <a:spLocks noChangeArrowheads="1"/>
            </p:cNvSpPr>
            <p:nvPr/>
          </p:nvSpPr>
          <p:spPr bwMode="auto">
            <a:xfrm>
              <a:off x="8151"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4" name="Text Box 63"/>
            <p:cNvSpPr txBox="1">
              <a:spLocks noChangeArrowheads="1"/>
            </p:cNvSpPr>
            <p:nvPr/>
          </p:nvSpPr>
          <p:spPr bwMode="auto">
            <a:xfrm>
              <a:off x="8569"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5" name="Text Box 64"/>
            <p:cNvSpPr txBox="1">
              <a:spLocks noChangeArrowheads="1"/>
            </p:cNvSpPr>
            <p:nvPr/>
          </p:nvSpPr>
          <p:spPr bwMode="auto">
            <a:xfrm>
              <a:off x="8999" y="3141"/>
              <a:ext cx="428"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6" name="Text Box 65"/>
            <p:cNvSpPr txBox="1">
              <a:spLocks noChangeArrowheads="1"/>
            </p:cNvSpPr>
            <p:nvPr/>
          </p:nvSpPr>
          <p:spPr bwMode="auto">
            <a:xfrm>
              <a:off x="9426" y="313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7" name="Text Box 66"/>
            <p:cNvSpPr txBox="1">
              <a:spLocks noChangeArrowheads="1"/>
            </p:cNvSpPr>
            <p:nvPr/>
          </p:nvSpPr>
          <p:spPr bwMode="auto">
            <a:xfrm>
              <a:off x="7924" y="2211"/>
              <a:ext cx="2113"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3 (4 bits)</a:t>
              </a:r>
              <a:endParaRPr lang="en-US" altLang="en-US" sz="1800"/>
            </a:p>
          </p:txBody>
        </p:sp>
        <p:sp>
          <p:nvSpPr>
            <p:cNvPr id="68" name="Text Box 67"/>
            <p:cNvSpPr txBox="1">
              <a:spLocks noChangeArrowheads="1"/>
            </p:cNvSpPr>
            <p:nvPr/>
          </p:nvSpPr>
          <p:spPr bwMode="auto">
            <a:xfrm>
              <a:off x="7760" y="3909"/>
              <a:ext cx="384"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9" name="Text Box 68"/>
            <p:cNvSpPr txBox="1">
              <a:spLocks noChangeArrowheads="1"/>
            </p:cNvSpPr>
            <p:nvPr/>
          </p:nvSpPr>
          <p:spPr bwMode="auto">
            <a:xfrm>
              <a:off x="815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70" name="Text Box 69"/>
            <p:cNvSpPr txBox="1">
              <a:spLocks noChangeArrowheads="1"/>
            </p:cNvSpPr>
            <p:nvPr/>
          </p:nvSpPr>
          <p:spPr bwMode="auto">
            <a:xfrm>
              <a:off x="8581" y="3909"/>
              <a:ext cx="428"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71" name="Text Box 70"/>
            <p:cNvSpPr txBox="1">
              <a:spLocks noChangeArrowheads="1"/>
            </p:cNvSpPr>
            <p:nvPr/>
          </p:nvSpPr>
          <p:spPr bwMode="auto">
            <a:xfrm>
              <a:off x="9010"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72" name="Text Box 71"/>
            <p:cNvSpPr txBox="1">
              <a:spLocks noChangeArrowheads="1"/>
            </p:cNvSpPr>
            <p:nvPr/>
          </p:nvSpPr>
          <p:spPr bwMode="auto">
            <a:xfrm>
              <a:off x="9428"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73" name="Text Box 72"/>
            <p:cNvSpPr txBox="1">
              <a:spLocks noChangeArrowheads="1"/>
            </p:cNvSpPr>
            <p:nvPr/>
          </p:nvSpPr>
          <p:spPr bwMode="auto">
            <a:xfrm>
              <a:off x="986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74" name="Line 73"/>
            <p:cNvSpPr>
              <a:spLocks noChangeShapeType="1"/>
            </p:cNvSpPr>
            <p:nvPr/>
          </p:nvSpPr>
          <p:spPr bwMode="auto">
            <a:xfrm>
              <a:off x="8342" y="3375"/>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 name="Line 74"/>
            <p:cNvSpPr>
              <a:spLocks noChangeShapeType="1"/>
            </p:cNvSpPr>
            <p:nvPr/>
          </p:nvSpPr>
          <p:spPr bwMode="auto">
            <a:xfrm flipH="1">
              <a:off x="7828" y="3387"/>
              <a:ext cx="502" cy="12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 name="Line 75"/>
            <p:cNvSpPr>
              <a:spLocks noChangeShapeType="1"/>
            </p:cNvSpPr>
            <p:nvPr/>
          </p:nvSpPr>
          <p:spPr bwMode="auto">
            <a:xfrm>
              <a:off x="8784"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 name="Line 76"/>
            <p:cNvSpPr>
              <a:spLocks noChangeShapeType="1"/>
            </p:cNvSpPr>
            <p:nvPr/>
          </p:nvSpPr>
          <p:spPr bwMode="auto">
            <a:xfrm>
              <a:off x="921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 name="Line 77"/>
            <p:cNvSpPr>
              <a:spLocks noChangeShapeType="1"/>
            </p:cNvSpPr>
            <p:nvPr/>
          </p:nvSpPr>
          <p:spPr bwMode="auto">
            <a:xfrm>
              <a:off x="9619"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 name="Text Box 78"/>
            <p:cNvSpPr txBox="1">
              <a:spLocks noChangeArrowheads="1"/>
            </p:cNvSpPr>
            <p:nvPr/>
          </p:nvSpPr>
          <p:spPr bwMode="auto">
            <a:xfrm>
              <a:off x="2384" y="4805"/>
              <a:ext cx="2257"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1 (6 bits)</a:t>
              </a:r>
              <a:endParaRPr lang="en-US" altLang="en-US" sz="1800"/>
            </a:p>
          </p:txBody>
        </p:sp>
        <p:sp>
          <p:nvSpPr>
            <p:cNvPr id="80" name="Text Box 79"/>
            <p:cNvSpPr txBox="1">
              <a:spLocks noChangeArrowheads="1"/>
            </p:cNvSpPr>
            <p:nvPr/>
          </p:nvSpPr>
          <p:spPr bwMode="auto">
            <a:xfrm>
              <a:off x="5154" y="4817"/>
              <a:ext cx="2257"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2 (6 bits)</a:t>
              </a:r>
              <a:endParaRPr lang="en-US" altLang="en-US" sz="1800"/>
            </a:p>
          </p:txBody>
        </p:sp>
        <p:sp>
          <p:nvSpPr>
            <p:cNvPr id="81" name="Text Box 80"/>
            <p:cNvSpPr txBox="1">
              <a:spLocks noChangeArrowheads="1"/>
            </p:cNvSpPr>
            <p:nvPr/>
          </p:nvSpPr>
          <p:spPr bwMode="auto">
            <a:xfrm>
              <a:off x="7960" y="4805"/>
              <a:ext cx="2256"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3 (6 bits)</a:t>
              </a:r>
              <a:endParaRPr lang="en-US" altLang="en-US" sz="1800"/>
            </a:p>
          </p:txBody>
        </p:sp>
        <p:sp>
          <p:nvSpPr>
            <p:cNvPr id="82" name="Line 81"/>
            <p:cNvSpPr>
              <a:spLocks noChangeShapeType="1"/>
            </p:cNvSpPr>
            <p:nvPr/>
          </p:nvSpPr>
          <p:spPr bwMode="auto">
            <a:xfrm>
              <a:off x="9763" y="3339"/>
              <a:ext cx="6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82"/>
            <p:cNvSpPr>
              <a:spLocks noChangeShapeType="1"/>
            </p:cNvSpPr>
            <p:nvPr/>
          </p:nvSpPr>
          <p:spPr bwMode="auto">
            <a:xfrm flipH="1" flipV="1">
              <a:off x="1906" y="2067"/>
              <a:ext cx="88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83"/>
            <p:cNvSpPr>
              <a:spLocks noChangeShapeType="1"/>
            </p:cNvSpPr>
            <p:nvPr/>
          </p:nvSpPr>
          <p:spPr bwMode="auto">
            <a:xfrm>
              <a:off x="1954" y="4095"/>
              <a:ext cx="6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 name="Line 84"/>
            <p:cNvSpPr>
              <a:spLocks noChangeShapeType="1"/>
            </p:cNvSpPr>
            <p:nvPr/>
          </p:nvSpPr>
          <p:spPr bwMode="auto">
            <a:xfrm>
              <a:off x="4211" y="3339"/>
              <a:ext cx="943" cy="6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6" name="Line 85"/>
            <p:cNvSpPr>
              <a:spLocks noChangeShapeType="1"/>
            </p:cNvSpPr>
            <p:nvPr/>
          </p:nvSpPr>
          <p:spPr bwMode="auto">
            <a:xfrm>
              <a:off x="6933" y="3351"/>
              <a:ext cx="501" cy="156"/>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 name="Text Box 86"/>
            <p:cNvSpPr txBox="1">
              <a:spLocks noChangeArrowheads="1"/>
            </p:cNvSpPr>
            <p:nvPr/>
          </p:nvSpPr>
          <p:spPr bwMode="auto">
            <a:xfrm>
              <a:off x="2706"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a:t>
              </a:r>
              <a:endParaRPr lang="en-US" altLang="en-US" sz="1800"/>
            </a:p>
          </p:txBody>
        </p:sp>
        <p:sp>
          <p:nvSpPr>
            <p:cNvPr id="88" name="Text Box 87"/>
            <p:cNvSpPr txBox="1">
              <a:spLocks noChangeArrowheads="1"/>
            </p:cNvSpPr>
            <p:nvPr/>
          </p:nvSpPr>
          <p:spPr bwMode="auto">
            <a:xfrm>
              <a:off x="3124"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a:t>
              </a:r>
              <a:endParaRPr lang="en-US" altLang="en-US" sz="1800"/>
            </a:p>
          </p:txBody>
        </p:sp>
        <p:sp>
          <p:nvSpPr>
            <p:cNvPr id="89" name="Text Box 88"/>
            <p:cNvSpPr txBox="1">
              <a:spLocks noChangeArrowheads="1"/>
            </p:cNvSpPr>
            <p:nvPr/>
          </p:nvSpPr>
          <p:spPr bwMode="auto">
            <a:xfrm>
              <a:off x="3566"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a:t>
              </a:r>
              <a:endParaRPr lang="en-US" altLang="en-US" sz="1800"/>
            </a:p>
          </p:txBody>
        </p:sp>
        <p:sp>
          <p:nvSpPr>
            <p:cNvPr id="90" name="Text Box 89"/>
            <p:cNvSpPr txBox="1">
              <a:spLocks noChangeArrowheads="1"/>
            </p:cNvSpPr>
            <p:nvPr/>
          </p:nvSpPr>
          <p:spPr bwMode="auto">
            <a:xfrm>
              <a:off x="3984"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a:t>
              </a:r>
              <a:endParaRPr lang="en-US" altLang="en-US" sz="1800"/>
            </a:p>
          </p:txBody>
        </p:sp>
        <p:sp>
          <p:nvSpPr>
            <p:cNvPr id="91" name="Text Box 90"/>
            <p:cNvSpPr txBox="1">
              <a:spLocks noChangeArrowheads="1"/>
            </p:cNvSpPr>
            <p:nvPr/>
          </p:nvSpPr>
          <p:spPr bwMode="auto">
            <a:xfrm>
              <a:off x="5441" y="2703"/>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5</a:t>
              </a:r>
              <a:endParaRPr lang="en-US" altLang="en-US" sz="1800"/>
            </a:p>
          </p:txBody>
        </p:sp>
        <p:sp>
          <p:nvSpPr>
            <p:cNvPr id="92" name="Text Box 91"/>
            <p:cNvSpPr txBox="1">
              <a:spLocks noChangeArrowheads="1"/>
            </p:cNvSpPr>
            <p:nvPr/>
          </p:nvSpPr>
          <p:spPr bwMode="auto">
            <a:xfrm>
              <a:off x="5858"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6</a:t>
              </a:r>
              <a:endParaRPr lang="en-US" altLang="en-US" sz="1800"/>
            </a:p>
          </p:txBody>
        </p:sp>
        <p:sp>
          <p:nvSpPr>
            <p:cNvPr id="93" name="Text Box 92"/>
            <p:cNvSpPr txBox="1">
              <a:spLocks noChangeArrowheads="1"/>
            </p:cNvSpPr>
            <p:nvPr/>
          </p:nvSpPr>
          <p:spPr bwMode="auto">
            <a:xfrm>
              <a:off x="6300"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7</a:t>
              </a:r>
              <a:endParaRPr lang="en-US" altLang="en-US" sz="1800"/>
            </a:p>
          </p:txBody>
        </p:sp>
        <p:sp>
          <p:nvSpPr>
            <p:cNvPr id="94" name="Text Box 93"/>
            <p:cNvSpPr txBox="1">
              <a:spLocks noChangeArrowheads="1"/>
            </p:cNvSpPr>
            <p:nvPr/>
          </p:nvSpPr>
          <p:spPr bwMode="auto">
            <a:xfrm>
              <a:off x="6718"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8</a:t>
              </a:r>
              <a:endParaRPr lang="en-US" altLang="en-US" sz="1800"/>
            </a:p>
          </p:txBody>
        </p:sp>
        <p:sp>
          <p:nvSpPr>
            <p:cNvPr id="95" name="Text Box 94"/>
            <p:cNvSpPr txBox="1">
              <a:spLocks noChangeArrowheads="1"/>
            </p:cNvSpPr>
            <p:nvPr/>
          </p:nvSpPr>
          <p:spPr bwMode="auto">
            <a:xfrm>
              <a:off x="8067" y="2727"/>
              <a:ext cx="526"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29</a:t>
              </a:r>
              <a:endParaRPr lang="en-US" altLang="en-US" sz="1800"/>
            </a:p>
          </p:txBody>
        </p:sp>
        <p:sp>
          <p:nvSpPr>
            <p:cNvPr id="96" name="Text Box 95"/>
            <p:cNvSpPr txBox="1">
              <a:spLocks noChangeArrowheads="1"/>
            </p:cNvSpPr>
            <p:nvPr/>
          </p:nvSpPr>
          <p:spPr bwMode="auto">
            <a:xfrm>
              <a:off x="8509" y="2727"/>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30</a:t>
              </a:r>
              <a:endParaRPr lang="en-US" altLang="en-US" sz="1800"/>
            </a:p>
          </p:txBody>
        </p:sp>
        <p:sp>
          <p:nvSpPr>
            <p:cNvPr id="97" name="Text Box 96"/>
            <p:cNvSpPr txBox="1">
              <a:spLocks noChangeArrowheads="1"/>
            </p:cNvSpPr>
            <p:nvPr/>
          </p:nvSpPr>
          <p:spPr bwMode="auto">
            <a:xfrm>
              <a:off x="8963" y="2727"/>
              <a:ext cx="48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31</a:t>
              </a:r>
              <a:endParaRPr lang="en-US" altLang="en-US" sz="1800"/>
            </a:p>
          </p:txBody>
        </p:sp>
        <p:sp>
          <p:nvSpPr>
            <p:cNvPr id="98" name="Text Box 97"/>
            <p:cNvSpPr txBox="1">
              <a:spLocks noChangeArrowheads="1"/>
            </p:cNvSpPr>
            <p:nvPr/>
          </p:nvSpPr>
          <p:spPr bwMode="auto">
            <a:xfrm>
              <a:off x="9440" y="272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32</a:t>
              </a:r>
              <a:endParaRPr lang="en-US" altLang="en-US" sz="1800"/>
            </a:p>
          </p:txBody>
        </p:sp>
        <p:sp>
          <p:nvSpPr>
            <p:cNvPr id="99" name="Text Box 98"/>
            <p:cNvSpPr txBox="1">
              <a:spLocks noChangeArrowheads="1"/>
            </p:cNvSpPr>
            <p:nvPr/>
          </p:nvSpPr>
          <p:spPr bwMode="auto">
            <a:xfrm>
              <a:off x="2348"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a:t>
              </a:r>
              <a:endParaRPr lang="en-US" altLang="en-US" sz="1800"/>
            </a:p>
          </p:txBody>
        </p:sp>
        <p:sp>
          <p:nvSpPr>
            <p:cNvPr id="100" name="Text Box 99"/>
            <p:cNvSpPr txBox="1">
              <a:spLocks noChangeArrowheads="1"/>
            </p:cNvSpPr>
            <p:nvPr/>
          </p:nvSpPr>
          <p:spPr bwMode="auto">
            <a:xfrm>
              <a:off x="2766"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a:t>
              </a:r>
              <a:endParaRPr lang="en-US" altLang="en-US" sz="1800"/>
            </a:p>
          </p:txBody>
        </p:sp>
        <p:sp>
          <p:nvSpPr>
            <p:cNvPr id="101" name="Text Box 100"/>
            <p:cNvSpPr txBox="1">
              <a:spLocks noChangeArrowheads="1"/>
            </p:cNvSpPr>
            <p:nvPr/>
          </p:nvSpPr>
          <p:spPr bwMode="auto">
            <a:xfrm>
              <a:off x="3208"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a:t>
              </a:r>
              <a:endParaRPr lang="en-US" altLang="en-US" sz="1800"/>
            </a:p>
          </p:txBody>
        </p:sp>
        <p:sp>
          <p:nvSpPr>
            <p:cNvPr id="102" name="Text Box 101"/>
            <p:cNvSpPr txBox="1">
              <a:spLocks noChangeArrowheads="1"/>
            </p:cNvSpPr>
            <p:nvPr/>
          </p:nvSpPr>
          <p:spPr bwMode="auto">
            <a:xfrm>
              <a:off x="3626"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a:t>
              </a:r>
              <a:endParaRPr lang="en-US" altLang="en-US" sz="1800"/>
            </a:p>
          </p:txBody>
        </p:sp>
        <p:sp>
          <p:nvSpPr>
            <p:cNvPr id="103" name="Text Box 102"/>
            <p:cNvSpPr txBox="1">
              <a:spLocks noChangeArrowheads="1"/>
            </p:cNvSpPr>
            <p:nvPr/>
          </p:nvSpPr>
          <p:spPr bwMode="auto">
            <a:xfrm>
              <a:off x="4020"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5</a:t>
              </a:r>
              <a:endParaRPr lang="en-US" altLang="en-US" sz="1800"/>
            </a:p>
          </p:txBody>
        </p:sp>
        <p:sp>
          <p:nvSpPr>
            <p:cNvPr id="104" name="Text Box 103"/>
            <p:cNvSpPr txBox="1">
              <a:spLocks noChangeArrowheads="1"/>
            </p:cNvSpPr>
            <p:nvPr/>
          </p:nvSpPr>
          <p:spPr bwMode="auto">
            <a:xfrm>
              <a:off x="4438" y="4383"/>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6</a:t>
              </a:r>
              <a:endParaRPr lang="en-US" altLang="en-US" sz="1800"/>
            </a:p>
          </p:txBody>
        </p:sp>
        <p:sp>
          <p:nvSpPr>
            <p:cNvPr id="105" name="Text Box 104"/>
            <p:cNvSpPr txBox="1">
              <a:spLocks noChangeArrowheads="1"/>
            </p:cNvSpPr>
            <p:nvPr/>
          </p:nvSpPr>
          <p:spPr bwMode="auto">
            <a:xfrm>
              <a:off x="5035" y="4395"/>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7</a:t>
              </a:r>
              <a:endParaRPr lang="en-US" altLang="en-US" sz="1800"/>
            </a:p>
          </p:txBody>
        </p:sp>
        <p:sp>
          <p:nvSpPr>
            <p:cNvPr id="106" name="Text Box 105"/>
            <p:cNvSpPr txBox="1">
              <a:spLocks noChangeArrowheads="1"/>
            </p:cNvSpPr>
            <p:nvPr/>
          </p:nvSpPr>
          <p:spPr bwMode="auto">
            <a:xfrm>
              <a:off x="5452" y="4395"/>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8</a:t>
              </a:r>
              <a:endParaRPr lang="en-US" altLang="en-US" sz="1800"/>
            </a:p>
          </p:txBody>
        </p:sp>
        <p:sp>
          <p:nvSpPr>
            <p:cNvPr id="107" name="Text Box 106"/>
            <p:cNvSpPr txBox="1">
              <a:spLocks noChangeArrowheads="1"/>
            </p:cNvSpPr>
            <p:nvPr/>
          </p:nvSpPr>
          <p:spPr bwMode="auto">
            <a:xfrm>
              <a:off x="5894" y="4395"/>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9</a:t>
              </a:r>
              <a:endParaRPr lang="en-US" altLang="en-US" sz="1800"/>
            </a:p>
          </p:txBody>
        </p:sp>
        <p:sp>
          <p:nvSpPr>
            <p:cNvPr id="108" name="Text Box 107"/>
            <p:cNvSpPr txBox="1">
              <a:spLocks noChangeArrowheads="1"/>
            </p:cNvSpPr>
            <p:nvPr/>
          </p:nvSpPr>
          <p:spPr bwMode="auto">
            <a:xfrm>
              <a:off x="6240" y="4395"/>
              <a:ext cx="502"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10</a:t>
              </a:r>
              <a:endParaRPr lang="en-US" altLang="en-US" sz="1800"/>
            </a:p>
          </p:txBody>
        </p:sp>
        <p:sp>
          <p:nvSpPr>
            <p:cNvPr id="109" name="Text Box 108"/>
            <p:cNvSpPr txBox="1">
              <a:spLocks noChangeArrowheads="1"/>
            </p:cNvSpPr>
            <p:nvPr/>
          </p:nvSpPr>
          <p:spPr bwMode="auto">
            <a:xfrm>
              <a:off x="6658" y="4395"/>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11</a:t>
              </a:r>
              <a:endParaRPr lang="en-US" altLang="en-US" sz="1800"/>
            </a:p>
          </p:txBody>
        </p:sp>
        <p:sp>
          <p:nvSpPr>
            <p:cNvPr id="110" name="Text Box 109"/>
            <p:cNvSpPr txBox="1">
              <a:spLocks noChangeArrowheads="1"/>
            </p:cNvSpPr>
            <p:nvPr/>
          </p:nvSpPr>
          <p:spPr bwMode="auto">
            <a:xfrm>
              <a:off x="7124" y="4395"/>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12</a:t>
              </a:r>
              <a:endParaRPr lang="en-US" altLang="en-US" sz="1800"/>
            </a:p>
          </p:txBody>
        </p:sp>
        <p:sp>
          <p:nvSpPr>
            <p:cNvPr id="111" name="Text Box 110"/>
            <p:cNvSpPr txBox="1">
              <a:spLocks noChangeArrowheads="1"/>
            </p:cNvSpPr>
            <p:nvPr/>
          </p:nvSpPr>
          <p:spPr bwMode="auto">
            <a:xfrm>
              <a:off x="7661" y="4407"/>
              <a:ext cx="502"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43</a:t>
              </a:r>
              <a:endParaRPr lang="en-US" altLang="en-US" sz="1800"/>
            </a:p>
          </p:txBody>
        </p:sp>
        <p:sp>
          <p:nvSpPr>
            <p:cNvPr id="112" name="Text Box 111"/>
            <p:cNvSpPr txBox="1">
              <a:spLocks noChangeArrowheads="1"/>
            </p:cNvSpPr>
            <p:nvPr/>
          </p:nvSpPr>
          <p:spPr bwMode="auto">
            <a:xfrm>
              <a:off x="8079" y="440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44</a:t>
              </a:r>
              <a:endParaRPr lang="en-US" altLang="en-US" sz="1800"/>
            </a:p>
          </p:txBody>
        </p:sp>
        <p:sp>
          <p:nvSpPr>
            <p:cNvPr id="113" name="Text Box 112"/>
            <p:cNvSpPr txBox="1">
              <a:spLocks noChangeArrowheads="1"/>
            </p:cNvSpPr>
            <p:nvPr/>
          </p:nvSpPr>
          <p:spPr bwMode="auto">
            <a:xfrm>
              <a:off x="8545" y="4407"/>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45</a:t>
              </a:r>
              <a:endParaRPr lang="en-US" altLang="en-US" sz="1800"/>
            </a:p>
          </p:txBody>
        </p:sp>
        <p:sp>
          <p:nvSpPr>
            <p:cNvPr id="114" name="Text Box 113"/>
            <p:cNvSpPr txBox="1">
              <a:spLocks noChangeArrowheads="1"/>
            </p:cNvSpPr>
            <p:nvPr/>
          </p:nvSpPr>
          <p:spPr bwMode="auto">
            <a:xfrm>
              <a:off x="8963" y="4407"/>
              <a:ext cx="501"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46</a:t>
              </a:r>
              <a:endParaRPr lang="en-US" altLang="en-US" sz="1800"/>
            </a:p>
          </p:txBody>
        </p:sp>
        <p:sp>
          <p:nvSpPr>
            <p:cNvPr id="115" name="Text Box 114"/>
            <p:cNvSpPr txBox="1">
              <a:spLocks noChangeArrowheads="1"/>
            </p:cNvSpPr>
            <p:nvPr/>
          </p:nvSpPr>
          <p:spPr bwMode="auto">
            <a:xfrm>
              <a:off x="9380" y="440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47</a:t>
              </a:r>
              <a:endParaRPr lang="en-US" altLang="en-US" sz="1800"/>
            </a:p>
          </p:txBody>
        </p:sp>
        <p:sp>
          <p:nvSpPr>
            <p:cNvPr id="116" name="Text Box 115"/>
            <p:cNvSpPr txBox="1">
              <a:spLocks noChangeArrowheads="1"/>
            </p:cNvSpPr>
            <p:nvPr/>
          </p:nvSpPr>
          <p:spPr bwMode="auto">
            <a:xfrm>
              <a:off x="9846" y="4407"/>
              <a:ext cx="514"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48</a:t>
              </a:r>
              <a:endParaRPr lang="en-US" altLang="en-US" sz="1800"/>
            </a:p>
          </p:txBody>
        </p:sp>
        <p:sp>
          <p:nvSpPr>
            <p:cNvPr id="117" name="Line 116"/>
            <p:cNvSpPr>
              <a:spLocks noChangeShapeType="1"/>
            </p:cNvSpPr>
            <p:nvPr/>
          </p:nvSpPr>
          <p:spPr bwMode="auto">
            <a:xfrm flipH="1">
              <a:off x="1942" y="5371"/>
              <a:ext cx="8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117"/>
            <p:cNvSpPr>
              <a:spLocks noChangeShapeType="1"/>
            </p:cNvSpPr>
            <p:nvPr/>
          </p:nvSpPr>
          <p:spPr bwMode="auto">
            <a:xfrm>
              <a:off x="10431" y="3343"/>
              <a:ext cx="0" cy="20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118"/>
            <p:cNvSpPr>
              <a:spLocks noChangeShapeType="1"/>
            </p:cNvSpPr>
            <p:nvPr/>
          </p:nvSpPr>
          <p:spPr bwMode="auto">
            <a:xfrm flipV="1">
              <a:off x="1954" y="4087"/>
              <a:ext cx="0" cy="1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119"/>
            <p:cNvSpPr>
              <a:spLocks noChangeShapeType="1"/>
            </p:cNvSpPr>
            <p:nvPr/>
          </p:nvSpPr>
          <p:spPr bwMode="auto">
            <a:xfrm flipH="1">
              <a:off x="7243" y="3735"/>
              <a:ext cx="335" cy="24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1" name="Line 120"/>
            <p:cNvSpPr>
              <a:spLocks noChangeShapeType="1"/>
            </p:cNvSpPr>
            <p:nvPr/>
          </p:nvSpPr>
          <p:spPr bwMode="auto">
            <a:xfrm>
              <a:off x="7721" y="3735"/>
              <a:ext cx="286" cy="24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2" name="Line 121"/>
            <p:cNvSpPr>
              <a:spLocks noChangeShapeType="1"/>
            </p:cNvSpPr>
            <p:nvPr/>
          </p:nvSpPr>
          <p:spPr bwMode="auto">
            <a:xfrm flipH="1">
              <a:off x="1895" y="3331"/>
              <a:ext cx="96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22"/>
            <p:cNvSpPr>
              <a:spLocks noChangeShapeType="1"/>
            </p:cNvSpPr>
            <p:nvPr/>
          </p:nvSpPr>
          <p:spPr bwMode="auto">
            <a:xfrm>
              <a:off x="1906" y="2059"/>
              <a:ext cx="0" cy="1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23"/>
            <p:cNvSpPr>
              <a:spLocks noChangeShapeType="1"/>
            </p:cNvSpPr>
            <p:nvPr/>
          </p:nvSpPr>
          <p:spPr bwMode="auto">
            <a:xfrm flipH="1" flipV="1">
              <a:off x="10037" y="4063"/>
              <a:ext cx="70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5" name="Line 124"/>
            <p:cNvSpPr>
              <a:spLocks noChangeShapeType="1"/>
            </p:cNvSpPr>
            <p:nvPr/>
          </p:nvSpPr>
          <p:spPr bwMode="auto">
            <a:xfrm>
              <a:off x="10742" y="2071"/>
              <a:ext cx="0" cy="19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125"/>
            <p:cNvSpPr>
              <a:spLocks noChangeShapeType="1"/>
            </p:cNvSpPr>
            <p:nvPr/>
          </p:nvSpPr>
          <p:spPr bwMode="auto">
            <a:xfrm>
              <a:off x="4939" y="2347"/>
              <a:ext cx="0" cy="2772"/>
            </a:xfrm>
            <a:prstGeom prst="line">
              <a:avLst/>
            </a:prstGeom>
            <a:noFill/>
            <a:ln w="1905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26"/>
            <p:cNvSpPr>
              <a:spLocks noChangeShapeType="1"/>
            </p:cNvSpPr>
            <p:nvPr/>
          </p:nvSpPr>
          <p:spPr bwMode="auto">
            <a:xfrm>
              <a:off x="7673" y="2335"/>
              <a:ext cx="0" cy="2772"/>
            </a:xfrm>
            <a:prstGeom prst="line">
              <a:avLst/>
            </a:prstGeom>
            <a:noFill/>
            <a:ln w="1905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70090496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Expansion Permutation – 2/2</a:t>
            </a:r>
            <a:endParaRPr lang="en-US" sz="3200" dirty="0">
              <a:latin typeface="+mj-lt"/>
              <a:ea typeface="+mj-ea"/>
              <a:cs typeface="+mj-cs"/>
            </a:endParaRPr>
          </a:p>
        </p:txBody>
      </p:sp>
      <p:graphicFrame>
        <p:nvGraphicFramePr>
          <p:cNvPr id="5" name="Group 3"/>
          <p:cNvGraphicFramePr>
            <a:graphicFrameLocks noGrp="1"/>
          </p:cNvGraphicFramePr>
          <p:nvPr>
            <p:ph idx="1"/>
            <p:extLst>
              <p:ext uri="{D42A27DB-BD31-4B8C-83A1-F6EECF244321}">
                <p14:modId xmlns:p14="http://schemas.microsoft.com/office/powerpoint/2010/main" val="4104266740"/>
              </p:ext>
            </p:extLst>
          </p:nvPr>
        </p:nvGraphicFramePr>
        <p:xfrm>
          <a:off x="827584" y="2564904"/>
          <a:ext cx="7772400" cy="2325688"/>
        </p:xfrm>
        <a:graphic>
          <a:graphicData uri="http://schemas.openxmlformats.org/drawingml/2006/table">
            <a:tbl>
              <a:tblPr/>
              <a:tblGrid>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gridCol w="647700">
                  <a:extLst>
                    <a:ext uri="{9D8B030D-6E8A-4147-A177-3AD203B41FA5}"/>
                  </a:extLst>
                </a:gridCol>
              </a:tblGrid>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32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826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17</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17</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19</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21</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21</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22</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23</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25</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25</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26</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27</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28</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29</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28</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29</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31</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32</a:t>
                      </a: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218163092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As we have seen, the Key transformation process compresses the 56-bit key to 48-bits. </a:t>
            </a:r>
          </a:p>
          <a:p>
            <a:pPr>
              <a:buClrTx/>
              <a:buChar char="•"/>
            </a:pPr>
            <a:r>
              <a:rPr lang="en-US" altLang="en-US" sz="3200" dirty="0">
                <a:solidFill>
                  <a:prstClr val="black"/>
                </a:solidFill>
              </a:rPr>
              <a:t>Then the Expansion Permutation process expands the 32-bit RPT to 48 bits.</a:t>
            </a:r>
          </a:p>
          <a:p>
            <a:pPr>
              <a:buClrTx/>
              <a:buChar char="•"/>
            </a:pPr>
            <a:r>
              <a:rPr lang="en-US" altLang="en-US" sz="3200" dirty="0">
                <a:solidFill>
                  <a:prstClr val="black"/>
                </a:solidFill>
              </a:rPr>
              <a:t>Now, the 48-bit key is </a:t>
            </a:r>
            <a:r>
              <a:rPr lang="en-US" altLang="en-US" sz="3200" dirty="0" err="1">
                <a:solidFill>
                  <a:prstClr val="black"/>
                </a:solidFill>
              </a:rPr>
              <a:t>XORed</a:t>
            </a:r>
            <a:r>
              <a:rPr lang="en-US" altLang="en-US" sz="3200" dirty="0">
                <a:solidFill>
                  <a:prstClr val="black"/>
                </a:solidFill>
              </a:rPr>
              <a:t> with the 48-bit bit RPT, and the resulting output is given to the next step, which is the S-box Substitution.</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Way to S-box substitution</a:t>
            </a:r>
            <a:endParaRPr lang="en-US" sz="3200" dirty="0">
              <a:latin typeface="+mj-lt"/>
              <a:ea typeface="+mj-ea"/>
              <a:cs typeface="+mj-cs"/>
            </a:endParaRPr>
          </a:p>
        </p:txBody>
      </p:sp>
    </p:spTree>
    <p:extLst>
      <p:ext uri="{BB962C8B-B14F-4D97-AF65-F5344CB8AC3E}">
        <p14:creationId xmlns:p14="http://schemas.microsoft.com/office/powerpoint/2010/main" val="353004589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Way to S-Box Substitution</a:t>
            </a:r>
            <a:endParaRPr lang="en-US" sz="3200" dirty="0">
              <a:latin typeface="+mj-lt"/>
              <a:ea typeface="+mj-ea"/>
              <a:cs typeface="+mj-cs"/>
            </a:endParaRPr>
          </a:p>
        </p:txBody>
      </p:sp>
      <p:grpSp>
        <p:nvGrpSpPr>
          <p:cNvPr id="5" name="Group 4"/>
          <p:cNvGrpSpPr>
            <a:grpSpLocks/>
          </p:cNvGrpSpPr>
          <p:nvPr/>
        </p:nvGrpSpPr>
        <p:grpSpPr bwMode="auto">
          <a:xfrm>
            <a:off x="1403648" y="2420888"/>
            <a:ext cx="6324600" cy="2895600"/>
            <a:chOff x="2328" y="10032"/>
            <a:chExt cx="7704" cy="3540"/>
          </a:xfrm>
        </p:grpSpPr>
        <p:sp>
          <p:nvSpPr>
            <p:cNvPr id="6" name="Rectangle 5"/>
            <p:cNvSpPr>
              <a:spLocks noChangeArrowheads="1"/>
            </p:cNvSpPr>
            <p:nvPr/>
          </p:nvSpPr>
          <p:spPr bwMode="auto">
            <a:xfrm>
              <a:off x="2328" y="10032"/>
              <a:ext cx="7704" cy="3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6"/>
            <p:cNvSpPr txBox="1">
              <a:spLocks noChangeArrowheads="1"/>
            </p:cNvSpPr>
            <p:nvPr/>
          </p:nvSpPr>
          <p:spPr bwMode="auto">
            <a:xfrm>
              <a:off x="2928" y="10516"/>
              <a:ext cx="3120" cy="8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Key Transformation </a:t>
              </a:r>
            </a:p>
            <a:p>
              <a:pPr algn="ctr">
                <a:spcBef>
                  <a:spcPct val="0"/>
                </a:spcBef>
                <a:buClrTx/>
                <a:buSzTx/>
                <a:buFontTx/>
                <a:buNone/>
              </a:pPr>
              <a:r>
                <a:rPr lang="en-US" altLang="en-US" sz="1200" b="1" i="1"/>
                <a:t>(Compress key from 56 bits to 48 bits)</a:t>
              </a:r>
              <a:endParaRPr lang="en-US" altLang="en-US" sz="1800"/>
            </a:p>
          </p:txBody>
        </p:sp>
        <p:sp>
          <p:nvSpPr>
            <p:cNvPr id="8" name="Text Box 7"/>
            <p:cNvSpPr txBox="1">
              <a:spLocks noChangeArrowheads="1"/>
            </p:cNvSpPr>
            <p:nvPr/>
          </p:nvSpPr>
          <p:spPr bwMode="auto">
            <a:xfrm>
              <a:off x="6432" y="10504"/>
              <a:ext cx="3012" cy="8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Expansion Permutation </a:t>
              </a:r>
              <a:r>
                <a:rPr lang="en-US" altLang="en-US" sz="1200" b="1" i="1"/>
                <a:t>(Expand RPT from 32 bits to 48 bits)</a:t>
              </a:r>
              <a:endParaRPr lang="en-US" altLang="en-US" sz="1800"/>
            </a:p>
          </p:txBody>
        </p:sp>
        <p:sp>
          <p:nvSpPr>
            <p:cNvPr id="9" name="AutoShape 8"/>
            <p:cNvSpPr>
              <a:spLocks noChangeArrowheads="1"/>
            </p:cNvSpPr>
            <p:nvPr/>
          </p:nvSpPr>
          <p:spPr bwMode="auto">
            <a:xfrm>
              <a:off x="3840" y="11884"/>
              <a:ext cx="1308" cy="396"/>
            </a:xfrm>
            <a:prstGeom prst="roundRect">
              <a:avLst>
                <a:gd name="adj" fmla="val 16667"/>
              </a:avLst>
            </a:prstGeom>
            <a:solidFill>
              <a:srgbClr val="808080"/>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t>48-bit Key</a:t>
              </a:r>
              <a:endParaRPr lang="en-US" altLang="en-US" sz="1800"/>
            </a:p>
          </p:txBody>
        </p:sp>
        <p:sp>
          <p:nvSpPr>
            <p:cNvPr id="10" name="AutoShape 9"/>
            <p:cNvSpPr>
              <a:spLocks noChangeArrowheads="1"/>
            </p:cNvSpPr>
            <p:nvPr/>
          </p:nvSpPr>
          <p:spPr bwMode="auto">
            <a:xfrm>
              <a:off x="7332" y="11884"/>
              <a:ext cx="1308" cy="396"/>
            </a:xfrm>
            <a:prstGeom prst="roundRect">
              <a:avLst>
                <a:gd name="adj" fmla="val 16667"/>
              </a:avLst>
            </a:prstGeom>
            <a:solidFill>
              <a:srgbClr val="808080"/>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t>48-bit RPT</a:t>
              </a:r>
              <a:endParaRPr lang="en-US" altLang="en-US" sz="1800"/>
            </a:p>
          </p:txBody>
        </p:sp>
        <p:sp>
          <p:nvSpPr>
            <p:cNvPr id="11" name="Text Box 10" descr="Dotted grid"/>
            <p:cNvSpPr txBox="1">
              <a:spLocks noChangeArrowheads="1"/>
            </p:cNvSpPr>
            <p:nvPr/>
          </p:nvSpPr>
          <p:spPr bwMode="auto">
            <a:xfrm>
              <a:off x="5856" y="11872"/>
              <a:ext cx="768" cy="432"/>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XOR</a:t>
              </a:r>
              <a:endParaRPr lang="en-US" altLang="en-US" sz="1800"/>
            </a:p>
          </p:txBody>
        </p:sp>
        <p:sp>
          <p:nvSpPr>
            <p:cNvPr id="12" name="Line 11"/>
            <p:cNvSpPr>
              <a:spLocks noChangeShapeType="1"/>
            </p:cNvSpPr>
            <p:nvPr/>
          </p:nvSpPr>
          <p:spPr bwMode="auto">
            <a:xfrm>
              <a:off x="5148" y="12088"/>
              <a:ext cx="7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6624" y="12088"/>
              <a:ext cx="708"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 name="AutoShape 13"/>
            <p:cNvSpPr>
              <a:spLocks noChangeArrowheads="1"/>
            </p:cNvSpPr>
            <p:nvPr/>
          </p:nvSpPr>
          <p:spPr bwMode="auto">
            <a:xfrm>
              <a:off x="4368" y="11416"/>
              <a:ext cx="252" cy="444"/>
            </a:xfrm>
            <a:prstGeom prst="downArrow">
              <a:avLst>
                <a:gd name="adj1" fmla="val 50000"/>
                <a:gd name="adj2" fmla="val 44048"/>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 name="AutoShape 14"/>
            <p:cNvSpPr>
              <a:spLocks noChangeArrowheads="1"/>
            </p:cNvSpPr>
            <p:nvPr/>
          </p:nvSpPr>
          <p:spPr bwMode="auto">
            <a:xfrm>
              <a:off x="7920" y="11404"/>
              <a:ext cx="252" cy="444"/>
            </a:xfrm>
            <a:prstGeom prst="downArrow">
              <a:avLst>
                <a:gd name="adj1" fmla="val 50000"/>
                <a:gd name="adj2" fmla="val 44048"/>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6" name="Text Box 15"/>
            <p:cNvSpPr txBox="1">
              <a:spLocks noChangeArrowheads="1"/>
            </p:cNvSpPr>
            <p:nvPr/>
          </p:nvSpPr>
          <p:spPr bwMode="auto">
            <a:xfrm>
              <a:off x="5316" y="12770"/>
              <a:ext cx="2004"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S-box Substitution</a:t>
              </a:r>
              <a:endParaRPr lang="en-US" altLang="en-US" sz="1800"/>
            </a:p>
          </p:txBody>
        </p:sp>
        <p:sp>
          <p:nvSpPr>
            <p:cNvPr id="17" name="AutoShape 16"/>
            <p:cNvSpPr>
              <a:spLocks noChangeArrowheads="1"/>
            </p:cNvSpPr>
            <p:nvPr/>
          </p:nvSpPr>
          <p:spPr bwMode="auto">
            <a:xfrm>
              <a:off x="6216" y="12302"/>
              <a:ext cx="216" cy="480"/>
            </a:xfrm>
            <a:prstGeom prst="downArrow">
              <a:avLst>
                <a:gd name="adj1" fmla="val 50000"/>
                <a:gd name="adj2" fmla="val 5555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101947141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It takes as an input a 48-bit block and produces as an output a 32-bit block.</a:t>
            </a:r>
          </a:p>
          <a:p>
            <a:pPr>
              <a:buClrTx/>
              <a:buChar char="•"/>
            </a:pPr>
            <a:r>
              <a:rPr lang="en-US" altLang="en-US" sz="3200" dirty="0">
                <a:solidFill>
                  <a:prstClr val="black"/>
                </a:solidFill>
              </a:rPr>
              <a:t>Divides the input block into 8 substitution boxes (also called as S-boxes).</a:t>
            </a:r>
          </a:p>
          <a:p>
            <a:pPr>
              <a:buClrTx/>
              <a:buChar char="•"/>
            </a:pPr>
            <a:r>
              <a:rPr lang="en-US" altLang="en-US" sz="3200" dirty="0">
                <a:solidFill>
                  <a:prstClr val="black"/>
                </a:solidFill>
              </a:rPr>
              <a:t>Each S-box has a 6-bit input and a 4-bit output.</a:t>
            </a:r>
          </a:p>
          <a:p>
            <a:pPr>
              <a:buClrTx/>
              <a:buChar char="•"/>
            </a:pPr>
            <a:r>
              <a:rPr lang="en-US" altLang="en-US" sz="3200" dirty="0">
                <a:solidFill>
                  <a:prstClr val="black"/>
                </a:solidFill>
              </a:rPr>
              <a:t>Each S-box transforms the 6-bit input into a 4-bit output as shown.</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S-box substitution</a:t>
            </a:r>
            <a:endParaRPr lang="en-US" sz="3200" dirty="0">
              <a:latin typeface="+mj-lt"/>
              <a:ea typeface="+mj-ea"/>
              <a:cs typeface="+mj-cs"/>
            </a:endParaRPr>
          </a:p>
        </p:txBody>
      </p:sp>
    </p:spTree>
    <p:extLst>
      <p:ext uri="{BB962C8B-B14F-4D97-AF65-F5344CB8AC3E}">
        <p14:creationId xmlns:p14="http://schemas.microsoft.com/office/powerpoint/2010/main" val="81068194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S-Box Substitution</a:t>
            </a:r>
            <a:endParaRPr lang="en-US" sz="3200" dirty="0">
              <a:latin typeface="+mj-lt"/>
              <a:ea typeface="+mj-ea"/>
              <a:cs typeface="+mj-cs"/>
            </a:endParaRPr>
          </a:p>
        </p:txBody>
      </p:sp>
      <p:grpSp>
        <p:nvGrpSpPr>
          <p:cNvPr id="5" name="Group 4"/>
          <p:cNvGrpSpPr>
            <a:grpSpLocks/>
          </p:cNvGrpSpPr>
          <p:nvPr/>
        </p:nvGrpSpPr>
        <p:grpSpPr bwMode="auto">
          <a:xfrm>
            <a:off x="971600" y="2204864"/>
            <a:ext cx="7543800" cy="3429000"/>
            <a:chOff x="1776" y="3156"/>
            <a:chExt cx="8676" cy="4848"/>
          </a:xfrm>
        </p:grpSpPr>
        <p:sp>
          <p:nvSpPr>
            <p:cNvPr id="6" name="Rectangle 5"/>
            <p:cNvSpPr>
              <a:spLocks noChangeArrowheads="1"/>
            </p:cNvSpPr>
            <p:nvPr/>
          </p:nvSpPr>
          <p:spPr bwMode="auto">
            <a:xfrm>
              <a:off x="1776" y="3156"/>
              <a:ext cx="8676" cy="484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7" name="Text Box 6"/>
            <p:cNvSpPr txBox="1">
              <a:spLocks noChangeArrowheads="1"/>
            </p:cNvSpPr>
            <p:nvPr/>
          </p:nvSpPr>
          <p:spPr bwMode="auto">
            <a:xfrm>
              <a:off x="2412" y="3662"/>
              <a:ext cx="7344"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48-bit input block</a:t>
              </a:r>
              <a:endParaRPr lang="en-US" altLang="en-US" sz="1800" dirty="0"/>
            </a:p>
          </p:txBody>
        </p:sp>
        <p:sp>
          <p:nvSpPr>
            <p:cNvPr id="8" name="Text Box 7" descr="5%"/>
            <p:cNvSpPr txBox="1">
              <a:spLocks noChangeArrowheads="1"/>
            </p:cNvSpPr>
            <p:nvPr/>
          </p:nvSpPr>
          <p:spPr bwMode="auto">
            <a:xfrm>
              <a:off x="2568" y="4466"/>
              <a:ext cx="1632" cy="34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6-bit sub-block</a:t>
              </a:r>
              <a:endParaRPr lang="en-US" altLang="en-US" sz="1800" dirty="0"/>
            </a:p>
          </p:txBody>
        </p:sp>
        <p:sp>
          <p:nvSpPr>
            <p:cNvPr id="9" name="Text Box 8" descr="5%"/>
            <p:cNvSpPr txBox="1">
              <a:spLocks noChangeArrowheads="1"/>
            </p:cNvSpPr>
            <p:nvPr/>
          </p:nvSpPr>
          <p:spPr bwMode="auto">
            <a:xfrm>
              <a:off x="4356" y="4466"/>
              <a:ext cx="1632" cy="34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6-bit sub-block</a:t>
              </a:r>
              <a:endParaRPr lang="en-US" altLang="en-US" sz="1800" dirty="0"/>
            </a:p>
          </p:txBody>
        </p:sp>
        <p:sp>
          <p:nvSpPr>
            <p:cNvPr id="10" name="Text Box 9" descr="5%"/>
            <p:cNvSpPr txBox="1">
              <a:spLocks noChangeArrowheads="1"/>
            </p:cNvSpPr>
            <p:nvPr/>
          </p:nvSpPr>
          <p:spPr bwMode="auto">
            <a:xfrm>
              <a:off x="7980" y="4454"/>
              <a:ext cx="1632" cy="34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6-bit sub-block</a:t>
              </a:r>
              <a:endParaRPr lang="en-US" altLang="en-US" sz="1800" dirty="0"/>
            </a:p>
          </p:txBody>
        </p:sp>
        <p:sp>
          <p:nvSpPr>
            <p:cNvPr id="11" name="Text Box 10"/>
            <p:cNvSpPr txBox="1">
              <a:spLocks noChangeArrowheads="1"/>
            </p:cNvSpPr>
            <p:nvPr/>
          </p:nvSpPr>
          <p:spPr bwMode="auto">
            <a:xfrm>
              <a:off x="6156" y="5006"/>
              <a:ext cx="163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sym typeface="Symbol" panose="05050102010706020507" pitchFamily="18" charset="2"/>
                </a:rPr>
                <a:t></a:t>
              </a:r>
              <a:endParaRPr lang="en-US" altLang="en-US" sz="1800" dirty="0"/>
            </a:p>
          </p:txBody>
        </p:sp>
        <p:sp>
          <p:nvSpPr>
            <p:cNvPr id="12" name="AutoShape 11"/>
            <p:cNvSpPr>
              <a:spLocks noChangeArrowheads="1"/>
            </p:cNvSpPr>
            <p:nvPr/>
          </p:nvSpPr>
          <p:spPr bwMode="auto">
            <a:xfrm>
              <a:off x="3228" y="4058"/>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13" name="AutoShape 12"/>
            <p:cNvSpPr>
              <a:spLocks noChangeArrowheads="1"/>
            </p:cNvSpPr>
            <p:nvPr/>
          </p:nvSpPr>
          <p:spPr bwMode="auto">
            <a:xfrm>
              <a:off x="5088" y="4058"/>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14" name="AutoShape 13"/>
            <p:cNvSpPr>
              <a:spLocks noChangeArrowheads="1"/>
            </p:cNvSpPr>
            <p:nvPr/>
          </p:nvSpPr>
          <p:spPr bwMode="auto">
            <a:xfrm>
              <a:off x="8676" y="4046"/>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15" name="Oval 14"/>
            <p:cNvSpPr>
              <a:spLocks noChangeArrowheads="1"/>
            </p:cNvSpPr>
            <p:nvPr/>
          </p:nvSpPr>
          <p:spPr bwMode="auto">
            <a:xfrm>
              <a:off x="2724" y="5222"/>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S-box 1</a:t>
              </a:r>
              <a:endParaRPr lang="en-US" altLang="en-US" sz="1800" dirty="0"/>
            </a:p>
          </p:txBody>
        </p:sp>
        <p:sp>
          <p:nvSpPr>
            <p:cNvPr id="16" name="Line 15"/>
            <p:cNvSpPr>
              <a:spLocks noChangeShapeType="1"/>
            </p:cNvSpPr>
            <p:nvPr/>
          </p:nvSpPr>
          <p:spPr bwMode="auto">
            <a:xfrm>
              <a:off x="3000" y="4814"/>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 name="Line 16"/>
            <p:cNvSpPr>
              <a:spLocks noChangeShapeType="1"/>
            </p:cNvSpPr>
            <p:nvPr/>
          </p:nvSpPr>
          <p:spPr bwMode="auto">
            <a:xfrm>
              <a:off x="3132" y="4814"/>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8" name="Line 17"/>
            <p:cNvSpPr>
              <a:spLocks noChangeShapeType="1"/>
            </p:cNvSpPr>
            <p:nvPr/>
          </p:nvSpPr>
          <p:spPr bwMode="auto">
            <a:xfrm flipH="1">
              <a:off x="3252" y="4826"/>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9" name="Line 18"/>
            <p:cNvSpPr>
              <a:spLocks noChangeShapeType="1"/>
            </p:cNvSpPr>
            <p:nvPr/>
          </p:nvSpPr>
          <p:spPr bwMode="auto">
            <a:xfrm>
              <a:off x="3372" y="4826"/>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0" name="Line 19"/>
            <p:cNvSpPr>
              <a:spLocks noChangeShapeType="1"/>
            </p:cNvSpPr>
            <p:nvPr/>
          </p:nvSpPr>
          <p:spPr bwMode="auto">
            <a:xfrm>
              <a:off x="3492" y="4814"/>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1" name="Line 20"/>
            <p:cNvSpPr>
              <a:spLocks noChangeShapeType="1"/>
            </p:cNvSpPr>
            <p:nvPr/>
          </p:nvSpPr>
          <p:spPr bwMode="auto">
            <a:xfrm flipH="1">
              <a:off x="3612"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2" name="Oval 21"/>
            <p:cNvSpPr>
              <a:spLocks noChangeArrowheads="1"/>
            </p:cNvSpPr>
            <p:nvPr/>
          </p:nvSpPr>
          <p:spPr bwMode="auto">
            <a:xfrm>
              <a:off x="4572" y="5234"/>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S-box 2</a:t>
              </a:r>
              <a:endParaRPr lang="en-US" altLang="en-US" sz="1800" dirty="0"/>
            </a:p>
          </p:txBody>
        </p:sp>
        <p:sp>
          <p:nvSpPr>
            <p:cNvPr id="23" name="Line 22"/>
            <p:cNvSpPr>
              <a:spLocks noChangeShapeType="1"/>
            </p:cNvSpPr>
            <p:nvPr/>
          </p:nvSpPr>
          <p:spPr bwMode="auto">
            <a:xfrm>
              <a:off x="4848" y="4826"/>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4" name="Line 23"/>
            <p:cNvSpPr>
              <a:spLocks noChangeShapeType="1"/>
            </p:cNvSpPr>
            <p:nvPr/>
          </p:nvSpPr>
          <p:spPr bwMode="auto">
            <a:xfrm>
              <a:off x="4980"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5" name="Line 24"/>
            <p:cNvSpPr>
              <a:spLocks noChangeShapeType="1"/>
            </p:cNvSpPr>
            <p:nvPr/>
          </p:nvSpPr>
          <p:spPr bwMode="auto">
            <a:xfrm flipH="1">
              <a:off x="5100" y="4826"/>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6" name="Line 25"/>
            <p:cNvSpPr>
              <a:spLocks noChangeShapeType="1"/>
            </p:cNvSpPr>
            <p:nvPr/>
          </p:nvSpPr>
          <p:spPr bwMode="auto">
            <a:xfrm>
              <a:off x="5220" y="4814"/>
              <a:ext cx="0" cy="4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7" name="Line 26"/>
            <p:cNvSpPr>
              <a:spLocks noChangeShapeType="1"/>
            </p:cNvSpPr>
            <p:nvPr/>
          </p:nvSpPr>
          <p:spPr bwMode="auto">
            <a:xfrm>
              <a:off x="5340"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8" name="Line 27"/>
            <p:cNvSpPr>
              <a:spLocks noChangeShapeType="1"/>
            </p:cNvSpPr>
            <p:nvPr/>
          </p:nvSpPr>
          <p:spPr bwMode="auto">
            <a:xfrm flipH="1">
              <a:off x="5460" y="4814"/>
              <a:ext cx="0" cy="4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9" name="Oval 28"/>
            <p:cNvSpPr>
              <a:spLocks noChangeArrowheads="1"/>
            </p:cNvSpPr>
            <p:nvPr/>
          </p:nvSpPr>
          <p:spPr bwMode="auto">
            <a:xfrm>
              <a:off x="8232" y="5198"/>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S-box 8</a:t>
              </a:r>
              <a:endParaRPr lang="en-US" altLang="en-US" sz="1800" dirty="0"/>
            </a:p>
          </p:txBody>
        </p:sp>
        <p:sp>
          <p:nvSpPr>
            <p:cNvPr id="30" name="Line 29"/>
            <p:cNvSpPr>
              <a:spLocks noChangeShapeType="1"/>
            </p:cNvSpPr>
            <p:nvPr/>
          </p:nvSpPr>
          <p:spPr bwMode="auto">
            <a:xfrm>
              <a:off x="8508" y="4802"/>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1" name="Line 30"/>
            <p:cNvSpPr>
              <a:spLocks noChangeShapeType="1"/>
            </p:cNvSpPr>
            <p:nvPr/>
          </p:nvSpPr>
          <p:spPr bwMode="auto">
            <a:xfrm flipH="1">
              <a:off x="8640" y="4814"/>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2" name="Line 31"/>
            <p:cNvSpPr>
              <a:spLocks noChangeShapeType="1"/>
            </p:cNvSpPr>
            <p:nvPr/>
          </p:nvSpPr>
          <p:spPr bwMode="auto">
            <a:xfrm flipH="1">
              <a:off x="8760" y="4802"/>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3" name="Line 32"/>
            <p:cNvSpPr>
              <a:spLocks noChangeShapeType="1"/>
            </p:cNvSpPr>
            <p:nvPr/>
          </p:nvSpPr>
          <p:spPr bwMode="auto">
            <a:xfrm>
              <a:off x="8880" y="4802"/>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4" name="Line 33"/>
            <p:cNvSpPr>
              <a:spLocks noChangeShapeType="1"/>
            </p:cNvSpPr>
            <p:nvPr/>
          </p:nvSpPr>
          <p:spPr bwMode="auto">
            <a:xfrm>
              <a:off x="9000" y="4814"/>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5" name="Line 34"/>
            <p:cNvSpPr>
              <a:spLocks noChangeShapeType="1"/>
            </p:cNvSpPr>
            <p:nvPr/>
          </p:nvSpPr>
          <p:spPr bwMode="auto">
            <a:xfrm flipH="1">
              <a:off x="9120" y="4802"/>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6" name="Line 35"/>
            <p:cNvSpPr>
              <a:spLocks noChangeShapeType="1"/>
            </p:cNvSpPr>
            <p:nvPr/>
          </p:nvSpPr>
          <p:spPr bwMode="auto">
            <a:xfrm>
              <a:off x="3168"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7" name="Line 36"/>
            <p:cNvSpPr>
              <a:spLocks noChangeShapeType="1"/>
            </p:cNvSpPr>
            <p:nvPr/>
          </p:nvSpPr>
          <p:spPr bwMode="auto">
            <a:xfrm flipH="1">
              <a:off x="3288" y="5870"/>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8" name="Line 37"/>
            <p:cNvSpPr>
              <a:spLocks noChangeShapeType="1"/>
            </p:cNvSpPr>
            <p:nvPr/>
          </p:nvSpPr>
          <p:spPr bwMode="auto">
            <a:xfrm>
              <a:off x="3408" y="5870"/>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9" name="Line 38"/>
            <p:cNvSpPr>
              <a:spLocks noChangeShapeType="1"/>
            </p:cNvSpPr>
            <p:nvPr/>
          </p:nvSpPr>
          <p:spPr bwMode="auto">
            <a:xfrm>
              <a:off x="3528"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0" name="Text Box 39" descr="5%"/>
            <p:cNvSpPr txBox="1">
              <a:spLocks noChangeArrowheads="1"/>
            </p:cNvSpPr>
            <p:nvPr/>
          </p:nvSpPr>
          <p:spPr bwMode="auto">
            <a:xfrm>
              <a:off x="2664" y="6278"/>
              <a:ext cx="1356" cy="384"/>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4-bit output</a:t>
              </a:r>
              <a:endParaRPr lang="en-US" altLang="en-US" sz="1800" dirty="0"/>
            </a:p>
          </p:txBody>
        </p:sp>
        <p:sp>
          <p:nvSpPr>
            <p:cNvPr id="41" name="Line 40"/>
            <p:cNvSpPr>
              <a:spLocks noChangeShapeType="1"/>
            </p:cNvSpPr>
            <p:nvPr/>
          </p:nvSpPr>
          <p:spPr bwMode="auto">
            <a:xfrm>
              <a:off x="5016"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2" name="Line 41"/>
            <p:cNvSpPr>
              <a:spLocks noChangeShapeType="1"/>
            </p:cNvSpPr>
            <p:nvPr/>
          </p:nvSpPr>
          <p:spPr bwMode="auto">
            <a:xfrm flipH="1">
              <a:off x="5136" y="5870"/>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3" name="Line 42"/>
            <p:cNvSpPr>
              <a:spLocks noChangeShapeType="1"/>
            </p:cNvSpPr>
            <p:nvPr/>
          </p:nvSpPr>
          <p:spPr bwMode="auto">
            <a:xfrm>
              <a:off x="5256" y="5870"/>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4" name="Line 43"/>
            <p:cNvSpPr>
              <a:spLocks noChangeShapeType="1"/>
            </p:cNvSpPr>
            <p:nvPr/>
          </p:nvSpPr>
          <p:spPr bwMode="auto">
            <a:xfrm>
              <a:off x="5376"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5" name="Text Box 44" descr="5%"/>
            <p:cNvSpPr txBox="1">
              <a:spLocks noChangeArrowheads="1"/>
            </p:cNvSpPr>
            <p:nvPr/>
          </p:nvSpPr>
          <p:spPr bwMode="auto">
            <a:xfrm>
              <a:off x="4512" y="6278"/>
              <a:ext cx="1356" cy="384"/>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4-bit output</a:t>
              </a:r>
              <a:endParaRPr lang="en-US" altLang="en-US" sz="1800" dirty="0"/>
            </a:p>
          </p:txBody>
        </p:sp>
        <p:sp>
          <p:nvSpPr>
            <p:cNvPr id="46" name="Line 45"/>
            <p:cNvSpPr>
              <a:spLocks noChangeShapeType="1"/>
            </p:cNvSpPr>
            <p:nvPr/>
          </p:nvSpPr>
          <p:spPr bwMode="auto">
            <a:xfrm>
              <a:off x="8676" y="584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7" name="Line 46"/>
            <p:cNvSpPr>
              <a:spLocks noChangeShapeType="1"/>
            </p:cNvSpPr>
            <p:nvPr/>
          </p:nvSpPr>
          <p:spPr bwMode="auto">
            <a:xfrm flipH="1">
              <a:off x="8796" y="5858"/>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8" name="Line 47"/>
            <p:cNvSpPr>
              <a:spLocks noChangeShapeType="1"/>
            </p:cNvSpPr>
            <p:nvPr/>
          </p:nvSpPr>
          <p:spPr bwMode="auto">
            <a:xfrm>
              <a:off x="8916" y="5858"/>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9" name="Line 48"/>
            <p:cNvSpPr>
              <a:spLocks noChangeShapeType="1"/>
            </p:cNvSpPr>
            <p:nvPr/>
          </p:nvSpPr>
          <p:spPr bwMode="auto">
            <a:xfrm>
              <a:off x="9036" y="584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0" name="Text Box 49" descr="5%"/>
            <p:cNvSpPr txBox="1">
              <a:spLocks noChangeArrowheads="1"/>
            </p:cNvSpPr>
            <p:nvPr/>
          </p:nvSpPr>
          <p:spPr bwMode="auto">
            <a:xfrm>
              <a:off x="8172" y="6266"/>
              <a:ext cx="1356" cy="384"/>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4-bit output</a:t>
              </a:r>
              <a:endParaRPr lang="en-US" altLang="en-US" sz="1800" dirty="0"/>
            </a:p>
          </p:txBody>
        </p:sp>
        <p:sp>
          <p:nvSpPr>
            <p:cNvPr id="51" name="Text Box 50"/>
            <p:cNvSpPr txBox="1">
              <a:spLocks noChangeArrowheads="1"/>
            </p:cNvSpPr>
            <p:nvPr/>
          </p:nvSpPr>
          <p:spPr bwMode="auto">
            <a:xfrm>
              <a:off x="3312" y="7082"/>
              <a:ext cx="5628"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32-bit output block</a:t>
              </a:r>
              <a:endParaRPr lang="en-US" altLang="en-US" sz="1800" dirty="0"/>
            </a:p>
          </p:txBody>
        </p:sp>
        <p:sp>
          <p:nvSpPr>
            <p:cNvPr id="52" name="AutoShape 51"/>
            <p:cNvSpPr>
              <a:spLocks noChangeArrowheads="1"/>
            </p:cNvSpPr>
            <p:nvPr/>
          </p:nvSpPr>
          <p:spPr bwMode="auto">
            <a:xfrm>
              <a:off x="3600" y="6674"/>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53" name="AutoShape 52"/>
            <p:cNvSpPr>
              <a:spLocks noChangeArrowheads="1"/>
            </p:cNvSpPr>
            <p:nvPr/>
          </p:nvSpPr>
          <p:spPr bwMode="auto">
            <a:xfrm>
              <a:off x="5100" y="6674"/>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54" name="AutoShape 53"/>
            <p:cNvSpPr>
              <a:spLocks noChangeArrowheads="1"/>
            </p:cNvSpPr>
            <p:nvPr/>
          </p:nvSpPr>
          <p:spPr bwMode="auto">
            <a:xfrm>
              <a:off x="8628" y="6662"/>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grpSp>
    </p:spTree>
    <p:extLst>
      <p:ext uri="{BB962C8B-B14F-4D97-AF65-F5344CB8AC3E}">
        <p14:creationId xmlns:p14="http://schemas.microsoft.com/office/powerpoint/2010/main" val="208000115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2583235"/>
          </a:xfrm>
        </p:spPr>
        <p:txBody>
          <a:bodyPr vert="horz" lIns="91440" tIns="45720" rIns="91440" bIns="45720" rtlCol="0">
            <a:normAutofit fontScale="85000" lnSpcReduction="20000"/>
          </a:bodyPr>
          <a:lstStyle/>
          <a:p>
            <a:pPr>
              <a:buClrTx/>
              <a:buChar char="•"/>
            </a:pPr>
            <a:r>
              <a:rPr lang="en-US" altLang="en-US" sz="3200" dirty="0">
                <a:solidFill>
                  <a:prstClr val="black"/>
                </a:solidFill>
              </a:rPr>
              <a:t>Think of every S-box as a table that has 4 rows (numbered 0 to 3) and 16 columns (numbered 0 to 15). Thus, we have 8 such tables, one for each S-box. At the intersection of every row and column, a 4-bit number (which will be the 4-bit output for that S-box) is present. S-Box 1 is shown below.</a:t>
            </a:r>
          </a:p>
          <a:p>
            <a:pPr>
              <a:buClrTx/>
              <a:buChar char="•"/>
            </a:pPr>
            <a:r>
              <a:rPr lang="en-US" altLang="en-US" sz="3200" dirty="0">
                <a:solidFill>
                  <a:prstClr val="black"/>
                </a:solidFill>
              </a:rPr>
              <a:t>e.g. S-box 2 is shown below.</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S-Box Concept</a:t>
            </a:r>
            <a:endParaRPr lang="en-US" sz="3200" dirty="0">
              <a:latin typeface="+mj-lt"/>
              <a:ea typeface="+mj-ea"/>
              <a:cs typeface="+mj-cs"/>
            </a:endParaRPr>
          </a:p>
        </p:txBody>
      </p:sp>
      <p:graphicFrame>
        <p:nvGraphicFramePr>
          <p:cNvPr id="5" name="Group 92"/>
          <p:cNvGraphicFramePr>
            <a:graphicFrameLocks/>
          </p:cNvGraphicFramePr>
          <p:nvPr>
            <p:extLst>
              <p:ext uri="{D42A27DB-BD31-4B8C-83A1-F6EECF244321}">
                <p14:modId xmlns:p14="http://schemas.microsoft.com/office/powerpoint/2010/main" val="2058778380"/>
              </p:ext>
            </p:extLst>
          </p:nvPr>
        </p:nvGraphicFramePr>
        <p:xfrm>
          <a:off x="1403648" y="4077072"/>
          <a:ext cx="6781800" cy="2057400"/>
        </p:xfrm>
        <a:graphic>
          <a:graphicData uri="http://schemas.openxmlformats.org/drawingml/2006/table">
            <a:tbl>
              <a:tblPr/>
              <a:tblGrid>
                <a:gridCol w="422275">
                  <a:extLst>
                    <a:ext uri="{9D8B030D-6E8A-4147-A177-3AD203B41FA5}"/>
                  </a:extLst>
                </a:gridCol>
                <a:gridCol w="423863">
                  <a:extLst>
                    <a:ext uri="{9D8B030D-6E8A-4147-A177-3AD203B41FA5}"/>
                  </a:extLst>
                </a:gridCol>
                <a:gridCol w="422275">
                  <a:extLst>
                    <a:ext uri="{9D8B030D-6E8A-4147-A177-3AD203B41FA5}"/>
                  </a:extLst>
                </a:gridCol>
                <a:gridCol w="423862">
                  <a:extLst>
                    <a:ext uri="{9D8B030D-6E8A-4147-A177-3AD203B41FA5}"/>
                  </a:extLst>
                </a:gridCol>
                <a:gridCol w="422275">
                  <a:extLst>
                    <a:ext uri="{9D8B030D-6E8A-4147-A177-3AD203B41FA5}"/>
                  </a:extLst>
                </a:gridCol>
                <a:gridCol w="422275">
                  <a:extLst>
                    <a:ext uri="{9D8B030D-6E8A-4147-A177-3AD203B41FA5}"/>
                  </a:extLst>
                </a:gridCol>
                <a:gridCol w="423863">
                  <a:extLst>
                    <a:ext uri="{9D8B030D-6E8A-4147-A177-3AD203B41FA5}"/>
                  </a:extLst>
                </a:gridCol>
                <a:gridCol w="422275">
                  <a:extLst>
                    <a:ext uri="{9D8B030D-6E8A-4147-A177-3AD203B41FA5}"/>
                  </a:extLst>
                </a:gridCol>
                <a:gridCol w="425450">
                  <a:extLst>
                    <a:ext uri="{9D8B030D-6E8A-4147-A177-3AD203B41FA5}"/>
                  </a:extLst>
                </a:gridCol>
                <a:gridCol w="423862">
                  <a:extLst>
                    <a:ext uri="{9D8B030D-6E8A-4147-A177-3AD203B41FA5}"/>
                  </a:extLst>
                </a:gridCol>
                <a:gridCol w="425450">
                  <a:extLst>
                    <a:ext uri="{9D8B030D-6E8A-4147-A177-3AD203B41FA5}"/>
                  </a:extLst>
                </a:gridCol>
                <a:gridCol w="425450">
                  <a:extLst>
                    <a:ext uri="{9D8B030D-6E8A-4147-A177-3AD203B41FA5}"/>
                  </a:extLst>
                </a:gridCol>
                <a:gridCol w="423863">
                  <a:extLst>
                    <a:ext uri="{9D8B030D-6E8A-4147-A177-3AD203B41FA5}"/>
                  </a:extLst>
                </a:gridCol>
                <a:gridCol w="425450">
                  <a:extLst>
                    <a:ext uri="{9D8B030D-6E8A-4147-A177-3AD203B41FA5}"/>
                  </a:extLst>
                </a:gridCol>
                <a:gridCol w="423862">
                  <a:extLst>
                    <a:ext uri="{9D8B030D-6E8A-4147-A177-3AD203B41FA5}"/>
                  </a:extLst>
                </a:gridCol>
                <a:gridCol w="425450">
                  <a:extLst>
                    <a:ext uri="{9D8B030D-6E8A-4147-A177-3AD203B41FA5}"/>
                  </a:extLst>
                </a:gridCol>
              </a:tblGrid>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332885469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The 6-bit input indicates which row and column, and therefore, which intersection is to be selected, and thus, determines the 4-bit output. </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S-box Logic</a:t>
            </a:r>
            <a:endParaRPr lang="en-US" sz="3200" dirty="0">
              <a:latin typeface="+mj-lt"/>
              <a:ea typeface="+mj-ea"/>
              <a:cs typeface="+mj-cs"/>
            </a:endParaRPr>
          </a:p>
        </p:txBody>
      </p:sp>
      <p:grpSp>
        <p:nvGrpSpPr>
          <p:cNvPr id="6" name="Group 5"/>
          <p:cNvGrpSpPr>
            <a:grpSpLocks/>
          </p:cNvGrpSpPr>
          <p:nvPr/>
        </p:nvGrpSpPr>
        <p:grpSpPr bwMode="auto">
          <a:xfrm>
            <a:off x="1835696" y="3551237"/>
            <a:ext cx="5832648" cy="2468563"/>
            <a:chOff x="2904" y="10500"/>
            <a:chExt cx="6780" cy="3156"/>
          </a:xfrm>
        </p:grpSpPr>
        <p:sp>
          <p:nvSpPr>
            <p:cNvPr id="7" name="Rectangle 6"/>
            <p:cNvSpPr>
              <a:spLocks noChangeArrowheads="1"/>
            </p:cNvSpPr>
            <p:nvPr/>
          </p:nvSpPr>
          <p:spPr bwMode="auto">
            <a:xfrm>
              <a:off x="2904" y="10500"/>
              <a:ext cx="6780" cy="315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8" name="Text Box 6"/>
            <p:cNvSpPr txBox="1">
              <a:spLocks noChangeArrowheads="1"/>
            </p:cNvSpPr>
            <p:nvPr/>
          </p:nvSpPr>
          <p:spPr bwMode="auto">
            <a:xfrm>
              <a:off x="4596" y="11040"/>
              <a:ext cx="3408"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b2	b3	b4	b5</a:t>
              </a:r>
              <a:endParaRPr lang="en-US" altLang="en-US" sz="1800" dirty="0"/>
            </a:p>
          </p:txBody>
        </p:sp>
        <p:sp>
          <p:nvSpPr>
            <p:cNvPr id="9" name="Text Box 7" descr="Dotted grid"/>
            <p:cNvSpPr txBox="1">
              <a:spLocks noChangeArrowheads="1"/>
            </p:cNvSpPr>
            <p:nvPr/>
          </p:nvSpPr>
          <p:spPr bwMode="auto">
            <a:xfrm>
              <a:off x="3480" y="11052"/>
              <a:ext cx="780" cy="40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b1</a:t>
              </a:r>
              <a:endParaRPr lang="en-US" altLang="en-US" sz="1800" dirty="0"/>
            </a:p>
          </p:txBody>
        </p:sp>
        <p:sp>
          <p:nvSpPr>
            <p:cNvPr id="10" name="Text Box 8" descr="Dotted grid"/>
            <p:cNvSpPr txBox="1">
              <a:spLocks noChangeArrowheads="1"/>
            </p:cNvSpPr>
            <p:nvPr/>
          </p:nvSpPr>
          <p:spPr bwMode="auto">
            <a:xfrm>
              <a:off x="8292" y="11028"/>
              <a:ext cx="780" cy="40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b6</a:t>
              </a:r>
              <a:endParaRPr lang="en-US" altLang="en-US" sz="1800" dirty="0"/>
            </a:p>
          </p:txBody>
        </p:sp>
        <p:sp>
          <p:nvSpPr>
            <p:cNvPr id="11" name="Line 9"/>
            <p:cNvSpPr>
              <a:spLocks noChangeShapeType="1"/>
            </p:cNvSpPr>
            <p:nvPr/>
          </p:nvSpPr>
          <p:spPr bwMode="auto">
            <a:xfrm>
              <a:off x="3804" y="11472"/>
              <a:ext cx="0" cy="14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 name="Line 10"/>
            <p:cNvSpPr>
              <a:spLocks noChangeShapeType="1"/>
            </p:cNvSpPr>
            <p:nvPr/>
          </p:nvSpPr>
          <p:spPr bwMode="auto">
            <a:xfrm>
              <a:off x="8640" y="11448"/>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 name="Text Box 11"/>
            <p:cNvSpPr txBox="1">
              <a:spLocks noChangeArrowheads="1"/>
            </p:cNvSpPr>
            <p:nvPr/>
          </p:nvSpPr>
          <p:spPr bwMode="auto">
            <a:xfrm>
              <a:off x="5112" y="11832"/>
              <a:ext cx="2184"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4-bit column number</a:t>
              </a:r>
              <a:endParaRPr lang="en-US" altLang="en-US" sz="1800" dirty="0"/>
            </a:p>
          </p:txBody>
        </p:sp>
        <p:sp>
          <p:nvSpPr>
            <p:cNvPr id="14" name="Text Box 12" descr="Dotted grid"/>
            <p:cNvSpPr txBox="1">
              <a:spLocks noChangeArrowheads="1"/>
            </p:cNvSpPr>
            <p:nvPr/>
          </p:nvSpPr>
          <p:spPr bwMode="auto">
            <a:xfrm>
              <a:off x="5124" y="12660"/>
              <a:ext cx="2184" cy="420"/>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2-bit row number</a:t>
              </a:r>
              <a:endParaRPr lang="en-US" altLang="en-US" sz="1800" dirty="0"/>
            </a:p>
          </p:txBody>
        </p:sp>
        <p:sp>
          <p:nvSpPr>
            <p:cNvPr id="15" name="Line 13"/>
            <p:cNvSpPr>
              <a:spLocks noChangeShapeType="1"/>
            </p:cNvSpPr>
            <p:nvPr/>
          </p:nvSpPr>
          <p:spPr bwMode="auto">
            <a:xfrm>
              <a:off x="3816" y="12936"/>
              <a:ext cx="13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6" name="Line 14"/>
            <p:cNvSpPr>
              <a:spLocks noChangeShapeType="1"/>
            </p:cNvSpPr>
            <p:nvPr/>
          </p:nvSpPr>
          <p:spPr bwMode="auto">
            <a:xfrm flipH="1">
              <a:off x="7296" y="12888"/>
              <a:ext cx="13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7" name="Line 15"/>
            <p:cNvSpPr>
              <a:spLocks noChangeShapeType="1"/>
            </p:cNvSpPr>
            <p:nvPr/>
          </p:nvSpPr>
          <p:spPr bwMode="auto">
            <a:xfrm>
              <a:off x="4608" y="11472"/>
              <a:ext cx="504"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8" name="Line 16"/>
            <p:cNvSpPr>
              <a:spLocks noChangeShapeType="1"/>
            </p:cNvSpPr>
            <p:nvPr/>
          </p:nvSpPr>
          <p:spPr bwMode="auto">
            <a:xfrm flipH="1">
              <a:off x="7296" y="11472"/>
              <a:ext cx="720" cy="3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grpSp>
      <p:sp>
        <p:nvSpPr>
          <p:cNvPr id="19" name="TextBox 18"/>
          <p:cNvSpPr txBox="1"/>
          <p:nvPr/>
        </p:nvSpPr>
        <p:spPr>
          <a:xfrm>
            <a:off x="3216433" y="6168343"/>
            <a:ext cx="3071174" cy="369332"/>
          </a:xfrm>
          <a:prstGeom prst="rect">
            <a:avLst/>
          </a:prstGeom>
          <a:noFill/>
        </p:spPr>
        <p:txBody>
          <a:bodyPr wrap="square" rtlCol="0">
            <a:spAutoFit/>
          </a:bodyPr>
          <a:lstStyle/>
          <a:p>
            <a:pPr algn="ctr"/>
            <a:r>
              <a:rPr lang="en-US" dirty="0" smtClean="0"/>
              <a:t>S-Box Logic</a:t>
            </a:r>
            <a:endParaRPr lang="en-US" dirty="0"/>
          </a:p>
        </p:txBody>
      </p:sp>
    </p:spTree>
    <p:extLst>
      <p:ext uri="{BB962C8B-B14F-4D97-AF65-F5344CB8AC3E}">
        <p14:creationId xmlns:p14="http://schemas.microsoft.com/office/powerpoint/2010/main" val="9928449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62500" lnSpcReduction="20000"/>
          </a:bodyPr>
          <a:lstStyle/>
          <a:p>
            <a:pPr>
              <a:buClrTx/>
              <a:buChar char="•"/>
            </a:pPr>
            <a:r>
              <a:rPr lang="en-US" altLang="en-US" sz="3200" dirty="0">
                <a:solidFill>
                  <a:prstClr val="black"/>
                </a:solidFill>
              </a:rPr>
              <a:t>Suppose the bits 7 to 12 of the 48-bit input (i.e. input to the second box) contain the value 101101 in binary. Therefore, using our said logic, we have (b1, b6) = 11 in binary (i.e. 3 in decimal), and (b2, b3, b4, b5) = 0110 in binary (i.e. 6 in decimal). Thus the output of S-box 2 at the intersection of row number 3 and column number 6 will be selected, which is 4 in decimal, and 0100 in binary. (rows and columns are counted from 0, not 1).</a:t>
            </a:r>
          </a:p>
          <a:p>
            <a:pPr>
              <a:buClrTx/>
              <a:buChar char="•"/>
            </a:pPr>
            <a:r>
              <a:rPr lang="en-US" altLang="en-US" sz="3200" dirty="0">
                <a:solidFill>
                  <a:prstClr val="black"/>
                </a:solidFill>
              </a:rPr>
              <a:t>Thus input bits 101101 (6-bit input block) is converted to 0100 (4-bit output block).</a:t>
            </a:r>
          </a:p>
          <a:p>
            <a:pPr>
              <a:buClrTx/>
              <a:buChar char="•"/>
            </a:pPr>
            <a:r>
              <a:rPr lang="en-US" altLang="en-US" sz="3200" dirty="0">
                <a:solidFill>
                  <a:prstClr val="black"/>
                </a:solidFill>
              </a:rPr>
              <a:t>Other 6-bit input blocks are converted to 4-bit output blocks similarly.</a:t>
            </a:r>
          </a:p>
          <a:p>
            <a:pPr>
              <a:buClrTx/>
              <a:buChar char="•"/>
            </a:pPr>
            <a:r>
              <a:rPr lang="en-US" altLang="en-US" sz="3200" dirty="0">
                <a:solidFill>
                  <a:prstClr val="black"/>
                </a:solidFill>
              </a:rPr>
              <a:t>This is how 48-bit input block is converted to 32-bit output block using S-box Substitution Process.</a:t>
            </a:r>
          </a:p>
          <a:p>
            <a:pPr>
              <a:buClrTx/>
              <a:buChar char="•"/>
            </a:pPr>
            <a:r>
              <a:rPr lang="en-US" altLang="en-US" sz="3200" dirty="0">
                <a:solidFill>
                  <a:prstClr val="black"/>
                </a:solidFill>
              </a:rPr>
              <a:t>The outputs of all the S-boxes are then combined to form a 32-bit block, which is given to the next stage of a round, the P-box Permutation process. </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S-box Logic: Example</a:t>
            </a:r>
            <a:endParaRPr lang="en-US" sz="3200" dirty="0">
              <a:latin typeface="+mj-lt"/>
              <a:ea typeface="+mj-ea"/>
              <a:cs typeface="+mj-cs"/>
            </a:endParaRPr>
          </a:p>
        </p:txBody>
      </p:sp>
    </p:spTree>
    <p:extLst>
      <p:ext uri="{BB962C8B-B14F-4D97-AF65-F5344CB8AC3E}">
        <p14:creationId xmlns:p14="http://schemas.microsoft.com/office/powerpoint/2010/main" val="209709967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S-Box Logic: Example</a:t>
            </a:r>
            <a:endParaRPr lang="en-US" sz="3200" dirty="0">
              <a:latin typeface="+mj-lt"/>
              <a:ea typeface="+mj-ea"/>
              <a:cs typeface="+mj-cs"/>
            </a:endParaRPr>
          </a:p>
        </p:txBody>
      </p:sp>
      <p:grpSp>
        <p:nvGrpSpPr>
          <p:cNvPr id="5" name="Group 4"/>
          <p:cNvGrpSpPr>
            <a:grpSpLocks/>
          </p:cNvGrpSpPr>
          <p:nvPr/>
        </p:nvGrpSpPr>
        <p:grpSpPr bwMode="auto">
          <a:xfrm>
            <a:off x="1600200" y="2590800"/>
            <a:ext cx="6400800" cy="2667000"/>
            <a:chOff x="2904" y="10500"/>
            <a:chExt cx="6780" cy="3156"/>
          </a:xfrm>
        </p:grpSpPr>
        <p:sp>
          <p:nvSpPr>
            <p:cNvPr id="6" name="Rectangle 5"/>
            <p:cNvSpPr>
              <a:spLocks noChangeArrowheads="1"/>
            </p:cNvSpPr>
            <p:nvPr/>
          </p:nvSpPr>
          <p:spPr bwMode="auto">
            <a:xfrm>
              <a:off x="2904" y="10500"/>
              <a:ext cx="6780" cy="315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dirty="0">
                <a:latin typeface="Times New Roman" panose="02020603050405020304" pitchFamily="18" charset="0"/>
              </a:endParaRPr>
            </a:p>
          </p:txBody>
        </p:sp>
        <p:sp>
          <p:nvSpPr>
            <p:cNvPr id="7" name="Text Box 6"/>
            <p:cNvSpPr txBox="1">
              <a:spLocks noChangeArrowheads="1"/>
            </p:cNvSpPr>
            <p:nvPr/>
          </p:nvSpPr>
          <p:spPr bwMode="auto">
            <a:xfrm>
              <a:off x="4596" y="11040"/>
              <a:ext cx="3408"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0	1	1	0</a:t>
              </a:r>
              <a:endParaRPr lang="en-US" altLang="en-US" sz="1800" dirty="0"/>
            </a:p>
          </p:txBody>
        </p:sp>
        <p:sp>
          <p:nvSpPr>
            <p:cNvPr id="8" name="Text Box 7" descr="Dotted grid"/>
            <p:cNvSpPr txBox="1">
              <a:spLocks noChangeArrowheads="1"/>
            </p:cNvSpPr>
            <p:nvPr/>
          </p:nvSpPr>
          <p:spPr bwMode="auto">
            <a:xfrm>
              <a:off x="3480" y="11052"/>
              <a:ext cx="780" cy="40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1</a:t>
              </a:r>
              <a:endParaRPr lang="en-US" altLang="en-US" sz="1800" dirty="0"/>
            </a:p>
          </p:txBody>
        </p:sp>
        <p:sp>
          <p:nvSpPr>
            <p:cNvPr id="9" name="Text Box 8" descr="Dotted grid"/>
            <p:cNvSpPr txBox="1">
              <a:spLocks noChangeArrowheads="1"/>
            </p:cNvSpPr>
            <p:nvPr/>
          </p:nvSpPr>
          <p:spPr bwMode="auto">
            <a:xfrm>
              <a:off x="8292" y="11028"/>
              <a:ext cx="780" cy="408"/>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dirty="0">
                  <a:latin typeface="Times New Roman" panose="02020603050405020304" pitchFamily="18" charset="0"/>
                </a:rPr>
                <a:t>1</a:t>
              </a:r>
              <a:endParaRPr lang="en-US" altLang="en-US" sz="1800" dirty="0"/>
            </a:p>
          </p:txBody>
        </p:sp>
        <p:sp>
          <p:nvSpPr>
            <p:cNvPr id="10" name="Line 9"/>
            <p:cNvSpPr>
              <a:spLocks noChangeShapeType="1"/>
            </p:cNvSpPr>
            <p:nvPr/>
          </p:nvSpPr>
          <p:spPr bwMode="auto">
            <a:xfrm>
              <a:off x="3804" y="11472"/>
              <a:ext cx="0" cy="14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 name="Line 10"/>
            <p:cNvSpPr>
              <a:spLocks noChangeShapeType="1"/>
            </p:cNvSpPr>
            <p:nvPr/>
          </p:nvSpPr>
          <p:spPr bwMode="auto">
            <a:xfrm>
              <a:off x="8640" y="11448"/>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 name="Text Box 11"/>
            <p:cNvSpPr txBox="1">
              <a:spLocks noChangeArrowheads="1"/>
            </p:cNvSpPr>
            <p:nvPr/>
          </p:nvSpPr>
          <p:spPr bwMode="auto">
            <a:xfrm>
              <a:off x="5112" y="11832"/>
              <a:ext cx="2184"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dirty="0"/>
                <a:t>Column: 0110 in binary, 6 in decimal</a:t>
              </a:r>
            </a:p>
          </p:txBody>
        </p:sp>
        <p:sp>
          <p:nvSpPr>
            <p:cNvPr id="13" name="Text Box 12" descr="Dotted grid"/>
            <p:cNvSpPr txBox="1">
              <a:spLocks noChangeArrowheads="1"/>
            </p:cNvSpPr>
            <p:nvPr/>
          </p:nvSpPr>
          <p:spPr bwMode="auto">
            <a:xfrm>
              <a:off x="5124" y="12660"/>
              <a:ext cx="2184" cy="420"/>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dirty="0"/>
                <a:t>Row: 11 in binary, 3 in decimal</a:t>
              </a:r>
            </a:p>
          </p:txBody>
        </p:sp>
        <p:sp>
          <p:nvSpPr>
            <p:cNvPr id="14" name="Line 13"/>
            <p:cNvSpPr>
              <a:spLocks noChangeShapeType="1"/>
            </p:cNvSpPr>
            <p:nvPr/>
          </p:nvSpPr>
          <p:spPr bwMode="auto">
            <a:xfrm>
              <a:off x="3816" y="12936"/>
              <a:ext cx="13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5" name="Line 14"/>
            <p:cNvSpPr>
              <a:spLocks noChangeShapeType="1"/>
            </p:cNvSpPr>
            <p:nvPr/>
          </p:nvSpPr>
          <p:spPr bwMode="auto">
            <a:xfrm flipH="1">
              <a:off x="7296" y="12888"/>
              <a:ext cx="13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6" name="Line 15"/>
            <p:cNvSpPr>
              <a:spLocks noChangeShapeType="1"/>
            </p:cNvSpPr>
            <p:nvPr/>
          </p:nvSpPr>
          <p:spPr bwMode="auto">
            <a:xfrm>
              <a:off x="4608" y="11472"/>
              <a:ext cx="504"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7" name="Line 16"/>
            <p:cNvSpPr>
              <a:spLocks noChangeShapeType="1"/>
            </p:cNvSpPr>
            <p:nvPr/>
          </p:nvSpPr>
          <p:spPr bwMode="auto">
            <a:xfrm flipH="1">
              <a:off x="7296" y="11472"/>
              <a:ext cx="720" cy="3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grpSp>
    </p:spTree>
    <p:extLst>
      <p:ext uri="{BB962C8B-B14F-4D97-AF65-F5344CB8AC3E}">
        <p14:creationId xmlns:p14="http://schemas.microsoft.com/office/powerpoint/2010/main" val="203657526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The output of S-box is of 32 bits.</a:t>
            </a:r>
          </a:p>
          <a:p>
            <a:pPr>
              <a:buClrTx/>
              <a:buChar char="•"/>
            </a:pPr>
            <a:r>
              <a:rPr lang="en-US" altLang="en-US" sz="3200" dirty="0">
                <a:solidFill>
                  <a:prstClr val="black"/>
                </a:solidFill>
              </a:rPr>
              <a:t>These 32 bits are permuted using a P-box.</a:t>
            </a:r>
          </a:p>
          <a:p>
            <a:pPr>
              <a:buClrTx/>
              <a:buChar char="•"/>
            </a:pPr>
            <a:r>
              <a:rPr lang="en-US" altLang="en-US" sz="3200" dirty="0">
                <a:solidFill>
                  <a:prstClr val="black"/>
                </a:solidFill>
              </a:rPr>
              <a:t>P-box Permutation involves simple permutation without any expansion or compression.</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P-box Permutation</a:t>
            </a:r>
            <a:endParaRPr lang="en-US" sz="3200" dirty="0">
              <a:latin typeface="+mj-lt"/>
              <a:ea typeface="+mj-ea"/>
              <a:cs typeface="+mj-cs"/>
            </a:endParaRPr>
          </a:p>
        </p:txBody>
      </p:sp>
    </p:spTree>
    <p:extLst>
      <p:ext uri="{BB962C8B-B14F-4D97-AF65-F5344CB8AC3E}">
        <p14:creationId xmlns:p14="http://schemas.microsoft.com/office/powerpoint/2010/main" val="429180602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P-Box Permutation</a:t>
            </a:r>
            <a:endParaRPr lang="en-US" sz="3200" dirty="0">
              <a:latin typeface="+mj-lt"/>
              <a:ea typeface="+mj-ea"/>
              <a:cs typeface="+mj-cs"/>
            </a:endParaRPr>
          </a:p>
        </p:txBody>
      </p:sp>
      <p:graphicFrame>
        <p:nvGraphicFramePr>
          <p:cNvPr id="5" name="Group 3"/>
          <p:cNvGraphicFramePr>
            <a:graphicFrameLocks noGrp="1"/>
          </p:cNvGraphicFramePr>
          <p:nvPr>
            <p:ph idx="1"/>
            <p:extLst>
              <p:ext uri="{D42A27DB-BD31-4B8C-83A1-F6EECF244321}">
                <p14:modId xmlns:p14="http://schemas.microsoft.com/office/powerpoint/2010/main" val="2564819834"/>
              </p:ext>
            </p:extLst>
          </p:nvPr>
        </p:nvGraphicFramePr>
        <p:xfrm>
          <a:off x="755576" y="3068960"/>
          <a:ext cx="7772400" cy="1106487"/>
        </p:xfrm>
        <a:graphic>
          <a:graphicData uri="http://schemas.openxmlformats.org/drawingml/2006/table">
            <a:tbl>
              <a:tblPr/>
              <a:tblGrid>
                <a:gridCol w="484187">
                  <a:extLst>
                    <a:ext uri="{9D8B030D-6E8A-4147-A177-3AD203B41FA5}"/>
                  </a:extLst>
                </a:gridCol>
                <a:gridCol w="485775">
                  <a:extLst>
                    <a:ext uri="{9D8B030D-6E8A-4147-A177-3AD203B41FA5}"/>
                  </a:extLst>
                </a:gridCol>
                <a:gridCol w="484188">
                  <a:extLst>
                    <a:ext uri="{9D8B030D-6E8A-4147-A177-3AD203B41FA5}"/>
                  </a:extLst>
                </a:gridCol>
                <a:gridCol w="484187">
                  <a:extLst>
                    <a:ext uri="{9D8B030D-6E8A-4147-A177-3AD203B41FA5}"/>
                  </a:extLst>
                </a:gridCol>
                <a:gridCol w="485775">
                  <a:extLst>
                    <a:ext uri="{9D8B030D-6E8A-4147-A177-3AD203B41FA5}"/>
                  </a:extLst>
                </a:gridCol>
                <a:gridCol w="484188">
                  <a:extLst>
                    <a:ext uri="{9D8B030D-6E8A-4147-A177-3AD203B41FA5}"/>
                  </a:extLst>
                </a:gridCol>
                <a:gridCol w="484187">
                  <a:extLst>
                    <a:ext uri="{9D8B030D-6E8A-4147-A177-3AD203B41FA5}"/>
                  </a:extLst>
                </a:gridCol>
                <a:gridCol w="484188">
                  <a:extLst>
                    <a:ext uri="{9D8B030D-6E8A-4147-A177-3AD203B41FA5}"/>
                  </a:extLst>
                </a:gridCol>
                <a:gridCol w="487362">
                  <a:extLst>
                    <a:ext uri="{9D8B030D-6E8A-4147-A177-3AD203B41FA5}"/>
                  </a:extLst>
                </a:gridCol>
                <a:gridCol w="487363">
                  <a:extLst>
                    <a:ext uri="{9D8B030D-6E8A-4147-A177-3AD203B41FA5}"/>
                  </a:extLst>
                </a:gridCol>
                <a:gridCol w="487362">
                  <a:extLst>
                    <a:ext uri="{9D8B030D-6E8A-4147-A177-3AD203B41FA5}"/>
                  </a:extLst>
                </a:gridCol>
                <a:gridCol w="485775">
                  <a:extLst>
                    <a:ext uri="{9D8B030D-6E8A-4147-A177-3AD203B41FA5}"/>
                  </a:extLst>
                </a:gridCol>
                <a:gridCol w="487363">
                  <a:extLst>
                    <a:ext uri="{9D8B030D-6E8A-4147-A177-3AD203B41FA5}"/>
                  </a:extLst>
                </a:gridCol>
                <a:gridCol w="487362">
                  <a:extLst>
                    <a:ext uri="{9D8B030D-6E8A-4147-A177-3AD203B41FA5}"/>
                  </a:extLst>
                </a:gridCol>
                <a:gridCol w="485775">
                  <a:extLst>
                    <a:ext uri="{9D8B030D-6E8A-4147-A177-3AD203B41FA5}"/>
                  </a:extLst>
                </a:gridCol>
                <a:gridCol w="487363">
                  <a:extLst>
                    <a:ext uri="{9D8B030D-6E8A-4147-A177-3AD203B41FA5}"/>
                  </a:extLst>
                </a:gridCol>
              </a:tblGrid>
              <a:tr h="5540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16</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21</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29</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12</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28</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17</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23</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26</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18</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31</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24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8</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24</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14</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32</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27</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9</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19</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13</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30</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6</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22</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11</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4</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25</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290757956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lnSpcReduction="10000"/>
          </a:bodyPr>
          <a:lstStyle/>
          <a:p>
            <a:pPr>
              <a:buClrTx/>
              <a:buChar char="•"/>
            </a:pPr>
            <a:r>
              <a:rPr lang="en-US" altLang="en-US" sz="3200" dirty="0">
                <a:solidFill>
                  <a:prstClr val="black"/>
                </a:solidFill>
              </a:rPr>
              <a:t>After performing all these operations only on the 32-bit right half portion of the 64-bit original plain text (i.e. on the RPT), the LPT is </a:t>
            </a:r>
            <a:r>
              <a:rPr lang="en-US" altLang="en-US" sz="3200" dirty="0" err="1">
                <a:solidFill>
                  <a:prstClr val="black"/>
                </a:solidFill>
              </a:rPr>
              <a:t>XORed</a:t>
            </a:r>
            <a:r>
              <a:rPr lang="en-US" altLang="en-US" sz="3200" dirty="0">
                <a:solidFill>
                  <a:prstClr val="black"/>
                </a:solidFill>
              </a:rPr>
              <a:t> with the output produced by P-box permutation.</a:t>
            </a:r>
          </a:p>
          <a:p>
            <a:pPr>
              <a:buClrTx/>
              <a:buChar char="•"/>
            </a:pPr>
            <a:r>
              <a:rPr lang="en-US" altLang="en-US" sz="3200" dirty="0">
                <a:solidFill>
                  <a:prstClr val="black"/>
                </a:solidFill>
              </a:rPr>
              <a:t>The result of this XOR operation becomes the new right half (i.e. RPT).</a:t>
            </a:r>
          </a:p>
          <a:p>
            <a:pPr>
              <a:buClrTx/>
              <a:buChar char="•"/>
            </a:pPr>
            <a:r>
              <a:rPr lang="en-US" altLang="en-US" sz="3200" dirty="0">
                <a:solidFill>
                  <a:prstClr val="black"/>
                </a:solidFill>
              </a:rPr>
              <a:t>The old right half becomes the new left half (i.e. LPT) in a process of swapping as shown.</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XOR and Swap</a:t>
            </a:r>
            <a:endParaRPr lang="en-US" sz="3200" dirty="0">
              <a:latin typeface="+mj-lt"/>
              <a:ea typeface="+mj-ea"/>
              <a:cs typeface="+mj-cs"/>
            </a:endParaRPr>
          </a:p>
        </p:txBody>
      </p:sp>
    </p:spTree>
    <p:extLst>
      <p:ext uri="{BB962C8B-B14F-4D97-AF65-F5344CB8AC3E}">
        <p14:creationId xmlns:p14="http://schemas.microsoft.com/office/powerpoint/2010/main" val="74142599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XOR and Swap</a:t>
            </a:r>
            <a:endParaRPr lang="en-US" sz="3200" dirty="0">
              <a:latin typeface="+mj-lt"/>
              <a:ea typeface="+mj-ea"/>
              <a:cs typeface="+mj-cs"/>
            </a:endParaRPr>
          </a:p>
        </p:txBody>
      </p:sp>
      <p:grpSp>
        <p:nvGrpSpPr>
          <p:cNvPr id="5" name="Group 4"/>
          <p:cNvGrpSpPr>
            <a:grpSpLocks/>
          </p:cNvGrpSpPr>
          <p:nvPr/>
        </p:nvGrpSpPr>
        <p:grpSpPr bwMode="auto">
          <a:xfrm>
            <a:off x="827584" y="1564853"/>
            <a:ext cx="7620000" cy="4816475"/>
            <a:chOff x="2112" y="1380"/>
            <a:chExt cx="8496" cy="6984"/>
          </a:xfrm>
        </p:grpSpPr>
        <p:sp>
          <p:nvSpPr>
            <p:cNvPr id="6" name="Rectangle 5"/>
            <p:cNvSpPr>
              <a:spLocks noChangeArrowheads="1"/>
            </p:cNvSpPr>
            <p:nvPr/>
          </p:nvSpPr>
          <p:spPr bwMode="auto">
            <a:xfrm>
              <a:off x="2112" y="1380"/>
              <a:ext cx="8496" cy="69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 name="Text Box 6"/>
            <p:cNvSpPr txBox="1">
              <a:spLocks noChangeArrowheads="1"/>
            </p:cNvSpPr>
            <p:nvPr/>
          </p:nvSpPr>
          <p:spPr bwMode="auto">
            <a:xfrm>
              <a:off x="2844" y="2017"/>
              <a:ext cx="7008"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Original 64-bit Plain Text Block</a:t>
              </a:r>
              <a:endParaRPr lang="en-US" altLang="en-US" sz="1800"/>
            </a:p>
          </p:txBody>
        </p:sp>
        <p:sp>
          <p:nvSpPr>
            <p:cNvPr id="8" name="Text Box 7"/>
            <p:cNvSpPr txBox="1">
              <a:spLocks noChangeArrowheads="1"/>
            </p:cNvSpPr>
            <p:nvPr/>
          </p:nvSpPr>
          <p:spPr bwMode="auto">
            <a:xfrm>
              <a:off x="2892" y="2893"/>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t>32-bit Left Plain Text (LPT) Block</a:t>
              </a:r>
              <a:endParaRPr lang="en-US" altLang="en-US" sz="1800" dirty="0"/>
            </a:p>
          </p:txBody>
        </p:sp>
        <p:sp>
          <p:nvSpPr>
            <p:cNvPr id="9" name="Text Box 8"/>
            <p:cNvSpPr txBox="1">
              <a:spLocks noChangeArrowheads="1"/>
            </p:cNvSpPr>
            <p:nvPr/>
          </p:nvSpPr>
          <p:spPr bwMode="auto">
            <a:xfrm>
              <a:off x="6420" y="2893"/>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32-bit Right Plain Text (RPT) Block</a:t>
              </a:r>
              <a:endParaRPr lang="en-US" altLang="en-US" sz="1800"/>
            </a:p>
          </p:txBody>
        </p:sp>
        <p:sp>
          <p:nvSpPr>
            <p:cNvPr id="10" name="Text Box 9"/>
            <p:cNvSpPr txBox="1">
              <a:spLocks noChangeArrowheads="1"/>
            </p:cNvSpPr>
            <p:nvPr/>
          </p:nvSpPr>
          <p:spPr bwMode="auto">
            <a:xfrm>
              <a:off x="6960" y="3744"/>
              <a:ext cx="2748" cy="1356"/>
            </a:xfrm>
            <a:prstGeom prst="rect">
              <a:avLst/>
            </a:prstGeom>
            <a:solidFill>
              <a:srgbClr val="FFFFFF"/>
            </a:solidFill>
            <a:ln w="9525" cap="rnd">
              <a:solidFill>
                <a:srgbClr val="000000"/>
              </a:solidFill>
              <a:prstDash val="sysDot"/>
              <a:miter lim="800000"/>
              <a:headEnd/>
              <a:tailEnd/>
            </a:ln>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None/>
              </a:pPr>
              <a:r>
                <a:rPr lang="en-US" altLang="en-US" sz="1200" b="1"/>
                <a:t>Key Transformation(</a:t>
              </a:r>
              <a:r>
                <a:rPr lang="en-US" altLang="en-US" sz="1200" b="1" i="1"/>
                <a:t>not involved directly</a:t>
              </a:r>
              <a:r>
                <a:rPr lang="en-US" altLang="en-US" sz="1200" b="1"/>
                <a:t>)</a:t>
              </a:r>
            </a:p>
            <a:p>
              <a:pPr>
                <a:spcBef>
                  <a:spcPct val="0"/>
                </a:spcBef>
                <a:buClrTx/>
                <a:buSzTx/>
                <a:buFont typeface="Times New Roman" panose="02020603050405020304" pitchFamily="18" charset="0"/>
                <a:buNone/>
              </a:pPr>
              <a:r>
                <a:rPr lang="en-US" altLang="en-US" sz="1200" b="1"/>
                <a:t>Expansion Permutation</a:t>
              </a:r>
            </a:p>
            <a:p>
              <a:pPr>
                <a:spcBef>
                  <a:spcPct val="0"/>
                </a:spcBef>
                <a:buClrTx/>
                <a:buSzTx/>
                <a:buFont typeface="Times New Roman" panose="02020603050405020304" pitchFamily="18" charset="0"/>
                <a:buNone/>
              </a:pPr>
              <a:r>
                <a:rPr lang="en-US" altLang="en-US" sz="1200" b="1"/>
                <a:t>S-box Substitution</a:t>
              </a:r>
            </a:p>
            <a:p>
              <a:pPr>
                <a:spcBef>
                  <a:spcPct val="0"/>
                </a:spcBef>
                <a:buClrTx/>
                <a:buSzTx/>
                <a:buFont typeface="Times New Roman" panose="02020603050405020304" pitchFamily="18" charset="0"/>
                <a:buNone/>
              </a:pPr>
              <a:r>
                <a:rPr lang="en-US" altLang="en-US" sz="1200" b="1"/>
                <a:t>P-box Permutation</a:t>
              </a:r>
              <a:endParaRPr lang="en-US" altLang="en-US" sz="1800"/>
            </a:p>
          </p:txBody>
        </p:sp>
        <p:sp>
          <p:nvSpPr>
            <p:cNvPr id="11" name="Text Box 10" descr="Dotted grid"/>
            <p:cNvSpPr txBox="1">
              <a:spLocks noChangeArrowheads="1"/>
            </p:cNvSpPr>
            <p:nvPr/>
          </p:nvSpPr>
          <p:spPr bwMode="auto">
            <a:xfrm>
              <a:off x="7356" y="5700"/>
              <a:ext cx="804" cy="456"/>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XOR</a:t>
              </a:r>
              <a:endParaRPr lang="en-US" altLang="en-US" sz="1800"/>
            </a:p>
          </p:txBody>
        </p:sp>
        <p:sp>
          <p:nvSpPr>
            <p:cNvPr id="12" name="Line 11"/>
            <p:cNvSpPr>
              <a:spLocks noChangeShapeType="1"/>
            </p:cNvSpPr>
            <p:nvPr/>
          </p:nvSpPr>
          <p:spPr bwMode="auto">
            <a:xfrm>
              <a:off x="4452" y="3312"/>
              <a:ext cx="0" cy="25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4452" y="5904"/>
              <a:ext cx="2892"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 name="Line 13"/>
            <p:cNvSpPr>
              <a:spLocks noChangeShapeType="1"/>
            </p:cNvSpPr>
            <p:nvPr/>
          </p:nvSpPr>
          <p:spPr bwMode="auto">
            <a:xfrm flipH="1">
              <a:off x="8772" y="5100"/>
              <a:ext cx="0" cy="80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14"/>
            <p:cNvSpPr>
              <a:spLocks noChangeShapeType="1"/>
            </p:cNvSpPr>
            <p:nvPr/>
          </p:nvSpPr>
          <p:spPr bwMode="auto">
            <a:xfrm flipH="1">
              <a:off x="8160" y="5892"/>
              <a:ext cx="60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Text Box 15"/>
            <p:cNvSpPr txBox="1">
              <a:spLocks noChangeArrowheads="1"/>
            </p:cNvSpPr>
            <p:nvPr/>
          </p:nvSpPr>
          <p:spPr bwMode="auto">
            <a:xfrm>
              <a:off x="2964" y="6795"/>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32-bit Left Plain Text (LPT) Block</a:t>
              </a:r>
              <a:endParaRPr lang="en-US" altLang="en-US" sz="1800"/>
            </a:p>
          </p:txBody>
        </p:sp>
        <p:sp>
          <p:nvSpPr>
            <p:cNvPr id="17" name="Text Box 16"/>
            <p:cNvSpPr txBox="1">
              <a:spLocks noChangeArrowheads="1"/>
            </p:cNvSpPr>
            <p:nvPr/>
          </p:nvSpPr>
          <p:spPr bwMode="auto">
            <a:xfrm>
              <a:off x="6492" y="6795"/>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32-bit Right Plain Text (RPT) Block</a:t>
              </a:r>
              <a:endParaRPr lang="en-US" altLang="en-US" sz="1800"/>
            </a:p>
          </p:txBody>
        </p:sp>
        <p:sp>
          <p:nvSpPr>
            <p:cNvPr id="18" name="Line 17"/>
            <p:cNvSpPr>
              <a:spLocks noChangeShapeType="1"/>
            </p:cNvSpPr>
            <p:nvPr/>
          </p:nvSpPr>
          <p:spPr bwMode="auto">
            <a:xfrm>
              <a:off x="6540" y="330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18"/>
            <p:cNvSpPr>
              <a:spLocks noChangeShapeType="1"/>
            </p:cNvSpPr>
            <p:nvPr/>
          </p:nvSpPr>
          <p:spPr bwMode="auto">
            <a:xfrm flipH="1">
              <a:off x="4404" y="6348"/>
              <a:ext cx="21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AutoShape 19"/>
            <p:cNvSpPr>
              <a:spLocks noChangeArrowheads="1"/>
            </p:cNvSpPr>
            <p:nvPr/>
          </p:nvSpPr>
          <p:spPr bwMode="auto">
            <a:xfrm>
              <a:off x="4333" y="6360"/>
              <a:ext cx="155" cy="420"/>
            </a:xfrm>
            <a:prstGeom prst="downArrow">
              <a:avLst>
                <a:gd name="adj1" fmla="val 50000"/>
                <a:gd name="adj2" fmla="val 67742"/>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1" name="AutoShape 20"/>
            <p:cNvSpPr>
              <a:spLocks noChangeArrowheads="1"/>
            </p:cNvSpPr>
            <p:nvPr/>
          </p:nvSpPr>
          <p:spPr bwMode="auto">
            <a:xfrm>
              <a:off x="7681" y="6168"/>
              <a:ext cx="131" cy="600"/>
            </a:xfrm>
            <a:prstGeom prst="downArrow">
              <a:avLst>
                <a:gd name="adj1" fmla="val 50000"/>
                <a:gd name="adj2" fmla="val 11450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2" name="Text Box 21"/>
            <p:cNvSpPr txBox="1">
              <a:spLocks noChangeArrowheads="1"/>
            </p:cNvSpPr>
            <p:nvPr/>
          </p:nvSpPr>
          <p:spPr bwMode="auto">
            <a:xfrm>
              <a:off x="7032" y="7596"/>
              <a:ext cx="2136"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Next </a:t>
              </a:r>
              <a:r>
                <a:rPr lang="en-US" altLang="en-US" sz="1200" b="1" i="1"/>
                <a:t>round</a:t>
              </a:r>
              <a:endParaRPr lang="en-US" altLang="en-US" sz="1800"/>
            </a:p>
          </p:txBody>
        </p:sp>
        <p:sp>
          <p:nvSpPr>
            <p:cNvPr id="23" name="AutoShape 22"/>
            <p:cNvSpPr>
              <a:spLocks noChangeArrowheads="1"/>
            </p:cNvSpPr>
            <p:nvPr/>
          </p:nvSpPr>
          <p:spPr bwMode="auto">
            <a:xfrm>
              <a:off x="7968" y="7212"/>
              <a:ext cx="143" cy="384"/>
            </a:xfrm>
            <a:prstGeom prst="downArrow">
              <a:avLst>
                <a:gd name="adj1" fmla="val 50000"/>
                <a:gd name="adj2" fmla="val 67133"/>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4" name="AutoShape 23"/>
            <p:cNvSpPr>
              <a:spLocks noChangeArrowheads="1"/>
            </p:cNvSpPr>
            <p:nvPr/>
          </p:nvSpPr>
          <p:spPr bwMode="auto">
            <a:xfrm>
              <a:off x="4368" y="2436"/>
              <a:ext cx="143" cy="432"/>
            </a:xfrm>
            <a:prstGeom prst="downArrow">
              <a:avLst>
                <a:gd name="adj1" fmla="val 50000"/>
                <a:gd name="adj2" fmla="val 7552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5" name="AutoShape 24"/>
            <p:cNvSpPr>
              <a:spLocks noChangeArrowheads="1"/>
            </p:cNvSpPr>
            <p:nvPr/>
          </p:nvSpPr>
          <p:spPr bwMode="auto">
            <a:xfrm>
              <a:off x="8064" y="2436"/>
              <a:ext cx="143" cy="432"/>
            </a:xfrm>
            <a:prstGeom prst="downArrow">
              <a:avLst>
                <a:gd name="adj1" fmla="val 50000"/>
                <a:gd name="adj2" fmla="val 7552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239529113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altLang="en-US" sz="3200" dirty="0">
                <a:solidFill>
                  <a:prstClr val="black"/>
                </a:solidFill>
              </a:rPr>
              <a:t>At the end of the 16 rounds, the Final Permutation is performed (only once).</a:t>
            </a:r>
          </a:p>
          <a:p>
            <a:pPr>
              <a:buClrTx/>
              <a:buChar char="•"/>
            </a:pPr>
            <a:r>
              <a:rPr lang="en-US" altLang="en-US" sz="3200" dirty="0">
                <a:solidFill>
                  <a:prstClr val="black"/>
                </a:solidFill>
              </a:rPr>
              <a:t>This is a simple transposition as shown.</a:t>
            </a:r>
          </a:p>
          <a:p>
            <a:pPr>
              <a:buClrTx/>
              <a:buChar char="•"/>
            </a:pPr>
            <a:r>
              <a:rPr lang="en-US" altLang="en-US" sz="3200" dirty="0">
                <a:solidFill>
                  <a:prstClr val="black"/>
                </a:solidFill>
              </a:rPr>
              <a:t>The output of the Final Permutation is the 64-bit encrypted block.</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Final Permutation</a:t>
            </a:r>
            <a:endParaRPr lang="en-US" sz="3200" dirty="0">
              <a:latin typeface="+mj-lt"/>
              <a:ea typeface="+mj-ea"/>
              <a:cs typeface="+mj-cs"/>
            </a:endParaRPr>
          </a:p>
        </p:txBody>
      </p:sp>
    </p:spTree>
    <p:extLst>
      <p:ext uri="{BB962C8B-B14F-4D97-AF65-F5344CB8AC3E}">
        <p14:creationId xmlns:p14="http://schemas.microsoft.com/office/powerpoint/2010/main" val="118076395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Final Permutation / Reverse </a:t>
            </a:r>
            <a:r>
              <a:rPr lang="en-US" altLang="en-US" sz="3200" dirty="0" smtClean="0">
                <a:latin typeface="+mj-lt"/>
                <a:ea typeface="+mj-ea"/>
                <a:cs typeface="+mj-cs"/>
              </a:rPr>
              <a:t>Initial Permutation</a:t>
            </a:r>
            <a:endParaRPr lang="en-US" sz="3200" dirty="0">
              <a:latin typeface="+mj-lt"/>
              <a:ea typeface="+mj-ea"/>
              <a:cs typeface="+mj-cs"/>
            </a:endParaRPr>
          </a:p>
        </p:txBody>
      </p:sp>
      <p:graphicFrame>
        <p:nvGraphicFramePr>
          <p:cNvPr id="5" name="Group 3"/>
          <p:cNvGraphicFramePr>
            <a:graphicFrameLocks noGrp="1"/>
          </p:cNvGraphicFramePr>
          <p:nvPr>
            <p:ph idx="1"/>
            <p:extLst>
              <p:ext uri="{D42A27DB-BD31-4B8C-83A1-F6EECF244321}">
                <p14:modId xmlns:p14="http://schemas.microsoft.com/office/powerpoint/2010/main" val="192664622"/>
              </p:ext>
            </p:extLst>
          </p:nvPr>
        </p:nvGraphicFramePr>
        <p:xfrm>
          <a:off x="683568" y="2924944"/>
          <a:ext cx="7772400" cy="1792288"/>
        </p:xfrm>
        <a:graphic>
          <a:graphicData uri="http://schemas.openxmlformats.org/drawingml/2006/table">
            <a:tbl>
              <a:tblPr/>
              <a:tblGrid>
                <a:gridCol w="484187">
                  <a:extLst>
                    <a:ext uri="{9D8B030D-6E8A-4147-A177-3AD203B41FA5}"/>
                  </a:extLst>
                </a:gridCol>
                <a:gridCol w="485775">
                  <a:extLst>
                    <a:ext uri="{9D8B030D-6E8A-4147-A177-3AD203B41FA5}"/>
                  </a:extLst>
                </a:gridCol>
                <a:gridCol w="484188">
                  <a:extLst>
                    <a:ext uri="{9D8B030D-6E8A-4147-A177-3AD203B41FA5}"/>
                  </a:extLst>
                </a:gridCol>
                <a:gridCol w="484187">
                  <a:extLst>
                    <a:ext uri="{9D8B030D-6E8A-4147-A177-3AD203B41FA5}"/>
                  </a:extLst>
                </a:gridCol>
                <a:gridCol w="485775">
                  <a:extLst>
                    <a:ext uri="{9D8B030D-6E8A-4147-A177-3AD203B41FA5}"/>
                  </a:extLst>
                </a:gridCol>
                <a:gridCol w="484188">
                  <a:extLst>
                    <a:ext uri="{9D8B030D-6E8A-4147-A177-3AD203B41FA5}"/>
                  </a:extLst>
                </a:gridCol>
                <a:gridCol w="484187">
                  <a:extLst>
                    <a:ext uri="{9D8B030D-6E8A-4147-A177-3AD203B41FA5}"/>
                  </a:extLst>
                </a:gridCol>
                <a:gridCol w="484188">
                  <a:extLst>
                    <a:ext uri="{9D8B030D-6E8A-4147-A177-3AD203B41FA5}"/>
                  </a:extLst>
                </a:gridCol>
                <a:gridCol w="487362">
                  <a:extLst>
                    <a:ext uri="{9D8B030D-6E8A-4147-A177-3AD203B41FA5}"/>
                  </a:extLst>
                </a:gridCol>
                <a:gridCol w="487363">
                  <a:extLst>
                    <a:ext uri="{9D8B030D-6E8A-4147-A177-3AD203B41FA5}"/>
                  </a:extLst>
                </a:gridCol>
                <a:gridCol w="487362">
                  <a:extLst>
                    <a:ext uri="{9D8B030D-6E8A-4147-A177-3AD203B41FA5}"/>
                  </a:extLst>
                </a:gridCol>
                <a:gridCol w="485775">
                  <a:extLst>
                    <a:ext uri="{9D8B030D-6E8A-4147-A177-3AD203B41FA5}"/>
                  </a:extLst>
                </a:gridCol>
                <a:gridCol w="487363">
                  <a:extLst>
                    <a:ext uri="{9D8B030D-6E8A-4147-A177-3AD203B41FA5}"/>
                  </a:extLst>
                </a:gridCol>
                <a:gridCol w="487362">
                  <a:extLst>
                    <a:ext uri="{9D8B030D-6E8A-4147-A177-3AD203B41FA5}"/>
                  </a:extLst>
                </a:gridCol>
                <a:gridCol w="485775">
                  <a:extLst>
                    <a:ext uri="{9D8B030D-6E8A-4147-A177-3AD203B41FA5}"/>
                  </a:extLst>
                </a:gridCol>
                <a:gridCol w="487363">
                  <a:extLst>
                    <a:ext uri="{9D8B030D-6E8A-4147-A177-3AD203B41FA5}"/>
                  </a:extLst>
                </a:gridCol>
              </a:tblGrid>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492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60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35</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34</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42</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50</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58</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26</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33</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41</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49</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57</a:t>
                      </a:r>
                      <a:endParaRPr kumimoji="0" lang="en-US"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25</a:t>
                      </a:r>
                      <a:endParaRPr kumimoji="0" lang="en-US" sz="24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18020907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lnSpcReduction="20000"/>
          </a:bodyPr>
          <a:lstStyle/>
          <a:p>
            <a:pPr>
              <a:buClrTx/>
              <a:buChar char="•"/>
            </a:pPr>
            <a:r>
              <a:rPr lang="en-US" altLang="en-US" sz="3200" dirty="0">
                <a:solidFill>
                  <a:prstClr val="black"/>
                </a:solidFill>
              </a:rPr>
              <a:t>The same algorithm used for encryption in DES also works for decryption!!!</a:t>
            </a:r>
          </a:p>
          <a:p>
            <a:pPr>
              <a:buClrTx/>
              <a:buChar char="•"/>
            </a:pPr>
            <a:r>
              <a:rPr lang="en-US" altLang="en-US" sz="3200" dirty="0">
                <a:solidFill>
                  <a:prstClr val="black"/>
                </a:solidFill>
              </a:rPr>
              <a:t>The values of the various tables and the operations as well as their operations are so carefully chosen that the algorithm is reversible.</a:t>
            </a:r>
          </a:p>
          <a:p>
            <a:pPr>
              <a:buClrTx/>
              <a:buChar char="•"/>
            </a:pPr>
            <a:r>
              <a:rPr lang="en-US" altLang="en-US" sz="3200" dirty="0">
                <a:solidFill>
                  <a:prstClr val="black"/>
                </a:solidFill>
              </a:rPr>
              <a:t>The only difference between the encryption and decryption process is the reversal of key portions.</a:t>
            </a:r>
          </a:p>
          <a:p>
            <a:pPr>
              <a:buClrTx/>
              <a:buChar char="•"/>
            </a:pPr>
            <a:r>
              <a:rPr lang="en-US" altLang="en-US" sz="3200" dirty="0">
                <a:solidFill>
                  <a:prstClr val="black"/>
                </a:solidFill>
              </a:rPr>
              <a:t>If the original key K was divided into K1, K2,…, K16 for the 16 encryption rounds, then for decryption the key should be used as K16, K15,…, K1.</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Decryption</a:t>
            </a:r>
            <a:endParaRPr lang="en-US" sz="3200" dirty="0">
              <a:latin typeface="+mj-lt"/>
              <a:ea typeface="+mj-ea"/>
              <a:cs typeface="+mj-cs"/>
            </a:endParaRPr>
          </a:p>
        </p:txBody>
      </p:sp>
    </p:spTree>
    <p:extLst>
      <p:ext uri="{BB962C8B-B14F-4D97-AF65-F5344CB8AC3E}">
        <p14:creationId xmlns:p14="http://schemas.microsoft.com/office/powerpoint/2010/main" val="219077618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77500" lnSpcReduction="20000"/>
          </a:bodyPr>
          <a:lstStyle/>
          <a:p>
            <a:pPr>
              <a:buClrTx/>
              <a:buChar char="•"/>
            </a:pPr>
            <a:r>
              <a:rPr lang="en-US" altLang="en-US" sz="3200" dirty="0">
                <a:solidFill>
                  <a:prstClr val="black"/>
                </a:solidFill>
              </a:rPr>
              <a:t>The inner workings of the DES algorithm are completely known to the general public. Therefore, the strength of DES lies only in the other aspect-its key, which must be kept secret.</a:t>
            </a:r>
          </a:p>
          <a:p>
            <a:pPr>
              <a:buClrTx/>
              <a:buChar char="•"/>
            </a:pPr>
            <a:r>
              <a:rPr lang="en-US" altLang="en-US" sz="3200" dirty="0">
                <a:solidFill>
                  <a:prstClr val="black"/>
                </a:solidFill>
              </a:rPr>
              <a:t>We know that DES uses 56-bit key. Thus, there are 256 possible keys.</a:t>
            </a:r>
          </a:p>
          <a:p>
            <a:pPr>
              <a:buClrTx/>
              <a:buChar char="•"/>
            </a:pPr>
            <a:r>
              <a:rPr lang="en-US" altLang="en-US" sz="3200" dirty="0">
                <a:solidFill>
                  <a:prstClr val="black"/>
                </a:solidFill>
              </a:rPr>
              <a:t>A single computer performing one DES encryption per microsecond would require more than 1000 years to break DES. So brute-force attack on DES is impractical.</a:t>
            </a:r>
          </a:p>
          <a:p>
            <a:pPr>
              <a:buClrTx/>
              <a:buChar char="•"/>
            </a:pPr>
            <a:r>
              <a:rPr lang="en-US" altLang="en-US" sz="3200" dirty="0">
                <a:solidFill>
                  <a:prstClr val="black"/>
                </a:solidFill>
              </a:rPr>
              <a:t>In spite of this, it is generally felt that with the advent of high speed computers at cheap prices, parallel processing capabilities, etc. DES is susceptible to possible attacks.</a:t>
            </a:r>
          </a:p>
          <a:p>
            <a:pPr>
              <a:buClrTx/>
              <a:buChar char="•"/>
            </a:pPr>
            <a:r>
              <a:rPr lang="en-US" altLang="en-US" sz="3200" dirty="0">
                <a:solidFill>
                  <a:prstClr val="black"/>
                </a:solidFill>
              </a:rPr>
              <a:t>Therefore, variations of DES are used.</a:t>
            </a:r>
          </a:p>
          <a:p>
            <a:pPr>
              <a:buClrTx/>
              <a:buChar char="•"/>
            </a:pPr>
            <a:endParaRPr lang="en-US" sz="32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altLang="en-US" sz="3200" dirty="0">
                <a:latin typeface="+mj-lt"/>
                <a:ea typeface="+mj-ea"/>
                <a:cs typeface="+mj-cs"/>
              </a:rPr>
              <a:t>Data Encryption Standard (DES): Strength of DES</a:t>
            </a:r>
            <a:endParaRPr lang="en-US" sz="3200" dirty="0">
              <a:latin typeface="+mj-lt"/>
              <a:ea typeface="+mj-ea"/>
              <a:cs typeface="+mj-cs"/>
            </a:endParaRPr>
          </a:p>
        </p:txBody>
      </p:sp>
    </p:spTree>
    <p:extLst>
      <p:ext uri="{BB962C8B-B14F-4D97-AF65-F5344CB8AC3E}">
        <p14:creationId xmlns:p14="http://schemas.microsoft.com/office/powerpoint/2010/main" val="324902705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16486</TotalTime>
  <Words>4948</Words>
  <Application>Microsoft Office PowerPoint</Application>
  <PresentationFormat>On-screen Show (4:3)</PresentationFormat>
  <Paragraphs>950</Paragraphs>
  <Slides>82</Slides>
  <Notes>2</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82</vt:i4>
      </vt:variant>
    </vt:vector>
  </HeadingPairs>
  <TitlesOfParts>
    <vt:vector size="93" baseType="lpstr">
      <vt:lpstr>Arial</vt:lpstr>
      <vt:lpstr>Calibri</vt:lpstr>
      <vt:lpstr>Cambria Math</vt:lpstr>
      <vt:lpstr>Symbol</vt:lpstr>
      <vt:lpstr>Tahoma</vt:lpstr>
      <vt:lpstr>Times New Roman</vt:lpstr>
      <vt:lpstr>Wingdings</vt:lpstr>
      <vt:lpstr>Office Theme</vt:lpstr>
      <vt:lpstr>1_Office Theme</vt:lpstr>
      <vt:lpstr>2_Office Theme</vt:lpstr>
      <vt:lpstr>Equation</vt:lpstr>
      <vt:lpstr>Course Name :  Network Security</vt:lpstr>
      <vt:lpstr>Session#6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HP</cp:lastModifiedBy>
  <cp:revision>218</cp:revision>
  <dcterms:created xsi:type="dcterms:W3CDTF">2012-01-02T05:05:52Z</dcterms:created>
  <dcterms:modified xsi:type="dcterms:W3CDTF">2020-01-20T04:52:01Z</dcterms:modified>
</cp:coreProperties>
</file>