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7"/>
  </p:notesMasterIdLst>
  <p:sldIdLst>
    <p:sldId id="279" r:id="rId3"/>
    <p:sldId id="319" r:id="rId4"/>
    <p:sldId id="516" r:id="rId5"/>
    <p:sldId id="517" r:id="rId6"/>
    <p:sldId id="518" r:id="rId7"/>
    <p:sldId id="519" r:id="rId8"/>
    <p:sldId id="520" r:id="rId9"/>
    <p:sldId id="521" r:id="rId10"/>
    <p:sldId id="522" r:id="rId11"/>
    <p:sldId id="523" r:id="rId12"/>
    <p:sldId id="524" r:id="rId13"/>
    <p:sldId id="525" r:id="rId14"/>
    <p:sldId id="527" r:id="rId15"/>
    <p:sldId id="589" r:id="rId16"/>
    <p:sldId id="529" r:id="rId17"/>
    <p:sldId id="533" r:id="rId18"/>
    <p:sldId id="540" r:id="rId19"/>
    <p:sldId id="541" r:id="rId20"/>
    <p:sldId id="542" r:id="rId21"/>
    <p:sldId id="543" r:id="rId22"/>
    <p:sldId id="544" r:id="rId23"/>
    <p:sldId id="545" r:id="rId24"/>
    <p:sldId id="546" r:id="rId25"/>
    <p:sldId id="547" r:id="rId26"/>
    <p:sldId id="548" r:id="rId27"/>
    <p:sldId id="549" r:id="rId28"/>
    <p:sldId id="590" r:id="rId29"/>
    <p:sldId id="550" r:id="rId30"/>
    <p:sldId id="600" r:id="rId31"/>
    <p:sldId id="551" r:id="rId32"/>
    <p:sldId id="591" r:id="rId33"/>
    <p:sldId id="553" r:id="rId34"/>
    <p:sldId id="554" r:id="rId35"/>
    <p:sldId id="555" r:id="rId36"/>
    <p:sldId id="556" r:id="rId37"/>
    <p:sldId id="557" r:id="rId38"/>
    <p:sldId id="558" r:id="rId39"/>
    <p:sldId id="559" r:id="rId40"/>
    <p:sldId id="560" r:id="rId41"/>
    <p:sldId id="561" r:id="rId42"/>
    <p:sldId id="562" r:id="rId43"/>
    <p:sldId id="563" r:id="rId44"/>
    <p:sldId id="564" r:id="rId45"/>
    <p:sldId id="565" r:id="rId46"/>
    <p:sldId id="566" r:id="rId47"/>
    <p:sldId id="567" r:id="rId48"/>
    <p:sldId id="568" r:id="rId49"/>
    <p:sldId id="569" r:id="rId50"/>
    <p:sldId id="570" r:id="rId51"/>
    <p:sldId id="571" r:id="rId52"/>
    <p:sldId id="572" r:id="rId53"/>
    <p:sldId id="573" r:id="rId54"/>
    <p:sldId id="574" r:id="rId55"/>
    <p:sldId id="575" r:id="rId56"/>
    <p:sldId id="576" r:id="rId57"/>
    <p:sldId id="577" r:id="rId58"/>
    <p:sldId id="578" r:id="rId59"/>
    <p:sldId id="592" r:id="rId60"/>
    <p:sldId id="593" r:id="rId61"/>
    <p:sldId id="580" r:id="rId62"/>
    <p:sldId id="594" r:id="rId63"/>
    <p:sldId id="581" r:id="rId64"/>
    <p:sldId id="595" r:id="rId65"/>
    <p:sldId id="596" r:id="rId66"/>
    <p:sldId id="597" r:id="rId67"/>
    <p:sldId id="583" r:id="rId68"/>
    <p:sldId id="584" r:id="rId69"/>
    <p:sldId id="585" r:id="rId70"/>
    <p:sldId id="598" r:id="rId71"/>
    <p:sldId id="599" r:id="rId72"/>
    <p:sldId id="586" r:id="rId73"/>
    <p:sldId id="587" r:id="rId74"/>
    <p:sldId id="588" r:id="rId75"/>
    <p:sldId id="347"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1" d="100"/>
          <a:sy n="71" d="100"/>
        </p:scale>
        <p:origin x="135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20-10-2019</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a:p>
        </p:txBody>
      </p:sp>
    </p:spTree>
    <p:extLst>
      <p:ext uri="{BB962C8B-B14F-4D97-AF65-F5344CB8AC3E}">
        <p14:creationId xmlns:p14="http://schemas.microsoft.com/office/powerpoint/2010/main" val="322886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60CD79E-F265-4C2E-BE79-F83CD917F1EC}" type="slidenum">
              <a:rPr lang="en-AU" altLang="en-US" smtClean="0">
                <a:latin typeface="Arial" panose="020B0604020202020204" pitchFamily="34" charset="0"/>
                <a:ea typeface="ＭＳ Ｐゴシック" panose="020B0600070205080204" pitchFamily="34" charset="-128"/>
              </a:rPr>
              <a:pPr eaLnBrk="1" hangingPunct="1">
                <a:spcBef>
                  <a:spcPct val="0"/>
                </a:spcBef>
              </a:pPr>
              <a:t>3</a:t>
            </a:fld>
            <a:endParaRPr lang="en-AU" altLang="en-US" smtClean="0">
              <a:latin typeface="Arial" panose="020B0604020202020204" pitchFamily="34" charset="0"/>
              <a:ea typeface="ＭＳ Ｐゴシック" panose="020B0600070205080204" pitchFamily="34" charset="-128"/>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World Wide Web is widely used by businesses, government agencies, and many individuals. But the Internet and the Web are extremely vulnerable to compromises of various sorts, with a range of threats as shown briefly above, and in detail in Stallings Table 16.1. These can be described as passive attacks including eavesdropping on network traffic between browser and server and gaining access to information on a Web site that is supposed to be restricted; and active attacks including impersonating another user, altering messages in transit between client and server, and altering information on a Web site. The web needs added security mechanisms to address these threats.</a:t>
            </a:r>
          </a:p>
        </p:txBody>
      </p:sp>
    </p:spTree>
    <p:extLst>
      <p:ext uri="{BB962C8B-B14F-4D97-AF65-F5344CB8AC3E}">
        <p14:creationId xmlns:p14="http://schemas.microsoft.com/office/powerpoint/2010/main" val="383827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xfrm>
            <a:off x="685800" y="4343400"/>
            <a:ext cx="5486400" cy="4341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smtClean="0">
                <a:latin typeface="Arial" panose="020B0604020202020204" pitchFamily="34" charset="0"/>
                <a:ea typeface="ＭＳ Ｐゴシック" panose="020B0600070205080204" pitchFamily="34" charset="-128"/>
              </a:rPr>
              <a:t>A number of approaches to providing Web security are possible. The various approaches that have been considered are similar in the services they provide and, to some extent, in the mechanisms that they use, but they differ with respect to their scope of applicability and their relative location within the TCP/IP protocol stack.  Stallings Figure 16.1 illustrates this difference. </a:t>
            </a:r>
          </a:p>
          <a:p>
            <a:pPr eaLnBrk="1" hangingPunct="1"/>
            <a:r>
              <a:rPr lang="en-US" altLang="en-US" dirty="0" smtClean="0">
                <a:latin typeface="Arial" panose="020B0604020202020204" pitchFamily="34" charset="0"/>
                <a:ea typeface="ＭＳ Ｐゴシック" panose="020B0600070205080204" pitchFamily="34" charset="-128"/>
              </a:rPr>
              <a:t>One way to provide Web security is to use IP Security (Figure 16.1a). The advantage of using </a:t>
            </a:r>
            <a:r>
              <a:rPr lang="en-US" altLang="en-US" dirty="0" err="1" smtClean="0">
                <a:latin typeface="Arial" panose="020B0604020202020204" pitchFamily="34" charset="0"/>
                <a:ea typeface="ＭＳ Ｐゴシック" panose="020B0600070205080204" pitchFamily="34" charset="-128"/>
              </a:rPr>
              <a:t>IPSec</a:t>
            </a:r>
            <a:r>
              <a:rPr lang="en-US" altLang="en-US" dirty="0" smtClean="0">
                <a:latin typeface="Arial" panose="020B0604020202020204" pitchFamily="34" charset="0"/>
                <a:ea typeface="ＭＳ Ｐゴシック" panose="020B0600070205080204" pitchFamily="34" charset="-128"/>
              </a:rPr>
              <a:t> is that it is transparent to end users and applications and provides a general-purpose solution. Further, </a:t>
            </a:r>
            <a:r>
              <a:rPr lang="en-US" altLang="en-US" dirty="0" err="1" smtClean="0">
                <a:latin typeface="Arial" panose="020B0604020202020204" pitchFamily="34" charset="0"/>
                <a:ea typeface="ＭＳ Ｐゴシック" panose="020B0600070205080204" pitchFamily="34" charset="-128"/>
              </a:rPr>
              <a:t>IPSec</a:t>
            </a:r>
            <a:r>
              <a:rPr lang="en-US" altLang="en-US" dirty="0" smtClean="0">
                <a:latin typeface="Arial" panose="020B0604020202020204" pitchFamily="34" charset="0"/>
                <a:ea typeface="ＭＳ Ｐゴシック" panose="020B0600070205080204" pitchFamily="34" charset="-128"/>
              </a:rPr>
              <a:t> includes a filtering capability so only selected traffic need incur the </a:t>
            </a:r>
            <a:r>
              <a:rPr lang="en-US" altLang="en-US" dirty="0" err="1" smtClean="0">
                <a:latin typeface="Arial" panose="020B0604020202020204" pitchFamily="34" charset="0"/>
                <a:ea typeface="ＭＳ Ｐゴシック" panose="020B0600070205080204" pitchFamily="34" charset="-128"/>
              </a:rPr>
              <a:t>IPSec</a:t>
            </a:r>
            <a:r>
              <a:rPr lang="en-US" altLang="en-US" dirty="0" smtClean="0">
                <a:latin typeface="Arial" panose="020B0604020202020204" pitchFamily="34" charset="0"/>
                <a:ea typeface="ＭＳ Ｐゴシック" panose="020B0600070205080204" pitchFamily="34" charset="-128"/>
              </a:rPr>
              <a:t> processing overhead.  </a:t>
            </a:r>
          </a:p>
          <a:p>
            <a:pPr eaLnBrk="1" hangingPunct="1"/>
            <a:r>
              <a:rPr lang="en-US" altLang="en-US" dirty="0" smtClean="0">
                <a:latin typeface="Arial" panose="020B0604020202020204" pitchFamily="34" charset="0"/>
                <a:ea typeface="ＭＳ Ｐゴシック" panose="020B0600070205080204" pitchFamily="34" charset="-128"/>
              </a:rPr>
              <a:t>Another relatively general-purpose solution is to implement security just above TCP (Figure 16.1b). The foremost example of this approach is the Secure Sockets Layer (SSL) and the follow-on Internet standard known as Transport Layer Security (TLS). At this level, there are two implementation choices. For full generality, SSL (or TLS) could be provided as part of the underlying protocol suite and therefore be transparent to applications. Alternatively, SSL can be embedded in specific packages, e.g. both the Netscape and Microsoft Explorer browsers come with SSL, &amp; most Web servers have implemented it.  </a:t>
            </a:r>
          </a:p>
          <a:p>
            <a:pPr eaLnBrk="1" hangingPunct="1"/>
            <a:r>
              <a:rPr lang="en-US" altLang="en-US" dirty="0" smtClean="0">
                <a:latin typeface="Arial" panose="020B0604020202020204" pitchFamily="34" charset="0"/>
                <a:ea typeface="ＭＳ Ｐゴシック" panose="020B0600070205080204" pitchFamily="34" charset="-128"/>
              </a:rPr>
              <a:t>Application-specific security services are embedded within the particular application. Figure 16.1c shows examples of this architecture. The advantage of this approach is that the service can be tailored to the specific needs of a given application. </a:t>
            </a: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B47F964D-2BA9-4C1B-9962-32F0B127851B}" type="slidenum">
              <a:rPr lang="en-AU" altLang="en-US" smtClean="0">
                <a:latin typeface="Arial" panose="020B0604020202020204" pitchFamily="34" charset="0"/>
                <a:ea typeface="ＭＳ Ｐゴシック" panose="020B0600070205080204" pitchFamily="34" charset="-128"/>
              </a:rPr>
              <a:pPr eaLnBrk="1" hangingPunct="1">
                <a:spcBef>
                  <a:spcPct val="0"/>
                </a:spcBef>
              </a:pPr>
              <a:t>4</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66124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293ECF1D-4EA5-4884-AA80-BCE3C3C8B040}" type="slidenum">
              <a:rPr lang="en-AU" altLang="en-US" smtClean="0">
                <a:latin typeface="Arial" panose="020B0604020202020204" pitchFamily="34" charset="0"/>
                <a:ea typeface="ＭＳ Ｐゴシック" panose="020B0600070205080204" pitchFamily="34" charset="-128"/>
              </a:rPr>
              <a:pPr eaLnBrk="1" hangingPunct="1">
                <a:spcBef>
                  <a:spcPct val="0"/>
                </a:spcBef>
              </a:pPr>
              <a:t>16</a:t>
            </a:fld>
            <a:endParaRPr lang="en-AU" altLang="en-US" smtClean="0">
              <a:latin typeface="Arial" panose="020B0604020202020204" pitchFamily="34" charset="0"/>
              <a:ea typeface="ＭＳ Ｐゴシック" panose="020B0600070205080204" pitchFamily="34" charset="-128"/>
            </a:endParaRPr>
          </a:p>
        </p:txBody>
      </p:sp>
      <p:sp>
        <p:nvSpPr>
          <p:cNvPr id="28675" name="Rectangle 1026"/>
          <p:cNvSpPr>
            <a:spLocks noGrp="1" noRot="1" noChangeAspect="1" noChangeArrowheads="1" noTextEdit="1"/>
          </p:cNvSpPr>
          <p:nvPr>
            <p:ph type="sldImg"/>
          </p:nvPr>
        </p:nvSpPr>
        <p:spPr>
          <a:ln/>
        </p:spPr>
      </p:sp>
      <p:sp>
        <p:nvSpPr>
          <p:cNvPr id="2867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Two important SSL concepts are the SSL connection and the SSL session:</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Connection: A connection is a network transport that provides a suitable type of service, such connections are transient, peer-to-peer relationships, associated with one session</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Session: An SSL session is an association between a client and a server, created by the Handshake Protocol. Sessions define a set of cryptographic security parameters, which can be shared among multiple connections. Sessions are used to avoid the expensive negotiation of new security parameters for each connection.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Between any pair of parties (applications such as HTTP on client and server), there may be multiple secure connections. In theory, there may also be multiple simultaneous sessions between parties, but this feature is not used in practice.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There are a number of states associated with each session. Once a session is established, there is a current operating state for both read and write (i.e., receive and send). In addition, during the Handshake Protocol, pending read and write states are created. Upon successful conclusion of the Handshake Protocol, the pending states become the current states.  A session state and a connection state are defined by sets of parameters, see text for details. </a:t>
            </a:r>
          </a:p>
        </p:txBody>
      </p:sp>
    </p:spTree>
    <p:extLst>
      <p:ext uri="{BB962C8B-B14F-4D97-AF65-F5344CB8AC3E}">
        <p14:creationId xmlns:p14="http://schemas.microsoft.com/office/powerpoint/2010/main" val="2974659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Two further items are of interest: the creation of a shared master secret by means of the key exchange, and the generation of cryptographic parameters from the master secret. </a:t>
            </a:r>
          </a:p>
          <a:p>
            <a:pPr eaLnBrk="1" hangingPunct="1"/>
            <a:r>
              <a:rPr lang="en-US" altLang="en-US" smtClean="0">
                <a:latin typeface="Arial" panose="020B0604020202020204" pitchFamily="34" charset="0"/>
                <a:ea typeface="ＭＳ Ｐゴシック" panose="020B0600070205080204" pitchFamily="34" charset="-128"/>
              </a:rPr>
              <a:t>The shared master secret is a one-time 48-byte value (384 bits) generated for this session by means of secure key exchange. The creation is in two stages. First, a pre_master_secret is exchanged. Second, the master_secret is calculated by both parties. For pre_master_secret exchange, there are two possibilities, using either RSA or Diffie-Hellman. Both sides now compute the master_secret by hashing the relevant information, as detailed in the text.</a:t>
            </a:r>
          </a:p>
          <a:p>
            <a:pPr eaLnBrk="1" hangingPunct="1"/>
            <a:r>
              <a:rPr lang="en-US" altLang="en-US" smtClean="0">
                <a:latin typeface="Arial" panose="020B0604020202020204" pitchFamily="34" charset="0"/>
                <a:ea typeface="ＭＳ Ｐゴシック" panose="020B0600070205080204" pitchFamily="34" charset="-128"/>
              </a:rPr>
              <a:t>CipherSpecs require a client write MAC secret, a server write MAC secret, a client write key, a server write key, a client write IV, and a server write IV, which are generated from the master secret in that order. These parameters are generated from the master secret by hashing the master secret into a sequence of secure bytes of sufficient length for all needed parameters.</a:t>
            </a: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0C801960-C247-45FA-9B8B-A71AE188A45B}" type="slidenum">
              <a:rPr lang="en-AU" altLang="en-US" smtClean="0">
                <a:latin typeface="Arial" panose="020B0604020202020204" pitchFamily="34" charset="0"/>
                <a:ea typeface="ＭＳ Ｐゴシック" panose="020B0600070205080204" pitchFamily="34" charset="-128"/>
              </a:rPr>
              <a:pPr eaLnBrk="1" hangingPunct="1">
                <a:spcBef>
                  <a:spcPct val="0"/>
                </a:spcBef>
              </a:pPr>
              <a:t>37</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35853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539468FE-0E94-4D15-8FA1-BE75F908717C}" type="slidenum">
              <a:rPr lang="en-AU" altLang="en-US" smtClean="0">
                <a:latin typeface="Arial" panose="020B0604020202020204" pitchFamily="34" charset="0"/>
                <a:ea typeface="ＭＳ Ｐゴシック" panose="020B0600070205080204" pitchFamily="34" charset="-128"/>
              </a:rPr>
              <a:pPr eaLnBrk="1" hangingPunct="1">
                <a:spcBef>
                  <a:spcPct val="0"/>
                </a:spcBef>
              </a:pPr>
              <a:t>38</a:t>
            </a:fld>
            <a:endParaRPr lang="en-AU" altLang="en-US" smtClean="0">
              <a:latin typeface="Arial" panose="020B0604020202020204" pitchFamily="34" charset="0"/>
              <a:ea typeface="ＭＳ Ｐゴシック" panose="020B0600070205080204" pitchFamily="34" charset="-128"/>
            </a:endParaRPr>
          </a:p>
        </p:txBody>
      </p:sp>
      <p:sp>
        <p:nvSpPr>
          <p:cNvPr id="57347" name="Rectangle 1026"/>
          <p:cNvSpPr>
            <a:spLocks noGrp="1" noRot="1" noChangeAspect="1" noChangeArrowheads="1" noTextEdit="1"/>
          </p:cNvSpPr>
          <p:nvPr>
            <p:ph type="sldImg"/>
          </p:nvPr>
        </p:nvSpPr>
        <p:spPr>
          <a:ln/>
        </p:spPr>
      </p:sp>
      <p:sp>
        <p:nvSpPr>
          <p:cNvPr id="5734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TLS is an IETF standardization initiative whose goal is to produce an Internet standard version of SSL. TLS is defined as a Proposed Internet Standard in RFC 2246. RFC 2246 is very similar to SSLv3, but with a number of minor differences in the areas shown, as discussed in the text.</a:t>
            </a:r>
          </a:p>
        </p:txBody>
      </p:sp>
    </p:spTree>
    <p:extLst>
      <p:ext uri="{BB962C8B-B14F-4D97-AF65-F5344CB8AC3E}">
        <p14:creationId xmlns:p14="http://schemas.microsoft.com/office/powerpoint/2010/main" val="726899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HTTPS (HTTP over SSL) refers to the combination of HTTP and SSL to implement secure communication between a Web browser and a Web server. The HTTPS capability is built into all modern Web browsers. Its use depends on the Web server supporting HTTPS communication. The principal difference seen by a user of a web browser is that URL (uniform resource locator) addresses begin with https:// rather than http://. A normal HTTP connection uses port 80. If HTTPS is specified, port 443 is specified, which invokes SSL.  When HTTPS is used, the following elements of the communication are encrypted:  URL of the requested document, Contents of the document, Contents of browser forms (filled in by browser user), Cookies sent from browser to server and from server to browser, and Contents of HTTP header. HTTPS is documented in RFC 2818, </a:t>
            </a:r>
            <a:r>
              <a:rPr lang="en-US" altLang="en-US" i="1" smtClean="0">
                <a:latin typeface="Arial" panose="020B0604020202020204" pitchFamily="34" charset="0"/>
                <a:ea typeface="ＭＳ Ｐゴシック" panose="020B0600070205080204" pitchFamily="34" charset="-128"/>
                <a:cs typeface="Arial" panose="020B0604020202020204" pitchFamily="34" charset="0"/>
              </a:rPr>
              <a:t>HTTP Over TLS</a:t>
            </a:r>
            <a:r>
              <a:rPr lang="en-US" altLang="en-US" smtClean="0">
                <a:latin typeface="Arial" panose="020B0604020202020204" pitchFamily="34" charset="0"/>
                <a:ea typeface="ＭＳ Ｐゴシック" panose="020B0600070205080204" pitchFamily="34" charset="-128"/>
                <a:cs typeface="Arial" panose="020B0604020202020204" pitchFamily="34" charset="0"/>
              </a:rPr>
              <a:t>. There is no fundamental change in using HTTP over either SSL or TLS, and both implementations are referred to as HTTPS. </a:t>
            </a: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02A30DC6-C4EC-443F-914C-419C5E194849}" type="slidenum">
              <a:rPr lang="en-AU" altLang="en-US" smtClean="0">
                <a:latin typeface="Arial" panose="020B0604020202020204" pitchFamily="34" charset="0"/>
                <a:ea typeface="ＭＳ Ｐゴシック" panose="020B0600070205080204" pitchFamily="34" charset="-128"/>
              </a:rPr>
              <a:pPr eaLnBrk="1" hangingPunct="1">
                <a:spcBef>
                  <a:spcPct val="0"/>
                </a:spcBef>
              </a:pPr>
              <a:t>39</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1810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eaLnBrk="1" hangingPunct="1">
              <a:defRPr/>
            </a:pPr>
            <a:r>
              <a:rPr lang="en-US" altLang="en-US" sz="1100" smtClean="0">
                <a:latin typeface="Arial" panose="020B0604020202020204" pitchFamily="34" charset="0"/>
                <a:ea typeface="ＭＳ Ｐゴシック" panose="020B0600070205080204" pitchFamily="34" charset="-128"/>
              </a:rPr>
              <a:t>For HTTPS, the agent acting as the HTTP client also acts as the TLS client. The client initiates a connection to the server on the appropriate port and then sends the TLS ClientHello to begin the TLS handshake. When the TLS handshake has finished. The client may then initiate the first HTTP request. All HTTP data is to be sent as TLS application data. Normal HTTP behavior, including retained connections is followed. </a:t>
            </a:r>
          </a:p>
          <a:p>
            <a:pPr eaLnBrk="1" hangingPunct="1">
              <a:defRPr/>
            </a:pPr>
            <a:r>
              <a:rPr lang="en-US" altLang="en-US" sz="1100" smtClean="0">
                <a:latin typeface="Arial" panose="020B0604020202020204" pitchFamily="34" charset="0"/>
                <a:ea typeface="ＭＳ Ｐゴシック" panose="020B0600070205080204" pitchFamily="34" charset="-128"/>
              </a:rPr>
              <a:t>An HTTP client or server can indicate the closing of a connection by including in an HTTP record: “Connection: close”. This indicates that the connection will be closed after this record is delivered. The closure of an HTTPS connection requires that TLS close the connection with the peer TLS entity on the remote side, which will involve closing the underlying TCP connection. At the TLS level, the proper way to close a connection is for each side to use the TLS alert protocol to send a close_notify alert. TLS implementations must initiate an exchange of closure alerts before closing a connection. A TLS implementation may, after sending a closure alert, close the connection without waiting for the peer to send its closure alert, generating an "incomplete close". Note that an implementation that does this may choose to reuse the session. This should only be done when the application knows (typically through detecting HTTP message boundaries) that it has received all the message data that it cares about.  HTTP clients must also be able to cope with a situation in which the underlying TCP connection is terminated without a prior close_notify alert and without a Connection: close indicator. Such a situation could be due to a programming error on the server, or a communication error that causes the TCP connection to drop. However, the unannounced TCP closure could be evidence of some sort of attack. So the HTTPS client should issue some sort of security warning when this occurs. </a:t>
            </a: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B4C750FE-1B6F-469F-A63C-8FA7689B54FC}" type="slidenum">
              <a:rPr lang="en-AU" altLang="en-US" smtClean="0">
                <a:latin typeface="Arial" panose="020B0604020202020204" pitchFamily="34" charset="0"/>
                <a:ea typeface="ＭＳ Ｐゴシック" panose="020B0600070205080204" pitchFamily="34" charset="-128"/>
              </a:rPr>
              <a:pPr eaLnBrk="1" hangingPunct="1">
                <a:spcBef>
                  <a:spcPct val="0"/>
                </a:spcBef>
              </a:pPr>
              <a:t>40</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42355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Secure Shell (SSH) is a protocol for secure network communications designed to be relatively simple and inexpensive to implement. The initial version, SSH1 was focused on providing a secure remote logon facility to replace TELNET and other remote logon schemes that provided no security. SSH also provides a more general client/server capability and can be used for such network functions as file transfer and email. A new version, SSH2, fixes a number of security flaws in the original scheme. SSH2 is documented as a proposed standard in IETF RFCs 4250 through 4254.  SSH client and server applications are widely available for most operating systems. It has become the method of choice for remote login and X tunneling and is a rapidly becoming one of the most pervasive applications for encryption technology outside of embedded systems. </a:t>
            </a: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EAFD1936-4C75-4CCA-AF44-ADFD615A0933}" type="slidenum">
              <a:rPr lang="en-AU" altLang="en-US" smtClean="0">
                <a:latin typeface="Arial" panose="020B0604020202020204" pitchFamily="34" charset="0"/>
                <a:ea typeface="ＭＳ Ｐゴシック" panose="020B0600070205080204" pitchFamily="34" charset="-128"/>
              </a:rPr>
              <a:pPr eaLnBrk="1" hangingPunct="1">
                <a:spcBef>
                  <a:spcPct val="0"/>
                </a:spcBef>
              </a:pPr>
              <a:t>41</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29302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SSH is organized as three protocols that typically run on top of TCP (Stallings Figure 16.8):  </a:t>
            </a:r>
          </a:p>
          <a:p>
            <a:pPr eaLnBrk="1" hangingPunct="1"/>
            <a:r>
              <a:rPr lang="en-US" altLang="en-US" smtClean="0">
                <a:latin typeface="Arial" panose="020B0604020202020204" pitchFamily="34" charset="0"/>
                <a:ea typeface="ＭＳ Ｐゴシック" panose="020B0600070205080204" pitchFamily="34" charset="-128"/>
              </a:rPr>
              <a:t>• </a:t>
            </a:r>
            <a:r>
              <a:rPr lang="en-US" altLang="en-US" b="1" smtClean="0">
                <a:latin typeface="Arial" panose="020B0604020202020204" pitchFamily="34" charset="0"/>
                <a:ea typeface="ＭＳ Ｐゴシック" panose="020B0600070205080204" pitchFamily="34" charset="-128"/>
              </a:rPr>
              <a:t>Transport Layer Protocol: </a:t>
            </a:r>
            <a:r>
              <a:rPr lang="en-US" altLang="en-US" smtClean="0">
                <a:latin typeface="Arial" panose="020B0604020202020204" pitchFamily="34" charset="0"/>
                <a:ea typeface="ＭＳ Ｐゴシック" panose="020B0600070205080204" pitchFamily="34" charset="-128"/>
              </a:rPr>
              <a:t>Provides server authentication, data confidentiality, and data integrity with forward secrecy (i.e., if a key is compromised during one session, the knowledge does not affect the security of earlier sessions). The transport layer may optionally provide compression. </a:t>
            </a:r>
          </a:p>
          <a:p>
            <a:pPr eaLnBrk="1" hangingPunct="1"/>
            <a:r>
              <a:rPr lang="en-US" altLang="en-US" b="1" smtClean="0">
                <a:latin typeface="Arial" panose="020B0604020202020204" pitchFamily="34" charset="0"/>
                <a:ea typeface="ＭＳ Ｐゴシック" panose="020B0600070205080204" pitchFamily="34" charset="-128"/>
              </a:rPr>
              <a:t>• User Authentication Protocol</a:t>
            </a:r>
            <a:r>
              <a:rPr lang="en-US" altLang="en-US" smtClean="0">
                <a:latin typeface="Arial" panose="020B0604020202020204" pitchFamily="34" charset="0"/>
                <a:ea typeface="ＭＳ Ｐゴシック" panose="020B0600070205080204" pitchFamily="34" charset="-128"/>
              </a:rPr>
              <a:t>: Authenticates the user to the server. </a:t>
            </a:r>
          </a:p>
          <a:p>
            <a:pPr eaLnBrk="1" hangingPunct="1"/>
            <a:r>
              <a:rPr lang="en-US" altLang="en-US" b="1" smtClean="0">
                <a:latin typeface="Arial" panose="020B0604020202020204" pitchFamily="34" charset="0"/>
                <a:ea typeface="ＭＳ Ｐゴシック" panose="020B0600070205080204" pitchFamily="34" charset="-128"/>
              </a:rPr>
              <a:t>• Connection Protocol: </a:t>
            </a:r>
            <a:r>
              <a:rPr lang="en-US" altLang="en-US" smtClean="0">
                <a:latin typeface="Arial" panose="020B0604020202020204" pitchFamily="34" charset="0"/>
                <a:ea typeface="ＭＳ Ｐゴシック" panose="020B0600070205080204" pitchFamily="34" charset="-128"/>
              </a:rPr>
              <a:t>Multiplexes multiple logical communications channels over a single underlying SSH connection. </a:t>
            </a: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5BFE497B-9842-4FFE-B529-9DC41EFE2A57}" type="slidenum">
              <a:rPr lang="en-AU" altLang="en-US" smtClean="0">
                <a:latin typeface="Arial" panose="020B0604020202020204" pitchFamily="34" charset="0"/>
                <a:ea typeface="ＭＳ Ｐゴシック" panose="020B0600070205080204" pitchFamily="34" charset="-128"/>
              </a:rPr>
              <a:pPr eaLnBrk="1" hangingPunct="1">
                <a:spcBef>
                  <a:spcPct val="0"/>
                </a:spcBef>
              </a:pPr>
              <a:t>42</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03256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xfrm>
            <a:off x="685800" y="4343400"/>
            <a:ext cx="5486400" cy="4341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100" smtClean="0">
                <a:latin typeface="Arial" panose="020B0604020202020204" pitchFamily="34" charset="0"/>
                <a:ea typeface="ＭＳ Ｐゴシック" panose="020B0600070205080204" pitchFamily="34" charset="-128"/>
              </a:rPr>
              <a:t>Server authentication occurs at the transport layer, based on the server possessing a public/private key pair. The server host key is used during key exchange to authenticate the identity of the host. For this to be possible, the client must have a priori knowledge of the server's public host key.</a:t>
            </a:r>
          </a:p>
          <a:p>
            <a:pPr eaLnBrk="1" hangingPunct="1"/>
            <a:r>
              <a:rPr lang="en-US" altLang="en-US" sz="1100" smtClean="0">
                <a:latin typeface="Arial" panose="020B0604020202020204" pitchFamily="34" charset="0"/>
                <a:ea typeface="ＭＳ Ｐゴシック" panose="020B0600070205080204" pitchFamily="34" charset="-128"/>
              </a:rPr>
              <a:t>Next, consider events in the SSH Transport Layer Protocol. First, a client establishes a TCP connection to the server. Once the connection is established, the client and server exchange data, referred to as packets, in the data field of a TCP segment. Each packet has the format shown in Stallings Figure 16.10 and described in the text. </a:t>
            </a:r>
          </a:p>
          <a:p>
            <a:pPr eaLnBrk="1" hangingPunct="1"/>
            <a:r>
              <a:rPr lang="en-US" altLang="en-US" sz="1100" smtClean="0">
                <a:latin typeface="Arial" panose="020B0604020202020204" pitchFamily="34" charset="0"/>
                <a:ea typeface="ＭＳ Ｐゴシック" panose="020B0600070205080204" pitchFamily="34" charset="-128"/>
              </a:rPr>
              <a:t>The SSH Transport Layer packet exchange consists of a sequence of steps. The first step, the </a:t>
            </a:r>
            <a:r>
              <a:rPr lang="en-US" altLang="en-US" sz="1100" b="1" smtClean="0">
                <a:latin typeface="Arial" panose="020B0604020202020204" pitchFamily="34" charset="0"/>
                <a:ea typeface="ＭＳ Ｐゴシック" panose="020B0600070205080204" pitchFamily="34" charset="-128"/>
              </a:rPr>
              <a:t>identification string exchange</a:t>
            </a:r>
            <a:r>
              <a:rPr lang="en-US" altLang="en-US" sz="1100" smtClean="0">
                <a:latin typeface="Arial" panose="020B0604020202020204" pitchFamily="34" charset="0"/>
                <a:ea typeface="ＭＳ Ｐゴシック" panose="020B0600070205080204" pitchFamily="34" charset="-128"/>
              </a:rPr>
              <a:t>, begins with the client sending a packet with an identification string. Next comes </a:t>
            </a:r>
            <a:r>
              <a:rPr lang="en-US" altLang="en-US" sz="1100" b="1" smtClean="0">
                <a:latin typeface="Arial" panose="020B0604020202020204" pitchFamily="34" charset="0"/>
                <a:ea typeface="ＭＳ Ｐゴシック" panose="020B0600070205080204" pitchFamily="34" charset="-128"/>
              </a:rPr>
              <a:t>algorithm negotiation</a:t>
            </a:r>
            <a:r>
              <a:rPr lang="en-US" altLang="en-US" sz="1100" smtClean="0">
                <a:latin typeface="Arial" panose="020B0604020202020204" pitchFamily="34" charset="0"/>
                <a:ea typeface="ＭＳ Ｐゴシック" panose="020B0600070205080204" pitchFamily="34" charset="-128"/>
              </a:rPr>
              <a:t>. Each side sends an SSH_MSG_KEXINIT containing lists of supported algorithms, one list for each type of cryptographic algorithm, in the order of preference to the sender. For each category, the algorithm chosen is the first algorithm on the client's list that is also supported by the server.  The next step is </a:t>
            </a:r>
            <a:r>
              <a:rPr lang="en-US" altLang="en-US" sz="1100" b="1" smtClean="0">
                <a:latin typeface="Arial" panose="020B0604020202020204" pitchFamily="34" charset="0"/>
                <a:ea typeface="ＭＳ Ｐゴシック" panose="020B0600070205080204" pitchFamily="34" charset="-128"/>
              </a:rPr>
              <a:t>key exchange</a:t>
            </a:r>
            <a:r>
              <a:rPr lang="en-US" altLang="en-US" sz="1100" smtClean="0">
                <a:latin typeface="Arial" panose="020B0604020202020204" pitchFamily="34" charset="0"/>
                <a:ea typeface="ＭＳ Ｐゴシック" panose="020B0600070205080204" pitchFamily="34" charset="-128"/>
              </a:rPr>
              <a:t>. The specification allows for alternative methods of key exchange, but at present only two versions of Diffie-Hellman key exchange are specified. As a result of these steps, the two sides now share a master key </a:t>
            </a:r>
            <a:r>
              <a:rPr lang="en-US" altLang="en-US" sz="1100" i="1" smtClean="0">
                <a:latin typeface="Arial" panose="020B0604020202020204" pitchFamily="34" charset="0"/>
                <a:ea typeface="ＭＳ Ｐゴシック" panose="020B0600070205080204" pitchFamily="34" charset="-128"/>
              </a:rPr>
              <a:t>K</a:t>
            </a:r>
            <a:r>
              <a:rPr lang="en-US" altLang="en-US" sz="1100" smtClean="0">
                <a:latin typeface="Arial" panose="020B0604020202020204" pitchFamily="34" charset="0"/>
                <a:ea typeface="ＭＳ Ｐゴシック" panose="020B0600070205080204" pitchFamily="34" charset="-128"/>
              </a:rPr>
              <a:t>. In addition, the server has been authenticated to the client. The </a:t>
            </a:r>
            <a:r>
              <a:rPr lang="en-US" altLang="en-US" sz="1100" b="1" smtClean="0">
                <a:latin typeface="Arial" panose="020B0604020202020204" pitchFamily="34" charset="0"/>
                <a:ea typeface="ＭＳ Ｐゴシック" panose="020B0600070205080204" pitchFamily="34" charset="-128"/>
              </a:rPr>
              <a:t>end of key exchange</a:t>
            </a:r>
            <a:r>
              <a:rPr lang="en-US" altLang="en-US" sz="1100" smtClean="0">
                <a:latin typeface="Arial" panose="020B0604020202020204" pitchFamily="34" charset="0"/>
                <a:ea typeface="ＭＳ Ｐゴシック" panose="020B0600070205080204" pitchFamily="34" charset="-128"/>
              </a:rPr>
              <a:t> is signaled by the exchange of SSH_MSG_NEWKEYS packets. At this point, both sides may start using the keys generated from </a:t>
            </a:r>
            <a:r>
              <a:rPr lang="en-US" altLang="en-US" sz="1100" i="1" smtClean="0">
                <a:latin typeface="Arial" panose="020B0604020202020204" pitchFamily="34" charset="0"/>
                <a:ea typeface="ＭＳ Ｐゴシック" panose="020B0600070205080204" pitchFamily="34" charset="-128"/>
              </a:rPr>
              <a:t>K</a:t>
            </a:r>
            <a:r>
              <a:rPr lang="en-US" altLang="en-US" sz="1100" smtClean="0">
                <a:latin typeface="Arial" panose="020B0604020202020204" pitchFamily="34" charset="0"/>
                <a:ea typeface="ＭＳ Ｐゴシック" panose="020B0600070205080204" pitchFamily="34" charset="-128"/>
              </a:rPr>
              <a:t>, as discussed subsequently.  The final step is </a:t>
            </a:r>
            <a:r>
              <a:rPr lang="en-US" altLang="en-US" sz="1100" b="1" smtClean="0">
                <a:latin typeface="Arial" panose="020B0604020202020204" pitchFamily="34" charset="0"/>
                <a:ea typeface="ＭＳ Ｐゴシック" panose="020B0600070205080204" pitchFamily="34" charset="-128"/>
              </a:rPr>
              <a:t>service request</a:t>
            </a:r>
            <a:r>
              <a:rPr lang="en-US" altLang="en-US" sz="1100" smtClean="0">
                <a:latin typeface="Arial" panose="020B0604020202020204" pitchFamily="34" charset="0"/>
                <a:ea typeface="ＭＳ Ｐゴシック" panose="020B0600070205080204" pitchFamily="34" charset="-128"/>
              </a:rPr>
              <a:t>. The client sends an SSH_MSG_SERVICE_REQUEST packet to request either the User Authentication or the Connection Protocol. Subsequent to this, all data is exchanged as the payload of an SSH Transport Layer packet, protected by encryption and MAC. </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B0635812-6A90-4C01-9FF7-241D583E9EBA}" type="slidenum">
              <a:rPr lang="en-AU" altLang="en-US" smtClean="0">
                <a:latin typeface="Arial" panose="020B0604020202020204" pitchFamily="34" charset="0"/>
                <a:ea typeface="ＭＳ Ｐゴシック" panose="020B0600070205080204" pitchFamily="34" charset="-128"/>
              </a:rPr>
              <a:pPr eaLnBrk="1" hangingPunct="1">
                <a:spcBef>
                  <a:spcPct val="0"/>
                </a:spcBef>
              </a:pPr>
              <a:t>43</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98424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The User Authentication Protocol provides the means by which the client is authenticated to the server. Three types of messages are always used in the User Authentication Protocol. Authentication requests from the client have type  SSH_MSG_USERAUTH_REQUEST. If the server either (a) rejects the authentication request, or (b) accepts the request but requires one or more additional authentication methods, the server sends a SSH_MSG_USERAUTH_FAILURE message that includes a list of methods that may productively continue the dialog. If the server accepts authentication then it sends a single byte message, SSH_MSG_USERAUTH_SUCCESS.</a:t>
            </a:r>
          </a:p>
          <a:p>
            <a:pPr eaLnBrk="1" hangingPunct="1"/>
            <a:r>
              <a:rPr lang="en-US" altLang="en-US" smtClean="0">
                <a:latin typeface="Arial" panose="020B0604020202020204" pitchFamily="34" charset="0"/>
                <a:ea typeface="ＭＳ Ｐゴシック" panose="020B0600070205080204" pitchFamily="34" charset="-128"/>
              </a:rPr>
              <a:t>The server may require one or more of the following authentication methods:</a:t>
            </a:r>
          </a:p>
          <a:p>
            <a:pPr eaLnBrk="1" hangingPunct="1">
              <a:buFontTx/>
              <a:buChar char="•"/>
            </a:pPr>
            <a:r>
              <a:rPr lang="en-US" altLang="en-US" smtClean="0">
                <a:latin typeface="Arial" panose="020B0604020202020204" pitchFamily="34" charset="0"/>
                <a:ea typeface="ＭＳ Ｐゴシック" panose="020B0600070205080204" pitchFamily="34" charset="-128"/>
              </a:rPr>
              <a:t>publickey - client sends a message to the server that contains the client's public key, with the message signed by the client's private key</a:t>
            </a:r>
          </a:p>
          <a:p>
            <a:pPr eaLnBrk="1" hangingPunct="1">
              <a:buFontTx/>
              <a:buChar char="•"/>
            </a:pPr>
            <a:r>
              <a:rPr lang="en-US" altLang="en-US" smtClean="0">
                <a:latin typeface="Arial" panose="020B0604020202020204" pitchFamily="34" charset="0"/>
                <a:ea typeface="ＭＳ Ｐゴシック" panose="020B0600070205080204" pitchFamily="34" charset="-128"/>
              </a:rPr>
              <a:t>password - client sends a message containing a plaintext password, protected by TLS encryption</a:t>
            </a:r>
          </a:p>
          <a:p>
            <a:pPr eaLnBrk="1" hangingPunct="1">
              <a:buFontTx/>
              <a:buChar char="•"/>
            </a:pPr>
            <a:r>
              <a:rPr lang="en-US" altLang="en-US" smtClean="0">
                <a:latin typeface="Arial" panose="020B0604020202020204" pitchFamily="34" charset="0"/>
                <a:ea typeface="ＭＳ Ｐゴシック" panose="020B0600070205080204" pitchFamily="34" charset="-128"/>
              </a:rPr>
              <a:t>hostbased - authentication is performed on the client's host, rather than the client itself</a:t>
            </a:r>
          </a:p>
          <a:p>
            <a:pPr eaLnBrk="1" hangingPunct="1"/>
            <a:endParaRPr lang="en-US" altLang="en-US" smtClean="0">
              <a:latin typeface="Arial" panose="020B0604020202020204" pitchFamily="34" charset="0"/>
              <a:ea typeface="ＭＳ Ｐゴシック" panose="020B0600070205080204" pitchFamily="34" charset="-128"/>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BF8C70C-91CD-4FCA-8D6A-89F749D7A059}" type="slidenum">
              <a:rPr lang="en-AU" altLang="en-US" smtClean="0">
                <a:latin typeface="Arial" panose="020B0604020202020204" pitchFamily="34" charset="0"/>
                <a:ea typeface="ＭＳ Ｐゴシック" panose="020B0600070205080204" pitchFamily="34" charset="-128"/>
              </a:rPr>
              <a:pPr eaLnBrk="1" hangingPunct="1">
                <a:spcBef>
                  <a:spcPct val="0"/>
                </a:spcBef>
              </a:pPr>
              <a:t>44</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45571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The SSH Connection Protocol runs on top of the SSH Transport Layer Protocol and assumes that a secure authentication connection is in use. That secure authentication connection, referred to as a </a:t>
            </a:r>
            <a:r>
              <a:rPr lang="en-US" altLang="en-US" b="1" smtClean="0">
                <a:latin typeface="Arial" panose="020B0604020202020204" pitchFamily="34" charset="0"/>
                <a:ea typeface="ＭＳ Ｐゴシック" panose="020B0600070205080204" pitchFamily="34" charset="-128"/>
              </a:rPr>
              <a:t>tunnel </a:t>
            </a:r>
            <a:r>
              <a:rPr lang="en-US" altLang="en-US" smtClean="0">
                <a:latin typeface="Arial" panose="020B0604020202020204" pitchFamily="34" charset="0"/>
                <a:ea typeface="ＭＳ Ｐゴシック" panose="020B0600070205080204" pitchFamily="34" charset="-128"/>
              </a:rPr>
              <a:t>is used by the Connection Protocol to multiple a number of logical channels. All types of communication using SSH, such as a terminal session, are supported using separate channels. Either side may open a channel. For each channel, each side associates a unique channel number, which need not be the same on both ends. Channels are flow controlled using a window mechanism. No data may be sent to a channel until a message is received to indicate that window space is available.  The life of a channel progresses through three stages: opening a channel, data transfer, and closing a channel. Four channel types are recognized in the SSH Connection Protocol specification: </a:t>
            </a:r>
          </a:p>
          <a:p>
            <a:pPr eaLnBrk="1" hangingPunct="1">
              <a:buFontTx/>
              <a:buChar char="•"/>
            </a:pPr>
            <a:r>
              <a:rPr lang="en-US" altLang="en-US" smtClean="0">
                <a:latin typeface="Arial" panose="020B0604020202020204" pitchFamily="34" charset="0"/>
                <a:ea typeface="ＭＳ Ｐゴシック" panose="020B0600070205080204" pitchFamily="34" charset="-128"/>
              </a:rPr>
              <a:t>session - remote execution of a program</a:t>
            </a:r>
          </a:p>
          <a:p>
            <a:pPr eaLnBrk="1" hangingPunct="1">
              <a:buFontTx/>
              <a:buChar char="•"/>
            </a:pPr>
            <a:r>
              <a:rPr lang="en-US" altLang="en-US" smtClean="0">
                <a:latin typeface="Arial" panose="020B0604020202020204" pitchFamily="34" charset="0"/>
                <a:ea typeface="ＭＳ Ｐゴシック" panose="020B0600070205080204" pitchFamily="34" charset="-128"/>
              </a:rPr>
              <a:t>x11 -  X Window System display traffic</a:t>
            </a:r>
          </a:p>
          <a:p>
            <a:pPr eaLnBrk="1" hangingPunct="1">
              <a:buFontTx/>
              <a:buChar char="•"/>
            </a:pPr>
            <a:r>
              <a:rPr lang="en-US" altLang="en-US" smtClean="0">
                <a:latin typeface="Arial" panose="020B0604020202020204" pitchFamily="34" charset="0"/>
                <a:ea typeface="ＭＳ Ｐゴシック" panose="020B0600070205080204" pitchFamily="34" charset="-128"/>
              </a:rPr>
              <a:t>forwarded-tcpip - remote port forwarding</a:t>
            </a:r>
          </a:p>
          <a:p>
            <a:pPr eaLnBrk="1" hangingPunct="1">
              <a:buFontTx/>
              <a:buChar char="•"/>
            </a:pPr>
            <a:r>
              <a:rPr lang="en-US" altLang="en-US" smtClean="0">
                <a:latin typeface="Arial" panose="020B0604020202020204" pitchFamily="34" charset="0"/>
                <a:ea typeface="ＭＳ Ｐゴシック" panose="020B0600070205080204" pitchFamily="34" charset="-128"/>
              </a:rPr>
              <a:t>direct-tcpip - local port forwarding</a:t>
            </a: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B8563D8-5288-4EBE-8B3B-AA0D906552A4}" type="slidenum">
              <a:rPr lang="en-AU" altLang="en-US" smtClean="0">
                <a:latin typeface="Arial" panose="020B0604020202020204" pitchFamily="34" charset="0"/>
                <a:ea typeface="ＭＳ Ｐゴシック" panose="020B0600070205080204" pitchFamily="34" charset="-128"/>
              </a:rPr>
              <a:pPr eaLnBrk="1" hangingPunct="1">
                <a:spcBef>
                  <a:spcPct val="0"/>
                </a:spcBef>
              </a:pPr>
              <a:t>45</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4928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Stallings Figure 16.11 provides an example of Connection Protocol Exchange. </a:t>
            </a: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37931725" indent="-37474525">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69E6B9BC-D50C-406E-99C6-5DD8F352A45D}" type="slidenum">
              <a:rPr lang="en-AU" altLang="en-US" smtClean="0">
                <a:latin typeface="Arial" panose="020B0604020202020204" pitchFamily="34" charset="0"/>
                <a:ea typeface="ＭＳ Ｐゴシック" panose="020B0600070205080204" pitchFamily="34" charset="-128"/>
              </a:rPr>
              <a:pPr eaLnBrk="1" hangingPunct="1">
                <a:spcBef>
                  <a:spcPct val="0"/>
                </a:spcBef>
              </a:pPr>
              <a:t>46</a:t>
            </a:fld>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87619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FC8EF33-1AD2-40E3-9F3D-5935DEC3FB92}" type="slidenum">
              <a:rPr lang="de-DE" altLang="en-US" sz="1200" smtClean="0"/>
              <a:pPr/>
              <a:t>49</a:t>
            </a:fld>
            <a:endParaRPr lang="de-DE" altLang="en-US" sz="1200" smtClean="0"/>
          </a:p>
        </p:txBody>
      </p:sp>
      <p:sp>
        <p:nvSpPr>
          <p:cNvPr id="77827" name="Rectangle 2"/>
          <p:cNvSpPr>
            <a:spLocks noGrp="1" noRot="1" noChangeAspect="1" noChangeArrowheads="1" noTextEdit="1"/>
          </p:cNvSpPr>
          <p:nvPr>
            <p:ph type="sldImg"/>
          </p:nvPr>
        </p:nvSpPr>
        <p:spPr>
          <a:xfrm>
            <a:off x="862013" y="749300"/>
            <a:ext cx="4946650" cy="3711575"/>
          </a:xfrm>
          <a:ln/>
        </p:spPr>
      </p:sp>
      <p:sp>
        <p:nvSpPr>
          <p:cNvPr id="77828" name="Rectangle 3"/>
          <p:cNvSpPr>
            <a:spLocks noGrp="1" noChangeArrowheads="1"/>
          </p:cNvSpPr>
          <p:nvPr>
            <p:ph type="body" idx="1"/>
          </p:nvPr>
        </p:nvSpPr>
        <p:spPr>
          <a:xfrm>
            <a:off x="885825" y="4727575"/>
            <a:ext cx="4892675" cy="44910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693" tIns="43847" rIns="87693" bIns="43847"/>
          <a:lstStyle/>
          <a:p>
            <a:r>
              <a:rPr lang="de-CH" altLang="en-US" smtClean="0"/>
              <a:t> </a:t>
            </a:r>
          </a:p>
        </p:txBody>
      </p:sp>
      <p:sp>
        <p:nvSpPr>
          <p:cNvPr id="77829" name="Line 4"/>
          <p:cNvSpPr>
            <a:spLocks noChangeShapeType="1"/>
          </p:cNvSpPr>
          <p:nvPr/>
        </p:nvSpPr>
        <p:spPr bwMode="auto">
          <a:xfrm>
            <a:off x="709613" y="49641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0" name="Line 5"/>
          <p:cNvSpPr>
            <a:spLocks noChangeShapeType="1"/>
          </p:cNvSpPr>
          <p:nvPr/>
        </p:nvSpPr>
        <p:spPr bwMode="auto">
          <a:xfrm>
            <a:off x="709613" y="52482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1" name="Line 6"/>
          <p:cNvSpPr>
            <a:spLocks noChangeShapeType="1"/>
          </p:cNvSpPr>
          <p:nvPr/>
        </p:nvSpPr>
        <p:spPr bwMode="auto">
          <a:xfrm>
            <a:off x="709613" y="55308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2" name="Line 7"/>
          <p:cNvSpPr>
            <a:spLocks noChangeShapeType="1"/>
          </p:cNvSpPr>
          <p:nvPr/>
        </p:nvSpPr>
        <p:spPr bwMode="auto">
          <a:xfrm>
            <a:off x="709613" y="581660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3" name="Line 8"/>
          <p:cNvSpPr>
            <a:spLocks noChangeShapeType="1"/>
          </p:cNvSpPr>
          <p:nvPr/>
        </p:nvSpPr>
        <p:spPr bwMode="auto">
          <a:xfrm>
            <a:off x="709613" y="60975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4" name="Line 9"/>
          <p:cNvSpPr>
            <a:spLocks noChangeShapeType="1"/>
          </p:cNvSpPr>
          <p:nvPr/>
        </p:nvSpPr>
        <p:spPr bwMode="auto">
          <a:xfrm>
            <a:off x="709613" y="63817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5" name="Line 10"/>
          <p:cNvSpPr>
            <a:spLocks noChangeShapeType="1"/>
          </p:cNvSpPr>
          <p:nvPr/>
        </p:nvSpPr>
        <p:spPr bwMode="auto">
          <a:xfrm>
            <a:off x="709613" y="66643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6" name="Line 11"/>
          <p:cNvSpPr>
            <a:spLocks noChangeShapeType="1"/>
          </p:cNvSpPr>
          <p:nvPr/>
        </p:nvSpPr>
        <p:spPr bwMode="auto">
          <a:xfrm>
            <a:off x="709613" y="69484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7" name="Line 12"/>
          <p:cNvSpPr>
            <a:spLocks noChangeShapeType="1"/>
          </p:cNvSpPr>
          <p:nvPr/>
        </p:nvSpPr>
        <p:spPr bwMode="auto">
          <a:xfrm>
            <a:off x="709613" y="72326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8" name="Line 13"/>
          <p:cNvSpPr>
            <a:spLocks noChangeShapeType="1"/>
          </p:cNvSpPr>
          <p:nvPr/>
        </p:nvSpPr>
        <p:spPr bwMode="auto">
          <a:xfrm>
            <a:off x="709613" y="75168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39" name="Line 14"/>
          <p:cNvSpPr>
            <a:spLocks noChangeShapeType="1"/>
          </p:cNvSpPr>
          <p:nvPr/>
        </p:nvSpPr>
        <p:spPr bwMode="auto">
          <a:xfrm>
            <a:off x="709613" y="77993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40" name="Line 15"/>
          <p:cNvSpPr>
            <a:spLocks noChangeShapeType="1"/>
          </p:cNvSpPr>
          <p:nvPr/>
        </p:nvSpPr>
        <p:spPr bwMode="auto">
          <a:xfrm>
            <a:off x="709613" y="80835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41" name="Line 16"/>
          <p:cNvSpPr>
            <a:spLocks noChangeShapeType="1"/>
          </p:cNvSpPr>
          <p:nvPr/>
        </p:nvSpPr>
        <p:spPr bwMode="auto">
          <a:xfrm>
            <a:off x="709613" y="83661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42" name="Line 17"/>
          <p:cNvSpPr>
            <a:spLocks noChangeShapeType="1"/>
          </p:cNvSpPr>
          <p:nvPr/>
        </p:nvSpPr>
        <p:spPr bwMode="auto">
          <a:xfrm>
            <a:off x="709613" y="86518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77843" name="Line 18"/>
          <p:cNvSpPr>
            <a:spLocks noChangeShapeType="1"/>
          </p:cNvSpPr>
          <p:nvPr/>
        </p:nvSpPr>
        <p:spPr bwMode="auto">
          <a:xfrm>
            <a:off x="709613" y="893603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Tree>
    <p:extLst>
      <p:ext uri="{BB962C8B-B14F-4D97-AF65-F5344CB8AC3E}">
        <p14:creationId xmlns:p14="http://schemas.microsoft.com/office/powerpoint/2010/main" val="1858508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FC3994C-2BB2-4EEB-9D4B-F9238D04BE41}" type="slidenum">
              <a:rPr lang="de-DE" altLang="en-US" sz="1200" smtClean="0"/>
              <a:pPr/>
              <a:t>50</a:t>
            </a:fld>
            <a:endParaRPr lang="de-DE" altLang="en-US" sz="1200" smtClean="0"/>
          </a:p>
        </p:txBody>
      </p:sp>
      <p:sp>
        <p:nvSpPr>
          <p:cNvPr id="79875" name="Rectangle 2"/>
          <p:cNvSpPr>
            <a:spLocks noGrp="1" noRot="1" noChangeAspect="1" noChangeArrowheads="1" noTextEdit="1"/>
          </p:cNvSpPr>
          <p:nvPr>
            <p:ph type="sldImg"/>
          </p:nvPr>
        </p:nvSpPr>
        <p:spPr>
          <a:xfrm>
            <a:off x="863600" y="750888"/>
            <a:ext cx="4946650" cy="3709987"/>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CH" altLang="en-US" smtClean="0"/>
              <a:t> </a:t>
            </a:r>
            <a:endParaRPr lang="en-GB" altLang="en-US" smtClean="0"/>
          </a:p>
        </p:txBody>
      </p:sp>
      <p:sp>
        <p:nvSpPr>
          <p:cNvPr id="79877" name="Line 4"/>
          <p:cNvSpPr>
            <a:spLocks noChangeShapeType="1"/>
          </p:cNvSpPr>
          <p:nvPr/>
        </p:nvSpPr>
        <p:spPr bwMode="auto">
          <a:xfrm>
            <a:off x="871538" y="4965700"/>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78" name="Line 5"/>
          <p:cNvSpPr>
            <a:spLocks noChangeShapeType="1"/>
          </p:cNvSpPr>
          <p:nvPr/>
        </p:nvSpPr>
        <p:spPr bwMode="auto">
          <a:xfrm>
            <a:off x="871538" y="5254625"/>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79" name="Line 6"/>
          <p:cNvSpPr>
            <a:spLocks noChangeShapeType="1"/>
          </p:cNvSpPr>
          <p:nvPr/>
        </p:nvSpPr>
        <p:spPr bwMode="auto">
          <a:xfrm>
            <a:off x="871538" y="5541963"/>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0" name="Line 7"/>
          <p:cNvSpPr>
            <a:spLocks noChangeShapeType="1"/>
          </p:cNvSpPr>
          <p:nvPr/>
        </p:nvSpPr>
        <p:spPr bwMode="auto">
          <a:xfrm>
            <a:off x="871538" y="5832475"/>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1" name="Line 8"/>
          <p:cNvSpPr>
            <a:spLocks noChangeShapeType="1"/>
          </p:cNvSpPr>
          <p:nvPr/>
        </p:nvSpPr>
        <p:spPr bwMode="auto">
          <a:xfrm>
            <a:off x="871538" y="6118225"/>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2" name="Line 9"/>
          <p:cNvSpPr>
            <a:spLocks noChangeShapeType="1"/>
          </p:cNvSpPr>
          <p:nvPr/>
        </p:nvSpPr>
        <p:spPr bwMode="auto">
          <a:xfrm>
            <a:off x="871538" y="6407150"/>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3" name="Line 10"/>
          <p:cNvSpPr>
            <a:spLocks noChangeShapeType="1"/>
          </p:cNvSpPr>
          <p:nvPr/>
        </p:nvSpPr>
        <p:spPr bwMode="auto">
          <a:xfrm>
            <a:off x="871538" y="6694488"/>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4" name="Line 11"/>
          <p:cNvSpPr>
            <a:spLocks noChangeShapeType="1"/>
          </p:cNvSpPr>
          <p:nvPr/>
        </p:nvSpPr>
        <p:spPr bwMode="auto">
          <a:xfrm>
            <a:off x="871538" y="6985000"/>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5" name="Line 12"/>
          <p:cNvSpPr>
            <a:spLocks noChangeShapeType="1"/>
          </p:cNvSpPr>
          <p:nvPr/>
        </p:nvSpPr>
        <p:spPr bwMode="auto">
          <a:xfrm>
            <a:off x="871538" y="7272338"/>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6" name="Line 13"/>
          <p:cNvSpPr>
            <a:spLocks noChangeShapeType="1"/>
          </p:cNvSpPr>
          <p:nvPr/>
        </p:nvSpPr>
        <p:spPr bwMode="auto">
          <a:xfrm>
            <a:off x="871538" y="7561263"/>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7" name="Line 14"/>
          <p:cNvSpPr>
            <a:spLocks noChangeShapeType="1"/>
          </p:cNvSpPr>
          <p:nvPr/>
        </p:nvSpPr>
        <p:spPr bwMode="auto">
          <a:xfrm>
            <a:off x="871538" y="7848600"/>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8" name="Line 15"/>
          <p:cNvSpPr>
            <a:spLocks noChangeShapeType="1"/>
          </p:cNvSpPr>
          <p:nvPr/>
        </p:nvSpPr>
        <p:spPr bwMode="auto">
          <a:xfrm>
            <a:off x="871538" y="8137525"/>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89" name="Line 16"/>
          <p:cNvSpPr>
            <a:spLocks noChangeShapeType="1"/>
          </p:cNvSpPr>
          <p:nvPr/>
        </p:nvSpPr>
        <p:spPr bwMode="auto">
          <a:xfrm>
            <a:off x="871538" y="8426450"/>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90" name="Line 17"/>
          <p:cNvSpPr>
            <a:spLocks noChangeShapeType="1"/>
          </p:cNvSpPr>
          <p:nvPr/>
        </p:nvSpPr>
        <p:spPr bwMode="auto">
          <a:xfrm>
            <a:off x="871538" y="8715375"/>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
        <p:nvSpPr>
          <p:cNvPr id="79891" name="Line 18"/>
          <p:cNvSpPr>
            <a:spLocks noChangeShapeType="1"/>
          </p:cNvSpPr>
          <p:nvPr/>
        </p:nvSpPr>
        <p:spPr bwMode="auto">
          <a:xfrm>
            <a:off x="871538" y="9002713"/>
            <a:ext cx="4926012"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lIns="91433" tIns="107991" rIns="91433" bIns="107991"/>
          <a:lstStyle/>
          <a:p>
            <a:endParaRPr lang="en-US"/>
          </a:p>
        </p:txBody>
      </p:sp>
    </p:spTree>
    <p:extLst>
      <p:ext uri="{BB962C8B-B14F-4D97-AF65-F5344CB8AC3E}">
        <p14:creationId xmlns:p14="http://schemas.microsoft.com/office/powerpoint/2010/main" val="2361163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777E740-3899-421B-A152-A49DB95323CC}" type="slidenum">
              <a:rPr lang="de-DE" altLang="en-US" sz="1200" smtClean="0"/>
              <a:pPr/>
              <a:t>51</a:t>
            </a:fld>
            <a:endParaRPr lang="de-DE" altLang="en-US" sz="1200" smtClean="0"/>
          </a:p>
        </p:txBody>
      </p:sp>
      <p:sp>
        <p:nvSpPr>
          <p:cNvPr id="81923" name="Rectangle 2"/>
          <p:cNvSpPr>
            <a:spLocks noGrp="1" noRot="1" noChangeAspect="1" noChangeArrowheads="1" noTextEdit="1"/>
          </p:cNvSpPr>
          <p:nvPr>
            <p:ph type="sldImg"/>
          </p:nvPr>
        </p:nvSpPr>
        <p:spPr>
          <a:xfrm>
            <a:off x="862013" y="749300"/>
            <a:ext cx="4946650" cy="3711575"/>
          </a:xfrm>
          <a:ln/>
        </p:spPr>
      </p:sp>
      <p:sp>
        <p:nvSpPr>
          <p:cNvPr id="81924" name="Rectangle 3"/>
          <p:cNvSpPr>
            <a:spLocks noGrp="1" noChangeArrowheads="1"/>
          </p:cNvSpPr>
          <p:nvPr>
            <p:ph type="body" idx="1"/>
          </p:nvPr>
        </p:nvSpPr>
        <p:spPr>
          <a:xfrm>
            <a:off x="885825" y="4727575"/>
            <a:ext cx="5040313" cy="44910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09" tIns="43855" rIns="87709" bIns="43855"/>
          <a:lstStyle/>
          <a:p>
            <a:r>
              <a:rPr lang="de-CH" altLang="en-US" b="1" smtClean="0"/>
              <a:t>TLS/SSL Protocol Layer</a:t>
            </a:r>
          </a:p>
          <a:p>
            <a:r>
              <a:rPr lang="de-CH" altLang="en-US" smtClean="0"/>
              <a:t> </a:t>
            </a:r>
            <a:r>
              <a:rPr lang="de-DE" altLang="en-US" smtClean="0"/>
              <a:t>•</a:t>
            </a:r>
            <a:r>
              <a:rPr lang="de-CH" altLang="en-US" smtClean="0"/>
              <a:t> The </a:t>
            </a:r>
            <a:r>
              <a:rPr lang="de-CH" altLang="en-US" b="1" smtClean="0"/>
              <a:t>Secure Sockets Layer</a:t>
            </a:r>
            <a:r>
              <a:rPr lang="de-CH" altLang="en-US" smtClean="0"/>
              <a:t> (SSL) is inserted between the </a:t>
            </a:r>
            <a:r>
              <a:rPr lang="de-CH" altLang="en-US" b="1" smtClean="0"/>
              <a:t>Transport layer</a:t>
            </a:r>
            <a:r>
              <a:rPr lang="de-CH" altLang="en-US" smtClean="0"/>
              <a:t/>
            </a:r>
            <a:br>
              <a:rPr lang="de-CH" altLang="en-US" smtClean="0"/>
            </a:br>
            <a:r>
              <a:rPr lang="de-CH" altLang="en-US" smtClean="0"/>
              <a:t>   and the </a:t>
            </a:r>
            <a:r>
              <a:rPr lang="de-CH" altLang="en-US" b="1" smtClean="0"/>
              <a:t>Application Layer</a:t>
            </a:r>
            <a:r>
              <a:rPr lang="de-CH" altLang="en-US" smtClean="0"/>
              <a:t> (with communication layers defined according to</a:t>
            </a:r>
            <a:br>
              <a:rPr lang="de-CH" altLang="en-US" smtClean="0"/>
            </a:br>
            <a:r>
              <a:rPr lang="de-CH" altLang="en-US" smtClean="0"/>
              <a:t>   Tanenbaum !). In contrast to </a:t>
            </a:r>
            <a:r>
              <a:rPr lang="de-CH" altLang="en-US" b="1" smtClean="0"/>
              <a:t>IPSec</a:t>
            </a:r>
            <a:r>
              <a:rPr lang="de-CH" altLang="en-US" smtClean="0"/>
              <a:t> which is a </a:t>
            </a:r>
            <a:r>
              <a:rPr lang="de-CH" altLang="en-US" b="1" smtClean="0"/>
              <a:t>Layer 3+</a:t>
            </a:r>
            <a:r>
              <a:rPr lang="de-CH" altLang="en-US" smtClean="0"/>
              <a:t> protocol based directly</a:t>
            </a:r>
            <a:br>
              <a:rPr lang="de-CH" altLang="en-US" smtClean="0"/>
            </a:br>
            <a:r>
              <a:rPr lang="de-CH" altLang="en-US" smtClean="0"/>
              <a:t>   on IPv4 or IPv6, </a:t>
            </a:r>
            <a:r>
              <a:rPr lang="de-CH" altLang="en-US" b="1" smtClean="0"/>
              <a:t>TLS/SSL</a:t>
            </a:r>
            <a:r>
              <a:rPr lang="de-CH" altLang="en-US" smtClean="0"/>
              <a:t> is a </a:t>
            </a:r>
            <a:r>
              <a:rPr lang="de-CH" altLang="en-US" b="1" smtClean="0"/>
              <a:t>Layer 4+</a:t>
            </a:r>
            <a:r>
              <a:rPr lang="de-CH" altLang="en-US" smtClean="0"/>
              <a:t> protocol based directly on a TCP transport</a:t>
            </a:r>
            <a:br>
              <a:rPr lang="de-CH" altLang="en-US" smtClean="0"/>
            </a:br>
            <a:r>
              <a:rPr lang="de-CH" altLang="en-US" smtClean="0"/>
              <a:t>   mechanism.</a:t>
            </a:r>
          </a:p>
          <a:p>
            <a:r>
              <a:rPr lang="de-CH" altLang="en-US" smtClean="0"/>
              <a:t> </a:t>
            </a:r>
            <a:r>
              <a:rPr lang="de-DE" altLang="en-US" smtClean="0"/>
              <a:t>•</a:t>
            </a:r>
            <a:r>
              <a:rPr lang="de-CH" altLang="en-US" smtClean="0"/>
              <a:t> The </a:t>
            </a:r>
            <a:r>
              <a:rPr lang="de-CH" altLang="en-US" b="1" smtClean="0"/>
              <a:t>TLS protocol</a:t>
            </a:r>
            <a:r>
              <a:rPr lang="de-CH" altLang="en-US" smtClean="0"/>
              <a:t> offers secure sockets to </a:t>
            </a:r>
            <a:r>
              <a:rPr lang="de-CH" altLang="en-US" b="1" smtClean="0"/>
              <a:t>TLS-aware</a:t>
            </a:r>
            <a:r>
              <a:rPr lang="de-CH" altLang="en-US" smtClean="0"/>
              <a:t> applications. The TCP/IP</a:t>
            </a:r>
            <a:br>
              <a:rPr lang="de-CH" altLang="en-US" smtClean="0"/>
            </a:br>
            <a:r>
              <a:rPr lang="de-CH" altLang="en-US" smtClean="0"/>
              <a:t>   stack of the SSL client and server platforms do not have to be modified!</a:t>
            </a:r>
          </a:p>
          <a:p>
            <a:r>
              <a:rPr lang="de-CH" altLang="en-US" smtClean="0"/>
              <a:t> </a:t>
            </a:r>
            <a:r>
              <a:rPr lang="de-DE" altLang="en-US" smtClean="0"/>
              <a:t>•</a:t>
            </a:r>
            <a:r>
              <a:rPr lang="de-CH" altLang="en-US" smtClean="0"/>
              <a:t> The </a:t>
            </a:r>
            <a:r>
              <a:rPr lang="de-CH" altLang="en-US" b="1" smtClean="0"/>
              <a:t>IPSec protocol</a:t>
            </a:r>
            <a:r>
              <a:rPr lang="de-CH" altLang="en-US" smtClean="0"/>
              <a:t> offers secure communication to any existing IP based service</a:t>
            </a:r>
            <a:br>
              <a:rPr lang="de-CH" altLang="en-US" smtClean="0"/>
            </a:br>
            <a:r>
              <a:rPr lang="de-CH" altLang="en-US" smtClean="0"/>
              <a:t>   or application. It is the IP stacks of the IPsec clients or IPsec security gateways</a:t>
            </a:r>
            <a:br>
              <a:rPr lang="de-CH" altLang="en-US" smtClean="0"/>
            </a:br>
            <a:r>
              <a:rPr lang="de-CH" altLang="en-US" smtClean="0"/>
              <a:t>   that must be modified in order to support IPsec transport mode or IPSec tunnel</a:t>
            </a:r>
            <a:br>
              <a:rPr lang="de-CH" altLang="en-US" smtClean="0"/>
            </a:br>
            <a:r>
              <a:rPr lang="de-CH" altLang="en-US" smtClean="0"/>
              <a:t>   mode, respectively.</a:t>
            </a:r>
          </a:p>
          <a:p>
            <a:r>
              <a:rPr lang="de-CH" altLang="en-US" smtClean="0"/>
              <a:t> </a:t>
            </a:r>
            <a:r>
              <a:rPr lang="de-DE" altLang="en-US" smtClean="0"/>
              <a:t>•</a:t>
            </a:r>
            <a:r>
              <a:rPr lang="de-CH" altLang="en-US" smtClean="0"/>
              <a:t> The TLS protocol is responsible for the following tasks:</a:t>
            </a:r>
          </a:p>
          <a:p>
            <a:r>
              <a:rPr lang="de-CH" altLang="en-US" smtClean="0"/>
              <a:t>    - Fragmentation of application data streams into SSL PDUs</a:t>
            </a:r>
            <a:br>
              <a:rPr lang="de-CH" altLang="en-US" smtClean="0"/>
            </a:br>
            <a:r>
              <a:rPr lang="de-CH" altLang="en-US" smtClean="0"/>
              <a:t>    - Compression of PDUs before encryption</a:t>
            </a:r>
            <a:br>
              <a:rPr lang="de-CH" altLang="en-US" smtClean="0"/>
            </a:br>
            <a:r>
              <a:rPr lang="de-CH" altLang="en-US" smtClean="0"/>
              <a:t>    - Authentication of PDUs</a:t>
            </a:r>
            <a:br>
              <a:rPr lang="de-CH" altLang="en-US" smtClean="0"/>
            </a:br>
            <a:r>
              <a:rPr lang="de-CH" altLang="en-US" smtClean="0"/>
              <a:t>    - Encryption of PDUs  </a:t>
            </a:r>
          </a:p>
          <a:p>
            <a:endParaRPr lang="de-CH" altLang="en-US" smtClean="0"/>
          </a:p>
        </p:txBody>
      </p:sp>
    </p:spTree>
    <p:extLst>
      <p:ext uri="{BB962C8B-B14F-4D97-AF65-F5344CB8AC3E}">
        <p14:creationId xmlns:p14="http://schemas.microsoft.com/office/powerpoint/2010/main" val="2281174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F65D7E2-6D08-42BC-8458-A1D429734F8D}" type="slidenum">
              <a:rPr lang="de-DE" altLang="en-US" sz="1200" smtClean="0"/>
              <a:pPr/>
              <a:t>52</a:t>
            </a:fld>
            <a:endParaRPr lang="de-DE" altLang="en-US" sz="1200" smtClean="0"/>
          </a:p>
        </p:txBody>
      </p:sp>
      <p:sp>
        <p:nvSpPr>
          <p:cNvPr id="83971" name="Rectangle 2"/>
          <p:cNvSpPr>
            <a:spLocks noGrp="1" noRot="1" noChangeAspect="1" noChangeArrowheads="1" noTextEdit="1"/>
          </p:cNvSpPr>
          <p:nvPr>
            <p:ph type="sldImg"/>
          </p:nvPr>
        </p:nvSpPr>
        <p:spPr>
          <a:xfrm>
            <a:off x="862013" y="749300"/>
            <a:ext cx="4946650" cy="3711575"/>
          </a:xfrm>
          <a:ln/>
        </p:spPr>
      </p:sp>
      <p:sp>
        <p:nvSpPr>
          <p:cNvPr id="83972" name="Rectangle 3"/>
          <p:cNvSpPr>
            <a:spLocks noGrp="1" noChangeArrowheads="1"/>
          </p:cNvSpPr>
          <p:nvPr>
            <p:ph type="body" idx="1"/>
          </p:nvPr>
        </p:nvSpPr>
        <p:spPr>
          <a:xfrm>
            <a:off x="885825" y="4727575"/>
            <a:ext cx="4892675" cy="44910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09" tIns="43855" rIns="87709" bIns="43855">
            <a:normAutofit fontScale="92500"/>
          </a:bodyPr>
          <a:lstStyle/>
          <a:p>
            <a:r>
              <a:rPr lang="en-US" altLang="en-US" smtClean="0"/>
              <a:t>The </a:t>
            </a:r>
            <a:r>
              <a:rPr lang="en-US" altLang="en-US" b="1" smtClean="0"/>
              <a:t>TLS Record Protocol</a:t>
            </a:r>
            <a:r>
              <a:rPr lang="en-US" altLang="en-US" smtClean="0"/>
              <a:t> is sandwiched between a reliable Transport layer (that means TCP and not UDP) and the Application layer. Though the TLS Handshake Protocol is not really an application protocol, it sits above the TLS Record Protocol in the stack, and its messages are encapsulated by the TLS Record Protocol.</a:t>
            </a:r>
            <a:br>
              <a:rPr lang="en-US" altLang="en-US" smtClean="0"/>
            </a:br>
            <a:r>
              <a:rPr lang="en-US" altLang="en-US" smtClean="0"/>
              <a:t>A single </a:t>
            </a:r>
            <a:r>
              <a:rPr lang="en-US" altLang="en-US" b="1" smtClean="0"/>
              <a:t>TLS record</a:t>
            </a:r>
            <a:r>
              <a:rPr lang="en-US" altLang="en-US" smtClean="0"/>
              <a:t> may be up to 16384 bytes in length.</a:t>
            </a:r>
          </a:p>
          <a:p>
            <a:endParaRPr lang="en-US" altLang="en-US" smtClean="0"/>
          </a:p>
          <a:p>
            <a:r>
              <a:rPr lang="en-US" altLang="en-US" smtClean="0"/>
              <a:t>A </a:t>
            </a:r>
            <a:r>
              <a:rPr lang="en-US" altLang="en-US" b="1" smtClean="0"/>
              <a:t>TLS message</a:t>
            </a:r>
            <a:r>
              <a:rPr lang="en-US" altLang="en-US" smtClean="0"/>
              <a:t> may span multiple TLS records. A TLS certificate message may in principle be as long as 16MB.</a:t>
            </a:r>
          </a:p>
          <a:p>
            <a:endParaRPr lang="en-US" altLang="en-US" smtClean="0"/>
          </a:p>
          <a:p>
            <a:r>
              <a:rPr lang="en-US" altLang="en-US" smtClean="0"/>
              <a:t>The </a:t>
            </a:r>
            <a:r>
              <a:rPr lang="en-US" altLang="en-US" b="1" smtClean="0"/>
              <a:t>TLS Handshake Messages</a:t>
            </a:r>
            <a:r>
              <a:rPr lang="en-US" altLang="en-US" smtClean="0"/>
              <a:t> allow the server and the client to authenticate each other and to negotiate an encryption algorithm and cryptographic keys before the application protocol transmits or receives its first byte of data. Thus, when a TLS client and server first start communicating, they agree on a protocol version, select cryptographic algorithms, optionally authenticate each other, and use public key cryptography techniques to generate shared secrets. The TLS Handshake provides the negotiated security parameters for the Application Message exchange.</a:t>
            </a:r>
          </a:p>
          <a:p>
            <a:endParaRPr lang="en-US" altLang="en-US" smtClean="0"/>
          </a:p>
          <a:p>
            <a:r>
              <a:rPr lang="en-US" altLang="en-US" smtClean="0"/>
              <a:t>The </a:t>
            </a:r>
            <a:r>
              <a:rPr lang="en-US" altLang="en-US" b="1" smtClean="0"/>
              <a:t>TLS Application Message</a:t>
            </a:r>
            <a:r>
              <a:rPr lang="en-US" altLang="en-US" smtClean="0"/>
              <a:t> exchange uses a keyed-hash MAC (Message Authenticity Code), or HMAC, to protect the message's data integrity. An HMAC algorithm takes a secret key and a message and generates a hash. (There are other types of MAC algorithms.) Calculation of the HMAC with the same hash algorithm at the recipient's end of the communication would detect tampering with the data. And, because the recipient of the message with the MAC also has the secret key, the recipient can verify authenticity of the message, which is the second feature included in the RFC's term "reliable". This means that the message could only have been sent by someone with the same key.</a:t>
            </a:r>
          </a:p>
          <a:p>
            <a:endParaRPr lang="de-CH" altLang="en-US" smtClean="0"/>
          </a:p>
        </p:txBody>
      </p:sp>
    </p:spTree>
    <p:extLst>
      <p:ext uri="{BB962C8B-B14F-4D97-AF65-F5344CB8AC3E}">
        <p14:creationId xmlns:p14="http://schemas.microsoft.com/office/powerpoint/2010/main" val="3184666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38FF04D-2EDC-452D-9BCD-93AAECDD1A35}" type="slidenum">
              <a:rPr lang="de-DE" altLang="en-US" sz="1200" smtClean="0"/>
              <a:pPr/>
              <a:t>53</a:t>
            </a:fld>
            <a:endParaRPr lang="de-DE" altLang="en-US" sz="1200" smtClean="0"/>
          </a:p>
        </p:txBody>
      </p:sp>
      <p:sp>
        <p:nvSpPr>
          <p:cNvPr id="86019" name="Rectangle 2"/>
          <p:cNvSpPr>
            <a:spLocks noGrp="1" noRot="1" noChangeAspect="1" noChangeArrowheads="1" noTextEdit="1"/>
          </p:cNvSpPr>
          <p:nvPr>
            <p:ph type="sldImg"/>
          </p:nvPr>
        </p:nvSpPr>
        <p:spPr>
          <a:xfrm>
            <a:off x="862013" y="749300"/>
            <a:ext cx="4946650" cy="3711575"/>
          </a:xfrm>
          <a:ln/>
        </p:spPr>
      </p:sp>
      <p:sp>
        <p:nvSpPr>
          <p:cNvPr id="86020" name="Rectangle 3"/>
          <p:cNvSpPr>
            <a:spLocks noGrp="1" noChangeArrowheads="1"/>
          </p:cNvSpPr>
          <p:nvPr>
            <p:ph type="body" idx="1"/>
          </p:nvPr>
        </p:nvSpPr>
        <p:spPr>
          <a:xfrm>
            <a:off x="885825" y="4727575"/>
            <a:ext cx="5040313" cy="4948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693" tIns="43847" rIns="87693" bIns="43847">
            <a:normAutofit fontScale="92500" lnSpcReduction="10000"/>
          </a:bodyPr>
          <a:lstStyle/>
          <a:p>
            <a:r>
              <a:rPr lang="de-CH" altLang="en-US" b="1" smtClean="0"/>
              <a:t>TLS Handshake Protocol</a:t>
            </a:r>
          </a:p>
          <a:p>
            <a:r>
              <a:rPr lang="de-CH" altLang="en-US" smtClean="0"/>
              <a:t> </a:t>
            </a:r>
            <a:r>
              <a:rPr lang="de-DE" altLang="en-US" smtClean="0"/>
              <a:t>• The TLS session state is controlled by the TLS handshake protocol that runs on</a:t>
            </a:r>
            <a:br>
              <a:rPr lang="de-DE" altLang="en-US" smtClean="0"/>
            </a:br>
            <a:r>
              <a:rPr lang="de-DE" altLang="en-US" smtClean="0"/>
              <a:t>    top of the TLS record layer. When a TLS client and a TLS server first start</a:t>
            </a:r>
            <a:br>
              <a:rPr lang="de-DE" altLang="en-US" smtClean="0"/>
            </a:br>
            <a:r>
              <a:rPr lang="de-DE" altLang="en-US" smtClean="0"/>
              <a:t>   communicating, they agree on a protocol version, select cryptographic algorithms,</a:t>
            </a:r>
            <a:br>
              <a:rPr lang="de-DE" altLang="en-US" smtClean="0"/>
            </a:br>
            <a:r>
              <a:rPr lang="de-DE" altLang="en-US" smtClean="0"/>
              <a:t>   optionally authenticate each other, and use public-key encryption techniques to</a:t>
            </a:r>
            <a:br>
              <a:rPr lang="de-DE" altLang="en-US" smtClean="0"/>
            </a:br>
            <a:r>
              <a:rPr lang="de-DE" altLang="en-US" smtClean="0"/>
              <a:t>   generate shared secrets.</a:t>
            </a:r>
          </a:p>
          <a:p>
            <a:r>
              <a:rPr lang="de-CH" altLang="en-US" smtClean="0"/>
              <a:t> </a:t>
            </a:r>
            <a:r>
              <a:rPr lang="de-DE" altLang="en-US" smtClean="0"/>
              <a:t>• The client starts with a </a:t>
            </a:r>
            <a:r>
              <a:rPr lang="de-DE" altLang="en-US" b="1" smtClean="0"/>
              <a:t>ClientHello</a:t>
            </a:r>
            <a:r>
              <a:rPr lang="de-DE" altLang="en-US" smtClean="0"/>
              <a:t> message to which the server must respond</a:t>
            </a:r>
            <a:br>
              <a:rPr lang="de-DE" altLang="en-US" smtClean="0"/>
            </a:br>
            <a:r>
              <a:rPr lang="de-DE" altLang="en-US" smtClean="0"/>
              <a:t>   with a</a:t>
            </a:r>
            <a:r>
              <a:rPr lang="de-DE" altLang="en-US" b="1" smtClean="0"/>
              <a:t> ServerHello</a:t>
            </a:r>
            <a:r>
              <a:rPr lang="de-DE" altLang="en-US" smtClean="0"/>
              <a:t> message – otherwise a fatal error occurs and the connection</a:t>
            </a:r>
            <a:br>
              <a:rPr lang="de-DE" altLang="en-US" smtClean="0"/>
            </a:br>
            <a:r>
              <a:rPr lang="de-DE" altLang="en-US" smtClean="0"/>
              <a:t>   fails. The following attributes are established: Protocol Version, Session ID, Cipher</a:t>
            </a:r>
            <a:br>
              <a:rPr lang="de-DE" altLang="en-US" smtClean="0"/>
            </a:br>
            <a:r>
              <a:rPr lang="de-DE" altLang="en-US" smtClean="0"/>
              <a:t>   Suite, and Compression Method. Additionally, two random values are generated</a:t>
            </a:r>
            <a:br>
              <a:rPr lang="de-DE" altLang="en-US" smtClean="0"/>
            </a:br>
            <a:r>
              <a:rPr lang="de-DE" altLang="en-US" smtClean="0"/>
              <a:t>   and exchanged ClientHello-Random </a:t>
            </a:r>
            <a:r>
              <a:rPr lang="de-DE" altLang="en-US" i="1" smtClean="0"/>
              <a:t>R</a:t>
            </a:r>
            <a:r>
              <a:rPr lang="de-DE" altLang="en-US" i="1" baseline="-25000" smtClean="0"/>
              <a:t>C</a:t>
            </a:r>
            <a:r>
              <a:rPr lang="de-DE" altLang="en-US" smtClean="0"/>
              <a:t> and ServerHello-Random </a:t>
            </a:r>
            <a:r>
              <a:rPr lang="de-DE" altLang="en-US" i="1" smtClean="0"/>
              <a:t>R</a:t>
            </a:r>
            <a:r>
              <a:rPr lang="de-DE" altLang="en-US" i="1" baseline="-25000" smtClean="0"/>
              <a:t>S</a:t>
            </a:r>
            <a:r>
              <a:rPr lang="de-DE" altLang="en-US" smtClean="0"/>
              <a:t>.</a:t>
            </a:r>
          </a:p>
          <a:p>
            <a:r>
              <a:rPr lang="de-CH" altLang="en-US" smtClean="0"/>
              <a:t> </a:t>
            </a:r>
            <a:r>
              <a:rPr lang="de-DE" altLang="en-US" smtClean="0"/>
              <a:t>• Next the server usually sends its X.509 server certificate in an optional </a:t>
            </a:r>
            <a:r>
              <a:rPr lang="de-DE" altLang="en-US" b="1" smtClean="0"/>
              <a:t>Certificate</a:t>
            </a:r>
            <a:r>
              <a:rPr lang="de-DE" altLang="en-US" smtClean="0"/>
              <a:t/>
            </a:r>
            <a:br>
              <a:rPr lang="de-DE" altLang="en-US" smtClean="0"/>
            </a:br>
            <a:r>
              <a:rPr lang="de-DE" altLang="en-US" smtClean="0"/>
              <a:t>   message. If no certificate is sent, then an optional </a:t>
            </a:r>
            <a:r>
              <a:rPr lang="de-DE" altLang="en-US" b="1" smtClean="0"/>
              <a:t>ServerKeyExchange</a:t>
            </a:r>
            <a:r>
              <a:rPr lang="de-DE" altLang="en-US" smtClean="0"/>
              <a:t> message</a:t>
            </a:r>
            <a:br>
              <a:rPr lang="de-DE" altLang="en-US" smtClean="0"/>
            </a:br>
            <a:r>
              <a:rPr lang="de-DE" altLang="en-US" smtClean="0"/>
              <a:t>   may be sent instead, containing the server part of a Diffie-Hellman (DH) secret.</a:t>
            </a:r>
            <a:br>
              <a:rPr lang="de-DE" altLang="en-US" smtClean="0"/>
            </a:br>
            <a:r>
              <a:rPr lang="de-DE" altLang="en-US" smtClean="0"/>
              <a:t>   If the server insists on a </a:t>
            </a:r>
            <a:r>
              <a:rPr lang="de-DE" altLang="en-US" b="1" smtClean="0"/>
              <a:t>client side authentication</a:t>
            </a:r>
            <a:r>
              <a:rPr lang="de-DE" altLang="en-US" smtClean="0"/>
              <a:t> an optional </a:t>
            </a:r>
            <a:r>
              <a:rPr lang="de-DE" altLang="en-US" b="1" smtClean="0"/>
              <a:t>CertificateRequest</a:t>
            </a:r>
            <a:br>
              <a:rPr lang="de-DE" altLang="en-US" b="1" smtClean="0"/>
            </a:br>
            <a:r>
              <a:rPr lang="de-DE" altLang="en-US" b="1" smtClean="0"/>
              <a:t>  </a:t>
            </a:r>
            <a:r>
              <a:rPr lang="de-DE" altLang="en-US" smtClean="0"/>
              <a:t> message is appended. The server indicates the end of the server hello phase by</a:t>
            </a:r>
            <a:br>
              <a:rPr lang="de-DE" altLang="en-US" smtClean="0"/>
            </a:br>
            <a:r>
              <a:rPr lang="de-DE" altLang="en-US" smtClean="0"/>
              <a:t>   sending a </a:t>
            </a:r>
            <a:r>
              <a:rPr lang="de-DE" altLang="en-US" b="1" smtClean="0"/>
              <a:t>ServerHelloDone</a:t>
            </a:r>
            <a:r>
              <a:rPr lang="de-DE" altLang="en-US" smtClean="0"/>
              <a:t> message.</a:t>
            </a:r>
          </a:p>
          <a:p>
            <a:r>
              <a:rPr lang="de-CH" altLang="en-US" smtClean="0"/>
              <a:t> </a:t>
            </a:r>
            <a:r>
              <a:rPr lang="de-DE" altLang="en-US" smtClean="0"/>
              <a:t>• If the server has sent a CertificateRequest message, the client must send either</a:t>
            </a:r>
            <a:br>
              <a:rPr lang="de-DE" altLang="en-US" smtClean="0"/>
            </a:br>
            <a:r>
              <a:rPr lang="de-DE" altLang="en-US" smtClean="0"/>
              <a:t>   its X.509 client certificate in a </a:t>
            </a:r>
            <a:r>
              <a:rPr lang="de-DE" altLang="en-US" b="1" smtClean="0"/>
              <a:t>Certificate</a:t>
            </a:r>
            <a:r>
              <a:rPr lang="de-DE" altLang="en-US" smtClean="0"/>
              <a:t> message or  a ‘no certificate‘ alert.</a:t>
            </a:r>
            <a:br>
              <a:rPr lang="de-DE" altLang="en-US" smtClean="0"/>
            </a:br>
            <a:r>
              <a:rPr lang="de-DE" altLang="en-US" smtClean="0"/>
              <a:t>   If the client has received a server certificate containing the server‘s public RSA</a:t>
            </a:r>
            <a:br>
              <a:rPr lang="de-DE" altLang="en-US" smtClean="0"/>
            </a:br>
            <a:r>
              <a:rPr lang="de-DE" altLang="en-US" smtClean="0"/>
              <a:t>   key, the client encrypts a randomly chosen premaster secret with it and sends it</a:t>
            </a:r>
            <a:br>
              <a:rPr lang="de-DE" altLang="en-US" smtClean="0"/>
            </a:br>
            <a:r>
              <a:rPr lang="de-DE" altLang="en-US" smtClean="0"/>
              <a:t>   to the server in a </a:t>
            </a:r>
            <a:r>
              <a:rPr lang="de-DE" altLang="en-US" b="1" smtClean="0"/>
              <a:t>ClientKeyExchange</a:t>
            </a:r>
            <a:r>
              <a:rPr lang="de-DE" altLang="en-US" smtClean="0"/>
              <a:t> message. Alternatively the client can send</a:t>
            </a:r>
            <a:br>
              <a:rPr lang="de-DE" altLang="en-US" smtClean="0"/>
            </a:br>
            <a:r>
              <a:rPr lang="de-DE" altLang="en-US" smtClean="0"/>
              <a:t>   its part of a DH key exchange. Each side can now form a shared master secret. </a:t>
            </a:r>
          </a:p>
          <a:p>
            <a:r>
              <a:rPr lang="de-CH" altLang="en-US" smtClean="0"/>
              <a:t> </a:t>
            </a:r>
            <a:r>
              <a:rPr lang="de-DE" altLang="en-US" smtClean="0"/>
              <a:t>• The client then emits a </a:t>
            </a:r>
            <a:r>
              <a:rPr lang="de-DE" altLang="en-US" b="1" smtClean="0"/>
              <a:t>ChangeCipherSpec</a:t>
            </a:r>
            <a:r>
              <a:rPr lang="de-DE" altLang="en-US" smtClean="0"/>
              <a:t> message announcing that the new</a:t>
            </a:r>
            <a:br>
              <a:rPr lang="de-DE" altLang="en-US" smtClean="0"/>
            </a:br>
            <a:r>
              <a:rPr lang="de-DE" altLang="en-US" smtClean="0"/>
              <a:t>   parameters have been loaded, followed by a </a:t>
            </a:r>
            <a:r>
              <a:rPr lang="de-DE" altLang="en-US" b="1" smtClean="0"/>
              <a:t>Finished</a:t>
            </a:r>
            <a:r>
              <a:rPr lang="de-DE" altLang="en-US" smtClean="0"/>
              <a:t> message already encrypted</a:t>
            </a:r>
            <a:br>
              <a:rPr lang="de-DE" altLang="en-US" smtClean="0"/>
            </a:br>
            <a:r>
              <a:rPr lang="de-DE" altLang="en-US" smtClean="0"/>
              <a:t>   with the new settings. The server does the same on its side.</a:t>
            </a:r>
          </a:p>
          <a:p>
            <a:r>
              <a:rPr lang="de-CH" altLang="en-US" smtClean="0"/>
              <a:t> </a:t>
            </a:r>
            <a:r>
              <a:rPr lang="de-DE" altLang="en-US" smtClean="0"/>
              <a:t>• The encrypted exchange of application data can now be started.</a:t>
            </a:r>
          </a:p>
          <a:p>
            <a:endParaRPr lang="de-DE" altLang="en-US" smtClean="0"/>
          </a:p>
          <a:p>
            <a:r>
              <a:rPr lang="de-DE" altLang="en-US" i="1" smtClean="0"/>
              <a:t>Source:  Stephen Thomas, SSL and TLS Essentials, Wiley Computer Publishing</a:t>
            </a:r>
            <a:endParaRPr lang="de-DE" altLang="en-US" smtClean="0"/>
          </a:p>
          <a:p>
            <a:r>
              <a:rPr lang="de-CH" altLang="en-US" smtClean="0"/>
              <a:t> </a:t>
            </a:r>
          </a:p>
        </p:txBody>
      </p:sp>
    </p:spTree>
    <p:extLst>
      <p:ext uri="{BB962C8B-B14F-4D97-AF65-F5344CB8AC3E}">
        <p14:creationId xmlns:p14="http://schemas.microsoft.com/office/powerpoint/2010/main" val="3805333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A9AA06C-8E86-4EA5-9875-C48D632E19A4}" type="slidenum">
              <a:rPr lang="de-DE" altLang="en-US" sz="1200" smtClean="0"/>
              <a:pPr/>
              <a:t>54</a:t>
            </a:fld>
            <a:endParaRPr lang="de-DE" altLang="en-US" sz="1200" smtClean="0"/>
          </a:p>
        </p:txBody>
      </p:sp>
      <p:sp>
        <p:nvSpPr>
          <p:cNvPr id="88067" name="Rectangle 2"/>
          <p:cNvSpPr>
            <a:spLocks noGrp="1" noRot="1" noChangeAspect="1" noChangeArrowheads="1" noTextEdit="1"/>
          </p:cNvSpPr>
          <p:nvPr>
            <p:ph type="sldImg"/>
          </p:nvPr>
        </p:nvSpPr>
        <p:spPr>
          <a:xfrm>
            <a:off x="862013" y="749300"/>
            <a:ext cx="4946650" cy="3711575"/>
          </a:xfrm>
          <a:ln/>
        </p:spPr>
      </p:sp>
      <p:sp>
        <p:nvSpPr>
          <p:cNvPr id="88068" name="Rectangle 3"/>
          <p:cNvSpPr>
            <a:spLocks noGrp="1" noChangeArrowheads="1"/>
          </p:cNvSpPr>
          <p:nvPr>
            <p:ph type="body" idx="1"/>
          </p:nvPr>
        </p:nvSpPr>
        <p:spPr>
          <a:xfrm>
            <a:off x="885825" y="4727575"/>
            <a:ext cx="5040313" cy="4948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693" tIns="43847" rIns="87693" bIns="43847">
            <a:normAutofit lnSpcReduction="10000"/>
          </a:bodyPr>
          <a:lstStyle/>
          <a:p>
            <a:r>
              <a:rPr lang="de-CH" altLang="en-US" b="1" smtClean="0"/>
              <a:t>Resuming a TLS Session</a:t>
            </a:r>
          </a:p>
          <a:p>
            <a:r>
              <a:rPr lang="de-CH" altLang="en-US" smtClean="0"/>
              <a:t> </a:t>
            </a:r>
            <a:r>
              <a:rPr lang="de-DE" altLang="en-US" smtClean="0"/>
              <a:t>• </a:t>
            </a:r>
            <a:r>
              <a:rPr lang="en-US" altLang="en-US" smtClean="0"/>
              <a:t>When the client and server decide to resume a previous session or duplicate an</a:t>
            </a:r>
            <a:br>
              <a:rPr lang="en-US" altLang="en-US" smtClean="0"/>
            </a:br>
            <a:r>
              <a:rPr lang="en-US" altLang="en-US" smtClean="0"/>
              <a:t>   existing session (instead of negotiating new security parameters) the message flow</a:t>
            </a:r>
            <a:br>
              <a:rPr lang="en-US" altLang="en-US" smtClean="0"/>
            </a:br>
            <a:r>
              <a:rPr lang="en-US" altLang="en-US" smtClean="0"/>
              <a:t>   is as follows:</a:t>
            </a:r>
          </a:p>
          <a:p>
            <a:r>
              <a:rPr lang="de-CH" altLang="en-US" smtClean="0"/>
              <a:t> </a:t>
            </a:r>
            <a:r>
              <a:rPr lang="de-DE" altLang="en-US" smtClean="0"/>
              <a:t>• </a:t>
            </a:r>
            <a:r>
              <a:rPr lang="en-US" altLang="en-US" smtClean="0"/>
              <a:t>The client sends a ClientHello using the Session ID of the session to be resumed.</a:t>
            </a:r>
            <a:br>
              <a:rPr lang="en-US" altLang="en-US" smtClean="0"/>
            </a:br>
            <a:r>
              <a:rPr lang="en-US" altLang="en-US" smtClean="0"/>
              <a:t>   The server then checks its session cache for a match. If a match is found, and the</a:t>
            </a:r>
            <a:br>
              <a:rPr lang="en-US" altLang="en-US" smtClean="0"/>
            </a:br>
            <a:r>
              <a:rPr lang="en-US" altLang="en-US" smtClean="0"/>
              <a:t>   server is willing to re-establish the connection under the specified session state, it</a:t>
            </a:r>
            <a:br>
              <a:rPr lang="en-US" altLang="en-US" smtClean="0"/>
            </a:br>
            <a:r>
              <a:rPr lang="en-US" altLang="en-US" smtClean="0"/>
              <a:t>   will send a ServerHello with the same Session ID value. Using the cached master</a:t>
            </a:r>
            <a:br>
              <a:rPr lang="en-US" altLang="en-US" smtClean="0"/>
            </a:br>
            <a:r>
              <a:rPr lang="en-US" altLang="en-US" smtClean="0"/>
              <a:t>   secret and the fresh client hello and server hello nonces, new session key material</a:t>
            </a:r>
            <a:br>
              <a:rPr lang="en-US" altLang="en-US" smtClean="0"/>
            </a:br>
            <a:r>
              <a:rPr lang="en-US" altLang="en-US" smtClean="0"/>
              <a:t>   is generated. At this point, both client and server must send change cipher spec</a:t>
            </a:r>
            <a:br>
              <a:rPr lang="en-US" altLang="en-US" smtClean="0"/>
            </a:br>
            <a:r>
              <a:rPr lang="en-US" altLang="en-US" smtClean="0"/>
              <a:t>   messages and proceed directly to the finished messages. Once the re-establishment</a:t>
            </a:r>
            <a:br>
              <a:rPr lang="en-US" altLang="en-US" smtClean="0"/>
            </a:br>
            <a:r>
              <a:rPr lang="en-US" altLang="en-US" smtClean="0"/>
              <a:t>   is complete, the client and server may begin to exchange application layer data.</a:t>
            </a:r>
            <a:br>
              <a:rPr lang="en-US" altLang="en-US" smtClean="0"/>
            </a:br>
            <a:r>
              <a:rPr lang="en-US" altLang="en-US" smtClean="0"/>
              <a:t>   If a Session ID match is not found, the server generates a new session ID and the</a:t>
            </a:r>
            <a:br>
              <a:rPr lang="en-US" altLang="en-US" smtClean="0"/>
            </a:br>
            <a:r>
              <a:rPr lang="en-US" altLang="en-US" smtClean="0"/>
              <a:t>   TLS client and server perform a full handshake.</a:t>
            </a:r>
          </a:p>
          <a:p>
            <a:r>
              <a:rPr lang="en-US" altLang="en-US" smtClean="0"/>
              <a:t> </a:t>
            </a:r>
            <a:endParaRPr lang="de-DE" altLang="en-US" smtClean="0"/>
          </a:p>
          <a:p>
            <a:r>
              <a:rPr lang="de-DE" altLang="en-US" i="1" smtClean="0"/>
              <a:t>Source:  RFC 2246 – TLS Protocol Version 1.0</a:t>
            </a:r>
            <a:endParaRPr lang="de-DE" altLang="en-US" smtClean="0"/>
          </a:p>
          <a:p>
            <a:r>
              <a:rPr lang="de-CH" altLang="en-US" smtClean="0"/>
              <a:t> </a:t>
            </a:r>
          </a:p>
        </p:txBody>
      </p:sp>
    </p:spTree>
    <p:extLst>
      <p:ext uri="{BB962C8B-B14F-4D97-AF65-F5344CB8AC3E}">
        <p14:creationId xmlns:p14="http://schemas.microsoft.com/office/powerpoint/2010/main" val="3869825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C5730D9-96BB-44E6-AEFE-5BDDCB5EC28C}" type="slidenum">
              <a:rPr lang="de-DE" altLang="en-US" sz="1200" smtClean="0"/>
              <a:pPr/>
              <a:t>55</a:t>
            </a:fld>
            <a:endParaRPr lang="de-DE" altLang="en-US" sz="1200" smtClean="0"/>
          </a:p>
        </p:txBody>
      </p:sp>
      <p:sp>
        <p:nvSpPr>
          <p:cNvPr id="90115" name="Rectangle 2"/>
          <p:cNvSpPr>
            <a:spLocks noGrp="1" noRot="1" noChangeAspect="1" noChangeArrowheads="1" noTextEdit="1"/>
          </p:cNvSpPr>
          <p:nvPr>
            <p:ph type="sldImg"/>
          </p:nvPr>
        </p:nvSpPr>
        <p:spPr>
          <a:xfrm>
            <a:off x="862013" y="749300"/>
            <a:ext cx="4946650" cy="3711575"/>
          </a:xfrm>
          <a:ln/>
        </p:spPr>
      </p:sp>
      <p:sp>
        <p:nvSpPr>
          <p:cNvPr id="90116" name="Rectangle 3"/>
          <p:cNvSpPr>
            <a:spLocks noGrp="1" noChangeArrowheads="1"/>
          </p:cNvSpPr>
          <p:nvPr>
            <p:ph type="body" idx="1"/>
          </p:nvPr>
        </p:nvSpPr>
        <p:spPr>
          <a:xfrm>
            <a:off x="885825" y="4727575"/>
            <a:ext cx="4892675" cy="44910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09" tIns="43855" rIns="87709" bIns="43855"/>
          <a:lstStyle/>
          <a:p>
            <a:r>
              <a:rPr lang="de-CH" altLang="en-US" smtClean="0"/>
              <a:t> </a:t>
            </a:r>
          </a:p>
        </p:txBody>
      </p:sp>
      <p:sp>
        <p:nvSpPr>
          <p:cNvPr id="90117" name="Line 4"/>
          <p:cNvSpPr>
            <a:spLocks noChangeShapeType="1"/>
          </p:cNvSpPr>
          <p:nvPr/>
        </p:nvSpPr>
        <p:spPr bwMode="auto">
          <a:xfrm>
            <a:off x="709613" y="49641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18" name="Line 5"/>
          <p:cNvSpPr>
            <a:spLocks noChangeShapeType="1"/>
          </p:cNvSpPr>
          <p:nvPr/>
        </p:nvSpPr>
        <p:spPr bwMode="auto">
          <a:xfrm>
            <a:off x="709613" y="52482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19" name="Line 6"/>
          <p:cNvSpPr>
            <a:spLocks noChangeShapeType="1"/>
          </p:cNvSpPr>
          <p:nvPr/>
        </p:nvSpPr>
        <p:spPr bwMode="auto">
          <a:xfrm>
            <a:off x="709613" y="55308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0" name="Line 7"/>
          <p:cNvSpPr>
            <a:spLocks noChangeShapeType="1"/>
          </p:cNvSpPr>
          <p:nvPr/>
        </p:nvSpPr>
        <p:spPr bwMode="auto">
          <a:xfrm>
            <a:off x="709613" y="581660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1" name="Line 8"/>
          <p:cNvSpPr>
            <a:spLocks noChangeShapeType="1"/>
          </p:cNvSpPr>
          <p:nvPr/>
        </p:nvSpPr>
        <p:spPr bwMode="auto">
          <a:xfrm>
            <a:off x="709613" y="60975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2" name="Line 9"/>
          <p:cNvSpPr>
            <a:spLocks noChangeShapeType="1"/>
          </p:cNvSpPr>
          <p:nvPr/>
        </p:nvSpPr>
        <p:spPr bwMode="auto">
          <a:xfrm>
            <a:off x="709613" y="63817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3" name="Line 10"/>
          <p:cNvSpPr>
            <a:spLocks noChangeShapeType="1"/>
          </p:cNvSpPr>
          <p:nvPr/>
        </p:nvSpPr>
        <p:spPr bwMode="auto">
          <a:xfrm>
            <a:off x="709613" y="66643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4" name="Line 11"/>
          <p:cNvSpPr>
            <a:spLocks noChangeShapeType="1"/>
          </p:cNvSpPr>
          <p:nvPr/>
        </p:nvSpPr>
        <p:spPr bwMode="auto">
          <a:xfrm>
            <a:off x="709613" y="69484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5" name="Line 12"/>
          <p:cNvSpPr>
            <a:spLocks noChangeShapeType="1"/>
          </p:cNvSpPr>
          <p:nvPr/>
        </p:nvSpPr>
        <p:spPr bwMode="auto">
          <a:xfrm>
            <a:off x="709613" y="72326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6" name="Line 13"/>
          <p:cNvSpPr>
            <a:spLocks noChangeShapeType="1"/>
          </p:cNvSpPr>
          <p:nvPr/>
        </p:nvSpPr>
        <p:spPr bwMode="auto">
          <a:xfrm>
            <a:off x="709613" y="75168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7" name="Line 14"/>
          <p:cNvSpPr>
            <a:spLocks noChangeShapeType="1"/>
          </p:cNvSpPr>
          <p:nvPr/>
        </p:nvSpPr>
        <p:spPr bwMode="auto">
          <a:xfrm>
            <a:off x="709613" y="77993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8" name="Line 15"/>
          <p:cNvSpPr>
            <a:spLocks noChangeShapeType="1"/>
          </p:cNvSpPr>
          <p:nvPr/>
        </p:nvSpPr>
        <p:spPr bwMode="auto">
          <a:xfrm>
            <a:off x="709613" y="80835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29" name="Line 16"/>
          <p:cNvSpPr>
            <a:spLocks noChangeShapeType="1"/>
          </p:cNvSpPr>
          <p:nvPr/>
        </p:nvSpPr>
        <p:spPr bwMode="auto">
          <a:xfrm>
            <a:off x="709613" y="83661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30" name="Line 17"/>
          <p:cNvSpPr>
            <a:spLocks noChangeShapeType="1"/>
          </p:cNvSpPr>
          <p:nvPr/>
        </p:nvSpPr>
        <p:spPr bwMode="auto">
          <a:xfrm>
            <a:off x="709613" y="86518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0131" name="Line 18"/>
          <p:cNvSpPr>
            <a:spLocks noChangeShapeType="1"/>
          </p:cNvSpPr>
          <p:nvPr/>
        </p:nvSpPr>
        <p:spPr bwMode="auto">
          <a:xfrm>
            <a:off x="709613" y="893603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Tree>
    <p:extLst>
      <p:ext uri="{BB962C8B-B14F-4D97-AF65-F5344CB8AC3E}">
        <p14:creationId xmlns:p14="http://schemas.microsoft.com/office/powerpoint/2010/main" val="2235590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68D0EF7-DAA0-413D-89A4-E8CB8F891BF1}" type="slidenum">
              <a:rPr lang="de-DE" altLang="en-US" sz="1200" smtClean="0"/>
              <a:pPr/>
              <a:t>56</a:t>
            </a:fld>
            <a:endParaRPr lang="de-DE" altLang="en-US" sz="1200" smtClean="0"/>
          </a:p>
        </p:txBody>
      </p:sp>
      <p:sp>
        <p:nvSpPr>
          <p:cNvPr id="92163" name="Rectangle 2"/>
          <p:cNvSpPr>
            <a:spLocks noGrp="1" noRot="1" noChangeAspect="1" noChangeArrowheads="1" noTextEdit="1"/>
          </p:cNvSpPr>
          <p:nvPr>
            <p:ph type="sldImg"/>
          </p:nvPr>
        </p:nvSpPr>
        <p:spPr>
          <a:xfrm>
            <a:off x="862013" y="749300"/>
            <a:ext cx="4946650" cy="3711575"/>
          </a:xfrm>
          <a:ln/>
        </p:spPr>
      </p:sp>
      <p:sp>
        <p:nvSpPr>
          <p:cNvPr id="92164" name="Rectangle 3"/>
          <p:cNvSpPr>
            <a:spLocks noGrp="1" noChangeArrowheads="1"/>
          </p:cNvSpPr>
          <p:nvPr>
            <p:ph type="body" idx="1"/>
          </p:nvPr>
        </p:nvSpPr>
        <p:spPr>
          <a:xfrm>
            <a:off x="885825" y="4727575"/>
            <a:ext cx="4892675" cy="44910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09" tIns="43855" rIns="87709" bIns="43855"/>
          <a:lstStyle/>
          <a:p>
            <a:r>
              <a:rPr lang="de-CH" altLang="en-US" smtClean="0"/>
              <a:t> </a:t>
            </a:r>
          </a:p>
        </p:txBody>
      </p:sp>
      <p:sp>
        <p:nvSpPr>
          <p:cNvPr id="92165" name="Line 4"/>
          <p:cNvSpPr>
            <a:spLocks noChangeShapeType="1"/>
          </p:cNvSpPr>
          <p:nvPr/>
        </p:nvSpPr>
        <p:spPr bwMode="auto">
          <a:xfrm>
            <a:off x="709613" y="49641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66" name="Line 5"/>
          <p:cNvSpPr>
            <a:spLocks noChangeShapeType="1"/>
          </p:cNvSpPr>
          <p:nvPr/>
        </p:nvSpPr>
        <p:spPr bwMode="auto">
          <a:xfrm>
            <a:off x="709613" y="52482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67" name="Line 6"/>
          <p:cNvSpPr>
            <a:spLocks noChangeShapeType="1"/>
          </p:cNvSpPr>
          <p:nvPr/>
        </p:nvSpPr>
        <p:spPr bwMode="auto">
          <a:xfrm>
            <a:off x="709613" y="55308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68" name="Line 7"/>
          <p:cNvSpPr>
            <a:spLocks noChangeShapeType="1"/>
          </p:cNvSpPr>
          <p:nvPr/>
        </p:nvSpPr>
        <p:spPr bwMode="auto">
          <a:xfrm>
            <a:off x="709613" y="581660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69" name="Line 8"/>
          <p:cNvSpPr>
            <a:spLocks noChangeShapeType="1"/>
          </p:cNvSpPr>
          <p:nvPr/>
        </p:nvSpPr>
        <p:spPr bwMode="auto">
          <a:xfrm>
            <a:off x="709613" y="60975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0" name="Line 9"/>
          <p:cNvSpPr>
            <a:spLocks noChangeShapeType="1"/>
          </p:cNvSpPr>
          <p:nvPr/>
        </p:nvSpPr>
        <p:spPr bwMode="auto">
          <a:xfrm>
            <a:off x="709613" y="63817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1" name="Line 10"/>
          <p:cNvSpPr>
            <a:spLocks noChangeShapeType="1"/>
          </p:cNvSpPr>
          <p:nvPr/>
        </p:nvSpPr>
        <p:spPr bwMode="auto">
          <a:xfrm>
            <a:off x="709613" y="66643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2" name="Line 11"/>
          <p:cNvSpPr>
            <a:spLocks noChangeShapeType="1"/>
          </p:cNvSpPr>
          <p:nvPr/>
        </p:nvSpPr>
        <p:spPr bwMode="auto">
          <a:xfrm>
            <a:off x="709613" y="69484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3" name="Line 12"/>
          <p:cNvSpPr>
            <a:spLocks noChangeShapeType="1"/>
          </p:cNvSpPr>
          <p:nvPr/>
        </p:nvSpPr>
        <p:spPr bwMode="auto">
          <a:xfrm>
            <a:off x="709613" y="72326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4" name="Line 13"/>
          <p:cNvSpPr>
            <a:spLocks noChangeShapeType="1"/>
          </p:cNvSpPr>
          <p:nvPr/>
        </p:nvSpPr>
        <p:spPr bwMode="auto">
          <a:xfrm>
            <a:off x="709613" y="75168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5" name="Line 14"/>
          <p:cNvSpPr>
            <a:spLocks noChangeShapeType="1"/>
          </p:cNvSpPr>
          <p:nvPr/>
        </p:nvSpPr>
        <p:spPr bwMode="auto">
          <a:xfrm>
            <a:off x="709613" y="77993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6" name="Line 15"/>
          <p:cNvSpPr>
            <a:spLocks noChangeShapeType="1"/>
          </p:cNvSpPr>
          <p:nvPr/>
        </p:nvSpPr>
        <p:spPr bwMode="auto">
          <a:xfrm>
            <a:off x="709613" y="80835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7" name="Line 16"/>
          <p:cNvSpPr>
            <a:spLocks noChangeShapeType="1"/>
          </p:cNvSpPr>
          <p:nvPr/>
        </p:nvSpPr>
        <p:spPr bwMode="auto">
          <a:xfrm>
            <a:off x="709613" y="83661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8" name="Line 17"/>
          <p:cNvSpPr>
            <a:spLocks noChangeShapeType="1"/>
          </p:cNvSpPr>
          <p:nvPr/>
        </p:nvSpPr>
        <p:spPr bwMode="auto">
          <a:xfrm>
            <a:off x="709613" y="86518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2179" name="Line 18"/>
          <p:cNvSpPr>
            <a:spLocks noChangeShapeType="1"/>
          </p:cNvSpPr>
          <p:nvPr/>
        </p:nvSpPr>
        <p:spPr bwMode="auto">
          <a:xfrm>
            <a:off x="709613" y="893603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Tree>
    <p:extLst>
      <p:ext uri="{BB962C8B-B14F-4D97-AF65-F5344CB8AC3E}">
        <p14:creationId xmlns:p14="http://schemas.microsoft.com/office/powerpoint/2010/main" val="1258065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D293F22-3296-4FAE-A881-708C9E9FD4CD}" type="slidenum">
              <a:rPr lang="de-DE" altLang="en-US" sz="1200" smtClean="0"/>
              <a:pPr/>
              <a:t>57</a:t>
            </a:fld>
            <a:endParaRPr lang="de-DE" altLang="en-US" sz="1200" smtClean="0"/>
          </a:p>
        </p:txBody>
      </p:sp>
      <p:sp>
        <p:nvSpPr>
          <p:cNvPr id="94211" name="Rectangle 2"/>
          <p:cNvSpPr>
            <a:spLocks noGrp="1" noRot="1" noChangeAspect="1" noChangeArrowheads="1" noTextEdit="1"/>
          </p:cNvSpPr>
          <p:nvPr>
            <p:ph type="sldImg"/>
          </p:nvPr>
        </p:nvSpPr>
        <p:spPr>
          <a:xfrm>
            <a:off x="862013" y="749300"/>
            <a:ext cx="4946650" cy="3711575"/>
          </a:xfrm>
          <a:ln/>
        </p:spPr>
      </p:sp>
      <p:sp>
        <p:nvSpPr>
          <p:cNvPr id="94212" name="Rectangle 3"/>
          <p:cNvSpPr>
            <a:spLocks noGrp="1" noChangeArrowheads="1"/>
          </p:cNvSpPr>
          <p:nvPr>
            <p:ph type="body" idx="1"/>
          </p:nvPr>
        </p:nvSpPr>
        <p:spPr>
          <a:xfrm>
            <a:off x="885825" y="4727575"/>
            <a:ext cx="4892675" cy="44910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09" tIns="43855" rIns="87709" bIns="43855"/>
          <a:lstStyle/>
          <a:p>
            <a:r>
              <a:rPr lang="de-CH" altLang="en-US" smtClean="0"/>
              <a:t> </a:t>
            </a:r>
          </a:p>
        </p:txBody>
      </p:sp>
      <p:sp>
        <p:nvSpPr>
          <p:cNvPr id="94213" name="Line 4"/>
          <p:cNvSpPr>
            <a:spLocks noChangeShapeType="1"/>
          </p:cNvSpPr>
          <p:nvPr/>
        </p:nvSpPr>
        <p:spPr bwMode="auto">
          <a:xfrm>
            <a:off x="709613" y="49641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14" name="Line 5"/>
          <p:cNvSpPr>
            <a:spLocks noChangeShapeType="1"/>
          </p:cNvSpPr>
          <p:nvPr/>
        </p:nvSpPr>
        <p:spPr bwMode="auto">
          <a:xfrm>
            <a:off x="709613" y="52482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15" name="Line 6"/>
          <p:cNvSpPr>
            <a:spLocks noChangeShapeType="1"/>
          </p:cNvSpPr>
          <p:nvPr/>
        </p:nvSpPr>
        <p:spPr bwMode="auto">
          <a:xfrm>
            <a:off x="709613" y="55308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16" name="Line 7"/>
          <p:cNvSpPr>
            <a:spLocks noChangeShapeType="1"/>
          </p:cNvSpPr>
          <p:nvPr/>
        </p:nvSpPr>
        <p:spPr bwMode="auto">
          <a:xfrm>
            <a:off x="709613" y="581660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17" name="Line 8"/>
          <p:cNvSpPr>
            <a:spLocks noChangeShapeType="1"/>
          </p:cNvSpPr>
          <p:nvPr/>
        </p:nvSpPr>
        <p:spPr bwMode="auto">
          <a:xfrm>
            <a:off x="709613" y="60975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18" name="Line 9"/>
          <p:cNvSpPr>
            <a:spLocks noChangeShapeType="1"/>
          </p:cNvSpPr>
          <p:nvPr/>
        </p:nvSpPr>
        <p:spPr bwMode="auto">
          <a:xfrm>
            <a:off x="709613" y="63817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19" name="Line 10"/>
          <p:cNvSpPr>
            <a:spLocks noChangeShapeType="1"/>
          </p:cNvSpPr>
          <p:nvPr/>
        </p:nvSpPr>
        <p:spPr bwMode="auto">
          <a:xfrm>
            <a:off x="709613" y="66643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0" name="Line 11"/>
          <p:cNvSpPr>
            <a:spLocks noChangeShapeType="1"/>
          </p:cNvSpPr>
          <p:nvPr/>
        </p:nvSpPr>
        <p:spPr bwMode="auto">
          <a:xfrm>
            <a:off x="709613" y="69484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1" name="Line 12"/>
          <p:cNvSpPr>
            <a:spLocks noChangeShapeType="1"/>
          </p:cNvSpPr>
          <p:nvPr/>
        </p:nvSpPr>
        <p:spPr bwMode="auto">
          <a:xfrm>
            <a:off x="709613" y="72326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2" name="Line 13"/>
          <p:cNvSpPr>
            <a:spLocks noChangeShapeType="1"/>
          </p:cNvSpPr>
          <p:nvPr/>
        </p:nvSpPr>
        <p:spPr bwMode="auto">
          <a:xfrm>
            <a:off x="709613" y="7516813"/>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3" name="Line 14"/>
          <p:cNvSpPr>
            <a:spLocks noChangeShapeType="1"/>
          </p:cNvSpPr>
          <p:nvPr/>
        </p:nvSpPr>
        <p:spPr bwMode="auto">
          <a:xfrm>
            <a:off x="709613" y="779938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4" name="Line 15"/>
          <p:cNvSpPr>
            <a:spLocks noChangeShapeType="1"/>
          </p:cNvSpPr>
          <p:nvPr/>
        </p:nvSpPr>
        <p:spPr bwMode="auto">
          <a:xfrm>
            <a:off x="709613" y="8083550"/>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5" name="Line 16"/>
          <p:cNvSpPr>
            <a:spLocks noChangeShapeType="1"/>
          </p:cNvSpPr>
          <p:nvPr/>
        </p:nvSpPr>
        <p:spPr bwMode="auto">
          <a:xfrm>
            <a:off x="709613" y="836612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6" name="Line 17"/>
          <p:cNvSpPr>
            <a:spLocks noChangeShapeType="1"/>
          </p:cNvSpPr>
          <p:nvPr/>
        </p:nvSpPr>
        <p:spPr bwMode="auto">
          <a:xfrm>
            <a:off x="709613" y="8651875"/>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
        <p:nvSpPr>
          <p:cNvPr id="94227" name="Line 18"/>
          <p:cNvSpPr>
            <a:spLocks noChangeShapeType="1"/>
          </p:cNvSpPr>
          <p:nvPr/>
        </p:nvSpPr>
        <p:spPr bwMode="auto">
          <a:xfrm>
            <a:off x="709613" y="8936038"/>
            <a:ext cx="5248275"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tIns="108000" bIns="108000"/>
          <a:lstStyle/>
          <a:p>
            <a:endParaRPr lang="en-US"/>
          </a:p>
        </p:txBody>
      </p:sp>
    </p:spTree>
    <p:extLst>
      <p:ext uri="{BB962C8B-B14F-4D97-AF65-F5344CB8AC3E}">
        <p14:creationId xmlns:p14="http://schemas.microsoft.com/office/powerpoint/2010/main" val="2747616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66D57F-6376-4040-926E-4D4D96EA865F}" type="slidenum">
              <a:rPr lang="en-AU" altLang="en-US" sz="1200" smtClean="0"/>
              <a:pPr/>
              <a:t>60</a:t>
            </a:fld>
            <a:endParaRPr lang="en-AU" altLang="en-US" sz="1200"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Stallings Fig 17-8.</a:t>
            </a:r>
            <a:endParaRPr lang="en-AU" altLang="en-US" smtClean="0"/>
          </a:p>
        </p:txBody>
      </p:sp>
    </p:spTree>
    <p:extLst>
      <p:ext uri="{BB962C8B-B14F-4D97-AF65-F5344CB8AC3E}">
        <p14:creationId xmlns:p14="http://schemas.microsoft.com/office/powerpoint/2010/main" val="1759882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5BC117C-6A34-4EDB-890F-363CD844AE70}" type="slidenum">
              <a:rPr lang="en-AU" altLang="en-US" sz="1200" smtClean="0"/>
              <a:pPr/>
              <a:t>66</a:t>
            </a:fld>
            <a:endParaRPr lang="en-AU" altLang="en-US" sz="1200"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Stallings Fig 17-10.</a:t>
            </a:r>
            <a:endParaRPr lang="en-AU" altLang="en-US" smtClean="0"/>
          </a:p>
        </p:txBody>
      </p:sp>
    </p:spTree>
    <p:extLst>
      <p:ext uri="{BB962C8B-B14F-4D97-AF65-F5344CB8AC3E}">
        <p14:creationId xmlns:p14="http://schemas.microsoft.com/office/powerpoint/2010/main" val="7976215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8BE7804-3A68-487B-8F8A-820995B9C562}" type="slidenum">
              <a:rPr lang="en-AU" altLang="en-US" sz="1200" smtClean="0"/>
              <a:pPr/>
              <a:t>67</a:t>
            </a:fld>
            <a:endParaRPr lang="en-AU" altLang="en-US" sz="1200"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Stallings Fig 17-11.</a:t>
            </a:r>
            <a:endParaRPr lang="en-AU" altLang="en-US" smtClean="0"/>
          </a:p>
        </p:txBody>
      </p:sp>
    </p:spTree>
    <p:extLst>
      <p:ext uri="{BB962C8B-B14F-4D97-AF65-F5344CB8AC3E}">
        <p14:creationId xmlns:p14="http://schemas.microsoft.com/office/powerpoint/2010/main" val="12583934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74</a:t>
            </a:fld>
            <a:endParaRPr lang="en-IN"/>
          </a:p>
        </p:txBody>
      </p:sp>
    </p:spTree>
    <p:extLst>
      <p:ext uri="{BB962C8B-B14F-4D97-AF65-F5344CB8AC3E}">
        <p14:creationId xmlns:p14="http://schemas.microsoft.com/office/powerpoint/2010/main" val="246330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a:prstGeom prst="rect">
            <a:avLst/>
          </a:prstGeom>
        </p:spPr>
        <p:txBody>
          <a:bodyPr/>
          <a:lstStyle/>
          <a:p>
            <a:r>
              <a:rPr lang="en-US" smtClean="0"/>
              <a:t>Click to edit Master title style</a:t>
            </a:r>
            <a:endParaRPr lang="en-US"/>
          </a:p>
        </p:txBody>
      </p:sp>
      <p:sp>
        <p:nvSpPr>
          <p:cNvPr id="3" name="Table Placeholder 2"/>
          <p:cNvSpPr>
            <a:spLocks noGrp="1"/>
          </p:cNvSpPr>
          <p:nvPr>
            <p:ph type="tbl" idx="1"/>
          </p:nvPr>
        </p:nvSpPr>
        <p:spPr>
          <a:xfrm>
            <a:off x="1182688" y="2017713"/>
            <a:ext cx="7772400" cy="4114800"/>
          </a:xfrm>
        </p:spPr>
        <p:txBody>
          <a:bodyPr/>
          <a:lstStyle/>
          <a:p>
            <a:pPr lvl="0"/>
            <a:endParaRPr lang="en-US" noProof="0" smtClean="0"/>
          </a:p>
        </p:txBody>
      </p:sp>
      <p:sp>
        <p:nvSpPr>
          <p:cNvPr id="4" name="Rectangle 6"/>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7"/>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r>
              <a:rPr lang="en-US" smtClean="0"/>
              <a:t>SS ZG516 -Computer Organization and Software Systems</a:t>
            </a:r>
            <a:endParaRPr lang="en-US"/>
          </a:p>
        </p:txBody>
      </p:sp>
      <p:sp>
        <p:nvSpPr>
          <p:cNvPr id="6" name="Rectangle 8"/>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AA36CD24-DBA9-4EB4-99D5-689FFC6144E4}" type="slidenum">
              <a:rPr lang="en-US" altLang="en-US"/>
              <a:pPr>
                <a:defRPr/>
              </a:pPr>
              <a:t>‹#›</a:t>
            </a:fld>
            <a:endParaRPr lang="en-US" altLang="en-US"/>
          </a:p>
        </p:txBody>
      </p:sp>
    </p:spTree>
    <p:extLst>
      <p:ext uri="{BB962C8B-B14F-4D97-AF65-F5344CB8AC3E}">
        <p14:creationId xmlns:p14="http://schemas.microsoft.com/office/powerpoint/2010/main" val="617089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3624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5"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45" r:id="rId12"/>
    <p:sldLayoutId id="2147483746"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SS ZG516 -Computer Organization and Software Systems</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www.openssl.org/" TargetMode="External"/><Relationship Id="rId2" Type="http://schemas.openxmlformats.org/officeDocument/2006/relationships/hyperlink" Target="http://www.ietf.org/rfc/rfc2246.tx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en.wikipedia.org/wiki/X.509" TargetMode="External"/><Relationship Id="rId2" Type="http://schemas.openxmlformats.org/officeDocument/2006/relationships/hyperlink" Target="http://en.wikipedia.org/wiki/Message_authentication_code" TargetMode="External"/><Relationship Id="rId1" Type="http://schemas.openxmlformats.org/officeDocument/2006/relationships/slideLayout" Target="../slideLayouts/slideLayout2.xml"/><Relationship Id="rId6" Type="http://schemas.openxmlformats.org/officeDocument/2006/relationships/hyperlink" Target="http://en.wikipedia.org/wiki/Pseudorandomness" TargetMode="External"/><Relationship Id="rId5" Type="http://schemas.openxmlformats.org/officeDocument/2006/relationships/hyperlink" Target="http://en.wikipedia.org/wiki/Diffie-Hellman" TargetMode="External"/><Relationship Id="rId4" Type="http://schemas.openxmlformats.org/officeDocument/2006/relationships/hyperlink" Target="http://en.wikipedia.org/wiki/OpenPGP"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en.wikipedia.org/wiki/Man_in_the_middle_attack" TargetMode="External"/><Relationship Id="rId2" Type="http://schemas.openxmlformats.org/officeDocument/2006/relationships/hyperlink" Target="http://tools.ietf.org/html/rfc2104" TargetMode="External"/><Relationship Id="rId1" Type="http://schemas.openxmlformats.org/officeDocument/2006/relationships/slideLayout" Target="../slideLayouts/slideLayout2.xml"/><Relationship Id="rId6" Type="http://schemas.openxmlformats.org/officeDocument/2006/relationships/hyperlink" Target="http://en.wikipedia.org/wiki/XOR" TargetMode="External"/><Relationship Id="rId5" Type="http://schemas.openxmlformats.org/officeDocument/2006/relationships/hyperlink" Target="http://en.wikipedia.org/wiki/SHA" TargetMode="External"/><Relationship Id="rId4" Type="http://schemas.openxmlformats.org/officeDocument/2006/relationships/hyperlink" Target="http://en.wikipedia.org/wiki/MD5"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http://en.wikipedia.org/wiki/Internet_protocol_suite" TargetMode="External"/><Relationship Id="rId13" Type="http://schemas.openxmlformats.org/officeDocument/2006/relationships/hyperlink" Target="http://en.wikipedia.org/wiki/Stunnel" TargetMode="External"/><Relationship Id="rId3" Type="http://schemas.openxmlformats.org/officeDocument/2006/relationships/hyperlink" Target="http://en.wikipedia.org/wiki/File_transfer_protocol" TargetMode="External"/><Relationship Id="rId7" Type="http://schemas.openxmlformats.org/officeDocument/2006/relationships/hyperlink" Target="http://en.wikipedia.org/wiki/User_Datagram_Protocol" TargetMode="External"/><Relationship Id="rId12" Type="http://schemas.openxmlformats.org/officeDocument/2006/relationships/hyperlink" Target="http://en.wikipedia.org/wiki/Public_key_certificate" TargetMode="External"/><Relationship Id="rId2" Type="http://schemas.openxmlformats.org/officeDocument/2006/relationships/hyperlink" Target="http://en.wikipedia.org/wiki/HTTP" TargetMode="External"/><Relationship Id="rId16" Type="http://schemas.openxmlformats.org/officeDocument/2006/relationships/hyperlink" Target="http://en.wikipedia.org/wiki/OpenVPN" TargetMode="External"/><Relationship Id="rId1" Type="http://schemas.openxmlformats.org/officeDocument/2006/relationships/slideLayout" Target="../slideLayouts/slideLayout2.xml"/><Relationship Id="rId6" Type="http://schemas.openxmlformats.org/officeDocument/2006/relationships/hyperlink" Target="http://en.wikipedia.org/wiki/Transmission_Control_Protocol" TargetMode="External"/><Relationship Id="rId11" Type="http://schemas.openxmlformats.org/officeDocument/2006/relationships/hyperlink" Target="http://en.wikipedia.org/wiki/Electronic_commerce" TargetMode="External"/><Relationship Id="rId5" Type="http://schemas.openxmlformats.org/officeDocument/2006/relationships/hyperlink" Target="http://en.wikipedia.org/wiki/Network_News_Transfer_Protocol" TargetMode="External"/><Relationship Id="rId15" Type="http://schemas.openxmlformats.org/officeDocument/2006/relationships/hyperlink" Target="http://en.wikipedia.org/wiki/Virtual_Private_Network" TargetMode="External"/><Relationship Id="rId10" Type="http://schemas.openxmlformats.org/officeDocument/2006/relationships/hyperlink" Target="http://en.wikipedia.org/wiki/World_Wide_Web" TargetMode="External"/><Relationship Id="rId4" Type="http://schemas.openxmlformats.org/officeDocument/2006/relationships/hyperlink" Target="http://en.wikipedia.org/wiki/SMTP" TargetMode="External"/><Relationship Id="rId9" Type="http://schemas.openxmlformats.org/officeDocument/2006/relationships/hyperlink" Target="http://en.wikipedia.org/wiki/HTTPS" TargetMode="External"/><Relationship Id="rId14" Type="http://schemas.openxmlformats.org/officeDocument/2006/relationships/hyperlink" Target="http://en.wikipedia.org/wiki/IETF"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owasp.org/index.php/Testing_for_SSL-TLS_(OWASP-CM-001)"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79712" y="3501008"/>
            <a:ext cx="6696744" cy="1832992"/>
          </a:xfrm>
        </p:spPr>
        <p:txBody>
          <a:bodyPr/>
          <a:lstStyle/>
          <a:p>
            <a:r>
              <a:rPr lang="en-US" sz="3600" dirty="0" smtClean="0"/>
              <a:t>Course Name : </a:t>
            </a:r>
            <a:br>
              <a:rPr lang="en-US" sz="3600" dirty="0" smtClean="0"/>
            </a:br>
            <a:r>
              <a:rPr lang="en-US" sz="3600" dirty="0" smtClean="0"/>
              <a:t>Network Security</a:t>
            </a:r>
            <a:endParaRPr lang="en-US" sz="3600"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Vijayalakshmi Anand</a:t>
            </a:r>
          </a:p>
        </p:txBody>
      </p:sp>
    </p:spTree>
    <p:extLst>
      <p:ext uri="{BB962C8B-B14F-4D97-AF65-F5344CB8AC3E}">
        <p14:creationId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6336704" cy="850106"/>
          </a:xfrm>
        </p:spPr>
        <p:txBody>
          <a:bodyPr>
            <a:normAutofit/>
          </a:bodyPr>
          <a:lstStyle/>
          <a:p>
            <a:r>
              <a:rPr lang="en-IN" dirty="0" smtClean="0"/>
              <a:t>Session#2  Transport Layer Security</a:t>
            </a:r>
            <a:endParaRPr lang="en-IN" dirty="0"/>
          </a:p>
        </p:txBody>
      </p:sp>
      <p:sp>
        <p:nvSpPr>
          <p:cNvPr id="3" name="Content Placeholder 2"/>
          <p:cNvSpPr>
            <a:spLocks noGrp="1"/>
          </p:cNvSpPr>
          <p:nvPr>
            <p:ph idx="1"/>
          </p:nvPr>
        </p:nvSpPr>
        <p:spPr>
          <a:xfrm>
            <a:off x="457200" y="1484784"/>
            <a:ext cx="8229600" cy="5040560"/>
          </a:xfrm>
        </p:spPr>
        <p:txBody>
          <a:bodyPr>
            <a:normAutofit lnSpcReduction="10000"/>
          </a:bodyPr>
          <a:lstStyle/>
          <a:p>
            <a:pPr>
              <a:buFont typeface="Wingdings" pitchFamily="2" charset="2"/>
              <a:buChar char="q"/>
            </a:pPr>
            <a:r>
              <a:rPr lang="en-IN" dirty="0" smtClean="0"/>
              <a:t>Introduction to  Web security</a:t>
            </a:r>
          </a:p>
          <a:p>
            <a:pPr>
              <a:buFont typeface="Wingdings" pitchFamily="2" charset="2"/>
              <a:buChar char="q"/>
            </a:pPr>
            <a:r>
              <a:rPr lang="en-IN" dirty="0" smtClean="0"/>
              <a:t>Secure socket Layer</a:t>
            </a:r>
          </a:p>
          <a:p>
            <a:pPr lvl="2">
              <a:buFont typeface="Wingdings" pitchFamily="2" charset="2"/>
              <a:buChar char="Ø"/>
            </a:pPr>
            <a:r>
              <a:rPr lang="en-IN" dirty="0" smtClean="0"/>
              <a:t> SSL architecture</a:t>
            </a:r>
          </a:p>
          <a:p>
            <a:pPr lvl="2">
              <a:buFont typeface="Wingdings" pitchFamily="2" charset="2"/>
              <a:buChar char="Ø"/>
            </a:pPr>
            <a:r>
              <a:rPr lang="en-IN" dirty="0" smtClean="0"/>
              <a:t> Services </a:t>
            </a:r>
          </a:p>
          <a:p>
            <a:pPr lvl="2">
              <a:buFont typeface="Wingdings" pitchFamily="2" charset="2"/>
              <a:buChar char="Ø"/>
            </a:pPr>
            <a:r>
              <a:rPr lang="en-IN" dirty="0" smtClean="0"/>
              <a:t> Usage</a:t>
            </a:r>
          </a:p>
          <a:p>
            <a:pPr lvl="2">
              <a:buFont typeface="Wingdings" pitchFamily="2" charset="2"/>
              <a:buChar char="Ø"/>
            </a:pPr>
            <a:r>
              <a:rPr lang="en-IN" dirty="0" smtClean="0"/>
              <a:t>Different phases</a:t>
            </a:r>
          </a:p>
          <a:p>
            <a:pPr lvl="2">
              <a:buFont typeface="Wingdings" pitchFamily="2" charset="2"/>
              <a:buChar char="Ø"/>
            </a:pPr>
            <a:endParaRPr lang="en-IN" dirty="0" smtClean="0"/>
          </a:p>
          <a:p>
            <a:pPr>
              <a:buFont typeface="Wingdings" pitchFamily="2" charset="2"/>
              <a:buChar char="q"/>
            </a:pPr>
            <a:r>
              <a:rPr lang="en-IN" dirty="0" smtClean="0"/>
              <a:t>Transport Layer security</a:t>
            </a:r>
          </a:p>
          <a:p>
            <a:pPr>
              <a:buFont typeface="Wingdings" pitchFamily="2" charset="2"/>
              <a:buChar char="q"/>
            </a:pPr>
            <a:r>
              <a:rPr lang="en-IN" dirty="0" smtClean="0"/>
              <a:t>SSH</a:t>
            </a:r>
          </a:p>
          <a:p>
            <a:pPr>
              <a:buFont typeface="Wingdings" pitchFamily="2" charset="2"/>
              <a:buChar char="q"/>
            </a:pPr>
            <a:r>
              <a:rPr lang="en-IN" dirty="0" smtClean="0"/>
              <a:t>SET</a:t>
            </a:r>
            <a:endParaRPr lang="en-IN" dirty="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de-DE" dirty="0"/>
          </a:p>
          <a:p>
            <a:pPr>
              <a:buFont typeface="Wingdings" pitchFamily="2" charset="2"/>
              <a:buChar char="q"/>
            </a:pPr>
            <a:endParaRPr lang="en-IN" dirty="0" smtClean="0"/>
          </a:p>
        </p:txBody>
      </p:sp>
    </p:spTree>
    <p:extLst>
      <p:ext uri="{BB962C8B-B14F-4D97-AF65-F5344CB8AC3E}">
        <p14:creationId xmlns:p14="http://schemas.microsoft.com/office/powerpoint/2010/main" val="3556756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en-US" altLang="en-US" smtClean="0">
                <a:ea typeface="ＭＳ Ｐゴシック" panose="020B0600070205080204" pitchFamily="34" charset="-128"/>
              </a:rPr>
              <a:t>Web Security</a:t>
            </a:r>
            <a:endParaRPr lang="en-AU" altLang="en-US" smtClean="0">
              <a:ea typeface="ＭＳ Ｐゴシック" panose="020B0600070205080204" pitchFamily="34" charset="-128"/>
            </a:endParaRPr>
          </a:p>
        </p:txBody>
      </p:sp>
      <p:sp>
        <p:nvSpPr>
          <p:cNvPr id="5123" name="Rectangle 3"/>
          <p:cNvSpPr>
            <a:spLocks noGrp="1" noChangeArrowheads="1"/>
          </p:cNvSpPr>
          <p:nvPr>
            <p:ph type="body" idx="1"/>
          </p:nvPr>
        </p:nvSpPr>
        <p:spPr/>
        <p:txBody>
          <a:bodyPr/>
          <a:lstStyle/>
          <a:p>
            <a:pPr eaLnBrk="1" hangingPunct="1">
              <a:lnSpc>
                <a:spcPct val="90000"/>
              </a:lnSpc>
            </a:pPr>
            <a:r>
              <a:rPr lang="en-US" altLang="en-US" smtClean="0">
                <a:ea typeface="ＭＳ Ｐゴシック" panose="020B0600070205080204" pitchFamily="34" charset="-128"/>
              </a:rPr>
              <a:t>Web now widely used by business, government, individuals</a:t>
            </a:r>
          </a:p>
          <a:p>
            <a:pPr eaLnBrk="1" hangingPunct="1">
              <a:lnSpc>
                <a:spcPct val="90000"/>
              </a:lnSpc>
            </a:pPr>
            <a:r>
              <a:rPr lang="en-US" altLang="en-US" smtClean="0">
                <a:ea typeface="ＭＳ Ｐゴシック" panose="020B0600070205080204" pitchFamily="34" charset="-128"/>
              </a:rPr>
              <a:t>but Internet &amp; Web are vulnerable</a:t>
            </a:r>
          </a:p>
          <a:p>
            <a:pPr eaLnBrk="1" hangingPunct="1">
              <a:lnSpc>
                <a:spcPct val="90000"/>
              </a:lnSpc>
            </a:pPr>
            <a:r>
              <a:rPr lang="en-US" altLang="en-US" smtClean="0">
                <a:ea typeface="ＭＳ Ｐゴシック" panose="020B0600070205080204" pitchFamily="34" charset="-128"/>
              </a:rPr>
              <a:t>have a variety of threats</a:t>
            </a:r>
          </a:p>
          <a:p>
            <a:pPr lvl="1" eaLnBrk="1" hangingPunct="1">
              <a:lnSpc>
                <a:spcPct val="90000"/>
              </a:lnSpc>
            </a:pPr>
            <a:r>
              <a:rPr lang="en-US" altLang="en-US" smtClean="0">
                <a:ea typeface="ＭＳ Ｐゴシック" panose="020B0600070205080204" pitchFamily="34" charset="-128"/>
              </a:rPr>
              <a:t>integrity</a:t>
            </a:r>
          </a:p>
          <a:p>
            <a:pPr lvl="1" eaLnBrk="1" hangingPunct="1">
              <a:lnSpc>
                <a:spcPct val="90000"/>
              </a:lnSpc>
            </a:pPr>
            <a:r>
              <a:rPr lang="en-US" altLang="en-US" smtClean="0">
                <a:ea typeface="ＭＳ Ｐゴシック" panose="020B0600070205080204" pitchFamily="34" charset="-128"/>
              </a:rPr>
              <a:t>confidentiality</a:t>
            </a:r>
          </a:p>
          <a:p>
            <a:pPr lvl="1" eaLnBrk="1" hangingPunct="1">
              <a:lnSpc>
                <a:spcPct val="90000"/>
              </a:lnSpc>
            </a:pPr>
            <a:r>
              <a:rPr lang="en-US" altLang="en-US" smtClean="0">
                <a:ea typeface="ＭＳ Ｐゴシック" panose="020B0600070205080204" pitchFamily="34" charset="-128"/>
              </a:rPr>
              <a:t>denial of service</a:t>
            </a:r>
          </a:p>
          <a:p>
            <a:pPr lvl="1" eaLnBrk="1" hangingPunct="1">
              <a:lnSpc>
                <a:spcPct val="90000"/>
              </a:lnSpc>
            </a:pPr>
            <a:r>
              <a:rPr lang="en-US" altLang="en-US" smtClean="0">
                <a:ea typeface="ＭＳ Ｐゴシック" panose="020B0600070205080204" pitchFamily="34" charset="-128"/>
              </a:rPr>
              <a:t>authentication</a:t>
            </a:r>
          </a:p>
          <a:p>
            <a:pPr eaLnBrk="1" hangingPunct="1">
              <a:lnSpc>
                <a:spcPct val="90000"/>
              </a:lnSpc>
            </a:pPr>
            <a:r>
              <a:rPr lang="en-US" altLang="en-US" smtClean="0">
                <a:ea typeface="ＭＳ Ｐゴシック" panose="020B0600070205080204" pitchFamily="34" charset="-128"/>
              </a:rPr>
              <a:t>need added security mechanisms</a:t>
            </a:r>
            <a:endParaRPr lang="en-AU" altLang="en-US" smtClean="0">
              <a:ea typeface="ＭＳ Ｐゴシック" panose="020B0600070205080204" pitchFamily="34" charset="-128"/>
            </a:endParaRPr>
          </a:p>
        </p:txBody>
      </p:sp>
    </p:spTree>
    <p:extLst>
      <p:ext uri="{BB962C8B-B14F-4D97-AF65-F5344CB8AC3E}">
        <p14:creationId xmlns:p14="http://schemas.microsoft.com/office/powerpoint/2010/main" val="11823035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7813"/>
            <a:ext cx="8839200" cy="1139825"/>
          </a:xfrm>
        </p:spPr>
        <p:txBody>
          <a:bodyPr/>
          <a:lstStyle/>
          <a:p>
            <a:pPr eaLnBrk="1" hangingPunct="1">
              <a:defRPr/>
            </a:pPr>
            <a:r>
              <a:rPr lang="en-US" dirty="0" smtClean="0"/>
              <a:t>Web Traffic Security Approaches</a:t>
            </a:r>
          </a:p>
        </p:txBody>
      </p:sp>
      <p:pic>
        <p:nvPicPr>
          <p:cNvPr id="717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2501900"/>
            <a:ext cx="7124700" cy="18542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37960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a:xfrm>
            <a:off x="990600" y="990600"/>
            <a:ext cx="7772400" cy="1143000"/>
          </a:xfrm>
        </p:spPr>
        <p:txBody>
          <a:bodyPr/>
          <a:lstStyle/>
          <a:p>
            <a:pPr eaLnBrk="1" hangingPunct="1">
              <a:defRPr/>
            </a:pPr>
            <a:r>
              <a:rPr lang="hu-HU" smtClean="0"/>
              <a:t>TCP/IP Protocol Stack</a:t>
            </a:r>
          </a:p>
        </p:txBody>
      </p:sp>
      <p:sp>
        <p:nvSpPr>
          <p:cNvPr id="9220" name="Rectangle 1027"/>
          <p:cNvSpPr>
            <a:spLocks noChangeArrowheads="1"/>
          </p:cNvSpPr>
          <p:nvPr/>
        </p:nvSpPr>
        <p:spPr bwMode="auto">
          <a:xfrm>
            <a:off x="3581400" y="2438400"/>
            <a:ext cx="2895600" cy="762000"/>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2400">
                <a:solidFill>
                  <a:schemeClr val="bg2"/>
                </a:solidFill>
              </a:rPr>
              <a:t>Application Layer</a:t>
            </a:r>
          </a:p>
        </p:txBody>
      </p:sp>
      <p:sp>
        <p:nvSpPr>
          <p:cNvPr id="9221" name="Rectangle 1028"/>
          <p:cNvSpPr>
            <a:spLocks noChangeArrowheads="1"/>
          </p:cNvSpPr>
          <p:nvPr/>
        </p:nvSpPr>
        <p:spPr bwMode="auto">
          <a:xfrm>
            <a:off x="3581400" y="3200400"/>
            <a:ext cx="2895600" cy="7620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2400">
                <a:solidFill>
                  <a:schemeClr val="bg2"/>
                </a:solidFill>
              </a:rPr>
              <a:t>Transport Layer</a:t>
            </a:r>
          </a:p>
        </p:txBody>
      </p:sp>
      <p:sp>
        <p:nvSpPr>
          <p:cNvPr id="9222" name="Rectangle 1029"/>
          <p:cNvSpPr>
            <a:spLocks noChangeArrowheads="1"/>
          </p:cNvSpPr>
          <p:nvPr/>
        </p:nvSpPr>
        <p:spPr bwMode="auto">
          <a:xfrm>
            <a:off x="3581400" y="3962400"/>
            <a:ext cx="2895600" cy="7620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bg2"/>
                </a:solidFill>
              </a:rPr>
              <a:t>Intern</a:t>
            </a:r>
            <a:r>
              <a:rPr lang="hu-HU" altLang="en-US" sz="2400">
                <a:solidFill>
                  <a:schemeClr val="bg2"/>
                </a:solidFill>
              </a:rPr>
              <a:t>etwork Layer</a:t>
            </a:r>
          </a:p>
        </p:txBody>
      </p:sp>
      <p:sp>
        <p:nvSpPr>
          <p:cNvPr id="9223" name="Rectangle 1030"/>
          <p:cNvSpPr>
            <a:spLocks noChangeArrowheads="1"/>
          </p:cNvSpPr>
          <p:nvPr/>
        </p:nvSpPr>
        <p:spPr bwMode="auto">
          <a:xfrm>
            <a:off x="3581400" y="4724400"/>
            <a:ext cx="2895600" cy="762000"/>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bg2"/>
                </a:solidFill>
              </a:rPr>
              <a:t>Network Access Layer</a:t>
            </a:r>
            <a:endParaRPr lang="hu-HU" altLang="en-US" sz="2400">
              <a:solidFill>
                <a:schemeClr val="bg2"/>
              </a:solidFill>
            </a:endParaRPr>
          </a:p>
        </p:txBody>
      </p:sp>
      <p:sp>
        <p:nvSpPr>
          <p:cNvPr id="9224" name="AutoShape 1034"/>
          <p:cNvSpPr>
            <a:spLocks noChangeArrowheads="1"/>
          </p:cNvSpPr>
          <p:nvPr/>
        </p:nvSpPr>
        <p:spPr bwMode="auto">
          <a:xfrm>
            <a:off x="2590800" y="3505200"/>
            <a:ext cx="990600" cy="304800"/>
          </a:xfrm>
          <a:prstGeom prst="rightArrow">
            <a:avLst>
              <a:gd name="adj1" fmla="val 50000"/>
              <a:gd name="adj2" fmla="val 81250"/>
            </a:avLst>
          </a:prstGeom>
          <a:solidFill>
            <a:schemeClr val="tx1"/>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extLst>
      <p:ext uri="{BB962C8B-B14F-4D97-AF65-F5344CB8AC3E}">
        <p14:creationId xmlns:p14="http://schemas.microsoft.com/office/powerpoint/2010/main" val="20327056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a:lstStyle/>
          <a:p>
            <a:pPr eaLnBrk="1" hangingPunct="1">
              <a:defRPr/>
            </a:pPr>
            <a:r>
              <a:rPr lang="hu-HU" smtClean="0"/>
              <a:t>Communication Between Layers</a:t>
            </a:r>
          </a:p>
        </p:txBody>
      </p:sp>
      <p:sp>
        <p:nvSpPr>
          <p:cNvPr id="10244" name="Rectangle 3"/>
          <p:cNvSpPr>
            <a:spLocks noChangeArrowheads="1"/>
          </p:cNvSpPr>
          <p:nvPr/>
        </p:nvSpPr>
        <p:spPr bwMode="auto">
          <a:xfrm>
            <a:off x="785786" y="3357562"/>
            <a:ext cx="142876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Transport layer</a:t>
            </a:r>
            <a:endParaRPr lang="hu-HU" altLang="en-US" sz="2400" dirty="0">
              <a:solidFill>
                <a:srgbClr val="FF0000"/>
              </a:solidFill>
            </a:endParaRPr>
          </a:p>
        </p:txBody>
      </p:sp>
      <p:sp>
        <p:nvSpPr>
          <p:cNvPr id="10245" name="Rectangle 4"/>
          <p:cNvSpPr>
            <a:spLocks noChangeArrowheads="1"/>
          </p:cNvSpPr>
          <p:nvPr/>
        </p:nvSpPr>
        <p:spPr bwMode="auto">
          <a:xfrm>
            <a:off x="762000" y="38100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Network layer</a:t>
            </a:r>
          </a:p>
        </p:txBody>
      </p:sp>
      <p:sp>
        <p:nvSpPr>
          <p:cNvPr id="10246" name="Rectangle 5"/>
          <p:cNvSpPr>
            <a:spLocks noChangeArrowheads="1"/>
          </p:cNvSpPr>
          <p:nvPr/>
        </p:nvSpPr>
        <p:spPr bwMode="auto">
          <a:xfrm>
            <a:off x="762000" y="42672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Data Link layer</a:t>
            </a:r>
          </a:p>
        </p:txBody>
      </p:sp>
      <p:sp>
        <p:nvSpPr>
          <p:cNvPr id="10247" name="Rectangle 6"/>
          <p:cNvSpPr>
            <a:spLocks noChangeArrowheads="1"/>
          </p:cNvSpPr>
          <p:nvPr/>
        </p:nvSpPr>
        <p:spPr bwMode="auto">
          <a:xfrm>
            <a:off x="3200400" y="38100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Network layer</a:t>
            </a:r>
          </a:p>
        </p:txBody>
      </p:sp>
      <p:sp>
        <p:nvSpPr>
          <p:cNvPr id="10248" name="Rectangle 7"/>
          <p:cNvSpPr>
            <a:spLocks noChangeArrowheads="1"/>
          </p:cNvSpPr>
          <p:nvPr/>
        </p:nvSpPr>
        <p:spPr bwMode="auto">
          <a:xfrm>
            <a:off x="3200400" y="42672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Data Link layer</a:t>
            </a:r>
          </a:p>
        </p:txBody>
      </p:sp>
      <p:sp>
        <p:nvSpPr>
          <p:cNvPr id="10249" name="Rectangle 8"/>
          <p:cNvSpPr>
            <a:spLocks noChangeArrowheads="1"/>
          </p:cNvSpPr>
          <p:nvPr/>
        </p:nvSpPr>
        <p:spPr bwMode="auto">
          <a:xfrm>
            <a:off x="5105400" y="38100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Network layer</a:t>
            </a:r>
          </a:p>
        </p:txBody>
      </p:sp>
      <p:sp>
        <p:nvSpPr>
          <p:cNvPr id="10250" name="Rectangle 9"/>
          <p:cNvSpPr>
            <a:spLocks noChangeArrowheads="1"/>
          </p:cNvSpPr>
          <p:nvPr/>
        </p:nvSpPr>
        <p:spPr bwMode="auto">
          <a:xfrm>
            <a:off x="5105400" y="42672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Data Link laye</a:t>
            </a:r>
            <a:r>
              <a:rPr lang="hu-HU" altLang="en-US" sz="1600" dirty="0">
                <a:solidFill>
                  <a:schemeClr val="bg2"/>
                </a:solidFill>
              </a:rPr>
              <a:t>r</a:t>
            </a:r>
          </a:p>
        </p:txBody>
      </p:sp>
      <p:sp>
        <p:nvSpPr>
          <p:cNvPr id="10251" name="Rectangle 10"/>
          <p:cNvSpPr>
            <a:spLocks noChangeArrowheads="1"/>
          </p:cNvSpPr>
          <p:nvPr/>
        </p:nvSpPr>
        <p:spPr bwMode="auto">
          <a:xfrm>
            <a:off x="7086600" y="42672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Data Link layer</a:t>
            </a:r>
          </a:p>
        </p:txBody>
      </p:sp>
      <p:sp>
        <p:nvSpPr>
          <p:cNvPr id="10252" name="Rectangle 11"/>
          <p:cNvSpPr>
            <a:spLocks noChangeArrowheads="1"/>
          </p:cNvSpPr>
          <p:nvPr/>
        </p:nvSpPr>
        <p:spPr bwMode="auto">
          <a:xfrm>
            <a:off x="7086600" y="38100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Network layer</a:t>
            </a:r>
          </a:p>
        </p:txBody>
      </p:sp>
      <p:sp>
        <p:nvSpPr>
          <p:cNvPr id="10253" name="Rectangle 12"/>
          <p:cNvSpPr>
            <a:spLocks noChangeArrowheads="1"/>
          </p:cNvSpPr>
          <p:nvPr/>
        </p:nvSpPr>
        <p:spPr bwMode="auto">
          <a:xfrm>
            <a:off x="7086600" y="33528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Transport layer</a:t>
            </a:r>
          </a:p>
        </p:txBody>
      </p:sp>
      <p:sp>
        <p:nvSpPr>
          <p:cNvPr id="10254" name="Rectangle 13"/>
          <p:cNvSpPr>
            <a:spLocks noChangeArrowheads="1"/>
          </p:cNvSpPr>
          <p:nvPr/>
        </p:nvSpPr>
        <p:spPr bwMode="auto">
          <a:xfrm>
            <a:off x="7086600" y="28956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Application layer</a:t>
            </a:r>
          </a:p>
        </p:txBody>
      </p:sp>
      <p:sp>
        <p:nvSpPr>
          <p:cNvPr id="10255" name="Rectangle 14"/>
          <p:cNvSpPr>
            <a:spLocks noChangeArrowheads="1"/>
          </p:cNvSpPr>
          <p:nvPr/>
        </p:nvSpPr>
        <p:spPr bwMode="auto">
          <a:xfrm>
            <a:off x="762000" y="2895600"/>
            <a:ext cx="14478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hu-HU" altLang="en-US" sz="1600" dirty="0">
                <a:solidFill>
                  <a:srgbClr val="FF0000"/>
                </a:solidFill>
              </a:rPr>
              <a:t>Application layer</a:t>
            </a:r>
            <a:endParaRPr lang="hu-HU" altLang="en-US" sz="1800" dirty="0">
              <a:solidFill>
                <a:srgbClr val="FF0000"/>
              </a:solidFill>
            </a:endParaRPr>
          </a:p>
        </p:txBody>
      </p:sp>
      <p:sp>
        <p:nvSpPr>
          <p:cNvPr id="10256" name="Line 15"/>
          <p:cNvSpPr>
            <a:spLocks noChangeShapeType="1"/>
          </p:cNvSpPr>
          <p:nvPr/>
        </p:nvSpPr>
        <p:spPr bwMode="auto">
          <a:xfrm>
            <a:off x="6553200" y="4495800"/>
            <a:ext cx="5334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7" name="Line 16"/>
          <p:cNvSpPr>
            <a:spLocks noChangeShapeType="1"/>
          </p:cNvSpPr>
          <p:nvPr/>
        </p:nvSpPr>
        <p:spPr bwMode="auto">
          <a:xfrm>
            <a:off x="6553200" y="4038600"/>
            <a:ext cx="5334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8" name="Line 17"/>
          <p:cNvSpPr>
            <a:spLocks noChangeShapeType="1"/>
          </p:cNvSpPr>
          <p:nvPr/>
        </p:nvSpPr>
        <p:spPr bwMode="auto">
          <a:xfrm>
            <a:off x="4648200" y="4038600"/>
            <a:ext cx="4572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9" name="Line 18"/>
          <p:cNvSpPr>
            <a:spLocks noChangeShapeType="1"/>
          </p:cNvSpPr>
          <p:nvPr/>
        </p:nvSpPr>
        <p:spPr bwMode="auto">
          <a:xfrm>
            <a:off x="4648200" y="4495800"/>
            <a:ext cx="4572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0" name="Line 19"/>
          <p:cNvSpPr>
            <a:spLocks noChangeShapeType="1"/>
          </p:cNvSpPr>
          <p:nvPr/>
        </p:nvSpPr>
        <p:spPr bwMode="auto">
          <a:xfrm>
            <a:off x="2209800" y="4038600"/>
            <a:ext cx="990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1" name="Line 20"/>
          <p:cNvSpPr>
            <a:spLocks noChangeShapeType="1"/>
          </p:cNvSpPr>
          <p:nvPr/>
        </p:nvSpPr>
        <p:spPr bwMode="auto">
          <a:xfrm>
            <a:off x="2209800" y="4495800"/>
            <a:ext cx="990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2" name="Line 21"/>
          <p:cNvSpPr>
            <a:spLocks noChangeShapeType="1"/>
          </p:cNvSpPr>
          <p:nvPr/>
        </p:nvSpPr>
        <p:spPr bwMode="auto">
          <a:xfrm>
            <a:off x="2209800" y="3581400"/>
            <a:ext cx="48768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3" name="Line 22"/>
          <p:cNvSpPr>
            <a:spLocks noChangeShapeType="1"/>
          </p:cNvSpPr>
          <p:nvPr/>
        </p:nvSpPr>
        <p:spPr bwMode="auto">
          <a:xfrm>
            <a:off x="2209800" y="3124200"/>
            <a:ext cx="48768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4" name="Rectangle 24"/>
          <p:cNvSpPr>
            <a:spLocks noChangeArrowheads="1"/>
          </p:cNvSpPr>
          <p:nvPr/>
        </p:nvSpPr>
        <p:spPr bwMode="auto">
          <a:xfrm>
            <a:off x="3657600" y="2743200"/>
            <a:ext cx="1581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a:t>Application Data</a:t>
            </a:r>
          </a:p>
        </p:txBody>
      </p:sp>
      <p:sp>
        <p:nvSpPr>
          <p:cNvPr id="10265" name="Rectangle 25"/>
          <p:cNvSpPr>
            <a:spLocks noChangeArrowheads="1"/>
          </p:cNvSpPr>
          <p:nvPr/>
        </p:nvSpPr>
        <p:spPr bwMode="auto">
          <a:xfrm>
            <a:off x="3657600" y="3200400"/>
            <a:ext cx="190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a:t>Transport payload</a:t>
            </a:r>
          </a:p>
        </p:txBody>
      </p:sp>
      <p:sp>
        <p:nvSpPr>
          <p:cNvPr id="10266" name="Rectangle 26"/>
          <p:cNvSpPr>
            <a:spLocks noChangeArrowheads="1"/>
          </p:cNvSpPr>
          <p:nvPr/>
        </p:nvSpPr>
        <p:spPr bwMode="auto">
          <a:xfrm>
            <a:off x="2286000" y="3733800"/>
            <a:ext cx="895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a:t>Network</a:t>
            </a:r>
          </a:p>
          <a:p>
            <a:pPr>
              <a:spcBef>
                <a:spcPct val="0"/>
              </a:spcBef>
              <a:buClrTx/>
              <a:buSzTx/>
              <a:buFontTx/>
              <a:buNone/>
            </a:pPr>
            <a:r>
              <a:rPr lang="hu-HU" altLang="en-US" sz="1600"/>
              <a:t>Payload</a:t>
            </a:r>
          </a:p>
        </p:txBody>
      </p:sp>
      <p:sp>
        <p:nvSpPr>
          <p:cNvPr id="10267" name="Rectangle 27"/>
          <p:cNvSpPr>
            <a:spLocks noChangeArrowheads="1"/>
          </p:cNvSpPr>
          <p:nvPr/>
        </p:nvSpPr>
        <p:spPr bwMode="auto">
          <a:xfrm>
            <a:off x="2209800" y="4419600"/>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a:t>Data Link</a:t>
            </a:r>
          </a:p>
          <a:p>
            <a:pPr>
              <a:spcBef>
                <a:spcPct val="0"/>
              </a:spcBef>
              <a:buClrTx/>
              <a:buSzTx/>
              <a:buFontTx/>
              <a:buNone/>
            </a:pPr>
            <a:r>
              <a:rPr lang="hu-HU" altLang="en-US" sz="1600"/>
              <a:t>Payload</a:t>
            </a:r>
          </a:p>
        </p:txBody>
      </p:sp>
      <p:sp>
        <p:nvSpPr>
          <p:cNvPr id="10268" name="Rectangle 28"/>
          <p:cNvSpPr>
            <a:spLocks noChangeArrowheads="1"/>
          </p:cNvSpPr>
          <p:nvPr/>
        </p:nvSpPr>
        <p:spPr bwMode="auto">
          <a:xfrm>
            <a:off x="1066800" y="5105400"/>
            <a:ext cx="788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b="1"/>
              <a:t>Host A</a:t>
            </a:r>
          </a:p>
        </p:txBody>
      </p:sp>
      <p:sp>
        <p:nvSpPr>
          <p:cNvPr id="10269" name="Rectangle 29"/>
          <p:cNvSpPr>
            <a:spLocks noChangeArrowheads="1"/>
          </p:cNvSpPr>
          <p:nvPr/>
        </p:nvSpPr>
        <p:spPr bwMode="auto">
          <a:xfrm>
            <a:off x="3581400" y="5105400"/>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b="1"/>
              <a:t>Router</a:t>
            </a:r>
          </a:p>
        </p:txBody>
      </p:sp>
      <p:sp>
        <p:nvSpPr>
          <p:cNvPr id="10270" name="Rectangle 30"/>
          <p:cNvSpPr>
            <a:spLocks noChangeArrowheads="1"/>
          </p:cNvSpPr>
          <p:nvPr/>
        </p:nvSpPr>
        <p:spPr bwMode="auto">
          <a:xfrm>
            <a:off x="5486400" y="5105400"/>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b="1"/>
              <a:t>Router</a:t>
            </a:r>
          </a:p>
        </p:txBody>
      </p:sp>
      <p:sp>
        <p:nvSpPr>
          <p:cNvPr id="10271" name="Rectangle 31"/>
          <p:cNvSpPr>
            <a:spLocks noChangeArrowheads="1"/>
          </p:cNvSpPr>
          <p:nvPr/>
        </p:nvSpPr>
        <p:spPr bwMode="auto">
          <a:xfrm>
            <a:off x="7391400" y="5105400"/>
            <a:ext cx="777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Tx/>
              <a:buNone/>
            </a:pPr>
            <a:r>
              <a:rPr lang="hu-HU" altLang="en-US" sz="1600" b="1"/>
              <a:t>Host B</a:t>
            </a:r>
          </a:p>
        </p:txBody>
      </p:sp>
    </p:spTree>
    <p:extLst>
      <p:ext uri="{BB962C8B-B14F-4D97-AF65-F5344CB8AC3E}">
        <p14:creationId xmlns:p14="http://schemas.microsoft.com/office/powerpoint/2010/main" val="34751514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defRPr/>
            </a:pPr>
            <a:r>
              <a:rPr lang="hu-HU" smtClean="0"/>
              <a:t>Transport Layer</a:t>
            </a:r>
          </a:p>
        </p:txBody>
      </p:sp>
      <p:sp>
        <p:nvSpPr>
          <p:cNvPr id="11268" name="Rectangle 3"/>
          <p:cNvSpPr>
            <a:spLocks noGrp="1" noChangeArrowheads="1"/>
          </p:cNvSpPr>
          <p:nvPr>
            <p:ph type="body" idx="1"/>
          </p:nvPr>
        </p:nvSpPr>
        <p:spPr>
          <a:xfrm>
            <a:off x="609600" y="2133600"/>
            <a:ext cx="7772400" cy="4114800"/>
          </a:xfrm>
        </p:spPr>
        <p:txBody>
          <a:bodyPr/>
          <a:lstStyle/>
          <a:p>
            <a:pPr eaLnBrk="1" hangingPunct="1"/>
            <a:r>
              <a:rPr lang="hu-HU" altLang="en-US" smtClean="0"/>
              <a:t>Provides services to the application layer</a:t>
            </a:r>
          </a:p>
          <a:p>
            <a:pPr eaLnBrk="1" hangingPunct="1"/>
            <a:r>
              <a:rPr lang="hu-HU" altLang="en-US" smtClean="0"/>
              <a:t>Services: </a:t>
            </a:r>
          </a:p>
          <a:p>
            <a:pPr lvl="1" eaLnBrk="1" hangingPunct="1"/>
            <a:r>
              <a:rPr lang="hu-HU" altLang="en-US" smtClean="0"/>
              <a:t>Connection-oriented or connectionless transport</a:t>
            </a:r>
          </a:p>
          <a:p>
            <a:pPr lvl="1" eaLnBrk="1" hangingPunct="1"/>
            <a:r>
              <a:rPr lang="hu-HU" altLang="en-US" smtClean="0"/>
              <a:t>Reliable or unreliable transport</a:t>
            </a:r>
          </a:p>
          <a:p>
            <a:pPr lvl="1" eaLnBrk="1" hangingPunct="1"/>
            <a:r>
              <a:rPr lang="hu-HU" altLang="en-US" smtClean="0"/>
              <a:t>Security</a:t>
            </a:r>
          </a:p>
        </p:txBody>
      </p:sp>
    </p:spTree>
    <p:extLst>
      <p:ext uri="{BB962C8B-B14F-4D97-AF65-F5344CB8AC3E}">
        <p14:creationId xmlns:p14="http://schemas.microsoft.com/office/powerpoint/2010/main" val="21678206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a:lstStyle/>
          <a:p>
            <a:pPr eaLnBrk="1" hangingPunct="1">
              <a:defRPr/>
            </a:pPr>
            <a:r>
              <a:rPr lang="hu-HU" dirty="0" smtClean="0"/>
              <a:t>Security </a:t>
            </a:r>
            <a:r>
              <a:rPr lang="en-US" dirty="0" smtClean="0"/>
              <a:t>Requirements</a:t>
            </a:r>
            <a:endParaRPr lang="hu-HU" dirty="0" smtClean="0"/>
          </a:p>
        </p:txBody>
      </p:sp>
      <p:sp>
        <p:nvSpPr>
          <p:cNvPr id="12292" name="Rectangle 3"/>
          <p:cNvSpPr>
            <a:spLocks noGrp="1" noChangeArrowheads="1"/>
          </p:cNvSpPr>
          <p:nvPr>
            <p:ph type="body" idx="1"/>
          </p:nvPr>
        </p:nvSpPr>
        <p:spPr>
          <a:xfrm>
            <a:off x="609600" y="2209800"/>
            <a:ext cx="7772400" cy="4114800"/>
          </a:xfrm>
        </p:spPr>
        <p:txBody>
          <a:bodyPr/>
          <a:lstStyle/>
          <a:p>
            <a:pPr lvl="1" eaLnBrk="1" hangingPunct="1"/>
            <a:r>
              <a:rPr lang="hu-HU" altLang="en-US" sz="3200" smtClean="0"/>
              <a:t>Key management</a:t>
            </a:r>
          </a:p>
          <a:p>
            <a:pPr lvl="1" eaLnBrk="1" hangingPunct="1"/>
            <a:r>
              <a:rPr lang="hu-HU" altLang="en-US" sz="3200" smtClean="0"/>
              <a:t>Confidentiality</a:t>
            </a:r>
          </a:p>
          <a:p>
            <a:pPr lvl="1" eaLnBrk="1" hangingPunct="1"/>
            <a:r>
              <a:rPr lang="en-US" altLang="en-US" sz="3200" smtClean="0"/>
              <a:t>Repudiation</a:t>
            </a:r>
          </a:p>
          <a:p>
            <a:pPr lvl="1" eaLnBrk="1" hangingPunct="1"/>
            <a:r>
              <a:rPr lang="hu-HU" altLang="en-US" sz="3200" smtClean="0"/>
              <a:t>Integrity/authentication</a:t>
            </a:r>
          </a:p>
          <a:p>
            <a:pPr lvl="1" eaLnBrk="1" hangingPunct="1"/>
            <a:r>
              <a:rPr lang="hu-HU" altLang="en-US" sz="3200" smtClean="0"/>
              <a:t>Authorization</a:t>
            </a:r>
          </a:p>
        </p:txBody>
      </p:sp>
    </p:spTree>
    <p:extLst>
      <p:ext uri="{BB962C8B-B14F-4D97-AF65-F5344CB8AC3E}">
        <p14:creationId xmlns:p14="http://schemas.microsoft.com/office/powerpoint/2010/main" val="42339610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defRPr/>
            </a:pPr>
            <a:r>
              <a:rPr lang="hu-HU" smtClean="0"/>
              <a:t>Transport Layer Security</a:t>
            </a:r>
          </a:p>
        </p:txBody>
      </p:sp>
      <p:sp>
        <p:nvSpPr>
          <p:cNvPr id="13316" name="Rectangle 3"/>
          <p:cNvSpPr>
            <a:spLocks noGrp="1" noChangeArrowheads="1"/>
          </p:cNvSpPr>
          <p:nvPr>
            <p:ph type="body" idx="1"/>
          </p:nvPr>
        </p:nvSpPr>
        <p:spPr>
          <a:xfrm>
            <a:off x="685800" y="1905000"/>
            <a:ext cx="7772400" cy="4114800"/>
          </a:xfrm>
        </p:spPr>
        <p:txBody>
          <a:bodyPr/>
          <a:lstStyle/>
          <a:p>
            <a:pPr eaLnBrk="1" hangingPunct="1">
              <a:lnSpc>
                <a:spcPct val="90000"/>
              </a:lnSpc>
            </a:pPr>
            <a:r>
              <a:rPr lang="hu-HU" altLang="en-US" sz="2800" u="sng" smtClean="0"/>
              <a:t>Advantages:</a:t>
            </a:r>
          </a:p>
          <a:p>
            <a:pPr lvl="1" eaLnBrk="1" hangingPunct="1">
              <a:lnSpc>
                <a:spcPct val="90000"/>
              </a:lnSpc>
            </a:pPr>
            <a:r>
              <a:rPr lang="hu-HU" altLang="en-US" smtClean="0"/>
              <a:t>Does not require enhancement to each application</a:t>
            </a:r>
          </a:p>
          <a:p>
            <a:pPr eaLnBrk="1" hangingPunct="1">
              <a:lnSpc>
                <a:spcPct val="90000"/>
              </a:lnSpc>
            </a:pPr>
            <a:r>
              <a:rPr lang="hu-HU" altLang="en-US" sz="2800" u="sng" smtClean="0"/>
              <a:t>Disadvantages:</a:t>
            </a:r>
          </a:p>
          <a:p>
            <a:pPr lvl="1" eaLnBrk="1" hangingPunct="1">
              <a:lnSpc>
                <a:spcPct val="90000"/>
              </a:lnSpc>
            </a:pPr>
            <a:r>
              <a:rPr lang="hu-HU" altLang="en-US" smtClean="0"/>
              <a:t>Obtaining user context gets complicated</a:t>
            </a:r>
          </a:p>
          <a:p>
            <a:pPr lvl="1" eaLnBrk="1" hangingPunct="1">
              <a:lnSpc>
                <a:spcPct val="90000"/>
              </a:lnSpc>
            </a:pPr>
            <a:r>
              <a:rPr lang="hu-HU" altLang="en-US" smtClean="0"/>
              <a:t>Protocol specific --&gt; need to </a:t>
            </a:r>
            <a:r>
              <a:rPr lang="en-US" altLang="en-US" smtClean="0"/>
              <a:t>be </a:t>
            </a:r>
            <a:r>
              <a:rPr lang="hu-HU" altLang="en-US" smtClean="0"/>
              <a:t>duplicated for each transport protocol</a:t>
            </a:r>
          </a:p>
          <a:p>
            <a:pPr lvl="1" eaLnBrk="1" hangingPunct="1">
              <a:lnSpc>
                <a:spcPct val="90000"/>
              </a:lnSpc>
            </a:pPr>
            <a:r>
              <a:rPr lang="hu-HU" altLang="en-US" smtClean="0"/>
              <a:t>Need to maintain context for connection (not currently implemented for UDP)</a:t>
            </a:r>
          </a:p>
        </p:txBody>
      </p:sp>
    </p:spTree>
    <p:extLst>
      <p:ext uri="{BB962C8B-B14F-4D97-AF65-F5344CB8AC3E}">
        <p14:creationId xmlns:p14="http://schemas.microsoft.com/office/powerpoint/2010/main" val="29479680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en-US" sz="4000" smtClean="0"/>
              <a:t>Transport Layer Security Protocols</a:t>
            </a:r>
          </a:p>
        </p:txBody>
      </p:sp>
      <p:sp>
        <p:nvSpPr>
          <p:cNvPr id="14340" name="Rectangle 3"/>
          <p:cNvSpPr>
            <a:spLocks noGrp="1" noChangeArrowheads="1"/>
          </p:cNvSpPr>
          <p:nvPr>
            <p:ph type="body" idx="1"/>
          </p:nvPr>
        </p:nvSpPr>
        <p:spPr>
          <a:xfrm>
            <a:off x="304800" y="1981200"/>
            <a:ext cx="8686800" cy="4114800"/>
          </a:xfrm>
        </p:spPr>
        <p:txBody>
          <a:bodyPr/>
          <a:lstStyle/>
          <a:p>
            <a:pPr eaLnBrk="1" hangingPunct="1"/>
            <a:r>
              <a:rPr lang="en-US" altLang="en-US" dirty="0" smtClean="0"/>
              <a:t>Connectionless and connection-oriented transport layer service:</a:t>
            </a:r>
          </a:p>
          <a:p>
            <a:pPr lvl="1" eaLnBrk="1" hangingPunct="1"/>
            <a:r>
              <a:rPr lang="en-US" altLang="en-US" sz="2400" dirty="0" smtClean="0"/>
              <a:t>Security Protocol 4 (SP4) – NSA, NIST</a:t>
            </a:r>
          </a:p>
          <a:p>
            <a:pPr lvl="1" eaLnBrk="1" hangingPunct="1"/>
            <a:r>
              <a:rPr lang="en-US" altLang="en-US" sz="2400" dirty="0" smtClean="0"/>
              <a:t>Transport Layer Security (TLSP) – ISO </a:t>
            </a:r>
          </a:p>
          <a:p>
            <a:pPr eaLnBrk="1" hangingPunct="1"/>
            <a:r>
              <a:rPr lang="en-US" altLang="en-US" dirty="0" smtClean="0"/>
              <a:t>Connection-oriented transport layer service:</a:t>
            </a:r>
          </a:p>
          <a:p>
            <a:pPr lvl="1" eaLnBrk="1" hangingPunct="1"/>
            <a:r>
              <a:rPr lang="en-US" altLang="en-US" sz="2400" dirty="0" smtClean="0"/>
              <a:t>Encrypted Session Manager (ESM) – AT&amp;T Bell Labs.</a:t>
            </a:r>
          </a:p>
          <a:p>
            <a:pPr lvl="1" eaLnBrk="1" hangingPunct="1"/>
            <a:r>
              <a:rPr lang="en-US" altLang="en-US" sz="2400" dirty="0" smtClean="0"/>
              <a:t>Secure Socket Layer (SSL) – Netscape Communications</a:t>
            </a:r>
          </a:p>
          <a:p>
            <a:pPr lvl="1" eaLnBrk="1" hangingPunct="1"/>
            <a:r>
              <a:rPr lang="en-US" altLang="en-US" sz="2400" dirty="0" smtClean="0"/>
              <a:t>Transport Layer Security (TLS) – IETF TLS WG</a:t>
            </a:r>
          </a:p>
        </p:txBody>
      </p:sp>
      <p:sp>
        <p:nvSpPr>
          <p:cNvPr id="14341" name="Rectangle 4"/>
          <p:cNvSpPr>
            <a:spLocks noChangeArrowheads="1"/>
          </p:cNvSpPr>
          <p:nvPr/>
        </p:nvSpPr>
        <p:spPr bwMode="auto">
          <a:xfrm>
            <a:off x="609600" y="4953000"/>
            <a:ext cx="8229600" cy="1295400"/>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
        <p:nvSpPr>
          <p:cNvPr id="14342" name="Text Box 5"/>
          <p:cNvSpPr txBox="1">
            <a:spLocks noChangeArrowheads="1"/>
          </p:cNvSpPr>
          <p:nvPr/>
        </p:nvSpPr>
        <p:spPr bwMode="auto">
          <a:xfrm>
            <a:off x="1447800" y="5867400"/>
            <a:ext cx="7040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solidFill>
                  <a:schemeClr val="folHlink"/>
                </a:solidFill>
                <a:latin typeface="Arial" panose="020B0604020202020204" pitchFamily="34" charset="0"/>
              </a:rPr>
              <a:t>Most popular transport layer security protocols</a:t>
            </a:r>
          </a:p>
        </p:txBody>
      </p:sp>
    </p:spTree>
    <p:extLst>
      <p:ext uri="{BB962C8B-B14F-4D97-AF65-F5344CB8AC3E}">
        <p14:creationId xmlns:p14="http://schemas.microsoft.com/office/powerpoint/2010/main" val="15466720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ctrTitle"/>
          </p:nvPr>
        </p:nvSpPr>
        <p:spPr/>
        <p:txBody>
          <a:bodyPr/>
          <a:lstStyle/>
          <a:p>
            <a:pPr eaLnBrk="1" hangingPunct="1">
              <a:defRPr/>
            </a:pPr>
            <a:r>
              <a:rPr lang="en-US" altLang="en-US" smtClean="0"/>
              <a:t>Secure Socket Layer (SSL)</a:t>
            </a:r>
          </a:p>
        </p:txBody>
      </p:sp>
    </p:spTree>
    <p:extLst>
      <p:ext uri="{BB962C8B-B14F-4D97-AF65-F5344CB8AC3E}">
        <p14:creationId xmlns:p14="http://schemas.microsoft.com/office/powerpoint/2010/main" val="32319257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defRPr/>
            </a:pPr>
            <a:r>
              <a:rPr lang="en-US" smtClean="0"/>
              <a:t>SSL</a:t>
            </a:r>
          </a:p>
        </p:txBody>
      </p:sp>
      <p:sp>
        <p:nvSpPr>
          <p:cNvPr id="16388" name="Rectangle 3"/>
          <p:cNvSpPr>
            <a:spLocks noGrp="1" noChangeArrowheads="1"/>
          </p:cNvSpPr>
          <p:nvPr>
            <p:ph type="body" idx="1"/>
          </p:nvPr>
        </p:nvSpPr>
        <p:spPr/>
        <p:txBody>
          <a:bodyPr/>
          <a:lstStyle/>
          <a:p>
            <a:pPr eaLnBrk="1" hangingPunct="1"/>
            <a:r>
              <a:rPr lang="en-US" altLang="en-US" sz="2800" smtClean="0"/>
              <a:t>SSL versions:</a:t>
            </a:r>
          </a:p>
          <a:p>
            <a:pPr lvl="1" eaLnBrk="1" hangingPunct="1"/>
            <a:r>
              <a:rPr lang="en-US" altLang="en-US" sz="2400" u="sng" smtClean="0"/>
              <a:t>1.0</a:t>
            </a:r>
            <a:r>
              <a:rPr lang="en-US" altLang="en-US" sz="2400" smtClean="0"/>
              <a:t>: serious security flaws – never released to public</a:t>
            </a:r>
          </a:p>
          <a:p>
            <a:pPr lvl="1" eaLnBrk="1" hangingPunct="1"/>
            <a:r>
              <a:rPr lang="en-US" altLang="en-US" sz="2400" u="sng" smtClean="0"/>
              <a:t>2.0</a:t>
            </a:r>
            <a:r>
              <a:rPr lang="en-US" altLang="en-US" sz="2400" smtClean="0"/>
              <a:t>: some weaknesses – in Netscape Navigator 1.0-2.x</a:t>
            </a:r>
          </a:p>
          <a:p>
            <a:pPr lvl="1" eaLnBrk="1" hangingPunct="1"/>
            <a:r>
              <a:rPr lang="en-US" altLang="en-US" sz="2400" u="sng" smtClean="0"/>
              <a:t>3.0</a:t>
            </a:r>
            <a:r>
              <a:rPr lang="en-US" altLang="en-US" sz="2400" smtClean="0"/>
              <a:t>: no serious security flaws – in Netscape Navigator 3.0 and higher, MS Explorer 3.0 and higher</a:t>
            </a:r>
          </a:p>
          <a:p>
            <a:pPr eaLnBrk="1" hangingPunct="1"/>
            <a:r>
              <a:rPr lang="en-GB" altLang="en-US" sz="2800" smtClean="0"/>
              <a:t>RFC2246, </a:t>
            </a:r>
            <a:r>
              <a:rPr lang="en-GB" altLang="en-US" sz="2000" smtClean="0">
                <a:latin typeface="Courier New" panose="02070309020205020404" pitchFamily="49" charset="0"/>
                <a:hlinkClick r:id="rId2"/>
              </a:rPr>
              <a:t>http://www.ietf.org/rfc/rfc2246.txt</a:t>
            </a:r>
            <a:r>
              <a:rPr lang="en-GB" altLang="en-US" sz="2000" smtClean="0">
                <a:latin typeface="Courier New" panose="02070309020205020404" pitchFamily="49" charset="0"/>
              </a:rPr>
              <a:t> </a:t>
            </a:r>
          </a:p>
          <a:p>
            <a:pPr eaLnBrk="1" hangingPunct="1"/>
            <a:r>
              <a:rPr lang="en-GB" altLang="en-US" sz="2800" smtClean="0"/>
              <a:t>Open-source implementation at </a:t>
            </a:r>
            <a:r>
              <a:rPr lang="en-GB" altLang="en-US" sz="2000" smtClean="0">
                <a:latin typeface="Courier New" panose="02070309020205020404" pitchFamily="49" charset="0"/>
                <a:hlinkClick r:id="rId3"/>
              </a:rPr>
              <a:t>http://www.openssl.org/</a:t>
            </a:r>
            <a:r>
              <a:rPr lang="en-GB" altLang="en-US" sz="2000" smtClean="0">
                <a:latin typeface="Courier New" panose="02070309020205020404" pitchFamily="49" charset="0"/>
              </a:rPr>
              <a:t> </a:t>
            </a:r>
            <a:endParaRPr lang="en-US" altLang="en-US" sz="2800" smtClean="0"/>
          </a:p>
          <a:p>
            <a:pPr eaLnBrk="1" hangingPunct="1"/>
            <a:endParaRPr lang="en-US" altLang="en-US" sz="2800" smtClean="0"/>
          </a:p>
        </p:txBody>
      </p:sp>
    </p:spTree>
    <p:extLst>
      <p:ext uri="{BB962C8B-B14F-4D97-AF65-F5344CB8AC3E}">
        <p14:creationId xmlns:p14="http://schemas.microsoft.com/office/powerpoint/2010/main" val="5995201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defRPr/>
            </a:pPr>
            <a:r>
              <a:rPr lang="en-US" smtClean="0"/>
              <a:t>SSL</a:t>
            </a:r>
          </a:p>
        </p:txBody>
      </p:sp>
      <p:sp>
        <p:nvSpPr>
          <p:cNvPr id="19460" name="Rectangle 3"/>
          <p:cNvSpPr>
            <a:spLocks noGrp="1" noChangeArrowheads="1"/>
          </p:cNvSpPr>
          <p:nvPr>
            <p:ph type="body" idx="1"/>
          </p:nvPr>
        </p:nvSpPr>
        <p:spPr>
          <a:xfrm>
            <a:off x="457200" y="1600200"/>
            <a:ext cx="4186238" cy="4525963"/>
          </a:xfrm>
        </p:spPr>
        <p:txBody>
          <a:bodyPr>
            <a:normAutofit fontScale="85000" lnSpcReduction="20000"/>
          </a:bodyPr>
          <a:lstStyle/>
          <a:p>
            <a:pPr eaLnBrk="1" hangingPunct="1">
              <a:lnSpc>
                <a:spcPct val="90000"/>
              </a:lnSpc>
            </a:pPr>
            <a:r>
              <a:rPr lang="en-US" altLang="en-US" u="sng" dirty="0" smtClean="0"/>
              <a:t>Intermediate security layer</a:t>
            </a:r>
            <a:r>
              <a:rPr lang="en-US" altLang="en-US" dirty="0" smtClean="0"/>
              <a:t> between the transport layer and the application layer</a:t>
            </a:r>
          </a:p>
          <a:p>
            <a:pPr eaLnBrk="1" hangingPunct="1">
              <a:lnSpc>
                <a:spcPct val="90000"/>
              </a:lnSpc>
            </a:pPr>
            <a:r>
              <a:rPr lang="en-US" altLang="en-US" dirty="0" smtClean="0"/>
              <a:t>Based on </a:t>
            </a:r>
            <a:r>
              <a:rPr lang="en-US" altLang="en-US" u="sng" dirty="0" smtClean="0"/>
              <a:t>connection-oriented</a:t>
            </a:r>
            <a:r>
              <a:rPr lang="en-US" altLang="en-US" dirty="0" smtClean="0"/>
              <a:t> and </a:t>
            </a:r>
            <a:r>
              <a:rPr lang="en-US" altLang="en-US" u="sng" dirty="0" smtClean="0"/>
              <a:t>reliable</a:t>
            </a:r>
            <a:r>
              <a:rPr lang="en-US" altLang="en-US" dirty="0" smtClean="0"/>
              <a:t> service (e.g., TCP)</a:t>
            </a:r>
          </a:p>
          <a:p>
            <a:pPr eaLnBrk="1" hangingPunct="1">
              <a:lnSpc>
                <a:spcPct val="90000"/>
              </a:lnSpc>
            </a:pPr>
            <a:r>
              <a:rPr lang="en-US" altLang="en-US" dirty="0" smtClean="0"/>
              <a:t>Able to provide security services for any TCP-based application protocol, e.g., HTTP,FTP, TELNET, POP3, etc. </a:t>
            </a:r>
          </a:p>
          <a:p>
            <a:pPr eaLnBrk="1" hangingPunct="1">
              <a:lnSpc>
                <a:spcPct val="90000"/>
              </a:lnSpc>
            </a:pPr>
            <a:r>
              <a:rPr lang="en-US" altLang="en-US" u="sng" dirty="0" smtClean="0"/>
              <a:t>Application independent</a:t>
            </a:r>
          </a:p>
        </p:txBody>
      </p:sp>
      <p:sp>
        <p:nvSpPr>
          <p:cNvPr id="4" name="TextBox 3"/>
          <p:cNvSpPr txBox="1"/>
          <p:nvPr/>
        </p:nvSpPr>
        <p:spPr>
          <a:xfrm>
            <a:off x="4572000" y="3857628"/>
            <a:ext cx="2088232" cy="646331"/>
          </a:xfrm>
          <a:prstGeom prst="rect">
            <a:avLst/>
          </a:prstGeom>
          <a:noFill/>
        </p:spPr>
        <p:txBody>
          <a:bodyPr wrap="square" rtlCol="0">
            <a:spAutoFit/>
          </a:bodyPr>
          <a:lstStyle/>
          <a:p>
            <a:pPr algn="ctr"/>
            <a:r>
              <a:rPr lang="en-IN" b="1" dirty="0" smtClean="0"/>
              <a:t>TCP/IP Protocol stack without SSL</a:t>
            </a:r>
            <a:endParaRPr lang="en-IN" b="1" dirty="0"/>
          </a:p>
        </p:txBody>
      </p:sp>
      <p:sp>
        <p:nvSpPr>
          <p:cNvPr id="5" name="TextBox 4"/>
          <p:cNvSpPr txBox="1"/>
          <p:nvPr/>
        </p:nvSpPr>
        <p:spPr>
          <a:xfrm>
            <a:off x="7055768" y="3857628"/>
            <a:ext cx="2088232" cy="646331"/>
          </a:xfrm>
          <a:prstGeom prst="rect">
            <a:avLst/>
          </a:prstGeom>
          <a:noFill/>
        </p:spPr>
        <p:txBody>
          <a:bodyPr wrap="square" rtlCol="0">
            <a:spAutoFit/>
          </a:bodyPr>
          <a:lstStyle/>
          <a:p>
            <a:pPr algn="ctr"/>
            <a:r>
              <a:rPr lang="en-IN" b="1" dirty="0" smtClean="0"/>
              <a:t>TCP/IP Protocol stack with SSL</a:t>
            </a:r>
            <a:endParaRPr lang="en-IN" b="1" dirty="0"/>
          </a:p>
        </p:txBody>
      </p:sp>
      <p:pic>
        <p:nvPicPr>
          <p:cNvPr id="6" name="Picture 9"/>
          <p:cNvPicPr>
            <a:picLocks noChangeAspect="1" noChangeArrowheads="1"/>
          </p:cNvPicPr>
          <p:nvPr/>
        </p:nvPicPr>
        <p:blipFill>
          <a:blip r:embed="rId2" cstate="print"/>
          <a:srcRect b="9853"/>
          <a:stretch>
            <a:fillRect/>
          </a:stretch>
        </p:blipFill>
        <p:spPr bwMode="auto">
          <a:xfrm>
            <a:off x="4429124" y="1357298"/>
            <a:ext cx="4500594" cy="2376264"/>
          </a:xfrm>
          <a:prstGeom prst="rect">
            <a:avLst/>
          </a:prstGeom>
          <a:noFill/>
          <a:ln w="9525">
            <a:noFill/>
            <a:miter lim="800000"/>
            <a:headEnd/>
            <a:tailEnd/>
          </a:ln>
        </p:spPr>
      </p:pic>
    </p:spTree>
    <p:extLst>
      <p:ext uri="{BB962C8B-B14F-4D97-AF65-F5344CB8AC3E}">
        <p14:creationId xmlns:p14="http://schemas.microsoft.com/office/powerpoint/2010/main" val="19638740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SSL Architecture</a:t>
            </a:r>
          </a:p>
          <a:p>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14</a:t>
            </a:fld>
            <a:endParaRPr lang="en-US" dirty="0"/>
          </a:p>
        </p:txBody>
      </p:sp>
      <p:sp>
        <p:nvSpPr>
          <p:cNvPr id="6" name="TextBox 5"/>
          <p:cNvSpPr txBox="1"/>
          <p:nvPr/>
        </p:nvSpPr>
        <p:spPr>
          <a:xfrm>
            <a:off x="251520" y="1628801"/>
            <a:ext cx="3024336" cy="3074688"/>
          </a:xfrm>
          <a:prstGeom prst="rect">
            <a:avLst/>
          </a:prstGeom>
          <a:noFill/>
        </p:spPr>
        <p:txBody>
          <a:bodyPr wrap="square" rtlCol="0">
            <a:spAutoFit/>
          </a:bodyPr>
          <a:lstStyle/>
          <a:p>
            <a:pPr marL="514350" lvl="1" indent="-514350" algn="just">
              <a:spcBef>
                <a:spcPct val="20000"/>
              </a:spcBef>
              <a:buClr>
                <a:srgbClr val="101141"/>
              </a:buClr>
              <a:buFont typeface="Wingdings" pitchFamily="2" charset="2"/>
              <a:buChar char="q"/>
            </a:pPr>
            <a:r>
              <a:rPr lang="en-IN" sz="1700" dirty="0" smtClean="0">
                <a:cs typeface="Arial" pitchFamily="34" charset="0"/>
              </a:rPr>
              <a:t>SSL is not a single protocol but rather two layers of protocols.</a:t>
            </a:r>
          </a:p>
          <a:p>
            <a:pPr marL="514350" lvl="1" indent="-514350" algn="just">
              <a:spcBef>
                <a:spcPct val="20000"/>
              </a:spcBef>
              <a:buClr>
                <a:srgbClr val="101141"/>
              </a:buClr>
              <a:buFont typeface="Wingdings" pitchFamily="2" charset="2"/>
              <a:buChar char="q"/>
            </a:pPr>
            <a:r>
              <a:rPr lang="en-IN" sz="1700" b="1" i="1" dirty="0" smtClean="0">
                <a:cs typeface="Arial" pitchFamily="34" charset="0"/>
                <a:hlinkClick r:id="" action="ppaction://noaction"/>
              </a:rPr>
              <a:t>SSL Handshake Protocol </a:t>
            </a:r>
            <a:r>
              <a:rPr lang="en-IN" sz="1700" dirty="0" smtClean="0">
                <a:cs typeface="Arial" pitchFamily="34" charset="0"/>
              </a:rPr>
              <a:t>allows server and client to exchange different security parameters. This protocol performs its job before application data is transmitted.</a:t>
            </a:r>
          </a:p>
          <a:p>
            <a:pPr marL="514350" lvl="1" indent="-514350" algn="just">
              <a:spcBef>
                <a:spcPct val="20000"/>
              </a:spcBef>
              <a:buClr>
                <a:srgbClr val="101141"/>
              </a:buClr>
              <a:buFont typeface="Wingdings" pitchFamily="2" charset="2"/>
              <a:buChar char="q"/>
            </a:pPr>
            <a:endParaRPr lang="en-IN" sz="1700" dirty="0" smtClean="0">
              <a:cs typeface="Arial" pitchFamily="34" charset="0"/>
            </a:endParaRPr>
          </a:p>
        </p:txBody>
      </p:sp>
      <p:sp>
        <p:nvSpPr>
          <p:cNvPr id="7" name="TextBox 6"/>
          <p:cNvSpPr txBox="1"/>
          <p:nvPr/>
        </p:nvSpPr>
        <p:spPr>
          <a:xfrm>
            <a:off x="251520" y="4437112"/>
            <a:ext cx="8352928" cy="2080570"/>
          </a:xfrm>
          <a:prstGeom prst="rect">
            <a:avLst/>
          </a:prstGeom>
          <a:noFill/>
        </p:spPr>
        <p:txBody>
          <a:bodyPr wrap="square" rtlCol="0">
            <a:spAutoFit/>
          </a:bodyPr>
          <a:lstStyle/>
          <a:p>
            <a:pPr marL="514350" lvl="1" indent="-514350" algn="just">
              <a:spcBef>
                <a:spcPct val="20000"/>
              </a:spcBef>
              <a:buClr>
                <a:srgbClr val="101141"/>
              </a:buClr>
              <a:buFont typeface="Wingdings" pitchFamily="2" charset="2"/>
              <a:buChar char="q"/>
            </a:pPr>
            <a:r>
              <a:rPr lang="en-IN" sz="1700" b="1" i="1" dirty="0" smtClean="0">
                <a:cs typeface="Arial" pitchFamily="34" charset="0"/>
                <a:hlinkClick r:id="" action="ppaction://noaction"/>
              </a:rPr>
              <a:t>SSL Change Cipher Spec Protocol</a:t>
            </a:r>
            <a:r>
              <a:rPr lang="en-IN" sz="1700" dirty="0" smtClean="0">
                <a:cs typeface="Arial" pitchFamily="34" charset="0"/>
                <a:hlinkClick r:id="" action="ppaction://noaction"/>
              </a:rPr>
              <a:t> </a:t>
            </a:r>
            <a:r>
              <a:rPr lang="en-IN" sz="1700" dirty="0" smtClean="0">
                <a:cs typeface="Arial" pitchFamily="34" charset="0"/>
              </a:rPr>
              <a:t>is used to update the cipher suite to be used for the connection.</a:t>
            </a:r>
          </a:p>
          <a:p>
            <a:pPr marL="514350" lvl="1" indent="-514350" algn="just">
              <a:spcBef>
                <a:spcPct val="20000"/>
              </a:spcBef>
              <a:buClr>
                <a:srgbClr val="101141"/>
              </a:buClr>
              <a:buFont typeface="Wingdings" pitchFamily="2" charset="2"/>
              <a:buChar char="q"/>
            </a:pPr>
            <a:r>
              <a:rPr lang="en-IN" sz="1700" b="1" i="1" dirty="0" smtClean="0">
                <a:cs typeface="Arial" pitchFamily="34" charset="0"/>
                <a:hlinkClick r:id="" action="ppaction://noaction"/>
              </a:rPr>
              <a:t>SSL Alert Protocol </a:t>
            </a:r>
            <a:r>
              <a:rPr lang="en-IN" sz="1700" dirty="0" smtClean="0">
                <a:cs typeface="Arial" pitchFamily="34" charset="0"/>
              </a:rPr>
              <a:t>is used to convey SSL related alarms to the peer entities (client and server).</a:t>
            </a:r>
          </a:p>
          <a:p>
            <a:pPr marL="514350" lvl="1" indent="-514350" algn="just">
              <a:spcBef>
                <a:spcPct val="20000"/>
              </a:spcBef>
              <a:buClr>
                <a:srgbClr val="101141"/>
              </a:buClr>
              <a:buFont typeface="Wingdings" pitchFamily="2" charset="2"/>
              <a:buChar char="q"/>
            </a:pPr>
            <a:r>
              <a:rPr lang="en-IN" sz="1700" b="1" i="1" dirty="0" smtClean="0">
                <a:cs typeface="Arial" pitchFamily="34" charset="0"/>
                <a:hlinkClick r:id="" action="ppaction://noaction"/>
              </a:rPr>
              <a:t>SSL Record Protocol </a:t>
            </a:r>
            <a:r>
              <a:rPr lang="en-IN" sz="1700" dirty="0" smtClean="0">
                <a:cs typeface="Arial" pitchFamily="34" charset="0"/>
              </a:rPr>
              <a:t>provides basic security services to the different application layer protocols. E.g. HTTP uses SSL to provide secure Web client/server interactions.</a:t>
            </a:r>
          </a:p>
          <a:p>
            <a:pPr marL="514350" lvl="1" indent="-514350" algn="just">
              <a:spcBef>
                <a:spcPct val="20000"/>
              </a:spcBef>
              <a:buClr>
                <a:srgbClr val="101141"/>
              </a:buClr>
              <a:buFont typeface="Wingdings" pitchFamily="2" charset="2"/>
              <a:buChar char="q"/>
            </a:pPr>
            <a:endParaRPr lang="en-IN" sz="1700" dirty="0" smtClean="0">
              <a:cs typeface="Arial" pitchFamily="34" charset="0"/>
            </a:endParaRPr>
          </a:p>
        </p:txBody>
      </p:sp>
      <p:grpSp>
        <p:nvGrpSpPr>
          <p:cNvPr id="2" name="Group 22"/>
          <p:cNvGrpSpPr/>
          <p:nvPr/>
        </p:nvGrpSpPr>
        <p:grpSpPr>
          <a:xfrm>
            <a:off x="3347864" y="1665337"/>
            <a:ext cx="5308476" cy="2771775"/>
            <a:chOff x="3275856" y="1809353"/>
            <a:chExt cx="5308476" cy="2771775"/>
          </a:xfrm>
        </p:grpSpPr>
        <p:pic>
          <p:nvPicPr>
            <p:cNvPr id="1026" name="Picture 2"/>
            <p:cNvPicPr>
              <a:picLocks noChangeAspect="1" noChangeArrowheads="1"/>
            </p:cNvPicPr>
            <p:nvPr/>
          </p:nvPicPr>
          <p:blipFill>
            <a:blip r:embed="rId2" cstate="print"/>
            <a:srcRect/>
            <a:stretch>
              <a:fillRect/>
            </a:stretch>
          </p:blipFill>
          <p:spPr bwMode="auto">
            <a:xfrm>
              <a:off x="3275856" y="1809353"/>
              <a:ext cx="5308476" cy="2771775"/>
            </a:xfrm>
            <a:prstGeom prst="rect">
              <a:avLst/>
            </a:prstGeom>
            <a:noFill/>
            <a:ln w="9525">
              <a:noFill/>
              <a:miter lim="800000"/>
              <a:headEnd/>
              <a:tailEnd/>
            </a:ln>
          </p:spPr>
        </p:pic>
        <p:cxnSp>
          <p:nvCxnSpPr>
            <p:cNvPr id="12" name="Straight Arrow Connector 11"/>
            <p:cNvCxnSpPr/>
            <p:nvPr/>
          </p:nvCxnSpPr>
          <p:spPr>
            <a:xfrm>
              <a:off x="4313740" y="2889473"/>
              <a:ext cx="0" cy="288032"/>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559201" y="2889473"/>
              <a:ext cx="0" cy="288032"/>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873854" y="2889473"/>
              <a:ext cx="0" cy="288032"/>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974355" y="3609553"/>
              <a:ext cx="0" cy="288032"/>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911739" y="2241401"/>
              <a:ext cx="0" cy="936104"/>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609600"/>
            <a:ext cx="5943600" cy="1143000"/>
          </a:xfrm>
        </p:spPr>
        <p:txBody>
          <a:bodyPr/>
          <a:lstStyle/>
          <a:p>
            <a:pPr eaLnBrk="1" hangingPunct="1">
              <a:defRPr/>
            </a:pPr>
            <a:r>
              <a:rPr lang="en-US" smtClean="0"/>
              <a:t>SSL Services</a:t>
            </a:r>
          </a:p>
        </p:txBody>
      </p:sp>
      <p:sp>
        <p:nvSpPr>
          <p:cNvPr id="21508" name="Rectangle 3"/>
          <p:cNvSpPr>
            <a:spLocks noGrp="1" noChangeArrowheads="1"/>
          </p:cNvSpPr>
          <p:nvPr>
            <p:ph type="body" idx="1"/>
          </p:nvPr>
        </p:nvSpPr>
        <p:spPr/>
        <p:txBody>
          <a:bodyPr/>
          <a:lstStyle/>
          <a:p>
            <a:pPr eaLnBrk="1" hangingPunct="1">
              <a:lnSpc>
                <a:spcPct val="90000"/>
              </a:lnSpc>
            </a:pPr>
            <a:r>
              <a:rPr lang="en-US" altLang="en-US" smtClean="0"/>
              <a:t>SSL provides</a:t>
            </a:r>
          </a:p>
          <a:p>
            <a:pPr lvl="1" eaLnBrk="1" hangingPunct="1">
              <a:lnSpc>
                <a:spcPct val="90000"/>
              </a:lnSpc>
            </a:pPr>
            <a:r>
              <a:rPr lang="en-US" altLang="en-US" smtClean="0"/>
              <a:t>Client- server authentication (public-key cryptography)</a:t>
            </a:r>
          </a:p>
          <a:p>
            <a:pPr lvl="1" eaLnBrk="1" hangingPunct="1">
              <a:lnSpc>
                <a:spcPct val="90000"/>
              </a:lnSpc>
            </a:pPr>
            <a:r>
              <a:rPr lang="en-US" altLang="en-US" smtClean="0"/>
              <a:t>Data traffic confidentiality</a:t>
            </a:r>
          </a:p>
          <a:p>
            <a:pPr lvl="1" eaLnBrk="1" hangingPunct="1">
              <a:lnSpc>
                <a:spcPct val="90000"/>
              </a:lnSpc>
            </a:pPr>
            <a:r>
              <a:rPr lang="en-US" altLang="en-US" smtClean="0"/>
              <a:t>Message authentication and integrity check</a:t>
            </a:r>
          </a:p>
          <a:p>
            <a:pPr eaLnBrk="1" hangingPunct="1">
              <a:lnSpc>
                <a:spcPct val="90000"/>
              </a:lnSpc>
            </a:pPr>
            <a:r>
              <a:rPr lang="en-US" altLang="en-US" smtClean="0"/>
              <a:t>SSL does not provide</a:t>
            </a:r>
          </a:p>
          <a:p>
            <a:pPr lvl="1" eaLnBrk="1" hangingPunct="1">
              <a:lnSpc>
                <a:spcPct val="90000"/>
              </a:lnSpc>
            </a:pPr>
            <a:r>
              <a:rPr lang="en-US" altLang="en-US" smtClean="0"/>
              <a:t>Traffic analysis</a:t>
            </a:r>
          </a:p>
          <a:p>
            <a:pPr lvl="1" eaLnBrk="1" hangingPunct="1">
              <a:lnSpc>
                <a:spcPct val="90000"/>
              </a:lnSpc>
            </a:pPr>
            <a:r>
              <a:rPr lang="en-US" altLang="en-US" smtClean="0"/>
              <a:t>TCP implementation oriented attacks</a:t>
            </a:r>
          </a:p>
        </p:txBody>
      </p:sp>
    </p:spTree>
    <p:extLst>
      <p:ext uri="{BB962C8B-B14F-4D97-AF65-F5344CB8AC3E}">
        <p14:creationId xmlns:p14="http://schemas.microsoft.com/office/powerpoint/2010/main" val="41029603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en-US" altLang="en-US" smtClean="0">
                <a:ea typeface="ＭＳ Ｐゴシック" panose="020B0600070205080204" pitchFamily="34" charset="-128"/>
              </a:rPr>
              <a:t>SSL Architecture</a:t>
            </a:r>
            <a:endParaRPr lang="en-AU" altLang="en-US" smtClean="0">
              <a:ea typeface="ＭＳ Ｐゴシック" panose="020B0600070205080204" pitchFamily="34" charset="-128"/>
            </a:endParaRPr>
          </a:p>
        </p:txBody>
      </p:sp>
      <p:sp>
        <p:nvSpPr>
          <p:cNvPr id="27651" name="Rectangle 3"/>
          <p:cNvSpPr>
            <a:spLocks noGrp="1" noChangeArrowheads="1"/>
          </p:cNvSpPr>
          <p:nvPr>
            <p:ph type="body" idx="1"/>
          </p:nvPr>
        </p:nvSpPr>
        <p:spPr/>
        <p:txBody>
          <a:bodyPr/>
          <a:lstStyle/>
          <a:p>
            <a:pPr eaLnBrk="1" hangingPunct="1">
              <a:buFont typeface="Wingdings" panose="05000000000000000000" pitchFamily="2" charset="2"/>
              <a:buChar char="Ø"/>
            </a:pPr>
            <a:r>
              <a:rPr lang="en-US" altLang="en-US" b="1" smtClean="0"/>
              <a:t>SSL connection</a:t>
            </a:r>
          </a:p>
          <a:p>
            <a:pPr lvl="1" eaLnBrk="1" hangingPunct="1">
              <a:buFont typeface="Wingdings" panose="05000000000000000000" pitchFamily="2" charset="2"/>
              <a:buChar char="l"/>
            </a:pPr>
            <a:r>
              <a:rPr lang="en-US" altLang="en-US" smtClean="0"/>
              <a:t>a transient, peer-to-peer, communications link</a:t>
            </a:r>
          </a:p>
          <a:p>
            <a:pPr lvl="1" eaLnBrk="1" hangingPunct="1">
              <a:buFont typeface="Wingdings" panose="05000000000000000000" pitchFamily="2" charset="2"/>
              <a:buChar char="l"/>
            </a:pPr>
            <a:r>
              <a:rPr lang="en-US" altLang="en-US" smtClean="0"/>
              <a:t>associated with 1 SSL session</a:t>
            </a:r>
            <a:endParaRPr lang="en-AU" altLang="en-US" smtClean="0"/>
          </a:p>
          <a:p>
            <a:pPr eaLnBrk="1" hangingPunct="1">
              <a:buFont typeface="Wingdings" panose="05000000000000000000" pitchFamily="2" charset="2"/>
              <a:buChar char="Ø"/>
            </a:pPr>
            <a:r>
              <a:rPr lang="en-US" altLang="en-US" b="1" smtClean="0"/>
              <a:t>SSL session</a:t>
            </a:r>
          </a:p>
          <a:p>
            <a:pPr lvl="1" eaLnBrk="1" hangingPunct="1">
              <a:buFont typeface="Wingdings" panose="05000000000000000000" pitchFamily="2" charset="2"/>
              <a:buChar char="l"/>
            </a:pPr>
            <a:r>
              <a:rPr lang="en-US" altLang="en-US" smtClean="0"/>
              <a:t>an association between client &amp; server</a:t>
            </a:r>
          </a:p>
          <a:p>
            <a:pPr lvl="1" eaLnBrk="1" hangingPunct="1">
              <a:buFont typeface="Wingdings" panose="05000000000000000000" pitchFamily="2" charset="2"/>
              <a:buChar char="l"/>
            </a:pPr>
            <a:r>
              <a:rPr lang="en-US" altLang="en-US" smtClean="0"/>
              <a:t>created by the Handshake Protocol</a:t>
            </a:r>
          </a:p>
          <a:p>
            <a:pPr lvl="1" eaLnBrk="1" hangingPunct="1">
              <a:buFont typeface="Wingdings" panose="05000000000000000000" pitchFamily="2" charset="2"/>
              <a:buChar char="l"/>
            </a:pPr>
            <a:r>
              <a:rPr lang="en-US" altLang="en-US" smtClean="0"/>
              <a:t>define a set of cryptographic parameters</a:t>
            </a:r>
          </a:p>
          <a:p>
            <a:pPr lvl="1" eaLnBrk="1" hangingPunct="1">
              <a:buFont typeface="Wingdings" panose="05000000000000000000" pitchFamily="2" charset="2"/>
              <a:buChar char="l"/>
            </a:pPr>
            <a:r>
              <a:rPr lang="en-US" altLang="en-US" smtClean="0"/>
              <a:t>may be shared by multiple SSL connections</a:t>
            </a:r>
          </a:p>
        </p:txBody>
      </p:sp>
    </p:spTree>
    <p:extLst>
      <p:ext uri="{BB962C8B-B14F-4D97-AF65-F5344CB8AC3E}">
        <p14:creationId xmlns:p14="http://schemas.microsoft.com/office/powerpoint/2010/main" val="3250509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pPr eaLnBrk="1" hangingPunct="1">
              <a:defRPr/>
            </a:pPr>
            <a:r>
              <a:rPr lang="en-US" altLang="en-US" smtClean="0"/>
              <a:t>SSL Handshake Message Format</a:t>
            </a:r>
          </a:p>
        </p:txBody>
      </p:sp>
      <p:sp>
        <p:nvSpPr>
          <p:cNvPr id="35845" name="Rectangle 14"/>
          <p:cNvSpPr>
            <a:spLocks noGrp="1" noChangeArrowheads="1"/>
          </p:cNvSpPr>
          <p:nvPr>
            <p:ph type="body" idx="1"/>
          </p:nvPr>
        </p:nvSpPr>
        <p:spPr/>
        <p:txBody>
          <a:bodyPr/>
          <a:lstStyle/>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endParaRPr lang="en-US" altLang="en-US" sz="2000" smtClean="0"/>
          </a:p>
          <a:p>
            <a:pPr eaLnBrk="1" hangingPunct="1">
              <a:lnSpc>
                <a:spcPct val="80000"/>
              </a:lnSpc>
            </a:pPr>
            <a:r>
              <a:rPr lang="en-US" altLang="en-US" sz="2000" smtClean="0"/>
              <a:t>Type: indicates one of the 10 possible message types as shown on the next slide</a:t>
            </a:r>
          </a:p>
          <a:p>
            <a:pPr eaLnBrk="1" hangingPunct="1">
              <a:lnSpc>
                <a:spcPct val="80000"/>
              </a:lnSpc>
            </a:pPr>
            <a:r>
              <a:rPr lang="en-US" altLang="en-US" sz="2000" smtClean="0"/>
              <a:t>Length</a:t>
            </a:r>
          </a:p>
          <a:p>
            <a:pPr eaLnBrk="1" hangingPunct="1">
              <a:lnSpc>
                <a:spcPct val="80000"/>
              </a:lnSpc>
            </a:pPr>
            <a:r>
              <a:rPr lang="en-US" altLang="en-US" sz="2000" smtClean="0"/>
              <a:t>Content: contains parameters associated with this message depending on message type</a:t>
            </a:r>
          </a:p>
          <a:p>
            <a:pPr eaLnBrk="1" hangingPunct="1">
              <a:lnSpc>
                <a:spcPct val="80000"/>
              </a:lnSpc>
            </a:pPr>
            <a:endParaRPr lang="en-US" altLang="en-US" sz="2000" smtClean="0"/>
          </a:p>
        </p:txBody>
      </p:sp>
      <p:sp>
        <p:nvSpPr>
          <p:cNvPr id="35846" name="Rectangle 3"/>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nvGrpSpPr>
          <p:cNvPr id="35847" name="Group 4"/>
          <p:cNvGrpSpPr>
            <a:grpSpLocks/>
          </p:cNvGrpSpPr>
          <p:nvPr/>
        </p:nvGrpSpPr>
        <p:grpSpPr bwMode="auto">
          <a:xfrm>
            <a:off x="1447800" y="2286000"/>
            <a:ext cx="5486400" cy="1828800"/>
            <a:chOff x="3276" y="7032"/>
            <a:chExt cx="6672" cy="1572"/>
          </a:xfrm>
        </p:grpSpPr>
        <p:sp>
          <p:nvSpPr>
            <p:cNvPr id="35848" name="Rectangle 5"/>
            <p:cNvSpPr>
              <a:spLocks noChangeArrowheads="1"/>
            </p:cNvSpPr>
            <p:nvPr/>
          </p:nvSpPr>
          <p:spPr bwMode="auto">
            <a:xfrm>
              <a:off x="3276" y="7032"/>
              <a:ext cx="6672" cy="1572"/>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35849" name="Text Box 6"/>
            <p:cNvSpPr txBox="1">
              <a:spLocks noChangeArrowheads="1"/>
            </p:cNvSpPr>
            <p:nvPr/>
          </p:nvSpPr>
          <p:spPr bwMode="auto">
            <a:xfrm>
              <a:off x="3852" y="7454"/>
              <a:ext cx="780"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solidFill>
                    <a:srgbClr val="FF0000"/>
                  </a:solidFill>
                </a:rPr>
                <a:t>Type</a:t>
              </a:r>
            </a:p>
          </p:txBody>
        </p:sp>
        <p:sp>
          <p:nvSpPr>
            <p:cNvPr id="35850" name="Text Box 7"/>
            <p:cNvSpPr txBox="1">
              <a:spLocks noChangeArrowheads="1"/>
            </p:cNvSpPr>
            <p:nvPr/>
          </p:nvSpPr>
          <p:spPr bwMode="auto">
            <a:xfrm>
              <a:off x="4632" y="7454"/>
              <a:ext cx="1404"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solidFill>
                    <a:srgbClr val="FF0000"/>
                  </a:solidFill>
                </a:rPr>
                <a:t>Length</a:t>
              </a:r>
            </a:p>
          </p:txBody>
        </p:sp>
        <p:sp>
          <p:nvSpPr>
            <p:cNvPr id="35851" name="Text Box 8"/>
            <p:cNvSpPr txBox="1">
              <a:spLocks noChangeArrowheads="1"/>
            </p:cNvSpPr>
            <p:nvPr/>
          </p:nvSpPr>
          <p:spPr bwMode="auto">
            <a:xfrm>
              <a:off x="6036" y="7454"/>
              <a:ext cx="3396"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solidFill>
                    <a:srgbClr val="FF0000"/>
                  </a:solidFill>
                </a:rPr>
                <a:t>Content</a:t>
              </a:r>
            </a:p>
          </p:txBody>
        </p:sp>
        <p:sp>
          <p:nvSpPr>
            <p:cNvPr id="35852" name="Text Box 9"/>
            <p:cNvSpPr txBox="1">
              <a:spLocks noChangeArrowheads="1"/>
            </p:cNvSpPr>
            <p:nvPr/>
          </p:nvSpPr>
          <p:spPr bwMode="auto">
            <a:xfrm>
              <a:off x="3756" y="8005"/>
              <a:ext cx="876"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solidFill>
                    <a:srgbClr val="FF0000"/>
                  </a:solidFill>
                </a:rPr>
                <a:t>1 byte</a:t>
              </a:r>
            </a:p>
          </p:txBody>
        </p:sp>
        <p:sp>
          <p:nvSpPr>
            <p:cNvPr id="35853" name="Text Box 10"/>
            <p:cNvSpPr txBox="1">
              <a:spLocks noChangeArrowheads="1"/>
            </p:cNvSpPr>
            <p:nvPr/>
          </p:nvSpPr>
          <p:spPr bwMode="auto">
            <a:xfrm>
              <a:off x="4632" y="8005"/>
              <a:ext cx="1404"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solidFill>
                    <a:srgbClr val="FF0000"/>
                  </a:solidFill>
                </a:rPr>
                <a:t>3 bytes</a:t>
              </a:r>
            </a:p>
          </p:txBody>
        </p:sp>
        <p:sp>
          <p:nvSpPr>
            <p:cNvPr id="35854" name="Text Box 11"/>
            <p:cNvSpPr txBox="1">
              <a:spLocks noChangeArrowheads="1"/>
            </p:cNvSpPr>
            <p:nvPr/>
          </p:nvSpPr>
          <p:spPr bwMode="auto">
            <a:xfrm>
              <a:off x="6036" y="8005"/>
              <a:ext cx="3396"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solidFill>
                    <a:srgbClr val="FF0000"/>
                  </a:solidFill>
                </a:rPr>
                <a:t>1 or more bytes</a:t>
              </a:r>
            </a:p>
          </p:txBody>
        </p:sp>
      </p:grpSp>
    </p:spTree>
    <p:extLst>
      <p:ext uri="{BB962C8B-B14F-4D97-AF65-F5344CB8AC3E}">
        <p14:creationId xmlns:p14="http://schemas.microsoft.com/office/powerpoint/2010/main" val="316444135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defRPr/>
            </a:pPr>
            <a:r>
              <a:rPr lang="en-US" altLang="en-US" smtClean="0"/>
              <a:t>SSL Handshake Messages</a:t>
            </a:r>
          </a:p>
        </p:txBody>
      </p:sp>
      <p:sp>
        <p:nvSpPr>
          <p:cNvPr id="36869" name="Rectangle 3"/>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nvGrpSpPr>
          <p:cNvPr id="36870" name="Group 4"/>
          <p:cNvGrpSpPr>
            <a:grpSpLocks/>
          </p:cNvGrpSpPr>
          <p:nvPr/>
        </p:nvGrpSpPr>
        <p:grpSpPr bwMode="auto">
          <a:xfrm>
            <a:off x="609600" y="1600200"/>
            <a:ext cx="8153400" cy="4495800"/>
            <a:chOff x="-3" y="-3"/>
            <a:chExt cx="3720" cy="4422"/>
          </a:xfrm>
        </p:grpSpPr>
        <p:grpSp>
          <p:nvGrpSpPr>
            <p:cNvPr id="36871" name="Group 5"/>
            <p:cNvGrpSpPr>
              <a:grpSpLocks/>
            </p:cNvGrpSpPr>
            <p:nvPr/>
          </p:nvGrpSpPr>
          <p:grpSpPr bwMode="auto">
            <a:xfrm>
              <a:off x="0" y="0"/>
              <a:ext cx="3714" cy="4416"/>
              <a:chOff x="0" y="0"/>
              <a:chExt cx="3714" cy="4416"/>
            </a:xfrm>
          </p:grpSpPr>
          <p:grpSp>
            <p:nvGrpSpPr>
              <p:cNvPr id="36873" name="Group 6"/>
              <p:cNvGrpSpPr>
                <a:grpSpLocks/>
              </p:cNvGrpSpPr>
              <p:nvPr/>
            </p:nvGrpSpPr>
            <p:grpSpPr bwMode="auto">
              <a:xfrm>
                <a:off x="0" y="0"/>
                <a:ext cx="1173" cy="384"/>
                <a:chOff x="0" y="0"/>
                <a:chExt cx="1173" cy="384"/>
              </a:xfrm>
            </p:grpSpPr>
            <p:sp>
              <p:nvSpPr>
                <p:cNvPr id="36939" name="Rectangle 7"/>
                <p:cNvSpPr>
                  <a:spLocks noChangeArrowheads="1"/>
                </p:cNvSpPr>
                <p:nvPr/>
              </p:nvSpPr>
              <p:spPr bwMode="auto">
                <a:xfrm>
                  <a:off x="0" y="0"/>
                  <a:ext cx="1173"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nvGrpSpPr>
                <p:cNvPr id="36940" name="Group 8"/>
                <p:cNvGrpSpPr>
                  <a:grpSpLocks/>
                </p:cNvGrpSpPr>
                <p:nvPr/>
              </p:nvGrpSpPr>
              <p:grpSpPr bwMode="auto">
                <a:xfrm>
                  <a:off x="0" y="0"/>
                  <a:ext cx="1173" cy="384"/>
                  <a:chOff x="0" y="0"/>
                  <a:chExt cx="1173" cy="384"/>
                </a:xfrm>
              </p:grpSpPr>
              <p:sp>
                <p:nvSpPr>
                  <p:cNvPr id="36941" name="Rectangle 9"/>
                  <p:cNvSpPr>
                    <a:spLocks noChangeArrowheads="1"/>
                  </p:cNvSpPr>
                  <p:nvPr/>
                </p:nvSpPr>
                <p:spPr bwMode="auto">
                  <a:xfrm>
                    <a:off x="43" y="0"/>
                    <a:ext cx="1087"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b="1">
                        <a:solidFill>
                          <a:srgbClr val="FFFFFF"/>
                        </a:solidFill>
                        <a:cs typeface="Times New Roman" panose="02020603050405020304" pitchFamily="18" charset="0"/>
                      </a:rPr>
                      <a:t>Message Type</a:t>
                    </a:r>
                    <a:endParaRPr lang="en-US" altLang="en-US" sz="1600">
                      <a:cs typeface="Times New Roman" panose="02020603050405020304" pitchFamily="18" charset="0"/>
                    </a:endParaRPr>
                  </a:p>
                  <a:p>
                    <a:pPr algn="just">
                      <a:spcBef>
                        <a:spcPct val="0"/>
                      </a:spcBef>
                      <a:buClrTx/>
                      <a:buSzTx/>
                      <a:buFontTx/>
                      <a:buNone/>
                    </a:pPr>
                    <a:endParaRPr lang="en-US" altLang="en-US" sz="1600"/>
                  </a:p>
                </p:txBody>
              </p:sp>
              <p:sp>
                <p:nvSpPr>
                  <p:cNvPr id="36942" name="Rectangle 10"/>
                  <p:cNvSpPr>
                    <a:spLocks noChangeArrowheads="1"/>
                  </p:cNvSpPr>
                  <p:nvPr/>
                </p:nvSpPr>
                <p:spPr bwMode="auto">
                  <a:xfrm>
                    <a:off x="0" y="0"/>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grpSp>
            <p:nvGrpSpPr>
              <p:cNvPr id="36874" name="Group 11"/>
              <p:cNvGrpSpPr>
                <a:grpSpLocks/>
              </p:cNvGrpSpPr>
              <p:nvPr/>
            </p:nvGrpSpPr>
            <p:grpSpPr bwMode="auto">
              <a:xfrm>
                <a:off x="1173" y="0"/>
                <a:ext cx="2541" cy="384"/>
                <a:chOff x="1173" y="0"/>
                <a:chExt cx="2541" cy="384"/>
              </a:xfrm>
            </p:grpSpPr>
            <p:sp>
              <p:nvSpPr>
                <p:cNvPr id="36935" name="Rectangle 12"/>
                <p:cNvSpPr>
                  <a:spLocks noChangeArrowheads="1"/>
                </p:cNvSpPr>
                <p:nvPr/>
              </p:nvSpPr>
              <p:spPr bwMode="auto">
                <a:xfrm>
                  <a:off x="1173" y="0"/>
                  <a:ext cx="2541"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nvGrpSpPr>
                <p:cNvPr id="36936" name="Group 13"/>
                <p:cNvGrpSpPr>
                  <a:grpSpLocks/>
                </p:cNvGrpSpPr>
                <p:nvPr/>
              </p:nvGrpSpPr>
              <p:grpSpPr bwMode="auto">
                <a:xfrm>
                  <a:off x="1173" y="0"/>
                  <a:ext cx="2541" cy="384"/>
                  <a:chOff x="1173" y="0"/>
                  <a:chExt cx="2541" cy="384"/>
                </a:xfrm>
              </p:grpSpPr>
              <p:sp>
                <p:nvSpPr>
                  <p:cNvPr id="36937" name="Rectangle 14"/>
                  <p:cNvSpPr>
                    <a:spLocks noChangeArrowheads="1"/>
                  </p:cNvSpPr>
                  <p:nvPr/>
                </p:nvSpPr>
                <p:spPr bwMode="auto">
                  <a:xfrm>
                    <a:off x="1216" y="0"/>
                    <a:ext cx="2455"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b="1">
                        <a:solidFill>
                          <a:srgbClr val="FFFFFF"/>
                        </a:solidFill>
                        <a:cs typeface="Times New Roman" panose="02020603050405020304" pitchFamily="18" charset="0"/>
                      </a:rPr>
                      <a:t>Parameters</a:t>
                    </a:r>
                    <a:endParaRPr lang="en-US" altLang="en-US" sz="1600">
                      <a:cs typeface="Times New Roman" panose="02020603050405020304" pitchFamily="18" charset="0"/>
                    </a:endParaRPr>
                  </a:p>
                  <a:p>
                    <a:pPr algn="just">
                      <a:spcBef>
                        <a:spcPct val="0"/>
                      </a:spcBef>
                      <a:buClrTx/>
                      <a:buSzTx/>
                      <a:buFontTx/>
                      <a:buNone/>
                    </a:pPr>
                    <a:endParaRPr lang="en-US" altLang="en-US" sz="1600"/>
                  </a:p>
                </p:txBody>
              </p:sp>
              <p:sp>
                <p:nvSpPr>
                  <p:cNvPr id="36938" name="Rectangle 15"/>
                  <p:cNvSpPr>
                    <a:spLocks noChangeArrowheads="1"/>
                  </p:cNvSpPr>
                  <p:nvPr/>
                </p:nvSpPr>
                <p:spPr bwMode="auto">
                  <a:xfrm>
                    <a:off x="1173" y="0"/>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grpSp>
            <p:nvGrpSpPr>
              <p:cNvPr id="36875" name="Group 16"/>
              <p:cNvGrpSpPr>
                <a:grpSpLocks/>
              </p:cNvGrpSpPr>
              <p:nvPr/>
            </p:nvGrpSpPr>
            <p:grpSpPr bwMode="auto">
              <a:xfrm>
                <a:off x="0" y="384"/>
                <a:ext cx="1173" cy="384"/>
                <a:chOff x="0" y="384"/>
                <a:chExt cx="1173" cy="384"/>
              </a:xfrm>
            </p:grpSpPr>
            <p:sp>
              <p:nvSpPr>
                <p:cNvPr id="36933" name="Rectangle 17"/>
                <p:cNvSpPr>
                  <a:spLocks noChangeArrowheads="1"/>
                </p:cNvSpPr>
                <p:nvPr/>
              </p:nvSpPr>
              <p:spPr bwMode="auto">
                <a:xfrm>
                  <a:off x="43" y="384"/>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Hello request</a:t>
                  </a:r>
                </a:p>
                <a:p>
                  <a:pPr algn="just">
                    <a:spcBef>
                      <a:spcPct val="0"/>
                    </a:spcBef>
                    <a:buClrTx/>
                    <a:buSzTx/>
                    <a:buFontTx/>
                    <a:buNone/>
                  </a:pPr>
                  <a:endParaRPr lang="en-US" altLang="en-US" sz="1600"/>
                </a:p>
              </p:txBody>
            </p:sp>
            <p:sp>
              <p:nvSpPr>
                <p:cNvPr id="36934" name="Rectangle 18"/>
                <p:cNvSpPr>
                  <a:spLocks noChangeArrowheads="1"/>
                </p:cNvSpPr>
                <p:nvPr/>
              </p:nvSpPr>
              <p:spPr bwMode="auto">
                <a:xfrm>
                  <a:off x="0" y="384"/>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76" name="Group 19"/>
              <p:cNvGrpSpPr>
                <a:grpSpLocks/>
              </p:cNvGrpSpPr>
              <p:nvPr/>
            </p:nvGrpSpPr>
            <p:grpSpPr bwMode="auto">
              <a:xfrm>
                <a:off x="1173" y="384"/>
                <a:ext cx="2541" cy="384"/>
                <a:chOff x="1173" y="384"/>
                <a:chExt cx="2541" cy="384"/>
              </a:xfrm>
            </p:grpSpPr>
            <p:sp>
              <p:nvSpPr>
                <p:cNvPr id="36931" name="Rectangle 20"/>
                <p:cNvSpPr>
                  <a:spLocks noChangeArrowheads="1"/>
                </p:cNvSpPr>
                <p:nvPr/>
              </p:nvSpPr>
              <p:spPr bwMode="auto">
                <a:xfrm>
                  <a:off x="1216" y="384"/>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None</a:t>
                  </a:r>
                </a:p>
                <a:p>
                  <a:pPr algn="just">
                    <a:spcBef>
                      <a:spcPct val="0"/>
                    </a:spcBef>
                    <a:buClrTx/>
                    <a:buSzTx/>
                    <a:buFontTx/>
                    <a:buNone/>
                  </a:pPr>
                  <a:endParaRPr lang="en-US" altLang="en-US" sz="1600"/>
                </a:p>
              </p:txBody>
            </p:sp>
            <p:sp>
              <p:nvSpPr>
                <p:cNvPr id="36932" name="Rectangle 21"/>
                <p:cNvSpPr>
                  <a:spLocks noChangeArrowheads="1"/>
                </p:cNvSpPr>
                <p:nvPr/>
              </p:nvSpPr>
              <p:spPr bwMode="auto">
                <a:xfrm>
                  <a:off x="1173" y="384"/>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77" name="Group 22"/>
              <p:cNvGrpSpPr>
                <a:grpSpLocks/>
              </p:cNvGrpSpPr>
              <p:nvPr/>
            </p:nvGrpSpPr>
            <p:grpSpPr bwMode="auto">
              <a:xfrm>
                <a:off x="0" y="768"/>
                <a:ext cx="1173" cy="480"/>
                <a:chOff x="0" y="768"/>
                <a:chExt cx="1173" cy="480"/>
              </a:xfrm>
            </p:grpSpPr>
            <p:sp>
              <p:nvSpPr>
                <p:cNvPr id="36929" name="Rectangle 23"/>
                <p:cNvSpPr>
                  <a:spLocks noChangeArrowheads="1"/>
                </p:cNvSpPr>
                <p:nvPr/>
              </p:nvSpPr>
              <p:spPr bwMode="auto">
                <a:xfrm>
                  <a:off x="43" y="768"/>
                  <a:ext cx="108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Client hello</a:t>
                  </a:r>
                </a:p>
                <a:p>
                  <a:pPr algn="just">
                    <a:spcBef>
                      <a:spcPct val="0"/>
                    </a:spcBef>
                    <a:buClrTx/>
                    <a:buSzTx/>
                    <a:buFontTx/>
                    <a:buNone/>
                  </a:pPr>
                  <a:endParaRPr lang="en-US" altLang="en-US" sz="1600"/>
                </a:p>
              </p:txBody>
            </p:sp>
            <p:sp>
              <p:nvSpPr>
                <p:cNvPr id="36930" name="Rectangle 24"/>
                <p:cNvSpPr>
                  <a:spLocks noChangeArrowheads="1"/>
                </p:cNvSpPr>
                <p:nvPr/>
              </p:nvSpPr>
              <p:spPr bwMode="auto">
                <a:xfrm>
                  <a:off x="0" y="768"/>
                  <a:ext cx="1173"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78" name="Group 25"/>
              <p:cNvGrpSpPr>
                <a:grpSpLocks/>
              </p:cNvGrpSpPr>
              <p:nvPr/>
            </p:nvGrpSpPr>
            <p:grpSpPr bwMode="auto">
              <a:xfrm>
                <a:off x="1173" y="768"/>
                <a:ext cx="2541" cy="480"/>
                <a:chOff x="1173" y="768"/>
                <a:chExt cx="2541" cy="480"/>
              </a:xfrm>
            </p:grpSpPr>
            <p:sp>
              <p:nvSpPr>
                <p:cNvPr id="36927" name="Rectangle 26"/>
                <p:cNvSpPr>
                  <a:spLocks noChangeArrowheads="1"/>
                </p:cNvSpPr>
                <p:nvPr/>
              </p:nvSpPr>
              <p:spPr bwMode="auto">
                <a:xfrm>
                  <a:off x="1216" y="768"/>
                  <a:ext cx="245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Version, Random number, Session id, Cipher suite, Compression method</a:t>
                  </a:r>
                </a:p>
                <a:p>
                  <a:pPr algn="just">
                    <a:spcBef>
                      <a:spcPct val="0"/>
                    </a:spcBef>
                    <a:buClrTx/>
                    <a:buSzTx/>
                    <a:buFontTx/>
                    <a:buNone/>
                  </a:pPr>
                  <a:endParaRPr lang="en-US" altLang="en-US" sz="1600"/>
                </a:p>
              </p:txBody>
            </p:sp>
            <p:sp>
              <p:nvSpPr>
                <p:cNvPr id="36928" name="Rectangle 27"/>
                <p:cNvSpPr>
                  <a:spLocks noChangeArrowheads="1"/>
                </p:cNvSpPr>
                <p:nvPr/>
              </p:nvSpPr>
              <p:spPr bwMode="auto">
                <a:xfrm>
                  <a:off x="1173" y="768"/>
                  <a:ext cx="2541"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79" name="Group 28"/>
              <p:cNvGrpSpPr>
                <a:grpSpLocks/>
              </p:cNvGrpSpPr>
              <p:nvPr/>
            </p:nvGrpSpPr>
            <p:grpSpPr bwMode="auto">
              <a:xfrm>
                <a:off x="0" y="1248"/>
                <a:ext cx="1173" cy="480"/>
                <a:chOff x="0" y="1248"/>
                <a:chExt cx="1173" cy="480"/>
              </a:xfrm>
            </p:grpSpPr>
            <p:sp>
              <p:nvSpPr>
                <p:cNvPr id="36925" name="Rectangle 29"/>
                <p:cNvSpPr>
                  <a:spLocks noChangeArrowheads="1"/>
                </p:cNvSpPr>
                <p:nvPr/>
              </p:nvSpPr>
              <p:spPr bwMode="auto">
                <a:xfrm>
                  <a:off x="43" y="1248"/>
                  <a:ext cx="108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Server hello</a:t>
                  </a:r>
                </a:p>
                <a:p>
                  <a:pPr algn="just">
                    <a:spcBef>
                      <a:spcPct val="0"/>
                    </a:spcBef>
                    <a:buClrTx/>
                    <a:buSzTx/>
                    <a:buFontTx/>
                    <a:buNone/>
                  </a:pPr>
                  <a:endParaRPr lang="en-US" altLang="en-US" sz="1600"/>
                </a:p>
              </p:txBody>
            </p:sp>
            <p:sp>
              <p:nvSpPr>
                <p:cNvPr id="36926" name="Rectangle 30"/>
                <p:cNvSpPr>
                  <a:spLocks noChangeArrowheads="1"/>
                </p:cNvSpPr>
                <p:nvPr/>
              </p:nvSpPr>
              <p:spPr bwMode="auto">
                <a:xfrm>
                  <a:off x="0" y="1248"/>
                  <a:ext cx="1173"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0" name="Group 31"/>
              <p:cNvGrpSpPr>
                <a:grpSpLocks/>
              </p:cNvGrpSpPr>
              <p:nvPr/>
            </p:nvGrpSpPr>
            <p:grpSpPr bwMode="auto">
              <a:xfrm>
                <a:off x="1173" y="1248"/>
                <a:ext cx="2541" cy="480"/>
                <a:chOff x="1173" y="1248"/>
                <a:chExt cx="2541" cy="480"/>
              </a:xfrm>
            </p:grpSpPr>
            <p:sp>
              <p:nvSpPr>
                <p:cNvPr id="36923" name="Rectangle 32"/>
                <p:cNvSpPr>
                  <a:spLocks noChangeArrowheads="1"/>
                </p:cNvSpPr>
                <p:nvPr/>
              </p:nvSpPr>
              <p:spPr bwMode="auto">
                <a:xfrm>
                  <a:off x="1216" y="1248"/>
                  <a:ext cx="245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Version, Random number, Session id, Cipher suite, Compression method</a:t>
                  </a:r>
                </a:p>
                <a:p>
                  <a:pPr algn="just">
                    <a:spcBef>
                      <a:spcPct val="0"/>
                    </a:spcBef>
                    <a:buClrTx/>
                    <a:buSzTx/>
                    <a:buFontTx/>
                    <a:buNone/>
                  </a:pPr>
                  <a:endParaRPr lang="en-US" altLang="en-US" sz="1600"/>
                </a:p>
              </p:txBody>
            </p:sp>
            <p:sp>
              <p:nvSpPr>
                <p:cNvPr id="36924" name="Rectangle 33"/>
                <p:cNvSpPr>
                  <a:spLocks noChangeArrowheads="1"/>
                </p:cNvSpPr>
                <p:nvPr/>
              </p:nvSpPr>
              <p:spPr bwMode="auto">
                <a:xfrm>
                  <a:off x="1173" y="1248"/>
                  <a:ext cx="2541"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1" name="Group 34"/>
              <p:cNvGrpSpPr>
                <a:grpSpLocks/>
              </p:cNvGrpSpPr>
              <p:nvPr/>
            </p:nvGrpSpPr>
            <p:grpSpPr bwMode="auto">
              <a:xfrm>
                <a:off x="0" y="1728"/>
                <a:ext cx="1173" cy="384"/>
                <a:chOff x="0" y="1728"/>
                <a:chExt cx="1173" cy="384"/>
              </a:xfrm>
            </p:grpSpPr>
            <p:sp>
              <p:nvSpPr>
                <p:cNvPr id="36921" name="Rectangle 35"/>
                <p:cNvSpPr>
                  <a:spLocks noChangeArrowheads="1"/>
                </p:cNvSpPr>
                <p:nvPr/>
              </p:nvSpPr>
              <p:spPr bwMode="auto">
                <a:xfrm>
                  <a:off x="43" y="1728"/>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Certificate</a:t>
                  </a:r>
                </a:p>
                <a:p>
                  <a:pPr algn="just">
                    <a:spcBef>
                      <a:spcPct val="0"/>
                    </a:spcBef>
                    <a:buClrTx/>
                    <a:buSzTx/>
                    <a:buFontTx/>
                    <a:buNone/>
                  </a:pPr>
                  <a:endParaRPr lang="en-US" altLang="en-US" sz="1600"/>
                </a:p>
              </p:txBody>
            </p:sp>
            <p:sp>
              <p:nvSpPr>
                <p:cNvPr id="36922" name="Rectangle 36"/>
                <p:cNvSpPr>
                  <a:spLocks noChangeArrowheads="1"/>
                </p:cNvSpPr>
                <p:nvPr/>
              </p:nvSpPr>
              <p:spPr bwMode="auto">
                <a:xfrm>
                  <a:off x="0" y="1728"/>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2" name="Group 37"/>
              <p:cNvGrpSpPr>
                <a:grpSpLocks/>
              </p:cNvGrpSpPr>
              <p:nvPr/>
            </p:nvGrpSpPr>
            <p:grpSpPr bwMode="auto">
              <a:xfrm>
                <a:off x="1173" y="1728"/>
                <a:ext cx="2541" cy="384"/>
                <a:chOff x="1173" y="1728"/>
                <a:chExt cx="2541" cy="384"/>
              </a:xfrm>
            </p:grpSpPr>
            <p:sp>
              <p:nvSpPr>
                <p:cNvPr id="36919" name="Rectangle 38"/>
                <p:cNvSpPr>
                  <a:spLocks noChangeArrowheads="1"/>
                </p:cNvSpPr>
                <p:nvPr/>
              </p:nvSpPr>
              <p:spPr bwMode="auto">
                <a:xfrm>
                  <a:off x="1216" y="1728"/>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Chain of X.509V3 certificates</a:t>
                  </a:r>
                </a:p>
                <a:p>
                  <a:pPr algn="just">
                    <a:spcBef>
                      <a:spcPct val="0"/>
                    </a:spcBef>
                    <a:buClrTx/>
                    <a:buSzTx/>
                    <a:buFontTx/>
                    <a:buNone/>
                  </a:pPr>
                  <a:endParaRPr lang="en-US" altLang="en-US" sz="1600"/>
                </a:p>
              </p:txBody>
            </p:sp>
            <p:sp>
              <p:nvSpPr>
                <p:cNvPr id="36920" name="Rectangle 39"/>
                <p:cNvSpPr>
                  <a:spLocks noChangeArrowheads="1"/>
                </p:cNvSpPr>
                <p:nvPr/>
              </p:nvSpPr>
              <p:spPr bwMode="auto">
                <a:xfrm>
                  <a:off x="1173" y="1728"/>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3" name="Group 40"/>
              <p:cNvGrpSpPr>
                <a:grpSpLocks/>
              </p:cNvGrpSpPr>
              <p:nvPr/>
            </p:nvGrpSpPr>
            <p:grpSpPr bwMode="auto">
              <a:xfrm>
                <a:off x="0" y="2112"/>
                <a:ext cx="1173" cy="384"/>
                <a:chOff x="0" y="2112"/>
                <a:chExt cx="1173" cy="384"/>
              </a:xfrm>
            </p:grpSpPr>
            <p:sp>
              <p:nvSpPr>
                <p:cNvPr id="36917" name="Rectangle 41"/>
                <p:cNvSpPr>
                  <a:spLocks noChangeArrowheads="1"/>
                </p:cNvSpPr>
                <p:nvPr/>
              </p:nvSpPr>
              <p:spPr bwMode="auto">
                <a:xfrm>
                  <a:off x="43" y="2112"/>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Server key exchange</a:t>
                  </a:r>
                </a:p>
                <a:p>
                  <a:pPr algn="just">
                    <a:spcBef>
                      <a:spcPct val="0"/>
                    </a:spcBef>
                    <a:buClrTx/>
                    <a:buSzTx/>
                    <a:buFontTx/>
                    <a:buNone/>
                  </a:pPr>
                  <a:endParaRPr lang="en-US" altLang="en-US" sz="1600"/>
                </a:p>
              </p:txBody>
            </p:sp>
            <p:sp>
              <p:nvSpPr>
                <p:cNvPr id="36918" name="Rectangle 42"/>
                <p:cNvSpPr>
                  <a:spLocks noChangeArrowheads="1"/>
                </p:cNvSpPr>
                <p:nvPr/>
              </p:nvSpPr>
              <p:spPr bwMode="auto">
                <a:xfrm>
                  <a:off x="0" y="2112"/>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4" name="Group 43"/>
              <p:cNvGrpSpPr>
                <a:grpSpLocks/>
              </p:cNvGrpSpPr>
              <p:nvPr/>
            </p:nvGrpSpPr>
            <p:grpSpPr bwMode="auto">
              <a:xfrm>
                <a:off x="1173" y="2112"/>
                <a:ext cx="2541" cy="384"/>
                <a:chOff x="1173" y="2112"/>
                <a:chExt cx="2541" cy="384"/>
              </a:xfrm>
            </p:grpSpPr>
            <p:sp>
              <p:nvSpPr>
                <p:cNvPr id="36915" name="Rectangle 44"/>
                <p:cNvSpPr>
                  <a:spLocks noChangeArrowheads="1"/>
                </p:cNvSpPr>
                <p:nvPr/>
              </p:nvSpPr>
              <p:spPr bwMode="auto">
                <a:xfrm>
                  <a:off x="1216" y="2112"/>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Parameters, signature</a:t>
                  </a:r>
                </a:p>
                <a:p>
                  <a:pPr algn="just">
                    <a:spcBef>
                      <a:spcPct val="0"/>
                    </a:spcBef>
                    <a:buClrTx/>
                    <a:buSzTx/>
                    <a:buFontTx/>
                    <a:buNone/>
                  </a:pPr>
                  <a:endParaRPr lang="en-US" altLang="en-US" sz="1600"/>
                </a:p>
              </p:txBody>
            </p:sp>
            <p:sp>
              <p:nvSpPr>
                <p:cNvPr id="36916" name="Rectangle 45"/>
                <p:cNvSpPr>
                  <a:spLocks noChangeArrowheads="1"/>
                </p:cNvSpPr>
                <p:nvPr/>
              </p:nvSpPr>
              <p:spPr bwMode="auto">
                <a:xfrm>
                  <a:off x="1173" y="2112"/>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5" name="Group 46"/>
              <p:cNvGrpSpPr>
                <a:grpSpLocks/>
              </p:cNvGrpSpPr>
              <p:nvPr/>
            </p:nvGrpSpPr>
            <p:grpSpPr bwMode="auto">
              <a:xfrm>
                <a:off x="0" y="2496"/>
                <a:ext cx="1173" cy="384"/>
                <a:chOff x="0" y="2496"/>
                <a:chExt cx="1173" cy="384"/>
              </a:xfrm>
            </p:grpSpPr>
            <p:sp>
              <p:nvSpPr>
                <p:cNvPr id="36913" name="Rectangle 47"/>
                <p:cNvSpPr>
                  <a:spLocks noChangeArrowheads="1"/>
                </p:cNvSpPr>
                <p:nvPr/>
              </p:nvSpPr>
              <p:spPr bwMode="auto">
                <a:xfrm>
                  <a:off x="43" y="2496"/>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Certificate request</a:t>
                  </a:r>
                </a:p>
                <a:p>
                  <a:pPr algn="just">
                    <a:spcBef>
                      <a:spcPct val="0"/>
                    </a:spcBef>
                    <a:buClrTx/>
                    <a:buSzTx/>
                    <a:buFontTx/>
                    <a:buNone/>
                  </a:pPr>
                  <a:endParaRPr lang="en-US" altLang="en-US" sz="1600"/>
                </a:p>
              </p:txBody>
            </p:sp>
            <p:sp>
              <p:nvSpPr>
                <p:cNvPr id="36914" name="Rectangle 48"/>
                <p:cNvSpPr>
                  <a:spLocks noChangeArrowheads="1"/>
                </p:cNvSpPr>
                <p:nvPr/>
              </p:nvSpPr>
              <p:spPr bwMode="auto">
                <a:xfrm>
                  <a:off x="0" y="2496"/>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6" name="Group 49"/>
              <p:cNvGrpSpPr>
                <a:grpSpLocks/>
              </p:cNvGrpSpPr>
              <p:nvPr/>
            </p:nvGrpSpPr>
            <p:grpSpPr bwMode="auto">
              <a:xfrm>
                <a:off x="1173" y="2496"/>
                <a:ext cx="2541" cy="384"/>
                <a:chOff x="1173" y="2496"/>
                <a:chExt cx="2541" cy="384"/>
              </a:xfrm>
            </p:grpSpPr>
            <p:sp>
              <p:nvSpPr>
                <p:cNvPr id="36911" name="Rectangle 50"/>
                <p:cNvSpPr>
                  <a:spLocks noChangeArrowheads="1"/>
                </p:cNvSpPr>
                <p:nvPr/>
              </p:nvSpPr>
              <p:spPr bwMode="auto">
                <a:xfrm>
                  <a:off x="1216" y="2496"/>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Type, authorities</a:t>
                  </a:r>
                </a:p>
                <a:p>
                  <a:pPr algn="just">
                    <a:spcBef>
                      <a:spcPct val="0"/>
                    </a:spcBef>
                    <a:buClrTx/>
                    <a:buSzTx/>
                    <a:buFontTx/>
                    <a:buNone/>
                  </a:pPr>
                  <a:endParaRPr lang="en-US" altLang="en-US" sz="1600"/>
                </a:p>
              </p:txBody>
            </p:sp>
            <p:sp>
              <p:nvSpPr>
                <p:cNvPr id="36912" name="Rectangle 51"/>
                <p:cNvSpPr>
                  <a:spLocks noChangeArrowheads="1"/>
                </p:cNvSpPr>
                <p:nvPr/>
              </p:nvSpPr>
              <p:spPr bwMode="auto">
                <a:xfrm>
                  <a:off x="1173" y="2496"/>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7" name="Group 52"/>
              <p:cNvGrpSpPr>
                <a:grpSpLocks/>
              </p:cNvGrpSpPr>
              <p:nvPr/>
            </p:nvGrpSpPr>
            <p:grpSpPr bwMode="auto">
              <a:xfrm>
                <a:off x="0" y="2880"/>
                <a:ext cx="1173" cy="384"/>
                <a:chOff x="0" y="2880"/>
                <a:chExt cx="1173" cy="384"/>
              </a:xfrm>
            </p:grpSpPr>
            <p:sp>
              <p:nvSpPr>
                <p:cNvPr id="36909" name="Rectangle 53"/>
                <p:cNvSpPr>
                  <a:spLocks noChangeArrowheads="1"/>
                </p:cNvSpPr>
                <p:nvPr/>
              </p:nvSpPr>
              <p:spPr bwMode="auto">
                <a:xfrm>
                  <a:off x="43" y="2880"/>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Server hello done</a:t>
                  </a:r>
                </a:p>
                <a:p>
                  <a:pPr algn="just">
                    <a:spcBef>
                      <a:spcPct val="0"/>
                    </a:spcBef>
                    <a:buClrTx/>
                    <a:buSzTx/>
                    <a:buFontTx/>
                    <a:buNone/>
                  </a:pPr>
                  <a:endParaRPr lang="en-US" altLang="en-US" sz="1600"/>
                </a:p>
              </p:txBody>
            </p:sp>
            <p:sp>
              <p:nvSpPr>
                <p:cNvPr id="36910" name="Rectangle 54"/>
                <p:cNvSpPr>
                  <a:spLocks noChangeArrowheads="1"/>
                </p:cNvSpPr>
                <p:nvPr/>
              </p:nvSpPr>
              <p:spPr bwMode="auto">
                <a:xfrm>
                  <a:off x="0" y="2880"/>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8" name="Group 55"/>
              <p:cNvGrpSpPr>
                <a:grpSpLocks/>
              </p:cNvGrpSpPr>
              <p:nvPr/>
            </p:nvGrpSpPr>
            <p:grpSpPr bwMode="auto">
              <a:xfrm>
                <a:off x="1173" y="2880"/>
                <a:ext cx="2541" cy="384"/>
                <a:chOff x="1173" y="2880"/>
                <a:chExt cx="2541" cy="384"/>
              </a:xfrm>
            </p:grpSpPr>
            <p:sp>
              <p:nvSpPr>
                <p:cNvPr id="36907" name="Rectangle 56"/>
                <p:cNvSpPr>
                  <a:spLocks noChangeArrowheads="1"/>
                </p:cNvSpPr>
                <p:nvPr/>
              </p:nvSpPr>
              <p:spPr bwMode="auto">
                <a:xfrm>
                  <a:off x="1216" y="2880"/>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None</a:t>
                  </a:r>
                </a:p>
                <a:p>
                  <a:pPr algn="just">
                    <a:spcBef>
                      <a:spcPct val="0"/>
                    </a:spcBef>
                    <a:buClrTx/>
                    <a:buSzTx/>
                    <a:buFontTx/>
                    <a:buNone/>
                  </a:pPr>
                  <a:endParaRPr lang="en-US" altLang="en-US" sz="1600"/>
                </a:p>
              </p:txBody>
            </p:sp>
            <p:sp>
              <p:nvSpPr>
                <p:cNvPr id="36908" name="Rectangle 57"/>
                <p:cNvSpPr>
                  <a:spLocks noChangeArrowheads="1"/>
                </p:cNvSpPr>
                <p:nvPr/>
              </p:nvSpPr>
              <p:spPr bwMode="auto">
                <a:xfrm>
                  <a:off x="1173" y="2880"/>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89" name="Group 58"/>
              <p:cNvGrpSpPr>
                <a:grpSpLocks/>
              </p:cNvGrpSpPr>
              <p:nvPr/>
            </p:nvGrpSpPr>
            <p:grpSpPr bwMode="auto">
              <a:xfrm>
                <a:off x="0" y="3264"/>
                <a:ext cx="1173" cy="384"/>
                <a:chOff x="0" y="3264"/>
                <a:chExt cx="1173" cy="384"/>
              </a:xfrm>
            </p:grpSpPr>
            <p:sp>
              <p:nvSpPr>
                <p:cNvPr id="36905" name="Rectangle 59"/>
                <p:cNvSpPr>
                  <a:spLocks noChangeArrowheads="1"/>
                </p:cNvSpPr>
                <p:nvPr/>
              </p:nvSpPr>
              <p:spPr bwMode="auto">
                <a:xfrm>
                  <a:off x="43" y="3264"/>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Certificate verify</a:t>
                  </a:r>
                </a:p>
                <a:p>
                  <a:pPr algn="just">
                    <a:spcBef>
                      <a:spcPct val="0"/>
                    </a:spcBef>
                    <a:buClrTx/>
                    <a:buSzTx/>
                    <a:buFontTx/>
                    <a:buNone/>
                  </a:pPr>
                  <a:endParaRPr lang="en-US" altLang="en-US" sz="1600"/>
                </a:p>
              </p:txBody>
            </p:sp>
            <p:sp>
              <p:nvSpPr>
                <p:cNvPr id="36906" name="Rectangle 60"/>
                <p:cNvSpPr>
                  <a:spLocks noChangeArrowheads="1"/>
                </p:cNvSpPr>
                <p:nvPr/>
              </p:nvSpPr>
              <p:spPr bwMode="auto">
                <a:xfrm>
                  <a:off x="0" y="3264"/>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90" name="Group 61"/>
              <p:cNvGrpSpPr>
                <a:grpSpLocks/>
              </p:cNvGrpSpPr>
              <p:nvPr/>
            </p:nvGrpSpPr>
            <p:grpSpPr bwMode="auto">
              <a:xfrm>
                <a:off x="1173" y="3264"/>
                <a:ext cx="2541" cy="384"/>
                <a:chOff x="1173" y="3264"/>
                <a:chExt cx="2541" cy="384"/>
              </a:xfrm>
            </p:grpSpPr>
            <p:sp>
              <p:nvSpPr>
                <p:cNvPr id="36903" name="Rectangle 62"/>
                <p:cNvSpPr>
                  <a:spLocks noChangeArrowheads="1"/>
                </p:cNvSpPr>
                <p:nvPr/>
              </p:nvSpPr>
              <p:spPr bwMode="auto">
                <a:xfrm>
                  <a:off x="1216" y="3264"/>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Signature</a:t>
                  </a:r>
                </a:p>
                <a:p>
                  <a:pPr algn="just">
                    <a:spcBef>
                      <a:spcPct val="0"/>
                    </a:spcBef>
                    <a:buClrTx/>
                    <a:buSzTx/>
                    <a:buFontTx/>
                    <a:buNone/>
                  </a:pPr>
                  <a:endParaRPr lang="en-US" altLang="en-US" sz="1600"/>
                </a:p>
              </p:txBody>
            </p:sp>
            <p:sp>
              <p:nvSpPr>
                <p:cNvPr id="36904" name="Rectangle 63"/>
                <p:cNvSpPr>
                  <a:spLocks noChangeArrowheads="1"/>
                </p:cNvSpPr>
                <p:nvPr/>
              </p:nvSpPr>
              <p:spPr bwMode="auto">
                <a:xfrm>
                  <a:off x="1173" y="3264"/>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91" name="Group 64"/>
              <p:cNvGrpSpPr>
                <a:grpSpLocks/>
              </p:cNvGrpSpPr>
              <p:nvPr/>
            </p:nvGrpSpPr>
            <p:grpSpPr bwMode="auto">
              <a:xfrm>
                <a:off x="0" y="3648"/>
                <a:ext cx="1173" cy="384"/>
                <a:chOff x="0" y="3648"/>
                <a:chExt cx="1173" cy="384"/>
              </a:xfrm>
            </p:grpSpPr>
            <p:sp>
              <p:nvSpPr>
                <p:cNvPr id="36901" name="Rectangle 65"/>
                <p:cNvSpPr>
                  <a:spLocks noChangeArrowheads="1"/>
                </p:cNvSpPr>
                <p:nvPr/>
              </p:nvSpPr>
              <p:spPr bwMode="auto">
                <a:xfrm>
                  <a:off x="43" y="3648"/>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Client key exchange</a:t>
                  </a:r>
                </a:p>
                <a:p>
                  <a:pPr algn="just">
                    <a:spcBef>
                      <a:spcPct val="0"/>
                    </a:spcBef>
                    <a:buClrTx/>
                    <a:buSzTx/>
                    <a:buFontTx/>
                    <a:buNone/>
                  </a:pPr>
                  <a:endParaRPr lang="en-US" altLang="en-US" sz="1600"/>
                </a:p>
              </p:txBody>
            </p:sp>
            <p:sp>
              <p:nvSpPr>
                <p:cNvPr id="36902" name="Rectangle 66"/>
                <p:cNvSpPr>
                  <a:spLocks noChangeArrowheads="1"/>
                </p:cNvSpPr>
                <p:nvPr/>
              </p:nvSpPr>
              <p:spPr bwMode="auto">
                <a:xfrm>
                  <a:off x="0" y="3648"/>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92" name="Group 67"/>
              <p:cNvGrpSpPr>
                <a:grpSpLocks/>
              </p:cNvGrpSpPr>
              <p:nvPr/>
            </p:nvGrpSpPr>
            <p:grpSpPr bwMode="auto">
              <a:xfrm>
                <a:off x="1173" y="3648"/>
                <a:ext cx="2541" cy="384"/>
                <a:chOff x="1173" y="3648"/>
                <a:chExt cx="2541" cy="384"/>
              </a:xfrm>
            </p:grpSpPr>
            <p:sp>
              <p:nvSpPr>
                <p:cNvPr id="36899" name="Rectangle 68"/>
                <p:cNvSpPr>
                  <a:spLocks noChangeArrowheads="1"/>
                </p:cNvSpPr>
                <p:nvPr/>
              </p:nvSpPr>
              <p:spPr bwMode="auto">
                <a:xfrm>
                  <a:off x="1216" y="3648"/>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Parameters, signature</a:t>
                  </a:r>
                </a:p>
                <a:p>
                  <a:pPr algn="just">
                    <a:spcBef>
                      <a:spcPct val="0"/>
                    </a:spcBef>
                    <a:buClrTx/>
                    <a:buSzTx/>
                    <a:buFontTx/>
                    <a:buNone/>
                  </a:pPr>
                  <a:endParaRPr lang="en-US" altLang="en-US" sz="1600"/>
                </a:p>
              </p:txBody>
            </p:sp>
            <p:sp>
              <p:nvSpPr>
                <p:cNvPr id="36900" name="Rectangle 69"/>
                <p:cNvSpPr>
                  <a:spLocks noChangeArrowheads="1"/>
                </p:cNvSpPr>
                <p:nvPr/>
              </p:nvSpPr>
              <p:spPr bwMode="auto">
                <a:xfrm>
                  <a:off x="1173" y="3648"/>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93" name="Group 70"/>
              <p:cNvGrpSpPr>
                <a:grpSpLocks/>
              </p:cNvGrpSpPr>
              <p:nvPr/>
            </p:nvGrpSpPr>
            <p:grpSpPr bwMode="auto">
              <a:xfrm>
                <a:off x="0" y="4032"/>
                <a:ext cx="1173" cy="384"/>
                <a:chOff x="0" y="4032"/>
                <a:chExt cx="1173" cy="384"/>
              </a:xfrm>
            </p:grpSpPr>
            <p:sp>
              <p:nvSpPr>
                <p:cNvPr id="36897" name="Rectangle 71"/>
                <p:cNvSpPr>
                  <a:spLocks noChangeArrowheads="1"/>
                </p:cNvSpPr>
                <p:nvPr/>
              </p:nvSpPr>
              <p:spPr bwMode="auto">
                <a:xfrm>
                  <a:off x="43" y="4032"/>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Finished</a:t>
                  </a:r>
                </a:p>
                <a:p>
                  <a:pPr algn="just">
                    <a:spcBef>
                      <a:spcPct val="0"/>
                    </a:spcBef>
                    <a:buClrTx/>
                    <a:buSzTx/>
                    <a:buFontTx/>
                    <a:buNone/>
                  </a:pPr>
                  <a:endParaRPr lang="en-US" altLang="en-US" sz="1600"/>
                </a:p>
              </p:txBody>
            </p:sp>
            <p:sp>
              <p:nvSpPr>
                <p:cNvPr id="36898" name="Rectangle 72"/>
                <p:cNvSpPr>
                  <a:spLocks noChangeArrowheads="1"/>
                </p:cNvSpPr>
                <p:nvPr/>
              </p:nvSpPr>
              <p:spPr bwMode="auto">
                <a:xfrm>
                  <a:off x="0" y="4032"/>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36894" name="Group 73"/>
              <p:cNvGrpSpPr>
                <a:grpSpLocks/>
              </p:cNvGrpSpPr>
              <p:nvPr/>
            </p:nvGrpSpPr>
            <p:grpSpPr bwMode="auto">
              <a:xfrm>
                <a:off x="1173" y="4032"/>
                <a:ext cx="2541" cy="384"/>
                <a:chOff x="1173" y="4032"/>
                <a:chExt cx="2541" cy="384"/>
              </a:xfrm>
            </p:grpSpPr>
            <p:sp>
              <p:nvSpPr>
                <p:cNvPr id="36895" name="Rectangle 74"/>
                <p:cNvSpPr>
                  <a:spLocks noChangeArrowheads="1"/>
                </p:cNvSpPr>
                <p:nvPr/>
              </p:nvSpPr>
              <p:spPr bwMode="auto">
                <a:xfrm>
                  <a:off x="1216" y="4032"/>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1600">
                      <a:cs typeface="Times New Roman" panose="02020603050405020304" pitchFamily="18" charset="0"/>
                    </a:rPr>
                    <a:t>Hash value</a:t>
                  </a:r>
                </a:p>
                <a:p>
                  <a:pPr algn="just">
                    <a:spcBef>
                      <a:spcPct val="0"/>
                    </a:spcBef>
                    <a:buClrTx/>
                    <a:buSzTx/>
                    <a:buFontTx/>
                    <a:buNone/>
                  </a:pPr>
                  <a:endParaRPr lang="en-US" altLang="en-US" sz="1600"/>
                </a:p>
              </p:txBody>
            </p:sp>
            <p:sp>
              <p:nvSpPr>
                <p:cNvPr id="36896" name="Rectangle 75"/>
                <p:cNvSpPr>
                  <a:spLocks noChangeArrowheads="1"/>
                </p:cNvSpPr>
                <p:nvPr/>
              </p:nvSpPr>
              <p:spPr bwMode="auto">
                <a:xfrm>
                  <a:off x="1173" y="4032"/>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sp>
          <p:nvSpPr>
            <p:cNvPr id="36872" name="Rectangle 76"/>
            <p:cNvSpPr>
              <a:spLocks noChangeArrowheads="1"/>
            </p:cNvSpPr>
            <p:nvPr/>
          </p:nvSpPr>
          <p:spPr bwMode="auto">
            <a:xfrm>
              <a:off x="-3" y="-3"/>
              <a:ext cx="3720" cy="442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spTree>
    <p:extLst>
      <p:ext uri="{BB962C8B-B14F-4D97-AF65-F5344CB8AC3E}">
        <p14:creationId xmlns:p14="http://schemas.microsoft.com/office/powerpoint/2010/main" val="2762517866"/>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pPr eaLnBrk="1" hangingPunct="1">
              <a:defRPr/>
            </a:pPr>
            <a:r>
              <a:rPr lang="en-US" altLang="en-US" sz="3600" smtClean="0">
                <a:solidFill>
                  <a:srgbClr val="FF0000"/>
                </a:solidFill>
              </a:rPr>
              <a:t>SSL Handshake Process: 4 phases</a:t>
            </a:r>
          </a:p>
        </p:txBody>
      </p:sp>
      <p:sp>
        <p:nvSpPr>
          <p:cNvPr id="37893" name="Rectangle 3"/>
          <p:cNvSpPr>
            <a:spLocks noChangeArrowheads="1"/>
          </p:cNvSpPr>
          <p:nvPr/>
        </p:nvSpPr>
        <p:spPr bwMode="auto">
          <a:xfrm>
            <a:off x="4086225" y="3048000"/>
            <a:ext cx="914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grpSp>
        <p:nvGrpSpPr>
          <p:cNvPr id="37894" name="Group 4"/>
          <p:cNvGrpSpPr>
            <a:grpSpLocks/>
          </p:cNvGrpSpPr>
          <p:nvPr/>
        </p:nvGrpSpPr>
        <p:grpSpPr bwMode="auto">
          <a:xfrm>
            <a:off x="914400" y="1600200"/>
            <a:ext cx="6934200" cy="4191000"/>
            <a:chOff x="1794" y="6560"/>
            <a:chExt cx="8789" cy="3584"/>
          </a:xfrm>
        </p:grpSpPr>
        <p:sp>
          <p:nvSpPr>
            <p:cNvPr id="37895" name="Rectangle 5"/>
            <p:cNvSpPr>
              <a:spLocks noChangeArrowheads="1"/>
            </p:cNvSpPr>
            <p:nvPr/>
          </p:nvSpPr>
          <p:spPr bwMode="auto">
            <a:xfrm>
              <a:off x="1794" y="6560"/>
              <a:ext cx="8789" cy="3584"/>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37896" name="computr3"/>
            <p:cNvSpPr>
              <a:spLocks noEditPoints="1" noChangeArrowheads="1"/>
            </p:cNvSpPr>
            <p:nvPr/>
          </p:nvSpPr>
          <p:spPr bwMode="auto">
            <a:xfrm>
              <a:off x="1870" y="7317"/>
              <a:ext cx="2244" cy="1723"/>
            </a:xfrm>
            <a:custGeom>
              <a:avLst/>
              <a:gdLst>
                <a:gd name="T0" fmla="*/ 0 w 21600"/>
                <a:gd name="T1" fmla="*/ 0 h 21600"/>
                <a:gd name="T2" fmla="*/ 1 w 21600"/>
                <a:gd name="T3" fmla="*/ 0 h 21600"/>
                <a:gd name="T4" fmla="*/ 1 w 21600"/>
                <a:gd name="T5" fmla="*/ 1 h 21600"/>
                <a:gd name="T6" fmla="*/ 2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b="1">
                  <a:solidFill>
                    <a:srgbClr val="FF0000"/>
                  </a:solidFill>
                </a:rPr>
                <a:t>Web Browser</a:t>
              </a:r>
            </a:p>
          </p:txBody>
        </p:sp>
        <p:sp>
          <p:nvSpPr>
            <p:cNvPr id="37897" name="computr3"/>
            <p:cNvSpPr>
              <a:spLocks noEditPoints="1" noChangeArrowheads="1"/>
            </p:cNvSpPr>
            <p:nvPr/>
          </p:nvSpPr>
          <p:spPr bwMode="auto">
            <a:xfrm>
              <a:off x="8302" y="7386"/>
              <a:ext cx="2244" cy="1723"/>
            </a:xfrm>
            <a:custGeom>
              <a:avLst/>
              <a:gdLst>
                <a:gd name="T0" fmla="*/ 0 w 21600"/>
                <a:gd name="T1" fmla="*/ 0 h 21600"/>
                <a:gd name="T2" fmla="*/ 1 w 21600"/>
                <a:gd name="T3" fmla="*/ 0 h 21600"/>
                <a:gd name="T4" fmla="*/ 1 w 21600"/>
                <a:gd name="T5" fmla="*/ 1 h 21600"/>
                <a:gd name="T6" fmla="*/ 2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b="1">
                  <a:solidFill>
                    <a:srgbClr val="FF0000"/>
                  </a:solidFill>
                </a:rPr>
                <a:t>Web Server</a:t>
              </a:r>
            </a:p>
          </p:txBody>
        </p:sp>
        <p:sp>
          <p:nvSpPr>
            <p:cNvPr id="37898" name="AutoShape 8"/>
            <p:cNvSpPr>
              <a:spLocks noChangeArrowheads="1"/>
            </p:cNvSpPr>
            <p:nvPr/>
          </p:nvSpPr>
          <p:spPr bwMode="auto">
            <a:xfrm>
              <a:off x="3792" y="6912"/>
              <a:ext cx="4464" cy="2856"/>
            </a:xfrm>
            <a:prstGeom prst="leftRightArrow">
              <a:avLst>
                <a:gd name="adj1" fmla="val 50000"/>
                <a:gd name="adj2" fmla="val 31261"/>
              </a:avLst>
            </a:prstGeom>
            <a:solidFill>
              <a:srgbClr val="C0C0C0">
                <a:alpha val="50195"/>
              </a:srgbClr>
            </a:solidFill>
            <a:ln w="9525">
              <a:solidFill>
                <a:srgbClr val="000000"/>
              </a:solidFill>
              <a:miter lim="800000"/>
              <a:headEnd/>
              <a:tailEnd/>
            </a:ln>
          </p:spPr>
          <p:txBody>
            <a:bodyPr/>
            <a:lstStyle>
              <a:lvl1pPr marL="457200" indent="-457200">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SzTx/>
                <a:buFont typeface="Times New Roman" panose="02020603050405020304" pitchFamily="18" charset="0"/>
                <a:buAutoNum type="arabicPeriod"/>
              </a:pPr>
              <a:r>
                <a:rPr lang="en-US" altLang="en-US" sz="1200" b="1">
                  <a:solidFill>
                    <a:srgbClr val="FF0000"/>
                  </a:solidFill>
                </a:rPr>
                <a:t>Establish security capabilities</a:t>
              </a:r>
            </a:p>
            <a:p>
              <a:pPr>
                <a:spcBef>
                  <a:spcPct val="0"/>
                </a:spcBef>
                <a:buClrTx/>
                <a:buSzTx/>
                <a:buFont typeface="Times New Roman" panose="02020603050405020304" pitchFamily="18" charset="0"/>
                <a:buAutoNum type="arabicPeriod"/>
              </a:pPr>
              <a:endParaRPr lang="en-US" altLang="en-US" sz="1200" b="1">
                <a:solidFill>
                  <a:srgbClr val="FF0000"/>
                </a:solidFill>
              </a:endParaRPr>
            </a:p>
            <a:p>
              <a:pPr>
                <a:spcBef>
                  <a:spcPct val="0"/>
                </a:spcBef>
                <a:buClrTx/>
                <a:buSzTx/>
                <a:buFont typeface="Times New Roman" panose="02020603050405020304" pitchFamily="18" charset="0"/>
                <a:buAutoNum type="arabicPeriod"/>
              </a:pPr>
              <a:r>
                <a:rPr lang="en-US" altLang="en-US" sz="1200" b="1">
                  <a:solidFill>
                    <a:srgbClr val="FF0000"/>
                  </a:solidFill>
                </a:rPr>
                <a:t>Server authentication and key exchange</a:t>
              </a:r>
            </a:p>
            <a:p>
              <a:pPr>
                <a:spcBef>
                  <a:spcPct val="0"/>
                </a:spcBef>
                <a:buClrTx/>
                <a:buSzTx/>
                <a:buFont typeface="Times New Roman" panose="02020603050405020304" pitchFamily="18" charset="0"/>
                <a:buAutoNum type="arabicPeriod"/>
              </a:pPr>
              <a:endParaRPr lang="en-US" altLang="en-US" sz="1200" b="1">
                <a:solidFill>
                  <a:srgbClr val="FF0000"/>
                </a:solidFill>
              </a:endParaRPr>
            </a:p>
            <a:p>
              <a:pPr>
                <a:spcBef>
                  <a:spcPct val="0"/>
                </a:spcBef>
                <a:buClrTx/>
                <a:buSzTx/>
                <a:buFont typeface="Times New Roman" panose="02020603050405020304" pitchFamily="18" charset="0"/>
                <a:buAutoNum type="arabicPeriod"/>
              </a:pPr>
              <a:r>
                <a:rPr lang="en-US" altLang="en-US" sz="1200" b="1">
                  <a:solidFill>
                    <a:srgbClr val="FF0000"/>
                  </a:solidFill>
                </a:rPr>
                <a:t>Client authentication and key exchange</a:t>
              </a:r>
            </a:p>
            <a:p>
              <a:pPr>
                <a:spcBef>
                  <a:spcPct val="0"/>
                </a:spcBef>
                <a:buClrTx/>
                <a:buSzTx/>
                <a:buFont typeface="Times New Roman" panose="02020603050405020304" pitchFamily="18" charset="0"/>
                <a:buAutoNum type="arabicPeriod"/>
              </a:pPr>
              <a:endParaRPr lang="en-US" altLang="en-US" sz="1200" b="1">
                <a:solidFill>
                  <a:srgbClr val="FF0000"/>
                </a:solidFill>
              </a:endParaRPr>
            </a:p>
            <a:p>
              <a:pPr>
                <a:spcBef>
                  <a:spcPct val="0"/>
                </a:spcBef>
                <a:buClrTx/>
                <a:buSzTx/>
                <a:buFont typeface="Times New Roman" panose="02020603050405020304" pitchFamily="18" charset="0"/>
                <a:buAutoNum type="arabicPeriod"/>
              </a:pPr>
              <a:r>
                <a:rPr lang="en-US" altLang="en-US" sz="1200" b="1">
                  <a:solidFill>
                    <a:srgbClr val="FF0000"/>
                  </a:solidFill>
                </a:rPr>
                <a:t>Finish</a:t>
              </a:r>
            </a:p>
          </p:txBody>
        </p:sp>
      </p:grpSp>
    </p:spTree>
    <p:extLst>
      <p:ext uri="{BB962C8B-B14F-4D97-AF65-F5344CB8AC3E}">
        <p14:creationId xmlns:p14="http://schemas.microsoft.com/office/powerpoint/2010/main" val="198546732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defRPr/>
            </a:pPr>
            <a:r>
              <a:rPr lang="en-US" altLang="en-US" smtClean="0"/>
              <a:t>SSL Handshake – Phase 1</a:t>
            </a:r>
          </a:p>
        </p:txBody>
      </p:sp>
      <p:sp>
        <p:nvSpPr>
          <p:cNvPr id="38917" name="Rectangle 10"/>
          <p:cNvSpPr>
            <a:spLocks noGrp="1" noChangeArrowheads="1"/>
          </p:cNvSpPr>
          <p:nvPr>
            <p:ph type="body" idx="1"/>
          </p:nvPr>
        </p:nvSpPr>
        <p:spPr/>
        <p:txBody>
          <a:bodyPr/>
          <a:lstStyle/>
          <a:p>
            <a:pPr eaLnBrk="1" hangingPunct="1"/>
            <a:endParaRPr lang="en-US" altLang="en-US" sz="2800" dirty="0" smtClean="0"/>
          </a:p>
          <a:p>
            <a:pPr eaLnBrk="1" hangingPunct="1"/>
            <a:endParaRPr lang="en-US" altLang="en-US" sz="2800" dirty="0" smtClean="0"/>
          </a:p>
          <a:p>
            <a:pPr eaLnBrk="1" hangingPunct="1"/>
            <a:endParaRPr lang="en-US" altLang="en-US" sz="2800" dirty="0" smtClean="0"/>
          </a:p>
          <a:p>
            <a:pPr eaLnBrk="1" hangingPunct="1"/>
            <a:endParaRPr lang="en-US" altLang="en-US" sz="2800" dirty="0" smtClean="0"/>
          </a:p>
          <a:p>
            <a:pPr eaLnBrk="1" hangingPunct="1"/>
            <a:endParaRPr lang="en-US" altLang="en-US" sz="2800" dirty="0" smtClean="0"/>
          </a:p>
          <a:p>
            <a:pPr eaLnBrk="1" hangingPunct="1"/>
            <a:endParaRPr lang="en-US" altLang="en-US" sz="2800" dirty="0" smtClean="0"/>
          </a:p>
          <a:p>
            <a:pPr eaLnBrk="1" hangingPunct="1"/>
            <a:endParaRPr lang="en-US" altLang="en-US" sz="2800" dirty="0" smtClean="0"/>
          </a:p>
        </p:txBody>
      </p:sp>
      <p:sp>
        <p:nvSpPr>
          <p:cNvPr id="38918" name="Rectangle 3"/>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pic>
        <p:nvPicPr>
          <p:cNvPr id="2" name="Picture 1"/>
          <p:cNvPicPr>
            <a:picLocks noChangeAspect="1"/>
          </p:cNvPicPr>
          <p:nvPr/>
        </p:nvPicPr>
        <p:blipFill>
          <a:blip r:embed="rId2"/>
          <a:stretch>
            <a:fillRect/>
          </a:stretch>
        </p:blipFill>
        <p:spPr>
          <a:xfrm>
            <a:off x="1403648" y="1306513"/>
            <a:ext cx="4743450" cy="4819650"/>
          </a:xfrm>
          <a:prstGeom prst="rect">
            <a:avLst/>
          </a:prstGeom>
        </p:spPr>
      </p:pic>
    </p:spTree>
    <p:extLst>
      <p:ext uri="{BB962C8B-B14F-4D97-AF65-F5344CB8AC3E}">
        <p14:creationId xmlns:p14="http://schemas.microsoft.com/office/powerpoint/2010/main" val="265403065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defRPr/>
            </a:pPr>
            <a:r>
              <a:rPr lang="en-US" altLang="en-US" sz="3200" smtClean="0"/>
              <a:t>SSL Handshake – Phase 1: Client Hello</a:t>
            </a:r>
          </a:p>
        </p:txBody>
      </p:sp>
      <p:sp>
        <p:nvSpPr>
          <p:cNvPr id="39941" name="Rectangle 3"/>
          <p:cNvSpPr>
            <a:spLocks noGrp="1" noChangeArrowheads="1"/>
          </p:cNvSpPr>
          <p:nvPr>
            <p:ph type="body" idx="1"/>
          </p:nvPr>
        </p:nvSpPr>
        <p:spPr/>
        <p:txBody>
          <a:bodyPr/>
          <a:lstStyle/>
          <a:p>
            <a:pPr eaLnBrk="1" hangingPunct="1">
              <a:lnSpc>
                <a:spcPct val="90000"/>
              </a:lnSpc>
            </a:pPr>
            <a:r>
              <a:rPr lang="en-US" altLang="en-US" sz="2400" smtClean="0"/>
              <a:t>Client Hello</a:t>
            </a:r>
          </a:p>
          <a:p>
            <a:pPr lvl="1" eaLnBrk="1" hangingPunct="1">
              <a:lnSpc>
                <a:spcPct val="90000"/>
              </a:lnSpc>
            </a:pPr>
            <a:r>
              <a:rPr lang="en-US" altLang="en-US" sz="2000" smtClean="0"/>
              <a:t>Version: highest version of SSL client can support</a:t>
            </a:r>
          </a:p>
          <a:p>
            <a:pPr lvl="1" eaLnBrk="1" hangingPunct="1">
              <a:lnSpc>
                <a:spcPct val="90000"/>
              </a:lnSpc>
            </a:pPr>
            <a:r>
              <a:rPr lang="en-US" altLang="en-US" sz="2000" smtClean="0"/>
              <a:t>Random: Used later; contains 2 subfields:</a:t>
            </a:r>
          </a:p>
          <a:p>
            <a:pPr lvl="2" eaLnBrk="1" hangingPunct="1">
              <a:lnSpc>
                <a:spcPct val="90000"/>
              </a:lnSpc>
            </a:pPr>
            <a:r>
              <a:rPr lang="en-US" altLang="en-US" sz="1800" smtClean="0"/>
              <a:t>32 bit date/time field containing current system date/time</a:t>
            </a:r>
          </a:p>
          <a:p>
            <a:pPr lvl="2" eaLnBrk="1" hangingPunct="1">
              <a:lnSpc>
                <a:spcPct val="90000"/>
              </a:lnSpc>
            </a:pPr>
            <a:r>
              <a:rPr lang="en-US" altLang="en-US" sz="1800" smtClean="0"/>
              <a:t>28 byte random number generated by client machine</a:t>
            </a:r>
          </a:p>
          <a:p>
            <a:pPr lvl="1" eaLnBrk="1" hangingPunct="1">
              <a:lnSpc>
                <a:spcPct val="90000"/>
              </a:lnSpc>
            </a:pPr>
            <a:r>
              <a:rPr lang="en-US" altLang="en-US" sz="2000" smtClean="0"/>
              <a:t>Session id: variable length id; if 0, indicates that client wants to create a new connection; otherwise, client wants to update the parameters of the connection already established</a:t>
            </a:r>
          </a:p>
          <a:p>
            <a:pPr lvl="1" eaLnBrk="1" hangingPunct="1">
              <a:lnSpc>
                <a:spcPct val="90000"/>
              </a:lnSpc>
            </a:pPr>
            <a:r>
              <a:rPr lang="en-US" altLang="en-US" sz="2000" smtClean="0"/>
              <a:t>Cipher suite: indicates the list of cryptographic algorithms supported by the client</a:t>
            </a:r>
          </a:p>
          <a:p>
            <a:pPr lvl="1" eaLnBrk="1" hangingPunct="1">
              <a:lnSpc>
                <a:spcPct val="90000"/>
              </a:lnSpc>
            </a:pPr>
            <a:r>
              <a:rPr lang="en-US" altLang="en-US" sz="2000" smtClean="0"/>
              <a:t>Compression method: indicates the list of the compression algorithms supported by the client</a:t>
            </a:r>
          </a:p>
          <a:p>
            <a:pPr eaLnBrk="1" hangingPunct="1">
              <a:lnSpc>
                <a:spcPct val="90000"/>
              </a:lnSpc>
              <a:buFont typeface="Wingdings" panose="05000000000000000000" pitchFamily="2" charset="2"/>
              <a:buNone/>
            </a:pPr>
            <a:endParaRPr lang="en-US" altLang="en-US" sz="2400" smtClean="0"/>
          </a:p>
        </p:txBody>
      </p:sp>
      <p:sp>
        <p:nvSpPr>
          <p:cNvPr id="39942" name="Rectangle 4"/>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extLst>
      <p:ext uri="{BB962C8B-B14F-4D97-AF65-F5344CB8AC3E}">
        <p14:creationId xmlns:p14="http://schemas.microsoft.com/office/powerpoint/2010/main" val="2156237191"/>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defRPr/>
            </a:pPr>
            <a:r>
              <a:rPr lang="en-US" altLang="en-US" sz="3200" smtClean="0"/>
              <a:t>SSL Handshake – Phase 1: Server Hello</a:t>
            </a:r>
          </a:p>
        </p:txBody>
      </p:sp>
      <p:sp>
        <p:nvSpPr>
          <p:cNvPr id="40965" name="Rectangle 3"/>
          <p:cNvSpPr>
            <a:spLocks noGrp="1" noChangeArrowheads="1"/>
          </p:cNvSpPr>
          <p:nvPr>
            <p:ph type="body" idx="1"/>
          </p:nvPr>
        </p:nvSpPr>
        <p:spPr/>
        <p:txBody>
          <a:bodyPr/>
          <a:lstStyle/>
          <a:p>
            <a:pPr eaLnBrk="1" hangingPunct="1">
              <a:lnSpc>
                <a:spcPct val="90000"/>
              </a:lnSpc>
            </a:pPr>
            <a:r>
              <a:rPr lang="en-US" altLang="en-US" sz="2400" smtClean="0"/>
              <a:t>Server Hello</a:t>
            </a:r>
          </a:p>
          <a:p>
            <a:pPr lvl="1" eaLnBrk="1" hangingPunct="1">
              <a:lnSpc>
                <a:spcPct val="90000"/>
              </a:lnSpc>
            </a:pPr>
            <a:r>
              <a:rPr lang="en-US" altLang="en-US" sz="2000" smtClean="0"/>
              <a:t>Version: if 3 by client and 3.1 by server; then 3 is selected</a:t>
            </a:r>
          </a:p>
          <a:p>
            <a:pPr lvl="1" eaLnBrk="1" hangingPunct="1">
              <a:lnSpc>
                <a:spcPct val="90000"/>
              </a:lnSpc>
            </a:pPr>
            <a:r>
              <a:rPr lang="en-US" altLang="en-US" sz="2000" smtClean="0"/>
              <a:t>Random: Used later; contains 2 subfields:</a:t>
            </a:r>
          </a:p>
          <a:p>
            <a:pPr lvl="2" eaLnBrk="1" hangingPunct="1">
              <a:lnSpc>
                <a:spcPct val="90000"/>
              </a:lnSpc>
            </a:pPr>
            <a:r>
              <a:rPr lang="en-US" altLang="en-US" sz="1800" smtClean="0"/>
              <a:t>32 bit date/time field containing current system date/time</a:t>
            </a:r>
          </a:p>
          <a:p>
            <a:pPr lvl="2" eaLnBrk="1" hangingPunct="1">
              <a:lnSpc>
                <a:spcPct val="90000"/>
              </a:lnSpc>
            </a:pPr>
            <a:r>
              <a:rPr lang="en-US" altLang="en-US" sz="1800" smtClean="0"/>
              <a:t>28 byte different random number generated by server machine</a:t>
            </a:r>
          </a:p>
          <a:p>
            <a:pPr lvl="1" eaLnBrk="1" hangingPunct="1">
              <a:lnSpc>
                <a:spcPct val="90000"/>
              </a:lnSpc>
            </a:pPr>
            <a:r>
              <a:rPr lang="en-US" altLang="en-US" sz="2000" smtClean="0"/>
              <a:t>Session id: if non-0 from client, then same value by server; else, server creates and puts a new session id into this field.</a:t>
            </a:r>
          </a:p>
          <a:p>
            <a:pPr lvl="1" eaLnBrk="1" hangingPunct="1">
              <a:lnSpc>
                <a:spcPct val="90000"/>
              </a:lnSpc>
            </a:pPr>
            <a:r>
              <a:rPr lang="en-US" altLang="en-US" sz="2000" smtClean="0"/>
              <a:t>Cipher suite: contains one cipher suite selected by the sever from the list issued by the client</a:t>
            </a:r>
          </a:p>
          <a:p>
            <a:pPr lvl="1" eaLnBrk="1" hangingPunct="1">
              <a:lnSpc>
                <a:spcPct val="90000"/>
              </a:lnSpc>
            </a:pPr>
            <a:r>
              <a:rPr lang="en-US" altLang="en-US" sz="2000" smtClean="0"/>
              <a:t>Compression method: contains a compression algorithm  selected by the sever from the list issued by the client</a:t>
            </a:r>
          </a:p>
        </p:txBody>
      </p:sp>
      <p:sp>
        <p:nvSpPr>
          <p:cNvPr id="40966" name="Rectangle 4"/>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extLst>
      <p:ext uri="{BB962C8B-B14F-4D97-AF65-F5344CB8AC3E}">
        <p14:creationId xmlns:p14="http://schemas.microsoft.com/office/powerpoint/2010/main" val="1041215518"/>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pPr eaLnBrk="1" hangingPunct="1">
              <a:defRPr/>
            </a:pPr>
            <a:r>
              <a:rPr lang="en-US" altLang="en-US" smtClean="0"/>
              <a:t>SSL Handshake – Phase 2</a:t>
            </a:r>
          </a:p>
        </p:txBody>
      </p:sp>
      <p:sp>
        <p:nvSpPr>
          <p:cNvPr id="41989" name="Rectangle 12"/>
          <p:cNvSpPr>
            <a:spLocks noGrp="1" noChangeArrowheads="1"/>
          </p:cNvSpPr>
          <p:nvPr>
            <p:ph type="body" idx="1"/>
          </p:nvPr>
        </p:nvSpPr>
        <p:spPr/>
        <p:txBody>
          <a:bodyPr/>
          <a:lstStyle/>
          <a:p>
            <a:pPr eaLnBrk="1" hangingPunct="1"/>
            <a:endParaRPr lang="en-US" altLang="en-US" smtClean="0"/>
          </a:p>
          <a:p>
            <a:pPr eaLnBrk="1" hangingPunct="1"/>
            <a:endParaRPr lang="en-US" altLang="en-US" smtClean="0"/>
          </a:p>
          <a:p>
            <a:pPr eaLnBrk="1" hangingPunct="1"/>
            <a:endParaRPr lang="en-US" altLang="en-US" smtClean="0"/>
          </a:p>
          <a:p>
            <a:pPr eaLnBrk="1" hangingPunct="1"/>
            <a:endParaRPr lang="en-US" altLang="en-US" smtClean="0"/>
          </a:p>
          <a:p>
            <a:pPr eaLnBrk="1" hangingPunct="1"/>
            <a:endParaRPr lang="en-US" altLang="en-US" smtClean="0"/>
          </a:p>
          <a:p>
            <a:pPr eaLnBrk="1" hangingPunct="1"/>
            <a:endParaRPr lang="en-US" altLang="en-US" smtClean="0"/>
          </a:p>
          <a:p>
            <a:pPr eaLnBrk="1" hangingPunct="1"/>
            <a:r>
              <a:rPr lang="en-US" altLang="en-US" smtClean="0"/>
              <a:t>Let us see each of these steps in detail</a:t>
            </a:r>
          </a:p>
        </p:txBody>
      </p:sp>
      <p:sp>
        <p:nvSpPr>
          <p:cNvPr id="41990" name="Rectangle 3"/>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nvGrpSpPr>
          <p:cNvPr id="41991" name="Group 4"/>
          <p:cNvGrpSpPr>
            <a:grpSpLocks/>
          </p:cNvGrpSpPr>
          <p:nvPr/>
        </p:nvGrpSpPr>
        <p:grpSpPr bwMode="auto">
          <a:xfrm>
            <a:off x="914400" y="1828800"/>
            <a:ext cx="7162800" cy="3352800"/>
            <a:chOff x="1794" y="5385"/>
            <a:chExt cx="8789" cy="3308"/>
          </a:xfrm>
        </p:grpSpPr>
        <p:sp>
          <p:nvSpPr>
            <p:cNvPr id="41992" name="Rectangle 5"/>
            <p:cNvSpPr>
              <a:spLocks noChangeArrowheads="1"/>
            </p:cNvSpPr>
            <p:nvPr/>
          </p:nvSpPr>
          <p:spPr bwMode="auto">
            <a:xfrm>
              <a:off x="1794" y="5385"/>
              <a:ext cx="8789" cy="3308"/>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1993" name="computr3"/>
            <p:cNvSpPr>
              <a:spLocks noEditPoints="1" noChangeArrowheads="1"/>
            </p:cNvSpPr>
            <p:nvPr/>
          </p:nvSpPr>
          <p:spPr bwMode="auto">
            <a:xfrm>
              <a:off x="2014" y="6141"/>
              <a:ext cx="2244" cy="1723"/>
            </a:xfrm>
            <a:custGeom>
              <a:avLst/>
              <a:gdLst>
                <a:gd name="T0" fmla="*/ 0 w 21600"/>
                <a:gd name="T1" fmla="*/ 0 h 21600"/>
                <a:gd name="T2" fmla="*/ 1 w 21600"/>
                <a:gd name="T3" fmla="*/ 0 h 21600"/>
                <a:gd name="T4" fmla="*/ 1 w 21600"/>
                <a:gd name="T5" fmla="*/ 1 h 21600"/>
                <a:gd name="T6" fmla="*/ 2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Web Browser</a:t>
              </a:r>
            </a:p>
          </p:txBody>
        </p:sp>
        <p:sp>
          <p:nvSpPr>
            <p:cNvPr id="41994" name="computr3"/>
            <p:cNvSpPr>
              <a:spLocks noEditPoints="1" noChangeArrowheads="1"/>
            </p:cNvSpPr>
            <p:nvPr/>
          </p:nvSpPr>
          <p:spPr bwMode="auto">
            <a:xfrm>
              <a:off x="8158" y="6174"/>
              <a:ext cx="2244" cy="1723"/>
            </a:xfrm>
            <a:custGeom>
              <a:avLst/>
              <a:gdLst>
                <a:gd name="T0" fmla="*/ 0 w 21600"/>
                <a:gd name="T1" fmla="*/ 0 h 21600"/>
                <a:gd name="T2" fmla="*/ 1 w 21600"/>
                <a:gd name="T3" fmla="*/ 0 h 21600"/>
                <a:gd name="T4" fmla="*/ 1 w 21600"/>
                <a:gd name="T5" fmla="*/ 1 h 21600"/>
                <a:gd name="T6" fmla="*/ 2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Web Server</a:t>
              </a:r>
            </a:p>
          </p:txBody>
        </p:sp>
        <p:sp>
          <p:nvSpPr>
            <p:cNvPr id="41995" name="AutoShape 8"/>
            <p:cNvSpPr>
              <a:spLocks noChangeArrowheads="1"/>
            </p:cNvSpPr>
            <p:nvPr/>
          </p:nvSpPr>
          <p:spPr bwMode="auto">
            <a:xfrm>
              <a:off x="4425" y="5690"/>
              <a:ext cx="3390" cy="638"/>
            </a:xfrm>
            <a:prstGeom prst="leftArrow">
              <a:avLst>
                <a:gd name="adj1" fmla="val 50000"/>
                <a:gd name="adj2" fmla="val 132837"/>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Step 1: Certificate</a:t>
              </a:r>
            </a:p>
          </p:txBody>
        </p:sp>
        <p:sp>
          <p:nvSpPr>
            <p:cNvPr id="41996" name="AutoShape 9"/>
            <p:cNvSpPr>
              <a:spLocks noChangeArrowheads="1"/>
            </p:cNvSpPr>
            <p:nvPr/>
          </p:nvSpPr>
          <p:spPr bwMode="auto">
            <a:xfrm>
              <a:off x="4437" y="6386"/>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Step 2: Server key exchange</a:t>
              </a:r>
            </a:p>
          </p:txBody>
        </p:sp>
        <p:sp>
          <p:nvSpPr>
            <p:cNvPr id="41997" name="AutoShape 10"/>
            <p:cNvSpPr>
              <a:spLocks noChangeArrowheads="1"/>
            </p:cNvSpPr>
            <p:nvPr/>
          </p:nvSpPr>
          <p:spPr bwMode="auto">
            <a:xfrm>
              <a:off x="4413" y="7070"/>
              <a:ext cx="3390" cy="638"/>
            </a:xfrm>
            <a:prstGeom prst="leftArrow">
              <a:avLst>
                <a:gd name="adj1" fmla="val 50000"/>
                <a:gd name="adj2" fmla="val 132837"/>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Step 3: Certificate request</a:t>
              </a:r>
            </a:p>
          </p:txBody>
        </p:sp>
        <p:sp>
          <p:nvSpPr>
            <p:cNvPr id="41998" name="AutoShape 11"/>
            <p:cNvSpPr>
              <a:spLocks noChangeArrowheads="1"/>
            </p:cNvSpPr>
            <p:nvPr/>
          </p:nvSpPr>
          <p:spPr bwMode="auto">
            <a:xfrm>
              <a:off x="4437" y="7742"/>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Step 4: Server hello done</a:t>
              </a:r>
            </a:p>
          </p:txBody>
        </p:sp>
      </p:grpSp>
    </p:spTree>
    <p:extLst>
      <p:ext uri="{BB962C8B-B14F-4D97-AF65-F5344CB8AC3E}">
        <p14:creationId xmlns:p14="http://schemas.microsoft.com/office/powerpoint/2010/main" val="2348346457"/>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defRPr/>
            </a:pPr>
            <a:r>
              <a:rPr lang="en-US" altLang="en-US" sz="4000" smtClean="0"/>
              <a:t>SSL Handshake – Phase 2: steps</a:t>
            </a:r>
          </a:p>
        </p:txBody>
      </p:sp>
      <p:sp>
        <p:nvSpPr>
          <p:cNvPr id="43013" name="Rectangle 3"/>
          <p:cNvSpPr>
            <a:spLocks noGrp="1" noChangeArrowheads="1"/>
          </p:cNvSpPr>
          <p:nvPr>
            <p:ph type="body" idx="1"/>
          </p:nvPr>
        </p:nvSpPr>
        <p:spPr/>
        <p:txBody>
          <a:bodyPr/>
          <a:lstStyle/>
          <a:p>
            <a:pPr marL="609600" indent="-609600" eaLnBrk="1" hangingPunct="1">
              <a:lnSpc>
                <a:spcPct val="90000"/>
              </a:lnSpc>
              <a:buFont typeface="Wingdings" panose="05000000000000000000" pitchFamily="2" charset="2"/>
              <a:buAutoNum type="arabicPeriod"/>
            </a:pPr>
            <a:r>
              <a:rPr lang="en-US" altLang="en-US" sz="2800" smtClean="0"/>
              <a:t>Server sends its digital certificate and the entire chain leading up to root CA of the client</a:t>
            </a:r>
          </a:p>
          <a:p>
            <a:pPr marL="609600" indent="-609600" eaLnBrk="1" hangingPunct="1">
              <a:lnSpc>
                <a:spcPct val="90000"/>
              </a:lnSpc>
              <a:buFont typeface="Wingdings" panose="05000000000000000000" pitchFamily="2" charset="2"/>
              <a:buAutoNum type="arabicPeriod"/>
            </a:pPr>
            <a:r>
              <a:rPr lang="en-US" altLang="en-US" sz="2800" smtClean="0"/>
              <a:t>Used only if 1</a:t>
            </a:r>
            <a:r>
              <a:rPr lang="en-US" altLang="en-US" sz="2800" baseline="30000" smtClean="0"/>
              <a:t>st</a:t>
            </a:r>
            <a:r>
              <a:rPr lang="en-US" altLang="en-US" sz="2800" smtClean="0"/>
              <a:t> step is not used, in case if certificate is not available.</a:t>
            </a:r>
          </a:p>
          <a:p>
            <a:pPr marL="609600" indent="-609600" eaLnBrk="1" hangingPunct="1">
              <a:lnSpc>
                <a:spcPct val="90000"/>
              </a:lnSpc>
              <a:buFont typeface="Wingdings" panose="05000000000000000000" pitchFamily="2" charset="2"/>
              <a:buAutoNum type="arabicPeriod"/>
            </a:pPr>
            <a:r>
              <a:rPr lang="en-US" altLang="en-US" sz="2800" smtClean="0"/>
              <a:t>May request for client’s digital certificate (since client authentication is optional)</a:t>
            </a:r>
          </a:p>
          <a:p>
            <a:pPr marL="609600" indent="-609600" eaLnBrk="1" hangingPunct="1">
              <a:lnSpc>
                <a:spcPct val="90000"/>
              </a:lnSpc>
              <a:buFont typeface="Wingdings" panose="05000000000000000000" pitchFamily="2" charset="2"/>
              <a:buAutoNum type="arabicPeriod"/>
            </a:pPr>
            <a:r>
              <a:rPr lang="en-US" altLang="en-US" sz="2800" smtClean="0"/>
              <a:t>To indicate that server is done; now client can respond</a:t>
            </a:r>
          </a:p>
        </p:txBody>
      </p:sp>
      <p:sp>
        <p:nvSpPr>
          <p:cNvPr id="43014" name="Rectangle 4"/>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extLst>
      <p:ext uri="{BB962C8B-B14F-4D97-AF65-F5344CB8AC3E}">
        <p14:creationId xmlns:p14="http://schemas.microsoft.com/office/powerpoint/2010/main" val="3389684577"/>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en-US" altLang="en-US" smtClean="0"/>
              <a:t>SSL Handshake – Phase 3</a:t>
            </a:r>
          </a:p>
        </p:txBody>
      </p:sp>
      <p:sp>
        <p:nvSpPr>
          <p:cNvPr id="31754" name="Rectangle 10"/>
          <p:cNvSpPr>
            <a:spLocks noGrp="1" noChangeArrowheads="1"/>
          </p:cNvSpPr>
          <p:nvPr>
            <p:ph type="body" idx="1"/>
          </p:nvPr>
        </p:nvSpPr>
        <p:spPr/>
        <p:txBody>
          <a:bodyPr/>
          <a:lstStyle/>
          <a:p>
            <a:pPr marL="609600" indent="-609600" eaLnBrk="1" hangingPunct="1">
              <a:lnSpc>
                <a:spcPct val="90000"/>
              </a:lnSpc>
            </a:pPr>
            <a:endParaRPr lang="en-US" altLang="en-US" sz="2400" dirty="0" smtClean="0"/>
          </a:p>
          <a:p>
            <a:pPr marL="609600" indent="-609600" eaLnBrk="1" hangingPunct="1">
              <a:lnSpc>
                <a:spcPct val="90000"/>
              </a:lnSpc>
            </a:pPr>
            <a:endParaRPr lang="en-US" altLang="en-US" sz="2400" dirty="0" smtClean="0"/>
          </a:p>
          <a:p>
            <a:pPr marL="609600" indent="-609600" eaLnBrk="1" hangingPunct="1">
              <a:lnSpc>
                <a:spcPct val="90000"/>
              </a:lnSpc>
            </a:pPr>
            <a:endParaRPr lang="en-US" altLang="en-US" sz="2400" dirty="0" smtClean="0"/>
          </a:p>
          <a:p>
            <a:pPr marL="609600" indent="-609600" eaLnBrk="1" hangingPunct="1">
              <a:lnSpc>
                <a:spcPct val="90000"/>
              </a:lnSpc>
            </a:pPr>
            <a:endParaRPr lang="en-US" altLang="en-US" sz="2400" dirty="0" smtClean="0"/>
          </a:p>
          <a:p>
            <a:pPr marL="609600" indent="-609600" eaLnBrk="1" hangingPunct="1">
              <a:lnSpc>
                <a:spcPct val="90000"/>
              </a:lnSpc>
            </a:pPr>
            <a:endParaRPr lang="en-US" altLang="en-US" sz="2400" dirty="0" smtClean="0"/>
          </a:p>
          <a:p>
            <a:pPr marL="609600" indent="-609600" eaLnBrk="1" hangingPunct="1">
              <a:lnSpc>
                <a:spcPct val="90000"/>
              </a:lnSpc>
              <a:buFont typeface="Wingdings" panose="05000000000000000000" pitchFamily="2" charset="2"/>
              <a:buAutoNum type="arabicPeriod"/>
            </a:pPr>
            <a:endParaRPr lang="en-US" altLang="en-US" sz="2400" dirty="0" smtClean="0"/>
          </a:p>
          <a:p>
            <a:pPr marL="609600" indent="-609600" eaLnBrk="1" hangingPunct="1">
              <a:lnSpc>
                <a:spcPct val="90000"/>
              </a:lnSpc>
              <a:buFont typeface="Wingdings" panose="05000000000000000000" pitchFamily="2" charset="2"/>
              <a:buNone/>
            </a:pPr>
            <a:endParaRPr lang="en-US" altLang="en-US" sz="2400" dirty="0" smtClean="0"/>
          </a:p>
          <a:p>
            <a:pPr marL="1009650" lvl="1" indent="-609600">
              <a:lnSpc>
                <a:spcPct val="90000"/>
              </a:lnSpc>
              <a:buFont typeface="Wingdings" panose="05000000000000000000" pitchFamily="2" charset="2"/>
              <a:buAutoNum type="arabicPeriod"/>
            </a:pPr>
            <a:r>
              <a:rPr lang="en-US" altLang="en-US" sz="2000" dirty="0" smtClean="0"/>
              <a:t>Optional</a:t>
            </a:r>
          </a:p>
          <a:p>
            <a:pPr marL="609600" indent="-609600" eaLnBrk="1" hangingPunct="1">
              <a:lnSpc>
                <a:spcPct val="90000"/>
              </a:lnSpc>
              <a:buFont typeface="Wingdings" panose="05000000000000000000" pitchFamily="2" charset="2"/>
              <a:buAutoNum type="arabicPeriod"/>
            </a:pPr>
            <a:r>
              <a:rPr lang="en-US" altLang="en-US" sz="2400" dirty="0" smtClean="0"/>
              <a:t>One time Session key is sent in encrypted way</a:t>
            </a:r>
          </a:p>
          <a:p>
            <a:pPr marL="609600" indent="-609600" eaLnBrk="1" hangingPunct="1">
              <a:lnSpc>
                <a:spcPct val="90000"/>
              </a:lnSpc>
              <a:buFont typeface="Wingdings" panose="05000000000000000000" pitchFamily="2" charset="2"/>
              <a:buAutoNum type="arabicPeriod"/>
            </a:pPr>
            <a:r>
              <a:rPr lang="en-US" altLang="en-US" sz="2400" dirty="0" smtClean="0"/>
              <a:t>Only if 1</a:t>
            </a:r>
            <a:r>
              <a:rPr lang="en-US" altLang="en-US" sz="2400" baseline="30000" dirty="0" smtClean="0"/>
              <a:t>st</a:t>
            </a:r>
            <a:r>
              <a:rPr lang="en-US" altLang="en-US" sz="2400" dirty="0" smtClean="0"/>
              <a:t> step was performed</a:t>
            </a:r>
          </a:p>
        </p:txBody>
      </p:sp>
      <p:sp>
        <p:nvSpPr>
          <p:cNvPr id="44038" name="Rectangle 3"/>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
        <p:nvSpPr>
          <p:cNvPr id="44039" name="Rectangle 4"/>
          <p:cNvSpPr>
            <a:spLocks noChangeArrowheads="1"/>
          </p:cNvSpPr>
          <p:nvPr/>
        </p:nvSpPr>
        <p:spPr bwMode="auto">
          <a:xfrm>
            <a:off x="838200" y="1828800"/>
            <a:ext cx="7010400" cy="2895600"/>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4040" name="computr3"/>
          <p:cNvSpPr>
            <a:spLocks noEditPoints="1" noChangeArrowheads="1"/>
          </p:cNvSpPr>
          <p:nvPr/>
        </p:nvSpPr>
        <p:spPr bwMode="auto">
          <a:xfrm>
            <a:off x="1014413" y="2644775"/>
            <a:ext cx="1789112" cy="1982788"/>
          </a:xfrm>
          <a:custGeom>
            <a:avLst/>
            <a:gdLst>
              <a:gd name="T0" fmla="*/ 0 w 21600"/>
              <a:gd name="T1" fmla="*/ 2147483646 h 21600"/>
              <a:gd name="T2" fmla="*/ 2147483646 w 21600"/>
              <a:gd name="T3" fmla="*/ 0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b="1">
                <a:solidFill>
                  <a:srgbClr val="FF0000"/>
                </a:solidFill>
              </a:rPr>
              <a:t>Web Browser</a:t>
            </a:r>
          </a:p>
        </p:txBody>
      </p:sp>
      <p:sp>
        <p:nvSpPr>
          <p:cNvPr id="44041" name="computr3"/>
          <p:cNvSpPr>
            <a:spLocks noEditPoints="1" noChangeArrowheads="1"/>
          </p:cNvSpPr>
          <p:nvPr/>
        </p:nvSpPr>
        <p:spPr bwMode="auto">
          <a:xfrm>
            <a:off x="5915025" y="2682875"/>
            <a:ext cx="1789113" cy="1982788"/>
          </a:xfrm>
          <a:custGeom>
            <a:avLst/>
            <a:gdLst>
              <a:gd name="T0" fmla="*/ 0 w 21600"/>
              <a:gd name="T1" fmla="*/ 2147483646 h 21600"/>
              <a:gd name="T2" fmla="*/ 2147483646 w 21600"/>
              <a:gd name="T3" fmla="*/ 0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b="1">
                <a:solidFill>
                  <a:srgbClr val="FF0000"/>
                </a:solidFill>
              </a:rPr>
              <a:t>Web Server</a:t>
            </a:r>
          </a:p>
        </p:txBody>
      </p:sp>
      <p:sp>
        <p:nvSpPr>
          <p:cNvPr id="44042" name="AutoShape 7"/>
          <p:cNvSpPr>
            <a:spLocks noChangeArrowheads="1"/>
          </p:cNvSpPr>
          <p:nvPr/>
        </p:nvSpPr>
        <p:spPr bwMode="auto">
          <a:xfrm>
            <a:off x="2771775" y="2873375"/>
            <a:ext cx="2714625" cy="493713"/>
          </a:xfrm>
          <a:prstGeom prst="rightArrow">
            <a:avLst>
              <a:gd name="adj1" fmla="val 50000"/>
              <a:gd name="adj2" fmla="val 137460"/>
            </a:avLst>
          </a:prstGeom>
          <a:solidFill>
            <a:schemeClr val="accent1"/>
          </a:solidFill>
          <a:ln w="12700" algn="ctr">
            <a:solidFill>
              <a:schemeClr val="tx1"/>
            </a:solidFill>
            <a:miter lim="800000"/>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dirty="0">
                <a:solidFill>
                  <a:srgbClr val="FF0000"/>
                </a:solidFill>
              </a:rPr>
              <a:t>1. Certificate</a:t>
            </a:r>
          </a:p>
        </p:txBody>
      </p:sp>
      <p:sp>
        <p:nvSpPr>
          <p:cNvPr id="44043" name="AutoShape 8"/>
          <p:cNvSpPr>
            <a:spLocks noChangeArrowheads="1"/>
          </p:cNvSpPr>
          <p:nvPr/>
        </p:nvSpPr>
        <p:spPr bwMode="auto">
          <a:xfrm>
            <a:off x="2765425" y="3375025"/>
            <a:ext cx="2714625" cy="493713"/>
          </a:xfrm>
          <a:prstGeom prst="rightArrow">
            <a:avLst>
              <a:gd name="adj1" fmla="val 50000"/>
              <a:gd name="adj2" fmla="val 137460"/>
            </a:avLst>
          </a:prstGeom>
          <a:solidFill>
            <a:schemeClr val="accent1"/>
          </a:solidFill>
          <a:ln w="12700" algn="ctr">
            <a:solidFill>
              <a:schemeClr val="tx1"/>
            </a:solidFill>
            <a:miter lim="800000"/>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solidFill>
                  <a:srgbClr val="FF0000"/>
                </a:solidFill>
              </a:rPr>
              <a:t>2. Client key exchange</a:t>
            </a:r>
          </a:p>
        </p:txBody>
      </p:sp>
      <p:sp>
        <p:nvSpPr>
          <p:cNvPr id="44044" name="AutoShape 9"/>
          <p:cNvSpPr>
            <a:spLocks noChangeArrowheads="1"/>
          </p:cNvSpPr>
          <p:nvPr/>
        </p:nvSpPr>
        <p:spPr bwMode="auto">
          <a:xfrm>
            <a:off x="2765425" y="3925888"/>
            <a:ext cx="2714625" cy="493712"/>
          </a:xfrm>
          <a:prstGeom prst="rightArrow">
            <a:avLst>
              <a:gd name="adj1" fmla="val 50000"/>
              <a:gd name="adj2" fmla="val 137460"/>
            </a:avLst>
          </a:prstGeom>
          <a:solidFill>
            <a:schemeClr val="accent1"/>
          </a:solidFill>
          <a:ln w="12700" algn="ctr">
            <a:solidFill>
              <a:schemeClr val="tx1"/>
            </a:solidFill>
            <a:miter lim="800000"/>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solidFill>
                  <a:srgbClr val="FF0000"/>
                </a:solidFill>
              </a:rPr>
              <a:t>3. Certificate verify</a:t>
            </a:r>
          </a:p>
        </p:txBody>
      </p:sp>
    </p:spTree>
    <p:extLst>
      <p:ext uri="{BB962C8B-B14F-4D97-AF65-F5344CB8AC3E}">
        <p14:creationId xmlns:p14="http://schemas.microsoft.com/office/powerpoint/2010/main" val="5041490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dissolve">
                                      <p:cBhvr>
                                        <p:cTn id="7" dur="500"/>
                                        <p:tgtEl>
                                          <p:spTgt spid="31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754">
                                            <p:txEl>
                                              <p:pRg st="7" end="7"/>
                                            </p:txEl>
                                          </p:spTgt>
                                        </p:tgtEl>
                                        <p:attrNameLst>
                                          <p:attrName>style.visibility</p:attrName>
                                        </p:attrNameLst>
                                      </p:cBhvr>
                                      <p:to>
                                        <p:strVal val="visible"/>
                                      </p:to>
                                    </p:set>
                                    <p:animEffect transition="in" filter="dissolve">
                                      <p:cBhvr>
                                        <p:cTn id="12" dur="500"/>
                                        <p:tgtEl>
                                          <p:spTgt spid="31754">
                                            <p:txEl>
                                              <p:pRg st="7" end="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1754">
                                            <p:txEl>
                                              <p:pRg st="8" end="8"/>
                                            </p:txEl>
                                          </p:spTgt>
                                        </p:tgtEl>
                                        <p:attrNameLst>
                                          <p:attrName>style.visibility</p:attrName>
                                        </p:attrNameLst>
                                      </p:cBhvr>
                                      <p:to>
                                        <p:strVal val="visible"/>
                                      </p:to>
                                    </p:set>
                                    <p:animEffect transition="in" filter="dissolve">
                                      <p:cBhvr>
                                        <p:cTn id="17" dur="500"/>
                                        <p:tgtEl>
                                          <p:spTgt spid="31754">
                                            <p:txEl>
                                              <p:pRg st="8" end="8"/>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1754">
                                            <p:txEl>
                                              <p:pRg st="9" end="9"/>
                                            </p:txEl>
                                          </p:spTgt>
                                        </p:tgtEl>
                                        <p:attrNameLst>
                                          <p:attrName>style.visibility</p:attrName>
                                        </p:attrNameLst>
                                      </p:cBhvr>
                                      <p:to>
                                        <p:strVal val="visible"/>
                                      </p:to>
                                    </p:set>
                                    <p:animEffect transition="in" filter="dissolve">
                                      <p:cBhvr>
                                        <p:cTn id="22" dur="500"/>
                                        <p:tgtEl>
                                          <p:spTgt spid="3175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5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pPr eaLnBrk="1" hangingPunct="1">
              <a:defRPr/>
            </a:pPr>
            <a:r>
              <a:rPr lang="en-US" altLang="en-US" smtClean="0">
                <a:solidFill>
                  <a:srgbClr val="FF0000"/>
                </a:solidFill>
              </a:rPr>
              <a:t>SSL Handshake – Phase 4</a:t>
            </a:r>
          </a:p>
        </p:txBody>
      </p:sp>
      <p:sp>
        <p:nvSpPr>
          <p:cNvPr id="45061" name="Rectangle 3"/>
          <p:cNvSpPr>
            <a:spLocks noChangeArrowheads="1"/>
          </p:cNvSpPr>
          <p:nvPr/>
        </p:nvSpPr>
        <p:spPr bwMode="auto">
          <a:xfrm>
            <a:off x="4086225" y="3048000"/>
            <a:ext cx="914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grpSp>
        <p:nvGrpSpPr>
          <p:cNvPr id="45062" name="Group 4"/>
          <p:cNvGrpSpPr>
            <a:grpSpLocks/>
          </p:cNvGrpSpPr>
          <p:nvPr/>
        </p:nvGrpSpPr>
        <p:grpSpPr bwMode="auto">
          <a:xfrm>
            <a:off x="685800" y="1828800"/>
            <a:ext cx="7315200" cy="3581400"/>
            <a:chOff x="1728" y="1500"/>
            <a:chExt cx="8832" cy="3576"/>
          </a:xfrm>
        </p:grpSpPr>
        <p:sp>
          <p:nvSpPr>
            <p:cNvPr id="45063" name="Rectangle 5"/>
            <p:cNvSpPr>
              <a:spLocks noChangeArrowheads="1"/>
            </p:cNvSpPr>
            <p:nvPr/>
          </p:nvSpPr>
          <p:spPr bwMode="auto">
            <a:xfrm>
              <a:off x="1728" y="1500"/>
              <a:ext cx="8832" cy="3576"/>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5064" name="computr3"/>
            <p:cNvSpPr>
              <a:spLocks noEditPoints="1" noChangeArrowheads="1"/>
            </p:cNvSpPr>
            <p:nvPr/>
          </p:nvSpPr>
          <p:spPr bwMode="auto">
            <a:xfrm>
              <a:off x="1954" y="2348"/>
              <a:ext cx="2244" cy="1723"/>
            </a:xfrm>
            <a:custGeom>
              <a:avLst/>
              <a:gdLst>
                <a:gd name="T0" fmla="*/ 0 w 21600"/>
                <a:gd name="T1" fmla="*/ 0 h 21600"/>
                <a:gd name="T2" fmla="*/ 1 w 21600"/>
                <a:gd name="T3" fmla="*/ 0 h 21600"/>
                <a:gd name="T4" fmla="*/ 1 w 21600"/>
                <a:gd name="T5" fmla="*/ 1 h 21600"/>
                <a:gd name="T6" fmla="*/ 2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Web Browser</a:t>
              </a:r>
            </a:p>
          </p:txBody>
        </p:sp>
        <p:sp>
          <p:nvSpPr>
            <p:cNvPr id="45065" name="computr3"/>
            <p:cNvSpPr>
              <a:spLocks noEditPoints="1" noChangeArrowheads="1"/>
            </p:cNvSpPr>
            <p:nvPr/>
          </p:nvSpPr>
          <p:spPr bwMode="auto">
            <a:xfrm>
              <a:off x="8122" y="2417"/>
              <a:ext cx="2244" cy="1723"/>
            </a:xfrm>
            <a:custGeom>
              <a:avLst/>
              <a:gdLst>
                <a:gd name="T0" fmla="*/ 0 w 21600"/>
                <a:gd name="T1" fmla="*/ 0 h 21600"/>
                <a:gd name="T2" fmla="*/ 1 w 21600"/>
                <a:gd name="T3" fmla="*/ 0 h 21600"/>
                <a:gd name="T4" fmla="*/ 1 w 21600"/>
                <a:gd name="T5" fmla="*/ 1 h 21600"/>
                <a:gd name="T6" fmla="*/ 2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Web Server</a:t>
              </a:r>
            </a:p>
          </p:txBody>
        </p:sp>
        <p:sp>
          <p:nvSpPr>
            <p:cNvPr id="45066" name="AutoShape 8"/>
            <p:cNvSpPr>
              <a:spLocks noChangeArrowheads="1"/>
            </p:cNvSpPr>
            <p:nvPr/>
          </p:nvSpPr>
          <p:spPr bwMode="auto">
            <a:xfrm>
              <a:off x="4353" y="3409"/>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Step 3: Change cipher specs</a:t>
              </a:r>
            </a:p>
          </p:txBody>
        </p:sp>
        <p:sp>
          <p:nvSpPr>
            <p:cNvPr id="45067" name="AutoShape 9"/>
            <p:cNvSpPr>
              <a:spLocks noChangeArrowheads="1"/>
            </p:cNvSpPr>
            <p:nvPr/>
          </p:nvSpPr>
          <p:spPr bwMode="auto">
            <a:xfrm>
              <a:off x="4329" y="4093"/>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Step 4: Finished</a:t>
              </a:r>
            </a:p>
          </p:txBody>
        </p:sp>
        <p:sp>
          <p:nvSpPr>
            <p:cNvPr id="45068" name="AutoShape 10"/>
            <p:cNvSpPr>
              <a:spLocks noChangeArrowheads="1"/>
            </p:cNvSpPr>
            <p:nvPr/>
          </p:nvSpPr>
          <p:spPr bwMode="auto">
            <a:xfrm>
              <a:off x="4395" y="1995"/>
              <a:ext cx="3450" cy="630"/>
            </a:xfrm>
            <a:prstGeom prst="rightArrow">
              <a:avLst>
                <a:gd name="adj1" fmla="val 50000"/>
                <a:gd name="adj2" fmla="val 136905"/>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1. Change cipher specs</a:t>
              </a:r>
            </a:p>
          </p:txBody>
        </p:sp>
        <p:sp>
          <p:nvSpPr>
            <p:cNvPr id="45069" name="AutoShape 11"/>
            <p:cNvSpPr>
              <a:spLocks noChangeArrowheads="1"/>
            </p:cNvSpPr>
            <p:nvPr/>
          </p:nvSpPr>
          <p:spPr bwMode="auto">
            <a:xfrm>
              <a:off x="4410" y="2685"/>
              <a:ext cx="3450" cy="630"/>
            </a:xfrm>
            <a:prstGeom prst="rightArrow">
              <a:avLst>
                <a:gd name="adj1" fmla="val 50000"/>
                <a:gd name="adj2" fmla="val 136905"/>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solidFill>
                    <a:srgbClr val="FF0000"/>
                  </a:solidFill>
                </a:rPr>
                <a:t>2. Finished</a:t>
              </a:r>
            </a:p>
          </p:txBody>
        </p:sp>
      </p:grpSp>
    </p:spTree>
    <p:extLst>
      <p:ext uri="{BB962C8B-B14F-4D97-AF65-F5344CB8AC3E}">
        <p14:creationId xmlns:p14="http://schemas.microsoft.com/office/powerpoint/2010/main" val="1730480324"/>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Summary-Handshake Protocol </a:t>
            </a:r>
            <a:endParaRPr lang="en-IN" dirty="0"/>
          </a:p>
        </p:txBody>
      </p:sp>
      <p:pic>
        <p:nvPicPr>
          <p:cNvPr id="2050" name="Picture 2"/>
          <p:cNvPicPr>
            <a:picLocks noChangeAspect="1" noChangeArrowheads="1"/>
          </p:cNvPicPr>
          <p:nvPr/>
        </p:nvPicPr>
        <p:blipFill>
          <a:blip r:embed="rId2"/>
          <a:srcRect/>
          <a:stretch>
            <a:fillRect/>
          </a:stretch>
        </p:blipFill>
        <p:spPr bwMode="auto">
          <a:xfrm>
            <a:off x="604838" y="1333500"/>
            <a:ext cx="7934325" cy="5024458"/>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a:xfrm>
            <a:off x="1150938" y="214313"/>
            <a:ext cx="7793037" cy="1081087"/>
          </a:xfrm>
        </p:spPr>
        <p:txBody>
          <a:bodyPr/>
          <a:lstStyle/>
          <a:p>
            <a:pPr eaLnBrk="1" hangingPunct="1">
              <a:defRPr/>
            </a:pPr>
            <a:r>
              <a:rPr lang="en-US" altLang="en-US" sz="2800" smtClean="0"/>
              <a:t>Symmetric Session Key Generation (Happens in the </a:t>
            </a:r>
            <a:r>
              <a:rPr lang="en-US" altLang="en-US" sz="2800" i="1" smtClean="0">
                <a:solidFill>
                  <a:schemeClr val="tx1"/>
                </a:solidFill>
              </a:rPr>
              <a:t>Change cipher specs </a:t>
            </a:r>
            <a:r>
              <a:rPr lang="en-US" altLang="en-US" sz="2800" smtClean="0"/>
              <a:t>step)</a:t>
            </a:r>
          </a:p>
        </p:txBody>
      </p:sp>
      <p:grpSp>
        <p:nvGrpSpPr>
          <p:cNvPr id="46085" name="Group 4"/>
          <p:cNvGrpSpPr>
            <a:grpSpLocks/>
          </p:cNvGrpSpPr>
          <p:nvPr/>
        </p:nvGrpSpPr>
        <p:grpSpPr bwMode="auto">
          <a:xfrm>
            <a:off x="1906588" y="1450975"/>
            <a:ext cx="5784850" cy="2103438"/>
            <a:chOff x="2430" y="7245"/>
            <a:chExt cx="7215" cy="2970"/>
          </a:xfrm>
        </p:grpSpPr>
        <p:sp>
          <p:nvSpPr>
            <p:cNvPr id="46097" name="Rectangle 5"/>
            <p:cNvSpPr>
              <a:spLocks noChangeArrowheads="1"/>
            </p:cNvSpPr>
            <p:nvPr/>
          </p:nvSpPr>
          <p:spPr bwMode="auto">
            <a:xfrm>
              <a:off x="2430" y="7245"/>
              <a:ext cx="7215" cy="2970"/>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
          <p:nvSpPr>
            <p:cNvPr id="46098" name="Text Box 6"/>
            <p:cNvSpPr txBox="1">
              <a:spLocks noChangeArrowheads="1"/>
            </p:cNvSpPr>
            <p:nvPr/>
          </p:nvSpPr>
          <p:spPr bwMode="auto">
            <a:xfrm>
              <a:off x="2895" y="762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t>Pre-master secret</a:t>
              </a:r>
              <a:endParaRPr lang="en-US" altLang="en-US" sz="2800"/>
            </a:p>
          </p:txBody>
        </p:sp>
        <p:sp>
          <p:nvSpPr>
            <p:cNvPr id="46099" name="Text Box 7"/>
            <p:cNvSpPr txBox="1">
              <a:spLocks noChangeArrowheads="1"/>
            </p:cNvSpPr>
            <p:nvPr/>
          </p:nvSpPr>
          <p:spPr bwMode="auto">
            <a:xfrm>
              <a:off x="5100" y="762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t>Client </a:t>
              </a:r>
              <a:r>
                <a:rPr lang="en-US" altLang="en-US" sz="1400" b="1">
                  <a:solidFill>
                    <a:srgbClr val="FF0000"/>
                  </a:solidFill>
                </a:rPr>
                <a:t>random</a:t>
              </a:r>
              <a:endParaRPr lang="en-US" altLang="en-US" sz="2800">
                <a:solidFill>
                  <a:srgbClr val="FF0000"/>
                </a:solidFill>
              </a:endParaRPr>
            </a:p>
          </p:txBody>
        </p:sp>
        <p:sp>
          <p:nvSpPr>
            <p:cNvPr id="46100" name="Text Box 8"/>
            <p:cNvSpPr txBox="1">
              <a:spLocks noChangeArrowheads="1"/>
            </p:cNvSpPr>
            <p:nvPr/>
          </p:nvSpPr>
          <p:spPr bwMode="auto">
            <a:xfrm>
              <a:off x="7290" y="762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Server random</a:t>
              </a:r>
              <a:endParaRPr lang="en-US" altLang="en-US" sz="2800">
                <a:solidFill>
                  <a:srgbClr val="FF0000"/>
                </a:solidFill>
              </a:endParaRPr>
            </a:p>
          </p:txBody>
        </p:sp>
        <p:sp>
          <p:nvSpPr>
            <p:cNvPr id="46101" name="Text Box 9"/>
            <p:cNvSpPr txBox="1">
              <a:spLocks noChangeArrowheads="1"/>
            </p:cNvSpPr>
            <p:nvPr/>
          </p:nvSpPr>
          <p:spPr bwMode="auto">
            <a:xfrm>
              <a:off x="3960" y="8505"/>
              <a:ext cx="4005" cy="46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Message Digest Algorithms</a:t>
              </a:r>
              <a:endParaRPr lang="en-US" altLang="en-US" sz="2800">
                <a:solidFill>
                  <a:srgbClr val="FF0000"/>
                </a:solidFill>
              </a:endParaRPr>
            </a:p>
          </p:txBody>
        </p:sp>
        <p:sp>
          <p:nvSpPr>
            <p:cNvPr id="46102" name="Text Box 10"/>
            <p:cNvSpPr txBox="1">
              <a:spLocks noChangeArrowheads="1"/>
            </p:cNvSpPr>
            <p:nvPr/>
          </p:nvSpPr>
          <p:spPr bwMode="auto">
            <a:xfrm>
              <a:off x="5010" y="93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Master secret</a:t>
              </a:r>
              <a:endParaRPr lang="en-US" altLang="en-US" sz="2800">
                <a:solidFill>
                  <a:srgbClr val="FF0000"/>
                </a:solidFill>
              </a:endParaRPr>
            </a:p>
          </p:txBody>
        </p:sp>
        <p:sp>
          <p:nvSpPr>
            <p:cNvPr id="46103" name="AutoShape 11"/>
            <p:cNvSpPr>
              <a:spLocks noChangeArrowheads="1"/>
            </p:cNvSpPr>
            <p:nvPr/>
          </p:nvSpPr>
          <p:spPr bwMode="auto">
            <a:xfrm>
              <a:off x="4245" y="8070"/>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
          <p:nvSpPr>
            <p:cNvPr id="46104" name="AutoShape 12"/>
            <p:cNvSpPr>
              <a:spLocks noChangeArrowheads="1"/>
            </p:cNvSpPr>
            <p:nvPr/>
          </p:nvSpPr>
          <p:spPr bwMode="auto">
            <a:xfrm>
              <a:off x="5820" y="805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
          <p:nvSpPr>
            <p:cNvPr id="46105" name="AutoShape 13"/>
            <p:cNvSpPr>
              <a:spLocks noChangeArrowheads="1"/>
            </p:cNvSpPr>
            <p:nvPr/>
          </p:nvSpPr>
          <p:spPr bwMode="auto">
            <a:xfrm>
              <a:off x="7545" y="805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
          <p:nvSpPr>
            <p:cNvPr id="46106" name="AutoShape 14"/>
            <p:cNvSpPr>
              <a:spLocks noChangeArrowheads="1"/>
            </p:cNvSpPr>
            <p:nvPr/>
          </p:nvSpPr>
          <p:spPr bwMode="auto">
            <a:xfrm>
              <a:off x="5805" y="895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grpSp>
      <p:grpSp>
        <p:nvGrpSpPr>
          <p:cNvPr id="46086" name="Group 15"/>
          <p:cNvGrpSpPr>
            <a:grpSpLocks/>
          </p:cNvGrpSpPr>
          <p:nvPr/>
        </p:nvGrpSpPr>
        <p:grpSpPr bwMode="auto">
          <a:xfrm>
            <a:off x="1909763" y="3836988"/>
            <a:ext cx="5713412" cy="2466975"/>
            <a:chOff x="2115" y="1515"/>
            <a:chExt cx="7215" cy="2970"/>
          </a:xfrm>
        </p:grpSpPr>
        <p:sp>
          <p:nvSpPr>
            <p:cNvPr id="46087" name="Rectangle 16"/>
            <p:cNvSpPr>
              <a:spLocks noChangeArrowheads="1"/>
            </p:cNvSpPr>
            <p:nvPr/>
          </p:nvSpPr>
          <p:spPr bwMode="auto">
            <a:xfrm>
              <a:off x="2115" y="1515"/>
              <a:ext cx="7215" cy="2970"/>
            </a:xfrm>
            <a:prstGeom prst="rect">
              <a:avLst/>
            </a:prstGeom>
            <a:solidFill>
              <a:srgbClr val="FFFF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6088" name="Text Box 17"/>
            <p:cNvSpPr txBox="1">
              <a:spLocks noChangeArrowheads="1"/>
            </p:cNvSpPr>
            <p:nvPr/>
          </p:nvSpPr>
          <p:spPr bwMode="auto">
            <a:xfrm>
              <a:off x="2580" y="18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Master secret</a:t>
              </a:r>
              <a:endParaRPr lang="en-US" altLang="en-US" sz="2800">
                <a:solidFill>
                  <a:srgbClr val="FF0000"/>
                </a:solidFill>
              </a:endParaRPr>
            </a:p>
          </p:txBody>
        </p:sp>
        <p:sp>
          <p:nvSpPr>
            <p:cNvPr id="46089" name="Text Box 18"/>
            <p:cNvSpPr txBox="1">
              <a:spLocks noChangeArrowheads="1"/>
            </p:cNvSpPr>
            <p:nvPr/>
          </p:nvSpPr>
          <p:spPr bwMode="auto">
            <a:xfrm>
              <a:off x="4785" y="18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Client random</a:t>
              </a:r>
              <a:endParaRPr lang="en-US" altLang="en-US" sz="2800">
                <a:solidFill>
                  <a:srgbClr val="FF0000"/>
                </a:solidFill>
              </a:endParaRPr>
            </a:p>
          </p:txBody>
        </p:sp>
        <p:sp>
          <p:nvSpPr>
            <p:cNvPr id="46090" name="Text Box 19"/>
            <p:cNvSpPr txBox="1">
              <a:spLocks noChangeArrowheads="1"/>
            </p:cNvSpPr>
            <p:nvPr/>
          </p:nvSpPr>
          <p:spPr bwMode="auto">
            <a:xfrm>
              <a:off x="6975" y="18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Server random</a:t>
              </a:r>
              <a:endParaRPr lang="en-US" altLang="en-US" sz="2800">
                <a:solidFill>
                  <a:srgbClr val="FF0000"/>
                </a:solidFill>
              </a:endParaRPr>
            </a:p>
          </p:txBody>
        </p:sp>
        <p:sp>
          <p:nvSpPr>
            <p:cNvPr id="46091" name="Text Box 20"/>
            <p:cNvSpPr txBox="1">
              <a:spLocks noChangeArrowheads="1"/>
            </p:cNvSpPr>
            <p:nvPr/>
          </p:nvSpPr>
          <p:spPr bwMode="auto">
            <a:xfrm>
              <a:off x="3645" y="2775"/>
              <a:ext cx="4005" cy="46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Message Digest Algorithms</a:t>
              </a:r>
              <a:endParaRPr lang="en-US" altLang="en-US" sz="2800">
                <a:solidFill>
                  <a:srgbClr val="FF0000"/>
                </a:solidFill>
              </a:endParaRPr>
            </a:p>
          </p:txBody>
        </p:sp>
        <p:sp>
          <p:nvSpPr>
            <p:cNvPr id="46092" name="Text Box 21"/>
            <p:cNvSpPr txBox="1">
              <a:spLocks noChangeArrowheads="1"/>
            </p:cNvSpPr>
            <p:nvPr/>
          </p:nvSpPr>
          <p:spPr bwMode="auto">
            <a:xfrm>
              <a:off x="4695" y="366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400" b="1">
                  <a:solidFill>
                    <a:srgbClr val="FF0000"/>
                  </a:solidFill>
                </a:rPr>
                <a:t>Symmetric key</a:t>
              </a:r>
              <a:endParaRPr lang="en-US" altLang="en-US" sz="2800">
                <a:solidFill>
                  <a:srgbClr val="FF0000"/>
                </a:solidFill>
              </a:endParaRPr>
            </a:p>
          </p:txBody>
        </p:sp>
        <p:sp>
          <p:nvSpPr>
            <p:cNvPr id="46093" name="AutoShape 22"/>
            <p:cNvSpPr>
              <a:spLocks noChangeArrowheads="1"/>
            </p:cNvSpPr>
            <p:nvPr/>
          </p:nvSpPr>
          <p:spPr bwMode="auto">
            <a:xfrm>
              <a:off x="3930" y="2340"/>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6094" name="AutoShape 23"/>
            <p:cNvSpPr>
              <a:spLocks noChangeArrowheads="1"/>
            </p:cNvSpPr>
            <p:nvPr/>
          </p:nvSpPr>
          <p:spPr bwMode="auto">
            <a:xfrm>
              <a:off x="5505" y="232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6095" name="AutoShape 24"/>
            <p:cNvSpPr>
              <a:spLocks noChangeArrowheads="1"/>
            </p:cNvSpPr>
            <p:nvPr/>
          </p:nvSpPr>
          <p:spPr bwMode="auto">
            <a:xfrm>
              <a:off x="7230" y="232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sp>
          <p:nvSpPr>
            <p:cNvPr id="46096" name="AutoShape 25"/>
            <p:cNvSpPr>
              <a:spLocks noChangeArrowheads="1"/>
            </p:cNvSpPr>
            <p:nvPr/>
          </p:nvSpPr>
          <p:spPr bwMode="auto">
            <a:xfrm>
              <a:off x="5490" y="3225"/>
              <a:ext cx="315" cy="409"/>
            </a:xfrm>
            <a:prstGeom prst="downArrow">
              <a:avLst>
                <a:gd name="adj1" fmla="val 50000"/>
                <a:gd name="adj2" fmla="val 32460"/>
              </a:avLst>
            </a:prstGeom>
            <a:solidFill>
              <a:srgbClr val="000000"/>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rgbClr val="FF0000"/>
                </a:solidFill>
              </a:endParaRPr>
            </a:p>
          </p:txBody>
        </p:sp>
      </p:grpSp>
    </p:spTree>
    <p:extLst>
      <p:ext uri="{BB962C8B-B14F-4D97-AF65-F5344CB8AC3E}">
        <p14:creationId xmlns:p14="http://schemas.microsoft.com/office/powerpoint/2010/main" val="3718186734"/>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Sample SSL in </a:t>
            </a:r>
            <a:r>
              <a:rPr lang="en-IN" dirty="0" err="1" smtClean="0"/>
              <a:t>wireshark</a:t>
            </a:r>
            <a:endParaRPr lang="en-IN" dirty="0"/>
          </a:p>
        </p:txBody>
      </p:sp>
      <p:pic>
        <p:nvPicPr>
          <p:cNvPr id="4" name="Content Placeholder 3"/>
          <p:cNvPicPr>
            <a:picLocks noGrp="1" noChangeAspect="1"/>
          </p:cNvPicPr>
          <p:nvPr>
            <p:ph idx="1"/>
          </p:nvPr>
        </p:nvPicPr>
        <p:blipFill>
          <a:blip r:embed="rId2"/>
          <a:stretch>
            <a:fillRect/>
          </a:stretch>
        </p:blipFill>
        <p:spPr>
          <a:xfrm>
            <a:off x="251520" y="1124744"/>
            <a:ext cx="9145016" cy="4464496"/>
          </a:xfrm>
          <a:prstGeom prst="rect">
            <a:avLst/>
          </a:prstGeom>
        </p:spPr>
      </p:pic>
    </p:spTree>
    <p:extLst>
      <p:ext uri="{BB962C8B-B14F-4D97-AF65-F5344CB8AC3E}">
        <p14:creationId xmlns:p14="http://schemas.microsoft.com/office/powerpoint/2010/main" val="813004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pPr eaLnBrk="1" hangingPunct="1">
              <a:defRPr/>
            </a:pPr>
            <a:r>
              <a:rPr lang="en-US" altLang="en-US" smtClean="0"/>
              <a:t>SSL Record Protocol</a:t>
            </a:r>
          </a:p>
        </p:txBody>
      </p:sp>
      <p:sp>
        <p:nvSpPr>
          <p:cNvPr id="47109" name="Rectangle 35"/>
          <p:cNvSpPr>
            <a:spLocks noGrp="1" noChangeArrowheads="1"/>
          </p:cNvSpPr>
          <p:nvPr>
            <p:ph type="body" idx="1"/>
          </p:nvPr>
        </p:nvSpPr>
        <p:spPr/>
        <p:txBody>
          <a:bodyPr/>
          <a:lstStyle/>
          <a:p>
            <a:pPr marL="609600" indent="-609600" eaLnBrk="1" hangingPunct="1"/>
            <a:r>
              <a:rPr lang="en-US" altLang="en-US" smtClean="0"/>
              <a:t>Provides 2 services</a:t>
            </a:r>
          </a:p>
          <a:p>
            <a:pPr marL="990600" lvl="1" indent="-533400" eaLnBrk="1" hangingPunct="1">
              <a:buFont typeface="Wingdings" panose="05000000000000000000" pitchFamily="2" charset="2"/>
              <a:buAutoNum type="arabicPeriod"/>
            </a:pPr>
            <a:r>
              <a:rPr lang="en-US" altLang="en-US" smtClean="0"/>
              <a:t>Confidentiality: achieved by using the secret key that is defined by the handshake protocol</a:t>
            </a:r>
          </a:p>
          <a:p>
            <a:pPr marL="990600" lvl="1" indent="-533400" eaLnBrk="1" hangingPunct="1">
              <a:buFont typeface="Wingdings" panose="05000000000000000000" pitchFamily="2" charset="2"/>
              <a:buAutoNum type="arabicPeriod"/>
            </a:pPr>
            <a:r>
              <a:rPr lang="en-US" altLang="en-US" smtClean="0"/>
              <a:t>Integrity: Message Authentication Code (MAC) is used to assure integrity</a:t>
            </a:r>
          </a:p>
          <a:p>
            <a:pPr marL="609600" indent="-609600" eaLnBrk="1" hangingPunct="1"/>
            <a:r>
              <a:rPr lang="en-US" altLang="en-US" smtClean="0"/>
              <a:t>Its operation is shown on the next slide</a:t>
            </a:r>
          </a:p>
        </p:txBody>
      </p:sp>
      <p:sp>
        <p:nvSpPr>
          <p:cNvPr id="47110" name="Rectangle 3"/>
          <p:cNvSpPr>
            <a:spLocks noChangeArrowheads="1"/>
          </p:cNvSpPr>
          <p:nvPr/>
        </p:nvSpPr>
        <p:spPr bwMode="auto">
          <a:xfrm>
            <a:off x="4086225"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extLst>
      <p:ext uri="{BB962C8B-B14F-4D97-AF65-F5344CB8AC3E}">
        <p14:creationId xmlns:p14="http://schemas.microsoft.com/office/powerpoint/2010/main" val="165378487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SSL Record Protocol</a:t>
            </a:r>
            <a:endParaRPr lang="en-IN" dirty="0"/>
          </a:p>
        </p:txBody>
      </p:sp>
      <p:pic>
        <p:nvPicPr>
          <p:cNvPr id="3074" name="Picture 2"/>
          <p:cNvPicPr>
            <a:picLocks noGrp="1" noChangeAspect="1" noChangeArrowheads="1"/>
          </p:cNvPicPr>
          <p:nvPr>
            <p:ph idx="1"/>
          </p:nvPr>
        </p:nvPicPr>
        <p:blipFill>
          <a:blip r:embed="rId2"/>
          <a:srcRect/>
          <a:stretch>
            <a:fillRect/>
          </a:stretch>
        </p:blipFill>
        <p:spPr bwMode="auto">
          <a:xfrm>
            <a:off x="785786" y="1928802"/>
            <a:ext cx="7429552" cy="390525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defRPr/>
            </a:pPr>
            <a:r>
              <a:rPr lang="en-US" altLang="en-US" sz="4000" smtClean="0"/>
              <a:t>SSL Alert Protocol</a:t>
            </a:r>
          </a:p>
        </p:txBody>
      </p:sp>
      <p:sp>
        <p:nvSpPr>
          <p:cNvPr id="49157" name="Rectangle 27"/>
          <p:cNvSpPr>
            <a:spLocks noGrp="1" noChangeArrowheads="1"/>
          </p:cNvSpPr>
          <p:nvPr>
            <p:ph type="body" idx="1"/>
          </p:nvPr>
        </p:nvSpPr>
        <p:spPr/>
        <p:txBody>
          <a:bodyPr/>
          <a:lstStyle/>
          <a:p>
            <a:pPr eaLnBrk="1" hangingPunct="1"/>
            <a:r>
              <a:rPr lang="en-US" altLang="en-US" sz="2800" smtClean="0"/>
              <a:t>In case if error occurs during transmission, the detecting party (client/server) sends an alert message to other. </a:t>
            </a:r>
          </a:p>
          <a:p>
            <a:pPr eaLnBrk="1" hangingPunct="1"/>
            <a:r>
              <a:rPr lang="en-US" altLang="en-US" sz="2800" smtClean="0"/>
              <a:t>Each alert message is of 2 bytes: severity (byte 1), and cause (byte 2)</a:t>
            </a:r>
          </a:p>
          <a:p>
            <a:pPr eaLnBrk="1" hangingPunct="1"/>
            <a:r>
              <a:rPr lang="en-US" altLang="en-US" sz="2800" smtClean="0"/>
              <a:t>If the error was fatal, the connection is terminated immediately after destroying the session ids, secrets, and keys associate with this connection.</a:t>
            </a:r>
          </a:p>
        </p:txBody>
      </p:sp>
    </p:spTree>
    <p:extLst>
      <p:ext uri="{BB962C8B-B14F-4D97-AF65-F5344CB8AC3E}">
        <p14:creationId xmlns:p14="http://schemas.microsoft.com/office/powerpoint/2010/main" val="401294290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a:xfrm>
            <a:off x="1150938" y="214313"/>
            <a:ext cx="7793037" cy="776287"/>
          </a:xfrm>
        </p:spPr>
        <p:txBody>
          <a:bodyPr/>
          <a:lstStyle/>
          <a:p>
            <a:pPr eaLnBrk="1" hangingPunct="1">
              <a:defRPr/>
            </a:pPr>
            <a:r>
              <a:rPr lang="en-US" altLang="en-US" sz="4000" smtClean="0"/>
              <a:t>SSL Alert Protocol</a:t>
            </a:r>
          </a:p>
        </p:txBody>
      </p:sp>
      <p:graphicFrame>
        <p:nvGraphicFramePr>
          <p:cNvPr id="57347" name="Group 3"/>
          <p:cNvGraphicFramePr>
            <a:graphicFrameLocks noGrp="1"/>
          </p:cNvGraphicFramePr>
          <p:nvPr>
            <p:ph idx="1"/>
          </p:nvPr>
        </p:nvGraphicFramePr>
        <p:xfrm>
          <a:off x="762000" y="1295400"/>
          <a:ext cx="7772400" cy="5334002"/>
        </p:xfrm>
        <a:graphic>
          <a:graphicData uri="http://schemas.openxmlformats.org/drawingml/2006/table">
            <a:tbl>
              <a:tblPr/>
              <a:tblGrid>
                <a:gridCol w="2386013">
                  <a:extLst>
                    <a:ext uri="{9D8B030D-6E8A-4147-A177-3AD203B41FA5}">
                      <a16:colId xmlns="" xmlns:a16="http://schemas.microsoft.com/office/drawing/2014/main" val="20000"/>
                    </a:ext>
                  </a:extLst>
                </a:gridCol>
                <a:gridCol w="5386387">
                  <a:extLst>
                    <a:ext uri="{9D8B030D-6E8A-4147-A177-3AD203B41FA5}">
                      <a16:colId xmlns="" xmlns:a16="http://schemas.microsoft.com/office/drawing/2014/main" val="20001"/>
                    </a:ext>
                  </a:extLst>
                </a:gridCol>
              </a:tblGrid>
              <a:tr h="736600">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1" i="0" u="none" strike="noStrike" cap="none" normalizeH="0" baseline="0" smtClean="0">
                          <a:ln>
                            <a:noFill/>
                          </a:ln>
                          <a:solidFill>
                            <a:srgbClr val="FFFFFF"/>
                          </a:solidFill>
                          <a:effectLst/>
                          <a:latin typeface="Times New Roman" pitchFamily="18" charset="0"/>
                          <a:cs typeface="Times New Roman" pitchFamily="18" charset="0"/>
                        </a:rPr>
                        <a:t>Alert </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solidFill>
                      <a:srgbClr val="000080"/>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1" i="0" u="none" strike="noStrike" cap="none" normalizeH="0" baseline="0" smtClean="0">
                          <a:ln>
                            <a:noFill/>
                          </a:ln>
                          <a:solidFill>
                            <a:srgbClr val="FFFFFF"/>
                          </a:solidFill>
                          <a:effectLst/>
                          <a:latin typeface="Times New Roman" pitchFamily="18" charset="0"/>
                          <a:cs typeface="Times New Roman" pitchFamily="18" charset="0"/>
                        </a:rPr>
                        <a:t>Description</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solidFill>
                      <a:srgbClr val="000080"/>
                    </a:solidFill>
                  </a:tcPr>
                </a:tc>
                <a:extLst>
                  <a:ext uri="{0D108BD9-81ED-4DB2-BD59-A6C34878D82A}">
                    <a16:rowId xmlns="" xmlns:a16="http://schemas.microsoft.com/office/drawing/2014/main" val="10000"/>
                  </a:ext>
                </a:extLst>
              </a:tr>
              <a:tr h="738188">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Unexpected message</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An inappropriate message was received.</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 xmlns:a16="http://schemas.microsoft.com/office/drawing/2014/main" val="10001"/>
                  </a:ext>
                </a:extLst>
              </a:tr>
              <a:tr h="736600">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Bad record MAC</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A message is received without a correct MAC.</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 xmlns:a16="http://schemas.microsoft.com/office/drawing/2014/main" val="10002"/>
                  </a:ext>
                </a:extLst>
              </a:tr>
              <a:tr h="738188">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Decompression failure</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The decompression function received an improper input. </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 xmlns:a16="http://schemas.microsoft.com/office/drawing/2014/main" val="10003"/>
                  </a:ext>
                </a:extLst>
              </a:tr>
              <a:tr h="1192213">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Handshake failure</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Sender was unable to negotiate an acceptable set of security parameters from the available options.</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 xmlns:a16="http://schemas.microsoft.com/office/drawing/2014/main" val="10004"/>
                  </a:ext>
                </a:extLst>
              </a:tr>
              <a:tr h="1192213">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Illegal parameters</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A field in the handshake message was out of range or was inconsistent with the other fields.</a:t>
                      </a:r>
                      <a:endParaRPr kumimoji="0" lang="en-US" sz="44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546978875"/>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pPr eaLnBrk="1" hangingPunct="1">
              <a:defRPr/>
            </a:pPr>
            <a:r>
              <a:rPr lang="en-US" altLang="en-US" smtClean="0"/>
              <a:t>SSL: Operation</a:t>
            </a:r>
          </a:p>
        </p:txBody>
      </p:sp>
      <p:sp>
        <p:nvSpPr>
          <p:cNvPr id="51205" name="Rectangle 3"/>
          <p:cNvSpPr>
            <a:spLocks noGrp="1" noChangeArrowheads="1"/>
          </p:cNvSpPr>
          <p:nvPr>
            <p:ph type="body" idx="1"/>
          </p:nvPr>
        </p:nvSpPr>
        <p:spPr>
          <a:xfrm>
            <a:off x="1182688" y="1905000"/>
            <a:ext cx="7772400" cy="4419600"/>
          </a:xfrm>
        </p:spPr>
        <p:txBody>
          <a:bodyPr/>
          <a:lstStyle/>
          <a:p>
            <a:pPr eaLnBrk="1" hangingPunct="1">
              <a:lnSpc>
                <a:spcPct val="80000"/>
              </a:lnSpc>
            </a:pPr>
            <a:r>
              <a:rPr lang="en-US" altLang="en-US" sz="1400" smtClean="0"/>
              <a:t>The SSL protocol exchanges records; each record can be optionally compressed, encrypted and packed with a </a:t>
            </a:r>
            <a:r>
              <a:rPr lang="en-US" altLang="en-US" sz="1400" smtClean="0">
                <a:hlinkClick r:id="rId2" tooltip="Message authentication code"/>
              </a:rPr>
              <a:t>message authentication code</a:t>
            </a:r>
            <a:r>
              <a:rPr lang="en-US" altLang="en-US" sz="1400" smtClean="0"/>
              <a:t> (MAC). Each record has a </a:t>
            </a:r>
            <a:r>
              <a:rPr lang="en-US" altLang="en-US" sz="1400" i="1" smtClean="0"/>
              <a:t>content_type</a:t>
            </a:r>
            <a:r>
              <a:rPr lang="en-US" altLang="en-US" sz="1400" smtClean="0"/>
              <a:t> field that specifies which upper level protocol is being used.</a:t>
            </a:r>
          </a:p>
          <a:p>
            <a:pPr eaLnBrk="1" hangingPunct="1">
              <a:lnSpc>
                <a:spcPct val="80000"/>
              </a:lnSpc>
            </a:pPr>
            <a:r>
              <a:rPr lang="en-US" altLang="en-US" sz="1400" smtClean="0"/>
              <a:t>When the connection starts, the record level encapsulates another protocol, the handshake protocol, which has </a:t>
            </a:r>
            <a:r>
              <a:rPr lang="en-US" altLang="en-US" sz="1400" i="1" smtClean="0"/>
              <a:t>content_type</a:t>
            </a:r>
            <a:r>
              <a:rPr lang="en-US" altLang="en-US" sz="1400" smtClean="0"/>
              <a:t> 22.</a:t>
            </a:r>
          </a:p>
          <a:p>
            <a:pPr eaLnBrk="1" hangingPunct="1">
              <a:lnSpc>
                <a:spcPct val="80000"/>
              </a:lnSpc>
            </a:pPr>
            <a:r>
              <a:rPr lang="en-US" altLang="en-US" sz="1400" smtClean="0"/>
              <a:t>The client sends and receives several handshake structures:</a:t>
            </a:r>
          </a:p>
          <a:p>
            <a:pPr lvl="1" eaLnBrk="1" hangingPunct="1">
              <a:lnSpc>
                <a:spcPct val="80000"/>
              </a:lnSpc>
            </a:pPr>
            <a:r>
              <a:rPr lang="en-US" altLang="en-US" sz="1400" smtClean="0"/>
              <a:t>It sends a </a:t>
            </a:r>
            <a:r>
              <a:rPr lang="en-US" altLang="en-US" sz="1400" i="1" smtClean="0"/>
              <a:t>ClientHello</a:t>
            </a:r>
            <a:r>
              <a:rPr lang="en-US" altLang="en-US" sz="1400" smtClean="0"/>
              <a:t> message specifying the list of cipher suites, compression methods and the highest protocol version it supports. It also sends random bytes which will be used later. </a:t>
            </a:r>
          </a:p>
          <a:p>
            <a:pPr lvl="1" eaLnBrk="1" hangingPunct="1">
              <a:lnSpc>
                <a:spcPct val="80000"/>
              </a:lnSpc>
            </a:pPr>
            <a:r>
              <a:rPr lang="en-US" altLang="en-US" sz="1400" smtClean="0"/>
              <a:t>Then it receives a </a:t>
            </a:r>
            <a:r>
              <a:rPr lang="en-US" altLang="en-US" sz="1400" i="1" smtClean="0"/>
              <a:t>ServerHello</a:t>
            </a:r>
            <a:r>
              <a:rPr lang="en-US" altLang="en-US" sz="1400" smtClean="0"/>
              <a:t>, in which the server chooses the connection parameters from the choices offered by the client earlier. </a:t>
            </a:r>
          </a:p>
          <a:p>
            <a:pPr lvl="1" eaLnBrk="1" hangingPunct="1">
              <a:lnSpc>
                <a:spcPct val="80000"/>
              </a:lnSpc>
            </a:pPr>
            <a:r>
              <a:rPr lang="en-US" altLang="en-US" sz="1400" smtClean="0"/>
              <a:t>When the connection parameters are known, client and server exchange certificates (depending on the selected public key cipher). These certificates are currently </a:t>
            </a:r>
            <a:r>
              <a:rPr lang="en-US" altLang="en-US" sz="1400" smtClean="0">
                <a:hlinkClick r:id="rId3" tooltip="X.509"/>
              </a:rPr>
              <a:t>X.509</a:t>
            </a:r>
            <a:r>
              <a:rPr lang="en-US" altLang="en-US" sz="1400" smtClean="0"/>
              <a:t>, but there is also a draft specifying the use of </a:t>
            </a:r>
            <a:r>
              <a:rPr lang="en-US" altLang="en-US" sz="1400" smtClean="0">
                <a:hlinkClick r:id="rId4" tooltip="OpenPGP"/>
              </a:rPr>
              <a:t>OpenPGP</a:t>
            </a:r>
            <a:r>
              <a:rPr lang="en-US" altLang="en-US" sz="1400" smtClean="0"/>
              <a:t> based certificates. </a:t>
            </a:r>
          </a:p>
          <a:p>
            <a:pPr lvl="1" eaLnBrk="1" hangingPunct="1">
              <a:lnSpc>
                <a:spcPct val="80000"/>
              </a:lnSpc>
            </a:pPr>
            <a:r>
              <a:rPr lang="en-US" altLang="en-US" sz="1400" smtClean="0"/>
              <a:t>The server can request a certificate from the client, so that the connection can be </a:t>
            </a:r>
            <a:r>
              <a:rPr lang="en-US" altLang="en-US" sz="1400" b="1" smtClean="0"/>
              <a:t>mutually authenticated</a:t>
            </a:r>
            <a:r>
              <a:rPr lang="en-US" altLang="en-US" sz="1400" smtClean="0"/>
              <a:t>. </a:t>
            </a:r>
          </a:p>
          <a:p>
            <a:pPr lvl="1" eaLnBrk="1" hangingPunct="1">
              <a:lnSpc>
                <a:spcPct val="80000"/>
              </a:lnSpc>
            </a:pPr>
            <a:r>
              <a:rPr lang="en-US" altLang="en-US" sz="1400" smtClean="0"/>
              <a:t>Client and server negotiate a common secret called "master secret", possibly using the result of a </a:t>
            </a:r>
            <a:r>
              <a:rPr lang="en-US" altLang="en-US" sz="1400" smtClean="0">
                <a:hlinkClick r:id="rId5" tooltip="Diffie-Hellman"/>
              </a:rPr>
              <a:t>Diffie-Hellman</a:t>
            </a:r>
            <a:r>
              <a:rPr lang="en-US" altLang="en-US" sz="1400" smtClean="0"/>
              <a:t> exchange, or simply encrypting a secret with a public key that is decrypted with the peer's private key. All other key data is derived from this "master secret" (and the client- and server-generated random values), which is passed through a carefully designed "</a:t>
            </a:r>
            <a:r>
              <a:rPr lang="en-US" altLang="en-US" sz="1400" smtClean="0">
                <a:hlinkClick r:id="rId6" tooltip="Pseudorandomness"/>
              </a:rPr>
              <a:t>Pseudo Random</a:t>
            </a:r>
            <a:r>
              <a:rPr lang="en-US" altLang="en-US" sz="1400" smtClean="0"/>
              <a:t> Function". </a:t>
            </a:r>
          </a:p>
          <a:p>
            <a:pPr eaLnBrk="1" hangingPunct="1">
              <a:lnSpc>
                <a:spcPct val="80000"/>
              </a:lnSpc>
            </a:pPr>
            <a:endParaRPr lang="en-US" altLang="en-US" sz="1400" smtClean="0"/>
          </a:p>
        </p:txBody>
      </p:sp>
    </p:spTree>
    <p:extLst>
      <p:ext uri="{BB962C8B-B14F-4D97-AF65-F5344CB8AC3E}">
        <p14:creationId xmlns:p14="http://schemas.microsoft.com/office/powerpoint/2010/main" val="14554490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defRPr/>
            </a:pPr>
            <a:r>
              <a:rPr lang="en-US" altLang="en-US" smtClean="0"/>
              <a:t>SSL: Security Measures</a:t>
            </a:r>
          </a:p>
        </p:txBody>
      </p:sp>
      <p:sp>
        <p:nvSpPr>
          <p:cNvPr id="52229" name="Rectangle 3"/>
          <p:cNvSpPr>
            <a:spLocks noGrp="1" noChangeArrowheads="1"/>
          </p:cNvSpPr>
          <p:nvPr>
            <p:ph type="body" idx="1"/>
          </p:nvPr>
        </p:nvSpPr>
        <p:spPr>
          <a:xfrm>
            <a:off x="1182688" y="1905000"/>
            <a:ext cx="7772400" cy="4419600"/>
          </a:xfrm>
        </p:spPr>
        <p:txBody>
          <a:bodyPr/>
          <a:lstStyle/>
          <a:p>
            <a:pPr eaLnBrk="1" hangingPunct="1">
              <a:lnSpc>
                <a:spcPct val="80000"/>
              </a:lnSpc>
              <a:buFont typeface="Wingdings" panose="05000000000000000000" pitchFamily="2" charset="2"/>
              <a:buNone/>
            </a:pPr>
            <a:r>
              <a:rPr lang="en-US" altLang="en-US" sz="2000" smtClean="0"/>
              <a:t>TLS/SSL have a variety of security measures:</a:t>
            </a:r>
          </a:p>
          <a:p>
            <a:pPr eaLnBrk="1" hangingPunct="1">
              <a:lnSpc>
                <a:spcPct val="80000"/>
              </a:lnSpc>
            </a:pPr>
            <a:r>
              <a:rPr lang="en-US" altLang="en-US" sz="2000" smtClean="0"/>
              <a:t>Numbering all the records and using the sequence number in the MACs. </a:t>
            </a:r>
          </a:p>
          <a:p>
            <a:pPr eaLnBrk="1" hangingPunct="1">
              <a:lnSpc>
                <a:spcPct val="80000"/>
              </a:lnSpc>
            </a:pPr>
            <a:r>
              <a:rPr lang="en-US" altLang="en-US" sz="2000" smtClean="0"/>
              <a:t>Using a message digest enhanced with a key (so only with the key can you check the MAC). This is specified in </a:t>
            </a:r>
            <a:r>
              <a:rPr lang="en-US" altLang="en-US" sz="2000" smtClean="0">
                <a:hlinkClick r:id="rId2" tooltip="http://tools.ietf.org/html/rfc2104"/>
              </a:rPr>
              <a:t>RFC 2104</a:t>
            </a:r>
            <a:r>
              <a:rPr lang="en-US" altLang="en-US" sz="2000" smtClean="0"/>
              <a:t>. </a:t>
            </a:r>
          </a:p>
          <a:p>
            <a:pPr eaLnBrk="1" hangingPunct="1">
              <a:lnSpc>
                <a:spcPct val="80000"/>
              </a:lnSpc>
            </a:pPr>
            <a:r>
              <a:rPr lang="en-US" altLang="en-US" sz="2000" smtClean="0"/>
              <a:t>Protection against several known attacks (including </a:t>
            </a:r>
            <a:r>
              <a:rPr lang="en-US" altLang="en-US" sz="2000" smtClean="0">
                <a:hlinkClick r:id="rId3" tooltip="Man in the middle attack"/>
              </a:rPr>
              <a:t>man in the middle attacks</a:t>
            </a:r>
            <a:r>
              <a:rPr lang="en-US" altLang="en-US" sz="2000" smtClean="0"/>
              <a:t>), like those involving a downgrade of the protocol to previous (less secure) versions, or weaker cipher suites. </a:t>
            </a:r>
          </a:p>
          <a:p>
            <a:pPr eaLnBrk="1" hangingPunct="1">
              <a:lnSpc>
                <a:spcPct val="80000"/>
              </a:lnSpc>
            </a:pPr>
            <a:r>
              <a:rPr lang="en-US" altLang="en-US" sz="2000" smtClean="0"/>
              <a:t>The message that ends the handshake ("Finished") sends a hash of all the exchanged data seen by both parties. </a:t>
            </a:r>
          </a:p>
          <a:p>
            <a:pPr eaLnBrk="1" hangingPunct="1">
              <a:lnSpc>
                <a:spcPct val="80000"/>
              </a:lnSpc>
            </a:pPr>
            <a:r>
              <a:rPr lang="en-US" altLang="en-US" sz="2000" smtClean="0"/>
              <a:t>The pseudo random function splits the input data in 2 halves and processes them with different hashing algorithms (</a:t>
            </a:r>
            <a:r>
              <a:rPr lang="en-US" altLang="en-US" sz="2000" smtClean="0">
                <a:hlinkClick r:id="rId4" tooltip="MD5"/>
              </a:rPr>
              <a:t>MD5</a:t>
            </a:r>
            <a:r>
              <a:rPr lang="en-US" altLang="en-US" sz="2000" smtClean="0"/>
              <a:t> and </a:t>
            </a:r>
            <a:r>
              <a:rPr lang="en-US" altLang="en-US" sz="2000" smtClean="0">
                <a:hlinkClick r:id="rId5" tooltip="SHA"/>
              </a:rPr>
              <a:t>SHA</a:t>
            </a:r>
            <a:r>
              <a:rPr lang="en-US" altLang="en-US" sz="2000" smtClean="0"/>
              <a:t>), then </a:t>
            </a:r>
            <a:r>
              <a:rPr lang="en-US" altLang="en-US" sz="2000" smtClean="0">
                <a:hlinkClick r:id="rId6" tooltip="XOR"/>
              </a:rPr>
              <a:t>XORs</a:t>
            </a:r>
            <a:r>
              <a:rPr lang="en-US" altLang="en-US" sz="2000" smtClean="0"/>
              <a:t> them together. This way it protects itself in the event that one of these algorithms is found vulnerable. </a:t>
            </a:r>
          </a:p>
          <a:p>
            <a:pPr eaLnBrk="1" hangingPunct="1">
              <a:lnSpc>
                <a:spcPct val="80000"/>
              </a:lnSpc>
            </a:pPr>
            <a:endParaRPr lang="en-US" altLang="en-US" sz="2400" smtClean="0"/>
          </a:p>
        </p:txBody>
      </p:sp>
    </p:spTree>
    <p:extLst>
      <p:ext uri="{BB962C8B-B14F-4D97-AF65-F5344CB8AC3E}">
        <p14:creationId xmlns:p14="http://schemas.microsoft.com/office/powerpoint/2010/main" val="21869916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defRPr/>
            </a:pPr>
            <a:r>
              <a:rPr lang="en-US" altLang="en-US" smtClean="0"/>
              <a:t>SSL: Applications</a:t>
            </a:r>
          </a:p>
        </p:txBody>
      </p:sp>
      <p:sp>
        <p:nvSpPr>
          <p:cNvPr id="53253" name="Rectangle 3"/>
          <p:cNvSpPr>
            <a:spLocks noGrp="1" noChangeArrowheads="1"/>
          </p:cNvSpPr>
          <p:nvPr>
            <p:ph type="body" idx="1"/>
          </p:nvPr>
        </p:nvSpPr>
        <p:spPr>
          <a:xfrm>
            <a:off x="1182688" y="1905000"/>
            <a:ext cx="7772400" cy="4419600"/>
          </a:xfrm>
        </p:spPr>
        <p:txBody>
          <a:bodyPr/>
          <a:lstStyle/>
          <a:p>
            <a:pPr eaLnBrk="1" hangingPunct="1">
              <a:lnSpc>
                <a:spcPct val="80000"/>
              </a:lnSpc>
            </a:pPr>
            <a:r>
              <a:rPr lang="en-US" altLang="en-US" sz="1800" smtClean="0"/>
              <a:t>SSL runs on layers beneath application protocols such as </a:t>
            </a:r>
            <a:r>
              <a:rPr lang="en-US" altLang="en-US" sz="1800" smtClean="0">
                <a:hlinkClick r:id="rId2" tooltip="HTTP"/>
              </a:rPr>
              <a:t>HTTP</a:t>
            </a:r>
            <a:r>
              <a:rPr lang="en-US" altLang="en-US" sz="1800" smtClean="0"/>
              <a:t>, </a:t>
            </a:r>
            <a:r>
              <a:rPr lang="en-US" altLang="en-US" sz="1800" smtClean="0">
                <a:hlinkClick r:id="rId3" tooltip="File transfer protocol"/>
              </a:rPr>
              <a:t>FTP</a:t>
            </a:r>
            <a:r>
              <a:rPr lang="en-US" altLang="en-US" sz="1800" smtClean="0"/>
              <a:t>, </a:t>
            </a:r>
            <a:r>
              <a:rPr lang="en-US" altLang="en-US" sz="1800" smtClean="0">
                <a:hlinkClick r:id="rId4" tooltip="SMTP"/>
              </a:rPr>
              <a:t>SMTP</a:t>
            </a:r>
            <a:r>
              <a:rPr lang="en-US" altLang="en-US" sz="1800" smtClean="0"/>
              <a:t> and </a:t>
            </a:r>
            <a:r>
              <a:rPr lang="en-US" altLang="en-US" sz="1800" smtClean="0">
                <a:hlinkClick r:id="rId5" tooltip="Network News Transfer Protocol"/>
              </a:rPr>
              <a:t>NNTP</a:t>
            </a:r>
            <a:r>
              <a:rPr lang="en-US" altLang="en-US" sz="1800" smtClean="0"/>
              <a:t> and above the </a:t>
            </a:r>
            <a:r>
              <a:rPr lang="en-US" altLang="en-US" sz="1800" smtClean="0">
                <a:hlinkClick r:id="rId6" tooltip="Transmission Control Protocol"/>
              </a:rPr>
              <a:t>TCP</a:t>
            </a:r>
            <a:r>
              <a:rPr lang="en-US" altLang="en-US" sz="1800" smtClean="0"/>
              <a:t> or </a:t>
            </a:r>
            <a:r>
              <a:rPr lang="en-US" altLang="en-US" sz="1800" smtClean="0">
                <a:hlinkClick r:id="rId7" tooltip="User Datagram Protocol"/>
              </a:rPr>
              <a:t>UDP</a:t>
            </a:r>
            <a:r>
              <a:rPr lang="en-US" altLang="en-US" sz="1800" smtClean="0"/>
              <a:t> transport protocol, which form part of the </a:t>
            </a:r>
            <a:r>
              <a:rPr lang="en-US" altLang="en-US" sz="1800" smtClean="0">
                <a:hlinkClick r:id="rId8" tooltip="Internet protocol suite"/>
              </a:rPr>
              <a:t>TCP/IP</a:t>
            </a:r>
            <a:r>
              <a:rPr lang="en-US" altLang="en-US" sz="1800" smtClean="0"/>
              <a:t> protocol suite. While it can add security to any protocol that uses reliable connections (such as TCP), it is most commonly used with HTTP to form </a:t>
            </a:r>
            <a:r>
              <a:rPr lang="en-US" altLang="en-US" sz="1800" smtClean="0">
                <a:hlinkClick r:id="rId9" tooltip="HTTPS"/>
              </a:rPr>
              <a:t>HTTPS</a:t>
            </a:r>
            <a:r>
              <a:rPr lang="en-US" altLang="en-US" sz="1800" smtClean="0"/>
              <a:t>. HTTPS is used to secure </a:t>
            </a:r>
            <a:r>
              <a:rPr lang="en-US" altLang="en-US" sz="1800" smtClean="0">
                <a:hlinkClick r:id="rId10" tooltip="World Wide Web"/>
              </a:rPr>
              <a:t>World Wide Web</a:t>
            </a:r>
            <a:r>
              <a:rPr lang="en-US" altLang="en-US" sz="1800" smtClean="0"/>
              <a:t> pages for applications such as </a:t>
            </a:r>
            <a:r>
              <a:rPr lang="en-US" altLang="en-US" sz="1800" smtClean="0">
                <a:hlinkClick r:id="rId11" tooltip="Electronic commerce"/>
              </a:rPr>
              <a:t>electronic commerce</a:t>
            </a:r>
            <a:r>
              <a:rPr lang="en-US" altLang="en-US" sz="1800" smtClean="0"/>
              <a:t>. It uses </a:t>
            </a:r>
            <a:r>
              <a:rPr lang="en-US" altLang="en-US" sz="1800" smtClean="0">
                <a:hlinkClick r:id="rId12" tooltip="Public key certificate"/>
              </a:rPr>
              <a:t>public key certificates</a:t>
            </a:r>
            <a:r>
              <a:rPr lang="en-US" altLang="en-US" sz="1800" smtClean="0"/>
              <a:t> to verify the identity of endpoints.</a:t>
            </a:r>
          </a:p>
          <a:p>
            <a:pPr eaLnBrk="1" hangingPunct="1">
              <a:lnSpc>
                <a:spcPct val="80000"/>
              </a:lnSpc>
            </a:pPr>
            <a:r>
              <a:rPr lang="en-US" altLang="en-US" sz="1800" smtClean="0"/>
              <a:t>An increasing number of client and server products support SSL natively, but many still lack support. As an alternative, users may wish to use standalone SSL products like </a:t>
            </a:r>
            <a:r>
              <a:rPr lang="en-US" altLang="en-US" sz="1800" smtClean="0">
                <a:hlinkClick r:id="rId13" tooltip="Stunnel"/>
              </a:rPr>
              <a:t>Stunnel</a:t>
            </a:r>
            <a:r>
              <a:rPr lang="en-US" altLang="en-US" sz="1800" smtClean="0"/>
              <a:t>. Wrappers such as Stunnel rely on being able to obtain an SSL connection immediately, by simply connecting to a separate port reserved for the purpose. For example, by default the TCP port for HTTPS is 443, to distinguish it from HTTP on port 80. However, in 1997 the </a:t>
            </a:r>
            <a:r>
              <a:rPr lang="en-US" altLang="en-US" sz="1800" smtClean="0">
                <a:hlinkClick r:id="rId14" tooltip="IETF"/>
              </a:rPr>
              <a:t>Internet Engineering Task Force</a:t>
            </a:r>
            <a:r>
              <a:rPr lang="en-US" altLang="en-US" sz="1800" smtClean="0"/>
              <a:t> recommended that application protocols always start unsecured and instead offer a way to upgrade to TLS - which a pure wrapper like Stunnel cannot cope with.</a:t>
            </a:r>
          </a:p>
          <a:p>
            <a:pPr eaLnBrk="1" hangingPunct="1">
              <a:lnSpc>
                <a:spcPct val="80000"/>
              </a:lnSpc>
            </a:pPr>
            <a:r>
              <a:rPr lang="en-US" altLang="en-US" sz="1800" smtClean="0"/>
              <a:t>SSL can also be used to tunnel an entire network stack to create a </a:t>
            </a:r>
            <a:r>
              <a:rPr lang="en-US" altLang="en-US" sz="1800" smtClean="0">
                <a:hlinkClick r:id="rId15" tooltip="Virtual Private Network"/>
              </a:rPr>
              <a:t>VPN</a:t>
            </a:r>
            <a:r>
              <a:rPr lang="en-US" altLang="en-US" sz="1800" smtClean="0"/>
              <a:t>, as is the case with </a:t>
            </a:r>
            <a:r>
              <a:rPr lang="en-US" altLang="en-US" sz="1800" smtClean="0">
                <a:hlinkClick r:id="rId16" tooltip="OpenVPN"/>
              </a:rPr>
              <a:t>OpenVPN</a:t>
            </a:r>
            <a:r>
              <a:rPr lang="en-US" altLang="en-US" sz="1800" smtClean="0"/>
              <a:t>.</a:t>
            </a:r>
          </a:p>
        </p:txBody>
      </p:sp>
    </p:spTree>
    <p:extLst>
      <p:ext uri="{BB962C8B-B14F-4D97-AF65-F5344CB8AC3E}">
        <p14:creationId xmlns:p14="http://schemas.microsoft.com/office/powerpoint/2010/main" val="5444463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t>Cryptographic Computations</a:t>
            </a:r>
          </a:p>
        </p:txBody>
      </p:sp>
      <p:sp>
        <p:nvSpPr>
          <p:cNvPr id="3" name="Content Placeholder 2"/>
          <p:cNvSpPr>
            <a:spLocks noGrp="1"/>
          </p:cNvSpPr>
          <p:nvPr>
            <p:ph idx="1"/>
          </p:nvPr>
        </p:nvSpPr>
        <p:spPr>
          <a:xfrm>
            <a:off x="457200" y="1676400"/>
            <a:ext cx="8229600" cy="4648200"/>
          </a:xfrm>
        </p:spPr>
        <p:txBody>
          <a:bodyPr/>
          <a:lstStyle/>
          <a:p>
            <a:pPr eaLnBrk="1" hangingPunct="1">
              <a:buFont typeface="Wingdings" pitchFamily="-107" charset="2"/>
              <a:buChar char="Ø"/>
              <a:defRPr/>
            </a:pPr>
            <a:r>
              <a:rPr lang="en-US" kern="1200" dirty="0" smtClean="0"/>
              <a:t>master secret creation</a:t>
            </a:r>
          </a:p>
          <a:p>
            <a:pPr lvl="1" eaLnBrk="1" hangingPunct="1">
              <a:buFont typeface="Wingdings" pitchFamily="-107" charset="2"/>
              <a:buChar char="l"/>
              <a:defRPr/>
            </a:pPr>
            <a:r>
              <a:rPr lang="en-US" kern="1200" dirty="0" smtClean="0"/>
              <a:t>a one-time 48-byte value</a:t>
            </a:r>
          </a:p>
          <a:p>
            <a:pPr lvl="1" eaLnBrk="1" hangingPunct="1">
              <a:buFont typeface="Wingdings" pitchFamily="-107" charset="2"/>
              <a:buChar char="l"/>
              <a:defRPr/>
            </a:pPr>
            <a:r>
              <a:rPr lang="en-US" kern="1200" dirty="0" smtClean="0"/>
              <a:t>generated using secure key exchange (RSA / </a:t>
            </a:r>
            <a:r>
              <a:rPr lang="en-US" kern="1200" dirty="0" err="1" smtClean="0"/>
              <a:t>Diffie</a:t>
            </a:r>
            <a:r>
              <a:rPr lang="en-US" kern="1200" dirty="0" smtClean="0"/>
              <a:t>-Hellman) and then hashing info</a:t>
            </a:r>
            <a:endParaRPr lang="en-US" kern="1200" dirty="0" smtClean="0">
              <a:ea typeface="+mn-ea"/>
              <a:cs typeface="+mn-cs"/>
            </a:endParaRPr>
          </a:p>
          <a:p>
            <a:pPr eaLnBrk="1" hangingPunct="1">
              <a:buFont typeface="Wingdings" pitchFamily="-107" charset="2"/>
              <a:buChar char="Ø"/>
              <a:defRPr/>
            </a:pPr>
            <a:r>
              <a:rPr lang="en-US" kern="1200" dirty="0" smtClean="0"/>
              <a:t>generation of cryptographic parameters</a:t>
            </a:r>
          </a:p>
          <a:p>
            <a:pPr lvl="1" eaLnBrk="1" hangingPunct="1">
              <a:buFont typeface="Wingdings" pitchFamily="-107" charset="2"/>
              <a:buChar char="l"/>
              <a:defRPr/>
            </a:pPr>
            <a:r>
              <a:rPr lang="en-US" kern="1200" dirty="0" smtClean="0"/>
              <a:t>client write MAC secret, a server write MAC secret, a client write key, a server write key, a client write IV, and a server write IV</a:t>
            </a:r>
          </a:p>
          <a:p>
            <a:pPr lvl="1" eaLnBrk="1" hangingPunct="1">
              <a:buFont typeface="Wingdings" pitchFamily="-107" charset="2"/>
              <a:buChar char="l"/>
              <a:defRPr/>
            </a:pPr>
            <a:r>
              <a:rPr lang="en-US" kern="1200" dirty="0" smtClean="0">
                <a:ea typeface="+mn-ea"/>
                <a:cs typeface="+mn-cs"/>
              </a:rPr>
              <a:t> </a:t>
            </a:r>
            <a:r>
              <a:rPr lang="en-US" kern="1200" dirty="0" smtClean="0"/>
              <a:t>generated by hashing master secret</a:t>
            </a:r>
            <a:endParaRPr lang="en-US" dirty="0" smtClean="0"/>
          </a:p>
        </p:txBody>
      </p:sp>
    </p:spTree>
    <p:extLst>
      <p:ext uri="{BB962C8B-B14F-4D97-AF65-F5344CB8AC3E}">
        <p14:creationId xmlns:p14="http://schemas.microsoft.com/office/powerpoint/2010/main" val="36917303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96863" y="552450"/>
            <a:ext cx="8237537" cy="1200150"/>
          </a:xfrm>
        </p:spPr>
        <p:txBody>
          <a:bodyPr/>
          <a:lstStyle/>
          <a:p>
            <a:pPr algn="l" eaLnBrk="1" hangingPunct="1">
              <a:defRPr/>
            </a:pPr>
            <a:r>
              <a:rPr lang="en-US" altLang="en-US" dirty="0" smtClean="0">
                <a:ea typeface="ＭＳ Ｐゴシック" panose="020B0600070205080204" pitchFamily="34" charset="-128"/>
              </a:rPr>
              <a:t>TLS (Transport Layer Security)</a:t>
            </a:r>
            <a:endParaRPr lang="en-AU" altLang="en-US" dirty="0" smtClean="0">
              <a:ea typeface="ＭＳ Ｐゴシック" panose="020B0600070205080204" pitchFamily="34" charset="-128"/>
            </a:endParaRPr>
          </a:p>
        </p:txBody>
      </p:sp>
      <p:sp>
        <p:nvSpPr>
          <p:cNvPr id="56323" name="Rectangle 3"/>
          <p:cNvSpPr>
            <a:spLocks noGrp="1" noChangeArrowheads="1"/>
          </p:cNvSpPr>
          <p:nvPr>
            <p:ph type="body" idx="1"/>
          </p:nvPr>
        </p:nvSpPr>
        <p:spPr>
          <a:xfrm>
            <a:off x="46038" y="1676400"/>
            <a:ext cx="9051925" cy="4800600"/>
          </a:xfrm>
        </p:spPr>
        <p:txBody>
          <a:bodyPr>
            <a:normAutofit lnSpcReduction="10000"/>
          </a:bodyPr>
          <a:lstStyle/>
          <a:p>
            <a:pPr eaLnBrk="1" hangingPunct="1">
              <a:lnSpc>
                <a:spcPct val="90000"/>
              </a:lnSpc>
            </a:pPr>
            <a:r>
              <a:rPr lang="en-US" altLang="en-US" smtClean="0">
                <a:ea typeface="ＭＳ Ｐゴシック" panose="020B0600070205080204" pitchFamily="34" charset="-128"/>
              </a:rPr>
              <a:t>IETF </a:t>
            </a:r>
            <a:r>
              <a:rPr lang="en-IN" altLang="en-US" smtClean="0"/>
              <a:t> [</a:t>
            </a:r>
            <a:r>
              <a:rPr lang="en-IN" altLang="en-US" b="1" smtClean="0"/>
              <a:t>Internet</a:t>
            </a:r>
            <a:r>
              <a:rPr lang="en-IN" altLang="en-US" smtClean="0"/>
              <a:t> Engineering Task Force] </a:t>
            </a:r>
            <a:r>
              <a:rPr lang="en-US" altLang="en-US" smtClean="0">
                <a:ea typeface="ＭＳ Ｐゴシック" panose="020B0600070205080204" pitchFamily="34" charset="-128"/>
              </a:rPr>
              <a:t>standard RFC 2246 similar to SSLv3</a:t>
            </a:r>
          </a:p>
          <a:p>
            <a:pPr eaLnBrk="1" hangingPunct="1">
              <a:lnSpc>
                <a:spcPct val="90000"/>
              </a:lnSpc>
            </a:pPr>
            <a:r>
              <a:rPr lang="en-US" altLang="en-US" smtClean="0">
                <a:ea typeface="ＭＳ Ｐゴシック" panose="020B0600070205080204" pitchFamily="34" charset="-128"/>
              </a:rPr>
              <a:t>with minor differences</a:t>
            </a:r>
          </a:p>
          <a:p>
            <a:pPr lvl="1" eaLnBrk="1" hangingPunct="1">
              <a:lnSpc>
                <a:spcPct val="90000"/>
              </a:lnSpc>
            </a:pPr>
            <a:r>
              <a:rPr lang="en-US" altLang="en-US" smtClean="0">
                <a:ea typeface="ＭＳ Ｐゴシック" panose="020B0600070205080204" pitchFamily="34" charset="-128"/>
              </a:rPr>
              <a:t>in record format version number</a:t>
            </a:r>
          </a:p>
          <a:p>
            <a:pPr lvl="1" eaLnBrk="1" hangingPunct="1">
              <a:lnSpc>
                <a:spcPct val="90000"/>
              </a:lnSpc>
            </a:pPr>
            <a:r>
              <a:rPr lang="en-US" altLang="en-US" smtClean="0">
                <a:ea typeface="ＭＳ Ｐゴシック" panose="020B0600070205080204" pitchFamily="34" charset="-128"/>
              </a:rPr>
              <a:t>uses HMAC for MAC</a:t>
            </a:r>
          </a:p>
          <a:p>
            <a:pPr lvl="1" eaLnBrk="1" hangingPunct="1">
              <a:lnSpc>
                <a:spcPct val="90000"/>
              </a:lnSpc>
            </a:pPr>
            <a:r>
              <a:rPr lang="en-US" altLang="en-US" smtClean="0">
                <a:ea typeface="ＭＳ Ｐゴシック" panose="020B0600070205080204" pitchFamily="34" charset="-128"/>
              </a:rPr>
              <a:t>a pseudo-random function expands secrets</a:t>
            </a:r>
          </a:p>
          <a:p>
            <a:pPr lvl="2" eaLnBrk="1" hangingPunct="1">
              <a:lnSpc>
                <a:spcPct val="90000"/>
              </a:lnSpc>
            </a:pPr>
            <a:r>
              <a:rPr lang="en-US" altLang="en-US" smtClean="0">
                <a:ea typeface="ＭＳ Ｐゴシック" panose="020B0600070205080204" pitchFamily="34" charset="-128"/>
              </a:rPr>
              <a:t>based on HMAC using SHA-1 or MD5</a:t>
            </a:r>
          </a:p>
          <a:p>
            <a:pPr lvl="1" eaLnBrk="1" hangingPunct="1">
              <a:lnSpc>
                <a:spcPct val="90000"/>
              </a:lnSpc>
            </a:pPr>
            <a:r>
              <a:rPr lang="en-US" altLang="en-US" smtClean="0">
                <a:ea typeface="ＭＳ Ｐゴシック" panose="020B0600070205080204" pitchFamily="34" charset="-128"/>
              </a:rPr>
              <a:t>has additional alert codes</a:t>
            </a:r>
          </a:p>
          <a:p>
            <a:pPr lvl="1" eaLnBrk="1" hangingPunct="1">
              <a:lnSpc>
                <a:spcPct val="90000"/>
              </a:lnSpc>
            </a:pPr>
            <a:r>
              <a:rPr lang="en-US" altLang="en-US" smtClean="0">
                <a:ea typeface="ＭＳ Ｐゴシック" panose="020B0600070205080204" pitchFamily="34" charset="-128"/>
              </a:rPr>
              <a:t>some changes in supported ciphers</a:t>
            </a:r>
          </a:p>
          <a:p>
            <a:pPr lvl="1" eaLnBrk="1" hangingPunct="1">
              <a:lnSpc>
                <a:spcPct val="90000"/>
              </a:lnSpc>
            </a:pPr>
            <a:r>
              <a:rPr lang="en-US" altLang="en-US" smtClean="0">
                <a:ea typeface="ＭＳ Ｐゴシック" panose="020B0600070205080204" pitchFamily="34" charset="-128"/>
              </a:rPr>
              <a:t>changes in certificate types &amp; negotiations</a:t>
            </a:r>
          </a:p>
          <a:p>
            <a:pPr lvl="1" eaLnBrk="1" hangingPunct="1">
              <a:lnSpc>
                <a:spcPct val="90000"/>
              </a:lnSpc>
            </a:pPr>
            <a:r>
              <a:rPr lang="en-US" altLang="en-US" smtClean="0">
                <a:ea typeface="ＭＳ Ｐゴシック" panose="020B0600070205080204" pitchFamily="34" charset="-128"/>
              </a:rPr>
              <a:t>changes in crypto computations &amp; padding</a:t>
            </a:r>
            <a:endParaRPr lang="en-AU" altLang="en-US" smtClean="0">
              <a:ea typeface="ＭＳ Ｐゴシック" panose="020B0600070205080204" pitchFamily="34" charset="-128"/>
            </a:endParaRPr>
          </a:p>
        </p:txBody>
      </p:sp>
    </p:spTree>
    <p:extLst>
      <p:ext uri="{BB962C8B-B14F-4D97-AF65-F5344CB8AC3E}">
        <p14:creationId xmlns:p14="http://schemas.microsoft.com/office/powerpoint/2010/main" val="41174677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t>HTTPS</a:t>
            </a:r>
          </a:p>
        </p:txBody>
      </p:sp>
      <p:sp>
        <p:nvSpPr>
          <p:cNvPr id="3" name="Content Placeholder 2"/>
          <p:cNvSpPr>
            <a:spLocks noGrp="1"/>
          </p:cNvSpPr>
          <p:nvPr>
            <p:ph idx="1"/>
          </p:nvPr>
        </p:nvSpPr>
        <p:spPr>
          <a:xfrm>
            <a:off x="457200" y="1371600"/>
            <a:ext cx="8229600" cy="5105400"/>
          </a:xfrm>
        </p:spPr>
        <p:txBody>
          <a:bodyPr/>
          <a:lstStyle/>
          <a:p>
            <a:pPr eaLnBrk="1" hangingPunct="1">
              <a:buFont typeface="Wingdings" pitchFamily="-107" charset="2"/>
              <a:buChar char="Ø"/>
              <a:defRPr/>
            </a:pPr>
            <a:r>
              <a:rPr lang="en-US" kern="1200" dirty="0" smtClean="0"/>
              <a:t>HTTPS (HTTP over SSL) </a:t>
            </a:r>
          </a:p>
          <a:p>
            <a:pPr lvl="1" eaLnBrk="1" hangingPunct="1">
              <a:buFont typeface="Wingdings" pitchFamily="-107" charset="2"/>
              <a:buChar char="l"/>
              <a:defRPr/>
            </a:pPr>
            <a:r>
              <a:rPr lang="en-US" kern="1200" dirty="0" smtClean="0">
                <a:ea typeface="+mn-ea"/>
                <a:cs typeface="+mn-cs"/>
              </a:rPr>
              <a:t>combination of HTTP &amp; SSL/TLS to secure communications between browser &amp; server</a:t>
            </a:r>
          </a:p>
          <a:p>
            <a:pPr lvl="2" eaLnBrk="1" hangingPunct="1">
              <a:defRPr/>
            </a:pPr>
            <a:r>
              <a:rPr lang="en-US" kern="1200" dirty="0" smtClean="0">
                <a:ea typeface="+mn-ea"/>
                <a:cs typeface="+mn-cs"/>
              </a:rPr>
              <a:t>documented in RFC2818</a:t>
            </a:r>
          </a:p>
          <a:p>
            <a:pPr lvl="2" eaLnBrk="1" hangingPunct="1">
              <a:defRPr/>
            </a:pPr>
            <a:r>
              <a:rPr lang="en-US" kern="1200" dirty="0" smtClean="0"/>
              <a:t>no fundamental change using either SSL or TLS</a:t>
            </a:r>
            <a:endParaRPr lang="en-US" kern="1200" dirty="0" smtClean="0">
              <a:ea typeface="+mn-ea"/>
              <a:cs typeface="+mn-cs"/>
            </a:endParaRPr>
          </a:p>
          <a:p>
            <a:pPr eaLnBrk="1" hangingPunct="1">
              <a:buFont typeface="Wingdings" pitchFamily="-107" charset="2"/>
              <a:buChar char="Ø"/>
              <a:defRPr/>
            </a:pPr>
            <a:r>
              <a:rPr lang="en-US" dirty="0" smtClean="0"/>
              <a:t>use </a:t>
            </a:r>
            <a:r>
              <a:rPr lang="en-US" kern="1200" dirty="0" smtClean="0"/>
              <a:t>https:// </a:t>
            </a:r>
            <a:r>
              <a:rPr lang="en-US" dirty="0" smtClean="0"/>
              <a:t>URL </a:t>
            </a:r>
            <a:r>
              <a:rPr lang="en-US" kern="1200" dirty="0" smtClean="0"/>
              <a:t>rather than http://</a:t>
            </a:r>
          </a:p>
          <a:p>
            <a:pPr lvl="1" eaLnBrk="1" hangingPunct="1">
              <a:buFont typeface="Wingdings" pitchFamily="-107" charset="2"/>
              <a:buChar char="l"/>
              <a:defRPr/>
            </a:pPr>
            <a:r>
              <a:rPr lang="en-US" kern="1200" dirty="0" smtClean="0">
                <a:ea typeface="+mn-ea"/>
                <a:cs typeface="+mn-cs"/>
              </a:rPr>
              <a:t>and port 443 rather than 80</a:t>
            </a:r>
          </a:p>
          <a:p>
            <a:pPr eaLnBrk="1" hangingPunct="1">
              <a:buFont typeface="Wingdings" pitchFamily="-107" charset="2"/>
              <a:buChar char="Ø"/>
              <a:defRPr/>
            </a:pPr>
            <a:r>
              <a:rPr lang="en-US" kern="1200" dirty="0" smtClean="0"/>
              <a:t>encrypts</a:t>
            </a:r>
          </a:p>
          <a:p>
            <a:pPr lvl="1" eaLnBrk="1" hangingPunct="1">
              <a:buFont typeface="Wingdings" pitchFamily="-107" charset="2"/>
              <a:buChar char="l"/>
              <a:defRPr/>
            </a:pPr>
            <a:r>
              <a:rPr lang="en-US" kern="1200" dirty="0" smtClean="0">
                <a:ea typeface="+mn-ea"/>
                <a:cs typeface="+mn-cs"/>
              </a:rPr>
              <a:t>URL, document contents, form data, cookies, HTTP headers</a:t>
            </a:r>
            <a:endParaRPr lang="en-US" dirty="0" smtClean="0"/>
          </a:p>
        </p:txBody>
      </p:sp>
    </p:spTree>
    <p:extLst>
      <p:ext uri="{BB962C8B-B14F-4D97-AF65-F5344CB8AC3E}">
        <p14:creationId xmlns:p14="http://schemas.microsoft.com/office/powerpoint/2010/main" val="30603615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t>HTTPS Use</a:t>
            </a:r>
          </a:p>
        </p:txBody>
      </p:sp>
      <p:sp>
        <p:nvSpPr>
          <p:cNvPr id="60419" name="Content Placeholder 2"/>
          <p:cNvSpPr>
            <a:spLocks noGrp="1"/>
          </p:cNvSpPr>
          <p:nvPr>
            <p:ph idx="1"/>
          </p:nvPr>
        </p:nvSpPr>
        <p:spPr/>
        <p:txBody>
          <a:bodyPr/>
          <a:lstStyle/>
          <a:p>
            <a:pPr eaLnBrk="1" hangingPunct="1"/>
            <a:r>
              <a:rPr lang="en-US" altLang="en-US" smtClean="0">
                <a:ea typeface="ＭＳ Ｐゴシック" panose="020B0600070205080204" pitchFamily="34" charset="-128"/>
              </a:rPr>
              <a:t>connection initiation</a:t>
            </a:r>
          </a:p>
          <a:p>
            <a:pPr lvl="1" eaLnBrk="1" hangingPunct="1"/>
            <a:r>
              <a:rPr lang="en-US" altLang="en-US" smtClean="0">
                <a:ea typeface="ＭＳ Ｐゴシック" panose="020B0600070205080204" pitchFamily="34" charset="-128"/>
              </a:rPr>
              <a:t>TLS handshake then HTTP request(s)</a:t>
            </a:r>
          </a:p>
          <a:p>
            <a:pPr eaLnBrk="1" hangingPunct="1"/>
            <a:r>
              <a:rPr lang="en-US" altLang="en-US" smtClean="0">
                <a:ea typeface="ＭＳ Ｐゴシック" panose="020B0600070205080204" pitchFamily="34" charset="-128"/>
              </a:rPr>
              <a:t>connection closure</a:t>
            </a:r>
          </a:p>
          <a:p>
            <a:pPr lvl="1" eaLnBrk="1" hangingPunct="1"/>
            <a:r>
              <a:rPr lang="en-US" altLang="en-US" smtClean="0">
                <a:ea typeface="ＭＳ Ｐゴシック" panose="020B0600070205080204" pitchFamily="34" charset="-128"/>
              </a:rPr>
              <a:t>have “Connection: close” in HTTP record</a:t>
            </a:r>
          </a:p>
          <a:p>
            <a:pPr lvl="1" eaLnBrk="1" hangingPunct="1"/>
            <a:r>
              <a:rPr lang="en-US" altLang="en-US" smtClean="0">
                <a:ea typeface="ＭＳ Ｐゴシック" panose="020B0600070205080204" pitchFamily="34" charset="-128"/>
              </a:rPr>
              <a:t>TLS level exchange close_notify alerts</a:t>
            </a:r>
          </a:p>
          <a:p>
            <a:pPr lvl="1" eaLnBrk="1" hangingPunct="1"/>
            <a:r>
              <a:rPr lang="en-US" altLang="en-US" smtClean="0">
                <a:ea typeface="ＭＳ Ｐゴシック" panose="020B0600070205080204" pitchFamily="34" charset="-128"/>
              </a:rPr>
              <a:t>can then close TCP connection</a:t>
            </a:r>
          </a:p>
          <a:p>
            <a:pPr lvl="1" eaLnBrk="1" hangingPunct="1"/>
            <a:r>
              <a:rPr lang="en-US" altLang="en-US" smtClean="0">
                <a:ea typeface="ＭＳ Ｐゴシック" panose="020B0600070205080204" pitchFamily="34" charset="-128"/>
              </a:rPr>
              <a:t>must handle TCP close before alert exchange sent or completed</a:t>
            </a:r>
          </a:p>
        </p:txBody>
      </p:sp>
    </p:spTree>
    <p:extLst>
      <p:ext uri="{BB962C8B-B14F-4D97-AF65-F5344CB8AC3E}">
        <p14:creationId xmlns:p14="http://schemas.microsoft.com/office/powerpoint/2010/main" val="33094674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t>Secure Shell (SSH)</a:t>
            </a:r>
          </a:p>
        </p:txBody>
      </p:sp>
      <p:sp>
        <p:nvSpPr>
          <p:cNvPr id="3" name="Content Placeholder 2"/>
          <p:cNvSpPr>
            <a:spLocks noGrp="1"/>
          </p:cNvSpPr>
          <p:nvPr>
            <p:ph idx="1"/>
          </p:nvPr>
        </p:nvSpPr>
        <p:spPr>
          <a:xfrm>
            <a:off x="304800" y="1371600"/>
            <a:ext cx="8534400" cy="5105400"/>
          </a:xfrm>
        </p:spPr>
        <p:txBody>
          <a:bodyPr/>
          <a:lstStyle/>
          <a:p>
            <a:pPr eaLnBrk="1" hangingPunct="1">
              <a:buFont typeface="Wingdings" pitchFamily="-107" charset="2"/>
              <a:buChar char="Ø"/>
              <a:defRPr/>
            </a:pPr>
            <a:r>
              <a:rPr lang="en-US" kern="1200" dirty="0" smtClean="0"/>
              <a:t>protocol for secure network communications</a:t>
            </a:r>
          </a:p>
          <a:p>
            <a:pPr lvl="1" eaLnBrk="1" hangingPunct="1">
              <a:buFont typeface="Wingdings" pitchFamily="-107" charset="2"/>
              <a:buChar char="l"/>
              <a:defRPr/>
            </a:pPr>
            <a:r>
              <a:rPr lang="en-US" kern="1200" dirty="0" smtClean="0"/>
              <a:t>designed to be simple &amp; inexpensive</a:t>
            </a:r>
          </a:p>
          <a:p>
            <a:pPr eaLnBrk="1" hangingPunct="1">
              <a:buFont typeface="Wingdings" pitchFamily="-107" charset="2"/>
              <a:buChar char="Ø"/>
              <a:defRPr/>
            </a:pPr>
            <a:r>
              <a:rPr lang="en-US" kern="1200" dirty="0" smtClean="0"/>
              <a:t>SSH1 provided secure remote logon facility</a:t>
            </a:r>
          </a:p>
          <a:p>
            <a:pPr lvl="1" eaLnBrk="1" hangingPunct="1">
              <a:buFont typeface="Wingdings" pitchFamily="-107" charset="2"/>
              <a:buChar char="l"/>
              <a:defRPr/>
            </a:pPr>
            <a:r>
              <a:rPr lang="en-US" kern="1200" dirty="0" smtClean="0">
                <a:ea typeface="+mn-ea"/>
                <a:cs typeface="+mn-cs"/>
              </a:rPr>
              <a:t>replace TELNET &amp; other insecure schemes</a:t>
            </a:r>
          </a:p>
          <a:p>
            <a:pPr lvl="1" eaLnBrk="1" hangingPunct="1">
              <a:buFont typeface="Wingdings" pitchFamily="-107" charset="2"/>
              <a:buChar char="l"/>
              <a:defRPr/>
            </a:pPr>
            <a:r>
              <a:rPr lang="en-US" kern="1200" dirty="0" smtClean="0">
                <a:ea typeface="+mn-ea"/>
                <a:cs typeface="+mn-cs"/>
              </a:rPr>
              <a:t>also has </a:t>
            </a:r>
            <a:r>
              <a:rPr lang="en-US" kern="1200" dirty="0" smtClean="0"/>
              <a:t>more general client/server capability</a:t>
            </a:r>
          </a:p>
          <a:p>
            <a:pPr eaLnBrk="1" hangingPunct="1">
              <a:buFont typeface="Wingdings" pitchFamily="-107" charset="2"/>
              <a:buChar char="Ø"/>
              <a:defRPr/>
            </a:pPr>
            <a:r>
              <a:rPr lang="en-US" kern="1200" dirty="0" smtClean="0"/>
              <a:t>SSH2 fixes a number of security flaws</a:t>
            </a:r>
          </a:p>
          <a:p>
            <a:pPr eaLnBrk="1" hangingPunct="1">
              <a:buFont typeface="Wingdings" pitchFamily="-107" charset="2"/>
              <a:buChar char="Ø"/>
              <a:defRPr/>
            </a:pPr>
            <a:r>
              <a:rPr lang="en-US" kern="1200" dirty="0" smtClean="0"/>
              <a:t>documented in </a:t>
            </a:r>
            <a:r>
              <a:rPr lang="en-US" kern="1200" dirty="0" err="1" smtClean="0"/>
              <a:t>RFCs</a:t>
            </a:r>
            <a:r>
              <a:rPr lang="en-US" kern="1200" dirty="0" smtClean="0"/>
              <a:t> 4250 through 4254</a:t>
            </a:r>
          </a:p>
          <a:p>
            <a:pPr eaLnBrk="1" hangingPunct="1">
              <a:buFont typeface="Wingdings" pitchFamily="-107" charset="2"/>
              <a:buChar char="Ø"/>
              <a:defRPr/>
            </a:pPr>
            <a:r>
              <a:rPr lang="en-US" kern="1200" dirty="0" smtClean="0"/>
              <a:t>SSH clients &amp; servers are widely available</a:t>
            </a:r>
          </a:p>
          <a:p>
            <a:pPr eaLnBrk="1" hangingPunct="1">
              <a:buFont typeface="Wingdings" pitchFamily="-107" charset="2"/>
              <a:buChar char="Ø"/>
              <a:defRPr/>
            </a:pPr>
            <a:r>
              <a:rPr lang="en-US" kern="1200" dirty="0" smtClean="0"/>
              <a:t>method of choice for remote login/ X tunnels</a:t>
            </a:r>
            <a:endParaRPr lang="en-US" dirty="0" smtClean="0"/>
          </a:p>
        </p:txBody>
      </p:sp>
    </p:spTree>
    <p:extLst>
      <p:ext uri="{BB962C8B-B14F-4D97-AF65-F5344CB8AC3E}">
        <p14:creationId xmlns:p14="http://schemas.microsoft.com/office/powerpoint/2010/main" val="11715809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39825"/>
          </a:xfrm>
        </p:spPr>
        <p:txBody>
          <a:bodyPr/>
          <a:lstStyle/>
          <a:p>
            <a:pPr eaLnBrk="1" hangingPunct="1">
              <a:defRPr/>
            </a:pPr>
            <a:r>
              <a:rPr lang="en-US" dirty="0" smtClean="0"/>
              <a:t>SSH Protocol Stack</a:t>
            </a:r>
          </a:p>
        </p:txBody>
      </p:sp>
      <p:pic>
        <p:nvPicPr>
          <p:cNvPr id="6451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95400"/>
            <a:ext cx="5295900" cy="53340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38420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39825"/>
          </a:xfrm>
        </p:spPr>
        <p:txBody>
          <a:bodyPr/>
          <a:lstStyle/>
          <a:p>
            <a:pPr eaLnBrk="1" hangingPunct="1">
              <a:defRPr/>
            </a:pPr>
            <a:r>
              <a:rPr lang="en-US" dirty="0" smtClean="0"/>
              <a:t>SSH Transport Layer Protocol</a:t>
            </a:r>
          </a:p>
        </p:txBody>
      </p:sp>
      <p:sp>
        <p:nvSpPr>
          <p:cNvPr id="66563" name="Content Placeholder 2"/>
          <p:cNvSpPr>
            <a:spLocks noGrp="1"/>
          </p:cNvSpPr>
          <p:nvPr>
            <p:ph idx="1"/>
          </p:nvPr>
        </p:nvSpPr>
        <p:spPr>
          <a:xfrm>
            <a:off x="457200" y="1219200"/>
            <a:ext cx="8229600" cy="5334000"/>
          </a:xfrm>
        </p:spPr>
        <p:txBody>
          <a:bodyPr/>
          <a:lstStyle/>
          <a:p>
            <a:pPr eaLnBrk="1" hangingPunct="1"/>
            <a:r>
              <a:rPr lang="en-US" altLang="en-US" smtClean="0">
                <a:ea typeface="ＭＳ Ｐゴシック" panose="020B0600070205080204" pitchFamily="34" charset="-128"/>
              </a:rPr>
              <a:t>server authentication occurs at transport layer, based on server/host key pair(s)</a:t>
            </a:r>
          </a:p>
          <a:p>
            <a:pPr lvl="1" eaLnBrk="1" hangingPunct="1"/>
            <a:r>
              <a:rPr lang="en-US" altLang="en-US" smtClean="0">
                <a:ea typeface="ＭＳ Ｐゴシック" panose="020B0600070205080204" pitchFamily="34" charset="-128"/>
              </a:rPr>
              <a:t>server authentication requires clients to know host keys in advance</a:t>
            </a:r>
          </a:p>
          <a:p>
            <a:pPr eaLnBrk="1" hangingPunct="1"/>
            <a:r>
              <a:rPr lang="en-US" altLang="en-US" smtClean="0">
                <a:ea typeface="ＭＳ Ｐゴシック" panose="020B0600070205080204" pitchFamily="34" charset="-128"/>
              </a:rPr>
              <a:t> packet exchange</a:t>
            </a:r>
          </a:p>
          <a:p>
            <a:pPr lvl="1" eaLnBrk="1" hangingPunct="1"/>
            <a:r>
              <a:rPr lang="en-US" altLang="en-US" smtClean="0">
                <a:ea typeface="ＭＳ Ｐゴシック" panose="020B0600070205080204" pitchFamily="34" charset="-128"/>
              </a:rPr>
              <a:t>establish TCP connection </a:t>
            </a:r>
          </a:p>
          <a:p>
            <a:pPr lvl="1" eaLnBrk="1" hangingPunct="1"/>
            <a:r>
              <a:rPr lang="en-US" altLang="en-US" smtClean="0">
                <a:ea typeface="ＭＳ Ｐゴシック" panose="020B0600070205080204" pitchFamily="34" charset="-128"/>
              </a:rPr>
              <a:t>can then exchange data</a:t>
            </a:r>
          </a:p>
          <a:p>
            <a:pPr lvl="2" eaLnBrk="1" hangingPunct="1"/>
            <a:r>
              <a:rPr lang="en-US" altLang="en-US" smtClean="0">
                <a:ea typeface="ＭＳ Ｐゴシック" panose="020B0600070205080204" pitchFamily="34" charset="-128"/>
              </a:rPr>
              <a:t>identification string exchange, algorithm negotiation, key exchange, end of key exchange, service request</a:t>
            </a:r>
          </a:p>
          <a:p>
            <a:pPr lvl="1" eaLnBrk="1" hangingPunct="1"/>
            <a:r>
              <a:rPr lang="en-US" altLang="en-US" smtClean="0">
                <a:ea typeface="ＭＳ Ｐゴシック" panose="020B0600070205080204" pitchFamily="34" charset="-128"/>
              </a:rPr>
              <a:t>using specified packet format</a:t>
            </a:r>
          </a:p>
          <a:p>
            <a:pPr lvl="1"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40931314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322387"/>
          </a:xfrm>
        </p:spPr>
        <p:txBody>
          <a:bodyPr/>
          <a:lstStyle/>
          <a:p>
            <a:pPr eaLnBrk="1" hangingPunct="1">
              <a:defRPr/>
            </a:pPr>
            <a:r>
              <a:rPr lang="en-US" dirty="0" smtClean="0"/>
              <a:t>SSH User Authentication Protocol</a:t>
            </a:r>
          </a:p>
        </p:txBody>
      </p:sp>
      <p:sp>
        <p:nvSpPr>
          <p:cNvPr id="3" name="Content Placeholder 2"/>
          <p:cNvSpPr>
            <a:spLocks noGrp="1"/>
          </p:cNvSpPr>
          <p:nvPr>
            <p:ph idx="1"/>
          </p:nvPr>
        </p:nvSpPr>
        <p:spPr>
          <a:xfrm>
            <a:off x="457200" y="1828800"/>
            <a:ext cx="8229600" cy="4648200"/>
          </a:xfrm>
        </p:spPr>
        <p:txBody>
          <a:bodyPr/>
          <a:lstStyle/>
          <a:p>
            <a:pPr eaLnBrk="1" hangingPunct="1">
              <a:buFont typeface="Wingdings" pitchFamily="-107" charset="2"/>
              <a:buChar char="Ø"/>
              <a:defRPr/>
            </a:pPr>
            <a:r>
              <a:rPr lang="en-US" kern="1200" dirty="0" smtClean="0"/>
              <a:t>authenticates client to server</a:t>
            </a:r>
          </a:p>
          <a:p>
            <a:pPr eaLnBrk="1" hangingPunct="1">
              <a:buFont typeface="Wingdings" pitchFamily="-107" charset="2"/>
              <a:buChar char="Ø"/>
              <a:defRPr/>
            </a:pPr>
            <a:r>
              <a:rPr lang="en-US" kern="1200" dirty="0" smtClean="0"/>
              <a:t>three message types:</a:t>
            </a:r>
          </a:p>
          <a:p>
            <a:pPr lvl="1" eaLnBrk="1" hangingPunct="1">
              <a:buFont typeface="Wingdings" pitchFamily="-107" charset="2"/>
              <a:buChar char="l"/>
              <a:defRPr/>
            </a:pPr>
            <a:r>
              <a:rPr lang="en-US" kern="1200" dirty="0" smtClean="0"/>
              <a:t>SSH_MSG_USERAUTH_REQUEST</a:t>
            </a:r>
          </a:p>
          <a:p>
            <a:pPr lvl="1" eaLnBrk="1" hangingPunct="1">
              <a:buFont typeface="Wingdings" pitchFamily="-107" charset="2"/>
              <a:buChar char="l"/>
              <a:defRPr/>
            </a:pPr>
            <a:r>
              <a:rPr lang="en-US" kern="1200" dirty="0" smtClean="0"/>
              <a:t>SSH_MSG_USERAUTH_FAILURE </a:t>
            </a:r>
          </a:p>
          <a:p>
            <a:pPr lvl="1" eaLnBrk="1" hangingPunct="1">
              <a:buFont typeface="Wingdings" pitchFamily="-107" charset="2"/>
              <a:buChar char="l"/>
              <a:defRPr/>
            </a:pPr>
            <a:r>
              <a:rPr lang="en-US" kern="1200" dirty="0" smtClean="0"/>
              <a:t>SSH_MSG_USERAUTH_SUCCESS</a:t>
            </a:r>
          </a:p>
          <a:p>
            <a:pPr eaLnBrk="1" hangingPunct="1">
              <a:buFont typeface="Wingdings" pitchFamily="-107" charset="2"/>
              <a:buChar char="Ø"/>
              <a:defRPr/>
            </a:pPr>
            <a:r>
              <a:rPr lang="en-US" kern="1200" dirty="0" smtClean="0"/>
              <a:t>authentication methods used</a:t>
            </a:r>
          </a:p>
          <a:p>
            <a:pPr lvl="1" eaLnBrk="1" hangingPunct="1">
              <a:buFont typeface="Wingdings" pitchFamily="-107" charset="2"/>
              <a:buChar char="l"/>
              <a:defRPr/>
            </a:pPr>
            <a:r>
              <a:rPr lang="en-US" kern="1200" dirty="0" smtClean="0">
                <a:ea typeface="+mn-ea"/>
                <a:cs typeface="+mn-cs"/>
              </a:rPr>
              <a:t>public-key, password, host-based</a:t>
            </a:r>
            <a:endParaRPr lang="en-US" dirty="0" smtClean="0"/>
          </a:p>
        </p:txBody>
      </p:sp>
    </p:spTree>
    <p:extLst>
      <p:ext uri="{BB962C8B-B14F-4D97-AF65-F5344CB8AC3E}">
        <p14:creationId xmlns:p14="http://schemas.microsoft.com/office/powerpoint/2010/main" val="398864575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39825"/>
          </a:xfrm>
        </p:spPr>
        <p:txBody>
          <a:bodyPr/>
          <a:lstStyle/>
          <a:p>
            <a:pPr eaLnBrk="1" hangingPunct="1">
              <a:defRPr/>
            </a:pPr>
            <a:r>
              <a:rPr lang="en-US" dirty="0" smtClean="0"/>
              <a:t>SSH Connection Protocol</a:t>
            </a:r>
          </a:p>
        </p:txBody>
      </p:sp>
      <p:sp>
        <p:nvSpPr>
          <p:cNvPr id="70659" name="Content Placeholder 2"/>
          <p:cNvSpPr>
            <a:spLocks noGrp="1"/>
          </p:cNvSpPr>
          <p:nvPr>
            <p:ph idx="1"/>
          </p:nvPr>
        </p:nvSpPr>
        <p:spPr>
          <a:xfrm>
            <a:off x="457200" y="1219200"/>
            <a:ext cx="8229600" cy="5257800"/>
          </a:xfrm>
        </p:spPr>
        <p:txBody>
          <a:bodyPr/>
          <a:lstStyle/>
          <a:p>
            <a:pPr eaLnBrk="1" hangingPunct="1"/>
            <a:r>
              <a:rPr lang="en-US" altLang="en-US" smtClean="0">
                <a:ea typeface="ＭＳ Ｐゴシック" panose="020B0600070205080204" pitchFamily="34" charset="-128"/>
              </a:rPr>
              <a:t>runs on SSH Transport Layer Protocol</a:t>
            </a:r>
          </a:p>
          <a:p>
            <a:pPr eaLnBrk="1" hangingPunct="1"/>
            <a:r>
              <a:rPr lang="en-US" altLang="en-US" smtClean="0">
                <a:ea typeface="ＭＳ Ｐゴシック" panose="020B0600070205080204" pitchFamily="34" charset="-128"/>
              </a:rPr>
              <a:t>assumes secure authentication connection</a:t>
            </a:r>
          </a:p>
          <a:p>
            <a:pPr eaLnBrk="1" hangingPunct="1"/>
            <a:r>
              <a:rPr lang="en-US" altLang="en-US" smtClean="0">
                <a:ea typeface="ＭＳ Ｐゴシック" panose="020B0600070205080204" pitchFamily="34" charset="-128"/>
              </a:rPr>
              <a:t>used for multiple logical channels</a:t>
            </a:r>
          </a:p>
          <a:p>
            <a:pPr lvl="1" eaLnBrk="1" hangingPunct="1"/>
            <a:r>
              <a:rPr lang="en-US" altLang="en-US" smtClean="0">
                <a:ea typeface="ＭＳ Ｐゴシック" panose="020B0600070205080204" pitchFamily="34" charset="-128"/>
              </a:rPr>
              <a:t>SSH communications use separate channels</a:t>
            </a:r>
          </a:p>
          <a:p>
            <a:pPr lvl="1" eaLnBrk="1" hangingPunct="1"/>
            <a:r>
              <a:rPr lang="en-US" altLang="en-US" smtClean="0">
                <a:ea typeface="ＭＳ Ｐゴシック" panose="020B0600070205080204" pitchFamily="34" charset="-128"/>
              </a:rPr>
              <a:t>either side can open with unique id number</a:t>
            </a:r>
          </a:p>
          <a:p>
            <a:pPr lvl="1" eaLnBrk="1" hangingPunct="1"/>
            <a:r>
              <a:rPr lang="en-US" altLang="en-US" smtClean="0">
                <a:ea typeface="ＭＳ Ｐゴシック" panose="020B0600070205080204" pitchFamily="34" charset="-128"/>
              </a:rPr>
              <a:t>flow controlled</a:t>
            </a:r>
          </a:p>
          <a:p>
            <a:pPr lvl="1" eaLnBrk="1" hangingPunct="1"/>
            <a:r>
              <a:rPr lang="en-US" altLang="en-US" smtClean="0">
                <a:ea typeface="ＭＳ Ｐゴシック" panose="020B0600070205080204" pitchFamily="34" charset="-128"/>
              </a:rPr>
              <a:t>have three stages:</a:t>
            </a:r>
          </a:p>
          <a:p>
            <a:pPr lvl="2" eaLnBrk="1" hangingPunct="1"/>
            <a:r>
              <a:rPr lang="en-US" altLang="en-US" smtClean="0">
                <a:ea typeface="ＭＳ Ｐゴシック" panose="020B0600070205080204" pitchFamily="34" charset="-128"/>
              </a:rPr>
              <a:t>opening a channel, data transfer, closing a channel</a:t>
            </a:r>
          </a:p>
          <a:p>
            <a:pPr lvl="1" eaLnBrk="1" hangingPunct="1"/>
            <a:r>
              <a:rPr lang="en-US" altLang="en-US" smtClean="0">
                <a:ea typeface="ＭＳ Ｐゴシック" panose="020B0600070205080204" pitchFamily="34" charset="-128"/>
              </a:rPr>
              <a:t>four types:</a:t>
            </a:r>
          </a:p>
          <a:p>
            <a:pPr lvl="2" eaLnBrk="1" hangingPunct="1"/>
            <a:r>
              <a:rPr lang="en-US" altLang="en-US" smtClean="0">
                <a:ea typeface="ＭＳ Ｐゴシック" panose="020B0600070205080204" pitchFamily="34" charset="-128"/>
              </a:rPr>
              <a:t>session, x11, forwarded-tcpip, direct-tcpip.</a:t>
            </a:r>
          </a:p>
          <a:p>
            <a:pPr lvl="2"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38321614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82" y="1732843"/>
            <a:ext cx="3352800" cy="4492352"/>
          </a:xfrm>
        </p:spPr>
        <p:txBody>
          <a:bodyPr/>
          <a:lstStyle/>
          <a:p>
            <a:pPr eaLnBrk="1" hangingPunct="1">
              <a:defRPr/>
            </a:pPr>
            <a:r>
              <a:rPr lang="en-US" dirty="0" smtClean="0"/>
              <a:t>SSH Connection Protocol Exchange</a:t>
            </a:r>
          </a:p>
        </p:txBody>
      </p:sp>
      <p:pic>
        <p:nvPicPr>
          <p:cNvPr id="7270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412776"/>
            <a:ext cx="5132388" cy="5132487"/>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56642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a:xfrm>
            <a:off x="685800" y="457200"/>
            <a:ext cx="4876800" cy="1143000"/>
          </a:xfrm>
        </p:spPr>
        <p:txBody>
          <a:bodyPr/>
          <a:lstStyle/>
          <a:p>
            <a:pPr eaLnBrk="1" hangingPunct="1">
              <a:defRPr/>
            </a:pPr>
            <a:r>
              <a:rPr lang="en-US" smtClean="0"/>
              <a:t>SSL Delay</a:t>
            </a:r>
          </a:p>
        </p:txBody>
      </p:sp>
      <p:sp>
        <p:nvSpPr>
          <p:cNvPr id="74756" name="Rectangle 5"/>
          <p:cNvSpPr>
            <a:spLocks noGrp="1" noChangeArrowheads="1"/>
          </p:cNvSpPr>
          <p:nvPr>
            <p:ph type="body" idx="1"/>
          </p:nvPr>
        </p:nvSpPr>
        <p:spPr>
          <a:xfrm>
            <a:off x="685800" y="1676400"/>
            <a:ext cx="7772400" cy="4114800"/>
          </a:xfrm>
          <a:noFill/>
        </p:spPr>
        <p:txBody>
          <a:bodyPr>
            <a:normAutofit lnSpcReduction="10000"/>
          </a:bodyPr>
          <a:lstStyle/>
          <a:p>
            <a:pPr eaLnBrk="1" hangingPunct="1"/>
            <a:r>
              <a:rPr lang="en-US" altLang="en-US" smtClean="0"/>
              <a:t>Slower than a TCP session (2-10 times)</a:t>
            </a:r>
          </a:p>
          <a:p>
            <a:pPr eaLnBrk="1" hangingPunct="1"/>
            <a:r>
              <a:rPr lang="en-US" altLang="en-US" smtClean="0"/>
              <a:t>Causes:</a:t>
            </a:r>
          </a:p>
          <a:p>
            <a:pPr lvl="1" eaLnBrk="1" hangingPunct="1"/>
            <a:r>
              <a:rPr lang="en-US" altLang="en-US" smtClean="0"/>
              <a:t>Handshake phase</a:t>
            </a:r>
          </a:p>
          <a:p>
            <a:pPr lvl="2" eaLnBrk="1" hangingPunct="1"/>
            <a:r>
              <a:rPr lang="en-US" altLang="en-US" smtClean="0"/>
              <a:t>Client does public-key encryption</a:t>
            </a:r>
          </a:p>
          <a:p>
            <a:pPr lvl="2" eaLnBrk="1" hangingPunct="1"/>
            <a:r>
              <a:rPr lang="en-US" altLang="en-US" smtClean="0"/>
              <a:t>Server does private-key encryption (still public-key cryptography)</a:t>
            </a:r>
          </a:p>
          <a:p>
            <a:pPr lvl="2" eaLnBrk="1" hangingPunct="1"/>
            <a:r>
              <a:rPr lang="en-US" altLang="en-US" smtClean="0"/>
              <a:t>Usually clients have to wait on servers to finish</a:t>
            </a:r>
          </a:p>
          <a:p>
            <a:pPr lvl="1" eaLnBrk="1" hangingPunct="1"/>
            <a:r>
              <a:rPr lang="en-US" altLang="en-US" smtClean="0"/>
              <a:t>Data Transfer phase</a:t>
            </a:r>
          </a:p>
          <a:p>
            <a:pPr lvl="2" eaLnBrk="1" hangingPunct="1"/>
            <a:r>
              <a:rPr lang="en-US" altLang="en-US" smtClean="0"/>
              <a:t>Symmetric key encryption</a:t>
            </a:r>
          </a:p>
        </p:txBody>
      </p:sp>
    </p:spTree>
    <p:extLst>
      <p:ext uri="{BB962C8B-B14F-4D97-AF65-F5344CB8AC3E}">
        <p14:creationId xmlns:p14="http://schemas.microsoft.com/office/powerpoint/2010/main" val="29283720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t>SSL testing criteria</a:t>
            </a:r>
            <a:br>
              <a:rPr lang="en-US" b="1" dirty="0" smtClean="0"/>
            </a:br>
            <a:r>
              <a:rPr lang="en-US" sz="2000" b="1" dirty="0" smtClean="0">
                <a:hlinkClick r:id="rId2"/>
              </a:rPr>
              <a:t>https://www.owasp.org/index.php/Testing_for_SSL-TLS_%28OWASP-CM-001%29</a:t>
            </a:r>
            <a:r>
              <a:rPr lang="en-US" sz="2000" b="1" dirty="0" smtClean="0"/>
              <a:t> </a:t>
            </a:r>
            <a:endParaRPr lang="en-US" sz="2000" dirty="0"/>
          </a:p>
        </p:txBody>
      </p:sp>
      <p:sp>
        <p:nvSpPr>
          <p:cNvPr id="75779" name="Content Placeholder 2"/>
          <p:cNvSpPr>
            <a:spLocks noGrp="1"/>
          </p:cNvSpPr>
          <p:nvPr>
            <p:ph idx="1"/>
          </p:nvPr>
        </p:nvSpPr>
        <p:spPr/>
        <p:txBody>
          <a:bodyPr/>
          <a:lstStyle/>
          <a:p>
            <a:pPr>
              <a:buFont typeface="Wingdings" panose="05000000000000000000" pitchFamily="2" charset="2"/>
              <a:buNone/>
            </a:pPr>
            <a:r>
              <a:rPr lang="en-US" altLang="en-US" sz="2400" smtClean="0"/>
              <a:t>Minimum checklist: </a:t>
            </a:r>
          </a:p>
          <a:p>
            <a:r>
              <a:rPr lang="en-US" altLang="en-US" sz="2400" smtClean="0"/>
              <a:t>SSLv2, due to known weaknesses in protocol design </a:t>
            </a:r>
          </a:p>
          <a:p>
            <a:r>
              <a:rPr lang="en-US" altLang="en-US" sz="2400" smtClean="0"/>
              <a:t>Export (EXP) level cipher suites in SSLv3 </a:t>
            </a:r>
          </a:p>
          <a:p>
            <a:r>
              <a:rPr lang="en-US" altLang="en-US" sz="2400" smtClean="0"/>
              <a:t>Cipher suites with symmetric encryption algorithm smaller than 128 bits </a:t>
            </a:r>
          </a:p>
          <a:p>
            <a:r>
              <a:rPr lang="en-US" altLang="en-US" sz="2400" smtClean="0"/>
              <a:t>X.509 certificates with RSA or DSA key smaller than 1024 bits </a:t>
            </a:r>
          </a:p>
          <a:p>
            <a:r>
              <a:rPr lang="en-US" altLang="en-US" sz="2400" smtClean="0"/>
              <a:t>X.509 certificates signed using MD5 hash, due to known collision attacks on this hash </a:t>
            </a:r>
          </a:p>
          <a:p>
            <a:r>
              <a:rPr lang="en-US" altLang="en-US" sz="2400" smtClean="0"/>
              <a:t>TLS Renegotiation vulnerability – patch available</a:t>
            </a:r>
          </a:p>
          <a:p>
            <a:pPr>
              <a:buFont typeface="Wingdings" panose="05000000000000000000" pitchFamily="2" charset="2"/>
              <a:buNone/>
            </a:pPr>
            <a:endParaRPr lang="en-US" altLang="en-US" sz="2400" smtClean="0"/>
          </a:p>
        </p:txBody>
      </p:sp>
    </p:spTree>
    <p:extLst>
      <p:ext uri="{BB962C8B-B14F-4D97-AF65-F5344CB8AC3E}">
        <p14:creationId xmlns:p14="http://schemas.microsoft.com/office/powerpoint/2010/main" val="391349643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4322" name="Rectangle 2"/>
          <p:cNvSpPr>
            <a:spLocks noGrp="1" noChangeArrowheads="1"/>
          </p:cNvSpPr>
          <p:nvPr>
            <p:ph type="title"/>
          </p:nvPr>
        </p:nvSpPr>
        <p:spPr/>
        <p:txBody>
          <a:bodyPr/>
          <a:lstStyle/>
          <a:p>
            <a:pPr>
              <a:defRPr/>
            </a:pPr>
            <a:r>
              <a:rPr lang="de-CH" dirty="0"/>
              <a:t>TLS Session </a:t>
            </a:r>
            <a:r>
              <a:rPr lang="de-CH" dirty="0" err="1"/>
              <a:t>Example</a:t>
            </a:r>
            <a:endParaRPr lang="de-DE" dirty="0"/>
          </a:p>
        </p:txBody>
      </p:sp>
      <p:sp>
        <p:nvSpPr>
          <p:cNvPr id="824324" name="Rectangle 4"/>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p>
        </p:txBody>
      </p:sp>
      <p:pic>
        <p:nvPicPr>
          <p:cNvPr id="76804"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981075"/>
            <a:ext cx="8397875"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824337"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981075"/>
            <a:ext cx="8397875"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824338"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2276475"/>
            <a:ext cx="4752975"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1423109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24337"/>
                                        </p:tgtEl>
                                        <p:attrNameLst>
                                          <p:attrName>style.visibility</p:attrName>
                                        </p:attrNameLst>
                                      </p:cBhvr>
                                      <p:to>
                                        <p:strVal val="visible"/>
                                      </p:to>
                                    </p:set>
                                    <p:animEffect transition="in" filter="wipe(up)">
                                      <p:cBhvr>
                                        <p:cTn id="7" dur="500"/>
                                        <p:tgtEl>
                                          <p:spTgt spid="8243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24338"/>
                                        </p:tgtEl>
                                        <p:attrNameLst>
                                          <p:attrName>style.visibility</p:attrName>
                                        </p:attrNameLst>
                                      </p:cBhvr>
                                      <p:to>
                                        <p:strVal val="visible"/>
                                      </p:to>
                                    </p:set>
                                    <p:animEffect transition="in" filter="wipe(up)">
                                      <p:cBhvr>
                                        <p:cTn id="12" dur="500"/>
                                        <p:tgtEl>
                                          <p:spTgt spid="824338"/>
                                        </p:tgtEl>
                                      </p:cBhvr>
                                    </p:animEffec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824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a:xfrm>
            <a:off x="457200" y="246063"/>
            <a:ext cx="7772400" cy="1143000"/>
          </a:xfrm>
        </p:spPr>
        <p:txBody>
          <a:bodyPr/>
          <a:lstStyle/>
          <a:p>
            <a:pPr>
              <a:defRPr/>
            </a:pPr>
            <a:r>
              <a:rPr lang="de-DE" dirty="0"/>
              <a:t>Secure Network Protocols for the OSI Stack</a:t>
            </a:r>
          </a:p>
        </p:txBody>
      </p:sp>
      <p:sp>
        <p:nvSpPr>
          <p:cNvPr id="791555" name="Rectangle 3"/>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p>
        </p:txBody>
      </p:sp>
      <p:grpSp>
        <p:nvGrpSpPr>
          <p:cNvPr id="78852" name="Group 4"/>
          <p:cNvGrpSpPr>
            <a:grpSpLocks/>
          </p:cNvGrpSpPr>
          <p:nvPr/>
        </p:nvGrpSpPr>
        <p:grpSpPr bwMode="auto">
          <a:xfrm>
            <a:off x="876300" y="1843088"/>
            <a:ext cx="7086600" cy="3948112"/>
            <a:chOff x="384" y="731"/>
            <a:chExt cx="4906" cy="2917"/>
          </a:xfrm>
        </p:grpSpPr>
        <p:grpSp>
          <p:nvGrpSpPr>
            <p:cNvPr id="78856" name="Group 5"/>
            <p:cNvGrpSpPr>
              <a:grpSpLocks/>
            </p:cNvGrpSpPr>
            <p:nvPr/>
          </p:nvGrpSpPr>
          <p:grpSpPr bwMode="auto">
            <a:xfrm>
              <a:off x="384" y="1256"/>
              <a:ext cx="4800" cy="472"/>
              <a:chOff x="480" y="1496"/>
              <a:chExt cx="4800" cy="459"/>
            </a:xfrm>
          </p:grpSpPr>
          <p:sp>
            <p:nvSpPr>
              <p:cNvPr id="78872" name="Rectangle 6"/>
              <p:cNvSpPr>
                <a:spLocks noChangeArrowheads="1"/>
              </p:cNvSpPr>
              <p:nvPr/>
            </p:nvSpPr>
            <p:spPr bwMode="auto">
              <a:xfrm>
                <a:off x="480" y="1496"/>
                <a:ext cx="1872" cy="459"/>
              </a:xfrm>
              <a:prstGeom prst="rect">
                <a:avLst/>
              </a:prstGeom>
              <a:solidFill>
                <a:srgbClr val="99CC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Application layer</a:t>
                </a:r>
              </a:p>
            </p:txBody>
          </p:sp>
          <p:sp>
            <p:nvSpPr>
              <p:cNvPr id="78873" name="Rectangle 7"/>
              <p:cNvSpPr>
                <a:spLocks noChangeArrowheads="1"/>
              </p:cNvSpPr>
              <p:nvPr/>
            </p:nvSpPr>
            <p:spPr bwMode="auto">
              <a:xfrm>
                <a:off x="2352" y="1496"/>
                <a:ext cx="2928" cy="459"/>
              </a:xfrm>
              <a:prstGeom prst="rect">
                <a:avLst/>
              </a:prstGeom>
              <a:solidFill>
                <a:srgbClr val="99CCFF"/>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ssh, S/MIME, PGP, Kerberos, WSS</a:t>
                </a:r>
              </a:p>
            </p:txBody>
          </p:sp>
        </p:grpSp>
        <p:grpSp>
          <p:nvGrpSpPr>
            <p:cNvPr id="78857" name="Group 8"/>
            <p:cNvGrpSpPr>
              <a:grpSpLocks/>
            </p:cNvGrpSpPr>
            <p:nvPr/>
          </p:nvGrpSpPr>
          <p:grpSpPr bwMode="auto">
            <a:xfrm>
              <a:off x="384" y="1728"/>
              <a:ext cx="4800" cy="480"/>
              <a:chOff x="480" y="1955"/>
              <a:chExt cx="4800" cy="459"/>
            </a:xfrm>
          </p:grpSpPr>
          <p:sp>
            <p:nvSpPr>
              <p:cNvPr id="78870" name="Rectangle 9"/>
              <p:cNvSpPr>
                <a:spLocks noChangeArrowheads="1"/>
              </p:cNvSpPr>
              <p:nvPr/>
            </p:nvSpPr>
            <p:spPr bwMode="auto">
              <a:xfrm>
                <a:off x="480" y="1955"/>
                <a:ext cx="1872" cy="459"/>
              </a:xfrm>
              <a:prstGeom prst="rect">
                <a:avLst/>
              </a:prstGeom>
              <a:solidFill>
                <a:srgbClr val="CC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Transport layer</a:t>
                </a:r>
              </a:p>
            </p:txBody>
          </p:sp>
          <p:sp>
            <p:nvSpPr>
              <p:cNvPr id="78871" name="Rectangle 10"/>
              <p:cNvSpPr>
                <a:spLocks noChangeArrowheads="1"/>
              </p:cNvSpPr>
              <p:nvPr/>
            </p:nvSpPr>
            <p:spPr bwMode="auto">
              <a:xfrm>
                <a:off x="2352" y="1955"/>
                <a:ext cx="2928" cy="459"/>
              </a:xfrm>
              <a:prstGeom prst="rect">
                <a:avLst/>
              </a:prstGeom>
              <a:solidFill>
                <a:srgbClr val="CC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TLS, [SSL]</a:t>
                </a:r>
              </a:p>
            </p:txBody>
          </p:sp>
        </p:grpSp>
        <p:grpSp>
          <p:nvGrpSpPr>
            <p:cNvPr id="78858" name="Group 11"/>
            <p:cNvGrpSpPr>
              <a:grpSpLocks/>
            </p:cNvGrpSpPr>
            <p:nvPr/>
          </p:nvGrpSpPr>
          <p:grpSpPr bwMode="auto">
            <a:xfrm>
              <a:off x="384" y="2208"/>
              <a:ext cx="4800" cy="480"/>
              <a:chOff x="528" y="2462"/>
              <a:chExt cx="4800" cy="460"/>
            </a:xfrm>
          </p:grpSpPr>
          <p:sp>
            <p:nvSpPr>
              <p:cNvPr id="78868" name="Rectangle 12"/>
              <p:cNvSpPr>
                <a:spLocks noChangeArrowheads="1"/>
              </p:cNvSpPr>
              <p:nvPr/>
            </p:nvSpPr>
            <p:spPr bwMode="auto">
              <a:xfrm>
                <a:off x="528" y="2462"/>
                <a:ext cx="1872" cy="460"/>
              </a:xfrm>
              <a:prstGeom prst="rect">
                <a:avLst/>
              </a:prstGeom>
              <a:solidFill>
                <a:srgbClr val="CC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Network layer</a:t>
                </a:r>
              </a:p>
            </p:txBody>
          </p:sp>
          <p:sp>
            <p:nvSpPr>
              <p:cNvPr id="78869" name="Rectangle 13"/>
              <p:cNvSpPr>
                <a:spLocks noChangeArrowheads="1"/>
              </p:cNvSpPr>
              <p:nvPr/>
            </p:nvSpPr>
            <p:spPr bwMode="auto">
              <a:xfrm>
                <a:off x="2400" y="2462"/>
                <a:ext cx="2928" cy="460"/>
              </a:xfrm>
              <a:prstGeom prst="rect">
                <a:avLst/>
              </a:prstGeom>
              <a:solidFill>
                <a:srgbClr val="CCFF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IPsec</a:t>
                </a:r>
              </a:p>
            </p:txBody>
          </p:sp>
        </p:grpSp>
        <p:grpSp>
          <p:nvGrpSpPr>
            <p:cNvPr id="78859" name="Group 14"/>
            <p:cNvGrpSpPr>
              <a:grpSpLocks/>
            </p:cNvGrpSpPr>
            <p:nvPr/>
          </p:nvGrpSpPr>
          <p:grpSpPr bwMode="auto">
            <a:xfrm>
              <a:off x="384" y="2688"/>
              <a:ext cx="4800" cy="486"/>
              <a:chOff x="480" y="2874"/>
              <a:chExt cx="4800" cy="459"/>
            </a:xfrm>
          </p:grpSpPr>
          <p:sp>
            <p:nvSpPr>
              <p:cNvPr id="78866" name="Rectangle 15"/>
              <p:cNvSpPr>
                <a:spLocks noChangeArrowheads="1"/>
              </p:cNvSpPr>
              <p:nvPr/>
            </p:nvSpPr>
            <p:spPr bwMode="auto">
              <a:xfrm>
                <a:off x="480" y="2874"/>
                <a:ext cx="1872" cy="459"/>
              </a:xfrm>
              <a:prstGeom prst="rect">
                <a:avLst/>
              </a:prstGeom>
              <a:solidFill>
                <a:srgbClr val="FFCC99"/>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Data Link layer</a:t>
                </a:r>
              </a:p>
            </p:txBody>
          </p:sp>
          <p:sp>
            <p:nvSpPr>
              <p:cNvPr id="78867" name="Rectangle 16"/>
              <p:cNvSpPr>
                <a:spLocks noChangeArrowheads="1"/>
              </p:cNvSpPr>
              <p:nvPr/>
            </p:nvSpPr>
            <p:spPr bwMode="auto">
              <a:xfrm>
                <a:off x="2352" y="2874"/>
                <a:ext cx="2928" cy="459"/>
              </a:xfrm>
              <a:prstGeom prst="rect">
                <a:avLst/>
              </a:prstGeom>
              <a:solidFill>
                <a:srgbClr val="FFCC99"/>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[PPTP, L2TP], IEEE 802.1X,</a:t>
                </a:r>
                <a:br>
                  <a:rPr lang="de-DE" altLang="en-US" sz="2200">
                    <a:solidFill>
                      <a:srgbClr val="FF0000"/>
                    </a:solidFill>
                  </a:rPr>
                </a:br>
                <a:r>
                  <a:rPr lang="de-DE" altLang="en-US" sz="2200">
                    <a:solidFill>
                      <a:srgbClr val="FF0000"/>
                    </a:solidFill>
                  </a:rPr>
                  <a:t>IEEE 802.1AE, IEEE 802.11i (WPA2)</a:t>
                </a:r>
              </a:p>
            </p:txBody>
          </p:sp>
        </p:grpSp>
        <p:grpSp>
          <p:nvGrpSpPr>
            <p:cNvPr id="78860" name="Group 17"/>
            <p:cNvGrpSpPr>
              <a:grpSpLocks/>
            </p:cNvGrpSpPr>
            <p:nvPr/>
          </p:nvGrpSpPr>
          <p:grpSpPr bwMode="auto">
            <a:xfrm>
              <a:off x="384" y="3168"/>
              <a:ext cx="4800" cy="480"/>
              <a:chOff x="480" y="3333"/>
              <a:chExt cx="4800" cy="459"/>
            </a:xfrm>
          </p:grpSpPr>
          <p:sp>
            <p:nvSpPr>
              <p:cNvPr id="78864" name="Rectangle 18"/>
              <p:cNvSpPr>
                <a:spLocks noChangeArrowheads="1"/>
              </p:cNvSpPr>
              <p:nvPr/>
            </p:nvSpPr>
            <p:spPr bwMode="auto">
              <a:xfrm>
                <a:off x="480" y="3333"/>
                <a:ext cx="1872" cy="459"/>
              </a:xfrm>
              <a:prstGeom prst="rect">
                <a:avLst/>
              </a:prstGeom>
              <a:solidFill>
                <a:srgbClr val="FF99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Physical layer</a:t>
                </a:r>
              </a:p>
            </p:txBody>
          </p:sp>
          <p:sp>
            <p:nvSpPr>
              <p:cNvPr id="78865" name="Rectangle 19"/>
              <p:cNvSpPr>
                <a:spLocks noChangeArrowheads="1"/>
              </p:cNvSpPr>
              <p:nvPr/>
            </p:nvSpPr>
            <p:spPr bwMode="auto">
              <a:xfrm>
                <a:off x="2352" y="3333"/>
                <a:ext cx="2928" cy="459"/>
              </a:xfrm>
              <a:prstGeom prst="rect">
                <a:avLst/>
              </a:prstGeom>
              <a:solidFill>
                <a:srgbClr val="FF99CC"/>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Quantum Cryptography</a:t>
                </a:r>
              </a:p>
            </p:txBody>
          </p:sp>
        </p:grpSp>
        <p:grpSp>
          <p:nvGrpSpPr>
            <p:cNvPr id="78861" name="Group 20"/>
            <p:cNvGrpSpPr>
              <a:grpSpLocks/>
            </p:cNvGrpSpPr>
            <p:nvPr/>
          </p:nvGrpSpPr>
          <p:grpSpPr bwMode="auto">
            <a:xfrm>
              <a:off x="384" y="731"/>
              <a:ext cx="4906" cy="351"/>
              <a:chOff x="480" y="975"/>
              <a:chExt cx="4906" cy="459"/>
            </a:xfrm>
          </p:grpSpPr>
          <p:sp>
            <p:nvSpPr>
              <p:cNvPr id="78862" name="Rectangle 21"/>
              <p:cNvSpPr>
                <a:spLocks noChangeArrowheads="1"/>
              </p:cNvSpPr>
              <p:nvPr/>
            </p:nvSpPr>
            <p:spPr bwMode="auto">
              <a:xfrm>
                <a:off x="480" y="975"/>
                <a:ext cx="1978" cy="459"/>
              </a:xfrm>
              <a:prstGeom prst="rect">
                <a:avLst/>
              </a:prstGeom>
              <a:solidFill>
                <a:srgbClr val="FFFF99"/>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Communication layers</a:t>
                </a:r>
              </a:p>
            </p:txBody>
          </p:sp>
          <p:sp>
            <p:nvSpPr>
              <p:cNvPr id="78863" name="Rectangle 22"/>
              <p:cNvSpPr>
                <a:spLocks noChangeArrowheads="1"/>
              </p:cNvSpPr>
              <p:nvPr/>
            </p:nvSpPr>
            <p:spPr bwMode="auto">
              <a:xfrm>
                <a:off x="2458" y="975"/>
                <a:ext cx="2928" cy="459"/>
              </a:xfrm>
              <a:prstGeom prst="rect">
                <a:avLst/>
              </a:prstGeom>
              <a:solidFill>
                <a:srgbClr val="FFFF99"/>
              </a:solidFill>
              <a:ln w="9525">
                <a:solidFill>
                  <a:srgbClr val="000000"/>
                </a:solidFill>
                <a:miter lim="800000"/>
                <a:headEnd/>
                <a:tailEnd/>
              </a:ln>
            </p:spPr>
            <p:txBody>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2200">
                    <a:solidFill>
                      <a:srgbClr val="FF0000"/>
                    </a:solidFill>
                  </a:rPr>
                  <a:t>Security protocols</a:t>
                </a:r>
              </a:p>
            </p:txBody>
          </p:sp>
        </p:grpSp>
      </p:grpSp>
      <p:sp>
        <p:nvSpPr>
          <p:cNvPr id="78853" name="Rectangle 23"/>
          <p:cNvSpPr>
            <a:spLocks noChangeArrowheads="1"/>
          </p:cNvSpPr>
          <p:nvPr/>
        </p:nvSpPr>
        <p:spPr bwMode="auto">
          <a:xfrm>
            <a:off x="990600" y="3024188"/>
            <a:ext cx="6248400" cy="838200"/>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p>
        </p:txBody>
      </p:sp>
    </p:spTree>
    <p:extLst>
      <p:ext uri="{BB962C8B-B14F-4D97-AF65-F5344CB8AC3E}">
        <p14:creationId xmlns:p14="http://schemas.microsoft.com/office/powerpoint/2010/main" val="2157827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791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55"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5890" name="Rectangle 2"/>
          <p:cNvSpPr>
            <a:spLocks noGrp="1" noChangeArrowheads="1"/>
          </p:cNvSpPr>
          <p:nvPr>
            <p:ph type="title"/>
          </p:nvPr>
        </p:nvSpPr>
        <p:spPr>
          <a:xfrm>
            <a:off x="304800" y="171450"/>
            <a:ext cx="7772400" cy="1143000"/>
          </a:xfrm>
        </p:spPr>
        <p:txBody>
          <a:bodyPr/>
          <a:lstStyle/>
          <a:p>
            <a:pPr>
              <a:defRPr/>
            </a:pPr>
            <a:r>
              <a:rPr lang="de-DE" dirty="0" smtClean="0">
                <a:solidFill>
                  <a:srgbClr val="FF0000"/>
                </a:solidFill>
              </a:rPr>
              <a:t>TLS/SSL </a:t>
            </a:r>
            <a:r>
              <a:rPr lang="de-DE" dirty="0">
                <a:solidFill>
                  <a:srgbClr val="FF0000"/>
                </a:solidFill>
              </a:rPr>
              <a:t>Protocol </a:t>
            </a:r>
            <a:r>
              <a:rPr lang="de-DE" dirty="0" err="1">
                <a:solidFill>
                  <a:srgbClr val="FF0000"/>
                </a:solidFill>
              </a:rPr>
              <a:t>Layers</a:t>
            </a:r>
            <a:endParaRPr lang="de-DE" dirty="0">
              <a:solidFill>
                <a:srgbClr val="FF0000"/>
              </a:solidFill>
            </a:endParaRPr>
          </a:p>
        </p:txBody>
      </p:sp>
      <p:grpSp>
        <p:nvGrpSpPr>
          <p:cNvPr id="805891" name="Group 3"/>
          <p:cNvGrpSpPr>
            <a:grpSpLocks/>
          </p:cNvGrpSpPr>
          <p:nvPr/>
        </p:nvGrpSpPr>
        <p:grpSpPr bwMode="auto">
          <a:xfrm>
            <a:off x="3505200" y="2133600"/>
            <a:ext cx="2133600" cy="3111500"/>
            <a:chOff x="2208" y="1440"/>
            <a:chExt cx="1344" cy="1960"/>
          </a:xfrm>
        </p:grpSpPr>
        <p:sp>
          <p:nvSpPr>
            <p:cNvPr id="80924" name="Text Box 4"/>
            <p:cNvSpPr txBox="1">
              <a:spLocks noChangeArrowheads="1"/>
            </p:cNvSpPr>
            <p:nvPr/>
          </p:nvSpPr>
          <p:spPr bwMode="auto">
            <a:xfrm>
              <a:off x="2208" y="2880"/>
              <a:ext cx="1344"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2400">
                  <a:solidFill>
                    <a:srgbClr val="FF0000"/>
                  </a:solidFill>
                </a:rPr>
                <a:t>Secure</a:t>
              </a:r>
              <a:br>
                <a:rPr lang="de-CH" altLang="en-US" sz="2400">
                  <a:solidFill>
                    <a:srgbClr val="FF0000"/>
                  </a:solidFill>
                </a:rPr>
              </a:br>
              <a:r>
                <a:rPr lang="de-CH" altLang="en-US" sz="2400">
                  <a:solidFill>
                    <a:srgbClr val="FF0000"/>
                  </a:solidFill>
                </a:rPr>
                <a:t>Transport Layer</a:t>
              </a:r>
            </a:p>
          </p:txBody>
        </p:sp>
        <p:sp>
          <p:nvSpPr>
            <p:cNvPr id="80925" name="Rectangle 5"/>
            <p:cNvSpPr>
              <a:spLocks noChangeArrowheads="1"/>
            </p:cNvSpPr>
            <p:nvPr/>
          </p:nvSpPr>
          <p:spPr bwMode="auto">
            <a:xfrm>
              <a:off x="2400" y="1440"/>
              <a:ext cx="1008" cy="384"/>
            </a:xfrm>
            <a:prstGeom prst="rect">
              <a:avLst/>
            </a:prstGeom>
            <a:solidFill>
              <a:srgbClr val="A3FBB8"/>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TLS</a:t>
              </a:r>
            </a:p>
          </p:txBody>
        </p:sp>
        <p:sp>
          <p:nvSpPr>
            <p:cNvPr id="80926" name="Rectangle 6"/>
            <p:cNvSpPr>
              <a:spLocks noChangeArrowheads="1"/>
            </p:cNvSpPr>
            <p:nvPr/>
          </p:nvSpPr>
          <p:spPr bwMode="auto">
            <a:xfrm>
              <a:off x="2400" y="1824"/>
              <a:ext cx="1008" cy="384"/>
            </a:xfrm>
            <a:prstGeom prst="rect">
              <a:avLst/>
            </a:prstGeom>
            <a:solidFill>
              <a:schemeClr val="accent1"/>
            </a:solidFill>
            <a:ln w="12700">
              <a:solidFill>
                <a:schemeClr val="tx1"/>
              </a:solidFill>
              <a:miter lim="800000"/>
              <a:headEnd/>
              <a:tailEnd/>
            </a:ln>
            <a:effectLst>
              <a:outerShdw dist="107763" dir="2700000" algn="ctr" rotWithShape="0">
                <a:schemeClr val="bg2"/>
              </a:outerShdw>
            </a:effec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DE" altLang="en-US" sz="2400">
                  <a:solidFill>
                    <a:srgbClr val="FF0000"/>
                  </a:solidFill>
                </a:rPr>
                <a:t>TCP</a:t>
              </a:r>
            </a:p>
          </p:txBody>
        </p:sp>
        <p:sp>
          <p:nvSpPr>
            <p:cNvPr id="80927" name="Rectangle 7"/>
            <p:cNvSpPr>
              <a:spLocks noChangeArrowheads="1"/>
            </p:cNvSpPr>
            <p:nvPr/>
          </p:nvSpPr>
          <p:spPr bwMode="auto">
            <a:xfrm>
              <a:off x="2400" y="2208"/>
              <a:ext cx="1008" cy="384"/>
            </a:xfrm>
            <a:prstGeom prst="rect">
              <a:avLst/>
            </a:prstGeom>
            <a:solidFill>
              <a:srgbClr val="FFFF9D"/>
            </a:solidFill>
            <a:ln w="12700">
              <a:solidFill>
                <a:schemeClr val="tx1"/>
              </a:solidFill>
              <a:miter lim="800000"/>
              <a:headEnd/>
              <a:tailEnd/>
            </a:ln>
            <a:effectLst>
              <a:outerShdw dist="107763" dir="2700000" algn="ctr" rotWithShape="0">
                <a:schemeClr val="bg2"/>
              </a:outerShdw>
            </a:effec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DE" altLang="en-US" sz="2400">
                  <a:solidFill>
                    <a:srgbClr val="FF0000"/>
                  </a:solidFill>
                </a:rPr>
                <a:t>IP</a:t>
              </a:r>
            </a:p>
          </p:txBody>
        </p:sp>
      </p:grpSp>
      <p:grpSp>
        <p:nvGrpSpPr>
          <p:cNvPr id="805896" name="Group 8"/>
          <p:cNvGrpSpPr>
            <a:grpSpLocks/>
          </p:cNvGrpSpPr>
          <p:nvPr/>
        </p:nvGrpSpPr>
        <p:grpSpPr bwMode="auto">
          <a:xfrm>
            <a:off x="6324600" y="1295400"/>
            <a:ext cx="1828800" cy="4572000"/>
            <a:chOff x="3984" y="912"/>
            <a:chExt cx="1152" cy="2880"/>
          </a:xfrm>
        </p:grpSpPr>
        <p:sp>
          <p:nvSpPr>
            <p:cNvPr id="80922" name="Rectangle 9"/>
            <p:cNvSpPr>
              <a:spLocks noChangeArrowheads="1"/>
            </p:cNvSpPr>
            <p:nvPr/>
          </p:nvSpPr>
          <p:spPr bwMode="auto">
            <a:xfrm>
              <a:off x="3984" y="912"/>
              <a:ext cx="1152" cy="384"/>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Application</a:t>
              </a:r>
            </a:p>
          </p:txBody>
        </p:sp>
        <p:sp>
          <p:nvSpPr>
            <p:cNvPr id="80923" name="Rectangle 10"/>
            <p:cNvSpPr>
              <a:spLocks noChangeArrowheads="1"/>
            </p:cNvSpPr>
            <p:nvPr/>
          </p:nvSpPr>
          <p:spPr bwMode="auto">
            <a:xfrm>
              <a:off x="3984" y="3408"/>
              <a:ext cx="1152" cy="384"/>
            </a:xfrm>
            <a:prstGeom prst="rect">
              <a:avLst/>
            </a:prstGeom>
            <a:solidFill>
              <a:schemeClr val="accent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Transport</a:t>
              </a:r>
            </a:p>
          </p:txBody>
        </p:sp>
      </p:grpSp>
      <p:grpSp>
        <p:nvGrpSpPr>
          <p:cNvPr id="805899" name="Group 11"/>
          <p:cNvGrpSpPr>
            <a:grpSpLocks/>
          </p:cNvGrpSpPr>
          <p:nvPr/>
        </p:nvGrpSpPr>
        <p:grpSpPr bwMode="auto">
          <a:xfrm>
            <a:off x="5562600" y="2133600"/>
            <a:ext cx="2590800" cy="2895600"/>
            <a:chOff x="3504" y="1440"/>
            <a:chExt cx="1632" cy="1824"/>
          </a:xfrm>
        </p:grpSpPr>
        <p:sp>
          <p:nvSpPr>
            <p:cNvPr id="80914" name="Rectangle 12"/>
            <p:cNvSpPr>
              <a:spLocks noChangeArrowheads="1"/>
            </p:cNvSpPr>
            <p:nvPr/>
          </p:nvSpPr>
          <p:spPr bwMode="auto">
            <a:xfrm>
              <a:off x="3984" y="1440"/>
              <a:ext cx="1152" cy="384"/>
            </a:xfrm>
            <a:prstGeom prst="rect">
              <a:avLst/>
            </a:prstGeom>
            <a:solidFill>
              <a:srgbClr val="FFFF9D"/>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Fragmentation</a:t>
              </a:r>
            </a:p>
          </p:txBody>
        </p:sp>
        <p:sp>
          <p:nvSpPr>
            <p:cNvPr id="80915" name="Rectangle 13"/>
            <p:cNvSpPr>
              <a:spLocks noChangeArrowheads="1"/>
            </p:cNvSpPr>
            <p:nvPr/>
          </p:nvSpPr>
          <p:spPr bwMode="auto">
            <a:xfrm>
              <a:off x="3984" y="1920"/>
              <a:ext cx="1152" cy="384"/>
            </a:xfrm>
            <a:prstGeom prst="rect">
              <a:avLst/>
            </a:prstGeom>
            <a:solidFill>
              <a:srgbClr val="FFFF9D"/>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Compression</a:t>
              </a:r>
            </a:p>
          </p:txBody>
        </p:sp>
        <p:sp>
          <p:nvSpPr>
            <p:cNvPr id="80916" name="Rectangle 14"/>
            <p:cNvSpPr>
              <a:spLocks noChangeArrowheads="1"/>
            </p:cNvSpPr>
            <p:nvPr/>
          </p:nvSpPr>
          <p:spPr bwMode="auto">
            <a:xfrm>
              <a:off x="3984" y="2400"/>
              <a:ext cx="1152" cy="384"/>
            </a:xfrm>
            <a:prstGeom prst="rect">
              <a:avLst/>
            </a:prstGeom>
            <a:solidFill>
              <a:srgbClr val="A3FBB8"/>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Authentication</a:t>
              </a:r>
            </a:p>
          </p:txBody>
        </p:sp>
        <p:sp>
          <p:nvSpPr>
            <p:cNvPr id="80917" name="Rectangle 15"/>
            <p:cNvSpPr>
              <a:spLocks noChangeArrowheads="1"/>
            </p:cNvSpPr>
            <p:nvPr/>
          </p:nvSpPr>
          <p:spPr bwMode="auto">
            <a:xfrm>
              <a:off x="3984" y="2880"/>
              <a:ext cx="1152" cy="384"/>
            </a:xfrm>
            <a:prstGeom prst="rect">
              <a:avLst/>
            </a:prstGeom>
            <a:solidFill>
              <a:srgbClr val="A3FBB8"/>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Encryption</a:t>
              </a:r>
            </a:p>
          </p:txBody>
        </p:sp>
        <p:sp>
          <p:nvSpPr>
            <p:cNvPr id="80918" name="Line 16"/>
            <p:cNvSpPr>
              <a:spLocks noChangeShapeType="1"/>
            </p:cNvSpPr>
            <p:nvPr/>
          </p:nvSpPr>
          <p:spPr bwMode="auto">
            <a:xfrm flipH="1">
              <a:off x="3792" y="1440"/>
              <a:ext cx="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0919" name="Line 17"/>
            <p:cNvSpPr>
              <a:spLocks noChangeShapeType="1"/>
            </p:cNvSpPr>
            <p:nvPr/>
          </p:nvSpPr>
          <p:spPr bwMode="auto">
            <a:xfrm>
              <a:off x="3792" y="1440"/>
              <a:ext cx="0" cy="1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0920" name="Line 18"/>
            <p:cNvSpPr>
              <a:spLocks noChangeShapeType="1"/>
            </p:cNvSpPr>
            <p:nvPr/>
          </p:nvSpPr>
          <p:spPr bwMode="auto">
            <a:xfrm flipH="1">
              <a:off x="3792" y="3264"/>
              <a:ext cx="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0921" name="Line 19"/>
            <p:cNvSpPr>
              <a:spLocks noChangeShapeType="1"/>
            </p:cNvSpPr>
            <p:nvPr/>
          </p:nvSpPr>
          <p:spPr bwMode="auto">
            <a:xfrm flipH="1">
              <a:off x="3504" y="163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5908" name="Group 20"/>
          <p:cNvGrpSpPr>
            <a:grpSpLocks/>
          </p:cNvGrpSpPr>
          <p:nvPr/>
        </p:nvGrpSpPr>
        <p:grpSpPr bwMode="auto">
          <a:xfrm>
            <a:off x="609600" y="2133600"/>
            <a:ext cx="2133600" cy="3111500"/>
            <a:chOff x="384" y="1440"/>
            <a:chExt cx="1344" cy="1960"/>
          </a:xfrm>
        </p:grpSpPr>
        <p:sp>
          <p:nvSpPr>
            <p:cNvPr id="80911" name="Text Box 21"/>
            <p:cNvSpPr txBox="1">
              <a:spLocks noChangeArrowheads="1"/>
            </p:cNvSpPr>
            <p:nvPr/>
          </p:nvSpPr>
          <p:spPr bwMode="auto">
            <a:xfrm>
              <a:off x="384" y="2880"/>
              <a:ext cx="1344"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2400">
                  <a:solidFill>
                    <a:srgbClr val="FF0000"/>
                  </a:solidFill>
                </a:rPr>
                <a:t>Insecure Transport Layer</a:t>
              </a:r>
            </a:p>
          </p:txBody>
        </p:sp>
        <p:sp>
          <p:nvSpPr>
            <p:cNvPr id="80912" name="Rectangle 22"/>
            <p:cNvSpPr>
              <a:spLocks noChangeArrowheads="1"/>
            </p:cNvSpPr>
            <p:nvPr/>
          </p:nvSpPr>
          <p:spPr bwMode="auto">
            <a:xfrm>
              <a:off x="480" y="1440"/>
              <a:ext cx="1008" cy="384"/>
            </a:xfrm>
            <a:prstGeom prst="rect">
              <a:avLst/>
            </a:prstGeom>
            <a:solidFill>
              <a:schemeClr val="accent1"/>
            </a:solidFill>
            <a:ln w="12700">
              <a:solidFill>
                <a:schemeClr val="tx1"/>
              </a:solidFill>
              <a:miter lim="800000"/>
              <a:headEnd/>
              <a:tailEnd/>
            </a:ln>
            <a:effectLst>
              <a:outerShdw dist="107763" dir="2700000" algn="ctr" rotWithShape="0">
                <a:schemeClr val="bg2"/>
              </a:outerShdw>
            </a:effec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DE" altLang="en-US" sz="2400">
                  <a:solidFill>
                    <a:srgbClr val="FF0000"/>
                  </a:solidFill>
                </a:rPr>
                <a:t>TCP</a:t>
              </a:r>
            </a:p>
          </p:txBody>
        </p:sp>
        <p:sp>
          <p:nvSpPr>
            <p:cNvPr id="80913" name="Rectangle 23"/>
            <p:cNvSpPr>
              <a:spLocks noChangeArrowheads="1"/>
            </p:cNvSpPr>
            <p:nvPr/>
          </p:nvSpPr>
          <p:spPr bwMode="auto">
            <a:xfrm>
              <a:off x="480" y="1824"/>
              <a:ext cx="1008" cy="384"/>
            </a:xfrm>
            <a:prstGeom prst="rect">
              <a:avLst/>
            </a:prstGeom>
            <a:solidFill>
              <a:srgbClr val="FFFF9D"/>
            </a:solidFill>
            <a:ln w="12700">
              <a:solidFill>
                <a:schemeClr val="tx1"/>
              </a:solidFill>
              <a:miter lim="800000"/>
              <a:headEnd/>
              <a:tailEnd/>
            </a:ln>
            <a:effectLst>
              <a:outerShdw dist="107763" dir="2700000" algn="ctr" rotWithShape="0">
                <a:schemeClr val="bg2"/>
              </a:outerShdw>
            </a:effec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DE" altLang="en-US" sz="2400">
                  <a:solidFill>
                    <a:srgbClr val="FF0000"/>
                  </a:solidFill>
                </a:rPr>
                <a:t>IP</a:t>
              </a:r>
            </a:p>
          </p:txBody>
        </p:sp>
      </p:grpSp>
      <p:grpSp>
        <p:nvGrpSpPr>
          <p:cNvPr id="805912" name="Group 24"/>
          <p:cNvGrpSpPr>
            <a:grpSpLocks/>
          </p:cNvGrpSpPr>
          <p:nvPr/>
        </p:nvGrpSpPr>
        <p:grpSpPr bwMode="auto">
          <a:xfrm>
            <a:off x="762000" y="1295400"/>
            <a:ext cx="4648200" cy="1409700"/>
            <a:chOff x="480" y="912"/>
            <a:chExt cx="2928" cy="888"/>
          </a:xfrm>
        </p:grpSpPr>
        <p:sp>
          <p:nvSpPr>
            <p:cNvPr id="80907" name="Rectangle 25"/>
            <p:cNvSpPr>
              <a:spLocks noChangeArrowheads="1"/>
            </p:cNvSpPr>
            <p:nvPr/>
          </p:nvSpPr>
          <p:spPr bwMode="auto">
            <a:xfrm>
              <a:off x="2400" y="912"/>
              <a:ext cx="1008" cy="384"/>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Application</a:t>
              </a:r>
            </a:p>
          </p:txBody>
        </p:sp>
        <p:sp>
          <p:nvSpPr>
            <p:cNvPr id="80908" name="Rectangle 26"/>
            <p:cNvSpPr>
              <a:spLocks noChangeArrowheads="1"/>
            </p:cNvSpPr>
            <p:nvPr/>
          </p:nvSpPr>
          <p:spPr bwMode="auto">
            <a:xfrm>
              <a:off x="480" y="912"/>
              <a:ext cx="1008" cy="384"/>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2400">
                  <a:solidFill>
                    <a:srgbClr val="FF0000"/>
                  </a:solidFill>
                </a:rPr>
                <a:t>Application</a:t>
              </a:r>
            </a:p>
          </p:txBody>
        </p:sp>
        <p:sp>
          <p:nvSpPr>
            <p:cNvPr id="80909" name="Line 27"/>
            <p:cNvSpPr>
              <a:spLocks noChangeShapeType="1"/>
            </p:cNvSpPr>
            <p:nvPr/>
          </p:nvSpPr>
          <p:spPr bwMode="auto">
            <a:xfrm flipH="1">
              <a:off x="1488" y="1392"/>
              <a:ext cx="9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0910" name="Text Box 28"/>
            <p:cNvSpPr txBox="1">
              <a:spLocks noChangeArrowheads="1"/>
            </p:cNvSpPr>
            <p:nvPr/>
          </p:nvSpPr>
          <p:spPr bwMode="auto">
            <a:xfrm>
              <a:off x="1616" y="1280"/>
              <a:ext cx="688" cy="52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2400">
                  <a:solidFill>
                    <a:srgbClr val="FF0000"/>
                  </a:solidFill>
                </a:rPr>
                <a:t>Sockets</a:t>
              </a:r>
            </a:p>
          </p:txBody>
        </p:sp>
      </p:grpSp>
      <p:sp>
        <p:nvSpPr>
          <p:cNvPr id="805917" name="Rectangle 29"/>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solidFill>
                <a:srgbClr val="FF0000"/>
              </a:solidFill>
            </a:endParaRPr>
          </a:p>
        </p:txBody>
      </p:sp>
    </p:spTree>
    <p:extLst>
      <p:ext uri="{BB962C8B-B14F-4D97-AF65-F5344CB8AC3E}">
        <p14:creationId xmlns:p14="http://schemas.microsoft.com/office/powerpoint/2010/main" val="1893268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05912"/>
                                        </p:tgtEl>
                                        <p:attrNameLst>
                                          <p:attrName>style.visibility</p:attrName>
                                        </p:attrNameLst>
                                      </p:cBhvr>
                                      <p:to>
                                        <p:strVal val="visible"/>
                                      </p:to>
                                    </p:set>
                                    <p:animEffect transition="in" filter="wipe(up)">
                                      <p:cBhvr>
                                        <p:cTn id="7" dur="500"/>
                                        <p:tgtEl>
                                          <p:spTgt spid="8059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05908"/>
                                        </p:tgtEl>
                                        <p:attrNameLst>
                                          <p:attrName>style.visibility</p:attrName>
                                        </p:attrNameLst>
                                      </p:cBhvr>
                                      <p:to>
                                        <p:strVal val="visible"/>
                                      </p:to>
                                    </p:set>
                                    <p:animEffect transition="in" filter="wipe(up)">
                                      <p:cBhvr>
                                        <p:cTn id="12" dur="500"/>
                                        <p:tgtEl>
                                          <p:spTgt spid="8059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05891"/>
                                        </p:tgtEl>
                                        <p:attrNameLst>
                                          <p:attrName>style.visibility</p:attrName>
                                        </p:attrNameLst>
                                      </p:cBhvr>
                                      <p:to>
                                        <p:strVal val="visible"/>
                                      </p:to>
                                    </p:set>
                                    <p:animEffect transition="in" filter="wipe(up)">
                                      <p:cBhvr>
                                        <p:cTn id="17" dur="500"/>
                                        <p:tgtEl>
                                          <p:spTgt spid="8058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80589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05899"/>
                                        </p:tgtEl>
                                        <p:attrNameLst>
                                          <p:attrName>style.visibility</p:attrName>
                                        </p:attrNameLst>
                                      </p:cBhvr>
                                      <p:to>
                                        <p:strVal val="visible"/>
                                      </p:to>
                                    </p:set>
                                    <p:animEffect transition="in" filter="wipe(left)">
                                      <p:cBhvr>
                                        <p:cTn id="26" dur="500"/>
                                        <p:tgtEl>
                                          <p:spTgt spid="805899"/>
                                        </p:tgtEl>
                                      </p:cBhvr>
                                    </p:animEffect>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805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917"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Rectangle 5"/>
          <p:cNvSpPr>
            <a:spLocks noChangeArrowheads="1"/>
          </p:cNvSpPr>
          <p:nvPr/>
        </p:nvSpPr>
        <p:spPr bwMode="auto">
          <a:xfrm>
            <a:off x="611188" y="2781300"/>
            <a:ext cx="1512887" cy="792163"/>
          </a:xfrm>
          <a:prstGeom prst="rect">
            <a:avLst/>
          </a:prstGeom>
          <a:solidFill>
            <a:srgbClr val="CCFF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r>
              <a:rPr lang="de-DE" dirty="0">
                <a:solidFill>
                  <a:srgbClr val="FF0000"/>
                </a:solidFill>
              </a:rPr>
              <a:t>Handshake</a:t>
            </a:r>
          </a:p>
        </p:txBody>
      </p:sp>
      <p:sp>
        <p:nvSpPr>
          <p:cNvPr id="36" name="Rectangle 5"/>
          <p:cNvSpPr>
            <a:spLocks noChangeArrowheads="1"/>
          </p:cNvSpPr>
          <p:nvPr/>
        </p:nvSpPr>
        <p:spPr bwMode="auto">
          <a:xfrm>
            <a:off x="2124075" y="2781300"/>
            <a:ext cx="1584325" cy="792163"/>
          </a:xfrm>
          <a:prstGeom prst="rect">
            <a:avLst/>
          </a:prstGeom>
          <a:solidFill>
            <a:srgbClr val="CCFF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r>
              <a:rPr lang="de-DE" dirty="0">
                <a:solidFill>
                  <a:srgbClr val="FF0000"/>
                </a:solidFill>
              </a:rPr>
              <a:t>Change</a:t>
            </a:r>
            <a:br>
              <a:rPr lang="de-DE" dirty="0">
                <a:solidFill>
                  <a:srgbClr val="FF0000"/>
                </a:solidFill>
              </a:rPr>
            </a:br>
            <a:r>
              <a:rPr lang="de-DE" dirty="0" err="1">
                <a:solidFill>
                  <a:srgbClr val="FF0000"/>
                </a:solidFill>
              </a:rPr>
              <a:t>CipherSpec</a:t>
            </a:r>
            <a:endParaRPr lang="de-DE" dirty="0">
              <a:solidFill>
                <a:srgbClr val="FF0000"/>
              </a:solidFill>
            </a:endParaRPr>
          </a:p>
        </p:txBody>
      </p:sp>
      <p:sp>
        <p:nvSpPr>
          <p:cNvPr id="38" name="Rectangle 5"/>
          <p:cNvSpPr>
            <a:spLocks noChangeArrowheads="1"/>
          </p:cNvSpPr>
          <p:nvPr/>
        </p:nvSpPr>
        <p:spPr bwMode="auto">
          <a:xfrm>
            <a:off x="3708400" y="2781300"/>
            <a:ext cx="792163" cy="792163"/>
          </a:xfrm>
          <a:prstGeom prst="rect">
            <a:avLst/>
          </a:prstGeom>
          <a:solidFill>
            <a:srgbClr val="CCFF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r>
              <a:rPr lang="de-DE" dirty="0">
                <a:solidFill>
                  <a:srgbClr val="FF0000"/>
                </a:solidFill>
              </a:rPr>
              <a:t>Alert</a:t>
            </a:r>
          </a:p>
        </p:txBody>
      </p:sp>
      <p:sp>
        <p:nvSpPr>
          <p:cNvPr id="805913" name="Rectangle 25"/>
          <p:cNvSpPr>
            <a:spLocks noChangeArrowheads="1"/>
          </p:cNvSpPr>
          <p:nvPr/>
        </p:nvSpPr>
        <p:spPr bwMode="auto">
          <a:xfrm>
            <a:off x="4500563" y="1989138"/>
            <a:ext cx="4032250" cy="792162"/>
          </a:xfrm>
          <a:prstGeom prst="rect">
            <a:avLst/>
          </a:prstGeom>
          <a:solidFill>
            <a:srgbClr val="95CD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r>
              <a:rPr lang="de-DE">
                <a:solidFill>
                  <a:srgbClr val="FF0000"/>
                </a:solidFill>
              </a:rPr>
              <a:t>Application</a:t>
            </a:r>
          </a:p>
        </p:txBody>
      </p:sp>
      <p:sp>
        <p:nvSpPr>
          <p:cNvPr id="37" name="Rectangle 5"/>
          <p:cNvSpPr>
            <a:spLocks noChangeArrowheads="1"/>
          </p:cNvSpPr>
          <p:nvPr/>
        </p:nvSpPr>
        <p:spPr bwMode="auto">
          <a:xfrm>
            <a:off x="4500563" y="2781300"/>
            <a:ext cx="4032250" cy="792163"/>
          </a:xfrm>
          <a:prstGeom prst="rect">
            <a:avLst/>
          </a:prstGeom>
          <a:solidFill>
            <a:srgbClr val="CCFF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r>
              <a:rPr lang="de-DE" dirty="0" err="1">
                <a:solidFill>
                  <a:srgbClr val="FF0000"/>
                </a:solidFill>
              </a:rPr>
              <a:t>Application</a:t>
            </a:r>
            <a:r>
              <a:rPr lang="de-DE" dirty="0">
                <a:solidFill>
                  <a:srgbClr val="FF0000"/>
                </a:solidFill>
              </a:rPr>
              <a:t> Data (</a:t>
            </a:r>
            <a:r>
              <a:rPr lang="de-DE" dirty="0" err="1">
                <a:solidFill>
                  <a:srgbClr val="FF0000"/>
                </a:solidFill>
              </a:rPr>
              <a:t>messages</a:t>
            </a:r>
            <a:r>
              <a:rPr lang="de-DE" dirty="0">
                <a:solidFill>
                  <a:srgbClr val="FF0000"/>
                </a:solidFill>
              </a:rPr>
              <a:t>)</a:t>
            </a:r>
          </a:p>
        </p:txBody>
      </p:sp>
      <p:sp>
        <p:nvSpPr>
          <p:cNvPr id="805893" name="Rectangle 5"/>
          <p:cNvSpPr>
            <a:spLocks noChangeArrowheads="1"/>
          </p:cNvSpPr>
          <p:nvPr/>
        </p:nvSpPr>
        <p:spPr bwMode="auto">
          <a:xfrm>
            <a:off x="611188" y="3573463"/>
            <a:ext cx="7921625" cy="792162"/>
          </a:xfrm>
          <a:prstGeom prst="rect">
            <a:avLst/>
          </a:prstGeom>
          <a:solidFill>
            <a:srgbClr val="A3FBB8"/>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r>
              <a:rPr lang="de-DE" dirty="0">
                <a:solidFill>
                  <a:srgbClr val="FF0000"/>
                </a:solidFill>
              </a:rPr>
              <a:t>TLS - </a:t>
            </a:r>
            <a:r>
              <a:rPr lang="de-DE" dirty="0" err="1">
                <a:solidFill>
                  <a:srgbClr val="FF0000"/>
                </a:solidFill>
              </a:rPr>
              <a:t>Record</a:t>
            </a:r>
            <a:r>
              <a:rPr lang="de-DE" dirty="0">
                <a:solidFill>
                  <a:srgbClr val="FF0000"/>
                </a:solidFill>
              </a:rPr>
              <a:t> Protocol  (</a:t>
            </a:r>
            <a:r>
              <a:rPr lang="de-DE" dirty="0" err="1">
                <a:solidFill>
                  <a:srgbClr val="FF0000"/>
                </a:solidFill>
              </a:rPr>
              <a:t>records</a:t>
            </a:r>
            <a:r>
              <a:rPr lang="de-DE" dirty="0">
                <a:solidFill>
                  <a:srgbClr val="FF0000"/>
                </a:solidFill>
              </a:rPr>
              <a:t>)   </a:t>
            </a:r>
          </a:p>
        </p:txBody>
      </p:sp>
      <p:sp>
        <p:nvSpPr>
          <p:cNvPr id="805890" name="Rectangle 2"/>
          <p:cNvSpPr>
            <a:spLocks noGrp="1" noChangeArrowheads="1"/>
          </p:cNvSpPr>
          <p:nvPr>
            <p:ph type="title"/>
          </p:nvPr>
        </p:nvSpPr>
        <p:spPr/>
        <p:txBody>
          <a:bodyPr/>
          <a:lstStyle/>
          <a:p>
            <a:pPr>
              <a:defRPr/>
            </a:pPr>
            <a:r>
              <a:rPr lang="de-DE" dirty="0" smtClean="0">
                <a:solidFill>
                  <a:srgbClr val="FF0000"/>
                </a:solidFill>
              </a:rPr>
              <a:t>TLS </a:t>
            </a:r>
            <a:r>
              <a:rPr lang="de-DE" dirty="0" err="1" smtClean="0">
                <a:solidFill>
                  <a:srgbClr val="FF0000"/>
                </a:solidFill>
              </a:rPr>
              <a:t>Record</a:t>
            </a:r>
            <a:r>
              <a:rPr lang="de-DE" dirty="0" smtClean="0">
                <a:solidFill>
                  <a:srgbClr val="FF0000"/>
                </a:solidFill>
              </a:rPr>
              <a:t> Protocol</a:t>
            </a:r>
            <a:endParaRPr lang="de-DE" dirty="0">
              <a:solidFill>
                <a:srgbClr val="FF0000"/>
              </a:solidFill>
            </a:endParaRPr>
          </a:p>
        </p:txBody>
      </p:sp>
      <p:sp>
        <p:nvSpPr>
          <p:cNvPr id="805910" name="Rectangle 22"/>
          <p:cNvSpPr>
            <a:spLocks noChangeArrowheads="1"/>
          </p:cNvSpPr>
          <p:nvPr/>
        </p:nvSpPr>
        <p:spPr bwMode="auto">
          <a:xfrm>
            <a:off x="611188" y="4365625"/>
            <a:ext cx="7921625" cy="792163"/>
          </a:xfrm>
          <a:prstGeom prst="rect">
            <a:avLst/>
          </a:prstGeom>
          <a:solidFill>
            <a:schemeClr val="accent1"/>
          </a:solidFill>
          <a:ln w="12700">
            <a:solidFill>
              <a:schemeClr val="tx1"/>
            </a:solidFill>
            <a:miter lim="800000"/>
            <a:headEnd/>
            <a:tailEnd/>
          </a:ln>
          <a:effectLst>
            <a:outerShdw blurRad="50800" dist="38100" dir="2700000" algn="tl" rotWithShape="0">
              <a:prstClr val="black">
                <a:alpha val="40000"/>
              </a:prstClr>
            </a:outerShdw>
          </a:effectLst>
        </p:spPr>
        <p:txBody>
          <a:bodyPr wrap="none" lIns="85725" tIns="42862" rIns="85725" bIns="42862" anchor="ctr"/>
          <a:lstStyle/>
          <a:p>
            <a:pPr algn="ctr" eaLnBrk="1" hangingPunct="1">
              <a:buClr>
                <a:srgbClr val="0099CC"/>
              </a:buClr>
              <a:buSzPct val="70000"/>
              <a:buFont typeface="Wingdings" pitchFamily="2" charset="2"/>
              <a:buNone/>
              <a:defRPr/>
            </a:pPr>
            <a:r>
              <a:rPr lang="de-DE" dirty="0">
                <a:solidFill>
                  <a:srgbClr val="FF0000"/>
                </a:solidFill>
              </a:rPr>
              <a:t>TCP - Transport Protocol  (</a:t>
            </a:r>
            <a:r>
              <a:rPr lang="de-DE" dirty="0" err="1">
                <a:solidFill>
                  <a:srgbClr val="FF0000"/>
                </a:solidFill>
              </a:rPr>
              <a:t>stream</a:t>
            </a:r>
            <a:r>
              <a:rPr lang="de-DE" dirty="0">
                <a:solidFill>
                  <a:srgbClr val="FF0000"/>
                </a:solidFill>
              </a:rPr>
              <a:t>)</a:t>
            </a:r>
          </a:p>
        </p:txBody>
      </p:sp>
      <p:sp>
        <p:nvSpPr>
          <p:cNvPr id="805917" name="Rectangle 29"/>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solidFill>
                <a:srgbClr val="FF0000"/>
              </a:solidFill>
            </a:endParaRPr>
          </a:p>
        </p:txBody>
      </p:sp>
      <p:sp>
        <p:nvSpPr>
          <p:cNvPr id="805911" name="Rectangle 23"/>
          <p:cNvSpPr>
            <a:spLocks noChangeArrowheads="1"/>
          </p:cNvSpPr>
          <p:nvPr/>
        </p:nvSpPr>
        <p:spPr bwMode="auto">
          <a:xfrm>
            <a:off x="611188" y="5157788"/>
            <a:ext cx="7921625" cy="792162"/>
          </a:xfrm>
          <a:prstGeom prst="rect">
            <a:avLst/>
          </a:prstGeom>
          <a:solidFill>
            <a:srgbClr val="FFFF9D"/>
          </a:solidFill>
          <a:ln w="12700">
            <a:solidFill>
              <a:schemeClr val="tx1"/>
            </a:solidFill>
            <a:miter lim="800000"/>
            <a:headEnd/>
            <a:tailEnd/>
          </a:ln>
          <a:effectLst>
            <a:outerShdw blurRad="50800" dist="38100" dir="2700000" algn="tl" rotWithShape="0">
              <a:prstClr val="black">
                <a:alpha val="40000"/>
              </a:prstClr>
            </a:outerShdw>
          </a:effectLst>
        </p:spPr>
        <p:txBody>
          <a:bodyPr wrap="none" lIns="85725" tIns="42862" rIns="85725" bIns="42862" anchor="ctr"/>
          <a:lstStyle/>
          <a:p>
            <a:pPr algn="ctr" eaLnBrk="1" hangingPunct="1">
              <a:buClr>
                <a:srgbClr val="0099CC"/>
              </a:buClr>
              <a:buSzPct val="70000"/>
              <a:buFont typeface="Wingdings" pitchFamily="2" charset="2"/>
              <a:buNone/>
              <a:defRPr/>
            </a:pPr>
            <a:r>
              <a:rPr lang="de-DE" dirty="0">
                <a:solidFill>
                  <a:srgbClr val="FF0000"/>
                </a:solidFill>
              </a:rPr>
              <a:t>IP - Network Protocol  (</a:t>
            </a:r>
            <a:r>
              <a:rPr lang="de-DE" dirty="0" err="1">
                <a:solidFill>
                  <a:srgbClr val="FF0000"/>
                </a:solidFill>
              </a:rPr>
              <a:t>packets</a:t>
            </a:r>
            <a:r>
              <a:rPr lang="de-DE" dirty="0">
                <a:solidFill>
                  <a:srgbClr val="FF0000"/>
                </a:solidFill>
              </a:rPr>
              <a:t>)   </a:t>
            </a:r>
          </a:p>
        </p:txBody>
      </p:sp>
    </p:spTree>
    <p:extLst>
      <p:ext uri="{BB962C8B-B14F-4D97-AF65-F5344CB8AC3E}">
        <p14:creationId xmlns:p14="http://schemas.microsoft.com/office/powerpoint/2010/main" val="339763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05893"/>
                                        </p:tgtEl>
                                        <p:attrNameLst>
                                          <p:attrName>style.visibility</p:attrName>
                                        </p:attrNameLst>
                                      </p:cBhvr>
                                      <p:to>
                                        <p:strVal val="visible"/>
                                      </p:to>
                                    </p:set>
                                    <p:animEffect transition="in" filter="wipe(down)">
                                      <p:cBhvr>
                                        <p:cTn id="7" dur="500"/>
                                        <p:tgtEl>
                                          <p:spTgt spid="805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left)">
                                      <p:cBhvr>
                                        <p:cTn id="17" dur="500"/>
                                        <p:tgtEl>
                                          <p:spTgt spid="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05913"/>
                                        </p:tgtEl>
                                        <p:attrNameLst>
                                          <p:attrName>style.visibility</p:attrName>
                                        </p:attrNameLst>
                                      </p:cBhvr>
                                      <p:to>
                                        <p:strVal val="visible"/>
                                      </p:to>
                                    </p:set>
                                    <p:animEffect transition="in" filter="wipe(down)">
                                      <p:cBhvr>
                                        <p:cTn id="32" dur="500"/>
                                        <p:tgtEl>
                                          <p:spTgt spid="805913"/>
                                        </p:tgtEl>
                                      </p:cBhvr>
                                    </p:animEffec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805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8" grpId="0" animBg="1"/>
      <p:bldP spid="805913" grpId="0" animBg="1"/>
      <p:bldP spid="37" grpId="0" animBg="1"/>
      <p:bldP spid="805893" grpId="0" animBg="1"/>
      <p:bldP spid="805917"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7938" name="Rectangle 2"/>
          <p:cNvSpPr>
            <a:spLocks noGrp="1" noChangeArrowheads="1"/>
          </p:cNvSpPr>
          <p:nvPr>
            <p:ph type="title"/>
          </p:nvPr>
        </p:nvSpPr>
        <p:spPr>
          <a:xfrm>
            <a:off x="533400" y="3175"/>
            <a:ext cx="7772400" cy="1143000"/>
          </a:xfrm>
        </p:spPr>
        <p:txBody>
          <a:bodyPr/>
          <a:lstStyle/>
          <a:p>
            <a:pPr>
              <a:defRPr/>
            </a:pPr>
            <a:r>
              <a:rPr lang="de-DE" dirty="0" smtClean="0">
                <a:solidFill>
                  <a:srgbClr val="FF0000"/>
                </a:solidFill>
              </a:rPr>
              <a:t>TLS </a:t>
            </a:r>
            <a:r>
              <a:rPr lang="de-DE" dirty="0">
                <a:solidFill>
                  <a:srgbClr val="FF0000"/>
                </a:solidFill>
              </a:rPr>
              <a:t>Handshake Protocol</a:t>
            </a:r>
          </a:p>
        </p:txBody>
      </p:sp>
      <p:grpSp>
        <p:nvGrpSpPr>
          <p:cNvPr id="807939" name="Group 3"/>
          <p:cNvGrpSpPr>
            <a:grpSpLocks/>
          </p:cNvGrpSpPr>
          <p:nvPr/>
        </p:nvGrpSpPr>
        <p:grpSpPr bwMode="auto">
          <a:xfrm>
            <a:off x="3657600" y="1447800"/>
            <a:ext cx="4495800" cy="3001963"/>
            <a:chOff x="2352" y="1008"/>
            <a:chExt cx="2832" cy="1891"/>
          </a:xfrm>
        </p:grpSpPr>
        <p:sp>
          <p:nvSpPr>
            <p:cNvPr id="85030" name="Text Box 4"/>
            <p:cNvSpPr txBox="1">
              <a:spLocks noChangeArrowheads="1"/>
            </p:cNvSpPr>
            <p:nvPr/>
          </p:nvSpPr>
          <p:spPr bwMode="auto">
            <a:xfrm>
              <a:off x="3736" y="2672"/>
              <a:ext cx="13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1800">
                  <a:solidFill>
                    <a:srgbClr val="FF0000"/>
                  </a:solidFill>
                </a:rPr>
                <a:t>Server</a:t>
              </a:r>
            </a:p>
          </p:txBody>
        </p:sp>
        <p:sp>
          <p:nvSpPr>
            <p:cNvPr id="85031" name="Rectangle 5"/>
            <p:cNvSpPr>
              <a:spLocks noChangeArrowheads="1"/>
            </p:cNvSpPr>
            <p:nvPr/>
          </p:nvSpPr>
          <p:spPr bwMode="auto">
            <a:xfrm>
              <a:off x="3600" y="1008"/>
              <a:ext cx="1248" cy="240"/>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Server Hello</a:t>
              </a:r>
            </a:p>
          </p:txBody>
        </p:sp>
        <p:sp>
          <p:nvSpPr>
            <p:cNvPr id="85032" name="Rectangle 6"/>
            <p:cNvSpPr>
              <a:spLocks noChangeArrowheads="1"/>
            </p:cNvSpPr>
            <p:nvPr/>
          </p:nvSpPr>
          <p:spPr bwMode="auto">
            <a:xfrm>
              <a:off x="4848" y="1008"/>
              <a:ext cx="336" cy="240"/>
            </a:xfrm>
            <a:prstGeom prst="rect">
              <a:avLst/>
            </a:prstGeom>
            <a:solidFill>
              <a:srgbClr val="FFCC66"/>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R</a:t>
              </a:r>
              <a:r>
                <a:rPr lang="de-DE" altLang="en-US" sz="2400" baseline="-25000">
                  <a:solidFill>
                    <a:srgbClr val="FF0000"/>
                  </a:solidFill>
                </a:rPr>
                <a:t>S</a:t>
              </a:r>
            </a:p>
          </p:txBody>
        </p:sp>
        <p:sp>
          <p:nvSpPr>
            <p:cNvPr id="85033" name="Line 7"/>
            <p:cNvSpPr>
              <a:spLocks noChangeShapeType="1"/>
            </p:cNvSpPr>
            <p:nvPr/>
          </p:nvSpPr>
          <p:spPr bwMode="auto">
            <a:xfrm>
              <a:off x="2352" y="1104"/>
              <a:ext cx="1104" cy="0"/>
            </a:xfrm>
            <a:prstGeom prst="line">
              <a:avLst/>
            </a:prstGeom>
            <a:noFill/>
            <a:ln w="571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7944" name="Group 8"/>
          <p:cNvGrpSpPr>
            <a:grpSpLocks/>
          </p:cNvGrpSpPr>
          <p:nvPr/>
        </p:nvGrpSpPr>
        <p:grpSpPr bwMode="auto">
          <a:xfrm>
            <a:off x="3657600" y="3200400"/>
            <a:ext cx="4495800" cy="381000"/>
            <a:chOff x="2352" y="2112"/>
            <a:chExt cx="2832" cy="240"/>
          </a:xfrm>
        </p:grpSpPr>
        <p:sp>
          <p:nvSpPr>
            <p:cNvPr id="85028" name="Rectangle 9"/>
            <p:cNvSpPr>
              <a:spLocks noChangeArrowheads="1"/>
            </p:cNvSpPr>
            <p:nvPr/>
          </p:nvSpPr>
          <p:spPr bwMode="auto">
            <a:xfrm>
              <a:off x="3600" y="2112"/>
              <a:ext cx="1584" cy="240"/>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ServerHelloDone</a:t>
              </a:r>
            </a:p>
          </p:txBody>
        </p:sp>
        <p:sp>
          <p:nvSpPr>
            <p:cNvPr id="85029" name="Line 10"/>
            <p:cNvSpPr>
              <a:spLocks noChangeShapeType="1"/>
            </p:cNvSpPr>
            <p:nvPr/>
          </p:nvSpPr>
          <p:spPr bwMode="auto">
            <a:xfrm>
              <a:off x="2352" y="2208"/>
              <a:ext cx="1104" cy="0"/>
            </a:xfrm>
            <a:prstGeom prst="line">
              <a:avLst/>
            </a:prstGeom>
            <a:noFill/>
            <a:ln w="571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7947" name="Group 11"/>
          <p:cNvGrpSpPr>
            <a:grpSpLocks/>
          </p:cNvGrpSpPr>
          <p:nvPr/>
        </p:nvGrpSpPr>
        <p:grpSpPr bwMode="auto">
          <a:xfrm>
            <a:off x="762000" y="1143000"/>
            <a:ext cx="4648200" cy="1477963"/>
            <a:chOff x="528" y="816"/>
            <a:chExt cx="2928" cy="931"/>
          </a:xfrm>
        </p:grpSpPr>
        <p:sp>
          <p:nvSpPr>
            <p:cNvPr id="85024" name="Text Box 12"/>
            <p:cNvSpPr txBox="1">
              <a:spLocks noChangeArrowheads="1"/>
            </p:cNvSpPr>
            <p:nvPr/>
          </p:nvSpPr>
          <p:spPr bwMode="auto">
            <a:xfrm>
              <a:off x="712" y="1520"/>
              <a:ext cx="13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1800">
                  <a:solidFill>
                    <a:srgbClr val="FF0000"/>
                  </a:solidFill>
                </a:rPr>
                <a:t>Client</a:t>
              </a:r>
            </a:p>
          </p:txBody>
        </p:sp>
        <p:sp>
          <p:nvSpPr>
            <p:cNvPr id="85025" name="Rectangle 13"/>
            <p:cNvSpPr>
              <a:spLocks noChangeArrowheads="1"/>
            </p:cNvSpPr>
            <p:nvPr/>
          </p:nvSpPr>
          <p:spPr bwMode="auto">
            <a:xfrm>
              <a:off x="528" y="816"/>
              <a:ext cx="1248" cy="240"/>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Client Hello</a:t>
              </a:r>
            </a:p>
          </p:txBody>
        </p:sp>
        <p:sp>
          <p:nvSpPr>
            <p:cNvPr id="85026" name="Rectangle 14"/>
            <p:cNvSpPr>
              <a:spLocks noChangeArrowheads="1"/>
            </p:cNvSpPr>
            <p:nvPr/>
          </p:nvSpPr>
          <p:spPr bwMode="auto">
            <a:xfrm>
              <a:off x="1776" y="816"/>
              <a:ext cx="336" cy="240"/>
            </a:xfrm>
            <a:prstGeom prst="rect">
              <a:avLst/>
            </a:prstGeom>
            <a:solidFill>
              <a:srgbClr val="FFCC66"/>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R</a:t>
              </a:r>
              <a:r>
                <a:rPr lang="de-DE" altLang="en-US" sz="2400" baseline="-25000">
                  <a:solidFill>
                    <a:srgbClr val="FF0000"/>
                  </a:solidFill>
                </a:rPr>
                <a:t>C</a:t>
              </a:r>
            </a:p>
          </p:txBody>
        </p:sp>
        <p:sp>
          <p:nvSpPr>
            <p:cNvPr id="85027" name="Line 15"/>
            <p:cNvSpPr>
              <a:spLocks noChangeShapeType="1"/>
            </p:cNvSpPr>
            <p:nvPr/>
          </p:nvSpPr>
          <p:spPr bwMode="auto">
            <a:xfrm>
              <a:off x="2352" y="960"/>
              <a:ext cx="1104"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7952" name="Group 16"/>
          <p:cNvGrpSpPr>
            <a:grpSpLocks/>
          </p:cNvGrpSpPr>
          <p:nvPr/>
        </p:nvGrpSpPr>
        <p:grpSpPr bwMode="auto">
          <a:xfrm>
            <a:off x="755650" y="5734050"/>
            <a:ext cx="7416800" cy="381000"/>
            <a:chOff x="476" y="3612"/>
            <a:chExt cx="4672" cy="240"/>
          </a:xfrm>
        </p:grpSpPr>
        <p:sp>
          <p:nvSpPr>
            <p:cNvPr id="85021" name="Rectangle 17" descr="5%"/>
            <p:cNvSpPr>
              <a:spLocks noChangeArrowheads="1"/>
            </p:cNvSpPr>
            <p:nvPr/>
          </p:nvSpPr>
          <p:spPr bwMode="auto">
            <a:xfrm>
              <a:off x="3564" y="3612"/>
              <a:ext cx="1584" cy="240"/>
            </a:xfrm>
            <a:prstGeom prst="rect">
              <a:avLst/>
            </a:prstGeom>
            <a:blipFill dpi="0" rotWithShape="0">
              <a:blip r:embed="rId3"/>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Application Data</a:t>
              </a:r>
              <a:r>
                <a:rPr lang="en-US" altLang="en-US" sz="1800">
                  <a:solidFill>
                    <a:srgbClr val="FF0000"/>
                  </a:solidFill>
                </a:rPr>
                <a:t>°</a:t>
              </a:r>
            </a:p>
          </p:txBody>
        </p:sp>
        <p:sp>
          <p:nvSpPr>
            <p:cNvPr id="85022" name="Rectangle 18" descr="5%"/>
            <p:cNvSpPr>
              <a:spLocks noChangeArrowheads="1"/>
            </p:cNvSpPr>
            <p:nvPr/>
          </p:nvSpPr>
          <p:spPr bwMode="auto">
            <a:xfrm>
              <a:off x="476" y="3612"/>
              <a:ext cx="1584" cy="240"/>
            </a:xfrm>
            <a:prstGeom prst="rect">
              <a:avLst/>
            </a:prstGeom>
            <a:blipFill dpi="0" rotWithShape="0">
              <a:blip r:embed="rId3"/>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Application Data</a:t>
              </a:r>
              <a:r>
                <a:rPr lang="en-US" altLang="en-US" sz="1800">
                  <a:solidFill>
                    <a:srgbClr val="FF0000"/>
                  </a:solidFill>
                </a:rPr>
                <a:t>°</a:t>
              </a:r>
            </a:p>
          </p:txBody>
        </p:sp>
        <p:sp>
          <p:nvSpPr>
            <p:cNvPr id="85023" name="Line 19"/>
            <p:cNvSpPr>
              <a:spLocks noChangeShapeType="1"/>
            </p:cNvSpPr>
            <p:nvPr/>
          </p:nvSpPr>
          <p:spPr bwMode="auto">
            <a:xfrm>
              <a:off x="2300" y="3756"/>
              <a:ext cx="1104" cy="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7956" name="Group 20"/>
          <p:cNvGrpSpPr>
            <a:grpSpLocks/>
          </p:cNvGrpSpPr>
          <p:nvPr/>
        </p:nvGrpSpPr>
        <p:grpSpPr bwMode="auto">
          <a:xfrm>
            <a:off x="755650" y="3141663"/>
            <a:ext cx="4876800" cy="1143000"/>
            <a:chOff x="528" y="2304"/>
            <a:chExt cx="3072" cy="720"/>
          </a:xfrm>
        </p:grpSpPr>
        <p:sp>
          <p:nvSpPr>
            <p:cNvPr id="85017" name="Rectangle 21"/>
            <p:cNvSpPr>
              <a:spLocks noChangeArrowheads="1"/>
            </p:cNvSpPr>
            <p:nvPr/>
          </p:nvSpPr>
          <p:spPr bwMode="auto">
            <a:xfrm>
              <a:off x="528" y="2304"/>
              <a:ext cx="1584" cy="240"/>
            </a:xfrm>
            <a:prstGeom prst="rect">
              <a:avLst/>
            </a:prstGeom>
            <a:solidFill>
              <a:schemeClr val="accent1"/>
            </a:solidFill>
            <a:ln w="12700">
              <a:solidFill>
                <a:schemeClr val="tx1"/>
              </a:solidFill>
              <a:miter lim="800000"/>
              <a:headEnd/>
              <a:tailEnd/>
            </a:ln>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
                  <a:srgbClr val="0099CC"/>
                </a:buClr>
                <a:buSzPct val="70000"/>
                <a:buFont typeface="Wingdings" panose="05000000000000000000" pitchFamily="2" charset="2"/>
                <a:buNone/>
              </a:pPr>
              <a:r>
                <a:rPr lang="de-DE" altLang="en-US" sz="1800">
                  <a:solidFill>
                    <a:srgbClr val="FF0000"/>
                  </a:solidFill>
                </a:rPr>
                <a:t>Certificate*</a:t>
              </a:r>
            </a:p>
          </p:txBody>
        </p:sp>
        <p:sp>
          <p:nvSpPr>
            <p:cNvPr id="85018" name="Rectangle 22"/>
            <p:cNvSpPr>
              <a:spLocks noChangeArrowheads="1"/>
            </p:cNvSpPr>
            <p:nvPr/>
          </p:nvSpPr>
          <p:spPr bwMode="auto">
            <a:xfrm>
              <a:off x="528" y="2544"/>
              <a:ext cx="1584" cy="240"/>
            </a:xfrm>
            <a:prstGeom prst="rect">
              <a:avLst/>
            </a:prstGeom>
            <a:solidFill>
              <a:srgbClr val="A3FBB8"/>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1800">
                  <a:solidFill>
                    <a:srgbClr val="FF0000"/>
                  </a:solidFill>
                </a:rPr>
                <a:t>ClientKeyExchange</a:t>
              </a:r>
            </a:p>
          </p:txBody>
        </p:sp>
        <p:sp>
          <p:nvSpPr>
            <p:cNvPr id="85019" name="Rectangle 23"/>
            <p:cNvSpPr>
              <a:spLocks noChangeArrowheads="1"/>
            </p:cNvSpPr>
            <p:nvPr/>
          </p:nvSpPr>
          <p:spPr bwMode="auto">
            <a:xfrm>
              <a:off x="528" y="2784"/>
              <a:ext cx="1584" cy="240"/>
            </a:xfrm>
            <a:prstGeom prst="rect">
              <a:avLst/>
            </a:prstGeom>
            <a:solidFill>
              <a:schemeClr val="accent1"/>
            </a:solidFill>
            <a:ln w="12700">
              <a:solidFill>
                <a:schemeClr val="tx1"/>
              </a:solidFill>
              <a:miter lim="800000"/>
              <a:headEnd/>
              <a:tailEnd/>
            </a:ln>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
                  <a:srgbClr val="0099CC"/>
                </a:buClr>
                <a:buSzPct val="70000"/>
                <a:buFont typeface="Wingdings" panose="05000000000000000000" pitchFamily="2" charset="2"/>
                <a:buNone/>
              </a:pPr>
              <a:r>
                <a:rPr lang="de-DE" altLang="en-US" sz="1800">
                  <a:solidFill>
                    <a:srgbClr val="FF0000"/>
                  </a:solidFill>
                </a:rPr>
                <a:t>CertificateVerify*</a:t>
              </a:r>
            </a:p>
          </p:txBody>
        </p:sp>
        <p:sp>
          <p:nvSpPr>
            <p:cNvPr id="85020" name="Text Box 24"/>
            <p:cNvSpPr txBox="1">
              <a:spLocks noChangeArrowheads="1"/>
            </p:cNvSpPr>
            <p:nvPr/>
          </p:nvSpPr>
          <p:spPr bwMode="auto">
            <a:xfrm>
              <a:off x="2256" y="2640"/>
              <a:ext cx="13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1800">
                  <a:solidFill>
                    <a:srgbClr val="FF0000"/>
                  </a:solidFill>
                </a:rPr>
                <a:t>*optional</a:t>
              </a:r>
            </a:p>
          </p:txBody>
        </p:sp>
      </p:grpSp>
      <p:grpSp>
        <p:nvGrpSpPr>
          <p:cNvPr id="807961" name="Group 25"/>
          <p:cNvGrpSpPr>
            <a:grpSpLocks/>
          </p:cNvGrpSpPr>
          <p:nvPr/>
        </p:nvGrpSpPr>
        <p:grpSpPr bwMode="auto">
          <a:xfrm>
            <a:off x="3505200" y="1981200"/>
            <a:ext cx="4648200" cy="1143000"/>
            <a:chOff x="2256" y="1344"/>
            <a:chExt cx="2928" cy="720"/>
          </a:xfrm>
        </p:grpSpPr>
        <p:sp>
          <p:nvSpPr>
            <p:cNvPr id="85013" name="Rectangle 26"/>
            <p:cNvSpPr>
              <a:spLocks noChangeArrowheads="1"/>
            </p:cNvSpPr>
            <p:nvPr/>
          </p:nvSpPr>
          <p:spPr bwMode="auto">
            <a:xfrm>
              <a:off x="3600" y="1584"/>
              <a:ext cx="1584" cy="240"/>
            </a:xfrm>
            <a:prstGeom prst="rect">
              <a:avLst/>
            </a:prstGeom>
            <a:solidFill>
              <a:srgbClr val="A3FBB8"/>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de-DE" altLang="en-US" sz="1800">
                  <a:solidFill>
                    <a:srgbClr val="FF0000"/>
                  </a:solidFill>
                </a:rPr>
                <a:t>ServerKeyExchange*</a:t>
              </a:r>
            </a:p>
          </p:txBody>
        </p:sp>
        <p:sp>
          <p:nvSpPr>
            <p:cNvPr id="85014" name="Rectangle 27"/>
            <p:cNvSpPr>
              <a:spLocks noChangeArrowheads="1"/>
            </p:cNvSpPr>
            <p:nvPr/>
          </p:nvSpPr>
          <p:spPr bwMode="auto">
            <a:xfrm>
              <a:off x="3600" y="1344"/>
              <a:ext cx="1584" cy="240"/>
            </a:xfrm>
            <a:prstGeom prst="rect">
              <a:avLst/>
            </a:prstGeom>
            <a:solidFill>
              <a:schemeClr val="accent1"/>
            </a:solidFill>
            <a:ln w="12700">
              <a:solidFill>
                <a:schemeClr val="tx1"/>
              </a:solidFill>
              <a:miter lim="800000"/>
              <a:headEnd/>
              <a:tailEnd/>
            </a:ln>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
                  <a:srgbClr val="0099CC"/>
                </a:buClr>
                <a:buSzPct val="70000"/>
                <a:buFont typeface="Wingdings" panose="05000000000000000000" pitchFamily="2" charset="2"/>
                <a:buNone/>
              </a:pPr>
              <a:r>
                <a:rPr lang="de-DE" altLang="en-US" sz="1800">
                  <a:solidFill>
                    <a:srgbClr val="FF0000"/>
                  </a:solidFill>
                </a:rPr>
                <a:t>Certificate*</a:t>
              </a:r>
            </a:p>
          </p:txBody>
        </p:sp>
        <p:sp>
          <p:nvSpPr>
            <p:cNvPr id="85015" name="Rectangle 28"/>
            <p:cNvSpPr>
              <a:spLocks noChangeArrowheads="1"/>
            </p:cNvSpPr>
            <p:nvPr/>
          </p:nvSpPr>
          <p:spPr bwMode="auto">
            <a:xfrm>
              <a:off x="3600" y="1824"/>
              <a:ext cx="1584" cy="240"/>
            </a:xfrm>
            <a:prstGeom prst="rect">
              <a:avLst/>
            </a:prstGeom>
            <a:solidFill>
              <a:schemeClr val="accent1"/>
            </a:solidFill>
            <a:ln w="12700">
              <a:solidFill>
                <a:schemeClr val="tx1"/>
              </a:solidFill>
              <a:miter lim="800000"/>
              <a:headEnd/>
              <a:tailEnd/>
            </a:ln>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
                  <a:srgbClr val="0099CC"/>
                </a:buClr>
                <a:buSzPct val="70000"/>
                <a:buFont typeface="Wingdings" panose="05000000000000000000" pitchFamily="2" charset="2"/>
                <a:buNone/>
              </a:pPr>
              <a:r>
                <a:rPr lang="de-DE" altLang="en-US" sz="1800">
                  <a:solidFill>
                    <a:srgbClr val="FF0000"/>
                  </a:solidFill>
                </a:rPr>
                <a:t>CertificateRequest*</a:t>
              </a:r>
            </a:p>
          </p:txBody>
        </p:sp>
        <p:sp>
          <p:nvSpPr>
            <p:cNvPr id="85016" name="Text Box 29"/>
            <p:cNvSpPr txBox="1">
              <a:spLocks noChangeArrowheads="1"/>
            </p:cNvSpPr>
            <p:nvPr/>
          </p:nvSpPr>
          <p:spPr bwMode="auto">
            <a:xfrm>
              <a:off x="2256" y="1584"/>
              <a:ext cx="13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1800">
                  <a:solidFill>
                    <a:srgbClr val="FF0000"/>
                  </a:solidFill>
                </a:rPr>
                <a:t>*optional</a:t>
              </a:r>
            </a:p>
          </p:txBody>
        </p:sp>
      </p:grpSp>
      <p:grpSp>
        <p:nvGrpSpPr>
          <p:cNvPr id="807966" name="Group 30"/>
          <p:cNvGrpSpPr>
            <a:grpSpLocks/>
          </p:cNvGrpSpPr>
          <p:nvPr/>
        </p:nvGrpSpPr>
        <p:grpSpPr bwMode="auto">
          <a:xfrm>
            <a:off x="755650" y="4365625"/>
            <a:ext cx="4648200" cy="849313"/>
            <a:chOff x="476" y="2750"/>
            <a:chExt cx="2928" cy="535"/>
          </a:xfrm>
        </p:grpSpPr>
        <p:sp>
          <p:nvSpPr>
            <p:cNvPr id="85010" name="Line 31"/>
            <p:cNvSpPr>
              <a:spLocks noChangeShapeType="1"/>
            </p:cNvSpPr>
            <p:nvPr/>
          </p:nvSpPr>
          <p:spPr bwMode="auto">
            <a:xfrm>
              <a:off x="2300" y="3189"/>
              <a:ext cx="1104"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5011" name="Rectangle 32" descr="5%"/>
            <p:cNvSpPr>
              <a:spLocks noChangeArrowheads="1"/>
            </p:cNvSpPr>
            <p:nvPr/>
          </p:nvSpPr>
          <p:spPr bwMode="auto">
            <a:xfrm>
              <a:off x="476" y="3045"/>
              <a:ext cx="1584" cy="240"/>
            </a:xfrm>
            <a:prstGeom prst="rect">
              <a:avLst/>
            </a:prstGeom>
            <a:blipFill dpi="0" rotWithShape="0">
              <a:blip r:embed="rId4"/>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Finished</a:t>
              </a:r>
              <a:r>
                <a:rPr lang="en-US" altLang="en-US" sz="1800">
                  <a:solidFill>
                    <a:srgbClr val="FF0000"/>
                  </a:solidFill>
                </a:rPr>
                <a:t>°</a:t>
              </a:r>
            </a:p>
          </p:txBody>
        </p:sp>
        <p:sp>
          <p:nvSpPr>
            <p:cNvPr id="85012" name="Rectangle 33"/>
            <p:cNvSpPr>
              <a:spLocks noChangeArrowheads="1"/>
            </p:cNvSpPr>
            <p:nvPr/>
          </p:nvSpPr>
          <p:spPr bwMode="auto">
            <a:xfrm>
              <a:off x="476" y="2750"/>
              <a:ext cx="1584" cy="240"/>
            </a:xfrm>
            <a:prstGeom prst="rect">
              <a:avLst/>
            </a:prstGeom>
            <a:solidFill>
              <a:srgbClr val="CCCCFF"/>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ChangeCipherSpec</a:t>
              </a:r>
            </a:p>
          </p:txBody>
        </p:sp>
      </p:grpSp>
      <p:grpSp>
        <p:nvGrpSpPr>
          <p:cNvPr id="807970" name="Group 34"/>
          <p:cNvGrpSpPr>
            <a:grpSpLocks/>
          </p:cNvGrpSpPr>
          <p:nvPr/>
        </p:nvGrpSpPr>
        <p:grpSpPr bwMode="auto">
          <a:xfrm>
            <a:off x="3676650" y="4703763"/>
            <a:ext cx="4495800" cy="835025"/>
            <a:chOff x="2316" y="2963"/>
            <a:chExt cx="2832" cy="526"/>
          </a:xfrm>
        </p:grpSpPr>
        <p:sp>
          <p:nvSpPr>
            <p:cNvPr id="85007" name="Rectangle 35" descr="5%"/>
            <p:cNvSpPr>
              <a:spLocks noChangeArrowheads="1"/>
            </p:cNvSpPr>
            <p:nvPr/>
          </p:nvSpPr>
          <p:spPr bwMode="auto">
            <a:xfrm>
              <a:off x="3564" y="3249"/>
              <a:ext cx="1584" cy="240"/>
            </a:xfrm>
            <a:prstGeom prst="rect">
              <a:avLst/>
            </a:prstGeom>
            <a:blipFill dpi="0" rotWithShape="0">
              <a:blip r:embed="rId4"/>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Finished</a:t>
              </a:r>
              <a:r>
                <a:rPr lang="en-US" altLang="en-US" sz="1800">
                  <a:solidFill>
                    <a:srgbClr val="FF0000"/>
                  </a:solidFill>
                </a:rPr>
                <a:t>°</a:t>
              </a:r>
            </a:p>
          </p:txBody>
        </p:sp>
        <p:sp>
          <p:nvSpPr>
            <p:cNvPr id="85008" name="Line 36"/>
            <p:cNvSpPr>
              <a:spLocks noChangeShapeType="1"/>
            </p:cNvSpPr>
            <p:nvPr/>
          </p:nvSpPr>
          <p:spPr bwMode="auto">
            <a:xfrm>
              <a:off x="2316" y="3345"/>
              <a:ext cx="1104" cy="0"/>
            </a:xfrm>
            <a:prstGeom prst="line">
              <a:avLst/>
            </a:prstGeom>
            <a:noFill/>
            <a:ln w="571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5009" name="Rectangle 37"/>
            <p:cNvSpPr>
              <a:spLocks noChangeArrowheads="1"/>
            </p:cNvSpPr>
            <p:nvPr/>
          </p:nvSpPr>
          <p:spPr bwMode="auto">
            <a:xfrm>
              <a:off x="3564" y="2963"/>
              <a:ext cx="1584" cy="240"/>
            </a:xfrm>
            <a:prstGeom prst="rect">
              <a:avLst/>
            </a:prstGeom>
            <a:solidFill>
              <a:srgbClr val="CCCCFF"/>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ChangeCipherSpec</a:t>
              </a:r>
            </a:p>
          </p:txBody>
        </p:sp>
      </p:grpSp>
      <p:sp>
        <p:nvSpPr>
          <p:cNvPr id="807974" name="Text Box 38"/>
          <p:cNvSpPr txBox="1">
            <a:spLocks noChangeArrowheads="1"/>
          </p:cNvSpPr>
          <p:nvPr/>
        </p:nvSpPr>
        <p:spPr bwMode="auto">
          <a:xfrm>
            <a:off x="3779838" y="5373688"/>
            <a:ext cx="15113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108000" bIns="108000">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800">
                <a:solidFill>
                  <a:srgbClr val="FF0000"/>
                </a:solidFill>
              </a:rPr>
              <a:t>°encrypted</a:t>
            </a:r>
          </a:p>
        </p:txBody>
      </p:sp>
      <p:sp>
        <p:nvSpPr>
          <p:cNvPr id="807975" name="Rectangle 39"/>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solidFill>
                <a:srgbClr val="FF0000"/>
              </a:solidFill>
            </a:endParaRPr>
          </a:p>
        </p:txBody>
      </p:sp>
    </p:spTree>
    <p:extLst>
      <p:ext uri="{BB962C8B-B14F-4D97-AF65-F5344CB8AC3E}">
        <p14:creationId xmlns:p14="http://schemas.microsoft.com/office/powerpoint/2010/main" val="3565903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7947"/>
                                        </p:tgtEl>
                                        <p:attrNameLst>
                                          <p:attrName>style.visibility</p:attrName>
                                        </p:attrNameLst>
                                      </p:cBhvr>
                                      <p:to>
                                        <p:strVal val="visible"/>
                                      </p:to>
                                    </p:set>
                                    <p:animEffect transition="in" filter="wipe(left)">
                                      <p:cBhvr>
                                        <p:cTn id="7" dur="500"/>
                                        <p:tgtEl>
                                          <p:spTgt spid="8079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807939"/>
                                        </p:tgtEl>
                                        <p:attrNameLst>
                                          <p:attrName>style.visibility</p:attrName>
                                        </p:attrNameLst>
                                      </p:cBhvr>
                                      <p:to>
                                        <p:strVal val="visible"/>
                                      </p:to>
                                    </p:set>
                                    <p:animEffect transition="in" filter="wipe(right)">
                                      <p:cBhvr>
                                        <p:cTn id="12" dur="500"/>
                                        <p:tgtEl>
                                          <p:spTgt spid="8079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07961"/>
                                        </p:tgtEl>
                                        <p:attrNameLst>
                                          <p:attrName>style.visibility</p:attrName>
                                        </p:attrNameLst>
                                      </p:cBhvr>
                                      <p:to>
                                        <p:strVal val="visible"/>
                                      </p:to>
                                    </p:set>
                                    <p:animEffect transition="in" filter="wipe(up)">
                                      <p:cBhvr>
                                        <p:cTn id="17" dur="500"/>
                                        <p:tgtEl>
                                          <p:spTgt spid="8079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807944"/>
                                        </p:tgtEl>
                                        <p:attrNameLst>
                                          <p:attrName>style.visibility</p:attrName>
                                        </p:attrNameLst>
                                      </p:cBhvr>
                                      <p:to>
                                        <p:strVal val="visible"/>
                                      </p:to>
                                    </p:set>
                                    <p:animEffect transition="in" filter="wipe(right)">
                                      <p:cBhvr>
                                        <p:cTn id="22" dur="500"/>
                                        <p:tgtEl>
                                          <p:spTgt spid="8079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07956"/>
                                        </p:tgtEl>
                                        <p:attrNameLst>
                                          <p:attrName>style.visibility</p:attrName>
                                        </p:attrNameLst>
                                      </p:cBhvr>
                                      <p:to>
                                        <p:strVal val="visible"/>
                                      </p:to>
                                    </p:set>
                                    <p:animEffect transition="in" filter="wipe(up)">
                                      <p:cBhvr>
                                        <p:cTn id="27" dur="500"/>
                                        <p:tgtEl>
                                          <p:spTgt spid="8079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07966"/>
                                        </p:tgtEl>
                                        <p:attrNameLst>
                                          <p:attrName>style.visibility</p:attrName>
                                        </p:attrNameLst>
                                      </p:cBhvr>
                                      <p:to>
                                        <p:strVal val="visible"/>
                                      </p:to>
                                    </p:set>
                                    <p:animEffect transition="in" filter="wipe(left)">
                                      <p:cBhvr>
                                        <p:cTn id="32" dur="500"/>
                                        <p:tgtEl>
                                          <p:spTgt spid="807966"/>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80797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nodeType="clickEffect">
                                  <p:stCondLst>
                                    <p:cond delay="0"/>
                                  </p:stCondLst>
                                  <p:childTnLst>
                                    <p:set>
                                      <p:cBhvr>
                                        <p:cTn id="38" dur="1" fill="hold">
                                          <p:stCondLst>
                                            <p:cond delay="0"/>
                                          </p:stCondLst>
                                        </p:cTn>
                                        <p:tgtEl>
                                          <p:spTgt spid="807970"/>
                                        </p:tgtEl>
                                        <p:attrNameLst>
                                          <p:attrName>style.visibility</p:attrName>
                                        </p:attrNameLst>
                                      </p:cBhvr>
                                      <p:to>
                                        <p:strVal val="visible"/>
                                      </p:to>
                                    </p:set>
                                    <p:animEffect transition="in" filter="wipe(right)">
                                      <p:cBhvr>
                                        <p:cTn id="39" dur="500"/>
                                        <p:tgtEl>
                                          <p:spTgt spid="80797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807952"/>
                                        </p:tgtEl>
                                        <p:attrNameLst>
                                          <p:attrName>style.visibility</p:attrName>
                                        </p:attrNameLst>
                                      </p:cBhvr>
                                      <p:to>
                                        <p:strVal val="visible"/>
                                      </p:to>
                                    </p:set>
                                    <p:animEffect transition="in" filter="wipe(left)">
                                      <p:cBhvr>
                                        <p:cTn id="44" dur="500"/>
                                        <p:tgtEl>
                                          <p:spTgt spid="807952"/>
                                        </p:tgtEl>
                                      </p:cBhvr>
                                    </p:animEffect>
                                  </p:childTnLst>
                                </p:cTn>
                              </p:par>
                            </p:childTnLst>
                          </p:cTn>
                        </p:par>
                        <p:par>
                          <p:cTn id="45" fill="hold" nodeType="afterGroup">
                            <p:stCondLst>
                              <p:cond delay="500"/>
                            </p:stCondLst>
                            <p:childTnLst>
                              <p:par>
                                <p:cTn id="46" presetID="1" presetClass="entr" presetSubtype="0" fill="hold" grpId="0" nodeType="afterEffect">
                                  <p:stCondLst>
                                    <p:cond delay="0"/>
                                  </p:stCondLst>
                                  <p:childTnLst>
                                    <p:set>
                                      <p:cBhvr>
                                        <p:cTn id="47" dur="1" fill="hold">
                                          <p:stCondLst>
                                            <p:cond delay="499"/>
                                          </p:stCondLst>
                                        </p:cTn>
                                        <p:tgtEl>
                                          <p:spTgt spid="807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74" grpId="0"/>
      <p:bldP spid="807975"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a:xfrm>
            <a:off x="625475" y="3175"/>
            <a:ext cx="7772400" cy="1143000"/>
          </a:xfrm>
        </p:spPr>
        <p:txBody>
          <a:bodyPr/>
          <a:lstStyle/>
          <a:p>
            <a:pPr>
              <a:defRPr/>
            </a:pPr>
            <a:r>
              <a:rPr lang="de-DE" dirty="0" err="1">
                <a:solidFill>
                  <a:srgbClr val="FF0000"/>
                </a:solidFill>
              </a:rPr>
              <a:t>Resuming</a:t>
            </a:r>
            <a:r>
              <a:rPr lang="de-DE" dirty="0">
                <a:solidFill>
                  <a:srgbClr val="FF0000"/>
                </a:solidFill>
              </a:rPr>
              <a:t> a </a:t>
            </a:r>
            <a:r>
              <a:rPr lang="de-DE" dirty="0" smtClean="0">
                <a:solidFill>
                  <a:srgbClr val="FF0000"/>
                </a:solidFill>
              </a:rPr>
              <a:t>TLS </a:t>
            </a:r>
            <a:r>
              <a:rPr lang="de-DE" dirty="0">
                <a:solidFill>
                  <a:srgbClr val="FF0000"/>
                </a:solidFill>
              </a:rPr>
              <a:t>Session</a:t>
            </a:r>
          </a:p>
        </p:txBody>
      </p:sp>
      <p:grpSp>
        <p:nvGrpSpPr>
          <p:cNvPr id="809987" name="Group 3"/>
          <p:cNvGrpSpPr>
            <a:grpSpLocks/>
          </p:cNvGrpSpPr>
          <p:nvPr/>
        </p:nvGrpSpPr>
        <p:grpSpPr bwMode="auto">
          <a:xfrm>
            <a:off x="762000" y="1143000"/>
            <a:ext cx="4648200" cy="4157663"/>
            <a:chOff x="480" y="720"/>
            <a:chExt cx="2928" cy="2619"/>
          </a:xfrm>
        </p:grpSpPr>
        <p:sp>
          <p:nvSpPr>
            <p:cNvPr id="87063" name="Text Box 4"/>
            <p:cNvSpPr txBox="1">
              <a:spLocks noChangeArrowheads="1"/>
            </p:cNvSpPr>
            <p:nvPr/>
          </p:nvSpPr>
          <p:spPr bwMode="auto">
            <a:xfrm>
              <a:off x="612" y="3112"/>
              <a:ext cx="13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1800">
                  <a:solidFill>
                    <a:srgbClr val="FF0000"/>
                  </a:solidFill>
                </a:rPr>
                <a:t>Client</a:t>
              </a:r>
            </a:p>
          </p:txBody>
        </p:sp>
        <p:sp>
          <p:nvSpPr>
            <p:cNvPr id="87064" name="Rectangle 5"/>
            <p:cNvSpPr>
              <a:spLocks noChangeArrowheads="1"/>
            </p:cNvSpPr>
            <p:nvPr/>
          </p:nvSpPr>
          <p:spPr bwMode="auto">
            <a:xfrm>
              <a:off x="480" y="720"/>
              <a:ext cx="1248" cy="240"/>
            </a:xfrm>
            <a:prstGeom prst="rect">
              <a:avLst/>
            </a:prstGeom>
            <a:solidFill>
              <a:srgbClr val="95CD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Client Hello</a:t>
              </a:r>
            </a:p>
          </p:txBody>
        </p:sp>
        <p:sp>
          <p:nvSpPr>
            <p:cNvPr id="87065" name="Rectangle 6"/>
            <p:cNvSpPr>
              <a:spLocks noChangeArrowheads="1"/>
            </p:cNvSpPr>
            <p:nvPr/>
          </p:nvSpPr>
          <p:spPr bwMode="auto">
            <a:xfrm>
              <a:off x="1728" y="720"/>
              <a:ext cx="336" cy="240"/>
            </a:xfrm>
            <a:prstGeom prst="rect">
              <a:avLst/>
            </a:prstGeom>
            <a:solidFill>
              <a:srgbClr val="FFCC66"/>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R</a:t>
              </a:r>
              <a:r>
                <a:rPr lang="de-DE" altLang="en-US" sz="2400" baseline="-25000">
                  <a:solidFill>
                    <a:srgbClr val="FF0000"/>
                  </a:solidFill>
                </a:rPr>
                <a:t>C</a:t>
              </a:r>
            </a:p>
          </p:txBody>
        </p:sp>
        <p:sp>
          <p:nvSpPr>
            <p:cNvPr id="87066" name="Line 7"/>
            <p:cNvSpPr>
              <a:spLocks noChangeShapeType="1"/>
            </p:cNvSpPr>
            <p:nvPr/>
          </p:nvSpPr>
          <p:spPr bwMode="auto">
            <a:xfrm>
              <a:off x="2304" y="864"/>
              <a:ext cx="1104"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9992" name="Group 8"/>
          <p:cNvGrpSpPr>
            <a:grpSpLocks/>
          </p:cNvGrpSpPr>
          <p:nvPr/>
        </p:nvGrpSpPr>
        <p:grpSpPr bwMode="auto">
          <a:xfrm>
            <a:off x="755650" y="4149725"/>
            <a:ext cx="7416800" cy="381000"/>
            <a:chOff x="476" y="3612"/>
            <a:chExt cx="4672" cy="240"/>
          </a:xfrm>
        </p:grpSpPr>
        <p:sp>
          <p:nvSpPr>
            <p:cNvPr id="87060" name="Rectangle 9" descr="5%"/>
            <p:cNvSpPr>
              <a:spLocks noChangeArrowheads="1"/>
            </p:cNvSpPr>
            <p:nvPr/>
          </p:nvSpPr>
          <p:spPr bwMode="auto">
            <a:xfrm>
              <a:off x="3564" y="3612"/>
              <a:ext cx="1584" cy="240"/>
            </a:xfrm>
            <a:prstGeom prst="rect">
              <a:avLst/>
            </a:prstGeom>
            <a:blipFill dpi="0" rotWithShape="0">
              <a:blip r:embed="rId3"/>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Application Data</a:t>
              </a:r>
              <a:r>
                <a:rPr lang="en-US" altLang="en-US" sz="1800">
                  <a:solidFill>
                    <a:srgbClr val="FF0000"/>
                  </a:solidFill>
                </a:rPr>
                <a:t>°</a:t>
              </a:r>
            </a:p>
          </p:txBody>
        </p:sp>
        <p:sp>
          <p:nvSpPr>
            <p:cNvPr id="87061" name="Rectangle 10" descr="5%"/>
            <p:cNvSpPr>
              <a:spLocks noChangeArrowheads="1"/>
            </p:cNvSpPr>
            <p:nvPr/>
          </p:nvSpPr>
          <p:spPr bwMode="auto">
            <a:xfrm>
              <a:off x="476" y="3612"/>
              <a:ext cx="1584" cy="240"/>
            </a:xfrm>
            <a:prstGeom prst="rect">
              <a:avLst/>
            </a:prstGeom>
            <a:blipFill dpi="0" rotWithShape="0">
              <a:blip r:embed="rId3"/>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Application Data</a:t>
              </a:r>
              <a:r>
                <a:rPr lang="en-US" altLang="en-US" sz="1800">
                  <a:solidFill>
                    <a:srgbClr val="FF0000"/>
                  </a:solidFill>
                </a:rPr>
                <a:t>°</a:t>
              </a:r>
            </a:p>
          </p:txBody>
        </p:sp>
        <p:sp>
          <p:nvSpPr>
            <p:cNvPr id="87062" name="Line 11"/>
            <p:cNvSpPr>
              <a:spLocks noChangeShapeType="1"/>
            </p:cNvSpPr>
            <p:nvPr/>
          </p:nvSpPr>
          <p:spPr bwMode="auto">
            <a:xfrm>
              <a:off x="2300" y="3756"/>
              <a:ext cx="1104" cy="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grpSp>
      <p:grpSp>
        <p:nvGrpSpPr>
          <p:cNvPr id="809996" name="Group 12"/>
          <p:cNvGrpSpPr>
            <a:grpSpLocks/>
          </p:cNvGrpSpPr>
          <p:nvPr/>
        </p:nvGrpSpPr>
        <p:grpSpPr bwMode="auto">
          <a:xfrm>
            <a:off x="755650" y="2852738"/>
            <a:ext cx="4648200" cy="849312"/>
            <a:chOff x="476" y="2750"/>
            <a:chExt cx="2928" cy="535"/>
          </a:xfrm>
        </p:grpSpPr>
        <p:sp>
          <p:nvSpPr>
            <p:cNvPr id="87057" name="Line 13"/>
            <p:cNvSpPr>
              <a:spLocks noChangeShapeType="1"/>
            </p:cNvSpPr>
            <p:nvPr/>
          </p:nvSpPr>
          <p:spPr bwMode="auto">
            <a:xfrm>
              <a:off x="2300" y="3189"/>
              <a:ext cx="1104"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7058" name="Rectangle 14" descr="5%"/>
            <p:cNvSpPr>
              <a:spLocks noChangeArrowheads="1"/>
            </p:cNvSpPr>
            <p:nvPr/>
          </p:nvSpPr>
          <p:spPr bwMode="auto">
            <a:xfrm>
              <a:off x="476" y="3045"/>
              <a:ext cx="1584" cy="240"/>
            </a:xfrm>
            <a:prstGeom prst="rect">
              <a:avLst/>
            </a:prstGeom>
            <a:blipFill dpi="0" rotWithShape="0">
              <a:blip r:embed="rId4"/>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Finished</a:t>
              </a:r>
              <a:r>
                <a:rPr lang="en-US" altLang="en-US" sz="1800">
                  <a:solidFill>
                    <a:srgbClr val="FF0000"/>
                  </a:solidFill>
                </a:rPr>
                <a:t>°</a:t>
              </a:r>
            </a:p>
          </p:txBody>
        </p:sp>
        <p:sp>
          <p:nvSpPr>
            <p:cNvPr id="87059" name="Rectangle 15"/>
            <p:cNvSpPr>
              <a:spLocks noChangeArrowheads="1"/>
            </p:cNvSpPr>
            <p:nvPr/>
          </p:nvSpPr>
          <p:spPr bwMode="auto">
            <a:xfrm>
              <a:off x="476" y="2750"/>
              <a:ext cx="1584" cy="240"/>
            </a:xfrm>
            <a:prstGeom prst="rect">
              <a:avLst/>
            </a:prstGeom>
            <a:solidFill>
              <a:srgbClr val="CCCCFF"/>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ChangeCipherSpec</a:t>
              </a:r>
            </a:p>
          </p:txBody>
        </p:sp>
      </p:grpSp>
      <p:grpSp>
        <p:nvGrpSpPr>
          <p:cNvPr id="810000" name="Group 16"/>
          <p:cNvGrpSpPr>
            <a:grpSpLocks/>
          </p:cNvGrpSpPr>
          <p:nvPr/>
        </p:nvGrpSpPr>
        <p:grpSpPr bwMode="auto">
          <a:xfrm>
            <a:off x="3635375" y="1557338"/>
            <a:ext cx="4537075" cy="3852862"/>
            <a:chOff x="2290" y="912"/>
            <a:chExt cx="2858" cy="2427"/>
          </a:xfrm>
        </p:grpSpPr>
        <p:sp>
          <p:nvSpPr>
            <p:cNvPr id="87051" name="Text Box 17"/>
            <p:cNvSpPr txBox="1">
              <a:spLocks noChangeArrowheads="1"/>
            </p:cNvSpPr>
            <p:nvPr/>
          </p:nvSpPr>
          <p:spPr bwMode="auto">
            <a:xfrm>
              <a:off x="3651" y="3112"/>
              <a:ext cx="13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2" rIns="85725" bIns="42862">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
                  <a:srgbClr val="0099CC"/>
                </a:buClr>
                <a:buSzPct val="70000"/>
                <a:buFont typeface="Wingdings" panose="05000000000000000000" pitchFamily="2" charset="2"/>
                <a:buNone/>
              </a:pPr>
              <a:r>
                <a:rPr lang="de-CH" altLang="en-US" sz="1800">
                  <a:solidFill>
                    <a:srgbClr val="FF0000"/>
                  </a:solidFill>
                </a:rPr>
                <a:t>Server</a:t>
              </a:r>
            </a:p>
          </p:txBody>
        </p:sp>
        <p:sp>
          <p:nvSpPr>
            <p:cNvPr id="87052" name="Rectangle 18"/>
            <p:cNvSpPr>
              <a:spLocks noChangeArrowheads="1"/>
            </p:cNvSpPr>
            <p:nvPr/>
          </p:nvSpPr>
          <p:spPr bwMode="auto">
            <a:xfrm>
              <a:off x="3552" y="912"/>
              <a:ext cx="1248" cy="240"/>
            </a:xfrm>
            <a:prstGeom prst="rect">
              <a:avLst/>
            </a:prstGeom>
            <a:solidFill>
              <a:srgbClr val="95CDFF"/>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Server Hello</a:t>
              </a:r>
            </a:p>
          </p:txBody>
        </p:sp>
        <p:sp>
          <p:nvSpPr>
            <p:cNvPr id="87053" name="Rectangle 19"/>
            <p:cNvSpPr>
              <a:spLocks noChangeArrowheads="1"/>
            </p:cNvSpPr>
            <p:nvPr/>
          </p:nvSpPr>
          <p:spPr bwMode="auto">
            <a:xfrm>
              <a:off x="4800" y="912"/>
              <a:ext cx="336" cy="240"/>
            </a:xfrm>
            <a:prstGeom prst="rect">
              <a:avLst/>
            </a:prstGeom>
            <a:solidFill>
              <a:srgbClr val="FFCC66"/>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R</a:t>
              </a:r>
              <a:r>
                <a:rPr lang="de-DE" altLang="en-US" sz="2400" baseline="-25000">
                  <a:solidFill>
                    <a:srgbClr val="FF0000"/>
                  </a:solidFill>
                </a:rPr>
                <a:t>S</a:t>
              </a:r>
            </a:p>
          </p:txBody>
        </p:sp>
        <p:sp>
          <p:nvSpPr>
            <p:cNvPr id="87054" name="Rectangle 20" descr="5%"/>
            <p:cNvSpPr>
              <a:spLocks noChangeArrowheads="1"/>
            </p:cNvSpPr>
            <p:nvPr/>
          </p:nvSpPr>
          <p:spPr bwMode="auto">
            <a:xfrm>
              <a:off x="3564" y="1507"/>
              <a:ext cx="1584" cy="240"/>
            </a:xfrm>
            <a:prstGeom prst="rect">
              <a:avLst/>
            </a:prstGeom>
            <a:blipFill dpi="0" rotWithShape="0">
              <a:blip r:embed="rId4"/>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Finished</a:t>
              </a:r>
              <a:r>
                <a:rPr lang="en-US" altLang="en-US" sz="1800">
                  <a:solidFill>
                    <a:srgbClr val="FF0000"/>
                  </a:solidFill>
                </a:rPr>
                <a:t>°</a:t>
              </a:r>
            </a:p>
          </p:txBody>
        </p:sp>
        <p:sp>
          <p:nvSpPr>
            <p:cNvPr id="87055" name="Line 21"/>
            <p:cNvSpPr>
              <a:spLocks noChangeShapeType="1"/>
            </p:cNvSpPr>
            <p:nvPr/>
          </p:nvSpPr>
          <p:spPr bwMode="auto">
            <a:xfrm>
              <a:off x="2290" y="1616"/>
              <a:ext cx="1104" cy="0"/>
            </a:xfrm>
            <a:prstGeom prst="line">
              <a:avLst/>
            </a:prstGeom>
            <a:noFill/>
            <a:ln w="571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lIns="85725" tIns="42862" rIns="85725" bIns="42862" anchor="ctr"/>
            <a:lstStyle/>
            <a:p>
              <a:endParaRPr lang="en-US"/>
            </a:p>
          </p:txBody>
        </p:sp>
        <p:sp>
          <p:nvSpPr>
            <p:cNvPr id="87056" name="Rectangle 22"/>
            <p:cNvSpPr>
              <a:spLocks noChangeArrowheads="1"/>
            </p:cNvSpPr>
            <p:nvPr/>
          </p:nvSpPr>
          <p:spPr bwMode="auto">
            <a:xfrm>
              <a:off x="3564" y="1207"/>
              <a:ext cx="1584" cy="240"/>
            </a:xfrm>
            <a:prstGeom prst="rect">
              <a:avLst/>
            </a:prstGeom>
            <a:solidFill>
              <a:srgbClr val="CCCCFF"/>
            </a:solidFill>
            <a:ln w="12700">
              <a:solidFill>
                <a:schemeClr val="tx1"/>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de-DE" altLang="en-US" sz="1800">
                  <a:solidFill>
                    <a:srgbClr val="FF0000"/>
                  </a:solidFill>
                </a:rPr>
                <a:t>ChangeCipherSpec</a:t>
              </a:r>
            </a:p>
          </p:txBody>
        </p:sp>
      </p:grpSp>
      <p:sp>
        <p:nvSpPr>
          <p:cNvPr id="810007" name="Text Box 23"/>
          <p:cNvSpPr txBox="1">
            <a:spLocks noChangeArrowheads="1"/>
          </p:cNvSpPr>
          <p:nvPr/>
        </p:nvSpPr>
        <p:spPr bwMode="auto">
          <a:xfrm>
            <a:off x="3779838" y="2852738"/>
            <a:ext cx="15113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108000" bIns="108000">
            <a:spAutoFit/>
          </a:bodyP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800">
                <a:solidFill>
                  <a:srgbClr val="FF0000"/>
                </a:solidFill>
              </a:rPr>
              <a:t>°encrypted</a:t>
            </a:r>
          </a:p>
        </p:txBody>
      </p:sp>
      <p:sp>
        <p:nvSpPr>
          <p:cNvPr id="810008" name="Rectangle 24"/>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solidFill>
                <a:srgbClr val="FF0000"/>
              </a:solidFill>
            </a:endParaRPr>
          </a:p>
        </p:txBody>
      </p:sp>
    </p:spTree>
    <p:extLst>
      <p:ext uri="{BB962C8B-B14F-4D97-AF65-F5344CB8AC3E}">
        <p14:creationId xmlns:p14="http://schemas.microsoft.com/office/powerpoint/2010/main" val="277947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9987"/>
                                        </p:tgtEl>
                                        <p:attrNameLst>
                                          <p:attrName>style.visibility</p:attrName>
                                        </p:attrNameLst>
                                      </p:cBhvr>
                                      <p:to>
                                        <p:strVal val="visible"/>
                                      </p:to>
                                    </p:set>
                                    <p:animEffect transition="in" filter="wipe(left)">
                                      <p:cBhvr>
                                        <p:cTn id="7" dur="500"/>
                                        <p:tgtEl>
                                          <p:spTgt spid="8099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810000"/>
                                        </p:tgtEl>
                                        <p:attrNameLst>
                                          <p:attrName>style.visibility</p:attrName>
                                        </p:attrNameLst>
                                      </p:cBhvr>
                                      <p:to>
                                        <p:strVal val="visible"/>
                                      </p:to>
                                    </p:set>
                                    <p:animEffect transition="in" filter="wipe(right)">
                                      <p:cBhvr>
                                        <p:cTn id="12" dur="500"/>
                                        <p:tgtEl>
                                          <p:spTgt spid="810000"/>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810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809996"/>
                                        </p:tgtEl>
                                        <p:attrNameLst>
                                          <p:attrName>style.visibility</p:attrName>
                                        </p:attrNameLst>
                                      </p:cBhvr>
                                      <p:to>
                                        <p:strVal val="visible"/>
                                      </p:to>
                                    </p:set>
                                    <p:animEffect transition="in" filter="wipe(left)">
                                      <p:cBhvr>
                                        <p:cTn id="19" dur="500"/>
                                        <p:tgtEl>
                                          <p:spTgt spid="80999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809992"/>
                                        </p:tgtEl>
                                        <p:attrNameLst>
                                          <p:attrName>style.visibility</p:attrName>
                                        </p:attrNameLst>
                                      </p:cBhvr>
                                      <p:to>
                                        <p:strVal val="visible"/>
                                      </p:to>
                                    </p:set>
                                    <p:animEffect transition="in" filter="wipe(left)">
                                      <p:cBhvr>
                                        <p:cTn id="24" dur="500"/>
                                        <p:tgtEl>
                                          <p:spTgt spid="809992"/>
                                        </p:tgtEl>
                                      </p:cBhvr>
                                    </p:animEffect>
                                  </p:childTnLst>
                                </p:cTn>
                              </p:par>
                            </p:childTnLst>
                          </p:cTn>
                        </p:par>
                        <p:par>
                          <p:cTn id="25" fill="hold" nodeType="afterGroup">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810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0007" grpId="0"/>
      <p:bldP spid="81000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ChangeArrowheads="1"/>
          </p:cNvSpPr>
          <p:nvPr>
            <p:ph type="title"/>
          </p:nvPr>
        </p:nvSpPr>
        <p:spPr>
          <a:xfrm>
            <a:off x="304800" y="147638"/>
            <a:ext cx="8610600" cy="1143000"/>
          </a:xfrm>
        </p:spPr>
        <p:txBody>
          <a:bodyPr/>
          <a:lstStyle/>
          <a:p>
            <a:pPr algn="l">
              <a:defRPr/>
            </a:pPr>
            <a:r>
              <a:rPr lang="de-DE" sz="2800" dirty="0" smtClean="0"/>
              <a:t>SSL/TLS </a:t>
            </a:r>
            <a:r>
              <a:rPr lang="de-DE" sz="2800" dirty="0"/>
              <a:t>Configuration </a:t>
            </a:r>
            <a:r>
              <a:rPr lang="de-DE" sz="2800" dirty="0" smtClean="0"/>
              <a:t>Options - </a:t>
            </a:r>
            <a:r>
              <a:rPr lang="de-DE" sz="2800" dirty="0" smtClean="0">
                <a:solidFill>
                  <a:schemeClr val="tx1"/>
                </a:solidFill>
              </a:rPr>
              <a:t>Mozilla Firefox</a:t>
            </a:r>
            <a:endParaRPr lang="de-DE" sz="2800" dirty="0">
              <a:solidFill>
                <a:schemeClr val="tx1"/>
              </a:solidFill>
            </a:endParaRPr>
          </a:p>
        </p:txBody>
      </p:sp>
      <p:sp>
        <p:nvSpPr>
          <p:cNvPr id="816132" name="Rectangle 4"/>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p>
        </p:txBody>
      </p:sp>
      <p:pic>
        <p:nvPicPr>
          <p:cNvPr id="8909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981075"/>
            <a:ext cx="4897437"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8909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3862388"/>
            <a:ext cx="5191125"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89094" name="Rectangle 9"/>
          <p:cNvSpPr>
            <a:spLocks noChangeArrowheads="1"/>
          </p:cNvSpPr>
          <p:nvPr/>
        </p:nvSpPr>
        <p:spPr bwMode="auto">
          <a:xfrm>
            <a:off x="3109913" y="2446338"/>
            <a:ext cx="144462" cy="144462"/>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
        <p:nvSpPr>
          <p:cNvPr id="89095" name="Rectangle 10"/>
          <p:cNvSpPr>
            <a:spLocks noChangeArrowheads="1"/>
          </p:cNvSpPr>
          <p:nvPr/>
        </p:nvSpPr>
        <p:spPr bwMode="auto">
          <a:xfrm>
            <a:off x="981075" y="2447925"/>
            <a:ext cx="142875" cy="144463"/>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
        <p:nvSpPr>
          <p:cNvPr id="89096" name="Rectangle 11"/>
          <p:cNvSpPr>
            <a:spLocks noChangeArrowheads="1"/>
          </p:cNvSpPr>
          <p:nvPr/>
        </p:nvSpPr>
        <p:spPr bwMode="auto">
          <a:xfrm>
            <a:off x="3005138" y="3573463"/>
            <a:ext cx="703262" cy="215900"/>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Tree>
    <p:extLst>
      <p:ext uri="{BB962C8B-B14F-4D97-AF65-F5344CB8AC3E}">
        <p14:creationId xmlns:p14="http://schemas.microsoft.com/office/powerpoint/2010/main" val="1177543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16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3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p:cNvSpPr>
            <a:spLocks noGrp="1" noChangeArrowheads="1"/>
          </p:cNvSpPr>
          <p:nvPr>
            <p:ph type="title"/>
          </p:nvPr>
        </p:nvSpPr>
        <p:spPr/>
        <p:txBody>
          <a:bodyPr/>
          <a:lstStyle/>
          <a:p>
            <a:pPr>
              <a:defRPr/>
            </a:pPr>
            <a:r>
              <a:rPr lang="de-DE" dirty="0"/>
              <a:t>SSL/TLS </a:t>
            </a:r>
            <a:r>
              <a:rPr lang="de-DE" dirty="0" err="1"/>
              <a:t>Configuration</a:t>
            </a:r>
            <a:r>
              <a:rPr lang="de-DE" dirty="0"/>
              <a:t> Options</a:t>
            </a:r>
            <a:br>
              <a:rPr lang="de-DE" dirty="0"/>
            </a:br>
            <a:r>
              <a:rPr lang="de-DE" dirty="0" err="1" smtClean="0">
                <a:solidFill>
                  <a:srgbClr val="003399"/>
                </a:solidFill>
              </a:rPr>
              <a:t>Mozilla</a:t>
            </a:r>
            <a:r>
              <a:rPr lang="de-DE" dirty="0" smtClean="0">
                <a:solidFill>
                  <a:srgbClr val="003399"/>
                </a:solidFill>
              </a:rPr>
              <a:t> </a:t>
            </a:r>
            <a:r>
              <a:rPr lang="de-DE" dirty="0" err="1" smtClean="0">
                <a:solidFill>
                  <a:srgbClr val="003399"/>
                </a:solidFill>
              </a:rPr>
              <a:t>Firefox</a:t>
            </a:r>
            <a:endParaRPr lang="de-DE" dirty="0">
              <a:solidFill>
                <a:srgbClr val="003399"/>
              </a:solidFill>
            </a:endParaRPr>
          </a:p>
        </p:txBody>
      </p:sp>
      <p:sp>
        <p:nvSpPr>
          <p:cNvPr id="814084" name="Rectangle 4"/>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p>
        </p:txBody>
      </p:sp>
      <p:pic>
        <p:nvPicPr>
          <p:cNvPr id="9114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981075"/>
            <a:ext cx="5534025"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4013848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140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p:cNvSpPr>
            <a:spLocks noGrp="1" noChangeArrowheads="1"/>
          </p:cNvSpPr>
          <p:nvPr>
            <p:ph type="title"/>
          </p:nvPr>
        </p:nvSpPr>
        <p:spPr>
          <a:xfrm>
            <a:off x="611188" y="295275"/>
            <a:ext cx="8228012" cy="1143000"/>
          </a:xfrm>
        </p:spPr>
        <p:txBody>
          <a:bodyPr/>
          <a:lstStyle/>
          <a:p>
            <a:pPr>
              <a:defRPr/>
            </a:pPr>
            <a:r>
              <a:rPr lang="de-DE" sz="3200" dirty="0"/>
              <a:t>SSL/TLS </a:t>
            </a:r>
            <a:r>
              <a:rPr lang="de-DE" sz="3200" dirty="0" err="1"/>
              <a:t>Configuration</a:t>
            </a:r>
            <a:r>
              <a:rPr lang="de-DE" sz="3200" dirty="0"/>
              <a:t> Options</a:t>
            </a:r>
            <a:br>
              <a:rPr lang="de-DE" sz="3200" dirty="0"/>
            </a:br>
            <a:r>
              <a:rPr lang="de-DE" sz="1600" dirty="0" smtClean="0">
                <a:solidFill>
                  <a:srgbClr val="003399"/>
                </a:solidFill>
              </a:rPr>
              <a:t>Microsoft Internet Explorer</a:t>
            </a:r>
            <a:endParaRPr lang="de-DE" sz="1600" dirty="0">
              <a:solidFill>
                <a:srgbClr val="003399"/>
              </a:solidFill>
            </a:endParaRPr>
          </a:p>
        </p:txBody>
      </p:sp>
      <p:sp>
        <p:nvSpPr>
          <p:cNvPr id="820228" name="Rectangle 4"/>
          <p:cNvSpPr>
            <a:spLocks noChangeArrowheads="1"/>
          </p:cNvSpPr>
          <p:nvPr/>
        </p:nvSpPr>
        <p:spPr bwMode="auto">
          <a:xfrm>
            <a:off x="5481638" y="6467475"/>
            <a:ext cx="76200" cy="76200"/>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5725" tIns="42862" rIns="85725" bIns="42862" anchor="ctr"/>
          <a:lstStyle>
            <a:lvl1pPr>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de-CH" altLang="en-US" sz="2400"/>
          </a:p>
        </p:txBody>
      </p:sp>
      <p:pic>
        <p:nvPicPr>
          <p:cNvPr id="9318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38" y="1427163"/>
            <a:ext cx="4029075"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9318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1863" y="1438275"/>
            <a:ext cx="4029075"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93190" name="Rectangle 8"/>
          <p:cNvSpPr>
            <a:spLocks noChangeArrowheads="1"/>
          </p:cNvSpPr>
          <p:nvPr/>
        </p:nvSpPr>
        <p:spPr bwMode="auto">
          <a:xfrm>
            <a:off x="5162550" y="2836863"/>
            <a:ext cx="144463" cy="144462"/>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
        <p:nvSpPr>
          <p:cNvPr id="93191" name="Rectangle 10"/>
          <p:cNvSpPr>
            <a:spLocks noChangeArrowheads="1"/>
          </p:cNvSpPr>
          <p:nvPr/>
        </p:nvSpPr>
        <p:spPr bwMode="auto">
          <a:xfrm>
            <a:off x="5157788" y="2997200"/>
            <a:ext cx="144462" cy="144463"/>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
        <p:nvSpPr>
          <p:cNvPr id="93192" name="Rectangle 11"/>
          <p:cNvSpPr>
            <a:spLocks noChangeArrowheads="1"/>
          </p:cNvSpPr>
          <p:nvPr/>
        </p:nvSpPr>
        <p:spPr bwMode="auto">
          <a:xfrm>
            <a:off x="5157788" y="3457575"/>
            <a:ext cx="144462" cy="144463"/>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
        <p:nvSpPr>
          <p:cNvPr id="93193" name="Rectangle 12"/>
          <p:cNvSpPr>
            <a:spLocks noChangeArrowheads="1"/>
          </p:cNvSpPr>
          <p:nvPr/>
        </p:nvSpPr>
        <p:spPr bwMode="auto">
          <a:xfrm>
            <a:off x="1238250" y="2695575"/>
            <a:ext cx="144463" cy="14287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
        <p:nvSpPr>
          <p:cNvPr id="93194" name="Rectangle 13"/>
          <p:cNvSpPr>
            <a:spLocks noChangeArrowheads="1"/>
          </p:cNvSpPr>
          <p:nvPr/>
        </p:nvSpPr>
        <p:spPr bwMode="auto">
          <a:xfrm>
            <a:off x="1238250" y="2843213"/>
            <a:ext cx="144463" cy="14287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5725" tIns="42862" rIns="85725" bIns="42862"/>
          <a:lstStyle>
            <a:lvl1pPr marL="317500" indent="-317500" defTabSz="708025">
              <a:spcBef>
                <a:spcPct val="20000"/>
              </a:spcBef>
              <a:buClr>
                <a:schemeClr val="tx1"/>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defTabSz="708025">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defTabSz="708025">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defTabSz="708025">
              <a:spcBef>
                <a:spcPct val="20000"/>
              </a:spcBef>
              <a:buClr>
                <a:schemeClr val="tx1"/>
              </a:buClr>
              <a:buChar char="–"/>
              <a:defRPr sz="2000">
                <a:solidFill>
                  <a:schemeClr val="tx1"/>
                </a:solidFill>
                <a:latin typeface="Times New Roman" panose="02020603050405020304" pitchFamily="18" charset="0"/>
              </a:defRPr>
            </a:lvl4pPr>
            <a:lvl5pPr marL="2057400" indent="-228600" defTabSz="708025">
              <a:spcBef>
                <a:spcPct val="20000"/>
              </a:spcBef>
              <a:buClr>
                <a:schemeClr val="accent1"/>
              </a:buClr>
              <a:buChar char="•"/>
              <a:defRPr sz="2000">
                <a:solidFill>
                  <a:schemeClr val="tx1"/>
                </a:solidFill>
                <a:latin typeface="Times New Roman" panose="02020603050405020304" pitchFamily="18" charset="0"/>
              </a:defRPr>
            </a:lvl5pPr>
            <a:lvl6pPr marL="25146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defTabSz="708025"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40000"/>
              </a:spcBef>
              <a:buClr>
                <a:srgbClr val="0000FF"/>
              </a:buClr>
              <a:buSzPct val="120000"/>
              <a:buFont typeface="Wingdings" panose="05000000000000000000" pitchFamily="2" charset="2"/>
              <a:buChar char="î"/>
            </a:pPr>
            <a:endParaRPr lang="de-CH" altLang="en-US" sz="2000">
              <a:latin typeface="Tahoma" panose="020B0604030504040204" pitchFamily="34" charset="0"/>
            </a:endParaRPr>
          </a:p>
        </p:txBody>
      </p:sp>
    </p:spTree>
    <p:extLst>
      <p:ext uri="{BB962C8B-B14F-4D97-AF65-F5344CB8AC3E}">
        <p14:creationId xmlns:p14="http://schemas.microsoft.com/office/powerpoint/2010/main" val="34398709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20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2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500034" y="1357298"/>
            <a:ext cx="8286807" cy="4929222"/>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857224" y="1142984"/>
            <a:ext cx="7643866" cy="5072098"/>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defRPr/>
            </a:pPr>
            <a:r>
              <a:rPr lang="en-US" altLang="en-US"/>
              <a:t>SET Components</a:t>
            </a:r>
            <a:endParaRPr lang="en-AU" altLang="en-US"/>
          </a:p>
        </p:txBody>
      </p:sp>
      <p:pic>
        <p:nvPicPr>
          <p:cNvPr id="96259"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4264481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srcRect/>
          <a:stretch>
            <a:fillRect/>
          </a:stretch>
        </p:blipFill>
        <p:spPr bwMode="auto">
          <a:xfrm>
            <a:off x="500034" y="1214422"/>
            <a:ext cx="8001056" cy="4714907"/>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defRPr/>
            </a:pPr>
            <a:r>
              <a:rPr lang="en-US" altLang="en-US"/>
              <a:t>SET Transaction</a:t>
            </a:r>
            <a:endParaRPr lang="en-AU" altLang="en-US"/>
          </a:p>
        </p:txBody>
      </p:sp>
      <p:sp>
        <p:nvSpPr>
          <p:cNvPr id="98307" name="Rectangle 3"/>
          <p:cNvSpPr>
            <a:spLocks noGrp="1" noChangeArrowheads="1"/>
          </p:cNvSpPr>
          <p:nvPr>
            <p:ph type="body" idx="1"/>
          </p:nvPr>
        </p:nvSpPr>
        <p:spPr/>
        <p:txBody>
          <a:bodyPr/>
          <a:lstStyle/>
          <a:p>
            <a:pPr marL="533400" indent="-533400">
              <a:lnSpc>
                <a:spcPct val="80000"/>
              </a:lnSpc>
              <a:buFontTx/>
              <a:buAutoNum type="arabicPeriod"/>
            </a:pPr>
            <a:r>
              <a:rPr lang="en-AU" altLang="en-US" sz="2800" smtClean="0"/>
              <a:t>customer opens account</a:t>
            </a:r>
          </a:p>
          <a:p>
            <a:pPr marL="533400" indent="-533400">
              <a:lnSpc>
                <a:spcPct val="80000"/>
              </a:lnSpc>
              <a:buFontTx/>
              <a:buAutoNum type="arabicPeriod"/>
            </a:pPr>
            <a:r>
              <a:rPr lang="en-AU" altLang="en-US" sz="2800" smtClean="0"/>
              <a:t>customer receives a certificate</a:t>
            </a:r>
          </a:p>
          <a:p>
            <a:pPr marL="533400" indent="-533400">
              <a:lnSpc>
                <a:spcPct val="80000"/>
              </a:lnSpc>
              <a:buFontTx/>
              <a:buAutoNum type="arabicPeriod"/>
            </a:pPr>
            <a:r>
              <a:rPr lang="en-AU" altLang="en-US" sz="2800" smtClean="0"/>
              <a:t>merchants have their own certificates</a:t>
            </a:r>
          </a:p>
          <a:p>
            <a:pPr marL="533400" indent="-533400">
              <a:lnSpc>
                <a:spcPct val="80000"/>
              </a:lnSpc>
              <a:buFontTx/>
              <a:buAutoNum type="arabicPeriod"/>
            </a:pPr>
            <a:r>
              <a:rPr lang="en-AU" altLang="en-US" sz="2800" smtClean="0"/>
              <a:t>customer places an order</a:t>
            </a:r>
          </a:p>
          <a:p>
            <a:pPr marL="533400" indent="-533400">
              <a:lnSpc>
                <a:spcPct val="80000"/>
              </a:lnSpc>
              <a:buFontTx/>
              <a:buAutoNum type="arabicPeriod"/>
            </a:pPr>
            <a:r>
              <a:rPr lang="en-AU" altLang="en-US" sz="2800" smtClean="0"/>
              <a:t>merchant is verified</a:t>
            </a:r>
          </a:p>
          <a:p>
            <a:pPr marL="533400" indent="-533400">
              <a:lnSpc>
                <a:spcPct val="80000"/>
              </a:lnSpc>
              <a:buFontTx/>
              <a:buAutoNum type="arabicPeriod"/>
            </a:pPr>
            <a:r>
              <a:rPr lang="en-AU" altLang="en-US" sz="2800" smtClean="0"/>
              <a:t>order and payment are sent</a:t>
            </a:r>
          </a:p>
          <a:p>
            <a:pPr marL="533400" indent="-533400">
              <a:lnSpc>
                <a:spcPct val="80000"/>
              </a:lnSpc>
              <a:buFontTx/>
              <a:buAutoNum type="arabicPeriod"/>
            </a:pPr>
            <a:r>
              <a:rPr lang="en-AU" altLang="en-US" sz="2800" smtClean="0"/>
              <a:t>merchant requests payment authorization</a:t>
            </a:r>
          </a:p>
          <a:p>
            <a:pPr marL="533400" indent="-533400">
              <a:lnSpc>
                <a:spcPct val="80000"/>
              </a:lnSpc>
              <a:buFontTx/>
              <a:buAutoNum type="arabicPeriod"/>
            </a:pPr>
            <a:r>
              <a:rPr lang="en-AU" altLang="en-US" sz="2800" smtClean="0"/>
              <a:t>merchant confirms order</a:t>
            </a:r>
          </a:p>
          <a:p>
            <a:pPr marL="533400" indent="-533400">
              <a:lnSpc>
                <a:spcPct val="80000"/>
              </a:lnSpc>
              <a:buFontTx/>
              <a:buAutoNum type="arabicPeriod"/>
            </a:pPr>
            <a:r>
              <a:rPr lang="en-AU" altLang="en-US" sz="2800" smtClean="0"/>
              <a:t>merchant provides goods or service</a:t>
            </a:r>
          </a:p>
          <a:p>
            <a:pPr marL="533400" indent="-533400">
              <a:lnSpc>
                <a:spcPct val="80000"/>
              </a:lnSpc>
              <a:buFontTx/>
              <a:buAutoNum type="arabicPeriod"/>
            </a:pPr>
            <a:r>
              <a:rPr lang="en-AU" altLang="en-US" sz="2800" smtClean="0"/>
              <a:t>merchant requests payment</a:t>
            </a:r>
          </a:p>
        </p:txBody>
      </p:sp>
    </p:spTree>
    <p:extLst>
      <p:ext uri="{BB962C8B-B14F-4D97-AF65-F5344CB8AC3E}">
        <p14:creationId xmlns:p14="http://schemas.microsoft.com/office/powerpoint/2010/main" val="209850681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srcRect/>
          <a:stretch>
            <a:fillRect/>
          </a:stretch>
        </p:blipFill>
        <p:spPr bwMode="auto">
          <a:xfrm>
            <a:off x="357158" y="357166"/>
            <a:ext cx="8429684" cy="5468165"/>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srcRect/>
          <a:stretch>
            <a:fillRect/>
          </a:stretch>
        </p:blipFill>
        <p:spPr bwMode="auto">
          <a:xfrm>
            <a:off x="785786" y="1214422"/>
            <a:ext cx="7500989" cy="5143536"/>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a:srcRect/>
          <a:stretch>
            <a:fillRect/>
          </a:stretch>
        </p:blipFill>
        <p:spPr bwMode="auto">
          <a:xfrm>
            <a:off x="500034" y="857232"/>
            <a:ext cx="7500990" cy="5286412"/>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defRPr/>
            </a:pPr>
            <a:r>
              <a:rPr lang="en-US" altLang="en-US"/>
              <a:t>Purchase Request – Customer</a:t>
            </a:r>
            <a:endParaRPr lang="en-AU" altLang="en-US"/>
          </a:p>
        </p:txBody>
      </p:sp>
      <p:pic>
        <p:nvPicPr>
          <p:cNvPr id="100355"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28005971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defRPr/>
            </a:pPr>
            <a:r>
              <a:rPr lang="en-US" altLang="en-US"/>
              <a:t>Purchase Request – Merchant</a:t>
            </a:r>
            <a:endParaRPr lang="en-AU" altLang="en-US"/>
          </a:p>
        </p:txBody>
      </p:sp>
      <p:pic>
        <p:nvPicPr>
          <p:cNvPr id="102403"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403350" y="1600200"/>
            <a:ext cx="6985000" cy="4525963"/>
          </a:xfrm>
        </p:spPr>
      </p:pic>
    </p:spTree>
    <p:extLst>
      <p:ext uri="{BB962C8B-B14F-4D97-AF65-F5344CB8AC3E}">
        <p14:creationId xmlns:p14="http://schemas.microsoft.com/office/powerpoint/2010/main" val="84715208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altLang="en-US"/>
              <a:t>Purchase Request – Merchant</a:t>
            </a:r>
            <a:endParaRPr lang="en-AU" altLang="en-US"/>
          </a:p>
        </p:txBody>
      </p:sp>
      <p:sp>
        <p:nvSpPr>
          <p:cNvPr id="104451" name="Rectangle 3"/>
          <p:cNvSpPr>
            <a:spLocks noGrp="1" noChangeArrowheads="1"/>
          </p:cNvSpPr>
          <p:nvPr>
            <p:ph type="body" idx="1"/>
          </p:nvPr>
        </p:nvSpPr>
        <p:spPr/>
        <p:txBody>
          <a:bodyPr/>
          <a:lstStyle/>
          <a:p>
            <a:pPr marL="533400" indent="-533400">
              <a:buFontTx/>
              <a:buAutoNum type="arabicPeriod"/>
            </a:pPr>
            <a:r>
              <a:rPr lang="en-AU" altLang="en-US" sz="2800" smtClean="0"/>
              <a:t>verifies cardholder certificates using CA sigs</a:t>
            </a:r>
          </a:p>
          <a:p>
            <a:pPr marL="533400" indent="-533400">
              <a:buFontTx/>
              <a:buAutoNum type="arabicPeriod"/>
            </a:pPr>
            <a:r>
              <a:rPr lang="en-AU" altLang="en-US" sz="2800" smtClean="0"/>
              <a:t>verifies dual signature using customer's public signature key to ensure order has not been tampered with in transit &amp; that it was signed using cardholder's private signature key</a:t>
            </a:r>
          </a:p>
          <a:p>
            <a:pPr marL="533400" indent="-533400">
              <a:buFontTx/>
              <a:buAutoNum type="arabicPeriod"/>
            </a:pPr>
            <a:r>
              <a:rPr lang="en-AU" altLang="en-US" sz="2800" smtClean="0"/>
              <a:t>processes order and forwards the payment information to the payment gateway for authorization (described later)</a:t>
            </a:r>
          </a:p>
          <a:p>
            <a:pPr marL="533400" indent="-533400">
              <a:buFontTx/>
              <a:buAutoNum type="arabicPeriod"/>
            </a:pPr>
            <a:r>
              <a:rPr lang="en-AU" altLang="en-US" sz="2800" smtClean="0"/>
              <a:t>sends a purchase response to cardholder</a:t>
            </a:r>
          </a:p>
          <a:p>
            <a:pPr marL="533400" indent="-533400"/>
            <a:endParaRPr lang="en-AU" altLang="en-US" sz="2800" smtClean="0"/>
          </a:p>
        </p:txBody>
      </p:sp>
    </p:spTree>
    <p:extLst>
      <p:ext uri="{BB962C8B-B14F-4D97-AF65-F5344CB8AC3E}">
        <p14:creationId xmlns:p14="http://schemas.microsoft.com/office/powerpoint/2010/main" val="89982061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p:cNvPicPr>
            <a:picLocks noGrp="1" noChangeAspect="1" noChangeArrowheads="1"/>
          </p:cNvPicPr>
          <p:nvPr>
            <p:ph idx="1"/>
          </p:nvPr>
        </p:nvPicPr>
        <p:blipFill>
          <a:blip r:embed="rId2"/>
          <a:srcRect/>
          <a:stretch>
            <a:fillRect/>
          </a:stretch>
        </p:blipFill>
        <p:spPr bwMode="auto">
          <a:xfrm>
            <a:off x="785786" y="928670"/>
            <a:ext cx="7500990" cy="4587099"/>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p:cNvPicPr>
            <a:picLocks noGrp="1" noChangeAspect="1" noChangeArrowheads="1"/>
          </p:cNvPicPr>
          <p:nvPr>
            <p:ph idx="1"/>
          </p:nvPr>
        </p:nvPicPr>
        <p:blipFill>
          <a:blip r:embed="rId2"/>
          <a:srcRect/>
          <a:stretch>
            <a:fillRect/>
          </a:stretch>
        </p:blipFill>
        <p:spPr bwMode="auto">
          <a:xfrm>
            <a:off x="500034" y="857232"/>
            <a:ext cx="7929618" cy="5429288"/>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defRPr/>
            </a:pPr>
            <a:r>
              <a:rPr lang="en-US" altLang="en-US"/>
              <a:t>Payment Gateway Authorization</a:t>
            </a:r>
            <a:endParaRPr lang="en-AU" altLang="en-US"/>
          </a:p>
        </p:txBody>
      </p:sp>
      <p:sp>
        <p:nvSpPr>
          <p:cNvPr id="105475" name="Rectangle 3"/>
          <p:cNvSpPr>
            <a:spLocks noGrp="1" noChangeArrowheads="1"/>
          </p:cNvSpPr>
          <p:nvPr>
            <p:ph type="body" idx="1"/>
          </p:nvPr>
        </p:nvSpPr>
        <p:spPr/>
        <p:txBody>
          <a:bodyPr/>
          <a:lstStyle/>
          <a:p>
            <a:pPr marL="457200" indent="-457200">
              <a:lnSpc>
                <a:spcPct val="90000"/>
              </a:lnSpc>
              <a:buFontTx/>
              <a:buAutoNum type="arabicPeriod"/>
            </a:pPr>
            <a:r>
              <a:rPr lang="en-AU" altLang="en-US" sz="2400" smtClean="0"/>
              <a:t>verifies all certificates</a:t>
            </a:r>
          </a:p>
          <a:p>
            <a:pPr marL="457200" indent="-457200">
              <a:lnSpc>
                <a:spcPct val="90000"/>
              </a:lnSpc>
              <a:buFontTx/>
              <a:buAutoNum type="arabicPeriod"/>
            </a:pPr>
            <a:r>
              <a:rPr lang="en-AU" altLang="en-US" sz="2400" smtClean="0"/>
              <a:t>decrypts digital envelope of authorization block to obtain symmetric key &amp; then decrypts authorization block</a:t>
            </a:r>
          </a:p>
          <a:p>
            <a:pPr marL="457200" indent="-457200">
              <a:lnSpc>
                <a:spcPct val="90000"/>
              </a:lnSpc>
              <a:buFontTx/>
              <a:buAutoNum type="arabicPeriod"/>
            </a:pPr>
            <a:r>
              <a:rPr lang="en-AU" altLang="en-US" sz="2400" smtClean="0"/>
              <a:t>verifies merchant's signature on authorization block</a:t>
            </a:r>
          </a:p>
          <a:p>
            <a:pPr marL="457200" indent="-457200">
              <a:lnSpc>
                <a:spcPct val="90000"/>
              </a:lnSpc>
              <a:buFontTx/>
              <a:buAutoNum type="arabicPeriod"/>
            </a:pPr>
            <a:r>
              <a:rPr lang="en-AU" altLang="en-US" sz="2400" smtClean="0"/>
              <a:t>decrypts digital envelope of payment block to obtain symmetric key &amp; then decrypts payment block</a:t>
            </a:r>
          </a:p>
          <a:p>
            <a:pPr marL="457200" indent="-457200">
              <a:lnSpc>
                <a:spcPct val="90000"/>
              </a:lnSpc>
              <a:buFontTx/>
              <a:buAutoNum type="arabicPeriod"/>
            </a:pPr>
            <a:r>
              <a:rPr lang="en-AU" altLang="en-US" sz="2400" smtClean="0"/>
              <a:t>verifies dual signature on payment block</a:t>
            </a:r>
          </a:p>
          <a:p>
            <a:pPr marL="457200" indent="-457200">
              <a:lnSpc>
                <a:spcPct val="90000"/>
              </a:lnSpc>
              <a:buFontTx/>
              <a:buAutoNum type="arabicPeriod"/>
            </a:pPr>
            <a:r>
              <a:rPr lang="en-AU" altLang="en-US" sz="2400" smtClean="0"/>
              <a:t>verifies that transaction ID received from merchant matches that in PI received (indirectly) from customer</a:t>
            </a:r>
          </a:p>
          <a:p>
            <a:pPr marL="457200" indent="-457200">
              <a:lnSpc>
                <a:spcPct val="90000"/>
              </a:lnSpc>
              <a:buFontTx/>
              <a:buAutoNum type="arabicPeriod"/>
            </a:pPr>
            <a:r>
              <a:rPr lang="en-AU" altLang="en-US" sz="2400" smtClean="0"/>
              <a:t>requests &amp; receives an authorization from issuer</a:t>
            </a:r>
          </a:p>
          <a:p>
            <a:pPr marL="457200" indent="-457200">
              <a:lnSpc>
                <a:spcPct val="90000"/>
              </a:lnSpc>
              <a:buFontTx/>
              <a:buAutoNum type="arabicPeriod"/>
            </a:pPr>
            <a:r>
              <a:rPr lang="en-US" altLang="en-US" sz="2400" smtClean="0"/>
              <a:t>sends authorization response back to merchant</a:t>
            </a:r>
            <a:endParaRPr lang="en-AU" altLang="en-US" sz="2400" smtClean="0"/>
          </a:p>
        </p:txBody>
      </p:sp>
    </p:spTree>
    <p:extLst>
      <p:ext uri="{BB962C8B-B14F-4D97-AF65-F5344CB8AC3E}">
        <p14:creationId xmlns:p14="http://schemas.microsoft.com/office/powerpoint/2010/main" val="371318316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defRPr/>
            </a:pPr>
            <a:r>
              <a:rPr lang="en-US" altLang="en-US"/>
              <a:t>Payment Capture</a:t>
            </a:r>
            <a:endParaRPr lang="en-AU" altLang="en-US"/>
          </a:p>
        </p:txBody>
      </p:sp>
      <p:sp>
        <p:nvSpPr>
          <p:cNvPr id="106499" name="Rectangle 3"/>
          <p:cNvSpPr>
            <a:spLocks noGrp="1" noChangeArrowheads="1"/>
          </p:cNvSpPr>
          <p:nvPr>
            <p:ph type="body" idx="1"/>
          </p:nvPr>
        </p:nvSpPr>
        <p:spPr/>
        <p:txBody>
          <a:bodyPr/>
          <a:lstStyle/>
          <a:p>
            <a:r>
              <a:rPr lang="en-US" altLang="en-US" smtClean="0"/>
              <a:t>merchant sends payment gateway a payment capture request</a:t>
            </a:r>
          </a:p>
          <a:p>
            <a:r>
              <a:rPr lang="en-US" altLang="en-US" smtClean="0"/>
              <a:t>gateway checks request</a:t>
            </a:r>
          </a:p>
          <a:p>
            <a:r>
              <a:rPr lang="en-US" altLang="en-US" smtClean="0"/>
              <a:t>then causes funds to be transferred to merchants account</a:t>
            </a:r>
          </a:p>
          <a:p>
            <a:r>
              <a:rPr lang="en-US" altLang="en-US" smtClean="0"/>
              <a:t>notifies merchant using capture response</a:t>
            </a:r>
            <a:endParaRPr lang="en-AU" altLang="en-US" smtClean="0"/>
          </a:p>
        </p:txBody>
      </p:sp>
    </p:spTree>
    <p:extLst>
      <p:ext uri="{BB962C8B-B14F-4D97-AF65-F5344CB8AC3E}">
        <p14:creationId xmlns:p14="http://schemas.microsoft.com/office/powerpoint/2010/main" val="23714237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en-US" altLang="en-US"/>
              <a:t>Summary</a:t>
            </a:r>
            <a:endParaRPr lang="en-AU" altLang="en-US"/>
          </a:p>
        </p:txBody>
      </p:sp>
      <p:sp>
        <p:nvSpPr>
          <p:cNvPr id="107523" name="Rectangle 3"/>
          <p:cNvSpPr>
            <a:spLocks noGrp="1" noChangeArrowheads="1"/>
          </p:cNvSpPr>
          <p:nvPr>
            <p:ph type="body" idx="1"/>
          </p:nvPr>
        </p:nvSpPr>
        <p:spPr/>
        <p:txBody>
          <a:bodyPr/>
          <a:lstStyle/>
          <a:p>
            <a:r>
              <a:rPr lang="en-US" altLang="en-US" smtClean="0"/>
              <a:t>have considered:</a:t>
            </a:r>
          </a:p>
          <a:p>
            <a:pPr lvl="1"/>
            <a:r>
              <a:rPr lang="en-US" altLang="en-US" smtClean="0"/>
              <a:t>need for web security</a:t>
            </a:r>
          </a:p>
          <a:p>
            <a:pPr lvl="1"/>
            <a:r>
              <a:rPr lang="en-US" altLang="en-US" smtClean="0"/>
              <a:t>SSL/TLS transport layer security protocols</a:t>
            </a:r>
          </a:p>
          <a:p>
            <a:pPr lvl="1"/>
            <a:r>
              <a:rPr lang="en-US" altLang="en-US" smtClean="0"/>
              <a:t>SET secure credit card payment protocols</a:t>
            </a:r>
          </a:p>
          <a:p>
            <a:pPr lvl="1"/>
            <a:endParaRPr lang="en-US" altLang="en-US" smtClean="0"/>
          </a:p>
          <a:p>
            <a:pPr lvl="1"/>
            <a:endParaRPr lang="en-AU" altLang="en-US" smtClean="0"/>
          </a:p>
        </p:txBody>
      </p:sp>
    </p:spTree>
    <p:extLst>
      <p:ext uri="{BB962C8B-B14F-4D97-AF65-F5344CB8AC3E}">
        <p14:creationId xmlns:p14="http://schemas.microsoft.com/office/powerpoint/2010/main" val="70263349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p:spTree>
    <p:extLst>
      <p:ext uri="{BB962C8B-B14F-4D97-AF65-F5344CB8AC3E}">
        <p14:creationId xmlns:p14="http://schemas.microsoft.com/office/powerpoint/2010/main" val="39562474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6578</TotalTime>
  <Words>5390</Words>
  <Application>Microsoft Office PowerPoint</Application>
  <PresentationFormat>On-screen Show (4:3)</PresentationFormat>
  <Paragraphs>606</Paragraphs>
  <Slides>74</Slides>
  <Notes>27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74</vt:i4>
      </vt:variant>
    </vt:vector>
  </HeadingPairs>
  <TitlesOfParts>
    <vt:vector size="83" baseType="lpstr">
      <vt:lpstr>ＭＳ Ｐゴシック</vt:lpstr>
      <vt:lpstr>Arial</vt:lpstr>
      <vt:lpstr>Calibri</vt:lpstr>
      <vt:lpstr>Courier New</vt:lpstr>
      <vt:lpstr>Tahoma</vt:lpstr>
      <vt:lpstr>Times New Roman</vt:lpstr>
      <vt:lpstr>Wingdings</vt:lpstr>
      <vt:lpstr>Office Theme</vt:lpstr>
      <vt:lpstr>1_Office Theme</vt:lpstr>
      <vt:lpstr>Course Name :  Network Security</vt:lpstr>
      <vt:lpstr>Session#2  Transport Layer Security</vt:lpstr>
      <vt:lpstr>Web Security</vt:lpstr>
      <vt:lpstr>Web Traffic Security Approaches</vt:lpstr>
      <vt:lpstr>TCP/IP Protocol Stack</vt:lpstr>
      <vt:lpstr>Communication Between Layers</vt:lpstr>
      <vt:lpstr>Transport Layer</vt:lpstr>
      <vt:lpstr>Security Requirements</vt:lpstr>
      <vt:lpstr>Transport Layer Security</vt:lpstr>
      <vt:lpstr>Transport Layer Security Protocols</vt:lpstr>
      <vt:lpstr>Secure Socket Layer (SSL)</vt:lpstr>
      <vt:lpstr>SSL</vt:lpstr>
      <vt:lpstr>SSL</vt:lpstr>
      <vt:lpstr>PowerPoint Presentation</vt:lpstr>
      <vt:lpstr>SSL Services</vt:lpstr>
      <vt:lpstr>SSL Architecture</vt:lpstr>
      <vt:lpstr>SSL Handshake Message Format</vt:lpstr>
      <vt:lpstr>SSL Handshake Messages</vt:lpstr>
      <vt:lpstr>SSL Handshake Process: 4 phases</vt:lpstr>
      <vt:lpstr>SSL Handshake – Phase 1</vt:lpstr>
      <vt:lpstr>SSL Handshake – Phase 1: Client Hello</vt:lpstr>
      <vt:lpstr>SSL Handshake – Phase 1: Server Hello</vt:lpstr>
      <vt:lpstr>SSL Handshake – Phase 2</vt:lpstr>
      <vt:lpstr>SSL Handshake – Phase 2: steps</vt:lpstr>
      <vt:lpstr>SSL Handshake – Phase 3</vt:lpstr>
      <vt:lpstr>SSL Handshake – Phase 4</vt:lpstr>
      <vt:lpstr>Summary-Handshake Protocol </vt:lpstr>
      <vt:lpstr>Symmetric Session Key Generation (Happens in the Change cipher specs step)</vt:lpstr>
      <vt:lpstr>Sample SSL in wireshark</vt:lpstr>
      <vt:lpstr>SSL Record Protocol</vt:lpstr>
      <vt:lpstr>SSL Record Protocol</vt:lpstr>
      <vt:lpstr>SSL Alert Protocol</vt:lpstr>
      <vt:lpstr>SSL Alert Protocol</vt:lpstr>
      <vt:lpstr>SSL: Operation</vt:lpstr>
      <vt:lpstr>SSL: Security Measures</vt:lpstr>
      <vt:lpstr>SSL: Applications</vt:lpstr>
      <vt:lpstr>Cryptographic Computations</vt:lpstr>
      <vt:lpstr>TLS (Transport Layer Security)</vt:lpstr>
      <vt:lpstr>HTTPS</vt:lpstr>
      <vt:lpstr>HTTPS Use</vt:lpstr>
      <vt:lpstr>Secure Shell (SSH)</vt:lpstr>
      <vt:lpstr>SSH Protocol Stack</vt:lpstr>
      <vt:lpstr>SSH Transport Layer Protocol</vt:lpstr>
      <vt:lpstr>SSH User Authentication Protocol</vt:lpstr>
      <vt:lpstr>SSH Connection Protocol</vt:lpstr>
      <vt:lpstr>SSH Connection Protocol Exchange</vt:lpstr>
      <vt:lpstr>SSL Delay</vt:lpstr>
      <vt:lpstr>SSL testing criteria https://www.owasp.org/index.php/Testing_for_SSL-TLS_%28OWASP-CM-001%29 </vt:lpstr>
      <vt:lpstr>TLS Session Example</vt:lpstr>
      <vt:lpstr>Secure Network Protocols for the OSI Stack</vt:lpstr>
      <vt:lpstr>TLS/SSL Protocol Layers</vt:lpstr>
      <vt:lpstr>TLS Record Protocol</vt:lpstr>
      <vt:lpstr>TLS Handshake Protocol</vt:lpstr>
      <vt:lpstr>Resuming a TLS Session</vt:lpstr>
      <vt:lpstr>SSL/TLS Configuration Options - Mozilla Firefox</vt:lpstr>
      <vt:lpstr>SSL/TLS Configuration Options Mozilla Firefox</vt:lpstr>
      <vt:lpstr>SSL/TLS Configuration Options Microsoft Internet Explorer</vt:lpstr>
      <vt:lpstr>PowerPoint Presentation</vt:lpstr>
      <vt:lpstr>PowerPoint Presentation</vt:lpstr>
      <vt:lpstr>SET Components</vt:lpstr>
      <vt:lpstr>PowerPoint Presentation</vt:lpstr>
      <vt:lpstr>SET Transaction</vt:lpstr>
      <vt:lpstr>PowerPoint Presentation</vt:lpstr>
      <vt:lpstr>PowerPoint Presentation</vt:lpstr>
      <vt:lpstr>PowerPoint Presentation</vt:lpstr>
      <vt:lpstr>Purchase Request – Customer</vt:lpstr>
      <vt:lpstr>Purchase Request – Merchant</vt:lpstr>
      <vt:lpstr>Purchase Request – Merchant</vt:lpstr>
      <vt:lpstr>PowerPoint Presentation</vt:lpstr>
      <vt:lpstr>PowerPoint Presentation</vt:lpstr>
      <vt:lpstr>Payment Gateway Authorization</vt:lpstr>
      <vt:lpstr>Payment Capture</vt:lpstr>
      <vt:lpstr>Summary</vt:lpstr>
      <vt:lpstr>Thank You… </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HP</cp:lastModifiedBy>
  <cp:revision>110</cp:revision>
  <dcterms:created xsi:type="dcterms:W3CDTF">2012-01-02T05:05:52Z</dcterms:created>
  <dcterms:modified xsi:type="dcterms:W3CDTF">2019-10-20T06:02:35Z</dcterms:modified>
</cp:coreProperties>
</file>