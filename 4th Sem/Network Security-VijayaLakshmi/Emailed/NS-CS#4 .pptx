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slides/slide58.xml" ContentType="application/vnd.openxmlformats-officedocument.presentationml.slide+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Override PartName="/ppt/slideLayouts/slideLayout8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diagrams/layout1.xml" ContentType="application/vnd.openxmlformats-officedocument.drawingml.diagramLayout+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theme/theme6.xml" ContentType="application/vnd.openxmlformats-officedocument.theme+xml"/>
  <Override PartName="/ppt/slideLayouts/slideLayout87.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58.xml" ContentType="application/vnd.openxmlformats-officedocument.presentationml.slideLayout+xml"/>
  <Override PartName="/ppt/slideLayouts/slideLayout76.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65.xml" ContentType="application/vnd.openxmlformats-officedocument.presentationml.slideLayout+xml"/>
  <Override PartName="/ppt/slideLayouts/slideLayout83.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72.xml" ContentType="application/vnd.openxmlformats-officedocument.presentationml.slideLayout+xml"/>
  <Override PartName="/ppt/slideLayouts/slideLayout90.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Layouts/slideLayout21.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49.xml" ContentType="application/vnd.openxmlformats-officedocument.presentationml.slide+xml"/>
  <Override PartName="/ppt/slideLayouts/slideLayout59.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Masters/slideMaster6.xml" ContentType="application/vnd.openxmlformats-officedocument.presentationml.slideMaster+xml"/>
  <Override PartName="/ppt/slideLayouts/slideLayout89.xml" ContentType="application/vnd.openxmlformats-officedocument.presentationml.slideLayout+xml"/>
  <Override PartName="/ppt/theme/theme8.xml" ContentType="application/vnd.openxmlformats-officedocument.them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67.xml" ContentType="application/vnd.openxmlformats-officedocument.presentationml.slideLayout+xml"/>
  <Override PartName="/ppt/slideLayouts/slideLayout85.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Layouts/slideLayout16.xml" ContentType="application/vnd.openxmlformats-officedocument.presentationml.slideLayout+xml"/>
  <Default Extension="jpeg" ContentType="image/jpeg"/>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Override PartName="/ppt/diagrams/quickStyle1.xml" ContentType="application/vnd.openxmlformats-officedocument.drawingml.diagramStyl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Masters/slideMaster7.xml" ContentType="application/vnd.openxmlformats-officedocument.presentationml.slideMaster+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diagrams/data1.xml" ContentType="application/vnd.openxmlformats-officedocument.drawingml.diagramData+xml"/>
  <Override PartName="/ppt/slides/slide29.xml" ContentType="application/vnd.openxmlformats-officedocument.presentationml.slide+xml"/>
  <Override PartName="/ppt/slideLayouts/slideLayout39.xml" ContentType="application/vnd.openxmlformats-officedocument.presentationml.slideLayout+xml"/>
  <Override PartName="/ppt/slideLayouts/slideLayout8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821" r:id="rId3"/>
    <p:sldMasterId id="2147483833" r:id="rId4"/>
    <p:sldMasterId id="2147483845" r:id="rId5"/>
    <p:sldMasterId id="2147483857" r:id="rId6"/>
    <p:sldMasterId id="2147483869" r:id="rId7"/>
  </p:sldMasterIdLst>
  <p:notesMasterIdLst>
    <p:notesMasterId r:id="rId76"/>
  </p:notesMasterIdLst>
  <p:sldIdLst>
    <p:sldId id="279" r:id="rId8"/>
    <p:sldId id="319" r:id="rId9"/>
    <p:sldId id="663" r:id="rId10"/>
    <p:sldId id="664" r:id="rId11"/>
    <p:sldId id="665" r:id="rId12"/>
    <p:sldId id="666" r:id="rId13"/>
    <p:sldId id="667" r:id="rId14"/>
    <p:sldId id="668" r:id="rId15"/>
    <p:sldId id="669" r:id="rId16"/>
    <p:sldId id="719" r:id="rId17"/>
    <p:sldId id="720" r:id="rId18"/>
    <p:sldId id="721" r:id="rId19"/>
    <p:sldId id="723" r:id="rId20"/>
    <p:sldId id="747" r:id="rId21"/>
    <p:sldId id="722" r:id="rId22"/>
    <p:sldId id="724" r:id="rId23"/>
    <p:sldId id="725" r:id="rId24"/>
    <p:sldId id="726" r:id="rId25"/>
    <p:sldId id="727" r:id="rId26"/>
    <p:sldId id="728" r:id="rId27"/>
    <p:sldId id="729" r:id="rId28"/>
    <p:sldId id="730" r:id="rId29"/>
    <p:sldId id="731" r:id="rId30"/>
    <p:sldId id="734" r:id="rId31"/>
    <p:sldId id="735" r:id="rId32"/>
    <p:sldId id="732" r:id="rId33"/>
    <p:sldId id="733" r:id="rId34"/>
    <p:sldId id="736" r:id="rId35"/>
    <p:sldId id="741" r:id="rId36"/>
    <p:sldId id="674" r:id="rId37"/>
    <p:sldId id="675" r:id="rId38"/>
    <p:sldId id="676" r:id="rId39"/>
    <p:sldId id="677" r:id="rId40"/>
    <p:sldId id="737" r:id="rId41"/>
    <p:sldId id="678" r:id="rId42"/>
    <p:sldId id="679" r:id="rId43"/>
    <p:sldId id="681" r:id="rId44"/>
    <p:sldId id="682" r:id="rId45"/>
    <p:sldId id="683" r:id="rId46"/>
    <p:sldId id="684" r:id="rId47"/>
    <p:sldId id="685" r:id="rId48"/>
    <p:sldId id="686" r:id="rId49"/>
    <p:sldId id="687" r:id="rId50"/>
    <p:sldId id="688" r:id="rId51"/>
    <p:sldId id="748" r:id="rId52"/>
    <p:sldId id="738" r:id="rId53"/>
    <p:sldId id="739" r:id="rId54"/>
    <p:sldId id="740" r:id="rId55"/>
    <p:sldId id="691" r:id="rId56"/>
    <p:sldId id="692" r:id="rId57"/>
    <p:sldId id="742" r:id="rId58"/>
    <p:sldId id="743" r:id="rId59"/>
    <p:sldId id="744" r:id="rId60"/>
    <p:sldId id="745" r:id="rId61"/>
    <p:sldId id="746" r:id="rId62"/>
    <p:sldId id="749" r:id="rId63"/>
    <p:sldId id="696" r:id="rId64"/>
    <p:sldId id="750" r:id="rId65"/>
    <p:sldId id="697" r:id="rId66"/>
    <p:sldId id="698" r:id="rId67"/>
    <p:sldId id="699" r:id="rId68"/>
    <p:sldId id="700" r:id="rId69"/>
    <p:sldId id="701" r:id="rId70"/>
    <p:sldId id="702" r:id="rId71"/>
    <p:sldId id="703" r:id="rId72"/>
    <p:sldId id="717" r:id="rId73"/>
    <p:sldId id="718" r:id="rId74"/>
    <p:sldId id="347"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603" autoAdjust="0"/>
    <p:restoredTop sz="94660"/>
  </p:normalViewPr>
  <p:slideViewPr>
    <p:cSldViewPr>
      <p:cViewPr varScale="1">
        <p:scale>
          <a:sx n="73" d="100"/>
          <a:sy n="73" d="100"/>
        </p:scale>
        <p:origin x="-1374"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openxmlformats.org/officeDocument/2006/relationships/notesMaster" Target="notesMasters/notesMaster1.xml"/><Relationship Id="rId7" Type="http://schemas.openxmlformats.org/officeDocument/2006/relationships/slideMaster" Target="slideMasters/slideMaster7.xml"/><Relationship Id="rId71"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4.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26A127-C177-4808-A54F-9E4D37F67341}"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IN"/>
        </a:p>
      </dgm:t>
    </dgm:pt>
    <dgm:pt modelId="{37329130-9028-456D-987E-ED0F56BA1A89}">
      <dgm:prSet phldrT="[Text]"/>
      <dgm:spPr>
        <a:solidFill>
          <a:srgbClr val="FFFF00"/>
        </a:solidFill>
        <a:ln>
          <a:solidFill>
            <a:schemeClr val="tx1"/>
          </a:solidFill>
        </a:ln>
      </dgm:spPr>
      <dgm:t>
        <a:bodyPr/>
        <a:lstStyle/>
        <a:p>
          <a:r>
            <a:rPr lang="en-IN" dirty="0" smtClean="0">
              <a:solidFill>
                <a:schemeClr val="tx1"/>
              </a:solidFill>
            </a:rPr>
            <a:t>Cryptanalytic Attacks</a:t>
          </a:r>
          <a:endParaRPr lang="en-IN" dirty="0">
            <a:solidFill>
              <a:schemeClr val="tx1"/>
            </a:solidFill>
          </a:endParaRPr>
        </a:p>
      </dgm:t>
    </dgm:pt>
    <dgm:pt modelId="{B21ACCE2-861A-497D-B9A9-D6E1893525B6}" type="parTrans" cxnId="{C6A28EE2-1BFD-4191-924F-ABED8C39CF38}">
      <dgm:prSet/>
      <dgm:spPr/>
      <dgm:t>
        <a:bodyPr/>
        <a:lstStyle/>
        <a:p>
          <a:endParaRPr lang="en-IN"/>
        </a:p>
      </dgm:t>
    </dgm:pt>
    <dgm:pt modelId="{B81558A7-441A-401A-8169-FFB7C551F903}" type="sibTrans" cxnId="{C6A28EE2-1BFD-4191-924F-ABED8C39CF38}">
      <dgm:prSet/>
      <dgm:spPr/>
      <dgm:t>
        <a:bodyPr/>
        <a:lstStyle/>
        <a:p>
          <a:endParaRPr lang="en-IN"/>
        </a:p>
      </dgm:t>
    </dgm:pt>
    <dgm:pt modelId="{97052D93-F7A6-4544-BC49-738D51A50A7A}">
      <dgm:prSet phldrT="[Text]"/>
      <dgm:spPr>
        <a:solidFill>
          <a:srgbClr val="92D050">
            <a:alpha val="90000"/>
          </a:srgbClr>
        </a:solidFill>
        <a:ln>
          <a:solidFill>
            <a:schemeClr val="tx1"/>
          </a:solidFill>
        </a:ln>
      </dgm:spPr>
      <dgm:t>
        <a:bodyPr/>
        <a:lstStyle/>
        <a:p>
          <a:r>
            <a:rPr lang="en-IN" dirty="0" smtClean="0"/>
            <a:t>Ciphertext Only</a:t>
          </a:r>
          <a:endParaRPr lang="en-IN" dirty="0"/>
        </a:p>
      </dgm:t>
    </dgm:pt>
    <dgm:pt modelId="{E3B875EE-2195-42FD-AAF5-E7C03464F356}" type="parTrans" cxnId="{E7635AE5-7A0B-4605-A09A-481DDF02C27F}">
      <dgm:prSet/>
      <dgm:spPr>
        <a:ln>
          <a:solidFill>
            <a:schemeClr val="tx1"/>
          </a:solidFill>
        </a:ln>
      </dgm:spPr>
      <dgm:t>
        <a:bodyPr/>
        <a:lstStyle/>
        <a:p>
          <a:endParaRPr lang="en-IN"/>
        </a:p>
      </dgm:t>
    </dgm:pt>
    <dgm:pt modelId="{50D6D449-7240-4D63-8FF9-9DA5944952DE}" type="sibTrans" cxnId="{E7635AE5-7A0B-4605-A09A-481DDF02C27F}">
      <dgm:prSet/>
      <dgm:spPr/>
      <dgm:t>
        <a:bodyPr/>
        <a:lstStyle/>
        <a:p>
          <a:endParaRPr lang="en-IN"/>
        </a:p>
      </dgm:t>
    </dgm:pt>
    <dgm:pt modelId="{C9792D81-E67E-40EE-9D81-92FB81001DA0}">
      <dgm:prSet phldrT="[Text]"/>
      <dgm:spPr>
        <a:solidFill>
          <a:srgbClr val="FFC000">
            <a:alpha val="90000"/>
          </a:srgbClr>
        </a:solidFill>
        <a:ln>
          <a:solidFill>
            <a:schemeClr val="tx1"/>
          </a:solidFill>
        </a:ln>
      </dgm:spPr>
      <dgm:t>
        <a:bodyPr/>
        <a:lstStyle/>
        <a:p>
          <a:r>
            <a:rPr lang="en-IN" dirty="0" smtClean="0"/>
            <a:t>Known Plaintext</a:t>
          </a:r>
          <a:endParaRPr lang="en-IN" dirty="0"/>
        </a:p>
      </dgm:t>
    </dgm:pt>
    <dgm:pt modelId="{384F1B2B-4EA0-4FFE-BA82-9264457A1E78}" type="parTrans" cxnId="{DEEED9F4-FE62-4833-8CF0-56AE68B05A52}">
      <dgm:prSet/>
      <dgm:spPr>
        <a:ln>
          <a:solidFill>
            <a:schemeClr val="tx1"/>
          </a:solidFill>
        </a:ln>
      </dgm:spPr>
      <dgm:t>
        <a:bodyPr/>
        <a:lstStyle/>
        <a:p>
          <a:endParaRPr lang="en-IN"/>
        </a:p>
      </dgm:t>
    </dgm:pt>
    <dgm:pt modelId="{B1CCE4BA-F023-4AB1-8419-512C5E94A53D}" type="sibTrans" cxnId="{DEEED9F4-FE62-4833-8CF0-56AE68B05A52}">
      <dgm:prSet/>
      <dgm:spPr/>
      <dgm:t>
        <a:bodyPr/>
        <a:lstStyle/>
        <a:p>
          <a:endParaRPr lang="en-IN"/>
        </a:p>
      </dgm:t>
    </dgm:pt>
    <dgm:pt modelId="{3697F881-EF5D-4814-AB47-8732D68F8786}">
      <dgm:prSet/>
      <dgm:spPr>
        <a:solidFill>
          <a:srgbClr val="C00000">
            <a:alpha val="90000"/>
          </a:srgbClr>
        </a:solidFill>
        <a:ln>
          <a:solidFill>
            <a:schemeClr val="tx1"/>
          </a:solidFill>
        </a:ln>
      </dgm:spPr>
      <dgm:t>
        <a:bodyPr/>
        <a:lstStyle/>
        <a:p>
          <a:r>
            <a:rPr lang="en-IN" dirty="0" smtClean="0">
              <a:solidFill>
                <a:schemeClr val="bg1"/>
              </a:solidFill>
            </a:rPr>
            <a:t>Chosen Plaintext</a:t>
          </a:r>
          <a:endParaRPr lang="en-IN" dirty="0">
            <a:solidFill>
              <a:schemeClr val="bg1"/>
            </a:solidFill>
          </a:endParaRPr>
        </a:p>
      </dgm:t>
    </dgm:pt>
    <dgm:pt modelId="{5C9B5CD8-8C1B-4445-B30F-25C40482C6F1}" type="parTrans" cxnId="{BF5EFC11-1E17-4EE0-9FA5-EA4AF4D5A49A}">
      <dgm:prSet/>
      <dgm:spPr>
        <a:ln>
          <a:solidFill>
            <a:schemeClr val="tx1"/>
          </a:solidFill>
        </a:ln>
      </dgm:spPr>
      <dgm:t>
        <a:bodyPr/>
        <a:lstStyle/>
        <a:p>
          <a:endParaRPr lang="en-IN"/>
        </a:p>
      </dgm:t>
    </dgm:pt>
    <dgm:pt modelId="{93F3F19B-B712-45E2-90A7-67F99F2C6406}" type="sibTrans" cxnId="{BF5EFC11-1E17-4EE0-9FA5-EA4AF4D5A49A}">
      <dgm:prSet/>
      <dgm:spPr/>
      <dgm:t>
        <a:bodyPr/>
        <a:lstStyle/>
        <a:p>
          <a:endParaRPr lang="en-IN"/>
        </a:p>
      </dgm:t>
    </dgm:pt>
    <dgm:pt modelId="{551BA5A3-0A86-41FB-B9BD-CD172FF42B95}">
      <dgm:prSet/>
      <dgm:spPr>
        <a:solidFill>
          <a:srgbClr val="00B0F0">
            <a:alpha val="90000"/>
          </a:srgbClr>
        </a:solidFill>
        <a:ln>
          <a:solidFill>
            <a:schemeClr val="tx1"/>
          </a:solidFill>
        </a:ln>
      </dgm:spPr>
      <dgm:t>
        <a:bodyPr/>
        <a:lstStyle/>
        <a:p>
          <a:r>
            <a:rPr lang="en-IN" dirty="0" smtClean="0"/>
            <a:t>Chosen Ciphertext</a:t>
          </a:r>
          <a:endParaRPr lang="en-IN" dirty="0"/>
        </a:p>
      </dgm:t>
    </dgm:pt>
    <dgm:pt modelId="{4281708F-46F5-4384-BE74-C0C6AC3B44BE}" type="parTrans" cxnId="{8766EC1A-E3EF-4A1C-8C66-F81C4968D1BA}">
      <dgm:prSet/>
      <dgm:spPr>
        <a:ln>
          <a:solidFill>
            <a:schemeClr val="tx1"/>
          </a:solidFill>
        </a:ln>
      </dgm:spPr>
      <dgm:t>
        <a:bodyPr/>
        <a:lstStyle/>
        <a:p>
          <a:endParaRPr lang="en-IN"/>
        </a:p>
      </dgm:t>
    </dgm:pt>
    <dgm:pt modelId="{2E51A921-E7E3-41D8-B271-A4F0361F436D}" type="sibTrans" cxnId="{8766EC1A-E3EF-4A1C-8C66-F81C4968D1BA}">
      <dgm:prSet/>
      <dgm:spPr/>
      <dgm:t>
        <a:bodyPr/>
        <a:lstStyle/>
        <a:p>
          <a:endParaRPr lang="en-IN"/>
        </a:p>
      </dgm:t>
    </dgm:pt>
    <dgm:pt modelId="{858C60FC-D3AB-4C28-9003-3B232F39CEFE}" type="pres">
      <dgm:prSet presAssocID="{9626A127-C177-4808-A54F-9E4D37F67341}" presName="diagram" presStyleCnt="0">
        <dgm:presLayoutVars>
          <dgm:chPref val="1"/>
          <dgm:dir/>
          <dgm:animOne val="branch"/>
          <dgm:animLvl val="lvl"/>
          <dgm:resizeHandles/>
        </dgm:presLayoutVars>
      </dgm:prSet>
      <dgm:spPr/>
      <dgm:t>
        <a:bodyPr/>
        <a:lstStyle/>
        <a:p>
          <a:endParaRPr lang="en-IN"/>
        </a:p>
      </dgm:t>
    </dgm:pt>
    <dgm:pt modelId="{FA72E987-0C7C-442B-8AAB-87B989A78D5C}" type="pres">
      <dgm:prSet presAssocID="{37329130-9028-456D-987E-ED0F56BA1A89}" presName="root" presStyleCnt="0"/>
      <dgm:spPr/>
    </dgm:pt>
    <dgm:pt modelId="{8337C829-D5D2-4AF4-81DA-8B8F485E3144}" type="pres">
      <dgm:prSet presAssocID="{37329130-9028-456D-987E-ED0F56BA1A89}" presName="rootComposite" presStyleCnt="0"/>
      <dgm:spPr/>
    </dgm:pt>
    <dgm:pt modelId="{6EF267E9-2002-4992-8FF4-3788B4613FD8}" type="pres">
      <dgm:prSet presAssocID="{37329130-9028-456D-987E-ED0F56BA1A89}" presName="rootText" presStyleLbl="node1" presStyleIdx="0" presStyleCnt="1" custScaleX="156123"/>
      <dgm:spPr/>
      <dgm:t>
        <a:bodyPr/>
        <a:lstStyle/>
        <a:p>
          <a:endParaRPr lang="en-IN"/>
        </a:p>
      </dgm:t>
    </dgm:pt>
    <dgm:pt modelId="{216B3D76-9C65-4A91-B508-48BE685E6117}" type="pres">
      <dgm:prSet presAssocID="{37329130-9028-456D-987E-ED0F56BA1A89}" presName="rootConnector" presStyleLbl="node1" presStyleIdx="0" presStyleCnt="1"/>
      <dgm:spPr/>
      <dgm:t>
        <a:bodyPr/>
        <a:lstStyle/>
        <a:p>
          <a:endParaRPr lang="en-IN"/>
        </a:p>
      </dgm:t>
    </dgm:pt>
    <dgm:pt modelId="{C9C1834F-5AEF-4978-AC37-37DAF901EA09}" type="pres">
      <dgm:prSet presAssocID="{37329130-9028-456D-987E-ED0F56BA1A89}" presName="childShape" presStyleCnt="0"/>
      <dgm:spPr/>
    </dgm:pt>
    <dgm:pt modelId="{4E7638E2-F715-4635-84B5-B2353D44AF70}" type="pres">
      <dgm:prSet presAssocID="{E3B875EE-2195-42FD-AAF5-E7C03464F356}" presName="Name13" presStyleLbl="parChTrans1D2" presStyleIdx="0" presStyleCnt="4"/>
      <dgm:spPr/>
      <dgm:t>
        <a:bodyPr/>
        <a:lstStyle/>
        <a:p>
          <a:endParaRPr lang="en-IN"/>
        </a:p>
      </dgm:t>
    </dgm:pt>
    <dgm:pt modelId="{BCFD1010-81BB-4618-816D-D458DBA02A8D}" type="pres">
      <dgm:prSet presAssocID="{97052D93-F7A6-4544-BC49-738D51A50A7A}" presName="childText" presStyleLbl="bgAcc1" presStyleIdx="0" presStyleCnt="4" custScaleX="104293" custLinFactNeighborX="12314">
        <dgm:presLayoutVars>
          <dgm:bulletEnabled val="1"/>
        </dgm:presLayoutVars>
      </dgm:prSet>
      <dgm:spPr/>
      <dgm:t>
        <a:bodyPr/>
        <a:lstStyle/>
        <a:p>
          <a:endParaRPr lang="en-IN"/>
        </a:p>
      </dgm:t>
    </dgm:pt>
    <dgm:pt modelId="{7B818F72-7A0D-41CF-A367-EE8FAE6E14DE}" type="pres">
      <dgm:prSet presAssocID="{384F1B2B-4EA0-4FFE-BA82-9264457A1E78}" presName="Name13" presStyleLbl="parChTrans1D2" presStyleIdx="1" presStyleCnt="4"/>
      <dgm:spPr/>
      <dgm:t>
        <a:bodyPr/>
        <a:lstStyle/>
        <a:p>
          <a:endParaRPr lang="en-IN"/>
        </a:p>
      </dgm:t>
    </dgm:pt>
    <dgm:pt modelId="{2B733CA1-5924-4977-AC2C-63A360D5783F}" type="pres">
      <dgm:prSet presAssocID="{C9792D81-E67E-40EE-9D81-92FB81001DA0}" presName="childText" presStyleLbl="bgAcc1" presStyleIdx="1" presStyleCnt="4" custLinFactNeighborX="16607" custLinFactNeighborY="4180">
        <dgm:presLayoutVars>
          <dgm:bulletEnabled val="1"/>
        </dgm:presLayoutVars>
      </dgm:prSet>
      <dgm:spPr/>
      <dgm:t>
        <a:bodyPr/>
        <a:lstStyle/>
        <a:p>
          <a:endParaRPr lang="en-IN"/>
        </a:p>
      </dgm:t>
    </dgm:pt>
    <dgm:pt modelId="{CDDDD835-B953-4D93-8718-75DB015A6D0D}" type="pres">
      <dgm:prSet presAssocID="{5C9B5CD8-8C1B-4445-B30F-25C40482C6F1}" presName="Name13" presStyleLbl="parChTrans1D2" presStyleIdx="2" presStyleCnt="4"/>
      <dgm:spPr/>
      <dgm:t>
        <a:bodyPr/>
        <a:lstStyle/>
        <a:p>
          <a:endParaRPr lang="en-IN"/>
        </a:p>
      </dgm:t>
    </dgm:pt>
    <dgm:pt modelId="{58FE2678-E3A3-490B-B3DF-FDFD79FB52A2}" type="pres">
      <dgm:prSet presAssocID="{3697F881-EF5D-4814-AB47-8732D68F8786}" presName="childText" presStyleLbl="bgAcc1" presStyleIdx="2" presStyleCnt="4" custLinFactNeighborX="16607" custLinFactNeighborY="-1118">
        <dgm:presLayoutVars>
          <dgm:bulletEnabled val="1"/>
        </dgm:presLayoutVars>
      </dgm:prSet>
      <dgm:spPr/>
      <dgm:t>
        <a:bodyPr/>
        <a:lstStyle/>
        <a:p>
          <a:endParaRPr lang="en-IN"/>
        </a:p>
      </dgm:t>
    </dgm:pt>
    <dgm:pt modelId="{9871EBA2-7ED8-4FEC-92F4-CEEE1EE90AB2}" type="pres">
      <dgm:prSet presAssocID="{4281708F-46F5-4384-BE74-C0C6AC3B44BE}" presName="Name13" presStyleLbl="parChTrans1D2" presStyleIdx="3" presStyleCnt="4"/>
      <dgm:spPr/>
      <dgm:t>
        <a:bodyPr/>
        <a:lstStyle/>
        <a:p>
          <a:endParaRPr lang="en-IN"/>
        </a:p>
      </dgm:t>
    </dgm:pt>
    <dgm:pt modelId="{7C6B8572-330F-4FF5-AEE7-5748ADBCA42D}" type="pres">
      <dgm:prSet presAssocID="{551BA5A3-0A86-41FB-B9BD-CD172FF42B95}" presName="childText" presStyleLbl="bgAcc1" presStyleIdx="3" presStyleCnt="4" custLinFactNeighborX="16607" custLinFactNeighborY="452">
        <dgm:presLayoutVars>
          <dgm:bulletEnabled val="1"/>
        </dgm:presLayoutVars>
      </dgm:prSet>
      <dgm:spPr/>
      <dgm:t>
        <a:bodyPr/>
        <a:lstStyle/>
        <a:p>
          <a:endParaRPr lang="en-IN"/>
        </a:p>
      </dgm:t>
    </dgm:pt>
  </dgm:ptLst>
  <dgm:cxnLst>
    <dgm:cxn modelId="{176192A1-64E1-42E9-9624-80ABB483BED9}" type="presOf" srcId="{9626A127-C177-4808-A54F-9E4D37F67341}" destId="{858C60FC-D3AB-4C28-9003-3B232F39CEFE}" srcOrd="0" destOrd="0" presId="urn:microsoft.com/office/officeart/2005/8/layout/hierarchy3"/>
    <dgm:cxn modelId="{7064665F-1EF5-4DE2-B832-D50D62EC4B72}" type="presOf" srcId="{3697F881-EF5D-4814-AB47-8732D68F8786}" destId="{58FE2678-E3A3-490B-B3DF-FDFD79FB52A2}" srcOrd="0" destOrd="0" presId="urn:microsoft.com/office/officeart/2005/8/layout/hierarchy3"/>
    <dgm:cxn modelId="{1F3673C5-1E2B-49B3-B25F-5E89695EAB92}" type="presOf" srcId="{C9792D81-E67E-40EE-9D81-92FB81001DA0}" destId="{2B733CA1-5924-4977-AC2C-63A360D5783F}" srcOrd="0" destOrd="0" presId="urn:microsoft.com/office/officeart/2005/8/layout/hierarchy3"/>
    <dgm:cxn modelId="{EA3C5D2A-8DF6-4E44-8588-CBC6F9815517}" type="presOf" srcId="{37329130-9028-456D-987E-ED0F56BA1A89}" destId="{216B3D76-9C65-4A91-B508-48BE685E6117}" srcOrd="1" destOrd="0" presId="urn:microsoft.com/office/officeart/2005/8/layout/hierarchy3"/>
    <dgm:cxn modelId="{C6A28EE2-1BFD-4191-924F-ABED8C39CF38}" srcId="{9626A127-C177-4808-A54F-9E4D37F67341}" destId="{37329130-9028-456D-987E-ED0F56BA1A89}" srcOrd="0" destOrd="0" parTransId="{B21ACCE2-861A-497D-B9A9-D6E1893525B6}" sibTransId="{B81558A7-441A-401A-8169-FFB7C551F903}"/>
    <dgm:cxn modelId="{2CC06A6B-382C-4BA4-B9C1-EA43B9F55E52}" type="presOf" srcId="{4281708F-46F5-4384-BE74-C0C6AC3B44BE}" destId="{9871EBA2-7ED8-4FEC-92F4-CEEE1EE90AB2}" srcOrd="0" destOrd="0" presId="urn:microsoft.com/office/officeart/2005/8/layout/hierarchy3"/>
    <dgm:cxn modelId="{8766EC1A-E3EF-4A1C-8C66-F81C4968D1BA}" srcId="{37329130-9028-456D-987E-ED0F56BA1A89}" destId="{551BA5A3-0A86-41FB-B9BD-CD172FF42B95}" srcOrd="3" destOrd="0" parTransId="{4281708F-46F5-4384-BE74-C0C6AC3B44BE}" sibTransId="{2E51A921-E7E3-41D8-B271-A4F0361F436D}"/>
    <dgm:cxn modelId="{24BD6996-8354-4692-8413-24D9098FA0AB}" type="presOf" srcId="{384F1B2B-4EA0-4FFE-BA82-9264457A1E78}" destId="{7B818F72-7A0D-41CF-A367-EE8FAE6E14DE}" srcOrd="0" destOrd="0" presId="urn:microsoft.com/office/officeart/2005/8/layout/hierarchy3"/>
    <dgm:cxn modelId="{0B9F6B4F-DAF2-46F6-BA2D-CA4E216A2DD8}" type="presOf" srcId="{37329130-9028-456D-987E-ED0F56BA1A89}" destId="{6EF267E9-2002-4992-8FF4-3788B4613FD8}" srcOrd="0" destOrd="0" presId="urn:microsoft.com/office/officeart/2005/8/layout/hierarchy3"/>
    <dgm:cxn modelId="{E7635AE5-7A0B-4605-A09A-481DDF02C27F}" srcId="{37329130-9028-456D-987E-ED0F56BA1A89}" destId="{97052D93-F7A6-4544-BC49-738D51A50A7A}" srcOrd="0" destOrd="0" parTransId="{E3B875EE-2195-42FD-AAF5-E7C03464F356}" sibTransId="{50D6D449-7240-4D63-8FF9-9DA5944952DE}"/>
    <dgm:cxn modelId="{BF5EFC11-1E17-4EE0-9FA5-EA4AF4D5A49A}" srcId="{37329130-9028-456D-987E-ED0F56BA1A89}" destId="{3697F881-EF5D-4814-AB47-8732D68F8786}" srcOrd="2" destOrd="0" parTransId="{5C9B5CD8-8C1B-4445-B30F-25C40482C6F1}" sibTransId="{93F3F19B-B712-45E2-90A7-67F99F2C6406}"/>
    <dgm:cxn modelId="{DEEED9F4-FE62-4833-8CF0-56AE68B05A52}" srcId="{37329130-9028-456D-987E-ED0F56BA1A89}" destId="{C9792D81-E67E-40EE-9D81-92FB81001DA0}" srcOrd="1" destOrd="0" parTransId="{384F1B2B-4EA0-4FFE-BA82-9264457A1E78}" sibTransId="{B1CCE4BA-F023-4AB1-8419-512C5E94A53D}"/>
    <dgm:cxn modelId="{318F50E2-7194-4DE9-B958-BAB59F62F258}" type="presOf" srcId="{5C9B5CD8-8C1B-4445-B30F-25C40482C6F1}" destId="{CDDDD835-B953-4D93-8718-75DB015A6D0D}" srcOrd="0" destOrd="0" presId="urn:microsoft.com/office/officeart/2005/8/layout/hierarchy3"/>
    <dgm:cxn modelId="{6FE4E99E-71ED-4364-9D05-346D39744031}" type="presOf" srcId="{97052D93-F7A6-4544-BC49-738D51A50A7A}" destId="{BCFD1010-81BB-4618-816D-D458DBA02A8D}" srcOrd="0" destOrd="0" presId="urn:microsoft.com/office/officeart/2005/8/layout/hierarchy3"/>
    <dgm:cxn modelId="{BA10D2B6-F946-4E68-BAED-6FA73FB8AD3F}" type="presOf" srcId="{E3B875EE-2195-42FD-AAF5-E7C03464F356}" destId="{4E7638E2-F715-4635-84B5-B2353D44AF70}" srcOrd="0" destOrd="0" presId="urn:microsoft.com/office/officeart/2005/8/layout/hierarchy3"/>
    <dgm:cxn modelId="{3F850BAC-6418-4A45-887E-30B2322EE042}" type="presOf" srcId="{551BA5A3-0A86-41FB-B9BD-CD172FF42B95}" destId="{7C6B8572-330F-4FF5-AEE7-5748ADBCA42D}" srcOrd="0" destOrd="0" presId="urn:microsoft.com/office/officeart/2005/8/layout/hierarchy3"/>
    <dgm:cxn modelId="{6745BD2F-E629-4740-861D-CB14EF91A3F9}" type="presParOf" srcId="{858C60FC-D3AB-4C28-9003-3B232F39CEFE}" destId="{FA72E987-0C7C-442B-8AAB-87B989A78D5C}" srcOrd="0" destOrd="0" presId="urn:microsoft.com/office/officeart/2005/8/layout/hierarchy3"/>
    <dgm:cxn modelId="{8C2DC2A6-9417-427F-9E2F-749D17EBF09B}" type="presParOf" srcId="{FA72E987-0C7C-442B-8AAB-87B989A78D5C}" destId="{8337C829-D5D2-4AF4-81DA-8B8F485E3144}" srcOrd="0" destOrd="0" presId="urn:microsoft.com/office/officeart/2005/8/layout/hierarchy3"/>
    <dgm:cxn modelId="{93EE8227-3219-4517-B976-14D303384B9E}" type="presParOf" srcId="{8337C829-D5D2-4AF4-81DA-8B8F485E3144}" destId="{6EF267E9-2002-4992-8FF4-3788B4613FD8}" srcOrd="0" destOrd="0" presId="urn:microsoft.com/office/officeart/2005/8/layout/hierarchy3"/>
    <dgm:cxn modelId="{4404F915-E721-4B2B-8525-132E99CB1601}" type="presParOf" srcId="{8337C829-D5D2-4AF4-81DA-8B8F485E3144}" destId="{216B3D76-9C65-4A91-B508-48BE685E6117}" srcOrd="1" destOrd="0" presId="urn:microsoft.com/office/officeart/2005/8/layout/hierarchy3"/>
    <dgm:cxn modelId="{79DE5D3E-398D-4215-96F9-E60F0C30C20D}" type="presParOf" srcId="{FA72E987-0C7C-442B-8AAB-87B989A78D5C}" destId="{C9C1834F-5AEF-4978-AC37-37DAF901EA09}" srcOrd="1" destOrd="0" presId="urn:microsoft.com/office/officeart/2005/8/layout/hierarchy3"/>
    <dgm:cxn modelId="{17A6F88C-6D80-4D56-AE93-31AE1A132262}" type="presParOf" srcId="{C9C1834F-5AEF-4978-AC37-37DAF901EA09}" destId="{4E7638E2-F715-4635-84B5-B2353D44AF70}" srcOrd="0" destOrd="0" presId="urn:microsoft.com/office/officeart/2005/8/layout/hierarchy3"/>
    <dgm:cxn modelId="{BFC993EE-9397-4BAC-AC5E-B582A152307C}" type="presParOf" srcId="{C9C1834F-5AEF-4978-AC37-37DAF901EA09}" destId="{BCFD1010-81BB-4618-816D-D458DBA02A8D}" srcOrd="1" destOrd="0" presId="urn:microsoft.com/office/officeart/2005/8/layout/hierarchy3"/>
    <dgm:cxn modelId="{8FA6A4DE-E1CA-4FD6-A3BD-BED1BF8D0AC5}" type="presParOf" srcId="{C9C1834F-5AEF-4978-AC37-37DAF901EA09}" destId="{7B818F72-7A0D-41CF-A367-EE8FAE6E14DE}" srcOrd="2" destOrd="0" presId="urn:microsoft.com/office/officeart/2005/8/layout/hierarchy3"/>
    <dgm:cxn modelId="{EA1F9D0A-D239-4404-8FED-0533A3DA1D46}" type="presParOf" srcId="{C9C1834F-5AEF-4978-AC37-37DAF901EA09}" destId="{2B733CA1-5924-4977-AC2C-63A360D5783F}" srcOrd="3" destOrd="0" presId="urn:microsoft.com/office/officeart/2005/8/layout/hierarchy3"/>
    <dgm:cxn modelId="{2C85D882-C8DC-424D-905B-FD3DEE93E1A6}" type="presParOf" srcId="{C9C1834F-5AEF-4978-AC37-37DAF901EA09}" destId="{CDDDD835-B953-4D93-8718-75DB015A6D0D}" srcOrd="4" destOrd="0" presId="urn:microsoft.com/office/officeart/2005/8/layout/hierarchy3"/>
    <dgm:cxn modelId="{3C4E85ED-4D57-432D-8C93-0F899529C6B7}" type="presParOf" srcId="{C9C1834F-5AEF-4978-AC37-37DAF901EA09}" destId="{58FE2678-E3A3-490B-B3DF-FDFD79FB52A2}" srcOrd="5" destOrd="0" presId="urn:microsoft.com/office/officeart/2005/8/layout/hierarchy3"/>
    <dgm:cxn modelId="{887E7F8E-4F4C-4A46-B3E3-4317FCF02769}" type="presParOf" srcId="{C9C1834F-5AEF-4978-AC37-37DAF901EA09}" destId="{9871EBA2-7ED8-4FEC-92F4-CEEE1EE90AB2}" srcOrd="6" destOrd="0" presId="urn:microsoft.com/office/officeart/2005/8/layout/hierarchy3"/>
    <dgm:cxn modelId="{4E23AA75-C506-4A67-AE6F-34651B27EC52}" type="presParOf" srcId="{C9C1834F-5AEF-4978-AC37-37DAF901EA09}" destId="{7C6B8572-330F-4FF5-AEE7-5748ADBCA42D}" srcOrd="7" destOrd="0" presId="urn:microsoft.com/office/officeart/2005/8/layout/hierarchy3"/>
  </dgm:cxnLst>
  <dgm:bg/>
  <dgm:whole>
    <a:ln w="9525" cap="flat" cmpd="sng" algn="ctr">
      <a:noFill/>
      <a:prstDash val="solid"/>
      <a:round/>
      <a:headEnd type="none" w="med" len="med"/>
      <a:tailEnd type="none" w="med" len="med"/>
    </a:ln>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F267E9-2002-4992-8FF4-3788B4613FD8}">
      <dsp:nvSpPr>
        <dsp:cNvPr id="0" name=""/>
        <dsp:cNvSpPr/>
      </dsp:nvSpPr>
      <dsp:spPr>
        <a:xfrm>
          <a:off x="46904" y="3305"/>
          <a:ext cx="2282454" cy="730979"/>
        </a:xfrm>
        <a:prstGeom prst="roundRect">
          <a:avLst>
            <a:gd name="adj" fmla="val 10000"/>
          </a:avLst>
        </a:prstGeom>
        <a:solidFill>
          <a:srgbClr val="FFFF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lvl="0" algn="ctr" defTabSz="977900">
            <a:lnSpc>
              <a:spcPct val="90000"/>
            </a:lnSpc>
            <a:spcBef>
              <a:spcPct val="0"/>
            </a:spcBef>
            <a:spcAft>
              <a:spcPct val="35000"/>
            </a:spcAft>
          </a:pPr>
          <a:r>
            <a:rPr lang="en-IN" sz="2200" kern="1200" dirty="0" smtClean="0">
              <a:solidFill>
                <a:schemeClr val="tx1"/>
              </a:solidFill>
            </a:rPr>
            <a:t>Cryptanalytic Attacks</a:t>
          </a:r>
          <a:endParaRPr lang="en-IN" sz="2200" kern="1200" dirty="0">
            <a:solidFill>
              <a:schemeClr val="tx1"/>
            </a:solidFill>
          </a:endParaRPr>
        </a:p>
      </dsp:txBody>
      <dsp:txXfrm>
        <a:off x="68314" y="24715"/>
        <a:ext cx="2239634" cy="688159"/>
      </dsp:txXfrm>
    </dsp:sp>
    <dsp:sp modelId="{4E7638E2-F715-4635-84B5-B2353D44AF70}">
      <dsp:nvSpPr>
        <dsp:cNvPr id="0" name=""/>
        <dsp:cNvSpPr/>
      </dsp:nvSpPr>
      <dsp:spPr>
        <a:xfrm>
          <a:off x="275150" y="734284"/>
          <a:ext cx="372266" cy="548234"/>
        </a:xfrm>
        <a:custGeom>
          <a:avLst/>
          <a:gdLst/>
          <a:ahLst/>
          <a:cxnLst/>
          <a:rect l="0" t="0" r="0" b="0"/>
          <a:pathLst>
            <a:path>
              <a:moveTo>
                <a:pt x="0" y="0"/>
              </a:moveTo>
              <a:lnTo>
                <a:pt x="0" y="548234"/>
              </a:lnTo>
              <a:lnTo>
                <a:pt x="372266" y="548234"/>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BCFD1010-81BB-4618-816D-D458DBA02A8D}">
      <dsp:nvSpPr>
        <dsp:cNvPr id="0" name=""/>
        <dsp:cNvSpPr/>
      </dsp:nvSpPr>
      <dsp:spPr>
        <a:xfrm>
          <a:off x="647416" y="917029"/>
          <a:ext cx="1219776" cy="730979"/>
        </a:xfrm>
        <a:prstGeom prst="roundRect">
          <a:avLst>
            <a:gd name="adj" fmla="val 10000"/>
          </a:avLst>
        </a:prstGeom>
        <a:solidFill>
          <a:srgbClr val="92D050">
            <a:alpha val="90000"/>
          </a:srgb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IN" sz="1900" kern="1200" dirty="0" smtClean="0"/>
            <a:t>Ciphertext Only</a:t>
          </a:r>
          <a:endParaRPr lang="en-IN" sz="1900" kern="1200" dirty="0"/>
        </a:p>
      </dsp:txBody>
      <dsp:txXfrm>
        <a:off x="668826" y="938439"/>
        <a:ext cx="1176956" cy="688159"/>
      </dsp:txXfrm>
    </dsp:sp>
    <dsp:sp modelId="{7B818F72-7A0D-41CF-A367-EE8FAE6E14DE}">
      <dsp:nvSpPr>
        <dsp:cNvPr id="0" name=""/>
        <dsp:cNvSpPr/>
      </dsp:nvSpPr>
      <dsp:spPr>
        <a:xfrm>
          <a:off x="275150" y="734284"/>
          <a:ext cx="422475" cy="1492514"/>
        </a:xfrm>
        <a:custGeom>
          <a:avLst/>
          <a:gdLst/>
          <a:ahLst/>
          <a:cxnLst/>
          <a:rect l="0" t="0" r="0" b="0"/>
          <a:pathLst>
            <a:path>
              <a:moveTo>
                <a:pt x="0" y="0"/>
              </a:moveTo>
              <a:lnTo>
                <a:pt x="0" y="1492514"/>
              </a:lnTo>
              <a:lnTo>
                <a:pt x="422475" y="1492514"/>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2B733CA1-5924-4977-AC2C-63A360D5783F}">
      <dsp:nvSpPr>
        <dsp:cNvPr id="0" name=""/>
        <dsp:cNvSpPr/>
      </dsp:nvSpPr>
      <dsp:spPr>
        <a:xfrm>
          <a:off x="697625" y="1861309"/>
          <a:ext cx="1169567" cy="730979"/>
        </a:xfrm>
        <a:prstGeom prst="roundRect">
          <a:avLst>
            <a:gd name="adj" fmla="val 10000"/>
          </a:avLst>
        </a:prstGeom>
        <a:solidFill>
          <a:srgbClr val="FFC000">
            <a:alpha val="90000"/>
          </a:srgb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IN" sz="1900" kern="1200" dirty="0" smtClean="0"/>
            <a:t>Known Plaintext</a:t>
          </a:r>
          <a:endParaRPr lang="en-IN" sz="1900" kern="1200" dirty="0"/>
        </a:p>
      </dsp:txBody>
      <dsp:txXfrm>
        <a:off x="719035" y="1882719"/>
        <a:ext cx="1126747" cy="688159"/>
      </dsp:txXfrm>
    </dsp:sp>
    <dsp:sp modelId="{CDDDD835-B953-4D93-8718-75DB015A6D0D}">
      <dsp:nvSpPr>
        <dsp:cNvPr id="0" name=""/>
        <dsp:cNvSpPr/>
      </dsp:nvSpPr>
      <dsp:spPr>
        <a:xfrm>
          <a:off x="275150" y="734284"/>
          <a:ext cx="422475" cy="2367511"/>
        </a:xfrm>
        <a:custGeom>
          <a:avLst/>
          <a:gdLst/>
          <a:ahLst/>
          <a:cxnLst/>
          <a:rect l="0" t="0" r="0" b="0"/>
          <a:pathLst>
            <a:path>
              <a:moveTo>
                <a:pt x="0" y="0"/>
              </a:moveTo>
              <a:lnTo>
                <a:pt x="0" y="2367511"/>
              </a:lnTo>
              <a:lnTo>
                <a:pt x="422475" y="2367511"/>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58FE2678-E3A3-490B-B3DF-FDFD79FB52A2}">
      <dsp:nvSpPr>
        <dsp:cNvPr id="0" name=""/>
        <dsp:cNvSpPr/>
      </dsp:nvSpPr>
      <dsp:spPr>
        <a:xfrm>
          <a:off x="697625" y="2736306"/>
          <a:ext cx="1169567" cy="730979"/>
        </a:xfrm>
        <a:prstGeom prst="roundRect">
          <a:avLst>
            <a:gd name="adj" fmla="val 10000"/>
          </a:avLst>
        </a:prstGeom>
        <a:solidFill>
          <a:srgbClr val="C00000">
            <a:alpha val="90000"/>
          </a:srgb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IN" sz="1900" kern="1200" dirty="0" smtClean="0">
              <a:solidFill>
                <a:schemeClr val="bg1"/>
              </a:solidFill>
            </a:rPr>
            <a:t>Chosen Plaintext</a:t>
          </a:r>
          <a:endParaRPr lang="en-IN" sz="1900" kern="1200" dirty="0">
            <a:solidFill>
              <a:schemeClr val="bg1"/>
            </a:solidFill>
          </a:endParaRPr>
        </a:p>
      </dsp:txBody>
      <dsp:txXfrm>
        <a:off x="719035" y="2757716"/>
        <a:ext cx="1126747" cy="688159"/>
      </dsp:txXfrm>
    </dsp:sp>
    <dsp:sp modelId="{9871EBA2-7ED8-4FEC-92F4-CEEE1EE90AB2}">
      <dsp:nvSpPr>
        <dsp:cNvPr id="0" name=""/>
        <dsp:cNvSpPr/>
      </dsp:nvSpPr>
      <dsp:spPr>
        <a:xfrm>
          <a:off x="275150" y="734284"/>
          <a:ext cx="422475" cy="3292712"/>
        </a:xfrm>
        <a:custGeom>
          <a:avLst/>
          <a:gdLst/>
          <a:ahLst/>
          <a:cxnLst/>
          <a:rect l="0" t="0" r="0" b="0"/>
          <a:pathLst>
            <a:path>
              <a:moveTo>
                <a:pt x="0" y="0"/>
              </a:moveTo>
              <a:lnTo>
                <a:pt x="0" y="3292712"/>
              </a:lnTo>
              <a:lnTo>
                <a:pt x="422475" y="3292712"/>
              </a:lnTo>
            </a:path>
          </a:pathLst>
        </a:custGeom>
        <a:noFill/>
        <a:ln w="25400" cap="flat" cmpd="sng" algn="ctr">
          <a:solidFill>
            <a:schemeClr val="tx1"/>
          </a:solidFill>
          <a:prstDash val="solid"/>
        </a:ln>
        <a:effectLst/>
      </dsp:spPr>
      <dsp:style>
        <a:lnRef idx="2">
          <a:scrgbClr r="0" g="0" b="0"/>
        </a:lnRef>
        <a:fillRef idx="0">
          <a:scrgbClr r="0" g="0" b="0"/>
        </a:fillRef>
        <a:effectRef idx="0">
          <a:scrgbClr r="0" g="0" b="0"/>
        </a:effectRef>
        <a:fontRef idx="minor"/>
      </dsp:style>
    </dsp:sp>
    <dsp:sp modelId="{7C6B8572-330F-4FF5-AEE7-5748ADBCA42D}">
      <dsp:nvSpPr>
        <dsp:cNvPr id="0" name=""/>
        <dsp:cNvSpPr/>
      </dsp:nvSpPr>
      <dsp:spPr>
        <a:xfrm>
          <a:off x="697625" y="3661507"/>
          <a:ext cx="1169567" cy="730979"/>
        </a:xfrm>
        <a:prstGeom prst="roundRect">
          <a:avLst>
            <a:gd name="adj" fmla="val 10000"/>
          </a:avLst>
        </a:prstGeom>
        <a:solidFill>
          <a:srgbClr val="00B0F0">
            <a:alpha val="90000"/>
          </a:srgb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IN" sz="1900" kern="1200" dirty="0" smtClean="0"/>
            <a:t>Chosen Ciphertext</a:t>
          </a:r>
          <a:endParaRPr lang="en-IN" sz="1900" kern="1200" dirty="0"/>
        </a:p>
      </dsp:txBody>
      <dsp:txXfrm>
        <a:off x="719035" y="3682917"/>
        <a:ext cx="1126747" cy="6881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82D831-27D1-4804-BBE6-E7E773617FD4}" type="datetimeFigureOut">
              <a:rPr lang="en-IN" smtClean="0"/>
              <a:pPr/>
              <a:t>05-07-2018</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C9D2F-5FCE-4B4F-80E6-E39EED6BD8E1}" type="slidenum">
              <a:rPr lang="en-IN" smtClean="0"/>
              <a:pPr/>
              <a:t>‹#›</a:t>
            </a:fld>
            <a:endParaRPr lang="en-IN"/>
          </a:p>
        </p:txBody>
      </p:sp>
    </p:spTree>
    <p:extLst>
      <p:ext uri="{BB962C8B-B14F-4D97-AF65-F5344CB8AC3E}">
        <p14:creationId xmlns="" xmlns:p14="http://schemas.microsoft.com/office/powerpoint/2010/main" val="229976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1</a:t>
            </a:fld>
            <a:endParaRPr lang="en-IN"/>
          </a:p>
        </p:txBody>
      </p:sp>
    </p:spTree>
    <p:extLst>
      <p:ext uri="{BB962C8B-B14F-4D97-AF65-F5344CB8AC3E}">
        <p14:creationId xmlns="" xmlns:p14="http://schemas.microsoft.com/office/powerpoint/2010/main" val="322886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63A8C509-D263-4F09-87AC-D7CE140F3533}" type="slidenum">
              <a:rPr lang="en-US" altLang="en-US" smtClean="0"/>
              <a:pPr/>
              <a:t>6</a:t>
            </a:fld>
            <a:endParaRPr lang="en-US" alt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r>
              <a:rPr lang="en-AU" altLang="en-US" smtClean="0"/>
              <a:t>Briefly review some terminology used throughout the course. </a:t>
            </a:r>
          </a:p>
        </p:txBody>
      </p:sp>
    </p:spTree>
    <p:extLst>
      <p:ext uri="{BB962C8B-B14F-4D97-AF65-F5344CB8AC3E}">
        <p14:creationId xmlns="" xmlns:p14="http://schemas.microsoft.com/office/powerpoint/2010/main" val="1052923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Date Placeholder 3"/>
          <p:cNvSpPr>
            <a:spLocks noGrp="1"/>
          </p:cNvSpPr>
          <p:nvPr>
            <p:ph type="dt" idx="10"/>
          </p:nvPr>
        </p:nvSpPr>
        <p:spPr/>
        <p:txBody>
          <a:bodyPr/>
          <a:lstStyle/>
          <a:p>
            <a:r>
              <a:rPr lang="en-IN" smtClean="0"/>
              <a:t>25-07-2013</a:t>
            </a:r>
            <a:endParaRPr lang="en-IN"/>
          </a:p>
        </p:txBody>
      </p:sp>
      <p:sp>
        <p:nvSpPr>
          <p:cNvPr id="5" name="Footer Placeholder 4"/>
          <p:cNvSpPr>
            <a:spLocks noGrp="1"/>
          </p:cNvSpPr>
          <p:nvPr>
            <p:ph type="ftr" sz="quarter" idx="11"/>
          </p:nvPr>
        </p:nvSpPr>
        <p:spPr/>
        <p:txBody>
          <a:bodyPr/>
          <a:lstStyle/>
          <a:p>
            <a:r>
              <a:rPr lang="en-IN" smtClean="0"/>
              <a:t>TA ZC164</a:t>
            </a:r>
            <a:endParaRPr lang="en-IN"/>
          </a:p>
        </p:txBody>
      </p:sp>
      <p:sp>
        <p:nvSpPr>
          <p:cNvPr id="6" name="Slide Number Placeholder 5"/>
          <p:cNvSpPr>
            <a:spLocks noGrp="1"/>
          </p:cNvSpPr>
          <p:nvPr>
            <p:ph type="sldNum" sz="quarter" idx="12"/>
          </p:nvPr>
        </p:nvSpPr>
        <p:spPr/>
        <p:txBody>
          <a:bodyPr/>
          <a:lstStyle/>
          <a:p>
            <a:fld id="{1EBC9D2F-5FCE-4B4F-80E6-E39EED6BD8E1}" type="slidenum">
              <a:rPr lang="en-IN" smtClean="0"/>
              <a:pPr/>
              <a:t>30</a:t>
            </a:fld>
            <a:endParaRPr lang="en-IN"/>
          </a:p>
        </p:txBody>
      </p:sp>
    </p:spTree>
    <p:extLst>
      <p:ext uri="{BB962C8B-B14F-4D97-AF65-F5344CB8AC3E}">
        <p14:creationId xmlns="" xmlns:p14="http://schemas.microsoft.com/office/powerpoint/2010/main" val="2379730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36</a:t>
            </a:fld>
            <a:endParaRPr lang="en-IN"/>
          </a:p>
        </p:txBody>
      </p:sp>
    </p:spTree>
    <p:extLst>
      <p:ext uri="{BB962C8B-B14F-4D97-AF65-F5344CB8AC3E}">
        <p14:creationId xmlns="" xmlns:p14="http://schemas.microsoft.com/office/powerpoint/2010/main" val="612649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EBC9D2F-5FCE-4B4F-80E6-E39EED6BD8E1}" type="slidenum">
              <a:rPr lang="en-IN" smtClean="0"/>
              <a:pPr/>
              <a:t>68</a:t>
            </a:fld>
            <a:endParaRPr lang="en-IN"/>
          </a:p>
        </p:txBody>
      </p:sp>
    </p:spTree>
    <p:extLst>
      <p:ext uri="{BB962C8B-B14F-4D97-AF65-F5344CB8AC3E}">
        <p14:creationId xmlns="" xmlns:p14="http://schemas.microsoft.com/office/powerpoint/2010/main" val="2463301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t>SS ZG516 -Computer Organization and Software Systems</a:t>
            </a:r>
            <a:endParaRPr lang="en-IN" dirty="0"/>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t>SS ZG516 -Computer Organization and Software Systems</a:t>
            </a:r>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0956494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2435206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999676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19252306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2073531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pPr/>
              <a:t>‹#›</a:t>
            </a:fld>
            <a:endParaRPr lang="en-US" dirty="0"/>
          </a:p>
        </p:txBody>
      </p:sp>
    </p:spTree>
    <p:extLst>
      <p:ext uri="{BB962C8B-B14F-4D97-AF65-F5344CB8AC3E}">
        <p14:creationId xmlns="" xmlns:p14="http://schemas.microsoft.com/office/powerpoint/2010/main" val="3487012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113624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 xmlns:p14="http://schemas.microsoft.com/office/powerpoint/2010/main" val="4950995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 xmlns:p14="http://schemas.microsoft.com/office/powerpoint/2010/main" val="9258730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16164783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33799942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9699108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17431984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31011874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379150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15932996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5673197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 xmlns:p14="http://schemas.microsoft.com/office/powerpoint/2010/main" val="34446402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 xmlns:p14="http://schemas.microsoft.com/office/powerpoint/2010/main" val="433016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 xmlns:p14="http://schemas.microsoft.com/office/powerpoint/2010/main" val="18864812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377600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32872634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18256374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22271733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29139023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5337837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5121658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5699294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 xmlns:p14="http://schemas.microsoft.com/office/powerpoint/2010/main" val="12815321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 xmlns:p14="http://schemas.microsoft.com/office/powerpoint/2010/main" val="3518773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 xmlns:p14="http://schemas.microsoft.com/office/powerpoint/2010/main" val="11007455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100985277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18624254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97276300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27235808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40296104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12423195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12362484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5207062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 xmlns:p14="http://schemas.microsoft.com/office/powerpoint/2010/main" val="5831926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 xmlns:p14="http://schemas.microsoft.com/office/powerpoint/2010/main" val="246990666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2979440" cy="276999"/>
          </a:xfrm>
          <a:prstGeom prst="rect">
            <a:avLst/>
          </a:prstGeom>
          <a:noFill/>
        </p:spPr>
        <p:txBody>
          <a:bodyPr wrap="square" rtlCol="0">
            <a:spAutoFit/>
          </a:bodyPr>
          <a:lstStyle/>
          <a:p>
            <a:r>
              <a:rPr lang="en-US" sz="1200" dirty="0" smtClean="0">
                <a:solidFill>
                  <a:srgbClr val="FFFFFF"/>
                </a:solidFill>
                <a:latin typeface="Arial"/>
                <a:cs typeface="Arial"/>
              </a:rPr>
              <a:t>Work Integrated Learning Programmes</a:t>
            </a:r>
            <a:endParaRPr lang="en-US" sz="1200" dirty="0">
              <a:solidFill>
                <a:srgbClr val="FFFFFF"/>
              </a:solidFill>
              <a:latin typeface="Arial"/>
              <a:cs typeface="Arial"/>
            </a:endParaRPr>
          </a:p>
        </p:txBody>
      </p:sp>
    </p:spTree>
    <p:extLst>
      <p:ext uri="{BB962C8B-B14F-4D97-AF65-F5344CB8AC3E}">
        <p14:creationId xmlns="" xmlns:p14="http://schemas.microsoft.com/office/powerpoint/2010/main" val="1241715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 xmlns:p14="http://schemas.microsoft.com/office/powerpoint/2010/main" val="30762431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36988850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8926003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35899614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extLst>
      <p:ext uri="{BB962C8B-B14F-4D97-AF65-F5344CB8AC3E}">
        <p14:creationId xmlns="" xmlns:p14="http://schemas.microsoft.com/office/powerpoint/2010/main" val="26426548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0535401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36378034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spTree>
    <p:extLst>
      <p:ext uri="{BB962C8B-B14F-4D97-AF65-F5344CB8AC3E}">
        <p14:creationId xmlns="" xmlns:p14="http://schemas.microsoft.com/office/powerpoint/2010/main" val="21235552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extLst>
      <p:ext uri="{BB962C8B-B14F-4D97-AF65-F5344CB8AC3E}">
        <p14:creationId xmlns="" xmlns:p14="http://schemas.microsoft.com/office/powerpoint/2010/main" val="116828721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238988075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6120680" cy="850106"/>
          </a:xfrm>
          <a:prstGeom prst="rect">
            <a:avLst/>
          </a:prstGeom>
        </p:spPr>
        <p:txBody>
          <a:bodyPr anchor="ctr"/>
          <a:lstStyle>
            <a:lvl1pPr algn="l">
              <a:defRPr sz="3200"/>
            </a:lvl1pPr>
          </a:lstStyle>
          <a:p>
            <a:r>
              <a:rPr lang="en-US" dirty="0" smtClean="0"/>
              <a:t>Click to edit Master title style</a:t>
            </a:r>
            <a:endParaRPr lang="en-IN"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Footer Placeholder 4"/>
          <p:cNvSpPr>
            <a:spLocks noGrp="1"/>
          </p:cNvSpPr>
          <p:nvPr>
            <p:ph type="ftr" sz="quarter" idx="11"/>
          </p:nvPr>
        </p:nvSpPr>
        <p:spPr>
          <a:xfrm>
            <a:off x="2195736" y="6237312"/>
            <a:ext cx="4392488" cy="365125"/>
          </a:xfrm>
          <a:prstGeom prst="rect">
            <a:avLst/>
          </a:prstGeom>
        </p:spPr>
        <p:txBody>
          <a:bodyPr/>
          <a:lstStyle>
            <a:lvl1pPr>
              <a:defRPr sz="1200" b="1"/>
            </a:lvl1pPr>
          </a:lstStyle>
          <a:p>
            <a:pPr algn="ctr"/>
            <a:r>
              <a:rPr lang="en-US" smtClean="0">
                <a:solidFill>
                  <a:prstClr val="black"/>
                </a:solidFill>
              </a:rPr>
              <a:t>SS ZG516 -Computer Organization and Software Systems</a:t>
            </a:r>
            <a:endParaRPr lang="en-IN" dirty="0">
              <a:solidFill>
                <a:prstClr val="black"/>
              </a:solidFill>
            </a:endParaRPr>
          </a:p>
        </p:txBody>
      </p:sp>
      <p:sp>
        <p:nvSpPr>
          <p:cNvPr id="6" name="Slide Number Placeholder 5"/>
          <p:cNvSpPr>
            <a:spLocks noGrp="1"/>
          </p:cNvSpPr>
          <p:nvPr>
            <p:ph type="sldNum" sz="quarter" idx="12"/>
          </p:nvPr>
        </p:nvSpPr>
        <p:spPr>
          <a:xfrm>
            <a:off x="8532440" y="6237312"/>
            <a:ext cx="611560" cy="293117"/>
          </a:xfrm>
          <a:prstGeom prst="rect">
            <a:avLst/>
          </a:prstGeom>
        </p:spPr>
        <p:txBody>
          <a:bodyPr/>
          <a:lstStyle>
            <a:lvl1pPr>
              <a:defRPr sz="1600" b="1"/>
            </a:lvl1pPr>
          </a:lstStyle>
          <a:p>
            <a:fld id="{67F776DB-C4B4-46F1-926D-41EFCFC3A86A}" type="slidenum">
              <a:rPr lang="en-IN" smtClean="0">
                <a:solidFill>
                  <a:prstClr val="black"/>
                </a:solidFill>
              </a:rPr>
              <a:pPr/>
              <a:t>‹#›</a:t>
            </a:fld>
            <a:endParaRPr lang="en-IN" dirty="0">
              <a:solidFill>
                <a:prstClr val="black"/>
              </a:solidFill>
            </a:endParaRPr>
          </a:p>
        </p:txBody>
      </p:sp>
    </p:spTree>
    <p:extLst>
      <p:ext uri="{BB962C8B-B14F-4D97-AF65-F5344CB8AC3E}">
        <p14:creationId xmlns="" xmlns:p14="http://schemas.microsoft.com/office/powerpoint/2010/main" val="29902401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150186512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193511514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156257291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298025525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223821909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22043955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67015338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94956143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a:solidFill>
                <a:prstClr val="black"/>
              </a:solidFill>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smtClean="0">
                <a:solidFill>
                  <a:prstClr val="black"/>
                </a:solidFill>
              </a:rPr>
              <a:t>SS ZG516 -Computer Organization and Software Systems</a:t>
            </a:r>
            <a:endParaRPr lang="en-IN">
              <a:solidFill>
                <a:prstClr val="black"/>
              </a:solidFill>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67F776DB-C4B4-46F1-926D-41EFCFC3A86A}" type="slidenum">
              <a:rPr lang="en-IN" smtClean="0">
                <a:solidFill>
                  <a:prstClr val="black"/>
                </a:solidFill>
              </a:rPr>
              <a:pPr/>
              <a:t>‹#›</a:t>
            </a:fld>
            <a:endParaRPr lang="en-IN">
              <a:solidFill>
                <a:prstClr val="black"/>
              </a:solidFill>
            </a:endParaRPr>
          </a:p>
        </p:txBody>
      </p:sp>
    </p:spTree>
    <p:extLst>
      <p:ext uri="{BB962C8B-B14F-4D97-AF65-F5344CB8AC3E}">
        <p14:creationId xmlns="" xmlns:p14="http://schemas.microsoft.com/office/powerpoint/2010/main" val="82503354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56725380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232171858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298900200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365973496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17845824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327067063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normAutofit/>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atin typeface="+mn-lt"/>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800">
                <a:latin typeface="+mn-lt"/>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a:t>
            </a:r>
            <a:r>
              <a:rPr lang="en-US" sz="1100" dirty="0" smtClean="0">
                <a:solidFill>
                  <a:srgbClr val="101141"/>
                </a:solidFill>
                <a:latin typeface="Arial"/>
                <a:cs typeface="Arial"/>
              </a:rPr>
              <a:t>WILP</a:t>
            </a:r>
            <a:endParaRPr lang="en-US" sz="1100" dirty="0">
              <a:solidFill>
                <a:srgbClr val="101141"/>
              </a:solidFill>
              <a:latin typeface="Arial"/>
              <a:cs typeface="Arial"/>
            </a:endParaRP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0" spc="-150" baseline="0">
                <a:latin typeface="+mn-lt"/>
                <a:cs typeface="Arial" pitchFamily="34" charset="0"/>
              </a:defRPr>
            </a:lvl1pPr>
          </a:lstStyle>
          <a:p>
            <a:pPr lvl="0"/>
            <a:r>
              <a:rPr lang="en-US" dirty="0" smtClean="0"/>
              <a:t>Slide heading here and it can run in two lines</a:t>
            </a:r>
          </a:p>
        </p:txBody>
      </p:sp>
      <p:sp>
        <p:nvSpPr>
          <p:cNvPr id="19" name="Slide Number Placeholder 18"/>
          <p:cNvSpPr>
            <a:spLocks noGrp="1"/>
          </p:cNvSpPr>
          <p:nvPr>
            <p:ph type="sldNum" sz="quarter" idx="12"/>
          </p:nvPr>
        </p:nvSpPr>
        <p:spPr>
          <a:xfrm>
            <a:off x="6804248" y="6093296"/>
            <a:ext cx="2133600" cy="365125"/>
          </a:xfrm>
          <a:prstGeom prst="rect">
            <a:avLst/>
          </a:prstGeom>
        </p:spPr>
        <p:txBody>
          <a:bodyPr/>
          <a:lstStyle>
            <a:lvl1pPr>
              <a:defRPr sz="1400">
                <a:solidFill>
                  <a:schemeClr val="tx1"/>
                </a:solidFill>
              </a:defRPr>
            </a:lvl1pPr>
          </a:lstStyle>
          <a:p>
            <a:fld id="{04252BD6-4F37-4D57-B6B7-636C2217F7DD}" type="slidenum">
              <a:rPr lang="en-US" smtClean="0">
                <a:solidFill>
                  <a:prstClr val="black"/>
                </a:solidFill>
              </a:rPr>
              <a:pPr/>
              <a:t>‹#›</a:t>
            </a:fld>
            <a:endParaRPr lang="en-US" dirty="0">
              <a:solidFill>
                <a:prstClr val="black"/>
              </a:solidFill>
            </a:endParaRPr>
          </a:p>
        </p:txBody>
      </p:sp>
    </p:spTree>
    <p:extLst>
      <p:ext uri="{BB962C8B-B14F-4D97-AF65-F5344CB8AC3E}">
        <p14:creationId xmlns="" xmlns:p14="http://schemas.microsoft.com/office/powerpoint/2010/main" val="3975790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theme" Target="../theme/theme6.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0" Type="http://schemas.openxmlformats.org/officeDocument/2006/relationships/image" Target="../media/image1.png"/><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10" Type="http://schemas.openxmlformats.org/officeDocument/2006/relationships/slideLayout" Target="../slideLayouts/slideLayout82.xml"/><Relationship Id="rId19" Type="http://schemas.openxmlformats.org/officeDocument/2006/relationships/theme" Target="../theme/theme7.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a:t>
            </a:r>
            <a:r>
              <a:rPr lang="en-US" sz="1100" dirty="0" err="1" smtClean="0">
                <a:solidFill>
                  <a:srgbClr val="101141"/>
                </a:solidFill>
                <a:latin typeface="Arial"/>
                <a:cs typeface="Arial"/>
              </a:rPr>
              <a:t>Pilani</a:t>
            </a:r>
            <a:r>
              <a:rPr lang="en-US" sz="1100" dirty="0" smtClean="0">
                <a:solidFill>
                  <a:srgbClr val="101141"/>
                </a:solidFill>
                <a:latin typeface="Arial"/>
                <a:cs typeface="Arial"/>
              </a:rPr>
              <a:t> 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19"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810" r:id="rId12"/>
    <p:sldLayoutId id="2147483811" r:id="rId13"/>
    <p:sldLayoutId id="2147483812" r:id="rId14"/>
    <p:sldLayoutId id="2147483813" r:id="rId15"/>
    <p:sldLayoutId id="2147483815" r:id="rId16"/>
    <p:sldLayoutId id="2147483819"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smtClean="0">
                <a:solidFill>
                  <a:prstClr val="black">
                    <a:tint val="75000"/>
                  </a:prstClr>
                </a:solidFill>
              </a:rPr>
              <a:t>SS ZG516 -Computer Organization and Software Systems</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72448424"/>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717271164"/>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1042420966"/>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 xmlns:p14="http://schemas.microsoft.com/office/powerpoint/2010/main" val="3894292655"/>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a:t>
            </a:r>
            <a:r>
              <a:rPr lang="en-US" sz="1100" dirty="0" err="1" smtClean="0">
                <a:solidFill>
                  <a:srgbClr val="101141"/>
                </a:solidFill>
                <a:latin typeface="Arial"/>
                <a:cs typeface="Arial"/>
              </a:rPr>
              <a:t>Pilani</a:t>
            </a:r>
            <a:r>
              <a:rPr lang="en-US" sz="1100" dirty="0" smtClean="0">
                <a:solidFill>
                  <a:srgbClr val="101141"/>
                </a:solidFill>
                <a:latin typeface="Arial"/>
                <a:cs typeface="Arial"/>
              </a:rPr>
              <a:t> Campus</a:t>
            </a:r>
            <a:endParaRPr lang="en-US" sz="1100" dirty="0">
              <a:solidFill>
                <a:srgbClr val="101141"/>
              </a:solidFill>
              <a:latin typeface="Arial"/>
              <a:cs typeface="Arial"/>
            </a:endParaRPr>
          </a:p>
        </p:txBody>
      </p:sp>
      <p:pic>
        <p:nvPicPr>
          <p:cNvPr id="8" name="Picture 7" descr="Picture 7.png"/>
          <p:cNvPicPr>
            <a:picLocks noChangeAspect="1"/>
          </p:cNvPicPr>
          <p:nvPr userDrawn="1"/>
        </p:nvPicPr>
        <p:blipFill>
          <a:blip r:embed="rId20" cstate="print"/>
          <a:srcRect l="1923" b="5336"/>
          <a:stretch>
            <a:fillRect/>
          </a:stretch>
        </p:blipFill>
        <p:spPr>
          <a:xfrm>
            <a:off x="6629400" y="-1"/>
            <a:ext cx="2193193" cy="692697"/>
          </a:xfrm>
          <a:prstGeom prst="rect">
            <a:avLst/>
          </a:prstGeom>
        </p:spPr>
      </p:pic>
      <p:grpSp>
        <p:nvGrpSpPr>
          <p:cNvPr id="9" name="Group 8"/>
          <p:cNvGrpSpPr/>
          <p:nvPr userDrawn="1"/>
        </p:nvGrpSpPr>
        <p:grpSpPr>
          <a:xfrm>
            <a:off x="2133600" y="65532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3" name="Group 12"/>
          <p:cNvGrpSpPr/>
          <p:nvPr userDrawn="1"/>
        </p:nvGrpSpPr>
        <p:grpSpPr>
          <a:xfrm>
            <a:off x="0" y="1295400"/>
            <a:ext cx="7010400" cy="45719"/>
            <a:chOff x="1905000" y="6553200"/>
            <a:chExt cx="7010400" cy="45719"/>
          </a:xfrm>
        </p:grpSpPr>
        <p:sp>
          <p:nvSpPr>
            <p:cNvPr id="14" name="Rectangle 1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Tree>
    <p:extLst>
      <p:ext uri="{BB962C8B-B14F-4D97-AF65-F5344CB8AC3E}">
        <p14:creationId xmlns="" xmlns:p14="http://schemas.microsoft.com/office/powerpoint/2010/main" val="1317388958"/>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 id="2147483883" r:id="rId14"/>
    <p:sldLayoutId id="2147483884" r:id="rId15"/>
    <p:sldLayoutId id="2147483885" r:id="rId16"/>
    <p:sldLayoutId id="2147483886" r:id="rId17"/>
    <p:sldLayoutId id="2147483887"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9.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4.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5.xml"/><Relationship Id="rId4" Type="http://schemas.openxmlformats.org/officeDocument/2006/relationships/image" Target="../media/image23.jpeg"/></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6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979712" y="3501008"/>
            <a:ext cx="6696744" cy="1832992"/>
          </a:xfrm>
        </p:spPr>
        <p:txBody>
          <a:bodyPr/>
          <a:lstStyle/>
          <a:p>
            <a:r>
              <a:rPr lang="en-US" sz="3600" dirty="0" smtClean="0"/>
              <a:t>Course Name : </a:t>
            </a:r>
            <a:br>
              <a:rPr lang="en-US" sz="3600" dirty="0" smtClean="0"/>
            </a:br>
            <a:r>
              <a:rPr lang="en-US" sz="3600" dirty="0" smtClean="0"/>
              <a:t>Network Security</a:t>
            </a:r>
            <a:endParaRPr lang="en-US" sz="3600" dirty="0"/>
          </a:p>
        </p:txBody>
      </p:sp>
      <p:sp>
        <p:nvSpPr>
          <p:cNvPr id="6" name="Content Placeholder 5"/>
          <p:cNvSpPr>
            <a:spLocks noGrp="1"/>
          </p:cNvSpPr>
          <p:nvPr>
            <p:ph sz="quarter" idx="13"/>
          </p:nvPr>
        </p:nvSpPr>
        <p:spPr>
          <a:xfrm>
            <a:off x="2267744" y="5410200"/>
            <a:ext cx="6266656" cy="533400"/>
          </a:xfrm>
        </p:spPr>
        <p:txBody>
          <a:bodyPr/>
          <a:lstStyle/>
          <a:p>
            <a:r>
              <a:rPr lang="en-US" smtClean="0"/>
              <a:t>A.Vijayalakshmi</a:t>
            </a:r>
            <a:endParaRPr lang="en-US" dirty="0" smtClean="0"/>
          </a:p>
        </p:txBody>
      </p:sp>
    </p:spTree>
    <p:extLst>
      <p:ext uri="{BB962C8B-B14F-4D97-AF65-F5344CB8AC3E}">
        <p14:creationId xmlns="" xmlns:p14="http://schemas.microsoft.com/office/powerpoint/2010/main"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04664"/>
            <a:ext cx="6336704" cy="850106"/>
          </a:xfrm>
        </p:spPr>
        <p:txBody>
          <a:bodyPr>
            <a:normAutofit/>
          </a:bodyPr>
          <a:lstStyle/>
          <a:p>
            <a:r>
              <a:rPr lang="en-IN" smtClean="0"/>
              <a:t>Session#4&amp;5 </a:t>
            </a:r>
            <a:endParaRPr lang="en-IN" dirty="0"/>
          </a:p>
        </p:txBody>
      </p:sp>
      <p:sp>
        <p:nvSpPr>
          <p:cNvPr id="3" name="Content Placeholder 2"/>
          <p:cNvSpPr>
            <a:spLocks noGrp="1"/>
          </p:cNvSpPr>
          <p:nvPr>
            <p:ph idx="1"/>
          </p:nvPr>
        </p:nvSpPr>
        <p:spPr>
          <a:xfrm>
            <a:off x="457200" y="1484784"/>
            <a:ext cx="8229600" cy="5040560"/>
          </a:xfrm>
        </p:spPr>
        <p:txBody>
          <a:bodyPr>
            <a:normAutofit/>
          </a:bodyPr>
          <a:lstStyle/>
          <a:p>
            <a:pPr>
              <a:buFont typeface="Wingdings" pitchFamily="2" charset="2"/>
              <a:buChar char="q"/>
            </a:pPr>
            <a:r>
              <a:rPr lang="en-IN" dirty="0" smtClean="0"/>
              <a:t>Cryptography Overview</a:t>
            </a:r>
          </a:p>
          <a:p>
            <a:pPr>
              <a:buFont typeface="Wingdings" pitchFamily="2" charset="2"/>
              <a:buChar char="q"/>
            </a:pPr>
            <a:r>
              <a:rPr lang="en-IN" dirty="0" smtClean="0"/>
              <a:t>Classical Encryption Techniques</a:t>
            </a:r>
          </a:p>
          <a:p>
            <a:pPr lvl="1">
              <a:buFont typeface="Wingdings" pitchFamily="2" charset="2"/>
              <a:buChar char="q"/>
            </a:pPr>
            <a:r>
              <a:rPr lang="en-IN" dirty="0" smtClean="0"/>
              <a:t>Substitution Method</a:t>
            </a:r>
          </a:p>
          <a:p>
            <a:pPr lvl="2">
              <a:buFont typeface="Wingdings" pitchFamily="2" charset="2"/>
              <a:buChar char="q"/>
            </a:pPr>
            <a:r>
              <a:rPr lang="en-IN" dirty="0"/>
              <a:t>Caesar </a:t>
            </a:r>
            <a:r>
              <a:rPr lang="en-IN" dirty="0" smtClean="0"/>
              <a:t>Cipher</a:t>
            </a:r>
            <a:endParaRPr lang="en-IN" dirty="0"/>
          </a:p>
          <a:p>
            <a:pPr lvl="2">
              <a:buFont typeface="Wingdings" pitchFamily="2" charset="2"/>
              <a:buChar char="q"/>
            </a:pPr>
            <a:r>
              <a:rPr lang="en-IN" dirty="0" err="1" smtClean="0"/>
              <a:t>Playfair</a:t>
            </a:r>
            <a:r>
              <a:rPr lang="en-IN" dirty="0" smtClean="0"/>
              <a:t> Cipher </a:t>
            </a:r>
            <a:endParaRPr lang="en-IN" dirty="0"/>
          </a:p>
          <a:p>
            <a:pPr lvl="2">
              <a:buFont typeface="Wingdings" pitchFamily="2" charset="2"/>
              <a:buChar char="q"/>
            </a:pPr>
            <a:r>
              <a:rPr lang="en-IN" dirty="0" err="1"/>
              <a:t>Vigenère</a:t>
            </a:r>
            <a:r>
              <a:rPr lang="en-IN" dirty="0"/>
              <a:t> Cipher</a:t>
            </a:r>
          </a:p>
          <a:p>
            <a:pPr lvl="2">
              <a:buFont typeface="Wingdings" pitchFamily="2" charset="2"/>
              <a:buChar char="q"/>
            </a:pPr>
            <a:r>
              <a:rPr lang="en-IN" dirty="0" err="1" smtClean="0"/>
              <a:t>Vernam</a:t>
            </a:r>
            <a:r>
              <a:rPr lang="en-IN" dirty="0" smtClean="0"/>
              <a:t> / one time pad Cipher</a:t>
            </a:r>
            <a:endParaRPr lang="en-IN" dirty="0"/>
          </a:p>
          <a:p>
            <a:pPr lvl="1">
              <a:buFont typeface="Wingdings" pitchFamily="2" charset="2"/>
              <a:buChar char="q"/>
            </a:pPr>
            <a:r>
              <a:rPr lang="en-IN" dirty="0" smtClean="0"/>
              <a:t>Transposition Method</a:t>
            </a:r>
            <a:endParaRPr lang="en-IN" dirty="0"/>
          </a:p>
          <a:p>
            <a:pPr>
              <a:buFont typeface="Wingdings" pitchFamily="2" charset="2"/>
              <a:buChar char="q"/>
            </a:pPr>
            <a:r>
              <a:rPr lang="en-IN" dirty="0" smtClean="0"/>
              <a:t>Exercises</a:t>
            </a:r>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en-IN" dirty="0" smtClean="0"/>
          </a:p>
          <a:p>
            <a:pPr>
              <a:buFont typeface="Wingdings" pitchFamily="2" charset="2"/>
              <a:buChar char="q"/>
            </a:pPr>
            <a:endParaRPr lang="de-DE" dirty="0"/>
          </a:p>
          <a:p>
            <a:pPr>
              <a:buFont typeface="Wingdings" pitchFamily="2" charset="2"/>
              <a:buChar char="q"/>
            </a:pPr>
            <a:endParaRPr lang="en-IN" dirty="0" smtClean="0"/>
          </a:p>
        </p:txBody>
      </p:sp>
    </p:spTree>
    <p:extLst>
      <p:ext uri="{BB962C8B-B14F-4D97-AF65-F5344CB8AC3E}">
        <p14:creationId xmlns="" xmlns:p14="http://schemas.microsoft.com/office/powerpoint/2010/main" val="35567563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nchor="ctr"/>
          <a:lstStyle/>
          <a:p>
            <a:r>
              <a:rPr lang="en-US" altLang="en-US" dirty="0"/>
              <a:t>How to achieve Security?</a:t>
            </a:r>
          </a:p>
        </p:txBody>
      </p:sp>
      <p:sp>
        <p:nvSpPr>
          <p:cNvPr id="6148" name="Rectangle 3"/>
          <p:cNvSpPr>
            <a:spLocks noGrp="1" noChangeArrowheads="1"/>
          </p:cNvSpPr>
          <p:nvPr>
            <p:ph type="body" idx="1"/>
          </p:nvPr>
        </p:nvSpPr>
        <p:spPr/>
        <p:txBody>
          <a:bodyPr vert="horz" lIns="91440" tIns="45720" rIns="91440" bIns="45720" rtlCol="0">
            <a:normAutofit/>
          </a:bodyPr>
          <a:lstStyle/>
          <a:p>
            <a:r>
              <a:rPr lang="en-US" altLang="en-US" dirty="0"/>
              <a:t>Use </a:t>
            </a:r>
            <a:r>
              <a:rPr lang="en-US" altLang="en-US" b="1" dirty="0">
                <a:solidFill>
                  <a:srgbClr val="FF0000"/>
                </a:solidFill>
              </a:rPr>
              <a:t>Cryptography</a:t>
            </a:r>
          </a:p>
          <a:p>
            <a:endParaRPr lang="en-US" altLang="en-US" dirty="0"/>
          </a:p>
          <a:p>
            <a:r>
              <a:rPr lang="en-US" altLang="en-US" dirty="0"/>
              <a:t>Art of transforming messages</a:t>
            </a:r>
          </a:p>
          <a:p>
            <a:endParaRPr lang="en-US" altLang="en-US" dirty="0"/>
          </a:p>
          <a:p>
            <a:r>
              <a:rPr lang="en-US" altLang="en-US" dirty="0"/>
              <a:t>Messages become unreadable </a:t>
            </a:r>
          </a:p>
          <a:p>
            <a:endParaRPr lang="en-US" altLang="en-US" dirty="0"/>
          </a:p>
        </p:txBody>
      </p:sp>
    </p:spTree>
    <p:extLst>
      <p:ext uri="{BB962C8B-B14F-4D97-AF65-F5344CB8AC3E}">
        <p14:creationId xmlns="" xmlns:p14="http://schemas.microsoft.com/office/powerpoint/2010/main" val="274739030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393071" y="260648"/>
            <a:ext cx="6120680" cy="850106"/>
          </a:xfrm>
        </p:spPr>
        <p:txBody>
          <a:bodyPr anchor="ctr"/>
          <a:lstStyle/>
          <a:p>
            <a:r>
              <a:rPr lang="en-US" altLang="en-US" dirty="0"/>
              <a:t>Why Cryptography?</a:t>
            </a:r>
          </a:p>
        </p:txBody>
      </p:sp>
      <p:sp>
        <p:nvSpPr>
          <p:cNvPr id="7172" name="Rectangle 3"/>
          <p:cNvSpPr>
            <a:spLocks noGrp="1" noChangeArrowheads="1"/>
          </p:cNvSpPr>
          <p:nvPr>
            <p:ph type="body" idx="1"/>
          </p:nvPr>
        </p:nvSpPr>
        <p:spPr>
          <a:xfrm>
            <a:off x="393071" y="1484784"/>
            <a:ext cx="8229600" cy="4525963"/>
          </a:xfrm>
        </p:spPr>
        <p:txBody>
          <a:bodyPr vert="horz" lIns="91440" tIns="45720" rIns="91440" bIns="45720" rtlCol="0">
            <a:normAutofit/>
          </a:bodyPr>
          <a:lstStyle/>
          <a:p>
            <a:r>
              <a:rPr lang="en-US" altLang="en-US" dirty="0"/>
              <a:t>Network information needs to be communicated through insecure channel.</a:t>
            </a:r>
          </a:p>
          <a:p>
            <a:r>
              <a:rPr lang="en-US" altLang="en-US" dirty="0"/>
              <a:t>Stored information may be accessed without proper authorization.</a:t>
            </a:r>
          </a:p>
          <a:p>
            <a:r>
              <a:rPr lang="en-US" altLang="en-US" dirty="0"/>
              <a:t>Cryptography is a systematic way to make that harder.</a:t>
            </a:r>
          </a:p>
        </p:txBody>
      </p:sp>
    </p:spTree>
    <p:extLst>
      <p:ext uri="{BB962C8B-B14F-4D97-AF65-F5344CB8AC3E}">
        <p14:creationId xmlns="" xmlns:p14="http://schemas.microsoft.com/office/powerpoint/2010/main" val="3571302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323528" y="260648"/>
            <a:ext cx="6120680" cy="850106"/>
          </a:xfrm>
        </p:spPr>
        <p:txBody>
          <a:bodyPr anchor="ctr"/>
          <a:lstStyle/>
          <a:p>
            <a:r>
              <a:rPr lang="en-US" altLang="en-US" dirty="0"/>
              <a:t>Common Security Requirements</a:t>
            </a:r>
          </a:p>
        </p:txBody>
      </p:sp>
      <p:sp>
        <p:nvSpPr>
          <p:cNvPr id="9220" name="Rectangle 3"/>
          <p:cNvSpPr>
            <a:spLocks noGrp="1" noChangeArrowheads="1"/>
          </p:cNvSpPr>
          <p:nvPr>
            <p:ph type="body" idx="1"/>
          </p:nvPr>
        </p:nvSpPr>
        <p:spPr>
          <a:xfrm>
            <a:off x="323528" y="1484784"/>
            <a:ext cx="8229600" cy="4525963"/>
          </a:xfrm>
        </p:spPr>
        <p:txBody>
          <a:bodyPr vert="horz" lIns="91440" tIns="45720" rIns="91440" bIns="45720" rtlCol="0">
            <a:normAutofit/>
          </a:bodyPr>
          <a:lstStyle/>
          <a:p>
            <a:r>
              <a:rPr lang="en-US" altLang="en-US" dirty="0"/>
              <a:t>Secrecy or Confidentiality(encryption)</a:t>
            </a:r>
          </a:p>
          <a:p>
            <a:r>
              <a:rPr lang="en-US" altLang="en-US" dirty="0"/>
              <a:t>Authenticity(signature/encryption)</a:t>
            </a:r>
          </a:p>
          <a:p>
            <a:r>
              <a:rPr lang="en-US" altLang="en-US" dirty="0"/>
              <a:t>Integrity (signature/encryption)</a:t>
            </a:r>
          </a:p>
          <a:p>
            <a:r>
              <a:rPr lang="en-US" altLang="en-US" dirty="0"/>
              <a:t>Non-repudiation (signature)</a:t>
            </a:r>
          </a:p>
          <a:p>
            <a:endParaRPr lang="en-US" altLang="en-US" dirty="0"/>
          </a:p>
        </p:txBody>
      </p:sp>
    </p:spTree>
    <p:extLst>
      <p:ext uri="{BB962C8B-B14F-4D97-AF65-F5344CB8AC3E}">
        <p14:creationId xmlns="" xmlns:p14="http://schemas.microsoft.com/office/powerpoint/2010/main" val="38144138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395536" y="332656"/>
            <a:ext cx="6120680" cy="850106"/>
          </a:xfrm>
        </p:spPr>
        <p:txBody>
          <a:bodyPr anchor="ctr"/>
          <a:lstStyle/>
          <a:p>
            <a:r>
              <a:rPr lang="en-AU" altLang="en-US" dirty="0"/>
              <a:t>Basic Terminology</a:t>
            </a:r>
          </a:p>
        </p:txBody>
      </p:sp>
      <p:sp>
        <p:nvSpPr>
          <p:cNvPr id="11268" name="Rectangle 3"/>
          <p:cNvSpPr>
            <a:spLocks noGrp="1" noChangeArrowheads="1"/>
          </p:cNvSpPr>
          <p:nvPr>
            <p:ph type="body" idx="1"/>
          </p:nvPr>
        </p:nvSpPr>
        <p:spPr>
          <a:xfrm>
            <a:off x="395536" y="1484784"/>
            <a:ext cx="8568952" cy="5373216"/>
          </a:xfrm>
        </p:spPr>
        <p:txBody>
          <a:bodyPr vert="horz" lIns="91440" tIns="45720" rIns="91440" bIns="45720" rtlCol="0">
            <a:normAutofit fontScale="85000" lnSpcReduction="10000"/>
          </a:bodyPr>
          <a:lstStyle/>
          <a:p>
            <a:r>
              <a:rPr lang="en-AU" altLang="en-US" dirty="0">
                <a:solidFill>
                  <a:srgbClr val="FF0000"/>
                </a:solidFill>
              </a:rPr>
              <a:t>plaintext</a:t>
            </a:r>
            <a:r>
              <a:rPr lang="en-AU" altLang="en-US" dirty="0"/>
              <a:t> - the original message </a:t>
            </a:r>
          </a:p>
          <a:p>
            <a:r>
              <a:rPr lang="en-AU" altLang="en-US" dirty="0" err="1">
                <a:solidFill>
                  <a:srgbClr val="FF0000"/>
                </a:solidFill>
              </a:rPr>
              <a:t>ciphertext</a:t>
            </a:r>
            <a:r>
              <a:rPr lang="en-AU" altLang="en-US" dirty="0"/>
              <a:t> - the coded message </a:t>
            </a:r>
          </a:p>
          <a:p>
            <a:r>
              <a:rPr lang="en-AU" altLang="en-US" dirty="0">
                <a:solidFill>
                  <a:srgbClr val="FF0000"/>
                </a:solidFill>
              </a:rPr>
              <a:t>cipher</a:t>
            </a:r>
            <a:r>
              <a:rPr lang="en-AU" altLang="en-US" dirty="0"/>
              <a:t> - algorithm for transforming plaintext to </a:t>
            </a:r>
            <a:r>
              <a:rPr lang="en-AU" altLang="en-US" dirty="0" err="1"/>
              <a:t>ciphertext</a:t>
            </a:r>
            <a:r>
              <a:rPr lang="en-AU" altLang="en-US" dirty="0"/>
              <a:t> </a:t>
            </a:r>
          </a:p>
          <a:p>
            <a:r>
              <a:rPr lang="en-AU" altLang="en-US" dirty="0">
                <a:solidFill>
                  <a:srgbClr val="FF0000"/>
                </a:solidFill>
              </a:rPr>
              <a:t>key</a:t>
            </a:r>
            <a:r>
              <a:rPr lang="en-AU" altLang="en-US" dirty="0"/>
              <a:t> - info used in cipher known only to sender/receiver </a:t>
            </a:r>
          </a:p>
          <a:p>
            <a:r>
              <a:rPr lang="en-AU" altLang="en-US" dirty="0">
                <a:solidFill>
                  <a:srgbClr val="FF0000"/>
                </a:solidFill>
              </a:rPr>
              <a:t>encipher</a:t>
            </a:r>
            <a:r>
              <a:rPr lang="en-AU" altLang="en-US" dirty="0"/>
              <a:t> (encrypt) - converting plaintext to </a:t>
            </a:r>
            <a:r>
              <a:rPr lang="en-AU" altLang="en-US" dirty="0" err="1"/>
              <a:t>ciphertext</a:t>
            </a:r>
            <a:r>
              <a:rPr lang="en-AU" altLang="en-US" dirty="0"/>
              <a:t> </a:t>
            </a:r>
          </a:p>
          <a:p>
            <a:r>
              <a:rPr lang="en-AU" altLang="en-US" dirty="0">
                <a:solidFill>
                  <a:srgbClr val="FF0000"/>
                </a:solidFill>
              </a:rPr>
              <a:t>decipher</a:t>
            </a:r>
            <a:r>
              <a:rPr lang="en-AU" altLang="en-US" dirty="0"/>
              <a:t> (decrypt) - recovering </a:t>
            </a:r>
            <a:r>
              <a:rPr lang="en-AU" altLang="en-US" dirty="0" err="1"/>
              <a:t>ciphertext</a:t>
            </a:r>
            <a:r>
              <a:rPr lang="en-AU" altLang="en-US" dirty="0"/>
              <a:t> from plaintext</a:t>
            </a:r>
          </a:p>
          <a:p>
            <a:r>
              <a:rPr lang="en-AU" altLang="en-US" dirty="0">
                <a:solidFill>
                  <a:srgbClr val="FF0000"/>
                </a:solidFill>
              </a:rPr>
              <a:t>cryptography</a:t>
            </a:r>
            <a:r>
              <a:rPr lang="en-AU" altLang="en-US" dirty="0"/>
              <a:t> - study of encryption principles/methods</a:t>
            </a:r>
          </a:p>
          <a:p>
            <a:r>
              <a:rPr lang="en-AU" altLang="en-US" dirty="0">
                <a:solidFill>
                  <a:srgbClr val="FF0000"/>
                </a:solidFill>
              </a:rPr>
              <a:t>cryptanalysis</a:t>
            </a:r>
            <a:r>
              <a:rPr lang="en-AU" altLang="en-US" dirty="0"/>
              <a:t> (</a:t>
            </a:r>
            <a:r>
              <a:rPr lang="en-AU" altLang="en-US" dirty="0" err="1"/>
              <a:t>codebreaking</a:t>
            </a:r>
            <a:r>
              <a:rPr lang="en-AU" altLang="en-US" dirty="0"/>
              <a:t>) - the study of principles/ methods of deciphering </a:t>
            </a:r>
            <a:r>
              <a:rPr lang="en-AU" altLang="en-US" dirty="0" err="1"/>
              <a:t>ciphertext</a:t>
            </a:r>
            <a:r>
              <a:rPr lang="en-AU" altLang="en-US" dirty="0"/>
              <a:t> without knowing key</a:t>
            </a:r>
          </a:p>
          <a:p>
            <a:r>
              <a:rPr lang="en-AU" altLang="en-US" dirty="0">
                <a:solidFill>
                  <a:srgbClr val="FF0000"/>
                </a:solidFill>
              </a:rPr>
              <a:t>cryptology</a:t>
            </a:r>
            <a:r>
              <a:rPr lang="en-AU" altLang="en-US" dirty="0"/>
              <a:t> - the field of both cryptography and cryptanalysis</a:t>
            </a:r>
          </a:p>
        </p:txBody>
      </p:sp>
    </p:spTree>
    <p:extLst>
      <p:ext uri="{BB962C8B-B14F-4D97-AF65-F5344CB8AC3E}">
        <p14:creationId xmlns="" xmlns:p14="http://schemas.microsoft.com/office/powerpoint/2010/main" val="20779919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nchor="ctr"/>
          <a:lstStyle/>
          <a:p>
            <a:r>
              <a:rPr lang="en-US" altLang="en-US" dirty="0"/>
              <a:t>Cryptography is simple!</a:t>
            </a:r>
          </a:p>
        </p:txBody>
      </p:sp>
      <p:sp>
        <p:nvSpPr>
          <p:cNvPr id="12292" name="Text Box 3"/>
          <p:cNvSpPr txBox="1">
            <a:spLocks noChangeArrowheads="1"/>
          </p:cNvSpPr>
          <p:nvPr/>
        </p:nvSpPr>
        <p:spPr bwMode="auto">
          <a:xfrm>
            <a:off x="683568" y="2060848"/>
            <a:ext cx="3684588" cy="3251200"/>
          </a:xfrm>
          <a:prstGeom prst="rect">
            <a:avLst/>
          </a:prstGeom>
          <a:solidFill>
            <a:schemeClr val="accent1"/>
          </a:solidFill>
          <a:ln w="9525">
            <a:solidFill>
              <a:srgbClr val="000000"/>
            </a:solidFill>
            <a:miter lim="800000"/>
            <a:headEnd/>
            <a:tailEnd/>
          </a:ln>
        </p:spPr>
        <p:txBody>
          <a:bodyPr/>
          <a:lstStyle/>
          <a:p>
            <a:r>
              <a:rPr lang="en-US" altLang="en-US" sz="2400" b="1" dirty="0">
                <a:solidFill>
                  <a:schemeClr val="bg2"/>
                </a:solidFill>
                <a:latin typeface="Times New Roman" pitchFamily="18" charset="0"/>
              </a:rPr>
              <a:t>Hi Amit,</a:t>
            </a:r>
          </a:p>
          <a:p>
            <a:r>
              <a:rPr lang="en-US" altLang="en-US" sz="2400" b="1" dirty="0">
                <a:solidFill>
                  <a:schemeClr val="bg2"/>
                </a:solidFill>
                <a:latin typeface="Times New Roman" pitchFamily="18" charset="0"/>
              </a:rPr>
              <a:t>Hope you are doing fine. How about meeting at the train station this Friday at 5 pm? Please let me know if it is ok with you.</a:t>
            </a:r>
          </a:p>
          <a:p>
            <a:r>
              <a:rPr lang="en-US" altLang="en-US" sz="2400" b="1" dirty="0">
                <a:solidFill>
                  <a:schemeClr val="bg2"/>
                </a:solidFill>
                <a:latin typeface="Times New Roman" pitchFamily="18" charset="0"/>
              </a:rPr>
              <a:t>Regards.</a:t>
            </a:r>
          </a:p>
          <a:p>
            <a:r>
              <a:rPr lang="en-US" altLang="en-US" sz="2400" b="1" dirty="0">
                <a:solidFill>
                  <a:schemeClr val="bg2"/>
                </a:solidFill>
                <a:latin typeface="Times New Roman" pitchFamily="18" charset="0"/>
              </a:rPr>
              <a:t>John</a:t>
            </a:r>
          </a:p>
        </p:txBody>
      </p:sp>
      <p:sp>
        <p:nvSpPr>
          <p:cNvPr id="12293" name="Text Box 4"/>
          <p:cNvSpPr txBox="1">
            <a:spLocks noChangeArrowheads="1"/>
          </p:cNvSpPr>
          <p:nvPr/>
        </p:nvSpPr>
        <p:spPr bwMode="auto">
          <a:xfrm>
            <a:off x="4368156" y="2061654"/>
            <a:ext cx="3925887" cy="3251200"/>
          </a:xfrm>
          <a:prstGeom prst="rect">
            <a:avLst/>
          </a:prstGeom>
          <a:solidFill>
            <a:schemeClr val="accent2"/>
          </a:solidFill>
          <a:ln w="9525">
            <a:solidFill>
              <a:srgbClr val="000000"/>
            </a:solidFill>
            <a:miter lim="800000"/>
            <a:headEnd/>
            <a:tailEnd/>
          </a:ln>
        </p:spPr>
        <p:txBody>
          <a:bodyPr/>
          <a:lstStyle/>
          <a:p>
            <a:r>
              <a:rPr lang="en-US" altLang="en-US" sz="2400" b="1" dirty="0">
                <a:solidFill>
                  <a:srgbClr val="CCFFFF"/>
                </a:solidFill>
                <a:latin typeface="Times New Roman" pitchFamily="18" charset="0"/>
              </a:rPr>
              <a:t>Kl </a:t>
            </a:r>
            <a:r>
              <a:rPr lang="en-US" altLang="en-US" sz="2400" b="1" dirty="0" err="1">
                <a:solidFill>
                  <a:srgbClr val="CCFFFF"/>
                </a:solidFill>
                <a:latin typeface="Times New Roman" pitchFamily="18" charset="0"/>
              </a:rPr>
              <a:t>Dplw</a:t>
            </a:r>
            <a:r>
              <a:rPr lang="en-US" altLang="en-US" sz="2400" b="1" dirty="0">
                <a:solidFill>
                  <a:srgbClr val="CCFFFF"/>
                </a:solidFill>
                <a:latin typeface="Times New Roman" pitchFamily="18" charset="0"/>
              </a:rPr>
              <a:t>,</a:t>
            </a:r>
          </a:p>
          <a:p>
            <a:r>
              <a:rPr lang="en-US" altLang="en-US" sz="2400" b="1" dirty="0" err="1">
                <a:solidFill>
                  <a:srgbClr val="CCFFFF"/>
                </a:solidFill>
                <a:latin typeface="Times New Roman" pitchFamily="18" charset="0"/>
              </a:rPr>
              <a:t>Krsh</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brx</a:t>
            </a:r>
            <a:r>
              <a:rPr lang="en-US" altLang="en-US" sz="2400" b="1" dirty="0">
                <a:solidFill>
                  <a:srgbClr val="CCFFFF"/>
                </a:solidFill>
                <a:latin typeface="Times New Roman" pitchFamily="18" charset="0"/>
              </a:rPr>
              <a:t> duh </a:t>
            </a:r>
            <a:r>
              <a:rPr lang="en-US" altLang="en-US" sz="2400" b="1" dirty="0" err="1">
                <a:solidFill>
                  <a:srgbClr val="CCFFFF"/>
                </a:solidFill>
                <a:latin typeface="Times New Roman" pitchFamily="18" charset="0"/>
              </a:rPr>
              <a:t>grlqj</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ilqh</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Krz</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derxw</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phhwlqj</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dw</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wkh</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wudlq</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vwdwlrq</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wklv</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Iulgdb</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dw</a:t>
            </a:r>
            <a:r>
              <a:rPr lang="en-US" altLang="en-US" sz="2400" b="1" dirty="0">
                <a:solidFill>
                  <a:srgbClr val="CCFFFF"/>
                </a:solidFill>
                <a:latin typeface="Times New Roman" pitchFamily="18" charset="0"/>
              </a:rPr>
              <a:t> 5 </a:t>
            </a:r>
            <a:r>
              <a:rPr lang="en-US" altLang="en-US" sz="2400" b="1" dirty="0" err="1">
                <a:solidFill>
                  <a:srgbClr val="CCFFFF"/>
                </a:solidFill>
                <a:latin typeface="Times New Roman" pitchFamily="18" charset="0"/>
              </a:rPr>
              <a:t>sp</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Sohdvh</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ohw</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ph</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nqrz</a:t>
            </a:r>
            <a:r>
              <a:rPr lang="en-US" altLang="en-US" sz="2400" b="1" dirty="0">
                <a:solidFill>
                  <a:srgbClr val="CCFFFF"/>
                </a:solidFill>
                <a:latin typeface="Times New Roman" pitchFamily="18" charset="0"/>
              </a:rPr>
              <a:t> li </a:t>
            </a:r>
            <a:r>
              <a:rPr lang="en-US" altLang="en-US" sz="2400" b="1" dirty="0" err="1">
                <a:solidFill>
                  <a:srgbClr val="CCFFFF"/>
                </a:solidFill>
                <a:latin typeface="Times New Roman" pitchFamily="18" charset="0"/>
              </a:rPr>
              <a:t>lw</a:t>
            </a:r>
            <a:r>
              <a:rPr lang="en-US" altLang="en-US" sz="2400" b="1" dirty="0">
                <a:solidFill>
                  <a:srgbClr val="CCFFFF"/>
                </a:solidFill>
                <a:latin typeface="Times New Roman" pitchFamily="18" charset="0"/>
              </a:rPr>
              <a:t> lv </a:t>
            </a:r>
            <a:r>
              <a:rPr lang="en-US" altLang="en-US" sz="2400" b="1" dirty="0" err="1">
                <a:solidFill>
                  <a:srgbClr val="CCFFFF"/>
                </a:solidFill>
                <a:latin typeface="Times New Roman" pitchFamily="18" charset="0"/>
              </a:rPr>
              <a:t>rn</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zlwk</a:t>
            </a:r>
            <a:r>
              <a:rPr lang="en-US" altLang="en-US" sz="2400" b="1" dirty="0">
                <a:solidFill>
                  <a:srgbClr val="CCFFFF"/>
                </a:solidFill>
                <a:latin typeface="Times New Roman" pitchFamily="18" charset="0"/>
              </a:rPr>
              <a:t> </a:t>
            </a:r>
            <a:r>
              <a:rPr lang="en-US" altLang="en-US" sz="2400" b="1" dirty="0" err="1">
                <a:solidFill>
                  <a:srgbClr val="CCFFFF"/>
                </a:solidFill>
                <a:latin typeface="Times New Roman" pitchFamily="18" charset="0"/>
              </a:rPr>
              <a:t>brx</a:t>
            </a:r>
            <a:r>
              <a:rPr lang="en-US" altLang="en-US" sz="2400" b="1" dirty="0">
                <a:solidFill>
                  <a:srgbClr val="CCFFFF"/>
                </a:solidFill>
                <a:latin typeface="Times New Roman" pitchFamily="18" charset="0"/>
              </a:rPr>
              <a:t>.</a:t>
            </a:r>
          </a:p>
          <a:p>
            <a:r>
              <a:rPr lang="en-US" altLang="en-US" sz="2400" b="1" dirty="0" err="1">
                <a:solidFill>
                  <a:srgbClr val="CCFFFF"/>
                </a:solidFill>
                <a:latin typeface="Times New Roman" pitchFamily="18" charset="0"/>
              </a:rPr>
              <a:t>Uhjdugv</a:t>
            </a:r>
            <a:r>
              <a:rPr lang="en-US" altLang="en-US" sz="2400" b="1" dirty="0">
                <a:solidFill>
                  <a:srgbClr val="CCFFFF"/>
                </a:solidFill>
                <a:latin typeface="Times New Roman" pitchFamily="18" charset="0"/>
              </a:rPr>
              <a:t>.</a:t>
            </a:r>
          </a:p>
          <a:p>
            <a:r>
              <a:rPr lang="en-US" altLang="en-US" sz="2400" b="1" dirty="0" err="1">
                <a:solidFill>
                  <a:srgbClr val="CCFFFF"/>
                </a:solidFill>
                <a:latin typeface="Times New Roman" pitchFamily="18" charset="0"/>
              </a:rPr>
              <a:t>Mrkq</a:t>
            </a:r>
            <a:endParaRPr lang="en-US" altLang="en-US" sz="2400" b="1" dirty="0">
              <a:solidFill>
                <a:srgbClr val="CCFFFF"/>
              </a:solidFill>
              <a:latin typeface="Times New Roman" pitchFamily="18" charset="0"/>
            </a:endParaRPr>
          </a:p>
        </p:txBody>
      </p:sp>
    </p:spTree>
    <p:extLst>
      <p:ext uri="{BB962C8B-B14F-4D97-AF65-F5344CB8AC3E}">
        <p14:creationId xmlns="" xmlns:p14="http://schemas.microsoft.com/office/powerpoint/2010/main" val="1414201836"/>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nchor="ctr"/>
          <a:lstStyle/>
          <a:p>
            <a:r>
              <a:rPr lang="en-US" altLang="en-US" dirty="0"/>
              <a:t>Cryptography Basics</a:t>
            </a:r>
          </a:p>
        </p:txBody>
      </p:sp>
      <p:sp>
        <p:nvSpPr>
          <p:cNvPr id="15364" name="Rectangle 3"/>
          <p:cNvSpPr>
            <a:spLocks noGrp="1" noChangeArrowheads="1"/>
          </p:cNvSpPr>
          <p:nvPr>
            <p:ph type="body" idx="1"/>
          </p:nvPr>
        </p:nvSpPr>
        <p:spPr/>
        <p:txBody>
          <a:bodyPr vert="horz" lIns="91440" tIns="45720" rIns="91440" bIns="45720" rtlCol="0">
            <a:normAutofit/>
          </a:bodyPr>
          <a:lstStyle/>
          <a:p>
            <a:r>
              <a:rPr lang="en-US" altLang="en-US" dirty="0">
                <a:solidFill>
                  <a:srgbClr val="FF0000"/>
                </a:solidFill>
              </a:rPr>
              <a:t>Plain text</a:t>
            </a:r>
          </a:p>
          <a:p>
            <a:pPr lvl="1"/>
            <a:r>
              <a:rPr lang="en-US" altLang="en-US" dirty="0"/>
              <a:t>All understandable messages</a:t>
            </a:r>
          </a:p>
          <a:p>
            <a:pPr lvl="1"/>
            <a:r>
              <a:rPr lang="en-US" altLang="en-US" dirty="0"/>
              <a:t>Example: “My name is John”</a:t>
            </a:r>
          </a:p>
          <a:p>
            <a:pPr lvl="1"/>
            <a:endParaRPr lang="en-US" altLang="en-US" dirty="0"/>
          </a:p>
          <a:p>
            <a:r>
              <a:rPr lang="en-US" altLang="en-US" dirty="0">
                <a:solidFill>
                  <a:srgbClr val="FF0000"/>
                </a:solidFill>
              </a:rPr>
              <a:t>Cipher text</a:t>
            </a:r>
          </a:p>
          <a:p>
            <a:pPr lvl="1"/>
            <a:r>
              <a:rPr lang="en-US" altLang="en-US" dirty="0"/>
              <a:t>All non-understandable messages </a:t>
            </a:r>
          </a:p>
          <a:p>
            <a:pPr lvl="1"/>
            <a:r>
              <a:rPr lang="en-US" altLang="en-US" dirty="0"/>
              <a:t>Example: “G%er@17*0-1&gt;-”</a:t>
            </a:r>
          </a:p>
        </p:txBody>
      </p:sp>
    </p:spTree>
    <p:extLst>
      <p:ext uri="{BB962C8B-B14F-4D97-AF65-F5344CB8AC3E}">
        <p14:creationId xmlns="" xmlns:p14="http://schemas.microsoft.com/office/powerpoint/2010/main" val="226879527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en-US" dirty="0" smtClean="0"/>
              <a:t>Cryptography Mechanisms</a:t>
            </a:r>
          </a:p>
        </p:txBody>
      </p:sp>
      <p:sp>
        <p:nvSpPr>
          <p:cNvPr id="14340" name="Rectangle 3"/>
          <p:cNvSpPr>
            <a:spLocks noGrp="1" noChangeArrowheads="1"/>
          </p:cNvSpPr>
          <p:nvPr>
            <p:ph type="body" idx="1"/>
          </p:nvPr>
        </p:nvSpPr>
        <p:spPr/>
        <p:txBody>
          <a:bodyPr vert="horz" lIns="91440" tIns="45720" rIns="91440" bIns="45720" rtlCol="0">
            <a:normAutofit lnSpcReduction="10000"/>
          </a:bodyPr>
          <a:lstStyle/>
          <a:p>
            <a:r>
              <a:rPr lang="en-US" altLang="en-US" b="1" dirty="0"/>
              <a:t>Substitution Techniques</a:t>
            </a:r>
          </a:p>
          <a:p>
            <a:pPr lvl="1"/>
            <a:r>
              <a:rPr lang="en-US" altLang="en-US" dirty="0"/>
              <a:t>Replace one or more characters with other characters </a:t>
            </a:r>
          </a:p>
          <a:p>
            <a:pPr lvl="1"/>
            <a:r>
              <a:rPr lang="en-US" altLang="en-US" dirty="0"/>
              <a:t>Example: Replace each a with d, b with e, etc</a:t>
            </a:r>
          </a:p>
          <a:p>
            <a:r>
              <a:rPr lang="en-US" altLang="en-US" b="1" dirty="0"/>
              <a:t>Transposition Techniques</a:t>
            </a:r>
          </a:p>
          <a:p>
            <a:pPr lvl="1"/>
            <a:r>
              <a:rPr lang="en-US" altLang="en-US" dirty="0"/>
              <a:t>Rearrange the text</a:t>
            </a:r>
          </a:p>
          <a:p>
            <a:pPr lvl="1"/>
            <a:r>
              <a:rPr lang="en-US" altLang="en-US" dirty="0"/>
              <a:t>Example: Replace 1st character with 4th, 2nd with 5th, etc</a:t>
            </a:r>
          </a:p>
          <a:p>
            <a:r>
              <a:rPr lang="en-US" altLang="en-US" b="1" dirty="0"/>
              <a:t>Combinational Technique</a:t>
            </a:r>
            <a:r>
              <a:rPr lang="en-US" altLang="en-US" dirty="0"/>
              <a:t>: Mostly used</a:t>
            </a:r>
          </a:p>
          <a:p>
            <a:endParaRPr lang="en-US" altLang="en-US" dirty="0"/>
          </a:p>
        </p:txBody>
      </p:sp>
    </p:spTree>
    <p:extLst>
      <p:ext uri="{BB962C8B-B14F-4D97-AF65-F5344CB8AC3E}">
        <p14:creationId xmlns="" xmlns:p14="http://schemas.microsoft.com/office/powerpoint/2010/main" val="123096512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493837"/>
            <a:ext cx="8712968" cy="4887491"/>
          </a:xfrm>
        </p:spPr>
        <p:txBody>
          <a:bodyPr vert="horz" lIns="91440" tIns="45720" rIns="91440" bIns="45720" rtlCol="0">
            <a:normAutofit fontScale="55000" lnSpcReduction="20000"/>
          </a:bodyPr>
          <a:lstStyle/>
          <a:p>
            <a:pPr>
              <a:buChar char="•"/>
            </a:pPr>
            <a:r>
              <a:rPr lang="en-IN" sz="3200" b="1" dirty="0">
                <a:cs typeface="+mn-cs"/>
              </a:rPr>
              <a:t>Operations: The type of operations used for transforming plaintext to ciphertext. The fundamental requirement is that no information be lost. Two techniques:</a:t>
            </a:r>
          </a:p>
          <a:p>
            <a:pPr lvl="2"/>
            <a:r>
              <a:rPr lang="en-IN" dirty="0">
                <a:latin typeface="+mn-lt"/>
                <a:cs typeface="+mn-cs"/>
              </a:rPr>
              <a:t>Substitution: each element in the plaintext is mapped into another element.</a:t>
            </a:r>
          </a:p>
          <a:p>
            <a:pPr lvl="2"/>
            <a:r>
              <a:rPr lang="en-IN" dirty="0" smtClean="0">
                <a:latin typeface="+mn-lt"/>
                <a:cs typeface="+mn-cs"/>
              </a:rPr>
              <a:t>Example </a:t>
            </a:r>
            <a:r>
              <a:rPr lang="en-IN" dirty="0">
                <a:latin typeface="+mn-lt"/>
                <a:cs typeface="+mn-cs"/>
              </a:rPr>
              <a:t>- APPLE can be decrypted as BQQMF using some rule. This rule is the key.</a:t>
            </a:r>
          </a:p>
          <a:p>
            <a:pPr lvl="2"/>
            <a:r>
              <a:rPr lang="en-IN" dirty="0">
                <a:latin typeface="+mn-lt"/>
                <a:cs typeface="+mn-cs"/>
              </a:rPr>
              <a:t>Transposition: elements in the plaintext are rearranged. </a:t>
            </a:r>
          </a:p>
          <a:p>
            <a:pPr lvl="2"/>
            <a:r>
              <a:rPr lang="en-IN" dirty="0" smtClean="0">
                <a:latin typeface="+mn-lt"/>
                <a:cs typeface="+mn-cs"/>
              </a:rPr>
              <a:t>Example </a:t>
            </a:r>
            <a:r>
              <a:rPr lang="en-IN" dirty="0">
                <a:latin typeface="+mn-lt"/>
                <a:cs typeface="+mn-cs"/>
              </a:rPr>
              <a:t>- APPLE can be decrypted as ELPPA using some rule. This rule is the key.</a:t>
            </a:r>
          </a:p>
          <a:p>
            <a:pPr>
              <a:buChar char="•"/>
            </a:pPr>
            <a:endParaRPr lang="en-IN" sz="3200" b="1" dirty="0">
              <a:cs typeface="+mn-cs"/>
            </a:endParaRPr>
          </a:p>
          <a:p>
            <a:pPr>
              <a:buChar char="•"/>
            </a:pPr>
            <a:r>
              <a:rPr lang="en-IN" sz="3200" b="1" dirty="0">
                <a:cs typeface="+mn-cs"/>
              </a:rPr>
              <a:t>Most systems, deploy ‘product systems’, that involve multiple stages of substitutions and transpositions.</a:t>
            </a:r>
          </a:p>
          <a:p>
            <a:pPr>
              <a:buChar char="•"/>
            </a:pPr>
            <a:endParaRPr lang="en-IN" sz="3200" b="1" dirty="0">
              <a:cs typeface="+mn-cs"/>
            </a:endParaRPr>
          </a:p>
          <a:p>
            <a:pPr>
              <a:buChar char="•"/>
            </a:pPr>
            <a:r>
              <a:rPr lang="en-IN" sz="3200" b="1" dirty="0">
                <a:cs typeface="+mn-cs"/>
              </a:rPr>
              <a:t>The number of keys: If both sender and receiver use the same key, the system is referred to as symmetric, single-key, secret-key, classical, or conventional encryption. If the sender and receiver use different keys, the system is referred to as asymmetric or public-key encryption.</a:t>
            </a:r>
          </a:p>
          <a:p>
            <a:pPr>
              <a:buChar char="•"/>
            </a:pPr>
            <a:endParaRPr lang="en-IN" sz="3200" b="1" dirty="0">
              <a:cs typeface="+mn-cs"/>
            </a:endParaRPr>
          </a:p>
          <a:p>
            <a:pPr>
              <a:buChar char="•"/>
            </a:pPr>
            <a:r>
              <a:rPr lang="en-IN" sz="3200" b="1" dirty="0">
                <a:cs typeface="+mn-cs"/>
              </a:rPr>
              <a:t>Processing: There are two types of processing:</a:t>
            </a:r>
          </a:p>
          <a:p>
            <a:pPr lvl="2"/>
            <a:r>
              <a:rPr lang="en-IN" dirty="0">
                <a:latin typeface="+mn-lt"/>
                <a:cs typeface="+mn-cs"/>
              </a:rPr>
              <a:t>Block cipher processes the input one block of elements at a time, producing an output block for each input block. </a:t>
            </a:r>
          </a:p>
          <a:p>
            <a:pPr lvl="2"/>
            <a:r>
              <a:rPr lang="en-IN" dirty="0">
                <a:latin typeface="+mn-lt"/>
                <a:cs typeface="+mn-cs"/>
              </a:rPr>
              <a:t>Stream cipher processes the input elements continuously, producing output one element at a time, as it goes along.</a:t>
            </a:r>
          </a:p>
          <a:p>
            <a:pPr>
              <a:buChar char="•"/>
            </a:pPr>
            <a:endParaRPr lang="en-IN" sz="3200" b="1" dirty="0">
              <a:cs typeface="+mn-cs"/>
            </a:endParaRPr>
          </a:p>
        </p:txBody>
      </p:sp>
      <p:sp>
        <p:nvSpPr>
          <p:cNvPr id="3" name="Content Placeholder 2"/>
          <p:cNvSpPr>
            <a:spLocks noGrp="1"/>
          </p:cNvSpPr>
          <p:nvPr>
            <p:ph sz="quarter" idx="10"/>
          </p:nvPr>
        </p:nvSpPr>
        <p:spPr/>
        <p:txBody>
          <a:bodyPr anchor="ctr"/>
          <a:lstStyle/>
          <a:p>
            <a:pPr>
              <a:spcBef>
                <a:spcPct val="0"/>
              </a:spcBef>
            </a:pPr>
            <a:r>
              <a:rPr lang="en-IN" sz="3200" dirty="0">
                <a:latin typeface="+mj-lt"/>
                <a:ea typeface="+mj-ea"/>
                <a:cs typeface="+mj-cs"/>
              </a:rPr>
              <a:t>Cryptography: Dimensions</a:t>
            </a:r>
          </a:p>
        </p:txBody>
      </p:sp>
    </p:spTree>
    <p:extLst>
      <p:ext uri="{BB962C8B-B14F-4D97-AF65-F5344CB8AC3E}">
        <p14:creationId xmlns="" xmlns:p14="http://schemas.microsoft.com/office/powerpoint/2010/main" val="89785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504" y="1412776"/>
            <a:ext cx="5040560" cy="5616624"/>
          </a:xfrm>
        </p:spPr>
        <p:txBody>
          <a:bodyPr vert="horz" lIns="91440" tIns="45720" rIns="91440" bIns="45720" rtlCol="0">
            <a:normAutofit fontScale="55000" lnSpcReduction="20000"/>
          </a:bodyPr>
          <a:lstStyle/>
          <a:p>
            <a:pPr lvl="1"/>
            <a:r>
              <a:rPr lang="en-IN" dirty="0">
                <a:cs typeface="+mn-cs"/>
              </a:rPr>
              <a:t>Cryptanalytic attacks rely on the nature of the algorithm plus perhaps some knowledge of the general characteristics of the plaintext or even some sample plaintext–ciphertext pairs. </a:t>
            </a:r>
          </a:p>
          <a:p>
            <a:pPr lvl="1"/>
            <a:endParaRPr lang="en-IN" dirty="0">
              <a:cs typeface="+mn-cs"/>
            </a:endParaRPr>
          </a:p>
          <a:p>
            <a:pPr lvl="1"/>
            <a:r>
              <a:rPr lang="en-IN" dirty="0">
                <a:cs typeface="+mn-cs"/>
              </a:rPr>
              <a:t>Tries to exploits the characteristics of the algorithm to find out a specific plaintext or to find out the key being used.</a:t>
            </a:r>
          </a:p>
          <a:p>
            <a:pPr lvl="1"/>
            <a:endParaRPr lang="en-IN" dirty="0">
              <a:cs typeface="+mn-cs"/>
            </a:endParaRPr>
          </a:p>
          <a:p>
            <a:pPr marL="457200" lvl="1" indent="0">
              <a:buNone/>
            </a:pPr>
            <a:r>
              <a:rPr lang="en-IN" b="1" dirty="0" smtClean="0">
                <a:cs typeface="+mn-cs"/>
              </a:rPr>
              <a:t>1) </a:t>
            </a:r>
            <a:r>
              <a:rPr lang="en-IN" b="1" dirty="0" err="1" smtClean="0">
                <a:cs typeface="+mn-cs"/>
              </a:rPr>
              <a:t>Ciphertext</a:t>
            </a:r>
            <a:r>
              <a:rPr lang="en-IN" b="1" dirty="0" smtClean="0">
                <a:cs typeface="+mn-cs"/>
              </a:rPr>
              <a:t> </a:t>
            </a:r>
            <a:r>
              <a:rPr lang="en-IN" b="1" dirty="0">
                <a:cs typeface="+mn-cs"/>
              </a:rPr>
              <a:t>Only </a:t>
            </a:r>
            <a:r>
              <a:rPr lang="en-IN" dirty="0">
                <a:cs typeface="+mn-cs"/>
              </a:rPr>
              <a:t>– Analyst has least amount of information (algorithm and ciphertext).</a:t>
            </a:r>
          </a:p>
          <a:p>
            <a:pPr lvl="1"/>
            <a:endParaRPr lang="en-IN" dirty="0">
              <a:cs typeface="+mn-cs"/>
            </a:endParaRPr>
          </a:p>
          <a:p>
            <a:pPr marL="457200" lvl="1" indent="0">
              <a:buNone/>
            </a:pPr>
            <a:r>
              <a:rPr lang="en-IN" b="1" dirty="0" smtClean="0">
                <a:cs typeface="+mn-cs"/>
              </a:rPr>
              <a:t>2) Known </a:t>
            </a:r>
            <a:r>
              <a:rPr lang="en-IN" b="1" dirty="0">
                <a:cs typeface="+mn-cs"/>
              </a:rPr>
              <a:t>Plaintext </a:t>
            </a:r>
            <a:r>
              <a:rPr lang="en-IN" dirty="0">
                <a:cs typeface="+mn-cs"/>
              </a:rPr>
              <a:t>– Analyst has some more information like plaintext and ciphertext pairs or some pattern, header, trailer, or message banners.</a:t>
            </a:r>
          </a:p>
          <a:p>
            <a:pPr lvl="1"/>
            <a:endParaRPr lang="en-IN" dirty="0" smtClean="0">
              <a:cs typeface="+mn-cs"/>
            </a:endParaRPr>
          </a:p>
          <a:p>
            <a:pPr marL="457200" lvl="1" indent="0">
              <a:buNone/>
            </a:pPr>
            <a:r>
              <a:rPr lang="en-IN" sz="2700" b="1" dirty="0" smtClean="0">
                <a:cs typeface="+mn-cs"/>
              </a:rPr>
              <a:t>3) Chosen </a:t>
            </a:r>
            <a:r>
              <a:rPr lang="en-IN" sz="2700" b="1" dirty="0">
                <a:cs typeface="+mn-cs"/>
              </a:rPr>
              <a:t>Plaintext </a:t>
            </a:r>
            <a:r>
              <a:rPr lang="en-IN" dirty="0">
                <a:cs typeface="+mn-cs"/>
              </a:rPr>
              <a:t>– Analyst successfully make sender to insert a message in the plaintext that is chosen by the analyst. Helps him to pick patterns to reveal the overall structure.</a:t>
            </a:r>
          </a:p>
          <a:p>
            <a:pPr lvl="1"/>
            <a:endParaRPr lang="en-IN" dirty="0" smtClean="0">
              <a:cs typeface="+mn-cs"/>
            </a:endParaRPr>
          </a:p>
          <a:p>
            <a:pPr marL="457200" lvl="1" indent="0">
              <a:buNone/>
            </a:pPr>
            <a:r>
              <a:rPr lang="en-IN" sz="2700" b="1" dirty="0" smtClean="0">
                <a:cs typeface="+mn-cs"/>
              </a:rPr>
              <a:t>4</a:t>
            </a:r>
            <a:r>
              <a:rPr lang="en-IN" sz="2700" b="1" dirty="0">
                <a:cs typeface="+mn-cs"/>
              </a:rPr>
              <a:t>) Chosen Ciphertext </a:t>
            </a:r>
            <a:r>
              <a:rPr lang="en-IN" dirty="0">
                <a:cs typeface="+mn-cs"/>
              </a:rPr>
              <a:t>– The analyst tries to analyse - how to influence the plaintext to produce the chosen ciphertext with an overall objective to find out the key.</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Cryptanalytic Attacks</a:t>
            </a:r>
          </a:p>
        </p:txBody>
      </p:sp>
      <p:graphicFrame>
        <p:nvGraphicFramePr>
          <p:cNvPr id="6" name="Diagram 5"/>
          <p:cNvGraphicFramePr/>
          <p:nvPr>
            <p:extLst>
              <p:ext uri="{D42A27DB-BD31-4B8C-83A1-F6EECF244321}">
                <p14:modId xmlns="" xmlns:p14="http://schemas.microsoft.com/office/powerpoint/2010/main" val="2279762326"/>
              </p:ext>
            </p:extLst>
          </p:nvPr>
        </p:nvGraphicFramePr>
        <p:xfrm>
          <a:off x="5868144" y="1844824"/>
          <a:ext cx="2376264" cy="43924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 xmlns:p14="http://schemas.microsoft.com/office/powerpoint/2010/main" val="250084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9512" y="1556792"/>
            <a:ext cx="8229600" cy="4525963"/>
          </a:xfrm>
        </p:spPr>
        <p:txBody>
          <a:bodyPr vert="horz" lIns="91440" tIns="45720" rIns="91440" bIns="45720" rtlCol="0">
            <a:normAutofit fontScale="92500"/>
          </a:bodyPr>
          <a:lstStyle/>
          <a:p>
            <a:pPr lvl="1"/>
            <a:r>
              <a:rPr lang="en-IN" dirty="0">
                <a:cs typeface="+mn-cs"/>
              </a:rPr>
              <a:t>A brute-force attack involves trying every possible key until an intelligible translation of the ciphertext into plaintext is obtained. </a:t>
            </a:r>
          </a:p>
          <a:p>
            <a:pPr lvl="1"/>
            <a:endParaRPr lang="en-IN" dirty="0">
              <a:cs typeface="+mn-cs"/>
            </a:endParaRPr>
          </a:p>
          <a:p>
            <a:pPr lvl="1"/>
            <a:r>
              <a:rPr lang="en-IN" dirty="0">
                <a:cs typeface="+mn-cs"/>
              </a:rPr>
              <a:t>To make the possible deciphering more difficult the following approaches are practiced:</a:t>
            </a:r>
          </a:p>
          <a:p>
            <a:pPr lvl="1"/>
            <a:endParaRPr lang="en-IN" dirty="0">
              <a:cs typeface="+mn-cs"/>
            </a:endParaRPr>
          </a:p>
          <a:p>
            <a:pPr lvl="2"/>
            <a:r>
              <a:rPr lang="en-IN" dirty="0">
                <a:latin typeface="+mn-lt"/>
                <a:cs typeface="+mn-cs"/>
              </a:rPr>
              <a:t>Usage of symbols also in addition to language characters.</a:t>
            </a:r>
          </a:p>
          <a:p>
            <a:pPr lvl="2"/>
            <a:r>
              <a:rPr lang="en-IN" dirty="0">
                <a:latin typeface="+mn-lt"/>
                <a:cs typeface="+mn-cs"/>
              </a:rPr>
              <a:t>Compressed ciphertext.</a:t>
            </a:r>
          </a:p>
          <a:p>
            <a:pPr lvl="2"/>
            <a:r>
              <a:rPr lang="en-IN" dirty="0">
                <a:latin typeface="+mn-lt"/>
                <a:cs typeface="+mn-cs"/>
              </a:rPr>
              <a:t>Padding.</a:t>
            </a:r>
          </a:p>
          <a:p>
            <a:pPr lvl="1"/>
            <a:endParaRPr lang="en-IN" dirty="0">
              <a:cs typeface="+mn-cs"/>
            </a:endParaRPr>
          </a:p>
        </p:txBody>
      </p:sp>
      <p:sp>
        <p:nvSpPr>
          <p:cNvPr id="3" name="Content Placeholder 2"/>
          <p:cNvSpPr>
            <a:spLocks noGrp="1"/>
          </p:cNvSpPr>
          <p:nvPr>
            <p:ph sz="quarter" idx="10"/>
          </p:nvPr>
        </p:nvSpPr>
        <p:spPr/>
        <p:txBody>
          <a:bodyPr anchor="ctr"/>
          <a:lstStyle/>
          <a:p>
            <a:pPr>
              <a:spcBef>
                <a:spcPct val="0"/>
              </a:spcBef>
            </a:pPr>
            <a:r>
              <a:rPr lang="en-IN" sz="3200" dirty="0">
                <a:latin typeface="+mj-lt"/>
                <a:ea typeface="+mj-ea"/>
                <a:cs typeface="+mj-cs"/>
              </a:rPr>
              <a:t>Brute-Force Attacks</a:t>
            </a:r>
          </a:p>
        </p:txBody>
      </p:sp>
    </p:spTree>
    <p:extLst>
      <p:ext uri="{BB962C8B-B14F-4D97-AF65-F5344CB8AC3E}">
        <p14:creationId xmlns="" xmlns:p14="http://schemas.microsoft.com/office/powerpoint/2010/main" val="25373479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457200" y="274638"/>
            <a:ext cx="5913068" cy="874035"/>
          </a:xfrm>
        </p:spPr>
        <p:txBody>
          <a:bodyPr vert="horz" lIns="91440" tIns="45720" rIns="91440" bIns="45720" rtlCol="0" anchor="ctr" anchorCtr="0">
            <a:normAutofit/>
          </a:bodyPr>
          <a:lstStyle/>
          <a:p>
            <a:pPr indent="-342900" algn="l">
              <a:lnSpc>
                <a:spcPts val="3600"/>
              </a:lnSpc>
              <a:buFont typeface="Arial" pitchFamily="34" charset="0"/>
            </a:pPr>
            <a:r>
              <a:rPr lang="en-US" altLang="en-US" sz="3200" spc="-150" dirty="0"/>
              <a:t>Brute Force Attack</a:t>
            </a:r>
          </a:p>
        </p:txBody>
      </p:sp>
      <p:sp>
        <p:nvSpPr>
          <p:cNvPr id="34820" name="Rectangle 3"/>
          <p:cNvSpPr>
            <a:spLocks noChangeArrowheads="1"/>
          </p:cNvSpPr>
          <p:nvPr/>
        </p:nvSpPr>
        <p:spPr bwMode="auto">
          <a:xfrm>
            <a:off x="3175" y="2466975"/>
            <a:ext cx="9144000" cy="639763"/>
          </a:xfrm>
          <a:prstGeom prst="rect">
            <a:avLst/>
          </a:prstGeom>
          <a:noFill/>
          <a:ln w="9525">
            <a:noFill/>
            <a:miter lim="800000"/>
            <a:headEnd/>
            <a:tailEnd/>
          </a:ln>
        </p:spPr>
        <p:txBody>
          <a:bodyPr>
            <a:spAutoFit/>
          </a:bodyPr>
          <a:lstStyle/>
          <a:p>
            <a:pPr algn="just"/>
            <a:r>
              <a:rPr lang="en-AU" altLang="en-US" sz="1200">
                <a:solidFill>
                  <a:prstClr val="black"/>
                </a:solidFill>
                <a:latin typeface="Times New Roman" pitchFamily="18" charset="0"/>
                <a:cs typeface="Times New Roman" pitchFamily="18" charset="0"/>
              </a:rPr>
              <a:t> </a:t>
            </a:r>
            <a:endParaRPr lang="en-US" altLang="en-US" sz="1200">
              <a:solidFill>
                <a:prstClr val="black"/>
              </a:solidFill>
              <a:latin typeface="Times New Roman" pitchFamily="18" charset="0"/>
              <a:cs typeface="Times New Roman" pitchFamily="18" charset="0"/>
            </a:endParaRPr>
          </a:p>
          <a:p>
            <a:endParaRPr lang="en-US" altLang="en-US" sz="2400">
              <a:solidFill>
                <a:prstClr val="black"/>
              </a:solidFill>
              <a:latin typeface="Times New Roman" pitchFamily="18" charset="0"/>
            </a:endParaRPr>
          </a:p>
        </p:txBody>
      </p:sp>
      <p:grpSp>
        <p:nvGrpSpPr>
          <p:cNvPr id="2" name="Group 4"/>
          <p:cNvGrpSpPr>
            <a:grpSpLocks/>
          </p:cNvGrpSpPr>
          <p:nvPr/>
        </p:nvGrpSpPr>
        <p:grpSpPr bwMode="auto">
          <a:xfrm>
            <a:off x="398462" y="1772816"/>
            <a:ext cx="8353425" cy="4205288"/>
            <a:chOff x="1956" y="1440"/>
            <a:chExt cx="8412" cy="7764"/>
          </a:xfrm>
        </p:grpSpPr>
        <p:sp>
          <p:nvSpPr>
            <p:cNvPr id="34867" name="Rectangle 5"/>
            <p:cNvSpPr>
              <a:spLocks noChangeArrowheads="1"/>
            </p:cNvSpPr>
            <p:nvPr/>
          </p:nvSpPr>
          <p:spPr bwMode="auto">
            <a:xfrm>
              <a:off x="1956" y="1440"/>
              <a:ext cx="8412" cy="7764"/>
            </a:xfrm>
            <a:prstGeom prst="rect">
              <a:avLst/>
            </a:prstGeom>
            <a:solidFill>
              <a:srgbClr val="FFFFFF"/>
            </a:solidFill>
            <a:ln w="9525">
              <a:solidFill>
                <a:srgbClr val="000000"/>
              </a:solidFill>
              <a:miter lim="800000"/>
              <a:headEnd/>
              <a:tailEnd/>
            </a:ln>
          </p:spPr>
          <p:txBody>
            <a:bodyPr/>
            <a:lstStyle/>
            <a:p>
              <a:endParaRPr lang="en-US" altLang="en-US">
                <a:solidFill>
                  <a:prstClr val="black"/>
                </a:solidFill>
              </a:endParaRPr>
            </a:p>
          </p:txBody>
        </p:sp>
        <p:sp>
          <p:nvSpPr>
            <p:cNvPr id="34868" name="Text Box 6"/>
            <p:cNvSpPr txBox="1">
              <a:spLocks noChangeArrowheads="1"/>
            </p:cNvSpPr>
            <p:nvPr/>
          </p:nvSpPr>
          <p:spPr bwMode="auto">
            <a:xfrm>
              <a:off x="3012" y="2700"/>
              <a:ext cx="1428" cy="420"/>
            </a:xfrm>
            <a:prstGeom prst="rect">
              <a:avLst/>
            </a:prstGeom>
            <a:solidFill>
              <a:srgbClr val="FFFFFF"/>
            </a:solidFill>
            <a:ln w="9525">
              <a:noFill/>
              <a:miter lim="800000"/>
              <a:headEnd/>
              <a:tailEnd/>
            </a:ln>
          </p:spPr>
          <p:txBody>
            <a:bodyPr/>
            <a:lstStyle/>
            <a:p>
              <a:pPr algn="ctr"/>
              <a:r>
                <a:rPr lang="en-US" altLang="en-US" sz="1200" b="1">
                  <a:solidFill>
                    <a:prstClr val="black"/>
                  </a:solidFill>
                  <a:latin typeface="Times New Roman" pitchFamily="18" charset="0"/>
                </a:rPr>
                <a:t>Cipher text</a:t>
              </a:r>
            </a:p>
          </p:txBody>
        </p:sp>
        <p:sp>
          <p:nvSpPr>
            <p:cNvPr id="34869" name="Text Box 7"/>
            <p:cNvSpPr txBox="1">
              <a:spLocks noChangeArrowheads="1"/>
            </p:cNvSpPr>
            <p:nvPr/>
          </p:nvSpPr>
          <p:spPr bwMode="auto">
            <a:xfrm>
              <a:off x="2964" y="3226"/>
              <a:ext cx="1512" cy="480"/>
            </a:xfrm>
            <a:prstGeom prst="rect">
              <a:avLst/>
            </a:prstGeom>
            <a:solidFill>
              <a:srgbClr val="FFFFFF"/>
            </a:solidFill>
            <a:ln w="9525">
              <a:solidFill>
                <a:srgbClr val="000000"/>
              </a:solidFill>
              <a:miter lim="800000"/>
              <a:headEnd/>
              <a:tailEnd/>
            </a:ln>
          </p:spPr>
          <p:txBody>
            <a:bodyPr/>
            <a:lstStyle/>
            <a:p>
              <a:pPr algn="ctr"/>
              <a:r>
                <a:rPr lang="en-US" altLang="en-US" sz="1000" b="1">
                  <a:solidFill>
                    <a:prstClr val="black"/>
                  </a:solidFill>
                  <a:latin typeface="Times New Roman" pitchFamily="18" charset="0"/>
                </a:rPr>
                <a:t>R$9O0-=-P;.</a:t>
              </a:r>
            </a:p>
          </p:txBody>
        </p:sp>
        <p:sp>
          <p:nvSpPr>
            <p:cNvPr id="34870" name="Text Box 8"/>
            <p:cNvSpPr txBox="1">
              <a:spLocks noChangeArrowheads="1"/>
            </p:cNvSpPr>
            <p:nvPr/>
          </p:nvSpPr>
          <p:spPr bwMode="auto">
            <a:xfrm>
              <a:off x="5532" y="3286"/>
              <a:ext cx="1200" cy="468"/>
            </a:xfrm>
            <a:prstGeom prst="rect">
              <a:avLst/>
            </a:prstGeom>
            <a:solidFill>
              <a:srgbClr val="FFFFFF"/>
            </a:solidFill>
            <a:ln w="9525">
              <a:noFill/>
              <a:miter lim="800000"/>
              <a:headEnd/>
              <a:tailEnd/>
            </a:ln>
          </p:spPr>
          <p:txBody>
            <a:bodyPr/>
            <a:lstStyle/>
            <a:p>
              <a:pPr algn="ctr"/>
              <a:r>
                <a:rPr lang="en-US" altLang="en-US" sz="1200" b="1">
                  <a:solidFill>
                    <a:prstClr val="black"/>
                  </a:solidFill>
                  <a:latin typeface="Times New Roman" pitchFamily="18" charset="0"/>
                </a:rPr>
                <a:t>Decrypt</a:t>
              </a:r>
            </a:p>
          </p:txBody>
        </p:sp>
        <p:grpSp>
          <p:nvGrpSpPr>
            <p:cNvPr id="3" name="Group 9"/>
            <p:cNvGrpSpPr>
              <a:grpSpLocks/>
            </p:cNvGrpSpPr>
            <p:nvPr/>
          </p:nvGrpSpPr>
          <p:grpSpPr bwMode="auto">
            <a:xfrm rot="-5401343">
              <a:off x="5296" y="2583"/>
              <a:ext cx="1008" cy="288"/>
              <a:chOff x="6480" y="4032"/>
              <a:chExt cx="1008" cy="288"/>
            </a:xfrm>
          </p:grpSpPr>
          <p:sp>
            <p:nvSpPr>
              <p:cNvPr id="34906" name="Line 10"/>
              <p:cNvSpPr>
                <a:spLocks noChangeShapeType="1"/>
              </p:cNvSpPr>
              <p:nvPr/>
            </p:nvSpPr>
            <p:spPr bwMode="auto">
              <a:xfrm>
                <a:off x="6480" y="4176"/>
                <a:ext cx="864" cy="0"/>
              </a:xfrm>
              <a:prstGeom prst="line">
                <a:avLst/>
              </a:prstGeom>
              <a:noFill/>
              <a:ln w="19050">
                <a:solidFill>
                  <a:srgbClr val="000000"/>
                </a:solidFill>
                <a:round/>
                <a:headEnd/>
                <a:tailEnd/>
              </a:ln>
            </p:spPr>
            <p:txBody>
              <a:bodyPr/>
              <a:lstStyle/>
              <a:p>
                <a:endParaRPr lang="en-IN">
                  <a:solidFill>
                    <a:prstClr val="black"/>
                  </a:solidFill>
                </a:endParaRPr>
              </a:p>
            </p:txBody>
          </p:sp>
          <p:sp>
            <p:nvSpPr>
              <p:cNvPr id="34907" name="Oval 11"/>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p>
                <a:endParaRPr lang="en-US" altLang="en-US">
                  <a:solidFill>
                    <a:prstClr val="black"/>
                  </a:solidFill>
                </a:endParaRPr>
              </a:p>
            </p:txBody>
          </p:sp>
          <p:sp>
            <p:nvSpPr>
              <p:cNvPr id="34908" name="Line 12"/>
              <p:cNvSpPr>
                <a:spLocks noChangeShapeType="1"/>
              </p:cNvSpPr>
              <p:nvPr/>
            </p:nvSpPr>
            <p:spPr bwMode="auto">
              <a:xfrm>
                <a:off x="6480" y="4176"/>
                <a:ext cx="0" cy="144"/>
              </a:xfrm>
              <a:prstGeom prst="line">
                <a:avLst/>
              </a:prstGeom>
              <a:noFill/>
              <a:ln w="57150">
                <a:solidFill>
                  <a:srgbClr val="000000"/>
                </a:solidFill>
                <a:round/>
                <a:headEnd/>
                <a:tailEnd/>
              </a:ln>
            </p:spPr>
            <p:txBody>
              <a:bodyPr/>
              <a:lstStyle/>
              <a:p>
                <a:endParaRPr lang="en-IN">
                  <a:solidFill>
                    <a:prstClr val="black"/>
                  </a:solidFill>
                </a:endParaRPr>
              </a:p>
            </p:txBody>
          </p:sp>
          <p:sp>
            <p:nvSpPr>
              <p:cNvPr id="34909" name="Line 13"/>
              <p:cNvSpPr>
                <a:spLocks noChangeShapeType="1"/>
              </p:cNvSpPr>
              <p:nvPr/>
            </p:nvSpPr>
            <p:spPr bwMode="auto">
              <a:xfrm>
                <a:off x="6624" y="4176"/>
                <a:ext cx="0" cy="144"/>
              </a:xfrm>
              <a:prstGeom prst="line">
                <a:avLst/>
              </a:prstGeom>
              <a:noFill/>
              <a:ln w="28575">
                <a:solidFill>
                  <a:srgbClr val="000000"/>
                </a:solidFill>
                <a:round/>
                <a:headEnd/>
                <a:tailEnd/>
              </a:ln>
            </p:spPr>
            <p:txBody>
              <a:bodyPr/>
              <a:lstStyle/>
              <a:p>
                <a:endParaRPr lang="en-IN">
                  <a:solidFill>
                    <a:prstClr val="black"/>
                  </a:solidFill>
                </a:endParaRPr>
              </a:p>
            </p:txBody>
          </p:sp>
          <p:sp>
            <p:nvSpPr>
              <p:cNvPr id="34910" name="Line 14"/>
              <p:cNvSpPr>
                <a:spLocks noChangeShapeType="1"/>
              </p:cNvSpPr>
              <p:nvPr/>
            </p:nvSpPr>
            <p:spPr bwMode="auto">
              <a:xfrm>
                <a:off x="6768" y="4176"/>
                <a:ext cx="0" cy="144"/>
              </a:xfrm>
              <a:prstGeom prst="line">
                <a:avLst/>
              </a:prstGeom>
              <a:noFill/>
              <a:ln w="19050">
                <a:solidFill>
                  <a:srgbClr val="000000"/>
                </a:solidFill>
                <a:round/>
                <a:headEnd/>
                <a:tailEnd/>
              </a:ln>
            </p:spPr>
            <p:txBody>
              <a:bodyPr/>
              <a:lstStyle/>
              <a:p>
                <a:endParaRPr lang="en-IN">
                  <a:solidFill>
                    <a:prstClr val="black"/>
                  </a:solidFill>
                </a:endParaRPr>
              </a:p>
            </p:txBody>
          </p:sp>
        </p:grpSp>
        <p:sp>
          <p:nvSpPr>
            <p:cNvPr id="34872" name="AutoShape 15"/>
            <p:cNvSpPr>
              <a:spLocks noChangeArrowheads="1"/>
            </p:cNvSpPr>
            <p:nvPr/>
          </p:nvSpPr>
          <p:spPr bwMode="auto">
            <a:xfrm>
              <a:off x="4764" y="3318"/>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p>
              <a:endParaRPr lang="en-US" altLang="en-US">
                <a:solidFill>
                  <a:prstClr val="black"/>
                </a:solidFill>
              </a:endParaRPr>
            </a:p>
          </p:txBody>
        </p:sp>
        <p:sp>
          <p:nvSpPr>
            <p:cNvPr id="34873" name="Text Box 16"/>
            <p:cNvSpPr txBox="1">
              <a:spLocks noChangeArrowheads="1"/>
            </p:cNvSpPr>
            <p:nvPr/>
          </p:nvSpPr>
          <p:spPr bwMode="auto">
            <a:xfrm>
              <a:off x="6144" y="2202"/>
              <a:ext cx="1848" cy="708"/>
            </a:xfrm>
            <a:prstGeom prst="rect">
              <a:avLst/>
            </a:prstGeom>
            <a:solidFill>
              <a:srgbClr val="C0C0C0">
                <a:alpha val="50195"/>
              </a:srgbClr>
            </a:solidFill>
            <a:ln w="9525">
              <a:noFill/>
              <a:miter lim="800000"/>
              <a:headEnd/>
              <a:tailEnd/>
            </a:ln>
          </p:spPr>
          <p:txBody>
            <a:bodyPr/>
            <a:lstStyle/>
            <a:p>
              <a:pPr algn="ctr"/>
              <a:r>
                <a:rPr lang="en-US" altLang="en-US" sz="1200" b="1">
                  <a:solidFill>
                    <a:prstClr val="black"/>
                  </a:solidFill>
                  <a:latin typeface="Times New Roman" pitchFamily="18" charset="0"/>
                </a:rPr>
                <a:t>Try with key = 0</a:t>
              </a:r>
            </a:p>
          </p:txBody>
        </p:sp>
        <p:sp>
          <p:nvSpPr>
            <p:cNvPr id="34874" name="Text Box 17"/>
            <p:cNvSpPr txBox="1">
              <a:spLocks noChangeArrowheads="1"/>
            </p:cNvSpPr>
            <p:nvPr/>
          </p:nvSpPr>
          <p:spPr bwMode="auto">
            <a:xfrm>
              <a:off x="8040" y="2688"/>
              <a:ext cx="1428" cy="420"/>
            </a:xfrm>
            <a:prstGeom prst="rect">
              <a:avLst/>
            </a:prstGeom>
            <a:solidFill>
              <a:srgbClr val="FFFFFF"/>
            </a:solidFill>
            <a:ln w="9525">
              <a:noFill/>
              <a:miter lim="800000"/>
              <a:headEnd/>
              <a:tailEnd/>
            </a:ln>
          </p:spPr>
          <p:txBody>
            <a:bodyPr/>
            <a:lstStyle/>
            <a:p>
              <a:pPr algn="ctr"/>
              <a:r>
                <a:rPr lang="en-US" altLang="en-US" sz="1200" b="1" dirty="0">
                  <a:solidFill>
                    <a:prstClr val="black"/>
                  </a:solidFill>
                  <a:latin typeface="Times New Roman" pitchFamily="18" charset="0"/>
                </a:rPr>
                <a:t>Plain text</a:t>
              </a:r>
            </a:p>
          </p:txBody>
        </p:sp>
        <p:sp>
          <p:nvSpPr>
            <p:cNvPr id="34875" name="Text Box 18"/>
            <p:cNvSpPr txBox="1">
              <a:spLocks noChangeArrowheads="1"/>
            </p:cNvSpPr>
            <p:nvPr/>
          </p:nvSpPr>
          <p:spPr bwMode="auto">
            <a:xfrm>
              <a:off x="7992" y="3214"/>
              <a:ext cx="1512" cy="480"/>
            </a:xfrm>
            <a:prstGeom prst="rect">
              <a:avLst/>
            </a:prstGeom>
            <a:solidFill>
              <a:srgbClr val="FFFFFF"/>
            </a:solidFill>
            <a:ln w="9525">
              <a:solidFill>
                <a:srgbClr val="000000"/>
              </a:solidFill>
              <a:miter lim="800000"/>
              <a:headEnd/>
              <a:tailEnd/>
            </a:ln>
          </p:spPr>
          <p:txBody>
            <a:bodyPr/>
            <a:lstStyle/>
            <a:p>
              <a:pPr algn="ctr"/>
              <a:r>
                <a:rPr lang="en-US" altLang="en-US" sz="1000" b="1">
                  <a:solidFill>
                    <a:prstClr val="black"/>
                  </a:solidFill>
                  <a:latin typeface="Times New Roman" pitchFamily="18" charset="0"/>
                </a:rPr>
                <a:t>V^510-&gt;o2</a:t>
              </a:r>
            </a:p>
          </p:txBody>
        </p:sp>
        <p:sp>
          <p:nvSpPr>
            <p:cNvPr id="34876" name="AutoShape 19"/>
            <p:cNvSpPr>
              <a:spLocks noChangeArrowheads="1"/>
            </p:cNvSpPr>
            <p:nvPr/>
          </p:nvSpPr>
          <p:spPr bwMode="auto">
            <a:xfrm>
              <a:off x="7236" y="3342"/>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p>
              <a:endParaRPr lang="en-US" altLang="en-US">
                <a:solidFill>
                  <a:prstClr val="black"/>
                </a:solidFill>
              </a:endParaRPr>
            </a:p>
          </p:txBody>
        </p:sp>
        <p:sp>
          <p:nvSpPr>
            <p:cNvPr id="34877" name="Text Box 20"/>
            <p:cNvSpPr txBox="1">
              <a:spLocks noChangeArrowheads="1"/>
            </p:cNvSpPr>
            <p:nvPr/>
          </p:nvSpPr>
          <p:spPr bwMode="auto">
            <a:xfrm>
              <a:off x="3012" y="4692"/>
              <a:ext cx="1428" cy="420"/>
            </a:xfrm>
            <a:prstGeom prst="rect">
              <a:avLst/>
            </a:prstGeom>
            <a:solidFill>
              <a:srgbClr val="FFFFFF"/>
            </a:solidFill>
            <a:ln w="9525">
              <a:noFill/>
              <a:miter lim="800000"/>
              <a:headEnd/>
              <a:tailEnd/>
            </a:ln>
          </p:spPr>
          <p:txBody>
            <a:bodyPr/>
            <a:lstStyle/>
            <a:p>
              <a:pPr algn="ctr"/>
              <a:r>
                <a:rPr lang="en-US" altLang="en-US" sz="1200" b="1">
                  <a:solidFill>
                    <a:prstClr val="black"/>
                  </a:solidFill>
                  <a:latin typeface="Times New Roman" pitchFamily="18" charset="0"/>
                </a:rPr>
                <a:t>Cipher text</a:t>
              </a:r>
            </a:p>
          </p:txBody>
        </p:sp>
        <p:sp>
          <p:nvSpPr>
            <p:cNvPr id="34878" name="Text Box 21"/>
            <p:cNvSpPr txBox="1">
              <a:spLocks noChangeArrowheads="1"/>
            </p:cNvSpPr>
            <p:nvPr/>
          </p:nvSpPr>
          <p:spPr bwMode="auto">
            <a:xfrm>
              <a:off x="2964" y="5218"/>
              <a:ext cx="1512" cy="480"/>
            </a:xfrm>
            <a:prstGeom prst="rect">
              <a:avLst/>
            </a:prstGeom>
            <a:solidFill>
              <a:srgbClr val="FFFFFF"/>
            </a:solidFill>
            <a:ln w="9525">
              <a:solidFill>
                <a:srgbClr val="000000"/>
              </a:solidFill>
              <a:miter lim="800000"/>
              <a:headEnd/>
              <a:tailEnd/>
            </a:ln>
          </p:spPr>
          <p:txBody>
            <a:bodyPr/>
            <a:lstStyle/>
            <a:p>
              <a:pPr algn="ctr"/>
              <a:r>
                <a:rPr lang="en-US" altLang="en-US" sz="1000" b="1">
                  <a:solidFill>
                    <a:prstClr val="black"/>
                  </a:solidFill>
                  <a:latin typeface="Times New Roman" pitchFamily="18" charset="0"/>
                </a:rPr>
                <a:t>R$9O0-=-P;.</a:t>
              </a:r>
            </a:p>
          </p:txBody>
        </p:sp>
        <p:sp>
          <p:nvSpPr>
            <p:cNvPr id="34879" name="Text Box 22"/>
            <p:cNvSpPr txBox="1">
              <a:spLocks noChangeArrowheads="1"/>
            </p:cNvSpPr>
            <p:nvPr/>
          </p:nvSpPr>
          <p:spPr bwMode="auto">
            <a:xfrm>
              <a:off x="5532" y="5278"/>
              <a:ext cx="1200" cy="468"/>
            </a:xfrm>
            <a:prstGeom prst="rect">
              <a:avLst/>
            </a:prstGeom>
            <a:solidFill>
              <a:srgbClr val="FFFFFF"/>
            </a:solidFill>
            <a:ln w="9525">
              <a:noFill/>
              <a:miter lim="800000"/>
              <a:headEnd/>
              <a:tailEnd/>
            </a:ln>
          </p:spPr>
          <p:txBody>
            <a:bodyPr/>
            <a:lstStyle/>
            <a:p>
              <a:pPr algn="ctr"/>
              <a:r>
                <a:rPr lang="en-US" altLang="en-US" sz="1200" b="1">
                  <a:solidFill>
                    <a:prstClr val="black"/>
                  </a:solidFill>
                  <a:latin typeface="Times New Roman" pitchFamily="18" charset="0"/>
                </a:rPr>
                <a:t>Decrypt</a:t>
              </a:r>
            </a:p>
          </p:txBody>
        </p:sp>
        <p:grpSp>
          <p:nvGrpSpPr>
            <p:cNvPr id="4" name="Group 23"/>
            <p:cNvGrpSpPr>
              <a:grpSpLocks/>
            </p:cNvGrpSpPr>
            <p:nvPr/>
          </p:nvGrpSpPr>
          <p:grpSpPr bwMode="auto">
            <a:xfrm rot="-5401343">
              <a:off x="5296" y="4575"/>
              <a:ext cx="1008" cy="288"/>
              <a:chOff x="6480" y="4032"/>
              <a:chExt cx="1008" cy="288"/>
            </a:xfrm>
          </p:grpSpPr>
          <p:sp>
            <p:nvSpPr>
              <p:cNvPr id="34901" name="Line 24"/>
              <p:cNvSpPr>
                <a:spLocks noChangeShapeType="1"/>
              </p:cNvSpPr>
              <p:nvPr/>
            </p:nvSpPr>
            <p:spPr bwMode="auto">
              <a:xfrm>
                <a:off x="6480" y="4176"/>
                <a:ext cx="864" cy="0"/>
              </a:xfrm>
              <a:prstGeom prst="line">
                <a:avLst/>
              </a:prstGeom>
              <a:noFill/>
              <a:ln w="19050">
                <a:solidFill>
                  <a:srgbClr val="000000"/>
                </a:solidFill>
                <a:round/>
                <a:headEnd/>
                <a:tailEnd/>
              </a:ln>
            </p:spPr>
            <p:txBody>
              <a:bodyPr/>
              <a:lstStyle/>
              <a:p>
                <a:endParaRPr lang="en-IN">
                  <a:solidFill>
                    <a:prstClr val="black"/>
                  </a:solidFill>
                </a:endParaRPr>
              </a:p>
            </p:txBody>
          </p:sp>
          <p:sp>
            <p:nvSpPr>
              <p:cNvPr id="34902" name="Oval 25"/>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p>
                <a:endParaRPr lang="en-US" altLang="en-US">
                  <a:solidFill>
                    <a:prstClr val="black"/>
                  </a:solidFill>
                </a:endParaRPr>
              </a:p>
            </p:txBody>
          </p:sp>
          <p:sp>
            <p:nvSpPr>
              <p:cNvPr id="34903" name="Line 26"/>
              <p:cNvSpPr>
                <a:spLocks noChangeShapeType="1"/>
              </p:cNvSpPr>
              <p:nvPr/>
            </p:nvSpPr>
            <p:spPr bwMode="auto">
              <a:xfrm>
                <a:off x="6480" y="4176"/>
                <a:ext cx="0" cy="144"/>
              </a:xfrm>
              <a:prstGeom prst="line">
                <a:avLst/>
              </a:prstGeom>
              <a:noFill/>
              <a:ln w="57150">
                <a:solidFill>
                  <a:srgbClr val="000000"/>
                </a:solidFill>
                <a:round/>
                <a:headEnd/>
                <a:tailEnd/>
              </a:ln>
            </p:spPr>
            <p:txBody>
              <a:bodyPr/>
              <a:lstStyle/>
              <a:p>
                <a:endParaRPr lang="en-IN">
                  <a:solidFill>
                    <a:prstClr val="black"/>
                  </a:solidFill>
                </a:endParaRPr>
              </a:p>
            </p:txBody>
          </p:sp>
          <p:sp>
            <p:nvSpPr>
              <p:cNvPr id="34904" name="Line 27"/>
              <p:cNvSpPr>
                <a:spLocks noChangeShapeType="1"/>
              </p:cNvSpPr>
              <p:nvPr/>
            </p:nvSpPr>
            <p:spPr bwMode="auto">
              <a:xfrm>
                <a:off x="6624" y="4176"/>
                <a:ext cx="0" cy="144"/>
              </a:xfrm>
              <a:prstGeom prst="line">
                <a:avLst/>
              </a:prstGeom>
              <a:noFill/>
              <a:ln w="28575">
                <a:solidFill>
                  <a:srgbClr val="000000"/>
                </a:solidFill>
                <a:round/>
                <a:headEnd/>
                <a:tailEnd/>
              </a:ln>
            </p:spPr>
            <p:txBody>
              <a:bodyPr/>
              <a:lstStyle/>
              <a:p>
                <a:endParaRPr lang="en-IN">
                  <a:solidFill>
                    <a:prstClr val="black"/>
                  </a:solidFill>
                </a:endParaRPr>
              </a:p>
            </p:txBody>
          </p:sp>
          <p:sp>
            <p:nvSpPr>
              <p:cNvPr id="34905" name="Line 28"/>
              <p:cNvSpPr>
                <a:spLocks noChangeShapeType="1"/>
              </p:cNvSpPr>
              <p:nvPr/>
            </p:nvSpPr>
            <p:spPr bwMode="auto">
              <a:xfrm>
                <a:off x="6768" y="4176"/>
                <a:ext cx="0" cy="144"/>
              </a:xfrm>
              <a:prstGeom prst="line">
                <a:avLst/>
              </a:prstGeom>
              <a:noFill/>
              <a:ln w="19050">
                <a:solidFill>
                  <a:srgbClr val="000000"/>
                </a:solidFill>
                <a:round/>
                <a:headEnd/>
                <a:tailEnd/>
              </a:ln>
            </p:spPr>
            <p:txBody>
              <a:bodyPr/>
              <a:lstStyle/>
              <a:p>
                <a:endParaRPr lang="en-IN">
                  <a:solidFill>
                    <a:prstClr val="black"/>
                  </a:solidFill>
                </a:endParaRPr>
              </a:p>
            </p:txBody>
          </p:sp>
        </p:grpSp>
        <p:sp>
          <p:nvSpPr>
            <p:cNvPr id="34881" name="AutoShape 29"/>
            <p:cNvSpPr>
              <a:spLocks noChangeArrowheads="1"/>
            </p:cNvSpPr>
            <p:nvPr/>
          </p:nvSpPr>
          <p:spPr bwMode="auto">
            <a:xfrm>
              <a:off x="4764" y="5310"/>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p>
              <a:endParaRPr lang="en-US" altLang="en-US">
                <a:solidFill>
                  <a:prstClr val="black"/>
                </a:solidFill>
              </a:endParaRPr>
            </a:p>
          </p:txBody>
        </p:sp>
        <p:sp>
          <p:nvSpPr>
            <p:cNvPr id="34882" name="Text Box 30"/>
            <p:cNvSpPr txBox="1">
              <a:spLocks noChangeArrowheads="1"/>
            </p:cNvSpPr>
            <p:nvPr/>
          </p:nvSpPr>
          <p:spPr bwMode="auto">
            <a:xfrm>
              <a:off x="6144" y="4194"/>
              <a:ext cx="1824" cy="708"/>
            </a:xfrm>
            <a:prstGeom prst="rect">
              <a:avLst/>
            </a:prstGeom>
            <a:solidFill>
              <a:srgbClr val="C0C0C0">
                <a:alpha val="50195"/>
              </a:srgbClr>
            </a:solidFill>
            <a:ln w="9525">
              <a:noFill/>
              <a:miter lim="800000"/>
              <a:headEnd/>
              <a:tailEnd/>
            </a:ln>
          </p:spPr>
          <p:txBody>
            <a:bodyPr/>
            <a:lstStyle/>
            <a:p>
              <a:pPr algn="ctr"/>
              <a:r>
                <a:rPr lang="en-US" altLang="en-US" sz="1200" b="1">
                  <a:solidFill>
                    <a:prstClr val="black"/>
                  </a:solidFill>
                  <a:latin typeface="Times New Roman" pitchFamily="18" charset="0"/>
                </a:rPr>
                <a:t>Try with key = 1</a:t>
              </a:r>
            </a:p>
          </p:txBody>
        </p:sp>
        <p:sp>
          <p:nvSpPr>
            <p:cNvPr id="34883" name="Text Box 31"/>
            <p:cNvSpPr txBox="1">
              <a:spLocks noChangeArrowheads="1"/>
            </p:cNvSpPr>
            <p:nvPr/>
          </p:nvSpPr>
          <p:spPr bwMode="auto">
            <a:xfrm>
              <a:off x="8040" y="4680"/>
              <a:ext cx="1428" cy="420"/>
            </a:xfrm>
            <a:prstGeom prst="rect">
              <a:avLst/>
            </a:prstGeom>
            <a:solidFill>
              <a:srgbClr val="FFFFFF"/>
            </a:solidFill>
            <a:ln w="9525">
              <a:noFill/>
              <a:miter lim="800000"/>
              <a:headEnd/>
              <a:tailEnd/>
            </a:ln>
          </p:spPr>
          <p:txBody>
            <a:bodyPr/>
            <a:lstStyle/>
            <a:p>
              <a:pPr algn="ctr"/>
              <a:r>
                <a:rPr lang="en-US" altLang="en-US" sz="1200" b="1">
                  <a:solidFill>
                    <a:prstClr val="black"/>
                  </a:solidFill>
                  <a:latin typeface="Times New Roman" pitchFamily="18" charset="0"/>
                </a:rPr>
                <a:t>Plain text</a:t>
              </a:r>
            </a:p>
          </p:txBody>
        </p:sp>
        <p:sp>
          <p:nvSpPr>
            <p:cNvPr id="34884" name="Text Box 32"/>
            <p:cNvSpPr txBox="1">
              <a:spLocks noChangeArrowheads="1"/>
            </p:cNvSpPr>
            <p:nvPr/>
          </p:nvSpPr>
          <p:spPr bwMode="auto">
            <a:xfrm>
              <a:off x="7992" y="5206"/>
              <a:ext cx="1512" cy="480"/>
            </a:xfrm>
            <a:prstGeom prst="rect">
              <a:avLst/>
            </a:prstGeom>
            <a:solidFill>
              <a:srgbClr val="FFFFFF"/>
            </a:solidFill>
            <a:ln w="9525">
              <a:solidFill>
                <a:srgbClr val="000000"/>
              </a:solidFill>
              <a:miter lim="800000"/>
              <a:headEnd/>
              <a:tailEnd/>
            </a:ln>
          </p:spPr>
          <p:txBody>
            <a:bodyPr/>
            <a:lstStyle/>
            <a:p>
              <a:pPr algn="ctr"/>
              <a:r>
                <a:rPr lang="en-US" altLang="en-US" sz="1000" b="1">
                  <a:solidFill>
                    <a:prstClr val="black"/>
                  </a:solidFill>
                  <a:latin typeface="Times New Roman" pitchFamily="18" charset="0"/>
                </a:rPr>
                <a:t>7/5vc_=;a1</a:t>
              </a:r>
            </a:p>
          </p:txBody>
        </p:sp>
        <p:sp>
          <p:nvSpPr>
            <p:cNvPr id="34885" name="AutoShape 33"/>
            <p:cNvSpPr>
              <a:spLocks noChangeArrowheads="1"/>
            </p:cNvSpPr>
            <p:nvPr/>
          </p:nvSpPr>
          <p:spPr bwMode="auto">
            <a:xfrm>
              <a:off x="7236" y="5334"/>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p>
              <a:endParaRPr lang="en-US" altLang="en-US">
                <a:solidFill>
                  <a:prstClr val="black"/>
                </a:solidFill>
              </a:endParaRPr>
            </a:p>
          </p:txBody>
        </p:sp>
        <p:sp>
          <p:nvSpPr>
            <p:cNvPr id="34886" name="Text Box 34"/>
            <p:cNvSpPr txBox="1">
              <a:spLocks noChangeArrowheads="1"/>
            </p:cNvSpPr>
            <p:nvPr/>
          </p:nvSpPr>
          <p:spPr bwMode="auto">
            <a:xfrm>
              <a:off x="3036" y="7714"/>
              <a:ext cx="1428" cy="420"/>
            </a:xfrm>
            <a:prstGeom prst="rect">
              <a:avLst/>
            </a:prstGeom>
            <a:solidFill>
              <a:srgbClr val="FFFFFF"/>
            </a:solidFill>
            <a:ln w="9525">
              <a:noFill/>
              <a:miter lim="800000"/>
              <a:headEnd/>
              <a:tailEnd/>
            </a:ln>
          </p:spPr>
          <p:txBody>
            <a:bodyPr/>
            <a:lstStyle/>
            <a:p>
              <a:pPr algn="ctr"/>
              <a:r>
                <a:rPr lang="en-US" altLang="en-US" sz="1200" b="1">
                  <a:solidFill>
                    <a:prstClr val="black"/>
                  </a:solidFill>
                  <a:latin typeface="Times New Roman" pitchFamily="18" charset="0"/>
                </a:rPr>
                <a:t>Cipher text</a:t>
              </a:r>
            </a:p>
          </p:txBody>
        </p:sp>
        <p:sp>
          <p:nvSpPr>
            <p:cNvPr id="34887" name="Text Box 35"/>
            <p:cNvSpPr txBox="1">
              <a:spLocks noChangeArrowheads="1"/>
            </p:cNvSpPr>
            <p:nvPr/>
          </p:nvSpPr>
          <p:spPr bwMode="auto">
            <a:xfrm>
              <a:off x="2988" y="8240"/>
              <a:ext cx="1512" cy="480"/>
            </a:xfrm>
            <a:prstGeom prst="rect">
              <a:avLst/>
            </a:prstGeom>
            <a:solidFill>
              <a:srgbClr val="FFFFFF"/>
            </a:solidFill>
            <a:ln w="9525">
              <a:solidFill>
                <a:srgbClr val="000000"/>
              </a:solidFill>
              <a:miter lim="800000"/>
              <a:headEnd/>
              <a:tailEnd/>
            </a:ln>
          </p:spPr>
          <p:txBody>
            <a:bodyPr/>
            <a:lstStyle/>
            <a:p>
              <a:pPr algn="ctr"/>
              <a:r>
                <a:rPr lang="en-US" altLang="en-US" sz="1000" b="1">
                  <a:solidFill>
                    <a:prstClr val="black"/>
                  </a:solidFill>
                  <a:latin typeface="Times New Roman" pitchFamily="18" charset="0"/>
                </a:rPr>
                <a:t>R$9O0-=-P;.</a:t>
              </a:r>
            </a:p>
          </p:txBody>
        </p:sp>
        <p:sp>
          <p:nvSpPr>
            <p:cNvPr id="34888" name="Text Box 36"/>
            <p:cNvSpPr txBox="1">
              <a:spLocks noChangeArrowheads="1"/>
            </p:cNvSpPr>
            <p:nvPr/>
          </p:nvSpPr>
          <p:spPr bwMode="auto">
            <a:xfrm>
              <a:off x="5556" y="8300"/>
              <a:ext cx="1200" cy="468"/>
            </a:xfrm>
            <a:prstGeom prst="rect">
              <a:avLst/>
            </a:prstGeom>
            <a:solidFill>
              <a:srgbClr val="FFFFFF"/>
            </a:solidFill>
            <a:ln w="9525">
              <a:noFill/>
              <a:miter lim="800000"/>
              <a:headEnd/>
              <a:tailEnd/>
            </a:ln>
          </p:spPr>
          <p:txBody>
            <a:bodyPr/>
            <a:lstStyle/>
            <a:p>
              <a:pPr algn="ctr"/>
              <a:r>
                <a:rPr lang="en-US" altLang="en-US" sz="1200" b="1">
                  <a:solidFill>
                    <a:prstClr val="black"/>
                  </a:solidFill>
                  <a:latin typeface="Times New Roman" pitchFamily="18" charset="0"/>
                </a:rPr>
                <a:t>Decrypt</a:t>
              </a:r>
            </a:p>
          </p:txBody>
        </p:sp>
        <p:grpSp>
          <p:nvGrpSpPr>
            <p:cNvPr id="5" name="Group 37"/>
            <p:cNvGrpSpPr>
              <a:grpSpLocks/>
            </p:cNvGrpSpPr>
            <p:nvPr/>
          </p:nvGrpSpPr>
          <p:grpSpPr bwMode="auto">
            <a:xfrm rot="-5401343">
              <a:off x="5320" y="7597"/>
              <a:ext cx="1008" cy="288"/>
              <a:chOff x="6480" y="4032"/>
              <a:chExt cx="1008" cy="288"/>
            </a:xfrm>
          </p:grpSpPr>
          <p:sp>
            <p:nvSpPr>
              <p:cNvPr id="34896" name="Line 38"/>
              <p:cNvSpPr>
                <a:spLocks noChangeShapeType="1"/>
              </p:cNvSpPr>
              <p:nvPr/>
            </p:nvSpPr>
            <p:spPr bwMode="auto">
              <a:xfrm>
                <a:off x="6480" y="4176"/>
                <a:ext cx="864" cy="0"/>
              </a:xfrm>
              <a:prstGeom prst="line">
                <a:avLst/>
              </a:prstGeom>
              <a:noFill/>
              <a:ln w="19050">
                <a:solidFill>
                  <a:srgbClr val="000000"/>
                </a:solidFill>
                <a:round/>
                <a:headEnd/>
                <a:tailEnd/>
              </a:ln>
            </p:spPr>
            <p:txBody>
              <a:bodyPr/>
              <a:lstStyle/>
              <a:p>
                <a:endParaRPr lang="en-IN">
                  <a:solidFill>
                    <a:prstClr val="black"/>
                  </a:solidFill>
                </a:endParaRPr>
              </a:p>
            </p:txBody>
          </p:sp>
          <p:sp>
            <p:nvSpPr>
              <p:cNvPr id="34897" name="Oval 39"/>
              <p:cNvSpPr>
                <a:spLocks noChangeArrowheads="1"/>
              </p:cNvSpPr>
              <p:nvPr/>
            </p:nvSpPr>
            <p:spPr bwMode="auto">
              <a:xfrm>
                <a:off x="7344" y="4032"/>
                <a:ext cx="144" cy="288"/>
              </a:xfrm>
              <a:prstGeom prst="ellipse">
                <a:avLst/>
              </a:prstGeom>
              <a:solidFill>
                <a:srgbClr val="FFCC00"/>
              </a:solidFill>
              <a:ln w="28575">
                <a:solidFill>
                  <a:srgbClr val="000000"/>
                </a:solidFill>
                <a:round/>
                <a:headEnd/>
                <a:tailEnd/>
              </a:ln>
            </p:spPr>
            <p:txBody>
              <a:bodyPr/>
              <a:lstStyle/>
              <a:p>
                <a:endParaRPr lang="en-US" altLang="en-US">
                  <a:solidFill>
                    <a:prstClr val="black"/>
                  </a:solidFill>
                </a:endParaRPr>
              </a:p>
            </p:txBody>
          </p:sp>
          <p:sp>
            <p:nvSpPr>
              <p:cNvPr id="34898" name="Line 40"/>
              <p:cNvSpPr>
                <a:spLocks noChangeShapeType="1"/>
              </p:cNvSpPr>
              <p:nvPr/>
            </p:nvSpPr>
            <p:spPr bwMode="auto">
              <a:xfrm>
                <a:off x="6480" y="4176"/>
                <a:ext cx="0" cy="144"/>
              </a:xfrm>
              <a:prstGeom prst="line">
                <a:avLst/>
              </a:prstGeom>
              <a:noFill/>
              <a:ln w="57150">
                <a:solidFill>
                  <a:srgbClr val="000000"/>
                </a:solidFill>
                <a:round/>
                <a:headEnd/>
                <a:tailEnd/>
              </a:ln>
            </p:spPr>
            <p:txBody>
              <a:bodyPr/>
              <a:lstStyle/>
              <a:p>
                <a:endParaRPr lang="en-IN">
                  <a:solidFill>
                    <a:prstClr val="black"/>
                  </a:solidFill>
                </a:endParaRPr>
              </a:p>
            </p:txBody>
          </p:sp>
          <p:sp>
            <p:nvSpPr>
              <p:cNvPr id="34899" name="Line 41"/>
              <p:cNvSpPr>
                <a:spLocks noChangeShapeType="1"/>
              </p:cNvSpPr>
              <p:nvPr/>
            </p:nvSpPr>
            <p:spPr bwMode="auto">
              <a:xfrm>
                <a:off x="6624" y="4176"/>
                <a:ext cx="0" cy="144"/>
              </a:xfrm>
              <a:prstGeom prst="line">
                <a:avLst/>
              </a:prstGeom>
              <a:noFill/>
              <a:ln w="28575">
                <a:solidFill>
                  <a:srgbClr val="000000"/>
                </a:solidFill>
                <a:round/>
                <a:headEnd/>
                <a:tailEnd/>
              </a:ln>
            </p:spPr>
            <p:txBody>
              <a:bodyPr/>
              <a:lstStyle/>
              <a:p>
                <a:endParaRPr lang="en-IN">
                  <a:solidFill>
                    <a:prstClr val="black"/>
                  </a:solidFill>
                </a:endParaRPr>
              </a:p>
            </p:txBody>
          </p:sp>
          <p:sp>
            <p:nvSpPr>
              <p:cNvPr id="34900" name="Line 42"/>
              <p:cNvSpPr>
                <a:spLocks noChangeShapeType="1"/>
              </p:cNvSpPr>
              <p:nvPr/>
            </p:nvSpPr>
            <p:spPr bwMode="auto">
              <a:xfrm>
                <a:off x="6768" y="4176"/>
                <a:ext cx="0" cy="144"/>
              </a:xfrm>
              <a:prstGeom prst="line">
                <a:avLst/>
              </a:prstGeom>
              <a:noFill/>
              <a:ln w="19050">
                <a:solidFill>
                  <a:srgbClr val="000000"/>
                </a:solidFill>
                <a:round/>
                <a:headEnd/>
                <a:tailEnd/>
              </a:ln>
            </p:spPr>
            <p:txBody>
              <a:bodyPr/>
              <a:lstStyle/>
              <a:p>
                <a:endParaRPr lang="en-IN">
                  <a:solidFill>
                    <a:prstClr val="black"/>
                  </a:solidFill>
                </a:endParaRPr>
              </a:p>
            </p:txBody>
          </p:sp>
        </p:grpSp>
        <p:sp>
          <p:nvSpPr>
            <p:cNvPr id="34890" name="AutoShape 43"/>
            <p:cNvSpPr>
              <a:spLocks noChangeArrowheads="1"/>
            </p:cNvSpPr>
            <p:nvPr/>
          </p:nvSpPr>
          <p:spPr bwMode="auto">
            <a:xfrm>
              <a:off x="4788" y="8332"/>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p>
              <a:endParaRPr lang="en-US" altLang="en-US">
                <a:solidFill>
                  <a:prstClr val="black"/>
                </a:solidFill>
              </a:endParaRPr>
            </a:p>
          </p:txBody>
        </p:sp>
        <p:sp>
          <p:nvSpPr>
            <p:cNvPr id="34891" name="Text Box 44"/>
            <p:cNvSpPr txBox="1">
              <a:spLocks noChangeArrowheads="1"/>
            </p:cNvSpPr>
            <p:nvPr/>
          </p:nvSpPr>
          <p:spPr bwMode="auto">
            <a:xfrm>
              <a:off x="6168" y="7216"/>
              <a:ext cx="1848" cy="708"/>
            </a:xfrm>
            <a:prstGeom prst="rect">
              <a:avLst/>
            </a:prstGeom>
            <a:solidFill>
              <a:srgbClr val="C0C0C0">
                <a:alpha val="50195"/>
              </a:srgbClr>
            </a:solidFill>
            <a:ln w="9525">
              <a:noFill/>
              <a:miter lim="800000"/>
              <a:headEnd/>
              <a:tailEnd/>
            </a:ln>
          </p:spPr>
          <p:txBody>
            <a:bodyPr/>
            <a:lstStyle/>
            <a:p>
              <a:pPr algn="ctr"/>
              <a:r>
                <a:rPr lang="en-US" altLang="en-US" sz="1200" b="1">
                  <a:solidFill>
                    <a:prstClr val="black"/>
                  </a:solidFill>
                  <a:latin typeface="Times New Roman" pitchFamily="18" charset="0"/>
                </a:rPr>
                <a:t>Try with key = 90,171,451,191</a:t>
              </a:r>
            </a:p>
          </p:txBody>
        </p:sp>
        <p:sp>
          <p:nvSpPr>
            <p:cNvPr id="34892" name="Text Box 45"/>
            <p:cNvSpPr txBox="1">
              <a:spLocks noChangeArrowheads="1"/>
            </p:cNvSpPr>
            <p:nvPr/>
          </p:nvSpPr>
          <p:spPr bwMode="auto">
            <a:xfrm>
              <a:off x="8064" y="7702"/>
              <a:ext cx="1428" cy="420"/>
            </a:xfrm>
            <a:prstGeom prst="rect">
              <a:avLst/>
            </a:prstGeom>
            <a:solidFill>
              <a:srgbClr val="FFFFFF"/>
            </a:solidFill>
            <a:ln w="9525">
              <a:noFill/>
              <a:miter lim="800000"/>
              <a:headEnd/>
              <a:tailEnd/>
            </a:ln>
          </p:spPr>
          <p:txBody>
            <a:bodyPr/>
            <a:lstStyle/>
            <a:p>
              <a:pPr algn="ctr"/>
              <a:r>
                <a:rPr lang="en-US" altLang="en-US" sz="1200" b="1">
                  <a:solidFill>
                    <a:prstClr val="black"/>
                  </a:solidFill>
                  <a:latin typeface="Times New Roman" pitchFamily="18" charset="0"/>
                </a:rPr>
                <a:t>Plain text</a:t>
              </a:r>
            </a:p>
          </p:txBody>
        </p:sp>
        <p:sp>
          <p:nvSpPr>
            <p:cNvPr id="34893" name="Text Box 46"/>
            <p:cNvSpPr txBox="1">
              <a:spLocks noChangeArrowheads="1"/>
            </p:cNvSpPr>
            <p:nvPr/>
          </p:nvSpPr>
          <p:spPr bwMode="auto">
            <a:xfrm>
              <a:off x="8016" y="8228"/>
              <a:ext cx="1512" cy="480"/>
            </a:xfrm>
            <a:prstGeom prst="rect">
              <a:avLst/>
            </a:prstGeom>
            <a:solidFill>
              <a:srgbClr val="FFFFFF"/>
            </a:solidFill>
            <a:ln w="9525">
              <a:solidFill>
                <a:srgbClr val="000000"/>
              </a:solidFill>
              <a:miter lim="800000"/>
              <a:headEnd/>
              <a:tailEnd/>
            </a:ln>
          </p:spPr>
          <p:txBody>
            <a:bodyPr/>
            <a:lstStyle/>
            <a:p>
              <a:pPr algn="ctr"/>
              <a:r>
                <a:rPr lang="en-US" altLang="en-US" sz="1000" b="1">
                  <a:solidFill>
                    <a:prstClr val="black"/>
                  </a:solidFill>
                  <a:latin typeface="Times New Roman" pitchFamily="18" charset="0"/>
                </a:rPr>
                <a:t>To: Payroll</a:t>
              </a:r>
            </a:p>
          </p:txBody>
        </p:sp>
        <p:sp>
          <p:nvSpPr>
            <p:cNvPr id="34894" name="AutoShape 47"/>
            <p:cNvSpPr>
              <a:spLocks noChangeArrowheads="1"/>
            </p:cNvSpPr>
            <p:nvPr/>
          </p:nvSpPr>
          <p:spPr bwMode="auto">
            <a:xfrm>
              <a:off x="7260" y="8356"/>
              <a:ext cx="600" cy="288"/>
            </a:xfrm>
            <a:prstGeom prst="rightArrow">
              <a:avLst>
                <a:gd name="adj1" fmla="val 50000"/>
                <a:gd name="adj2" fmla="val 52083"/>
              </a:avLst>
            </a:prstGeom>
            <a:solidFill>
              <a:srgbClr val="000000"/>
            </a:solidFill>
            <a:ln w="9525">
              <a:solidFill>
                <a:srgbClr val="000000"/>
              </a:solidFill>
              <a:miter lim="800000"/>
              <a:headEnd/>
              <a:tailEnd/>
            </a:ln>
          </p:spPr>
          <p:txBody>
            <a:bodyPr/>
            <a:lstStyle/>
            <a:p>
              <a:endParaRPr lang="en-US" altLang="en-US">
                <a:solidFill>
                  <a:prstClr val="black"/>
                </a:solidFill>
              </a:endParaRPr>
            </a:p>
          </p:txBody>
        </p:sp>
        <p:sp>
          <p:nvSpPr>
            <p:cNvPr id="34895" name="Text Box 48"/>
            <p:cNvSpPr txBox="1">
              <a:spLocks noChangeArrowheads="1"/>
            </p:cNvSpPr>
            <p:nvPr/>
          </p:nvSpPr>
          <p:spPr bwMode="auto">
            <a:xfrm>
              <a:off x="5568" y="5952"/>
              <a:ext cx="492" cy="900"/>
            </a:xfrm>
            <a:prstGeom prst="rect">
              <a:avLst/>
            </a:prstGeom>
            <a:solidFill>
              <a:srgbClr val="FFFFFF"/>
            </a:solidFill>
            <a:ln w="9525">
              <a:noFill/>
              <a:miter lim="800000"/>
              <a:headEnd/>
              <a:tailEnd/>
            </a:ln>
          </p:spPr>
          <p:txBody>
            <a:bodyPr/>
            <a:lstStyle/>
            <a:p>
              <a:r>
                <a:rPr lang="en-US" altLang="en-US" sz="1200">
                  <a:solidFill>
                    <a:prstClr val="black"/>
                  </a:solidFill>
                  <a:latin typeface="Times New Roman" pitchFamily="18" charset="0"/>
                  <a:sym typeface="Symbol" pitchFamily="18" charset="2"/>
                </a:rPr>
                <a:t></a:t>
              </a:r>
              <a:endParaRPr lang="en-US" altLang="en-US" sz="1200">
                <a:solidFill>
                  <a:prstClr val="black"/>
                </a:solidFill>
                <a:latin typeface="Times New Roman" pitchFamily="18" charset="0"/>
              </a:endParaRPr>
            </a:p>
            <a:p>
              <a:r>
                <a:rPr lang="en-US" altLang="en-US" sz="1200">
                  <a:solidFill>
                    <a:prstClr val="black"/>
                  </a:solidFill>
                  <a:latin typeface="Times New Roman" pitchFamily="18" charset="0"/>
                  <a:sym typeface="Symbol" pitchFamily="18" charset="2"/>
                </a:rPr>
                <a:t></a:t>
              </a:r>
              <a:endParaRPr lang="en-US" altLang="en-US" sz="1200">
                <a:solidFill>
                  <a:prstClr val="black"/>
                </a:solidFill>
                <a:latin typeface="Times New Roman" pitchFamily="18" charset="0"/>
              </a:endParaRPr>
            </a:p>
            <a:p>
              <a:r>
                <a:rPr lang="en-US" altLang="en-US" sz="1200">
                  <a:solidFill>
                    <a:prstClr val="black"/>
                  </a:solidFill>
                  <a:latin typeface="Times New Roman" pitchFamily="18" charset="0"/>
                  <a:sym typeface="Symbol" pitchFamily="18" charset="2"/>
                </a:rPr>
                <a:t></a:t>
              </a:r>
              <a:endParaRPr lang="en-US" altLang="en-US" sz="1200">
                <a:solidFill>
                  <a:prstClr val="black"/>
                </a:solidFill>
                <a:latin typeface="Times New Roman" pitchFamily="18" charset="0"/>
              </a:endParaRPr>
            </a:p>
          </p:txBody>
        </p:sp>
      </p:grpSp>
    </p:spTree>
    <p:extLst>
      <p:ext uri="{BB962C8B-B14F-4D97-AF65-F5344CB8AC3E}">
        <p14:creationId xmlns="" xmlns:p14="http://schemas.microsoft.com/office/powerpoint/2010/main" val="3117912661"/>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English Letters </a:t>
            </a:r>
          </a:p>
          <a:p>
            <a:pPr>
              <a:spcBef>
                <a:spcPct val="0"/>
              </a:spcBef>
            </a:pPr>
            <a:r>
              <a:rPr lang="en-IN" sz="3200" dirty="0">
                <a:latin typeface="+mj-lt"/>
                <a:ea typeface="+mj-ea"/>
                <a:cs typeface="+mj-cs"/>
              </a:rPr>
              <a:t>Relative Frequency</a:t>
            </a:r>
          </a:p>
        </p:txBody>
      </p:sp>
      <p:pic>
        <p:nvPicPr>
          <p:cNvPr id="6" name="Picture 15"/>
          <p:cNvPicPr>
            <a:picLocks noChangeAspect="1" noChangeArrowheads="1"/>
          </p:cNvPicPr>
          <p:nvPr/>
        </p:nvPicPr>
        <p:blipFill>
          <a:blip r:embed="rId2" cstate="print"/>
          <a:srcRect/>
          <a:stretch>
            <a:fillRect/>
          </a:stretch>
        </p:blipFill>
        <p:spPr bwMode="auto">
          <a:xfrm>
            <a:off x="251520" y="1556792"/>
            <a:ext cx="8491537" cy="3062288"/>
          </a:xfrm>
          <a:prstGeom prst="rect">
            <a:avLst/>
          </a:prstGeom>
          <a:noFill/>
          <a:ln w="9525">
            <a:noFill/>
            <a:miter lim="800000"/>
            <a:headEnd/>
            <a:tailEnd/>
          </a:ln>
          <a:effectLst/>
        </p:spPr>
      </p:pic>
      <p:sp>
        <p:nvSpPr>
          <p:cNvPr id="7" name="Rectangle 6"/>
          <p:cNvSpPr/>
          <p:nvPr/>
        </p:nvSpPr>
        <p:spPr>
          <a:xfrm>
            <a:off x="611560" y="4679808"/>
            <a:ext cx="8424936" cy="1477328"/>
          </a:xfrm>
          <a:prstGeom prst="rect">
            <a:avLst/>
          </a:prstGeom>
        </p:spPr>
        <p:txBody>
          <a:bodyPr wrap="square">
            <a:spAutoFit/>
          </a:bodyPr>
          <a:lstStyle/>
          <a:p>
            <a:r>
              <a:rPr lang="en-IN" sz="1400" b="1" dirty="0" smtClean="0">
                <a:solidFill>
                  <a:prstClr val="black"/>
                </a:solidFill>
              </a:rPr>
              <a:t>Courtesy</a:t>
            </a:r>
            <a:r>
              <a:rPr lang="en-IN" sz="1400" dirty="0" smtClean="0">
                <a:solidFill>
                  <a:prstClr val="black"/>
                </a:solidFill>
              </a:rPr>
              <a:t>: </a:t>
            </a:r>
            <a:r>
              <a:rPr lang="en-IN" sz="1400" dirty="0" err="1" smtClean="0">
                <a:solidFill>
                  <a:prstClr val="black"/>
                </a:solidFill>
              </a:rPr>
              <a:t>Lewand</a:t>
            </a:r>
            <a:r>
              <a:rPr lang="en-IN" sz="1400" dirty="0" smtClean="0">
                <a:solidFill>
                  <a:prstClr val="black"/>
                </a:solidFill>
              </a:rPr>
              <a:t>, R. </a:t>
            </a:r>
            <a:r>
              <a:rPr lang="en-IN" sz="1400" i="1" dirty="0" err="1" smtClean="0">
                <a:solidFill>
                  <a:prstClr val="black"/>
                </a:solidFill>
              </a:rPr>
              <a:t>Cryptological</a:t>
            </a:r>
            <a:r>
              <a:rPr lang="en-IN" sz="1400" i="1" dirty="0" smtClean="0">
                <a:solidFill>
                  <a:prstClr val="black"/>
                </a:solidFill>
              </a:rPr>
              <a:t> Mathematics. Washington, DC: Mathematical Association of </a:t>
            </a:r>
            <a:r>
              <a:rPr lang="en-IN" sz="1400" dirty="0" smtClean="0">
                <a:solidFill>
                  <a:prstClr val="black"/>
                </a:solidFill>
              </a:rPr>
              <a:t>America, 2000.</a:t>
            </a:r>
          </a:p>
          <a:p>
            <a:endParaRPr lang="en-IN" sz="1400" dirty="0" smtClean="0">
              <a:solidFill>
                <a:prstClr val="black"/>
              </a:solidFill>
            </a:endParaRPr>
          </a:p>
          <a:p>
            <a:pPr algn="ctr"/>
            <a:endParaRPr lang="en-IN" sz="1600" b="1" dirty="0" smtClean="0">
              <a:solidFill>
                <a:prstClr val="black"/>
              </a:solidFill>
            </a:endParaRPr>
          </a:p>
          <a:p>
            <a:pPr algn="ctr"/>
            <a:r>
              <a:rPr lang="en-IN" sz="1600" b="1" dirty="0" smtClean="0">
                <a:solidFill>
                  <a:prstClr val="black"/>
                </a:solidFill>
              </a:rPr>
              <a:t>The above table shows the relative frequency of the English letters in decreasing order.</a:t>
            </a:r>
          </a:p>
          <a:p>
            <a:pPr algn="ctr"/>
            <a:r>
              <a:rPr lang="en-IN" sz="1600" b="1" dirty="0" smtClean="0">
                <a:solidFill>
                  <a:prstClr val="black"/>
                </a:solidFill>
              </a:rPr>
              <a:t>E is used most and Z is used the least.</a:t>
            </a:r>
          </a:p>
          <a:p>
            <a:endParaRPr lang="en-IN" sz="1400" dirty="0">
              <a:solidFill>
                <a:prstClr val="black"/>
              </a:solidFill>
            </a:endParaRPr>
          </a:p>
        </p:txBody>
      </p:sp>
    </p:spTree>
    <p:extLst>
      <p:ext uri="{BB962C8B-B14F-4D97-AF65-F5344CB8AC3E}">
        <p14:creationId xmlns="" xmlns:p14="http://schemas.microsoft.com/office/powerpoint/2010/main" val="9106632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4784"/>
            <a:ext cx="8229600" cy="4525963"/>
          </a:xfrm>
        </p:spPr>
        <p:txBody>
          <a:bodyPr vert="horz" lIns="91440" tIns="45720" rIns="91440" bIns="45720" rtlCol="0">
            <a:normAutofit fontScale="70000" lnSpcReduction="20000"/>
          </a:bodyPr>
          <a:lstStyle/>
          <a:p>
            <a:pPr lvl="1"/>
            <a:r>
              <a:rPr lang="en-IN" dirty="0">
                <a:cs typeface="+mn-cs"/>
              </a:rPr>
              <a:t>An encryption scheme is unconditionally secure if the ciphertext generated by the scheme does not contain enough information to determine uniquely the corresponding plaintext, no matter how much ciphertext is available and no matter how much time an attacker or analyst has.</a:t>
            </a:r>
          </a:p>
          <a:p>
            <a:pPr lvl="1"/>
            <a:endParaRPr lang="en-IN" dirty="0">
              <a:cs typeface="+mn-cs"/>
            </a:endParaRPr>
          </a:p>
          <a:p>
            <a:pPr lvl="1"/>
            <a:r>
              <a:rPr lang="en-IN" dirty="0">
                <a:cs typeface="+mn-cs"/>
              </a:rPr>
              <a:t>There is no encryption algorithm that is unconditionally secure. Therefore, the aim is to meet one of these criteria:</a:t>
            </a:r>
          </a:p>
          <a:p>
            <a:pPr lvl="1"/>
            <a:endParaRPr lang="en-IN" dirty="0">
              <a:cs typeface="+mn-cs"/>
            </a:endParaRPr>
          </a:p>
          <a:p>
            <a:pPr lvl="2"/>
            <a:r>
              <a:rPr lang="en-IN" dirty="0">
                <a:latin typeface="+mn-lt"/>
                <a:cs typeface="+mn-cs"/>
              </a:rPr>
              <a:t>The cost of breaking the cipher exceeds the value of the encrypted information.</a:t>
            </a:r>
          </a:p>
          <a:p>
            <a:pPr lvl="2"/>
            <a:r>
              <a:rPr lang="en-IN" dirty="0">
                <a:latin typeface="+mn-lt"/>
                <a:cs typeface="+mn-cs"/>
              </a:rPr>
              <a:t>The time required to break the cipher exceeds the useful lifetime of the information.</a:t>
            </a:r>
          </a:p>
          <a:p>
            <a:pPr lvl="2"/>
            <a:endParaRPr lang="en-IN" dirty="0">
              <a:latin typeface="+mn-lt"/>
              <a:cs typeface="+mn-cs"/>
            </a:endParaRPr>
          </a:p>
          <a:p>
            <a:pPr lvl="1"/>
            <a:r>
              <a:rPr lang="en-IN" dirty="0">
                <a:cs typeface="+mn-cs"/>
              </a:rPr>
              <a:t>An encryption scheme is said to be computationally secure if either of the above two criteria are met.</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Security Criteria</a:t>
            </a:r>
          </a:p>
        </p:txBody>
      </p:sp>
      <p:pic>
        <p:nvPicPr>
          <p:cNvPr id="2050" name="Picture 2" descr="http://thumbs.dreamstime.com/z/d-little-man-balances-time-money-render-person-see-saw-us-dollar-symbol-stopwatch-42349045.jpg"/>
          <p:cNvPicPr>
            <a:picLocks noChangeAspect="1" noChangeArrowheads="1"/>
          </p:cNvPicPr>
          <p:nvPr/>
        </p:nvPicPr>
        <p:blipFill>
          <a:blip r:embed="rId2" cstate="print"/>
          <a:srcRect t="5771" b="15360"/>
          <a:stretch>
            <a:fillRect/>
          </a:stretch>
        </p:blipFill>
        <p:spPr bwMode="auto">
          <a:xfrm>
            <a:off x="3707904" y="188640"/>
            <a:ext cx="1449658" cy="936104"/>
          </a:xfrm>
          <a:prstGeom prst="rect">
            <a:avLst/>
          </a:prstGeom>
          <a:noFill/>
        </p:spPr>
      </p:pic>
    </p:spTree>
    <p:extLst>
      <p:ext uri="{BB962C8B-B14F-4D97-AF65-F5344CB8AC3E}">
        <p14:creationId xmlns="" xmlns:p14="http://schemas.microsoft.com/office/powerpoint/2010/main" val="1921538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vert="horz" lIns="91440" tIns="45720" rIns="91440" bIns="45720" rtlCol="0" anchor="ctr" anchorCtr="0">
            <a:normAutofit/>
          </a:bodyPr>
          <a:lstStyle/>
          <a:p>
            <a:pPr indent="-342900">
              <a:lnSpc>
                <a:spcPts val="3600"/>
              </a:lnSpc>
              <a:buFont typeface="Arial" pitchFamily="34" charset="0"/>
            </a:pPr>
            <a:r>
              <a:rPr lang="en-US" altLang="en-US" spc="-150"/>
              <a:t>Encryption and Decryption</a:t>
            </a:r>
          </a:p>
        </p:txBody>
      </p:sp>
      <p:sp>
        <p:nvSpPr>
          <p:cNvPr id="30724" name="Rectangle 3"/>
          <p:cNvSpPr>
            <a:spLocks noGrp="1" noChangeArrowheads="1"/>
          </p:cNvSpPr>
          <p:nvPr>
            <p:ph type="body" idx="1"/>
          </p:nvPr>
        </p:nvSpPr>
        <p:spPr/>
        <p:txBody>
          <a:bodyPr vert="horz" lIns="91440" tIns="45720" rIns="91440" bIns="45720" rtlCol="0">
            <a:normAutofit lnSpcReduction="10000"/>
          </a:bodyPr>
          <a:lstStyle/>
          <a:p>
            <a:r>
              <a:rPr lang="en-US" altLang="en-US" dirty="0"/>
              <a:t>Encryption</a:t>
            </a:r>
          </a:p>
          <a:p>
            <a:pPr lvl="1"/>
            <a:r>
              <a:rPr lang="en-US" altLang="en-US" dirty="0"/>
              <a:t>Conversion of plain text into cipher text</a:t>
            </a:r>
          </a:p>
          <a:p>
            <a:pPr lvl="1"/>
            <a:endParaRPr lang="en-US" altLang="en-US" dirty="0"/>
          </a:p>
          <a:p>
            <a:r>
              <a:rPr lang="en-US" altLang="en-US" dirty="0"/>
              <a:t>Decryption</a:t>
            </a:r>
          </a:p>
          <a:p>
            <a:pPr lvl="1"/>
            <a:r>
              <a:rPr lang="en-US" altLang="en-US" dirty="0"/>
              <a:t>Conversion of cipher text into plain text</a:t>
            </a:r>
          </a:p>
          <a:p>
            <a:endParaRPr lang="en-US" altLang="en-US" dirty="0"/>
          </a:p>
          <a:p>
            <a:r>
              <a:rPr lang="en-US" altLang="en-US" dirty="0"/>
              <a:t>Two Aspects</a:t>
            </a:r>
          </a:p>
          <a:p>
            <a:pPr lvl="1"/>
            <a:r>
              <a:rPr lang="en-US" altLang="en-US" dirty="0"/>
              <a:t>Algorithm</a:t>
            </a:r>
          </a:p>
          <a:p>
            <a:pPr lvl="1"/>
            <a:r>
              <a:rPr lang="en-US" altLang="en-US" dirty="0"/>
              <a:t>Key</a:t>
            </a:r>
          </a:p>
        </p:txBody>
      </p:sp>
      <p:pic>
        <p:nvPicPr>
          <p:cNvPr id="30725" name="Picture 4" descr="BD05299_"/>
          <p:cNvPicPr>
            <a:picLocks noChangeAspect="1" noChangeArrowheads="1"/>
          </p:cNvPicPr>
          <p:nvPr/>
        </p:nvPicPr>
        <p:blipFill>
          <a:blip r:embed="rId2"/>
          <a:srcRect/>
          <a:stretch>
            <a:fillRect/>
          </a:stretch>
        </p:blipFill>
        <p:spPr bwMode="auto">
          <a:xfrm>
            <a:off x="6228184" y="4226580"/>
            <a:ext cx="1828800" cy="1295400"/>
          </a:xfrm>
          <a:prstGeom prst="rect">
            <a:avLst/>
          </a:prstGeom>
          <a:noFill/>
          <a:ln w="9525">
            <a:noFill/>
            <a:miter lim="800000"/>
            <a:headEnd/>
            <a:tailEnd/>
          </a:ln>
        </p:spPr>
      </p:pic>
    </p:spTree>
    <p:extLst>
      <p:ext uri="{BB962C8B-B14F-4D97-AF65-F5344CB8AC3E}">
        <p14:creationId xmlns="" xmlns:p14="http://schemas.microsoft.com/office/powerpoint/2010/main" val="952331450"/>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vert="horz" lIns="91440" tIns="45720" rIns="91440" bIns="45720" rtlCol="0" anchor="ctr" anchorCtr="0">
            <a:normAutofit/>
          </a:bodyPr>
          <a:lstStyle/>
          <a:p>
            <a:pPr indent="-342900">
              <a:lnSpc>
                <a:spcPts val="3600"/>
              </a:lnSpc>
              <a:buFont typeface="Arial" pitchFamily="34" charset="0"/>
            </a:pPr>
            <a:r>
              <a:rPr lang="en-US" altLang="en-US" spc="-150"/>
              <a:t>Encryption</a:t>
            </a:r>
          </a:p>
        </p:txBody>
      </p:sp>
      <p:sp>
        <p:nvSpPr>
          <p:cNvPr id="31749" name="Rectangle 4"/>
          <p:cNvSpPr>
            <a:spLocks noChangeArrowheads="1"/>
          </p:cNvSpPr>
          <p:nvPr/>
        </p:nvSpPr>
        <p:spPr bwMode="auto">
          <a:xfrm>
            <a:off x="1600200" y="2209800"/>
            <a:ext cx="2286000" cy="838200"/>
          </a:xfrm>
          <a:prstGeom prst="rect">
            <a:avLst/>
          </a:prstGeom>
          <a:solidFill>
            <a:schemeClr val="accent1"/>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Plain text</a:t>
            </a:r>
          </a:p>
        </p:txBody>
      </p:sp>
      <p:sp>
        <p:nvSpPr>
          <p:cNvPr id="31750" name="Rectangle 5"/>
          <p:cNvSpPr>
            <a:spLocks noChangeArrowheads="1"/>
          </p:cNvSpPr>
          <p:nvPr/>
        </p:nvSpPr>
        <p:spPr bwMode="auto">
          <a:xfrm>
            <a:off x="1600200" y="3505200"/>
            <a:ext cx="2362200" cy="838200"/>
          </a:xfrm>
          <a:prstGeom prst="rect">
            <a:avLst/>
          </a:prstGeom>
          <a:solidFill>
            <a:schemeClr val="accent2"/>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Encrypt</a:t>
            </a:r>
          </a:p>
        </p:txBody>
      </p:sp>
      <p:sp>
        <p:nvSpPr>
          <p:cNvPr id="31751" name="Rectangle 6"/>
          <p:cNvSpPr>
            <a:spLocks noChangeArrowheads="1"/>
          </p:cNvSpPr>
          <p:nvPr/>
        </p:nvSpPr>
        <p:spPr bwMode="auto">
          <a:xfrm>
            <a:off x="1600200" y="4876800"/>
            <a:ext cx="2362200" cy="762000"/>
          </a:xfrm>
          <a:prstGeom prst="rect">
            <a:avLst/>
          </a:prstGeom>
          <a:solidFill>
            <a:schemeClr val="accent1"/>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Cipher text</a:t>
            </a:r>
          </a:p>
        </p:txBody>
      </p:sp>
      <p:sp>
        <p:nvSpPr>
          <p:cNvPr id="31752" name="AutoShape 7"/>
          <p:cNvSpPr>
            <a:spLocks noChangeArrowheads="1"/>
          </p:cNvSpPr>
          <p:nvPr/>
        </p:nvSpPr>
        <p:spPr bwMode="auto">
          <a:xfrm>
            <a:off x="25146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1753" name="AutoShape 8"/>
          <p:cNvSpPr>
            <a:spLocks noChangeArrowheads="1"/>
          </p:cNvSpPr>
          <p:nvPr/>
        </p:nvSpPr>
        <p:spPr bwMode="auto">
          <a:xfrm>
            <a:off x="25146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1754" name="Rectangle 9"/>
          <p:cNvSpPr>
            <a:spLocks noChangeArrowheads="1"/>
          </p:cNvSpPr>
          <p:nvPr/>
        </p:nvSpPr>
        <p:spPr bwMode="auto">
          <a:xfrm>
            <a:off x="5257800" y="2209800"/>
            <a:ext cx="2362200" cy="838200"/>
          </a:xfrm>
          <a:prstGeom prst="rect">
            <a:avLst/>
          </a:prstGeom>
          <a:solidFill>
            <a:schemeClr val="accent1"/>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My name is John</a:t>
            </a:r>
          </a:p>
        </p:txBody>
      </p:sp>
      <p:sp>
        <p:nvSpPr>
          <p:cNvPr id="31755" name="Rectangle 10"/>
          <p:cNvSpPr>
            <a:spLocks noChangeArrowheads="1"/>
          </p:cNvSpPr>
          <p:nvPr/>
        </p:nvSpPr>
        <p:spPr bwMode="auto">
          <a:xfrm>
            <a:off x="5257800" y="3505200"/>
            <a:ext cx="2362200" cy="838200"/>
          </a:xfrm>
          <a:prstGeom prst="rect">
            <a:avLst/>
          </a:prstGeom>
          <a:solidFill>
            <a:schemeClr val="accent2"/>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Encrypt</a:t>
            </a:r>
          </a:p>
        </p:txBody>
      </p:sp>
      <p:sp>
        <p:nvSpPr>
          <p:cNvPr id="31756" name="Rectangle 11"/>
          <p:cNvSpPr>
            <a:spLocks noChangeArrowheads="1"/>
          </p:cNvSpPr>
          <p:nvPr/>
        </p:nvSpPr>
        <p:spPr bwMode="auto">
          <a:xfrm>
            <a:off x="5257800" y="4876800"/>
            <a:ext cx="2362200" cy="762000"/>
          </a:xfrm>
          <a:prstGeom prst="rect">
            <a:avLst/>
          </a:prstGeom>
          <a:solidFill>
            <a:schemeClr val="accent1"/>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G%er@17*</a:t>
            </a:r>
          </a:p>
        </p:txBody>
      </p:sp>
      <p:sp>
        <p:nvSpPr>
          <p:cNvPr id="31757" name="AutoShape 12"/>
          <p:cNvSpPr>
            <a:spLocks noChangeArrowheads="1"/>
          </p:cNvSpPr>
          <p:nvPr/>
        </p:nvSpPr>
        <p:spPr bwMode="auto">
          <a:xfrm>
            <a:off x="61722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1758" name="AutoShape 13"/>
          <p:cNvSpPr>
            <a:spLocks noChangeArrowheads="1"/>
          </p:cNvSpPr>
          <p:nvPr/>
        </p:nvSpPr>
        <p:spPr bwMode="auto">
          <a:xfrm>
            <a:off x="61722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Tree>
    <p:extLst>
      <p:ext uri="{BB962C8B-B14F-4D97-AF65-F5344CB8AC3E}">
        <p14:creationId xmlns="" xmlns:p14="http://schemas.microsoft.com/office/powerpoint/2010/main" val="2942019671"/>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vert="horz" lIns="91440" tIns="45720" rIns="91440" bIns="45720" rtlCol="0" anchor="ctr" anchorCtr="0">
            <a:normAutofit/>
          </a:bodyPr>
          <a:lstStyle/>
          <a:p>
            <a:pPr indent="-342900">
              <a:lnSpc>
                <a:spcPts val="3600"/>
              </a:lnSpc>
              <a:buFont typeface="Arial" pitchFamily="34" charset="0"/>
            </a:pPr>
            <a:r>
              <a:rPr lang="en-US" altLang="en-US" spc="-150" dirty="0"/>
              <a:t>Decryption</a:t>
            </a:r>
          </a:p>
        </p:txBody>
      </p:sp>
      <p:sp>
        <p:nvSpPr>
          <p:cNvPr id="32773" name="Rectangle 4"/>
          <p:cNvSpPr>
            <a:spLocks noChangeArrowheads="1"/>
          </p:cNvSpPr>
          <p:nvPr/>
        </p:nvSpPr>
        <p:spPr bwMode="auto">
          <a:xfrm>
            <a:off x="1600200" y="2209800"/>
            <a:ext cx="2286000" cy="838200"/>
          </a:xfrm>
          <a:prstGeom prst="rect">
            <a:avLst/>
          </a:prstGeom>
          <a:solidFill>
            <a:schemeClr val="accent1"/>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Cipher text</a:t>
            </a:r>
          </a:p>
        </p:txBody>
      </p:sp>
      <p:sp>
        <p:nvSpPr>
          <p:cNvPr id="32774" name="Rectangle 5"/>
          <p:cNvSpPr>
            <a:spLocks noChangeArrowheads="1"/>
          </p:cNvSpPr>
          <p:nvPr/>
        </p:nvSpPr>
        <p:spPr bwMode="auto">
          <a:xfrm>
            <a:off x="1600200" y="3505200"/>
            <a:ext cx="2362200" cy="838200"/>
          </a:xfrm>
          <a:prstGeom prst="rect">
            <a:avLst/>
          </a:prstGeom>
          <a:solidFill>
            <a:schemeClr val="accent2"/>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Decrypt</a:t>
            </a:r>
          </a:p>
        </p:txBody>
      </p:sp>
      <p:sp>
        <p:nvSpPr>
          <p:cNvPr id="32775" name="Rectangle 6"/>
          <p:cNvSpPr>
            <a:spLocks noChangeArrowheads="1"/>
          </p:cNvSpPr>
          <p:nvPr/>
        </p:nvSpPr>
        <p:spPr bwMode="auto">
          <a:xfrm>
            <a:off x="1600200" y="4876800"/>
            <a:ext cx="2362200" cy="762000"/>
          </a:xfrm>
          <a:prstGeom prst="rect">
            <a:avLst/>
          </a:prstGeom>
          <a:solidFill>
            <a:schemeClr val="accent1"/>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Plain text</a:t>
            </a:r>
          </a:p>
        </p:txBody>
      </p:sp>
      <p:sp>
        <p:nvSpPr>
          <p:cNvPr id="32776" name="AutoShape 7"/>
          <p:cNvSpPr>
            <a:spLocks noChangeArrowheads="1"/>
          </p:cNvSpPr>
          <p:nvPr/>
        </p:nvSpPr>
        <p:spPr bwMode="auto">
          <a:xfrm>
            <a:off x="25146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2777" name="AutoShape 8"/>
          <p:cNvSpPr>
            <a:spLocks noChangeArrowheads="1"/>
          </p:cNvSpPr>
          <p:nvPr/>
        </p:nvSpPr>
        <p:spPr bwMode="auto">
          <a:xfrm>
            <a:off x="25146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2778" name="Rectangle 9"/>
          <p:cNvSpPr>
            <a:spLocks noChangeArrowheads="1"/>
          </p:cNvSpPr>
          <p:nvPr/>
        </p:nvSpPr>
        <p:spPr bwMode="auto">
          <a:xfrm>
            <a:off x="5257800" y="2209800"/>
            <a:ext cx="2286000" cy="838200"/>
          </a:xfrm>
          <a:prstGeom prst="rect">
            <a:avLst/>
          </a:prstGeom>
          <a:solidFill>
            <a:schemeClr val="accent1"/>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G%er@17*</a:t>
            </a:r>
          </a:p>
          <a:p>
            <a:pPr algn="ctr"/>
            <a:endParaRPr lang="en-US" altLang="en-US" sz="2400">
              <a:solidFill>
                <a:prstClr val="black"/>
              </a:solidFill>
              <a:latin typeface="Tahoma" charset="0"/>
            </a:endParaRPr>
          </a:p>
        </p:txBody>
      </p:sp>
      <p:sp>
        <p:nvSpPr>
          <p:cNvPr id="32779" name="Rectangle 10"/>
          <p:cNvSpPr>
            <a:spLocks noChangeArrowheads="1"/>
          </p:cNvSpPr>
          <p:nvPr/>
        </p:nvSpPr>
        <p:spPr bwMode="auto">
          <a:xfrm>
            <a:off x="5257800" y="3505200"/>
            <a:ext cx="2362200" cy="838200"/>
          </a:xfrm>
          <a:prstGeom prst="rect">
            <a:avLst/>
          </a:prstGeom>
          <a:solidFill>
            <a:schemeClr val="accent2"/>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Decrypt</a:t>
            </a:r>
          </a:p>
        </p:txBody>
      </p:sp>
      <p:sp>
        <p:nvSpPr>
          <p:cNvPr id="32780" name="Rectangle 11"/>
          <p:cNvSpPr>
            <a:spLocks noChangeArrowheads="1"/>
          </p:cNvSpPr>
          <p:nvPr/>
        </p:nvSpPr>
        <p:spPr bwMode="auto">
          <a:xfrm>
            <a:off x="5257800" y="4876800"/>
            <a:ext cx="2362200" cy="762000"/>
          </a:xfrm>
          <a:prstGeom prst="rect">
            <a:avLst/>
          </a:prstGeom>
          <a:solidFill>
            <a:schemeClr val="accent1"/>
          </a:solidFill>
          <a:ln w="9525">
            <a:solidFill>
              <a:schemeClr val="tx1"/>
            </a:solidFill>
            <a:miter lim="800000"/>
            <a:headEnd/>
            <a:tailEnd/>
          </a:ln>
        </p:spPr>
        <p:txBody>
          <a:bodyPr wrap="none" anchor="ctr"/>
          <a:lstStyle/>
          <a:p>
            <a:pPr algn="ctr"/>
            <a:r>
              <a:rPr lang="en-US" altLang="en-US" sz="2400">
                <a:solidFill>
                  <a:prstClr val="black"/>
                </a:solidFill>
                <a:latin typeface="Tahoma" charset="0"/>
              </a:rPr>
              <a:t>My name is John</a:t>
            </a:r>
          </a:p>
        </p:txBody>
      </p:sp>
      <p:sp>
        <p:nvSpPr>
          <p:cNvPr id="32781" name="AutoShape 12"/>
          <p:cNvSpPr>
            <a:spLocks noChangeArrowheads="1"/>
          </p:cNvSpPr>
          <p:nvPr/>
        </p:nvSpPr>
        <p:spPr bwMode="auto">
          <a:xfrm>
            <a:off x="6172200" y="3048000"/>
            <a:ext cx="457200" cy="457200"/>
          </a:xfrm>
          <a:prstGeom prst="downArrow">
            <a:avLst>
              <a:gd name="adj1" fmla="val 50000"/>
              <a:gd name="adj2" fmla="val 250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2782" name="AutoShape 13"/>
          <p:cNvSpPr>
            <a:spLocks noChangeArrowheads="1"/>
          </p:cNvSpPr>
          <p:nvPr/>
        </p:nvSpPr>
        <p:spPr bwMode="auto">
          <a:xfrm>
            <a:off x="6172200" y="4343400"/>
            <a:ext cx="457200" cy="533400"/>
          </a:xfrm>
          <a:prstGeom prst="downArrow">
            <a:avLst>
              <a:gd name="adj1" fmla="val 50000"/>
              <a:gd name="adj2" fmla="val 29167"/>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Tree>
    <p:extLst>
      <p:ext uri="{BB962C8B-B14F-4D97-AF65-F5344CB8AC3E}">
        <p14:creationId xmlns="" xmlns:p14="http://schemas.microsoft.com/office/powerpoint/2010/main" val="581942933"/>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vert="horz" lIns="91440" tIns="45720" rIns="91440" bIns="45720" rtlCol="0" anchor="ctr" anchorCtr="0">
            <a:normAutofit/>
          </a:bodyPr>
          <a:lstStyle/>
          <a:p>
            <a:pPr indent="-342900">
              <a:lnSpc>
                <a:spcPts val="3600"/>
              </a:lnSpc>
              <a:buFont typeface="Arial" pitchFamily="34" charset="0"/>
            </a:pPr>
            <a:r>
              <a:rPr lang="en-US" altLang="en-US" spc="-150" dirty="0"/>
              <a:t>Algorithm and Key</a:t>
            </a:r>
          </a:p>
        </p:txBody>
      </p:sp>
      <p:sp>
        <p:nvSpPr>
          <p:cNvPr id="33796" name="Rectangle 3"/>
          <p:cNvSpPr>
            <a:spLocks noGrp="1" noChangeArrowheads="1"/>
          </p:cNvSpPr>
          <p:nvPr>
            <p:ph type="body" idx="1"/>
          </p:nvPr>
        </p:nvSpPr>
        <p:spPr/>
        <p:txBody>
          <a:bodyPr vert="horz" lIns="91440" tIns="45720" rIns="91440" bIns="45720" rtlCol="0">
            <a:normAutofit/>
          </a:bodyPr>
          <a:lstStyle/>
          <a:p>
            <a:r>
              <a:rPr lang="en-US" altLang="en-US" dirty="0"/>
              <a:t>Encryption/Decryption Algorithm</a:t>
            </a:r>
          </a:p>
          <a:p>
            <a:pPr lvl="1"/>
            <a:r>
              <a:rPr lang="en-US" altLang="en-US" dirty="0"/>
              <a:t>Specifies the operations to be performed</a:t>
            </a:r>
          </a:p>
          <a:p>
            <a:pPr lvl="1"/>
            <a:r>
              <a:rPr lang="en-US" altLang="en-US" dirty="0"/>
              <a:t>Examples: DES, IDEA, </a:t>
            </a:r>
            <a:r>
              <a:rPr lang="en-US" altLang="en-US" dirty="0" smtClean="0"/>
              <a:t>AES (Modern Cryptography)</a:t>
            </a:r>
            <a:endParaRPr lang="en-US" altLang="en-US" dirty="0"/>
          </a:p>
          <a:p>
            <a:pPr lvl="1"/>
            <a:r>
              <a:rPr lang="en-US" altLang="en-US" dirty="0"/>
              <a:t>Known to everybody</a:t>
            </a:r>
          </a:p>
          <a:p>
            <a:endParaRPr lang="en-US" altLang="en-US" dirty="0"/>
          </a:p>
          <a:p>
            <a:r>
              <a:rPr lang="en-US" altLang="en-US" dirty="0"/>
              <a:t>Key</a:t>
            </a:r>
          </a:p>
          <a:p>
            <a:pPr lvl="1"/>
            <a:r>
              <a:rPr lang="en-US" altLang="en-US" dirty="0"/>
              <a:t>Must be kept secret</a:t>
            </a:r>
          </a:p>
          <a:p>
            <a:pPr lvl="1"/>
            <a:r>
              <a:rPr lang="en-US" altLang="en-US" dirty="0"/>
              <a:t>Usually at least 56 bits</a:t>
            </a:r>
          </a:p>
          <a:p>
            <a:pPr lvl="1"/>
            <a:endParaRPr lang="en-US" altLang="en-US" dirty="0"/>
          </a:p>
        </p:txBody>
      </p:sp>
    </p:spTree>
    <p:extLst>
      <p:ext uri="{BB962C8B-B14F-4D97-AF65-F5344CB8AC3E}">
        <p14:creationId xmlns="" xmlns:p14="http://schemas.microsoft.com/office/powerpoint/2010/main" val="4150518098"/>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457200" y="274638"/>
            <a:ext cx="5987008" cy="926662"/>
          </a:xfrm>
        </p:spPr>
        <p:txBody>
          <a:bodyPr vert="horz" lIns="91440" tIns="45720" rIns="91440" bIns="45720" rtlCol="0" anchor="ctr" anchorCtr="0">
            <a:normAutofit/>
          </a:bodyPr>
          <a:lstStyle/>
          <a:p>
            <a:pPr indent="-342900" algn="l">
              <a:lnSpc>
                <a:spcPts val="3600"/>
              </a:lnSpc>
              <a:buFont typeface="Arial" pitchFamily="34" charset="0"/>
            </a:pPr>
            <a:r>
              <a:rPr lang="en-US" altLang="en-US" sz="3200" spc="-150"/>
              <a:t>Types of Cipher</a:t>
            </a:r>
          </a:p>
        </p:txBody>
      </p:sp>
      <p:grpSp>
        <p:nvGrpSpPr>
          <p:cNvPr id="2" name="Group 3"/>
          <p:cNvGrpSpPr>
            <a:grpSpLocks/>
          </p:cNvGrpSpPr>
          <p:nvPr/>
        </p:nvGrpSpPr>
        <p:grpSpPr bwMode="auto">
          <a:xfrm>
            <a:off x="990600" y="1981200"/>
            <a:ext cx="7315200" cy="3581400"/>
            <a:chOff x="2244" y="6684"/>
            <a:chExt cx="7836" cy="2916"/>
          </a:xfrm>
        </p:grpSpPr>
        <p:sp>
          <p:nvSpPr>
            <p:cNvPr id="35845" name="Rectangle 4"/>
            <p:cNvSpPr>
              <a:spLocks noChangeArrowheads="1"/>
            </p:cNvSpPr>
            <p:nvPr/>
          </p:nvSpPr>
          <p:spPr bwMode="auto">
            <a:xfrm>
              <a:off x="2244" y="6684"/>
              <a:ext cx="7836" cy="2916"/>
            </a:xfrm>
            <a:prstGeom prst="rect">
              <a:avLst/>
            </a:prstGeom>
            <a:solidFill>
              <a:srgbClr val="FFFFFF"/>
            </a:solidFill>
            <a:ln w="9525">
              <a:solidFill>
                <a:srgbClr val="000000"/>
              </a:solidFill>
              <a:miter lim="800000"/>
              <a:headEnd/>
              <a:tailEnd/>
            </a:ln>
          </p:spPr>
          <p:txBody>
            <a:bodyPr/>
            <a:lstStyle/>
            <a:p>
              <a:endParaRPr lang="en-US" altLang="en-US">
                <a:solidFill>
                  <a:prstClr val="black"/>
                </a:solidFill>
              </a:endParaRPr>
            </a:p>
          </p:txBody>
        </p:sp>
        <p:sp>
          <p:nvSpPr>
            <p:cNvPr id="35846" name="Text Box 5"/>
            <p:cNvSpPr txBox="1">
              <a:spLocks noChangeArrowheads="1"/>
            </p:cNvSpPr>
            <p:nvPr/>
          </p:nvSpPr>
          <p:spPr bwMode="auto">
            <a:xfrm>
              <a:off x="4692" y="7154"/>
              <a:ext cx="2688" cy="432"/>
            </a:xfrm>
            <a:prstGeom prst="rect">
              <a:avLst/>
            </a:prstGeom>
            <a:solidFill>
              <a:srgbClr val="FFFFFF"/>
            </a:solidFill>
            <a:ln w="9525">
              <a:solidFill>
                <a:srgbClr val="000000"/>
              </a:solidFill>
              <a:miter lim="800000"/>
              <a:headEnd/>
              <a:tailEnd/>
            </a:ln>
          </p:spPr>
          <p:txBody>
            <a:bodyPr/>
            <a:lstStyle/>
            <a:p>
              <a:pPr algn="ctr"/>
              <a:r>
                <a:rPr lang="en-US" altLang="en-US" sz="2000" b="1">
                  <a:solidFill>
                    <a:prstClr val="black"/>
                  </a:solidFill>
                  <a:latin typeface="Times New Roman" pitchFamily="18" charset="0"/>
                </a:rPr>
                <a:t>Algorithm Types</a:t>
              </a:r>
            </a:p>
          </p:txBody>
        </p:sp>
        <p:sp>
          <p:nvSpPr>
            <p:cNvPr id="35847" name="Text Box 6"/>
            <p:cNvSpPr txBox="1">
              <a:spLocks noChangeArrowheads="1"/>
            </p:cNvSpPr>
            <p:nvPr/>
          </p:nvSpPr>
          <p:spPr bwMode="auto">
            <a:xfrm>
              <a:off x="3192" y="8533"/>
              <a:ext cx="2592" cy="432"/>
            </a:xfrm>
            <a:prstGeom prst="rect">
              <a:avLst/>
            </a:prstGeom>
            <a:solidFill>
              <a:srgbClr val="FFFFFF"/>
            </a:solidFill>
            <a:ln w="9525">
              <a:solidFill>
                <a:srgbClr val="000000"/>
              </a:solidFill>
              <a:miter lim="800000"/>
              <a:headEnd/>
              <a:tailEnd/>
            </a:ln>
          </p:spPr>
          <p:txBody>
            <a:bodyPr/>
            <a:lstStyle/>
            <a:p>
              <a:pPr algn="ctr"/>
              <a:r>
                <a:rPr lang="en-US" altLang="en-US" sz="2000" b="1">
                  <a:solidFill>
                    <a:prstClr val="black"/>
                  </a:solidFill>
                  <a:latin typeface="Times New Roman" pitchFamily="18" charset="0"/>
                </a:rPr>
                <a:t>Stream Ciphers</a:t>
              </a:r>
            </a:p>
          </p:txBody>
        </p:sp>
        <p:sp>
          <p:nvSpPr>
            <p:cNvPr id="35848" name="Text Box 7"/>
            <p:cNvSpPr txBox="1">
              <a:spLocks noChangeArrowheads="1"/>
            </p:cNvSpPr>
            <p:nvPr/>
          </p:nvSpPr>
          <p:spPr bwMode="auto">
            <a:xfrm>
              <a:off x="6696" y="8521"/>
              <a:ext cx="2592" cy="432"/>
            </a:xfrm>
            <a:prstGeom prst="rect">
              <a:avLst/>
            </a:prstGeom>
            <a:solidFill>
              <a:srgbClr val="FFFFFF"/>
            </a:solidFill>
            <a:ln w="9525">
              <a:solidFill>
                <a:srgbClr val="000000"/>
              </a:solidFill>
              <a:miter lim="800000"/>
              <a:headEnd/>
              <a:tailEnd/>
            </a:ln>
          </p:spPr>
          <p:txBody>
            <a:bodyPr/>
            <a:lstStyle/>
            <a:p>
              <a:pPr algn="ctr"/>
              <a:r>
                <a:rPr lang="en-US" altLang="en-US" sz="2000" b="1">
                  <a:solidFill>
                    <a:prstClr val="black"/>
                  </a:solidFill>
                  <a:latin typeface="Times New Roman" pitchFamily="18" charset="0"/>
                </a:rPr>
                <a:t>Block Ciphers</a:t>
              </a:r>
            </a:p>
          </p:txBody>
        </p:sp>
        <p:sp>
          <p:nvSpPr>
            <p:cNvPr id="35849" name="Line 8"/>
            <p:cNvSpPr>
              <a:spLocks noChangeShapeType="1"/>
            </p:cNvSpPr>
            <p:nvPr/>
          </p:nvSpPr>
          <p:spPr bwMode="auto">
            <a:xfrm>
              <a:off x="6072" y="7598"/>
              <a:ext cx="0" cy="552"/>
            </a:xfrm>
            <a:prstGeom prst="line">
              <a:avLst/>
            </a:prstGeom>
            <a:noFill/>
            <a:ln w="9525">
              <a:solidFill>
                <a:srgbClr val="000000"/>
              </a:solidFill>
              <a:round/>
              <a:headEnd/>
              <a:tailEnd/>
            </a:ln>
          </p:spPr>
          <p:txBody>
            <a:bodyPr/>
            <a:lstStyle/>
            <a:p>
              <a:endParaRPr lang="en-IN">
                <a:solidFill>
                  <a:prstClr val="black"/>
                </a:solidFill>
              </a:endParaRPr>
            </a:p>
          </p:txBody>
        </p:sp>
        <p:sp>
          <p:nvSpPr>
            <p:cNvPr id="35850" name="Line 9"/>
            <p:cNvSpPr>
              <a:spLocks noChangeShapeType="1"/>
            </p:cNvSpPr>
            <p:nvPr/>
          </p:nvSpPr>
          <p:spPr bwMode="auto">
            <a:xfrm>
              <a:off x="4680" y="8138"/>
              <a:ext cx="2940" cy="0"/>
            </a:xfrm>
            <a:prstGeom prst="line">
              <a:avLst/>
            </a:prstGeom>
            <a:noFill/>
            <a:ln w="9525">
              <a:solidFill>
                <a:srgbClr val="000000"/>
              </a:solidFill>
              <a:round/>
              <a:headEnd/>
              <a:tailEnd/>
            </a:ln>
          </p:spPr>
          <p:txBody>
            <a:bodyPr/>
            <a:lstStyle/>
            <a:p>
              <a:endParaRPr lang="en-IN">
                <a:solidFill>
                  <a:prstClr val="black"/>
                </a:solidFill>
              </a:endParaRPr>
            </a:p>
          </p:txBody>
        </p:sp>
        <p:sp>
          <p:nvSpPr>
            <p:cNvPr id="35851" name="Line 10"/>
            <p:cNvSpPr>
              <a:spLocks noChangeShapeType="1"/>
            </p:cNvSpPr>
            <p:nvPr/>
          </p:nvSpPr>
          <p:spPr bwMode="auto">
            <a:xfrm>
              <a:off x="4668" y="8138"/>
              <a:ext cx="0" cy="396"/>
            </a:xfrm>
            <a:prstGeom prst="line">
              <a:avLst/>
            </a:prstGeom>
            <a:noFill/>
            <a:ln w="9525">
              <a:solidFill>
                <a:srgbClr val="000000"/>
              </a:solidFill>
              <a:round/>
              <a:headEnd/>
              <a:tailEnd/>
            </a:ln>
          </p:spPr>
          <p:txBody>
            <a:bodyPr/>
            <a:lstStyle/>
            <a:p>
              <a:endParaRPr lang="en-IN">
                <a:solidFill>
                  <a:prstClr val="black"/>
                </a:solidFill>
              </a:endParaRPr>
            </a:p>
          </p:txBody>
        </p:sp>
        <p:sp>
          <p:nvSpPr>
            <p:cNvPr id="35852" name="Line 11"/>
            <p:cNvSpPr>
              <a:spLocks noChangeShapeType="1"/>
            </p:cNvSpPr>
            <p:nvPr/>
          </p:nvSpPr>
          <p:spPr bwMode="auto">
            <a:xfrm>
              <a:off x="7608" y="8150"/>
              <a:ext cx="0" cy="384"/>
            </a:xfrm>
            <a:prstGeom prst="line">
              <a:avLst/>
            </a:prstGeom>
            <a:noFill/>
            <a:ln w="9525">
              <a:solidFill>
                <a:srgbClr val="000000"/>
              </a:solidFill>
              <a:round/>
              <a:headEnd/>
              <a:tailEnd/>
            </a:ln>
          </p:spPr>
          <p:txBody>
            <a:bodyPr/>
            <a:lstStyle/>
            <a:p>
              <a:endParaRPr lang="en-IN">
                <a:solidFill>
                  <a:prstClr val="black"/>
                </a:solidFill>
              </a:endParaRPr>
            </a:p>
          </p:txBody>
        </p:sp>
      </p:grpSp>
    </p:spTree>
    <p:extLst>
      <p:ext uri="{BB962C8B-B14F-4D97-AF65-F5344CB8AC3E}">
        <p14:creationId xmlns="" xmlns:p14="http://schemas.microsoft.com/office/powerpoint/2010/main" val="1490257047"/>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vert="horz" lIns="91440" tIns="45720" rIns="91440" bIns="45720" rtlCol="0" anchor="ctr" anchorCtr="0">
            <a:normAutofit/>
          </a:bodyPr>
          <a:lstStyle/>
          <a:p>
            <a:pPr indent="-342900">
              <a:lnSpc>
                <a:spcPts val="3600"/>
              </a:lnSpc>
              <a:buFont typeface="Arial" pitchFamily="34" charset="0"/>
            </a:pPr>
            <a:r>
              <a:rPr lang="en-US" altLang="en-US" spc="-150" dirty="0"/>
              <a:t>Key Types</a:t>
            </a:r>
          </a:p>
        </p:txBody>
      </p:sp>
      <p:sp>
        <p:nvSpPr>
          <p:cNvPr id="36868" name="Rectangle 3"/>
          <p:cNvSpPr>
            <a:spLocks noGrp="1" noChangeArrowheads="1"/>
          </p:cNvSpPr>
          <p:nvPr>
            <p:ph type="body" idx="1"/>
          </p:nvPr>
        </p:nvSpPr>
        <p:spPr/>
        <p:txBody>
          <a:bodyPr vert="horz" lIns="91440" tIns="45720" rIns="91440" bIns="45720" rtlCol="0">
            <a:normAutofit/>
          </a:bodyPr>
          <a:lstStyle/>
          <a:p>
            <a:r>
              <a:rPr lang="en-US" altLang="en-US" dirty="0"/>
              <a:t>Symmetric Key Encryption</a:t>
            </a:r>
          </a:p>
          <a:p>
            <a:pPr lvl="1"/>
            <a:r>
              <a:rPr lang="en-US" altLang="en-US" dirty="0"/>
              <a:t>The same key is used for encryption and decryption</a:t>
            </a:r>
          </a:p>
          <a:p>
            <a:r>
              <a:rPr lang="en-US" altLang="en-US" dirty="0"/>
              <a:t>Asymmetric Key Encryption </a:t>
            </a:r>
          </a:p>
          <a:p>
            <a:pPr lvl="1"/>
            <a:r>
              <a:rPr lang="en-US" altLang="en-US" dirty="0"/>
              <a:t>One key used for encryption</a:t>
            </a:r>
          </a:p>
          <a:p>
            <a:pPr lvl="1"/>
            <a:r>
              <a:rPr lang="en-US" altLang="en-US" dirty="0"/>
              <a:t>Another, different key used for decryption</a:t>
            </a:r>
          </a:p>
        </p:txBody>
      </p:sp>
    </p:spTree>
    <p:extLst>
      <p:ext uri="{BB962C8B-B14F-4D97-AF65-F5344CB8AC3E}">
        <p14:creationId xmlns="" xmlns:p14="http://schemas.microsoft.com/office/powerpoint/2010/main" val="820702593"/>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vert="horz" lIns="91440" tIns="45720" rIns="91440" bIns="45720" rtlCol="0" anchor="ctr" anchorCtr="0">
            <a:normAutofit/>
          </a:bodyPr>
          <a:lstStyle/>
          <a:p>
            <a:pPr indent="-342900">
              <a:lnSpc>
                <a:spcPts val="3600"/>
              </a:lnSpc>
              <a:buFont typeface="Arial" pitchFamily="34" charset="0"/>
            </a:pPr>
            <a:r>
              <a:rPr lang="en-US" altLang="en-US" spc="-150" dirty="0"/>
              <a:t>Symmetric Key Encryption</a:t>
            </a:r>
          </a:p>
        </p:txBody>
      </p:sp>
      <p:sp>
        <p:nvSpPr>
          <p:cNvPr id="37892" name="Rectangle 3"/>
          <p:cNvSpPr>
            <a:spLocks noGrp="1" noChangeArrowheads="1"/>
          </p:cNvSpPr>
          <p:nvPr>
            <p:ph type="body" idx="1"/>
          </p:nvPr>
        </p:nvSpPr>
        <p:spPr/>
        <p:txBody>
          <a:bodyPr vert="horz" lIns="91440" tIns="45720" rIns="91440" bIns="45720" rtlCol="0">
            <a:normAutofit/>
          </a:bodyPr>
          <a:lstStyle/>
          <a:p>
            <a:r>
              <a:rPr lang="en-US" altLang="en-US" dirty="0"/>
              <a:t>Also called as Private Key Encryption</a:t>
            </a:r>
          </a:p>
          <a:p>
            <a:r>
              <a:rPr lang="en-US" altLang="en-US" dirty="0"/>
              <a:t>Each party has only one key</a:t>
            </a:r>
          </a:p>
          <a:p>
            <a:r>
              <a:rPr lang="en-US" altLang="en-US" dirty="0"/>
              <a:t>Key must be kept secret</a:t>
            </a:r>
          </a:p>
          <a:p>
            <a:r>
              <a:rPr lang="en-US" altLang="en-US" dirty="0"/>
              <a:t>The same key is used for encryption and decryption</a:t>
            </a:r>
          </a:p>
          <a:p>
            <a:r>
              <a:rPr lang="en-US" altLang="en-US" dirty="0"/>
              <a:t>Examples: DES, AES, Blowfish</a:t>
            </a:r>
          </a:p>
        </p:txBody>
      </p:sp>
    </p:spTree>
    <p:extLst>
      <p:ext uri="{BB962C8B-B14F-4D97-AF65-F5344CB8AC3E}">
        <p14:creationId xmlns="" xmlns:p14="http://schemas.microsoft.com/office/powerpoint/2010/main" val="2070901667"/>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179512" y="260986"/>
            <a:ext cx="6120680" cy="850106"/>
          </a:xfrm>
        </p:spPr>
        <p:txBody>
          <a:bodyPr vert="horz" lIns="91440" tIns="45720" rIns="91440" bIns="45720" rtlCol="0" anchor="ctr" anchorCtr="0">
            <a:normAutofit/>
          </a:bodyPr>
          <a:lstStyle/>
          <a:p>
            <a:pPr indent="-342900">
              <a:lnSpc>
                <a:spcPts val="3600"/>
              </a:lnSpc>
              <a:buFont typeface="Arial" pitchFamily="34" charset="0"/>
            </a:pPr>
            <a:r>
              <a:rPr lang="en-US" altLang="en-US" spc="-150" dirty="0"/>
              <a:t>Symmetric Key Encryption: Example</a:t>
            </a:r>
          </a:p>
        </p:txBody>
      </p:sp>
      <p:grpSp>
        <p:nvGrpSpPr>
          <p:cNvPr id="2" name="Group 3"/>
          <p:cNvGrpSpPr>
            <a:grpSpLocks/>
          </p:cNvGrpSpPr>
          <p:nvPr/>
        </p:nvGrpSpPr>
        <p:grpSpPr bwMode="auto">
          <a:xfrm>
            <a:off x="1447800" y="1828800"/>
            <a:ext cx="6172200" cy="4267200"/>
            <a:chOff x="912" y="1344"/>
            <a:chExt cx="3888" cy="2688"/>
          </a:xfrm>
        </p:grpSpPr>
        <p:sp>
          <p:nvSpPr>
            <p:cNvPr id="38917" name="Rectangle 4"/>
            <p:cNvSpPr>
              <a:spLocks noChangeArrowheads="1"/>
            </p:cNvSpPr>
            <p:nvPr/>
          </p:nvSpPr>
          <p:spPr bwMode="auto">
            <a:xfrm>
              <a:off x="912" y="1344"/>
              <a:ext cx="1296" cy="480"/>
            </a:xfrm>
            <a:prstGeom prst="rect">
              <a:avLst/>
            </a:prstGeom>
            <a:solidFill>
              <a:schemeClr val="accent1"/>
            </a:solidFill>
            <a:ln w="9525">
              <a:solidFill>
                <a:schemeClr val="tx1"/>
              </a:solidFill>
              <a:miter lim="800000"/>
              <a:headEnd/>
              <a:tailEnd/>
            </a:ln>
          </p:spPr>
          <p:txBody>
            <a:bodyPr wrap="none" anchor="ctr"/>
            <a:lstStyle/>
            <a:p>
              <a:pPr algn="ctr"/>
              <a:r>
                <a:rPr lang="en-US" altLang="en-US" sz="2000">
                  <a:solidFill>
                    <a:prstClr val="black"/>
                  </a:solidFill>
                  <a:latin typeface="Tahoma" charset="0"/>
                </a:rPr>
                <a:t>My name is John</a:t>
              </a:r>
            </a:p>
          </p:txBody>
        </p:sp>
        <p:sp>
          <p:nvSpPr>
            <p:cNvPr id="38918" name="Rectangle 5"/>
            <p:cNvSpPr>
              <a:spLocks noChangeArrowheads="1"/>
            </p:cNvSpPr>
            <p:nvPr/>
          </p:nvSpPr>
          <p:spPr bwMode="auto">
            <a:xfrm>
              <a:off x="2448" y="1344"/>
              <a:ext cx="912" cy="480"/>
            </a:xfrm>
            <a:prstGeom prst="rect">
              <a:avLst/>
            </a:prstGeom>
            <a:solidFill>
              <a:schemeClr val="accent2"/>
            </a:solidFill>
            <a:ln w="9525">
              <a:solidFill>
                <a:schemeClr val="tx1"/>
              </a:solidFill>
              <a:miter lim="800000"/>
              <a:headEnd/>
              <a:tailEnd/>
            </a:ln>
          </p:spPr>
          <p:txBody>
            <a:bodyPr wrap="none" anchor="ctr"/>
            <a:lstStyle/>
            <a:p>
              <a:pPr algn="ctr"/>
              <a:r>
                <a:rPr lang="en-US" altLang="en-US" sz="2400">
                  <a:solidFill>
                    <a:srgbClr val="CCFFFF"/>
                  </a:solidFill>
                  <a:latin typeface="Tahoma" charset="0"/>
                </a:rPr>
                <a:t>Encrypt</a:t>
              </a:r>
            </a:p>
          </p:txBody>
        </p:sp>
        <p:sp>
          <p:nvSpPr>
            <p:cNvPr id="38919" name="AutoShape 6"/>
            <p:cNvSpPr>
              <a:spLocks noChangeArrowheads="1"/>
            </p:cNvSpPr>
            <p:nvPr/>
          </p:nvSpPr>
          <p:spPr bwMode="auto">
            <a:xfrm>
              <a:off x="2448" y="1824"/>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8920" name="AutoShape 7"/>
            <p:cNvSpPr>
              <a:spLocks noChangeArrowheads="1"/>
            </p:cNvSpPr>
            <p:nvPr/>
          </p:nvSpPr>
          <p:spPr bwMode="auto">
            <a:xfrm>
              <a:off x="3168" y="1824"/>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8921" name="Rectangle 8"/>
            <p:cNvSpPr>
              <a:spLocks noChangeArrowheads="1"/>
            </p:cNvSpPr>
            <p:nvPr/>
          </p:nvSpPr>
          <p:spPr bwMode="auto">
            <a:xfrm>
              <a:off x="2208" y="2112"/>
              <a:ext cx="672" cy="336"/>
            </a:xfrm>
            <a:prstGeom prst="rect">
              <a:avLst/>
            </a:prstGeom>
            <a:solidFill>
              <a:srgbClr val="CCFFFF"/>
            </a:solidFill>
            <a:ln w="9525">
              <a:solidFill>
                <a:schemeClr val="tx1"/>
              </a:solidFill>
              <a:miter lim="800000"/>
              <a:headEnd/>
              <a:tailEnd/>
            </a:ln>
          </p:spPr>
          <p:txBody>
            <a:bodyPr wrap="none" anchor="ctr"/>
            <a:lstStyle/>
            <a:p>
              <a:pPr algn="ctr"/>
              <a:r>
                <a:rPr lang="en-US" altLang="en-US" sz="2000">
                  <a:solidFill>
                    <a:srgbClr val="EEECE1"/>
                  </a:solidFill>
                  <a:latin typeface="Tahoma" charset="0"/>
                </a:rPr>
                <a:t>Algorithm</a:t>
              </a:r>
            </a:p>
          </p:txBody>
        </p:sp>
        <p:sp>
          <p:nvSpPr>
            <p:cNvPr id="38922" name="Rectangle 9"/>
            <p:cNvSpPr>
              <a:spLocks noChangeArrowheads="1"/>
            </p:cNvSpPr>
            <p:nvPr/>
          </p:nvSpPr>
          <p:spPr bwMode="auto">
            <a:xfrm>
              <a:off x="3024" y="2112"/>
              <a:ext cx="480" cy="336"/>
            </a:xfrm>
            <a:prstGeom prst="rect">
              <a:avLst/>
            </a:prstGeom>
            <a:solidFill>
              <a:srgbClr val="CC99FF"/>
            </a:solidFill>
            <a:ln w="9525">
              <a:solidFill>
                <a:schemeClr val="tx1"/>
              </a:solidFill>
              <a:miter lim="800000"/>
              <a:headEnd/>
              <a:tailEnd/>
            </a:ln>
          </p:spPr>
          <p:txBody>
            <a:bodyPr wrap="none" anchor="ctr"/>
            <a:lstStyle/>
            <a:p>
              <a:pPr algn="ctr"/>
              <a:r>
                <a:rPr lang="en-US" altLang="en-US" sz="2400">
                  <a:solidFill>
                    <a:srgbClr val="EEECE1"/>
                  </a:solidFill>
                  <a:latin typeface="Tahoma" charset="0"/>
                </a:rPr>
                <a:t>K</a:t>
              </a:r>
            </a:p>
          </p:txBody>
        </p:sp>
        <p:sp>
          <p:nvSpPr>
            <p:cNvPr id="38923" name="Rectangle 10"/>
            <p:cNvSpPr>
              <a:spLocks noChangeArrowheads="1"/>
            </p:cNvSpPr>
            <p:nvPr/>
          </p:nvSpPr>
          <p:spPr bwMode="auto">
            <a:xfrm>
              <a:off x="3600" y="1344"/>
              <a:ext cx="1008" cy="480"/>
            </a:xfrm>
            <a:prstGeom prst="rect">
              <a:avLst/>
            </a:prstGeom>
            <a:solidFill>
              <a:schemeClr val="accent1"/>
            </a:solidFill>
            <a:ln w="9525">
              <a:solidFill>
                <a:schemeClr val="tx1"/>
              </a:solidFill>
              <a:miter lim="800000"/>
              <a:headEnd/>
              <a:tailEnd/>
            </a:ln>
          </p:spPr>
          <p:txBody>
            <a:bodyPr wrap="none" anchor="ctr"/>
            <a:lstStyle/>
            <a:p>
              <a:pPr algn="ctr"/>
              <a:r>
                <a:rPr lang="en-US" altLang="en-US" sz="2000">
                  <a:solidFill>
                    <a:prstClr val="black"/>
                  </a:solidFill>
                  <a:latin typeface="Tahoma" charset="0"/>
                </a:rPr>
                <a:t>G%er@17*</a:t>
              </a:r>
            </a:p>
          </p:txBody>
        </p:sp>
        <p:sp>
          <p:nvSpPr>
            <p:cNvPr id="38924" name="Rectangle 11"/>
            <p:cNvSpPr>
              <a:spLocks noChangeArrowheads="1"/>
            </p:cNvSpPr>
            <p:nvPr/>
          </p:nvSpPr>
          <p:spPr bwMode="auto">
            <a:xfrm>
              <a:off x="3504" y="2928"/>
              <a:ext cx="1296" cy="480"/>
            </a:xfrm>
            <a:prstGeom prst="rect">
              <a:avLst/>
            </a:prstGeom>
            <a:solidFill>
              <a:schemeClr val="accent1"/>
            </a:solidFill>
            <a:ln w="9525">
              <a:solidFill>
                <a:schemeClr val="tx1"/>
              </a:solidFill>
              <a:miter lim="800000"/>
              <a:headEnd/>
              <a:tailEnd/>
            </a:ln>
          </p:spPr>
          <p:txBody>
            <a:bodyPr wrap="none" anchor="ctr"/>
            <a:lstStyle/>
            <a:p>
              <a:pPr algn="ctr"/>
              <a:r>
                <a:rPr lang="en-US" altLang="en-US" sz="2000">
                  <a:solidFill>
                    <a:prstClr val="black"/>
                  </a:solidFill>
                  <a:latin typeface="Tahoma" charset="0"/>
                </a:rPr>
                <a:t>My name is John</a:t>
              </a:r>
            </a:p>
          </p:txBody>
        </p:sp>
        <p:sp>
          <p:nvSpPr>
            <p:cNvPr id="38925" name="Rectangle 12"/>
            <p:cNvSpPr>
              <a:spLocks noChangeArrowheads="1"/>
            </p:cNvSpPr>
            <p:nvPr/>
          </p:nvSpPr>
          <p:spPr bwMode="auto">
            <a:xfrm>
              <a:off x="2352" y="2928"/>
              <a:ext cx="912" cy="480"/>
            </a:xfrm>
            <a:prstGeom prst="rect">
              <a:avLst/>
            </a:prstGeom>
            <a:solidFill>
              <a:schemeClr val="accent2"/>
            </a:solidFill>
            <a:ln w="9525">
              <a:solidFill>
                <a:schemeClr val="tx1"/>
              </a:solidFill>
              <a:miter lim="800000"/>
              <a:headEnd/>
              <a:tailEnd/>
            </a:ln>
          </p:spPr>
          <p:txBody>
            <a:bodyPr wrap="none" anchor="ctr"/>
            <a:lstStyle/>
            <a:p>
              <a:pPr algn="ctr"/>
              <a:r>
                <a:rPr lang="en-US" altLang="en-US" sz="2400">
                  <a:solidFill>
                    <a:srgbClr val="CCFFFF"/>
                  </a:solidFill>
                  <a:latin typeface="Tahoma" charset="0"/>
                </a:rPr>
                <a:t>Decrypt</a:t>
              </a:r>
            </a:p>
          </p:txBody>
        </p:sp>
        <p:sp>
          <p:nvSpPr>
            <p:cNvPr id="38926" name="AutoShape 13"/>
            <p:cNvSpPr>
              <a:spLocks noChangeArrowheads="1"/>
            </p:cNvSpPr>
            <p:nvPr/>
          </p:nvSpPr>
          <p:spPr bwMode="auto">
            <a:xfrm>
              <a:off x="2352" y="3408"/>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8927" name="AutoShape 14"/>
            <p:cNvSpPr>
              <a:spLocks noChangeArrowheads="1"/>
            </p:cNvSpPr>
            <p:nvPr/>
          </p:nvSpPr>
          <p:spPr bwMode="auto">
            <a:xfrm>
              <a:off x="3072" y="3408"/>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38928" name="Rectangle 15"/>
            <p:cNvSpPr>
              <a:spLocks noChangeArrowheads="1"/>
            </p:cNvSpPr>
            <p:nvPr/>
          </p:nvSpPr>
          <p:spPr bwMode="auto">
            <a:xfrm>
              <a:off x="2112" y="3696"/>
              <a:ext cx="672" cy="336"/>
            </a:xfrm>
            <a:prstGeom prst="rect">
              <a:avLst/>
            </a:prstGeom>
            <a:solidFill>
              <a:srgbClr val="CCFFFF"/>
            </a:solidFill>
            <a:ln w="9525">
              <a:solidFill>
                <a:schemeClr val="tx1"/>
              </a:solidFill>
              <a:miter lim="800000"/>
              <a:headEnd/>
              <a:tailEnd/>
            </a:ln>
          </p:spPr>
          <p:txBody>
            <a:bodyPr wrap="none" anchor="ctr"/>
            <a:lstStyle/>
            <a:p>
              <a:pPr algn="ctr"/>
              <a:r>
                <a:rPr lang="en-US" altLang="en-US" sz="2000">
                  <a:solidFill>
                    <a:srgbClr val="EEECE1"/>
                  </a:solidFill>
                  <a:latin typeface="Tahoma" charset="0"/>
                </a:rPr>
                <a:t>Algorithm</a:t>
              </a:r>
            </a:p>
          </p:txBody>
        </p:sp>
        <p:sp>
          <p:nvSpPr>
            <p:cNvPr id="38929" name="Rectangle 16"/>
            <p:cNvSpPr>
              <a:spLocks noChangeArrowheads="1"/>
            </p:cNvSpPr>
            <p:nvPr/>
          </p:nvSpPr>
          <p:spPr bwMode="auto">
            <a:xfrm>
              <a:off x="2928" y="3696"/>
              <a:ext cx="480" cy="336"/>
            </a:xfrm>
            <a:prstGeom prst="rect">
              <a:avLst/>
            </a:prstGeom>
            <a:solidFill>
              <a:srgbClr val="CC99FF"/>
            </a:solidFill>
            <a:ln w="9525">
              <a:solidFill>
                <a:schemeClr val="tx1"/>
              </a:solidFill>
              <a:miter lim="800000"/>
              <a:headEnd/>
              <a:tailEnd/>
            </a:ln>
          </p:spPr>
          <p:txBody>
            <a:bodyPr wrap="none" anchor="ctr"/>
            <a:lstStyle/>
            <a:p>
              <a:pPr algn="ctr"/>
              <a:r>
                <a:rPr lang="en-US" altLang="en-US" sz="2400">
                  <a:solidFill>
                    <a:srgbClr val="EEECE1"/>
                  </a:solidFill>
                  <a:latin typeface="Tahoma" charset="0"/>
                </a:rPr>
                <a:t>K</a:t>
              </a:r>
            </a:p>
          </p:txBody>
        </p:sp>
        <p:sp>
          <p:nvSpPr>
            <p:cNvPr id="38930" name="Rectangle 17"/>
            <p:cNvSpPr>
              <a:spLocks noChangeArrowheads="1"/>
            </p:cNvSpPr>
            <p:nvPr/>
          </p:nvSpPr>
          <p:spPr bwMode="auto">
            <a:xfrm>
              <a:off x="1104" y="2928"/>
              <a:ext cx="1008" cy="480"/>
            </a:xfrm>
            <a:prstGeom prst="rect">
              <a:avLst/>
            </a:prstGeom>
            <a:solidFill>
              <a:schemeClr val="accent1"/>
            </a:solidFill>
            <a:ln w="9525">
              <a:solidFill>
                <a:schemeClr val="tx1"/>
              </a:solidFill>
              <a:miter lim="800000"/>
              <a:headEnd/>
              <a:tailEnd/>
            </a:ln>
          </p:spPr>
          <p:txBody>
            <a:bodyPr wrap="none" anchor="ctr"/>
            <a:lstStyle/>
            <a:p>
              <a:pPr algn="ctr"/>
              <a:r>
                <a:rPr lang="en-US" altLang="en-US" sz="2000">
                  <a:solidFill>
                    <a:prstClr val="black"/>
                  </a:solidFill>
                  <a:latin typeface="Tahoma" charset="0"/>
                </a:rPr>
                <a:t>G%er@17*</a:t>
              </a:r>
            </a:p>
          </p:txBody>
        </p:sp>
        <p:sp>
          <p:nvSpPr>
            <p:cNvPr id="38931" name="AutoShape 18"/>
            <p:cNvSpPr>
              <a:spLocks noChangeArrowheads="1"/>
            </p:cNvSpPr>
            <p:nvPr/>
          </p:nvSpPr>
          <p:spPr bwMode="auto">
            <a:xfrm>
              <a:off x="2208" y="1536"/>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p>
              <a:endParaRPr lang="en-US" altLang="en-US">
                <a:solidFill>
                  <a:prstClr val="black"/>
                </a:solidFill>
              </a:endParaRPr>
            </a:p>
          </p:txBody>
        </p:sp>
        <p:sp>
          <p:nvSpPr>
            <p:cNvPr id="38932" name="AutoShape 19"/>
            <p:cNvSpPr>
              <a:spLocks noChangeArrowheads="1"/>
            </p:cNvSpPr>
            <p:nvPr/>
          </p:nvSpPr>
          <p:spPr bwMode="auto">
            <a:xfrm>
              <a:off x="3360" y="1536"/>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p>
              <a:endParaRPr lang="en-US" altLang="en-US">
                <a:solidFill>
                  <a:prstClr val="black"/>
                </a:solidFill>
              </a:endParaRPr>
            </a:p>
          </p:txBody>
        </p:sp>
        <p:sp>
          <p:nvSpPr>
            <p:cNvPr id="38933" name="AutoShape 20"/>
            <p:cNvSpPr>
              <a:spLocks noChangeArrowheads="1"/>
            </p:cNvSpPr>
            <p:nvPr/>
          </p:nvSpPr>
          <p:spPr bwMode="auto">
            <a:xfrm>
              <a:off x="2112" y="3120"/>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p>
              <a:endParaRPr lang="en-US" altLang="en-US">
                <a:solidFill>
                  <a:prstClr val="black"/>
                </a:solidFill>
              </a:endParaRPr>
            </a:p>
          </p:txBody>
        </p:sp>
        <p:sp>
          <p:nvSpPr>
            <p:cNvPr id="38934" name="AutoShape 21"/>
            <p:cNvSpPr>
              <a:spLocks noChangeArrowheads="1"/>
            </p:cNvSpPr>
            <p:nvPr/>
          </p:nvSpPr>
          <p:spPr bwMode="auto">
            <a:xfrm>
              <a:off x="3264" y="3120"/>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p>
              <a:endParaRPr lang="en-US" altLang="en-US">
                <a:solidFill>
                  <a:prstClr val="black"/>
                </a:solidFill>
              </a:endParaRPr>
            </a:p>
          </p:txBody>
        </p:sp>
      </p:grpSp>
    </p:spTree>
    <p:extLst>
      <p:ext uri="{BB962C8B-B14F-4D97-AF65-F5344CB8AC3E}">
        <p14:creationId xmlns="" xmlns:p14="http://schemas.microsoft.com/office/powerpoint/2010/main" val="2911002820"/>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a:xfrm>
            <a:off x="315144" y="260648"/>
            <a:ext cx="5985048" cy="864096"/>
          </a:xfrm>
        </p:spPr>
        <p:txBody>
          <a:bodyPr vert="horz" lIns="91440" tIns="45720" rIns="91440" bIns="45720" rtlCol="0" anchor="ctr" anchorCtr="0">
            <a:normAutofit/>
          </a:bodyPr>
          <a:lstStyle/>
          <a:p>
            <a:pPr indent="-342900">
              <a:lnSpc>
                <a:spcPts val="3600"/>
              </a:lnSpc>
              <a:buFont typeface="Arial" pitchFamily="34" charset="0"/>
            </a:pPr>
            <a:r>
              <a:rPr lang="en-GB" altLang="en-US" spc="-150" dirty="0"/>
              <a:t>Asymmetric Key Operation</a:t>
            </a:r>
          </a:p>
        </p:txBody>
      </p:sp>
      <p:sp>
        <p:nvSpPr>
          <p:cNvPr id="48132" name="Rectangle 3"/>
          <p:cNvSpPr>
            <a:spLocks noGrp="1" noChangeArrowheads="1"/>
          </p:cNvSpPr>
          <p:nvPr>
            <p:ph type="body" idx="1"/>
          </p:nvPr>
        </p:nvSpPr>
        <p:spPr>
          <a:xfrm>
            <a:off x="315144" y="1556792"/>
            <a:ext cx="8676456" cy="4752528"/>
          </a:xfrm>
        </p:spPr>
        <p:txBody>
          <a:bodyPr vert="horz" lIns="91440" tIns="45720" rIns="91440" bIns="45720" rtlCol="0">
            <a:normAutofit fontScale="70000" lnSpcReduction="20000"/>
          </a:bodyPr>
          <a:lstStyle/>
          <a:p>
            <a:r>
              <a:rPr lang="en-GB" altLang="en-US" dirty="0"/>
              <a:t>In this scheme, A and B do not approach T for a lock-and-key pair. Instead, B alone approaches T, obtains a lock and a key (K1) that can seal the lock, and sends the lock and key K1 to A. A uses that pair to seal the box before sending the sealed box to B.</a:t>
            </a:r>
          </a:p>
          <a:p>
            <a:r>
              <a:rPr lang="en-GB" altLang="en-US" dirty="0"/>
              <a:t>B possesses a different but related key k2 obtained from T to open the lock. It is guaranteed that no other key (not even k1) can be used to open the lock.</a:t>
            </a:r>
          </a:p>
          <a:p>
            <a:r>
              <a:rPr lang="en-GB" altLang="en-US" dirty="0"/>
              <a:t>Since one key K1 is used for locking, and another, different key K2 is used for unlocking; we call this scheme as asymmetric key operation.</a:t>
            </a:r>
          </a:p>
          <a:p>
            <a:r>
              <a:rPr lang="en-GB" altLang="en-US" dirty="0"/>
              <a:t>Here, T is clearly defined as a trusted third party. T is certified as a highly trustworthy and efficient agency by the government.</a:t>
            </a:r>
          </a:p>
          <a:p>
            <a:r>
              <a:rPr lang="en-GB" altLang="en-US" dirty="0"/>
              <a:t>B can send the lock and the key K1 to anybody who wants to send anything securely to B. therefore, we say that K1 is a public key.</a:t>
            </a:r>
          </a:p>
          <a:p>
            <a:r>
              <a:rPr lang="en-GB" altLang="en-US" dirty="0"/>
              <a:t>The other key K2 used for unlocking, is strictly held secret/private by B. Therefore, we call K2 as a private key or secret key.</a:t>
            </a:r>
          </a:p>
        </p:txBody>
      </p:sp>
    </p:spTree>
    <p:extLst>
      <p:ext uri="{BB962C8B-B14F-4D97-AF65-F5344CB8AC3E}">
        <p14:creationId xmlns="" xmlns:p14="http://schemas.microsoft.com/office/powerpoint/2010/main" val="21147775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251520" y="188640"/>
            <a:ext cx="5832648" cy="1080120"/>
          </a:xfrm>
        </p:spPr>
        <p:txBody>
          <a:bodyPr vert="horz" lIns="91440" tIns="45720" rIns="91440" bIns="45720" rtlCol="0" anchor="ctr" anchorCtr="0">
            <a:normAutofit/>
          </a:bodyPr>
          <a:lstStyle/>
          <a:p>
            <a:pPr indent="-342900">
              <a:lnSpc>
                <a:spcPts val="3600"/>
              </a:lnSpc>
              <a:buFont typeface="Arial" pitchFamily="34" charset="0"/>
            </a:pPr>
            <a:r>
              <a:rPr lang="en-GB" altLang="en-US" spc="-150" dirty="0"/>
              <a:t>Asymmetric Key Operation (</a:t>
            </a:r>
            <a:r>
              <a:rPr lang="en-GB" altLang="en-US" spc="-150" dirty="0" err="1"/>
              <a:t>Contd</a:t>
            </a:r>
            <a:r>
              <a:rPr lang="en-GB" altLang="en-US" spc="-150" dirty="0"/>
              <a:t>…)</a:t>
            </a:r>
          </a:p>
        </p:txBody>
      </p:sp>
      <p:sp>
        <p:nvSpPr>
          <p:cNvPr id="49156" name="Rectangle 3"/>
          <p:cNvSpPr>
            <a:spLocks noGrp="1" noChangeArrowheads="1"/>
          </p:cNvSpPr>
          <p:nvPr>
            <p:ph type="body" idx="1"/>
          </p:nvPr>
        </p:nvSpPr>
        <p:spPr>
          <a:xfrm>
            <a:off x="395536" y="1484784"/>
            <a:ext cx="8208912" cy="4968552"/>
          </a:xfrm>
        </p:spPr>
        <p:txBody>
          <a:bodyPr vert="horz" lIns="91440" tIns="45720" rIns="91440" bIns="45720" rtlCol="0">
            <a:normAutofit/>
          </a:bodyPr>
          <a:lstStyle/>
          <a:p>
            <a:r>
              <a:rPr lang="en-GB" altLang="en-US" dirty="0"/>
              <a:t>Now if, B also wants to communicate with C, he need not obtain additional key-and-lock pair.</a:t>
            </a:r>
          </a:p>
          <a:p>
            <a:r>
              <a:rPr lang="en-GB" altLang="en-US" dirty="0"/>
              <a:t>If five persons wants to communicate with each other, then how many key-lock pairs they will need?</a:t>
            </a:r>
          </a:p>
          <a:p>
            <a:r>
              <a:rPr lang="en-GB" altLang="en-US" dirty="0"/>
              <a:t>Only 5 (unlike 10 in symmetric).</a:t>
            </a:r>
          </a:p>
          <a:p>
            <a:r>
              <a:rPr lang="en-GB" altLang="en-US" smtClean="0"/>
              <a:t>So </a:t>
            </a:r>
            <a:r>
              <a:rPr lang="en-GB" altLang="en-US" dirty="0"/>
              <a:t>asymmetric cryptography clearly a “better” choice. </a:t>
            </a:r>
          </a:p>
        </p:txBody>
      </p:sp>
    </p:spTree>
    <p:extLst>
      <p:ext uri="{BB962C8B-B14F-4D97-AF65-F5344CB8AC3E}">
        <p14:creationId xmlns="" xmlns:p14="http://schemas.microsoft.com/office/powerpoint/2010/main" val="115948121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292460" y="309821"/>
            <a:ext cx="6120680" cy="850106"/>
          </a:xfrm>
        </p:spPr>
        <p:txBody>
          <a:bodyPr vert="horz" lIns="91440" tIns="45720" rIns="91440" bIns="45720" rtlCol="0" anchor="ctr" anchorCtr="0">
            <a:normAutofit/>
          </a:bodyPr>
          <a:lstStyle/>
          <a:p>
            <a:pPr indent="-342900">
              <a:lnSpc>
                <a:spcPts val="3600"/>
              </a:lnSpc>
              <a:buFont typeface="Arial" pitchFamily="34" charset="0"/>
            </a:pPr>
            <a:r>
              <a:rPr lang="en-US" altLang="en-US" spc="-150" dirty="0"/>
              <a:t>Asymmetric Key Encryption: Example</a:t>
            </a:r>
          </a:p>
        </p:txBody>
      </p:sp>
      <p:grpSp>
        <p:nvGrpSpPr>
          <p:cNvPr id="2" name="Group 3"/>
          <p:cNvGrpSpPr>
            <a:grpSpLocks/>
          </p:cNvGrpSpPr>
          <p:nvPr/>
        </p:nvGrpSpPr>
        <p:grpSpPr bwMode="auto">
          <a:xfrm>
            <a:off x="1447800" y="1819275"/>
            <a:ext cx="6172200" cy="4267200"/>
            <a:chOff x="912" y="1344"/>
            <a:chExt cx="3888" cy="2688"/>
          </a:xfrm>
        </p:grpSpPr>
        <p:sp>
          <p:nvSpPr>
            <p:cNvPr id="46085" name="Rectangle 4"/>
            <p:cNvSpPr>
              <a:spLocks noChangeArrowheads="1"/>
            </p:cNvSpPr>
            <p:nvPr/>
          </p:nvSpPr>
          <p:spPr bwMode="auto">
            <a:xfrm>
              <a:off x="912" y="1344"/>
              <a:ext cx="1296" cy="480"/>
            </a:xfrm>
            <a:prstGeom prst="rect">
              <a:avLst/>
            </a:prstGeom>
            <a:solidFill>
              <a:schemeClr val="accent1"/>
            </a:solidFill>
            <a:ln w="9525">
              <a:solidFill>
                <a:schemeClr val="tx1"/>
              </a:solidFill>
              <a:miter lim="800000"/>
              <a:headEnd/>
              <a:tailEnd/>
            </a:ln>
          </p:spPr>
          <p:txBody>
            <a:bodyPr wrap="none" anchor="ctr"/>
            <a:lstStyle/>
            <a:p>
              <a:pPr algn="ctr"/>
              <a:r>
                <a:rPr lang="en-US" altLang="en-US" sz="2000">
                  <a:solidFill>
                    <a:prstClr val="black"/>
                  </a:solidFill>
                  <a:latin typeface="Tahoma" charset="0"/>
                </a:rPr>
                <a:t>My name is John</a:t>
              </a:r>
            </a:p>
          </p:txBody>
        </p:sp>
        <p:sp>
          <p:nvSpPr>
            <p:cNvPr id="46086" name="Rectangle 5"/>
            <p:cNvSpPr>
              <a:spLocks noChangeArrowheads="1"/>
            </p:cNvSpPr>
            <p:nvPr/>
          </p:nvSpPr>
          <p:spPr bwMode="auto">
            <a:xfrm>
              <a:off x="2448" y="1344"/>
              <a:ext cx="912" cy="480"/>
            </a:xfrm>
            <a:prstGeom prst="rect">
              <a:avLst/>
            </a:prstGeom>
            <a:solidFill>
              <a:schemeClr val="accent2"/>
            </a:solidFill>
            <a:ln w="9525">
              <a:solidFill>
                <a:schemeClr val="tx1"/>
              </a:solidFill>
              <a:miter lim="800000"/>
              <a:headEnd/>
              <a:tailEnd/>
            </a:ln>
          </p:spPr>
          <p:txBody>
            <a:bodyPr wrap="none" anchor="ctr"/>
            <a:lstStyle/>
            <a:p>
              <a:pPr algn="ctr"/>
              <a:r>
                <a:rPr lang="en-US" altLang="en-US" sz="2400">
                  <a:solidFill>
                    <a:srgbClr val="CCFFFF"/>
                  </a:solidFill>
                  <a:latin typeface="Tahoma" charset="0"/>
                </a:rPr>
                <a:t>Encrypt</a:t>
              </a:r>
            </a:p>
          </p:txBody>
        </p:sp>
        <p:sp>
          <p:nvSpPr>
            <p:cNvPr id="46087" name="AutoShape 6"/>
            <p:cNvSpPr>
              <a:spLocks noChangeArrowheads="1"/>
            </p:cNvSpPr>
            <p:nvPr/>
          </p:nvSpPr>
          <p:spPr bwMode="auto">
            <a:xfrm>
              <a:off x="2448" y="1824"/>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46088" name="AutoShape 7"/>
            <p:cNvSpPr>
              <a:spLocks noChangeArrowheads="1"/>
            </p:cNvSpPr>
            <p:nvPr/>
          </p:nvSpPr>
          <p:spPr bwMode="auto">
            <a:xfrm>
              <a:off x="3168" y="1824"/>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46089" name="Rectangle 8"/>
            <p:cNvSpPr>
              <a:spLocks noChangeArrowheads="1"/>
            </p:cNvSpPr>
            <p:nvPr/>
          </p:nvSpPr>
          <p:spPr bwMode="auto">
            <a:xfrm>
              <a:off x="2208" y="2112"/>
              <a:ext cx="672" cy="336"/>
            </a:xfrm>
            <a:prstGeom prst="rect">
              <a:avLst/>
            </a:prstGeom>
            <a:solidFill>
              <a:srgbClr val="CCFFFF"/>
            </a:solidFill>
            <a:ln w="9525">
              <a:solidFill>
                <a:schemeClr val="tx1"/>
              </a:solidFill>
              <a:miter lim="800000"/>
              <a:headEnd/>
              <a:tailEnd/>
            </a:ln>
          </p:spPr>
          <p:txBody>
            <a:bodyPr wrap="none" anchor="ctr"/>
            <a:lstStyle/>
            <a:p>
              <a:pPr algn="ctr"/>
              <a:r>
                <a:rPr lang="en-US" altLang="en-US" sz="2000">
                  <a:solidFill>
                    <a:srgbClr val="EEECE1"/>
                  </a:solidFill>
                  <a:latin typeface="Tahoma" charset="0"/>
                </a:rPr>
                <a:t>Algorithm</a:t>
              </a:r>
            </a:p>
          </p:txBody>
        </p:sp>
        <p:sp>
          <p:nvSpPr>
            <p:cNvPr id="46090" name="Rectangle 9"/>
            <p:cNvSpPr>
              <a:spLocks noChangeArrowheads="1"/>
            </p:cNvSpPr>
            <p:nvPr/>
          </p:nvSpPr>
          <p:spPr bwMode="auto">
            <a:xfrm>
              <a:off x="3024" y="2112"/>
              <a:ext cx="480" cy="336"/>
            </a:xfrm>
            <a:prstGeom prst="rect">
              <a:avLst/>
            </a:prstGeom>
            <a:solidFill>
              <a:srgbClr val="CC99FF"/>
            </a:solidFill>
            <a:ln w="9525">
              <a:solidFill>
                <a:schemeClr val="tx1"/>
              </a:solidFill>
              <a:miter lim="800000"/>
              <a:headEnd/>
              <a:tailEnd/>
            </a:ln>
          </p:spPr>
          <p:txBody>
            <a:bodyPr wrap="none" anchor="ctr"/>
            <a:lstStyle/>
            <a:p>
              <a:pPr algn="ctr"/>
              <a:r>
                <a:rPr lang="en-US" altLang="en-US" sz="2400">
                  <a:solidFill>
                    <a:srgbClr val="EEECE1"/>
                  </a:solidFill>
                  <a:latin typeface="Tahoma" charset="0"/>
                </a:rPr>
                <a:t>K</a:t>
              </a:r>
              <a:r>
                <a:rPr lang="en-US" altLang="en-US" sz="2400" baseline="-25000">
                  <a:solidFill>
                    <a:srgbClr val="EEECE1"/>
                  </a:solidFill>
                  <a:latin typeface="Tahoma" charset="0"/>
                </a:rPr>
                <a:t>1</a:t>
              </a:r>
            </a:p>
          </p:txBody>
        </p:sp>
        <p:sp>
          <p:nvSpPr>
            <p:cNvPr id="46091" name="Rectangle 10"/>
            <p:cNvSpPr>
              <a:spLocks noChangeArrowheads="1"/>
            </p:cNvSpPr>
            <p:nvPr/>
          </p:nvSpPr>
          <p:spPr bwMode="auto">
            <a:xfrm>
              <a:off x="3600" y="1344"/>
              <a:ext cx="1008" cy="480"/>
            </a:xfrm>
            <a:prstGeom prst="rect">
              <a:avLst/>
            </a:prstGeom>
            <a:solidFill>
              <a:schemeClr val="accent1"/>
            </a:solidFill>
            <a:ln w="9525">
              <a:solidFill>
                <a:schemeClr val="tx1"/>
              </a:solidFill>
              <a:miter lim="800000"/>
              <a:headEnd/>
              <a:tailEnd/>
            </a:ln>
          </p:spPr>
          <p:txBody>
            <a:bodyPr wrap="none" anchor="ctr"/>
            <a:lstStyle/>
            <a:p>
              <a:pPr algn="ctr"/>
              <a:r>
                <a:rPr lang="en-US" altLang="en-US" sz="2000">
                  <a:solidFill>
                    <a:prstClr val="black"/>
                  </a:solidFill>
                  <a:latin typeface="Tahoma" charset="0"/>
                </a:rPr>
                <a:t>G%er@17*</a:t>
              </a:r>
            </a:p>
          </p:txBody>
        </p:sp>
        <p:sp>
          <p:nvSpPr>
            <p:cNvPr id="46092" name="Rectangle 11"/>
            <p:cNvSpPr>
              <a:spLocks noChangeArrowheads="1"/>
            </p:cNvSpPr>
            <p:nvPr/>
          </p:nvSpPr>
          <p:spPr bwMode="auto">
            <a:xfrm>
              <a:off x="3504" y="2928"/>
              <a:ext cx="1296" cy="480"/>
            </a:xfrm>
            <a:prstGeom prst="rect">
              <a:avLst/>
            </a:prstGeom>
            <a:solidFill>
              <a:schemeClr val="accent1"/>
            </a:solidFill>
            <a:ln w="9525">
              <a:solidFill>
                <a:schemeClr val="tx1"/>
              </a:solidFill>
              <a:miter lim="800000"/>
              <a:headEnd/>
              <a:tailEnd/>
            </a:ln>
          </p:spPr>
          <p:txBody>
            <a:bodyPr wrap="none" anchor="ctr"/>
            <a:lstStyle/>
            <a:p>
              <a:pPr algn="ctr"/>
              <a:r>
                <a:rPr lang="en-US" altLang="en-US" sz="2000">
                  <a:solidFill>
                    <a:prstClr val="black"/>
                  </a:solidFill>
                  <a:latin typeface="Tahoma" charset="0"/>
                </a:rPr>
                <a:t>My name is John</a:t>
              </a:r>
            </a:p>
          </p:txBody>
        </p:sp>
        <p:sp>
          <p:nvSpPr>
            <p:cNvPr id="46093" name="Rectangle 12"/>
            <p:cNvSpPr>
              <a:spLocks noChangeArrowheads="1"/>
            </p:cNvSpPr>
            <p:nvPr/>
          </p:nvSpPr>
          <p:spPr bwMode="auto">
            <a:xfrm>
              <a:off x="2352" y="2928"/>
              <a:ext cx="912" cy="480"/>
            </a:xfrm>
            <a:prstGeom prst="rect">
              <a:avLst/>
            </a:prstGeom>
            <a:solidFill>
              <a:schemeClr val="accent2"/>
            </a:solidFill>
            <a:ln w="9525">
              <a:solidFill>
                <a:schemeClr val="tx1"/>
              </a:solidFill>
              <a:miter lim="800000"/>
              <a:headEnd/>
              <a:tailEnd/>
            </a:ln>
          </p:spPr>
          <p:txBody>
            <a:bodyPr wrap="none" anchor="ctr"/>
            <a:lstStyle/>
            <a:p>
              <a:pPr algn="ctr"/>
              <a:r>
                <a:rPr lang="en-US" altLang="en-US" sz="2400">
                  <a:solidFill>
                    <a:srgbClr val="CCFFFF"/>
                  </a:solidFill>
                  <a:latin typeface="Tahoma" charset="0"/>
                </a:rPr>
                <a:t>Decrypt</a:t>
              </a:r>
            </a:p>
          </p:txBody>
        </p:sp>
        <p:sp>
          <p:nvSpPr>
            <p:cNvPr id="46094" name="AutoShape 13"/>
            <p:cNvSpPr>
              <a:spLocks noChangeArrowheads="1"/>
            </p:cNvSpPr>
            <p:nvPr/>
          </p:nvSpPr>
          <p:spPr bwMode="auto">
            <a:xfrm>
              <a:off x="2352" y="3408"/>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46095" name="AutoShape 14"/>
            <p:cNvSpPr>
              <a:spLocks noChangeArrowheads="1"/>
            </p:cNvSpPr>
            <p:nvPr/>
          </p:nvSpPr>
          <p:spPr bwMode="auto">
            <a:xfrm>
              <a:off x="3072" y="3408"/>
              <a:ext cx="192" cy="288"/>
            </a:xfrm>
            <a:prstGeom prst="upArrow">
              <a:avLst>
                <a:gd name="adj1" fmla="val 50000"/>
                <a:gd name="adj2" fmla="val 37500"/>
              </a:avLst>
            </a:prstGeom>
            <a:solidFill>
              <a:schemeClr val="hlink"/>
            </a:solidFill>
            <a:ln w="9525">
              <a:solidFill>
                <a:schemeClr val="tx1"/>
              </a:solidFill>
              <a:miter lim="800000"/>
              <a:headEnd/>
              <a:tailEnd/>
            </a:ln>
          </p:spPr>
          <p:txBody>
            <a:bodyPr wrap="none" anchor="ctr"/>
            <a:lstStyle/>
            <a:p>
              <a:endParaRPr lang="en-US" altLang="en-US">
                <a:solidFill>
                  <a:prstClr val="black"/>
                </a:solidFill>
              </a:endParaRPr>
            </a:p>
          </p:txBody>
        </p:sp>
        <p:sp>
          <p:nvSpPr>
            <p:cNvPr id="46096" name="Rectangle 15"/>
            <p:cNvSpPr>
              <a:spLocks noChangeArrowheads="1"/>
            </p:cNvSpPr>
            <p:nvPr/>
          </p:nvSpPr>
          <p:spPr bwMode="auto">
            <a:xfrm>
              <a:off x="2112" y="3696"/>
              <a:ext cx="672" cy="336"/>
            </a:xfrm>
            <a:prstGeom prst="rect">
              <a:avLst/>
            </a:prstGeom>
            <a:solidFill>
              <a:srgbClr val="CCFFFF"/>
            </a:solidFill>
            <a:ln w="9525">
              <a:solidFill>
                <a:schemeClr val="tx1"/>
              </a:solidFill>
              <a:miter lim="800000"/>
              <a:headEnd/>
              <a:tailEnd/>
            </a:ln>
          </p:spPr>
          <p:txBody>
            <a:bodyPr wrap="none" anchor="ctr"/>
            <a:lstStyle/>
            <a:p>
              <a:pPr algn="ctr"/>
              <a:r>
                <a:rPr lang="en-US" altLang="en-US" sz="2000">
                  <a:solidFill>
                    <a:srgbClr val="EEECE1"/>
                  </a:solidFill>
                  <a:latin typeface="Tahoma" charset="0"/>
                </a:rPr>
                <a:t>Algorithm</a:t>
              </a:r>
            </a:p>
          </p:txBody>
        </p:sp>
        <p:sp>
          <p:nvSpPr>
            <p:cNvPr id="46097" name="Rectangle 16"/>
            <p:cNvSpPr>
              <a:spLocks noChangeArrowheads="1"/>
            </p:cNvSpPr>
            <p:nvPr/>
          </p:nvSpPr>
          <p:spPr bwMode="auto">
            <a:xfrm>
              <a:off x="2928" y="3696"/>
              <a:ext cx="480" cy="336"/>
            </a:xfrm>
            <a:prstGeom prst="rect">
              <a:avLst/>
            </a:prstGeom>
            <a:solidFill>
              <a:srgbClr val="CC99FF"/>
            </a:solidFill>
            <a:ln w="9525">
              <a:solidFill>
                <a:schemeClr val="tx1"/>
              </a:solidFill>
              <a:miter lim="800000"/>
              <a:headEnd/>
              <a:tailEnd/>
            </a:ln>
          </p:spPr>
          <p:txBody>
            <a:bodyPr wrap="none" anchor="ctr"/>
            <a:lstStyle/>
            <a:p>
              <a:pPr algn="ctr"/>
              <a:r>
                <a:rPr lang="en-US" altLang="en-US" sz="2400">
                  <a:solidFill>
                    <a:srgbClr val="EEECE1"/>
                  </a:solidFill>
                  <a:latin typeface="Tahoma" charset="0"/>
                </a:rPr>
                <a:t>K</a:t>
              </a:r>
              <a:r>
                <a:rPr lang="en-US" altLang="en-US" sz="2400" baseline="-25000">
                  <a:solidFill>
                    <a:srgbClr val="EEECE1"/>
                  </a:solidFill>
                  <a:latin typeface="Tahoma" charset="0"/>
                </a:rPr>
                <a:t>2</a:t>
              </a:r>
            </a:p>
          </p:txBody>
        </p:sp>
        <p:sp>
          <p:nvSpPr>
            <p:cNvPr id="46098" name="Rectangle 17"/>
            <p:cNvSpPr>
              <a:spLocks noChangeArrowheads="1"/>
            </p:cNvSpPr>
            <p:nvPr/>
          </p:nvSpPr>
          <p:spPr bwMode="auto">
            <a:xfrm>
              <a:off x="1104" y="2928"/>
              <a:ext cx="1008" cy="480"/>
            </a:xfrm>
            <a:prstGeom prst="rect">
              <a:avLst/>
            </a:prstGeom>
            <a:solidFill>
              <a:schemeClr val="accent1"/>
            </a:solidFill>
            <a:ln w="9525">
              <a:solidFill>
                <a:schemeClr val="tx1"/>
              </a:solidFill>
              <a:miter lim="800000"/>
              <a:headEnd/>
              <a:tailEnd/>
            </a:ln>
          </p:spPr>
          <p:txBody>
            <a:bodyPr wrap="none" anchor="ctr"/>
            <a:lstStyle/>
            <a:p>
              <a:pPr algn="ctr"/>
              <a:r>
                <a:rPr lang="en-US" altLang="en-US" sz="2000">
                  <a:solidFill>
                    <a:prstClr val="black"/>
                  </a:solidFill>
                  <a:latin typeface="Tahoma" charset="0"/>
                </a:rPr>
                <a:t>G%er@17*</a:t>
              </a:r>
            </a:p>
          </p:txBody>
        </p:sp>
        <p:sp>
          <p:nvSpPr>
            <p:cNvPr id="46099" name="AutoShape 18"/>
            <p:cNvSpPr>
              <a:spLocks noChangeArrowheads="1"/>
            </p:cNvSpPr>
            <p:nvPr/>
          </p:nvSpPr>
          <p:spPr bwMode="auto">
            <a:xfrm>
              <a:off x="2208" y="1536"/>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p>
              <a:endParaRPr lang="en-US" altLang="en-US">
                <a:solidFill>
                  <a:prstClr val="black"/>
                </a:solidFill>
              </a:endParaRPr>
            </a:p>
          </p:txBody>
        </p:sp>
        <p:sp>
          <p:nvSpPr>
            <p:cNvPr id="46100" name="AutoShape 19"/>
            <p:cNvSpPr>
              <a:spLocks noChangeArrowheads="1"/>
            </p:cNvSpPr>
            <p:nvPr/>
          </p:nvSpPr>
          <p:spPr bwMode="auto">
            <a:xfrm>
              <a:off x="3360" y="1536"/>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p>
              <a:endParaRPr lang="en-US" altLang="en-US">
                <a:solidFill>
                  <a:prstClr val="black"/>
                </a:solidFill>
              </a:endParaRPr>
            </a:p>
          </p:txBody>
        </p:sp>
        <p:sp>
          <p:nvSpPr>
            <p:cNvPr id="46101" name="AutoShape 20"/>
            <p:cNvSpPr>
              <a:spLocks noChangeArrowheads="1"/>
            </p:cNvSpPr>
            <p:nvPr/>
          </p:nvSpPr>
          <p:spPr bwMode="auto">
            <a:xfrm>
              <a:off x="2112" y="3120"/>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p>
              <a:endParaRPr lang="en-US" altLang="en-US">
                <a:solidFill>
                  <a:prstClr val="black"/>
                </a:solidFill>
              </a:endParaRPr>
            </a:p>
          </p:txBody>
        </p:sp>
        <p:sp>
          <p:nvSpPr>
            <p:cNvPr id="46102" name="AutoShape 21"/>
            <p:cNvSpPr>
              <a:spLocks noChangeArrowheads="1"/>
            </p:cNvSpPr>
            <p:nvPr/>
          </p:nvSpPr>
          <p:spPr bwMode="auto">
            <a:xfrm>
              <a:off x="3264" y="3120"/>
              <a:ext cx="240" cy="144"/>
            </a:xfrm>
            <a:prstGeom prst="rightArrow">
              <a:avLst>
                <a:gd name="adj1" fmla="val 50000"/>
                <a:gd name="adj2" fmla="val 41667"/>
              </a:avLst>
            </a:prstGeom>
            <a:solidFill>
              <a:schemeClr val="tx1"/>
            </a:solidFill>
            <a:ln w="9525">
              <a:solidFill>
                <a:schemeClr val="tx1"/>
              </a:solidFill>
              <a:miter lim="800000"/>
              <a:headEnd/>
              <a:tailEnd/>
            </a:ln>
          </p:spPr>
          <p:txBody>
            <a:bodyPr wrap="none" anchor="ctr"/>
            <a:lstStyle/>
            <a:p>
              <a:endParaRPr lang="en-US" altLang="en-US">
                <a:solidFill>
                  <a:prstClr val="black"/>
                </a:solidFill>
              </a:endParaRPr>
            </a:p>
          </p:txBody>
        </p:sp>
      </p:grpSp>
    </p:spTree>
    <p:extLst>
      <p:ext uri="{BB962C8B-B14F-4D97-AF65-F5344CB8AC3E}">
        <p14:creationId xmlns="" xmlns:p14="http://schemas.microsoft.com/office/powerpoint/2010/main" val="1033086182"/>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vert="horz" lIns="91440" tIns="45720" rIns="91440" bIns="45720" rtlCol="0" anchor="ctr" anchorCtr="0">
            <a:normAutofit/>
          </a:bodyPr>
          <a:lstStyle/>
          <a:p>
            <a:pPr indent="-342900">
              <a:lnSpc>
                <a:spcPts val="3600"/>
              </a:lnSpc>
              <a:buFont typeface="Arial" pitchFamily="34" charset="0"/>
            </a:pPr>
            <a:r>
              <a:rPr lang="en-US" altLang="en-US" spc="-150" dirty="0"/>
              <a:t>Modern Cryptography</a:t>
            </a:r>
          </a:p>
        </p:txBody>
      </p:sp>
      <p:sp>
        <p:nvSpPr>
          <p:cNvPr id="47108" name="Rectangle 3"/>
          <p:cNvSpPr>
            <a:spLocks noGrp="1" noChangeArrowheads="1"/>
          </p:cNvSpPr>
          <p:nvPr>
            <p:ph type="body" idx="1"/>
          </p:nvPr>
        </p:nvSpPr>
        <p:spPr/>
        <p:txBody>
          <a:bodyPr vert="horz" lIns="91440" tIns="45720" rIns="91440" bIns="45720" rtlCol="0">
            <a:normAutofit/>
          </a:bodyPr>
          <a:lstStyle/>
          <a:p>
            <a:r>
              <a:rPr lang="en-US" altLang="en-US" dirty="0"/>
              <a:t>Two broad classes</a:t>
            </a:r>
          </a:p>
          <a:p>
            <a:pPr lvl="1"/>
            <a:r>
              <a:rPr lang="en-US" altLang="en-US" dirty="0"/>
              <a:t>1. Shared-key cryptography</a:t>
            </a:r>
          </a:p>
          <a:p>
            <a:pPr lvl="1"/>
            <a:r>
              <a:rPr lang="en-US" altLang="en-US" dirty="0"/>
              <a:t>2. Public-key cryptography</a:t>
            </a:r>
          </a:p>
          <a:p>
            <a:endParaRPr lang="en-US" altLang="en-US" dirty="0"/>
          </a:p>
        </p:txBody>
      </p:sp>
    </p:spTree>
    <p:extLst>
      <p:ext uri="{BB962C8B-B14F-4D97-AF65-F5344CB8AC3E}">
        <p14:creationId xmlns="" xmlns:p14="http://schemas.microsoft.com/office/powerpoint/2010/main" val="33928884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2924944"/>
            <a:ext cx="7128792" cy="1584176"/>
          </a:xfrm>
        </p:spPr>
        <p:txBody>
          <a:bodyPr/>
          <a:lstStyle/>
          <a:p>
            <a:pPr algn="ctr"/>
            <a:r>
              <a:rPr lang="en-US" dirty="0" smtClean="0"/>
              <a:t>Classical Encryption Techniques : </a:t>
            </a:r>
            <a:r>
              <a:rPr lang="en-IN" b="1" dirty="0"/>
              <a:t>S</a:t>
            </a:r>
            <a:r>
              <a:rPr lang="en-IN" b="1" dirty="0" smtClean="0"/>
              <a:t>ubstitution </a:t>
            </a:r>
            <a:r>
              <a:rPr lang="en-IN" b="1" dirty="0"/>
              <a:t>E</a:t>
            </a:r>
            <a:r>
              <a:rPr lang="en-IN" b="1" dirty="0" smtClean="0"/>
              <a:t>ncryption </a:t>
            </a:r>
            <a:r>
              <a:rPr lang="en-IN" b="1" dirty="0"/>
              <a:t>T</a:t>
            </a:r>
            <a:r>
              <a:rPr lang="en-IN" b="1" dirty="0" smtClean="0"/>
              <a:t>echnique</a:t>
            </a:r>
            <a:endParaRPr lang="en-US" b="1" dirty="0"/>
          </a:p>
        </p:txBody>
      </p:sp>
    </p:spTree>
    <p:extLst>
      <p:ext uri="{BB962C8B-B14F-4D97-AF65-F5344CB8AC3E}">
        <p14:creationId xmlns="" xmlns:p14="http://schemas.microsoft.com/office/powerpoint/2010/main" val="30611439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1680" y="3212976"/>
            <a:ext cx="7128792" cy="1152128"/>
          </a:xfrm>
        </p:spPr>
        <p:txBody>
          <a:bodyPr/>
          <a:lstStyle/>
          <a:p>
            <a:pPr algn="ctr"/>
            <a:r>
              <a:rPr lang="en-US" b="1" dirty="0" err="1" smtClean="0"/>
              <a:t>Monoalphabetic</a:t>
            </a:r>
            <a:r>
              <a:rPr lang="en-US" b="1" dirty="0" smtClean="0"/>
              <a:t> Cipher</a:t>
            </a:r>
            <a:endParaRPr lang="en-US" b="1" dirty="0"/>
          </a:p>
        </p:txBody>
      </p:sp>
    </p:spTree>
    <p:extLst>
      <p:ext uri="{BB962C8B-B14F-4D97-AF65-F5344CB8AC3E}">
        <p14:creationId xmlns="" xmlns:p14="http://schemas.microsoft.com/office/powerpoint/2010/main" val="1664969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12777"/>
            <a:ext cx="8587680" cy="5256584"/>
          </a:xfrm>
        </p:spPr>
        <p:txBody>
          <a:bodyPr vert="horz" lIns="91440" tIns="45720" rIns="91440" bIns="45720" rtlCol="0">
            <a:normAutofit fontScale="55000" lnSpcReduction="20000"/>
          </a:bodyPr>
          <a:lstStyle/>
          <a:p>
            <a:pPr lvl="1"/>
            <a:r>
              <a:rPr lang="en-IN" dirty="0">
                <a:cs typeface="+mn-cs"/>
              </a:rPr>
              <a:t>Caesar cipher is the earliest known and the simplest example substitution cipher. It is said to be used by Julius Caesar.</a:t>
            </a:r>
          </a:p>
          <a:p>
            <a:pPr lvl="1"/>
            <a:endParaRPr lang="en-IN" dirty="0">
              <a:cs typeface="+mn-cs"/>
            </a:endParaRPr>
          </a:p>
          <a:p>
            <a:pPr lvl="1"/>
            <a:r>
              <a:rPr lang="en-IN" dirty="0">
                <a:cs typeface="+mn-cs"/>
              </a:rPr>
              <a:t>The Caesar cipher involves replacing each letter of the alphabet with the letter standing 3 places further down the alphabet.</a:t>
            </a:r>
          </a:p>
          <a:p>
            <a:pPr lvl="1"/>
            <a:endParaRPr lang="en-IN" dirty="0">
              <a:cs typeface="+mn-cs"/>
            </a:endParaRPr>
          </a:p>
          <a:p>
            <a:pPr lvl="1"/>
            <a:r>
              <a:rPr lang="en-IN" dirty="0">
                <a:cs typeface="+mn-cs"/>
              </a:rPr>
              <a:t>As an example, usage of Caesar Cipher in English using the following key (e.g. ‘a’ is substituted by ‘D’ and ‘x‘ by ‘A’)</a:t>
            </a:r>
          </a:p>
          <a:p>
            <a:pPr lvl="1"/>
            <a:endParaRPr lang="en-IN" dirty="0">
              <a:cs typeface="+mn-cs"/>
            </a:endParaRPr>
          </a:p>
          <a:p>
            <a:pPr lvl="2"/>
            <a:r>
              <a:rPr lang="en-IN" dirty="0"/>
              <a:t>plain:  a b c d e f g h i j k l m n o p q r s t u v w x y z  (plaintext - lower case)</a:t>
            </a:r>
          </a:p>
          <a:p>
            <a:pPr lvl="2"/>
            <a:r>
              <a:rPr lang="pt-BR" dirty="0"/>
              <a:t>cipher: D E F G H I J K L M N O P Q R S T U V W X Y Z A B C  (ciphertext - upper case)</a:t>
            </a:r>
            <a:endParaRPr lang="en-IN" dirty="0"/>
          </a:p>
          <a:p>
            <a:pPr lvl="1"/>
            <a:endParaRPr lang="en-IN" dirty="0">
              <a:cs typeface="+mn-cs"/>
            </a:endParaRPr>
          </a:p>
          <a:p>
            <a:pPr lvl="1"/>
            <a:r>
              <a:rPr lang="en-IN" dirty="0">
                <a:cs typeface="+mn-cs"/>
              </a:rPr>
              <a:t>If a sentence meet me after party is to be encrypted, its Caesar cipher will be: PHHW PH DIWHU SDUWB</a:t>
            </a:r>
          </a:p>
          <a:p>
            <a:pPr lvl="1"/>
            <a:endParaRPr lang="en-IN" dirty="0">
              <a:cs typeface="+mn-cs"/>
            </a:endParaRPr>
          </a:p>
          <a:p>
            <a:pPr lvl="1"/>
            <a:r>
              <a:rPr lang="en-IN" dirty="0">
                <a:cs typeface="+mn-cs"/>
              </a:rPr>
              <a:t>Mathematically, if all plaintext alphabets are represented as numerals in ascending order(a=0, b=1…….z=25) then a plaintext letter p can be encrypted to cipher letter C as: C = E(3, p), where E is a substitution encryption function. Or,</a:t>
            </a:r>
          </a:p>
          <a:p>
            <a:pPr lvl="1"/>
            <a:endParaRPr lang="en-IN" dirty="0">
              <a:cs typeface="+mn-cs"/>
            </a:endParaRPr>
          </a:p>
          <a:p>
            <a:pPr marL="3657600" lvl="8" indent="0">
              <a:buNone/>
            </a:pPr>
            <a:r>
              <a:rPr lang="en-IN" dirty="0" smtClean="0"/>
              <a:t>C </a:t>
            </a:r>
            <a:r>
              <a:rPr lang="en-IN" dirty="0"/>
              <a:t>= E(3, p) = (p+3) mod 26</a:t>
            </a:r>
          </a:p>
          <a:p>
            <a:pPr lvl="8"/>
            <a:endParaRPr lang="en-IN" dirty="0"/>
          </a:p>
          <a:p>
            <a:pPr lvl="1"/>
            <a:r>
              <a:rPr lang="en-IN" dirty="0">
                <a:cs typeface="+mn-cs"/>
              </a:rPr>
              <a:t>In stead of 3, if it needs to be generalized with any number </a:t>
            </a:r>
            <a:r>
              <a:rPr lang="en-IN" dirty="0" smtClean="0">
                <a:cs typeface="+mn-cs"/>
              </a:rPr>
              <a:t>k:</a:t>
            </a:r>
          </a:p>
          <a:p>
            <a:pPr marL="3657600" lvl="8" indent="0">
              <a:buNone/>
            </a:pPr>
            <a:r>
              <a:rPr lang="en-IN" dirty="0" smtClean="0"/>
              <a:t>C = E (k, p) = (</a:t>
            </a:r>
            <a:r>
              <a:rPr lang="en-IN" dirty="0" err="1" smtClean="0"/>
              <a:t>p+k</a:t>
            </a:r>
            <a:r>
              <a:rPr lang="en-IN" dirty="0" smtClean="0"/>
              <a:t>) mod 26 	for encryption</a:t>
            </a:r>
          </a:p>
          <a:p>
            <a:pPr marL="3657600" lvl="8" indent="0">
              <a:buNone/>
            </a:pPr>
            <a:r>
              <a:rPr lang="en-IN" dirty="0" smtClean="0"/>
              <a:t>p </a:t>
            </a:r>
            <a:r>
              <a:rPr lang="en-IN" dirty="0"/>
              <a:t>= D (k, C) = (C-k) mod 26 	for decryption</a:t>
            </a:r>
          </a:p>
          <a:p>
            <a:pPr lvl="1"/>
            <a:endParaRPr lang="en-IN" dirty="0">
              <a:cs typeface="+mn-cs"/>
            </a:endParaRPr>
          </a:p>
          <a:p>
            <a:pPr lvl="1"/>
            <a:endParaRPr lang="en-IN" dirty="0">
              <a:cs typeface="+mn-cs"/>
            </a:endParaRPr>
          </a:p>
          <a:p>
            <a:pPr lvl="8"/>
            <a:endParaRPr lang="en-IN" dirty="0"/>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Substitution Techniques</a:t>
            </a:r>
          </a:p>
          <a:p>
            <a:pPr>
              <a:spcBef>
                <a:spcPct val="0"/>
              </a:spcBef>
            </a:pPr>
            <a:r>
              <a:rPr lang="en-IN" sz="3200" dirty="0">
                <a:latin typeface="+mj-lt"/>
                <a:ea typeface="+mj-ea"/>
                <a:cs typeface="+mj-cs"/>
              </a:rPr>
              <a:t>Caesar Cipher</a:t>
            </a:r>
          </a:p>
        </p:txBody>
      </p:sp>
      <p:pic>
        <p:nvPicPr>
          <p:cNvPr id="27652" name="Picture 4" descr="http://fearlessmen.com/wp-content/uploads/2012/11/Emperor-Julius-Caesar.jpg"/>
          <p:cNvPicPr>
            <a:picLocks noChangeAspect="1" noChangeArrowheads="1"/>
          </p:cNvPicPr>
          <p:nvPr/>
        </p:nvPicPr>
        <p:blipFill>
          <a:blip r:embed="rId3" cstate="print"/>
          <a:srcRect/>
          <a:stretch>
            <a:fillRect/>
          </a:stretch>
        </p:blipFill>
        <p:spPr bwMode="auto">
          <a:xfrm>
            <a:off x="5076056" y="206604"/>
            <a:ext cx="1045121" cy="1034591"/>
          </a:xfrm>
          <a:prstGeom prst="rect">
            <a:avLst/>
          </a:prstGeom>
          <a:noFill/>
        </p:spPr>
      </p:pic>
    </p:spTree>
    <p:extLst>
      <p:ext uri="{BB962C8B-B14F-4D97-AF65-F5344CB8AC3E}">
        <p14:creationId xmlns="" xmlns:p14="http://schemas.microsoft.com/office/powerpoint/2010/main" val="223134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839200" cy="3231307"/>
          </a:xfrm>
        </p:spPr>
        <p:txBody>
          <a:bodyPr vert="horz" lIns="91440" tIns="45720" rIns="91440" bIns="45720" rtlCol="0">
            <a:normAutofit fontScale="92500"/>
          </a:bodyPr>
          <a:lstStyle/>
          <a:p>
            <a:r>
              <a:rPr lang="en-IN" dirty="0"/>
              <a:t>Using K = 15 and Caesar Cipher, encrypt the message “hello”.</a:t>
            </a:r>
          </a:p>
          <a:p>
            <a:endParaRPr lang="en-IN" dirty="0"/>
          </a:p>
          <a:p>
            <a:endParaRPr lang="en-IN" dirty="0"/>
          </a:p>
          <a:p>
            <a:endParaRPr lang="en-IN" dirty="0"/>
          </a:p>
          <a:p>
            <a:endParaRPr lang="en-IN" dirty="0"/>
          </a:p>
          <a:p>
            <a:r>
              <a:rPr lang="en-IN" dirty="0" smtClean="0"/>
              <a:t>Using </a:t>
            </a:r>
            <a:r>
              <a:rPr lang="en-IN" dirty="0"/>
              <a:t>K = 15 and Caesar Cipher, decrypt the message “WTAAD”.</a:t>
            </a:r>
          </a:p>
          <a:p>
            <a:endParaRPr lang="en-IN" dirty="0"/>
          </a:p>
          <a:p>
            <a:endParaRPr lang="en-IN" dirty="0"/>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Examples</a:t>
            </a:r>
          </a:p>
        </p:txBody>
      </p:sp>
      <p:graphicFrame>
        <p:nvGraphicFramePr>
          <p:cNvPr id="5" name="Table 4"/>
          <p:cNvGraphicFramePr>
            <a:graphicFrameLocks noGrp="1"/>
          </p:cNvGraphicFramePr>
          <p:nvPr>
            <p:extLst>
              <p:ext uri="{D42A27DB-BD31-4B8C-83A1-F6EECF244321}">
                <p14:modId xmlns="" xmlns:p14="http://schemas.microsoft.com/office/powerpoint/2010/main" val="1160407311"/>
              </p:ext>
            </p:extLst>
          </p:nvPr>
        </p:nvGraphicFramePr>
        <p:xfrm>
          <a:off x="1709874" y="2020761"/>
          <a:ext cx="5688632" cy="1778918"/>
        </p:xfrm>
        <a:graphic>
          <a:graphicData uri="http://schemas.openxmlformats.org/drawingml/2006/table">
            <a:tbl>
              <a:tblPr/>
              <a:tblGrid>
                <a:gridCol w="904837"/>
                <a:gridCol w="1191176"/>
                <a:gridCol w="2412896"/>
                <a:gridCol w="1179723"/>
              </a:tblGrid>
              <a:tr h="500458">
                <a:tc>
                  <a:txBody>
                    <a:bodyPr/>
                    <a:lstStyle/>
                    <a:p>
                      <a:pPr algn="ctr" fontAlgn="b"/>
                      <a:r>
                        <a:rPr lang="en-IN" sz="1400" b="1" i="0" u="none" strike="noStrike" dirty="0">
                          <a:solidFill>
                            <a:srgbClr val="FFFFFF"/>
                          </a:solidFill>
                          <a:latin typeface="Calibri"/>
                        </a:rPr>
                        <a:t>Plain </a:t>
                      </a:r>
                      <a:r>
                        <a:rPr lang="en-IN" sz="1400" b="1" i="0" u="none" strike="noStrike" dirty="0" smtClean="0">
                          <a:solidFill>
                            <a:srgbClr val="FFFFFF"/>
                          </a:solidFill>
                          <a:latin typeface="Calibri"/>
                        </a:rPr>
                        <a:t>Letter</a:t>
                      </a:r>
                      <a:endParaRPr lang="en-IN" sz="1400" b="1" i="0" u="none" strike="noStrike" dirty="0">
                        <a:solidFill>
                          <a:srgbClr val="FFFFFF"/>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b"/>
                      <a:r>
                        <a:rPr lang="en-IN" sz="1400" b="1" i="0" u="none" strike="noStrike" dirty="0">
                          <a:solidFill>
                            <a:srgbClr val="FFFFFF"/>
                          </a:solidFill>
                          <a:latin typeface="Calibri"/>
                        </a:rPr>
                        <a:t>Numeral </a:t>
                      </a:r>
                      <a:r>
                        <a:rPr lang="en-IN" sz="1400" b="1" i="0" u="none" strike="noStrike" dirty="0" smtClean="0">
                          <a:solidFill>
                            <a:srgbClr val="FFFFFF"/>
                          </a:solidFill>
                          <a:latin typeface="Calibri"/>
                        </a:rPr>
                        <a:t>Order</a:t>
                      </a:r>
                    </a:p>
                    <a:p>
                      <a:pPr algn="ctr" fontAlgn="b"/>
                      <a:r>
                        <a:rPr lang="en-IN" sz="1400" b="1" i="0" u="none" strike="noStrike" dirty="0" smtClean="0">
                          <a:solidFill>
                            <a:srgbClr val="FFFFFF"/>
                          </a:solidFill>
                          <a:latin typeface="Calibri"/>
                        </a:rPr>
                        <a:t>(p)</a:t>
                      </a:r>
                      <a:endParaRPr lang="en-IN" sz="1400" b="1" i="0" u="none" strike="noStrike" dirty="0">
                        <a:solidFill>
                          <a:srgbClr val="FFFFFF"/>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b"/>
                      <a:r>
                        <a:rPr lang="da-DK" sz="1400" b="1" i="0" u="none" strike="noStrike" dirty="0">
                          <a:solidFill>
                            <a:srgbClr val="FFFFFF"/>
                          </a:solidFill>
                          <a:latin typeface="Calibri"/>
                        </a:rPr>
                        <a:t>Cipher Letter Numeral Order</a:t>
                      </a:r>
                      <a:br>
                        <a:rPr lang="da-DK" sz="1400" b="1" i="0" u="none" strike="noStrike" dirty="0">
                          <a:solidFill>
                            <a:srgbClr val="FFFFFF"/>
                          </a:solidFill>
                          <a:latin typeface="Calibri"/>
                        </a:rPr>
                      </a:br>
                      <a:r>
                        <a:rPr lang="da-DK" sz="1400" b="1" i="0" u="none" strike="noStrike" dirty="0">
                          <a:solidFill>
                            <a:srgbClr val="FFFFFF"/>
                          </a:solidFill>
                          <a:latin typeface="Calibri"/>
                        </a:rPr>
                        <a:t>C = (p+K) mod 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b"/>
                      <a:r>
                        <a:rPr lang="en-IN" sz="1400" b="1" i="0" u="none" strike="noStrike" dirty="0">
                          <a:solidFill>
                            <a:srgbClr val="FFFFFF"/>
                          </a:solidFill>
                          <a:latin typeface="Calibri"/>
                        </a:rPr>
                        <a:t>Corresponding</a:t>
                      </a:r>
                      <a:br>
                        <a:rPr lang="en-IN" sz="1400" b="1" i="0" u="none" strike="noStrike" dirty="0">
                          <a:solidFill>
                            <a:srgbClr val="FFFFFF"/>
                          </a:solidFill>
                          <a:latin typeface="Calibri"/>
                        </a:rPr>
                      </a:br>
                      <a:r>
                        <a:rPr lang="en-IN" sz="1400" b="1" i="0" u="none" strike="noStrike" dirty="0">
                          <a:solidFill>
                            <a:srgbClr val="FFFFFF"/>
                          </a:solidFill>
                          <a:latin typeface="Calibri"/>
                        </a:rPr>
                        <a:t>Cipher Letter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r>
              <a:tr h="255692">
                <a:tc>
                  <a:txBody>
                    <a:bodyPr/>
                    <a:lstStyle/>
                    <a:p>
                      <a:pPr algn="ctr" fontAlgn="b"/>
                      <a:r>
                        <a:rPr lang="en-IN" sz="1400" b="0" i="0" u="none" strike="noStrike" dirty="0">
                          <a:solidFill>
                            <a:srgbClr val="000000"/>
                          </a:solidFill>
                          <a:latin typeface="Calibri"/>
                        </a:rPr>
                        <a: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a:solidFill>
                            <a:srgbClr val="000000"/>
                          </a:solidFill>
                          <a:latin typeface="Calibri"/>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(7+15) mod 26 = 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a:solidFill>
                            <a:srgbClr val="000000"/>
                          </a:solidFill>
                          <a:latin typeface="Calibri"/>
                        </a:rPr>
                        <a:t>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5692">
                <a:tc>
                  <a:txBody>
                    <a:bodyPr/>
                    <a:lstStyle/>
                    <a:p>
                      <a:pPr algn="ctr" fontAlgn="b"/>
                      <a:r>
                        <a:rPr lang="en-IN" sz="1400" b="0" i="0" u="none" strike="noStrike" dirty="0">
                          <a:solidFill>
                            <a:srgbClr val="000000"/>
                          </a:solidFill>
                          <a:latin typeface="Calibri"/>
                        </a:rPr>
                        <a:t>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(4+15) mod 26 = 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a:solidFill>
                            <a:srgbClr val="000000"/>
                          </a:solidFill>
                          <a:latin typeface="Calibri"/>
                        </a:rPr>
                        <a:t>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5692">
                <a:tc>
                  <a:txBody>
                    <a:bodyPr/>
                    <a:lstStyle/>
                    <a:p>
                      <a:pPr algn="ctr" fontAlgn="b"/>
                      <a:r>
                        <a:rPr lang="en-IN" sz="1400" b="0" i="0" u="none" strike="noStrike">
                          <a:solidFill>
                            <a:srgbClr val="000000"/>
                          </a:solidFill>
                          <a:latin typeface="Calibri"/>
                        </a:rPr>
                        <a:t>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(11+15) mod 26 = 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a:solidFill>
                            <a:srgbClr val="000000"/>
                          </a:solidFill>
                          <a:latin typeface="Calibri"/>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5692">
                <a:tc>
                  <a:txBody>
                    <a:bodyPr/>
                    <a:lstStyle/>
                    <a:p>
                      <a:pPr algn="ctr" fontAlgn="b"/>
                      <a:r>
                        <a:rPr lang="en-IN" sz="1400" b="0" i="0" u="none" strike="noStrike">
                          <a:solidFill>
                            <a:srgbClr val="000000"/>
                          </a:solidFill>
                          <a:latin typeface="Calibri"/>
                        </a:rPr>
                        <a:t>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a:solidFill>
                            <a:srgbClr val="000000"/>
                          </a:solidFill>
                          <a:latin typeface="Calibri"/>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(11+15) mod 26 = 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5692">
                <a:tc>
                  <a:txBody>
                    <a:bodyPr/>
                    <a:lstStyle/>
                    <a:p>
                      <a:pPr algn="ctr" fontAlgn="b"/>
                      <a:r>
                        <a:rPr lang="en-IN" sz="1400" b="0" i="0" u="none" strike="noStrike">
                          <a:solidFill>
                            <a:srgbClr val="000000"/>
                          </a:solidFill>
                          <a:latin typeface="Calibri"/>
                        </a:rPr>
                        <a:t>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(14+15) mod 26 = 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a:solidFill>
                            <a:srgbClr val="000000"/>
                          </a:solidFill>
                          <a:latin typeface="Calibri"/>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extLst>
              <p:ext uri="{D42A27DB-BD31-4B8C-83A1-F6EECF244321}">
                <p14:modId xmlns="" xmlns:p14="http://schemas.microsoft.com/office/powerpoint/2010/main" val="3461927471"/>
              </p:ext>
            </p:extLst>
          </p:nvPr>
        </p:nvGraphicFramePr>
        <p:xfrm>
          <a:off x="1457846" y="4326602"/>
          <a:ext cx="6192689" cy="1550670"/>
        </p:xfrm>
        <a:graphic>
          <a:graphicData uri="http://schemas.openxmlformats.org/drawingml/2006/table">
            <a:tbl>
              <a:tblPr/>
              <a:tblGrid>
                <a:gridCol w="985012"/>
                <a:gridCol w="1296724"/>
                <a:gridCol w="2626697"/>
                <a:gridCol w="1284256"/>
              </a:tblGrid>
              <a:tr h="415987">
                <a:tc>
                  <a:txBody>
                    <a:bodyPr/>
                    <a:lstStyle/>
                    <a:p>
                      <a:pPr algn="ctr" fontAlgn="b"/>
                      <a:r>
                        <a:rPr lang="en-IN" sz="1400" b="1" i="0" u="none" strike="noStrike" dirty="0" smtClean="0">
                          <a:solidFill>
                            <a:srgbClr val="FFFFFF"/>
                          </a:solidFill>
                          <a:latin typeface="Calibri"/>
                        </a:rPr>
                        <a:t>Cipher Letter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b"/>
                      <a:r>
                        <a:rPr lang="en-IN" sz="1400" b="1" i="0" u="none" strike="noStrike" dirty="0">
                          <a:solidFill>
                            <a:srgbClr val="FFFFFF"/>
                          </a:solidFill>
                          <a:latin typeface="Calibri"/>
                        </a:rPr>
                        <a:t>Numeral </a:t>
                      </a:r>
                      <a:r>
                        <a:rPr lang="en-IN" sz="1400" b="1" i="0" u="none" strike="noStrike" dirty="0" smtClean="0">
                          <a:solidFill>
                            <a:srgbClr val="FFFFFF"/>
                          </a:solidFill>
                          <a:latin typeface="Calibri"/>
                        </a:rPr>
                        <a:t>Order</a:t>
                      </a:r>
                    </a:p>
                    <a:p>
                      <a:pPr algn="ctr" fontAlgn="b"/>
                      <a:r>
                        <a:rPr lang="en-IN" sz="1400" b="1" i="0" u="none" strike="noStrike" dirty="0" smtClean="0">
                          <a:solidFill>
                            <a:srgbClr val="FFFFFF"/>
                          </a:solidFill>
                          <a:latin typeface="Calibri"/>
                        </a:rPr>
                        <a:t>(C)</a:t>
                      </a:r>
                      <a:endParaRPr lang="en-IN" sz="1400" b="1" i="0" u="none" strike="noStrike" dirty="0">
                        <a:solidFill>
                          <a:srgbClr val="FFFFFF"/>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b"/>
                      <a:r>
                        <a:rPr lang="da-DK" sz="1400" b="1" i="0" u="none" strike="noStrike" dirty="0">
                          <a:solidFill>
                            <a:srgbClr val="FFFFFF"/>
                          </a:solidFill>
                          <a:latin typeface="Calibri"/>
                        </a:rPr>
                        <a:t>Cipher Letter Numeral Order</a:t>
                      </a:r>
                      <a:br>
                        <a:rPr lang="da-DK" sz="1400" b="1" i="0" u="none" strike="noStrike" dirty="0">
                          <a:solidFill>
                            <a:srgbClr val="FFFFFF"/>
                          </a:solidFill>
                          <a:latin typeface="Calibri"/>
                        </a:rPr>
                      </a:br>
                      <a:r>
                        <a:rPr lang="da-DK" sz="1400" b="1" i="0" u="none" strike="noStrike" dirty="0" smtClean="0">
                          <a:solidFill>
                            <a:srgbClr val="FFFFFF"/>
                          </a:solidFill>
                          <a:latin typeface="Calibri"/>
                        </a:rPr>
                        <a:t>p </a:t>
                      </a:r>
                      <a:r>
                        <a:rPr lang="da-DK" sz="1400" b="1" i="0" u="none" strike="noStrike" dirty="0">
                          <a:solidFill>
                            <a:srgbClr val="FFFFFF"/>
                          </a:solidFill>
                          <a:latin typeface="Calibri"/>
                        </a:rPr>
                        <a:t>= </a:t>
                      </a:r>
                      <a:r>
                        <a:rPr lang="da-DK" sz="1400" b="1" i="0" u="none" strike="noStrike" dirty="0" smtClean="0">
                          <a:solidFill>
                            <a:srgbClr val="FFFFFF"/>
                          </a:solidFill>
                          <a:latin typeface="Calibri"/>
                        </a:rPr>
                        <a:t>(C-K</a:t>
                      </a:r>
                      <a:r>
                        <a:rPr lang="da-DK" sz="1400" b="1" i="0" u="none" strike="noStrike" dirty="0">
                          <a:solidFill>
                            <a:srgbClr val="FFFFFF"/>
                          </a:solidFill>
                          <a:latin typeface="Calibri"/>
                        </a:rPr>
                        <a:t>) mod 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ctr" fontAlgn="b"/>
                      <a:r>
                        <a:rPr lang="en-IN" sz="1400" b="1" i="0" u="none" strike="noStrike" dirty="0">
                          <a:solidFill>
                            <a:srgbClr val="FFFFFF"/>
                          </a:solidFill>
                          <a:latin typeface="Calibri"/>
                        </a:rPr>
                        <a:t>Corresponding</a:t>
                      </a:r>
                      <a:br>
                        <a:rPr lang="en-IN" sz="1400" b="1" i="0" u="none" strike="noStrike" dirty="0">
                          <a:solidFill>
                            <a:srgbClr val="FFFFFF"/>
                          </a:solidFill>
                          <a:latin typeface="Calibri"/>
                        </a:rPr>
                      </a:br>
                      <a:r>
                        <a:rPr lang="en-IN" sz="1400" b="1" i="0" u="none" strike="noStrike" dirty="0">
                          <a:solidFill>
                            <a:srgbClr val="FFFFFF"/>
                          </a:solidFill>
                          <a:latin typeface="Calibri"/>
                        </a:rPr>
                        <a:t>Cipher Letter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r>
              <a:tr h="212535">
                <a:tc>
                  <a:txBody>
                    <a:bodyPr/>
                    <a:lstStyle/>
                    <a:p>
                      <a:pPr algn="ctr" fontAlgn="b"/>
                      <a:r>
                        <a:rPr lang="en-IN" sz="1400" b="0" i="0" u="none" strike="noStrike" dirty="0" smtClean="0">
                          <a:solidFill>
                            <a:srgbClr val="000000"/>
                          </a:solidFill>
                          <a:latin typeface="Calibri"/>
                        </a:rPr>
                        <a:t>W</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22</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(22-15</a:t>
                      </a:r>
                      <a:r>
                        <a:rPr lang="en-IN" sz="1400" b="0" i="0" u="none" strike="noStrike" dirty="0">
                          <a:solidFill>
                            <a:srgbClr val="000000"/>
                          </a:solidFill>
                          <a:latin typeface="Calibri"/>
                        </a:rPr>
                        <a:t>) mod 26 = </a:t>
                      </a:r>
                      <a:r>
                        <a:rPr lang="en-IN" sz="1400" b="0" i="0" u="none" strike="noStrike" dirty="0" smtClean="0">
                          <a:solidFill>
                            <a:srgbClr val="000000"/>
                          </a:solidFill>
                          <a:latin typeface="Calibri"/>
                        </a:rPr>
                        <a:t>7</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h</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12535">
                <a:tc>
                  <a:txBody>
                    <a:bodyPr/>
                    <a:lstStyle/>
                    <a:p>
                      <a:pPr algn="ctr" fontAlgn="b"/>
                      <a:r>
                        <a:rPr lang="en-IN" sz="1400" b="0" i="0" u="none" strike="noStrike" dirty="0" smtClean="0">
                          <a:solidFill>
                            <a:srgbClr val="000000"/>
                          </a:solidFill>
                          <a:latin typeface="Calibri"/>
                        </a:rPr>
                        <a:t>T</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19</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(19-15</a:t>
                      </a:r>
                      <a:r>
                        <a:rPr lang="en-IN" sz="1400" b="0" i="0" u="none" strike="noStrike" dirty="0">
                          <a:solidFill>
                            <a:srgbClr val="000000"/>
                          </a:solidFill>
                          <a:latin typeface="Calibri"/>
                        </a:rPr>
                        <a:t>) mod 26 = </a:t>
                      </a:r>
                      <a:r>
                        <a:rPr lang="en-IN" sz="1400" b="0" i="0" u="none" strike="noStrike" dirty="0" smtClean="0">
                          <a:solidFill>
                            <a:srgbClr val="000000"/>
                          </a:solidFill>
                          <a:latin typeface="Calibri"/>
                        </a:rPr>
                        <a:t>4</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e</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12535">
                <a:tc>
                  <a:txBody>
                    <a:bodyPr/>
                    <a:lstStyle/>
                    <a:p>
                      <a:pPr algn="ctr" fontAlgn="b"/>
                      <a:r>
                        <a:rPr lang="en-IN" sz="1400" b="0" i="0" u="none" strike="noStrike" dirty="0" smtClean="0">
                          <a:solidFill>
                            <a:srgbClr val="000000"/>
                          </a:solidFill>
                          <a:latin typeface="Calibri"/>
                        </a:rPr>
                        <a:t>A</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0</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(0-15</a:t>
                      </a:r>
                      <a:r>
                        <a:rPr lang="en-IN" sz="1400" b="0" i="0" u="none" strike="noStrike" dirty="0">
                          <a:solidFill>
                            <a:srgbClr val="000000"/>
                          </a:solidFill>
                          <a:latin typeface="Calibri"/>
                        </a:rPr>
                        <a:t>) mod 26 = </a:t>
                      </a:r>
                      <a:r>
                        <a:rPr lang="en-IN" sz="1400" b="0" i="0" u="none" strike="noStrike" dirty="0" smtClean="0">
                          <a:solidFill>
                            <a:srgbClr val="000000"/>
                          </a:solidFill>
                          <a:latin typeface="Calibri"/>
                        </a:rPr>
                        <a:t>11</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l</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12535">
                <a:tc>
                  <a:txBody>
                    <a:bodyPr/>
                    <a:lstStyle/>
                    <a:p>
                      <a:pPr algn="ctr" fontAlgn="b"/>
                      <a:r>
                        <a:rPr lang="en-IN" sz="1400" b="0" i="0" u="none" strike="noStrike" dirty="0" smtClean="0">
                          <a:solidFill>
                            <a:srgbClr val="000000"/>
                          </a:solidFill>
                          <a:latin typeface="Calibri"/>
                        </a:rPr>
                        <a:t>A</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0</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(0-15</a:t>
                      </a:r>
                      <a:r>
                        <a:rPr lang="en-IN" sz="1400" b="0" i="0" u="none" strike="noStrike" dirty="0">
                          <a:solidFill>
                            <a:srgbClr val="000000"/>
                          </a:solidFill>
                          <a:latin typeface="Calibri"/>
                        </a:rPr>
                        <a:t>) mod 26 = </a:t>
                      </a:r>
                      <a:r>
                        <a:rPr lang="en-IN" sz="1400" b="0" i="0" u="none" strike="noStrike" dirty="0" smtClean="0">
                          <a:solidFill>
                            <a:srgbClr val="000000"/>
                          </a:solidFill>
                          <a:latin typeface="Calibri"/>
                        </a:rPr>
                        <a:t>11</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l</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12535">
                <a:tc>
                  <a:txBody>
                    <a:bodyPr/>
                    <a:lstStyle/>
                    <a:p>
                      <a:pPr algn="ctr" fontAlgn="b"/>
                      <a:r>
                        <a:rPr lang="en-IN" sz="1400" b="0" i="0" u="none" strike="noStrike" dirty="0" smtClean="0">
                          <a:solidFill>
                            <a:srgbClr val="000000"/>
                          </a:solidFill>
                          <a:latin typeface="Calibri"/>
                        </a:rPr>
                        <a:t>D</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3</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(3-15</a:t>
                      </a:r>
                      <a:r>
                        <a:rPr lang="en-IN" sz="1400" b="0" i="0" u="none" strike="noStrike" dirty="0">
                          <a:solidFill>
                            <a:srgbClr val="000000"/>
                          </a:solidFill>
                          <a:latin typeface="Calibri"/>
                        </a:rPr>
                        <a:t>) mod 26 = </a:t>
                      </a:r>
                      <a:r>
                        <a:rPr lang="en-IN" sz="1400" b="0" i="0" u="none" strike="noStrike" dirty="0" smtClean="0">
                          <a:solidFill>
                            <a:srgbClr val="000000"/>
                          </a:solidFill>
                          <a:latin typeface="Calibri"/>
                        </a:rPr>
                        <a:t>14</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0" i="0" u="none" strike="noStrike" dirty="0" smtClean="0">
                          <a:solidFill>
                            <a:srgbClr val="000000"/>
                          </a:solidFill>
                          <a:latin typeface="Calibri"/>
                        </a:rPr>
                        <a:t>O</a:t>
                      </a:r>
                      <a:endParaRPr lang="en-IN" sz="1400" b="0" i="0" u="none" strike="noStrike" dirty="0">
                        <a:solidFill>
                          <a:srgbClr val="000000"/>
                        </a:solidFill>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8" name="TextBox 7"/>
          <p:cNvSpPr txBox="1"/>
          <p:nvPr/>
        </p:nvSpPr>
        <p:spPr>
          <a:xfrm>
            <a:off x="1907704" y="5877272"/>
            <a:ext cx="4489720" cy="761046"/>
          </a:xfrm>
          <a:prstGeom prst="rect">
            <a:avLst/>
          </a:prstGeom>
          <a:noFill/>
        </p:spPr>
        <p:txBody>
          <a:bodyPr wrap="square" rtlCol="0">
            <a:spAutoFit/>
          </a:bodyPr>
          <a:lstStyle/>
          <a:p>
            <a:r>
              <a:rPr lang="en-IN" sz="1400" b="1" i="1" dirty="0" smtClean="0"/>
              <a:t>r = a mod n</a:t>
            </a:r>
            <a:r>
              <a:rPr lang="en-IN" sz="1400" i="1" dirty="0" smtClean="0"/>
              <a:t>, if a is negative, then the final r = </a:t>
            </a:r>
            <a:r>
              <a:rPr lang="en-IN" sz="1400" i="1" dirty="0" err="1" smtClean="0"/>
              <a:t>r+n</a:t>
            </a:r>
            <a:r>
              <a:rPr lang="en-IN" sz="1400" i="1" dirty="0" smtClean="0"/>
              <a:t>. E.g.</a:t>
            </a:r>
          </a:p>
          <a:p>
            <a:r>
              <a:rPr lang="en-IN" sz="1400" i="1" dirty="0" smtClean="0"/>
              <a:t>r = -13 mod 12 = -1 and final r = -1+12 = 11</a:t>
            </a:r>
          </a:p>
          <a:p>
            <a:r>
              <a:rPr lang="en-IN" sz="1400" i="1" dirty="0" smtClean="0"/>
              <a:t>r = -7 mod 10 = -7 and final r = -7+10 = 3</a:t>
            </a:r>
            <a:endParaRPr lang="en-IN" sz="1400" i="1" dirty="0"/>
          </a:p>
        </p:txBody>
      </p:sp>
    </p:spTree>
    <p:extLst>
      <p:ext uri="{BB962C8B-B14F-4D97-AF65-F5344CB8AC3E}">
        <p14:creationId xmlns="" xmlns:p14="http://schemas.microsoft.com/office/powerpoint/2010/main" val="107492017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515672" cy="3807371"/>
          </a:xfrm>
        </p:spPr>
        <p:txBody>
          <a:bodyPr vert="horz" lIns="91440" tIns="45720" rIns="91440" bIns="45720" rtlCol="0">
            <a:normAutofit fontScale="62500" lnSpcReduction="20000"/>
          </a:bodyPr>
          <a:lstStyle/>
          <a:p>
            <a:pPr>
              <a:buChar char="•"/>
            </a:pPr>
            <a:r>
              <a:rPr lang="en-US" altLang="en-US" sz="3200" dirty="0">
                <a:cs typeface="+mn-cs"/>
              </a:rPr>
              <a:t>Weaknesses in the Technique:</a:t>
            </a:r>
          </a:p>
          <a:p>
            <a:pPr lvl="1"/>
            <a:r>
              <a:rPr lang="en-US" altLang="en-US" dirty="0">
                <a:cs typeface="+mn-cs"/>
              </a:rPr>
              <a:t>Encryption and decryption algorithms are known.</a:t>
            </a:r>
          </a:p>
          <a:p>
            <a:pPr lvl="1"/>
            <a:r>
              <a:rPr lang="en-US" altLang="en-US" dirty="0">
                <a:cs typeface="+mn-cs"/>
              </a:rPr>
              <a:t>There are only 25 keys. If the attacker knows it is Caesar Cipher on English alphabets, all the values of k from 1 to 25 can be tried out as part of brute-force cryptanalysis.</a:t>
            </a:r>
          </a:p>
          <a:p>
            <a:pPr lvl="1"/>
            <a:r>
              <a:rPr lang="en-US" altLang="en-US" dirty="0">
                <a:cs typeface="+mn-cs"/>
              </a:rPr>
              <a:t>The language is easily recognizable.</a:t>
            </a:r>
          </a:p>
          <a:p>
            <a:pPr lvl="1"/>
            <a:endParaRPr lang="en-US" altLang="en-US" dirty="0">
              <a:cs typeface="+mn-cs"/>
            </a:endParaRPr>
          </a:p>
          <a:p>
            <a:pPr>
              <a:buChar char="•"/>
            </a:pPr>
            <a:r>
              <a:rPr lang="en-US" altLang="en-US" sz="3200" dirty="0" smtClean="0">
                <a:cs typeface="+mn-cs"/>
              </a:rPr>
              <a:t>Lesson </a:t>
            </a:r>
            <a:r>
              <a:rPr lang="en-US" altLang="en-US" sz="3200" dirty="0">
                <a:cs typeface="+mn-cs"/>
              </a:rPr>
              <a:t>Learnt:</a:t>
            </a:r>
          </a:p>
          <a:p>
            <a:pPr lvl="1"/>
            <a:r>
              <a:rPr lang="en-US" altLang="en-US" dirty="0">
                <a:cs typeface="+mn-cs"/>
              </a:rPr>
              <a:t>Let us assume opponent can find out the algorithms.</a:t>
            </a:r>
          </a:p>
          <a:p>
            <a:pPr lvl="1"/>
            <a:r>
              <a:rPr lang="en-US" altLang="en-US" dirty="0">
                <a:cs typeface="+mn-cs"/>
              </a:rPr>
              <a:t>Select a technique that permits very large key space – a lot of time required to try all.</a:t>
            </a:r>
          </a:p>
          <a:p>
            <a:pPr lvl="1"/>
            <a:r>
              <a:rPr lang="en-US" altLang="en-US" dirty="0">
                <a:cs typeface="+mn-cs"/>
              </a:rPr>
              <a:t>Language abbreviation or compression can be done. If a plaintext file is first zipped and then encrypted it will be impractical to decrypt such file. In this case more characters will be there to decipher.</a:t>
            </a:r>
          </a:p>
          <a:p>
            <a:pPr lvl="1"/>
            <a:endParaRPr lang="en-US" altLang="en-US" dirty="0">
              <a:cs typeface="+mn-cs"/>
            </a:endParaRPr>
          </a:p>
          <a:p>
            <a:pPr lvl="1"/>
            <a:endParaRPr lang="en-IN" dirty="0">
              <a:cs typeface="+mn-cs"/>
            </a:endParaRPr>
          </a:p>
          <a:p>
            <a:pPr lvl="1"/>
            <a:endParaRPr lang="en-IN" dirty="0">
              <a:cs typeface="+mn-cs"/>
            </a:endParaRPr>
          </a:p>
          <a:p>
            <a:pPr lvl="1"/>
            <a:endParaRPr lang="en-IN" dirty="0">
              <a:cs typeface="+mn-cs"/>
            </a:endParaRPr>
          </a:p>
          <a:p>
            <a:pPr>
              <a:buChar char="•"/>
            </a:pPr>
            <a:endParaRPr lang="en-IN" sz="3200" dirty="0">
              <a:cs typeface="+mn-cs"/>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Cryptanalysis on Caesar Cipher</a:t>
            </a:r>
          </a:p>
        </p:txBody>
      </p:sp>
      <p:pic>
        <p:nvPicPr>
          <p:cNvPr id="29700" name="Picture 4" descr="http://2we26u4fam7n16rz3a44uhbe1bq2.wpengine.netdna-cdn.com/wp-content/uploads/040615_1345_DefeatingSt6.png"/>
          <p:cNvPicPr>
            <a:picLocks noChangeAspect="1" noChangeArrowheads="1"/>
          </p:cNvPicPr>
          <p:nvPr/>
        </p:nvPicPr>
        <p:blipFill>
          <a:blip r:embed="rId2" cstate="print"/>
          <a:srcRect l="14976" t="40731" r="20167" b="25867"/>
          <a:stretch>
            <a:fillRect/>
          </a:stretch>
        </p:blipFill>
        <p:spPr bwMode="auto">
          <a:xfrm>
            <a:off x="1619672" y="5229200"/>
            <a:ext cx="5341684" cy="864096"/>
          </a:xfrm>
          <a:prstGeom prst="rect">
            <a:avLst/>
          </a:prstGeom>
          <a:noFill/>
        </p:spPr>
      </p:pic>
      <p:sp>
        <p:nvSpPr>
          <p:cNvPr id="7" name="TextBox 6"/>
          <p:cNvSpPr txBox="1"/>
          <p:nvPr/>
        </p:nvSpPr>
        <p:spPr>
          <a:xfrm>
            <a:off x="3275856" y="6237312"/>
            <a:ext cx="2376264" cy="307777"/>
          </a:xfrm>
          <a:prstGeom prst="rect">
            <a:avLst/>
          </a:prstGeom>
          <a:noFill/>
        </p:spPr>
        <p:txBody>
          <a:bodyPr wrap="square" rtlCol="0">
            <a:spAutoFit/>
          </a:bodyPr>
          <a:lstStyle/>
          <a:p>
            <a:pPr algn="ctr"/>
            <a:r>
              <a:rPr lang="en-IN" sz="1400" b="1" u="sng" dirty="0" smtClean="0"/>
              <a:t>Sample of Compressed Text</a:t>
            </a:r>
            <a:endParaRPr lang="en-IN" sz="1400" b="1" u="sng" dirty="0"/>
          </a:p>
        </p:txBody>
      </p:sp>
    </p:spTree>
    <p:extLst>
      <p:ext uri="{BB962C8B-B14F-4D97-AF65-F5344CB8AC3E}">
        <p14:creationId xmlns="" xmlns:p14="http://schemas.microsoft.com/office/powerpoint/2010/main" val="319162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970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959499"/>
          </a:xfrm>
        </p:spPr>
        <p:txBody>
          <a:bodyPr>
            <a:normAutofit fontScale="85000" lnSpcReduction="20000"/>
          </a:bodyPr>
          <a:lstStyle/>
          <a:p>
            <a:pPr lvl="0">
              <a:buFont typeface="Arial" pitchFamily="34" charset="0"/>
              <a:buChar char="•"/>
            </a:pPr>
            <a:r>
              <a:rPr lang="en-US" altLang="en-US" sz="2200" dirty="0" err="1" smtClean="0">
                <a:solidFill>
                  <a:prstClr val="black"/>
                </a:solidFill>
              </a:rPr>
              <a:t>Playfair</a:t>
            </a:r>
            <a:r>
              <a:rPr lang="en-US" altLang="en-US" sz="2200" dirty="0" smtClean="0">
                <a:solidFill>
                  <a:prstClr val="black"/>
                </a:solidFill>
              </a:rPr>
              <a:t> </a:t>
            </a:r>
            <a:r>
              <a:rPr lang="en-US" altLang="en-US" sz="2200" dirty="0">
                <a:solidFill>
                  <a:prstClr val="black"/>
                </a:solidFill>
              </a:rPr>
              <a:t>cipher was invented by British scientist Sir Charles Wheatstone in 1854, but it bears the name of his friend Baron </a:t>
            </a:r>
            <a:r>
              <a:rPr lang="en-US" altLang="en-US" sz="2200" dirty="0" err="1">
                <a:solidFill>
                  <a:prstClr val="black"/>
                </a:solidFill>
              </a:rPr>
              <a:t>Playfair</a:t>
            </a:r>
            <a:r>
              <a:rPr lang="en-US" altLang="en-US" sz="2200" dirty="0">
                <a:solidFill>
                  <a:prstClr val="black"/>
                </a:solidFill>
              </a:rPr>
              <a:t>. It was used during World War – I and II by British and US armies. Its steps follow as below.</a:t>
            </a:r>
          </a:p>
          <a:p>
            <a:pPr lvl="0">
              <a:buFont typeface="Arial" pitchFamily="34" charset="0"/>
              <a:buChar char="•"/>
            </a:pPr>
            <a:r>
              <a:rPr lang="en-US" altLang="en-US" sz="2200" dirty="0">
                <a:solidFill>
                  <a:prstClr val="black"/>
                </a:solidFill>
              </a:rPr>
              <a:t>It uses a 5x5 matrix of letters using a key word. For example a matrix is constructed below using a keyword NETWORK. The matrix is constructed by filling in the letters of the keyword (minus duplicates) from left to right and from top to bottom, and then filling in the remainder of the matrix with the remaining letters in alphabetic order. The letters I and J count as one letter. If I or J is in the keyword, two other consecutive letters can be selected and counted as one</a:t>
            </a:r>
            <a:r>
              <a:rPr lang="en-US" altLang="en-US" sz="2200" dirty="0" smtClean="0">
                <a:solidFill>
                  <a:prstClr val="black"/>
                </a:solidFill>
              </a:rPr>
              <a:t>.</a:t>
            </a:r>
          </a:p>
          <a:p>
            <a:pPr lvl="0">
              <a:buFont typeface="Arial" pitchFamily="34" charset="0"/>
              <a:buChar char="•"/>
            </a:pPr>
            <a:endParaRPr lang="en-US" altLang="en-US" sz="2200" dirty="0">
              <a:solidFill>
                <a:prstClr val="black"/>
              </a:solidFill>
            </a:endParaRPr>
          </a:p>
          <a:p>
            <a:pPr marL="0" lvl="0" indent="0"/>
            <a:endParaRPr lang="en-US" altLang="en-US" sz="2200" dirty="0" smtClean="0">
              <a:solidFill>
                <a:prstClr val="black"/>
              </a:solidFill>
            </a:endParaRPr>
          </a:p>
          <a:p>
            <a:pPr lvl="0">
              <a:buFont typeface="Arial" pitchFamily="34" charset="0"/>
              <a:buChar char="•"/>
            </a:pPr>
            <a:endParaRPr lang="en-US" altLang="en-US" sz="2200" dirty="0">
              <a:solidFill>
                <a:prstClr val="black"/>
              </a:solidFill>
            </a:endParaRPr>
          </a:p>
          <a:p>
            <a:pPr lvl="0">
              <a:buFont typeface="Arial" pitchFamily="34" charset="0"/>
              <a:buChar char="•"/>
            </a:pPr>
            <a:endParaRPr lang="en-US" altLang="en-US" sz="2200" dirty="0" smtClean="0">
              <a:solidFill>
                <a:prstClr val="black"/>
              </a:solidFill>
            </a:endParaRPr>
          </a:p>
          <a:p>
            <a:pPr lvl="0">
              <a:buFont typeface="Arial" pitchFamily="34" charset="0"/>
              <a:buChar char="•"/>
            </a:pPr>
            <a:endParaRPr lang="en-US" altLang="en-US" sz="2200" dirty="0">
              <a:solidFill>
                <a:prstClr val="black"/>
              </a:solidFill>
            </a:endParaRPr>
          </a:p>
          <a:p>
            <a:pPr lvl="0">
              <a:buFont typeface="Arial" pitchFamily="34" charset="0"/>
              <a:buChar char="•"/>
            </a:pPr>
            <a:endParaRPr lang="en-US" altLang="en-US" sz="2200" dirty="0" smtClean="0">
              <a:solidFill>
                <a:prstClr val="black"/>
              </a:solidFill>
            </a:endParaRPr>
          </a:p>
          <a:p>
            <a:pPr>
              <a:buFont typeface="Arial" pitchFamily="34" charset="0"/>
              <a:buChar char="•"/>
            </a:pPr>
            <a:r>
              <a:rPr lang="en-IN" sz="2400" dirty="0" err="1"/>
              <a:t>Playfair</a:t>
            </a:r>
            <a:r>
              <a:rPr lang="en-IN" sz="2400" dirty="0"/>
              <a:t> cipher works on the combinations on the two-letter combinations which are called </a:t>
            </a:r>
            <a:r>
              <a:rPr lang="en-IN" sz="2400" b="1" dirty="0" err="1"/>
              <a:t>Digrams</a:t>
            </a:r>
            <a:r>
              <a:rPr lang="en-IN" sz="2400" dirty="0"/>
              <a:t>.</a:t>
            </a:r>
          </a:p>
          <a:p>
            <a:pPr lvl="0">
              <a:buFont typeface="Arial" pitchFamily="34" charset="0"/>
              <a:buChar char="•"/>
            </a:pPr>
            <a:endParaRPr lang="en-US" altLang="en-US" sz="2200" dirty="0">
              <a:solidFill>
                <a:prstClr val="black"/>
              </a:solidFill>
            </a:endParaRPr>
          </a:p>
          <a:p>
            <a:pPr lvl="0">
              <a:buFont typeface="Arial" pitchFamily="34" charset="0"/>
              <a:buChar char="•"/>
            </a:pPr>
            <a:endParaRPr lang="en-US" altLang="en-US" sz="2200" dirty="0">
              <a:solidFill>
                <a:prstClr val="black"/>
              </a:solidFill>
            </a:endParaRPr>
          </a:p>
          <a:p>
            <a:pPr lvl="0">
              <a:buFont typeface="Arial" pitchFamily="34" charset="0"/>
              <a:buChar char="•"/>
            </a:pPr>
            <a:endParaRPr lang="en-US" altLang="en-US" sz="2200" dirty="0" smtClean="0">
              <a:solidFill>
                <a:prstClr val="black"/>
              </a:solidFill>
            </a:endParaRPr>
          </a:p>
          <a:p>
            <a:pPr marL="0" lvl="1" indent="0" algn="just">
              <a:lnSpc>
                <a:spcPct val="110000"/>
              </a:lnSpc>
              <a:spcBef>
                <a:spcPts val="0"/>
              </a:spcBef>
              <a:buClr>
                <a:srgbClr val="101141"/>
              </a:buClr>
              <a:buNone/>
            </a:pPr>
            <a:endParaRPr lang="en-IN" sz="1800" dirty="0" smtClean="0"/>
          </a:p>
          <a:p>
            <a:pPr marL="514350" lvl="1" indent="-514350" algn="just">
              <a:lnSpc>
                <a:spcPct val="110000"/>
              </a:lnSpc>
              <a:spcBef>
                <a:spcPts val="0"/>
              </a:spcBef>
              <a:buClr>
                <a:srgbClr val="101141"/>
              </a:buClr>
              <a:buFont typeface="Wingdings" pitchFamily="2" charset="2"/>
              <a:buChar char="q"/>
            </a:pPr>
            <a:endParaRPr lang="en-IN" sz="1800" dirty="0" smtClean="0"/>
          </a:p>
          <a:p>
            <a:pPr marL="514350" lvl="1" indent="-514350" algn="just">
              <a:spcBef>
                <a:spcPts val="0"/>
              </a:spcBef>
              <a:buClr>
                <a:srgbClr val="101141"/>
              </a:buClr>
              <a:buFont typeface="Wingdings" pitchFamily="2" charset="2"/>
              <a:buChar char="q"/>
            </a:pPr>
            <a:endParaRPr lang="en-IN" sz="1700" dirty="0" smtClean="0"/>
          </a:p>
          <a:p>
            <a:pPr marL="514350" lvl="1" indent="-514350" algn="just">
              <a:spcBef>
                <a:spcPts val="0"/>
              </a:spcBef>
              <a:buClr>
                <a:srgbClr val="101141"/>
              </a:buClr>
              <a:buFont typeface="Wingdings" pitchFamily="2" charset="2"/>
              <a:buChar char="q"/>
            </a:pPr>
            <a:endParaRPr lang="en-IN" sz="1700" dirty="0" smtClean="0"/>
          </a:p>
          <a:p>
            <a:pPr marL="514350" lvl="1" indent="-514350" algn="just">
              <a:spcBef>
                <a:spcPts val="0"/>
              </a:spcBef>
              <a:buClr>
                <a:srgbClr val="101141"/>
              </a:buClr>
              <a:buFont typeface="Wingdings" pitchFamily="2" charset="2"/>
              <a:buChar char="q"/>
            </a:pPr>
            <a:endParaRPr lang="en-IN" sz="1700" dirty="0" smtClean="0"/>
          </a:p>
          <a:p>
            <a:pPr marL="514350" lvl="1" indent="-514350" algn="just">
              <a:spcBef>
                <a:spcPts val="0"/>
              </a:spcBef>
              <a:buClr>
                <a:srgbClr val="101141"/>
              </a:buClr>
              <a:buFont typeface="Wingdings" pitchFamily="2" charset="2"/>
              <a:buChar char="q"/>
            </a:pPr>
            <a:endParaRPr lang="en-IN" sz="1700" dirty="0" smtClean="0"/>
          </a:p>
          <a:p>
            <a:pPr marL="514350" lvl="1" indent="-514350" algn="just">
              <a:spcBef>
                <a:spcPts val="0"/>
              </a:spcBef>
              <a:buClr>
                <a:srgbClr val="101141"/>
              </a:buClr>
              <a:buFont typeface="Wingdings" pitchFamily="2" charset="2"/>
              <a:buChar char="q"/>
            </a:pPr>
            <a:endParaRPr lang="en-IN" sz="1700" dirty="0" smtClean="0"/>
          </a:p>
          <a:p>
            <a:pPr marL="514350" lvl="1" indent="-514350" algn="just">
              <a:lnSpc>
                <a:spcPct val="110000"/>
              </a:lnSpc>
              <a:spcBef>
                <a:spcPts val="0"/>
              </a:spcBef>
              <a:buClr>
                <a:srgbClr val="101141"/>
              </a:buClr>
              <a:buFont typeface="Wingdings" pitchFamily="2" charset="2"/>
              <a:buChar char="q"/>
            </a:pPr>
            <a:endParaRPr lang="en-IN" sz="1800" dirty="0" smtClean="0"/>
          </a:p>
          <a:p>
            <a:pPr marL="514350" lvl="1" indent="-514350" algn="just">
              <a:lnSpc>
                <a:spcPct val="110000"/>
              </a:lnSpc>
              <a:spcBef>
                <a:spcPts val="0"/>
              </a:spcBef>
              <a:buClr>
                <a:srgbClr val="101141"/>
              </a:buClr>
              <a:buNone/>
            </a:pPr>
            <a:endParaRPr lang="en-IN" sz="1800" dirty="0" smtClean="0"/>
          </a:p>
          <a:p>
            <a:pPr marL="514350" lvl="1" indent="-514350" algn="just">
              <a:spcBef>
                <a:spcPts val="0"/>
              </a:spcBef>
              <a:buClr>
                <a:srgbClr val="101141"/>
              </a:buClr>
              <a:buFont typeface="Wingdings" pitchFamily="2" charset="2"/>
              <a:buChar char="q"/>
            </a:pPr>
            <a:endParaRPr lang="en-IN" sz="1700" dirty="0" smtClean="0"/>
          </a:p>
          <a:p>
            <a:pPr marL="514350" lvl="1" indent="-514350" algn="just">
              <a:spcBef>
                <a:spcPts val="0"/>
              </a:spcBef>
              <a:buClr>
                <a:srgbClr val="101141"/>
              </a:buClr>
              <a:buFont typeface="Wingdings" pitchFamily="2" charset="2"/>
              <a:buChar char="q"/>
            </a:pPr>
            <a:endParaRPr lang="en-IN" sz="1700" dirty="0" smtClean="0"/>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Playfair Cipher</a:t>
            </a:r>
          </a:p>
          <a:p>
            <a:pPr>
              <a:spcBef>
                <a:spcPct val="0"/>
              </a:spcBef>
            </a:pPr>
            <a:r>
              <a:rPr lang="en-IN" sz="3200" dirty="0">
                <a:latin typeface="+mj-lt"/>
                <a:ea typeface="+mj-ea"/>
                <a:cs typeface="+mj-cs"/>
              </a:rPr>
              <a:t>Introduction</a:t>
            </a:r>
          </a:p>
        </p:txBody>
      </p:sp>
      <p:graphicFrame>
        <p:nvGraphicFramePr>
          <p:cNvPr id="6" name="Table 5"/>
          <p:cNvGraphicFramePr>
            <a:graphicFrameLocks noGrp="1"/>
          </p:cNvGraphicFramePr>
          <p:nvPr>
            <p:extLst>
              <p:ext uri="{D42A27DB-BD31-4B8C-83A1-F6EECF244321}">
                <p14:modId xmlns="" xmlns:p14="http://schemas.microsoft.com/office/powerpoint/2010/main" val="596699844"/>
              </p:ext>
            </p:extLst>
          </p:nvPr>
        </p:nvGraphicFramePr>
        <p:xfrm>
          <a:off x="2425270" y="4044823"/>
          <a:ext cx="3048000" cy="1114425"/>
        </p:xfrm>
        <a:graphic>
          <a:graphicData uri="http://schemas.openxmlformats.org/drawingml/2006/table">
            <a:tbl>
              <a:tblPr/>
              <a:tblGrid>
                <a:gridCol w="609600"/>
                <a:gridCol w="609600"/>
                <a:gridCol w="609600"/>
                <a:gridCol w="609600"/>
                <a:gridCol w="609600"/>
              </a:tblGrid>
              <a:tr h="190500">
                <a:tc>
                  <a:txBody>
                    <a:bodyPr/>
                    <a:lstStyle/>
                    <a:p>
                      <a:pPr algn="ctr" fontAlgn="b"/>
                      <a:r>
                        <a:rPr lang="en-IN" sz="1400" b="1" i="0" u="none" strike="noStrike" dirty="0">
                          <a:solidFill>
                            <a:srgbClr val="000000"/>
                          </a:solidFill>
                          <a:latin typeface="Calibri"/>
                        </a:rPr>
                        <a:t>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400" b="1" i="0" u="none" strike="noStrike">
                          <a:solidFill>
                            <a:srgbClr val="000000"/>
                          </a:solidFill>
                          <a:latin typeface="Calibri"/>
                        </a:rPr>
                        <a:t>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400" b="1" i="0" u="none" strike="noStrike" dirty="0">
                          <a:solidFill>
                            <a:srgbClr val="000000"/>
                          </a:solidFill>
                          <a:latin typeface="Calibri"/>
                        </a:rPr>
                        <a:t>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400" b="1" i="0" u="none" strike="noStrike" dirty="0">
                          <a:solidFill>
                            <a:srgbClr val="000000"/>
                          </a:solidFill>
                          <a:latin typeface="Calibri"/>
                        </a:rPr>
                        <a:t>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400" b="1" i="0" u="none" strike="noStrike">
                          <a:solidFill>
                            <a:srgbClr val="000000"/>
                          </a:solidFill>
                          <a:latin typeface="Calibri"/>
                        </a:rPr>
                        <a:t>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r>
              <a:tr h="190500">
                <a:tc>
                  <a:txBody>
                    <a:bodyPr/>
                    <a:lstStyle/>
                    <a:p>
                      <a:pPr algn="ctr" fontAlgn="b"/>
                      <a:r>
                        <a:rPr lang="en-IN" sz="1400" b="1" i="0" u="none" strike="noStrike">
                          <a:solidFill>
                            <a:srgbClr val="000000"/>
                          </a:solidFill>
                          <a:latin typeface="Calibri"/>
                        </a:rPr>
                        <a:t>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400" b="1" i="0" u="none" strike="noStrike">
                          <a:solidFill>
                            <a:srgbClr val="000000"/>
                          </a:solidFill>
                          <a:latin typeface="Calibri"/>
                        </a:rPr>
                        <a:t>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r>
                        <a:rPr lang="en-IN" sz="1400" b="1" i="0" u="none" strike="noStrike" dirty="0">
                          <a:solidFill>
                            <a:srgbClr val="000000"/>
                          </a:solidFill>
                          <a:latin typeface="Calibri"/>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IN" sz="1400" b="1" i="0" u="none" strike="noStrike">
                          <a:solidFill>
                            <a:srgbClr val="000000"/>
                          </a:solidFill>
                          <a:latin typeface="Calibri"/>
                        </a:rPr>
                        <a:t>B</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rgbClr val="000000"/>
                          </a:solidFill>
                          <a:latin typeface="Calibri"/>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fontAlgn="b"/>
                      <a:r>
                        <a:rPr lang="en-IN" sz="1400" b="1" i="0" u="none" strike="noStrike">
                          <a:solidFill>
                            <a:srgbClr val="000000"/>
                          </a:solidFill>
                          <a:latin typeface="Calibri"/>
                        </a:rPr>
                        <a:t>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rgbClr val="000000"/>
                          </a:solidFill>
                          <a:latin typeface="Calibri"/>
                        </a:rPr>
                        <a:t>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rgbClr val="000000"/>
                          </a:solidFill>
                          <a:latin typeface="Calibri"/>
                        </a:rPr>
                        <a:t>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rgbClr val="000000"/>
                          </a:solidFill>
                          <a:latin typeface="Calibri"/>
                        </a:rPr>
                        <a: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rgbClr val="000000"/>
                          </a:solidFill>
                          <a:latin typeface="Calibri"/>
                        </a:rPr>
                        <a:t>I/J</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fontAlgn="b"/>
                      <a:r>
                        <a:rPr lang="en-IN" sz="1400" b="1" i="0" u="none" strike="noStrike">
                          <a:solidFill>
                            <a:srgbClr val="000000"/>
                          </a:solidFill>
                          <a:latin typeface="Calibri"/>
                        </a:rPr>
                        <a:t>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rgbClr val="000000"/>
                          </a:solidFill>
                          <a:latin typeface="Calibri"/>
                        </a:rPr>
                        <a:t>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rgbClr val="000000"/>
                          </a:solidFill>
                          <a:latin typeface="Calibri"/>
                        </a:rPr>
                        <a:t>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rgbClr val="000000"/>
                          </a:solidFill>
                          <a:latin typeface="Calibri"/>
                        </a:rPr>
                        <a:t>Q</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a:solidFill>
                            <a:srgbClr val="000000"/>
                          </a:solidFill>
                          <a:latin typeface="Calibri"/>
                        </a:rPr>
                        <a: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90500">
                <a:tc>
                  <a:txBody>
                    <a:bodyPr/>
                    <a:lstStyle/>
                    <a:p>
                      <a:pPr algn="ctr" fontAlgn="b"/>
                      <a:r>
                        <a:rPr lang="en-IN" sz="1400" b="1" i="0" u="none" strike="noStrike" dirty="0">
                          <a:solidFill>
                            <a:srgbClr val="000000"/>
                          </a:solidFill>
                          <a:latin typeface="Calibri"/>
                        </a:rPr>
                        <a:t>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rgbClr val="000000"/>
                          </a:solidFill>
                          <a:latin typeface="Calibri"/>
                        </a:rPr>
                        <a:t>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rgbClr val="000000"/>
                          </a:solidFill>
                          <a:latin typeface="Calibri"/>
                        </a:rPr>
                        <a:t>X</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rgbClr val="000000"/>
                          </a:solidFill>
                          <a:latin typeface="Calibri"/>
                        </a:rPr>
                        <a: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400" b="1" i="0" u="none" strike="noStrike" dirty="0">
                          <a:solidFill>
                            <a:srgbClr val="000000"/>
                          </a:solidFill>
                          <a:latin typeface="Calibri"/>
                        </a:rPr>
                        <a:t>Z</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Oval Callout 6"/>
          <p:cNvSpPr/>
          <p:nvPr/>
        </p:nvSpPr>
        <p:spPr>
          <a:xfrm>
            <a:off x="6133430" y="4048235"/>
            <a:ext cx="1440160" cy="576064"/>
          </a:xfrm>
          <a:prstGeom prst="wedgeEllipseCallout">
            <a:avLst>
              <a:gd name="adj1" fmla="val -102331"/>
              <a:gd name="adj2" fmla="val -25158"/>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Keyword</a:t>
            </a:r>
            <a:endParaRPr lang="en-IN" dirty="0">
              <a:solidFill>
                <a:schemeClr val="tx1"/>
              </a:solidFill>
            </a:endParaRPr>
          </a:p>
        </p:txBody>
      </p:sp>
    </p:spTree>
    <p:extLst>
      <p:ext uri="{BB962C8B-B14F-4D97-AF65-F5344CB8AC3E}">
        <p14:creationId xmlns="" xmlns:p14="http://schemas.microsoft.com/office/powerpoint/2010/main" val="1686509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lnSpcReduction="10000"/>
          </a:bodyPr>
          <a:lstStyle/>
          <a:p>
            <a:pPr>
              <a:buChar char="•"/>
            </a:pPr>
            <a:r>
              <a:rPr lang="en-IN" sz="3200" dirty="0">
                <a:cs typeface="+mn-cs"/>
              </a:rPr>
              <a:t>If in same column</a:t>
            </a:r>
          </a:p>
          <a:p>
            <a:pPr lvl="1"/>
            <a:r>
              <a:rPr lang="en-IN" dirty="0">
                <a:cs typeface="+mn-cs"/>
              </a:rPr>
              <a:t>Move each letter down one</a:t>
            </a:r>
          </a:p>
          <a:p>
            <a:pPr lvl="1"/>
            <a:r>
              <a:rPr lang="en-IN" dirty="0">
                <a:cs typeface="+mn-cs"/>
              </a:rPr>
              <a:t>Upon reaching end of table ,wrap around</a:t>
            </a:r>
          </a:p>
          <a:p>
            <a:pPr>
              <a:buChar char="•"/>
            </a:pPr>
            <a:r>
              <a:rPr lang="en-IN" sz="3200" dirty="0">
                <a:cs typeface="+mn-cs"/>
              </a:rPr>
              <a:t>If  in same row</a:t>
            </a:r>
          </a:p>
          <a:p>
            <a:pPr lvl="1"/>
            <a:r>
              <a:rPr lang="en-IN" dirty="0">
                <a:cs typeface="+mn-cs"/>
              </a:rPr>
              <a:t>Move each letter  right one</a:t>
            </a:r>
          </a:p>
          <a:p>
            <a:pPr lvl="1"/>
            <a:r>
              <a:rPr lang="en-IN" dirty="0">
                <a:cs typeface="+mn-cs"/>
              </a:rPr>
              <a:t>Upon reaching end of table ,wrap around</a:t>
            </a:r>
          </a:p>
          <a:p>
            <a:pPr>
              <a:buChar char="•"/>
            </a:pPr>
            <a:r>
              <a:rPr lang="en-IN" sz="3200" dirty="0">
                <a:cs typeface="+mn-cs"/>
              </a:rPr>
              <a:t>If it forms a rectangle</a:t>
            </a:r>
          </a:p>
          <a:p>
            <a:pPr lvl="1"/>
            <a:r>
              <a:rPr lang="en-IN" dirty="0">
                <a:cs typeface="+mn-cs"/>
              </a:rPr>
              <a:t>Swap the letters with the ones on the end of the rectangle</a:t>
            </a:r>
          </a:p>
          <a:p>
            <a:pPr>
              <a:buChar char="•"/>
            </a:pPr>
            <a:endParaRPr lang="en-IN" sz="3200" dirty="0">
              <a:cs typeface="+mn-cs"/>
            </a:endParaRPr>
          </a:p>
        </p:txBody>
      </p:sp>
      <p:sp>
        <p:nvSpPr>
          <p:cNvPr id="5" name="Content Placeholder 2"/>
          <p:cNvSpPr>
            <a:spLocks noGrp="1"/>
          </p:cNvSpPr>
          <p:nvPr>
            <p:ph sz="quarter" idx="10"/>
          </p:nvPr>
        </p:nvSpPr>
        <p:spPr>
          <a:xfrm>
            <a:off x="331971" y="260648"/>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Encryption Rules</a:t>
            </a:r>
            <a:endParaRPr lang="en-IN" sz="3200" dirty="0">
              <a:latin typeface="+mj-lt"/>
              <a:ea typeface="+mj-ea"/>
              <a:cs typeface="+mj-cs"/>
            </a:endParaRPr>
          </a:p>
        </p:txBody>
      </p:sp>
    </p:spTree>
    <p:extLst>
      <p:ext uri="{BB962C8B-B14F-4D97-AF65-F5344CB8AC3E}">
        <p14:creationId xmlns="" xmlns:p14="http://schemas.microsoft.com/office/powerpoint/2010/main" val="33497993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5195894" cy="4525963"/>
          </a:xfrm>
        </p:spPr>
        <p:txBody>
          <a:bodyPr vert="horz" lIns="91440" tIns="45720" rIns="91440" bIns="45720" rtlCol="0">
            <a:normAutofit fontScale="92500" lnSpcReduction="20000"/>
          </a:bodyPr>
          <a:lstStyle/>
          <a:p>
            <a:pPr>
              <a:buChar char="•"/>
            </a:pPr>
            <a:r>
              <a:rPr lang="en-IN" sz="3200" dirty="0">
                <a:cs typeface="+mn-cs"/>
              </a:rPr>
              <a:t>Choosing a keyword:</a:t>
            </a:r>
          </a:p>
          <a:p>
            <a:pPr>
              <a:buChar char="•"/>
            </a:pPr>
            <a:r>
              <a:rPr lang="en-IN" sz="3200" b="1" dirty="0">
                <a:cs typeface="+mn-cs"/>
              </a:rPr>
              <a:t>Rules: </a:t>
            </a:r>
            <a:r>
              <a:rPr lang="en-IN" sz="3200" dirty="0">
                <a:cs typeface="+mn-cs"/>
              </a:rPr>
              <a:t>No repeating letters</a:t>
            </a:r>
          </a:p>
          <a:p>
            <a:pPr>
              <a:buChar char="•"/>
            </a:pPr>
            <a:r>
              <a:rPr lang="en-IN" sz="3200" dirty="0" smtClean="0">
                <a:cs typeface="+mn-cs"/>
              </a:rPr>
              <a:t>For </a:t>
            </a:r>
            <a:r>
              <a:rPr lang="en-IN" sz="3200" dirty="0">
                <a:cs typeface="+mn-cs"/>
              </a:rPr>
              <a:t>example , the keyword will be “keyword”</a:t>
            </a:r>
          </a:p>
          <a:p>
            <a:pPr>
              <a:buChar char="•"/>
            </a:pPr>
            <a:r>
              <a:rPr lang="en-IN" sz="3200" dirty="0">
                <a:cs typeface="+mn-cs"/>
              </a:rPr>
              <a:t>Creating the table:</a:t>
            </a:r>
          </a:p>
          <a:p>
            <a:pPr>
              <a:buChar char="•"/>
            </a:pPr>
            <a:r>
              <a:rPr lang="en-IN" sz="3200" b="1" dirty="0">
                <a:cs typeface="+mn-cs"/>
              </a:rPr>
              <a:t>Rules:</a:t>
            </a:r>
          </a:p>
          <a:p>
            <a:pPr>
              <a:buChar char="•"/>
            </a:pPr>
            <a:r>
              <a:rPr lang="en-IN" sz="3200" dirty="0" smtClean="0">
                <a:cs typeface="+mn-cs"/>
              </a:rPr>
              <a:t>Insert </a:t>
            </a:r>
            <a:r>
              <a:rPr lang="en-IN" sz="3200" dirty="0">
                <a:cs typeface="+mn-cs"/>
              </a:rPr>
              <a:t>the desire keyword in the table</a:t>
            </a:r>
          </a:p>
          <a:p>
            <a:pPr>
              <a:buChar char="•"/>
            </a:pPr>
            <a:r>
              <a:rPr lang="en-IN" sz="3200" dirty="0">
                <a:cs typeface="+mn-cs"/>
              </a:rPr>
              <a:t>Followed by the rest of the table</a:t>
            </a:r>
          </a:p>
          <a:p>
            <a:pPr>
              <a:buChar char="•"/>
            </a:pPr>
            <a:endParaRPr lang="en-IN" sz="3200" dirty="0">
              <a:cs typeface="+mn-cs"/>
            </a:endParaRPr>
          </a:p>
        </p:txBody>
      </p:sp>
      <p:sp>
        <p:nvSpPr>
          <p:cNvPr id="3" name="Content Placeholder 2"/>
          <p:cNvSpPr>
            <a:spLocks noGrp="1"/>
          </p:cNvSpPr>
          <p:nvPr>
            <p:ph sz="quarter" idx="10"/>
          </p:nvPr>
        </p:nvSpPr>
        <p:spPr>
          <a:xfrm>
            <a:off x="304800" y="152400"/>
            <a:ext cx="5851376" cy="923903"/>
          </a:xfrm>
        </p:spPr>
        <p:txBody>
          <a:bodyPr vert="horz" lIns="91440" tIns="45720" rIns="91440" bIns="45720" rtlCol="0" anchor="ctr" anchorCtr="0">
            <a:normAutofit/>
          </a:bodyPr>
          <a:lstStyle/>
          <a:p>
            <a:pPr>
              <a:spcBef>
                <a:spcPct val="0"/>
              </a:spcBef>
            </a:pPr>
            <a:r>
              <a:rPr lang="en-IN" sz="3200" dirty="0">
                <a:latin typeface="+mj-lt"/>
                <a:ea typeface="+mj-ea"/>
                <a:cs typeface="+mj-cs"/>
              </a:rPr>
              <a:t>Example:</a:t>
            </a:r>
          </a:p>
        </p:txBody>
      </p:sp>
      <p:pic>
        <p:nvPicPr>
          <p:cNvPr id="2050" name="Picture 2"/>
          <p:cNvPicPr>
            <a:picLocks noChangeAspect="1" noChangeArrowheads="1"/>
          </p:cNvPicPr>
          <p:nvPr/>
        </p:nvPicPr>
        <p:blipFill>
          <a:blip r:embed="rId2"/>
          <a:srcRect/>
          <a:stretch>
            <a:fillRect/>
          </a:stretch>
        </p:blipFill>
        <p:spPr bwMode="auto">
          <a:xfrm>
            <a:off x="5362575" y="1857364"/>
            <a:ext cx="3781425" cy="3381375"/>
          </a:xfrm>
          <a:prstGeom prst="rect">
            <a:avLst/>
          </a:prstGeom>
          <a:noFill/>
          <a:ln w="9525">
            <a:noFill/>
            <a:miter lim="800000"/>
            <a:headEnd/>
            <a:tailEnd/>
          </a:ln>
          <a:effectLst/>
        </p:spPr>
      </p:pic>
    </p:spTree>
    <p:extLst>
      <p:ext uri="{BB962C8B-B14F-4D97-AF65-F5344CB8AC3E}">
        <p14:creationId xmlns="" xmlns:p14="http://schemas.microsoft.com/office/powerpoint/2010/main" val="8821048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4767266" cy="4525963"/>
          </a:xfrm>
        </p:spPr>
        <p:txBody>
          <a:bodyPr vert="horz" lIns="91440" tIns="45720" rIns="91440" bIns="45720" rtlCol="0">
            <a:normAutofit fontScale="92500" lnSpcReduction="10000"/>
          </a:bodyPr>
          <a:lstStyle/>
          <a:p>
            <a:pPr>
              <a:buChar char="•"/>
            </a:pPr>
            <a:r>
              <a:rPr lang="en-IN" sz="3200" dirty="0">
                <a:cs typeface="+mn-cs"/>
              </a:rPr>
              <a:t>Preparing your message:</a:t>
            </a:r>
          </a:p>
          <a:p>
            <a:pPr>
              <a:buChar char="•"/>
            </a:pPr>
            <a:r>
              <a:rPr lang="en-IN" sz="3200" dirty="0">
                <a:cs typeface="+mn-cs"/>
              </a:rPr>
              <a:t>Must be split into pairs</a:t>
            </a:r>
          </a:p>
          <a:p>
            <a:pPr>
              <a:buChar char="•"/>
            </a:pPr>
            <a:r>
              <a:rPr lang="en-IN" sz="3200" dirty="0">
                <a:cs typeface="+mn-cs"/>
              </a:rPr>
              <a:t>Separate all duplicated letters by inserting letter “x”</a:t>
            </a:r>
          </a:p>
          <a:p>
            <a:pPr>
              <a:buChar char="•"/>
            </a:pPr>
            <a:r>
              <a:rPr lang="en-IN" sz="3200" dirty="0">
                <a:cs typeface="+mn-cs"/>
              </a:rPr>
              <a:t>If there is an odd letter at the end of the message insert letter “x”</a:t>
            </a:r>
          </a:p>
          <a:p>
            <a:pPr>
              <a:buChar char="•"/>
            </a:pPr>
            <a:r>
              <a:rPr lang="en-IN" sz="3200" dirty="0">
                <a:cs typeface="+mn-cs"/>
              </a:rPr>
              <a:t>Ignore all spaces</a:t>
            </a:r>
          </a:p>
        </p:txBody>
      </p:sp>
      <p:pic>
        <p:nvPicPr>
          <p:cNvPr id="3074" name="Picture 2"/>
          <p:cNvPicPr>
            <a:picLocks noChangeAspect="1" noChangeArrowheads="1"/>
          </p:cNvPicPr>
          <p:nvPr/>
        </p:nvPicPr>
        <p:blipFill>
          <a:blip r:embed="rId3"/>
          <a:srcRect/>
          <a:stretch>
            <a:fillRect/>
          </a:stretch>
        </p:blipFill>
        <p:spPr bwMode="auto">
          <a:xfrm>
            <a:off x="5292080" y="2042306"/>
            <a:ext cx="3571868" cy="3429024"/>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52400"/>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a:t>
            </a:r>
            <a:r>
              <a:rPr lang="en-IN" sz="3200" dirty="0">
                <a:latin typeface="+mj-lt"/>
                <a:ea typeface="+mj-ea"/>
                <a:cs typeface="+mj-cs"/>
              </a:rPr>
              <a:t> </a:t>
            </a:r>
            <a:r>
              <a:rPr lang="en-IN" sz="3200" dirty="0" smtClean="0">
                <a:latin typeface="+mj-lt"/>
                <a:ea typeface="+mj-ea"/>
                <a:cs typeface="+mj-cs"/>
              </a:rPr>
              <a:t>Contd..</a:t>
            </a:r>
            <a:endParaRPr lang="en-IN" sz="3200" dirty="0">
              <a:latin typeface="+mj-lt"/>
              <a:ea typeface="+mj-ea"/>
              <a:cs typeface="+mj-cs"/>
            </a:endParaRPr>
          </a:p>
        </p:txBody>
      </p:sp>
    </p:spTree>
    <p:extLst>
      <p:ext uri="{BB962C8B-B14F-4D97-AF65-F5344CB8AC3E}">
        <p14:creationId xmlns="" xmlns:p14="http://schemas.microsoft.com/office/powerpoint/2010/main" val="23519015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3338506" cy="4525963"/>
          </a:xfrm>
        </p:spPr>
        <p:txBody>
          <a:bodyPr vert="horz" lIns="91440" tIns="45720" rIns="91440" bIns="45720" rtlCol="0">
            <a:normAutofit/>
          </a:bodyPr>
          <a:lstStyle/>
          <a:p>
            <a:pPr>
              <a:buChar char="•"/>
            </a:pPr>
            <a:r>
              <a:rPr lang="en-IN" sz="3200" dirty="0">
                <a:cs typeface="+mn-cs"/>
              </a:rPr>
              <a:t>Rule3:</a:t>
            </a:r>
          </a:p>
          <a:p>
            <a:pPr>
              <a:buChar char="•"/>
            </a:pPr>
            <a:r>
              <a:rPr lang="en-IN" sz="3200" dirty="0">
                <a:cs typeface="+mn-cs"/>
              </a:rPr>
              <a:t>If it forms a rectangle</a:t>
            </a:r>
          </a:p>
          <a:p>
            <a:pPr>
              <a:buChar char="•"/>
            </a:pPr>
            <a:r>
              <a:rPr lang="en-IN" sz="3200" dirty="0" smtClean="0">
                <a:cs typeface="+mn-cs"/>
              </a:rPr>
              <a:t>Swap </a:t>
            </a:r>
            <a:r>
              <a:rPr lang="en-IN" sz="3200" dirty="0">
                <a:cs typeface="+mn-cs"/>
              </a:rPr>
              <a:t>the letters with the ones on the end of the rectangle</a:t>
            </a:r>
          </a:p>
          <a:p>
            <a:pPr>
              <a:buChar char="•"/>
            </a:pPr>
            <a:r>
              <a:rPr lang="en-IN" sz="3200" dirty="0">
                <a:cs typeface="+mn-cs"/>
              </a:rPr>
              <a:t>Encoded </a:t>
            </a:r>
            <a:r>
              <a:rPr lang="en-IN" sz="3200" dirty="0" err="1" smtClean="0">
                <a:cs typeface="+mn-cs"/>
              </a:rPr>
              <a:t>text:NO</a:t>
            </a:r>
            <a:endParaRPr lang="en-IN" sz="3200" dirty="0">
              <a:cs typeface="+mn-cs"/>
            </a:endParaRPr>
          </a:p>
        </p:txBody>
      </p:sp>
      <p:pic>
        <p:nvPicPr>
          <p:cNvPr id="4098" name="Picture 2"/>
          <p:cNvPicPr>
            <a:picLocks noChangeAspect="1" noChangeArrowheads="1"/>
          </p:cNvPicPr>
          <p:nvPr/>
        </p:nvPicPr>
        <p:blipFill>
          <a:blip r:embed="rId2"/>
          <a:srcRect/>
          <a:stretch>
            <a:fillRect/>
          </a:stretch>
        </p:blipFill>
        <p:spPr bwMode="auto">
          <a:xfrm>
            <a:off x="4500562" y="1571612"/>
            <a:ext cx="3933825" cy="3762375"/>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88640"/>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a:t>
            </a:r>
            <a:r>
              <a:rPr lang="en-IN" sz="3200" dirty="0">
                <a:latin typeface="+mj-lt"/>
                <a:ea typeface="+mj-ea"/>
                <a:cs typeface="+mj-cs"/>
              </a:rPr>
              <a:t> </a:t>
            </a:r>
            <a:r>
              <a:rPr lang="en-IN" sz="3200" dirty="0" smtClean="0">
                <a:latin typeface="+mj-lt"/>
                <a:ea typeface="+mj-ea"/>
                <a:cs typeface="+mj-cs"/>
              </a:rPr>
              <a:t>Contd..</a:t>
            </a:r>
            <a:endParaRPr lang="en-IN" sz="3200" dirty="0">
              <a:latin typeface="+mj-lt"/>
              <a:ea typeface="+mj-ea"/>
              <a:cs typeface="+mj-cs"/>
            </a:endParaRPr>
          </a:p>
        </p:txBody>
      </p:sp>
    </p:spTree>
    <p:extLst>
      <p:ext uri="{BB962C8B-B14F-4D97-AF65-F5344CB8AC3E}">
        <p14:creationId xmlns="" xmlns:p14="http://schemas.microsoft.com/office/powerpoint/2010/main" val="802384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4410076" cy="4525963"/>
          </a:xfrm>
        </p:spPr>
        <p:txBody>
          <a:bodyPr vert="horz" lIns="91440" tIns="45720" rIns="91440" bIns="45720" rtlCol="0">
            <a:normAutofit/>
          </a:bodyPr>
          <a:lstStyle/>
          <a:p>
            <a:pPr>
              <a:buChar char="•"/>
            </a:pPr>
            <a:r>
              <a:rPr lang="en-IN" sz="3200" dirty="0">
                <a:cs typeface="+mn-cs"/>
              </a:rPr>
              <a:t>Rule2 </a:t>
            </a:r>
            <a:r>
              <a:rPr lang="en-IN" sz="3200" dirty="0" smtClean="0">
                <a:cs typeface="+mn-cs"/>
              </a:rPr>
              <a:t>: If  </a:t>
            </a:r>
            <a:r>
              <a:rPr lang="en-IN" sz="3200" dirty="0">
                <a:cs typeface="+mn-cs"/>
              </a:rPr>
              <a:t>in same row</a:t>
            </a:r>
          </a:p>
          <a:p>
            <a:pPr>
              <a:buChar char="•"/>
            </a:pPr>
            <a:r>
              <a:rPr lang="en-IN" sz="3200" dirty="0" smtClean="0">
                <a:cs typeface="+mn-cs"/>
              </a:rPr>
              <a:t>Move </a:t>
            </a:r>
            <a:r>
              <a:rPr lang="en-IN" sz="3200" dirty="0">
                <a:cs typeface="+mn-cs"/>
              </a:rPr>
              <a:t>each letter  right one</a:t>
            </a:r>
          </a:p>
          <a:p>
            <a:pPr>
              <a:buChar char="•"/>
            </a:pPr>
            <a:r>
              <a:rPr lang="en-IN" sz="3200" dirty="0" smtClean="0">
                <a:cs typeface="+mn-cs"/>
              </a:rPr>
              <a:t>Upon </a:t>
            </a:r>
            <a:r>
              <a:rPr lang="en-IN" sz="3200" dirty="0">
                <a:cs typeface="+mn-cs"/>
              </a:rPr>
              <a:t>reaching end of table ,wrap around</a:t>
            </a:r>
          </a:p>
          <a:p>
            <a:pPr>
              <a:buChar char="•"/>
            </a:pPr>
            <a:r>
              <a:rPr lang="en-IN" sz="3200" dirty="0">
                <a:cs typeface="+mn-cs"/>
              </a:rPr>
              <a:t>New encoded text :RD</a:t>
            </a:r>
          </a:p>
          <a:p>
            <a:pPr>
              <a:buChar char="•"/>
            </a:pPr>
            <a:endParaRPr lang="en-IN" sz="3200" dirty="0">
              <a:cs typeface="+mn-cs"/>
            </a:endParaRPr>
          </a:p>
        </p:txBody>
      </p:sp>
      <p:pic>
        <p:nvPicPr>
          <p:cNvPr id="5122" name="Picture 2"/>
          <p:cNvPicPr>
            <a:picLocks noChangeAspect="1" noChangeArrowheads="1"/>
          </p:cNvPicPr>
          <p:nvPr/>
        </p:nvPicPr>
        <p:blipFill>
          <a:blip r:embed="rId2"/>
          <a:srcRect/>
          <a:stretch>
            <a:fillRect/>
          </a:stretch>
        </p:blipFill>
        <p:spPr bwMode="auto">
          <a:xfrm>
            <a:off x="4929158" y="1714488"/>
            <a:ext cx="4214842" cy="3829050"/>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88640"/>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a:t>
            </a:r>
            <a:r>
              <a:rPr lang="en-IN" sz="3200" dirty="0">
                <a:latin typeface="+mj-lt"/>
                <a:ea typeface="+mj-ea"/>
                <a:cs typeface="+mj-cs"/>
              </a:rPr>
              <a:t> </a:t>
            </a:r>
            <a:r>
              <a:rPr lang="en-IN" sz="3200" dirty="0" smtClean="0">
                <a:latin typeface="+mj-lt"/>
                <a:ea typeface="+mj-ea"/>
                <a:cs typeface="+mj-cs"/>
              </a:rPr>
              <a:t>Contd..</a:t>
            </a:r>
            <a:endParaRPr lang="en-IN" sz="3200" dirty="0">
              <a:latin typeface="+mj-lt"/>
              <a:ea typeface="+mj-ea"/>
              <a:cs typeface="+mj-cs"/>
            </a:endParaRPr>
          </a:p>
        </p:txBody>
      </p:sp>
    </p:spTree>
    <p:extLst>
      <p:ext uri="{BB962C8B-B14F-4D97-AF65-F5344CB8AC3E}">
        <p14:creationId xmlns="" xmlns:p14="http://schemas.microsoft.com/office/powerpoint/2010/main" val="6549002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3910010" cy="4525963"/>
          </a:xfrm>
        </p:spPr>
        <p:txBody>
          <a:bodyPr vert="horz" lIns="91440" tIns="45720" rIns="91440" bIns="45720" rtlCol="0">
            <a:normAutofit/>
          </a:bodyPr>
          <a:lstStyle/>
          <a:p>
            <a:pPr>
              <a:buChar char="•"/>
            </a:pPr>
            <a:r>
              <a:rPr lang="en-IN" sz="3200" dirty="0" smtClean="0">
                <a:cs typeface="+mn-cs"/>
              </a:rPr>
              <a:t>Rule3: If </a:t>
            </a:r>
            <a:r>
              <a:rPr lang="en-IN" sz="3200" dirty="0">
                <a:cs typeface="+mn-cs"/>
              </a:rPr>
              <a:t>it forms a rectangle</a:t>
            </a:r>
          </a:p>
          <a:p>
            <a:pPr>
              <a:buChar char="•"/>
            </a:pPr>
            <a:r>
              <a:rPr lang="en-IN" sz="3200" dirty="0" smtClean="0">
                <a:cs typeface="+mn-cs"/>
              </a:rPr>
              <a:t>Swap </a:t>
            </a:r>
            <a:r>
              <a:rPr lang="en-IN" sz="3200" dirty="0">
                <a:cs typeface="+mn-cs"/>
              </a:rPr>
              <a:t>the letters with the ones on the end of the rectangle</a:t>
            </a:r>
          </a:p>
          <a:p>
            <a:pPr>
              <a:buChar char="•"/>
            </a:pPr>
            <a:r>
              <a:rPr lang="en-IN" sz="3200" dirty="0">
                <a:cs typeface="+mn-cs"/>
              </a:rPr>
              <a:t>Encoded text :KU</a:t>
            </a:r>
          </a:p>
          <a:p>
            <a:pPr>
              <a:buChar char="•"/>
            </a:pPr>
            <a:endParaRPr lang="en-IN" sz="3200" dirty="0">
              <a:cs typeface="+mn-cs"/>
            </a:endParaRPr>
          </a:p>
        </p:txBody>
      </p:sp>
      <p:pic>
        <p:nvPicPr>
          <p:cNvPr id="6146" name="Picture 2"/>
          <p:cNvPicPr>
            <a:picLocks noChangeAspect="1" noChangeArrowheads="1"/>
          </p:cNvPicPr>
          <p:nvPr/>
        </p:nvPicPr>
        <p:blipFill>
          <a:blip r:embed="rId2"/>
          <a:srcRect/>
          <a:stretch>
            <a:fillRect/>
          </a:stretch>
        </p:blipFill>
        <p:spPr bwMode="auto">
          <a:xfrm>
            <a:off x="5072066" y="1643050"/>
            <a:ext cx="3571873" cy="3714776"/>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88640"/>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a:t>
            </a:r>
            <a:r>
              <a:rPr lang="en-IN" sz="3200" dirty="0">
                <a:latin typeface="+mj-lt"/>
                <a:ea typeface="+mj-ea"/>
                <a:cs typeface="+mj-cs"/>
              </a:rPr>
              <a:t> </a:t>
            </a:r>
            <a:r>
              <a:rPr lang="en-IN" sz="3200" dirty="0" smtClean="0">
                <a:latin typeface="+mj-lt"/>
                <a:ea typeface="+mj-ea"/>
                <a:cs typeface="+mj-cs"/>
              </a:rPr>
              <a:t>Contd..</a:t>
            </a:r>
            <a:endParaRPr lang="en-IN" sz="3200" dirty="0">
              <a:latin typeface="+mj-lt"/>
              <a:ea typeface="+mj-ea"/>
              <a:cs typeface="+mj-cs"/>
            </a:endParaRPr>
          </a:p>
        </p:txBody>
      </p:sp>
    </p:spTree>
    <p:extLst>
      <p:ext uri="{BB962C8B-B14F-4D97-AF65-F5344CB8AC3E}">
        <p14:creationId xmlns="" xmlns:p14="http://schemas.microsoft.com/office/powerpoint/2010/main" val="3451813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4052886" cy="4525963"/>
          </a:xfrm>
        </p:spPr>
        <p:txBody>
          <a:bodyPr vert="horz" lIns="91440" tIns="45720" rIns="91440" bIns="45720" rtlCol="0">
            <a:normAutofit/>
          </a:bodyPr>
          <a:lstStyle/>
          <a:p>
            <a:pPr>
              <a:buChar char="•"/>
            </a:pPr>
            <a:r>
              <a:rPr lang="en-IN" sz="3200" dirty="0" smtClean="0">
                <a:cs typeface="+mn-cs"/>
              </a:rPr>
              <a:t>Rule3: If </a:t>
            </a:r>
            <a:r>
              <a:rPr lang="en-IN" sz="3200" dirty="0">
                <a:cs typeface="+mn-cs"/>
              </a:rPr>
              <a:t>it forms a rectangle</a:t>
            </a:r>
          </a:p>
          <a:p>
            <a:pPr>
              <a:buChar char="•"/>
            </a:pPr>
            <a:r>
              <a:rPr lang="en-IN" sz="3200" dirty="0" smtClean="0">
                <a:cs typeface="+mn-cs"/>
              </a:rPr>
              <a:t>Swap </a:t>
            </a:r>
            <a:r>
              <a:rPr lang="en-IN" sz="3200" dirty="0">
                <a:cs typeface="+mn-cs"/>
              </a:rPr>
              <a:t>the letters with the ones on the end of the rectangle</a:t>
            </a:r>
          </a:p>
          <a:p>
            <a:pPr>
              <a:buChar char="•"/>
            </a:pPr>
            <a:r>
              <a:rPr lang="en-IN" sz="3200" dirty="0">
                <a:cs typeface="+mn-cs"/>
              </a:rPr>
              <a:t>Encoded text :NK</a:t>
            </a:r>
          </a:p>
          <a:p>
            <a:pPr>
              <a:buChar char="•"/>
            </a:pPr>
            <a:endParaRPr lang="en-IN" sz="3200" dirty="0">
              <a:cs typeface="+mn-cs"/>
            </a:endParaRPr>
          </a:p>
        </p:txBody>
      </p:sp>
      <p:pic>
        <p:nvPicPr>
          <p:cNvPr id="7170" name="Picture 2"/>
          <p:cNvPicPr>
            <a:picLocks noChangeAspect="1" noChangeArrowheads="1"/>
          </p:cNvPicPr>
          <p:nvPr/>
        </p:nvPicPr>
        <p:blipFill>
          <a:blip r:embed="rId2"/>
          <a:srcRect/>
          <a:stretch>
            <a:fillRect/>
          </a:stretch>
        </p:blipFill>
        <p:spPr bwMode="auto">
          <a:xfrm>
            <a:off x="5072066" y="1714488"/>
            <a:ext cx="3705225" cy="3667125"/>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88640"/>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a:t>
            </a:r>
            <a:r>
              <a:rPr lang="en-IN" sz="3200" dirty="0">
                <a:latin typeface="+mj-lt"/>
                <a:ea typeface="+mj-ea"/>
                <a:cs typeface="+mj-cs"/>
              </a:rPr>
              <a:t> </a:t>
            </a:r>
            <a:r>
              <a:rPr lang="en-IN" sz="3200" dirty="0" smtClean="0">
                <a:latin typeface="+mj-lt"/>
                <a:ea typeface="+mj-ea"/>
                <a:cs typeface="+mj-cs"/>
              </a:rPr>
              <a:t>Contd..</a:t>
            </a:r>
            <a:endParaRPr lang="en-IN" sz="3200" dirty="0">
              <a:latin typeface="+mj-lt"/>
              <a:ea typeface="+mj-ea"/>
              <a:cs typeface="+mj-cs"/>
            </a:endParaRPr>
          </a:p>
        </p:txBody>
      </p:sp>
    </p:spTree>
    <p:extLst>
      <p:ext uri="{BB962C8B-B14F-4D97-AF65-F5344CB8AC3E}">
        <p14:creationId xmlns="" xmlns:p14="http://schemas.microsoft.com/office/powerpoint/2010/main" val="12510410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4052886" cy="4525963"/>
          </a:xfrm>
        </p:spPr>
        <p:txBody>
          <a:bodyPr vert="horz" lIns="91440" tIns="45720" rIns="91440" bIns="45720" rtlCol="0">
            <a:normAutofit/>
          </a:bodyPr>
          <a:lstStyle/>
          <a:p>
            <a:pPr>
              <a:buChar char="•"/>
            </a:pPr>
            <a:r>
              <a:rPr lang="en-IN" sz="3200" dirty="0" smtClean="0">
                <a:cs typeface="+mn-cs"/>
              </a:rPr>
              <a:t>Rule3: If </a:t>
            </a:r>
            <a:r>
              <a:rPr lang="en-IN" sz="3200" dirty="0">
                <a:cs typeface="+mn-cs"/>
              </a:rPr>
              <a:t>it forms a rectangle</a:t>
            </a:r>
          </a:p>
          <a:p>
            <a:pPr>
              <a:buChar char="•"/>
            </a:pPr>
            <a:r>
              <a:rPr lang="en-IN" sz="3200" dirty="0" smtClean="0">
                <a:cs typeface="+mn-cs"/>
              </a:rPr>
              <a:t>Swap </a:t>
            </a:r>
            <a:r>
              <a:rPr lang="en-IN" sz="3200" dirty="0">
                <a:cs typeface="+mn-cs"/>
              </a:rPr>
              <a:t>the letters with the ones on the end of the rectangle</a:t>
            </a:r>
          </a:p>
          <a:p>
            <a:pPr>
              <a:buChar char="•"/>
            </a:pPr>
            <a:r>
              <a:rPr lang="en-IN" sz="3200" dirty="0">
                <a:cs typeface="+mn-cs"/>
              </a:rPr>
              <a:t>Encoded text :QZ</a:t>
            </a:r>
          </a:p>
        </p:txBody>
      </p:sp>
      <p:pic>
        <p:nvPicPr>
          <p:cNvPr id="8194" name="Picture 2"/>
          <p:cNvPicPr>
            <a:picLocks noChangeAspect="1" noChangeArrowheads="1"/>
          </p:cNvPicPr>
          <p:nvPr/>
        </p:nvPicPr>
        <p:blipFill>
          <a:blip r:embed="rId2"/>
          <a:srcRect/>
          <a:stretch>
            <a:fillRect/>
          </a:stretch>
        </p:blipFill>
        <p:spPr bwMode="auto">
          <a:xfrm>
            <a:off x="5143504" y="1571612"/>
            <a:ext cx="3705225" cy="3705225"/>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88640"/>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a:t>
            </a:r>
            <a:r>
              <a:rPr lang="en-IN" sz="3200" dirty="0">
                <a:latin typeface="+mj-lt"/>
                <a:ea typeface="+mj-ea"/>
                <a:cs typeface="+mj-cs"/>
              </a:rPr>
              <a:t> </a:t>
            </a:r>
            <a:r>
              <a:rPr lang="en-IN" sz="3200" dirty="0" smtClean="0">
                <a:latin typeface="+mj-lt"/>
                <a:ea typeface="+mj-ea"/>
                <a:cs typeface="+mj-cs"/>
              </a:rPr>
              <a:t>Contd..</a:t>
            </a:r>
            <a:endParaRPr lang="en-IN" sz="3200" dirty="0">
              <a:latin typeface="+mj-lt"/>
              <a:ea typeface="+mj-ea"/>
              <a:cs typeface="+mj-cs"/>
            </a:endParaRPr>
          </a:p>
        </p:txBody>
      </p:sp>
    </p:spTree>
    <p:extLst>
      <p:ext uri="{BB962C8B-B14F-4D97-AF65-F5344CB8AC3E}">
        <p14:creationId xmlns="" xmlns:p14="http://schemas.microsoft.com/office/powerpoint/2010/main" val="1493539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4267200" cy="4525963"/>
          </a:xfrm>
        </p:spPr>
        <p:txBody>
          <a:bodyPr vert="horz" lIns="91440" tIns="45720" rIns="91440" bIns="45720" rtlCol="0">
            <a:normAutofit/>
          </a:bodyPr>
          <a:lstStyle/>
          <a:p>
            <a:pPr>
              <a:buChar char="•"/>
            </a:pPr>
            <a:r>
              <a:rPr lang="en-IN" sz="3200" dirty="0" smtClean="0">
                <a:cs typeface="+mn-cs"/>
              </a:rPr>
              <a:t>Rule3: If </a:t>
            </a:r>
            <a:r>
              <a:rPr lang="en-IN" sz="3200" dirty="0">
                <a:cs typeface="+mn-cs"/>
              </a:rPr>
              <a:t>it forms a rectangle</a:t>
            </a:r>
          </a:p>
          <a:p>
            <a:pPr>
              <a:buChar char="•"/>
            </a:pPr>
            <a:r>
              <a:rPr lang="en-IN" sz="3200" dirty="0" smtClean="0">
                <a:cs typeface="+mn-cs"/>
              </a:rPr>
              <a:t>Swap </a:t>
            </a:r>
            <a:r>
              <a:rPr lang="en-IN" sz="3200" dirty="0">
                <a:cs typeface="+mn-cs"/>
              </a:rPr>
              <a:t>the letters with the ones on the end of the rectangle</a:t>
            </a:r>
          </a:p>
          <a:p>
            <a:pPr>
              <a:buChar char="•"/>
            </a:pPr>
            <a:r>
              <a:rPr lang="en-IN" sz="3200" dirty="0">
                <a:cs typeface="+mn-cs"/>
              </a:rPr>
              <a:t>Encoded text :PC</a:t>
            </a:r>
          </a:p>
          <a:p>
            <a:pPr>
              <a:buChar char="•"/>
            </a:pPr>
            <a:endParaRPr lang="en-IN" sz="3200" dirty="0">
              <a:cs typeface="+mn-cs"/>
            </a:endParaRPr>
          </a:p>
        </p:txBody>
      </p:sp>
      <p:pic>
        <p:nvPicPr>
          <p:cNvPr id="9218" name="Picture 2"/>
          <p:cNvPicPr>
            <a:picLocks noChangeAspect="1" noChangeArrowheads="1"/>
          </p:cNvPicPr>
          <p:nvPr/>
        </p:nvPicPr>
        <p:blipFill>
          <a:blip r:embed="rId2"/>
          <a:srcRect/>
          <a:stretch>
            <a:fillRect/>
          </a:stretch>
        </p:blipFill>
        <p:spPr bwMode="auto">
          <a:xfrm>
            <a:off x="5072066" y="1714488"/>
            <a:ext cx="3771900" cy="3705225"/>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88640"/>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a:t>
            </a:r>
            <a:r>
              <a:rPr lang="en-IN" sz="3200" dirty="0">
                <a:latin typeface="+mj-lt"/>
                <a:ea typeface="+mj-ea"/>
                <a:cs typeface="+mj-cs"/>
              </a:rPr>
              <a:t> </a:t>
            </a:r>
            <a:r>
              <a:rPr lang="en-IN" sz="3200" dirty="0" smtClean="0">
                <a:latin typeface="+mj-lt"/>
                <a:ea typeface="+mj-ea"/>
                <a:cs typeface="+mj-cs"/>
              </a:rPr>
              <a:t>Contd..</a:t>
            </a:r>
            <a:endParaRPr lang="en-IN" sz="3200" dirty="0">
              <a:latin typeface="+mj-lt"/>
              <a:ea typeface="+mj-ea"/>
              <a:cs typeface="+mj-cs"/>
            </a:endParaRPr>
          </a:p>
        </p:txBody>
      </p:sp>
    </p:spTree>
    <p:extLst>
      <p:ext uri="{BB962C8B-B14F-4D97-AF65-F5344CB8AC3E}">
        <p14:creationId xmlns="" xmlns:p14="http://schemas.microsoft.com/office/powerpoint/2010/main" val="38140893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4410076" cy="4525963"/>
          </a:xfrm>
        </p:spPr>
        <p:txBody>
          <a:bodyPr vert="horz" lIns="91440" tIns="45720" rIns="91440" bIns="45720" rtlCol="0">
            <a:normAutofit/>
          </a:bodyPr>
          <a:lstStyle/>
          <a:p>
            <a:pPr>
              <a:buChar char="•"/>
            </a:pPr>
            <a:r>
              <a:rPr lang="en-IN" sz="3200" dirty="0">
                <a:cs typeface="+mn-cs"/>
              </a:rPr>
              <a:t>Rule </a:t>
            </a:r>
            <a:r>
              <a:rPr lang="en-IN" sz="3200" dirty="0" smtClean="0">
                <a:cs typeface="+mn-cs"/>
              </a:rPr>
              <a:t>1: If </a:t>
            </a:r>
            <a:r>
              <a:rPr lang="en-IN" sz="3200" dirty="0">
                <a:cs typeface="+mn-cs"/>
              </a:rPr>
              <a:t>in same column</a:t>
            </a:r>
          </a:p>
          <a:p>
            <a:pPr>
              <a:buChar char="•"/>
            </a:pPr>
            <a:r>
              <a:rPr lang="en-IN" sz="3200" dirty="0" smtClean="0">
                <a:cs typeface="+mn-cs"/>
              </a:rPr>
              <a:t>Move </a:t>
            </a:r>
            <a:r>
              <a:rPr lang="en-IN" sz="3200" dirty="0">
                <a:cs typeface="+mn-cs"/>
              </a:rPr>
              <a:t>each letter down one</a:t>
            </a:r>
          </a:p>
          <a:p>
            <a:pPr>
              <a:buChar char="•"/>
            </a:pPr>
            <a:r>
              <a:rPr lang="en-IN" sz="3200" dirty="0" smtClean="0">
                <a:cs typeface="+mn-cs"/>
              </a:rPr>
              <a:t>Upon </a:t>
            </a:r>
            <a:r>
              <a:rPr lang="en-IN" sz="3200" dirty="0">
                <a:cs typeface="+mn-cs"/>
              </a:rPr>
              <a:t>reaching end of table ,wrap around</a:t>
            </a:r>
          </a:p>
          <a:p>
            <a:pPr>
              <a:buChar char="•"/>
            </a:pPr>
            <a:r>
              <a:rPr lang="en-IN" sz="3200" dirty="0">
                <a:cs typeface="+mn-cs"/>
              </a:rPr>
              <a:t>Encoded Text :ND</a:t>
            </a:r>
          </a:p>
          <a:p>
            <a:pPr>
              <a:buChar char="•"/>
            </a:pPr>
            <a:endParaRPr lang="en-IN" sz="3200" dirty="0">
              <a:cs typeface="+mn-cs"/>
            </a:endParaRPr>
          </a:p>
        </p:txBody>
      </p:sp>
      <p:pic>
        <p:nvPicPr>
          <p:cNvPr id="10242" name="Picture 2"/>
          <p:cNvPicPr>
            <a:picLocks noChangeAspect="1" noChangeArrowheads="1"/>
          </p:cNvPicPr>
          <p:nvPr/>
        </p:nvPicPr>
        <p:blipFill>
          <a:blip r:embed="rId2"/>
          <a:srcRect/>
          <a:stretch>
            <a:fillRect/>
          </a:stretch>
        </p:blipFill>
        <p:spPr bwMode="auto">
          <a:xfrm>
            <a:off x="4929190" y="1714488"/>
            <a:ext cx="3686175" cy="3638550"/>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88640"/>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a:t>
            </a:r>
            <a:r>
              <a:rPr lang="en-IN" sz="3200" dirty="0">
                <a:latin typeface="+mj-lt"/>
                <a:ea typeface="+mj-ea"/>
                <a:cs typeface="+mj-cs"/>
              </a:rPr>
              <a:t> </a:t>
            </a:r>
            <a:r>
              <a:rPr lang="en-IN" sz="3200" dirty="0" smtClean="0">
                <a:latin typeface="+mj-lt"/>
                <a:ea typeface="+mj-ea"/>
                <a:cs typeface="+mj-cs"/>
              </a:rPr>
              <a:t>Contd..</a:t>
            </a:r>
            <a:endParaRPr lang="en-IN" sz="3200" dirty="0">
              <a:latin typeface="+mj-lt"/>
              <a:ea typeface="+mj-ea"/>
              <a:cs typeface="+mj-cs"/>
            </a:endParaRPr>
          </a:p>
        </p:txBody>
      </p:sp>
    </p:spTree>
    <p:extLst>
      <p:ext uri="{BB962C8B-B14F-4D97-AF65-F5344CB8AC3E}">
        <p14:creationId xmlns="" xmlns:p14="http://schemas.microsoft.com/office/powerpoint/2010/main" val="170607998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r>
              <a:rPr lang="en-IN" sz="3200" dirty="0">
                <a:cs typeface="+mn-cs"/>
              </a:rPr>
              <a:t> </a:t>
            </a:r>
            <a:r>
              <a:rPr lang="en-IN" sz="3200" b="1" dirty="0">
                <a:cs typeface="+mn-cs"/>
              </a:rPr>
              <a:t>Original text :</a:t>
            </a:r>
          </a:p>
          <a:p>
            <a:pPr marL="0" indent="0"/>
            <a:r>
              <a:rPr lang="en-IN" sz="3200" dirty="0" smtClean="0">
                <a:cs typeface="+mn-cs"/>
              </a:rPr>
              <a:t>		 SECRET MESSAGE</a:t>
            </a:r>
          </a:p>
          <a:p>
            <a:pPr marL="0" indent="0"/>
            <a:r>
              <a:rPr lang="en-IN" sz="3200" dirty="0">
                <a:cs typeface="+mn-cs"/>
              </a:rPr>
              <a:t>	</a:t>
            </a:r>
            <a:r>
              <a:rPr lang="en-IN" sz="3200" dirty="0" smtClean="0">
                <a:cs typeface="+mn-cs"/>
              </a:rPr>
              <a:t>	 SECRETMESSAGE</a:t>
            </a:r>
          </a:p>
          <a:p>
            <a:pPr marL="0" indent="0"/>
            <a:r>
              <a:rPr lang="en-IN" sz="3200" dirty="0">
                <a:cs typeface="+mn-cs"/>
              </a:rPr>
              <a:t>	</a:t>
            </a:r>
            <a:r>
              <a:rPr lang="en-IN" sz="3200" dirty="0" smtClean="0">
                <a:cs typeface="+mn-cs"/>
              </a:rPr>
              <a:t>	 SE </a:t>
            </a:r>
            <a:r>
              <a:rPr lang="en-IN" sz="3200" dirty="0">
                <a:cs typeface="+mn-cs"/>
              </a:rPr>
              <a:t>CR ET ME SX SA GE</a:t>
            </a:r>
          </a:p>
          <a:p>
            <a:pPr>
              <a:buChar char="•"/>
            </a:pPr>
            <a:r>
              <a:rPr lang="en-IN" sz="3200" b="1" dirty="0">
                <a:cs typeface="+mn-cs"/>
              </a:rPr>
              <a:t>Cipher text:</a:t>
            </a:r>
          </a:p>
          <a:p>
            <a:pPr marL="0" indent="0"/>
            <a:r>
              <a:rPr lang="en-IN" sz="3200" dirty="0">
                <a:cs typeface="+mn-cs"/>
              </a:rPr>
              <a:t>                   </a:t>
            </a:r>
            <a:r>
              <a:rPr lang="en-IN" sz="3200" dirty="0" smtClean="0">
                <a:cs typeface="+mn-cs"/>
              </a:rPr>
              <a:t> NORDKUNKQZPCND</a:t>
            </a:r>
            <a:endParaRPr lang="en-IN" sz="3200" dirty="0">
              <a:cs typeface="+mn-cs"/>
            </a:endParaRPr>
          </a:p>
        </p:txBody>
      </p:sp>
      <p:sp>
        <p:nvSpPr>
          <p:cNvPr id="7" name="Content Placeholder 2"/>
          <p:cNvSpPr>
            <a:spLocks noGrp="1"/>
          </p:cNvSpPr>
          <p:nvPr>
            <p:ph sz="quarter" idx="10"/>
          </p:nvPr>
        </p:nvSpPr>
        <p:spPr>
          <a:xfrm>
            <a:off x="304800" y="188640"/>
            <a:ext cx="5851376" cy="923903"/>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a:t>
            </a:r>
            <a:r>
              <a:rPr lang="en-IN" sz="3200" dirty="0">
                <a:latin typeface="+mj-lt"/>
                <a:ea typeface="+mj-ea"/>
                <a:cs typeface="+mj-cs"/>
              </a:rPr>
              <a:t> </a:t>
            </a:r>
            <a:r>
              <a:rPr lang="en-IN" sz="3200" dirty="0" smtClean="0">
                <a:latin typeface="+mj-lt"/>
                <a:ea typeface="+mj-ea"/>
                <a:cs typeface="+mj-cs"/>
              </a:rPr>
              <a:t>Contd..</a:t>
            </a:r>
            <a:endParaRPr lang="en-IN" sz="3200" dirty="0">
              <a:latin typeface="+mj-lt"/>
              <a:ea typeface="+mj-ea"/>
              <a:cs typeface="+mj-cs"/>
            </a:endParaRPr>
          </a:p>
        </p:txBody>
      </p:sp>
    </p:spTree>
    <p:extLst>
      <p:ext uri="{BB962C8B-B14F-4D97-AF65-F5344CB8AC3E}">
        <p14:creationId xmlns="" xmlns:p14="http://schemas.microsoft.com/office/powerpoint/2010/main" val="257279964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3140968"/>
            <a:ext cx="7128792" cy="1152128"/>
          </a:xfrm>
        </p:spPr>
        <p:txBody>
          <a:bodyPr/>
          <a:lstStyle/>
          <a:p>
            <a:pPr algn="ctr"/>
            <a:r>
              <a:rPr lang="en-US" b="1" dirty="0"/>
              <a:t>Polyalphabetic Cipher</a:t>
            </a:r>
          </a:p>
        </p:txBody>
      </p:sp>
    </p:spTree>
    <p:extLst>
      <p:ext uri="{BB962C8B-B14F-4D97-AF65-F5344CB8AC3E}">
        <p14:creationId xmlns="" xmlns:p14="http://schemas.microsoft.com/office/powerpoint/2010/main" val="190918327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84784"/>
            <a:ext cx="8229600" cy="4896544"/>
          </a:xfrm>
        </p:spPr>
        <p:txBody>
          <a:bodyPr vert="horz" lIns="91440" tIns="45720" rIns="91440" bIns="45720" rtlCol="0">
            <a:normAutofit fontScale="77500" lnSpcReduction="20000"/>
          </a:bodyPr>
          <a:lstStyle/>
          <a:p>
            <a:pPr lvl="1"/>
            <a:r>
              <a:rPr lang="en-IN" dirty="0"/>
              <a:t>In Caesar Cipher and Playfair Cipher, each plaintext character is encrypted with a known ciphertext character. The ciphertext character for a plaintext character can be computed in advance and it is fixed if the key is known. These types of ciphers are called monoalphabetic ciphers.</a:t>
            </a:r>
          </a:p>
          <a:p>
            <a:pPr lvl="1"/>
            <a:endParaRPr lang="en-IN" dirty="0"/>
          </a:p>
          <a:p>
            <a:pPr lvl="1"/>
            <a:r>
              <a:rPr lang="en-IN" dirty="0"/>
              <a:t>One of the ways to improve on the simple monoalphabetic technique is to use different monoalphabetic substitutions as one proceeds through the plaintext message. </a:t>
            </a:r>
          </a:p>
          <a:p>
            <a:pPr lvl="1"/>
            <a:endParaRPr lang="en-IN" dirty="0"/>
          </a:p>
          <a:p>
            <a:pPr lvl="1"/>
            <a:r>
              <a:rPr lang="en-IN" dirty="0"/>
              <a:t>The general name for this approach is polyalphabetic substitution cipher.  </a:t>
            </a:r>
          </a:p>
          <a:p>
            <a:pPr lvl="1"/>
            <a:endParaRPr lang="en-IN" dirty="0"/>
          </a:p>
          <a:p>
            <a:pPr lvl="1"/>
            <a:r>
              <a:rPr lang="en-IN" dirty="0"/>
              <a:t>All these techniques have the following features in common:</a:t>
            </a:r>
          </a:p>
          <a:p>
            <a:pPr lvl="3"/>
            <a:r>
              <a:rPr lang="en-IN" dirty="0">
                <a:latin typeface="+mn-lt"/>
                <a:cs typeface="+mn-cs"/>
              </a:rPr>
              <a:t>A set of related monoalphabetic substitution rules is used.</a:t>
            </a:r>
          </a:p>
          <a:p>
            <a:pPr lvl="3"/>
            <a:r>
              <a:rPr lang="en-IN" dirty="0">
                <a:latin typeface="+mn-lt"/>
                <a:cs typeface="+mn-cs"/>
              </a:rPr>
              <a:t>A key determines which particular rule is chosen for a given transformation.</a:t>
            </a: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Polyalphabetic Cipher</a:t>
            </a:r>
          </a:p>
        </p:txBody>
      </p:sp>
    </p:spTree>
    <p:extLst>
      <p:ext uri="{BB962C8B-B14F-4D97-AF65-F5344CB8AC3E}">
        <p14:creationId xmlns="" xmlns:p14="http://schemas.microsoft.com/office/powerpoint/2010/main" val="352272739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959499"/>
          </a:xfrm>
        </p:spPr>
        <p:txBody>
          <a:bodyPr vert="horz" lIns="91440" tIns="45720" rIns="91440" bIns="45720" rtlCol="0">
            <a:normAutofit fontScale="77500" lnSpcReduction="20000"/>
          </a:bodyPr>
          <a:lstStyle/>
          <a:p>
            <a:pPr>
              <a:buChar char="•"/>
            </a:pPr>
            <a:r>
              <a:rPr lang="en-IN" sz="3200" dirty="0" smtClean="0">
                <a:cs typeface="+mn-cs"/>
              </a:rPr>
              <a:t>One </a:t>
            </a:r>
            <a:r>
              <a:rPr lang="en-IN" sz="3200" dirty="0">
                <a:cs typeface="+mn-cs"/>
              </a:rPr>
              <a:t>of the simplest polyalphabetic cipher. Named after Blaise de </a:t>
            </a:r>
            <a:r>
              <a:rPr lang="en-IN" sz="3200" dirty="0" err="1">
                <a:cs typeface="+mn-cs"/>
              </a:rPr>
              <a:t>Vigenère</a:t>
            </a:r>
            <a:r>
              <a:rPr lang="en-IN" sz="3200" dirty="0">
                <a:cs typeface="+mn-cs"/>
              </a:rPr>
              <a:t>, a 19th century cryptographer in France.</a:t>
            </a:r>
          </a:p>
          <a:p>
            <a:pPr>
              <a:buChar char="•"/>
            </a:pPr>
            <a:r>
              <a:rPr lang="en-IN" sz="3200" dirty="0">
                <a:cs typeface="+mn-cs"/>
              </a:rPr>
              <a:t>There is a sequence of n plaintext letters:</a:t>
            </a:r>
          </a:p>
          <a:p>
            <a:pPr lvl="1"/>
            <a:r>
              <a:rPr lang="en-IN" dirty="0"/>
              <a:t>P = p0, p1, p2, p3,...</a:t>
            </a:r>
            <a:r>
              <a:rPr lang="en-IN" dirty="0" smtClean="0"/>
              <a:t>pn-1</a:t>
            </a:r>
          </a:p>
          <a:p>
            <a:pPr marL="457200" lvl="1" indent="0">
              <a:buNone/>
            </a:pPr>
            <a:endParaRPr lang="en-IN" dirty="0"/>
          </a:p>
          <a:p>
            <a:pPr>
              <a:buChar char="•"/>
            </a:pPr>
            <a:r>
              <a:rPr lang="en-IN" sz="3200" dirty="0">
                <a:cs typeface="+mn-cs"/>
              </a:rPr>
              <a:t>There is a key consisting of m letters (assuming m &lt; n)</a:t>
            </a:r>
          </a:p>
          <a:p>
            <a:pPr lvl="1"/>
            <a:r>
              <a:rPr lang="en-IN" dirty="0"/>
              <a:t>K = k0, k1, k2, k3,...km-1</a:t>
            </a:r>
          </a:p>
          <a:p>
            <a:pPr lvl="1"/>
            <a:endParaRPr lang="en-IN" dirty="0"/>
          </a:p>
          <a:p>
            <a:pPr>
              <a:buChar char="•"/>
            </a:pPr>
            <a:r>
              <a:rPr lang="en-IN" sz="3200" dirty="0">
                <a:cs typeface="+mn-cs"/>
              </a:rPr>
              <a:t>The sequence of n </a:t>
            </a:r>
            <a:r>
              <a:rPr lang="en-IN" sz="3200" dirty="0" err="1">
                <a:cs typeface="+mn-cs"/>
              </a:rPr>
              <a:t>ciphertext</a:t>
            </a:r>
            <a:r>
              <a:rPr lang="en-IN" sz="3200" dirty="0">
                <a:cs typeface="+mn-cs"/>
              </a:rPr>
              <a:t> letters are calculated as:</a:t>
            </a:r>
          </a:p>
          <a:p>
            <a:pPr lvl="1"/>
            <a:r>
              <a:rPr lang="en-IN" dirty="0"/>
              <a:t>Ci = (pi + </a:t>
            </a:r>
            <a:r>
              <a:rPr lang="en-IN" dirty="0" err="1"/>
              <a:t>ki</a:t>
            </a:r>
            <a:r>
              <a:rPr lang="en-IN" dirty="0"/>
              <a:t>) mod 26; where </a:t>
            </a:r>
            <a:r>
              <a:rPr lang="en-IN" dirty="0" err="1"/>
              <a:t>i</a:t>
            </a:r>
            <a:r>
              <a:rPr lang="en-IN" dirty="0"/>
              <a:t> = 0 to (n-1)</a:t>
            </a:r>
          </a:p>
          <a:p>
            <a:pPr>
              <a:buChar char="•"/>
            </a:pPr>
            <a:endParaRPr lang="en-IN" sz="3200" dirty="0">
              <a:cs typeface="+mn-cs"/>
            </a:endParaRPr>
          </a:p>
          <a:p>
            <a:pPr>
              <a:buChar char="•"/>
            </a:pPr>
            <a:r>
              <a:rPr lang="en-IN" sz="3200" dirty="0">
                <a:cs typeface="+mn-cs"/>
              </a:rPr>
              <a:t>Similarly, the plaintext is restored from </a:t>
            </a:r>
            <a:r>
              <a:rPr lang="en-IN" sz="3200" dirty="0" err="1">
                <a:cs typeface="+mn-cs"/>
              </a:rPr>
              <a:t>ciphertext</a:t>
            </a:r>
            <a:r>
              <a:rPr lang="en-IN" sz="3200" dirty="0">
                <a:cs typeface="+mn-cs"/>
              </a:rPr>
              <a:t> as: </a:t>
            </a:r>
          </a:p>
          <a:p>
            <a:pPr lvl="1"/>
            <a:r>
              <a:rPr lang="en-IN" dirty="0"/>
              <a:t>pi = (Ci - </a:t>
            </a:r>
            <a:r>
              <a:rPr lang="en-IN" dirty="0" err="1"/>
              <a:t>ki</a:t>
            </a:r>
            <a:r>
              <a:rPr lang="en-IN" dirty="0"/>
              <a:t>) mod 26; where </a:t>
            </a:r>
            <a:r>
              <a:rPr lang="en-IN" dirty="0" err="1"/>
              <a:t>i</a:t>
            </a:r>
            <a:r>
              <a:rPr lang="en-IN" dirty="0"/>
              <a:t> = 0 to (n-1)</a:t>
            </a:r>
          </a:p>
          <a:p>
            <a:pPr lvl="1"/>
            <a:endParaRPr lang="en-IN" dirty="0"/>
          </a:p>
          <a:p>
            <a:pPr>
              <a:buChar char="•"/>
            </a:pPr>
            <a:endParaRPr lang="en-IN" sz="3200" dirty="0">
              <a:cs typeface="+mn-cs"/>
            </a:endParaRPr>
          </a:p>
          <a:p>
            <a:pPr>
              <a:buChar char="•"/>
            </a:pPr>
            <a:endParaRPr lang="en-IN" sz="3200" dirty="0">
              <a:cs typeface="+mn-cs"/>
            </a:endParaRPr>
          </a:p>
          <a:p>
            <a:pPr>
              <a:buChar char="•"/>
            </a:pPr>
            <a:endParaRPr lang="en-IN" sz="3200" dirty="0">
              <a:cs typeface="+mn-cs"/>
            </a:endParaRPr>
          </a:p>
          <a:p>
            <a:pPr>
              <a:buChar char="•"/>
            </a:pPr>
            <a:endParaRPr lang="en-IN" sz="3200" dirty="0">
              <a:cs typeface="+mn-cs"/>
            </a:endParaRPr>
          </a:p>
          <a:p>
            <a:pPr lvl="1"/>
            <a:endParaRPr lang="en-IN" dirty="0"/>
          </a:p>
          <a:p>
            <a:pPr lvl="1"/>
            <a:endParaRPr lang="en-IN" dirty="0"/>
          </a:p>
          <a:p>
            <a:pPr lvl="2"/>
            <a:endParaRPr lang="en-IN" dirty="0">
              <a:latin typeface="+mn-lt"/>
              <a:cs typeface="+mn-cs"/>
            </a:endParaRPr>
          </a:p>
          <a:p>
            <a:pPr lvl="2"/>
            <a:endParaRPr lang="en-IN" dirty="0">
              <a:latin typeface="+mn-lt"/>
              <a:cs typeface="+mn-cs"/>
            </a:endParaRPr>
          </a:p>
          <a:p>
            <a:pPr lvl="2"/>
            <a:endParaRPr lang="en-IN" dirty="0">
              <a:latin typeface="+mn-lt"/>
              <a:cs typeface="+mn-cs"/>
            </a:endParaRPr>
          </a:p>
          <a:p>
            <a:pPr lvl="2"/>
            <a:endParaRPr lang="en-IN" dirty="0">
              <a:latin typeface="+mn-lt"/>
              <a:cs typeface="+mn-cs"/>
            </a:endParaRPr>
          </a:p>
          <a:p>
            <a:pPr lvl="2"/>
            <a:endParaRPr lang="en-IN" dirty="0">
              <a:latin typeface="+mn-lt"/>
              <a:cs typeface="+mn-cs"/>
            </a:endParaRPr>
          </a:p>
          <a:p>
            <a:pPr lvl="1"/>
            <a:endParaRPr lang="en-IN" dirty="0"/>
          </a:p>
          <a:p>
            <a:pPr lvl="2"/>
            <a:endParaRPr lang="en-IN" dirty="0">
              <a:latin typeface="+mn-lt"/>
              <a:cs typeface="+mn-cs"/>
            </a:endParaRPr>
          </a:p>
          <a:p>
            <a:pPr>
              <a:buChar char="•"/>
            </a:pPr>
            <a:endParaRPr lang="en-IN" sz="3200" dirty="0">
              <a:cs typeface="+mn-cs"/>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Vigenère Cipher</a:t>
            </a:r>
          </a:p>
        </p:txBody>
      </p:sp>
      <p:pic>
        <p:nvPicPr>
          <p:cNvPr id="11266" name="Picture 2" descr="https://upload.wikimedia.org/wikipedia/commons/thumb/1/1a/Vigenere.jpg/220px-Vigenere.jpg"/>
          <p:cNvPicPr>
            <a:picLocks noChangeAspect="1" noChangeArrowheads="1"/>
          </p:cNvPicPr>
          <p:nvPr/>
        </p:nvPicPr>
        <p:blipFill>
          <a:blip r:embed="rId2" cstate="print"/>
          <a:srcRect/>
          <a:stretch>
            <a:fillRect/>
          </a:stretch>
        </p:blipFill>
        <p:spPr bwMode="auto">
          <a:xfrm>
            <a:off x="4572000" y="102468"/>
            <a:ext cx="924102" cy="1192932"/>
          </a:xfrm>
          <a:prstGeom prst="rect">
            <a:avLst/>
          </a:prstGeom>
          <a:noFill/>
        </p:spPr>
      </p:pic>
    </p:spTree>
    <p:extLst>
      <p:ext uri="{BB962C8B-B14F-4D97-AF65-F5344CB8AC3E}">
        <p14:creationId xmlns="" xmlns:p14="http://schemas.microsoft.com/office/powerpoint/2010/main" val="895208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smtClean="0"/>
              <a:t>Keyword = </a:t>
            </a:r>
            <a:r>
              <a:rPr lang="en-IN" sz="2000" dirty="0" smtClean="0">
                <a:latin typeface="Courier New" pitchFamily="49" charset="0"/>
                <a:cs typeface="Courier New" pitchFamily="49" charset="0"/>
              </a:rPr>
              <a:t>deceptive</a:t>
            </a:r>
          </a:p>
          <a:p>
            <a:r>
              <a:rPr lang="en-IN" dirty="0" smtClean="0"/>
              <a:t>Plaintext message = </a:t>
            </a:r>
            <a:r>
              <a:rPr lang="en-IN" sz="2000" dirty="0" smtClean="0">
                <a:latin typeface="Courier New" pitchFamily="49" charset="0"/>
                <a:cs typeface="Courier New" pitchFamily="49" charset="0"/>
              </a:rPr>
              <a:t>we are discovered save yourself</a:t>
            </a:r>
          </a:p>
          <a:p>
            <a:r>
              <a:rPr lang="en-IN" dirty="0" smtClean="0"/>
              <a:t>Ciphertext will be calculated as follows:</a:t>
            </a:r>
          </a:p>
          <a:p>
            <a:endParaRPr lang="en-IN" sz="2000" dirty="0" smtClean="0">
              <a:latin typeface="Courier New" pitchFamily="49" charset="0"/>
              <a:cs typeface="Courier New" pitchFamily="49" charset="0"/>
            </a:endParaRPr>
          </a:p>
          <a:p>
            <a:r>
              <a:rPr lang="en-IN" sz="2000" dirty="0" smtClean="0">
                <a:latin typeface="Courier New" pitchFamily="49" charset="0"/>
                <a:cs typeface="Courier New" pitchFamily="49" charset="0"/>
              </a:rPr>
              <a:t>key:        </a:t>
            </a:r>
            <a:r>
              <a:rPr lang="en-IN" sz="2000" dirty="0" err="1" smtClean="0">
                <a:latin typeface="Courier New" pitchFamily="49" charset="0"/>
                <a:cs typeface="Courier New" pitchFamily="49" charset="0"/>
              </a:rPr>
              <a:t>deceptivedeceptivedeceptive</a:t>
            </a:r>
            <a:endParaRPr lang="en-IN" sz="2000" dirty="0" smtClean="0">
              <a:latin typeface="Courier New" pitchFamily="49" charset="0"/>
              <a:cs typeface="Courier New" pitchFamily="49" charset="0"/>
            </a:endParaRPr>
          </a:p>
          <a:p>
            <a:r>
              <a:rPr lang="en-IN" sz="2000" dirty="0" smtClean="0">
                <a:latin typeface="Courier New" pitchFamily="49" charset="0"/>
                <a:cs typeface="Courier New" pitchFamily="49" charset="0"/>
              </a:rPr>
              <a:t>plaintext:  </a:t>
            </a:r>
            <a:r>
              <a:rPr lang="en-IN" sz="2000" dirty="0" err="1" smtClean="0">
                <a:latin typeface="Courier New" pitchFamily="49" charset="0"/>
                <a:cs typeface="Courier New" pitchFamily="49" charset="0"/>
              </a:rPr>
              <a:t>wearediscoveredsaveyourself</a:t>
            </a:r>
            <a:endParaRPr lang="en-IN" sz="2000" dirty="0" smtClean="0">
              <a:latin typeface="Courier New" pitchFamily="49" charset="0"/>
              <a:cs typeface="Courier New" pitchFamily="49" charset="0"/>
            </a:endParaRPr>
          </a:p>
          <a:p>
            <a:r>
              <a:rPr lang="en-IN" sz="2000" dirty="0" smtClean="0">
                <a:latin typeface="Courier New" pitchFamily="49" charset="0"/>
                <a:cs typeface="Courier New" pitchFamily="49" charset="0"/>
              </a:rPr>
              <a:t>ciphertext: </a:t>
            </a:r>
            <a:r>
              <a:rPr lang="en-IN" sz="2000" b="1" dirty="0" smtClean="0">
                <a:solidFill>
                  <a:srgbClr val="00B050"/>
                </a:solidFill>
                <a:latin typeface="Courier New" pitchFamily="49" charset="0"/>
                <a:cs typeface="Courier New" pitchFamily="49" charset="0"/>
              </a:rPr>
              <a:t>ZICVTWQNGRZGVTWAVZHCQYGLMGJ</a:t>
            </a:r>
            <a:endParaRPr lang="en-IN" sz="2000" b="1" dirty="0">
              <a:solidFill>
                <a:srgbClr val="00B050"/>
              </a:solidFill>
              <a:latin typeface="Courier New" pitchFamily="49" charset="0"/>
              <a:cs typeface="Courier New" pitchFamily="49" charset="0"/>
            </a:endParaRPr>
          </a:p>
        </p:txBody>
      </p:sp>
      <p:sp>
        <p:nvSpPr>
          <p:cNvPr id="3" name="Content Placeholder 2"/>
          <p:cNvSpPr>
            <a:spLocks noGrp="1"/>
          </p:cNvSpPr>
          <p:nvPr>
            <p:ph sz="quarter" idx="10"/>
          </p:nvPr>
        </p:nvSpPr>
        <p:spPr>
          <a:xfrm>
            <a:off x="304800" y="152400"/>
            <a:ext cx="6324600" cy="1048320"/>
          </a:xfrm>
        </p:spPr>
        <p:txBody>
          <a:bodyPr vert="horz" lIns="91440" tIns="45720" rIns="91440" bIns="45720" rtlCol="0" anchor="ctr" anchorCtr="0">
            <a:normAutofit/>
          </a:bodyPr>
          <a:lstStyle/>
          <a:p>
            <a:pPr>
              <a:spcBef>
                <a:spcPct val="0"/>
              </a:spcBef>
            </a:pPr>
            <a:r>
              <a:rPr lang="en-IN" sz="3200" dirty="0">
                <a:latin typeface="+mj-lt"/>
                <a:ea typeface="+mj-ea"/>
                <a:cs typeface="+mj-cs"/>
              </a:rPr>
              <a:t>Vigenère Cipher</a:t>
            </a:r>
          </a:p>
          <a:p>
            <a:pPr>
              <a:spcBef>
                <a:spcPct val="0"/>
              </a:spcBef>
            </a:pPr>
            <a:r>
              <a:rPr lang="en-IN" sz="3200" dirty="0">
                <a:latin typeface="+mj-lt"/>
                <a:ea typeface="+mj-ea"/>
                <a:cs typeface="+mj-cs"/>
              </a:rPr>
              <a:t>Example</a:t>
            </a:r>
          </a:p>
        </p:txBody>
      </p:sp>
      <p:pic>
        <p:nvPicPr>
          <p:cNvPr id="7" name="Picture 2"/>
          <p:cNvPicPr>
            <a:picLocks noChangeAspect="1" noChangeArrowheads="1"/>
          </p:cNvPicPr>
          <p:nvPr/>
        </p:nvPicPr>
        <p:blipFill>
          <a:blip r:embed="rId2" cstate="print"/>
          <a:srcRect l="34898" t="45939" r="25744" b="39919"/>
          <a:stretch>
            <a:fillRect/>
          </a:stretch>
        </p:blipFill>
        <p:spPr bwMode="auto">
          <a:xfrm>
            <a:off x="1187624" y="4941168"/>
            <a:ext cx="6059474" cy="1224136"/>
          </a:xfrm>
          <a:prstGeom prst="rect">
            <a:avLst/>
          </a:prstGeom>
          <a:noFill/>
          <a:ln w="9525">
            <a:noFill/>
            <a:miter lim="800000"/>
            <a:headEnd/>
            <a:tailEnd/>
          </a:ln>
        </p:spPr>
      </p:pic>
      <p:grpSp>
        <p:nvGrpSpPr>
          <p:cNvPr id="10" name="Group 9"/>
          <p:cNvGrpSpPr/>
          <p:nvPr/>
        </p:nvGrpSpPr>
        <p:grpSpPr>
          <a:xfrm>
            <a:off x="2123728" y="3429000"/>
            <a:ext cx="288032" cy="1008112"/>
            <a:chOff x="2123728" y="3429000"/>
            <a:chExt cx="288032" cy="1008112"/>
          </a:xfrm>
        </p:grpSpPr>
        <p:sp>
          <p:nvSpPr>
            <p:cNvPr id="8" name="Rectangle 7"/>
            <p:cNvSpPr/>
            <p:nvPr/>
          </p:nvSpPr>
          <p:spPr>
            <a:xfrm>
              <a:off x="2195736" y="3429000"/>
              <a:ext cx="216024" cy="6480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9" name="Rectangle 8"/>
            <p:cNvSpPr/>
            <p:nvPr/>
          </p:nvSpPr>
          <p:spPr>
            <a:xfrm>
              <a:off x="2123728" y="4149080"/>
              <a:ext cx="288032" cy="28803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grpSp>
        <p:nvGrpSpPr>
          <p:cNvPr id="11" name="Group 10"/>
          <p:cNvGrpSpPr/>
          <p:nvPr/>
        </p:nvGrpSpPr>
        <p:grpSpPr>
          <a:xfrm>
            <a:off x="5076056" y="3429000"/>
            <a:ext cx="216024" cy="1008112"/>
            <a:chOff x="2195736" y="3429000"/>
            <a:chExt cx="216024" cy="1008112"/>
          </a:xfrm>
        </p:grpSpPr>
        <p:sp>
          <p:nvSpPr>
            <p:cNvPr id="12" name="Rectangle 11"/>
            <p:cNvSpPr/>
            <p:nvPr/>
          </p:nvSpPr>
          <p:spPr>
            <a:xfrm>
              <a:off x="2195736" y="3429000"/>
              <a:ext cx="216024" cy="6480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3" name="Rectangle 12"/>
            <p:cNvSpPr/>
            <p:nvPr/>
          </p:nvSpPr>
          <p:spPr>
            <a:xfrm>
              <a:off x="2195736" y="4149080"/>
              <a:ext cx="216024" cy="28803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grpSp>
        <p:nvGrpSpPr>
          <p:cNvPr id="14" name="Group 13"/>
          <p:cNvGrpSpPr/>
          <p:nvPr/>
        </p:nvGrpSpPr>
        <p:grpSpPr>
          <a:xfrm>
            <a:off x="2483768" y="3429000"/>
            <a:ext cx="216024" cy="1008112"/>
            <a:chOff x="2195736" y="3429000"/>
            <a:chExt cx="216024" cy="1008112"/>
          </a:xfrm>
        </p:grpSpPr>
        <p:sp>
          <p:nvSpPr>
            <p:cNvPr id="15" name="Rectangle 14"/>
            <p:cNvSpPr/>
            <p:nvPr/>
          </p:nvSpPr>
          <p:spPr>
            <a:xfrm>
              <a:off x="2195736" y="3429000"/>
              <a:ext cx="216024" cy="6480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6" name="Rectangle 15"/>
            <p:cNvSpPr/>
            <p:nvPr/>
          </p:nvSpPr>
          <p:spPr>
            <a:xfrm>
              <a:off x="2195736" y="4149080"/>
              <a:ext cx="216024" cy="28803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grpSp>
        <p:nvGrpSpPr>
          <p:cNvPr id="17" name="Group 16"/>
          <p:cNvGrpSpPr/>
          <p:nvPr/>
        </p:nvGrpSpPr>
        <p:grpSpPr>
          <a:xfrm>
            <a:off x="4644008" y="3429000"/>
            <a:ext cx="216024" cy="1008112"/>
            <a:chOff x="2195736" y="3429000"/>
            <a:chExt cx="216024" cy="1008112"/>
          </a:xfrm>
        </p:grpSpPr>
        <p:sp>
          <p:nvSpPr>
            <p:cNvPr id="18" name="Rectangle 17"/>
            <p:cNvSpPr/>
            <p:nvPr/>
          </p:nvSpPr>
          <p:spPr>
            <a:xfrm>
              <a:off x="2195736" y="3429000"/>
              <a:ext cx="216024" cy="6480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19" name="Rectangle 18"/>
            <p:cNvSpPr/>
            <p:nvPr/>
          </p:nvSpPr>
          <p:spPr>
            <a:xfrm>
              <a:off x="2195736" y="4149080"/>
              <a:ext cx="216024" cy="28803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Tree>
    <p:extLst>
      <p:ext uri="{BB962C8B-B14F-4D97-AF65-F5344CB8AC3E}">
        <p14:creationId xmlns="" xmlns:p14="http://schemas.microsoft.com/office/powerpoint/2010/main" val="15260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5078435"/>
          </a:xfrm>
        </p:spPr>
        <p:txBody>
          <a:bodyPr>
            <a:normAutofit/>
          </a:bodyPr>
          <a:lstStyle/>
          <a:p>
            <a:r>
              <a:rPr lang="en-IN" sz="2400" dirty="0" smtClean="0"/>
              <a:t> Plaintext  –She is listening</a:t>
            </a:r>
          </a:p>
          <a:p>
            <a:r>
              <a:rPr lang="en-IN" sz="2400" dirty="0" smtClean="0"/>
              <a:t> Key –PASCAL</a:t>
            </a:r>
          </a:p>
          <a:p>
            <a:r>
              <a:rPr lang="en-IN" sz="2400" b="1" dirty="0" smtClean="0"/>
              <a:t>              </a:t>
            </a:r>
            <a:r>
              <a:rPr lang="en-IN" sz="2400" b="1" dirty="0" err="1" smtClean="0"/>
              <a:t>C</a:t>
            </a:r>
            <a:r>
              <a:rPr lang="en-IN" sz="2400" b="1" baseline="-25000" dirty="0" err="1" smtClean="0"/>
              <a:t>i</a:t>
            </a:r>
            <a:r>
              <a:rPr lang="en-IN" sz="2400" b="1" dirty="0" smtClean="0"/>
              <a:t> = (p</a:t>
            </a:r>
            <a:r>
              <a:rPr lang="en-IN" sz="2400" b="1" baseline="-25000" dirty="0" smtClean="0"/>
              <a:t>i</a:t>
            </a:r>
            <a:r>
              <a:rPr lang="en-IN" sz="2400" b="1" dirty="0" smtClean="0"/>
              <a:t> + k) mod 26</a:t>
            </a:r>
          </a:p>
          <a:p>
            <a:r>
              <a:rPr lang="en-IN" sz="2400" b="1" dirty="0" smtClean="0"/>
              <a:t>              p</a:t>
            </a:r>
            <a:r>
              <a:rPr lang="en-IN" sz="2400" b="1" baseline="-25000" dirty="0" smtClean="0"/>
              <a:t>i</a:t>
            </a:r>
            <a:r>
              <a:rPr lang="en-IN" sz="2400" b="1" dirty="0" smtClean="0"/>
              <a:t> = (</a:t>
            </a:r>
            <a:r>
              <a:rPr lang="en-IN" sz="2400" b="1" dirty="0" err="1" smtClean="0"/>
              <a:t>C</a:t>
            </a:r>
            <a:r>
              <a:rPr lang="en-IN" sz="2400" b="1" baseline="-25000" dirty="0" err="1" smtClean="0"/>
              <a:t>i</a:t>
            </a:r>
            <a:r>
              <a:rPr lang="en-IN" sz="2400" b="1" dirty="0" smtClean="0"/>
              <a:t> - k) mod 26 </a:t>
            </a:r>
          </a:p>
          <a:p>
            <a:r>
              <a:rPr lang="en-IN" b="1" u="sng" dirty="0" smtClean="0"/>
              <a:t>Encryption </a:t>
            </a:r>
          </a:p>
          <a:p>
            <a:endParaRPr lang="en-IN" b="1" dirty="0" smtClean="0"/>
          </a:p>
          <a:p>
            <a:endParaRPr lang="en-IN" b="1" dirty="0" smtClean="0"/>
          </a:p>
          <a:p>
            <a:endParaRPr lang="en-IN" b="1" dirty="0" smtClean="0"/>
          </a:p>
          <a:p>
            <a:r>
              <a:rPr lang="en-IN" b="1" dirty="0" smtClean="0"/>
              <a:t>            </a:t>
            </a:r>
          </a:p>
          <a:p>
            <a:endParaRPr lang="en-IN" dirty="0"/>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Example 2</a:t>
            </a:r>
          </a:p>
        </p:txBody>
      </p:sp>
      <p:graphicFrame>
        <p:nvGraphicFramePr>
          <p:cNvPr id="4" name="Table 3"/>
          <p:cNvGraphicFramePr>
            <a:graphicFrameLocks noGrp="1"/>
          </p:cNvGraphicFramePr>
          <p:nvPr/>
        </p:nvGraphicFramePr>
        <p:xfrm>
          <a:off x="1285852" y="3857628"/>
          <a:ext cx="6834226" cy="2194560"/>
        </p:xfrm>
        <a:graphic>
          <a:graphicData uri="http://schemas.openxmlformats.org/drawingml/2006/table">
            <a:tbl>
              <a:tblPr firstRow="1" bandRow="1">
                <a:tableStyleId>{5C22544A-7EE6-4342-B048-85BDC9FD1C3A}</a:tableStyleId>
              </a:tblPr>
              <a:tblGrid>
                <a:gridCol w="500066"/>
                <a:gridCol w="476252"/>
                <a:gridCol w="488159"/>
                <a:gridCol w="488159"/>
                <a:gridCol w="488159"/>
                <a:gridCol w="488159"/>
                <a:gridCol w="488159"/>
                <a:gridCol w="488159"/>
                <a:gridCol w="488159"/>
                <a:gridCol w="488159"/>
                <a:gridCol w="488159"/>
                <a:gridCol w="488159"/>
                <a:gridCol w="488159"/>
                <a:gridCol w="488159"/>
              </a:tblGrid>
              <a:tr h="0">
                <a:tc>
                  <a:txBody>
                    <a:bodyPr/>
                    <a:lstStyle/>
                    <a:p>
                      <a:r>
                        <a:rPr lang="en-IN" dirty="0" smtClean="0"/>
                        <a:t>S</a:t>
                      </a:r>
                      <a:endParaRPr lang="en-IN" dirty="0"/>
                    </a:p>
                  </a:txBody>
                  <a:tcPr/>
                </a:tc>
                <a:tc>
                  <a:txBody>
                    <a:bodyPr/>
                    <a:lstStyle/>
                    <a:p>
                      <a:r>
                        <a:rPr lang="en-IN" dirty="0" smtClean="0"/>
                        <a:t>H</a:t>
                      </a:r>
                      <a:endParaRPr lang="en-IN" dirty="0"/>
                    </a:p>
                  </a:txBody>
                  <a:tcPr/>
                </a:tc>
                <a:tc>
                  <a:txBody>
                    <a:bodyPr/>
                    <a:lstStyle/>
                    <a:p>
                      <a:r>
                        <a:rPr lang="en-IN" dirty="0" smtClean="0"/>
                        <a:t>E</a:t>
                      </a:r>
                      <a:endParaRPr lang="en-IN" dirty="0"/>
                    </a:p>
                  </a:txBody>
                  <a:tcPr/>
                </a:tc>
                <a:tc>
                  <a:txBody>
                    <a:bodyPr/>
                    <a:lstStyle/>
                    <a:p>
                      <a:r>
                        <a:rPr lang="en-IN" dirty="0" smtClean="0"/>
                        <a:t>I</a:t>
                      </a:r>
                      <a:endParaRPr lang="en-IN" dirty="0"/>
                    </a:p>
                  </a:txBody>
                  <a:tcPr/>
                </a:tc>
                <a:tc>
                  <a:txBody>
                    <a:bodyPr/>
                    <a:lstStyle/>
                    <a:p>
                      <a:r>
                        <a:rPr lang="en-IN" dirty="0" smtClean="0"/>
                        <a:t>S</a:t>
                      </a:r>
                      <a:endParaRPr lang="en-IN" dirty="0"/>
                    </a:p>
                  </a:txBody>
                  <a:tcPr/>
                </a:tc>
                <a:tc>
                  <a:txBody>
                    <a:bodyPr/>
                    <a:lstStyle/>
                    <a:p>
                      <a:r>
                        <a:rPr lang="en-IN" dirty="0" smtClean="0"/>
                        <a:t>L</a:t>
                      </a:r>
                      <a:endParaRPr lang="en-IN" dirty="0"/>
                    </a:p>
                  </a:txBody>
                  <a:tcPr/>
                </a:tc>
                <a:tc>
                  <a:txBody>
                    <a:bodyPr/>
                    <a:lstStyle/>
                    <a:p>
                      <a:r>
                        <a:rPr lang="en-IN" dirty="0" smtClean="0"/>
                        <a:t>I</a:t>
                      </a:r>
                      <a:endParaRPr lang="en-IN" dirty="0"/>
                    </a:p>
                  </a:txBody>
                  <a:tcPr/>
                </a:tc>
                <a:tc>
                  <a:txBody>
                    <a:bodyPr/>
                    <a:lstStyle/>
                    <a:p>
                      <a:r>
                        <a:rPr lang="en-IN" dirty="0" smtClean="0"/>
                        <a:t>S</a:t>
                      </a:r>
                      <a:endParaRPr lang="en-IN" dirty="0"/>
                    </a:p>
                  </a:txBody>
                  <a:tcPr/>
                </a:tc>
                <a:tc>
                  <a:txBody>
                    <a:bodyPr/>
                    <a:lstStyle/>
                    <a:p>
                      <a:r>
                        <a:rPr lang="en-IN" dirty="0" smtClean="0"/>
                        <a:t>T</a:t>
                      </a:r>
                      <a:endParaRPr lang="en-IN" dirty="0"/>
                    </a:p>
                  </a:txBody>
                  <a:tcPr/>
                </a:tc>
                <a:tc>
                  <a:txBody>
                    <a:bodyPr/>
                    <a:lstStyle/>
                    <a:p>
                      <a:r>
                        <a:rPr lang="en-IN" dirty="0" smtClean="0"/>
                        <a:t>E</a:t>
                      </a:r>
                      <a:endParaRPr lang="en-IN" dirty="0"/>
                    </a:p>
                  </a:txBody>
                  <a:tcPr/>
                </a:tc>
                <a:tc>
                  <a:txBody>
                    <a:bodyPr/>
                    <a:lstStyle/>
                    <a:p>
                      <a:r>
                        <a:rPr lang="en-IN" dirty="0" smtClean="0"/>
                        <a:t>N</a:t>
                      </a:r>
                      <a:endParaRPr lang="en-IN" dirty="0"/>
                    </a:p>
                  </a:txBody>
                  <a:tcPr/>
                </a:tc>
                <a:tc>
                  <a:txBody>
                    <a:bodyPr/>
                    <a:lstStyle/>
                    <a:p>
                      <a:r>
                        <a:rPr lang="en-IN" dirty="0" smtClean="0"/>
                        <a:t>I</a:t>
                      </a:r>
                      <a:endParaRPr lang="en-IN" dirty="0"/>
                    </a:p>
                  </a:txBody>
                  <a:tcPr/>
                </a:tc>
                <a:tc>
                  <a:txBody>
                    <a:bodyPr/>
                    <a:lstStyle/>
                    <a:p>
                      <a:r>
                        <a:rPr lang="en-IN" dirty="0" smtClean="0"/>
                        <a:t>N</a:t>
                      </a:r>
                      <a:endParaRPr lang="en-IN" dirty="0"/>
                    </a:p>
                  </a:txBody>
                  <a:tcPr/>
                </a:tc>
                <a:tc>
                  <a:txBody>
                    <a:bodyPr/>
                    <a:lstStyle/>
                    <a:p>
                      <a:r>
                        <a:rPr lang="en-IN" dirty="0" smtClean="0"/>
                        <a:t>G</a:t>
                      </a:r>
                      <a:endParaRPr lang="en-IN" dirty="0"/>
                    </a:p>
                  </a:txBody>
                  <a:tcPr/>
                </a:tc>
              </a:tr>
              <a:tr h="0">
                <a:tc>
                  <a:txBody>
                    <a:bodyPr/>
                    <a:lstStyle/>
                    <a:p>
                      <a:r>
                        <a:rPr lang="en-IN" dirty="0" smtClean="0"/>
                        <a:t>18</a:t>
                      </a:r>
                      <a:endParaRPr lang="en-IN" dirty="0"/>
                    </a:p>
                  </a:txBody>
                  <a:tcPr/>
                </a:tc>
                <a:tc>
                  <a:txBody>
                    <a:bodyPr/>
                    <a:lstStyle/>
                    <a:p>
                      <a:r>
                        <a:rPr lang="en-IN" dirty="0" smtClean="0"/>
                        <a:t>7</a:t>
                      </a:r>
                      <a:endParaRPr lang="en-IN" dirty="0"/>
                    </a:p>
                  </a:txBody>
                  <a:tcPr/>
                </a:tc>
                <a:tc>
                  <a:txBody>
                    <a:bodyPr/>
                    <a:lstStyle/>
                    <a:p>
                      <a:r>
                        <a:rPr lang="en-IN" dirty="0" smtClean="0"/>
                        <a:t>4</a:t>
                      </a:r>
                      <a:endParaRPr lang="en-IN" dirty="0"/>
                    </a:p>
                  </a:txBody>
                  <a:tcPr/>
                </a:tc>
                <a:tc>
                  <a:txBody>
                    <a:bodyPr/>
                    <a:lstStyle/>
                    <a:p>
                      <a:r>
                        <a:rPr lang="en-IN" dirty="0" smtClean="0"/>
                        <a:t>8</a:t>
                      </a:r>
                      <a:endParaRPr lang="en-IN" dirty="0"/>
                    </a:p>
                  </a:txBody>
                  <a:tcPr/>
                </a:tc>
                <a:tc>
                  <a:txBody>
                    <a:bodyPr/>
                    <a:lstStyle/>
                    <a:p>
                      <a:r>
                        <a:rPr lang="en-IN" dirty="0" smtClean="0"/>
                        <a:t>18</a:t>
                      </a:r>
                      <a:endParaRPr lang="en-IN" dirty="0"/>
                    </a:p>
                  </a:txBody>
                  <a:tcPr/>
                </a:tc>
                <a:tc>
                  <a:txBody>
                    <a:bodyPr/>
                    <a:lstStyle/>
                    <a:p>
                      <a:r>
                        <a:rPr lang="en-IN" dirty="0" smtClean="0"/>
                        <a:t>11</a:t>
                      </a:r>
                      <a:endParaRPr lang="en-IN" dirty="0"/>
                    </a:p>
                  </a:txBody>
                  <a:tcPr/>
                </a:tc>
                <a:tc>
                  <a:txBody>
                    <a:bodyPr/>
                    <a:lstStyle/>
                    <a:p>
                      <a:r>
                        <a:rPr lang="en-IN" dirty="0" smtClean="0"/>
                        <a:t>8</a:t>
                      </a:r>
                      <a:endParaRPr lang="en-IN" dirty="0"/>
                    </a:p>
                  </a:txBody>
                  <a:tcPr/>
                </a:tc>
                <a:tc>
                  <a:txBody>
                    <a:bodyPr/>
                    <a:lstStyle/>
                    <a:p>
                      <a:r>
                        <a:rPr lang="en-IN" dirty="0" smtClean="0"/>
                        <a:t>18</a:t>
                      </a:r>
                      <a:endParaRPr lang="en-IN" dirty="0"/>
                    </a:p>
                  </a:txBody>
                  <a:tcPr/>
                </a:tc>
                <a:tc>
                  <a:txBody>
                    <a:bodyPr/>
                    <a:lstStyle/>
                    <a:p>
                      <a:r>
                        <a:rPr lang="en-IN" dirty="0" smtClean="0"/>
                        <a:t>19</a:t>
                      </a:r>
                      <a:endParaRPr lang="en-IN" dirty="0"/>
                    </a:p>
                  </a:txBody>
                  <a:tcPr/>
                </a:tc>
                <a:tc>
                  <a:txBody>
                    <a:bodyPr/>
                    <a:lstStyle/>
                    <a:p>
                      <a:r>
                        <a:rPr lang="en-IN" dirty="0" smtClean="0"/>
                        <a:t>4</a:t>
                      </a:r>
                      <a:endParaRPr lang="en-IN" dirty="0"/>
                    </a:p>
                  </a:txBody>
                  <a:tcPr/>
                </a:tc>
                <a:tc>
                  <a:txBody>
                    <a:bodyPr/>
                    <a:lstStyle/>
                    <a:p>
                      <a:r>
                        <a:rPr lang="en-IN" dirty="0" smtClean="0"/>
                        <a:t>13</a:t>
                      </a:r>
                      <a:endParaRPr lang="en-IN" dirty="0"/>
                    </a:p>
                  </a:txBody>
                  <a:tcPr/>
                </a:tc>
                <a:tc>
                  <a:txBody>
                    <a:bodyPr/>
                    <a:lstStyle/>
                    <a:p>
                      <a:r>
                        <a:rPr lang="en-IN" dirty="0" smtClean="0"/>
                        <a:t>8</a:t>
                      </a:r>
                      <a:endParaRPr lang="en-IN" dirty="0"/>
                    </a:p>
                  </a:txBody>
                  <a:tcPr/>
                </a:tc>
                <a:tc>
                  <a:txBody>
                    <a:bodyPr/>
                    <a:lstStyle/>
                    <a:p>
                      <a:r>
                        <a:rPr lang="en-IN" dirty="0" smtClean="0"/>
                        <a:t>13</a:t>
                      </a:r>
                      <a:endParaRPr lang="en-IN" dirty="0"/>
                    </a:p>
                  </a:txBody>
                  <a:tcPr/>
                </a:tc>
                <a:tc>
                  <a:txBody>
                    <a:bodyPr/>
                    <a:lstStyle/>
                    <a:p>
                      <a:r>
                        <a:rPr lang="en-IN" dirty="0" smtClean="0"/>
                        <a:t>6</a:t>
                      </a:r>
                      <a:endParaRPr lang="en-IN" dirty="0"/>
                    </a:p>
                  </a:txBody>
                  <a:tcPr/>
                </a:tc>
              </a:tr>
              <a:tr h="0">
                <a:tc>
                  <a:txBody>
                    <a:bodyPr/>
                    <a:lstStyle/>
                    <a:p>
                      <a:r>
                        <a:rPr lang="en-IN" dirty="0" smtClean="0"/>
                        <a:t>P</a:t>
                      </a:r>
                      <a:endParaRPr lang="en-IN" dirty="0"/>
                    </a:p>
                  </a:txBody>
                  <a:tcPr/>
                </a:tc>
                <a:tc>
                  <a:txBody>
                    <a:bodyPr/>
                    <a:lstStyle/>
                    <a:p>
                      <a:r>
                        <a:rPr lang="en-IN" dirty="0" smtClean="0"/>
                        <a:t>A</a:t>
                      </a:r>
                      <a:endParaRPr lang="en-IN" dirty="0"/>
                    </a:p>
                  </a:txBody>
                  <a:tcPr/>
                </a:tc>
                <a:tc>
                  <a:txBody>
                    <a:bodyPr/>
                    <a:lstStyle/>
                    <a:p>
                      <a:r>
                        <a:rPr lang="en-IN" dirty="0" smtClean="0"/>
                        <a:t>S</a:t>
                      </a:r>
                      <a:endParaRPr lang="en-IN" dirty="0"/>
                    </a:p>
                  </a:txBody>
                  <a:tcPr/>
                </a:tc>
                <a:tc>
                  <a:txBody>
                    <a:bodyPr/>
                    <a:lstStyle/>
                    <a:p>
                      <a:r>
                        <a:rPr lang="en-IN" dirty="0" smtClean="0"/>
                        <a:t>C</a:t>
                      </a:r>
                      <a:endParaRPr lang="en-IN" dirty="0"/>
                    </a:p>
                  </a:txBody>
                  <a:tcPr/>
                </a:tc>
                <a:tc>
                  <a:txBody>
                    <a:bodyPr/>
                    <a:lstStyle/>
                    <a:p>
                      <a:r>
                        <a:rPr lang="en-IN" dirty="0" smtClean="0"/>
                        <a:t>A</a:t>
                      </a:r>
                      <a:endParaRPr lang="en-IN" dirty="0"/>
                    </a:p>
                  </a:txBody>
                  <a:tcPr/>
                </a:tc>
                <a:tc>
                  <a:txBody>
                    <a:bodyPr/>
                    <a:lstStyle/>
                    <a:p>
                      <a:r>
                        <a:rPr lang="en-IN" dirty="0" smtClean="0"/>
                        <a:t>L</a:t>
                      </a:r>
                      <a:endParaRPr lang="en-IN" dirty="0"/>
                    </a:p>
                  </a:txBody>
                  <a:tcPr/>
                </a:tc>
                <a:tc>
                  <a:txBody>
                    <a:bodyPr/>
                    <a:lstStyle/>
                    <a:p>
                      <a:r>
                        <a:rPr lang="en-IN" dirty="0" smtClean="0"/>
                        <a:t>P</a:t>
                      </a:r>
                      <a:endParaRPr lang="en-IN" dirty="0"/>
                    </a:p>
                  </a:txBody>
                  <a:tcPr/>
                </a:tc>
                <a:tc>
                  <a:txBody>
                    <a:bodyPr/>
                    <a:lstStyle/>
                    <a:p>
                      <a:r>
                        <a:rPr lang="en-IN" dirty="0" smtClean="0"/>
                        <a:t>A</a:t>
                      </a:r>
                      <a:endParaRPr lang="en-IN" dirty="0"/>
                    </a:p>
                  </a:txBody>
                  <a:tcPr/>
                </a:tc>
                <a:tc>
                  <a:txBody>
                    <a:bodyPr/>
                    <a:lstStyle/>
                    <a:p>
                      <a:r>
                        <a:rPr lang="en-IN" dirty="0" smtClean="0"/>
                        <a:t>S</a:t>
                      </a:r>
                      <a:endParaRPr lang="en-IN" dirty="0"/>
                    </a:p>
                  </a:txBody>
                  <a:tcPr/>
                </a:tc>
                <a:tc>
                  <a:txBody>
                    <a:bodyPr/>
                    <a:lstStyle/>
                    <a:p>
                      <a:r>
                        <a:rPr lang="en-IN" dirty="0" smtClean="0"/>
                        <a:t>C</a:t>
                      </a:r>
                      <a:endParaRPr lang="en-IN" dirty="0"/>
                    </a:p>
                  </a:txBody>
                  <a:tcPr/>
                </a:tc>
                <a:tc>
                  <a:txBody>
                    <a:bodyPr/>
                    <a:lstStyle/>
                    <a:p>
                      <a:r>
                        <a:rPr lang="en-IN" dirty="0" smtClean="0"/>
                        <a:t>A</a:t>
                      </a:r>
                      <a:endParaRPr lang="en-IN" dirty="0"/>
                    </a:p>
                  </a:txBody>
                  <a:tcPr/>
                </a:tc>
                <a:tc>
                  <a:txBody>
                    <a:bodyPr/>
                    <a:lstStyle/>
                    <a:p>
                      <a:r>
                        <a:rPr lang="en-IN" dirty="0" smtClean="0"/>
                        <a:t>L</a:t>
                      </a:r>
                      <a:endParaRPr lang="en-IN" dirty="0"/>
                    </a:p>
                  </a:txBody>
                  <a:tcPr/>
                </a:tc>
                <a:tc>
                  <a:txBody>
                    <a:bodyPr/>
                    <a:lstStyle/>
                    <a:p>
                      <a:r>
                        <a:rPr lang="en-IN" dirty="0" smtClean="0"/>
                        <a:t>P</a:t>
                      </a:r>
                      <a:endParaRPr lang="en-IN" dirty="0"/>
                    </a:p>
                  </a:txBody>
                  <a:tcPr/>
                </a:tc>
                <a:tc>
                  <a:txBody>
                    <a:bodyPr/>
                    <a:lstStyle/>
                    <a:p>
                      <a:r>
                        <a:rPr lang="en-IN" dirty="0" smtClean="0"/>
                        <a:t>A</a:t>
                      </a:r>
                      <a:endParaRPr lang="en-IN" dirty="0"/>
                    </a:p>
                  </a:txBody>
                  <a:tcPr/>
                </a:tc>
              </a:tr>
              <a:tr h="0">
                <a:tc>
                  <a:txBody>
                    <a:bodyPr/>
                    <a:lstStyle/>
                    <a:p>
                      <a:r>
                        <a:rPr lang="en-IN" dirty="0" smtClean="0"/>
                        <a:t>15</a:t>
                      </a:r>
                      <a:endParaRPr lang="en-IN" dirty="0"/>
                    </a:p>
                  </a:txBody>
                  <a:tcPr/>
                </a:tc>
                <a:tc>
                  <a:txBody>
                    <a:bodyPr/>
                    <a:lstStyle/>
                    <a:p>
                      <a:r>
                        <a:rPr lang="en-IN" dirty="0" smtClean="0"/>
                        <a:t>0</a:t>
                      </a:r>
                      <a:endParaRPr lang="en-IN" dirty="0"/>
                    </a:p>
                  </a:txBody>
                  <a:tcPr/>
                </a:tc>
                <a:tc>
                  <a:txBody>
                    <a:bodyPr/>
                    <a:lstStyle/>
                    <a:p>
                      <a:r>
                        <a:rPr lang="en-IN" dirty="0" smtClean="0"/>
                        <a:t>18</a:t>
                      </a:r>
                      <a:endParaRPr lang="en-IN" dirty="0"/>
                    </a:p>
                  </a:txBody>
                  <a:tcPr/>
                </a:tc>
                <a:tc>
                  <a:txBody>
                    <a:bodyPr/>
                    <a:lstStyle/>
                    <a:p>
                      <a:r>
                        <a:rPr lang="en-IN" dirty="0" smtClean="0"/>
                        <a:t>2</a:t>
                      </a:r>
                      <a:endParaRPr lang="en-IN" dirty="0"/>
                    </a:p>
                  </a:txBody>
                  <a:tcPr/>
                </a:tc>
                <a:tc>
                  <a:txBody>
                    <a:bodyPr/>
                    <a:lstStyle/>
                    <a:p>
                      <a:r>
                        <a:rPr lang="en-IN" dirty="0" smtClean="0"/>
                        <a:t>0</a:t>
                      </a:r>
                      <a:endParaRPr lang="en-IN" dirty="0"/>
                    </a:p>
                  </a:txBody>
                  <a:tcPr/>
                </a:tc>
                <a:tc>
                  <a:txBody>
                    <a:bodyPr/>
                    <a:lstStyle/>
                    <a:p>
                      <a:r>
                        <a:rPr lang="en-IN" dirty="0" smtClean="0"/>
                        <a:t>11</a:t>
                      </a:r>
                      <a:endParaRPr lang="en-IN" dirty="0"/>
                    </a:p>
                  </a:txBody>
                  <a:tcPr/>
                </a:tc>
                <a:tc>
                  <a:txBody>
                    <a:bodyPr/>
                    <a:lstStyle/>
                    <a:p>
                      <a:r>
                        <a:rPr lang="en-IN" dirty="0" smtClean="0"/>
                        <a:t>15</a:t>
                      </a:r>
                      <a:endParaRPr lang="en-IN" dirty="0"/>
                    </a:p>
                  </a:txBody>
                  <a:tcPr/>
                </a:tc>
                <a:tc>
                  <a:txBody>
                    <a:bodyPr/>
                    <a:lstStyle/>
                    <a:p>
                      <a:r>
                        <a:rPr lang="en-IN" dirty="0" smtClean="0"/>
                        <a:t>0</a:t>
                      </a:r>
                      <a:endParaRPr lang="en-IN" dirty="0"/>
                    </a:p>
                  </a:txBody>
                  <a:tcPr/>
                </a:tc>
                <a:tc>
                  <a:txBody>
                    <a:bodyPr/>
                    <a:lstStyle/>
                    <a:p>
                      <a:r>
                        <a:rPr lang="en-IN" dirty="0" smtClean="0"/>
                        <a:t>18</a:t>
                      </a:r>
                      <a:endParaRPr lang="en-IN" dirty="0"/>
                    </a:p>
                  </a:txBody>
                  <a:tcPr/>
                </a:tc>
                <a:tc>
                  <a:txBody>
                    <a:bodyPr/>
                    <a:lstStyle/>
                    <a:p>
                      <a:r>
                        <a:rPr lang="en-IN" dirty="0" smtClean="0"/>
                        <a:t>2</a:t>
                      </a:r>
                      <a:endParaRPr lang="en-IN" dirty="0"/>
                    </a:p>
                  </a:txBody>
                  <a:tcPr/>
                </a:tc>
                <a:tc>
                  <a:txBody>
                    <a:bodyPr/>
                    <a:lstStyle/>
                    <a:p>
                      <a:r>
                        <a:rPr lang="en-IN" dirty="0" smtClean="0"/>
                        <a:t>0</a:t>
                      </a:r>
                      <a:endParaRPr lang="en-IN" dirty="0"/>
                    </a:p>
                  </a:txBody>
                  <a:tcPr/>
                </a:tc>
                <a:tc>
                  <a:txBody>
                    <a:bodyPr/>
                    <a:lstStyle/>
                    <a:p>
                      <a:r>
                        <a:rPr lang="en-IN" dirty="0" smtClean="0"/>
                        <a:t>11</a:t>
                      </a:r>
                      <a:endParaRPr lang="en-IN" dirty="0"/>
                    </a:p>
                  </a:txBody>
                  <a:tcPr/>
                </a:tc>
                <a:tc>
                  <a:txBody>
                    <a:bodyPr/>
                    <a:lstStyle/>
                    <a:p>
                      <a:r>
                        <a:rPr lang="en-IN" dirty="0" smtClean="0"/>
                        <a:t>15</a:t>
                      </a:r>
                      <a:endParaRPr lang="en-IN" dirty="0"/>
                    </a:p>
                  </a:txBody>
                  <a:tcPr/>
                </a:tc>
                <a:tc>
                  <a:txBody>
                    <a:bodyPr/>
                    <a:lstStyle/>
                    <a:p>
                      <a:r>
                        <a:rPr lang="en-IN" dirty="0" smtClean="0"/>
                        <a:t>0</a:t>
                      </a:r>
                      <a:endParaRPr lang="en-IN" dirty="0"/>
                    </a:p>
                  </a:txBody>
                  <a:tcPr/>
                </a:tc>
              </a:tr>
              <a:tr h="0">
                <a:tc>
                  <a:txBody>
                    <a:bodyPr/>
                    <a:lstStyle/>
                    <a:p>
                      <a:r>
                        <a:rPr lang="en-IN" dirty="0" smtClean="0"/>
                        <a:t>7</a:t>
                      </a:r>
                      <a:endParaRPr lang="en-IN" dirty="0"/>
                    </a:p>
                  </a:txBody>
                  <a:tcPr/>
                </a:tc>
                <a:tc>
                  <a:txBody>
                    <a:bodyPr/>
                    <a:lstStyle/>
                    <a:p>
                      <a:r>
                        <a:rPr lang="en-IN" dirty="0" smtClean="0"/>
                        <a:t>7</a:t>
                      </a:r>
                      <a:endParaRPr lang="en-IN" dirty="0"/>
                    </a:p>
                  </a:txBody>
                  <a:tcPr/>
                </a:tc>
                <a:tc>
                  <a:txBody>
                    <a:bodyPr/>
                    <a:lstStyle/>
                    <a:p>
                      <a:r>
                        <a:rPr lang="en-IN" dirty="0" smtClean="0"/>
                        <a:t>22</a:t>
                      </a:r>
                      <a:endParaRPr lang="en-IN" dirty="0"/>
                    </a:p>
                  </a:txBody>
                  <a:tcPr/>
                </a:tc>
                <a:tc>
                  <a:txBody>
                    <a:bodyPr/>
                    <a:lstStyle/>
                    <a:p>
                      <a:r>
                        <a:rPr lang="en-IN" dirty="0" smtClean="0"/>
                        <a:t>10</a:t>
                      </a:r>
                      <a:endParaRPr lang="en-IN" dirty="0"/>
                    </a:p>
                  </a:txBody>
                  <a:tcPr/>
                </a:tc>
                <a:tc>
                  <a:txBody>
                    <a:bodyPr/>
                    <a:lstStyle/>
                    <a:p>
                      <a:r>
                        <a:rPr lang="en-IN" dirty="0" smtClean="0"/>
                        <a:t>18</a:t>
                      </a:r>
                      <a:endParaRPr lang="en-IN" dirty="0"/>
                    </a:p>
                  </a:txBody>
                  <a:tcPr/>
                </a:tc>
                <a:tc>
                  <a:txBody>
                    <a:bodyPr/>
                    <a:lstStyle/>
                    <a:p>
                      <a:r>
                        <a:rPr lang="en-IN" dirty="0" smtClean="0"/>
                        <a:t>22</a:t>
                      </a:r>
                      <a:endParaRPr lang="en-IN" dirty="0"/>
                    </a:p>
                  </a:txBody>
                  <a:tcPr/>
                </a:tc>
                <a:tc>
                  <a:txBody>
                    <a:bodyPr/>
                    <a:lstStyle/>
                    <a:p>
                      <a:r>
                        <a:rPr lang="en-IN" dirty="0" smtClean="0"/>
                        <a:t>23</a:t>
                      </a:r>
                      <a:endParaRPr lang="en-IN" dirty="0"/>
                    </a:p>
                  </a:txBody>
                  <a:tcPr/>
                </a:tc>
                <a:tc>
                  <a:txBody>
                    <a:bodyPr/>
                    <a:lstStyle/>
                    <a:p>
                      <a:r>
                        <a:rPr lang="en-IN" dirty="0" smtClean="0"/>
                        <a:t>18</a:t>
                      </a:r>
                      <a:endParaRPr lang="en-IN" dirty="0"/>
                    </a:p>
                  </a:txBody>
                  <a:tcPr/>
                </a:tc>
                <a:tc>
                  <a:txBody>
                    <a:bodyPr/>
                    <a:lstStyle/>
                    <a:p>
                      <a:r>
                        <a:rPr lang="en-IN" dirty="0" smtClean="0"/>
                        <a:t>11</a:t>
                      </a:r>
                      <a:endParaRPr lang="en-IN" dirty="0"/>
                    </a:p>
                  </a:txBody>
                  <a:tcPr/>
                </a:tc>
                <a:tc>
                  <a:txBody>
                    <a:bodyPr/>
                    <a:lstStyle/>
                    <a:p>
                      <a:r>
                        <a:rPr lang="en-IN" dirty="0" smtClean="0"/>
                        <a:t>6</a:t>
                      </a:r>
                      <a:endParaRPr lang="en-IN" dirty="0"/>
                    </a:p>
                  </a:txBody>
                  <a:tcPr/>
                </a:tc>
                <a:tc>
                  <a:txBody>
                    <a:bodyPr/>
                    <a:lstStyle/>
                    <a:p>
                      <a:r>
                        <a:rPr lang="en-IN" dirty="0" smtClean="0"/>
                        <a:t>13</a:t>
                      </a:r>
                      <a:endParaRPr lang="en-IN" dirty="0"/>
                    </a:p>
                  </a:txBody>
                  <a:tcPr/>
                </a:tc>
                <a:tc>
                  <a:txBody>
                    <a:bodyPr/>
                    <a:lstStyle/>
                    <a:p>
                      <a:r>
                        <a:rPr lang="en-IN" dirty="0" smtClean="0"/>
                        <a:t>19</a:t>
                      </a:r>
                      <a:endParaRPr lang="en-IN" dirty="0"/>
                    </a:p>
                  </a:txBody>
                  <a:tcPr/>
                </a:tc>
                <a:tc>
                  <a:txBody>
                    <a:bodyPr/>
                    <a:lstStyle/>
                    <a:p>
                      <a:r>
                        <a:rPr lang="en-IN" dirty="0" smtClean="0"/>
                        <a:t>2</a:t>
                      </a:r>
                      <a:endParaRPr lang="en-IN" dirty="0"/>
                    </a:p>
                  </a:txBody>
                  <a:tcPr/>
                </a:tc>
                <a:tc>
                  <a:txBody>
                    <a:bodyPr/>
                    <a:lstStyle/>
                    <a:p>
                      <a:r>
                        <a:rPr lang="en-IN" dirty="0" smtClean="0"/>
                        <a:t>6</a:t>
                      </a:r>
                      <a:endParaRPr lang="en-IN" dirty="0"/>
                    </a:p>
                  </a:txBody>
                  <a:tcPr/>
                </a:tc>
              </a:tr>
              <a:tr h="0">
                <a:tc>
                  <a:txBody>
                    <a:bodyPr/>
                    <a:lstStyle/>
                    <a:p>
                      <a:r>
                        <a:rPr lang="en-IN" dirty="0" smtClean="0"/>
                        <a:t>H</a:t>
                      </a:r>
                      <a:endParaRPr lang="en-IN" dirty="0"/>
                    </a:p>
                  </a:txBody>
                  <a:tcPr/>
                </a:tc>
                <a:tc>
                  <a:txBody>
                    <a:bodyPr/>
                    <a:lstStyle/>
                    <a:p>
                      <a:r>
                        <a:rPr lang="en-IN" dirty="0" smtClean="0"/>
                        <a:t>H</a:t>
                      </a:r>
                      <a:endParaRPr lang="en-IN" dirty="0"/>
                    </a:p>
                  </a:txBody>
                  <a:tcPr/>
                </a:tc>
                <a:tc>
                  <a:txBody>
                    <a:bodyPr/>
                    <a:lstStyle/>
                    <a:p>
                      <a:r>
                        <a:rPr lang="en-IN" dirty="0" smtClean="0"/>
                        <a:t>W</a:t>
                      </a:r>
                      <a:endParaRPr lang="en-IN" dirty="0"/>
                    </a:p>
                  </a:txBody>
                  <a:tcPr/>
                </a:tc>
                <a:tc>
                  <a:txBody>
                    <a:bodyPr/>
                    <a:lstStyle/>
                    <a:p>
                      <a:r>
                        <a:rPr lang="en-IN" dirty="0" smtClean="0"/>
                        <a:t>K</a:t>
                      </a:r>
                      <a:endParaRPr lang="en-IN" dirty="0"/>
                    </a:p>
                  </a:txBody>
                  <a:tcPr/>
                </a:tc>
                <a:tc>
                  <a:txBody>
                    <a:bodyPr/>
                    <a:lstStyle/>
                    <a:p>
                      <a:r>
                        <a:rPr lang="en-IN" dirty="0" smtClean="0"/>
                        <a:t>S</a:t>
                      </a:r>
                      <a:endParaRPr lang="en-IN" dirty="0"/>
                    </a:p>
                  </a:txBody>
                  <a:tcPr/>
                </a:tc>
                <a:tc>
                  <a:txBody>
                    <a:bodyPr/>
                    <a:lstStyle/>
                    <a:p>
                      <a:r>
                        <a:rPr lang="en-IN" dirty="0" smtClean="0"/>
                        <a:t>W</a:t>
                      </a:r>
                      <a:endParaRPr lang="en-IN" dirty="0"/>
                    </a:p>
                  </a:txBody>
                  <a:tcPr/>
                </a:tc>
                <a:tc>
                  <a:txBody>
                    <a:bodyPr/>
                    <a:lstStyle/>
                    <a:p>
                      <a:r>
                        <a:rPr lang="en-IN" dirty="0" smtClean="0"/>
                        <a:t>X</a:t>
                      </a:r>
                      <a:endParaRPr lang="en-IN" dirty="0"/>
                    </a:p>
                  </a:txBody>
                  <a:tcPr/>
                </a:tc>
                <a:tc>
                  <a:txBody>
                    <a:bodyPr/>
                    <a:lstStyle/>
                    <a:p>
                      <a:r>
                        <a:rPr lang="en-IN" dirty="0" smtClean="0"/>
                        <a:t>S</a:t>
                      </a:r>
                      <a:endParaRPr lang="en-IN" dirty="0"/>
                    </a:p>
                  </a:txBody>
                  <a:tcPr/>
                </a:tc>
                <a:tc>
                  <a:txBody>
                    <a:bodyPr/>
                    <a:lstStyle/>
                    <a:p>
                      <a:r>
                        <a:rPr lang="en-IN" dirty="0" smtClean="0"/>
                        <a:t>L</a:t>
                      </a:r>
                      <a:endParaRPr lang="en-IN" dirty="0"/>
                    </a:p>
                  </a:txBody>
                  <a:tcPr/>
                </a:tc>
                <a:tc>
                  <a:txBody>
                    <a:bodyPr/>
                    <a:lstStyle/>
                    <a:p>
                      <a:r>
                        <a:rPr lang="en-IN" dirty="0" smtClean="0"/>
                        <a:t>G</a:t>
                      </a:r>
                      <a:endParaRPr lang="en-IN" dirty="0"/>
                    </a:p>
                  </a:txBody>
                  <a:tcPr/>
                </a:tc>
                <a:tc>
                  <a:txBody>
                    <a:bodyPr/>
                    <a:lstStyle/>
                    <a:p>
                      <a:r>
                        <a:rPr lang="en-IN" dirty="0" smtClean="0"/>
                        <a:t>N</a:t>
                      </a:r>
                      <a:endParaRPr lang="en-IN" dirty="0"/>
                    </a:p>
                  </a:txBody>
                  <a:tcPr/>
                </a:tc>
                <a:tc>
                  <a:txBody>
                    <a:bodyPr/>
                    <a:lstStyle/>
                    <a:p>
                      <a:r>
                        <a:rPr lang="en-IN" dirty="0" smtClean="0"/>
                        <a:t>T</a:t>
                      </a:r>
                      <a:endParaRPr lang="en-IN" dirty="0"/>
                    </a:p>
                  </a:txBody>
                  <a:tcPr/>
                </a:tc>
                <a:tc>
                  <a:txBody>
                    <a:bodyPr/>
                    <a:lstStyle/>
                    <a:p>
                      <a:r>
                        <a:rPr lang="en-IN" dirty="0" smtClean="0"/>
                        <a:t>C</a:t>
                      </a:r>
                      <a:endParaRPr lang="en-IN" dirty="0"/>
                    </a:p>
                  </a:txBody>
                  <a:tcPr/>
                </a:tc>
                <a:tc>
                  <a:txBody>
                    <a:bodyPr/>
                    <a:lstStyle/>
                    <a:p>
                      <a:r>
                        <a:rPr lang="en-IN" dirty="0" smtClean="0"/>
                        <a:t>G</a:t>
                      </a:r>
                      <a:endParaRPr lang="en-IN" dirty="0"/>
                    </a:p>
                  </a:txBody>
                  <a:tcPr/>
                </a:tc>
              </a:tr>
            </a:tbl>
          </a:graphicData>
        </a:graphic>
      </p:graphicFrame>
      <p:sp>
        <p:nvSpPr>
          <p:cNvPr id="5" name="Curved Right Arrow 4"/>
          <p:cNvSpPr/>
          <p:nvPr/>
        </p:nvSpPr>
        <p:spPr>
          <a:xfrm>
            <a:off x="714348" y="4429132"/>
            <a:ext cx="500066" cy="121444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TextBox 6"/>
          <p:cNvSpPr txBox="1"/>
          <p:nvPr/>
        </p:nvSpPr>
        <p:spPr>
          <a:xfrm>
            <a:off x="1428728" y="6072206"/>
            <a:ext cx="6786610" cy="369332"/>
          </a:xfrm>
          <a:prstGeom prst="rect">
            <a:avLst/>
          </a:prstGeom>
          <a:noFill/>
        </p:spPr>
        <p:txBody>
          <a:bodyPr wrap="square" rtlCol="0">
            <a:spAutoFit/>
          </a:bodyPr>
          <a:lstStyle/>
          <a:p>
            <a:r>
              <a:rPr lang="en-IN" dirty="0" smtClean="0"/>
              <a:t>Cipher text  =HHWKSWXSLGNTCG</a:t>
            </a:r>
            <a:endParaRPr lang="en-IN" dirty="0"/>
          </a:p>
        </p:txBody>
      </p:sp>
    </p:spTree>
    <p:extLst>
      <p:ext uri="{BB962C8B-B14F-4D97-AF65-F5344CB8AC3E}">
        <p14:creationId xmlns="" xmlns:p14="http://schemas.microsoft.com/office/powerpoint/2010/main" val="65525397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u="sng" dirty="0" smtClean="0"/>
              <a:t>Decryption</a:t>
            </a:r>
            <a:endParaRPr lang="en-IN" u="sng" dirty="0"/>
          </a:p>
        </p:txBody>
      </p:sp>
      <p:graphicFrame>
        <p:nvGraphicFramePr>
          <p:cNvPr id="5" name="Table 4"/>
          <p:cNvGraphicFramePr>
            <a:graphicFrameLocks noGrp="1"/>
          </p:cNvGraphicFramePr>
          <p:nvPr/>
        </p:nvGraphicFramePr>
        <p:xfrm>
          <a:off x="1000100" y="2143116"/>
          <a:ext cx="6834226" cy="2194560"/>
        </p:xfrm>
        <a:graphic>
          <a:graphicData uri="http://schemas.openxmlformats.org/drawingml/2006/table">
            <a:tbl>
              <a:tblPr firstRow="1" bandRow="1">
                <a:tableStyleId>{5C22544A-7EE6-4342-B048-85BDC9FD1C3A}</a:tableStyleId>
              </a:tblPr>
              <a:tblGrid>
                <a:gridCol w="500066"/>
                <a:gridCol w="476252"/>
                <a:gridCol w="488159"/>
                <a:gridCol w="488159"/>
                <a:gridCol w="488159"/>
                <a:gridCol w="488159"/>
                <a:gridCol w="488159"/>
                <a:gridCol w="488159"/>
                <a:gridCol w="488159"/>
                <a:gridCol w="488159"/>
                <a:gridCol w="488159"/>
                <a:gridCol w="488159"/>
                <a:gridCol w="488159"/>
                <a:gridCol w="488159"/>
              </a:tblGrid>
              <a:tr h="0">
                <a:tc>
                  <a:txBody>
                    <a:bodyPr/>
                    <a:lstStyle/>
                    <a:p>
                      <a:r>
                        <a:rPr lang="en-IN" dirty="0" smtClean="0"/>
                        <a:t>H</a:t>
                      </a:r>
                      <a:endParaRPr lang="en-IN" dirty="0"/>
                    </a:p>
                  </a:txBody>
                  <a:tcPr/>
                </a:tc>
                <a:tc>
                  <a:txBody>
                    <a:bodyPr/>
                    <a:lstStyle/>
                    <a:p>
                      <a:r>
                        <a:rPr lang="en-IN" dirty="0" smtClean="0"/>
                        <a:t>H</a:t>
                      </a:r>
                      <a:endParaRPr lang="en-IN" dirty="0"/>
                    </a:p>
                  </a:txBody>
                  <a:tcPr/>
                </a:tc>
                <a:tc>
                  <a:txBody>
                    <a:bodyPr/>
                    <a:lstStyle/>
                    <a:p>
                      <a:r>
                        <a:rPr lang="en-IN" dirty="0" smtClean="0"/>
                        <a:t>W</a:t>
                      </a:r>
                      <a:endParaRPr lang="en-IN" dirty="0"/>
                    </a:p>
                  </a:txBody>
                  <a:tcPr/>
                </a:tc>
                <a:tc>
                  <a:txBody>
                    <a:bodyPr/>
                    <a:lstStyle/>
                    <a:p>
                      <a:r>
                        <a:rPr lang="en-IN" dirty="0" smtClean="0"/>
                        <a:t>K</a:t>
                      </a:r>
                      <a:endParaRPr lang="en-IN" dirty="0"/>
                    </a:p>
                  </a:txBody>
                  <a:tcPr/>
                </a:tc>
                <a:tc>
                  <a:txBody>
                    <a:bodyPr/>
                    <a:lstStyle/>
                    <a:p>
                      <a:r>
                        <a:rPr lang="en-IN" dirty="0" smtClean="0"/>
                        <a:t>S</a:t>
                      </a:r>
                      <a:endParaRPr lang="en-IN" dirty="0"/>
                    </a:p>
                  </a:txBody>
                  <a:tcPr/>
                </a:tc>
                <a:tc>
                  <a:txBody>
                    <a:bodyPr/>
                    <a:lstStyle/>
                    <a:p>
                      <a:r>
                        <a:rPr lang="en-IN" dirty="0" smtClean="0"/>
                        <a:t>W</a:t>
                      </a:r>
                      <a:endParaRPr lang="en-IN" dirty="0"/>
                    </a:p>
                  </a:txBody>
                  <a:tcPr/>
                </a:tc>
                <a:tc>
                  <a:txBody>
                    <a:bodyPr/>
                    <a:lstStyle/>
                    <a:p>
                      <a:r>
                        <a:rPr lang="en-IN" dirty="0" smtClean="0"/>
                        <a:t>X</a:t>
                      </a:r>
                      <a:endParaRPr lang="en-IN" dirty="0"/>
                    </a:p>
                  </a:txBody>
                  <a:tcPr/>
                </a:tc>
                <a:tc>
                  <a:txBody>
                    <a:bodyPr/>
                    <a:lstStyle/>
                    <a:p>
                      <a:r>
                        <a:rPr lang="en-IN" dirty="0" smtClean="0"/>
                        <a:t>S</a:t>
                      </a:r>
                      <a:endParaRPr lang="en-IN" dirty="0"/>
                    </a:p>
                  </a:txBody>
                  <a:tcPr/>
                </a:tc>
                <a:tc>
                  <a:txBody>
                    <a:bodyPr/>
                    <a:lstStyle/>
                    <a:p>
                      <a:r>
                        <a:rPr lang="en-IN" dirty="0" smtClean="0"/>
                        <a:t>L</a:t>
                      </a:r>
                      <a:endParaRPr lang="en-IN" dirty="0"/>
                    </a:p>
                  </a:txBody>
                  <a:tcPr/>
                </a:tc>
                <a:tc>
                  <a:txBody>
                    <a:bodyPr/>
                    <a:lstStyle/>
                    <a:p>
                      <a:r>
                        <a:rPr lang="en-IN" dirty="0" smtClean="0"/>
                        <a:t>G</a:t>
                      </a:r>
                      <a:endParaRPr lang="en-IN" dirty="0"/>
                    </a:p>
                  </a:txBody>
                  <a:tcPr/>
                </a:tc>
                <a:tc>
                  <a:txBody>
                    <a:bodyPr/>
                    <a:lstStyle/>
                    <a:p>
                      <a:r>
                        <a:rPr lang="en-IN" dirty="0" smtClean="0"/>
                        <a:t>N</a:t>
                      </a:r>
                      <a:endParaRPr lang="en-IN" dirty="0"/>
                    </a:p>
                  </a:txBody>
                  <a:tcPr/>
                </a:tc>
                <a:tc>
                  <a:txBody>
                    <a:bodyPr/>
                    <a:lstStyle/>
                    <a:p>
                      <a:r>
                        <a:rPr lang="en-IN" dirty="0" smtClean="0"/>
                        <a:t>T</a:t>
                      </a:r>
                      <a:endParaRPr lang="en-IN" dirty="0"/>
                    </a:p>
                  </a:txBody>
                  <a:tcPr/>
                </a:tc>
                <a:tc>
                  <a:txBody>
                    <a:bodyPr/>
                    <a:lstStyle/>
                    <a:p>
                      <a:r>
                        <a:rPr lang="en-IN" dirty="0" smtClean="0"/>
                        <a:t>C</a:t>
                      </a:r>
                      <a:endParaRPr lang="en-IN" dirty="0"/>
                    </a:p>
                  </a:txBody>
                  <a:tcPr/>
                </a:tc>
                <a:tc>
                  <a:txBody>
                    <a:bodyPr/>
                    <a:lstStyle/>
                    <a:p>
                      <a:r>
                        <a:rPr lang="en-IN" dirty="0" smtClean="0"/>
                        <a:t>G</a:t>
                      </a:r>
                      <a:endParaRPr lang="en-IN" dirty="0"/>
                    </a:p>
                  </a:txBody>
                  <a:tcPr/>
                </a:tc>
              </a:tr>
              <a:tr h="0">
                <a:tc>
                  <a:txBody>
                    <a:bodyPr/>
                    <a:lstStyle/>
                    <a:p>
                      <a:r>
                        <a:rPr lang="en-IN" dirty="0" smtClean="0"/>
                        <a:t>7</a:t>
                      </a:r>
                      <a:endParaRPr lang="en-IN" dirty="0"/>
                    </a:p>
                  </a:txBody>
                  <a:tcPr/>
                </a:tc>
                <a:tc>
                  <a:txBody>
                    <a:bodyPr/>
                    <a:lstStyle/>
                    <a:p>
                      <a:r>
                        <a:rPr lang="en-IN" dirty="0" smtClean="0"/>
                        <a:t>7</a:t>
                      </a:r>
                      <a:endParaRPr lang="en-IN" dirty="0"/>
                    </a:p>
                  </a:txBody>
                  <a:tcPr/>
                </a:tc>
                <a:tc>
                  <a:txBody>
                    <a:bodyPr/>
                    <a:lstStyle/>
                    <a:p>
                      <a:r>
                        <a:rPr lang="en-IN" dirty="0" smtClean="0"/>
                        <a:t>22</a:t>
                      </a:r>
                      <a:endParaRPr lang="en-IN" dirty="0"/>
                    </a:p>
                  </a:txBody>
                  <a:tcPr/>
                </a:tc>
                <a:tc>
                  <a:txBody>
                    <a:bodyPr/>
                    <a:lstStyle/>
                    <a:p>
                      <a:r>
                        <a:rPr lang="en-IN" dirty="0" smtClean="0"/>
                        <a:t>10</a:t>
                      </a:r>
                      <a:endParaRPr lang="en-IN" dirty="0"/>
                    </a:p>
                  </a:txBody>
                  <a:tcPr/>
                </a:tc>
                <a:tc>
                  <a:txBody>
                    <a:bodyPr/>
                    <a:lstStyle/>
                    <a:p>
                      <a:r>
                        <a:rPr lang="en-IN" dirty="0" smtClean="0"/>
                        <a:t>18</a:t>
                      </a:r>
                      <a:endParaRPr lang="en-IN" dirty="0"/>
                    </a:p>
                  </a:txBody>
                  <a:tcPr/>
                </a:tc>
                <a:tc>
                  <a:txBody>
                    <a:bodyPr/>
                    <a:lstStyle/>
                    <a:p>
                      <a:r>
                        <a:rPr lang="en-IN" dirty="0" smtClean="0"/>
                        <a:t>22</a:t>
                      </a:r>
                      <a:endParaRPr lang="en-IN" dirty="0"/>
                    </a:p>
                  </a:txBody>
                  <a:tcPr/>
                </a:tc>
                <a:tc>
                  <a:txBody>
                    <a:bodyPr/>
                    <a:lstStyle/>
                    <a:p>
                      <a:r>
                        <a:rPr lang="en-IN" dirty="0" smtClean="0"/>
                        <a:t>23</a:t>
                      </a:r>
                      <a:endParaRPr lang="en-IN" dirty="0"/>
                    </a:p>
                  </a:txBody>
                  <a:tcPr/>
                </a:tc>
                <a:tc>
                  <a:txBody>
                    <a:bodyPr/>
                    <a:lstStyle/>
                    <a:p>
                      <a:r>
                        <a:rPr lang="en-IN" dirty="0" smtClean="0"/>
                        <a:t>18</a:t>
                      </a:r>
                      <a:endParaRPr lang="en-IN" dirty="0"/>
                    </a:p>
                  </a:txBody>
                  <a:tcPr/>
                </a:tc>
                <a:tc>
                  <a:txBody>
                    <a:bodyPr/>
                    <a:lstStyle/>
                    <a:p>
                      <a:r>
                        <a:rPr lang="en-IN" dirty="0" smtClean="0"/>
                        <a:t>11</a:t>
                      </a:r>
                      <a:endParaRPr lang="en-IN" dirty="0"/>
                    </a:p>
                  </a:txBody>
                  <a:tcPr/>
                </a:tc>
                <a:tc>
                  <a:txBody>
                    <a:bodyPr/>
                    <a:lstStyle/>
                    <a:p>
                      <a:r>
                        <a:rPr lang="en-IN" dirty="0" smtClean="0"/>
                        <a:t>6</a:t>
                      </a:r>
                      <a:endParaRPr lang="en-IN" dirty="0"/>
                    </a:p>
                  </a:txBody>
                  <a:tcPr/>
                </a:tc>
                <a:tc>
                  <a:txBody>
                    <a:bodyPr/>
                    <a:lstStyle/>
                    <a:p>
                      <a:r>
                        <a:rPr lang="en-IN" dirty="0" smtClean="0"/>
                        <a:t>13</a:t>
                      </a:r>
                      <a:endParaRPr lang="en-IN" dirty="0"/>
                    </a:p>
                  </a:txBody>
                  <a:tcPr/>
                </a:tc>
                <a:tc>
                  <a:txBody>
                    <a:bodyPr/>
                    <a:lstStyle/>
                    <a:p>
                      <a:r>
                        <a:rPr lang="en-IN" dirty="0" smtClean="0"/>
                        <a:t>19</a:t>
                      </a:r>
                      <a:endParaRPr lang="en-IN" dirty="0"/>
                    </a:p>
                  </a:txBody>
                  <a:tcPr/>
                </a:tc>
                <a:tc>
                  <a:txBody>
                    <a:bodyPr/>
                    <a:lstStyle/>
                    <a:p>
                      <a:r>
                        <a:rPr lang="en-IN" dirty="0" smtClean="0"/>
                        <a:t>2</a:t>
                      </a:r>
                      <a:endParaRPr lang="en-IN" dirty="0"/>
                    </a:p>
                  </a:txBody>
                  <a:tcPr/>
                </a:tc>
                <a:tc>
                  <a:txBody>
                    <a:bodyPr/>
                    <a:lstStyle/>
                    <a:p>
                      <a:r>
                        <a:rPr lang="en-IN" dirty="0" smtClean="0"/>
                        <a:t>6</a:t>
                      </a:r>
                      <a:endParaRPr lang="en-IN" dirty="0"/>
                    </a:p>
                  </a:txBody>
                  <a:tcPr/>
                </a:tc>
              </a:tr>
              <a:tr h="0">
                <a:tc>
                  <a:txBody>
                    <a:bodyPr/>
                    <a:lstStyle/>
                    <a:p>
                      <a:r>
                        <a:rPr lang="en-IN" dirty="0" smtClean="0"/>
                        <a:t>P</a:t>
                      </a:r>
                      <a:endParaRPr lang="en-IN" dirty="0"/>
                    </a:p>
                  </a:txBody>
                  <a:tcPr/>
                </a:tc>
                <a:tc>
                  <a:txBody>
                    <a:bodyPr/>
                    <a:lstStyle/>
                    <a:p>
                      <a:r>
                        <a:rPr lang="en-IN" dirty="0" smtClean="0"/>
                        <a:t>A</a:t>
                      </a:r>
                      <a:endParaRPr lang="en-IN" dirty="0"/>
                    </a:p>
                  </a:txBody>
                  <a:tcPr/>
                </a:tc>
                <a:tc>
                  <a:txBody>
                    <a:bodyPr/>
                    <a:lstStyle/>
                    <a:p>
                      <a:r>
                        <a:rPr lang="en-IN" dirty="0" smtClean="0"/>
                        <a:t>S</a:t>
                      </a:r>
                      <a:endParaRPr lang="en-IN" dirty="0"/>
                    </a:p>
                  </a:txBody>
                  <a:tcPr/>
                </a:tc>
                <a:tc>
                  <a:txBody>
                    <a:bodyPr/>
                    <a:lstStyle/>
                    <a:p>
                      <a:r>
                        <a:rPr lang="en-IN" dirty="0" smtClean="0"/>
                        <a:t>C</a:t>
                      </a:r>
                      <a:endParaRPr lang="en-IN" dirty="0"/>
                    </a:p>
                  </a:txBody>
                  <a:tcPr/>
                </a:tc>
                <a:tc>
                  <a:txBody>
                    <a:bodyPr/>
                    <a:lstStyle/>
                    <a:p>
                      <a:r>
                        <a:rPr lang="en-IN" dirty="0" smtClean="0"/>
                        <a:t>A</a:t>
                      </a:r>
                      <a:endParaRPr lang="en-IN" dirty="0"/>
                    </a:p>
                  </a:txBody>
                  <a:tcPr/>
                </a:tc>
                <a:tc>
                  <a:txBody>
                    <a:bodyPr/>
                    <a:lstStyle/>
                    <a:p>
                      <a:r>
                        <a:rPr lang="en-IN" dirty="0" smtClean="0"/>
                        <a:t>L</a:t>
                      </a:r>
                      <a:endParaRPr lang="en-IN" dirty="0"/>
                    </a:p>
                  </a:txBody>
                  <a:tcPr/>
                </a:tc>
                <a:tc>
                  <a:txBody>
                    <a:bodyPr/>
                    <a:lstStyle/>
                    <a:p>
                      <a:r>
                        <a:rPr lang="en-IN" dirty="0" smtClean="0"/>
                        <a:t>P</a:t>
                      </a:r>
                      <a:endParaRPr lang="en-IN" dirty="0"/>
                    </a:p>
                  </a:txBody>
                  <a:tcPr/>
                </a:tc>
                <a:tc>
                  <a:txBody>
                    <a:bodyPr/>
                    <a:lstStyle/>
                    <a:p>
                      <a:r>
                        <a:rPr lang="en-IN" dirty="0" smtClean="0"/>
                        <a:t>A</a:t>
                      </a:r>
                      <a:endParaRPr lang="en-IN" dirty="0"/>
                    </a:p>
                  </a:txBody>
                  <a:tcPr/>
                </a:tc>
                <a:tc>
                  <a:txBody>
                    <a:bodyPr/>
                    <a:lstStyle/>
                    <a:p>
                      <a:r>
                        <a:rPr lang="en-IN" dirty="0" smtClean="0"/>
                        <a:t>S</a:t>
                      </a:r>
                      <a:endParaRPr lang="en-IN" dirty="0"/>
                    </a:p>
                  </a:txBody>
                  <a:tcPr/>
                </a:tc>
                <a:tc>
                  <a:txBody>
                    <a:bodyPr/>
                    <a:lstStyle/>
                    <a:p>
                      <a:r>
                        <a:rPr lang="en-IN" dirty="0" smtClean="0"/>
                        <a:t>C</a:t>
                      </a:r>
                      <a:endParaRPr lang="en-IN" dirty="0"/>
                    </a:p>
                  </a:txBody>
                  <a:tcPr/>
                </a:tc>
                <a:tc>
                  <a:txBody>
                    <a:bodyPr/>
                    <a:lstStyle/>
                    <a:p>
                      <a:r>
                        <a:rPr lang="en-IN" dirty="0" smtClean="0"/>
                        <a:t>A</a:t>
                      </a:r>
                      <a:endParaRPr lang="en-IN" dirty="0"/>
                    </a:p>
                  </a:txBody>
                  <a:tcPr/>
                </a:tc>
                <a:tc>
                  <a:txBody>
                    <a:bodyPr/>
                    <a:lstStyle/>
                    <a:p>
                      <a:r>
                        <a:rPr lang="en-IN" dirty="0" smtClean="0"/>
                        <a:t>L</a:t>
                      </a:r>
                      <a:endParaRPr lang="en-IN" dirty="0"/>
                    </a:p>
                  </a:txBody>
                  <a:tcPr/>
                </a:tc>
                <a:tc>
                  <a:txBody>
                    <a:bodyPr/>
                    <a:lstStyle/>
                    <a:p>
                      <a:r>
                        <a:rPr lang="en-IN" dirty="0" smtClean="0"/>
                        <a:t>P</a:t>
                      </a:r>
                      <a:endParaRPr lang="en-IN" dirty="0"/>
                    </a:p>
                  </a:txBody>
                  <a:tcPr/>
                </a:tc>
                <a:tc>
                  <a:txBody>
                    <a:bodyPr/>
                    <a:lstStyle/>
                    <a:p>
                      <a:r>
                        <a:rPr lang="en-IN" dirty="0" smtClean="0"/>
                        <a:t>A</a:t>
                      </a:r>
                      <a:endParaRPr lang="en-IN" dirty="0"/>
                    </a:p>
                  </a:txBody>
                  <a:tcPr/>
                </a:tc>
              </a:tr>
              <a:tr h="0">
                <a:tc>
                  <a:txBody>
                    <a:bodyPr/>
                    <a:lstStyle/>
                    <a:p>
                      <a:r>
                        <a:rPr lang="en-IN" dirty="0" smtClean="0"/>
                        <a:t>15</a:t>
                      </a:r>
                      <a:endParaRPr lang="en-IN" dirty="0"/>
                    </a:p>
                  </a:txBody>
                  <a:tcPr/>
                </a:tc>
                <a:tc>
                  <a:txBody>
                    <a:bodyPr/>
                    <a:lstStyle/>
                    <a:p>
                      <a:r>
                        <a:rPr lang="en-IN" dirty="0" smtClean="0"/>
                        <a:t>0</a:t>
                      </a:r>
                      <a:endParaRPr lang="en-IN" dirty="0"/>
                    </a:p>
                  </a:txBody>
                  <a:tcPr/>
                </a:tc>
                <a:tc>
                  <a:txBody>
                    <a:bodyPr/>
                    <a:lstStyle/>
                    <a:p>
                      <a:r>
                        <a:rPr lang="en-IN" dirty="0" smtClean="0"/>
                        <a:t>18</a:t>
                      </a:r>
                      <a:endParaRPr lang="en-IN" dirty="0"/>
                    </a:p>
                  </a:txBody>
                  <a:tcPr/>
                </a:tc>
                <a:tc>
                  <a:txBody>
                    <a:bodyPr/>
                    <a:lstStyle/>
                    <a:p>
                      <a:r>
                        <a:rPr lang="en-IN" dirty="0" smtClean="0"/>
                        <a:t>2</a:t>
                      </a:r>
                      <a:endParaRPr lang="en-IN" dirty="0"/>
                    </a:p>
                  </a:txBody>
                  <a:tcPr/>
                </a:tc>
                <a:tc>
                  <a:txBody>
                    <a:bodyPr/>
                    <a:lstStyle/>
                    <a:p>
                      <a:r>
                        <a:rPr lang="en-IN" dirty="0" smtClean="0"/>
                        <a:t>0</a:t>
                      </a:r>
                      <a:endParaRPr lang="en-IN" dirty="0"/>
                    </a:p>
                  </a:txBody>
                  <a:tcPr/>
                </a:tc>
                <a:tc>
                  <a:txBody>
                    <a:bodyPr/>
                    <a:lstStyle/>
                    <a:p>
                      <a:r>
                        <a:rPr lang="en-IN" dirty="0" smtClean="0"/>
                        <a:t>11</a:t>
                      </a:r>
                      <a:endParaRPr lang="en-IN" dirty="0"/>
                    </a:p>
                  </a:txBody>
                  <a:tcPr/>
                </a:tc>
                <a:tc>
                  <a:txBody>
                    <a:bodyPr/>
                    <a:lstStyle/>
                    <a:p>
                      <a:r>
                        <a:rPr lang="en-IN" dirty="0" smtClean="0"/>
                        <a:t>15</a:t>
                      </a:r>
                      <a:endParaRPr lang="en-IN" dirty="0"/>
                    </a:p>
                  </a:txBody>
                  <a:tcPr/>
                </a:tc>
                <a:tc>
                  <a:txBody>
                    <a:bodyPr/>
                    <a:lstStyle/>
                    <a:p>
                      <a:r>
                        <a:rPr lang="en-IN" dirty="0" smtClean="0"/>
                        <a:t>0</a:t>
                      </a:r>
                      <a:endParaRPr lang="en-IN" dirty="0"/>
                    </a:p>
                  </a:txBody>
                  <a:tcPr/>
                </a:tc>
                <a:tc>
                  <a:txBody>
                    <a:bodyPr/>
                    <a:lstStyle/>
                    <a:p>
                      <a:r>
                        <a:rPr lang="en-IN" dirty="0" smtClean="0"/>
                        <a:t>18</a:t>
                      </a:r>
                      <a:endParaRPr lang="en-IN" dirty="0"/>
                    </a:p>
                  </a:txBody>
                  <a:tcPr/>
                </a:tc>
                <a:tc>
                  <a:txBody>
                    <a:bodyPr/>
                    <a:lstStyle/>
                    <a:p>
                      <a:r>
                        <a:rPr lang="en-IN" dirty="0" smtClean="0"/>
                        <a:t>2</a:t>
                      </a:r>
                      <a:endParaRPr lang="en-IN" dirty="0"/>
                    </a:p>
                  </a:txBody>
                  <a:tcPr/>
                </a:tc>
                <a:tc>
                  <a:txBody>
                    <a:bodyPr/>
                    <a:lstStyle/>
                    <a:p>
                      <a:r>
                        <a:rPr lang="en-IN" dirty="0" smtClean="0"/>
                        <a:t>0</a:t>
                      </a:r>
                      <a:endParaRPr lang="en-IN" dirty="0"/>
                    </a:p>
                  </a:txBody>
                  <a:tcPr/>
                </a:tc>
                <a:tc>
                  <a:txBody>
                    <a:bodyPr/>
                    <a:lstStyle/>
                    <a:p>
                      <a:r>
                        <a:rPr lang="en-IN" dirty="0" smtClean="0"/>
                        <a:t>11</a:t>
                      </a:r>
                      <a:endParaRPr lang="en-IN" dirty="0"/>
                    </a:p>
                  </a:txBody>
                  <a:tcPr/>
                </a:tc>
                <a:tc>
                  <a:txBody>
                    <a:bodyPr/>
                    <a:lstStyle/>
                    <a:p>
                      <a:r>
                        <a:rPr lang="en-IN" dirty="0" smtClean="0"/>
                        <a:t>15</a:t>
                      </a:r>
                      <a:endParaRPr lang="en-IN" dirty="0"/>
                    </a:p>
                  </a:txBody>
                  <a:tcPr/>
                </a:tc>
                <a:tc>
                  <a:txBody>
                    <a:bodyPr/>
                    <a:lstStyle/>
                    <a:p>
                      <a:r>
                        <a:rPr lang="en-IN" dirty="0" smtClean="0"/>
                        <a:t>0</a:t>
                      </a:r>
                      <a:endParaRPr lang="en-IN" dirty="0"/>
                    </a:p>
                  </a:txBody>
                  <a:tcPr/>
                </a:tc>
              </a:tr>
              <a:tr h="0">
                <a:tc>
                  <a:txBody>
                    <a:bodyPr/>
                    <a:lstStyle/>
                    <a:p>
                      <a:r>
                        <a:rPr lang="en-IN" dirty="0" smtClean="0"/>
                        <a:t>18</a:t>
                      </a:r>
                      <a:endParaRPr lang="en-IN" dirty="0"/>
                    </a:p>
                  </a:txBody>
                  <a:tcPr/>
                </a:tc>
                <a:tc>
                  <a:txBody>
                    <a:bodyPr/>
                    <a:lstStyle/>
                    <a:p>
                      <a:r>
                        <a:rPr lang="en-IN" dirty="0" smtClean="0"/>
                        <a:t>7</a:t>
                      </a:r>
                      <a:endParaRPr lang="en-IN" dirty="0"/>
                    </a:p>
                  </a:txBody>
                  <a:tcPr/>
                </a:tc>
                <a:tc>
                  <a:txBody>
                    <a:bodyPr/>
                    <a:lstStyle/>
                    <a:p>
                      <a:r>
                        <a:rPr lang="en-IN" dirty="0" smtClean="0"/>
                        <a:t>4</a:t>
                      </a:r>
                      <a:endParaRPr lang="en-IN" dirty="0"/>
                    </a:p>
                  </a:txBody>
                  <a:tcPr/>
                </a:tc>
                <a:tc>
                  <a:txBody>
                    <a:bodyPr/>
                    <a:lstStyle/>
                    <a:p>
                      <a:r>
                        <a:rPr lang="en-IN" dirty="0" smtClean="0"/>
                        <a:t>8</a:t>
                      </a:r>
                      <a:endParaRPr lang="en-IN" dirty="0"/>
                    </a:p>
                  </a:txBody>
                  <a:tcPr/>
                </a:tc>
                <a:tc>
                  <a:txBody>
                    <a:bodyPr/>
                    <a:lstStyle/>
                    <a:p>
                      <a:r>
                        <a:rPr lang="en-IN" dirty="0" smtClean="0"/>
                        <a:t>18</a:t>
                      </a:r>
                      <a:endParaRPr lang="en-IN" dirty="0"/>
                    </a:p>
                  </a:txBody>
                  <a:tcPr/>
                </a:tc>
                <a:tc>
                  <a:txBody>
                    <a:bodyPr/>
                    <a:lstStyle/>
                    <a:p>
                      <a:r>
                        <a:rPr lang="en-IN" dirty="0" smtClean="0"/>
                        <a:t>11</a:t>
                      </a:r>
                      <a:endParaRPr lang="en-IN" dirty="0"/>
                    </a:p>
                  </a:txBody>
                  <a:tcPr/>
                </a:tc>
                <a:tc>
                  <a:txBody>
                    <a:bodyPr/>
                    <a:lstStyle/>
                    <a:p>
                      <a:r>
                        <a:rPr lang="en-IN" dirty="0" smtClean="0"/>
                        <a:t>8</a:t>
                      </a:r>
                      <a:endParaRPr lang="en-IN" dirty="0"/>
                    </a:p>
                  </a:txBody>
                  <a:tcPr/>
                </a:tc>
                <a:tc>
                  <a:txBody>
                    <a:bodyPr/>
                    <a:lstStyle/>
                    <a:p>
                      <a:r>
                        <a:rPr lang="en-IN" dirty="0" smtClean="0"/>
                        <a:t>18</a:t>
                      </a:r>
                      <a:endParaRPr lang="en-IN" dirty="0"/>
                    </a:p>
                  </a:txBody>
                  <a:tcPr/>
                </a:tc>
                <a:tc>
                  <a:txBody>
                    <a:bodyPr/>
                    <a:lstStyle/>
                    <a:p>
                      <a:r>
                        <a:rPr lang="en-IN" dirty="0" smtClean="0"/>
                        <a:t>19</a:t>
                      </a:r>
                      <a:endParaRPr lang="en-IN" dirty="0"/>
                    </a:p>
                  </a:txBody>
                  <a:tcPr/>
                </a:tc>
                <a:tc>
                  <a:txBody>
                    <a:bodyPr/>
                    <a:lstStyle/>
                    <a:p>
                      <a:r>
                        <a:rPr lang="en-IN" dirty="0" smtClean="0"/>
                        <a:t>4</a:t>
                      </a:r>
                      <a:endParaRPr lang="en-IN" dirty="0"/>
                    </a:p>
                  </a:txBody>
                  <a:tcPr/>
                </a:tc>
                <a:tc>
                  <a:txBody>
                    <a:bodyPr/>
                    <a:lstStyle/>
                    <a:p>
                      <a:r>
                        <a:rPr lang="en-IN" dirty="0" smtClean="0"/>
                        <a:t>13</a:t>
                      </a:r>
                      <a:endParaRPr lang="en-IN" dirty="0"/>
                    </a:p>
                  </a:txBody>
                  <a:tcPr/>
                </a:tc>
                <a:tc>
                  <a:txBody>
                    <a:bodyPr/>
                    <a:lstStyle/>
                    <a:p>
                      <a:r>
                        <a:rPr lang="en-IN" dirty="0" smtClean="0"/>
                        <a:t>8</a:t>
                      </a:r>
                      <a:endParaRPr lang="en-IN" dirty="0"/>
                    </a:p>
                  </a:txBody>
                  <a:tcPr/>
                </a:tc>
                <a:tc>
                  <a:txBody>
                    <a:bodyPr/>
                    <a:lstStyle/>
                    <a:p>
                      <a:r>
                        <a:rPr lang="en-IN" dirty="0" smtClean="0"/>
                        <a:t>13</a:t>
                      </a:r>
                      <a:endParaRPr lang="en-IN" dirty="0"/>
                    </a:p>
                  </a:txBody>
                  <a:tcPr/>
                </a:tc>
                <a:tc>
                  <a:txBody>
                    <a:bodyPr/>
                    <a:lstStyle/>
                    <a:p>
                      <a:r>
                        <a:rPr lang="en-IN" dirty="0" smtClean="0"/>
                        <a:t>6</a:t>
                      </a:r>
                      <a:endParaRPr lang="en-IN" dirty="0"/>
                    </a:p>
                  </a:txBody>
                  <a:tcPr/>
                </a:tc>
              </a:tr>
              <a:tr h="0">
                <a:tc>
                  <a:txBody>
                    <a:bodyPr/>
                    <a:lstStyle/>
                    <a:p>
                      <a:r>
                        <a:rPr lang="en-IN" dirty="0" smtClean="0"/>
                        <a:t>S</a:t>
                      </a:r>
                      <a:endParaRPr lang="en-IN" dirty="0"/>
                    </a:p>
                  </a:txBody>
                  <a:tcPr/>
                </a:tc>
                <a:tc>
                  <a:txBody>
                    <a:bodyPr/>
                    <a:lstStyle/>
                    <a:p>
                      <a:r>
                        <a:rPr lang="en-IN" dirty="0" smtClean="0"/>
                        <a:t>H</a:t>
                      </a:r>
                      <a:endParaRPr lang="en-IN" dirty="0"/>
                    </a:p>
                  </a:txBody>
                  <a:tcPr/>
                </a:tc>
                <a:tc>
                  <a:txBody>
                    <a:bodyPr/>
                    <a:lstStyle/>
                    <a:p>
                      <a:r>
                        <a:rPr lang="en-IN" dirty="0" smtClean="0"/>
                        <a:t>E</a:t>
                      </a:r>
                      <a:endParaRPr lang="en-IN" dirty="0"/>
                    </a:p>
                  </a:txBody>
                  <a:tcPr/>
                </a:tc>
                <a:tc>
                  <a:txBody>
                    <a:bodyPr/>
                    <a:lstStyle/>
                    <a:p>
                      <a:r>
                        <a:rPr lang="en-IN" dirty="0" smtClean="0"/>
                        <a:t>I</a:t>
                      </a:r>
                      <a:endParaRPr lang="en-IN" dirty="0"/>
                    </a:p>
                  </a:txBody>
                  <a:tcPr/>
                </a:tc>
                <a:tc>
                  <a:txBody>
                    <a:bodyPr/>
                    <a:lstStyle/>
                    <a:p>
                      <a:r>
                        <a:rPr lang="en-IN" dirty="0" smtClean="0"/>
                        <a:t>S</a:t>
                      </a:r>
                      <a:endParaRPr lang="en-IN" dirty="0"/>
                    </a:p>
                  </a:txBody>
                  <a:tcPr/>
                </a:tc>
                <a:tc>
                  <a:txBody>
                    <a:bodyPr/>
                    <a:lstStyle/>
                    <a:p>
                      <a:r>
                        <a:rPr lang="en-IN" dirty="0" smtClean="0"/>
                        <a:t>L</a:t>
                      </a:r>
                      <a:endParaRPr lang="en-IN" dirty="0"/>
                    </a:p>
                  </a:txBody>
                  <a:tcPr/>
                </a:tc>
                <a:tc>
                  <a:txBody>
                    <a:bodyPr/>
                    <a:lstStyle/>
                    <a:p>
                      <a:r>
                        <a:rPr lang="en-IN" dirty="0" smtClean="0"/>
                        <a:t>I</a:t>
                      </a:r>
                      <a:endParaRPr lang="en-IN" dirty="0"/>
                    </a:p>
                  </a:txBody>
                  <a:tcPr/>
                </a:tc>
                <a:tc>
                  <a:txBody>
                    <a:bodyPr/>
                    <a:lstStyle/>
                    <a:p>
                      <a:r>
                        <a:rPr lang="en-IN" dirty="0" smtClean="0"/>
                        <a:t>S</a:t>
                      </a:r>
                      <a:endParaRPr lang="en-IN" dirty="0"/>
                    </a:p>
                  </a:txBody>
                  <a:tcPr/>
                </a:tc>
                <a:tc>
                  <a:txBody>
                    <a:bodyPr/>
                    <a:lstStyle/>
                    <a:p>
                      <a:r>
                        <a:rPr lang="en-IN" dirty="0" smtClean="0"/>
                        <a:t>T</a:t>
                      </a:r>
                      <a:endParaRPr lang="en-IN" dirty="0"/>
                    </a:p>
                  </a:txBody>
                  <a:tcPr/>
                </a:tc>
                <a:tc>
                  <a:txBody>
                    <a:bodyPr/>
                    <a:lstStyle/>
                    <a:p>
                      <a:r>
                        <a:rPr lang="en-IN" dirty="0" smtClean="0"/>
                        <a:t>E</a:t>
                      </a:r>
                      <a:endParaRPr lang="en-IN" dirty="0"/>
                    </a:p>
                  </a:txBody>
                  <a:tcPr/>
                </a:tc>
                <a:tc>
                  <a:txBody>
                    <a:bodyPr/>
                    <a:lstStyle/>
                    <a:p>
                      <a:r>
                        <a:rPr lang="en-IN" dirty="0" smtClean="0"/>
                        <a:t>N</a:t>
                      </a:r>
                      <a:endParaRPr lang="en-IN" dirty="0"/>
                    </a:p>
                  </a:txBody>
                  <a:tcPr/>
                </a:tc>
                <a:tc>
                  <a:txBody>
                    <a:bodyPr/>
                    <a:lstStyle/>
                    <a:p>
                      <a:r>
                        <a:rPr lang="en-IN" dirty="0" smtClean="0"/>
                        <a:t>I</a:t>
                      </a:r>
                      <a:endParaRPr lang="en-IN" dirty="0"/>
                    </a:p>
                  </a:txBody>
                  <a:tcPr/>
                </a:tc>
                <a:tc>
                  <a:txBody>
                    <a:bodyPr/>
                    <a:lstStyle/>
                    <a:p>
                      <a:r>
                        <a:rPr lang="en-IN" dirty="0" smtClean="0"/>
                        <a:t>N</a:t>
                      </a:r>
                      <a:endParaRPr lang="en-IN" dirty="0"/>
                    </a:p>
                  </a:txBody>
                  <a:tcPr/>
                </a:tc>
                <a:tc>
                  <a:txBody>
                    <a:bodyPr/>
                    <a:lstStyle/>
                    <a:p>
                      <a:r>
                        <a:rPr lang="en-IN" dirty="0" smtClean="0"/>
                        <a:t>G</a:t>
                      </a:r>
                      <a:endParaRPr lang="en-IN" dirty="0"/>
                    </a:p>
                  </a:txBody>
                  <a:tcPr/>
                </a:tc>
              </a:tr>
            </a:tbl>
          </a:graphicData>
        </a:graphic>
      </p:graphicFrame>
      <p:sp>
        <p:nvSpPr>
          <p:cNvPr id="6" name="Curved Right Arrow 5"/>
          <p:cNvSpPr/>
          <p:nvPr/>
        </p:nvSpPr>
        <p:spPr>
          <a:xfrm>
            <a:off x="357158" y="2643182"/>
            <a:ext cx="500066" cy="92869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TextBox 6"/>
          <p:cNvSpPr txBox="1"/>
          <p:nvPr/>
        </p:nvSpPr>
        <p:spPr>
          <a:xfrm>
            <a:off x="1000100" y="4857760"/>
            <a:ext cx="6786610" cy="369332"/>
          </a:xfrm>
          <a:prstGeom prst="rect">
            <a:avLst/>
          </a:prstGeom>
          <a:noFill/>
        </p:spPr>
        <p:txBody>
          <a:bodyPr wrap="square" rtlCol="0">
            <a:spAutoFit/>
          </a:bodyPr>
          <a:lstStyle/>
          <a:p>
            <a:r>
              <a:rPr lang="en-IN" dirty="0" smtClean="0"/>
              <a:t>Plain text :She is Listening</a:t>
            </a:r>
            <a:endParaRPr lang="en-IN" dirty="0"/>
          </a:p>
        </p:txBody>
      </p:sp>
      <p:sp>
        <p:nvSpPr>
          <p:cNvPr id="8" name="Content Placeholder 2"/>
          <p:cNvSpPr>
            <a:spLocks noGrp="1"/>
          </p:cNvSpPr>
          <p:nvPr>
            <p:ph sz="quarter" idx="10"/>
          </p:nvPr>
        </p:nvSpPr>
        <p:spPr>
          <a:xfrm>
            <a:off x="304800" y="152400"/>
            <a:ext cx="6324600" cy="1143000"/>
          </a:xfrm>
        </p:spPr>
        <p:txBody>
          <a:bodyPr vert="horz" lIns="91440" tIns="45720" rIns="91440" bIns="45720" rtlCol="0" anchor="ctr" anchorCtr="0">
            <a:normAutofit/>
          </a:bodyPr>
          <a:lstStyle/>
          <a:p>
            <a:pPr>
              <a:spcBef>
                <a:spcPct val="0"/>
              </a:spcBef>
            </a:pPr>
            <a:r>
              <a:rPr lang="en-IN" sz="3200" dirty="0">
                <a:latin typeface="+mj-lt"/>
                <a:ea typeface="+mj-ea"/>
                <a:cs typeface="+mj-cs"/>
              </a:rPr>
              <a:t>Example 2 Contd..</a:t>
            </a:r>
          </a:p>
        </p:txBody>
      </p:sp>
    </p:spTree>
    <p:extLst>
      <p:ext uri="{BB962C8B-B14F-4D97-AF65-F5344CB8AC3E}">
        <p14:creationId xmlns="" xmlns:p14="http://schemas.microsoft.com/office/powerpoint/2010/main" val="187550917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Vernam Cipher</a:t>
            </a:r>
          </a:p>
        </p:txBody>
      </p:sp>
      <p:sp>
        <p:nvSpPr>
          <p:cNvPr id="6" name="Content Placeholder 5"/>
          <p:cNvSpPr>
            <a:spLocks noGrp="1"/>
          </p:cNvSpPr>
          <p:nvPr>
            <p:ph idx="1"/>
          </p:nvPr>
        </p:nvSpPr>
        <p:spPr>
          <a:xfrm>
            <a:off x="304800" y="1493837"/>
            <a:ext cx="8229600" cy="2007171"/>
          </a:xfrm>
        </p:spPr>
        <p:txBody>
          <a:bodyPr/>
          <a:lstStyle/>
          <a:p>
            <a:pPr marL="514350" lvl="1" indent="-514350" algn="just">
              <a:lnSpc>
                <a:spcPct val="90000"/>
              </a:lnSpc>
              <a:spcBef>
                <a:spcPts val="0"/>
              </a:spcBef>
              <a:buClr>
                <a:srgbClr val="101141"/>
              </a:buClr>
              <a:buFont typeface="Wingdings" pitchFamily="2" charset="2"/>
              <a:buChar char="q"/>
            </a:pPr>
            <a:r>
              <a:rPr lang="en-IN" sz="2200" dirty="0" smtClean="0"/>
              <a:t>If the key is as long as the plaintext, it could provide an ultimate defence against attack.</a:t>
            </a:r>
          </a:p>
          <a:p>
            <a:pPr marL="514350" lvl="1" indent="-514350" algn="just">
              <a:lnSpc>
                <a:spcPct val="90000"/>
              </a:lnSpc>
              <a:spcBef>
                <a:spcPts val="0"/>
              </a:spcBef>
              <a:buClr>
                <a:srgbClr val="101141"/>
              </a:buClr>
              <a:buFont typeface="Wingdings" pitchFamily="2" charset="2"/>
              <a:buChar char="q"/>
            </a:pPr>
            <a:r>
              <a:rPr lang="en-IN" sz="2200" dirty="0" smtClean="0"/>
              <a:t>AT&amp;T Engineer </a:t>
            </a:r>
            <a:r>
              <a:rPr lang="en-IN" sz="2200" b="1" i="1" dirty="0" smtClean="0"/>
              <a:t>Gilbert Vernam </a:t>
            </a:r>
            <a:r>
              <a:rPr lang="en-IN" sz="2200" dirty="0" smtClean="0"/>
              <a:t>devised such a system in 1918.</a:t>
            </a:r>
          </a:p>
          <a:p>
            <a:pPr marL="514350" lvl="1" indent="-514350" algn="just">
              <a:lnSpc>
                <a:spcPct val="90000"/>
              </a:lnSpc>
              <a:spcBef>
                <a:spcPts val="0"/>
              </a:spcBef>
              <a:buClr>
                <a:srgbClr val="101141"/>
              </a:buClr>
              <a:buFont typeface="Wingdings" pitchFamily="2" charset="2"/>
              <a:buChar char="q"/>
            </a:pPr>
            <a:r>
              <a:rPr lang="en-IN" sz="2200" dirty="0" smtClean="0"/>
              <a:t>His system works on binary data (bits) rather than letters. The system can be expressed as follows </a:t>
            </a:r>
            <a:r>
              <a:rPr lang="en-IN" sz="2200" dirty="0" err="1" smtClean="0"/>
              <a:t>ci</a:t>
            </a:r>
            <a:r>
              <a:rPr lang="en-IN" sz="2200" dirty="0" smtClean="0"/>
              <a:t> = pi      </a:t>
            </a:r>
            <a:r>
              <a:rPr lang="en-IN" sz="2200" dirty="0" err="1" smtClean="0"/>
              <a:t>ki</a:t>
            </a:r>
            <a:r>
              <a:rPr lang="en-IN" sz="2200" dirty="0" smtClean="0"/>
              <a:t>, where    is the binary Exclusive-OR (XOR) operation.</a:t>
            </a:r>
          </a:p>
          <a:p>
            <a:endParaRPr lang="en-IN" dirty="0"/>
          </a:p>
        </p:txBody>
      </p:sp>
      <p:pic>
        <p:nvPicPr>
          <p:cNvPr id="44034" name="Picture 2" descr="http://www.clker.com/cliparts/0/f/9/d/11954317121794711249xor_mika_bostr_m_01.svg.hi.png"/>
          <p:cNvPicPr>
            <a:picLocks noChangeAspect="1" noChangeArrowheads="1"/>
          </p:cNvPicPr>
          <p:nvPr/>
        </p:nvPicPr>
        <p:blipFill>
          <a:blip r:embed="rId2" cstate="print"/>
          <a:srcRect/>
          <a:stretch>
            <a:fillRect/>
          </a:stretch>
        </p:blipFill>
        <p:spPr bwMode="auto">
          <a:xfrm>
            <a:off x="6012160" y="2780928"/>
            <a:ext cx="216024" cy="216024"/>
          </a:xfrm>
          <a:prstGeom prst="rect">
            <a:avLst/>
          </a:prstGeom>
          <a:noFill/>
        </p:spPr>
      </p:pic>
      <p:pic>
        <p:nvPicPr>
          <p:cNvPr id="8" name="Picture 2" descr="http://www.clker.com/cliparts/0/f/9/d/11954317121794711249xor_mika_bostr_m_01.svg.hi.png"/>
          <p:cNvPicPr>
            <a:picLocks noChangeAspect="1" noChangeArrowheads="1"/>
          </p:cNvPicPr>
          <p:nvPr/>
        </p:nvPicPr>
        <p:blipFill>
          <a:blip r:embed="rId2" cstate="print"/>
          <a:srcRect/>
          <a:stretch>
            <a:fillRect/>
          </a:stretch>
        </p:blipFill>
        <p:spPr bwMode="auto">
          <a:xfrm>
            <a:off x="7524328" y="2780928"/>
            <a:ext cx="216024" cy="216024"/>
          </a:xfrm>
          <a:prstGeom prst="rect">
            <a:avLst/>
          </a:prstGeom>
          <a:noFill/>
        </p:spPr>
      </p:pic>
      <p:pic>
        <p:nvPicPr>
          <p:cNvPr id="44036" name="Picture 4"/>
          <p:cNvPicPr>
            <a:picLocks noChangeAspect="1" noChangeArrowheads="1"/>
          </p:cNvPicPr>
          <p:nvPr/>
        </p:nvPicPr>
        <p:blipFill>
          <a:blip r:embed="rId3" cstate="print"/>
          <a:srcRect/>
          <a:stretch>
            <a:fillRect/>
          </a:stretch>
        </p:blipFill>
        <p:spPr bwMode="auto">
          <a:xfrm>
            <a:off x="1766577" y="3462716"/>
            <a:ext cx="5840414" cy="2387664"/>
          </a:xfrm>
          <a:prstGeom prst="rect">
            <a:avLst/>
          </a:prstGeom>
          <a:noFill/>
          <a:ln w="9525">
            <a:noFill/>
            <a:miter lim="800000"/>
            <a:headEnd/>
            <a:tailEnd/>
          </a:ln>
        </p:spPr>
      </p:pic>
      <p:sp>
        <p:nvSpPr>
          <p:cNvPr id="11" name="Content Placeholder 5"/>
          <p:cNvSpPr txBox="1">
            <a:spLocks/>
          </p:cNvSpPr>
          <p:nvPr/>
        </p:nvSpPr>
        <p:spPr>
          <a:xfrm>
            <a:off x="467544" y="5805264"/>
            <a:ext cx="8229600" cy="720080"/>
          </a:xfrm>
          <a:prstGeom prst="rect">
            <a:avLst/>
          </a:prstGeom>
        </p:spPr>
        <p:txBody>
          <a:bodyPr vert="horz" lIns="91440" tIns="45720" rIns="91440" bIns="45720" rtlCol="0">
            <a:normAutofit/>
          </a:bodyPr>
          <a:lstStyle/>
          <a:p>
            <a:pPr marL="514350" lvl="1" indent="-514350" algn="just">
              <a:lnSpc>
                <a:spcPct val="90000"/>
              </a:lnSpc>
              <a:buClr>
                <a:srgbClr val="101141"/>
              </a:buClr>
              <a:buFont typeface="Wingdings" pitchFamily="2" charset="2"/>
              <a:buChar char="q"/>
              <a:defRPr/>
            </a:pPr>
            <a:r>
              <a:rPr lang="en-IN" sz="2200" dirty="0" smtClean="0">
                <a:solidFill>
                  <a:prstClr val="black"/>
                </a:solidFill>
                <a:cs typeface="Arial" pitchFamily="34" charset="0"/>
              </a:rPr>
              <a:t>Because of the properties of XOR function, the decryption also involves the same bitwise operation. pi = </a:t>
            </a:r>
            <a:r>
              <a:rPr lang="en-IN" sz="2200" dirty="0" err="1" smtClean="0">
                <a:solidFill>
                  <a:prstClr val="black"/>
                </a:solidFill>
                <a:cs typeface="Arial" pitchFamily="34" charset="0"/>
              </a:rPr>
              <a:t>ci</a:t>
            </a:r>
            <a:r>
              <a:rPr lang="en-IN" sz="2200" dirty="0" smtClean="0">
                <a:solidFill>
                  <a:prstClr val="black"/>
                </a:solidFill>
                <a:cs typeface="Arial" pitchFamily="34" charset="0"/>
              </a:rPr>
              <a:t>      </a:t>
            </a:r>
            <a:r>
              <a:rPr lang="en-IN" sz="2200" dirty="0" err="1" smtClean="0">
                <a:solidFill>
                  <a:prstClr val="black"/>
                </a:solidFill>
                <a:cs typeface="Arial" pitchFamily="34" charset="0"/>
              </a:rPr>
              <a:t>ki</a:t>
            </a:r>
            <a:r>
              <a:rPr lang="en-IN" sz="2200" dirty="0" smtClean="0">
                <a:solidFill>
                  <a:prstClr val="black"/>
                </a:solidFill>
                <a:cs typeface="Arial" pitchFamily="34" charset="0"/>
              </a:rPr>
              <a:t>.</a:t>
            </a:r>
            <a:endParaRPr lang="en-IN" sz="2800" dirty="0">
              <a:solidFill>
                <a:prstClr val="black"/>
              </a:solidFill>
              <a:cs typeface="Arial" pitchFamily="34" charset="0"/>
            </a:endParaRPr>
          </a:p>
        </p:txBody>
      </p:sp>
      <p:pic>
        <p:nvPicPr>
          <p:cNvPr id="12" name="Picture 2" descr="http://www.clker.com/cliparts/0/f/9/d/11954317121794711249xor_mika_bostr_m_01.svg.hi.png"/>
          <p:cNvPicPr>
            <a:picLocks noChangeAspect="1" noChangeArrowheads="1"/>
          </p:cNvPicPr>
          <p:nvPr/>
        </p:nvPicPr>
        <p:blipFill>
          <a:blip r:embed="rId2" cstate="print"/>
          <a:srcRect/>
          <a:stretch>
            <a:fillRect/>
          </a:stretch>
        </p:blipFill>
        <p:spPr bwMode="auto">
          <a:xfrm>
            <a:off x="6012160" y="6237312"/>
            <a:ext cx="216024" cy="216024"/>
          </a:xfrm>
          <a:prstGeom prst="rect">
            <a:avLst/>
          </a:prstGeom>
          <a:noFill/>
        </p:spPr>
      </p:pic>
      <p:sp>
        <p:nvSpPr>
          <p:cNvPr id="44038" name="AutoShape 6" descr="Image result for vernam cipher"/>
          <p:cNvSpPr>
            <a:spLocks noChangeAspect="1" noChangeArrowheads="1"/>
          </p:cNvSpPr>
          <p:nvPr/>
        </p:nvSpPr>
        <p:spPr bwMode="auto">
          <a:xfrm>
            <a:off x="155575" y="-731838"/>
            <a:ext cx="1104900" cy="1524001"/>
          </a:xfrm>
          <a:prstGeom prst="rect">
            <a:avLst/>
          </a:prstGeom>
          <a:noFill/>
        </p:spPr>
        <p:txBody>
          <a:bodyPr vert="horz" wrap="square" lIns="91440" tIns="45720" rIns="91440" bIns="45720" numCol="1" anchor="t" anchorCtr="0" compatLnSpc="1">
            <a:prstTxWarp prst="textNoShape">
              <a:avLst/>
            </a:prstTxWarp>
          </a:bodyPr>
          <a:lstStyle/>
          <a:p>
            <a:endParaRPr lang="en-IN">
              <a:solidFill>
                <a:prstClr val="black"/>
              </a:solidFill>
            </a:endParaRPr>
          </a:p>
        </p:txBody>
      </p:sp>
      <p:pic>
        <p:nvPicPr>
          <p:cNvPr id="44040" name="Picture 8" descr="http://www.crittologia.eu/bio/vernam.jpeg"/>
          <p:cNvPicPr>
            <a:picLocks noChangeAspect="1" noChangeArrowheads="1"/>
          </p:cNvPicPr>
          <p:nvPr/>
        </p:nvPicPr>
        <p:blipFill>
          <a:blip r:embed="rId4" cstate="print"/>
          <a:srcRect/>
          <a:stretch>
            <a:fillRect/>
          </a:stretch>
        </p:blipFill>
        <p:spPr bwMode="auto">
          <a:xfrm>
            <a:off x="3651949" y="136841"/>
            <a:ext cx="792088" cy="1089121"/>
          </a:xfrm>
          <a:prstGeom prst="rect">
            <a:avLst/>
          </a:prstGeom>
          <a:noFill/>
        </p:spPr>
      </p:pic>
    </p:spTree>
    <p:extLst>
      <p:ext uri="{BB962C8B-B14F-4D97-AF65-F5344CB8AC3E}">
        <p14:creationId xmlns="" xmlns:p14="http://schemas.microsoft.com/office/powerpoint/2010/main" val="201907340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2151187"/>
          </a:xfrm>
        </p:spPr>
        <p:txBody>
          <a:bodyPr/>
          <a:lstStyle/>
          <a:p>
            <a:pPr marL="514350" lvl="1" indent="-514350" algn="just">
              <a:spcBef>
                <a:spcPts val="0"/>
              </a:spcBef>
              <a:buClr>
                <a:srgbClr val="101141"/>
              </a:buClr>
              <a:buFont typeface="Wingdings" pitchFamily="2" charset="2"/>
              <a:buChar char="q"/>
            </a:pPr>
            <a:r>
              <a:rPr lang="en-IN" sz="2200" dirty="0" smtClean="0"/>
              <a:t>A US army signal corps officer </a:t>
            </a:r>
            <a:r>
              <a:rPr lang="en-IN" sz="2200" b="1" i="1" dirty="0" smtClean="0"/>
              <a:t>Joseph Mauborgne </a:t>
            </a:r>
            <a:r>
              <a:rPr lang="en-IN" sz="2200" dirty="0" smtClean="0"/>
              <a:t>proposed an improvement over Vernam Cipher in 1914.</a:t>
            </a:r>
          </a:p>
          <a:p>
            <a:pPr marL="514350" lvl="1" indent="-514350" algn="just">
              <a:spcBef>
                <a:spcPts val="0"/>
              </a:spcBef>
              <a:buClr>
                <a:srgbClr val="101141"/>
              </a:buClr>
              <a:buFont typeface="Wingdings" pitchFamily="2" charset="2"/>
              <a:buChar char="q"/>
            </a:pPr>
            <a:r>
              <a:rPr lang="en-IN" sz="2200" dirty="0" smtClean="0"/>
              <a:t>Mauborgne suggested using a random key that is as long as the message, so that the key need not be repeated. In addition, the key is to be used to encrypt and decrypt a single message, and then it is discarded.</a:t>
            </a:r>
          </a:p>
          <a:p>
            <a:pPr marL="514350" lvl="1" indent="-514350" algn="just">
              <a:lnSpc>
                <a:spcPct val="90000"/>
              </a:lnSpc>
              <a:spcBef>
                <a:spcPts val="0"/>
              </a:spcBef>
              <a:buClr>
                <a:srgbClr val="101141"/>
              </a:buClr>
              <a:buFont typeface="Wingdings" pitchFamily="2" charset="2"/>
              <a:buChar char="q"/>
            </a:pPr>
            <a:endParaRPr lang="en-IN" sz="2200" dirty="0" smtClean="0"/>
          </a:p>
          <a:p>
            <a:endParaRPr lang="en-IN" dirty="0"/>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One Time Pad</a:t>
            </a:r>
          </a:p>
        </p:txBody>
      </p:sp>
      <p:pic>
        <p:nvPicPr>
          <p:cNvPr id="50178" name="Picture 2" descr="Joseph Mauborgne.jpg"/>
          <p:cNvPicPr>
            <a:picLocks noChangeAspect="1" noChangeArrowheads="1"/>
          </p:cNvPicPr>
          <p:nvPr/>
        </p:nvPicPr>
        <p:blipFill>
          <a:blip r:embed="rId2" cstate="print"/>
          <a:srcRect/>
          <a:stretch>
            <a:fillRect/>
          </a:stretch>
        </p:blipFill>
        <p:spPr bwMode="auto">
          <a:xfrm>
            <a:off x="3347864" y="201710"/>
            <a:ext cx="844427" cy="1067050"/>
          </a:xfrm>
          <a:prstGeom prst="rect">
            <a:avLst/>
          </a:prstGeom>
          <a:noFill/>
        </p:spPr>
      </p:pic>
      <p:grpSp>
        <p:nvGrpSpPr>
          <p:cNvPr id="5" name="Group 9"/>
          <p:cNvGrpSpPr/>
          <p:nvPr/>
        </p:nvGrpSpPr>
        <p:grpSpPr>
          <a:xfrm>
            <a:off x="1763688" y="3573016"/>
            <a:ext cx="5040560" cy="1368152"/>
            <a:chOff x="1763688" y="3789040"/>
            <a:chExt cx="5040560" cy="1368152"/>
          </a:xfrm>
        </p:grpSpPr>
        <p:pic>
          <p:nvPicPr>
            <p:cNvPr id="50179" name="Picture 3"/>
            <p:cNvPicPr>
              <a:picLocks noChangeAspect="1" noChangeArrowheads="1"/>
            </p:cNvPicPr>
            <p:nvPr/>
          </p:nvPicPr>
          <p:blipFill>
            <a:blip r:embed="rId3" cstate="print"/>
            <a:srcRect l="33479" t="46875" r="27781" b="34422"/>
            <a:stretch>
              <a:fillRect/>
            </a:stretch>
          </p:blipFill>
          <p:spPr bwMode="auto">
            <a:xfrm>
              <a:off x="1763688" y="3789040"/>
              <a:ext cx="5040560" cy="1368152"/>
            </a:xfrm>
            <a:prstGeom prst="rect">
              <a:avLst/>
            </a:prstGeom>
            <a:noFill/>
            <a:ln w="9525">
              <a:noFill/>
              <a:miter lim="800000"/>
              <a:headEnd/>
              <a:tailEnd/>
            </a:ln>
          </p:spPr>
        </p:pic>
        <p:sp>
          <p:nvSpPr>
            <p:cNvPr id="7" name="Rectangle 6"/>
            <p:cNvSpPr/>
            <p:nvPr/>
          </p:nvSpPr>
          <p:spPr>
            <a:xfrm>
              <a:off x="1763688" y="4221088"/>
              <a:ext cx="5040560" cy="21602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8" name="Rectangle 7"/>
            <p:cNvSpPr/>
            <p:nvPr/>
          </p:nvSpPr>
          <p:spPr>
            <a:xfrm>
              <a:off x="1763688" y="4941168"/>
              <a:ext cx="5040560" cy="21602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sp>
        <p:nvSpPr>
          <p:cNvPr id="9" name="Content Placeholder 1"/>
          <p:cNvSpPr txBox="1">
            <a:spLocks/>
          </p:cNvSpPr>
          <p:nvPr/>
        </p:nvSpPr>
        <p:spPr>
          <a:xfrm>
            <a:off x="251520" y="5210869"/>
            <a:ext cx="8229600" cy="1242467"/>
          </a:xfrm>
          <a:prstGeom prst="rect">
            <a:avLst/>
          </a:prstGeom>
        </p:spPr>
        <p:txBody>
          <a:bodyPr vert="horz" lIns="91440" tIns="45720" rIns="91440" bIns="45720" rtlCol="0">
            <a:normAutofit fontScale="92500" lnSpcReduction="10000"/>
          </a:bodyPr>
          <a:lstStyle/>
          <a:p>
            <a:pPr marL="514350" lvl="1" indent="-514350" algn="just">
              <a:buClr>
                <a:srgbClr val="101141"/>
              </a:buClr>
              <a:buFont typeface="Wingdings" pitchFamily="2" charset="2"/>
              <a:buChar char="q"/>
              <a:defRPr/>
            </a:pPr>
            <a:r>
              <a:rPr lang="en-IN" sz="2200" dirty="0" smtClean="0">
                <a:solidFill>
                  <a:prstClr val="black"/>
                </a:solidFill>
                <a:cs typeface="Arial" pitchFamily="34" charset="0"/>
              </a:rPr>
              <a:t>One Time Pad is considered as ultimate security in cryptography. But these two issues make it practically unusable:</a:t>
            </a:r>
          </a:p>
          <a:p>
            <a:pPr marL="971550" lvl="2" indent="-514350" algn="just">
              <a:buClr>
                <a:srgbClr val="101141"/>
              </a:buClr>
              <a:buFont typeface="+mj-lt"/>
              <a:buAutoNum type="romanLcPeriod"/>
            </a:pPr>
            <a:r>
              <a:rPr lang="en-IN" sz="2200" dirty="0" smtClean="0">
                <a:solidFill>
                  <a:prstClr val="black"/>
                </a:solidFill>
                <a:cs typeface="Arial" pitchFamily="34" charset="0"/>
              </a:rPr>
              <a:t>Large number of random keys.</a:t>
            </a:r>
          </a:p>
          <a:p>
            <a:pPr marL="971550" lvl="2" indent="-514350" algn="just">
              <a:buClr>
                <a:srgbClr val="101141"/>
              </a:buClr>
              <a:buFont typeface="+mj-lt"/>
              <a:buAutoNum type="romanLcPeriod"/>
            </a:pPr>
            <a:r>
              <a:rPr lang="en-IN" sz="2200" dirty="0" smtClean="0">
                <a:solidFill>
                  <a:prstClr val="black"/>
                </a:solidFill>
                <a:cs typeface="Arial" pitchFamily="34" charset="0"/>
              </a:rPr>
              <a:t>Secure channel to communicate these keys.</a:t>
            </a:r>
          </a:p>
          <a:p>
            <a:pPr marL="514350" lvl="1" indent="-514350" algn="just">
              <a:buClr>
                <a:srgbClr val="101141"/>
              </a:buClr>
              <a:buFont typeface="Wingdings" pitchFamily="2" charset="2"/>
              <a:buChar char="q"/>
              <a:defRPr/>
            </a:pPr>
            <a:endParaRPr lang="en-IN" sz="2200" dirty="0">
              <a:solidFill>
                <a:prstClr val="black"/>
              </a:solidFill>
              <a:cs typeface="Arial" pitchFamily="34" charset="0"/>
            </a:endParaRPr>
          </a:p>
        </p:txBody>
      </p:sp>
      <p:sp>
        <p:nvSpPr>
          <p:cNvPr id="11" name="Rectangle 10"/>
          <p:cNvSpPr/>
          <p:nvPr/>
        </p:nvSpPr>
        <p:spPr>
          <a:xfrm>
            <a:off x="7092280" y="3573016"/>
            <a:ext cx="1440160" cy="1368152"/>
          </a:xfrm>
          <a:prstGeom prst="rect">
            <a:avLst/>
          </a:prstGeom>
          <a:noFill/>
          <a:ln w="254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prstClr val="black"/>
                </a:solidFill>
              </a:rPr>
              <a:t>Same ciphertext but different keys yield different plaintexts.</a:t>
            </a:r>
            <a:endParaRPr lang="en-IN" sz="1600" dirty="0">
              <a:solidFill>
                <a:prstClr val="black"/>
              </a:solidFill>
            </a:endParaRPr>
          </a:p>
        </p:txBody>
      </p:sp>
    </p:spTree>
    <p:extLst>
      <p:ext uri="{BB962C8B-B14F-4D97-AF65-F5344CB8AC3E}">
        <p14:creationId xmlns="" xmlns:p14="http://schemas.microsoft.com/office/powerpoint/2010/main" val="393282447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r>
              <a:rPr lang="en-US" sz="3200" dirty="0" smtClean="0">
                <a:cs typeface="+mn-cs"/>
              </a:rPr>
              <a:t>Plain text is: IF</a:t>
            </a:r>
          </a:p>
          <a:p>
            <a:pPr>
              <a:buChar char="•"/>
            </a:pPr>
            <a:r>
              <a:rPr lang="en-US" sz="3200" dirty="0"/>
              <a:t>key be (1010110 0110001)</a:t>
            </a:r>
            <a:endParaRPr lang="en-US" sz="3200" dirty="0" smtClean="0">
              <a:cs typeface="+mn-cs"/>
            </a:endParaRPr>
          </a:p>
          <a:p>
            <a:pPr>
              <a:buChar char="•"/>
            </a:pPr>
            <a:r>
              <a:rPr lang="en-US" sz="3200" dirty="0" smtClean="0">
                <a:cs typeface="+mn-cs"/>
              </a:rPr>
              <a:t>Let </a:t>
            </a:r>
            <a:r>
              <a:rPr lang="en-US" sz="3200" dirty="0">
                <a:cs typeface="+mn-cs"/>
              </a:rPr>
              <a:t>the message be IF then </a:t>
            </a:r>
            <a:r>
              <a:rPr lang="en-US" sz="3200" dirty="0" smtClean="0">
                <a:cs typeface="+mn-cs"/>
              </a:rPr>
              <a:t>to get its binary value we need to first get the ASCII code and convert it into binary</a:t>
            </a:r>
            <a:endParaRPr lang="en-US" sz="3200" dirty="0">
              <a:cs typeface="+mn-cs"/>
            </a:endParaRPr>
          </a:p>
          <a:p>
            <a:pPr>
              <a:buChar char="•"/>
            </a:pPr>
            <a:r>
              <a:rPr lang="en-US" sz="3200" dirty="0" smtClean="0">
                <a:cs typeface="+mn-cs"/>
              </a:rPr>
              <a:t>Binary value for IF is (1001001 </a:t>
            </a:r>
            <a:r>
              <a:rPr lang="en-US" sz="3200" dirty="0">
                <a:cs typeface="+mn-cs"/>
              </a:rPr>
              <a:t>1000110</a:t>
            </a:r>
            <a:r>
              <a:rPr lang="en-US" sz="3200" dirty="0" smtClean="0">
                <a:cs typeface="+mn-cs"/>
              </a:rPr>
              <a:t>)</a:t>
            </a:r>
          </a:p>
          <a:p>
            <a:pPr>
              <a:buChar char="•"/>
            </a:pPr>
            <a:r>
              <a:rPr lang="en-US" sz="3200" dirty="0" smtClean="0">
                <a:cs typeface="+mn-cs"/>
              </a:rPr>
              <a:t>The </a:t>
            </a:r>
            <a:r>
              <a:rPr lang="en-US" sz="3200" dirty="0" err="1" smtClean="0">
                <a:cs typeface="+mn-cs"/>
              </a:rPr>
              <a:t>ciphertext</a:t>
            </a:r>
            <a:r>
              <a:rPr lang="en-US" sz="3200" dirty="0" smtClean="0">
                <a:cs typeface="+mn-cs"/>
              </a:rPr>
              <a:t> can be found exoring message and key bits</a:t>
            </a:r>
            <a:endParaRPr lang="en-US" sz="3200" dirty="0">
              <a:cs typeface="+mn-cs"/>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smtClean="0">
                <a:latin typeface="+mj-lt"/>
                <a:ea typeface="+mj-ea"/>
                <a:cs typeface="+mj-cs"/>
              </a:rPr>
              <a:t>Example :: One Time Pad or </a:t>
            </a:r>
            <a:r>
              <a:rPr lang="en-US" sz="3200" dirty="0" err="1" smtClean="0">
                <a:latin typeface="+mj-lt"/>
                <a:ea typeface="+mj-ea"/>
                <a:cs typeface="+mj-cs"/>
              </a:rPr>
              <a:t>Vernam</a:t>
            </a:r>
            <a:r>
              <a:rPr lang="en-US" sz="3200" dirty="0" smtClean="0">
                <a:latin typeface="+mj-lt"/>
                <a:ea typeface="+mj-ea"/>
                <a:cs typeface="+mj-cs"/>
              </a:rPr>
              <a:t> Cipher</a:t>
            </a:r>
            <a:endParaRPr lang="en-US" sz="3200" dirty="0">
              <a:latin typeface="+mj-lt"/>
              <a:ea typeface="+mj-ea"/>
              <a:cs typeface="+mj-cs"/>
            </a:endParaRPr>
          </a:p>
        </p:txBody>
      </p:sp>
    </p:spTree>
    <p:extLst>
      <p:ext uri="{BB962C8B-B14F-4D97-AF65-F5344CB8AC3E}">
        <p14:creationId xmlns="" xmlns:p14="http://schemas.microsoft.com/office/powerpoint/2010/main" val="78145935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r>
              <a:rPr lang="en-US" sz="3200" dirty="0" smtClean="0">
                <a:cs typeface="+mn-cs"/>
              </a:rPr>
              <a:t>Encryption:</a:t>
            </a:r>
          </a:p>
          <a:p>
            <a:pPr>
              <a:buChar char="•"/>
            </a:pPr>
            <a:endParaRPr lang="en-US" sz="3200" dirty="0">
              <a:cs typeface="+mn-cs"/>
            </a:endParaRPr>
          </a:p>
          <a:p>
            <a:pPr>
              <a:buChar char="•"/>
            </a:pPr>
            <a:endParaRPr lang="en-US" sz="3200" dirty="0" smtClean="0">
              <a:cs typeface="+mn-cs"/>
            </a:endParaRPr>
          </a:p>
          <a:p>
            <a:pPr>
              <a:buChar char="•"/>
            </a:pPr>
            <a:endParaRPr lang="en-US" sz="3200" dirty="0">
              <a:cs typeface="+mn-cs"/>
            </a:endParaRPr>
          </a:p>
          <a:p>
            <a:pPr>
              <a:buChar char="•"/>
            </a:pPr>
            <a:r>
              <a:rPr lang="en-US" sz="3200" dirty="0" smtClean="0">
                <a:cs typeface="+mn-cs"/>
              </a:rPr>
              <a:t>Decryption:</a:t>
            </a:r>
          </a:p>
          <a:p>
            <a:pPr>
              <a:buChar char="•"/>
            </a:pPr>
            <a:endParaRPr lang="en-US" sz="3200" dirty="0">
              <a:cs typeface="+mn-cs"/>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US" sz="3200" dirty="0" smtClean="0">
                <a:latin typeface="+mj-lt"/>
                <a:ea typeface="+mj-ea"/>
                <a:cs typeface="+mj-cs"/>
              </a:rPr>
              <a:t>Example :: One Time Pad or </a:t>
            </a:r>
            <a:r>
              <a:rPr lang="en-US" sz="3200" dirty="0" err="1" smtClean="0">
                <a:latin typeface="+mj-lt"/>
                <a:ea typeface="+mj-ea"/>
                <a:cs typeface="+mj-cs"/>
              </a:rPr>
              <a:t>Vernam</a:t>
            </a:r>
            <a:r>
              <a:rPr lang="en-US" sz="3200" dirty="0" smtClean="0">
                <a:latin typeface="+mj-lt"/>
                <a:ea typeface="+mj-ea"/>
                <a:cs typeface="+mj-cs"/>
              </a:rPr>
              <a:t> Cipher</a:t>
            </a:r>
            <a:endParaRPr lang="en-US" sz="3200" dirty="0">
              <a:latin typeface="+mj-lt"/>
              <a:ea typeface="+mj-ea"/>
              <a:cs typeface="+mj-cs"/>
            </a:endParaRPr>
          </a:p>
        </p:txBody>
      </p:sp>
      <p:sp>
        <p:nvSpPr>
          <p:cNvPr id="6" name="TextBox 5"/>
          <p:cNvSpPr txBox="1"/>
          <p:nvPr/>
        </p:nvSpPr>
        <p:spPr>
          <a:xfrm>
            <a:off x="2219008" y="2228650"/>
            <a:ext cx="3960440" cy="1323439"/>
          </a:xfrm>
          <a:prstGeom prst="rect">
            <a:avLst/>
          </a:prstGeom>
          <a:noFill/>
        </p:spPr>
        <p:txBody>
          <a:bodyPr wrap="square" rtlCol="0">
            <a:spAutoFit/>
          </a:bodyPr>
          <a:lstStyle/>
          <a:p>
            <a:r>
              <a:rPr lang="en-US" sz="2000" dirty="0" smtClean="0"/>
              <a:t>1001001 1000110            Plaintext</a:t>
            </a:r>
          </a:p>
          <a:p>
            <a:r>
              <a:rPr lang="en-US" sz="2000" dirty="0" smtClean="0"/>
              <a:t>1010110 0110001            Key</a:t>
            </a:r>
          </a:p>
          <a:p>
            <a:endParaRPr lang="en-US" sz="2000" dirty="0" smtClean="0"/>
          </a:p>
          <a:p>
            <a:r>
              <a:rPr lang="en-US" sz="2000" dirty="0" smtClean="0"/>
              <a:t>0011111 1110111            </a:t>
            </a:r>
            <a:r>
              <a:rPr lang="en-US" sz="2000" dirty="0" err="1" smtClean="0"/>
              <a:t>Ciphertext</a:t>
            </a:r>
            <a:endParaRPr lang="en-US" sz="2000" dirty="0"/>
          </a:p>
        </p:txBody>
      </p:sp>
      <p:cxnSp>
        <p:nvCxnSpPr>
          <p:cNvPr id="8" name="Straight Connector 7"/>
          <p:cNvCxnSpPr/>
          <p:nvPr/>
        </p:nvCxnSpPr>
        <p:spPr>
          <a:xfrm>
            <a:off x="2219008" y="3068960"/>
            <a:ext cx="2011680" cy="0"/>
          </a:xfrm>
          <a:prstGeom prst="line">
            <a:avLst/>
          </a:prstGeom>
          <a:ln>
            <a:solidFill>
              <a:schemeClr val="tx2"/>
            </a:solidFill>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2205360" y="4577487"/>
            <a:ext cx="3960440" cy="1323439"/>
          </a:xfrm>
          <a:prstGeom prst="rect">
            <a:avLst/>
          </a:prstGeom>
          <a:noFill/>
        </p:spPr>
        <p:txBody>
          <a:bodyPr wrap="square" rtlCol="0">
            <a:spAutoFit/>
          </a:bodyPr>
          <a:lstStyle/>
          <a:p>
            <a:r>
              <a:rPr lang="en-US" sz="2000" dirty="0" smtClean="0"/>
              <a:t>0011111 1110111            </a:t>
            </a:r>
            <a:r>
              <a:rPr lang="en-US" sz="2000" dirty="0" err="1" smtClean="0"/>
              <a:t>Ciphertext</a:t>
            </a:r>
            <a:endParaRPr lang="en-US" sz="2000" dirty="0" smtClean="0"/>
          </a:p>
          <a:p>
            <a:r>
              <a:rPr lang="en-US" sz="2000" dirty="0" smtClean="0"/>
              <a:t>1010110 0110001            Key</a:t>
            </a:r>
          </a:p>
          <a:p>
            <a:endParaRPr lang="en-US" sz="2000" dirty="0" smtClean="0"/>
          </a:p>
          <a:p>
            <a:r>
              <a:rPr lang="en-US" sz="2000" dirty="0" smtClean="0"/>
              <a:t>1001001 1000110            Plaintext</a:t>
            </a:r>
            <a:endParaRPr lang="en-US" sz="2000" dirty="0"/>
          </a:p>
        </p:txBody>
      </p:sp>
    </p:spTree>
    <p:extLst>
      <p:ext uri="{BB962C8B-B14F-4D97-AF65-F5344CB8AC3E}">
        <p14:creationId xmlns="" xmlns:p14="http://schemas.microsoft.com/office/powerpoint/2010/main" val="131943600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a:bodyPr>
          <a:lstStyle/>
          <a:p>
            <a:pPr>
              <a:buChar char="•"/>
            </a:pPr>
            <a:endParaRPr lang="en-US" sz="3200" dirty="0" smtClean="0">
              <a:cs typeface="+mn-cs"/>
            </a:endParaRPr>
          </a:p>
          <a:p>
            <a:pPr>
              <a:buChar char="•"/>
            </a:pPr>
            <a:endParaRPr lang="en-US" sz="3200" dirty="0">
              <a:cs typeface="+mn-cs"/>
            </a:endParaRPr>
          </a:p>
        </p:txBody>
      </p:sp>
      <p:sp>
        <p:nvSpPr>
          <p:cNvPr id="3" name="Content Placeholder 2"/>
          <p:cNvSpPr>
            <a:spLocks noGrp="1"/>
          </p:cNvSpPr>
          <p:nvPr>
            <p:ph sz="quarter" idx="10"/>
          </p:nvPr>
        </p:nvSpPr>
        <p:spPr>
          <a:xfrm>
            <a:off x="286990" y="152401"/>
            <a:ext cx="6324600" cy="1143000"/>
          </a:xfrm>
        </p:spPr>
        <p:txBody>
          <a:bodyPr vert="horz" lIns="91440" tIns="45720" rIns="91440" bIns="45720" rtlCol="0" anchor="ctr" anchorCtr="0">
            <a:normAutofit/>
          </a:bodyPr>
          <a:lstStyle/>
          <a:p>
            <a:pPr>
              <a:spcBef>
                <a:spcPct val="0"/>
              </a:spcBef>
            </a:pPr>
            <a:r>
              <a:rPr lang="en-US" sz="3200" dirty="0" smtClean="0">
                <a:latin typeface="+mj-lt"/>
                <a:ea typeface="+mj-ea"/>
                <a:cs typeface="+mj-cs"/>
              </a:rPr>
              <a:t>ASCII Table for Reference</a:t>
            </a:r>
            <a:endParaRPr lang="en-US" sz="3200" dirty="0">
              <a:latin typeface="+mj-lt"/>
              <a:ea typeface="+mj-ea"/>
              <a:cs typeface="+mj-cs"/>
            </a:endParaRPr>
          </a:p>
        </p:txBody>
      </p:sp>
      <p:pic>
        <p:nvPicPr>
          <p:cNvPr id="7" name="Picture 6"/>
          <p:cNvPicPr>
            <a:picLocks noChangeAspect="1"/>
          </p:cNvPicPr>
          <p:nvPr/>
        </p:nvPicPr>
        <p:blipFill>
          <a:blip r:embed="rId2"/>
          <a:stretch>
            <a:fillRect/>
          </a:stretch>
        </p:blipFill>
        <p:spPr>
          <a:xfrm>
            <a:off x="1187624" y="1493837"/>
            <a:ext cx="7056784" cy="4869904"/>
          </a:xfrm>
          <a:prstGeom prst="rect">
            <a:avLst/>
          </a:prstGeom>
        </p:spPr>
      </p:pic>
    </p:spTree>
    <p:extLst>
      <p:ext uri="{BB962C8B-B14F-4D97-AF65-F5344CB8AC3E}">
        <p14:creationId xmlns="" xmlns:p14="http://schemas.microsoft.com/office/powerpoint/2010/main" val="421440298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2924944"/>
            <a:ext cx="7128792" cy="1584176"/>
          </a:xfrm>
        </p:spPr>
        <p:txBody>
          <a:bodyPr/>
          <a:lstStyle/>
          <a:p>
            <a:pPr algn="ctr"/>
            <a:r>
              <a:rPr lang="en-US" dirty="0" smtClean="0"/>
              <a:t>Classical Encryption Techniques : </a:t>
            </a:r>
            <a:r>
              <a:rPr lang="en-IN" b="1" dirty="0" smtClean="0"/>
              <a:t>Transposition Encryption </a:t>
            </a:r>
            <a:r>
              <a:rPr lang="en-IN" b="1" dirty="0"/>
              <a:t>T</a:t>
            </a:r>
            <a:r>
              <a:rPr lang="en-IN" b="1" dirty="0" smtClean="0"/>
              <a:t>echnique</a:t>
            </a:r>
            <a:endParaRPr lang="en-US" b="1" dirty="0"/>
          </a:p>
        </p:txBody>
      </p:sp>
    </p:spTree>
    <p:extLst>
      <p:ext uri="{BB962C8B-B14F-4D97-AF65-F5344CB8AC3E}">
        <p14:creationId xmlns="" xmlns:p14="http://schemas.microsoft.com/office/powerpoint/2010/main" val="51295447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fontScale="92500" lnSpcReduction="20000"/>
          </a:bodyPr>
          <a:lstStyle/>
          <a:p>
            <a:pPr>
              <a:buChar char="•"/>
            </a:pPr>
            <a:r>
              <a:rPr lang="en-US" sz="3200" dirty="0">
                <a:cs typeface="+mn-cs"/>
              </a:rPr>
              <a:t>All the techniques examined so far involve the substitution of a </a:t>
            </a:r>
            <a:r>
              <a:rPr lang="en-US" sz="3200" dirty="0" err="1">
                <a:cs typeface="+mn-cs"/>
              </a:rPr>
              <a:t>ciphertext</a:t>
            </a:r>
            <a:r>
              <a:rPr lang="en-US" sz="3200" dirty="0">
                <a:cs typeface="+mn-cs"/>
              </a:rPr>
              <a:t> symbol for a plaintext symbol. </a:t>
            </a:r>
          </a:p>
          <a:p>
            <a:pPr>
              <a:buChar char="•"/>
            </a:pPr>
            <a:r>
              <a:rPr lang="en-US" sz="3200" dirty="0">
                <a:cs typeface="+mn-cs"/>
              </a:rPr>
              <a:t>A very different kind of mapping is achieved by performing some sort of permutation on the plaintext letters. This technique is referred to as a transposition cipher.</a:t>
            </a:r>
          </a:p>
          <a:p>
            <a:pPr>
              <a:buChar char="•"/>
            </a:pPr>
            <a:r>
              <a:rPr lang="en-US" sz="3200" dirty="0">
                <a:cs typeface="+mn-cs"/>
              </a:rPr>
              <a:t>E.g. plaintext is written row wise and encrypted reading it column wise based on the key. Multiple iteration can be done to make the forged reconstruction difficult.</a:t>
            </a:r>
          </a:p>
          <a:p>
            <a:pPr>
              <a:buChar char="•"/>
            </a:pPr>
            <a:endParaRPr lang="en-US" sz="3200" dirty="0">
              <a:cs typeface="+mn-cs"/>
            </a:endParaRPr>
          </a:p>
          <a:p>
            <a:pPr>
              <a:buChar char="•"/>
            </a:pPr>
            <a:endParaRPr lang="en-US" sz="3200" dirty="0">
              <a:cs typeface="+mn-cs"/>
            </a:endParaRPr>
          </a:p>
          <a:p>
            <a:pPr lvl="1"/>
            <a:endParaRPr lang="en-IN" dirty="0"/>
          </a:p>
        </p:txBody>
      </p:sp>
      <p:sp>
        <p:nvSpPr>
          <p:cNvPr id="3" name="Content Placeholder 2"/>
          <p:cNvSpPr>
            <a:spLocks noGrp="1"/>
          </p:cNvSpPr>
          <p:nvPr>
            <p:ph sz="quarter" idx="10"/>
          </p:nvPr>
        </p:nvSpPr>
        <p:spPr>
          <a:xfrm>
            <a:off x="304800" y="282087"/>
            <a:ext cx="6324600" cy="907901"/>
          </a:xfrm>
        </p:spPr>
        <p:txBody>
          <a:bodyPr vert="horz" lIns="91440" tIns="45720" rIns="91440" bIns="45720" rtlCol="0" anchor="ctr" anchorCtr="0">
            <a:normAutofit/>
          </a:bodyPr>
          <a:lstStyle/>
          <a:p>
            <a:pPr>
              <a:spcBef>
                <a:spcPct val="0"/>
              </a:spcBef>
            </a:pPr>
            <a:r>
              <a:rPr lang="en-IN" sz="3200" dirty="0">
                <a:latin typeface="+mj-lt"/>
                <a:ea typeface="+mj-ea"/>
                <a:cs typeface="+mj-cs"/>
              </a:rPr>
              <a:t>Transposition Technique</a:t>
            </a:r>
          </a:p>
        </p:txBody>
      </p:sp>
    </p:spTree>
    <p:extLst>
      <p:ext uri="{BB962C8B-B14F-4D97-AF65-F5344CB8AC3E}">
        <p14:creationId xmlns="" xmlns:p14="http://schemas.microsoft.com/office/powerpoint/2010/main" val="39164782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251520" y="188640"/>
            <a:ext cx="5832648" cy="1080120"/>
          </a:xfrm>
        </p:spPr>
        <p:txBody>
          <a:bodyPr vert="horz" lIns="91440" tIns="45720" rIns="91440" bIns="45720" rtlCol="0" anchor="ctr" anchorCtr="0">
            <a:normAutofit/>
          </a:bodyPr>
          <a:lstStyle/>
          <a:p>
            <a:pPr indent="-342900">
              <a:lnSpc>
                <a:spcPts val="3600"/>
              </a:lnSpc>
              <a:buFont typeface="Arial" pitchFamily="34" charset="0"/>
            </a:pPr>
            <a:r>
              <a:rPr lang="en-GB" altLang="en-US" spc="-150" dirty="0" smtClean="0"/>
              <a:t>Multiple Level Transposition Example</a:t>
            </a:r>
            <a:endParaRPr lang="en-GB" altLang="en-US" spc="-150" dirty="0"/>
          </a:p>
        </p:txBody>
      </p:sp>
      <p:pic>
        <p:nvPicPr>
          <p:cNvPr id="5" name="Picture 2"/>
          <p:cNvPicPr>
            <a:picLocks noChangeAspect="1" noChangeArrowheads="1"/>
          </p:cNvPicPr>
          <p:nvPr/>
        </p:nvPicPr>
        <p:blipFill>
          <a:blip r:embed="rId2" cstate="print"/>
          <a:srcRect l="37353" t="56719" r="32208" b="24578"/>
          <a:stretch>
            <a:fillRect/>
          </a:stretch>
        </p:blipFill>
        <p:spPr bwMode="auto">
          <a:xfrm>
            <a:off x="1691680" y="2420888"/>
            <a:ext cx="3960440" cy="1368152"/>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l="39485" t="22438" r="32843" b="59844"/>
          <a:stretch>
            <a:fillRect/>
          </a:stretch>
        </p:blipFill>
        <p:spPr bwMode="auto">
          <a:xfrm>
            <a:off x="1835696" y="4077072"/>
            <a:ext cx="3600400" cy="1296144"/>
          </a:xfrm>
          <a:prstGeom prst="rect">
            <a:avLst/>
          </a:prstGeom>
          <a:noFill/>
          <a:ln w="9525">
            <a:noFill/>
            <a:miter lim="800000"/>
            <a:headEnd/>
            <a:tailEnd/>
          </a:ln>
        </p:spPr>
      </p:pic>
      <p:sp>
        <p:nvSpPr>
          <p:cNvPr id="7" name="TextBox 6"/>
          <p:cNvSpPr txBox="1"/>
          <p:nvPr/>
        </p:nvSpPr>
        <p:spPr>
          <a:xfrm>
            <a:off x="5724128" y="2780928"/>
            <a:ext cx="2016224" cy="369332"/>
          </a:xfrm>
          <a:prstGeom prst="rect">
            <a:avLst/>
          </a:prstGeom>
          <a:noFill/>
        </p:spPr>
        <p:txBody>
          <a:bodyPr wrap="square" rtlCol="0">
            <a:spAutoFit/>
          </a:bodyPr>
          <a:lstStyle/>
          <a:p>
            <a:r>
              <a:rPr lang="en-IN" b="1" i="1" u="sng" dirty="0" smtClean="0"/>
              <a:t>First Transposition</a:t>
            </a:r>
            <a:endParaRPr lang="en-IN" b="1" i="1" u="sng" dirty="0"/>
          </a:p>
        </p:txBody>
      </p:sp>
      <p:sp>
        <p:nvSpPr>
          <p:cNvPr id="8" name="TextBox 7"/>
          <p:cNvSpPr txBox="1"/>
          <p:nvPr/>
        </p:nvSpPr>
        <p:spPr>
          <a:xfrm>
            <a:off x="5868144" y="4540478"/>
            <a:ext cx="2232248" cy="369332"/>
          </a:xfrm>
          <a:prstGeom prst="rect">
            <a:avLst/>
          </a:prstGeom>
          <a:noFill/>
        </p:spPr>
        <p:txBody>
          <a:bodyPr wrap="square" rtlCol="0">
            <a:spAutoFit/>
          </a:bodyPr>
          <a:lstStyle/>
          <a:p>
            <a:r>
              <a:rPr lang="en-IN" b="1" i="1" u="sng" dirty="0" smtClean="0"/>
              <a:t>Second Transposition</a:t>
            </a:r>
            <a:endParaRPr lang="en-IN" b="1" i="1" u="sng" dirty="0"/>
          </a:p>
        </p:txBody>
      </p:sp>
    </p:spTree>
    <p:extLst>
      <p:ext uri="{BB962C8B-B14F-4D97-AF65-F5344CB8AC3E}">
        <p14:creationId xmlns="" xmlns:p14="http://schemas.microsoft.com/office/powerpoint/2010/main" val="344335086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959499"/>
          </a:xfrm>
        </p:spPr>
        <p:txBody>
          <a:bodyPr vert="horz" lIns="91440" tIns="45720" rIns="91440" bIns="45720" rtlCol="0">
            <a:normAutofit fontScale="85000" lnSpcReduction="20000"/>
          </a:bodyPr>
          <a:lstStyle/>
          <a:p>
            <a:pPr>
              <a:buChar char="•"/>
            </a:pPr>
            <a:r>
              <a:rPr lang="en-IN" sz="3200" dirty="0">
                <a:cs typeface="+mn-cs"/>
              </a:rPr>
              <a:t>The </a:t>
            </a:r>
            <a:r>
              <a:rPr lang="en-IN" sz="3200" dirty="0" err="1">
                <a:cs typeface="+mn-cs"/>
              </a:rPr>
              <a:t>railfence</a:t>
            </a:r>
            <a:r>
              <a:rPr lang="en-IN" sz="3200" dirty="0">
                <a:cs typeface="+mn-cs"/>
              </a:rPr>
              <a:t> cipher is a very simple, easy to crack cipher. It is a transposition cipher that follows a simple rule for mixing up the characters in the plaintext to form the </a:t>
            </a:r>
            <a:r>
              <a:rPr lang="en-IN" sz="3200" dirty="0" err="1">
                <a:cs typeface="+mn-cs"/>
              </a:rPr>
              <a:t>ciphertext</a:t>
            </a:r>
            <a:r>
              <a:rPr lang="en-IN" sz="3200" dirty="0">
                <a:cs typeface="+mn-cs"/>
              </a:rPr>
              <a:t>. The </a:t>
            </a:r>
            <a:r>
              <a:rPr lang="en-IN" sz="3200" dirty="0" err="1">
                <a:cs typeface="+mn-cs"/>
              </a:rPr>
              <a:t>railfence</a:t>
            </a:r>
            <a:r>
              <a:rPr lang="en-IN" sz="3200" dirty="0">
                <a:cs typeface="+mn-cs"/>
              </a:rPr>
              <a:t> cipher offers essentially no communication security, and it will be shown that it can be easily broken even by hand.</a:t>
            </a:r>
          </a:p>
          <a:p>
            <a:pPr>
              <a:buChar char="•"/>
            </a:pPr>
            <a:r>
              <a:rPr lang="en-IN" sz="3200" dirty="0">
                <a:cs typeface="+mn-cs"/>
              </a:rPr>
              <a:t>Although weak on its own, it can be combined with other ciphers, such as a substitution cipher, the combination of which is more difficult to break than either cipher on it's own.</a:t>
            </a:r>
          </a:p>
          <a:p>
            <a:pPr>
              <a:buChar char="•"/>
            </a:pPr>
            <a:r>
              <a:rPr lang="en-IN" sz="3200" dirty="0">
                <a:cs typeface="+mn-cs"/>
              </a:rPr>
              <a:t>Many websites claim that the rail-fence cipher is a simpler "write down the columns, read along the rows" cipher. This is equivalent to using an un-keyed columnar transposition cipher.</a:t>
            </a:r>
          </a:p>
          <a:p>
            <a:pPr>
              <a:buChar char="•"/>
            </a:pPr>
            <a:endParaRPr lang="en-IN" sz="3200" dirty="0">
              <a:cs typeface="+mn-cs"/>
            </a:endParaRPr>
          </a:p>
        </p:txBody>
      </p:sp>
      <p:sp>
        <p:nvSpPr>
          <p:cNvPr id="3" name="Content Placeholder 2"/>
          <p:cNvSpPr>
            <a:spLocks noGrp="1"/>
          </p:cNvSpPr>
          <p:nvPr>
            <p:ph sz="quarter" idx="10"/>
          </p:nvPr>
        </p:nvSpPr>
        <p:spPr>
          <a:xfrm>
            <a:off x="304800" y="260648"/>
            <a:ext cx="6324600" cy="900336"/>
          </a:xfrm>
        </p:spPr>
        <p:txBody>
          <a:bodyPr vert="horz" lIns="91440" tIns="45720" rIns="91440" bIns="45720" rtlCol="0" anchor="ctr" anchorCtr="0">
            <a:normAutofit/>
          </a:bodyPr>
          <a:lstStyle/>
          <a:p>
            <a:pPr>
              <a:spcBef>
                <a:spcPct val="0"/>
              </a:spcBef>
            </a:pPr>
            <a:r>
              <a:rPr lang="en-IN" sz="3200" dirty="0">
                <a:latin typeface="+mj-lt"/>
                <a:ea typeface="+mj-ea"/>
                <a:cs typeface="+mj-cs"/>
              </a:rPr>
              <a:t>Rail  </a:t>
            </a:r>
            <a:r>
              <a:rPr lang="en-IN" sz="3200" dirty="0" err="1">
                <a:latin typeface="+mj-lt"/>
                <a:ea typeface="+mj-ea"/>
                <a:cs typeface="+mj-cs"/>
              </a:rPr>
              <a:t>Fense</a:t>
            </a:r>
            <a:r>
              <a:rPr lang="en-IN" sz="3200" dirty="0">
                <a:latin typeface="+mj-lt"/>
                <a:ea typeface="+mj-ea"/>
                <a:cs typeface="+mj-cs"/>
              </a:rPr>
              <a:t> Cipher</a:t>
            </a:r>
          </a:p>
        </p:txBody>
      </p:sp>
    </p:spTree>
    <p:extLst>
      <p:ext uri="{BB962C8B-B14F-4D97-AF65-F5344CB8AC3E}">
        <p14:creationId xmlns="" xmlns:p14="http://schemas.microsoft.com/office/powerpoint/2010/main" val="379680340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229600" cy="4887491"/>
          </a:xfrm>
        </p:spPr>
        <p:txBody>
          <a:bodyPr vert="horz" lIns="91440" tIns="45720" rIns="91440" bIns="45720" rtlCol="0">
            <a:normAutofit fontScale="92500" lnSpcReduction="20000"/>
          </a:bodyPr>
          <a:lstStyle/>
          <a:p>
            <a:pPr>
              <a:buChar char="•"/>
            </a:pPr>
            <a:r>
              <a:rPr lang="en-IN" sz="3200" dirty="0">
                <a:cs typeface="+mn-cs"/>
              </a:rPr>
              <a:t>The key for the </a:t>
            </a:r>
            <a:r>
              <a:rPr lang="en-IN" sz="3200" dirty="0" err="1">
                <a:cs typeface="+mn-cs"/>
              </a:rPr>
              <a:t>railfence</a:t>
            </a:r>
            <a:r>
              <a:rPr lang="en-IN" sz="3200" dirty="0">
                <a:cs typeface="+mn-cs"/>
              </a:rPr>
              <a:t> cipher is just the number of rails. To encrypt a piece of text, e.g</a:t>
            </a:r>
            <a:r>
              <a:rPr lang="en-IN" sz="3200" dirty="0" smtClean="0">
                <a:cs typeface="+mn-cs"/>
              </a:rPr>
              <a:t>.</a:t>
            </a:r>
          </a:p>
          <a:p>
            <a:pPr marL="0" indent="0"/>
            <a:r>
              <a:rPr lang="en-IN" sz="3200" dirty="0" smtClean="0">
                <a:solidFill>
                  <a:srgbClr val="FF0000"/>
                </a:solidFill>
                <a:cs typeface="+mn-cs"/>
              </a:rPr>
              <a:t>		defend the east wall of the castle</a:t>
            </a:r>
          </a:p>
          <a:p>
            <a:pPr>
              <a:buFont typeface="Arial" pitchFamily="34" charset="0"/>
              <a:buChar char="•"/>
            </a:pPr>
            <a:r>
              <a:rPr lang="en-IN" sz="3200" dirty="0" smtClean="0"/>
              <a:t>Encryption</a:t>
            </a:r>
            <a:endParaRPr lang="en-IN" sz="3200" dirty="0" smtClean="0">
              <a:solidFill>
                <a:srgbClr val="FF0000"/>
              </a:solidFill>
              <a:cs typeface="+mn-cs"/>
            </a:endParaRPr>
          </a:p>
          <a:p>
            <a:pPr>
              <a:buChar char="•"/>
            </a:pPr>
            <a:r>
              <a:rPr lang="en-IN" sz="3200" dirty="0" smtClean="0">
                <a:cs typeface="+mn-cs"/>
              </a:rPr>
              <a:t>We </a:t>
            </a:r>
            <a:r>
              <a:rPr lang="en-IN" sz="3200" dirty="0">
                <a:cs typeface="+mn-cs"/>
              </a:rPr>
              <a:t>write it out in a special way on a number of rails (the key here is 3)</a:t>
            </a:r>
          </a:p>
          <a:p>
            <a:pPr>
              <a:buChar char="•"/>
            </a:pPr>
            <a:endParaRPr lang="en-IN" sz="3200" dirty="0">
              <a:cs typeface="+mn-cs"/>
            </a:endParaRPr>
          </a:p>
          <a:p>
            <a:pPr>
              <a:buChar char="•"/>
            </a:pPr>
            <a:endParaRPr lang="en-IN" sz="3200" dirty="0">
              <a:cs typeface="+mn-cs"/>
            </a:endParaRPr>
          </a:p>
          <a:p>
            <a:pPr>
              <a:buChar char="•"/>
            </a:pPr>
            <a:endParaRPr lang="en-IN" sz="3200" dirty="0">
              <a:cs typeface="+mn-cs"/>
            </a:endParaRPr>
          </a:p>
          <a:p>
            <a:pPr>
              <a:buChar char="•"/>
            </a:pPr>
            <a:r>
              <a:rPr lang="en-IN" sz="3200" dirty="0">
                <a:cs typeface="+mn-cs"/>
              </a:rPr>
              <a:t>The </a:t>
            </a:r>
            <a:r>
              <a:rPr lang="en-IN" sz="3200" dirty="0" err="1">
                <a:cs typeface="+mn-cs"/>
              </a:rPr>
              <a:t>ciphertext</a:t>
            </a:r>
            <a:r>
              <a:rPr lang="en-IN" sz="3200" dirty="0">
                <a:cs typeface="+mn-cs"/>
              </a:rPr>
              <a:t> is read off along the rows:</a:t>
            </a:r>
          </a:p>
          <a:p>
            <a:pPr marL="0" indent="0"/>
            <a:r>
              <a:rPr lang="en-IN" sz="3200" dirty="0">
                <a:cs typeface="+mn-cs"/>
              </a:rPr>
              <a:t>                  </a:t>
            </a:r>
            <a:r>
              <a:rPr lang="en-IN" sz="3200" dirty="0" smtClean="0">
                <a:cs typeface="+mn-cs"/>
              </a:rPr>
              <a:t>  </a:t>
            </a:r>
            <a:r>
              <a:rPr lang="en-IN" sz="3200" dirty="0" err="1" smtClean="0">
                <a:solidFill>
                  <a:srgbClr val="FF0000"/>
                </a:solidFill>
                <a:cs typeface="+mn-cs"/>
              </a:rPr>
              <a:t>dnetlhseedheswloteateftaafcl</a:t>
            </a:r>
            <a:endParaRPr lang="en-IN" sz="3200" dirty="0">
              <a:solidFill>
                <a:srgbClr val="FF0000"/>
              </a:solidFill>
              <a:cs typeface="+mn-cs"/>
            </a:endParaRPr>
          </a:p>
        </p:txBody>
      </p:sp>
      <p:sp>
        <p:nvSpPr>
          <p:cNvPr id="3" name="Content Placeholder 2"/>
          <p:cNvSpPr>
            <a:spLocks noGrp="1"/>
          </p:cNvSpPr>
          <p:nvPr>
            <p:ph sz="quarter" idx="10"/>
          </p:nvPr>
        </p:nvSpPr>
        <p:spPr>
          <a:xfrm>
            <a:off x="304800" y="188640"/>
            <a:ext cx="6324600" cy="972344"/>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 1</a:t>
            </a:r>
            <a:endParaRPr lang="en-IN" sz="3200" dirty="0">
              <a:latin typeface="+mj-lt"/>
              <a:ea typeface="+mj-ea"/>
              <a:cs typeface="+mj-cs"/>
            </a:endParaRPr>
          </a:p>
        </p:txBody>
      </p:sp>
      <p:pic>
        <p:nvPicPr>
          <p:cNvPr id="9" name="Picture 8"/>
          <p:cNvPicPr/>
          <p:nvPr/>
        </p:nvPicPr>
        <p:blipFill>
          <a:blip r:embed="rId2"/>
          <a:srcRect/>
          <a:stretch>
            <a:fillRect/>
          </a:stretch>
        </p:blipFill>
        <p:spPr bwMode="auto">
          <a:xfrm>
            <a:off x="1419204" y="4077073"/>
            <a:ext cx="6000792" cy="1224136"/>
          </a:xfrm>
          <a:prstGeom prst="rect">
            <a:avLst/>
          </a:prstGeom>
          <a:noFill/>
          <a:ln w="9525">
            <a:noFill/>
            <a:miter lim="800000"/>
            <a:headEnd/>
            <a:tailEnd/>
          </a:ln>
        </p:spPr>
      </p:pic>
    </p:spTree>
    <p:extLst>
      <p:ext uri="{BB962C8B-B14F-4D97-AF65-F5344CB8AC3E}">
        <p14:creationId xmlns="" xmlns:p14="http://schemas.microsoft.com/office/powerpoint/2010/main" val="370546123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 xmlns:p14="http://schemas.microsoft.com/office/powerpoint/2010/main" val="802936798"/>
              </p:ext>
            </p:extLst>
          </p:nvPr>
        </p:nvGraphicFramePr>
        <p:xfrm>
          <a:off x="446924" y="2202945"/>
          <a:ext cx="8291584" cy="1112520"/>
        </p:xfrm>
        <a:graphic>
          <a:graphicData uri="http://schemas.openxmlformats.org/drawingml/2006/table">
            <a:tbl>
              <a:tblPr firstRow="1" bandRow="1">
                <a:tableStyleId>{BC89EF96-8CEA-46FF-86C4-4CE0E7609802}</a:tableStyleId>
              </a:tblPr>
              <a:tblGrid>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tblGrid>
              <a:tr h="370840">
                <a:tc>
                  <a:txBody>
                    <a:bodyPr/>
                    <a:lstStyle/>
                    <a:p>
                      <a:r>
                        <a:rPr lang="en-IN" dirty="0" smtClean="0"/>
                        <a:t>d</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r>
                        <a:rPr lang="en-IN" dirty="0" smtClean="0"/>
                        <a:t>n</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E</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r>
                        <a:rPr lang="en-IN" dirty="0" smtClean="0"/>
                        <a:t>t</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l</a:t>
                      </a:r>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r>
                        <a:rPr lang="en-IN" dirty="0" smtClean="0"/>
                        <a:t>h</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s</a:t>
                      </a:r>
                      <a:endParaRPr lang="en-IN" dirty="0"/>
                    </a:p>
                  </a:txBody>
                  <a:tcPr/>
                </a:tc>
                <a:tc>
                  <a:txBody>
                    <a:bodyPr/>
                    <a:lstStyle/>
                    <a:p>
                      <a:endParaRPr lang="en-IN"/>
                    </a:p>
                  </a:txBody>
                  <a:tcPr/>
                </a:tc>
                <a:tc>
                  <a:txBody>
                    <a:bodyPr/>
                    <a:lstStyle/>
                    <a:p>
                      <a:endParaRPr lang="en-IN"/>
                    </a:p>
                  </a:txBody>
                  <a:tcPr/>
                </a:tc>
                <a:tc>
                  <a:txBody>
                    <a:bodyPr/>
                    <a:lstStyle/>
                    <a:p>
                      <a:endParaRPr lang="en-IN"/>
                    </a:p>
                  </a:txBody>
                  <a:tcPr/>
                </a:tc>
              </a:tr>
              <a:tr h="370840">
                <a:tc>
                  <a:txBody>
                    <a:bodyPr/>
                    <a:lstStyle/>
                    <a:p>
                      <a:endParaRPr lang="en-IN"/>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r>
                        <a:rPr lang="en-IN" dirty="0" smtClean="0"/>
                        <a:t>-</a:t>
                      </a:r>
                      <a:endParaRPr lang="en-IN" dirty="0"/>
                    </a:p>
                  </a:txBody>
                  <a:tcPr/>
                </a:tc>
              </a:tr>
              <a:tr h="370840">
                <a:tc>
                  <a:txBody>
                    <a:bodyPr/>
                    <a:lstStyle/>
                    <a:p>
                      <a:endParaRPr lang="en-IN"/>
                    </a:p>
                  </a:txBody>
                  <a:tcPr/>
                </a:tc>
                <a:tc>
                  <a:txBody>
                    <a:bodyPr/>
                    <a:lstStyle/>
                    <a:p>
                      <a:endParaRPr lang="en-IN"/>
                    </a:p>
                  </a:txBody>
                  <a:tcPr/>
                </a:tc>
                <a:tc>
                  <a:txBody>
                    <a:bodyPr/>
                    <a:lstStyle/>
                    <a:p>
                      <a:r>
                        <a:rPr lang="en-IN" dirty="0" smtClean="0"/>
                        <a:t>-</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IN" dirty="0" smtClean="0"/>
                        <a:t>-</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IN" dirty="0" smtClean="0"/>
                        <a:t>-</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r>
            </a:tbl>
          </a:graphicData>
        </a:graphic>
      </p:graphicFrame>
      <p:graphicFrame>
        <p:nvGraphicFramePr>
          <p:cNvPr id="8" name="Content Placeholder 3"/>
          <p:cNvGraphicFramePr>
            <a:graphicFrameLocks/>
          </p:cNvGraphicFramePr>
          <p:nvPr>
            <p:extLst>
              <p:ext uri="{D42A27DB-BD31-4B8C-83A1-F6EECF244321}">
                <p14:modId xmlns="" xmlns:p14="http://schemas.microsoft.com/office/powerpoint/2010/main" val="126475593"/>
              </p:ext>
            </p:extLst>
          </p:nvPr>
        </p:nvGraphicFramePr>
        <p:xfrm>
          <a:off x="446924" y="3466715"/>
          <a:ext cx="8291596" cy="1112520"/>
        </p:xfrm>
        <a:graphic>
          <a:graphicData uri="http://schemas.openxmlformats.org/drawingml/2006/table">
            <a:tbl>
              <a:tblPr firstRow="1" bandRow="1">
                <a:tableStyleId>{BC89EF96-8CEA-46FF-86C4-4CE0E7609802}</a:tableStyleId>
              </a:tblPr>
              <a:tblGrid>
                <a:gridCol w="293914"/>
                <a:gridCol w="293914"/>
                <a:gridCol w="293914"/>
                <a:gridCol w="293914"/>
                <a:gridCol w="293914"/>
                <a:gridCol w="355918"/>
                <a:gridCol w="293914"/>
                <a:gridCol w="293914"/>
                <a:gridCol w="293914"/>
                <a:gridCol w="293914"/>
                <a:gridCol w="293914"/>
                <a:gridCol w="293914"/>
                <a:gridCol w="293914"/>
                <a:gridCol w="293914"/>
                <a:gridCol w="293914"/>
                <a:gridCol w="293914"/>
                <a:gridCol w="293914"/>
                <a:gridCol w="293914"/>
                <a:gridCol w="293914"/>
                <a:gridCol w="293914"/>
                <a:gridCol w="293914"/>
                <a:gridCol w="293914"/>
                <a:gridCol w="293914"/>
                <a:gridCol w="293914"/>
                <a:gridCol w="304178"/>
                <a:gridCol w="283650"/>
                <a:gridCol w="293914"/>
                <a:gridCol w="293914"/>
              </a:tblGrid>
              <a:tr h="370840">
                <a:tc>
                  <a:txBody>
                    <a:bodyPr/>
                    <a:lstStyle/>
                    <a:p>
                      <a:r>
                        <a:rPr lang="en-IN" dirty="0" smtClean="0"/>
                        <a:t>d</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r>
                        <a:rPr lang="en-IN" dirty="0" smtClean="0"/>
                        <a:t>n</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E</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r>
                        <a:rPr lang="en-IN" dirty="0" smtClean="0"/>
                        <a:t>t</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l</a:t>
                      </a:r>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r>
                        <a:rPr lang="en-IN" dirty="0" smtClean="0"/>
                        <a:t>h</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s</a:t>
                      </a:r>
                      <a:endParaRPr lang="en-IN" dirty="0"/>
                    </a:p>
                  </a:txBody>
                  <a:tcPr/>
                </a:tc>
                <a:tc>
                  <a:txBody>
                    <a:bodyPr/>
                    <a:lstStyle/>
                    <a:p>
                      <a:endParaRPr lang="en-IN"/>
                    </a:p>
                  </a:txBody>
                  <a:tcPr/>
                </a:tc>
                <a:tc>
                  <a:txBody>
                    <a:bodyPr/>
                    <a:lstStyle/>
                    <a:p>
                      <a:endParaRPr lang="en-IN"/>
                    </a:p>
                  </a:txBody>
                  <a:tcPr/>
                </a:tc>
                <a:tc>
                  <a:txBody>
                    <a:bodyPr/>
                    <a:lstStyle/>
                    <a:p>
                      <a:endParaRPr lang="en-IN"/>
                    </a:p>
                  </a:txBody>
                  <a:tcPr/>
                </a:tc>
              </a:tr>
              <a:tr h="370840">
                <a:tc>
                  <a:txBody>
                    <a:bodyPr/>
                    <a:lstStyle/>
                    <a:p>
                      <a:endParaRPr lang="en-IN"/>
                    </a:p>
                  </a:txBody>
                  <a:tcPr/>
                </a:tc>
                <a:tc>
                  <a:txBody>
                    <a:bodyPr/>
                    <a:lstStyle/>
                    <a:p>
                      <a:r>
                        <a:rPr lang="en-IN" dirty="0" smtClean="0"/>
                        <a:t>e</a:t>
                      </a:r>
                      <a:endParaRPr lang="en-IN" dirty="0"/>
                    </a:p>
                  </a:txBody>
                  <a:tcPr/>
                </a:tc>
                <a:tc>
                  <a:txBody>
                    <a:bodyPr/>
                    <a:lstStyle/>
                    <a:p>
                      <a:endParaRPr lang="en-IN" dirty="0"/>
                    </a:p>
                  </a:txBody>
                  <a:tcPr/>
                </a:tc>
                <a:tc>
                  <a:txBody>
                    <a:bodyPr/>
                    <a:lstStyle/>
                    <a:p>
                      <a:r>
                        <a:rPr lang="en-IN" dirty="0" smtClean="0"/>
                        <a:t>E</a:t>
                      </a:r>
                      <a:endParaRPr lang="en-IN" dirty="0"/>
                    </a:p>
                  </a:txBody>
                  <a:tcPr/>
                </a:tc>
                <a:tc>
                  <a:txBody>
                    <a:bodyPr/>
                    <a:lstStyle/>
                    <a:p>
                      <a:endParaRPr lang="en-IN" dirty="0"/>
                    </a:p>
                  </a:txBody>
                  <a:tcPr/>
                </a:tc>
                <a:tc>
                  <a:txBody>
                    <a:bodyPr/>
                    <a:lstStyle/>
                    <a:p>
                      <a:r>
                        <a:rPr lang="en-IN" dirty="0" smtClean="0"/>
                        <a:t>d</a:t>
                      </a:r>
                      <a:endParaRPr lang="en-IN" dirty="0"/>
                    </a:p>
                  </a:txBody>
                  <a:tcPr/>
                </a:tc>
                <a:tc>
                  <a:txBody>
                    <a:bodyPr/>
                    <a:lstStyle/>
                    <a:p>
                      <a:endParaRPr lang="en-IN" dirty="0"/>
                    </a:p>
                  </a:txBody>
                  <a:tcPr/>
                </a:tc>
                <a:tc>
                  <a:txBody>
                    <a:bodyPr/>
                    <a:lstStyle/>
                    <a:p>
                      <a:r>
                        <a:rPr lang="en-IN" dirty="0" smtClean="0"/>
                        <a:t>h</a:t>
                      </a:r>
                      <a:endParaRPr lang="en-IN" dirty="0"/>
                    </a:p>
                  </a:txBody>
                  <a:tcPr/>
                </a:tc>
                <a:tc>
                  <a:txBody>
                    <a:bodyPr/>
                    <a:lstStyle/>
                    <a:p>
                      <a:endParaRPr lang="en-IN" dirty="0"/>
                    </a:p>
                  </a:txBody>
                  <a:tcPr/>
                </a:tc>
                <a:tc>
                  <a:txBody>
                    <a:bodyPr/>
                    <a:lstStyle/>
                    <a:p>
                      <a:r>
                        <a:rPr lang="en-IN" dirty="0" smtClean="0"/>
                        <a:t>e</a:t>
                      </a:r>
                      <a:endParaRPr lang="en-IN" dirty="0"/>
                    </a:p>
                  </a:txBody>
                  <a:tcPr/>
                </a:tc>
                <a:tc>
                  <a:txBody>
                    <a:bodyPr/>
                    <a:lstStyle/>
                    <a:p>
                      <a:endParaRPr lang="en-IN" dirty="0"/>
                    </a:p>
                  </a:txBody>
                  <a:tcPr/>
                </a:tc>
                <a:tc>
                  <a:txBody>
                    <a:bodyPr/>
                    <a:lstStyle/>
                    <a:p>
                      <a:r>
                        <a:rPr lang="en-IN" dirty="0" smtClean="0"/>
                        <a:t>s</a:t>
                      </a:r>
                      <a:endParaRPr lang="en-IN" dirty="0"/>
                    </a:p>
                  </a:txBody>
                  <a:tcPr/>
                </a:tc>
                <a:tc>
                  <a:txBody>
                    <a:bodyPr/>
                    <a:lstStyle/>
                    <a:p>
                      <a:endParaRPr lang="en-IN" dirty="0"/>
                    </a:p>
                  </a:txBody>
                  <a:tcPr/>
                </a:tc>
                <a:tc>
                  <a:txBody>
                    <a:bodyPr/>
                    <a:lstStyle/>
                    <a:p>
                      <a:r>
                        <a:rPr lang="en-IN" dirty="0" smtClean="0"/>
                        <a:t>w</a:t>
                      </a:r>
                      <a:endParaRPr lang="en-IN" dirty="0"/>
                    </a:p>
                  </a:txBody>
                  <a:tcPr/>
                </a:tc>
                <a:tc>
                  <a:txBody>
                    <a:bodyPr/>
                    <a:lstStyle/>
                    <a:p>
                      <a:endParaRPr lang="en-IN" dirty="0"/>
                    </a:p>
                  </a:txBody>
                  <a:tcPr/>
                </a:tc>
                <a:tc>
                  <a:txBody>
                    <a:bodyPr/>
                    <a:lstStyle/>
                    <a:p>
                      <a:r>
                        <a:rPr lang="en-IN" dirty="0" smtClean="0"/>
                        <a:t>l</a:t>
                      </a:r>
                      <a:endParaRPr lang="en-IN" dirty="0"/>
                    </a:p>
                  </a:txBody>
                  <a:tcPr/>
                </a:tc>
                <a:tc>
                  <a:txBody>
                    <a:bodyPr/>
                    <a:lstStyle/>
                    <a:p>
                      <a:endParaRPr lang="en-IN" dirty="0"/>
                    </a:p>
                  </a:txBody>
                  <a:tcPr/>
                </a:tc>
                <a:tc>
                  <a:txBody>
                    <a:bodyPr/>
                    <a:lstStyle/>
                    <a:p>
                      <a:r>
                        <a:rPr lang="en-IN" dirty="0" smtClean="0"/>
                        <a:t>o</a:t>
                      </a:r>
                      <a:endParaRPr lang="en-IN" dirty="0"/>
                    </a:p>
                  </a:txBody>
                  <a:tcPr/>
                </a:tc>
                <a:tc>
                  <a:txBody>
                    <a:bodyPr/>
                    <a:lstStyle/>
                    <a:p>
                      <a:endParaRPr lang="en-IN" dirty="0"/>
                    </a:p>
                  </a:txBody>
                  <a:tcPr/>
                </a:tc>
                <a:tc>
                  <a:txBody>
                    <a:bodyPr/>
                    <a:lstStyle/>
                    <a:p>
                      <a:r>
                        <a:rPr lang="en-IN" dirty="0" smtClean="0"/>
                        <a:t>T</a:t>
                      </a:r>
                      <a:endParaRPr lang="en-IN" dirty="0"/>
                    </a:p>
                  </a:txBody>
                  <a:tcPr/>
                </a:tc>
                <a:tc>
                  <a:txBody>
                    <a:bodyPr/>
                    <a:lstStyle/>
                    <a:p>
                      <a:endParaRPr lang="en-IN" dirty="0"/>
                    </a:p>
                  </a:txBody>
                  <a:tcPr/>
                </a:tc>
                <a:tc>
                  <a:txBody>
                    <a:bodyPr/>
                    <a:lstStyle/>
                    <a:p>
                      <a:r>
                        <a:rPr lang="en-IN" dirty="0" smtClean="0"/>
                        <a:t>e</a:t>
                      </a:r>
                      <a:endParaRPr lang="en-IN" dirty="0"/>
                    </a:p>
                  </a:txBody>
                  <a:tcPr/>
                </a:tc>
                <a:tc>
                  <a:txBody>
                    <a:bodyPr/>
                    <a:lstStyle/>
                    <a:p>
                      <a:endParaRPr lang="en-IN" dirty="0"/>
                    </a:p>
                  </a:txBody>
                  <a:tcPr/>
                </a:tc>
                <a:tc>
                  <a:txBody>
                    <a:bodyPr/>
                    <a:lstStyle/>
                    <a:p>
                      <a:r>
                        <a:rPr lang="en-IN" dirty="0" smtClean="0"/>
                        <a:t>a</a:t>
                      </a:r>
                      <a:endParaRPr lang="en-IN" dirty="0"/>
                    </a:p>
                  </a:txBody>
                  <a:tcPr/>
                </a:tc>
                <a:tc>
                  <a:txBody>
                    <a:bodyPr/>
                    <a:lstStyle/>
                    <a:p>
                      <a:endParaRPr lang="en-IN" dirty="0"/>
                    </a:p>
                  </a:txBody>
                  <a:tcPr/>
                </a:tc>
                <a:tc>
                  <a:txBody>
                    <a:bodyPr/>
                    <a:lstStyle/>
                    <a:p>
                      <a:r>
                        <a:rPr lang="en-IN" dirty="0" smtClean="0"/>
                        <a:t>T</a:t>
                      </a:r>
                      <a:endParaRPr lang="en-IN" dirty="0"/>
                    </a:p>
                  </a:txBody>
                  <a:tcPr/>
                </a:tc>
                <a:tc>
                  <a:txBody>
                    <a:bodyPr/>
                    <a:lstStyle/>
                    <a:p>
                      <a:endParaRPr lang="en-IN" dirty="0"/>
                    </a:p>
                  </a:txBody>
                  <a:tcPr/>
                </a:tc>
                <a:tc>
                  <a:txBody>
                    <a:bodyPr/>
                    <a:lstStyle/>
                    <a:p>
                      <a:r>
                        <a:rPr lang="en-IN" dirty="0" smtClean="0"/>
                        <a:t>e</a:t>
                      </a:r>
                      <a:endParaRPr lang="en-IN" dirty="0"/>
                    </a:p>
                  </a:txBody>
                  <a:tcPr/>
                </a:tc>
              </a:tr>
              <a:tr h="370840">
                <a:tc>
                  <a:txBody>
                    <a:bodyPr/>
                    <a:lstStyle/>
                    <a:p>
                      <a:endParaRPr lang="en-IN"/>
                    </a:p>
                  </a:txBody>
                  <a:tcPr/>
                </a:tc>
                <a:tc>
                  <a:txBody>
                    <a:bodyPr/>
                    <a:lstStyle/>
                    <a:p>
                      <a:endParaRPr lang="en-IN"/>
                    </a:p>
                  </a:txBody>
                  <a:tcPr/>
                </a:tc>
                <a:tc>
                  <a:txBody>
                    <a:bodyPr/>
                    <a:lstStyle/>
                    <a:p>
                      <a:r>
                        <a:rPr lang="en-IN" dirty="0" smtClean="0"/>
                        <a:t>-</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r>
                        <a:rPr lang="en-IN" dirty="0" smtClean="0"/>
                        <a:t>-</a:t>
                      </a:r>
                      <a:endParaRPr lang="en-IN" dirty="0"/>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r>
                        <a:rPr lang="en-IN" dirty="0" smtClean="0"/>
                        <a:t>-</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IN" dirty="0" smtClean="0"/>
                        <a:t>-</a:t>
                      </a:r>
                      <a:endParaRPr lang="en-IN" dirty="0"/>
                    </a:p>
                  </a:txBody>
                  <a:tcPr/>
                </a:tc>
                <a:tc>
                  <a:txBody>
                    <a:bodyPr/>
                    <a:lstStyle/>
                    <a:p>
                      <a:endParaRPr lang="en-IN" dirty="0"/>
                    </a:p>
                  </a:txBody>
                  <a:tcPr/>
                </a:tc>
              </a:tr>
            </a:tbl>
          </a:graphicData>
        </a:graphic>
      </p:graphicFrame>
      <p:graphicFrame>
        <p:nvGraphicFramePr>
          <p:cNvPr id="9" name="Content Placeholder 3"/>
          <p:cNvGraphicFramePr>
            <a:graphicFrameLocks/>
          </p:cNvGraphicFramePr>
          <p:nvPr>
            <p:extLst>
              <p:ext uri="{D42A27DB-BD31-4B8C-83A1-F6EECF244321}">
                <p14:modId xmlns="" xmlns:p14="http://schemas.microsoft.com/office/powerpoint/2010/main" val="1563431377"/>
              </p:ext>
            </p:extLst>
          </p:nvPr>
        </p:nvGraphicFramePr>
        <p:xfrm>
          <a:off x="446924" y="4751828"/>
          <a:ext cx="8291584" cy="1112520"/>
        </p:xfrm>
        <a:graphic>
          <a:graphicData uri="http://schemas.openxmlformats.org/drawingml/2006/table">
            <a:tbl>
              <a:tblPr firstRow="1" bandRow="1">
                <a:tableStyleId>{BC89EF96-8CEA-46FF-86C4-4CE0E7609802}</a:tableStyleId>
              </a:tblPr>
              <a:tblGrid>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gridCol w="296128"/>
              </a:tblGrid>
              <a:tr h="370840">
                <a:tc>
                  <a:txBody>
                    <a:bodyPr/>
                    <a:lstStyle/>
                    <a:p>
                      <a:r>
                        <a:rPr lang="en-IN" dirty="0" smtClean="0"/>
                        <a:t>d</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n</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E</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r>
                        <a:rPr lang="en-IN" dirty="0" smtClean="0"/>
                        <a:t>t</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l</a:t>
                      </a:r>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r>
                        <a:rPr lang="en-IN" dirty="0" smtClean="0"/>
                        <a:t>h</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c>
                  <a:txBody>
                    <a:bodyPr/>
                    <a:lstStyle/>
                    <a:p>
                      <a:r>
                        <a:rPr lang="en-IN" dirty="0" smtClean="0"/>
                        <a:t>s</a:t>
                      </a:r>
                      <a:endParaRPr lang="en-IN" dirty="0"/>
                    </a:p>
                  </a:txBody>
                  <a:tcPr/>
                </a:tc>
                <a:tc>
                  <a:txBody>
                    <a:bodyPr/>
                    <a:lstStyle/>
                    <a:p>
                      <a:endParaRPr lang="en-IN"/>
                    </a:p>
                  </a:txBody>
                  <a:tcPr/>
                </a:tc>
                <a:tc>
                  <a:txBody>
                    <a:bodyPr/>
                    <a:lstStyle/>
                    <a:p>
                      <a:endParaRPr lang="en-IN"/>
                    </a:p>
                  </a:txBody>
                  <a:tcPr/>
                </a:tc>
                <a:tc>
                  <a:txBody>
                    <a:bodyPr/>
                    <a:lstStyle/>
                    <a:p>
                      <a:endParaRPr lang="en-IN"/>
                    </a:p>
                  </a:txBody>
                  <a:tcPr/>
                </a:tc>
              </a:tr>
              <a:tr h="370840">
                <a:tc>
                  <a:txBody>
                    <a:bodyPr/>
                    <a:lstStyle/>
                    <a:p>
                      <a:endParaRPr lang="en-IN"/>
                    </a:p>
                  </a:txBody>
                  <a:tcPr/>
                </a:tc>
                <a:tc>
                  <a:txBody>
                    <a:bodyPr/>
                    <a:lstStyle/>
                    <a:p>
                      <a:r>
                        <a:rPr lang="en-IN" dirty="0" smtClean="0"/>
                        <a:t>e</a:t>
                      </a:r>
                      <a:endParaRPr lang="en-IN" dirty="0"/>
                    </a:p>
                  </a:txBody>
                  <a:tcPr/>
                </a:tc>
                <a:tc>
                  <a:txBody>
                    <a:bodyPr/>
                    <a:lstStyle/>
                    <a:p>
                      <a:endParaRPr lang="en-IN" dirty="0"/>
                    </a:p>
                  </a:txBody>
                  <a:tcPr/>
                </a:tc>
                <a:tc>
                  <a:txBody>
                    <a:bodyPr/>
                    <a:lstStyle/>
                    <a:p>
                      <a:r>
                        <a:rPr lang="en-IN" dirty="0" smtClean="0"/>
                        <a:t>E</a:t>
                      </a:r>
                      <a:endParaRPr lang="en-IN" dirty="0"/>
                    </a:p>
                  </a:txBody>
                  <a:tcPr/>
                </a:tc>
                <a:tc>
                  <a:txBody>
                    <a:bodyPr/>
                    <a:lstStyle/>
                    <a:p>
                      <a:endParaRPr lang="en-IN" dirty="0"/>
                    </a:p>
                  </a:txBody>
                  <a:tcPr/>
                </a:tc>
                <a:tc>
                  <a:txBody>
                    <a:bodyPr/>
                    <a:lstStyle/>
                    <a:p>
                      <a:r>
                        <a:rPr lang="en-IN" dirty="0" smtClean="0"/>
                        <a:t>d</a:t>
                      </a:r>
                      <a:endParaRPr lang="en-IN" dirty="0"/>
                    </a:p>
                  </a:txBody>
                  <a:tcPr/>
                </a:tc>
                <a:tc>
                  <a:txBody>
                    <a:bodyPr/>
                    <a:lstStyle/>
                    <a:p>
                      <a:endParaRPr lang="en-IN" dirty="0"/>
                    </a:p>
                  </a:txBody>
                  <a:tcPr/>
                </a:tc>
                <a:tc>
                  <a:txBody>
                    <a:bodyPr/>
                    <a:lstStyle/>
                    <a:p>
                      <a:r>
                        <a:rPr lang="en-IN" dirty="0" smtClean="0"/>
                        <a:t>h</a:t>
                      </a:r>
                      <a:endParaRPr lang="en-IN" dirty="0"/>
                    </a:p>
                  </a:txBody>
                  <a:tcPr/>
                </a:tc>
                <a:tc>
                  <a:txBody>
                    <a:bodyPr/>
                    <a:lstStyle/>
                    <a:p>
                      <a:endParaRPr lang="en-IN" dirty="0"/>
                    </a:p>
                  </a:txBody>
                  <a:tcPr/>
                </a:tc>
                <a:tc>
                  <a:txBody>
                    <a:bodyPr/>
                    <a:lstStyle/>
                    <a:p>
                      <a:r>
                        <a:rPr lang="en-IN" dirty="0" smtClean="0"/>
                        <a:t>e</a:t>
                      </a:r>
                      <a:endParaRPr lang="en-IN" dirty="0"/>
                    </a:p>
                  </a:txBody>
                  <a:tcPr/>
                </a:tc>
                <a:tc>
                  <a:txBody>
                    <a:bodyPr/>
                    <a:lstStyle/>
                    <a:p>
                      <a:endParaRPr lang="en-IN" dirty="0"/>
                    </a:p>
                  </a:txBody>
                  <a:tcPr/>
                </a:tc>
                <a:tc>
                  <a:txBody>
                    <a:bodyPr/>
                    <a:lstStyle/>
                    <a:p>
                      <a:r>
                        <a:rPr lang="en-IN" dirty="0" smtClean="0"/>
                        <a:t>s</a:t>
                      </a:r>
                      <a:endParaRPr lang="en-IN" dirty="0"/>
                    </a:p>
                  </a:txBody>
                  <a:tcPr/>
                </a:tc>
                <a:tc>
                  <a:txBody>
                    <a:bodyPr/>
                    <a:lstStyle/>
                    <a:p>
                      <a:endParaRPr lang="en-IN" dirty="0"/>
                    </a:p>
                  </a:txBody>
                  <a:tcPr/>
                </a:tc>
                <a:tc>
                  <a:txBody>
                    <a:bodyPr/>
                    <a:lstStyle/>
                    <a:p>
                      <a:r>
                        <a:rPr lang="en-IN" dirty="0" smtClean="0"/>
                        <a:t>w</a:t>
                      </a:r>
                      <a:endParaRPr lang="en-IN" dirty="0"/>
                    </a:p>
                  </a:txBody>
                  <a:tcPr/>
                </a:tc>
                <a:tc>
                  <a:txBody>
                    <a:bodyPr/>
                    <a:lstStyle/>
                    <a:p>
                      <a:endParaRPr lang="en-IN" dirty="0"/>
                    </a:p>
                  </a:txBody>
                  <a:tcPr/>
                </a:tc>
                <a:tc>
                  <a:txBody>
                    <a:bodyPr/>
                    <a:lstStyle/>
                    <a:p>
                      <a:r>
                        <a:rPr lang="en-IN" dirty="0" smtClean="0"/>
                        <a:t>l</a:t>
                      </a:r>
                      <a:endParaRPr lang="en-IN" dirty="0"/>
                    </a:p>
                  </a:txBody>
                  <a:tcPr/>
                </a:tc>
                <a:tc>
                  <a:txBody>
                    <a:bodyPr/>
                    <a:lstStyle/>
                    <a:p>
                      <a:endParaRPr lang="en-IN" dirty="0"/>
                    </a:p>
                  </a:txBody>
                  <a:tcPr/>
                </a:tc>
                <a:tc>
                  <a:txBody>
                    <a:bodyPr/>
                    <a:lstStyle/>
                    <a:p>
                      <a:r>
                        <a:rPr lang="en-IN" dirty="0" smtClean="0"/>
                        <a:t>o</a:t>
                      </a:r>
                      <a:endParaRPr lang="en-IN" dirty="0"/>
                    </a:p>
                  </a:txBody>
                  <a:tcPr/>
                </a:tc>
                <a:tc>
                  <a:txBody>
                    <a:bodyPr/>
                    <a:lstStyle/>
                    <a:p>
                      <a:endParaRPr lang="en-IN" dirty="0"/>
                    </a:p>
                  </a:txBody>
                  <a:tcPr/>
                </a:tc>
                <a:tc>
                  <a:txBody>
                    <a:bodyPr/>
                    <a:lstStyle/>
                    <a:p>
                      <a:r>
                        <a:rPr lang="en-IN" dirty="0" smtClean="0"/>
                        <a:t>T</a:t>
                      </a:r>
                      <a:endParaRPr lang="en-IN" dirty="0"/>
                    </a:p>
                  </a:txBody>
                  <a:tcPr/>
                </a:tc>
                <a:tc>
                  <a:txBody>
                    <a:bodyPr/>
                    <a:lstStyle/>
                    <a:p>
                      <a:endParaRPr lang="en-IN" dirty="0"/>
                    </a:p>
                  </a:txBody>
                  <a:tcPr/>
                </a:tc>
                <a:tc>
                  <a:txBody>
                    <a:bodyPr/>
                    <a:lstStyle/>
                    <a:p>
                      <a:r>
                        <a:rPr lang="en-IN" dirty="0" smtClean="0"/>
                        <a:t>e</a:t>
                      </a:r>
                      <a:endParaRPr lang="en-IN" dirty="0"/>
                    </a:p>
                  </a:txBody>
                  <a:tcPr/>
                </a:tc>
                <a:tc>
                  <a:txBody>
                    <a:bodyPr/>
                    <a:lstStyle/>
                    <a:p>
                      <a:endParaRPr lang="en-IN" dirty="0"/>
                    </a:p>
                  </a:txBody>
                  <a:tcPr/>
                </a:tc>
                <a:tc>
                  <a:txBody>
                    <a:bodyPr/>
                    <a:lstStyle/>
                    <a:p>
                      <a:r>
                        <a:rPr lang="en-IN" dirty="0" smtClean="0"/>
                        <a:t>a</a:t>
                      </a:r>
                      <a:endParaRPr lang="en-IN" dirty="0"/>
                    </a:p>
                  </a:txBody>
                  <a:tcPr/>
                </a:tc>
                <a:tc>
                  <a:txBody>
                    <a:bodyPr/>
                    <a:lstStyle/>
                    <a:p>
                      <a:endParaRPr lang="en-IN" dirty="0"/>
                    </a:p>
                  </a:txBody>
                  <a:tcPr/>
                </a:tc>
                <a:tc>
                  <a:txBody>
                    <a:bodyPr/>
                    <a:lstStyle/>
                    <a:p>
                      <a:r>
                        <a:rPr lang="en-IN" dirty="0" smtClean="0"/>
                        <a:t>T</a:t>
                      </a:r>
                      <a:endParaRPr lang="en-IN" dirty="0"/>
                    </a:p>
                  </a:txBody>
                  <a:tcPr/>
                </a:tc>
                <a:tc>
                  <a:txBody>
                    <a:bodyPr/>
                    <a:lstStyle/>
                    <a:p>
                      <a:endParaRPr lang="en-IN" dirty="0"/>
                    </a:p>
                  </a:txBody>
                  <a:tcPr/>
                </a:tc>
                <a:tc>
                  <a:txBody>
                    <a:bodyPr/>
                    <a:lstStyle/>
                    <a:p>
                      <a:r>
                        <a:rPr lang="en-IN" dirty="0" smtClean="0"/>
                        <a:t>e</a:t>
                      </a:r>
                      <a:endParaRPr lang="en-IN" dirty="0"/>
                    </a:p>
                  </a:txBody>
                  <a:tcPr/>
                </a:tc>
              </a:tr>
              <a:tr h="370840">
                <a:tc>
                  <a:txBody>
                    <a:bodyPr/>
                    <a:lstStyle/>
                    <a:p>
                      <a:endParaRPr lang="en-IN"/>
                    </a:p>
                  </a:txBody>
                  <a:tcPr/>
                </a:tc>
                <a:tc>
                  <a:txBody>
                    <a:bodyPr/>
                    <a:lstStyle/>
                    <a:p>
                      <a:endParaRPr lang="en-IN"/>
                    </a:p>
                  </a:txBody>
                  <a:tcPr/>
                </a:tc>
                <a:tc>
                  <a:txBody>
                    <a:bodyPr/>
                    <a:lstStyle/>
                    <a:p>
                      <a:r>
                        <a:rPr lang="en-IN" dirty="0" smtClean="0"/>
                        <a:t>f</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IN" dirty="0" smtClean="0"/>
                        <a:t>t</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IN" dirty="0" smtClean="0"/>
                        <a:t>a</a:t>
                      </a:r>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r>
                        <a:rPr lang="en-IN" dirty="0" smtClean="0"/>
                        <a:t>a</a:t>
                      </a:r>
                      <a:endParaRPr lang="en-IN" dirty="0"/>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r>
                        <a:rPr lang="en-IN" dirty="0" smtClean="0"/>
                        <a:t>f</a:t>
                      </a:r>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r>
                        <a:rPr lang="en-IN" dirty="0" smtClean="0"/>
                        <a:t>c</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IN" dirty="0" smtClean="0"/>
                        <a:t>l</a:t>
                      </a:r>
                      <a:endParaRPr lang="en-IN" dirty="0"/>
                    </a:p>
                  </a:txBody>
                  <a:tcPr/>
                </a:tc>
                <a:tc>
                  <a:txBody>
                    <a:bodyPr/>
                    <a:lstStyle/>
                    <a:p>
                      <a:endParaRPr lang="en-IN" dirty="0"/>
                    </a:p>
                  </a:txBody>
                  <a:tcPr/>
                </a:tc>
              </a:tr>
            </a:tbl>
          </a:graphicData>
        </a:graphic>
      </p:graphicFrame>
      <p:sp>
        <p:nvSpPr>
          <p:cNvPr id="10" name="Rectangle 9"/>
          <p:cNvSpPr/>
          <p:nvPr/>
        </p:nvSpPr>
        <p:spPr>
          <a:xfrm>
            <a:off x="2771799" y="6036941"/>
            <a:ext cx="3348737" cy="369332"/>
          </a:xfrm>
          <a:prstGeom prst="rect">
            <a:avLst/>
          </a:prstGeom>
        </p:spPr>
        <p:txBody>
          <a:bodyPr wrap="none">
            <a:spAutoFit/>
          </a:bodyPr>
          <a:lstStyle/>
          <a:p>
            <a:r>
              <a:rPr lang="en-IN" b="1" dirty="0" smtClean="0">
                <a:solidFill>
                  <a:srgbClr val="FF0000"/>
                </a:solidFill>
              </a:rPr>
              <a:t>defend the east wall of the castle</a:t>
            </a:r>
            <a:endParaRPr lang="en-IN" dirty="0"/>
          </a:p>
        </p:txBody>
      </p:sp>
      <p:sp>
        <p:nvSpPr>
          <p:cNvPr id="11" name="Rectangle 10"/>
          <p:cNvSpPr/>
          <p:nvPr/>
        </p:nvSpPr>
        <p:spPr>
          <a:xfrm>
            <a:off x="2771800" y="1763733"/>
            <a:ext cx="3348737" cy="369332"/>
          </a:xfrm>
          <a:prstGeom prst="rect">
            <a:avLst/>
          </a:prstGeom>
        </p:spPr>
        <p:txBody>
          <a:bodyPr wrap="square">
            <a:spAutoFit/>
          </a:bodyPr>
          <a:lstStyle/>
          <a:p>
            <a:r>
              <a:rPr lang="en-IN" b="1" dirty="0">
                <a:solidFill>
                  <a:srgbClr val="FF0000"/>
                </a:solidFill>
              </a:rPr>
              <a:t> </a:t>
            </a:r>
            <a:r>
              <a:rPr lang="en-IN" b="1" dirty="0" err="1">
                <a:solidFill>
                  <a:srgbClr val="FF0000"/>
                </a:solidFill>
              </a:rPr>
              <a:t>dnetlhseedheswloteateftaafcl</a:t>
            </a:r>
            <a:endParaRPr lang="en-IN" b="1" dirty="0">
              <a:solidFill>
                <a:srgbClr val="FF0000"/>
              </a:solidFill>
            </a:endParaRPr>
          </a:p>
        </p:txBody>
      </p:sp>
      <p:sp>
        <p:nvSpPr>
          <p:cNvPr id="12" name="Content Placeholder 2"/>
          <p:cNvSpPr>
            <a:spLocks noGrp="1"/>
          </p:cNvSpPr>
          <p:nvPr>
            <p:ph sz="quarter" idx="10"/>
          </p:nvPr>
        </p:nvSpPr>
        <p:spPr>
          <a:xfrm>
            <a:off x="304800" y="188640"/>
            <a:ext cx="6324600" cy="972344"/>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 1 Contd..</a:t>
            </a:r>
            <a:endParaRPr lang="en-IN" sz="3200" dirty="0">
              <a:latin typeface="+mj-lt"/>
              <a:ea typeface="+mj-ea"/>
              <a:cs typeface="+mj-cs"/>
            </a:endParaRPr>
          </a:p>
        </p:txBody>
      </p:sp>
      <p:sp>
        <p:nvSpPr>
          <p:cNvPr id="2" name="Rectangle 1"/>
          <p:cNvSpPr/>
          <p:nvPr/>
        </p:nvSpPr>
        <p:spPr>
          <a:xfrm>
            <a:off x="304800" y="1371137"/>
            <a:ext cx="4572000" cy="584775"/>
          </a:xfrm>
          <a:prstGeom prst="rect">
            <a:avLst/>
          </a:prstGeom>
        </p:spPr>
        <p:txBody>
          <a:bodyPr vert="horz" lIns="91440" tIns="45720" rIns="91440" bIns="45720" rtlCol="0">
            <a:normAutofit/>
          </a:bodyPr>
          <a:lstStyle/>
          <a:p>
            <a:pPr marL="342900" indent="-342900">
              <a:spcBef>
                <a:spcPct val="20000"/>
              </a:spcBef>
              <a:buClr>
                <a:srgbClr val="101141"/>
              </a:buClr>
              <a:buFont typeface="Arial" pitchFamily="34" charset="0"/>
              <a:buChar char="•"/>
            </a:pPr>
            <a:r>
              <a:rPr lang="en-IN" sz="3200" dirty="0" smtClean="0"/>
              <a:t>Decryption</a:t>
            </a:r>
            <a:endParaRPr lang="en-IN" sz="3200" dirty="0"/>
          </a:p>
        </p:txBody>
      </p:sp>
    </p:spTree>
    <p:extLst>
      <p:ext uri="{BB962C8B-B14F-4D97-AF65-F5344CB8AC3E}">
        <p14:creationId xmlns="" xmlns:p14="http://schemas.microsoft.com/office/powerpoint/2010/main" val="154123077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556792"/>
            <a:ext cx="8229600" cy="4525963"/>
          </a:xfrm>
        </p:spPr>
        <p:txBody>
          <a:bodyPr vert="horz" lIns="91440" tIns="45720" rIns="91440" bIns="45720" rtlCol="0">
            <a:normAutofit/>
          </a:bodyPr>
          <a:lstStyle/>
          <a:p>
            <a:pPr>
              <a:buChar char="•"/>
            </a:pPr>
            <a:r>
              <a:rPr lang="en-IN" sz="3200" dirty="0">
                <a:cs typeface="+mn-cs"/>
              </a:rPr>
              <a:t>With a key of 4:</a:t>
            </a:r>
          </a:p>
          <a:p>
            <a:pPr>
              <a:buChar char="•"/>
            </a:pPr>
            <a:endParaRPr lang="en-IN" sz="3200" dirty="0">
              <a:cs typeface="+mn-cs"/>
            </a:endParaRPr>
          </a:p>
          <a:p>
            <a:pPr>
              <a:buChar char="•"/>
            </a:pPr>
            <a:endParaRPr lang="en-IN" sz="3200" dirty="0">
              <a:cs typeface="+mn-cs"/>
            </a:endParaRPr>
          </a:p>
          <a:p>
            <a:pPr>
              <a:buChar char="•"/>
            </a:pPr>
            <a:endParaRPr lang="en-IN" sz="3200" dirty="0">
              <a:cs typeface="+mn-cs"/>
            </a:endParaRPr>
          </a:p>
          <a:p>
            <a:pPr>
              <a:buChar char="•"/>
            </a:pPr>
            <a:r>
              <a:rPr lang="en-IN" sz="3200" dirty="0" err="1">
                <a:cs typeface="+mn-cs"/>
              </a:rPr>
              <a:t>ciphertext</a:t>
            </a:r>
            <a:r>
              <a:rPr lang="en-IN" sz="3200" dirty="0">
                <a:cs typeface="+mn-cs"/>
              </a:rPr>
              <a:t> is again read off along the rows:</a:t>
            </a:r>
          </a:p>
          <a:p>
            <a:pPr marL="0" indent="0"/>
            <a:r>
              <a:rPr lang="en-IN" sz="3200" dirty="0">
                <a:cs typeface="+mn-cs"/>
              </a:rPr>
              <a:t>               </a:t>
            </a:r>
            <a:r>
              <a:rPr lang="en-IN" sz="3200" dirty="0" err="1">
                <a:solidFill>
                  <a:srgbClr val="FF0000"/>
                </a:solidFill>
                <a:cs typeface="+mn-cs"/>
              </a:rPr>
              <a:t>dttfsedhswotatfneaalhcleelee</a:t>
            </a:r>
            <a:endParaRPr lang="en-IN" sz="3200" dirty="0">
              <a:solidFill>
                <a:srgbClr val="FF0000"/>
              </a:solidFill>
              <a:cs typeface="+mn-cs"/>
            </a:endParaRPr>
          </a:p>
          <a:p>
            <a:pPr>
              <a:buChar char="•"/>
            </a:pPr>
            <a:endParaRPr lang="en-IN" sz="3200" dirty="0">
              <a:cs typeface="+mn-cs"/>
            </a:endParaRPr>
          </a:p>
        </p:txBody>
      </p:sp>
      <p:pic>
        <p:nvPicPr>
          <p:cNvPr id="6" name="Picture 5"/>
          <p:cNvPicPr/>
          <p:nvPr/>
        </p:nvPicPr>
        <p:blipFill>
          <a:blip r:embed="rId2"/>
          <a:srcRect/>
          <a:stretch>
            <a:fillRect/>
          </a:stretch>
        </p:blipFill>
        <p:spPr bwMode="auto">
          <a:xfrm>
            <a:off x="1187624" y="2348880"/>
            <a:ext cx="6215106" cy="1285884"/>
          </a:xfrm>
          <a:prstGeom prst="rect">
            <a:avLst/>
          </a:prstGeom>
          <a:noFill/>
          <a:ln w="9525">
            <a:noFill/>
            <a:miter lim="800000"/>
            <a:headEnd/>
            <a:tailEnd/>
          </a:ln>
        </p:spPr>
      </p:pic>
      <p:sp>
        <p:nvSpPr>
          <p:cNvPr id="5" name="Content Placeholder 2"/>
          <p:cNvSpPr>
            <a:spLocks noGrp="1"/>
          </p:cNvSpPr>
          <p:nvPr>
            <p:ph sz="quarter" idx="10"/>
          </p:nvPr>
        </p:nvSpPr>
        <p:spPr>
          <a:xfrm>
            <a:off x="304800" y="188640"/>
            <a:ext cx="6324600" cy="972344"/>
          </a:xfrm>
        </p:spPr>
        <p:txBody>
          <a:bodyPr vert="horz" lIns="91440" tIns="45720" rIns="91440" bIns="45720" rtlCol="0" anchor="ctr" anchorCtr="0">
            <a:normAutofit/>
          </a:bodyPr>
          <a:lstStyle/>
          <a:p>
            <a:pPr>
              <a:spcBef>
                <a:spcPct val="0"/>
              </a:spcBef>
            </a:pPr>
            <a:r>
              <a:rPr lang="en-IN" sz="3200" dirty="0" smtClean="0">
                <a:latin typeface="+mj-lt"/>
                <a:ea typeface="+mj-ea"/>
                <a:cs typeface="+mj-cs"/>
              </a:rPr>
              <a:t>Example 2</a:t>
            </a:r>
            <a:endParaRPr lang="en-IN" sz="3200" dirty="0">
              <a:latin typeface="+mj-lt"/>
              <a:ea typeface="+mj-ea"/>
              <a:cs typeface="+mj-cs"/>
            </a:endParaRPr>
          </a:p>
        </p:txBody>
      </p:sp>
    </p:spTree>
    <p:extLst>
      <p:ext uri="{BB962C8B-B14F-4D97-AF65-F5344CB8AC3E}">
        <p14:creationId xmlns="" xmlns:p14="http://schemas.microsoft.com/office/powerpoint/2010/main" val="424209038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ormAutofit lnSpcReduction="10000"/>
          </a:bodyPr>
          <a:lstStyle/>
          <a:p>
            <a:pPr>
              <a:buChar char="•"/>
            </a:pPr>
            <a:r>
              <a:rPr lang="en-IN" sz="3200" dirty="0">
                <a:cs typeface="+mn-cs"/>
              </a:rPr>
              <a:t>This is a method where the message is written in the form of rectangle choosing a route around the grid</a:t>
            </a:r>
          </a:p>
          <a:p>
            <a:pPr>
              <a:buChar char="•"/>
            </a:pPr>
            <a:endParaRPr lang="en-IN" sz="3200" dirty="0">
              <a:cs typeface="+mn-cs"/>
            </a:endParaRPr>
          </a:p>
          <a:p>
            <a:pPr>
              <a:buChar char="•"/>
            </a:pPr>
            <a:r>
              <a:rPr lang="en-IN" sz="3200" dirty="0">
                <a:cs typeface="+mn-cs"/>
              </a:rPr>
              <a:t>Example :Alice  wants to send a message to Bob</a:t>
            </a:r>
          </a:p>
          <a:p>
            <a:pPr>
              <a:buChar char="•"/>
            </a:pPr>
            <a:r>
              <a:rPr lang="en-IN" sz="3200" dirty="0" smtClean="0">
                <a:cs typeface="+mn-cs"/>
              </a:rPr>
              <a:t>Alice </a:t>
            </a:r>
            <a:r>
              <a:rPr lang="en-IN" sz="3200" dirty="0">
                <a:cs typeface="+mn-cs"/>
              </a:rPr>
              <a:t>and Bob agree the key </a:t>
            </a:r>
            <a:r>
              <a:rPr lang="en-IN" sz="3200" dirty="0" smtClean="0">
                <a:cs typeface="+mn-cs"/>
              </a:rPr>
              <a:t>and start </a:t>
            </a:r>
            <a:r>
              <a:rPr lang="en-IN" sz="3200" dirty="0">
                <a:cs typeface="+mn-cs"/>
              </a:rPr>
              <a:t>point to be </a:t>
            </a:r>
            <a:r>
              <a:rPr lang="en-IN" sz="3200" dirty="0" smtClean="0">
                <a:cs typeface="+mn-cs"/>
              </a:rPr>
              <a:t>the </a:t>
            </a:r>
            <a:r>
              <a:rPr lang="en-IN" sz="3200" dirty="0">
                <a:cs typeface="+mn-cs"/>
              </a:rPr>
              <a:t>bottom left and cycle inwards clockwise</a:t>
            </a:r>
          </a:p>
          <a:p>
            <a:pPr>
              <a:buChar char="•"/>
            </a:pPr>
            <a:endParaRPr lang="en-IN" sz="3200" dirty="0">
              <a:cs typeface="+mn-cs"/>
            </a:endParaRPr>
          </a:p>
        </p:txBody>
      </p:sp>
      <p:sp>
        <p:nvSpPr>
          <p:cNvPr id="3" name="Content Placeholder 2"/>
          <p:cNvSpPr>
            <a:spLocks noGrp="1"/>
          </p:cNvSpPr>
          <p:nvPr>
            <p:ph sz="quarter" idx="10"/>
          </p:nvPr>
        </p:nvSpPr>
        <p:spPr/>
        <p:txBody>
          <a:bodyPr vert="horz" lIns="91440" tIns="45720" rIns="91440" bIns="45720" rtlCol="0" anchor="ctr" anchorCtr="0">
            <a:normAutofit/>
          </a:bodyPr>
          <a:lstStyle/>
          <a:p>
            <a:pPr>
              <a:spcBef>
                <a:spcPct val="0"/>
              </a:spcBef>
            </a:pPr>
            <a:r>
              <a:rPr lang="en-IN" sz="3200" dirty="0">
                <a:latin typeface="+mj-lt"/>
                <a:ea typeface="+mj-ea"/>
                <a:cs typeface="+mj-cs"/>
              </a:rPr>
              <a:t>Route Cipher</a:t>
            </a:r>
          </a:p>
        </p:txBody>
      </p:sp>
    </p:spTree>
    <p:extLst>
      <p:ext uri="{BB962C8B-B14F-4D97-AF65-F5344CB8AC3E}">
        <p14:creationId xmlns="" xmlns:p14="http://schemas.microsoft.com/office/powerpoint/2010/main" val="123824761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428596" y="1569494"/>
            <a:ext cx="3857652" cy="3402544"/>
          </a:xfrm>
          <a:prstGeom prst="rect">
            <a:avLst/>
          </a:prstGeom>
          <a:noFill/>
          <a:ln w="9525">
            <a:noFill/>
            <a:miter lim="800000"/>
            <a:headEnd/>
            <a:tailEnd/>
          </a:ln>
          <a:effectLst/>
        </p:spPr>
      </p:pic>
      <p:sp>
        <p:nvSpPr>
          <p:cNvPr id="5" name="Rectangle 4"/>
          <p:cNvSpPr/>
          <p:nvPr/>
        </p:nvSpPr>
        <p:spPr>
          <a:xfrm>
            <a:off x="428596" y="5246132"/>
            <a:ext cx="4857784" cy="369332"/>
          </a:xfrm>
          <a:prstGeom prst="rect">
            <a:avLst/>
          </a:prstGeom>
        </p:spPr>
        <p:txBody>
          <a:bodyPr wrap="square">
            <a:spAutoFit/>
          </a:bodyPr>
          <a:lstStyle/>
          <a:p>
            <a:r>
              <a:rPr lang="en-IN" dirty="0" smtClean="0"/>
              <a:t>X is used to fill the spaces</a:t>
            </a:r>
            <a:endParaRPr lang="en-IN" dirty="0"/>
          </a:p>
        </p:txBody>
      </p:sp>
      <p:pic>
        <p:nvPicPr>
          <p:cNvPr id="3075" name="Picture 3"/>
          <p:cNvPicPr>
            <a:picLocks noChangeAspect="1" noChangeArrowheads="1"/>
          </p:cNvPicPr>
          <p:nvPr/>
        </p:nvPicPr>
        <p:blipFill>
          <a:blip r:embed="rId3"/>
          <a:srcRect/>
          <a:stretch>
            <a:fillRect/>
          </a:stretch>
        </p:blipFill>
        <p:spPr bwMode="auto">
          <a:xfrm>
            <a:off x="4614031" y="1593031"/>
            <a:ext cx="4030738" cy="3357586"/>
          </a:xfrm>
          <a:prstGeom prst="rect">
            <a:avLst/>
          </a:prstGeom>
          <a:noFill/>
          <a:ln w="9525">
            <a:noFill/>
            <a:miter lim="800000"/>
            <a:headEnd/>
            <a:tailEnd/>
          </a:ln>
          <a:effectLst/>
        </p:spPr>
      </p:pic>
      <p:sp>
        <p:nvSpPr>
          <p:cNvPr id="7" name="Content Placeholder 2"/>
          <p:cNvSpPr>
            <a:spLocks noGrp="1"/>
          </p:cNvSpPr>
          <p:nvPr>
            <p:ph sz="quarter" idx="10"/>
          </p:nvPr>
        </p:nvSpPr>
        <p:spPr>
          <a:xfrm>
            <a:off x="304800" y="152400"/>
            <a:ext cx="6324600" cy="1143000"/>
          </a:xfrm>
        </p:spPr>
        <p:txBody>
          <a:bodyPr vert="horz" lIns="91440" tIns="45720" rIns="91440" bIns="45720" rtlCol="0" anchor="ctr" anchorCtr="0">
            <a:normAutofit/>
          </a:bodyPr>
          <a:lstStyle/>
          <a:p>
            <a:pPr>
              <a:spcBef>
                <a:spcPct val="0"/>
              </a:spcBef>
            </a:pPr>
            <a:r>
              <a:rPr lang="en-IN" sz="3200" dirty="0">
                <a:latin typeface="+mj-lt"/>
                <a:ea typeface="+mj-ea"/>
                <a:cs typeface="+mj-cs"/>
              </a:rPr>
              <a:t>Route </a:t>
            </a:r>
            <a:r>
              <a:rPr lang="en-IN" sz="3200" dirty="0" smtClean="0">
                <a:latin typeface="+mj-lt"/>
                <a:ea typeface="+mj-ea"/>
                <a:cs typeface="+mj-cs"/>
              </a:rPr>
              <a:t>Cipher :: Example</a:t>
            </a:r>
            <a:endParaRPr lang="en-IN" sz="3200" dirty="0">
              <a:latin typeface="+mj-lt"/>
              <a:ea typeface="+mj-ea"/>
              <a:cs typeface="+mj-cs"/>
            </a:endParaRPr>
          </a:p>
        </p:txBody>
      </p:sp>
    </p:spTree>
    <p:extLst>
      <p:ext uri="{BB962C8B-B14F-4D97-AF65-F5344CB8AC3E}">
        <p14:creationId xmlns="" xmlns:p14="http://schemas.microsoft.com/office/powerpoint/2010/main" val="361845734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2000845" y="4351437"/>
            <a:ext cx="4448175" cy="495300"/>
          </a:xfrm>
          <a:prstGeom prst="rect">
            <a:avLst/>
          </a:prstGeom>
          <a:noFill/>
          <a:ln w="9525">
            <a:noFill/>
            <a:miter lim="800000"/>
            <a:headEnd/>
            <a:tailEnd/>
          </a:ln>
          <a:effectLst/>
        </p:spPr>
      </p:pic>
      <p:pic>
        <p:nvPicPr>
          <p:cNvPr id="4099" name="Picture 3"/>
          <p:cNvPicPr>
            <a:picLocks noGrp="1" noChangeAspect="1" noChangeArrowheads="1"/>
          </p:cNvPicPr>
          <p:nvPr>
            <p:ph idx="1"/>
          </p:nvPr>
        </p:nvPicPr>
        <p:blipFill>
          <a:blip r:embed="rId3"/>
          <a:srcRect/>
          <a:stretch>
            <a:fillRect/>
          </a:stretch>
        </p:blipFill>
        <p:spPr bwMode="auto">
          <a:xfrm>
            <a:off x="2843808" y="2132856"/>
            <a:ext cx="2762250" cy="1876425"/>
          </a:xfrm>
          <a:prstGeom prst="rect">
            <a:avLst/>
          </a:prstGeom>
          <a:noFill/>
          <a:ln w="9525">
            <a:noFill/>
            <a:miter lim="800000"/>
            <a:headEnd/>
            <a:tailEnd/>
          </a:ln>
          <a:effectLst/>
        </p:spPr>
      </p:pic>
      <p:sp>
        <p:nvSpPr>
          <p:cNvPr id="5" name="Content Placeholder 2"/>
          <p:cNvSpPr>
            <a:spLocks noGrp="1"/>
          </p:cNvSpPr>
          <p:nvPr>
            <p:ph sz="quarter" idx="10"/>
          </p:nvPr>
        </p:nvSpPr>
        <p:spPr>
          <a:xfrm>
            <a:off x="304800" y="152400"/>
            <a:ext cx="6324600" cy="1143000"/>
          </a:xfrm>
        </p:spPr>
        <p:txBody>
          <a:bodyPr vert="horz" lIns="91440" tIns="45720" rIns="91440" bIns="45720" rtlCol="0" anchor="ctr" anchorCtr="0">
            <a:normAutofit/>
          </a:bodyPr>
          <a:lstStyle/>
          <a:p>
            <a:pPr>
              <a:spcBef>
                <a:spcPct val="0"/>
              </a:spcBef>
            </a:pPr>
            <a:r>
              <a:rPr lang="en-IN" sz="3200" dirty="0">
                <a:latin typeface="+mj-lt"/>
                <a:ea typeface="+mj-ea"/>
                <a:cs typeface="+mj-cs"/>
              </a:rPr>
              <a:t>Route </a:t>
            </a:r>
            <a:r>
              <a:rPr lang="en-IN" sz="3200" dirty="0" smtClean="0">
                <a:latin typeface="+mj-lt"/>
                <a:ea typeface="+mj-ea"/>
                <a:cs typeface="+mj-cs"/>
              </a:rPr>
              <a:t>Cipher :: Example Contd..</a:t>
            </a:r>
            <a:endParaRPr lang="en-IN" sz="3200" dirty="0">
              <a:latin typeface="+mj-lt"/>
              <a:ea typeface="+mj-ea"/>
              <a:cs typeface="+mj-cs"/>
            </a:endParaRPr>
          </a:p>
        </p:txBody>
      </p:sp>
    </p:spTree>
    <p:extLst>
      <p:ext uri="{BB962C8B-B14F-4D97-AF65-F5344CB8AC3E}">
        <p14:creationId xmlns="" xmlns:p14="http://schemas.microsoft.com/office/powerpoint/2010/main" val="17376487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323528" y="332656"/>
            <a:ext cx="6048672" cy="838200"/>
          </a:xfrm>
        </p:spPr>
        <p:txBody>
          <a:bodyPr vert="horz" lIns="91440" tIns="45720" rIns="91440" bIns="45720" rtlCol="0" anchor="ctr" anchorCtr="0">
            <a:normAutofit/>
          </a:bodyPr>
          <a:lstStyle/>
          <a:p>
            <a:pPr indent="-342900">
              <a:lnSpc>
                <a:spcPts val="3600"/>
              </a:lnSpc>
              <a:buFont typeface="Arial" pitchFamily="34" charset="0"/>
            </a:pPr>
            <a:r>
              <a:rPr lang="en-US" altLang="en-US" spc="-150" dirty="0"/>
              <a:t>Exercises</a:t>
            </a:r>
          </a:p>
        </p:txBody>
      </p:sp>
      <p:sp>
        <p:nvSpPr>
          <p:cNvPr id="50180" name="Rectangle 3"/>
          <p:cNvSpPr>
            <a:spLocks noGrp="1" noChangeArrowheads="1"/>
          </p:cNvSpPr>
          <p:nvPr>
            <p:ph type="body" idx="1"/>
          </p:nvPr>
        </p:nvSpPr>
        <p:spPr>
          <a:xfrm>
            <a:off x="323528" y="1484784"/>
            <a:ext cx="8496944" cy="4953000"/>
          </a:xfrm>
        </p:spPr>
        <p:txBody>
          <a:bodyPr vert="horz" lIns="91440" tIns="45720" rIns="91440" bIns="45720" rtlCol="0">
            <a:normAutofit/>
          </a:bodyPr>
          <a:lstStyle/>
          <a:p>
            <a:pPr marL="514350" indent="-514350">
              <a:buClr>
                <a:srgbClr val="101141"/>
              </a:buClr>
              <a:buFont typeface="+mj-lt"/>
              <a:buAutoNum type="arabicParenR"/>
            </a:pPr>
            <a:r>
              <a:rPr lang="en-US" altLang="en-US" dirty="0"/>
              <a:t>Alice meets Bob and says </a:t>
            </a:r>
            <a:r>
              <a:rPr lang="en-US" altLang="en-US" dirty="0" err="1"/>
              <a:t>Rjjy</a:t>
            </a:r>
            <a:r>
              <a:rPr lang="en-US" altLang="en-US" dirty="0"/>
              <a:t> </a:t>
            </a:r>
            <a:r>
              <a:rPr lang="en-US" altLang="en-US" dirty="0" err="1"/>
              <a:t>rj</a:t>
            </a:r>
            <a:r>
              <a:rPr lang="en-US" altLang="en-US" dirty="0"/>
              <a:t> </a:t>
            </a:r>
            <a:r>
              <a:rPr lang="en-US" altLang="en-US" dirty="0" err="1"/>
              <a:t>ts</a:t>
            </a:r>
            <a:r>
              <a:rPr lang="en-US" altLang="en-US" dirty="0"/>
              <a:t> </a:t>
            </a:r>
            <a:r>
              <a:rPr lang="en-US" altLang="en-US" dirty="0" err="1"/>
              <a:t>ymj</a:t>
            </a:r>
            <a:r>
              <a:rPr lang="en-US" altLang="en-US" dirty="0"/>
              <a:t> </a:t>
            </a:r>
            <a:r>
              <a:rPr lang="en-US" altLang="en-US" dirty="0" err="1"/>
              <a:t>xfggfym</a:t>
            </a:r>
            <a:r>
              <a:rPr lang="en-US" altLang="en-US" dirty="0"/>
              <a:t>. </a:t>
            </a:r>
            <a:r>
              <a:rPr lang="en-US" altLang="en-US" dirty="0" err="1"/>
              <a:t>bj</a:t>
            </a:r>
            <a:r>
              <a:rPr lang="en-US" altLang="en-US" dirty="0"/>
              <a:t> </a:t>
            </a:r>
            <a:r>
              <a:rPr lang="en-US" altLang="en-US" dirty="0" err="1"/>
              <a:t>bnqq</a:t>
            </a:r>
            <a:r>
              <a:rPr lang="en-US" altLang="en-US" dirty="0"/>
              <a:t> </a:t>
            </a:r>
            <a:r>
              <a:rPr lang="en-US" altLang="en-US" dirty="0" err="1"/>
              <a:t>inxhzxx</a:t>
            </a:r>
            <a:r>
              <a:rPr lang="en-US" altLang="en-US" dirty="0"/>
              <a:t> </a:t>
            </a:r>
            <a:r>
              <a:rPr lang="en-US" altLang="en-US" dirty="0" err="1"/>
              <a:t>ymj</a:t>
            </a:r>
            <a:r>
              <a:rPr lang="en-US" altLang="en-US" dirty="0"/>
              <a:t> </a:t>
            </a:r>
            <a:r>
              <a:rPr lang="en-US" altLang="en-US" dirty="0" err="1"/>
              <a:t>uqfs</a:t>
            </a:r>
            <a:r>
              <a:rPr lang="en-US" altLang="en-US" dirty="0"/>
              <a:t>. If she is using Caesar Cipher, what does she want to convey?</a:t>
            </a:r>
          </a:p>
          <a:p>
            <a:pPr marL="514350" indent="-514350">
              <a:buClr>
                <a:srgbClr val="101141"/>
              </a:buClr>
              <a:buFont typeface="+mj-lt"/>
              <a:buAutoNum type="arabicParenR"/>
            </a:pPr>
            <a:r>
              <a:rPr lang="en-US" altLang="en-US" dirty="0"/>
              <a:t>What would be the transformation of the message ‘Happy Birthday to you’ using Rail Fence technique?</a:t>
            </a:r>
          </a:p>
          <a:p>
            <a:pPr marL="514350" indent="-514350">
              <a:buClr>
                <a:srgbClr val="101141"/>
              </a:buClr>
              <a:buFont typeface="+mj-lt"/>
              <a:buAutoNum type="arabicParenR"/>
            </a:pPr>
            <a:r>
              <a:rPr lang="en-US" altLang="en-US" dirty="0"/>
              <a:t>Write a software program in any programming language of your choice for </a:t>
            </a:r>
            <a:r>
              <a:rPr lang="en-US" altLang="en-US" dirty="0" err="1"/>
              <a:t>Vernam</a:t>
            </a:r>
            <a:r>
              <a:rPr lang="en-US" altLang="en-US" dirty="0"/>
              <a:t> Cipher.</a:t>
            </a:r>
          </a:p>
        </p:txBody>
      </p:sp>
    </p:spTree>
    <p:extLst>
      <p:ext uri="{BB962C8B-B14F-4D97-AF65-F5344CB8AC3E}">
        <p14:creationId xmlns="" xmlns:p14="http://schemas.microsoft.com/office/powerpoint/2010/main" val="241459959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251520" y="278845"/>
            <a:ext cx="6336704" cy="838200"/>
          </a:xfrm>
        </p:spPr>
        <p:txBody>
          <a:bodyPr vert="horz" lIns="91440" tIns="45720" rIns="91440" bIns="45720" rtlCol="0" anchor="ctr" anchorCtr="0">
            <a:normAutofit/>
          </a:bodyPr>
          <a:lstStyle/>
          <a:p>
            <a:pPr indent="-342900">
              <a:lnSpc>
                <a:spcPts val="3600"/>
              </a:lnSpc>
              <a:buFont typeface="Arial" pitchFamily="34" charset="0"/>
            </a:pPr>
            <a:r>
              <a:rPr lang="en-US" altLang="en-US" spc="-150"/>
              <a:t>Exercises (Contd…)</a:t>
            </a:r>
          </a:p>
        </p:txBody>
      </p:sp>
      <p:sp>
        <p:nvSpPr>
          <p:cNvPr id="51204" name="Rectangle 3"/>
          <p:cNvSpPr>
            <a:spLocks noGrp="1" noChangeArrowheads="1"/>
          </p:cNvSpPr>
          <p:nvPr>
            <p:ph type="body" idx="1"/>
          </p:nvPr>
        </p:nvSpPr>
        <p:spPr>
          <a:xfrm>
            <a:off x="395536" y="1484784"/>
            <a:ext cx="8389710" cy="4953000"/>
          </a:xfrm>
        </p:spPr>
        <p:txBody>
          <a:bodyPr vert="horz" lIns="91440" tIns="45720" rIns="91440" bIns="45720" rtlCol="0">
            <a:normAutofit fontScale="85000" lnSpcReduction="20000"/>
          </a:bodyPr>
          <a:lstStyle/>
          <a:p>
            <a:pPr marL="514350" indent="-514350">
              <a:buClr>
                <a:srgbClr val="101141"/>
              </a:buClr>
              <a:buFont typeface="+mj-lt"/>
              <a:buAutoNum type="arabicParenR"/>
            </a:pPr>
            <a:r>
              <a:rPr lang="en-US" altLang="en-US" dirty="0"/>
              <a:t>Encrypt the following message using Mono-alphabetic substitution cipher with key = 4. “This is a book on Security”.</a:t>
            </a:r>
          </a:p>
          <a:p>
            <a:pPr marL="514350" indent="-514350">
              <a:buClr>
                <a:srgbClr val="101141"/>
              </a:buClr>
              <a:buFont typeface="+mj-lt"/>
              <a:buAutoNum type="arabicParenR"/>
            </a:pPr>
            <a:r>
              <a:rPr lang="en-US" altLang="en-US" dirty="0"/>
              <a:t>Decrypt the following message using Mono-alphabetic substitution cipher  with key = 4. “</a:t>
            </a:r>
            <a:r>
              <a:rPr lang="en-US" altLang="en-US" dirty="0" err="1"/>
              <a:t>wigyvmxc</a:t>
            </a:r>
            <a:r>
              <a:rPr lang="en-US" altLang="en-US" dirty="0"/>
              <a:t> </a:t>
            </a:r>
            <a:r>
              <a:rPr lang="en-US" altLang="en-US" dirty="0" err="1"/>
              <a:t>rixiv</a:t>
            </a:r>
            <a:r>
              <a:rPr lang="en-US" altLang="en-US" dirty="0"/>
              <a:t> </a:t>
            </a:r>
            <a:r>
              <a:rPr lang="en-US" altLang="en-US" dirty="0" err="1"/>
              <a:t>gsqiw</a:t>
            </a:r>
            <a:r>
              <a:rPr lang="en-US" altLang="en-US" dirty="0"/>
              <a:t> </a:t>
            </a:r>
            <a:r>
              <a:rPr lang="en-US" altLang="en-US" dirty="0" err="1"/>
              <a:t>jsv</a:t>
            </a:r>
            <a:r>
              <a:rPr lang="en-US" altLang="en-US" dirty="0"/>
              <a:t> </a:t>
            </a:r>
            <a:r>
              <a:rPr lang="en-US" altLang="en-US" dirty="0" err="1"/>
              <a:t>jvii</a:t>
            </a:r>
            <a:r>
              <a:rPr lang="en-US" altLang="en-US" dirty="0"/>
              <a:t>”.</a:t>
            </a:r>
          </a:p>
          <a:p>
            <a:pPr marL="514350" indent="-514350">
              <a:buClr>
                <a:srgbClr val="101141"/>
              </a:buClr>
              <a:buFont typeface="+mj-lt"/>
              <a:buAutoNum type="arabicParenR"/>
            </a:pPr>
            <a:r>
              <a:rPr lang="en-US" altLang="en-US" dirty="0"/>
              <a:t>Consider a plain text message I AM A HACKER. Encrypt it with the help of the following algorithm</a:t>
            </a:r>
            <a:r>
              <a:rPr lang="en-US" altLang="en-US" dirty="0" smtClean="0"/>
              <a:t>:</a:t>
            </a:r>
            <a:endParaRPr lang="en-US" altLang="en-US" dirty="0"/>
          </a:p>
          <a:p>
            <a:pPr lvl="1"/>
            <a:r>
              <a:rPr lang="en-US" altLang="en-US" dirty="0"/>
              <a:t>Replace each alphabet with its equivalent 7-bit ASCII code.</a:t>
            </a:r>
          </a:p>
          <a:p>
            <a:pPr lvl="1"/>
            <a:r>
              <a:rPr lang="en-US" altLang="en-US" dirty="0"/>
              <a:t>Add a 0 bit as the leftmost bit to make each of the above bit patterns 8 positions long.</a:t>
            </a:r>
          </a:p>
          <a:p>
            <a:pPr lvl="1"/>
            <a:r>
              <a:rPr lang="en-US" altLang="en-US" dirty="0"/>
              <a:t>Swap the first four bits with the last four bits of the alphabet.</a:t>
            </a:r>
          </a:p>
          <a:p>
            <a:pPr lvl="1"/>
            <a:r>
              <a:rPr lang="en-US" altLang="en-US" dirty="0"/>
              <a:t>Write the hexadecimal equivalent of every four bits.</a:t>
            </a:r>
          </a:p>
        </p:txBody>
      </p:sp>
    </p:spTree>
    <p:extLst>
      <p:ext uri="{BB962C8B-B14F-4D97-AF65-F5344CB8AC3E}">
        <p14:creationId xmlns="" xmlns:p14="http://schemas.microsoft.com/office/powerpoint/2010/main" val="133151341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Thank You</a:t>
            </a:r>
            <a:r>
              <a:rPr lang="en-IN" b="1" dirty="0" smtClean="0"/>
              <a:t>… </a:t>
            </a:r>
            <a:r>
              <a:rPr lang="en-IN" dirty="0" smtClean="0">
                <a:sym typeface="Wingdings" pitchFamily="2" charset="2"/>
              </a:rPr>
              <a:t></a:t>
            </a:r>
            <a:endParaRPr lang="en-IN" dirty="0"/>
          </a:p>
        </p:txBody>
      </p:sp>
      <p:sp>
        <p:nvSpPr>
          <p:cNvPr id="3" name="Content Placeholder 2"/>
          <p:cNvSpPr>
            <a:spLocks noGrp="1"/>
          </p:cNvSpPr>
          <p:nvPr>
            <p:ph idx="1"/>
          </p:nvPr>
        </p:nvSpPr>
        <p:spPr/>
        <p:txBody>
          <a:bodyPr/>
          <a:lstStyle/>
          <a:p>
            <a:r>
              <a:rPr lang="en-IN" dirty="0" smtClean="0"/>
              <a:t>Q&amp;A</a:t>
            </a:r>
          </a:p>
          <a:p>
            <a:r>
              <a:rPr lang="en-IN" dirty="0" smtClean="0"/>
              <a:t>Suggestions / Feedback</a:t>
            </a:r>
            <a:endParaRPr lang="en-IN" dirty="0"/>
          </a:p>
        </p:txBody>
      </p:sp>
    </p:spTree>
    <p:extLst>
      <p:ext uri="{BB962C8B-B14F-4D97-AF65-F5344CB8AC3E}">
        <p14:creationId xmlns="" xmlns:p14="http://schemas.microsoft.com/office/powerpoint/2010/main" val="39562474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11412</TotalTime>
  <Words>4009</Words>
  <Application>Microsoft Office PowerPoint</Application>
  <PresentationFormat>On-screen Show (4:3)</PresentationFormat>
  <Paragraphs>847</Paragraphs>
  <Slides>68</Slides>
  <Notes>5</Notes>
  <HiddenSlides>0</HiddenSlides>
  <MMClips>0</MMClips>
  <ScaleCrop>false</ScaleCrop>
  <HeadingPairs>
    <vt:vector size="4" baseType="variant">
      <vt:variant>
        <vt:lpstr>Theme</vt:lpstr>
      </vt:variant>
      <vt:variant>
        <vt:i4>7</vt:i4>
      </vt:variant>
      <vt:variant>
        <vt:lpstr>Slide Titles</vt:lpstr>
      </vt:variant>
      <vt:variant>
        <vt:i4>68</vt:i4>
      </vt:variant>
    </vt:vector>
  </HeadingPairs>
  <TitlesOfParts>
    <vt:vector size="75" baseType="lpstr">
      <vt:lpstr>Office Theme</vt:lpstr>
      <vt:lpstr>1_Office Theme</vt:lpstr>
      <vt:lpstr>2_Office Theme</vt:lpstr>
      <vt:lpstr>3_Office Theme</vt:lpstr>
      <vt:lpstr>4_Office Theme</vt:lpstr>
      <vt:lpstr>5_Office Theme</vt:lpstr>
      <vt:lpstr>6_Office Theme</vt:lpstr>
      <vt:lpstr>Course Name :  Network Security</vt:lpstr>
      <vt:lpstr>Session#4&amp;5 </vt:lpstr>
      <vt:lpstr>How to achieve Security?</vt:lpstr>
      <vt:lpstr>Why Cryptography?</vt:lpstr>
      <vt:lpstr>Common Security Requirements</vt:lpstr>
      <vt:lpstr>Basic Terminology</vt:lpstr>
      <vt:lpstr>Cryptography is simple!</vt:lpstr>
      <vt:lpstr>Cryptography Basics</vt:lpstr>
      <vt:lpstr>Cryptography Mechanisms</vt:lpstr>
      <vt:lpstr>Slide 10</vt:lpstr>
      <vt:lpstr>Slide 11</vt:lpstr>
      <vt:lpstr>Slide 12</vt:lpstr>
      <vt:lpstr>Brute Force Attack</vt:lpstr>
      <vt:lpstr>Slide 14</vt:lpstr>
      <vt:lpstr>Slide 15</vt:lpstr>
      <vt:lpstr>Encryption and Decryption</vt:lpstr>
      <vt:lpstr>Encryption</vt:lpstr>
      <vt:lpstr>Decryption</vt:lpstr>
      <vt:lpstr>Algorithm and Key</vt:lpstr>
      <vt:lpstr>Types of Cipher</vt:lpstr>
      <vt:lpstr>Key Types</vt:lpstr>
      <vt:lpstr>Symmetric Key Encryption</vt:lpstr>
      <vt:lpstr>Symmetric Key Encryption: Example</vt:lpstr>
      <vt:lpstr>Asymmetric Key Operation</vt:lpstr>
      <vt:lpstr>Asymmetric Key Operation (Contd…)</vt:lpstr>
      <vt:lpstr>Asymmetric Key Encryption: Example</vt:lpstr>
      <vt:lpstr>Modern Cryptography</vt:lpstr>
      <vt:lpstr>Classical Encryption Techniques : Substitution Encryption Technique</vt:lpstr>
      <vt:lpstr>Monoalphabetic Cipher</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Polyalphabetic Cipher</vt:lpstr>
      <vt:lpstr>Slide 46</vt:lpstr>
      <vt:lpstr>Slide 47</vt:lpstr>
      <vt:lpstr>Slide 48</vt:lpstr>
      <vt:lpstr>Slide 49</vt:lpstr>
      <vt:lpstr>Slide 50</vt:lpstr>
      <vt:lpstr>Slide 51</vt:lpstr>
      <vt:lpstr>Slide 52</vt:lpstr>
      <vt:lpstr>Slide 53</vt:lpstr>
      <vt:lpstr>Slide 54</vt:lpstr>
      <vt:lpstr>Slide 55</vt:lpstr>
      <vt:lpstr>Classical Encryption Techniques : Transposition Encryption Technique</vt:lpstr>
      <vt:lpstr>Slide 57</vt:lpstr>
      <vt:lpstr>Multiple Level Transposition Example</vt:lpstr>
      <vt:lpstr>Slide 59</vt:lpstr>
      <vt:lpstr>Slide 60</vt:lpstr>
      <vt:lpstr>Slide 61</vt:lpstr>
      <vt:lpstr>Slide 62</vt:lpstr>
      <vt:lpstr>Slide 63</vt:lpstr>
      <vt:lpstr>Slide 64</vt:lpstr>
      <vt:lpstr>Slide 65</vt:lpstr>
      <vt:lpstr>Exercises</vt:lpstr>
      <vt:lpstr>Exercises (Contd…)</vt:lpstr>
      <vt:lpstr>Thank You… </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BITS11</cp:lastModifiedBy>
  <cp:revision>171</cp:revision>
  <dcterms:created xsi:type="dcterms:W3CDTF">2012-01-02T05:05:52Z</dcterms:created>
  <dcterms:modified xsi:type="dcterms:W3CDTF">2018-07-05T10:04:58Z</dcterms:modified>
</cp:coreProperties>
</file>